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</p:sldIdLst>
  <p:sldSz cy="5143500" cx="9144000"/>
  <p:notesSz cx="6858000" cy="9144000"/>
  <p:embeddedFontLst>
    <p:embeddedFont>
      <p:font typeface="Roboto Medium"/>
      <p:regular r:id="rId71"/>
      <p:bold r:id="rId72"/>
      <p:italic r:id="rId73"/>
      <p:boldItalic r:id="rId74"/>
    </p:embeddedFont>
    <p:embeddedFont>
      <p:font typeface="Roboto"/>
      <p:regular r:id="rId75"/>
      <p:bold r:id="rId76"/>
      <p:italic r:id="rId77"/>
      <p:boldItalic r:id="rId78"/>
    </p:embeddedFont>
    <p:embeddedFont>
      <p:font typeface="Roboto Light"/>
      <p:regular r:id="rId79"/>
      <p:bold r:id="rId80"/>
      <p:italic r:id="rId81"/>
      <p:boldItalic r:id="rId8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7C89B8A3-7295-462C-A610-F3B1B96D619A}">
  <a:tblStyle styleId="{7C89B8A3-7295-462C-A610-F3B1B96D619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80" Type="http://schemas.openxmlformats.org/officeDocument/2006/relationships/font" Target="fonts/RobotoLight-bold.fntdata"/><Relationship Id="rId82" Type="http://schemas.openxmlformats.org/officeDocument/2006/relationships/font" Target="fonts/RobotoLight-boldItalic.fntdata"/><Relationship Id="rId81" Type="http://schemas.openxmlformats.org/officeDocument/2006/relationships/font" Target="fonts/RobotoLight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73" Type="http://schemas.openxmlformats.org/officeDocument/2006/relationships/font" Target="fonts/RobotoMedium-italic.fntdata"/><Relationship Id="rId72" Type="http://schemas.openxmlformats.org/officeDocument/2006/relationships/font" Target="fonts/RobotoMedium-bold.fntdata"/><Relationship Id="rId31" Type="http://schemas.openxmlformats.org/officeDocument/2006/relationships/slide" Target="slides/slide26.xml"/><Relationship Id="rId75" Type="http://schemas.openxmlformats.org/officeDocument/2006/relationships/font" Target="fonts/Roboto-regular.fntdata"/><Relationship Id="rId30" Type="http://schemas.openxmlformats.org/officeDocument/2006/relationships/slide" Target="slides/slide25.xml"/><Relationship Id="rId74" Type="http://schemas.openxmlformats.org/officeDocument/2006/relationships/font" Target="fonts/RobotoMedium-boldItalic.fntdata"/><Relationship Id="rId33" Type="http://schemas.openxmlformats.org/officeDocument/2006/relationships/slide" Target="slides/slide28.xml"/><Relationship Id="rId77" Type="http://schemas.openxmlformats.org/officeDocument/2006/relationships/font" Target="fonts/Roboto-italic.fntdata"/><Relationship Id="rId32" Type="http://schemas.openxmlformats.org/officeDocument/2006/relationships/slide" Target="slides/slide27.xml"/><Relationship Id="rId76" Type="http://schemas.openxmlformats.org/officeDocument/2006/relationships/font" Target="fonts/Roboto-bold.fntdata"/><Relationship Id="rId35" Type="http://schemas.openxmlformats.org/officeDocument/2006/relationships/slide" Target="slides/slide30.xml"/><Relationship Id="rId79" Type="http://schemas.openxmlformats.org/officeDocument/2006/relationships/font" Target="fonts/RobotoLight-regular.fntdata"/><Relationship Id="rId34" Type="http://schemas.openxmlformats.org/officeDocument/2006/relationships/slide" Target="slides/slide29.xml"/><Relationship Id="rId78" Type="http://schemas.openxmlformats.org/officeDocument/2006/relationships/font" Target="fonts/Roboto-boldItalic.fntdata"/><Relationship Id="rId71" Type="http://schemas.openxmlformats.org/officeDocument/2006/relationships/font" Target="fonts/RobotoMedium-regular.fntdata"/><Relationship Id="rId70" Type="http://schemas.openxmlformats.org/officeDocument/2006/relationships/slide" Target="slides/slide65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slide" Target="slides/slide61.xml"/><Relationship Id="rId21" Type="http://schemas.openxmlformats.org/officeDocument/2006/relationships/slide" Target="slides/slide16.xml"/><Relationship Id="rId65" Type="http://schemas.openxmlformats.org/officeDocument/2006/relationships/slide" Target="slides/slide60.xml"/><Relationship Id="rId24" Type="http://schemas.openxmlformats.org/officeDocument/2006/relationships/slide" Target="slides/slide19.xml"/><Relationship Id="rId68" Type="http://schemas.openxmlformats.org/officeDocument/2006/relationships/slide" Target="slides/slide63.xml"/><Relationship Id="rId23" Type="http://schemas.openxmlformats.org/officeDocument/2006/relationships/slide" Target="slides/slide18.xml"/><Relationship Id="rId67" Type="http://schemas.openxmlformats.org/officeDocument/2006/relationships/slide" Target="slides/slide62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69" Type="http://schemas.openxmlformats.org/officeDocument/2006/relationships/slide" Target="slides/slide64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forms/d/e/1FAIpQLSf61_v4lhfyiIPAtddMbg80zQVOwknhcNENov6bq7I2w2Wzxw/viewform" TargetMode="Externa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docs.google.com/presentation/d/1zGBT1EpoEH2ilg4tyZrNq8A1Gp7yqOQi4R3abY6k7PI" TargetMode="Externa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2174b714862_1_2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2174b714862_1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 the Giant picture: Unknown source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174b714862_0_1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174b714862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a991ac3fb_0_26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a991ac3fb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 using a physical container, e.g. backpack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174b714862_1_44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174b714862_1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d25fc641c_0_5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d25fc641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1d25fc641c_0_6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1d25fc641c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174b714862_0_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174b71486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2174b714862_0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2174b71486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a991ac3fb_0_27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a991ac3fb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2174b714862_1_43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2174b714862_1_4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a991ac3fb_0_28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a991ac3fb_0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174b714862_0_15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174b714862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a991ac3fb_0_29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a991ac3fb_0_2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11ecaeaf49_0_29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11ecaeaf49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https://docs.google.com/forms/d/e/1FAIpQLSf61_v4lhfyiIPAtddMbg80zQVOwknhcNENov6bq7I2w2Wzxw/viewform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11eda1a519_0_6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11eda1a519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1eda1a519_0_10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1eda1a51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2174b714862_0_16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2174b714862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11ecaeaf49_0_35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11ecaeaf49_0_3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5da5f7e1d4_0_22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25da5f7e1d4_0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25da5f7e1d4_0_24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25da5f7e1d4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25da5f7e1d4_0_27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25da5f7e1d4_0_2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25da5f7e1d4_0_29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25da5f7e1d4_0_2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g25da5f7e1d4_0_32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3" name="Google Shape;533;g25da5f7e1d4_0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g25da5f7e1d4_0_35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0" name="Google Shape;560;g25da5f7e1d4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25da5f7e1d4_0_37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25da5f7e1d4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5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6" name="Google Shape;616;g25da5f7e1d4_0_40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7" name="Google Shape;617;g25da5f7e1d4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g25da5f7e1d4_0_43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6" name="Google Shape;646;g25da5f7e1d4_0_4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25da5f7e1d4_0_46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25da5f7e1d4_0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2174b714862_0_18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2174b714862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0" name="Shape 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1" name="Google Shape;711;g2174b714862_0_4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2" name="Google Shape;712;g2174b71486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5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g25da5f7e1d4_0_62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7" name="Google Shape;737;g25da5f7e1d4_0_6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4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5" name="Google Shape;765;g25da5f7e1d4_0_65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6" name="Google Shape;766;g25da5f7e1d4_0_6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g25da5f7e1d4_0_68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5" name="Google Shape;795;g25da5f7e1d4_0_6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4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25da5f7e1d4_0_71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25da5f7e1d4_0_7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4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855;g25da5f7e1d4_0_74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6" name="Google Shape;856;g25da5f7e1d4_0_7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g25da5f7e1d4_0_76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5" name="Google Shape;885;g25da5f7e1d4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0" name="Shape 9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" name="Google Shape;911;g25da5f7e1d4_0_79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25da5f7e1d4_0_7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g25da5f7e1d4_0_82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9" name="Google Shape;939;g25da5f7e1d4_0_8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4" name="Shape 9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Google Shape;965;g25da5f7e1d4_0_84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6" name="Google Shape;966;g25da5f7e1d4_0_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5da5f7e1d4_0_8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5da5f7e1d4_0_8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25da5f7e1d4_0_898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25da5f7e1d4_0_8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4" name="Shape 10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5" name="Google Shape;1045;g2174b714862_0_17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6" name="Google Shape;1046;g2174b714862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1" name="Shape 10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2" name="Google Shape;1052;ga991ac3fb_0_80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3" name="Google Shape;1053;ga991ac3fb_0_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8" name="Google Shape;1058;g11ecaeaf49_0_11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9" name="Google Shape;1059;g11ecaeaf49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g11ecaeaf49_0_5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3" name="Google Shape;1103;g11ecaeaf4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g11ecaeaf49_0_87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7" name="Google Shape;1137;g11ecaeaf49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g11ecaeaf49_0_12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3" name="Google Shape;1173;g11ecaeaf4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6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g2174b714862_1_45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8" name="Google Shape;1258;g2174b714862_1_4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11ecaeaf49_0_206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11ecaeaf49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g11eda1a519_0_41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8" name="Google Shape;1368;g11eda1a519_0_4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7" name="Shape 1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8" name="Google Shape;1448;g1d27fa87b4_1_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9" name="Google Shape;1449;g1d27fa87b4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g1d27fa87b4_1_84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1" name="Google Shape;1531;g1d27fa87b4_1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ga991ac3fb_0_38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4" name="Google Shape;1614;ga991ac3fb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4" name="Shape 1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5" name="Google Shape;1715;g11eda1a519_0_685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6" name="Google Shape;1716;g11eda1a519_0_6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g2174b714862_1_45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8" name="Google Shape;1798;g2174b714862_1_4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3" name="Shape 18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Google Shape;1804;ga991ac3fb_0_52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5" name="Google Shape;1805;ga991ac3fb_0_5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2" name="Shape 18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3" name="Google Shape;1813;g913486043_0_6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4" name="Google Shape;1814;g913486043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9" name="Shape 1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0" name="Google Shape;1820;g2174b714862_0_19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1" name="Google Shape;1821;g2174b714862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6" name="Shape 1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Google Shape;1827;g76179a533_0_3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8" name="Google Shape;1828;g76179a533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Friendster screenshot: http://jeremy.zawodny.com/i/friendster_rss.jpg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Weather screenshot: weather.com</a:t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4" name="Shape 1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5" name="Google Shape;1835;g913486043_0_16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6" name="Google Shape;1836;g913486043_0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g25da5f7e1d4_0_2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2" name="Google Shape;1842;g25da5f7e1d4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https://docs.google.com/presentation/d/1zGBT1EpoEH2ilg4tyZrNq8A1Gp7yqOQi4R3abY6k7PI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6" name="Shape 1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7" name="Google Shape;1847;g28b999c9db3_14_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8" name="Google Shape;1848;g28b999c9db3_1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3" name="Shape 1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4" name="Google Shape;1904;g25da5f7e1d4_0_59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5" name="Google Shape;1905;g25da5f7e1d4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g25da5f7e1d4_0_150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3" name="Google Shape;1943;g25da5f7e1d4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1" name="Shape 1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2" name="Google Shape;1982;g76179a533_0_373:notes"/>
          <p:cNvSpPr/>
          <p:nvPr>
            <p:ph idx="2" type="sldImg"/>
          </p:nvPr>
        </p:nvSpPr>
        <p:spPr>
          <a:xfrm>
            <a:off x="381187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3" name="Google Shape;1983;g76179a533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311700" y="2834125"/>
            <a:ext cx="8520600" cy="15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Roboto Light"/>
              <a:buNone/>
              <a:defRPr sz="2400"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admap">
  <p:cSld name="SECTION_TITLE_AND_DESCRIPTION_1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Font typeface="Roboto Light"/>
              <a:buChar char="•"/>
              <a:defRPr>
                <a:solidFill>
                  <a:srgbClr val="CCCCCC"/>
                </a:solidFill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27" name="Google Shape;27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cxnSp>
        <p:nvCxnSpPr>
          <p:cNvPr id="29" name="Google Shape;29;p5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" name="Google Shape;30;p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right">
  <p:cSld name="SECTION_TITLE_AND_DESCRIPTION_2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 txBox="1"/>
          <p:nvPr>
            <p:ph idx="1" type="subTitle"/>
          </p:nvPr>
        </p:nvSpPr>
        <p:spPr>
          <a:xfrm>
            <a:off x="4835400" y="4198275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 txBox="1"/>
          <p:nvPr/>
        </p:nvSpPr>
        <p:spPr>
          <a:xfrm>
            <a:off x="6365900" y="3724875"/>
            <a:ext cx="25911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95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37" name="Google Shape;37;p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38" name="Google Shape;38;p6"/>
          <p:cNvCxnSpPr/>
          <p:nvPr/>
        </p:nvCxnSpPr>
        <p:spPr>
          <a:xfrm>
            <a:off x="95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mo slide left">
  <p:cSld name="SECTION_TITLE_AND_DESCRIPTION_2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7"/>
          <p:cNvSpPr txBox="1"/>
          <p:nvPr>
            <p:ph idx="1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7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 Slides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667425" y="402200"/>
            <a:ext cx="43023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44" name="Google Shape;44;p7"/>
          <p:cNvSpPr txBox="1"/>
          <p:nvPr>
            <p:ph type="title"/>
          </p:nvPr>
        </p:nvSpPr>
        <p:spPr>
          <a:xfrm>
            <a:off x="4572000" y="0"/>
            <a:ext cx="45720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45" name="Google Shape;45;p7"/>
          <p:cNvCxnSpPr/>
          <p:nvPr/>
        </p:nvCxnSpPr>
        <p:spPr>
          <a:xfrm>
            <a:off x="4667431" y="402210"/>
            <a:ext cx="43521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6" name="Google Shape;46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">
  <p:cSld name="SECTION_TITLE_AND_DESCRIPTION_2_1_1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8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1" name="Google Shape;51;p8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52" name="Google Shape;52;p8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53" name="Google Shape;53;p8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54" name="Google Shape;54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8"/>
          <p:cNvSpPr txBox="1"/>
          <p:nvPr/>
        </p:nvSpPr>
        <p:spPr>
          <a:xfrm>
            <a:off x="208440" y="3420075"/>
            <a:ext cx="41217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Demo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1">
  <p:cSld name="SECTION_TITLE_AND_DESCRIPTION_2_1_1_2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0" name="Google Shape;60;p9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Compare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9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63" name="Google Shape;63;p9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4" name="Google Shape;6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Wide Puzzle Solution">
  <p:cSld name="SECTION_TITLE_AND_DESCRIPTION_2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/>
          <p:nvPr/>
        </p:nvSpPr>
        <p:spPr>
          <a:xfrm>
            <a:off x="0" y="-125"/>
            <a:ext cx="27765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0"/>
          <p:cNvSpPr txBox="1"/>
          <p:nvPr>
            <p:ph idx="1" type="subTitle"/>
          </p:nvPr>
        </p:nvSpPr>
        <p:spPr>
          <a:xfrm>
            <a:off x="225450" y="3943400"/>
            <a:ext cx="2450400" cy="7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9" name="Google Shape;69;p10"/>
          <p:cNvSpPr txBox="1"/>
          <p:nvPr/>
        </p:nvSpPr>
        <p:spPr>
          <a:xfrm>
            <a:off x="208445" y="3420075"/>
            <a:ext cx="1873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  <a:endParaRPr b="1" sz="2500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0" name="Google Shape;70;p10"/>
          <p:cNvSpPr txBox="1"/>
          <p:nvPr>
            <p:ph idx="2" type="body"/>
          </p:nvPr>
        </p:nvSpPr>
        <p:spPr>
          <a:xfrm>
            <a:off x="2937350" y="402200"/>
            <a:ext cx="6032400" cy="426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type="title"/>
          </p:nvPr>
        </p:nvSpPr>
        <p:spPr>
          <a:xfrm>
            <a:off x="2776500" y="0"/>
            <a:ext cx="6367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cxnSp>
        <p:nvCxnSpPr>
          <p:cNvPr id="72" name="Google Shape;72;p10"/>
          <p:cNvCxnSpPr/>
          <p:nvPr/>
        </p:nvCxnSpPr>
        <p:spPr>
          <a:xfrm>
            <a:off x="2937350" y="402200"/>
            <a:ext cx="60822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3" name="Google Shape;73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79" name="Google Shape;79;p11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1"/>
          <p:cNvSpPr txBox="1"/>
          <p:nvPr>
            <p:ph idx="2" type="body"/>
          </p:nvPr>
        </p:nvSpPr>
        <p:spPr>
          <a:xfrm>
            <a:off x="9543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cxnSp>
        <p:nvCxnSpPr>
          <p:cNvPr id="84" name="Google Shape;84;p12"/>
          <p:cNvCxnSpPr/>
          <p:nvPr/>
        </p:nvCxnSpPr>
        <p:spPr>
          <a:xfrm>
            <a:off x="95431" y="402210"/>
            <a:ext cx="89097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87" name="Google Shape;8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3">
  <p:cSld name="SECTION_TITLE_AND_DESCRIPTION_3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2" name="Google Shape;9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4"/>
          <p:cNvSpPr txBox="1"/>
          <p:nvPr>
            <p:ph idx="2" type="body"/>
          </p:nvPr>
        </p:nvSpPr>
        <p:spPr>
          <a:xfrm>
            <a:off x="4812381" y="402206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6" name="Google Shape;96;p15"/>
          <p:cNvSpPr txBox="1"/>
          <p:nvPr>
            <p:ph type="title"/>
          </p:nvPr>
        </p:nvSpPr>
        <p:spPr>
          <a:xfrm>
            <a:off x="95425" y="4382350"/>
            <a:ext cx="84252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97" name="Google Shape;97;p15"/>
          <p:cNvCxnSpPr/>
          <p:nvPr/>
        </p:nvCxnSpPr>
        <p:spPr>
          <a:xfrm>
            <a:off x="168250" y="4288400"/>
            <a:ext cx="8757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dark">
  <p:cSld name="BLANK_1">
    <p:bg>
      <p:bgPr>
        <a:solidFill>
          <a:schemeClr val="dk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nterlude">
  <p:cSld name="SECTION_TITLE_AND_DESCRIPTION_1_3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/>
          <p:nvPr/>
        </p:nvSpPr>
        <p:spPr>
          <a:xfrm>
            <a:off x="0" y="-1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5" name="Google Shape;105;p1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Font typeface="Roboto Light"/>
              <a:buChar char="•"/>
              <a:defRPr>
                <a:latin typeface="Roboto Light"/>
                <a:ea typeface="Roboto Light"/>
                <a:cs typeface="Roboto Light"/>
                <a:sym typeface="Roboto Light"/>
              </a:defRPr>
            </a:lvl9pPr>
          </a:lstStyle>
          <a:p/>
        </p:txBody>
      </p:sp>
      <p:pic>
        <p:nvPicPr>
          <p:cNvPr id="106" name="Google Shape;10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cxnSp>
        <p:nvCxnSpPr>
          <p:cNvPr id="108" name="Google Shape;108;p18"/>
          <p:cNvCxnSpPr/>
          <p:nvPr/>
        </p:nvCxnSpPr>
        <p:spPr>
          <a:xfrm>
            <a:off x="266975" y="4049175"/>
            <a:ext cx="4038000" cy="0"/>
          </a:xfrm>
          <a:prstGeom prst="straightConnector1">
            <a:avLst/>
          </a:prstGeom>
          <a:noFill/>
          <a:ln cap="flat" cmpd="sng" w="19050">
            <a:solidFill>
              <a:srgbClr val="BF9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" name="Google Shape;109;p1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_1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3" name="Google Shape;113;p1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5" name="Google Shape;11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left">
  <p:cSld name="SECTION_TITLE_AND_DESCRIPTION_1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9" name="Google Shape;119;p20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0" name="Google Shape;120;p20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1" name="Google Shape;121;p20"/>
          <p:cNvSpPr txBox="1"/>
          <p:nvPr>
            <p:ph type="title"/>
          </p:nvPr>
        </p:nvSpPr>
        <p:spPr>
          <a:xfrm>
            <a:off x="48829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22" name="Google Shape;122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left, Heading">
  <p:cSld name="SECTION_TITLE_AND_DESCRIPTION_1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1"/>
          <p:cNvSpPr/>
          <p:nvPr/>
        </p:nvSpPr>
        <p:spPr>
          <a:xfrm>
            <a:off x="0" y="6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6" name="Google Shape;126;p21"/>
          <p:cNvSpPr txBox="1"/>
          <p:nvPr>
            <p:ph idx="1" type="body"/>
          </p:nvPr>
        </p:nvSpPr>
        <p:spPr>
          <a:xfrm>
            <a:off x="48829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21"/>
          <p:cNvSpPr txBox="1"/>
          <p:nvPr>
            <p:ph idx="2" type="body"/>
          </p:nvPr>
        </p:nvSpPr>
        <p:spPr>
          <a:xfrm>
            <a:off x="310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8" name="Google Shape;128;p21"/>
          <p:cNvSpPr txBox="1"/>
          <p:nvPr>
            <p:ph idx="3" type="subTitle"/>
          </p:nvPr>
        </p:nvSpPr>
        <p:spPr>
          <a:xfrm>
            <a:off x="225450" y="3943400"/>
            <a:ext cx="4045200" cy="46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9" name="Google Shape;129;p21"/>
          <p:cNvSpPr txBox="1"/>
          <p:nvPr>
            <p:ph type="title"/>
          </p:nvPr>
        </p:nvSpPr>
        <p:spPr>
          <a:xfrm>
            <a:off x="208450" y="3418425"/>
            <a:ext cx="39501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/>
        </p:txBody>
      </p:sp>
      <p:pic>
        <p:nvPicPr>
          <p:cNvPr id="130" name="Google Shape;130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3" name="Google Shape;133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de on right">
  <p:cSld name="SECTION_TITLE_AND_DESCRIPTION_1_2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DF6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311700" y="1152150"/>
            <a:ext cx="3950100" cy="3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8" name="Google Shape;138;p23"/>
          <p:cNvSpPr txBox="1"/>
          <p:nvPr>
            <p:ph idx="2" type="body"/>
          </p:nvPr>
        </p:nvSpPr>
        <p:spPr>
          <a:xfrm>
            <a:off x="4882900" y="448050"/>
            <a:ext cx="3950100" cy="41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rtl="0">
              <a:spcBef>
                <a:spcPts val="6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39" name="Google Shape;139;p23"/>
          <p:cNvSpPr txBox="1"/>
          <p:nvPr>
            <p:ph type="title"/>
          </p:nvPr>
        </p:nvSpPr>
        <p:spPr>
          <a:xfrm>
            <a:off x="311700" y="445025"/>
            <a:ext cx="39501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10.xml"/><Relationship Id="rId22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9.xml"/><Relationship Id="rId21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12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23" Type="http://schemas.openxmlformats.org/officeDocument/2006/relationships/slideLayout" Target="../slideLayouts/slideLayout22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slideLayout" Target="../slideLayouts/slideLayout18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600"/>
              <a:buFont typeface="Roboto Medium"/>
              <a:buNone/>
              <a:defRPr sz="16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2800"/>
              <a:buFont typeface="Roboto Medium"/>
              <a:buNone/>
              <a:defRPr sz="2800">
                <a:solidFill>
                  <a:srgbClr val="0B5394"/>
                </a:solidFill>
                <a:latin typeface="Roboto Medium"/>
                <a:ea typeface="Roboto Medium"/>
                <a:cs typeface="Roboto Medium"/>
                <a:sym typeface="Roboto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5727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42900" lvl="2" marL="1371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42900" lvl="3" marL="1828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42900" lvl="4" marL="22860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42900" lvl="5" marL="27432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42900" lvl="6" marL="32004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42900" lvl="7" marL="36576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42900" lvl="8" marL="4114800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•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9" name="Google Shape;9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4983478"/>
            <a:ext cx="457200" cy="16002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hyperlink" Target="https://yellkey.com/form" TargetMode="External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/>
          <p:nvPr>
            <p:ph type="ctrTitle"/>
          </p:nvPr>
        </p:nvSpPr>
        <p:spPr>
          <a:xfrm>
            <a:off x="311700" y="1658975"/>
            <a:ext cx="8709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3"/>
                </a:solidFill>
              </a:rPr>
              <a:t>Priority Queues and Heaps</a:t>
            </a:r>
            <a:endParaRPr sz="3600">
              <a:solidFill>
                <a:schemeClr val="accent3"/>
              </a:solidFill>
            </a:endParaRPr>
          </a:p>
        </p:txBody>
      </p:sp>
      <p:sp>
        <p:nvSpPr>
          <p:cNvPr id="145" name="Google Shape;145;p24"/>
          <p:cNvSpPr txBox="1"/>
          <p:nvPr/>
        </p:nvSpPr>
        <p:spPr>
          <a:xfrm>
            <a:off x="345775" y="2740300"/>
            <a:ext cx="2762700" cy="2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BF9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Lecture 21 (Data Structures 5)</a:t>
            </a:r>
            <a:endParaRPr sz="1200">
              <a:solidFill>
                <a:srgbClr val="BF9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sp>
        <p:nvSpPr>
          <p:cNvPr id="146" name="Google Shape;146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24"/>
          <p:cNvSpPr txBox="1"/>
          <p:nvPr/>
        </p:nvSpPr>
        <p:spPr>
          <a:xfrm>
            <a:off x="311700" y="3854350"/>
            <a:ext cx="85206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CS61B, Fall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202</a:t>
            </a:r>
            <a:r>
              <a:rPr lang="en" sz="1600">
                <a:latin typeface="Roboto Medium"/>
                <a:ea typeface="Roboto Medium"/>
                <a:cs typeface="Roboto Medium"/>
                <a:sym typeface="Roboto Medium"/>
              </a:rPr>
              <a:t>3</a:t>
            </a:r>
            <a:r>
              <a:rPr lang="en" sz="1600">
                <a:solidFill>
                  <a:srgbClr val="000000"/>
                </a:solidFill>
                <a:latin typeface="Roboto Medium"/>
                <a:ea typeface="Roboto Medium"/>
                <a:cs typeface="Roboto Medium"/>
                <a:sym typeface="Roboto Medium"/>
              </a:rPr>
              <a:t> @ UC Berkeley</a:t>
            </a:r>
            <a:endParaRPr sz="1600">
              <a:solidFill>
                <a:srgbClr val="000000"/>
              </a:solidFill>
              <a:latin typeface="Roboto Medium"/>
              <a:ea typeface="Roboto Medium"/>
              <a:cs typeface="Roboto Medium"/>
              <a:sym typeface="Roboto Medium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1600">
                <a:latin typeface="Roboto Light"/>
                <a:ea typeface="Roboto Light"/>
                <a:cs typeface="Roboto Light"/>
                <a:sym typeface="Roboto Light"/>
              </a:rPr>
              <a:t>Slides credit: </a:t>
            </a:r>
            <a:r>
              <a:rPr lang="en" sz="1600">
                <a:solidFill>
                  <a:srgbClr val="000000"/>
                </a:solidFill>
                <a:latin typeface="Roboto Light"/>
                <a:ea typeface="Roboto Light"/>
                <a:cs typeface="Roboto Light"/>
                <a:sym typeface="Roboto Light"/>
              </a:rPr>
              <a:t>Josh Hug</a:t>
            </a:r>
            <a:endParaRPr sz="1600">
              <a:solidFill>
                <a:srgbClr val="000000"/>
              </a:solidFill>
              <a:latin typeface="Roboto Light"/>
              <a:ea typeface="Roboto Light"/>
              <a:cs typeface="Roboto Light"/>
              <a:sym typeface="Roboto Light"/>
            </a:endParaRPr>
          </a:p>
        </p:txBody>
      </p:sp>
      <p:pic>
        <p:nvPicPr>
          <p:cNvPr id="148" name="Google Shape;148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7425" y="125175"/>
            <a:ext cx="2848074" cy="2746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21, CS61B, Fall 2023</a:t>
            </a:r>
            <a:endParaRPr/>
          </a:p>
        </p:txBody>
      </p:sp>
      <p:sp>
        <p:nvSpPr>
          <p:cNvPr id="154" name="Google Shape;154;p2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Priority Queue Introduction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Introducing the Priority Queue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Using a PQ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Bad Implementations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Heaps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Definitions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Add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Delete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Tree Representations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Recursive Representation (1)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Array Representations (2, 3, 3b)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Priority Queue</a:t>
            </a:r>
            <a:r>
              <a:rPr lang="en"/>
              <a:t> Summary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 Structures Summary</a:t>
            </a:r>
            <a:endParaRPr/>
          </a:p>
        </p:txBody>
      </p:sp>
      <p:sp>
        <p:nvSpPr>
          <p:cNvPr id="155" name="Google Shape;155;p2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the Priority Queue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Priority Queue Interface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243000" y="4407600"/>
            <a:ext cx="8773800" cy="63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Useful if you want to keep track of the “smallest”, “largest”, “best” etc. seen so far.</a:t>
            </a:r>
            <a:endParaRPr/>
          </a:p>
        </p:txBody>
      </p:sp>
      <p:sp>
        <p:nvSpPr>
          <p:cNvPr id="162" name="Google Shape;162;p26"/>
          <p:cNvSpPr txBox="1"/>
          <p:nvPr/>
        </p:nvSpPr>
        <p:spPr>
          <a:xfrm>
            <a:off x="672900" y="768600"/>
            <a:ext cx="8039700" cy="36390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/** (Min) Priority Queue: Allowing tracking and removal of the</a:t>
            </a:r>
            <a:endParaRPr i="1" sz="18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8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* smallest item in a priority queue. */</a:t>
            </a:r>
            <a:endParaRPr i="1" sz="18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interface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MinPQ&lt;Item&gt; {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i="1" lang="en" sz="18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/** Adds the item to the priority queue. */</a:t>
            </a:r>
            <a:endParaRPr i="1" sz="18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add(Item x);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i="1" lang="en" sz="18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/** Returns the smallest item in the priority queue. */</a:t>
            </a:r>
            <a:endParaRPr i="1" sz="18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 getSmallest();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i="1" lang="en" sz="18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/** Removes the smallest item from the priority queue. */</a:t>
            </a:r>
            <a:endParaRPr i="1" sz="18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 removeSmallest();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i="1" lang="en" sz="18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/** Returns the size of the priority queue. */</a:t>
            </a:r>
            <a:endParaRPr i="1" sz="18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8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8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size();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21, CS61B, Fall 2023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Priority Queue Introduction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Introducing the Priority Queue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Using a PQ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Bad Implementations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Heaps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Definitions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Add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Delete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Tree Representations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Recursive Representation (1)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Array Representations (2, 3, 3b)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Priority Queue Summary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 Structures Summary</a:t>
            </a:r>
            <a:endParaRPr/>
          </a:p>
        </p:txBody>
      </p:sp>
      <p:sp>
        <p:nvSpPr>
          <p:cNvPr id="169" name="Google Shape;169;p27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a PQ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Usage Example: Recording the Highest Energy Particles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have a particle detector that records the energy of incoming particles.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Suppose we want to record the M highest energy particles in a </a:t>
            </a:r>
            <a:r>
              <a:rPr lang="en"/>
              <a:t>given day.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Naive approach: Create a list of all particles detected during the day. Sort it using a particle energy comparator. Return the M particles that have highest energy.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Implementation: Store and Sort</a:t>
            </a:r>
            <a:endParaRPr/>
          </a:p>
        </p:txBody>
      </p:sp>
      <p:sp>
        <p:nvSpPr>
          <p:cNvPr id="181" name="Google Shape;181;p29"/>
          <p:cNvSpPr txBox="1"/>
          <p:nvPr>
            <p:ph idx="1" type="body"/>
          </p:nvPr>
        </p:nvSpPr>
        <p:spPr>
          <a:xfrm>
            <a:off x="166800" y="3671875"/>
            <a:ext cx="88260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Potentially uses a huge amount of memory Θ(N), where N is number of particles.</a:t>
            </a:r>
            <a:endParaRPr/>
          </a:p>
        </p:txBody>
      </p:sp>
      <p:sp>
        <p:nvSpPr>
          <p:cNvPr id="182" name="Google Shape;182;p29"/>
          <p:cNvSpPr txBox="1"/>
          <p:nvPr/>
        </p:nvSpPr>
        <p:spPr>
          <a:xfrm>
            <a:off x="272925" y="661300"/>
            <a:ext cx="8555100" cy="3155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List&lt;Particle&gt; highestEnergyParticles(Detector det,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ArrayList&lt;Particle&gt; allParticles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ArrayList&lt;&gt;();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(Timer </a:t>
            </a:r>
            <a:r>
              <a:rPr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timer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= new Timer(); </a:t>
            </a:r>
            <a:r>
              <a:rPr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timer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.hours() &lt; 24; 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	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allParticles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.add(det.getNextParticle());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Comparator&lt;String&gt; cmptr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EnergyComparator();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Collections.sort(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allParticles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, cmptr, Collections.reverseOrder());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allParticles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.sublist(0, M);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3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Naive Implementation: Store and Sort</a:t>
            </a:r>
            <a:endParaRPr/>
          </a:p>
        </p:txBody>
      </p:sp>
      <p:sp>
        <p:nvSpPr>
          <p:cNvPr id="188" name="Google Shape;188;p30"/>
          <p:cNvSpPr txBox="1"/>
          <p:nvPr>
            <p:ph idx="1" type="body"/>
          </p:nvPr>
        </p:nvSpPr>
        <p:spPr>
          <a:xfrm>
            <a:off x="166800" y="3671875"/>
            <a:ext cx="88260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Potentially uses a huge amount of memory Θ(N), where N is number of particles.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Do this in Θ(M) memory using a MinPQ.</a:t>
            </a:r>
            <a:endParaRPr/>
          </a:p>
        </p:txBody>
      </p:sp>
      <p:sp>
        <p:nvSpPr>
          <p:cNvPr id="189" name="Google Shape;189;p30"/>
          <p:cNvSpPr txBox="1"/>
          <p:nvPr/>
        </p:nvSpPr>
        <p:spPr>
          <a:xfrm>
            <a:off x="272925" y="661300"/>
            <a:ext cx="8555100" cy="3155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List&lt;Particle&gt; highestEnergyParticles(Detector det,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ArrayList&lt;Particle&gt; allParticles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ArrayList&lt;&gt;();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(Timer </a:t>
            </a:r>
            <a:r>
              <a:rPr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timer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= new Timer(); </a:t>
            </a:r>
            <a:r>
              <a:rPr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timer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.hours() &lt; 24; 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	allParticles.add(det.getNextParticle());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Comparator&lt;String&gt; cmptr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EnergyComparator();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Collections.sort(allParticles, cmptr, Collections.reverseOrder());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 allParticles.sublist(0, M);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410900" y="4413875"/>
            <a:ext cx="86880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MinPQ&lt;Particle&gt; </a:t>
            </a:r>
            <a:r>
              <a:rPr lang="en" sz="1600">
                <a:solidFill>
                  <a:schemeClr val="hlink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highEnergyParticles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HeapMinPQ&lt;&gt;(cmptr);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Try to Solve Using a MinPQ</a:t>
            </a:r>
            <a:endParaRPr/>
          </a:p>
        </p:txBody>
      </p:sp>
      <p:sp>
        <p:nvSpPr>
          <p:cNvPr id="196" name="Google Shape;196;p31"/>
          <p:cNvSpPr txBox="1"/>
          <p:nvPr>
            <p:ph idx="1" type="body"/>
          </p:nvPr>
        </p:nvSpPr>
        <p:spPr>
          <a:xfrm>
            <a:off x="166800" y="3671875"/>
            <a:ext cx="8826000" cy="132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Potentially uses a huge amount of memory Θ(N), where N is number of particles.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Goal: Do this in Θ(M) memory using a MinPQ.</a:t>
            </a:r>
            <a:endParaRPr/>
          </a:p>
        </p:txBody>
      </p:sp>
      <p:sp>
        <p:nvSpPr>
          <p:cNvPr id="197" name="Google Shape;197;p31"/>
          <p:cNvSpPr txBox="1"/>
          <p:nvPr/>
        </p:nvSpPr>
        <p:spPr>
          <a:xfrm>
            <a:off x="272925" y="661300"/>
            <a:ext cx="8555100" cy="3155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List&lt;Particle&gt; highestEnergyParticles(Detector det,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M) {</a:t>
            </a:r>
            <a:endParaRPr b="1" sz="16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Comparator&lt;Particle&gt; cmptr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EnergyComparator();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MinPQ&lt;Particle&gt; </a:t>
            </a:r>
            <a:r>
              <a:rPr lang="en" sz="1600">
                <a:solidFill>
                  <a:schemeClr val="hlink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highEnergyParticles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HeapMinPQ&lt;&gt;(cmptr);</a:t>
            </a:r>
            <a:endParaRPr b="1" sz="16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(Timer timer = new Timer(); timer.hours() &lt; 24; 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	// Do something with det.getNextParticle(); ??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...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highlight>
                <a:srgbClr val="EFEFEF"/>
              </a:highlight>
            </a:endParaRPr>
          </a:p>
        </p:txBody>
      </p:sp>
      <p:sp>
        <p:nvSpPr>
          <p:cNvPr id="198" name="Google Shape;198;p31"/>
          <p:cNvSpPr txBox="1"/>
          <p:nvPr/>
        </p:nvSpPr>
        <p:spPr>
          <a:xfrm>
            <a:off x="410900" y="4413875"/>
            <a:ext cx="8688000" cy="67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MinPQ&lt;Particle&gt; </a:t>
            </a:r>
            <a:r>
              <a:rPr lang="en" sz="1600">
                <a:solidFill>
                  <a:schemeClr val="hlink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highEnergyParticles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HeapMinPQ&lt;&gt;(cmptr);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Better Implementation: Track the M Best</a:t>
            </a:r>
            <a:endParaRPr/>
          </a:p>
        </p:txBody>
      </p:sp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166800" y="4129075"/>
            <a:ext cx="8443800" cy="949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Can track top M transactions using only M memory. API for MinPQ also makes code very simple (don’t need to make explicit comparisons).</a:t>
            </a:r>
            <a:endParaRPr/>
          </a:p>
        </p:txBody>
      </p:sp>
      <p:sp>
        <p:nvSpPr>
          <p:cNvPr id="205" name="Google Shape;205;p32"/>
          <p:cNvSpPr txBox="1"/>
          <p:nvPr/>
        </p:nvSpPr>
        <p:spPr>
          <a:xfrm>
            <a:off x="272925" y="661300"/>
            <a:ext cx="8555100" cy="36216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List&lt;Particle&gt; highestEnergyParticles(Detector det,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M) {</a:t>
            </a:r>
            <a:endParaRPr b="1" sz="1600">
              <a:solidFill>
                <a:srgbClr val="9C20EE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Comparator&lt;Particle&gt; </a:t>
            </a:r>
            <a:r>
              <a:rPr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cmptr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EnergyComparator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MinPQ&lt;Particle&gt; </a:t>
            </a:r>
            <a:r>
              <a:rPr lang="en" sz="1600">
                <a:solidFill>
                  <a:schemeClr val="hlink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highEnergyParticles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HeapMinPQ&lt;&gt;(cmptr);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for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(Timer </a:t>
            </a:r>
            <a:r>
              <a:rPr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timer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= new Timer(); </a:t>
            </a:r>
            <a:r>
              <a:rPr lang="en" sz="1600"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timer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.hours() &lt; 24; )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	</a:t>
            </a:r>
            <a:r>
              <a:rPr lang="en" sz="1600">
                <a:solidFill>
                  <a:schemeClr val="hlink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highEnergyParticles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.add(det.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getNextParticle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());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if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chemeClr val="hlink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highEnergyParticles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.size() &gt; M) 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  { </a:t>
            </a:r>
            <a:r>
              <a:rPr lang="en" sz="1600">
                <a:solidFill>
                  <a:schemeClr val="hlink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highEnergyParticles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removeSmallest(); 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ArrayList&lt;String&gt; returnList = 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new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ArrayList&lt;String&gt;();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while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(</a:t>
            </a:r>
            <a:r>
              <a:rPr lang="en" sz="1600">
                <a:solidFill>
                  <a:schemeClr val="hlink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highEnergyParticles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.size() &gt; 0)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    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returnList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.add(</a:t>
            </a:r>
            <a:r>
              <a:rPr lang="en" sz="1600">
                <a:solidFill>
                  <a:schemeClr val="hlink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highEnergyParticles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.removeSmallest());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	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returnList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33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21, CS61B, Fall 2023</a:t>
            </a:r>
            <a:endParaRPr/>
          </a:p>
        </p:txBody>
      </p:sp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Priority Queue Introduction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Introducing the Priority Queue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Using a PQ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Some Bad Implementations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Heaps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Definitions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Add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Delete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Tree Representations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Recursive Representation (1)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Array Representations (2, 3, 3b)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Priority Queue Summary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 Structures Summary</a:t>
            </a:r>
            <a:endParaRPr/>
          </a:p>
        </p:txBody>
      </p:sp>
      <p:sp>
        <p:nvSpPr>
          <p:cNvPr id="212" name="Google Shape;212;p33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Bad Implementations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3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Would We Implement a MinPQ?</a:t>
            </a:r>
            <a:endParaRPr/>
          </a:p>
        </p:txBody>
      </p:sp>
      <p:sp>
        <p:nvSpPr>
          <p:cNvPr id="218" name="Google Shape;218;p3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Some possibilities: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Ordered Array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Bushy BST: Maintaining bushiness is annoying. </a:t>
            </a:r>
            <a:r>
              <a:rPr b="1" lang="en"/>
              <a:t>Handling duplicate priorities is awkward.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HashTable: No good! Items go into random places.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19" name="Google Shape;219;p34"/>
          <p:cNvGraphicFramePr/>
          <p:nvPr/>
        </p:nvGraphicFramePr>
        <p:xfrm>
          <a:off x="617575" y="2374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{7C89B8A3-7295-462C-A610-F3B1B96D619A}</a:tableStyleId>
              </a:tblPr>
              <a:tblGrid>
                <a:gridCol w="1782725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Ordered Array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Bushy BST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Hash Table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Heap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Θ(N)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Θ(log N)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Θ(1)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getSmallest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Θ(1)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Θ(log N)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Θ(N)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removeSmallest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Θ(N)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Θ(log N)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Θ(N)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Caveats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Dups tough</a:t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0" name="Google Shape;220;p34"/>
          <p:cNvSpPr txBox="1"/>
          <p:nvPr/>
        </p:nvSpPr>
        <p:spPr>
          <a:xfrm>
            <a:off x="3288600" y="4527100"/>
            <a:ext cx="23526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Worst Case 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Θ(</a:t>
            </a:r>
            <a:r>
              <a:rPr b="1" lang="en" sz="1100">
                <a:solidFill>
                  <a:srgbClr val="333333"/>
                </a:solidFill>
              </a:rPr>
              <a:t>·</a:t>
            </a:r>
            <a:r>
              <a:rPr lang="en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lang="en"/>
              <a:t>Runtimes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21, CS61B, Fall 2023</a:t>
            </a:r>
            <a:endParaRPr/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Priority Queue Introduction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Introducing the Priority Queue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Using a PQ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Bad Implementations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Heaps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Heap </a:t>
            </a: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Definitions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Add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Delete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Tree Representations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Recursive Representation (1)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Array Representations (2, 3, 3b)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Priority Queue Summary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 Structures Summary</a:t>
            </a:r>
            <a:endParaRPr/>
          </a:p>
        </p:txBody>
      </p:sp>
      <p:sp>
        <p:nvSpPr>
          <p:cNvPr id="227" name="Google Shape;227;p3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 Definitions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Introducing the Heap</a:t>
            </a:r>
            <a:endParaRPr/>
          </a:p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BSTs would work, but need to be kept bushy and duplicates are awkward.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Binary min-heap: Binary tree that is </a:t>
            </a:r>
            <a:r>
              <a:rPr b="1" i="1" lang="en"/>
              <a:t>complete</a:t>
            </a:r>
            <a:r>
              <a:rPr lang="en"/>
              <a:t> and obeys </a:t>
            </a:r>
            <a:r>
              <a:rPr b="1" i="1" lang="en"/>
              <a:t>min-heap property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Min-heap: Every node is less than or equal to both of its children.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Complete: Missing items only at the bottom level (if any), all nodes are as far left as possible.</a:t>
            </a:r>
            <a:endParaRPr/>
          </a:p>
        </p:txBody>
      </p:sp>
      <p:sp>
        <p:nvSpPr>
          <p:cNvPr id="234" name="Google Shape;234;p36"/>
          <p:cNvSpPr/>
          <p:nvPr/>
        </p:nvSpPr>
        <p:spPr>
          <a:xfrm>
            <a:off x="110263" y="3198900"/>
            <a:ext cx="435300" cy="4353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235" name="Google Shape;235;p36"/>
          <p:cNvGrpSpPr/>
          <p:nvPr/>
        </p:nvGrpSpPr>
        <p:grpSpPr>
          <a:xfrm>
            <a:off x="526225" y="3198900"/>
            <a:ext cx="1989375" cy="1767500"/>
            <a:chOff x="526225" y="3198900"/>
            <a:chExt cx="1989375" cy="1767500"/>
          </a:xfrm>
        </p:grpSpPr>
        <p:sp>
          <p:nvSpPr>
            <p:cNvPr id="236" name="Google Shape;236;p36"/>
            <p:cNvSpPr/>
            <p:nvPr/>
          </p:nvSpPr>
          <p:spPr>
            <a:xfrm>
              <a:off x="827800" y="3818825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37" name="Google Shape;237;p36"/>
            <p:cNvCxnSpPr>
              <a:stCxn id="238" idx="0"/>
              <a:endCxn id="236" idx="5"/>
            </p:cNvCxnSpPr>
            <p:nvPr/>
          </p:nvCxnSpPr>
          <p:spPr>
            <a:xfrm rot="10800000">
              <a:off x="1199300" y="4190300"/>
              <a:ext cx="558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9" name="Google Shape;239;p36"/>
            <p:cNvCxnSpPr>
              <a:stCxn id="236" idx="0"/>
              <a:endCxn id="240" idx="3"/>
            </p:cNvCxnSpPr>
            <p:nvPr/>
          </p:nvCxnSpPr>
          <p:spPr>
            <a:xfrm flipH="1" rot="10800000">
              <a:off x="1045450" y="3570425"/>
              <a:ext cx="395700" cy="24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38" name="Google Shape;238;p36"/>
            <p:cNvSpPr/>
            <p:nvPr/>
          </p:nvSpPr>
          <p:spPr>
            <a:xfrm>
              <a:off x="1037450" y="4531100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0" name="Google Shape;240;p36"/>
            <p:cNvSpPr/>
            <p:nvPr/>
          </p:nvSpPr>
          <p:spPr>
            <a:xfrm>
              <a:off x="1377400" y="3198900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1" name="Google Shape;241;p36"/>
            <p:cNvSpPr/>
            <p:nvPr/>
          </p:nvSpPr>
          <p:spPr>
            <a:xfrm>
              <a:off x="526225" y="4531100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42" name="Google Shape;242;p36"/>
            <p:cNvCxnSpPr>
              <a:stCxn id="236" idx="3"/>
              <a:endCxn id="241" idx="0"/>
            </p:cNvCxnSpPr>
            <p:nvPr/>
          </p:nvCxnSpPr>
          <p:spPr>
            <a:xfrm flipH="1">
              <a:off x="743948" y="4190377"/>
              <a:ext cx="1476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3" name="Google Shape;243;p36"/>
            <p:cNvSpPr/>
            <p:nvPr/>
          </p:nvSpPr>
          <p:spPr>
            <a:xfrm>
              <a:off x="1805700" y="3818825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44" name="Google Shape;244;p36"/>
            <p:cNvCxnSpPr>
              <a:stCxn id="243" idx="0"/>
              <a:endCxn id="240" idx="5"/>
            </p:cNvCxnSpPr>
            <p:nvPr/>
          </p:nvCxnSpPr>
          <p:spPr>
            <a:xfrm rot="10800000">
              <a:off x="1748850" y="3570425"/>
              <a:ext cx="274500" cy="24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5" name="Google Shape;245;p36"/>
            <p:cNvCxnSpPr>
              <a:stCxn id="246" idx="0"/>
              <a:endCxn id="243" idx="5"/>
            </p:cNvCxnSpPr>
            <p:nvPr/>
          </p:nvCxnSpPr>
          <p:spPr>
            <a:xfrm rot="10800000">
              <a:off x="2177350" y="4190527"/>
              <a:ext cx="120600" cy="327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46" name="Google Shape;246;p36"/>
            <p:cNvSpPr/>
            <p:nvPr/>
          </p:nvSpPr>
          <p:spPr>
            <a:xfrm>
              <a:off x="2080300" y="4518127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47" name="Google Shape;247;p36"/>
            <p:cNvSpPr/>
            <p:nvPr/>
          </p:nvSpPr>
          <p:spPr>
            <a:xfrm>
              <a:off x="1569075" y="4518127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48" name="Google Shape;248;p36"/>
            <p:cNvCxnSpPr>
              <a:stCxn id="243" idx="3"/>
              <a:endCxn id="247" idx="0"/>
            </p:cNvCxnSpPr>
            <p:nvPr/>
          </p:nvCxnSpPr>
          <p:spPr>
            <a:xfrm flipH="1">
              <a:off x="1786648" y="4190377"/>
              <a:ext cx="82800" cy="327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49" name="Google Shape;249;p36"/>
          <p:cNvGrpSpPr/>
          <p:nvPr/>
        </p:nvGrpSpPr>
        <p:grpSpPr>
          <a:xfrm>
            <a:off x="4850925" y="3138450"/>
            <a:ext cx="1989375" cy="1767500"/>
            <a:chOff x="4850925" y="3138450"/>
            <a:chExt cx="1989375" cy="1767500"/>
          </a:xfrm>
        </p:grpSpPr>
        <p:sp>
          <p:nvSpPr>
            <p:cNvPr id="250" name="Google Shape;250;p36"/>
            <p:cNvSpPr/>
            <p:nvPr/>
          </p:nvSpPr>
          <p:spPr>
            <a:xfrm>
              <a:off x="5152500" y="3758375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51" name="Google Shape;251;p36"/>
            <p:cNvCxnSpPr>
              <a:stCxn id="252" idx="0"/>
              <a:endCxn id="250" idx="5"/>
            </p:cNvCxnSpPr>
            <p:nvPr/>
          </p:nvCxnSpPr>
          <p:spPr>
            <a:xfrm rot="10800000">
              <a:off x="5524000" y="4129850"/>
              <a:ext cx="558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36"/>
            <p:cNvCxnSpPr>
              <a:stCxn id="250" idx="0"/>
              <a:endCxn id="254" idx="3"/>
            </p:cNvCxnSpPr>
            <p:nvPr/>
          </p:nvCxnSpPr>
          <p:spPr>
            <a:xfrm flipH="1" rot="10800000">
              <a:off x="5370150" y="3509975"/>
              <a:ext cx="395700" cy="24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2" name="Google Shape;252;p36"/>
            <p:cNvSpPr/>
            <p:nvPr/>
          </p:nvSpPr>
          <p:spPr>
            <a:xfrm>
              <a:off x="5362150" y="4470650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54" name="Google Shape;254;p36"/>
            <p:cNvSpPr/>
            <p:nvPr/>
          </p:nvSpPr>
          <p:spPr>
            <a:xfrm>
              <a:off x="5702100" y="3138450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55" name="Google Shape;255;p36"/>
            <p:cNvSpPr/>
            <p:nvPr/>
          </p:nvSpPr>
          <p:spPr>
            <a:xfrm>
              <a:off x="4850925" y="4470650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56" name="Google Shape;256;p36"/>
            <p:cNvCxnSpPr>
              <a:stCxn id="250" idx="3"/>
              <a:endCxn id="255" idx="0"/>
            </p:cNvCxnSpPr>
            <p:nvPr/>
          </p:nvCxnSpPr>
          <p:spPr>
            <a:xfrm flipH="1">
              <a:off x="5068648" y="4129927"/>
              <a:ext cx="1476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57" name="Google Shape;257;p36"/>
            <p:cNvSpPr/>
            <p:nvPr/>
          </p:nvSpPr>
          <p:spPr>
            <a:xfrm>
              <a:off x="6130400" y="3758375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58" name="Google Shape;258;p36"/>
            <p:cNvCxnSpPr>
              <a:stCxn id="257" idx="0"/>
              <a:endCxn id="254" idx="5"/>
            </p:cNvCxnSpPr>
            <p:nvPr/>
          </p:nvCxnSpPr>
          <p:spPr>
            <a:xfrm rot="10800000">
              <a:off x="6073550" y="3509975"/>
              <a:ext cx="274500" cy="24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9" name="Google Shape;259;p36"/>
            <p:cNvCxnSpPr>
              <a:stCxn id="260" idx="0"/>
              <a:endCxn id="257" idx="5"/>
            </p:cNvCxnSpPr>
            <p:nvPr/>
          </p:nvCxnSpPr>
          <p:spPr>
            <a:xfrm rot="10800000">
              <a:off x="6502050" y="4130077"/>
              <a:ext cx="120600" cy="327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0" name="Google Shape;260;p36"/>
            <p:cNvSpPr/>
            <p:nvPr/>
          </p:nvSpPr>
          <p:spPr>
            <a:xfrm>
              <a:off x="6405000" y="4457677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2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61" name="Google Shape;261;p36"/>
          <p:cNvGrpSpPr/>
          <p:nvPr/>
        </p:nvGrpSpPr>
        <p:grpSpPr>
          <a:xfrm>
            <a:off x="7108300" y="3151042"/>
            <a:ext cx="1714775" cy="1767500"/>
            <a:chOff x="7108300" y="3151042"/>
            <a:chExt cx="1714775" cy="1767500"/>
          </a:xfrm>
        </p:grpSpPr>
        <p:sp>
          <p:nvSpPr>
            <p:cNvPr id="262" name="Google Shape;262;p36"/>
            <p:cNvSpPr/>
            <p:nvPr/>
          </p:nvSpPr>
          <p:spPr>
            <a:xfrm>
              <a:off x="7409875" y="3770968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63" name="Google Shape;263;p36"/>
            <p:cNvCxnSpPr>
              <a:stCxn id="264" idx="0"/>
              <a:endCxn id="262" idx="5"/>
            </p:cNvCxnSpPr>
            <p:nvPr/>
          </p:nvCxnSpPr>
          <p:spPr>
            <a:xfrm rot="10800000">
              <a:off x="7781375" y="4142443"/>
              <a:ext cx="558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5" name="Google Shape;265;p36"/>
            <p:cNvCxnSpPr>
              <a:stCxn id="262" idx="0"/>
              <a:endCxn id="266" idx="3"/>
            </p:cNvCxnSpPr>
            <p:nvPr/>
          </p:nvCxnSpPr>
          <p:spPr>
            <a:xfrm flipH="1" rot="10800000">
              <a:off x="7627525" y="3522568"/>
              <a:ext cx="395700" cy="24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4" name="Google Shape;264;p36"/>
            <p:cNvSpPr/>
            <p:nvPr/>
          </p:nvSpPr>
          <p:spPr>
            <a:xfrm>
              <a:off x="7619525" y="4483243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4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66" name="Google Shape;266;p36"/>
            <p:cNvSpPr/>
            <p:nvPr/>
          </p:nvSpPr>
          <p:spPr>
            <a:xfrm>
              <a:off x="7959475" y="3151042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67" name="Google Shape;267;p36"/>
            <p:cNvSpPr/>
            <p:nvPr/>
          </p:nvSpPr>
          <p:spPr>
            <a:xfrm>
              <a:off x="7108300" y="4483243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68" name="Google Shape;268;p36"/>
            <p:cNvCxnSpPr>
              <a:stCxn id="262" idx="3"/>
              <a:endCxn id="267" idx="0"/>
            </p:cNvCxnSpPr>
            <p:nvPr/>
          </p:nvCxnSpPr>
          <p:spPr>
            <a:xfrm flipH="1">
              <a:off x="7326023" y="4142519"/>
              <a:ext cx="1476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69" name="Google Shape;269;p36"/>
            <p:cNvSpPr/>
            <p:nvPr/>
          </p:nvSpPr>
          <p:spPr>
            <a:xfrm>
              <a:off x="8387775" y="3770968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70" name="Google Shape;270;p36"/>
            <p:cNvCxnSpPr>
              <a:stCxn id="269" idx="0"/>
              <a:endCxn id="266" idx="5"/>
            </p:cNvCxnSpPr>
            <p:nvPr/>
          </p:nvCxnSpPr>
          <p:spPr>
            <a:xfrm rot="10800000">
              <a:off x="8330925" y="3522568"/>
              <a:ext cx="274500" cy="24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1" name="Google Shape;271;p36"/>
            <p:cNvSpPr/>
            <p:nvPr/>
          </p:nvSpPr>
          <p:spPr>
            <a:xfrm>
              <a:off x="8151150" y="4470269"/>
              <a:ext cx="435300" cy="435300"/>
            </a:xfrm>
            <a:prstGeom prst="ellipse">
              <a:avLst/>
            </a:prstGeom>
            <a:solidFill>
              <a:srgbClr val="EA999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72" name="Google Shape;272;p36"/>
            <p:cNvCxnSpPr>
              <a:stCxn id="269" idx="3"/>
              <a:endCxn id="271" idx="0"/>
            </p:cNvCxnSpPr>
            <p:nvPr/>
          </p:nvCxnSpPr>
          <p:spPr>
            <a:xfrm flipH="1">
              <a:off x="8368723" y="4142519"/>
              <a:ext cx="82800" cy="327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73" name="Google Shape;273;p36"/>
          <p:cNvSpPr txBox="1"/>
          <p:nvPr/>
        </p:nvSpPr>
        <p:spPr>
          <a:xfrm>
            <a:off x="5330123" y="4813826"/>
            <a:ext cx="15753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Incomplete</a:t>
            </a:r>
            <a:endParaRPr/>
          </a:p>
        </p:txBody>
      </p:sp>
      <p:sp>
        <p:nvSpPr>
          <p:cNvPr id="274" name="Google Shape;274;p36"/>
          <p:cNvSpPr txBox="1"/>
          <p:nvPr/>
        </p:nvSpPr>
        <p:spPr>
          <a:xfrm>
            <a:off x="6882925" y="4829750"/>
            <a:ext cx="2184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Lacks min-heap property</a:t>
            </a:r>
            <a:endParaRPr/>
          </a:p>
        </p:txBody>
      </p:sp>
      <p:grpSp>
        <p:nvGrpSpPr>
          <p:cNvPr id="275" name="Google Shape;275;p36"/>
          <p:cNvGrpSpPr/>
          <p:nvPr/>
        </p:nvGrpSpPr>
        <p:grpSpPr>
          <a:xfrm>
            <a:off x="2783600" y="3184614"/>
            <a:ext cx="1714775" cy="1767500"/>
            <a:chOff x="2783600" y="3184614"/>
            <a:chExt cx="1714775" cy="1767500"/>
          </a:xfrm>
        </p:grpSpPr>
        <p:sp>
          <p:nvSpPr>
            <p:cNvPr id="276" name="Google Shape;276;p36"/>
            <p:cNvSpPr/>
            <p:nvPr/>
          </p:nvSpPr>
          <p:spPr>
            <a:xfrm>
              <a:off x="3085175" y="3804539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77" name="Google Shape;277;p36"/>
            <p:cNvCxnSpPr>
              <a:stCxn id="278" idx="0"/>
              <a:endCxn id="276" idx="5"/>
            </p:cNvCxnSpPr>
            <p:nvPr/>
          </p:nvCxnSpPr>
          <p:spPr>
            <a:xfrm rot="10800000">
              <a:off x="3456675" y="4176014"/>
              <a:ext cx="558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9" name="Google Shape;279;p36"/>
            <p:cNvCxnSpPr>
              <a:stCxn id="276" idx="0"/>
              <a:endCxn id="280" idx="3"/>
            </p:cNvCxnSpPr>
            <p:nvPr/>
          </p:nvCxnSpPr>
          <p:spPr>
            <a:xfrm flipH="1" rot="10800000">
              <a:off x="3302825" y="3556139"/>
              <a:ext cx="395700" cy="24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78" name="Google Shape;278;p36"/>
            <p:cNvSpPr/>
            <p:nvPr/>
          </p:nvSpPr>
          <p:spPr>
            <a:xfrm>
              <a:off x="3294825" y="4516814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80" name="Google Shape;280;p36"/>
            <p:cNvSpPr/>
            <p:nvPr/>
          </p:nvSpPr>
          <p:spPr>
            <a:xfrm>
              <a:off x="3634775" y="3184614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81" name="Google Shape;281;p36"/>
            <p:cNvSpPr/>
            <p:nvPr/>
          </p:nvSpPr>
          <p:spPr>
            <a:xfrm>
              <a:off x="2783600" y="4516814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82" name="Google Shape;282;p36"/>
            <p:cNvCxnSpPr>
              <a:stCxn id="276" idx="3"/>
              <a:endCxn id="281" idx="0"/>
            </p:cNvCxnSpPr>
            <p:nvPr/>
          </p:nvCxnSpPr>
          <p:spPr>
            <a:xfrm flipH="1">
              <a:off x="3001323" y="4176091"/>
              <a:ext cx="1476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3" name="Google Shape;283;p36"/>
            <p:cNvSpPr/>
            <p:nvPr/>
          </p:nvSpPr>
          <p:spPr>
            <a:xfrm>
              <a:off x="4063075" y="3804539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284" name="Google Shape;284;p36"/>
            <p:cNvCxnSpPr>
              <a:stCxn id="283" idx="0"/>
              <a:endCxn id="280" idx="5"/>
            </p:cNvCxnSpPr>
            <p:nvPr/>
          </p:nvCxnSpPr>
          <p:spPr>
            <a:xfrm rot="10800000">
              <a:off x="4006225" y="3556139"/>
              <a:ext cx="274500" cy="24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85" name="Google Shape;285;p36"/>
          <p:cNvGrpSpPr/>
          <p:nvPr/>
        </p:nvGrpSpPr>
        <p:grpSpPr>
          <a:xfrm>
            <a:off x="3828225" y="4176014"/>
            <a:ext cx="435300" cy="776100"/>
            <a:chOff x="3294825" y="4176014"/>
            <a:chExt cx="435300" cy="776100"/>
          </a:xfrm>
        </p:grpSpPr>
        <p:cxnSp>
          <p:nvCxnSpPr>
            <p:cNvPr id="286" name="Google Shape;286;p36"/>
            <p:cNvCxnSpPr>
              <a:stCxn id="287" idx="0"/>
              <a:endCxn id="283" idx="3"/>
            </p:cNvCxnSpPr>
            <p:nvPr/>
          </p:nvCxnSpPr>
          <p:spPr>
            <a:xfrm flipH="1" rot="10800000">
              <a:off x="3512475" y="4176014"/>
              <a:ext cx="810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287" name="Google Shape;287;p36"/>
            <p:cNvSpPr/>
            <p:nvPr/>
          </p:nvSpPr>
          <p:spPr>
            <a:xfrm>
              <a:off x="3294825" y="4516814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D9D2E9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 Comprehension Test: yellkey.com/true</a:t>
            </a:r>
            <a:endParaRPr>
              <a:solidFill>
                <a:srgbClr val="208920"/>
              </a:solidFill>
            </a:endParaRPr>
          </a:p>
        </p:txBody>
      </p:sp>
      <p:sp>
        <p:nvSpPr>
          <p:cNvPr id="293" name="Google Shape;293;p3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many of these are min heaps?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2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4</a:t>
            </a:r>
            <a:endParaRPr/>
          </a:p>
        </p:txBody>
      </p:sp>
      <p:sp>
        <p:nvSpPr>
          <p:cNvPr id="294" name="Google Shape;294;p37"/>
          <p:cNvSpPr/>
          <p:nvPr/>
        </p:nvSpPr>
        <p:spPr>
          <a:xfrm>
            <a:off x="765000" y="3375339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295" name="Google Shape;295;p37"/>
          <p:cNvCxnSpPr>
            <a:stCxn id="296" idx="0"/>
            <a:endCxn id="294" idx="5"/>
          </p:cNvCxnSpPr>
          <p:nvPr/>
        </p:nvCxnSpPr>
        <p:spPr>
          <a:xfrm rot="10800000">
            <a:off x="1136500" y="3746814"/>
            <a:ext cx="558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7" name="Google Shape;297;p37"/>
          <p:cNvCxnSpPr>
            <a:stCxn id="294" idx="0"/>
            <a:endCxn id="298" idx="3"/>
          </p:cNvCxnSpPr>
          <p:nvPr/>
        </p:nvCxnSpPr>
        <p:spPr>
          <a:xfrm flipH="1" rot="10800000">
            <a:off x="982650" y="3126939"/>
            <a:ext cx="395700" cy="248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6" name="Google Shape;296;p37"/>
          <p:cNvSpPr/>
          <p:nvPr/>
        </p:nvSpPr>
        <p:spPr>
          <a:xfrm>
            <a:off x="974650" y="4087614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8" name="Google Shape;298;p37"/>
          <p:cNvSpPr/>
          <p:nvPr/>
        </p:nvSpPr>
        <p:spPr>
          <a:xfrm>
            <a:off x="1314600" y="2755414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299" name="Google Shape;299;p37"/>
          <p:cNvSpPr/>
          <p:nvPr/>
        </p:nvSpPr>
        <p:spPr>
          <a:xfrm>
            <a:off x="463425" y="4087614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00" name="Google Shape;300;p37"/>
          <p:cNvCxnSpPr>
            <a:stCxn id="294" idx="3"/>
            <a:endCxn id="299" idx="0"/>
          </p:cNvCxnSpPr>
          <p:nvPr/>
        </p:nvCxnSpPr>
        <p:spPr>
          <a:xfrm flipH="1">
            <a:off x="681148" y="3746891"/>
            <a:ext cx="1476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1" name="Google Shape;301;p37"/>
          <p:cNvSpPr/>
          <p:nvPr/>
        </p:nvSpPr>
        <p:spPr>
          <a:xfrm>
            <a:off x="1742900" y="3375339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02" name="Google Shape;302;p37"/>
          <p:cNvCxnSpPr>
            <a:stCxn id="301" idx="0"/>
            <a:endCxn id="298" idx="5"/>
          </p:cNvCxnSpPr>
          <p:nvPr/>
        </p:nvCxnSpPr>
        <p:spPr>
          <a:xfrm rot="10800000">
            <a:off x="1686050" y="3126939"/>
            <a:ext cx="274500" cy="248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37"/>
          <p:cNvSpPr/>
          <p:nvPr/>
        </p:nvSpPr>
        <p:spPr>
          <a:xfrm>
            <a:off x="1506275" y="4074641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04" name="Google Shape;304;p37"/>
          <p:cNvCxnSpPr>
            <a:stCxn id="301" idx="3"/>
            <a:endCxn id="303" idx="0"/>
          </p:cNvCxnSpPr>
          <p:nvPr/>
        </p:nvCxnSpPr>
        <p:spPr>
          <a:xfrm flipH="1">
            <a:off x="1723848" y="3746891"/>
            <a:ext cx="828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5" name="Google Shape;305;p37"/>
          <p:cNvSpPr/>
          <p:nvPr/>
        </p:nvSpPr>
        <p:spPr>
          <a:xfrm>
            <a:off x="3171450" y="3429425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06" name="Google Shape;306;p37"/>
          <p:cNvCxnSpPr>
            <a:stCxn id="307" idx="0"/>
            <a:endCxn id="305" idx="5"/>
          </p:cNvCxnSpPr>
          <p:nvPr/>
        </p:nvCxnSpPr>
        <p:spPr>
          <a:xfrm rot="10800000">
            <a:off x="3542950" y="3800900"/>
            <a:ext cx="558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08" name="Google Shape;308;p37"/>
          <p:cNvCxnSpPr>
            <a:stCxn id="305" idx="0"/>
            <a:endCxn id="309" idx="3"/>
          </p:cNvCxnSpPr>
          <p:nvPr/>
        </p:nvCxnSpPr>
        <p:spPr>
          <a:xfrm flipH="1" rot="10800000">
            <a:off x="3389100" y="3181025"/>
            <a:ext cx="395700" cy="248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7" name="Google Shape;307;p37"/>
          <p:cNvSpPr/>
          <p:nvPr/>
        </p:nvSpPr>
        <p:spPr>
          <a:xfrm>
            <a:off x="3381100" y="4141700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09" name="Google Shape;309;p37"/>
          <p:cNvSpPr/>
          <p:nvPr/>
        </p:nvSpPr>
        <p:spPr>
          <a:xfrm>
            <a:off x="3721050" y="2809500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0" name="Google Shape;310;p37"/>
          <p:cNvSpPr/>
          <p:nvPr/>
        </p:nvSpPr>
        <p:spPr>
          <a:xfrm>
            <a:off x="2869875" y="4141700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1" name="Google Shape;311;p37"/>
          <p:cNvCxnSpPr>
            <a:stCxn id="305" idx="3"/>
            <a:endCxn id="310" idx="0"/>
          </p:cNvCxnSpPr>
          <p:nvPr/>
        </p:nvCxnSpPr>
        <p:spPr>
          <a:xfrm flipH="1">
            <a:off x="3087598" y="3800977"/>
            <a:ext cx="1476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2" name="Google Shape;312;p37"/>
          <p:cNvSpPr/>
          <p:nvPr/>
        </p:nvSpPr>
        <p:spPr>
          <a:xfrm>
            <a:off x="5126375" y="3390825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3" name="Google Shape;313;p37"/>
          <p:cNvCxnSpPr>
            <a:stCxn id="314" idx="0"/>
            <a:endCxn id="312" idx="5"/>
          </p:cNvCxnSpPr>
          <p:nvPr/>
        </p:nvCxnSpPr>
        <p:spPr>
          <a:xfrm rot="10800000">
            <a:off x="5497875" y="3762300"/>
            <a:ext cx="558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15" name="Google Shape;315;p37"/>
          <p:cNvCxnSpPr>
            <a:stCxn id="312" idx="0"/>
            <a:endCxn id="316" idx="3"/>
          </p:cNvCxnSpPr>
          <p:nvPr/>
        </p:nvCxnSpPr>
        <p:spPr>
          <a:xfrm flipH="1" rot="10800000">
            <a:off x="5344025" y="3142425"/>
            <a:ext cx="395700" cy="248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4" name="Google Shape;314;p37"/>
          <p:cNvSpPr/>
          <p:nvPr/>
        </p:nvSpPr>
        <p:spPr>
          <a:xfrm>
            <a:off x="5336025" y="4103100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6" name="Google Shape;316;p37"/>
          <p:cNvSpPr/>
          <p:nvPr/>
        </p:nvSpPr>
        <p:spPr>
          <a:xfrm>
            <a:off x="5675975" y="2770900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17" name="Google Shape;317;p37"/>
          <p:cNvSpPr/>
          <p:nvPr/>
        </p:nvSpPr>
        <p:spPr>
          <a:xfrm>
            <a:off x="4824800" y="4103100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18" name="Google Shape;318;p37"/>
          <p:cNvCxnSpPr>
            <a:stCxn id="312" idx="3"/>
            <a:endCxn id="317" idx="0"/>
          </p:cNvCxnSpPr>
          <p:nvPr/>
        </p:nvCxnSpPr>
        <p:spPr>
          <a:xfrm flipH="1">
            <a:off x="5042523" y="3762377"/>
            <a:ext cx="1476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19" name="Google Shape;319;p37"/>
          <p:cNvSpPr/>
          <p:nvPr/>
        </p:nvSpPr>
        <p:spPr>
          <a:xfrm>
            <a:off x="6104275" y="3390825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20" name="Google Shape;320;p37"/>
          <p:cNvCxnSpPr>
            <a:stCxn id="319" idx="0"/>
            <a:endCxn id="316" idx="5"/>
          </p:cNvCxnSpPr>
          <p:nvPr/>
        </p:nvCxnSpPr>
        <p:spPr>
          <a:xfrm rot="10800000">
            <a:off x="6047425" y="3142425"/>
            <a:ext cx="274500" cy="248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21" name="Google Shape;321;p37"/>
          <p:cNvCxnSpPr>
            <a:stCxn id="322" idx="0"/>
            <a:endCxn id="319" idx="5"/>
          </p:cNvCxnSpPr>
          <p:nvPr/>
        </p:nvCxnSpPr>
        <p:spPr>
          <a:xfrm rot="10800000">
            <a:off x="6475925" y="3762527"/>
            <a:ext cx="1206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2" name="Google Shape;322;p37"/>
          <p:cNvSpPr/>
          <p:nvPr/>
        </p:nvSpPr>
        <p:spPr>
          <a:xfrm>
            <a:off x="6378875" y="4090127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9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23" name="Google Shape;323;p37"/>
          <p:cNvSpPr/>
          <p:nvPr/>
        </p:nvSpPr>
        <p:spPr>
          <a:xfrm>
            <a:off x="5867650" y="4090127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24" name="Google Shape;324;p37"/>
          <p:cNvCxnSpPr>
            <a:stCxn id="319" idx="3"/>
            <a:endCxn id="323" idx="0"/>
          </p:cNvCxnSpPr>
          <p:nvPr/>
        </p:nvCxnSpPr>
        <p:spPr>
          <a:xfrm flipH="1">
            <a:off x="6085223" y="3762377"/>
            <a:ext cx="828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5" name="Google Shape;325;p37"/>
          <p:cNvSpPr/>
          <p:nvPr/>
        </p:nvSpPr>
        <p:spPr>
          <a:xfrm>
            <a:off x="7453725" y="3429425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26" name="Google Shape;326;p37"/>
          <p:cNvCxnSpPr>
            <a:stCxn id="325" idx="0"/>
            <a:endCxn id="327" idx="3"/>
          </p:cNvCxnSpPr>
          <p:nvPr/>
        </p:nvCxnSpPr>
        <p:spPr>
          <a:xfrm flipH="1" rot="10800000">
            <a:off x="7671375" y="3181025"/>
            <a:ext cx="395700" cy="248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7" name="Google Shape;327;p37"/>
          <p:cNvSpPr/>
          <p:nvPr/>
        </p:nvSpPr>
        <p:spPr>
          <a:xfrm>
            <a:off x="8003325" y="2809500"/>
            <a:ext cx="435300" cy="435300"/>
          </a:xfrm>
          <a:prstGeom prst="ellipse">
            <a:avLst/>
          </a:prstGeom>
          <a:solidFill>
            <a:srgbClr val="FFFFFF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 Comprehension Test</a:t>
            </a:r>
            <a:endParaRPr/>
          </a:p>
        </p:txBody>
      </p:sp>
      <p:sp>
        <p:nvSpPr>
          <p:cNvPr id="333" name="Google Shape;333;p3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How many of these are min heaps?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0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1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b="1" lang="en"/>
              <a:t>2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3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lphaUcPeriod"/>
            </a:pPr>
            <a:r>
              <a:rPr lang="en"/>
              <a:t>4</a:t>
            </a:r>
            <a:endParaRPr/>
          </a:p>
        </p:txBody>
      </p:sp>
      <p:sp>
        <p:nvSpPr>
          <p:cNvPr id="334" name="Google Shape;334;p38"/>
          <p:cNvSpPr/>
          <p:nvPr/>
        </p:nvSpPr>
        <p:spPr>
          <a:xfrm>
            <a:off x="765000" y="3375339"/>
            <a:ext cx="435300" cy="4353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35" name="Google Shape;335;p38"/>
          <p:cNvCxnSpPr>
            <a:stCxn id="336" idx="0"/>
            <a:endCxn id="334" idx="5"/>
          </p:cNvCxnSpPr>
          <p:nvPr/>
        </p:nvCxnSpPr>
        <p:spPr>
          <a:xfrm rot="10800000">
            <a:off x="1136500" y="3746814"/>
            <a:ext cx="558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7" name="Google Shape;337;p38"/>
          <p:cNvCxnSpPr>
            <a:stCxn id="334" idx="0"/>
            <a:endCxn id="338" idx="3"/>
          </p:cNvCxnSpPr>
          <p:nvPr/>
        </p:nvCxnSpPr>
        <p:spPr>
          <a:xfrm flipH="1" rot="10800000">
            <a:off x="982650" y="3126939"/>
            <a:ext cx="395700" cy="248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6" name="Google Shape;336;p38"/>
          <p:cNvSpPr/>
          <p:nvPr/>
        </p:nvSpPr>
        <p:spPr>
          <a:xfrm>
            <a:off x="974650" y="4087614"/>
            <a:ext cx="435300" cy="4353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8" name="Google Shape;338;p38"/>
          <p:cNvSpPr/>
          <p:nvPr/>
        </p:nvSpPr>
        <p:spPr>
          <a:xfrm>
            <a:off x="1314600" y="2755414"/>
            <a:ext cx="435300" cy="4353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39" name="Google Shape;339;p38"/>
          <p:cNvSpPr/>
          <p:nvPr/>
        </p:nvSpPr>
        <p:spPr>
          <a:xfrm>
            <a:off x="463425" y="4087614"/>
            <a:ext cx="435300" cy="4353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40" name="Google Shape;340;p38"/>
          <p:cNvCxnSpPr>
            <a:stCxn id="334" idx="3"/>
            <a:endCxn id="339" idx="0"/>
          </p:cNvCxnSpPr>
          <p:nvPr/>
        </p:nvCxnSpPr>
        <p:spPr>
          <a:xfrm flipH="1">
            <a:off x="681148" y="3746891"/>
            <a:ext cx="1476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1" name="Google Shape;341;p38"/>
          <p:cNvSpPr/>
          <p:nvPr/>
        </p:nvSpPr>
        <p:spPr>
          <a:xfrm>
            <a:off x="1742900" y="3375339"/>
            <a:ext cx="435300" cy="4353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42" name="Google Shape;342;p38"/>
          <p:cNvCxnSpPr>
            <a:stCxn id="341" idx="0"/>
            <a:endCxn id="338" idx="5"/>
          </p:cNvCxnSpPr>
          <p:nvPr/>
        </p:nvCxnSpPr>
        <p:spPr>
          <a:xfrm rot="10800000">
            <a:off x="1686050" y="3126939"/>
            <a:ext cx="274500" cy="248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38"/>
          <p:cNvSpPr/>
          <p:nvPr/>
        </p:nvSpPr>
        <p:spPr>
          <a:xfrm>
            <a:off x="1506275" y="4074641"/>
            <a:ext cx="435300" cy="4353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44" name="Google Shape;344;p38"/>
          <p:cNvCxnSpPr>
            <a:stCxn id="341" idx="3"/>
            <a:endCxn id="343" idx="0"/>
          </p:cNvCxnSpPr>
          <p:nvPr/>
        </p:nvCxnSpPr>
        <p:spPr>
          <a:xfrm flipH="1">
            <a:off x="1723848" y="3746891"/>
            <a:ext cx="828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5" name="Google Shape;345;p38"/>
          <p:cNvSpPr/>
          <p:nvPr/>
        </p:nvSpPr>
        <p:spPr>
          <a:xfrm>
            <a:off x="3171450" y="3429425"/>
            <a:ext cx="435300" cy="4353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46" name="Google Shape;346;p38"/>
          <p:cNvCxnSpPr>
            <a:stCxn id="347" idx="0"/>
            <a:endCxn id="345" idx="5"/>
          </p:cNvCxnSpPr>
          <p:nvPr/>
        </p:nvCxnSpPr>
        <p:spPr>
          <a:xfrm rot="10800000">
            <a:off x="3542950" y="3800900"/>
            <a:ext cx="558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8" name="Google Shape;348;p38"/>
          <p:cNvCxnSpPr>
            <a:stCxn id="345" idx="0"/>
            <a:endCxn id="349" idx="3"/>
          </p:cNvCxnSpPr>
          <p:nvPr/>
        </p:nvCxnSpPr>
        <p:spPr>
          <a:xfrm flipH="1" rot="10800000">
            <a:off x="3389100" y="3181025"/>
            <a:ext cx="395700" cy="248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7" name="Google Shape;347;p38"/>
          <p:cNvSpPr/>
          <p:nvPr/>
        </p:nvSpPr>
        <p:spPr>
          <a:xfrm>
            <a:off x="3381100" y="4141700"/>
            <a:ext cx="435300" cy="4353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49" name="Google Shape;349;p38"/>
          <p:cNvSpPr/>
          <p:nvPr/>
        </p:nvSpPr>
        <p:spPr>
          <a:xfrm>
            <a:off x="3721050" y="2809500"/>
            <a:ext cx="435300" cy="4353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0" name="Google Shape;350;p38"/>
          <p:cNvSpPr/>
          <p:nvPr/>
        </p:nvSpPr>
        <p:spPr>
          <a:xfrm>
            <a:off x="2869875" y="4141700"/>
            <a:ext cx="435300" cy="4353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51" name="Google Shape;351;p38"/>
          <p:cNvCxnSpPr>
            <a:stCxn id="345" idx="3"/>
            <a:endCxn id="350" idx="0"/>
          </p:cNvCxnSpPr>
          <p:nvPr/>
        </p:nvCxnSpPr>
        <p:spPr>
          <a:xfrm flipH="1">
            <a:off x="3087598" y="3800977"/>
            <a:ext cx="1476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2" name="Google Shape;352;p38"/>
          <p:cNvSpPr/>
          <p:nvPr/>
        </p:nvSpPr>
        <p:spPr>
          <a:xfrm>
            <a:off x="5126375" y="3390825"/>
            <a:ext cx="435300" cy="4353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2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53" name="Google Shape;353;p38"/>
          <p:cNvCxnSpPr>
            <a:stCxn id="354" idx="0"/>
            <a:endCxn id="352" idx="5"/>
          </p:cNvCxnSpPr>
          <p:nvPr/>
        </p:nvCxnSpPr>
        <p:spPr>
          <a:xfrm rot="10800000">
            <a:off x="5497875" y="3762300"/>
            <a:ext cx="558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8"/>
          <p:cNvCxnSpPr>
            <a:stCxn id="352" idx="0"/>
            <a:endCxn id="356" idx="3"/>
          </p:cNvCxnSpPr>
          <p:nvPr/>
        </p:nvCxnSpPr>
        <p:spPr>
          <a:xfrm flipH="1" rot="10800000">
            <a:off x="5344025" y="3142425"/>
            <a:ext cx="395700" cy="248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4" name="Google Shape;354;p38"/>
          <p:cNvSpPr/>
          <p:nvPr/>
        </p:nvSpPr>
        <p:spPr>
          <a:xfrm>
            <a:off x="5336025" y="4103100"/>
            <a:ext cx="435300" cy="4353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6" name="Google Shape;356;p38"/>
          <p:cNvSpPr/>
          <p:nvPr/>
        </p:nvSpPr>
        <p:spPr>
          <a:xfrm>
            <a:off x="5675975" y="2770900"/>
            <a:ext cx="435300" cy="4353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4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7" name="Google Shape;357;p38"/>
          <p:cNvSpPr/>
          <p:nvPr/>
        </p:nvSpPr>
        <p:spPr>
          <a:xfrm>
            <a:off x="4824800" y="4103100"/>
            <a:ext cx="435300" cy="4353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58" name="Google Shape;358;p38"/>
          <p:cNvCxnSpPr>
            <a:stCxn id="352" idx="3"/>
            <a:endCxn id="357" idx="0"/>
          </p:cNvCxnSpPr>
          <p:nvPr/>
        </p:nvCxnSpPr>
        <p:spPr>
          <a:xfrm flipH="1">
            <a:off x="5042523" y="3762377"/>
            <a:ext cx="1476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59" name="Google Shape;359;p38"/>
          <p:cNvSpPr/>
          <p:nvPr/>
        </p:nvSpPr>
        <p:spPr>
          <a:xfrm>
            <a:off x="6104275" y="3390825"/>
            <a:ext cx="435300" cy="4353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60" name="Google Shape;360;p38"/>
          <p:cNvCxnSpPr>
            <a:stCxn id="359" idx="0"/>
            <a:endCxn id="356" idx="5"/>
          </p:cNvCxnSpPr>
          <p:nvPr/>
        </p:nvCxnSpPr>
        <p:spPr>
          <a:xfrm rot="10800000">
            <a:off x="6047425" y="3142425"/>
            <a:ext cx="274500" cy="248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38"/>
          <p:cNvCxnSpPr>
            <a:stCxn id="362" idx="0"/>
            <a:endCxn id="359" idx="5"/>
          </p:cNvCxnSpPr>
          <p:nvPr/>
        </p:nvCxnSpPr>
        <p:spPr>
          <a:xfrm rot="10800000">
            <a:off x="6475925" y="3762527"/>
            <a:ext cx="1206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2" name="Google Shape;362;p38"/>
          <p:cNvSpPr/>
          <p:nvPr/>
        </p:nvSpPr>
        <p:spPr>
          <a:xfrm>
            <a:off x="6378875" y="4090127"/>
            <a:ext cx="435300" cy="4353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9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3" name="Google Shape;363;p38"/>
          <p:cNvSpPr/>
          <p:nvPr/>
        </p:nvSpPr>
        <p:spPr>
          <a:xfrm>
            <a:off x="5867650" y="4090127"/>
            <a:ext cx="435300" cy="435300"/>
          </a:xfrm>
          <a:prstGeom prst="ellipse">
            <a:avLst/>
          </a:prstGeom>
          <a:solidFill>
            <a:srgbClr val="EA999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64" name="Google Shape;364;p38"/>
          <p:cNvCxnSpPr>
            <a:stCxn id="359" idx="3"/>
            <a:endCxn id="363" idx="0"/>
          </p:cNvCxnSpPr>
          <p:nvPr/>
        </p:nvCxnSpPr>
        <p:spPr>
          <a:xfrm flipH="1">
            <a:off x="6085223" y="3762377"/>
            <a:ext cx="828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5" name="Google Shape;365;p38"/>
          <p:cNvSpPr/>
          <p:nvPr/>
        </p:nvSpPr>
        <p:spPr>
          <a:xfrm>
            <a:off x="7453725" y="3429425"/>
            <a:ext cx="435300" cy="4353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66" name="Google Shape;366;p38"/>
          <p:cNvCxnSpPr>
            <a:stCxn id="365" idx="0"/>
            <a:endCxn id="367" idx="3"/>
          </p:cNvCxnSpPr>
          <p:nvPr/>
        </p:nvCxnSpPr>
        <p:spPr>
          <a:xfrm flipH="1" rot="10800000">
            <a:off x="7671375" y="3181025"/>
            <a:ext cx="395700" cy="248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67" name="Google Shape;367;p38"/>
          <p:cNvSpPr/>
          <p:nvPr/>
        </p:nvSpPr>
        <p:spPr>
          <a:xfrm>
            <a:off x="8003325" y="2809500"/>
            <a:ext cx="435300" cy="435300"/>
          </a:xfrm>
          <a:prstGeom prst="ellipse">
            <a:avLst/>
          </a:prstGeom>
          <a:solidFill>
            <a:srgbClr val="93C47D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0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68" name="Google Shape;368;p38"/>
          <p:cNvSpPr txBox="1"/>
          <p:nvPr/>
        </p:nvSpPr>
        <p:spPr>
          <a:xfrm>
            <a:off x="2850298" y="4577001"/>
            <a:ext cx="15753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Incomplete</a:t>
            </a:r>
            <a:endParaRPr/>
          </a:p>
        </p:txBody>
      </p:sp>
      <p:sp>
        <p:nvSpPr>
          <p:cNvPr id="369" name="Google Shape;369;p38"/>
          <p:cNvSpPr txBox="1"/>
          <p:nvPr/>
        </p:nvSpPr>
        <p:spPr>
          <a:xfrm>
            <a:off x="4707900" y="4592925"/>
            <a:ext cx="2184900" cy="22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Lacks min-heap property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3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Good Are Heaps?</a:t>
            </a:r>
            <a:endParaRPr/>
          </a:p>
        </p:txBody>
      </p:sp>
      <p:sp>
        <p:nvSpPr>
          <p:cNvPr id="375" name="Google Shape;375;p3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Heaps lend themselves very naturally to implementation of a priority queue.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Hopefully easy question: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would you support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getSmallest()</a:t>
            </a:r>
            <a:r>
              <a:rPr lang="en"/>
              <a:t>?</a:t>
            </a:r>
            <a:endParaRPr/>
          </a:p>
        </p:txBody>
      </p:sp>
      <p:grpSp>
        <p:nvGrpSpPr>
          <p:cNvPr id="376" name="Google Shape;376;p39"/>
          <p:cNvGrpSpPr/>
          <p:nvPr/>
        </p:nvGrpSpPr>
        <p:grpSpPr>
          <a:xfrm>
            <a:off x="2783600" y="3184614"/>
            <a:ext cx="1714775" cy="1767500"/>
            <a:chOff x="2783600" y="3184614"/>
            <a:chExt cx="1714775" cy="1767500"/>
          </a:xfrm>
        </p:grpSpPr>
        <p:sp>
          <p:nvSpPr>
            <p:cNvPr id="377" name="Google Shape;377;p39"/>
            <p:cNvSpPr/>
            <p:nvPr/>
          </p:nvSpPr>
          <p:spPr>
            <a:xfrm>
              <a:off x="3085175" y="3804539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78" name="Google Shape;378;p39"/>
            <p:cNvCxnSpPr>
              <a:stCxn id="379" idx="0"/>
              <a:endCxn id="377" idx="5"/>
            </p:cNvCxnSpPr>
            <p:nvPr/>
          </p:nvCxnSpPr>
          <p:spPr>
            <a:xfrm rot="10800000">
              <a:off x="3456675" y="4176014"/>
              <a:ext cx="558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0" name="Google Shape;380;p39"/>
            <p:cNvCxnSpPr>
              <a:stCxn id="377" idx="0"/>
              <a:endCxn id="381" idx="3"/>
            </p:cNvCxnSpPr>
            <p:nvPr/>
          </p:nvCxnSpPr>
          <p:spPr>
            <a:xfrm flipH="1" rot="10800000">
              <a:off x="3302825" y="3556139"/>
              <a:ext cx="395700" cy="24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79" name="Google Shape;379;p39"/>
            <p:cNvSpPr/>
            <p:nvPr/>
          </p:nvSpPr>
          <p:spPr>
            <a:xfrm>
              <a:off x="3294825" y="4516814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1" name="Google Shape;381;p39"/>
            <p:cNvSpPr/>
            <p:nvPr/>
          </p:nvSpPr>
          <p:spPr>
            <a:xfrm>
              <a:off x="3634775" y="3184614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82" name="Google Shape;382;p39"/>
            <p:cNvSpPr/>
            <p:nvPr/>
          </p:nvSpPr>
          <p:spPr>
            <a:xfrm>
              <a:off x="2783600" y="4516814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83" name="Google Shape;383;p39"/>
            <p:cNvCxnSpPr>
              <a:stCxn id="377" idx="3"/>
              <a:endCxn id="382" idx="0"/>
            </p:cNvCxnSpPr>
            <p:nvPr/>
          </p:nvCxnSpPr>
          <p:spPr>
            <a:xfrm flipH="1">
              <a:off x="3001323" y="4176091"/>
              <a:ext cx="1476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4" name="Google Shape;384;p39"/>
            <p:cNvSpPr/>
            <p:nvPr/>
          </p:nvSpPr>
          <p:spPr>
            <a:xfrm>
              <a:off x="4063075" y="3804539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85" name="Google Shape;385;p39"/>
            <p:cNvCxnSpPr>
              <a:stCxn id="384" idx="0"/>
              <a:endCxn id="381" idx="5"/>
            </p:cNvCxnSpPr>
            <p:nvPr/>
          </p:nvCxnSpPr>
          <p:spPr>
            <a:xfrm rot="10800000">
              <a:off x="4006225" y="3556139"/>
              <a:ext cx="274500" cy="2484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6" name="Google Shape;386;p39"/>
            <p:cNvSpPr/>
            <p:nvPr/>
          </p:nvSpPr>
          <p:spPr>
            <a:xfrm>
              <a:off x="3826450" y="4503841"/>
              <a:ext cx="435300" cy="435300"/>
            </a:xfrm>
            <a:prstGeom prst="ellipse">
              <a:avLst/>
            </a:prstGeom>
            <a:solidFill>
              <a:srgbClr val="93C47D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87" name="Google Shape;387;p39"/>
            <p:cNvCxnSpPr>
              <a:stCxn id="384" idx="3"/>
              <a:endCxn id="386" idx="0"/>
            </p:cNvCxnSpPr>
            <p:nvPr/>
          </p:nvCxnSpPr>
          <p:spPr>
            <a:xfrm flipH="1">
              <a:off x="4044023" y="4176091"/>
              <a:ext cx="82800" cy="327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40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21, CS61B, Fall 2023</a:t>
            </a:r>
            <a:endParaRPr/>
          </a:p>
        </p:txBody>
      </p:sp>
      <p:sp>
        <p:nvSpPr>
          <p:cNvPr id="393" name="Google Shape;393;p40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Priority Queue Introduction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Introducing the Priority Queue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Using a PQ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Bad Implementations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Heaps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</a:t>
            </a:r>
            <a:r>
              <a:rPr lang="en"/>
              <a:t>Definitions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Heap Add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Delete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Tree Representations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Recursive Representation (1)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Array Representations (2, 3, 3b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Priority Queue Summary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 Structures Summary</a:t>
            </a:r>
            <a:endParaRPr/>
          </a:p>
        </p:txBody>
      </p:sp>
      <p:sp>
        <p:nvSpPr>
          <p:cNvPr id="394" name="Google Shape;394;p40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 Add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Add to a Heap?</a:t>
            </a:r>
            <a:endParaRPr/>
          </a:p>
        </p:txBody>
      </p:sp>
      <p:sp>
        <p:nvSpPr>
          <p:cNvPr id="400" name="Google Shape;400;p41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Challenge: Come up with an algorithm for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add(x)</a:t>
            </a:r>
            <a:r>
              <a:rPr lang="en"/>
              <a:t>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How would we insert 3?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Runtime must be logarithmic.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1" name="Google Shape;401;p41"/>
          <p:cNvGrpSpPr/>
          <p:nvPr/>
        </p:nvGrpSpPr>
        <p:grpSpPr>
          <a:xfrm>
            <a:off x="1954587" y="2104348"/>
            <a:ext cx="5234850" cy="2802877"/>
            <a:chOff x="1954587" y="2104348"/>
            <a:chExt cx="5234850" cy="2802877"/>
          </a:xfrm>
        </p:grpSpPr>
        <p:sp>
          <p:nvSpPr>
            <p:cNvPr id="402" name="Google Shape;402;p41"/>
            <p:cNvSpPr/>
            <p:nvPr/>
          </p:nvSpPr>
          <p:spPr>
            <a:xfrm>
              <a:off x="3110337" y="2952873"/>
              <a:ext cx="435300" cy="435300"/>
            </a:xfrm>
            <a:prstGeom prst="ellipse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03" name="Google Shape;403;p41"/>
            <p:cNvCxnSpPr>
              <a:stCxn id="404" idx="0"/>
              <a:endCxn id="402" idx="5"/>
            </p:cNvCxnSpPr>
            <p:nvPr/>
          </p:nvCxnSpPr>
          <p:spPr>
            <a:xfrm rot="10800000">
              <a:off x="3482037" y="3324348"/>
              <a:ext cx="5664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5" name="Google Shape;405;p41"/>
            <p:cNvCxnSpPr>
              <a:stCxn id="402" idx="0"/>
              <a:endCxn id="406" idx="3"/>
            </p:cNvCxnSpPr>
            <p:nvPr/>
          </p:nvCxnSpPr>
          <p:spPr>
            <a:xfrm flipH="1" rot="10800000">
              <a:off x="3327987" y="2475873"/>
              <a:ext cx="1356300" cy="47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4" name="Google Shape;404;p41"/>
            <p:cNvSpPr/>
            <p:nvPr/>
          </p:nvSpPr>
          <p:spPr>
            <a:xfrm>
              <a:off x="3830787" y="3665148"/>
              <a:ext cx="435300" cy="435300"/>
            </a:xfrm>
            <a:prstGeom prst="ellipse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06" name="Google Shape;406;p41"/>
            <p:cNvSpPr/>
            <p:nvPr/>
          </p:nvSpPr>
          <p:spPr>
            <a:xfrm>
              <a:off x="4620495" y="2104348"/>
              <a:ext cx="435300" cy="435300"/>
            </a:xfrm>
            <a:prstGeom prst="ellipse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07" name="Google Shape;407;p41"/>
            <p:cNvSpPr/>
            <p:nvPr/>
          </p:nvSpPr>
          <p:spPr>
            <a:xfrm>
              <a:off x="2389887" y="3665148"/>
              <a:ext cx="435300" cy="435300"/>
            </a:xfrm>
            <a:prstGeom prst="ellipse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08" name="Google Shape;408;p41"/>
            <p:cNvCxnSpPr>
              <a:stCxn id="402" idx="3"/>
              <a:endCxn id="407" idx="0"/>
            </p:cNvCxnSpPr>
            <p:nvPr/>
          </p:nvCxnSpPr>
          <p:spPr>
            <a:xfrm flipH="1">
              <a:off x="2607686" y="3324425"/>
              <a:ext cx="566400" cy="340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09" name="Google Shape;409;p41"/>
            <p:cNvSpPr/>
            <p:nvPr/>
          </p:nvSpPr>
          <p:spPr>
            <a:xfrm>
              <a:off x="6186087" y="2952873"/>
              <a:ext cx="435300" cy="435300"/>
            </a:xfrm>
            <a:prstGeom prst="ellipse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1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10" name="Google Shape;410;p41"/>
            <p:cNvCxnSpPr>
              <a:stCxn id="409" idx="0"/>
              <a:endCxn id="406" idx="5"/>
            </p:cNvCxnSpPr>
            <p:nvPr/>
          </p:nvCxnSpPr>
          <p:spPr>
            <a:xfrm rot="10800000">
              <a:off x="4991937" y="2475873"/>
              <a:ext cx="1411800" cy="477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11" name="Google Shape;411;p41"/>
            <p:cNvCxnSpPr>
              <a:stCxn id="412" idx="0"/>
              <a:endCxn id="409" idx="5"/>
            </p:cNvCxnSpPr>
            <p:nvPr/>
          </p:nvCxnSpPr>
          <p:spPr>
            <a:xfrm rot="10800000">
              <a:off x="6557787" y="3324575"/>
              <a:ext cx="414000" cy="327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12" name="Google Shape;412;p41"/>
            <p:cNvSpPr/>
            <p:nvPr/>
          </p:nvSpPr>
          <p:spPr>
            <a:xfrm>
              <a:off x="6754137" y="3652175"/>
              <a:ext cx="435300" cy="435300"/>
            </a:xfrm>
            <a:prstGeom prst="ellipse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3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13" name="Google Shape;413;p41"/>
            <p:cNvSpPr/>
            <p:nvPr/>
          </p:nvSpPr>
          <p:spPr>
            <a:xfrm>
              <a:off x="5618037" y="3652175"/>
              <a:ext cx="435300" cy="435300"/>
            </a:xfrm>
            <a:prstGeom prst="ellipse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14" name="Google Shape;414;p41"/>
            <p:cNvCxnSpPr>
              <a:stCxn id="409" idx="3"/>
              <a:endCxn id="413" idx="0"/>
            </p:cNvCxnSpPr>
            <p:nvPr/>
          </p:nvCxnSpPr>
          <p:spPr>
            <a:xfrm flipH="1">
              <a:off x="5835836" y="3324425"/>
              <a:ext cx="414000" cy="3276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15" name="Google Shape;415;p41"/>
            <p:cNvSpPr/>
            <p:nvPr/>
          </p:nvSpPr>
          <p:spPr>
            <a:xfrm>
              <a:off x="1954587" y="4471925"/>
              <a:ext cx="435300" cy="435300"/>
            </a:xfrm>
            <a:prstGeom prst="ellipse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16" name="Google Shape;416;p41"/>
            <p:cNvCxnSpPr>
              <a:stCxn id="407" idx="3"/>
              <a:endCxn id="415" idx="0"/>
            </p:cNvCxnSpPr>
            <p:nvPr/>
          </p:nvCxnSpPr>
          <p:spPr>
            <a:xfrm flipH="1">
              <a:off x="2172236" y="4036700"/>
              <a:ext cx="281400" cy="43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17" name="Google Shape;417;p41"/>
            <p:cNvSpPr/>
            <p:nvPr/>
          </p:nvSpPr>
          <p:spPr>
            <a:xfrm>
              <a:off x="2741937" y="4471925"/>
              <a:ext cx="435300" cy="435300"/>
            </a:xfrm>
            <a:prstGeom prst="ellipse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7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18" name="Google Shape;418;p41"/>
            <p:cNvCxnSpPr>
              <a:stCxn id="407" idx="5"/>
              <a:endCxn id="417" idx="0"/>
            </p:cNvCxnSpPr>
            <p:nvPr/>
          </p:nvCxnSpPr>
          <p:spPr>
            <a:xfrm>
              <a:off x="2761439" y="4036700"/>
              <a:ext cx="198000" cy="43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19" name="Google Shape;419;p41"/>
            <p:cNvSpPr/>
            <p:nvPr/>
          </p:nvSpPr>
          <p:spPr>
            <a:xfrm>
              <a:off x="3408838" y="4471925"/>
              <a:ext cx="435300" cy="435300"/>
            </a:xfrm>
            <a:prstGeom prst="ellipse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8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20" name="Google Shape;420;p41"/>
            <p:cNvCxnSpPr>
              <a:stCxn id="404" idx="3"/>
              <a:endCxn id="419" idx="0"/>
            </p:cNvCxnSpPr>
            <p:nvPr/>
          </p:nvCxnSpPr>
          <p:spPr>
            <a:xfrm flipH="1">
              <a:off x="3626636" y="4036700"/>
              <a:ext cx="267900" cy="43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1" name="Google Shape;421;p41"/>
            <p:cNvSpPr/>
            <p:nvPr/>
          </p:nvSpPr>
          <p:spPr>
            <a:xfrm>
              <a:off x="4213472" y="4471925"/>
              <a:ext cx="435300" cy="435300"/>
            </a:xfrm>
            <a:prstGeom prst="ellipse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5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22" name="Google Shape;422;p41"/>
            <p:cNvCxnSpPr>
              <a:stCxn id="404" idx="5"/>
              <a:endCxn id="421" idx="0"/>
            </p:cNvCxnSpPr>
            <p:nvPr/>
          </p:nvCxnSpPr>
          <p:spPr>
            <a:xfrm>
              <a:off x="4202339" y="4036700"/>
              <a:ext cx="228900" cy="4353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423" name="Google Shape;423;p41"/>
            <p:cNvSpPr/>
            <p:nvPr/>
          </p:nvSpPr>
          <p:spPr>
            <a:xfrm>
              <a:off x="5182747" y="4471925"/>
              <a:ext cx="435300" cy="435300"/>
            </a:xfrm>
            <a:prstGeom prst="ellipse">
              <a:avLst/>
            </a:prstGeom>
            <a:solidFill>
              <a:srgbClr val="D9D2E9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latin typeface="Consolas"/>
                  <a:ea typeface="Consolas"/>
                  <a:cs typeface="Consolas"/>
                  <a:sym typeface="Consolas"/>
                </a:rPr>
                <a:t>6</a:t>
              </a:r>
              <a:endParaRPr sz="18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424" name="Google Shape;424;p41"/>
            <p:cNvCxnSpPr>
              <a:stCxn id="413" idx="3"/>
              <a:endCxn id="423" idx="0"/>
            </p:cNvCxnSpPr>
            <p:nvPr/>
          </p:nvCxnSpPr>
          <p:spPr>
            <a:xfrm flipH="1">
              <a:off x="5400386" y="4023727"/>
              <a:ext cx="281400" cy="448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 Add Demo</a:t>
            </a:r>
            <a:endParaRPr/>
          </a:p>
        </p:txBody>
      </p:sp>
      <p:sp>
        <p:nvSpPr>
          <p:cNvPr id="430" name="Google Shape;430;p42"/>
          <p:cNvSpPr/>
          <p:nvPr/>
        </p:nvSpPr>
        <p:spPr>
          <a:xfrm>
            <a:off x="281992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31" name="Google Shape;431;p42"/>
          <p:cNvCxnSpPr>
            <a:stCxn id="432" idx="0"/>
            <a:endCxn id="430" idx="5"/>
          </p:cNvCxnSpPr>
          <p:nvPr/>
        </p:nvCxnSpPr>
        <p:spPr>
          <a:xfrm rot="10800000">
            <a:off x="3191625" y="20335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3" name="Google Shape;433;p42"/>
          <p:cNvCxnSpPr>
            <a:stCxn id="430" idx="0"/>
            <a:endCxn id="434" idx="3"/>
          </p:cNvCxnSpPr>
          <p:nvPr/>
        </p:nvCxnSpPr>
        <p:spPr>
          <a:xfrm flipH="1" rot="10800000">
            <a:off x="3037575" y="1185075"/>
            <a:ext cx="13563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2" name="Google Shape;432;p42"/>
          <p:cNvSpPr/>
          <p:nvPr/>
        </p:nvSpPr>
        <p:spPr>
          <a:xfrm>
            <a:off x="35403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4" name="Google Shape;434;p42"/>
          <p:cNvSpPr/>
          <p:nvPr/>
        </p:nvSpPr>
        <p:spPr>
          <a:xfrm>
            <a:off x="4330083" y="813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35" name="Google Shape;435;p42"/>
          <p:cNvSpPr/>
          <p:nvPr/>
        </p:nvSpPr>
        <p:spPr>
          <a:xfrm>
            <a:off x="20994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36" name="Google Shape;436;p42"/>
          <p:cNvCxnSpPr>
            <a:stCxn id="430" idx="3"/>
            <a:endCxn id="435" idx="0"/>
          </p:cNvCxnSpPr>
          <p:nvPr/>
        </p:nvCxnSpPr>
        <p:spPr>
          <a:xfrm flipH="1">
            <a:off x="2317273" y="20336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37" name="Google Shape;437;p42"/>
          <p:cNvSpPr/>
          <p:nvPr/>
        </p:nvSpPr>
        <p:spPr>
          <a:xfrm>
            <a:off x="589567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38" name="Google Shape;438;p42"/>
          <p:cNvCxnSpPr>
            <a:stCxn id="437" idx="0"/>
            <a:endCxn id="434" idx="5"/>
          </p:cNvCxnSpPr>
          <p:nvPr/>
        </p:nvCxnSpPr>
        <p:spPr>
          <a:xfrm rot="10800000">
            <a:off x="4701525" y="1185075"/>
            <a:ext cx="14118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9" name="Google Shape;439;p42"/>
          <p:cNvCxnSpPr>
            <a:stCxn id="440" idx="0"/>
            <a:endCxn id="437" idx="5"/>
          </p:cNvCxnSpPr>
          <p:nvPr/>
        </p:nvCxnSpPr>
        <p:spPr>
          <a:xfrm rot="10800000">
            <a:off x="6267375" y="20337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" name="Google Shape;440;p42"/>
          <p:cNvSpPr/>
          <p:nvPr/>
        </p:nvSpPr>
        <p:spPr>
          <a:xfrm>
            <a:off x="64637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41" name="Google Shape;441;p42"/>
          <p:cNvSpPr/>
          <p:nvPr/>
        </p:nvSpPr>
        <p:spPr>
          <a:xfrm>
            <a:off x="53276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42" name="Google Shape;442;p42"/>
          <p:cNvCxnSpPr>
            <a:stCxn id="437" idx="3"/>
            <a:endCxn id="441" idx="0"/>
          </p:cNvCxnSpPr>
          <p:nvPr/>
        </p:nvCxnSpPr>
        <p:spPr>
          <a:xfrm flipH="1">
            <a:off x="5545423" y="20336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3" name="Google Shape;443;p42"/>
          <p:cNvSpPr/>
          <p:nvPr/>
        </p:nvSpPr>
        <p:spPr>
          <a:xfrm>
            <a:off x="166417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44" name="Google Shape;444;p42"/>
          <p:cNvCxnSpPr>
            <a:stCxn id="435" idx="3"/>
            <a:endCxn id="443" idx="0"/>
          </p:cNvCxnSpPr>
          <p:nvPr/>
        </p:nvCxnSpPr>
        <p:spPr>
          <a:xfrm flipH="1">
            <a:off x="1881823" y="27459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5" name="Google Shape;445;p42"/>
          <p:cNvSpPr/>
          <p:nvPr/>
        </p:nvSpPr>
        <p:spPr>
          <a:xfrm>
            <a:off x="245152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46" name="Google Shape;446;p42"/>
          <p:cNvCxnSpPr>
            <a:stCxn id="435" idx="5"/>
            <a:endCxn id="445" idx="0"/>
          </p:cNvCxnSpPr>
          <p:nvPr/>
        </p:nvCxnSpPr>
        <p:spPr>
          <a:xfrm>
            <a:off x="2471027" y="27459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7" name="Google Shape;447;p42"/>
          <p:cNvSpPr/>
          <p:nvPr/>
        </p:nvSpPr>
        <p:spPr>
          <a:xfrm>
            <a:off x="3118426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48" name="Google Shape;448;p42"/>
          <p:cNvCxnSpPr>
            <a:stCxn id="432" idx="3"/>
            <a:endCxn id="447" idx="0"/>
          </p:cNvCxnSpPr>
          <p:nvPr/>
        </p:nvCxnSpPr>
        <p:spPr>
          <a:xfrm flipH="1">
            <a:off x="3336223" y="27459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9" name="Google Shape;449;p42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3?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4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Add Demo</a:t>
            </a:r>
            <a:endParaRPr/>
          </a:p>
        </p:txBody>
      </p:sp>
      <p:sp>
        <p:nvSpPr>
          <p:cNvPr id="455" name="Google Shape;455;p43"/>
          <p:cNvSpPr/>
          <p:nvPr/>
        </p:nvSpPr>
        <p:spPr>
          <a:xfrm>
            <a:off x="281992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56" name="Google Shape;456;p43"/>
          <p:cNvCxnSpPr>
            <a:stCxn id="457" idx="0"/>
            <a:endCxn id="455" idx="5"/>
          </p:cNvCxnSpPr>
          <p:nvPr/>
        </p:nvCxnSpPr>
        <p:spPr>
          <a:xfrm rot="10800000">
            <a:off x="3191625" y="20335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8" name="Google Shape;458;p43"/>
          <p:cNvCxnSpPr>
            <a:stCxn id="455" idx="0"/>
            <a:endCxn id="459" idx="3"/>
          </p:cNvCxnSpPr>
          <p:nvPr/>
        </p:nvCxnSpPr>
        <p:spPr>
          <a:xfrm flipH="1" rot="10800000">
            <a:off x="3037575" y="1185075"/>
            <a:ext cx="13563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57" name="Google Shape;457;p43"/>
          <p:cNvSpPr/>
          <p:nvPr/>
        </p:nvSpPr>
        <p:spPr>
          <a:xfrm>
            <a:off x="35403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59" name="Google Shape;459;p43"/>
          <p:cNvSpPr/>
          <p:nvPr/>
        </p:nvSpPr>
        <p:spPr>
          <a:xfrm>
            <a:off x="4330083" y="813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0" name="Google Shape;460;p43"/>
          <p:cNvSpPr/>
          <p:nvPr/>
        </p:nvSpPr>
        <p:spPr>
          <a:xfrm>
            <a:off x="20994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61" name="Google Shape;461;p43"/>
          <p:cNvCxnSpPr>
            <a:stCxn id="455" idx="3"/>
            <a:endCxn id="460" idx="0"/>
          </p:cNvCxnSpPr>
          <p:nvPr/>
        </p:nvCxnSpPr>
        <p:spPr>
          <a:xfrm flipH="1">
            <a:off x="2317273" y="20336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2" name="Google Shape;462;p43"/>
          <p:cNvSpPr/>
          <p:nvPr/>
        </p:nvSpPr>
        <p:spPr>
          <a:xfrm>
            <a:off x="589567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63" name="Google Shape;463;p43"/>
          <p:cNvCxnSpPr>
            <a:stCxn id="462" idx="0"/>
            <a:endCxn id="459" idx="5"/>
          </p:cNvCxnSpPr>
          <p:nvPr/>
        </p:nvCxnSpPr>
        <p:spPr>
          <a:xfrm rot="10800000">
            <a:off x="4701525" y="1185075"/>
            <a:ext cx="14118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64" name="Google Shape;464;p43"/>
          <p:cNvCxnSpPr>
            <a:stCxn id="465" idx="0"/>
            <a:endCxn id="462" idx="5"/>
          </p:cNvCxnSpPr>
          <p:nvPr/>
        </p:nvCxnSpPr>
        <p:spPr>
          <a:xfrm rot="10800000">
            <a:off x="6267375" y="20337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5" name="Google Shape;465;p43"/>
          <p:cNvSpPr/>
          <p:nvPr/>
        </p:nvSpPr>
        <p:spPr>
          <a:xfrm>
            <a:off x="64637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66" name="Google Shape;466;p43"/>
          <p:cNvSpPr/>
          <p:nvPr/>
        </p:nvSpPr>
        <p:spPr>
          <a:xfrm>
            <a:off x="53276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67" name="Google Shape;467;p43"/>
          <p:cNvCxnSpPr>
            <a:stCxn id="462" idx="3"/>
            <a:endCxn id="466" idx="0"/>
          </p:cNvCxnSpPr>
          <p:nvPr/>
        </p:nvCxnSpPr>
        <p:spPr>
          <a:xfrm flipH="1">
            <a:off x="5545423" y="20336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68" name="Google Shape;468;p43"/>
          <p:cNvSpPr/>
          <p:nvPr/>
        </p:nvSpPr>
        <p:spPr>
          <a:xfrm>
            <a:off x="166417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69" name="Google Shape;469;p43"/>
          <p:cNvCxnSpPr>
            <a:stCxn id="460" idx="3"/>
            <a:endCxn id="468" idx="0"/>
          </p:cNvCxnSpPr>
          <p:nvPr/>
        </p:nvCxnSpPr>
        <p:spPr>
          <a:xfrm flipH="1">
            <a:off x="1881823" y="27459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0" name="Google Shape;470;p43"/>
          <p:cNvSpPr/>
          <p:nvPr/>
        </p:nvSpPr>
        <p:spPr>
          <a:xfrm>
            <a:off x="245152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1" name="Google Shape;471;p43"/>
          <p:cNvCxnSpPr>
            <a:stCxn id="460" idx="5"/>
            <a:endCxn id="470" idx="0"/>
          </p:cNvCxnSpPr>
          <p:nvPr/>
        </p:nvCxnSpPr>
        <p:spPr>
          <a:xfrm>
            <a:off x="2471027" y="27459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2" name="Google Shape;472;p43"/>
          <p:cNvSpPr/>
          <p:nvPr/>
        </p:nvSpPr>
        <p:spPr>
          <a:xfrm>
            <a:off x="3118426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3" name="Google Shape;473;p43"/>
          <p:cNvCxnSpPr>
            <a:stCxn id="457" idx="3"/>
            <a:endCxn id="472" idx="0"/>
          </p:cNvCxnSpPr>
          <p:nvPr/>
        </p:nvCxnSpPr>
        <p:spPr>
          <a:xfrm flipH="1">
            <a:off x="3336223" y="27459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4" name="Google Shape;474;p43"/>
          <p:cNvSpPr/>
          <p:nvPr/>
        </p:nvSpPr>
        <p:spPr>
          <a:xfrm>
            <a:off x="3923060" y="3181127"/>
            <a:ext cx="435300" cy="435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75" name="Google Shape;475;p43"/>
          <p:cNvCxnSpPr>
            <a:stCxn id="457" idx="5"/>
            <a:endCxn id="474" idx="0"/>
          </p:cNvCxnSpPr>
          <p:nvPr/>
        </p:nvCxnSpPr>
        <p:spPr>
          <a:xfrm>
            <a:off x="3911927" y="27459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6" name="Google Shape;476;p43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3.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to end of heap temporarily.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4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Add Demo</a:t>
            </a:r>
            <a:endParaRPr/>
          </a:p>
        </p:txBody>
      </p:sp>
      <p:sp>
        <p:nvSpPr>
          <p:cNvPr id="482" name="Google Shape;482;p44"/>
          <p:cNvSpPr/>
          <p:nvPr/>
        </p:nvSpPr>
        <p:spPr>
          <a:xfrm>
            <a:off x="281992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83" name="Google Shape;483;p44"/>
          <p:cNvCxnSpPr>
            <a:stCxn id="484" idx="0"/>
            <a:endCxn id="482" idx="5"/>
          </p:cNvCxnSpPr>
          <p:nvPr/>
        </p:nvCxnSpPr>
        <p:spPr>
          <a:xfrm rot="10800000">
            <a:off x="3191625" y="20335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4"/>
          <p:cNvCxnSpPr>
            <a:stCxn id="482" idx="0"/>
            <a:endCxn id="486" idx="3"/>
          </p:cNvCxnSpPr>
          <p:nvPr/>
        </p:nvCxnSpPr>
        <p:spPr>
          <a:xfrm flipH="1" rot="10800000">
            <a:off x="3037575" y="1185075"/>
            <a:ext cx="13563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4" name="Google Shape;484;p44"/>
          <p:cNvSpPr/>
          <p:nvPr/>
        </p:nvSpPr>
        <p:spPr>
          <a:xfrm>
            <a:off x="35403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6" name="Google Shape;486;p44"/>
          <p:cNvSpPr/>
          <p:nvPr/>
        </p:nvSpPr>
        <p:spPr>
          <a:xfrm>
            <a:off x="4330083" y="813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87" name="Google Shape;487;p44"/>
          <p:cNvSpPr/>
          <p:nvPr/>
        </p:nvSpPr>
        <p:spPr>
          <a:xfrm>
            <a:off x="20994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88" name="Google Shape;488;p44"/>
          <p:cNvCxnSpPr>
            <a:stCxn id="482" idx="3"/>
            <a:endCxn id="487" idx="0"/>
          </p:cNvCxnSpPr>
          <p:nvPr/>
        </p:nvCxnSpPr>
        <p:spPr>
          <a:xfrm flipH="1">
            <a:off x="2317273" y="20336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9" name="Google Shape;489;p44"/>
          <p:cNvSpPr/>
          <p:nvPr/>
        </p:nvSpPr>
        <p:spPr>
          <a:xfrm>
            <a:off x="589567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90" name="Google Shape;490;p44"/>
          <p:cNvCxnSpPr>
            <a:stCxn id="489" idx="0"/>
            <a:endCxn id="486" idx="5"/>
          </p:cNvCxnSpPr>
          <p:nvPr/>
        </p:nvCxnSpPr>
        <p:spPr>
          <a:xfrm rot="10800000">
            <a:off x="4701525" y="1185075"/>
            <a:ext cx="14118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91" name="Google Shape;491;p44"/>
          <p:cNvCxnSpPr>
            <a:stCxn id="492" idx="0"/>
            <a:endCxn id="489" idx="5"/>
          </p:cNvCxnSpPr>
          <p:nvPr/>
        </p:nvCxnSpPr>
        <p:spPr>
          <a:xfrm rot="10800000">
            <a:off x="6267375" y="20337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2" name="Google Shape;492;p44"/>
          <p:cNvSpPr/>
          <p:nvPr/>
        </p:nvSpPr>
        <p:spPr>
          <a:xfrm>
            <a:off x="64637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3" name="Google Shape;493;p44"/>
          <p:cNvSpPr/>
          <p:nvPr/>
        </p:nvSpPr>
        <p:spPr>
          <a:xfrm>
            <a:off x="53276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94" name="Google Shape;494;p44"/>
          <p:cNvCxnSpPr>
            <a:stCxn id="489" idx="3"/>
            <a:endCxn id="493" idx="0"/>
          </p:cNvCxnSpPr>
          <p:nvPr/>
        </p:nvCxnSpPr>
        <p:spPr>
          <a:xfrm flipH="1">
            <a:off x="5545423" y="20336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5" name="Google Shape;495;p44"/>
          <p:cNvSpPr/>
          <p:nvPr/>
        </p:nvSpPr>
        <p:spPr>
          <a:xfrm>
            <a:off x="166417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96" name="Google Shape;496;p44"/>
          <p:cNvCxnSpPr>
            <a:stCxn id="487" idx="3"/>
            <a:endCxn id="495" idx="0"/>
          </p:cNvCxnSpPr>
          <p:nvPr/>
        </p:nvCxnSpPr>
        <p:spPr>
          <a:xfrm flipH="1">
            <a:off x="1881823" y="27459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7" name="Google Shape;497;p44"/>
          <p:cNvSpPr/>
          <p:nvPr/>
        </p:nvSpPr>
        <p:spPr>
          <a:xfrm>
            <a:off x="245152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498" name="Google Shape;498;p44"/>
          <p:cNvCxnSpPr>
            <a:stCxn id="487" idx="5"/>
            <a:endCxn id="497" idx="0"/>
          </p:cNvCxnSpPr>
          <p:nvPr/>
        </p:nvCxnSpPr>
        <p:spPr>
          <a:xfrm>
            <a:off x="2471027" y="27459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99" name="Google Shape;499;p44"/>
          <p:cNvSpPr/>
          <p:nvPr/>
        </p:nvSpPr>
        <p:spPr>
          <a:xfrm>
            <a:off x="3118426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00" name="Google Shape;500;p44"/>
          <p:cNvCxnSpPr>
            <a:stCxn id="484" idx="3"/>
            <a:endCxn id="499" idx="0"/>
          </p:cNvCxnSpPr>
          <p:nvPr/>
        </p:nvCxnSpPr>
        <p:spPr>
          <a:xfrm flipH="1">
            <a:off x="3336223" y="27459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1" name="Google Shape;501;p44"/>
          <p:cNvSpPr/>
          <p:nvPr/>
        </p:nvSpPr>
        <p:spPr>
          <a:xfrm>
            <a:off x="3923060" y="3181127"/>
            <a:ext cx="435300" cy="435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02" name="Google Shape;502;p44"/>
          <p:cNvCxnSpPr>
            <a:stCxn id="484" idx="5"/>
            <a:endCxn id="501" idx="0"/>
          </p:cNvCxnSpPr>
          <p:nvPr/>
        </p:nvCxnSpPr>
        <p:spPr>
          <a:xfrm>
            <a:off x="3911927" y="27459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03" name="Google Shape;503;p44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3.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to end of heap temporarily.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Swim up the hierarchy to your rightful place...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Add Demo</a:t>
            </a:r>
            <a:endParaRPr/>
          </a:p>
        </p:txBody>
      </p:sp>
      <p:sp>
        <p:nvSpPr>
          <p:cNvPr id="509" name="Google Shape;509;p45"/>
          <p:cNvSpPr/>
          <p:nvPr/>
        </p:nvSpPr>
        <p:spPr>
          <a:xfrm>
            <a:off x="281992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10" name="Google Shape;510;p45"/>
          <p:cNvCxnSpPr>
            <a:stCxn id="511" idx="0"/>
            <a:endCxn id="509" idx="5"/>
          </p:cNvCxnSpPr>
          <p:nvPr/>
        </p:nvCxnSpPr>
        <p:spPr>
          <a:xfrm rot="10800000">
            <a:off x="3191625" y="20335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45"/>
          <p:cNvCxnSpPr>
            <a:stCxn id="509" idx="0"/>
            <a:endCxn id="513" idx="3"/>
          </p:cNvCxnSpPr>
          <p:nvPr/>
        </p:nvCxnSpPr>
        <p:spPr>
          <a:xfrm flipH="1" rot="10800000">
            <a:off x="3037575" y="1185075"/>
            <a:ext cx="13563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1" name="Google Shape;511;p45"/>
          <p:cNvSpPr/>
          <p:nvPr/>
        </p:nvSpPr>
        <p:spPr>
          <a:xfrm>
            <a:off x="3540375" y="2374350"/>
            <a:ext cx="435300" cy="435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3" name="Google Shape;513;p45"/>
          <p:cNvSpPr/>
          <p:nvPr/>
        </p:nvSpPr>
        <p:spPr>
          <a:xfrm>
            <a:off x="4330083" y="813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14" name="Google Shape;514;p45"/>
          <p:cNvSpPr/>
          <p:nvPr/>
        </p:nvSpPr>
        <p:spPr>
          <a:xfrm>
            <a:off x="20994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15" name="Google Shape;515;p45"/>
          <p:cNvCxnSpPr>
            <a:stCxn id="509" idx="3"/>
            <a:endCxn id="514" idx="0"/>
          </p:cNvCxnSpPr>
          <p:nvPr/>
        </p:nvCxnSpPr>
        <p:spPr>
          <a:xfrm flipH="1">
            <a:off x="2317273" y="20336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6" name="Google Shape;516;p45"/>
          <p:cNvSpPr/>
          <p:nvPr/>
        </p:nvSpPr>
        <p:spPr>
          <a:xfrm>
            <a:off x="589567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17" name="Google Shape;517;p45"/>
          <p:cNvCxnSpPr>
            <a:stCxn id="516" idx="0"/>
            <a:endCxn id="513" idx="5"/>
          </p:cNvCxnSpPr>
          <p:nvPr/>
        </p:nvCxnSpPr>
        <p:spPr>
          <a:xfrm rot="10800000">
            <a:off x="4701525" y="1185075"/>
            <a:ext cx="14118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8" name="Google Shape;518;p45"/>
          <p:cNvCxnSpPr>
            <a:stCxn id="519" idx="0"/>
            <a:endCxn id="516" idx="5"/>
          </p:cNvCxnSpPr>
          <p:nvPr/>
        </p:nvCxnSpPr>
        <p:spPr>
          <a:xfrm rot="10800000">
            <a:off x="6267375" y="20337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9" name="Google Shape;519;p45"/>
          <p:cNvSpPr/>
          <p:nvPr/>
        </p:nvSpPr>
        <p:spPr>
          <a:xfrm>
            <a:off x="64637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0" name="Google Shape;520;p45"/>
          <p:cNvSpPr/>
          <p:nvPr/>
        </p:nvSpPr>
        <p:spPr>
          <a:xfrm>
            <a:off x="53276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21" name="Google Shape;521;p45"/>
          <p:cNvCxnSpPr>
            <a:stCxn id="516" idx="3"/>
            <a:endCxn id="520" idx="0"/>
          </p:cNvCxnSpPr>
          <p:nvPr/>
        </p:nvCxnSpPr>
        <p:spPr>
          <a:xfrm flipH="1">
            <a:off x="5545423" y="20336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2" name="Google Shape;522;p45"/>
          <p:cNvSpPr/>
          <p:nvPr/>
        </p:nvSpPr>
        <p:spPr>
          <a:xfrm>
            <a:off x="166417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23" name="Google Shape;523;p45"/>
          <p:cNvCxnSpPr>
            <a:stCxn id="514" idx="3"/>
            <a:endCxn id="522" idx="0"/>
          </p:cNvCxnSpPr>
          <p:nvPr/>
        </p:nvCxnSpPr>
        <p:spPr>
          <a:xfrm flipH="1">
            <a:off x="1881823" y="27459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4" name="Google Shape;524;p45"/>
          <p:cNvSpPr/>
          <p:nvPr/>
        </p:nvSpPr>
        <p:spPr>
          <a:xfrm>
            <a:off x="245152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25" name="Google Shape;525;p45"/>
          <p:cNvCxnSpPr>
            <a:stCxn id="514" idx="5"/>
            <a:endCxn id="524" idx="0"/>
          </p:cNvCxnSpPr>
          <p:nvPr/>
        </p:nvCxnSpPr>
        <p:spPr>
          <a:xfrm>
            <a:off x="2471027" y="27459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6" name="Google Shape;526;p45"/>
          <p:cNvSpPr/>
          <p:nvPr/>
        </p:nvSpPr>
        <p:spPr>
          <a:xfrm>
            <a:off x="3118426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27" name="Google Shape;527;p45"/>
          <p:cNvCxnSpPr>
            <a:stCxn id="511" idx="3"/>
            <a:endCxn id="526" idx="0"/>
          </p:cNvCxnSpPr>
          <p:nvPr/>
        </p:nvCxnSpPr>
        <p:spPr>
          <a:xfrm flipH="1">
            <a:off x="3336223" y="27459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28" name="Google Shape;528;p45"/>
          <p:cNvSpPr/>
          <p:nvPr/>
        </p:nvSpPr>
        <p:spPr>
          <a:xfrm>
            <a:off x="3923060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29" name="Google Shape;529;p45"/>
          <p:cNvCxnSpPr>
            <a:stCxn id="511" idx="5"/>
            <a:endCxn id="528" idx="0"/>
          </p:cNvCxnSpPr>
          <p:nvPr/>
        </p:nvCxnSpPr>
        <p:spPr>
          <a:xfrm>
            <a:off x="3911927" y="27459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0" name="Google Shape;530;p45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3.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to end of heap temporarily.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Swim up the hierarchy to your rightful place...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Add Demo</a:t>
            </a:r>
            <a:endParaRPr/>
          </a:p>
        </p:txBody>
      </p:sp>
      <p:sp>
        <p:nvSpPr>
          <p:cNvPr id="536" name="Google Shape;536;p46"/>
          <p:cNvSpPr/>
          <p:nvPr/>
        </p:nvSpPr>
        <p:spPr>
          <a:xfrm>
            <a:off x="2819925" y="1662075"/>
            <a:ext cx="435300" cy="435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37" name="Google Shape;537;p46"/>
          <p:cNvCxnSpPr>
            <a:stCxn id="538" idx="0"/>
            <a:endCxn id="536" idx="5"/>
          </p:cNvCxnSpPr>
          <p:nvPr/>
        </p:nvCxnSpPr>
        <p:spPr>
          <a:xfrm rot="10800000">
            <a:off x="3191625" y="20335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46"/>
          <p:cNvCxnSpPr>
            <a:stCxn id="536" idx="0"/>
            <a:endCxn id="540" idx="3"/>
          </p:cNvCxnSpPr>
          <p:nvPr/>
        </p:nvCxnSpPr>
        <p:spPr>
          <a:xfrm flipH="1" rot="10800000">
            <a:off x="3037575" y="1185075"/>
            <a:ext cx="13563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8" name="Google Shape;538;p46"/>
          <p:cNvSpPr/>
          <p:nvPr/>
        </p:nvSpPr>
        <p:spPr>
          <a:xfrm>
            <a:off x="35403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0" name="Google Shape;540;p46"/>
          <p:cNvSpPr/>
          <p:nvPr/>
        </p:nvSpPr>
        <p:spPr>
          <a:xfrm>
            <a:off x="4330083" y="813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1" name="Google Shape;541;p46"/>
          <p:cNvSpPr/>
          <p:nvPr/>
        </p:nvSpPr>
        <p:spPr>
          <a:xfrm>
            <a:off x="20994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2" name="Google Shape;542;p46"/>
          <p:cNvCxnSpPr>
            <a:stCxn id="536" idx="3"/>
            <a:endCxn id="541" idx="0"/>
          </p:cNvCxnSpPr>
          <p:nvPr/>
        </p:nvCxnSpPr>
        <p:spPr>
          <a:xfrm flipH="1">
            <a:off x="2317273" y="20336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3" name="Google Shape;543;p46"/>
          <p:cNvSpPr/>
          <p:nvPr/>
        </p:nvSpPr>
        <p:spPr>
          <a:xfrm>
            <a:off x="589567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4" name="Google Shape;544;p46"/>
          <p:cNvCxnSpPr>
            <a:stCxn id="543" idx="0"/>
            <a:endCxn id="540" idx="5"/>
          </p:cNvCxnSpPr>
          <p:nvPr/>
        </p:nvCxnSpPr>
        <p:spPr>
          <a:xfrm rot="10800000">
            <a:off x="4701525" y="1185075"/>
            <a:ext cx="14118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46"/>
          <p:cNvCxnSpPr>
            <a:stCxn id="546" idx="0"/>
            <a:endCxn id="543" idx="5"/>
          </p:cNvCxnSpPr>
          <p:nvPr/>
        </p:nvCxnSpPr>
        <p:spPr>
          <a:xfrm rot="10800000">
            <a:off x="6267375" y="20337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6" name="Google Shape;546;p46"/>
          <p:cNvSpPr/>
          <p:nvPr/>
        </p:nvSpPr>
        <p:spPr>
          <a:xfrm>
            <a:off x="64637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47" name="Google Shape;547;p46"/>
          <p:cNvSpPr/>
          <p:nvPr/>
        </p:nvSpPr>
        <p:spPr>
          <a:xfrm>
            <a:off x="53276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48" name="Google Shape;548;p46"/>
          <p:cNvCxnSpPr>
            <a:stCxn id="543" idx="3"/>
            <a:endCxn id="547" idx="0"/>
          </p:cNvCxnSpPr>
          <p:nvPr/>
        </p:nvCxnSpPr>
        <p:spPr>
          <a:xfrm flipH="1">
            <a:off x="5545423" y="20336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9" name="Google Shape;549;p46"/>
          <p:cNvSpPr/>
          <p:nvPr/>
        </p:nvSpPr>
        <p:spPr>
          <a:xfrm>
            <a:off x="166417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50" name="Google Shape;550;p46"/>
          <p:cNvCxnSpPr>
            <a:stCxn id="541" idx="3"/>
            <a:endCxn id="549" idx="0"/>
          </p:cNvCxnSpPr>
          <p:nvPr/>
        </p:nvCxnSpPr>
        <p:spPr>
          <a:xfrm flipH="1">
            <a:off x="1881823" y="27459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1" name="Google Shape;551;p46"/>
          <p:cNvSpPr/>
          <p:nvPr/>
        </p:nvSpPr>
        <p:spPr>
          <a:xfrm>
            <a:off x="245152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52" name="Google Shape;552;p46"/>
          <p:cNvCxnSpPr>
            <a:stCxn id="541" idx="5"/>
            <a:endCxn id="551" idx="0"/>
          </p:cNvCxnSpPr>
          <p:nvPr/>
        </p:nvCxnSpPr>
        <p:spPr>
          <a:xfrm>
            <a:off x="2471027" y="27459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3" name="Google Shape;553;p46"/>
          <p:cNvSpPr/>
          <p:nvPr/>
        </p:nvSpPr>
        <p:spPr>
          <a:xfrm>
            <a:off x="3118426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54" name="Google Shape;554;p46"/>
          <p:cNvCxnSpPr>
            <a:stCxn id="538" idx="3"/>
            <a:endCxn id="553" idx="0"/>
          </p:cNvCxnSpPr>
          <p:nvPr/>
        </p:nvCxnSpPr>
        <p:spPr>
          <a:xfrm flipH="1">
            <a:off x="3336223" y="27459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5" name="Google Shape;555;p46"/>
          <p:cNvSpPr/>
          <p:nvPr/>
        </p:nvSpPr>
        <p:spPr>
          <a:xfrm>
            <a:off x="3923060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56" name="Google Shape;556;p46"/>
          <p:cNvCxnSpPr>
            <a:stCxn id="538" idx="5"/>
            <a:endCxn id="555" idx="0"/>
          </p:cNvCxnSpPr>
          <p:nvPr/>
        </p:nvCxnSpPr>
        <p:spPr>
          <a:xfrm>
            <a:off x="3911927" y="27459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7" name="Google Shape;557;p46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3.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to end of heap temporarily.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Swim up the hierarchy to your rightful place...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4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Add Demo</a:t>
            </a:r>
            <a:endParaRPr/>
          </a:p>
        </p:txBody>
      </p:sp>
      <p:sp>
        <p:nvSpPr>
          <p:cNvPr id="563" name="Google Shape;563;p47"/>
          <p:cNvSpPr/>
          <p:nvPr/>
        </p:nvSpPr>
        <p:spPr>
          <a:xfrm>
            <a:off x="281992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64" name="Google Shape;564;p47"/>
          <p:cNvCxnSpPr>
            <a:stCxn id="565" idx="0"/>
            <a:endCxn id="563" idx="5"/>
          </p:cNvCxnSpPr>
          <p:nvPr/>
        </p:nvCxnSpPr>
        <p:spPr>
          <a:xfrm rot="10800000">
            <a:off x="3191625" y="20335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6" name="Google Shape;566;p47"/>
          <p:cNvCxnSpPr>
            <a:stCxn id="563" idx="0"/>
            <a:endCxn id="567" idx="3"/>
          </p:cNvCxnSpPr>
          <p:nvPr/>
        </p:nvCxnSpPr>
        <p:spPr>
          <a:xfrm flipH="1" rot="10800000">
            <a:off x="3037575" y="1185075"/>
            <a:ext cx="13563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65" name="Google Shape;565;p47"/>
          <p:cNvSpPr/>
          <p:nvPr/>
        </p:nvSpPr>
        <p:spPr>
          <a:xfrm>
            <a:off x="35403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7" name="Google Shape;567;p47"/>
          <p:cNvSpPr/>
          <p:nvPr/>
        </p:nvSpPr>
        <p:spPr>
          <a:xfrm>
            <a:off x="4330083" y="813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68" name="Google Shape;568;p47"/>
          <p:cNvSpPr/>
          <p:nvPr/>
        </p:nvSpPr>
        <p:spPr>
          <a:xfrm>
            <a:off x="20994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69" name="Google Shape;569;p47"/>
          <p:cNvCxnSpPr>
            <a:stCxn id="563" idx="3"/>
            <a:endCxn id="568" idx="0"/>
          </p:cNvCxnSpPr>
          <p:nvPr/>
        </p:nvCxnSpPr>
        <p:spPr>
          <a:xfrm flipH="1">
            <a:off x="2317273" y="20336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0" name="Google Shape;570;p47"/>
          <p:cNvSpPr/>
          <p:nvPr/>
        </p:nvSpPr>
        <p:spPr>
          <a:xfrm>
            <a:off x="589567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71" name="Google Shape;571;p47"/>
          <p:cNvCxnSpPr>
            <a:stCxn id="570" idx="0"/>
            <a:endCxn id="567" idx="5"/>
          </p:cNvCxnSpPr>
          <p:nvPr/>
        </p:nvCxnSpPr>
        <p:spPr>
          <a:xfrm rot="10800000">
            <a:off x="4701525" y="1185075"/>
            <a:ext cx="14118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47"/>
          <p:cNvCxnSpPr>
            <a:stCxn id="573" idx="0"/>
            <a:endCxn id="570" idx="5"/>
          </p:cNvCxnSpPr>
          <p:nvPr/>
        </p:nvCxnSpPr>
        <p:spPr>
          <a:xfrm rot="10800000">
            <a:off x="6267375" y="20337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3" name="Google Shape;573;p47"/>
          <p:cNvSpPr/>
          <p:nvPr/>
        </p:nvSpPr>
        <p:spPr>
          <a:xfrm>
            <a:off x="64637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74" name="Google Shape;574;p47"/>
          <p:cNvSpPr/>
          <p:nvPr/>
        </p:nvSpPr>
        <p:spPr>
          <a:xfrm>
            <a:off x="53276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75" name="Google Shape;575;p47"/>
          <p:cNvCxnSpPr>
            <a:stCxn id="570" idx="3"/>
            <a:endCxn id="574" idx="0"/>
          </p:cNvCxnSpPr>
          <p:nvPr/>
        </p:nvCxnSpPr>
        <p:spPr>
          <a:xfrm flipH="1">
            <a:off x="5545423" y="20336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6" name="Google Shape;576;p47"/>
          <p:cNvSpPr/>
          <p:nvPr/>
        </p:nvSpPr>
        <p:spPr>
          <a:xfrm>
            <a:off x="166417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77" name="Google Shape;577;p47"/>
          <p:cNvCxnSpPr>
            <a:stCxn id="568" idx="3"/>
            <a:endCxn id="576" idx="0"/>
          </p:cNvCxnSpPr>
          <p:nvPr/>
        </p:nvCxnSpPr>
        <p:spPr>
          <a:xfrm flipH="1">
            <a:off x="1881823" y="27459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8" name="Google Shape;578;p47"/>
          <p:cNvSpPr/>
          <p:nvPr/>
        </p:nvSpPr>
        <p:spPr>
          <a:xfrm>
            <a:off x="245152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79" name="Google Shape;579;p47"/>
          <p:cNvCxnSpPr>
            <a:stCxn id="568" idx="5"/>
            <a:endCxn id="578" idx="0"/>
          </p:cNvCxnSpPr>
          <p:nvPr/>
        </p:nvCxnSpPr>
        <p:spPr>
          <a:xfrm>
            <a:off x="2471027" y="27459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0" name="Google Shape;580;p47"/>
          <p:cNvSpPr/>
          <p:nvPr/>
        </p:nvSpPr>
        <p:spPr>
          <a:xfrm>
            <a:off x="3118426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81" name="Google Shape;581;p47"/>
          <p:cNvCxnSpPr>
            <a:stCxn id="565" idx="3"/>
            <a:endCxn id="580" idx="0"/>
          </p:cNvCxnSpPr>
          <p:nvPr/>
        </p:nvCxnSpPr>
        <p:spPr>
          <a:xfrm flipH="1">
            <a:off x="3336223" y="27459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2" name="Google Shape;582;p47"/>
          <p:cNvSpPr/>
          <p:nvPr/>
        </p:nvSpPr>
        <p:spPr>
          <a:xfrm>
            <a:off x="3923060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83" name="Google Shape;583;p47"/>
          <p:cNvCxnSpPr>
            <a:stCxn id="565" idx="5"/>
            <a:endCxn id="582" idx="0"/>
          </p:cNvCxnSpPr>
          <p:nvPr/>
        </p:nvCxnSpPr>
        <p:spPr>
          <a:xfrm>
            <a:off x="3911927" y="27459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4" name="Google Shape;584;p47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3.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to end of heap temporarily.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Swim up the hierarchy to your rightful place.</a:t>
            </a:r>
            <a:endParaRPr/>
          </a:p>
        </p:txBody>
      </p:sp>
      <p:sp>
        <p:nvSpPr>
          <p:cNvPr id="585" name="Google Shape;585;p47"/>
          <p:cNvSpPr/>
          <p:nvPr/>
        </p:nvSpPr>
        <p:spPr>
          <a:xfrm>
            <a:off x="1805625" y="822100"/>
            <a:ext cx="1067700" cy="554100"/>
          </a:xfrm>
          <a:prstGeom prst="wedgeRoundRectCallout">
            <a:avLst>
              <a:gd fmla="val 34647" name="adj1"/>
              <a:gd fmla="val 96747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is my true place.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Add Demo</a:t>
            </a:r>
            <a:endParaRPr/>
          </a:p>
        </p:txBody>
      </p:sp>
      <p:sp>
        <p:nvSpPr>
          <p:cNvPr id="591" name="Google Shape;591;p48"/>
          <p:cNvSpPr/>
          <p:nvPr/>
        </p:nvSpPr>
        <p:spPr>
          <a:xfrm>
            <a:off x="281992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92" name="Google Shape;592;p48"/>
          <p:cNvCxnSpPr>
            <a:stCxn id="593" idx="0"/>
            <a:endCxn id="591" idx="5"/>
          </p:cNvCxnSpPr>
          <p:nvPr/>
        </p:nvCxnSpPr>
        <p:spPr>
          <a:xfrm rot="10800000">
            <a:off x="3191625" y="20335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94" name="Google Shape;594;p48"/>
          <p:cNvCxnSpPr>
            <a:stCxn id="591" idx="0"/>
            <a:endCxn id="595" idx="3"/>
          </p:cNvCxnSpPr>
          <p:nvPr/>
        </p:nvCxnSpPr>
        <p:spPr>
          <a:xfrm flipH="1" rot="10800000">
            <a:off x="3037575" y="1185075"/>
            <a:ext cx="13563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3" name="Google Shape;593;p48"/>
          <p:cNvSpPr/>
          <p:nvPr/>
        </p:nvSpPr>
        <p:spPr>
          <a:xfrm>
            <a:off x="35403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5" name="Google Shape;595;p48"/>
          <p:cNvSpPr/>
          <p:nvPr/>
        </p:nvSpPr>
        <p:spPr>
          <a:xfrm>
            <a:off x="4330083" y="813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96" name="Google Shape;596;p48"/>
          <p:cNvSpPr/>
          <p:nvPr/>
        </p:nvSpPr>
        <p:spPr>
          <a:xfrm>
            <a:off x="20994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97" name="Google Shape;597;p48"/>
          <p:cNvCxnSpPr>
            <a:stCxn id="591" idx="3"/>
            <a:endCxn id="596" idx="0"/>
          </p:cNvCxnSpPr>
          <p:nvPr/>
        </p:nvCxnSpPr>
        <p:spPr>
          <a:xfrm flipH="1">
            <a:off x="2317273" y="20336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8" name="Google Shape;598;p48"/>
          <p:cNvSpPr/>
          <p:nvPr/>
        </p:nvSpPr>
        <p:spPr>
          <a:xfrm>
            <a:off x="589567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599" name="Google Shape;599;p48"/>
          <p:cNvCxnSpPr>
            <a:stCxn id="598" idx="0"/>
            <a:endCxn id="595" idx="5"/>
          </p:cNvCxnSpPr>
          <p:nvPr/>
        </p:nvCxnSpPr>
        <p:spPr>
          <a:xfrm rot="10800000">
            <a:off x="4701525" y="1185075"/>
            <a:ext cx="14118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48"/>
          <p:cNvCxnSpPr>
            <a:stCxn id="601" idx="0"/>
            <a:endCxn id="598" idx="5"/>
          </p:cNvCxnSpPr>
          <p:nvPr/>
        </p:nvCxnSpPr>
        <p:spPr>
          <a:xfrm rot="10800000">
            <a:off x="6267375" y="20337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1" name="Google Shape;601;p48"/>
          <p:cNvSpPr/>
          <p:nvPr/>
        </p:nvSpPr>
        <p:spPr>
          <a:xfrm>
            <a:off x="64637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02" name="Google Shape;602;p48"/>
          <p:cNvSpPr/>
          <p:nvPr/>
        </p:nvSpPr>
        <p:spPr>
          <a:xfrm>
            <a:off x="53276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03" name="Google Shape;603;p48"/>
          <p:cNvCxnSpPr>
            <a:stCxn id="598" idx="3"/>
            <a:endCxn id="602" idx="0"/>
          </p:cNvCxnSpPr>
          <p:nvPr/>
        </p:nvCxnSpPr>
        <p:spPr>
          <a:xfrm flipH="1">
            <a:off x="5545423" y="20336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4" name="Google Shape;604;p48"/>
          <p:cNvSpPr/>
          <p:nvPr/>
        </p:nvSpPr>
        <p:spPr>
          <a:xfrm>
            <a:off x="166417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05" name="Google Shape;605;p48"/>
          <p:cNvCxnSpPr>
            <a:stCxn id="596" idx="3"/>
            <a:endCxn id="604" idx="0"/>
          </p:cNvCxnSpPr>
          <p:nvPr/>
        </p:nvCxnSpPr>
        <p:spPr>
          <a:xfrm flipH="1">
            <a:off x="1881823" y="27459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6" name="Google Shape;606;p48"/>
          <p:cNvSpPr/>
          <p:nvPr/>
        </p:nvSpPr>
        <p:spPr>
          <a:xfrm>
            <a:off x="245152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07" name="Google Shape;607;p48"/>
          <p:cNvCxnSpPr>
            <a:stCxn id="596" idx="5"/>
            <a:endCxn id="606" idx="0"/>
          </p:cNvCxnSpPr>
          <p:nvPr/>
        </p:nvCxnSpPr>
        <p:spPr>
          <a:xfrm>
            <a:off x="2471027" y="27459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8" name="Google Shape;608;p48"/>
          <p:cNvSpPr/>
          <p:nvPr/>
        </p:nvSpPr>
        <p:spPr>
          <a:xfrm>
            <a:off x="3118426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09" name="Google Shape;609;p48"/>
          <p:cNvCxnSpPr>
            <a:stCxn id="593" idx="3"/>
            <a:endCxn id="608" idx="0"/>
          </p:cNvCxnSpPr>
          <p:nvPr/>
        </p:nvCxnSpPr>
        <p:spPr>
          <a:xfrm flipH="1">
            <a:off x="3336223" y="27459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0" name="Google Shape;610;p48"/>
          <p:cNvSpPr/>
          <p:nvPr/>
        </p:nvSpPr>
        <p:spPr>
          <a:xfrm>
            <a:off x="3923060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11" name="Google Shape;611;p48"/>
          <p:cNvCxnSpPr>
            <a:stCxn id="593" idx="5"/>
            <a:endCxn id="610" idx="0"/>
          </p:cNvCxnSpPr>
          <p:nvPr/>
        </p:nvCxnSpPr>
        <p:spPr>
          <a:xfrm>
            <a:off x="3911927" y="27459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2" name="Google Shape;612;p48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5.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to end of heap temporarily.</a:t>
            </a:r>
            <a:endParaRPr/>
          </a:p>
        </p:txBody>
      </p:sp>
      <p:sp>
        <p:nvSpPr>
          <p:cNvPr id="613" name="Google Shape;613;p48"/>
          <p:cNvSpPr/>
          <p:nvPr/>
        </p:nvSpPr>
        <p:spPr>
          <a:xfrm>
            <a:off x="4892335" y="3181127"/>
            <a:ext cx="435300" cy="435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14" name="Google Shape;614;p48"/>
          <p:cNvCxnSpPr>
            <a:stCxn id="602" idx="3"/>
            <a:endCxn id="613" idx="0"/>
          </p:cNvCxnSpPr>
          <p:nvPr/>
        </p:nvCxnSpPr>
        <p:spPr>
          <a:xfrm flipH="1">
            <a:off x="5109973" y="2732928"/>
            <a:ext cx="281400" cy="44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8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Add Demo</a:t>
            </a:r>
            <a:endParaRPr/>
          </a:p>
        </p:txBody>
      </p:sp>
      <p:sp>
        <p:nvSpPr>
          <p:cNvPr id="620" name="Google Shape;620;p49"/>
          <p:cNvSpPr/>
          <p:nvPr/>
        </p:nvSpPr>
        <p:spPr>
          <a:xfrm>
            <a:off x="281992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21" name="Google Shape;621;p49"/>
          <p:cNvCxnSpPr>
            <a:stCxn id="622" idx="0"/>
            <a:endCxn id="620" idx="5"/>
          </p:cNvCxnSpPr>
          <p:nvPr/>
        </p:nvCxnSpPr>
        <p:spPr>
          <a:xfrm rot="10800000">
            <a:off x="3191625" y="20335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3" name="Google Shape;623;p49"/>
          <p:cNvCxnSpPr>
            <a:stCxn id="620" idx="0"/>
            <a:endCxn id="624" idx="3"/>
          </p:cNvCxnSpPr>
          <p:nvPr/>
        </p:nvCxnSpPr>
        <p:spPr>
          <a:xfrm flipH="1" rot="10800000">
            <a:off x="3037575" y="1185075"/>
            <a:ext cx="13563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2" name="Google Shape;622;p49"/>
          <p:cNvSpPr/>
          <p:nvPr/>
        </p:nvSpPr>
        <p:spPr>
          <a:xfrm>
            <a:off x="35403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4" name="Google Shape;624;p49"/>
          <p:cNvSpPr/>
          <p:nvPr/>
        </p:nvSpPr>
        <p:spPr>
          <a:xfrm>
            <a:off x="4330083" y="813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25" name="Google Shape;625;p49"/>
          <p:cNvSpPr/>
          <p:nvPr/>
        </p:nvSpPr>
        <p:spPr>
          <a:xfrm>
            <a:off x="20994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26" name="Google Shape;626;p49"/>
          <p:cNvCxnSpPr>
            <a:stCxn id="620" idx="3"/>
            <a:endCxn id="625" idx="0"/>
          </p:cNvCxnSpPr>
          <p:nvPr/>
        </p:nvCxnSpPr>
        <p:spPr>
          <a:xfrm flipH="1">
            <a:off x="2317273" y="20336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7" name="Google Shape;627;p49"/>
          <p:cNvSpPr/>
          <p:nvPr/>
        </p:nvSpPr>
        <p:spPr>
          <a:xfrm>
            <a:off x="589567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28" name="Google Shape;628;p49"/>
          <p:cNvCxnSpPr>
            <a:stCxn id="627" idx="0"/>
            <a:endCxn id="624" idx="5"/>
          </p:cNvCxnSpPr>
          <p:nvPr/>
        </p:nvCxnSpPr>
        <p:spPr>
          <a:xfrm rot="10800000">
            <a:off x="4701525" y="1185075"/>
            <a:ext cx="14118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29" name="Google Shape;629;p49"/>
          <p:cNvCxnSpPr>
            <a:stCxn id="630" idx="0"/>
            <a:endCxn id="627" idx="5"/>
          </p:cNvCxnSpPr>
          <p:nvPr/>
        </p:nvCxnSpPr>
        <p:spPr>
          <a:xfrm rot="10800000">
            <a:off x="6267375" y="20337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0" name="Google Shape;630;p49"/>
          <p:cNvSpPr/>
          <p:nvPr/>
        </p:nvSpPr>
        <p:spPr>
          <a:xfrm>
            <a:off x="64637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31" name="Google Shape;631;p49"/>
          <p:cNvSpPr/>
          <p:nvPr/>
        </p:nvSpPr>
        <p:spPr>
          <a:xfrm>
            <a:off x="53276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32" name="Google Shape;632;p49"/>
          <p:cNvCxnSpPr>
            <a:stCxn id="627" idx="3"/>
            <a:endCxn id="631" idx="0"/>
          </p:cNvCxnSpPr>
          <p:nvPr/>
        </p:nvCxnSpPr>
        <p:spPr>
          <a:xfrm flipH="1">
            <a:off x="5545423" y="20336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3" name="Google Shape;633;p49"/>
          <p:cNvSpPr/>
          <p:nvPr/>
        </p:nvSpPr>
        <p:spPr>
          <a:xfrm>
            <a:off x="166417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34" name="Google Shape;634;p49"/>
          <p:cNvCxnSpPr>
            <a:stCxn id="625" idx="3"/>
            <a:endCxn id="633" idx="0"/>
          </p:cNvCxnSpPr>
          <p:nvPr/>
        </p:nvCxnSpPr>
        <p:spPr>
          <a:xfrm flipH="1">
            <a:off x="1881823" y="27459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49"/>
          <p:cNvSpPr/>
          <p:nvPr/>
        </p:nvSpPr>
        <p:spPr>
          <a:xfrm>
            <a:off x="245152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36" name="Google Shape;636;p49"/>
          <p:cNvCxnSpPr>
            <a:stCxn id="625" idx="5"/>
            <a:endCxn id="635" idx="0"/>
          </p:cNvCxnSpPr>
          <p:nvPr/>
        </p:nvCxnSpPr>
        <p:spPr>
          <a:xfrm>
            <a:off x="2471027" y="27459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7" name="Google Shape;637;p49"/>
          <p:cNvSpPr/>
          <p:nvPr/>
        </p:nvSpPr>
        <p:spPr>
          <a:xfrm>
            <a:off x="3118426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38" name="Google Shape;638;p49"/>
          <p:cNvCxnSpPr>
            <a:stCxn id="622" idx="3"/>
            <a:endCxn id="637" idx="0"/>
          </p:cNvCxnSpPr>
          <p:nvPr/>
        </p:nvCxnSpPr>
        <p:spPr>
          <a:xfrm flipH="1">
            <a:off x="3336223" y="27459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9" name="Google Shape;639;p49"/>
          <p:cNvSpPr/>
          <p:nvPr/>
        </p:nvSpPr>
        <p:spPr>
          <a:xfrm>
            <a:off x="3923060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40" name="Google Shape;640;p49"/>
          <p:cNvCxnSpPr>
            <a:stCxn id="622" idx="5"/>
            <a:endCxn id="639" idx="0"/>
          </p:cNvCxnSpPr>
          <p:nvPr/>
        </p:nvCxnSpPr>
        <p:spPr>
          <a:xfrm>
            <a:off x="3911927" y="27459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1" name="Google Shape;641;p49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5.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to end of heap temporarily.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Swim up the hierarchy to your rightful place...</a:t>
            </a:r>
            <a:endParaRPr/>
          </a:p>
        </p:txBody>
      </p:sp>
      <p:sp>
        <p:nvSpPr>
          <p:cNvPr id="642" name="Google Shape;642;p49"/>
          <p:cNvSpPr/>
          <p:nvPr/>
        </p:nvSpPr>
        <p:spPr>
          <a:xfrm>
            <a:off x="4892335" y="3181127"/>
            <a:ext cx="435300" cy="435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43" name="Google Shape;643;p49"/>
          <p:cNvCxnSpPr>
            <a:stCxn id="631" idx="3"/>
            <a:endCxn id="642" idx="0"/>
          </p:cNvCxnSpPr>
          <p:nvPr/>
        </p:nvCxnSpPr>
        <p:spPr>
          <a:xfrm flipH="1">
            <a:off x="5109973" y="2732928"/>
            <a:ext cx="281400" cy="44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p5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Add Demo</a:t>
            </a:r>
            <a:endParaRPr/>
          </a:p>
        </p:txBody>
      </p:sp>
      <p:sp>
        <p:nvSpPr>
          <p:cNvPr id="649" name="Google Shape;649;p50"/>
          <p:cNvSpPr/>
          <p:nvPr/>
        </p:nvSpPr>
        <p:spPr>
          <a:xfrm>
            <a:off x="281992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50" name="Google Shape;650;p50"/>
          <p:cNvCxnSpPr>
            <a:stCxn id="651" idx="0"/>
            <a:endCxn id="649" idx="5"/>
          </p:cNvCxnSpPr>
          <p:nvPr/>
        </p:nvCxnSpPr>
        <p:spPr>
          <a:xfrm rot="10800000">
            <a:off x="3191625" y="20335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2" name="Google Shape;652;p50"/>
          <p:cNvCxnSpPr>
            <a:stCxn id="649" idx="0"/>
            <a:endCxn id="653" idx="3"/>
          </p:cNvCxnSpPr>
          <p:nvPr/>
        </p:nvCxnSpPr>
        <p:spPr>
          <a:xfrm flipH="1" rot="10800000">
            <a:off x="3037575" y="1185075"/>
            <a:ext cx="13563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50"/>
          <p:cNvSpPr/>
          <p:nvPr/>
        </p:nvSpPr>
        <p:spPr>
          <a:xfrm>
            <a:off x="35403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3" name="Google Shape;653;p50"/>
          <p:cNvSpPr/>
          <p:nvPr/>
        </p:nvSpPr>
        <p:spPr>
          <a:xfrm>
            <a:off x="4330083" y="813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54" name="Google Shape;654;p50"/>
          <p:cNvSpPr/>
          <p:nvPr/>
        </p:nvSpPr>
        <p:spPr>
          <a:xfrm>
            <a:off x="20994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55" name="Google Shape;655;p50"/>
          <p:cNvCxnSpPr>
            <a:stCxn id="649" idx="3"/>
            <a:endCxn id="654" idx="0"/>
          </p:cNvCxnSpPr>
          <p:nvPr/>
        </p:nvCxnSpPr>
        <p:spPr>
          <a:xfrm flipH="1">
            <a:off x="2317273" y="20336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6" name="Google Shape;656;p50"/>
          <p:cNvSpPr/>
          <p:nvPr/>
        </p:nvSpPr>
        <p:spPr>
          <a:xfrm>
            <a:off x="589567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57" name="Google Shape;657;p50"/>
          <p:cNvCxnSpPr>
            <a:stCxn id="656" idx="0"/>
            <a:endCxn id="653" idx="5"/>
          </p:cNvCxnSpPr>
          <p:nvPr/>
        </p:nvCxnSpPr>
        <p:spPr>
          <a:xfrm rot="10800000">
            <a:off x="4701525" y="1185075"/>
            <a:ext cx="14118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50"/>
          <p:cNvCxnSpPr>
            <a:stCxn id="659" idx="0"/>
            <a:endCxn id="656" idx="5"/>
          </p:cNvCxnSpPr>
          <p:nvPr/>
        </p:nvCxnSpPr>
        <p:spPr>
          <a:xfrm rot="10800000">
            <a:off x="6267375" y="20337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9" name="Google Shape;659;p50"/>
          <p:cNvSpPr/>
          <p:nvPr/>
        </p:nvSpPr>
        <p:spPr>
          <a:xfrm>
            <a:off x="64637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0" name="Google Shape;660;p50"/>
          <p:cNvSpPr/>
          <p:nvPr/>
        </p:nvSpPr>
        <p:spPr>
          <a:xfrm>
            <a:off x="5327625" y="2361377"/>
            <a:ext cx="435300" cy="435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61" name="Google Shape;661;p50"/>
          <p:cNvCxnSpPr>
            <a:stCxn id="656" idx="3"/>
            <a:endCxn id="660" idx="0"/>
          </p:cNvCxnSpPr>
          <p:nvPr/>
        </p:nvCxnSpPr>
        <p:spPr>
          <a:xfrm flipH="1">
            <a:off x="5545423" y="20336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2" name="Google Shape;662;p50"/>
          <p:cNvSpPr/>
          <p:nvPr/>
        </p:nvSpPr>
        <p:spPr>
          <a:xfrm>
            <a:off x="166417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63" name="Google Shape;663;p50"/>
          <p:cNvCxnSpPr>
            <a:stCxn id="654" idx="3"/>
            <a:endCxn id="662" idx="0"/>
          </p:cNvCxnSpPr>
          <p:nvPr/>
        </p:nvCxnSpPr>
        <p:spPr>
          <a:xfrm flipH="1">
            <a:off x="1881823" y="27459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4" name="Google Shape;664;p50"/>
          <p:cNvSpPr/>
          <p:nvPr/>
        </p:nvSpPr>
        <p:spPr>
          <a:xfrm>
            <a:off x="245152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65" name="Google Shape;665;p50"/>
          <p:cNvCxnSpPr>
            <a:stCxn id="654" idx="5"/>
            <a:endCxn id="664" idx="0"/>
          </p:cNvCxnSpPr>
          <p:nvPr/>
        </p:nvCxnSpPr>
        <p:spPr>
          <a:xfrm>
            <a:off x="2471027" y="27459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6" name="Google Shape;666;p50"/>
          <p:cNvSpPr/>
          <p:nvPr/>
        </p:nvSpPr>
        <p:spPr>
          <a:xfrm>
            <a:off x="3118426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67" name="Google Shape;667;p50"/>
          <p:cNvCxnSpPr>
            <a:stCxn id="651" idx="3"/>
            <a:endCxn id="666" idx="0"/>
          </p:cNvCxnSpPr>
          <p:nvPr/>
        </p:nvCxnSpPr>
        <p:spPr>
          <a:xfrm flipH="1">
            <a:off x="3336223" y="27459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8" name="Google Shape;668;p50"/>
          <p:cNvSpPr/>
          <p:nvPr/>
        </p:nvSpPr>
        <p:spPr>
          <a:xfrm>
            <a:off x="3923060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69" name="Google Shape;669;p50"/>
          <p:cNvCxnSpPr>
            <a:stCxn id="651" idx="5"/>
            <a:endCxn id="668" idx="0"/>
          </p:cNvCxnSpPr>
          <p:nvPr/>
        </p:nvCxnSpPr>
        <p:spPr>
          <a:xfrm>
            <a:off x="3911927" y="27459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0" name="Google Shape;670;p50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5.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to end of heap temporarily.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Swim up the hierarchy to your rightful place...</a:t>
            </a:r>
            <a:endParaRPr/>
          </a:p>
        </p:txBody>
      </p:sp>
      <p:sp>
        <p:nvSpPr>
          <p:cNvPr id="671" name="Google Shape;671;p50"/>
          <p:cNvSpPr/>
          <p:nvPr/>
        </p:nvSpPr>
        <p:spPr>
          <a:xfrm>
            <a:off x="489233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72" name="Google Shape;672;p50"/>
          <p:cNvCxnSpPr>
            <a:stCxn id="660" idx="3"/>
            <a:endCxn id="671" idx="0"/>
          </p:cNvCxnSpPr>
          <p:nvPr/>
        </p:nvCxnSpPr>
        <p:spPr>
          <a:xfrm flipH="1">
            <a:off x="5109973" y="2732928"/>
            <a:ext cx="281400" cy="44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Add Demo</a:t>
            </a:r>
            <a:endParaRPr/>
          </a:p>
        </p:txBody>
      </p:sp>
      <p:sp>
        <p:nvSpPr>
          <p:cNvPr id="678" name="Google Shape;678;p51"/>
          <p:cNvSpPr/>
          <p:nvPr/>
        </p:nvSpPr>
        <p:spPr>
          <a:xfrm>
            <a:off x="281992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79" name="Google Shape;679;p51"/>
          <p:cNvCxnSpPr>
            <a:stCxn id="680" idx="0"/>
            <a:endCxn id="678" idx="5"/>
          </p:cNvCxnSpPr>
          <p:nvPr/>
        </p:nvCxnSpPr>
        <p:spPr>
          <a:xfrm rot="10800000">
            <a:off x="3191625" y="20335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1" name="Google Shape;681;p51"/>
          <p:cNvCxnSpPr>
            <a:stCxn id="678" idx="0"/>
            <a:endCxn id="682" idx="3"/>
          </p:cNvCxnSpPr>
          <p:nvPr/>
        </p:nvCxnSpPr>
        <p:spPr>
          <a:xfrm flipH="1" rot="10800000">
            <a:off x="3037575" y="1185075"/>
            <a:ext cx="13563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0" name="Google Shape;680;p51"/>
          <p:cNvSpPr/>
          <p:nvPr/>
        </p:nvSpPr>
        <p:spPr>
          <a:xfrm>
            <a:off x="35403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2" name="Google Shape;682;p51"/>
          <p:cNvSpPr/>
          <p:nvPr/>
        </p:nvSpPr>
        <p:spPr>
          <a:xfrm>
            <a:off x="4330083" y="813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3" name="Google Shape;683;p51"/>
          <p:cNvSpPr/>
          <p:nvPr/>
        </p:nvSpPr>
        <p:spPr>
          <a:xfrm>
            <a:off x="2099475" y="23743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84" name="Google Shape;684;p51"/>
          <p:cNvCxnSpPr>
            <a:stCxn id="678" idx="3"/>
            <a:endCxn id="683" idx="0"/>
          </p:cNvCxnSpPr>
          <p:nvPr/>
        </p:nvCxnSpPr>
        <p:spPr>
          <a:xfrm flipH="1">
            <a:off x="2317273" y="20336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5" name="Google Shape;685;p51"/>
          <p:cNvSpPr/>
          <p:nvPr/>
        </p:nvSpPr>
        <p:spPr>
          <a:xfrm>
            <a:off x="5895675" y="16620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86" name="Google Shape;686;p51"/>
          <p:cNvCxnSpPr>
            <a:stCxn id="685" idx="0"/>
            <a:endCxn id="682" idx="5"/>
          </p:cNvCxnSpPr>
          <p:nvPr/>
        </p:nvCxnSpPr>
        <p:spPr>
          <a:xfrm rot="10800000">
            <a:off x="4701525" y="1185075"/>
            <a:ext cx="14118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87" name="Google Shape;687;p51"/>
          <p:cNvCxnSpPr>
            <a:stCxn id="688" idx="0"/>
            <a:endCxn id="685" idx="5"/>
          </p:cNvCxnSpPr>
          <p:nvPr/>
        </p:nvCxnSpPr>
        <p:spPr>
          <a:xfrm rot="10800000">
            <a:off x="6267375" y="20337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88" name="Google Shape;688;p51"/>
          <p:cNvSpPr/>
          <p:nvPr/>
        </p:nvSpPr>
        <p:spPr>
          <a:xfrm>
            <a:off x="64637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89" name="Google Shape;689;p51"/>
          <p:cNvSpPr/>
          <p:nvPr/>
        </p:nvSpPr>
        <p:spPr>
          <a:xfrm>
            <a:off x="5327625" y="23613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90" name="Google Shape;690;p51"/>
          <p:cNvCxnSpPr>
            <a:stCxn id="685" idx="3"/>
            <a:endCxn id="689" idx="0"/>
          </p:cNvCxnSpPr>
          <p:nvPr/>
        </p:nvCxnSpPr>
        <p:spPr>
          <a:xfrm flipH="1">
            <a:off x="5545423" y="20336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1" name="Google Shape;691;p51"/>
          <p:cNvSpPr/>
          <p:nvPr/>
        </p:nvSpPr>
        <p:spPr>
          <a:xfrm>
            <a:off x="166417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92" name="Google Shape;692;p51"/>
          <p:cNvCxnSpPr>
            <a:stCxn id="683" idx="3"/>
            <a:endCxn id="691" idx="0"/>
          </p:cNvCxnSpPr>
          <p:nvPr/>
        </p:nvCxnSpPr>
        <p:spPr>
          <a:xfrm flipH="1">
            <a:off x="1881823" y="27459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3" name="Google Shape;693;p51"/>
          <p:cNvSpPr/>
          <p:nvPr/>
        </p:nvSpPr>
        <p:spPr>
          <a:xfrm>
            <a:off x="245152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94" name="Google Shape;694;p51"/>
          <p:cNvCxnSpPr>
            <a:stCxn id="683" idx="5"/>
            <a:endCxn id="693" idx="0"/>
          </p:cNvCxnSpPr>
          <p:nvPr/>
        </p:nvCxnSpPr>
        <p:spPr>
          <a:xfrm>
            <a:off x="2471027" y="27459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5" name="Google Shape;695;p51"/>
          <p:cNvSpPr/>
          <p:nvPr/>
        </p:nvSpPr>
        <p:spPr>
          <a:xfrm>
            <a:off x="3118426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96" name="Google Shape;696;p51"/>
          <p:cNvCxnSpPr>
            <a:stCxn id="680" idx="3"/>
            <a:endCxn id="695" idx="0"/>
          </p:cNvCxnSpPr>
          <p:nvPr/>
        </p:nvCxnSpPr>
        <p:spPr>
          <a:xfrm flipH="1">
            <a:off x="3336223" y="27459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7" name="Google Shape;697;p51"/>
          <p:cNvSpPr/>
          <p:nvPr/>
        </p:nvSpPr>
        <p:spPr>
          <a:xfrm>
            <a:off x="3923060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698" name="Google Shape;698;p51"/>
          <p:cNvCxnSpPr>
            <a:stCxn id="680" idx="5"/>
            <a:endCxn id="697" idx="0"/>
          </p:cNvCxnSpPr>
          <p:nvPr/>
        </p:nvCxnSpPr>
        <p:spPr>
          <a:xfrm>
            <a:off x="3911927" y="27459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9" name="Google Shape;699;p51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Insert 5.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 to end of heap temporarily.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Swim up the hierarchy to your rightful place.</a:t>
            </a:r>
            <a:endParaRPr/>
          </a:p>
        </p:txBody>
      </p:sp>
      <p:sp>
        <p:nvSpPr>
          <p:cNvPr id="700" name="Google Shape;700;p51"/>
          <p:cNvSpPr/>
          <p:nvPr/>
        </p:nvSpPr>
        <p:spPr>
          <a:xfrm>
            <a:off x="4892335" y="31811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01" name="Google Shape;701;p51"/>
          <p:cNvCxnSpPr>
            <a:stCxn id="689" idx="3"/>
            <a:endCxn id="700" idx="0"/>
          </p:cNvCxnSpPr>
          <p:nvPr/>
        </p:nvCxnSpPr>
        <p:spPr>
          <a:xfrm flipH="1">
            <a:off x="5109973" y="2732928"/>
            <a:ext cx="281400" cy="44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02" name="Google Shape;702;p51"/>
          <p:cNvSpPr/>
          <p:nvPr/>
        </p:nvSpPr>
        <p:spPr>
          <a:xfrm>
            <a:off x="3758025" y="1470100"/>
            <a:ext cx="1736400" cy="697800"/>
          </a:xfrm>
          <a:prstGeom prst="wedgeRoundRectCallout">
            <a:avLst>
              <a:gd fmla="val 38001" name="adj1"/>
              <a:gd fmla="val 85085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am home. For the first time in my life. I am home.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52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21, CS61B, Fall 2023</a:t>
            </a:r>
            <a:endParaRPr/>
          </a:p>
        </p:txBody>
      </p:sp>
      <p:sp>
        <p:nvSpPr>
          <p:cNvPr id="708" name="Google Shape;708;p52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Priority Queue Introduction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Introducing the Priority Queue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Using a PQ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Bad Implementations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Heaps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Definitions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Add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Heap Delete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7B7B7"/>
                </a:solidFill>
              </a:rPr>
              <a:t>Tree Representations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Recursive Representation (1)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Array Representations (2, 3, 3b)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Priority Queue Summary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 Structures Summary</a:t>
            </a:r>
            <a:endParaRPr/>
          </a:p>
        </p:txBody>
      </p:sp>
      <p:sp>
        <p:nvSpPr>
          <p:cNvPr id="709" name="Google Shape;709;p52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 Delete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Remove from a Heap?</a:t>
            </a:r>
            <a:endParaRPr/>
          </a:p>
        </p:txBody>
      </p:sp>
      <p:sp>
        <p:nvSpPr>
          <p:cNvPr id="715" name="Google Shape;715;p5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Challenge: Come up with an algorithm for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removeSmallest()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Runtime must be logarithmic.</a:t>
            </a:r>
            <a:endParaRPr/>
          </a:p>
        </p:txBody>
      </p:sp>
      <p:sp>
        <p:nvSpPr>
          <p:cNvPr id="716" name="Google Shape;716;p53"/>
          <p:cNvSpPr/>
          <p:nvPr/>
        </p:nvSpPr>
        <p:spPr>
          <a:xfrm>
            <a:off x="3110337" y="2954925"/>
            <a:ext cx="435300" cy="4353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17" name="Google Shape;717;p53"/>
          <p:cNvCxnSpPr>
            <a:stCxn id="718" idx="0"/>
            <a:endCxn id="716" idx="5"/>
          </p:cNvCxnSpPr>
          <p:nvPr/>
        </p:nvCxnSpPr>
        <p:spPr>
          <a:xfrm rot="10800000">
            <a:off x="3482037" y="332640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9" name="Google Shape;719;p53"/>
          <p:cNvCxnSpPr>
            <a:stCxn id="716" idx="0"/>
            <a:endCxn id="720" idx="3"/>
          </p:cNvCxnSpPr>
          <p:nvPr/>
        </p:nvCxnSpPr>
        <p:spPr>
          <a:xfrm flipH="1" rot="10800000">
            <a:off x="3327987" y="2477925"/>
            <a:ext cx="13563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8" name="Google Shape;718;p53"/>
          <p:cNvSpPr/>
          <p:nvPr/>
        </p:nvSpPr>
        <p:spPr>
          <a:xfrm>
            <a:off x="3830787" y="3667200"/>
            <a:ext cx="435300" cy="4353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0" name="Google Shape;720;p53"/>
          <p:cNvSpPr/>
          <p:nvPr/>
        </p:nvSpPr>
        <p:spPr>
          <a:xfrm>
            <a:off x="4620495" y="2106400"/>
            <a:ext cx="435300" cy="4353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1" name="Google Shape;721;p53"/>
          <p:cNvSpPr/>
          <p:nvPr/>
        </p:nvSpPr>
        <p:spPr>
          <a:xfrm>
            <a:off x="2389887" y="3667200"/>
            <a:ext cx="435300" cy="4353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22" name="Google Shape;722;p53"/>
          <p:cNvCxnSpPr>
            <a:stCxn id="716" idx="3"/>
            <a:endCxn id="721" idx="0"/>
          </p:cNvCxnSpPr>
          <p:nvPr/>
        </p:nvCxnSpPr>
        <p:spPr>
          <a:xfrm flipH="1">
            <a:off x="2607686" y="332647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3" name="Google Shape;723;p53"/>
          <p:cNvSpPr/>
          <p:nvPr/>
        </p:nvSpPr>
        <p:spPr>
          <a:xfrm>
            <a:off x="6186087" y="2954925"/>
            <a:ext cx="435300" cy="4353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24" name="Google Shape;724;p53"/>
          <p:cNvCxnSpPr>
            <a:stCxn id="723" idx="0"/>
            <a:endCxn id="720" idx="5"/>
          </p:cNvCxnSpPr>
          <p:nvPr/>
        </p:nvCxnSpPr>
        <p:spPr>
          <a:xfrm rot="10800000">
            <a:off x="4991937" y="2477925"/>
            <a:ext cx="14118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25" name="Google Shape;725;p53"/>
          <p:cNvCxnSpPr>
            <a:stCxn id="726" idx="0"/>
            <a:endCxn id="723" idx="5"/>
          </p:cNvCxnSpPr>
          <p:nvPr/>
        </p:nvCxnSpPr>
        <p:spPr>
          <a:xfrm rot="10800000">
            <a:off x="6557787" y="33266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6" name="Google Shape;726;p53"/>
          <p:cNvSpPr/>
          <p:nvPr/>
        </p:nvSpPr>
        <p:spPr>
          <a:xfrm>
            <a:off x="6754137" y="3654227"/>
            <a:ext cx="435300" cy="4353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27" name="Google Shape;727;p53"/>
          <p:cNvSpPr/>
          <p:nvPr/>
        </p:nvSpPr>
        <p:spPr>
          <a:xfrm>
            <a:off x="5618037" y="3654227"/>
            <a:ext cx="435300" cy="4353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28" name="Google Shape;728;p53"/>
          <p:cNvCxnSpPr>
            <a:stCxn id="723" idx="3"/>
            <a:endCxn id="727" idx="0"/>
          </p:cNvCxnSpPr>
          <p:nvPr/>
        </p:nvCxnSpPr>
        <p:spPr>
          <a:xfrm flipH="1">
            <a:off x="5835836" y="33264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9" name="Google Shape;729;p53"/>
          <p:cNvSpPr/>
          <p:nvPr/>
        </p:nvSpPr>
        <p:spPr>
          <a:xfrm>
            <a:off x="1954587" y="4473977"/>
            <a:ext cx="435300" cy="4353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30" name="Google Shape;730;p53"/>
          <p:cNvCxnSpPr>
            <a:stCxn id="721" idx="3"/>
            <a:endCxn id="729" idx="0"/>
          </p:cNvCxnSpPr>
          <p:nvPr/>
        </p:nvCxnSpPr>
        <p:spPr>
          <a:xfrm flipH="1">
            <a:off x="2172236" y="403875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1" name="Google Shape;731;p53"/>
          <p:cNvSpPr/>
          <p:nvPr/>
        </p:nvSpPr>
        <p:spPr>
          <a:xfrm>
            <a:off x="2741937" y="4473977"/>
            <a:ext cx="435300" cy="4353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32" name="Google Shape;732;p53"/>
          <p:cNvCxnSpPr>
            <a:stCxn id="721" idx="5"/>
            <a:endCxn id="731" idx="0"/>
          </p:cNvCxnSpPr>
          <p:nvPr/>
        </p:nvCxnSpPr>
        <p:spPr>
          <a:xfrm>
            <a:off x="2761439" y="403875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3" name="Google Shape;733;p53"/>
          <p:cNvSpPr/>
          <p:nvPr/>
        </p:nvSpPr>
        <p:spPr>
          <a:xfrm>
            <a:off x="3408838" y="4473977"/>
            <a:ext cx="435300" cy="4353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34" name="Google Shape;734;p53"/>
          <p:cNvCxnSpPr>
            <a:stCxn id="718" idx="3"/>
            <a:endCxn id="733" idx="0"/>
          </p:cNvCxnSpPr>
          <p:nvPr/>
        </p:nvCxnSpPr>
        <p:spPr>
          <a:xfrm flipH="1">
            <a:off x="3626636" y="403875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 Delete Demo</a:t>
            </a:r>
            <a:endParaRPr/>
          </a:p>
        </p:txBody>
      </p:sp>
      <p:sp>
        <p:nvSpPr>
          <p:cNvPr id="740" name="Google Shape;740;p54"/>
          <p:cNvSpPr/>
          <p:nvPr/>
        </p:nvSpPr>
        <p:spPr>
          <a:xfrm>
            <a:off x="281992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41" name="Google Shape;741;p54"/>
          <p:cNvCxnSpPr>
            <a:stCxn id="742" idx="0"/>
            <a:endCxn id="740" idx="5"/>
          </p:cNvCxnSpPr>
          <p:nvPr/>
        </p:nvCxnSpPr>
        <p:spPr>
          <a:xfrm rot="10800000">
            <a:off x="3191625" y="21097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3" name="Google Shape;743;p54"/>
          <p:cNvCxnSpPr>
            <a:stCxn id="740" idx="0"/>
            <a:endCxn id="744" idx="3"/>
          </p:cNvCxnSpPr>
          <p:nvPr/>
        </p:nvCxnSpPr>
        <p:spPr>
          <a:xfrm flipH="1" rot="10800000">
            <a:off x="3037575" y="1261275"/>
            <a:ext cx="13563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2" name="Google Shape;742;p54"/>
          <p:cNvSpPr/>
          <p:nvPr/>
        </p:nvSpPr>
        <p:spPr>
          <a:xfrm>
            <a:off x="35403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4" name="Google Shape;744;p54"/>
          <p:cNvSpPr/>
          <p:nvPr/>
        </p:nvSpPr>
        <p:spPr>
          <a:xfrm>
            <a:off x="4330083" y="8897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45" name="Google Shape;745;p54"/>
          <p:cNvSpPr/>
          <p:nvPr/>
        </p:nvSpPr>
        <p:spPr>
          <a:xfrm>
            <a:off x="20994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46" name="Google Shape;746;p54"/>
          <p:cNvCxnSpPr>
            <a:stCxn id="740" idx="3"/>
            <a:endCxn id="745" idx="0"/>
          </p:cNvCxnSpPr>
          <p:nvPr/>
        </p:nvCxnSpPr>
        <p:spPr>
          <a:xfrm flipH="1">
            <a:off x="2317273" y="21098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7" name="Google Shape;747;p54"/>
          <p:cNvSpPr/>
          <p:nvPr/>
        </p:nvSpPr>
        <p:spPr>
          <a:xfrm>
            <a:off x="589567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48" name="Google Shape;748;p54"/>
          <p:cNvCxnSpPr>
            <a:stCxn id="747" idx="0"/>
            <a:endCxn id="744" idx="5"/>
          </p:cNvCxnSpPr>
          <p:nvPr/>
        </p:nvCxnSpPr>
        <p:spPr>
          <a:xfrm rot="10800000">
            <a:off x="4701525" y="1261275"/>
            <a:ext cx="14118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49" name="Google Shape;749;p54"/>
          <p:cNvCxnSpPr>
            <a:stCxn id="750" idx="0"/>
            <a:endCxn id="747" idx="5"/>
          </p:cNvCxnSpPr>
          <p:nvPr/>
        </p:nvCxnSpPr>
        <p:spPr>
          <a:xfrm rot="10800000">
            <a:off x="6267375" y="21099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0" name="Google Shape;750;p54"/>
          <p:cNvSpPr/>
          <p:nvPr/>
        </p:nvSpPr>
        <p:spPr>
          <a:xfrm>
            <a:off x="64637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51" name="Google Shape;751;p54"/>
          <p:cNvSpPr/>
          <p:nvPr/>
        </p:nvSpPr>
        <p:spPr>
          <a:xfrm>
            <a:off x="53276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52" name="Google Shape;752;p54"/>
          <p:cNvCxnSpPr>
            <a:stCxn id="747" idx="3"/>
            <a:endCxn id="751" idx="0"/>
          </p:cNvCxnSpPr>
          <p:nvPr/>
        </p:nvCxnSpPr>
        <p:spPr>
          <a:xfrm flipH="1">
            <a:off x="5545423" y="21098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3" name="Google Shape;753;p54"/>
          <p:cNvSpPr/>
          <p:nvPr/>
        </p:nvSpPr>
        <p:spPr>
          <a:xfrm>
            <a:off x="166417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54" name="Google Shape;754;p54"/>
          <p:cNvCxnSpPr>
            <a:stCxn id="745" idx="3"/>
            <a:endCxn id="753" idx="0"/>
          </p:cNvCxnSpPr>
          <p:nvPr/>
        </p:nvCxnSpPr>
        <p:spPr>
          <a:xfrm flipH="1">
            <a:off x="1881823" y="28221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5" name="Google Shape;755;p54"/>
          <p:cNvSpPr/>
          <p:nvPr/>
        </p:nvSpPr>
        <p:spPr>
          <a:xfrm>
            <a:off x="245152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56" name="Google Shape;756;p54"/>
          <p:cNvCxnSpPr>
            <a:stCxn id="745" idx="5"/>
            <a:endCxn id="755" idx="0"/>
          </p:cNvCxnSpPr>
          <p:nvPr/>
        </p:nvCxnSpPr>
        <p:spPr>
          <a:xfrm>
            <a:off x="2471027" y="28221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7" name="Google Shape;757;p54"/>
          <p:cNvSpPr/>
          <p:nvPr/>
        </p:nvSpPr>
        <p:spPr>
          <a:xfrm>
            <a:off x="3118426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58" name="Google Shape;758;p54"/>
          <p:cNvCxnSpPr>
            <a:stCxn id="742" idx="3"/>
            <a:endCxn id="757" idx="0"/>
          </p:cNvCxnSpPr>
          <p:nvPr/>
        </p:nvCxnSpPr>
        <p:spPr>
          <a:xfrm flipH="1">
            <a:off x="3336223" y="28221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59" name="Google Shape;759;p54"/>
          <p:cNvSpPr/>
          <p:nvPr/>
        </p:nvSpPr>
        <p:spPr>
          <a:xfrm>
            <a:off x="3923060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60" name="Google Shape;760;p54"/>
          <p:cNvCxnSpPr>
            <a:stCxn id="742" idx="5"/>
            <a:endCxn id="759" idx="0"/>
          </p:cNvCxnSpPr>
          <p:nvPr/>
        </p:nvCxnSpPr>
        <p:spPr>
          <a:xfrm>
            <a:off x="3911927" y="28221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1" name="Google Shape;761;p54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Delete min.</a:t>
            </a:r>
            <a:endParaRPr/>
          </a:p>
        </p:txBody>
      </p:sp>
      <p:sp>
        <p:nvSpPr>
          <p:cNvPr id="762" name="Google Shape;762;p54"/>
          <p:cNvSpPr/>
          <p:nvPr/>
        </p:nvSpPr>
        <p:spPr>
          <a:xfrm>
            <a:off x="489233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63" name="Google Shape;763;p54"/>
          <p:cNvCxnSpPr>
            <a:stCxn id="751" idx="3"/>
            <a:endCxn id="762" idx="0"/>
          </p:cNvCxnSpPr>
          <p:nvPr/>
        </p:nvCxnSpPr>
        <p:spPr>
          <a:xfrm flipH="1">
            <a:off x="5109973" y="2809128"/>
            <a:ext cx="281400" cy="44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Delete Demo</a:t>
            </a:r>
            <a:endParaRPr/>
          </a:p>
        </p:txBody>
      </p:sp>
      <p:sp>
        <p:nvSpPr>
          <p:cNvPr id="769" name="Google Shape;769;p55"/>
          <p:cNvSpPr/>
          <p:nvPr/>
        </p:nvSpPr>
        <p:spPr>
          <a:xfrm>
            <a:off x="281992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70" name="Google Shape;770;p55"/>
          <p:cNvCxnSpPr>
            <a:stCxn id="771" idx="0"/>
            <a:endCxn id="769" idx="5"/>
          </p:cNvCxnSpPr>
          <p:nvPr/>
        </p:nvCxnSpPr>
        <p:spPr>
          <a:xfrm rot="10800000">
            <a:off x="3191625" y="21097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2" name="Google Shape;772;p55"/>
          <p:cNvCxnSpPr>
            <a:stCxn id="769" idx="0"/>
            <a:endCxn id="773" idx="3"/>
          </p:cNvCxnSpPr>
          <p:nvPr/>
        </p:nvCxnSpPr>
        <p:spPr>
          <a:xfrm flipH="1" rot="10800000">
            <a:off x="3037575" y="1261275"/>
            <a:ext cx="13563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1" name="Google Shape;771;p55"/>
          <p:cNvSpPr/>
          <p:nvPr/>
        </p:nvSpPr>
        <p:spPr>
          <a:xfrm>
            <a:off x="35403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3" name="Google Shape;773;p55"/>
          <p:cNvSpPr/>
          <p:nvPr/>
        </p:nvSpPr>
        <p:spPr>
          <a:xfrm>
            <a:off x="4330083" y="8897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74" name="Google Shape;774;p55"/>
          <p:cNvSpPr/>
          <p:nvPr/>
        </p:nvSpPr>
        <p:spPr>
          <a:xfrm>
            <a:off x="20994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75" name="Google Shape;775;p55"/>
          <p:cNvCxnSpPr>
            <a:stCxn id="769" idx="3"/>
            <a:endCxn id="774" idx="0"/>
          </p:cNvCxnSpPr>
          <p:nvPr/>
        </p:nvCxnSpPr>
        <p:spPr>
          <a:xfrm flipH="1">
            <a:off x="2317273" y="21098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6" name="Google Shape;776;p55"/>
          <p:cNvSpPr/>
          <p:nvPr/>
        </p:nvSpPr>
        <p:spPr>
          <a:xfrm>
            <a:off x="589567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77" name="Google Shape;777;p55"/>
          <p:cNvCxnSpPr>
            <a:stCxn id="776" idx="0"/>
            <a:endCxn id="773" idx="5"/>
          </p:cNvCxnSpPr>
          <p:nvPr/>
        </p:nvCxnSpPr>
        <p:spPr>
          <a:xfrm rot="10800000">
            <a:off x="4701525" y="1261275"/>
            <a:ext cx="14118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78" name="Google Shape;778;p55"/>
          <p:cNvCxnSpPr>
            <a:stCxn id="779" idx="0"/>
            <a:endCxn id="776" idx="5"/>
          </p:cNvCxnSpPr>
          <p:nvPr/>
        </p:nvCxnSpPr>
        <p:spPr>
          <a:xfrm rot="10800000">
            <a:off x="6267375" y="21099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79" name="Google Shape;779;p55"/>
          <p:cNvSpPr/>
          <p:nvPr/>
        </p:nvSpPr>
        <p:spPr>
          <a:xfrm>
            <a:off x="64637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80" name="Google Shape;780;p55"/>
          <p:cNvSpPr/>
          <p:nvPr/>
        </p:nvSpPr>
        <p:spPr>
          <a:xfrm>
            <a:off x="53276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81" name="Google Shape;781;p55"/>
          <p:cNvCxnSpPr>
            <a:stCxn id="776" idx="3"/>
            <a:endCxn id="780" idx="0"/>
          </p:cNvCxnSpPr>
          <p:nvPr/>
        </p:nvCxnSpPr>
        <p:spPr>
          <a:xfrm flipH="1">
            <a:off x="5545423" y="21098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2" name="Google Shape;782;p55"/>
          <p:cNvSpPr/>
          <p:nvPr/>
        </p:nvSpPr>
        <p:spPr>
          <a:xfrm>
            <a:off x="166417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83" name="Google Shape;783;p55"/>
          <p:cNvCxnSpPr>
            <a:stCxn id="774" idx="3"/>
            <a:endCxn id="782" idx="0"/>
          </p:cNvCxnSpPr>
          <p:nvPr/>
        </p:nvCxnSpPr>
        <p:spPr>
          <a:xfrm flipH="1">
            <a:off x="1881823" y="28221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4" name="Google Shape;784;p55"/>
          <p:cNvSpPr/>
          <p:nvPr/>
        </p:nvSpPr>
        <p:spPr>
          <a:xfrm>
            <a:off x="245152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85" name="Google Shape;785;p55"/>
          <p:cNvCxnSpPr>
            <a:stCxn id="774" idx="5"/>
            <a:endCxn id="784" idx="0"/>
          </p:cNvCxnSpPr>
          <p:nvPr/>
        </p:nvCxnSpPr>
        <p:spPr>
          <a:xfrm>
            <a:off x="2471027" y="28221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6" name="Google Shape;786;p55"/>
          <p:cNvSpPr/>
          <p:nvPr/>
        </p:nvSpPr>
        <p:spPr>
          <a:xfrm>
            <a:off x="3118426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87" name="Google Shape;787;p55"/>
          <p:cNvCxnSpPr>
            <a:stCxn id="771" idx="3"/>
            <a:endCxn id="786" idx="0"/>
          </p:cNvCxnSpPr>
          <p:nvPr/>
        </p:nvCxnSpPr>
        <p:spPr>
          <a:xfrm flipH="1">
            <a:off x="3336223" y="28221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88" name="Google Shape;788;p55"/>
          <p:cNvSpPr/>
          <p:nvPr/>
        </p:nvSpPr>
        <p:spPr>
          <a:xfrm>
            <a:off x="3923060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89" name="Google Shape;789;p55"/>
          <p:cNvCxnSpPr>
            <a:stCxn id="771" idx="5"/>
            <a:endCxn id="788" idx="0"/>
          </p:cNvCxnSpPr>
          <p:nvPr/>
        </p:nvCxnSpPr>
        <p:spPr>
          <a:xfrm>
            <a:off x="3911927" y="28221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0" name="Google Shape;790;p55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Delete min.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the last item in the heap into the root.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1" name="Google Shape;791;p55"/>
          <p:cNvSpPr/>
          <p:nvPr/>
        </p:nvSpPr>
        <p:spPr>
          <a:xfrm>
            <a:off x="489233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92" name="Google Shape;792;p55"/>
          <p:cNvCxnSpPr>
            <a:stCxn id="780" idx="3"/>
            <a:endCxn id="791" idx="0"/>
          </p:cNvCxnSpPr>
          <p:nvPr/>
        </p:nvCxnSpPr>
        <p:spPr>
          <a:xfrm flipH="1">
            <a:off x="5109973" y="2809128"/>
            <a:ext cx="281400" cy="44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6" name="Shape 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7" name="Google Shape;797;p5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Delete Demo</a:t>
            </a:r>
            <a:endParaRPr/>
          </a:p>
        </p:txBody>
      </p:sp>
      <p:sp>
        <p:nvSpPr>
          <p:cNvPr id="798" name="Google Shape;798;p56"/>
          <p:cNvSpPr/>
          <p:nvPr/>
        </p:nvSpPr>
        <p:spPr>
          <a:xfrm>
            <a:off x="281992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799" name="Google Shape;799;p56"/>
          <p:cNvCxnSpPr>
            <a:stCxn id="800" idx="0"/>
            <a:endCxn id="798" idx="5"/>
          </p:cNvCxnSpPr>
          <p:nvPr/>
        </p:nvCxnSpPr>
        <p:spPr>
          <a:xfrm rot="10800000">
            <a:off x="3191625" y="21097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1" name="Google Shape;801;p56"/>
          <p:cNvCxnSpPr>
            <a:stCxn id="798" idx="0"/>
            <a:endCxn id="802" idx="3"/>
          </p:cNvCxnSpPr>
          <p:nvPr/>
        </p:nvCxnSpPr>
        <p:spPr>
          <a:xfrm flipH="1" rot="10800000">
            <a:off x="3037575" y="1261275"/>
            <a:ext cx="13563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0" name="Google Shape;800;p56"/>
          <p:cNvSpPr/>
          <p:nvPr/>
        </p:nvSpPr>
        <p:spPr>
          <a:xfrm>
            <a:off x="35403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2" name="Google Shape;802;p56"/>
          <p:cNvSpPr/>
          <p:nvPr/>
        </p:nvSpPr>
        <p:spPr>
          <a:xfrm>
            <a:off x="4330083" y="889750"/>
            <a:ext cx="435300" cy="435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3" name="Google Shape;803;p56"/>
          <p:cNvSpPr/>
          <p:nvPr/>
        </p:nvSpPr>
        <p:spPr>
          <a:xfrm>
            <a:off x="20994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4" name="Google Shape;804;p56"/>
          <p:cNvCxnSpPr>
            <a:stCxn id="798" idx="3"/>
            <a:endCxn id="803" idx="0"/>
          </p:cNvCxnSpPr>
          <p:nvPr/>
        </p:nvCxnSpPr>
        <p:spPr>
          <a:xfrm flipH="1">
            <a:off x="2317273" y="21098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5" name="Google Shape;805;p56"/>
          <p:cNvSpPr/>
          <p:nvPr/>
        </p:nvSpPr>
        <p:spPr>
          <a:xfrm>
            <a:off x="589567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06" name="Google Shape;806;p56"/>
          <p:cNvCxnSpPr>
            <a:stCxn id="805" idx="0"/>
            <a:endCxn id="802" idx="5"/>
          </p:cNvCxnSpPr>
          <p:nvPr/>
        </p:nvCxnSpPr>
        <p:spPr>
          <a:xfrm rot="10800000">
            <a:off x="4701525" y="1261275"/>
            <a:ext cx="14118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07" name="Google Shape;807;p56"/>
          <p:cNvCxnSpPr>
            <a:stCxn id="808" idx="0"/>
            <a:endCxn id="805" idx="5"/>
          </p:cNvCxnSpPr>
          <p:nvPr/>
        </p:nvCxnSpPr>
        <p:spPr>
          <a:xfrm rot="10800000">
            <a:off x="6267375" y="21099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8" name="Google Shape;808;p56"/>
          <p:cNvSpPr/>
          <p:nvPr/>
        </p:nvSpPr>
        <p:spPr>
          <a:xfrm>
            <a:off x="64637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09" name="Google Shape;809;p56"/>
          <p:cNvSpPr/>
          <p:nvPr/>
        </p:nvSpPr>
        <p:spPr>
          <a:xfrm>
            <a:off x="53276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10" name="Google Shape;810;p56"/>
          <p:cNvCxnSpPr>
            <a:stCxn id="805" idx="3"/>
            <a:endCxn id="809" idx="0"/>
          </p:cNvCxnSpPr>
          <p:nvPr/>
        </p:nvCxnSpPr>
        <p:spPr>
          <a:xfrm flipH="1">
            <a:off x="5545423" y="21098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1" name="Google Shape;811;p56"/>
          <p:cNvSpPr/>
          <p:nvPr/>
        </p:nvSpPr>
        <p:spPr>
          <a:xfrm>
            <a:off x="166417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12" name="Google Shape;812;p56"/>
          <p:cNvCxnSpPr>
            <a:stCxn id="803" idx="3"/>
            <a:endCxn id="811" idx="0"/>
          </p:cNvCxnSpPr>
          <p:nvPr/>
        </p:nvCxnSpPr>
        <p:spPr>
          <a:xfrm flipH="1">
            <a:off x="1881823" y="28221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3" name="Google Shape;813;p56"/>
          <p:cNvSpPr/>
          <p:nvPr/>
        </p:nvSpPr>
        <p:spPr>
          <a:xfrm>
            <a:off x="245152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14" name="Google Shape;814;p56"/>
          <p:cNvCxnSpPr>
            <a:stCxn id="803" idx="5"/>
            <a:endCxn id="813" idx="0"/>
          </p:cNvCxnSpPr>
          <p:nvPr/>
        </p:nvCxnSpPr>
        <p:spPr>
          <a:xfrm>
            <a:off x="2471027" y="28221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5" name="Google Shape;815;p56"/>
          <p:cNvSpPr/>
          <p:nvPr/>
        </p:nvSpPr>
        <p:spPr>
          <a:xfrm>
            <a:off x="3118426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16" name="Google Shape;816;p56"/>
          <p:cNvCxnSpPr>
            <a:stCxn id="800" idx="3"/>
            <a:endCxn id="815" idx="0"/>
          </p:cNvCxnSpPr>
          <p:nvPr/>
        </p:nvCxnSpPr>
        <p:spPr>
          <a:xfrm flipH="1">
            <a:off x="3336223" y="28221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7" name="Google Shape;817;p56"/>
          <p:cNvSpPr/>
          <p:nvPr/>
        </p:nvSpPr>
        <p:spPr>
          <a:xfrm>
            <a:off x="3923060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18" name="Google Shape;818;p56"/>
          <p:cNvCxnSpPr>
            <a:stCxn id="800" idx="5"/>
            <a:endCxn id="817" idx="0"/>
          </p:cNvCxnSpPr>
          <p:nvPr/>
        </p:nvCxnSpPr>
        <p:spPr>
          <a:xfrm>
            <a:off x="3911927" y="28221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19" name="Google Shape;819;p56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Delete min.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the last item in the heap into the root.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0" name="Google Shape;820;p56"/>
          <p:cNvSpPr/>
          <p:nvPr/>
        </p:nvSpPr>
        <p:spPr>
          <a:xfrm>
            <a:off x="4892335" y="3257327"/>
            <a:ext cx="435300" cy="435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21" name="Google Shape;821;p56"/>
          <p:cNvCxnSpPr>
            <a:stCxn id="809" idx="3"/>
            <a:endCxn id="820" idx="0"/>
          </p:cNvCxnSpPr>
          <p:nvPr/>
        </p:nvCxnSpPr>
        <p:spPr>
          <a:xfrm flipH="1">
            <a:off x="5109973" y="2809128"/>
            <a:ext cx="281400" cy="44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2" name="Google Shape;822;p56"/>
          <p:cNvSpPr/>
          <p:nvPr/>
        </p:nvSpPr>
        <p:spPr>
          <a:xfrm>
            <a:off x="5339740" y="2975622"/>
            <a:ext cx="2383500" cy="327600"/>
          </a:xfrm>
          <a:prstGeom prst="wedgeRoundRectCallout">
            <a:avLst>
              <a:gd fmla="val -46731" name="adj1"/>
              <a:gd fmla="val 136207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happening to me??</a:t>
            </a:r>
            <a:endParaRPr/>
          </a:p>
        </p:txBody>
      </p:sp>
      <p:sp>
        <p:nvSpPr>
          <p:cNvPr id="823" name="Google Shape;823;p56"/>
          <p:cNvSpPr/>
          <p:nvPr/>
        </p:nvSpPr>
        <p:spPr>
          <a:xfrm>
            <a:off x="4692970" y="488050"/>
            <a:ext cx="1132200" cy="327600"/>
          </a:xfrm>
          <a:prstGeom prst="wedgeRoundRectCallout">
            <a:avLst>
              <a:gd fmla="val -37179" name="adj1"/>
              <a:gd fmla="val 105487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Wuh oh...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5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Delete Demo</a:t>
            </a:r>
            <a:endParaRPr/>
          </a:p>
        </p:txBody>
      </p:sp>
      <p:sp>
        <p:nvSpPr>
          <p:cNvPr id="829" name="Google Shape;829;p57"/>
          <p:cNvSpPr/>
          <p:nvPr/>
        </p:nvSpPr>
        <p:spPr>
          <a:xfrm>
            <a:off x="281992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30" name="Google Shape;830;p57"/>
          <p:cNvCxnSpPr>
            <a:stCxn id="831" idx="0"/>
            <a:endCxn id="829" idx="5"/>
          </p:cNvCxnSpPr>
          <p:nvPr/>
        </p:nvCxnSpPr>
        <p:spPr>
          <a:xfrm rot="10800000">
            <a:off x="3191625" y="21097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2" name="Google Shape;832;p57"/>
          <p:cNvCxnSpPr>
            <a:stCxn id="829" idx="0"/>
            <a:endCxn id="833" idx="3"/>
          </p:cNvCxnSpPr>
          <p:nvPr/>
        </p:nvCxnSpPr>
        <p:spPr>
          <a:xfrm flipH="1" rot="10800000">
            <a:off x="3037575" y="1261275"/>
            <a:ext cx="13563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1" name="Google Shape;831;p57"/>
          <p:cNvSpPr/>
          <p:nvPr/>
        </p:nvSpPr>
        <p:spPr>
          <a:xfrm>
            <a:off x="35403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4" name="Google Shape;834;p57"/>
          <p:cNvSpPr/>
          <p:nvPr/>
        </p:nvSpPr>
        <p:spPr>
          <a:xfrm>
            <a:off x="20994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35" name="Google Shape;835;p57"/>
          <p:cNvCxnSpPr>
            <a:stCxn id="829" idx="3"/>
            <a:endCxn id="834" idx="0"/>
          </p:cNvCxnSpPr>
          <p:nvPr/>
        </p:nvCxnSpPr>
        <p:spPr>
          <a:xfrm flipH="1">
            <a:off x="2317273" y="21098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6" name="Google Shape;836;p57"/>
          <p:cNvSpPr/>
          <p:nvPr/>
        </p:nvSpPr>
        <p:spPr>
          <a:xfrm>
            <a:off x="589567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37" name="Google Shape;837;p57"/>
          <p:cNvCxnSpPr>
            <a:stCxn id="836" idx="0"/>
            <a:endCxn id="833" idx="5"/>
          </p:cNvCxnSpPr>
          <p:nvPr/>
        </p:nvCxnSpPr>
        <p:spPr>
          <a:xfrm rot="10800000">
            <a:off x="4701525" y="1261275"/>
            <a:ext cx="1411800" cy="4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38" name="Google Shape;838;p57"/>
          <p:cNvCxnSpPr>
            <a:stCxn id="839" idx="0"/>
            <a:endCxn id="836" idx="5"/>
          </p:cNvCxnSpPr>
          <p:nvPr/>
        </p:nvCxnSpPr>
        <p:spPr>
          <a:xfrm rot="10800000">
            <a:off x="6267375" y="21099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39" name="Google Shape;839;p57"/>
          <p:cNvSpPr/>
          <p:nvPr/>
        </p:nvSpPr>
        <p:spPr>
          <a:xfrm>
            <a:off x="64637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40" name="Google Shape;840;p57"/>
          <p:cNvSpPr/>
          <p:nvPr/>
        </p:nvSpPr>
        <p:spPr>
          <a:xfrm>
            <a:off x="53276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41" name="Google Shape;841;p57"/>
          <p:cNvCxnSpPr>
            <a:stCxn id="836" idx="3"/>
            <a:endCxn id="840" idx="0"/>
          </p:cNvCxnSpPr>
          <p:nvPr/>
        </p:nvCxnSpPr>
        <p:spPr>
          <a:xfrm flipH="1">
            <a:off x="5545423" y="21098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2" name="Google Shape;842;p57"/>
          <p:cNvSpPr/>
          <p:nvPr/>
        </p:nvSpPr>
        <p:spPr>
          <a:xfrm>
            <a:off x="166417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43" name="Google Shape;843;p57"/>
          <p:cNvCxnSpPr>
            <a:stCxn id="834" idx="3"/>
            <a:endCxn id="842" idx="0"/>
          </p:cNvCxnSpPr>
          <p:nvPr/>
        </p:nvCxnSpPr>
        <p:spPr>
          <a:xfrm flipH="1">
            <a:off x="1881823" y="28221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4" name="Google Shape;844;p57"/>
          <p:cNvSpPr/>
          <p:nvPr/>
        </p:nvSpPr>
        <p:spPr>
          <a:xfrm>
            <a:off x="245152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45" name="Google Shape;845;p57"/>
          <p:cNvCxnSpPr>
            <a:stCxn id="834" idx="5"/>
            <a:endCxn id="844" idx="0"/>
          </p:cNvCxnSpPr>
          <p:nvPr/>
        </p:nvCxnSpPr>
        <p:spPr>
          <a:xfrm>
            <a:off x="2471027" y="28221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6" name="Google Shape;846;p57"/>
          <p:cNvSpPr/>
          <p:nvPr/>
        </p:nvSpPr>
        <p:spPr>
          <a:xfrm>
            <a:off x="3118426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47" name="Google Shape;847;p57"/>
          <p:cNvCxnSpPr>
            <a:stCxn id="831" idx="3"/>
            <a:endCxn id="846" idx="0"/>
          </p:cNvCxnSpPr>
          <p:nvPr/>
        </p:nvCxnSpPr>
        <p:spPr>
          <a:xfrm flipH="1">
            <a:off x="3336223" y="28221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8" name="Google Shape;848;p57"/>
          <p:cNvSpPr/>
          <p:nvPr/>
        </p:nvSpPr>
        <p:spPr>
          <a:xfrm>
            <a:off x="3923060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49" name="Google Shape;849;p57"/>
          <p:cNvCxnSpPr>
            <a:stCxn id="831" idx="5"/>
            <a:endCxn id="848" idx="0"/>
          </p:cNvCxnSpPr>
          <p:nvPr/>
        </p:nvCxnSpPr>
        <p:spPr>
          <a:xfrm>
            <a:off x="3911927" y="28221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0" name="Google Shape;850;p57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Delete min.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the last item in the heap into the root.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1" name="Google Shape;851;p57"/>
          <p:cNvSpPr/>
          <p:nvPr/>
        </p:nvSpPr>
        <p:spPr>
          <a:xfrm>
            <a:off x="4892335" y="3257327"/>
            <a:ext cx="435300" cy="435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52" name="Google Shape;852;p57"/>
          <p:cNvCxnSpPr>
            <a:stCxn id="840" idx="3"/>
            <a:endCxn id="851" idx="0"/>
          </p:cNvCxnSpPr>
          <p:nvPr/>
        </p:nvCxnSpPr>
        <p:spPr>
          <a:xfrm flipH="1">
            <a:off x="5109973" y="2809128"/>
            <a:ext cx="281400" cy="448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3" name="Google Shape;853;p57"/>
          <p:cNvSpPr/>
          <p:nvPr/>
        </p:nvSpPr>
        <p:spPr>
          <a:xfrm>
            <a:off x="5339740" y="2975622"/>
            <a:ext cx="2383500" cy="327600"/>
          </a:xfrm>
          <a:prstGeom prst="wedgeRoundRectCallout">
            <a:avLst>
              <a:gd fmla="val -46731" name="adj1"/>
              <a:gd fmla="val 136207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What’s happening to me??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5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Delete Demo</a:t>
            </a:r>
            <a:endParaRPr/>
          </a:p>
        </p:txBody>
      </p:sp>
      <p:sp>
        <p:nvSpPr>
          <p:cNvPr id="859" name="Google Shape;859;p58"/>
          <p:cNvSpPr/>
          <p:nvPr/>
        </p:nvSpPr>
        <p:spPr>
          <a:xfrm>
            <a:off x="281992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60" name="Google Shape;860;p58"/>
          <p:cNvCxnSpPr>
            <a:stCxn id="861" idx="0"/>
            <a:endCxn id="859" idx="5"/>
          </p:cNvCxnSpPr>
          <p:nvPr/>
        </p:nvCxnSpPr>
        <p:spPr>
          <a:xfrm rot="10800000">
            <a:off x="3191625" y="21097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2" name="Google Shape;862;p58"/>
          <p:cNvCxnSpPr>
            <a:stCxn id="859" idx="0"/>
            <a:endCxn id="863" idx="3"/>
          </p:cNvCxnSpPr>
          <p:nvPr/>
        </p:nvCxnSpPr>
        <p:spPr>
          <a:xfrm flipH="1" rot="10800000">
            <a:off x="3037575" y="1263375"/>
            <a:ext cx="1369500" cy="47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1" name="Google Shape;861;p58"/>
          <p:cNvSpPr/>
          <p:nvPr/>
        </p:nvSpPr>
        <p:spPr>
          <a:xfrm>
            <a:off x="35403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4" name="Google Shape;864;p58"/>
          <p:cNvSpPr/>
          <p:nvPr/>
        </p:nvSpPr>
        <p:spPr>
          <a:xfrm>
            <a:off x="20994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65" name="Google Shape;865;p58"/>
          <p:cNvCxnSpPr>
            <a:stCxn id="859" idx="3"/>
            <a:endCxn id="864" idx="0"/>
          </p:cNvCxnSpPr>
          <p:nvPr/>
        </p:nvCxnSpPr>
        <p:spPr>
          <a:xfrm flipH="1">
            <a:off x="2317273" y="21098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6" name="Google Shape;866;p58"/>
          <p:cNvSpPr/>
          <p:nvPr/>
        </p:nvSpPr>
        <p:spPr>
          <a:xfrm>
            <a:off x="589567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67" name="Google Shape;867;p58"/>
          <p:cNvCxnSpPr>
            <a:stCxn id="866" idx="0"/>
            <a:endCxn id="863" idx="5"/>
          </p:cNvCxnSpPr>
          <p:nvPr/>
        </p:nvCxnSpPr>
        <p:spPr>
          <a:xfrm rot="10800000">
            <a:off x="4715025" y="1263375"/>
            <a:ext cx="1398300" cy="4749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68" name="Google Shape;868;p58"/>
          <p:cNvCxnSpPr>
            <a:stCxn id="869" idx="0"/>
            <a:endCxn id="866" idx="5"/>
          </p:cNvCxnSpPr>
          <p:nvPr/>
        </p:nvCxnSpPr>
        <p:spPr>
          <a:xfrm rot="10800000">
            <a:off x="6267375" y="21099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9" name="Google Shape;869;p58"/>
          <p:cNvSpPr/>
          <p:nvPr/>
        </p:nvSpPr>
        <p:spPr>
          <a:xfrm>
            <a:off x="64637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70" name="Google Shape;870;p58"/>
          <p:cNvSpPr/>
          <p:nvPr/>
        </p:nvSpPr>
        <p:spPr>
          <a:xfrm>
            <a:off x="53276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71" name="Google Shape;871;p58"/>
          <p:cNvCxnSpPr>
            <a:stCxn id="866" idx="3"/>
            <a:endCxn id="870" idx="0"/>
          </p:cNvCxnSpPr>
          <p:nvPr/>
        </p:nvCxnSpPr>
        <p:spPr>
          <a:xfrm flipH="1">
            <a:off x="5545423" y="21098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2" name="Google Shape;872;p58"/>
          <p:cNvSpPr/>
          <p:nvPr/>
        </p:nvSpPr>
        <p:spPr>
          <a:xfrm>
            <a:off x="166417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73" name="Google Shape;873;p58"/>
          <p:cNvCxnSpPr>
            <a:stCxn id="864" idx="3"/>
            <a:endCxn id="872" idx="0"/>
          </p:cNvCxnSpPr>
          <p:nvPr/>
        </p:nvCxnSpPr>
        <p:spPr>
          <a:xfrm flipH="1">
            <a:off x="1881823" y="28221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4" name="Google Shape;874;p58"/>
          <p:cNvSpPr/>
          <p:nvPr/>
        </p:nvSpPr>
        <p:spPr>
          <a:xfrm>
            <a:off x="245152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75" name="Google Shape;875;p58"/>
          <p:cNvCxnSpPr>
            <a:stCxn id="864" idx="5"/>
            <a:endCxn id="874" idx="0"/>
          </p:cNvCxnSpPr>
          <p:nvPr/>
        </p:nvCxnSpPr>
        <p:spPr>
          <a:xfrm>
            <a:off x="2471027" y="28221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6" name="Google Shape;876;p58"/>
          <p:cNvSpPr/>
          <p:nvPr/>
        </p:nvSpPr>
        <p:spPr>
          <a:xfrm>
            <a:off x="3118426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77" name="Google Shape;877;p58"/>
          <p:cNvCxnSpPr>
            <a:stCxn id="861" idx="3"/>
            <a:endCxn id="876" idx="0"/>
          </p:cNvCxnSpPr>
          <p:nvPr/>
        </p:nvCxnSpPr>
        <p:spPr>
          <a:xfrm flipH="1">
            <a:off x="3336223" y="28221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8" name="Google Shape;878;p58"/>
          <p:cNvSpPr/>
          <p:nvPr/>
        </p:nvSpPr>
        <p:spPr>
          <a:xfrm>
            <a:off x="3923060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79" name="Google Shape;879;p58"/>
          <p:cNvCxnSpPr>
            <a:stCxn id="861" idx="5"/>
            <a:endCxn id="878" idx="0"/>
          </p:cNvCxnSpPr>
          <p:nvPr/>
        </p:nvCxnSpPr>
        <p:spPr>
          <a:xfrm>
            <a:off x="3911927" y="28221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0" name="Google Shape;880;p58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Delete min.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the last item in the heap into the root.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sink your way down the hierarchy, yielding to most qualified folks...</a:t>
            </a:r>
            <a:endParaRPr/>
          </a:p>
        </p:txBody>
      </p:sp>
      <p:sp>
        <p:nvSpPr>
          <p:cNvPr id="863" name="Google Shape;863;p58"/>
          <p:cNvSpPr/>
          <p:nvPr/>
        </p:nvSpPr>
        <p:spPr>
          <a:xfrm>
            <a:off x="4343393" y="891776"/>
            <a:ext cx="435300" cy="435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81" name="Google Shape;881;p58"/>
          <p:cNvSpPr/>
          <p:nvPr/>
        </p:nvSpPr>
        <p:spPr>
          <a:xfrm>
            <a:off x="4857215" y="488047"/>
            <a:ext cx="2383500" cy="327600"/>
          </a:xfrm>
          <a:prstGeom prst="wedgeRoundRectCallout">
            <a:avLst>
              <a:gd fmla="val -46731" name="adj1"/>
              <a:gd fmla="val 136207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I’m not cut out for this...</a:t>
            </a:r>
            <a:endParaRPr/>
          </a:p>
        </p:txBody>
      </p:sp>
      <p:sp>
        <p:nvSpPr>
          <p:cNvPr id="882" name="Google Shape;882;p58"/>
          <p:cNvSpPr/>
          <p:nvPr/>
        </p:nvSpPr>
        <p:spPr>
          <a:xfrm>
            <a:off x="6421272" y="1299000"/>
            <a:ext cx="1749000" cy="327600"/>
          </a:xfrm>
          <a:prstGeom prst="wedgeRoundRectCallout">
            <a:avLst>
              <a:gd fmla="val -46731" name="adj1"/>
              <a:gd fmla="val 136207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Move aside, cretin.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p5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Delete Demo</a:t>
            </a:r>
            <a:endParaRPr/>
          </a:p>
        </p:txBody>
      </p:sp>
      <p:sp>
        <p:nvSpPr>
          <p:cNvPr id="888" name="Google Shape;888;p59"/>
          <p:cNvSpPr/>
          <p:nvPr/>
        </p:nvSpPr>
        <p:spPr>
          <a:xfrm>
            <a:off x="281992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89" name="Google Shape;889;p59"/>
          <p:cNvCxnSpPr>
            <a:stCxn id="890" idx="0"/>
            <a:endCxn id="888" idx="5"/>
          </p:cNvCxnSpPr>
          <p:nvPr/>
        </p:nvCxnSpPr>
        <p:spPr>
          <a:xfrm rot="10800000">
            <a:off x="3191625" y="21097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1" name="Google Shape;891;p59"/>
          <p:cNvCxnSpPr>
            <a:stCxn id="888" idx="0"/>
            <a:endCxn id="892" idx="3"/>
          </p:cNvCxnSpPr>
          <p:nvPr/>
        </p:nvCxnSpPr>
        <p:spPr>
          <a:xfrm flipH="1" rot="10800000">
            <a:off x="3037575" y="1263375"/>
            <a:ext cx="1369500" cy="47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0" name="Google Shape;890;p59"/>
          <p:cNvSpPr/>
          <p:nvPr/>
        </p:nvSpPr>
        <p:spPr>
          <a:xfrm>
            <a:off x="35403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3" name="Google Shape;893;p59"/>
          <p:cNvSpPr/>
          <p:nvPr/>
        </p:nvSpPr>
        <p:spPr>
          <a:xfrm>
            <a:off x="20994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94" name="Google Shape;894;p59"/>
          <p:cNvCxnSpPr>
            <a:stCxn id="888" idx="3"/>
            <a:endCxn id="893" idx="0"/>
          </p:cNvCxnSpPr>
          <p:nvPr/>
        </p:nvCxnSpPr>
        <p:spPr>
          <a:xfrm flipH="1">
            <a:off x="2317273" y="21098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5" name="Google Shape;895;p59"/>
          <p:cNvSpPr/>
          <p:nvPr/>
        </p:nvSpPr>
        <p:spPr>
          <a:xfrm>
            <a:off x="5895675" y="1738275"/>
            <a:ext cx="435300" cy="435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896" name="Google Shape;896;p59"/>
          <p:cNvCxnSpPr>
            <a:stCxn id="895" idx="0"/>
            <a:endCxn id="892" idx="5"/>
          </p:cNvCxnSpPr>
          <p:nvPr/>
        </p:nvCxnSpPr>
        <p:spPr>
          <a:xfrm rot="10800000">
            <a:off x="4715025" y="1263375"/>
            <a:ext cx="1398300" cy="47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97" name="Google Shape;897;p59"/>
          <p:cNvCxnSpPr>
            <a:stCxn id="898" idx="0"/>
            <a:endCxn id="895" idx="5"/>
          </p:cNvCxnSpPr>
          <p:nvPr/>
        </p:nvCxnSpPr>
        <p:spPr>
          <a:xfrm rot="10800000">
            <a:off x="6267375" y="2109977"/>
            <a:ext cx="414000" cy="3276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8" name="Google Shape;898;p59"/>
          <p:cNvSpPr/>
          <p:nvPr/>
        </p:nvSpPr>
        <p:spPr>
          <a:xfrm>
            <a:off x="64637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9" name="Google Shape;899;p59"/>
          <p:cNvSpPr/>
          <p:nvPr/>
        </p:nvSpPr>
        <p:spPr>
          <a:xfrm>
            <a:off x="53276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00" name="Google Shape;900;p59"/>
          <p:cNvCxnSpPr>
            <a:stCxn id="895" idx="3"/>
            <a:endCxn id="899" idx="0"/>
          </p:cNvCxnSpPr>
          <p:nvPr/>
        </p:nvCxnSpPr>
        <p:spPr>
          <a:xfrm flipH="1">
            <a:off x="5545423" y="21098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1" name="Google Shape;901;p59"/>
          <p:cNvSpPr/>
          <p:nvPr/>
        </p:nvSpPr>
        <p:spPr>
          <a:xfrm>
            <a:off x="166417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02" name="Google Shape;902;p59"/>
          <p:cNvCxnSpPr>
            <a:stCxn id="893" idx="3"/>
            <a:endCxn id="901" idx="0"/>
          </p:cNvCxnSpPr>
          <p:nvPr/>
        </p:nvCxnSpPr>
        <p:spPr>
          <a:xfrm flipH="1">
            <a:off x="1881823" y="28221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3" name="Google Shape;903;p59"/>
          <p:cNvSpPr/>
          <p:nvPr/>
        </p:nvSpPr>
        <p:spPr>
          <a:xfrm>
            <a:off x="245152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04" name="Google Shape;904;p59"/>
          <p:cNvCxnSpPr>
            <a:stCxn id="893" idx="5"/>
            <a:endCxn id="903" idx="0"/>
          </p:cNvCxnSpPr>
          <p:nvPr/>
        </p:nvCxnSpPr>
        <p:spPr>
          <a:xfrm>
            <a:off x="2471027" y="28221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5" name="Google Shape;905;p59"/>
          <p:cNvSpPr/>
          <p:nvPr/>
        </p:nvSpPr>
        <p:spPr>
          <a:xfrm>
            <a:off x="3118426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06" name="Google Shape;906;p59"/>
          <p:cNvCxnSpPr>
            <a:stCxn id="890" idx="3"/>
            <a:endCxn id="905" idx="0"/>
          </p:cNvCxnSpPr>
          <p:nvPr/>
        </p:nvCxnSpPr>
        <p:spPr>
          <a:xfrm flipH="1">
            <a:off x="3336223" y="28221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7" name="Google Shape;907;p59"/>
          <p:cNvSpPr/>
          <p:nvPr/>
        </p:nvSpPr>
        <p:spPr>
          <a:xfrm>
            <a:off x="3923060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08" name="Google Shape;908;p59"/>
          <p:cNvCxnSpPr>
            <a:stCxn id="890" idx="5"/>
            <a:endCxn id="907" idx="0"/>
          </p:cNvCxnSpPr>
          <p:nvPr/>
        </p:nvCxnSpPr>
        <p:spPr>
          <a:xfrm>
            <a:off x="3911927" y="28221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9" name="Google Shape;909;p59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Delete min.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the last item in the heap into the root.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sink your way down the hierarchy, yielding to most qualified folks...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2" name="Google Shape;892;p59"/>
          <p:cNvSpPr/>
          <p:nvPr/>
        </p:nvSpPr>
        <p:spPr>
          <a:xfrm>
            <a:off x="4343393" y="891776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3" name="Shape 9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4" name="Google Shape;914;p6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Delete Demo</a:t>
            </a:r>
            <a:endParaRPr/>
          </a:p>
        </p:txBody>
      </p:sp>
      <p:sp>
        <p:nvSpPr>
          <p:cNvPr id="915" name="Google Shape;915;p60"/>
          <p:cNvSpPr/>
          <p:nvPr/>
        </p:nvSpPr>
        <p:spPr>
          <a:xfrm>
            <a:off x="281992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16" name="Google Shape;916;p60"/>
          <p:cNvCxnSpPr>
            <a:stCxn id="917" idx="0"/>
            <a:endCxn id="915" idx="5"/>
          </p:cNvCxnSpPr>
          <p:nvPr/>
        </p:nvCxnSpPr>
        <p:spPr>
          <a:xfrm rot="10800000">
            <a:off x="3191625" y="21097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18" name="Google Shape;918;p60"/>
          <p:cNvCxnSpPr>
            <a:stCxn id="915" idx="0"/>
            <a:endCxn id="919" idx="3"/>
          </p:cNvCxnSpPr>
          <p:nvPr/>
        </p:nvCxnSpPr>
        <p:spPr>
          <a:xfrm flipH="1" rot="10800000">
            <a:off x="3037575" y="1263375"/>
            <a:ext cx="1369500" cy="47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17" name="Google Shape;917;p60"/>
          <p:cNvSpPr/>
          <p:nvPr/>
        </p:nvSpPr>
        <p:spPr>
          <a:xfrm>
            <a:off x="35403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0" name="Google Shape;920;p60"/>
          <p:cNvSpPr/>
          <p:nvPr/>
        </p:nvSpPr>
        <p:spPr>
          <a:xfrm>
            <a:off x="20994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21" name="Google Shape;921;p60"/>
          <p:cNvCxnSpPr>
            <a:stCxn id="915" idx="3"/>
            <a:endCxn id="920" idx="0"/>
          </p:cNvCxnSpPr>
          <p:nvPr/>
        </p:nvCxnSpPr>
        <p:spPr>
          <a:xfrm flipH="1">
            <a:off x="2317273" y="21098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2" name="Google Shape;922;p60"/>
          <p:cNvSpPr/>
          <p:nvPr/>
        </p:nvSpPr>
        <p:spPr>
          <a:xfrm>
            <a:off x="589567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23" name="Google Shape;923;p60"/>
          <p:cNvCxnSpPr>
            <a:stCxn id="922" idx="0"/>
            <a:endCxn id="919" idx="5"/>
          </p:cNvCxnSpPr>
          <p:nvPr/>
        </p:nvCxnSpPr>
        <p:spPr>
          <a:xfrm rot="10800000">
            <a:off x="4715025" y="1263375"/>
            <a:ext cx="1398300" cy="47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24" name="Google Shape;924;p60"/>
          <p:cNvCxnSpPr>
            <a:stCxn id="925" idx="0"/>
            <a:endCxn id="922" idx="5"/>
          </p:cNvCxnSpPr>
          <p:nvPr/>
        </p:nvCxnSpPr>
        <p:spPr>
          <a:xfrm rot="10800000">
            <a:off x="6267375" y="21099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5" name="Google Shape;925;p60"/>
          <p:cNvSpPr/>
          <p:nvPr/>
        </p:nvSpPr>
        <p:spPr>
          <a:xfrm>
            <a:off x="6463725" y="2437577"/>
            <a:ext cx="435300" cy="435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6" name="Google Shape;926;p60"/>
          <p:cNvSpPr/>
          <p:nvPr/>
        </p:nvSpPr>
        <p:spPr>
          <a:xfrm>
            <a:off x="53276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27" name="Google Shape;927;p60"/>
          <p:cNvCxnSpPr>
            <a:stCxn id="922" idx="3"/>
            <a:endCxn id="926" idx="0"/>
          </p:cNvCxnSpPr>
          <p:nvPr/>
        </p:nvCxnSpPr>
        <p:spPr>
          <a:xfrm flipH="1">
            <a:off x="5545423" y="21098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8" name="Google Shape;928;p60"/>
          <p:cNvSpPr/>
          <p:nvPr/>
        </p:nvSpPr>
        <p:spPr>
          <a:xfrm>
            <a:off x="166417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29" name="Google Shape;929;p60"/>
          <p:cNvCxnSpPr>
            <a:stCxn id="920" idx="3"/>
            <a:endCxn id="928" idx="0"/>
          </p:cNvCxnSpPr>
          <p:nvPr/>
        </p:nvCxnSpPr>
        <p:spPr>
          <a:xfrm flipH="1">
            <a:off x="1881823" y="28221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0" name="Google Shape;930;p60"/>
          <p:cNvSpPr/>
          <p:nvPr/>
        </p:nvSpPr>
        <p:spPr>
          <a:xfrm>
            <a:off x="245152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31" name="Google Shape;931;p60"/>
          <p:cNvCxnSpPr>
            <a:stCxn id="920" idx="5"/>
            <a:endCxn id="930" idx="0"/>
          </p:cNvCxnSpPr>
          <p:nvPr/>
        </p:nvCxnSpPr>
        <p:spPr>
          <a:xfrm>
            <a:off x="2471027" y="28221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2" name="Google Shape;932;p60"/>
          <p:cNvSpPr/>
          <p:nvPr/>
        </p:nvSpPr>
        <p:spPr>
          <a:xfrm>
            <a:off x="3118426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33" name="Google Shape;933;p60"/>
          <p:cNvCxnSpPr>
            <a:stCxn id="917" idx="3"/>
            <a:endCxn id="932" idx="0"/>
          </p:cNvCxnSpPr>
          <p:nvPr/>
        </p:nvCxnSpPr>
        <p:spPr>
          <a:xfrm flipH="1">
            <a:off x="3336223" y="28221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4" name="Google Shape;934;p60"/>
          <p:cNvSpPr/>
          <p:nvPr/>
        </p:nvSpPr>
        <p:spPr>
          <a:xfrm>
            <a:off x="3923060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35" name="Google Shape;935;p60"/>
          <p:cNvCxnSpPr>
            <a:stCxn id="917" idx="5"/>
            <a:endCxn id="934" idx="0"/>
          </p:cNvCxnSpPr>
          <p:nvPr/>
        </p:nvCxnSpPr>
        <p:spPr>
          <a:xfrm>
            <a:off x="3911927" y="28221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6" name="Google Shape;936;p60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Delete min.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the last item in the heap into the root.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sink your way down the hierarchy, yielding to most qualified folks...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60"/>
          <p:cNvSpPr/>
          <p:nvPr/>
        </p:nvSpPr>
        <p:spPr>
          <a:xfrm>
            <a:off x="4343393" y="891776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0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p61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Delete Demo</a:t>
            </a:r>
            <a:endParaRPr/>
          </a:p>
        </p:txBody>
      </p:sp>
      <p:sp>
        <p:nvSpPr>
          <p:cNvPr id="942" name="Google Shape;942;p61"/>
          <p:cNvSpPr/>
          <p:nvPr/>
        </p:nvSpPr>
        <p:spPr>
          <a:xfrm>
            <a:off x="281992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43" name="Google Shape;943;p61"/>
          <p:cNvCxnSpPr>
            <a:stCxn id="944" idx="0"/>
            <a:endCxn id="942" idx="5"/>
          </p:cNvCxnSpPr>
          <p:nvPr/>
        </p:nvCxnSpPr>
        <p:spPr>
          <a:xfrm rot="10800000">
            <a:off x="3191625" y="21097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45" name="Google Shape;945;p61"/>
          <p:cNvCxnSpPr>
            <a:stCxn id="942" idx="0"/>
            <a:endCxn id="946" idx="3"/>
          </p:cNvCxnSpPr>
          <p:nvPr/>
        </p:nvCxnSpPr>
        <p:spPr>
          <a:xfrm flipH="1" rot="10800000">
            <a:off x="3037575" y="1263375"/>
            <a:ext cx="1369500" cy="47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4" name="Google Shape;944;p61"/>
          <p:cNvSpPr/>
          <p:nvPr/>
        </p:nvSpPr>
        <p:spPr>
          <a:xfrm>
            <a:off x="35403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7" name="Google Shape;947;p61"/>
          <p:cNvSpPr/>
          <p:nvPr/>
        </p:nvSpPr>
        <p:spPr>
          <a:xfrm>
            <a:off x="20994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48" name="Google Shape;948;p61"/>
          <p:cNvCxnSpPr>
            <a:stCxn id="942" idx="3"/>
            <a:endCxn id="947" idx="0"/>
          </p:cNvCxnSpPr>
          <p:nvPr/>
        </p:nvCxnSpPr>
        <p:spPr>
          <a:xfrm flipH="1">
            <a:off x="2317273" y="21098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9" name="Google Shape;949;p61"/>
          <p:cNvSpPr/>
          <p:nvPr/>
        </p:nvSpPr>
        <p:spPr>
          <a:xfrm>
            <a:off x="589567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50" name="Google Shape;950;p61"/>
          <p:cNvCxnSpPr>
            <a:stCxn id="949" idx="0"/>
            <a:endCxn id="946" idx="5"/>
          </p:cNvCxnSpPr>
          <p:nvPr/>
        </p:nvCxnSpPr>
        <p:spPr>
          <a:xfrm rot="10800000">
            <a:off x="4715025" y="1263375"/>
            <a:ext cx="1398300" cy="47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51" name="Google Shape;951;p61"/>
          <p:cNvCxnSpPr>
            <a:stCxn id="952" idx="0"/>
            <a:endCxn id="949" idx="5"/>
          </p:cNvCxnSpPr>
          <p:nvPr/>
        </p:nvCxnSpPr>
        <p:spPr>
          <a:xfrm rot="10800000">
            <a:off x="6267375" y="21099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2" name="Google Shape;952;p61"/>
          <p:cNvSpPr/>
          <p:nvPr/>
        </p:nvSpPr>
        <p:spPr>
          <a:xfrm>
            <a:off x="64637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53" name="Google Shape;953;p61"/>
          <p:cNvSpPr/>
          <p:nvPr/>
        </p:nvSpPr>
        <p:spPr>
          <a:xfrm>
            <a:off x="53276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54" name="Google Shape;954;p61"/>
          <p:cNvCxnSpPr>
            <a:stCxn id="949" idx="3"/>
            <a:endCxn id="953" idx="0"/>
          </p:cNvCxnSpPr>
          <p:nvPr/>
        </p:nvCxnSpPr>
        <p:spPr>
          <a:xfrm flipH="1">
            <a:off x="5545423" y="21098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5" name="Google Shape;955;p61"/>
          <p:cNvSpPr/>
          <p:nvPr/>
        </p:nvSpPr>
        <p:spPr>
          <a:xfrm>
            <a:off x="166417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56" name="Google Shape;956;p61"/>
          <p:cNvCxnSpPr>
            <a:stCxn id="947" idx="3"/>
            <a:endCxn id="955" idx="0"/>
          </p:cNvCxnSpPr>
          <p:nvPr/>
        </p:nvCxnSpPr>
        <p:spPr>
          <a:xfrm flipH="1">
            <a:off x="1881823" y="28221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7" name="Google Shape;957;p61"/>
          <p:cNvSpPr/>
          <p:nvPr/>
        </p:nvSpPr>
        <p:spPr>
          <a:xfrm>
            <a:off x="245152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58" name="Google Shape;958;p61"/>
          <p:cNvCxnSpPr>
            <a:stCxn id="947" idx="5"/>
            <a:endCxn id="957" idx="0"/>
          </p:cNvCxnSpPr>
          <p:nvPr/>
        </p:nvCxnSpPr>
        <p:spPr>
          <a:xfrm>
            <a:off x="2471027" y="28221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9" name="Google Shape;959;p61"/>
          <p:cNvSpPr/>
          <p:nvPr/>
        </p:nvSpPr>
        <p:spPr>
          <a:xfrm>
            <a:off x="3118426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60" name="Google Shape;960;p61"/>
          <p:cNvCxnSpPr>
            <a:stCxn id="944" idx="3"/>
            <a:endCxn id="959" idx="0"/>
          </p:cNvCxnSpPr>
          <p:nvPr/>
        </p:nvCxnSpPr>
        <p:spPr>
          <a:xfrm flipH="1">
            <a:off x="3336223" y="28221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1" name="Google Shape;961;p61"/>
          <p:cNvSpPr/>
          <p:nvPr/>
        </p:nvSpPr>
        <p:spPr>
          <a:xfrm>
            <a:off x="3923060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62" name="Google Shape;962;p61"/>
          <p:cNvCxnSpPr>
            <a:stCxn id="944" idx="5"/>
            <a:endCxn id="961" idx="0"/>
          </p:cNvCxnSpPr>
          <p:nvPr/>
        </p:nvCxnSpPr>
        <p:spPr>
          <a:xfrm>
            <a:off x="3911927" y="28221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3" name="Google Shape;963;p61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Delete min.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the last item in the heap into the root.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sink your way down the hierarchy, yielding to most qualified folks.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6" name="Google Shape;946;p61"/>
          <p:cNvSpPr/>
          <p:nvPr/>
        </p:nvSpPr>
        <p:spPr>
          <a:xfrm>
            <a:off x="4343393" y="891776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1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7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p6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Delete Demo</a:t>
            </a:r>
            <a:endParaRPr/>
          </a:p>
        </p:txBody>
      </p:sp>
      <p:sp>
        <p:nvSpPr>
          <p:cNvPr id="969" name="Google Shape;969;p62"/>
          <p:cNvSpPr/>
          <p:nvPr/>
        </p:nvSpPr>
        <p:spPr>
          <a:xfrm>
            <a:off x="281992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70" name="Google Shape;970;p62"/>
          <p:cNvCxnSpPr>
            <a:stCxn id="971" idx="0"/>
            <a:endCxn id="969" idx="5"/>
          </p:cNvCxnSpPr>
          <p:nvPr/>
        </p:nvCxnSpPr>
        <p:spPr>
          <a:xfrm rot="10800000">
            <a:off x="3191625" y="21097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2" name="Google Shape;972;p62"/>
          <p:cNvCxnSpPr>
            <a:stCxn id="969" idx="0"/>
            <a:endCxn id="973" idx="3"/>
          </p:cNvCxnSpPr>
          <p:nvPr/>
        </p:nvCxnSpPr>
        <p:spPr>
          <a:xfrm flipH="1" rot="10800000">
            <a:off x="3037575" y="1263375"/>
            <a:ext cx="1369500" cy="47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62"/>
          <p:cNvSpPr/>
          <p:nvPr/>
        </p:nvSpPr>
        <p:spPr>
          <a:xfrm>
            <a:off x="35403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74" name="Google Shape;974;p62"/>
          <p:cNvSpPr/>
          <p:nvPr/>
        </p:nvSpPr>
        <p:spPr>
          <a:xfrm>
            <a:off x="20994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75" name="Google Shape;975;p62"/>
          <p:cNvCxnSpPr>
            <a:stCxn id="969" idx="3"/>
            <a:endCxn id="974" idx="0"/>
          </p:cNvCxnSpPr>
          <p:nvPr/>
        </p:nvCxnSpPr>
        <p:spPr>
          <a:xfrm flipH="1">
            <a:off x="2317273" y="21098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6" name="Google Shape;976;p62"/>
          <p:cNvSpPr/>
          <p:nvPr/>
        </p:nvSpPr>
        <p:spPr>
          <a:xfrm>
            <a:off x="589567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77" name="Google Shape;977;p62"/>
          <p:cNvCxnSpPr>
            <a:stCxn id="976" idx="0"/>
            <a:endCxn id="973" idx="5"/>
          </p:cNvCxnSpPr>
          <p:nvPr/>
        </p:nvCxnSpPr>
        <p:spPr>
          <a:xfrm rot="10800000">
            <a:off x="4715025" y="1263375"/>
            <a:ext cx="1398300" cy="4749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8" name="Google Shape;978;p62"/>
          <p:cNvCxnSpPr>
            <a:stCxn id="979" idx="0"/>
            <a:endCxn id="976" idx="5"/>
          </p:cNvCxnSpPr>
          <p:nvPr/>
        </p:nvCxnSpPr>
        <p:spPr>
          <a:xfrm rot="10800000">
            <a:off x="6267375" y="21099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9" name="Google Shape;979;p62"/>
          <p:cNvSpPr/>
          <p:nvPr/>
        </p:nvSpPr>
        <p:spPr>
          <a:xfrm>
            <a:off x="64637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80" name="Google Shape;980;p62"/>
          <p:cNvSpPr/>
          <p:nvPr/>
        </p:nvSpPr>
        <p:spPr>
          <a:xfrm>
            <a:off x="53276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81" name="Google Shape;981;p62"/>
          <p:cNvCxnSpPr>
            <a:stCxn id="976" idx="3"/>
            <a:endCxn id="980" idx="0"/>
          </p:cNvCxnSpPr>
          <p:nvPr/>
        </p:nvCxnSpPr>
        <p:spPr>
          <a:xfrm flipH="1">
            <a:off x="5545423" y="21098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2" name="Google Shape;982;p62"/>
          <p:cNvSpPr/>
          <p:nvPr/>
        </p:nvSpPr>
        <p:spPr>
          <a:xfrm>
            <a:off x="166417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83" name="Google Shape;983;p62"/>
          <p:cNvCxnSpPr>
            <a:stCxn id="974" idx="3"/>
            <a:endCxn id="982" idx="0"/>
          </p:cNvCxnSpPr>
          <p:nvPr/>
        </p:nvCxnSpPr>
        <p:spPr>
          <a:xfrm flipH="1">
            <a:off x="1881823" y="28221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62"/>
          <p:cNvSpPr/>
          <p:nvPr/>
        </p:nvSpPr>
        <p:spPr>
          <a:xfrm>
            <a:off x="245152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85" name="Google Shape;985;p62"/>
          <p:cNvCxnSpPr>
            <a:stCxn id="974" idx="5"/>
            <a:endCxn id="984" idx="0"/>
          </p:cNvCxnSpPr>
          <p:nvPr/>
        </p:nvCxnSpPr>
        <p:spPr>
          <a:xfrm>
            <a:off x="2471027" y="28221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6" name="Google Shape;986;p62"/>
          <p:cNvSpPr/>
          <p:nvPr/>
        </p:nvSpPr>
        <p:spPr>
          <a:xfrm>
            <a:off x="3118426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87" name="Google Shape;987;p62"/>
          <p:cNvCxnSpPr>
            <a:stCxn id="971" idx="3"/>
            <a:endCxn id="986" idx="0"/>
          </p:cNvCxnSpPr>
          <p:nvPr/>
        </p:nvCxnSpPr>
        <p:spPr>
          <a:xfrm flipH="1">
            <a:off x="3336223" y="28221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8" name="Google Shape;988;p62"/>
          <p:cNvCxnSpPr>
            <a:stCxn id="971" idx="5"/>
            <a:endCxn id="989" idx="0"/>
          </p:cNvCxnSpPr>
          <p:nvPr/>
        </p:nvCxnSpPr>
        <p:spPr>
          <a:xfrm>
            <a:off x="3911927" y="2822102"/>
            <a:ext cx="228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0" name="Google Shape;990;p62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Delete min.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the last item in the heap into the root.</a:t>
            </a:r>
            <a:endParaRPr/>
          </a:p>
        </p:txBody>
      </p:sp>
      <p:sp>
        <p:nvSpPr>
          <p:cNvPr id="989" name="Google Shape;989;p62"/>
          <p:cNvSpPr/>
          <p:nvPr/>
        </p:nvSpPr>
        <p:spPr>
          <a:xfrm>
            <a:off x="3923060" y="3257327"/>
            <a:ext cx="435300" cy="435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91" name="Google Shape;991;p62"/>
          <p:cNvSpPr/>
          <p:nvPr/>
        </p:nvSpPr>
        <p:spPr>
          <a:xfrm>
            <a:off x="4271331" y="2901300"/>
            <a:ext cx="1141500" cy="327600"/>
          </a:xfrm>
          <a:prstGeom prst="wedgeRoundRectCallout">
            <a:avLst>
              <a:gd fmla="val -37179" name="adj1"/>
              <a:gd fmla="val 105487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ulp...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6" name="Google Shape;996;p6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Delete Demo</a:t>
            </a:r>
            <a:endParaRPr/>
          </a:p>
        </p:txBody>
      </p:sp>
      <p:sp>
        <p:nvSpPr>
          <p:cNvPr id="997" name="Google Shape;997;p63"/>
          <p:cNvSpPr/>
          <p:nvPr/>
        </p:nvSpPr>
        <p:spPr>
          <a:xfrm>
            <a:off x="281992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998" name="Google Shape;998;p63"/>
          <p:cNvCxnSpPr>
            <a:stCxn id="999" idx="0"/>
            <a:endCxn id="997" idx="5"/>
          </p:cNvCxnSpPr>
          <p:nvPr/>
        </p:nvCxnSpPr>
        <p:spPr>
          <a:xfrm rot="10800000">
            <a:off x="3191625" y="21097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0" name="Google Shape;1000;p63"/>
          <p:cNvCxnSpPr>
            <a:stCxn id="997" idx="0"/>
            <a:endCxn id="1001" idx="3"/>
          </p:cNvCxnSpPr>
          <p:nvPr/>
        </p:nvCxnSpPr>
        <p:spPr>
          <a:xfrm flipH="1" rot="10800000">
            <a:off x="3037575" y="1270875"/>
            <a:ext cx="1380600" cy="467400"/>
          </a:xfrm>
          <a:prstGeom prst="straightConnector1">
            <a:avLst/>
          </a:prstGeom>
          <a:noFill/>
          <a:ln cap="flat" cmpd="sng" w="38100">
            <a:solidFill>
              <a:srgbClr val="FF00F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99" name="Google Shape;999;p63"/>
          <p:cNvSpPr/>
          <p:nvPr/>
        </p:nvSpPr>
        <p:spPr>
          <a:xfrm>
            <a:off x="35403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2" name="Google Shape;1002;p63"/>
          <p:cNvSpPr/>
          <p:nvPr/>
        </p:nvSpPr>
        <p:spPr>
          <a:xfrm>
            <a:off x="20994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03" name="Google Shape;1003;p63"/>
          <p:cNvCxnSpPr>
            <a:stCxn id="997" idx="3"/>
            <a:endCxn id="1002" idx="0"/>
          </p:cNvCxnSpPr>
          <p:nvPr/>
        </p:nvCxnSpPr>
        <p:spPr>
          <a:xfrm flipH="1">
            <a:off x="2317273" y="21098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4" name="Google Shape;1004;p63"/>
          <p:cNvSpPr/>
          <p:nvPr/>
        </p:nvSpPr>
        <p:spPr>
          <a:xfrm>
            <a:off x="589567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05" name="Google Shape;1005;p63"/>
          <p:cNvCxnSpPr>
            <a:stCxn id="1004" idx="0"/>
            <a:endCxn id="1001" idx="5"/>
          </p:cNvCxnSpPr>
          <p:nvPr/>
        </p:nvCxnSpPr>
        <p:spPr>
          <a:xfrm rot="10800000">
            <a:off x="4725825" y="1270875"/>
            <a:ext cx="1387500" cy="46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06" name="Google Shape;1006;p63"/>
          <p:cNvCxnSpPr>
            <a:stCxn id="1007" idx="0"/>
            <a:endCxn id="1004" idx="5"/>
          </p:cNvCxnSpPr>
          <p:nvPr/>
        </p:nvCxnSpPr>
        <p:spPr>
          <a:xfrm rot="10800000">
            <a:off x="6267375" y="21099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7" name="Google Shape;1007;p63"/>
          <p:cNvSpPr/>
          <p:nvPr/>
        </p:nvSpPr>
        <p:spPr>
          <a:xfrm>
            <a:off x="64637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08" name="Google Shape;1008;p63"/>
          <p:cNvSpPr/>
          <p:nvPr/>
        </p:nvSpPr>
        <p:spPr>
          <a:xfrm>
            <a:off x="53276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09" name="Google Shape;1009;p63"/>
          <p:cNvCxnSpPr>
            <a:stCxn id="1004" idx="3"/>
            <a:endCxn id="1008" idx="0"/>
          </p:cNvCxnSpPr>
          <p:nvPr/>
        </p:nvCxnSpPr>
        <p:spPr>
          <a:xfrm flipH="1">
            <a:off x="5545423" y="21098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0" name="Google Shape;1010;p63"/>
          <p:cNvSpPr/>
          <p:nvPr/>
        </p:nvSpPr>
        <p:spPr>
          <a:xfrm>
            <a:off x="166417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11" name="Google Shape;1011;p63"/>
          <p:cNvCxnSpPr>
            <a:stCxn id="1002" idx="3"/>
            <a:endCxn id="1010" idx="0"/>
          </p:cNvCxnSpPr>
          <p:nvPr/>
        </p:nvCxnSpPr>
        <p:spPr>
          <a:xfrm flipH="1">
            <a:off x="1881823" y="28221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2" name="Google Shape;1012;p63"/>
          <p:cNvSpPr/>
          <p:nvPr/>
        </p:nvSpPr>
        <p:spPr>
          <a:xfrm>
            <a:off x="245152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13" name="Google Shape;1013;p63"/>
          <p:cNvCxnSpPr>
            <a:stCxn id="1002" idx="5"/>
            <a:endCxn id="1012" idx="0"/>
          </p:cNvCxnSpPr>
          <p:nvPr/>
        </p:nvCxnSpPr>
        <p:spPr>
          <a:xfrm>
            <a:off x="2471027" y="28221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4" name="Google Shape;1014;p63"/>
          <p:cNvSpPr/>
          <p:nvPr/>
        </p:nvSpPr>
        <p:spPr>
          <a:xfrm>
            <a:off x="3118426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15" name="Google Shape;1015;p63"/>
          <p:cNvCxnSpPr>
            <a:stCxn id="999" idx="3"/>
            <a:endCxn id="1014" idx="0"/>
          </p:cNvCxnSpPr>
          <p:nvPr/>
        </p:nvCxnSpPr>
        <p:spPr>
          <a:xfrm flipH="1">
            <a:off x="3336223" y="28221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16" name="Google Shape;1016;p63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Delete min.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the last item in the heap into the root.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sink your way down the hierarchy, yielding to most qualified folks...</a:t>
            </a:r>
            <a:endParaRPr/>
          </a:p>
        </p:txBody>
      </p:sp>
      <p:sp>
        <p:nvSpPr>
          <p:cNvPr id="1001" name="Google Shape;1001;p63"/>
          <p:cNvSpPr/>
          <p:nvPr/>
        </p:nvSpPr>
        <p:spPr>
          <a:xfrm>
            <a:off x="4354360" y="899425"/>
            <a:ext cx="435300" cy="435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17" name="Google Shape;1017;p63"/>
          <p:cNvSpPr txBox="1"/>
          <p:nvPr/>
        </p:nvSpPr>
        <p:spPr>
          <a:xfrm>
            <a:off x="1656000" y="832925"/>
            <a:ext cx="1884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Break tie arbitrarily.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6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Heap Delete Demo</a:t>
            </a:r>
            <a:endParaRPr/>
          </a:p>
        </p:txBody>
      </p:sp>
      <p:sp>
        <p:nvSpPr>
          <p:cNvPr id="1023" name="Google Shape;1023;p64"/>
          <p:cNvSpPr/>
          <p:nvPr/>
        </p:nvSpPr>
        <p:spPr>
          <a:xfrm>
            <a:off x="2819925" y="1738275"/>
            <a:ext cx="435300" cy="435300"/>
          </a:xfrm>
          <a:prstGeom prst="ellipse">
            <a:avLst/>
          </a:prstGeom>
          <a:solidFill>
            <a:srgbClr val="000000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solidFill>
                <a:srgbClr val="FFFFF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24" name="Google Shape;1024;p64"/>
          <p:cNvCxnSpPr>
            <a:stCxn id="1025" idx="0"/>
            <a:endCxn id="1023" idx="5"/>
          </p:cNvCxnSpPr>
          <p:nvPr/>
        </p:nvCxnSpPr>
        <p:spPr>
          <a:xfrm rot="10800000">
            <a:off x="3191625" y="2109750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6" name="Google Shape;1026;p64"/>
          <p:cNvCxnSpPr>
            <a:stCxn id="1023" idx="0"/>
            <a:endCxn id="1027" idx="3"/>
          </p:cNvCxnSpPr>
          <p:nvPr/>
        </p:nvCxnSpPr>
        <p:spPr>
          <a:xfrm flipH="1" rot="10800000">
            <a:off x="3037575" y="1270875"/>
            <a:ext cx="1380600" cy="46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5" name="Google Shape;1025;p64"/>
          <p:cNvSpPr/>
          <p:nvPr/>
        </p:nvSpPr>
        <p:spPr>
          <a:xfrm>
            <a:off x="35403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28" name="Google Shape;1028;p64"/>
          <p:cNvSpPr/>
          <p:nvPr/>
        </p:nvSpPr>
        <p:spPr>
          <a:xfrm>
            <a:off x="2099475" y="2450550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29" name="Google Shape;1029;p64"/>
          <p:cNvCxnSpPr>
            <a:stCxn id="1023" idx="3"/>
            <a:endCxn id="1028" idx="0"/>
          </p:cNvCxnSpPr>
          <p:nvPr/>
        </p:nvCxnSpPr>
        <p:spPr>
          <a:xfrm flipH="1">
            <a:off x="2317273" y="2109827"/>
            <a:ext cx="566400" cy="3408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0" name="Google Shape;1030;p64"/>
          <p:cNvSpPr/>
          <p:nvPr/>
        </p:nvSpPr>
        <p:spPr>
          <a:xfrm>
            <a:off x="5895675" y="173827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31" name="Google Shape;1031;p64"/>
          <p:cNvCxnSpPr>
            <a:stCxn id="1030" idx="0"/>
            <a:endCxn id="1027" idx="5"/>
          </p:cNvCxnSpPr>
          <p:nvPr/>
        </p:nvCxnSpPr>
        <p:spPr>
          <a:xfrm rot="10800000">
            <a:off x="4725825" y="1270875"/>
            <a:ext cx="1387500" cy="467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2" name="Google Shape;1032;p64"/>
          <p:cNvCxnSpPr>
            <a:stCxn id="1033" idx="0"/>
            <a:endCxn id="1030" idx="5"/>
          </p:cNvCxnSpPr>
          <p:nvPr/>
        </p:nvCxnSpPr>
        <p:spPr>
          <a:xfrm rot="10800000">
            <a:off x="6267375" y="210997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3" name="Google Shape;1033;p64"/>
          <p:cNvSpPr/>
          <p:nvPr/>
        </p:nvSpPr>
        <p:spPr>
          <a:xfrm>
            <a:off x="64637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6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34" name="Google Shape;1034;p64"/>
          <p:cNvSpPr/>
          <p:nvPr/>
        </p:nvSpPr>
        <p:spPr>
          <a:xfrm>
            <a:off x="5327625" y="243757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5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35" name="Google Shape;1035;p64"/>
          <p:cNvCxnSpPr>
            <a:stCxn id="1030" idx="3"/>
            <a:endCxn id="1034" idx="0"/>
          </p:cNvCxnSpPr>
          <p:nvPr/>
        </p:nvCxnSpPr>
        <p:spPr>
          <a:xfrm flipH="1">
            <a:off x="5545423" y="2109827"/>
            <a:ext cx="414000" cy="3276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6" name="Google Shape;1036;p64"/>
          <p:cNvSpPr/>
          <p:nvPr/>
        </p:nvSpPr>
        <p:spPr>
          <a:xfrm>
            <a:off x="166417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37" name="Google Shape;1037;p64"/>
          <p:cNvCxnSpPr>
            <a:stCxn id="1028" idx="3"/>
            <a:endCxn id="1036" idx="0"/>
          </p:cNvCxnSpPr>
          <p:nvPr/>
        </p:nvCxnSpPr>
        <p:spPr>
          <a:xfrm flipH="1">
            <a:off x="1881823" y="2822102"/>
            <a:ext cx="2814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8" name="Google Shape;1038;p64"/>
          <p:cNvSpPr/>
          <p:nvPr/>
        </p:nvSpPr>
        <p:spPr>
          <a:xfrm>
            <a:off x="2451525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7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39" name="Google Shape;1039;p64"/>
          <p:cNvCxnSpPr>
            <a:stCxn id="1028" idx="5"/>
            <a:endCxn id="1038" idx="0"/>
          </p:cNvCxnSpPr>
          <p:nvPr/>
        </p:nvCxnSpPr>
        <p:spPr>
          <a:xfrm>
            <a:off x="2471027" y="2822102"/>
            <a:ext cx="1980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0" name="Google Shape;1040;p64"/>
          <p:cNvSpPr/>
          <p:nvPr/>
        </p:nvSpPr>
        <p:spPr>
          <a:xfrm>
            <a:off x="3118426" y="3257327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8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041" name="Google Shape;1041;p64"/>
          <p:cNvCxnSpPr>
            <a:stCxn id="1025" idx="3"/>
            <a:endCxn id="1040" idx="0"/>
          </p:cNvCxnSpPr>
          <p:nvPr/>
        </p:nvCxnSpPr>
        <p:spPr>
          <a:xfrm flipH="1">
            <a:off x="3336223" y="2822102"/>
            <a:ext cx="267900" cy="4353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42" name="Google Shape;1042;p64"/>
          <p:cNvSpPr txBox="1"/>
          <p:nvPr>
            <p:ph idx="1" type="body"/>
          </p:nvPr>
        </p:nvSpPr>
        <p:spPr>
          <a:xfrm>
            <a:off x="243000" y="3655400"/>
            <a:ext cx="8443800" cy="12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Delete min.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Swap the last item in the heap into the root.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Then sink your way down the hierarchy, yielding to most qualified folks...</a:t>
            </a:r>
            <a:endParaRPr/>
          </a:p>
        </p:txBody>
      </p:sp>
      <p:sp>
        <p:nvSpPr>
          <p:cNvPr id="1027" name="Google Shape;1027;p64"/>
          <p:cNvSpPr/>
          <p:nvPr/>
        </p:nvSpPr>
        <p:spPr>
          <a:xfrm>
            <a:off x="4354360" y="899425"/>
            <a:ext cx="435300" cy="4353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3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43" name="Google Shape;1043;p64"/>
          <p:cNvSpPr/>
          <p:nvPr/>
        </p:nvSpPr>
        <p:spPr>
          <a:xfrm>
            <a:off x="1151523" y="1190199"/>
            <a:ext cx="2118900" cy="327600"/>
          </a:xfrm>
          <a:prstGeom prst="wedgeRoundRectCallout">
            <a:avLst>
              <a:gd fmla="val 32336" name="adj1"/>
              <a:gd fmla="val 98707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 won’t descend further.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7" name="Shape 10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" name="Google Shape;1048;p65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21, CS61B, Fall 2023</a:t>
            </a:r>
            <a:endParaRPr/>
          </a:p>
        </p:txBody>
      </p:sp>
      <p:sp>
        <p:nvSpPr>
          <p:cNvPr id="1049" name="Google Shape;1049;p65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Priority Queue Introduction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Introducing the Priority Queue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Using a PQ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Bad Implementations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Heaps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Definitions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Add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Delete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Tree Representations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Recursive Representation (1)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Array Representations (2, 3, 3b)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Priority Queue Summary</a:t>
            </a:r>
            <a:endParaRPr>
              <a:solidFill>
                <a:srgbClr val="B7B7B7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 Structures Summary</a:t>
            </a:r>
            <a:endParaRPr/>
          </a:p>
        </p:txBody>
      </p:sp>
      <p:sp>
        <p:nvSpPr>
          <p:cNvPr id="1050" name="Google Shape;1050;p65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Recursive Representation (1)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p6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 Operations Summary</a:t>
            </a:r>
            <a:endParaRPr/>
          </a:p>
        </p:txBody>
      </p:sp>
      <p:sp>
        <p:nvSpPr>
          <p:cNvPr id="1056" name="Google Shape;1056;p66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Given a heap, how do we implement PQ operations?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getSmallest()</a:t>
            </a:r>
            <a:r>
              <a:rPr lang="en"/>
              <a:t> - return the item in the root node.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add(x)</a:t>
            </a:r>
            <a:r>
              <a:rPr lang="en"/>
              <a:t> - place the new employee in the last position, and promote as high as possible.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removeSmallest()</a:t>
            </a:r>
            <a:r>
              <a:rPr lang="en"/>
              <a:t> - assassinate the president (of the company), promote the rightmost person in the company to president. Then demote repeatedly, always taking the ‘better’ successor.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Remaining question: How would we do all this in Java?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6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Represent a Tree in Java? </a:t>
            </a:r>
            <a:endParaRPr/>
          </a:p>
        </p:txBody>
      </p:sp>
      <p:sp>
        <p:nvSpPr>
          <p:cNvPr id="1062" name="Google Shape;1062;p6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Approach 1a, 1b and 1c: Create mapping from node to children.</a:t>
            </a:r>
            <a:endParaRPr/>
          </a:p>
        </p:txBody>
      </p:sp>
      <p:grpSp>
        <p:nvGrpSpPr>
          <p:cNvPr id="1063" name="Google Shape;1063;p67"/>
          <p:cNvGrpSpPr/>
          <p:nvPr/>
        </p:nvGrpSpPr>
        <p:grpSpPr>
          <a:xfrm>
            <a:off x="395400" y="1832589"/>
            <a:ext cx="4102966" cy="982304"/>
            <a:chOff x="395400" y="2289789"/>
            <a:chExt cx="4102966" cy="982304"/>
          </a:xfrm>
        </p:grpSpPr>
        <p:sp>
          <p:nvSpPr>
            <p:cNvPr id="1064" name="Google Shape;1064;p67"/>
            <p:cNvSpPr/>
            <p:nvPr/>
          </p:nvSpPr>
          <p:spPr>
            <a:xfrm>
              <a:off x="1294698" y="2289789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</a:t>
              </a:r>
              <a:endParaRPr/>
            </a:p>
          </p:txBody>
        </p:sp>
        <p:sp>
          <p:nvSpPr>
            <p:cNvPr id="1065" name="Google Shape;1065;p67"/>
            <p:cNvSpPr/>
            <p:nvPr/>
          </p:nvSpPr>
          <p:spPr>
            <a:xfrm>
              <a:off x="1603294" y="22897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67"/>
            <p:cNvSpPr/>
            <p:nvPr/>
          </p:nvSpPr>
          <p:spPr>
            <a:xfrm>
              <a:off x="1911891" y="22897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67"/>
            <p:cNvSpPr/>
            <p:nvPr/>
          </p:nvSpPr>
          <p:spPr>
            <a:xfrm>
              <a:off x="2220488" y="22897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67"/>
            <p:cNvSpPr/>
            <p:nvPr/>
          </p:nvSpPr>
          <p:spPr>
            <a:xfrm>
              <a:off x="395400" y="2748100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x</a:t>
              </a:r>
              <a:endParaRPr/>
            </a:p>
          </p:txBody>
        </p:sp>
        <p:sp>
          <p:nvSpPr>
            <p:cNvPr id="1069" name="Google Shape;1069;p67"/>
            <p:cNvSpPr/>
            <p:nvPr/>
          </p:nvSpPr>
          <p:spPr>
            <a:xfrm>
              <a:off x="703997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7"/>
            <p:cNvSpPr/>
            <p:nvPr/>
          </p:nvSpPr>
          <p:spPr>
            <a:xfrm>
              <a:off x="1012593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67"/>
            <p:cNvSpPr/>
            <p:nvPr/>
          </p:nvSpPr>
          <p:spPr>
            <a:xfrm>
              <a:off x="1321190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67"/>
            <p:cNvSpPr/>
            <p:nvPr/>
          </p:nvSpPr>
          <p:spPr>
            <a:xfrm>
              <a:off x="1846425" y="2748100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</a:t>
              </a:r>
              <a:endParaRPr/>
            </a:p>
          </p:txBody>
        </p:sp>
        <p:sp>
          <p:nvSpPr>
            <p:cNvPr id="1073" name="Google Shape;1073;p67"/>
            <p:cNvSpPr/>
            <p:nvPr/>
          </p:nvSpPr>
          <p:spPr>
            <a:xfrm>
              <a:off x="2155022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67"/>
            <p:cNvSpPr/>
            <p:nvPr/>
          </p:nvSpPr>
          <p:spPr>
            <a:xfrm>
              <a:off x="2463618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67"/>
            <p:cNvSpPr/>
            <p:nvPr/>
          </p:nvSpPr>
          <p:spPr>
            <a:xfrm>
              <a:off x="2772215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076" name="Google Shape;1076;p67"/>
            <p:cNvCxnSpPr/>
            <p:nvPr/>
          </p:nvCxnSpPr>
          <p:spPr>
            <a:xfrm flipH="1">
              <a:off x="864500" y="2458125"/>
              <a:ext cx="860400" cy="261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77" name="Google Shape;1077;p67"/>
            <p:cNvCxnSpPr/>
            <p:nvPr/>
          </p:nvCxnSpPr>
          <p:spPr>
            <a:xfrm>
              <a:off x="2080269" y="2420700"/>
              <a:ext cx="149700" cy="31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78" name="Google Shape;1078;p67"/>
            <p:cNvCxnSpPr/>
            <p:nvPr/>
          </p:nvCxnSpPr>
          <p:spPr>
            <a:xfrm>
              <a:off x="2379525" y="2439400"/>
              <a:ext cx="1253100" cy="261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79" name="Google Shape;1079;p67"/>
            <p:cNvSpPr/>
            <p:nvPr/>
          </p:nvSpPr>
          <p:spPr>
            <a:xfrm>
              <a:off x="3572473" y="27445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67"/>
            <p:cNvSpPr/>
            <p:nvPr/>
          </p:nvSpPr>
          <p:spPr>
            <a:xfrm>
              <a:off x="3881070" y="27445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67"/>
            <p:cNvSpPr/>
            <p:nvPr/>
          </p:nvSpPr>
          <p:spPr>
            <a:xfrm>
              <a:off x="4189666" y="27445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67"/>
            <p:cNvSpPr/>
            <p:nvPr/>
          </p:nvSpPr>
          <p:spPr>
            <a:xfrm>
              <a:off x="3263877" y="2744564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z</a:t>
              </a:r>
              <a:endParaRPr/>
            </a:p>
          </p:txBody>
        </p:sp>
        <p:cxnSp>
          <p:nvCxnSpPr>
            <p:cNvPr id="1083" name="Google Shape;1083;p67"/>
            <p:cNvCxnSpPr/>
            <p:nvPr/>
          </p:nvCxnSpPr>
          <p:spPr>
            <a:xfrm flipH="1">
              <a:off x="1071356" y="2864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84" name="Google Shape;1084;p67"/>
            <p:cNvCxnSpPr/>
            <p:nvPr/>
          </p:nvCxnSpPr>
          <p:spPr>
            <a:xfrm flipH="1">
              <a:off x="1376358" y="2864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85" name="Google Shape;1085;p67"/>
            <p:cNvCxnSpPr/>
            <p:nvPr/>
          </p:nvCxnSpPr>
          <p:spPr>
            <a:xfrm flipH="1">
              <a:off x="766353" y="2864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86" name="Google Shape;1086;p67"/>
            <p:cNvCxnSpPr/>
            <p:nvPr/>
          </p:nvCxnSpPr>
          <p:spPr>
            <a:xfrm flipH="1">
              <a:off x="2546593" y="2856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87" name="Google Shape;1087;p67"/>
            <p:cNvCxnSpPr/>
            <p:nvPr/>
          </p:nvCxnSpPr>
          <p:spPr>
            <a:xfrm flipH="1">
              <a:off x="2851596" y="2856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88" name="Google Shape;1088;p67"/>
            <p:cNvCxnSpPr/>
            <p:nvPr/>
          </p:nvCxnSpPr>
          <p:spPr>
            <a:xfrm flipH="1">
              <a:off x="2241591" y="2856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89" name="Google Shape;1089;p67"/>
            <p:cNvCxnSpPr/>
            <p:nvPr/>
          </p:nvCxnSpPr>
          <p:spPr>
            <a:xfrm flipH="1">
              <a:off x="3956127" y="2860800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90" name="Google Shape;1090;p67"/>
            <p:cNvCxnSpPr/>
            <p:nvPr/>
          </p:nvCxnSpPr>
          <p:spPr>
            <a:xfrm flipH="1">
              <a:off x="4261130" y="2860800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091" name="Google Shape;1091;p67"/>
            <p:cNvCxnSpPr/>
            <p:nvPr/>
          </p:nvCxnSpPr>
          <p:spPr>
            <a:xfrm flipH="1">
              <a:off x="3651125" y="2860800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92" name="Google Shape;1092;p67"/>
          <p:cNvSpPr txBox="1"/>
          <p:nvPr/>
        </p:nvSpPr>
        <p:spPr>
          <a:xfrm>
            <a:off x="293325" y="2930175"/>
            <a:ext cx="44325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1a: Fixed-Width Nodes (BSTMap used this approach)</a:t>
            </a:r>
            <a:endParaRPr/>
          </a:p>
        </p:txBody>
      </p:sp>
      <p:sp>
        <p:nvSpPr>
          <p:cNvPr id="1093" name="Google Shape;1093;p67"/>
          <p:cNvSpPr txBox="1"/>
          <p:nvPr/>
        </p:nvSpPr>
        <p:spPr>
          <a:xfrm>
            <a:off x="5265425" y="2895600"/>
            <a:ext cx="3639900" cy="19431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Tree1A&lt;Key&gt;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Key k; </a:t>
            </a:r>
            <a:r>
              <a:rPr i="1" lang="en" sz="19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 e.g. 0</a:t>
            </a:r>
            <a:endParaRPr i="1" sz="19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Tree1A left;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Tree1A middle;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Tree1A right;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094" name="Google Shape;1094;p67"/>
          <p:cNvSpPr/>
          <p:nvPr/>
        </p:nvSpPr>
        <p:spPr>
          <a:xfrm>
            <a:off x="8128081" y="963825"/>
            <a:ext cx="4878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5" name="Google Shape;1095;p67"/>
          <p:cNvCxnSpPr>
            <a:stCxn id="1096" idx="0"/>
            <a:endCxn id="1094" idx="5"/>
          </p:cNvCxnSpPr>
          <p:nvPr/>
        </p:nvCxnSpPr>
        <p:spPr>
          <a:xfrm rot="10800000">
            <a:off x="8544554" y="1211300"/>
            <a:ext cx="3084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6" name="Google Shape;1096;p67"/>
          <p:cNvSpPr/>
          <p:nvPr/>
        </p:nvSpPr>
        <p:spPr>
          <a:xfrm>
            <a:off x="8669204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z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7" name="Google Shape;1097;p67"/>
          <p:cNvSpPr/>
          <p:nvPr/>
        </p:nvSpPr>
        <p:spPr>
          <a:xfrm>
            <a:off x="7735688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8" name="Google Shape;1098;p67"/>
          <p:cNvSpPr/>
          <p:nvPr/>
        </p:nvSpPr>
        <p:spPr>
          <a:xfrm>
            <a:off x="8188227" y="1440283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099" name="Google Shape;1099;p67"/>
          <p:cNvCxnSpPr>
            <a:stCxn id="1094" idx="3"/>
            <a:endCxn id="1097" idx="0"/>
          </p:cNvCxnSpPr>
          <p:nvPr/>
        </p:nvCxnSpPr>
        <p:spPr>
          <a:xfrm flipH="1">
            <a:off x="7919318" y="1211441"/>
            <a:ext cx="2802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0" name="Google Shape;1100;p67"/>
          <p:cNvCxnSpPr>
            <a:stCxn id="1094" idx="4"/>
            <a:endCxn id="1098" idx="0"/>
          </p:cNvCxnSpPr>
          <p:nvPr/>
        </p:nvCxnSpPr>
        <p:spPr>
          <a:xfrm>
            <a:off x="8371981" y="1253925"/>
            <a:ext cx="0" cy="18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6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Represent a Tree in Java? </a:t>
            </a:r>
            <a:endParaRPr/>
          </a:p>
        </p:txBody>
      </p:sp>
      <p:sp>
        <p:nvSpPr>
          <p:cNvPr id="1106" name="Google Shape;1106;p6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Approach 1a, 1b and 1c: Create mapping from node to children.</a:t>
            </a:r>
            <a:endParaRPr/>
          </a:p>
        </p:txBody>
      </p:sp>
      <p:grpSp>
        <p:nvGrpSpPr>
          <p:cNvPr id="1107" name="Google Shape;1107;p68"/>
          <p:cNvGrpSpPr/>
          <p:nvPr/>
        </p:nvGrpSpPr>
        <p:grpSpPr>
          <a:xfrm>
            <a:off x="5482928" y="1644864"/>
            <a:ext cx="3485773" cy="1623050"/>
            <a:chOff x="5482928" y="2102064"/>
            <a:chExt cx="3485773" cy="1623050"/>
          </a:xfrm>
        </p:grpSpPr>
        <p:sp>
          <p:nvSpPr>
            <p:cNvPr id="1108" name="Google Shape;1108;p68"/>
            <p:cNvSpPr/>
            <p:nvPr/>
          </p:nvSpPr>
          <p:spPr>
            <a:xfrm>
              <a:off x="6844432" y="2102064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</a:t>
              </a:r>
              <a:endParaRPr/>
            </a:p>
          </p:txBody>
        </p:sp>
        <p:sp>
          <p:nvSpPr>
            <p:cNvPr id="1109" name="Google Shape;1109;p68"/>
            <p:cNvSpPr/>
            <p:nvPr/>
          </p:nvSpPr>
          <p:spPr>
            <a:xfrm>
              <a:off x="6685458" y="26397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68"/>
            <p:cNvSpPr/>
            <p:nvPr/>
          </p:nvSpPr>
          <p:spPr>
            <a:xfrm>
              <a:off x="6994055" y="26397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68"/>
            <p:cNvSpPr/>
            <p:nvPr/>
          </p:nvSpPr>
          <p:spPr>
            <a:xfrm>
              <a:off x="7302652" y="26397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68"/>
            <p:cNvSpPr/>
            <p:nvPr/>
          </p:nvSpPr>
          <p:spPr>
            <a:xfrm>
              <a:off x="7153029" y="2102064"/>
              <a:ext cx="308700" cy="2901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13" name="Google Shape;1113;p68"/>
            <p:cNvCxnSpPr/>
            <p:nvPr/>
          </p:nvCxnSpPr>
          <p:spPr>
            <a:xfrm flipH="1">
              <a:off x="6972478" y="2263475"/>
              <a:ext cx="411600" cy="374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14" name="Google Shape;1114;p68"/>
            <p:cNvSpPr/>
            <p:nvPr/>
          </p:nvSpPr>
          <p:spPr>
            <a:xfrm>
              <a:off x="5482928" y="3154750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x</a:t>
              </a:r>
              <a:endParaRPr/>
            </a:p>
          </p:txBody>
        </p:sp>
        <p:sp>
          <p:nvSpPr>
            <p:cNvPr id="1115" name="Google Shape;1115;p68"/>
            <p:cNvSpPr/>
            <p:nvPr/>
          </p:nvSpPr>
          <p:spPr>
            <a:xfrm>
              <a:off x="5791525" y="3154750"/>
              <a:ext cx="308700" cy="2901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68"/>
            <p:cNvSpPr/>
            <p:nvPr/>
          </p:nvSpPr>
          <p:spPr>
            <a:xfrm>
              <a:off x="6933953" y="3154750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</a:t>
              </a:r>
              <a:endParaRPr/>
            </a:p>
          </p:txBody>
        </p:sp>
        <p:sp>
          <p:nvSpPr>
            <p:cNvPr id="1117" name="Google Shape;1117;p68"/>
            <p:cNvSpPr/>
            <p:nvPr/>
          </p:nvSpPr>
          <p:spPr>
            <a:xfrm>
              <a:off x="7242550" y="3154750"/>
              <a:ext cx="308700" cy="2901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18" name="Google Shape;1118;p68"/>
            <p:cNvCxnSpPr/>
            <p:nvPr/>
          </p:nvCxnSpPr>
          <p:spPr>
            <a:xfrm flipH="1">
              <a:off x="5952028" y="2864775"/>
              <a:ext cx="860400" cy="261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19" name="Google Shape;1119;p68"/>
            <p:cNvCxnSpPr/>
            <p:nvPr/>
          </p:nvCxnSpPr>
          <p:spPr>
            <a:xfrm>
              <a:off x="7167797" y="2827350"/>
              <a:ext cx="149700" cy="31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20" name="Google Shape;1120;p68"/>
            <p:cNvCxnSpPr/>
            <p:nvPr/>
          </p:nvCxnSpPr>
          <p:spPr>
            <a:xfrm>
              <a:off x="7496303" y="2787175"/>
              <a:ext cx="1223700" cy="320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21" name="Google Shape;1121;p68"/>
            <p:cNvSpPr/>
            <p:nvPr/>
          </p:nvSpPr>
          <p:spPr>
            <a:xfrm>
              <a:off x="8660002" y="3151214"/>
              <a:ext cx="308700" cy="2901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68"/>
            <p:cNvSpPr/>
            <p:nvPr/>
          </p:nvSpPr>
          <p:spPr>
            <a:xfrm>
              <a:off x="8351405" y="3151214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z</a:t>
              </a:r>
              <a:endParaRPr/>
            </a:p>
          </p:txBody>
        </p:sp>
        <p:cxnSp>
          <p:nvCxnSpPr>
            <p:cNvPr id="1123" name="Google Shape;1123;p68"/>
            <p:cNvCxnSpPr/>
            <p:nvPr/>
          </p:nvCxnSpPr>
          <p:spPr>
            <a:xfrm flipH="1">
              <a:off x="5853864" y="3318014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24" name="Google Shape;1124;p68"/>
            <p:cNvCxnSpPr/>
            <p:nvPr/>
          </p:nvCxnSpPr>
          <p:spPr>
            <a:xfrm flipH="1">
              <a:off x="7325527" y="3299311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25" name="Google Shape;1125;p68"/>
            <p:cNvCxnSpPr/>
            <p:nvPr/>
          </p:nvCxnSpPr>
          <p:spPr>
            <a:xfrm flipH="1">
              <a:off x="8693577" y="3299311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126" name="Google Shape;1126;p68"/>
          <p:cNvSpPr txBox="1"/>
          <p:nvPr/>
        </p:nvSpPr>
        <p:spPr>
          <a:xfrm>
            <a:off x="6293665" y="3175905"/>
            <a:ext cx="2250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1b: Variable-Width Nodes</a:t>
            </a:r>
            <a:endParaRPr/>
          </a:p>
        </p:txBody>
      </p:sp>
      <p:sp>
        <p:nvSpPr>
          <p:cNvPr id="1127" name="Google Shape;1127;p68"/>
          <p:cNvSpPr/>
          <p:nvPr/>
        </p:nvSpPr>
        <p:spPr>
          <a:xfrm>
            <a:off x="8128081" y="963825"/>
            <a:ext cx="4878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8" name="Google Shape;1128;p68"/>
          <p:cNvCxnSpPr>
            <a:stCxn id="1129" idx="0"/>
            <a:endCxn id="1127" idx="5"/>
          </p:cNvCxnSpPr>
          <p:nvPr/>
        </p:nvCxnSpPr>
        <p:spPr>
          <a:xfrm rot="10800000">
            <a:off x="8544554" y="1211300"/>
            <a:ext cx="3084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9" name="Google Shape;1129;p68"/>
          <p:cNvSpPr/>
          <p:nvPr/>
        </p:nvSpPr>
        <p:spPr>
          <a:xfrm>
            <a:off x="8669204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z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0" name="Google Shape;1130;p68"/>
          <p:cNvSpPr/>
          <p:nvPr/>
        </p:nvSpPr>
        <p:spPr>
          <a:xfrm>
            <a:off x="7735688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1" name="Google Shape;1131;p68"/>
          <p:cNvSpPr/>
          <p:nvPr/>
        </p:nvSpPr>
        <p:spPr>
          <a:xfrm>
            <a:off x="8188227" y="1440283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32" name="Google Shape;1132;p68"/>
          <p:cNvCxnSpPr>
            <a:stCxn id="1127" idx="3"/>
            <a:endCxn id="1130" idx="0"/>
          </p:cNvCxnSpPr>
          <p:nvPr/>
        </p:nvCxnSpPr>
        <p:spPr>
          <a:xfrm flipH="1">
            <a:off x="7919318" y="1211441"/>
            <a:ext cx="2802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33" name="Google Shape;1133;p68"/>
          <p:cNvCxnSpPr>
            <a:stCxn id="1127" idx="4"/>
            <a:endCxn id="1131" idx="0"/>
          </p:cNvCxnSpPr>
          <p:nvPr/>
        </p:nvCxnSpPr>
        <p:spPr>
          <a:xfrm>
            <a:off x="8371981" y="1253925"/>
            <a:ext cx="0" cy="18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34" name="Google Shape;1134;p68"/>
          <p:cNvSpPr txBox="1"/>
          <p:nvPr/>
        </p:nvSpPr>
        <p:spPr>
          <a:xfrm>
            <a:off x="670550" y="1728300"/>
            <a:ext cx="3639900" cy="1456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Tree1B&lt;Key&gt;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Key k; </a:t>
            </a:r>
            <a:r>
              <a:rPr i="1" lang="en" sz="19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 e.g. 0</a:t>
            </a:r>
            <a:endParaRPr i="1" sz="19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Tree1B[] children;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p6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Represent a Tree in Java? </a:t>
            </a:r>
            <a:endParaRPr/>
          </a:p>
        </p:txBody>
      </p:sp>
      <p:sp>
        <p:nvSpPr>
          <p:cNvPr id="1140" name="Google Shape;1140;p69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Approach 1a, 1b and 1c: Create mapping from node to children.</a:t>
            </a:r>
            <a:endParaRPr/>
          </a:p>
        </p:txBody>
      </p:sp>
      <p:grpSp>
        <p:nvGrpSpPr>
          <p:cNvPr id="1141" name="Google Shape;1141;p69"/>
          <p:cNvGrpSpPr/>
          <p:nvPr/>
        </p:nvGrpSpPr>
        <p:grpSpPr>
          <a:xfrm>
            <a:off x="3263873" y="3687864"/>
            <a:ext cx="3394693" cy="1166250"/>
            <a:chOff x="3263873" y="3916464"/>
            <a:chExt cx="3394693" cy="1166250"/>
          </a:xfrm>
        </p:grpSpPr>
        <p:sp>
          <p:nvSpPr>
            <p:cNvPr id="1142" name="Google Shape;1142;p69"/>
            <p:cNvSpPr/>
            <p:nvPr/>
          </p:nvSpPr>
          <p:spPr>
            <a:xfrm>
              <a:off x="4013573" y="3916464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</a:t>
              </a:r>
              <a:endParaRPr/>
            </a:p>
          </p:txBody>
        </p:sp>
        <p:sp>
          <p:nvSpPr>
            <p:cNvPr id="1143" name="Google Shape;1143;p69"/>
            <p:cNvSpPr/>
            <p:nvPr/>
          </p:nvSpPr>
          <p:spPr>
            <a:xfrm>
              <a:off x="4322170" y="39164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69"/>
            <p:cNvSpPr/>
            <p:nvPr/>
          </p:nvSpPr>
          <p:spPr>
            <a:xfrm>
              <a:off x="4630766" y="39164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69"/>
            <p:cNvSpPr/>
            <p:nvPr/>
          </p:nvSpPr>
          <p:spPr>
            <a:xfrm>
              <a:off x="3263873" y="4572489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x</a:t>
              </a:r>
              <a:endParaRPr/>
            </a:p>
          </p:txBody>
        </p:sp>
        <p:sp>
          <p:nvSpPr>
            <p:cNvPr id="1146" name="Google Shape;1146;p69"/>
            <p:cNvSpPr/>
            <p:nvPr/>
          </p:nvSpPr>
          <p:spPr>
            <a:xfrm>
              <a:off x="3572470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69"/>
            <p:cNvSpPr/>
            <p:nvPr/>
          </p:nvSpPr>
          <p:spPr>
            <a:xfrm>
              <a:off x="3881066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69"/>
            <p:cNvSpPr/>
            <p:nvPr/>
          </p:nvSpPr>
          <p:spPr>
            <a:xfrm>
              <a:off x="4498273" y="4572489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</a:t>
              </a:r>
              <a:endParaRPr/>
            </a:p>
          </p:txBody>
        </p:sp>
        <p:sp>
          <p:nvSpPr>
            <p:cNvPr id="1149" name="Google Shape;1149;p69"/>
            <p:cNvSpPr/>
            <p:nvPr/>
          </p:nvSpPr>
          <p:spPr>
            <a:xfrm>
              <a:off x="4806870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69"/>
            <p:cNvSpPr/>
            <p:nvPr/>
          </p:nvSpPr>
          <p:spPr>
            <a:xfrm>
              <a:off x="5115466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69"/>
            <p:cNvSpPr/>
            <p:nvPr/>
          </p:nvSpPr>
          <p:spPr>
            <a:xfrm>
              <a:off x="5732673" y="4572489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z</a:t>
              </a:r>
              <a:endParaRPr/>
            </a:p>
          </p:txBody>
        </p:sp>
        <p:sp>
          <p:nvSpPr>
            <p:cNvPr id="1152" name="Google Shape;1152;p69"/>
            <p:cNvSpPr/>
            <p:nvPr/>
          </p:nvSpPr>
          <p:spPr>
            <a:xfrm>
              <a:off x="6041270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69"/>
            <p:cNvSpPr/>
            <p:nvPr/>
          </p:nvSpPr>
          <p:spPr>
            <a:xfrm>
              <a:off x="6349866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54" name="Google Shape;1154;p69"/>
            <p:cNvCxnSpPr>
              <a:endCxn id="1146" idx="0"/>
            </p:cNvCxnSpPr>
            <p:nvPr/>
          </p:nvCxnSpPr>
          <p:spPr>
            <a:xfrm flipH="1">
              <a:off x="3726820" y="4041189"/>
              <a:ext cx="726000" cy="53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5" name="Google Shape;1155;p69"/>
            <p:cNvCxnSpPr/>
            <p:nvPr/>
          </p:nvCxnSpPr>
          <p:spPr>
            <a:xfrm>
              <a:off x="4004050" y="4733100"/>
              <a:ext cx="5235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6" name="Google Shape;1156;p69"/>
            <p:cNvCxnSpPr/>
            <p:nvPr/>
          </p:nvCxnSpPr>
          <p:spPr>
            <a:xfrm>
              <a:off x="5294600" y="4733200"/>
              <a:ext cx="411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7" name="Google Shape;1157;p69"/>
            <p:cNvCxnSpPr/>
            <p:nvPr/>
          </p:nvCxnSpPr>
          <p:spPr>
            <a:xfrm flipH="1">
              <a:off x="3639173" y="4675614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8" name="Google Shape;1158;p69"/>
            <p:cNvCxnSpPr/>
            <p:nvPr/>
          </p:nvCxnSpPr>
          <p:spPr>
            <a:xfrm flipH="1">
              <a:off x="4882236" y="4656911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59" name="Google Shape;1159;p69"/>
            <p:cNvCxnSpPr/>
            <p:nvPr/>
          </p:nvCxnSpPr>
          <p:spPr>
            <a:xfrm flipH="1">
              <a:off x="6097886" y="4656911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60" name="Google Shape;1160;p69"/>
            <p:cNvCxnSpPr/>
            <p:nvPr/>
          </p:nvCxnSpPr>
          <p:spPr>
            <a:xfrm flipH="1" rot="10800000">
              <a:off x="6368579" y="4601554"/>
              <a:ext cx="271200" cy="246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161" name="Google Shape;1161;p69"/>
            <p:cNvCxnSpPr/>
            <p:nvPr/>
          </p:nvCxnSpPr>
          <p:spPr>
            <a:xfrm flipH="1" rot="10800000">
              <a:off x="4649529" y="3938079"/>
              <a:ext cx="271200" cy="246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162" name="Google Shape;1162;p69"/>
          <p:cNvSpPr txBox="1"/>
          <p:nvPr/>
        </p:nvSpPr>
        <p:spPr>
          <a:xfrm>
            <a:off x="4043375" y="4749600"/>
            <a:ext cx="2250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1c: Sibling Tree</a:t>
            </a:r>
            <a:endParaRPr/>
          </a:p>
        </p:txBody>
      </p:sp>
      <p:sp>
        <p:nvSpPr>
          <p:cNvPr id="1163" name="Google Shape;1163;p69"/>
          <p:cNvSpPr txBox="1"/>
          <p:nvPr/>
        </p:nvSpPr>
        <p:spPr>
          <a:xfrm>
            <a:off x="2752050" y="1501775"/>
            <a:ext cx="3639900" cy="168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Tree1C&lt;Key&gt;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Key k; </a:t>
            </a:r>
            <a:r>
              <a:rPr i="1" lang="en" sz="19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// e.g. 0</a:t>
            </a:r>
            <a:endParaRPr i="1" sz="19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Tree1C favoredChild;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Tree1C sibling;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164" name="Google Shape;1164;p69"/>
          <p:cNvSpPr/>
          <p:nvPr/>
        </p:nvSpPr>
        <p:spPr>
          <a:xfrm>
            <a:off x="8128081" y="963825"/>
            <a:ext cx="4878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5" name="Google Shape;1165;p69"/>
          <p:cNvCxnSpPr>
            <a:stCxn id="1166" idx="0"/>
            <a:endCxn id="1164" idx="5"/>
          </p:cNvCxnSpPr>
          <p:nvPr/>
        </p:nvCxnSpPr>
        <p:spPr>
          <a:xfrm rot="10800000">
            <a:off x="8544554" y="1211300"/>
            <a:ext cx="3084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66" name="Google Shape;1166;p69"/>
          <p:cNvSpPr/>
          <p:nvPr/>
        </p:nvSpPr>
        <p:spPr>
          <a:xfrm>
            <a:off x="8669204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z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7" name="Google Shape;1167;p69"/>
          <p:cNvSpPr/>
          <p:nvPr/>
        </p:nvSpPr>
        <p:spPr>
          <a:xfrm>
            <a:off x="7735688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8" name="Google Shape;1168;p69"/>
          <p:cNvSpPr/>
          <p:nvPr/>
        </p:nvSpPr>
        <p:spPr>
          <a:xfrm>
            <a:off x="8188227" y="1440283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69" name="Google Shape;1169;p69"/>
          <p:cNvCxnSpPr>
            <a:stCxn id="1164" idx="3"/>
            <a:endCxn id="1167" idx="0"/>
          </p:cNvCxnSpPr>
          <p:nvPr/>
        </p:nvCxnSpPr>
        <p:spPr>
          <a:xfrm flipH="1">
            <a:off x="7919318" y="1211441"/>
            <a:ext cx="2802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70" name="Google Shape;1170;p69"/>
          <p:cNvCxnSpPr>
            <a:stCxn id="1164" idx="4"/>
            <a:endCxn id="1168" idx="0"/>
          </p:cNvCxnSpPr>
          <p:nvPr/>
        </p:nvCxnSpPr>
        <p:spPr>
          <a:xfrm>
            <a:off x="8371981" y="1253925"/>
            <a:ext cx="0" cy="18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4" name="Shape 1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5" name="Google Shape;1175;p7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Represent a Tree in Java? </a:t>
            </a:r>
            <a:endParaRPr/>
          </a:p>
        </p:txBody>
      </p:sp>
      <p:sp>
        <p:nvSpPr>
          <p:cNvPr id="1176" name="Google Shape;1176;p7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Approach 1a, 1b and 1c: Create mapping from node to children.</a:t>
            </a:r>
            <a:endParaRPr/>
          </a:p>
        </p:txBody>
      </p:sp>
      <p:grpSp>
        <p:nvGrpSpPr>
          <p:cNvPr id="1177" name="Google Shape;1177;p70"/>
          <p:cNvGrpSpPr/>
          <p:nvPr/>
        </p:nvGrpSpPr>
        <p:grpSpPr>
          <a:xfrm>
            <a:off x="5482928" y="1644864"/>
            <a:ext cx="3485773" cy="1623050"/>
            <a:chOff x="5482928" y="2102064"/>
            <a:chExt cx="3485773" cy="1623050"/>
          </a:xfrm>
        </p:grpSpPr>
        <p:sp>
          <p:nvSpPr>
            <p:cNvPr id="1178" name="Google Shape;1178;p70"/>
            <p:cNvSpPr/>
            <p:nvPr/>
          </p:nvSpPr>
          <p:spPr>
            <a:xfrm>
              <a:off x="6844432" y="2102064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</a:t>
              </a:r>
              <a:endParaRPr/>
            </a:p>
          </p:txBody>
        </p:sp>
        <p:sp>
          <p:nvSpPr>
            <p:cNvPr id="1179" name="Google Shape;1179;p70"/>
            <p:cNvSpPr/>
            <p:nvPr/>
          </p:nvSpPr>
          <p:spPr>
            <a:xfrm>
              <a:off x="6685458" y="26397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70"/>
            <p:cNvSpPr/>
            <p:nvPr/>
          </p:nvSpPr>
          <p:spPr>
            <a:xfrm>
              <a:off x="6994055" y="26397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70"/>
            <p:cNvSpPr/>
            <p:nvPr/>
          </p:nvSpPr>
          <p:spPr>
            <a:xfrm>
              <a:off x="7302652" y="26397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70"/>
            <p:cNvSpPr/>
            <p:nvPr/>
          </p:nvSpPr>
          <p:spPr>
            <a:xfrm>
              <a:off x="7153029" y="2102064"/>
              <a:ext cx="308700" cy="2901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83" name="Google Shape;1183;p70"/>
            <p:cNvCxnSpPr/>
            <p:nvPr/>
          </p:nvCxnSpPr>
          <p:spPr>
            <a:xfrm flipH="1">
              <a:off x="6972478" y="2263475"/>
              <a:ext cx="411600" cy="374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84" name="Google Shape;1184;p70"/>
            <p:cNvSpPr/>
            <p:nvPr/>
          </p:nvSpPr>
          <p:spPr>
            <a:xfrm>
              <a:off x="5482928" y="3154750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x</a:t>
              </a:r>
              <a:endParaRPr/>
            </a:p>
          </p:txBody>
        </p:sp>
        <p:sp>
          <p:nvSpPr>
            <p:cNvPr id="1185" name="Google Shape;1185;p70"/>
            <p:cNvSpPr/>
            <p:nvPr/>
          </p:nvSpPr>
          <p:spPr>
            <a:xfrm>
              <a:off x="5791525" y="3154750"/>
              <a:ext cx="308700" cy="2901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70"/>
            <p:cNvSpPr/>
            <p:nvPr/>
          </p:nvSpPr>
          <p:spPr>
            <a:xfrm>
              <a:off x="6933953" y="3154750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</a:t>
              </a:r>
              <a:endParaRPr/>
            </a:p>
          </p:txBody>
        </p:sp>
        <p:sp>
          <p:nvSpPr>
            <p:cNvPr id="1187" name="Google Shape;1187;p70"/>
            <p:cNvSpPr/>
            <p:nvPr/>
          </p:nvSpPr>
          <p:spPr>
            <a:xfrm>
              <a:off x="7242550" y="3154750"/>
              <a:ext cx="308700" cy="2901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188" name="Google Shape;1188;p70"/>
            <p:cNvCxnSpPr/>
            <p:nvPr/>
          </p:nvCxnSpPr>
          <p:spPr>
            <a:xfrm flipH="1">
              <a:off x="5952028" y="2864775"/>
              <a:ext cx="860400" cy="261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89" name="Google Shape;1189;p70"/>
            <p:cNvCxnSpPr/>
            <p:nvPr/>
          </p:nvCxnSpPr>
          <p:spPr>
            <a:xfrm>
              <a:off x="7167797" y="2827350"/>
              <a:ext cx="149700" cy="31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90" name="Google Shape;1190;p70"/>
            <p:cNvCxnSpPr/>
            <p:nvPr/>
          </p:nvCxnSpPr>
          <p:spPr>
            <a:xfrm>
              <a:off x="7496303" y="2787175"/>
              <a:ext cx="1223700" cy="320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91" name="Google Shape;1191;p70"/>
            <p:cNvSpPr/>
            <p:nvPr/>
          </p:nvSpPr>
          <p:spPr>
            <a:xfrm>
              <a:off x="8660002" y="3151214"/>
              <a:ext cx="308700" cy="2901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70"/>
            <p:cNvSpPr/>
            <p:nvPr/>
          </p:nvSpPr>
          <p:spPr>
            <a:xfrm>
              <a:off x="8351405" y="3151214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z</a:t>
              </a:r>
              <a:endParaRPr/>
            </a:p>
          </p:txBody>
        </p:sp>
        <p:cxnSp>
          <p:nvCxnSpPr>
            <p:cNvPr id="1193" name="Google Shape;1193;p70"/>
            <p:cNvCxnSpPr/>
            <p:nvPr/>
          </p:nvCxnSpPr>
          <p:spPr>
            <a:xfrm flipH="1">
              <a:off x="5853864" y="3318014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94" name="Google Shape;1194;p70"/>
            <p:cNvCxnSpPr/>
            <p:nvPr/>
          </p:nvCxnSpPr>
          <p:spPr>
            <a:xfrm flipH="1">
              <a:off x="7325527" y="3299311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195" name="Google Shape;1195;p70"/>
            <p:cNvCxnSpPr/>
            <p:nvPr/>
          </p:nvCxnSpPr>
          <p:spPr>
            <a:xfrm flipH="1">
              <a:off x="8693577" y="3299311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196" name="Google Shape;1196;p70"/>
          <p:cNvGrpSpPr/>
          <p:nvPr/>
        </p:nvGrpSpPr>
        <p:grpSpPr>
          <a:xfrm>
            <a:off x="3263873" y="3687864"/>
            <a:ext cx="3394693" cy="1166250"/>
            <a:chOff x="3263873" y="3916464"/>
            <a:chExt cx="3394693" cy="1166250"/>
          </a:xfrm>
        </p:grpSpPr>
        <p:sp>
          <p:nvSpPr>
            <p:cNvPr id="1197" name="Google Shape;1197;p70"/>
            <p:cNvSpPr/>
            <p:nvPr/>
          </p:nvSpPr>
          <p:spPr>
            <a:xfrm>
              <a:off x="4013573" y="3916464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</a:t>
              </a:r>
              <a:endParaRPr/>
            </a:p>
          </p:txBody>
        </p:sp>
        <p:sp>
          <p:nvSpPr>
            <p:cNvPr id="1198" name="Google Shape;1198;p70"/>
            <p:cNvSpPr/>
            <p:nvPr/>
          </p:nvSpPr>
          <p:spPr>
            <a:xfrm>
              <a:off x="4322170" y="39164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70"/>
            <p:cNvSpPr/>
            <p:nvPr/>
          </p:nvSpPr>
          <p:spPr>
            <a:xfrm>
              <a:off x="4630766" y="39164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70"/>
            <p:cNvSpPr/>
            <p:nvPr/>
          </p:nvSpPr>
          <p:spPr>
            <a:xfrm>
              <a:off x="3263873" y="4572489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x</a:t>
              </a:r>
              <a:endParaRPr/>
            </a:p>
          </p:txBody>
        </p:sp>
        <p:sp>
          <p:nvSpPr>
            <p:cNvPr id="1201" name="Google Shape;1201;p70"/>
            <p:cNvSpPr/>
            <p:nvPr/>
          </p:nvSpPr>
          <p:spPr>
            <a:xfrm>
              <a:off x="3572470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70"/>
            <p:cNvSpPr/>
            <p:nvPr/>
          </p:nvSpPr>
          <p:spPr>
            <a:xfrm>
              <a:off x="3881066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70"/>
            <p:cNvSpPr/>
            <p:nvPr/>
          </p:nvSpPr>
          <p:spPr>
            <a:xfrm>
              <a:off x="4498273" y="4572489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</a:t>
              </a:r>
              <a:endParaRPr/>
            </a:p>
          </p:txBody>
        </p:sp>
        <p:sp>
          <p:nvSpPr>
            <p:cNvPr id="1204" name="Google Shape;1204;p70"/>
            <p:cNvSpPr/>
            <p:nvPr/>
          </p:nvSpPr>
          <p:spPr>
            <a:xfrm>
              <a:off x="4806870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70"/>
            <p:cNvSpPr/>
            <p:nvPr/>
          </p:nvSpPr>
          <p:spPr>
            <a:xfrm>
              <a:off x="5115466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70"/>
            <p:cNvSpPr/>
            <p:nvPr/>
          </p:nvSpPr>
          <p:spPr>
            <a:xfrm>
              <a:off x="5732673" y="4572489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z</a:t>
              </a:r>
              <a:endParaRPr/>
            </a:p>
          </p:txBody>
        </p:sp>
        <p:sp>
          <p:nvSpPr>
            <p:cNvPr id="1207" name="Google Shape;1207;p70"/>
            <p:cNvSpPr/>
            <p:nvPr/>
          </p:nvSpPr>
          <p:spPr>
            <a:xfrm>
              <a:off x="6041270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70"/>
            <p:cNvSpPr/>
            <p:nvPr/>
          </p:nvSpPr>
          <p:spPr>
            <a:xfrm>
              <a:off x="6349866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09" name="Google Shape;1209;p70"/>
            <p:cNvCxnSpPr>
              <a:endCxn id="1201" idx="0"/>
            </p:cNvCxnSpPr>
            <p:nvPr/>
          </p:nvCxnSpPr>
          <p:spPr>
            <a:xfrm flipH="1">
              <a:off x="3726820" y="4041189"/>
              <a:ext cx="726000" cy="53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10" name="Google Shape;1210;p70"/>
            <p:cNvCxnSpPr/>
            <p:nvPr/>
          </p:nvCxnSpPr>
          <p:spPr>
            <a:xfrm>
              <a:off x="4004050" y="4733100"/>
              <a:ext cx="5235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11" name="Google Shape;1211;p70"/>
            <p:cNvCxnSpPr/>
            <p:nvPr/>
          </p:nvCxnSpPr>
          <p:spPr>
            <a:xfrm>
              <a:off x="5294600" y="4733200"/>
              <a:ext cx="411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12" name="Google Shape;1212;p70"/>
            <p:cNvCxnSpPr/>
            <p:nvPr/>
          </p:nvCxnSpPr>
          <p:spPr>
            <a:xfrm flipH="1">
              <a:off x="3639173" y="4675614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13" name="Google Shape;1213;p70"/>
            <p:cNvCxnSpPr/>
            <p:nvPr/>
          </p:nvCxnSpPr>
          <p:spPr>
            <a:xfrm flipH="1">
              <a:off x="4882236" y="4656911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14" name="Google Shape;1214;p70"/>
            <p:cNvCxnSpPr/>
            <p:nvPr/>
          </p:nvCxnSpPr>
          <p:spPr>
            <a:xfrm flipH="1">
              <a:off x="6097886" y="4656911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15" name="Google Shape;1215;p70"/>
            <p:cNvCxnSpPr/>
            <p:nvPr/>
          </p:nvCxnSpPr>
          <p:spPr>
            <a:xfrm flipH="1" rot="10800000">
              <a:off x="6368579" y="4601554"/>
              <a:ext cx="271200" cy="246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6" name="Google Shape;1216;p70"/>
            <p:cNvCxnSpPr/>
            <p:nvPr/>
          </p:nvCxnSpPr>
          <p:spPr>
            <a:xfrm flipH="1" rot="10800000">
              <a:off x="4649529" y="3938079"/>
              <a:ext cx="271200" cy="246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17" name="Google Shape;1217;p70"/>
          <p:cNvGrpSpPr/>
          <p:nvPr/>
        </p:nvGrpSpPr>
        <p:grpSpPr>
          <a:xfrm>
            <a:off x="395400" y="1832589"/>
            <a:ext cx="4102966" cy="982304"/>
            <a:chOff x="395400" y="2289789"/>
            <a:chExt cx="4102966" cy="982304"/>
          </a:xfrm>
        </p:grpSpPr>
        <p:sp>
          <p:nvSpPr>
            <p:cNvPr id="1218" name="Google Shape;1218;p70"/>
            <p:cNvSpPr/>
            <p:nvPr/>
          </p:nvSpPr>
          <p:spPr>
            <a:xfrm>
              <a:off x="1294698" y="2289789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</a:t>
              </a:r>
              <a:endParaRPr/>
            </a:p>
          </p:txBody>
        </p:sp>
        <p:sp>
          <p:nvSpPr>
            <p:cNvPr id="1219" name="Google Shape;1219;p70"/>
            <p:cNvSpPr/>
            <p:nvPr/>
          </p:nvSpPr>
          <p:spPr>
            <a:xfrm>
              <a:off x="1603294" y="22897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70"/>
            <p:cNvSpPr/>
            <p:nvPr/>
          </p:nvSpPr>
          <p:spPr>
            <a:xfrm>
              <a:off x="1911891" y="22897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70"/>
            <p:cNvSpPr/>
            <p:nvPr/>
          </p:nvSpPr>
          <p:spPr>
            <a:xfrm>
              <a:off x="2220488" y="22897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70"/>
            <p:cNvSpPr/>
            <p:nvPr/>
          </p:nvSpPr>
          <p:spPr>
            <a:xfrm>
              <a:off x="395400" y="2748100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x</a:t>
              </a:r>
              <a:endParaRPr/>
            </a:p>
          </p:txBody>
        </p:sp>
        <p:sp>
          <p:nvSpPr>
            <p:cNvPr id="1223" name="Google Shape;1223;p70"/>
            <p:cNvSpPr/>
            <p:nvPr/>
          </p:nvSpPr>
          <p:spPr>
            <a:xfrm>
              <a:off x="703997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70"/>
            <p:cNvSpPr/>
            <p:nvPr/>
          </p:nvSpPr>
          <p:spPr>
            <a:xfrm>
              <a:off x="1012593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70"/>
            <p:cNvSpPr/>
            <p:nvPr/>
          </p:nvSpPr>
          <p:spPr>
            <a:xfrm>
              <a:off x="1321190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70"/>
            <p:cNvSpPr/>
            <p:nvPr/>
          </p:nvSpPr>
          <p:spPr>
            <a:xfrm>
              <a:off x="1846425" y="2748100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</a:t>
              </a:r>
              <a:endParaRPr/>
            </a:p>
          </p:txBody>
        </p:sp>
        <p:sp>
          <p:nvSpPr>
            <p:cNvPr id="1227" name="Google Shape;1227;p70"/>
            <p:cNvSpPr/>
            <p:nvPr/>
          </p:nvSpPr>
          <p:spPr>
            <a:xfrm>
              <a:off x="2155022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70"/>
            <p:cNvSpPr/>
            <p:nvPr/>
          </p:nvSpPr>
          <p:spPr>
            <a:xfrm>
              <a:off x="2463618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70"/>
            <p:cNvSpPr/>
            <p:nvPr/>
          </p:nvSpPr>
          <p:spPr>
            <a:xfrm>
              <a:off x="2772215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30" name="Google Shape;1230;p70"/>
            <p:cNvCxnSpPr/>
            <p:nvPr/>
          </p:nvCxnSpPr>
          <p:spPr>
            <a:xfrm flipH="1">
              <a:off x="864500" y="2458125"/>
              <a:ext cx="860400" cy="261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31" name="Google Shape;1231;p70"/>
            <p:cNvCxnSpPr/>
            <p:nvPr/>
          </p:nvCxnSpPr>
          <p:spPr>
            <a:xfrm>
              <a:off x="2080269" y="2420700"/>
              <a:ext cx="149700" cy="31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32" name="Google Shape;1232;p70"/>
            <p:cNvCxnSpPr/>
            <p:nvPr/>
          </p:nvCxnSpPr>
          <p:spPr>
            <a:xfrm>
              <a:off x="2379525" y="2439400"/>
              <a:ext cx="1253100" cy="261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33" name="Google Shape;1233;p70"/>
            <p:cNvSpPr/>
            <p:nvPr/>
          </p:nvSpPr>
          <p:spPr>
            <a:xfrm>
              <a:off x="3572473" y="27445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70"/>
            <p:cNvSpPr/>
            <p:nvPr/>
          </p:nvSpPr>
          <p:spPr>
            <a:xfrm>
              <a:off x="3881070" y="27445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70"/>
            <p:cNvSpPr/>
            <p:nvPr/>
          </p:nvSpPr>
          <p:spPr>
            <a:xfrm>
              <a:off x="4189666" y="27445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70"/>
            <p:cNvSpPr/>
            <p:nvPr/>
          </p:nvSpPr>
          <p:spPr>
            <a:xfrm>
              <a:off x="3263877" y="2744564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z</a:t>
              </a:r>
              <a:endParaRPr/>
            </a:p>
          </p:txBody>
        </p:sp>
        <p:cxnSp>
          <p:nvCxnSpPr>
            <p:cNvPr id="1237" name="Google Shape;1237;p70"/>
            <p:cNvCxnSpPr/>
            <p:nvPr/>
          </p:nvCxnSpPr>
          <p:spPr>
            <a:xfrm flipH="1">
              <a:off x="1071356" y="2864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38" name="Google Shape;1238;p70"/>
            <p:cNvCxnSpPr/>
            <p:nvPr/>
          </p:nvCxnSpPr>
          <p:spPr>
            <a:xfrm flipH="1">
              <a:off x="1376358" y="2864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39" name="Google Shape;1239;p70"/>
            <p:cNvCxnSpPr/>
            <p:nvPr/>
          </p:nvCxnSpPr>
          <p:spPr>
            <a:xfrm flipH="1">
              <a:off x="766353" y="2864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40" name="Google Shape;1240;p70"/>
            <p:cNvCxnSpPr/>
            <p:nvPr/>
          </p:nvCxnSpPr>
          <p:spPr>
            <a:xfrm flipH="1">
              <a:off x="2546593" y="2856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41" name="Google Shape;1241;p70"/>
            <p:cNvCxnSpPr/>
            <p:nvPr/>
          </p:nvCxnSpPr>
          <p:spPr>
            <a:xfrm flipH="1">
              <a:off x="2851596" y="2856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42" name="Google Shape;1242;p70"/>
            <p:cNvCxnSpPr/>
            <p:nvPr/>
          </p:nvCxnSpPr>
          <p:spPr>
            <a:xfrm flipH="1">
              <a:off x="2241591" y="2856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43" name="Google Shape;1243;p70"/>
            <p:cNvCxnSpPr/>
            <p:nvPr/>
          </p:nvCxnSpPr>
          <p:spPr>
            <a:xfrm flipH="1">
              <a:off x="3956127" y="2860800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44" name="Google Shape;1244;p70"/>
            <p:cNvCxnSpPr/>
            <p:nvPr/>
          </p:nvCxnSpPr>
          <p:spPr>
            <a:xfrm flipH="1">
              <a:off x="4261130" y="2860800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245" name="Google Shape;1245;p70"/>
            <p:cNvCxnSpPr/>
            <p:nvPr/>
          </p:nvCxnSpPr>
          <p:spPr>
            <a:xfrm flipH="1">
              <a:off x="3651125" y="2860800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246" name="Google Shape;1246;p70"/>
          <p:cNvSpPr txBox="1"/>
          <p:nvPr/>
        </p:nvSpPr>
        <p:spPr>
          <a:xfrm>
            <a:off x="1462175" y="2930175"/>
            <a:ext cx="2250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1a: Fixed-Width Nodes</a:t>
            </a:r>
            <a:endParaRPr/>
          </a:p>
        </p:txBody>
      </p:sp>
      <p:sp>
        <p:nvSpPr>
          <p:cNvPr id="1247" name="Google Shape;1247;p70"/>
          <p:cNvSpPr txBox="1"/>
          <p:nvPr/>
        </p:nvSpPr>
        <p:spPr>
          <a:xfrm>
            <a:off x="6293665" y="3175905"/>
            <a:ext cx="2250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1b: Variable-Width Nodes</a:t>
            </a:r>
            <a:endParaRPr/>
          </a:p>
        </p:txBody>
      </p:sp>
      <p:sp>
        <p:nvSpPr>
          <p:cNvPr id="1248" name="Google Shape;1248;p70"/>
          <p:cNvSpPr txBox="1"/>
          <p:nvPr/>
        </p:nvSpPr>
        <p:spPr>
          <a:xfrm>
            <a:off x="4043375" y="4749600"/>
            <a:ext cx="2250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1c: Sibling Tree</a:t>
            </a:r>
            <a:endParaRPr/>
          </a:p>
        </p:txBody>
      </p:sp>
      <p:sp>
        <p:nvSpPr>
          <p:cNvPr id="1249" name="Google Shape;1249;p70"/>
          <p:cNvSpPr/>
          <p:nvPr/>
        </p:nvSpPr>
        <p:spPr>
          <a:xfrm>
            <a:off x="8128081" y="963825"/>
            <a:ext cx="4878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0" name="Google Shape;1250;p70"/>
          <p:cNvCxnSpPr>
            <a:stCxn id="1251" idx="0"/>
            <a:endCxn id="1249" idx="5"/>
          </p:cNvCxnSpPr>
          <p:nvPr/>
        </p:nvCxnSpPr>
        <p:spPr>
          <a:xfrm rot="10800000">
            <a:off x="8544554" y="1211300"/>
            <a:ext cx="3084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1" name="Google Shape;1251;p70"/>
          <p:cNvSpPr/>
          <p:nvPr/>
        </p:nvSpPr>
        <p:spPr>
          <a:xfrm>
            <a:off x="8669204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z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2" name="Google Shape;1252;p70"/>
          <p:cNvSpPr/>
          <p:nvPr/>
        </p:nvSpPr>
        <p:spPr>
          <a:xfrm>
            <a:off x="7735688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3" name="Google Shape;1253;p70"/>
          <p:cNvSpPr/>
          <p:nvPr/>
        </p:nvSpPr>
        <p:spPr>
          <a:xfrm>
            <a:off x="8188227" y="1440283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54" name="Google Shape;1254;p70"/>
          <p:cNvCxnSpPr>
            <a:stCxn id="1249" idx="3"/>
            <a:endCxn id="1252" idx="0"/>
          </p:cNvCxnSpPr>
          <p:nvPr/>
        </p:nvCxnSpPr>
        <p:spPr>
          <a:xfrm flipH="1">
            <a:off x="7919318" y="1211441"/>
            <a:ext cx="2802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255" name="Google Shape;1255;p70"/>
          <p:cNvCxnSpPr>
            <a:stCxn id="1249" idx="4"/>
            <a:endCxn id="1253" idx="0"/>
          </p:cNvCxnSpPr>
          <p:nvPr/>
        </p:nvCxnSpPr>
        <p:spPr>
          <a:xfrm>
            <a:off x="8371981" y="1253925"/>
            <a:ext cx="0" cy="18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9" name="Shape 1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0" name="Google Shape;1260;p7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21, CS61B, Fall 2023</a:t>
            </a:r>
            <a:endParaRPr/>
          </a:p>
        </p:txBody>
      </p:sp>
      <p:sp>
        <p:nvSpPr>
          <p:cNvPr id="1261" name="Google Shape;1261;p71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Priority Queue Introduction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Introducing the Priority Queue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Using a PQ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Bad Implementations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Heaps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Definitions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Add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Delete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Tree Representations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B7B7B7"/>
              </a:buClr>
              <a:buSzPts val="1800"/>
              <a:buChar char="•"/>
            </a:pPr>
            <a:r>
              <a:rPr lang="en">
                <a:solidFill>
                  <a:srgbClr val="B7B7B7"/>
                </a:solidFill>
              </a:rPr>
              <a:t>Recursive Representation (1)</a:t>
            </a:r>
            <a:endParaRPr>
              <a:solidFill>
                <a:srgbClr val="B7B7B7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Roboto"/>
              <a:buChar char="•"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Array Representations (2, 3, 3b)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Priority Queue Summary</a:t>
            </a:r>
            <a:endParaRPr>
              <a:solidFill>
                <a:schemeClr val="accent3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 Structures Summary</a:t>
            </a:r>
            <a:endParaRPr/>
          </a:p>
        </p:txBody>
      </p:sp>
      <p:sp>
        <p:nvSpPr>
          <p:cNvPr id="1262" name="Google Shape;1262;p7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Representations (2, 3, 3b)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7" name="Google Shape;1267;p7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Represent a Tree in Java? </a:t>
            </a:r>
            <a:endParaRPr/>
          </a:p>
        </p:txBody>
      </p:sp>
      <p:sp>
        <p:nvSpPr>
          <p:cNvPr id="1268" name="Google Shape;1268;p7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Approach 2: Store keys in an array. Store parentIDs in an array.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Similar to what we did with disjointSets.</a:t>
            </a:r>
            <a:endParaRPr/>
          </a:p>
        </p:txBody>
      </p:sp>
      <p:sp>
        <p:nvSpPr>
          <p:cNvPr id="1269" name="Google Shape;1269;p72"/>
          <p:cNvSpPr/>
          <p:nvPr/>
        </p:nvSpPr>
        <p:spPr>
          <a:xfrm>
            <a:off x="7850135" y="1891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endParaRPr/>
          </a:p>
        </p:txBody>
      </p:sp>
      <p:sp>
        <p:nvSpPr>
          <p:cNvPr id="1270" name="Google Shape;1270;p72"/>
          <p:cNvSpPr/>
          <p:nvPr/>
        </p:nvSpPr>
        <p:spPr>
          <a:xfrm>
            <a:off x="8158732" y="1891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271" name="Google Shape;1271;p72"/>
          <p:cNvSpPr/>
          <p:nvPr/>
        </p:nvSpPr>
        <p:spPr>
          <a:xfrm>
            <a:off x="8467328" y="1891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sp>
        <p:nvSpPr>
          <p:cNvPr id="1272" name="Google Shape;1272;p72"/>
          <p:cNvSpPr/>
          <p:nvPr/>
        </p:nvSpPr>
        <p:spPr>
          <a:xfrm>
            <a:off x="8775925" y="1891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grpSp>
        <p:nvGrpSpPr>
          <p:cNvPr id="1273" name="Google Shape;1273;p72"/>
          <p:cNvGrpSpPr/>
          <p:nvPr/>
        </p:nvGrpSpPr>
        <p:grpSpPr>
          <a:xfrm>
            <a:off x="344200" y="3265725"/>
            <a:ext cx="3449425" cy="1525742"/>
            <a:chOff x="4866600" y="3068225"/>
            <a:chExt cx="3449425" cy="1525742"/>
          </a:xfrm>
        </p:grpSpPr>
        <p:grpSp>
          <p:nvGrpSpPr>
            <p:cNvPr id="1274" name="Google Shape;1274;p72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1275" name="Google Shape;1275;p72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e</a:t>
                </a:r>
                <a:endParaRPr/>
              </a:p>
            </p:txBody>
          </p:sp>
          <p:sp>
            <p:nvSpPr>
              <p:cNvPr id="1276" name="Google Shape;1276;p72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b</a:t>
                </a:r>
                <a:endParaRPr/>
              </a:p>
            </p:txBody>
          </p:sp>
          <p:sp>
            <p:nvSpPr>
              <p:cNvPr id="1277" name="Google Shape;1277;p72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g</a:t>
                </a:r>
                <a:endParaRPr/>
              </a:p>
            </p:txBody>
          </p:sp>
          <p:sp>
            <p:nvSpPr>
              <p:cNvPr id="1278" name="Google Shape;1278;p72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a</a:t>
                </a:r>
                <a:endParaRPr/>
              </a:p>
            </p:txBody>
          </p:sp>
          <p:sp>
            <p:nvSpPr>
              <p:cNvPr id="1279" name="Google Shape;1279;p72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d</a:t>
                </a:r>
                <a:endParaRPr/>
              </a:p>
            </p:txBody>
          </p:sp>
          <p:sp>
            <p:nvSpPr>
              <p:cNvPr id="1280" name="Google Shape;1280;p72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f</a:t>
                </a:r>
                <a:endParaRPr/>
              </a:p>
            </p:txBody>
          </p:sp>
          <p:sp>
            <p:nvSpPr>
              <p:cNvPr id="1281" name="Google Shape;1281;p72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j</a:t>
                </a:r>
                <a:endParaRPr/>
              </a:p>
            </p:txBody>
          </p:sp>
          <p:cxnSp>
            <p:nvCxnSpPr>
              <p:cNvPr id="1282" name="Google Shape;1282;p72"/>
              <p:cNvCxnSpPr>
                <a:stCxn id="1276" idx="0"/>
                <a:endCxn id="1275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3" name="Google Shape;1283;p72"/>
              <p:cNvCxnSpPr>
                <a:stCxn id="1277" idx="0"/>
                <a:endCxn id="1275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4" name="Google Shape;1284;p72"/>
              <p:cNvCxnSpPr>
                <a:stCxn id="1278" idx="0"/>
                <a:endCxn id="1276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5" name="Google Shape;1285;p72"/>
              <p:cNvCxnSpPr>
                <a:stCxn id="1276" idx="2"/>
                <a:endCxn id="1279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6" name="Google Shape;1286;p72"/>
              <p:cNvCxnSpPr>
                <a:stCxn id="1277" idx="2"/>
                <a:endCxn id="1280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87" name="Google Shape;1287;p72"/>
              <p:cNvCxnSpPr>
                <a:stCxn id="1277" idx="2"/>
                <a:endCxn id="1281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288" name="Google Shape;1288;p72"/>
            <p:cNvGrpSpPr/>
            <p:nvPr/>
          </p:nvGrpSpPr>
          <p:grpSpPr>
            <a:xfrm>
              <a:off x="6802600" y="3553749"/>
              <a:ext cx="1513425" cy="1040218"/>
              <a:chOff x="5860100" y="3678825"/>
              <a:chExt cx="1513425" cy="1040218"/>
            </a:xfrm>
          </p:grpSpPr>
          <p:sp>
            <p:nvSpPr>
              <p:cNvPr id="1289" name="Google Shape;1289;p72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v</a:t>
                </a:r>
                <a:endParaRPr/>
              </a:p>
            </p:txBody>
          </p:sp>
          <p:sp>
            <p:nvSpPr>
              <p:cNvPr id="1290" name="Google Shape;1290;p72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p</a:t>
                </a:r>
                <a:endParaRPr/>
              </a:p>
            </p:txBody>
          </p:sp>
          <p:sp>
            <p:nvSpPr>
              <p:cNvPr id="1291" name="Google Shape;1291;p72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y</a:t>
                </a:r>
                <a:endParaRPr/>
              </a:p>
            </p:txBody>
          </p:sp>
          <p:sp>
            <p:nvSpPr>
              <p:cNvPr id="1292" name="Google Shape;1292;p72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m</a:t>
                </a:r>
                <a:endParaRPr/>
              </a:p>
            </p:txBody>
          </p:sp>
          <p:sp>
            <p:nvSpPr>
              <p:cNvPr id="1293" name="Google Shape;1293;p72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r</a:t>
                </a:r>
                <a:endParaRPr/>
              </a:p>
            </p:txBody>
          </p:sp>
          <p:sp>
            <p:nvSpPr>
              <p:cNvPr id="1294" name="Google Shape;1294;p72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x</a:t>
                </a:r>
                <a:endParaRPr/>
              </a:p>
            </p:txBody>
          </p:sp>
          <p:cxnSp>
            <p:nvCxnSpPr>
              <p:cNvPr id="1295" name="Google Shape;1295;p72"/>
              <p:cNvCxnSpPr>
                <a:stCxn id="1290" idx="0"/>
                <a:endCxn id="1289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6" name="Google Shape;1296;p72"/>
              <p:cNvCxnSpPr>
                <a:stCxn id="1291" idx="0"/>
                <a:endCxn id="1289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7" name="Google Shape;1297;p72"/>
              <p:cNvCxnSpPr>
                <a:stCxn id="1292" idx="0"/>
                <a:endCxn id="1290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8" name="Google Shape;1298;p72"/>
              <p:cNvCxnSpPr>
                <a:stCxn id="1290" idx="2"/>
                <a:endCxn id="1293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99" name="Google Shape;1299;p72"/>
              <p:cNvCxnSpPr>
                <a:stCxn id="1291" idx="2"/>
                <a:endCxn id="1294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300" name="Google Shape;1300;p72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k</a:t>
              </a:r>
              <a:endParaRPr/>
            </a:p>
          </p:txBody>
        </p:sp>
        <p:cxnSp>
          <p:nvCxnSpPr>
            <p:cNvPr id="1301" name="Google Shape;1301;p72"/>
            <p:cNvCxnSpPr>
              <a:stCxn id="1300" idx="2"/>
              <a:endCxn id="1275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02" name="Google Shape;1302;p72"/>
            <p:cNvCxnSpPr>
              <a:stCxn id="1300" idx="2"/>
              <a:endCxn id="1289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303" name="Google Shape;1303;p72"/>
          <p:cNvSpPr txBox="1"/>
          <p:nvPr/>
        </p:nvSpPr>
        <p:spPr>
          <a:xfrm>
            <a:off x="1766605" y="3190319"/>
            <a:ext cx="461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304" name="Google Shape;1304;p72"/>
          <p:cNvSpPr txBox="1"/>
          <p:nvPr/>
        </p:nvSpPr>
        <p:spPr>
          <a:xfrm>
            <a:off x="814676" y="3690127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305" name="Google Shape;1305;p72"/>
          <p:cNvSpPr txBox="1"/>
          <p:nvPr/>
        </p:nvSpPr>
        <p:spPr>
          <a:xfrm>
            <a:off x="2745148" y="3699930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306" name="Google Shape;1306;p72"/>
          <p:cNvSpPr txBox="1"/>
          <p:nvPr/>
        </p:nvSpPr>
        <p:spPr>
          <a:xfrm>
            <a:off x="344201" y="4062927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307" name="Google Shape;1307;p72"/>
          <p:cNvSpPr txBox="1"/>
          <p:nvPr/>
        </p:nvSpPr>
        <p:spPr>
          <a:xfrm>
            <a:off x="1289417" y="4062927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308" name="Google Shape;1308;p72"/>
          <p:cNvSpPr txBox="1"/>
          <p:nvPr/>
        </p:nvSpPr>
        <p:spPr>
          <a:xfrm>
            <a:off x="2310834" y="4070491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309" name="Google Shape;1309;p72"/>
          <p:cNvSpPr txBox="1"/>
          <p:nvPr/>
        </p:nvSpPr>
        <p:spPr>
          <a:xfrm>
            <a:off x="3210106" y="4070491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310" name="Google Shape;1310;p72"/>
          <p:cNvSpPr txBox="1"/>
          <p:nvPr/>
        </p:nvSpPr>
        <p:spPr>
          <a:xfrm>
            <a:off x="78342" y="4466619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1311" name="Google Shape;1311;p72"/>
          <p:cNvSpPr txBox="1"/>
          <p:nvPr/>
        </p:nvSpPr>
        <p:spPr>
          <a:xfrm>
            <a:off x="6482550" y="1841250"/>
            <a:ext cx="1367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Key[] keys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2" name="Google Shape;1312;p72"/>
          <p:cNvSpPr txBox="1"/>
          <p:nvPr/>
        </p:nvSpPr>
        <p:spPr>
          <a:xfrm>
            <a:off x="6133825" y="2222250"/>
            <a:ext cx="17163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int[] parents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3" name="Google Shape;1313;p72"/>
          <p:cNvSpPr/>
          <p:nvPr/>
        </p:nvSpPr>
        <p:spPr>
          <a:xfrm>
            <a:off x="7850135" y="2348552"/>
            <a:ext cx="308700" cy="2901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4" name="Google Shape;1314;p72"/>
          <p:cNvSpPr/>
          <p:nvPr/>
        </p:nvSpPr>
        <p:spPr>
          <a:xfrm>
            <a:off x="8158732" y="2348552"/>
            <a:ext cx="308700" cy="2901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5" name="Google Shape;1315;p72"/>
          <p:cNvSpPr/>
          <p:nvPr/>
        </p:nvSpPr>
        <p:spPr>
          <a:xfrm>
            <a:off x="8467328" y="2348552"/>
            <a:ext cx="308700" cy="2901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6" name="Google Shape;1316;p72"/>
          <p:cNvSpPr/>
          <p:nvPr/>
        </p:nvSpPr>
        <p:spPr>
          <a:xfrm>
            <a:off x="8775925" y="2348552"/>
            <a:ext cx="308700" cy="2901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17" name="Google Shape;1317;p72"/>
          <p:cNvSpPr/>
          <p:nvPr/>
        </p:nvSpPr>
        <p:spPr>
          <a:xfrm>
            <a:off x="43422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</a:t>
            </a:r>
            <a:endParaRPr/>
          </a:p>
        </p:txBody>
      </p:sp>
      <p:sp>
        <p:nvSpPr>
          <p:cNvPr id="1318" name="Google Shape;1318;p72"/>
          <p:cNvSpPr/>
          <p:nvPr/>
        </p:nvSpPr>
        <p:spPr>
          <a:xfrm>
            <a:off x="46508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1319" name="Google Shape;1319;p72"/>
          <p:cNvSpPr/>
          <p:nvPr/>
        </p:nvSpPr>
        <p:spPr>
          <a:xfrm>
            <a:off x="4959416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320" name="Google Shape;1320;p72"/>
          <p:cNvSpPr/>
          <p:nvPr/>
        </p:nvSpPr>
        <p:spPr>
          <a:xfrm>
            <a:off x="526801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321" name="Google Shape;1321;p72"/>
          <p:cNvSpPr/>
          <p:nvPr/>
        </p:nvSpPr>
        <p:spPr>
          <a:xfrm>
            <a:off x="55766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sp>
        <p:nvSpPr>
          <p:cNvPr id="1322" name="Google Shape;1322;p72"/>
          <p:cNvSpPr/>
          <p:nvPr/>
        </p:nvSpPr>
        <p:spPr>
          <a:xfrm>
            <a:off x="58852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</p:txBody>
      </p:sp>
      <p:sp>
        <p:nvSpPr>
          <p:cNvPr id="1323" name="Google Shape;1323;p72"/>
          <p:cNvSpPr/>
          <p:nvPr/>
        </p:nvSpPr>
        <p:spPr>
          <a:xfrm>
            <a:off x="6193816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sp>
        <p:nvSpPr>
          <p:cNvPr id="1324" name="Google Shape;1324;p72"/>
          <p:cNvSpPr/>
          <p:nvPr/>
        </p:nvSpPr>
        <p:spPr>
          <a:xfrm>
            <a:off x="650241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325" name="Google Shape;1325;p72"/>
          <p:cNvSpPr/>
          <p:nvPr/>
        </p:nvSpPr>
        <p:spPr>
          <a:xfrm>
            <a:off x="68110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1326" name="Google Shape;1326;p72"/>
          <p:cNvSpPr/>
          <p:nvPr/>
        </p:nvSpPr>
        <p:spPr>
          <a:xfrm>
            <a:off x="71196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sp>
        <p:nvSpPr>
          <p:cNvPr id="1327" name="Google Shape;1327;p72"/>
          <p:cNvSpPr/>
          <p:nvPr/>
        </p:nvSpPr>
        <p:spPr>
          <a:xfrm>
            <a:off x="7428216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  <p:sp>
        <p:nvSpPr>
          <p:cNvPr id="1328" name="Google Shape;1328;p72"/>
          <p:cNvSpPr/>
          <p:nvPr/>
        </p:nvSpPr>
        <p:spPr>
          <a:xfrm>
            <a:off x="773681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sp>
        <p:nvSpPr>
          <p:cNvPr id="1329" name="Google Shape;1329;p72"/>
          <p:cNvSpPr/>
          <p:nvPr/>
        </p:nvSpPr>
        <p:spPr>
          <a:xfrm>
            <a:off x="80454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sp>
        <p:nvSpPr>
          <p:cNvPr id="1330" name="Google Shape;1330;p72"/>
          <p:cNvSpPr/>
          <p:nvPr/>
        </p:nvSpPr>
        <p:spPr>
          <a:xfrm>
            <a:off x="83540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331" name="Google Shape;1331;p72"/>
          <p:cNvSpPr txBox="1"/>
          <p:nvPr/>
        </p:nvSpPr>
        <p:spPr>
          <a:xfrm>
            <a:off x="4285125" y="3036358"/>
            <a:ext cx="1367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Key[] keys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2" name="Google Shape;1332;p72"/>
          <p:cNvSpPr txBox="1"/>
          <p:nvPr/>
        </p:nvSpPr>
        <p:spPr>
          <a:xfrm>
            <a:off x="4243953" y="3974850"/>
            <a:ext cx="17163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int[] parents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3" name="Google Shape;1333;p72"/>
          <p:cNvSpPr txBox="1"/>
          <p:nvPr/>
        </p:nvSpPr>
        <p:spPr>
          <a:xfrm>
            <a:off x="7883475" y="2579036"/>
            <a:ext cx="12012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0  1  2  3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4" name="Google Shape;1334;p72"/>
          <p:cNvSpPr txBox="1"/>
          <p:nvPr/>
        </p:nvSpPr>
        <p:spPr>
          <a:xfrm>
            <a:off x="4391067" y="3643300"/>
            <a:ext cx="1516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0  1  2  3  4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5" name="Google Shape;1335;p72"/>
          <p:cNvSpPr txBox="1"/>
          <p:nvPr/>
        </p:nvSpPr>
        <p:spPr>
          <a:xfrm>
            <a:off x="5921870" y="3628172"/>
            <a:ext cx="30000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5  6  7  8  9  10 11 12 13 </a:t>
            </a:r>
            <a:endParaRPr/>
          </a:p>
        </p:txBody>
      </p:sp>
      <p:sp>
        <p:nvSpPr>
          <p:cNvPr id="1336" name="Google Shape;1336;p72"/>
          <p:cNvSpPr/>
          <p:nvPr/>
        </p:nvSpPr>
        <p:spPr>
          <a:xfrm>
            <a:off x="4342223" y="4408714"/>
            <a:ext cx="308700" cy="290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7" name="Google Shape;1337;p72"/>
          <p:cNvSpPr/>
          <p:nvPr/>
        </p:nvSpPr>
        <p:spPr>
          <a:xfrm>
            <a:off x="4650820" y="4408714"/>
            <a:ext cx="308700" cy="290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8" name="Google Shape;1338;p72"/>
          <p:cNvSpPr/>
          <p:nvPr/>
        </p:nvSpPr>
        <p:spPr>
          <a:xfrm>
            <a:off x="4959416" y="4408714"/>
            <a:ext cx="308700" cy="290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39" name="Google Shape;1339;p72"/>
          <p:cNvSpPr/>
          <p:nvPr/>
        </p:nvSpPr>
        <p:spPr>
          <a:xfrm>
            <a:off x="5268013" y="4408714"/>
            <a:ext cx="308700" cy="290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0" name="Google Shape;1340;p72"/>
          <p:cNvSpPr/>
          <p:nvPr/>
        </p:nvSpPr>
        <p:spPr>
          <a:xfrm>
            <a:off x="5576623" y="4408714"/>
            <a:ext cx="308700" cy="290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1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1" name="Google Shape;1341;p72"/>
          <p:cNvSpPr/>
          <p:nvPr/>
        </p:nvSpPr>
        <p:spPr>
          <a:xfrm>
            <a:off x="5885220" y="4408714"/>
            <a:ext cx="308700" cy="290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2" name="Google Shape;1342;p72"/>
          <p:cNvSpPr/>
          <p:nvPr/>
        </p:nvSpPr>
        <p:spPr>
          <a:xfrm>
            <a:off x="6193816" y="4408714"/>
            <a:ext cx="308700" cy="290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3" name="Google Shape;1343;p72"/>
          <p:cNvSpPr/>
          <p:nvPr/>
        </p:nvSpPr>
        <p:spPr>
          <a:xfrm>
            <a:off x="6502413" y="4408714"/>
            <a:ext cx="308700" cy="290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4" name="Google Shape;1344;p72"/>
          <p:cNvSpPr/>
          <p:nvPr/>
        </p:nvSpPr>
        <p:spPr>
          <a:xfrm>
            <a:off x="6811023" y="4408714"/>
            <a:ext cx="308700" cy="290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3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5" name="Google Shape;1345;p72"/>
          <p:cNvSpPr/>
          <p:nvPr/>
        </p:nvSpPr>
        <p:spPr>
          <a:xfrm>
            <a:off x="7119620" y="4408714"/>
            <a:ext cx="308700" cy="290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6" name="Google Shape;1346;p72"/>
          <p:cNvSpPr/>
          <p:nvPr/>
        </p:nvSpPr>
        <p:spPr>
          <a:xfrm>
            <a:off x="7428216" y="4408714"/>
            <a:ext cx="308700" cy="290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4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7" name="Google Shape;1347;p72"/>
          <p:cNvSpPr/>
          <p:nvPr/>
        </p:nvSpPr>
        <p:spPr>
          <a:xfrm>
            <a:off x="7736813" y="4408714"/>
            <a:ext cx="308700" cy="290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8" name="Google Shape;1348;p72"/>
          <p:cNvSpPr/>
          <p:nvPr/>
        </p:nvSpPr>
        <p:spPr>
          <a:xfrm>
            <a:off x="8045423" y="4408714"/>
            <a:ext cx="308700" cy="290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5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49" name="Google Shape;1349;p72"/>
          <p:cNvSpPr/>
          <p:nvPr/>
        </p:nvSpPr>
        <p:spPr>
          <a:xfrm>
            <a:off x="8354020" y="4408714"/>
            <a:ext cx="308700" cy="290100"/>
          </a:xfrm>
          <a:prstGeom prst="rect">
            <a:avLst/>
          </a:prstGeom>
          <a:solidFill>
            <a:srgbClr val="A2C4C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6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0" name="Google Shape;1350;p72"/>
          <p:cNvSpPr txBox="1"/>
          <p:nvPr/>
        </p:nvSpPr>
        <p:spPr>
          <a:xfrm>
            <a:off x="4391067" y="4633900"/>
            <a:ext cx="1516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0  1  2  3  4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351" name="Google Shape;1351;p72"/>
          <p:cNvSpPr txBox="1"/>
          <p:nvPr/>
        </p:nvSpPr>
        <p:spPr>
          <a:xfrm>
            <a:off x="5921870" y="4618772"/>
            <a:ext cx="30000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5  6  7  8  9  10 11 12 13 </a:t>
            </a:r>
            <a:endParaRPr/>
          </a:p>
        </p:txBody>
      </p:sp>
      <p:sp>
        <p:nvSpPr>
          <p:cNvPr id="1352" name="Google Shape;1352;p72"/>
          <p:cNvSpPr txBox="1"/>
          <p:nvPr/>
        </p:nvSpPr>
        <p:spPr>
          <a:xfrm>
            <a:off x="840342" y="4695219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1353" name="Google Shape;1353;p72"/>
          <p:cNvSpPr txBox="1"/>
          <p:nvPr/>
        </p:nvSpPr>
        <p:spPr>
          <a:xfrm>
            <a:off x="1297542" y="4695779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1354" name="Google Shape;1354;p72"/>
          <p:cNvSpPr txBox="1"/>
          <p:nvPr/>
        </p:nvSpPr>
        <p:spPr>
          <a:xfrm>
            <a:off x="1732039" y="4703891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1355" name="Google Shape;1355;p72"/>
          <p:cNvSpPr txBox="1"/>
          <p:nvPr/>
        </p:nvSpPr>
        <p:spPr>
          <a:xfrm>
            <a:off x="2257875" y="4711455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1356" name="Google Shape;1356;p72"/>
          <p:cNvSpPr txBox="1"/>
          <p:nvPr/>
        </p:nvSpPr>
        <p:spPr>
          <a:xfrm>
            <a:off x="2737767" y="4719019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1357" name="Google Shape;1357;p72"/>
          <p:cNvSpPr txBox="1"/>
          <p:nvPr/>
        </p:nvSpPr>
        <p:spPr>
          <a:xfrm>
            <a:off x="3172275" y="4719579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1358" name="Google Shape;1358;p72"/>
          <p:cNvSpPr txBox="1"/>
          <p:nvPr/>
        </p:nvSpPr>
        <p:spPr>
          <a:xfrm>
            <a:off x="1151850" y="1577975"/>
            <a:ext cx="3639900" cy="13482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Tree2&lt;Key&gt;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Key[] keys;</a:t>
            </a:r>
            <a:endParaRPr i="1" sz="19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lang="en" sz="1900">
                <a:solidFill>
                  <a:srgbClr val="208920"/>
                </a:solidFill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[] parents;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359" name="Google Shape;1359;p72"/>
          <p:cNvSpPr/>
          <p:nvPr/>
        </p:nvSpPr>
        <p:spPr>
          <a:xfrm>
            <a:off x="8128081" y="963825"/>
            <a:ext cx="4878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0" name="Google Shape;1360;p72"/>
          <p:cNvCxnSpPr>
            <a:stCxn id="1361" idx="0"/>
            <a:endCxn id="1359" idx="5"/>
          </p:cNvCxnSpPr>
          <p:nvPr/>
        </p:nvCxnSpPr>
        <p:spPr>
          <a:xfrm rot="10800000">
            <a:off x="8544554" y="1211300"/>
            <a:ext cx="3084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61" name="Google Shape;1361;p72"/>
          <p:cNvSpPr/>
          <p:nvPr/>
        </p:nvSpPr>
        <p:spPr>
          <a:xfrm>
            <a:off x="8669204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z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2" name="Google Shape;1362;p72"/>
          <p:cNvSpPr/>
          <p:nvPr/>
        </p:nvSpPr>
        <p:spPr>
          <a:xfrm>
            <a:off x="7735688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3" name="Google Shape;1363;p72"/>
          <p:cNvSpPr/>
          <p:nvPr/>
        </p:nvSpPr>
        <p:spPr>
          <a:xfrm>
            <a:off x="8188227" y="1440283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364" name="Google Shape;1364;p72"/>
          <p:cNvCxnSpPr>
            <a:stCxn id="1359" idx="3"/>
            <a:endCxn id="1362" idx="0"/>
          </p:cNvCxnSpPr>
          <p:nvPr/>
        </p:nvCxnSpPr>
        <p:spPr>
          <a:xfrm flipH="1">
            <a:off x="7919318" y="1211441"/>
            <a:ext cx="2802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365" name="Google Shape;1365;p72"/>
          <p:cNvCxnSpPr>
            <a:stCxn id="1359" idx="4"/>
            <a:endCxn id="1363" idx="0"/>
          </p:cNvCxnSpPr>
          <p:nvPr/>
        </p:nvCxnSpPr>
        <p:spPr>
          <a:xfrm>
            <a:off x="8371981" y="1253925"/>
            <a:ext cx="0" cy="18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9" name="Shape 1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0" name="Google Shape;1370;p7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we Represent a Tree in Java? </a:t>
            </a:r>
            <a:endParaRPr/>
          </a:p>
        </p:txBody>
      </p:sp>
      <p:sp>
        <p:nvSpPr>
          <p:cNvPr id="1371" name="Google Shape;1371;p73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Approach 3: Store keys in an array. Don’t store structure anywhere.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 interpret array: Simply assume tree is complete.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Obviously only works for “complete” trees.</a:t>
            </a:r>
            <a:endParaRPr/>
          </a:p>
        </p:txBody>
      </p:sp>
      <p:sp>
        <p:nvSpPr>
          <p:cNvPr id="1372" name="Google Shape;1372;p73"/>
          <p:cNvSpPr/>
          <p:nvPr/>
        </p:nvSpPr>
        <p:spPr>
          <a:xfrm>
            <a:off x="7850135" y="1891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endParaRPr/>
          </a:p>
        </p:txBody>
      </p:sp>
      <p:sp>
        <p:nvSpPr>
          <p:cNvPr id="1373" name="Google Shape;1373;p73"/>
          <p:cNvSpPr/>
          <p:nvPr/>
        </p:nvSpPr>
        <p:spPr>
          <a:xfrm>
            <a:off x="8158732" y="1891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374" name="Google Shape;1374;p73"/>
          <p:cNvSpPr/>
          <p:nvPr/>
        </p:nvSpPr>
        <p:spPr>
          <a:xfrm>
            <a:off x="8467328" y="1891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sp>
        <p:nvSpPr>
          <p:cNvPr id="1375" name="Google Shape;1375;p73"/>
          <p:cNvSpPr/>
          <p:nvPr/>
        </p:nvSpPr>
        <p:spPr>
          <a:xfrm>
            <a:off x="8775925" y="1891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grpSp>
        <p:nvGrpSpPr>
          <p:cNvPr id="1376" name="Google Shape;1376;p73"/>
          <p:cNvGrpSpPr/>
          <p:nvPr/>
        </p:nvGrpSpPr>
        <p:grpSpPr>
          <a:xfrm>
            <a:off x="344200" y="3265725"/>
            <a:ext cx="3449425" cy="1525742"/>
            <a:chOff x="4866600" y="3068225"/>
            <a:chExt cx="3449425" cy="1525742"/>
          </a:xfrm>
        </p:grpSpPr>
        <p:grpSp>
          <p:nvGrpSpPr>
            <p:cNvPr id="1377" name="Google Shape;1377;p73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1378" name="Google Shape;1378;p73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e</a:t>
                </a:r>
                <a:endParaRPr/>
              </a:p>
            </p:txBody>
          </p:sp>
          <p:sp>
            <p:nvSpPr>
              <p:cNvPr id="1379" name="Google Shape;1379;p73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b</a:t>
                </a:r>
                <a:endParaRPr/>
              </a:p>
            </p:txBody>
          </p:sp>
          <p:sp>
            <p:nvSpPr>
              <p:cNvPr id="1380" name="Google Shape;1380;p73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g</a:t>
                </a:r>
                <a:endParaRPr/>
              </a:p>
            </p:txBody>
          </p:sp>
          <p:sp>
            <p:nvSpPr>
              <p:cNvPr id="1381" name="Google Shape;1381;p73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a</a:t>
                </a:r>
                <a:endParaRPr/>
              </a:p>
            </p:txBody>
          </p:sp>
          <p:sp>
            <p:nvSpPr>
              <p:cNvPr id="1382" name="Google Shape;1382;p73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d</a:t>
                </a:r>
                <a:endParaRPr/>
              </a:p>
            </p:txBody>
          </p:sp>
          <p:sp>
            <p:nvSpPr>
              <p:cNvPr id="1383" name="Google Shape;1383;p73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f</a:t>
                </a:r>
                <a:endParaRPr/>
              </a:p>
            </p:txBody>
          </p:sp>
          <p:sp>
            <p:nvSpPr>
              <p:cNvPr id="1384" name="Google Shape;1384;p73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j</a:t>
                </a:r>
                <a:endParaRPr/>
              </a:p>
            </p:txBody>
          </p:sp>
          <p:cxnSp>
            <p:nvCxnSpPr>
              <p:cNvPr id="1385" name="Google Shape;1385;p73"/>
              <p:cNvCxnSpPr>
                <a:stCxn id="1379" idx="0"/>
                <a:endCxn id="1378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6" name="Google Shape;1386;p73"/>
              <p:cNvCxnSpPr>
                <a:stCxn id="1380" idx="0"/>
                <a:endCxn id="1378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7" name="Google Shape;1387;p73"/>
              <p:cNvCxnSpPr>
                <a:stCxn id="1381" idx="0"/>
                <a:endCxn id="1379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8" name="Google Shape;1388;p73"/>
              <p:cNvCxnSpPr>
                <a:stCxn id="1379" idx="2"/>
                <a:endCxn id="1382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89" name="Google Shape;1389;p73"/>
              <p:cNvCxnSpPr>
                <a:stCxn id="1380" idx="2"/>
                <a:endCxn id="1383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0" name="Google Shape;1390;p73"/>
              <p:cNvCxnSpPr>
                <a:stCxn id="1380" idx="2"/>
                <a:endCxn id="1384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391" name="Google Shape;1391;p73"/>
            <p:cNvGrpSpPr/>
            <p:nvPr/>
          </p:nvGrpSpPr>
          <p:grpSpPr>
            <a:xfrm>
              <a:off x="6802600" y="3553749"/>
              <a:ext cx="1513425" cy="1040218"/>
              <a:chOff x="5860100" y="3678825"/>
              <a:chExt cx="1513425" cy="1040218"/>
            </a:xfrm>
          </p:grpSpPr>
          <p:sp>
            <p:nvSpPr>
              <p:cNvPr id="1392" name="Google Shape;1392;p73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v</a:t>
                </a:r>
                <a:endParaRPr/>
              </a:p>
            </p:txBody>
          </p:sp>
          <p:sp>
            <p:nvSpPr>
              <p:cNvPr id="1393" name="Google Shape;1393;p73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p</a:t>
                </a:r>
                <a:endParaRPr/>
              </a:p>
            </p:txBody>
          </p:sp>
          <p:sp>
            <p:nvSpPr>
              <p:cNvPr id="1394" name="Google Shape;1394;p73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y</a:t>
                </a:r>
                <a:endParaRPr/>
              </a:p>
            </p:txBody>
          </p:sp>
          <p:sp>
            <p:nvSpPr>
              <p:cNvPr id="1395" name="Google Shape;1395;p73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m</a:t>
                </a:r>
                <a:endParaRPr/>
              </a:p>
            </p:txBody>
          </p:sp>
          <p:sp>
            <p:nvSpPr>
              <p:cNvPr id="1396" name="Google Shape;1396;p73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r</a:t>
                </a:r>
                <a:endParaRPr/>
              </a:p>
            </p:txBody>
          </p:sp>
          <p:sp>
            <p:nvSpPr>
              <p:cNvPr id="1397" name="Google Shape;1397;p73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x</a:t>
                </a:r>
                <a:endParaRPr/>
              </a:p>
            </p:txBody>
          </p:sp>
          <p:cxnSp>
            <p:nvCxnSpPr>
              <p:cNvPr id="1398" name="Google Shape;1398;p73"/>
              <p:cNvCxnSpPr>
                <a:stCxn id="1393" idx="0"/>
                <a:endCxn id="1392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9" name="Google Shape;1399;p73"/>
              <p:cNvCxnSpPr>
                <a:stCxn id="1394" idx="0"/>
                <a:endCxn id="1392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0" name="Google Shape;1400;p73"/>
              <p:cNvCxnSpPr>
                <a:stCxn id="1395" idx="0"/>
                <a:endCxn id="1393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1" name="Google Shape;1401;p73"/>
              <p:cNvCxnSpPr>
                <a:stCxn id="1393" idx="2"/>
                <a:endCxn id="1396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02" name="Google Shape;1402;p73"/>
              <p:cNvCxnSpPr>
                <a:stCxn id="1394" idx="2"/>
                <a:endCxn id="1397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403" name="Google Shape;1403;p73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k</a:t>
              </a:r>
              <a:endParaRPr/>
            </a:p>
          </p:txBody>
        </p:sp>
        <p:cxnSp>
          <p:nvCxnSpPr>
            <p:cNvPr id="1404" name="Google Shape;1404;p73"/>
            <p:cNvCxnSpPr>
              <a:stCxn id="1403" idx="2"/>
              <a:endCxn id="1378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5" name="Google Shape;1405;p73"/>
            <p:cNvCxnSpPr>
              <a:stCxn id="1403" idx="2"/>
              <a:endCxn id="1392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06" name="Google Shape;1406;p73"/>
          <p:cNvSpPr txBox="1"/>
          <p:nvPr/>
        </p:nvSpPr>
        <p:spPr>
          <a:xfrm>
            <a:off x="1766605" y="3190319"/>
            <a:ext cx="461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407" name="Google Shape;1407;p73"/>
          <p:cNvSpPr txBox="1"/>
          <p:nvPr/>
        </p:nvSpPr>
        <p:spPr>
          <a:xfrm>
            <a:off x="814676" y="3690127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408" name="Google Shape;1408;p73"/>
          <p:cNvSpPr txBox="1"/>
          <p:nvPr/>
        </p:nvSpPr>
        <p:spPr>
          <a:xfrm>
            <a:off x="2745148" y="3699930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409" name="Google Shape;1409;p73"/>
          <p:cNvSpPr txBox="1"/>
          <p:nvPr/>
        </p:nvSpPr>
        <p:spPr>
          <a:xfrm>
            <a:off x="344201" y="4062927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410" name="Google Shape;1410;p73"/>
          <p:cNvSpPr txBox="1"/>
          <p:nvPr/>
        </p:nvSpPr>
        <p:spPr>
          <a:xfrm>
            <a:off x="1289417" y="4062927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411" name="Google Shape;1411;p73"/>
          <p:cNvSpPr txBox="1"/>
          <p:nvPr/>
        </p:nvSpPr>
        <p:spPr>
          <a:xfrm>
            <a:off x="2310834" y="4070491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412" name="Google Shape;1412;p73"/>
          <p:cNvSpPr txBox="1"/>
          <p:nvPr/>
        </p:nvSpPr>
        <p:spPr>
          <a:xfrm>
            <a:off x="3210106" y="4070491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413" name="Google Shape;1413;p73"/>
          <p:cNvSpPr txBox="1"/>
          <p:nvPr/>
        </p:nvSpPr>
        <p:spPr>
          <a:xfrm>
            <a:off x="78342" y="4466619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1414" name="Google Shape;1414;p73"/>
          <p:cNvSpPr txBox="1"/>
          <p:nvPr/>
        </p:nvSpPr>
        <p:spPr>
          <a:xfrm>
            <a:off x="6482550" y="1841250"/>
            <a:ext cx="1367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Key[] keys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5" name="Google Shape;1415;p73"/>
          <p:cNvSpPr/>
          <p:nvPr/>
        </p:nvSpPr>
        <p:spPr>
          <a:xfrm>
            <a:off x="43422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</a:t>
            </a:r>
            <a:endParaRPr/>
          </a:p>
        </p:txBody>
      </p:sp>
      <p:sp>
        <p:nvSpPr>
          <p:cNvPr id="1416" name="Google Shape;1416;p73"/>
          <p:cNvSpPr/>
          <p:nvPr/>
        </p:nvSpPr>
        <p:spPr>
          <a:xfrm>
            <a:off x="46508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1417" name="Google Shape;1417;p73"/>
          <p:cNvSpPr/>
          <p:nvPr/>
        </p:nvSpPr>
        <p:spPr>
          <a:xfrm>
            <a:off x="4959416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418" name="Google Shape;1418;p73"/>
          <p:cNvSpPr/>
          <p:nvPr/>
        </p:nvSpPr>
        <p:spPr>
          <a:xfrm>
            <a:off x="526801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419" name="Google Shape;1419;p73"/>
          <p:cNvSpPr/>
          <p:nvPr/>
        </p:nvSpPr>
        <p:spPr>
          <a:xfrm>
            <a:off x="55766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sp>
        <p:nvSpPr>
          <p:cNvPr id="1420" name="Google Shape;1420;p73"/>
          <p:cNvSpPr/>
          <p:nvPr/>
        </p:nvSpPr>
        <p:spPr>
          <a:xfrm>
            <a:off x="58852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</p:txBody>
      </p:sp>
      <p:sp>
        <p:nvSpPr>
          <p:cNvPr id="1421" name="Google Shape;1421;p73"/>
          <p:cNvSpPr/>
          <p:nvPr/>
        </p:nvSpPr>
        <p:spPr>
          <a:xfrm>
            <a:off x="6193816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sp>
        <p:nvSpPr>
          <p:cNvPr id="1422" name="Google Shape;1422;p73"/>
          <p:cNvSpPr/>
          <p:nvPr/>
        </p:nvSpPr>
        <p:spPr>
          <a:xfrm>
            <a:off x="650241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423" name="Google Shape;1423;p73"/>
          <p:cNvSpPr/>
          <p:nvPr/>
        </p:nvSpPr>
        <p:spPr>
          <a:xfrm>
            <a:off x="68110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1424" name="Google Shape;1424;p73"/>
          <p:cNvSpPr/>
          <p:nvPr/>
        </p:nvSpPr>
        <p:spPr>
          <a:xfrm>
            <a:off x="71196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sp>
        <p:nvSpPr>
          <p:cNvPr id="1425" name="Google Shape;1425;p73"/>
          <p:cNvSpPr/>
          <p:nvPr/>
        </p:nvSpPr>
        <p:spPr>
          <a:xfrm>
            <a:off x="7428216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  <p:sp>
        <p:nvSpPr>
          <p:cNvPr id="1426" name="Google Shape;1426;p73"/>
          <p:cNvSpPr/>
          <p:nvPr/>
        </p:nvSpPr>
        <p:spPr>
          <a:xfrm>
            <a:off x="773681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sp>
        <p:nvSpPr>
          <p:cNvPr id="1427" name="Google Shape;1427;p73"/>
          <p:cNvSpPr/>
          <p:nvPr/>
        </p:nvSpPr>
        <p:spPr>
          <a:xfrm>
            <a:off x="80454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sp>
        <p:nvSpPr>
          <p:cNvPr id="1428" name="Google Shape;1428;p73"/>
          <p:cNvSpPr/>
          <p:nvPr/>
        </p:nvSpPr>
        <p:spPr>
          <a:xfrm>
            <a:off x="83540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429" name="Google Shape;1429;p73"/>
          <p:cNvSpPr txBox="1"/>
          <p:nvPr/>
        </p:nvSpPr>
        <p:spPr>
          <a:xfrm>
            <a:off x="4285125" y="3036358"/>
            <a:ext cx="1367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Key[] keys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0" name="Google Shape;1430;p73"/>
          <p:cNvSpPr txBox="1"/>
          <p:nvPr/>
        </p:nvSpPr>
        <p:spPr>
          <a:xfrm>
            <a:off x="4391067" y="3643300"/>
            <a:ext cx="1516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0  1  2  3  4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1" name="Google Shape;1431;p73"/>
          <p:cNvSpPr txBox="1"/>
          <p:nvPr/>
        </p:nvSpPr>
        <p:spPr>
          <a:xfrm>
            <a:off x="5921870" y="3628172"/>
            <a:ext cx="30000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5  6  7  8  9  10 11 12 13 </a:t>
            </a:r>
            <a:endParaRPr/>
          </a:p>
        </p:txBody>
      </p:sp>
      <p:sp>
        <p:nvSpPr>
          <p:cNvPr id="1432" name="Google Shape;1432;p73"/>
          <p:cNvSpPr txBox="1"/>
          <p:nvPr/>
        </p:nvSpPr>
        <p:spPr>
          <a:xfrm>
            <a:off x="840342" y="4695219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1433" name="Google Shape;1433;p73"/>
          <p:cNvSpPr txBox="1"/>
          <p:nvPr/>
        </p:nvSpPr>
        <p:spPr>
          <a:xfrm>
            <a:off x="1297542" y="4695779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1434" name="Google Shape;1434;p73"/>
          <p:cNvSpPr txBox="1"/>
          <p:nvPr/>
        </p:nvSpPr>
        <p:spPr>
          <a:xfrm>
            <a:off x="1732039" y="4703891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1435" name="Google Shape;1435;p73"/>
          <p:cNvSpPr txBox="1"/>
          <p:nvPr/>
        </p:nvSpPr>
        <p:spPr>
          <a:xfrm>
            <a:off x="2257875" y="4711455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1436" name="Google Shape;1436;p73"/>
          <p:cNvSpPr txBox="1"/>
          <p:nvPr/>
        </p:nvSpPr>
        <p:spPr>
          <a:xfrm>
            <a:off x="2737767" y="4719019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1437" name="Google Shape;1437;p73"/>
          <p:cNvSpPr txBox="1"/>
          <p:nvPr/>
        </p:nvSpPr>
        <p:spPr>
          <a:xfrm>
            <a:off x="3172275" y="4719579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1438" name="Google Shape;1438;p73"/>
          <p:cNvSpPr txBox="1"/>
          <p:nvPr/>
        </p:nvSpPr>
        <p:spPr>
          <a:xfrm>
            <a:off x="7883475" y="2121836"/>
            <a:ext cx="12012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0  1  2  3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39" name="Google Shape;1439;p73"/>
          <p:cNvSpPr txBox="1"/>
          <p:nvPr/>
        </p:nvSpPr>
        <p:spPr>
          <a:xfrm>
            <a:off x="1151850" y="1882775"/>
            <a:ext cx="3639900" cy="1058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Tree3&lt;Key&gt;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Key[] keys;</a:t>
            </a:r>
            <a:endParaRPr i="1" sz="19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440" name="Google Shape;1440;p73"/>
          <p:cNvSpPr/>
          <p:nvPr/>
        </p:nvSpPr>
        <p:spPr>
          <a:xfrm>
            <a:off x="8128081" y="963825"/>
            <a:ext cx="4878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1" name="Google Shape;1441;p73"/>
          <p:cNvCxnSpPr>
            <a:stCxn id="1442" idx="0"/>
            <a:endCxn id="1440" idx="5"/>
          </p:cNvCxnSpPr>
          <p:nvPr/>
        </p:nvCxnSpPr>
        <p:spPr>
          <a:xfrm rot="10800000">
            <a:off x="8544554" y="1211300"/>
            <a:ext cx="3084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42" name="Google Shape;1442;p73"/>
          <p:cNvSpPr/>
          <p:nvPr/>
        </p:nvSpPr>
        <p:spPr>
          <a:xfrm>
            <a:off x="8669204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z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73"/>
          <p:cNvSpPr/>
          <p:nvPr/>
        </p:nvSpPr>
        <p:spPr>
          <a:xfrm>
            <a:off x="7735688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73"/>
          <p:cNvSpPr/>
          <p:nvPr/>
        </p:nvSpPr>
        <p:spPr>
          <a:xfrm>
            <a:off x="8188227" y="1440283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45" name="Google Shape;1445;p73"/>
          <p:cNvCxnSpPr>
            <a:stCxn id="1440" idx="3"/>
            <a:endCxn id="1443" idx="0"/>
          </p:cNvCxnSpPr>
          <p:nvPr/>
        </p:nvCxnSpPr>
        <p:spPr>
          <a:xfrm flipH="1">
            <a:off x="7919318" y="1211441"/>
            <a:ext cx="2802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446" name="Google Shape;1446;p73"/>
          <p:cNvCxnSpPr>
            <a:stCxn id="1440" idx="4"/>
            <a:endCxn id="1444" idx="0"/>
          </p:cNvCxnSpPr>
          <p:nvPr/>
        </p:nvCxnSpPr>
        <p:spPr>
          <a:xfrm>
            <a:off x="8371981" y="1253925"/>
            <a:ext cx="0" cy="18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1450" name="Shape 1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1" name="Google Shape;1451;p7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Deep Look at Approach 3</a:t>
            </a:r>
            <a:endParaRPr/>
          </a:p>
        </p:txBody>
      </p:sp>
      <p:sp>
        <p:nvSpPr>
          <p:cNvPr id="1452" name="Google Shape;1452;p74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Challenge: Write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parent(k)</a:t>
            </a:r>
            <a:r>
              <a:rPr lang="en"/>
              <a:t> method for approach 3.</a:t>
            </a:r>
            <a:endParaRPr/>
          </a:p>
        </p:txBody>
      </p:sp>
      <p:sp>
        <p:nvSpPr>
          <p:cNvPr id="1453" name="Google Shape;1453;p74"/>
          <p:cNvSpPr/>
          <p:nvPr/>
        </p:nvSpPr>
        <p:spPr>
          <a:xfrm>
            <a:off x="7850135" y="1891352"/>
            <a:ext cx="308700" cy="2901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endParaRPr/>
          </a:p>
        </p:txBody>
      </p:sp>
      <p:sp>
        <p:nvSpPr>
          <p:cNvPr id="1454" name="Google Shape;1454;p74"/>
          <p:cNvSpPr/>
          <p:nvPr/>
        </p:nvSpPr>
        <p:spPr>
          <a:xfrm>
            <a:off x="8158732" y="1891352"/>
            <a:ext cx="308700" cy="2901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455" name="Google Shape;1455;p74"/>
          <p:cNvSpPr/>
          <p:nvPr/>
        </p:nvSpPr>
        <p:spPr>
          <a:xfrm>
            <a:off x="8467328" y="1891352"/>
            <a:ext cx="308700" cy="2901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sp>
        <p:nvSpPr>
          <p:cNvPr id="1456" name="Google Shape;1456;p74"/>
          <p:cNvSpPr/>
          <p:nvPr/>
        </p:nvSpPr>
        <p:spPr>
          <a:xfrm>
            <a:off x="8775925" y="1891352"/>
            <a:ext cx="308700" cy="2901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grpSp>
        <p:nvGrpSpPr>
          <p:cNvPr id="1457" name="Google Shape;1457;p74"/>
          <p:cNvGrpSpPr/>
          <p:nvPr/>
        </p:nvGrpSpPr>
        <p:grpSpPr>
          <a:xfrm>
            <a:off x="344200" y="3265725"/>
            <a:ext cx="3449425" cy="1525742"/>
            <a:chOff x="4866600" y="3068225"/>
            <a:chExt cx="3449425" cy="1525742"/>
          </a:xfrm>
        </p:grpSpPr>
        <p:grpSp>
          <p:nvGrpSpPr>
            <p:cNvPr id="1458" name="Google Shape;1458;p74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1459" name="Google Shape;1459;p74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e</a:t>
                </a:r>
                <a:endParaRPr/>
              </a:p>
            </p:txBody>
          </p:sp>
          <p:sp>
            <p:nvSpPr>
              <p:cNvPr id="1460" name="Google Shape;1460;p74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b</a:t>
                </a:r>
                <a:endParaRPr/>
              </a:p>
            </p:txBody>
          </p:sp>
          <p:sp>
            <p:nvSpPr>
              <p:cNvPr id="1461" name="Google Shape;1461;p74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g</a:t>
                </a:r>
                <a:endParaRPr/>
              </a:p>
            </p:txBody>
          </p:sp>
          <p:sp>
            <p:nvSpPr>
              <p:cNvPr id="1462" name="Google Shape;1462;p74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a</a:t>
                </a:r>
                <a:endParaRPr/>
              </a:p>
            </p:txBody>
          </p:sp>
          <p:sp>
            <p:nvSpPr>
              <p:cNvPr id="1463" name="Google Shape;1463;p74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d</a:t>
                </a:r>
                <a:endParaRPr/>
              </a:p>
            </p:txBody>
          </p:sp>
          <p:sp>
            <p:nvSpPr>
              <p:cNvPr id="1464" name="Google Shape;1464;p74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f</a:t>
                </a:r>
                <a:endParaRPr/>
              </a:p>
            </p:txBody>
          </p:sp>
          <p:sp>
            <p:nvSpPr>
              <p:cNvPr id="1465" name="Google Shape;1465;p74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j</a:t>
                </a:r>
                <a:endParaRPr/>
              </a:p>
            </p:txBody>
          </p:sp>
          <p:cxnSp>
            <p:nvCxnSpPr>
              <p:cNvPr id="1466" name="Google Shape;1466;p74"/>
              <p:cNvCxnSpPr>
                <a:stCxn id="1460" idx="0"/>
                <a:endCxn id="1459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7" name="Google Shape;1467;p74"/>
              <p:cNvCxnSpPr>
                <a:stCxn id="1461" idx="0"/>
                <a:endCxn id="1459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8" name="Google Shape;1468;p74"/>
              <p:cNvCxnSpPr>
                <a:stCxn id="1462" idx="0"/>
                <a:endCxn id="1460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69" name="Google Shape;1469;p74"/>
              <p:cNvCxnSpPr>
                <a:stCxn id="1460" idx="2"/>
                <a:endCxn id="1463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0" name="Google Shape;1470;p74"/>
              <p:cNvCxnSpPr>
                <a:stCxn id="1461" idx="2"/>
                <a:endCxn id="1464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71" name="Google Shape;1471;p74"/>
              <p:cNvCxnSpPr>
                <a:stCxn id="1461" idx="2"/>
                <a:endCxn id="1465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472" name="Google Shape;1472;p74"/>
            <p:cNvGrpSpPr/>
            <p:nvPr/>
          </p:nvGrpSpPr>
          <p:grpSpPr>
            <a:xfrm>
              <a:off x="6802600" y="3553749"/>
              <a:ext cx="1513425" cy="1040218"/>
              <a:chOff x="5860100" y="3678825"/>
              <a:chExt cx="1513425" cy="1040218"/>
            </a:xfrm>
          </p:grpSpPr>
          <p:sp>
            <p:nvSpPr>
              <p:cNvPr id="1473" name="Google Shape;1473;p74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v</a:t>
                </a:r>
                <a:endParaRPr/>
              </a:p>
            </p:txBody>
          </p:sp>
          <p:sp>
            <p:nvSpPr>
              <p:cNvPr id="1474" name="Google Shape;1474;p74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p</a:t>
                </a:r>
                <a:endParaRPr/>
              </a:p>
            </p:txBody>
          </p:sp>
          <p:sp>
            <p:nvSpPr>
              <p:cNvPr id="1475" name="Google Shape;1475;p74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y</a:t>
                </a:r>
                <a:endParaRPr/>
              </a:p>
            </p:txBody>
          </p:sp>
          <p:sp>
            <p:nvSpPr>
              <p:cNvPr id="1476" name="Google Shape;1476;p74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m</a:t>
                </a:r>
                <a:endParaRPr/>
              </a:p>
            </p:txBody>
          </p:sp>
          <p:sp>
            <p:nvSpPr>
              <p:cNvPr id="1477" name="Google Shape;1477;p74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r</a:t>
                </a:r>
                <a:endParaRPr/>
              </a:p>
            </p:txBody>
          </p:sp>
          <p:sp>
            <p:nvSpPr>
              <p:cNvPr id="1478" name="Google Shape;1478;p74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x</a:t>
                </a:r>
                <a:endParaRPr/>
              </a:p>
            </p:txBody>
          </p:sp>
          <p:cxnSp>
            <p:nvCxnSpPr>
              <p:cNvPr id="1479" name="Google Shape;1479;p74"/>
              <p:cNvCxnSpPr>
                <a:stCxn id="1474" idx="0"/>
                <a:endCxn id="1473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0" name="Google Shape;1480;p74"/>
              <p:cNvCxnSpPr>
                <a:stCxn id="1475" idx="0"/>
                <a:endCxn id="1473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1" name="Google Shape;1481;p74"/>
              <p:cNvCxnSpPr>
                <a:stCxn id="1476" idx="0"/>
                <a:endCxn id="1474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2" name="Google Shape;1482;p74"/>
              <p:cNvCxnSpPr>
                <a:stCxn id="1474" idx="2"/>
                <a:endCxn id="1477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83" name="Google Shape;1483;p74"/>
              <p:cNvCxnSpPr>
                <a:stCxn id="1475" idx="2"/>
                <a:endCxn id="1478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484" name="Google Shape;1484;p74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k</a:t>
              </a:r>
              <a:endParaRPr/>
            </a:p>
          </p:txBody>
        </p:sp>
        <p:cxnSp>
          <p:nvCxnSpPr>
            <p:cNvPr id="1485" name="Google Shape;1485;p74"/>
            <p:cNvCxnSpPr>
              <a:stCxn id="1484" idx="2"/>
              <a:endCxn id="1459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6" name="Google Shape;1486;p74"/>
            <p:cNvCxnSpPr>
              <a:stCxn id="1484" idx="2"/>
              <a:endCxn id="1473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87" name="Google Shape;1487;p74"/>
          <p:cNvSpPr txBox="1"/>
          <p:nvPr/>
        </p:nvSpPr>
        <p:spPr>
          <a:xfrm>
            <a:off x="1766605" y="3190319"/>
            <a:ext cx="461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488" name="Google Shape;1488;p74"/>
          <p:cNvSpPr txBox="1"/>
          <p:nvPr/>
        </p:nvSpPr>
        <p:spPr>
          <a:xfrm>
            <a:off x="814676" y="3690127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489" name="Google Shape;1489;p74"/>
          <p:cNvSpPr txBox="1"/>
          <p:nvPr/>
        </p:nvSpPr>
        <p:spPr>
          <a:xfrm>
            <a:off x="2745148" y="3699930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490" name="Google Shape;1490;p74"/>
          <p:cNvSpPr txBox="1"/>
          <p:nvPr/>
        </p:nvSpPr>
        <p:spPr>
          <a:xfrm>
            <a:off x="344201" y="4062927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491" name="Google Shape;1491;p74"/>
          <p:cNvSpPr txBox="1"/>
          <p:nvPr/>
        </p:nvSpPr>
        <p:spPr>
          <a:xfrm>
            <a:off x="1289417" y="4062927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492" name="Google Shape;1492;p74"/>
          <p:cNvSpPr txBox="1"/>
          <p:nvPr/>
        </p:nvSpPr>
        <p:spPr>
          <a:xfrm>
            <a:off x="2310834" y="4070491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493" name="Google Shape;1493;p74"/>
          <p:cNvSpPr txBox="1"/>
          <p:nvPr/>
        </p:nvSpPr>
        <p:spPr>
          <a:xfrm>
            <a:off x="3210106" y="4070491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494" name="Google Shape;1494;p74"/>
          <p:cNvSpPr txBox="1"/>
          <p:nvPr/>
        </p:nvSpPr>
        <p:spPr>
          <a:xfrm>
            <a:off x="78342" y="4466619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1495" name="Google Shape;1495;p74"/>
          <p:cNvSpPr txBox="1"/>
          <p:nvPr/>
        </p:nvSpPr>
        <p:spPr>
          <a:xfrm>
            <a:off x="6482550" y="1841250"/>
            <a:ext cx="1367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Key[] keys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96" name="Google Shape;1496;p74"/>
          <p:cNvSpPr/>
          <p:nvPr/>
        </p:nvSpPr>
        <p:spPr>
          <a:xfrm>
            <a:off x="8128081" y="963825"/>
            <a:ext cx="487800" cy="2901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97" name="Google Shape;1497;p74"/>
          <p:cNvCxnSpPr>
            <a:stCxn id="1498" idx="0"/>
            <a:endCxn id="1496" idx="5"/>
          </p:cNvCxnSpPr>
          <p:nvPr/>
        </p:nvCxnSpPr>
        <p:spPr>
          <a:xfrm rot="10800000">
            <a:off x="8544554" y="1211300"/>
            <a:ext cx="3084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98" name="Google Shape;1498;p74"/>
          <p:cNvSpPr/>
          <p:nvPr/>
        </p:nvSpPr>
        <p:spPr>
          <a:xfrm>
            <a:off x="8669204" y="1438400"/>
            <a:ext cx="367500" cy="2901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z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9" name="Google Shape;1499;p74"/>
          <p:cNvSpPr/>
          <p:nvPr/>
        </p:nvSpPr>
        <p:spPr>
          <a:xfrm>
            <a:off x="7735688" y="1438400"/>
            <a:ext cx="367500" cy="2901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0" name="Google Shape;1500;p74"/>
          <p:cNvSpPr/>
          <p:nvPr/>
        </p:nvSpPr>
        <p:spPr>
          <a:xfrm>
            <a:off x="8188227" y="1440283"/>
            <a:ext cx="367500" cy="290100"/>
          </a:xfrm>
          <a:prstGeom prst="ellipse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01" name="Google Shape;1501;p74"/>
          <p:cNvCxnSpPr>
            <a:stCxn id="1496" idx="3"/>
            <a:endCxn id="1499" idx="0"/>
          </p:cNvCxnSpPr>
          <p:nvPr/>
        </p:nvCxnSpPr>
        <p:spPr>
          <a:xfrm flipH="1">
            <a:off x="7919318" y="1211441"/>
            <a:ext cx="2802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02" name="Google Shape;1502;p74"/>
          <p:cNvCxnSpPr>
            <a:stCxn id="1496" idx="4"/>
            <a:endCxn id="1500" idx="0"/>
          </p:cNvCxnSpPr>
          <p:nvPr/>
        </p:nvCxnSpPr>
        <p:spPr>
          <a:xfrm>
            <a:off x="8371981" y="1253925"/>
            <a:ext cx="0" cy="18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03" name="Google Shape;1503;p74"/>
          <p:cNvSpPr/>
          <p:nvPr/>
        </p:nvSpPr>
        <p:spPr>
          <a:xfrm>
            <a:off x="43422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</a:t>
            </a:r>
            <a:endParaRPr/>
          </a:p>
        </p:txBody>
      </p:sp>
      <p:sp>
        <p:nvSpPr>
          <p:cNvPr id="1504" name="Google Shape;1504;p74"/>
          <p:cNvSpPr/>
          <p:nvPr/>
        </p:nvSpPr>
        <p:spPr>
          <a:xfrm>
            <a:off x="46508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1505" name="Google Shape;1505;p74"/>
          <p:cNvSpPr/>
          <p:nvPr/>
        </p:nvSpPr>
        <p:spPr>
          <a:xfrm>
            <a:off x="4959416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506" name="Google Shape;1506;p74"/>
          <p:cNvSpPr/>
          <p:nvPr/>
        </p:nvSpPr>
        <p:spPr>
          <a:xfrm>
            <a:off x="526801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507" name="Google Shape;1507;p74"/>
          <p:cNvSpPr/>
          <p:nvPr/>
        </p:nvSpPr>
        <p:spPr>
          <a:xfrm>
            <a:off x="55766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sp>
        <p:nvSpPr>
          <p:cNvPr id="1508" name="Google Shape;1508;p74"/>
          <p:cNvSpPr/>
          <p:nvPr/>
        </p:nvSpPr>
        <p:spPr>
          <a:xfrm>
            <a:off x="58852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</p:txBody>
      </p:sp>
      <p:sp>
        <p:nvSpPr>
          <p:cNvPr id="1509" name="Google Shape;1509;p74"/>
          <p:cNvSpPr/>
          <p:nvPr/>
        </p:nvSpPr>
        <p:spPr>
          <a:xfrm>
            <a:off x="6193816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sp>
        <p:nvSpPr>
          <p:cNvPr id="1510" name="Google Shape;1510;p74"/>
          <p:cNvSpPr/>
          <p:nvPr/>
        </p:nvSpPr>
        <p:spPr>
          <a:xfrm>
            <a:off x="650241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511" name="Google Shape;1511;p74"/>
          <p:cNvSpPr/>
          <p:nvPr/>
        </p:nvSpPr>
        <p:spPr>
          <a:xfrm>
            <a:off x="68110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1512" name="Google Shape;1512;p74"/>
          <p:cNvSpPr/>
          <p:nvPr/>
        </p:nvSpPr>
        <p:spPr>
          <a:xfrm>
            <a:off x="71196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sp>
        <p:nvSpPr>
          <p:cNvPr id="1513" name="Google Shape;1513;p74"/>
          <p:cNvSpPr/>
          <p:nvPr/>
        </p:nvSpPr>
        <p:spPr>
          <a:xfrm>
            <a:off x="7428216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  <p:sp>
        <p:nvSpPr>
          <p:cNvPr id="1514" name="Google Shape;1514;p74"/>
          <p:cNvSpPr/>
          <p:nvPr/>
        </p:nvSpPr>
        <p:spPr>
          <a:xfrm>
            <a:off x="773681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sp>
        <p:nvSpPr>
          <p:cNvPr id="1515" name="Google Shape;1515;p74"/>
          <p:cNvSpPr/>
          <p:nvPr/>
        </p:nvSpPr>
        <p:spPr>
          <a:xfrm>
            <a:off x="80454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sp>
        <p:nvSpPr>
          <p:cNvPr id="1516" name="Google Shape;1516;p74"/>
          <p:cNvSpPr/>
          <p:nvPr/>
        </p:nvSpPr>
        <p:spPr>
          <a:xfrm>
            <a:off x="83540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517" name="Google Shape;1517;p74"/>
          <p:cNvSpPr txBox="1"/>
          <p:nvPr/>
        </p:nvSpPr>
        <p:spPr>
          <a:xfrm>
            <a:off x="4285125" y="3036358"/>
            <a:ext cx="1367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Key[] keys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8" name="Google Shape;1518;p74"/>
          <p:cNvSpPr txBox="1"/>
          <p:nvPr/>
        </p:nvSpPr>
        <p:spPr>
          <a:xfrm>
            <a:off x="4391067" y="3643300"/>
            <a:ext cx="1516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0  1  2  3  4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9" name="Google Shape;1519;p74"/>
          <p:cNvSpPr txBox="1"/>
          <p:nvPr/>
        </p:nvSpPr>
        <p:spPr>
          <a:xfrm>
            <a:off x="5921870" y="3628172"/>
            <a:ext cx="30000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5  6  7  8  9  10 11 12 13 </a:t>
            </a:r>
            <a:endParaRPr/>
          </a:p>
        </p:txBody>
      </p:sp>
      <p:sp>
        <p:nvSpPr>
          <p:cNvPr id="1520" name="Google Shape;1520;p74"/>
          <p:cNvSpPr txBox="1"/>
          <p:nvPr/>
        </p:nvSpPr>
        <p:spPr>
          <a:xfrm>
            <a:off x="840342" y="4695219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1521" name="Google Shape;1521;p74"/>
          <p:cNvSpPr txBox="1"/>
          <p:nvPr/>
        </p:nvSpPr>
        <p:spPr>
          <a:xfrm>
            <a:off x="1297542" y="4695779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1522" name="Google Shape;1522;p74"/>
          <p:cNvSpPr txBox="1"/>
          <p:nvPr/>
        </p:nvSpPr>
        <p:spPr>
          <a:xfrm>
            <a:off x="1732039" y="4703891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1523" name="Google Shape;1523;p74"/>
          <p:cNvSpPr txBox="1"/>
          <p:nvPr/>
        </p:nvSpPr>
        <p:spPr>
          <a:xfrm>
            <a:off x="2257875" y="4711455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1524" name="Google Shape;1524;p74"/>
          <p:cNvSpPr txBox="1"/>
          <p:nvPr/>
        </p:nvSpPr>
        <p:spPr>
          <a:xfrm>
            <a:off x="2737767" y="4719019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1525" name="Google Shape;1525;p74"/>
          <p:cNvSpPr txBox="1"/>
          <p:nvPr/>
        </p:nvSpPr>
        <p:spPr>
          <a:xfrm>
            <a:off x="3172275" y="4719579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1526" name="Google Shape;1526;p74"/>
          <p:cNvSpPr txBox="1"/>
          <p:nvPr/>
        </p:nvSpPr>
        <p:spPr>
          <a:xfrm>
            <a:off x="7883475" y="2121836"/>
            <a:ext cx="12012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0  1  2  3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27" name="Google Shape;1527;p74"/>
          <p:cNvSpPr txBox="1"/>
          <p:nvPr/>
        </p:nvSpPr>
        <p:spPr>
          <a:xfrm>
            <a:off x="4793400" y="4016050"/>
            <a:ext cx="3639900" cy="1058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Tree3&lt;Key&gt;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Key[] keys;</a:t>
            </a:r>
            <a:endParaRPr i="1" sz="19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528" name="Google Shape;1528;p74"/>
          <p:cNvSpPr txBox="1"/>
          <p:nvPr/>
        </p:nvSpPr>
        <p:spPr>
          <a:xfrm>
            <a:off x="284050" y="1116681"/>
            <a:ext cx="5936400" cy="195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swim(int k)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f (keys[parent(k)] ≻ keys[k])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swap(k, parent(k));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swim(parent(k));              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2" name="Shape 1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3" name="Google Shape;1533;p7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Deep Look at Approach 3</a:t>
            </a:r>
            <a:endParaRPr/>
          </a:p>
        </p:txBody>
      </p:sp>
      <p:sp>
        <p:nvSpPr>
          <p:cNvPr id="1534" name="Google Shape;1534;p75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Challenge: Write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parent(k)</a:t>
            </a:r>
            <a:r>
              <a:rPr lang="en"/>
              <a:t> method for approach 3.</a:t>
            </a:r>
            <a:endParaRPr/>
          </a:p>
        </p:txBody>
      </p:sp>
      <p:sp>
        <p:nvSpPr>
          <p:cNvPr id="1535" name="Google Shape;1535;p75"/>
          <p:cNvSpPr/>
          <p:nvPr/>
        </p:nvSpPr>
        <p:spPr>
          <a:xfrm>
            <a:off x="7850135" y="1891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endParaRPr/>
          </a:p>
        </p:txBody>
      </p:sp>
      <p:sp>
        <p:nvSpPr>
          <p:cNvPr id="1536" name="Google Shape;1536;p75"/>
          <p:cNvSpPr/>
          <p:nvPr/>
        </p:nvSpPr>
        <p:spPr>
          <a:xfrm>
            <a:off x="8158732" y="1891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537" name="Google Shape;1537;p75"/>
          <p:cNvSpPr/>
          <p:nvPr/>
        </p:nvSpPr>
        <p:spPr>
          <a:xfrm>
            <a:off x="8467328" y="1891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sp>
        <p:nvSpPr>
          <p:cNvPr id="1538" name="Google Shape;1538;p75"/>
          <p:cNvSpPr/>
          <p:nvPr/>
        </p:nvSpPr>
        <p:spPr>
          <a:xfrm>
            <a:off x="8775925" y="1891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grpSp>
        <p:nvGrpSpPr>
          <p:cNvPr id="1539" name="Google Shape;1539;p75"/>
          <p:cNvGrpSpPr/>
          <p:nvPr/>
        </p:nvGrpSpPr>
        <p:grpSpPr>
          <a:xfrm>
            <a:off x="344200" y="3265725"/>
            <a:ext cx="3449425" cy="1525742"/>
            <a:chOff x="4866600" y="3068225"/>
            <a:chExt cx="3449425" cy="1525742"/>
          </a:xfrm>
        </p:grpSpPr>
        <p:grpSp>
          <p:nvGrpSpPr>
            <p:cNvPr id="1540" name="Google Shape;1540;p75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1541" name="Google Shape;1541;p75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e</a:t>
                </a:r>
                <a:endParaRPr/>
              </a:p>
            </p:txBody>
          </p:sp>
          <p:sp>
            <p:nvSpPr>
              <p:cNvPr id="1542" name="Google Shape;1542;p75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b</a:t>
                </a:r>
                <a:endParaRPr/>
              </a:p>
            </p:txBody>
          </p:sp>
          <p:sp>
            <p:nvSpPr>
              <p:cNvPr id="1543" name="Google Shape;1543;p75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g</a:t>
                </a:r>
                <a:endParaRPr/>
              </a:p>
            </p:txBody>
          </p:sp>
          <p:sp>
            <p:nvSpPr>
              <p:cNvPr id="1544" name="Google Shape;1544;p75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a</a:t>
                </a:r>
                <a:endParaRPr/>
              </a:p>
            </p:txBody>
          </p:sp>
          <p:sp>
            <p:nvSpPr>
              <p:cNvPr id="1545" name="Google Shape;1545;p75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d</a:t>
                </a:r>
                <a:endParaRPr/>
              </a:p>
            </p:txBody>
          </p:sp>
          <p:sp>
            <p:nvSpPr>
              <p:cNvPr id="1546" name="Google Shape;1546;p75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f</a:t>
                </a:r>
                <a:endParaRPr/>
              </a:p>
            </p:txBody>
          </p:sp>
          <p:sp>
            <p:nvSpPr>
              <p:cNvPr id="1547" name="Google Shape;1547;p75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j</a:t>
                </a:r>
                <a:endParaRPr/>
              </a:p>
            </p:txBody>
          </p:sp>
          <p:cxnSp>
            <p:nvCxnSpPr>
              <p:cNvPr id="1548" name="Google Shape;1548;p75"/>
              <p:cNvCxnSpPr>
                <a:stCxn id="1542" idx="0"/>
                <a:endCxn id="1541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49" name="Google Shape;1549;p75"/>
              <p:cNvCxnSpPr>
                <a:stCxn id="1543" idx="0"/>
                <a:endCxn id="1541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0" name="Google Shape;1550;p75"/>
              <p:cNvCxnSpPr>
                <a:stCxn id="1544" idx="0"/>
                <a:endCxn id="1542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1" name="Google Shape;1551;p75"/>
              <p:cNvCxnSpPr>
                <a:stCxn id="1542" idx="2"/>
                <a:endCxn id="1545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2" name="Google Shape;1552;p75"/>
              <p:cNvCxnSpPr>
                <a:stCxn id="1543" idx="2"/>
                <a:endCxn id="1546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53" name="Google Shape;1553;p75"/>
              <p:cNvCxnSpPr>
                <a:stCxn id="1543" idx="2"/>
                <a:endCxn id="1547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554" name="Google Shape;1554;p75"/>
            <p:cNvGrpSpPr/>
            <p:nvPr/>
          </p:nvGrpSpPr>
          <p:grpSpPr>
            <a:xfrm>
              <a:off x="6802600" y="3553749"/>
              <a:ext cx="1513425" cy="1040218"/>
              <a:chOff x="5860100" y="3678825"/>
              <a:chExt cx="1513425" cy="1040218"/>
            </a:xfrm>
          </p:grpSpPr>
          <p:sp>
            <p:nvSpPr>
              <p:cNvPr id="1555" name="Google Shape;1555;p75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v</a:t>
                </a:r>
                <a:endParaRPr/>
              </a:p>
            </p:txBody>
          </p:sp>
          <p:sp>
            <p:nvSpPr>
              <p:cNvPr id="1556" name="Google Shape;1556;p75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p</a:t>
                </a:r>
                <a:endParaRPr/>
              </a:p>
            </p:txBody>
          </p:sp>
          <p:sp>
            <p:nvSpPr>
              <p:cNvPr id="1557" name="Google Shape;1557;p75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y</a:t>
                </a:r>
                <a:endParaRPr/>
              </a:p>
            </p:txBody>
          </p:sp>
          <p:sp>
            <p:nvSpPr>
              <p:cNvPr id="1558" name="Google Shape;1558;p75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m</a:t>
                </a:r>
                <a:endParaRPr/>
              </a:p>
            </p:txBody>
          </p:sp>
          <p:sp>
            <p:nvSpPr>
              <p:cNvPr id="1559" name="Google Shape;1559;p75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r</a:t>
                </a:r>
                <a:endParaRPr/>
              </a:p>
            </p:txBody>
          </p:sp>
          <p:sp>
            <p:nvSpPr>
              <p:cNvPr id="1560" name="Google Shape;1560;p75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x</a:t>
                </a:r>
                <a:endParaRPr/>
              </a:p>
            </p:txBody>
          </p:sp>
          <p:cxnSp>
            <p:nvCxnSpPr>
              <p:cNvPr id="1561" name="Google Shape;1561;p75"/>
              <p:cNvCxnSpPr>
                <a:stCxn id="1556" idx="0"/>
                <a:endCxn id="1555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2" name="Google Shape;1562;p75"/>
              <p:cNvCxnSpPr>
                <a:stCxn id="1557" idx="0"/>
                <a:endCxn id="1555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3" name="Google Shape;1563;p75"/>
              <p:cNvCxnSpPr>
                <a:stCxn id="1558" idx="0"/>
                <a:endCxn id="1556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4" name="Google Shape;1564;p75"/>
              <p:cNvCxnSpPr>
                <a:stCxn id="1556" idx="2"/>
                <a:endCxn id="1559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65" name="Google Shape;1565;p75"/>
              <p:cNvCxnSpPr>
                <a:stCxn id="1557" idx="2"/>
                <a:endCxn id="1560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566" name="Google Shape;1566;p75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k</a:t>
              </a:r>
              <a:endParaRPr/>
            </a:p>
          </p:txBody>
        </p:sp>
        <p:cxnSp>
          <p:nvCxnSpPr>
            <p:cNvPr id="1567" name="Google Shape;1567;p75"/>
            <p:cNvCxnSpPr>
              <a:stCxn id="1566" idx="2"/>
              <a:endCxn id="1541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8" name="Google Shape;1568;p75"/>
            <p:cNvCxnSpPr>
              <a:stCxn id="1566" idx="2"/>
              <a:endCxn id="1555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569" name="Google Shape;1569;p75"/>
          <p:cNvSpPr txBox="1"/>
          <p:nvPr/>
        </p:nvSpPr>
        <p:spPr>
          <a:xfrm>
            <a:off x="1766605" y="3190319"/>
            <a:ext cx="461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</a:t>
            </a:r>
            <a:endParaRPr/>
          </a:p>
        </p:txBody>
      </p:sp>
      <p:sp>
        <p:nvSpPr>
          <p:cNvPr id="1570" name="Google Shape;1570;p75"/>
          <p:cNvSpPr txBox="1"/>
          <p:nvPr/>
        </p:nvSpPr>
        <p:spPr>
          <a:xfrm>
            <a:off x="814676" y="3690127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571" name="Google Shape;1571;p75"/>
          <p:cNvSpPr txBox="1"/>
          <p:nvPr/>
        </p:nvSpPr>
        <p:spPr>
          <a:xfrm>
            <a:off x="2745148" y="3699930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572" name="Google Shape;1572;p75"/>
          <p:cNvSpPr txBox="1"/>
          <p:nvPr/>
        </p:nvSpPr>
        <p:spPr>
          <a:xfrm>
            <a:off x="344201" y="4062927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573" name="Google Shape;1573;p75"/>
          <p:cNvSpPr txBox="1"/>
          <p:nvPr/>
        </p:nvSpPr>
        <p:spPr>
          <a:xfrm>
            <a:off x="1289417" y="4062927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574" name="Google Shape;1574;p75"/>
          <p:cNvSpPr txBox="1"/>
          <p:nvPr/>
        </p:nvSpPr>
        <p:spPr>
          <a:xfrm>
            <a:off x="2310834" y="4070491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575" name="Google Shape;1575;p75"/>
          <p:cNvSpPr txBox="1"/>
          <p:nvPr/>
        </p:nvSpPr>
        <p:spPr>
          <a:xfrm>
            <a:off x="3210106" y="4070491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576" name="Google Shape;1576;p75"/>
          <p:cNvSpPr txBox="1"/>
          <p:nvPr/>
        </p:nvSpPr>
        <p:spPr>
          <a:xfrm>
            <a:off x="78342" y="4466619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1577" name="Google Shape;1577;p75"/>
          <p:cNvSpPr txBox="1"/>
          <p:nvPr/>
        </p:nvSpPr>
        <p:spPr>
          <a:xfrm>
            <a:off x="6482550" y="1841250"/>
            <a:ext cx="1367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Key[] keys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78" name="Google Shape;1578;p75"/>
          <p:cNvSpPr/>
          <p:nvPr/>
        </p:nvSpPr>
        <p:spPr>
          <a:xfrm>
            <a:off x="43422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</a:t>
            </a:r>
            <a:endParaRPr/>
          </a:p>
        </p:txBody>
      </p:sp>
      <p:sp>
        <p:nvSpPr>
          <p:cNvPr id="1579" name="Google Shape;1579;p75"/>
          <p:cNvSpPr/>
          <p:nvPr/>
        </p:nvSpPr>
        <p:spPr>
          <a:xfrm>
            <a:off x="46508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1580" name="Google Shape;1580;p75"/>
          <p:cNvSpPr/>
          <p:nvPr/>
        </p:nvSpPr>
        <p:spPr>
          <a:xfrm>
            <a:off x="4959416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581" name="Google Shape;1581;p75"/>
          <p:cNvSpPr/>
          <p:nvPr/>
        </p:nvSpPr>
        <p:spPr>
          <a:xfrm>
            <a:off x="526801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582" name="Google Shape;1582;p75"/>
          <p:cNvSpPr/>
          <p:nvPr/>
        </p:nvSpPr>
        <p:spPr>
          <a:xfrm>
            <a:off x="55766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sp>
        <p:nvSpPr>
          <p:cNvPr id="1583" name="Google Shape;1583;p75"/>
          <p:cNvSpPr/>
          <p:nvPr/>
        </p:nvSpPr>
        <p:spPr>
          <a:xfrm>
            <a:off x="58852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</p:txBody>
      </p:sp>
      <p:sp>
        <p:nvSpPr>
          <p:cNvPr id="1584" name="Google Shape;1584;p75"/>
          <p:cNvSpPr/>
          <p:nvPr/>
        </p:nvSpPr>
        <p:spPr>
          <a:xfrm>
            <a:off x="6193816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sp>
        <p:nvSpPr>
          <p:cNvPr id="1585" name="Google Shape;1585;p75"/>
          <p:cNvSpPr/>
          <p:nvPr/>
        </p:nvSpPr>
        <p:spPr>
          <a:xfrm>
            <a:off x="650241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586" name="Google Shape;1586;p75"/>
          <p:cNvSpPr/>
          <p:nvPr/>
        </p:nvSpPr>
        <p:spPr>
          <a:xfrm>
            <a:off x="68110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1587" name="Google Shape;1587;p75"/>
          <p:cNvSpPr/>
          <p:nvPr/>
        </p:nvSpPr>
        <p:spPr>
          <a:xfrm>
            <a:off x="71196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sp>
        <p:nvSpPr>
          <p:cNvPr id="1588" name="Google Shape;1588;p75"/>
          <p:cNvSpPr/>
          <p:nvPr/>
        </p:nvSpPr>
        <p:spPr>
          <a:xfrm>
            <a:off x="7428216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  <p:sp>
        <p:nvSpPr>
          <p:cNvPr id="1589" name="Google Shape;1589;p75"/>
          <p:cNvSpPr/>
          <p:nvPr/>
        </p:nvSpPr>
        <p:spPr>
          <a:xfrm>
            <a:off x="773681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sp>
        <p:nvSpPr>
          <p:cNvPr id="1590" name="Google Shape;1590;p75"/>
          <p:cNvSpPr/>
          <p:nvPr/>
        </p:nvSpPr>
        <p:spPr>
          <a:xfrm>
            <a:off x="80454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sp>
        <p:nvSpPr>
          <p:cNvPr id="1591" name="Google Shape;1591;p75"/>
          <p:cNvSpPr/>
          <p:nvPr/>
        </p:nvSpPr>
        <p:spPr>
          <a:xfrm>
            <a:off x="83540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592" name="Google Shape;1592;p75"/>
          <p:cNvSpPr txBox="1"/>
          <p:nvPr/>
        </p:nvSpPr>
        <p:spPr>
          <a:xfrm>
            <a:off x="4285125" y="3036358"/>
            <a:ext cx="1367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Key[] keys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3" name="Google Shape;1593;p75"/>
          <p:cNvSpPr txBox="1"/>
          <p:nvPr/>
        </p:nvSpPr>
        <p:spPr>
          <a:xfrm>
            <a:off x="4391067" y="3643300"/>
            <a:ext cx="1516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0  1  2  3  4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94" name="Google Shape;1594;p75"/>
          <p:cNvSpPr txBox="1"/>
          <p:nvPr/>
        </p:nvSpPr>
        <p:spPr>
          <a:xfrm>
            <a:off x="5921870" y="3628172"/>
            <a:ext cx="30000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5  6  7  8  9  10 11 12 13 </a:t>
            </a:r>
            <a:endParaRPr/>
          </a:p>
        </p:txBody>
      </p:sp>
      <p:sp>
        <p:nvSpPr>
          <p:cNvPr id="1595" name="Google Shape;1595;p75"/>
          <p:cNvSpPr txBox="1"/>
          <p:nvPr/>
        </p:nvSpPr>
        <p:spPr>
          <a:xfrm>
            <a:off x="840342" y="4695219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1596" name="Google Shape;1596;p75"/>
          <p:cNvSpPr txBox="1"/>
          <p:nvPr/>
        </p:nvSpPr>
        <p:spPr>
          <a:xfrm>
            <a:off x="1297542" y="4695779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1597" name="Google Shape;1597;p75"/>
          <p:cNvSpPr txBox="1"/>
          <p:nvPr/>
        </p:nvSpPr>
        <p:spPr>
          <a:xfrm>
            <a:off x="1732039" y="4703891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1598" name="Google Shape;1598;p75"/>
          <p:cNvSpPr txBox="1"/>
          <p:nvPr/>
        </p:nvSpPr>
        <p:spPr>
          <a:xfrm>
            <a:off x="2257875" y="4711455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1599" name="Google Shape;1599;p75"/>
          <p:cNvSpPr txBox="1"/>
          <p:nvPr/>
        </p:nvSpPr>
        <p:spPr>
          <a:xfrm>
            <a:off x="2737767" y="4719019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1600" name="Google Shape;1600;p75"/>
          <p:cNvSpPr txBox="1"/>
          <p:nvPr/>
        </p:nvSpPr>
        <p:spPr>
          <a:xfrm>
            <a:off x="3172275" y="4719579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1601" name="Google Shape;1601;p75"/>
          <p:cNvSpPr txBox="1"/>
          <p:nvPr/>
        </p:nvSpPr>
        <p:spPr>
          <a:xfrm>
            <a:off x="7883475" y="2121836"/>
            <a:ext cx="12012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0  1  2  3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02" name="Google Shape;1602;p75"/>
          <p:cNvSpPr txBox="1"/>
          <p:nvPr/>
        </p:nvSpPr>
        <p:spPr>
          <a:xfrm>
            <a:off x="4793400" y="4016050"/>
            <a:ext cx="3639900" cy="10584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class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Tree3&lt;Key&gt;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Key[] keys;</a:t>
            </a:r>
            <a:endParaRPr i="1" sz="19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...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603" name="Google Shape;1603;p75"/>
          <p:cNvSpPr txBox="1"/>
          <p:nvPr/>
        </p:nvSpPr>
        <p:spPr>
          <a:xfrm>
            <a:off x="284050" y="1116681"/>
            <a:ext cx="5936400" cy="19539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void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swim(int k)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if (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keys[parent(k)] ≻ keys[k]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swap(k, parent(k));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   swim(parent(k));              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}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604" name="Google Shape;1604;p75"/>
          <p:cNvSpPr txBox="1"/>
          <p:nvPr/>
        </p:nvSpPr>
        <p:spPr>
          <a:xfrm>
            <a:off x="2841200" y="2472713"/>
            <a:ext cx="3792600" cy="10833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int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parent(int k) {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eturn (k - 1) / 2;</a:t>
            </a:r>
            <a:endParaRPr sz="19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>
              <a:highlight>
                <a:srgbClr val="EFEFEF"/>
              </a:highlight>
            </a:endParaRPr>
          </a:p>
        </p:txBody>
      </p:sp>
      <p:sp>
        <p:nvSpPr>
          <p:cNvPr id="1605" name="Google Shape;1605;p75"/>
          <p:cNvSpPr/>
          <p:nvPr/>
        </p:nvSpPr>
        <p:spPr>
          <a:xfrm>
            <a:off x="8128081" y="963825"/>
            <a:ext cx="4878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6" name="Google Shape;1606;p75"/>
          <p:cNvCxnSpPr>
            <a:stCxn id="1607" idx="0"/>
            <a:endCxn id="1605" idx="5"/>
          </p:cNvCxnSpPr>
          <p:nvPr/>
        </p:nvCxnSpPr>
        <p:spPr>
          <a:xfrm rot="10800000">
            <a:off x="8544554" y="1211300"/>
            <a:ext cx="3084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07" name="Google Shape;1607;p75"/>
          <p:cNvSpPr/>
          <p:nvPr/>
        </p:nvSpPr>
        <p:spPr>
          <a:xfrm>
            <a:off x="8669204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z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8" name="Google Shape;1608;p75"/>
          <p:cNvSpPr/>
          <p:nvPr/>
        </p:nvSpPr>
        <p:spPr>
          <a:xfrm>
            <a:off x="7735688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9" name="Google Shape;1609;p75"/>
          <p:cNvSpPr/>
          <p:nvPr/>
        </p:nvSpPr>
        <p:spPr>
          <a:xfrm>
            <a:off x="8188227" y="1440283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0" name="Google Shape;1610;p75"/>
          <p:cNvCxnSpPr>
            <a:stCxn id="1605" idx="3"/>
            <a:endCxn id="1608" idx="0"/>
          </p:cNvCxnSpPr>
          <p:nvPr/>
        </p:nvCxnSpPr>
        <p:spPr>
          <a:xfrm flipH="1">
            <a:off x="7919318" y="1211441"/>
            <a:ext cx="2802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1" name="Google Shape;1611;p75"/>
          <p:cNvCxnSpPr>
            <a:stCxn id="1605" idx="4"/>
            <a:endCxn id="1609" idx="0"/>
          </p:cNvCxnSpPr>
          <p:nvPr/>
        </p:nvCxnSpPr>
        <p:spPr>
          <a:xfrm>
            <a:off x="8371981" y="1253925"/>
            <a:ext cx="0" cy="18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5" name="Shape 1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6" name="Google Shape;1616;p7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Tree Representations (Summary)</a:t>
            </a:r>
            <a:endParaRPr/>
          </a:p>
        </p:txBody>
      </p:sp>
      <p:grpSp>
        <p:nvGrpSpPr>
          <p:cNvPr id="1617" name="Google Shape;1617;p76"/>
          <p:cNvGrpSpPr/>
          <p:nvPr/>
        </p:nvGrpSpPr>
        <p:grpSpPr>
          <a:xfrm>
            <a:off x="5330528" y="1111464"/>
            <a:ext cx="3485773" cy="1623050"/>
            <a:chOff x="5482928" y="2102064"/>
            <a:chExt cx="3485773" cy="1623050"/>
          </a:xfrm>
        </p:grpSpPr>
        <p:sp>
          <p:nvSpPr>
            <p:cNvPr id="1618" name="Google Shape;1618;p76"/>
            <p:cNvSpPr/>
            <p:nvPr/>
          </p:nvSpPr>
          <p:spPr>
            <a:xfrm>
              <a:off x="6844432" y="2102064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</a:t>
              </a:r>
              <a:endParaRPr/>
            </a:p>
          </p:txBody>
        </p:sp>
        <p:sp>
          <p:nvSpPr>
            <p:cNvPr id="1619" name="Google Shape;1619;p76"/>
            <p:cNvSpPr/>
            <p:nvPr/>
          </p:nvSpPr>
          <p:spPr>
            <a:xfrm>
              <a:off x="6685458" y="26397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76"/>
            <p:cNvSpPr/>
            <p:nvPr/>
          </p:nvSpPr>
          <p:spPr>
            <a:xfrm>
              <a:off x="6994055" y="26397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76"/>
            <p:cNvSpPr/>
            <p:nvPr/>
          </p:nvSpPr>
          <p:spPr>
            <a:xfrm>
              <a:off x="7302652" y="26397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76"/>
            <p:cNvSpPr/>
            <p:nvPr/>
          </p:nvSpPr>
          <p:spPr>
            <a:xfrm>
              <a:off x="7153029" y="2102064"/>
              <a:ext cx="308700" cy="2901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23" name="Google Shape;1623;p76"/>
            <p:cNvCxnSpPr/>
            <p:nvPr/>
          </p:nvCxnSpPr>
          <p:spPr>
            <a:xfrm flipH="1">
              <a:off x="6972478" y="2263475"/>
              <a:ext cx="411600" cy="374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24" name="Google Shape;1624;p76"/>
            <p:cNvSpPr/>
            <p:nvPr/>
          </p:nvSpPr>
          <p:spPr>
            <a:xfrm>
              <a:off x="5482928" y="3154750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x</a:t>
              </a:r>
              <a:endParaRPr/>
            </a:p>
          </p:txBody>
        </p:sp>
        <p:sp>
          <p:nvSpPr>
            <p:cNvPr id="1625" name="Google Shape;1625;p76"/>
            <p:cNvSpPr/>
            <p:nvPr/>
          </p:nvSpPr>
          <p:spPr>
            <a:xfrm>
              <a:off x="5791525" y="3154750"/>
              <a:ext cx="308700" cy="2901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76"/>
            <p:cNvSpPr/>
            <p:nvPr/>
          </p:nvSpPr>
          <p:spPr>
            <a:xfrm>
              <a:off x="6933953" y="3154750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</a:t>
              </a:r>
              <a:endParaRPr/>
            </a:p>
          </p:txBody>
        </p:sp>
        <p:sp>
          <p:nvSpPr>
            <p:cNvPr id="1627" name="Google Shape;1627;p76"/>
            <p:cNvSpPr/>
            <p:nvPr/>
          </p:nvSpPr>
          <p:spPr>
            <a:xfrm>
              <a:off x="7242550" y="3154750"/>
              <a:ext cx="308700" cy="2901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28" name="Google Shape;1628;p76"/>
            <p:cNvCxnSpPr/>
            <p:nvPr/>
          </p:nvCxnSpPr>
          <p:spPr>
            <a:xfrm flipH="1">
              <a:off x="5952028" y="2864775"/>
              <a:ext cx="860400" cy="261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29" name="Google Shape;1629;p76"/>
            <p:cNvCxnSpPr/>
            <p:nvPr/>
          </p:nvCxnSpPr>
          <p:spPr>
            <a:xfrm>
              <a:off x="7167797" y="2827350"/>
              <a:ext cx="149700" cy="31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30" name="Google Shape;1630;p76"/>
            <p:cNvCxnSpPr/>
            <p:nvPr/>
          </p:nvCxnSpPr>
          <p:spPr>
            <a:xfrm>
              <a:off x="7496303" y="2787175"/>
              <a:ext cx="1223700" cy="3207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31" name="Google Shape;1631;p76"/>
            <p:cNvSpPr/>
            <p:nvPr/>
          </p:nvSpPr>
          <p:spPr>
            <a:xfrm>
              <a:off x="8660002" y="3151214"/>
              <a:ext cx="308700" cy="290100"/>
            </a:xfrm>
            <a:prstGeom prst="rect">
              <a:avLst/>
            </a:prstGeom>
            <a:solidFill>
              <a:srgbClr val="B1DD8B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76"/>
            <p:cNvSpPr/>
            <p:nvPr/>
          </p:nvSpPr>
          <p:spPr>
            <a:xfrm>
              <a:off x="8351405" y="3151214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z</a:t>
              </a:r>
              <a:endParaRPr/>
            </a:p>
          </p:txBody>
        </p:sp>
        <p:cxnSp>
          <p:nvCxnSpPr>
            <p:cNvPr id="1633" name="Google Shape;1633;p76"/>
            <p:cNvCxnSpPr/>
            <p:nvPr/>
          </p:nvCxnSpPr>
          <p:spPr>
            <a:xfrm flipH="1">
              <a:off x="5853864" y="3318014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34" name="Google Shape;1634;p76"/>
            <p:cNvCxnSpPr/>
            <p:nvPr/>
          </p:nvCxnSpPr>
          <p:spPr>
            <a:xfrm flipH="1">
              <a:off x="7325527" y="3299311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35" name="Google Shape;1635;p76"/>
            <p:cNvCxnSpPr/>
            <p:nvPr/>
          </p:nvCxnSpPr>
          <p:spPr>
            <a:xfrm flipH="1">
              <a:off x="8693577" y="3299311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grpSp>
        <p:nvGrpSpPr>
          <p:cNvPr id="1636" name="Google Shape;1636;p76"/>
          <p:cNvGrpSpPr/>
          <p:nvPr/>
        </p:nvGrpSpPr>
        <p:grpSpPr>
          <a:xfrm>
            <a:off x="242998" y="3268764"/>
            <a:ext cx="3394693" cy="1166250"/>
            <a:chOff x="3263873" y="3916464"/>
            <a:chExt cx="3394693" cy="1166250"/>
          </a:xfrm>
        </p:grpSpPr>
        <p:sp>
          <p:nvSpPr>
            <p:cNvPr id="1637" name="Google Shape;1637;p76"/>
            <p:cNvSpPr/>
            <p:nvPr/>
          </p:nvSpPr>
          <p:spPr>
            <a:xfrm>
              <a:off x="4013573" y="3916464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</a:t>
              </a:r>
              <a:endParaRPr/>
            </a:p>
          </p:txBody>
        </p:sp>
        <p:sp>
          <p:nvSpPr>
            <p:cNvPr id="1638" name="Google Shape;1638;p76"/>
            <p:cNvSpPr/>
            <p:nvPr/>
          </p:nvSpPr>
          <p:spPr>
            <a:xfrm>
              <a:off x="4322170" y="39164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76"/>
            <p:cNvSpPr/>
            <p:nvPr/>
          </p:nvSpPr>
          <p:spPr>
            <a:xfrm>
              <a:off x="4630766" y="39164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76"/>
            <p:cNvSpPr/>
            <p:nvPr/>
          </p:nvSpPr>
          <p:spPr>
            <a:xfrm>
              <a:off x="3263873" y="4572489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x</a:t>
              </a:r>
              <a:endParaRPr/>
            </a:p>
          </p:txBody>
        </p:sp>
        <p:sp>
          <p:nvSpPr>
            <p:cNvPr id="1641" name="Google Shape;1641;p76"/>
            <p:cNvSpPr/>
            <p:nvPr/>
          </p:nvSpPr>
          <p:spPr>
            <a:xfrm>
              <a:off x="3572470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76"/>
            <p:cNvSpPr/>
            <p:nvPr/>
          </p:nvSpPr>
          <p:spPr>
            <a:xfrm>
              <a:off x="3881066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76"/>
            <p:cNvSpPr/>
            <p:nvPr/>
          </p:nvSpPr>
          <p:spPr>
            <a:xfrm>
              <a:off x="4498273" y="4572489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</a:t>
              </a:r>
              <a:endParaRPr/>
            </a:p>
          </p:txBody>
        </p:sp>
        <p:sp>
          <p:nvSpPr>
            <p:cNvPr id="1644" name="Google Shape;1644;p76"/>
            <p:cNvSpPr/>
            <p:nvPr/>
          </p:nvSpPr>
          <p:spPr>
            <a:xfrm>
              <a:off x="4806870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76"/>
            <p:cNvSpPr/>
            <p:nvPr/>
          </p:nvSpPr>
          <p:spPr>
            <a:xfrm>
              <a:off x="5115466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76"/>
            <p:cNvSpPr/>
            <p:nvPr/>
          </p:nvSpPr>
          <p:spPr>
            <a:xfrm>
              <a:off x="5732673" y="4572489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z</a:t>
              </a:r>
              <a:endParaRPr/>
            </a:p>
          </p:txBody>
        </p:sp>
        <p:sp>
          <p:nvSpPr>
            <p:cNvPr id="1647" name="Google Shape;1647;p76"/>
            <p:cNvSpPr/>
            <p:nvPr/>
          </p:nvSpPr>
          <p:spPr>
            <a:xfrm>
              <a:off x="6041270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76"/>
            <p:cNvSpPr/>
            <p:nvPr/>
          </p:nvSpPr>
          <p:spPr>
            <a:xfrm>
              <a:off x="6349866" y="45724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49" name="Google Shape;1649;p76"/>
            <p:cNvCxnSpPr>
              <a:endCxn id="1641" idx="0"/>
            </p:cNvCxnSpPr>
            <p:nvPr/>
          </p:nvCxnSpPr>
          <p:spPr>
            <a:xfrm flipH="1">
              <a:off x="3726820" y="4041189"/>
              <a:ext cx="726000" cy="5313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50" name="Google Shape;1650;p76"/>
            <p:cNvCxnSpPr/>
            <p:nvPr/>
          </p:nvCxnSpPr>
          <p:spPr>
            <a:xfrm>
              <a:off x="4004050" y="4733100"/>
              <a:ext cx="5235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51" name="Google Shape;1651;p76"/>
            <p:cNvCxnSpPr/>
            <p:nvPr/>
          </p:nvCxnSpPr>
          <p:spPr>
            <a:xfrm>
              <a:off x="5294600" y="4733200"/>
              <a:ext cx="4116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52" name="Google Shape;1652;p76"/>
            <p:cNvCxnSpPr/>
            <p:nvPr/>
          </p:nvCxnSpPr>
          <p:spPr>
            <a:xfrm flipH="1">
              <a:off x="3639173" y="4675614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53" name="Google Shape;1653;p76"/>
            <p:cNvCxnSpPr/>
            <p:nvPr/>
          </p:nvCxnSpPr>
          <p:spPr>
            <a:xfrm flipH="1">
              <a:off x="4882236" y="4656911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54" name="Google Shape;1654;p76"/>
            <p:cNvCxnSpPr/>
            <p:nvPr/>
          </p:nvCxnSpPr>
          <p:spPr>
            <a:xfrm flipH="1">
              <a:off x="6097886" y="4656911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55" name="Google Shape;1655;p76"/>
            <p:cNvCxnSpPr/>
            <p:nvPr/>
          </p:nvCxnSpPr>
          <p:spPr>
            <a:xfrm flipH="1" rot="10800000">
              <a:off x="6368579" y="4601554"/>
              <a:ext cx="271200" cy="246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6" name="Google Shape;1656;p76"/>
            <p:cNvCxnSpPr/>
            <p:nvPr/>
          </p:nvCxnSpPr>
          <p:spPr>
            <a:xfrm flipH="1" rot="10800000">
              <a:off x="4649529" y="3938079"/>
              <a:ext cx="271200" cy="246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57" name="Google Shape;1657;p76"/>
          <p:cNvGrpSpPr/>
          <p:nvPr/>
        </p:nvGrpSpPr>
        <p:grpSpPr>
          <a:xfrm>
            <a:off x="243000" y="1299189"/>
            <a:ext cx="4102966" cy="982304"/>
            <a:chOff x="395400" y="2289789"/>
            <a:chExt cx="4102966" cy="982304"/>
          </a:xfrm>
        </p:grpSpPr>
        <p:sp>
          <p:nvSpPr>
            <p:cNvPr id="1658" name="Google Shape;1658;p76"/>
            <p:cNvSpPr/>
            <p:nvPr/>
          </p:nvSpPr>
          <p:spPr>
            <a:xfrm>
              <a:off x="1294698" y="2289789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w</a:t>
              </a:r>
              <a:endParaRPr/>
            </a:p>
          </p:txBody>
        </p:sp>
        <p:sp>
          <p:nvSpPr>
            <p:cNvPr id="1659" name="Google Shape;1659;p76"/>
            <p:cNvSpPr/>
            <p:nvPr/>
          </p:nvSpPr>
          <p:spPr>
            <a:xfrm>
              <a:off x="1603294" y="22897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76"/>
            <p:cNvSpPr/>
            <p:nvPr/>
          </p:nvSpPr>
          <p:spPr>
            <a:xfrm>
              <a:off x="1911891" y="22897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76"/>
            <p:cNvSpPr/>
            <p:nvPr/>
          </p:nvSpPr>
          <p:spPr>
            <a:xfrm>
              <a:off x="2220488" y="2289789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76"/>
            <p:cNvSpPr/>
            <p:nvPr/>
          </p:nvSpPr>
          <p:spPr>
            <a:xfrm>
              <a:off x="395400" y="2748100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x</a:t>
              </a:r>
              <a:endParaRPr/>
            </a:p>
          </p:txBody>
        </p:sp>
        <p:sp>
          <p:nvSpPr>
            <p:cNvPr id="1663" name="Google Shape;1663;p76"/>
            <p:cNvSpPr/>
            <p:nvPr/>
          </p:nvSpPr>
          <p:spPr>
            <a:xfrm>
              <a:off x="703997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76"/>
            <p:cNvSpPr/>
            <p:nvPr/>
          </p:nvSpPr>
          <p:spPr>
            <a:xfrm>
              <a:off x="1012593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76"/>
            <p:cNvSpPr/>
            <p:nvPr/>
          </p:nvSpPr>
          <p:spPr>
            <a:xfrm>
              <a:off x="1321190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76"/>
            <p:cNvSpPr/>
            <p:nvPr/>
          </p:nvSpPr>
          <p:spPr>
            <a:xfrm>
              <a:off x="1846425" y="2748100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y</a:t>
              </a:r>
              <a:endParaRPr/>
            </a:p>
          </p:txBody>
        </p:sp>
        <p:sp>
          <p:nvSpPr>
            <p:cNvPr id="1667" name="Google Shape;1667;p76"/>
            <p:cNvSpPr/>
            <p:nvPr/>
          </p:nvSpPr>
          <p:spPr>
            <a:xfrm>
              <a:off x="2155022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76"/>
            <p:cNvSpPr/>
            <p:nvPr/>
          </p:nvSpPr>
          <p:spPr>
            <a:xfrm>
              <a:off x="2463618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76"/>
            <p:cNvSpPr/>
            <p:nvPr/>
          </p:nvSpPr>
          <p:spPr>
            <a:xfrm>
              <a:off x="2772215" y="2748100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670" name="Google Shape;1670;p76"/>
            <p:cNvCxnSpPr/>
            <p:nvPr/>
          </p:nvCxnSpPr>
          <p:spPr>
            <a:xfrm flipH="1">
              <a:off x="864500" y="2458125"/>
              <a:ext cx="860400" cy="261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71" name="Google Shape;1671;p76"/>
            <p:cNvCxnSpPr/>
            <p:nvPr/>
          </p:nvCxnSpPr>
          <p:spPr>
            <a:xfrm>
              <a:off x="2080269" y="2420700"/>
              <a:ext cx="149700" cy="318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72" name="Google Shape;1672;p76"/>
            <p:cNvCxnSpPr/>
            <p:nvPr/>
          </p:nvCxnSpPr>
          <p:spPr>
            <a:xfrm>
              <a:off x="2379525" y="2439400"/>
              <a:ext cx="1253100" cy="2619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673" name="Google Shape;1673;p76"/>
            <p:cNvSpPr/>
            <p:nvPr/>
          </p:nvSpPr>
          <p:spPr>
            <a:xfrm>
              <a:off x="3572473" y="27445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76"/>
            <p:cNvSpPr/>
            <p:nvPr/>
          </p:nvSpPr>
          <p:spPr>
            <a:xfrm>
              <a:off x="3881070" y="27445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76"/>
            <p:cNvSpPr/>
            <p:nvPr/>
          </p:nvSpPr>
          <p:spPr>
            <a:xfrm>
              <a:off x="4189666" y="2744564"/>
              <a:ext cx="308700" cy="290100"/>
            </a:xfrm>
            <a:prstGeom prst="rect">
              <a:avLst/>
            </a:prstGeom>
            <a:solidFill>
              <a:srgbClr val="EAD1DC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76"/>
            <p:cNvSpPr/>
            <p:nvPr/>
          </p:nvSpPr>
          <p:spPr>
            <a:xfrm>
              <a:off x="3263877" y="2744564"/>
              <a:ext cx="308700" cy="290100"/>
            </a:xfrm>
            <a:prstGeom prst="rect">
              <a:avLst/>
            </a:prstGeom>
            <a:solidFill>
              <a:srgbClr val="CFE2F3"/>
            </a:solidFill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z</a:t>
              </a:r>
              <a:endParaRPr/>
            </a:p>
          </p:txBody>
        </p:sp>
        <p:cxnSp>
          <p:nvCxnSpPr>
            <p:cNvPr id="1677" name="Google Shape;1677;p76"/>
            <p:cNvCxnSpPr/>
            <p:nvPr/>
          </p:nvCxnSpPr>
          <p:spPr>
            <a:xfrm flipH="1">
              <a:off x="1071356" y="2864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78" name="Google Shape;1678;p76"/>
            <p:cNvCxnSpPr/>
            <p:nvPr/>
          </p:nvCxnSpPr>
          <p:spPr>
            <a:xfrm flipH="1">
              <a:off x="1376358" y="2864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79" name="Google Shape;1679;p76"/>
            <p:cNvCxnSpPr/>
            <p:nvPr/>
          </p:nvCxnSpPr>
          <p:spPr>
            <a:xfrm flipH="1">
              <a:off x="766353" y="2864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80" name="Google Shape;1680;p76"/>
            <p:cNvCxnSpPr/>
            <p:nvPr/>
          </p:nvCxnSpPr>
          <p:spPr>
            <a:xfrm flipH="1">
              <a:off x="2546593" y="2856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81" name="Google Shape;1681;p76"/>
            <p:cNvCxnSpPr/>
            <p:nvPr/>
          </p:nvCxnSpPr>
          <p:spPr>
            <a:xfrm flipH="1">
              <a:off x="2851596" y="2856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82" name="Google Shape;1682;p76"/>
            <p:cNvCxnSpPr/>
            <p:nvPr/>
          </p:nvCxnSpPr>
          <p:spPr>
            <a:xfrm flipH="1">
              <a:off x="2241591" y="2856993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83" name="Google Shape;1683;p76"/>
            <p:cNvCxnSpPr/>
            <p:nvPr/>
          </p:nvCxnSpPr>
          <p:spPr>
            <a:xfrm flipH="1">
              <a:off x="3956127" y="2860800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84" name="Google Shape;1684;p76"/>
            <p:cNvCxnSpPr/>
            <p:nvPr/>
          </p:nvCxnSpPr>
          <p:spPr>
            <a:xfrm flipH="1">
              <a:off x="4261130" y="2860800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cxnSp>
          <p:nvCxnSpPr>
            <p:cNvPr id="1685" name="Google Shape;1685;p76"/>
            <p:cNvCxnSpPr/>
            <p:nvPr/>
          </p:nvCxnSpPr>
          <p:spPr>
            <a:xfrm flipH="1">
              <a:off x="3651125" y="2860800"/>
              <a:ext cx="109200" cy="4071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686" name="Google Shape;1686;p76"/>
          <p:cNvSpPr txBox="1"/>
          <p:nvPr/>
        </p:nvSpPr>
        <p:spPr>
          <a:xfrm>
            <a:off x="547775" y="2396775"/>
            <a:ext cx="35442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1a: Fixed Number of Links (One Per Child)</a:t>
            </a:r>
            <a:endParaRPr/>
          </a:p>
        </p:txBody>
      </p:sp>
      <p:sp>
        <p:nvSpPr>
          <p:cNvPr id="1687" name="Google Shape;1687;p76"/>
          <p:cNvSpPr txBox="1"/>
          <p:nvPr/>
        </p:nvSpPr>
        <p:spPr>
          <a:xfrm>
            <a:off x="6141265" y="2642505"/>
            <a:ext cx="2250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1b: Array of Child Links</a:t>
            </a:r>
            <a:endParaRPr/>
          </a:p>
        </p:txBody>
      </p:sp>
      <p:sp>
        <p:nvSpPr>
          <p:cNvPr id="1688" name="Google Shape;1688;p76"/>
          <p:cNvSpPr txBox="1"/>
          <p:nvPr/>
        </p:nvSpPr>
        <p:spPr>
          <a:xfrm>
            <a:off x="1022500" y="4330500"/>
            <a:ext cx="22503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1c: FirstBorn/Sibling Links</a:t>
            </a:r>
            <a:endParaRPr/>
          </a:p>
        </p:txBody>
      </p:sp>
      <p:sp>
        <p:nvSpPr>
          <p:cNvPr id="1689" name="Google Shape;1689;p76"/>
          <p:cNvSpPr/>
          <p:nvPr/>
        </p:nvSpPr>
        <p:spPr>
          <a:xfrm>
            <a:off x="5716535" y="3415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endParaRPr/>
          </a:p>
        </p:txBody>
      </p:sp>
      <p:sp>
        <p:nvSpPr>
          <p:cNvPr id="1690" name="Google Shape;1690;p76"/>
          <p:cNvSpPr/>
          <p:nvPr/>
        </p:nvSpPr>
        <p:spPr>
          <a:xfrm>
            <a:off x="6025132" y="3415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691" name="Google Shape;1691;p76"/>
          <p:cNvSpPr/>
          <p:nvPr/>
        </p:nvSpPr>
        <p:spPr>
          <a:xfrm>
            <a:off x="6333728" y="3415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sp>
        <p:nvSpPr>
          <p:cNvPr id="1692" name="Google Shape;1692;p76"/>
          <p:cNvSpPr/>
          <p:nvPr/>
        </p:nvSpPr>
        <p:spPr>
          <a:xfrm>
            <a:off x="6642325" y="3415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sp>
        <p:nvSpPr>
          <p:cNvPr id="1693" name="Google Shape;1693;p76"/>
          <p:cNvSpPr txBox="1"/>
          <p:nvPr/>
        </p:nvSpPr>
        <p:spPr>
          <a:xfrm>
            <a:off x="4348950" y="3365250"/>
            <a:ext cx="1367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Key[] keys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4" name="Google Shape;1694;p76"/>
          <p:cNvSpPr txBox="1"/>
          <p:nvPr/>
        </p:nvSpPr>
        <p:spPr>
          <a:xfrm>
            <a:off x="4000225" y="3746250"/>
            <a:ext cx="17163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int[] parents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5" name="Google Shape;1695;p76"/>
          <p:cNvSpPr/>
          <p:nvPr/>
        </p:nvSpPr>
        <p:spPr>
          <a:xfrm>
            <a:off x="5716535" y="3872552"/>
            <a:ext cx="308700" cy="2901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6" name="Google Shape;1696;p76"/>
          <p:cNvSpPr/>
          <p:nvPr/>
        </p:nvSpPr>
        <p:spPr>
          <a:xfrm>
            <a:off x="6025132" y="3872552"/>
            <a:ext cx="308700" cy="2901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7" name="Google Shape;1697;p76"/>
          <p:cNvSpPr/>
          <p:nvPr/>
        </p:nvSpPr>
        <p:spPr>
          <a:xfrm>
            <a:off x="6333728" y="3872552"/>
            <a:ext cx="308700" cy="2901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8" name="Google Shape;1698;p76"/>
          <p:cNvSpPr/>
          <p:nvPr/>
        </p:nvSpPr>
        <p:spPr>
          <a:xfrm>
            <a:off x="6642325" y="3872552"/>
            <a:ext cx="308700" cy="290100"/>
          </a:xfrm>
          <a:prstGeom prst="rect">
            <a:avLst/>
          </a:prstGeom>
          <a:solidFill>
            <a:srgbClr val="EAD1D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699" name="Google Shape;1699;p76"/>
          <p:cNvSpPr txBox="1"/>
          <p:nvPr/>
        </p:nvSpPr>
        <p:spPr>
          <a:xfrm>
            <a:off x="5749875" y="4103036"/>
            <a:ext cx="12012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0  1  2  3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0" name="Google Shape;1700;p76"/>
          <p:cNvSpPr/>
          <p:nvPr/>
        </p:nvSpPr>
        <p:spPr>
          <a:xfrm>
            <a:off x="7697735" y="3796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endParaRPr/>
          </a:p>
        </p:txBody>
      </p:sp>
      <p:sp>
        <p:nvSpPr>
          <p:cNvPr id="1701" name="Google Shape;1701;p76"/>
          <p:cNvSpPr/>
          <p:nvPr/>
        </p:nvSpPr>
        <p:spPr>
          <a:xfrm>
            <a:off x="8006332" y="3796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702" name="Google Shape;1702;p76"/>
          <p:cNvSpPr/>
          <p:nvPr/>
        </p:nvSpPr>
        <p:spPr>
          <a:xfrm>
            <a:off x="8314928" y="3796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sp>
        <p:nvSpPr>
          <p:cNvPr id="1703" name="Google Shape;1703;p76"/>
          <p:cNvSpPr/>
          <p:nvPr/>
        </p:nvSpPr>
        <p:spPr>
          <a:xfrm>
            <a:off x="8623525" y="3796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sp>
        <p:nvSpPr>
          <p:cNvPr id="1704" name="Google Shape;1704;p76"/>
          <p:cNvSpPr txBox="1"/>
          <p:nvPr/>
        </p:nvSpPr>
        <p:spPr>
          <a:xfrm>
            <a:off x="7640725" y="3426225"/>
            <a:ext cx="1367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Key[] keys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05" name="Google Shape;1705;p76"/>
          <p:cNvSpPr txBox="1"/>
          <p:nvPr/>
        </p:nvSpPr>
        <p:spPr>
          <a:xfrm>
            <a:off x="4283875" y="4482150"/>
            <a:ext cx="31092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2: Array of Keys, Array of Structure</a:t>
            </a:r>
            <a:endParaRPr/>
          </a:p>
        </p:txBody>
      </p:sp>
      <p:sp>
        <p:nvSpPr>
          <p:cNvPr id="1706" name="Google Shape;1706;p76"/>
          <p:cNvSpPr txBox="1"/>
          <p:nvPr/>
        </p:nvSpPr>
        <p:spPr>
          <a:xfrm>
            <a:off x="7598575" y="4136525"/>
            <a:ext cx="14691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3: Array of Keys</a:t>
            </a:r>
            <a:endParaRPr/>
          </a:p>
        </p:txBody>
      </p:sp>
      <p:sp>
        <p:nvSpPr>
          <p:cNvPr id="1707" name="Google Shape;1707;p76"/>
          <p:cNvSpPr/>
          <p:nvPr/>
        </p:nvSpPr>
        <p:spPr>
          <a:xfrm>
            <a:off x="8128081" y="963825"/>
            <a:ext cx="4878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08" name="Google Shape;1708;p76"/>
          <p:cNvCxnSpPr>
            <a:stCxn id="1709" idx="0"/>
            <a:endCxn id="1707" idx="5"/>
          </p:cNvCxnSpPr>
          <p:nvPr/>
        </p:nvCxnSpPr>
        <p:spPr>
          <a:xfrm rot="10800000">
            <a:off x="8544554" y="1211300"/>
            <a:ext cx="3084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09" name="Google Shape;1709;p76"/>
          <p:cNvSpPr/>
          <p:nvPr/>
        </p:nvSpPr>
        <p:spPr>
          <a:xfrm>
            <a:off x="8669204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z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0" name="Google Shape;1710;p76"/>
          <p:cNvSpPr/>
          <p:nvPr/>
        </p:nvSpPr>
        <p:spPr>
          <a:xfrm>
            <a:off x="7735688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76"/>
          <p:cNvSpPr/>
          <p:nvPr/>
        </p:nvSpPr>
        <p:spPr>
          <a:xfrm>
            <a:off x="8188227" y="1440283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12" name="Google Shape;1712;p76"/>
          <p:cNvCxnSpPr>
            <a:stCxn id="1707" idx="3"/>
            <a:endCxn id="1710" idx="0"/>
          </p:cNvCxnSpPr>
          <p:nvPr/>
        </p:nvCxnSpPr>
        <p:spPr>
          <a:xfrm flipH="1">
            <a:off x="7919318" y="1211441"/>
            <a:ext cx="2802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13" name="Google Shape;1713;p76"/>
          <p:cNvCxnSpPr>
            <a:stCxn id="1707" idx="4"/>
            <a:endCxn id="1711" idx="0"/>
          </p:cNvCxnSpPr>
          <p:nvPr/>
        </p:nvCxnSpPr>
        <p:spPr>
          <a:xfrm>
            <a:off x="8371981" y="1253925"/>
            <a:ext cx="0" cy="18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7" name="Shape 1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8" name="Google Shape;1718;p7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3B (book implementation): Leaving One Empty Spot</a:t>
            </a:r>
            <a:endParaRPr/>
          </a:p>
        </p:txBody>
      </p:sp>
      <p:sp>
        <p:nvSpPr>
          <p:cNvPr id="1719" name="Google Shape;1719;p77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Approach 3b: Store keys in an array. Offset everything by 1 spot.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Same as 3, but leave spot 0 empty.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Makes computation of children/parents “nicer”.</a:t>
            </a:r>
            <a:endParaRPr/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Font typeface="Consolas"/>
              <a:buChar char="○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leftChild(k) = k*2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Font typeface="Consolas"/>
              <a:buChar char="○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rightChild(k) = k*2 + 1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342900" lvl="1" marL="914400" rtl="0" algn="l">
              <a:spcBef>
                <a:spcPts val="600"/>
              </a:spcBef>
              <a:spcAft>
                <a:spcPts val="0"/>
              </a:spcAft>
              <a:buSzPts val="1800"/>
              <a:buFont typeface="Consolas"/>
              <a:buChar char="○"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parent(k) = k/2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20" name="Google Shape;1720;p77"/>
          <p:cNvSpPr/>
          <p:nvPr/>
        </p:nvSpPr>
        <p:spPr>
          <a:xfrm>
            <a:off x="7850135" y="1891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</a:t>
            </a:r>
            <a:endParaRPr/>
          </a:p>
        </p:txBody>
      </p:sp>
      <p:sp>
        <p:nvSpPr>
          <p:cNvPr id="1721" name="Google Shape;1721;p77"/>
          <p:cNvSpPr/>
          <p:nvPr/>
        </p:nvSpPr>
        <p:spPr>
          <a:xfrm>
            <a:off x="8158732" y="1891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722" name="Google Shape;1722;p77"/>
          <p:cNvSpPr/>
          <p:nvPr/>
        </p:nvSpPr>
        <p:spPr>
          <a:xfrm>
            <a:off x="8467328" y="1891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sp>
        <p:nvSpPr>
          <p:cNvPr id="1723" name="Google Shape;1723;p77"/>
          <p:cNvSpPr/>
          <p:nvPr/>
        </p:nvSpPr>
        <p:spPr>
          <a:xfrm>
            <a:off x="8775925" y="1891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</a:t>
            </a:r>
            <a:endParaRPr/>
          </a:p>
        </p:txBody>
      </p:sp>
      <p:grpSp>
        <p:nvGrpSpPr>
          <p:cNvPr id="1724" name="Google Shape;1724;p77"/>
          <p:cNvGrpSpPr/>
          <p:nvPr/>
        </p:nvGrpSpPr>
        <p:grpSpPr>
          <a:xfrm>
            <a:off x="344200" y="3265725"/>
            <a:ext cx="3449425" cy="1525742"/>
            <a:chOff x="4866600" y="3068225"/>
            <a:chExt cx="3449425" cy="1525742"/>
          </a:xfrm>
        </p:grpSpPr>
        <p:grpSp>
          <p:nvGrpSpPr>
            <p:cNvPr id="1725" name="Google Shape;1725;p77"/>
            <p:cNvGrpSpPr/>
            <p:nvPr/>
          </p:nvGrpSpPr>
          <p:grpSpPr>
            <a:xfrm>
              <a:off x="4866600" y="3547125"/>
              <a:ext cx="1762689" cy="1040218"/>
              <a:chOff x="5860100" y="3678825"/>
              <a:chExt cx="1762689" cy="1040218"/>
            </a:xfrm>
          </p:grpSpPr>
          <p:sp>
            <p:nvSpPr>
              <p:cNvPr id="1726" name="Google Shape;1726;p77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e</a:t>
                </a:r>
                <a:endParaRPr/>
              </a:p>
            </p:txBody>
          </p:sp>
          <p:sp>
            <p:nvSpPr>
              <p:cNvPr id="1727" name="Google Shape;1727;p77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b</a:t>
                </a:r>
                <a:endParaRPr/>
              </a:p>
            </p:txBody>
          </p:sp>
          <p:sp>
            <p:nvSpPr>
              <p:cNvPr id="1728" name="Google Shape;1728;p77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g</a:t>
                </a:r>
                <a:endParaRPr/>
              </a:p>
            </p:txBody>
          </p:sp>
          <p:sp>
            <p:nvSpPr>
              <p:cNvPr id="1729" name="Google Shape;1729;p77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a</a:t>
                </a:r>
                <a:endParaRPr/>
              </a:p>
            </p:txBody>
          </p:sp>
          <p:sp>
            <p:nvSpPr>
              <p:cNvPr id="1730" name="Google Shape;1730;p77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d</a:t>
                </a:r>
                <a:endParaRPr/>
              </a:p>
            </p:txBody>
          </p:sp>
          <p:sp>
            <p:nvSpPr>
              <p:cNvPr id="1731" name="Google Shape;1731;p77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f</a:t>
                </a:r>
                <a:endParaRPr/>
              </a:p>
            </p:txBody>
          </p:sp>
          <p:sp>
            <p:nvSpPr>
              <p:cNvPr id="1732" name="Google Shape;1732;p77"/>
              <p:cNvSpPr/>
              <p:nvPr/>
            </p:nvSpPr>
            <p:spPr>
              <a:xfrm>
                <a:off x="7288889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j</a:t>
                </a:r>
                <a:endParaRPr/>
              </a:p>
            </p:txBody>
          </p:sp>
          <p:cxnSp>
            <p:nvCxnSpPr>
              <p:cNvPr id="1733" name="Google Shape;1733;p77"/>
              <p:cNvCxnSpPr>
                <a:stCxn id="1727" idx="0"/>
                <a:endCxn id="1726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4" name="Google Shape;1734;p77"/>
              <p:cNvCxnSpPr>
                <a:stCxn id="1728" idx="0"/>
                <a:endCxn id="1726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5" name="Google Shape;1735;p77"/>
              <p:cNvCxnSpPr>
                <a:stCxn id="1729" idx="0"/>
                <a:endCxn id="1727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6" name="Google Shape;1736;p77"/>
              <p:cNvCxnSpPr>
                <a:stCxn id="1727" idx="2"/>
                <a:endCxn id="1730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7" name="Google Shape;1737;p77"/>
              <p:cNvCxnSpPr>
                <a:stCxn id="1728" idx="2"/>
                <a:endCxn id="1731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8" name="Google Shape;1738;p77"/>
              <p:cNvCxnSpPr>
                <a:stCxn id="1728" idx="2"/>
                <a:endCxn id="1732" idx="0"/>
              </p:cNvCxnSpPr>
              <p:nvPr/>
            </p:nvCxnSpPr>
            <p:spPr>
              <a:xfrm>
                <a:off x="7206575" y="4324125"/>
                <a:ext cx="249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739" name="Google Shape;1739;p77"/>
            <p:cNvGrpSpPr/>
            <p:nvPr/>
          </p:nvGrpSpPr>
          <p:grpSpPr>
            <a:xfrm>
              <a:off x="6802600" y="3553749"/>
              <a:ext cx="1513425" cy="1040218"/>
              <a:chOff x="5860100" y="3678825"/>
              <a:chExt cx="1513425" cy="1040218"/>
            </a:xfrm>
          </p:grpSpPr>
          <p:sp>
            <p:nvSpPr>
              <p:cNvPr id="1740" name="Google Shape;1740;p77"/>
              <p:cNvSpPr/>
              <p:nvPr/>
            </p:nvSpPr>
            <p:spPr>
              <a:xfrm>
                <a:off x="6582425" y="367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v</a:t>
                </a:r>
                <a:endParaRPr/>
              </a:p>
            </p:txBody>
          </p:sp>
          <p:sp>
            <p:nvSpPr>
              <p:cNvPr id="1741" name="Google Shape;1741;p77"/>
              <p:cNvSpPr/>
              <p:nvPr/>
            </p:nvSpPr>
            <p:spPr>
              <a:xfrm>
                <a:off x="61252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p</a:t>
                </a:r>
                <a:endParaRPr/>
              </a:p>
            </p:txBody>
          </p:sp>
          <p:sp>
            <p:nvSpPr>
              <p:cNvPr id="1742" name="Google Shape;1742;p77"/>
              <p:cNvSpPr/>
              <p:nvPr/>
            </p:nvSpPr>
            <p:spPr>
              <a:xfrm>
                <a:off x="7039625" y="4059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y</a:t>
                </a:r>
                <a:endParaRPr/>
              </a:p>
            </p:txBody>
          </p:sp>
          <p:sp>
            <p:nvSpPr>
              <p:cNvPr id="1743" name="Google Shape;1743;p77"/>
              <p:cNvSpPr/>
              <p:nvPr/>
            </p:nvSpPr>
            <p:spPr>
              <a:xfrm>
                <a:off x="5860100" y="4448825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m</a:t>
                </a:r>
                <a:endParaRPr/>
              </a:p>
            </p:txBody>
          </p:sp>
          <p:sp>
            <p:nvSpPr>
              <p:cNvPr id="1744" name="Google Shape;1744;p77"/>
              <p:cNvSpPr/>
              <p:nvPr/>
            </p:nvSpPr>
            <p:spPr>
              <a:xfrm>
                <a:off x="6338643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r</a:t>
                </a:r>
                <a:endParaRPr/>
              </a:p>
            </p:txBody>
          </p:sp>
          <p:sp>
            <p:nvSpPr>
              <p:cNvPr id="1745" name="Google Shape;1745;p77"/>
              <p:cNvSpPr/>
              <p:nvPr/>
            </p:nvSpPr>
            <p:spPr>
              <a:xfrm>
                <a:off x="6781925" y="4454743"/>
                <a:ext cx="333900" cy="264300"/>
              </a:xfrm>
              <a:prstGeom prst="rect">
                <a:avLst/>
              </a:prstGeom>
              <a:solidFill>
                <a:srgbClr val="B6D7A8"/>
              </a:solidFill>
              <a:ln cap="flat" cmpd="sng" w="19050">
                <a:solidFill>
                  <a:srgbClr val="666666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/>
                  <a:t>x</a:t>
                </a:r>
                <a:endParaRPr/>
              </a:p>
            </p:txBody>
          </p:sp>
          <p:cxnSp>
            <p:nvCxnSpPr>
              <p:cNvPr id="1746" name="Google Shape;1746;p77"/>
              <p:cNvCxnSpPr>
                <a:stCxn id="1741" idx="0"/>
                <a:endCxn id="1740" idx="2"/>
              </p:cNvCxnSpPr>
              <p:nvPr/>
            </p:nvCxnSpPr>
            <p:spPr>
              <a:xfrm flipH="1" rot="10800000">
                <a:off x="62921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7" name="Google Shape;1747;p77"/>
              <p:cNvCxnSpPr>
                <a:stCxn id="1742" idx="0"/>
                <a:endCxn id="1740" idx="2"/>
              </p:cNvCxnSpPr>
              <p:nvPr/>
            </p:nvCxnSpPr>
            <p:spPr>
              <a:xfrm rot="10800000">
                <a:off x="6749375" y="3943125"/>
                <a:ext cx="457200" cy="1167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8" name="Google Shape;1748;p77"/>
              <p:cNvCxnSpPr>
                <a:stCxn id="1743" idx="0"/>
                <a:endCxn id="1741" idx="2"/>
              </p:cNvCxnSpPr>
              <p:nvPr/>
            </p:nvCxnSpPr>
            <p:spPr>
              <a:xfrm flipH="1" rot="10800000">
                <a:off x="6027050" y="4324025"/>
                <a:ext cx="265200" cy="1248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49" name="Google Shape;1749;p77"/>
              <p:cNvCxnSpPr>
                <a:stCxn id="1741" idx="2"/>
                <a:endCxn id="1744" idx="0"/>
              </p:cNvCxnSpPr>
              <p:nvPr/>
            </p:nvCxnSpPr>
            <p:spPr>
              <a:xfrm>
                <a:off x="6292175" y="4324125"/>
                <a:ext cx="2133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0" name="Google Shape;1750;p77"/>
              <p:cNvCxnSpPr>
                <a:stCxn id="1742" idx="2"/>
                <a:endCxn id="1745" idx="0"/>
              </p:cNvCxnSpPr>
              <p:nvPr/>
            </p:nvCxnSpPr>
            <p:spPr>
              <a:xfrm flipH="1">
                <a:off x="6948875" y="4324125"/>
                <a:ext cx="257700" cy="130500"/>
              </a:xfrm>
              <a:prstGeom prst="straightConnector1">
                <a:avLst/>
              </a:prstGeom>
              <a:noFill/>
              <a:ln cap="flat" cmpd="sng" w="19050">
                <a:solidFill>
                  <a:srgbClr val="666666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1751" name="Google Shape;1751;p77"/>
            <p:cNvSpPr/>
            <p:nvPr/>
          </p:nvSpPr>
          <p:spPr>
            <a:xfrm>
              <a:off x="6548550" y="3068225"/>
              <a:ext cx="333900" cy="264300"/>
            </a:xfrm>
            <a:prstGeom prst="rect">
              <a:avLst/>
            </a:prstGeom>
            <a:solidFill>
              <a:srgbClr val="B6D7A8"/>
            </a:solidFill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k</a:t>
              </a:r>
              <a:endParaRPr/>
            </a:p>
          </p:txBody>
        </p:sp>
        <p:cxnSp>
          <p:nvCxnSpPr>
            <p:cNvPr id="1752" name="Google Shape;1752;p77"/>
            <p:cNvCxnSpPr>
              <a:stCxn id="1751" idx="2"/>
              <a:endCxn id="1726" idx="0"/>
            </p:cNvCxnSpPr>
            <p:nvPr/>
          </p:nvCxnSpPr>
          <p:spPr>
            <a:xfrm flipH="1">
              <a:off x="5755800" y="3332525"/>
              <a:ext cx="959700" cy="214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53" name="Google Shape;1753;p77"/>
            <p:cNvCxnSpPr>
              <a:stCxn id="1751" idx="2"/>
              <a:endCxn id="1740" idx="0"/>
            </p:cNvCxnSpPr>
            <p:nvPr/>
          </p:nvCxnSpPr>
          <p:spPr>
            <a:xfrm>
              <a:off x="6715500" y="3332525"/>
              <a:ext cx="976500" cy="2211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754" name="Google Shape;1754;p77"/>
          <p:cNvSpPr txBox="1"/>
          <p:nvPr/>
        </p:nvSpPr>
        <p:spPr>
          <a:xfrm>
            <a:off x="1766605" y="3190319"/>
            <a:ext cx="461400" cy="22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1755" name="Google Shape;1755;p77"/>
          <p:cNvSpPr txBox="1"/>
          <p:nvPr/>
        </p:nvSpPr>
        <p:spPr>
          <a:xfrm>
            <a:off x="814676" y="3690127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1756" name="Google Shape;1756;p77"/>
          <p:cNvSpPr txBox="1"/>
          <p:nvPr/>
        </p:nvSpPr>
        <p:spPr>
          <a:xfrm>
            <a:off x="2745148" y="3699930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1757" name="Google Shape;1757;p77"/>
          <p:cNvSpPr txBox="1"/>
          <p:nvPr/>
        </p:nvSpPr>
        <p:spPr>
          <a:xfrm>
            <a:off x="344201" y="4062927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</a:t>
            </a:r>
            <a:endParaRPr/>
          </a:p>
        </p:txBody>
      </p:sp>
      <p:sp>
        <p:nvSpPr>
          <p:cNvPr id="1758" name="Google Shape;1758;p77"/>
          <p:cNvSpPr txBox="1"/>
          <p:nvPr/>
        </p:nvSpPr>
        <p:spPr>
          <a:xfrm>
            <a:off x="1289417" y="4062927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</a:t>
            </a:r>
            <a:endParaRPr/>
          </a:p>
        </p:txBody>
      </p:sp>
      <p:sp>
        <p:nvSpPr>
          <p:cNvPr id="1759" name="Google Shape;1759;p77"/>
          <p:cNvSpPr txBox="1"/>
          <p:nvPr/>
        </p:nvSpPr>
        <p:spPr>
          <a:xfrm>
            <a:off x="2310834" y="4070491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6</a:t>
            </a:r>
            <a:endParaRPr/>
          </a:p>
        </p:txBody>
      </p:sp>
      <p:sp>
        <p:nvSpPr>
          <p:cNvPr id="1760" name="Google Shape;1760;p77"/>
          <p:cNvSpPr txBox="1"/>
          <p:nvPr/>
        </p:nvSpPr>
        <p:spPr>
          <a:xfrm>
            <a:off x="3210106" y="4070491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7</a:t>
            </a:r>
            <a:endParaRPr/>
          </a:p>
        </p:txBody>
      </p:sp>
      <p:sp>
        <p:nvSpPr>
          <p:cNvPr id="1761" name="Google Shape;1761;p77"/>
          <p:cNvSpPr txBox="1"/>
          <p:nvPr/>
        </p:nvSpPr>
        <p:spPr>
          <a:xfrm>
            <a:off x="78342" y="4466619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</a:t>
            </a:r>
            <a:endParaRPr/>
          </a:p>
        </p:txBody>
      </p:sp>
      <p:sp>
        <p:nvSpPr>
          <p:cNvPr id="1762" name="Google Shape;1762;p77"/>
          <p:cNvSpPr txBox="1"/>
          <p:nvPr/>
        </p:nvSpPr>
        <p:spPr>
          <a:xfrm>
            <a:off x="6177750" y="1841250"/>
            <a:ext cx="1367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Key[] keys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63" name="Google Shape;1763;p77"/>
          <p:cNvSpPr/>
          <p:nvPr/>
        </p:nvSpPr>
        <p:spPr>
          <a:xfrm>
            <a:off x="8128081" y="963825"/>
            <a:ext cx="4878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w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4" name="Google Shape;1764;p77"/>
          <p:cNvCxnSpPr>
            <a:stCxn id="1765" idx="0"/>
            <a:endCxn id="1763" idx="5"/>
          </p:cNvCxnSpPr>
          <p:nvPr/>
        </p:nvCxnSpPr>
        <p:spPr>
          <a:xfrm rot="10800000">
            <a:off x="8544554" y="1211300"/>
            <a:ext cx="3084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65" name="Google Shape;1765;p77"/>
          <p:cNvSpPr/>
          <p:nvPr/>
        </p:nvSpPr>
        <p:spPr>
          <a:xfrm>
            <a:off x="8669204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z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6" name="Google Shape;1766;p77"/>
          <p:cNvSpPr/>
          <p:nvPr/>
        </p:nvSpPr>
        <p:spPr>
          <a:xfrm>
            <a:off x="7735688" y="1438400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x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7" name="Google Shape;1767;p77"/>
          <p:cNvSpPr/>
          <p:nvPr/>
        </p:nvSpPr>
        <p:spPr>
          <a:xfrm>
            <a:off x="8188227" y="1440283"/>
            <a:ext cx="367500" cy="290100"/>
          </a:xfrm>
          <a:prstGeom prst="ellipse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alibri"/>
                <a:ea typeface="Calibri"/>
                <a:cs typeface="Calibri"/>
                <a:sym typeface="Calibri"/>
              </a:rPr>
              <a:t>y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68" name="Google Shape;1768;p77"/>
          <p:cNvCxnSpPr>
            <a:stCxn id="1763" idx="3"/>
            <a:endCxn id="1766" idx="0"/>
          </p:cNvCxnSpPr>
          <p:nvPr/>
        </p:nvCxnSpPr>
        <p:spPr>
          <a:xfrm flipH="1">
            <a:off x="7919318" y="1211441"/>
            <a:ext cx="280200" cy="22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69" name="Google Shape;1769;p77"/>
          <p:cNvCxnSpPr>
            <a:stCxn id="1763" idx="4"/>
            <a:endCxn id="1767" idx="0"/>
          </p:cNvCxnSpPr>
          <p:nvPr/>
        </p:nvCxnSpPr>
        <p:spPr>
          <a:xfrm>
            <a:off x="8371981" y="1253925"/>
            <a:ext cx="0" cy="186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70" name="Google Shape;1770;p77"/>
          <p:cNvSpPr/>
          <p:nvPr/>
        </p:nvSpPr>
        <p:spPr>
          <a:xfrm>
            <a:off x="45708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</a:t>
            </a:r>
            <a:endParaRPr/>
          </a:p>
        </p:txBody>
      </p:sp>
      <p:sp>
        <p:nvSpPr>
          <p:cNvPr id="1771" name="Google Shape;1771;p77"/>
          <p:cNvSpPr/>
          <p:nvPr/>
        </p:nvSpPr>
        <p:spPr>
          <a:xfrm>
            <a:off x="48794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</a:t>
            </a:r>
            <a:endParaRPr/>
          </a:p>
        </p:txBody>
      </p:sp>
      <p:sp>
        <p:nvSpPr>
          <p:cNvPr id="1772" name="Google Shape;1772;p77"/>
          <p:cNvSpPr/>
          <p:nvPr/>
        </p:nvSpPr>
        <p:spPr>
          <a:xfrm>
            <a:off x="5188016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</a:t>
            </a:r>
            <a:endParaRPr/>
          </a:p>
        </p:txBody>
      </p:sp>
      <p:sp>
        <p:nvSpPr>
          <p:cNvPr id="1773" name="Google Shape;1773;p77"/>
          <p:cNvSpPr/>
          <p:nvPr/>
        </p:nvSpPr>
        <p:spPr>
          <a:xfrm>
            <a:off x="549661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</a:t>
            </a:r>
            <a:endParaRPr/>
          </a:p>
        </p:txBody>
      </p:sp>
      <p:sp>
        <p:nvSpPr>
          <p:cNvPr id="1774" name="Google Shape;1774;p77"/>
          <p:cNvSpPr/>
          <p:nvPr/>
        </p:nvSpPr>
        <p:spPr>
          <a:xfrm>
            <a:off x="58052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</a:t>
            </a:r>
            <a:endParaRPr/>
          </a:p>
        </p:txBody>
      </p:sp>
      <p:sp>
        <p:nvSpPr>
          <p:cNvPr id="1775" name="Google Shape;1775;p77"/>
          <p:cNvSpPr/>
          <p:nvPr/>
        </p:nvSpPr>
        <p:spPr>
          <a:xfrm>
            <a:off x="61138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</a:t>
            </a:r>
            <a:endParaRPr/>
          </a:p>
        </p:txBody>
      </p:sp>
      <p:sp>
        <p:nvSpPr>
          <p:cNvPr id="1776" name="Google Shape;1776;p77"/>
          <p:cNvSpPr/>
          <p:nvPr/>
        </p:nvSpPr>
        <p:spPr>
          <a:xfrm>
            <a:off x="6422416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</a:t>
            </a:r>
            <a:endParaRPr/>
          </a:p>
        </p:txBody>
      </p:sp>
      <p:sp>
        <p:nvSpPr>
          <p:cNvPr id="1777" name="Google Shape;1777;p77"/>
          <p:cNvSpPr/>
          <p:nvPr/>
        </p:nvSpPr>
        <p:spPr>
          <a:xfrm>
            <a:off x="673101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</a:t>
            </a:r>
            <a:endParaRPr/>
          </a:p>
        </p:txBody>
      </p:sp>
      <p:sp>
        <p:nvSpPr>
          <p:cNvPr id="1778" name="Google Shape;1778;p77"/>
          <p:cNvSpPr/>
          <p:nvPr/>
        </p:nvSpPr>
        <p:spPr>
          <a:xfrm>
            <a:off x="70396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</a:t>
            </a:r>
            <a:endParaRPr/>
          </a:p>
        </p:txBody>
      </p:sp>
      <p:sp>
        <p:nvSpPr>
          <p:cNvPr id="1779" name="Google Shape;1779;p77"/>
          <p:cNvSpPr/>
          <p:nvPr/>
        </p:nvSpPr>
        <p:spPr>
          <a:xfrm>
            <a:off x="73482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</a:t>
            </a:r>
            <a:endParaRPr/>
          </a:p>
        </p:txBody>
      </p:sp>
      <p:sp>
        <p:nvSpPr>
          <p:cNvPr id="1780" name="Google Shape;1780;p77"/>
          <p:cNvSpPr/>
          <p:nvPr/>
        </p:nvSpPr>
        <p:spPr>
          <a:xfrm>
            <a:off x="7656816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</a:t>
            </a:r>
            <a:endParaRPr/>
          </a:p>
        </p:txBody>
      </p:sp>
      <p:sp>
        <p:nvSpPr>
          <p:cNvPr id="1781" name="Google Shape;1781;p77"/>
          <p:cNvSpPr/>
          <p:nvPr/>
        </p:nvSpPr>
        <p:spPr>
          <a:xfrm>
            <a:off x="796541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endParaRPr/>
          </a:p>
        </p:txBody>
      </p:sp>
      <p:sp>
        <p:nvSpPr>
          <p:cNvPr id="1782" name="Google Shape;1782;p77"/>
          <p:cNvSpPr/>
          <p:nvPr/>
        </p:nvSpPr>
        <p:spPr>
          <a:xfrm>
            <a:off x="827402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endParaRPr/>
          </a:p>
        </p:txBody>
      </p:sp>
      <p:sp>
        <p:nvSpPr>
          <p:cNvPr id="1783" name="Google Shape;1783;p77"/>
          <p:cNvSpPr/>
          <p:nvPr/>
        </p:nvSpPr>
        <p:spPr>
          <a:xfrm>
            <a:off x="8582620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endParaRPr/>
          </a:p>
        </p:txBody>
      </p:sp>
      <p:sp>
        <p:nvSpPr>
          <p:cNvPr id="1784" name="Google Shape;1784;p77"/>
          <p:cNvSpPr txBox="1"/>
          <p:nvPr/>
        </p:nvSpPr>
        <p:spPr>
          <a:xfrm>
            <a:off x="4513725" y="3036358"/>
            <a:ext cx="13677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nsolas"/>
                <a:ea typeface="Consolas"/>
                <a:cs typeface="Consolas"/>
                <a:sym typeface="Consolas"/>
              </a:rPr>
              <a:t>Key[] keys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85" name="Google Shape;1785;p77"/>
          <p:cNvSpPr txBox="1"/>
          <p:nvPr/>
        </p:nvSpPr>
        <p:spPr>
          <a:xfrm>
            <a:off x="4314867" y="3643300"/>
            <a:ext cx="1516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0  1  2  3  4  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86" name="Google Shape;1786;p77"/>
          <p:cNvSpPr txBox="1"/>
          <p:nvPr/>
        </p:nvSpPr>
        <p:spPr>
          <a:xfrm>
            <a:off x="5845675" y="3628175"/>
            <a:ext cx="31230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5  6  7  8  9  10 11 12 13 14 </a:t>
            </a:r>
            <a:endParaRPr/>
          </a:p>
        </p:txBody>
      </p:sp>
      <p:sp>
        <p:nvSpPr>
          <p:cNvPr id="1787" name="Google Shape;1787;p77"/>
          <p:cNvSpPr txBox="1"/>
          <p:nvPr/>
        </p:nvSpPr>
        <p:spPr>
          <a:xfrm>
            <a:off x="840342" y="4695219"/>
            <a:ext cx="3087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9</a:t>
            </a:r>
            <a:endParaRPr/>
          </a:p>
        </p:txBody>
      </p:sp>
      <p:sp>
        <p:nvSpPr>
          <p:cNvPr id="1788" name="Google Shape;1788;p77"/>
          <p:cNvSpPr txBox="1"/>
          <p:nvPr/>
        </p:nvSpPr>
        <p:spPr>
          <a:xfrm>
            <a:off x="1238750" y="4695775"/>
            <a:ext cx="461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10</a:t>
            </a:r>
            <a:endParaRPr/>
          </a:p>
        </p:txBody>
      </p:sp>
      <p:sp>
        <p:nvSpPr>
          <p:cNvPr id="1789" name="Google Shape;1789;p77"/>
          <p:cNvSpPr txBox="1"/>
          <p:nvPr/>
        </p:nvSpPr>
        <p:spPr>
          <a:xfrm>
            <a:off x="1732039" y="4703891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11</a:t>
            </a:r>
            <a:endParaRPr/>
          </a:p>
        </p:txBody>
      </p:sp>
      <p:sp>
        <p:nvSpPr>
          <p:cNvPr id="1790" name="Google Shape;1790;p77"/>
          <p:cNvSpPr txBox="1"/>
          <p:nvPr/>
        </p:nvSpPr>
        <p:spPr>
          <a:xfrm>
            <a:off x="2257875" y="4711455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</a:t>
            </a:r>
            <a:endParaRPr/>
          </a:p>
        </p:txBody>
      </p:sp>
      <p:sp>
        <p:nvSpPr>
          <p:cNvPr id="1791" name="Google Shape;1791;p77"/>
          <p:cNvSpPr txBox="1"/>
          <p:nvPr/>
        </p:nvSpPr>
        <p:spPr>
          <a:xfrm>
            <a:off x="2737767" y="4719019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</a:t>
            </a:r>
            <a:endParaRPr/>
          </a:p>
        </p:txBody>
      </p:sp>
      <p:sp>
        <p:nvSpPr>
          <p:cNvPr id="1792" name="Google Shape;1792;p77"/>
          <p:cNvSpPr txBox="1"/>
          <p:nvPr/>
        </p:nvSpPr>
        <p:spPr>
          <a:xfrm>
            <a:off x="3172275" y="4719579"/>
            <a:ext cx="4272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14</a:t>
            </a:r>
            <a:endParaRPr/>
          </a:p>
        </p:txBody>
      </p:sp>
      <p:sp>
        <p:nvSpPr>
          <p:cNvPr id="1793" name="Google Shape;1793;p77"/>
          <p:cNvSpPr/>
          <p:nvPr/>
        </p:nvSpPr>
        <p:spPr>
          <a:xfrm>
            <a:off x="4269843" y="3418114"/>
            <a:ext cx="308700" cy="290100"/>
          </a:xfrm>
          <a:prstGeom prst="rect">
            <a:avLst/>
          </a:prstGeom>
          <a:solidFill>
            <a:srgbClr val="B6D7A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  <p:sp>
        <p:nvSpPr>
          <p:cNvPr id="1794" name="Google Shape;1794;p77"/>
          <p:cNvSpPr txBox="1"/>
          <p:nvPr/>
        </p:nvSpPr>
        <p:spPr>
          <a:xfrm>
            <a:off x="7586301" y="2144700"/>
            <a:ext cx="1516800" cy="3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nsolas"/>
                <a:ea typeface="Consolas"/>
                <a:cs typeface="Consolas"/>
                <a:sym typeface="Consolas"/>
              </a:rPr>
              <a:t>0  1  2  3  4  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795" name="Google Shape;1795;p77"/>
          <p:cNvSpPr/>
          <p:nvPr/>
        </p:nvSpPr>
        <p:spPr>
          <a:xfrm>
            <a:off x="7560575" y="1891352"/>
            <a:ext cx="308700" cy="2901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78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21, CS61B, Fall 2023</a:t>
            </a:r>
            <a:endParaRPr/>
          </a:p>
        </p:txBody>
      </p:sp>
      <p:sp>
        <p:nvSpPr>
          <p:cNvPr id="1801" name="Google Shape;1801;p78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Priority Queue Introduction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Introducing the Priority Queue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Using a PQ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Bad Implementations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Heaps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Definitions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Add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Delete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Tree Representations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Recursive Representation (1)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Array Representations (2, 3, 3b)</a:t>
            </a:r>
            <a:endParaRPr>
              <a:solidFill>
                <a:srgbClr val="CCCCCC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Priority Queue Summary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Data Structures Summary</a:t>
            </a:r>
            <a:endParaRPr/>
          </a:p>
        </p:txBody>
      </p:sp>
      <p:sp>
        <p:nvSpPr>
          <p:cNvPr id="1802" name="Google Shape;1802;p78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Priority Queue Summary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6" name="Shape 18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7" name="Google Shape;1807;p79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 Implementation of a Priority Queue</a:t>
            </a:r>
            <a:endParaRPr/>
          </a:p>
        </p:txBody>
      </p:sp>
      <p:sp>
        <p:nvSpPr>
          <p:cNvPr id="1808" name="Google Shape;1808;p79"/>
          <p:cNvSpPr txBox="1"/>
          <p:nvPr>
            <p:ph idx="1" type="body"/>
          </p:nvPr>
        </p:nvSpPr>
        <p:spPr>
          <a:xfrm>
            <a:off x="243000" y="2665725"/>
            <a:ext cx="8443800" cy="22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Notes: 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Why “priority queue”? Can think of position in tree as its “priority.”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Heap is log N time AMORTIZED (some resizes, but no big deal).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BST can have constant getSmallest if you keep a pointer to smallest.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Heaps handle duplicate priorities much more naturally than BSTs.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Array based heaps take less memory (very roughly about 1/3rd the memory of representing a tree with approach 1a).</a:t>
            </a:r>
            <a:endParaRPr/>
          </a:p>
        </p:txBody>
      </p:sp>
      <p:graphicFrame>
        <p:nvGraphicFramePr>
          <p:cNvPr id="1809" name="Google Shape;1809;p79"/>
          <p:cNvGraphicFramePr/>
          <p:nvPr/>
        </p:nvGraphicFramePr>
        <p:xfrm>
          <a:off x="617575" y="926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{7C89B8A3-7295-462C-A610-F3B1B96D619A}</a:tableStyleId>
              </a:tblPr>
              <a:tblGrid>
                <a:gridCol w="1782725"/>
                <a:gridCol w="1447800"/>
                <a:gridCol w="1447800"/>
                <a:gridCol w="1447800"/>
                <a:gridCol w="14478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Ordered Array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Bushy BST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Hash Table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Heap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solidFill>
                      <a:srgbClr val="FFFFFF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Θ(log 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Θ(1)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Θ(log N)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getSmallest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Θ(1)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Θ(log 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Θ(1)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removeSmallest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Θ(log 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600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Θ(log N)</a:t>
                      </a:r>
                      <a:endParaRPr sz="160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solidFill>
                      <a:srgbClr val="B6D7A8"/>
                    </a:solidFill>
                  </a:tcPr>
                </a:tc>
              </a:tr>
            </a:tbl>
          </a:graphicData>
        </a:graphic>
      </p:graphicFrame>
      <p:cxnSp>
        <p:nvCxnSpPr>
          <p:cNvPr id="1810" name="Google Shape;1810;p79"/>
          <p:cNvCxnSpPr/>
          <p:nvPr/>
        </p:nvCxnSpPr>
        <p:spPr>
          <a:xfrm rot="10800000">
            <a:off x="4760800" y="2692275"/>
            <a:ext cx="524400" cy="179400"/>
          </a:xfrm>
          <a:prstGeom prst="straightConnector1">
            <a:avLst/>
          </a:prstGeom>
          <a:noFill/>
          <a:ln cap="flat" cmpd="sng" w="9525">
            <a:solidFill>
              <a:srgbClr val="BE071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11" name="Google Shape;1811;p79"/>
          <p:cNvSpPr txBox="1"/>
          <p:nvPr/>
        </p:nvSpPr>
        <p:spPr>
          <a:xfrm>
            <a:off x="5308800" y="2857500"/>
            <a:ext cx="35046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BE0712"/>
                </a:solidFill>
              </a:rPr>
              <a:t>Items with same priority hard to handle.</a:t>
            </a:r>
            <a:endParaRPr>
              <a:solidFill>
                <a:srgbClr val="BE0712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80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Some Implementation Questions</a:t>
            </a:r>
            <a:endParaRPr/>
          </a:p>
        </p:txBody>
      </p:sp>
      <p:sp>
        <p:nvSpPr>
          <p:cNvPr id="1817" name="Google Shape;1817;p80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How does a PQ know how to determine which item in a PQ is larger?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AutoNum type="alphaLcPeriod"/>
            </a:pPr>
            <a:r>
              <a:rPr lang="en"/>
              <a:t>What could we change so that there is a default </a:t>
            </a:r>
            <a:r>
              <a:rPr lang="en"/>
              <a:t>comparison</a:t>
            </a:r>
            <a:r>
              <a:rPr lang="en"/>
              <a:t>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W</a:t>
            </a:r>
            <a:r>
              <a:rPr lang="en"/>
              <a:t>hat constructors are needed to allow for different orderings</a:t>
            </a:r>
            <a:r>
              <a:rPr lang="en"/>
              <a:t>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8" name="Google Shape;1818;p80"/>
          <p:cNvSpPr txBox="1"/>
          <p:nvPr/>
        </p:nvSpPr>
        <p:spPr>
          <a:xfrm>
            <a:off x="672900" y="1759200"/>
            <a:ext cx="8039700" cy="3179700"/>
          </a:xfrm>
          <a:prstGeom prst="rect">
            <a:avLst/>
          </a:prstGeom>
          <a:solidFill>
            <a:srgbClr val="EFEFEF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/** (Min) Priority Queue: Allowing tracking and removal of the</a:t>
            </a:r>
            <a:endParaRPr i="1" sz="16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6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 * smallest item in a priority queue. */</a:t>
            </a:r>
            <a:endParaRPr i="1" sz="16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 interface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MinPQ&lt;Item&gt; {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i="1" lang="en" sz="16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/** Adds the item to the priority queue. */</a:t>
            </a:r>
            <a:endParaRPr i="1" sz="16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add(Item x);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i="1" lang="en" sz="16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/** Returns the smallest item in the priority queue. */</a:t>
            </a:r>
            <a:endParaRPr i="1" sz="16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 getSmallest();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i="1" lang="en" sz="16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/** Removes the smallest item from the priority queue. */</a:t>
            </a:r>
            <a:endParaRPr i="1" sz="16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Item removeSmallest();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i="1" lang="en" sz="1600">
                <a:solidFill>
                  <a:srgbClr val="AC20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/** Returns the size of the priority queue. */</a:t>
            </a:r>
            <a:endParaRPr i="1" sz="1600">
              <a:solidFill>
                <a:srgbClr val="AC2020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	</a:t>
            </a:r>
            <a:r>
              <a:rPr b="1" lang="en" sz="1600">
                <a:solidFill>
                  <a:srgbClr val="9C20EE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public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1600">
                <a:solidFill>
                  <a:srgbClr val="208920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int</a:t>
            </a: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 size();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highlight>
                  <a:srgbClr val="EFEFEF"/>
                </a:highlight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600">
              <a:solidFill>
                <a:schemeClr val="dk1"/>
              </a:solidFill>
              <a:highlight>
                <a:srgbClr val="EFEFEF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highlight>
                <a:srgbClr val="EFEFEF"/>
              </a:highlight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2" name="Shape 1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3" name="Google Shape;1823;p81"/>
          <p:cNvSpPr txBox="1"/>
          <p:nvPr>
            <p:ph idx="2" type="subTitle"/>
          </p:nvPr>
        </p:nvSpPr>
        <p:spPr>
          <a:xfrm>
            <a:off x="177925" y="4068000"/>
            <a:ext cx="41580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Lecture 21, CS61B, Fall 2023</a:t>
            </a:r>
            <a:endParaRPr/>
          </a:p>
        </p:txBody>
      </p:sp>
      <p:sp>
        <p:nvSpPr>
          <p:cNvPr id="1824" name="Google Shape;1824;p81"/>
          <p:cNvSpPr txBox="1"/>
          <p:nvPr>
            <p:ph idx="1" type="body"/>
          </p:nvPr>
        </p:nvSpPr>
        <p:spPr>
          <a:xfrm>
            <a:off x="4812375" y="402198"/>
            <a:ext cx="3999900" cy="4260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Priority Queue Introduction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Introducing the Priority Queue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Using a PQ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Some Bad Implementations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Heaps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Definitions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Add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"/>
              <a:t>Heap Delete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CCCCCC"/>
                </a:solidFill>
              </a:rPr>
              <a:t>Tree Representations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Recursive Representation (1)</a:t>
            </a:r>
            <a:endParaRPr>
              <a:solidFill>
                <a:srgbClr val="CCCCCC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800"/>
              <a:buChar char="•"/>
            </a:pPr>
            <a:r>
              <a:rPr lang="en">
                <a:solidFill>
                  <a:srgbClr val="CCCCCC"/>
                </a:solidFill>
              </a:rPr>
              <a:t>Array Representations (2, 3, 3b)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accent3"/>
                </a:solidFill>
                <a:latin typeface="Roboto"/>
                <a:ea typeface="Roboto"/>
                <a:cs typeface="Roboto"/>
                <a:sym typeface="Roboto"/>
              </a:rPr>
              <a:t>Data Structures Summary</a:t>
            </a:r>
            <a:endParaRPr b="1">
              <a:solidFill>
                <a:schemeClr val="accent3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5" name="Google Shape;1825;p81"/>
          <p:cNvSpPr txBox="1"/>
          <p:nvPr>
            <p:ph type="title"/>
          </p:nvPr>
        </p:nvSpPr>
        <p:spPr>
          <a:xfrm>
            <a:off x="177925" y="2003300"/>
            <a:ext cx="4038000" cy="203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 Summary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9" name="Shape 1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0" name="Google Shape;1830;p82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Search Problem</a:t>
            </a:r>
            <a:endParaRPr/>
          </a:p>
        </p:txBody>
      </p:sp>
      <p:sp>
        <p:nvSpPr>
          <p:cNvPr id="1831" name="Google Shape;1831;p82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Given a stream of data, retrieve information of interest.</a:t>
            </a:r>
            <a:endParaRPr/>
          </a:p>
          <a:p>
            <a:pPr indent="-342900" lvl="0" marL="457200" rtl="0" algn="l">
              <a:spcBef>
                <a:spcPts val="6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Examples: 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Website users post to personal page. Serve content only to friends.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Given logs for thousands of weather stations, display weather map for specified date and time.</a:t>
            </a:r>
            <a:endParaRPr/>
          </a:p>
        </p:txBody>
      </p:sp>
      <p:pic>
        <p:nvPicPr>
          <p:cNvPr id="1832" name="Google Shape;1832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0880" y="2602775"/>
            <a:ext cx="2398071" cy="2388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3" name="Google Shape;1833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54850" y="2602774"/>
            <a:ext cx="3485475" cy="241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7" name="Shape 18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8" name="Google Shape;1838;p83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Search Data Structures (The particularly abstract ones)</a:t>
            </a:r>
            <a:endParaRPr/>
          </a:p>
        </p:txBody>
      </p:sp>
      <p:graphicFrame>
        <p:nvGraphicFramePr>
          <p:cNvPr id="1839" name="Google Shape;1839;p83"/>
          <p:cNvGraphicFramePr/>
          <p:nvPr/>
        </p:nvGraphicFramePr>
        <p:xfrm>
          <a:off x="594475" y="1490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{7C89B8A3-7295-462C-A610-F3B1B96D619A}</a:tableStyleId>
              </a:tblPr>
              <a:tblGrid>
                <a:gridCol w="1196250"/>
                <a:gridCol w="2099550"/>
                <a:gridCol w="2533075"/>
                <a:gridCol w="2289925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Name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Storage Operation(s)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Primary Retrieval Operation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Retrieve By:</a:t>
                      </a:r>
                      <a:endParaRPr/>
                    </a:p>
                  </a:txBody>
                  <a:tcPr marT="91425" marB="91425" marR="91425" marL="91425">
                    <a:solidFill>
                      <a:srgbClr val="D9D9D9"/>
                    </a:solidFill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List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add(key)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insert(key, index)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get(index)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index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Map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put(key, value)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get(key)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identity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Set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add(key)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containsKey(key)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identity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PQ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add(key)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getSmallest()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key order (a.k.a. key size)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Disjoint Sets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connect(int1, int2)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isConnected(int1, int2)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two int values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3" name="Shape 18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4" name="Google Shape;1844;p84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 of Data Structures and ADTs (FA23 Version)</a:t>
            </a:r>
            <a:endParaRPr/>
          </a:p>
        </p:txBody>
      </p:sp>
      <p:sp>
        <p:nvSpPr>
          <p:cNvPr id="1845" name="Google Shape;1845;p84"/>
          <p:cNvSpPr txBox="1"/>
          <p:nvPr>
            <p:ph idx="1" type="body"/>
          </p:nvPr>
        </p:nvSpPr>
        <p:spPr>
          <a:xfrm>
            <a:off x="3097350" y="2278500"/>
            <a:ext cx="2949300" cy="58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https://yellkey.com/form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849" name="Shape 1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0" name="Google Shape;1850;p85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Diagram of Data Structures and ADTs (past semester version)</a:t>
            </a:r>
            <a:endParaRPr/>
          </a:p>
        </p:txBody>
      </p:sp>
      <p:sp>
        <p:nvSpPr>
          <p:cNvPr id="1851" name="Google Shape;1851;p85"/>
          <p:cNvSpPr/>
          <p:nvPr/>
        </p:nvSpPr>
        <p:spPr>
          <a:xfrm>
            <a:off x="2411389" y="2626823"/>
            <a:ext cx="1870200" cy="13029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2" name="Google Shape;1852;p85"/>
          <p:cNvSpPr/>
          <p:nvPr/>
        </p:nvSpPr>
        <p:spPr>
          <a:xfrm>
            <a:off x="2418800" y="1697600"/>
            <a:ext cx="1870200" cy="7983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3" name="Google Shape;1853;p85"/>
          <p:cNvSpPr/>
          <p:nvPr/>
        </p:nvSpPr>
        <p:spPr>
          <a:xfrm>
            <a:off x="5636375" y="1616575"/>
            <a:ext cx="696300" cy="30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PQ</a:t>
            </a:r>
            <a:endParaRPr/>
          </a:p>
        </p:txBody>
      </p:sp>
      <p:sp>
        <p:nvSpPr>
          <p:cNvPr id="1854" name="Google Shape;1854;p85"/>
          <p:cNvSpPr/>
          <p:nvPr/>
        </p:nvSpPr>
        <p:spPr>
          <a:xfrm>
            <a:off x="5606725" y="2759575"/>
            <a:ext cx="696300" cy="30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</a:t>
            </a:r>
            <a:endParaRPr/>
          </a:p>
        </p:txBody>
      </p:sp>
      <p:sp>
        <p:nvSpPr>
          <p:cNvPr id="1855" name="Google Shape;1855;p85"/>
          <p:cNvSpPr/>
          <p:nvPr/>
        </p:nvSpPr>
        <p:spPr>
          <a:xfrm>
            <a:off x="1178725" y="1768975"/>
            <a:ext cx="696300" cy="30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</a:t>
            </a:r>
            <a:endParaRPr/>
          </a:p>
        </p:txBody>
      </p:sp>
      <p:sp>
        <p:nvSpPr>
          <p:cNvPr id="1856" name="Google Shape;1856;p85"/>
          <p:cNvSpPr/>
          <p:nvPr/>
        </p:nvSpPr>
        <p:spPr>
          <a:xfrm>
            <a:off x="1178600" y="2402650"/>
            <a:ext cx="696300" cy="30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</a:t>
            </a:r>
            <a:endParaRPr/>
          </a:p>
        </p:txBody>
      </p:sp>
      <p:sp>
        <p:nvSpPr>
          <p:cNvPr id="1857" name="Google Shape;1857;p85"/>
          <p:cNvSpPr/>
          <p:nvPr/>
        </p:nvSpPr>
        <p:spPr>
          <a:xfrm>
            <a:off x="2389675" y="816475"/>
            <a:ext cx="1870200" cy="7380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8" name="Google Shape;1858;p85"/>
          <p:cNvSpPr/>
          <p:nvPr/>
        </p:nvSpPr>
        <p:spPr>
          <a:xfrm>
            <a:off x="5044475" y="4067375"/>
            <a:ext cx="1164600" cy="30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DisjointSets</a:t>
            </a:r>
            <a:endParaRPr/>
          </a:p>
        </p:txBody>
      </p:sp>
      <p:sp>
        <p:nvSpPr>
          <p:cNvPr id="1859" name="Google Shape;1859;p85"/>
          <p:cNvSpPr/>
          <p:nvPr/>
        </p:nvSpPr>
        <p:spPr>
          <a:xfrm>
            <a:off x="2460675" y="866875"/>
            <a:ext cx="1756800" cy="3054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Chaining HT</a:t>
            </a:r>
            <a:endParaRPr/>
          </a:p>
        </p:txBody>
      </p:sp>
      <p:sp>
        <p:nvSpPr>
          <p:cNvPr id="1860" name="Google Shape;1860;p85"/>
          <p:cNvSpPr/>
          <p:nvPr/>
        </p:nvSpPr>
        <p:spPr>
          <a:xfrm>
            <a:off x="2460675" y="1202475"/>
            <a:ext cx="1756800" cy="3054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Linear Probing HT</a:t>
            </a:r>
            <a:endParaRPr/>
          </a:p>
        </p:txBody>
      </p:sp>
      <p:sp>
        <p:nvSpPr>
          <p:cNvPr id="1861" name="Google Shape;1861;p85"/>
          <p:cNvSpPr/>
          <p:nvPr/>
        </p:nvSpPr>
        <p:spPr>
          <a:xfrm>
            <a:off x="2460675" y="1768975"/>
            <a:ext cx="1791900" cy="3054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LinkedList</a:t>
            </a:r>
            <a:endParaRPr/>
          </a:p>
        </p:txBody>
      </p:sp>
      <p:sp>
        <p:nvSpPr>
          <p:cNvPr id="1862" name="Google Shape;1862;p85"/>
          <p:cNvSpPr/>
          <p:nvPr/>
        </p:nvSpPr>
        <p:spPr>
          <a:xfrm>
            <a:off x="2468091" y="2149975"/>
            <a:ext cx="1791900" cy="3054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Resizing Array</a:t>
            </a:r>
            <a:endParaRPr/>
          </a:p>
        </p:txBody>
      </p:sp>
      <p:sp>
        <p:nvSpPr>
          <p:cNvPr id="1863" name="Google Shape;1863;p85"/>
          <p:cNvSpPr/>
          <p:nvPr/>
        </p:nvSpPr>
        <p:spPr>
          <a:xfrm>
            <a:off x="2443121" y="4160125"/>
            <a:ext cx="1791900" cy="3054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</a:t>
            </a:r>
            <a:endParaRPr/>
          </a:p>
        </p:txBody>
      </p:sp>
      <p:cxnSp>
        <p:nvCxnSpPr>
          <p:cNvPr id="1864" name="Google Shape;1864;p85"/>
          <p:cNvCxnSpPr>
            <a:stCxn id="1855" idx="3"/>
            <a:endCxn id="1859" idx="1"/>
          </p:cNvCxnSpPr>
          <p:nvPr/>
        </p:nvCxnSpPr>
        <p:spPr>
          <a:xfrm flipH="1" rot="10800000">
            <a:off x="1875025" y="1019575"/>
            <a:ext cx="585600" cy="902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5" name="Google Shape;1865;p85"/>
          <p:cNvCxnSpPr>
            <a:stCxn id="1860" idx="1"/>
            <a:endCxn id="1855" idx="3"/>
          </p:cNvCxnSpPr>
          <p:nvPr/>
        </p:nvCxnSpPr>
        <p:spPr>
          <a:xfrm flipH="1">
            <a:off x="1875075" y="1355175"/>
            <a:ext cx="585600" cy="56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6" name="Google Shape;1866;p85"/>
          <p:cNvCxnSpPr>
            <a:stCxn id="1855" idx="3"/>
            <a:endCxn id="1861" idx="1"/>
          </p:cNvCxnSpPr>
          <p:nvPr/>
        </p:nvCxnSpPr>
        <p:spPr>
          <a:xfrm>
            <a:off x="1875025" y="1921675"/>
            <a:ext cx="585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7" name="Google Shape;1867;p85"/>
          <p:cNvCxnSpPr>
            <a:stCxn id="1855" idx="3"/>
            <a:endCxn id="1868" idx="1"/>
          </p:cNvCxnSpPr>
          <p:nvPr/>
        </p:nvCxnSpPr>
        <p:spPr>
          <a:xfrm>
            <a:off x="1875025" y="1921675"/>
            <a:ext cx="580200" cy="990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69" name="Google Shape;1869;p85"/>
          <p:cNvCxnSpPr>
            <a:stCxn id="1855" idx="3"/>
            <a:endCxn id="1862" idx="1"/>
          </p:cNvCxnSpPr>
          <p:nvPr/>
        </p:nvCxnSpPr>
        <p:spPr>
          <a:xfrm>
            <a:off x="1875025" y="1921675"/>
            <a:ext cx="593100" cy="381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0" name="Google Shape;1870;p85"/>
          <p:cNvCxnSpPr>
            <a:stCxn id="1855" idx="3"/>
            <a:endCxn id="1871" idx="1"/>
          </p:cNvCxnSpPr>
          <p:nvPr/>
        </p:nvCxnSpPr>
        <p:spPr>
          <a:xfrm>
            <a:off x="1875025" y="1921675"/>
            <a:ext cx="580200" cy="137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2" name="Google Shape;1872;p85"/>
          <p:cNvCxnSpPr>
            <a:stCxn id="1855" idx="3"/>
            <a:endCxn id="1863" idx="1"/>
          </p:cNvCxnSpPr>
          <p:nvPr/>
        </p:nvCxnSpPr>
        <p:spPr>
          <a:xfrm>
            <a:off x="1875025" y="1921675"/>
            <a:ext cx="568200" cy="2391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71" name="Google Shape;1871;p85"/>
          <p:cNvSpPr/>
          <p:nvPr/>
        </p:nvSpPr>
        <p:spPr>
          <a:xfrm>
            <a:off x="2455221" y="3140575"/>
            <a:ext cx="1791900" cy="3054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 Black</a:t>
            </a:r>
            <a:endParaRPr/>
          </a:p>
        </p:txBody>
      </p:sp>
      <p:sp>
        <p:nvSpPr>
          <p:cNvPr id="1868" name="Google Shape;1868;p85"/>
          <p:cNvSpPr/>
          <p:nvPr/>
        </p:nvSpPr>
        <p:spPr>
          <a:xfrm>
            <a:off x="2455350" y="2759575"/>
            <a:ext cx="1791900" cy="3054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BST (Vanilla)</a:t>
            </a:r>
            <a:endParaRPr/>
          </a:p>
        </p:txBody>
      </p:sp>
      <p:sp>
        <p:nvSpPr>
          <p:cNvPr id="1873" name="Google Shape;1873;p85"/>
          <p:cNvSpPr/>
          <p:nvPr/>
        </p:nvSpPr>
        <p:spPr>
          <a:xfrm>
            <a:off x="2455221" y="3521575"/>
            <a:ext cx="1791900" cy="3054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B-Trees (2-3 / 2-3-4)</a:t>
            </a:r>
            <a:endParaRPr sz="1300"/>
          </a:p>
        </p:txBody>
      </p:sp>
      <p:cxnSp>
        <p:nvCxnSpPr>
          <p:cNvPr id="1874" name="Google Shape;1874;p85"/>
          <p:cNvCxnSpPr>
            <a:stCxn id="1859" idx="1"/>
            <a:endCxn id="1856" idx="3"/>
          </p:cNvCxnSpPr>
          <p:nvPr/>
        </p:nvCxnSpPr>
        <p:spPr>
          <a:xfrm flipH="1">
            <a:off x="1874775" y="1019575"/>
            <a:ext cx="585900" cy="1535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5" name="Google Shape;1875;p85"/>
          <p:cNvCxnSpPr>
            <a:stCxn id="1860" idx="1"/>
            <a:endCxn id="1856" idx="3"/>
          </p:cNvCxnSpPr>
          <p:nvPr/>
        </p:nvCxnSpPr>
        <p:spPr>
          <a:xfrm flipH="1">
            <a:off x="1874775" y="1355175"/>
            <a:ext cx="585900" cy="1200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6" name="Google Shape;1876;p85"/>
          <p:cNvCxnSpPr>
            <a:stCxn id="1861" idx="1"/>
            <a:endCxn id="1856" idx="3"/>
          </p:cNvCxnSpPr>
          <p:nvPr/>
        </p:nvCxnSpPr>
        <p:spPr>
          <a:xfrm flipH="1">
            <a:off x="1874775" y="1921675"/>
            <a:ext cx="585900" cy="63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7" name="Google Shape;1877;p85"/>
          <p:cNvCxnSpPr>
            <a:stCxn id="1862" idx="1"/>
            <a:endCxn id="1856" idx="3"/>
          </p:cNvCxnSpPr>
          <p:nvPr/>
        </p:nvCxnSpPr>
        <p:spPr>
          <a:xfrm flipH="1">
            <a:off x="1874991" y="2302675"/>
            <a:ext cx="593100" cy="252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8" name="Google Shape;1878;p85"/>
          <p:cNvCxnSpPr>
            <a:stCxn id="1868" idx="1"/>
            <a:endCxn id="1856" idx="3"/>
          </p:cNvCxnSpPr>
          <p:nvPr/>
        </p:nvCxnSpPr>
        <p:spPr>
          <a:xfrm rot="10800000">
            <a:off x="1874850" y="2555275"/>
            <a:ext cx="580500" cy="357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9" name="Google Shape;1879;p85"/>
          <p:cNvCxnSpPr>
            <a:stCxn id="1871" idx="1"/>
            <a:endCxn id="1856" idx="3"/>
          </p:cNvCxnSpPr>
          <p:nvPr/>
        </p:nvCxnSpPr>
        <p:spPr>
          <a:xfrm rot="10800000">
            <a:off x="1875021" y="2555275"/>
            <a:ext cx="580200" cy="738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0" name="Google Shape;1880;p85"/>
          <p:cNvCxnSpPr>
            <a:stCxn id="1873" idx="1"/>
            <a:endCxn id="1856" idx="3"/>
          </p:cNvCxnSpPr>
          <p:nvPr/>
        </p:nvCxnSpPr>
        <p:spPr>
          <a:xfrm rot="10800000">
            <a:off x="1875021" y="2555275"/>
            <a:ext cx="580200" cy="1119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1" name="Google Shape;1881;p85"/>
          <p:cNvCxnSpPr>
            <a:stCxn id="1863" idx="1"/>
            <a:endCxn id="1856" idx="3"/>
          </p:cNvCxnSpPr>
          <p:nvPr/>
        </p:nvCxnSpPr>
        <p:spPr>
          <a:xfrm rot="10800000">
            <a:off x="1874921" y="2555425"/>
            <a:ext cx="568200" cy="175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82" name="Google Shape;1882;p85"/>
          <p:cNvSpPr/>
          <p:nvPr/>
        </p:nvSpPr>
        <p:spPr>
          <a:xfrm>
            <a:off x="6623775" y="549175"/>
            <a:ext cx="1756800" cy="3054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Heap</a:t>
            </a:r>
            <a:endParaRPr/>
          </a:p>
        </p:txBody>
      </p:sp>
      <p:sp>
        <p:nvSpPr>
          <p:cNvPr id="1883" name="Google Shape;1883;p85"/>
          <p:cNvSpPr/>
          <p:nvPr/>
        </p:nvSpPr>
        <p:spPr>
          <a:xfrm>
            <a:off x="6657575" y="1921375"/>
            <a:ext cx="1756800" cy="443400"/>
          </a:xfrm>
          <a:prstGeom prst="rect">
            <a:avLst/>
          </a:prstGeom>
          <a:solidFill>
            <a:srgbClr val="FF0000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Chaining HT (lacks order, very odd)</a:t>
            </a:r>
            <a:endParaRPr/>
          </a:p>
        </p:txBody>
      </p:sp>
      <p:sp>
        <p:nvSpPr>
          <p:cNvPr id="1884" name="Google Shape;1884;p85"/>
          <p:cNvSpPr/>
          <p:nvPr/>
        </p:nvSpPr>
        <p:spPr>
          <a:xfrm>
            <a:off x="6623775" y="1387375"/>
            <a:ext cx="2024100" cy="3054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Ordered Linked List</a:t>
            </a:r>
            <a:endParaRPr/>
          </a:p>
        </p:txBody>
      </p:sp>
      <p:sp>
        <p:nvSpPr>
          <p:cNvPr id="1885" name="Google Shape;1885;p85"/>
          <p:cNvSpPr/>
          <p:nvPr/>
        </p:nvSpPr>
        <p:spPr>
          <a:xfrm>
            <a:off x="6623775" y="930175"/>
            <a:ext cx="1756800" cy="3054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Balanced Tree</a:t>
            </a:r>
            <a:endParaRPr/>
          </a:p>
        </p:txBody>
      </p:sp>
      <p:cxnSp>
        <p:nvCxnSpPr>
          <p:cNvPr id="1886" name="Google Shape;1886;p85"/>
          <p:cNvCxnSpPr>
            <a:stCxn id="1885" idx="1"/>
            <a:endCxn id="1853" idx="3"/>
          </p:cNvCxnSpPr>
          <p:nvPr/>
        </p:nvCxnSpPr>
        <p:spPr>
          <a:xfrm flipH="1">
            <a:off x="6332775" y="1082875"/>
            <a:ext cx="291000" cy="68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7" name="Google Shape;1887;p85"/>
          <p:cNvCxnSpPr>
            <a:stCxn id="1884" idx="1"/>
            <a:endCxn id="1853" idx="3"/>
          </p:cNvCxnSpPr>
          <p:nvPr/>
        </p:nvCxnSpPr>
        <p:spPr>
          <a:xfrm flipH="1">
            <a:off x="6332775" y="1540075"/>
            <a:ext cx="291000" cy="229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8" name="Google Shape;1888;p85"/>
          <p:cNvCxnSpPr>
            <a:stCxn id="1882" idx="1"/>
            <a:endCxn id="1853" idx="3"/>
          </p:cNvCxnSpPr>
          <p:nvPr/>
        </p:nvCxnSpPr>
        <p:spPr>
          <a:xfrm flipH="1">
            <a:off x="6332775" y="701875"/>
            <a:ext cx="291000" cy="106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89" name="Google Shape;1889;p85"/>
          <p:cNvCxnSpPr>
            <a:stCxn id="1883" idx="1"/>
            <a:endCxn id="1853" idx="3"/>
          </p:cNvCxnSpPr>
          <p:nvPr/>
        </p:nvCxnSpPr>
        <p:spPr>
          <a:xfrm rot="10800000">
            <a:off x="6332675" y="1769275"/>
            <a:ext cx="324900" cy="37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0" name="Google Shape;1890;p85"/>
          <p:cNvSpPr/>
          <p:nvPr/>
        </p:nvSpPr>
        <p:spPr>
          <a:xfrm>
            <a:off x="6743578" y="2950075"/>
            <a:ext cx="1791900" cy="3054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Resizing Array</a:t>
            </a:r>
            <a:endParaRPr/>
          </a:p>
        </p:txBody>
      </p:sp>
      <p:sp>
        <p:nvSpPr>
          <p:cNvPr id="1891" name="Google Shape;1891;p85"/>
          <p:cNvSpPr/>
          <p:nvPr/>
        </p:nvSpPr>
        <p:spPr>
          <a:xfrm>
            <a:off x="6736163" y="2569075"/>
            <a:ext cx="1791900" cy="3054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LinkedList</a:t>
            </a:r>
            <a:endParaRPr/>
          </a:p>
        </p:txBody>
      </p:sp>
      <p:cxnSp>
        <p:nvCxnSpPr>
          <p:cNvPr id="1892" name="Google Shape;1892;p85"/>
          <p:cNvCxnSpPr>
            <a:stCxn id="1891" idx="1"/>
            <a:endCxn id="1854" idx="3"/>
          </p:cNvCxnSpPr>
          <p:nvPr/>
        </p:nvCxnSpPr>
        <p:spPr>
          <a:xfrm flipH="1">
            <a:off x="6302963" y="2721775"/>
            <a:ext cx="433200" cy="1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3" name="Google Shape;1893;p85"/>
          <p:cNvCxnSpPr>
            <a:stCxn id="1890" idx="1"/>
            <a:endCxn id="1854" idx="3"/>
          </p:cNvCxnSpPr>
          <p:nvPr/>
        </p:nvCxnSpPr>
        <p:spPr>
          <a:xfrm rot="10800000">
            <a:off x="6302878" y="2912275"/>
            <a:ext cx="440700" cy="190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4" name="Google Shape;1894;p85"/>
          <p:cNvSpPr/>
          <p:nvPr/>
        </p:nvSpPr>
        <p:spPr>
          <a:xfrm>
            <a:off x="6516446" y="3533375"/>
            <a:ext cx="1791900" cy="3054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Find</a:t>
            </a:r>
            <a:endParaRPr/>
          </a:p>
        </p:txBody>
      </p:sp>
      <p:sp>
        <p:nvSpPr>
          <p:cNvPr id="1895" name="Google Shape;1895;p85"/>
          <p:cNvSpPr/>
          <p:nvPr/>
        </p:nvSpPr>
        <p:spPr>
          <a:xfrm>
            <a:off x="6516446" y="3931825"/>
            <a:ext cx="1791900" cy="3054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Quick Union</a:t>
            </a:r>
            <a:endParaRPr/>
          </a:p>
        </p:txBody>
      </p:sp>
      <p:sp>
        <p:nvSpPr>
          <p:cNvPr id="1896" name="Google Shape;1896;p85"/>
          <p:cNvSpPr/>
          <p:nvPr/>
        </p:nvSpPr>
        <p:spPr>
          <a:xfrm>
            <a:off x="6516446" y="4330275"/>
            <a:ext cx="1791900" cy="3054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Weighted QU</a:t>
            </a:r>
            <a:endParaRPr/>
          </a:p>
        </p:txBody>
      </p:sp>
      <p:sp>
        <p:nvSpPr>
          <p:cNvPr id="1897" name="Google Shape;1897;p85"/>
          <p:cNvSpPr/>
          <p:nvPr/>
        </p:nvSpPr>
        <p:spPr>
          <a:xfrm>
            <a:off x="6516446" y="4711275"/>
            <a:ext cx="1791900" cy="305400"/>
          </a:xfrm>
          <a:prstGeom prst="rect">
            <a:avLst/>
          </a:prstGeom>
          <a:solidFill>
            <a:srgbClr val="C9DAF8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WQUPC</a:t>
            </a:r>
            <a:endParaRPr/>
          </a:p>
        </p:txBody>
      </p:sp>
      <p:cxnSp>
        <p:nvCxnSpPr>
          <p:cNvPr id="1898" name="Google Shape;1898;p85"/>
          <p:cNvCxnSpPr>
            <a:stCxn id="1894" idx="1"/>
            <a:endCxn id="1858" idx="3"/>
          </p:cNvCxnSpPr>
          <p:nvPr/>
        </p:nvCxnSpPr>
        <p:spPr>
          <a:xfrm flipH="1">
            <a:off x="6208946" y="3686075"/>
            <a:ext cx="307500" cy="53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99" name="Google Shape;1899;p85"/>
          <p:cNvCxnSpPr>
            <a:stCxn id="1895" idx="1"/>
            <a:endCxn id="1858" idx="3"/>
          </p:cNvCxnSpPr>
          <p:nvPr/>
        </p:nvCxnSpPr>
        <p:spPr>
          <a:xfrm flipH="1">
            <a:off x="6208946" y="4084525"/>
            <a:ext cx="307500" cy="135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0" name="Google Shape;1900;p85"/>
          <p:cNvCxnSpPr>
            <a:stCxn id="1896" idx="1"/>
            <a:endCxn id="1858" idx="3"/>
          </p:cNvCxnSpPr>
          <p:nvPr/>
        </p:nvCxnSpPr>
        <p:spPr>
          <a:xfrm rot="10800000">
            <a:off x="6208946" y="4220175"/>
            <a:ext cx="307500" cy="262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01" name="Google Shape;1901;p85"/>
          <p:cNvCxnSpPr>
            <a:stCxn id="1897" idx="1"/>
            <a:endCxn id="1858" idx="3"/>
          </p:cNvCxnSpPr>
          <p:nvPr/>
        </p:nvCxnSpPr>
        <p:spPr>
          <a:xfrm rot="10800000">
            <a:off x="6208946" y="4220175"/>
            <a:ext cx="307500" cy="643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02" name="Google Shape;1902;p85"/>
          <p:cNvSpPr/>
          <p:nvPr/>
        </p:nvSpPr>
        <p:spPr>
          <a:xfrm>
            <a:off x="4582825" y="754650"/>
            <a:ext cx="696300" cy="30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06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p86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accent3"/>
                </a:solidFill>
              </a:rPr>
              <a:t>Diagram of Data Structures and ADTs (past semester version)</a:t>
            </a:r>
            <a:endParaRPr/>
          </a:p>
        </p:txBody>
      </p:sp>
      <p:sp>
        <p:nvSpPr>
          <p:cNvPr id="1908" name="Google Shape;1908;p86"/>
          <p:cNvSpPr/>
          <p:nvPr/>
        </p:nvSpPr>
        <p:spPr>
          <a:xfrm>
            <a:off x="215450" y="1235875"/>
            <a:ext cx="1179000" cy="30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PQ</a:t>
            </a:r>
            <a:endParaRPr/>
          </a:p>
        </p:txBody>
      </p:sp>
      <p:sp>
        <p:nvSpPr>
          <p:cNvPr id="1909" name="Google Shape;1909;p86"/>
          <p:cNvSpPr/>
          <p:nvPr/>
        </p:nvSpPr>
        <p:spPr>
          <a:xfrm>
            <a:off x="1943100" y="1229575"/>
            <a:ext cx="1752600" cy="3180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Heap Ordered Tree</a:t>
            </a:r>
            <a:endParaRPr/>
          </a:p>
        </p:txBody>
      </p:sp>
      <p:cxnSp>
        <p:nvCxnSpPr>
          <p:cNvPr id="1910" name="Google Shape;1910;p86"/>
          <p:cNvCxnSpPr>
            <a:stCxn id="1908" idx="3"/>
            <a:endCxn id="1909" idx="1"/>
          </p:cNvCxnSpPr>
          <p:nvPr/>
        </p:nvCxnSpPr>
        <p:spPr>
          <a:xfrm>
            <a:off x="1394450" y="1388575"/>
            <a:ext cx="548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1" name="Google Shape;1911;p86"/>
          <p:cNvSpPr/>
          <p:nvPr/>
        </p:nvSpPr>
        <p:spPr>
          <a:xfrm>
            <a:off x="4244350" y="1235875"/>
            <a:ext cx="2227500" cy="30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Separate Chaining HT</a:t>
            </a:r>
            <a:endParaRPr/>
          </a:p>
        </p:txBody>
      </p:sp>
      <p:sp>
        <p:nvSpPr>
          <p:cNvPr id="1912" name="Google Shape;1912;p86"/>
          <p:cNvSpPr/>
          <p:nvPr/>
        </p:nvSpPr>
        <p:spPr>
          <a:xfrm>
            <a:off x="6919675" y="1235875"/>
            <a:ext cx="1691400" cy="3054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 of Buckets</a:t>
            </a:r>
            <a:endParaRPr/>
          </a:p>
        </p:txBody>
      </p:sp>
      <p:cxnSp>
        <p:nvCxnSpPr>
          <p:cNvPr id="1913" name="Google Shape;1913;p86"/>
          <p:cNvCxnSpPr>
            <a:stCxn id="1911" idx="3"/>
            <a:endCxn id="1912" idx="1"/>
          </p:cNvCxnSpPr>
          <p:nvPr/>
        </p:nvCxnSpPr>
        <p:spPr>
          <a:xfrm>
            <a:off x="6471850" y="1388575"/>
            <a:ext cx="4479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4" name="Google Shape;1914;p86"/>
          <p:cNvSpPr/>
          <p:nvPr/>
        </p:nvSpPr>
        <p:spPr>
          <a:xfrm>
            <a:off x="4918225" y="2248475"/>
            <a:ext cx="861600" cy="30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Bucket</a:t>
            </a:r>
            <a:endParaRPr/>
          </a:p>
        </p:txBody>
      </p:sp>
      <p:cxnSp>
        <p:nvCxnSpPr>
          <p:cNvPr id="1915" name="Google Shape;1915;p86"/>
          <p:cNvCxnSpPr>
            <a:stCxn id="1912" idx="2"/>
            <a:endCxn id="1914" idx="0"/>
          </p:cNvCxnSpPr>
          <p:nvPr/>
        </p:nvCxnSpPr>
        <p:spPr>
          <a:xfrm flipH="1">
            <a:off x="5349175" y="1541275"/>
            <a:ext cx="2416200" cy="707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16" name="Google Shape;1916;p86"/>
          <p:cNvSpPr/>
          <p:nvPr/>
        </p:nvSpPr>
        <p:spPr>
          <a:xfrm>
            <a:off x="6843475" y="1845475"/>
            <a:ext cx="1691400" cy="3054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ArrayList</a:t>
            </a:r>
            <a:endParaRPr/>
          </a:p>
        </p:txBody>
      </p:sp>
      <p:sp>
        <p:nvSpPr>
          <p:cNvPr id="1917" name="Google Shape;1917;p86"/>
          <p:cNvSpPr/>
          <p:nvPr/>
        </p:nvSpPr>
        <p:spPr>
          <a:xfrm>
            <a:off x="6843475" y="2226475"/>
            <a:ext cx="1691400" cy="3054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Resizing Array</a:t>
            </a:r>
            <a:endParaRPr/>
          </a:p>
        </p:txBody>
      </p:sp>
      <p:sp>
        <p:nvSpPr>
          <p:cNvPr id="1918" name="Google Shape;1918;p86"/>
          <p:cNvSpPr/>
          <p:nvPr/>
        </p:nvSpPr>
        <p:spPr>
          <a:xfrm>
            <a:off x="6843475" y="2607475"/>
            <a:ext cx="1691400" cy="3054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LinkedList</a:t>
            </a:r>
            <a:endParaRPr/>
          </a:p>
        </p:txBody>
      </p:sp>
      <p:sp>
        <p:nvSpPr>
          <p:cNvPr id="1919" name="Google Shape;1919;p86"/>
          <p:cNvSpPr/>
          <p:nvPr/>
        </p:nvSpPr>
        <p:spPr>
          <a:xfrm>
            <a:off x="6843475" y="2988475"/>
            <a:ext cx="1691400" cy="4434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BST (requires comparable items)</a:t>
            </a:r>
            <a:endParaRPr/>
          </a:p>
        </p:txBody>
      </p:sp>
      <p:cxnSp>
        <p:nvCxnSpPr>
          <p:cNvPr id="1920" name="Google Shape;1920;p86"/>
          <p:cNvCxnSpPr>
            <a:stCxn id="1919" idx="1"/>
            <a:endCxn id="1914" idx="3"/>
          </p:cNvCxnSpPr>
          <p:nvPr/>
        </p:nvCxnSpPr>
        <p:spPr>
          <a:xfrm rot="10800000">
            <a:off x="5779675" y="2401075"/>
            <a:ext cx="1063800" cy="80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1" name="Google Shape;1921;p86"/>
          <p:cNvCxnSpPr>
            <a:stCxn id="1918" idx="1"/>
            <a:endCxn id="1914" idx="3"/>
          </p:cNvCxnSpPr>
          <p:nvPr/>
        </p:nvCxnSpPr>
        <p:spPr>
          <a:xfrm rot="10800000">
            <a:off x="5779675" y="2401075"/>
            <a:ext cx="1063800" cy="359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2" name="Google Shape;1922;p86"/>
          <p:cNvCxnSpPr>
            <a:stCxn id="1917" idx="1"/>
            <a:endCxn id="1914" idx="3"/>
          </p:cNvCxnSpPr>
          <p:nvPr/>
        </p:nvCxnSpPr>
        <p:spPr>
          <a:xfrm flipH="1">
            <a:off x="5779675" y="2379175"/>
            <a:ext cx="1063800" cy="21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23" name="Google Shape;1923;p86"/>
          <p:cNvCxnSpPr>
            <a:stCxn id="1916" idx="1"/>
            <a:endCxn id="1914" idx="3"/>
          </p:cNvCxnSpPr>
          <p:nvPr/>
        </p:nvCxnSpPr>
        <p:spPr>
          <a:xfrm flipH="1">
            <a:off x="5779675" y="1998175"/>
            <a:ext cx="1063800" cy="402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24" name="Google Shape;1924;p86"/>
          <p:cNvSpPr/>
          <p:nvPr/>
        </p:nvSpPr>
        <p:spPr>
          <a:xfrm>
            <a:off x="520250" y="2410535"/>
            <a:ext cx="592200" cy="3180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Tree</a:t>
            </a:r>
            <a:endParaRPr/>
          </a:p>
        </p:txBody>
      </p:sp>
      <p:sp>
        <p:nvSpPr>
          <p:cNvPr id="1925" name="Google Shape;1925;p86"/>
          <p:cNvSpPr/>
          <p:nvPr/>
        </p:nvSpPr>
        <p:spPr>
          <a:xfrm>
            <a:off x="2171700" y="1915375"/>
            <a:ext cx="1280100" cy="3180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Approach 1A</a:t>
            </a:r>
            <a:endParaRPr/>
          </a:p>
        </p:txBody>
      </p:sp>
      <p:sp>
        <p:nvSpPr>
          <p:cNvPr id="1926" name="Google Shape;1926;p86"/>
          <p:cNvSpPr/>
          <p:nvPr/>
        </p:nvSpPr>
        <p:spPr>
          <a:xfrm>
            <a:off x="2171700" y="2288755"/>
            <a:ext cx="1280100" cy="3180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Approach 1B</a:t>
            </a:r>
            <a:endParaRPr/>
          </a:p>
        </p:txBody>
      </p:sp>
      <p:sp>
        <p:nvSpPr>
          <p:cNvPr id="1927" name="Google Shape;1927;p86"/>
          <p:cNvSpPr/>
          <p:nvPr/>
        </p:nvSpPr>
        <p:spPr>
          <a:xfrm>
            <a:off x="2171700" y="2662135"/>
            <a:ext cx="1280100" cy="3180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Approach 1C</a:t>
            </a:r>
            <a:endParaRPr/>
          </a:p>
        </p:txBody>
      </p:sp>
      <p:sp>
        <p:nvSpPr>
          <p:cNvPr id="1928" name="Google Shape;1928;p86"/>
          <p:cNvSpPr/>
          <p:nvPr/>
        </p:nvSpPr>
        <p:spPr>
          <a:xfrm>
            <a:off x="2171700" y="3035515"/>
            <a:ext cx="1280100" cy="3180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Approach 2</a:t>
            </a:r>
            <a:endParaRPr/>
          </a:p>
        </p:txBody>
      </p:sp>
      <p:sp>
        <p:nvSpPr>
          <p:cNvPr id="1929" name="Google Shape;1929;p86"/>
          <p:cNvSpPr/>
          <p:nvPr/>
        </p:nvSpPr>
        <p:spPr>
          <a:xfrm>
            <a:off x="2171700" y="3408895"/>
            <a:ext cx="1280100" cy="3180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Approach 3</a:t>
            </a:r>
            <a:endParaRPr/>
          </a:p>
        </p:txBody>
      </p:sp>
      <p:cxnSp>
        <p:nvCxnSpPr>
          <p:cNvPr id="1930" name="Google Shape;1930;p86"/>
          <p:cNvCxnSpPr>
            <a:stCxn id="1909" idx="2"/>
            <a:endCxn id="1924" idx="0"/>
          </p:cNvCxnSpPr>
          <p:nvPr/>
        </p:nvCxnSpPr>
        <p:spPr>
          <a:xfrm flipH="1">
            <a:off x="816300" y="1547575"/>
            <a:ext cx="2003100" cy="863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1" name="Google Shape;1931;p86"/>
          <p:cNvCxnSpPr>
            <a:stCxn id="1925" idx="1"/>
            <a:endCxn id="1924" idx="3"/>
          </p:cNvCxnSpPr>
          <p:nvPr/>
        </p:nvCxnSpPr>
        <p:spPr>
          <a:xfrm flipH="1">
            <a:off x="1112400" y="2074375"/>
            <a:ext cx="1059300" cy="495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2" name="Google Shape;1932;p86"/>
          <p:cNvCxnSpPr>
            <a:stCxn id="1926" idx="1"/>
            <a:endCxn id="1924" idx="3"/>
          </p:cNvCxnSpPr>
          <p:nvPr/>
        </p:nvCxnSpPr>
        <p:spPr>
          <a:xfrm flipH="1">
            <a:off x="1112400" y="2447755"/>
            <a:ext cx="1059300" cy="121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3" name="Google Shape;1933;p86"/>
          <p:cNvCxnSpPr>
            <a:stCxn id="1927" idx="1"/>
            <a:endCxn id="1924" idx="3"/>
          </p:cNvCxnSpPr>
          <p:nvPr/>
        </p:nvCxnSpPr>
        <p:spPr>
          <a:xfrm rot="10800000">
            <a:off x="1112400" y="2569435"/>
            <a:ext cx="1059300" cy="251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4" name="Google Shape;1934;p86"/>
          <p:cNvCxnSpPr>
            <a:stCxn id="1928" idx="1"/>
            <a:endCxn id="1924" idx="3"/>
          </p:cNvCxnSpPr>
          <p:nvPr/>
        </p:nvCxnSpPr>
        <p:spPr>
          <a:xfrm rot="10800000">
            <a:off x="1112400" y="2569615"/>
            <a:ext cx="1059300" cy="624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35" name="Google Shape;1935;p86"/>
          <p:cNvCxnSpPr>
            <a:stCxn id="1929" idx="1"/>
            <a:endCxn id="1924" idx="3"/>
          </p:cNvCxnSpPr>
          <p:nvPr/>
        </p:nvCxnSpPr>
        <p:spPr>
          <a:xfrm rot="10800000">
            <a:off x="1112400" y="2569495"/>
            <a:ext cx="1059300" cy="998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6" name="Google Shape;1936;p86"/>
          <p:cNvSpPr/>
          <p:nvPr/>
        </p:nvSpPr>
        <p:spPr>
          <a:xfrm>
            <a:off x="2149350" y="3819370"/>
            <a:ext cx="1280100" cy="3180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Approach 3B</a:t>
            </a:r>
            <a:endParaRPr/>
          </a:p>
        </p:txBody>
      </p:sp>
      <p:cxnSp>
        <p:nvCxnSpPr>
          <p:cNvPr id="1937" name="Google Shape;1937;p86"/>
          <p:cNvCxnSpPr>
            <a:stCxn id="1936" idx="1"/>
            <a:endCxn id="1924" idx="3"/>
          </p:cNvCxnSpPr>
          <p:nvPr/>
        </p:nvCxnSpPr>
        <p:spPr>
          <a:xfrm rot="10800000">
            <a:off x="1112550" y="2569570"/>
            <a:ext cx="1036800" cy="1408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38" name="Google Shape;1938;p86"/>
          <p:cNvSpPr/>
          <p:nvPr/>
        </p:nvSpPr>
        <p:spPr>
          <a:xfrm>
            <a:off x="6843475" y="3499800"/>
            <a:ext cx="1691400" cy="4953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HashSet (weird choice)</a:t>
            </a:r>
            <a:endParaRPr/>
          </a:p>
        </p:txBody>
      </p:sp>
      <p:cxnSp>
        <p:nvCxnSpPr>
          <p:cNvPr id="1939" name="Google Shape;1939;p86"/>
          <p:cNvCxnSpPr>
            <a:stCxn id="1938" idx="1"/>
            <a:endCxn id="1914" idx="3"/>
          </p:cNvCxnSpPr>
          <p:nvPr/>
        </p:nvCxnSpPr>
        <p:spPr>
          <a:xfrm rot="10800000">
            <a:off x="5779675" y="2401050"/>
            <a:ext cx="1063800" cy="1346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40" name="Google Shape;1940;p86"/>
          <p:cNvSpPr txBox="1"/>
          <p:nvPr>
            <p:ph idx="1" type="body"/>
          </p:nvPr>
        </p:nvSpPr>
        <p:spPr>
          <a:xfrm>
            <a:off x="107050" y="402200"/>
            <a:ext cx="85206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Abstraction often happens in layers!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944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p87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3"/>
                </a:solidFill>
              </a:rPr>
              <a:t>Diagram of Data Structures and ADTs (past semester version)</a:t>
            </a:r>
            <a:endParaRPr/>
          </a:p>
        </p:txBody>
      </p:sp>
      <p:sp>
        <p:nvSpPr>
          <p:cNvPr id="1946" name="Google Shape;1946;p87"/>
          <p:cNvSpPr txBox="1"/>
          <p:nvPr>
            <p:ph idx="1" type="body"/>
          </p:nvPr>
        </p:nvSpPr>
        <p:spPr>
          <a:xfrm>
            <a:off x="107050" y="402200"/>
            <a:ext cx="8520600" cy="60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Specialized Searching Data Structures: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7" name="Google Shape;1947;p87"/>
          <p:cNvSpPr/>
          <p:nvPr/>
        </p:nvSpPr>
        <p:spPr>
          <a:xfrm>
            <a:off x="1148500" y="2754425"/>
            <a:ext cx="696300" cy="30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Set</a:t>
            </a:r>
            <a:endParaRPr/>
          </a:p>
        </p:txBody>
      </p:sp>
      <p:sp>
        <p:nvSpPr>
          <p:cNvPr id="1948" name="Google Shape;1948;p87"/>
          <p:cNvSpPr/>
          <p:nvPr/>
        </p:nvSpPr>
        <p:spPr>
          <a:xfrm>
            <a:off x="1148500" y="4145400"/>
            <a:ext cx="696300" cy="30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PQ</a:t>
            </a:r>
            <a:endParaRPr/>
          </a:p>
        </p:txBody>
      </p:sp>
      <p:sp>
        <p:nvSpPr>
          <p:cNvPr id="1949" name="Google Shape;1949;p87"/>
          <p:cNvSpPr/>
          <p:nvPr/>
        </p:nvSpPr>
        <p:spPr>
          <a:xfrm>
            <a:off x="1148500" y="3450588"/>
            <a:ext cx="696300" cy="30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Map</a:t>
            </a:r>
            <a:endParaRPr/>
          </a:p>
        </p:txBody>
      </p:sp>
      <p:sp>
        <p:nvSpPr>
          <p:cNvPr id="1950" name="Google Shape;1950;p87"/>
          <p:cNvSpPr/>
          <p:nvPr/>
        </p:nvSpPr>
        <p:spPr>
          <a:xfrm>
            <a:off x="2181150" y="2754425"/>
            <a:ext cx="1185000" cy="3054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Sorted Set</a:t>
            </a:r>
            <a:endParaRPr/>
          </a:p>
        </p:txBody>
      </p:sp>
      <p:cxnSp>
        <p:nvCxnSpPr>
          <p:cNvPr id="1951" name="Google Shape;1951;p87"/>
          <p:cNvCxnSpPr>
            <a:stCxn id="1947" idx="3"/>
            <a:endCxn id="1950" idx="1"/>
          </p:cNvCxnSpPr>
          <p:nvPr/>
        </p:nvCxnSpPr>
        <p:spPr>
          <a:xfrm>
            <a:off x="1844800" y="2907125"/>
            <a:ext cx="336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2" name="Google Shape;1952;p87"/>
          <p:cNvSpPr/>
          <p:nvPr/>
        </p:nvSpPr>
        <p:spPr>
          <a:xfrm>
            <a:off x="2165400" y="3450663"/>
            <a:ext cx="1185000" cy="3054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Sorted Map</a:t>
            </a:r>
            <a:endParaRPr/>
          </a:p>
        </p:txBody>
      </p:sp>
      <p:cxnSp>
        <p:nvCxnSpPr>
          <p:cNvPr id="1953" name="Google Shape;1953;p87"/>
          <p:cNvCxnSpPr>
            <a:stCxn id="1949" idx="3"/>
            <a:endCxn id="1952" idx="1"/>
          </p:cNvCxnSpPr>
          <p:nvPr/>
        </p:nvCxnSpPr>
        <p:spPr>
          <a:xfrm>
            <a:off x="1844800" y="3603288"/>
            <a:ext cx="3207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4" name="Google Shape;1954;p87"/>
          <p:cNvSpPr/>
          <p:nvPr/>
        </p:nvSpPr>
        <p:spPr>
          <a:xfrm>
            <a:off x="4239400" y="2638416"/>
            <a:ext cx="1185000" cy="1217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5" name="Google Shape;1955;p87"/>
          <p:cNvSpPr/>
          <p:nvPr/>
        </p:nvSpPr>
        <p:spPr>
          <a:xfrm>
            <a:off x="4330800" y="3086975"/>
            <a:ext cx="1020300" cy="3054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2-3 Tree</a:t>
            </a:r>
            <a:endParaRPr/>
          </a:p>
        </p:txBody>
      </p:sp>
      <p:sp>
        <p:nvSpPr>
          <p:cNvPr id="1956" name="Google Shape;1956;p87"/>
          <p:cNvSpPr/>
          <p:nvPr/>
        </p:nvSpPr>
        <p:spPr>
          <a:xfrm>
            <a:off x="4330800" y="3467975"/>
            <a:ext cx="1020300" cy="3054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RedBlack</a:t>
            </a:r>
            <a:endParaRPr/>
          </a:p>
        </p:txBody>
      </p:sp>
      <p:sp>
        <p:nvSpPr>
          <p:cNvPr id="1957" name="Google Shape;1957;p87"/>
          <p:cNvSpPr/>
          <p:nvPr/>
        </p:nvSpPr>
        <p:spPr>
          <a:xfrm>
            <a:off x="4330800" y="2705975"/>
            <a:ext cx="1020300" cy="305400"/>
          </a:xfrm>
          <a:prstGeom prst="rect">
            <a:avLst/>
          </a:prstGeom>
          <a:solidFill>
            <a:srgbClr val="F4CCCC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BST</a:t>
            </a:r>
            <a:endParaRPr/>
          </a:p>
        </p:txBody>
      </p:sp>
      <p:cxnSp>
        <p:nvCxnSpPr>
          <p:cNvPr id="1958" name="Google Shape;1958;p87"/>
          <p:cNvCxnSpPr>
            <a:stCxn id="1950" idx="3"/>
            <a:endCxn id="1957" idx="1"/>
          </p:cNvCxnSpPr>
          <p:nvPr/>
        </p:nvCxnSpPr>
        <p:spPr>
          <a:xfrm flipH="1" rot="10800000">
            <a:off x="3366150" y="2858825"/>
            <a:ext cx="964800" cy="48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59" name="Google Shape;1959;p87"/>
          <p:cNvCxnSpPr>
            <a:stCxn id="1950" idx="3"/>
            <a:endCxn id="1955" idx="1"/>
          </p:cNvCxnSpPr>
          <p:nvPr/>
        </p:nvCxnSpPr>
        <p:spPr>
          <a:xfrm>
            <a:off x="3366150" y="2907125"/>
            <a:ext cx="964800" cy="33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0" name="Google Shape;1960;p87"/>
          <p:cNvCxnSpPr>
            <a:stCxn id="1950" idx="3"/>
          </p:cNvCxnSpPr>
          <p:nvPr/>
        </p:nvCxnSpPr>
        <p:spPr>
          <a:xfrm>
            <a:off x="3366150" y="2907125"/>
            <a:ext cx="964800" cy="540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1" name="Google Shape;1961;p87"/>
          <p:cNvCxnSpPr>
            <a:stCxn id="1952" idx="3"/>
            <a:endCxn id="1957" idx="1"/>
          </p:cNvCxnSpPr>
          <p:nvPr/>
        </p:nvCxnSpPr>
        <p:spPr>
          <a:xfrm flipH="1" rot="10800000">
            <a:off x="3350400" y="2858763"/>
            <a:ext cx="980400" cy="744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2" name="Google Shape;1962;p87"/>
          <p:cNvCxnSpPr>
            <a:stCxn id="1955" idx="1"/>
            <a:endCxn id="1952" idx="3"/>
          </p:cNvCxnSpPr>
          <p:nvPr/>
        </p:nvCxnSpPr>
        <p:spPr>
          <a:xfrm flipH="1">
            <a:off x="3350400" y="3239675"/>
            <a:ext cx="980400" cy="363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3" name="Google Shape;1963;p87"/>
          <p:cNvCxnSpPr>
            <a:stCxn id="1952" idx="3"/>
            <a:endCxn id="1956" idx="1"/>
          </p:cNvCxnSpPr>
          <p:nvPr/>
        </p:nvCxnSpPr>
        <p:spPr>
          <a:xfrm>
            <a:off x="3350400" y="3603363"/>
            <a:ext cx="980400" cy="17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64" name="Google Shape;1964;p87"/>
          <p:cNvSpPr txBox="1"/>
          <p:nvPr/>
        </p:nvSpPr>
        <p:spPr>
          <a:xfrm>
            <a:off x="6441425" y="2528075"/>
            <a:ext cx="2602200" cy="4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Java: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java.util.SortedSet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java.util.SortedMap</a:t>
            </a:r>
            <a:endParaRPr/>
          </a:p>
        </p:txBody>
      </p:sp>
      <p:sp>
        <p:nvSpPr>
          <p:cNvPr id="1965" name="Google Shape;1965;p87"/>
          <p:cNvSpPr/>
          <p:nvPr/>
        </p:nvSpPr>
        <p:spPr>
          <a:xfrm>
            <a:off x="1148500" y="1401450"/>
            <a:ext cx="696300" cy="3054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List</a:t>
            </a:r>
            <a:endParaRPr/>
          </a:p>
        </p:txBody>
      </p:sp>
      <p:sp>
        <p:nvSpPr>
          <p:cNvPr id="1966" name="Google Shape;1966;p87"/>
          <p:cNvSpPr/>
          <p:nvPr/>
        </p:nvSpPr>
        <p:spPr>
          <a:xfrm>
            <a:off x="2333550" y="1022700"/>
            <a:ext cx="848700" cy="3054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Stack</a:t>
            </a:r>
            <a:endParaRPr/>
          </a:p>
        </p:txBody>
      </p:sp>
      <p:sp>
        <p:nvSpPr>
          <p:cNvPr id="1967" name="Google Shape;1967;p87"/>
          <p:cNvSpPr/>
          <p:nvPr/>
        </p:nvSpPr>
        <p:spPr>
          <a:xfrm>
            <a:off x="2333550" y="1398850"/>
            <a:ext cx="848700" cy="3054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Queue</a:t>
            </a:r>
            <a:endParaRPr/>
          </a:p>
        </p:txBody>
      </p:sp>
      <p:sp>
        <p:nvSpPr>
          <p:cNvPr id="1968" name="Google Shape;1968;p87"/>
          <p:cNvSpPr/>
          <p:nvPr/>
        </p:nvSpPr>
        <p:spPr>
          <a:xfrm>
            <a:off x="2333550" y="1775000"/>
            <a:ext cx="848700" cy="305400"/>
          </a:xfrm>
          <a:prstGeom prst="rect">
            <a:avLst/>
          </a:prstGeom>
          <a:solidFill>
            <a:srgbClr val="EFEFEF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Deque</a:t>
            </a:r>
            <a:endParaRPr/>
          </a:p>
        </p:txBody>
      </p:sp>
      <p:cxnSp>
        <p:nvCxnSpPr>
          <p:cNvPr id="1969" name="Google Shape;1969;p87"/>
          <p:cNvCxnSpPr>
            <a:stCxn id="1965" idx="3"/>
            <a:endCxn id="1966" idx="1"/>
          </p:cNvCxnSpPr>
          <p:nvPr/>
        </p:nvCxnSpPr>
        <p:spPr>
          <a:xfrm flipH="1" rot="10800000">
            <a:off x="1844800" y="1175550"/>
            <a:ext cx="488700" cy="37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0" name="Google Shape;1970;p87"/>
          <p:cNvCxnSpPr>
            <a:stCxn id="1965" idx="3"/>
            <a:endCxn id="1967" idx="1"/>
          </p:cNvCxnSpPr>
          <p:nvPr/>
        </p:nvCxnSpPr>
        <p:spPr>
          <a:xfrm flipH="1" rot="10800000">
            <a:off x="1844800" y="1551450"/>
            <a:ext cx="488700" cy="2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1" name="Google Shape;1971;p87"/>
          <p:cNvCxnSpPr>
            <a:stCxn id="1965" idx="3"/>
            <a:endCxn id="1968" idx="1"/>
          </p:cNvCxnSpPr>
          <p:nvPr/>
        </p:nvCxnSpPr>
        <p:spPr>
          <a:xfrm>
            <a:off x="1844800" y="1554150"/>
            <a:ext cx="488700" cy="37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2" name="Google Shape;1972;p87"/>
          <p:cNvSpPr/>
          <p:nvPr/>
        </p:nvSpPr>
        <p:spPr>
          <a:xfrm>
            <a:off x="3609900" y="1096319"/>
            <a:ext cx="1500000" cy="305400"/>
          </a:xfrm>
          <a:prstGeom prst="rect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Linked List</a:t>
            </a:r>
            <a:endParaRPr/>
          </a:p>
        </p:txBody>
      </p:sp>
      <p:cxnSp>
        <p:nvCxnSpPr>
          <p:cNvPr id="1973" name="Google Shape;1973;p87"/>
          <p:cNvCxnSpPr>
            <a:stCxn id="1972" idx="1"/>
            <a:endCxn id="1967" idx="3"/>
          </p:cNvCxnSpPr>
          <p:nvPr/>
        </p:nvCxnSpPr>
        <p:spPr>
          <a:xfrm flipH="1">
            <a:off x="3182400" y="1249019"/>
            <a:ext cx="427500" cy="30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4" name="Google Shape;1974;p87"/>
          <p:cNvCxnSpPr>
            <a:stCxn id="1968" idx="3"/>
            <a:endCxn id="1972" idx="1"/>
          </p:cNvCxnSpPr>
          <p:nvPr/>
        </p:nvCxnSpPr>
        <p:spPr>
          <a:xfrm flipH="1" rot="10800000">
            <a:off x="3182250" y="1249100"/>
            <a:ext cx="427800" cy="678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5" name="Google Shape;1975;p87"/>
          <p:cNvSpPr/>
          <p:nvPr/>
        </p:nvSpPr>
        <p:spPr>
          <a:xfrm>
            <a:off x="3609900" y="1470200"/>
            <a:ext cx="1500000" cy="899100"/>
          </a:xfrm>
          <a:prstGeom prst="rect">
            <a:avLst/>
          </a:prstGeom>
          <a:solidFill>
            <a:srgbClr val="D9D2E9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Resizing Array (slightly suboptimal due to resizing)</a:t>
            </a:r>
            <a:endParaRPr/>
          </a:p>
        </p:txBody>
      </p:sp>
      <p:cxnSp>
        <p:nvCxnSpPr>
          <p:cNvPr id="1976" name="Google Shape;1976;p87"/>
          <p:cNvCxnSpPr>
            <a:stCxn id="1966" idx="3"/>
            <a:endCxn id="1975" idx="1"/>
          </p:cNvCxnSpPr>
          <p:nvPr/>
        </p:nvCxnSpPr>
        <p:spPr>
          <a:xfrm>
            <a:off x="3182250" y="1175400"/>
            <a:ext cx="427800" cy="744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7" name="Google Shape;1977;p87"/>
          <p:cNvCxnSpPr>
            <a:stCxn id="1967" idx="3"/>
            <a:endCxn id="1975" idx="1"/>
          </p:cNvCxnSpPr>
          <p:nvPr/>
        </p:nvCxnSpPr>
        <p:spPr>
          <a:xfrm>
            <a:off x="3182250" y="1551550"/>
            <a:ext cx="427800" cy="368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78" name="Google Shape;1978;p87"/>
          <p:cNvCxnSpPr>
            <a:stCxn id="1968" idx="3"/>
            <a:endCxn id="1975" idx="1"/>
          </p:cNvCxnSpPr>
          <p:nvPr/>
        </p:nvCxnSpPr>
        <p:spPr>
          <a:xfrm flipH="1" rot="10800000">
            <a:off x="3182250" y="1919900"/>
            <a:ext cx="427800" cy="7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9" name="Google Shape;1979;p87"/>
          <p:cNvSpPr txBox="1"/>
          <p:nvPr/>
        </p:nvSpPr>
        <p:spPr>
          <a:xfrm>
            <a:off x="2406825" y="4041050"/>
            <a:ext cx="5815500" cy="37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Don’t usually consider MinPQ and MaxPQ to be different data structures, since we can just provide the opposite comparator.</a:t>
            </a:r>
            <a:endParaRPr/>
          </a:p>
        </p:txBody>
      </p:sp>
      <p:cxnSp>
        <p:nvCxnSpPr>
          <p:cNvPr id="1980" name="Google Shape;1980;p87"/>
          <p:cNvCxnSpPr/>
          <p:nvPr/>
        </p:nvCxnSpPr>
        <p:spPr>
          <a:xfrm rot="10800000">
            <a:off x="3182400" y="1175519"/>
            <a:ext cx="427500" cy="73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4" name="Shape 19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5" name="Google Shape;1985;p88"/>
          <p:cNvSpPr txBox="1"/>
          <p:nvPr>
            <p:ph type="title"/>
          </p:nvPr>
        </p:nvSpPr>
        <p:spPr>
          <a:xfrm>
            <a:off x="0" y="0"/>
            <a:ext cx="85206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Structures</a:t>
            </a:r>
            <a:endParaRPr/>
          </a:p>
        </p:txBody>
      </p:sp>
      <p:sp>
        <p:nvSpPr>
          <p:cNvPr id="1986" name="Google Shape;1986;p88"/>
          <p:cNvSpPr txBox="1"/>
          <p:nvPr>
            <p:ph idx="1" type="body"/>
          </p:nvPr>
        </p:nvSpPr>
        <p:spPr>
          <a:xfrm>
            <a:off x="107044" y="4022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000"/>
              <a:t>Data Structure: A particular way of organizing data.</a:t>
            </a:r>
            <a:endParaRPr sz="2000"/>
          </a:p>
          <a:p>
            <a:pPr indent="-355600" lvl="0" marL="457200" rtl="0" algn="l">
              <a:spcBef>
                <a:spcPts val="60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We’ve covered many of the most fundamental abstract data types, their common implementations, and the tradeoffs thereof.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" sz="2000"/>
              <a:t>We’ll do two more in this class: </a:t>
            </a:r>
            <a:endParaRPr sz="2000"/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SzPts val="2000"/>
              <a:buChar char="○"/>
            </a:pPr>
            <a:r>
              <a:rPr lang="en" sz="2000"/>
              <a:t>Tries, graphs.</a:t>
            </a:r>
            <a:endParaRPr sz="2000"/>
          </a:p>
        </p:txBody>
      </p:sp>
      <p:pic>
        <p:nvPicPr>
          <p:cNvPr id="1987" name="Google Shape;1987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6788" y="2719575"/>
            <a:ext cx="84677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ecture">
  <a:themeElements>
    <a:clrScheme name="Simple Light">
      <a:dk1>
        <a:srgbClr val="000000"/>
      </a:dk1>
      <a:lt1>
        <a:srgbClr val="FFFFFF"/>
      </a:lt1>
      <a:dk2>
        <a:srgbClr val="666666"/>
      </a:dk2>
      <a:lt2>
        <a:srgbClr val="C9DAF8"/>
      </a:lt2>
      <a:accent1>
        <a:srgbClr val="FCE5CD"/>
      </a:accent1>
      <a:accent2>
        <a:srgbClr val="CC4125"/>
      </a:accent2>
      <a:accent3>
        <a:srgbClr val="0B5394"/>
      </a:accent3>
      <a:accent4>
        <a:srgbClr val="BF9000"/>
      </a:accent4>
      <a:accent5>
        <a:srgbClr val="6AA84F"/>
      </a:accent5>
      <a:accent6>
        <a:srgbClr val="D9D9D9"/>
      </a:accent6>
      <a:hlink>
        <a:srgbClr val="4A86E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