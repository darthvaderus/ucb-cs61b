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6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sldSz cx="9144000" cy="5143500" type="screen16x9"/>
  <p:notesSz cx="6858000" cy="9144000"/>
  <p:embeddedFontLst>
    <p:embeddedFont>
      <p:font typeface="Consolas" panose="020B0609020204030204" pitchFamily="49" charset="0"/>
      <p:regular r:id="rId62"/>
      <p:bold r:id="rId63"/>
      <p:italic r:id="rId64"/>
      <p:boldItalic r:id="rId65"/>
    </p:embeddedFont>
    <p:embeddedFont>
      <p:font typeface="Roboto" panose="02000000000000000000" pitchFamily="2" charset="0"/>
      <p:regular r:id="rId66"/>
      <p:bold r:id="rId67"/>
      <p:italic r:id="rId68"/>
      <p:boldItalic r:id="rId69"/>
    </p:embeddedFont>
    <p:embeddedFont>
      <p:font typeface="Roboto Light" panose="02000000000000000000" pitchFamily="2" charset="0"/>
      <p:regular r:id="rId70"/>
      <p:bold r:id="rId71"/>
      <p:italic r:id="rId72"/>
      <p:boldItalic r:id="rId73"/>
    </p:embeddedFont>
    <p:embeddedFont>
      <p:font typeface="Roboto Medium" panose="02000000000000000000" pitchFamily="2" charset="0"/>
      <p:regular r:id="rId74"/>
      <p:bold r:id="rId75"/>
      <p:italic r:id="rId76"/>
      <p:boldItalic r:id="rId7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C467F25-A352-40E9-8C40-E7B4C2D9D289}">
  <a:tblStyle styleId="{BC467F25-A352-40E9-8C40-E7B4C2D9D289}"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14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2.fntdata"/><Relationship Id="rId68" Type="http://schemas.openxmlformats.org/officeDocument/2006/relationships/font" Target="fonts/font7.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13.fntdata"/><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3.fntdata"/><Relationship Id="rId69" Type="http://schemas.openxmlformats.org/officeDocument/2006/relationships/font" Target="fonts/font8.fntdata"/><Relationship Id="rId77" Type="http://schemas.openxmlformats.org/officeDocument/2006/relationships/font" Target="fonts/font16.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1.fntdata"/><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1.fntdata"/><Relationship Id="rId70" Type="http://schemas.openxmlformats.org/officeDocument/2006/relationships/font" Target="fonts/font9.fntdata"/><Relationship Id="rId75"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4.fntdata"/><Relationship Id="rId73" Type="http://schemas.openxmlformats.org/officeDocument/2006/relationships/font" Target="fonts/font12.fntdata"/><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5.fntdata"/><Relationship Id="rId7" Type="http://schemas.openxmlformats.org/officeDocument/2006/relationships/slide" Target="slides/slide6.xml"/><Relationship Id="rId71" Type="http://schemas.openxmlformats.org/officeDocument/2006/relationships/font" Target="fonts/font10.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25f155b838b_0_20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25f155b838b_0_2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5f155b838b_0_2175: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5f155b838b_0_2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25f155b838b_0_15: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25f155b838b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25f155b838b_0_66: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25f155b838b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25f155b838b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25f155b838b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25f155b838b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25f155b838b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25f155b838b_0_91: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25f155b838b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25f155b838b_0_126: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25f155b838b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25f155b838b_0_14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25f155b838b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25f155b838b_0_16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25f155b838b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25f155b838b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25f155b838b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25f155b838b_0_23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25f155b838b_0_2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25f155b838b_0_2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25f155b838b_0_2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25f155b838b_0_36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25f155b838b_0_3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g25f155b838b_0_421: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25f155b838b_0_4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25f155b838b_0_231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4" name="Google Shape;554;g25f155b838b_0_23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25f155b838b_0_431: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25f155b838b_0_4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25f155b838b_0_46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1" name="Google Shape;591;g25f155b838b_0_4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g25f155b838b_0_474: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6" name="Google Shape;606;g25f155b838b_0_4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25f155b838b_0_494: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7" name="Google Shape;627;g25f155b838b_0_4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g25f155b838b_0_564: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8" name="Google Shape;698;g25f155b838b_0_5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g25f155b838b_0_63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8" name="Google Shape;768;g25f155b838b_0_6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25f155b838b_0_72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4" name="Google Shape;864;g25f155b838b_0_7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25f155b838b_0_824: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1" name="Google Shape;961;g25f155b838b_0_8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g25f155b838b_0_2324: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0" name="Google Shape;970;g25f155b838b_0_23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g25f155b838b_0_837: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7" name="Google Shape;977;g25f155b838b_0_8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g25f155b838b_0_89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25f155b838b_0_8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4"/>
        <p:cNvGrpSpPr/>
        <p:nvPr/>
      </p:nvGrpSpPr>
      <p:grpSpPr>
        <a:xfrm>
          <a:off x="0" y="0"/>
          <a:ext cx="0" cy="0"/>
          <a:chOff x="0" y="0"/>
          <a:chExt cx="0" cy="0"/>
        </a:xfrm>
      </p:grpSpPr>
      <p:sp>
        <p:nvSpPr>
          <p:cNvPr id="1115" name="Google Shape;1115;g25f155b838b_0_974: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6" name="Google Shape;1116;g25f155b838b_0_9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0"/>
        <p:cNvGrpSpPr/>
        <p:nvPr/>
      </p:nvGrpSpPr>
      <p:grpSpPr>
        <a:xfrm>
          <a:off x="0" y="0"/>
          <a:ext cx="0" cy="0"/>
          <a:chOff x="0" y="0"/>
          <a:chExt cx="0" cy="0"/>
        </a:xfrm>
      </p:grpSpPr>
      <p:sp>
        <p:nvSpPr>
          <p:cNvPr id="1181" name="Google Shape;1181;g25f155b838b_0_1039: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2" name="Google Shape;1182;g25f155b838b_0_10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p:cNvGrpSpPr/>
        <p:nvPr/>
      </p:nvGrpSpPr>
      <p:grpSpPr>
        <a:xfrm>
          <a:off x="0" y="0"/>
          <a:ext cx="0" cy="0"/>
          <a:chOff x="0" y="0"/>
          <a:chExt cx="0" cy="0"/>
        </a:xfrm>
      </p:grpSpPr>
      <p:sp>
        <p:nvSpPr>
          <p:cNvPr id="1220" name="Google Shape;1220;g25f155b838b_0_1077: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1" name="Google Shape;1221;g25f155b838b_0_10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2"/>
        <p:cNvGrpSpPr/>
        <p:nvPr/>
      </p:nvGrpSpPr>
      <p:grpSpPr>
        <a:xfrm>
          <a:off x="0" y="0"/>
          <a:ext cx="0" cy="0"/>
          <a:chOff x="0" y="0"/>
          <a:chExt cx="0" cy="0"/>
        </a:xfrm>
      </p:grpSpPr>
      <p:sp>
        <p:nvSpPr>
          <p:cNvPr id="1233" name="Google Shape;1233;g25f155b838b_0_1089: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4" name="Google Shape;1234;g25f155b838b_0_10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0"/>
        <p:cNvGrpSpPr/>
        <p:nvPr/>
      </p:nvGrpSpPr>
      <p:grpSpPr>
        <a:xfrm>
          <a:off x="0" y="0"/>
          <a:ext cx="0" cy="0"/>
          <a:chOff x="0" y="0"/>
          <a:chExt cx="0" cy="0"/>
        </a:xfrm>
      </p:grpSpPr>
      <p:sp>
        <p:nvSpPr>
          <p:cNvPr id="1261" name="Google Shape;1261;g25f155b838b_0_1116: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2" name="Google Shape;1262;g25f155b838b_0_1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9"/>
        <p:cNvGrpSpPr/>
        <p:nvPr/>
      </p:nvGrpSpPr>
      <p:grpSpPr>
        <a:xfrm>
          <a:off x="0" y="0"/>
          <a:ext cx="0" cy="0"/>
          <a:chOff x="0" y="0"/>
          <a:chExt cx="0" cy="0"/>
        </a:xfrm>
      </p:grpSpPr>
      <p:sp>
        <p:nvSpPr>
          <p:cNvPr id="1270" name="Google Shape;1270;g25f155b838b_0_233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1" name="Google Shape;1271;g25f155b838b_0_2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6"/>
        <p:cNvGrpSpPr/>
        <p:nvPr/>
      </p:nvGrpSpPr>
      <p:grpSpPr>
        <a:xfrm>
          <a:off x="0" y="0"/>
          <a:ext cx="0" cy="0"/>
          <a:chOff x="0" y="0"/>
          <a:chExt cx="0" cy="0"/>
        </a:xfrm>
      </p:grpSpPr>
      <p:sp>
        <p:nvSpPr>
          <p:cNvPr id="1277" name="Google Shape;1277;g25f155b838b_0_1129: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8" name="Google Shape;1278;g25f155b838b_0_1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3"/>
        <p:cNvGrpSpPr/>
        <p:nvPr/>
      </p:nvGrpSpPr>
      <p:grpSpPr>
        <a:xfrm>
          <a:off x="0" y="0"/>
          <a:ext cx="0" cy="0"/>
          <a:chOff x="0" y="0"/>
          <a:chExt cx="0" cy="0"/>
        </a:xfrm>
      </p:grpSpPr>
      <p:sp>
        <p:nvSpPr>
          <p:cNvPr id="1334" name="Google Shape;1334;g25f155b838b_0_1185: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5" name="Google Shape;1335;g25f155b838b_0_1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3"/>
        <p:cNvGrpSpPr/>
        <p:nvPr/>
      </p:nvGrpSpPr>
      <p:grpSpPr>
        <a:xfrm>
          <a:off x="0" y="0"/>
          <a:ext cx="0" cy="0"/>
          <a:chOff x="0" y="0"/>
          <a:chExt cx="0" cy="0"/>
        </a:xfrm>
      </p:grpSpPr>
      <p:sp>
        <p:nvSpPr>
          <p:cNvPr id="1364" name="Google Shape;1364;g25f155b838b_0_1214: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5" name="Google Shape;1365;g25f155b838b_0_12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2"/>
        <p:cNvGrpSpPr/>
        <p:nvPr/>
      </p:nvGrpSpPr>
      <p:grpSpPr>
        <a:xfrm>
          <a:off x="0" y="0"/>
          <a:ext cx="0" cy="0"/>
          <a:chOff x="0" y="0"/>
          <a:chExt cx="0" cy="0"/>
        </a:xfrm>
      </p:grpSpPr>
      <p:sp>
        <p:nvSpPr>
          <p:cNvPr id="1393" name="Google Shape;1393;g25f155b838b_0_1242: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4" name="Google Shape;1394;g25f155b838b_0_12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1"/>
        <p:cNvGrpSpPr/>
        <p:nvPr/>
      </p:nvGrpSpPr>
      <p:grpSpPr>
        <a:xfrm>
          <a:off x="0" y="0"/>
          <a:ext cx="0" cy="0"/>
          <a:chOff x="0" y="0"/>
          <a:chExt cx="0" cy="0"/>
        </a:xfrm>
      </p:grpSpPr>
      <p:sp>
        <p:nvSpPr>
          <p:cNvPr id="1422" name="Google Shape;1422;g25f155b838b_0_127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3" name="Google Shape;1423;g25f155b838b_0_1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0"/>
        <p:cNvGrpSpPr/>
        <p:nvPr/>
      </p:nvGrpSpPr>
      <p:grpSpPr>
        <a:xfrm>
          <a:off x="0" y="0"/>
          <a:ext cx="0" cy="0"/>
          <a:chOff x="0" y="0"/>
          <a:chExt cx="0" cy="0"/>
        </a:xfrm>
      </p:grpSpPr>
      <p:sp>
        <p:nvSpPr>
          <p:cNvPr id="1451" name="Google Shape;1451;g25f155b838b_0_129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2" name="Google Shape;1452;g25f155b838b_0_1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1"/>
        <p:cNvGrpSpPr/>
        <p:nvPr/>
      </p:nvGrpSpPr>
      <p:grpSpPr>
        <a:xfrm>
          <a:off x="0" y="0"/>
          <a:ext cx="0" cy="0"/>
          <a:chOff x="0" y="0"/>
          <a:chExt cx="0" cy="0"/>
        </a:xfrm>
      </p:grpSpPr>
      <p:sp>
        <p:nvSpPr>
          <p:cNvPr id="1482" name="Google Shape;1482;g25f155b838b_0_132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3" name="Google Shape;1483;g25f155b838b_0_13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3"/>
        <p:cNvGrpSpPr/>
        <p:nvPr/>
      </p:nvGrpSpPr>
      <p:grpSpPr>
        <a:xfrm>
          <a:off x="0" y="0"/>
          <a:ext cx="0" cy="0"/>
          <a:chOff x="0" y="0"/>
          <a:chExt cx="0" cy="0"/>
        </a:xfrm>
      </p:grpSpPr>
      <p:sp>
        <p:nvSpPr>
          <p:cNvPr id="1514" name="Google Shape;1514;g25f155b838b_0_1359: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5" name="Google Shape;1515;g25f155b838b_0_1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6"/>
        <p:cNvGrpSpPr/>
        <p:nvPr/>
      </p:nvGrpSpPr>
      <p:grpSpPr>
        <a:xfrm>
          <a:off x="0" y="0"/>
          <a:ext cx="0" cy="0"/>
          <a:chOff x="0" y="0"/>
          <a:chExt cx="0" cy="0"/>
        </a:xfrm>
      </p:grpSpPr>
      <p:sp>
        <p:nvSpPr>
          <p:cNvPr id="1547" name="Google Shape;1547;g25f155b838b_0_1391: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8" name="Google Shape;1548;g25f155b838b_0_13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0"/>
        <p:cNvGrpSpPr/>
        <p:nvPr/>
      </p:nvGrpSpPr>
      <p:grpSpPr>
        <a:xfrm>
          <a:off x="0" y="0"/>
          <a:ext cx="0" cy="0"/>
          <a:chOff x="0" y="0"/>
          <a:chExt cx="0" cy="0"/>
        </a:xfrm>
      </p:grpSpPr>
      <p:sp>
        <p:nvSpPr>
          <p:cNvPr id="1581" name="Google Shape;1581;g25f155b838b_0_1424: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2" name="Google Shape;1582;g25f155b838b_0_14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4"/>
        <p:cNvGrpSpPr/>
        <p:nvPr/>
      </p:nvGrpSpPr>
      <p:grpSpPr>
        <a:xfrm>
          <a:off x="0" y="0"/>
          <a:ext cx="0" cy="0"/>
          <a:chOff x="0" y="0"/>
          <a:chExt cx="0" cy="0"/>
        </a:xfrm>
      </p:grpSpPr>
      <p:sp>
        <p:nvSpPr>
          <p:cNvPr id="1615" name="Google Shape;1615;g25f155b838b_0_1457: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6" name="Google Shape;1616;g25f155b838b_0_14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5"/>
        <p:cNvGrpSpPr/>
        <p:nvPr/>
      </p:nvGrpSpPr>
      <p:grpSpPr>
        <a:xfrm>
          <a:off x="0" y="0"/>
          <a:ext cx="0" cy="0"/>
          <a:chOff x="0" y="0"/>
          <a:chExt cx="0" cy="0"/>
        </a:xfrm>
      </p:grpSpPr>
      <p:sp>
        <p:nvSpPr>
          <p:cNvPr id="1646" name="Google Shape;1646;g25f155b838b_0_1487: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7" name="Google Shape;1647;g25f155b838b_0_1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7"/>
        <p:cNvGrpSpPr/>
        <p:nvPr/>
      </p:nvGrpSpPr>
      <p:grpSpPr>
        <a:xfrm>
          <a:off x="0" y="0"/>
          <a:ext cx="0" cy="0"/>
          <a:chOff x="0" y="0"/>
          <a:chExt cx="0" cy="0"/>
        </a:xfrm>
      </p:grpSpPr>
      <p:sp>
        <p:nvSpPr>
          <p:cNvPr id="1678" name="Google Shape;1678;g25f155b838b_0_151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9" name="Google Shape;1679;g25f155b838b_0_15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0"/>
        <p:cNvGrpSpPr/>
        <p:nvPr/>
      </p:nvGrpSpPr>
      <p:grpSpPr>
        <a:xfrm>
          <a:off x="0" y="0"/>
          <a:ext cx="0" cy="0"/>
          <a:chOff x="0" y="0"/>
          <a:chExt cx="0" cy="0"/>
        </a:xfrm>
      </p:grpSpPr>
      <p:sp>
        <p:nvSpPr>
          <p:cNvPr id="1711" name="Google Shape;1711;g25f155b838b_0_155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2" name="Google Shape;1712;g25f155b838b_0_1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9"/>
        <p:cNvGrpSpPr/>
        <p:nvPr/>
      </p:nvGrpSpPr>
      <p:grpSpPr>
        <a:xfrm>
          <a:off x="0" y="0"/>
          <a:ext cx="0" cy="0"/>
          <a:chOff x="0" y="0"/>
          <a:chExt cx="0" cy="0"/>
        </a:xfrm>
      </p:grpSpPr>
      <p:sp>
        <p:nvSpPr>
          <p:cNvPr id="1740" name="Google Shape;1740;g25f155b838b_0_157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1" name="Google Shape;1741;g25f155b838b_0_15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8"/>
        <p:cNvGrpSpPr/>
        <p:nvPr/>
      </p:nvGrpSpPr>
      <p:grpSpPr>
        <a:xfrm>
          <a:off x="0" y="0"/>
          <a:ext cx="0" cy="0"/>
          <a:chOff x="0" y="0"/>
          <a:chExt cx="0" cy="0"/>
        </a:xfrm>
      </p:grpSpPr>
      <p:sp>
        <p:nvSpPr>
          <p:cNvPr id="1769" name="Google Shape;1769;g25f155b838b_0_2336: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0" name="Google Shape;1770;g25f155b838b_0_23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5"/>
        <p:cNvGrpSpPr/>
        <p:nvPr/>
      </p:nvGrpSpPr>
      <p:grpSpPr>
        <a:xfrm>
          <a:off x="0" y="0"/>
          <a:ext cx="0" cy="0"/>
          <a:chOff x="0" y="0"/>
          <a:chExt cx="0" cy="0"/>
        </a:xfrm>
      </p:grpSpPr>
      <p:sp>
        <p:nvSpPr>
          <p:cNvPr id="1776" name="Google Shape;1776;g25f155b838b_0_161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7" name="Google Shape;1777;g25f155b838b_0_16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2"/>
        <p:cNvGrpSpPr/>
        <p:nvPr/>
      </p:nvGrpSpPr>
      <p:grpSpPr>
        <a:xfrm>
          <a:off x="0" y="0"/>
          <a:ext cx="0" cy="0"/>
          <a:chOff x="0" y="0"/>
          <a:chExt cx="0" cy="0"/>
        </a:xfrm>
      </p:grpSpPr>
      <p:sp>
        <p:nvSpPr>
          <p:cNvPr id="1783" name="Google Shape;1783;g25f155b838b_0_1616: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4" name="Google Shape;1784;g25f155b838b_0_16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7"/>
        <p:cNvGrpSpPr/>
        <p:nvPr/>
      </p:nvGrpSpPr>
      <p:grpSpPr>
        <a:xfrm>
          <a:off x="0" y="0"/>
          <a:ext cx="0" cy="0"/>
          <a:chOff x="0" y="0"/>
          <a:chExt cx="0" cy="0"/>
        </a:xfrm>
      </p:grpSpPr>
      <p:sp>
        <p:nvSpPr>
          <p:cNvPr id="1828" name="Google Shape;1828;g25f155b838b_0_166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9" name="Google Shape;1829;g25f155b838b_0_16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7"/>
        <p:cNvGrpSpPr/>
        <p:nvPr/>
      </p:nvGrpSpPr>
      <p:grpSpPr>
        <a:xfrm>
          <a:off x="0" y="0"/>
          <a:ext cx="0" cy="0"/>
          <a:chOff x="0" y="0"/>
          <a:chExt cx="0" cy="0"/>
        </a:xfrm>
      </p:grpSpPr>
      <p:sp>
        <p:nvSpPr>
          <p:cNvPr id="1868" name="Google Shape;1868;g25f155b838b_0_1699: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9" name="Google Shape;1869;g25f155b838b_0_16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4"/>
        <p:cNvGrpSpPr/>
        <p:nvPr/>
      </p:nvGrpSpPr>
      <p:grpSpPr>
        <a:xfrm>
          <a:off x="0" y="0"/>
          <a:ext cx="0" cy="0"/>
          <a:chOff x="0" y="0"/>
          <a:chExt cx="0" cy="0"/>
        </a:xfrm>
      </p:grpSpPr>
      <p:sp>
        <p:nvSpPr>
          <p:cNvPr id="1875" name="Google Shape;1875;g25f155b838b_0_1705: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6" name="Google Shape;1876;g25f155b838b_0_17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0"/>
        <p:cNvGrpSpPr/>
        <p:nvPr/>
      </p:nvGrpSpPr>
      <p:grpSpPr>
        <a:xfrm>
          <a:off x="0" y="0"/>
          <a:ext cx="0" cy="0"/>
          <a:chOff x="0" y="0"/>
          <a:chExt cx="0" cy="0"/>
        </a:xfrm>
      </p:grpSpPr>
      <p:sp>
        <p:nvSpPr>
          <p:cNvPr id="1931" name="Google Shape;1931;g25f155b838b_0_176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2" name="Google Shape;1932;g25f155b838b_0_17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6"/>
        <p:cNvGrpSpPr/>
        <p:nvPr/>
      </p:nvGrpSpPr>
      <p:grpSpPr>
        <a:xfrm>
          <a:off x="0" y="0"/>
          <a:ext cx="0" cy="0"/>
          <a:chOff x="0" y="0"/>
          <a:chExt cx="0" cy="0"/>
        </a:xfrm>
      </p:grpSpPr>
      <p:sp>
        <p:nvSpPr>
          <p:cNvPr id="1987" name="Google Shape;1987;g25f155b838b_0_1815: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8" name="Google Shape;1988;g25f155b838b_0_18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1"/>
        <p:cNvGrpSpPr/>
        <p:nvPr/>
      </p:nvGrpSpPr>
      <p:grpSpPr>
        <a:xfrm>
          <a:off x="0" y="0"/>
          <a:ext cx="0" cy="0"/>
          <a:chOff x="0" y="0"/>
          <a:chExt cx="0" cy="0"/>
        </a:xfrm>
      </p:grpSpPr>
      <p:sp>
        <p:nvSpPr>
          <p:cNvPr id="2022" name="Google Shape;2022;g25f155b838b_0_2342: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3" name="Google Shape;2023;g25f155b838b_0_2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8"/>
        <p:cNvGrpSpPr/>
        <p:nvPr/>
      </p:nvGrpSpPr>
      <p:grpSpPr>
        <a:xfrm>
          <a:off x="0" y="0"/>
          <a:ext cx="0" cy="0"/>
          <a:chOff x="0" y="0"/>
          <a:chExt cx="0" cy="0"/>
        </a:xfrm>
      </p:grpSpPr>
      <p:sp>
        <p:nvSpPr>
          <p:cNvPr id="2029" name="Google Shape;2029;g25f155b838b_0_185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0" name="Google Shape;2030;g25f155b838b_0_18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4"/>
        <p:cNvGrpSpPr/>
        <p:nvPr/>
      </p:nvGrpSpPr>
      <p:grpSpPr>
        <a:xfrm>
          <a:off x="0" y="0"/>
          <a:ext cx="0" cy="0"/>
          <a:chOff x="0" y="0"/>
          <a:chExt cx="0" cy="0"/>
        </a:xfrm>
      </p:grpSpPr>
      <p:sp>
        <p:nvSpPr>
          <p:cNvPr id="2035" name="Google Shape;2035;g25f155b838b_0_185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6" name="Google Shape;2036;g25f155b838b_0_18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a:endParaRPr/>
          </a:p>
        </p:txBody>
      </p:sp>
      <p:sp>
        <p:nvSpPr>
          <p:cNvPr id="12" name="Google Shape;12;p2"/>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7" name="Google Shape;17;p3"/>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 name="Google Shape;20;p4"/>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21" name="Google Shape;2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22" name="Google Shape;22;p4"/>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Roadmap">
  <p:cSld name="SECTION_TITLE_AND_DESCRIPTION_1">
    <p:spTree>
      <p:nvGrpSpPr>
        <p:cNvPr id="1" name="Shape 23"/>
        <p:cNvGrpSpPr/>
        <p:nvPr/>
      </p:nvGrpSpPr>
      <p:grpSpPr>
        <a:xfrm>
          <a:off x="0" y="0"/>
          <a:ext cx="0" cy="0"/>
          <a:chOff x="0" y="0"/>
          <a:chExt cx="0" cy="0"/>
        </a:xfrm>
      </p:grpSpPr>
      <p:sp>
        <p:nvSpPr>
          <p:cNvPr id="24" name="Google Shape;24;p5"/>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6" name="Google Shape;26;p5"/>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marL="914400" lvl="1"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marL="1371600" lvl="2"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marL="1828800" lvl="3"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marL="2286000" lvl="4"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marL="2743200" lvl="5"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marL="3200400" lvl="6"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marL="3657600" lvl="7"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marL="4114800" lvl="8"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a:endParaRPr/>
          </a:p>
        </p:txBody>
      </p:sp>
      <p:pic>
        <p:nvPicPr>
          <p:cNvPr id="27" name="Google Shape;27;p5"/>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28" name="Google Shape;28;p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cxnSp>
        <p:nvCxnSpPr>
          <p:cNvPr id="29" name="Google Shape;29;p5"/>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30" name="Google Shape;30;p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SzPts val="18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emo slide right">
  <p:cSld name="SECTION_TITLE_AND_DESCRIPTION_2">
    <p:spTree>
      <p:nvGrpSpPr>
        <p:cNvPr id="1" name="Shape 31"/>
        <p:cNvGrpSpPr/>
        <p:nvPr/>
      </p:nvGrpSpPr>
      <p:grpSpPr>
        <a:xfrm>
          <a:off x="0" y="0"/>
          <a:ext cx="0" cy="0"/>
          <a:chOff x="0" y="0"/>
          <a:chExt cx="0" cy="0"/>
        </a:xfrm>
      </p:grpSpPr>
      <p:sp>
        <p:nvSpPr>
          <p:cNvPr id="32" name="Google Shape;32;p6"/>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6"/>
          <p:cNvSpPr txBox="1">
            <a:spLocks noGrp="1"/>
          </p:cNvSpPr>
          <p:nvPr>
            <p:ph type="subTitle" idx="1"/>
          </p:nvPr>
        </p:nvSpPr>
        <p:spPr>
          <a:xfrm>
            <a:off x="4835400" y="4198275"/>
            <a:ext cx="4045200" cy="465000"/>
          </a:xfrm>
          <a:prstGeom prst="rect">
            <a:avLst/>
          </a:prstGeom>
        </p:spPr>
        <p:txBody>
          <a:bodyPr spcFirstLastPara="1" wrap="square" lIns="91425" tIns="91425" rIns="91425" bIns="91425" anchor="t" anchorCtr="0">
            <a:noAutofit/>
          </a:bodyPr>
          <a:lstStyle>
            <a:lvl1pPr lvl="0" algn="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34" name="Google Shape;34;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5" name="Google Shape;35;p6"/>
          <p:cNvSpPr txBox="1"/>
          <p:nvPr/>
        </p:nvSpPr>
        <p:spPr>
          <a:xfrm>
            <a:off x="6365900" y="3724875"/>
            <a:ext cx="2591100" cy="569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36" name="Google Shape;36;p6"/>
          <p:cNvSpPr txBox="1">
            <a:spLocks noGrp="1"/>
          </p:cNvSpPr>
          <p:nvPr>
            <p:ph type="body" idx="2"/>
          </p:nvPr>
        </p:nvSpPr>
        <p:spPr>
          <a:xfrm>
            <a:off x="95425" y="402200"/>
            <a:ext cx="43023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37" name="Google Shape;37;p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38" name="Google Shape;38;p6"/>
          <p:cNvCxnSpPr/>
          <p:nvPr/>
        </p:nvCxnSpPr>
        <p:spPr>
          <a:xfrm>
            <a:off x="95431" y="402210"/>
            <a:ext cx="43521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emo slide left">
  <p:cSld name="SECTION_TITLE_AND_DESCRIPTION_2_1">
    <p:spTree>
      <p:nvGrpSpPr>
        <p:cNvPr id="1" name="Shape 39"/>
        <p:cNvGrpSpPr/>
        <p:nvPr/>
      </p:nvGrpSpPr>
      <p:grpSpPr>
        <a:xfrm>
          <a:off x="0" y="0"/>
          <a:ext cx="0" cy="0"/>
          <a:chOff x="0" y="0"/>
          <a:chExt cx="0" cy="0"/>
        </a:xfrm>
      </p:grpSpPr>
      <p:sp>
        <p:nvSpPr>
          <p:cNvPr id="40" name="Google Shape;40;p7"/>
          <p:cNvSpPr/>
          <p:nvPr/>
        </p:nvSpPr>
        <p:spPr>
          <a:xfrm>
            <a:off x="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7"/>
          <p:cNvSpPr txBox="1">
            <a:spLocks noGrp="1"/>
          </p:cNvSpPr>
          <p:nvPr>
            <p:ph type="subTitle" idx="1"/>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42" name="Google Shape;42;p7"/>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43" name="Google Shape;43;p7"/>
          <p:cNvSpPr txBox="1">
            <a:spLocks noGrp="1"/>
          </p:cNvSpPr>
          <p:nvPr>
            <p:ph type="body" idx="2"/>
          </p:nvPr>
        </p:nvSpPr>
        <p:spPr>
          <a:xfrm>
            <a:off x="4667425" y="402200"/>
            <a:ext cx="43023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44" name="Google Shape;44;p7"/>
          <p:cNvSpPr txBox="1">
            <a:spLocks noGrp="1"/>
          </p:cNvSpPr>
          <p:nvPr>
            <p:ph type="title"/>
          </p:nvPr>
        </p:nvSpPr>
        <p:spPr>
          <a:xfrm>
            <a:off x="4572000" y="0"/>
            <a:ext cx="4572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45" name="Google Shape;45;p7"/>
          <p:cNvCxnSpPr/>
          <p:nvPr/>
        </p:nvCxnSpPr>
        <p:spPr>
          <a:xfrm>
            <a:off x="4667431" y="402210"/>
            <a:ext cx="4352100" cy="0"/>
          </a:xfrm>
          <a:prstGeom prst="straightConnector1">
            <a:avLst/>
          </a:prstGeom>
          <a:noFill/>
          <a:ln w="19050" cap="flat" cmpd="sng">
            <a:solidFill>
              <a:srgbClr val="BF9000"/>
            </a:solidFill>
            <a:prstDash val="solid"/>
            <a:round/>
            <a:headEnd type="none" w="med" len="med"/>
            <a:tailEnd type="none" w="med" len="med"/>
          </a:ln>
        </p:spPr>
      </p:cxnSp>
      <p:pic>
        <p:nvPicPr>
          <p:cNvPr id="46" name="Google Shape;46;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7" name="Google Shape;4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Wide Puzzle">
  <p:cSld name="SECTION_TITLE_AND_DESCRIPTION_2_1_1">
    <p:spTree>
      <p:nvGrpSpPr>
        <p:cNvPr id="1" name="Shape 48"/>
        <p:cNvGrpSpPr/>
        <p:nvPr/>
      </p:nvGrpSpPr>
      <p:grpSpPr>
        <a:xfrm>
          <a:off x="0" y="0"/>
          <a:ext cx="0" cy="0"/>
          <a:chOff x="0" y="0"/>
          <a:chExt cx="0" cy="0"/>
        </a:xfrm>
      </p:grpSpPr>
      <p:sp>
        <p:nvSpPr>
          <p:cNvPr id="49" name="Google Shape;49;p8"/>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8"/>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51" name="Google Shape;51;p8"/>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52" name="Google Shape;52;p8"/>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53" name="Google Shape;53;p8"/>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54" name="Google Shape;54;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5" name="Google Shape;55;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6" name="Google Shape;56;p8"/>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a:t>
            </a:r>
            <a:endParaRPr sz="2500" b="1">
              <a:solidFill>
                <a:schemeClr val="accent3"/>
              </a:solidFill>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Wide Puzzle 1">
  <p:cSld name="SECTION_TITLE_AND_DESCRIPTION_2_1_1_2">
    <p:spTree>
      <p:nvGrpSpPr>
        <p:cNvPr id="1" name="Shape 57"/>
        <p:cNvGrpSpPr/>
        <p:nvPr/>
      </p:nvGrpSpPr>
      <p:grpSpPr>
        <a:xfrm>
          <a:off x="0" y="0"/>
          <a:ext cx="0" cy="0"/>
          <a:chOff x="0" y="0"/>
          <a:chExt cx="0" cy="0"/>
        </a:xfrm>
      </p:grpSpPr>
      <p:sp>
        <p:nvSpPr>
          <p:cNvPr id="58" name="Google Shape;58;p9"/>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9"/>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60" name="Google Shape;60;p9"/>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Compare</a:t>
            </a:r>
            <a:endParaRPr sz="2500" b="1">
              <a:solidFill>
                <a:schemeClr val="accent3"/>
              </a:solidFill>
              <a:latin typeface="Roboto"/>
              <a:ea typeface="Roboto"/>
              <a:cs typeface="Roboto"/>
              <a:sym typeface="Roboto"/>
            </a:endParaRPr>
          </a:p>
        </p:txBody>
      </p:sp>
      <p:sp>
        <p:nvSpPr>
          <p:cNvPr id="61" name="Google Shape;61;p9"/>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62" name="Google Shape;62;p9"/>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63" name="Google Shape;63;p9"/>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64" name="Google Shape;64;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5" name="Google Shape;65;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Wide Puzzle Solution">
  <p:cSld name="SECTION_TITLE_AND_DESCRIPTION_2_1_1_1">
    <p:spTree>
      <p:nvGrpSpPr>
        <p:cNvPr id="1" name="Shape 66"/>
        <p:cNvGrpSpPr/>
        <p:nvPr/>
      </p:nvGrpSpPr>
      <p:grpSpPr>
        <a:xfrm>
          <a:off x="0" y="0"/>
          <a:ext cx="0" cy="0"/>
          <a:chOff x="0" y="0"/>
          <a:chExt cx="0" cy="0"/>
        </a:xfrm>
      </p:grpSpPr>
      <p:sp>
        <p:nvSpPr>
          <p:cNvPr id="67" name="Google Shape;67;p10"/>
          <p:cNvSpPr/>
          <p:nvPr/>
        </p:nvSpPr>
        <p:spPr>
          <a:xfrm>
            <a:off x="0" y="-125"/>
            <a:ext cx="2776500" cy="51435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0"/>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69" name="Google Shape;69;p10"/>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Solution</a:t>
            </a:r>
            <a:endParaRPr sz="2500" b="1">
              <a:solidFill>
                <a:schemeClr val="accent3"/>
              </a:solidFill>
              <a:latin typeface="Roboto"/>
              <a:ea typeface="Roboto"/>
              <a:cs typeface="Roboto"/>
              <a:sym typeface="Roboto"/>
            </a:endParaRPr>
          </a:p>
        </p:txBody>
      </p:sp>
      <p:sp>
        <p:nvSpPr>
          <p:cNvPr id="70" name="Google Shape;70;p10"/>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71" name="Google Shape;71;p10"/>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72" name="Google Shape;72;p10"/>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73" name="Google Shape;73;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4" name="Google Shape;7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5"/>
        <p:cNvGrpSpPr/>
        <p:nvPr/>
      </p:nvGrpSpPr>
      <p:grpSpPr>
        <a:xfrm>
          <a:off x="0" y="0"/>
          <a:ext cx="0" cy="0"/>
          <a:chOff x="0" y="0"/>
          <a:chExt cx="0" cy="0"/>
        </a:xfrm>
      </p:grpSpPr>
      <p:sp>
        <p:nvSpPr>
          <p:cNvPr id="76" name="Google Shape;76;p1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7" name="Google Shape;77;p11"/>
          <p:cNvSpPr txBox="1">
            <a:spLocks noGrp="1"/>
          </p:cNvSpPr>
          <p:nvPr>
            <p:ph type="body" idx="1"/>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78" name="Google Shape;78;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79" name="Google Shape;79;p11"/>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
        <p:nvSpPr>
          <p:cNvPr id="80" name="Google Shape;80;p11"/>
          <p:cNvSpPr txBox="1">
            <a:spLocks noGrp="1"/>
          </p:cNvSpPr>
          <p:nvPr>
            <p:ph type="body" idx="2"/>
          </p:nvPr>
        </p:nvSpPr>
        <p:spPr>
          <a:xfrm>
            <a:off x="9543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1"/>
        <p:cNvGrpSpPr/>
        <p:nvPr/>
      </p:nvGrpSpPr>
      <p:grpSpPr>
        <a:xfrm>
          <a:off x="0" y="0"/>
          <a:ext cx="0" cy="0"/>
          <a:chOff x="0" y="0"/>
          <a:chExt cx="0" cy="0"/>
        </a:xfrm>
      </p:grpSpPr>
      <p:sp>
        <p:nvSpPr>
          <p:cNvPr id="82" name="Google Shape;82;p1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3" name="Google Shape;83;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84" name="Google Shape;84;p12"/>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5"/>
        <p:cNvGrpSpPr/>
        <p:nvPr/>
      </p:nvGrpSpPr>
      <p:grpSpPr>
        <a:xfrm>
          <a:off x="0" y="0"/>
          <a:ext cx="0" cy="0"/>
          <a:chOff x="0" y="0"/>
          <a:chExt cx="0" cy="0"/>
        </a:xfrm>
      </p:grpSpPr>
      <p:sp>
        <p:nvSpPr>
          <p:cNvPr id="86" name="Google Shape;86;p13"/>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87" name="Google Shape;87;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_TITLE_AND_DESCRIPTION_3">
  <p:cSld name="SECTION_TITLE_AND_DESCRIPTION_3">
    <p:spTree>
      <p:nvGrpSpPr>
        <p:cNvPr id="1" name="Shape 88"/>
        <p:cNvGrpSpPr/>
        <p:nvPr/>
      </p:nvGrpSpPr>
      <p:grpSpPr>
        <a:xfrm>
          <a:off x="0" y="0"/>
          <a:ext cx="0" cy="0"/>
          <a:chOff x="0" y="0"/>
          <a:chExt cx="0" cy="0"/>
        </a:xfrm>
      </p:grpSpPr>
      <p:sp>
        <p:nvSpPr>
          <p:cNvPr id="89" name="Google Shape;89;p14"/>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4"/>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91" name="Google Shape;91;p14"/>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92" name="Google Shape;92;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3" name="Google Shape;93;p14"/>
          <p:cNvSpPr txBox="1">
            <a:spLocks noGrp="1"/>
          </p:cNvSpPr>
          <p:nvPr>
            <p:ph type="body" idx="2"/>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4"/>
        <p:cNvGrpSpPr/>
        <p:nvPr/>
      </p:nvGrpSpPr>
      <p:grpSpPr>
        <a:xfrm>
          <a:off x="0" y="0"/>
          <a:ext cx="0" cy="0"/>
          <a:chOff x="0" y="0"/>
          <a:chExt cx="0" cy="0"/>
        </a:xfrm>
      </p:grpSpPr>
      <p:sp>
        <p:nvSpPr>
          <p:cNvPr id="95" name="Google Shape;95;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6" name="Google Shape;96;p15"/>
          <p:cNvSpPr txBox="1">
            <a:spLocks noGrp="1"/>
          </p:cNvSpPr>
          <p:nvPr>
            <p:ph type="title"/>
          </p:nvPr>
        </p:nvSpPr>
        <p:spPr>
          <a:xfrm>
            <a:off x="95425" y="4382350"/>
            <a:ext cx="8425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cxnSp>
        <p:nvCxnSpPr>
          <p:cNvPr id="97" name="Google Shape;97;p15"/>
          <p:cNvCxnSpPr/>
          <p:nvPr/>
        </p:nvCxnSpPr>
        <p:spPr>
          <a:xfrm>
            <a:off x="168250" y="4288400"/>
            <a:ext cx="87570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8"/>
        <p:cNvGrpSpPr/>
        <p:nvPr/>
      </p:nvGrpSpPr>
      <p:grpSpPr>
        <a:xfrm>
          <a:off x="0" y="0"/>
          <a:ext cx="0" cy="0"/>
          <a:chOff x="0" y="0"/>
          <a:chExt cx="0" cy="0"/>
        </a:xfrm>
      </p:grpSpPr>
      <p:sp>
        <p:nvSpPr>
          <p:cNvPr id="99" name="Google Shape;99;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dark">
  <p:cSld name="BLANK_1">
    <p:bg>
      <p:bgPr>
        <a:solidFill>
          <a:schemeClr val="dk1"/>
        </a:solidFill>
        <a:effectLst/>
      </p:bgPr>
    </p:bg>
    <p:spTree>
      <p:nvGrpSpPr>
        <p:cNvPr id="1" name="Shape 100"/>
        <p:cNvGrpSpPr/>
        <p:nvPr/>
      </p:nvGrpSpPr>
      <p:grpSpPr>
        <a:xfrm>
          <a:off x="0" y="0"/>
          <a:ext cx="0" cy="0"/>
          <a:chOff x="0" y="0"/>
          <a:chExt cx="0" cy="0"/>
        </a:xfrm>
      </p:grpSpPr>
      <p:sp>
        <p:nvSpPr>
          <p:cNvPr id="101" name="Google Shape;101;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Interlude">
  <p:cSld name="SECTION_TITLE_AND_DESCRIPTION_1_3">
    <p:spTree>
      <p:nvGrpSpPr>
        <p:cNvPr id="1" name="Shape 102"/>
        <p:cNvGrpSpPr/>
        <p:nvPr/>
      </p:nvGrpSpPr>
      <p:grpSpPr>
        <a:xfrm>
          <a:off x="0" y="0"/>
          <a:ext cx="0" cy="0"/>
          <a:chOff x="0" y="0"/>
          <a:chExt cx="0" cy="0"/>
        </a:xfrm>
      </p:grpSpPr>
      <p:sp>
        <p:nvSpPr>
          <p:cNvPr id="103" name="Google Shape;103;p18"/>
          <p:cNvSpPr/>
          <p:nvPr/>
        </p:nvSpPr>
        <p:spPr>
          <a:xfrm>
            <a:off x="0" y="-1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05" name="Google Shape;105;p18"/>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pic>
        <p:nvPicPr>
          <p:cNvPr id="106" name="Google Shape;106;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7" name="Google Shape;107;p18"/>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cxnSp>
        <p:nvCxnSpPr>
          <p:cNvPr id="108" name="Google Shape;108;p18"/>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109" name="Google Shape;109;p18"/>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Clr>
                <a:schemeClr val="lt1"/>
              </a:buClr>
              <a:buSzPts val="18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1">
  <p:cSld name="SECTION_TITLE_AND_DESCRIPTION_1_1">
    <p:spTree>
      <p:nvGrpSpPr>
        <p:cNvPr id="1" name="Shape 110"/>
        <p:cNvGrpSpPr/>
        <p:nvPr/>
      </p:nvGrpSpPr>
      <p:grpSpPr>
        <a:xfrm>
          <a:off x="0" y="0"/>
          <a:ext cx="0" cy="0"/>
          <a:chOff x="0" y="0"/>
          <a:chExt cx="0" cy="0"/>
        </a:xfrm>
      </p:grpSpPr>
      <p:sp>
        <p:nvSpPr>
          <p:cNvPr id="111" name="Google Shape;111;p19"/>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13" name="Google Shape;113;p1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14" name="Google Shape;114;p1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5" name="Google Shape;115;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de on left">
  <p:cSld name="SECTION_TITLE_AND_DESCRIPTION_1_1_1">
    <p:spTree>
      <p:nvGrpSpPr>
        <p:cNvPr id="1" name="Shape 116"/>
        <p:cNvGrpSpPr/>
        <p:nvPr/>
      </p:nvGrpSpPr>
      <p:grpSpPr>
        <a:xfrm>
          <a:off x="0" y="0"/>
          <a:ext cx="0" cy="0"/>
          <a:chOff x="0" y="0"/>
          <a:chExt cx="0" cy="0"/>
        </a:xfrm>
      </p:grpSpPr>
      <p:sp>
        <p:nvSpPr>
          <p:cNvPr id="117" name="Google Shape;117;p20"/>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19" name="Google Shape;119;p20"/>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0" name="Google Shape;120;p20"/>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1" name="Google Shape;121;p20"/>
          <p:cNvSpPr txBox="1">
            <a:spLocks noGrp="1"/>
          </p:cNvSpPr>
          <p:nvPr>
            <p:ph type="title"/>
          </p:nvPr>
        </p:nvSpPr>
        <p:spPr>
          <a:xfrm>
            <a:off x="48829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22" name="Google Shape;122;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de left, Heading">
  <p:cSld name="SECTION_TITLE_AND_DESCRIPTION_1_1_1_1">
    <p:spTree>
      <p:nvGrpSpPr>
        <p:cNvPr id="1" name="Shape 123"/>
        <p:cNvGrpSpPr/>
        <p:nvPr/>
      </p:nvGrpSpPr>
      <p:grpSpPr>
        <a:xfrm>
          <a:off x="0" y="0"/>
          <a:ext cx="0" cy="0"/>
          <a:chOff x="0" y="0"/>
          <a:chExt cx="0" cy="0"/>
        </a:xfrm>
      </p:grpSpPr>
      <p:sp>
        <p:nvSpPr>
          <p:cNvPr id="124" name="Google Shape;124;p21"/>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26" name="Google Shape;126;p21"/>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7" name="Google Shape;127;p21"/>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8" name="Google Shape;128;p21"/>
          <p:cNvSpPr txBox="1">
            <a:spLocks noGrp="1"/>
          </p:cNvSpPr>
          <p:nvPr>
            <p:ph type="subTitle" idx="3"/>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29" name="Google Shape;129;p21"/>
          <p:cNvSpPr txBox="1">
            <a:spLocks noGrp="1"/>
          </p:cNvSpPr>
          <p:nvPr>
            <p:ph type="title"/>
          </p:nvPr>
        </p:nvSpPr>
        <p:spPr>
          <a:xfrm>
            <a:off x="208450" y="3418425"/>
            <a:ext cx="39501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pic>
        <p:nvPicPr>
          <p:cNvPr id="130" name="Google Shape;130;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131"/>
        <p:cNvGrpSpPr/>
        <p:nvPr/>
      </p:nvGrpSpPr>
      <p:grpSpPr>
        <a:xfrm>
          <a:off x="0" y="0"/>
          <a:ext cx="0" cy="0"/>
          <a:chOff x="0" y="0"/>
          <a:chExt cx="0" cy="0"/>
        </a:xfrm>
      </p:grpSpPr>
      <p:sp>
        <p:nvSpPr>
          <p:cNvPr id="132" name="Google Shape;132;p2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3" name="Google Shape;133;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de on right">
  <p:cSld name="SECTION_TITLE_AND_DESCRIPTION_1_2">
    <p:spTree>
      <p:nvGrpSpPr>
        <p:cNvPr id="1" name="Shape 134"/>
        <p:cNvGrpSpPr/>
        <p:nvPr/>
      </p:nvGrpSpPr>
      <p:grpSpPr>
        <a:xfrm>
          <a:off x="0" y="0"/>
          <a:ext cx="0" cy="0"/>
          <a:chOff x="0" y="0"/>
          <a:chExt cx="0" cy="0"/>
        </a:xfrm>
      </p:grpSpPr>
      <p:sp>
        <p:nvSpPr>
          <p:cNvPr id="135" name="Google Shape;135;p23"/>
          <p:cNvSpPr/>
          <p:nvPr/>
        </p:nvSpPr>
        <p:spPr>
          <a:xfrm>
            <a:off x="457200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37" name="Google Shape;137;p23"/>
          <p:cNvSpPr txBox="1">
            <a:spLocks noGrp="1"/>
          </p:cNvSpPr>
          <p:nvPr>
            <p:ph type="body" idx="1"/>
          </p:nvPr>
        </p:nvSpPr>
        <p:spPr>
          <a:xfrm>
            <a:off x="3117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38" name="Google Shape;138;p23"/>
          <p:cNvSpPr txBox="1">
            <a:spLocks noGrp="1"/>
          </p:cNvSpPr>
          <p:nvPr>
            <p:ph type="body" idx="2"/>
          </p:nvPr>
        </p:nvSpPr>
        <p:spPr>
          <a:xfrm>
            <a:off x="4882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39" name="Google Shape;139;p23"/>
          <p:cNvSpPr txBox="1">
            <a:spLocks noGrp="1"/>
          </p:cNvSpPr>
          <p:nvPr>
            <p:ph type="title"/>
          </p:nvPr>
        </p:nvSpPr>
        <p:spPr>
          <a:xfrm>
            <a:off x="3117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0" y="0"/>
            <a:ext cx="8520600" cy="39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a:endParaRPr/>
          </a:p>
        </p:txBody>
      </p:sp>
      <p:sp>
        <p:nvSpPr>
          <p:cNvPr id="7" name="Google Shape;7;p1"/>
          <p:cNvSpPr txBox="1">
            <a:spLocks noGrp="1"/>
          </p:cNvSpPr>
          <p:nvPr>
            <p:ph type="body" idx="1"/>
          </p:nvPr>
        </p:nvSpPr>
        <p:spPr>
          <a:xfrm>
            <a:off x="311700" y="572700"/>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2pPr>
            <a:lvl3pPr marL="1371600" lvl="2"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3pPr>
            <a:lvl4pPr marL="1828800" lvl="3"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marL="2286000" lvl="4"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marL="2743200" lvl="5"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marL="3200400" lvl="6"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marL="3657600" lvl="7"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marL="4114800" lvl="8"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1"/>
                </a:solidFill>
                <a:latin typeface="Roboto"/>
                <a:ea typeface="Roboto"/>
                <a:cs typeface="Roboto"/>
                <a:sym typeface="Roboto"/>
              </a:defRPr>
            </a:lvl1pPr>
            <a:lvl2pPr lvl="1" algn="r" rtl="0">
              <a:buNone/>
              <a:defRPr sz="1000">
                <a:solidFill>
                  <a:schemeClr val="dk1"/>
                </a:solidFill>
                <a:latin typeface="Roboto"/>
                <a:ea typeface="Roboto"/>
                <a:cs typeface="Roboto"/>
                <a:sym typeface="Roboto"/>
              </a:defRPr>
            </a:lvl2pPr>
            <a:lvl3pPr lvl="2" algn="r" rtl="0">
              <a:buNone/>
              <a:defRPr sz="1000">
                <a:solidFill>
                  <a:schemeClr val="dk1"/>
                </a:solidFill>
                <a:latin typeface="Roboto"/>
                <a:ea typeface="Roboto"/>
                <a:cs typeface="Roboto"/>
                <a:sym typeface="Roboto"/>
              </a:defRPr>
            </a:lvl3pPr>
            <a:lvl4pPr lvl="3" algn="r" rtl="0">
              <a:buNone/>
              <a:defRPr sz="1000">
                <a:solidFill>
                  <a:schemeClr val="dk1"/>
                </a:solidFill>
                <a:latin typeface="Roboto"/>
                <a:ea typeface="Roboto"/>
                <a:cs typeface="Roboto"/>
                <a:sym typeface="Roboto"/>
              </a:defRPr>
            </a:lvl4pPr>
            <a:lvl5pPr lvl="4" algn="r" rtl="0">
              <a:buNone/>
              <a:defRPr sz="1000">
                <a:solidFill>
                  <a:schemeClr val="dk1"/>
                </a:solidFill>
                <a:latin typeface="Roboto"/>
                <a:ea typeface="Roboto"/>
                <a:cs typeface="Roboto"/>
                <a:sym typeface="Roboto"/>
              </a:defRPr>
            </a:lvl5pPr>
            <a:lvl6pPr lvl="5" algn="r" rtl="0">
              <a:buNone/>
              <a:defRPr sz="1000">
                <a:solidFill>
                  <a:schemeClr val="dk1"/>
                </a:solidFill>
                <a:latin typeface="Roboto"/>
                <a:ea typeface="Roboto"/>
                <a:cs typeface="Roboto"/>
                <a:sym typeface="Roboto"/>
              </a:defRPr>
            </a:lvl6pPr>
            <a:lvl7pPr lvl="6" algn="r" rtl="0">
              <a:buNone/>
              <a:defRPr sz="1000">
                <a:solidFill>
                  <a:schemeClr val="dk1"/>
                </a:solidFill>
                <a:latin typeface="Roboto"/>
                <a:ea typeface="Roboto"/>
                <a:cs typeface="Roboto"/>
                <a:sym typeface="Roboto"/>
              </a:defRPr>
            </a:lvl7pPr>
            <a:lvl8pPr lvl="7" algn="r" rtl="0">
              <a:buNone/>
              <a:defRPr sz="1000">
                <a:solidFill>
                  <a:schemeClr val="dk1"/>
                </a:solidFill>
                <a:latin typeface="Roboto"/>
                <a:ea typeface="Roboto"/>
                <a:cs typeface="Roboto"/>
                <a:sym typeface="Roboto"/>
              </a:defRPr>
            </a:lvl8pPr>
            <a:lvl9pPr lvl="8" algn="r" rtl="0">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24">
            <a:alphaModFix/>
          </a:blip>
          <a:stretch>
            <a:fillRect/>
          </a:stretch>
        </p:blipFill>
        <p:spPr>
          <a:xfrm>
            <a:off x="0" y="4983478"/>
            <a:ext cx="457200" cy="16002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www.cs.princeton.edu/courses/archive/spring15/cos226/demo/52DemoTrie.mov"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hyperlink" Target="https://en.wikipedia.org/wiki/Suffix_tree" TargetMode="External"/><Relationship Id="rId2" Type="http://schemas.openxmlformats.org/officeDocument/2006/relationships/notesSlide" Target="../notesSlides/notesSlide59.xml"/><Relationship Id="rId1" Type="http://schemas.openxmlformats.org/officeDocument/2006/relationships/slideLayout" Target="../slideLayouts/slideLayout3.xml"/><Relationship Id="rId4" Type="http://schemas.openxmlformats.org/officeDocument/2006/relationships/hyperlink" Target="https://en.wikipedia.org/wiki/Deterministic_acyclic_finite_state_automat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a:t>
            </a:fld>
            <a:endParaRPr/>
          </a:p>
        </p:txBody>
      </p:sp>
      <p:sp>
        <p:nvSpPr>
          <p:cNvPr id="145" name="Google Shape;145;p24"/>
          <p:cNvSpPr txBox="1"/>
          <p:nvPr/>
        </p:nvSpPr>
        <p:spPr>
          <a:xfrm>
            <a:off x="311700" y="3854350"/>
            <a:ext cx="8520600" cy="658500"/>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None/>
            </a:pPr>
            <a:r>
              <a:rPr lang="en" sz="1600">
                <a:latin typeface="Roboto Medium"/>
                <a:ea typeface="Roboto Medium"/>
                <a:cs typeface="Roboto Medium"/>
                <a:sym typeface="Roboto Medium"/>
              </a:rPr>
              <a:t>CS61B, Fall</a:t>
            </a:r>
            <a:r>
              <a:rPr lang="en" sz="1600">
                <a:solidFill>
                  <a:srgbClr val="000000"/>
                </a:solidFill>
                <a:latin typeface="Roboto Medium"/>
                <a:ea typeface="Roboto Medium"/>
                <a:cs typeface="Roboto Medium"/>
                <a:sym typeface="Roboto Medium"/>
              </a:rPr>
              <a:t> 202</a:t>
            </a:r>
            <a:r>
              <a:rPr lang="en" sz="1600">
                <a:latin typeface="Roboto Medium"/>
                <a:ea typeface="Roboto Medium"/>
                <a:cs typeface="Roboto Medium"/>
                <a:sym typeface="Roboto Medium"/>
              </a:rPr>
              <a:t>3</a:t>
            </a:r>
            <a:r>
              <a:rPr lang="en" sz="1600">
                <a:solidFill>
                  <a:srgbClr val="000000"/>
                </a:solidFill>
                <a:latin typeface="Roboto Medium"/>
                <a:ea typeface="Roboto Medium"/>
                <a:cs typeface="Roboto Medium"/>
                <a:sym typeface="Roboto Medium"/>
              </a:rPr>
              <a:t> @ UC Berkeley</a:t>
            </a:r>
            <a:endParaRPr sz="1600">
              <a:solidFill>
                <a:srgbClr val="000000"/>
              </a:solidFill>
              <a:latin typeface="Roboto Medium"/>
              <a:ea typeface="Roboto Medium"/>
              <a:cs typeface="Roboto Medium"/>
              <a:sym typeface="Roboto Medium"/>
            </a:endParaRPr>
          </a:p>
          <a:p>
            <a:pPr marL="0" lvl="0" indent="0" algn="l" rtl="0">
              <a:spcBef>
                <a:spcPts val="600"/>
              </a:spcBef>
              <a:spcAft>
                <a:spcPts val="0"/>
              </a:spcAft>
              <a:buNone/>
            </a:pPr>
            <a:r>
              <a:rPr lang="en" sz="1600">
                <a:latin typeface="Roboto Light"/>
                <a:ea typeface="Roboto Light"/>
                <a:cs typeface="Roboto Light"/>
                <a:sym typeface="Roboto Light"/>
              </a:rPr>
              <a:t>Slides credit: Josh Hug</a:t>
            </a:r>
            <a:endParaRPr sz="1600">
              <a:solidFill>
                <a:srgbClr val="000000"/>
              </a:solidFill>
              <a:latin typeface="Roboto Light"/>
              <a:ea typeface="Roboto Light"/>
              <a:cs typeface="Roboto Light"/>
              <a:sym typeface="Roboto Light"/>
            </a:endParaRPr>
          </a:p>
        </p:txBody>
      </p:sp>
      <p:sp>
        <p:nvSpPr>
          <p:cNvPr id="146" name="Google Shape;146;p24"/>
          <p:cNvSpPr txBox="1"/>
          <p:nvPr/>
        </p:nvSpPr>
        <p:spPr>
          <a:xfrm>
            <a:off x="311700" y="1658975"/>
            <a:ext cx="8709600" cy="20526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3600">
                <a:solidFill>
                  <a:srgbClr val="0B5394"/>
                </a:solidFill>
                <a:latin typeface="Roboto Medium"/>
                <a:ea typeface="Roboto Medium"/>
                <a:cs typeface="Roboto Medium"/>
                <a:sym typeface="Roboto Medium"/>
              </a:rPr>
              <a:t>Tries</a:t>
            </a:r>
            <a:endParaRPr sz="3600">
              <a:solidFill>
                <a:srgbClr val="0B5394"/>
              </a:solidFill>
              <a:latin typeface="Roboto Medium"/>
              <a:ea typeface="Roboto Medium"/>
              <a:cs typeface="Roboto Medium"/>
              <a:sym typeface="Roboto Medium"/>
            </a:endParaRPr>
          </a:p>
        </p:txBody>
      </p:sp>
      <p:sp>
        <p:nvSpPr>
          <p:cNvPr id="147" name="Google Shape;147;p24"/>
          <p:cNvSpPr txBox="1"/>
          <p:nvPr/>
        </p:nvSpPr>
        <p:spPr>
          <a:xfrm>
            <a:off x="345775" y="2740300"/>
            <a:ext cx="2762700" cy="28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BF9000"/>
                </a:solidFill>
                <a:latin typeface="Roboto Medium"/>
                <a:ea typeface="Roboto Medium"/>
                <a:cs typeface="Roboto Medium"/>
                <a:sym typeface="Roboto Medium"/>
              </a:rPr>
              <a:t>Lecture 26</a:t>
            </a:r>
            <a:endParaRPr sz="1200">
              <a:solidFill>
                <a:srgbClr val="BF9000"/>
              </a:solidFill>
              <a:latin typeface="Roboto Medium"/>
              <a:ea typeface="Roboto Medium"/>
              <a:cs typeface="Roboto Medium"/>
              <a:sym typeface="Roboto Medium"/>
            </a:endParaRPr>
          </a:p>
        </p:txBody>
      </p:sp>
      <p:pic>
        <p:nvPicPr>
          <p:cNvPr id="148" name="Google Shape;148;p24"/>
          <p:cNvPicPr preferRelativeResize="0"/>
          <p:nvPr/>
        </p:nvPicPr>
        <p:blipFill>
          <a:blip r:embed="rId3">
            <a:alphaModFix/>
          </a:blip>
          <a:stretch>
            <a:fillRect/>
          </a:stretch>
        </p:blipFill>
        <p:spPr>
          <a:xfrm>
            <a:off x="2184871" y="478575"/>
            <a:ext cx="6675755" cy="17888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Lecture 26, CS61B, Fall 2023</a:t>
            </a:r>
            <a:endParaRPr/>
          </a:p>
        </p:txBody>
      </p:sp>
      <p:sp>
        <p:nvSpPr>
          <p:cNvPr id="154" name="Google Shape;154;p25"/>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b="1">
                <a:solidFill>
                  <a:schemeClr val="accent3"/>
                </a:solidFill>
                <a:latin typeface="Roboto"/>
                <a:ea typeface="Roboto"/>
                <a:cs typeface="Roboto"/>
                <a:sym typeface="Roboto"/>
              </a:rPr>
              <a:t>Tries (Conceptual)</a:t>
            </a:r>
            <a:endParaRPr b="1">
              <a:solidFill>
                <a:schemeClr val="accent3"/>
              </a:solidFill>
              <a:latin typeface="Roboto"/>
              <a:ea typeface="Roboto"/>
              <a:cs typeface="Roboto"/>
              <a:sym typeface="Roboto"/>
            </a:endParaRPr>
          </a:p>
          <a:p>
            <a:pPr marL="0" lvl="0" indent="0" algn="l" rtl="0">
              <a:spcBef>
                <a:spcPts val="600"/>
              </a:spcBef>
              <a:spcAft>
                <a:spcPts val="0"/>
              </a:spcAft>
              <a:buNone/>
            </a:pPr>
            <a:r>
              <a:rPr lang="en"/>
              <a:t>Trie Implementation and</a:t>
            </a:r>
            <a:br>
              <a:rPr lang="en"/>
            </a:br>
            <a:r>
              <a:rPr lang="en"/>
              <a:t>Performance</a:t>
            </a:r>
            <a:endParaRPr/>
          </a:p>
          <a:p>
            <a:pPr marL="0" lvl="0" indent="0" algn="l" rtl="0">
              <a:spcBef>
                <a:spcPts val="600"/>
              </a:spcBef>
              <a:spcAft>
                <a:spcPts val="0"/>
              </a:spcAft>
              <a:buNone/>
            </a:pPr>
            <a:r>
              <a:rPr lang="en"/>
              <a:t>Alternate Child Tracking Strategies</a:t>
            </a:r>
            <a:endParaRPr/>
          </a:p>
          <a:p>
            <a:pPr marL="0" lvl="0" indent="0" algn="l" rtl="0">
              <a:spcBef>
                <a:spcPts val="600"/>
              </a:spcBef>
              <a:spcAft>
                <a:spcPts val="0"/>
              </a:spcAft>
              <a:buNone/>
            </a:pPr>
            <a:r>
              <a:rPr lang="en"/>
              <a:t>Trie String Operations</a:t>
            </a:r>
            <a:endParaRPr/>
          </a:p>
          <a:p>
            <a:pPr marL="0" lvl="0" indent="0" algn="l" rtl="0">
              <a:spcBef>
                <a:spcPts val="600"/>
              </a:spcBef>
              <a:spcAft>
                <a:spcPts val="0"/>
              </a:spcAft>
              <a:buNone/>
            </a:pPr>
            <a:r>
              <a:rPr lang="en"/>
              <a:t>Autocomplete</a:t>
            </a:r>
            <a:endParaRPr/>
          </a:p>
          <a:p>
            <a:pPr marL="0" lvl="0" indent="0" algn="l" rtl="0">
              <a:spcBef>
                <a:spcPts val="600"/>
              </a:spcBef>
              <a:spcAft>
                <a:spcPts val="0"/>
              </a:spcAft>
              <a:buNone/>
            </a:pPr>
            <a:r>
              <a:rPr lang="en"/>
              <a:t>Trie Summary</a:t>
            </a:r>
            <a:endParaRPr/>
          </a:p>
        </p:txBody>
      </p:sp>
      <p:sp>
        <p:nvSpPr>
          <p:cNvPr id="155" name="Google Shape;155;p2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Tries (Conceptual)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Abstract Data Types vs. Specific Implementations</a:t>
            </a:r>
            <a:endParaRPr/>
          </a:p>
        </p:txBody>
      </p:sp>
      <p:sp>
        <p:nvSpPr>
          <p:cNvPr id="161" name="Google Shape;161;p26"/>
          <p:cNvSpPr/>
          <p:nvPr/>
        </p:nvSpPr>
        <p:spPr>
          <a:xfrm>
            <a:off x="2335189" y="3312623"/>
            <a:ext cx="1870200" cy="1302900"/>
          </a:xfrm>
          <a:prstGeom prst="roundRect">
            <a:avLst>
              <a:gd name="adj" fmla="val 16667"/>
            </a:avLst>
          </a:prstGeom>
          <a:solidFill>
            <a:srgbClr val="CCCCCC"/>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6"/>
          <p:cNvSpPr/>
          <p:nvPr/>
        </p:nvSpPr>
        <p:spPr>
          <a:xfrm>
            <a:off x="2342600" y="2383400"/>
            <a:ext cx="1870200" cy="798300"/>
          </a:xfrm>
          <a:prstGeom prst="roundRect">
            <a:avLst>
              <a:gd name="adj" fmla="val 16667"/>
            </a:avLst>
          </a:prstGeom>
          <a:solidFill>
            <a:srgbClr val="CCCCCC"/>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6"/>
          <p:cNvSpPr/>
          <p:nvPr/>
        </p:nvSpPr>
        <p:spPr>
          <a:xfrm>
            <a:off x="5560175" y="1540375"/>
            <a:ext cx="696300" cy="3054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PQ</a:t>
            </a:r>
            <a:endParaRPr/>
          </a:p>
        </p:txBody>
      </p:sp>
      <p:sp>
        <p:nvSpPr>
          <p:cNvPr id="164" name="Google Shape;164;p26"/>
          <p:cNvSpPr/>
          <p:nvPr/>
        </p:nvSpPr>
        <p:spPr>
          <a:xfrm>
            <a:off x="5530525" y="2911975"/>
            <a:ext cx="696300" cy="3054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List</a:t>
            </a:r>
            <a:endParaRPr/>
          </a:p>
        </p:txBody>
      </p:sp>
      <p:sp>
        <p:nvSpPr>
          <p:cNvPr id="165" name="Google Shape;165;p26"/>
          <p:cNvSpPr/>
          <p:nvPr/>
        </p:nvSpPr>
        <p:spPr>
          <a:xfrm>
            <a:off x="1102525" y="2454775"/>
            <a:ext cx="696300" cy="3054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Set</a:t>
            </a:r>
            <a:endParaRPr/>
          </a:p>
        </p:txBody>
      </p:sp>
      <p:sp>
        <p:nvSpPr>
          <p:cNvPr id="166" name="Google Shape;166;p26"/>
          <p:cNvSpPr/>
          <p:nvPr/>
        </p:nvSpPr>
        <p:spPr>
          <a:xfrm>
            <a:off x="1102400" y="3088450"/>
            <a:ext cx="696300" cy="3054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Map</a:t>
            </a:r>
            <a:endParaRPr/>
          </a:p>
        </p:txBody>
      </p:sp>
      <p:sp>
        <p:nvSpPr>
          <p:cNvPr id="167" name="Google Shape;167;p26"/>
          <p:cNvSpPr/>
          <p:nvPr/>
        </p:nvSpPr>
        <p:spPr>
          <a:xfrm>
            <a:off x="2313475" y="1502275"/>
            <a:ext cx="1870200" cy="738000"/>
          </a:xfrm>
          <a:prstGeom prst="roundRect">
            <a:avLst>
              <a:gd name="adj" fmla="val 16667"/>
            </a:avLst>
          </a:prstGeom>
          <a:solidFill>
            <a:srgbClr val="CCCCCC"/>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6"/>
          <p:cNvSpPr/>
          <p:nvPr/>
        </p:nvSpPr>
        <p:spPr>
          <a:xfrm>
            <a:off x="4968275" y="4067375"/>
            <a:ext cx="1164600" cy="3054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DisjointSets</a:t>
            </a:r>
            <a:endParaRPr/>
          </a:p>
        </p:txBody>
      </p:sp>
      <p:sp>
        <p:nvSpPr>
          <p:cNvPr id="169" name="Google Shape;169;p26"/>
          <p:cNvSpPr/>
          <p:nvPr/>
        </p:nvSpPr>
        <p:spPr>
          <a:xfrm>
            <a:off x="2384475" y="1552675"/>
            <a:ext cx="1756800" cy="566400"/>
          </a:xfrm>
          <a:prstGeom prst="rect">
            <a:avLst/>
          </a:prstGeom>
          <a:solidFill>
            <a:srgbClr val="C9DAF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Separate Chaining Hash Table</a:t>
            </a:r>
            <a:endParaRPr/>
          </a:p>
        </p:txBody>
      </p:sp>
      <p:sp>
        <p:nvSpPr>
          <p:cNvPr id="170" name="Google Shape;170;p26"/>
          <p:cNvSpPr/>
          <p:nvPr/>
        </p:nvSpPr>
        <p:spPr>
          <a:xfrm>
            <a:off x="2384475" y="2454775"/>
            <a:ext cx="1791900" cy="305400"/>
          </a:xfrm>
          <a:prstGeom prst="rect">
            <a:avLst/>
          </a:prstGeom>
          <a:solidFill>
            <a:srgbClr val="F4CCCC"/>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LinkedList</a:t>
            </a:r>
            <a:endParaRPr/>
          </a:p>
        </p:txBody>
      </p:sp>
      <p:sp>
        <p:nvSpPr>
          <p:cNvPr id="171" name="Google Shape;171;p26"/>
          <p:cNvSpPr/>
          <p:nvPr/>
        </p:nvSpPr>
        <p:spPr>
          <a:xfrm>
            <a:off x="2391891" y="2835775"/>
            <a:ext cx="1791900" cy="305400"/>
          </a:xfrm>
          <a:prstGeom prst="rect">
            <a:avLst/>
          </a:prstGeom>
          <a:solidFill>
            <a:srgbClr val="F4CCCC"/>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Resizing Array</a:t>
            </a:r>
            <a:endParaRPr/>
          </a:p>
        </p:txBody>
      </p:sp>
      <p:sp>
        <p:nvSpPr>
          <p:cNvPr id="172" name="Google Shape;172;p26"/>
          <p:cNvSpPr/>
          <p:nvPr/>
        </p:nvSpPr>
        <p:spPr>
          <a:xfrm>
            <a:off x="2384471" y="4693525"/>
            <a:ext cx="1791900" cy="305400"/>
          </a:xfrm>
          <a:prstGeom prst="rect">
            <a:avLst/>
          </a:prstGeom>
          <a:solidFill>
            <a:srgbClr val="F4CCCC"/>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Heap</a:t>
            </a:r>
            <a:endParaRPr/>
          </a:p>
        </p:txBody>
      </p:sp>
      <p:cxnSp>
        <p:nvCxnSpPr>
          <p:cNvPr id="173" name="Google Shape;173;p26"/>
          <p:cNvCxnSpPr>
            <a:stCxn id="165" idx="3"/>
            <a:endCxn id="169" idx="1"/>
          </p:cNvCxnSpPr>
          <p:nvPr/>
        </p:nvCxnSpPr>
        <p:spPr>
          <a:xfrm rot="10800000" flipH="1">
            <a:off x="1798825" y="1835875"/>
            <a:ext cx="585600" cy="771600"/>
          </a:xfrm>
          <a:prstGeom prst="straightConnector1">
            <a:avLst/>
          </a:prstGeom>
          <a:noFill/>
          <a:ln w="19050" cap="flat" cmpd="sng">
            <a:solidFill>
              <a:srgbClr val="666666"/>
            </a:solidFill>
            <a:prstDash val="solid"/>
            <a:round/>
            <a:headEnd type="none" w="med" len="med"/>
            <a:tailEnd type="none" w="med" len="med"/>
          </a:ln>
        </p:spPr>
      </p:cxnSp>
      <p:cxnSp>
        <p:nvCxnSpPr>
          <p:cNvPr id="174" name="Google Shape;174;p26"/>
          <p:cNvCxnSpPr>
            <a:stCxn id="165" idx="3"/>
            <a:endCxn id="170" idx="1"/>
          </p:cNvCxnSpPr>
          <p:nvPr/>
        </p:nvCxnSpPr>
        <p:spPr>
          <a:xfrm>
            <a:off x="1798825" y="2607475"/>
            <a:ext cx="585600" cy="0"/>
          </a:xfrm>
          <a:prstGeom prst="straightConnector1">
            <a:avLst/>
          </a:prstGeom>
          <a:noFill/>
          <a:ln w="19050" cap="flat" cmpd="sng">
            <a:solidFill>
              <a:srgbClr val="666666"/>
            </a:solidFill>
            <a:prstDash val="solid"/>
            <a:round/>
            <a:headEnd type="none" w="med" len="med"/>
            <a:tailEnd type="none" w="med" len="med"/>
          </a:ln>
        </p:spPr>
      </p:cxnSp>
      <p:cxnSp>
        <p:nvCxnSpPr>
          <p:cNvPr id="175" name="Google Shape;175;p26"/>
          <p:cNvCxnSpPr>
            <a:stCxn id="165" idx="3"/>
            <a:endCxn id="176" idx="1"/>
          </p:cNvCxnSpPr>
          <p:nvPr/>
        </p:nvCxnSpPr>
        <p:spPr>
          <a:xfrm>
            <a:off x="1798825" y="2607475"/>
            <a:ext cx="580200" cy="990600"/>
          </a:xfrm>
          <a:prstGeom prst="straightConnector1">
            <a:avLst/>
          </a:prstGeom>
          <a:noFill/>
          <a:ln w="19050" cap="flat" cmpd="sng">
            <a:solidFill>
              <a:srgbClr val="666666"/>
            </a:solidFill>
            <a:prstDash val="solid"/>
            <a:round/>
            <a:headEnd type="none" w="med" len="med"/>
            <a:tailEnd type="none" w="med" len="med"/>
          </a:ln>
        </p:spPr>
      </p:cxnSp>
      <p:cxnSp>
        <p:nvCxnSpPr>
          <p:cNvPr id="177" name="Google Shape;177;p26"/>
          <p:cNvCxnSpPr>
            <a:stCxn id="165" idx="3"/>
            <a:endCxn id="171" idx="1"/>
          </p:cNvCxnSpPr>
          <p:nvPr/>
        </p:nvCxnSpPr>
        <p:spPr>
          <a:xfrm>
            <a:off x="1798825" y="2607475"/>
            <a:ext cx="593100" cy="381000"/>
          </a:xfrm>
          <a:prstGeom prst="straightConnector1">
            <a:avLst/>
          </a:prstGeom>
          <a:noFill/>
          <a:ln w="19050" cap="flat" cmpd="sng">
            <a:solidFill>
              <a:srgbClr val="666666"/>
            </a:solidFill>
            <a:prstDash val="solid"/>
            <a:round/>
            <a:headEnd type="none" w="med" len="med"/>
            <a:tailEnd type="none" w="med" len="med"/>
          </a:ln>
        </p:spPr>
      </p:cxnSp>
      <p:cxnSp>
        <p:nvCxnSpPr>
          <p:cNvPr id="178" name="Google Shape;178;p26"/>
          <p:cNvCxnSpPr>
            <a:stCxn id="165" idx="3"/>
            <a:endCxn id="179" idx="1"/>
          </p:cNvCxnSpPr>
          <p:nvPr/>
        </p:nvCxnSpPr>
        <p:spPr>
          <a:xfrm>
            <a:off x="1798825" y="2607475"/>
            <a:ext cx="580200" cy="1371600"/>
          </a:xfrm>
          <a:prstGeom prst="straightConnector1">
            <a:avLst/>
          </a:prstGeom>
          <a:noFill/>
          <a:ln w="19050" cap="flat" cmpd="sng">
            <a:solidFill>
              <a:srgbClr val="666666"/>
            </a:solidFill>
            <a:prstDash val="solid"/>
            <a:round/>
            <a:headEnd type="none" w="med" len="med"/>
            <a:tailEnd type="none" w="med" len="med"/>
          </a:ln>
        </p:spPr>
      </p:cxnSp>
      <p:cxnSp>
        <p:nvCxnSpPr>
          <p:cNvPr id="180" name="Google Shape;180;p26"/>
          <p:cNvCxnSpPr>
            <a:stCxn id="165" idx="3"/>
            <a:endCxn id="172" idx="1"/>
          </p:cNvCxnSpPr>
          <p:nvPr/>
        </p:nvCxnSpPr>
        <p:spPr>
          <a:xfrm>
            <a:off x="1798825" y="2607475"/>
            <a:ext cx="585600" cy="2238900"/>
          </a:xfrm>
          <a:prstGeom prst="straightConnector1">
            <a:avLst/>
          </a:prstGeom>
          <a:noFill/>
          <a:ln w="19050" cap="flat" cmpd="sng">
            <a:solidFill>
              <a:srgbClr val="666666"/>
            </a:solidFill>
            <a:prstDash val="solid"/>
            <a:round/>
            <a:headEnd type="none" w="med" len="med"/>
            <a:tailEnd type="none" w="med" len="med"/>
          </a:ln>
        </p:spPr>
      </p:cxnSp>
      <p:sp>
        <p:nvSpPr>
          <p:cNvPr id="179" name="Google Shape;179;p26"/>
          <p:cNvSpPr/>
          <p:nvPr/>
        </p:nvSpPr>
        <p:spPr>
          <a:xfrm>
            <a:off x="2379021" y="3826375"/>
            <a:ext cx="1791900" cy="305400"/>
          </a:xfrm>
          <a:prstGeom prst="rect">
            <a:avLst/>
          </a:prstGeom>
          <a:solidFill>
            <a:srgbClr val="C9DAF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LLRB</a:t>
            </a:r>
            <a:endParaRPr/>
          </a:p>
        </p:txBody>
      </p:sp>
      <p:sp>
        <p:nvSpPr>
          <p:cNvPr id="176" name="Google Shape;176;p26"/>
          <p:cNvSpPr/>
          <p:nvPr/>
        </p:nvSpPr>
        <p:spPr>
          <a:xfrm>
            <a:off x="2379150" y="3445375"/>
            <a:ext cx="1791900" cy="305400"/>
          </a:xfrm>
          <a:prstGeom prst="rect">
            <a:avLst/>
          </a:prstGeom>
          <a:solidFill>
            <a:srgbClr val="F4CCCC"/>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BST (Vanilla)</a:t>
            </a:r>
            <a:endParaRPr/>
          </a:p>
        </p:txBody>
      </p:sp>
      <p:sp>
        <p:nvSpPr>
          <p:cNvPr id="181" name="Google Shape;181;p26"/>
          <p:cNvSpPr/>
          <p:nvPr/>
        </p:nvSpPr>
        <p:spPr>
          <a:xfrm>
            <a:off x="2379021" y="4207375"/>
            <a:ext cx="1791900" cy="305400"/>
          </a:xfrm>
          <a:prstGeom prst="rect">
            <a:avLst/>
          </a:prstGeom>
          <a:solidFill>
            <a:srgbClr val="C9DAF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300"/>
              <a:t>B-Trees (2-3 / 2-3-4)</a:t>
            </a:r>
            <a:endParaRPr sz="1300"/>
          </a:p>
        </p:txBody>
      </p:sp>
      <p:cxnSp>
        <p:nvCxnSpPr>
          <p:cNvPr id="182" name="Google Shape;182;p26"/>
          <p:cNvCxnSpPr>
            <a:stCxn id="169" idx="1"/>
            <a:endCxn id="166" idx="3"/>
          </p:cNvCxnSpPr>
          <p:nvPr/>
        </p:nvCxnSpPr>
        <p:spPr>
          <a:xfrm flipH="1">
            <a:off x="1798575" y="1835875"/>
            <a:ext cx="585900" cy="1405200"/>
          </a:xfrm>
          <a:prstGeom prst="straightConnector1">
            <a:avLst/>
          </a:prstGeom>
          <a:noFill/>
          <a:ln w="19050" cap="flat" cmpd="sng">
            <a:solidFill>
              <a:srgbClr val="666666"/>
            </a:solidFill>
            <a:prstDash val="solid"/>
            <a:round/>
            <a:headEnd type="none" w="med" len="med"/>
            <a:tailEnd type="none" w="med" len="med"/>
          </a:ln>
        </p:spPr>
      </p:cxnSp>
      <p:cxnSp>
        <p:nvCxnSpPr>
          <p:cNvPr id="183" name="Google Shape;183;p26"/>
          <p:cNvCxnSpPr>
            <a:stCxn id="170" idx="1"/>
            <a:endCxn id="166" idx="3"/>
          </p:cNvCxnSpPr>
          <p:nvPr/>
        </p:nvCxnSpPr>
        <p:spPr>
          <a:xfrm flipH="1">
            <a:off x="1798575" y="2607475"/>
            <a:ext cx="585900" cy="633600"/>
          </a:xfrm>
          <a:prstGeom prst="straightConnector1">
            <a:avLst/>
          </a:prstGeom>
          <a:noFill/>
          <a:ln w="19050" cap="flat" cmpd="sng">
            <a:solidFill>
              <a:srgbClr val="666666"/>
            </a:solidFill>
            <a:prstDash val="solid"/>
            <a:round/>
            <a:headEnd type="none" w="med" len="med"/>
            <a:tailEnd type="none" w="med" len="med"/>
          </a:ln>
        </p:spPr>
      </p:cxnSp>
      <p:cxnSp>
        <p:nvCxnSpPr>
          <p:cNvPr id="184" name="Google Shape;184;p26"/>
          <p:cNvCxnSpPr>
            <a:stCxn id="171" idx="1"/>
            <a:endCxn id="166" idx="3"/>
          </p:cNvCxnSpPr>
          <p:nvPr/>
        </p:nvCxnSpPr>
        <p:spPr>
          <a:xfrm flipH="1">
            <a:off x="1798791" y="2988475"/>
            <a:ext cx="593100" cy="252600"/>
          </a:xfrm>
          <a:prstGeom prst="straightConnector1">
            <a:avLst/>
          </a:prstGeom>
          <a:noFill/>
          <a:ln w="19050" cap="flat" cmpd="sng">
            <a:solidFill>
              <a:srgbClr val="666666"/>
            </a:solidFill>
            <a:prstDash val="solid"/>
            <a:round/>
            <a:headEnd type="none" w="med" len="med"/>
            <a:tailEnd type="none" w="med" len="med"/>
          </a:ln>
        </p:spPr>
      </p:cxnSp>
      <p:cxnSp>
        <p:nvCxnSpPr>
          <p:cNvPr id="185" name="Google Shape;185;p26"/>
          <p:cNvCxnSpPr>
            <a:stCxn id="176" idx="1"/>
            <a:endCxn id="166" idx="3"/>
          </p:cNvCxnSpPr>
          <p:nvPr/>
        </p:nvCxnSpPr>
        <p:spPr>
          <a:xfrm rot="10800000">
            <a:off x="1798650" y="3241075"/>
            <a:ext cx="580500" cy="357000"/>
          </a:xfrm>
          <a:prstGeom prst="straightConnector1">
            <a:avLst/>
          </a:prstGeom>
          <a:noFill/>
          <a:ln w="19050" cap="flat" cmpd="sng">
            <a:solidFill>
              <a:srgbClr val="666666"/>
            </a:solidFill>
            <a:prstDash val="solid"/>
            <a:round/>
            <a:headEnd type="none" w="med" len="med"/>
            <a:tailEnd type="none" w="med" len="med"/>
          </a:ln>
        </p:spPr>
      </p:cxnSp>
      <p:cxnSp>
        <p:nvCxnSpPr>
          <p:cNvPr id="186" name="Google Shape;186;p26"/>
          <p:cNvCxnSpPr>
            <a:stCxn id="179" idx="1"/>
            <a:endCxn id="166" idx="3"/>
          </p:cNvCxnSpPr>
          <p:nvPr/>
        </p:nvCxnSpPr>
        <p:spPr>
          <a:xfrm rot="10800000">
            <a:off x="1798821" y="3241075"/>
            <a:ext cx="580200" cy="738000"/>
          </a:xfrm>
          <a:prstGeom prst="straightConnector1">
            <a:avLst/>
          </a:prstGeom>
          <a:noFill/>
          <a:ln w="19050" cap="flat" cmpd="sng">
            <a:solidFill>
              <a:srgbClr val="666666"/>
            </a:solidFill>
            <a:prstDash val="solid"/>
            <a:round/>
            <a:headEnd type="none" w="med" len="med"/>
            <a:tailEnd type="none" w="med" len="med"/>
          </a:ln>
        </p:spPr>
      </p:cxnSp>
      <p:cxnSp>
        <p:nvCxnSpPr>
          <p:cNvPr id="187" name="Google Shape;187;p26"/>
          <p:cNvCxnSpPr>
            <a:stCxn id="181" idx="1"/>
            <a:endCxn id="166" idx="3"/>
          </p:cNvCxnSpPr>
          <p:nvPr/>
        </p:nvCxnSpPr>
        <p:spPr>
          <a:xfrm rot="10800000">
            <a:off x="1798821" y="3241075"/>
            <a:ext cx="580200" cy="1119000"/>
          </a:xfrm>
          <a:prstGeom prst="straightConnector1">
            <a:avLst/>
          </a:prstGeom>
          <a:noFill/>
          <a:ln w="19050" cap="flat" cmpd="sng">
            <a:solidFill>
              <a:srgbClr val="666666"/>
            </a:solidFill>
            <a:prstDash val="solid"/>
            <a:round/>
            <a:headEnd type="none" w="med" len="med"/>
            <a:tailEnd type="none" w="med" len="med"/>
          </a:ln>
        </p:spPr>
      </p:cxnSp>
      <p:cxnSp>
        <p:nvCxnSpPr>
          <p:cNvPr id="188" name="Google Shape;188;p26"/>
          <p:cNvCxnSpPr>
            <a:stCxn id="172" idx="1"/>
            <a:endCxn id="166" idx="3"/>
          </p:cNvCxnSpPr>
          <p:nvPr/>
        </p:nvCxnSpPr>
        <p:spPr>
          <a:xfrm rot="10800000">
            <a:off x="1798571" y="3241225"/>
            <a:ext cx="585900" cy="1605000"/>
          </a:xfrm>
          <a:prstGeom prst="straightConnector1">
            <a:avLst/>
          </a:prstGeom>
          <a:noFill/>
          <a:ln w="19050" cap="flat" cmpd="sng">
            <a:solidFill>
              <a:srgbClr val="666666"/>
            </a:solidFill>
            <a:prstDash val="solid"/>
            <a:round/>
            <a:headEnd type="none" w="med" len="med"/>
            <a:tailEnd type="none" w="med" len="med"/>
          </a:ln>
        </p:spPr>
      </p:cxnSp>
      <p:sp>
        <p:nvSpPr>
          <p:cNvPr id="189" name="Google Shape;189;p26"/>
          <p:cNvSpPr/>
          <p:nvPr/>
        </p:nvSpPr>
        <p:spPr>
          <a:xfrm>
            <a:off x="6547575" y="1158775"/>
            <a:ext cx="1756800" cy="305400"/>
          </a:xfrm>
          <a:prstGeom prst="rect">
            <a:avLst/>
          </a:prstGeom>
          <a:solidFill>
            <a:srgbClr val="C9DAF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Heap</a:t>
            </a:r>
            <a:endParaRPr/>
          </a:p>
        </p:txBody>
      </p:sp>
      <p:sp>
        <p:nvSpPr>
          <p:cNvPr id="190" name="Google Shape;190;p26"/>
          <p:cNvSpPr/>
          <p:nvPr/>
        </p:nvSpPr>
        <p:spPr>
          <a:xfrm>
            <a:off x="6547575" y="1996975"/>
            <a:ext cx="1791900" cy="305400"/>
          </a:xfrm>
          <a:prstGeom prst="rect">
            <a:avLst/>
          </a:prstGeom>
          <a:solidFill>
            <a:srgbClr val="F4CCCC"/>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Ordered Linked List</a:t>
            </a:r>
            <a:endParaRPr/>
          </a:p>
        </p:txBody>
      </p:sp>
      <p:sp>
        <p:nvSpPr>
          <p:cNvPr id="191" name="Google Shape;191;p26"/>
          <p:cNvSpPr/>
          <p:nvPr/>
        </p:nvSpPr>
        <p:spPr>
          <a:xfrm>
            <a:off x="6547575" y="1539775"/>
            <a:ext cx="1756800" cy="305400"/>
          </a:xfrm>
          <a:prstGeom prst="rect">
            <a:avLst/>
          </a:prstGeom>
          <a:solidFill>
            <a:srgbClr val="C9DAF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Balanced Tree</a:t>
            </a:r>
            <a:endParaRPr/>
          </a:p>
        </p:txBody>
      </p:sp>
      <p:cxnSp>
        <p:nvCxnSpPr>
          <p:cNvPr id="192" name="Google Shape;192;p26"/>
          <p:cNvCxnSpPr>
            <a:stCxn id="191" idx="1"/>
            <a:endCxn id="163" idx="3"/>
          </p:cNvCxnSpPr>
          <p:nvPr/>
        </p:nvCxnSpPr>
        <p:spPr>
          <a:xfrm flipH="1">
            <a:off x="6256575" y="1692475"/>
            <a:ext cx="291000" cy="600"/>
          </a:xfrm>
          <a:prstGeom prst="straightConnector1">
            <a:avLst/>
          </a:prstGeom>
          <a:noFill/>
          <a:ln w="19050" cap="flat" cmpd="sng">
            <a:solidFill>
              <a:srgbClr val="666666"/>
            </a:solidFill>
            <a:prstDash val="solid"/>
            <a:round/>
            <a:headEnd type="none" w="med" len="med"/>
            <a:tailEnd type="none" w="med" len="med"/>
          </a:ln>
        </p:spPr>
      </p:cxnSp>
      <p:cxnSp>
        <p:nvCxnSpPr>
          <p:cNvPr id="193" name="Google Shape;193;p26"/>
          <p:cNvCxnSpPr>
            <a:stCxn id="190" idx="1"/>
            <a:endCxn id="163" idx="3"/>
          </p:cNvCxnSpPr>
          <p:nvPr/>
        </p:nvCxnSpPr>
        <p:spPr>
          <a:xfrm rot="10800000">
            <a:off x="6256575" y="1693075"/>
            <a:ext cx="291000" cy="456600"/>
          </a:xfrm>
          <a:prstGeom prst="straightConnector1">
            <a:avLst/>
          </a:prstGeom>
          <a:noFill/>
          <a:ln w="19050" cap="flat" cmpd="sng">
            <a:solidFill>
              <a:srgbClr val="666666"/>
            </a:solidFill>
            <a:prstDash val="solid"/>
            <a:round/>
            <a:headEnd type="none" w="med" len="med"/>
            <a:tailEnd type="none" w="med" len="med"/>
          </a:ln>
        </p:spPr>
      </p:cxnSp>
      <p:cxnSp>
        <p:nvCxnSpPr>
          <p:cNvPr id="194" name="Google Shape;194;p26"/>
          <p:cNvCxnSpPr>
            <a:stCxn id="189" idx="1"/>
            <a:endCxn id="163" idx="3"/>
          </p:cNvCxnSpPr>
          <p:nvPr/>
        </p:nvCxnSpPr>
        <p:spPr>
          <a:xfrm flipH="1">
            <a:off x="6256575" y="1311475"/>
            <a:ext cx="291000" cy="381600"/>
          </a:xfrm>
          <a:prstGeom prst="straightConnector1">
            <a:avLst/>
          </a:prstGeom>
          <a:noFill/>
          <a:ln w="19050" cap="flat" cmpd="sng">
            <a:solidFill>
              <a:srgbClr val="666666"/>
            </a:solidFill>
            <a:prstDash val="solid"/>
            <a:round/>
            <a:headEnd type="none" w="med" len="med"/>
            <a:tailEnd type="none" w="med" len="med"/>
          </a:ln>
        </p:spPr>
      </p:cxnSp>
      <p:sp>
        <p:nvSpPr>
          <p:cNvPr id="195" name="Google Shape;195;p26"/>
          <p:cNvSpPr/>
          <p:nvPr/>
        </p:nvSpPr>
        <p:spPr>
          <a:xfrm>
            <a:off x="6667378" y="3102475"/>
            <a:ext cx="1791900" cy="305400"/>
          </a:xfrm>
          <a:prstGeom prst="rect">
            <a:avLst/>
          </a:prstGeom>
          <a:solidFill>
            <a:srgbClr val="C9DAF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Resizing Array</a:t>
            </a:r>
            <a:endParaRPr/>
          </a:p>
        </p:txBody>
      </p:sp>
      <p:sp>
        <p:nvSpPr>
          <p:cNvPr id="196" name="Google Shape;196;p26"/>
          <p:cNvSpPr/>
          <p:nvPr/>
        </p:nvSpPr>
        <p:spPr>
          <a:xfrm>
            <a:off x="6659963" y="2721475"/>
            <a:ext cx="1791900" cy="305400"/>
          </a:xfrm>
          <a:prstGeom prst="rect">
            <a:avLst/>
          </a:prstGeom>
          <a:solidFill>
            <a:srgbClr val="C9DAF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LinkedList</a:t>
            </a:r>
            <a:endParaRPr/>
          </a:p>
        </p:txBody>
      </p:sp>
      <p:cxnSp>
        <p:nvCxnSpPr>
          <p:cNvPr id="197" name="Google Shape;197;p26"/>
          <p:cNvCxnSpPr>
            <a:stCxn id="196" idx="1"/>
            <a:endCxn id="164" idx="3"/>
          </p:cNvCxnSpPr>
          <p:nvPr/>
        </p:nvCxnSpPr>
        <p:spPr>
          <a:xfrm flipH="1">
            <a:off x="6226763" y="2874175"/>
            <a:ext cx="433200" cy="190500"/>
          </a:xfrm>
          <a:prstGeom prst="straightConnector1">
            <a:avLst/>
          </a:prstGeom>
          <a:noFill/>
          <a:ln w="19050" cap="flat" cmpd="sng">
            <a:solidFill>
              <a:srgbClr val="666666"/>
            </a:solidFill>
            <a:prstDash val="solid"/>
            <a:round/>
            <a:headEnd type="none" w="med" len="med"/>
            <a:tailEnd type="none" w="med" len="med"/>
          </a:ln>
        </p:spPr>
      </p:cxnSp>
      <p:cxnSp>
        <p:nvCxnSpPr>
          <p:cNvPr id="198" name="Google Shape;198;p26"/>
          <p:cNvCxnSpPr>
            <a:stCxn id="195" idx="1"/>
            <a:endCxn id="164" idx="3"/>
          </p:cNvCxnSpPr>
          <p:nvPr/>
        </p:nvCxnSpPr>
        <p:spPr>
          <a:xfrm rot="10800000">
            <a:off x="6226678" y="3064675"/>
            <a:ext cx="440700" cy="190500"/>
          </a:xfrm>
          <a:prstGeom prst="straightConnector1">
            <a:avLst/>
          </a:prstGeom>
          <a:noFill/>
          <a:ln w="19050" cap="flat" cmpd="sng">
            <a:solidFill>
              <a:srgbClr val="666666"/>
            </a:solidFill>
            <a:prstDash val="solid"/>
            <a:round/>
            <a:headEnd type="none" w="med" len="med"/>
            <a:tailEnd type="none" w="med" len="med"/>
          </a:ln>
        </p:spPr>
      </p:cxnSp>
      <p:sp>
        <p:nvSpPr>
          <p:cNvPr id="199" name="Google Shape;199;p26"/>
          <p:cNvSpPr/>
          <p:nvPr/>
        </p:nvSpPr>
        <p:spPr>
          <a:xfrm>
            <a:off x="6440246" y="3533375"/>
            <a:ext cx="1791900" cy="305400"/>
          </a:xfrm>
          <a:prstGeom prst="rect">
            <a:avLst/>
          </a:prstGeom>
          <a:solidFill>
            <a:srgbClr val="F4CCCC"/>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Quick Find</a:t>
            </a:r>
            <a:endParaRPr/>
          </a:p>
        </p:txBody>
      </p:sp>
      <p:sp>
        <p:nvSpPr>
          <p:cNvPr id="200" name="Google Shape;200;p26"/>
          <p:cNvSpPr/>
          <p:nvPr/>
        </p:nvSpPr>
        <p:spPr>
          <a:xfrm>
            <a:off x="6440246" y="3931825"/>
            <a:ext cx="1791900" cy="305400"/>
          </a:xfrm>
          <a:prstGeom prst="rect">
            <a:avLst/>
          </a:prstGeom>
          <a:solidFill>
            <a:srgbClr val="F4CCCC"/>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Quick Union</a:t>
            </a:r>
            <a:endParaRPr/>
          </a:p>
        </p:txBody>
      </p:sp>
      <p:sp>
        <p:nvSpPr>
          <p:cNvPr id="201" name="Google Shape;201;p26"/>
          <p:cNvSpPr/>
          <p:nvPr/>
        </p:nvSpPr>
        <p:spPr>
          <a:xfrm>
            <a:off x="6440246" y="4330275"/>
            <a:ext cx="1791900" cy="305400"/>
          </a:xfrm>
          <a:prstGeom prst="rect">
            <a:avLst/>
          </a:prstGeom>
          <a:solidFill>
            <a:srgbClr val="C9DAF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Weighted QU</a:t>
            </a:r>
            <a:endParaRPr/>
          </a:p>
        </p:txBody>
      </p:sp>
      <p:sp>
        <p:nvSpPr>
          <p:cNvPr id="202" name="Google Shape;202;p26"/>
          <p:cNvSpPr/>
          <p:nvPr/>
        </p:nvSpPr>
        <p:spPr>
          <a:xfrm>
            <a:off x="6440246" y="4711275"/>
            <a:ext cx="1791900" cy="305400"/>
          </a:xfrm>
          <a:prstGeom prst="rect">
            <a:avLst/>
          </a:prstGeom>
          <a:solidFill>
            <a:srgbClr val="C9DAF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WQUPC</a:t>
            </a:r>
            <a:endParaRPr/>
          </a:p>
        </p:txBody>
      </p:sp>
      <p:cxnSp>
        <p:nvCxnSpPr>
          <p:cNvPr id="203" name="Google Shape;203;p26"/>
          <p:cNvCxnSpPr>
            <a:stCxn id="199" idx="1"/>
            <a:endCxn id="168" idx="3"/>
          </p:cNvCxnSpPr>
          <p:nvPr/>
        </p:nvCxnSpPr>
        <p:spPr>
          <a:xfrm flipH="1">
            <a:off x="6132746" y="3686075"/>
            <a:ext cx="307500" cy="534000"/>
          </a:xfrm>
          <a:prstGeom prst="straightConnector1">
            <a:avLst/>
          </a:prstGeom>
          <a:noFill/>
          <a:ln w="19050" cap="flat" cmpd="sng">
            <a:solidFill>
              <a:srgbClr val="666666"/>
            </a:solidFill>
            <a:prstDash val="solid"/>
            <a:round/>
            <a:headEnd type="none" w="med" len="med"/>
            <a:tailEnd type="none" w="med" len="med"/>
          </a:ln>
        </p:spPr>
      </p:cxnSp>
      <p:cxnSp>
        <p:nvCxnSpPr>
          <p:cNvPr id="204" name="Google Shape;204;p26"/>
          <p:cNvCxnSpPr>
            <a:stCxn id="200" idx="1"/>
            <a:endCxn id="168" idx="3"/>
          </p:cNvCxnSpPr>
          <p:nvPr/>
        </p:nvCxnSpPr>
        <p:spPr>
          <a:xfrm flipH="1">
            <a:off x="6132746" y="4084525"/>
            <a:ext cx="307500" cy="135600"/>
          </a:xfrm>
          <a:prstGeom prst="straightConnector1">
            <a:avLst/>
          </a:prstGeom>
          <a:noFill/>
          <a:ln w="19050" cap="flat" cmpd="sng">
            <a:solidFill>
              <a:srgbClr val="666666"/>
            </a:solidFill>
            <a:prstDash val="solid"/>
            <a:round/>
            <a:headEnd type="none" w="med" len="med"/>
            <a:tailEnd type="none" w="med" len="med"/>
          </a:ln>
        </p:spPr>
      </p:cxnSp>
      <p:cxnSp>
        <p:nvCxnSpPr>
          <p:cNvPr id="205" name="Google Shape;205;p26"/>
          <p:cNvCxnSpPr>
            <a:stCxn id="201" idx="1"/>
            <a:endCxn id="168" idx="3"/>
          </p:cNvCxnSpPr>
          <p:nvPr/>
        </p:nvCxnSpPr>
        <p:spPr>
          <a:xfrm rot="10800000">
            <a:off x="6132746" y="4220175"/>
            <a:ext cx="307500" cy="262800"/>
          </a:xfrm>
          <a:prstGeom prst="straightConnector1">
            <a:avLst/>
          </a:prstGeom>
          <a:noFill/>
          <a:ln w="19050" cap="flat" cmpd="sng">
            <a:solidFill>
              <a:srgbClr val="666666"/>
            </a:solidFill>
            <a:prstDash val="solid"/>
            <a:round/>
            <a:headEnd type="none" w="med" len="med"/>
            <a:tailEnd type="none" w="med" len="med"/>
          </a:ln>
        </p:spPr>
      </p:cxnSp>
      <p:cxnSp>
        <p:nvCxnSpPr>
          <p:cNvPr id="206" name="Google Shape;206;p26"/>
          <p:cNvCxnSpPr>
            <a:stCxn id="202" idx="1"/>
            <a:endCxn id="168" idx="3"/>
          </p:cNvCxnSpPr>
          <p:nvPr/>
        </p:nvCxnSpPr>
        <p:spPr>
          <a:xfrm rot="10800000">
            <a:off x="6132746" y="4220175"/>
            <a:ext cx="307500" cy="643800"/>
          </a:xfrm>
          <a:prstGeom prst="straightConnector1">
            <a:avLst/>
          </a:prstGeom>
          <a:noFill/>
          <a:ln w="19050" cap="flat" cmpd="sng">
            <a:solidFill>
              <a:srgbClr val="666666"/>
            </a:solidFill>
            <a:prstDash val="solid"/>
            <a:round/>
            <a:headEnd type="none" w="med" len="med"/>
            <a:tailEnd type="none" w="med" len="med"/>
          </a:ln>
        </p:spPr>
      </p:cxnSp>
      <p:sp>
        <p:nvSpPr>
          <p:cNvPr id="207" name="Google Shape;207;p26"/>
          <p:cNvSpPr txBox="1">
            <a:spLocks noGrp="1"/>
          </p:cNvSpPr>
          <p:nvPr>
            <p:ph type="body" idx="1"/>
          </p:nvPr>
        </p:nvSpPr>
        <p:spPr>
          <a:xfrm>
            <a:off x="90600" y="404100"/>
            <a:ext cx="8443800" cy="953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There are many ways to implement an abstract data type.</a:t>
            </a:r>
            <a:endParaRPr/>
          </a:p>
          <a:p>
            <a:pPr marL="457200" lvl="0" indent="-342900" algn="l" rtl="0">
              <a:spcBef>
                <a:spcPts val="600"/>
              </a:spcBef>
              <a:spcAft>
                <a:spcPts val="0"/>
              </a:spcAft>
              <a:buSzPts val="1800"/>
              <a:buChar char="●"/>
            </a:pPr>
            <a:r>
              <a:rPr lang="en"/>
              <a:t>Today we’ll talk about a new way to build a set/map.</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graphicFrame>
        <p:nvGraphicFramePr>
          <p:cNvPr id="212" name="Google Shape;212;p27"/>
          <p:cNvGraphicFramePr/>
          <p:nvPr/>
        </p:nvGraphicFramePr>
        <p:xfrm>
          <a:off x="4406525" y="917150"/>
          <a:ext cx="3000000" cy="3000000"/>
        </p:xfrm>
        <a:graphic>
          <a:graphicData uri="http://schemas.openxmlformats.org/drawingml/2006/table">
            <a:tbl>
              <a:tblPr>
                <a:noFill/>
                <a:tableStyleId>{BC467F25-A352-40E9-8C40-E7B4C2D9D289}</a:tableStyleId>
              </a:tblPr>
              <a:tblGrid>
                <a:gridCol w="1598500">
                  <a:extLst>
                    <a:ext uri="{9D8B030D-6E8A-4147-A177-3AD203B41FA5}">
                      <a16:colId xmlns:a16="http://schemas.microsoft.com/office/drawing/2014/main" val="20000"/>
                    </a:ext>
                  </a:extLst>
                </a:gridCol>
                <a:gridCol w="1017950">
                  <a:extLst>
                    <a:ext uri="{9D8B030D-6E8A-4147-A177-3AD203B41FA5}">
                      <a16:colId xmlns:a16="http://schemas.microsoft.com/office/drawing/2014/main" val="20001"/>
                    </a:ext>
                  </a:extLst>
                </a:gridCol>
                <a:gridCol w="1075525">
                  <a:extLst>
                    <a:ext uri="{9D8B030D-6E8A-4147-A177-3AD203B41FA5}">
                      <a16:colId xmlns:a16="http://schemas.microsoft.com/office/drawing/2014/main" val="20002"/>
                    </a:ext>
                  </a:extLst>
                </a:gridCol>
                <a:gridCol w="971775">
                  <a:extLst>
                    <a:ext uri="{9D8B030D-6E8A-4147-A177-3AD203B41FA5}">
                      <a16:colId xmlns:a16="http://schemas.microsoft.com/office/drawing/2014/main" val="20003"/>
                    </a:ext>
                  </a:extLst>
                </a:gridCol>
              </a:tblGrid>
              <a:tr h="396200">
                <a:tc gridSpan="2">
                  <a:txBody>
                    <a:bodyPr/>
                    <a:lstStyle/>
                    <a:p>
                      <a:pPr marL="0" lvl="0" indent="0" algn="l" rtl="0">
                        <a:spcBef>
                          <a:spcPts val="0"/>
                        </a:spcBef>
                        <a:spcAft>
                          <a:spcPts val="0"/>
                        </a:spcAft>
                        <a:buNone/>
                      </a:pPr>
                      <a:endParaRPr sz="1200">
                        <a:latin typeface="Roboto"/>
                        <a:ea typeface="Roboto"/>
                        <a:cs typeface="Roboto"/>
                        <a:sym typeface="Roboto"/>
                      </a:endParaRPr>
                    </a:p>
                  </a:txBody>
                  <a:tcPr marL="91425" marR="91425" marT="91425" marB="91425">
                    <a:lnB w="9525" cap="flat" cmpd="sng">
                      <a:solidFill>
                        <a:srgbClr val="000000"/>
                      </a:solidFill>
                      <a:prstDash val="solid"/>
                      <a:round/>
                      <a:headEnd type="none" w="sm" len="sm"/>
                      <a:tailEnd type="none" w="sm" len="sm"/>
                    </a:lnB>
                    <a:solidFill>
                      <a:srgbClr val="FFFFFF"/>
                    </a:solidFill>
                  </a:tcPr>
                </a:tc>
                <a:tc hMerge="1">
                  <a:txBody>
                    <a:bodyPr/>
                    <a:lstStyle/>
                    <a:p>
                      <a:endParaRPr lang="zh-CN"/>
                    </a:p>
                  </a:txBody>
                  <a:tcPr/>
                </a:tc>
                <a:tc>
                  <a:txBody>
                    <a:bodyPr/>
                    <a:lstStyle/>
                    <a:p>
                      <a:pPr marL="0" lvl="0" indent="0" algn="ctr" rtl="0">
                        <a:spcBef>
                          <a:spcPts val="0"/>
                        </a:spcBef>
                        <a:spcAft>
                          <a:spcPts val="0"/>
                        </a:spcAft>
                        <a:buNone/>
                      </a:pPr>
                      <a:r>
                        <a:rPr lang="en" sz="1200">
                          <a:latin typeface="Roboto"/>
                          <a:ea typeface="Roboto"/>
                          <a:cs typeface="Roboto"/>
                          <a:sym typeface="Roboto"/>
                        </a:rPr>
                        <a:t>contains(x)</a:t>
                      </a:r>
                      <a:endParaRPr sz="1200">
                        <a:latin typeface="Roboto"/>
                        <a:ea typeface="Roboto"/>
                        <a:cs typeface="Roboto"/>
                        <a:sym typeface="Roboto"/>
                      </a:endParaRPr>
                    </a:p>
                  </a:txBody>
                  <a:tcPr marL="91425" marR="91425" marT="91425" marB="91425">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latin typeface="Roboto"/>
                          <a:ea typeface="Roboto"/>
                          <a:cs typeface="Roboto"/>
                          <a:sym typeface="Roboto"/>
                        </a:rPr>
                        <a:t>add(x)</a:t>
                      </a:r>
                      <a:endParaRPr sz="1200">
                        <a:latin typeface="Roboto"/>
                        <a:ea typeface="Roboto"/>
                        <a:cs typeface="Roboto"/>
                        <a:sym typeface="Roboto"/>
                      </a:endParaRPr>
                    </a:p>
                  </a:txBody>
                  <a:tcPr marL="91425" marR="91425" marT="91425" marB="91425">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81000">
                <a:tc gridSpan="2">
                  <a:txBody>
                    <a:bodyPr/>
                    <a:lstStyle/>
                    <a:p>
                      <a:pPr marL="0" lvl="0" indent="0" algn="l" rtl="0">
                        <a:spcBef>
                          <a:spcPts val="0"/>
                        </a:spcBef>
                        <a:spcAft>
                          <a:spcPts val="0"/>
                        </a:spcAft>
                        <a:buNone/>
                      </a:pPr>
                      <a:r>
                        <a:rPr lang="en" sz="1200">
                          <a:latin typeface="Roboto"/>
                          <a:ea typeface="Roboto"/>
                          <a:cs typeface="Roboto"/>
                          <a:sym typeface="Roboto"/>
                        </a:rPr>
                        <a:t>Balanced BST</a:t>
                      </a:r>
                      <a:endParaRPr sz="1200">
                        <a:latin typeface="Roboto"/>
                        <a:ea typeface="Roboto"/>
                        <a:cs typeface="Roboto"/>
                        <a:sym typeface="Roboto"/>
                      </a:endParaRPr>
                    </a:p>
                  </a:txBody>
                  <a:tcPr marL="91425" marR="91425" marT="91425" marB="91425">
                    <a:lnT w="9525" cap="flat" cmpd="sng">
                      <a:solidFill>
                        <a:srgbClr val="000000"/>
                      </a:solidFill>
                      <a:prstDash val="solid"/>
                      <a:round/>
                      <a:headEnd type="none" w="sm" len="sm"/>
                      <a:tailEnd type="none" w="sm" len="sm"/>
                    </a:lnT>
                    <a:solidFill>
                      <a:srgbClr val="FFFFFF"/>
                    </a:solidFill>
                  </a:tcPr>
                </a:tc>
                <a:tc hMerge="1">
                  <a:txBody>
                    <a:bodyPr/>
                    <a:lstStyle/>
                    <a:p>
                      <a:endParaRPr lang="zh-CN"/>
                    </a:p>
                  </a:txBody>
                  <a:tcPr/>
                </a:tc>
                <a:tc>
                  <a:txBody>
                    <a:bodyPr/>
                    <a:lstStyle/>
                    <a:p>
                      <a:pPr marL="0" lvl="0" indent="0" algn="ctr" rtl="0">
                        <a:spcBef>
                          <a:spcPts val="0"/>
                        </a:spcBef>
                        <a:spcAft>
                          <a:spcPts val="0"/>
                        </a:spcAft>
                        <a:buNone/>
                      </a:pPr>
                      <a:r>
                        <a:rPr lang="en" sz="1200">
                          <a:solidFill>
                            <a:srgbClr val="000000"/>
                          </a:solidFill>
                          <a:latin typeface="Roboto"/>
                          <a:ea typeface="Roboto"/>
                          <a:cs typeface="Roboto"/>
                          <a:sym typeface="Roboto"/>
                        </a:rPr>
                        <a:t>Θ(log N)</a:t>
                      </a:r>
                      <a:endParaRPr sz="1200">
                        <a:latin typeface="Roboto"/>
                        <a:ea typeface="Roboto"/>
                        <a:cs typeface="Roboto"/>
                        <a:sym typeface="Roboto"/>
                      </a:endParaRPr>
                    </a:p>
                  </a:txBody>
                  <a:tcPr marL="91425" marR="91425" marT="91425" marB="91425">
                    <a:lnT w="9525" cap="flat" cmpd="sng">
                      <a:solidFill>
                        <a:srgbClr val="000000"/>
                      </a:solidFill>
                      <a:prstDash val="solid"/>
                      <a:round/>
                      <a:headEnd type="none" w="sm" len="sm"/>
                      <a:tailEnd type="none" w="sm" len="sm"/>
                    </a:lnT>
                    <a:solidFill>
                      <a:srgbClr val="FFFFFF"/>
                    </a:solidFill>
                  </a:tcPr>
                </a:tc>
                <a:tc>
                  <a:txBody>
                    <a:bodyPr/>
                    <a:lstStyle/>
                    <a:p>
                      <a:pPr marL="0" lvl="0" indent="0" algn="ctr" rtl="0">
                        <a:spcBef>
                          <a:spcPts val="0"/>
                        </a:spcBef>
                        <a:spcAft>
                          <a:spcPts val="0"/>
                        </a:spcAft>
                        <a:buNone/>
                      </a:pPr>
                      <a:r>
                        <a:rPr lang="en" sz="1200">
                          <a:solidFill>
                            <a:srgbClr val="000000"/>
                          </a:solidFill>
                          <a:latin typeface="Roboto"/>
                          <a:ea typeface="Roboto"/>
                          <a:cs typeface="Roboto"/>
                          <a:sym typeface="Roboto"/>
                        </a:rPr>
                        <a:t>Θ(log N)</a:t>
                      </a:r>
                      <a:endParaRPr sz="1200">
                        <a:latin typeface="Roboto"/>
                        <a:ea typeface="Roboto"/>
                        <a:cs typeface="Roboto"/>
                        <a:sym typeface="Roboto"/>
                      </a:endParaRPr>
                    </a:p>
                  </a:txBody>
                  <a:tcPr marL="91425" marR="91425" marT="91425" marB="91425">
                    <a:lnT w="9525" cap="flat" cmpd="sng">
                      <a:solidFill>
                        <a:srgbClr val="000000"/>
                      </a:solidFill>
                      <a:prstDash val="solid"/>
                      <a:round/>
                      <a:headEnd type="none" w="sm" len="sm"/>
                      <a:tailEnd type="none" w="sm" len="sm"/>
                    </a:lnT>
                    <a:solidFill>
                      <a:srgbClr val="FFFFFF"/>
                    </a:solidFill>
                  </a:tcPr>
                </a:tc>
                <a:extLst>
                  <a:ext uri="{0D108BD9-81ED-4DB2-BD59-A6C34878D82A}">
                    <a16:rowId xmlns:a16="http://schemas.microsoft.com/office/drawing/2014/main" val="10001"/>
                  </a:ext>
                </a:extLst>
              </a:tr>
              <a:tr h="381000">
                <a:tc gridSpan="2">
                  <a:txBody>
                    <a:bodyPr/>
                    <a:lstStyle/>
                    <a:p>
                      <a:pPr marL="0" lvl="0" indent="0" algn="l" rtl="0">
                        <a:spcBef>
                          <a:spcPts val="0"/>
                        </a:spcBef>
                        <a:spcAft>
                          <a:spcPts val="0"/>
                        </a:spcAft>
                        <a:buNone/>
                      </a:pPr>
                      <a:r>
                        <a:rPr lang="en" sz="1200">
                          <a:latin typeface="Roboto"/>
                          <a:ea typeface="Roboto"/>
                          <a:cs typeface="Roboto"/>
                          <a:sym typeface="Roboto"/>
                        </a:rPr>
                        <a:t>Resizing Separate</a:t>
                      </a:r>
                      <a:br>
                        <a:rPr lang="en" sz="1200">
                          <a:latin typeface="Roboto"/>
                          <a:ea typeface="Roboto"/>
                          <a:cs typeface="Roboto"/>
                          <a:sym typeface="Roboto"/>
                        </a:rPr>
                      </a:br>
                      <a:r>
                        <a:rPr lang="en" sz="1200">
                          <a:latin typeface="Roboto"/>
                          <a:ea typeface="Roboto"/>
                          <a:cs typeface="Roboto"/>
                          <a:sym typeface="Roboto"/>
                        </a:rPr>
                        <a:t>Chaining Hash Table</a:t>
                      </a:r>
                      <a:endParaRPr sz="1200">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hMerge="1">
                  <a:txBody>
                    <a:bodyPr/>
                    <a:lstStyle/>
                    <a:p>
                      <a:endParaRPr lang="zh-CN"/>
                    </a:p>
                  </a:txBody>
                  <a:tcP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Θ(1)</a:t>
                      </a:r>
                      <a:endParaRPr sz="1200">
                        <a:solidFill>
                          <a:schemeClr val="dk1"/>
                        </a:solidFill>
                        <a:latin typeface="Roboto"/>
                        <a:ea typeface="Roboto"/>
                        <a:cs typeface="Roboto"/>
                        <a:sym typeface="Roboto"/>
                      </a:endParaRPr>
                    </a:p>
                    <a:p>
                      <a:pPr marL="0" lvl="0" indent="0" algn="ctr" rtl="0">
                        <a:spcBef>
                          <a:spcPts val="0"/>
                        </a:spcBef>
                        <a:spcAft>
                          <a:spcPts val="0"/>
                        </a:spcAft>
                        <a:buClr>
                          <a:schemeClr val="dk1"/>
                        </a:buClr>
                        <a:buSzPts val="1100"/>
                        <a:buFont typeface="Arial"/>
                        <a:buNone/>
                      </a:pPr>
                      <a:r>
                        <a:rPr lang="en" sz="600">
                          <a:solidFill>
                            <a:schemeClr val="dk1"/>
                          </a:solidFill>
                          <a:latin typeface="Roboto"/>
                          <a:ea typeface="Roboto"/>
                          <a:cs typeface="Roboto"/>
                          <a:sym typeface="Roboto"/>
                        </a:rPr>
                        <a:t>assuming even spread</a:t>
                      </a:r>
                      <a:endParaRPr sz="1000">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Θ(1)</a:t>
                      </a:r>
                      <a:endParaRPr sz="1200">
                        <a:solidFill>
                          <a:schemeClr val="dk1"/>
                        </a:solidFill>
                        <a:latin typeface="Roboto"/>
                        <a:ea typeface="Roboto"/>
                        <a:cs typeface="Roboto"/>
                        <a:sym typeface="Roboto"/>
                      </a:endParaRPr>
                    </a:p>
                    <a:p>
                      <a:pPr marL="0" lvl="0" indent="0" algn="ctr" rtl="0">
                        <a:spcBef>
                          <a:spcPts val="0"/>
                        </a:spcBef>
                        <a:spcAft>
                          <a:spcPts val="0"/>
                        </a:spcAft>
                        <a:buClr>
                          <a:schemeClr val="dk1"/>
                        </a:buClr>
                        <a:buSzPts val="1100"/>
                        <a:buFont typeface="Arial"/>
                        <a:buNone/>
                      </a:pPr>
                      <a:r>
                        <a:rPr lang="en" sz="600">
                          <a:solidFill>
                            <a:schemeClr val="dk1"/>
                          </a:solidFill>
                          <a:latin typeface="Roboto"/>
                          <a:ea typeface="Roboto"/>
                          <a:cs typeface="Roboto"/>
                          <a:sym typeface="Roboto"/>
                        </a:rPr>
                        <a:t>on average,</a:t>
                      </a:r>
                      <a:endParaRPr sz="600">
                        <a:solidFill>
                          <a:schemeClr val="dk1"/>
                        </a:solidFill>
                        <a:latin typeface="Roboto"/>
                        <a:ea typeface="Roboto"/>
                        <a:cs typeface="Roboto"/>
                        <a:sym typeface="Roboto"/>
                      </a:endParaRPr>
                    </a:p>
                    <a:p>
                      <a:pPr marL="0" lvl="0" indent="0" algn="ctr" rtl="0">
                        <a:spcBef>
                          <a:spcPts val="0"/>
                        </a:spcBef>
                        <a:spcAft>
                          <a:spcPts val="0"/>
                        </a:spcAft>
                        <a:buNone/>
                      </a:pPr>
                      <a:r>
                        <a:rPr lang="en" sz="600">
                          <a:solidFill>
                            <a:schemeClr val="dk1"/>
                          </a:solidFill>
                          <a:latin typeface="Roboto"/>
                          <a:ea typeface="Roboto"/>
                          <a:cs typeface="Roboto"/>
                          <a:sym typeface="Roboto"/>
                        </a:rPr>
                        <a:t>assuming even spread</a:t>
                      </a:r>
                      <a:endParaRPr sz="600">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extLst>
                  <a:ext uri="{0D108BD9-81ED-4DB2-BD59-A6C34878D82A}">
                    <a16:rowId xmlns:a16="http://schemas.microsoft.com/office/drawing/2014/main" val="10002"/>
                  </a:ext>
                </a:extLst>
              </a:tr>
            </a:tbl>
          </a:graphicData>
        </a:graphic>
      </p:graphicFrame>
      <p:sp>
        <p:nvSpPr>
          <p:cNvPr id="213" name="Google Shape;213;p2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BST and Hash Table Set Runtimes</a:t>
            </a:r>
            <a:endParaRPr/>
          </a:p>
        </p:txBody>
      </p:sp>
      <p:sp>
        <p:nvSpPr>
          <p:cNvPr id="214" name="Google Shape;214;p27"/>
          <p:cNvSpPr txBox="1">
            <a:spLocks noGrp="1"/>
          </p:cNvSpPr>
          <p:nvPr>
            <p:ph type="body" idx="1"/>
          </p:nvPr>
        </p:nvSpPr>
        <p:spPr>
          <a:xfrm>
            <a:off x="90600" y="404100"/>
            <a:ext cx="41736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Runtimes for our Balanced Search Tree and Hash Table implementations were very fast.</a:t>
            </a:r>
            <a:endParaRPr/>
          </a:p>
          <a:p>
            <a:pPr marL="0" lvl="0" indent="0" algn="l" rtl="0">
              <a:spcBef>
                <a:spcPts val="600"/>
              </a:spcBef>
              <a:spcAft>
                <a:spcPts val="0"/>
              </a:spcAft>
              <a:buNone/>
            </a:pPr>
            <a:endParaRPr/>
          </a:p>
          <a:p>
            <a:pPr marL="0" lvl="0" indent="0" algn="l" rtl="0">
              <a:spcBef>
                <a:spcPts val="600"/>
              </a:spcBef>
              <a:spcAft>
                <a:spcPts val="0"/>
              </a:spcAft>
              <a:buNone/>
            </a:pPr>
            <a:r>
              <a:rPr lang="en"/>
              <a:t>If we know that our keys all have some common special property, we can sometimes get even better implementations.</a:t>
            </a:r>
            <a:endParaRPr/>
          </a:p>
          <a:p>
            <a:pPr marL="0" lvl="0" indent="0" algn="l" rtl="0">
              <a:spcBef>
                <a:spcPts val="600"/>
              </a:spcBef>
              <a:spcAft>
                <a:spcPts val="0"/>
              </a:spcAft>
              <a:buNone/>
            </a:pPr>
            <a:endParaRPr/>
          </a:p>
          <a:p>
            <a:pPr marL="0" lvl="0" indent="0" algn="l" rtl="0">
              <a:spcBef>
                <a:spcPts val="600"/>
              </a:spcBef>
              <a:spcAft>
                <a:spcPts val="0"/>
              </a:spcAft>
              <a:buNone/>
            </a:pPr>
            <a:r>
              <a:rPr lang="en"/>
              <a:t>Example: Suppose we know our keys are always single ASCII characters.</a:t>
            </a:r>
            <a:endParaRPr/>
          </a:p>
          <a:p>
            <a:pPr marL="457200" lvl="0" indent="-342900" algn="l" rtl="0">
              <a:spcBef>
                <a:spcPts val="600"/>
              </a:spcBef>
              <a:spcAft>
                <a:spcPts val="0"/>
              </a:spcAft>
              <a:buSzPts val="1800"/>
              <a:buChar char="●"/>
            </a:pPr>
            <a:r>
              <a:rPr lang="en"/>
              <a:t>e.g. ‘a’, ‘g’,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8"/>
          <p:cNvSpPr txBox="1">
            <a:spLocks noGrp="1"/>
          </p:cNvSpPr>
          <p:nvPr>
            <p:ph type="body" idx="1"/>
          </p:nvPr>
        </p:nvSpPr>
        <p:spPr>
          <a:xfrm>
            <a:off x="90600" y="404100"/>
            <a:ext cx="41736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Suppose we know that our keys are always ASCII characters.</a:t>
            </a:r>
            <a:endParaRPr/>
          </a:p>
          <a:p>
            <a:pPr marL="457200" lvl="0" indent="-342900" algn="l" rtl="0">
              <a:spcBef>
                <a:spcPts val="600"/>
              </a:spcBef>
              <a:spcAft>
                <a:spcPts val="0"/>
              </a:spcAft>
              <a:buSzPts val="1800"/>
              <a:buChar char="●"/>
            </a:pPr>
            <a:r>
              <a:rPr lang="en"/>
              <a:t>Can just use an array!</a:t>
            </a:r>
            <a:endParaRPr/>
          </a:p>
          <a:p>
            <a:pPr marL="457200" lvl="0" indent="-342900" algn="l" rtl="0">
              <a:spcBef>
                <a:spcPts val="600"/>
              </a:spcBef>
              <a:spcAft>
                <a:spcPts val="0"/>
              </a:spcAft>
              <a:buSzPts val="1800"/>
              <a:buChar char="●"/>
            </a:pPr>
            <a:r>
              <a:rPr lang="en"/>
              <a:t>Simple and fast.</a:t>
            </a:r>
            <a:endParaRPr/>
          </a:p>
        </p:txBody>
      </p:sp>
      <p:sp>
        <p:nvSpPr>
          <p:cNvPr id="220" name="Google Shape;220;p2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Special Case 1: Character Keyed Map</a:t>
            </a:r>
            <a:endParaRPr/>
          </a:p>
        </p:txBody>
      </p:sp>
      <p:sp>
        <p:nvSpPr>
          <p:cNvPr id="221" name="Google Shape;221;p28"/>
          <p:cNvSpPr txBox="1"/>
          <p:nvPr/>
        </p:nvSpPr>
        <p:spPr>
          <a:xfrm>
            <a:off x="94500" y="2065100"/>
            <a:ext cx="4145700" cy="29076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100"/>
              <a:buFont typeface="Arial"/>
              <a:buNone/>
            </a:pPr>
            <a:r>
              <a:rPr lang="en" b="1">
                <a:solidFill>
                  <a:srgbClr val="661111"/>
                </a:solidFill>
                <a:highlight>
                  <a:srgbClr val="EFEFEF"/>
                </a:highlight>
                <a:latin typeface="Consolas"/>
                <a:ea typeface="Consolas"/>
                <a:cs typeface="Consolas"/>
                <a:sym typeface="Consolas"/>
              </a:rPr>
              <a:t>public class</a:t>
            </a:r>
            <a:r>
              <a:rPr lang="en">
                <a:solidFill>
                  <a:srgbClr val="000000"/>
                </a:solidFill>
                <a:highlight>
                  <a:srgbClr val="EFEFEF"/>
                </a:highlight>
                <a:latin typeface="Consolas"/>
                <a:ea typeface="Consolas"/>
                <a:cs typeface="Consolas"/>
                <a:sym typeface="Consolas"/>
              </a:rPr>
              <a:t> DataIndexed</a:t>
            </a:r>
            <a:r>
              <a:rPr lang="en">
                <a:highlight>
                  <a:srgbClr val="EFEFEF"/>
                </a:highlight>
                <a:latin typeface="Consolas"/>
                <a:ea typeface="Consolas"/>
                <a:cs typeface="Consolas"/>
                <a:sym typeface="Consolas"/>
              </a:rPr>
              <a:t>CharMap</a:t>
            </a:r>
            <a:r>
              <a:rPr lang="en">
                <a:solidFill>
                  <a:srgbClr val="000000"/>
                </a:solidFill>
                <a:highlight>
                  <a:srgbClr val="EFEFEF"/>
                </a:highlight>
                <a:latin typeface="Consolas"/>
                <a:ea typeface="Consolas"/>
                <a:cs typeface="Consolas"/>
                <a:sym typeface="Consolas"/>
              </a:rPr>
              <a:t>&lt;</a:t>
            </a:r>
            <a:r>
              <a:rPr lang="en" b="1">
                <a:solidFill>
                  <a:srgbClr val="000066"/>
                </a:solidFill>
                <a:highlight>
                  <a:srgbClr val="EFEFEF"/>
                </a:highlight>
                <a:latin typeface="Consolas"/>
                <a:ea typeface="Consolas"/>
                <a:cs typeface="Consolas"/>
                <a:sym typeface="Consolas"/>
              </a:rPr>
              <a:t>V</a:t>
            </a:r>
            <a:r>
              <a:rPr lang="en">
                <a:solidFill>
                  <a:srgbClr val="000000"/>
                </a:solidFill>
                <a:highlight>
                  <a:srgbClr val="EFEFEF"/>
                </a:highlight>
                <a:latin typeface="Consolas"/>
                <a:ea typeface="Consolas"/>
                <a:cs typeface="Consolas"/>
                <a:sym typeface="Consolas"/>
              </a:rPr>
              <a:t>&gt; </a:t>
            </a:r>
            <a:r>
              <a:rPr lang="en" b="1">
                <a:solidFill>
                  <a:srgbClr val="000000"/>
                </a:solidFill>
                <a:highlight>
                  <a:srgbClr val="EFEFEF"/>
                </a:highlight>
                <a:latin typeface="Consolas"/>
                <a:ea typeface="Consolas"/>
                <a:cs typeface="Consolas"/>
                <a:sym typeface="Consolas"/>
              </a:rPr>
              <a:t>{</a:t>
            </a:r>
            <a:endParaRPr b="1">
              <a:solidFill>
                <a:srgbClr val="000000"/>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Clr>
                <a:srgbClr val="000000"/>
              </a:buClr>
              <a:buSzPts val="1100"/>
              <a:buFont typeface="Arial"/>
              <a:buNone/>
            </a:pPr>
            <a:r>
              <a:rPr lang="en">
                <a:solidFill>
                  <a:srgbClr val="000000"/>
                </a:solidFill>
                <a:highlight>
                  <a:srgbClr val="EFEFEF"/>
                </a:highlight>
                <a:latin typeface="Consolas"/>
                <a:ea typeface="Consolas"/>
                <a:cs typeface="Consolas"/>
                <a:sym typeface="Consolas"/>
              </a:rPr>
              <a:t>   </a:t>
            </a:r>
            <a:r>
              <a:rPr lang="en" b="1">
                <a:solidFill>
                  <a:srgbClr val="661111"/>
                </a:solidFill>
                <a:highlight>
                  <a:srgbClr val="EFEFEF"/>
                </a:highlight>
                <a:latin typeface="Consolas"/>
                <a:ea typeface="Consolas"/>
                <a:cs typeface="Consolas"/>
                <a:sym typeface="Consolas"/>
              </a:rPr>
              <a:t>private </a:t>
            </a:r>
            <a:r>
              <a:rPr lang="en" b="1">
                <a:solidFill>
                  <a:srgbClr val="000066"/>
                </a:solidFill>
                <a:highlight>
                  <a:srgbClr val="EFEFEF"/>
                </a:highlight>
                <a:latin typeface="Consolas"/>
                <a:ea typeface="Consolas"/>
                <a:cs typeface="Consolas"/>
                <a:sym typeface="Consolas"/>
              </a:rPr>
              <a:t>V</a:t>
            </a:r>
            <a:r>
              <a:rPr lang="en" b="1">
                <a:solidFill>
                  <a:srgbClr val="000000"/>
                </a:solidFill>
                <a:highlight>
                  <a:srgbClr val="EFEFEF"/>
                </a:highlight>
                <a:latin typeface="Consolas"/>
                <a:ea typeface="Consolas"/>
                <a:cs typeface="Consolas"/>
                <a:sym typeface="Consolas"/>
              </a:rPr>
              <a:t>[]</a:t>
            </a:r>
            <a:r>
              <a:rPr lang="en">
                <a:solidFill>
                  <a:srgbClr val="000000"/>
                </a:solidFill>
                <a:highlight>
                  <a:srgbClr val="EFEFEF"/>
                </a:highlight>
                <a:latin typeface="Consolas"/>
                <a:ea typeface="Consolas"/>
                <a:cs typeface="Consolas"/>
                <a:sym typeface="Consolas"/>
              </a:rPr>
              <a:t> </a:t>
            </a:r>
            <a:r>
              <a:rPr lang="en">
                <a:highlight>
                  <a:srgbClr val="EFEFEF"/>
                </a:highlight>
                <a:latin typeface="Consolas"/>
                <a:ea typeface="Consolas"/>
                <a:cs typeface="Consolas"/>
                <a:sym typeface="Consolas"/>
              </a:rPr>
              <a:t>items</a:t>
            </a:r>
            <a:r>
              <a:rPr lang="en" b="1">
                <a:solidFill>
                  <a:srgbClr val="000000"/>
                </a:solidFill>
                <a:highlight>
                  <a:srgbClr val="EFEFEF"/>
                </a:highlight>
                <a:latin typeface="Consolas"/>
                <a:ea typeface="Consolas"/>
                <a:cs typeface="Consolas"/>
                <a:sym typeface="Consolas"/>
              </a:rPr>
              <a:t>;</a:t>
            </a:r>
            <a:endParaRPr>
              <a:solidFill>
                <a:srgbClr val="000000"/>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Clr>
                <a:srgbClr val="000000"/>
              </a:buClr>
              <a:buSzPts val="1100"/>
              <a:buFont typeface="Arial"/>
              <a:buNone/>
            </a:pPr>
            <a:r>
              <a:rPr lang="en">
                <a:solidFill>
                  <a:srgbClr val="000000"/>
                </a:solidFill>
                <a:highlight>
                  <a:srgbClr val="EFEFEF"/>
                </a:highlight>
                <a:latin typeface="Consolas"/>
                <a:ea typeface="Consolas"/>
                <a:cs typeface="Consolas"/>
                <a:sym typeface="Consolas"/>
              </a:rPr>
              <a:t>   </a:t>
            </a:r>
            <a:r>
              <a:rPr lang="en" b="1">
                <a:solidFill>
                  <a:srgbClr val="661111"/>
                </a:solidFill>
                <a:highlight>
                  <a:srgbClr val="EFEFEF"/>
                </a:highlight>
                <a:latin typeface="Consolas"/>
                <a:ea typeface="Consolas"/>
                <a:cs typeface="Consolas"/>
                <a:sym typeface="Consolas"/>
              </a:rPr>
              <a:t>public</a:t>
            </a:r>
            <a:r>
              <a:rPr lang="en">
                <a:solidFill>
                  <a:srgbClr val="000000"/>
                </a:solidFill>
                <a:highlight>
                  <a:srgbClr val="EFEFEF"/>
                </a:highlight>
                <a:latin typeface="Consolas"/>
                <a:ea typeface="Consolas"/>
                <a:cs typeface="Consolas"/>
                <a:sym typeface="Consolas"/>
              </a:rPr>
              <a:t> </a:t>
            </a:r>
            <a:r>
              <a:rPr lang="en">
                <a:solidFill>
                  <a:srgbClr val="004466"/>
                </a:solidFill>
                <a:highlight>
                  <a:srgbClr val="EFEFEF"/>
                </a:highlight>
                <a:latin typeface="Consolas"/>
                <a:ea typeface="Consolas"/>
                <a:cs typeface="Consolas"/>
                <a:sym typeface="Consolas"/>
              </a:rPr>
              <a:t>DataIndexedCharMap</a:t>
            </a:r>
            <a:r>
              <a:rPr lang="en" b="1">
                <a:solidFill>
                  <a:srgbClr val="000000"/>
                </a:solidFill>
                <a:highlight>
                  <a:srgbClr val="EFEFEF"/>
                </a:highlight>
                <a:latin typeface="Consolas"/>
                <a:ea typeface="Consolas"/>
                <a:cs typeface="Consolas"/>
                <a:sym typeface="Consolas"/>
              </a:rPr>
              <a:t>(</a:t>
            </a:r>
            <a:r>
              <a:rPr lang="en" b="1">
                <a:solidFill>
                  <a:srgbClr val="000066"/>
                </a:solidFill>
                <a:highlight>
                  <a:srgbClr val="EFEFEF"/>
                </a:highlight>
                <a:latin typeface="Consolas"/>
                <a:ea typeface="Consolas"/>
                <a:cs typeface="Consolas"/>
                <a:sym typeface="Consolas"/>
              </a:rPr>
              <a:t>int </a:t>
            </a:r>
            <a:r>
              <a:rPr lang="en">
                <a:solidFill>
                  <a:schemeClr val="dk1"/>
                </a:solidFill>
                <a:highlight>
                  <a:srgbClr val="EFEFEF"/>
                </a:highlight>
                <a:latin typeface="Consolas"/>
                <a:ea typeface="Consolas"/>
                <a:cs typeface="Consolas"/>
                <a:sym typeface="Consolas"/>
              </a:rPr>
              <a:t>R</a:t>
            </a:r>
            <a:r>
              <a:rPr lang="en" b="1">
                <a:solidFill>
                  <a:srgbClr val="000000"/>
                </a:solidFill>
                <a:highlight>
                  <a:srgbClr val="EFEFEF"/>
                </a:highlight>
                <a:latin typeface="Consolas"/>
                <a:ea typeface="Consolas"/>
                <a:cs typeface="Consolas"/>
                <a:sym typeface="Consolas"/>
              </a:rPr>
              <a:t>) {</a:t>
            </a:r>
            <a:endParaRPr b="1">
              <a:solidFill>
                <a:srgbClr val="000000"/>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Clr>
                <a:srgbClr val="000000"/>
              </a:buClr>
              <a:buSzPts val="1100"/>
              <a:buFont typeface="Arial"/>
              <a:buNone/>
            </a:pPr>
            <a:r>
              <a:rPr lang="en">
                <a:solidFill>
                  <a:srgbClr val="000000"/>
                </a:solidFill>
                <a:highlight>
                  <a:srgbClr val="EFEFEF"/>
                </a:highlight>
                <a:latin typeface="Consolas"/>
                <a:ea typeface="Consolas"/>
                <a:cs typeface="Consolas"/>
                <a:sym typeface="Consolas"/>
              </a:rPr>
              <a:t>       </a:t>
            </a:r>
            <a:r>
              <a:rPr lang="en">
                <a:highlight>
                  <a:srgbClr val="EFEFEF"/>
                </a:highlight>
                <a:latin typeface="Consolas"/>
                <a:ea typeface="Consolas"/>
                <a:cs typeface="Consolas"/>
                <a:sym typeface="Consolas"/>
              </a:rPr>
              <a:t>items </a:t>
            </a:r>
            <a:r>
              <a:rPr lang="en" b="1">
                <a:solidFill>
                  <a:srgbClr val="000000"/>
                </a:solidFill>
                <a:highlight>
                  <a:srgbClr val="EFEFEF"/>
                </a:highlight>
                <a:latin typeface="Consolas"/>
                <a:ea typeface="Consolas"/>
                <a:cs typeface="Consolas"/>
                <a:sym typeface="Consolas"/>
              </a:rPr>
              <a:t>= (</a:t>
            </a:r>
            <a:r>
              <a:rPr lang="en" b="1">
                <a:solidFill>
                  <a:srgbClr val="000066"/>
                </a:solidFill>
                <a:highlight>
                  <a:srgbClr val="EFEFEF"/>
                </a:highlight>
                <a:latin typeface="Consolas"/>
                <a:ea typeface="Consolas"/>
                <a:cs typeface="Consolas"/>
                <a:sym typeface="Consolas"/>
              </a:rPr>
              <a:t>V</a:t>
            </a:r>
            <a:r>
              <a:rPr lang="en" b="1">
                <a:solidFill>
                  <a:schemeClr val="dk1"/>
                </a:solidFill>
                <a:highlight>
                  <a:srgbClr val="EFEFEF"/>
                </a:highlight>
                <a:latin typeface="Consolas"/>
                <a:ea typeface="Consolas"/>
                <a:cs typeface="Consolas"/>
                <a:sym typeface="Consolas"/>
              </a:rPr>
              <a:t>[])</a:t>
            </a:r>
            <a:r>
              <a:rPr lang="en">
                <a:solidFill>
                  <a:srgbClr val="000000"/>
                </a:solidFill>
                <a:highlight>
                  <a:srgbClr val="EFEFEF"/>
                </a:highlight>
                <a:latin typeface="Consolas"/>
                <a:ea typeface="Consolas"/>
                <a:cs typeface="Consolas"/>
                <a:sym typeface="Consolas"/>
              </a:rPr>
              <a:t> </a:t>
            </a:r>
            <a:r>
              <a:rPr lang="en" b="1">
                <a:solidFill>
                  <a:srgbClr val="661111"/>
                </a:solidFill>
                <a:highlight>
                  <a:srgbClr val="EFEFEF"/>
                </a:highlight>
                <a:latin typeface="Consolas"/>
                <a:ea typeface="Consolas"/>
                <a:cs typeface="Consolas"/>
                <a:sym typeface="Consolas"/>
              </a:rPr>
              <a:t>new</a:t>
            </a:r>
            <a:r>
              <a:rPr lang="en">
                <a:solidFill>
                  <a:srgbClr val="000000"/>
                </a:solidFill>
                <a:highlight>
                  <a:srgbClr val="EFEFEF"/>
                </a:highlight>
                <a:latin typeface="Consolas"/>
                <a:ea typeface="Consolas"/>
                <a:cs typeface="Consolas"/>
                <a:sym typeface="Consolas"/>
              </a:rPr>
              <a:t> </a:t>
            </a:r>
            <a:r>
              <a:rPr lang="en" b="1">
                <a:solidFill>
                  <a:srgbClr val="000066"/>
                </a:solidFill>
                <a:highlight>
                  <a:srgbClr val="EFEFEF"/>
                </a:highlight>
                <a:latin typeface="Consolas"/>
                <a:ea typeface="Consolas"/>
                <a:cs typeface="Consolas"/>
                <a:sym typeface="Consolas"/>
              </a:rPr>
              <a:t>Object</a:t>
            </a:r>
            <a:r>
              <a:rPr lang="en" b="1">
                <a:solidFill>
                  <a:srgbClr val="000000"/>
                </a:solidFill>
                <a:highlight>
                  <a:srgbClr val="EFEFEF"/>
                </a:highlight>
                <a:latin typeface="Consolas"/>
                <a:ea typeface="Consolas"/>
                <a:cs typeface="Consolas"/>
                <a:sym typeface="Consolas"/>
              </a:rPr>
              <a:t>[</a:t>
            </a:r>
            <a:r>
              <a:rPr lang="en">
                <a:solidFill>
                  <a:schemeClr val="dk1"/>
                </a:solidFill>
                <a:highlight>
                  <a:srgbClr val="EFEFEF"/>
                </a:highlight>
                <a:latin typeface="Consolas"/>
                <a:ea typeface="Consolas"/>
                <a:cs typeface="Consolas"/>
                <a:sym typeface="Consolas"/>
              </a:rPr>
              <a:t>R</a:t>
            </a:r>
            <a:r>
              <a:rPr lang="en" b="1">
                <a:solidFill>
                  <a:srgbClr val="000000"/>
                </a:solidFill>
                <a:highlight>
                  <a:srgbClr val="EFEFEF"/>
                </a:highlight>
                <a:latin typeface="Consolas"/>
                <a:ea typeface="Consolas"/>
                <a:cs typeface="Consolas"/>
                <a:sym typeface="Consolas"/>
              </a:rPr>
              <a:t>];</a:t>
            </a:r>
            <a:endParaRPr b="1">
              <a:solidFill>
                <a:srgbClr val="000000"/>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Clr>
                <a:srgbClr val="000000"/>
              </a:buClr>
              <a:buSzPts val="1100"/>
              <a:buFont typeface="Arial"/>
              <a:buNone/>
            </a:pPr>
            <a:r>
              <a:rPr lang="en">
                <a:solidFill>
                  <a:srgbClr val="000000"/>
                </a:solidFill>
                <a:highlight>
                  <a:srgbClr val="EFEFEF"/>
                </a:highlight>
                <a:latin typeface="Consolas"/>
                <a:ea typeface="Consolas"/>
                <a:cs typeface="Consolas"/>
                <a:sym typeface="Consolas"/>
              </a:rPr>
              <a:t>   </a:t>
            </a:r>
            <a:r>
              <a:rPr lang="en" b="1">
                <a:solidFill>
                  <a:srgbClr val="000000"/>
                </a:solidFill>
                <a:highlight>
                  <a:srgbClr val="EFEFEF"/>
                </a:highlight>
                <a:latin typeface="Consolas"/>
                <a:ea typeface="Consolas"/>
                <a:cs typeface="Consolas"/>
                <a:sym typeface="Consolas"/>
              </a:rPr>
              <a:t>}</a:t>
            </a:r>
            <a:endParaRPr>
              <a:solidFill>
                <a:srgbClr val="000000"/>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Clr>
                <a:srgbClr val="000000"/>
              </a:buClr>
              <a:buSzPts val="1100"/>
              <a:buFont typeface="Arial"/>
              <a:buNone/>
            </a:pPr>
            <a:r>
              <a:rPr lang="en">
                <a:solidFill>
                  <a:srgbClr val="000000"/>
                </a:solidFill>
                <a:highlight>
                  <a:srgbClr val="EFEFEF"/>
                </a:highlight>
                <a:latin typeface="Consolas"/>
                <a:ea typeface="Consolas"/>
                <a:cs typeface="Consolas"/>
                <a:sym typeface="Consolas"/>
              </a:rPr>
              <a:t>   </a:t>
            </a:r>
            <a:r>
              <a:rPr lang="en" b="1">
                <a:solidFill>
                  <a:srgbClr val="661111"/>
                </a:solidFill>
                <a:highlight>
                  <a:srgbClr val="EFEFEF"/>
                </a:highlight>
                <a:latin typeface="Consolas"/>
                <a:ea typeface="Consolas"/>
                <a:cs typeface="Consolas"/>
                <a:sym typeface="Consolas"/>
              </a:rPr>
              <a:t>public</a:t>
            </a:r>
            <a:r>
              <a:rPr lang="en">
                <a:solidFill>
                  <a:srgbClr val="000000"/>
                </a:solidFill>
                <a:highlight>
                  <a:srgbClr val="EFEFEF"/>
                </a:highlight>
                <a:latin typeface="Consolas"/>
                <a:ea typeface="Consolas"/>
                <a:cs typeface="Consolas"/>
                <a:sym typeface="Consolas"/>
              </a:rPr>
              <a:t> void </a:t>
            </a:r>
            <a:r>
              <a:rPr lang="en">
                <a:solidFill>
                  <a:srgbClr val="004466"/>
                </a:solidFill>
                <a:highlight>
                  <a:srgbClr val="EFEFEF"/>
                </a:highlight>
                <a:latin typeface="Consolas"/>
                <a:ea typeface="Consolas"/>
                <a:cs typeface="Consolas"/>
                <a:sym typeface="Consolas"/>
              </a:rPr>
              <a:t>put</a:t>
            </a:r>
            <a:r>
              <a:rPr lang="en" b="1">
                <a:solidFill>
                  <a:srgbClr val="000000"/>
                </a:solidFill>
                <a:highlight>
                  <a:srgbClr val="EFEFEF"/>
                </a:highlight>
                <a:latin typeface="Consolas"/>
                <a:ea typeface="Consolas"/>
                <a:cs typeface="Consolas"/>
                <a:sym typeface="Consolas"/>
              </a:rPr>
              <a:t>(</a:t>
            </a:r>
            <a:r>
              <a:rPr lang="en" b="1">
                <a:solidFill>
                  <a:srgbClr val="000066"/>
                </a:solidFill>
                <a:highlight>
                  <a:srgbClr val="EFEFEF"/>
                </a:highlight>
                <a:latin typeface="Consolas"/>
                <a:ea typeface="Consolas"/>
                <a:cs typeface="Consolas"/>
                <a:sym typeface="Consolas"/>
              </a:rPr>
              <a:t>char</a:t>
            </a:r>
            <a:r>
              <a:rPr lang="en">
                <a:solidFill>
                  <a:srgbClr val="000000"/>
                </a:solidFill>
                <a:highlight>
                  <a:srgbClr val="EFEFEF"/>
                </a:highlight>
                <a:latin typeface="Consolas"/>
                <a:ea typeface="Consolas"/>
                <a:cs typeface="Consolas"/>
                <a:sym typeface="Consolas"/>
              </a:rPr>
              <a:t> </a:t>
            </a:r>
            <a:r>
              <a:rPr lang="en">
                <a:highlight>
                  <a:srgbClr val="EFEFEF"/>
                </a:highlight>
                <a:latin typeface="Consolas"/>
                <a:ea typeface="Consolas"/>
                <a:cs typeface="Consolas"/>
                <a:sym typeface="Consolas"/>
              </a:rPr>
              <a:t>c</a:t>
            </a:r>
            <a:r>
              <a:rPr lang="en">
                <a:solidFill>
                  <a:srgbClr val="000000"/>
                </a:solidFill>
                <a:highlight>
                  <a:srgbClr val="EFEFEF"/>
                </a:highlight>
                <a:latin typeface="Consolas"/>
                <a:ea typeface="Consolas"/>
                <a:cs typeface="Consolas"/>
                <a:sym typeface="Consolas"/>
              </a:rPr>
              <a:t>, </a:t>
            </a:r>
            <a:r>
              <a:rPr lang="en" b="1">
                <a:solidFill>
                  <a:srgbClr val="000066"/>
                </a:solidFill>
                <a:highlight>
                  <a:srgbClr val="EFEFEF"/>
                </a:highlight>
                <a:latin typeface="Consolas"/>
                <a:ea typeface="Consolas"/>
                <a:cs typeface="Consolas"/>
                <a:sym typeface="Consolas"/>
              </a:rPr>
              <a:t>V</a:t>
            </a:r>
            <a:r>
              <a:rPr lang="en">
                <a:solidFill>
                  <a:srgbClr val="000000"/>
                </a:solidFill>
                <a:highlight>
                  <a:srgbClr val="EFEFEF"/>
                </a:highlight>
                <a:latin typeface="Consolas"/>
                <a:ea typeface="Consolas"/>
                <a:cs typeface="Consolas"/>
                <a:sym typeface="Consolas"/>
              </a:rPr>
              <a:t> val</a:t>
            </a:r>
            <a:r>
              <a:rPr lang="en" b="1">
                <a:solidFill>
                  <a:srgbClr val="000000"/>
                </a:solidFill>
                <a:highlight>
                  <a:srgbClr val="EFEFEF"/>
                </a:highlight>
                <a:latin typeface="Consolas"/>
                <a:ea typeface="Consolas"/>
                <a:cs typeface="Consolas"/>
                <a:sym typeface="Consolas"/>
              </a:rPr>
              <a:t>) {</a:t>
            </a:r>
            <a:endParaRPr b="1">
              <a:solidFill>
                <a:srgbClr val="000000"/>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Clr>
                <a:srgbClr val="000000"/>
              </a:buClr>
              <a:buSzPts val="1100"/>
              <a:buFont typeface="Arial"/>
              <a:buNone/>
            </a:pPr>
            <a:r>
              <a:rPr lang="en">
                <a:solidFill>
                  <a:srgbClr val="000000"/>
                </a:solidFill>
                <a:highlight>
                  <a:srgbClr val="EFEFEF"/>
                </a:highlight>
                <a:latin typeface="Consolas"/>
                <a:ea typeface="Consolas"/>
                <a:cs typeface="Consolas"/>
                <a:sym typeface="Consolas"/>
              </a:rPr>
              <a:t>       </a:t>
            </a:r>
            <a:r>
              <a:rPr lang="en">
                <a:highlight>
                  <a:srgbClr val="EFEFEF"/>
                </a:highlight>
                <a:latin typeface="Consolas"/>
                <a:ea typeface="Consolas"/>
                <a:cs typeface="Consolas"/>
                <a:sym typeface="Consolas"/>
              </a:rPr>
              <a:t>items</a:t>
            </a:r>
            <a:r>
              <a:rPr lang="en" b="1">
                <a:solidFill>
                  <a:srgbClr val="000000"/>
                </a:solidFill>
                <a:highlight>
                  <a:srgbClr val="EFEFEF"/>
                </a:highlight>
                <a:latin typeface="Consolas"/>
                <a:ea typeface="Consolas"/>
                <a:cs typeface="Consolas"/>
                <a:sym typeface="Consolas"/>
              </a:rPr>
              <a:t>[</a:t>
            </a:r>
            <a:r>
              <a:rPr lang="en">
                <a:highlight>
                  <a:srgbClr val="EFEFEF"/>
                </a:highlight>
                <a:latin typeface="Consolas"/>
                <a:ea typeface="Consolas"/>
                <a:cs typeface="Consolas"/>
                <a:sym typeface="Consolas"/>
              </a:rPr>
              <a:t>c</a:t>
            </a:r>
            <a:r>
              <a:rPr lang="en" b="1">
                <a:solidFill>
                  <a:srgbClr val="000000"/>
                </a:solidFill>
                <a:highlight>
                  <a:srgbClr val="EFEFEF"/>
                </a:highlight>
                <a:latin typeface="Consolas"/>
                <a:ea typeface="Consolas"/>
                <a:cs typeface="Consolas"/>
                <a:sym typeface="Consolas"/>
              </a:rPr>
              <a:t>] =</a:t>
            </a:r>
            <a:r>
              <a:rPr lang="en">
                <a:solidFill>
                  <a:srgbClr val="000000"/>
                </a:solidFill>
                <a:highlight>
                  <a:srgbClr val="EFEFEF"/>
                </a:highlight>
                <a:latin typeface="Consolas"/>
                <a:ea typeface="Consolas"/>
                <a:cs typeface="Consolas"/>
                <a:sym typeface="Consolas"/>
              </a:rPr>
              <a:t> </a:t>
            </a:r>
            <a:r>
              <a:rPr lang="en">
                <a:highlight>
                  <a:srgbClr val="EFEFEF"/>
                </a:highlight>
                <a:latin typeface="Consolas"/>
                <a:ea typeface="Consolas"/>
                <a:cs typeface="Consolas"/>
                <a:sym typeface="Consolas"/>
              </a:rPr>
              <a:t>val</a:t>
            </a:r>
            <a:r>
              <a:rPr lang="en" b="1">
                <a:solidFill>
                  <a:srgbClr val="000000"/>
                </a:solidFill>
                <a:highlight>
                  <a:srgbClr val="EFEFEF"/>
                </a:highlight>
                <a:latin typeface="Consolas"/>
                <a:ea typeface="Consolas"/>
                <a:cs typeface="Consolas"/>
                <a:sym typeface="Consolas"/>
              </a:rPr>
              <a:t>;</a:t>
            </a:r>
            <a:endParaRPr b="1">
              <a:solidFill>
                <a:srgbClr val="000000"/>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Clr>
                <a:srgbClr val="000000"/>
              </a:buClr>
              <a:buSzPts val="1100"/>
              <a:buFont typeface="Arial"/>
              <a:buNone/>
            </a:pPr>
            <a:r>
              <a:rPr lang="en">
                <a:solidFill>
                  <a:srgbClr val="000000"/>
                </a:solidFill>
                <a:highlight>
                  <a:srgbClr val="EFEFEF"/>
                </a:highlight>
                <a:latin typeface="Consolas"/>
                <a:ea typeface="Consolas"/>
                <a:cs typeface="Consolas"/>
                <a:sym typeface="Consolas"/>
              </a:rPr>
              <a:t>   </a:t>
            </a:r>
            <a:r>
              <a:rPr lang="en" b="1">
                <a:solidFill>
                  <a:srgbClr val="000000"/>
                </a:solidFill>
                <a:highlight>
                  <a:srgbClr val="EFEFEF"/>
                </a:highlight>
                <a:latin typeface="Consolas"/>
                <a:ea typeface="Consolas"/>
                <a:cs typeface="Consolas"/>
                <a:sym typeface="Consolas"/>
              </a:rPr>
              <a:t>}</a:t>
            </a:r>
            <a:endParaRPr>
              <a:solidFill>
                <a:srgbClr val="000000"/>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Clr>
                <a:srgbClr val="000000"/>
              </a:buClr>
              <a:buSzPts val="1100"/>
              <a:buFont typeface="Arial"/>
              <a:buNone/>
            </a:pPr>
            <a:r>
              <a:rPr lang="en">
                <a:solidFill>
                  <a:srgbClr val="000000"/>
                </a:solidFill>
                <a:highlight>
                  <a:srgbClr val="EFEFEF"/>
                </a:highlight>
                <a:latin typeface="Consolas"/>
                <a:ea typeface="Consolas"/>
                <a:cs typeface="Consolas"/>
                <a:sym typeface="Consolas"/>
              </a:rPr>
              <a:t>   </a:t>
            </a:r>
            <a:r>
              <a:rPr lang="en" b="1">
                <a:solidFill>
                  <a:srgbClr val="661111"/>
                </a:solidFill>
                <a:highlight>
                  <a:srgbClr val="EFEFEF"/>
                </a:highlight>
                <a:latin typeface="Consolas"/>
                <a:ea typeface="Consolas"/>
                <a:cs typeface="Consolas"/>
                <a:sym typeface="Consolas"/>
              </a:rPr>
              <a:t>public</a:t>
            </a:r>
            <a:r>
              <a:rPr lang="en">
                <a:solidFill>
                  <a:srgbClr val="000000"/>
                </a:solidFill>
                <a:highlight>
                  <a:srgbClr val="EFEFEF"/>
                </a:highlight>
                <a:latin typeface="Consolas"/>
                <a:ea typeface="Consolas"/>
                <a:cs typeface="Consolas"/>
                <a:sym typeface="Consolas"/>
              </a:rPr>
              <a:t> </a:t>
            </a:r>
            <a:r>
              <a:rPr lang="en">
                <a:highlight>
                  <a:srgbClr val="EFEFEF"/>
                </a:highlight>
                <a:latin typeface="Consolas"/>
                <a:ea typeface="Consolas"/>
                <a:cs typeface="Consolas"/>
                <a:sym typeface="Consolas"/>
              </a:rPr>
              <a:t>V</a:t>
            </a:r>
            <a:r>
              <a:rPr lang="en">
                <a:solidFill>
                  <a:srgbClr val="000000"/>
                </a:solidFill>
                <a:highlight>
                  <a:srgbClr val="EFEFEF"/>
                </a:highlight>
                <a:latin typeface="Consolas"/>
                <a:ea typeface="Consolas"/>
                <a:cs typeface="Consolas"/>
                <a:sym typeface="Consolas"/>
              </a:rPr>
              <a:t> </a:t>
            </a:r>
            <a:r>
              <a:rPr lang="en">
                <a:solidFill>
                  <a:srgbClr val="004466"/>
                </a:solidFill>
                <a:highlight>
                  <a:srgbClr val="EFEFEF"/>
                </a:highlight>
                <a:latin typeface="Consolas"/>
                <a:ea typeface="Consolas"/>
                <a:cs typeface="Consolas"/>
                <a:sym typeface="Consolas"/>
              </a:rPr>
              <a:t>get</a:t>
            </a:r>
            <a:r>
              <a:rPr lang="en" b="1">
                <a:solidFill>
                  <a:srgbClr val="000000"/>
                </a:solidFill>
                <a:highlight>
                  <a:srgbClr val="EFEFEF"/>
                </a:highlight>
                <a:latin typeface="Consolas"/>
                <a:ea typeface="Consolas"/>
                <a:cs typeface="Consolas"/>
                <a:sym typeface="Consolas"/>
              </a:rPr>
              <a:t>(</a:t>
            </a:r>
            <a:r>
              <a:rPr lang="en" b="1">
                <a:solidFill>
                  <a:srgbClr val="000066"/>
                </a:solidFill>
                <a:highlight>
                  <a:srgbClr val="EFEFEF"/>
                </a:highlight>
                <a:latin typeface="Consolas"/>
                <a:ea typeface="Consolas"/>
                <a:cs typeface="Consolas"/>
                <a:sym typeface="Consolas"/>
              </a:rPr>
              <a:t>char</a:t>
            </a:r>
            <a:r>
              <a:rPr lang="en">
                <a:solidFill>
                  <a:srgbClr val="000000"/>
                </a:solidFill>
                <a:highlight>
                  <a:srgbClr val="EFEFEF"/>
                </a:highlight>
                <a:latin typeface="Consolas"/>
                <a:ea typeface="Consolas"/>
                <a:cs typeface="Consolas"/>
                <a:sym typeface="Consolas"/>
              </a:rPr>
              <a:t> </a:t>
            </a:r>
            <a:r>
              <a:rPr lang="en">
                <a:highlight>
                  <a:srgbClr val="EFEFEF"/>
                </a:highlight>
                <a:latin typeface="Consolas"/>
                <a:ea typeface="Consolas"/>
                <a:cs typeface="Consolas"/>
                <a:sym typeface="Consolas"/>
              </a:rPr>
              <a:t>c</a:t>
            </a:r>
            <a:r>
              <a:rPr lang="en" b="1">
                <a:solidFill>
                  <a:srgbClr val="000000"/>
                </a:solidFill>
                <a:highlight>
                  <a:srgbClr val="EFEFEF"/>
                </a:highlight>
                <a:latin typeface="Consolas"/>
                <a:ea typeface="Consolas"/>
                <a:cs typeface="Consolas"/>
                <a:sym typeface="Consolas"/>
              </a:rPr>
              <a:t>) {</a:t>
            </a:r>
            <a:endParaRPr b="1">
              <a:solidFill>
                <a:srgbClr val="000000"/>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Clr>
                <a:srgbClr val="000000"/>
              </a:buClr>
              <a:buSzPts val="1100"/>
              <a:buFont typeface="Arial"/>
              <a:buNone/>
            </a:pPr>
            <a:r>
              <a:rPr lang="en">
                <a:solidFill>
                  <a:srgbClr val="000000"/>
                </a:solidFill>
                <a:highlight>
                  <a:srgbClr val="EFEFEF"/>
                </a:highlight>
                <a:latin typeface="Consolas"/>
                <a:ea typeface="Consolas"/>
                <a:cs typeface="Consolas"/>
                <a:sym typeface="Consolas"/>
              </a:rPr>
              <a:t>	   </a:t>
            </a:r>
            <a:r>
              <a:rPr lang="en" b="1">
                <a:solidFill>
                  <a:srgbClr val="661111"/>
                </a:solidFill>
                <a:highlight>
                  <a:srgbClr val="EFEFEF"/>
                </a:highlight>
                <a:latin typeface="Consolas"/>
                <a:ea typeface="Consolas"/>
                <a:cs typeface="Consolas"/>
                <a:sym typeface="Consolas"/>
              </a:rPr>
              <a:t>return</a:t>
            </a:r>
            <a:r>
              <a:rPr lang="en">
                <a:solidFill>
                  <a:srgbClr val="000000"/>
                </a:solidFill>
                <a:highlight>
                  <a:srgbClr val="EFEFEF"/>
                </a:highlight>
                <a:latin typeface="Consolas"/>
                <a:ea typeface="Consolas"/>
                <a:cs typeface="Consolas"/>
                <a:sym typeface="Consolas"/>
              </a:rPr>
              <a:t> </a:t>
            </a:r>
            <a:r>
              <a:rPr lang="en">
                <a:highlight>
                  <a:srgbClr val="EFEFEF"/>
                </a:highlight>
                <a:latin typeface="Consolas"/>
                <a:ea typeface="Consolas"/>
                <a:cs typeface="Consolas"/>
                <a:sym typeface="Consolas"/>
              </a:rPr>
              <a:t>items</a:t>
            </a:r>
            <a:r>
              <a:rPr lang="en" b="1">
                <a:solidFill>
                  <a:srgbClr val="000000"/>
                </a:solidFill>
                <a:highlight>
                  <a:srgbClr val="EFEFEF"/>
                </a:highlight>
                <a:latin typeface="Consolas"/>
                <a:ea typeface="Consolas"/>
                <a:cs typeface="Consolas"/>
                <a:sym typeface="Consolas"/>
              </a:rPr>
              <a:t>[</a:t>
            </a:r>
            <a:r>
              <a:rPr lang="en">
                <a:highlight>
                  <a:srgbClr val="EFEFEF"/>
                </a:highlight>
                <a:latin typeface="Consolas"/>
                <a:ea typeface="Consolas"/>
                <a:cs typeface="Consolas"/>
                <a:sym typeface="Consolas"/>
              </a:rPr>
              <a:t>c</a:t>
            </a:r>
            <a:r>
              <a:rPr lang="en" b="1">
                <a:solidFill>
                  <a:srgbClr val="000000"/>
                </a:solidFill>
                <a:highlight>
                  <a:srgbClr val="EFEFEF"/>
                </a:highlight>
                <a:latin typeface="Consolas"/>
                <a:ea typeface="Consolas"/>
                <a:cs typeface="Consolas"/>
                <a:sym typeface="Consolas"/>
              </a:rPr>
              <a:t>];</a:t>
            </a:r>
            <a:endParaRPr b="1">
              <a:solidFill>
                <a:srgbClr val="000000"/>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Clr>
                <a:srgbClr val="000000"/>
              </a:buClr>
              <a:buSzPts val="1100"/>
              <a:buFont typeface="Arial"/>
              <a:buNone/>
            </a:pPr>
            <a:r>
              <a:rPr lang="en">
                <a:solidFill>
                  <a:srgbClr val="000000"/>
                </a:solidFill>
                <a:highlight>
                  <a:srgbClr val="EFEFEF"/>
                </a:highlight>
                <a:latin typeface="Consolas"/>
                <a:ea typeface="Consolas"/>
                <a:cs typeface="Consolas"/>
                <a:sym typeface="Consolas"/>
              </a:rPr>
              <a:t>   </a:t>
            </a:r>
            <a:r>
              <a:rPr lang="en" b="1">
                <a:solidFill>
                  <a:srgbClr val="000000"/>
                </a:solidFill>
                <a:highlight>
                  <a:srgbClr val="EFEFEF"/>
                </a:highlight>
                <a:latin typeface="Consolas"/>
                <a:ea typeface="Consolas"/>
                <a:cs typeface="Consolas"/>
                <a:sym typeface="Consolas"/>
              </a:rPr>
              <a:t>}</a:t>
            </a:r>
            <a:endParaRPr b="1">
              <a:solidFill>
                <a:srgbClr val="000000"/>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r>
              <a:rPr lang="en" b="1">
                <a:solidFill>
                  <a:srgbClr val="000000"/>
                </a:solidFill>
                <a:highlight>
                  <a:srgbClr val="EFEFEF"/>
                </a:highlight>
                <a:latin typeface="Consolas"/>
                <a:ea typeface="Consolas"/>
                <a:cs typeface="Consolas"/>
                <a:sym typeface="Consolas"/>
              </a:rPr>
              <a:t>}</a:t>
            </a:r>
            <a:endParaRPr b="1">
              <a:solidFill>
                <a:srgbClr val="9C20EE"/>
              </a:solidFill>
              <a:highlight>
                <a:srgbClr val="EFEFEF"/>
              </a:highlight>
              <a:latin typeface="Consolas"/>
              <a:ea typeface="Consolas"/>
              <a:cs typeface="Consolas"/>
              <a:sym typeface="Consolas"/>
            </a:endParaRPr>
          </a:p>
        </p:txBody>
      </p:sp>
      <p:grpSp>
        <p:nvGrpSpPr>
          <p:cNvPr id="222" name="Google Shape;222;p28"/>
          <p:cNvGrpSpPr/>
          <p:nvPr/>
        </p:nvGrpSpPr>
        <p:grpSpPr>
          <a:xfrm>
            <a:off x="3418450" y="3056800"/>
            <a:ext cx="3839675" cy="629775"/>
            <a:chOff x="4332850" y="1304200"/>
            <a:chExt cx="3839675" cy="629775"/>
          </a:xfrm>
        </p:grpSpPr>
        <p:cxnSp>
          <p:nvCxnSpPr>
            <p:cNvPr id="223" name="Google Shape;223;p28"/>
            <p:cNvCxnSpPr/>
            <p:nvPr/>
          </p:nvCxnSpPr>
          <p:spPr>
            <a:xfrm rot="10800000">
              <a:off x="4332850" y="1304200"/>
              <a:ext cx="1108800" cy="573000"/>
            </a:xfrm>
            <a:prstGeom prst="straightConnector1">
              <a:avLst/>
            </a:prstGeom>
            <a:noFill/>
            <a:ln w="9525" cap="flat" cmpd="sng">
              <a:solidFill>
                <a:srgbClr val="BE0712"/>
              </a:solidFill>
              <a:prstDash val="solid"/>
              <a:round/>
              <a:headEnd type="none" w="med" len="med"/>
              <a:tailEnd type="triangle" w="med" len="med"/>
            </a:ln>
          </p:spPr>
        </p:cxnSp>
        <p:sp>
          <p:nvSpPr>
            <p:cNvPr id="224" name="Google Shape;224;p28"/>
            <p:cNvSpPr txBox="1"/>
            <p:nvPr/>
          </p:nvSpPr>
          <p:spPr>
            <a:xfrm>
              <a:off x="5477625" y="1731475"/>
              <a:ext cx="2694900" cy="20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BE0712"/>
                  </a:solidFill>
                  <a:latin typeface="Roboto"/>
                  <a:ea typeface="Roboto"/>
                  <a:cs typeface="Roboto"/>
                  <a:sym typeface="Roboto"/>
                </a:rPr>
                <a:t>R is the number of possible characters, e.g. 128 for ASCII. </a:t>
              </a:r>
              <a:endParaRPr>
                <a:solidFill>
                  <a:srgbClr val="BE0712"/>
                </a:solidFill>
                <a:latin typeface="Roboto"/>
                <a:ea typeface="Roboto"/>
                <a:cs typeface="Roboto"/>
                <a:sym typeface="Roboto"/>
              </a:endParaRPr>
            </a:p>
          </p:txBody>
        </p:sp>
      </p:grpSp>
      <p:graphicFrame>
        <p:nvGraphicFramePr>
          <p:cNvPr id="225" name="Google Shape;225;p28"/>
          <p:cNvGraphicFramePr/>
          <p:nvPr/>
        </p:nvGraphicFramePr>
        <p:xfrm>
          <a:off x="4406525" y="917150"/>
          <a:ext cx="4663750" cy="1706810"/>
        </p:xfrm>
        <a:graphic>
          <a:graphicData uri="http://schemas.openxmlformats.org/drawingml/2006/table">
            <a:tbl>
              <a:tblPr>
                <a:noFill/>
                <a:tableStyleId>{BC467F25-A352-40E9-8C40-E7B4C2D9D289}</a:tableStyleId>
              </a:tblPr>
              <a:tblGrid>
                <a:gridCol w="1598500">
                  <a:extLst>
                    <a:ext uri="{9D8B030D-6E8A-4147-A177-3AD203B41FA5}">
                      <a16:colId xmlns:a16="http://schemas.microsoft.com/office/drawing/2014/main" val="20000"/>
                    </a:ext>
                  </a:extLst>
                </a:gridCol>
                <a:gridCol w="1017950">
                  <a:extLst>
                    <a:ext uri="{9D8B030D-6E8A-4147-A177-3AD203B41FA5}">
                      <a16:colId xmlns:a16="http://schemas.microsoft.com/office/drawing/2014/main" val="20001"/>
                    </a:ext>
                  </a:extLst>
                </a:gridCol>
                <a:gridCol w="1075525">
                  <a:extLst>
                    <a:ext uri="{9D8B030D-6E8A-4147-A177-3AD203B41FA5}">
                      <a16:colId xmlns:a16="http://schemas.microsoft.com/office/drawing/2014/main" val="20002"/>
                    </a:ext>
                  </a:extLst>
                </a:gridCol>
                <a:gridCol w="971775">
                  <a:extLst>
                    <a:ext uri="{9D8B030D-6E8A-4147-A177-3AD203B41FA5}">
                      <a16:colId xmlns:a16="http://schemas.microsoft.com/office/drawing/2014/main" val="20003"/>
                    </a:ext>
                  </a:extLst>
                </a:gridCol>
              </a:tblGrid>
              <a:tr h="396200">
                <a:tc>
                  <a:txBody>
                    <a:bodyPr/>
                    <a:lstStyle/>
                    <a:p>
                      <a:pPr marL="0" lvl="0" indent="0" algn="l" rtl="0">
                        <a:spcBef>
                          <a:spcPts val="0"/>
                        </a:spcBef>
                        <a:spcAft>
                          <a:spcPts val="0"/>
                        </a:spcAft>
                        <a:buNone/>
                      </a:pPr>
                      <a:endParaRPr sz="1200">
                        <a:latin typeface="Roboto"/>
                        <a:ea typeface="Roboto"/>
                        <a:cs typeface="Roboto"/>
                        <a:sym typeface="Roboto"/>
                      </a:endParaRPr>
                    </a:p>
                  </a:txBody>
                  <a:tcPr marL="91425" marR="91425" marT="91425" marB="91425">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latin typeface="Roboto"/>
                          <a:ea typeface="Roboto"/>
                          <a:cs typeface="Roboto"/>
                          <a:sym typeface="Roboto"/>
                        </a:rPr>
                        <a:t>key type</a:t>
                      </a:r>
                      <a:endParaRPr sz="1200">
                        <a:latin typeface="Roboto"/>
                        <a:ea typeface="Roboto"/>
                        <a:cs typeface="Roboto"/>
                        <a:sym typeface="Roboto"/>
                      </a:endParaRPr>
                    </a:p>
                  </a:txBody>
                  <a:tcPr marL="91425" marR="91425" marT="91425" marB="91425">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latin typeface="Roboto"/>
                          <a:ea typeface="Roboto"/>
                          <a:cs typeface="Roboto"/>
                          <a:sym typeface="Roboto"/>
                        </a:rPr>
                        <a:t>get(x)</a:t>
                      </a:r>
                      <a:endParaRPr sz="1200">
                        <a:latin typeface="Roboto"/>
                        <a:ea typeface="Roboto"/>
                        <a:cs typeface="Roboto"/>
                        <a:sym typeface="Roboto"/>
                      </a:endParaRPr>
                    </a:p>
                  </a:txBody>
                  <a:tcPr marL="91425" marR="91425" marT="91425" marB="91425">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latin typeface="Roboto"/>
                          <a:ea typeface="Roboto"/>
                          <a:cs typeface="Roboto"/>
                          <a:sym typeface="Roboto"/>
                        </a:rPr>
                        <a:t>add(x)</a:t>
                      </a:r>
                      <a:endParaRPr sz="1200">
                        <a:latin typeface="Roboto"/>
                        <a:ea typeface="Roboto"/>
                        <a:cs typeface="Roboto"/>
                        <a:sym typeface="Roboto"/>
                      </a:endParaRPr>
                    </a:p>
                  </a:txBody>
                  <a:tcPr marL="91425" marR="91425" marT="91425" marB="91425">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1200">
                          <a:latin typeface="Roboto"/>
                          <a:ea typeface="Roboto"/>
                          <a:cs typeface="Roboto"/>
                          <a:sym typeface="Roboto"/>
                        </a:rPr>
                        <a:t>Balanced BST</a:t>
                      </a:r>
                      <a:endParaRPr sz="1200">
                        <a:latin typeface="Roboto"/>
                        <a:ea typeface="Roboto"/>
                        <a:cs typeface="Roboto"/>
                        <a:sym typeface="Roboto"/>
                      </a:endParaRPr>
                    </a:p>
                  </a:txBody>
                  <a:tcPr marL="91425" marR="91425" marT="91425" marB="91425">
                    <a:lnT w="9525" cap="flat" cmpd="sng">
                      <a:solidFill>
                        <a:srgbClr val="000000"/>
                      </a:solidFill>
                      <a:prstDash val="solid"/>
                      <a:round/>
                      <a:headEnd type="none" w="sm" len="sm"/>
                      <a:tailEnd type="none" w="sm" len="sm"/>
                    </a:lnT>
                    <a:solidFill>
                      <a:srgbClr val="FFFFFF"/>
                    </a:solidFill>
                  </a:tcPr>
                </a:tc>
                <a:tc>
                  <a:txBody>
                    <a:bodyPr/>
                    <a:lstStyle/>
                    <a:p>
                      <a:pPr marL="0" lvl="0" indent="0" algn="ctr" rtl="0">
                        <a:spcBef>
                          <a:spcPts val="0"/>
                        </a:spcBef>
                        <a:spcAft>
                          <a:spcPts val="0"/>
                        </a:spcAft>
                        <a:buNone/>
                      </a:pPr>
                      <a:r>
                        <a:rPr lang="en" sz="1200">
                          <a:latin typeface="Roboto"/>
                          <a:ea typeface="Roboto"/>
                          <a:cs typeface="Roboto"/>
                          <a:sym typeface="Roboto"/>
                        </a:rPr>
                        <a:t>comparable</a:t>
                      </a:r>
                      <a:endParaRPr sz="1200">
                        <a:solidFill>
                          <a:srgbClr val="000000"/>
                        </a:solidFill>
                        <a:latin typeface="Roboto"/>
                        <a:ea typeface="Roboto"/>
                        <a:cs typeface="Roboto"/>
                        <a:sym typeface="Roboto"/>
                      </a:endParaRPr>
                    </a:p>
                  </a:txBody>
                  <a:tcPr marL="91425" marR="91425" marT="91425" marB="91425">
                    <a:lnT w="9525" cap="flat" cmpd="sng">
                      <a:solidFill>
                        <a:srgbClr val="000000"/>
                      </a:solidFill>
                      <a:prstDash val="solid"/>
                      <a:round/>
                      <a:headEnd type="none" w="sm" len="sm"/>
                      <a:tailEnd type="none" w="sm" len="sm"/>
                    </a:lnT>
                    <a:solidFill>
                      <a:srgbClr val="FFFFFF"/>
                    </a:solidFill>
                  </a:tcPr>
                </a:tc>
                <a:tc>
                  <a:txBody>
                    <a:bodyPr/>
                    <a:lstStyle/>
                    <a:p>
                      <a:pPr marL="0" lvl="0" indent="0" algn="ctr" rtl="0">
                        <a:spcBef>
                          <a:spcPts val="0"/>
                        </a:spcBef>
                        <a:spcAft>
                          <a:spcPts val="0"/>
                        </a:spcAft>
                        <a:buNone/>
                      </a:pPr>
                      <a:r>
                        <a:rPr lang="en" sz="1200">
                          <a:solidFill>
                            <a:srgbClr val="000000"/>
                          </a:solidFill>
                          <a:latin typeface="Roboto"/>
                          <a:ea typeface="Roboto"/>
                          <a:cs typeface="Roboto"/>
                          <a:sym typeface="Roboto"/>
                        </a:rPr>
                        <a:t>Θ(log N)</a:t>
                      </a:r>
                      <a:endParaRPr sz="1200">
                        <a:latin typeface="Roboto"/>
                        <a:ea typeface="Roboto"/>
                        <a:cs typeface="Roboto"/>
                        <a:sym typeface="Roboto"/>
                      </a:endParaRPr>
                    </a:p>
                  </a:txBody>
                  <a:tcPr marL="91425" marR="91425" marT="91425" marB="91425">
                    <a:lnT w="9525" cap="flat" cmpd="sng">
                      <a:solidFill>
                        <a:srgbClr val="000000"/>
                      </a:solidFill>
                      <a:prstDash val="solid"/>
                      <a:round/>
                      <a:headEnd type="none" w="sm" len="sm"/>
                      <a:tailEnd type="none" w="sm" len="sm"/>
                    </a:lnT>
                    <a:solidFill>
                      <a:srgbClr val="FFFFFF"/>
                    </a:solidFill>
                  </a:tcPr>
                </a:tc>
                <a:tc>
                  <a:txBody>
                    <a:bodyPr/>
                    <a:lstStyle/>
                    <a:p>
                      <a:pPr marL="0" lvl="0" indent="0" algn="ctr" rtl="0">
                        <a:spcBef>
                          <a:spcPts val="0"/>
                        </a:spcBef>
                        <a:spcAft>
                          <a:spcPts val="0"/>
                        </a:spcAft>
                        <a:buNone/>
                      </a:pPr>
                      <a:r>
                        <a:rPr lang="en" sz="1200">
                          <a:solidFill>
                            <a:srgbClr val="000000"/>
                          </a:solidFill>
                          <a:latin typeface="Roboto"/>
                          <a:ea typeface="Roboto"/>
                          <a:cs typeface="Roboto"/>
                          <a:sym typeface="Roboto"/>
                        </a:rPr>
                        <a:t>Θ(log N)</a:t>
                      </a:r>
                      <a:endParaRPr sz="1200">
                        <a:latin typeface="Roboto"/>
                        <a:ea typeface="Roboto"/>
                        <a:cs typeface="Roboto"/>
                        <a:sym typeface="Roboto"/>
                      </a:endParaRPr>
                    </a:p>
                  </a:txBody>
                  <a:tcPr marL="91425" marR="91425" marT="91425" marB="91425">
                    <a:lnT w="9525" cap="flat" cmpd="sng">
                      <a:solidFill>
                        <a:srgbClr val="000000"/>
                      </a:solidFill>
                      <a:prstDash val="solid"/>
                      <a:round/>
                      <a:headEnd type="none" w="sm" len="sm"/>
                      <a:tailEnd type="none" w="sm" len="sm"/>
                    </a:lnT>
                    <a:solidFill>
                      <a:srgbClr val="FFFFFF"/>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sz="1200">
                          <a:latin typeface="Roboto"/>
                          <a:ea typeface="Roboto"/>
                          <a:cs typeface="Roboto"/>
                          <a:sym typeface="Roboto"/>
                        </a:rPr>
                        <a:t>Resizing Separate Chaining Hash Table</a:t>
                      </a:r>
                      <a:endParaRPr sz="1200">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None/>
                      </a:pPr>
                      <a:r>
                        <a:rPr lang="en" sz="1200">
                          <a:latin typeface="Roboto"/>
                          <a:ea typeface="Roboto"/>
                          <a:cs typeface="Roboto"/>
                          <a:sym typeface="Roboto"/>
                        </a:rPr>
                        <a:t>hashable</a:t>
                      </a:r>
                      <a:endParaRPr sz="1200">
                        <a:solidFill>
                          <a:srgbClr val="000000"/>
                        </a:solidFill>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None/>
                      </a:pPr>
                      <a:r>
                        <a:rPr lang="en" sz="1200">
                          <a:solidFill>
                            <a:schemeClr val="dk1"/>
                          </a:solidFill>
                          <a:latin typeface="Roboto"/>
                          <a:ea typeface="Roboto"/>
                          <a:cs typeface="Roboto"/>
                          <a:sym typeface="Roboto"/>
                        </a:rPr>
                        <a:t>Θ(1)</a:t>
                      </a:r>
                      <a:endParaRPr sz="1200">
                        <a:solidFill>
                          <a:schemeClr val="dk1"/>
                        </a:solidFill>
                        <a:latin typeface="Roboto"/>
                        <a:ea typeface="Roboto"/>
                        <a:cs typeface="Roboto"/>
                        <a:sym typeface="Roboto"/>
                      </a:endParaRPr>
                    </a:p>
                    <a:p>
                      <a:pPr marL="0" lvl="0" indent="0" algn="ctr" rtl="0">
                        <a:spcBef>
                          <a:spcPts val="0"/>
                        </a:spcBef>
                        <a:spcAft>
                          <a:spcPts val="0"/>
                        </a:spcAft>
                        <a:buNone/>
                      </a:pPr>
                      <a:r>
                        <a:rPr lang="en" sz="600">
                          <a:solidFill>
                            <a:schemeClr val="dk1"/>
                          </a:solidFill>
                          <a:latin typeface="Roboto"/>
                          <a:ea typeface="Roboto"/>
                          <a:cs typeface="Roboto"/>
                          <a:sym typeface="Roboto"/>
                        </a:rPr>
                        <a:t>assuming even spread</a:t>
                      </a:r>
                      <a:endParaRPr sz="1000">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None/>
                      </a:pPr>
                      <a:r>
                        <a:rPr lang="en" sz="1200">
                          <a:solidFill>
                            <a:schemeClr val="dk1"/>
                          </a:solidFill>
                          <a:latin typeface="Roboto"/>
                          <a:ea typeface="Roboto"/>
                          <a:cs typeface="Roboto"/>
                          <a:sym typeface="Roboto"/>
                        </a:rPr>
                        <a:t>Θ(1)</a:t>
                      </a:r>
                      <a:endParaRPr sz="1200">
                        <a:solidFill>
                          <a:schemeClr val="dk1"/>
                        </a:solidFill>
                        <a:latin typeface="Roboto"/>
                        <a:ea typeface="Roboto"/>
                        <a:cs typeface="Roboto"/>
                        <a:sym typeface="Roboto"/>
                      </a:endParaRPr>
                    </a:p>
                    <a:p>
                      <a:pPr marL="0" lvl="0" indent="0" algn="ctr" rtl="0">
                        <a:spcBef>
                          <a:spcPts val="0"/>
                        </a:spcBef>
                        <a:spcAft>
                          <a:spcPts val="0"/>
                        </a:spcAft>
                        <a:buNone/>
                      </a:pPr>
                      <a:r>
                        <a:rPr lang="en" sz="600">
                          <a:solidFill>
                            <a:schemeClr val="dk1"/>
                          </a:solidFill>
                          <a:latin typeface="Roboto"/>
                          <a:ea typeface="Roboto"/>
                          <a:cs typeface="Roboto"/>
                          <a:sym typeface="Roboto"/>
                        </a:rPr>
                        <a:t>on average,</a:t>
                      </a:r>
                      <a:endParaRPr sz="600">
                        <a:solidFill>
                          <a:schemeClr val="dk1"/>
                        </a:solidFill>
                        <a:latin typeface="Roboto"/>
                        <a:ea typeface="Roboto"/>
                        <a:cs typeface="Roboto"/>
                        <a:sym typeface="Roboto"/>
                      </a:endParaRPr>
                    </a:p>
                    <a:p>
                      <a:pPr marL="0" lvl="0" indent="0" algn="ctr" rtl="0">
                        <a:spcBef>
                          <a:spcPts val="0"/>
                        </a:spcBef>
                        <a:spcAft>
                          <a:spcPts val="0"/>
                        </a:spcAft>
                        <a:buNone/>
                      </a:pPr>
                      <a:r>
                        <a:rPr lang="en" sz="600">
                          <a:solidFill>
                            <a:schemeClr val="dk1"/>
                          </a:solidFill>
                          <a:latin typeface="Roboto"/>
                          <a:ea typeface="Roboto"/>
                          <a:cs typeface="Roboto"/>
                          <a:sym typeface="Roboto"/>
                        </a:rPr>
                        <a:t>assuming even spread</a:t>
                      </a:r>
                      <a:endParaRPr sz="600">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1200">
                          <a:latin typeface="Roboto"/>
                          <a:ea typeface="Roboto"/>
                          <a:cs typeface="Roboto"/>
                          <a:sym typeface="Roboto"/>
                        </a:rPr>
                        <a:t>data indexed array</a:t>
                      </a:r>
                      <a:endParaRPr sz="1200">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None/>
                      </a:pPr>
                      <a:r>
                        <a:rPr lang="en" sz="1200">
                          <a:latin typeface="Roboto"/>
                          <a:ea typeface="Roboto"/>
                          <a:cs typeface="Roboto"/>
                          <a:sym typeface="Roboto"/>
                        </a:rPr>
                        <a:t>chars</a:t>
                      </a:r>
                      <a:endParaRPr sz="1200">
                        <a:solidFill>
                          <a:srgbClr val="000000"/>
                        </a:solidFill>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Θ(1)</a:t>
                      </a:r>
                      <a:endParaRPr sz="1200">
                        <a:solidFill>
                          <a:schemeClr val="dk1"/>
                        </a:solidFill>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Θ(1)</a:t>
                      </a:r>
                      <a:endParaRPr sz="1200">
                        <a:solidFill>
                          <a:schemeClr val="dk1"/>
                        </a:solidFill>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Special Case 2: String Keyed Map</a:t>
            </a:r>
            <a:endParaRPr/>
          </a:p>
        </p:txBody>
      </p:sp>
      <p:sp>
        <p:nvSpPr>
          <p:cNvPr id="231" name="Google Shape;231;p29"/>
          <p:cNvSpPr txBox="1">
            <a:spLocks noGrp="1"/>
          </p:cNvSpPr>
          <p:nvPr>
            <p:ph type="body" idx="1"/>
          </p:nvPr>
        </p:nvSpPr>
        <p:spPr>
          <a:xfrm>
            <a:off x="90600" y="404100"/>
            <a:ext cx="4173600" cy="3977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Suppose we know that our keys are always strings.</a:t>
            </a:r>
            <a:endParaRPr/>
          </a:p>
          <a:p>
            <a:pPr marL="457200" lvl="0" indent="-342900" algn="l" rtl="0">
              <a:spcBef>
                <a:spcPts val="600"/>
              </a:spcBef>
              <a:spcAft>
                <a:spcPts val="0"/>
              </a:spcAft>
              <a:buSzPts val="1800"/>
              <a:buChar char="●"/>
            </a:pPr>
            <a:r>
              <a:rPr lang="en"/>
              <a:t>Can use a special data structure known as a Trie.</a:t>
            </a:r>
            <a:endParaRPr/>
          </a:p>
          <a:p>
            <a:pPr marL="457200" lvl="0" indent="-342900" algn="l" rtl="0">
              <a:spcBef>
                <a:spcPts val="600"/>
              </a:spcBef>
              <a:spcAft>
                <a:spcPts val="0"/>
              </a:spcAft>
              <a:buSzPts val="1800"/>
              <a:buChar char="●"/>
            </a:pPr>
            <a:r>
              <a:rPr lang="en"/>
              <a:t>Basic idea: Store each letter of the string as a node in a tree.</a:t>
            </a:r>
            <a:endParaRPr/>
          </a:p>
          <a:p>
            <a:pPr marL="0" lvl="0" indent="0" algn="l" rtl="0">
              <a:spcBef>
                <a:spcPts val="600"/>
              </a:spcBef>
              <a:spcAft>
                <a:spcPts val="0"/>
              </a:spcAft>
              <a:buNone/>
            </a:pPr>
            <a:endParaRPr/>
          </a:p>
          <a:p>
            <a:pPr marL="0" lvl="0" indent="0" algn="l" rtl="0">
              <a:spcBef>
                <a:spcPts val="600"/>
              </a:spcBef>
              <a:spcAft>
                <a:spcPts val="0"/>
              </a:spcAft>
              <a:buNone/>
            </a:pPr>
            <a:r>
              <a:rPr lang="en"/>
              <a:t>Tries will have great performance on:</a:t>
            </a:r>
            <a:endParaRPr/>
          </a:p>
          <a:p>
            <a:pPr marL="457200" lvl="0" indent="-342900" algn="l" rtl="0">
              <a:spcBef>
                <a:spcPts val="600"/>
              </a:spcBef>
              <a:spcAft>
                <a:spcPts val="0"/>
              </a:spcAft>
              <a:buSzPts val="1800"/>
              <a:buChar char="●"/>
            </a:pPr>
            <a:r>
              <a:rPr lang="en"/>
              <a:t>get</a:t>
            </a:r>
            <a:endParaRPr/>
          </a:p>
          <a:p>
            <a:pPr marL="457200" lvl="0" indent="-342900" algn="l" rtl="0">
              <a:spcBef>
                <a:spcPts val="600"/>
              </a:spcBef>
              <a:spcAft>
                <a:spcPts val="0"/>
              </a:spcAft>
              <a:buSzPts val="1800"/>
              <a:buChar char="●"/>
            </a:pPr>
            <a:r>
              <a:rPr lang="en"/>
              <a:t>add</a:t>
            </a:r>
            <a:endParaRPr/>
          </a:p>
          <a:p>
            <a:pPr marL="457200" lvl="0" indent="-342900" algn="l" rtl="0">
              <a:spcBef>
                <a:spcPts val="600"/>
              </a:spcBef>
              <a:spcAft>
                <a:spcPts val="0"/>
              </a:spcAft>
              <a:buSzPts val="1800"/>
              <a:buChar char="●"/>
            </a:pPr>
            <a:r>
              <a:rPr lang="en"/>
              <a:t>special string operations</a:t>
            </a:r>
            <a:br>
              <a:rPr lang="en"/>
            </a:br>
            <a:endParaRPr/>
          </a:p>
        </p:txBody>
      </p:sp>
      <p:graphicFrame>
        <p:nvGraphicFramePr>
          <p:cNvPr id="232" name="Google Shape;232;p29"/>
          <p:cNvGraphicFramePr/>
          <p:nvPr/>
        </p:nvGraphicFramePr>
        <p:xfrm>
          <a:off x="4406525" y="917150"/>
          <a:ext cx="4663750" cy="2087810"/>
        </p:xfrm>
        <a:graphic>
          <a:graphicData uri="http://schemas.openxmlformats.org/drawingml/2006/table">
            <a:tbl>
              <a:tblPr>
                <a:noFill/>
                <a:tableStyleId>{BC467F25-A352-40E9-8C40-E7B4C2D9D289}</a:tableStyleId>
              </a:tblPr>
              <a:tblGrid>
                <a:gridCol w="1598500">
                  <a:extLst>
                    <a:ext uri="{9D8B030D-6E8A-4147-A177-3AD203B41FA5}">
                      <a16:colId xmlns:a16="http://schemas.microsoft.com/office/drawing/2014/main" val="20000"/>
                    </a:ext>
                  </a:extLst>
                </a:gridCol>
                <a:gridCol w="1017950">
                  <a:extLst>
                    <a:ext uri="{9D8B030D-6E8A-4147-A177-3AD203B41FA5}">
                      <a16:colId xmlns:a16="http://schemas.microsoft.com/office/drawing/2014/main" val="20001"/>
                    </a:ext>
                  </a:extLst>
                </a:gridCol>
                <a:gridCol w="1075525">
                  <a:extLst>
                    <a:ext uri="{9D8B030D-6E8A-4147-A177-3AD203B41FA5}">
                      <a16:colId xmlns:a16="http://schemas.microsoft.com/office/drawing/2014/main" val="20002"/>
                    </a:ext>
                  </a:extLst>
                </a:gridCol>
                <a:gridCol w="971775">
                  <a:extLst>
                    <a:ext uri="{9D8B030D-6E8A-4147-A177-3AD203B41FA5}">
                      <a16:colId xmlns:a16="http://schemas.microsoft.com/office/drawing/2014/main" val="20003"/>
                    </a:ext>
                  </a:extLst>
                </a:gridCol>
              </a:tblGrid>
              <a:tr h="396200">
                <a:tc>
                  <a:txBody>
                    <a:bodyPr/>
                    <a:lstStyle/>
                    <a:p>
                      <a:pPr marL="0" lvl="0" indent="0" algn="l" rtl="0">
                        <a:spcBef>
                          <a:spcPts val="0"/>
                        </a:spcBef>
                        <a:spcAft>
                          <a:spcPts val="0"/>
                        </a:spcAft>
                        <a:buNone/>
                      </a:pPr>
                      <a:endParaRPr sz="1200">
                        <a:latin typeface="Roboto"/>
                        <a:ea typeface="Roboto"/>
                        <a:cs typeface="Roboto"/>
                        <a:sym typeface="Roboto"/>
                      </a:endParaRPr>
                    </a:p>
                  </a:txBody>
                  <a:tcPr marL="91425" marR="91425" marT="91425" marB="91425">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latin typeface="Roboto"/>
                          <a:ea typeface="Roboto"/>
                          <a:cs typeface="Roboto"/>
                          <a:sym typeface="Roboto"/>
                        </a:rPr>
                        <a:t>key type</a:t>
                      </a:r>
                      <a:endParaRPr sz="1200">
                        <a:latin typeface="Roboto"/>
                        <a:ea typeface="Roboto"/>
                        <a:cs typeface="Roboto"/>
                        <a:sym typeface="Roboto"/>
                      </a:endParaRPr>
                    </a:p>
                  </a:txBody>
                  <a:tcPr marL="91425" marR="91425" marT="91425" marB="91425">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latin typeface="Roboto"/>
                          <a:ea typeface="Roboto"/>
                          <a:cs typeface="Roboto"/>
                          <a:sym typeface="Roboto"/>
                        </a:rPr>
                        <a:t>get(x)</a:t>
                      </a:r>
                      <a:endParaRPr sz="1200">
                        <a:latin typeface="Roboto"/>
                        <a:ea typeface="Roboto"/>
                        <a:cs typeface="Roboto"/>
                        <a:sym typeface="Roboto"/>
                      </a:endParaRPr>
                    </a:p>
                  </a:txBody>
                  <a:tcPr marL="91425" marR="91425" marT="91425" marB="91425">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latin typeface="Roboto"/>
                          <a:ea typeface="Roboto"/>
                          <a:cs typeface="Roboto"/>
                          <a:sym typeface="Roboto"/>
                        </a:rPr>
                        <a:t>add(x)</a:t>
                      </a:r>
                      <a:endParaRPr sz="1200">
                        <a:latin typeface="Roboto"/>
                        <a:ea typeface="Roboto"/>
                        <a:cs typeface="Roboto"/>
                        <a:sym typeface="Roboto"/>
                      </a:endParaRPr>
                    </a:p>
                  </a:txBody>
                  <a:tcPr marL="91425" marR="91425" marT="91425" marB="91425">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1200">
                          <a:latin typeface="Roboto"/>
                          <a:ea typeface="Roboto"/>
                          <a:cs typeface="Roboto"/>
                          <a:sym typeface="Roboto"/>
                        </a:rPr>
                        <a:t>Balanced BST</a:t>
                      </a:r>
                      <a:endParaRPr sz="1200">
                        <a:latin typeface="Roboto"/>
                        <a:ea typeface="Roboto"/>
                        <a:cs typeface="Roboto"/>
                        <a:sym typeface="Roboto"/>
                      </a:endParaRPr>
                    </a:p>
                  </a:txBody>
                  <a:tcPr marL="91425" marR="91425" marT="91425" marB="91425">
                    <a:lnT w="9525" cap="flat" cmpd="sng">
                      <a:solidFill>
                        <a:srgbClr val="000000"/>
                      </a:solidFill>
                      <a:prstDash val="solid"/>
                      <a:round/>
                      <a:headEnd type="none" w="sm" len="sm"/>
                      <a:tailEnd type="none" w="sm" len="sm"/>
                    </a:lnT>
                    <a:solidFill>
                      <a:srgbClr val="FFFFFF"/>
                    </a:solidFill>
                  </a:tcPr>
                </a:tc>
                <a:tc>
                  <a:txBody>
                    <a:bodyPr/>
                    <a:lstStyle/>
                    <a:p>
                      <a:pPr marL="0" lvl="0" indent="0" algn="ctr" rtl="0">
                        <a:spcBef>
                          <a:spcPts val="0"/>
                        </a:spcBef>
                        <a:spcAft>
                          <a:spcPts val="0"/>
                        </a:spcAft>
                        <a:buNone/>
                      </a:pPr>
                      <a:r>
                        <a:rPr lang="en" sz="1200">
                          <a:latin typeface="Roboto"/>
                          <a:ea typeface="Roboto"/>
                          <a:cs typeface="Roboto"/>
                          <a:sym typeface="Roboto"/>
                        </a:rPr>
                        <a:t>comparable</a:t>
                      </a:r>
                      <a:endParaRPr sz="1200">
                        <a:solidFill>
                          <a:srgbClr val="000000"/>
                        </a:solidFill>
                        <a:latin typeface="Roboto"/>
                        <a:ea typeface="Roboto"/>
                        <a:cs typeface="Roboto"/>
                        <a:sym typeface="Roboto"/>
                      </a:endParaRPr>
                    </a:p>
                  </a:txBody>
                  <a:tcPr marL="91425" marR="91425" marT="91425" marB="91425">
                    <a:lnT w="9525" cap="flat" cmpd="sng">
                      <a:solidFill>
                        <a:srgbClr val="000000"/>
                      </a:solidFill>
                      <a:prstDash val="solid"/>
                      <a:round/>
                      <a:headEnd type="none" w="sm" len="sm"/>
                      <a:tailEnd type="none" w="sm" len="sm"/>
                    </a:lnT>
                    <a:solidFill>
                      <a:srgbClr val="FFFFFF"/>
                    </a:solidFill>
                  </a:tcPr>
                </a:tc>
                <a:tc>
                  <a:txBody>
                    <a:bodyPr/>
                    <a:lstStyle/>
                    <a:p>
                      <a:pPr marL="0" lvl="0" indent="0" algn="ctr" rtl="0">
                        <a:spcBef>
                          <a:spcPts val="0"/>
                        </a:spcBef>
                        <a:spcAft>
                          <a:spcPts val="0"/>
                        </a:spcAft>
                        <a:buNone/>
                      </a:pPr>
                      <a:r>
                        <a:rPr lang="en" sz="1200">
                          <a:solidFill>
                            <a:srgbClr val="000000"/>
                          </a:solidFill>
                          <a:latin typeface="Roboto"/>
                          <a:ea typeface="Roboto"/>
                          <a:cs typeface="Roboto"/>
                          <a:sym typeface="Roboto"/>
                        </a:rPr>
                        <a:t>Θ(log N)</a:t>
                      </a:r>
                      <a:endParaRPr sz="1200">
                        <a:latin typeface="Roboto"/>
                        <a:ea typeface="Roboto"/>
                        <a:cs typeface="Roboto"/>
                        <a:sym typeface="Roboto"/>
                      </a:endParaRPr>
                    </a:p>
                  </a:txBody>
                  <a:tcPr marL="91425" marR="91425" marT="91425" marB="91425">
                    <a:lnT w="9525" cap="flat" cmpd="sng">
                      <a:solidFill>
                        <a:srgbClr val="000000"/>
                      </a:solidFill>
                      <a:prstDash val="solid"/>
                      <a:round/>
                      <a:headEnd type="none" w="sm" len="sm"/>
                      <a:tailEnd type="none" w="sm" len="sm"/>
                    </a:lnT>
                    <a:solidFill>
                      <a:srgbClr val="FFFFFF"/>
                    </a:solidFill>
                  </a:tcPr>
                </a:tc>
                <a:tc>
                  <a:txBody>
                    <a:bodyPr/>
                    <a:lstStyle/>
                    <a:p>
                      <a:pPr marL="0" lvl="0" indent="0" algn="ctr" rtl="0">
                        <a:spcBef>
                          <a:spcPts val="0"/>
                        </a:spcBef>
                        <a:spcAft>
                          <a:spcPts val="0"/>
                        </a:spcAft>
                        <a:buNone/>
                      </a:pPr>
                      <a:r>
                        <a:rPr lang="en" sz="1200">
                          <a:solidFill>
                            <a:srgbClr val="000000"/>
                          </a:solidFill>
                          <a:latin typeface="Roboto"/>
                          <a:ea typeface="Roboto"/>
                          <a:cs typeface="Roboto"/>
                          <a:sym typeface="Roboto"/>
                        </a:rPr>
                        <a:t>Θ(log N)</a:t>
                      </a:r>
                      <a:endParaRPr sz="1200">
                        <a:latin typeface="Roboto"/>
                        <a:ea typeface="Roboto"/>
                        <a:cs typeface="Roboto"/>
                        <a:sym typeface="Roboto"/>
                      </a:endParaRPr>
                    </a:p>
                  </a:txBody>
                  <a:tcPr marL="91425" marR="91425" marT="91425" marB="91425">
                    <a:lnT w="9525" cap="flat" cmpd="sng">
                      <a:solidFill>
                        <a:srgbClr val="000000"/>
                      </a:solidFill>
                      <a:prstDash val="solid"/>
                      <a:round/>
                      <a:headEnd type="none" w="sm" len="sm"/>
                      <a:tailEnd type="none" w="sm" len="sm"/>
                    </a:lnT>
                    <a:solidFill>
                      <a:srgbClr val="FFFFFF"/>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sz="1200">
                          <a:latin typeface="Roboto"/>
                          <a:ea typeface="Roboto"/>
                          <a:cs typeface="Roboto"/>
                          <a:sym typeface="Roboto"/>
                        </a:rPr>
                        <a:t>Resizing Separate Chaining Hash Table</a:t>
                      </a:r>
                      <a:endParaRPr sz="1200">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None/>
                      </a:pPr>
                      <a:r>
                        <a:rPr lang="en" sz="1200">
                          <a:latin typeface="Roboto"/>
                          <a:ea typeface="Roboto"/>
                          <a:cs typeface="Roboto"/>
                          <a:sym typeface="Roboto"/>
                        </a:rPr>
                        <a:t>hashable</a:t>
                      </a:r>
                      <a:endParaRPr sz="1200">
                        <a:solidFill>
                          <a:srgbClr val="000000"/>
                        </a:solidFill>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None/>
                      </a:pPr>
                      <a:r>
                        <a:rPr lang="en" sz="1200">
                          <a:solidFill>
                            <a:schemeClr val="dk1"/>
                          </a:solidFill>
                          <a:latin typeface="Roboto"/>
                          <a:ea typeface="Roboto"/>
                          <a:cs typeface="Roboto"/>
                          <a:sym typeface="Roboto"/>
                        </a:rPr>
                        <a:t>Θ(1)</a:t>
                      </a:r>
                      <a:endParaRPr sz="1200">
                        <a:solidFill>
                          <a:schemeClr val="dk1"/>
                        </a:solidFill>
                        <a:latin typeface="Roboto"/>
                        <a:ea typeface="Roboto"/>
                        <a:cs typeface="Roboto"/>
                        <a:sym typeface="Roboto"/>
                      </a:endParaRPr>
                    </a:p>
                    <a:p>
                      <a:pPr marL="0" lvl="0" indent="0" algn="ctr" rtl="0">
                        <a:spcBef>
                          <a:spcPts val="0"/>
                        </a:spcBef>
                        <a:spcAft>
                          <a:spcPts val="0"/>
                        </a:spcAft>
                        <a:buNone/>
                      </a:pPr>
                      <a:r>
                        <a:rPr lang="en" sz="600">
                          <a:solidFill>
                            <a:schemeClr val="dk1"/>
                          </a:solidFill>
                          <a:latin typeface="Roboto"/>
                          <a:ea typeface="Roboto"/>
                          <a:cs typeface="Roboto"/>
                          <a:sym typeface="Roboto"/>
                        </a:rPr>
                        <a:t>assuming even spread</a:t>
                      </a:r>
                      <a:endParaRPr sz="1000">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None/>
                      </a:pPr>
                      <a:r>
                        <a:rPr lang="en" sz="1200">
                          <a:solidFill>
                            <a:schemeClr val="dk1"/>
                          </a:solidFill>
                          <a:latin typeface="Roboto"/>
                          <a:ea typeface="Roboto"/>
                          <a:cs typeface="Roboto"/>
                          <a:sym typeface="Roboto"/>
                        </a:rPr>
                        <a:t>Θ(1)</a:t>
                      </a:r>
                      <a:endParaRPr sz="1200">
                        <a:solidFill>
                          <a:schemeClr val="dk1"/>
                        </a:solidFill>
                        <a:latin typeface="Roboto"/>
                        <a:ea typeface="Roboto"/>
                        <a:cs typeface="Roboto"/>
                        <a:sym typeface="Roboto"/>
                      </a:endParaRPr>
                    </a:p>
                    <a:p>
                      <a:pPr marL="0" lvl="0" indent="0" algn="ctr" rtl="0">
                        <a:spcBef>
                          <a:spcPts val="0"/>
                        </a:spcBef>
                        <a:spcAft>
                          <a:spcPts val="0"/>
                        </a:spcAft>
                        <a:buNone/>
                      </a:pPr>
                      <a:r>
                        <a:rPr lang="en" sz="600">
                          <a:solidFill>
                            <a:schemeClr val="dk1"/>
                          </a:solidFill>
                          <a:latin typeface="Roboto"/>
                          <a:ea typeface="Roboto"/>
                          <a:cs typeface="Roboto"/>
                          <a:sym typeface="Roboto"/>
                        </a:rPr>
                        <a:t>on average,</a:t>
                      </a:r>
                      <a:endParaRPr sz="600">
                        <a:solidFill>
                          <a:schemeClr val="dk1"/>
                        </a:solidFill>
                        <a:latin typeface="Roboto"/>
                        <a:ea typeface="Roboto"/>
                        <a:cs typeface="Roboto"/>
                        <a:sym typeface="Roboto"/>
                      </a:endParaRPr>
                    </a:p>
                    <a:p>
                      <a:pPr marL="0" lvl="0" indent="0" algn="ctr" rtl="0">
                        <a:spcBef>
                          <a:spcPts val="0"/>
                        </a:spcBef>
                        <a:spcAft>
                          <a:spcPts val="0"/>
                        </a:spcAft>
                        <a:buNone/>
                      </a:pPr>
                      <a:r>
                        <a:rPr lang="en" sz="600">
                          <a:solidFill>
                            <a:schemeClr val="dk1"/>
                          </a:solidFill>
                          <a:latin typeface="Roboto"/>
                          <a:ea typeface="Roboto"/>
                          <a:cs typeface="Roboto"/>
                          <a:sym typeface="Roboto"/>
                        </a:rPr>
                        <a:t>assuming even spread</a:t>
                      </a:r>
                      <a:endParaRPr sz="600">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1200">
                          <a:latin typeface="Roboto"/>
                          <a:ea typeface="Roboto"/>
                          <a:cs typeface="Roboto"/>
                          <a:sym typeface="Roboto"/>
                        </a:rPr>
                        <a:t>data indexed array</a:t>
                      </a:r>
                      <a:endParaRPr sz="1200">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None/>
                      </a:pPr>
                      <a:r>
                        <a:rPr lang="en" sz="1200">
                          <a:latin typeface="Roboto"/>
                          <a:ea typeface="Roboto"/>
                          <a:cs typeface="Roboto"/>
                          <a:sym typeface="Roboto"/>
                        </a:rPr>
                        <a:t>chars</a:t>
                      </a:r>
                      <a:endParaRPr sz="1200">
                        <a:solidFill>
                          <a:srgbClr val="000000"/>
                        </a:solidFill>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None/>
                      </a:pPr>
                      <a:r>
                        <a:rPr lang="en" sz="1200">
                          <a:solidFill>
                            <a:schemeClr val="dk1"/>
                          </a:solidFill>
                          <a:latin typeface="Roboto"/>
                          <a:ea typeface="Roboto"/>
                          <a:cs typeface="Roboto"/>
                          <a:sym typeface="Roboto"/>
                        </a:rPr>
                        <a:t>Θ(1)</a:t>
                      </a:r>
                      <a:endParaRPr sz="1200">
                        <a:solidFill>
                          <a:schemeClr val="dk1"/>
                        </a:solidFill>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None/>
                      </a:pPr>
                      <a:r>
                        <a:rPr lang="en" sz="1200">
                          <a:solidFill>
                            <a:schemeClr val="dk1"/>
                          </a:solidFill>
                          <a:latin typeface="Roboto"/>
                          <a:ea typeface="Roboto"/>
                          <a:cs typeface="Roboto"/>
                          <a:sym typeface="Roboto"/>
                        </a:rPr>
                        <a:t>Θ(1)</a:t>
                      </a:r>
                      <a:endParaRPr sz="1200">
                        <a:solidFill>
                          <a:schemeClr val="dk1"/>
                        </a:solidFill>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sz="1200">
                          <a:latin typeface="Roboto"/>
                          <a:ea typeface="Roboto"/>
                          <a:cs typeface="Roboto"/>
                          <a:sym typeface="Roboto"/>
                        </a:rPr>
                        <a:t>Tries</a:t>
                      </a:r>
                      <a:endParaRPr sz="1200">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None/>
                      </a:pPr>
                      <a:r>
                        <a:rPr lang="en" sz="1200">
                          <a:latin typeface="Roboto"/>
                          <a:ea typeface="Roboto"/>
                          <a:cs typeface="Roboto"/>
                          <a:sym typeface="Roboto"/>
                        </a:rPr>
                        <a:t>Strings</a:t>
                      </a:r>
                      <a:endParaRPr sz="1200">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None/>
                      </a:pPr>
                      <a:r>
                        <a:rPr lang="en" sz="1200">
                          <a:solidFill>
                            <a:schemeClr val="dk1"/>
                          </a:solidFill>
                          <a:latin typeface="Roboto"/>
                          <a:ea typeface="Roboto"/>
                          <a:cs typeface="Roboto"/>
                          <a:sym typeface="Roboto"/>
                        </a:rPr>
                        <a:t>?</a:t>
                      </a:r>
                      <a:endParaRPr sz="1200">
                        <a:solidFill>
                          <a:schemeClr val="dk1"/>
                        </a:solidFill>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None/>
                      </a:pPr>
                      <a:r>
                        <a:rPr lang="en" sz="1200">
                          <a:solidFill>
                            <a:schemeClr val="dk1"/>
                          </a:solidFill>
                          <a:latin typeface="Roboto"/>
                          <a:ea typeface="Roboto"/>
                          <a:cs typeface="Roboto"/>
                          <a:sym typeface="Roboto"/>
                        </a:rPr>
                        <a:t>?</a:t>
                      </a:r>
                      <a:endParaRPr sz="1200">
                        <a:solidFill>
                          <a:schemeClr val="dk1"/>
                        </a:solidFill>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Sets of Strings</a:t>
            </a:r>
            <a:endParaRPr/>
          </a:p>
        </p:txBody>
      </p:sp>
      <p:sp>
        <p:nvSpPr>
          <p:cNvPr id="238" name="Google Shape;238;p30"/>
          <p:cNvSpPr txBox="1">
            <a:spLocks noGrp="1"/>
          </p:cNvSpPr>
          <p:nvPr>
            <p:ph type="body" idx="1"/>
          </p:nvPr>
        </p:nvSpPr>
        <p:spPr>
          <a:xfrm>
            <a:off x="90600" y="404100"/>
            <a:ext cx="8443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Suppose we have a set containing “sam”, “sad”, “sap”, “same”, “a”, and “awls”.</a:t>
            </a:r>
            <a:endParaRPr/>
          </a:p>
          <a:p>
            <a:pPr marL="457200" lvl="0" indent="-342900" algn="l" rtl="0">
              <a:spcBef>
                <a:spcPts val="600"/>
              </a:spcBef>
              <a:spcAft>
                <a:spcPts val="0"/>
              </a:spcAft>
              <a:buSzPts val="1800"/>
              <a:buChar char="●"/>
            </a:pPr>
            <a:r>
              <a:rPr lang="en"/>
              <a:t>Below, we see the BST and Hash Table representation.</a:t>
            </a:r>
            <a:endParaRPr/>
          </a:p>
          <a:p>
            <a:pPr marL="0" lvl="0" indent="0" algn="l" rtl="0">
              <a:spcBef>
                <a:spcPts val="600"/>
              </a:spcBef>
              <a:spcAft>
                <a:spcPts val="0"/>
              </a:spcAft>
              <a:buNone/>
            </a:pPr>
            <a:endParaRPr/>
          </a:p>
        </p:txBody>
      </p:sp>
      <p:sp>
        <p:nvSpPr>
          <p:cNvPr id="239" name="Google Shape;239;p30"/>
          <p:cNvSpPr/>
          <p:nvPr/>
        </p:nvSpPr>
        <p:spPr>
          <a:xfrm>
            <a:off x="1196501" y="2064250"/>
            <a:ext cx="767100" cy="432900"/>
          </a:xfrm>
          <a:prstGeom prst="rect">
            <a:avLst/>
          </a:prstGeom>
          <a:solidFill>
            <a:srgbClr val="D9EAD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sad</a:t>
            </a:r>
            <a:endParaRPr/>
          </a:p>
        </p:txBody>
      </p:sp>
      <p:sp>
        <p:nvSpPr>
          <p:cNvPr id="240" name="Google Shape;240;p30"/>
          <p:cNvSpPr/>
          <p:nvPr/>
        </p:nvSpPr>
        <p:spPr>
          <a:xfrm>
            <a:off x="1791263" y="2852400"/>
            <a:ext cx="767100" cy="432900"/>
          </a:xfrm>
          <a:prstGeom prst="rect">
            <a:avLst/>
          </a:prstGeom>
          <a:solidFill>
            <a:srgbClr val="D9EAD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same</a:t>
            </a:r>
            <a:endParaRPr/>
          </a:p>
        </p:txBody>
      </p:sp>
      <p:sp>
        <p:nvSpPr>
          <p:cNvPr id="241" name="Google Shape;241;p30"/>
          <p:cNvSpPr/>
          <p:nvPr/>
        </p:nvSpPr>
        <p:spPr>
          <a:xfrm>
            <a:off x="2280651" y="3600950"/>
            <a:ext cx="767100" cy="432900"/>
          </a:xfrm>
          <a:prstGeom prst="rect">
            <a:avLst/>
          </a:prstGeom>
          <a:solidFill>
            <a:srgbClr val="D9EAD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sap</a:t>
            </a:r>
            <a:endParaRPr/>
          </a:p>
        </p:txBody>
      </p:sp>
      <p:cxnSp>
        <p:nvCxnSpPr>
          <p:cNvPr id="242" name="Google Shape;242;p30"/>
          <p:cNvCxnSpPr>
            <a:stCxn id="239" idx="2"/>
            <a:endCxn id="240" idx="0"/>
          </p:cNvCxnSpPr>
          <p:nvPr/>
        </p:nvCxnSpPr>
        <p:spPr>
          <a:xfrm>
            <a:off x="1580051" y="2497150"/>
            <a:ext cx="594900" cy="355200"/>
          </a:xfrm>
          <a:prstGeom prst="straightConnector1">
            <a:avLst/>
          </a:prstGeom>
          <a:noFill/>
          <a:ln w="19050" cap="flat" cmpd="sng">
            <a:solidFill>
              <a:schemeClr val="dk2"/>
            </a:solidFill>
            <a:prstDash val="solid"/>
            <a:round/>
            <a:headEnd type="none" w="med" len="med"/>
            <a:tailEnd type="none" w="med" len="med"/>
          </a:ln>
        </p:spPr>
      </p:cxnSp>
      <p:cxnSp>
        <p:nvCxnSpPr>
          <p:cNvPr id="243" name="Google Shape;243;p30"/>
          <p:cNvCxnSpPr>
            <a:stCxn id="240" idx="2"/>
            <a:endCxn id="241" idx="0"/>
          </p:cNvCxnSpPr>
          <p:nvPr/>
        </p:nvCxnSpPr>
        <p:spPr>
          <a:xfrm>
            <a:off x="2174813" y="3285300"/>
            <a:ext cx="489300" cy="315600"/>
          </a:xfrm>
          <a:prstGeom prst="straightConnector1">
            <a:avLst/>
          </a:prstGeom>
          <a:noFill/>
          <a:ln w="19050" cap="flat" cmpd="sng">
            <a:solidFill>
              <a:schemeClr val="dk2"/>
            </a:solidFill>
            <a:prstDash val="solid"/>
            <a:round/>
            <a:headEnd type="none" w="med" len="med"/>
            <a:tailEnd type="none" w="med" len="med"/>
          </a:ln>
        </p:spPr>
      </p:cxnSp>
      <p:sp>
        <p:nvSpPr>
          <p:cNvPr id="244" name="Google Shape;244;p30"/>
          <p:cNvSpPr/>
          <p:nvPr/>
        </p:nvSpPr>
        <p:spPr>
          <a:xfrm>
            <a:off x="502836" y="2852400"/>
            <a:ext cx="767100" cy="432900"/>
          </a:xfrm>
          <a:prstGeom prst="rect">
            <a:avLst/>
          </a:prstGeom>
          <a:solidFill>
            <a:srgbClr val="D9EAD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awls</a:t>
            </a:r>
            <a:endParaRPr/>
          </a:p>
        </p:txBody>
      </p:sp>
      <p:sp>
        <p:nvSpPr>
          <p:cNvPr id="245" name="Google Shape;245;p30"/>
          <p:cNvSpPr/>
          <p:nvPr/>
        </p:nvSpPr>
        <p:spPr>
          <a:xfrm>
            <a:off x="119325" y="3600950"/>
            <a:ext cx="767100" cy="432900"/>
          </a:xfrm>
          <a:prstGeom prst="rect">
            <a:avLst/>
          </a:prstGeom>
          <a:solidFill>
            <a:srgbClr val="D9EAD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a:t>
            </a:r>
            <a:endParaRPr/>
          </a:p>
        </p:txBody>
      </p:sp>
      <p:cxnSp>
        <p:nvCxnSpPr>
          <p:cNvPr id="246" name="Google Shape;246;p30"/>
          <p:cNvCxnSpPr>
            <a:stCxn id="239" idx="2"/>
            <a:endCxn id="244" idx="0"/>
          </p:cNvCxnSpPr>
          <p:nvPr/>
        </p:nvCxnSpPr>
        <p:spPr>
          <a:xfrm flipH="1">
            <a:off x="886451" y="2497150"/>
            <a:ext cx="693600" cy="355200"/>
          </a:xfrm>
          <a:prstGeom prst="straightConnector1">
            <a:avLst/>
          </a:prstGeom>
          <a:noFill/>
          <a:ln w="19050" cap="flat" cmpd="sng">
            <a:solidFill>
              <a:schemeClr val="dk2"/>
            </a:solidFill>
            <a:prstDash val="solid"/>
            <a:round/>
            <a:headEnd type="none" w="med" len="med"/>
            <a:tailEnd type="none" w="med" len="med"/>
          </a:ln>
        </p:spPr>
      </p:cxnSp>
      <p:cxnSp>
        <p:nvCxnSpPr>
          <p:cNvPr id="247" name="Google Shape;247;p30"/>
          <p:cNvCxnSpPr>
            <a:stCxn id="244" idx="2"/>
            <a:endCxn id="245" idx="0"/>
          </p:cNvCxnSpPr>
          <p:nvPr/>
        </p:nvCxnSpPr>
        <p:spPr>
          <a:xfrm flipH="1">
            <a:off x="502986" y="3285300"/>
            <a:ext cx="383400" cy="315600"/>
          </a:xfrm>
          <a:prstGeom prst="straightConnector1">
            <a:avLst/>
          </a:prstGeom>
          <a:noFill/>
          <a:ln w="19050" cap="flat" cmpd="sng">
            <a:solidFill>
              <a:schemeClr val="dk2"/>
            </a:solidFill>
            <a:prstDash val="solid"/>
            <a:round/>
            <a:headEnd type="none" w="med" len="med"/>
            <a:tailEnd type="none" w="med" len="med"/>
          </a:ln>
        </p:spPr>
      </p:cxnSp>
      <p:sp>
        <p:nvSpPr>
          <p:cNvPr id="248" name="Google Shape;248;p30"/>
          <p:cNvSpPr/>
          <p:nvPr/>
        </p:nvSpPr>
        <p:spPr>
          <a:xfrm>
            <a:off x="3614488" y="3033268"/>
            <a:ext cx="493200" cy="45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nsolas"/>
              <a:ea typeface="Consolas"/>
              <a:cs typeface="Consolas"/>
              <a:sym typeface="Consolas"/>
            </a:endParaRPr>
          </a:p>
        </p:txBody>
      </p:sp>
      <p:sp>
        <p:nvSpPr>
          <p:cNvPr id="249" name="Google Shape;249;p30"/>
          <p:cNvSpPr/>
          <p:nvPr/>
        </p:nvSpPr>
        <p:spPr>
          <a:xfrm>
            <a:off x="3614488" y="3481701"/>
            <a:ext cx="493200" cy="45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nsolas"/>
              <a:ea typeface="Consolas"/>
              <a:cs typeface="Consolas"/>
              <a:sym typeface="Consolas"/>
            </a:endParaRPr>
          </a:p>
        </p:txBody>
      </p:sp>
      <p:sp>
        <p:nvSpPr>
          <p:cNvPr id="250" name="Google Shape;250;p30"/>
          <p:cNvSpPr/>
          <p:nvPr/>
        </p:nvSpPr>
        <p:spPr>
          <a:xfrm>
            <a:off x="3614488" y="2588884"/>
            <a:ext cx="493200" cy="45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nsolas"/>
              <a:ea typeface="Consolas"/>
              <a:cs typeface="Consolas"/>
              <a:sym typeface="Consolas"/>
            </a:endParaRPr>
          </a:p>
        </p:txBody>
      </p:sp>
      <p:sp>
        <p:nvSpPr>
          <p:cNvPr id="251" name="Google Shape;251;p30"/>
          <p:cNvSpPr txBox="1"/>
          <p:nvPr/>
        </p:nvSpPr>
        <p:spPr>
          <a:xfrm>
            <a:off x="3342663" y="2153827"/>
            <a:ext cx="288300" cy="1782300"/>
          </a:xfrm>
          <a:prstGeom prst="rect">
            <a:avLst/>
          </a:prstGeom>
          <a:noFill/>
          <a:ln>
            <a:noFill/>
          </a:ln>
        </p:spPr>
        <p:txBody>
          <a:bodyPr spcFirstLastPara="1" wrap="square" lIns="91425" tIns="91425" rIns="91425" bIns="91425" anchor="t" anchorCtr="0">
            <a:noAutofit/>
          </a:bodyPr>
          <a:lstStyle/>
          <a:p>
            <a:pPr marL="0" lvl="0" indent="0" algn="r" rtl="0">
              <a:lnSpc>
                <a:spcPct val="200000"/>
              </a:lnSpc>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marL="0" lvl="0" indent="0" algn="r" rtl="0">
              <a:lnSpc>
                <a:spcPct val="200000"/>
              </a:lnSpc>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marL="0" lvl="0" indent="0" algn="r" rtl="0">
              <a:lnSpc>
                <a:spcPct val="200000"/>
              </a:lnSpc>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marL="0" lvl="0" indent="0" algn="r" rtl="0">
              <a:lnSpc>
                <a:spcPct val="200000"/>
              </a:lnSpc>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p:txBody>
      </p:sp>
      <p:sp>
        <p:nvSpPr>
          <p:cNvPr id="252" name="Google Shape;252;p30"/>
          <p:cNvSpPr/>
          <p:nvPr/>
        </p:nvSpPr>
        <p:spPr>
          <a:xfrm>
            <a:off x="3614488" y="2140450"/>
            <a:ext cx="493200" cy="45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nsolas"/>
              <a:ea typeface="Consolas"/>
              <a:cs typeface="Consolas"/>
              <a:sym typeface="Consolas"/>
            </a:endParaRPr>
          </a:p>
        </p:txBody>
      </p:sp>
      <p:cxnSp>
        <p:nvCxnSpPr>
          <p:cNvPr id="253" name="Google Shape;253;p30"/>
          <p:cNvCxnSpPr/>
          <p:nvPr/>
        </p:nvCxnSpPr>
        <p:spPr>
          <a:xfrm>
            <a:off x="3852389" y="2363795"/>
            <a:ext cx="568800" cy="0"/>
          </a:xfrm>
          <a:prstGeom prst="straightConnector1">
            <a:avLst/>
          </a:prstGeom>
          <a:noFill/>
          <a:ln w="19050" cap="flat" cmpd="sng">
            <a:solidFill>
              <a:srgbClr val="666666"/>
            </a:solidFill>
            <a:prstDash val="solid"/>
            <a:round/>
            <a:headEnd type="none" w="med" len="med"/>
            <a:tailEnd type="triangle" w="med" len="med"/>
          </a:ln>
        </p:spPr>
      </p:cxnSp>
      <p:cxnSp>
        <p:nvCxnSpPr>
          <p:cNvPr id="254" name="Google Shape;254;p30"/>
          <p:cNvCxnSpPr/>
          <p:nvPr/>
        </p:nvCxnSpPr>
        <p:spPr>
          <a:xfrm>
            <a:off x="3864263" y="2839575"/>
            <a:ext cx="559200" cy="0"/>
          </a:xfrm>
          <a:prstGeom prst="straightConnector1">
            <a:avLst/>
          </a:prstGeom>
          <a:noFill/>
          <a:ln w="19050" cap="flat" cmpd="sng">
            <a:solidFill>
              <a:srgbClr val="666666"/>
            </a:solidFill>
            <a:prstDash val="solid"/>
            <a:round/>
            <a:headEnd type="none" w="med" len="med"/>
            <a:tailEnd type="triangle" w="med" len="med"/>
          </a:ln>
        </p:spPr>
      </p:cxnSp>
      <p:cxnSp>
        <p:nvCxnSpPr>
          <p:cNvPr id="255" name="Google Shape;255;p30"/>
          <p:cNvCxnSpPr/>
          <p:nvPr/>
        </p:nvCxnSpPr>
        <p:spPr>
          <a:xfrm>
            <a:off x="3887650" y="3710186"/>
            <a:ext cx="535800" cy="0"/>
          </a:xfrm>
          <a:prstGeom prst="straightConnector1">
            <a:avLst/>
          </a:prstGeom>
          <a:noFill/>
          <a:ln w="19050" cap="flat" cmpd="sng">
            <a:solidFill>
              <a:srgbClr val="666666"/>
            </a:solidFill>
            <a:prstDash val="solid"/>
            <a:round/>
            <a:headEnd type="none" w="med" len="med"/>
            <a:tailEnd type="triangle" w="med" len="med"/>
          </a:ln>
        </p:spPr>
      </p:cxnSp>
      <p:cxnSp>
        <p:nvCxnSpPr>
          <p:cNvPr id="256" name="Google Shape;256;p30"/>
          <p:cNvCxnSpPr/>
          <p:nvPr/>
        </p:nvCxnSpPr>
        <p:spPr>
          <a:xfrm>
            <a:off x="3871084" y="3283132"/>
            <a:ext cx="559200" cy="0"/>
          </a:xfrm>
          <a:prstGeom prst="straightConnector1">
            <a:avLst/>
          </a:prstGeom>
          <a:noFill/>
          <a:ln w="19050" cap="flat" cmpd="sng">
            <a:solidFill>
              <a:srgbClr val="666666"/>
            </a:solidFill>
            <a:prstDash val="solid"/>
            <a:round/>
            <a:headEnd type="none" w="med" len="med"/>
            <a:tailEnd type="triangle" w="med" len="med"/>
          </a:ln>
        </p:spPr>
      </p:cxnSp>
      <p:sp>
        <p:nvSpPr>
          <p:cNvPr id="257" name="Google Shape;257;p30"/>
          <p:cNvSpPr txBox="1"/>
          <p:nvPr/>
        </p:nvSpPr>
        <p:spPr>
          <a:xfrm>
            <a:off x="4496310" y="2140450"/>
            <a:ext cx="679800" cy="28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latin typeface="Consolas"/>
                <a:ea typeface="Consolas"/>
                <a:cs typeface="Consolas"/>
                <a:sym typeface="Consolas"/>
              </a:rPr>
              <a:t>sad</a:t>
            </a:r>
            <a:endParaRPr sz="1500">
              <a:latin typeface="Consolas"/>
              <a:ea typeface="Consolas"/>
              <a:cs typeface="Consolas"/>
              <a:sym typeface="Consolas"/>
            </a:endParaRPr>
          </a:p>
        </p:txBody>
      </p:sp>
      <p:sp>
        <p:nvSpPr>
          <p:cNvPr id="258" name="Google Shape;258;p30"/>
          <p:cNvSpPr txBox="1"/>
          <p:nvPr/>
        </p:nvSpPr>
        <p:spPr>
          <a:xfrm>
            <a:off x="4509952" y="2618125"/>
            <a:ext cx="633600" cy="28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latin typeface="Consolas"/>
                <a:ea typeface="Consolas"/>
                <a:cs typeface="Consolas"/>
                <a:sym typeface="Consolas"/>
              </a:rPr>
              <a:t>awls</a:t>
            </a:r>
            <a:endParaRPr sz="1500">
              <a:latin typeface="Consolas"/>
              <a:ea typeface="Consolas"/>
              <a:cs typeface="Consolas"/>
              <a:sym typeface="Consolas"/>
            </a:endParaRPr>
          </a:p>
        </p:txBody>
      </p:sp>
      <p:sp>
        <p:nvSpPr>
          <p:cNvPr id="259" name="Google Shape;259;p30"/>
          <p:cNvSpPr txBox="1"/>
          <p:nvPr/>
        </p:nvSpPr>
        <p:spPr>
          <a:xfrm>
            <a:off x="4523583" y="3075325"/>
            <a:ext cx="535800" cy="28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latin typeface="Consolas"/>
                <a:ea typeface="Consolas"/>
                <a:cs typeface="Consolas"/>
                <a:sym typeface="Consolas"/>
              </a:rPr>
              <a:t>a</a:t>
            </a:r>
            <a:endParaRPr sz="1500">
              <a:latin typeface="Consolas"/>
              <a:ea typeface="Consolas"/>
              <a:cs typeface="Consolas"/>
              <a:sym typeface="Consolas"/>
            </a:endParaRPr>
          </a:p>
        </p:txBody>
      </p:sp>
      <p:sp>
        <p:nvSpPr>
          <p:cNvPr id="260" name="Google Shape;260;p30"/>
          <p:cNvSpPr txBox="1"/>
          <p:nvPr/>
        </p:nvSpPr>
        <p:spPr>
          <a:xfrm>
            <a:off x="4523573" y="3532525"/>
            <a:ext cx="679800" cy="28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latin typeface="Consolas"/>
                <a:ea typeface="Consolas"/>
                <a:cs typeface="Consolas"/>
                <a:sym typeface="Consolas"/>
              </a:rPr>
              <a:t>same</a:t>
            </a:r>
            <a:endParaRPr sz="1500">
              <a:latin typeface="Consolas"/>
              <a:ea typeface="Consolas"/>
              <a:cs typeface="Consolas"/>
              <a:sym typeface="Consolas"/>
            </a:endParaRPr>
          </a:p>
        </p:txBody>
      </p:sp>
      <p:sp>
        <p:nvSpPr>
          <p:cNvPr id="261" name="Google Shape;261;p30"/>
          <p:cNvSpPr txBox="1"/>
          <p:nvPr/>
        </p:nvSpPr>
        <p:spPr>
          <a:xfrm>
            <a:off x="5693870" y="3075325"/>
            <a:ext cx="535800" cy="28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latin typeface="Consolas"/>
                <a:ea typeface="Consolas"/>
                <a:cs typeface="Consolas"/>
                <a:sym typeface="Consolas"/>
              </a:rPr>
              <a:t>sap</a:t>
            </a:r>
            <a:endParaRPr sz="1500">
              <a:latin typeface="Consolas"/>
              <a:ea typeface="Consolas"/>
              <a:cs typeface="Consolas"/>
              <a:sym typeface="Consolas"/>
            </a:endParaRPr>
          </a:p>
        </p:txBody>
      </p:sp>
      <p:cxnSp>
        <p:nvCxnSpPr>
          <p:cNvPr id="262" name="Google Shape;262;p30"/>
          <p:cNvCxnSpPr/>
          <p:nvPr/>
        </p:nvCxnSpPr>
        <p:spPr>
          <a:xfrm>
            <a:off x="5014084" y="3283132"/>
            <a:ext cx="559200" cy="0"/>
          </a:xfrm>
          <a:prstGeom prst="straightConnector1">
            <a:avLst/>
          </a:prstGeom>
          <a:noFill/>
          <a:ln w="19050" cap="flat" cmpd="sng">
            <a:solidFill>
              <a:srgbClr val="666666"/>
            </a:solidFill>
            <a:prstDash val="solid"/>
            <a:round/>
            <a:headEnd type="none" w="med" len="med"/>
            <a:tailEnd type="triangle" w="med" len="med"/>
          </a:ln>
        </p:spPr>
      </p:cxnSp>
      <p:sp>
        <p:nvSpPr>
          <p:cNvPr id="263" name="Google Shape;263;p30"/>
          <p:cNvSpPr/>
          <p:nvPr/>
        </p:nvSpPr>
        <p:spPr>
          <a:xfrm>
            <a:off x="1297786" y="3600950"/>
            <a:ext cx="767100" cy="432900"/>
          </a:xfrm>
          <a:prstGeom prst="rect">
            <a:avLst/>
          </a:prstGeom>
          <a:solidFill>
            <a:srgbClr val="D9EAD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sam</a:t>
            </a:r>
            <a:endParaRPr/>
          </a:p>
        </p:txBody>
      </p:sp>
      <p:cxnSp>
        <p:nvCxnSpPr>
          <p:cNvPr id="264" name="Google Shape;264;p30"/>
          <p:cNvCxnSpPr>
            <a:stCxn id="240" idx="2"/>
            <a:endCxn id="263" idx="0"/>
          </p:cNvCxnSpPr>
          <p:nvPr/>
        </p:nvCxnSpPr>
        <p:spPr>
          <a:xfrm flipH="1">
            <a:off x="1681313" y="3285300"/>
            <a:ext cx="493500" cy="315600"/>
          </a:xfrm>
          <a:prstGeom prst="straightConnector1">
            <a:avLst/>
          </a:prstGeom>
          <a:noFill/>
          <a:ln w="19050" cap="flat" cmpd="sng">
            <a:solidFill>
              <a:schemeClr val="dk2"/>
            </a:solidFill>
            <a:prstDash val="solid"/>
            <a:round/>
            <a:headEnd type="none" w="med" len="med"/>
            <a:tailEnd type="none" w="med" len="med"/>
          </a:ln>
        </p:spPr>
      </p:cxnSp>
      <p:cxnSp>
        <p:nvCxnSpPr>
          <p:cNvPr id="265" name="Google Shape;265;p30"/>
          <p:cNvCxnSpPr/>
          <p:nvPr/>
        </p:nvCxnSpPr>
        <p:spPr>
          <a:xfrm>
            <a:off x="5045059" y="2367707"/>
            <a:ext cx="559200" cy="0"/>
          </a:xfrm>
          <a:prstGeom prst="straightConnector1">
            <a:avLst/>
          </a:prstGeom>
          <a:noFill/>
          <a:ln w="19050" cap="flat" cmpd="sng">
            <a:solidFill>
              <a:srgbClr val="666666"/>
            </a:solidFill>
            <a:prstDash val="solid"/>
            <a:round/>
            <a:headEnd type="none" w="med" len="med"/>
            <a:tailEnd type="triangle" w="med" len="med"/>
          </a:ln>
        </p:spPr>
      </p:cxnSp>
      <p:sp>
        <p:nvSpPr>
          <p:cNvPr id="266" name="Google Shape;266;p30"/>
          <p:cNvSpPr txBox="1"/>
          <p:nvPr/>
        </p:nvSpPr>
        <p:spPr>
          <a:xfrm>
            <a:off x="5688354" y="2130721"/>
            <a:ext cx="679800" cy="28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latin typeface="Consolas"/>
                <a:ea typeface="Consolas"/>
                <a:cs typeface="Consolas"/>
                <a:sym typeface="Consolas"/>
              </a:rPr>
              <a:t>sam</a:t>
            </a:r>
            <a:endParaRPr sz="1500">
              <a:latin typeface="Consolas"/>
              <a:ea typeface="Consolas"/>
              <a:cs typeface="Consolas"/>
              <a:sym typeface="Consolas"/>
            </a:endParaRPr>
          </a:p>
        </p:txBody>
      </p:sp>
      <p:sp>
        <p:nvSpPr>
          <p:cNvPr id="267" name="Google Shape;267;p30"/>
          <p:cNvSpPr txBox="1"/>
          <p:nvPr/>
        </p:nvSpPr>
        <p:spPr>
          <a:xfrm>
            <a:off x="460600" y="4172925"/>
            <a:ext cx="2362800" cy="452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latin typeface="Roboto"/>
                <a:ea typeface="Roboto"/>
                <a:cs typeface="Roboto"/>
                <a:sym typeface="Roboto"/>
              </a:rPr>
              <a:t>BST</a:t>
            </a:r>
            <a:endParaRPr sz="1800">
              <a:latin typeface="Roboto"/>
              <a:ea typeface="Roboto"/>
              <a:cs typeface="Roboto"/>
              <a:sym typeface="Roboto"/>
            </a:endParaRPr>
          </a:p>
        </p:txBody>
      </p:sp>
      <p:sp>
        <p:nvSpPr>
          <p:cNvPr id="268" name="Google Shape;268;p30"/>
          <p:cNvSpPr txBox="1"/>
          <p:nvPr/>
        </p:nvSpPr>
        <p:spPr>
          <a:xfrm>
            <a:off x="3403400" y="4137225"/>
            <a:ext cx="2669700" cy="74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latin typeface="Roboto"/>
                <a:ea typeface="Roboto"/>
                <a:cs typeface="Roboto"/>
                <a:sym typeface="Roboto"/>
              </a:rPr>
              <a:t>Hash Table</a:t>
            </a:r>
            <a:endParaRPr sz="2400">
              <a:latin typeface="Roboto"/>
              <a:ea typeface="Roboto"/>
              <a:cs typeface="Roboto"/>
              <a:sym typeface="Roboto"/>
            </a:endParaRPr>
          </a:p>
          <a:p>
            <a:pPr marL="0" lvl="0" indent="0" algn="l" rtl="0">
              <a:spcBef>
                <a:spcPts val="0"/>
              </a:spcBef>
              <a:spcAft>
                <a:spcPts val="0"/>
              </a:spcAft>
              <a:buNone/>
            </a:pPr>
            <a:endParaRPr sz="1800">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C9DAF8"/>
        </a:solidFill>
        <a:effectLst/>
      </p:bgPr>
    </p:bg>
    <p:spTree>
      <p:nvGrpSpPr>
        <p:cNvPr id="1" name="Shape 272"/>
        <p:cNvGrpSpPr/>
        <p:nvPr/>
      </p:nvGrpSpPr>
      <p:grpSpPr>
        <a:xfrm>
          <a:off x="0" y="0"/>
          <a:ext cx="0" cy="0"/>
          <a:chOff x="0" y="0"/>
          <a:chExt cx="0" cy="0"/>
        </a:xfrm>
      </p:grpSpPr>
      <p:sp>
        <p:nvSpPr>
          <p:cNvPr id="273" name="Google Shape;273;p3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Tries: Each Node Stores One Character</a:t>
            </a:r>
            <a:endParaRPr/>
          </a:p>
        </p:txBody>
      </p:sp>
      <p:sp>
        <p:nvSpPr>
          <p:cNvPr id="274" name="Google Shape;274;p31"/>
          <p:cNvSpPr txBox="1">
            <a:spLocks noGrp="1"/>
          </p:cNvSpPr>
          <p:nvPr>
            <p:ph type="body" idx="1"/>
          </p:nvPr>
        </p:nvSpPr>
        <p:spPr>
          <a:xfrm>
            <a:off x="90600" y="404100"/>
            <a:ext cx="8443800" cy="4341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For String keys, we can use a “Trie”. Key ideas:</a:t>
            </a:r>
            <a:endParaRPr/>
          </a:p>
          <a:p>
            <a:pPr marL="457200" lvl="0" indent="-342900" algn="l" rtl="0">
              <a:spcBef>
                <a:spcPts val="600"/>
              </a:spcBef>
              <a:spcAft>
                <a:spcPts val="0"/>
              </a:spcAft>
              <a:buSzPts val="1800"/>
              <a:buChar char="●"/>
            </a:pPr>
            <a:r>
              <a:rPr lang="en"/>
              <a:t>Every node stores only one letter.</a:t>
            </a:r>
            <a:endParaRPr/>
          </a:p>
          <a:p>
            <a:pPr marL="457200" lvl="0" indent="-342900" algn="l" rtl="0">
              <a:spcBef>
                <a:spcPts val="600"/>
              </a:spcBef>
              <a:spcAft>
                <a:spcPts val="0"/>
              </a:spcAft>
              <a:buSzPts val="1800"/>
              <a:buChar char="●"/>
            </a:pPr>
            <a:r>
              <a:rPr lang="en"/>
              <a:t>Nodes can be shared by multiple keys.</a:t>
            </a: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r>
              <a:rPr lang="en"/>
              <a:t>Above, we show the results of adding “sam” and sad”. Use your intuition to try to insert the remaining items “sap”, “same”, “a”, and “awls”. </a:t>
            </a:r>
            <a:endParaRPr/>
          </a:p>
        </p:txBody>
      </p:sp>
      <p:sp>
        <p:nvSpPr>
          <p:cNvPr id="275" name="Google Shape;275;p31"/>
          <p:cNvSpPr/>
          <p:nvPr/>
        </p:nvSpPr>
        <p:spPr>
          <a:xfrm>
            <a:off x="6056729" y="688200"/>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276" name="Google Shape;276;p31"/>
          <p:cNvSpPr/>
          <p:nvPr/>
        </p:nvSpPr>
        <p:spPr>
          <a:xfrm>
            <a:off x="6254504" y="13779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s</a:t>
            </a:r>
            <a:endParaRPr>
              <a:latin typeface="Consolas"/>
              <a:ea typeface="Consolas"/>
              <a:cs typeface="Consolas"/>
              <a:sym typeface="Consolas"/>
            </a:endParaRPr>
          </a:p>
        </p:txBody>
      </p:sp>
      <p:sp>
        <p:nvSpPr>
          <p:cNvPr id="277" name="Google Shape;277;p31"/>
          <p:cNvSpPr/>
          <p:nvPr/>
        </p:nvSpPr>
        <p:spPr>
          <a:xfrm>
            <a:off x="6254504" y="214452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a</a:t>
            </a:r>
            <a:endParaRPr>
              <a:latin typeface="Consolas"/>
              <a:ea typeface="Consolas"/>
              <a:cs typeface="Consolas"/>
              <a:sym typeface="Consolas"/>
            </a:endParaRPr>
          </a:p>
        </p:txBody>
      </p:sp>
      <p:sp>
        <p:nvSpPr>
          <p:cNvPr id="278" name="Google Shape;278;p31"/>
          <p:cNvSpPr/>
          <p:nvPr/>
        </p:nvSpPr>
        <p:spPr>
          <a:xfrm>
            <a:off x="6254504" y="29110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m</a:t>
            </a:r>
            <a:endParaRPr>
              <a:latin typeface="Consolas"/>
              <a:ea typeface="Consolas"/>
              <a:cs typeface="Consolas"/>
              <a:sym typeface="Consolas"/>
            </a:endParaRPr>
          </a:p>
        </p:txBody>
      </p:sp>
      <p:cxnSp>
        <p:nvCxnSpPr>
          <p:cNvPr id="279" name="Google Shape;279;p31"/>
          <p:cNvCxnSpPr>
            <a:stCxn id="275" idx="4"/>
            <a:endCxn id="276" idx="0"/>
          </p:cNvCxnSpPr>
          <p:nvPr/>
        </p:nvCxnSpPr>
        <p:spPr>
          <a:xfrm>
            <a:off x="6273179" y="1121100"/>
            <a:ext cx="197700" cy="256800"/>
          </a:xfrm>
          <a:prstGeom prst="straightConnector1">
            <a:avLst/>
          </a:prstGeom>
          <a:noFill/>
          <a:ln w="9525" cap="flat" cmpd="sng">
            <a:solidFill>
              <a:schemeClr val="dk2"/>
            </a:solidFill>
            <a:prstDash val="solid"/>
            <a:round/>
            <a:headEnd type="none" w="med" len="med"/>
            <a:tailEnd type="none" w="med" len="med"/>
          </a:ln>
        </p:spPr>
      </p:cxnSp>
      <p:cxnSp>
        <p:nvCxnSpPr>
          <p:cNvPr id="280" name="Google Shape;280;p31"/>
          <p:cNvCxnSpPr>
            <a:stCxn id="276" idx="4"/>
            <a:endCxn id="277" idx="0"/>
          </p:cNvCxnSpPr>
          <p:nvPr/>
        </p:nvCxnSpPr>
        <p:spPr>
          <a:xfrm>
            <a:off x="6470954" y="1810875"/>
            <a:ext cx="0" cy="333600"/>
          </a:xfrm>
          <a:prstGeom prst="straightConnector1">
            <a:avLst/>
          </a:prstGeom>
          <a:noFill/>
          <a:ln w="9525" cap="flat" cmpd="sng">
            <a:solidFill>
              <a:schemeClr val="dk2"/>
            </a:solidFill>
            <a:prstDash val="solid"/>
            <a:round/>
            <a:headEnd type="none" w="med" len="med"/>
            <a:tailEnd type="none" w="med" len="med"/>
          </a:ln>
        </p:spPr>
      </p:cxnSp>
      <p:cxnSp>
        <p:nvCxnSpPr>
          <p:cNvPr id="281" name="Google Shape;281;p31"/>
          <p:cNvCxnSpPr>
            <a:stCxn id="277" idx="4"/>
            <a:endCxn id="278" idx="0"/>
          </p:cNvCxnSpPr>
          <p:nvPr/>
        </p:nvCxnSpPr>
        <p:spPr>
          <a:xfrm>
            <a:off x="6470954" y="2577425"/>
            <a:ext cx="0" cy="333600"/>
          </a:xfrm>
          <a:prstGeom prst="straightConnector1">
            <a:avLst/>
          </a:prstGeom>
          <a:noFill/>
          <a:ln w="9525" cap="flat" cmpd="sng">
            <a:solidFill>
              <a:schemeClr val="dk2"/>
            </a:solidFill>
            <a:prstDash val="solid"/>
            <a:round/>
            <a:headEnd type="none" w="med" len="med"/>
            <a:tailEnd type="none" w="med" len="med"/>
          </a:ln>
        </p:spPr>
      </p:cxnSp>
      <p:sp>
        <p:nvSpPr>
          <p:cNvPr id="282" name="Google Shape;282;p31"/>
          <p:cNvSpPr/>
          <p:nvPr/>
        </p:nvSpPr>
        <p:spPr>
          <a:xfrm>
            <a:off x="5623829" y="29110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d</a:t>
            </a:r>
            <a:endParaRPr>
              <a:latin typeface="Consolas"/>
              <a:ea typeface="Consolas"/>
              <a:cs typeface="Consolas"/>
              <a:sym typeface="Consolas"/>
            </a:endParaRPr>
          </a:p>
        </p:txBody>
      </p:sp>
      <p:cxnSp>
        <p:nvCxnSpPr>
          <p:cNvPr id="283" name="Google Shape;283;p31"/>
          <p:cNvCxnSpPr>
            <a:stCxn id="277" idx="4"/>
            <a:endCxn id="282" idx="0"/>
          </p:cNvCxnSpPr>
          <p:nvPr/>
        </p:nvCxnSpPr>
        <p:spPr>
          <a:xfrm flipH="1">
            <a:off x="5840354" y="2577425"/>
            <a:ext cx="630600" cy="3336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7"/>
        <p:cNvGrpSpPr/>
        <p:nvPr/>
      </p:nvGrpSpPr>
      <p:grpSpPr>
        <a:xfrm>
          <a:off x="0" y="0"/>
          <a:ext cx="0" cy="0"/>
          <a:chOff x="0" y="0"/>
          <a:chExt cx="0" cy="0"/>
        </a:xfrm>
      </p:grpSpPr>
      <p:sp>
        <p:nvSpPr>
          <p:cNvPr id="288" name="Google Shape;288;p3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Tries: Each Node Stores One Character</a:t>
            </a:r>
            <a:endParaRPr/>
          </a:p>
        </p:txBody>
      </p:sp>
      <p:sp>
        <p:nvSpPr>
          <p:cNvPr id="289" name="Google Shape;289;p32"/>
          <p:cNvSpPr txBox="1">
            <a:spLocks noGrp="1"/>
          </p:cNvSpPr>
          <p:nvPr>
            <p:ph type="body" idx="1"/>
          </p:nvPr>
        </p:nvSpPr>
        <p:spPr>
          <a:xfrm>
            <a:off x="90600" y="404100"/>
            <a:ext cx="8443800" cy="4341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For String keys, we can use a “Trie”. Key ideas:</a:t>
            </a:r>
            <a:endParaRPr/>
          </a:p>
          <a:p>
            <a:pPr marL="457200" lvl="0" indent="-342900" algn="l" rtl="0">
              <a:spcBef>
                <a:spcPts val="600"/>
              </a:spcBef>
              <a:spcAft>
                <a:spcPts val="0"/>
              </a:spcAft>
              <a:buSzPts val="1800"/>
              <a:buChar char="●"/>
            </a:pPr>
            <a:r>
              <a:rPr lang="en"/>
              <a:t>Every node stores only one letter.</a:t>
            </a:r>
            <a:endParaRPr/>
          </a:p>
          <a:p>
            <a:pPr marL="457200" lvl="0" indent="-342900" algn="l" rtl="0">
              <a:spcBef>
                <a:spcPts val="600"/>
              </a:spcBef>
              <a:spcAft>
                <a:spcPts val="0"/>
              </a:spcAft>
              <a:buSzPts val="1800"/>
              <a:buChar char="●"/>
            </a:pPr>
            <a:r>
              <a:rPr lang="en"/>
              <a:t>Nodes can be shared by multiple keys.</a:t>
            </a: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r>
              <a:rPr lang="en"/>
              <a:t>Above, we show the results of adding “sam” and sad”. Use your intuition to try to insert the remaining items “sap”, “same”, “a”, and “awls”. </a:t>
            </a:r>
            <a:endParaRPr/>
          </a:p>
        </p:txBody>
      </p:sp>
      <p:sp>
        <p:nvSpPr>
          <p:cNvPr id="290" name="Google Shape;290;p32"/>
          <p:cNvSpPr/>
          <p:nvPr/>
        </p:nvSpPr>
        <p:spPr>
          <a:xfrm>
            <a:off x="6056729" y="688200"/>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291" name="Google Shape;291;p32"/>
          <p:cNvSpPr/>
          <p:nvPr/>
        </p:nvSpPr>
        <p:spPr>
          <a:xfrm>
            <a:off x="6254504" y="13779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s</a:t>
            </a:r>
            <a:endParaRPr>
              <a:latin typeface="Consolas"/>
              <a:ea typeface="Consolas"/>
              <a:cs typeface="Consolas"/>
              <a:sym typeface="Consolas"/>
            </a:endParaRPr>
          </a:p>
        </p:txBody>
      </p:sp>
      <p:sp>
        <p:nvSpPr>
          <p:cNvPr id="292" name="Google Shape;292;p32"/>
          <p:cNvSpPr/>
          <p:nvPr/>
        </p:nvSpPr>
        <p:spPr>
          <a:xfrm>
            <a:off x="6254504" y="214452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a</a:t>
            </a:r>
            <a:endParaRPr>
              <a:latin typeface="Consolas"/>
              <a:ea typeface="Consolas"/>
              <a:cs typeface="Consolas"/>
              <a:sym typeface="Consolas"/>
            </a:endParaRPr>
          </a:p>
        </p:txBody>
      </p:sp>
      <p:sp>
        <p:nvSpPr>
          <p:cNvPr id="293" name="Google Shape;293;p32"/>
          <p:cNvSpPr/>
          <p:nvPr/>
        </p:nvSpPr>
        <p:spPr>
          <a:xfrm>
            <a:off x="6254504" y="29110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m</a:t>
            </a:r>
            <a:endParaRPr>
              <a:latin typeface="Consolas"/>
              <a:ea typeface="Consolas"/>
              <a:cs typeface="Consolas"/>
              <a:sym typeface="Consolas"/>
            </a:endParaRPr>
          </a:p>
        </p:txBody>
      </p:sp>
      <p:cxnSp>
        <p:nvCxnSpPr>
          <p:cNvPr id="294" name="Google Shape;294;p32"/>
          <p:cNvCxnSpPr>
            <a:stCxn id="290" idx="4"/>
            <a:endCxn id="291" idx="0"/>
          </p:cNvCxnSpPr>
          <p:nvPr/>
        </p:nvCxnSpPr>
        <p:spPr>
          <a:xfrm>
            <a:off x="6273179" y="1121100"/>
            <a:ext cx="197700" cy="256800"/>
          </a:xfrm>
          <a:prstGeom prst="straightConnector1">
            <a:avLst/>
          </a:prstGeom>
          <a:noFill/>
          <a:ln w="9525" cap="flat" cmpd="sng">
            <a:solidFill>
              <a:schemeClr val="dk2"/>
            </a:solidFill>
            <a:prstDash val="solid"/>
            <a:round/>
            <a:headEnd type="none" w="med" len="med"/>
            <a:tailEnd type="none" w="med" len="med"/>
          </a:ln>
        </p:spPr>
      </p:cxnSp>
      <p:cxnSp>
        <p:nvCxnSpPr>
          <p:cNvPr id="295" name="Google Shape;295;p32"/>
          <p:cNvCxnSpPr>
            <a:stCxn id="291" idx="4"/>
            <a:endCxn id="292" idx="0"/>
          </p:cNvCxnSpPr>
          <p:nvPr/>
        </p:nvCxnSpPr>
        <p:spPr>
          <a:xfrm>
            <a:off x="6470954" y="1810875"/>
            <a:ext cx="0" cy="333600"/>
          </a:xfrm>
          <a:prstGeom prst="straightConnector1">
            <a:avLst/>
          </a:prstGeom>
          <a:noFill/>
          <a:ln w="9525" cap="flat" cmpd="sng">
            <a:solidFill>
              <a:schemeClr val="dk2"/>
            </a:solidFill>
            <a:prstDash val="solid"/>
            <a:round/>
            <a:headEnd type="none" w="med" len="med"/>
            <a:tailEnd type="none" w="med" len="med"/>
          </a:ln>
        </p:spPr>
      </p:cxnSp>
      <p:cxnSp>
        <p:nvCxnSpPr>
          <p:cNvPr id="296" name="Google Shape;296;p32"/>
          <p:cNvCxnSpPr>
            <a:stCxn id="292" idx="4"/>
            <a:endCxn id="293" idx="0"/>
          </p:cNvCxnSpPr>
          <p:nvPr/>
        </p:nvCxnSpPr>
        <p:spPr>
          <a:xfrm>
            <a:off x="6470954" y="2577425"/>
            <a:ext cx="0" cy="333600"/>
          </a:xfrm>
          <a:prstGeom prst="straightConnector1">
            <a:avLst/>
          </a:prstGeom>
          <a:noFill/>
          <a:ln w="9525" cap="flat" cmpd="sng">
            <a:solidFill>
              <a:schemeClr val="dk2"/>
            </a:solidFill>
            <a:prstDash val="solid"/>
            <a:round/>
            <a:headEnd type="none" w="med" len="med"/>
            <a:tailEnd type="none" w="med" len="med"/>
          </a:ln>
        </p:spPr>
      </p:cxnSp>
      <p:sp>
        <p:nvSpPr>
          <p:cNvPr id="297" name="Google Shape;297;p32"/>
          <p:cNvSpPr/>
          <p:nvPr/>
        </p:nvSpPr>
        <p:spPr>
          <a:xfrm>
            <a:off x="5623829" y="29110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d</a:t>
            </a:r>
            <a:endParaRPr>
              <a:latin typeface="Consolas"/>
              <a:ea typeface="Consolas"/>
              <a:cs typeface="Consolas"/>
              <a:sym typeface="Consolas"/>
            </a:endParaRPr>
          </a:p>
        </p:txBody>
      </p:sp>
      <p:cxnSp>
        <p:nvCxnSpPr>
          <p:cNvPr id="298" name="Google Shape;298;p32"/>
          <p:cNvCxnSpPr>
            <a:stCxn id="292" idx="4"/>
            <a:endCxn id="297" idx="0"/>
          </p:cNvCxnSpPr>
          <p:nvPr/>
        </p:nvCxnSpPr>
        <p:spPr>
          <a:xfrm flipH="1">
            <a:off x="5840354" y="2577425"/>
            <a:ext cx="630600" cy="333600"/>
          </a:xfrm>
          <a:prstGeom prst="straightConnector1">
            <a:avLst/>
          </a:prstGeom>
          <a:noFill/>
          <a:ln w="9525" cap="flat" cmpd="sng">
            <a:solidFill>
              <a:schemeClr val="dk2"/>
            </a:solidFill>
            <a:prstDash val="solid"/>
            <a:round/>
            <a:headEnd type="none" w="med" len="med"/>
            <a:tailEnd type="none" w="med" len="med"/>
          </a:ln>
        </p:spPr>
      </p:cxnSp>
      <p:sp>
        <p:nvSpPr>
          <p:cNvPr id="299" name="Google Shape;299;p32"/>
          <p:cNvSpPr/>
          <p:nvPr/>
        </p:nvSpPr>
        <p:spPr>
          <a:xfrm>
            <a:off x="6885179" y="29110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p</a:t>
            </a:r>
            <a:endParaRPr>
              <a:latin typeface="Consolas"/>
              <a:ea typeface="Consolas"/>
              <a:cs typeface="Consolas"/>
              <a:sym typeface="Consolas"/>
            </a:endParaRPr>
          </a:p>
        </p:txBody>
      </p:sp>
      <p:cxnSp>
        <p:nvCxnSpPr>
          <p:cNvPr id="300" name="Google Shape;300;p32"/>
          <p:cNvCxnSpPr>
            <a:stCxn id="292" idx="4"/>
            <a:endCxn id="299" idx="1"/>
          </p:cNvCxnSpPr>
          <p:nvPr/>
        </p:nvCxnSpPr>
        <p:spPr>
          <a:xfrm>
            <a:off x="6470954" y="2577425"/>
            <a:ext cx="477600" cy="396900"/>
          </a:xfrm>
          <a:prstGeom prst="straightConnector1">
            <a:avLst/>
          </a:prstGeom>
          <a:noFill/>
          <a:ln w="9525" cap="flat" cmpd="sng">
            <a:solidFill>
              <a:schemeClr val="dk2"/>
            </a:solidFill>
            <a:prstDash val="solid"/>
            <a:round/>
            <a:headEnd type="none" w="med" len="med"/>
            <a:tailEnd type="none" w="med" len="med"/>
          </a:ln>
        </p:spPr>
      </p:cxnSp>
      <p:sp>
        <p:nvSpPr>
          <p:cNvPr id="301" name="Google Shape;301;p32"/>
          <p:cNvSpPr/>
          <p:nvPr/>
        </p:nvSpPr>
        <p:spPr>
          <a:xfrm>
            <a:off x="6254504" y="3562850"/>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e</a:t>
            </a:r>
            <a:endParaRPr>
              <a:latin typeface="Consolas"/>
              <a:ea typeface="Consolas"/>
              <a:cs typeface="Consolas"/>
              <a:sym typeface="Consolas"/>
            </a:endParaRPr>
          </a:p>
        </p:txBody>
      </p:sp>
      <p:cxnSp>
        <p:nvCxnSpPr>
          <p:cNvPr id="302" name="Google Shape;302;p32"/>
          <p:cNvCxnSpPr>
            <a:stCxn id="293" idx="4"/>
            <a:endCxn id="301" idx="0"/>
          </p:cNvCxnSpPr>
          <p:nvPr/>
        </p:nvCxnSpPr>
        <p:spPr>
          <a:xfrm>
            <a:off x="6470954" y="3343975"/>
            <a:ext cx="0" cy="219000"/>
          </a:xfrm>
          <a:prstGeom prst="straightConnector1">
            <a:avLst/>
          </a:prstGeom>
          <a:noFill/>
          <a:ln w="9525" cap="flat" cmpd="sng">
            <a:solidFill>
              <a:schemeClr val="dk2"/>
            </a:solidFill>
            <a:prstDash val="solid"/>
            <a:round/>
            <a:headEnd type="none" w="med" len="med"/>
            <a:tailEnd type="none" w="med" len="med"/>
          </a:ln>
        </p:spPr>
      </p:cxnSp>
      <p:sp>
        <p:nvSpPr>
          <p:cNvPr id="303" name="Google Shape;303;p32"/>
          <p:cNvSpPr/>
          <p:nvPr/>
        </p:nvSpPr>
        <p:spPr>
          <a:xfrm>
            <a:off x="5524704" y="1366163"/>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a</a:t>
            </a:r>
            <a:endParaRPr>
              <a:latin typeface="Consolas"/>
              <a:ea typeface="Consolas"/>
              <a:cs typeface="Consolas"/>
              <a:sym typeface="Consolas"/>
            </a:endParaRPr>
          </a:p>
        </p:txBody>
      </p:sp>
      <p:cxnSp>
        <p:nvCxnSpPr>
          <p:cNvPr id="304" name="Google Shape;304;p32"/>
          <p:cNvCxnSpPr>
            <a:stCxn id="290" idx="3"/>
            <a:endCxn id="303" idx="0"/>
          </p:cNvCxnSpPr>
          <p:nvPr/>
        </p:nvCxnSpPr>
        <p:spPr>
          <a:xfrm flipH="1">
            <a:off x="5741226" y="1057703"/>
            <a:ext cx="378900" cy="3084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C9DAF8"/>
        </a:solidFill>
        <a:effectLst/>
      </p:bgPr>
    </p:bg>
    <p:spTree>
      <p:nvGrpSpPr>
        <p:cNvPr id="1" name="Shape 308"/>
        <p:cNvGrpSpPr/>
        <p:nvPr/>
      </p:nvGrpSpPr>
      <p:grpSpPr>
        <a:xfrm>
          <a:off x="0" y="0"/>
          <a:ext cx="0" cy="0"/>
          <a:chOff x="0" y="0"/>
          <a:chExt cx="0" cy="0"/>
        </a:xfrm>
      </p:grpSpPr>
      <p:sp>
        <p:nvSpPr>
          <p:cNvPr id="309" name="Google Shape;309;p3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Tries: Each Node Stores One Character</a:t>
            </a:r>
            <a:endParaRPr/>
          </a:p>
        </p:txBody>
      </p:sp>
      <p:sp>
        <p:nvSpPr>
          <p:cNvPr id="310" name="Google Shape;310;p33"/>
          <p:cNvSpPr txBox="1">
            <a:spLocks noGrp="1"/>
          </p:cNvSpPr>
          <p:nvPr>
            <p:ph type="body" idx="1"/>
          </p:nvPr>
        </p:nvSpPr>
        <p:spPr>
          <a:xfrm>
            <a:off x="90600" y="404100"/>
            <a:ext cx="8443800" cy="4341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For String keys, we can use a “Trie”. Key ideas:</a:t>
            </a:r>
            <a:endParaRPr/>
          </a:p>
          <a:p>
            <a:pPr marL="457200" lvl="0" indent="-342900" algn="l" rtl="0">
              <a:spcBef>
                <a:spcPts val="600"/>
              </a:spcBef>
              <a:spcAft>
                <a:spcPts val="0"/>
              </a:spcAft>
              <a:buSzPts val="1800"/>
              <a:buChar char="●"/>
            </a:pPr>
            <a:r>
              <a:rPr lang="en"/>
              <a:t>Every node stores only one letter.</a:t>
            </a:r>
            <a:endParaRPr/>
          </a:p>
          <a:p>
            <a:pPr marL="457200" lvl="0" indent="-342900" algn="l" rtl="0">
              <a:spcBef>
                <a:spcPts val="600"/>
              </a:spcBef>
              <a:spcAft>
                <a:spcPts val="0"/>
              </a:spcAft>
              <a:buSzPts val="1800"/>
              <a:buChar char="●"/>
            </a:pPr>
            <a:r>
              <a:rPr lang="en"/>
              <a:t>Nodes can be shared by multiple keys.</a:t>
            </a: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r>
              <a:rPr lang="en"/>
              <a:t>Try to figure out a way to make it clear that our set contains “sam”, “sad”, “sap”, “same”, “a”, and “awls”, but not “aw”, “awl”, “sa”, etc.</a:t>
            </a:r>
            <a:endParaRPr/>
          </a:p>
        </p:txBody>
      </p:sp>
      <p:sp>
        <p:nvSpPr>
          <p:cNvPr id="311" name="Google Shape;311;p33"/>
          <p:cNvSpPr/>
          <p:nvPr/>
        </p:nvSpPr>
        <p:spPr>
          <a:xfrm>
            <a:off x="6209129" y="764400"/>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312" name="Google Shape;312;p33"/>
          <p:cNvSpPr/>
          <p:nvPr/>
        </p:nvSpPr>
        <p:spPr>
          <a:xfrm>
            <a:off x="6406904" y="14541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s</a:t>
            </a:r>
            <a:endParaRPr>
              <a:latin typeface="Consolas"/>
              <a:ea typeface="Consolas"/>
              <a:cs typeface="Consolas"/>
              <a:sym typeface="Consolas"/>
            </a:endParaRPr>
          </a:p>
        </p:txBody>
      </p:sp>
      <p:sp>
        <p:nvSpPr>
          <p:cNvPr id="313" name="Google Shape;313;p33"/>
          <p:cNvSpPr/>
          <p:nvPr/>
        </p:nvSpPr>
        <p:spPr>
          <a:xfrm>
            <a:off x="6406904" y="222072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a</a:t>
            </a:r>
            <a:endParaRPr>
              <a:latin typeface="Consolas"/>
              <a:ea typeface="Consolas"/>
              <a:cs typeface="Consolas"/>
              <a:sym typeface="Consolas"/>
            </a:endParaRPr>
          </a:p>
        </p:txBody>
      </p:sp>
      <p:sp>
        <p:nvSpPr>
          <p:cNvPr id="314" name="Google Shape;314;p33"/>
          <p:cNvSpPr/>
          <p:nvPr/>
        </p:nvSpPr>
        <p:spPr>
          <a:xfrm>
            <a:off x="6406904" y="29872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m</a:t>
            </a:r>
            <a:endParaRPr>
              <a:latin typeface="Consolas"/>
              <a:ea typeface="Consolas"/>
              <a:cs typeface="Consolas"/>
              <a:sym typeface="Consolas"/>
            </a:endParaRPr>
          </a:p>
        </p:txBody>
      </p:sp>
      <p:cxnSp>
        <p:nvCxnSpPr>
          <p:cNvPr id="315" name="Google Shape;315;p33"/>
          <p:cNvCxnSpPr>
            <a:stCxn id="311" idx="4"/>
            <a:endCxn id="312" idx="0"/>
          </p:cNvCxnSpPr>
          <p:nvPr/>
        </p:nvCxnSpPr>
        <p:spPr>
          <a:xfrm>
            <a:off x="6425579" y="1197300"/>
            <a:ext cx="197700" cy="256800"/>
          </a:xfrm>
          <a:prstGeom prst="straightConnector1">
            <a:avLst/>
          </a:prstGeom>
          <a:noFill/>
          <a:ln w="9525" cap="flat" cmpd="sng">
            <a:solidFill>
              <a:schemeClr val="dk2"/>
            </a:solidFill>
            <a:prstDash val="solid"/>
            <a:round/>
            <a:headEnd type="none" w="med" len="med"/>
            <a:tailEnd type="none" w="med" len="med"/>
          </a:ln>
        </p:spPr>
      </p:cxnSp>
      <p:cxnSp>
        <p:nvCxnSpPr>
          <p:cNvPr id="316" name="Google Shape;316;p33"/>
          <p:cNvCxnSpPr>
            <a:stCxn id="312" idx="4"/>
            <a:endCxn id="313" idx="0"/>
          </p:cNvCxnSpPr>
          <p:nvPr/>
        </p:nvCxnSpPr>
        <p:spPr>
          <a:xfrm>
            <a:off x="6623354" y="1887075"/>
            <a:ext cx="0" cy="333600"/>
          </a:xfrm>
          <a:prstGeom prst="straightConnector1">
            <a:avLst/>
          </a:prstGeom>
          <a:noFill/>
          <a:ln w="9525" cap="flat" cmpd="sng">
            <a:solidFill>
              <a:schemeClr val="dk2"/>
            </a:solidFill>
            <a:prstDash val="solid"/>
            <a:round/>
            <a:headEnd type="none" w="med" len="med"/>
            <a:tailEnd type="none" w="med" len="med"/>
          </a:ln>
        </p:spPr>
      </p:cxnSp>
      <p:cxnSp>
        <p:nvCxnSpPr>
          <p:cNvPr id="317" name="Google Shape;317;p33"/>
          <p:cNvCxnSpPr>
            <a:stCxn id="313" idx="4"/>
            <a:endCxn id="314" idx="0"/>
          </p:cNvCxnSpPr>
          <p:nvPr/>
        </p:nvCxnSpPr>
        <p:spPr>
          <a:xfrm>
            <a:off x="6623354" y="2653625"/>
            <a:ext cx="0" cy="333600"/>
          </a:xfrm>
          <a:prstGeom prst="straightConnector1">
            <a:avLst/>
          </a:prstGeom>
          <a:noFill/>
          <a:ln w="9525" cap="flat" cmpd="sng">
            <a:solidFill>
              <a:schemeClr val="dk2"/>
            </a:solidFill>
            <a:prstDash val="solid"/>
            <a:round/>
            <a:headEnd type="none" w="med" len="med"/>
            <a:tailEnd type="none" w="med" len="med"/>
          </a:ln>
        </p:spPr>
      </p:cxnSp>
      <p:sp>
        <p:nvSpPr>
          <p:cNvPr id="318" name="Google Shape;318;p33"/>
          <p:cNvSpPr/>
          <p:nvPr/>
        </p:nvSpPr>
        <p:spPr>
          <a:xfrm>
            <a:off x="5776229" y="29872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d</a:t>
            </a:r>
            <a:endParaRPr>
              <a:latin typeface="Consolas"/>
              <a:ea typeface="Consolas"/>
              <a:cs typeface="Consolas"/>
              <a:sym typeface="Consolas"/>
            </a:endParaRPr>
          </a:p>
        </p:txBody>
      </p:sp>
      <p:cxnSp>
        <p:nvCxnSpPr>
          <p:cNvPr id="319" name="Google Shape;319;p33"/>
          <p:cNvCxnSpPr>
            <a:stCxn id="313" idx="4"/>
            <a:endCxn id="318" idx="0"/>
          </p:cNvCxnSpPr>
          <p:nvPr/>
        </p:nvCxnSpPr>
        <p:spPr>
          <a:xfrm flipH="1">
            <a:off x="5992754" y="2653625"/>
            <a:ext cx="630600" cy="333600"/>
          </a:xfrm>
          <a:prstGeom prst="straightConnector1">
            <a:avLst/>
          </a:prstGeom>
          <a:noFill/>
          <a:ln w="9525" cap="flat" cmpd="sng">
            <a:solidFill>
              <a:schemeClr val="dk2"/>
            </a:solidFill>
            <a:prstDash val="solid"/>
            <a:round/>
            <a:headEnd type="none" w="med" len="med"/>
            <a:tailEnd type="none" w="med" len="med"/>
          </a:ln>
        </p:spPr>
      </p:cxnSp>
      <p:sp>
        <p:nvSpPr>
          <p:cNvPr id="320" name="Google Shape;320;p33"/>
          <p:cNvSpPr/>
          <p:nvPr/>
        </p:nvSpPr>
        <p:spPr>
          <a:xfrm>
            <a:off x="7018829" y="29872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p</a:t>
            </a:r>
            <a:endParaRPr>
              <a:latin typeface="Consolas"/>
              <a:ea typeface="Consolas"/>
              <a:cs typeface="Consolas"/>
              <a:sym typeface="Consolas"/>
            </a:endParaRPr>
          </a:p>
        </p:txBody>
      </p:sp>
      <p:cxnSp>
        <p:nvCxnSpPr>
          <p:cNvPr id="321" name="Google Shape;321;p33"/>
          <p:cNvCxnSpPr>
            <a:stCxn id="313" idx="4"/>
            <a:endCxn id="320" idx="0"/>
          </p:cNvCxnSpPr>
          <p:nvPr/>
        </p:nvCxnSpPr>
        <p:spPr>
          <a:xfrm>
            <a:off x="6623354" y="2653625"/>
            <a:ext cx="612000" cy="333600"/>
          </a:xfrm>
          <a:prstGeom prst="straightConnector1">
            <a:avLst/>
          </a:prstGeom>
          <a:noFill/>
          <a:ln w="9525" cap="flat" cmpd="sng">
            <a:solidFill>
              <a:schemeClr val="dk2"/>
            </a:solidFill>
            <a:prstDash val="solid"/>
            <a:round/>
            <a:headEnd type="none" w="med" len="med"/>
            <a:tailEnd type="none" w="med" len="med"/>
          </a:ln>
        </p:spPr>
      </p:cxnSp>
      <p:sp>
        <p:nvSpPr>
          <p:cNvPr id="322" name="Google Shape;322;p33"/>
          <p:cNvSpPr/>
          <p:nvPr/>
        </p:nvSpPr>
        <p:spPr>
          <a:xfrm>
            <a:off x="6406904" y="3628850"/>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e</a:t>
            </a:r>
            <a:endParaRPr>
              <a:latin typeface="Consolas"/>
              <a:ea typeface="Consolas"/>
              <a:cs typeface="Consolas"/>
              <a:sym typeface="Consolas"/>
            </a:endParaRPr>
          </a:p>
        </p:txBody>
      </p:sp>
      <p:cxnSp>
        <p:nvCxnSpPr>
          <p:cNvPr id="323" name="Google Shape;323;p33"/>
          <p:cNvCxnSpPr>
            <a:stCxn id="314" idx="4"/>
            <a:endCxn id="322" idx="0"/>
          </p:cNvCxnSpPr>
          <p:nvPr/>
        </p:nvCxnSpPr>
        <p:spPr>
          <a:xfrm>
            <a:off x="6623354" y="3420175"/>
            <a:ext cx="0" cy="208800"/>
          </a:xfrm>
          <a:prstGeom prst="straightConnector1">
            <a:avLst/>
          </a:prstGeom>
          <a:noFill/>
          <a:ln w="9525" cap="flat" cmpd="sng">
            <a:solidFill>
              <a:schemeClr val="dk2"/>
            </a:solidFill>
            <a:prstDash val="solid"/>
            <a:round/>
            <a:headEnd type="none" w="med" len="med"/>
            <a:tailEnd type="none" w="med" len="med"/>
          </a:ln>
        </p:spPr>
      </p:cxnSp>
      <p:sp>
        <p:nvSpPr>
          <p:cNvPr id="324" name="Google Shape;324;p33"/>
          <p:cNvSpPr/>
          <p:nvPr/>
        </p:nvSpPr>
        <p:spPr>
          <a:xfrm>
            <a:off x="5236179" y="14541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a</a:t>
            </a:r>
            <a:endParaRPr>
              <a:latin typeface="Consolas"/>
              <a:ea typeface="Consolas"/>
              <a:cs typeface="Consolas"/>
              <a:sym typeface="Consolas"/>
            </a:endParaRPr>
          </a:p>
        </p:txBody>
      </p:sp>
      <p:cxnSp>
        <p:nvCxnSpPr>
          <p:cNvPr id="325" name="Google Shape;325;p33"/>
          <p:cNvCxnSpPr>
            <a:stCxn id="311" idx="4"/>
            <a:endCxn id="324" idx="0"/>
          </p:cNvCxnSpPr>
          <p:nvPr/>
        </p:nvCxnSpPr>
        <p:spPr>
          <a:xfrm flipH="1">
            <a:off x="5452679" y="1197300"/>
            <a:ext cx="972900" cy="256800"/>
          </a:xfrm>
          <a:prstGeom prst="straightConnector1">
            <a:avLst/>
          </a:prstGeom>
          <a:noFill/>
          <a:ln w="9525" cap="flat" cmpd="sng">
            <a:solidFill>
              <a:schemeClr val="dk2"/>
            </a:solidFill>
            <a:prstDash val="solid"/>
            <a:round/>
            <a:headEnd type="none" w="med" len="med"/>
            <a:tailEnd type="none" w="med" len="med"/>
          </a:ln>
        </p:spPr>
      </p:cxnSp>
      <p:sp>
        <p:nvSpPr>
          <p:cNvPr id="326" name="Google Shape;326;p33"/>
          <p:cNvSpPr/>
          <p:nvPr/>
        </p:nvSpPr>
        <p:spPr>
          <a:xfrm>
            <a:off x="4998579" y="2314750"/>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w</a:t>
            </a:r>
            <a:endParaRPr>
              <a:latin typeface="Consolas"/>
              <a:ea typeface="Consolas"/>
              <a:cs typeface="Consolas"/>
              <a:sym typeface="Consolas"/>
            </a:endParaRPr>
          </a:p>
        </p:txBody>
      </p:sp>
      <p:sp>
        <p:nvSpPr>
          <p:cNvPr id="327" name="Google Shape;327;p33"/>
          <p:cNvSpPr/>
          <p:nvPr/>
        </p:nvSpPr>
        <p:spPr>
          <a:xfrm>
            <a:off x="5019779" y="293772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l</a:t>
            </a:r>
            <a:endParaRPr>
              <a:latin typeface="Consolas"/>
              <a:ea typeface="Consolas"/>
              <a:cs typeface="Consolas"/>
              <a:sym typeface="Consolas"/>
            </a:endParaRPr>
          </a:p>
        </p:txBody>
      </p:sp>
      <p:sp>
        <p:nvSpPr>
          <p:cNvPr id="328" name="Google Shape;328;p33"/>
          <p:cNvSpPr/>
          <p:nvPr/>
        </p:nvSpPr>
        <p:spPr>
          <a:xfrm>
            <a:off x="5039129" y="3560700"/>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s</a:t>
            </a:r>
            <a:endParaRPr>
              <a:latin typeface="Consolas"/>
              <a:ea typeface="Consolas"/>
              <a:cs typeface="Consolas"/>
              <a:sym typeface="Consolas"/>
            </a:endParaRPr>
          </a:p>
        </p:txBody>
      </p:sp>
      <p:cxnSp>
        <p:nvCxnSpPr>
          <p:cNvPr id="329" name="Google Shape;329;p33"/>
          <p:cNvCxnSpPr>
            <a:stCxn id="324" idx="4"/>
            <a:endCxn id="326" idx="0"/>
          </p:cNvCxnSpPr>
          <p:nvPr/>
        </p:nvCxnSpPr>
        <p:spPr>
          <a:xfrm flipH="1">
            <a:off x="5215029" y="1887075"/>
            <a:ext cx="237600" cy="427800"/>
          </a:xfrm>
          <a:prstGeom prst="straightConnector1">
            <a:avLst/>
          </a:prstGeom>
          <a:noFill/>
          <a:ln w="9525" cap="flat" cmpd="sng">
            <a:solidFill>
              <a:schemeClr val="dk2"/>
            </a:solidFill>
            <a:prstDash val="solid"/>
            <a:round/>
            <a:headEnd type="none" w="med" len="med"/>
            <a:tailEnd type="none" w="med" len="med"/>
          </a:ln>
        </p:spPr>
      </p:cxnSp>
      <p:cxnSp>
        <p:nvCxnSpPr>
          <p:cNvPr id="330" name="Google Shape;330;p33"/>
          <p:cNvCxnSpPr>
            <a:stCxn id="326" idx="4"/>
            <a:endCxn id="327" idx="0"/>
          </p:cNvCxnSpPr>
          <p:nvPr/>
        </p:nvCxnSpPr>
        <p:spPr>
          <a:xfrm>
            <a:off x="5215029" y="2747650"/>
            <a:ext cx="21300" cy="190200"/>
          </a:xfrm>
          <a:prstGeom prst="straightConnector1">
            <a:avLst/>
          </a:prstGeom>
          <a:noFill/>
          <a:ln w="9525" cap="flat" cmpd="sng">
            <a:solidFill>
              <a:schemeClr val="dk2"/>
            </a:solidFill>
            <a:prstDash val="solid"/>
            <a:round/>
            <a:headEnd type="none" w="med" len="med"/>
            <a:tailEnd type="none" w="med" len="med"/>
          </a:ln>
        </p:spPr>
      </p:cxnSp>
      <p:cxnSp>
        <p:nvCxnSpPr>
          <p:cNvPr id="331" name="Google Shape;331;p33"/>
          <p:cNvCxnSpPr>
            <a:stCxn id="327" idx="4"/>
            <a:endCxn id="328" idx="0"/>
          </p:cNvCxnSpPr>
          <p:nvPr/>
        </p:nvCxnSpPr>
        <p:spPr>
          <a:xfrm>
            <a:off x="5236229" y="3370625"/>
            <a:ext cx="19500" cy="1902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5"/>
        <p:cNvGrpSpPr/>
        <p:nvPr/>
      </p:nvGrpSpPr>
      <p:grpSpPr>
        <a:xfrm>
          <a:off x="0" y="0"/>
          <a:ext cx="0" cy="0"/>
          <a:chOff x="0" y="0"/>
          <a:chExt cx="0" cy="0"/>
        </a:xfrm>
      </p:grpSpPr>
      <p:sp>
        <p:nvSpPr>
          <p:cNvPr id="336" name="Google Shape;336;p3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Tries: Each Node Stores One Character</a:t>
            </a:r>
            <a:endParaRPr/>
          </a:p>
        </p:txBody>
      </p:sp>
      <p:sp>
        <p:nvSpPr>
          <p:cNvPr id="337" name="Google Shape;337;p34"/>
          <p:cNvSpPr txBox="1">
            <a:spLocks noGrp="1"/>
          </p:cNvSpPr>
          <p:nvPr>
            <p:ph type="body" idx="1"/>
          </p:nvPr>
        </p:nvSpPr>
        <p:spPr>
          <a:xfrm>
            <a:off x="90600" y="404100"/>
            <a:ext cx="8443800" cy="4341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For String keys, we can use a “Trie”. Key ideas:</a:t>
            </a:r>
            <a:endParaRPr/>
          </a:p>
          <a:p>
            <a:pPr marL="457200" lvl="0" indent="-342900" algn="l" rtl="0">
              <a:spcBef>
                <a:spcPts val="600"/>
              </a:spcBef>
              <a:spcAft>
                <a:spcPts val="0"/>
              </a:spcAft>
              <a:buSzPts val="1800"/>
              <a:buChar char="●"/>
            </a:pPr>
            <a:r>
              <a:rPr lang="en"/>
              <a:t>Every node stores only one letter.</a:t>
            </a:r>
            <a:endParaRPr/>
          </a:p>
          <a:p>
            <a:pPr marL="457200" lvl="0" indent="-342900" algn="l" rtl="0">
              <a:spcBef>
                <a:spcPts val="600"/>
              </a:spcBef>
              <a:spcAft>
                <a:spcPts val="0"/>
              </a:spcAft>
              <a:buSzPts val="1800"/>
              <a:buChar char="●"/>
            </a:pPr>
            <a:r>
              <a:rPr lang="en"/>
              <a:t>Nodes can be shared by multiple keys.</a:t>
            </a: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r>
              <a:rPr lang="en"/>
              <a:t>Try to figure out a way to make it clear that our set contains “sam”, “sad”, “sap”, “same”, “a”, and “awls”, but not “aw”, “awl”, “sa”, etc.</a:t>
            </a:r>
            <a:endParaRPr/>
          </a:p>
        </p:txBody>
      </p:sp>
      <p:sp>
        <p:nvSpPr>
          <p:cNvPr id="338" name="Google Shape;338;p34"/>
          <p:cNvSpPr/>
          <p:nvPr/>
        </p:nvSpPr>
        <p:spPr>
          <a:xfrm>
            <a:off x="6209129" y="764400"/>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339" name="Google Shape;339;p34"/>
          <p:cNvSpPr/>
          <p:nvPr/>
        </p:nvSpPr>
        <p:spPr>
          <a:xfrm>
            <a:off x="6406904" y="14541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s</a:t>
            </a:r>
            <a:endParaRPr>
              <a:latin typeface="Consolas"/>
              <a:ea typeface="Consolas"/>
              <a:cs typeface="Consolas"/>
              <a:sym typeface="Consolas"/>
            </a:endParaRPr>
          </a:p>
        </p:txBody>
      </p:sp>
      <p:sp>
        <p:nvSpPr>
          <p:cNvPr id="340" name="Google Shape;340;p34"/>
          <p:cNvSpPr/>
          <p:nvPr/>
        </p:nvSpPr>
        <p:spPr>
          <a:xfrm>
            <a:off x="6406904" y="222072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a</a:t>
            </a:r>
            <a:endParaRPr>
              <a:latin typeface="Consolas"/>
              <a:ea typeface="Consolas"/>
              <a:cs typeface="Consolas"/>
              <a:sym typeface="Consolas"/>
            </a:endParaRPr>
          </a:p>
        </p:txBody>
      </p:sp>
      <p:sp>
        <p:nvSpPr>
          <p:cNvPr id="341" name="Google Shape;341;p34"/>
          <p:cNvSpPr/>
          <p:nvPr/>
        </p:nvSpPr>
        <p:spPr>
          <a:xfrm>
            <a:off x="6406904" y="2987275"/>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m</a:t>
            </a:r>
            <a:endParaRPr>
              <a:latin typeface="Consolas"/>
              <a:ea typeface="Consolas"/>
              <a:cs typeface="Consolas"/>
              <a:sym typeface="Consolas"/>
            </a:endParaRPr>
          </a:p>
        </p:txBody>
      </p:sp>
      <p:cxnSp>
        <p:nvCxnSpPr>
          <p:cNvPr id="342" name="Google Shape;342;p34"/>
          <p:cNvCxnSpPr>
            <a:stCxn id="338" idx="4"/>
            <a:endCxn id="339" idx="0"/>
          </p:cNvCxnSpPr>
          <p:nvPr/>
        </p:nvCxnSpPr>
        <p:spPr>
          <a:xfrm>
            <a:off x="6425579" y="1197300"/>
            <a:ext cx="197700" cy="256800"/>
          </a:xfrm>
          <a:prstGeom prst="straightConnector1">
            <a:avLst/>
          </a:prstGeom>
          <a:noFill/>
          <a:ln w="9525" cap="flat" cmpd="sng">
            <a:solidFill>
              <a:schemeClr val="dk2"/>
            </a:solidFill>
            <a:prstDash val="solid"/>
            <a:round/>
            <a:headEnd type="none" w="med" len="med"/>
            <a:tailEnd type="none" w="med" len="med"/>
          </a:ln>
        </p:spPr>
      </p:cxnSp>
      <p:cxnSp>
        <p:nvCxnSpPr>
          <p:cNvPr id="343" name="Google Shape;343;p34"/>
          <p:cNvCxnSpPr>
            <a:stCxn id="339" idx="4"/>
            <a:endCxn id="340" idx="0"/>
          </p:cNvCxnSpPr>
          <p:nvPr/>
        </p:nvCxnSpPr>
        <p:spPr>
          <a:xfrm>
            <a:off x="6623354" y="1887075"/>
            <a:ext cx="0" cy="333600"/>
          </a:xfrm>
          <a:prstGeom prst="straightConnector1">
            <a:avLst/>
          </a:prstGeom>
          <a:noFill/>
          <a:ln w="9525" cap="flat" cmpd="sng">
            <a:solidFill>
              <a:schemeClr val="dk2"/>
            </a:solidFill>
            <a:prstDash val="solid"/>
            <a:round/>
            <a:headEnd type="none" w="med" len="med"/>
            <a:tailEnd type="none" w="med" len="med"/>
          </a:ln>
        </p:spPr>
      </p:cxnSp>
      <p:cxnSp>
        <p:nvCxnSpPr>
          <p:cNvPr id="344" name="Google Shape;344;p34"/>
          <p:cNvCxnSpPr>
            <a:stCxn id="340" idx="4"/>
            <a:endCxn id="341" idx="0"/>
          </p:cNvCxnSpPr>
          <p:nvPr/>
        </p:nvCxnSpPr>
        <p:spPr>
          <a:xfrm>
            <a:off x="6623354" y="2653625"/>
            <a:ext cx="0" cy="333600"/>
          </a:xfrm>
          <a:prstGeom prst="straightConnector1">
            <a:avLst/>
          </a:prstGeom>
          <a:noFill/>
          <a:ln w="9525" cap="flat" cmpd="sng">
            <a:solidFill>
              <a:schemeClr val="dk2"/>
            </a:solidFill>
            <a:prstDash val="solid"/>
            <a:round/>
            <a:headEnd type="none" w="med" len="med"/>
            <a:tailEnd type="none" w="med" len="med"/>
          </a:ln>
        </p:spPr>
      </p:cxnSp>
      <p:sp>
        <p:nvSpPr>
          <p:cNvPr id="345" name="Google Shape;345;p34"/>
          <p:cNvSpPr/>
          <p:nvPr/>
        </p:nvSpPr>
        <p:spPr>
          <a:xfrm>
            <a:off x="5776229" y="2987275"/>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d</a:t>
            </a:r>
            <a:endParaRPr>
              <a:latin typeface="Consolas"/>
              <a:ea typeface="Consolas"/>
              <a:cs typeface="Consolas"/>
              <a:sym typeface="Consolas"/>
            </a:endParaRPr>
          </a:p>
        </p:txBody>
      </p:sp>
      <p:cxnSp>
        <p:nvCxnSpPr>
          <p:cNvPr id="346" name="Google Shape;346;p34"/>
          <p:cNvCxnSpPr>
            <a:stCxn id="340" idx="4"/>
            <a:endCxn id="345" idx="0"/>
          </p:cNvCxnSpPr>
          <p:nvPr/>
        </p:nvCxnSpPr>
        <p:spPr>
          <a:xfrm flipH="1">
            <a:off x="5992754" y="2653625"/>
            <a:ext cx="630600" cy="333600"/>
          </a:xfrm>
          <a:prstGeom prst="straightConnector1">
            <a:avLst/>
          </a:prstGeom>
          <a:noFill/>
          <a:ln w="9525" cap="flat" cmpd="sng">
            <a:solidFill>
              <a:schemeClr val="dk2"/>
            </a:solidFill>
            <a:prstDash val="solid"/>
            <a:round/>
            <a:headEnd type="none" w="med" len="med"/>
            <a:tailEnd type="none" w="med" len="med"/>
          </a:ln>
        </p:spPr>
      </p:cxnSp>
      <p:sp>
        <p:nvSpPr>
          <p:cNvPr id="347" name="Google Shape;347;p34"/>
          <p:cNvSpPr/>
          <p:nvPr/>
        </p:nvSpPr>
        <p:spPr>
          <a:xfrm>
            <a:off x="7018829" y="2987275"/>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p</a:t>
            </a:r>
            <a:endParaRPr>
              <a:latin typeface="Consolas"/>
              <a:ea typeface="Consolas"/>
              <a:cs typeface="Consolas"/>
              <a:sym typeface="Consolas"/>
            </a:endParaRPr>
          </a:p>
        </p:txBody>
      </p:sp>
      <p:cxnSp>
        <p:nvCxnSpPr>
          <p:cNvPr id="348" name="Google Shape;348;p34"/>
          <p:cNvCxnSpPr>
            <a:stCxn id="340" idx="4"/>
            <a:endCxn id="347" idx="0"/>
          </p:cNvCxnSpPr>
          <p:nvPr/>
        </p:nvCxnSpPr>
        <p:spPr>
          <a:xfrm>
            <a:off x="6623354" y="2653625"/>
            <a:ext cx="612000" cy="333600"/>
          </a:xfrm>
          <a:prstGeom prst="straightConnector1">
            <a:avLst/>
          </a:prstGeom>
          <a:noFill/>
          <a:ln w="9525" cap="flat" cmpd="sng">
            <a:solidFill>
              <a:schemeClr val="dk2"/>
            </a:solidFill>
            <a:prstDash val="solid"/>
            <a:round/>
            <a:headEnd type="none" w="med" len="med"/>
            <a:tailEnd type="none" w="med" len="med"/>
          </a:ln>
        </p:spPr>
      </p:cxnSp>
      <p:sp>
        <p:nvSpPr>
          <p:cNvPr id="349" name="Google Shape;349;p34"/>
          <p:cNvSpPr/>
          <p:nvPr/>
        </p:nvSpPr>
        <p:spPr>
          <a:xfrm>
            <a:off x="6406904" y="3628850"/>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e</a:t>
            </a:r>
            <a:endParaRPr>
              <a:latin typeface="Consolas"/>
              <a:ea typeface="Consolas"/>
              <a:cs typeface="Consolas"/>
              <a:sym typeface="Consolas"/>
            </a:endParaRPr>
          </a:p>
        </p:txBody>
      </p:sp>
      <p:cxnSp>
        <p:nvCxnSpPr>
          <p:cNvPr id="350" name="Google Shape;350;p34"/>
          <p:cNvCxnSpPr>
            <a:stCxn id="341" idx="4"/>
            <a:endCxn id="349" idx="0"/>
          </p:cNvCxnSpPr>
          <p:nvPr/>
        </p:nvCxnSpPr>
        <p:spPr>
          <a:xfrm>
            <a:off x="6623354" y="3420175"/>
            <a:ext cx="0" cy="208800"/>
          </a:xfrm>
          <a:prstGeom prst="straightConnector1">
            <a:avLst/>
          </a:prstGeom>
          <a:noFill/>
          <a:ln w="9525" cap="flat" cmpd="sng">
            <a:solidFill>
              <a:schemeClr val="dk2"/>
            </a:solidFill>
            <a:prstDash val="solid"/>
            <a:round/>
            <a:headEnd type="none" w="med" len="med"/>
            <a:tailEnd type="none" w="med" len="med"/>
          </a:ln>
        </p:spPr>
      </p:cxnSp>
      <p:sp>
        <p:nvSpPr>
          <p:cNvPr id="351" name="Google Shape;351;p34"/>
          <p:cNvSpPr/>
          <p:nvPr/>
        </p:nvSpPr>
        <p:spPr>
          <a:xfrm>
            <a:off x="5236179" y="1454175"/>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a</a:t>
            </a:r>
            <a:endParaRPr>
              <a:latin typeface="Consolas"/>
              <a:ea typeface="Consolas"/>
              <a:cs typeface="Consolas"/>
              <a:sym typeface="Consolas"/>
            </a:endParaRPr>
          </a:p>
        </p:txBody>
      </p:sp>
      <p:cxnSp>
        <p:nvCxnSpPr>
          <p:cNvPr id="352" name="Google Shape;352;p34"/>
          <p:cNvCxnSpPr>
            <a:stCxn id="338" idx="4"/>
            <a:endCxn id="351" idx="0"/>
          </p:cNvCxnSpPr>
          <p:nvPr/>
        </p:nvCxnSpPr>
        <p:spPr>
          <a:xfrm flipH="1">
            <a:off x="5452679" y="1197300"/>
            <a:ext cx="972900" cy="256800"/>
          </a:xfrm>
          <a:prstGeom prst="straightConnector1">
            <a:avLst/>
          </a:prstGeom>
          <a:noFill/>
          <a:ln w="9525" cap="flat" cmpd="sng">
            <a:solidFill>
              <a:schemeClr val="dk2"/>
            </a:solidFill>
            <a:prstDash val="solid"/>
            <a:round/>
            <a:headEnd type="none" w="med" len="med"/>
            <a:tailEnd type="none" w="med" len="med"/>
          </a:ln>
        </p:spPr>
      </p:cxnSp>
      <p:sp>
        <p:nvSpPr>
          <p:cNvPr id="353" name="Google Shape;353;p34"/>
          <p:cNvSpPr/>
          <p:nvPr/>
        </p:nvSpPr>
        <p:spPr>
          <a:xfrm>
            <a:off x="4998579" y="2314750"/>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w</a:t>
            </a:r>
            <a:endParaRPr>
              <a:latin typeface="Consolas"/>
              <a:ea typeface="Consolas"/>
              <a:cs typeface="Consolas"/>
              <a:sym typeface="Consolas"/>
            </a:endParaRPr>
          </a:p>
        </p:txBody>
      </p:sp>
      <p:sp>
        <p:nvSpPr>
          <p:cNvPr id="354" name="Google Shape;354;p34"/>
          <p:cNvSpPr/>
          <p:nvPr/>
        </p:nvSpPr>
        <p:spPr>
          <a:xfrm>
            <a:off x="5019779" y="293772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l</a:t>
            </a:r>
            <a:endParaRPr>
              <a:latin typeface="Consolas"/>
              <a:ea typeface="Consolas"/>
              <a:cs typeface="Consolas"/>
              <a:sym typeface="Consolas"/>
            </a:endParaRPr>
          </a:p>
        </p:txBody>
      </p:sp>
      <p:sp>
        <p:nvSpPr>
          <p:cNvPr id="355" name="Google Shape;355;p34"/>
          <p:cNvSpPr/>
          <p:nvPr/>
        </p:nvSpPr>
        <p:spPr>
          <a:xfrm>
            <a:off x="5039129" y="3560700"/>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s</a:t>
            </a:r>
            <a:endParaRPr>
              <a:latin typeface="Consolas"/>
              <a:ea typeface="Consolas"/>
              <a:cs typeface="Consolas"/>
              <a:sym typeface="Consolas"/>
            </a:endParaRPr>
          </a:p>
        </p:txBody>
      </p:sp>
      <p:cxnSp>
        <p:nvCxnSpPr>
          <p:cNvPr id="356" name="Google Shape;356;p34"/>
          <p:cNvCxnSpPr>
            <a:stCxn id="351" idx="4"/>
            <a:endCxn id="353" idx="0"/>
          </p:cNvCxnSpPr>
          <p:nvPr/>
        </p:nvCxnSpPr>
        <p:spPr>
          <a:xfrm flipH="1">
            <a:off x="5215029" y="1887075"/>
            <a:ext cx="237600" cy="427800"/>
          </a:xfrm>
          <a:prstGeom prst="straightConnector1">
            <a:avLst/>
          </a:prstGeom>
          <a:noFill/>
          <a:ln w="9525" cap="flat" cmpd="sng">
            <a:solidFill>
              <a:schemeClr val="dk2"/>
            </a:solidFill>
            <a:prstDash val="solid"/>
            <a:round/>
            <a:headEnd type="none" w="med" len="med"/>
            <a:tailEnd type="none" w="med" len="med"/>
          </a:ln>
        </p:spPr>
      </p:cxnSp>
      <p:cxnSp>
        <p:nvCxnSpPr>
          <p:cNvPr id="357" name="Google Shape;357;p34"/>
          <p:cNvCxnSpPr>
            <a:stCxn id="353" idx="4"/>
            <a:endCxn id="354" idx="0"/>
          </p:cNvCxnSpPr>
          <p:nvPr/>
        </p:nvCxnSpPr>
        <p:spPr>
          <a:xfrm>
            <a:off x="5215029" y="2747650"/>
            <a:ext cx="21300" cy="190200"/>
          </a:xfrm>
          <a:prstGeom prst="straightConnector1">
            <a:avLst/>
          </a:prstGeom>
          <a:noFill/>
          <a:ln w="9525" cap="flat" cmpd="sng">
            <a:solidFill>
              <a:schemeClr val="dk2"/>
            </a:solidFill>
            <a:prstDash val="solid"/>
            <a:round/>
            <a:headEnd type="none" w="med" len="med"/>
            <a:tailEnd type="none" w="med" len="med"/>
          </a:ln>
        </p:spPr>
      </p:cxnSp>
      <p:cxnSp>
        <p:nvCxnSpPr>
          <p:cNvPr id="358" name="Google Shape;358;p34"/>
          <p:cNvCxnSpPr>
            <a:stCxn id="354" idx="4"/>
            <a:endCxn id="355" idx="0"/>
          </p:cNvCxnSpPr>
          <p:nvPr/>
        </p:nvCxnSpPr>
        <p:spPr>
          <a:xfrm>
            <a:off x="5236229" y="3370625"/>
            <a:ext cx="19500" cy="190200"/>
          </a:xfrm>
          <a:prstGeom prst="straightConnector1">
            <a:avLst/>
          </a:prstGeom>
          <a:noFill/>
          <a:ln w="9525" cap="flat" cmpd="sng">
            <a:solidFill>
              <a:schemeClr val="dk2"/>
            </a:solidFill>
            <a:prstDash val="solid"/>
            <a:round/>
            <a:headEnd type="none" w="med" len="med"/>
            <a:tailEnd type="none" w="med" len="med"/>
          </a:ln>
        </p:spPr>
      </p:cxnSp>
      <p:sp>
        <p:nvSpPr>
          <p:cNvPr id="2" name="TextBox 1">
            <a:extLst>
              <a:ext uri="{FF2B5EF4-FFF2-40B4-BE49-F238E27FC236}">
                <a16:creationId xmlns:a16="http://schemas.microsoft.com/office/drawing/2014/main" id="{3D238C43-E9B0-2D94-A79E-4CBB715751A4}"/>
              </a:ext>
            </a:extLst>
          </p:cNvPr>
          <p:cNvSpPr txBox="1"/>
          <p:nvPr/>
        </p:nvSpPr>
        <p:spPr>
          <a:xfrm>
            <a:off x="670956" y="1977242"/>
            <a:ext cx="2629246" cy="307777"/>
          </a:xfrm>
          <a:prstGeom prst="rect">
            <a:avLst/>
          </a:prstGeom>
          <a:noFill/>
        </p:spPr>
        <p:txBody>
          <a:bodyPr wrap="none" rtlCol="0">
            <a:spAutoFit/>
          </a:bodyPr>
          <a:lstStyle/>
          <a:p>
            <a:r>
              <a:rPr lang="en-US" altLang="zh-CN" b="1" dirty="0">
                <a:solidFill>
                  <a:srgbClr val="00B0F0"/>
                </a:solidFill>
              </a:rPr>
              <a:t>MARK the end of each string</a:t>
            </a:r>
            <a:endParaRPr lang="zh-CN" altLang="en-US" b="1" dirty="0">
              <a:solidFill>
                <a:srgbClr val="00B0F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5"/>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Tries: Search Hits and Misses</a:t>
            </a:r>
            <a:endParaRPr/>
          </a:p>
        </p:txBody>
      </p:sp>
      <p:sp>
        <p:nvSpPr>
          <p:cNvPr id="364" name="Google Shape;364;p35"/>
          <p:cNvSpPr txBox="1">
            <a:spLocks noGrp="1"/>
          </p:cNvSpPr>
          <p:nvPr>
            <p:ph type="body" idx="1"/>
          </p:nvPr>
        </p:nvSpPr>
        <p:spPr>
          <a:xfrm>
            <a:off x="90600" y="404100"/>
            <a:ext cx="8443800" cy="2150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Suppose we insert “sam”, “sad”, “sap”, “same”, “a”, and “awls”.</a:t>
            </a:r>
            <a:endParaRPr/>
          </a:p>
          <a:p>
            <a:pPr marL="457200" lvl="0" indent="-342900" algn="l" rtl="0">
              <a:spcBef>
                <a:spcPts val="600"/>
              </a:spcBef>
              <a:spcAft>
                <a:spcPts val="0"/>
              </a:spcAft>
              <a:buSzPts val="1800"/>
              <a:buChar char="●"/>
            </a:pPr>
            <a:r>
              <a:rPr lang="en"/>
              <a:t>contains(“sam”):</a:t>
            </a:r>
            <a:endParaRPr/>
          </a:p>
          <a:p>
            <a:pPr marL="457200" lvl="0" indent="-342900" algn="l" rtl="0">
              <a:spcBef>
                <a:spcPts val="0"/>
              </a:spcBef>
              <a:spcAft>
                <a:spcPts val="0"/>
              </a:spcAft>
              <a:buSzPts val="1800"/>
              <a:buChar char="●"/>
            </a:pPr>
            <a:r>
              <a:rPr lang="en"/>
              <a:t>contains(“sa”):</a:t>
            </a:r>
            <a:endParaRPr/>
          </a:p>
          <a:p>
            <a:pPr marL="457200" lvl="0" indent="-342900" algn="l" rtl="0">
              <a:spcBef>
                <a:spcPts val="0"/>
              </a:spcBef>
              <a:spcAft>
                <a:spcPts val="0"/>
              </a:spcAft>
              <a:buSzPts val="1800"/>
              <a:buChar char="●"/>
            </a:pPr>
            <a:r>
              <a:rPr lang="en"/>
              <a:t>contains(“a”):</a:t>
            </a:r>
            <a:endParaRPr/>
          </a:p>
          <a:p>
            <a:pPr marL="457200" lvl="0" indent="-342900" algn="l" rtl="0">
              <a:spcBef>
                <a:spcPts val="0"/>
              </a:spcBef>
              <a:spcAft>
                <a:spcPts val="0"/>
              </a:spcAft>
              <a:buSzPts val="1800"/>
              <a:buChar char="●"/>
            </a:pPr>
            <a:r>
              <a:rPr lang="en"/>
              <a:t>contains(“saq”):</a:t>
            </a:r>
            <a:endParaRPr/>
          </a:p>
        </p:txBody>
      </p:sp>
      <p:sp>
        <p:nvSpPr>
          <p:cNvPr id="365" name="Google Shape;365;p35"/>
          <p:cNvSpPr/>
          <p:nvPr/>
        </p:nvSpPr>
        <p:spPr>
          <a:xfrm>
            <a:off x="7191630" y="11331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366" name="Google Shape;366;p35"/>
          <p:cNvSpPr/>
          <p:nvPr/>
        </p:nvSpPr>
        <p:spPr>
          <a:xfrm>
            <a:off x="7867175" y="188609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sp>
        <p:nvSpPr>
          <p:cNvPr id="367" name="Google Shape;367;p35"/>
          <p:cNvSpPr/>
          <p:nvPr/>
        </p:nvSpPr>
        <p:spPr>
          <a:xfrm>
            <a:off x="7867175" y="2521373"/>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368" name="Google Shape;368;p35"/>
          <p:cNvSpPr/>
          <p:nvPr/>
        </p:nvSpPr>
        <p:spPr>
          <a:xfrm>
            <a:off x="7867175" y="31566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m</a:t>
            </a:r>
            <a:endParaRPr sz="1800">
              <a:latin typeface="Consolas"/>
              <a:ea typeface="Consolas"/>
              <a:cs typeface="Consolas"/>
              <a:sym typeface="Consolas"/>
            </a:endParaRPr>
          </a:p>
        </p:txBody>
      </p:sp>
      <p:sp>
        <p:nvSpPr>
          <p:cNvPr id="369" name="Google Shape;369;p35"/>
          <p:cNvSpPr/>
          <p:nvPr/>
        </p:nvSpPr>
        <p:spPr>
          <a:xfrm>
            <a:off x="7237675" y="31566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d</a:t>
            </a:r>
            <a:endParaRPr sz="1800">
              <a:latin typeface="Consolas"/>
              <a:ea typeface="Consolas"/>
              <a:cs typeface="Consolas"/>
              <a:sym typeface="Consolas"/>
            </a:endParaRPr>
          </a:p>
        </p:txBody>
      </p:sp>
      <p:sp>
        <p:nvSpPr>
          <p:cNvPr id="370" name="Google Shape;370;p35"/>
          <p:cNvSpPr/>
          <p:nvPr/>
        </p:nvSpPr>
        <p:spPr>
          <a:xfrm>
            <a:off x="8496675" y="31566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p</a:t>
            </a:r>
            <a:endParaRPr sz="1800">
              <a:latin typeface="Consolas"/>
              <a:ea typeface="Consolas"/>
              <a:cs typeface="Consolas"/>
              <a:sym typeface="Consolas"/>
            </a:endParaRPr>
          </a:p>
        </p:txBody>
      </p:sp>
      <p:sp>
        <p:nvSpPr>
          <p:cNvPr id="371" name="Google Shape;371;p35"/>
          <p:cNvSpPr/>
          <p:nvPr/>
        </p:nvSpPr>
        <p:spPr>
          <a:xfrm>
            <a:off x="7867175" y="3791927"/>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e</a:t>
            </a:r>
            <a:endParaRPr sz="1800">
              <a:latin typeface="Consolas"/>
              <a:ea typeface="Consolas"/>
              <a:cs typeface="Consolas"/>
              <a:sym typeface="Consolas"/>
            </a:endParaRPr>
          </a:p>
        </p:txBody>
      </p:sp>
      <p:sp>
        <p:nvSpPr>
          <p:cNvPr id="372" name="Google Shape;372;p35"/>
          <p:cNvSpPr/>
          <p:nvPr/>
        </p:nvSpPr>
        <p:spPr>
          <a:xfrm>
            <a:off x="6541600" y="1886111"/>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373" name="Google Shape;373;p35"/>
          <p:cNvSpPr/>
          <p:nvPr/>
        </p:nvSpPr>
        <p:spPr>
          <a:xfrm>
            <a:off x="6541600" y="252138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w</a:t>
            </a:r>
            <a:endParaRPr sz="1800">
              <a:latin typeface="Consolas"/>
              <a:ea typeface="Consolas"/>
              <a:cs typeface="Consolas"/>
              <a:sym typeface="Consolas"/>
            </a:endParaRPr>
          </a:p>
        </p:txBody>
      </p:sp>
      <p:sp>
        <p:nvSpPr>
          <p:cNvPr id="374" name="Google Shape;374;p35"/>
          <p:cNvSpPr/>
          <p:nvPr/>
        </p:nvSpPr>
        <p:spPr>
          <a:xfrm>
            <a:off x="6541600" y="3156661"/>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l</a:t>
            </a:r>
            <a:endParaRPr sz="1800">
              <a:latin typeface="Consolas"/>
              <a:ea typeface="Consolas"/>
              <a:cs typeface="Consolas"/>
              <a:sym typeface="Consolas"/>
            </a:endParaRPr>
          </a:p>
        </p:txBody>
      </p:sp>
      <p:cxnSp>
        <p:nvCxnSpPr>
          <p:cNvPr id="375" name="Google Shape;375;p35"/>
          <p:cNvCxnSpPr/>
          <p:nvPr/>
        </p:nvCxnSpPr>
        <p:spPr>
          <a:xfrm>
            <a:off x="8083625" y="3589552"/>
            <a:ext cx="0" cy="0"/>
          </a:xfrm>
          <a:prstGeom prst="straightConnector1">
            <a:avLst/>
          </a:prstGeom>
          <a:noFill/>
          <a:ln w="19050" cap="flat" cmpd="sng">
            <a:solidFill>
              <a:schemeClr val="dk2"/>
            </a:solidFill>
            <a:prstDash val="solid"/>
            <a:round/>
            <a:headEnd type="none" w="med" len="med"/>
            <a:tailEnd type="none" w="med" len="med"/>
          </a:ln>
        </p:spPr>
      </p:cxnSp>
      <p:cxnSp>
        <p:nvCxnSpPr>
          <p:cNvPr id="376" name="Google Shape;376;p35"/>
          <p:cNvCxnSpPr>
            <a:stCxn id="365" idx="5"/>
            <a:endCxn id="366" idx="0"/>
          </p:cNvCxnSpPr>
          <p:nvPr/>
        </p:nvCxnSpPr>
        <p:spPr>
          <a:xfrm>
            <a:off x="7561133" y="1502678"/>
            <a:ext cx="522600" cy="383400"/>
          </a:xfrm>
          <a:prstGeom prst="straightConnector1">
            <a:avLst/>
          </a:prstGeom>
          <a:noFill/>
          <a:ln w="28575" cap="flat" cmpd="sng">
            <a:solidFill>
              <a:schemeClr val="dk2"/>
            </a:solidFill>
            <a:prstDash val="solid"/>
            <a:round/>
            <a:headEnd type="none" w="med" len="med"/>
            <a:tailEnd type="none" w="med" len="med"/>
          </a:ln>
        </p:spPr>
      </p:cxnSp>
      <p:cxnSp>
        <p:nvCxnSpPr>
          <p:cNvPr id="377" name="Google Shape;377;p35"/>
          <p:cNvCxnSpPr>
            <a:stCxn id="366" idx="4"/>
            <a:endCxn id="367" idx="0"/>
          </p:cNvCxnSpPr>
          <p:nvPr/>
        </p:nvCxnSpPr>
        <p:spPr>
          <a:xfrm>
            <a:off x="8083625" y="2318996"/>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378" name="Google Shape;378;p35"/>
          <p:cNvCxnSpPr>
            <a:stCxn id="367" idx="4"/>
            <a:endCxn id="368" idx="0"/>
          </p:cNvCxnSpPr>
          <p:nvPr/>
        </p:nvCxnSpPr>
        <p:spPr>
          <a:xfrm>
            <a:off x="8083625" y="2954273"/>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379" name="Google Shape;379;p35"/>
          <p:cNvCxnSpPr>
            <a:stCxn id="367" idx="3"/>
            <a:endCxn id="369" idx="0"/>
          </p:cNvCxnSpPr>
          <p:nvPr/>
        </p:nvCxnSpPr>
        <p:spPr>
          <a:xfrm flipH="1">
            <a:off x="7454172" y="2890877"/>
            <a:ext cx="476400" cy="265800"/>
          </a:xfrm>
          <a:prstGeom prst="straightConnector1">
            <a:avLst/>
          </a:prstGeom>
          <a:noFill/>
          <a:ln w="28575" cap="flat" cmpd="sng">
            <a:solidFill>
              <a:schemeClr val="dk2"/>
            </a:solidFill>
            <a:prstDash val="solid"/>
            <a:round/>
            <a:headEnd type="none" w="med" len="med"/>
            <a:tailEnd type="none" w="med" len="med"/>
          </a:ln>
        </p:spPr>
      </p:cxnSp>
      <p:cxnSp>
        <p:nvCxnSpPr>
          <p:cNvPr id="380" name="Google Shape;380;p35"/>
          <p:cNvCxnSpPr>
            <a:stCxn id="367" idx="5"/>
            <a:endCxn id="370" idx="0"/>
          </p:cNvCxnSpPr>
          <p:nvPr/>
        </p:nvCxnSpPr>
        <p:spPr>
          <a:xfrm>
            <a:off x="8236678" y="2890877"/>
            <a:ext cx="476400" cy="265800"/>
          </a:xfrm>
          <a:prstGeom prst="straightConnector1">
            <a:avLst/>
          </a:prstGeom>
          <a:noFill/>
          <a:ln w="28575" cap="flat" cmpd="sng">
            <a:solidFill>
              <a:schemeClr val="dk2"/>
            </a:solidFill>
            <a:prstDash val="solid"/>
            <a:round/>
            <a:headEnd type="none" w="med" len="med"/>
            <a:tailEnd type="none" w="med" len="med"/>
          </a:ln>
        </p:spPr>
      </p:cxnSp>
      <p:cxnSp>
        <p:nvCxnSpPr>
          <p:cNvPr id="381" name="Google Shape;381;p35"/>
          <p:cNvCxnSpPr>
            <a:stCxn id="368" idx="4"/>
            <a:endCxn id="371" idx="0"/>
          </p:cNvCxnSpPr>
          <p:nvPr/>
        </p:nvCxnSpPr>
        <p:spPr>
          <a:xfrm>
            <a:off x="8083625" y="3589552"/>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382" name="Google Shape;382;p35"/>
          <p:cNvCxnSpPr>
            <a:stCxn id="365" idx="3"/>
            <a:endCxn id="372" idx="0"/>
          </p:cNvCxnSpPr>
          <p:nvPr/>
        </p:nvCxnSpPr>
        <p:spPr>
          <a:xfrm flipH="1">
            <a:off x="6757926" y="1502678"/>
            <a:ext cx="497100" cy="383400"/>
          </a:xfrm>
          <a:prstGeom prst="straightConnector1">
            <a:avLst/>
          </a:prstGeom>
          <a:noFill/>
          <a:ln w="28575" cap="flat" cmpd="sng">
            <a:solidFill>
              <a:schemeClr val="dk2"/>
            </a:solidFill>
            <a:prstDash val="solid"/>
            <a:round/>
            <a:headEnd type="none" w="med" len="med"/>
            <a:tailEnd type="none" w="med" len="med"/>
          </a:ln>
        </p:spPr>
      </p:cxnSp>
      <p:cxnSp>
        <p:nvCxnSpPr>
          <p:cNvPr id="383" name="Google Shape;383;p35"/>
          <p:cNvCxnSpPr>
            <a:endCxn id="373" idx="0"/>
          </p:cNvCxnSpPr>
          <p:nvPr/>
        </p:nvCxnSpPr>
        <p:spPr>
          <a:xfrm>
            <a:off x="6758050" y="2318886"/>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384" name="Google Shape;384;p35"/>
          <p:cNvCxnSpPr>
            <a:endCxn id="374" idx="0"/>
          </p:cNvCxnSpPr>
          <p:nvPr/>
        </p:nvCxnSpPr>
        <p:spPr>
          <a:xfrm>
            <a:off x="6758050" y="2954161"/>
            <a:ext cx="0" cy="202500"/>
          </a:xfrm>
          <a:prstGeom prst="straightConnector1">
            <a:avLst/>
          </a:prstGeom>
          <a:noFill/>
          <a:ln w="28575" cap="flat" cmpd="sng">
            <a:solidFill>
              <a:schemeClr val="dk2"/>
            </a:solidFill>
            <a:prstDash val="solid"/>
            <a:round/>
            <a:headEnd type="none" w="med" len="med"/>
            <a:tailEnd type="none" w="med" len="med"/>
          </a:ln>
        </p:spPr>
      </p:cxnSp>
      <p:sp>
        <p:nvSpPr>
          <p:cNvPr id="385" name="Google Shape;385;p35"/>
          <p:cNvSpPr/>
          <p:nvPr/>
        </p:nvSpPr>
        <p:spPr>
          <a:xfrm>
            <a:off x="6541600" y="3791936"/>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cxnSp>
        <p:nvCxnSpPr>
          <p:cNvPr id="386" name="Google Shape;386;p35"/>
          <p:cNvCxnSpPr>
            <a:stCxn id="374" idx="4"/>
            <a:endCxn id="385" idx="0"/>
          </p:cNvCxnSpPr>
          <p:nvPr/>
        </p:nvCxnSpPr>
        <p:spPr>
          <a:xfrm>
            <a:off x="6758050" y="3589561"/>
            <a:ext cx="0" cy="202500"/>
          </a:xfrm>
          <a:prstGeom prst="straightConnector1">
            <a:avLst/>
          </a:prstGeom>
          <a:noFill/>
          <a:ln w="28575" cap="flat" cmpd="sng">
            <a:solidFill>
              <a:schemeClr val="dk2"/>
            </a:solidFill>
            <a:prstDash val="solid"/>
            <a:round/>
            <a:headEnd type="none" w="med" len="med"/>
            <a:tailEnd type="none" w="med" len="med"/>
          </a:ln>
        </p:spPr>
      </p:cxnSp>
      <p:sp>
        <p:nvSpPr>
          <p:cNvPr id="387" name="Google Shape;387;p35"/>
          <p:cNvSpPr txBox="1"/>
          <p:nvPr/>
        </p:nvSpPr>
        <p:spPr>
          <a:xfrm>
            <a:off x="243000" y="2895900"/>
            <a:ext cx="4919100" cy="1541700"/>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None/>
            </a:pPr>
            <a:r>
              <a:rPr lang="en" sz="1800">
                <a:solidFill>
                  <a:schemeClr val="dk1"/>
                </a:solidFill>
                <a:latin typeface="Roboto"/>
                <a:ea typeface="Roboto"/>
                <a:cs typeface="Roboto"/>
                <a:sym typeface="Roboto"/>
              </a:rPr>
              <a:t>Two ways to have a search “miss”:</a:t>
            </a:r>
            <a:endParaRPr sz="1800">
              <a:solidFill>
                <a:schemeClr val="dk1"/>
              </a:solidFill>
              <a:latin typeface="Roboto"/>
              <a:ea typeface="Roboto"/>
              <a:cs typeface="Roboto"/>
              <a:sym typeface="Roboto"/>
            </a:endParaRPr>
          </a:p>
          <a:p>
            <a:pPr marL="457200" lvl="0" indent="-342900" algn="l" rtl="0">
              <a:spcBef>
                <a:spcPts val="600"/>
              </a:spcBef>
              <a:spcAft>
                <a:spcPts val="0"/>
              </a:spcAft>
              <a:buClr>
                <a:schemeClr val="dk1"/>
              </a:buClr>
              <a:buSzPts val="1800"/>
              <a:buFont typeface="Roboto"/>
              <a:buChar char="●"/>
            </a:pPr>
            <a:r>
              <a:rPr lang="en" sz="1800">
                <a:solidFill>
                  <a:schemeClr val="dk1"/>
                </a:solidFill>
                <a:latin typeface="Roboto"/>
                <a:ea typeface="Roboto"/>
                <a:cs typeface="Roboto"/>
                <a:sym typeface="Roboto"/>
              </a:rPr>
              <a:t>If the final node is white.</a:t>
            </a:r>
            <a:endParaRPr sz="1800">
              <a:solidFill>
                <a:schemeClr val="dk1"/>
              </a:solidFill>
              <a:latin typeface="Roboto"/>
              <a:ea typeface="Roboto"/>
              <a:cs typeface="Roboto"/>
              <a:sym typeface="Roboto"/>
            </a:endParaRPr>
          </a:p>
          <a:p>
            <a:pPr marL="457200" lvl="0" indent="-342900" algn="l" rtl="0">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If we fall off the tree, e.g. contains(“sax”).</a:t>
            </a:r>
            <a:endParaRPr sz="1800">
              <a:solidFill>
                <a:schemeClr val="dk1"/>
              </a:solidFill>
              <a:latin typeface="Roboto"/>
              <a:ea typeface="Roboto"/>
              <a:cs typeface="Roboto"/>
              <a:sym typeface="Roboto"/>
            </a:endParaRPr>
          </a:p>
        </p:txBody>
      </p:sp>
      <p:sp>
        <p:nvSpPr>
          <p:cNvPr id="388" name="Google Shape;388;p35"/>
          <p:cNvSpPr txBox="1"/>
          <p:nvPr/>
        </p:nvSpPr>
        <p:spPr>
          <a:xfrm>
            <a:off x="2366866" y="860144"/>
            <a:ext cx="1494600" cy="332100"/>
          </a:xfrm>
          <a:prstGeom prst="rect">
            <a:avLst/>
          </a:prstGeom>
          <a:noFill/>
          <a:ln>
            <a:noFill/>
          </a:ln>
        </p:spPr>
        <p:txBody>
          <a:bodyPr spcFirstLastPara="1" wrap="square" lIns="0" tIns="0" rIns="0" bIns="0" anchor="ctr" anchorCtr="0">
            <a:noAutofit/>
          </a:bodyPr>
          <a:lstStyle/>
          <a:p>
            <a:pPr marL="0" lvl="0" indent="0" algn="l" rtl="0">
              <a:spcBef>
                <a:spcPts val="600"/>
              </a:spcBef>
              <a:spcAft>
                <a:spcPts val="0"/>
              </a:spcAft>
              <a:buNone/>
            </a:pPr>
            <a:r>
              <a:rPr lang="en" sz="1800">
                <a:solidFill>
                  <a:schemeClr val="dk1"/>
                </a:solidFill>
                <a:latin typeface="Roboto"/>
                <a:ea typeface="Roboto"/>
                <a:cs typeface="Roboto"/>
                <a:sym typeface="Roboto"/>
              </a:rPr>
              <a:t>true, blue node</a:t>
            </a:r>
            <a:endParaRPr sz="1800">
              <a:latin typeface="Roboto"/>
              <a:ea typeface="Roboto"/>
              <a:cs typeface="Roboto"/>
              <a:sym typeface="Roboto"/>
            </a:endParaRPr>
          </a:p>
        </p:txBody>
      </p:sp>
      <p:sp>
        <p:nvSpPr>
          <p:cNvPr id="389" name="Google Shape;389;p35"/>
          <p:cNvSpPr txBox="1"/>
          <p:nvPr/>
        </p:nvSpPr>
        <p:spPr>
          <a:xfrm>
            <a:off x="2171926" y="1143805"/>
            <a:ext cx="1758600" cy="317400"/>
          </a:xfrm>
          <a:prstGeom prst="rect">
            <a:avLst/>
          </a:prstGeom>
          <a:noFill/>
          <a:ln>
            <a:noFill/>
          </a:ln>
        </p:spPr>
        <p:txBody>
          <a:bodyPr spcFirstLastPara="1" wrap="square" lIns="0" tIns="0" rIns="0" bIns="0" anchor="ctr" anchorCtr="0">
            <a:noAutofit/>
          </a:bodyPr>
          <a:lstStyle/>
          <a:p>
            <a:pPr marL="0" lvl="0" indent="0" algn="l" rtl="0">
              <a:spcBef>
                <a:spcPts val="600"/>
              </a:spcBef>
              <a:spcAft>
                <a:spcPts val="0"/>
              </a:spcAft>
              <a:buNone/>
            </a:pPr>
            <a:r>
              <a:rPr lang="en" sz="1800">
                <a:solidFill>
                  <a:schemeClr val="dk1"/>
                </a:solidFill>
                <a:latin typeface="Roboto"/>
                <a:ea typeface="Roboto"/>
                <a:cs typeface="Roboto"/>
                <a:sym typeface="Roboto"/>
              </a:rPr>
              <a:t>false, white node</a:t>
            </a:r>
            <a:endParaRPr sz="1800">
              <a:latin typeface="Roboto"/>
              <a:ea typeface="Roboto"/>
              <a:cs typeface="Roboto"/>
              <a:sym typeface="Roboto"/>
            </a:endParaRPr>
          </a:p>
        </p:txBody>
      </p:sp>
      <p:sp>
        <p:nvSpPr>
          <p:cNvPr id="390" name="Google Shape;390;p35"/>
          <p:cNvSpPr txBox="1"/>
          <p:nvPr/>
        </p:nvSpPr>
        <p:spPr>
          <a:xfrm>
            <a:off x="2056248" y="1411385"/>
            <a:ext cx="1669800" cy="332100"/>
          </a:xfrm>
          <a:prstGeom prst="rect">
            <a:avLst/>
          </a:prstGeom>
          <a:noFill/>
          <a:ln>
            <a:noFill/>
          </a:ln>
        </p:spPr>
        <p:txBody>
          <a:bodyPr spcFirstLastPara="1" wrap="square" lIns="0" tIns="0" rIns="0" bIns="0" anchor="ctr" anchorCtr="0">
            <a:noAutofit/>
          </a:bodyPr>
          <a:lstStyle/>
          <a:p>
            <a:pPr marL="0" lvl="0" indent="0" algn="l" rtl="0">
              <a:spcBef>
                <a:spcPts val="600"/>
              </a:spcBef>
              <a:spcAft>
                <a:spcPts val="0"/>
              </a:spcAft>
              <a:buNone/>
            </a:pPr>
            <a:r>
              <a:rPr lang="en" sz="1800">
                <a:solidFill>
                  <a:schemeClr val="dk1"/>
                </a:solidFill>
                <a:latin typeface="Roboto"/>
                <a:ea typeface="Roboto"/>
                <a:cs typeface="Roboto"/>
                <a:sym typeface="Roboto"/>
              </a:rPr>
              <a:t>true, blue node</a:t>
            </a:r>
            <a:endParaRPr sz="1800">
              <a:latin typeface="Roboto"/>
              <a:ea typeface="Roboto"/>
              <a:cs typeface="Roboto"/>
              <a:sym typeface="Roboto"/>
            </a:endParaRPr>
          </a:p>
        </p:txBody>
      </p:sp>
      <p:sp>
        <p:nvSpPr>
          <p:cNvPr id="391" name="Google Shape;391;p35"/>
          <p:cNvSpPr txBox="1"/>
          <p:nvPr/>
        </p:nvSpPr>
        <p:spPr>
          <a:xfrm>
            <a:off x="2308714" y="1692989"/>
            <a:ext cx="1758600" cy="317400"/>
          </a:xfrm>
          <a:prstGeom prst="rect">
            <a:avLst/>
          </a:prstGeom>
          <a:noFill/>
          <a:ln>
            <a:noFill/>
          </a:ln>
        </p:spPr>
        <p:txBody>
          <a:bodyPr spcFirstLastPara="1" wrap="square" lIns="0" tIns="0" rIns="0" bIns="0" anchor="ctr" anchorCtr="0">
            <a:noAutofit/>
          </a:bodyPr>
          <a:lstStyle/>
          <a:p>
            <a:pPr marL="0" lvl="0" indent="0" algn="l" rtl="0">
              <a:spcBef>
                <a:spcPts val="600"/>
              </a:spcBef>
              <a:spcAft>
                <a:spcPts val="0"/>
              </a:spcAft>
              <a:buNone/>
            </a:pPr>
            <a:r>
              <a:rPr lang="en" sz="1800">
                <a:solidFill>
                  <a:schemeClr val="dk1"/>
                </a:solidFill>
                <a:latin typeface="Roboto"/>
                <a:ea typeface="Roboto"/>
                <a:cs typeface="Roboto"/>
                <a:sym typeface="Roboto"/>
              </a:rPr>
              <a:t>false, fell off tree</a:t>
            </a:r>
            <a:endParaRPr sz="1800">
              <a:latin typeface="Roboto"/>
              <a:ea typeface="Roboto"/>
              <a:cs typeface="Roboto"/>
              <a:sym typeface="Roboto"/>
            </a:endParaRPr>
          </a:p>
        </p:txBody>
      </p:sp>
      <p:grpSp>
        <p:nvGrpSpPr>
          <p:cNvPr id="392" name="Google Shape;392;p35"/>
          <p:cNvGrpSpPr/>
          <p:nvPr/>
        </p:nvGrpSpPr>
        <p:grpSpPr>
          <a:xfrm>
            <a:off x="3751325" y="999400"/>
            <a:ext cx="2118667" cy="1257375"/>
            <a:chOff x="4132325" y="1304200"/>
            <a:chExt cx="2118667" cy="1257375"/>
          </a:xfrm>
        </p:grpSpPr>
        <p:cxnSp>
          <p:nvCxnSpPr>
            <p:cNvPr id="393" name="Google Shape;393;p35"/>
            <p:cNvCxnSpPr/>
            <p:nvPr/>
          </p:nvCxnSpPr>
          <p:spPr>
            <a:xfrm rot="10800000">
              <a:off x="4332850" y="1304200"/>
              <a:ext cx="1108800" cy="573000"/>
            </a:xfrm>
            <a:prstGeom prst="straightConnector1">
              <a:avLst/>
            </a:prstGeom>
            <a:noFill/>
            <a:ln w="9525" cap="flat" cmpd="sng">
              <a:solidFill>
                <a:srgbClr val="BE0712"/>
              </a:solidFill>
              <a:prstDash val="solid"/>
              <a:round/>
              <a:headEnd type="none" w="med" len="med"/>
              <a:tailEnd type="triangle" w="med" len="med"/>
            </a:ln>
          </p:spPr>
        </p:cxnSp>
        <p:cxnSp>
          <p:nvCxnSpPr>
            <p:cNvPr id="394" name="Google Shape;394;p35"/>
            <p:cNvCxnSpPr/>
            <p:nvPr/>
          </p:nvCxnSpPr>
          <p:spPr>
            <a:xfrm flipH="1">
              <a:off x="4132325" y="1877575"/>
              <a:ext cx="1314000" cy="32700"/>
            </a:xfrm>
            <a:prstGeom prst="straightConnector1">
              <a:avLst/>
            </a:prstGeom>
            <a:noFill/>
            <a:ln w="9525" cap="flat" cmpd="sng">
              <a:solidFill>
                <a:srgbClr val="BE0712"/>
              </a:solidFill>
              <a:prstDash val="solid"/>
              <a:round/>
              <a:headEnd type="none" w="med" len="med"/>
              <a:tailEnd type="triangle" w="med" len="med"/>
            </a:ln>
          </p:spPr>
        </p:cxnSp>
        <p:cxnSp>
          <p:nvCxnSpPr>
            <p:cNvPr id="395" name="Google Shape;395;p35"/>
            <p:cNvCxnSpPr/>
            <p:nvPr/>
          </p:nvCxnSpPr>
          <p:spPr>
            <a:xfrm rot="10800000">
              <a:off x="4421150" y="2217825"/>
              <a:ext cx="908700" cy="232800"/>
            </a:xfrm>
            <a:prstGeom prst="straightConnector1">
              <a:avLst/>
            </a:prstGeom>
            <a:noFill/>
            <a:ln w="9525" cap="flat" cmpd="sng">
              <a:solidFill>
                <a:srgbClr val="BE0712"/>
              </a:solidFill>
              <a:prstDash val="solid"/>
              <a:round/>
              <a:headEnd type="none" w="med" len="med"/>
              <a:tailEnd type="triangle" w="med" len="med"/>
            </a:ln>
          </p:spPr>
        </p:cxnSp>
        <p:cxnSp>
          <p:nvCxnSpPr>
            <p:cNvPr id="396" name="Google Shape;396;p35"/>
            <p:cNvCxnSpPr/>
            <p:nvPr/>
          </p:nvCxnSpPr>
          <p:spPr>
            <a:xfrm rot="10800000">
              <a:off x="4360875" y="1653825"/>
              <a:ext cx="978300" cy="796800"/>
            </a:xfrm>
            <a:prstGeom prst="straightConnector1">
              <a:avLst/>
            </a:prstGeom>
            <a:noFill/>
            <a:ln w="9525" cap="flat" cmpd="sng">
              <a:solidFill>
                <a:srgbClr val="BE0712"/>
              </a:solidFill>
              <a:prstDash val="solid"/>
              <a:round/>
              <a:headEnd type="none" w="med" len="med"/>
              <a:tailEnd type="triangle" w="med" len="med"/>
            </a:ln>
          </p:spPr>
        </p:cxnSp>
        <p:sp>
          <p:nvSpPr>
            <p:cNvPr id="397" name="Google Shape;397;p35"/>
            <p:cNvSpPr txBox="1"/>
            <p:nvPr/>
          </p:nvSpPr>
          <p:spPr>
            <a:xfrm>
              <a:off x="5477592" y="1731475"/>
              <a:ext cx="773400" cy="20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BE0712"/>
                  </a:solidFill>
                  <a:latin typeface="Roboto"/>
                  <a:ea typeface="Roboto"/>
                  <a:cs typeface="Roboto"/>
                  <a:sym typeface="Roboto"/>
                </a:rPr>
                <a:t>“hit”</a:t>
              </a:r>
              <a:endParaRPr>
                <a:solidFill>
                  <a:srgbClr val="BE0712"/>
                </a:solidFill>
                <a:latin typeface="Roboto"/>
                <a:ea typeface="Roboto"/>
                <a:cs typeface="Roboto"/>
                <a:sym typeface="Roboto"/>
              </a:endParaRPr>
            </a:p>
          </p:txBody>
        </p:sp>
        <p:sp>
          <p:nvSpPr>
            <p:cNvPr id="398" name="Google Shape;398;p35"/>
            <p:cNvSpPr txBox="1"/>
            <p:nvPr/>
          </p:nvSpPr>
          <p:spPr>
            <a:xfrm>
              <a:off x="5284867" y="2359075"/>
              <a:ext cx="773400" cy="20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BE0712"/>
                  </a:solidFill>
                  <a:latin typeface="Roboto"/>
                  <a:ea typeface="Roboto"/>
                  <a:cs typeface="Roboto"/>
                  <a:sym typeface="Roboto"/>
                </a:rPr>
                <a:t>“miss”</a:t>
              </a:r>
              <a:endParaRPr>
                <a:solidFill>
                  <a:srgbClr val="BE0712"/>
                </a:solidFill>
                <a:latin typeface="Roboto"/>
                <a:ea typeface="Roboto"/>
                <a:cs typeface="Roboto"/>
                <a:sym typeface="Roboto"/>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3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Trie Maps</a:t>
            </a:r>
            <a:endParaRPr/>
          </a:p>
        </p:txBody>
      </p:sp>
      <p:sp>
        <p:nvSpPr>
          <p:cNvPr id="404" name="Google Shape;404;p36"/>
          <p:cNvSpPr txBox="1">
            <a:spLocks noGrp="1"/>
          </p:cNvSpPr>
          <p:nvPr>
            <p:ph type="body" idx="1"/>
          </p:nvPr>
        </p:nvSpPr>
        <p:spPr>
          <a:xfrm>
            <a:off x="90600" y="404100"/>
            <a:ext cx="8443800" cy="665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Tries can also be maps, of course.</a:t>
            </a:r>
            <a:endParaRPr/>
          </a:p>
        </p:txBody>
      </p:sp>
      <p:sp>
        <p:nvSpPr>
          <p:cNvPr id="405" name="Google Shape;405;p36"/>
          <p:cNvSpPr txBox="1">
            <a:spLocks noGrp="1"/>
          </p:cNvSpPr>
          <p:nvPr>
            <p:ph type="body" idx="1"/>
          </p:nvPr>
        </p:nvSpPr>
        <p:spPr>
          <a:xfrm>
            <a:off x="166800" y="4326100"/>
            <a:ext cx="8443800" cy="665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For an animated demo of the creation of this map, see this </a:t>
            </a:r>
            <a:r>
              <a:rPr lang="en" u="sng">
                <a:solidFill>
                  <a:schemeClr val="hlink"/>
                </a:solidFill>
                <a:hlinkClick r:id="rId3"/>
              </a:rPr>
              <a:t>demo</a:t>
            </a:r>
            <a:r>
              <a:rPr lang="en"/>
              <a:t> from our optional Algorithms textbook.</a:t>
            </a:r>
            <a:endParaRPr/>
          </a:p>
        </p:txBody>
      </p:sp>
      <p:grpSp>
        <p:nvGrpSpPr>
          <p:cNvPr id="406" name="Google Shape;406;p36"/>
          <p:cNvGrpSpPr/>
          <p:nvPr/>
        </p:nvGrpSpPr>
        <p:grpSpPr>
          <a:xfrm>
            <a:off x="954400" y="1807050"/>
            <a:ext cx="741300" cy="370800"/>
            <a:chOff x="2944975" y="2412200"/>
            <a:chExt cx="741300" cy="370800"/>
          </a:xfrm>
        </p:grpSpPr>
        <p:sp>
          <p:nvSpPr>
            <p:cNvPr id="407" name="Google Shape;407;p36"/>
            <p:cNvSpPr/>
            <p:nvPr/>
          </p:nvSpPr>
          <p:spPr>
            <a:xfrm>
              <a:off x="2944975" y="2412200"/>
              <a:ext cx="741300" cy="3708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y  4</a:t>
              </a:r>
              <a:endParaRPr sz="1800">
                <a:latin typeface="Consolas"/>
                <a:ea typeface="Consolas"/>
                <a:cs typeface="Consolas"/>
                <a:sym typeface="Consolas"/>
              </a:endParaRPr>
            </a:p>
          </p:txBody>
        </p:sp>
        <p:cxnSp>
          <p:nvCxnSpPr>
            <p:cNvPr id="408" name="Google Shape;408;p36"/>
            <p:cNvCxnSpPr>
              <a:stCxn id="407" idx="2"/>
              <a:endCxn id="407" idx="0"/>
            </p:cNvCxnSpPr>
            <p:nvPr/>
          </p:nvCxnSpPr>
          <p:spPr>
            <a:xfrm rot="10800000">
              <a:off x="3315625" y="2412200"/>
              <a:ext cx="0" cy="370800"/>
            </a:xfrm>
            <a:prstGeom prst="straightConnector1">
              <a:avLst/>
            </a:prstGeom>
            <a:noFill/>
            <a:ln w="9525" cap="flat" cmpd="sng">
              <a:solidFill>
                <a:schemeClr val="dk2"/>
              </a:solidFill>
              <a:prstDash val="solid"/>
              <a:round/>
              <a:headEnd type="none" w="med" len="med"/>
              <a:tailEnd type="none" w="med" len="med"/>
            </a:ln>
          </p:spPr>
        </p:cxnSp>
      </p:grpSp>
      <p:grpSp>
        <p:nvGrpSpPr>
          <p:cNvPr id="409" name="Google Shape;409;p36"/>
          <p:cNvGrpSpPr/>
          <p:nvPr/>
        </p:nvGrpSpPr>
        <p:grpSpPr>
          <a:xfrm>
            <a:off x="954400" y="1237000"/>
            <a:ext cx="741300" cy="370800"/>
            <a:chOff x="2944975" y="2640800"/>
            <a:chExt cx="741300" cy="370800"/>
          </a:xfrm>
        </p:grpSpPr>
        <p:sp>
          <p:nvSpPr>
            <p:cNvPr id="410" name="Google Shape;410;p36"/>
            <p:cNvSpPr/>
            <p:nvPr/>
          </p:nvSpPr>
          <p:spPr>
            <a:xfrm>
              <a:off x="2944975" y="2640800"/>
              <a:ext cx="741300" cy="3708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b  </a:t>
              </a:r>
              <a:endParaRPr sz="1800">
                <a:latin typeface="Consolas"/>
                <a:ea typeface="Consolas"/>
                <a:cs typeface="Consolas"/>
                <a:sym typeface="Consolas"/>
              </a:endParaRPr>
            </a:p>
          </p:txBody>
        </p:sp>
        <p:cxnSp>
          <p:nvCxnSpPr>
            <p:cNvPr id="411" name="Google Shape;411;p36"/>
            <p:cNvCxnSpPr>
              <a:stCxn id="410" idx="2"/>
              <a:endCxn id="410" idx="0"/>
            </p:cNvCxnSpPr>
            <p:nvPr/>
          </p:nvCxnSpPr>
          <p:spPr>
            <a:xfrm rot="10800000">
              <a:off x="3315625" y="2640800"/>
              <a:ext cx="0" cy="370800"/>
            </a:xfrm>
            <a:prstGeom prst="straightConnector1">
              <a:avLst/>
            </a:prstGeom>
            <a:noFill/>
            <a:ln w="9525" cap="flat" cmpd="sng">
              <a:solidFill>
                <a:schemeClr val="dk2"/>
              </a:solidFill>
              <a:prstDash val="solid"/>
              <a:round/>
              <a:headEnd type="none" w="med" len="med"/>
              <a:tailEnd type="none" w="med" len="med"/>
            </a:ln>
          </p:spPr>
        </p:cxnSp>
      </p:grpSp>
      <p:grpSp>
        <p:nvGrpSpPr>
          <p:cNvPr id="412" name="Google Shape;412;p36"/>
          <p:cNvGrpSpPr/>
          <p:nvPr/>
        </p:nvGrpSpPr>
        <p:grpSpPr>
          <a:xfrm>
            <a:off x="3322850" y="1237000"/>
            <a:ext cx="741300" cy="370800"/>
            <a:chOff x="2944975" y="2773800"/>
            <a:chExt cx="741300" cy="370800"/>
          </a:xfrm>
        </p:grpSpPr>
        <p:sp>
          <p:nvSpPr>
            <p:cNvPr id="413" name="Google Shape;413;p36"/>
            <p:cNvSpPr/>
            <p:nvPr/>
          </p:nvSpPr>
          <p:spPr>
            <a:xfrm>
              <a:off x="2944975" y="2773800"/>
              <a:ext cx="741300" cy="3708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  </a:t>
              </a:r>
              <a:endParaRPr sz="1800">
                <a:latin typeface="Consolas"/>
                <a:ea typeface="Consolas"/>
                <a:cs typeface="Consolas"/>
                <a:sym typeface="Consolas"/>
              </a:endParaRPr>
            </a:p>
          </p:txBody>
        </p:sp>
        <p:cxnSp>
          <p:nvCxnSpPr>
            <p:cNvPr id="414" name="Google Shape;414;p36"/>
            <p:cNvCxnSpPr>
              <a:stCxn id="413" idx="2"/>
              <a:endCxn id="413" idx="0"/>
            </p:cNvCxnSpPr>
            <p:nvPr/>
          </p:nvCxnSpPr>
          <p:spPr>
            <a:xfrm rot="10800000">
              <a:off x="3315625" y="2773800"/>
              <a:ext cx="0" cy="370800"/>
            </a:xfrm>
            <a:prstGeom prst="straightConnector1">
              <a:avLst/>
            </a:prstGeom>
            <a:noFill/>
            <a:ln w="9525" cap="flat" cmpd="sng">
              <a:solidFill>
                <a:schemeClr val="dk2"/>
              </a:solidFill>
              <a:prstDash val="solid"/>
              <a:round/>
              <a:headEnd type="none" w="med" len="med"/>
              <a:tailEnd type="none" w="med" len="med"/>
            </a:ln>
          </p:spPr>
        </p:cxnSp>
      </p:grpSp>
      <p:grpSp>
        <p:nvGrpSpPr>
          <p:cNvPr id="415" name="Google Shape;415;p36"/>
          <p:cNvGrpSpPr/>
          <p:nvPr/>
        </p:nvGrpSpPr>
        <p:grpSpPr>
          <a:xfrm>
            <a:off x="2433725" y="1807050"/>
            <a:ext cx="741300" cy="370800"/>
            <a:chOff x="2944975" y="2640800"/>
            <a:chExt cx="741300" cy="370800"/>
          </a:xfrm>
        </p:grpSpPr>
        <p:sp>
          <p:nvSpPr>
            <p:cNvPr id="416" name="Google Shape;416;p36"/>
            <p:cNvSpPr/>
            <p:nvPr/>
          </p:nvSpPr>
          <p:spPr>
            <a:xfrm>
              <a:off x="2944975" y="2640800"/>
              <a:ext cx="741300" cy="3708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e </a:t>
              </a:r>
              <a:endParaRPr sz="1800">
                <a:latin typeface="Consolas"/>
                <a:ea typeface="Consolas"/>
                <a:cs typeface="Consolas"/>
                <a:sym typeface="Consolas"/>
              </a:endParaRPr>
            </a:p>
          </p:txBody>
        </p:sp>
        <p:cxnSp>
          <p:nvCxnSpPr>
            <p:cNvPr id="417" name="Google Shape;417;p36"/>
            <p:cNvCxnSpPr>
              <a:stCxn id="416" idx="2"/>
              <a:endCxn id="416" idx="0"/>
            </p:cNvCxnSpPr>
            <p:nvPr/>
          </p:nvCxnSpPr>
          <p:spPr>
            <a:xfrm rot="10800000">
              <a:off x="3315625" y="2640800"/>
              <a:ext cx="0" cy="370800"/>
            </a:xfrm>
            <a:prstGeom prst="straightConnector1">
              <a:avLst/>
            </a:prstGeom>
            <a:noFill/>
            <a:ln w="9525" cap="flat" cmpd="sng">
              <a:solidFill>
                <a:schemeClr val="dk2"/>
              </a:solidFill>
              <a:prstDash val="solid"/>
              <a:round/>
              <a:headEnd type="none" w="med" len="med"/>
              <a:tailEnd type="none" w="med" len="med"/>
            </a:ln>
          </p:spPr>
        </p:cxnSp>
      </p:grpSp>
      <p:grpSp>
        <p:nvGrpSpPr>
          <p:cNvPr id="418" name="Google Shape;418;p36"/>
          <p:cNvGrpSpPr/>
          <p:nvPr/>
        </p:nvGrpSpPr>
        <p:grpSpPr>
          <a:xfrm>
            <a:off x="1912225" y="2377100"/>
            <a:ext cx="741300" cy="370800"/>
            <a:chOff x="2792575" y="2640800"/>
            <a:chExt cx="741300" cy="370800"/>
          </a:xfrm>
        </p:grpSpPr>
        <p:sp>
          <p:nvSpPr>
            <p:cNvPr id="419" name="Google Shape;419;p36"/>
            <p:cNvSpPr/>
            <p:nvPr/>
          </p:nvSpPr>
          <p:spPr>
            <a:xfrm>
              <a:off x="2792575" y="2640800"/>
              <a:ext cx="741300" cy="3708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  6</a:t>
              </a:r>
              <a:endParaRPr sz="1800">
                <a:latin typeface="Consolas"/>
                <a:ea typeface="Consolas"/>
                <a:cs typeface="Consolas"/>
                <a:sym typeface="Consolas"/>
              </a:endParaRPr>
            </a:p>
          </p:txBody>
        </p:sp>
        <p:cxnSp>
          <p:nvCxnSpPr>
            <p:cNvPr id="420" name="Google Shape;420;p36"/>
            <p:cNvCxnSpPr>
              <a:stCxn id="419" idx="2"/>
              <a:endCxn id="419" idx="0"/>
            </p:cNvCxnSpPr>
            <p:nvPr/>
          </p:nvCxnSpPr>
          <p:spPr>
            <a:xfrm rot="10800000">
              <a:off x="3163225" y="2640800"/>
              <a:ext cx="0" cy="370800"/>
            </a:xfrm>
            <a:prstGeom prst="straightConnector1">
              <a:avLst/>
            </a:prstGeom>
            <a:noFill/>
            <a:ln w="9525" cap="flat" cmpd="sng">
              <a:solidFill>
                <a:schemeClr val="dk2"/>
              </a:solidFill>
              <a:prstDash val="solid"/>
              <a:round/>
              <a:headEnd type="none" w="med" len="med"/>
              <a:tailEnd type="none" w="med" len="med"/>
            </a:ln>
          </p:spPr>
        </p:cxnSp>
      </p:grpSp>
      <p:grpSp>
        <p:nvGrpSpPr>
          <p:cNvPr id="421" name="Google Shape;421;p36"/>
          <p:cNvGrpSpPr/>
          <p:nvPr/>
        </p:nvGrpSpPr>
        <p:grpSpPr>
          <a:xfrm>
            <a:off x="3143400" y="2377100"/>
            <a:ext cx="741300" cy="370800"/>
            <a:chOff x="2944975" y="2640800"/>
            <a:chExt cx="741300" cy="370800"/>
          </a:xfrm>
        </p:grpSpPr>
        <p:sp>
          <p:nvSpPr>
            <p:cNvPr id="422" name="Google Shape;422;p36"/>
            <p:cNvSpPr/>
            <p:nvPr/>
          </p:nvSpPr>
          <p:spPr>
            <a:xfrm>
              <a:off x="2944975" y="2640800"/>
              <a:ext cx="741300" cy="3708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l </a:t>
              </a:r>
              <a:endParaRPr sz="1800">
                <a:latin typeface="Consolas"/>
                <a:ea typeface="Consolas"/>
                <a:cs typeface="Consolas"/>
                <a:sym typeface="Consolas"/>
              </a:endParaRPr>
            </a:p>
          </p:txBody>
        </p:sp>
        <p:cxnSp>
          <p:nvCxnSpPr>
            <p:cNvPr id="423" name="Google Shape;423;p36"/>
            <p:cNvCxnSpPr>
              <a:stCxn id="422" idx="2"/>
              <a:endCxn id="422" idx="0"/>
            </p:cNvCxnSpPr>
            <p:nvPr/>
          </p:nvCxnSpPr>
          <p:spPr>
            <a:xfrm rot="10800000">
              <a:off x="3315625" y="2640800"/>
              <a:ext cx="0" cy="370800"/>
            </a:xfrm>
            <a:prstGeom prst="straightConnector1">
              <a:avLst/>
            </a:prstGeom>
            <a:noFill/>
            <a:ln w="9525" cap="flat" cmpd="sng">
              <a:solidFill>
                <a:schemeClr val="dk2"/>
              </a:solidFill>
              <a:prstDash val="solid"/>
              <a:round/>
              <a:headEnd type="none" w="med" len="med"/>
              <a:tailEnd type="none" w="med" len="med"/>
            </a:ln>
          </p:spPr>
        </p:cxnSp>
      </p:grpSp>
      <p:grpSp>
        <p:nvGrpSpPr>
          <p:cNvPr id="424" name="Google Shape;424;p36"/>
          <p:cNvGrpSpPr/>
          <p:nvPr/>
        </p:nvGrpSpPr>
        <p:grpSpPr>
          <a:xfrm>
            <a:off x="3143400" y="2943950"/>
            <a:ext cx="741300" cy="370800"/>
            <a:chOff x="2944975" y="2640800"/>
            <a:chExt cx="741300" cy="370800"/>
          </a:xfrm>
        </p:grpSpPr>
        <p:sp>
          <p:nvSpPr>
            <p:cNvPr id="425" name="Google Shape;425;p36"/>
            <p:cNvSpPr/>
            <p:nvPr/>
          </p:nvSpPr>
          <p:spPr>
            <a:xfrm>
              <a:off x="2944975" y="2640800"/>
              <a:ext cx="741300" cy="3708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l </a:t>
              </a:r>
              <a:endParaRPr sz="1800">
                <a:latin typeface="Consolas"/>
                <a:ea typeface="Consolas"/>
                <a:cs typeface="Consolas"/>
                <a:sym typeface="Consolas"/>
              </a:endParaRPr>
            </a:p>
          </p:txBody>
        </p:sp>
        <p:cxnSp>
          <p:nvCxnSpPr>
            <p:cNvPr id="426" name="Google Shape;426;p36"/>
            <p:cNvCxnSpPr>
              <a:stCxn id="425" idx="2"/>
              <a:endCxn id="425" idx="0"/>
            </p:cNvCxnSpPr>
            <p:nvPr/>
          </p:nvCxnSpPr>
          <p:spPr>
            <a:xfrm rot="10800000">
              <a:off x="3315625" y="2640800"/>
              <a:ext cx="0" cy="370800"/>
            </a:xfrm>
            <a:prstGeom prst="straightConnector1">
              <a:avLst/>
            </a:prstGeom>
            <a:noFill/>
            <a:ln w="9525" cap="flat" cmpd="sng">
              <a:solidFill>
                <a:schemeClr val="dk2"/>
              </a:solidFill>
              <a:prstDash val="solid"/>
              <a:round/>
              <a:headEnd type="none" w="med" len="med"/>
              <a:tailEnd type="none" w="med" len="med"/>
            </a:ln>
          </p:spPr>
        </p:cxnSp>
      </p:grpSp>
      <p:grpSp>
        <p:nvGrpSpPr>
          <p:cNvPr id="427" name="Google Shape;427;p36"/>
          <p:cNvGrpSpPr/>
          <p:nvPr/>
        </p:nvGrpSpPr>
        <p:grpSpPr>
          <a:xfrm>
            <a:off x="3143400" y="3517200"/>
            <a:ext cx="741300" cy="370800"/>
            <a:chOff x="2944975" y="2640800"/>
            <a:chExt cx="741300" cy="370800"/>
          </a:xfrm>
        </p:grpSpPr>
        <p:sp>
          <p:nvSpPr>
            <p:cNvPr id="428" name="Google Shape;428;p36"/>
            <p:cNvSpPr/>
            <p:nvPr/>
          </p:nvSpPr>
          <p:spPr>
            <a:xfrm>
              <a:off x="2944975" y="2640800"/>
              <a:ext cx="741300" cy="3708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  1 </a:t>
              </a:r>
              <a:endParaRPr sz="1800">
                <a:latin typeface="Consolas"/>
                <a:ea typeface="Consolas"/>
                <a:cs typeface="Consolas"/>
                <a:sym typeface="Consolas"/>
              </a:endParaRPr>
            </a:p>
          </p:txBody>
        </p:sp>
        <p:cxnSp>
          <p:nvCxnSpPr>
            <p:cNvPr id="429" name="Google Shape;429;p36"/>
            <p:cNvCxnSpPr>
              <a:stCxn id="428" idx="2"/>
              <a:endCxn id="428" idx="0"/>
            </p:cNvCxnSpPr>
            <p:nvPr/>
          </p:nvCxnSpPr>
          <p:spPr>
            <a:xfrm rot="10800000">
              <a:off x="3315625" y="2640800"/>
              <a:ext cx="0" cy="370800"/>
            </a:xfrm>
            <a:prstGeom prst="straightConnector1">
              <a:avLst/>
            </a:prstGeom>
            <a:noFill/>
            <a:ln w="9525" cap="flat" cmpd="sng">
              <a:solidFill>
                <a:schemeClr val="dk2"/>
              </a:solidFill>
              <a:prstDash val="solid"/>
              <a:round/>
              <a:headEnd type="none" w="med" len="med"/>
              <a:tailEnd type="none" w="med" len="med"/>
            </a:ln>
          </p:spPr>
        </p:cxnSp>
      </p:grpSp>
      <p:grpSp>
        <p:nvGrpSpPr>
          <p:cNvPr id="430" name="Google Shape;430;p36"/>
          <p:cNvGrpSpPr/>
          <p:nvPr/>
        </p:nvGrpSpPr>
        <p:grpSpPr>
          <a:xfrm>
            <a:off x="4744489" y="1807050"/>
            <a:ext cx="741300" cy="370800"/>
            <a:chOff x="2944975" y="2640800"/>
            <a:chExt cx="741300" cy="370800"/>
          </a:xfrm>
        </p:grpSpPr>
        <p:sp>
          <p:nvSpPr>
            <p:cNvPr id="431" name="Google Shape;431;p36"/>
            <p:cNvSpPr/>
            <p:nvPr/>
          </p:nvSpPr>
          <p:spPr>
            <a:xfrm>
              <a:off x="2944975" y="2640800"/>
              <a:ext cx="741300" cy="3708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h </a:t>
              </a:r>
              <a:endParaRPr sz="1800">
                <a:latin typeface="Consolas"/>
                <a:ea typeface="Consolas"/>
                <a:cs typeface="Consolas"/>
                <a:sym typeface="Consolas"/>
              </a:endParaRPr>
            </a:p>
          </p:txBody>
        </p:sp>
        <p:cxnSp>
          <p:nvCxnSpPr>
            <p:cNvPr id="432" name="Google Shape;432;p36"/>
            <p:cNvCxnSpPr>
              <a:stCxn id="431" idx="2"/>
              <a:endCxn id="431" idx="0"/>
            </p:cNvCxnSpPr>
            <p:nvPr/>
          </p:nvCxnSpPr>
          <p:spPr>
            <a:xfrm rot="10800000">
              <a:off x="3315625" y="2640800"/>
              <a:ext cx="0" cy="370800"/>
            </a:xfrm>
            <a:prstGeom prst="straightConnector1">
              <a:avLst/>
            </a:prstGeom>
            <a:noFill/>
            <a:ln w="9525" cap="flat" cmpd="sng">
              <a:solidFill>
                <a:schemeClr val="dk2"/>
              </a:solidFill>
              <a:prstDash val="solid"/>
              <a:round/>
              <a:headEnd type="none" w="med" len="med"/>
              <a:tailEnd type="none" w="med" len="med"/>
            </a:ln>
          </p:spPr>
        </p:cxnSp>
      </p:grpSp>
      <p:grpSp>
        <p:nvGrpSpPr>
          <p:cNvPr id="433" name="Google Shape;433;p36"/>
          <p:cNvGrpSpPr/>
          <p:nvPr/>
        </p:nvGrpSpPr>
        <p:grpSpPr>
          <a:xfrm>
            <a:off x="4211089" y="2377100"/>
            <a:ext cx="741300" cy="370800"/>
            <a:chOff x="2944975" y="2640800"/>
            <a:chExt cx="741300" cy="370800"/>
          </a:xfrm>
        </p:grpSpPr>
        <p:sp>
          <p:nvSpPr>
            <p:cNvPr id="434" name="Google Shape;434;p36"/>
            <p:cNvSpPr/>
            <p:nvPr/>
          </p:nvSpPr>
          <p:spPr>
            <a:xfrm>
              <a:off x="2944975" y="2640800"/>
              <a:ext cx="741300" cy="3708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e  0 </a:t>
              </a:r>
              <a:endParaRPr sz="1800">
                <a:latin typeface="Consolas"/>
                <a:ea typeface="Consolas"/>
                <a:cs typeface="Consolas"/>
                <a:sym typeface="Consolas"/>
              </a:endParaRPr>
            </a:p>
          </p:txBody>
        </p:sp>
        <p:cxnSp>
          <p:nvCxnSpPr>
            <p:cNvPr id="435" name="Google Shape;435;p36"/>
            <p:cNvCxnSpPr>
              <a:stCxn id="434" idx="2"/>
              <a:endCxn id="434" idx="0"/>
            </p:cNvCxnSpPr>
            <p:nvPr/>
          </p:nvCxnSpPr>
          <p:spPr>
            <a:xfrm rot="10800000">
              <a:off x="3315625" y="2640800"/>
              <a:ext cx="0" cy="370800"/>
            </a:xfrm>
            <a:prstGeom prst="straightConnector1">
              <a:avLst/>
            </a:prstGeom>
            <a:noFill/>
            <a:ln w="9525" cap="flat" cmpd="sng">
              <a:solidFill>
                <a:schemeClr val="dk2"/>
              </a:solidFill>
              <a:prstDash val="solid"/>
              <a:round/>
              <a:headEnd type="none" w="med" len="med"/>
              <a:tailEnd type="none" w="med" len="med"/>
            </a:ln>
          </p:spPr>
        </p:cxnSp>
      </p:grpSp>
      <p:grpSp>
        <p:nvGrpSpPr>
          <p:cNvPr id="436" name="Google Shape;436;p36"/>
          <p:cNvGrpSpPr/>
          <p:nvPr/>
        </p:nvGrpSpPr>
        <p:grpSpPr>
          <a:xfrm>
            <a:off x="4211089" y="2947150"/>
            <a:ext cx="741300" cy="370800"/>
            <a:chOff x="2944975" y="2640800"/>
            <a:chExt cx="741300" cy="370800"/>
          </a:xfrm>
        </p:grpSpPr>
        <p:sp>
          <p:nvSpPr>
            <p:cNvPr id="437" name="Google Shape;437;p36"/>
            <p:cNvSpPr/>
            <p:nvPr/>
          </p:nvSpPr>
          <p:spPr>
            <a:xfrm>
              <a:off x="2944975" y="2640800"/>
              <a:ext cx="741300" cy="3708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l </a:t>
              </a:r>
              <a:endParaRPr sz="1800">
                <a:latin typeface="Consolas"/>
                <a:ea typeface="Consolas"/>
                <a:cs typeface="Consolas"/>
                <a:sym typeface="Consolas"/>
              </a:endParaRPr>
            </a:p>
          </p:txBody>
        </p:sp>
        <p:cxnSp>
          <p:nvCxnSpPr>
            <p:cNvPr id="438" name="Google Shape;438;p36"/>
            <p:cNvCxnSpPr>
              <a:stCxn id="437" idx="2"/>
              <a:endCxn id="437" idx="0"/>
            </p:cNvCxnSpPr>
            <p:nvPr/>
          </p:nvCxnSpPr>
          <p:spPr>
            <a:xfrm rot="10800000">
              <a:off x="3315625" y="2640800"/>
              <a:ext cx="0" cy="370800"/>
            </a:xfrm>
            <a:prstGeom prst="straightConnector1">
              <a:avLst/>
            </a:prstGeom>
            <a:noFill/>
            <a:ln w="9525" cap="flat" cmpd="sng">
              <a:solidFill>
                <a:schemeClr val="dk2"/>
              </a:solidFill>
              <a:prstDash val="solid"/>
              <a:round/>
              <a:headEnd type="none" w="med" len="med"/>
              <a:tailEnd type="none" w="med" len="med"/>
            </a:ln>
          </p:spPr>
        </p:cxnSp>
      </p:grpSp>
      <p:grpSp>
        <p:nvGrpSpPr>
          <p:cNvPr id="439" name="Google Shape;439;p36"/>
          <p:cNvGrpSpPr/>
          <p:nvPr/>
        </p:nvGrpSpPr>
        <p:grpSpPr>
          <a:xfrm>
            <a:off x="4211089" y="3517200"/>
            <a:ext cx="741300" cy="370800"/>
            <a:chOff x="2944975" y="2640800"/>
            <a:chExt cx="741300" cy="370800"/>
          </a:xfrm>
        </p:grpSpPr>
        <p:sp>
          <p:nvSpPr>
            <p:cNvPr id="440" name="Google Shape;440;p36"/>
            <p:cNvSpPr/>
            <p:nvPr/>
          </p:nvSpPr>
          <p:spPr>
            <a:xfrm>
              <a:off x="2944975" y="2640800"/>
              <a:ext cx="741300" cy="3708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l </a:t>
              </a:r>
              <a:endParaRPr sz="1800">
                <a:latin typeface="Consolas"/>
                <a:ea typeface="Consolas"/>
                <a:cs typeface="Consolas"/>
                <a:sym typeface="Consolas"/>
              </a:endParaRPr>
            </a:p>
          </p:txBody>
        </p:sp>
        <p:cxnSp>
          <p:nvCxnSpPr>
            <p:cNvPr id="441" name="Google Shape;441;p36"/>
            <p:cNvCxnSpPr>
              <a:stCxn id="440" idx="2"/>
              <a:endCxn id="440" idx="0"/>
            </p:cNvCxnSpPr>
            <p:nvPr/>
          </p:nvCxnSpPr>
          <p:spPr>
            <a:xfrm rot="10800000">
              <a:off x="3315625" y="2640800"/>
              <a:ext cx="0" cy="370800"/>
            </a:xfrm>
            <a:prstGeom prst="straightConnector1">
              <a:avLst/>
            </a:prstGeom>
            <a:noFill/>
            <a:ln w="9525" cap="flat" cmpd="sng">
              <a:solidFill>
                <a:schemeClr val="dk2"/>
              </a:solidFill>
              <a:prstDash val="solid"/>
              <a:round/>
              <a:headEnd type="none" w="med" len="med"/>
              <a:tailEnd type="none" w="med" len="med"/>
            </a:ln>
          </p:spPr>
        </p:cxnSp>
      </p:grpSp>
      <p:grpSp>
        <p:nvGrpSpPr>
          <p:cNvPr id="442" name="Google Shape;442;p36"/>
          <p:cNvGrpSpPr/>
          <p:nvPr/>
        </p:nvGrpSpPr>
        <p:grpSpPr>
          <a:xfrm>
            <a:off x="4211089" y="4087250"/>
            <a:ext cx="741300" cy="370800"/>
            <a:chOff x="2944975" y="2640800"/>
            <a:chExt cx="741300" cy="370800"/>
          </a:xfrm>
        </p:grpSpPr>
        <p:sp>
          <p:nvSpPr>
            <p:cNvPr id="443" name="Google Shape;443;p36"/>
            <p:cNvSpPr/>
            <p:nvPr/>
          </p:nvSpPr>
          <p:spPr>
            <a:xfrm>
              <a:off x="2944975" y="2640800"/>
              <a:ext cx="741300" cy="3708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  3 </a:t>
              </a:r>
              <a:endParaRPr sz="1800">
                <a:latin typeface="Consolas"/>
                <a:ea typeface="Consolas"/>
                <a:cs typeface="Consolas"/>
                <a:sym typeface="Consolas"/>
              </a:endParaRPr>
            </a:p>
          </p:txBody>
        </p:sp>
        <p:cxnSp>
          <p:nvCxnSpPr>
            <p:cNvPr id="444" name="Google Shape;444;p36"/>
            <p:cNvCxnSpPr>
              <a:stCxn id="443" idx="2"/>
              <a:endCxn id="443" idx="0"/>
            </p:cNvCxnSpPr>
            <p:nvPr/>
          </p:nvCxnSpPr>
          <p:spPr>
            <a:xfrm rot="10800000">
              <a:off x="3315625" y="2640800"/>
              <a:ext cx="0" cy="370800"/>
            </a:xfrm>
            <a:prstGeom prst="straightConnector1">
              <a:avLst/>
            </a:prstGeom>
            <a:noFill/>
            <a:ln w="9525" cap="flat" cmpd="sng">
              <a:solidFill>
                <a:schemeClr val="dk2"/>
              </a:solidFill>
              <a:prstDash val="solid"/>
              <a:round/>
              <a:headEnd type="none" w="med" len="med"/>
              <a:tailEnd type="none" w="med" len="med"/>
            </a:ln>
          </p:spPr>
        </p:cxnSp>
      </p:grpSp>
      <p:grpSp>
        <p:nvGrpSpPr>
          <p:cNvPr id="445" name="Google Shape;445;p36"/>
          <p:cNvGrpSpPr/>
          <p:nvPr/>
        </p:nvGrpSpPr>
        <p:grpSpPr>
          <a:xfrm>
            <a:off x="5292650" y="2377100"/>
            <a:ext cx="741300" cy="370800"/>
            <a:chOff x="2944975" y="2640800"/>
            <a:chExt cx="741300" cy="370800"/>
          </a:xfrm>
        </p:grpSpPr>
        <p:sp>
          <p:nvSpPr>
            <p:cNvPr id="446" name="Google Shape;446;p36"/>
            <p:cNvSpPr/>
            <p:nvPr/>
          </p:nvSpPr>
          <p:spPr>
            <a:xfrm>
              <a:off x="2944975" y="2640800"/>
              <a:ext cx="741300" cy="3708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o </a:t>
              </a:r>
              <a:endParaRPr sz="1800">
                <a:latin typeface="Consolas"/>
                <a:ea typeface="Consolas"/>
                <a:cs typeface="Consolas"/>
                <a:sym typeface="Consolas"/>
              </a:endParaRPr>
            </a:p>
          </p:txBody>
        </p:sp>
        <p:cxnSp>
          <p:nvCxnSpPr>
            <p:cNvPr id="447" name="Google Shape;447;p36"/>
            <p:cNvCxnSpPr>
              <a:stCxn id="446" idx="2"/>
              <a:endCxn id="446" idx="0"/>
            </p:cNvCxnSpPr>
            <p:nvPr/>
          </p:nvCxnSpPr>
          <p:spPr>
            <a:xfrm rot="10800000">
              <a:off x="3315625" y="2640800"/>
              <a:ext cx="0" cy="370800"/>
            </a:xfrm>
            <a:prstGeom prst="straightConnector1">
              <a:avLst/>
            </a:prstGeom>
            <a:noFill/>
            <a:ln w="9525" cap="flat" cmpd="sng">
              <a:solidFill>
                <a:schemeClr val="dk2"/>
              </a:solidFill>
              <a:prstDash val="solid"/>
              <a:round/>
              <a:headEnd type="none" w="med" len="med"/>
              <a:tailEnd type="none" w="med" len="med"/>
            </a:ln>
          </p:spPr>
        </p:cxnSp>
      </p:grpSp>
      <p:grpSp>
        <p:nvGrpSpPr>
          <p:cNvPr id="448" name="Google Shape;448;p36"/>
          <p:cNvGrpSpPr/>
          <p:nvPr/>
        </p:nvGrpSpPr>
        <p:grpSpPr>
          <a:xfrm>
            <a:off x="5292650" y="2943950"/>
            <a:ext cx="741300" cy="370800"/>
            <a:chOff x="2944975" y="2640800"/>
            <a:chExt cx="741300" cy="370800"/>
          </a:xfrm>
        </p:grpSpPr>
        <p:sp>
          <p:nvSpPr>
            <p:cNvPr id="449" name="Google Shape;449;p36"/>
            <p:cNvSpPr/>
            <p:nvPr/>
          </p:nvSpPr>
          <p:spPr>
            <a:xfrm>
              <a:off x="2944975" y="2640800"/>
              <a:ext cx="741300" cy="3708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r</a:t>
              </a:r>
              <a:endParaRPr sz="1800">
                <a:latin typeface="Consolas"/>
                <a:ea typeface="Consolas"/>
                <a:cs typeface="Consolas"/>
                <a:sym typeface="Consolas"/>
              </a:endParaRPr>
            </a:p>
          </p:txBody>
        </p:sp>
        <p:cxnSp>
          <p:nvCxnSpPr>
            <p:cNvPr id="450" name="Google Shape;450;p36"/>
            <p:cNvCxnSpPr>
              <a:stCxn id="449" idx="2"/>
              <a:endCxn id="449" idx="0"/>
            </p:cNvCxnSpPr>
            <p:nvPr/>
          </p:nvCxnSpPr>
          <p:spPr>
            <a:xfrm rot="10800000">
              <a:off x="3315625" y="2640800"/>
              <a:ext cx="0" cy="370800"/>
            </a:xfrm>
            <a:prstGeom prst="straightConnector1">
              <a:avLst/>
            </a:prstGeom>
            <a:noFill/>
            <a:ln w="9525" cap="flat" cmpd="sng">
              <a:solidFill>
                <a:schemeClr val="dk2"/>
              </a:solidFill>
              <a:prstDash val="solid"/>
              <a:round/>
              <a:headEnd type="none" w="med" len="med"/>
              <a:tailEnd type="none" w="med" len="med"/>
            </a:ln>
          </p:spPr>
        </p:cxnSp>
      </p:grpSp>
      <p:grpSp>
        <p:nvGrpSpPr>
          <p:cNvPr id="451" name="Google Shape;451;p36"/>
          <p:cNvGrpSpPr/>
          <p:nvPr/>
        </p:nvGrpSpPr>
        <p:grpSpPr>
          <a:xfrm>
            <a:off x="5292650" y="3517200"/>
            <a:ext cx="741300" cy="370800"/>
            <a:chOff x="2944975" y="2640800"/>
            <a:chExt cx="741300" cy="370800"/>
          </a:xfrm>
        </p:grpSpPr>
        <p:sp>
          <p:nvSpPr>
            <p:cNvPr id="452" name="Google Shape;452;p36"/>
            <p:cNvSpPr/>
            <p:nvPr/>
          </p:nvSpPr>
          <p:spPr>
            <a:xfrm>
              <a:off x="2944975" y="2640800"/>
              <a:ext cx="741300" cy="3708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e  7</a:t>
              </a:r>
              <a:endParaRPr sz="1800">
                <a:latin typeface="Consolas"/>
                <a:ea typeface="Consolas"/>
                <a:cs typeface="Consolas"/>
                <a:sym typeface="Consolas"/>
              </a:endParaRPr>
            </a:p>
          </p:txBody>
        </p:sp>
        <p:cxnSp>
          <p:nvCxnSpPr>
            <p:cNvPr id="453" name="Google Shape;453;p36"/>
            <p:cNvCxnSpPr>
              <a:stCxn id="452" idx="2"/>
              <a:endCxn id="452" idx="0"/>
            </p:cNvCxnSpPr>
            <p:nvPr/>
          </p:nvCxnSpPr>
          <p:spPr>
            <a:xfrm rot="10800000">
              <a:off x="3315625" y="2640800"/>
              <a:ext cx="0" cy="370800"/>
            </a:xfrm>
            <a:prstGeom prst="straightConnector1">
              <a:avLst/>
            </a:prstGeom>
            <a:noFill/>
            <a:ln w="9525" cap="flat" cmpd="sng">
              <a:solidFill>
                <a:schemeClr val="dk2"/>
              </a:solidFill>
              <a:prstDash val="solid"/>
              <a:round/>
              <a:headEnd type="none" w="med" len="med"/>
              <a:tailEnd type="none" w="med" len="med"/>
            </a:ln>
          </p:spPr>
        </p:cxnSp>
      </p:grpSp>
      <p:grpSp>
        <p:nvGrpSpPr>
          <p:cNvPr id="454" name="Google Shape;454;p36"/>
          <p:cNvGrpSpPr/>
          <p:nvPr/>
        </p:nvGrpSpPr>
        <p:grpSpPr>
          <a:xfrm>
            <a:off x="6471900" y="1237000"/>
            <a:ext cx="741300" cy="370800"/>
            <a:chOff x="2944975" y="2640800"/>
            <a:chExt cx="741300" cy="370800"/>
          </a:xfrm>
        </p:grpSpPr>
        <p:sp>
          <p:nvSpPr>
            <p:cNvPr id="455" name="Google Shape;455;p36"/>
            <p:cNvSpPr/>
            <p:nvPr/>
          </p:nvSpPr>
          <p:spPr>
            <a:xfrm>
              <a:off x="2944975" y="2640800"/>
              <a:ext cx="741300" cy="3708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t</a:t>
              </a:r>
              <a:endParaRPr sz="1800">
                <a:latin typeface="Consolas"/>
                <a:ea typeface="Consolas"/>
                <a:cs typeface="Consolas"/>
                <a:sym typeface="Consolas"/>
              </a:endParaRPr>
            </a:p>
          </p:txBody>
        </p:sp>
        <p:cxnSp>
          <p:nvCxnSpPr>
            <p:cNvPr id="456" name="Google Shape;456;p36"/>
            <p:cNvCxnSpPr>
              <a:stCxn id="455" idx="2"/>
              <a:endCxn id="455" idx="0"/>
            </p:cNvCxnSpPr>
            <p:nvPr/>
          </p:nvCxnSpPr>
          <p:spPr>
            <a:xfrm rot="10800000">
              <a:off x="3315625" y="2640800"/>
              <a:ext cx="0" cy="370800"/>
            </a:xfrm>
            <a:prstGeom prst="straightConnector1">
              <a:avLst/>
            </a:prstGeom>
            <a:noFill/>
            <a:ln w="9525" cap="flat" cmpd="sng">
              <a:solidFill>
                <a:schemeClr val="dk2"/>
              </a:solidFill>
              <a:prstDash val="solid"/>
              <a:round/>
              <a:headEnd type="none" w="med" len="med"/>
              <a:tailEnd type="none" w="med" len="med"/>
            </a:ln>
          </p:spPr>
        </p:cxnSp>
      </p:grpSp>
      <p:grpSp>
        <p:nvGrpSpPr>
          <p:cNvPr id="457" name="Google Shape;457;p36"/>
          <p:cNvGrpSpPr/>
          <p:nvPr/>
        </p:nvGrpSpPr>
        <p:grpSpPr>
          <a:xfrm>
            <a:off x="6471900" y="1807050"/>
            <a:ext cx="741300" cy="370800"/>
            <a:chOff x="2944975" y="2640800"/>
            <a:chExt cx="741300" cy="370800"/>
          </a:xfrm>
        </p:grpSpPr>
        <p:sp>
          <p:nvSpPr>
            <p:cNvPr id="458" name="Google Shape;458;p36"/>
            <p:cNvSpPr/>
            <p:nvPr/>
          </p:nvSpPr>
          <p:spPr>
            <a:xfrm>
              <a:off x="2944975" y="2640800"/>
              <a:ext cx="741300" cy="3708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h</a:t>
              </a:r>
              <a:endParaRPr sz="1800">
                <a:latin typeface="Consolas"/>
                <a:ea typeface="Consolas"/>
                <a:cs typeface="Consolas"/>
                <a:sym typeface="Consolas"/>
              </a:endParaRPr>
            </a:p>
          </p:txBody>
        </p:sp>
        <p:cxnSp>
          <p:nvCxnSpPr>
            <p:cNvPr id="459" name="Google Shape;459;p36"/>
            <p:cNvCxnSpPr>
              <a:stCxn id="458" idx="2"/>
              <a:endCxn id="458" idx="0"/>
            </p:cNvCxnSpPr>
            <p:nvPr/>
          </p:nvCxnSpPr>
          <p:spPr>
            <a:xfrm rot="10800000">
              <a:off x="3315625" y="2640800"/>
              <a:ext cx="0" cy="370800"/>
            </a:xfrm>
            <a:prstGeom prst="straightConnector1">
              <a:avLst/>
            </a:prstGeom>
            <a:noFill/>
            <a:ln w="9525" cap="flat" cmpd="sng">
              <a:solidFill>
                <a:schemeClr val="dk2"/>
              </a:solidFill>
              <a:prstDash val="solid"/>
              <a:round/>
              <a:headEnd type="none" w="med" len="med"/>
              <a:tailEnd type="none" w="med" len="med"/>
            </a:ln>
          </p:spPr>
        </p:cxnSp>
      </p:grpSp>
      <p:grpSp>
        <p:nvGrpSpPr>
          <p:cNvPr id="460" name="Google Shape;460;p36"/>
          <p:cNvGrpSpPr/>
          <p:nvPr/>
        </p:nvGrpSpPr>
        <p:grpSpPr>
          <a:xfrm>
            <a:off x="6471900" y="2377100"/>
            <a:ext cx="741300" cy="370800"/>
            <a:chOff x="2944975" y="2640800"/>
            <a:chExt cx="741300" cy="370800"/>
          </a:xfrm>
        </p:grpSpPr>
        <p:sp>
          <p:nvSpPr>
            <p:cNvPr id="461" name="Google Shape;461;p36"/>
            <p:cNvSpPr/>
            <p:nvPr/>
          </p:nvSpPr>
          <p:spPr>
            <a:xfrm>
              <a:off x="2944975" y="2640800"/>
              <a:ext cx="741300" cy="3708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e  5</a:t>
              </a:r>
              <a:endParaRPr sz="1800">
                <a:latin typeface="Consolas"/>
                <a:ea typeface="Consolas"/>
                <a:cs typeface="Consolas"/>
                <a:sym typeface="Consolas"/>
              </a:endParaRPr>
            </a:p>
          </p:txBody>
        </p:sp>
        <p:cxnSp>
          <p:nvCxnSpPr>
            <p:cNvPr id="462" name="Google Shape;462;p36"/>
            <p:cNvCxnSpPr>
              <a:stCxn id="461" idx="2"/>
              <a:endCxn id="461" idx="0"/>
            </p:cNvCxnSpPr>
            <p:nvPr/>
          </p:nvCxnSpPr>
          <p:spPr>
            <a:xfrm rot="10800000">
              <a:off x="3315625" y="2640800"/>
              <a:ext cx="0" cy="370800"/>
            </a:xfrm>
            <a:prstGeom prst="straightConnector1">
              <a:avLst/>
            </a:prstGeom>
            <a:noFill/>
            <a:ln w="9525" cap="flat" cmpd="sng">
              <a:solidFill>
                <a:schemeClr val="dk2"/>
              </a:solidFill>
              <a:prstDash val="solid"/>
              <a:round/>
              <a:headEnd type="none" w="med" len="med"/>
              <a:tailEnd type="none" w="med" len="med"/>
            </a:ln>
          </p:spPr>
        </p:cxnSp>
      </p:grpSp>
      <p:grpSp>
        <p:nvGrpSpPr>
          <p:cNvPr id="463" name="Google Shape;463;p36"/>
          <p:cNvGrpSpPr/>
          <p:nvPr/>
        </p:nvGrpSpPr>
        <p:grpSpPr>
          <a:xfrm>
            <a:off x="4179925" y="666950"/>
            <a:ext cx="741300" cy="370800"/>
            <a:chOff x="2944975" y="2773800"/>
            <a:chExt cx="741300" cy="370800"/>
          </a:xfrm>
        </p:grpSpPr>
        <p:sp>
          <p:nvSpPr>
            <p:cNvPr id="464" name="Google Shape;464;p36"/>
            <p:cNvSpPr/>
            <p:nvPr/>
          </p:nvSpPr>
          <p:spPr>
            <a:xfrm>
              <a:off x="2944975" y="2773800"/>
              <a:ext cx="741300" cy="3708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 </a:t>
              </a:r>
              <a:endParaRPr sz="1800">
                <a:latin typeface="Consolas"/>
                <a:ea typeface="Consolas"/>
                <a:cs typeface="Consolas"/>
                <a:sym typeface="Consolas"/>
              </a:endParaRPr>
            </a:p>
          </p:txBody>
        </p:sp>
        <p:cxnSp>
          <p:nvCxnSpPr>
            <p:cNvPr id="465" name="Google Shape;465;p36"/>
            <p:cNvCxnSpPr>
              <a:stCxn id="464" idx="2"/>
              <a:endCxn id="464" idx="0"/>
            </p:cNvCxnSpPr>
            <p:nvPr/>
          </p:nvCxnSpPr>
          <p:spPr>
            <a:xfrm rot="10800000">
              <a:off x="3315625" y="2773800"/>
              <a:ext cx="0" cy="370800"/>
            </a:xfrm>
            <a:prstGeom prst="straightConnector1">
              <a:avLst/>
            </a:prstGeom>
            <a:noFill/>
            <a:ln w="9525" cap="flat" cmpd="sng">
              <a:solidFill>
                <a:schemeClr val="dk2"/>
              </a:solidFill>
              <a:prstDash val="solid"/>
              <a:round/>
              <a:headEnd type="none" w="med" len="med"/>
              <a:tailEnd type="none" w="med" len="med"/>
            </a:ln>
          </p:spPr>
        </p:cxnSp>
      </p:grpSp>
      <p:cxnSp>
        <p:nvCxnSpPr>
          <p:cNvPr id="466" name="Google Shape;466;p36"/>
          <p:cNvCxnSpPr>
            <a:stCxn id="464" idx="2"/>
            <a:endCxn id="410" idx="0"/>
          </p:cNvCxnSpPr>
          <p:nvPr/>
        </p:nvCxnSpPr>
        <p:spPr>
          <a:xfrm flipH="1">
            <a:off x="1324975" y="1037750"/>
            <a:ext cx="3225600" cy="199200"/>
          </a:xfrm>
          <a:prstGeom prst="straightConnector1">
            <a:avLst/>
          </a:prstGeom>
          <a:noFill/>
          <a:ln w="19050" cap="flat" cmpd="sng">
            <a:solidFill>
              <a:srgbClr val="000000"/>
            </a:solidFill>
            <a:prstDash val="solid"/>
            <a:round/>
            <a:headEnd type="none" w="med" len="med"/>
            <a:tailEnd type="none" w="med" len="med"/>
          </a:ln>
        </p:spPr>
      </p:cxnSp>
      <p:cxnSp>
        <p:nvCxnSpPr>
          <p:cNvPr id="467" name="Google Shape;467;p36"/>
          <p:cNvCxnSpPr>
            <a:stCxn id="464" idx="2"/>
            <a:endCxn id="413" idx="0"/>
          </p:cNvCxnSpPr>
          <p:nvPr/>
        </p:nvCxnSpPr>
        <p:spPr>
          <a:xfrm flipH="1">
            <a:off x="3693475" y="1037750"/>
            <a:ext cx="857100" cy="199200"/>
          </a:xfrm>
          <a:prstGeom prst="straightConnector1">
            <a:avLst/>
          </a:prstGeom>
          <a:noFill/>
          <a:ln w="19050" cap="flat" cmpd="sng">
            <a:solidFill>
              <a:srgbClr val="000000"/>
            </a:solidFill>
            <a:prstDash val="solid"/>
            <a:round/>
            <a:headEnd type="none" w="med" len="med"/>
            <a:tailEnd type="none" w="med" len="med"/>
          </a:ln>
        </p:spPr>
      </p:cxnSp>
      <p:cxnSp>
        <p:nvCxnSpPr>
          <p:cNvPr id="468" name="Google Shape;468;p36"/>
          <p:cNvCxnSpPr>
            <a:stCxn id="464" idx="2"/>
            <a:endCxn id="455" idx="0"/>
          </p:cNvCxnSpPr>
          <p:nvPr/>
        </p:nvCxnSpPr>
        <p:spPr>
          <a:xfrm>
            <a:off x="4550575" y="1037750"/>
            <a:ext cx="2292000" cy="199200"/>
          </a:xfrm>
          <a:prstGeom prst="straightConnector1">
            <a:avLst/>
          </a:prstGeom>
          <a:noFill/>
          <a:ln w="19050" cap="flat" cmpd="sng">
            <a:solidFill>
              <a:srgbClr val="000000"/>
            </a:solidFill>
            <a:prstDash val="solid"/>
            <a:round/>
            <a:headEnd type="none" w="med" len="med"/>
            <a:tailEnd type="none" w="med" len="med"/>
          </a:ln>
        </p:spPr>
      </p:cxnSp>
      <p:cxnSp>
        <p:nvCxnSpPr>
          <p:cNvPr id="469" name="Google Shape;469;p36"/>
          <p:cNvCxnSpPr>
            <a:stCxn id="413" idx="2"/>
            <a:endCxn id="416" idx="0"/>
          </p:cNvCxnSpPr>
          <p:nvPr/>
        </p:nvCxnSpPr>
        <p:spPr>
          <a:xfrm flipH="1">
            <a:off x="2804300" y="1607800"/>
            <a:ext cx="889200" cy="199200"/>
          </a:xfrm>
          <a:prstGeom prst="straightConnector1">
            <a:avLst/>
          </a:prstGeom>
          <a:noFill/>
          <a:ln w="19050" cap="flat" cmpd="sng">
            <a:solidFill>
              <a:srgbClr val="000000"/>
            </a:solidFill>
            <a:prstDash val="solid"/>
            <a:round/>
            <a:headEnd type="none" w="med" len="med"/>
            <a:tailEnd type="none" w="med" len="med"/>
          </a:ln>
        </p:spPr>
      </p:cxnSp>
      <p:cxnSp>
        <p:nvCxnSpPr>
          <p:cNvPr id="470" name="Google Shape;470;p36"/>
          <p:cNvCxnSpPr>
            <a:stCxn id="413" idx="2"/>
            <a:endCxn id="431" idx="0"/>
          </p:cNvCxnSpPr>
          <p:nvPr/>
        </p:nvCxnSpPr>
        <p:spPr>
          <a:xfrm>
            <a:off x="3693500" y="1607800"/>
            <a:ext cx="1421700" cy="199200"/>
          </a:xfrm>
          <a:prstGeom prst="straightConnector1">
            <a:avLst/>
          </a:prstGeom>
          <a:noFill/>
          <a:ln w="19050" cap="flat" cmpd="sng">
            <a:solidFill>
              <a:srgbClr val="000000"/>
            </a:solidFill>
            <a:prstDash val="solid"/>
            <a:round/>
            <a:headEnd type="none" w="med" len="med"/>
            <a:tailEnd type="none" w="med" len="med"/>
          </a:ln>
        </p:spPr>
      </p:cxnSp>
      <p:cxnSp>
        <p:nvCxnSpPr>
          <p:cNvPr id="471" name="Google Shape;471;p36"/>
          <p:cNvCxnSpPr>
            <a:stCxn id="410" idx="2"/>
            <a:endCxn id="407" idx="0"/>
          </p:cNvCxnSpPr>
          <p:nvPr/>
        </p:nvCxnSpPr>
        <p:spPr>
          <a:xfrm>
            <a:off x="1325050" y="1607800"/>
            <a:ext cx="0" cy="199200"/>
          </a:xfrm>
          <a:prstGeom prst="straightConnector1">
            <a:avLst/>
          </a:prstGeom>
          <a:noFill/>
          <a:ln w="19050" cap="flat" cmpd="sng">
            <a:solidFill>
              <a:srgbClr val="000000"/>
            </a:solidFill>
            <a:prstDash val="solid"/>
            <a:round/>
            <a:headEnd type="none" w="med" len="med"/>
            <a:tailEnd type="none" w="med" len="med"/>
          </a:ln>
        </p:spPr>
      </p:cxnSp>
      <p:cxnSp>
        <p:nvCxnSpPr>
          <p:cNvPr id="472" name="Google Shape;472;p36"/>
          <p:cNvCxnSpPr>
            <a:stCxn id="416" idx="2"/>
            <a:endCxn id="419" idx="0"/>
          </p:cNvCxnSpPr>
          <p:nvPr/>
        </p:nvCxnSpPr>
        <p:spPr>
          <a:xfrm flipH="1">
            <a:off x="2282975" y="2177850"/>
            <a:ext cx="521400" cy="199200"/>
          </a:xfrm>
          <a:prstGeom prst="straightConnector1">
            <a:avLst/>
          </a:prstGeom>
          <a:noFill/>
          <a:ln w="19050" cap="flat" cmpd="sng">
            <a:solidFill>
              <a:srgbClr val="000000"/>
            </a:solidFill>
            <a:prstDash val="solid"/>
            <a:round/>
            <a:headEnd type="none" w="med" len="med"/>
            <a:tailEnd type="none" w="med" len="med"/>
          </a:ln>
        </p:spPr>
      </p:cxnSp>
      <p:cxnSp>
        <p:nvCxnSpPr>
          <p:cNvPr id="473" name="Google Shape;473;p36"/>
          <p:cNvCxnSpPr>
            <a:stCxn id="416" idx="2"/>
            <a:endCxn id="422" idx="0"/>
          </p:cNvCxnSpPr>
          <p:nvPr/>
        </p:nvCxnSpPr>
        <p:spPr>
          <a:xfrm>
            <a:off x="2804375" y="2177850"/>
            <a:ext cx="709800" cy="199200"/>
          </a:xfrm>
          <a:prstGeom prst="straightConnector1">
            <a:avLst/>
          </a:prstGeom>
          <a:noFill/>
          <a:ln w="19050" cap="flat" cmpd="sng">
            <a:solidFill>
              <a:srgbClr val="000000"/>
            </a:solidFill>
            <a:prstDash val="solid"/>
            <a:round/>
            <a:headEnd type="none" w="med" len="med"/>
            <a:tailEnd type="none" w="med" len="med"/>
          </a:ln>
        </p:spPr>
      </p:cxnSp>
      <p:cxnSp>
        <p:nvCxnSpPr>
          <p:cNvPr id="474" name="Google Shape;474;p36"/>
          <p:cNvCxnSpPr>
            <a:stCxn id="425" idx="0"/>
            <a:endCxn id="422" idx="2"/>
          </p:cNvCxnSpPr>
          <p:nvPr/>
        </p:nvCxnSpPr>
        <p:spPr>
          <a:xfrm rot="10800000">
            <a:off x="3514050" y="2748050"/>
            <a:ext cx="0" cy="195900"/>
          </a:xfrm>
          <a:prstGeom prst="straightConnector1">
            <a:avLst/>
          </a:prstGeom>
          <a:noFill/>
          <a:ln w="19050" cap="flat" cmpd="sng">
            <a:solidFill>
              <a:srgbClr val="000000"/>
            </a:solidFill>
            <a:prstDash val="solid"/>
            <a:round/>
            <a:headEnd type="none" w="med" len="med"/>
            <a:tailEnd type="none" w="med" len="med"/>
          </a:ln>
        </p:spPr>
      </p:cxnSp>
      <p:cxnSp>
        <p:nvCxnSpPr>
          <p:cNvPr id="475" name="Google Shape;475;p36"/>
          <p:cNvCxnSpPr>
            <a:stCxn id="425" idx="2"/>
            <a:endCxn id="428" idx="0"/>
          </p:cNvCxnSpPr>
          <p:nvPr/>
        </p:nvCxnSpPr>
        <p:spPr>
          <a:xfrm>
            <a:off x="3514050" y="3314750"/>
            <a:ext cx="0" cy="202500"/>
          </a:xfrm>
          <a:prstGeom prst="straightConnector1">
            <a:avLst/>
          </a:prstGeom>
          <a:noFill/>
          <a:ln w="19050" cap="flat" cmpd="sng">
            <a:solidFill>
              <a:srgbClr val="000000"/>
            </a:solidFill>
            <a:prstDash val="solid"/>
            <a:round/>
            <a:headEnd type="none" w="med" len="med"/>
            <a:tailEnd type="none" w="med" len="med"/>
          </a:ln>
        </p:spPr>
      </p:cxnSp>
      <p:cxnSp>
        <p:nvCxnSpPr>
          <p:cNvPr id="476" name="Google Shape;476;p36"/>
          <p:cNvCxnSpPr>
            <a:stCxn id="431" idx="2"/>
            <a:endCxn id="434" idx="0"/>
          </p:cNvCxnSpPr>
          <p:nvPr/>
        </p:nvCxnSpPr>
        <p:spPr>
          <a:xfrm flipH="1">
            <a:off x="4581739" y="2177850"/>
            <a:ext cx="533400" cy="199200"/>
          </a:xfrm>
          <a:prstGeom prst="straightConnector1">
            <a:avLst/>
          </a:prstGeom>
          <a:noFill/>
          <a:ln w="19050" cap="flat" cmpd="sng">
            <a:solidFill>
              <a:srgbClr val="000000"/>
            </a:solidFill>
            <a:prstDash val="solid"/>
            <a:round/>
            <a:headEnd type="none" w="med" len="med"/>
            <a:tailEnd type="none" w="med" len="med"/>
          </a:ln>
        </p:spPr>
      </p:cxnSp>
      <p:cxnSp>
        <p:nvCxnSpPr>
          <p:cNvPr id="477" name="Google Shape;477;p36"/>
          <p:cNvCxnSpPr>
            <a:stCxn id="434" idx="2"/>
            <a:endCxn id="437" idx="0"/>
          </p:cNvCxnSpPr>
          <p:nvPr/>
        </p:nvCxnSpPr>
        <p:spPr>
          <a:xfrm>
            <a:off x="4581739" y="2747900"/>
            <a:ext cx="0" cy="199200"/>
          </a:xfrm>
          <a:prstGeom prst="straightConnector1">
            <a:avLst/>
          </a:prstGeom>
          <a:noFill/>
          <a:ln w="19050" cap="flat" cmpd="sng">
            <a:solidFill>
              <a:srgbClr val="000000"/>
            </a:solidFill>
            <a:prstDash val="solid"/>
            <a:round/>
            <a:headEnd type="none" w="med" len="med"/>
            <a:tailEnd type="none" w="med" len="med"/>
          </a:ln>
        </p:spPr>
      </p:cxnSp>
      <p:cxnSp>
        <p:nvCxnSpPr>
          <p:cNvPr id="478" name="Google Shape;478;p36"/>
          <p:cNvCxnSpPr>
            <a:stCxn id="440" idx="0"/>
            <a:endCxn id="437" idx="2"/>
          </p:cNvCxnSpPr>
          <p:nvPr/>
        </p:nvCxnSpPr>
        <p:spPr>
          <a:xfrm rot="10800000">
            <a:off x="4581739" y="3318000"/>
            <a:ext cx="0" cy="199200"/>
          </a:xfrm>
          <a:prstGeom prst="straightConnector1">
            <a:avLst/>
          </a:prstGeom>
          <a:noFill/>
          <a:ln w="19050" cap="flat" cmpd="sng">
            <a:solidFill>
              <a:srgbClr val="000000"/>
            </a:solidFill>
            <a:prstDash val="solid"/>
            <a:round/>
            <a:headEnd type="none" w="med" len="med"/>
            <a:tailEnd type="none" w="med" len="med"/>
          </a:ln>
        </p:spPr>
      </p:cxnSp>
      <p:cxnSp>
        <p:nvCxnSpPr>
          <p:cNvPr id="479" name="Google Shape;479;p36"/>
          <p:cNvCxnSpPr>
            <a:stCxn id="443" idx="0"/>
            <a:endCxn id="440" idx="2"/>
          </p:cNvCxnSpPr>
          <p:nvPr/>
        </p:nvCxnSpPr>
        <p:spPr>
          <a:xfrm rot="10800000">
            <a:off x="4581739" y="3888050"/>
            <a:ext cx="0" cy="199200"/>
          </a:xfrm>
          <a:prstGeom prst="straightConnector1">
            <a:avLst/>
          </a:prstGeom>
          <a:noFill/>
          <a:ln w="19050" cap="flat" cmpd="sng">
            <a:solidFill>
              <a:srgbClr val="000000"/>
            </a:solidFill>
            <a:prstDash val="solid"/>
            <a:round/>
            <a:headEnd type="none" w="med" len="med"/>
            <a:tailEnd type="none" w="med" len="med"/>
          </a:ln>
        </p:spPr>
      </p:cxnSp>
      <p:cxnSp>
        <p:nvCxnSpPr>
          <p:cNvPr id="480" name="Google Shape;480;p36"/>
          <p:cNvCxnSpPr>
            <a:stCxn id="446" idx="0"/>
            <a:endCxn id="431" idx="2"/>
          </p:cNvCxnSpPr>
          <p:nvPr/>
        </p:nvCxnSpPr>
        <p:spPr>
          <a:xfrm rot="10800000">
            <a:off x="5115200" y="2177900"/>
            <a:ext cx="548100" cy="199200"/>
          </a:xfrm>
          <a:prstGeom prst="straightConnector1">
            <a:avLst/>
          </a:prstGeom>
          <a:noFill/>
          <a:ln w="19050" cap="flat" cmpd="sng">
            <a:solidFill>
              <a:srgbClr val="000000"/>
            </a:solidFill>
            <a:prstDash val="solid"/>
            <a:round/>
            <a:headEnd type="none" w="med" len="med"/>
            <a:tailEnd type="none" w="med" len="med"/>
          </a:ln>
        </p:spPr>
      </p:cxnSp>
      <p:cxnSp>
        <p:nvCxnSpPr>
          <p:cNvPr id="481" name="Google Shape;481;p36"/>
          <p:cNvCxnSpPr>
            <a:stCxn id="446" idx="2"/>
            <a:endCxn id="449" idx="0"/>
          </p:cNvCxnSpPr>
          <p:nvPr/>
        </p:nvCxnSpPr>
        <p:spPr>
          <a:xfrm>
            <a:off x="5663300" y="2747900"/>
            <a:ext cx="0" cy="196200"/>
          </a:xfrm>
          <a:prstGeom prst="straightConnector1">
            <a:avLst/>
          </a:prstGeom>
          <a:noFill/>
          <a:ln w="19050" cap="flat" cmpd="sng">
            <a:solidFill>
              <a:srgbClr val="000000"/>
            </a:solidFill>
            <a:prstDash val="solid"/>
            <a:round/>
            <a:headEnd type="none" w="med" len="med"/>
            <a:tailEnd type="none" w="med" len="med"/>
          </a:ln>
        </p:spPr>
      </p:cxnSp>
      <p:cxnSp>
        <p:nvCxnSpPr>
          <p:cNvPr id="482" name="Google Shape;482;p36"/>
          <p:cNvCxnSpPr>
            <a:stCxn id="449" idx="2"/>
            <a:endCxn id="452" idx="0"/>
          </p:cNvCxnSpPr>
          <p:nvPr/>
        </p:nvCxnSpPr>
        <p:spPr>
          <a:xfrm>
            <a:off x="5663300" y="3314750"/>
            <a:ext cx="0" cy="202500"/>
          </a:xfrm>
          <a:prstGeom prst="straightConnector1">
            <a:avLst/>
          </a:prstGeom>
          <a:noFill/>
          <a:ln w="19050" cap="flat" cmpd="sng">
            <a:solidFill>
              <a:srgbClr val="000000"/>
            </a:solidFill>
            <a:prstDash val="solid"/>
            <a:round/>
            <a:headEnd type="none" w="med" len="med"/>
            <a:tailEnd type="none" w="med" len="med"/>
          </a:ln>
        </p:spPr>
      </p:cxnSp>
      <p:cxnSp>
        <p:nvCxnSpPr>
          <p:cNvPr id="483" name="Google Shape;483;p36"/>
          <p:cNvCxnSpPr>
            <a:stCxn id="455" idx="2"/>
            <a:endCxn id="458" idx="0"/>
          </p:cNvCxnSpPr>
          <p:nvPr/>
        </p:nvCxnSpPr>
        <p:spPr>
          <a:xfrm>
            <a:off x="6842550" y="1607800"/>
            <a:ext cx="0" cy="199200"/>
          </a:xfrm>
          <a:prstGeom prst="straightConnector1">
            <a:avLst/>
          </a:prstGeom>
          <a:noFill/>
          <a:ln w="19050" cap="flat" cmpd="sng">
            <a:solidFill>
              <a:srgbClr val="000000"/>
            </a:solidFill>
            <a:prstDash val="solid"/>
            <a:round/>
            <a:headEnd type="none" w="med" len="med"/>
            <a:tailEnd type="none" w="med" len="med"/>
          </a:ln>
        </p:spPr>
      </p:cxnSp>
      <p:cxnSp>
        <p:nvCxnSpPr>
          <p:cNvPr id="484" name="Google Shape;484;p36"/>
          <p:cNvCxnSpPr>
            <a:stCxn id="458" idx="2"/>
            <a:endCxn id="461" idx="0"/>
          </p:cNvCxnSpPr>
          <p:nvPr/>
        </p:nvCxnSpPr>
        <p:spPr>
          <a:xfrm>
            <a:off x="6842550" y="2177850"/>
            <a:ext cx="0" cy="199200"/>
          </a:xfrm>
          <a:prstGeom prst="straightConnector1">
            <a:avLst/>
          </a:prstGeom>
          <a:noFill/>
          <a:ln w="19050" cap="flat" cmpd="sng">
            <a:solidFill>
              <a:srgbClr val="000000"/>
            </a:solidFill>
            <a:prstDash val="solid"/>
            <a:round/>
            <a:headEnd type="none" w="med" len="med"/>
            <a:tailEnd type="none" w="med" len="med"/>
          </a:ln>
        </p:spPr>
      </p:cxnSp>
      <p:sp>
        <p:nvSpPr>
          <p:cNvPr id="485" name="Google Shape;485;p36"/>
          <p:cNvSpPr txBox="1">
            <a:spLocks noGrp="1"/>
          </p:cNvSpPr>
          <p:nvPr>
            <p:ph type="body" idx="1"/>
          </p:nvPr>
        </p:nvSpPr>
        <p:spPr>
          <a:xfrm>
            <a:off x="220600" y="2919425"/>
            <a:ext cx="2292000" cy="665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e.g. maps “by” to 4.</a:t>
            </a:r>
            <a:endParaRPr/>
          </a:p>
          <a:p>
            <a:pPr marL="0" lvl="0" indent="0" algn="l" rtl="0">
              <a:spcBef>
                <a:spcPts val="600"/>
              </a:spcBef>
              <a:spcAft>
                <a:spcPts val="0"/>
              </a:spcAft>
              <a:buNone/>
            </a:pPr>
            <a:endParaRPr/>
          </a:p>
        </p:txBody>
      </p:sp>
      <p:sp>
        <p:nvSpPr>
          <p:cNvPr id="2" name="TextBox 1">
            <a:extLst>
              <a:ext uri="{FF2B5EF4-FFF2-40B4-BE49-F238E27FC236}">
                <a16:creationId xmlns:a16="http://schemas.microsoft.com/office/drawing/2014/main" id="{83B4E7A2-665B-C6AE-ED69-300619846EAD}"/>
              </a:ext>
            </a:extLst>
          </p:cNvPr>
          <p:cNvSpPr txBox="1"/>
          <p:nvPr/>
        </p:nvSpPr>
        <p:spPr>
          <a:xfrm>
            <a:off x="1140031" y="70410"/>
            <a:ext cx="1250663" cy="307777"/>
          </a:xfrm>
          <a:prstGeom prst="rect">
            <a:avLst/>
          </a:prstGeom>
          <a:noFill/>
        </p:spPr>
        <p:txBody>
          <a:bodyPr wrap="none" rtlCol="0">
            <a:spAutoFit/>
          </a:bodyPr>
          <a:lstStyle/>
          <a:p>
            <a:r>
              <a:rPr lang="en-US" altLang="zh-CN" b="1" dirty="0">
                <a:solidFill>
                  <a:srgbClr val="00B0F0"/>
                </a:solidFill>
              </a:rPr>
              <a:t>Map</a:t>
            </a:r>
            <a:r>
              <a:rPr lang="zh-CN" altLang="en-US" b="1" dirty="0">
                <a:solidFill>
                  <a:srgbClr val="00B0F0"/>
                </a:solidFill>
              </a:rPr>
              <a:t>译作映射</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3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Tries: A Digit-by-Digit Set Representation</a:t>
            </a:r>
            <a:endParaRPr/>
          </a:p>
        </p:txBody>
      </p:sp>
      <p:sp>
        <p:nvSpPr>
          <p:cNvPr id="491" name="Google Shape;491;p37"/>
          <p:cNvSpPr txBox="1">
            <a:spLocks noGrp="1"/>
          </p:cNvSpPr>
          <p:nvPr>
            <p:ph type="body" idx="1"/>
          </p:nvPr>
        </p:nvSpPr>
        <p:spPr>
          <a:xfrm>
            <a:off x="319200" y="556500"/>
            <a:ext cx="8443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p:txBody>
      </p:sp>
      <p:sp>
        <p:nvSpPr>
          <p:cNvPr id="492" name="Google Shape;492;p37"/>
          <p:cNvSpPr/>
          <p:nvPr/>
        </p:nvSpPr>
        <p:spPr>
          <a:xfrm>
            <a:off x="7191630" y="11331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493" name="Google Shape;493;p37"/>
          <p:cNvSpPr/>
          <p:nvPr/>
        </p:nvSpPr>
        <p:spPr>
          <a:xfrm>
            <a:off x="7867175" y="188609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sp>
        <p:nvSpPr>
          <p:cNvPr id="494" name="Google Shape;494;p37"/>
          <p:cNvSpPr/>
          <p:nvPr/>
        </p:nvSpPr>
        <p:spPr>
          <a:xfrm>
            <a:off x="7867175" y="2521373"/>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495" name="Google Shape;495;p37"/>
          <p:cNvSpPr/>
          <p:nvPr/>
        </p:nvSpPr>
        <p:spPr>
          <a:xfrm>
            <a:off x="7867175" y="31566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m</a:t>
            </a:r>
            <a:endParaRPr sz="1800">
              <a:latin typeface="Consolas"/>
              <a:ea typeface="Consolas"/>
              <a:cs typeface="Consolas"/>
              <a:sym typeface="Consolas"/>
            </a:endParaRPr>
          </a:p>
        </p:txBody>
      </p:sp>
      <p:sp>
        <p:nvSpPr>
          <p:cNvPr id="496" name="Google Shape;496;p37"/>
          <p:cNvSpPr/>
          <p:nvPr/>
        </p:nvSpPr>
        <p:spPr>
          <a:xfrm>
            <a:off x="7237675" y="31566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d</a:t>
            </a:r>
            <a:endParaRPr sz="1800">
              <a:latin typeface="Consolas"/>
              <a:ea typeface="Consolas"/>
              <a:cs typeface="Consolas"/>
              <a:sym typeface="Consolas"/>
            </a:endParaRPr>
          </a:p>
        </p:txBody>
      </p:sp>
      <p:sp>
        <p:nvSpPr>
          <p:cNvPr id="497" name="Google Shape;497;p37"/>
          <p:cNvSpPr/>
          <p:nvPr/>
        </p:nvSpPr>
        <p:spPr>
          <a:xfrm>
            <a:off x="8496675" y="31566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p</a:t>
            </a:r>
            <a:endParaRPr sz="1800">
              <a:latin typeface="Consolas"/>
              <a:ea typeface="Consolas"/>
              <a:cs typeface="Consolas"/>
              <a:sym typeface="Consolas"/>
            </a:endParaRPr>
          </a:p>
        </p:txBody>
      </p:sp>
      <p:sp>
        <p:nvSpPr>
          <p:cNvPr id="498" name="Google Shape;498;p37"/>
          <p:cNvSpPr/>
          <p:nvPr/>
        </p:nvSpPr>
        <p:spPr>
          <a:xfrm>
            <a:off x="7867175" y="3791927"/>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e</a:t>
            </a:r>
            <a:endParaRPr sz="1800">
              <a:latin typeface="Consolas"/>
              <a:ea typeface="Consolas"/>
              <a:cs typeface="Consolas"/>
              <a:sym typeface="Consolas"/>
            </a:endParaRPr>
          </a:p>
        </p:txBody>
      </p:sp>
      <p:sp>
        <p:nvSpPr>
          <p:cNvPr id="499" name="Google Shape;499;p37"/>
          <p:cNvSpPr/>
          <p:nvPr/>
        </p:nvSpPr>
        <p:spPr>
          <a:xfrm>
            <a:off x="6541600" y="1886111"/>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500" name="Google Shape;500;p37"/>
          <p:cNvSpPr/>
          <p:nvPr/>
        </p:nvSpPr>
        <p:spPr>
          <a:xfrm>
            <a:off x="6541600" y="252138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w</a:t>
            </a:r>
            <a:endParaRPr sz="1800">
              <a:latin typeface="Consolas"/>
              <a:ea typeface="Consolas"/>
              <a:cs typeface="Consolas"/>
              <a:sym typeface="Consolas"/>
            </a:endParaRPr>
          </a:p>
        </p:txBody>
      </p:sp>
      <p:sp>
        <p:nvSpPr>
          <p:cNvPr id="501" name="Google Shape;501;p37"/>
          <p:cNvSpPr/>
          <p:nvPr/>
        </p:nvSpPr>
        <p:spPr>
          <a:xfrm>
            <a:off x="6541600" y="3156661"/>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l</a:t>
            </a:r>
            <a:endParaRPr sz="1800">
              <a:latin typeface="Consolas"/>
              <a:ea typeface="Consolas"/>
              <a:cs typeface="Consolas"/>
              <a:sym typeface="Consolas"/>
            </a:endParaRPr>
          </a:p>
        </p:txBody>
      </p:sp>
      <p:cxnSp>
        <p:nvCxnSpPr>
          <p:cNvPr id="502" name="Google Shape;502;p37"/>
          <p:cNvCxnSpPr/>
          <p:nvPr/>
        </p:nvCxnSpPr>
        <p:spPr>
          <a:xfrm>
            <a:off x="8083625" y="3589552"/>
            <a:ext cx="0" cy="0"/>
          </a:xfrm>
          <a:prstGeom prst="straightConnector1">
            <a:avLst/>
          </a:prstGeom>
          <a:noFill/>
          <a:ln w="19050" cap="flat" cmpd="sng">
            <a:solidFill>
              <a:schemeClr val="dk2"/>
            </a:solidFill>
            <a:prstDash val="solid"/>
            <a:round/>
            <a:headEnd type="none" w="med" len="med"/>
            <a:tailEnd type="none" w="med" len="med"/>
          </a:ln>
        </p:spPr>
      </p:cxnSp>
      <p:cxnSp>
        <p:nvCxnSpPr>
          <p:cNvPr id="503" name="Google Shape;503;p37"/>
          <p:cNvCxnSpPr>
            <a:stCxn id="492" idx="5"/>
            <a:endCxn id="493" idx="0"/>
          </p:cNvCxnSpPr>
          <p:nvPr/>
        </p:nvCxnSpPr>
        <p:spPr>
          <a:xfrm>
            <a:off x="7561133" y="1502678"/>
            <a:ext cx="522600" cy="383400"/>
          </a:xfrm>
          <a:prstGeom prst="straightConnector1">
            <a:avLst/>
          </a:prstGeom>
          <a:noFill/>
          <a:ln w="28575" cap="flat" cmpd="sng">
            <a:solidFill>
              <a:schemeClr val="dk2"/>
            </a:solidFill>
            <a:prstDash val="solid"/>
            <a:round/>
            <a:headEnd type="none" w="med" len="med"/>
            <a:tailEnd type="none" w="med" len="med"/>
          </a:ln>
        </p:spPr>
      </p:cxnSp>
      <p:cxnSp>
        <p:nvCxnSpPr>
          <p:cNvPr id="504" name="Google Shape;504;p37"/>
          <p:cNvCxnSpPr>
            <a:stCxn id="493" idx="4"/>
            <a:endCxn id="494" idx="0"/>
          </p:cNvCxnSpPr>
          <p:nvPr/>
        </p:nvCxnSpPr>
        <p:spPr>
          <a:xfrm>
            <a:off x="8083625" y="2318996"/>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505" name="Google Shape;505;p37"/>
          <p:cNvCxnSpPr>
            <a:stCxn id="494" idx="4"/>
            <a:endCxn id="495" idx="0"/>
          </p:cNvCxnSpPr>
          <p:nvPr/>
        </p:nvCxnSpPr>
        <p:spPr>
          <a:xfrm>
            <a:off x="8083625" y="2954273"/>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506" name="Google Shape;506;p37"/>
          <p:cNvCxnSpPr>
            <a:stCxn id="494" idx="3"/>
            <a:endCxn id="496" idx="0"/>
          </p:cNvCxnSpPr>
          <p:nvPr/>
        </p:nvCxnSpPr>
        <p:spPr>
          <a:xfrm flipH="1">
            <a:off x="7454172" y="2890877"/>
            <a:ext cx="476400" cy="265800"/>
          </a:xfrm>
          <a:prstGeom prst="straightConnector1">
            <a:avLst/>
          </a:prstGeom>
          <a:noFill/>
          <a:ln w="28575" cap="flat" cmpd="sng">
            <a:solidFill>
              <a:schemeClr val="dk2"/>
            </a:solidFill>
            <a:prstDash val="solid"/>
            <a:round/>
            <a:headEnd type="none" w="med" len="med"/>
            <a:tailEnd type="none" w="med" len="med"/>
          </a:ln>
        </p:spPr>
      </p:cxnSp>
      <p:cxnSp>
        <p:nvCxnSpPr>
          <p:cNvPr id="507" name="Google Shape;507;p37"/>
          <p:cNvCxnSpPr>
            <a:stCxn id="494" idx="5"/>
            <a:endCxn id="497" idx="0"/>
          </p:cNvCxnSpPr>
          <p:nvPr/>
        </p:nvCxnSpPr>
        <p:spPr>
          <a:xfrm>
            <a:off x="8236678" y="2890877"/>
            <a:ext cx="476400" cy="265800"/>
          </a:xfrm>
          <a:prstGeom prst="straightConnector1">
            <a:avLst/>
          </a:prstGeom>
          <a:noFill/>
          <a:ln w="28575" cap="flat" cmpd="sng">
            <a:solidFill>
              <a:schemeClr val="dk2"/>
            </a:solidFill>
            <a:prstDash val="solid"/>
            <a:round/>
            <a:headEnd type="none" w="med" len="med"/>
            <a:tailEnd type="none" w="med" len="med"/>
          </a:ln>
        </p:spPr>
      </p:cxnSp>
      <p:cxnSp>
        <p:nvCxnSpPr>
          <p:cNvPr id="508" name="Google Shape;508;p37"/>
          <p:cNvCxnSpPr>
            <a:stCxn id="495" idx="4"/>
            <a:endCxn id="498" idx="0"/>
          </p:cNvCxnSpPr>
          <p:nvPr/>
        </p:nvCxnSpPr>
        <p:spPr>
          <a:xfrm>
            <a:off x="8083625" y="3589552"/>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509" name="Google Shape;509;p37"/>
          <p:cNvCxnSpPr>
            <a:stCxn id="492" idx="3"/>
            <a:endCxn id="499" idx="0"/>
          </p:cNvCxnSpPr>
          <p:nvPr/>
        </p:nvCxnSpPr>
        <p:spPr>
          <a:xfrm flipH="1">
            <a:off x="6757926" y="1502678"/>
            <a:ext cx="497100" cy="383400"/>
          </a:xfrm>
          <a:prstGeom prst="straightConnector1">
            <a:avLst/>
          </a:prstGeom>
          <a:noFill/>
          <a:ln w="28575" cap="flat" cmpd="sng">
            <a:solidFill>
              <a:schemeClr val="dk2"/>
            </a:solidFill>
            <a:prstDash val="solid"/>
            <a:round/>
            <a:headEnd type="none" w="med" len="med"/>
            <a:tailEnd type="none" w="med" len="med"/>
          </a:ln>
        </p:spPr>
      </p:cxnSp>
      <p:cxnSp>
        <p:nvCxnSpPr>
          <p:cNvPr id="510" name="Google Shape;510;p37"/>
          <p:cNvCxnSpPr>
            <a:endCxn id="500" idx="0"/>
          </p:cNvCxnSpPr>
          <p:nvPr/>
        </p:nvCxnSpPr>
        <p:spPr>
          <a:xfrm>
            <a:off x="6758050" y="2318886"/>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511" name="Google Shape;511;p37"/>
          <p:cNvCxnSpPr>
            <a:endCxn id="501" idx="0"/>
          </p:cNvCxnSpPr>
          <p:nvPr/>
        </p:nvCxnSpPr>
        <p:spPr>
          <a:xfrm>
            <a:off x="6758050" y="2954161"/>
            <a:ext cx="0" cy="202500"/>
          </a:xfrm>
          <a:prstGeom prst="straightConnector1">
            <a:avLst/>
          </a:prstGeom>
          <a:noFill/>
          <a:ln w="28575" cap="flat" cmpd="sng">
            <a:solidFill>
              <a:schemeClr val="dk2"/>
            </a:solidFill>
            <a:prstDash val="solid"/>
            <a:round/>
            <a:headEnd type="none" w="med" len="med"/>
            <a:tailEnd type="none" w="med" len="med"/>
          </a:ln>
        </p:spPr>
      </p:cxnSp>
      <p:sp>
        <p:nvSpPr>
          <p:cNvPr id="512" name="Google Shape;512;p37"/>
          <p:cNvSpPr/>
          <p:nvPr/>
        </p:nvSpPr>
        <p:spPr>
          <a:xfrm>
            <a:off x="6541600" y="3791936"/>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cxnSp>
        <p:nvCxnSpPr>
          <p:cNvPr id="513" name="Google Shape;513;p37"/>
          <p:cNvCxnSpPr>
            <a:stCxn id="501" idx="4"/>
            <a:endCxn id="512" idx="0"/>
          </p:cNvCxnSpPr>
          <p:nvPr/>
        </p:nvCxnSpPr>
        <p:spPr>
          <a:xfrm>
            <a:off x="6758050" y="3589561"/>
            <a:ext cx="0" cy="202500"/>
          </a:xfrm>
          <a:prstGeom prst="straightConnector1">
            <a:avLst/>
          </a:prstGeom>
          <a:noFill/>
          <a:ln w="28575" cap="flat" cmpd="sng">
            <a:solidFill>
              <a:schemeClr val="dk2"/>
            </a:solidFill>
            <a:prstDash val="solid"/>
            <a:round/>
            <a:headEnd type="none" w="med" len="med"/>
            <a:tailEnd type="none" w="med" len="med"/>
          </a:ln>
        </p:spPr>
      </p:cxnSp>
      <p:sp>
        <p:nvSpPr>
          <p:cNvPr id="514" name="Google Shape;514;p37"/>
          <p:cNvSpPr/>
          <p:nvPr/>
        </p:nvSpPr>
        <p:spPr>
          <a:xfrm>
            <a:off x="1196501" y="2064250"/>
            <a:ext cx="767100" cy="432900"/>
          </a:xfrm>
          <a:prstGeom prst="rect">
            <a:avLst/>
          </a:prstGeom>
          <a:solidFill>
            <a:srgbClr val="D9EAD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sad</a:t>
            </a:r>
            <a:endParaRPr/>
          </a:p>
        </p:txBody>
      </p:sp>
      <p:sp>
        <p:nvSpPr>
          <p:cNvPr id="515" name="Google Shape;515;p37"/>
          <p:cNvSpPr/>
          <p:nvPr/>
        </p:nvSpPr>
        <p:spPr>
          <a:xfrm>
            <a:off x="1791263" y="2852400"/>
            <a:ext cx="767100" cy="432900"/>
          </a:xfrm>
          <a:prstGeom prst="rect">
            <a:avLst/>
          </a:prstGeom>
          <a:solidFill>
            <a:srgbClr val="D9EAD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same</a:t>
            </a:r>
            <a:endParaRPr/>
          </a:p>
        </p:txBody>
      </p:sp>
      <p:sp>
        <p:nvSpPr>
          <p:cNvPr id="516" name="Google Shape;516;p37"/>
          <p:cNvSpPr/>
          <p:nvPr/>
        </p:nvSpPr>
        <p:spPr>
          <a:xfrm>
            <a:off x="2280651" y="3600950"/>
            <a:ext cx="767100" cy="432900"/>
          </a:xfrm>
          <a:prstGeom prst="rect">
            <a:avLst/>
          </a:prstGeom>
          <a:solidFill>
            <a:srgbClr val="D9EAD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sap</a:t>
            </a:r>
            <a:endParaRPr/>
          </a:p>
        </p:txBody>
      </p:sp>
      <p:cxnSp>
        <p:nvCxnSpPr>
          <p:cNvPr id="517" name="Google Shape;517;p37"/>
          <p:cNvCxnSpPr>
            <a:stCxn id="514" idx="2"/>
            <a:endCxn id="515" idx="0"/>
          </p:cNvCxnSpPr>
          <p:nvPr/>
        </p:nvCxnSpPr>
        <p:spPr>
          <a:xfrm>
            <a:off x="1580051" y="2497150"/>
            <a:ext cx="594900" cy="355200"/>
          </a:xfrm>
          <a:prstGeom prst="straightConnector1">
            <a:avLst/>
          </a:prstGeom>
          <a:noFill/>
          <a:ln w="19050" cap="flat" cmpd="sng">
            <a:solidFill>
              <a:schemeClr val="dk2"/>
            </a:solidFill>
            <a:prstDash val="solid"/>
            <a:round/>
            <a:headEnd type="none" w="med" len="med"/>
            <a:tailEnd type="none" w="med" len="med"/>
          </a:ln>
        </p:spPr>
      </p:cxnSp>
      <p:cxnSp>
        <p:nvCxnSpPr>
          <p:cNvPr id="518" name="Google Shape;518;p37"/>
          <p:cNvCxnSpPr>
            <a:stCxn id="515" idx="2"/>
            <a:endCxn id="516" idx="0"/>
          </p:cNvCxnSpPr>
          <p:nvPr/>
        </p:nvCxnSpPr>
        <p:spPr>
          <a:xfrm>
            <a:off x="2174813" y="3285300"/>
            <a:ext cx="489300" cy="315600"/>
          </a:xfrm>
          <a:prstGeom prst="straightConnector1">
            <a:avLst/>
          </a:prstGeom>
          <a:noFill/>
          <a:ln w="19050" cap="flat" cmpd="sng">
            <a:solidFill>
              <a:schemeClr val="dk2"/>
            </a:solidFill>
            <a:prstDash val="solid"/>
            <a:round/>
            <a:headEnd type="none" w="med" len="med"/>
            <a:tailEnd type="none" w="med" len="med"/>
          </a:ln>
        </p:spPr>
      </p:cxnSp>
      <p:sp>
        <p:nvSpPr>
          <p:cNvPr id="519" name="Google Shape;519;p37"/>
          <p:cNvSpPr/>
          <p:nvPr/>
        </p:nvSpPr>
        <p:spPr>
          <a:xfrm>
            <a:off x="502836" y="2852400"/>
            <a:ext cx="767100" cy="432900"/>
          </a:xfrm>
          <a:prstGeom prst="rect">
            <a:avLst/>
          </a:prstGeom>
          <a:solidFill>
            <a:srgbClr val="D9EAD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awls</a:t>
            </a:r>
            <a:endParaRPr/>
          </a:p>
        </p:txBody>
      </p:sp>
      <p:sp>
        <p:nvSpPr>
          <p:cNvPr id="520" name="Google Shape;520;p37"/>
          <p:cNvSpPr/>
          <p:nvPr/>
        </p:nvSpPr>
        <p:spPr>
          <a:xfrm>
            <a:off x="119325" y="3600950"/>
            <a:ext cx="767100" cy="432900"/>
          </a:xfrm>
          <a:prstGeom prst="rect">
            <a:avLst/>
          </a:prstGeom>
          <a:solidFill>
            <a:srgbClr val="D9EAD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a:t>
            </a:r>
            <a:endParaRPr/>
          </a:p>
        </p:txBody>
      </p:sp>
      <p:cxnSp>
        <p:nvCxnSpPr>
          <p:cNvPr id="521" name="Google Shape;521;p37"/>
          <p:cNvCxnSpPr>
            <a:stCxn id="514" idx="2"/>
            <a:endCxn id="519" idx="0"/>
          </p:cNvCxnSpPr>
          <p:nvPr/>
        </p:nvCxnSpPr>
        <p:spPr>
          <a:xfrm flipH="1">
            <a:off x="886451" y="2497150"/>
            <a:ext cx="693600" cy="355200"/>
          </a:xfrm>
          <a:prstGeom prst="straightConnector1">
            <a:avLst/>
          </a:prstGeom>
          <a:noFill/>
          <a:ln w="19050" cap="flat" cmpd="sng">
            <a:solidFill>
              <a:schemeClr val="dk2"/>
            </a:solidFill>
            <a:prstDash val="solid"/>
            <a:round/>
            <a:headEnd type="none" w="med" len="med"/>
            <a:tailEnd type="none" w="med" len="med"/>
          </a:ln>
        </p:spPr>
      </p:cxnSp>
      <p:cxnSp>
        <p:nvCxnSpPr>
          <p:cNvPr id="522" name="Google Shape;522;p37"/>
          <p:cNvCxnSpPr>
            <a:stCxn id="519" idx="2"/>
            <a:endCxn id="520" idx="0"/>
          </p:cNvCxnSpPr>
          <p:nvPr/>
        </p:nvCxnSpPr>
        <p:spPr>
          <a:xfrm flipH="1">
            <a:off x="502986" y="3285300"/>
            <a:ext cx="383400" cy="315600"/>
          </a:xfrm>
          <a:prstGeom prst="straightConnector1">
            <a:avLst/>
          </a:prstGeom>
          <a:noFill/>
          <a:ln w="19050" cap="flat" cmpd="sng">
            <a:solidFill>
              <a:schemeClr val="dk2"/>
            </a:solidFill>
            <a:prstDash val="solid"/>
            <a:round/>
            <a:headEnd type="none" w="med" len="med"/>
            <a:tailEnd type="none" w="med" len="med"/>
          </a:ln>
        </p:spPr>
      </p:cxnSp>
      <p:sp>
        <p:nvSpPr>
          <p:cNvPr id="523" name="Google Shape;523;p37"/>
          <p:cNvSpPr/>
          <p:nvPr/>
        </p:nvSpPr>
        <p:spPr>
          <a:xfrm>
            <a:off x="3614488" y="3033268"/>
            <a:ext cx="493200" cy="45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nsolas"/>
              <a:ea typeface="Consolas"/>
              <a:cs typeface="Consolas"/>
              <a:sym typeface="Consolas"/>
            </a:endParaRPr>
          </a:p>
        </p:txBody>
      </p:sp>
      <p:sp>
        <p:nvSpPr>
          <p:cNvPr id="524" name="Google Shape;524;p37"/>
          <p:cNvSpPr/>
          <p:nvPr/>
        </p:nvSpPr>
        <p:spPr>
          <a:xfrm>
            <a:off x="3614488" y="3481701"/>
            <a:ext cx="493200" cy="45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nsolas"/>
              <a:ea typeface="Consolas"/>
              <a:cs typeface="Consolas"/>
              <a:sym typeface="Consolas"/>
            </a:endParaRPr>
          </a:p>
        </p:txBody>
      </p:sp>
      <p:sp>
        <p:nvSpPr>
          <p:cNvPr id="525" name="Google Shape;525;p37"/>
          <p:cNvSpPr/>
          <p:nvPr/>
        </p:nvSpPr>
        <p:spPr>
          <a:xfrm>
            <a:off x="3614488" y="2588884"/>
            <a:ext cx="493200" cy="45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nsolas"/>
              <a:ea typeface="Consolas"/>
              <a:cs typeface="Consolas"/>
              <a:sym typeface="Consolas"/>
            </a:endParaRPr>
          </a:p>
        </p:txBody>
      </p:sp>
      <p:sp>
        <p:nvSpPr>
          <p:cNvPr id="526" name="Google Shape;526;p37"/>
          <p:cNvSpPr txBox="1"/>
          <p:nvPr/>
        </p:nvSpPr>
        <p:spPr>
          <a:xfrm>
            <a:off x="3342663" y="2153827"/>
            <a:ext cx="288300" cy="1782300"/>
          </a:xfrm>
          <a:prstGeom prst="rect">
            <a:avLst/>
          </a:prstGeom>
          <a:noFill/>
          <a:ln>
            <a:noFill/>
          </a:ln>
        </p:spPr>
        <p:txBody>
          <a:bodyPr spcFirstLastPara="1" wrap="square" lIns="91425" tIns="91425" rIns="91425" bIns="91425" anchor="t" anchorCtr="0">
            <a:noAutofit/>
          </a:bodyPr>
          <a:lstStyle/>
          <a:p>
            <a:pPr marL="0" lvl="0" indent="0" algn="r" rtl="0">
              <a:lnSpc>
                <a:spcPct val="200000"/>
              </a:lnSpc>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marL="0" lvl="0" indent="0" algn="r" rtl="0">
              <a:lnSpc>
                <a:spcPct val="200000"/>
              </a:lnSpc>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marL="0" lvl="0" indent="0" algn="r" rtl="0">
              <a:lnSpc>
                <a:spcPct val="200000"/>
              </a:lnSpc>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marL="0" lvl="0" indent="0" algn="r" rtl="0">
              <a:lnSpc>
                <a:spcPct val="200000"/>
              </a:lnSpc>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p:txBody>
      </p:sp>
      <p:sp>
        <p:nvSpPr>
          <p:cNvPr id="527" name="Google Shape;527;p37"/>
          <p:cNvSpPr/>
          <p:nvPr/>
        </p:nvSpPr>
        <p:spPr>
          <a:xfrm>
            <a:off x="3614488" y="2140450"/>
            <a:ext cx="493200" cy="45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nsolas"/>
              <a:ea typeface="Consolas"/>
              <a:cs typeface="Consolas"/>
              <a:sym typeface="Consolas"/>
            </a:endParaRPr>
          </a:p>
        </p:txBody>
      </p:sp>
      <p:cxnSp>
        <p:nvCxnSpPr>
          <p:cNvPr id="528" name="Google Shape;528;p37"/>
          <p:cNvCxnSpPr/>
          <p:nvPr/>
        </p:nvCxnSpPr>
        <p:spPr>
          <a:xfrm>
            <a:off x="3852389" y="2363795"/>
            <a:ext cx="568800" cy="0"/>
          </a:xfrm>
          <a:prstGeom prst="straightConnector1">
            <a:avLst/>
          </a:prstGeom>
          <a:noFill/>
          <a:ln w="19050" cap="flat" cmpd="sng">
            <a:solidFill>
              <a:srgbClr val="666666"/>
            </a:solidFill>
            <a:prstDash val="solid"/>
            <a:round/>
            <a:headEnd type="none" w="med" len="med"/>
            <a:tailEnd type="triangle" w="med" len="med"/>
          </a:ln>
        </p:spPr>
      </p:cxnSp>
      <p:cxnSp>
        <p:nvCxnSpPr>
          <p:cNvPr id="529" name="Google Shape;529;p37"/>
          <p:cNvCxnSpPr/>
          <p:nvPr/>
        </p:nvCxnSpPr>
        <p:spPr>
          <a:xfrm>
            <a:off x="3864263" y="2839575"/>
            <a:ext cx="559200" cy="0"/>
          </a:xfrm>
          <a:prstGeom prst="straightConnector1">
            <a:avLst/>
          </a:prstGeom>
          <a:noFill/>
          <a:ln w="19050" cap="flat" cmpd="sng">
            <a:solidFill>
              <a:srgbClr val="666666"/>
            </a:solidFill>
            <a:prstDash val="solid"/>
            <a:round/>
            <a:headEnd type="none" w="med" len="med"/>
            <a:tailEnd type="triangle" w="med" len="med"/>
          </a:ln>
        </p:spPr>
      </p:cxnSp>
      <p:cxnSp>
        <p:nvCxnSpPr>
          <p:cNvPr id="530" name="Google Shape;530;p37"/>
          <p:cNvCxnSpPr/>
          <p:nvPr/>
        </p:nvCxnSpPr>
        <p:spPr>
          <a:xfrm>
            <a:off x="3887650" y="3710186"/>
            <a:ext cx="535800" cy="0"/>
          </a:xfrm>
          <a:prstGeom prst="straightConnector1">
            <a:avLst/>
          </a:prstGeom>
          <a:noFill/>
          <a:ln w="19050" cap="flat" cmpd="sng">
            <a:solidFill>
              <a:srgbClr val="666666"/>
            </a:solidFill>
            <a:prstDash val="solid"/>
            <a:round/>
            <a:headEnd type="none" w="med" len="med"/>
            <a:tailEnd type="triangle" w="med" len="med"/>
          </a:ln>
        </p:spPr>
      </p:cxnSp>
      <p:cxnSp>
        <p:nvCxnSpPr>
          <p:cNvPr id="531" name="Google Shape;531;p37"/>
          <p:cNvCxnSpPr/>
          <p:nvPr/>
        </p:nvCxnSpPr>
        <p:spPr>
          <a:xfrm>
            <a:off x="3871084" y="3283132"/>
            <a:ext cx="559200" cy="0"/>
          </a:xfrm>
          <a:prstGeom prst="straightConnector1">
            <a:avLst/>
          </a:prstGeom>
          <a:noFill/>
          <a:ln w="19050" cap="flat" cmpd="sng">
            <a:solidFill>
              <a:srgbClr val="666666"/>
            </a:solidFill>
            <a:prstDash val="solid"/>
            <a:round/>
            <a:headEnd type="none" w="med" len="med"/>
            <a:tailEnd type="triangle" w="med" len="med"/>
          </a:ln>
        </p:spPr>
      </p:cxnSp>
      <p:sp>
        <p:nvSpPr>
          <p:cNvPr id="532" name="Google Shape;532;p37"/>
          <p:cNvSpPr txBox="1"/>
          <p:nvPr/>
        </p:nvSpPr>
        <p:spPr>
          <a:xfrm>
            <a:off x="4496310" y="2140450"/>
            <a:ext cx="679800" cy="28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latin typeface="Consolas"/>
                <a:ea typeface="Consolas"/>
                <a:cs typeface="Consolas"/>
                <a:sym typeface="Consolas"/>
              </a:rPr>
              <a:t>sad</a:t>
            </a:r>
            <a:endParaRPr sz="1500">
              <a:latin typeface="Consolas"/>
              <a:ea typeface="Consolas"/>
              <a:cs typeface="Consolas"/>
              <a:sym typeface="Consolas"/>
            </a:endParaRPr>
          </a:p>
        </p:txBody>
      </p:sp>
      <p:sp>
        <p:nvSpPr>
          <p:cNvPr id="533" name="Google Shape;533;p37"/>
          <p:cNvSpPr txBox="1"/>
          <p:nvPr/>
        </p:nvSpPr>
        <p:spPr>
          <a:xfrm>
            <a:off x="4509952" y="2618125"/>
            <a:ext cx="633600" cy="28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latin typeface="Consolas"/>
                <a:ea typeface="Consolas"/>
                <a:cs typeface="Consolas"/>
                <a:sym typeface="Consolas"/>
              </a:rPr>
              <a:t>awls</a:t>
            </a:r>
            <a:endParaRPr sz="1500">
              <a:latin typeface="Consolas"/>
              <a:ea typeface="Consolas"/>
              <a:cs typeface="Consolas"/>
              <a:sym typeface="Consolas"/>
            </a:endParaRPr>
          </a:p>
        </p:txBody>
      </p:sp>
      <p:sp>
        <p:nvSpPr>
          <p:cNvPr id="534" name="Google Shape;534;p37"/>
          <p:cNvSpPr txBox="1"/>
          <p:nvPr/>
        </p:nvSpPr>
        <p:spPr>
          <a:xfrm>
            <a:off x="4523583" y="3075325"/>
            <a:ext cx="535800" cy="28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latin typeface="Consolas"/>
                <a:ea typeface="Consolas"/>
                <a:cs typeface="Consolas"/>
                <a:sym typeface="Consolas"/>
              </a:rPr>
              <a:t>a</a:t>
            </a:r>
            <a:endParaRPr sz="1500">
              <a:latin typeface="Consolas"/>
              <a:ea typeface="Consolas"/>
              <a:cs typeface="Consolas"/>
              <a:sym typeface="Consolas"/>
            </a:endParaRPr>
          </a:p>
        </p:txBody>
      </p:sp>
      <p:sp>
        <p:nvSpPr>
          <p:cNvPr id="535" name="Google Shape;535;p37"/>
          <p:cNvSpPr txBox="1"/>
          <p:nvPr/>
        </p:nvSpPr>
        <p:spPr>
          <a:xfrm>
            <a:off x="4523573" y="3532525"/>
            <a:ext cx="679800" cy="28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latin typeface="Consolas"/>
                <a:ea typeface="Consolas"/>
                <a:cs typeface="Consolas"/>
                <a:sym typeface="Consolas"/>
              </a:rPr>
              <a:t>same</a:t>
            </a:r>
            <a:endParaRPr sz="1500">
              <a:latin typeface="Consolas"/>
              <a:ea typeface="Consolas"/>
              <a:cs typeface="Consolas"/>
              <a:sym typeface="Consolas"/>
            </a:endParaRPr>
          </a:p>
        </p:txBody>
      </p:sp>
      <p:sp>
        <p:nvSpPr>
          <p:cNvPr id="536" name="Google Shape;536;p37"/>
          <p:cNvSpPr txBox="1"/>
          <p:nvPr/>
        </p:nvSpPr>
        <p:spPr>
          <a:xfrm>
            <a:off x="5693870" y="3075325"/>
            <a:ext cx="535800" cy="28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latin typeface="Consolas"/>
                <a:ea typeface="Consolas"/>
                <a:cs typeface="Consolas"/>
                <a:sym typeface="Consolas"/>
              </a:rPr>
              <a:t>sap</a:t>
            </a:r>
            <a:endParaRPr sz="1500">
              <a:latin typeface="Consolas"/>
              <a:ea typeface="Consolas"/>
              <a:cs typeface="Consolas"/>
              <a:sym typeface="Consolas"/>
            </a:endParaRPr>
          </a:p>
        </p:txBody>
      </p:sp>
      <p:cxnSp>
        <p:nvCxnSpPr>
          <p:cNvPr id="537" name="Google Shape;537;p37"/>
          <p:cNvCxnSpPr/>
          <p:nvPr/>
        </p:nvCxnSpPr>
        <p:spPr>
          <a:xfrm>
            <a:off x="5014084" y="3283132"/>
            <a:ext cx="559200" cy="0"/>
          </a:xfrm>
          <a:prstGeom prst="straightConnector1">
            <a:avLst/>
          </a:prstGeom>
          <a:noFill/>
          <a:ln w="19050" cap="flat" cmpd="sng">
            <a:solidFill>
              <a:srgbClr val="666666"/>
            </a:solidFill>
            <a:prstDash val="solid"/>
            <a:round/>
            <a:headEnd type="none" w="med" len="med"/>
            <a:tailEnd type="triangle" w="med" len="med"/>
          </a:ln>
        </p:spPr>
      </p:cxnSp>
      <p:sp>
        <p:nvSpPr>
          <p:cNvPr id="538" name="Google Shape;538;p37"/>
          <p:cNvSpPr/>
          <p:nvPr/>
        </p:nvSpPr>
        <p:spPr>
          <a:xfrm>
            <a:off x="1297786" y="3600950"/>
            <a:ext cx="767100" cy="432900"/>
          </a:xfrm>
          <a:prstGeom prst="rect">
            <a:avLst/>
          </a:prstGeom>
          <a:solidFill>
            <a:srgbClr val="D9EAD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sam</a:t>
            </a:r>
            <a:endParaRPr/>
          </a:p>
        </p:txBody>
      </p:sp>
      <p:cxnSp>
        <p:nvCxnSpPr>
          <p:cNvPr id="539" name="Google Shape;539;p37"/>
          <p:cNvCxnSpPr>
            <a:stCxn id="515" idx="2"/>
            <a:endCxn id="538" idx="0"/>
          </p:cNvCxnSpPr>
          <p:nvPr/>
        </p:nvCxnSpPr>
        <p:spPr>
          <a:xfrm flipH="1">
            <a:off x="1681313" y="3285300"/>
            <a:ext cx="493500" cy="315600"/>
          </a:xfrm>
          <a:prstGeom prst="straightConnector1">
            <a:avLst/>
          </a:prstGeom>
          <a:noFill/>
          <a:ln w="19050" cap="flat" cmpd="sng">
            <a:solidFill>
              <a:schemeClr val="dk2"/>
            </a:solidFill>
            <a:prstDash val="solid"/>
            <a:round/>
            <a:headEnd type="none" w="med" len="med"/>
            <a:tailEnd type="none" w="med" len="med"/>
          </a:ln>
        </p:spPr>
      </p:cxnSp>
      <p:cxnSp>
        <p:nvCxnSpPr>
          <p:cNvPr id="540" name="Google Shape;540;p37"/>
          <p:cNvCxnSpPr/>
          <p:nvPr/>
        </p:nvCxnSpPr>
        <p:spPr>
          <a:xfrm>
            <a:off x="5045059" y="2367707"/>
            <a:ext cx="559200" cy="0"/>
          </a:xfrm>
          <a:prstGeom prst="straightConnector1">
            <a:avLst/>
          </a:prstGeom>
          <a:noFill/>
          <a:ln w="19050" cap="flat" cmpd="sng">
            <a:solidFill>
              <a:srgbClr val="666666"/>
            </a:solidFill>
            <a:prstDash val="solid"/>
            <a:round/>
            <a:headEnd type="none" w="med" len="med"/>
            <a:tailEnd type="triangle" w="med" len="med"/>
          </a:ln>
        </p:spPr>
      </p:cxnSp>
      <p:sp>
        <p:nvSpPr>
          <p:cNvPr id="541" name="Google Shape;541;p37"/>
          <p:cNvSpPr txBox="1"/>
          <p:nvPr/>
        </p:nvSpPr>
        <p:spPr>
          <a:xfrm>
            <a:off x="5688354" y="2130721"/>
            <a:ext cx="679800" cy="28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latin typeface="Consolas"/>
                <a:ea typeface="Consolas"/>
                <a:cs typeface="Consolas"/>
                <a:sym typeface="Consolas"/>
              </a:rPr>
              <a:t>sam</a:t>
            </a:r>
            <a:endParaRPr sz="1500">
              <a:latin typeface="Consolas"/>
              <a:ea typeface="Consolas"/>
              <a:cs typeface="Consolas"/>
              <a:sym typeface="Consolas"/>
            </a:endParaRPr>
          </a:p>
        </p:txBody>
      </p:sp>
      <p:sp>
        <p:nvSpPr>
          <p:cNvPr id="542" name="Google Shape;542;p37"/>
          <p:cNvSpPr txBox="1"/>
          <p:nvPr/>
        </p:nvSpPr>
        <p:spPr>
          <a:xfrm>
            <a:off x="460600" y="4172925"/>
            <a:ext cx="2362800" cy="452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latin typeface="Roboto"/>
                <a:ea typeface="Roboto"/>
                <a:cs typeface="Roboto"/>
                <a:sym typeface="Roboto"/>
              </a:rPr>
              <a:t>BST</a:t>
            </a:r>
            <a:endParaRPr sz="1800">
              <a:latin typeface="Roboto"/>
              <a:ea typeface="Roboto"/>
              <a:cs typeface="Roboto"/>
              <a:sym typeface="Roboto"/>
            </a:endParaRPr>
          </a:p>
        </p:txBody>
      </p:sp>
      <p:sp>
        <p:nvSpPr>
          <p:cNvPr id="543" name="Google Shape;543;p37"/>
          <p:cNvSpPr txBox="1"/>
          <p:nvPr/>
        </p:nvSpPr>
        <p:spPr>
          <a:xfrm>
            <a:off x="3403400" y="4137225"/>
            <a:ext cx="2669700" cy="74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latin typeface="Roboto"/>
                <a:ea typeface="Roboto"/>
                <a:cs typeface="Roboto"/>
                <a:sym typeface="Roboto"/>
              </a:rPr>
              <a:t>HashSet</a:t>
            </a:r>
            <a:endParaRPr sz="2400">
              <a:latin typeface="Roboto"/>
              <a:ea typeface="Roboto"/>
              <a:cs typeface="Roboto"/>
              <a:sym typeface="Roboto"/>
            </a:endParaRPr>
          </a:p>
          <a:p>
            <a:pPr marL="0" lvl="0" indent="0" algn="l" rtl="0">
              <a:spcBef>
                <a:spcPts val="0"/>
              </a:spcBef>
              <a:spcAft>
                <a:spcPts val="0"/>
              </a:spcAft>
              <a:buNone/>
            </a:pPr>
            <a:endParaRPr sz="1800">
              <a:latin typeface="Roboto"/>
              <a:ea typeface="Roboto"/>
              <a:cs typeface="Roboto"/>
              <a:sym typeface="Roboto"/>
            </a:endParaRPr>
          </a:p>
        </p:txBody>
      </p:sp>
      <p:sp>
        <p:nvSpPr>
          <p:cNvPr id="544" name="Google Shape;544;p37"/>
          <p:cNvSpPr txBox="1"/>
          <p:nvPr/>
        </p:nvSpPr>
        <p:spPr>
          <a:xfrm>
            <a:off x="7454175" y="4310400"/>
            <a:ext cx="984600" cy="45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latin typeface="Roboto"/>
                <a:ea typeface="Roboto"/>
                <a:cs typeface="Roboto"/>
                <a:sym typeface="Roboto"/>
              </a:rPr>
              <a:t>Trie</a:t>
            </a:r>
            <a:endParaRPr sz="2400">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3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Tries</a:t>
            </a:r>
            <a:endParaRPr/>
          </a:p>
        </p:txBody>
      </p:sp>
      <p:sp>
        <p:nvSpPr>
          <p:cNvPr id="550" name="Google Shape;550;p38"/>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Trie:</a:t>
            </a:r>
            <a:endParaRPr/>
          </a:p>
          <a:p>
            <a:pPr marL="457200" lvl="0" indent="-342900" algn="l" rtl="0">
              <a:spcBef>
                <a:spcPts val="600"/>
              </a:spcBef>
              <a:spcAft>
                <a:spcPts val="0"/>
              </a:spcAft>
              <a:buSzPts val="1800"/>
              <a:buChar char="●"/>
            </a:pPr>
            <a:r>
              <a:rPr lang="en"/>
              <a:t>Short for Re</a:t>
            </a:r>
            <a:r>
              <a:rPr lang="en" b="1"/>
              <a:t>trie</a:t>
            </a:r>
            <a:r>
              <a:rPr lang="en"/>
              <a:t>val Tree.</a:t>
            </a:r>
            <a:endParaRPr/>
          </a:p>
          <a:p>
            <a:pPr marL="457200" lvl="0" indent="-342900" algn="l" rtl="0">
              <a:spcBef>
                <a:spcPts val="0"/>
              </a:spcBef>
              <a:spcAft>
                <a:spcPts val="0"/>
              </a:spcAft>
              <a:buSzPts val="1800"/>
              <a:buChar char="●"/>
            </a:pPr>
            <a:r>
              <a:rPr lang="en"/>
              <a:t>Inventor Edward Fredkin suggested it should be pronounced “tree”, but almost everyone pronounces it like “try”.</a:t>
            </a:r>
            <a:endParaRPr/>
          </a:p>
        </p:txBody>
      </p:sp>
      <p:pic>
        <p:nvPicPr>
          <p:cNvPr id="551" name="Google Shape;551;p38" descr="Why did Edward Fredkin choose that word?&#10;&#10;Since he pronounced it homophonous to ‘tree’, didn't he realize that it was a pretty stupid choice, because that would make it impossible to distinguish the words in speech? If he was so desperate to combine ‘tree’ and ‘retrieve’, surely he could have done better? Shinobu (talk) 22:06, 5 October 2008 (UTC)"/>
          <p:cNvPicPr preferRelativeResize="0"/>
          <p:nvPr/>
        </p:nvPicPr>
        <p:blipFill>
          <a:blip r:embed="rId3">
            <a:alphaModFix/>
          </a:blip>
          <a:stretch>
            <a:fillRect/>
          </a:stretch>
        </p:blipFill>
        <p:spPr>
          <a:xfrm>
            <a:off x="1636263" y="3035262"/>
            <a:ext cx="5871475" cy="13716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39"/>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Lecture 26, CS61B, Fall 2023</a:t>
            </a:r>
            <a:endParaRPr/>
          </a:p>
        </p:txBody>
      </p:sp>
      <p:sp>
        <p:nvSpPr>
          <p:cNvPr id="557" name="Google Shape;557;p39"/>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Tries (Conceptual)</a:t>
            </a:r>
            <a:endParaRPr/>
          </a:p>
          <a:p>
            <a:pPr marL="0" lvl="0" indent="0" algn="l" rtl="0">
              <a:spcBef>
                <a:spcPts val="600"/>
              </a:spcBef>
              <a:spcAft>
                <a:spcPts val="0"/>
              </a:spcAft>
              <a:buNone/>
            </a:pPr>
            <a:r>
              <a:rPr lang="en" b="1">
                <a:solidFill>
                  <a:schemeClr val="accent3"/>
                </a:solidFill>
                <a:latin typeface="Roboto"/>
                <a:ea typeface="Roboto"/>
                <a:cs typeface="Roboto"/>
                <a:sym typeface="Roboto"/>
              </a:rPr>
              <a:t>Trie Implementation and Performance</a:t>
            </a:r>
            <a:endParaRPr/>
          </a:p>
          <a:p>
            <a:pPr marL="0" lvl="0" indent="0" algn="l" rtl="0">
              <a:spcBef>
                <a:spcPts val="600"/>
              </a:spcBef>
              <a:spcAft>
                <a:spcPts val="0"/>
              </a:spcAft>
              <a:buNone/>
            </a:pPr>
            <a:r>
              <a:rPr lang="en"/>
              <a:t>Alternate Child Tracking Strategies</a:t>
            </a:r>
            <a:endParaRPr/>
          </a:p>
          <a:p>
            <a:pPr marL="0" lvl="0" indent="0" algn="l" rtl="0">
              <a:spcBef>
                <a:spcPts val="600"/>
              </a:spcBef>
              <a:spcAft>
                <a:spcPts val="0"/>
              </a:spcAft>
              <a:buNone/>
            </a:pPr>
            <a:r>
              <a:rPr lang="en"/>
              <a:t>Trie String Operations</a:t>
            </a:r>
            <a:endParaRPr/>
          </a:p>
          <a:p>
            <a:pPr marL="0" lvl="0" indent="0" algn="l" rtl="0">
              <a:spcBef>
                <a:spcPts val="600"/>
              </a:spcBef>
              <a:spcAft>
                <a:spcPts val="0"/>
              </a:spcAft>
              <a:buNone/>
            </a:pPr>
            <a:r>
              <a:rPr lang="en"/>
              <a:t>Autocomplete</a:t>
            </a:r>
            <a:endParaRPr/>
          </a:p>
          <a:p>
            <a:pPr marL="0" lvl="0" indent="0" algn="l" rtl="0">
              <a:spcBef>
                <a:spcPts val="600"/>
              </a:spcBef>
              <a:spcAft>
                <a:spcPts val="0"/>
              </a:spcAft>
              <a:buNone/>
            </a:pPr>
            <a:r>
              <a:rPr lang="en"/>
              <a:t>Trie Summary</a:t>
            </a:r>
            <a:endParaRPr/>
          </a:p>
        </p:txBody>
      </p:sp>
      <p:sp>
        <p:nvSpPr>
          <p:cNvPr id="558" name="Google Shape;558;p39"/>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Trie Implementation and Performance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4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Very Basic Trie Implementation</a:t>
            </a:r>
            <a:endParaRPr/>
          </a:p>
        </p:txBody>
      </p:sp>
      <p:sp>
        <p:nvSpPr>
          <p:cNvPr id="564" name="Google Shape;564;p40"/>
          <p:cNvSpPr txBox="1">
            <a:spLocks noGrp="1"/>
          </p:cNvSpPr>
          <p:nvPr>
            <p:ph type="body" idx="1"/>
          </p:nvPr>
        </p:nvSpPr>
        <p:spPr>
          <a:xfrm>
            <a:off x="166800" y="404100"/>
            <a:ext cx="8443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The first approach might look something like the code below.</a:t>
            </a:r>
            <a:endParaRPr/>
          </a:p>
          <a:p>
            <a:pPr marL="457200" lvl="0" indent="-342900" algn="l" rtl="0">
              <a:spcBef>
                <a:spcPts val="600"/>
              </a:spcBef>
              <a:spcAft>
                <a:spcPts val="0"/>
              </a:spcAft>
              <a:buSzPts val="1800"/>
              <a:buChar char="●"/>
            </a:pPr>
            <a:r>
              <a:rPr lang="en"/>
              <a:t>Each node stores a letter, a map from c to all child nodes, and a color.</a:t>
            </a:r>
            <a:endParaRPr/>
          </a:p>
          <a:p>
            <a:pPr marL="0" lvl="0" indent="0" algn="l" rtl="0">
              <a:spcBef>
                <a:spcPts val="600"/>
              </a:spcBef>
              <a:spcAft>
                <a:spcPts val="0"/>
              </a:spcAft>
              <a:buNone/>
            </a:pPr>
            <a:endParaRPr/>
          </a:p>
          <a:p>
            <a:pPr marL="0" lvl="0" indent="0" algn="l" rtl="0">
              <a:spcBef>
                <a:spcPts val="600"/>
              </a:spcBef>
              <a:spcAft>
                <a:spcPts val="0"/>
              </a:spcAft>
              <a:buNone/>
            </a:pPr>
            <a:endParaRPr/>
          </a:p>
        </p:txBody>
      </p:sp>
      <p:sp>
        <p:nvSpPr>
          <p:cNvPr id="565" name="Google Shape;565;p40"/>
          <p:cNvSpPr/>
          <p:nvPr/>
        </p:nvSpPr>
        <p:spPr>
          <a:xfrm>
            <a:off x="7191630" y="18951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566" name="Google Shape;566;p40"/>
          <p:cNvSpPr/>
          <p:nvPr/>
        </p:nvSpPr>
        <p:spPr>
          <a:xfrm>
            <a:off x="7867175" y="264809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sp>
        <p:nvSpPr>
          <p:cNvPr id="567" name="Google Shape;567;p40"/>
          <p:cNvSpPr/>
          <p:nvPr/>
        </p:nvSpPr>
        <p:spPr>
          <a:xfrm>
            <a:off x="7867175" y="3283373"/>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568" name="Google Shape;568;p40"/>
          <p:cNvSpPr/>
          <p:nvPr/>
        </p:nvSpPr>
        <p:spPr>
          <a:xfrm>
            <a:off x="7867175" y="39186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m</a:t>
            </a:r>
            <a:endParaRPr sz="1800">
              <a:latin typeface="Consolas"/>
              <a:ea typeface="Consolas"/>
              <a:cs typeface="Consolas"/>
              <a:sym typeface="Consolas"/>
            </a:endParaRPr>
          </a:p>
        </p:txBody>
      </p:sp>
      <p:sp>
        <p:nvSpPr>
          <p:cNvPr id="569" name="Google Shape;569;p40"/>
          <p:cNvSpPr/>
          <p:nvPr/>
        </p:nvSpPr>
        <p:spPr>
          <a:xfrm>
            <a:off x="7237675" y="39186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d</a:t>
            </a:r>
            <a:endParaRPr sz="1800">
              <a:latin typeface="Consolas"/>
              <a:ea typeface="Consolas"/>
              <a:cs typeface="Consolas"/>
              <a:sym typeface="Consolas"/>
            </a:endParaRPr>
          </a:p>
        </p:txBody>
      </p:sp>
      <p:sp>
        <p:nvSpPr>
          <p:cNvPr id="570" name="Google Shape;570;p40"/>
          <p:cNvSpPr/>
          <p:nvPr/>
        </p:nvSpPr>
        <p:spPr>
          <a:xfrm>
            <a:off x="8496675" y="39186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p</a:t>
            </a:r>
            <a:endParaRPr sz="1800">
              <a:latin typeface="Consolas"/>
              <a:ea typeface="Consolas"/>
              <a:cs typeface="Consolas"/>
              <a:sym typeface="Consolas"/>
            </a:endParaRPr>
          </a:p>
        </p:txBody>
      </p:sp>
      <p:sp>
        <p:nvSpPr>
          <p:cNvPr id="571" name="Google Shape;571;p40"/>
          <p:cNvSpPr/>
          <p:nvPr/>
        </p:nvSpPr>
        <p:spPr>
          <a:xfrm>
            <a:off x="7867175" y="4553927"/>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e</a:t>
            </a:r>
            <a:endParaRPr sz="1800">
              <a:latin typeface="Consolas"/>
              <a:ea typeface="Consolas"/>
              <a:cs typeface="Consolas"/>
              <a:sym typeface="Consolas"/>
            </a:endParaRPr>
          </a:p>
        </p:txBody>
      </p:sp>
      <p:sp>
        <p:nvSpPr>
          <p:cNvPr id="572" name="Google Shape;572;p40"/>
          <p:cNvSpPr/>
          <p:nvPr/>
        </p:nvSpPr>
        <p:spPr>
          <a:xfrm>
            <a:off x="6541600" y="2648111"/>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573" name="Google Shape;573;p40"/>
          <p:cNvSpPr/>
          <p:nvPr/>
        </p:nvSpPr>
        <p:spPr>
          <a:xfrm>
            <a:off x="6541600" y="328338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w</a:t>
            </a:r>
            <a:endParaRPr sz="1800">
              <a:latin typeface="Consolas"/>
              <a:ea typeface="Consolas"/>
              <a:cs typeface="Consolas"/>
              <a:sym typeface="Consolas"/>
            </a:endParaRPr>
          </a:p>
        </p:txBody>
      </p:sp>
      <p:sp>
        <p:nvSpPr>
          <p:cNvPr id="574" name="Google Shape;574;p40"/>
          <p:cNvSpPr/>
          <p:nvPr/>
        </p:nvSpPr>
        <p:spPr>
          <a:xfrm>
            <a:off x="6541600" y="3918661"/>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l</a:t>
            </a:r>
            <a:endParaRPr sz="1800">
              <a:latin typeface="Consolas"/>
              <a:ea typeface="Consolas"/>
              <a:cs typeface="Consolas"/>
              <a:sym typeface="Consolas"/>
            </a:endParaRPr>
          </a:p>
        </p:txBody>
      </p:sp>
      <p:cxnSp>
        <p:nvCxnSpPr>
          <p:cNvPr id="575" name="Google Shape;575;p40"/>
          <p:cNvCxnSpPr/>
          <p:nvPr/>
        </p:nvCxnSpPr>
        <p:spPr>
          <a:xfrm>
            <a:off x="8083625" y="4351552"/>
            <a:ext cx="0" cy="0"/>
          </a:xfrm>
          <a:prstGeom prst="straightConnector1">
            <a:avLst/>
          </a:prstGeom>
          <a:noFill/>
          <a:ln w="19050" cap="flat" cmpd="sng">
            <a:solidFill>
              <a:schemeClr val="dk2"/>
            </a:solidFill>
            <a:prstDash val="solid"/>
            <a:round/>
            <a:headEnd type="none" w="med" len="med"/>
            <a:tailEnd type="none" w="med" len="med"/>
          </a:ln>
        </p:spPr>
      </p:cxnSp>
      <p:cxnSp>
        <p:nvCxnSpPr>
          <p:cNvPr id="576" name="Google Shape;576;p40"/>
          <p:cNvCxnSpPr>
            <a:stCxn id="565" idx="5"/>
            <a:endCxn id="566" idx="0"/>
          </p:cNvCxnSpPr>
          <p:nvPr/>
        </p:nvCxnSpPr>
        <p:spPr>
          <a:xfrm>
            <a:off x="7561133" y="2264678"/>
            <a:ext cx="522600" cy="383400"/>
          </a:xfrm>
          <a:prstGeom prst="straightConnector1">
            <a:avLst/>
          </a:prstGeom>
          <a:noFill/>
          <a:ln w="28575" cap="flat" cmpd="sng">
            <a:solidFill>
              <a:schemeClr val="dk2"/>
            </a:solidFill>
            <a:prstDash val="solid"/>
            <a:round/>
            <a:headEnd type="none" w="med" len="med"/>
            <a:tailEnd type="none" w="med" len="med"/>
          </a:ln>
        </p:spPr>
      </p:cxnSp>
      <p:cxnSp>
        <p:nvCxnSpPr>
          <p:cNvPr id="577" name="Google Shape;577;p40"/>
          <p:cNvCxnSpPr>
            <a:stCxn id="566" idx="4"/>
            <a:endCxn id="567" idx="0"/>
          </p:cNvCxnSpPr>
          <p:nvPr/>
        </p:nvCxnSpPr>
        <p:spPr>
          <a:xfrm>
            <a:off x="8083625" y="3080996"/>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578" name="Google Shape;578;p40"/>
          <p:cNvCxnSpPr>
            <a:stCxn id="567" idx="4"/>
            <a:endCxn id="568" idx="0"/>
          </p:cNvCxnSpPr>
          <p:nvPr/>
        </p:nvCxnSpPr>
        <p:spPr>
          <a:xfrm>
            <a:off x="8083625" y="3716273"/>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579" name="Google Shape;579;p40"/>
          <p:cNvCxnSpPr>
            <a:stCxn id="567" idx="3"/>
            <a:endCxn id="569" idx="0"/>
          </p:cNvCxnSpPr>
          <p:nvPr/>
        </p:nvCxnSpPr>
        <p:spPr>
          <a:xfrm flipH="1">
            <a:off x="7454172" y="3652877"/>
            <a:ext cx="476400" cy="265800"/>
          </a:xfrm>
          <a:prstGeom prst="straightConnector1">
            <a:avLst/>
          </a:prstGeom>
          <a:noFill/>
          <a:ln w="28575" cap="flat" cmpd="sng">
            <a:solidFill>
              <a:schemeClr val="dk2"/>
            </a:solidFill>
            <a:prstDash val="solid"/>
            <a:round/>
            <a:headEnd type="none" w="med" len="med"/>
            <a:tailEnd type="none" w="med" len="med"/>
          </a:ln>
        </p:spPr>
      </p:cxnSp>
      <p:cxnSp>
        <p:nvCxnSpPr>
          <p:cNvPr id="580" name="Google Shape;580;p40"/>
          <p:cNvCxnSpPr>
            <a:stCxn id="567" idx="5"/>
            <a:endCxn id="570" idx="0"/>
          </p:cNvCxnSpPr>
          <p:nvPr/>
        </p:nvCxnSpPr>
        <p:spPr>
          <a:xfrm>
            <a:off x="8236678" y="3652877"/>
            <a:ext cx="476400" cy="265800"/>
          </a:xfrm>
          <a:prstGeom prst="straightConnector1">
            <a:avLst/>
          </a:prstGeom>
          <a:noFill/>
          <a:ln w="28575" cap="flat" cmpd="sng">
            <a:solidFill>
              <a:schemeClr val="dk2"/>
            </a:solidFill>
            <a:prstDash val="solid"/>
            <a:round/>
            <a:headEnd type="none" w="med" len="med"/>
            <a:tailEnd type="none" w="med" len="med"/>
          </a:ln>
        </p:spPr>
      </p:cxnSp>
      <p:cxnSp>
        <p:nvCxnSpPr>
          <p:cNvPr id="581" name="Google Shape;581;p40"/>
          <p:cNvCxnSpPr>
            <a:stCxn id="568" idx="4"/>
            <a:endCxn id="571" idx="0"/>
          </p:cNvCxnSpPr>
          <p:nvPr/>
        </p:nvCxnSpPr>
        <p:spPr>
          <a:xfrm>
            <a:off x="8083625" y="4351552"/>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582" name="Google Shape;582;p40"/>
          <p:cNvCxnSpPr>
            <a:stCxn id="565" idx="3"/>
            <a:endCxn id="572" idx="0"/>
          </p:cNvCxnSpPr>
          <p:nvPr/>
        </p:nvCxnSpPr>
        <p:spPr>
          <a:xfrm flipH="1">
            <a:off x="6757926" y="2264678"/>
            <a:ext cx="497100" cy="383400"/>
          </a:xfrm>
          <a:prstGeom prst="straightConnector1">
            <a:avLst/>
          </a:prstGeom>
          <a:noFill/>
          <a:ln w="28575" cap="flat" cmpd="sng">
            <a:solidFill>
              <a:schemeClr val="dk2"/>
            </a:solidFill>
            <a:prstDash val="solid"/>
            <a:round/>
            <a:headEnd type="none" w="med" len="med"/>
            <a:tailEnd type="none" w="med" len="med"/>
          </a:ln>
        </p:spPr>
      </p:cxnSp>
      <p:cxnSp>
        <p:nvCxnSpPr>
          <p:cNvPr id="583" name="Google Shape;583;p40"/>
          <p:cNvCxnSpPr>
            <a:endCxn id="573" idx="0"/>
          </p:cNvCxnSpPr>
          <p:nvPr/>
        </p:nvCxnSpPr>
        <p:spPr>
          <a:xfrm>
            <a:off x="6758050" y="3080886"/>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584" name="Google Shape;584;p40"/>
          <p:cNvCxnSpPr>
            <a:endCxn id="574" idx="0"/>
          </p:cNvCxnSpPr>
          <p:nvPr/>
        </p:nvCxnSpPr>
        <p:spPr>
          <a:xfrm>
            <a:off x="6758050" y="3716161"/>
            <a:ext cx="0" cy="202500"/>
          </a:xfrm>
          <a:prstGeom prst="straightConnector1">
            <a:avLst/>
          </a:prstGeom>
          <a:noFill/>
          <a:ln w="28575" cap="flat" cmpd="sng">
            <a:solidFill>
              <a:schemeClr val="dk2"/>
            </a:solidFill>
            <a:prstDash val="solid"/>
            <a:round/>
            <a:headEnd type="none" w="med" len="med"/>
            <a:tailEnd type="none" w="med" len="med"/>
          </a:ln>
        </p:spPr>
      </p:cxnSp>
      <p:sp>
        <p:nvSpPr>
          <p:cNvPr id="585" name="Google Shape;585;p40"/>
          <p:cNvSpPr/>
          <p:nvPr/>
        </p:nvSpPr>
        <p:spPr>
          <a:xfrm>
            <a:off x="6541600" y="4553936"/>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cxnSp>
        <p:nvCxnSpPr>
          <p:cNvPr id="586" name="Google Shape;586;p40"/>
          <p:cNvCxnSpPr>
            <a:stCxn id="574" idx="4"/>
            <a:endCxn id="585" idx="0"/>
          </p:cNvCxnSpPr>
          <p:nvPr/>
        </p:nvCxnSpPr>
        <p:spPr>
          <a:xfrm>
            <a:off x="6758050" y="4351561"/>
            <a:ext cx="0" cy="202500"/>
          </a:xfrm>
          <a:prstGeom prst="straightConnector1">
            <a:avLst/>
          </a:prstGeom>
          <a:noFill/>
          <a:ln w="28575" cap="flat" cmpd="sng">
            <a:solidFill>
              <a:schemeClr val="dk2"/>
            </a:solidFill>
            <a:prstDash val="solid"/>
            <a:round/>
            <a:headEnd type="none" w="med" len="med"/>
            <a:tailEnd type="none" w="med" len="med"/>
          </a:ln>
        </p:spPr>
      </p:cxnSp>
      <p:sp>
        <p:nvSpPr>
          <p:cNvPr id="587" name="Google Shape;587;p40"/>
          <p:cNvSpPr txBox="1"/>
          <p:nvPr/>
        </p:nvSpPr>
        <p:spPr>
          <a:xfrm>
            <a:off x="284200" y="1480050"/>
            <a:ext cx="5468700" cy="35835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600" b="1">
                <a:solidFill>
                  <a:srgbClr val="661111"/>
                </a:solidFill>
                <a:highlight>
                  <a:srgbClr val="EFEFEF"/>
                </a:highlight>
                <a:latin typeface="Consolas"/>
                <a:ea typeface="Consolas"/>
                <a:cs typeface="Consolas"/>
                <a:sym typeface="Consolas"/>
              </a:rPr>
              <a:t>public class</a:t>
            </a:r>
            <a:r>
              <a:rPr lang="en" sz="1600">
                <a:solidFill>
                  <a:schemeClr val="dk1"/>
                </a:solidFill>
                <a:highlight>
                  <a:srgbClr val="EFEFEF"/>
                </a:highlight>
                <a:latin typeface="Consolas"/>
                <a:ea typeface="Consolas"/>
                <a:cs typeface="Consolas"/>
                <a:sym typeface="Consolas"/>
              </a:rPr>
              <a:t> TrieSet</a:t>
            </a:r>
            <a:r>
              <a:rPr lang="en" sz="1600" b="1">
                <a:solidFill>
                  <a:schemeClr val="dk1"/>
                </a:solidFill>
                <a:highlight>
                  <a:srgbClr val="EFEFEF"/>
                </a:highlight>
                <a:latin typeface="Consolas"/>
                <a:ea typeface="Consolas"/>
                <a:cs typeface="Consolas"/>
                <a:sym typeface="Consolas"/>
              </a:rPr>
              <a:t> {</a:t>
            </a:r>
            <a:endParaRPr sz="1600">
              <a:solidFill>
                <a:srgbClr val="EE7700"/>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private static final</a:t>
            </a:r>
            <a:r>
              <a:rPr lang="en" sz="1600">
                <a:solidFill>
                  <a:schemeClr val="dk1"/>
                </a:solidFill>
                <a:highlight>
                  <a:srgbClr val="EFEFEF"/>
                </a:highlight>
                <a:latin typeface="Consolas"/>
                <a:ea typeface="Consolas"/>
                <a:cs typeface="Consolas"/>
                <a:sym typeface="Consolas"/>
              </a:rPr>
              <a:t> </a:t>
            </a:r>
            <a:r>
              <a:rPr lang="en" sz="1600" b="1">
                <a:solidFill>
                  <a:srgbClr val="000066"/>
                </a:solidFill>
                <a:highlight>
                  <a:srgbClr val="EFEFEF"/>
                </a:highlight>
                <a:latin typeface="Consolas"/>
                <a:ea typeface="Consolas"/>
                <a:cs typeface="Consolas"/>
                <a:sym typeface="Consolas"/>
              </a:rPr>
              <a:t>int</a:t>
            </a:r>
            <a:r>
              <a:rPr lang="en" sz="1600">
                <a:solidFill>
                  <a:schemeClr val="dk1"/>
                </a:solidFill>
                <a:highlight>
                  <a:srgbClr val="EFEFEF"/>
                </a:highlight>
                <a:latin typeface="Consolas"/>
                <a:ea typeface="Consolas"/>
                <a:cs typeface="Consolas"/>
                <a:sym typeface="Consolas"/>
              </a:rPr>
              <a:t> R </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a:solidFill>
                  <a:srgbClr val="880022"/>
                </a:solidFill>
                <a:highlight>
                  <a:srgbClr val="EFEFEF"/>
                </a:highlight>
                <a:latin typeface="Consolas"/>
                <a:ea typeface="Consolas"/>
                <a:cs typeface="Consolas"/>
                <a:sym typeface="Consolas"/>
              </a:rPr>
              <a:t>128</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a:solidFill>
                  <a:srgbClr val="EE7700"/>
                </a:solidFill>
                <a:highlight>
                  <a:srgbClr val="EFEFEF"/>
                </a:highlight>
                <a:latin typeface="Consolas"/>
                <a:ea typeface="Consolas"/>
                <a:cs typeface="Consolas"/>
                <a:sym typeface="Consolas"/>
              </a:rPr>
              <a:t>// ASCII</a:t>
            </a:r>
            <a:endParaRPr sz="1600">
              <a:solidFill>
                <a:schemeClr val="dk1"/>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private</a:t>
            </a:r>
            <a:r>
              <a:rPr lang="en" sz="1600">
                <a:solidFill>
                  <a:schemeClr val="dk1"/>
                </a:solidFill>
                <a:highlight>
                  <a:srgbClr val="EFEFEF"/>
                </a:highlight>
                <a:latin typeface="Consolas"/>
                <a:ea typeface="Consolas"/>
                <a:cs typeface="Consolas"/>
                <a:sym typeface="Consolas"/>
              </a:rPr>
              <a:t> Node root</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a:solidFill>
                  <a:srgbClr val="EE7700"/>
                </a:solidFill>
                <a:highlight>
                  <a:srgbClr val="EFEFEF"/>
                </a:highlight>
                <a:latin typeface="Consolas"/>
                <a:ea typeface="Consolas"/>
                <a:cs typeface="Consolas"/>
                <a:sym typeface="Consolas"/>
              </a:rPr>
              <a:t>// root of trie</a:t>
            </a:r>
            <a:endParaRPr sz="1600">
              <a:solidFill>
                <a:srgbClr val="EE7700"/>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endParaRPr sz="1600">
              <a:solidFill>
                <a:srgbClr val="EE7700"/>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private static class</a:t>
            </a:r>
            <a:r>
              <a:rPr lang="en" sz="1600">
                <a:solidFill>
                  <a:schemeClr val="dk1"/>
                </a:solidFill>
                <a:highlight>
                  <a:srgbClr val="EFEFEF"/>
                </a:highlight>
                <a:latin typeface="Consolas"/>
                <a:ea typeface="Consolas"/>
                <a:cs typeface="Consolas"/>
                <a:sym typeface="Consolas"/>
              </a:rPr>
              <a:t> Node </a:t>
            </a:r>
            <a:r>
              <a:rPr lang="en" sz="1600" b="1">
                <a:solidFill>
                  <a:schemeClr val="dk1"/>
                </a:solidFill>
                <a:highlight>
                  <a:srgbClr val="EFEFEF"/>
                </a:highlight>
                <a:latin typeface="Consolas"/>
                <a:ea typeface="Consolas"/>
                <a:cs typeface="Consolas"/>
                <a:sym typeface="Consolas"/>
              </a:rPr>
              <a:t>{</a:t>
            </a:r>
            <a:endParaRPr sz="1600" b="1">
              <a:solidFill>
                <a:schemeClr val="dk1"/>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private </a:t>
            </a:r>
            <a:r>
              <a:rPr lang="en" sz="1600">
                <a:solidFill>
                  <a:schemeClr val="dk1"/>
                </a:solidFill>
                <a:highlight>
                  <a:srgbClr val="EFEFEF"/>
                </a:highlight>
                <a:latin typeface="Consolas"/>
                <a:ea typeface="Consolas"/>
                <a:cs typeface="Consolas"/>
                <a:sym typeface="Consolas"/>
              </a:rPr>
              <a:t>char ch</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endParaRPr sz="1600">
              <a:solidFill>
                <a:schemeClr val="dk1"/>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private </a:t>
            </a:r>
            <a:r>
              <a:rPr lang="en" sz="1600" b="1">
                <a:solidFill>
                  <a:srgbClr val="000066"/>
                </a:solidFill>
                <a:highlight>
                  <a:srgbClr val="EFEFEF"/>
                </a:highlight>
                <a:latin typeface="Consolas"/>
                <a:ea typeface="Consolas"/>
                <a:cs typeface="Consolas"/>
                <a:sym typeface="Consolas"/>
              </a:rPr>
              <a:t>boolean</a:t>
            </a:r>
            <a:r>
              <a:rPr lang="en" sz="1600">
                <a:solidFill>
                  <a:schemeClr val="dk1"/>
                </a:solidFill>
                <a:highlight>
                  <a:srgbClr val="EFEFEF"/>
                </a:highlight>
                <a:latin typeface="Consolas"/>
                <a:ea typeface="Consolas"/>
                <a:cs typeface="Consolas"/>
                <a:sym typeface="Consolas"/>
              </a:rPr>
              <a:t> isKey</a:t>
            </a:r>
            <a:r>
              <a:rPr lang="en" sz="1600" b="1">
                <a:solidFill>
                  <a:schemeClr val="dk1"/>
                </a:solidFill>
                <a:highlight>
                  <a:srgbClr val="EFEFEF"/>
                </a:highlight>
                <a:latin typeface="Consolas"/>
                <a:ea typeface="Consolas"/>
                <a:cs typeface="Consolas"/>
                <a:sym typeface="Consolas"/>
              </a:rPr>
              <a:t>;   </a:t>
            </a:r>
            <a:endParaRPr sz="1600" b="1">
              <a:solidFill>
                <a:schemeClr val="dk1"/>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private </a:t>
            </a:r>
            <a:r>
              <a:rPr lang="en" sz="1600">
                <a:solidFill>
                  <a:schemeClr val="dk1"/>
                </a:solidFill>
                <a:highlight>
                  <a:srgbClr val="EFEFEF"/>
                </a:highlight>
                <a:latin typeface="Consolas"/>
                <a:ea typeface="Consolas"/>
                <a:cs typeface="Consolas"/>
                <a:sym typeface="Consolas"/>
              </a:rPr>
              <a:t>DataIndexedCharMap</a:t>
            </a:r>
            <a:r>
              <a:rPr lang="en" sz="1600" b="1">
                <a:solidFill>
                  <a:schemeClr val="dk1"/>
                </a:solidFill>
                <a:highlight>
                  <a:srgbClr val="EFEFEF"/>
                </a:highlight>
                <a:latin typeface="Consolas"/>
                <a:ea typeface="Consolas"/>
                <a:cs typeface="Consolas"/>
                <a:sym typeface="Consolas"/>
              </a:rPr>
              <a:t>&lt;</a:t>
            </a:r>
            <a:r>
              <a:rPr lang="en" sz="1600">
                <a:solidFill>
                  <a:schemeClr val="dk1"/>
                </a:solidFill>
                <a:highlight>
                  <a:srgbClr val="EFEFEF"/>
                </a:highlight>
                <a:latin typeface="Consolas"/>
                <a:ea typeface="Consolas"/>
                <a:cs typeface="Consolas"/>
                <a:sym typeface="Consolas"/>
              </a:rPr>
              <a:t>Node</a:t>
            </a:r>
            <a:r>
              <a:rPr lang="en" sz="1600" b="1">
                <a:solidFill>
                  <a:schemeClr val="dk1"/>
                </a:solidFill>
                <a:highlight>
                  <a:srgbClr val="EFEFEF"/>
                </a:highlight>
                <a:latin typeface="Consolas"/>
                <a:ea typeface="Consolas"/>
                <a:cs typeface="Consolas"/>
                <a:sym typeface="Consolas"/>
              </a:rPr>
              <a:t>&gt;</a:t>
            </a:r>
            <a:r>
              <a:rPr lang="en" sz="1600">
                <a:solidFill>
                  <a:schemeClr val="dk1"/>
                </a:solidFill>
                <a:highlight>
                  <a:srgbClr val="EFEFEF"/>
                </a:highlight>
                <a:latin typeface="Consolas"/>
                <a:ea typeface="Consolas"/>
                <a:cs typeface="Consolas"/>
                <a:sym typeface="Consolas"/>
              </a:rPr>
              <a:t> next</a:t>
            </a:r>
            <a:r>
              <a:rPr lang="en" sz="1600" b="1">
                <a:solidFill>
                  <a:schemeClr val="dk1"/>
                </a:solidFill>
                <a:highlight>
                  <a:srgbClr val="EFEFEF"/>
                </a:highlight>
                <a:latin typeface="Consolas"/>
                <a:ea typeface="Consolas"/>
                <a:cs typeface="Consolas"/>
                <a:sym typeface="Consolas"/>
              </a:rPr>
              <a:t>;</a:t>
            </a:r>
            <a:endParaRPr sz="1600" b="1">
              <a:solidFill>
                <a:schemeClr val="dk1"/>
              </a:solidFill>
              <a:highlight>
                <a:srgbClr val="EFEFEF"/>
              </a:highlight>
              <a:latin typeface="Consolas"/>
              <a:ea typeface="Consolas"/>
              <a:cs typeface="Consolas"/>
              <a:sym typeface="Consolas"/>
            </a:endParaRPr>
          </a:p>
          <a:p>
            <a:pPr marL="0" lvl="0" indent="0" algn="l" rtl="0">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private </a:t>
            </a:r>
            <a:r>
              <a:rPr lang="en" sz="1600">
                <a:solidFill>
                  <a:srgbClr val="004466"/>
                </a:solidFill>
                <a:highlight>
                  <a:srgbClr val="EFEFEF"/>
                </a:highlight>
                <a:latin typeface="Consolas"/>
                <a:ea typeface="Consolas"/>
                <a:cs typeface="Consolas"/>
                <a:sym typeface="Consolas"/>
              </a:rPr>
              <a:t>Node</a:t>
            </a:r>
            <a:r>
              <a:rPr lang="en" sz="1600" b="1">
                <a:solidFill>
                  <a:schemeClr val="dk1"/>
                </a:solidFill>
                <a:highlight>
                  <a:srgbClr val="EFEFEF"/>
                </a:highlight>
                <a:latin typeface="Consolas"/>
                <a:ea typeface="Consolas"/>
                <a:cs typeface="Consolas"/>
                <a:sym typeface="Consolas"/>
              </a:rPr>
              <a:t>(</a:t>
            </a:r>
            <a:r>
              <a:rPr lang="en" sz="1600" b="1">
                <a:solidFill>
                  <a:srgbClr val="000066"/>
                </a:solidFill>
                <a:highlight>
                  <a:srgbClr val="EFEFEF"/>
                </a:highlight>
                <a:latin typeface="Consolas"/>
                <a:ea typeface="Consolas"/>
                <a:cs typeface="Consolas"/>
                <a:sym typeface="Consolas"/>
              </a:rPr>
              <a:t>char</a:t>
            </a:r>
            <a:r>
              <a:rPr lang="en" sz="1600">
                <a:solidFill>
                  <a:schemeClr val="dk1"/>
                </a:solidFill>
                <a:highlight>
                  <a:srgbClr val="EFEFEF"/>
                </a:highlight>
                <a:latin typeface="Consolas"/>
                <a:ea typeface="Consolas"/>
                <a:cs typeface="Consolas"/>
                <a:sym typeface="Consolas"/>
              </a:rPr>
              <a:t> c</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b="1">
                <a:solidFill>
                  <a:srgbClr val="000066"/>
                </a:solidFill>
                <a:highlight>
                  <a:srgbClr val="EFEFEF"/>
                </a:highlight>
                <a:latin typeface="Consolas"/>
                <a:ea typeface="Consolas"/>
                <a:cs typeface="Consolas"/>
                <a:sym typeface="Consolas"/>
              </a:rPr>
              <a:t>boolean</a:t>
            </a:r>
            <a:r>
              <a:rPr lang="en" sz="1600">
                <a:solidFill>
                  <a:schemeClr val="dk1"/>
                </a:solidFill>
                <a:highlight>
                  <a:srgbClr val="EFEFEF"/>
                </a:highlight>
                <a:latin typeface="Consolas"/>
                <a:ea typeface="Consolas"/>
                <a:cs typeface="Consolas"/>
                <a:sym typeface="Consolas"/>
              </a:rPr>
              <a:t> b</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b="1">
                <a:solidFill>
                  <a:srgbClr val="000066"/>
                </a:solidFill>
                <a:highlight>
                  <a:srgbClr val="EFEFEF"/>
                </a:highlight>
                <a:latin typeface="Consolas"/>
                <a:ea typeface="Consolas"/>
                <a:cs typeface="Consolas"/>
                <a:sym typeface="Consolas"/>
              </a:rPr>
              <a:t>int</a:t>
            </a:r>
            <a:r>
              <a:rPr lang="en" sz="1600">
                <a:solidFill>
                  <a:schemeClr val="dk1"/>
                </a:solidFill>
                <a:highlight>
                  <a:srgbClr val="EFEFEF"/>
                </a:highlight>
                <a:latin typeface="Consolas"/>
                <a:ea typeface="Consolas"/>
                <a:cs typeface="Consolas"/>
                <a:sym typeface="Consolas"/>
              </a:rPr>
              <a:t> R</a:t>
            </a:r>
            <a:r>
              <a:rPr lang="en" sz="1600" b="1">
                <a:solidFill>
                  <a:schemeClr val="dk1"/>
                </a:solidFill>
                <a:highlight>
                  <a:srgbClr val="EFEFEF"/>
                </a:highlight>
                <a:latin typeface="Consolas"/>
                <a:ea typeface="Consolas"/>
                <a:cs typeface="Consolas"/>
                <a:sym typeface="Consolas"/>
              </a:rPr>
              <a:t>) {</a:t>
            </a:r>
            <a:endParaRPr sz="1600" b="1">
              <a:solidFill>
                <a:schemeClr val="dk1"/>
              </a:solidFill>
              <a:highlight>
                <a:srgbClr val="EFEFEF"/>
              </a:highlight>
              <a:latin typeface="Consolas"/>
              <a:ea typeface="Consolas"/>
              <a:cs typeface="Consolas"/>
              <a:sym typeface="Consolas"/>
            </a:endParaRPr>
          </a:p>
          <a:p>
            <a:pPr marL="0" lvl="0" indent="0" algn="l" rtl="0">
              <a:spcBef>
                <a:spcPts val="0"/>
              </a:spcBef>
              <a:spcAft>
                <a:spcPts val="0"/>
              </a:spcAft>
              <a:buNone/>
            </a:pPr>
            <a:r>
              <a:rPr lang="en" sz="1600">
                <a:solidFill>
                  <a:schemeClr val="dk1"/>
                </a:solidFill>
                <a:highlight>
                  <a:srgbClr val="EFEFEF"/>
                </a:highlight>
                <a:latin typeface="Consolas"/>
                <a:ea typeface="Consolas"/>
                <a:cs typeface="Consolas"/>
                <a:sym typeface="Consolas"/>
              </a:rPr>
              <a:t>       ch </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c</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isKey </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b</a:t>
            </a:r>
            <a:r>
              <a:rPr lang="en" sz="1600" b="1">
                <a:solidFill>
                  <a:schemeClr val="dk1"/>
                </a:solidFill>
                <a:highlight>
                  <a:srgbClr val="EFEFEF"/>
                </a:highlight>
                <a:latin typeface="Consolas"/>
                <a:ea typeface="Consolas"/>
                <a:cs typeface="Consolas"/>
                <a:sym typeface="Consolas"/>
              </a:rPr>
              <a:t>;</a:t>
            </a:r>
            <a:endParaRPr sz="1600" b="1">
              <a:solidFill>
                <a:schemeClr val="dk1"/>
              </a:solidFill>
              <a:highlight>
                <a:srgbClr val="EFEFEF"/>
              </a:highlight>
              <a:latin typeface="Consolas"/>
              <a:ea typeface="Consolas"/>
              <a:cs typeface="Consolas"/>
              <a:sym typeface="Consolas"/>
            </a:endParaRPr>
          </a:p>
          <a:p>
            <a:pPr marL="0" lvl="0" indent="0" algn="l" rtl="0">
              <a:spcBef>
                <a:spcPts val="0"/>
              </a:spcBef>
              <a:spcAft>
                <a:spcPts val="0"/>
              </a:spcAft>
              <a:buNone/>
            </a:pPr>
            <a:r>
              <a:rPr lang="en" sz="1600">
                <a:solidFill>
                  <a:schemeClr val="dk1"/>
                </a:solidFill>
                <a:highlight>
                  <a:srgbClr val="EFEFEF"/>
                </a:highlight>
                <a:latin typeface="Consolas"/>
                <a:ea typeface="Consolas"/>
                <a:cs typeface="Consolas"/>
                <a:sym typeface="Consolas"/>
              </a:rPr>
              <a:t>       next </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new</a:t>
            </a:r>
            <a:r>
              <a:rPr lang="en" sz="1600">
                <a:solidFill>
                  <a:schemeClr val="dk1"/>
                </a:solidFill>
                <a:highlight>
                  <a:srgbClr val="EFEFEF"/>
                </a:highlight>
                <a:latin typeface="Consolas"/>
                <a:ea typeface="Consolas"/>
                <a:cs typeface="Consolas"/>
                <a:sym typeface="Consolas"/>
              </a:rPr>
              <a:t> DataIndexedCharMap&lt;&gt;</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R</a:t>
            </a:r>
            <a:r>
              <a:rPr lang="en" sz="1600" b="1">
                <a:solidFill>
                  <a:schemeClr val="dk1"/>
                </a:solidFill>
                <a:highlight>
                  <a:srgbClr val="EFEFEF"/>
                </a:highlight>
                <a:latin typeface="Consolas"/>
                <a:ea typeface="Consolas"/>
                <a:cs typeface="Consolas"/>
                <a:sym typeface="Consolas"/>
              </a:rPr>
              <a:t>);</a:t>
            </a:r>
            <a:endParaRPr sz="1600" b="1">
              <a:solidFill>
                <a:schemeClr val="dk1"/>
              </a:solidFill>
              <a:highlight>
                <a:srgbClr val="EFEFEF"/>
              </a:highlight>
              <a:latin typeface="Consolas"/>
              <a:ea typeface="Consolas"/>
              <a:cs typeface="Consolas"/>
              <a:sym typeface="Consolas"/>
            </a:endParaRPr>
          </a:p>
          <a:p>
            <a:pPr marL="0" lvl="0" indent="0" algn="l" rtl="0">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lang="en" sz="1600" b="1">
                <a:solidFill>
                  <a:schemeClr val="dk1"/>
                </a:solidFill>
                <a:highlight>
                  <a:srgbClr val="EFEFEF"/>
                </a:highlight>
                <a:latin typeface="Consolas"/>
                <a:ea typeface="Consolas"/>
                <a:cs typeface="Consolas"/>
                <a:sym typeface="Consolas"/>
              </a:rPr>
              <a:t>}</a:t>
            </a:r>
            <a:endParaRPr sz="1600">
              <a:solidFill>
                <a:schemeClr val="dk1"/>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lang="en" sz="1600" b="1">
                <a:solidFill>
                  <a:schemeClr val="dk1"/>
                </a:solidFill>
                <a:highlight>
                  <a:srgbClr val="EFEFEF"/>
                </a:highlight>
                <a:latin typeface="Consolas"/>
                <a:ea typeface="Consolas"/>
                <a:cs typeface="Consolas"/>
                <a:sym typeface="Consolas"/>
              </a:rPr>
              <a:t>}</a:t>
            </a:r>
            <a:endParaRPr sz="1600" b="1">
              <a:solidFill>
                <a:schemeClr val="dk1"/>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r>
              <a:rPr lang="en" sz="1600" b="1">
                <a:solidFill>
                  <a:schemeClr val="dk1"/>
                </a:solidFill>
                <a:highlight>
                  <a:srgbClr val="EFEFEF"/>
                </a:highlight>
                <a:latin typeface="Consolas"/>
                <a:ea typeface="Consolas"/>
                <a:cs typeface="Consolas"/>
                <a:sym typeface="Consolas"/>
              </a:rPr>
              <a:t>}</a:t>
            </a:r>
            <a:endParaRPr sz="1600" b="1">
              <a:solidFill>
                <a:schemeClr val="dk1"/>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endParaRPr sz="1600" b="1">
              <a:solidFill>
                <a:srgbClr val="661111"/>
              </a:solidFill>
              <a:highlight>
                <a:srgbClr val="EFEFEF"/>
              </a:highlight>
              <a:latin typeface="Consolas"/>
              <a:ea typeface="Consolas"/>
              <a:cs typeface="Consolas"/>
              <a:sym typeface="Consolas"/>
            </a:endParaRPr>
          </a:p>
        </p:txBody>
      </p:sp>
      <p:sp>
        <p:nvSpPr>
          <p:cNvPr id="588" name="Google Shape;588;p40"/>
          <p:cNvSpPr txBox="1"/>
          <p:nvPr/>
        </p:nvSpPr>
        <p:spPr>
          <a:xfrm>
            <a:off x="2081025" y="4341975"/>
            <a:ext cx="3358500" cy="61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BE0712"/>
                </a:solidFill>
                <a:latin typeface="Roboto"/>
                <a:ea typeface="Roboto"/>
                <a:cs typeface="Roboto"/>
                <a:sym typeface="Roboto"/>
              </a:rPr>
              <a:t>Since we know our keys are characters, can use a DataIndexedCharMap.</a:t>
            </a:r>
            <a:endParaRPr>
              <a:solidFill>
                <a:srgbClr val="BE0712"/>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4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Zooming in On a Node</a:t>
            </a:r>
            <a:endParaRPr/>
          </a:p>
        </p:txBody>
      </p:sp>
      <p:sp>
        <p:nvSpPr>
          <p:cNvPr id="594" name="Google Shape;594;p41"/>
          <p:cNvSpPr txBox="1">
            <a:spLocks noGrp="1"/>
          </p:cNvSpPr>
          <p:nvPr>
            <p:ph type="body" idx="1"/>
          </p:nvPr>
        </p:nvSpPr>
        <p:spPr>
          <a:xfrm>
            <a:off x="166800" y="404100"/>
            <a:ext cx="8443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Each DataIndexedCharMap is an array of 128 possible links, mostly null.</a:t>
            </a:r>
            <a:endParaRPr/>
          </a:p>
        </p:txBody>
      </p:sp>
      <p:sp>
        <p:nvSpPr>
          <p:cNvPr id="595" name="Google Shape;595;p41"/>
          <p:cNvSpPr/>
          <p:nvPr/>
        </p:nvSpPr>
        <p:spPr>
          <a:xfrm>
            <a:off x="573250" y="3745811"/>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596" name="Google Shape;596;p41"/>
          <p:cNvSpPr/>
          <p:nvPr/>
        </p:nvSpPr>
        <p:spPr>
          <a:xfrm>
            <a:off x="573250" y="438108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w</a:t>
            </a:r>
            <a:endParaRPr sz="1800">
              <a:latin typeface="Consolas"/>
              <a:ea typeface="Consolas"/>
              <a:cs typeface="Consolas"/>
              <a:sym typeface="Consolas"/>
            </a:endParaRPr>
          </a:p>
        </p:txBody>
      </p:sp>
      <p:cxnSp>
        <p:nvCxnSpPr>
          <p:cNvPr id="597" name="Google Shape;597;p41"/>
          <p:cNvCxnSpPr>
            <a:endCxn id="596" idx="0"/>
          </p:cNvCxnSpPr>
          <p:nvPr/>
        </p:nvCxnSpPr>
        <p:spPr>
          <a:xfrm>
            <a:off x="789700" y="4178586"/>
            <a:ext cx="0" cy="202500"/>
          </a:xfrm>
          <a:prstGeom prst="straightConnector1">
            <a:avLst/>
          </a:prstGeom>
          <a:noFill/>
          <a:ln w="28575" cap="flat" cmpd="sng">
            <a:solidFill>
              <a:schemeClr val="dk2"/>
            </a:solidFill>
            <a:prstDash val="solid"/>
            <a:round/>
            <a:headEnd type="none" w="med" len="med"/>
            <a:tailEnd type="none" w="med" len="med"/>
          </a:ln>
        </p:spPr>
      </p:cxnSp>
      <p:pic>
        <p:nvPicPr>
          <p:cNvPr id="598" name="Google Shape;598;p41"/>
          <p:cNvPicPr preferRelativeResize="0"/>
          <p:nvPr/>
        </p:nvPicPr>
        <p:blipFill>
          <a:blip r:embed="rId3">
            <a:alphaModFix/>
          </a:blip>
          <a:stretch>
            <a:fillRect/>
          </a:stretch>
        </p:blipFill>
        <p:spPr>
          <a:xfrm>
            <a:off x="1401000" y="3365746"/>
            <a:ext cx="3520414" cy="1451953"/>
          </a:xfrm>
          <a:prstGeom prst="rect">
            <a:avLst/>
          </a:prstGeom>
          <a:noFill/>
          <a:ln>
            <a:noFill/>
          </a:ln>
        </p:spPr>
      </p:pic>
      <p:sp>
        <p:nvSpPr>
          <p:cNvPr id="599" name="Google Shape;599;p41"/>
          <p:cNvSpPr txBox="1"/>
          <p:nvPr/>
        </p:nvSpPr>
        <p:spPr>
          <a:xfrm>
            <a:off x="4905700" y="3386847"/>
            <a:ext cx="670200" cy="28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pic>
        <p:nvPicPr>
          <p:cNvPr id="600" name="Google Shape;600;p41"/>
          <p:cNvPicPr preferRelativeResize="0"/>
          <p:nvPr/>
        </p:nvPicPr>
        <p:blipFill>
          <a:blip r:embed="rId4">
            <a:alphaModFix/>
          </a:blip>
          <a:stretch>
            <a:fillRect/>
          </a:stretch>
        </p:blipFill>
        <p:spPr>
          <a:xfrm>
            <a:off x="1425376" y="4505695"/>
            <a:ext cx="228650" cy="114325"/>
          </a:xfrm>
          <a:prstGeom prst="rect">
            <a:avLst/>
          </a:prstGeom>
          <a:noFill/>
          <a:ln>
            <a:noFill/>
          </a:ln>
        </p:spPr>
      </p:pic>
      <p:pic>
        <p:nvPicPr>
          <p:cNvPr id="601" name="Google Shape;601;p41"/>
          <p:cNvPicPr preferRelativeResize="0"/>
          <p:nvPr/>
        </p:nvPicPr>
        <p:blipFill>
          <a:blip r:embed="rId5">
            <a:alphaModFix/>
          </a:blip>
          <a:stretch>
            <a:fillRect/>
          </a:stretch>
        </p:blipFill>
        <p:spPr>
          <a:xfrm>
            <a:off x="5225401" y="1823799"/>
            <a:ext cx="3576633" cy="1977750"/>
          </a:xfrm>
          <a:prstGeom prst="rect">
            <a:avLst/>
          </a:prstGeom>
          <a:noFill/>
          <a:ln>
            <a:noFill/>
          </a:ln>
        </p:spPr>
      </p:pic>
      <p:sp>
        <p:nvSpPr>
          <p:cNvPr id="602" name="Google Shape;602;p41"/>
          <p:cNvSpPr txBox="1"/>
          <p:nvPr/>
        </p:nvSpPr>
        <p:spPr>
          <a:xfrm>
            <a:off x="8805812" y="1887808"/>
            <a:ext cx="670200" cy="28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603" name="Google Shape;603;p41"/>
          <p:cNvSpPr txBox="1"/>
          <p:nvPr/>
        </p:nvSpPr>
        <p:spPr>
          <a:xfrm>
            <a:off x="147150" y="1094900"/>
            <a:ext cx="5088900" cy="22521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600" b="1">
                <a:solidFill>
                  <a:srgbClr val="661111"/>
                </a:solidFill>
                <a:highlight>
                  <a:srgbClr val="EFEFEF"/>
                </a:highlight>
                <a:latin typeface="Consolas"/>
                <a:ea typeface="Consolas"/>
                <a:cs typeface="Consolas"/>
                <a:sym typeface="Consolas"/>
              </a:rPr>
              <a:t>private static class</a:t>
            </a:r>
            <a:r>
              <a:rPr lang="en" sz="1600">
                <a:solidFill>
                  <a:schemeClr val="dk1"/>
                </a:solidFill>
                <a:highlight>
                  <a:srgbClr val="EFEFEF"/>
                </a:highlight>
                <a:latin typeface="Consolas"/>
                <a:ea typeface="Consolas"/>
                <a:cs typeface="Consolas"/>
                <a:sym typeface="Consolas"/>
              </a:rPr>
              <a:t> Node </a:t>
            </a:r>
            <a:r>
              <a:rPr lang="en" sz="1600" b="1">
                <a:solidFill>
                  <a:schemeClr val="dk1"/>
                </a:solidFill>
                <a:highlight>
                  <a:srgbClr val="EFEFEF"/>
                </a:highlight>
                <a:latin typeface="Consolas"/>
                <a:ea typeface="Consolas"/>
                <a:cs typeface="Consolas"/>
                <a:sym typeface="Consolas"/>
              </a:rPr>
              <a:t>{</a:t>
            </a:r>
            <a:endParaRPr sz="1600" b="1">
              <a:solidFill>
                <a:schemeClr val="dk1"/>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private </a:t>
            </a:r>
            <a:r>
              <a:rPr lang="en" sz="1600">
                <a:solidFill>
                  <a:schemeClr val="dk1"/>
                </a:solidFill>
                <a:highlight>
                  <a:srgbClr val="EFEFEF"/>
                </a:highlight>
                <a:latin typeface="Consolas"/>
                <a:ea typeface="Consolas"/>
                <a:cs typeface="Consolas"/>
                <a:sym typeface="Consolas"/>
              </a:rPr>
              <a:t>char ch</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endParaRPr sz="1600">
              <a:solidFill>
                <a:schemeClr val="dk1"/>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private </a:t>
            </a:r>
            <a:r>
              <a:rPr lang="en" sz="1600" b="1">
                <a:solidFill>
                  <a:srgbClr val="000066"/>
                </a:solidFill>
                <a:highlight>
                  <a:srgbClr val="EFEFEF"/>
                </a:highlight>
                <a:latin typeface="Consolas"/>
                <a:ea typeface="Consolas"/>
                <a:cs typeface="Consolas"/>
                <a:sym typeface="Consolas"/>
              </a:rPr>
              <a:t>boolean</a:t>
            </a:r>
            <a:r>
              <a:rPr lang="en" sz="1600">
                <a:solidFill>
                  <a:schemeClr val="dk1"/>
                </a:solidFill>
                <a:highlight>
                  <a:srgbClr val="EFEFEF"/>
                </a:highlight>
                <a:latin typeface="Consolas"/>
                <a:ea typeface="Consolas"/>
                <a:cs typeface="Consolas"/>
                <a:sym typeface="Consolas"/>
              </a:rPr>
              <a:t> isKey</a:t>
            </a:r>
            <a:r>
              <a:rPr lang="en" sz="1600" b="1">
                <a:solidFill>
                  <a:schemeClr val="dk1"/>
                </a:solidFill>
                <a:highlight>
                  <a:srgbClr val="EFEFEF"/>
                </a:highlight>
                <a:latin typeface="Consolas"/>
                <a:ea typeface="Consolas"/>
                <a:cs typeface="Consolas"/>
                <a:sym typeface="Consolas"/>
              </a:rPr>
              <a:t>;   </a:t>
            </a:r>
            <a:endParaRPr sz="1600" b="1">
              <a:solidFill>
                <a:schemeClr val="dk1"/>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private </a:t>
            </a:r>
            <a:r>
              <a:rPr lang="en" sz="1600">
                <a:solidFill>
                  <a:schemeClr val="dk1"/>
                </a:solidFill>
                <a:highlight>
                  <a:srgbClr val="EFEFEF"/>
                </a:highlight>
                <a:latin typeface="Consolas"/>
                <a:ea typeface="Consolas"/>
                <a:cs typeface="Consolas"/>
                <a:sym typeface="Consolas"/>
              </a:rPr>
              <a:t>DataIndexedCharMap</a:t>
            </a:r>
            <a:r>
              <a:rPr lang="en" sz="1600" b="1">
                <a:solidFill>
                  <a:schemeClr val="dk1"/>
                </a:solidFill>
                <a:highlight>
                  <a:srgbClr val="EFEFEF"/>
                </a:highlight>
                <a:latin typeface="Consolas"/>
                <a:ea typeface="Consolas"/>
                <a:cs typeface="Consolas"/>
                <a:sym typeface="Consolas"/>
              </a:rPr>
              <a:t>&lt;</a:t>
            </a:r>
            <a:r>
              <a:rPr lang="en" sz="1600">
                <a:solidFill>
                  <a:schemeClr val="dk1"/>
                </a:solidFill>
                <a:highlight>
                  <a:srgbClr val="EFEFEF"/>
                </a:highlight>
                <a:latin typeface="Consolas"/>
                <a:ea typeface="Consolas"/>
                <a:cs typeface="Consolas"/>
                <a:sym typeface="Consolas"/>
              </a:rPr>
              <a:t>Node</a:t>
            </a:r>
            <a:r>
              <a:rPr lang="en" sz="1600" b="1">
                <a:solidFill>
                  <a:schemeClr val="dk1"/>
                </a:solidFill>
                <a:highlight>
                  <a:srgbClr val="EFEFEF"/>
                </a:highlight>
                <a:latin typeface="Consolas"/>
                <a:ea typeface="Consolas"/>
                <a:cs typeface="Consolas"/>
                <a:sym typeface="Consolas"/>
              </a:rPr>
              <a:t>&gt;</a:t>
            </a:r>
            <a:r>
              <a:rPr lang="en" sz="1600">
                <a:solidFill>
                  <a:schemeClr val="dk1"/>
                </a:solidFill>
                <a:highlight>
                  <a:srgbClr val="EFEFEF"/>
                </a:highlight>
                <a:latin typeface="Consolas"/>
                <a:ea typeface="Consolas"/>
                <a:cs typeface="Consolas"/>
                <a:sym typeface="Consolas"/>
              </a:rPr>
              <a:t> next</a:t>
            </a:r>
            <a:r>
              <a:rPr lang="en" sz="1600" b="1">
                <a:solidFill>
                  <a:schemeClr val="dk1"/>
                </a:solidFill>
                <a:highlight>
                  <a:srgbClr val="EFEFEF"/>
                </a:highlight>
                <a:latin typeface="Consolas"/>
                <a:ea typeface="Consolas"/>
                <a:cs typeface="Consolas"/>
                <a:sym typeface="Consolas"/>
              </a:rPr>
              <a:t>;</a:t>
            </a:r>
            <a:endParaRPr sz="1600" b="1">
              <a:solidFill>
                <a:schemeClr val="dk1"/>
              </a:solidFill>
              <a:highlight>
                <a:srgbClr val="EFEFEF"/>
              </a:highlight>
              <a:latin typeface="Consolas"/>
              <a:ea typeface="Consolas"/>
              <a:cs typeface="Consolas"/>
              <a:sym typeface="Consolas"/>
            </a:endParaRPr>
          </a:p>
          <a:p>
            <a:pPr marL="0" lvl="0" indent="0" algn="l" rtl="0">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private </a:t>
            </a:r>
            <a:r>
              <a:rPr lang="en" sz="1600">
                <a:solidFill>
                  <a:srgbClr val="004466"/>
                </a:solidFill>
                <a:highlight>
                  <a:srgbClr val="EFEFEF"/>
                </a:highlight>
                <a:latin typeface="Consolas"/>
                <a:ea typeface="Consolas"/>
                <a:cs typeface="Consolas"/>
                <a:sym typeface="Consolas"/>
              </a:rPr>
              <a:t>Node</a:t>
            </a:r>
            <a:r>
              <a:rPr lang="en" sz="1600" b="1">
                <a:solidFill>
                  <a:schemeClr val="dk1"/>
                </a:solidFill>
                <a:highlight>
                  <a:srgbClr val="EFEFEF"/>
                </a:highlight>
                <a:latin typeface="Consolas"/>
                <a:ea typeface="Consolas"/>
                <a:cs typeface="Consolas"/>
                <a:sym typeface="Consolas"/>
              </a:rPr>
              <a:t>(</a:t>
            </a:r>
            <a:r>
              <a:rPr lang="en" sz="1600" b="1">
                <a:solidFill>
                  <a:srgbClr val="000066"/>
                </a:solidFill>
                <a:highlight>
                  <a:srgbClr val="EFEFEF"/>
                </a:highlight>
                <a:latin typeface="Consolas"/>
                <a:ea typeface="Consolas"/>
                <a:cs typeface="Consolas"/>
                <a:sym typeface="Consolas"/>
              </a:rPr>
              <a:t>char</a:t>
            </a:r>
            <a:r>
              <a:rPr lang="en" sz="1600">
                <a:solidFill>
                  <a:schemeClr val="dk1"/>
                </a:solidFill>
                <a:highlight>
                  <a:srgbClr val="EFEFEF"/>
                </a:highlight>
                <a:latin typeface="Consolas"/>
                <a:ea typeface="Consolas"/>
                <a:cs typeface="Consolas"/>
                <a:sym typeface="Consolas"/>
              </a:rPr>
              <a:t> c</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b="1">
                <a:solidFill>
                  <a:srgbClr val="000066"/>
                </a:solidFill>
                <a:highlight>
                  <a:srgbClr val="EFEFEF"/>
                </a:highlight>
                <a:latin typeface="Consolas"/>
                <a:ea typeface="Consolas"/>
                <a:cs typeface="Consolas"/>
                <a:sym typeface="Consolas"/>
              </a:rPr>
              <a:t>boolean</a:t>
            </a:r>
            <a:r>
              <a:rPr lang="en" sz="1600">
                <a:solidFill>
                  <a:schemeClr val="dk1"/>
                </a:solidFill>
                <a:highlight>
                  <a:srgbClr val="EFEFEF"/>
                </a:highlight>
                <a:latin typeface="Consolas"/>
                <a:ea typeface="Consolas"/>
                <a:cs typeface="Consolas"/>
                <a:sym typeface="Consolas"/>
              </a:rPr>
              <a:t> b</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b="1">
                <a:solidFill>
                  <a:srgbClr val="000066"/>
                </a:solidFill>
                <a:highlight>
                  <a:srgbClr val="EFEFEF"/>
                </a:highlight>
                <a:latin typeface="Consolas"/>
                <a:ea typeface="Consolas"/>
                <a:cs typeface="Consolas"/>
                <a:sym typeface="Consolas"/>
              </a:rPr>
              <a:t>int</a:t>
            </a:r>
            <a:r>
              <a:rPr lang="en" sz="1600">
                <a:solidFill>
                  <a:schemeClr val="dk1"/>
                </a:solidFill>
                <a:highlight>
                  <a:srgbClr val="EFEFEF"/>
                </a:highlight>
                <a:latin typeface="Consolas"/>
                <a:ea typeface="Consolas"/>
                <a:cs typeface="Consolas"/>
                <a:sym typeface="Consolas"/>
              </a:rPr>
              <a:t> R</a:t>
            </a:r>
            <a:r>
              <a:rPr lang="en" sz="1600" b="1">
                <a:solidFill>
                  <a:schemeClr val="dk1"/>
                </a:solidFill>
                <a:highlight>
                  <a:srgbClr val="EFEFEF"/>
                </a:highlight>
                <a:latin typeface="Consolas"/>
                <a:ea typeface="Consolas"/>
                <a:cs typeface="Consolas"/>
                <a:sym typeface="Consolas"/>
              </a:rPr>
              <a:t>) {</a:t>
            </a:r>
            <a:endParaRPr sz="1600" b="1">
              <a:solidFill>
                <a:schemeClr val="dk1"/>
              </a:solidFill>
              <a:highlight>
                <a:srgbClr val="EFEFEF"/>
              </a:highlight>
              <a:latin typeface="Consolas"/>
              <a:ea typeface="Consolas"/>
              <a:cs typeface="Consolas"/>
              <a:sym typeface="Consolas"/>
            </a:endParaRPr>
          </a:p>
          <a:p>
            <a:pPr marL="0" lvl="0" indent="0" algn="l" rtl="0">
              <a:spcBef>
                <a:spcPts val="0"/>
              </a:spcBef>
              <a:spcAft>
                <a:spcPts val="0"/>
              </a:spcAft>
              <a:buNone/>
            </a:pPr>
            <a:r>
              <a:rPr lang="en" sz="1600">
                <a:solidFill>
                  <a:schemeClr val="dk1"/>
                </a:solidFill>
                <a:highlight>
                  <a:srgbClr val="EFEFEF"/>
                </a:highlight>
                <a:latin typeface="Consolas"/>
                <a:ea typeface="Consolas"/>
                <a:cs typeface="Consolas"/>
                <a:sym typeface="Consolas"/>
              </a:rPr>
              <a:t>    ch </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c</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isKey </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b</a:t>
            </a:r>
            <a:r>
              <a:rPr lang="en" sz="1600" b="1">
                <a:solidFill>
                  <a:schemeClr val="dk1"/>
                </a:solidFill>
                <a:highlight>
                  <a:srgbClr val="EFEFEF"/>
                </a:highlight>
                <a:latin typeface="Consolas"/>
                <a:ea typeface="Consolas"/>
                <a:cs typeface="Consolas"/>
                <a:sym typeface="Consolas"/>
              </a:rPr>
              <a:t>;</a:t>
            </a:r>
            <a:endParaRPr sz="1600" b="1">
              <a:solidFill>
                <a:schemeClr val="dk1"/>
              </a:solidFill>
              <a:highlight>
                <a:srgbClr val="EFEFEF"/>
              </a:highlight>
              <a:latin typeface="Consolas"/>
              <a:ea typeface="Consolas"/>
              <a:cs typeface="Consolas"/>
              <a:sym typeface="Consolas"/>
            </a:endParaRPr>
          </a:p>
          <a:p>
            <a:pPr marL="0" lvl="0" indent="0" algn="l" rtl="0">
              <a:spcBef>
                <a:spcPts val="0"/>
              </a:spcBef>
              <a:spcAft>
                <a:spcPts val="0"/>
              </a:spcAft>
              <a:buNone/>
            </a:pPr>
            <a:r>
              <a:rPr lang="en" sz="1600">
                <a:solidFill>
                  <a:schemeClr val="dk1"/>
                </a:solidFill>
                <a:highlight>
                  <a:srgbClr val="EFEFEF"/>
                </a:highlight>
                <a:latin typeface="Consolas"/>
                <a:ea typeface="Consolas"/>
                <a:cs typeface="Consolas"/>
                <a:sym typeface="Consolas"/>
              </a:rPr>
              <a:t>    next </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new</a:t>
            </a:r>
            <a:r>
              <a:rPr lang="en" sz="1600">
                <a:solidFill>
                  <a:schemeClr val="dk1"/>
                </a:solidFill>
                <a:highlight>
                  <a:srgbClr val="EFEFEF"/>
                </a:highlight>
                <a:latin typeface="Consolas"/>
                <a:ea typeface="Consolas"/>
                <a:cs typeface="Consolas"/>
                <a:sym typeface="Consolas"/>
              </a:rPr>
              <a:t> DataIndexedCharMap</a:t>
            </a:r>
            <a:r>
              <a:rPr lang="en" sz="1600" b="1">
                <a:solidFill>
                  <a:schemeClr val="dk1"/>
                </a:solidFill>
                <a:highlight>
                  <a:srgbClr val="EFEFEF"/>
                </a:highlight>
                <a:latin typeface="Consolas"/>
                <a:ea typeface="Consolas"/>
                <a:cs typeface="Consolas"/>
                <a:sym typeface="Consolas"/>
              </a:rPr>
              <a:t>&lt;&gt;(</a:t>
            </a:r>
            <a:r>
              <a:rPr lang="en" sz="1600">
                <a:solidFill>
                  <a:schemeClr val="dk1"/>
                </a:solidFill>
                <a:highlight>
                  <a:srgbClr val="EFEFEF"/>
                </a:highlight>
                <a:latin typeface="Consolas"/>
                <a:ea typeface="Consolas"/>
                <a:cs typeface="Consolas"/>
                <a:sym typeface="Consolas"/>
              </a:rPr>
              <a:t>R</a:t>
            </a:r>
            <a:r>
              <a:rPr lang="en" sz="1600" b="1">
                <a:solidFill>
                  <a:schemeClr val="dk1"/>
                </a:solidFill>
                <a:highlight>
                  <a:srgbClr val="EFEFEF"/>
                </a:highlight>
                <a:latin typeface="Consolas"/>
                <a:ea typeface="Consolas"/>
                <a:cs typeface="Consolas"/>
                <a:sym typeface="Consolas"/>
              </a:rPr>
              <a:t>);</a:t>
            </a:r>
            <a:endParaRPr sz="1600" b="1">
              <a:solidFill>
                <a:schemeClr val="dk1"/>
              </a:solidFill>
              <a:highlight>
                <a:srgbClr val="EFEFEF"/>
              </a:highlight>
              <a:latin typeface="Consolas"/>
              <a:ea typeface="Consolas"/>
              <a:cs typeface="Consolas"/>
              <a:sym typeface="Consolas"/>
            </a:endParaRPr>
          </a:p>
          <a:p>
            <a:pPr marL="0" lvl="0" indent="0" algn="l" rtl="0">
              <a:spcBef>
                <a:spcPts val="0"/>
              </a:spcBef>
              <a:spcAft>
                <a:spcPts val="0"/>
              </a:spcAft>
              <a:buNone/>
            </a:pPr>
            <a:r>
              <a:rPr lang="en" sz="1600" b="1">
                <a:solidFill>
                  <a:schemeClr val="dk1"/>
                </a:solidFill>
                <a:highlight>
                  <a:srgbClr val="EFEFEF"/>
                </a:highlight>
                <a:latin typeface="Consolas"/>
                <a:ea typeface="Consolas"/>
                <a:cs typeface="Consolas"/>
                <a:sym typeface="Consolas"/>
              </a:rPr>
              <a:t>}</a:t>
            </a:r>
            <a:endParaRPr sz="1600">
              <a:solidFill>
                <a:schemeClr val="dk1"/>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endParaRPr sz="1600" b="1">
              <a:solidFill>
                <a:srgbClr val="661111"/>
              </a:solidFill>
              <a:highlight>
                <a:srgbClr val="EFEFEF"/>
              </a:highlight>
              <a:latin typeface="Consolas"/>
              <a:ea typeface="Consolas"/>
              <a:cs typeface="Consolas"/>
              <a:sym typeface="Consola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4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Zooming in On a Node</a:t>
            </a:r>
            <a:endParaRPr/>
          </a:p>
        </p:txBody>
      </p:sp>
      <p:sp>
        <p:nvSpPr>
          <p:cNvPr id="609" name="Google Shape;609;p42"/>
          <p:cNvSpPr txBox="1">
            <a:spLocks noGrp="1"/>
          </p:cNvSpPr>
          <p:nvPr>
            <p:ph type="body" idx="1"/>
          </p:nvPr>
        </p:nvSpPr>
        <p:spPr>
          <a:xfrm>
            <a:off x="166800" y="404100"/>
            <a:ext cx="8443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Better drawing of a DataIndexedCharMap based trie is shown to the right.</a:t>
            </a:r>
            <a:endParaRPr/>
          </a:p>
        </p:txBody>
      </p:sp>
      <p:sp>
        <p:nvSpPr>
          <p:cNvPr id="610" name="Google Shape;610;p42"/>
          <p:cNvSpPr/>
          <p:nvPr/>
        </p:nvSpPr>
        <p:spPr>
          <a:xfrm>
            <a:off x="573250" y="3745811"/>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611" name="Google Shape;611;p42"/>
          <p:cNvSpPr/>
          <p:nvPr/>
        </p:nvSpPr>
        <p:spPr>
          <a:xfrm>
            <a:off x="573250" y="438108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w</a:t>
            </a:r>
            <a:endParaRPr sz="1800">
              <a:latin typeface="Consolas"/>
              <a:ea typeface="Consolas"/>
              <a:cs typeface="Consolas"/>
              <a:sym typeface="Consolas"/>
            </a:endParaRPr>
          </a:p>
        </p:txBody>
      </p:sp>
      <p:cxnSp>
        <p:nvCxnSpPr>
          <p:cNvPr id="612" name="Google Shape;612;p42"/>
          <p:cNvCxnSpPr>
            <a:endCxn id="611" idx="0"/>
          </p:cNvCxnSpPr>
          <p:nvPr/>
        </p:nvCxnSpPr>
        <p:spPr>
          <a:xfrm>
            <a:off x="789700" y="4178586"/>
            <a:ext cx="0" cy="202500"/>
          </a:xfrm>
          <a:prstGeom prst="straightConnector1">
            <a:avLst/>
          </a:prstGeom>
          <a:noFill/>
          <a:ln w="28575" cap="flat" cmpd="sng">
            <a:solidFill>
              <a:schemeClr val="dk2"/>
            </a:solidFill>
            <a:prstDash val="solid"/>
            <a:round/>
            <a:headEnd type="none" w="med" len="med"/>
            <a:tailEnd type="none" w="med" len="med"/>
          </a:ln>
        </p:spPr>
      </p:cxnSp>
      <p:sp>
        <p:nvSpPr>
          <p:cNvPr id="613" name="Google Shape;613;p42"/>
          <p:cNvSpPr txBox="1"/>
          <p:nvPr/>
        </p:nvSpPr>
        <p:spPr>
          <a:xfrm>
            <a:off x="147150" y="1094900"/>
            <a:ext cx="5088900" cy="22521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600" b="1">
                <a:solidFill>
                  <a:srgbClr val="661111"/>
                </a:solidFill>
                <a:highlight>
                  <a:srgbClr val="EFEFEF"/>
                </a:highlight>
                <a:latin typeface="Consolas"/>
                <a:ea typeface="Consolas"/>
                <a:cs typeface="Consolas"/>
                <a:sym typeface="Consolas"/>
              </a:rPr>
              <a:t>private static class</a:t>
            </a:r>
            <a:r>
              <a:rPr lang="en" sz="1600">
                <a:solidFill>
                  <a:schemeClr val="dk1"/>
                </a:solidFill>
                <a:highlight>
                  <a:srgbClr val="EFEFEF"/>
                </a:highlight>
                <a:latin typeface="Consolas"/>
                <a:ea typeface="Consolas"/>
                <a:cs typeface="Consolas"/>
                <a:sym typeface="Consolas"/>
              </a:rPr>
              <a:t> Node </a:t>
            </a:r>
            <a:r>
              <a:rPr lang="en" sz="1600" b="1">
                <a:solidFill>
                  <a:schemeClr val="dk1"/>
                </a:solidFill>
                <a:highlight>
                  <a:srgbClr val="EFEFEF"/>
                </a:highlight>
                <a:latin typeface="Consolas"/>
                <a:ea typeface="Consolas"/>
                <a:cs typeface="Consolas"/>
                <a:sym typeface="Consolas"/>
              </a:rPr>
              <a:t>{</a:t>
            </a:r>
            <a:endParaRPr sz="1600" b="1">
              <a:solidFill>
                <a:schemeClr val="dk1"/>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private </a:t>
            </a:r>
            <a:r>
              <a:rPr lang="en" sz="1600">
                <a:solidFill>
                  <a:schemeClr val="dk1"/>
                </a:solidFill>
                <a:highlight>
                  <a:srgbClr val="EFEFEF"/>
                </a:highlight>
                <a:latin typeface="Consolas"/>
                <a:ea typeface="Consolas"/>
                <a:cs typeface="Consolas"/>
                <a:sym typeface="Consolas"/>
              </a:rPr>
              <a:t>char ch</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endParaRPr sz="1600">
              <a:solidFill>
                <a:schemeClr val="dk1"/>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private </a:t>
            </a:r>
            <a:r>
              <a:rPr lang="en" sz="1600" b="1">
                <a:solidFill>
                  <a:srgbClr val="000066"/>
                </a:solidFill>
                <a:highlight>
                  <a:srgbClr val="EFEFEF"/>
                </a:highlight>
                <a:latin typeface="Consolas"/>
                <a:ea typeface="Consolas"/>
                <a:cs typeface="Consolas"/>
                <a:sym typeface="Consolas"/>
              </a:rPr>
              <a:t>boolean</a:t>
            </a:r>
            <a:r>
              <a:rPr lang="en" sz="1600">
                <a:solidFill>
                  <a:schemeClr val="dk1"/>
                </a:solidFill>
                <a:highlight>
                  <a:srgbClr val="EFEFEF"/>
                </a:highlight>
                <a:latin typeface="Consolas"/>
                <a:ea typeface="Consolas"/>
                <a:cs typeface="Consolas"/>
                <a:sym typeface="Consolas"/>
              </a:rPr>
              <a:t> isKey</a:t>
            </a:r>
            <a:r>
              <a:rPr lang="en" sz="1600" b="1">
                <a:solidFill>
                  <a:schemeClr val="dk1"/>
                </a:solidFill>
                <a:highlight>
                  <a:srgbClr val="EFEFEF"/>
                </a:highlight>
                <a:latin typeface="Consolas"/>
                <a:ea typeface="Consolas"/>
                <a:cs typeface="Consolas"/>
                <a:sym typeface="Consolas"/>
              </a:rPr>
              <a:t>;   </a:t>
            </a:r>
            <a:endParaRPr sz="1600" b="1">
              <a:solidFill>
                <a:schemeClr val="dk1"/>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private </a:t>
            </a:r>
            <a:r>
              <a:rPr lang="en" sz="1600">
                <a:solidFill>
                  <a:schemeClr val="dk1"/>
                </a:solidFill>
                <a:highlight>
                  <a:srgbClr val="EFEFEF"/>
                </a:highlight>
                <a:latin typeface="Consolas"/>
                <a:ea typeface="Consolas"/>
                <a:cs typeface="Consolas"/>
                <a:sym typeface="Consolas"/>
              </a:rPr>
              <a:t>DataIndexedCharMap</a:t>
            </a:r>
            <a:r>
              <a:rPr lang="en" sz="1600" b="1">
                <a:solidFill>
                  <a:schemeClr val="dk1"/>
                </a:solidFill>
                <a:highlight>
                  <a:srgbClr val="EFEFEF"/>
                </a:highlight>
                <a:latin typeface="Consolas"/>
                <a:ea typeface="Consolas"/>
                <a:cs typeface="Consolas"/>
                <a:sym typeface="Consolas"/>
              </a:rPr>
              <a:t>&lt;</a:t>
            </a:r>
            <a:r>
              <a:rPr lang="en" sz="1600">
                <a:solidFill>
                  <a:schemeClr val="dk1"/>
                </a:solidFill>
                <a:highlight>
                  <a:srgbClr val="EFEFEF"/>
                </a:highlight>
                <a:latin typeface="Consolas"/>
                <a:ea typeface="Consolas"/>
                <a:cs typeface="Consolas"/>
                <a:sym typeface="Consolas"/>
              </a:rPr>
              <a:t>Node</a:t>
            </a:r>
            <a:r>
              <a:rPr lang="en" sz="1600" b="1">
                <a:solidFill>
                  <a:schemeClr val="dk1"/>
                </a:solidFill>
                <a:highlight>
                  <a:srgbClr val="EFEFEF"/>
                </a:highlight>
                <a:latin typeface="Consolas"/>
                <a:ea typeface="Consolas"/>
                <a:cs typeface="Consolas"/>
                <a:sym typeface="Consolas"/>
              </a:rPr>
              <a:t>&gt;</a:t>
            </a:r>
            <a:r>
              <a:rPr lang="en" sz="1600">
                <a:solidFill>
                  <a:schemeClr val="dk1"/>
                </a:solidFill>
                <a:highlight>
                  <a:srgbClr val="EFEFEF"/>
                </a:highlight>
                <a:latin typeface="Consolas"/>
                <a:ea typeface="Consolas"/>
                <a:cs typeface="Consolas"/>
                <a:sym typeface="Consolas"/>
              </a:rPr>
              <a:t> next</a:t>
            </a:r>
            <a:r>
              <a:rPr lang="en" sz="1600" b="1">
                <a:solidFill>
                  <a:schemeClr val="dk1"/>
                </a:solidFill>
                <a:highlight>
                  <a:srgbClr val="EFEFEF"/>
                </a:highlight>
                <a:latin typeface="Consolas"/>
                <a:ea typeface="Consolas"/>
                <a:cs typeface="Consolas"/>
                <a:sym typeface="Consolas"/>
              </a:rPr>
              <a:t>;</a:t>
            </a:r>
            <a:endParaRPr sz="1600" b="1">
              <a:solidFill>
                <a:schemeClr val="dk1"/>
              </a:solidFill>
              <a:highlight>
                <a:srgbClr val="EFEFEF"/>
              </a:highlight>
              <a:latin typeface="Consolas"/>
              <a:ea typeface="Consolas"/>
              <a:cs typeface="Consolas"/>
              <a:sym typeface="Consolas"/>
            </a:endParaRPr>
          </a:p>
          <a:p>
            <a:pPr marL="0" lvl="0" indent="0" algn="l" rtl="0">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private </a:t>
            </a:r>
            <a:r>
              <a:rPr lang="en" sz="1600">
                <a:solidFill>
                  <a:srgbClr val="004466"/>
                </a:solidFill>
                <a:highlight>
                  <a:srgbClr val="EFEFEF"/>
                </a:highlight>
                <a:latin typeface="Consolas"/>
                <a:ea typeface="Consolas"/>
                <a:cs typeface="Consolas"/>
                <a:sym typeface="Consolas"/>
              </a:rPr>
              <a:t>Node</a:t>
            </a:r>
            <a:r>
              <a:rPr lang="en" sz="1600" b="1">
                <a:solidFill>
                  <a:schemeClr val="dk1"/>
                </a:solidFill>
                <a:highlight>
                  <a:srgbClr val="EFEFEF"/>
                </a:highlight>
                <a:latin typeface="Consolas"/>
                <a:ea typeface="Consolas"/>
                <a:cs typeface="Consolas"/>
                <a:sym typeface="Consolas"/>
              </a:rPr>
              <a:t>(</a:t>
            </a:r>
            <a:r>
              <a:rPr lang="en" sz="1600" b="1">
                <a:solidFill>
                  <a:srgbClr val="000066"/>
                </a:solidFill>
                <a:highlight>
                  <a:srgbClr val="EFEFEF"/>
                </a:highlight>
                <a:latin typeface="Consolas"/>
                <a:ea typeface="Consolas"/>
                <a:cs typeface="Consolas"/>
                <a:sym typeface="Consolas"/>
              </a:rPr>
              <a:t>char</a:t>
            </a:r>
            <a:r>
              <a:rPr lang="en" sz="1600">
                <a:solidFill>
                  <a:schemeClr val="dk1"/>
                </a:solidFill>
                <a:highlight>
                  <a:srgbClr val="EFEFEF"/>
                </a:highlight>
                <a:latin typeface="Consolas"/>
                <a:ea typeface="Consolas"/>
                <a:cs typeface="Consolas"/>
                <a:sym typeface="Consolas"/>
              </a:rPr>
              <a:t> c</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b="1">
                <a:solidFill>
                  <a:srgbClr val="000066"/>
                </a:solidFill>
                <a:highlight>
                  <a:srgbClr val="EFEFEF"/>
                </a:highlight>
                <a:latin typeface="Consolas"/>
                <a:ea typeface="Consolas"/>
                <a:cs typeface="Consolas"/>
                <a:sym typeface="Consolas"/>
              </a:rPr>
              <a:t>boolean</a:t>
            </a:r>
            <a:r>
              <a:rPr lang="en" sz="1600">
                <a:solidFill>
                  <a:schemeClr val="dk1"/>
                </a:solidFill>
                <a:highlight>
                  <a:srgbClr val="EFEFEF"/>
                </a:highlight>
                <a:latin typeface="Consolas"/>
                <a:ea typeface="Consolas"/>
                <a:cs typeface="Consolas"/>
                <a:sym typeface="Consolas"/>
              </a:rPr>
              <a:t> b</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b="1">
                <a:solidFill>
                  <a:srgbClr val="000066"/>
                </a:solidFill>
                <a:highlight>
                  <a:srgbClr val="EFEFEF"/>
                </a:highlight>
                <a:latin typeface="Consolas"/>
                <a:ea typeface="Consolas"/>
                <a:cs typeface="Consolas"/>
                <a:sym typeface="Consolas"/>
              </a:rPr>
              <a:t>int</a:t>
            </a:r>
            <a:r>
              <a:rPr lang="en" sz="1600">
                <a:solidFill>
                  <a:schemeClr val="dk1"/>
                </a:solidFill>
                <a:highlight>
                  <a:srgbClr val="EFEFEF"/>
                </a:highlight>
                <a:latin typeface="Consolas"/>
                <a:ea typeface="Consolas"/>
                <a:cs typeface="Consolas"/>
                <a:sym typeface="Consolas"/>
              </a:rPr>
              <a:t> R</a:t>
            </a:r>
            <a:r>
              <a:rPr lang="en" sz="1600" b="1">
                <a:solidFill>
                  <a:schemeClr val="dk1"/>
                </a:solidFill>
                <a:highlight>
                  <a:srgbClr val="EFEFEF"/>
                </a:highlight>
                <a:latin typeface="Consolas"/>
                <a:ea typeface="Consolas"/>
                <a:cs typeface="Consolas"/>
                <a:sym typeface="Consolas"/>
              </a:rPr>
              <a:t>) {</a:t>
            </a:r>
            <a:endParaRPr sz="1600" b="1">
              <a:solidFill>
                <a:schemeClr val="dk1"/>
              </a:solidFill>
              <a:highlight>
                <a:srgbClr val="EFEFEF"/>
              </a:highlight>
              <a:latin typeface="Consolas"/>
              <a:ea typeface="Consolas"/>
              <a:cs typeface="Consolas"/>
              <a:sym typeface="Consolas"/>
            </a:endParaRPr>
          </a:p>
          <a:p>
            <a:pPr marL="0" lvl="0" indent="0" algn="l" rtl="0">
              <a:spcBef>
                <a:spcPts val="0"/>
              </a:spcBef>
              <a:spcAft>
                <a:spcPts val="0"/>
              </a:spcAft>
              <a:buNone/>
            </a:pPr>
            <a:r>
              <a:rPr lang="en" sz="1600">
                <a:solidFill>
                  <a:schemeClr val="dk1"/>
                </a:solidFill>
                <a:highlight>
                  <a:srgbClr val="EFEFEF"/>
                </a:highlight>
                <a:latin typeface="Consolas"/>
                <a:ea typeface="Consolas"/>
                <a:cs typeface="Consolas"/>
                <a:sym typeface="Consolas"/>
              </a:rPr>
              <a:t>    ch </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c</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isKey </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b</a:t>
            </a:r>
            <a:r>
              <a:rPr lang="en" sz="1600" b="1">
                <a:solidFill>
                  <a:schemeClr val="dk1"/>
                </a:solidFill>
                <a:highlight>
                  <a:srgbClr val="EFEFEF"/>
                </a:highlight>
                <a:latin typeface="Consolas"/>
                <a:ea typeface="Consolas"/>
                <a:cs typeface="Consolas"/>
                <a:sym typeface="Consolas"/>
              </a:rPr>
              <a:t>;</a:t>
            </a:r>
            <a:endParaRPr sz="1600" b="1">
              <a:solidFill>
                <a:schemeClr val="dk1"/>
              </a:solidFill>
              <a:highlight>
                <a:srgbClr val="EFEFEF"/>
              </a:highlight>
              <a:latin typeface="Consolas"/>
              <a:ea typeface="Consolas"/>
              <a:cs typeface="Consolas"/>
              <a:sym typeface="Consolas"/>
            </a:endParaRPr>
          </a:p>
          <a:p>
            <a:pPr marL="0" lvl="0" indent="0" algn="l" rtl="0">
              <a:spcBef>
                <a:spcPts val="0"/>
              </a:spcBef>
              <a:spcAft>
                <a:spcPts val="0"/>
              </a:spcAft>
              <a:buNone/>
            </a:pPr>
            <a:r>
              <a:rPr lang="en" sz="1600">
                <a:solidFill>
                  <a:schemeClr val="dk1"/>
                </a:solidFill>
                <a:highlight>
                  <a:srgbClr val="EFEFEF"/>
                </a:highlight>
                <a:latin typeface="Consolas"/>
                <a:ea typeface="Consolas"/>
                <a:cs typeface="Consolas"/>
                <a:sym typeface="Consolas"/>
              </a:rPr>
              <a:t>    next </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new</a:t>
            </a:r>
            <a:r>
              <a:rPr lang="en" sz="1600">
                <a:solidFill>
                  <a:schemeClr val="dk1"/>
                </a:solidFill>
                <a:highlight>
                  <a:srgbClr val="EFEFEF"/>
                </a:highlight>
                <a:latin typeface="Consolas"/>
                <a:ea typeface="Consolas"/>
                <a:cs typeface="Consolas"/>
                <a:sym typeface="Consolas"/>
              </a:rPr>
              <a:t> DataIndexedCharMap</a:t>
            </a:r>
            <a:r>
              <a:rPr lang="en" sz="1600" b="1">
                <a:solidFill>
                  <a:schemeClr val="dk1"/>
                </a:solidFill>
                <a:highlight>
                  <a:srgbClr val="EFEFEF"/>
                </a:highlight>
                <a:latin typeface="Consolas"/>
                <a:ea typeface="Consolas"/>
                <a:cs typeface="Consolas"/>
                <a:sym typeface="Consolas"/>
              </a:rPr>
              <a:t>&lt;&gt;(</a:t>
            </a:r>
            <a:r>
              <a:rPr lang="en" sz="1600">
                <a:solidFill>
                  <a:schemeClr val="dk1"/>
                </a:solidFill>
                <a:highlight>
                  <a:srgbClr val="EFEFEF"/>
                </a:highlight>
                <a:latin typeface="Consolas"/>
                <a:ea typeface="Consolas"/>
                <a:cs typeface="Consolas"/>
                <a:sym typeface="Consolas"/>
              </a:rPr>
              <a:t>R</a:t>
            </a:r>
            <a:r>
              <a:rPr lang="en" sz="1600" b="1">
                <a:solidFill>
                  <a:schemeClr val="dk1"/>
                </a:solidFill>
                <a:highlight>
                  <a:srgbClr val="EFEFEF"/>
                </a:highlight>
                <a:latin typeface="Consolas"/>
                <a:ea typeface="Consolas"/>
                <a:cs typeface="Consolas"/>
                <a:sym typeface="Consolas"/>
              </a:rPr>
              <a:t>);</a:t>
            </a:r>
            <a:endParaRPr sz="1600" b="1">
              <a:solidFill>
                <a:schemeClr val="dk1"/>
              </a:solidFill>
              <a:highlight>
                <a:srgbClr val="EFEFEF"/>
              </a:highlight>
              <a:latin typeface="Consolas"/>
              <a:ea typeface="Consolas"/>
              <a:cs typeface="Consolas"/>
              <a:sym typeface="Consolas"/>
            </a:endParaRPr>
          </a:p>
          <a:p>
            <a:pPr marL="0" lvl="0" indent="0" algn="l" rtl="0">
              <a:spcBef>
                <a:spcPts val="0"/>
              </a:spcBef>
              <a:spcAft>
                <a:spcPts val="0"/>
              </a:spcAft>
              <a:buNone/>
            </a:pPr>
            <a:r>
              <a:rPr lang="en" sz="1600" b="1">
                <a:solidFill>
                  <a:schemeClr val="dk1"/>
                </a:solidFill>
                <a:highlight>
                  <a:srgbClr val="EFEFEF"/>
                </a:highlight>
                <a:latin typeface="Consolas"/>
                <a:ea typeface="Consolas"/>
                <a:cs typeface="Consolas"/>
                <a:sym typeface="Consolas"/>
              </a:rPr>
              <a:t>}</a:t>
            </a:r>
            <a:endParaRPr sz="1600">
              <a:solidFill>
                <a:schemeClr val="dk1"/>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endParaRPr sz="1600" b="1">
              <a:solidFill>
                <a:srgbClr val="661111"/>
              </a:solidFill>
              <a:highlight>
                <a:srgbClr val="EFEFEF"/>
              </a:highlight>
              <a:latin typeface="Consolas"/>
              <a:ea typeface="Consolas"/>
              <a:cs typeface="Consolas"/>
              <a:sym typeface="Consolas"/>
            </a:endParaRPr>
          </a:p>
        </p:txBody>
      </p:sp>
      <p:sp>
        <p:nvSpPr>
          <p:cNvPr id="614" name="Google Shape;614;p42"/>
          <p:cNvSpPr/>
          <p:nvPr/>
        </p:nvSpPr>
        <p:spPr>
          <a:xfrm>
            <a:off x="2182100" y="3707136"/>
            <a:ext cx="432900" cy="432900"/>
          </a:xfrm>
          <a:prstGeom prst="ellipse">
            <a:avLst/>
          </a:prstGeom>
          <a:solidFill>
            <a:srgbClr val="CFE2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615" name="Google Shape;615;p42"/>
          <p:cNvSpPr/>
          <p:nvPr/>
        </p:nvSpPr>
        <p:spPr>
          <a:xfrm>
            <a:off x="2822200" y="4340586"/>
            <a:ext cx="432900" cy="432900"/>
          </a:xfrm>
          <a:prstGeom prst="ellipse">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w</a:t>
            </a:r>
            <a:endParaRPr sz="1800">
              <a:latin typeface="Consolas"/>
              <a:ea typeface="Consolas"/>
              <a:cs typeface="Consolas"/>
              <a:sym typeface="Consolas"/>
            </a:endParaRPr>
          </a:p>
        </p:txBody>
      </p:sp>
      <p:cxnSp>
        <p:nvCxnSpPr>
          <p:cNvPr id="616" name="Google Shape;616;p42"/>
          <p:cNvCxnSpPr/>
          <p:nvPr/>
        </p:nvCxnSpPr>
        <p:spPr>
          <a:xfrm>
            <a:off x="2398550" y="4140036"/>
            <a:ext cx="0" cy="202500"/>
          </a:xfrm>
          <a:prstGeom prst="straightConnector1">
            <a:avLst/>
          </a:prstGeom>
          <a:noFill/>
          <a:ln w="28575" cap="flat" cmpd="sng">
            <a:solidFill>
              <a:srgbClr val="666666"/>
            </a:solidFill>
            <a:prstDash val="solid"/>
            <a:round/>
            <a:headEnd type="none" w="med" len="med"/>
            <a:tailEnd type="none" w="med" len="med"/>
          </a:ln>
        </p:spPr>
      </p:cxnSp>
      <p:cxnSp>
        <p:nvCxnSpPr>
          <p:cNvPr id="617" name="Google Shape;617;p42"/>
          <p:cNvCxnSpPr/>
          <p:nvPr/>
        </p:nvCxnSpPr>
        <p:spPr>
          <a:xfrm flipH="1">
            <a:off x="2239996" y="4158020"/>
            <a:ext cx="145200" cy="317700"/>
          </a:xfrm>
          <a:prstGeom prst="straightConnector1">
            <a:avLst/>
          </a:prstGeom>
          <a:noFill/>
          <a:ln w="28575" cap="flat" cmpd="sng">
            <a:solidFill>
              <a:srgbClr val="666666"/>
            </a:solidFill>
            <a:prstDash val="solid"/>
            <a:round/>
            <a:headEnd type="none" w="med" len="med"/>
            <a:tailEnd type="none" w="med" len="med"/>
          </a:ln>
        </p:spPr>
      </p:cxnSp>
      <p:cxnSp>
        <p:nvCxnSpPr>
          <p:cNvPr id="618" name="Google Shape;618;p42"/>
          <p:cNvCxnSpPr/>
          <p:nvPr/>
        </p:nvCxnSpPr>
        <p:spPr>
          <a:xfrm flipH="1">
            <a:off x="2128096" y="4158020"/>
            <a:ext cx="257100" cy="200400"/>
          </a:xfrm>
          <a:prstGeom prst="straightConnector1">
            <a:avLst/>
          </a:prstGeom>
          <a:noFill/>
          <a:ln w="28575" cap="flat" cmpd="sng">
            <a:solidFill>
              <a:srgbClr val="666666"/>
            </a:solidFill>
            <a:prstDash val="solid"/>
            <a:round/>
            <a:headEnd type="none" w="med" len="med"/>
            <a:tailEnd type="none" w="med" len="med"/>
          </a:ln>
        </p:spPr>
      </p:cxnSp>
      <p:cxnSp>
        <p:nvCxnSpPr>
          <p:cNvPr id="619" name="Google Shape;619;p42"/>
          <p:cNvCxnSpPr/>
          <p:nvPr/>
        </p:nvCxnSpPr>
        <p:spPr>
          <a:xfrm>
            <a:off x="2385196" y="4158020"/>
            <a:ext cx="317700" cy="300300"/>
          </a:xfrm>
          <a:prstGeom prst="straightConnector1">
            <a:avLst/>
          </a:prstGeom>
          <a:noFill/>
          <a:ln w="28575" cap="flat" cmpd="sng">
            <a:solidFill>
              <a:srgbClr val="666666"/>
            </a:solidFill>
            <a:prstDash val="solid"/>
            <a:round/>
            <a:headEnd type="none" w="med" len="med"/>
            <a:tailEnd type="none" w="med" len="med"/>
          </a:ln>
        </p:spPr>
      </p:cxnSp>
      <p:cxnSp>
        <p:nvCxnSpPr>
          <p:cNvPr id="620" name="Google Shape;620;p42"/>
          <p:cNvCxnSpPr>
            <a:endCxn id="615" idx="0"/>
          </p:cNvCxnSpPr>
          <p:nvPr/>
        </p:nvCxnSpPr>
        <p:spPr>
          <a:xfrm>
            <a:off x="2385250" y="4157886"/>
            <a:ext cx="653400" cy="182700"/>
          </a:xfrm>
          <a:prstGeom prst="straightConnector1">
            <a:avLst/>
          </a:prstGeom>
          <a:noFill/>
          <a:ln w="28575" cap="flat" cmpd="sng">
            <a:solidFill>
              <a:srgbClr val="666666"/>
            </a:solidFill>
            <a:prstDash val="solid"/>
            <a:round/>
            <a:headEnd type="none" w="med" len="med"/>
            <a:tailEnd type="none" w="med" len="med"/>
          </a:ln>
        </p:spPr>
      </p:cxnSp>
      <p:sp>
        <p:nvSpPr>
          <p:cNvPr id="621" name="Google Shape;621;p42"/>
          <p:cNvSpPr txBox="1"/>
          <p:nvPr/>
        </p:nvSpPr>
        <p:spPr>
          <a:xfrm>
            <a:off x="2735600" y="3953200"/>
            <a:ext cx="212400" cy="20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w</a:t>
            </a:r>
            <a:endParaRPr/>
          </a:p>
        </p:txBody>
      </p:sp>
      <p:sp>
        <p:nvSpPr>
          <p:cNvPr id="622" name="Google Shape;622;p42"/>
          <p:cNvSpPr txBox="1"/>
          <p:nvPr/>
        </p:nvSpPr>
        <p:spPr>
          <a:xfrm>
            <a:off x="2301275" y="4293625"/>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623" name="Google Shape;623;p42"/>
          <p:cNvSpPr txBox="1"/>
          <p:nvPr/>
        </p:nvSpPr>
        <p:spPr>
          <a:xfrm>
            <a:off x="4090100" y="3506100"/>
            <a:ext cx="3032700" cy="23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BE0712"/>
                </a:solidFill>
              </a:rPr>
              <a:t>128 links, with one used, and 127 equal to null.</a:t>
            </a:r>
            <a:endParaRPr>
              <a:solidFill>
                <a:srgbClr val="BE0712"/>
              </a:solidFill>
            </a:endParaRPr>
          </a:p>
        </p:txBody>
      </p:sp>
      <p:cxnSp>
        <p:nvCxnSpPr>
          <p:cNvPr id="624" name="Google Shape;624;p42"/>
          <p:cNvCxnSpPr/>
          <p:nvPr/>
        </p:nvCxnSpPr>
        <p:spPr>
          <a:xfrm flipH="1">
            <a:off x="2647275" y="3749150"/>
            <a:ext cx="1452900" cy="365700"/>
          </a:xfrm>
          <a:prstGeom prst="straightConnector1">
            <a:avLst/>
          </a:prstGeom>
          <a:noFill/>
          <a:ln w="9525" cap="flat" cmpd="sng">
            <a:solidFill>
              <a:srgbClr val="BE0712"/>
            </a:solidFill>
            <a:prstDash val="solid"/>
            <a:round/>
            <a:headEnd type="none" w="med" len="med"/>
            <a:tailEnd type="triangle"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4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Very Basic Trie Implementation</a:t>
            </a:r>
            <a:endParaRPr/>
          </a:p>
        </p:txBody>
      </p:sp>
      <p:sp>
        <p:nvSpPr>
          <p:cNvPr id="630" name="Google Shape;630;p43"/>
          <p:cNvSpPr txBox="1">
            <a:spLocks noGrp="1"/>
          </p:cNvSpPr>
          <p:nvPr>
            <p:ph type="body" idx="1"/>
          </p:nvPr>
        </p:nvSpPr>
        <p:spPr>
          <a:xfrm>
            <a:off x="166800" y="404100"/>
            <a:ext cx="86886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a:t>If we use a DataIndexedCharMap to track children, every node has R links.</a:t>
            </a:r>
            <a:endParaRPr/>
          </a:p>
          <a:p>
            <a:pPr marL="0" lvl="0" indent="0" algn="l" rtl="0">
              <a:spcBef>
                <a:spcPts val="600"/>
              </a:spcBef>
              <a:spcAft>
                <a:spcPts val="0"/>
              </a:spcAft>
              <a:buClr>
                <a:schemeClr val="dk1"/>
              </a:buClr>
              <a:buSzPts val="1100"/>
              <a:buFont typeface="Arial"/>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p:txBody>
      </p:sp>
      <p:sp>
        <p:nvSpPr>
          <p:cNvPr id="631" name="Google Shape;631;p43"/>
          <p:cNvSpPr txBox="1"/>
          <p:nvPr/>
        </p:nvSpPr>
        <p:spPr>
          <a:xfrm>
            <a:off x="284200" y="1480050"/>
            <a:ext cx="5468700" cy="22521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600" b="1">
                <a:solidFill>
                  <a:srgbClr val="661111"/>
                </a:solidFill>
                <a:highlight>
                  <a:srgbClr val="EFEFEF"/>
                </a:highlight>
                <a:latin typeface="Consolas"/>
                <a:ea typeface="Consolas"/>
                <a:cs typeface="Consolas"/>
                <a:sym typeface="Consolas"/>
              </a:rPr>
              <a:t>private static class</a:t>
            </a:r>
            <a:r>
              <a:rPr lang="en" sz="1600">
                <a:solidFill>
                  <a:schemeClr val="dk1"/>
                </a:solidFill>
                <a:highlight>
                  <a:srgbClr val="EFEFEF"/>
                </a:highlight>
                <a:latin typeface="Consolas"/>
                <a:ea typeface="Consolas"/>
                <a:cs typeface="Consolas"/>
                <a:sym typeface="Consolas"/>
              </a:rPr>
              <a:t> Node </a:t>
            </a:r>
            <a:r>
              <a:rPr lang="en" sz="1600" b="1">
                <a:solidFill>
                  <a:schemeClr val="dk1"/>
                </a:solidFill>
                <a:highlight>
                  <a:srgbClr val="EFEFEF"/>
                </a:highlight>
                <a:latin typeface="Consolas"/>
                <a:ea typeface="Consolas"/>
                <a:cs typeface="Consolas"/>
                <a:sym typeface="Consolas"/>
              </a:rPr>
              <a:t>{</a:t>
            </a:r>
            <a:endParaRPr sz="1600" b="1">
              <a:solidFill>
                <a:schemeClr val="dk1"/>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private </a:t>
            </a:r>
            <a:r>
              <a:rPr lang="en" sz="1600">
                <a:solidFill>
                  <a:schemeClr val="dk1"/>
                </a:solidFill>
                <a:highlight>
                  <a:srgbClr val="EFEFEF"/>
                </a:highlight>
                <a:latin typeface="Consolas"/>
                <a:ea typeface="Consolas"/>
                <a:cs typeface="Consolas"/>
                <a:sym typeface="Consolas"/>
              </a:rPr>
              <a:t>char ch</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endParaRPr sz="1600">
              <a:solidFill>
                <a:schemeClr val="dk1"/>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private </a:t>
            </a:r>
            <a:r>
              <a:rPr lang="en" sz="1600" b="1">
                <a:solidFill>
                  <a:srgbClr val="000066"/>
                </a:solidFill>
                <a:highlight>
                  <a:srgbClr val="EFEFEF"/>
                </a:highlight>
                <a:latin typeface="Consolas"/>
                <a:ea typeface="Consolas"/>
                <a:cs typeface="Consolas"/>
                <a:sym typeface="Consolas"/>
              </a:rPr>
              <a:t>boolean</a:t>
            </a:r>
            <a:r>
              <a:rPr lang="en" sz="1600">
                <a:solidFill>
                  <a:schemeClr val="dk1"/>
                </a:solidFill>
                <a:highlight>
                  <a:srgbClr val="EFEFEF"/>
                </a:highlight>
                <a:latin typeface="Consolas"/>
                <a:ea typeface="Consolas"/>
                <a:cs typeface="Consolas"/>
                <a:sym typeface="Consolas"/>
              </a:rPr>
              <a:t> isKey</a:t>
            </a:r>
            <a:r>
              <a:rPr lang="en" sz="1600" b="1">
                <a:solidFill>
                  <a:schemeClr val="dk1"/>
                </a:solidFill>
                <a:highlight>
                  <a:srgbClr val="EFEFEF"/>
                </a:highlight>
                <a:latin typeface="Consolas"/>
                <a:ea typeface="Consolas"/>
                <a:cs typeface="Consolas"/>
                <a:sym typeface="Consolas"/>
              </a:rPr>
              <a:t>;   </a:t>
            </a:r>
            <a:endParaRPr sz="1600" b="1">
              <a:solidFill>
                <a:schemeClr val="dk1"/>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private </a:t>
            </a:r>
            <a:r>
              <a:rPr lang="en" sz="1600">
                <a:solidFill>
                  <a:schemeClr val="dk1"/>
                </a:solidFill>
                <a:highlight>
                  <a:srgbClr val="EFEFEF"/>
                </a:highlight>
                <a:latin typeface="Consolas"/>
                <a:ea typeface="Consolas"/>
                <a:cs typeface="Consolas"/>
                <a:sym typeface="Consolas"/>
              </a:rPr>
              <a:t>DataIndexedCharMap</a:t>
            </a:r>
            <a:r>
              <a:rPr lang="en" sz="1600" b="1">
                <a:solidFill>
                  <a:schemeClr val="dk1"/>
                </a:solidFill>
                <a:highlight>
                  <a:srgbClr val="EFEFEF"/>
                </a:highlight>
                <a:latin typeface="Consolas"/>
                <a:ea typeface="Consolas"/>
                <a:cs typeface="Consolas"/>
                <a:sym typeface="Consolas"/>
              </a:rPr>
              <a:t>&lt;</a:t>
            </a:r>
            <a:r>
              <a:rPr lang="en" sz="1600">
                <a:solidFill>
                  <a:schemeClr val="dk1"/>
                </a:solidFill>
                <a:highlight>
                  <a:srgbClr val="EFEFEF"/>
                </a:highlight>
                <a:latin typeface="Consolas"/>
                <a:ea typeface="Consolas"/>
                <a:cs typeface="Consolas"/>
                <a:sym typeface="Consolas"/>
              </a:rPr>
              <a:t>Node</a:t>
            </a:r>
            <a:r>
              <a:rPr lang="en" sz="1600" b="1">
                <a:solidFill>
                  <a:schemeClr val="dk1"/>
                </a:solidFill>
                <a:highlight>
                  <a:srgbClr val="EFEFEF"/>
                </a:highlight>
                <a:latin typeface="Consolas"/>
                <a:ea typeface="Consolas"/>
                <a:cs typeface="Consolas"/>
                <a:sym typeface="Consolas"/>
              </a:rPr>
              <a:t>&gt;</a:t>
            </a:r>
            <a:r>
              <a:rPr lang="en" sz="1600">
                <a:solidFill>
                  <a:schemeClr val="dk1"/>
                </a:solidFill>
                <a:highlight>
                  <a:srgbClr val="EFEFEF"/>
                </a:highlight>
                <a:latin typeface="Consolas"/>
                <a:ea typeface="Consolas"/>
                <a:cs typeface="Consolas"/>
                <a:sym typeface="Consolas"/>
              </a:rPr>
              <a:t> next</a:t>
            </a:r>
            <a:r>
              <a:rPr lang="en" sz="1600" b="1">
                <a:solidFill>
                  <a:schemeClr val="dk1"/>
                </a:solidFill>
                <a:highlight>
                  <a:srgbClr val="EFEFEF"/>
                </a:highlight>
                <a:latin typeface="Consolas"/>
                <a:ea typeface="Consolas"/>
                <a:cs typeface="Consolas"/>
                <a:sym typeface="Consolas"/>
              </a:rPr>
              <a:t>;</a:t>
            </a:r>
            <a:endParaRPr sz="1600" b="1">
              <a:solidFill>
                <a:schemeClr val="dk1"/>
              </a:solidFill>
              <a:highlight>
                <a:srgbClr val="EFEFEF"/>
              </a:highlight>
              <a:latin typeface="Consolas"/>
              <a:ea typeface="Consolas"/>
              <a:cs typeface="Consolas"/>
              <a:sym typeface="Consolas"/>
            </a:endParaRPr>
          </a:p>
          <a:p>
            <a:pPr marL="0" lvl="0" indent="0" algn="l" rtl="0">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private </a:t>
            </a:r>
            <a:r>
              <a:rPr lang="en" sz="1600">
                <a:solidFill>
                  <a:srgbClr val="004466"/>
                </a:solidFill>
                <a:highlight>
                  <a:srgbClr val="EFEFEF"/>
                </a:highlight>
                <a:latin typeface="Consolas"/>
                <a:ea typeface="Consolas"/>
                <a:cs typeface="Consolas"/>
                <a:sym typeface="Consolas"/>
              </a:rPr>
              <a:t>Node</a:t>
            </a:r>
            <a:r>
              <a:rPr lang="en" sz="1600" b="1">
                <a:solidFill>
                  <a:schemeClr val="dk1"/>
                </a:solidFill>
                <a:highlight>
                  <a:srgbClr val="EFEFEF"/>
                </a:highlight>
                <a:latin typeface="Consolas"/>
                <a:ea typeface="Consolas"/>
                <a:cs typeface="Consolas"/>
                <a:sym typeface="Consolas"/>
              </a:rPr>
              <a:t>(</a:t>
            </a:r>
            <a:r>
              <a:rPr lang="en" sz="1600" b="1">
                <a:solidFill>
                  <a:srgbClr val="000066"/>
                </a:solidFill>
                <a:highlight>
                  <a:srgbClr val="EFEFEF"/>
                </a:highlight>
                <a:latin typeface="Consolas"/>
                <a:ea typeface="Consolas"/>
                <a:cs typeface="Consolas"/>
                <a:sym typeface="Consolas"/>
              </a:rPr>
              <a:t>char</a:t>
            </a:r>
            <a:r>
              <a:rPr lang="en" sz="1600">
                <a:solidFill>
                  <a:schemeClr val="dk1"/>
                </a:solidFill>
                <a:highlight>
                  <a:srgbClr val="EFEFEF"/>
                </a:highlight>
                <a:latin typeface="Consolas"/>
                <a:ea typeface="Consolas"/>
                <a:cs typeface="Consolas"/>
                <a:sym typeface="Consolas"/>
              </a:rPr>
              <a:t> c</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b="1">
                <a:solidFill>
                  <a:srgbClr val="000066"/>
                </a:solidFill>
                <a:highlight>
                  <a:srgbClr val="EFEFEF"/>
                </a:highlight>
                <a:latin typeface="Consolas"/>
                <a:ea typeface="Consolas"/>
                <a:cs typeface="Consolas"/>
                <a:sym typeface="Consolas"/>
              </a:rPr>
              <a:t>boolean</a:t>
            </a:r>
            <a:r>
              <a:rPr lang="en" sz="1600">
                <a:solidFill>
                  <a:schemeClr val="dk1"/>
                </a:solidFill>
                <a:highlight>
                  <a:srgbClr val="EFEFEF"/>
                </a:highlight>
                <a:latin typeface="Consolas"/>
                <a:ea typeface="Consolas"/>
                <a:cs typeface="Consolas"/>
                <a:sym typeface="Consolas"/>
              </a:rPr>
              <a:t> b</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b="1">
                <a:solidFill>
                  <a:srgbClr val="000066"/>
                </a:solidFill>
                <a:highlight>
                  <a:srgbClr val="EFEFEF"/>
                </a:highlight>
                <a:latin typeface="Consolas"/>
                <a:ea typeface="Consolas"/>
                <a:cs typeface="Consolas"/>
                <a:sym typeface="Consolas"/>
              </a:rPr>
              <a:t>int</a:t>
            </a:r>
            <a:r>
              <a:rPr lang="en" sz="1600">
                <a:solidFill>
                  <a:schemeClr val="dk1"/>
                </a:solidFill>
                <a:highlight>
                  <a:srgbClr val="EFEFEF"/>
                </a:highlight>
                <a:latin typeface="Consolas"/>
                <a:ea typeface="Consolas"/>
                <a:cs typeface="Consolas"/>
                <a:sym typeface="Consolas"/>
              </a:rPr>
              <a:t> R</a:t>
            </a:r>
            <a:r>
              <a:rPr lang="en" sz="1600" b="1">
                <a:solidFill>
                  <a:schemeClr val="dk1"/>
                </a:solidFill>
                <a:highlight>
                  <a:srgbClr val="EFEFEF"/>
                </a:highlight>
                <a:latin typeface="Consolas"/>
                <a:ea typeface="Consolas"/>
                <a:cs typeface="Consolas"/>
                <a:sym typeface="Consolas"/>
              </a:rPr>
              <a:t>) {</a:t>
            </a:r>
            <a:endParaRPr sz="1600" b="1">
              <a:solidFill>
                <a:schemeClr val="dk1"/>
              </a:solidFill>
              <a:highlight>
                <a:srgbClr val="EFEFEF"/>
              </a:highlight>
              <a:latin typeface="Consolas"/>
              <a:ea typeface="Consolas"/>
              <a:cs typeface="Consolas"/>
              <a:sym typeface="Consolas"/>
            </a:endParaRPr>
          </a:p>
          <a:p>
            <a:pPr marL="0" lvl="0" indent="0" algn="l" rtl="0">
              <a:spcBef>
                <a:spcPts val="0"/>
              </a:spcBef>
              <a:spcAft>
                <a:spcPts val="0"/>
              </a:spcAft>
              <a:buNone/>
            </a:pPr>
            <a:r>
              <a:rPr lang="en" sz="1600">
                <a:solidFill>
                  <a:schemeClr val="dk1"/>
                </a:solidFill>
                <a:highlight>
                  <a:srgbClr val="EFEFEF"/>
                </a:highlight>
                <a:latin typeface="Consolas"/>
                <a:ea typeface="Consolas"/>
                <a:cs typeface="Consolas"/>
                <a:sym typeface="Consolas"/>
              </a:rPr>
              <a:t>    ch </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c</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isKey </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b</a:t>
            </a:r>
            <a:r>
              <a:rPr lang="en" sz="1600" b="1">
                <a:solidFill>
                  <a:schemeClr val="dk1"/>
                </a:solidFill>
                <a:highlight>
                  <a:srgbClr val="EFEFEF"/>
                </a:highlight>
                <a:latin typeface="Consolas"/>
                <a:ea typeface="Consolas"/>
                <a:cs typeface="Consolas"/>
                <a:sym typeface="Consolas"/>
              </a:rPr>
              <a:t>;</a:t>
            </a:r>
            <a:endParaRPr sz="1600" b="1">
              <a:solidFill>
                <a:schemeClr val="dk1"/>
              </a:solidFill>
              <a:highlight>
                <a:srgbClr val="EFEFEF"/>
              </a:highlight>
              <a:latin typeface="Consolas"/>
              <a:ea typeface="Consolas"/>
              <a:cs typeface="Consolas"/>
              <a:sym typeface="Consolas"/>
            </a:endParaRPr>
          </a:p>
          <a:p>
            <a:pPr marL="0" lvl="0" indent="0" algn="l" rtl="0">
              <a:spcBef>
                <a:spcPts val="0"/>
              </a:spcBef>
              <a:spcAft>
                <a:spcPts val="0"/>
              </a:spcAft>
              <a:buNone/>
            </a:pPr>
            <a:r>
              <a:rPr lang="en" sz="1600">
                <a:solidFill>
                  <a:schemeClr val="dk1"/>
                </a:solidFill>
                <a:highlight>
                  <a:srgbClr val="EFEFEF"/>
                </a:highlight>
                <a:latin typeface="Consolas"/>
                <a:ea typeface="Consolas"/>
                <a:cs typeface="Consolas"/>
                <a:sym typeface="Consolas"/>
              </a:rPr>
              <a:t>    next </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new</a:t>
            </a:r>
            <a:r>
              <a:rPr lang="en" sz="1600">
                <a:solidFill>
                  <a:schemeClr val="dk1"/>
                </a:solidFill>
                <a:highlight>
                  <a:srgbClr val="EFEFEF"/>
                </a:highlight>
                <a:latin typeface="Consolas"/>
                <a:ea typeface="Consolas"/>
                <a:cs typeface="Consolas"/>
                <a:sym typeface="Consolas"/>
              </a:rPr>
              <a:t> DataIndexedCharMap</a:t>
            </a:r>
            <a:r>
              <a:rPr lang="en" sz="1600" b="1">
                <a:solidFill>
                  <a:schemeClr val="dk1"/>
                </a:solidFill>
                <a:highlight>
                  <a:srgbClr val="EFEFEF"/>
                </a:highlight>
                <a:latin typeface="Consolas"/>
                <a:ea typeface="Consolas"/>
                <a:cs typeface="Consolas"/>
                <a:sym typeface="Consolas"/>
              </a:rPr>
              <a:t>&lt;&gt;(</a:t>
            </a:r>
            <a:r>
              <a:rPr lang="en" sz="1600">
                <a:solidFill>
                  <a:schemeClr val="dk1"/>
                </a:solidFill>
                <a:highlight>
                  <a:srgbClr val="EFEFEF"/>
                </a:highlight>
                <a:latin typeface="Consolas"/>
                <a:ea typeface="Consolas"/>
                <a:cs typeface="Consolas"/>
                <a:sym typeface="Consolas"/>
              </a:rPr>
              <a:t>R</a:t>
            </a:r>
            <a:r>
              <a:rPr lang="en" sz="1600" b="1">
                <a:solidFill>
                  <a:schemeClr val="dk1"/>
                </a:solidFill>
                <a:highlight>
                  <a:srgbClr val="EFEFEF"/>
                </a:highlight>
                <a:latin typeface="Consolas"/>
                <a:ea typeface="Consolas"/>
                <a:cs typeface="Consolas"/>
                <a:sym typeface="Consolas"/>
              </a:rPr>
              <a:t>);</a:t>
            </a:r>
            <a:endParaRPr sz="1600" b="1">
              <a:solidFill>
                <a:schemeClr val="dk1"/>
              </a:solidFill>
              <a:highlight>
                <a:srgbClr val="EFEFEF"/>
              </a:highlight>
              <a:latin typeface="Consolas"/>
              <a:ea typeface="Consolas"/>
              <a:cs typeface="Consolas"/>
              <a:sym typeface="Consolas"/>
            </a:endParaRPr>
          </a:p>
          <a:p>
            <a:pPr marL="0" lvl="0" indent="0" algn="l" rtl="0">
              <a:spcBef>
                <a:spcPts val="0"/>
              </a:spcBef>
              <a:spcAft>
                <a:spcPts val="0"/>
              </a:spcAft>
              <a:buNone/>
            </a:pPr>
            <a:r>
              <a:rPr lang="en" sz="1600" b="1">
                <a:solidFill>
                  <a:schemeClr val="dk1"/>
                </a:solidFill>
                <a:highlight>
                  <a:srgbClr val="EFEFEF"/>
                </a:highlight>
                <a:latin typeface="Consolas"/>
                <a:ea typeface="Consolas"/>
                <a:cs typeface="Consolas"/>
                <a:sym typeface="Consolas"/>
              </a:rPr>
              <a:t>}</a:t>
            </a:r>
            <a:endParaRPr sz="1600">
              <a:solidFill>
                <a:schemeClr val="dk1"/>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endParaRPr sz="1600" b="1">
              <a:solidFill>
                <a:srgbClr val="661111"/>
              </a:solidFill>
              <a:highlight>
                <a:srgbClr val="EFEFEF"/>
              </a:highlight>
              <a:latin typeface="Consolas"/>
              <a:ea typeface="Consolas"/>
              <a:cs typeface="Consolas"/>
              <a:sym typeface="Consolas"/>
            </a:endParaRPr>
          </a:p>
        </p:txBody>
      </p:sp>
      <p:sp>
        <p:nvSpPr>
          <p:cNvPr id="632" name="Google Shape;632;p43"/>
          <p:cNvSpPr/>
          <p:nvPr/>
        </p:nvSpPr>
        <p:spPr>
          <a:xfrm>
            <a:off x="7115429" y="1437975"/>
            <a:ext cx="432900" cy="432900"/>
          </a:xfrm>
          <a:prstGeom prst="ellipse">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633" name="Google Shape;633;p43"/>
          <p:cNvSpPr/>
          <p:nvPr/>
        </p:nvSpPr>
        <p:spPr>
          <a:xfrm>
            <a:off x="8476775" y="2190896"/>
            <a:ext cx="432900" cy="432900"/>
          </a:xfrm>
          <a:prstGeom prst="ellipse">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sp>
        <p:nvSpPr>
          <p:cNvPr id="634" name="Google Shape;634;p43"/>
          <p:cNvSpPr/>
          <p:nvPr/>
        </p:nvSpPr>
        <p:spPr>
          <a:xfrm>
            <a:off x="8096200" y="3096848"/>
            <a:ext cx="432900" cy="432900"/>
          </a:xfrm>
          <a:prstGeom prst="ellipse">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635" name="Google Shape;635;p43"/>
          <p:cNvSpPr/>
          <p:nvPr/>
        </p:nvSpPr>
        <p:spPr>
          <a:xfrm>
            <a:off x="7563075" y="3857077"/>
            <a:ext cx="432900" cy="432900"/>
          </a:xfrm>
          <a:prstGeom prst="ellipse">
            <a:avLst/>
          </a:prstGeom>
          <a:solidFill>
            <a:srgbClr val="CFE2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d</a:t>
            </a:r>
            <a:endParaRPr sz="1800">
              <a:latin typeface="Consolas"/>
              <a:ea typeface="Consolas"/>
              <a:cs typeface="Consolas"/>
              <a:sym typeface="Consolas"/>
            </a:endParaRPr>
          </a:p>
        </p:txBody>
      </p:sp>
      <p:sp>
        <p:nvSpPr>
          <p:cNvPr id="636" name="Google Shape;636;p43"/>
          <p:cNvSpPr/>
          <p:nvPr/>
        </p:nvSpPr>
        <p:spPr>
          <a:xfrm>
            <a:off x="5855800" y="2190911"/>
            <a:ext cx="432900" cy="432900"/>
          </a:xfrm>
          <a:prstGeom prst="ellipse">
            <a:avLst/>
          </a:prstGeom>
          <a:solidFill>
            <a:srgbClr val="CFE2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637" name="Google Shape;637;p43"/>
          <p:cNvSpPr/>
          <p:nvPr/>
        </p:nvSpPr>
        <p:spPr>
          <a:xfrm>
            <a:off x="6495900" y="2824361"/>
            <a:ext cx="432900" cy="432900"/>
          </a:xfrm>
          <a:prstGeom prst="ellipse">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w</a:t>
            </a:r>
            <a:endParaRPr sz="1800">
              <a:latin typeface="Consolas"/>
              <a:ea typeface="Consolas"/>
              <a:cs typeface="Consolas"/>
              <a:sym typeface="Consolas"/>
            </a:endParaRPr>
          </a:p>
        </p:txBody>
      </p:sp>
      <p:sp>
        <p:nvSpPr>
          <p:cNvPr id="638" name="Google Shape;638;p43"/>
          <p:cNvSpPr/>
          <p:nvPr/>
        </p:nvSpPr>
        <p:spPr>
          <a:xfrm>
            <a:off x="6495900" y="3688236"/>
            <a:ext cx="432900" cy="432900"/>
          </a:xfrm>
          <a:prstGeom prst="ellipse">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l</a:t>
            </a:r>
            <a:endParaRPr sz="1800">
              <a:latin typeface="Consolas"/>
              <a:ea typeface="Consolas"/>
              <a:cs typeface="Consolas"/>
              <a:sym typeface="Consolas"/>
            </a:endParaRPr>
          </a:p>
        </p:txBody>
      </p:sp>
      <p:cxnSp>
        <p:nvCxnSpPr>
          <p:cNvPr id="639" name="Google Shape;639;p43"/>
          <p:cNvCxnSpPr>
            <a:stCxn id="632" idx="4"/>
            <a:endCxn id="633" idx="0"/>
          </p:cNvCxnSpPr>
          <p:nvPr/>
        </p:nvCxnSpPr>
        <p:spPr>
          <a:xfrm>
            <a:off x="7331879" y="1870875"/>
            <a:ext cx="1361400" cy="320100"/>
          </a:xfrm>
          <a:prstGeom prst="straightConnector1">
            <a:avLst/>
          </a:prstGeom>
          <a:noFill/>
          <a:ln w="28575" cap="flat" cmpd="sng">
            <a:solidFill>
              <a:srgbClr val="666666"/>
            </a:solidFill>
            <a:prstDash val="solid"/>
            <a:round/>
            <a:headEnd type="none" w="med" len="med"/>
            <a:tailEnd type="none" w="med" len="med"/>
          </a:ln>
        </p:spPr>
      </p:cxnSp>
      <p:cxnSp>
        <p:nvCxnSpPr>
          <p:cNvPr id="640" name="Google Shape;640;p43"/>
          <p:cNvCxnSpPr>
            <a:stCxn id="634" idx="4"/>
          </p:cNvCxnSpPr>
          <p:nvPr/>
        </p:nvCxnSpPr>
        <p:spPr>
          <a:xfrm>
            <a:off x="8312650" y="3529748"/>
            <a:ext cx="0" cy="202500"/>
          </a:xfrm>
          <a:prstGeom prst="straightConnector1">
            <a:avLst/>
          </a:prstGeom>
          <a:noFill/>
          <a:ln w="28575" cap="flat" cmpd="sng">
            <a:solidFill>
              <a:srgbClr val="666666"/>
            </a:solidFill>
            <a:prstDash val="solid"/>
            <a:round/>
            <a:headEnd type="none" w="med" len="med"/>
            <a:tailEnd type="none" w="med" len="med"/>
          </a:ln>
        </p:spPr>
      </p:cxnSp>
      <p:cxnSp>
        <p:nvCxnSpPr>
          <p:cNvPr id="641" name="Google Shape;641;p43"/>
          <p:cNvCxnSpPr>
            <a:stCxn id="634" idx="4"/>
          </p:cNvCxnSpPr>
          <p:nvPr/>
        </p:nvCxnSpPr>
        <p:spPr>
          <a:xfrm flipH="1">
            <a:off x="7684450" y="3529748"/>
            <a:ext cx="628200" cy="133800"/>
          </a:xfrm>
          <a:prstGeom prst="straightConnector1">
            <a:avLst/>
          </a:prstGeom>
          <a:noFill/>
          <a:ln w="28575" cap="flat" cmpd="sng">
            <a:solidFill>
              <a:srgbClr val="666666"/>
            </a:solidFill>
            <a:prstDash val="solid"/>
            <a:round/>
            <a:headEnd type="none" w="med" len="med"/>
            <a:tailEnd type="none" w="med" len="med"/>
          </a:ln>
        </p:spPr>
      </p:cxnSp>
      <p:cxnSp>
        <p:nvCxnSpPr>
          <p:cNvPr id="642" name="Google Shape;642;p43"/>
          <p:cNvCxnSpPr>
            <a:stCxn id="632" idx="4"/>
          </p:cNvCxnSpPr>
          <p:nvPr/>
        </p:nvCxnSpPr>
        <p:spPr>
          <a:xfrm flipH="1">
            <a:off x="6072179" y="1870875"/>
            <a:ext cx="1259700" cy="320100"/>
          </a:xfrm>
          <a:prstGeom prst="straightConnector1">
            <a:avLst/>
          </a:prstGeom>
          <a:noFill/>
          <a:ln w="28575" cap="flat" cmpd="sng">
            <a:solidFill>
              <a:srgbClr val="666666"/>
            </a:solidFill>
            <a:prstDash val="solid"/>
            <a:round/>
            <a:headEnd type="none" w="med" len="med"/>
            <a:tailEnd type="none" w="med" len="med"/>
          </a:ln>
        </p:spPr>
      </p:cxnSp>
      <p:cxnSp>
        <p:nvCxnSpPr>
          <p:cNvPr id="643" name="Google Shape;643;p43"/>
          <p:cNvCxnSpPr/>
          <p:nvPr/>
        </p:nvCxnSpPr>
        <p:spPr>
          <a:xfrm>
            <a:off x="6072250" y="2623811"/>
            <a:ext cx="0" cy="202500"/>
          </a:xfrm>
          <a:prstGeom prst="straightConnector1">
            <a:avLst/>
          </a:prstGeom>
          <a:noFill/>
          <a:ln w="28575" cap="flat" cmpd="sng">
            <a:solidFill>
              <a:srgbClr val="666666"/>
            </a:solidFill>
            <a:prstDash val="solid"/>
            <a:round/>
            <a:headEnd type="none" w="med" len="med"/>
            <a:tailEnd type="none" w="med" len="med"/>
          </a:ln>
        </p:spPr>
      </p:cxnSp>
      <p:cxnSp>
        <p:nvCxnSpPr>
          <p:cNvPr id="644" name="Google Shape;644;p43"/>
          <p:cNvCxnSpPr>
            <a:endCxn id="638" idx="0"/>
          </p:cNvCxnSpPr>
          <p:nvPr/>
        </p:nvCxnSpPr>
        <p:spPr>
          <a:xfrm>
            <a:off x="6709050" y="3282936"/>
            <a:ext cx="3300" cy="405300"/>
          </a:xfrm>
          <a:prstGeom prst="straightConnector1">
            <a:avLst/>
          </a:prstGeom>
          <a:noFill/>
          <a:ln w="28575" cap="flat" cmpd="sng">
            <a:solidFill>
              <a:srgbClr val="666666"/>
            </a:solidFill>
            <a:prstDash val="solid"/>
            <a:round/>
            <a:headEnd type="none" w="med" len="med"/>
            <a:tailEnd type="none" w="med" len="med"/>
          </a:ln>
        </p:spPr>
      </p:cxnSp>
      <p:cxnSp>
        <p:nvCxnSpPr>
          <p:cNvPr id="645" name="Google Shape;645;p43"/>
          <p:cNvCxnSpPr>
            <a:stCxn id="632" idx="4"/>
          </p:cNvCxnSpPr>
          <p:nvPr/>
        </p:nvCxnSpPr>
        <p:spPr>
          <a:xfrm flipH="1">
            <a:off x="7026479" y="1870875"/>
            <a:ext cx="305400" cy="324600"/>
          </a:xfrm>
          <a:prstGeom prst="straightConnector1">
            <a:avLst/>
          </a:prstGeom>
          <a:noFill/>
          <a:ln w="28575" cap="flat" cmpd="sng">
            <a:solidFill>
              <a:srgbClr val="666666"/>
            </a:solidFill>
            <a:prstDash val="solid"/>
            <a:round/>
            <a:headEnd type="none" w="med" len="med"/>
            <a:tailEnd type="none" w="med" len="med"/>
          </a:ln>
        </p:spPr>
      </p:cxnSp>
      <p:cxnSp>
        <p:nvCxnSpPr>
          <p:cNvPr id="646" name="Google Shape;646;p43"/>
          <p:cNvCxnSpPr>
            <a:stCxn id="632" idx="4"/>
          </p:cNvCxnSpPr>
          <p:nvPr/>
        </p:nvCxnSpPr>
        <p:spPr>
          <a:xfrm>
            <a:off x="7331879" y="1870875"/>
            <a:ext cx="317700" cy="300300"/>
          </a:xfrm>
          <a:prstGeom prst="straightConnector1">
            <a:avLst/>
          </a:prstGeom>
          <a:noFill/>
          <a:ln w="28575" cap="flat" cmpd="sng">
            <a:solidFill>
              <a:srgbClr val="666666"/>
            </a:solidFill>
            <a:prstDash val="solid"/>
            <a:round/>
            <a:headEnd type="none" w="med" len="med"/>
            <a:tailEnd type="none" w="med" len="med"/>
          </a:ln>
        </p:spPr>
      </p:cxnSp>
      <p:cxnSp>
        <p:nvCxnSpPr>
          <p:cNvPr id="647" name="Google Shape;647;p43"/>
          <p:cNvCxnSpPr>
            <a:stCxn id="632" idx="4"/>
          </p:cNvCxnSpPr>
          <p:nvPr/>
        </p:nvCxnSpPr>
        <p:spPr>
          <a:xfrm>
            <a:off x="7331879" y="1870875"/>
            <a:ext cx="48900" cy="361500"/>
          </a:xfrm>
          <a:prstGeom prst="straightConnector1">
            <a:avLst/>
          </a:prstGeom>
          <a:noFill/>
          <a:ln w="28575" cap="flat" cmpd="sng">
            <a:solidFill>
              <a:srgbClr val="666666"/>
            </a:solidFill>
            <a:prstDash val="solid"/>
            <a:round/>
            <a:headEnd type="none" w="med" len="med"/>
            <a:tailEnd type="none" w="med" len="med"/>
          </a:ln>
        </p:spPr>
      </p:cxnSp>
      <p:cxnSp>
        <p:nvCxnSpPr>
          <p:cNvPr id="648" name="Google Shape;648;p43"/>
          <p:cNvCxnSpPr>
            <a:stCxn id="632" idx="4"/>
          </p:cNvCxnSpPr>
          <p:nvPr/>
        </p:nvCxnSpPr>
        <p:spPr>
          <a:xfrm flipH="1">
            <a:off x="7222079" y="1870875"/>
            <a:ext cx="109800" cy="336900"/>
          </a:xfrm>
          <a:prstGeom prst="straightConnector1">
            <a:avLst/>
          </a:prstGeom>
          <a:noFill/>
          <a:ln w="28575" cap="flat" cmpd="sng">
            <a:solidFill>
              <a:srgbClr val="666666"/>
            </a:solidFill>
            <a:prstDash val="solid"/>
            <a:round/>
            <a:headEnd type="none" w="med" len="med"/>
            <a:tailEnd type="none" w="med" len="med"/>
          </a:ln>
        </p:spPr>
      </p:cxnSp>
      <p:cxnSp>
        <p:nvCxnSpPr>
          <p:cNvPr id="649" name="Google Shape;649;p43"/>
          <p:cNvCxnSpPr>
            <a:stCxn id="632" idx="4"/>
          </p:cNvCxnSpPr>
          <p:nvPr/>
        </p:nvCxnSpPr>
        <p:spPr>
          <a:xfrm flipH="1">
            <a:off x="6831179" y="1870875"/>
            <a:ext cx="500700" cy="300300"/>
          </a:xfrm>
          <a:prstGeom prst="straightConnector1">
            <a:avLst/>
          </a:prstGeom>
          <a:noFill/>
          <a:ln w="28575" cap="flat" cmpd="sng">
            <a:solidFill>
              <a:srgbClr val="666666"/>
            </a:solidFill>
            <a:prstDash val="solid"/>
            <a:round/>
            <a:headEnd type="none" w="med" len="med"/>
            <a:tailEnd type="none" w="med" len="med"/>
          </a:ln>
        </p:spPr>
      </p:cxnSp>
      <p:cxnSp>
        <p:nvCxnSpPr>
          <p:cNvPr id="650" name="Google Shape;650;p43"/>
          <p:cNvCxnSpPr>
            <a:stCxn id="632" idx="4"/>
          </p:cNvCxnSpPr>
          <p:nvPr/>
        </p:nvCxnSpPr>
        <p:spPr>
          <a:xfrm>
            <a:off x="7331879" y="1870875"/>
            <a:ext cx="391200" cy="227100"/>
          </a:xfrm>
          <a:prstGeom prst="straightConnector1">
            <a:avLst/>
          </a:prstGeom>
          <a:noFill/>
          <a:ln w="28575" cap="flat" cmpd="sng">
            <a:solidFill>
              <a:srgbClr val="666666"/>
            </a:solidFill>
            <a:prstDash val="solid"/>
            <a:round/>
            <a:headEnd type="none" w="med" len="med"/>
            <a:tailEnd type="none" w="med" len="med"/>
          </a:ln>
        </p:spPr>
      </p:cxnSp>
      <p:cxnSp>
        <p:nvCxnSpPr>
          <p:cNvPr id="651" name="Google Shape;651;p43"/>
          <p:cNvCxnSpPr/>
          <p:nvPr/>
        </p:nvCxnSpPr>
        <p:spPr>
          <a:xfrm flipH="1">
            <a:off x="5913696" y="2641795"/>
            <a:ext cx="145200" cy="317700"/>
          </a:xfrm>
          <a:prstGeom prst="straightConnector1">
            <a:avLst/>
          </a:prstGeom>
          <a:noFill/>
          <a:ln w="28575" cap="flat" cmpd="sng">
            <a:solidFill>
              <a:srgbClr val="666666"/>
            </a:solidFill>
            <a:prstDash val="solid"/>
            <a:round/>
            <a:headEnd type="none" w="med" len="med"/>
            <a:tailEnd type="none" w="med" len="med"/>
          </a:ln>
        </p:spPr>
      </p:cxnSp>
      <p:cxnSp>
        <p:nvCxnSpPr>
          <p:cNvPr id="652" name="Google Shape;652;p43"/>
          <p:cNvCxnSpPr/>
          <p:nvPr/>
        </p:nvCxnSpPr>
        <p:spPr>
          <a:xfrm flipH="1">
            <a:off x="5801796" y="2641795"/>
            <a:ext cx="257100" cy="200400"/>
          </a:xfrm>
          <a:prstGeom prst="straightConnector1">
            <a:avLst/>
          </a:prstGeom>
          <a:noFill/>
          <a:ln w="28575" cap="flat" cmpd="sng">
            <a:solidFill>
              <a:srgbClr val="666666"/>
            </a:solidFill>
            <a:prstDash val="solid"/>
            <a:round/>
            <a:headEnd type="none" w="med" len="med"/>
            <a:tailEnd type="none" w="med" len="med"/>
          </a:ln>
        </p:spPr>
      </p:cxnSp>
      <p:cxnSp>
        <p:nvCxnSpPr>
          <p:cNvPr id="653" name="Google Shape;653;p43"/>
          <p:cNvCxnSpPr/>
          <p:nvPr/>
        </p:nvCxnSpPr>
        <p:spPr>
          <a:xfrm>
            <a:off x="6058896" y="2641795"/>
            <a:ext cx="317700" cy="300300"/>
          </a:xfrm>
          <a:prstGeom prst="straightConnector1">
            <a:avLst/>
          </a:prstGeom>
          <a:noFill/>
          <a:ln w="28575" cap="flat" cmpd="sng">
            <a:solidFill>
              <a:srgbClr val="666666"/>
            </a:solidFill>
            <a:prstDash val="solid"/>
            <a:round/>
            <a:headEnd type="none" w="med" len="med"/>
            <a:tailEnd type="none" w="med" len="med"/>
          </a:ln>
        </p:spPr>
      </p:cxnSp>
      <p:cxnSp>
        <p:nvCxnSpPr>
          <p:cNvPr id="654" name="Google Shape;654;p43"/>
          <p:cNvCxnSpPr>
            <a:endCxn id="637" idx="0"/>
          </p:cNvCxnSpPr>
          <p:nvPr/>
        </p:nvCxnSpPr>
        <p:spPr>
          <a:xfrm>
            <a:off x="6058950" y="2641661"/>
            <a:ext cx="653400" cy="182700"/>
          </a:xfrm>
          <a:prstGeom prst="straightConnector1">
            <a:avLst/>
          </a:prstGeom>
          <a:noFill/>
          <a:ln w="28575" cap="flat" cmpd="sng">
            <a:solidFill>
              <a:srgbClr val="666666"/>
            </a:solidFill>
            <a:prstDash val="solid"/>
            <a:round/>
            <a:headEnd type="none" w="med" len="med"/>
            <a:tailEnd type="none" w="med" len="med"/>
          </a:ln>
        </p:spPr>
      </p:cxnSp>
      <p:grpSp>
        <p:nvGrpSpPr>
          <p:cNvPr id="655" name="Google Shape;655;p43"/>
          <p:cNvGrpSpPr/>
          <p:nvPr/>
        </p:nvGrpSpPr>
        <p:grpSpPr>
          <a:xfrm>
            <a:off x="6210514" y="3261788"/>
            <a:ext cx="891900" cy="324600"/>
            <a:chOff x="4872396" y="2413195"/>
            <a:chExt cx="891900" cy="324600"/>
          </a:xfrm>
        </p:grpSpPr>
        <p:cxnSp>
          <p:nvCxnSpPr>
            <p:cNvPr id="656" name="Google Shape;656;p43"/>
            <p:cNvCxnSpPr/>
            <p:nvPr/>
          </p:nvCxnSpPr>
          <p:spPr>
            <a:xfrm flipH="1">
              <a:off x="5067696" y="2413195"/>
              <a:ext cx="305400" cy="324600"/>
            </a:xfrm>
            <a:prstGeom prst="straightConnector1">
              <a:avLst/>
            </a:prstGeom>
            <a:noFill/>
            <a:ln w="28575" cap="flat" cmpd="sng">
              <a:solidFill>
                <a:srgbClr val="666666"/>
              </a:solidFill>
              <a:prstDash val="solid"/>
              <a:round/>
              <a:headEnd type="none" w="med" len="med"/>
              <a:tailEnd type="none" w="med" len="med"/>
            </a:ln>
          </p:spPr>
        </p:cxnSp>
        <p:cxnSp>
          <p:nvCxnSpPr>
            <p:cNvPr id="657" name="Google Shape;657;p43"/>
            <p:cNvCxnSpPr/>
            <p:nvPr/>
          </p:nvCxnSpPr>
          <p:spPr>
            <a:xfrm flipH="1">
              <a:off x="4872396" y="2413195"/>
              <a:ext cx="500700" cy="300300"/>
            </a:xfrm>
            <a:prstGeom prst="straightConnector1">
              <a:avLst/>
            </a:prstGeom>
            <a:noFill/>
            <a:ln w="28575" cap="flat" cmpd="sng">
              <a:solidFill>
                <a:srgbClr val="666666"/>
              </a:solidFill>
              <a:prstDash val="solid"/>
              <a:round/>
              <a:headEnd type="none" w="med" len="med"/>
              <a:tailEnd type="none" w="med" len="med"/>
            </a:ln>
          </p:spPr>
        </p:cxnSp>
        <p:cxnSp>
          <p:nvCxnSpPr>
            <p:cNvPr id="658" name="Google Shape;658;p43"/>
            <p:cNvCxnSpPr/>
            <p:nvPr/>
          </p:nvCxnSpPr>
          <p:spPr>
            <a:xfrm>
              <a:off x="5373096" y="2413195"/>
              <a:ext cx="317700" cy="300300"/>
            </a:xfrm>
            <a:prstGeom prst="straightConnector1">
              <a:avLst/>
            </a:prstGeom>
            <a:noFill/>
            <a:ln w="28575" cap="flat" cmpd="sng">
              <a:solidFill>
                <a:srgbClr val="666666"/>
              </a:solidFill>
              <a:prstDash val="solid"/>
              <a:round/>
              <a:headEnd type="none" w="med" len="med"/>
              <a:tailEnd type="none" w="med" len="med"/>
            </a:ln>
          </p:spPr>
        </p:cxnSp>
        <p:cxnSp>
          <p:nvCxnSpPr>
            <p:cNvPr id="659" name="Google Shape;659;p43"/>
            <p:cNvCxnSpPr/>
            <p:nvPr/>
          </p:nvCxnSpPr>
          <p:spPr>
            <a:xfrm>
              <a:off x="5373096" y="2413195"/>
              <a:ext cx="391200" cy="227100"/>
            </a:xfrm>
            <a:prstGeom prst="straightConnector1">
              <a:avLst/>
            </a:prstGeom>
            <a:noFill/>
            <a:ln w="28575" cap="flat" cmpd="sng">
              <a:solidFill>
                <a:srgbClr val="666666"/>
              </a:solidFill>
              <a:prstDash val="solid"/>
              <a:round/>
              <a:headEnd type="none" w="med" len="med"/>
              <a:tailEnd type="none" w="med" len="med"/>
            </a:ln>
          </p:spPr>
        </p:cxnSp>
      </p:grpSp>
      <p:sp>
        <p:nvSpPr>
          <p:cNvPr id="660" name="Google Shape;660;p43"/>
          <p:cNvSpPr txBox="1"/>
          <p:nvPr/>
        </p:nvSpPr>
        <p:spPr>
          <a:xfrm>
            <a:off x="6485500" y="1719125"/>
            <a:ext cx="212400" cy="20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a:t>
            </a:r>
            <a:endParaRPr/>
          </a:p>
        </p:txBody>
      </p:sp>
      <p:sp>
        <p:nvSpPr>
          <p:cNvPr id="661" name="Google Shape;661;p43"/>
          <p:cNvSpPr txBox="1"/>
          <p:nvPr/>
        </p:nvSpPr>
        <p:spPr>
          <a:xfrm>
            <a:off x="8128425" y="1719125"/>
            <a:ext cx="212400" cy="20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a:t>
            </a:r>
            <a:endParaRPr/>
          </a:p>
        </p:txBody>
      </p:sp>
      <p:cxnSp>
        <p:nvCxnSpPr>
          <p:cNvPr id="662" name="Google Shape;662;p43"/>
          <p:cNvCxnSpPr/>
          <p:nvPr/>
        </p:nvCxnSpPr>
        <p:spPr>
          <a:xfrm flipH="1">
            <a:off x="8663809" y="2628759"/>
            <a:ext cx="26400" cy="324300"/>
          </a:xfrm>
          <a:prstGeom prst="straightConnector1">
            <a:avLst/>
          </a:prstGeom>
          <a:noFill/>
          <a:ln w="28575" cap="flat" cmpd="sng">
            <a:solidFill>
              <a:srgbClr val="666666"/>
            </a:solidFill>
            <a:prstDash val="solid"/>
            <a:round/>
            <a:headEnd type="none" w="med" len="med"/>
            <a:tailEnd type="none" w="med" len="med"/>
          </a:ln>
        </p:spPr>
      </p:cxnSp>
      <p:cxnSp>
        <p:nvCxnSpPr>
          <p:cNvPr id="663" name="Google Shape;663;p43"/>
          <p:cNvCxnSpPr>
            <a:stCxn id="633" idx="4"/>
            <a:endCxn id="634" idx="0"/>
          </p:cNvCxnSpPr>
          <p:nvPr/>
        </p:nvCxnSpPr>
        <p:spPr>
          <a:xfrm flipH="1">
            <a:off x="8312525" y="2623796"/>
            <a:ext cx="380700" cy="473100"/>
          </a:xfrm>
          <a:prstGeom prst="straightConnector1">
            <a:avLst/>
          </a:prstGeom>
          <a:noFill/>
          <a:ln w="28575" cap="flat" cmpd="sng">
            <a:solidFill>
              <a:srgbClr val="666666"/>
            </a:solidFill>
            <a:prstDash val="solid"/>
            <a:round/>
            <a:headEnd type="none" w="med" len="med"/>
            <a:tailEnd type="none" w="med" len="med"/>
          </a:ln>
        </p:spPr>
      </p:cxnSp>
      <p:cxnSp>
        <p:nvCxnSpPr>
          <p:cNvPr id="664" name="Google Shape;664;p43"/>
          <p:cNvCxnSpPr/>
          <p:nvPr/>
        </p:nvCxnSpPr>
        <p:spPr>
          <a:xfrm>
            <a:off x="8690209" y="2628759"/>
            <a:ext cx="317700" cy="300300"/>
          </a:xfrm>
          <a:prstGeom prst="straightConnector1">
            <a:avLst/>
          </a:prstGeom>
          <a:noFill/>
          <a:ln w="28575" cap="flat" cmpd="sng">
            <a:solidFill>
              <a:srgbClr val="666666"/>
            </a:solidFill>
            <a:prstDash val="solid"/>
            <a:round/>
            <a:headEnd type="none" w="med" len="med"/>
            <a:tailEnd type="none" w="med" len="med"/>
          </a:ln>
        </p:spPr>
      </p:cxnSp>
      <p:cxnSp>
        <p:nvCxnSpPr>
          <p:cNvPr id="665" name="Google Shape;665;p43"/>
          <p:cNvCxnSpPr/>
          <p:nvPr/>
        </p:nvCxnSpPr>
        <p:spPr>
          <a:xfrm>
            <a:off x="8690209" y="2628759"/>
            <a:ext cx="391200" cy="227100"/>
          </a:xfrm>
          <a:prstGeom prst="straightConnector1">
            <a:avLst/>
          </a:prstGeom>
          <a:noFill/>
          <a:ln w="28575" cap="flat" cmpd="sng">
            <a:solidFill>
              <a:srgbClr val="666666"/>
            </a:solidFill>
            <a:prstDash val="solid"/>
            <a:round/>
            <a:headEnd type="none" w="med" len="med"/>
            <a:tailEnd type="none" w="med" len="med"/>
          </a:ln>
        </p:spPr>
      </p:cxnSp>
      <p:cxnSp>
        <p:nvCxnSpPr>
          <p:cNvPr id="666" name="Google Shape;666;p43"/>
          <p:cNvCxnSpPr/>
          <p:nvPr/>
        </p:nvCxnSpPr>
        <p:spPr>
          <a:xfrm flipH="1">
            <a:off x="8067092" y="3527437"/>
            <a:ext cx="250200" cy="265800"/>
          </a:xfrm>
          <a:prstGeom prst="straightConnector1">
            <a:avLst/>
          </a:prstGeom>
          <a:noFill/>
          <a:ln w="28575" cap="flat" cmpd="sng">
            <a:solidFill>
              <a:srgbClr val="666666"/>
            </a:solidFill>
            <a:prstDash val="solid"/>
            <a:round/>
            <a:headEnd type="none" w="med" len="med"/>
            <a:tailEnd type="none" w="med" len="med"/>
          </a:ln>
        </p:spPr>
      </p:cxnSp>
      <p:cxnSp>
        <p:nvCxnSpPr>
          <p:cNvPr id="667" name="Google Shape;667;p43"/>
          <p:cNvCxnSpPr>
            <a:endCxn id="635" idx="0"/>
          </p:cNvCxnSpPr>
          <p:nvPr/>
        </p:nvCxnSpPr>
        <p:spPr>
          <a:xfrm flipH="1">
            <a:off x="7779525" y="3527377"/>
            <a:ext cx="537900" cy="329700"/>
          </a:xfrm>
          <a:prstGeom prst="straightConnector1">
            <a:avLst/>
          </a:prstGeom>
          <a:noFill/>
          <a:ln w="28575" cap="flat" cmpd="sng">
            <a:solidFill>
              <a:srgbClr val="666666"/>
            </a:solidFill>
            <a:prstDash val="solid"/>
            <a:round/>
            <a:headEnd type="none" w="med" len="med"/>
            <a:tailEnd type="none" w="med" len="med"/>
          </a:ln>
        </p:spPr>
      </p:cxnSp>
      <p:cxnSp>
        <p:nvCxnSpPr>
          <p:cNvPr id="668" name="Google Shape;668;p43"/>
          <p:cNvCxnSpPr/>
          <p:nvPr/>
        </p:nvCxnSpPr>
        <p:spPr>
          <a:xfrm>
            <a:off x="8317292" y="3527437"/>
            <a:ext cx="260100" cy="246000"/>
          </a:xfrm>
          <a:prstGeom prst="straightConnector1">
            <a:avLst/>
          </a:prstGeom>
          <a:noFill/>
          <a:ln w="28575" cap="flat" cmpd="sng">
            <a:solidFill>
              <a:srgbClr val="666666"/>
            </a:solidFill>
            <a:prstDash val="solid"/>
            <a:round/>
            <a:headEnd type="none" w="med" len="med"/>
            <a:tailEnd type="none" w="med" len="med"/>
          </a:ln>
        </p:spPr>
      </p:cxnSp>
      <p:cxnSp>
        <p:nvCxnSpPr>
          <p:cNvPr id="669" name="Google Shape;669;p43"/>
          <p:cNvCxnSpPr/>
          <p:nvPr/>
        </p:nvCxnSpPr>
        <p:spPr>
          <a:xfrm>
            <a:off x="8317292" y="3527437"/>
            <a:ext cx="320400" cy="186000"/>
          </a:xfrm>
          <a:prstGeom prst="straightConnector1">
            <a:avLst/>
          </a:prstGeom>
          <a:noFill/>
          <a:ln w="28575" cap="flat" cmpd="sng">
            <a:solidFill>
              <a:srgbClr val="666666"/>
            </a:solidFill>
            <a:prstDash val="solid"/>
            <a:round/>
            <a:headEnd type="none" w="med" len="med"/>
            <a:tailEnd type="none" w="med" len="med"/>
          </a:ln>
        </p:spPr>
      </p:cxnSp>
      <p:grpSp>
        <p:nvGrpSpPr>
          <p:cNvPr id="670" name="Google Shape;670;p43"/>
          <p:cNvGrpSpPr/>
          <p:nvPr/>
        </p:nvGrpSpPr>
        <p:grpSpPr>
          <a:xfrm>
            <a:off x="7365812" y="4294293"/>
            <a:ext cx="730377" cy="265815"/>
            <a:chOff x="4872396" y="2413195"/>
            <a:chExt cx="891900" cy="324600"/>
          </a:xfrm>
        </p:grpSpPr>
        <p:cxnSp>
          <p:nvCxnSpPr>
            <p:cNvPr id="671" name="Google Shape;671;p43"/>
            <p:cNvCxnSpPr/>
            <p:nvPr/>
          </p:nvCxnSpPr>
          <p:spPr>
            <a:xfrm flipH="1">
              <a:off x="5067696" y="2413195"/>
              <a:ext cx="305400" cy="324600"/>
            </a:xfrm>
            <a:prstGeom prst="straightConnector1">
              <a:avLst/>
            </a:prstGeom>
            <a:noFill/>
            <a:ln w="28575" cap="flat" cmpd="sng">
              <a:solidFill>
                <a:srgbClr val="666666"/>
              </a:solidFill>
              <a:prstDash val="solid"/>
              <a:round/>
              <a:headEnd type="none" w="med" len="med"/>
              <a:tailEnd type="none" w="med" len="med"/>
            </a:ln>
          </p:spPr>
        </p:cxnSp>
        <p:cxnSp>
          <p:nvCxnSpPr>
            <p:cNvPr id="672" name="Google Shape;672;p43"/>
            <p:cNvCxnSpPr/>
            <p:nvPr/>
          </p:nvCxnSpPr>
          <p:spPr>
            <a:xfrm flipH="1">
              <a:off x="4872396" y="2413195"/>
              <a:ext cx="500700" cy="300300"/>
            </a:xfrm>
            <a:prstGeom prst="straightConnector1">
              <a:avLst/>
            </a:prstGeom>
            <a:noFill/>
            <a:ln w="28575" cap="flat" cmpd="sng">
              <a:solidFill>
                <a:srgbClr val="666666"/>
              </a:solidFill>
              <a:prstDash val="solid"/>
              <a:round/>
              <a:headEnd type="none" w="med" len="med"/>
              <a:tailEnd type="none" w="med" len="med"/>
            </a:ln>
          </p:spPr>
        </p:cxnSp>
        <p:cxnSp>
          <p:nvCxnSpPr>
            <p:cNvPr id="673" name="Google Shape;673;p43"/>
            <p:cNvCxnSpPr/>
            <p:nvPr/>
          </p:nvCxnSpPr>
          <p:spPr>
            <a:xfrm>
              <a:off x="5373096" y="2413195"/>
              <a:ext cx="317700" cy="300300"/>
            </a:xfrm>
            <a:prstGeom prst="straightConnector1">
              <a:avLst/>
            </a:prstGeom>
            <a:noFill/>
            <a:ln w="28575" cap="flat" cmpd="sng">
              <a:solidFill>
                <a:srgbClr val="666666"/>
              </a:solidFill>
              <a:prstDash val="solid"/>
              <a:round/>
              <a:headEnd type="none" w="med" len="med"/>
              <a:tailEnd type="none" w="med" len="med"/>
            </a:ln>
          </p:spPr>
        </p:cxnSp>
        <p:cxnSp>
          <p:nvCxnSpPr>
            <p:cNvPr id="674" name="Google Shape;674;p43"/>
            <p:cNvCxnSpPr/>
            <p:nvPr/>
          </p:nvCxnSpPr>
          <p:spPr>
            <a:xfrm>
              <a:off x="5373096" y="2413195"/>
              <a:ext cx="391200" cy="227100"/>
            </a:xfrm>
            <a:prstGeom prst="straightConnector1">
              <a:avLst/>
            </a:prstGeom>
            <a:noFill/>
            <a:ln w="28575" cap="flat" cmpd="sng">
              <a:solidFill>
                <a:srgbClr val="666666"/>
              </a:solidFill>
              <a:prstDash val="solid"/>
              <a:round/>
              <a:headEnd type="none" w="med" len="med"/>
              <a:tailEnd type="none" w="med" len="med"/>
            </a:ln>
          </p:spPr>
        </p:cxnSp>
      </p:grpSp>
      <p:cxnSp>
        <p:nvCxnSpPr>
          <p:cNvPr id="675" name="Google Shape;675;p43"/>
          <p:cNvCxnSpPr/>
          <p:nvPr/>
        </p:nvCxnSpPr>
        <p:spPr>
          <a:xfrm>
            <a:off x="7771017" y="4291627"/>
            <a:ext cx="0" cy="165900"/>
          </a:xfrm>
          <a:prstGeom prst="straightConnector1">
            <a:avLst/>
          </a:prstGeom>
          <a:noFill/>
          <a:ln w="28575" cap="flat" cmpd="sng">
            <a:solidFill>
              <a:srgbClr val="666666"/>
            </a:solidFill>
            <a:prstDash val="solid"/>
            <a:round/>
            <a:headEnd type="none" w="med" len="med"/>
            <a:tailEnd type="none" w="med" len="med"/>
          </a:ln>
        </p:spPr>
      </p:cxnSp>
      <p:cxnSp>
        <p:nvCxnSpPr>
          <p:cNvPr id="676" name="Google Shape;676;p43"/>
          <p:cNvCxnSpPr>
            <a:stCxn id="633" idx="4"/>
          </p:cNvCxnSpPr>
          <p:nvPr/>
        </p:nvCxnSpPr>
        <p:spPr>
          <a:xfrm>
            <a:off x="8693225" y="2623796"/>
            <a:ext cx="117000" cy="304800"/>
          </a:xfrm>
          <a:prstGeom prst="straightConnector1">
            <a:avLst/>
          </a:prstGeom>
          <a:noFill/>
          <a:ln w="28575" cap="flat" cmpd="sng">
            <a:solidFill>
              <a:srgbClr val="666666"/>
            </a:solidFill>
            <a:prstDash val="solid"/>
            <a:round/>
            <a:headEnd type="none" w="med" len="med"/>
            <a:tailEnd type="none" w="med" len="med"/>
          </a:ln>
        </p:spPr>
      </p:cxnSp>
      <p:sp>
        <p:nvSpPr>
          <p:cNvPr id="677" name="Google Shape;677;p43"/>
          <p:cNvSpPr txBox="1"/>
          <p:nvPr/>
        </p:nvSpPr>
        <p:spPr>
          <a:xfrm>
            <a:off x="8208775" y="2656950"/>
            <a:ext cx="212400" cy="18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a:t>
            </a:r>
            <a:endParaRPr/>
          </a:p>
        </p:txBody>
      </p:sp>
      <p:sp>
        <p:nvSpPr>
          <p:cNvPr id="678" name="Google Shape;678;p43"/>
          <p:cNvSpPr txBox="1"/>
          <p:nvPr/>
        </p:nvSpPr>
        <p:spPr>
          <a:xfrm>
            <a:off x="7661108" y="3532960"/>
            <a:ext cx="212400" cy="18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d</a:t>
            </a:r>
            <a:endParaRPr/>
          </a:p>
        </p:txBody>
      </p:sp>
      <p:sp>
        <p:nvSpPr>
          <p:cNvPr id="679" name="Google Shape;679;p43"/>
          <p:cNvSpPr txBox="1"/>
          <p:nvPr/>
        </p:nvSpPr>
        <p:spPr>
          <a:xfrm>
            <a:off x="6409300" y="2436975"/>
            <a:ext cx="212400" cy="20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w</a:t>
            </a:r>
            <a:endParaRPr/>
          </a:p>
        </p:txBody>
      </p:sp>
      <p:sp>
        <p:nvSpPr>
          <p:cNvPr id="680" name="Google Shape;680;p43"/>
          <p:cNvSpPr txBox="1"/>
          <p:nvPr/>
        </p:nvSpPr>
        <p:spPr>
          <a:xfrm>
            <a:off x="6702145" y="3360656"/>
            <a:ext cx="212400" cy="20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l</a:t>
            </a:r>
            <a:endParaRPr/>
          </a:p>
        </p:txBody>
      </p:sp>
      <p:sp>
        <p:nvSpPr>
          <p:cNvPr id="681" name="Google Shape;681;p43"/>
          <p:cNvSpPr txBox="1"/>
          <p:nvPr/>
        </p:nvSpPr>
        <p:spPr>
          <a:xfrm>
            <a:off x="5974975" y="2777400"/>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682" name="Google Shape;682;p43"/>
          <p:cNvSpPr txBox="1"/>
          <p:nvPr/>
        </p:nvSpPr>
        <p:spPr>
          <a:xfrm>
            <a:off x="6452325" y="4402800"/>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grpSp>
        <p:nvGrpSpPr>
          <p:cNvPr id="683" name="Google Shape;683;p43"/>
          <p:cNvGrpSpPr/>
          <p:nvPr/>
        </p:nvGrpSpPr>
        <p:grpSpPr>
          <a:xfrm>
            <a:off x="6304691" y="4129057"/>
            <a:ext cx="730377" cy="265815"/>
            <a:chOff x="4872396" y="2413195"/>
            <a:chExt cx="891900" cy="324600"/>
          </a:xfrm>
        </p:grpSpPr>
        <p:cxnSp>
          <p:nvCxnSpPr>
            <p:cNvPr id="684" name="Google Shape;684;p43"/>
            <p:cNvCxnSpPr/>
            <p:nvPr/>
          </p:nvCxnSpPr>
          <p:spPr>
            <a:xfrm flipH="1">
              <a:off x="5067696" y="2413195"/>
              <a:ext cx="305400" cy="324600"/>
            </a:xfrm>
            <a:prstGeom prst="straightConnector1">
              <a:avLst/>
            </a:prstGeom>
            <a:noFill/>
            <a:ln w="28575" cap="flat" cmpd="sng">
              <a:solidFill>
                <a:srgbClr val="666666"/>
              </a:solidFill>
              <a:prstDash val="solid"/>
              <a:round/>
              <a:headEnd type="none" w="med" len="med"/>
              <a:tailEnd type="none" w="med" len="med"/>
            </a:ln>
          </p:spPr>
        </p:cxnSp>
        <p:cxnSp>
          <p:nvCxnSpPr>
            <p:cNvPr id="685" name="Google Shape;685;p43"/>
            <p:cNvCxnSpPr/>
            <p:nvPr/>
          </p:nvCxnSpPr>
          <p:spPr>
            <a:xfrm flipH="1">
              <a:off x="4872396" y="2413195"/>
              <a:ext cx="500700" cy="300300"/>
            </a:xfrm>
            <a:prstGeom prst="straightConnector1">
              <a:avLst/>
            </a:prstGeom>
            <a:noFill/>
            <a:ln w="28575" cap="flat" cmpd="sng">
              <a:solidFill>
                <a:srgbClr val="666666"/>
              </a:solidFill>
              <a:prstDash val="solid"/>
              <a:round/>
              <a:headEnd type="none" w="med" len="med"/>
              <a:tailEnd type="none" w="med" len="med"/>
            </a:ln>
          </p:spPr>
        </p:cxnSp>
        <p:cxnSp>
          <p:nvCxnSpPr>
            <p:cNvPr id="686" name="Google Shape;686;p43"/>
            <p:cNvCxnSpPr/>
            <p:nvPr/>
          </p:nvCxnSpPr>
          <p:spPr>
            <a:xfrm>
              <a:off x="5373096" y="2413195"/>
              <a:ext cx="317700" cy="300300"/>
            </a:xfrm>
            <a:prstGeom prst="straightConnector1">
              <a:avLst/>
            </a:prstGeom>
            <a:noFill/>
            <a:ln w="28575" cap="flat" cmpd="sng">
              <a:solidFill>
                <a:srgbClr val="666666"/>
              </a:solidFill>
              <a:prstDash val="solid"/>
              <a:round/>
              <a:headEnd type="none" w="med" len="med"/>
              <a:tailEnd type="none" w="med" len="med"/>
            </a:ln>
          </p:spPr>
        </p:cxnSp>
        <p:cxnSp>
          <p:nvCxnSpPr>
            <p:cNvPr id="687" name="Google Shape;687;p43"/>
            <p:cNvCxnSpPr/>
            <p:nvPr/>
          </p:nvCxnSpPr>
          <p:spPr>
            <a:xfrm>
              <a:off x="5373096" y="2413195"/>
              <a:ext cx="391200" cy="227100"/>
            </a:xfrm>
            <a:prstGeom prst="straightConnector1">
              <a:avLst/>
            </a:prstGeom>
            <a:noFill/>
            <a:ln w="28575" cap="flat" cmpd="sng">
              <a:solidFill>
                <a:srgbClr val="666666"/>
              </a:solidFill>
              <a:prstDash val="solid"/>
              <a:round/>
              <a:headEnd type="none" w="med" len="med"/>
              <a:tailEnd type="none" w="med" len="med"/>
            </a:ln>
          </p:spPr>
        </p:cxnSp>
      </p:grpSp>
      <p:cxnSp>
        <p:nvCxnSpPr>
          <p:cNvPr id="688" name="Google Shape;688;p43"/>
          <p:cNvCxnSpPr/>
          <p:nvPr/>
        </p:nvCxnSpPr>
        <p:spPr>
          <a:xfrm>
            <a:off x="6709896" y="4126391"/>
            <a:ext cx="0" cy="165900"/>
          </a:xfrm>
          <a:prstGeom prst="straightConnector1">
            <a:avLst/>
          </a:prstGeom>
          <a:noFill/>
          <a:ln w="28575" cap="flat" cmpd="sng">
            <a:solidFill>
              <a:srgbClr val="666666"/>
            </a:solidFill>
            <a:prstDash val="solid"/>
            <a:round/>
            <a:headEnd type="none" w="med" len="med"/>
            <a:tailEnd type="none" w="med" len="med"/>
          </a:ln>
        </p:spPr>
      </p:cxnSp>
      <p:sp>
        <p:nvSpPr>
          <p:cNvPr id="689" name="Google Shape;689;p43"/>
          <p:cNvSpPr txBox="1"/>
          <p:nvPr/>
        </p:nvSpPr>
        <p:spPr>
          <a:xfrm>
            <a:off x="7563150" y="4560100"/>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690" name="Google Shape;690;p43"/>
          <p:cNvSpPr txBox="1"/>
          <p:nvPr/>
        </p:nvSpPr>
        <p:spPr>
          <a:xfrm>
            <a:off x="8243200" y="3688225"/>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691" name="Google Shape;691;p43"/>
          <p:cNvSpPr txBox="1"/>
          <p:nvPr/>
        </p:nvSpPr>
        <p:spPr>
          <a:xfrm>
            <a:off x="8762975" y="2880913"/>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692" name="Google Shape;692;p43"/>
          <p:cNvSpPr txBox="1"/>
          <p:nvPr/>
        </p:nvSpPr>
        <p:spPr>
          <a:xfrm>
            <a:off x="7178588" y="2097963"/>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693" name="Google Shape;693;p43"/>
          <p:cNvSpPr txBox="1"/>
          <p:nvPr/>
        </p:nvSpPr>
        <p:spPr>
          <a:xfrm>
            <a:off x="5868100" y="3531900"/>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694" name="Google Shape;694;p43"/>
          <p:cNvSpPr txBox="1"/>
          <p:nvPr/>
        </p:nvSpPr>
        <p:spPr>
          <a:xfrm>
            <a:off x="7070450" y="3413725"/>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695" name="Google Shape;695;p43"/>
          <p:cNvSpPr txBox="1"/>
          <p:nvPr/>
        </p:nvSpPr>
        <p:spPr>
          <a:xfrm>
            <a:off x="972775" y="3413725"/>
            <a:ext cx="4883100" cy="16605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100"/>
              <a:buFont typeface="Arial"/>
              <a:buNone/>
            </a:pPr>
            <a:r>
              <a:rPr lang="en" b="1">
                <a:solidFill>
                  <a:srgbClr val="661111"/>
                </a:solidFill>
                <a:highlight>
                  <a:srgbClr val="EFEFEF"/>
                </a:highlight>
                <a:latin typeface="Consolas"/>
                <a:ea typeface="Consolas"/>
                <a:cs typeface="Consolas"/>
                <a:sym typeface="Consolas"/>
              </a:rPr>
              <a:t>public class</a:t>
            </a:r>
            <a:r>
              <a:rPr lang="en">
                <a:solidFill>
                  <a:srgbClr val="000000"/>
                </a:solidFill>
                <a:highlight>
                  <a:srgbClr val="EFEFEF"/>
                </a:highlight>
                <a:latin typeface="Consolas"/>
                <a:ea typeface="Consolas"/>
                <a:cs typeface="Consolas"/>
                <a:sym typeface="Consolas"/>
              </a:rPr>
              <a:t> DataIndexed</a:t>
            </a:r>
            <a:r>
              <a:rPr lang="en">
                <a:highlight>
                  <a:srgbClr val="EFEFEF"/>
                </a:highlight>
                <a:latin typeface="Consolas"/>
                <a:ea typeface="Consolas"/>
                <a:cs typeface="Consolas"/>
                <a:sym typeface="Consolas"/>
              </a:rPr>
              <a:t>CharMap</a:t>
            </a:r>
            <a:r>
              <a:rPr lang="en">
                <a:solidFill>
                  <a:srgbClr val="000000"/>
                </a:solidFill>
                <a:highlight>
                  <a:srgbClr val="EFEFEF"/>
                </a:highlight>
                <a:latin typeface="Consolas"/>
                <a:ea typeface="Consolas"/>
                <a:cs typeface="Consolas"/>
                <a:sym typeface="Consolas"/>
              </a:rPr>
              <a:t>&lt;</a:t>
            </a:r>
            <a:r>
              <a:rPr lang="en" b="1">
                <a:solidFill>
                  <a:srgbClr val="000066"/>
                </a:solidFill>
                <a:highlight>
                  <a:srgbClr val="EFEFEF"/>
                </a:highlight>
                <a:latin typeface="Consolas"/>
                <a:ea typeface="Consolas"/>
                <a:cs typeface="Consolas"/>
                <a:sym typeface="Consolas"/>
              </a:rPr>
              <a:t>V</a:t>
            </a:r>
            <a:r>
              <a:rPr lang="en">
                <a:solidFill>
                  <a:srgbClr val="000000"/>
                </a:solidFill>
                <a:highlight>
                  <a:srgbClr val="EFEFEF"/>
                </a:highlight>
                <a:latin typeface="Consolas"/>
                <a:ea typeface="Consolas"/>
                <a:cs typeface="Consolas"/>
                <a:sym typeface="Consolas"/>
              </a:rPr>
              <a:t>&gt; </a:t>
            </a:r>
            <a:r>
              <a:rPr lang="en" b="1">
                <a:solidFill>
                  <a:srgbClr val="000000"/>
                </a:solidFill>
                <a:highlight>
                  <a:srgbClr val="EFEFEF"/>
                </a:highlight>
                <a:latin typeface="Consolas"/>
                <a:ea typeface="Consolas"/>
                <a:cs typeface="Consolas"/>
                <a:sym typeface="Consolas"/>
              </a:rPr>
              <a:t>{</a:t>
            </a:r>
            <a:endParaRPr b="1">
              <a:solidFill>
                <a:srgbClr val="000000"/>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Clr>
                <a:srgbClr val="000000"/>
              </a:buClr>
              <a:buSzPts val="1100"/>
              <a:buFont typeface="Arial"/>
              <a:buNone/>
            </a:pPr>
            <a:r>
              <a:rPr lang="en">
                <a:solidFill>
                  <a:srgbClr val="000000"/>
                </a:solidFill>
                <a:highlight>
                  <a:srgbClr val="EFEFEF"/>
                </a:highlight>
                <a:latin typeface="Consolas"/>
                <a:ea typeface="Consolas"/>
                <a:cs typeface="Consolas"/>
                <a:sym typeface="Consolas"/>
              </a:rPr>
              <a:t>   </a:t>
            </a:r>
            <a:r>
              <a:rPr lang="en" b="1">
                <a:solidFill>
                  <a:srgbClr val="661111"/>
                </a:solidFill>
                <a:highlight>
                  <a:srgbClr val="EFEFEF"/>
                </a:highlight>
                <a:latin typeface="Consolas"/>
                <a:ea typeface="Consolas"/>
                <a:cs typeface="Consolas"/>
                <a:sym typeface="Consolas"/>
              </a:rPr>
              <a:t>private </a:t>
            </a:r>
            <a:r>
              <a:rPr lang="en" b="1">
                <a:solidFill>
                  <a:srgbClr val="000066"/>
                </a:solidFill>
                <a:highlight>
                  <a:srgbClr val="EFEFEF"/>
                </a:highlight>
                <a:latin typeface="Consolas"/>
                <a:ea typeface="Consolas"/>
                <a:cs typeface="Consolas"/>
                <a:sym typeface="Consolas"/>
              </a:rPr>
              <a:t>V</a:t>
            </a:r>
            <a:r>
              <a:rPr lang="en" b="1">
                <a:solidFill>
                  <a:srgbClr val="000000"/>
                </a:solidFill>
                <a:highlight>
                  <a:srgbClr val="EFEFEF"/>
                </a:highlight>
                <a:latin typeface="Consolas"/>
                <a:ea typeface="Consolas"/>
                <a:cs typeface="Consolas"/>
                <a:sym typeface="Consolas"/>
              </a:rPr>
              <a:t>[]</a:t>
            </a:r>
            <a:r>
              <a:rPr lang="en">
                <a:solidFill>
                  <a:srgbClr val="000000"/>
                </a:solidFill>
                <a:highlight>
                  <a:srgbClr val="EFEFEF"/>
                </a:highlight>
                <a:latin typeface="Consolas"/>
                <a:ea typeface="Consolas"/>
                <a:cs typeface="Consolas"/>
                <a:sym typeface="Consolas"/>
              </a:rPr>
              <a:t> </a:t>
            </a:r>
            <a:r>
              <a:rPr lang="en">
                <a:highlight>
                  <a:srgbClr val="EFEFEF"/>
                </a:highlight>
                <a:latin typeface="Consolas"/>
                <a:ea typeface="Consolas"/>
                <a:cs typeface="Consolas"/>
                <a:sym typeface="Consolas"/>
              </a:rPr>
              <a:t>items</a:t>
            </a:r>
            <a:r>
              <a:rPr lang="en" b="1">
                <a:solidFill>
                  <a:srgbClr val="000000"/>
                </a:solidFill>
                <a:highlight>
                  <a:srgbClr val="EFEFEF"/>
                </a:highlight>
                <a:latin typeface="Consolas"/>
                <a:ea typeface="Consolas"/>
                <a:cs typeface="Consolas"/>
                <a:sym typeface="Consolas"/>
              </a:rPr>
              <a:t>;</a:t>
            </a:r>
            <a:endParaRPr>
              <a:solidFill>
                <a:srgbClr val="000000"/>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Clr>
                <a:srgbClr val="000000"/>
              </a:buClr>
              <a:buSzPts val="1100"/>
              <a:buFont typeface="Arial"/>
              <a:buNone/>
            </a:pPr>
            <a:r>
              <a:rPr lang="en">
                <a:solidFill>
                  <a:srgbClr val="000000"/>
                </a:solidFill>
                <a:highlight>
                  <a:srgbClr val="EFEFEF"/>
                </a:highlight>
                <a:latin typeface="Consolas"/>
                <a:ea typeface="Consolas"/>
                <a:cs typeface="Consolas"/>
                <a:sym typeface="Consolas"/>
              </a:rPr>
              <a:t>   </a:t>
            </a:r>
            <a:r>
              <a:rPr lang="en" b="1">
                <a:solidFill>
                  <a:srgbClr val="661111"/>
                </a:solidFill>
                <a:highlight>
                  <a:srgbClr val="EFEFEF"/>
                </a:highlight>
                <a:latin typeface="Consolas"/>
                <a:ea typeface="Consolas"/>
                <a:cs typeface="Consolas"/>
                <a:sym typeface="Consolas"/>
              </a:rPr>
              <a:t>public</a:t>
            </a:r>
            <a:r>
              <a:rPr lang="en">
                <a:solidFill>
                  <a:srgbClr val="000000"/>
                </a:solidFill>
                <a:highlight>
                  <a:srgbClr val="EFEFEF"/>
                </a:highlight>
                <a:latin typeface="Consolas"/>
                <a:ea typeface="Consolas"/>
                <a:cs typeface="Consolas"/>
                <a:sym typeface="Consolas"/>
              </a:rPr>
              <a:t> </a:t>
            </a:r>
            <a:r>
              <a:rPr lang="en">
                <a:solidFill>
                  <a:srgbClr val="004466"/>
                </a:solidFill>
                <a:highlight>
                  <a:srgbClr val="EFEFEF"/>
                </a:highlight>
                <a:latin typeface="Consolas"/>
                <a:ea typeface="Consolas"/>
                <a:cs typeface="Consolas"/>
                <a:sym typeface="Consolas"/>
              </a:rPr>
              <a:t>DataIndexedCharMap</a:t>
            </a:r>
            <a:r>
              <a:rPr lang="en" b="1">
                <a:solidFill>
                  <a:srgbClr val="000000"/>
                </a:solidFill>
                <a:highlight>
                  <a:srgbClr val="EFEFEF"/>
                </a:highlight>
                <a:latin typeface="Consolas"/>
                <a:ea typeface="Consolas"/>
                <a:cs typeface="Consolas"/>
                <a:sym typeface="Consolas"/>
              </a:rPr>
              <a:t>(</a:t>
            </a:r>
            <a:r>
              <a:rPr lang="en" b="1">
                <a:solidFill>
                  <a:srgbClr val="000066"/>
                </a:solidFill>
                <a:highlight>
                  <a:srgbClr val="EFEFEF"/>
                </a:highlight>
                <a:latin typeface="Consolas"/>
                <a:ea typeface="Consolas"/>
                <a:cs typeface="Consolas"/>
                <a:sym typeface="Consolas"/>
              </a:rPr>
              <a:t>int </a:t>
            </a:r>
            <a:r>
              <a:rPr lang="en">
                <a:solidFill>
                  <a:schemeClr val="dk1"/>
                </a:solidFill>
                <a:highlight>
                  <a:srgbClr val="EFEFEF"/>
                </a:highlight>
                <a:latin typeface="Consolas"/>
                <a:ea typeface="Consolas"/>
                <a:cs typeface="Consolas"/>
                <a:sym typeface="Consolas"/>
              </a:rPr>
              <a:t>R</a:t>
            </a:r>
            <a:r>
              <a:rPr lang="en" b="1">
                <a:solidFill>
                  <a:srgbClr val="000000"/>
                </a:solidFill>
                <a:highlight>
                  <a:srgbClr val="EFEFEF"/>
                </a:highlight>
                <a:latin typeface="Consolas"/>
                <a:ea typeface="Consolas"/>
                <a:cs typeface="Consolas"/>
                <a:sym typeface="Consolas"/>
              </a:rPr>
              <a:t>) {</a:t>
            </a:r>
            <a:endParaRPr b="1">
              <a:solidFill>
                <a:srgbClr val="000000"/>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Clr>
                <a:srgbClr val="000000"/>
              </a:buClr>
              <a:buSzPts val="1100"/>
              <a:buFont typeface="Arial"/>
              <a:buNone/>
            </a:pPr>
            <a:r>
              <a:rPr lang="en">
                <a:solidFill>
                  <a:srgbClr val="000000"/>
                </a:solidFill>
                <a:highlight>
                  <a:srgbClr val="EFEFEF"/>
                </a:highlight>
                <a:latin typeface="Consolas"/>
                <a:ea typeface="Consolas"/>
                <a:cs typeface="Consolas"/>
                <a:sym typeface="Consolas"/>
              </a:rPr>
              <a:t>       </a:t>
            </a:r>
            <a:r>
              <a:rPr lang="en">
                <a:highlight>
                  <a:srgbClr val="EFEFEF"/>
                </a:highlight>
                <a:latin typeface="Consolas"/>
                <a:ea typeface="Consolas"/>
                <a:cs typeface="Consolas"/>
                <a:sym typeface="Consolas"/>
              </a:rPr>
              <a:t>items </a:t>
            </a:r>
            <a:r>
              <a:rPr lang="en" b="1">
                <a:solidFill>
                  <a:srgbClr val="000000"/>
                </a:solidFill>
                <a:highlight>
                  <a:srgbClr val="EFEFEF"/>
                </a:highlight>
                <a:latin typeface="Consolas"/>
                <a:ea typeface="Consolas"/>
                <a:cs typeface="Consolas"/>
                <a:sym typeface="Consolas"/>
              </a:rPr>
              <a:t>= (</a:t>
            </a:r>
            <a:r>
              <a:rPr lang="en" b="1">
                <a:solidFill>
                  <a:srgbClr val="000066"/>
                </a:solidFill>
                <a:highlight>
                  <a:srgbClr val="EFEFEF"/>
                </a:highlight>
                <a:latin typeface="Consolas"/>
                <a:ea typeface="Consolas"/>
                <a:cs typeface="Consolas"/>
                <a:sym typeface="Consolas"/>
              </a:rPr>
              <a:t>V</a:t>
            </a:r>
            <a:r>
              <a:rPr lang="en" b="1">
                <a:solidFill>
                  <a:schemeClr val="dk1"/>
                </a:solidFill>
                <a:highlight>
                  <a:srgbClr val="EFEFEF"/>
                </a:highlight>
                <a:latin typeface="Consolas"/>
                <a:ea typeface="Consolas"/>
                <a:cs typeface="Consolas"/>
                <a:sym typeface="Consolas"/>
              </a:rPr>
              <a:t>[])</a:t>
            </a:r>
            <a:r>
              <a:rPr lang="en">
                <a:solidFill>
                  <a:srgbClr val="000000"/>
                </a:solidFill>
                <a:highlight>
                  <a:srgbClr val="EFEFEF"/>
                </a:highlight>
                <a:latin typeface="Consolas"/>
                <a:ea typeface="Consolas"/>
                <a:cs typeface="Consolas"/>
                <a:sym typeface="Consolas"/>
              </a:rPr>
              <a:t> </a:t>
            </a:r>
            <a:r>
              <a:rPr lang="en" b="1">
                <a:solidFill>
                  <a:srgbClr val="661111"/>
                </a:solidFill>
                <a:highlight>
                  <a:srgbClr val="EFEFEF"/>
                </a:highlight>
                <a:latin typeface="Consolas"/>
                <a:ea typeface="Consolas"/>
                <a:cs typeface="Consolas"/>
                <a:sym typeface="Consolas"/>
              </a:rPr>
              <a:t>new</a:t>
            </a:r>
            <a:r>
              <a:rPr lang="en">
                <a:solidFill>
                  <a:srgbClr val="000000"/>
                </a:solidFill>
                <a:highlight>
                  <a:srgbClr val="EFEFEF"/>
                </a:highlight>
                <a:latin typeface="Consolas"/>
                <a:ea typeface="Consolas"/>
                <a:cs typeface="Consolas"/>
                <a:sym typeface="Consolas"/>
              </a:rPr>
              <a:t> </a:t>
            </a:r>
            <a:r>
              <a:rPr lang="en" b="1">
                <a:solidFill>
                  <a:srgbClr val="000066"/>
                </a:solidFill>
                <a:highlight>
                  <a:srgbClr val="EFEFEF"/>
                </a:highlight>
                <a:latin typeface="Consolas"/>
                <a:ea typeface="Consolas"/>
                <a:cs typeface="Consolas"/>
                <a:sym typeface="Consolas"/>
              </a:rPr>
              <a:t>Object</a:t>
            </a:r>
            <a:r>
              <a:rPr lang="en" b="1">
                <a:solidFill>
                  <a:srgbClr val="000000"/>
                </a:solidFill>
                <a:highlight>
                  <a:srgbClr val="EFEFEF"/>
                </a:highlight>
                <a:latin typeface="Consolas"/>
                <a:ea typeface="Consolas"/>
                <a:cs typeface="Consolas"/>
                <a:sym typeface="Consolas"/>
              </a:rPr>
              <a:t>[</a:t>
            </a:r>
            <a:r>
              <a:rPr lang="en">
                <a:solidFill>
                  <a:schemeClr val="dk1"/>
                </a:solidFill>
                <a:highlight>
                  <a:srgbClr val="EFEFEF"/>
                </a:highlight>
                <a:latin typeface="Consolas"/>
                <a:ea typeface="Consolas"/>
                <a:cs typeface="Consolas"/>
                <a:sym typeface="Consolas"/>
              </a:rPr>
              <a:t>R</a:t>
            </a:r>
            <a:r>
              <a:rPr lang="en" b="1">
                <a:solidFill>
                  <a:srgbClr val="000000"/>
                </a:solidFill>
                <a:highlight>
                  <a:srgbClr val="EFEFEF"/>
                </a:highlight>
                <a:latin typeface="Consolas"/>
                <a:ea typeface="Consolas"/>
                <a:cs typeface="Consolas"/>
                <a:sym typeface="Consolas"/>
              </a:rPr>
              <a:t>];</a:t>
            </a:r>
            <a:endParaRPr b="1">
              <a:solidFill>
                <a:srgbClr val="000000"/>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Clr>
                <a:srgbClr val="000000"/>
              </a:buClr>
              <a:buSzPts val="1100"/>
              <a:buFont typeface="Arial"/>
              <a:buNone/>
            </a:pPr>
            <a:r>
              <a:rPr lang="en">
                <a:solidFill>
                  <a:srgbClr val="000000"/>
                </a:solidFill>
                <a:highlight>
                  <a:srgbClr val="EFEFEF"/>
                </a:highlight>
                <a:latin typeface="Consolas"/>
                <a:ea typeface="Consolas"/>
                <a:cs typeface="Consolas"/>
                <a:sym typeface="Consolas"/>
              </a:rPr>
              <a:t>   </a:t>
            </a:r>
            <a:r>
              <a:rPr lang="en" b="1">
                <a:solidFill>
                  <a:srgbClr val="000000"/>
                </a:solidFill>
                <a:highlight>
                  <a:srgbClr val="EFEFEF"/>
                </a:highlight>
                <a:latin typeface="Consolas"/>
                <a:ea typeface="Consolas"/>
                <a:cs typeface="Consolas"/>
                <a:sym typeface="Consolas"/>
              </a:rPr>
              <a:t>}</a:t>
            </a:r>
            <a:endParaRPr>
              <a:solidFill>
                <a:srgbClr val="000000"/>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Clr>
                <a:srgbClr val="000000"/>
              </a:buClr>
              <a:buSzPts val="1100"/>
              <a:buFont typeface="Arial"/>
              <a:buNone/>
            </a:pPr>
            <a:r>
              <a:rPr lang="en">
                <a:highlight>
                  <a:srgbClr val="EFEFEF"/>
                </a:highlight>
                <a:latin typeface="Consolas"/>
                <a:ea typeface="Consolas"/>
                <a:cs typeface="Consolas"/>
                <a:sym typeface="Consolas"/>
              </a:rPr>
              <a:t>   ...</a:t>
            </a:r>
            <a:endParaRPr b="1">
              <a:solidFill>
                <a:srgbClr val="000000"/>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r>
              <a:rPr lang="en" b="1">
                <a:solidFill>
                  <a:srgbClr val="000000"/>
                </a:solidFill>
                <a:highlight>
                  <a:srgbClr val="EFEFEF"/>
                </a:highlight>
                <a:latin typeface="Consolas"/>
                <a:ea typeface="Consolas"/>
                <a:cs typeface="Consolas"/>
                <a:sym typeface="Consolas"/>
              </a:rPr>
              <a:t>}</a:t>
            </a:r>
            <a:endParaRPr b="1">
              <a:solidFill>
                <a:srgbClr val="9C20EE"/>
              </a:solidFill>
              <a:highlight>
                <a:srgbClr val="EFEFEF"/>
              </a:highlight>
              <a:latin typeface="Consolas"/>
              <a:ea typeface="Consolas"/>
              <a:cs typeface="Consolas"/>
              <a:sym typeface="Consola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sp>
        <p:nvSpPr>
          <p:cNvPr id="700" name="Google Shape;700;p4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Very Basic Trie Implementation</a:t>
            </a:r>
            <a:endParaRPr/>
          </a:p>
        </p:txBody>
      </p:sp>
      <p:sp>
        <p:nvSpPr>
          <p:cNvPr id="701" name="Google Shape;701;p44"/>
          <p:cNvSpPr txBox="1">
            <a:spLocks noGrp="1"/>
          </p:cNvSpPr>
          <p:nvPr>
            <p:ph type="body" idx="1"/>
          </p:nvPr>
        </p:nvSpPr>
        <p:spPr>
          <a:xfrm>
            <a:off x="166800" y="404100"/>
            <a:ext cx="86886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a:t>Observation: The letter stored inside each node is actually redundant.</a:t>
            </a:r>
            <a:endParaRPr/>
          </a:p>
          <a:p>
            <a:pPr marL="457200" lvl="0" indent="-342900" algn="l" rtl="0">
              <a:spcBef>
                <a:spcPts val="600"/>
              </a:spcBef>
              <a:spcAft>
                <a:spcPts val="0"/>
              </a:spcAft>
              <a:buSzPts val="1800"/>
              <a:buChar char="●"/>
            </a:pPr>
            <a:r>
              <a:rPr lang="en"/>
              <a:t>Can remove from the representation and things will work fine.</a:t>
            </a:r>
            <a:endParaRPr/>
          </a:p>
        </p:txBody>
      </p:sp>
      <p:sp>
        <p:nvSpPr>
          <p:cNvPr id="702" name="Google Shape;702;p44"/>
          <p:cNvSpPr txBox="1"/>
          <p:nvPr/>
        </p:nvSpPr>
        <p:spPr>
          <a:xfrm>
            <a:off x="284200" y="1480050"/>
            <a:ext cx="5468700" cy="35835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600" b="1">
                <a:solidFill>
                  <a:srgbClr val="661111"/>
                </a:solidFill>
                <a:highlight>
                  <a:srgbClr val="EFEFEF"/>
                </a:highlight>
                <a:latin typeface="Consolas"/>
                <a:ea typeface="Consolas"/>
                <a:cs typeface="Consolas"/>
                <a:sym typeface="Consolas"/>
              </a:rPr>
              <a:t>public class</a:t>
            </a:r>
            <a:r>
              <a:rPr lang="en" sz="1600">
                <a:solidFill>
                  <a:schemeClr val="dk1"/>
                </a:solidFill>
                <a:highlight>
                  <a:srgbClr val="EFEFEF"/>
                </a:highlight>
                <a:latin typeface="Consolas"/>
                <a:ea typeface="Consolas"/>
                <a:cs typeface="Consolas"/>
                <a:sym typeface="Consolas"/>
              </a:rPr>
              <a:t> TrieSet</a:t>
            </a:r>
            <a:r>
              <a:rPr lang="en" sz="1600" b="1">
                <a:solidFill>
                  <a:schemeClr val="dk1"/>
                </a:solidFill>
                <a:highlight>
                  <a:srgbClr val="EFEFEF"/>
                </a:highlight>
                <a:latin typeface="Consolas"/>
                <a:ea typeface="Consolas"/>
                <a:cs typeface="Consolas"/>
                <a:sym typeface="Consolas"/>
              </a:rPr>
              <a:t> {</a:t>
            </a:r>
            <a:endParaRPr sz="1600">
              <a:solidFill>
                <a:srgbClr val="EE7700"/>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private static final</a:t>
            </a:r>
            <a:r>
              <a:rPr lang="en" sz="1600">
                <a:solidFill>
                  <a:schemeClr val="dk1"/>
                </a:solidFill>
                <a:highlight>
                  <a:srgbClr val="EFEFEF"/>
                </a:highlight>
                <a:latin typeface="Consolas"/>
                <a:ea typeface="Consolas"/>
                <a:cs typeface="Consolas"/>
                <a:sym typeface="Consolas"/>
              </a:rPr>
              <a:t> </a:t>
            </a:r>
            <a:r>
              <a:rPr lang="en" sz="1600" b="1">
                <a:solidFill>
                  <a:srgbClr val="000066"/>
                </a:solidFill>
                <a:highlight>
                  <a:srgbClr val="EFEFEF"/>
                </a:highlight>
                <a:latin typeface="Consolas"/>
                <a:ea typeface="Consolas"/>
                <a:cs typeface="Consolas"/>
                <a:sym typeface="Consolas"/>
              </a:rPr>
              <a:t>int</a:t>
            </a:r>
            <a:r>
              <a:rPr lang="en" sz="1600">
                <a:solidFill>
                  <a:schemeClr val="dk1"/>
                </a:solidFill>
                <a:highlight>
                  <a:srgbClr val="EFEFEF"/>
                </a:highlight>
                <a:latin typeface="Consolas"/>
                <a:ea typeface="Consolas"/>
                <a:cs typeface="Consolas"/>
                <a:sym typeface="Consolas"/>
              </a:rPr>
              <a:t> R </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a:solidFill>
                  <a:srgbClr val="880022"/>
                </a:solidFill>
                <a:highlight>
                  <a:srgbClr val="EFEFEF"/>
                </a:highlight>
                <a:latin typeface="Consolas"/>
                <a:ea typeface="Consolas"/>
                <a:cs typeface="Consolas"/>
                <a:sym typeface="Consolas"/>
              </a:rPr>
              <a:t>128</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a:solidFill>
                  <a:srgbClr val="EE7700"/>
                </a:solidFill>
                <a:highlight>
                  <a:srgbClr val="EFEFEF"/>
                </a:highlight>
                <a:latin typeface="Consolas"/>
                <a:ea typeface="Consolas"/>
                <a:cs typeface="Consolas"/>
                <a:sym typeface="Consolas"/>
              </a:rPr>
              <a:t>// ASCII</a:t>
            </a:r>
            <a:endParaRPr sz="1600">
              <a:solidFill>
                <a:schemeClr val="dk1"/>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private</a:t>
            </a:r>
            <a:r>
              <a:rPr lang="en" sz="1600">
                <a:solidFill>
                  <a:schemeClr val="dk1"/>
                </a:solidFill>
                <a:highlight>
                  <a:srgbClr val="EFEFEF"/>
                </a:highlight>
                <a:latin typeface="Consolas"/>
                <a:ea typeface="Consolas"/>
                <a:cs typeface="Consolas"/>
                <a:sym typeface="Consolas"/>
              </a:rPr>
              <a:t> Node root</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a:solidFill>
                  <a:srgbClr val="EE7700"/>
                </a:solidFill>
                <a:highlight>
                  <a:srgbClr val="EFEFEF"/>
                </a:highlight>
                <a:latin typeface="Consolas"/>
                <a:ea typeface="Consolas"/>
                <a:cs typeface="Consolas"/>
                <a:sym typeface="Consolas"/>
              </a:rPr>
              <a:t>// root of trie</a:t>
            </a:r>
            <a:endParaRPr sz="1600">
              <a:solidFill>
                <a:srgbClr val="EE7700"/>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endParaRPr sz="1600">
              <a:solidFill>
                <a:srgbClr val="EE7700"/>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private static class</a:t>
            </a:r>
            <a:r>
              <a:rPr lang="en" sz="1600">
                <a:solidFill>
                  <a:schemeClr val="dk1"/>
                </a:solidFill>
                <a:highlight>
                  <a:srgbClr val="EFEFEF"/>
                </a:highlight>
                <a:latin typeface="Consolas"/>
                <a:ea typeface="Consolas"/>
                <a:cs typeface="Consolas"/>
                <a:sym typeface="Consolas"/>
              </a:rPr>
              <a:t> Node </a:t>
            </a:r>
            <a:r>
              <a:rPr lang="en" sz="1600" b="1">
                <a:solidFill>
                  <a:schemeClr val="dk1"/>
                </a:solidFill>
                <a:highlight>
                  <a:srgbClr val="EFEFEF"/>
                </a:highlight>
                <a:latin typeface="Consolas"/>
                <a:ea typeface="Consolas"/>
                <a:cs typeface="Consolas"/>
                <a:sym typeface="Consolas"/>
              </a:rPr>
              <a:t>{</a:t>
            </a:r>
            <a:endParaRPr sz="1600" b="1">
              <a:solidFill>
                <a:schemeClr val="dk1"/>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r>
              <a:rPr lang="en" sz="1600" strike="sngStrike">
                <a:solidFill>
                  <a:schemeClr val="dk1"/>
                </a:solidFill>
                <a:highlight>
                  <a:srgbClr val="EFEFEF"/>
                </a:highlight>
                <a:latin typeface="Consolas"/>
                <a:ea typeface="Consolas"/>
                <a:cs typeface="Consolas"/>
                <a:sym typeface="Consolas"/>
              </a:rPr>
              <a:t>    </a:t>
            </a:r>
            <a:r>
              <a:rPr lang="en" sz="1600" b="1" strike="sngStrike">
                <a:solidFill>
                  <a:srgbClr val="661111"/>
                </a:solidFill>
                <a:highlight>
                  <a:srgbClr val="EFEFEF"/>
                </a:highlight>
                <a:latin typeface="Consolas"/>
                <a:ea typeface="Consolas"/>
                <a:cs typeface="Consolas"/>
                <a:sym typeface="Consolas"/>
              </a:rPr>
              <a:t>private </a:t>
            </a:r>
            <a:r>
              <a:rPr lang="en" sz="1600" strike="sngStrike">
                <a:solidFill>
                  <a:schemeClr val="dk1"/>
                </a:solidFill>
                <a:highlight>
                  <a:srgbClr val="EFEFEF"/>
                </a:highlight>
                <a:latin typeface="Consolas"/>
                <a:ea typeface="Consolas"/>
                <a:cs typeface="Consolas"/>
                <a:sym typeface="Consolas"/>
              </a:rPr>
              <a:t>char ch</a:t>
            </a:r>
            <a:r>
              <a:rPr lang="en" sz="1600" b="1" strike="sngStrike">
                <a:solidFill>
                  <a:schemeClr val="dk1"/>
                </a:solidFill>
                <a:highlight>
                  <a:srgbClr val="EFEFEF"/>
                </a:highlight>
                <a:latin typeface="Consolas"/>
                <a:ea typeface="Consolas"/>
                <a:cs typeface="Consolas"/>
                <a:sym typeface="Consolas"/>
              </a:rPr>
              <a:t>;</a:t>
            </a:r>
            <a:r>
              <a:rPr lang="en" sz="1600" strike="sngStrike">
                <a:solidFill>
                  <a:schemeClr val="dk1"/>
                </a:solidFill>
                <a:highlight>
                  <a:srgbClr val="EFEFEF"/>
                </a:highlight>
                <a:latin typeface="Consolas"/>
                <a:ea typeface="Consolas"/>
                <a:cs typeface="Consolas"/>
                <a:sym typeface="Consolas"/>
              </a:rPr>
              <a:t>  </a:t>
            </a:r>
            <a:endParaRPr sz="1600" strike="sngStrike">
              <a:solidFill>
                <a:schemeClr val="dk1"/>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private </a:t>
            </a:r>
            <a:r>
              <a:rPr lang="en" sz="1600" b="1">
                <a:solidFill>
                  <a:srgbClr val="000066"/>
                </a:solidFill>
                <a:highlight>
                  <a:srgbClr val="EFEFEF"/>
                </a:highlight>
                <a:latin typeface="Consolas"/>
                <a:ea typeface="Consolas"/>
                <a:cs typeface="Consolas"/>
                <a:sym typeface="Consolas"/>
              </a:rPr>
              <a:t>boolean</a:t>
            </a:r>
            <a:r>
              <a:rPr lang="en" sz="1600">
                <a:solidFill>
                  <a:schemeClr val="dk1"/>
                </a:solidFill>
                <a:highlight>
                  <a:srgbClr val="EFEFEF"/>
                </a:highlight>
                <a:latin typeface="Consolas"/>
                <a:ea typeface="Consolas"/>
                <a:cs typeface="Consolas"/>
                <a:sym typeface="Consolas"/>
              </a:rPr>
              <a:t> isKey</a:t>
            </a:r>
            <a:r>
              <a:rPr lang="en" sz="1600" b="1">
                <a:solidFill>
                  <a:schemeClr val="dk1"/>
                </a:solidFill>
                <a:highlight>
                  <a:srgbClr val="EFEFEF"/>
                </a:highlight>
                <a:latin typeface="Consolas"/>
                <a:ea typeface="Consolas"/>
                <a:cs typeface="Consolas"/>
                <a:sym typeface="Consolas"/>
              </a:rPr>
              <a:t>;   </a:t>
            </a:r>
            <a:endParaRPr sz="1600" b="1">
              <a:solidFill>
                <a:schemeClr val="dk1"/>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private </a:t>
            </a:r>
            <a:r>
              <a:rPr lang="en" sz="1600">
                <a:solidFill>
                  <a:schemeClr val="dk1"/>
                </a:solidFill>
                <a:highlight>
                  <a:srgbClr val="EFEFEF"/>
                </a:highlight>
                <a:latin typeface="Consolas"/>
                <a:ea typeface="Consolas"/>
                <a:cs typeface="Consolas"/>
                <a:sym typeface="Consolas"/>
              </a:rPr>
              <a:t>DataIndexedCharMap</a:t>
            </a:r>
            <a:r>
              <a:rPr lang="en" sz="1600" b="1">
                <a:solidFill>
                  <a:schemeClr val="dk1"/>
                </a:solidFill>
                <a:highlight>
                  <a:srgbClr val="EFEFEF"/>
                </a:highlight>
                <a:latin typeface="Consolas"/>
                <a:ea typeface="Consolas"/>
                <a:cs typeface="Consolas"/>
                <a:sym typeface="Consolas"/>
              </a:rPr>
              <a:t>&lt;</a:t>
            </a:r>
            <a:r>
              <a:rPr lang="en" sz="1600">
                <a:solidFill>
                  <a:schemeClr val="dk1"/>
                </a:solidFill>
                <a:highlight>
                  <a:srgbClr val="EFEFEF"/>
                </a:highlight>
                <a:latin typeface="Consolas"/>
                <a:ea typeface="Consolas"/>
                <a:cs typeface="Consolas"/>
                <a:sym typeface="Consolas"/>
              </a:rPr>
              <a:t>Node</a:t>
            </a:r>
            <a:r>
              <a:rPr lang="en" sz="1600" b="1">
                <a:solidFill>
                  <a:schemeClr val="dk1"/>
                </a:solidFill>
                <a:highlight>
                  <a:srgbClr val="EFEFEF"/>
                </a:highlight>
                <a:latin typeface="Consolas"/>
                <a:ea typeface="Consolas"/>
                <a:cs typeface="Consolas"/>
                <a:sym typeface="Consolas"/>
              </a:rPr>
              <a:t>&gt;</a:t>
            </a:r>
            <a:r>
              <a:rPr lang="en" sz="1600">
                <a:solidFill>
                  <a:schemeClr val="dk1"/>
                </a:solidFill>
                <a:highlight>
                  <a:srgbClr val="EFEFEF"/>
                </a:highlight>
                <a:latin typeface="Consolas"/>
                <a:ea typeface="Consolas"/>
                <a:cs typeface="Consolas"/>
                <a:sym typeface="Consolas"/>
              </a:rPr>
              <a:t> next</a:t>
            </a:r>
            <a:r>
              <a:rPr lang="en" sz="1600" b="1">
                <a:solidFill>
                  <a:schemeClr val="dk1"/>
                </a:solidFill>
                <a:highlight>
                  <a:srgbClr val="EFEFEF"/>
                </a:highlight>
                <a:latin typeface="Consolas"/>
                <a:ea typeface="Consolas"/>
                <a:cs typeface="Consolas"/>
                <a:sym typeface="Consolas"/>
              </a:rPr>
              <a:t>;</a:t>
            </a:r>
            <a:endParaRPr sz="1600" b="1">
              <a:solidFill>
                <a:schemeClr val="dk1"/>
              </a:solidFill>
              <a:highlight>
                <a:srgbClr val="EFEFEF"/>
              </a:highlight>
              <a:latin typeface="Consolas"/>
              <a:ea typeface="Consolas"/>
              <a:cs typeface="Consolas"/>
              <a:sym typeface="Consolas"/>
            </a:endParaRPr>
          </a:p>
          <a:p>
            <a:pPr marL="0" lvl="0" indent="0" algn="l" rtl="0">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private </a:t>
            </a:r>
            <a:r>
              <a:rPr lang="en" sz="1600">
                <a:solidFill>
                  <a:srgbClr val="004466"/>
                </a:solidFill>
                <a:highlight>
                  <a:srgbClr val="EFEFEF"/>
                </a:highlight>
                <a:latin typeface="Consolas"/>
                <a:ea typeface="Consolas"/>
                <a:cs typeface="Consolas"/>
                <a:sym typeface="Consolas"/>
              </a:rPr>
              <a:t>Node</a:t>
            </a:r>
            <a:r>
              <a:rPr lang="en" sz="1600" b="1">
                <a:solidFill>
                  <a:schemeClr val="dk1"/>
                </a:solidFill>
                <a:highlight>
                  <a:srgbClr val="EFEFEF"/>
                </a:highlight>
                <a:latin typeface="Consolas"/>
                <a:ea typeface="Consolas"/>
                <a:cs typeface="Consolas"/>
                <a:sym typeface="Consolas"/>
              </a:rPr>
              <a:t>(</a:t>
            </a:r>
            <a:r>
              <a:rPr lang="en" sz="1600" b="1" strike="sngStrike">
                <a:solidFill>
                  <a:srgbClr val="000066"/>
                </a:solidFill>
                <a:highlight>
                  <a:srgbClr val="EFEFEF"/>
                </a:highlight>
                <a:latin typeface="Consolas"/>
                <a:ea typeface="Consolas"/>
                <a:cs typeface="Consolas"/>
                <a:sym typeface="Consolas"/>
              </a:rPr>
              <a:t>char</a:t>
            </a:r>
            <a:r>
              <a:rPr lang="en" sz="1600" strike="sngStrike">
                <a:solidFill>
                  <a:schemeClr val="dk1"/>
                </a:solidFill>
                <a:highlight>
                  <a:srgbClr val="EFEFEF"/>
                </a:highlight>
                <a:latin typeface="Consolas"/>
                <a:ea typeface="Consolas"/>
                <a:cs typeface="Consolas"/>
                <a:sym typeface="Consolas"/>
              </a:rPr>
              <a:t> c</a:t>
            </a:r>
            <a:r>
              <a:rPr lang="en" sz="1600" b="1" strike="sngStrike">
                <a:solidFill>
                  <a:schemeClr val="dk1"/>
                </a:solidFill>
                <a:highlight>
                  <a:srgbClr val="EFEFEF"/>
                </a:highlight>
                <a:latin typeface="Consolas"/>
                <a:ea typeface="Consolas"/>
                <a:cs typeface="Consolas"/>
                <a:sym typeface="Consolas"/>
              </a:rPr>
              <a:t>,</a:t>
            </a:r>
            <a:r>
              <a:rPr lang="en" sz="1600" strike="sngStrike">
                <a:solidFill>
                  <a:schemeClr val="dk1"/>
                </a:solidFill>
                <a:highlight>
                  <a:srgbClr val="EFEFEF"/>
                </a:highlight>
                <a:latin typeface="Consolas"/>
                <a:ea typeface="Consolas"/>
                <a:cs typeface="Consolas"/>
                <a:sym typeface="Consolas"/>
              </a:rPr>
              <a:t> </a:t>
            </a:r>
            <a:r>
              <a:rPr lang="en" sz="1600" b="1">
                <a:solidFill>
                  <a:srgbClr val="000066"/>
                </a:solidFill>
                <a:highlight>
                  <a:srgbClr val="EFEFEF"/>
                </a:highlight>
                <a:latin typeface="Consolas"/>
                <a:ea typeface="Consolas"/>
                <a:cs typeface="Consolas"/>
                <a:sym typeface="Consolas"/>
              </a:rPr>
              <a:t>boolean</a:t>
            </a:r>
            <a:r>
              <a:rPr lang="en" sz="1600">
                <a:solidFill>
                  <a:schemeClr val="dk1"/>
                </a:solidFill>
                <a:highlight>
                  <a:srgbClr val="EFEFEF"/>
                </a:highlight>
                <a:latin typeface="Consolas"/>
                <a:ea typeface="Consolas"/>
                <a:cs typeface="Consolas"/>
                <a:sym typeface="Consolas"/>
              </a:rPr>
              <a:t> b</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b="1">
                <a:solidFill>
                  <a:srgbClr val="000066"/>
                </a:solidFill>
                <a:highlight>
                  <a:srgbClr val="EFEFEF"/>
                </a:highlight>
                <a:latin typeface="Consolas"/>
                <a:ea typeface="Consolas"/>
                <a:cs typeface="Consolas"/>
                <a:sym typeface="Consolas"/>
              </a:rPr>
              <a:t>int</a:t>
            </a:r>
            <a:r>
              <a:rPr lang="en" sz="1600">
                <a:solidFill>
                  <a:schemeClr val="dk1"/>
                </a:solidFill>
                <a:highlight>
                  <a:srgbClr val="EFEFEF"/>
                </a:highlight>
                <a:latin typeface="Consolas"/>
                <a:ea typeface="Consolas"/>
                <a:cs typeface="Consolas"/>
                <a:sym typeface="Consolas"/>
              </a:rPr>
              <a:t> R</a:t>
            </a:r>
            <a:r>
              <a:rPr lang="en" sz="1600" b="1">
                <a:solidFill>
                  <a:schemeClr val="dk1"/>
                </a:solidFill>
                <a:highlight>
                  <a:srgbClr val="EFEFEF"/>
                </a:highlight>
                <a:latin typeface="Consolas"/>
                <a:ea typeface="Consolas"/>
                <a:cs typeface="Consolas"/>
                <a:sym typeface="Consolas"/>
              </a:rPr>
              <a:t>) {</a:t>
            </a:r>
            <a:endParaRPr sz="1600" b="1">
              <a:solidFill>
                <a:schemeClr val="dk1"/>
              </a:solidFill>
              <a:highlight>
                <a:srgbClr val="EFEFEF"/>
              </a:highlight>
              <a:latin typeface="Consolas"/>
              <a:ea typeface="Consolas"/>
              <a:cs typeface="Consolas"/>
              <a:sym typeface="Consolas"/>
            </a:endParaRPr>
          </a:p>
          <a:p>
            <a:pPr marL="0" lvl="0" indent="0" algn="l" rtl="0">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lang="en" sz="1600" strike="sngStrike">
                <a:solidFill>
                  <a:schemeClr val="dk1"/>
                </a:solidFill>
                <a:highlight>
                  <a:srgbClr val="EFEFEF"/>
                </a:highlight>
                <a:latin typeface="Consolas"/>
                <a:ea typeface="Consolas"/>
                <a:cs typeface="Consolas"/>
                <a:sym typeface="Consolas"/>
              </a:rPr>
              <a:t>ch </a:t>
            </a:r>
            <a:r>
              <a:rPr lang="en" sz="1600" b="1" strike="sngStrike">
                <a:solidFill>
                  <a:schemeClr val="dk1"/>
                </a:solidFill>
                <a:highlight>
                  <a:srgbClr val="EFEFEF"/>
                </a:highlight>
                <a:latin typeface="Consolas"/>
                <a:ea typeface="Consolas"/>
                <a:cs typeface="Consolas"/>
                <a:sym typeface="Consolas"/>
              </a:rPr>
              <a:t>=</a:t>
            </a:r>
            <a:r>
              <a:rPr lang="en" sz="1600" strike="sngStrike">
                <a:solidFill>
                  <a:schemeClr val="dk1"/>
                </a:solidFill>
                <a:highlight>
                  <a:srgbClr val="EFEFEF"/>
                </a:highlight>
                <a:latin typeface="Consolas"/>
                <a:ea typeface="Consolas"/>
                <a:cs typeface="Consolas"/>
                <a:sym typeface="Consolas"/>
              </a:rPr>
              <a:t> c</a:t>
            </a:r>
            <a:r>
              <a:rPr lang="en" sz="1600" b="1" strike="sngStrike">
                <a:solidFill>
                  <a:schemeClr val="dk1"/>
                </a:solidFill>
                <a:highlight>
                  <a:srgbClr val="EFEFEF"/>
                </a:highlight>
                <a:latin typeface="Consolas"/>
                <a:ea typeface="Consolas"/>
                <a:cs typeface="Consolas"/>
                <a:sym typeface="Consolas"/>
              </a:rPr>
              <a:t>;</a:t>
            </a:r>
            <a:r>
              <a:rPr lang="en" sz="1600" strike="sngStrike">
                <a:solidFill>
                  <a:schemeClr val="dk1"/>
                </a:solidFill>
                <a:highlight>
                  <a:srgbClr val="EFEFEF"/>
                </a:highlight>
                <a:latin typeface="Consolas"/>
                <a:ea typeface="Consolas"/>
                <a:cs typeface="Consolas"/>
                <a:sym typeface="Consolas"/>
              </a:rPr>
              <a:t> </a:t>
            </a:r>
            <a:r>
              <a:rPr lang="en" sz="1600">
                <a:solidFill>
                  <a:schemeClr val="dk1"/>
                </a:solidFill>
                <a:highlight>
                  <a:srgbClr val="EFEFEF"/>
                </a:highlight>
                <a:latin typeface="Consolas"/>
                <a:ea typeface="Consolas"/>
                <a:cs typeface="Consolas"/>
                <a:sym typeface="Consolas"/>
              </a:rPr>
              <a:t>isKey </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b</a:t>
            </a:r>
            <a:r>
              <a:rPr lang="en" sz="1600" b="1">
                <a:solidFill>
                  <a:schemeClr val="dk1"/>
                </a:solidFill>
                <a:highlight>
                  <a:srgbClr val="EFEFEF"/>
                </a:highlight>
                <a:latin typeface="Consolas"/>
                <a:ea typeface="Consolas"/>
                <a:cs typeface="Consolas"/>
                <a:sym typeface="Consolas"/>
              </a:rPr>
              <a:t>;</a:t>
            </a:r>
            <a:endParaRPr sz="1600" b="1">
              <a:solidFill>
                <a:schemeClr val="dk1"/>
              </a:solidFill>
              <a:highlight>
                <a:srgbClr val="EFEFEF"/>
              </a:highlight>
              <a:latin typeface="Consolas"/>
              <a:ea typeface="Consolas"/>
              <a:cs typeface="Consolas"/>
              <a:sym typeface="Consolas"/>
            </a:endParaRPr>
          </a:p>
          <a:p>
            <a:pPr marL="0" lvl="0" indent="0" algn="l" rtl="0">
              <a:spcBef>
                <a:spcPts val="0"/>
              </a:spcBef>
              <a:spcAft>
                <a:spcPts val="0"/>
              </a:spcAft>
              <a:buNone/>
            </a:pPr>
            <a:r>
              <a:rPr lang="en" sz="1600">
                <a:solidFill>
                  <a:schemeClr val="dk1"/>
                </a:solidFill>
                <a:highlight>
                  <a:srgbClr val="EFEFEF"/>
                </a:highlight>
                <a:latin typeface="Consolas"/>
                <a:ea typeface="Consolas"/>
                <a:cs typeface="Consolas"/>
                <a:sym typeface="Consolas"/>
              </a:rPr>
              <a:t>       next </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new</a:t>
            </a:r>
            <a:r>
              <a:rPr lang="en" sz="1600">
                <a:solidFill>
                  <a:schemeClr val="dk1"/>
                </a:solidFill>
                <a:highlight>
                  <a:srgbClr val="EFEFEF"/>
                </a:highlight>
                <a:latin typeface="Consolas"/>
                <a:ea typeface="Consolas"/>
                <a:cs typeface="Consolas"/>
                <a:sym typeface="Consolas"/>
              </a:rPr>
              <a:t> DataIndexedCharMap</a:t>
            </a:r>
            <a:r>
              <a:rPr lang="en" sz="1600" b="1">
                <a:solidFill>
                  <a:schemeClr val="dk1"/>
                </a:solidFill>
                <a:highlight>
                  <a:srgbClr val="EFEFEF"/>
                </a:highlight>
                <a:latin typeface="Consolas"/>
                <a:ea typeface="Consolas"/>
                <a:cs typeface="Consolas"/>
                <a:sym typeface="Consolas"/>
              </a:rPr>
              <a:t>&lt;&gt;(</a:t>
            </a:r>
            <a:r>
              <a:rPr lang="en" sz="1600">
                <a:solidFill>
                  <a:schemeClr val="dk1"/>
                </a:solidFill>
                <a:highlight>
                  <a:srgbClr val="EFEFEF"/>
                </a:highlight>
                <a:latin typeface="Consolas"/>
                <a:ea typeface="Consolas"/>
                <a:cs typeface="Consolas"/>
                <a:sym typeface="Consolas"/>
              </a:rPr>
              <a:t>R</a:t>
            </a:r>
            <a:r>
              <a:rPr lang="en" sz="1600" b="1">
                <a:solidFill>
                  <a:schemeClr val="dk1"/>
                </a:solidFill>
                <a:highlight>
                  <a:srgbClr val="EFEFEF"/>
                </a:highlight>
                <a:latin typeface="Consolas"/>
                <a:ea typeface="Consolas"/>
                <a:cs typeface="Consolas"/>
                <a:sym typeface="Consolas"/>
              </a:rPr>
              <a:t>);</a:t>
            </a:r>
            <a:endParaRPr sz="1600" b="1">
              <a:solidFill>
                <a:schemeClr val="dk1"/>
              </a:solidFill>
              <a:highlight>
                <a:srgbClr val="EFEFEF"/>
              </a:highlight>
              <a:latin typeface="Consolas"/>
              <a:ea typeface="Consolas"/>
              <a:cs typeface="Consolas"/>
              <a:sym typeface="Consolas"/>
            </a:endParaRPr>
          </a:p>
          <a:p>
            <a:pPr marL="0" lvl="0" indent="0" algn="l" rtl="0">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lang="en" sz="1600" b="1">
                <a:solidFill>
                  <a:schemeClr val="dk1"/>
                </a:solidFill>
                <a:highlight>
                  <a:srgbClr val="EFEFEF"/>
                </a:highlight>
                <a:latin typeface="Consolas"/>
                <a:ea typeface="Consolas"/>
                <a:cs typeface="Consolas"/>
                <a:sym typeface="Consolas"/>
              </a:rPr>
              <a:t>}</a:t>
            </a:r>
            <a:endParaRPr sz="1600">
              <a:solidFill>
                <a:schemeClr val="dk1"/>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lang="en" sz="1600" b="1">
                <a:solidFill>
                  <a:schemeClr val="dk1"/>
                </a:solidFill>
                <a:highlight>
                  <a:srgbClr val="EFEFEF"/>
                </a:highlight>
                <a:latin typeface="Consolas"/>
                <a:ea typeface="Consolas"/>
                <a:cs typeface="Consolas"/>
                <a:sym typeface="Consolas"/>
              </a:rPr>
              <a:t>}</a:t>
            </a:r>
            <a:endParaRPr sz="1600" b="1">
              <a:solidFill>
                <a:schemeClr val="dk1"/>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r>
              <a:rPr lang="en" sz="1600" b="1">
                <a:solidFill>
                  <a:schemeClr val="dk1"/>
                </a:solidFill>
                <a:highlight>
                  <a:srgbClr val="EFEFEF"/>
                </a:highlight>
                <a:latin typeface="Consolas"/>
                <a:ea typeface="Consolas"/>
                <a:cs typeface="Consolas"/>
                <a:sym typeface="Consolas"/>
              </a:rPr>
              <a:t>}</a:t>
            </a:r>
            <a:endParaRPr sz="1600" b="1">
              <a:solidFill>
                <a:schemeClr val="dk1"/>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endParaRPr sz="1600" b="1">
              <a:solidFill>
                <a:srgbClr val="661111"/>
              </a:solidFill>
              <a:highlight>
                <a:srgbClr val="EFEFEF"/>
              </a:highlight>
              <a:latin typeface="Consolas"/>
              <a:ea typeface="Consolas"/>
              <a:cs typeface="Consolas"/>
              <a:sym typeface="Consolas"/>
            </a:endParaRPr>
          </a:p>
        </p:txBody>
      </p:sp>
      <p:sp>
        <p:nvSpPr>
          <p:cNvPr id="703" name="Google Shape;703;p44"/>
          <p:cNvSpPr/>
          <p:nvPr/>
        </p:nvSpPr>
        <p:spPr>
          <a:xfrm>
            <a:off x="7115429" y="1437975"/>
            <a:ext cx="432900" cy="432900"/>
          </a:xfrm>
          <a:prstGeom prst="ellipse">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704" name="Google Shape;704;p44"/>
          <p:cNvSpPr/>
          <p:nvPr/>
        </p:nvSpPr>
        <p:spPr>
          <a:xfrm>
            <a:off x="8476775" y="2190896"/>
            <a:ext cx="432900" cy="432900"/>
          </a:xfrm>
          <a:prstGeom prst="ellipse">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Consolas"/>
              <a:ea typeface="Consolas"/>
              <a:cs typeface="Consolas"/>
              <a:sym typeface="Consolas"/>
            </a:endParaRPr>
          </a:p>
        </p:txBody>
      </p:sp>
      <p:sp>
        <p:nvSpPr>
          <p:cNvPr id="705" name="Google Shape;705;p44"/>
          <p:cNvSpPr/>
          <p:nvPr/>
        </p:nvSpPr>
        <p:spPr>
          <a:xfrm>
            <a:off x="8096200" y="3096848"/>
            <a:ext cx="432900" cy="432900"/>
          </a:xfrm>
          <a:prstGeom prst="ellipse">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Consolas"/>
              <a:ea typeface="Consolas"/>
              <a:cs typeface="Consolas"/>
              <a:sym typeface="Consolas"/>
            </a:endParaRPr>
          </a:p>
        </p:txBody>
      </p:sp>
      <p:sp>
        <p:nvSpPr>
          <p:cNvPr id="706" name="Google Shape;706;p44"/>
          <p:cNvSpPr/>
          <p:nvPr/>
        </p:nvSpPr>
        <p:spPr>
          <a:xfrm>
            <a:off x="7563075" y="3857077"/>
            <a:ext cx="432900" cy="432900"/>
          </a:xfrm>
          <a:prstGeom prst="ellipse">
            <a:avLst/>
          </a:prstGeom>
          <a:solidFill>
            <a:srgbClr val="CFE2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Consolas"/>
              <a:ea typeface="Consolas"/>
              <a:cs typeface="Consolas"/>
              <a:sym typeface="Consolas"/>
            </a:endParaRPr>
          </a:p>
        </p:txBody>
      </p:sp>
      <p:sp>
        <p:nvSpPr>
          <p:cNvPr id="707" name="Google Shape;707;p44"/>
          <p:cNvSpPr/>
          <p:nvPr/>
        </p:nvSpPr>
        <p:spPr>
          <a:xfrm>
            <a:off x="5855800" y="2190911"/>
            <a:ext cx="432900" cy="432900"/>
          </a:xfrm>
          <a:prstGeom prst="ellipse">
            <a:avLst/>
          </a:prstGeom>
          <a:solidFill>
            <a:srgbClr val="CFE2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Consolas"/>
              <a:ea typeface="Consolas"/>
              <a:cs typeface="Consolas"/>
              <a:sym typeface="Consolas"/>
            </a:endParaRPr>
          </a:p>
        </p:txBody>
      </p:sp>
      <p:sp>
        <p:nvSpPr>
          <p:cNvPr id="708" name="Google Shape;708;p44"/>
          <p:cNvSpPr/>
          <p:nvPr/>
        </p:nvSpPr>
        <p:spPr>
          <a:xfrm>
            <a:off x="6495900" y="2824361"/>
            <a:ext cx="432900" cy="432900"/>
          </a:xfrm>
          <a:prstGeom prst="ellipse">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Consolas"/>
              <a:ea typeface="Consolas"/>
              <a:cs typeface="Consolas"/>
              <a:sym typeface="Consolas"/>
            </a:endParaRPr>
          </a:p>
        </p:txBody>
      </p:sp>
      <p:sp>
        <p:nvSpPr>
          <p:cNvPr id="709" name="Google Shape;709;p44"/>
          <p:cNvSpPr/>
          <p:nvPr/>
        </p:nvSpPr>
        <p:spPr>
          <a:xfrm>
            <a:off x="6495900" y="3688236"/>
            <a:ext cx="432900" cy="432900"/>
          </a:xfrm>
          <a:prstGeom prst="ellipse">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Consolas"/>
              <a:ea typeface="Consolas"/>
              <a:cs typeface="Consolas"/>
              <a:sym typeface="Consolas"/>
            </a:endParaRPr>
          </a:p>
        </p:txBody>
      </p:sp>
      <p:cxnSp>
        <p:nvCxnSpPr>
          <p:cNvPr id="710" name="Google Shape;710;p44"/>
          <p:cNvCxnSpPr>
            <a:stCxn id="703" idx="4"/>
            <a:endCxn id="704" idx="0"/>
          </p:cNvCxnSpPr>
          <p:nvPr/>
        </p:nvCxnSpPr>
        <p:spPr>
          <a:xfrm>
            <a:off x="7331879" y="1870875"/>
            <a:ext cx="1361400" cy="320100"/>
          </a:xfrm>
          <a:prstGeom prst="straightConnector1">
            <a:avLst/>
          </a:prstGeom>
          <a:noFill/>
          <a:ln w="28575" cap="flat" cmpd="sng">
            <a:solidFill>
              <a:srgbClr val="666666"/>
            </a:solidFill>
            <a:prstDash val="solid"/>
            <a:round/>
            <a:headEnd type="none" w="med" len="med"/>
            <a:tailEnd type="none" w="med" len="med"/>
          </a:ln>
        </p:spPr>
      </p:cxnSp>
      <p:cxnSp>
        <p:nvCxnSpPr>
          <p:cNvPr id="711" name="Google Shape;711;p44"/>
          <p:cNvCxnSpPr>
            <a:stCxn id="705" idx="4"/>
          </p:cNvCxnSpPr>
          <p:nvPr/>
        </p:nvCxnSpPr>
        <p:spPr>
          <a:xfrm>
            <a:off x="8312650" y="3529748"/>
            <a:ext cx="0" cy="202500"/>
          </a:xfrm>
          <a:prstGeom prst="straightConnector1">
            <a:avLst/>
          </a:prstGeom>
          <a:noFill/>
          <a:ln w="28575" cap="flat" cmpd="sng">
            <a:solidFill>
              <a:srgbClr val="666666"/>
            </a:solidFill>
            <a:prstDash val="solid"/>
            <a:round/>
            <a:headEnd type="none" w="med" len="med"/>
            <a:tailEnd type="none" w="med" len="med"/>
          </a:ln>
        </p:spPr>
      </p:cxnSp>
      <p:cxnSp>
        <p:nvCxnSpPr>
          <p:cNvPr id="712" name="Google Shape;712;p44"/>
          <p:cNvCxnSpPr>
            <a:stCxn id="705" idx="4"/>
          </p:cNvCxnSpPr>
          <p:nvPr/>
        </p:nvCxnSpPr>
        <p:spPr>
          <a:xfrm flipH="1">
            <a:off x="7684450" y="3529748"/>
            <a:ext cx="628200" cy="133800"/>
          </a:xfrm>
          <a:prstGeom prst="straightConnector1">
            <a:avLst/>
          </a:prstGeom>
          <a:noFill/>
          <a:ln w="28575" cap="flat" cmpd="sng">
            <a:solidFill>
              <a:srgbClr val="666666"/>
            </a:solidFill>
            <a:prstDash val="solid"/>
            <a:round/>
            <a:headEnd type="none" w="med" len="med"/>
            <a:tailEnd type="none" w="med" len="med"/>
          </a:ln>
        </p:spPr>
      </p:cxnSp>
      <p:cxnSp>
        <p:nvCxnSpPr>
          <p:cNvPr id="713" name="Google Shape;713;p44"/>
          <p:cNvCxnSpPr>
            <a:stCxn id="703" idx="4"/>
          </p:cNvCxnSpPr>
          <p:nvPr/>
        </p:nvCxnSpPr>
        <p:spPr>
          <a:xfrm flipH="1">
            <a:off x="6072179" y="1870875"/>
            <a:ext cx="1259700" cy="320100"/>
          </a:xfrm>
          <a:prstGeom prst="straightConnector1">
            <a:avLst/>
          </a:prstGeom>
          <a:noFill/>
          <a:ln w="28575" cap="flat" cmpd="sng">
            <a:solidFill>
              <a:srgbClr val="666666"/>
            </a:solidFill>
            <a:prstDash val="solid"/>
            <a:round/>
            <a:headEnd type="none" w="med" len="med"/>
            <a:tailEnd type="none" w="med" len="med"/>
          </a:ln>
        </p:spPr>
      </p:cxnSp>
      <p:cxnSp>
        <p:nvCxnSpPr>
          <p:cNvPr id="714" name="Google Shape;714;p44"/>
          <p:cNvCxnSpPr/>
          <p:nvPr/>
        </p:nvCxnSpPr>
        <p:spPr>
          <a:xfrm>
            <a:off x="6072250" y="2623811"/>
            <a:ext cx="0" cy="202500"/>
          </a:xfrm>
          <a:prstGeom prst="straightConnector1">
            <a:avLst/>
          </a:prstGeom>
          <a:noFill/>
          <a:ln w="28575" cap="flat" cmpd="sng">
            <a:solidFill>
              <a:srgbClr val="666666"/>
            </a:solidFill>
            <a:prstDash val="solid"/>
            <a:round/>
            <a:headEnd type="none" w="med" len="med"/>
            <a:tailEnd type="none" w="med" len="med"/>
          </a:ln>
        </p:spPr>
      </p:cxnSp>
      <p:cxnSp>
        <p:nvCxnSpPr>
          <p:cNvPr id="715" name="Google Shape;715;p44"/>
          <p:cNvCxnSpPr>
            <a:endCxn id="709" idx="0"/>
          </p:cNvCxnSpPr>
          <p:nvPr/>
        </p:nvCxnSpPr>
        <p:spPr>
          <a:xfrm>
            <a:off x="6709050" y="3282936"/>
            <a:ext cx="3300" cy="405300"/>
          </a:xfrm>
          <a:prstGeom prst="straightConnector1">
            <a:avLst/>
          </a:prstGeom>
          <a:noFill/>
          <a:ln w="28575" cap="flat" cmpd="sng">
            <a:solidFill>
              <a:srgbClr val="666666"/>
            </a:solidFill>
            <a:prstDash val="solid"/>
            <a:round/>
            <a:headEnd type="none" w="med" len="med"/>
            <a:tailEnd type="none" w="med" len="med"/>
          </a:ln>
        </p:spPr>
      </p:cxnSp>
      <p:cxnSp>
        <p:nvCxnSpPr>
          <p:cNvPr id="716" name="Google Shape;716;p44"/>
          <p:cNvCxnSpPr>
            <a:stCxn id="703" idx="4"/>
          </p:cNvCxnSpPr>
          <p:nvPr/>
        </p:nvCxnSpPr>
        <p:spPr>
          <a:xfrm flipH="1">
            <a:off x="7026479" y="1870875"/>
            <a:ext cx="305400" cy="324600"/>
          </a:xfrm>
          <a:prstGeom prst="straightConnector1">
            <a:avLst/>
          </a:prstGeom>
          <a:noFill/>
          <a:ln w="28575" cap="flat" cmpd="sng">
            <a:solidFill>
              <a:srgbClr val="666666"/>
            </a:solidFill>
            <a:prstDash val="solid"/>
            <a:round/>
            <a:headEnd type="none" w="med" len="med"/>
            <a:tailEnd type="none" w="med" len="med"/>
          </a:ln>
        </p:spPr>
      </p:cxnSp>
      <p:cxnSp>
        <p:nvCxnSpPr>
          <p:cNvPr id="717" name="Google Shape;717;p44"/>
          <p:cNvCxnSpPr>
            <a:stCxn id="703" idx="4"/>
          </p:cNvCxnSpPr>
          <p:nvPr/>
        </p:nvCxnSpPr>
        <p:spPr>
          <a:xfrm>
            <a:off x="7331879" y="1870875"/>
            <a:ext cx="317700" cy="300300"/>
          </a:xfrm>
          <a:prstGeom prst="straightConnector1">
            <a:avLst/>
          </a:prstGeom>
          <a:noFill/>
          <a:ln w="28575" cap="flat" cmpd="sng">
            <a:solidFill>
              <a:srgbClr val="666666"/>
            </a:solidFill>
            <a:prstDash val="solid"/>
            <a:round/>
            <a:headEnd type="none" w="med" len="med"/>
            <a:tailEnd type="none" w="med" len="med"/>
          </a:ln>
        </p:spPr>
      </p:cxnSp>
      <p:cxnSp>
        <p:nvCxnSpPr>
          <p:cNvPr id="718" name="Google Shape;718;p44"/>
          <p:cNvCxnSpPr>
            <a:stCxn id="703" idx="4"/>
          </p:cNvCxnSpPr>
          <p:nvPr/>
        </p:nvCxnSpPr>
        <p:spPr>
          <a:xfrm>
            <a:off x="7331879" y="1870875"/>
            <a:ext cx="48900" cy="361500"/>
          </a:xfrm>
          <a:prstGeom prst="straightConnector1">
            <a:avLst/>
          </a:prstGeom>
          <a:noFill/>
          <a:ln w="28575" cap="flat" cmpd="sng">
            <a:solidFill>
              <a:srgbClr val="666666"/>
            </a:solidFill>
            <a:prstDash val="solid"/>
            <a:round/>
            <a:headEnd type="none" w="med" len="med"/>
            <a:tailEnd type="none" w="med" len="med"/>
          </a:ln>
        </p:spPr>
      </p:cxnSp>
      <p:cxnSp>
        <p:nvCxnSpPr>
          <p:cNvPr id="719" name="Google Shape;719;p44"/>
          <p:cNvCxnSpPr>
            <a:stCxn id="703" idx="4"/>
          </p:cNvCxnSpPr>
          <p:nvPr/>
        </p:nvCxnSpPr>
        <p:spPr>
          <a:xfrm flipH="1">
            <a:off x="7222079" y="1870875"/>
            <a:ext cx="109800" cy="336900"/>
          </a:xfrm>
          <a:prstGeom prst="straightConnector1">
            <a:avLst/>
          </a:prstGeom>
          <a:noFill/>
          <a:ln w="28575" cap="flat" cmpd="sng">
            <a:solidFill>
              <a:srgbClr val="666666"/>
            </a:solidFill>
            <a:prstDash val="solid"/>
            <a:round/>
            <a:headEnd type="none" w="med" len="med"/>
            <a:tailEnd type="none" w="med" len="med"/>
          </a:ln>
        </p:spPr>
      </p:cxnSp>
      <p:cxnSp>
        <p:nvCxnSpPr>
          <p:cNvPr id="720" name="Google Shape;720;p44"/>
          <p:cNvCxnSpPr>
            <a:stCxn id="703" idx="4"/>
          </p:cNvCxnSpPr>
          <p:nvPr/>
        </p:nvCxnSpPr>
        <p:spPr>
          <a:xfrm flipH="1">
            <a:off x="6831179" y="1870875"/>
            <a:ext cx="500700" cy="300300"/>
          </a:xfrm>
          <a:prstGeom prst="straightConnector1">
            <a:avLst/>
          </a:prstGeom>
          <a:noFill/>
          <a:ln w="28575" cap="flat" cmpd="sng">
            <a:solidFill>
              <a:srgbClr val="666666"/>
            </a:solidFill>
            <a:prstDash val="solid"/>
            <a:round/>
            <a:headEnd type="none" w="med" len="med"/>
            <a:tailEnd type="none" w="med" len="med"/>
          </a:ln>
        </p:spPr>
      </p:cxnSp>
      <p:cxnSp>
        <p:nvCxnSpPr>
          <p:cNvPr id="721" name="Google Shape;721;p44"/>
          <p:cNvCxnSpPr>
            <a:stCxn id="703" idx="4"/>
          </p:cNvCxnSpPr>
          <p:nvPr/>
        </p:nvCxnSpPr>
        <p:spPr>
          <a:xfrm>
            <a:off x="7331879" y="1870875"/>
            <a:ext cx="391200" cy="227100"/>
          </a:xfrm>
          <a:prstGeom prst="straightConnector1">
            <a:avLst/>
          </a:prstGeom>
          <a:noFill/>
          <a:ln w="28575" cap="flat" cmpd="sng">
            <a:solidFill>
              <a:srgbClr val="666666"/>
            </a:solidFill>
            <a:prstDash val="solid"/>
            <a:round/>
            <a:headEnd type="none" w="med" len="med"/>
            <a:tailEnd type="none" w="med" len="med"/>
          </a:ln>
        </p:spPr>
      </p:cxnSp>
      <p:cxnSp>
        <p:nvCxnSpPr>
          <p:cNvPr id="722" name="Google Shape;722;p44"/>
          <p:cNvCxnSpPr/>
          <p:nvPr/>
        </p:nvCxnSpPr>
        <p:spPr>
          <a:xfrm flipH="1">
            <a:off x="5913696" y="2641795"/>
            <a:ext cx="145200" cy="317700"/>
          </a:xfrm>
          <a:prstGeom prst="straightConnector1">
            <a:avLst/>
          </a:prstGeom>
          <a:noFill/>
          <a:ln w="28575" cap="flat" cmpd="sng">
            <a:solidFill>
              <a:srgbClr val="666666"/>
            </a:solidFill>
            <a:prstDash val="solid"/>
            <a:round/>
            <a:headEnd type="none" w="med" len="med"/>
            <a:tailEnd type="none" w="med" len="med"/>
          </a:ln>
        </p:spPr>
      </p:cxnSp>
      <p:cxnSp>
        <p:nvCxnSpPr>
          <p:cNvPr id="723" name="Google Shape;723;p44"/>
          <p:cNvCxnSpPr/>
          <p:nvPr/>
        </p:nvCxnSpPr>
        <p:spPr>
          <a:xfrm flipH="1">
            <a:off x="5801796" y="2641795"/>
            <a:ext cx="257100" cy="200400"/>
          </a:xfrm>
          <a:prstGeom prst="straightConnector1">
            <a:avLst/>
          </a:prstGeom>
          <a:noFill/>
          <a:ln w="28575" cap="flat" cmpd="sng">
            <a:solidFill>
              <a:srgbClr val="666666"/>
            </a:solidFill>
            <a:prstDash val="solid"/>
            <a:round/>
            <a:headEnd type="none" w="med" len="med"/>
            <a:tailEnd type="none" w="med" len="med"/>
          </a:ln>
        </p:spPr>
      </p:cxnSp>
      <p:cxnSp>
        <p:nvCxnSpPr>
          <p:cNvPr id="724" name="Google Shape;724;p44"/>
          <p:cNvCxnSpPr/>
          <p:nvPr/>
        </p:nvCxnSpPr>
        <p:spPr>
          <a:xfrm>
            <a:off x="6058896" y="2641795"/>
            <a:ext cx="317700" cy="300300"/>
          </a:xfrm>
          <a:prstGeom prst="straightConnector1">
            <a:avLst/>
          </a:prstGeom>
          <a:noFill/>
          <a:ln w="28575" cap="flat" cmpd="sng">
            <a:solidFill>
              <a:srgbClr val="666666"/>
            </a:solidFill>
            <a:prstDash val="solid"/>
            <a:round/>
            <a:headEnd type="none" w="med" len="med"/>
            <a:tailEnd type="none" w="med" len="med"/>
          </a:ln>
        </p:spPr>
      </p:cxnSp>
      <p:cxnSp>
        <p:nvCxnSpPr>
          <p:cNvPr id="725" name="Google Shape;725;p44"/>
          <p:cNvCxnSpPr>
            <a:endCxn id="708" idx="0"/>
          </p:cNvCxnSpPr>
          <p:nvPr/>
        </p:nvCxnSpPr>
        <p:spPr>
          <a:xfrm>
            <a:off x="6058950" y="2641661"/>
            <a:ext cx="653400" cy="182700"/>
          </a:xfrm>
          <a:prstGeom prst="straightConnector1">
            <a:avLst/>
          </a:prstGeom>
          <a:noFill/>
          <a:ln w="28575" cap="flat" cmpd="sng">
            <a:solidFill>
              <a:srgbClr val="666666"/>
            </a:solidFill>
            <a:prstDash val="solid"/>
            <a:round/>
            <a:headEnd type="none" w="med" len="med"/>
            <a:tailEnd type="none" w="med" len="med"/>
          </a:ln>
        </p:spPr>
      </p:cxnSp>
      <p:grpSp>
        <p:nvGrpSpPr>
          <p:cNvPr id="726" name="Google Shape;726;p44"/>
          <p:cNvGrpSpPr/>
          <p:nvPr/>
        </p:nvGrpSpPr>
        <p:grpSpPr>
          <a:xfrm>
            <a:off x="6210514" y="3261788"/>
            <a:ext cx="891900" cy="324600"/>
            <a:chOff x="4872396" y="2413195"/>
            <a:chExt cx="891900" cy="324600"/>
          </a:xfrm>
        </p:grpSpPr>
        <p:cxnSp>
          <p:nvCxnSpPr>
            <p:cNvPr id="727" name="Google Shape;727;p44"/>
            <p:cNvCxnSpPr/>
            <p:nvPr/>
          </p:nvCxnSpPr>
          <p:spPr>
            <a:xfrm flipH="1">
              <a:off x="5067696" y="2413195"/>
              <a:ext cx="305400" cy="324600"/>
            </a:xfrm>
            <a:prstGeom prst="straightConnector1">
              <a:avLst/>
            </a:prstGeom>
            <a:noFill/>
            <a:ln w="28575" cap="flat" cmpd="sng">
              <a:solidFill>
                <a:srgbClr val="666666"/>
              </a:solidFill>
              <a:prstDash val="solid"/>
              <a:round/>
              <a:headEnd type="none" w="med" len="med"/>
              <a:tailEnd type="none" w="med" len="med"/>
            </a:ln>
          </p:spPr>
        </p:cxnSp>
        <p:cxnSp>
          <p:nvCxnSpPr>
            <p:cNvPr id="728" name="Google Shape;728;p44"/>
            <p:cNvCxnSpPr/>
            <p:nvPr/>
          </p:nvCxnSpPr>
          <p:spPr>
            <a:xfrm flipH="1">
              <a:off x="4872396" y="2413195"/>
              <a:ext cx="500700" cy="300300"/>
            </a:xfrm>
            <a:prstGeom prst="straightConnector1">
              <a:avLst/>
            </a:prstGeom>
            <a:noFill/>
            <a:ln w="28575" cap="flat" cmpd="sng">
              <a:solidFill>
                <a:srgbClr val="666666"/>
              </a:solidFill>
              <a:prstDash val="solid"/>
              <a:round/>
              <a:headEnd type="none" w="med" len="med"/>
              <a:tailEnd type="none" w="med" len="med"/>
            </a:ln>
          </p:spPr>
        </p:cxnSp>
        <p:cxnSp>
          <p:nvCxnSpPr>
            <p:cNvPr id="729" name="Google Shape;729;p44"/>
            <p:cNvCxnSpPr/>
            <p:nvPr/>
          </p:nvCxnSpPr>
          <p:spPr>
            <a:xfrm>
              <a:off x="5373096" y="2413195"/>
              <a:ext cx="317700" cy="300300"/>
            </a:xfrm>
            <a:prstGeom prst="straightConnector1">
              <a:avLst/>
            </a:prstGeom>
            <a:noFill/>
            <a:ln w="28575" cap="flat" cmpd="sng">
              <a:solidFill>
                <a:srgbClr val="666666"/>
              </a:solidFill>
              <a:prstDash val="solid"/>
              <a:round/>
              <a:headEnd type="none" w="med" len="med"/>
              <a:tailEnd type="none" w="med" len="med"/>
            </a:ln>
          </p:spPr>
        </p:cxnSp>
        <p:cxnSp>
          <p:nvCxnSpPr>
            <p:cNvPr id="730" name="Google Shape;730;p44"/>
            <p:cNvCxnSpPr/>
            <p:nvPr/>
          </p:nvCxnSpPr>
          <p:spPr>
            <a:xfrm>
              <a:off x="5373096" y="2413195"/>
              <a:ext cx="391200" cy="227100"/>
            </a:xfrm>
            <a:prstGeom prst="straightConnector1">
              <a:avLst/>
            </a:prstGeom>
            <a:noFill/>
            <a:ln w="28575" cap="flat" cmpd="sng">
              <a:solidFill>
                <a:srgbClr val="666666"/>
              </a:solidFill>
              <a:prstDash val="solid"/>
              <a:round/>
              <a:headEnd type="none" w="med" len="med"/>
              <a:tailEnd type="none" w="med" len="med"/>
            </a:ln>
          </p:spPr>
        </p:cxnSp>
      </p:grpSp>
      <p:sp>
        <p:nvSpPr>
          <p:cNvPr id="731" name="Google Shape;731;p44"/>
          <p:cNvSpPr txBox="1"/>
          <p:nvPr/>
        </p:nvSpPr>
        <p:spPr>
          <a:xfrm>
            <a:off x="6485500" y="1719125"/>
            <a:ext cx="212400" cy="20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a:t>
            </a:r>
            <a:endParaRPr/>
          </a:p>
        </p:txBody>
      </p:sp>
      <p:sp>
        <p:nvSpPr>
          <p:cNvPr id="732" name="Google Shape;732;p44"/>
          <p:cNvSpPr txBox="1"/>
          <p:nvPr/>
        </p:nvSpPr>
        <p:spPr>
          <a:xfrm>
            <a:off x="8128425" y="1719125"/>
            <a:ext cx="212400" cy="20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a:t>
            </a:r>
            <a:endParaRPr/>
          </a:p>
        </p:txBody>
      </p:sp>
      <p:cxnSp>
        <p:nvCxnSpPr>
          <p:cNvPr id="733" name="Google Shape;733;p44"/>
          <p:cNvCxnSpPr/>
          <p:nvPr/>
        </p:nvCxnSpPr>
        <p:spPr>
          <a:xfrm flipH="1">
            <a:off x="8663809" y="2628759"/>
            <a:ext cx="26400" cy="324300"/>
          </a:xfrm>
          <a:prstGeom prst="straightConnector1">
            <a:avLst/>
          </a:prstGeom>
          <a:noFill/>
          <a:ln w="28575" cap="flat" cmpd="sng">
            <a:solidFill>
              <a:srgbClr val="666666"/>
            </a:solidFill>
            <a:prstDash val="solid"/>
            <a:round/>
            <a:headEnd type="none" w="med" len="med"/>
            <a:tailEnd type="none" w="med" len="med"/>
          </a:ln>
        </p:spPr>
      </p:cxnSp>
      <p:cxnSp>
        <p:nvCxnSpPr>
          <p:cNvPr id="734" name="Google Shape;734;p44"/>
          <p:cNvCxnSpPr>
            <a:stCxn id="704" idx="4"/>
            <a:endCxn id="705" idx="0"/>
          </p:cNvCxnSpPr>
          <p:nvPr/>
        </p:nvCxnSpPr>
        <p:spPr>
          <a:xfrm flipH="1">
            <a:off x="8312525" y="2623796"/>
            <a:ext cx="380700" cy="473100"/>
          </a:xfrm>
          <a:prstGeom prst="straightConnector1">
            <a:avLst/>
          </a:prstGeom>
          <a:noFill/>
          <a:ln w="28575" cap="flat" cmpd="sng">
            <a:solidFill>
              <a:srgbClr val="666666"/>
            </a:solidFill>
            <a:prstDash val="solid"/>
            <a:round/>
            <a:headEnd type="none" w="med" len="med"/>
            <a:tailEnd type="none" w="med" len="med"/>
          </a:ln>
        </p:spPr>
      </p:cxnSp>
      <p:cxnSp>
        <p:nvCxnSpPr>
          <p:cNvPr id="735" name="Google Shape;735;p44"/>
          <p:cNvCxnSpPr/>
          <p:nvPr/>
        </p:nvCxnSpPr>
        <p:spPr>
          <a:xfrm>
            <a:off x="8690209" y="2628759"/>
            <a:ext cx="317700" cy="300300"/>
          </a:xfrm>
          <a:prstGeom prst="straightConnector1">
            <a:avLst/>
          </a:prstGeom>
          <a:noFill/>
          <a:ln w="28575" cap="flat" cmpd="sng">
            <a:solidFill>
              <a:srgbClr val="666666"/>
            </a:solidFill>
            <a:prstDash val="solid"/>
            <a:round/>
            <a:headEnd type="none" w="med" len="med"/>
            <a:tailEnd type="none" w="med" len="med"/>
          </a:ln>
        </p:spPr>
      </p:cxnSp>
      <p:cxnSp>
        <p:nvCxnSpPr>
          <p:cNvPr id="736" name="Google Shape;736;p44"/>
          <p:cNvCxnSpPr/>
          <p:nvPr/>
        </p:nvCxnSpPr>
        <p:spPr>
          <a:xfrm>
            <a:off x="8690209" y="2628759"/>
            <a:ext cx="391200" cy="227100"/>
          </a:xfrm>
          <a:prstGeom prst="straightConnector1">
            <a:avLst/>
          </a:prstGeom>
          <a:noFill/>
          <a:ln w="28575" cap="flat" cmpd="sng">
            <a:solidFill>
              <a:srgbClr val="666666"/>
            </a:solidFill>
            <a:prstDash val="solid"/>
            <a:round/>
            <a:headEnd type="none" w="med" len="med"/>
            <a:tailEnd type="none" w="med" len="med"/>
          </a:ln>
        </p:spPr>
      </p:cxnSp>
      <p:cxnSp>
        <p:nvCxnSpPr>
          <p:cNvPr id="737" name="Google Shape;737;p44"/>
          <p:cNvCxnSpPr/>
          <p:nvPr/>
        </p:nvCxnSpPr>
        <p:spPr>
          <a:xfrm flipH="1">
            <a:off x="8067092" y="3527437"/>
            <a:ext cx="250200" cy="265800"/>
          </a:xfrm>
          <a:prstGeom prst="straightConnector1">
            <a:avLst/>
          </a:prstGeom>
          <a:noFill/>
          <a:ln w="28575" cap="flat" cmpd="sng">
            <a:solidFill>
              <a:srgbClr val="666666"/>
            </a:solidFill>
            <a:prstDash val="solid"/>
            <a:round/>
            <a:headEnd type="none" w="med" len="med"/>
            <a:tailEnd type="none" w="med" len="med"/>
          </a:ln>
        </p:spPr>
      </p:cxnSp>
      <p:cxnSp>
        <p:nvCxnSpPr>
          <p:cNvPr id="738" name="Google Shape;738;p44"/>
          <p:cNvCxnSpPr>
            <a:endCxn id="706" idx="0"/>
          </p:cNvCxnSpPr>
          <p:nvPr/>
        </p:nvCxnSpPr>
        <p:spPr>
          <a:xfrm flipH="1">
            <a:off x="7779525" y="3527377"/>
            <a:ext cx="537900" cy="329700"/>
          </a:xfrm>
          <a:prstGeom prst="straightConnector1">
            <a:avLst/>
          </a:prstGeom>
          <a:noFill/>
          <a:ln w="28575" cap="flat" cmpd="sng">
            <a:solidFill>
              <a:srgbClr val="666666"/>
            </a:solidFill>
            <a:prstDash val="solid"/>
            <a:round/>
            <a:headEnd type="none" w="med" len="med"/>
            <a:tailEnd type="none" w="med" len="med"/>
          </a:ln>
        </p:spPr>
      </p:cxnSp>
      <p:cxnSp>
        <p:nvCxnSpPr>
          <p:cNvPr id="739" name="Google Shape;739;p44"/>
          <p:cNvCxnSpPr/>
          <p:nvPr/>
        </p:nvCxnSpPr>
        <p:spPr>
          <a:xfrm>
            <a:off x="8317292" y="3527437"/>
            <a:ext cx="260100" cy="246000"/>
          </a:xfrm>
          <a:prstGeom prst="straightConnector1">
            <a:avLst/>
          </a:prstGeom>
          <a:noFill/>
          <a:ln w="28575" cap="flat" cmpd="sng">
            <a:solidFill>
              <a:srgbClr val="666666"/>
            </a:solidFill>
            <a:prstDash val="solid"/>
            <a:round/>
            <a:headEnd type="none" w="med" len="med"/>
            <a:tailEnd type="none" w="med" len="med"/>
          </a:ln>
        </p:spPr>
      </p:cxnSp>
      <p:cxnSp>
        <p:nvCxnSpPr>
          <p:cNvPr id="740" name="Google Shape;740;p44"/>
          <p:cNvCxnSpPr/>
          <p:nvPr/>
        </p:nvCxnSpPr>
        <p:spPr>
          <a:xfrm>
            <a:off x="8317292" y="3527437"/>
            <a:ext cx="320400" cy="186000"/>
          </a:xfrm>
          <a:prstGeom prst="straightConnector1">
            <a:avLst/>
          </a:prstGeom>
          <a:noFill/>
          <a:ln w="28575" cap="flat" cmpd="sng">
            <a:solidFill>
              <a:srgbClr val="666666"/>
            </a:solidFill>
            <a:prstDash val="solid"/>
            <a:round/>
            <a:headEnd type="none" w="med" len="med"/>
            <a:tailEnd type="none" w="med" len="med"/>
          </a:ln>
        </p:spPr>
      </p:cxnSp>
      <p:grpSp>
        <p:nvGrpSpPr>
          <p:cNvPr id="741" name="Google Shape;741;p44"/>
          <p:cNvGrpSpPr/>
          <p:nvPr/>
        </p:nvGrpSpPr>
        <p:grpSpPr>
          <a:xfrm>
            <a:off x="7365812" y="4294293"/>
            <a:ext cx="730377" cy="265815"/>
            <a:chOff x="4872396" y="2413195"/>
            <a:chExt cx="891900" cy="324600"/>
          </a:xfrm>
        </p:grpSpPr>
        <p:cxnSp>
          <p:nvCxnSpPr>
            <p:cNvPr id="742" name="Google Shape;742;p44"/>
            <p:cNvCxnSpPr/>
            <p:nvPr/>
          </p:nvCxnSpPr>
          <p:spPr>
            <a:xfrm flipH="1">
              <a:off x="5067696" y="2413195"/>
              <a:ext cx="305400" cy="324600"/>
            </a:xfrm>
            <a:prstGeom prst="straightConnector1">
              <a:avLst/>
            </a:prstGeom>
            <a:noFill/>
            <a:ln w="28575" cap="flat" cmpd="sng">
              <a:solidFill>
                <a:srgbClr val="666666"/>
              </a:solidFill>
              <a:prstDash val="solid"/>
              <a:round/>
              <a:headEnd type="none" w="med" len="med"/>
              <a:tailEnd type="none" w="med" len="med"/>
            </a:ln>
          </p:spPr>
        </p:cxnSp>
        <p:cxnSp>
          <p:nvCxnSpPr>
            <p:cNvPr id="743" name="Google Shape;743;p44"/>
            <p:cNvCxnSpPr/>
            <p:nvPr/>
          </p:nvCxnSpPr>
          <p:spPr>
            <a:xfrm flipH="1">
              <a:off x="4872396" y="2413195"/>
              <a:ext cx="500700" cy="300300"/>
            </a:xfrm>
            <a:prstGeom prst="straightConnector1">
              <a:avLst/>
            </a:prstGeom>
            <a:noFill/>
            <a:ln w="28575" cap="flat" cmpd="sng">
              <a:solidFill>
                <a:srgbClr val="666666"/>
              </a:solidFill>
              <a:prstDash val="solid"/>
              <a:round/>
              <a:headEnd type="none" w="med" len="med"/>
              <a:tailEnd type="none" w="med" len="med"/>
            </a:ln>
          </p:spPr>
        </p:cxnSp>
        <p:cxnSp>
          <p:nvCxnSpPr>
            <p:cNvPr id="744" name="Google Shape;744;p44"/>
            <p:cNvCxnSpPr/>
            <p:nvPr/>
          </p:nvCxnSpPr>
          <p:spPr>
            <a:xfrm>
              <a:off x="5373096" y="2413195"/>
              <a:ext cx="317700" cy="300300"/>
            </a:xfrm>
            <a:prstGeom prst="straightConnector1">
              <a:avLst/>
            </a:prstGeom>
            <a:noFill/>
            <a:ln w="28575" cap="flat" cmpd="sng">
              <a:solidFill>
                <a:srgbClr val="666666"/>
              </a:solidFill>
              <a:prstDash val="solid"/>
              <a:round/>
              <a:headEnd type="none" w="med" len="med"/>
              <a:tailEnd type="none" w="med" len="med"/>
            </a:ln>
          </p:spPr>
        </p:cxnSp>
        <p:cxnSp>
          <p:nvCxnSpPr>
            <p:cNvPr id="745" name="Google Shape;745;p44"/>
            <p:cNvCxnSpPr/>
            <p:nvPr/>
          </p:nvCxnSpPr>
          <p:spPr>
            <a:xfrm>
              <a:off x="5373096" y="2413195"/>
              <a:ext cx="391200" cy="227100"/>
            </a:xfrm>
            <a:prstGeom prst="straightConnector1">
              <a:avLst/>
            </a:prstGeom>
            <a:noFill/>
            <a:ln w="28575" cap="flat" cmpd="sng">
              <a:solidFill>
                <a:srgbClr val="666666"/>
              </a:solidFill>
              <a:prstDash val="solid"/>
              <a:round/>
              <a:headEnd type="none" w="med" len="med"/>
              <a:tailEnd type="none" w="med" len="med"/>
            </a:ln>
          </p:spPr>
        </p:cxnSp>
      </p:grpSp>
      <p:cxnSp>
        <p:nvCxnSpPr>
          <p:cNvPr id="746" name="Google Shape;746;p44"/>
          <p:cNvCxnSpPr/>
          <p:nvPr/>
        </p:nvCxnSpPr>
        <p:spPr>
          <a:xfrm>
            <a:off x="7771017" y="4291627"/>
            <a:ext cx="0" cy="165900"/>
          </a:xfrm>
          <a:prstGeom prst="straightConnector1">
            <a:avLst/>
          </a:prstGeom>
          <a:noFill/>
          <a:ln w="28575" cap="flat" cmpd="sng">
            <a:solidFill>
              <a:srgbClr val="666666"/>
            </a:solidFill>
            <a:prstDash val="solid"/>
            <a:round/>
            <a:headEnd type="none" w="med" len="med"/>
            <a:tailEnd type="none" w="med" len="med"/>
          </a:ln>
        </p:spPr>
      </p:cxnSp>
      <p:cxnSp>
        <p:nvCxnSpPr>
          <p:cNvPr id="747" name="Google Shape;747;p44"/>
          <p:cNvCxnSpPr>
            <a:stCxn id="704" idx="4"/>
          </p:cNvCxnSpPr>
          <p:nvPr/>
        </p:nvCxnSpPr>
        <p:spPr>
          <a:xfrm>
            <a:off x="8693225" y="2623796"/>
            <a:ext cx="117000" cy="304800"/>
          </a:xfrm>
          <a:prstGeom prst="straightConnector1">
            <a:avLst/>
          </a:prstGeom>
          <a:noFill/>
          <a:ln w="28575" cap="flat" cmpd="sng">
            <a:solidFill>
              <a:srgbClr val="666666"/>
            </a:solidFill>
            <a:prstDash val="solid"/>
            <a:round/>
            <a:headEnd type="none" w="med" len="med"/>
            <a:tailEnd type="none" w="med" len="med"/>
          </a:ln>
        </p:spPr>
      </p:cxnSp>
      <p:sp>
        <p:nvSpPr>
          <p:cNvPr id="748" name="Google Shape;748;p44"/>
          <p:cNvSpPr txBox="1"/>
          <p:nvPr/>
        </p:nvSpPr>
        <p:spPr>
          <a:xfrm>
            <a:off x="8208775" y="2656950"/>
            <a:ext cx="212400" cy="18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a:t>
            </a:r>
            <a:endParaRPr/>
          </a:p>
        </p:txBody>
      </p:sp>
      <p:sp>
        <p:nvSpPr>
          <p:cNvPr id="749" name="Google Shape;749;p44"/>
          <p:cNvSpPr txBox="1"/>
          <p:nvPr/>
        </p:nvSpPr>
        <p:spPr>
          <a:xfrm>
            <a:off x="7661108" y="3532960"/>
            <a:ext cx="212400" cy="18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d</a:t>
            </a:r>
            <a:endParaRPr/>
          </a:p>
        </p:txBody>
      </p:sp>
      <p:sp>
        <p:nvSpPr>
          <p:cNvPr id="750" name="Google Shape;750;p44"/>
          <p:cNvSpPr txBox="1"/>
          <p:nvPr/>
        </p:nvSpPr>
        <p:spPr>
          <a:xfrm>
            <a:off x="6409300" y="2436975"/>
            <a:ext cx="212400" cy="20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w</a:t>
            </a:r>
            <a:endParaRPr/>
          </a:p>
        </p:txBody>
      </p:sp>
      <p:sp>
        <p:nvSpPr>
          <p:cNvPr id="751" name="Google Shape;751;p44"/>
          <p:cNvSpPr txBox="1"/>
          <p:nvPr/>
        </p:nvSpPr>
        <p:spPr>
          <a:xfrm>
            <a:off x="6702145" y="3360656"/>
            <a:ext cx="212400" cy="20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l</a:t>
            </a:r>
            <a:endParaRPr/>
          </a:p>
        </p:txBody>
      </p:sp>
      <p:sp>
        <p:nvSpPr>
          <p:cNvPr id="752" name="Google Shape;752;p44"/>
          <p:cNvSpPr txBox="1"/>
          <p:nvPr/>
        </p:nvSpPr>
        <p:spPr>
          <a:xfrm>
            <a:off x="5974975" y="2777400"/>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753" name="Google Shape;753;p44"/>
          <p:cNvSpPr txBox="1"/>
          <p:nvPr/>
        </p:nvSpPr>
        <p:spPr>
          <a:xfrm>
            <a:off x="6452325" y="4402800"/>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grpSp>
        <p:nvGrpSpPr>
          <p:cNvPr id="754" name="Google Shape;754;p44"/>
          <p:cNvGrpSpPr/>
          <p:nvPr/>
        </p:nvGrpSpPr>
        <p:grpSpPr>
          <a:xfrm>
            <a:off x="6304691" y="4129057"/>
            <a:ext cx="730377" cy="265815"/>
            <a:chOff x="4872396" y="2413195"/>
            <a:chExt cx="891900" cy="324600"/>
          </a:xfrm>
        </p:grpSpPr>
        <p:cxnSp>
          <p:nvCxnSpPr>
            <p:cNvPr id="755" name="Google Shape;755;p44"/>
            <p:cNvCxnSpPr/>
            <p:nvPr/>
          </p:nvCxnSpPr>
          <p:spPr>
            <a:xfrm flipH="1">
              <a:off x="5067696" y="2413195"/>
              <a:ext cx="305400" cy="324600"/>
            </a:xfrm>
            <a:prstGeom prst="straightConnector1">
              <a:avLst/>
            </a:prstGeom>
            <a:noFill/>
            <a:ln w="28575" cap="flat" cmpd="sng">
              <a:solidFill>
                <a:srgbClr val="666666"/>
              </a:solidFill>
              <a:prstDash val="solid"/>
              <a:round/>
              <a:headEnd type="none" w="med" len="med"/>
              <a:tailEnd type="none" w="med" len="med"/>
            </a:ln>
          </p:spPr>
        </p:cxnSp>
        <p:cxnSp>
          <p:nvCxnSpPr>
            <p:cNvPr id="756" name="Google Shape;756;p44"/>
            <p:cNvCxnSpPr/>
            <p:nvPr/>
          </p:nvCxnSpPr>
          <p:spPr>
            <a:xfrm flipH="1">
              <a:off x="4872396" y="2413195"/>
              <a:ext cx="500700" cy="300300"/>
            </a:xfrm>
            <a:prstGeom prst="straightConnector1">
              <a:avLst/>
            </a:prstGeom>
            <a:noFill/>
            <a:ln w="28575" cap="flat" cmpd="sng">
              <a:solidFill>
                <a:srgbClr val="666666"/>
              </a:solidFill>
              <a:prstDash val="solid"/>
              <a:round/>
              <a:headEnd type="none" w="med" len="med"/>
              <a:tailEnd type="none" w="med" len="med"/>
            </a:ln>
          </p:spPr>
        </p:cxnSp>
        <p:cxnSp>
          <p:nvCxnSpPr>
            <p:cNvPr id="757" name="Google Shape;757;p44"/>
            <p:cNvCxnSpPr/>
            <p:nvPr/>
          </p:nvCxnSpPr>
          <p:spPr>
            <a:xfrm>
              <a:off x="5373096" y="2413195"/>
              <a:ext cx="317700" cy="300300"/>
            </a:xfrm>
            <a:prstGeom prst="straightConnector1">
              <a:avLst/>
            </a:prstGeom>
            <a:noFill/>
            <a:ln w="28575" cap="flat" cmpd="sng">
              <a:solidFill>
                <a:srgbClr val="666666"/>
              </a:solidFill>
              <a:prstDash val="solid"/>
              <a:round/>
              <a:headEnd type="none" w="med" len="med"/>
              <a:tailEnd type="none" w="med" len="med"/>
            </a:ln>
          </p:spPr>
        </p:cxnSp>
        <p:cxnSp>
          <p:nvCxnSpPr>
            <p:cNvPr id="758" name="Google Shape;758;p44"/>
            <p:cNvCxnSpPr/>
            <p:nvPr/>
          </p:nvCxnSpPr>
          <p:spPr>
            <a:xfrm>
              <a:off x="5373096" y="2413195"/>
              <a:ext cx="391200" cy="227100"/>
            </a:xfrm>
            <a:prstGeom prst="straightConnector1">
              <a:avLst/>
            </a:prstGeom>
            <a:noFill/>
            <a:ln w="28575" cap="flat" cmpd="sng">
              <a:solidFill>
                <a:srgbClr val="666666"/>
              </a:solidFill>
              <a:prstDash val="solid"/>
              <a:round/>
              <a:headEnd type="none" w="med" len="med"/>
              <a:tailEnd type="none" w="med" len="med"/>
            </a:ln>
          </p:spPr>
        </p:cxnSp>
      </p:grpSp>
      <p:cxnSp>
        <p:nvCxnSpPr>
          <p:cNvPr id="759" name="Google Shape;759;p44"/>
          <p:cNvCxnSpPr/>
          <p:nvPr/>
        </p:nvCxnSpPr>
        <p:spPr>
          <a:xfrm>
            <a:off x="6709896" y="4126391"/>
            <a:ext cx="0" cy="165900"/>
          </a:xfrm>
          <a:prstGeom prst="straightConnector1">
            <a:avLst/>
          </a:prstGeom>
          <a:noFill/>
          <a:ln w="28575" cap="flat" cmpd="sng">
            <a:solidFill>
              <a:srgbClr val="666666"/>
            </a:solidFill>
            <a:prstDash val="solid"/>
            <a:round/>
            <a:headEnd type="none" w="med" len="med"/>
            <a:tailEnd type="none" w="med" len="med"/>
          </a:ln>
        </p:spPr>
      </p:cxnSp>
      <p:sp>
        <p:nvSpPr>
          <p:cNvPr id="760" name="Google Shape;760;p44"/>
          <p:cNvSpPr txBox="1"/>
          <p:nvPr/>
        </p:nvSpPr>
        <p:spPr>
          <a:xfrm>
            <a:off x="7563150" y="4560100"/>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761" name="Google Shape;761;p44"/>
          <p:cNvSpPr txBox="1"/>
          <p:nvPr/>
        </p:nvSpPr>
        <p:spPr>
          <a:xfrm>
            <a:off x="8243200" y="3688225"/>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762" name="Google Shape;762;p44"/>
          <p:cNvSpPr txBox="1"/>
          <p:nvPr/>
        </p:nvSpPr>
        <p:spPr>
          <a:xfrm>
            <a:off x="8762975" y="2880913"/>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763" name="Google Shape;763;p44"/>
          <p:cNvSpPr txBox="1"/>
          <p:nvPr/>
        </p:nvSpPr>
        <p:spPr>
          <a:xfrm>
            <a:off x="7178588" y="2097963"/>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764" name="Google Shape;764;p44"/>
          <p:cNvSpPr txBox="1"/>
          <p:nvPr/>
        </p:nvSpPr>
        <p:spPr>
          <a:xfrm>
            <a:off x="5868100" y="3531900"/>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765" name="Google Shape;765;p44"/>
          <p:cNvSpPr txBox="1"/>
          <p:nvPr/>
        </p:nvSpPr>
        <p:spPr>
          <a:xfrm>
            <a:off x="7070450" y="3413725"/>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C9DAF8"/>
        </a:solidFill>
        <a:effectLst/>
      </p:bgPr>
    </p:bg>
    <p:spTree>
      <p:nvGrpSpPr>
        <p:cNvPr id="1" name="Shape 769"/>
        <p:cNvGrpSpPr/>
        <p:nvPr/>
      </p:nvGrpSpPr>
      <p:grpSpPr>
        <a:xfrm>
          <a:off x="0" y="0"/>
          <a:ext cx="0" cy="0"/>
          <a:chOff x="0" y="0"/>
          <a:chExt cx="0" cy="0"/>
        </a:xfrm>
      </p:grpSpPr>
      <p:sp>
        <p:nvSpPr>
          <p:cNvPr id="770" name="Google Shape;770;p45"/>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Trie Performance in Terms of N</a:t>
            </a:r>
            <a:endParaRPr/>
          </a:p>
        </p:txBody>
      </p:sp>
      <p:sp>
        <p:nvSpPr>
          <p:cNvPr id="771" name="Google Shape;771;p45"/>
          <p:cNvSpPr txBox="1">
            <a:spLocks noGrp="1"/>
          </p:cNvSpPr>
          <p:nvPr>
            <p:ph type="body" idx="1"/>
          </p:nvPr>
        </p:nvSpPr>
        <p:spPr>
          <a:xfrm>
            <a:off x="90600" y="404100"/>
            <a:ext cx="89010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Given a Trie with N keys. What is the:                                           [N = 6]</a:t>
            </a:r>
            <a:endParaRPr/>
          </a:p>
          <a:p>
            <a:pPr marL="457200" lvl="0" indent="-342900" algn="l" rtl="0">
              <a:spcBef>
                <a:spcPts val="600"/>
              </a:spcBef>
              <a:spcAft>
                <a:spcPts val="0"/>
              </a:spcAft>
              <a:buSzPts val="1800"/>
              <a:buChar char="●"/>
            </a:pPr>
            <a:r>
              <a:rPr lang="en"/>
              <a:t>Add runtime? </a:t>
            </a:r>
            <a:endParaRPr/>
          </a:p>
          <a:p>
            <a:pPr marL="457200" lvl="0" indent="-342900" algn="l" rtl="0">
              <a:spcBef>
                <a:spcPts val="0"/>
              </a:spcBef>
              <a:spcAft>
                <a:spcPts val="0"/>
              </a:spcAft>
              <a:buSzPts val="1800"/>
              <a:buChar char="●"/>
            </a:pPr>
            <a:r>
              <a:rPr lang="en"/>
              <a:t>Contains runtime?</a:t>
            </a:r>
            <a:endParaRPr/>
          </a:p>
        </p:txBody>
      </p:sp>
      <p:sp>
        <p:nvSpPr>
          <p:cNvPr id="772" name="Google Shape;772;p45"/>
          <p:cNvSpPr/>
          <p:nvPr/>
        </p:nvSpPr>
        <p:spPr>
          <a:xfrm>
            <a:off x="6454581" y="1018047"/>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773" name="Google Shape;773;p45"/>
          <p:cNvSpPr/>
          <p:nvPr/>
        </p:nvSpPr>
        <p:spPr>
          <a:xfrm>
            <a:off x="7815926" y="1770967"/>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Consolas"/>
              <a:ea typeface="Consolas"/>
              <a:cs typeface="Consolas"/>
              <a:sym typeface="Consolas"/>
            </a:endParaRPr>
          </a:p>
        </p:txBody>
      </p:sp>
      <p:sp>
        <p:nvSpPr>
          <p:cNvPr id="774" name="Google Shape;774;p45"/>
          <p:cNvSpPr/>
          <p:nvPr/>
        </p:nvSpPr>
        <p:spPr>
          <a:xfrm>
            <a:off x="7435351" y="2676920"/>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Consolas"/>
              <a:ea typeface="Consolas"/>
              <a:cs typeface="Consolas"/>
              <a:sym typeface="Consolas"/>
            </a:endParaRPr>
          </a:p>
        </p:txBody>
      </p:sp>
      <p:sp>
        <p:nvSpPr>
          <p:cNvPr id="775" name="Google Shape;775;p45"/>
          <p:cNvSpPr/>
          <p:nvPr/>
        </p:nvSpPr>
        <p:spPr>
          <a:xfrm>
            <a:off x="6902226" y="3437148"/>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Consolas"/>
              <a:ea typeface="Consolas"/>
              <a:cs typeface="Consolas"/>
              <a:sym typeface="Consolas"/>
            </a:endParaRPr>
          </a:p>
        </p:txBody>
      </p:sp>
      <p:sp>
        <p:nvSpPr>
          <p:cNvPr id="776" name="Google Shape;776;p45"/>
          <p:cNvSpPr/>
          <p:nvPr/>
        </p:nvSpPr>
        <p:spPr>
          <a:xfrm>
            <a:off x="5194951" y="1770983"/>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Consolas"/>
              <a:ea typeface="Consolas"/>
              <a:cs typeface="Consolas"/>
              <a:sym typeface="Consolas"/>
            </a:endParaRPr>
          </a:p>
        </p:txBody>
      </p:sp>
      <p:sp>
        <p:nvSpPr>
          <p:cNvPr id="777" name="Google Shape;777;p45"/>
          <p:cNvSpPr/>
          <p:nvPr/>
        </p:nvSpPr>
        <p:spPr>
          <a:xfrm>
            <a:off x="5835051" y="2404433"/>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Consolas"/>
              <a:ea typeface="Consolas"/>
              <a:cs typeface="Consolas"/>
              <a:sym typeface="Consolas"/>
            </a:endParaRPr>
          </a:p>
        </p:txBody>
      </p:sp>
      <p:sp>
        <p:nvSpPr>
          <p:cNvPr id="778" name="Google Shape;778;p45"/>
          <p:cNvSpPr/>
          <p:nvPr/>
        </p:nvSpPr>
        <p:spPr>
          <a:xfrm>
            <a:off x="5835051" y="3268308"/>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Consolas"/>
              <a:ea typeface="Consolas"/>
              <a:cs typeface="Consolas"/>
              <a:sym typeface="Consolas"/>
            </a:endParaRPr>
          </a:p>
        </p:txBody>
      </p:sp>
      <p:cxnSp>
        <p:nvCxnSpPr>
          <p:cNvPr id="779" name="Google Shape;779;p45"/>
          <p:cNvCxnSpPr>
            <a:stCxn id="772" idx="4"/>
            <a:endCxn id="773" idx="0"/>
          </p:cNvCxnSpPr>
          <p:nvPr/>
        </p:nvCxnSpPr>
        <p:spPr>
          <a:xfrm>
            <a:off x="6671031" y="1450947"/>
            <a:ext cx="1361400" cy="320100"/>
          </a:xfrm>
          <a:prstGeom prst="straightConnector1">
            <a:avLst/>
          </a:prstGeom>
          <a:noFill/>
          <a:ln w="28575" cap="flat" cmpd="sng">
            <a:solidFill>
              <a:schemeClr val="dk2"/>
            </a:solidFill>
            <a:prstDash val="solid"/>
            <a:round/>
            <a:headEnd type="none" w="med" len="med"/>
            <a:tailEnd type="none" w="med" len="med"/>
          </a:ln>
        </p:spPr>
      </p:cxnSp>
      <p:cxnSp>
        <p:nvCxnSpPr>
          <p:cNvPr id="780" name="Google Shape;780;p45"/>
          <p:cNvCxnSpPr>
            <a:stCxn id="774" idx="4"/>
            <a:endCxn id="781" idx="0"/>
          </p:cNvCxnSpPr>
          <p:nvPr/>
        </p:nvCxnSpPr>
        <p:spPr>
          <a:xfrm>
            <a:off x="7651801" y="3109820"/>
            <a:ext cx="244500" cy="515700"/>
          </a:xfrm>
          <a:prstGeom prst="straightConnector1">
            <a:avLst/>
          </a:prstGeom>
          <a:noFill/>
          <a:ln w="28575" cap="flat" cmpd="sng">
            <a:solidFill>
              <a:schemeClr val="dk2"/>
            </a:solidFill>
            <a:prstDash val="solid"/>
            <a:round/>
            <a:headEnd type="none" w="med" len="med"/>
            <a:tailEnd type="none" w="med" len="med"/>
          </a:ln>
        </p:spPr>
      </p:cxnSp>
      <p:cxnSp>
        <p:nvCxnSpPr>
          <p:cNvPr id="782" name="Google Shape;782;p45"/>
          <p:cNvCxnSpPr>
            <a:stCxn id="774" idx="4"/>
          </p:cNvCxnSpPr>
          <p:nvPr/>
        </p:nvCxnSpPr>
        <p:spPr>
          <a:xfrm flipH="1">
            <a:off x="7023601" y="3109820"/>
            <a:ext cx="628200" cy="133800"/>
          </a:xfrm>
          <a:prstGeom prst="straightConnector1">
            <a:avLst/>
          </a:prstGeom>
          <a:noFill/>
          <a:ln w="28575" cap="flat" cmpd="sng">
            <a:solidFill>
              <a:schemeClr val="dk2"/>
            </a:solidFill>
            <a:prstDash val="solid"/>
            <a:round/>
            <a:headEnd type="none" w="med" len="med"/>
            <a:tailEnd type="none" w="med" len="med"/>
          </a:ln>
        </p:spPr>
      </p:cxnSp>
      <p:cxnSp>
        <p:nvCxnSpPr>
          <p:cNvPr id="783" name="Google Shape;783;p45"/>
          <p:cNvCxnSpPr>
            <a:stCxn id="772" idx="4"/>
          </p:cNvCxnSpPr>
          <p:nvPr/>
        </p:nvCxnSpPr>
        <p:spPr>
          <a:xfrm flipH="1">
            <a:off x="5411331" y="1450947"/>
            <a:ext cx="1259700" cy="320100"/>
          </a:xfrm>
          <a:prstGeom prst="straightConnector1">
            <a:avLst/>
          </a:prstGeom>
          <a:noFill/>
          <a:ln w="28575" cap="flat" cmpd="sng">
            <a:solidFill>
              <a:schemeClr val="dk2"/>
            </a:solidFill>
            <a:prstDash val="solid"/>
            <a:round/>
            <a:headEnd type="none" w="med" len="med"/>
            <a:tailEnd type="none" w="med" len="med"/>
          </a:ln>
        </p:spPr>
      </p:cxnSp>
      <p:cxnSp>
        <p:nvCxnSpPr>
          <p:cNvPr id="784" name="Google Shape;784;p45"/>
          <p:cNvCxnSpPr/>
          <p:nvPr/>
        </p:nvCxnSpPr>
        <p:spPr>
          <a:xfrm>
            <a:off x="5411401" y="2203883"/>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785" name="Google Shape;785;p45"/>
          <p:cNvCxnSpPr>
            <a:endCxn id="778" idx="0"/>
          </p:cNvCxnSpPr>
          <p:nvPr/>
        </p:nvCxnSpPr>
        <p:spPr>
          <a:xfrm>
            <a:off x="6048201" y="2863008"/>
            <a:ext cx="3300" cy="405300"/>
          </a:xfrm>
          <a:prstGeom prst="straightConnector1">
            <a:avLst/>
          </a:prstGeom>
          <a:noFill/>
          <a:ln w="28575" cap="flat" cmpd="sng">
            <a:solidFill>
              <a:schemeClr val="dk2"/>
            </a:solidFill>
            <a:prstDash val="solid"/>
            <a:round/>
            <a:headEnd type="none" w="med" len="med"/>
            <a:tailEnd type="none" w="med" len="med"/>
          </a:ln>
        </p:spPr>
      </p:cxnSp>
      <p:cxnSp>
        <p:nvCxnSpPr>
          <p:cNvPr id="786" name="Google Shape;786;p45"/>
          <p:cNvCxnSpPr>
            <a:stCxn id="772" idx="4"/>
          </p:cNvCxnSpPr>
          <p:nvPr/>
        </p:nvCxnSpPr>
        <p:spPr>
          <a:xfrm flipH="1">
            <a:off x="6365631" y="1450947"/>
            <a:ext cx="305400" cy="324600"/>
          </a:xfrm>
          <a:prstGeom prst="straightConnector1">
            <a:avLst/>
          </a:prstGeom>
          <a:noFill/>
          <a:ln w="28575" cap="flat" cmpd="sng">
            <a:solidFill>
              <a:schemeClr val="dk2"/>
            </a:solidFill>
            <a:prstDash val="solid"/>
            <a:round/>
            <a:headEnd type="none" w="med" len="med"/>
            <a:tailEnd type="none" w="med" len="med"/>
          </a:ln>
        </p:spPr>
      </p:cxnSp>
      <p:cxnSp>
        <p:nvCxnSpPr>
          <p:cNvPr id="787" name="Google Shape;787;p45"/>
          <p:cNvCxnSpPr>
            <a:stCxn id="772" idx="4"/>
          </p:cNvCxnSpPr>
          <p:nvPr/>
        </p:nvCxnSpPr>
        <p:spPr>
          <a:xfrm>
            <a:off x="6671031" y="1450947"/>
            <a:ext cx="317700" cy="300300"/>
          </a:xfrm>
          <a:prstGeom prst="straightConnector1">
            <a:avLst/>
          </a:prstGeom>
          <a:noFill/>
          <a:ln w="28575" cap="flat" cmpd="sng">
            <a:solidFill>
              <a:schemeClr val="dk2"/>
            </a:solidFill>
            <a:prstDash val="solid"/>
            <a:round/>
            <a:headEnd type="none" w="med" len="med"/>
            <a:tailEnd type="none" w="med" len="med"/>
          </a:ln>
        </p:spPr>
      </p:cxnSp>
      <p:cxnSp>
        <p:nvCxnSpPr>
          <p:cNvPr id="788" name="Google Shape;788;p45"/>
          <p:cNvCxnSpPr>
            <a:stCxn id="772" idx="4"/>
          </p:cNvCxnSpPr>
          <p:nvPr/>
        </p:nvCxnSpPr>
        <p:spPr>
          <a:xfrm>
            <a:off x="6671031" y="1450947"/>
            <a:ext cx="48900" cy="361500"/>
          </a:xfrm>
          <a:prstGeom prst="straightConnector1">
            <a:avLst/>
          </a:prstGeom>
          <a:noFill/>
          <a:ln w="28575" cap="flat" cmpd="sng">
            <a:solidFill>
              <a:schemeClr val="dk2"/>
            </a:solidFill>
            <a:prstDash val="solid"/>
            <a:round/>
            <a:headEnd type="none" w="med" len="med"/>
            <a:tailEnd type="none" w="med" len="med"/>
          </a:ln>
        </p:spPr>
      </p:cxnSp>
      <p:cxnSp>
        <p:nvCxnSpPr>
          <p:cNvPr id="789" name="Google Shape;789;p45"/>
          <p:cNvCxnSpPr>
            <a:stCxn id="772" idx="4"/>
          </p:cNvCxnSpPr>
          <p:nvPr/>
        </p:nvCxnSpPr>
        <p:spPr>
          <a:xfrm flipH="1">
            <a:off x="6561231" y="1450947"/>
            <a:ext cx="109800" cy="336900"/>
          </a:xfrm>
          <a:prstGeom prst="straightConnector1">
            <a:avLst/>
          </a:prstGeom>
          <a:noFill/>
          <a:ln w="28575" cap="flat" cmpd="sng">
            <a:solidFill>
              <a:schemeClr val="dk2"/>
            </a:solidFill>
            <a:prstDash val="solid"/>
            <a:round/>
            <a:headEnd type="none" w="med" len="med"/>
            <a:tailEnd type="none" w="med" len="med"/>
          </a:ln>
        </p:spPr>
      </p:cxnSp>
      <p:cxnSp>
        <p:nvCxnSpPr>
          <p:cNvPr id="790" name="Google Shape;790;p45"/>
          <p:cNvCxnSpPr>
            <a:stCxn id="772" idx="4"/>
          </p:cNvCxnSpPr>
          <p:nvPr/>
        </p:nvCxnSpPr>
        <p:spPr>
          <a:xfrm flipH="1">
            <a:off x="6170331" y="1450947"/>
            <a:ext cx="500700" cy="300300"/>
          </a:xfrm>
          <a:prstGeom prst="straightConnector1">
            <a:avLst/>
          </a:prstGeom>
          <a:noFill/>
          <a:ln w="28575" cap="flat" cmpd="sng">
            <a:solidFill>
              <a:schemeClr val="dk2"/>
            </a:solidFill>
            <a:prstDash val="solid"/>
            <a:round/>
            <a:headEnd type="none" w="med" len="med"/>
            <a:tailEnd type="none" w="med" len="med"/>
          </a:ln>
        </p:spPr>
      </p:cxnSp>
      <p:cxnSp>
        <p:nvCxnSpPr>
          <p:cNvPr id="791" name="Google Shape;791;p45"/>
          <p:cNvCxnSpPr>
            <a:stCxn id="772" idx="4"/>
          </p:cNvCxnSpPr>
          <p:nvPr/>
        </p:nvCxnSpPr>
        <p:spPr>
          <a:xfrm>
            <a:off x="6671031" y="1450947"/>
            <a:ext cx="391200" cy="227100"/>
          </a:xfrm>
          <a:prstGeom prst="straightConnector1">
            <a:avLst/>
          </a:prstGeom>
          <a:noFill/>
          <a:ln w="28575" cap="flat" cmpd="sng">
            <a:solidFill>
              <a:schemeClr val="dk2"/>
            </a:solidFill>
            <a:prstDash val="solid"/>
            <a:round/>
            <a:headEnd type="none" w="med" len="med"/>
            <a:tailEnd type="none" w="med" len="med"/>
          </a:ln>
        </p:spPr>
      </p:cxnSp>
      <p:cxnSp>
        <p:nvCxnSpPr>
          <p:cNvPr id="792" name="Google Shape;792;p45"/>
          <p:cNvCxnSpPr/>
          <p:nvPr/>
        </p:nvCxnSpPr>
        <p:spPr>
          <a:xfrm flipH="1">
            <a:off x="5092648" y="2221867"/>
            <a:ext cx="305400" cy="324600"/>
          </a:xfrm>
          <a:prstGeom prst="straightConnector1">
            <a:avLst/>
          </a:prstGeom>
          <a:noFill/>
          <a:ln w="28575" cap="flat" cmpd="sng">
            <a:solidFill>
              <a:schemeClr val="dk2"/>
            </a:solidFill>
            <a:prstDash val="solid"/>
            <a:round/>
            <a:headEnd type="none" w="med" len="med"/>
            <a:tailEnd type="none" w="med" len="med"/>
          </a:ln>
        </p:spPr>
      </p:cxnSp>
      <p:cxnSp>
        <p:nvCxnSpPr>
          <p:cNvPr id="793" name="Google Shape;793;p45"/>
          <p:cNvCxnSpPr/>
          <p:nvPr/>
        </p:nvCxnSpPr>
        <p:spPr>
          <a:xfrm flipH="1">
            <a:off x="4897348" y="2221867"/>
            <a:ext cx="500700" cy="300300"/>
          </a:xfrm>
          <a:prstGeom prst="straightConnector1">
            <a:avLst/>
          </a:prstGeom>
          <a:noFill/>
          <a:ln w="28575" cap="flat" cmpd="sng">
            <a:solidFill>
              <a:schemeClr val="dk2"/>
            </a:solidFill>
            <a:prstDash val="solid"/>
            <a:round/>
            <a:headEnd type="none" w="med" len="med"/>
            <a:tailEnd type="none" w="med" len="med"/>
          </a:ln>
        </p:spPr>
      </p:cxnSp>
      <p:cxnSp>
        <p:nvCxnSpPr>
          <p:cNvPr id="794" name="Google Shape;794;p45"/>
          <p:cNvCxnSpPr/>
          <p:nvPr/>
        </p:nvCxnSpPr>
        <p:spPr>
          <a:xfrm>
            <a:off x="5398048" y="2221867"/>
            <a:ext cx="317700" cy="300300"/>
          </a:xfrm>
          <a:prstGeom prst="straightConnector1">
            <a:avLst/>
          </a:prstGeom>
          <a:noFill/>
          <a:ln w="28575" cap="flat" cmpd="sng">
            <a:solidFill>
              <a:schemeClr val="dk2"/>
            </a:solidFill>
            <a:prstDash val="solid"/>
            <a:round/>
            <a:headEnd type="none" w="med" len="med"/>
            <a:tailEnd type="none" w="med" len="med"/>
          </a:ln>
        </p:spPr>
      </p:cxnSp>
      <p:cxnSp>
        <p:nvCxnSpPr>
          <p:cNvPr id="795" name="Google Shape;795;p45"/>
          <p:cNvCxnSpPr>
            <a:endCxn id="777" idx="0"/>
          </p:cNvCxnSpPr>
          <p:nvPr/>
        </p:nvCxnSpPr>
        <p:spPr>
          <a:xfrm>
            <a:off x="5398101" y="2221733"/>
            <a:ext cx="653400" cy="182700"/>
          </a:xfrm>
          <a:prstGeom prst="straightConnector1">
            <a:avLst/>
          </a:prstGeom>
          <a:noFill/>
          <a:ln w="28575" cap="flat" cmpd="sng">
            <a:solidFill>
              <a:schemeClr val="dk2"/>
            </a:solidFill>
            <a:prstDash val="solid"/>
            <a:round/>
            <a:headEnd type="none" w="med" len="med"/>
            <a:tailEnd type="none" w="med" len="med"/>
          </a:ln>
        </p:spPr>
      </p:cxnSp>
      <p:grpSp>
        <p:nvGrpSpPr>
          <p:cNvPr id="796" name="Google Shape;796;p45"/>
          <p:cNvGrpSpPr/>
          <p:nvPr/>
        </p:nvGrpSpPr>
        <p:grpSpPr>
          <a:xfrm>
            <a:off x="5549665" y="2841859"/>
            <a:ext cx="891900" cy="324600"/>
            <a:chOff x="4872396" y="2413195"/>
            <a:chExt cx="891900" cy="324600"/>
          </a:xfrm>
        </p:grpSpPr>
        <p:cxnSp>
          <p:nvCxnSpPr>
            <p:cNvPr id="797" name="Google Shape;797;p45"/>
            <p:cNvCxnSpPr/>
            <p:nvPr/>
          </p:nvCxnSpPr>
          <p:spPr>
            <a:xfrm flipH="1">
              <a:off x="5067696" y="2413195"/>
              <a:ext cx="305400" cy="324600"/>
            </a:xfrm>
            <a:prstGeom prst="straightConnector1">
              <a:avLst/>
            </a:prstGeom>
            <a:noFill/>
            <a:ln w="28575" cap="flat" cmpd="sng">
              <a:solidFill>
                <a:schemeClr val="dk2"/>
              </a:solidFill>
              <a:prstDash val="solid"/>
              <a:round/>
              <a:headEnd type="none" w="med" len="med"/>
              <a:tailEnd type="none" w="med" len="med"/>
            </a:ln>
          </p:spPr>
        </p:cxnSp>
        <p:cxnSp>
          <p:nvCxnSpPr>
            <p:cNvPr id="798" name="Google Shape;798;p45"/>
            <p:cNvCxnSpPr/>
            <p:nvPr/>
          </p:nvCxnSpPr>
          <p:spPr>
            <a:xfrm flipH="1">
              <a:off x="4872396" y="2413195"/>
              <a:ext cx="500700" cy="300300"/>
            </a:xfrm>
            <a:prstGeom prst="straightConnector1">
              <a:avLst/>
            </a:prstGeom>
            <a:noFill/>
            <a:ln w="28575" cap="flat" cmpd="sng">
              <a:solidFill>
                <a:schemeClr val="dk2"/>
              </a:solidFill>
              <a:prstDash val="solid"/>
              <a:round/>
              <a:headEnd type="none" w="med" len="med"/>
              <a:tailEnd type="none" w="med" len="med"/>
            </a:ln>
          </p:spPr>
        </p:cxnSp>
        <p:cxnSp>
          <p:nvCxnSpPr>
            <p:cNvPr id="799" name="Google Shape;799;p45"/>
            <p:cNvCxnSpPr/>
            <p:nvPr/>
          </p:nvCxnSpPr>
          <p:spPr>
            <a:xfrm>
              <a:off x="5373096" y="2413195"/>
              <a:ext cx="317700" cy="300300"/>
            </a:xfrm>
            <a:prstGeom prst="straightConnector1">
              <a:avLst/>
            </a:prstGeom>
            <a:noFill/>
            <a:ln w="28575" cap="flat" cmpd="sng">
              <a:solidFill>
                <a:schemeClr val="dk2"/>
              </a:solidFill>
              <a:prstDash val="solid"/>
              <a:round/>
              <a:headEnd type="none" w="med" len="med"/>
              <a:tailEnd type="none" w="med" len="med"/>
            </a:ln>
          </p:spPr>
        </p:cxnSp>
        <p:cxnSp>
          <p:nvCxnSpPr>
            <p:cNvPr id="800" name="Google Shape;800;p45"/>
            <p:cNvCxnSpPr/>
            <p:nvPr/>
          </p:nvCxnSpPr>
          <p:spPr>
            <a:xfrm>
              <a:off x="5373096" y="2413195"/>
              <a:ext cx="391200" cy="227100"/>
            </a:xfrm>
            <a:prstGeom prst="straightConnector1">
              <a:avLst/>
            </a:prstGeom>
            <a:noFill/>
            <a:ln w="28575" cap="flat" cmpd="sng">
              <a:solidFill>
                <a:schemeClr val="dk2"/>
              </a:solidFill>
              <a:prstDash val="solid"/>
              <a:round/>
              <a:headEnd type="none" w="med" len="med"/>
              <a:tailEnd type="none" w="med" len="med"/>
            </a:ln>
          </p:spPr>
        </p:cxnSp>
      </p:grpSp>
      <p:sp>
        <p:nvSpPr>
          <p:cNvPr id="801" name="Google Shape;801;p45"/>
          <p:cNvSpPr txBox="1"/>
          <p:nvPr/>
        </p:nvSpPr>
        <p:spPr>
          <a:xfrm>
            <a:off x="5824651" y="1299197"/>
            <a:ext cx="212400" cy="20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a:t>
            </a:r>
            <a:endParaRPr/>
          </a:p>
        </p:txBody>
      </p:sp>
      <p:sp>
        <p:nvSpPr>
          <p:cNvPr id="802" name="Google Shape;802;p45"/>
          <p:cNvSpPr txBox="1"/>
          <p:nvPr/>
        </p:nvSpPr>
        <p:spPr>
          <a:xfrm>
            <a:off x="7467576" y="1299197"/>
            <a:ext cx="212400" cy="20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a:t>
            </a:r>
            <a:endParaRPr/>
          </a:p>
        </p:txBody>
      </p:sp>
      <p:cxnSp>
        <p:nvCxnSpPr>
          <p:cNvPr id="803" name="Google Shape;803;p45"/>
          <p:cNvCxnSpPr/>
          <p:nvPr/>
        </p:nvCxnSpPr>
        <p:spPr>
          <a:xfrm flipH="1">
            <a:off x="8002960" y="2208831"/>
            <a:ext cx="26400" cy="324300"/>
          </a:xfrm>
          <a:prstGeom prst="straightConnector1">
            <a:avLst/>
          </a:prstGeom>
          <a:noFill/>
          <a:ln w="28575" cap="flat" cmpd="sng">
            <a:solidFill>
              <a:schemeClr val="dk2"/>
            </a:solidFill>
            <a:prstDash val="solid"/>
            <a:round/>
            <a:headEnd type="none" w="med" len="med"/>
            <a:tailEnd type="none" w="med" len="med"/>
          </a:ln>
        </p:spPr>
      </p:cxnSp>
      <p:cxnSp>
        <p:nvCxnSpPr>
          <p:cNvPr id="804" name="Google Shape;804;p45"/>
          <p:cNvCxnSpPr>
            <a:stCxn id="773" idx="4"/>
            <a:endCxn id="774" idx="0"/>
          </p:cNvCxnSpPr>
          <p:nvPr/>
        </p:nvCxnSpPr>
        <p:spPr>
          <a:xfrm flipH="1">
            <a:off x="7651676" y="2203867"/>
            <a:ext cx="380700" cy="473100"/>
          </a:xfrm>
          <a:prstGeom prst="straightConnector1">
            <a:avLst/>
          </a:prstGeom>
          <a:noFill/>
          <a:ln w="28575" cap="flat" cmpd="sng">
            <a:solidFill>
              <a:schemeClr val="dk2"/>
            </a:solidFill>
            <a:prstDash val="solid"/>
            <a:round/>
            <a:headEnd type="none" w="med" len="med"/>
            <a:tailEnd type="none" w="med" len="med"/>
          </a:ln>
        </p:spPr>
      </p:cxnSp>
      <p:cxnSp>
        <p:nvCxnSpPr>
          <p:cNvPr id="805" name="Google Shape;805;p45"/>
          <p:cNvCxnSpPr/>
          <p:nvPr/>
        </p:nvCxnSpPr>
        <p:spPr>
          <a:xfrm>
            <a:off x="8029360" y="2208831"/>
            <a:ext cx="317700" cy="300300"/>
          </a:xfrm>
          <a:prstGeom prst="straightConnector1">
            <a:avLst/>
          </a:prstGeom>
          <a:noFill/>
          <a:ln w="28575" cap="flat" cmpd="sng">
            <a:solidFill>
              <a:schemeClr val="dk2"/>
            </a:solidFill>
            <a:prstDash val="solid"/>
            <a:round/>
            <a:headEnd type="none" w="med" len="med"/>
            <a:tailEnd type="none" w="med" len="med"/>
          </a:ln>
        </p:spPr>
      </p:cxnSp>
      <p:cxnSp>
        <p:nvCxnSpPr>
          <p:cNvPr id="806" name="Google Shape;806;p45"/>
          <p:cNvCxnSpPr/>
          <p:nvPr/>
        </p:nvCxnSpPr>
        <p:spPr>
          <a:xfrm>
            <a:off x="8029360" y="2208831"/>
            <a:ext cx="391200" cy="227100"/>
          </a:xfrm>
          <a:prstGeom prst="straightConnector1">
            <a:avLst/>
          </a:prstGeom>
          <a:noFill/>
          <a:ln w="28575" cap="flat" cmpd="sng">
            <a:solidFill>
              <a:schemeClr val="dk2"/>
            </a:solidFill>
            <a:prstDash val="solid"/>
            <a:round/>
            <a:headEnd type="none" w="med" len="med"/>
            <a:tailEnd type="none" w="med" len="med"/>
          </a:ln>
        </p:spPr>
      </p:cxnSp>
      <p:cxnSp>
        <p:nvCxnSpPr>
          <p:cNvPr id="807" name="Google Shape;807;p45"/>
          <p:cNvCxnSpPr/>
          <p:nvPr/>
        </p:nvCxnSpPr>
        <p:spPr>
          <a:xfrm flipH="1">
            <a:off x="7406244" y="3107509"/>
            <a:ext cx="250200" cy="265800"/>
          </a:xfrm>
          <a:prstGeom prst="straightConnector1">
            <a:avLst/>
          </a:prstGeom>
          <a:noFill/>
          <a:ln w="28575" cap="flat" cmpd="sng">
            <a:solidFill>
              <a:schemeClr val="dk2"/>
            </a:solidFill>
            <a:prstDash val="solid"/>
            <a:round/>
            <a:headEnd type="none" w="med" len="med"/>
            <a:tailEnd type="none" w="med" len="med"/>
          </a:ln>
        </p:spPr>
      </p:cxnSp>
      <p:cxnSp>
        <p:nvCxnSpPr>
          <p:cNvPr id="808" name="Google Shape;808;p45"/>
          <p:cNvCxnSpPr>
            <a:endCxn id="775" idx="0"/>
          </p:cNvCxnSpPr>
          <p:nvPr/>
        </p:nvCxnSpPr>
        <p:spPr>
          <a:xfrm flipH="1">
            <a:off x="7118676" y="3107448"/>
            <a:ext cx="537900" cy="329700"/>
          </a:xfrm>
          <a:prstGeom prst="straightConnector1">
            <a:avLst/>
          </a:prstGeom>
          <a:noFill/>
          <a:ln w="28575" cap="flat" cmpd="sng">
            <a:solidFill>
              <a:schemeClr val="dk2"/>
            </a:solidFill>
            <a:prstDash val="solid"/>
            <a:round/>
            <a:headEnd type="none" w="med" len="med"/>
            <a:tailEnd type="none" w="med" len="med"/>
          </a:ln>
        </p:spPr>
      </p:cxnSp>
      <p:cxnSp>
        <p:nvCxnSpPr>
          <p:cNvPr id="809" name="Google Shape;809;p45"/>
          <p:cNvCxnSpPr>
            <a:endCxn id="810" idx="0"/>
          </p:cNvCxnSpPr>
          <p:nvPr/>
        </p:nvCxnSpPr>
        <p:spPr>
          <a:xfrm>
            <a:off x="7656526" y="3107473"/>
            <a:ext cx="794100" cy="434400"/>
          </a:xfrm>
          <a:prstGeom prst="straightConnector1">
            <a:avLst/>
          </a:prstGeom>
          <a:noFill/>
          <a:ln w="28575" cap="flat" cmpd="sng">
            <a:solidFill>
              <a:schemeClr val="dk2"/>
            </a:solidFill>
            <a:prstDash val="solid"/>
            <a:round/>
            <a:headEnd type="none" w="med" len="med"/>
            <a:tailEnd type="none" w="med" len="med"/>
          </a:ln>
        </p:spPr>
      </p:cxnSp>
      <p:cxnSp>
        <p:nvCxnSpPr>
          <p:cNvPr id="811" name="Google Shape;811;p45"/>
          <p:cNvCxnSpPr/>
          <p:nvPr/>
        </p:nvCxnSpPr>
        <p:spPr>
          <a:xfrm>
            <a:off x="7656444" y="3107509"/>
            <a:ext cx="423600" cy="106800"/>
          </a:xfrm>
          <a:prstGeom prst="straightConnector1">
            <a:avLst/>
          </a:prstGeom>
          <a:noFill/>
          <a:ln w="28575" cap="flat" cmpd="sng">
            <a:solidFill>
              <a:schemeClr val="dk2"/>
            </a:solidFill>
            <a:prstDash val="solid"/>
            <a:round/>
            <a:headEnd type="none" w="med" len="med"/>
            <a:tailEnd type="none" w="med" len="med"/>
          </a:ln>
        </p:spPr>
      </p:cxnSp>
      <p:grpSp>
        <p:nvGrpSpPr>
          <p:cNvPr id="812" name="Google Shape;812;p45"/>
          <p:cNvGrpSpPr/>
          <p:nvPr/>
        </p:nvGrpSpPr>
        <p:grpSpPr>
          <a:xfrm>
            <a:off x="6704963" y="3874364"/>
            <a:ext cx="730377" cy="265815"/>
            <a:chOff x="4872396" y="2413195"/>
            <a:chExt cx="891900" cy="324600"/>
          </a:xfrm>
        </p:grpSpPr>
        <p:cxnSp>
          <p:nvCxnSpPr>
            <p:cNvPr id="813" name="Google Shape;813;p45"/>
            <p:cNvCxnSpPr/>
            <p:nvPr/>
          </p:nvCxnSpPr>
          <p:spPr>
            <a:xfrm flipH="1">
              <a:off x="5067696" y="2413195"/>
              <a:ext cx="305400" cy="324600"/>
            </a:xfrm>
            <a:prstGeom prst="straightConnector1">
              <a:avLst/>
            </a:prstGeom>
            <a:noFill/>
            <a:ln w="28575" cap="flat" cmpd="sng">
              <a:solidFill>
                <a:schemeClr val="dk2"/>
              </a:solidFill>
              <a:prstDash val="solid"/>
              <a:round/>
              <a:headEnd type="none" w="med" len="med"/>
              <a:tailEnd type="none" w="med" len="med"/>
            </a:ln>
          </p:spPr>
        </p:cxnSp>
        <p:cxnSp>
          <p:nvCxnSpPr>
            <p:cNvPr id="814" name="Google Shape;814;p45"/>
            <p:cNvCxnSpPr/>
            <p:nvPr/>
          </p:nvCxnSpPr>
          <p:spPr>
            <a:xfrm flipH="1">
              <a:off x="4872396" y="2413195"/>
              <a:ext cx="500700" cy="300300"/>
            </a:xfrm>
            <a:prstGeom prst="straightConnector1">
              <a:avLst/>
            </a:prstGeom>
            <a:noFill/>
            <a:ln w="28575" cap="flat" cmpd="sng">
              <a:solidFill>
                <a:schemeClr val="dk2"/>
              </a:solidFill>
              <a:prstDash val="solid"/>
              <a:round/>
              <a:headEnd type="none" w="med" len="med"/>
              <a:tailEnd type="none" w="med" len="med"/>
            </a:ln>
          </p:spPr>
        </p:cxnSp>
        <p:cxnSp>
          <p:nvCxnSpPr>
            <p:cNvPr id="815" name="Google Shape;815;p45"/>
            <p:cNvCxnSpPr/>
            <p:nvPr/>
          </p:nvCxnSpPr>
          <p:spPr>
            <a:xfrm>
              <a:off x="5373096" y="2413195"/>
              <a:ext cx="317700" cy="300300"/>
            </a:xfrm>
            <a:prstGeom prst="straightConnector1">
              <a:avLst/>
            </a:prstGeom>
            <a:noFill/>
            <a:ln w="28575" cap="flat" cmpd="sng">
              <a:solidFill>
                <a:schemeClr val="dk2"/>
              </a:solidFill>
              <a:prstDash val="solid"/>
              <a:round/>
              <a:headEnd type="none" w="med" len="med"/>
              <a:tailEnd type="none" w="med" len="med"/>
            </a:ln>
          </p:spPr>
        </p:cxnSp>
        <p:cxnSp>
          <p:nvCxnSpPr>
            <p:cNvPr id="816" name="Google Shape;816;p45"/>
            <p:cNvCxnSpPr/>
            <p:nvPr/>
          </p:nvCxnSpPr>
          <p:spPr>
            <a:xfrm>
              <a:off x="5373096" y="2413195"/>
              <a:ext cx="391200" cy="227100"/>
            </a:xfrm>
            <a:prstGeom prst="straightConnector1">
              <a:avLst/>
            </a:prstGeom>
            <a:noFill/>
            <a:ln w="28575" cap="flat" cmpd="sng">
              <a:solidFill>
                <a:schemeClr val="dk2"/>
              </a:solidFill>
              <a:prstDash val="solid"/>
              <a:round/>
              <a:headEnd type="none" w="med" len="med"/>
              <a:tailEnd type="none" w="med" len="med"/>
            </a:ln>
          </p:spPr>
        </p:cxnSp>
      </p:grpSp>
      <p:cxnSp>
        <p:nvCxnSpPr>
          <p:cNvPr id="817" name="Google Shape;817;p45"/>
          <p:cNvCxnSpPr/>
          <p:nvPr/>
        </p:nvCxnSpPr>
        <p:spPr>
          <a:xfrm>
            <a:off x="7110169" y="3871699"/>
            <a:ext cx="0" cy="165900"/>
          </a:xfrm>
          <a:prstGeom prst="straightConnector1">
            <a:avLst/>
          </a:prstGeom>
          <a:noFill/>
          <a:ln w="28575" cap="flat" cmpd="sng">
            <a:solidFill>
              <a:schemeClr val="dk2"/>
            </a:solidFill>
            <a:prstDash val="solid"/>
            <a:round/>
            <a:headEnd type="none" w="med" len="med"/>
            <a:tailEnd type="none" w="med" len="med"/>
          </a:ln>
        </p:spPr>
      </p:cxnSp>
      <p:cxnSp>
        <p:nvCxnSpPr>
          <p:cNvPr id="818" name="Google Shape;818;p45"/>
          <p:cNvCxnSpPr>
            <a:stCxn id="773" idx="4"/>
          </p:cNvCxnSpPr>
          <p:nvPr/>
        </p:nvCxnSpPr>
        <p:spPr>
          <a:xfrm>
            <a:off x="8032376" y="2203867"/>
            <a:ext cx="117000" cy="304800"/>
          </a:xfrm>
          <a:prstGeom prst="straightConnector1">
            <a:avLst/>
          </a:prstGeom>
          <a:noFill/>
          <a:ln w="28575" cap="flat" cmpd="sng">
            <a:solidFill>
              <a:schemeClr val="dk2"/>
            </a:solidFill>
            <a:prstDash val="solid"/>
            <a:round/>
            <a:headEnd type="none" w="med" len="med"/>
            <a:tailEnd type="none" w="med" len="med"/>
          </a:ln>
        </p:spPr>
      </p:cxnSp>
      <p:sp>
        <p:nvSpPr>
          <p:cNvPr id="819" name="Google Shape;819;p45"/>
          <p:cNvSpPr txBox="1"/>
          <p:nvPr/>
        </p:nvSpPr>
        <p:spPr>
          <a:xfrm>
            <a:off x="7547926" y="2237022"/>
            <a:ext cx="212400" cy="18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a:t>
            </a:r>
            <a:endParaRPr/>
          </a:p>
        </p:txBody>
      </p:sp>
      <p:sp>
        <p:nvSpPr>
          <p:cNvPr id="820" name="Google Shape;820;p45"/>
          <p:cNvSpPr txBox="1"/>
          <p:nvPr/>
        </p:nvSpPr>
        <p:spPr>
          <a:xfrm>
            <a:off x="7000259" y="3113032"/>
            <a:ext cx="212400" cy="18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d</a:t>
            </a:r>
            <a:endParaRPr/>
          </a:p>
        </p:txBody>
      </p:sp>
      <p:sp>
        <p:nvSpPr>
          <p:cNvPr id="821" name="Google Shape;821;p45"/>
          <p:cNvSpPr txBox="1"/>
          <p:nvPr/>
        </p:nvSpPr>
        <p:spPr>
          <a:xfrm>
            <a:off x="5748451" y="2017047"/>
            <a:ext cx="212400" cy="20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w</a:t>
            </a:r>
            <a:endParaRPr/>
          </a:p>
        </p:txBody>
      </p:sp>
      <p:sp>
        <p:nvSpPr>
          <p:cNvPr id="822" name="Google Shape;822;p45"/>
          <p:cNvSpPr txBox="1"/>
          <p:nvPr/>
        </p:nvSpPr>
        <p:spPr>
          <a:xfrm>
            <a:off x="6041296" y="2940728"/>
            <a:ext cx="212400" cy="20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l</a:t>
            </a:r>
            <a:endParaRPr/>
          </a:p>
        </p:txBody>
      </p:sp>
      <p:sp>
        <p:nvSpPr>
          <p:cNvPr id="823" name="Google Shape;823;p45"/>
          <p:cNvSpPr txBox="1"/>
          <p:nvPr/>
        </p:nvSpPr>
        <p:spPr>
          <a:xfrm>
            <a:off x="4933126" y="2509872"/>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824" name="Google Shape;824;p45"/>
          <p:cNvSpPr txBox="1"/>
          <p:nvPr/>
        </p:nvSpPr>
        <p:spPr>
          <a:xfrm>
            <a:off x="5840851" y="4524272"/>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grpSp>
        <p:nvGrpSpPr>
          <p:cNvPr id="825" name="Google Shape;825;p45"/>
          <p:cNvGrpSpPr/>
          <p:nvPr/>
        </p:nvGrpSpPr>
        <p:grpSpPr>
          <a:xfrm>
            <a:off x="5643842" y="3709129"/>
            <a:ext cx="730377" cy="265815"/>
            <a:chOff x="4872396" y="2413195"/>
            <a:chExt cx="891900" cy="324600"/>
          </a:xfrm>
        </p:grpSpPr>
        <p:cxnSp>
          <p:nvCxnSpPr>
            <p:cNvPr id="826" name="Google Shape;826;p45"/>
            <p:cNvCxnSpPr/>
            <p:nvPr/>
          </p:nvCxnSpPr>
          <p:spPr>
            <a:xfrm flipH="1">
              <a:off x="5067696" y="2413195"/>
              <a:ext cx="305400" cy="324600"/>
            </a:xfrm>
            <a:prstGeom prst="straightConnector1">
              <a:avLst/>
            </a:prstGeom>
            <a:noFill/>
            <a:ln w="28575" cap="flat" cmpd="sng">
              <a:solidFill>
                <a:schemeClr val="dk2"/>
              </a:solidFill>
              <a:prstDash val="solid"/>
              <a:round/>
              <a:headEnd type="none" w="med" len="med"/>
              <a:tailEnd type="none" w="med" len="med"/>
            </a:ln>
          </p:spPr>
        </p:cxnSp>
        <p:cxnSp>
          <p:nvCxnSpPr>
            <p:cNvPr id="827" name="Google Shape;827;p45"/>
            <p:cNvCxnSpPr/>
            <p:nvPr/>
          </p:nvCxnSpPr>
          <p:spPr>
            <a:xfrm flipH="1">
              <a:off x="4872396" y="2413195"/>
              <a:ext cx="500700" cy="300300"/>
            </a:xfrm>
            <a:prstGeom prst="straightConnector1">
              <a:avLst/>
            </a:prstGeom>
            <a:noFill/>
            <a:ln w="28575" cap="flat" cmpd="sng">
              <a:solidFill>
                <a:schemeClr val="dk2"/>
              </a:solidFill>
              <a:prstDash val="solid"/>
              <a:round/>
              <a:headEnd type="none" w="med" len="med"/>
              <a:tailEnd type="none" w="med" len="med"/>
            </a:ln>
          </p:spPr>
        </p:cxnSp>
        <p:cxnSp>
          <p:nvCxnSpPr>
            <p:cNvPr id="828" name="Google Shape;828;p45"/>
            <p:cNvCxnSpPr/>
            <p:nvPr/>
          </p:nvCxnSpPr>
          <p:spPr>
            <a:xfrm>
              <a:off x="5373096" y="2413195"/>
              <a:ext cx="317700" cy="300300"/>
            </a:xfrm>
            <a:prstGeom prst="straightConnector1">
              <a:avLst/>
            </a:prstGeom>
            <a:noFill/>
            <a:ln w="28575" cap="flat" cmpd="sng">
              <a:solidFill>
                <a:schemeClr val="dk2"/>
              </a:solidFill>
              <a:prstDash val="solid"/>
              <a:round/>
              <a:headEnd type="none" w="med" len="med"/>
              <a:tailEnd type="none" w="med" len="med"/>
            </a:ln>
          </p:spPr>
        </p:cxnSp>
        <p:cxnSp>
          <p:nvCxnSpPr>
            <p:cNvPr id="829" name="Google Shape;829;p45"/>
            <p:cNvCxnSpPr/>
            <p:nvPr/>
          </p:nvCxnSpPr>
          <p:spPr>
            <a:xfrm>
              <a:off x="5373096" y="2413195"/>
              <a:ext cx="391200" cy="227100"/>
            </a:xfrm>
            <a:prstGeom prst="straightConnector1">
              <a:avLst/>
            </a:prstGeom>
            <a:noFill/>
            <a:ln w="28575" cap="flat" cmpd="sng">
              <a:solidFill>
                <a:schemeClr val="dk2"/>
              </a:solidFill>
              <a:prstDash val="solid"/>
              <a:round/>
              <a:headEnd type="none" w="med" len="med"/>
              <a:tailEnd type="none" w="med" len="med"/>
            </a:ln>
          </p:spPr>
        </p:cxnSp>
      </p:grpSp>
      <p:cxnSp>
        <p:nvCxnSpPr>
          <p:cNvPr id="830" name="Google Shape;830;p45"/>
          <p:cNvCxnSpPr>
            <a:endCxn id="831" idx="0"/>
          </p:cNvCxnSpPr>
          <p:nvPr/>
        </p:nvCxnSpPr>
        <p:spPr>
          <a:xfrm>
            <a:off x="6049101" y="3706458"/>
            <a:ext cx="2400" cy="268500"/>
          </a:xfrm>
          <a:prstGeom prst="straightConnector1">
            <a:avLst/>
          </a:prstGeom>
          <a:noFill/>
          <a:ln w="28575" cap="flat" cmpd="sng">
            <a:solidFill>
              <a:schemeClr val="dk2"/>
            </a:solidFill>
            <a:prstDash val="solid"/>
            <a:round/>
            <a:headEnd type="none" w="med" len="med"/>
            <a:tailEnd type="none" w="med" len="med"/>
          </a:ln>
        </p:spPr>
      </p:cxnSp>
      <p:sp>
        <p:nvSpPr>
          <p:cNvPr id="832" name="Google Shape;832;p45"/>
          <p:cNvSpPr txBox="1"/>
          <p:nvPr/>
        </p:nvSpPr>
        <p:spPr>
          <a:xfrm>
            <a:off x="6902301" y="4140172"/>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833" name="Google Shape;833;p45"/>
          <p:cNvSpPr txBox="1"/>
          <p:nvPr/>
        </p:nvSpPr>
        <p:spPr>
          <a:xfrm>
            <a:off x="8510426" y="4172147"/>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834" name="Google Shape;834;p45"/>
          <p:cNvSpPr txBox="1"/>
          <p:nvPr/>
        </p:nvSpPr>
        <p:spPr>
          <a:xfrm>
            <a:off x="8102126" y="2460984"/>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835" name="Google Shape;835;p45"/>
          <p:cNvSpPr txBox="1"/>
          <p:nvPr/>
        </p:nvSpPr>
        <p:spPr>
          <a:xfrm>
            <a:off x="6517739" y="1678034"/>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836" name="Google Shape;836;p45"/>
          <p:cNvSpPr txBox="1"/>
          <p:nvPr/>
        </p:nvSpPr>
        <p:spPr>
          <a:xfrm>
            <a:off x="5207251" y="3111972"/>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837" name="Google Shape;837;p45"/>
          <p:cNvSpPr txBox="1"/>
          <p:nvPr/>
        </p:nvSpPr>
        <p:spPr>
          <a:xfrm>
            <a:off x="6409601" y="2993797"/>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831" name="Google Shape;831;p45"/>
          <p:cNvSpPr/>
          <p:nvPr/>
        </p:nvSpPr>
        <p:spPr>
          <a:xfrm>
            <a:off x="5835051" y="3974958"/>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Consolas"/>
              <a:ea typeface="Consolas"/>
              <a:cs typeface="Consolas"/>
              <a:sym typeface="Consolas"/>
            </a:endParaRPr>
          </a:p>
        </p:txBody>
      </p:sp>
      <p:sp>
        <p:nvSpPr>
          <p:cNvPr id="838" name="Google Shape;838;p45"/>
          <p:cNvSpPr txBox="1"/>
          <p:nvPr/>
        </p:nvSpPr>
        <p:spPr>
          <a:xfrm>
            <a:off x="5813764" y="3708979"/>
            <a:ext cx="182100" cy="26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a:t>
            </a:r>
            <a:endParaRPr/>
          </a:p>
        </p:txBody>
      </p:sp>
      <p:grpSp>
        <p:nvGrpSpPr>
          <p:cNvPr id="839" name="Google Shape;839;p45"/>
          <p:cNvGrpSpPr/>
          <p:nvPr/>
        </p:nvGrpSpPr>
        <p:grpSpPr>
          <a:xfrm>
            <a:off x="5644222" y="4420007"/>
            <a:ext cx="730377" cy="265815"/>
            <a:chOff x="4872396" y="2413195"/>
            <a:chExt cx="891900" cy="324600"/>
          </a:xfrm>
        </p:grpSpPr>
        <p:cxnSp>
          <p:nvCxnSpPr>
            <p:cNvPr id="840" name="Google Shape;840;p45"/>
            <p:cNvCxnSpPr/>
            <p:nvPr/>
          </p:nvCxnSpPr>
          <p:spPr>
            <a:xfrm flipH="1">
              <a:off x="5067696" y="2413195"/>
              <a:ext cx="305400" cy="324600"/>
            </a:xfrm>
            <a:prstGeom prst="straightConnector1">
              <a:avLst/>
            </a:prstGeom>
            <a:noFill/>
            <a:ln w="28575" cap="flat" cmpd="sng">
              <a:solidFill>
                <a:schemeClr val="dk2"/>
              </a:solidFill>
              <a:prstDash val="solid"/>
              <a:round/>
              <a:headEnd type="none" w="med" len="med"/>
              <a:tailEnd type="none" w="med" len="med"/>
            </a:ln>
          </p:spPr>
        </p:cxnSp>
        <p:cxnSp>
          <p:nvCxnSpPr>
            <p:cNvPr id="841" name="Google Shape;841;p45"/>
            <p:cNvCxnSpPr/>
            <p:nvPr/>
          </p:nvCxnSpPr>
          <p:spPr>
            <a:xfrm flipH="1">
              <a:off x="4872396" y="2413195"/>
              <a:ext cx="500700" cy="300300"/>
            </a:xfrm>
            <a:prstGeom prst="straightConnector1">
              <a:avLst/>
            </a:prstGeom>
            <a:noFill/>
            <a:ln w="28575" cap="flat" cmpd="sng">
              <a:solidFill>
                <a:schemeClr val="dk2"/>
              </a:solidFill>
              <a:prstDash val="solid"/>
              <a:round/>
              <a:headEnd type="none" w="med" len="med"/>
              <a:tailEnd type="none" w="med" len="med"/>
            </a:ln>
          </p:spPr>
        </p:cxnSp>
        <p:cxnSp>
          <p:nvCxnSpPr>
            <p:cNvPr id="842" name="Google Shape;842;p45"/>
            <p:cNvCxnSpPr/>
            <p:nvPr/>
          </p:nvCxnSpPr>
          <p:spPr>
            <a:xfrm>
              <a:off x="5373096" y="2413195"/>
              <a:ext cx="317700" cy="300300"/>
            </a:xfrm>
            <a:prstGeom prst="straightConnector1">
              <a:avLst/>
            </a:prstGeom>
            <a:noFill/>
            <a:ln w="28575" cap="flat" cmpd="sng">
              <a:solidFill>
                <a:schemeClr val="dk2"/>
              </a:solidFill>
              <a:prstDash val="solid"/>
              <a:round/>
              <a:headEnd type="none" w="med" len="med"/>
              <a:tailEnd type="none" w="med" len="med"/>
            </a:ln>
          </p:spPr>
        </p:cxnSp>
        <p:cxnSp>
          <p:nvCxnSpPr>
            <p:cNvPr id="843" name="Google Shape;843;p45"/>
            <p:cNvCxnSpPr/>
            <p:nvPr/>
          </p:nvCxnSpPr>
          <p:spPr>
            <a:xfrm>
              <a:off x="5373096" y="2413195"/>
              <a:ext cx="391200" cy="227100"/>
            </a:xfrm>
            <a:prstGeom prst="straightConnector1">
              <a:avLst/>
            </a:prstGeom>
            <a:noFill/>
            <a:ln w="28575" cap="flat" cmpd="sng">
              <a:solidFill>
                <a:schemeClr val="dk2"/>
              </a:solidFill>
              <a:prstDash val="solid"/>
              <a:round/>
              <a:headEnd type="none" w="med" len="med"/>
              <a:tailEnd type="none" w="med" len="med"/>
            </a:ln>
          </p:spPr>
        </p:cxnSp>
      </p:grpSp>
      <p:cxnSp>
        <p:nvCxnSpPr>
          <p:cNvPr id="844" name="Google Shape;844;p45"/>
          <p:cNvCxnSpPr/>
          <p:nvPr/>
        </p:nvCxnSpPr>
        <p:spPr>
          <a:xfrm>
            <a:off x="6049428" y="4417342"/>
            <a:ext cx="0" cy="165900"/>
          </a:xfrm>
          <a:prstGeom prst="straightConnector1">
            <a:avLst/>
          </a:prstGeom>
          <a:noFill/>
          <a:ln w="28575" cap="flat" cmpd="sng">
            <a:solidFill>
              <a:schemeClr val="dk2"/>
            </a:solidFill>
            <a:prstDash val="solid"/>
            <a:round/>
            <a:headEnd type="none" w="med" len="med"/>
            <a:tailEnd type="none" w="med" len="med"/>
          </a:ln>
        </p:spPr>
      </p:cxnSp>
      <p:sp>
        <p:nvSpPr>
          <p:cNvPr id="781" name="Google Shape;781;p45"/>
          <p:cNvSpPr/>
          <p:nvPr/>
        </p:nvSpPr>
        <p:spPr>
          <a:xfrm>
            <a:off x="7679976" y="3625586"/>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Consolas"/>
              <a:ea typeface="Consolas"/>
              <a:cs typeface="Consolas"/>
              <a:sym typeface="Consolas"/>
            </a:endParaRPr>
          </a:p>
        </p:txBody>
      </p:sp>
      <p:sp>
        <p:nvSpPr>
          <p:cNvPr id="810" name="Google Shape;810;p45"/>
          <p:cNvSpPr/>
          <p:nvPr/>
        </p:nvSpPr>
        <p:spPr>
          <a:xfrm>
            <a:off x="8234176" y="3541873"/>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Consolas"/>
              <a:ea typeface="Consolas"/>
              <a:cs typeface="Consolas"/>
              <a:sym typeface="Consolas"/>
            </a:endParaRPr>
          </a:p>
        </p:txBody>
      </p:sp>
      <p:sp>
        <p:nvSpPr>
          <p:cNvPr id="845" name="Google Shape;845;p45"/>
          <p:cNvSpPr/>
          <p:nvPr/>
        </p:nvSpPr>
        <p:spPr>
          <a:xfrm>
            <a:off x="7603776" y="4333323"/>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Consolas"/>
              <a:ea typeface="Consolas"/>
              <a:cs typeface="Consolas"/>
              <a:sym typeface="Consolas"/>
            </a:endParaRPr>
          </a:p>
        </p:txBody>
      </p:sp>
      <p:sp>
        <p:nvSpPr>
          <p:cNvPr id="846" name="Google Shape;846;p45"/>
          <p:cNvSpPr txBox="1"/>
          <p:nvPr/>
        </p:nvSpPr>
        <p:spPr>
          <a:xfrm>
            <a:off x="7471726" y="3255472"/>
            <a:ext cx="212400" cy="16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m</a:t>
            </a:r>
            <a:endParaRPr/>
          </a:p>
        </p:txBody>
      </p:sp>
      <p:sp>
        <p:nvSpPr>
          <p:cNvPr id="847" name="Google Shape;847;p45"/>
          <p:cNvSpPr txBox="1"/>
          <p:nvPr/>
        </p:nvSpPr>
        <p:spPr>
          <a:xfrm>
            <a:off x="7984676" y="3312172"/>
            <a:ext cx="212400" cy="16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p</a:t>
            </a:r>
            <a:endParaRPr/>
          </a:p>
        </p:txBody>
      </p:sp>
      <p:sp>
        <p:nvSpPr>
          <p:cNvPr id="848" name="Google Shape;848;p45"/>
          <p:cNvSpPr txBox="1"/>
          <p:nvPr/>
        </p:nvSpPr>
        <p:spPr>
          <a:xfrm>
            <a:off x="7828326" y="4036906"/>
            <a:ext cx="212400" cy="16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e</a:t>
            </a:r>
            <a:endParaRPr/>
          </a:p>
        </p:txBody>
      </p:sp>
      <p:cxnSp>
        <p:nvCxnSpPr>
          <p:cNvPr id="849" name="Google Shape;849;p45"/>
          <p:cNvCxnSpPr>
            <a:stCxn id="781" idx="4"/>
            <a:endCxn id="845" idx="0"/>
          </p:cNvCxnSpPr>
          <p:nvPr/>
        </p:nvCxnSpPr>
        <p:spPr>
          <a:xfrm flipH="1">
            <a:off x="7820226" y="4058486"/>
            <a:ext cx="76200" cy="274800"/>
          </a:xfrm>
          <a:prstGeom prst="straightConnector1">
            <a:avLst/>
          </a:prstGeom>
          <a:noFill/>
          <a:ln w="28575" cap="flat" cmpd="sng">
            <a:solidFill>
              <a:schemeClr val="dk2"/>
            </a:solidFill>
            <a:prstDash val="solid"/>
            <a:round/>
            <a:headEnd type="none" w="med" len="med"/>
            <a:tailEnd type="none" w="med" len="med"/>
          </a:ln>
        </p:spPr>
      </p:cxnSp>
      <p:cxnSp>
        <p:nvCxnSpPr>
          <p:cNvPr id="850" name="Google Shape;850;p45"/>
          <p:cNvCxnSpPr/>
          <p:nvPr/>
        </p:nvCxnSpPr>
        <p:spPr>
          <a:xfrm flipH="1">
            <a:off x="8412735" y="3999109"/>
            <a:ext cx="26400" cy="324300"/>
          </a:xfrm>
          <a:prstGeom prst="straightConnector1">
            <a:avLst/>
          </a:prstGeom>
          <a:noFill/>
          <a:ln w="28575" cap="flat" cmpd="sng">
            <a:solidFill>
              <a:schemeClr val="dk2"/>
            </a:solidFill>
            <a:prstDash val="solid"/>
            <a:round/>
            <a:headEnd type="none" w="med" len="med"/>
            <a:tailEnd type="none" w="med" len="med"/>
          </a:ln>
        </p:spPr>
      </p:cxnSp>
      <p:cxnSp>
        <p:nvCxnSpPr>
          <p:cNvPr id="851" name="Google Shape;851;p45"/>
          <p:cNvCxnSpPr/>
          <p:nvPr/>
        </p:nvCxnSpPr>
        <p:spPr>
          <a:xfrm>
            <a:off x="8439135" y="3999109"/>
            <a:ext cx="317700" cy="300300"/>
          </a:xfrm>
          <a:prstGeom prst="straightConnector1">
            <a:avLst/>
          </a:prstGeom>
          <a:noFill/>
          <a:ln w="28575" cap="flat" cmpd="sng">
            <a:solidFill>
              <a:schemeClr val="dk2"/>
            </a:solidFill>
            <a:prstDash val="solid"/>
            <a:round/>
            <a:headEnd type="none" w="med" len="med"/>
            <a:tailEnd type="none" w="med" len="med"/>
          </a:ln>
        </p:spPr>
      </p:cxnSp>
      <p:cxnSp>
        <p:nvCxnSpPr>
          <p:cNvPr id="852" name="Google Shape;852;p45"/>
          <p:cNvCxnSpPr/>
          <p:nvPr/>
        </p:nvCxnSpPr>
        <p:spPr>
          <a:xfrm>
            <a:off x="8439135" y="3999109"/>
            <a:ext cx="391200" cy="227100"/>
          </a:xfrm>
          <a:prstGeom prst="straightConnector1">
            <a:avLst/>
          </a:prstGeom>
          <a:noFill/>
          <a:ln w="28575" cap="flat" cmpd="sng">
            <a:solidFill>
              <a:schemeClr val="dk2"/>
            </a:solidFill>
            <a:prstDash val="solid"/>
            <a:round/>
            <a:headEnd type="none" w="med" len="med"/>
            <a:tailEnd type="none" w="med" len="med"/>
          </a:ln>
        </p:spPr>
      </p:cxnSp>
      <p:cxnSp>
        <p:nvCxnSpPr>
          <p:cNvPr id="853" name="Google Shape;853;p45"/>
          <p:cNvCxnSpPr/>
          <p:nvPr/>
        </p:nvCxnSpPr>
        <p:spPr>
          <a:xfrm>
            <a:off x="8442152" y="3994146"/>
            <a:ext cx="117000" cy="304800"/>
          </a:xfrm>
          <a:prstGeom prst="straightConnector1">
            <a:avLst/>
          </a:prstGeom>
          <a:noFill/>
          <a:ln w="28575" cap="flat" cmpd="sng">
            <a:solidFill>
              <a:schemeClr val="dk2"/>
            </a:solidFill>
            <a:prstDash val="solid"/>
            <a:round/>
            <a:headEnd type="none" w="med" len="med"/>
            <a:tailEnd type="none" w="med" len="med"/>
          </a:ln>
        </p:spPr>
      </p:cxnSp>
      <p:sp>
        <p:nvSpPr>
          <p:cNvPr id="854" name="Google Shape;854;p45"/>
          <p:cNvSpPr txBox="1"/>
          <p:nvPr/>
        </p:nvSpPr>
        <p:spPr>
          <a:xfrm>
            <a:off x="8248826" y="3001434"/>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grpSp>
        <p:nvGrpSpPr>
          <p:cNvPr id="855" name="Google Shape;855;p45"/>
          <p:cNvGrpSpPr/>
          <p:nvPr/>
        </p:nvGrpSpPr>
        <p:grpSpPr>
          <a:xfrm>
            <a:off x="7408863" y="4790028"/>
            <a:ext cx="730377" cy="265815"/>
            <a:chOff x="4872396" y="2413195"/>
            <a:chExt cx="891900" cy="324600"/>
          </a:xfrm>
        </p:grpSpPr>
        <p:cxnSp>
          <p:nvCxnSpPr>
            <p:cNvPr id="856" name="Google Shape;856;p45"/>
            <p:cNvCxnSpPr/>
            <p:nvPr/>
          </p:nvCxnSpPr>
          <p:spPr>
            <a:xfrm flipH="1">
              <a:off x="5067696" y="2413195"/>
              <a:ext cx="305400" cy="324600"/>
            </a:xfrm>
            <a:prstGeom prst="straightConnector1">
              <a:avLst/>
            </a:prstGeom>
            <a:noFill/>
            <a:ln w="28575" cap="flat" cmpd="sng">
              <a:solidFill>
                <a:schemeClr val="dk2"/>
              </a:solidFill>
              <a:prstDash val="solid"/>
              <a:round/>
              <a:headEnd type="none" w="med" len="med"/>
              <a:tailEnd type="none" w="med" len="med"/>
            </a:ln>
          </p:spPr>
        </p:cxnSp>
        <p:cxnSp>
          <p:nvCxnSpPr>
            <p:cNvPr id="857" name="Google Shape;857;p45"/>
            <p:cNvCxnSpPr/>
            <p:nvPr/>
          </p:nvCxnSpPr>
          <p:spPr>
            <a:xfrm flipH="1">
              <a:off x="4872396" y="2413195"/>
              <a:ext cx="500700" cy="300300"/>
            </a:xfrm>
            <a:prstGeom prst="straightConnector1">
              <a:avLst/>
            </a:prstGeom>
            <a:noFill/>
            <a:ln w="28575" cap="flat" cmpd="sng">
              <a:solidFill>
                <a:schemeClr val="dk2"/>
              </a:solidFill>
              <a:prstDash val="solid"/>
              <a:round/>
              <a:headEnd type="none" w="med" len="med"/>
              <a:tailEnd type="none" w="med" len="med"/>
            </a:ln>
          </p:spPr>
        </p:cxnSp>
        <p:cxnSp>
          <p:nvCxnSpPr>
            <p:cNvPr id="858" name="Google Shape;858;p45"/>
            <p:cNvCxnSpPr/>
            <p:nvPr/>
          </p:nvCxnSpPr>
          <p:spPr>
            <a:xfrm>
              <a:off x="5373096" y="2413195"/>
              <a:ext cx="317700" cy="300300"/>
            </a:xfrm>
            <a:prstGeom prst="straightConnector1">
              <a:avLst/>
            </a:prstGeom>
            <a:noFill/>
            <a:ln w="28575" cap="flat" cmpd="sng">
              <a:solidFill>
                <a:schemeClr val="dk2"/>
              </a:solidFill>
              <a:prstDash val="solid"/>
              <a:round/>
              <a:headEnd type="none" w="med" len="med"/>
              <a:tailEnd type="none" w="med" len="med"/>
            </a:ln>
          </p:spPr>
        </p:cxnSp>
        <p:cxnSp>
          <p:nvCxnSpPr>
            <p:cNvPr id="859" name="Google Shape;859;p45"/>
            <p:cNvCxnSpPr/>
            <p:nvPr/>
          </p:nvCxnSpPr>
          <p:spPr>
            <a:xfrm>
              <a:off x="5373096" y="2413195"/>
              <a:ext cx="391200" cy="227100"/>
            </a:xfrm>
            <a:prstGeom prst="straightConnector1">
              <a:avLst/>
            </a:prstGeom>
            <a:noFill/>
            <a:ln w="28575" cap="flat" cmpd="sng">
              <a:solidFill>
                <a:schemeClr val="dk2"/>
              </a:solidFill>
              <a:prstDash val="solid"/>
              <a:round/>
              <a:headEnd type="none" w="med" len="med"/>
              <a:tailEnd type="none" w="med" len="med"/>
            </a:ln>
          </p:spPr>
        </p:cxnSp>
      </p:grpSp>
      <p:cxnSp>
        <p:nvCxnSpPr>
          <p:cNvPr id="860" name="Google Shape;860;p45"/>
          <p:cNvCxnSpPr/>
          <p:nvPr/>
        </p:nvCxnSpPr>
        <p:spPr>
          <a:xfrm>
            <a:off x="7814069" y="4787363"/>
            <a:ext cx="0" cy="165900"/>
          </a:xfrm>
          <a:prstGeom prst="straightConnector1">
            <a:avLst/>
          </a:prstGeom>
          <a:noFill/>
          <a:ln w="28575" cap="flat" cmpd="sng">
            <a:solidFill>
              <a:schemeClr val="dk2"/>
            </a:solidFill>
            <a:prstDash val="solid"/>
            <a:round/>
            <a:headEnd type="none" w="med" len="med"/>
            <a:tailEnd type="none" w="med" len="med"/>
          </a:ln>
        </p:spPr>
      </p:cxnSp>
      <p:sp>
        <p:nvSpPr>
          <p:cNvPr id="861" name="Google Shape;861;p45"/>
          <p:cNvSpPr txBox="1"/>
          <p:nvPr/>
        </p:nvSpPr>
        <p:spPr>
          <a:xfrm>
            <a:off x="7692276" y="4842461"/>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65"/>
        <p:cNvGrpSpPr/>
        <p:nvPr/>
      </p:nvGrpSpPr>
      <p:grpSpPr>
        <a:xfrm>
          <a:off x="0" y="0"/>
          <a:ext cx="0" cy="0"/>
          <a:chOff x="0" y="0"/>
          <a:chExt cx="0" cy="0"/>
        </a:xfrm>
      </p:grpSpPr>
      <p:sp>
        <p:nvSpPr>
          <p:cNvPr id="866" name="Google Shape;866;p4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Trie Performance in Terms of N</a:t>
            </a:r>
            <a:endParaRPr/>
          </a:p>
        </p:txBody>
      </p:sp>
      <p:sp>
        <p:nvSpPr>
          <p:cNvPr id="867" name="Google Shape;867;p46"/>
          <p:cNvSpPr txBox="1">
            <a:spLocks noGrp="1"/>
          </p:cNvSpPr>
          <p:nvPr>
            <p:ph type="body" idx="1"/>
          </p:nvPr>
        </p:nvSpPr>
        <p:spPr>
          <a:xfrm>
            <a:off x="90600" y="404100"/>
            <a:ext cx="8901000" cy="1501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Given a Trie with N keys. What is the:                                           [N = 6]</a:t>
            </a:r>
            <a:endParaRPr/>
          </a:p>
          <a:p>
            <a:pPr marL="457200" lvl="0" indent="-342900" algn="l" rtl="0">
              <a:spcBef>
                <a:spcPts val="600"/>
              </a:spcBef>
              <a:spcAft>
                <a:spcPts val="0"/>
              </a:spcAft>
              <a:buSzPts val="1800"/>
              <a:buChar char="●"/>
            </a:pPr>
            <a:r>
              <a:rPr lang="en"/>
              <a:t>Add runtime? Θ(1)</a:t>
            </a:r>
            <a:endParaRPr/>
          </a:p>
          <a:p>
            <a:pPr marL="457200" lvl="0" indent="-342900" algn="l" rtl="0">
              <a:spcBef>
                <a:spcPts val="0"/>
              </a:spcBef>
              <a:spcAft>
                <a:spcPts val="0"/>
              </a:spcAft>
              <a:buSzPts val="1800"/>
              <a:buChar char="●"/>
            </a:pPr>
            <a:r>
              <a:rPr lang="en"/>
              <a:t>Contains runtime? Θ(1)</a:t>
            </a:r>
            <a:endParaRPr/>
          </a:p>
        </p:txBody>
      </p:sp>
      <p:sp>
        <p:nvSpPr>
          <p:cNvPr id="868" name="Google Shape;868;p46"/>
          <p:cNvSpPr/>
          <p:nvPr/>
        </p:nvSpPr>
        <p:spPr>
          <a:xfrm>
            <a:off x="6454581" y="1018047"/>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869" name="Google Shape;869;p46"/>
          <p:cNvSpPr/>
          <p:nvPr/>
        </p:nvSpPr>
        <p:spPr>
          <a:xfrm>
            <a:off x="7815926" y="1770967"/>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Consolas"/>
              <a:ea typeface="Consolas"/>
              <a:cs typeface="Consolas"/>
              <a:sym typeface="Consolas"/>
            </a:endParaRPr>
          </a:p>
        </p:txBody>
      </p:sp>
      <p:sp>
        <p:nvSpPr>
          <p:cNvPr id="870" name="Google Shape;870;p46"/>
          <p:cNvSpPr/>
          <p:nvPr/>
        </p:nvSpPr>
        <p:spPr>
          <a:xfrm>
            <a:off x="7435351" y="2676920"/>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Consolas"/>
              <a:ea typeface="Consolas"/>
              <a:cs typeface="Consolas"/>
              <a:sym typeface="Consolas"/>
            </a:endParaRPr>
          </a:p>
        </p:txBody>
      </p:sp>
      <p:sp>
        <p:nvSpPr>
          <p:cNvPr id="871" name="Google Shape;871;p46"/>
          <p:cNvSpPr/>
          <p:nvPr/>
        </p:nvSpPr>
        <p:spPr>
          <a:xfrm>
            <a:off x="6902226" y="3437148"/>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Consolas"/>
              <a:ea typeface="Consolas"/>
              <a:cs typeface="Consolas"/>
              <a:sym typeface="Consolas"/>
            </a:endParaRPr>
          </a:p>
        </p:txBody>
      </p:sp>
      <p:sp>
        <p:nvSpPr>
          <p:cNvPr id="872" name="Google Shape;872;p46"/>
          <p:cNvSpPr/>
          <p:nvPr/>
        </p:nvSpPr>
        <p:spPr>
          <a:xfrm>
            <a:off x="5194951" y="1770983"/>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Consolas"/>
              <a:ea typeface="Consolas"/>
              <a:cs typeface="Consolas"/>
              <a:sym typeface="Consolas"/>
            </a:endParaRPr>
          </a:p>
        </p:txBody>
      </p:sp>
      <p:sp>
        <p:nvSpPr>
          <p:cNvPr id="873" name="Google Shape;873;p46"/>
          <p:cNvSpPr/>
          <p:nvPr/>
        </p:nvSpPr>
        <p:spPr>
          <a:xfrm>
            <a:off x="5835051" y="2404433"/>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Consolas"/>
              <a:ea typeface="Consolas"/>
              <a:cs typeface="Consolas"/>
              <a:sym typeface="Consolas"/>
            </a:endParaRPr>
          </a:p>
        </p:txBody>
      </p:sp>
      <p:sp>
        <p:nvSpPr>
          <p:cNvPr id="874" name="Google Shape;874;p46"/>
          <p:cNvSpPr/>
          <p:nvPr/>
        </p:nvSpPr>
        <p:spPr>
          <a:xfrm>
            <a:off x="5835051" y="3268308"/>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Consolas"/>
              <a:ea typeface="Consolas"/>
              <a:cs typeface="Consolas"/>
              <a:sym typeface="Consolas"/>
            </a:endParaRPr>
          </a:p>
        </p:txBody>
      </p:sp>
      <p:cxnSp>
        <p:nvCxnSpPr>
          <p:cNvPr id="875" name="Google Shape;875;p46"/>
          <p:cNvCxnSpPr>
            <a:stCxn id="868" idx="4"/>
            <a:endCxn id="869" idx="0"/>
          </p:cNvCxnSpPr>
          <p:nvPr/>
        </p:nvCxnSpPr>
        <p:spPr>
          <a:xfrm>
            <a:off x="6671031" y="1450947"/>
            <a:ext cx="1361400" cy="320100"/>
          </a:xfrm>
          <a:prstGeom prst="straightConnector1">
            <a:avLst/>
          </a:prstGeom>
          <a:noFill/>
          <a:ln w="28575" cap="flat" cmpd="sng">
            <a:solidFill>
              <a:schemeClr val="dk2"/>
            </a:solidFill>
            <a:prstDash val="solid"/>
            <a:round/>
            <a:headEnd type="none" w="med" len="med"/>
            <a:tailEnd type="none" w="med" len="med"/>
          </a:ln>
        </p:spPr>
      </p:cxnSp>
      <p:cxnSp>
        <p:nvCxnSpPr>
          <p:cNvPr id="876" name="Google Shape;876;p46"/>
          <p:cNvCxnSpPr>
            <a:stCxn id="870" idx="4"/>
            <a:endCxn id="877" idx="0"/>
          </p:cNvCxnSpPr>
          <p:nvPr/>
        </p:nvCxnSpPr>
        <p:spPr>
          <a:xfrm>
            <a:off x="7651801" y="3109820"/>
            <a:ext cx="244500" cy="515700"/>
          </a:xfrm>
          <a:prstGeom prst="straightConnector1">
            <a:avLst/>
          </a:prstGeom>
          <a:noFill/>
          <a:ln w="28575" cap="flat" cmpd="sng">
            <a:solidFill>
              <a:schemeClr val="dk2"/>
            </a:solidFill>
            <a:prstDash val="solid"/>
            <a:round/>
            <a:headEnd type="none" w="med" len="med"/>
            <a:tailEnd type="none" w="med" len="med"/>
          </a:ln>
        </p:spPr>
      </p:cxnSp>
      <p:cxnSp>
        <p:nvCxnSpPr>
          <p:cNvPr id="878" name="Google Shape;878;p46"/>
          <p:cNvCxnSpPr>
            <a:stCxn id="870" idx="4"/>
          </p:cNvCxnSpPr>
          <p:nvPr/>
        </p:nvCxnSpPr>
        <p:spPr>
          <a:xfrm flipH="1">
            <a:off x="7023601" y="3109820"/>
            <a:ext cx="628200" cy="133800"/>
          </a:xfrm>
          <a:prstGeom prst="straightConnector1">
            <a:avLst/>
          </a:prstGeom>
          <a:noFill/>
          <a:ln w="28575" cap="flat" cmpd="sng">
            <a:solidFill>
              <a:schemeClr val="dk2"/>
            </a:solidFill>
            <a:prstDash val="solid"/>
            <a:round/>
            <a:headEnd type="none" w="med" len="med"/>
            <a:tailEnd type="none" w="med" len="med"/>
          </a:ln>
        </p:spPr>
      </p:cxnSp>
      <p:cxnSp>
        <p:nvCxnSpPr>
          <p:cNvPr id="879" name="Google Shape;879;p46"/>
          <p:cNvCxnSpPr>
            <a:stCxn id="868" idx="4"/>
          </p:cNvCxnSpPr>
          <p:nvPr/>
        </p:nvCxnSpPr>
        <p:spPr>
          <a:xfrm flipH="1">
            <a:off x="5411331" y="1450947"/>
            <a:ext cx="1259700" cy="320100"/>
          </a:xfrm>
          <a:prstGeom prst="straightConnector1">
            <a:avLst/>
          </a:prstGeom>
          <a:noFill/>
          <a:ln w="28575" cap="flat" cmpd="sng">
            <a:solidFill>
              <a:schemeClr val="dk2"/>
            </a:solidFill>
            <a:prstDash val="solid"/>
            <a:round/>
            <a:headEnd type="none" w="med" len="med"/>
            <a:tailEnd type="none" w="med" len="med"/>
          </a:ln>
        </p:spPr>
      </p:cxnSp>
      <p:cxnSp>
        <p:nvCxnSpPr>
          <p:cNvPr id="880" name="Google Shape;880;p46"/>
          <p:cNvCxnSpPr/>
          <p:nvPr/>
        </p:nvCxnSpPr>
        <p:spPr>
          <a:xfrm>
            <a:off x="5411401" y="2203883"/>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881" name="Google Shape;881;p46"/>
          <p:cNvCxnSpPr>
            <a:endCxn id="874" idx="0"/>
          </p:cNvCxnSpPr>
          <p:nvPr/>
        </p:nvCxnSpPr>
        <p:spPr>
          <a:xfrm>
            <a:off x="6048201" y="2863008"/>
            <a:ext cx="3300" cy="405300"/>
          </a:xfrm>
          <a:prstGeom prst="straightConnector1">
            <a:avLst/>
          </a:prstGeom>
          <a:noFill/>
          <a:ln w="28575" cap="flat" cmpd="sng">
            <a:solidFill>
              <a:schemeClr val="dk2"/>
            </a:solidFill>
            <a:prstDash val="solid"/>
            <a:round/>
            <a:headEnd type="none" w="med" len="med"/>
            <a:tailEnd type="none" w="med" len="med"/>
          </a:ln>
        </p:spPr>
      </p:cxnSp>
      <p:cxnSp>
        <p:nvCxnSpPr>
          <p:cNvPr id="882" name="Google Shape;882;p46"/>
          <p:cNvCxnSpPr>
            <a:stCxn id="868" idx="4"/>
          </p:cNvCxnSpPr>
          <p:nvPr/>
        </p:nvCxnSpPr>
        <p:spPr>
          <a:xfrm flipH="1">
            <a:off x="6365631" y="1450947"/>
            <a:ext cx="305400" cy="324600"/>
          </a:xfrm>
          <a:prstGeom prst="straightConnector1">
            <a:avLst/>
          </a:prstGeom>
          <a:noFill/>
          <a:ln w="28575" cap="flat" cmpd="sng">
            <a:solidFill>
              <a:schemeClr val="dk2"/>
            </a:solidFill>
            <a:prstDash val="solid"/>
            <a:round/>
            <a:headEnd type="none" w="med" len="med"/>
            <a:tailEnd type="none" w="med" len="med"/>
          </a:ln>
        </p:spPr>
      </p:cxnSp>
      <p:cxnSp>
        <p:nvCxnSpPr>
          <p:cNvPr id="883" name="Google Shape;883;p46"/>
          <p:cNvCxnSpPr>
            <a:stCxn id="868" idx="4"/>
          </p:cNvCxnSpPr>
          <p:nvPr/>
        </p:nvCxnSpPr>
        <p:spPr>
          <a:xfrm>
            <a:off x="6671031" y="1450947"/>
            <a:ext cx="317700" cy="300300"/>
          </a:xfrm>
          <a:prstGeom prst="straightConnector1">
            <a:avLst/>
          </a:prstGeom>
          <a:noFill/>
          <a:ln w="28575" cap="flat" cmpd="sng">
            <a:solidFill>
              <a:schemeClr val="dk2"/>
            </a:solidFill>
            <a:prstDash val="solid"/>
            <a:round/>
            <a:headEnd type="none" w="med" len="med"/>
            <a:tailEnd type="none" w="med" len="med"/>
          </a:ln>
        </p:spPr>
      </p:cxnSp>
      <p:cxnSp>
        <p:nvCxnSpPr>
          <p:cNvPr id="884" name="Google Shape;884;p46"/>
          <p:cNvCxnSpPr>
            <a:stCxn id="868" idx="4"/>
          </p:cNvCxnSpPr>
          <p:nvPr/>
        </p:nvCxnSpPr>
        <p:spPr>
          <a:xfrm>
            <a:off x="6671031" y="1450947"/>
            <a:ext cx="48900" cy="361500"/>
          </a:xfrm>
          <a:prstGeom prst="straightConnector1">
            <a:avLst/>
          </a:prstGeom>
          <a:noFill/>
          <a:ln w="28575" cap="flat" cmpd="sng">
            <a:solidFill>
              <a:schemeClr val="dk2"/>
            </a:solidFill>
            <a:prstDash val="solid"/>
            <a:round/>
            <a:headEnd type="none" w="med" len="med"/>
            <a:tailEnd type="none" w="med" len="med"/>
          </a:ln>
        </p:spPr>
      </p:cxnSp>
      <p:cxnSp>
        <p:nvCxnSpPr>
          <p:cNvPr id="885" name="Google Shape;885;p46"/>
          <p:cNvCxnSpPr>
            <a:stCxn id="868" idx="4"/>
          </p:cNvCxnSpPr>
          <p:nvPr/>
        </p:nvCxnSpPr>
        <p:spPr>
          <a:xfrm flipH="1">
            <a:off x="6561231" y="1450947"/>
            <a:ext cx="109800" cy="336900"/>
          </a:xfrm>
          <a:prstGeom prst="straightConnector1">
            <a:avLst/>
          </a:prstGeom>
          <a:noFill/>
          <a:ln w="28575" cap="flat" cmpd="sng">
            <a:solidFill>
              <a:schemeClr val="dk2"/>
            </a:solidFill>
            <a:prstDash val="solid"/>
            <a:round/>
            <a:headEnd type="none" w="med" len="med"/>
            <a:tailEnd type="none" w="med" len="med"/>
          </a:ln>
        </p:spPr>
      </p:cxnSp>
      <p:cxnSp>
        <p:nvCxnSpPr>
          <p:cNvPr id="886" name="Google Shape;886;p46"/>
          <p:cNvCxnSpPr>
            <a:stCxn id="868" idx="4"/>
          </p:cNvCxnSpPr>
          <p:nvPr/>
        </p:nvCxnSpPr>
        <p:spPr>
          <a:xfrm flipH="1">
            <a:off x="6170331" y="1450947"/>
            <a:ext cx="500700" cy="300300"/>
          </a:xfrm>
          <a:prstGeom prst="straightConnector1">
            <a:avLst/>
          </a:prstGeom>
          <a:noFill/>
          <a:ln w="28575" cap="flat" cmpd="sng">
            <a:solidFill>
              <a:schemeClr val="dk2"/>
            </a:solidFill>
            <a:prstDash val="solid"/>
            <a:round/>
            <a:headEnd type="none" w="med" len="med"/>
            <a:tailEnd type="none" w="med" len="med"/>
          </a:ln>
        </p:spPr>
      </p:cxnSp>
      <p:cxnSp>
        <p:nvCxnSpPr>
          <p:cNvPr id="887" name="Google Shape;887;p46"/>
          <p:cNvCxnSpPr>
            <a:stCxn id="868" idx="4"/>
          </p:cNvCxnSpPr>
          <p:nvPr/>
        </p:nvCxnSpPr>
        <p:spPr>
          <a:xfrm>
            <a:off x="6671031" y="1450947"/>
            <a:ext cx="391200" cy="227100"/>
          </a:xfrm>
          <a:prstGeom prst="straightConnector1">
            <a:avLst/>
          </a:prstGeom>
          <a:noFill/>
          <a:ln w="28575" cap="flat" cmpd="sng">
            <a:solidFill>
              <a:schemeClr val="dk2"/>
            </a:solidFill>
            <a:prstDash val="solid"/>
            <a:round/>
            <a:headEnd type="none" w="med" len="med"/>
            <a:tailEnd type="none" w="med" len="med"/>
          </a:ln>
        </p:spPr>
      </p:cxnSp>
      <p:cxnSp>
        <p:nvCxnSpPr>
          <p:cNvPr id="888" name="Google Shape;888;p46"/>
          <p:cNvCxnSpPr/>
          <p:nvPr/>
        </p:nvCxnSpPr>
        <p:spPr>
          <a:xfrm flipH="1">
            <a:off x="5092648" y="2221867"/>
            <a:ext cx="305400" cy="324600"/>
          </a:xfrm>
          <a:prstGeom prst="straightConnector1">
            <a:avLst/>
          </a:prstGeom>
          <a:noFill/>
          <a:ln w="28575" cap="flat" cmpd="sng">
            <a:solidFill>
              <a:schemeClr val="dk2"/>
            </a:solidFill>
            <a:prstDash val="solid"/>
            <a:round/>
            <a:headEnd type="none" w="med" len="med"/>
            <a:tailEnd type="none" w="med" len="med"/>
          </a:ln>
        </p:spPr>
      </p:cxnSp>
      <p:cxnSp>
        <p:nvCxnSpPr>
          <p:cNvPr id="889" name="Google Shape;889;p46"/>
          <p:cNvCxnSpPr/>
          <p:nvPr/>
        </p:nvCxnSpPr>
        <p:spPr>
          <a:xfrm flipH="1">
            <a:off x="4897348" y="2221867"/>
            <a:ext cx="500700" cy="300300"/>
          </a:xfrm>
          <a:prstGeom prst="straightConnector1">
            <a:avLst/>
          </a:prstGeom>
          <a:noFill/>
          <a:ln w="28575" cap="flat" cmpd="sng">
            <a:solidFill>
              <a:schemeClr val="dk2"/>
            </a:solidFill>
            <a:prstDash val="solid"/>
            <a:round/>
            <a:headEnd type="none" w="med" len="med"/>
            <a:tailEnd type="none" w="med" len="med"/>
          </a:ln>
        </p:spPr>
      </p:cxnSp>
      <p:cxnSp>
        <p:nvCxnSpPr>
          <p:cNvPr id="890" name="Google Shape;890;p46"/>
          <p:cNvCxnSpPr/>
          <p:nvPr/>
        </p:nvCxnSpPr>
        <p:spPr>
          <a:xfrm>
            <a:off x="5398048" y="2221867"/>
            <a:ext cx="317700" cy="300300"/>
          </a:xfrm>
          <a:prstGeom prst="straightConnector1">
            <a:avLst/>
          </a:prstGeom>
          <a:noFill/>
          <a:ln w="28575" cap="flat" cmpd="sng">
            <a:solidFill>
              <a:schemeClr val="dk2"/>
            </a:solidFill>
            <a:prstDash val="solid"/>
            <a:round/>
            <a:headEnd type="none" w="med" len="med"/>
            <a:tailEnd type="none" w="med" len="med"/>
          </a:ln>
        </p:spPr>
      </p:cxnSp>
      <p:cxnSp>
        <p:nvCxnSpPr>
          <p:cNvPr id="891" name="Google Shape;891;p46"/>
          <p:cNvCxnSpPr>
            <a:endCxn id="873" idx="0"/>
          </p:cNvCxnSpPr>
          <p:nvPr/>
        </p:nvCxnSpPr>
        <p:spPr>
          <a:xfrm>
            <a:off x="5398101" y="2221733"/>
            <a:ext cx="653400" cy="182700"/>
          </a:xfrm>
          <a:prstGeom prst="straightConnector1">
            <a:avLst/>
          </a:prstGeom>
          <a:noFill/>
          <a:ln w="28575" cap="flat" cmpd="sng">
            <a:solidFill>
              <a:schemeClr val="dk2"/>
            </a:solidFill>
            <a:prstDash val="solid"/>
            <a:round/>
            <a:headEnd type="none" w="med" len="med"/>
            <a:tailEnd type="none" w="med" len="med"/>
          </a:ln>
        </p:spPr>
      </p:cxnSp>
      <p:grpSp>
        <p:nvGrpSpPr>
          <p:cNvPr id="892" name="Google Shape;892;p46"/>
          <p:cNvGrpSpPr/>
          <p:nvPr/>
        </p:nvGrpSpPr>
        <p:grpSpPr>
          <a:xfrm>
            <a:off x="5549665" y="2841859"/>
            <a:ext cx="891900" cy="324600"/>
            <a:chOff x="4872396" y="2413195"/>
            <a:chExt cx="891900" cy="324600"/>
          </a:xfrm>
        </p:grpSpPr>
        <p:cxnSp>
          <p:nvCxnSpPr>
            <p:cNvPr id="893" name="Google Shape;893;p46"/>
            <p:cNvCxnSpPr/>
            <p:nvPr/>
          </p:nvCxnSpPr>
          <p:spPr>
            <a:xfrm flipH="1">
              <a:off x="5067696" y="2413195"/>
              <a:ext cx="305400" cy="324600"/>
            </a:xfrm>
            <a:prstGeom prst="straightConnector1">
              <a:avLst/>
            </a:prstGeom>
            <a:noFill/>
            <a:ln w="28575" cap="flat" cmpd="sng">
              <a:solidFill>
                <a:schemeClr val="dk2"/>
              </a:solidFill>
              <a:prstDash val="solid"/>
              <a:round/>
              <a:headEnd type="none" w="med" len="med"/>
              <a:tailEnd type="none" w="med" len="med"/>
            </a:ln>
          </p:spPr>
        </p:cxnSp>
        <p:cxnSp>
          <p:nvCxnSpPr>
            <p:cNvPr id="894" name="Google Shape;894;p46"/>
            <p:cNvCxnSpPr/>
            <p:nvPr/>
          </p:nvCxnSpPr>
          <p:spPr>
            <a:xfrm flipH="1">
              <a:off x="4872396" y="2413195"/>
              <a:ext cx="500700" cy="300300"/>
            </a:xfrm>
            <a:prstGeom prst="straightConnector1">
              <a:avLst/>
            </a:prstGeom>
            <a:noFill/>
            <a:ln w="28575" cap="flat" cmpd="sng">
              <a:solidFill>
                <a:schemeClr val="dk2"/>
              </a:solidFill>
              <a:prstDash val="solid"/>
              <a:round/>
              <a:headEnd type="none" w="med" len="med"/>
              <a:tailEnd type="none" w="med" len="med"/>
            </a:ln>
          </p:spPr>
        </p:cxnSp>
        <p:cxnSp>
          <p:nvCxnSpPr>
            <p:cNvPr id="895" name="Google Shape;895;p46"/>
            <p:cNvCxnSpPr/>
            <p:nvPr/>
          </p:nvCxnSpPr>
          <p:spPr>
            <a:xfrm>
              <a:off x="5373096" y="2413195"/>
              <a:ext cx="317700" cy="300300"/>
            </a:xfrm>
            <a:prstGeom prst="straightConnector1">
              <a:avLst/>
            </a:prstGeom>
            <a:noFill/>
            <a:ln w="28575" cap="flat" cmpd="sng">
              <a:solidFill>
                <a:schemeClr val="dk2"/>
              </a:solidFill>
              <a:prstDash val="solid"/>
              <a:round/>
              <a:headEnd type="none" w="med" len="med"/>
              <a:tailEnd type="none" w="med" len="med"/>
            </a:ln>
          </p:spPr>
        </p:cxnSp>
        <p:cxnSp>
          <p:nvCxnSpPr>
            <p:cNvPr id="896" name="Google Shape;896;p46"/>
            <p:cNvCxnSpPr/>
            <p:nvPr/>
          </p:nvCxnSpPr>
          <p:spPr>
            <a:xfrm>
              <a:off x="5373096" y="2413195"/>
              <a:ext cx="391200" cy="227100"/>
            </a:xfrm>
            <a:prstGeom prst="straightConnector1">
              <a:avLst/>
            </a:prstGeom>
            <a:noFill/>
            <a:ln w="28575" cap="flat" cmpd="sng">
              <a:solidFill>
                <a:schemeClr val="dk2"/>
              </a:solidFill>
              <a:prstDash val="solid"/>
              <a:round/>
              <a:headEnd type="none" w="med" len="med"/>
              <a:tailEnd type="none" w="med" len="med"/>
            </a:ln>
          </p:spPr>
        </p:cxnSp>
      </p:grpSp>
      <p:sp>
        <p:nvSpPr>
          <p:cNvPr id="897" name="Google Shape;897;p46"/>
          <p:cNvSpPr txBox="1"/>
          <p:nvPr/>
        </p:nvSpPr>
        <p:spPr>
          <a:xfrm>
            <a:off x="5824651" y="1299197"/>
            <a:ext cx="212400" cy="20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a:t>
            </a:r>
            <a:endParaRPr/>
          </a:p>
        </p:txBody>
      </p:sp>
      <p:sp>
        <p:nvSpPr>
          <p:cNvPr id="898" name="Google Shape;898;p46"/>
          <p:cNvSpPr txBox="1"/>
          <p:nvPr/>
        </p:nvSpPr>
        <p:spPr>
          <a:xfrm>
            <a:off x="7467576" y="1299197"/>
            <a:ext cx="212400" cy="20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a:t>
            </a:r>
            <a:endParaRPr/>
          </a:p>
        </p:txBody>
      </p:sp>
      <p:cxnSp>
        <p:nvCxnSpPr>
          <p:cNvPr id="899" name="Google Shape;899;p46"/>
          <p:cNvCxnSpPr/>
          <p:nvPr/>
        </p:nvCxnSpPr>
        <p:spPr>
          <a:xfrm flipH="1">
            <a:off x="8002960" y="2208831"/>
            <a:ext cx="26400" cy="324300"/>
          </a:xfrm>
          <a:prstGeom prst="straightConnector1">
            <a:avLst/>
          </a:prstGeom>
          <a:noFill/>
          <a:ln w="28575" cap="flat" cmpd="sng">
            <a:solidFill>
              <a:schemeClr val="dk2"/>
            </a:solidFill>
            <a:prstDash val="solid"/>
            <a:round/>
            <a:headEnd type="none" w="med" len="med"/>
            <a:tailEnd type="none" w="med" len="med"/>
          </a:ln>
        </p:spPr>
      </p:cxnSp>
      <p:cxnSp>
        <p:nvCxnSpPr>
          <p:cNvPr id="900" name="Google Shape;900;p46"/>
          <p:cNvCxnSpPr>
            <a:stCxn id="869" idx="4"/>
            <a:endCxn id="870" idx="0"/>
          </p:cNvCxnSpPr>
          <p:nvPr/>
        </p:nvCxnSpPr>
        <p:spPr>
          <a:xfrm flipH="1">
            <a:off x="7651676" y="2203867"/>
            <a:ext cx="380700" cy="473100"/>
          </a:xfrm>
          <a:prstGeom prst="straightConnector1">
            <a:avLst/>
          </a:prstGeom>
          <a:noFill/>
          <a:ln w="28575" cap="flat" cmpd="sng">
            <a:solidFill>
              <a:schemeClr val="dk2"/>
            </a:solidFill>
            <a:prstDash val="solid"/>
            <a:round/>
            <a:headEnd type="none" w="med" len="med"/>
            <a:tailEnd type="none" w="med" len="med"/>
          </a:ln>
        </p:spPr>
      </p:cxnSp>
      <p:cxnSp>
        <p:nvCxnSpPr>
          <p:cNvPr id="901" name="Google Shape;901;p46"/>
          <p:cNvCxnSpPr/>
          <p:nvPr/>
        </p:nvCxnSpPr>
        <p:spPr>
          <a:xfrm>
            <a:off x="8029360" y="2208831"/>
            <a:ext cx="317700" cy="300300"/>
          </a:xfrm>
          <a:prstGeom prst="straightConnector1">
            <a:avLst/>
          </a:prstGeom>
          <a:noFill/>
          <a:ln w="28575" cap="flat" cmpd="sng">
            <a:solidFill>
              <a:schemeClr val="dk2"/>
            </a:solidFill>
            <a:prstDash val="solid"/>
            <a:round/>
            <a:headEnd type="none" w="med" len="med"/>
            <a:tailEnd type="none" w="med" len="med"/>
          </a:ln>
        </p:spPr>
      </p:cxnSp>
      <p:cxnSp>
        <p:nvCxnSpPr>
          <p:cNvPr id="902" name="Google Shape;902;p46"/>
          <p:cNvCxnSpPr/>
          <p:nvPr/>
        </p:nvCxnSpPr>
        <p:spPr>
          <a:xfrm>
            <a:off x="8029360" y="2208831"/>
            <a:ext cx="391200" cy="227100"/>
          </a:xfrm>
          <a:prstGeom prst="straightConnector1">
            <a:avLst/>
          </a:prstGeom>
          <a:noFill/>
          <a:ln w="28575" cap="flat" cmpd="sng">
            <a:solidFill>
              <a:schemeClr val="dk2"/>
            </a:solidFill>
            <a:prstDash val="solid"/>
            <a:round/>
            <a:headEnd type="none" w="med" len="med"/>
            <a:tailEnd type="none" w="med" len="med"/>
          </a:ln>
        </p:spPr>
      </p:cxnSp>
      <p:cxnSp>
        <p:nvCxnSpPr>
          <p:cNvPr id="903" name="Google Shape;903;p46"/>
          <p:cNvCxnSpPr/>
          <p:nvPr/>
        </p:nvCxnSpPr>
        <p:spPr>
          <a:xfrm flipH="1">
            <a:off x="7406244" y="3107509"/>
            <a:ext cx="250200" cy="265800"/>
          </a:xfrm>
          <a:prstGeom prst="straightConnector1">
            <a:avLst/>
          </a:prstGeom>
          <a:noFill/>
          <a:ln w="28575" cap="flat" cmpd="sng">
            <a:solidFill>
              <a:schemeClr val="dk2"/>
            </a:solidFill>
            <a:prstDash val="solid"/>
            <a:round/>
            <a:headEnd type="none" w="med" len="med"/>
            <a:tailEnd type="none" w="med" len="med"/>
          </a:ln>
        </p:spPr>
      </p:cxnSp>
      <p:cxnSp>
        <p:nvCxnSpPr>
          <p:cNvPr id="904" name="Google Shape;904;p46"/>
          <p:cNvCxnSpPr>
            <a:endCxn id="871" idx="0"/>
          </p:cNvCxnSpPr>
          <p:nvPr/>
        </p:nvCxnSpPr>
        <p:spPr>
          <a:xfrm flipH="1">
            <a:off x="7118676" y="3107448"/>
            <a:ext cx="537900" cy="329700"/>
          </a:xfrm>
          <a:prstGeom prst="straightConnector1">
            <a:avLst/>
          </a:prstGeom>
          <a:noFill/>
          <a:ln w="28575" cap="flat" cmpd="sng">
            <a:solidFill>
              <a:schemeClr val="dk2"/>
            </a:solidFill>
            <a:prstDash val="solid"/>
            <a:round/>
            <a:headEnd type="none" w="med" len="med"/>
            <a:tailEnd type="none" w="med" len="med"/>
          </a:ln>
        </p:spPr>
      </p:cxnSp>
      <p:cxnSp>
        <p:nvCxnSpPr>
          <p:cNvPr id="905" name="Google Shape;905;p46"/>
          <p:cNvCxnSpPr>
            <a:endCxn id="906" idx="0"/>
          </p:cNvCxnSpPr>
          <p:nvPr/>
        </p:nvCxnSpPr>
        <p:spPr>
          <a:xfrm>
            <a:off x="7656526" y="3107473"/>
            <a:ext cx="794100" cy="434400"/>
          </a:xfrm>
          <a:prstGeom prst="straightConnector1">
            <a:avLst/>
          </a:prstGeom>
          <a:noFill/>
          <a:ln w="28575" cap="flat" cmpd="sng">
            <a:solidFill>
              <a:schemeClr val="dk2"/>
            </a:solidFill>
            <a:prstDash val="solid"/>
            <a:round/>
            <a:headEnd type="none" w="med" len="med"/>
            <a:tailEnd type="none" w="med" len="med"/>
          </a:ln>
        </p:spPr>
      </p:cxnSp>
      <p:cxnSp>
        <p:nvCxnSpPr>
          <p:cNvPr id="907" name="Google Shape;907;p46"/>
          <p:cNvCxnSpPr/>
          <p:nvPr/>
        </p:nvCxnSpPr>
        <p:spPr>
          <a:xfrm>
            <a:off x="7656444" y="3107509"/>
            <a:ext cx="423600" cy="106800"/>
          </a:xfrm>
          <a:prstGeom prst="straightConnector1">
            <a:avLst/>
          </a:prstGeom>
          <a:noFill/>
          <a:ln w="28575" cap="flat" cmpd="sng">
            <a:solidFill>
              <a:schemeClr val="dk2"/>
            </a:solidFill>
            <a:prstDash val="solid"/>
            <a:round/>
            <a:headEnd type="none" w="med" len="med"/>
            <a:tailEnd type="none" w="med" len="med"/>
          </a:ln>
        </p:spPr>
      </p:cxnSp>
      <p:grpSp>
        <p:nvGrpSpPr>
          <p:cNvPr id="908" name="Google Shape;908;p46"/>
          <p:cNvGrpSpPr/>
          <p:nvPr/>
        </p:nvGrpSpPr>
        <p:grpSpPr>
          <a:xfrm>
            <a:off x="6704963" y="3874364"/>
            <a:ext cx="730377" cy="265815"/>
            <a:chOff x="4872396" y="2413195"/>
            <a:chExt cx="891900" cy="324600"/>
          </a:xfrm>
        </p:grpSpPr>
        <p:cxnSp>
          <p:nvCxnSpPr>
            <p:cNvPr id="909" name="Google Shape;909;p46"/>
            <p:cNvCxnSpPr/>
            <p:nvPr/>
          </p:nvCxnSpPr>
          <p:spPr>
            <a:xfrm flipH="1">
              <a:off x="5067696" y="2413195"/>
              <a:ext cx="305400" cy="324600"/>
            </a:xfrm>
            <a:prstGeom prst="straightConnector1">
              <a:avLst/>
            </a:prstGeom>
            <a:noFill/>
            <a:ln w="28575" cap="flat" cmpd="sng">
              <a:solidFill>
                <a:schemeClr val="dk2"/>
              </a:solidFill>
              <a:prstDash val="solid"/>
              <a:round/>
              <a:headEnd type="none" w="med" len="med"/>
              <a:tailEnd type="none" w="med" len="med"/>
            </a:ln>
          </p:spPr>
        </p:cxnSp>
        <p:cxnSp>
          <p:nvCxnSpPr>
            <p:cNvPr id="910" name="Google Shape;910;p46"/>
            <p:cNvCxnSpPr/>
            <p:nvPr/>
          </p:nvCxnSpPr>
          <p:spPr>
            <a:xfrm flipH="1">
              <a:off x="4872396" y="2413195"/>
              <a:ext cx="500700" cy="300300"/>
            </a:xfrm>
            <a:prstGeom prst="straightConnector1">
              <a:avLst/>
            </a:prstGeom>
            <a:noFill/>
            <a:ln w="28575" cap="flat" cmpd="sng">
              <a:solidFill>
                <a:schemeClr val="dk2"/>
              </a:solidFill>
              <a:prstDash val="solid"/>
              <a:round/>
              <a:headEnd type="none" w="med" len="med"/>
              <a:tailEnd type="none" w="med" len="med"/>
            </a:ln>
          </p:spPr>
        </p:cxnSp>
        <p:cxnSp>
          <p:nvCxnSpPr>
            <p:cNvPr id="911" name="Google Shape;911;p46"/>
            <p:cNvCxnSpPr/>
            <p:nvPr/>
          </p:nvCxnSpPr>
          <p:spPr>
            <a:xfrm>
              <a:off x="5373096" y="2413195"/>
              <a:ext cx="317700" cy="300300"/>
            </a:xfrm>
            <a:prstGeom prst="straightConnector1">
              <a:avLst/>
            </a:prstGeom>
            <a:noFill/>
            <a:ln w="28575" cap="flat" cmpd="sng">
              <a:solidFill>
                <a:schemeClr val="dk2"/>
              </a:solidFill>
              <a:prstDash val="solid"/>
              <a:round/>
              <a:headEnd type="none" w="med" len="med"/>
              <a:tailEnd type="none" w="med" len="med"/>
            </a:ln>
          </p:spPr>
        </p:cxnSp>
        <p:cxnSp>
          <p:nvCxnSpPr>
            <p:cNvPr id="912" name="Google Shape;912;p46"/>
            <p:cNvCxnSpPr/>
            <p:nvPr/>
          </p:nvCxnSpPr>
          <p:spPr>
            <a:xfrm>
              <a:off x="5373096" y="2413195"/>
              <a:ext cx="391200" cy="227100"/>
            </a:xfrm>
            <a:prstGeom prst="straightConnector1">
              <a:avLst/>
            </a:prstGeom>
            <a:noFill/>
            <a:ln w="28575" cap="flat" cmpd="sng">
              <a:solidFill>
                <a:schemeClr val="dk2"/>
              </a:solidFill>
              <a:prstDash val="solid"/>
              <a:round/>
              <a:headEnd type="none" w="med" len="med"/>
              <a:tailEnd type="none" w="med" len="med"/>
            </a:ln>
          </p:spPr>
        </p:cxnSp>
      </p:grpSp>
      <p:cxnSp>
        <p:nvCxnSpPr>
          <p:cNvPr id="913" name="Google Shape;913;p46"/>
          <p:cNvCxnSpPr/>
          <p:nvPr/>
        </p:nvCxnSpPr>
        <p:spPr>
          <a:xfrm>
            <a:off x="7110169" y="3871699"/>
            <a:ext cx="0" cy="165900"/>
          </a:xfrm>
          <a:prstGeom prst="straightConnector1">
            <a:avLst/>
          </a:prstGeom>
          <a:noFill/>
          <a:ln w="28575" cap="flat" cmpd="sng">
            <a:solidFill>
              <a:schemeClr val="dk2"/>
            </a:solidFill>
            <a:prstDash val="solid"/>
            <a:round/>
            <a:headEnd type="none" w="med" len="med"/>
            <a:tailEnd type="none" w="med" len="med"/>
          </a:ln>
        </p:spPr>
      </p:cxnSp>
      <p:cxnSp>
        <p:nvCxnSpPr>
          <p:cNvPr id="914" name="Google Shape;914;p46"/>
          <p:cNvCxnSpPr>
            <a:stCxn id="869" idx="4"/>
          </p:cNvCxnSpPr>
          <p:nvPr/>
        </p:nvCxnSpPr>
        <p:spPr>
          <a:xfrm>
            <a:off x="8032376" y="2203867"/>
            <a:ext cx="117000" cy="304800"/>
          </a:xfrm>
          <a:prstGeom prst="straightConnector1">
            <a:avLst/>
          </a:prstGeom>
          <a:noFill/>
          <a:ln w="28575" cap="flat" cmpd="sng">
            <a:solidFill>
              <a:schemeClr val="dk2"/>
            </a:solidFill>
            <a:prstDash val="solid"/>
            <a:round/>
            <a:headEnd type="none" w="med" len="med"/>
            <a:tailEnd type="none" w="med" len="med"/>
          </a:ln>
        </p:spPr>
      </p:cxnSp>
      <p:sp>
        <p:nvSpPr>
          <p:cNvPr id="915" name="Google Shape;915;p46"/>
          <p:cNvSpPr txBox="1"/>
          <p:nvPr/>
        </p:nvSpPr>
        <p:spPr>
          <a:xfrm>
            <a:off x="7547926" y="2237022"/>
            <a:ext cx="212400" cy="18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a:t>
            </a:r>
            <a:endParaRPr/>
          </a:p>
        </p:txBody>
      </p:sp>
      <p:sp>
        <p:nvSpPr>
          <p:cNvPr id="916" name="Google Shape;916;p46"/>
          <p:cNvSpPr txBox="1"/>
          <p:nvPr/>
        </p:nvSpPr>
        <p:spPr>
          <a:xfrm>
            <a:off x="7000259" y="3113032"/>
            <a:ext cx="212400" cy="18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d</a:t>
            </a:r>
            <a:endParaRPr/>
          </a:p>
        </p:txBody>
      </p:sp>
      <p:sp>
        <p:nvSpPr>
          <p:cNvPr id="917" name="Google Shape;917;p46"/>
          <p:cNvSpPr txBox="1"/>
          <p:nvPr/>
        </p:nvSpPr>
        <p:spPr>
          <a:xfrm>
            <a:off x="5748451" y="2017047"/>
            <a:ext cx="212400" cy="20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w</a:t>
            </a:r>
            <a:endParaRPr/>
          </a:p>
        </p:txBody>
      </p:sp>
      <p:sp>
        <p:nvSpPr>
          <p:cNvPr id="918" name="Google Shape;918;p46"/>
          <p:cNvSpPr txBox="1"/>
          <p:nvPr/>
        </p:nvSpPr>
        <p:spPr>
          <a:xfrm>
            <a:off x="6041296" y="2940728"/>
            <a:ext cx="212400" cy="20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l</a:t>
            </a:r>
            <a:endParaRPr/>
          </a:p>
        </p:txBody>
      </p:sp>
      <p:sp>
        <p:nvSpPr>
          <p:cNvPr id="919" name="Google Shape;919;p46"/>
          <p:cNvSpPr txBox="1"/>
          <p:nvPr/>
        </p:nvSpPr>
        <p:spPr>
          <a:xfrm>
            <a:off x="4933126" y="2509872"/>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920" name="Google Shape;920;p46"/>
          <p:cNvSpPr txBox="1"/>
          <p:nvPr/>
        </p:nvSpPr>
        <p:spPr>
          <a:xfrm>
            <a:off x="5840851" y="4524272"/>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grpSp>
        <p:nvGrpSpPr>
          <p:cNvPr id="921" name="Google Shape;921;p46"/>
          <p:cNvGrpSpPr/>
          <p:nvPr/>
        </p:nvGrpSpPr>
        <p:grpSpPr>
          <a:xfrm>
            <a:off x="5643842" y="3709129"/>
            <a:ext cx="730377" cy="265815"/>
            <a:chOff x="4872396" y="2413195"/>
            <a:chExt cx="891900" cy="324600"/>
          </a:xfrm>
        </p:grpSpPr>
        <p:cxnSp>
          <p:nvCxnSpPr>
            <p:cNvPr id="922" name="Google Shape;922;p46"/>
            <p:cNvCxnSpPr/>
            <p:nvPr/>
          </p:nvCxnSpPr>
          <p:spPr>
            <a:xfrm flipH="1">
              <a:off x="5067696" y="2413195"/>
              <a:ext cx="305400" cy="324600"/>
            </a:xfrm>
            <a:prstGeom prst="straightConnector1">
              <a:avLst/>
            </a:prstGeom>
            <a:noFill/>
            <a:ln w="28575" cap="flat" cmpd="sng">
              <a:solidFill>
                <a:schemeClr val="dk2"/>
              </a:solidFill>
              <a:prstDash val="solid"/>
              <a:round/>
              <a:headEnd type="none" w="med" len="med"/>
              <a:tailEnd type="none" w="med" len="med"/>
            </a:ln>
          </p:spPr>
        </p:cxnSp>
        <p:cxnSp>
          <p:nvCxnSpPr>
            <p:cNvPr id="923" name="Google Shape;923;p46"/>
            <p:cNvCxnSpPr/>
            <p:nvPr/>
          </p:nvCxnSpPr>
          <p:spPr>
            <a:xfrm flipH="1">
              <a:off x="4872396" y="2413195"/>
              <a:ext cx="500700" cy="300300"/>
            </a:xfrm>
            <a:prstGeom prst="straightConnector1">
              <a:avLst/>
            </a:prstGeom>
            <a:noFill/>
            <a:ln w="28575" cap="flat" cmpd="sng">
              <a:solidFill>
                <a:schemeClr val="dk2"/>
              </a:solidFill>
              <a:prstDash val="solid"/>
              <a:round/>
              <a:headEnd type="none" w="med" len="med"/>
              <a:tailEnd type="none" w="med" len="med"/>
            </a:ln>
          </p:spPr>
        </p:cxnSp>
        <p:cxnSp>
          <p:nvCxnSpPr>
            <p:cNvPr id="924" name="Google Shape;924;p46"/>
            <p:cNvCxnSpPr/>
            <p:nvPr/>
          </p:nvCxnSpPr>
          <p:spPr>
            <a:xfrm>
              <a:off x="5373096" y="2413195"/>
              <a:ext cx="317700" cy="300300"/>
            </a:xfrm>
            <a:prstGeom prst="straightConnector1">
              <a:avLst/>
            </a:prstGeom>
            <a:noFill/>
            <a:ln w="28575" cap="flat" cmpd="sng">
              <a:solidFill>
                <a:schemeClr val="dk2"/>
              </a:solidFill>
              <a:prstDash val="solid"/>
              <a:round/>
              <a:headEnd type="none" w="med" len="med"/>
              <a:tailEnd type="none" w="med" len="med"/>
            </a:ln>
          </p:spPr>
        </p:cxnSp>
        <p:cxnSp>
          <p:nvCxnSpPr>
            <p:cNvPr id="925" name="Google Shape;925;p46"/>
            <p:cNvCxnSpPr/>
            <p:nvPr/>
          </p:nvCxnSpPr>
          <p:spPr>
            <a:xfrm>
              <a:off x="5373096" y="2413195"/>
              <a:ext cx="391200" cy="227100"/>
            </a:xfrm>
            <a:prstGeom prst="straightConnector1">
              <a:avLst/>
            </a:prstGeom>
            <a:noFill/>
            <a:ln w="28575" cap="flat" cmpd="sng">
              <a:solidFill>
                <a:schemeClr val="dk2"/>
              </a:solidFill>
              <a:prstDash val="solid"/>
              <a:round/>
              <a:headEnd type="none" w="med" len="med"/>
              <a:tailEnd type="none" w="med" len="med"/>
            </a:ln>
          </p:spPr>
        </p:cxnSp>
      </p:grpSp>
      <p:cxnSp>
        <p:nvCxnSpPr>
          <p:cNvPr id="926" name="Google Shape;926;p46"/>
          <p:cNvCxnSpPr>
            <a:endCxn id="927" idx="0"/>
          </p:cNvCxnSpPr>
          <p:nvPr/>
        </p:nvCxnSpPr>
        <p:spPr>
          <a:xfrm>
            <a:off x="6049101" y="3706458"/>
            <a:ext cx="2400" cy="268500"/>
          </a:xfrm>
          <a:prstGeom prst="straightConnector1">
            <a:avLst/>
          </a:prstGeom>
          <a:noFill/>
          <a:ln w="28575" cap="flat" cmpd="sng">
            <a:solidFill>
              <a:schemeClr val="dk2"/>
            </a:solidFill>
            <a:prstDash val="solid"/>
            <a:round/>
            <a:headEnd type="none" w="med" len="med"/>
            <a:tailEnd type="none" w="med" len="med"/>
          </a:ln>
        </p:spPr>
      </p:cxnSp>
      <p:sp>
        <p:nvSpPr>
          <p:cNvPr id="928" name="Google Shape;928;p46"/>
          <p:cNvSpPr txBox="1"/>
          <p:nvPr/>
        </p:nvSpPr>
        <p:spPr>
          <a:xfrm>
            <a:off x="6902301" y="4140172"/>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929" name="Google Shape;929;p46"/>
          <p:cNvSpPr txBox="1"/>
          <p:nvPr/>
        </p:nvSpPr>
        <p:spPr>
          <a:xfrm>
            <a:off x="8510426" y="4172147"/>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930" name="Google Shape;930;p46"/>
          <p:cNvSpPr txBox="1"/>
          <p:nvPr/>
        </p:nvSpPr>
        <p:spPr>
          <a:xfrm>
            <a:off x="8102126" y="2460984"/>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931" name="Google Shape;931;p46"/>
          <p:cNvSpPr txBox="1"/>
          <p:nvPr/>
        </p:nvSpPr>
        <p:spPr>
          <a:xfrm>
            <a:off x="6517739" y="1678034"/>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932" name="Google Shape;932;p46"/>
          <p:cNvSpPr txBox="1"/>
          <p:nvPr/>
        </p:nvSpPr>
        <p:spPr>
          <a:xfrm>
            <a:off x="5207251" y="3111972"/>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933" name="Google Shape;933;p46"/>
          <p:cNvSpPr txBox="1"/>
          <p:nvPr/>
        </p:nvSpPr>
        <p:spPr>
          <a:xfrm>
            <a:off x="6409601" y="2993797"/>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927" name="Google Shape;927;p46"/>
          <p:cNvSpPr/>
          <p:nvPr/>
        </p:nvSpPr>
        <p:spPr>
          <a:xfrm>
            <a:off x="5835051" y="3974958"/>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Consolas"/>
              <a:ea typeface="Consolas"/>
              <a:cs typeface="Consolas"/>
              <a:sym typeface="Consolas"/>
            </a:endParaRPr>
          </a:p>
        </p:txBody>
      </p:sp>
      <p:sp>
        <p:nvSpPr>
          <p:cNvPr id="934" name="Google Shape;934;p46"/>
          <p:cNvSpPr txBox="1"/>
          <p:nvPr/>
        </p:nvSpPr>
        <p:spPr>
          <a:xfrm>
            <a:off x="5813764" y="3708979"/>
            <a:ext cx="182100" cy="26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a:t>
            </a:r>
            <a:endParaRPr/>
          </a:p>
        </p:txBody>
      </p:sp>
      <p:grpSp>
        <p:nvGrpSpPr>
          <p:cNvPr id="935" name="Google Shape;935;p46"/>
          <p:cNvGrpSpPr/>
          <p:nvPr/>
        </p:nvGrpSpPr>
        <p:grpSpPr>
          <a:xfrm>
            <a:off x="5644222" y="4420007"/>
            <a:ext cx="730377" cy="265815"/>
            <a:chOff x="4872396" y="2413195"/>
            <a:chExt cx="891900" cy="324600"/>
          </a:xfrm>
        </p:grpSpPr>
        <p:cxnSp>
          <p:nvCxnSpPr>
            <p:cNvPr id="936" name="Google Shape;936;p46"/>
            <p:cNvCxnSpPr/>
            <p:nvPr/>
          </p:nvCxnSpPr>
          <p:spPr>
            <a:xfrm flipH="1">
              <a:off x="5067696" y="2413195"/>
              <a:ext cx="305400" cy="324600"/>
            </a:xfrm>
            <a:prstGeom prst="straightConnector1">
              <a:avLst/>
            </a:prstGeom>
            <a:noFill/>
            <a:ln w="28575" cap="flat" cmpd="sng">
              <a:solidFill>
                <a:schemeClr val="dk2"/>
              </a:solidFill>
              <a:prstDash val="solid"/>
              <a:round/>
              <a:headEnd type="none" w="med" len="med"/>
              <a:tailEnd type="none" w="med" len="med"/>
            </a:ln>
          </p:spPr>
        </p:cxnSp>
        <p:cxnSp>
          <p:nvCxnSpPr>
            <p:cNvPr id="937" name="Google Shape;937;p46"/>
            <p:cNvCxnSpPr/>
            <p:nvPr/>
          </p:nvCxnSpPr>
          <p:spPr>
            <a:xfrm flipH="1">
              <a:off x="4872396" y="2413195"/>
              <a:ext cx="500700" cy="300300"/>
            </a:xfrm>
            <a:prstGeom prst="straightConnector1">
              <a:avLst/>
            </a:prstGeom>
            <a:noFill/>
            <a:ln w="28575" cap="flat" cmpd="sng">
              <a:solidFill>
                <a:schemeClr val="dk2"/>
              </a:solidFill>
              <a:prstDash val="solid"/>
              <a:round/>
              <a:headEnd type="none" w="med" len="med"/>
              <a:tailEnd type="none" w="med" len="med"/>
            </a:ln>
          </p:spPr>
        </p:cxnSp>
        <p:cxnSp>
          <p:nvCxnSpPr>
            <p:cNvPr id="938" name="Google Shape;938;p46"/>
            <p:cNvCxnSpPr/>
            <p:nvPr/>
          </p:nvCxnSpPr>
          <p:spPr>
            <a:xfrm>
              <a:off x="5373096" y="2413195"/>
              <a:ext cx="317700" cy="300300"/>
            </a:xfrm>
            <a:prstGeom prst="straightConnector1">
              <a:avLst/>
            </a:prstGeom>
            <a:noFill/>
            <a:ln w="28575" cap="flat" cmpd="sng">
              <a:solidFill>
                <a:schemeClr val="dk2"/>
              </a:solidFill>
              <a:prstDash val="solid"/>
              <a:round/>
              <a:headEnd type="none" w="med" len="med"/>
              <a:tailEnd type="none" w="med" len="med"/>
            </a:ln>
          </p:spPr>
        </p:cxnSp>
        <p:cxnSp>
          <p:nvCxnSpPr>
            <p:cNvPr id="939" name="Google Shape;939;p46"/>
            <p:cNvCxnSpPr/>
            <p:nvPr/>
          </p:nvCxnSpPr>
          <p:spPr>
            <a:xfrm>
              <a:off x="5373096" y="2413195"/>
              <a:ext cx="391200" cy="227100"/>
            </a:xfrm>
            <a:prstGeom prst="straightConnector1">
              <a:avLst/>
            </a:prstGeom>
            <a:noFill/>
            <a:ln w="28575" cap="flat" cmpd="sng">
              <a:solidFill>
                <a:schemeClr val="dk2"/>
              </a:solidFill>
              <a:prstDash val="solid"/>
              <a:round/>
              <a:headEnd type="none" w="med" len="med"/>
              <a:tailEnd type="none" w="med" len="med"/>
            </a:ln>
          </p:spPr>
        </p:cxnSp>
      </p:grpSp>
      <p:cxnSp>
        <p:nvCxnSpPr>
          <p:cNvPr id="940" name="Google Shape;940;p46"/>
          <p:cNvCxnSpPr/>
          <p:nvPr/>
        </p:nvCxnSpPr>
        <p:spPr>
          <a:xfrm>
            <a:off x="6049428" y="4417342"/>
            <a:ext cx="0" cy="165900"/>
          </a:xfrm>
          <a:prstGeom prst="straightConnector1">
            <a:avLst/>
          </a:prstGeom>
          <a:noFill/>
          <a:ln w="28575" cap="flat" cmpd="sng">
            <a:solidFill>
              <a:schemeClr val="dk2"/>
            </a:solidFill>
            <a:prstDash val="solid"/>
            <a:round/>
            <a:headEnd type="none" w="med" len="med"/>
            <a:tailEnd type="none" w="med" len="med"/>
          </a:ln>
        </p:spPr>
      </p:cxnSp>
      <p:sp>
        <p:nvSpPr>
          <p:cNvPr id="877" name="Google Shape;877;p46"/>
          <p:cNvSpPr/>
          <p:nvPr/>
        </p:nvSpPr>
        <p:spPr>
          <a:xfrm>
            <a:off x="7679976" y="3625586"/>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Consolas"/>
              <a:ea typeface="Consolas"/>
              <a:cs typeface="Consolas"/>
              <a:sym typeface="Consolas"/>
            </a:endParaRPr>
          </a:p>
        </p:txBody>
      </p:sp>
      <p:sp>
        <p:nvSpPr>
          <p:cNvPr id="906" name="Google Shape;906;p46"/>
          <p:cNvSpPr/>
          <p:nvPr/>
        </p:nvSpPr>
        <p:spPr>
          <a:xfrm>
            <a:off x="8234176" y="3541873"/>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Consolas"/>
              <a:ea typeface="Consolas"/>
              <a:cs typeface="Consolas"/>
              <a:sym typeface="Consolas"/>
            </a:endParaRPr>
          </a:p>
        </p:txBody>
      </p:sp>
      <p:sp>
        <p:nvSpPr>
          <p:cNvPr id="941" name="Google Shape;941;p46"/>
          <p:cNvSpPr/>
          <p:nvPr/>
        </p:nvSpPr>
        <p:spPr>
          <a:xfrm>
            <a:off x="7603776" y="4333323"/>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Consolas"/>
              <a:ea typeface="Consolas"/>
              <a:cs typeface="Consolas"/>
              <a:sym typeface="Consolas"/>
            </a:endParaRPr>
          </a:p>
        </p:txBody>
      </p:sp>
      <p:sp>
        <p:nvSpPr>
          <p:cNvPr id="942" name="Google Shape;942;p46"/>
          <p:cNvSpPr txBox="1"/>
          <p:nvPr/>
        </p:nvSpPr>
        <p:spPr>
          <a:xfrm>
            <a:off x="7471726" y="3255472"/>
            <a:ext cx="212400" cy="16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m</a:t>
            </a:r>
            <a:endParaRPr/>
          </a:p>
        </p:txBody>
      </p:sp>
      <p:sp>
        <p:nvSpPr>
          <p:cNvPr id="943" name="Google Shape;943;p46"/>
          <p:cNvSpPr txBox="1"/>
          <p:nvPr/>
        </p:nvSpPr>
        <p:spPr>
          <a:xfrm>
            <a:off x="7984676" y="3312172"/>
            <a:ext cx="212400" cy="16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p</a:t>
            </a:r>
            <a:endParaRPr/>
          </a:p>
        </p:txBody>
      </p:sp>
      <p:sp>
        <p:nvSpPr>
          <p:cNvPr id="944" name="Google Shape;944;p46"/>
          <p:cNvSpPr txBox="1"/>
          <p:nvPr/>
        </p:nvSpPr>
        <p:spPr>
          <a:xfrm>
            <a:off x="7828326" y="4036906"/>
            <a:ext cx="212400" cy="16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e</a:t>
            </a:r>
            <a:endParaRPr/>
          </a:p>
        </p:txBody>
      </p:sp>
      <p:cxnSp>
        <p:nvCxnSpPr>
          <p:cNvPr id="945" name="Google Shape;945;p46"/>
          <p:cNvCxnSpPr>
            <a:stCxn id="877" idx="4"/>
            <a:endCxn id="941" idx="0"/>
          </p:cNvCxnSpPr>
          <p:nvPr/>
        </p:nvCxnSpPr>
        <p:spPr>
          <a:xfrm flipH="1">
            <a:off x="7820226" y="4058486"/>
            <a:ext cx="76200" cy="274800"/>
          </a:xfrm>
          <a:prstGeom prst="straightConnector1">
            <a:avLst/>
          </a:prstGeom>
          <a:noFill/>
          <a:ln w="28575" cap="flat" cmpd="sng">
            <a:solidFill>
              <a:schemeClr val="dk2"/>
            </a:solidFill>
            <a:prstDash val="solid"/>
            <a:round/>
            <a:headEnd type="none" w="med" len="med"/>
            <a:tailEnd type="none" w="med" len="med"/>
          </a:ln>
        </p:spPr>
      </p:cxnSp>
      <p:cxnSp>
        <p:nvCxnSpPr>
          <p:cNvPr id="946" name="Google Shape;946;p46"/>
          <p:cNvCxnSpPr/>
          <p:nvPr/>
        </p:nvCxnSpPr>
        <p:spPr>
          <a:xfrm flipH="1">
            <a:off x="8412735" y="3999109"/>
            <a:ext cx="26400" cy="324300"/>
          </a:xfrm>
          <a:prstGeom prst="straightConnector1">
            <a:avLst/>
          </a:prstGeom>
          <a:noFill/>
          <a:ln w="28575" cap="flat" cmpd="sng">
            <a:solidFill>
              <a:schemeClr val="dk2"/>
            </a:solidFill>
            <a:prstDash val="solid"/>
            <a:round/>
            <a:headEnd type="none" w="med" len="med"/>
            <a:tailEnd type="none" w="med" len="med"/>
          </a:ln>
        </p:spPr>
      </p:cxnSp>
      <p:cxnSp>
        <p:nvCxnSpPr>
          <p:cNvPr id="947" name="Google Shape;947;p46"/>
          <p:cNvCxnSpPr/>
          <p:nvPr/>
        </p:nvCxnSpPr>
        <p:spPr>
          <a:xfrm>
            <a:off x="8439135" y="3999109"/>
            <a:ext cx="317700" cy="300300"/>
          </a:xfrm>
          <a:prstGeom prst="straightConnector1">
            <a:avLst/>
          </a:prstGeom>
          <a:noFill/>
          <a:ln w="28575" cap="flat" cmpd="sng">
            <a:solidFill>
              <a:schemeClr val="dk2"/>
            </a:solidFill>
            <a:prstDash val="solid"/>
            <a:round/>
            <a:headEnd type="none" w="med" len="med"/>
            <a:tailEnd type="none" w="med" len="med"/>
          </a:ln>
        </p:spPr>
      </p:cxnSp>
      <p:cxnSp>
        <p:nvCxnSpPr>
          <p:cNvPr id="948" name="Google Shape;948;p46"/>
          <p:cNvCxnSpPr/>
          <p:nvPr/>
        </p:nvCxnSpPr>
        <p:spPr>
          <a:xfrm>
            <a:off x="8439135" y="3999109"/>
            <a:ext cx="391200" cy="227100"/>
          </a:xfrm>
          <a:prstGeom prst="straightConnector1">
            <a:avLst/>
          </a:prstGeom>
          <a:noFill/>
          <a:ln w="28575" cap="flat" cmpd="sng">
            <a:solidFill>
              <a:schemeClr val="dk2"/>
            </a:solidFill>
            <a:prstDash val="solid"/>
            <a:round/>
            <a:headEnd type="none" w="med" len="med"/>
            <a:tailEnd type="none" w="med" len="med"/>
          </a:ln>
        </p:spPr>
      </p:cxnSp>
      <p:cxnSp>
        <p:nvCxnSpPr>
          <p:cNvPr id="949" name="Google Shape;949;p46"/>
          <p:cNvCxnSpPr/>
          <p:nvPr/>
        </p:nvCxnSpPr>
        <p:spPr>
          <a:xfrm>
            <a:off x="8442152" y="3994146"/>
            <a:ext cx="117000" cy="304800"/>
          </a:xfrm>
          <a:prstGeom prst="straightConnector1">
            <a:avLst/>
          </a:prstGeom>
          <a:noFill/>
          <a:ln w="28575" cap="flat" cmpd="sng">
            <a:solidFill>
              <a:schemeClr val="dk2"/>
            </a:solidFill>
            <a:prstDash val="solid"/>
            <a:round/>
            <a:headEnd type="none" w="med" len="med"/>
            <a:tailEnd type="none" w="med" len="med"/>
          </a:ln>
        </p:spPr>
      </p:cxnSp>
      <p:sp>
        <p:nvSpPr>
          <p:cNvPr id="950" name="Google Shape;950;p46"/>
          <p:cNvSpPr txBox="1"/>
          <p:nvPr/>
        </p:nvSpPr>
        <p:spPr>
          <a:xfrm>
            <a:off x="8248826" y="3001434"/>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grpSp>
        <p:nvGrpSpPr>
          <p:cNvPr id="951" name="Google Shape;951;p46"/>
          <p:cNvGrpSpPr/>
          <p:nvPr/>
        </p:nvGrpSpPr>
        <p:grpSpPr>
          <a:xfrm>
            <a:off x="7408863" y="4790028"/>
            <a:ext cx="730377" cy="265815"/>
            <a:chOff x="4872396" y="2413195"/>
            <a:chExt cx="891900" cy="324600"/>
          </a:xfrm>
        </p:grpSpPr>
        <p:cxnSp>
          <p:nvCxnSpPr>
            <p:cNvPr id="952" name="Google Shape;952;p46"/>
            <p:cNvCxnSpPr/>
            <p:nvPr/>
          </p:nvCxnSpPr>
          <p:spPr>
            <a:xfrm flipH="1">
              <a:off x="5067696" y="2413195"/>
              <a:ext cx="305400" cy="324600"/>
            </a:xfrm>
            <a:prstGeom prst="straightConnector1">
              <a:avLst/>
            </a:prstGeom>
            <a:noFill/>
            <a:ln w="28575" cap="flat" cmpd="sng">
              <a:solidFill>
                <a:schemeClr val="dk2"/>
              </a:solidFill>
              <a:prstDash val="solid"/>
              <a:round/>
              <a:headEnd type="none" w="med" len="med"/>
              <a:tailEnd type="none" w="med" len="med"/>
            </a:ln>
          </p:spPr>
        </p:cxnSp>
        <p:cxnSp>
          <p:nvCxnSpPr>
            <p:cNvPr id="953" name="Google Shape;953;p46"/>
            <p:cNvCxnSpPr/>
            <p:nvPr/>
          </p:nvCxnSpPr>
          <p:spPr>
            <a:xfrm flipH="1">
              <a:off x="4872396" y="2413195"/>
              <a:ext cx="500700" cy="300300"/>
            </a:xfrm>
            <a:prstGeom prst="straightConnector1">
              <a:avLst/>
            </a:prstGeom>
            <a:noFill/>
            <a:ln w="28575" cap="flat" cmpd="sng">
              <a:solidFill>
                <a:schemeClr val="dk2"/>
              </a:solidFill>
              <a:prstDash val="solid"/>
              <a:round/>
              <a:headEnd type="none" w="med" len="med"/>
              <a:tailEnd type="none" w="med" len="med"/>
            </a:ln>
          </p:spPr>
        </p:cxnSp>
        <p:cxnSp>
          <p:nvCxnSpPr>
            <p:cNvPr id="954" name="Google Shape;954;p46"/>
            <p:cNvCxnSpPr/>
            <p:nvPr/>
          </p:nvCxnSpPr>
          <p:spPr>
            <a:xfrm>
              <a:off x="5373096" y="2413195"/>
              <a:ext cx="317700" cy="300300"/>
            </a:xfrm>
            <a:prstGeom prst="straightConnector1">
              <a:avLst/>
            </a:prstGeom>
            <a:noFill/>
            <a:ln w="28575" cap="flat" cmpd="sng">
              <a:solidFill>
                <a:schemeClr val="dk2"/>
              </a:solidFill>
              <a:prstDash val="solid"/>
              <a:round/>
              <a:headEnd type="none" w="med" len="med"/>
              <a:tailEnd type="none" w="med" len="med"/>
            </a:ln>
          </p:spPr>
        </p:cxnSp>
        <p:cxnSp>
          <p:nvCxnSpPr>
            <p:cNvPr id="955" name="Google Shape;955;p46"/>
            <p:cNvCxnSpPr/>
            <p:nvPr/>
          </p:nvCxnSpPr>
          <p:spPr>
            <a:xfrm>
              <a:off x="5373096" y="2413195"/>
              <a:ext cx="391200" cy="227100"/>
            </a:xfrm>
            <a:prstGeom prst="straightConnector1">
              <a:avLst/>
            </a:prstGeom>
            <a:noFill/>
            <a:ln w="28575" cap="flat" cmpd="sng">
              <a:solidFill>
                <a:schemeClr val="dk2"/>
              </a:solidFill>
              <a:prstDash val="solid"/>
              <a:round/>
              <a:headEnd type="none" w="med" len="med"/>
              <a:tailEnd type="none" w="med" len="med"/>
            </a:ln>
          </p:spPr>
        </p:cxnSp>
      </p:grpSp>
      <p:cxnSp>
        <p:nvCxnSpPr>
          <p:cNvPr id="956" name="Google Shape;956;p46"/>
          <p:cNvCxnSpPr/>
          <p:nvPr/>
        </p:nvCxnSpPr>
        <p:spPr>
          <a:xfrm>
            <a:off x="7814069" y="4787363"/>
            <a:ext cx="0" cy="165900"/>
          </a:xfrm>
          <a:prstGeom prst="straightConnector1">
            <a:avLst/>
          </a:prstGeom>
          <a:noFill/>
          <a:ln w="28575" cap="flat" cmpd="sng">
            <a:solidFill>
              <a:schemeClr val="dk2"/>
            </a:solidFill>
            <a:prstDash val="solid"/>
            <a:round/>
            <a:headEnd type="none" w="med" len="med"/>
            <a:tailEnd type="none" w="med" len="med"/>
          </a:ln>
        </p:spPr>
      </p:cxnSp>
      <p:sp>
        <p:nvSpPr>
          <p:cNvPr id="957" name="Google Shape;957;p46"/>
          <p:cNvSpPr txBox="1"/>
          <p:nvPr/>
        </p:nvSpPr>
        <p:spPr>
          <a:xfrm>
            <a:off x="7692276" y="4842461"/>
            <a:ext cx="4083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958" name="Google Shape;958;p46"/>
          <p:cNvSpPr txBox="1"/>
          <p:nvPr/>
        </p:nvSpPr>
        <p:spPr>
          <a:xfrm>
            <a:off x="228600" y="1295400"/>
            <a:ext cx="4739100" cy="3000000"/>
          </a:xfrm>
          <a:prstGeom prst="rect">
            <a:avLst/>
          </a:prstGeom>
          <a:noFill/>
          <a:ln>
            <a:noFill/>
          </a:ln>
        </p:spPr>
        <p:txBody>
          <a:bodyPr spcFirstLastPara="1" wrap="square" lIns="91425" tIns="91425" rIns="91425" bIns="91425" anchor="ctr" anchorCtr="0">
            <a:noAutofit/>
          </a:bodyPr>
          <a:lstStyle/>
          <a:p>
            <a:pPr marL="0" lvl="0" indent="0" algn="l" rtl="0">
              <a:spcBef>
                <a:spcPts val="600"/>
              </a:spcBef>
              <a:spcAft>
                <a:spcPts val="0"/>
              </a:spcAft>
              <a:buNone/>
            </a:pPr>
            <a:endParaRPr sz="1800">
              <a:solidFill>
                <a:schemeClr val="dk1"/>
              </a:solidFill>
              <a:latin typeface="Roboto"/>
              <a:ea typeface="Roboto"/>
              <a:cs typeface="Roboto"/>
              <a:sym typeface="Roboto"/>
            </a:endParaRPr>
          </a:p>
          <a:p>
            <a:pPr marL="0" lvl="0" indent="0" algn="l" rtl="0">
              <a:spcBef>
                <a:spcPts val="600"/>
              </a:spcBef>
              <a:spcAft>
                <a:spcPts val="0"/>
              </a:spcAft>
              <a:buNone/>
            </a:pPr>
            <a:endParaRPr sz="1800">
              <a:solidFill>
                <a:schemeClr val="dk1"/>
              </a:solidFill>
              <a:latin typeface="Roboto"/>
              <a:ea typeface="Roboto"/>
              <a:cs typeface="Roboto"/>
              <a:sym typeface="Roboto"/>
            </a:endParaRPr>
          </a:p>
          <a:p>
            <a:pPr marL="0" lvl="0" indent="0" algn="l" rtl="0">
              <a:spcBef>
                <a:spcPts val="600"/>
              </a:spcBef>
              <a:spcAft>
                <a:spcPts val="0"/>
              </a:spcAft>
              <a:buNone/>
            </a:pPr>
            <a:endParaRPr sz="1800">
              <a:solidFill>
                <a:schemeClr val="dk1"/>
              </a:solidFill>
              <a:latin typeface="Roboto"/>
              <a:ea typeface="Roboto"/>
              <a:cs typeface="Roboto"/>
              <a:sym typeface="Roboto"/>
            </a:endParaRPr>
          </a:p>
          <a:p>
            <a:pPr marL="0" lvl="0" indent="0" algn="l" rtl="0">
              <a:spcBef>
                <a:spcPts val="600"/>
              </a:spcBef>
              <a:spcAft>
                <a:spcPts val="0"/>
              </a:spcAft>
              <a:buNone/>
            </a:pPr>
            <a:r>
              <a:rPr lang="en" sz="1800">
                <a:solidFill>
                  <a:schemeClr val="dk1"/>
                </a:solidFill>
                <a:latin typeface="Roboto"/>
                <a:ea typeface="Roboto"/>
                <a:cs typeface="Roboto"/>
                <a:sym typeface="Roboto"/>
              </a:rPr>
              <a:t>Runtimes independent of number of keys!</a:t>
            </a:r>
            <a:endParaRPr sz="1800">
              <a:solidFill>
                <a:schemeClr val="dk1"/>
              </a:solidFill>
              <a:latin typeface="Roboto"/>
              <a:ea typeface="Roboto"/>
              <a:cs typeface="Roboto"/>
              <a:sym typeface="Roboto"/>
            </a:endParaRPr>
          </a:p>
          <a:p>
            <a:pPr marL="0" lvl="0" indent="0" algn="l" rtl="0">
              <a:spcBef>
                <a:spcPts val="600"/>
              </a:spcBef>
              <a:spcAft>
                <a:spcPts val="0"/>
              </a:spcAft>
              <a:buNone/>
            </a:pPr>
            <a:endParaRPr sz="1800">
              <a:solidFill>
                <a:schemeClr val="dk1"/>
              </a:solidFill>
              <a:latin typeface="Roboto"/>
              <a:ea typeface="Roboto"/>
              <a:cs typeface="Roboto"/>
              <a:sym typeface="Roboto"/>
            </a:endParaRPr>
          </a:p>
          <a:p>
            <a:pPr marL="0" lvl="0" indent="0" algn="l" rtl="0">
              <a:spcBef>
                <a:spcPts val="600"/>
              </a:spcBef>
              <a:spcAft>
                <a:spcPts val="0"/>
              </a:spcAft>
              <a:buNone/>
            </a:pPr>
            <a:r>
              <a:rPr lang="en" sz="1800">
                <a:solidFill>
                  <a:schemeClr val="dk1"/>
                </a:solidFill>
                <a:latin typeface="Roboto"/>
                <a:ea typeface="Roboto"/>
                <a:cs typeface="Roboto"/>
                <a:sym typeface="Roboto"/>
              </a:rPr>
              <a:t>Or in terms of L, the length of the key:</a:t>
            </a:r>
            <a:endParaRPr sz="1800">
              <a:solidFill>
                <a:schemeClr val="dk1"/>
              </a:solidFill>
              <a:latin typeface="Roboto"/>
              <a:ea typeface="Roboto"/>
              <a:cs typeface="Roboto"/>
              <a:sym typeface="Roboto"/>
            </a:endParaRPr>
          </a:p>
          <a:p>
            <a:pPr marL="457200" lvl="0" indent="-342900" algn="l" rtl="0">
              <a:spcBef>
                <a:spcPts val="600"/>
              </a:spcBef>
              <a:spcAft>
                <a:spcPts val="0"/>
              </a:spcAft>
              <a:buClr>
                <a:schemeClr val="dk1"/>
              </a:buClr>
              <a:buSzPts val="1800"/>
              <a:buFont typeface="Roboto"/>
              <a:buChar char="●"/>
            </a:pPr>
            <a:r>
              <a:rPr lang="en" sz="1800">
                <a:solidFill>
                  <a:schemeClr val="dk1"/>
                </a:solidFill>
                <a:latin typeface="Roboto"/>
                <a:ea typeface="Roboto"/>
                <a:cs typeface="Roboto"/>
                <a:sym typeface="Roboto"/>
              </a:rPr>
              <a:t>Add: Θ(L)</a:t>
            </a:r>
            <a:endParaRPr sz="1800">
              <a:solidFill>
                <a:schemeClr val="dk1"/>
              </a:solidFill>
              <a:latin typeface="Roboto"/>
              <a:ea typeface="Roboto"/>
              <a:cs typeface="Roboto"/>
              <a:sym typeface="Roboto"/>
            </a:endParaRPr>
          </a:p>
          <a:p>
            <a:pPr marL="457200" lvl="0" indent="-342900" algn="l" rtl="0">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Contains: O(L)</a:t>
            </a:r>
            <a:endParaRPr sz="1800">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58">
                                            <p:txEl>
                                              <p:pRg st="0" end="0"/>
                                            </p:txEl>
                                          </p:spTgt>
                                        </p:tgtEl>
                                        <p:attrNameLst>
                                          <p:attrName>style.visibility</p:attrName>
                                        </p:attrNameLst>
                                      </p:cBhvr>
                                      <p:to>
                                        <p:strVal val="visible"/>
                                      </p:to>
                                    </p:set>
                                    <p:animEffect transition="in" filter="fade">
                                      <p:cBhvr>
                                        <p:cTn id="7" dur="1"/>
                                        <p:tgtEl>
                                          <p:spTgt spid="9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58">
                                            <p:txEl>
                                              <p:pRg st="1" end="1"/>
                                            </p:txEl>
                                          </p:spTgt>
                                        </p:tgtEl>
                                        <p:attrNameLst>
                                          <p:attrName>style.visibility</p:attrName>
                                        </p:attrNameLst>
                                      </p:cBhvr>
                                      <p:to>
                                        <p:strVal val="visible"/>
                                      </p:to>
                                    </p:set>
                                    <p:animEffect transition="in" filter="fade">
                                      <p:cBhvr>
                                        <p:cTn id="12" dur="1"/>
                                        <p:tgtEl>
                                          <p:spTgt spid="95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58">
                                            <p:txEl>
                                              <p:pRg st="2" end="2"/>
                                            </p:txEl>
                                          </p:spTgt>
                                        </p:tgtEl>
                                        <p:attrNameLst>
                                          <p:attrName>style.visibility</p:attrName>
                                        </p:attrNameLst>
                                      </p:cBhvr>
                                      <p:to>
                                        <p:strVal val="visible"/>
                                      </p:to>
                                    </p:set>
                                    <p:animEffect transition="in" filter="fade">
                                      <p:cBhvr>
                                        <p:cTn id="17" dur="1"/>
                                        <p:tgtEl>
                                          <p:spTgt spid="95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58">
                                            <p:txEl>
                                              <p:pRg st="3" end="3"/>
                                            </p:txEl>
                                          </p:spTgt>
                                        </p:tgtEl>
                                        <p:attrNameLst>
                                          <p:attrName>style.visibility</p:attrName>
                                        </p:attrNameLst>
                                      </p:cBhvr>
                                      <p:to>
                                        <p:strVal val="visible"/>
                                      </p:to>
                                    </p:set>
                                    <p:animEffect transition="in" filter="fade">
                                      <p:cBhvr>
                                        <p:cTn id="22" dur="1"/>
                                        <p:tgtEl>
                                          <p:spTgt spid="95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58">
                                            <p:txEl>
                                              <p:pRg st="4" end="4"/>
                                            </p:txEl>
                                          </p:spTgt>
                                        </p:tgtEl>
                                        <p:attrNameLst>
                                          <p:attrName>style.visibility</p:attrName>
                                        </p:attrNameLst>
                                      </p:cBhvr>
                                      <p:to>
                                        <p:strVal val="visible"/>
                                      </p:to>
                                    </p:set>
                                    <p:animEffect transition="in" filter="fade">
                                      <p:cBhvr>
                                        <p:cTn id="27" dur="1"/>
                                        <p:tgtEl>
                                          <p:spTgt spid="95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58">
                                            <p:txEl>
                                              <p:pRg st="5" end="5"/>
                                            </p:txEl>
                                          </p:spTgt>
                                        </p:tgtEl>
                                        <p:attrNameLst>
                                          <p:attrName>style.visibility</p:attrName>
                                        </p:attrNameLst>
                                      </p:cBhvr>
                                      <p:to>
                                        <p:strVal val="visible"/>
                                      </p:to>
                                    </p:set>
                                    <p:animEffect transition="in" filter="fade">
                                      <p:cBhvr>
                                        <p:cTn id="32" dur="1"/>
                                        <p:tgtEl>
                                          <p:spTgt spid="95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58">
                                            <p:txEl>
                                              <p:pRg st="6" end="6"/>
                                            </p:txEl>
                                          </p:spTgt>
                                        </p:tgtEl>
                                        <p:attrNameLst>
                                          <p:attrName>style.visibility</p:attrName>
                                        </p:attrNameLst>
                                      </p:cBhvr>
                                      <p:to>
                                        <p:strVal val="visible"/>
                                      </p:to>
                                    </p:set>
                                    <p:animEffect transition="in" filter="fade">
                                      <p:cBhvr>
                                        <p:cTn id="37" dur="1"/>
                                        <p:tgtEl>
                                          <p:spTgt spid="95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958">
                                            <p:txEl>
                                              <p:pRg st="7" end="7"/>
                                            </p:txEl>
                                          </p:spTgt>
                                        </p:tgtEl>
                                        <p:attrNameLst>
                                          <p:attrName>style.visibility</p:attrName>
                                        </p:attrNameLst>
                                      </p:cBhvr>
                                      <p:to>
                                        <p:strVal val="visible"/>
                                      </p:to>
                                    </p:set>
                                    <p:animEffect transition="in" filter="fade">
                                      <p:cBhvr>
                                        <p:cTn id="42" dur="1"/>
                                        <p:tgtEl>
                                          <p:spTgt spid="95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p4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Trie Performance in Terms of N</a:t>
            </a:r>
            <a:endParaRPr/>
          </a:p>
        </p:txBody>
      </p:sp>
      <p:sp>
        <p:nvSpPr>
          <p:cNvPr id="964" name="Google Shape;964;p47"/>
          <p:cNvSpPr txBox="1">
            <a:spLocks noGrp="1"/>
          </p:cNvSpPr>
          <p:nvPr>
            <p:ph type="body" idx="1"/>
          </p:nvPr>
        </p:nvSpPr>
        <p:spPr>
          <a:xfrm>
            <a:off x="90600" y="404100"/>
            <a:ext cx="41736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When our keys are strings, Tries give us slightly better performance on contains and add.</a:t>
            </a:r>
            <a:endParaRPr/>
          </a:p>
        </p:txBody>
      </p:sp>
      <p:sp>
        <p:nvSpPr>
          <p:cNvPr id="965" name="Google Shape;965;p47"/>
          <p:cNvSpPr txBox="1"/>
          <p:nvPr/>
        </p:nvSpPr>
        <p:spPr>
          <a:xfrm>
            <a:off x="90600" y="3761325"/>
            <a:ext cx="8311500" cy="568500"/>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None/>
            </a:pPr>
            <a:r>
              <a:rPr lang="en" sz="1800">
                <a:solidFill>
                  <a:schemeClr val="dk1"/>
                </a:solidFill>
                <a:latin typeface="Roboto"/>
                <a:ea typeface="Roboto"/>
                <a:cs typeface="Roboto"/>
                <a:sym typeface="Roboto"/>
              </a:rPr>
              <a:t>One downside of the DataIndexedCharMap-based Trie is the huge memory cost of storing R links per node.</a:t>
            </a:r>
            <a:endParaRPr sz="1800">
              <a:solidFill>
                <a:schemeClr val="dk1"/>
              </a:solidFill>
              <a:latin typeface="Roboto"/>
              <a:ea typeface="Roboto"/>
              <a:cs typeface="Roboto"/>
              <a:sym typeface="Roboto"/>
            </a:endParaRPr>
          </a:p>
          <a:p>
            <a:pPr marL="457200" lvl="0" indent="-342900" algn="l" rtl="0">
              <a:spcBef>
                <a:spcPts val="600"/>
              </a:spcBef>
              <a:spcAft>
                <a:spcPts val="0"/>
              </a:spcAft>
              <a:buClr>
                <a:schemeClr val="dk1"/>
              </a:buClr>
              <a:buSzPts val="1800"/>
              <a:buFont typeface="Roboto"/>
              <a:buChar char="●"/>
            </a:pPr>
            <a:r>
              <a:rPr lang="en" sz="1800">
                <a:solidFill>
                  <a:schemeClr val="dk1"/>
                </a:solidFill>
                <a:latin typeface="Roboto"/>
                <a:ea typeface="Roboto"/>
                <a:cs typeface="Roboto"/>
                <a:sym typeface="Roboto"/>
              </a:rPr>
              <a:t>Wasteful because most links are unused in real world usage.</a:t>
            </a:r>
            <a:endParaRPr sz="1800">
              <a:solidFill>
                <a:schemeClr val="dk1"/>
              </a:solidFill>
              <a:latin typeface="Roboto"/>
              <a:ea typeface="Roboto"/>
              <a:cs typeface="Roboto"/>
              <a:sym typeface="Roboto"/>
            </a:endParaRPr>
          </a:p>
        </p:txBody>
      </p:sp>
      <p:sp>
        <p:nvSpPr>
          <p:cNvPr id="966" name="Google Shape;966;p47"/>
          <p:cNvSpPr txBox="1"/>
          <p:nvPr/>
        </p:nvSpPr>
        <p:spPr>
          <a:xfrm>
            <a:off x="4406525" y="496925"/>
            <a:ext cx="4351800" cy="43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Runtimes treating length of keys as a constant</a:t>
            </a:r>
            <a:endParaRPr>
              <a:latin typeface="Roboto"/>
              <a:ea typeface="Roboto"/>
              <a:cs typeface="Roboto"/>
              <a:sym typeface="Roboto"/>
            </a:endParaRPr>
          </a:p>
        </p:txBody>
      </p:sp>
      <p:graphicFrame>
        <p:nvGraphicFramePr>
          <p:cNvPr id="967" name="Google Shape;967;p47"/>
          <p:cNvGraphicFramePr/>
          <p:nvPr/>
        </p:nvGraphicFramePr>
        <p:xfrm>
          <a:off x="4406525" y="917150"/>
          <a:ext cx="3000000" cy="3000000"/>
        </p:xfrm>
        <a:graphic>
          <a:graphicData uri="http://schemas.openxmlformats.org/drawingml/2006/table">
            <a:tbl>
              <a:tblPr>
                <a:noFill/>
                <a:tableStyleId>{BC467F25-A352-40E9-8C40-E7B4C2D9D289}</a:tableStyleId>
              </a:tblPr>
              <a:tblGrid>
                <a:gridCol w="1598500">
                  <a:extLst>
                    <a:ext uri="{9D8B030D-6E8A-4147-A177-3AD203B41FA5}">
                      <a16:colId xmlns:a16="http://schemas.microsoft.com/office/drawing/2014/main" val="20000"/>
                    </a:ext>
                  </a:extLst>
                </a:gridCol>
                <a:gridCol w="1017950">
                  <a:extLst>
                    <a:ext uri="{9D8B030D-6E8A-4147-A177-3AD203B41FA5}">
                      <a16:colId xmlns:a16="http://schemas.microsoft.com/office/drawing/2014/main" val="20001"/>
                    </a:ext>
                  </a:extLst>
                </a:gridCol>
                <a:gridCol w="1075525">
                  <a:extLst>
                    <a:ext uri="{9D8B030D-6E8A-4147-A177-3AD203B41FA5}">
                      <a16:colId xmlns:a16="http://schemas.microsoft.com/office/drawing/2014/main" val="20002"/>
                    </a:ext>
                  </a:extLst>
                </a:gridCol>
                <a:gridCol w="971775">
                  <a:extLst>
                    <a:ext uri="{9D8B030D-6E8A-4147-A177-3AD203B41FA5}">
                      <a16:colId xmlns:a16="http://schemas.microsoft.com/office/drawing/2014/main" val="20003"/>
                    </a:ext>
                  </a:extLst>
                </a:gridCol>
              </a:tblGrid>
              <a:tr h="396200">
                <a:tc>
                  <a:txBody>
                    <a:bodyPr/>
                    <a:lstStyle/>
                    <a:p>
                      <a:pPr marL="0" lvl="0" indent="0" algn="l" rtl="0">
                        <a:spcBef>
                          <a:spcPts val="0"/>
                        </a:spcBef>
                        <a:spcAft>
                          <a:spcPts val="0"/>
                        </a:spcAft>
                        <a:buNone/>
                      </a:pPr>
                      <a:endParaRPr sz="1200">
                        <a:latin typeface="Roboto"/>
                        <a:ea typeface="Roboto"/>
                        <a:cs typeface="Roboto"/>
                        <a:sym typeface="Roboto"/>
                      </a:endParaRPr>
                    </a:p>
                  </a:txBody>
                  <a:tcPr marL="91425" marR="91425" marT="91425" marB="91425">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latin typeface="Roboto"/>
                          <a:ea typeface="Roboto"/>
                          <a:cs typeface="Roboto"/>
                          <a:sym typeface="Roboto"/>
                        </a:rPr>
                        <a:t>key type</a:t>
                      </a:r>
                      <a:endParaRPr sz="1200">
                        <a:latin typeface="Roboto"/>
                        <a:ea typeface="Roboto"/>
                        <a:cs typeface="Roboto"/>
                        <a:sym typeface="Roboto"/>
                      </a:endParaRPr>
                    </a:p>
                  </a:txBody>
                  <a:tcPr marL="91425" marR="91425" marT="91425" marB="91425">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latin typeface="Roboto"/>
                          <a:ea typeface="Roboto"/>
                          <a:cs typeface="Roboto"/>
                          <a:sym typeface="Roboto"/>
                        </a:rPr>
                        <a:t>get(x)</a:t>
                      </a:r>
                      <a:endParaRPr sz="1200">
                        <a:latin typeface="Roboto"/>
                        <a:ea typeface="Roboto"/>
                        <a:cs typeface="Roboto"/>
                        <a:sym typeface="Roboto"/>
                      </a:endParaRPr>
                    </a:p>
                  </a:txBody>
                  <a:tcPr marL="91425" marR="91425" marT="91425" marB="91425">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latin typeface="Roboto"/>
                          <a:ea typeface="Roboto"/>
                          <a:cs typeface="Roboto"/>
                          <a:sym typeface="Roboto"/>
                        </a:rPr>
                        <a:t>add(x)</a:t>
                      </a:r>
                      <a:endParaRPr sz="1200">
                        <a:latin typeface="Roboto"/>
                        <a:ea typeface="Roboto"/>
                        <a:cs typeface="Roboto"/>
                        <a:sym typeface="Roboto"/>
                      </a:endParaRPr>
                    </a:p>
                  </a:txBody>
                  <a:tcPr marL="91425" marR="91425" marT="91425" marB="91425">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1200">
                          <a:latin typeface="Roboto"/>
                          <a:ea typeface="Roboto"/>
                          <a:cs typeface="Roboto"/>
                          <a:sym typeface="Roboto"/>
                        </a:rPr>
                        <a:t>Balanced BST</a:t>
                      </a:r>
                      <a:endParaRPr sz="1200">
                        <a:latin typeface="Roboto"/>
                        <a:ea typeface="Roboto"/>
                        <a:cs typeface="Roboto"/>
                        <a:sym typeface="Roboto"/>
                      </a:endParaRPr>
                    </a:p>
                  </a:txBody>
                  <a:tcPr marL="91425" marR="91425" marT="91425" marB="91425">
                    <a:lnT w="9525" cap="flat" cmpd="sng">
                      <a:solidFill>
                        <a:srgbClr val="000000"/>
                      </a:solidFill>
                      <a:prstDash val="solid"/>
                      <a:round/>
                      <a:headEnd type="none" w="sm" len="sm"/>
                      <a:tailEnd type="none" w="sm" len="sm"/>
                    </a:lnT>
                    <a:solidFill>
                      <a:srgbClr val="FFFFFF"/>
                    </a:solidFill>
                  </a:tcPr>
                </a:tc>
                <a:tc>
                  <a:txBody>
                    <a:bodyPr/>
                    <a:lstStyle/>
                    <a:p>
                      <a:pPr marL="0" lvl="0" indent="0" algn="ctr" rtl="0">
                        <a:spcBef>
                          <a:spcPts val="0"/>
                        </a:spcBef>
                        <a:spcAft>
                          <a:spcPts val="0"/>
                        </a:spcAft>
                        <a:buNone/>
                      </a:pPr>
                      <a:r>
                        <a:rPr lang="en" sz="1200">
                          <a:latin typeface="Roboto"/>
                          <a:ea typeface="Roboto"/>
                          <a:cs typeface="Roboto"/>
                          <a:sym typeface="Roboto"/>
                        </a:rPr>
                        <a:t>comparable</a:t>
                      </a:r>
                      <a:endParaRPr sz="1200">
                        <a:solidFill>
                          <a:srgbClr val="000000"/>
                        </a:solidFill>
                        <a:latin typeface="Roboto"/>
                        <a:ea typeface="Roboto"/>
                        <a:cs typeface="Roboto"/>
                        <a:sym typeface="Roboto"/>
                      </a:endParaRPr>
                    </a:p>
                  </a:txBody>
                  <a:tcPr marL="91425" marR="91425" marT="91425" marB="91425">
                    <a:lnT w="9525" cap="flat" cmpd="sng">
                      <a:solidFill>
                        <a:srgbClr val="000000"/>
                      </a:solidFill>
                      <a:prstDash val="solid"/>
                      <a:round/>
                      <a:headEnd type="none" w="sm" len="sm"/>
                      <a:tailEnd type="none" w="sm" len="sm"/>
                    </a:lnT>
                    <a:solidFill>
                      <a:srgbClr val="FFFFFF"/>
                    </a:solidFill>
                  </a:tcPr>
                </a:tc>
                <a:tc>
                  <a:txBody>
                    <a:bodyPr/>
                    <a:lstStyle/>
                    <a:p>
                      <a:pPr marL="0" lvl="0" indent="0" algn="ctr" rtl="0">
                        <a:spcBef>
                          <a:spcPts val="0"/>
                        </a:spcBef>
                        <a:spcAft>
                          <a:spcPts val="0"/>
                        </a:spcAft>
                        <a:buNone/>
                      </a:pPr>
                      <a:r>
                        <a:rPr lang="en" sz="1200">
                          <a:solidFill>
                            <a:srgbClr val="000000"/>
                          </a:solidFill>
                          <a:latin typeface="Roboto"/>
                          <a:ea typeface="Roboto"/>
                          <a:cs typeface="Roboto"/>
                          <a:sym typeface="Roboto"/>
                        </a:rPr>
                        <a:t>Θ(log N)</a:t>
                      </a:r>
                      <a:endParaRPr sz="1200">
                        <a:latin typeface="Roboto"/>
                        <a:ea typeface="Roboto"/>
                        <a:cs typeface="Roboto"/>
                        <a:sym typeface="Roboto"/>
                      </a:endParaRPr>
                    </a:p>
                  </a:txBody>
                  <a:tcPr marL="91425" marR="91425" marT="91425" marB="91425">
                    <a:lnT w="9525" cap="flat" cmpd="sng">
                      <a:solidFill>
                        <a:srgbClr val="000000"/>
                      </a:solidFill>
                      <a:prstDash val="solid"/>
                      <a:round/>
                      <a:headEnd type="none" w="sm" len="sm"/>
                      <a:tailEnd type="none" w="sm" len="sm"/>
                    </a:lnT>
                    <a:solidFill>
                      <a:srgbClr val="FFFFFF"/>
                    </a:solidFill>
                  </a:tcPr>
                </a:tc>
                <a:tc>
                  <a:txBody>
                    <a:bodyPr/>
                    <a:lstStyle/>
                    <a:p>
                      <a:pPr marL="0" lvl="0" indent="0" algn="ctr" rtl="0">
                        <a:spcBef>
                          <a:spcPts val="0"/>
                        </a:spcBef>
                        <a:spcAft>
                          <a:spcPts val="0"/>
                        </a:spcAft>
                        <a:buNone/>
                      </a:pPr>
                      <a:r>
                        <a:rPr lang="en" sz="1200">
                          <a:solidFill>
                            <a:srgbClr val="000000"/>
                          </a:solidFill>
                          <a:latin typeface="Roboto"/>
                          <a:ea typeface="Roboto"/>
                          <a:cs typeface="Roboto"/>
                          <a:sym typeface="Roboto"/>
                        </a:rPr>
                        <a:t>Θ(log N)</a:t>
                      </a:r>
                      <a:endParaRPr sz="1200">
                        <a:latin typeface="Roboto"/>
                        <a:ea typeface="Roboto"/>
                        <a:cs typeface="Roboto"/>
                        <a:sym typeface="Roboto"/>
                      </a:endParaRPr>
                    </a:p>
                  </a:txBody>
                  <a:tcPr marL="91425" marR="91425" marT="91425" marB="91425">
                    <a:lnT w="9525" cap="flat" cmpd="sng">
                      <a:solidFill>
                        <a:srgbClr val="000000"/>
                      </a:solidFill>
                      <a:prstDash val="solid"/>
                      <a:round/>
                      <a:headEnd type="none" w="sm" len="sm"/>
                      <a:tailEnd type="none" w="sm" len="sm"/>
                    </a:lnT>
                    <a:solidFill>
                      <a:srgbClr val="FFFFFF"/>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sz="1200">
                          <a:latin typeface="Roboto"/>
                          <a:ea typeface="Roboto"/>
                          <a:cs typeface="Roboto"/>
                          <a:sym typeface="Roboto"/>
                        </a:rPr>
                        <a:t>Resizing Separate Chaining Hash Table</a:t>
                      </a:r>
                      <a:endParaRPr sz="1200">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None/>
                      </a:pPr>
                      <a:r>
                        <a:rPr lang="en" sz="1200">
                          <a:latin typeface="Roboto"/>
                          <a:ea typeface="Roboto"/>
                          <a:cs typeface="Roboto"/>
                          <a:sym typeface="Roboto"/>
                        </a:rPr>
                        <a:t>hashable</a:t>
                      </a:r>
                      <a:endParaRPr sz="1200">
                        <a:solidFill>
                          <a:srgbClr val="000000"/>
                        </a:solidFill>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None/>
                      </a:pPr>
                      <a:r>
                        <a:rPr lang="en" sz="1200">
                          <a:solidFill>
                            <a:schemeClr val="dk1"/>
                          </a:solidFill>
                          <a:latin typeface="Roboto"/>
                          <a:ea typeface="Roboto"/>
                          <a:cs typeface="Roboto"/>
                          <a:sym typeface="Roboto"/>
                        </a:rPr>
                        <a:t>Θ(1)</a:t>
                      </a:r>
                      <a:endParaRPr sz="1200">
                        <a:solidFill>
                          <a:schemeClr val="dk1"/>
                        </a:solidFill>
                        <a:latin typeface="Roboto"/>
                        <a:ea typeface="Roboto"/>
                        <a:cs typeface="Roboto"/>
                        <a:sym typeface="Roboto"/>
                      </a:endParaRPr>
                    </a:p>
                    <a:p>
                      <a:pPr marL="0" lvl="0" indent="0" algn="ctr" rtl="0">
                        <a:spcBef>
                          <a:spcPts val="0"/>
                        </a:spcBef>
                        <a:spcAft>
                          <a:spcPts val="0"/>
                        </a:spcAft>
                        <a:buNone/>
                      </a:pPr>
                      <a:r>
                        <a:rPr lang="en" sz="600">
                          <a:solidFill>
                            <a:schemeClr val="dk1"/>
                          </a:solidFill>
                          <a:latin typeface="Roboto"/>
                          <a:ea typeface="Roboto"/>
                          <a:cs typeface="Roboto"/>
                          <a:sym typeface="Roboto"/>
                        </a:rPr>
                        <a:t>assuming even spread</a:t>
                      </a:r>
                      <a:endParaRPr sz="1000">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None/>
                      </a:pPr>
                      <a:r>
                        <a:rPr lang="en" sz="1200">
                          <a:solidFill>
                            <a:schemeClr val="dk1"/>
                          </a:solidFill>
                          <a:latin typeface="Roboto"/>
                          <a:ea typeface="Roboto"/>
                          <a:cs typeface="Roboto"/>
                          <a:sym typeface="Roboto"/>
                        </a:rPr>
                        <a:t>Θ(1)</a:t>
                      </a:r>
                      <a:endParaRPr sz="1200">
                        <a:solidFill>
                          <a:schemeClr val="dk1"/>
                        </a:solidFill>
                        <a:latin typeface="Roboto"/>
                        <a:ea typeface="Roboto"/>
                        <a:cs typeface="Roboto"/>
                        <a:sym typeface="Roboto"/>
                      </a:endParaRPr>
                    </a:p>
                    <a:p>
                      <a:pPr marL="0" lvl="0" indent="0" algn="ctr" rtl="0">
                        <a:spcBef>
                          <a:spcPts val="0"/>
                        </a:spcBef>
                        <a:spcAft>
                          <a:spcPts val="0"/>
                        </a:spcAft>
                        <a:buNone/>
                      </a:pPr>
                      <a:r>
                        <a:rPr lang="en" sz="600">
                          <a:solidFill>
                            <a:schemeClr val="dk1"/>
                          </a:solidFill>
                          <a:latin typeface="Roboto"/>
                          <a:ea typeface="Roboto"/>
                          <a:cs typeface="Roboto"/>
                          <a:sym typeface="Roboto"/>
                        </a:rPr>
                        <a:t>on average,</a:t>
                      </a:r>
                      <a:endParaRPr sz="600">
                        <a:solidFill>
                          <a:schemeClr val="dk1"/>
                        </a:solidFill>
                        <a:latin typeface="Roboto"/>
                        <a:ea typeface="Roboto"/>
                        <a:cs typeface="Roboto"/>
                        <a:sym typeface="Roboto"/>
                      </a:endParaRPr>
                    </a:p>
                    <a:p>
                      <a:pPr marL="0" lvl="0" indent="0" algn="ctr" rtl="0">
                        <a:spcBef>
                          <a:spcPts val="0"/>
                        </a:spcBef>
                        <a:spcAft>
                          <a:spcPts val="0"/>
                        </a:spcAft>
                        <a:buNone/>
                      </a:pPr>
                      <a:r>
                        <a:rPr lang="en" sz="600">
                          <a:solidFill>
                            <a:schemeClr val="dk1"/>
                          </a:solidFill>
                          <a:latin typeface="Roboto"/>
                          <a:ea typeface="Roboto"/>
                          <a:cs typeface="Roboto"/>
                          <a:sym typeface="Roboto"/>
                        </a:rPr>
                        <a:t>assuming even spread</a:t>
                      </a:r>
                      <a:endParaRPr sz="600">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1200">
                          <a:latin typeface="Roboto"/>
                          <a:ea typeface="Roboto"/>
                          <a:cs typeface="Roboto"/>
                          <a:sym typeface="Roboto"/>
                        </a:rPr>
                        <a:t>data indexed array</a:t>
                      </a:r>
                      <a:endParaRPr sz="1200">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None/>
                      </a:pPr>
                      <a:r>
                        <a:rPr lang="en" sz="1200">
                          <a:latin typeface="Roboto"/>
                          <a:ea typeface="Roboto"/>
                          <a:cs typeface="Roboto"/>
                          <a:sym typeface="Roboto"/>
                        </a:rPr>
                        <a:t>chars</a:t>
                      </a:r>
                      <a:endParaRPr sz="1200">
                        <a:solidFill>
                          <a:srgbClr val="000000"/>
                        </a:solidFill>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None/>
                      </a:pPr>
                      <a:r>
                        <a:rPr lang="en" sz="1200">
                          <a:solidFill>
                            <a:schemeClr val="dk1"/>
                          </a:solidFill>
                          <a:latin typeface="Roboto"/>
                          <a:ea typeface="Roboto"/>
                          <a:cs typeface="Roboto"/>
                          <a:sym typeface="Roboto"/>
                        </a:rPr>
                        <a:t>Θ(1)</a:t>
                      </a:r>
                      <a:endParaRPr sz="1200">
                        <a:solidFill>
                          <a:schemeClr val="dk1"/>
                        </a:solidFill>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None/>
                      </a:pPr>
                      <a:r>
                        <a:rPr lang="en" sz="1200">
                          <a:solidFill>
                            <a:schemeClr val="dk1"/>
                          </a:solidFill>
                          <a:latin typeface="Roboto"/>
                          <a:ea typeface="Roboto"/>
                          <a:cs typeface="Roboto"/>
                          <a:sym typeface="Roboto"/>
                        </a:rPr>
                        <a:t>Θ(1)</a:t>
                      </a:r>
                      <a:endParaRPr sz="1200">
                        <a:solidFill>
                          <a:schemeClr val="dk1"/>
                        </a:solidFill>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sz="1200">
                          <a:latin typeface="Roboto"/>
                          <a:ea typeface="Roboto"/>
                          <a:cs typeface="Roboto"/>
                          <a:sym typeface="Roboto"/>
                        </a:rPr>
                        <a:t>Tries</a:t>
                      </a:r>
                      <a:endParaRPr sz="1200">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None/>
                      </a:pPr>
                      <a:r>
                        <a:rPr lang="en" sz="1200">
                          <a:latin typeface="Roboto"/>
                          <a:ea typeface="Roboto"/>
                          <a:cs typeface="Roboto"/>
                          <a:sym typeface="Roboto"/>
                        </a:rPr>
                        <a:t>Strings</a:t>
                      </a:r>
                      <a:endParaRPr sz="1200">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Θ(1)</a:t>
                      </a:r>
                      <a:endParaRPr sz="1200">
                        <a:solidFill>
                          <a:schemeClr val="dk1"/>
                        </a:solidFill>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Θ(1)</a:t>
                      </a:r>
                      <a:endParaRPr sz="1200">
                        <a:solidFill>
                          <a:schemeClr val="dk1"/>
                        </a:solidFill>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71"/>
        <p:cNvGrpSpPr/>
        <p:nvPr/>
      </p:nvGrpSpPr>
      <p:grpSpPr>
        <a:xfrm>
          <a:off x="0" y="0"/>
          <a:ext cx="0" cy="0"/>
          <a:chOff x="0" y="0"/>
          <a:chExt cx="0" cy="0"/>
        </a:xfrm>
      </p:grpSpPr>
      <p:sp>
        <p:nvSpPr>
          <p:cNvPr id="972" name="Google Shape;972;p48"/>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Lecture 26, CS61B, Fall 2023</a:t>
            </a:r>
            <a:endParaRPr/>
          </a:p>
        </p:txBody>
      </p:sp>
      <p:sp>
        <p:nvSpPr>
          <p:cNvPr id="973" name="Google Shape;973;p48"/>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Tries (Conceptual)</a:t>
            </a:r>
            <a:endParaRPr/>
          </a:p>
          <a:p>
            <a:pPr marL="0" lvl="0" indent="0" algn="l" rtl="0">
              <a:spcBef>
                <a:spcPts val="600"/>
              </a:spcBef>
              <a:spcAft>
                <a:spcPts val="0"/>
              </a:spcAft>
              <a:buNone/>
            </a:pPr>
            <a:r>
              <a:rPr lang="en"/>
              <a:t>Trie Implementation and</a:t>
            </a:r>
            <a:br>
              <a:rPr lang="en"/>
            </a:br>
            <a:r>
              <a:rPr lang="en"/>
              <a:t>Performance</a:t>
            </a:r>
            <a:endParaRPr/>
          </a:p>
          <a:p>
            <a:pPr marL="0" lvl="0" indent="0" algn="l" rtl="0">
              <a:spcBef>
                <a:spcPts val="600"/>
              </a:spcBef>
              <a:spcAft>
                <a:spcPts val="0"/>
              </a:spcAft>
              <a:buNone/>
            </a:pPr>
            <a:r>
              <a:rPr lang="en" b="1">
                <a:solidFill>
                  <a:schemeClr val="accent3"/>
                </a:solidFill>
                <a:latin typeface="Roboto"/>
                <a:ea typeface="Roboto"/>
                <a:cs typeface="Roboto"/>
                <a:sym typeface="Roboto"/>
              </a:rPr>
              <a:t>Alternate Child Tracking Strategies</a:t>
            </a:r>
            <a:endParaRPr/>
          </a:p>
          <a:p>
            <a:pPr marL="0" lvl="0" indent="0" algn="l" rtl="0">
              <a:spcBef>
                <a:spcPts val="600"/>
              </a:spcBef>
              <a:spcAft>
                <a:spcPts val="0"/>
              </a:spcAft>
              <a:buNone/>
            </a:pPr>
            <a:r>
              <a:rPr lang="en"/>
              <a:t>Trie String Operations</a:t>
            </a:r>
            <a:endParaRPr/>
          </a:p>
          <a:p>
            <a:pPr marL="0" lvl="0" indent="0" algn="l" rtl="0">
              <a:spcBef>
                <a:spcPts val="600"/>
              </a:spcBef>
              <a:spcAft>
                <a:spcPts val="0"/>
              </a:spcAft>
              <a:buNone/>
            </a:pPr>
            <a:r>
              <a:rPr lang="en"/>
              <a:t>Autocomplete</a:t>
            </a:r>
            <a:endParaRPr/>
          </a:p>
          <a:p>
            <a:pPr marL="0" lvl="0" indent="0" algn="l" rtl="0">
              <a:spcBef>
                <a:spcPts val="600"/>
              </a:spcBef>
              <a:spcAft>
                <a:spcPts val="0"/>
              </a:spcAft>
              <a:buNone/>
            </a:pPr>
            <a:r>
              <a:rPr lang="en"/>
              <a:t>Trie Summary</a:t>
            </a:r>
            <a:endParaRPr/>
          </a:p>
        </p:txBody>
      </p:sp>
      <p:sp>
        <p:nvSpPr>
          <p:cNvPr id="974" name="Google Shape;974;p48"/>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Alternate Child Tracking Strategies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sp>
        <p:nvSpPr>
          <p:cNvPr id="979" name="Google Shape;979;p4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Trie Performance in Terms of N</a:t>
            </a:r>
            <a:endParaRPr/>
          </a:p>
        </p:txBody>
      </p:sp>
      <p:sp>
        <p:nvSpPr>
          <p:cNvPr id="980" name="Google Shape;980;p49"/>
          <p:cNvSpPr txBox="1">
            <a:spLocks noGrp="1"/>
          </p:cNvSpPr>
          <p:nvPr>
            <p:ph type="body" idx="1"/>
          </p:nvPr>
        </p:nvSpPr>
        <p:spPr>
          <a:xfrm>
            <a:off x="90600" y="404100"/>
            <a:ext cx="8683500" cy="954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Using a DataIndexedCharMap is very memory hungry.</a:t>
            </a:r>
            <a:endParaRPr/>
          </a:p>
          <a:p>
            <a:pPr marL="457200" lvl="0" indent="-342900" algn="l" rtl="0">
              <a:spcBef>
                <a:spcPts val="600"/>
              </a:spcBef>
              <a:spcAft>
                <a:spcPts val="0"/>
              </a:spcAft>
              <a:buSzPts val="1800"/>
              <a:buChar char="●"/>
            </a:pPr>
            <a:r>
              <a:rPr lang="en"/>
              <a:t>Every node has to store R links, most of which are null.</a:t>
            </a:r>
            <a:endParaRPr/>
          </a:p>
        </p:txBody>
      </p:sp>
      <p:sp>
        <p:nvSpPr>
          <p:cNvPr id="981" name="Google Shape;981;p49"/>
          <p:cNvSpPr/>
          <p:nvPr/>
        </p:nvSpPr>
        <p:spPr>
          <a:xfrm>
            <a:off x="6963029" y="15903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982" name="Google Shape;982;p49"/>
          <p:cNvSpPr/>
          <p:nvPr/>
        </p:nvSpPr>
        <p:spPr>
          <a:xfrm>
            <a:off x="8324375" y="234329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Consolas"/>
              <a:ea typeface="Consolas"/>
              <a:cs typeface="Consolas"/>
              <a:sym typeface="Consolas"/>
            </a:endParaRPr>
          </a:p>
        </p:txBody>
      </p:sp>
      <p:sp>
        <p:nvSpPr>
          <p:cNvPr id="983" name="Google Shape;983;p49"/>
          <p:cNvSpPr/>
          <p:nvPr/>
        </p:nvSpPr>
        <p:spPr>
          <a:xfrm>
            <a:off x="7943800" y="3249248"/>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Consolas"/>
              <a:ea typeface="Consolas"/>
              <a:cs typeface="Consolas"/>
              <a:sym typeface="Consolas"/>
            </a:endParaRPr>
          </a:p>
        </p:txBody>
      </p:sp>
      <p:sp>
        <p:nvSpPr>
          <p:cNvPr id="984" name="Google Shape;984;p49"/>
          <p:cNvSpPr/>
          <p:nvPr/>
        </p:nvSpPr>
        <p:spPr>
          <a:xfrm>
            <a:off x="7410675" y="4009477"/>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Consolas"/>
              <a:ea typeface="Consolas"/>
              <a:cs typeface="Consolas"/>
              <a:sym typeface="Consolas"/>
            </a:endParaRPr>
          </a:p>
        </p:txBody>
      </p:sp>
      <p:sp>
        <p:nvSpPr>
          <p:cNvPr id="985" name="Google Shape;985;p49"/>
          <p:cNvSpPr/>
          <p:nvPr/>
        </p:nvSpPr>
        <p:spPr>
          <a:xfrm>
            <a:off x="5703400" y="2343311"/>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Consolas"/>
              <a:ea typeface="Consolas"/>
              <a:cs typeface="Consolas"/>
              <a:sym typeface="Consolas"/>
            </a:endParaRPr>
          </a:p>
        </p:txBody>
      </p:sp>
      <p:sp>
        <p:nvSpPr>
          <p:cNvPr id="986" name="Google Shape;986;p49"/>
          <p:cNvSpPr/>
          <p:nvPr/>
        </p:nvSpPr>
        <p:spPr>
          <a:xfrm>
            <a:off x="6343500" y="2976761"/>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Consolas"/>
              <a:ea typeface="Consolas"/>
              <a:cs typeface="Consolas"/>
              <a:sym typeface="Consolas"/>
            </a:endParaRPr>
          </a:p>
        </p:txBody>
      </p:sp>
      <p:sp>
        <p:nvSpPr>
          <p:cNvPr id="987" name="Google Shape;987;p49"/>
          <p:cNvSpPr/>
          <p:nvPr/>
        </p:nvSpPr>
        <p:spPr>
          <a:xfrm>
            <a:off x="6343500" y="384063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Consolas"/>
              <a:ea typeface="Consolas"/>
              <a:cs typeface="Consolas"/>
              <a:sym typeface="Consolas"/>
            </a:endParaRPr>
          </a:p>
        </p:txBody>
      </p:sp>
      <p:cxnSp>
        <p:nvCxnSpPr>
          <p:cNvPr id="988" name="Google Shape;988;p49"/>
          <p:cNvCxnSpPr>
            <a:stCxn id="981" idx="4"/>
            <a:endCxn id="982" idx="0"/>
          </p:cNvCxnSpPr>
          <p:nvPr/>
        </p:nvCxnSpPr>
        <p:spPr>
          <a:xfrm>
            <a:off x="7179479" y="2023275"/>
            <a:ext cx="1361400" cy="320100"/>
          </a:xfrm>
          <a:prstGeom prst="straightConnector1">
            <a:avLst/>
          </a:prstGeom>
          <a:noFill/>
          <a:ln w="28575" cap="flat" cmpd="sng">
            <a:solidFill>
              <a:schemeClr val="dk2"/>
            </a:solidFill>
            <a:prstDash val="solid"/>
            <a:round/>
            <a:headEnd type="none" w="med" len="med"/>
            <a:tailEnd type="none" w="med" len="med"/>
          </a:ln>
        </p:spPr>
      </p:cxnSp>
      <p:cxnSp>
        <p:nvCxnSpPr>
          <p:cNvPr id="989" name="Google Shape;989;p49"/>
          <p:cNvCxnSpPr>
            <a:stCxn id="983" idx="4"/>
          </p:cNvCxnSpPr>
          <p:nvPr/>
        </p:nvCxnSpPr>
        <p:spPr>
          <a:xfrm>
            <a:off x="8160250" y="3682148"/>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990" name="Google Shape;990;p49"/>
          <p:cNvCxnSpPr>
            <a:stCxn id="983" idx="4"/>
          </p:cNvCxnSpPr>
          <p:nvPr/>
        </p:nvCxnSpPr>
        <p:spPr>
          <a:xfrm flipH="1">
            <a:off x="7532050" y="3682148"/>
            <a:ext cx="628200" cy="133800"/>
          </a:xfrm>
          <a:prstGeom prst="straightConnector1">
            <a:avLst/>
          </a:prstGeom>
          <a:noFill/>
          <a:ln w="28575" cap="flat" cmpd="sng">
            <a:solidFill>
              <a:schemeClr val="dk2"/>
            </a:solidFill>
            <a:prstDash val="solid"/>
            <a:round/>
            <a:headEnd type="none" w="med" len="med"/>
            <a:tailEnd type="none" w="med" len="med"/>
          </a:ln>
        </p:spPr>
      </p:cxnSp>
      <p:cxnSp>
        <p:nvCxnSpPr>
          <p:cNvPr id="991" name="Google Shape;991;p49"/>
          <p:cNvCxnSpPr>
            <a:stCxn id="981" idx="4"/>
          </p:cNvCxnSpPr>
          <p:nvPr/>
        </p:nvCxnSpPr>
        <p:spPr>
          <a:xfrm flipH="1">
            <a:off x="5919779" y="2023275"/>
            <a:ext cx="1259700" cy="320100"/>
          </a:xfrm>
          <a:prstGeom prst="straightConnector1">
            <a:avLst/>
          </a:prstGeom>
          <a:noFill/>
          <a:ln w="28575" cap="flat" cmpd="sng">
            <a:solidFill>
              <a:schemeClr val="dk2"/>
            </a:solidFill>
            <a:prstDash val="solid"/>
            <a:round/>
            <a:headEnd type="none" w="med" len="med"/>
            <a:tailEnd type="none" w="med" len="med"/>
          </a:ln>
        </p:spPr>
      </p:cxnSp>
      <p:cxnSp>
        <p:nvCxnSpPr>
          <p:cNvPr id="992" name="Google Shape;992;p49"/>
          <p:cNvCxnSpPr/>
          <p:nvPr/>
        </p:nvCxnSpPr>
        <p:spPr>
          <a:xfrm>
            <a:off x="5919850" y="2776211"/>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993" name="Google Shape;993;p49"/>
          <p:cNvCxnSpPr>
            <a:endCxn id="987" idx="0"/>
          </p:cNvCxnSpPr>
          <p:nvPr/>
        </p:nvCxnSpPr>
        <p:spPr>
          <a:xfrm>
            <a:off x="6556650" y="3435336"/>
            <a:ext cx="3300" cy="405300"/>
          </a:xfrm>
          <a:prstGeom prst="straightConnector1">
            <a:avLst/>
          </a:prstGeom>
          <a:noFill/>
          <a:ln w="28575" cap="flat" cmpd="sng">
            <a:solidFill>
              <a:schemeClr val="dk2"/>
            </a:solidFill>
            <a:prstDash val="solid"/>
            <a:round/>
            <a:headEnd type="none" w="med" len="med"/>
            <a:tailEnd type="none" w="med" len="med"/>
          </a:ln>
        </p:spPr>
      </p:cxnSp>
      <p:cxnSp>
        <p:nvCxnSpPr>
          <p:cNvPr id="994" name="Google Shape;994;p49"/>
          <p:cNvCxnSpPr>
            <a:stCxn id="981" idx="4"/>
          </p:cNvCxnSpPr>
          <p:nvPr/>
        </p:nvCxnSpPr>
        <p:spPr>
          <a:xfrm flipH="1">
            <a:off x="6874079" y="2023275"/>
            <a:ext cx="305400" cy="324600"/>
          </a:xfrm>
          <a:prstGeom prst="straightConnector1">
            <a:avLst/>
          </a:prstGeom>
          <a:noFill/>
          <a:ln w="28575" cap="flat" cmpd="sng">
            <a:solidFill>
              <a:schemeClr val="dk2"/>
            </a:solidFill>
            <a:prstDash val="solid"/>
            <a:round/>
            <a:headEnd type="none" w="med" len="med"/>
            <a:tailEnd type="none" w="med" len="med"/>
          </a:ln>
        </p:spPr>
      </p:cxnSp>
      <p:cxnSp>
        <p:nvCxnSpPr>
          <p:cNvPr id="995" name="Google Shape;995;p49"/>
          <p:cNvCxnSpPr>
            <a:stCxn id="981" idx="4"/>
          </p:cNvCxnSpPr>
          <p:nvPr/>
        </p:nvCxnSpPr>
        <p:spPr>
          <a:xfrm>
            <a:off x="7179479" y="2023275"/>
            <a:ext cx="317700" cy="300300"/>
          </a:xfrm>
          <a:prstGeom prst="straightConnector1">
            <a:avLst/>
          </a:prstGeom>
          <a:noFill/>
          <a:ln w="28575" cap="flat" cmpd="sng">
            <a:solidFill>
              <a:schemeClr val="dk2"/>
            </a:solidFill>
            <a:prstDash val="solid"/>
            <a:round/>
            <a:headEnd type="none" w="med" len="med"/>
            <a:tailEnd type="none" w="med" len="med"/>
          </a:ln>
        </p:spPr>
      </p:cxnSp>
      <p:cxnSp>
        <p:nvCxnSpPr>
          <p:cNvPr id="996" name="Google Shape;996;p49"/>
          <p:cNvCxnSpPr>
            <a:stCxn id="981" idx="4"/>
          </p:cNvCxnSpPr>
          <p:nvPr/>
        </p:nvCxnSpPr>
        <p:spPr>
          <a:xfrm>
            <a:off x="7179479" y="2023275"/>
            <a:ext cx="48900" cy="361500"/>
          </a:xfrm>
          <a:prstGeom prst="straightConnector1">
            <a:avLst/>
          </a:prstGeom>
          <a:noFill/>
          <a:ln w="28575" cap="flat" cmpd="sng">
            <a:solidFill>
              <a:schemeClr val="dk2"/>
            </a:solidFill>
            <a:prstDash val="solid"/>
            <a:round/>
            <a:headEnd type="none" w="med" len="med"/>
            <a:tailEnd type="none" w="med" len="med"/>
          </a:ln>
        </p:spPr>
      </p:cxnSp>
      <p:cxnSp>
        <p:nvCxnSpPr>
          <p:cNvPr id="997" name="Google Shape;997;p49"/>
          <p:cNvCxnSpPr>
            <a:stCxn id="981" idx="4"/>
          </p:cNvCxnSpPr>
          <p:nvPr/>
        </p:nvCxnSpPr>
        <p:spPr>
          <a:xfrm flipH="1">
            <a:off x="7069679" y="2023275"/>
            <a:ext cx="109800" cy="336900"/>
          </a:xfrm>
          <a:prstGeom prst="straightConnector1">
            <a:avLst/>
          </a:prstGeom>
          <a:noFill/>
          <a:ln w="28575" cap="flat" cmpd="sng">
            <a:solidFill>
              <a:schemeClr val="dk2"/>
            </a:solidFill>
            <a:prstDash val="solid"/>
            <a:round/>
            <a:headEnd type="none" w="med" len="med"/>
            <a:tailEnd type="none" w="med" len="med"/>
          </a:ln>
        </p:spPr>
      </p:cxnSp>
      <p:cxnSp>
        <p:nvCxnSpPr>
          <p:cNvPr id="998" name="Google Shape;998;p49"/>
          <p:cNvCxnSpPr>
            <a:stCxn id="981" idx="4"/>
          </p:cNvCxnSpPr>
          <p:nvPr/>
        </p:nvCxnSpPr>
        <p:spPr>
          <a:xfrm flipH="1">
            <a:off x="6678779" y="2023275"/>
            <a:ext cx="500700" cy="300300"/>
          </a:xfrm>
          <a:prstGeom prst="straightConnector1">
            <a:avLst/>
          </a:prstGeom>
          <a:noFill/>
          <a:ln w="28575" cap="flat" cmpd="sng">
            <a:solidFill>
              <a:schemeClr val="dk2"/>
            </a:solidFill>
            <a:prstDash val="solid"/>
            <a:round/>
            <a:headEnd type="none" w="med" len="med"/>
            <a:tailEnd type="none" w="med" len="med"/>
          </a:ln>
        </p:spPr>
      </p:cxnSp>
      <p:cxnSp>
        <p:nvCxnSpPr>
          <p:cNvPr id="999" name="Google Shape;999;p49"/>
          <p:cNvCxnSpPr>
            <a:stCxn id="981" idx="4"/>
          </p:cNvCxnSpPr>
          <p:nvPr/>
        </p:nvCxnSpPr>
        <p:spPr>
          <a:xfrm>
            <a:off x="7179479" y="2023275"/>
            <a:ext cx="391200" cy="227100"/>
          </a:xfrm>
          <a:prstGeom prst="straightConnector1">
            <a:avLst/>
          </a:prstGeom>
          <a:noFill/>
          <a:ln w="28575" cap="flat" cmpd="sng">
            <a:solidFill>
              <a:schemeClr val="dk2"/>
            </a:solidFill>
            <a:prstDash val="solid"/>
            <a:round/>
            <a:headEnd type="none" w="med" len="med"/>
            <a:tailEnd type="none" w="med" len="med"/>
          </a:ln>
        </p:spPr>
      </p:cxnSp>
      <p:cxnSp>
        <p:nvCxnSpPr>
          <p:cNvPr id="1000" name="Google Shape;1000;p49"/>
          <p:cNvCxnSpPr/>
          <p:nvPr/>
        </p:nvCxnSpPr>
        <p:spPr>
          <a:xfrm flipH="1">
            <a:off x="5601096" y="2794195"/>
            <a:ext cx="305400" cy="324600"/>
          </a:xfrm>
          <a:prstGeom prst="straightConnector1">
            <a:avLst/>
          </a:prstGeom>
          <a:noFill/>
          <a:ln w="28575" cap="flat" cmpd="sng">
            <a:solidFill>
              <a:schemeClr val="dk2"/>
            </a:solidFill>
            <a:prstDash val="solid"/>
            <a:round/>
            <a:headEnd type="none" w="med" len="med"/>
            <a:tailEnd type="none" w="med" len="med"/>
          </a:ln>
        </p:spPr>
      </p:cxnSp>
      <p:cxnSp>
        <p:nvCxnSpPr>
          <p:cNvPr id="1001" name="Google Shape;1001;p49"/>
          <p:cNvCxnSpPr/>
          <p:nvPr/>
        </p:nvCxnSpPr>
        <p:spPr>
          <a:xfrm flipH="1">
            <a:off x="5405796" y="2794195"/>
            <a:ext cx="500700" cy="300300"/>
          </a:xfrm>
          <a:prstGeom prst="straightConnector1">
            <a:avLst/>
          </a:prstGeom>
          <a:noFill/>
          <a:ln w="28575" cap="flat" cmpd="sng">
            <a:solidFill>
              <a:schemeClr val="dk2"/>
            </a:solidFill>
            <a:prstDash val="solid"/>
            <a:round/>
            <a:headEnd type="none" w="med" len="med"/>
            <a:tailEnd type="none" w="med" len="med"/>
          </a:ln>
        </p:spPr>
      </p:cxnSp>
      <p:cxnSp>
        <p:nvCxnSpPr>
          <p:cNvPr id="1002" name="Google Shape;1002;p49"/>
          <p:cNvCxnSpPr/>
          <p:nvPr/>
        </p:nvCxnSpPr>
        <p:spPr>
          <a:xfrm>
            <a:off x="5906496" y="2794195"/>
            <a:ext cx="317700" cy="300300"/>
          </a:xfrm>
          <a:prstGeom prst="straightConnector1">
            <a:avLst/>
          </a:prstGeom>
          <a:noFill/>
          <a:ln w="28575" cap="flat" cmpd="sng">
            <a:solidFill>
              <a:schemeClr val="dk2"/>
            </a:solidFill>
            <a:prstDash val="solid"/>
            <a:round/>
            <a:headEnd type="none" w="med" len="med"/>
            <a:tailEnd type="none" w="med" len="med"/>
          </a:ln>
        </p:spPr>
      </p:cxnSp>
      <p:cxnSp>
        <p:nvCxnSpPr>
          <p:cNvPr id="1003" name="Google Shape;1003;p49"/>
          <p:cNvCxnSpPr>
            <a:endCxn id="986" idx="0"/>
          </p:cNvCxnSpPr>
          <p:nvPr/>
        </p:nvCxnSpPr>
        <p:spPr>
          <a:xfrm>
            <a:off x="5906550" y="2794061"/>
            <a:ext cx="653400" cy="182700"/>
          </a:xfrm>
          <a:prstGeom prst="straightConnector1">
            <a:avLst/>
          </a:prstGeom>
          <a:noFill/>
          <a:ln w="28575" cap="flat" cmpd="sng">
            <a:solidFill>
              <a:schemeClr val="dk2"/>
            </a:solidFill>
            <a:prstDash val="solid"/>
            <a:round/>
            <a:headEnd type="none" w="med" len="med"/>
            <a:tailEnd type="none" w="med" len="med"/>
          </a:ln>
        </p:spPr>
      </p:cxnSp>
      <p:grpSp>
        <p:nvGrpSpPr>
          <p:cNvPr id="1004" name="Google Shape;1004;p49"/>
          <p:cNvGrpSpPr/>
          <p:nvPr/>
        </p:nvGrpSpPr>
        <p:grpSpPr>
          <a:xfrm>
            <a:off x="6058114" y="3414187"/>
            <a:ext cx="891900" cy="324600"/>
            <a:chOff x="4872396" y="2413195"/>
            <a:chExt cx="891900" cy="324600"/>
          </a:xfrm>
        </p:grpSpPr>
        <p:cxnSp>
          <p:nvCxnSpPr>
            <p:cNvPr id="1005" name="Google Shape;1005;p49"/>
            <p:cNvCxnSpPr/>
            <p:nvPr/>
          </p:nvCxnSpPr>
          <p:spPr>
            <a:xfrm flipH="1">
              <a:off x="5067696" y="2413195"/>
              <a:ext cx="305400" cy="324600"/>
            </a:xfrm>
            <a:prstGeom prst="straightConnector1">
              <a:avLst/>
            </a:prstGeom>
            <a:noFill/>
            <a:ln w="28575" cap="flat" cmpd="sng">
              <a:solidFill>
                <a:schemeClr val="dk2"/>
              </a:solidFill>
              <a:prstDash val="solid"/>
              <a:round/>
              <a:headEnd type="none" w="med" len="med"/>
              <a:tailEnd type="none" w="med" len="med"/>
            </a:ln>
          </p:spPr>
        </p:cxnSp>
        <p:cxnSp>
          <p:nvCxnSpPr>
            <p:cNvPr id="1006" name="Google Shape;1006;p49"/>
            <p:cNvCxnSpPr/>
            <p:nvPr/>
          </p:nvCxnSpPr>
          <p:spPr>
            <a:xfrm flipH="1">
              <a:off x="4872396" y="2413195"/>
              <a:ext cx="500700" cy="300300"/>
            </a:xfrm>
            <a:prstGeom prst="straightConnector1">
              <a:avLst/>
            </a:prstGeom>
            <a:noFill/>
            <a:ln w="28575" cap="flat" cmpd="sng">
              <a:solidFill>
                <a:schemeClr val="dk2"/>
              </a:solidFill>
              <a:prstDash val="solid"/>
              <a:round/>
              <a:headEnd type="none" w="med" len="med"/>
              <a:tailEnd type="none" w="med" len="med"/>
            </a:ln>
          </p:spPr>
        </p:cxnSp>
        <p:cxnSp>
          <p:nvCxnSpPr>
            <p:cNvPr id="1007" name="Google Shape;1007;p49"/>
            <p:cNvCxnSpPr/>
            <p:nvPr/>
          </p:nvCxnSpPr>
          <p:spPr>
            <a:xfrm>
              <a:off x="5373096" y="2413195"/>
              <a:ext cx="317700" cy="300300"/>
            </a:xfrm>
            <a:prstGeom prst="straightConnector1">
              <a:avLst/>
            </a:prstGeom>
            <a:noFill/>
            <a:ln w="28575" cap="flat" cmpd="sng">
              <a:solidFill>
                <a:schemeClr val="dk2"/>
              </a:solidFill>
              <a:prstDash val="solid"/>
              <a:round/>
              <a:headEnd type="none" w="med" len="med"/>
              <a:tailEnd type="none" w="med" len="med"/>
            </a:ln>
          </p:spPr>
        </p:cxnSp>
        <p:cxnSp>
          <p:nvCxnSpPr>
            <p:cNvPr id="1008" name="Google Shape;1008;p49"/>
            <p:cNvCxnSpPr/>
            <p:nvPr/>
          </p:nvCxnSpPr>
          <p:spPr>
            <a:xfrm>
              <a:off x="5373096" y="2413195"/>
              <a:ext cx="391200" cy="227100"/>
            </a:xfrm>
            <a:prstGeom prst="straightConnector1">
              <a:avLst/>
            </a:prstGeom>
            <a:noFill/>
            <a:ln w="28575" cap="flat" cmpd="sng">
              <a:solidFill>
                <a:schemeClr val="dk2"/>
              </a:solidFill>
              <a:prstDash val="solid"/>
              <a:round/>
              <a:headEnd type="none" w="med" len="med"/>
              <a:tailEnd type="none" w="med" len="med"/>
            </a:ln>
          </p:spPr>
        </p:cxnSp>
      </p:grpSp>
      <p:sp>
        <p:nvSpPr>
          <p:cNvPr id="1009" name="Google Shape;1009;p49"/>
          <p:cNvSpPr txBox="1"/>
          <p:nvPr/>
        </p:nvSpPr>
        <p:spPr>
          <a:xfrm>
            <a:off x="6333100" y="1871525"/>
            <a:ext cx="212400" cy="20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a:t>
            </a:r>
            <a:endParaRPr/>
          </a:p>
        </p:txBody>
      </p:sp>
      <p:sp>
        <p:nvSpPr>
          <p:cNvPr id="1010" name="Google Shape;1010;p49"/>
          <p:cNvSpPr txBox="1"/>
          <p:nvPr/>
        </p:nvSpPr>
        <p:spPr>
          <a:xfrm>
            <a:off x="7976025" y="1871525"/>
            <a:ext cx="212400" cy="20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a:t>
            </a:r>
            <a:endParaRPr/>
          </a:p>
        </p:txBody>
      </p:sp>
      <p:cxnSp>
        <p:nvCxnSpPr>
          <p:cNvPr id="1011" name="Google Shape;1011;p49"/>
          <p:cNvCxnSpPr/>
          <p:nvPr/>
        </p:nvCxnSpPr>
        <p:spPr>
          <a:xfrm flipH="1">
            <a:off x="8511409" y="2781159"/>
            <a:ext cx="26400" cy="324300"/>
          </a:xfrm>
          <a:prstGeom prst="straightConnector1">
            <a:avLst/>
          </a:prstGeom>
          <a:noFill/>
          <a:ln w="28575" cap="flat" cmpd="sng">
            <a:solidFill>
              <a:schemeClr val="dk2"/>
            </a:solidFill>
            <a:prstDash val="solid"/>
            <a:round/>
            <a:headEnd type="none" w="med" len="med"/>
            <a:tailEnd type="none" w="med" len="med"/>
          </a:ln>
        </p:spPr>
      </p:cxnSp>
      <p:cxnSp>
        <p:nvCxnSpPr>
          <p:cNvPr id="1012" name="Google Shape;1012;p49"/>
          <p:cNvCxnSpPr>
            <a:stCxn id="982" idx="4"/>
            <a:endCxn id="983" idx="0"/>
          </p:cNvCxnSpPr>
          <p:nvPr/>
        </p:nvCxnSpPr>
        <p:spPr>
          <a:xfrm flipH="1">
            <a:off x="8160125" y="2776196"/>
            <a:ext cx="380700" cy="473100"/>
          </a:xfrm>
          <a:prstGeom prst="straightConnector1">
            <a:avLst/>
          </a:prstGeom>
          <a:noFill/>
          <a:ln w="28575" cap="flat" cmpd="sng">
            <a:solidFill>
              <a:schemeClr val="dk2"/>
            </a:solidFill>
            <a:prstDash val="solid"/>
            <a:round/>
            <a:headEnd type="none" w="med" len="med"/>
            <a:tailEnd type="none" w="med" len="med"/>
          </a:ln>
        </p:spPr>
      </p:cxnSp>
      <p:cxnSp>
        <p:nvCxnSpPr>
          <p:cNvPr id="1013" name="Google Shape;1013;p49"/>
          <p:cNvCxnSpPr/>
          <p:nvPr/>
        </p:nvCxnSpPr>
        <p:spPr>
          <a:xfrm>
            <a:off x="8537809" y="2781159"/>
            <a:ext cx="317700" cy="300300"/>
          </a:xfrm>
          <a:prstGeom prst="straightConnector1">
            <a:avLst/>
          </a:prstGeom>
          <a:noFill/>
          <a:ln w="28575" cap="flat" cmpd="sng">
            <a:solidFill>
              <a:schemeClr val="dk2"/>
            </a:solidFill>
            <a:prstDash val="solid"/>
            <a:round/>
            <a:headEnd type="none" w="med" len="med"/>
            <a:tailEnd type="none" w="med" len="med"/>
          </a:ln>
        </p:spPr>
      </p:cxnSp>
      <p:cxnSp>
        <p:nvCxnSpPr>
          <p:cNvPr id="1014" name="Google Shape;1014;p49"/>
          <p:cNvCxnSpPr/>
          <p:nvPr/>
        </p:nvCxnSpPr>
        <p:spPr>
          <a:xfrm>
            <a:off x="8537809" y="2781159"/>
            <a:ext cx="391200" cy="227100"/>
          </a:xfrm>
          <a:prstGeom prst="straightConnector1">
            <a:avLst/>
          </a:prstGeom>
          <a:noFill/>
          <a:ln w="28575" cap="flat" cmpd="sng">
            <a:solidFill>
              <a:schemeClr val="dk2"/>
            </a:solidFill>
            <a:prstDash val="solid"/>
            <a:round/>
            <a:headEnd type="none" w="med" len="med"/>
            <a:tailEnd type="none" w="med" len="med"/>
          </a:ln>
        </p:spPr>
      </p:cxnSp>
      <p:cxnSp>
        <p:nvCxnSpPr>
          <p:cNvPr id="1015" name="Google Shape;1015;p49"/>
          <p:cNvCxnSpPr/>
          <p:nvPr/>
        </p:nvCxnSpPr>
        <p:spPr>
          <a:xfrm flipH="1">
            <a:off x="7914692" y="3679837"/>
            <a:ext cx="250200" cy="265800"/>
          </a:xfrm>
          <a:prstGeom prst="straightConnector1">
            <a:avLst/>
          </a:prstGeom>
          <a:noFill/>
          <a:ln w="28575" cap="flat" cmpd="sng">
            <a:solidFill>
              <a:schemeClr val="dk2"/>
            </a:solidFill>
            <a:prstDash val="solid"/>
            <a:round/>
            <a:headEnd type="none" w="med" len="med"/>
            <a:tailEnd type="none" w="med" len="med"/>
          </a:ln>
        </p:spPr>
      </p:cxnSp>
      <p:cxnSp>
        <p:nvCxnSpPr>
          <p:cNvPr id="1016" name="Google Shape;1016;p49"/>
          <p:cNvCxnSpPr>
            <a:endCxn id="984" idx="0"/>
          </p:cNvCxnSpPr>
          <p:nvPr/>
        </p:nvCxnSpPr>
        <p:spPr>
          <a:xfrm flipH="1">
            <a:off x="7627125" y="3679777"/>
            <a:ext cx="537900" cy="329700"/>
          </a:xfrm>
          <a:prstGeom prst="straightConnector1">
            <a:avLst/>
          </a:prstGeom>
          <a:noFill/>
          <a:ln w="28575" cap="flat" cmpd="sng">
            <a:solidFill>
              <a:schemeClr val="dk2"/>
            </a:solidFill>
            <a:prstDash val="solid"/>
            <a:round/>
            <a:headEnd type="none" w="med" len="med"/>
            <a:tailEnd type="none" w="med" len="med"/>
          </a:ln>
        </p:spPr>
      </p:cxnSp>
      <p:cxnSp>
        <p:nvCxnSpPr>
          <p:cNvPr id="1017" name="Google Shape;1017;p49"/>
          <p:cNvCxnSpPr/>
          <p:nvPr/>
        </p:nvCxnSpPr>
        <p:spPr>
          <a:xfrm>
            <a:off x="8164892" y="3679837"/>
            <a:ext cx="260100" cy="246000"/>
          </a:xfrm>
          <a:prstGeom prst="straightConnector1">
            <a:avLst/>
          </a:prstGeom>
          <a:noFill/>
          <a:ln w="28575" cap="flat" cmpd="sng">
            <a:solidFill>
              <a:schemeClr val="dk2"/>
            </a:solidFill>
            <a:prstDash val="solid"/>
            <a:round/>
            <a:headEnd type="none" w="med" len="med"/>
            <a:tailEnd type="none" w="med" len="med"/>
          </a:ln>
        </p:spPr>
      </p:cxnSp>
      <p:cxnSp>
        <p:nvCxnSpPr>
          <p:cNvPr id="1018" name="Google Shape;1018;p49"/>
          <p:cNvCxnSpPr/>
          <p:nvPr/>
        </p:nvCxnSpPr>
        <p:spPr>
          <a:xfrm>
            <a:off x="8164892" y="3679837"/>
            <a:ext cx="320400" cy="186000"/>
          </a:xfrm>
          <a:prstGeom prst="straightConnector1">
            <a:avLst/>
          </a:prstGeom>
          <a:noFill/>
          <a:ln w="28575" cap="flat" cmpd="sng">
            <a:solidFill>
              <a:schemeClr val="dk2"/>
            </a:solidFill>
            <a:prstDash val="solid"/>
            <a:round/>
            <a:headEnd type="none" w="med" len="med"/>
            <a:tailEnd type="none" w="med" len="med"/>
          </a:ln>
        </p:spPr>
      </p:cxnSp>
      <p:grpSp>
        <p:nvGrpSpPr>
          <p:cNvPr id="1019" name="Google Shape;1019;p49"/>
          <p:cNvGrpSpPr/>
          <p:nvPr/>
        </p:nvGrpSpPr>
        <p:grpSpPr>
          <a:xfrm>
            <a:off x="7213412" y="4446693"/>
            <a:ext cx="730377" cy="265815"/>
            <a:chOff x="4872396" y="2413195"/>
            <a:chExt cx="891900" cy="324600"/>
          </a:xfrm>
        </p:grpSpPr>
        <p:cxnSp>
          <p:nvCxnSpPr>
            <p:cNvPr id="1020" name="Google Shape;1020;p49"/>
            <p:cNvCxnSpPr/>
            <p:nvPr/>
          </p:nvCxnSpPr>
          <p:spPr>
            <a:xfrm flipH="1">
              <a:off x="5067696" y="2413195"/>
              <a:ext cx="305400" cy="324600"/>
            </a:xfrm>
            <a:prstGeom prst="straightConnector1">
              <a:avLst/>
            </a:prstGeom>
            <a:noFill/>
            <a:ln w="28575" cap="flat" cmpd="sng">
              <a:solidFill>
                <a:schemeClr val="dk2"/>
              </a:solidFill>
              <a:prstDash val="solid"/>
              <a:round/>
              <a:headEnd type="none" w="med" len="med"/>
              <a:tailEnd type="none" w="med" len="med"/>
            </a:ln>
          </p:spPr>
        </p:cxnSp>
        <p:cxnSp>
          <p:nvCxnSpPr>
            <p:cNvPr id="1021" name="Google Shape;1021;p49"/>
            <p:cNvCxnSpPr/>
            <p:nvPr/>
          </p:nvCxnSpPr>
          <p:spPr>
            <a:xfrm flipH="1">
              <a:off x="4872396" y="2413195"/>
              <a:ext cx="500700" cy="300300"/>
            </a:xfrm>
            <a:prstGeom prst="straightConnector1">
              <a:avLst/>
            </a:prstGeom>
            <a:noFill/>
            <a:ln w="28575" cap="flat" cmpd="sng">
              <a:solidFill>
                <a:schemeClr val="dk2"/>
              </a:solidFill>
              <a:prstDash val="solid"/>
              <a:round/>
              <a:headEnd type="none" w="med" len="med"/>
              <a:tailEnd type="none" w="med" len="med"/>
            </a:ln>
          </p:spPr>
        </p:cxnSp>
        <p:cxnSp>
          <p:nvCxnSpPr>
            <p:cNvPr id="1022" name="Google Shape;1022;p49"/>
            <p:cNvCxnSpPr/>
            <p:nvPr/>
          </p:nvCxnSpPr>
          <p:spPr>
            <a:xfrm>
              <a:off x="5373096" y="2413195"/>
              <a:ext cx="317700" cy="300300"/>
            </a:xfrm>
            <a:prstGeom prst="straightConnector1">
              <a:avLst/>
            </a:prstGeom>
            <a:noFill/>
            <a:ln w="28575" cap="flat" cmpd="sng">
              <a:solidFill>
                <a:schemeClr val="dk2"/>
              </a:solidFill>
              <a:prstDash val="solid"/>
              <a:round/>
              <a:headEnd type="none" w="med" len="med"/>
              <a:tailEnd type="none" w="med" len="med"/>
            </a:ln>
          </p:spPr>
        </p:cxnSp>
        <p:cxnSp>
          <p:nvCxnSpPr>
            <p:cNvPr id="1023" name="Google Shape;1023;p49"/>
            <p:cNvCxnSpPr/>
            <p:nvPr/>
          </p:nvCxnSpPr>
          <p:spPr>
            <a:xfrm>
              <a:off x="5373096" y="2413195"/>
              <a:ext cx="391200" cy="227100"/>
            </a:xfrm>
            <a:prstGeom prst="straightConnector1">
              <a:avLst/>
            </a:prstGeom>
            <a:noFill/>
            <a:ln w="28575" cap="flat" cmpd="sng">
              <a:solidFill>
                <a:schemeClr val="dk2"/>
              </a:solidFill>
              <a:prstDash val="solid"/>
              <a:round/>
              <a:headEnd type="none" w="med" len="med"/>
              <a:tailEnd type="none" w="med" len="med"/>
            </a:ln>
          </p:spPr>
        </p:cxnSp>
      </p:grpSp>
      <p:cxnSp>
        <p:nvCxnSpPr>
          <p:cNvPr id="1024" name="Google Shape;1024;p49"/>
          <p:cNvCxnSpPr/>
          <p:nvPr/>
        </p:nvCxnSpPr>
        <p:spPr>
          <a:xfrm>
            <a:off x="7618617" y="4444027"/>
            <a:ext cx="0" cy="165900"/>
          </a:xfrm>
          <a:prstGeom prst="straightConnector1">
            <a:avLst/>
          </a:prstGeom>
          <a:noFill/>
          <a:ln w="28575" cap="flat" cmpd="sng">
            <a:solidFill>
              <a:schemeClr val="dk2"/>
            </a:solidFill>
            <a:prstDash val="solid"/>
            <a:round/>
            <a:headEnd type="none" w="med" len="med"/>
            <a:tailEnd type="none" w="med" len="med"/>
          </a:ln>
        </p:spPr>
      </p:cxnSp>
      <p:cxnSp>
        <p:nvCxnSpPr>
          <p:cNvPr id="1025" name="Google Shape;1025;p49"/>
          <p:cNvCxnSpPr>
            <a:stCxn id="982" idx="4"/>
          </p:cNvCxnSpPr>
          <p:nvPr/>
        </p:nvCxnSpPr>
        <p:spPr>
          <a:xfrm>
            <a:off x="8540825" y="2776196"/>
            <a:ext cx="117000" cy="304800"/>
          </a:xfrm>
          <a:prstGeom prst="straightConnector1">
            <a:avLst/>
          </a:prstGeom>
          <a:noFill/>
          <a:ln w="19050" cap="flat" cmpd="sng">
            <a:solidFill>
              <a:schemeClr val="dk2"/>
            </a:solidFill>
            <a:prstDash val="solid"/>
            <a:round/>
            <a:headEnd type="none" w="med" len="med"/>
            <a:tailEnd type="none" w="med" len="med"/>
          </a:ln>
        </p:spPr>
      </p:cxnSp>
      <p:sp>
        <p:nvSpPr>
          <p:cNvPr id="1026" name="Google Shape;1026;p49"/>
          <p:cNvSpPr txBox="1"/>
          <p:nvPr/>
        </p:nvSpPr>
        <p:spPr>
          <a:xfrm>
            <a:off x="8056375" y="2809350"/>
            <a:ext cx="212400" cy="18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a:t>
            </a:r>
            <a:endParaRPr/>
          </a:p>
        </p:txBody>
      </p:sp>
      <p:sp>
        <p:nvSpPr>
          <p:cNvPr id="1027" name="Google Shape;1027;p49"/>
          <p:cNvSpPr txBox="1"/>
          <p:nvPr/>
        </p:nvSpPr>
        <p:spPr>
          <a:xfrm>
            <a:off x="7508708" y="3685360"/>
            <a:ext cx="212400" cy="18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d</a:t>
            </a:r>
            <a:endParaRPr/>
          </a:p>
        </p:txBody>
      </p:sp>
      <p:sp>
        <p:nvSpPr>
          <p:cNvPr id="1028" name="Google Shape;1028;p49"/>
          <p:cNvSpPr txBox="1"/>
          <p:nvPr/>
        </p:nvSpPr>
        <p:spPr>
          <a:xfrm>
            <a:off x="6256900" y="2589375"/>
            <a:ext cx="212400" cy="20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w</a:t>
            </a:r>
            <a:endParaRPr/>
          </a:p>
        </p:txBody>
      </p:sp>
      <p:sp>
        <p:nvSpPr>
          <p:cNvPr id="1029" name="Google Shape;1029;p49"/>
          <p:cNvSpPr txBox="1"/>
          <p:nvPr/>
        </p:nvSpPr>
        <p:spPr>
          <a:xfrm>
            <a:off x="6559950" y="3513056"/>
            <a:ext cx="212400" cy="20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l</a:t>
            </a:r>
            <a:endParaRPr/>
          </a:p>
        </p:txBody>
      </p:sp>
      <p:sp>
        <p:nvSpPr>
          <p:cNvPr id="1030" name="Google Shape;1030;p49"/>
          <p:cNvSpPr txBox="1"/>
          <p:nvPr/>
        </p:nvSpPr>
        <p:spPr>
          <a:xfrm>
            <a:off x="284200" y="1480050"/>
            <a:ext cx="5044500" cy="22521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600" b="1">
                <a:solidFill>
                  <a:srgbClr val="661111"/>
                </a:solidFill>
                <a:highlight>
                  <a:srgbClr val="EFEFEF"/>
                </a:highlight>
                <a:latin typeface="Consolas"/>
                <a:ea typeface="Consolas"/>
                <a:cs typeface="Consolas"/>
                <a:sym typeface="Consolas"/>
              </a:rPr>
              <a:t>private static class</a:t>
            </a:r>
            <a:r>
              <a:rPr lang="en" sz="1600">
                <a:solidFill>
                  <a:schemeClr val="dk1"/>
                </a:solidFill>
                <a:highlight>
                  <a:srgbClr val="EFEFEF"/>
                </a:highlight>
                <a:latin typeface="Consolas"/>
                <a:ea typeface="Consolas"/>
                <a:cs typeface="Consolas"/>
                <a:sym typeface="Consolas"/>
              </a:rPr>
              <a:t> Node </a:t>
            </a:r>
            <a:r>
              <a:rPr lang="en" sz="1600" b="1">
                <a:solidFill>
                  <a:schemeClr val="dk1"/>
                </a:solidFill>
                <a:highlight>
                  <a:srgbClr val="EFEFEF"/>
                </a:highlight>
                <a:latin typeface="Consolas"/>
                <a:ea typeface="Consolas"/>
                <a:cs typeface="Consolas"/>
                <a:sym typeface="Consolas"/>
              </a:rPr>
              <a:t>{</a:t>
            </a:r>
            <a:endParaRPr sz="1600" b="1">
              <a:solidFill>
                <a:schemeClr val="dk1"/>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private </a:t>
            </a:r>
            <a:r>
              <a:rPr lang="en" sz="1600" b="1">
                <a:solidFill>
                  <a:srgbClr val="000066"/>
                </a:solidFill>
                <a:highlight>
                  <a:srgbClr val="EFEFEF"/>
                </a:highlight>
                <a:latin typeface="Consolas"/>
                <a:ea typeface="Consolas"/>
                <a:cs typeface="Consolas"/>
                <a:sym typeface="Consolas"/>
              </a:rPr>
              <a:t>boolean</a:t>
            </a:r>
            <a:r>
              <a:rPr lang="en" sz="1600">
                <a:solidFill>
                  <a:schemeClr val="dk1"/>
                </a:solidFill>
                <a:highlight>
                  <a:srgbClr val="EFEFEF"/>
                </a:highlight>
                <a:latin typeface="Consolas"/>
                <a:ea typeface="Consolas"/>
                <a:cs typeface="Consolas"/>
                <a:sym typeface="Consolas"/>
              </a:rPr>
              <a:t> isKey</a:t>
            </a:r>
            <a:r>
              <a:rPr lang="en" sz="1600" b="1">
                <a:solidFill>
                  <a:schemeClr val="dk1"/>
                </a:solidFill>
                <a:highlight>
                  <a:srgbClr val="EFEFEF"/>
                </a:highlight>
                <a:latin typeface="Consolas"/>
                <a:ea typeface="Consolas"/>
                <a:cs typeface="Consolas"/>
                <a:sym typeface="Consolas"/>
              </a:rPr>
              <a:t>;   </a:t>
            </a:r>
            <a:endParaRPr sz="1600" b="1">
              <a:solidFill>
                <a:schemeClr val="dk1"/>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private </a:t>
            </a:r>
            <a:r>
              <a:rPr lang="en" sz="1600">
                <a:solidFill>
                  <a:schemeClr val="dk1"/>
                </a:solidFill>
                <a:highlight>
                  <a:srgbClr val="EFEFEF"/>
                </a:highlight>
                <a:latin typeface="Consolas"/>
                <a:ea typeface="Consolas"/>
                <a:cs typeface="Consolas"/>
                <a:sym typeface="Consolas"/>
              </a:rPr>
              <a:t>DataIndexedCharMap&lt;Node&gt; next</a:t>
            </a:r>
            <a:r>
              <a:rPr lang="en" sz="1600" b="1">
                <a:solidFill>
                  <a:schemeClr val="dk1"/>
                </a:solidFill>
                <a:highlight>
                  <a:srgbClr val="EFEFEF"/>
                </a:highlight>
                <a:latin typeface="Consolas"/>
                <a:ea typeface="Consolas"/>
                <a:cs typeface="Consolas"/>
                <a:sym typeface="Consolas"/>
              </a:rPr>
              <a:t>;</a:t>
            </a:r>
            <a:endParaRPr sz="1600" b="1">
              <a:solidFill>
                <a:schemeClr val="dk1"/>
              </a:solidFill>
              <a:highlight>
                <a:srgbClr val="EFEFEF"/>
              </a:highlight>
              <a:latin typeface="Consolas"/>
              <a:ea typeface="Consolas"/>
              <a:cs typeface="Consolas"/>
              <a:sym typeface="Consolas"/>
            </a:endParaRPr>
          </a:p>
          <a:p>
            <a:pPr marL="0" lvl="0" indent="0" algn="l" rtl="0">
              <a:spcBef>
                <a:spcPts val="0"/>
              </a:spcBef>
              <a:spcAft>
                <a:spcPts val="0"/>
              </a:spcAft>
              <a:buNone/>
            </a:pPr>
            <a:endParaRPr sz="1600">
              <a:solidFill>
                <a:schemeClr val="dk1"/>
              </a:solidFill>
              <a:highlight>
                <a:srgbClr val="EFEFEF"/>
              </a:highlight>
              <a:latin typeface="Consolas"/>
              <a:ea typeface="Consolas"/>
              <a:cs typeface="Consolas"/>
              <a:sym typeface="Consolas"/>
            </a:endParaRPr>
          </a:p>
          <a:p>
            <a:pPr marL="0" lvl="0" indent="0" algn="l" rtl="0">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private </a:t>
            </a:r>
            <a:r>
              <a:rPr lang="en" sz="1600">
                <a:solidFill>
                  <a:srgbClr val="004466"/>
                </a:solidFill>
                <a:highlight>
                  <a:srgbClr val="EFEFEF"/>
                </a:highlight>
                <a:latin typeface="Consolas"/>
                <a:ea typeface="Consolas"/>
                <a:cs typeface="Consolas"/>
                <a:sym typeface="Consolas"/>
              </a:rPr>
              <a:t>Node</a:t>
            </a:r>
            <a:r>
              <a:rPr lang="en" sz="1600" b="1">
                <a:solidFill>
                  <a:schemeClr val="dk1"/>
                </a:solidFill>
                <a:highlight>
                  <a:srgbClr val="EFEFEF"/>
                </a:highlight>
                <a:latin typeface="Consolas"/>
                <a:ea typeface="Consolas"/>
                <a:cs typeface="Consolas"/>
                <a:sym typeface="Consolas"/>
              </a:rPr>
              <a:t>(</a:t>
            </a:r>
            <a:r>
              <a:rPr lang="en" sz="1600" b="1">
                <a:solidFill>
                  <a:srgbClr val="000066"/>
                </a:solidFill>
                <a:highlight>
                  <a:srgbClr val="EFEFEF"/>
                </a:highlight>
                <a:latin typeface="Consolas"/>
                <a:ea typeface="Consolas"/>
                <a:cs typeface="Consolas"/>
                <a:sym typeface="Consolas"/>
              </a:rPr>
              <a:t>char</a:t>
            </a:r>
            <a:r>
              <a:rPr lang="en" sz="1600">
                <a:solidFill>
                  <a:schemeClr val="dk1"/>
                </a:solidFill>
                <a:highlight>
                  <a:srgbClr val="EFEFEF"/>
                </a:highlight>
                <a:latin typeface="Consolas"/>
                <a:ea typeface="Consolas"/>
                <a:cs typeface="Consolas"/>
                <a:sym typeface="Consolas"/>
              </a:rPr>
              <a:t> c</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b="1">
                <a:solidFill>
                  <a:srgbClr val="000066"/>
                </a:solidFill>
                <a:highlight>
                  <a:srgbClr val="EFEFEF"/>
                </a:highlight>
                <a:latin typeface="Consolas"/>
                <a:ea typeface="Consolas"/>
                <a:cs typeface="Consolas"/>
                <a:sym typeface="Consolas"/>
              </a:rPr>
              <a:t>boolean</a:t>
            </a:r>
            <a:r>
              <a:rPr lang="en" sz="1600">
                <a:solidFill>
                  <a:schemeClr val="dk1"/>
                </a:solidFill>
                <a:highlight>
                  <a:srgbClr val="EFEFEF"/>
                </a:highlight>
                <a:latin typeface="Consolas"/>
                <a:ea typeface="Consolas"/>
                <a:cs typeface="Consolas"/>
                <a:sym typeface="Consolas"/>
              </a:rPr>
              <a:t> b</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b="1">
                <a:solidFill>
                  <a:srgbClr val="000066"/>
                </a:solidFill>
                <a:highlight>
                  <a:srgbClr val="EFEFEF"/>
                </a:highlight>
                <a:latin typeface="Consolas"/>
                <a:ea typeface="Consolas"/>
                <a:cs typeface="Consolas"/>
                <a:sym typeface="Consolas"/>
              </a:rPr>
              <a:t>int</a:t>
            </a:r>
            <a:r>
              <a:rPr lang="en" sz="1600">
                <a:solidFill>
                  <a:schemeClr val="dk1"/>
                </a:solidFill>
                <a:highlight>
                  <a:srgbClr val="EFEFEF"/>
                </a:highlight>
                <a:latin typeface="Consolas"/>
                <a:ea typeface="Consolas"/>
                <a:cs typeface="Consolas"/>
                <a:sym typeface="Consolas"/>
              </a:rPr>
              <a:t> R</a:t>
            </a:r>
            <a:r>
              <a:rPr lang="en" sz="1600" b="1">
                <a:solidFill>
                  <a:schemeClr val="dk1"/>
                </a:solidFill>
                <a:highlight>
                  <a:srgbClr val="EFEFEF"/>
                </a:highlight>
                <a:latin typeface="Consolas"/>
                <a:ea typeface="Consolas"/>
                <a:cs typeface="Consolas"/>
                <a:sym typeface="Consolas"/>
              </a:rPr>
              <a:t>) {</a:t>
            </a:r>
            <a:endParaRPr sz="1600" b="1">
              <a:solidFill>
                <a:schemeClr val="dk1"/>
              </a:solidFill>
              <a:highlight>
                <a:srgbClr val="EFEFEF"/>
              </a:highlight>
              <a:latin typeface="Consolas"/>
              <a:ea typeface="Consolas"/>
              <a:cs typeface="Consolas"/>
              <a:sym typeface="Consolas"/>
            </a:endParaRPr>
          </a:p>
          <a:p>
            <a:pPr marL="0" lvl="0" indent="0" algn="l" rtl="0">
              <a:spcBef>
                <a:spcPts val="0"/>
              </a:spcBef>
              <a:spcAft>
                <a:spcPts val="0"/>
              </a:spcAft>
              <a:buNone/>
            </a:pPr>
            <a:r>
              <a:rPr lang="en" sz="1600">
                <a:solidFill>
                  <a:schemeClr val="dk1"/>
                </a:solidFill>
                <a:highlight>
                  <a:srgbClr val="EFEFEF"/>
                </a:highlight>
                <a:latin typeface="Consolas"/>
                <a:ea typeface="Consolas"/>
                <a:cs typeface="Consolas"/>
                <a:sym typeface="Consolas"/>
              </a:rPr>
              <a:t>    ch </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c</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isKey</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b</a:t>
            </a:r>
            <a:r>
              <a:rPr lang="en" sz="1600" b="1">
                <a:solidFill>
                  <a:schemeClr val="dk1"/>
                </a:solidFill>
                <a:highlight>
                  <a:srgbClr val="EFEFEF"/>
                </a:highlight>
                <a:latin typeface="Consolas"/>
                <a:ea typeface="Consolas"/>
                <a:cs typeface="Consolas"/>
                <a:sym typeface="Consolas"/>
              </a:rPr>
              <a:t>;</a:t>
            </a:r>
            <a:endParaRPr sz="1600" b="1">
              <a:solidFill>
                <a:schemeClr val="dk1"/>
              </a:solidFill>
              <a:highlight>
                <a:srgbClr val="EFEFEF"/>
              </a:highlight>
              <a:latin typeface="Consolas"/>
              <a:ea typeface="Consolas"/>
              <a:cs typeface="Consolas"/>
              <a:sym typeface="Consolas"/>
            </a:endParaRPr>
          </a:p>
          <a:p>
            <a:pPr marL="0" lvl="0" indent="0" algn="l" rtl="0">
              <a:spcBef>
                <a:spcPts val="0"/>
              </a:spcBef>
              <a:spcAft>
                <a:spcPts val="0"/>
              </a:spcAft>
              <a:buNone/>
            </a:pPr>
            <a:r>
              <a:rPr lang="en" sz="1600">
                <a:solidFill>
                  <a:schemeClr val="dk1"/>
                </a:solidFill>
                <a:highlight>
                  <a:srgbClr val="EFEFEF"/>
                </a:highlight>
                <a:latin typeface="Consolas"/>
                <a:ea typeface="Consolas"/>
                <a:cs typeface="Consolas"/>
                <a:sym typeface="Consolas"/>
              </a:rPr>
              <a:t>    next </a:t>
            </a:r>
            <a:r>
              <a:rPr lang="en" sz="1600" b="1">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b="1">
                <a:solidFill>
                  <a:srgbClr val="661111"/>
                </a:solidFill>
                <a:highlight>
                  <a:srgbClr val="EFEFEF"/>
                </a:highlight>
                <a:latin typeface="Consolas"/>
                <a:ea typeface="Consolas"/>
                <a:cs typeface="Consolas"/>
                <a:sym typeface="Consolas"/>
              </a:rPr>
              <a:t>new</a:t>
            </a:r>
            <a:r>
              <a:rPr lang="en" sz="1600">
                <a:solidFill>
                  <a:schemeClr val="dk1"/>
                </a:solidFill>
                <a:highlight>
                  <a:srgbClr val="EFEFEF"/>
                </a:highlight>
                <a:latin typeface="Consolas"/>
                <a:ea typeface="Consolas"/>
                <a:cs typeface="Consolas"/>
                <a:sym typeface="Consolas"/>
              </a:rPr>
              <a:t> DataIndexedCharMap</a:t>
            </a:r>
            <a:r>
              <a:rPr lang="en" sz="1600" b="1">
                <a:solidFill>
                  <a:schemeClr val="dk1"/>
                </a:solidFill>
                <a:highlight>
                  <a:srgbClr val="EFEFEF"/>
                </a:highlight>
                <a:latin typeface="Consolas"/>
                <a:ea typeface="Consolas"/>
                <a:cs typeface="Consolas"/>
                <a:sym typeface="Consolas"/>
              </a:rPr>
              <a:t>&lt;&gt;(</a:t>
            </a:r>
            <a:r>
              <a:rPr lang="en" sz="1600">
                <a:solidFill>
                  <a:schemeClr val="dk1"/>
                </a:solidFill>
                <a:highlight>
                  <a:srgbClr val="EFEFEF"/>
                </a:highlight>
                <a:latin typeface="Consolas"/>
                <a:ea typeface="Consolas"/>
                <a:cs typeface="Consolas"/>
                <a:sym typeface="Consolas"/>
              </a:rPr>
              <a:t>R</a:t>
            </a:r>
            <a:r>
              <a:rPr lang="en" sz="1600" b="1">
                <a:solidFill>
                  <a:schemeClr val="dk1"/>
                </a:solidFill>
                <a:highlight>
                  <a:srgbClr val="EFEFEF"/>
                </a:highlight>
                <a:latin typeface="Consolas"/>
                <a:ea typeface="Consolas"/>
                <a:cs typeface="Consolas"/>
                <a:sym typeface="Consolas"/>
              </a:rPr>
              <a:t>);</a:t>
            </a:r>
            <a:endParaRPr sz="1600" b="1">
              <a:solidFill>
                <a:schemeClr val="dk1"/>
              </a:solidFill>
              <a:highlight>
                <a:srgbClr val="EFEFEF"/>
              </a:highlight>
              <a:latin typeface="Consolas"/>
              <a:ea typeface="Consolas"/>
              <a:cs typeface="Consolas"/>
              <a:sym typeface="Consolas"/>
            </a:endParaRPr>
          </a:p>
          <a:p>
            <a:pPr marL="0" lvl="0" indent="0" algn="l" rtl="0">
              <a:spcBef>
                <a:spcPts val="0"/>
              </a:spcBef>
              <a:spcAft>
                <a:spcPts val="0"/>
              </a:spcAft>
              <a:buNone/>
            </a:pPr>
            <a:r>
              <a:rPr lang="en" sz="1600" b="1">
                <a:solidFill>
                  <a:schemeClr val="dk1"/>
                </a:solidFill>
                <a:highlight>
                  <a:srgbClr val="EFEFEF"/>
                </a:highlight>
                <a:latin typeface="Consolas"/>
                <a:ea typeface="Consolas"/>
                <a:cs typeface="Consolas"/>
                <a:sym typeface="Consolas"/>
              </a:rPr>
              <a:t>}</a:t>
            </a:r>
            <a:endParaRPr sz="1600">
              <a:solidFill>
                <a:schemeClr val="dk1"/>
              </a:solidFill>
              <a:highlight>
                <a:srgbClr val="EFEFEF"/>
              </a:highlight>
              <a:latin typeface="Consolas"/>
              <a:ea typeface="Consolas"/>
              <a:cs typeface="Consolas"/>
              <a:sym typeface="Consolas"/>
            </a:endParaRPr>
          </a:p>
          <a:p>
            <a:pPr marL="0" lvl="0" indent="0" algn="l" rtl="0">
              <a:lnSpc>
                <a:spcPct val="100000"/>
              </a:lnSpc>
              <a:spcBef>
                <a:spcPts val="0"/>
              </a:spcBef>
              <a:spcAft>
                <a:spcPts val="0"/>
              </a:spcAft>
              <a:buNone/>
            </a:pPr>
            <a:endParaRPr sz="1600" b="1">
              <a:solidFill>
                <a:srgbClr val="661111"/>
              </a:solidFill>
              <a:highlight>
                <a:srgbClr val="EFEFEF"/>
              </a:highlight>
              <a:latin typeface="Consolas"/>
              <a:ea typeface="Consolas"/>
              <a:cs typeface="Consolas"/>
              <a:sym typeface="Consolas"/>
            </a:endParaRPr>
          </a:p>
        </p:txBody>
      </p:sp>
      <p:pic>
        <p:nvPicPr>
          <p:cNvPr id="1031" name="Google Shape;1031;p49"/>
          <p:cNvPicPr preferRelativeResize="0"/>
          <p:nvPr/>
        </p:nvPicPr>
        <p:blipFill>
          <a:blip r:embed="rId3">
            <a:alphaModFix/>
          </a:blip>
          <a:stretch>
            <a:fillRect/>
          </a:stretch>
        </p:blipFill>
        <p:spPr>
          <a:xfrm>
            <a:off x="645650" y="3987121"/>
            <a:ext cx="4418717" cy="9549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35"/>
        <p:cNvGrpSpPr/>
        <p:nvPr/>
      </p:nvGrpSpPr>
      <p:grpSpPr>
        <a:xfrm>
          <a:off x="0" y="0"/>
          <a:ext cx="0" cy="0"/>
          <a:chOff x="0" y="0"/>
          <a:chExt cx="0" cy="0"/>
        </a:xfrm>
      </p:grpSpPr>
      <p:sp>
        <p:nvSpPr>
          <p:cNvPr id="1036" name="Google Shape;1036;p5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The DataIndexedCharMap Trie</a:t>
            </a:r>
            <a:endParaRPr/>
          </a:p>
        </p:txBody>
      </p:sp>
      <p:sp>
        <p:nvSpPr>
          <p:cNvPr id="1037" name="Google Shape;1037;p50"/>
          <p:cNvSpPr txBox="1">
            <a:spLocks noGrp="1"/>
          </p:cNvSpPr>
          <p:nvPr>
            <p:ph type="body" idx="1"/>
          </p:nvPr>
        </p:nvSpPr>
        <p:spPr>
          <a:xfrm>
            <a:off x="106225" y="2915150"/>
            <a:ext cx="3450600" cy="2009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Can use ANY kind of map from character to node, e.g.</a:t>
            </a:r>
            <a:endParaRPr/>
          </a:p>
          <a:p>
            <a:pPr marL="457200" lvl="0" indent="-342900" algn="l" rtl="0">
              <a:spcBef>
                <a:spcPts val="600"/>
              </a:spcBef>
              <a:spcAft>
                <a:spcPts val="0"/>
              </a:spcAft>
              <a:buSzPts val="1800"/>
              <a:buChar char="●"/>
            </a:pPr>
            <a:r>
              <a:rPr lang="en"/>
              <a:t>BST</a:t>
            </a:r>
            <a:endParaRPr/>
          </a:p>
          <a:p>
            <a:pPr marL="457200" lvl="0" indent="-342900" algn="l" rtl="0">
              <a:spcBef>
                <a:spcPts val="600"/>
              </a:spcBef>
              <a:spcAft>
                <a:spcPts val="0"/>
              </a:spcAft>
              <a:buSzPts val="1800"/>
              <a:buChar char="●"/>
            </a:pPr>
            <a:r>
              <a:rPr lang="en"/>
              <a:t>Hash Table</a:t>
            </a:r>
            <a:endParaRPr/>
          </a:p>
        </p:txBody>
      </p:sp>
      <p:sp>
        <p:nvSpPr>
          <p:cNvPr id="1038" name="Google Shape;1038;p50"/>
          <p:cNvSpPr/>
          <p:nvPr/>
        </p:nvSpPr>
        <p:spPr>
          <a:xfrm>
            <a:off x="5024447" y="795972"/>
            <a:ext cx="2626200" cy="13281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50"/>
          <p:cNvSpPr txBox="1"/>
          <p:nvPr/>
        </p:nvSpPr>
        <p:spPr>
          <a:xfrm>
            <a:off x="5732605" y="850550"/>
            <a:ext cx="828000" cy="31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isKey:</a:t>
            </a:r>
            <a:endParaRPr/>
          </a:p>
        </p:txBody>
      </p:sp>
      <p:graphicFrame>
        <p:nvGraphicFramePr>
          <p:cNvPr id="1040" name="Google Shape;1040;p50"/>
          <p:cNvGraphicFramePr/>
          <p:nvPr/>
        </p:nvGraphicFramePr>
        <p:xfrm>
          <a:off x="5241211" y="1398803"/>
          <a:ext cx="3000000" cy="3000000"/>
        </p:xfrm>
        <a:graphic>
          <a:graphicData uri="http://schemas.openxmlformats.org/drawingml/2006/table">
            <a:tbl>
              <a:tblPr>
                <a:noFill/>
                <a:tableStyleId>{BC467F25-A352-40E9-8C40-E7B4C2D9D289}</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tblGrid>
              <a:tr h="381000">
                <a:tc>
                  <a:txBody>
                    <a:bodyPr/>
                    <a:lstStyle/>
                    <a:p>
                      <a:pPr marL="0" lvl="0" indent="0" algn="l" rtl="0">
                        <a:spcBef>
                          <a:spcPts val="0"/>
                        </a:spcBef>
                        <a:spcAft>
                          <a:spcPts val="0"/>
                        </a:spcAft>
                        <a:buNone/>
                      </a:pPr>
                      <a:endParaRPr/>
                    </a:p>
                  </a:txBody>
                  <a:tcPr marL="91425" marR="91425" marT="91425" marB="91425">
                    <a:solidFill>
                      <a:srgbClr val="F3F3F3"/>
                    </a:solidFill>
                  </a:tcPr>
                </a:tc>
                <a:tc>
                  <a:txBody>
                    <a:bodyPr/>
                    <a:lstStyle/>
                    <a:p>
                      <a:pPr marL="0" lvl="0" indent="0" algn="l" rtl="0">
                        <a:spcBef>
                          <a:spcPts val="0"/>
                        </a:spcBef>
                        <a:spcAft>
                          <a:spcPts val="0"/>
                        </a:spcAft>
                        <a:buNone/>
                      </a:pPr>
                      <a:endParaRPr/>
                    </a:p>
                  </a:txBody>
                  <a:tcPr marL="91425" marR="91425" marT="91425" marB="91425">
                    <a:solidFill>
                      <a:srgbClr val="D9D2E9"/>
                    </a:solidFill>
                  </a:tcPr>
                </a:tc>
                <a:tc>
                  <a:txBody>
                    <a:bodyPr/>
                    <a:lstStyle/>
                    <a:p>
                      <a:pPr marL="0" lvl="0" indent="0" algn="l" rtl="0">
                        <a:spcBef>
                          <a:spcPts val="0"/>
                        </a:spcBef>
                        <a:spcAft>
                          <a:spcPts val="0"/>
                        </a:spcAft>
                        <a:buNone/>
                      </a:pPr>
                      <a:endParaRPr/>
                    </a:p>
                  </a:txBody>
                  <a:tcPr marL="91425" marR="91425" marT="91425" marB="91425">
                    <a:solidFill>
                      <a:srgbClr val="FFFFFF"/>
                    </a:solidFill>
                  </a:tcPr>
                </a:tc>
                <a:tc>
                  <a:txBody>
                    <a:bodyPr/>
                    <a:lstStyle/>
                    <a:p>
                      <a:pPr marL="0" lvl="0" indent="0" algn="l" rtl="0">
                        <a:spcBef>
                          <a:spcPts val="0"/>
                        </a:spcBef>
                        <a:spcAft>
                          <a:spcPts val="0"/>
                        </a:spcAft>
                        <a:buNone/>
                      </a:pPr>
                      <a:endParaRPr/>
                    </a:p>
                  </a:txBody>
                  <a:tcPr marL="91425" marR="91425" marT="91425" marB="91425">
                    <a:solidFill>
                      <a:srgbClr val="D9D2E9"/>
                    </a:solidFill>
                  </a:tcPr>
                </a:tc>
                <a:tc>
                  <a:txBody>
                    <a:bodyPr/>
                    <a:lstStyle/>
                    <a:p>
                      <a:pPr marL="0" lvl="0" indent="0" algn="l" rtl="0">
                        <a:spcBef>
                          <a:spcPts val="0"/>
                        </a:spcBef>
                        <a:spcAft>
                          <a:spcPts val="0"/>
                        </a:spcAft>
                        <a:buNone/>
                      </a:pPr>
                      <a:endParaRPr/>
                    </a:p>
                  </a:txBody>
                  <a:tcPr marL="91425" marR="91425" marT="91425" marB="91425">
                    <a:solidFill>
                      <a:srgbClr val="FFFFFF"/>
                    </a:solidFill>
                  </a:tcPr>
                </a:tc>
                <a:tc>
                  <a:txBody>
                    <a:bodyPr/>
                    <a:lstStyle/>
                    <a:p>
                      <a:pPr marL="0" lvl="0" indent="0" algn="l" rtl="0">
                        <a:spcBef>
                          <a:spcPts val="0"/>
                        </a:spcBef>
                        <a:spcAft>
                          <a:spcPts val="0"/>
                        </a:spcAft>
                        <a:buNone/>
                      </a:pPr>
                      <a:endParaRPr/>
                    </a:p>
                  </a:txBody>
                  <a:tcPr marL="91425" marR="91425" marT="91425" marB="91425">
                    <a:solidFill>
                      <a:srgbClr val="FFFFFF"/>
                    </a:solidFill>
                  </a:tcPr>
                </a:tc>
                <a:extLst>
                  <a:ext uri="{0D108BD9-81ED-4DB2-BD59-A6C34878D82A}">
                    <a16:rowId xmlns:a16="http://schemas.microsoft.com/office/drawing/2014/main" val="10000"/>
                  </a:ext>
                </a:extLst>
              </a:tr>
            </a:tbl>
          </a:graphicData>
        </a:graphic>
      </p:graphicFrame>
      <p:sp>
        <p:nvSpPr>
          <p:cNvPr id="1041" name="Google Shape;1041;p50"/>
          <p:cNvSpPr txBox="1"/>
          <p:nvPr/>
        </p:nvSpPr>
        <p:spPr>
          <a:xfrm>
            <a:off x="5035258" y="1068417"/>
            <a:ext cx="980700" cy="31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links:</a:t>
            </a:r>
            <a:endParaRPr/>
          </a:p>
        </p:txBody>
      </p:sp>
      <p:graphicFrame>
        <p:nvGraphicFramePr>
          <p:cNvPr id="1042" name="Google Shape;1042;p50"/>
          <p:cNvGraphicFramePr/>
          <p:nvPr/>
        </p:nvGraphicFramePr>
        <p:xfrm>
          <a:off x="6375055" y="858550"/>
          <a:ext cx="3000000" cy="3000000"/>
        </p:xfrm>
        <a:graphic>
          <a:graphicData uri="http://schemas.openxmlformats.org/drawingml/2006/table">
            <a:tbl>
              <a:tblPr>
                <a:noFill/>
                <a:tableStyleId>{BC467F25-A352-40E9-8C40-E7B4C2D9D289}</a:tableStyleId>
              </a:tblPr>
              <a:tblGrid>
                <a:gridCol w="382850">
                  <a:extLst>
                    <a:ext uri="{9D8B030D-6E8A-4147-A177-3AD203B41FA5}">
                      <a16:colId xmlns:a16="http://schemas.microsoft.com/office/drawing/2014/main" val="20000"/>
                    </a:ext>
                  </a:extLst>
                </a:gridCol>
              </a:tblGrid>
              <a:tr h="355200">
                <a:tc>
                  <a:txBody>
                    <a:bodyPr/>
                    <a:lstStyle/>
                    <a:p>
                      <a:pPr marL="0" lvl="0" indent="0" algn="ctr" rtl="0">
                        <a:spcBef>
                          <a:spcPts val="0"/>
                        </a:spcBef>
                        <a:spcAft>
                          <a:spcPts val="0"/>
                        </a:spcAft>
                        <a:buNone/>
                      </a:pPr>
                      <a:r>
                        <a:rPr lang="en"/>
                        <a:t>F</a:t>
                      </a:r>
                      <a:endParaRPr/>
                    </a:p>
                  </a:txBody>
                  <a:tcPr marL="91425" marR="91425" marT="91425" marB="91425">
                    <a:solidFill>
                      <a:srgbClr val="FFFFFF"/>
                    </a:solidFill>
                  </a:tcPr>
                </a:tc>
                <a:extLst>
                  <a:ext uri="{0D108BD9-81ED-4DB2-BD59-A6C34878D82A}">
                    <a16:rowId xmlns:a16="http://schemas.microsoft.com/office/drawing/2014/main" val="10000"/>
                  </a:ext>
                </a:extLst>
              </a:tr>
            </a:tbl>
          </a:graphicData>
        </a:graphic>
      </p:graphicFrame>
      <p:sp>
        <p:nvSpPr>
          <p:cNvPr id="1043" name="Google Shape;1043;p50"/>
          <p:cNvSpPr txBox="1"/>
          <p:nvPr/>
        </p:nvSpPr>
        <p:spPr>
          <a:xfrm>
            <a:off x="5231411" y="1744203"/>
            <a:ext cx="468600" cy="22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1044" name="Google Shape;1044;p50"/>
          <p:cNvSpPr txBox="1"/>
          <p:nvPr/>
        </p:nvSpPr>
        <p:spPr>
          <a:xfrm>
            <a:off x="5597257" y="1724211"/>
            <a:ext cx="468600" cy="22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97</a:t>
            </a:r>
            <a:endParaRPr/>
          </a:p>
        </p:txBody>
      </p:sp>
      <p:sp>
        <p:nvSpPr>
          <p:cNvPr id="1045" name="Google Shape;1045;p50"/>
          <p:cNvSpPr txBox="1"/>
          <p:nvPr/>
        </p:nvSpPr>
        <p:spPr>
          <a:xfrm>
            <a:off x="5965846" y="1724211"/>
            <a:ext cx="468600" cy="22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98</a:t>
            </a:r>
            <a:endParaRPr/>
          </a:p>
        </p:txBody>
      </p:sp>
      <p:sp>
        <p:nvSpPr>
          <p:cNvPr id="1046" name="Google Shape;1046;p50"/>
          <p:cNvSpPr txBox="1"/>
          <p:nvPr/>
        </p:nvSpPr>
        <p:spPr>
          <a:xfrm>
            <a:off x="6703027" y="1724211"/>
            <a:ext cx="573600" cy="22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100</a:t>
            </a:r>
            <a:endParaRPr/>
          </a:p>
        </p:txBody>
      </p:sp>
      <p:sp>
        <p:nvSpPr>
          <p:cNvPr id="1047" name="Google Shape;1047;p50"/>
          <p:cNvSpPr txBox="1"/>
          <p:nvPr/>
        </p:nvSpPr>
        <p:spPr>
          <a:xfrm>
            <a:off x="6334437" y="1724211"/>
            <a:ext cx="468600" cy="22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99</a:t>
            </a:r>
            <a:endParaRPr/>
          </a:p>
        </p:txBody>
      </p:sp>
      <p:sp>
        <p:nvSpPr>
          <p:cNvPr id="1048" name="Google Shape;1048;p50"/>
          <p:cNvSpPr txBox="1"/>
          <p:nvPr/>
        </p:nvSpPr>
        <p:spPr>
          <a:xfrm>
            <a:off x="7176616" y="1724211"/>
            <a:ext cx="468600" cy="22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1049" name="Google Shape;1049;p50"/>
          <p:cNvSpPr/>
          <p:nvPr/>
        </p:nvSpPr>
        <p:spPr>
          <a:xfrm>
            <a:off x="3708247" y="2274497"/>
            <a:ext cx="2626200" cy="13281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50"/>
          <p:cNvSpPr txBox="1"/>
          <p:nvPr/>
        </p:nvSpPr>
        <p:spPr>
          <a:xfrm>
            <a:off x="4416405" y="2329075"/>
            <a:ext cx="828000" cy="31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isKey</a:t>
            </a:r>
            <a:r>
              <a:rPr lang="en"/>
              <a:t>:</a:t>
            </a:r>
            <a:endParaRPr/>
          </a:p>
        </p:txBody>
      </p:sp>
      <p:graphicFrame>
        <p:nvGraphicFramePr>
          <p:cNvPr id="1051" name="Google Shape;1051;p50"/>
          <p:cNvGraphicFramePr/>
          <p:nvPr/>
        </p:nvGraphicFramePr>
        <p:xfrm>
          <a:off x="3925011" y="2877327"/>
          <a:ext cx="3000000" cy="3000000"/>
        </p:xfrm>
        <a:graphic>
          <a:graphicData uri="http://schemas.openxmlformats.org/drawingml/2006/table">
            <a:tbl>
              <a:tblPr>
                <a:noFill/>
                <a:tableStyleId>{BC467F25-A352-40E9-8C40-E7B4C2D9D289}</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tblGrid>
              <a:tr h="381000">
                <a:tc>
                  <a:txBody>
                    <a:bodyPr/>
                    <a:lstStyle/>
                    <a:p>
                      <a:pPr marL="0" lvl="0" indent="0" algn="l" rtl="0">
                        <a:spcBef>
                          <a:spcPts val="0"/>
                        </a:spcBef>
                        <a:spcAft>
                          <a:spcPts val="0"/>
                        </a:spcAft>
                        <a:buNone/>
                      </a:pPr>
                      <a:endParaRPr/>
                    </a:p>
                  </a:txBody>
                  <a:tcPr marL="91425" marR="91425" marT="91425" marB="91425">
                    <a:solidFill>
                      <a:srgbClr val="FFFFFF"/>
                    </a:solidFill>
                  </a:tcPr>
                </a:tc>
                <a:tc>
                  <a:txBody>
                    <a:bodyPr/>
                    <a:lstStyle/>
                    <a:p>
                      <a:pPr marL="0" lvl="0" indent="0" algn="l" rtl="0">
                        <a:spcBef>
                          <a:spcPts val="0"/>
                        </a:spcBef>
                        <a:spcAft>
                          <a:spcPts val="0"/>
                        </a:spcAft>
                        <a:buNone/>
                      </a:pPr>
                      <a:endParaRPr/>
                    </a:p>
                  </a:txBody>
                  <a:tcPr marL="91425" marR="91425" marT="91425" marB="91425">
                    <a:solidFill>
                      <a:srgbClr val="FFFFFF"/>
                    </a:solidFill>
                  </a:tcPr>
                </a:tc>
                <a:tc>
                  <a:txBody>
                    <a:bodyPr/>
                    <a:lstStyle/>
                    <a:p>
                      <a:pPr marL="0" lvl="0" indent="0" algn="l" rtl="0">
                        <a:spcBef>
                          <a:spcPts val="0"/>
                        </a:spcBef>
                        <a:spcAft>
                          <a:spcPts val="0"/>
                        </a:spcAft>
                        <a:buNone/>
                      </a:pPr>
                      <a:endParaRPr/>
                    </a:p>
                  </a:txBody>
                  <a:tcPr marL="91425" marR="91425" marT="91425" marB="91425">
                    <a:solidFill>
                      <a:srgbClr val="FFFFFF"/>
                    </a:solidFill>
                  </a:tcPr>
                </a:tc>
                <a:tc>
                  <a:txBody>
                    <a:bodyPr/>
                    <a:lstStyle/>
                    <a:p>
                      <a:pPr marL="0" lvl="0" indent="0" algn="l" rtl="0">
                        <a:spcBef>
                          <a:spcPts val="0"/>
                        </a:spcBef>
                        <a:spcAft>
                          <a:spcPts val="0"/>
                        </a:spcAft>
                        <a:buNone/>
                      </a:pPr>
                      <a:endParaRPr/>
                    </a:p>
                  </a:txBody>
                  <a:tcPr marL="91425" marR="91425" marT="91425" marB="91425">
                    <a:solidFill>
                      <a:srgbClr val="FFFFFF"/>
                    </a:solidFill>
                  </a:tcPr>
                </a:tc>
                <a:tc>
                  <a:txBody>
                    <a:bodyPr/>
                    <a:lstStyle/>
                    <a:p>
                      <a:pPr marL="0" lvl="0" indent="0" algn="l" rtl="0">
                        <a:spcBef>
                          <a:spcPts val="0"/>
                        </a:spcBef>
                        <a:spcAft>
                          <a:spcPts val="0"/>
                        </a:spcAft>
                        <a:buNone/>
                      </a:pPr>
                      <a:endParaRPr/>
                    </a:p>
                  </a:txBody>
                  <a:tcPr marL="91425" marR="91425" marT="91425" marB="91425">
                    <a:solidFill>
                      <a:srgbClr val="D9D2E9"/>
                    </a:solidFill>
                  </a:tcPr>
                </a:tc>
                <a:tc>
                  <a:txBody>
                    <a:bodyPr/>
                    <a:lstStyle/>
                    <a:p>
                      <a:pPr marL="0" lvl="0" indent="0" algn="l" rtl="0">
                        <a:spcBef>
                          <a:spcPts val="0"/>
                        </a:spcBef>
                        <a:spcAft>
                          <a:spcPts val="0"/>
                        </a:spcAft>
                        <a:buNone/>
                      </a:pPr>
                      <a:endParaRPr/>
                    </a:p>
                  </a:txBody>
                  <a:tcPr marL="91425" marR="91425" marT="91425" marB="91425">
                    <a:solidFill>
                      <a:srgbClr val="FFFFFF"/>
                    </a:solidFill>
                  </a:tcPr>
                </a:tc>
                <a:extLst>
                  <a:ext uri="{0D108BD9-81ED-4DB2-BD59-A6C34878D82A}">
                    <a16:rowId xmlns:a16="http://schemas.microsoft.com/office/drawing/2014/main" val="10000"/>
                  </a:ext>
                </a:extLst>
              </a:tr>
            </a:tbl>
          </a:graphicData>
        </a:graphic>
      </p:graphicFrame>
      <p:sp>
        <p:nvSpPr>
          <p:cNvPr id="1052" name="Google Shape;1052;p50"/>
          <p:cNvSpPr txBox="1"/>
          <p:nvPr/>
        </p:nvSpPr>
        <p:spPr>
          <a:xfrm>
            <a:off x="3719058" y="2546941"/>
            <a:ext cx="980700" cy="31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links:</a:t>
            </a:r>
            <a:endParaRPr/>
          </a:p>
        </p:txBody>
      </p:sp>
      <p:graphicFrame>
        <p:nvGraphicFramePr>
          <p:cNvPr id="1053" name="Google Shape;1053;p50"/>
          <p:cNvGraphicFramePr/>
          <p:nvPr/>
        </p:nvGraphicFramePr>
        <p:xfrm>
          <a:off x="5058855" y="2337075"/>
          <a:ext cx="3000000" cy="3000000"/>
        </p:xfrm>
        <a:graphic>
          <a:graphicData uri="http://schemas.openxmlformats.org/drawingml/2006/table">
            <a:tbl>
              <a:tblPr>
                <a:noFill/>
                <a:tableStyleId>{BC467F25-A352-40E9-8C40-E7B4C2D9D289}</a:tableStyleId>
              </a:tblPr>
              <a:tblGrid>
                <a:gridCol w="382850">
                  <a:extLst>
                    <a:ext uri="{9D8B030D-6E8A-4147-A177-3AD203B41FA5}">
                      <a16:colId xmlns:a16="http://schemas.microsoft.com/office/drawing/2014/main" val="20000"/>
                    </a:ext>
                  </a:extLst>
                </a:gridCol>
              </a:tblGrid>
              <a:tr h="355200">
                <a:tc>
                  <a:txBody>
                    <a:bodyPr/>
                    <a:lstStyle/>
                    <a:p>
                      <a:pPr marL="0" lvl="0" indent="0" algn="ctr" rtl="0">
                        <a:spcBef>
                          <a:spcPts val="0"/>
                        </a:spcBef>
                        <a:spcAft>
                          <a:spcPts val="0"/>
                        </a:spcAft>
                        <a:buNone/>
                      </a:pPr>
                      <a:r>
                        <a:rPr lang="en"/>
                        <a:t>F</a:t>
                      </a:r>
                      <a:endParaRPr/>
                    </a:p>
                  </a:txBody>
                  <a:tcPr marL="91425" marR="91425" marT="91425" marB="91425">
                    <a:solidFill>
                      <a:srgbClr val="FFFFFF"/>
                    </a:solidFill>
                  </a:tcPr>
                </a:tc>
                <a:extLst>
                  <a:ext uri="{0D108BD9-81ED-4DB2-BD59-A6C34878D82A}">
                    <a16:rowId xmlns:a16="http://schemas.microsoft.com/office/drawing/2014/main" val="10000"/>
                  </a:ext>
                </a:extLst>
              </a:tr>
            </a:tbl>
          </a:graphicData>
        </a:graphic>
      </p:graphicFrame>
      <p:sp>
        <p:nvSpPr>
          <p:cNvPr id="1054" name="Google Shape;1054;p50"/>
          <p:cNvSpPr txBox="1"/>
          <p:nvPr/>
        </p:nvSpPr>
        <p:spPr>
          <a:xfrm>
            <a:off x="3915211" y="3222727"/>
            <a:ext cx="468600" cy="22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1055" name="Google Shape;1055;p50"/>
          <p:cNvSpPr txBox="1"/>
          <p:nvPr/>
        </p:nvSpPr>
        <p:spPr>
          <a:xfrm>
            <a:off x="4281057" y="3202736"/>
            <a:ext cx="468600" cy="22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97</a:t>
            </a:r>
            <a:endParaRPr/>
          </a:p>
        </p:txBody>
      </p:sp>
      <p:sp>
        <p:nvSpPr>
          <p:cNvPr id="1056" name="Google Shape;1056;p50"/>
          <p:cNvSpPr txBox="1"/>
          <p:nvPr/>
        </p:nvSpPr>
        <p:spPr>
          <a:xfrm>
            <a:off x="4649646" y="3202736"/>
            <a:ext cx="468600" cy="22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98</a:t>
            </a:r>
            <a:endParaRPr/>
          </a:p>
        </p:txBody>
      </p:sp>
      <p:sp>
        <p:nvSpPr>
          <p:cNvPr id="1057" name="Google Shape;1057;p50"/>
          <p:cNvSpPr txBox="1"/>
          <p:nvPr/>
        </p:nvSpPr>
        <p:spPr>
          <a:xfrm>
            <a:off x="5386827" y="3202736"/>
            <a:ext cx="573600" cy="22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100</a:t>
            </a:r>
            <a:endParaRPr/>
          </a:p>
        </p:txBody>
      </p:sp>
      <p:sp>
        <p:nvSpPr>
          <p:cNvPr id="1058" name="Google Shape;1058;p50"/>
          <p:cNvSpPr txBox="1"/>
          <p:nvPr/>
        </p:nvSpPr>
        <p:spPr>
          <a:xfrm>
            <a:off x="5018237" y="3202736"/>
            <a:ext cx="468600" cy="22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99</a:t>
            </a:r>
            <a:endParaRPr/>
          </a:p>
        </p:txBody>
      </p:sp>
      <p:sp>
        <p:nvSpPr>
          <p:cNvPr id="1059" name="Google Shape;1059;p50"/>
          <p:cNvSpPr txBox="1"/>
          <p:nvPr/>
        </p:nvSpPr>
        <p:spPr>
          <a:xfrm>
            <a:off x="5860416" y="3202736"/>
            <a:ext cx="468600" cy="22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1060" name="Google Shape;1060;p50"/>
          <p:cNvSpPr/>
          <p:nvPr/>
        </p:nvSpPr>
        <p:spPr>
          <a:xfrm>
            <a:off x="3708247" y="3712772"/>
            <a:ext cx="2626200" cy="13281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50"/>
          <p:cNvSpPr txBox="1"/>
          <p:nvPr/>
        </p:nvSpPr>
        <p:spPr>
          <a:xfrm>
            <a:off x="4416405" y="3767350"/>
            <a:ext cx="828000" cy="31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isKey</a:t>
            </a:r>
            <a:r>
              <a:rPr lang="en"/>
              <a:t>:</a:t>
            </a:r>
            <a:endParaRPr/>
          </a:p>
        </p:txBody>
      </p:sp>
      <p:graphicFrame>
        <p:nvGraphicFramePr>
          <p:cNvPr id="1062" name="Google Shape;1062;p50"/>
          <p:cNvGraphicFramePr/>
          <p:nvPr/>
        </p:nvGraphicFramePr>
        <p:xfrm>
          <a:off x="3925011" y="4315602"/>
          <a:ext cx="3000000" cy="3000000"/>
        </p:xfrm>
        <a:graphic>
          <a:graphicData uri="http://schemas.openxmlformats.org/drawingml/2006/table">
            <a:tbl>
              <a:tblPr>
                <a:noFill/>
                <a:tableStyleId>{BC467F25-A352-40E9-8C40-E7B4C2D9D289}</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tblGrid>
              <a:tr h="381000">
                <a:tc>
                  <a:txBody>
                    <a:bodyPr/>
                    <a:lstStyle/>
                    <a:p>
                      <a:pPr marL="0" lvl="0" indent="0" algn="l" rtl="0">
                        <a:spcBef>
                          <a:spcPts val="0"/>
                        </a:spcBef>
                        <a:spcAft>
                          <a:spcPts val="0"/>
                        </a:spcAft>
                        <a:buNone/>
                      </a:pPr>
                      <a:endParaRPr/>
                    </a:p>
                  </a:txBody>
                  <a:tcPr marL="91425" marR="91425" marT="91425" marB="91425">
                    <a:solidFill>
                      <a:srgbClr val="FFFFFF"/>
                    </a:solidFill>
                  </a:tcPr>
                </a:tc>
                <a:tc>
                  <a:txBody>
                    <a:bodyPr/>
                    <a:lstStyle/>
                    <a:p>
                      <a:pPr marL="0" lvl="0" indent="0" algn="l" rtl="0">
                        <a:spcBef>
                          <a:spcPts val="0"/>
                        </a:spcBef>
                        <a:spcAft>
                          <a:spcPts val="0"/>
                        </a:spcAft>
                        <a:buNone/>
                      </a:pPr>
                      <a:endParaRPr/>
                    </a:p>
                  </a:txBody>
                  <a:tcPr marL="91425" marR="91425" marT="91425" marB="91425">
                    <a:solidFill>
                      <a:srgbClr val="FFFFFF"/>
                    </a:solidFill>
                  </a:tcPr>
                </a:tc>
                <a:tc>
                  <a:txBody>
                    <a:bodyPr/>
                    <a:lstStyle/>
                    <a:p>
                      <a:pPr marL="0" lvl="0" indent="0" algn="l" rtl="0">
                        <a:spcBef>
                          <a:spcPts val="0"/>
                        </a:spcBef>
                        <a:spcAft>
                          <a:spcPts val="0"/>
                        </a:spcAft>
                        <a:buNone/>
                      </a:pPr>
                      <a:endParaRPr/>
                    </a:p>
                  </a:txBody>
                  <a:tcPr marL="91425" marR="91425" marT="91425" marB="91425">
                    <a:solidFill>
                      <a:srgbClr val="FFFFFF"/>
                    </a:solidFill>
                  </a:tcPr>
                </a:tc>
                <a:tc>
                  <a:txBody>
                    <a:bodyPr/>
                    <a:lstStyle/>
                    <a:p>
                      <a:pPr marL="0" lvl="0" indent="0" algn="l" rtl="0">
                        <a:spcBef>
                          <a:spcPts val="0"/>
                        </a:spcBef>
                        <a:spcAft>
                          <a:spcPts val="0"/>
                        </a:spcAft>
                        <a:buNone/>
                      </a:pPr>
                      <a:endParaRPr/>
                    </a:p>
                  </a:txBody>
                  <a:tcPr marL="91425" marR="91425" marT="91425" marB="91425">
                    <a:solidFill>
                      <a:srgbClr val="FFFFFF"/>
                    </a:solidFill>
                  </a:tcPr>
                </a:tc>
                <a:tc>
                  <a:txBody>
                    <a:bodyPr/>
                    <a:lstStyle/>
                    <a:p>
                      <a:pPr marL="0" lvl="0" indent="0" algn="l" rtl="0">
                        <a:spcBef>
                          <a:spcPts val="0"/>
                        </a:spcBef>
                        <a:spcAft>
                          <a:spcPts val="0"/>
                        </a:spcAft>
                        <a:buNone/>
                      </a:pPr>
                      <a:endParaRPr/>
                    </a:p>
                  </a:txBody>
                  <a:tcPr marL="91425" marR="91425" marT="91425" marB="91425">
                    <a:solidFill>
                      <a:srgbClr val="FFFFFF"/>
                    </a:solidFill>
                  </a:tcPr>
                </a:tc>
                <a:tc>
                  <a:txBody>
                    <a:bodyPr/>
                    <a:lstStyle/>
                    <a:p>
                      <a:pPr marL="0" lvl="0" indent="0" algn="l" rtl="0">
                        <a:spcBef>
                          <a:spcPts val="0"/>
                        </a:spcBef>
                        <a:spcAft>
                          <a:spcPts val="0"/>
                        </a:spcAft>
                        <a:buNone/>
                      </a:pPr>
                      <a:endParaRPr/>
                    </a:p>
                  </a:txBody>
                  <a:tcPr marL="91425" marR="91425" marT="91425" marB="91425">
                    <a:solidFill>
                      <a:srgbClr val="FFFFFF"/>
                    </a:solidFill>
                  </a:tcPr>
                </a:tc>
                <a:extLst>
                  <a:ext uri="{0D108BD9-81ED-4DB2-BD59-A6C34878D82A}">
                    <a16:rowId xmlns:a16="http://schemas.microsoft.com/office/drawing/2014/main" val="10000"/>
                  </a:ext>
                </a:extLst>
              </a:tr>
            </a:tbl>
          </a:graphicData>
        </a:graphic>
      </p:graphicFrame>
      <p:sp>
        <p:nvSpPr>
          <p:cNvPr id="1063" name="Google Shape;1063;p50"/>
          <p:cNvSpPr txBox="1"/>
          <p:nvPr/>
        </p:nvSpPr>
        <p:spPr>
          <a:xfrm>
            <a:off x="3719058" y="3985216"/>
            <a:ext cx="980700" cy="31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links:</a:t>
            </a:r>
            <a:endParaRPr/>
          </a:p>
        </p:txBody>
      </p:sp>
      <p:graphicFrame>
        <p:nvGraphicFramePr>
          <p:cNvPr id="1064" name="Google Shape;1064;p50"/>
          <p:cNvGraphicFramePr/>
          <p:nvPr/>
        </p:nvGraphicFramePr>
        <p:xfrm>
          <a:off x="5058855" y="3775350"/>
          <a:ext cx="3000000" cy="3000000"/>
        </p:xfrm>
        <a:graphic>
          <a:graphicData uri="http://schemas.openxmlformats.org/drawingml/2006/table">
            <a:tbl>
              <a:tblPr>
                <a:noFill/>
                <a:tableStyleId>{BC467F25-A352-40E9-8C40-E7B4C2D9D289}</a:tableStyleId>
              </a:tblPr>
              <a:tblGrid>
                <a:gridCol w="382850">
                  <a:extLst>
                    <a:ext uri="{9D8B030D-6E8A-4147-A177-3AD203B41FA5}">
                      <a16:colId xmlns:a16="http://schemas.microsoft.com/office/drawing/2014/main" val="20000"/>
                    </a:ext>
                  </a:extLst>
                </a:gridCol>
              </a:tblGrid>
              <a:tr h="355200">
                <a:tc>
                  <a:txBody>
                    <a:bodyPr/>
                    <a:lstStyle/>
                    <a:p>
                      <a:pPr marL="0" lvl="0" indent="0" algn="ctr" rtl="0">
                        <a:spcBef>
                          <a:spcPts val="0"/>
                        </a:spcBef>
                        <a:spcAft>
                          <a:spcPts val="0"/>
                        </a:spcAft>
                        <a:buNone/>
                      </a:pPr>
                      <a:r>
                        <a:rPr lang="en"/>
                        <a:t>T</a:t>
                      </a:r>
                      <a:endParaRPr/>
                    </a:p>
                  </a:txBody>
                  <a:tcPr marL="91425" marR="91425" marT="91425" marB="91425">
                    <a:solidFill>
                      <a:srgbClr val="C9DAF8"/>
                    </a:solidFill>
                  </a:tcPr>
                </a:tc>
                <a:extLst>
                  <a:ext uri="{0D108BD9-81ED-4DB2-BD59-A6C34878D82A}">
                    <a16:rowId xmlns:a16="http://schemas.microsoft.com/office/drawing/2014/main" val="10000"/>
                  </a:ext>
                </a:extLst>
              </a:tr>
            </a:tbl>
          </a:graphicData>
        </a:graphic>
      </p:graphicFrame>
      <p:sp>
        <p:nvSpPr>
          <p:cNvPr id="1065" name="Google Shape;1065;p50"/>
          <p:cNvSpPr txBox="1"/>
          <p:nvPr/>
        </p:nvSpPr>
        <p:spPr>
          <a:xfrm>
            <a:off x="3915211" y="4661002"/>
            <a:ext cx="468600" cy="22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1066" name="Google Shape;1066;p50"/>
          <p:cNvSpPr txBox="1"/>
          <p:nvPr/>
        </p:nvSpPr>
        <p:spPr>
          <a:xfrm>
            <a:off x="4281057" y="4641011"/>
            <a:ext cx="468600" cy="22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97</a:t>
            </a:r>
            <a:endParaRPr/>
          </a:p>
        </p:txBody>
      </p:sp>
      <p:sp>
        <p:nvSpPr>
          <p:cNvPr id="1067" name="Google Shape;1067;p50"/>
          <p:cNvSpPr txBox="1"/>
          <p:nvPr/>
        </p:nvSpPr>
        <p:spPr>
          <a:xfrm>
            <a:off x="4649646" y="4641011"/>
            <a:ext cx="468600" cy="22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98</a:t>
            </a:r>
            <a:endParaRPr/>
          </a:p>
        </p:txBody>
      </p:sp>
      <p:sp>
        <p:nvSpPr>
          <p:cNvPr id="1068" name="Google Shape;1068;p50"/>
          <p:cNvSpPr txBox="1"/>
          <p:nvPr/>
        </p:nvSpPr>
        <p:spPr>
          <a:xfrm>
            <a:off x="5386827" y="4641011"/>
            <a:ext cx="573600" cy="22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100</a:t>
            </a:r>
            <a:endParaRPr/>
          </a:p>
        </p:txBody>
      </p:sp>
      <p:sp>
        <p:nvSpPr>
          <p:cNvPr id="1069" name="Google Shape;1069;p50"/>
          <p:cNvSpPr txBox="1"/>
          <p:nvPr/>
        </p:nvSpPr>
        <p:spPr>
          <a:xfrm>
            <a:off x="5018237" y="4641011"/>
            <a:ext cx="468600" cy="22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99</a:t>
            </a:r>
            <a:endParaRPr/>
          </a:p>
        </p:txBody>
      </p:sp>
      <p:sp>
        <p:nvSpPr>
          <p:cNvPr id="1070" name="Google Shape;1070;p50"/>
          <p:cNvSpPr txBox="1"/>
          <p:nvPr/>
        </p:nvSpPr>
        <p:spPr>
          <a:xfrm>
            <a:off x="5860416" y="4641011"/>
            <a:ext cx="468600" cy="22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1071" name="Google Shape;1071;p50"/>
          <p:cNvSpPr/>
          <p:nvPr/>
        </p:nvSpPr>
        <p:spPr>
          <a:xfrm>
            <a:off x="1447279" y="919013"/>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1072" name="Google Shape;1072;p50"/>
          <p:cNvSpPr/>
          <p:nvPr/>
        </p:nvSpPr>
        <p:spPr>
          <a:xfrm>
            <a:off x="949650" y="1595748"/>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cxnSp>
        <p:nvCxnSpPr>
          <p:cNvPr id="1073" name="Google Shape;1073;p50"/>
          <p:cNvCxnSpPr>
            <a:stCxn id="1071" idx="3"/>
            <a:endCxn id="1072" idx="0"/>
          </p:cNvCxnSpPr>
          <p:nvPr/>
        </p:nvCxnSpPr>
        <p:spPr>
          <a:xfrm flipH="1">
            <a:off x="1165976" y="1288516"/>
            <a:ext cx="344700" cy="307200"/>
          </a:xfrm>
          <a:prstGeom prst="straightConnector1">
            <a:avLst/>
          </a:prstGeom>
          <a:noFill/>
          <a:ln w="28575" cap="flat" cmpd="sng">
            <a:solidFill>
              <a:schemeClr val="dk2"/>
            </a:solidFill>
            <a:prstDash val="solid"/>
            <a:round/>
            <a:headEnd type="none" w="med" len="med"/>
            <a:tailEnd type="none" w="med" len="med"/>
          </a:ln>
        </p:spPr>
      </p:cxnSp>
      <p:cxnSp>
        <p:nvCxnSpPr>
          <p:cNvPr id="1074" name="Google Shape;1074;p50"/>
          <p:cNvCxnSpPr>
            <a:endCxn id="1075" idx="0"/>
          </p:cNvCxnSpPr>
          <p:nvPr/>
        </p:nvCxnSpPr>
        <p:spPr>
          <a:xfrm>
            <a:off x="1166100" y="2028523"/>
            <a:ext cx="0" cy="202500"/>
          </a:xfrm>
          <a:prstGeom prst="straightConnector1">
            <a:avLst/>
          </a:prstGeom>
          <a:noFill/>
          <a:ln w="28575" cap="flat" cmpd="sng">
            <a:solidFill>
              <a:schemeClr val="dk2"/>
            </a:solidFill>
            <a:prstDash val="solid"/>
            <a:round/>
            <a:headEnd type="none" w="med" len="med"/>
            <a:tailEnd type="none" w="med" len="med"/>
          </a:ln>
        </p:spPr>
      </p:cxnSp>
      <p:sp>
        <p:nvSpPr>
          <p:cNvPr id="1075" name="Google Shape;1075;p50"/>
          <p:cNvSpPr/>
          <p:nvPr/>
        </p:nvSpPr>
        <p:spPr>
          <a:xfrm>
            <a:off x="949650" y="2231023"/>
            <a:ext cx="432900" cy="432900"/>
          </a:xfrm>
          <a:prstGeom prst="ellipse">
            <a:avLst/>
          </a:prstGeom>
          <a:solidFill>
            <a:srgbClr val="C9DAF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d</a:t>
            </a:r>
            <a:endParaRPr sz="1800">
              <a:latin typeface="Consolas"/>
              <a:ea typeface="Consolas"/>
              <a:cs typeface="Consolas"/>
              <a:sym typeface="Consolas"/>
            </a:endParaRPr>
          </a:p>
        </p:txBody>
      </p:sp>
      <p:cxnSp>
        <p:nvCxnSpPr>
          <p:cNvPr id="1076" name="Google Shape;1076;p50"/>
          <p:cNvCxnSpPr>
            <a:stCxn id="1044" idx="0"/>
            <a:endCxn id="1049" idx="0"/>
          </p:cNvCxnSpPr>
          <p:nvPr/>
        </p:nvCxnSpPr>
        <p:spPr>
          <a:xfrm flipH="1">
            <a:off x="5021257" y="1724211"/>
            <a:ext cx="810300" cy="550200"/>
          </a:xfrm>
          <a:prstGeom prst="straightConnector1">
            <a:avLst/>
          </a:prstGeom>
          <a:noFill/>
          <a:ln w="19050" cap="flat" cmpd="sng">
            <a:solidFill>
              <a:schemeClr val="dk2"/>
            </a:solidFill>
            <a:prstDash val="solid"/>
            <a:round/>
            <a:headEnd type="none" w="med" len="med"/>
            <a:tailEnd type="triangle" w="med" len="med"/>
          </a:ln>
        </p:spPr>
      </p:cxnSp>
      <p:cxnSp>
        <p:nvCxnSpPr>
          <p:cNvPr id="1077" name="Google Shape;1077;p50"/>
          <p:cNvCxnSpPr>
            <a:endCxn id="1060" idx="0"/>
          </p:cNvCxnSpPr>
          <p:nvPr/>
        </p:nvCxnSpPr>
        <p:spPr>
          <a:xfrm flipH="1">
            <a:off x="5021347" y="3202772"/>
            <a:ext cx="652200" cy="510000"/>
          </a:xfrm>
          <a:prstGeom prst="straightConnector1">
            <a:avLst/>
          </a:prstGeom>
          <a:noFill/>
          <a:ln w="19050" cap="flat" cmpd="sng">
            <a:solidFill>
              <a:schemeClr val="dk2"/>
            </a:solidFill>
            <a:prstDash val="solid"/>
            <a:round/>
            <a:headEnd type="none" w="med" len="med"/>
            <a:tailEnd type="triangle" w="med" len="med"/>
          </a:ln>
        </p:spPr>
      </p:cxnSp>
      <p:sp>
        <p:nvSpPr>
          <p:cNvPr id="1078" name="Google Shape;1078;p50"/>
          <p:cNvSpPr/>
          <p:nvPr/>
        </p:nvSpPr>
        <p:spPr>
          <a:xfrm>
            <a:off x="6461411" y="2272847"/>
            <a:ext cx="2626200" cy="13281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50"/>
          <p:cNvSpPr txBox="1"/>
          <p:nvPr/>
        </p:nvSpPr>
        <p:spPr>
          <a:xfrm>
            <a:off x="7169569" y="2327425"/>
            <a:ext cx="828000" cy="31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isKey</a:t>
            </a:r>
            <a:r>
              <a:rPr lang="en"/>
              <a:t>:</a:t>
            </a:r>
            <a:endParaRPr/>
          </a:p>
        </p:txBody>
      </p:sp>
      <p:graphicFrame>
        <p:nvGraphicFramePr>
          <p:cNvPr id="1080" name="Google Shape;1080;p50"/>
          <p:cNvGraphicFramePr/>
          <p:nvPr/>
        </p:nvGraphicFramePr>
        <p:xfrm>
          <a:off x="6678175" y="2875677"/>
          <a:ext cx="3000000" cy="3000000"/>
        </p:xfrm>
        <a:graphic>
          <a:graphicData uri="http://schemas.openxmlformats.org/drawingml/2006/table">
            <a:tbl>
              <a:tblPr>
                <a:noFill/>
                <a:tableStyleId>{BC467F25-A352-40E9-8C40-E7B4C2D9D289}</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tblGrid>
              <a:tr h="381000">
                <a:tc>
                  <a:txBody>
                    <a:bodyPr/>
                    <a:lstStyle/>
                    <a:p>
                      <a:pPr marL="0" lvl="0" indent="0" algn="l" rtl="0">
                        <a:spcBef>
                          <a:spcPts val="0"/>
                        </a:spcBef>
                        <a:spcAft>
                          <a:spcPts val="0"/>
                        </a:spcAft>
                        <a:buNone/>
                      </a:pPr>
                      <a:endParaRPr/>
                    </a:p>
                  </a:txBody>
                  <a:tcPr marL="91425" marR="91425" marT="91425" marB="91425">
                    <a:solidFill>
                      <a:srgbClr val="FFFFFF"/>
                    </a:solidFill>
                  </a:tcPr>
                </a:tc>
                <a:tc>
                  <a:txBody>
                    <a:bodyPr/>
                    <a:lstStyle/>
                    <a:p>
                      <a:pPr marL="0" lvl="0" indent="0" algn="l" rtl="0">
                        <a:spcBef>
                          <a:spcPts val="0"/>
                        </a:spcBef>
                        <a:spcAft>
                          <a:spcPts val="0"/>
                        </a:spcAft>
                        <a:buNone/>
                      </a:pPr>
                      <a:endParaRPr/>
                    </a:p>
                  </a:txBody>
                  <a:tcPr marL="91425" marR="91425" marT="91425" marB="91425">
                    <a:solidFill>
                      <a:srgbClr val="FFFFFF"/>
                    </a:solidFill>
                  </a:tcPr>
                </a:tc>
                <a:tc>
                  <a:txBody>
                    <a:bodyPr/>
                    <a:lstStyle/>
                    <a:p>
                      <a:pPr marL="0" lvl="0" indent="0" algn="l" rtl="0">
                        <a:spcBef>
                          <a:spcPts val="0"/>
                        </a:spcBef>
                        <a:spcAft>
                          <a:spcPts val="0"/>
                        </a:spcAft>
                        <a:buNone/>
                      </a:pPr>
                      <a:endParaRPr/>
                    </a:p>
                  </a:txBody>
                  <a:tcPr marL="91425" marR="91425" marT="91425" marB="91425">
                    <a:solidFill>
                      <a:srgbClr val="FFFFFF"/>
                    </a:solidFill>
                  </a:tcPr>
                </a:tc>
                <a:tc>
                  <a:txBody>
                    <a:bodyPr/>
                    <a:lstStyle/>
                    <a:p>
                      <a:pPr marL="0" lvl="0" indent="0" algn="l" rtl="0">
                        <a:spcBef>
                          <a:spcPts val="0"/>
                        </a:spcBef>
                        <a:spcAft>
                          <a:spcPts val="0"/>
                        </a:spcAft>
                        <a:buNone/>
                      </a:pPr>
                      <a:endParaRPr/>
                    </a:p>
                  </a:txBody>
                  <a:tcPr marL="91425" marR="91425" marT="91425" marB="91425">
                    <a:solidFill>
                      <a:srgbClr val="FFFFFF"/>
                    </a:solidFill>
                  </a:tcPr>
                </a:tc>
                <a:tc>
                  <a:txBody>
                    <a:bodyPr/>
                    <a:lstStyle/>
                    <a:p>
                      <a:pPr marL="0" lvl="0" indent="0" algn="l" rtl="0">
                        <a:spcBef>
                          <a:spcPts val="0"/>
                        </a:spcBef>
                        <a:spcAft>
                          <a:spcPts val="0"/>
                        </a:spcAft>
                        <a:buNone/>
                      </a:pPr>
                      <a:endParaRPr/>
                    </a:p>
                  </a:txBody>
                  <a:tcPr marL="91425" marR="91425" marT="91425" marB="91425">
                    <a:solidFill>
                      <a:srgbClr val="FFFFFF"/>
                    </a:solidFill>
                  </a:tcPr>
                </a:tc>
                <a:tc>
                  <a:txBody>
                    <a:bodyPr/>
                    <a:lstStyle/>
                    <a:p>
                      <a:pPr marL="0" lvl="0" indent="0" algn="l" rtl="0">
                        <a:spcBef>
                          <a:spcPts val="0"/>
                        </a:spcBef>
                        <a:spcAft>
                          <a:spcPts val="0"/>
                        </a:spcAft>
                        <a:buNone/>
                      </a:pPr>
                      <a:endParaRPr/>
                    </a:p>
                  </a:txBody>
                  <a:tcPr marL="91425" marR="91425" marT="91425" marB="91425">
                    <a:solidFill>
                      <a:srgbClr val="FFFFFF"/>
                    </a:solidFill>
                  </a:tcPr>
                </a:tc>
                <a:extLst>
                  <a:ext uri="{0D108BD9-81ED-4DB2-BD59-A6C34878D82A}">
                    <a16:rowId xmlns:a16="http://schemas.microsoft.com/office/drawing/2014/main" val="10000"/>
                  </a:ext>
                </a:extLst>
              </a:tr>
            </a:tbl>
          </a:graphicData>
        </a:graphic>
      </p:graphicFrame>
      <p:sp>
        <p:nvSpPr>
          <p:cNvPr id="1081" name="Google Shape;1081;p50"/>
          <p:cNvSpPr txBox="1"/>
          <p:nvPr/>
        </p:nvSpPr>
        <p:spPr>
          <a:xfrm>
            <a:off x="6472222" y="2545291"/>
            <a:ext cx="980700" cy="31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links:</a:t>
            </a:r>
            <a:endParaRPr/>
          </a:p>
        </p:txBody>
      </p:sp>
      <p:graphicFrame>
        <p:nvGraphicFramePr>
          <p:cNvPr id="1082" name="Google Shape;1082;p50"/>
          <p:cNvGraphicFramePr/>
          <p:nvPr/>
        </p:nvGraphicFramePr>
        <p:xfrm>
          <a:off x="7812019" y="2335425"/>
          <a:ext cx="3000000" cy="3000000"/>
        </p:xfrm>
        <a:graphic>
          <a:graphicData uri="http://schemas.openxmlformats.org/drawingml/2006/table">
            <a:tbl>
              <a:tblPr>
                <a:noFill/>
                <a:tableStyleId>{BC467F25-A352-40E9-8C40-E7B4C2D9D289}</a:tableStyleId>
              </a:tblPr>
              <a:tblGrid>
                <a:gridCol w="382850">
                  <a:extLst>
                    <a:ext uri="{9D8B030D-6E8A-4147-A177-3AD203B41FA5}">
                      <a16:colId xmlns:a16="http://schemas.microsoft.com/office/drawing/2014/main" val="20000"/>
                    </a:ext>
                  </a:extLst>
                </a:gridCol>
              </a:tblGrid>
              <a:tr h="355200">
                <a:tc>
                  <a:txBody>
                    <a:bodyPr/>
                    <a:lstStyle/>
                    <a:p>
                      <a:pPr marL="0" lvl="0" indent="0" algn="ctr" rtl="0">
                        <a:spcBef>
                          <a:spcPts val="0"/>
                        </a:spcBef>
                        <a:spcAft>
                          <a:spcPts val="0"/>
                        </a:spcAft>
                        <a:buNone/>
                      </a:pPr>
                      <a:r>
                        <a:rPr lang="en"/>
                        <a:t>T</a:t>
                      </a:r>
                      <a:endParaRPr/>
                    </a:p>
                  </a:txBody>
                  <a:tcPr marL="91425" marR="91425" marT="91425" marB="91425">
                    <a:solidFill>
                      <a:srgbClr val="C9DAF8"/>
                    </a:solidFill>
                  </a:tcPr>
                </a:tc>
                <a:extLst>
                  <a:ext uri="{0D108BD9-81ED-4DB2-BD59-A6C34878D82A}">
                    <a16:rowId xmlns:a16="http://schemas.microsoft.com/office/drawing/2014/main" val="10000"/>
                  </a:ext>
                </a:extLst>
              </a:tr>
            </a:tbl>
          </a:graphicData>
        </a:graphic>
      </p:graphicFrame>
      <p:sp>
        <p:nvSpPr>
          <p:cNvPr id="1083" name="Google Shape;1083;p50"/>
          <p:cNvSpPr txBox="1"/>
          <p:nvPr/>
        </p:nvSpPr>
        <p:spPr>
          <a:xfrm>
            <a:off x="6668375" y="3221077"/>
            <a:ext cx="468600" cy="22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1084" name="Google Shape;1084;p50"/>
          <p:cNvSpPr txBox="1"/>
          <p:nvPr/>
        </p:nvSpPr>
        <p:spPr>
          <a:xfrm>
            <a:off x="7034220" y="3201086"/>
            <a:ext cx="468600" cy="22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97</a:t>
            </a:r>
            <a:endParaRPr/>
          </a:p>
        </p:txBody>
      </p:sp>
      <p:sp>
        <p:nvSpPr>
          <p:cNvPr id="1085" name="Google Shape;1085;p50"/>
          <p:cNvSpPr txBox="1"/>
          <p:nvPr/>
        </p:nvSpPr>
        <p:spPr>
          <a:xfrm>
            <a:off x="7402810" y="3201086"/>
            <a:ext cx="468600" cy="22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98</a:t>
            </a:r>
            <a:endParaRPr/>
          </a:p>
        </p:txBody>
      </p:sp>
      <p:sp>
        <p:nvSpPr>
          <p:cNvPr id="1086" name="Google Shape;1086;p50"/>
          <p:cNvSpPr txBox="1"/>
          <p:nvPr/>
        </p:nvSpPr>
        <p:spPr>
          <a:xfrm>
            <a:off x="8139991" y="3201086"/>
            <a:ext cx="573600" cy="22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100</a:t>
            </a:r>
            <a:endParaRPr/>
          </a:p>
        </p:txBody>
      </p:sp>
      <p:sp>
        <p:nvSpPr>
          <p:cNvPr id="1087" name="Google Shape;1087;p50"/>
          <p:cNvSpPr txBox="1"/>
          <p:nvPr/>
        </p:nvSpPr>
        <p:spPr>
          <a:xfrm>
            <a:off x="7771400" y="3201086"/>
            <a:ext cx="468600" cy="22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99</a:t>
            </a:r>
            <a:endParaRPr/>
          </a:p>
        </p:txBody>
      </p:sp>
      <p:sp>
        <p:nvSpPr>
          <p:cNvPr id="1088" name="Google Shape;1088;p50"/>
          <p:cNvSpPr txBox="1"/>
          <p:nvPr/>
        </p:nvSpPr>
        <p:spPr>
          <a:xfrm>
            <a:off x="8613580" y="3201086"/>
            <a:ext cx="468600" cy="22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cxnSp>
        <p:nvCxnSpPr>
          <p:cNvPr id="1089" name="Google Shape;1089;p50"/>
          <p:cNvCxnSpPr>
            <a:stCxn id="1047" idx="0"/>
            <a:endCxn id="1078" idx="0"/>
          </p:cNvCxnSpPr>
          <p:nvPr/>
        </p:nvCxnSpPr>
        <p:spPr>
          <a:xfrm>
            <a:off x="6568737" y="1724211"/>
            <a:ext cx="1205700" cy="548700"/>
          </a:xfrm>
          <a:prstGeom prst="straightConnector1">
            <a:avLst/>
          </a:prstGeom>
          <a:noFill/>
          <a:ln w="19050" cap="flat" cmpd="sng">
            <a:solidFill>
              <a:schemeClr val="dk2"/>
            </a:solidFill>
            <a:prstDash val="solid"/>
            <a:round/>
            <a:headEnd type="none" w="med" len="med"/>
            <a:tailEnd type="triangle" w="med" len="med"/>
          </a:ln>
        </p:spPr>
      </p:cxnSp>
      <p:sp>
        <p:nvSpPr>
          <p:cNvPr id="1090" name="Google Shape;1090;p50"/>
          <p:cNvSpPr/>
          <p:nvPr/>
        </p:nvSpPr>
        <p:spPr>
          <a:xfrm>
            <a:off x="1880175" y="1595748"/>
            <a:ext cx="432900" cy="432900"/>
          </a:xfrm>
          <a:prstGeom prst="ellipse">
            <a:avLst/>
          </a:prstGeom>
          <a:solidFill>
            <a:srgbClr val="C9DAF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c</a:t>
            </a:r>
            <a:endParaRPr sz="1800">
              <a:latin typeface="Consolas"/>
              <a:ea typeface="Consolas"/>
              <a:cs typeface="Consolas"/>
              <a:sym typeface="Consolas"/>
            </a:endParaRPr>
          </a:p>
        </p:txBody>
      </p:sp>
      <p:cxnSp>
        <p:nvCxnSpPr>
          <p:cNvPr id="1091" name="Google Shape;1091;p50"/>
          <p:cNvCxnSpPr>
            <a:stCxn id="1071" idx="5"/>
            <a:endCxn id="1090" idx="0"/>
          </p:cNvCxnSpPr>
          <p:nvPr/>
        </p:nvCxnSpPr>
        <p:spPr>
          <a:xfrm>
            <a:off x="1816783" y="1288516"/>
            <a:ext cx="279900" cy="307200"/>
          </a:xfrm>
          <a:prstGeom prst="straightConnector1">
            <a:avLst/>
          </a:prstGeom>
          <a:noFill/>
          <a:ln w="28575" cap="flat" cmpd="sng">
            <a:solidFill>
              <a:schemeClr val="dk2"/>
            </a:solidFill>
            <a:prstDash val="solid"/>
            <a:round/>
            <a:headEnd type="none" w="med" len="med"/>
            <a:tailEnd type="none" w="med" len="med"/>
          </a:ln>
        </p:spPr>
      </p:cxnSp>
      <p:sp>
        <p:nvSpPr>
          <p:cNvPr id="1092" name="Google Shape;1092;p50"/>
          <p:cNvSpPr txBox="1"/>
          <p:nvPr/>
        </p:nvSpPr>
        <p:spPr>
          <a:xfrm>
            <a:off x="6660050" y="3926600"/>
            <a:ext cx="2234400" cy="78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Fundamental problem, our arrays are ‘sparse’.</a:t>
            </a:r>
            <a:endParaRPr>
              <a:latin typeface="Roboto"/>
              <a:ea typeface="Roboto"/>
              <a:cs typeface="Roboto"/>
              <a:sym typeface="Roboto"/>
            </a:endParaRPr>
          </a:p>
        </p:txBody>
      </p:sp>
      <p:cxnSp>
        <p:nvCxnSpPr>
          <p:cNvPr id="1093" name="Google Shape;1093;p50"/>
          <p:cNvCxnSpPr/>
          <p:nvPr/>
        </p:nvCxnSpPr>
        <p:spPr>
          <a:xfrm>
            <a:off x="5250750" y="1404100"/>
            <a:ext cx="375300" cy="365700"/>
          </a:xfrm>
          <a:prstGeom prst="straightConnector1">
            <a:avLst/>
          </a:prstGeom>
          <a:noFill/>
          <a:ln w="9525" cap="flat" cmpd="sng">
            <a:solidFill>
              <a:schemeClr val="dk2"/>
            </a:solidFill>
            <a:prstDash val="solid"/>
            <a:round/>
            <a:headEnd type="none" w="med" len="med"/>
            <a:tailEnd type="none" w="med" len="med"/>
          </a:ln>
        </p:spPr>
      </p:cxnSp>
      <p:cxnSp>
        <p:nvCxnSpPr>
          <p:cNvPr id="1094" name="Google Shape;1094;p50"/>
          <p:cNvCxnSpPr/>
          <p:nvPr/>
        </p:nvCxnSpPr>
        <p:spPr>
          <a:xfrm>
            <a:off x="6013863" y="1404100"/>
            <a:ext cx="375300" cy="365700"/>
          </a:xfrm>
          <a:prstGeom prst="straightConnector1">
            <a:avLst/>
          </a:prstGeom>
          <a:noFill/>
          <a:ln w="9525" cap="flat" cmpd="sng">
            <a:solidFill>
              <a:schemeClr val="dk2"/>
            </a:solidFill>
            <a:prstDash val="solid"/>
            <a:round/>
            <a:headEnd type="none" w="med" len="med"/>
            <a:tailEnd type="none" w="med" len="med"/>
          </a:ln>
        </p:spPr>
      </p:cxnSp>
      <p:cxnSp>
        <p:nvCxnSpPr>
          <p:cNvPr id="1095" name="Google Shape;1095;p50"/>
          <p:cNvCxnSpPr/>
          <p:nvPr/>
        </p:nvCxnSpPr>
        <p:spPr>
          <a:xfrm>
            <a:off x="6774238" y="1406450"/>
            <a:ext cx="375300" cy="365700"/>
          </a:xfrm>
          <a:prstGeom prst="straightConnector1">
            <a:avLst/>
          </a:prstGeom>
          <a:noFill/>
          <a:ln w="9525" cap="flat" cmpd="sng">
            <a:solidFill>
              <a:schemeClr val="dk2"/>
            </a:solidFill>
            <a:prstDash val="solid"/>
            <a:round/>
            <a:headEnd type="none" w="med" len="med"/>
            <a:tailEnd type="none" w="med" len="med"/>
          </a:ln>
        </p:spPr>
      </p:cxnSp>
      <p:cxnSp>
        <p:nvCxnSpPr>
          <p:cNvPr id="1096" name="Google Shape;1096;p50"/>
          <p:cNvCxnSpPr/>
          <p:nvPr/>
        </p:nvCxnSpPr>
        <p:spPr>
          <a:xfrm>
            <a:off x="7156464" y="1399100"/>
            <a:ext cx="375300" cy="365700"/>
          </a:xfrm>
          <a:prstGeom prst="straightConnector1">
            <a:avLst/>
          </a:prstGeom>
          <a:noFill/>
          <a:ln w="9525" cap="flat" cmpd="sng">
            <a:solidFill>
              <a:schemeClr val="dk2"/>
            </a:solidFill>
            <a:prstDash val="solid"/>
            <a:round/>
            <a:headEnd type="none" w="med" len="med"/>
            <a:tailEnd type="none" w="med" len="med"/>
          </a:ln>
        </p:spPr>
      </p:cxnSp>
      <p:cxnSp>
        <p:nvCxnSpPr>
          <p:cNvPr id="1097" name="Google Shape;1097;p50"/>
          <p:cNvCxnSpPr/>
          <p:nvPr/>
        </p:nvCxnSpPr>
        <p:spPr>
          <a:xfrm>
            <a:off x="6679225" y="2881325"/>
            <a:ext cx="370500" cy="385200"/>
          </a:xfrm>
          <a:prstGeom prst="straightConnector1">
            <a:avLst/>
          </a:prstGeom>
          <a:noFill/>
          <a:ln w="9525" cap="flat" cmpd="sng">
            <a:solidFill>
              <a:schemeClr val="dk2"/>
            </a:solidFill>
            <a:prstDash val="solid"/>
            <a:round/>
            <a:headEnd type="none" w="med" len="med"/>
            <a:tailEnd type="none" w="med" len="med"/>
          </a:ln>
        </p:spPr>
      </p:cxnSp>
      <p:cxnSp>
        <p:nvCxnSpPr>
          <p:cNvPr id="1098" name="Google Shape;1098;p50"/>
          <p:cNvCxnSpPr/>
          <p:nvPr/>
        </p:nvCxnSpPr>
        <p:spPr>
          <a:xfrm>
            <a:off x="7060225" y="2881325"/>
            <a:ext cx="370500" cy="385200"/>
          </a:xfrm>
          <a:prstGeom prst="straightConnector1">
            <a:avLst/>
          </a:prstGeom>
          <a:noFill/>
          <a:ln w="9525" cap="flat" cmpd="sng">
            <a:solidFill>
              <a:schemeClr val="dk2"/>
            </a:solidFill>
            <a:prstDash val="solid"/>
            <a:round/>
            <a:headEnd type="none" w="med" len="med"/>
            <a:tailEnd type="none" w="med" len="med"/>
          </a:ln>
        </p:spPr>
      </p:cxnSp>
      <p:cxnSp>
        <p:nvCxnSpPr>
          <p:cNvPr id="1099" name="Google Shape;1099;p50"/>
          <p:cNvCxnSpPr/>
          <p:nvPr/>
        </p:nvCxnSpPr>
        <p:spPr>
          <a:xfrm>
            <a:off x="7441225" y="2881325"/>
            <a:ext cx="370500" cy="385200"/>
          </a:xfrm>
          <a:prstGeom prst="straightConnector1">
            <a:avLst/>
          </a:prstGeom>
          <a:noFill/>
          <a:ln w="9525" cap="flat" cmpd="sng">
            <a:solidFill>
              <a:schemeClr val="dk2"/>
            </a:solidFill>
            <a:prstDash val="solid"/>
            <a:round/>
            <a:headEnd type="none" w="med" len="med"/>
            <a:tailEnd type="none" w="med" len="med"/>
          </a:ln>
        </p:spPr>
      </p:cxnSp>
      <p:cxnSp>
        <p:nvCxnSpPr>
          <p:cNvPr id="1100" name="Google Shape;1100;p50"/>
          <p:cNvCxnSpPr/>
          <p:nvPr/>
        </p:nvCxnSpPr>
        <p:spPr>
          <a:xfrm>
            <a:off x="7822225" y="2881325"/>
            <a:ext cx="370500" cy="385200"/>
          </a:xfrm>
          <a:prstGeom prst="straightConnector1">
            <a:avLst/>
          </a:prstGeom>
          <a:noFill/>
          <a:ln w="9525" cap="flat" cmpd="sng">
            <a:solidFill>
              <a:schemeClr val="dk2"/>
            </a:solidFill>
            <a:prstDash val="solid"/>
            <a:round/>
            <a:headEnd type="none" w="med" len="med"/>
            <a:tailEnd type="none" w="med" len="med"/>
          </a:ln>
        </p:spPr>
      </p:cxnSp>
      <p:cxnSp>
        <p:nvCxnSpPr>
          <p:cNvPr id="1101" name="Google Shape;1101;p50"/>
          <p:cNvCxnSpPr/>
          <p:nvPr/>
        </p:nvCxnSpPr>
        <p:spPr>
          <a:xfrm>
            <a:off x="8208100" y="2881325"/>
            <a:ext cx="370500" cy="385200"/>
          </a:xfrm>
          <a:prstGeom prst="straightConnector1">
            <a:avLst/>
          </a:prstGeom>
          <a:noFill/>
          <a:ln w="9525" cap="flat" cmpd="sng">
            <a:solidFill>
              <a:schemeClr val="dk2"/>
            </a:solidFill>
            <a:prstDash val="solid"/>
            <a:round/>
            <a:headEnd type="none" w="med" len="med"/>
            <a:tailEnd type="none" w="med" len="med"/>
          </a:ln>
        </p:spPr>
      </p:cxnSp>
      <p:cxnSp>
        <p:nvCxnSpPr>
          <p:cNvPr id="1102" name="Google Shape;1102;p50"/>
          <p:cNvCxnSpPr/>
          <p:nvPr/>
        </p:nvCxnSpPr>
        <p:spPr>
          <a:xfrm>
            <a:off x="8585500" y="2871575"/>
            <a:ext cx="395100" cy="399600"/>
          </a:xfrm>
          <a:prstGeom prst="straightConnector1">
            <a:avLst/>
          </a:prstGeom>
          <a:noFill/>
          <a:ln w="9525" cap="flat" cmpd="sng">
            <a:solidFill>
              <a:schemeClr val="dk2"/>
            </a:solidFill>
            <a:prstDash val="solid"/>
            <a:round/>
            <a:headEnd type="none" w="med" len="med"/>
            <a:tailEnd type="none" w="med" len="med"/>
          </a:ln>
        </p:spPr>
      </p:cxnSp>
      <p:cxnSp>
        <p:nvCxnSpPr>
          <p:cNvPr id="1103" name="Google Shape;1103;p50"/>
          <p:cNvCxnSpPr/>
          <p:nvPr/>
        </p:nvCxnSpPr>
        <p:spPr>
          <a:xfrm>
            <a:off x="3932374" y="2882825"/>
            <a:ext cx="370500" cy="385200"/>
          </a:xfrm>
          <a:prstGeom prst="straightConnector1">
            <a:avLst/>
          </a:prstGeom>
          <a:noFill/>
          <a:ln w="9525" cap="flat" cmpd="sng">
            <a:solidFill>
              <a:schemeClr val="dk2"/>
            </a:solidFill>
            <a:prstDash val="solid"/>
            <a:round/>
            <a:headEnd type="none" w="med" len="med"/>
            <a:tailEnd type="none" w="med" len="med"/>
          </a:ln>
        </p:spPr>
      </p:cxnSp>
      <p:cxnSp>
        <p:nvCxnSpPr>
          <p:cNvPr id="1104" name="Google Shape;1104;p50"/>
          <p:cNvCxnSpPr/>
          <p:nvPr/>
        </p:nvCxnSpPr>
        <p:spPr>
          <a:xfrm>
            <a:off x="4313374" y="2882825"/>
            <a:ext cx="370500" cy="385200"/>
          </a:xfrm>
          <a:prstGeom prst="straightConnector1">
            <a:avLst/>
          </a:prstGeom>
          <a:noFill/>
          <a:ln w="9525" cap="flat" cmpd="sng">
            <a:solidFill>
              <a:schemeClr val="dk2"/>
            </a:solidFill>
            <a:prstDash val="solid"/>
            <a:round/>
            <a:headEnd type="none" w="med" len="med"/>
            <a:tailEnd type="none" w="med" len="med"/>
          </a:ln>
        </p:spPr>
      </p:cxnSp>
      <p:cxnSp>
        <p:nvCxnSpPr>
          <p:cNvPr id="1105" name="Google Shape;1105;p50"/>
          <p:cNvCxnSpPr/>
          <p:nvPr/>
        </p:nvCxnSpPr>
        <p:spPr>
          <a:xfrm>
            <a:off x="4694374" y="2882825"/>
            <a:ext cx="370500" cy="385200"/>
          </a:xfrm>
          <a:prstGeom prst="straightConnector1">
            <a:avLst/>
          </a:prstGeom>
          <a:noFill/>
          <a:ln w="9525" cap="flat" cmpd="sng">
            <a:solidFill>
              <a:schemeClr val="dk2"/>
            </a:solidFill>
            <a:prstDash val="solid"/>
            <a:round/>
            <a:headEnd type="none" w="med" len="med"/>
            <a:tailEnd type="none" w="med" len="med"/>
          </a:ln>
        </p:spPr>
      </p:cxnSp>
      <p:cxnSp>
        <p:nvCxnSpPr>
          <p:cNvPr id="1106" name="Google Shape;1106;p50"/>
          <p:cNvCxnSpPr/>
          <p:nvPr/>
        </p:nvCxnSpPr>
        <p:spPr>
          <a:xfrm>
            <a:off x="5075374" y="2882825"/>
            <a:ext cx="370500" cy="385200"/>
          </a:xfrm>
          <a:prstGeom prst="straightConnector1">
            <a:avLst/>
          </a:prstGeom>
          <a:noFill/>
          <a:ln w="9525" cap="flat" cmpd="sng">
            <a:solidFill>
              <a:schemeClr val="dk2"/>
            </a:solidFill>
            <a:prstDash val="solid"/>
            <a:round/>
            <a:headEnd type="none" w="med" len="med"/>
            <a:tailEnd type="none" w="med" len="med"/>
          </a:ln>
        </p:spPr>
      </p:cxnSp>
      <p:cxnSp>
        <p:nvCxnSpPr>
          <p:cNvPr id="1107" name="Google Shape;1107;p50"/>
          <p:cNvCxnSpPr/>
          <p:nvPr/>
        </p:nvCxnSpPr>
        <p:spPr>
          <a:xfrm>
            <a:off x="3934700" y="4321100"/>
            <a:ext cx="370500" cy="385200"/>
          </a:xfrm>
          <a:prstGeom prst="straightConnector1">
            <a:avLst/>
          </a:prstGeom>
          <a:noFill/>
          <a:ln w="9525" cap="flat" cmpd="sng">
            <a:solidFill>
              <a:schemeClr val="dk2"/>
            </a:solidFill>
            <a:prstDash val="solid"/>
            <a:round/>
            <a:headEnd type="none" w="med" len="med"/>
            <a:tailEnd type="none" w="med" len="med"/>
          </a:ln>
        </p:spPr>
      </p:cxnSp>
      <p:cxnSp>
        <p:nvCxnSpPr>
          <p:cNvPr id="1108" name="Google Shape;1108;p50"/>
          <p:cNvCxnSpPr/>
          <p:nvPr/>
        </p:nvCxnSpPr>
        <p:spPr>
          <a:xfrm>
            <a:off x="4315700" y="4321100"/>
            <a:ext cx="370500" cy="385200"/>
          </a:xfrm>
          <a:prstGeom prst="straightConnector1">
            <a:avLst/>
          </a:prstGeom>
          <a:noFill/>
          <a:ln w="9525" cap="flat" cmpd="sng">
            <a:solidFill>
              <a:schemeClr val="dk2"/>
            </a:solidFill>
            <a:prstDash val="solid"/>
            <a:round/>
            <a:headEnd type="none" w="med" len="med"/>
            <a:tailEnd type="none" w="med" len="med"/>
          </a:ln>
        </p:spPr>
      </p:cxnSp>
      <p:cxnSp>
        <p:nvCxnSpPr>
          <p:cNvPr id="1109" name="Google Shape;1109;p50"/>
          <p:cNvCxnSpPr/>
          <p:nvPr/>
        </p:nvCxnSpPr>
        <p:spPr>
          <a:xfrm>
            <a:off x="4696700" y="4321100"/>
            <a:ext cx="370500" cy="385200"/>
          </a:xfrm>
          <a:prstGeom prst="straightConnector1">
            <a:avLst/>
          </a:prstGeom>
          <a:noFill/>
          <a:ln w="9525" cap="flat" cmpd="sng">
            <a:solidFill>
              <a:schemeClr val="dk2"/>
            </a:solidFill>
            <a:prstDash val="solid"/>
            <a:round/>
            <a:headEnd type="none" w="med" len="med"/>
            <a:tailEnd type="none" w="med" len="med"/>
          </a:ln>
        </p:spPr>
      </p:cxnSp>
      <p:cxnSp>
        <p:nvCxnSpPr>
          <p:cNvPr id="1110" name="Google Shape;1110;p50"/>
          <p:cNvCxnSpPr/>
          <p:nvPr/>
        </p:nvCxnSpPr>
        <p:spPr>
          <a:xfrm>
            <a:off x="5077700" y="4321100"/>
            <a:ext cx="370500" cy="385200"/>
          </a:xfrm>
          <a:prstGeom prst="straightConnector1">
            <a:avLst/>
          </a:prstGeom>
          <a:noFill/>
          <a:ln w="9525" cap="flat" cmpd="sng">
            <a:solidFill>
              <a:schemeClr val="dk2"/>
            </a:solidFill>
            <a:prstDash val="solid"/>
            <a:round/>
            <a:headEnd type="none" w="med" len="med"/>
            <a:tailEnd type="none" w="med" len="med"/>
          </a:ln>
        </p:spPr>
      </p:cxnSp>
      <p:cxnSp>
        <p:nvCxnSpPr>
          <p:cNvPr id="1111" name="Google Shape;1111;p50"/>
          <p:cNvCxnSpPr/>
          <p:nvPr/>
        </p:nvCxnSpPr>
        <p:spPr>
          <a:xfrm>
            <a:off x="5449951" y="4315750"/>
            <a:ext cx="370500" cy="385200"/>
          </a:xfrm>
          <a:prstGeom prst="straightConnector1">
            <a:avLst/>
          </a:prstGeom>
          <a:noFill/>
          <a:ln w="9525" cap="flat" cmpd="sng">
            <a:solidFill>
              <a:schemeClr val="dk2"/>
            </a:solidFill>
            <a:prstDash val="solid"/>
            <a:round/>
            <a:headEnd type="none" w="med" len="med"/>
            <a:tailEnd type="none" w="med" len="med"/>
          </a:ln>
        </p:spPr>
      </p:cxnSp>
      <p:cxnSp>
        <p:nvCxnSpPr>
          <p:cNvPr id="1112" name="Google Shape;1112;p50"/>
          <p:cNvCxnSpPr/>
          <p:nvPr/>
        </p:nvCxnSpPr>
        <p:spPr>
          <a:xfrm>
            <a:off x="5827350" y="4310876"/>
            <a:ext cx="395100" cy="399600"/>
          </a:xfrm>
          <a:prstGeom prst="straightConnector1">
            <a:avLst/>
          </a:prstGeom>
          <a:noFill/>
          <a:ln w="9525" cap="flat" cmpd="sng">
            <a:solidFill>
              <a:schemeClr val="dk2"/>
            </a:solidFill>
            <a:prstDash val="solid"/>
            <a:round/>
            <a:headEnd type="none" w="med" len="med"/>
            <a:tailEnd type="none" w="med" len="med"/>
          </a:ln>
        </p:spPr>
      </p:cxnSp>
      <p:cxnSp>
        <p:nvCxnSpPr>
          <p:cNvPr id="1113" name="Google Shape;1113;p50"/>
          <p:cNvCxnSpPr/>
          <p:nvPr/>
        </p:nvCxnSpPr>
        <p:spPr>
          <a:xfrm>
            <a:off x="5832499" y="2875626"/>
            <a:ext cx="395100" cy="3996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17"/>
        <p:cNvGrpSpPr/>
        <p:nvPr/>
      </p:nvGrpSpPr>
      <p:grpSpPr>
        <a:xfrm>
          <a:off x="0" y="0"/>
          <a:ext cx="0" cy="0"/>
          <a:chOff x="0" y="0"/>
          <a:chExt cx="0" cy="0"/>
        </a:xfrm>
      </p:grpSpPr>
      <p:sp>
        <p:nvSpPr>
          <p:cNvPr id="1118" name="Google Shape;1118;p5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Alternate Idea #1: The Hash-Table Based Trie</a:t>
            </a:r>
            <a:endParaRPr/>
          </a:p>
        </p:txBody>
      </p:sp>
      <p:sp>
        <p:nvSpPr>
          <p:cNvPr id="1119" name="Google Shape;1119;p51"/>
          <p:cNvSpPr/>
          <p:nvPr/>
        </p:nvSpPr>
        <p:spPr>
          <a:xfrm>
            <a:off x="3848825" y="643575"/>
            <a:ext cx="2737800" cy="1982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51"/>
          <p:cNvSpPr txBox="1"/>
          <p:nvPr/>
        </p:nvSpPr>
        <p:spPr>
          <a:xfrm>
            <a:off x="4404594" y="698150"/>
            <a:ext cx="828000" cy="31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isKey:</a:t>
            </a:r>
            <a:endParaRPr/>
          </a:p>
        </p:txBody>
      </p:sp>
      <p:graphicFrame>
        <p:nvGraphicFramePr>
          <p:cNvPr id="1121" name="Google Shape;1121;p51"/>
          <p:cNvGraphicFramePr/>
          <p:nvPr/>
        </p:nvGraphicFramePr>
        <p:xfrm>
          <a:off x="5047044" y="706150"/>
          <a:ext cx="3000000" cy="3000000"/>
        </p:xfrm>
        <a:graphic>
          <a:graphicData uri="http://schemas.openxmlformats.org/drawingml/2006/table">
            <a:tbl>
              <a:tblPr>
                <a:noFill/>
                <a:tableStyleId>{BC467F25-A352-40E9-8C40-E7B4C2D9D289}</a:tableStyleId>
              </a:tblPr>
              <a:tblGrid>
                <a:gridCol w="382850">
                  <a:extLst>
                    <a:ext uri="{9D8B030D-6E8A-4147-A177-3AD203B41FA5}">
                      <a16:colId xmlns:a16="http://schemas.microsoft.com/office/drawing/2014/main" val="20000"/>
                    </a:ext>
                  </a:extLst>
                </a:gridCol>
              </a:tblGrid>
              <a:tr h="355200">
                <a:tc>
                  <a:txBody>
                    <a:bodyPr/>
                    <a:lstStyle/>
                    <a:p>
                      <a:pPr marL="0" lvl="0" indent="0" algn="ctr" rtl="0">
                        <a:spcBef>
                          <a:spcPts val="0"/>
                        </a:spcBef>
                        <a:spcAft>
                          <a:spcPts val="0"/>
                        </a:spcAft>
                        <a:buNone/>
                      </a:pPr>
                      <a:r>
                        <a:rPr lang="en"/>
                        <a:t>F</a:t>
                      </a:r>
                      <a:endParaRPr/>
                    </a:p>
                  </a:txBody>
                  <a:tcPr marL="91425" marR="91425" marT="91425" marB="91425">
                    <a:solidFill>
                      <a:srgbClr val="FFFFFF"/>
                    </a:solidFill>
                  </a:tcPr>
                </a:tc>
                <a:extLst>
                  <a:ext uri="{0D108BD9-81ED-4DB2-BD59-A6C34878D82A}">
                    <a16:rowId xmlns:a16="http://schemas.microsoft.com/office/drawing/2014/main" val="10000"/>
                  </a:ext>
                </a:extLst>
              </a:tr>
            </a:tbl>
          </a:graphicData>
        </a:graphic>
      </p:graphicFrame>
      <p:sp>
        <p:nvSpPr>
          <p:cNvPr id="1122" name="Google Shape;1122;p51"/>
          <p:cNvSpPr/>
          <p:nvPr/>
        </p:nvSpPr>
        <p:spPr>
          <a:xfrm>
            <a:off x="883779" y="1614563"/>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1123" name="Google Shape;1123;p51"/>
          <p:cNvSpPr/>
          <p:nvPr/>
        </p:nvSpPr>
        <p:spPr>
          <a:xfrm>
            <a:off x="386150" y="2291298"/>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cxnSp>
        <p:nvCxnSpPr>
          <p:cNvPr id="1124" name="Google Shape;1124;p51"/>
          <p:cNvCxnSpPr>
            <a:stCxn id="1122" idx="3"/>
            <a:endCxn id="1123" idx="0"/>
          </p:cNvCxnSpPr>
          <p:nvPr/>
        </p:nvCxnSpPr>
        <p:spPr>
          <a:xfrm flipH="1">
            <a:off x="602476" y="1984066"/>
            <a:ext cx="344700" cy="307200"/>
          </a:xfrm>
          <a:prstGeom prst="straightConnector1">
            <a:avLst/>
          </a:prstGeom>
          <a:noFill/>
          <a:ln w="28575" cap="flat" cmpd="sng">
            <a:solidFill>
              <a:schemeClr val="dk2"/>
            </a:solidFill>
            <a:prstDash val="solid"/>
            <a:round/>
            <a:headEnd type="none" w="med" len="med"/>
            <a:tailEnd type="none" w="med" len="med"/>
          </a:ln>
        </p:spPr>
      </p:cxnSp>
      <p:cxnSp>
        <p:nvCxnSpPr>
          <p:cNvPr id="1125" name="Google Shape;1125;p51"/>
          <p:cNvCxnSpPr>
            <a:endCxn id="1126" idx="0"/>
          </p:cNvCxnSpPr>
          <p:nvPr/>
        </p:nvCxnSpPr>
        <p:spPr>
          <a:xfrm>
            <a:off x="602600" y="2724073"/>
            <a:ext cx="0" cy="202500"/>
          </a:xfrm>
          <a:prstGeom prst="straightConnector1">
            <a:avLst/>
          </a:prstGeom>
          <a:noFill/>
          <a:ln w="28575" cap="flat" cmpd="sng">
            <a:solidFill>
              <a:schemeClr val="dk2"/>
            </a:solidFill>
            <a:prstDash val="solid"/>
            <a:round/>
            <a:headEnd type="none" w="med" len="med"/>
            <a:tailEnd type="none" w="med" len="med"/>
          </a:ln>
        </p:spPr>
      </p:cxnSp>
      <p:sp>
        <p:nvSpPr>
          <p:cNvPr id="1126" name="Google Shape;1126;p51"/>
          <p:cNvSpPr/>
          <p:nvPr/>
        </p:nvSpPr>
        <p:spPr>
          <a:xfrm>
            <a:off x="386150" y="2926573"/>
            <a:ext cx="432900" cy="432900"/>
          </a:xfrm>
          <a:prstGeom prst="ellipse">
            <a:avLst/>
          </a:prstGeom>
          <a:solidFill>
            <a:srgbClr val="C9DAF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d</a:t>
            </a:r>
            <a:endParaRPr sz="1800">
              <a:latin typeface="Consolas"/>
              <a:ea typeface="Consolas"/>
              <a:cs typeface="Consolas"/>
              <a:sym typeface="Consolas"/>
            </a:endParaRPr>
          </a:p>
        </p:txBody>
      </p:sp>
      <p:sp>
        <p:nvSpPr>
          <p:cNvPr id="1127" name="Google Shape;1127;p51"/>
          <p:cNvSpPr/>
          <p:nvPr/>
        </p:nvSpPr>
        <p:spPr>
          <a:xfrm>
            <a:off x="1316675" y="2291298"/>
            <a:ext cx="432900" cy="432900"/>
          </a:xfrm>
          <a:prstGeom prst="ellipse">
            <a:avLst/>
          </a:prstGeom>
          <a:solidFill>
            <a:srgbClr val="C9DAF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c</a:t>
            </a:r>
            <a:endParaRPr sz="1800">
              <a:latin typeface="Consolas"/>
              <a:ea typeface="Consolas"/>
              <a:cs typeface="Consolas"/>
              <a:sym typeface="Consolas"/>
            </a:endParaRPr>
          </a:p>
        </p:txBody>
      </p:sp>
      <p:cxnSp>
        <p:nvCxnSpPr>
          <p:cNvPr id="1128" name="Google Shape;1128;p51"/>
          <p:cNvCxnSpPr>
            <a:stCxn id="1122" idx="5"/>
            <a:endCxn id="1127" idx="0"/>
          </p:cNvCxnSpPr>
          <p:nvPr/>
        </p:nvCxnSpPr>
        <p:spPr>
          <a:xfrm>
            <a:off x="1253283" y="1984066"/>
            <a:ext cx="279900" cy="307200"/>
          </a:xfrm>
          <a:prstGeom prst="straightConnector1">
            <a:avLst/>
          </a:prstGeom>
          <a:noFill/>
          <a:ln w="28575" cap="flat" cmpd="sng">
            <a:solidFill>
              <a:schemeClr val="dk2"/>
            </a:solidFill>
            <a:prstDash val="solid"/>
            <a:round/>
            <a:headEnd type="none" w="med" len="med"/>
            <a:tailEnd type="none" w="med" len="med"/>
          </a:ln>
        </p:spPr>
      </p:cxnSp>
      <p:sp>
        <p:nvSpPr>
          <p:cNvPr id="1129" name="Google Shape;1129;p51"/>
          <p:cNvSpPr txBox="1"/>
          <p:nvPr/>
        </p:nvSpPr>
        <p:spPr>
          <a:xfrm>
            <a:off x="3863586" y="975948"/>
            <a:ext cx="980700" cy="31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links:</a:t>
            </a:r>
            <a:endParaRPr/>
          </a:p>
        </p:txBody>
      </p:sp>
      <p:grpSp>
        <p:nvGrpSpPr>
          <p:cNvPr id="1130" name="Google Shape;1130;p51"/>
          <p:cNvGrpSpPr/>
          <p:nvPr/>
        </p:nvGrpSpPr>
        <p:grpSpPr>
          <a:xfrm>
            <a:off x="2749950" y="2736447"/>
            <a:ext cx="2297100" cy="2109600"/>
            <a:chOff x="2749950" y="2736447"/>
            <a:chExt cx="2297100" cy="2109600"/>
          </a:xfrm>
        </p:grpSpPr>
        <p:sp>
          <p:nvSpPr>
            <p:cNvPr id="1131" name="Google Shape;1131;p51"/>
            <p:cNvSpPr/>
            <p:nvPr/>
          </p:nvSpPr>
          <p:spPr>
            <a:xfrm>
              <a:off x="2749950" y="2736447"/>
              <a:ext cx="2297100" cy="21096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51"/>
            <p:cNvSpPr txBox="1"/>
            <p:nvPr/>
          </p:nvSpPr>
          <p:spPr>
            <a:xfrm>
              <a:off x="3305719" y="2812825"/>
              <a:ext cx="828000" cy="31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isKey</a:t>
              </a:r>
              <a:r>
                <a:rPr lang="en"/>
                <a:t>:</a:t>
              </a:r>
              <a:endParaRPr/>
            </a:p>
          </p:txBody>
        </p:sp>
      </p:grpSp>
      <p:graphicFrame>
        <p:nvGraphicFramePr>
          <p:cNvPr id="1133" name="Google Shape;1133;p51"/>
          <p:cNvGraphicFramePr/>
          <p:nvPr/>
        </p:nvGraphicFramePr>
        <p:xfrm>
          <a:off x="3948169" y="2820825"/>
          <a:ext cx="3000000" cy="3000000"/>
        </p:xfrm>
        <a:graphic>
          <a:graphicData uri="http://schemas.openxmlformats.org/drawingml/2006/table">
            <a:tbl>
              <a:tblPr>
                <a:noFill/>
                <a:tableStyleId>{BC467F25-A352-40E9-8C40-E7B4C2D9D289}</a:tableStyleId>
              </a:tblPr>
              <a:tblGrid>
                <a:gridCol w="382850">
                  <a:extLst>
                    <a:ext uri="{9D8B030D-6E8A-4147-A177-3AD203B41FA5}">
                      <a16:colId xmlns:a16="http://schemas.microsoft.com/office/drawing/2014/main" val="20000"/>
                    </a:ext>
                  </a:extLst>
                </a:gridCol>
              </a:tblGrid>
              <a:tr h="355200">
                <a:tc>
                  <a:txBody>
                    <a:bodyPr/>
                    <a:lstStyle/>
                    <a:p>
                      <a:pPr marL="0" lvl="0" indent="0" algn="ctr" rtl="0">
                        <a:spcBef>
                          <a:spcPts val="0"/>
                        </a:spcBef>
                        <a:spcAft>
                          <a:spcPts val="0"/>
                        </a:spcAft>
                        <a:buNone/>
                      </a:pPr>
                      <a:r>
                        <a:rPr lang="en"/>
                        <a:t>F</a:t>
                      </a:r>
                      <a:endParaRPr/>
                    </a:p>
                  </a:txBody>
                  <a:tcPr marL="91425" marR="91425" marT="91425" marB="91425">
                    <a:solidFill>
                      <a:srgbClr val="FFFFFF"/>
                    </a:solidFill>
                  </a:tcPr>
                </a:tc>
                <a:extLst>
                  <a:ext uri="{0D108BD9-81ED-4DB2-BD59-A6C34878D82A}">
                    <a16:rowId xmlns:a16="http://schemas.microsoft.com/office/drawing/2014/main" val="10000"/>
                  </a:ext>
                </a:extLst>
              </a:tr>
            </a:tbl>
          </a:graphicData>
        </a:graphic>
      </p:graphicFrame>
      <p:sp>
        <p:nvSpPr>
          <p:cNvPr id="1134" name="Google Shape;1134;p51"/>
          <p:cNvSpPr txBox="1"/>
          <p:nvPr/>
        </p:nvSpPr>
        <p:spPr>
          <a:xfrm>
            <a:off x="2764711" y="3090623"/>
            <a:ext cx="980700" cy="31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links:</a:t>
            </a:r>
            <a:endParaRPr/>
          </a:p>
        </p:txBody>
      </p:sp>
      <p:sp>
        <p:nvSpPr>
          <p:cNvPr id="1135" name="Google Shape;1135;p51"/>
          <p:cNvSpPr/>
          <p:nvPr/>
        </p:nvSpPr>
        <p:spPr>
          <a:xfrm>
            <a:off x="6145925" y="2736350"/>
            <a:ext cx="2297100" cy="21096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51"/>
          <p:cNvSpPr txBox="1"/>
          <p:nvPr/>
        </p:nvSpPr>
        <p:spPr>
          <a:xfrm>
            <a:off x="6701695" y="2812825"/>
            <a:ext cx="828000" cy="31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isKey</a:t>
            </a:r>
            <a:r>
              <a:rPr lang="en"/>
              <a:t>:</a:t>
            </a:r>
            <a:endParaRPr/>
          </a:p>
        </p:txBody>
      </p:sp>
      <p:graphicFrame>
        <p:nvGraphicFramePr>
          <p:cNvPr id="1137" name="Google Shape;1137;p51"/>
          <p:cNvGraphicFramePr/>
          <p:nvPr/>
        </p:nvGraphicFramePr>
        <p:xfrm>
          <a:off x="7344145" y="2820825"/>
          <a:ext cx="3000000" cy="3000000"/>
        </p:xfrm>
        <a:graphic>
          <a:graphicData uri="http://schemas.openxmlformats.org/drawingml/2006/table">
            <a:tbl>
              <a:tblPr>
                <a:noFill/>
                <a:tableStyleId>{BC467F25-A352-40E9-8C40-E7B4C2D9D289}</a:tableStyleId>
              </a:tblPr>
              <a:tblGrid>
                <a:gridCol w="382850">
                  <a:extLst>
                    <a:ext uri="{9D8B030D-6E8A-4147-A177-3AD203B41FA5}">
                      <a16:colId xmlns:a16="http://schemas.microsoft.com/office/drawing/2014/main" val="20000"/>
                    </a:ext>
                  </a:extLst>
                </a:gridCol>
              </a:tblGrid>
              <a:tr h="355200">
                <a:tc>
                  <a:txBody>
                    <a:bodyPr/>
                    <a:lstStyle/>
                    <a:p>
                      <a:pPr marL="0" lvl="0" indent="0" algn="ctr" rtl="0">
                        <a:spcBef>
                          <a:spcPts val="0"/>
                        </a:spcBef>
                        <a:spcAft>
                          <a:spcPts val="0"/>
                        </a:spcAft>
                        <a:buNone/>
                      </a:pPr>
                      <a:r>
                        <a:rPr lang="en"/>
                        <a:t>T</a:t>
                      </a:r>
                      <a:endParaRPr/>
                    </a:p>
                  </a:txBody>
                  <a:tcPr marL="91425" marR="91425" marT="91425" marB="91425">
                    <a:solidFill>
                      <a:srgbClr val="C9DAF8"/>
                    </a:solidFill>
                  </a:tcPr>
                </a:tc>
                <a:extLst>
                  <a:ext uri="{0D108BD9-81ED-4DB2-BD59-A6C34878D82A}">
                    <a16:rowId xmlns:a16="http://schemas.microsoft.com/office/drawing/2014/main" val="10000"/>
                  </a:ext>
                </a:extLst>
              </a:tr>
            </a:tbl>
          </a:graphicData>
        </a:graphic>
      </p:graphicFrame>
      <p:sp>
        <p:nvSpPr>
          <p:cNvPr id="1138" name="Google Shape;1138;p51"/>
          <p:cNvSpPr txBox="1"/>
          <p:nvPr/>
        </p:nvSpPr>
        <p:spPr>
          <a:xfrm>
            <a:off x="6160686" y="3166823"/>
            <a:ext cx="980700" cy="31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links:</a:t>
            </a:r>
            <a:endParaRPr/>
          </a:p>
        </p:txBody>
      </p:sp>
      <p:grpSp>
        <p:nvGrpSpPr>
          <p:cNvPr id="1139" name="Google Shape;1139;p51"/>
          <p:cNvGrpSpPr/>
          <p:nvPr/>
        </p:nvGrpSpPr>
        <p:grpSpPr>
          <a:xfrm>
            <a:off x="4310326" y="1291850"/>
            <a:ext cx="2056800" cy="1214150"/>
            <a:chOff x="4310326" y="1291850"/>
            <a:chExt cx="2056800" cy="1214150"/>
          </a:xfrm>
        </p:grpSpPr>
        <p:sp>
          <p:nvSpPr>
            <p:cNvPr id="1140" name="Google Shape;1140;p51"/>
            <p:cNvSpPr/>
            <p:nvPr/>
          </p:nvSpPr>
          <p:spPr>
            <a:xfrm>
              <a:off x="4310326" y="1307800"/>
              <a:ext cx="2056800" cy="1198200"/>
            </a:xfrm>
            <a:prstGeom prst="rect">
              <a:avLst/>
            </a:prstGeom>
            <a:solidFill>
              <a:srgbClr val="EFEFE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51"/>
            <p:cNvSpPr/>
            <p:nvPr/>
          </p:nvSpPr>
          <p:spPr>
            <a:xfrm>
              <a:off x="4727788" y="1863042"/>
              <a:ext cx="335400" cy="2370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nsolas"/>
                <a:ea typeface="Consolas"/>
                <a:cs typeface="Consolas"/>
                <a:sym typeface="Consolas"/>
              </a:endParaRPr>
            </a:p>
          </p:txBody>
        </p:sp>
        <p:sp>
          <p:nvSpPr>
            <p:cNvPr id="1142" name="Google Shape;1142;p51"/>
            <p:cNvSpPr/>
            <p:nvPr/>
          </p:nvSpPr>
          <p:spPr>
            <a:xfrm>
              <a:off x="4727788" y="2096897"/>
              <a:ext cx="335400" cy="2370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nsolas"/>
                <a:ea typeface="Consolas"/>
                <a:cs typeface="Consolas"/>
                <a:sym typeface="Consolas"/>
              </a:endParaRPr>
            </a:p>
          </p:txBody>
        </p:sp>
        <p:sp>
          <p:nvSpPr>
            <p:cNvPr id="1143" name="Google Shape;1143;p51"/>
            <p:cNvSpPr/>
            <p:nvPr/>
          </p:nvSpPr>
          <p:spPr>
            <a:xfrm>
              <a:off x="4727788" y="1622618"/>
              <a:ext cx="335400" cy="2370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nsolas"/>
                <a:ea typeface="Consolas"/>
                <a:cs typeface="Consolas"/>
                <a:sym typeface="Consolas"/>
              </a:endParaRPr>
            </a:p>
          </p:txBody>
        </p:sp>
        <p:sp>
          <p:nvSpPr>
            <p:cNvPr id="1144" name="Google Shape;1144;p51"/>
            <p:cNvSpPr/>
            <p:nvPr/>
          </p:nvSpPr>
          <p:spPr>
            <a:xfrm>
              <a:off x="4727788" y="1388763"/>
              <a:ext cx="335400" cy="2370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nsolas"/>
                <a:ea typeface="Consolas"/>
                <a:cs typeface="Consolas"/>
                <a:sym typeface="Consolas"/>
              </a:endParaRPr>
            </a:p>
          </p:txBody>
        </p:sp>
        <p:sp>
          <p:nvSpPr>
            <p:cNvPr id="1145" name="Google Shape;1145;p51"/>
            <p:cNvSpPr/>
            <p:nvPr/>
          </p:nvSpPr>
          <p:spPr>
            <a:xfrm>
              <a:off x="5298038" y="2091924"/>
              <a:ext cx="251400" cy="2400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cxnSp>
          <p:nvCxnSpPr>
            <p:cNvPr id="1146" name="Google Shape;1146;p51"/>
            <p:cNvCxnSpPr>
              <a:endCxn id="1145" idx="1"/>
            </p:cNvCxnSpPr>
            <p:nvPr/>
          </p:nvCxnSpPr>
          <p:spPr>
            <a:xfrm>
              <a:off x="4920638" y="2211924"/>
              <a:ext cx="377400" cy="0"/>
            </a:xfrm>
            <a:prstGeom prst="straightConnector1">
              <a:avLst/>
            </a:prstGeom>
            <a:noFill/>
            <a:ln w="19050" cap="flat" cmpd="sng">
              <a:solidFill>
                <a:srgbClr val="666666"/>
              </a:solidFill>
              <a:prstDash val="solid"/>
              <a:round/>
              <a:headEnd type="none" w="med" len="med"/>
              <a:tailEnd type="triangle" w="med" len="med"/>
            </a:ln>
          </p:spPr>
        </p:cxnSp>
        <p:sp>
          <p:nvSpPr>
            <p:cNvPr id="1147" name="Google Shape;1147;p51"/>
            <p:cNvSpPr/>
            <p:nvPr/>
          </p:nvSpPr>
          <p:spPr>
            <a:xfrm>
              <a:off x="5298038" y="1606292"/>
              <a:ext cx="251400" cy="2400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cxnSp>
          <p:nvCxnSpPr>
            <p:cNvPr id="1148" name="Google Shape;1148;p51"/>
            <p:cNvCxnSpPr>
              <a:endCxn id="1147" idx="1"/>
            </p:cNvCxnSpPr>
            <p:nvPr/>
          </p:nvCxnSpPr>
          <p:spPr>
            <a:xfrm>
              <a:off x="4920638" y="1726292"/>
              <a:ext cx="377400" cy="0"/>
            </a:xfrm>
            <a:prstGeom prst="straightConnector1">
              <a:avLst/>
            </a:prstGeom>
            <a:noFill/>
            <a:ln w="19050" cap="flat" cmpd="sng">
              <a:solidFill>
                <a:srgbClr val="666666"/>
              </a:solidFill>
              <a:prstDash val="solid"/>
              <a:round/>
              <a:headEnd type="none" w="med" len="med"/>
              <a:tailEnd type="triangle" w="med" len="med"/>
            </a:ln>
          </p:spPr>
        </p:cxnSp>
        <p:sp>
          <p:nvSpPr>
            <p:cNvPr id="1149" name="Google Shape;1149;p51"/>
            <p:cNvSpPr txBox="1"/>
            <p:nvPr/>
          </p:nvSpPr>
          <p:spPr>
            <a:xfrm>
              <a:off x="4445300" y="1291850"/>
              <a:ext cx="288300" cy="10401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marL="0" lvl="0" indent="0" algn="r" rtl="0">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marL="0" lvl="0" indent="0" algn="r" rtl="0">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marL="0" lvl="0" indent="0" algn="r" rtl="0">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p:txBody>
        </p:sp>
        <p:cxnSp>
          <p:nvCxnSpPr>
            <p:cNvPr id="1150" name="Google Shape;1150;p51"/>
            <p:cNvCxnSpPr/>
            <p:nvPr/>
          </p:nvCxnSpPr>
          <p:spPr>
            <a:xfrm rot="10800000" flipH="1">
              <a:off x="4728559" y="1882653"/>
              <a:ext cx="333900" cy="192900"/>
            </a:xfrm>
            <a:prstGeom prst="straightConnector1">
              <a:avLst/>
            </a:prstGeom>
            <a:noFill/>
            <a:ln w="19050" cap="flat" cmpd="sng">
              <a:solidFill>
                <a:srgbClr val="666666"/>
              </a:solidFill>
              <a:prstDash val="solid"/>
              <a:round/>
              <a:headEnd type="none" w="med" len="med"/>
              <a:tailEnd type="none" w="med" len="med"/>
            </a:ln>
          </p:spPr>
        </p:cxnSp>
        <p:cxnSp>
          <p:nvCxnSpPr>
            <p:cNvPr id="1151" name="Google Shape;1151;p51"/>
            <p:cNvCxnSpPr/>
            <p:nvPr/>
          </p:nvCxnSpPr>
          <p:spPr>
            <a:xfrm rot="10800000" flipH="1">
              <a:off x="4728559" y="1412633"/>
              <a:ext cx="333900" cy="192900"/>
            </a:xfrm>
            <a:prstGeom prst="straightConnector1">
              <a:avLst/>
            </a:prstGeom>
            <a:noFill/>
            <a:ln w="19050" cap="flat" cmpd="sng">
              <a:solidFill>
                <a:srgbClr val="666666"/>
              </a:solidFill>
              <a:prstDash val="solid"/>
              <a:round/>
              <a:headEnd type="none" w="med" len="med"/>
              <a:tailEnd type="none" w="med" len="med"/>
            </a:ln>
          </p:spPr>
        </p:cxnSp>
        <p:sp>
          <p:nvSpPr>
            <p:cNvPr id="1152" name="Google Shape;1152;p51"/>
            <p:cNvSpPr/>
            <p:nvPr/>
          </p:nvSpPr>
          <p:spPr>
            <a:xfrm>
              <a:off x="5549438" y="1606292"/>
              <a:ext cx="251400" cy="240000"/>
            </a:xfrm>
            <a:prstGeom prst="rect">
              <a:avLst/>
            </a:prstGeom>
            <a:solidFill>
              <a:srgbClr val="D9D2E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51"/>
            <p:cNvSpPr/>
            <p:nvPr/>
          </p:nvSpPr>
          <p:spPr>
            <a:xfrm>
              <a:off x="5549438" y="2091924"/>
              <a:ext cx="251400" cy="240000"/>
            </a:xfrm>
            <a:prstGeom prst="rect">
              <a:avLst/>
            </a:prstGeom>
            <a:solidFill>
              <a:srgbClr val="D9D2E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154" name="Google Shape;1154;p51"/>
          <p:cNvCxnSpPr>
            <a:endCxn id="1131" idx="0"/>
          </p:cNvCxnSpPr>
          <p:nvPr/>
        </p:nvCxnSpPr>
        <p:spPr>
          <a:xfrm flipH="1">
            <a:off x="3898500" y="1728147"/>
            <a:ext cx="1771500" cy="1008300"/>
          </a:xfrm>
          <a:prstGeom prst="straightConnector1">
            <a:avLst/>
          </a:prstGeom>
          <a:noFill/>
          <a:ln w="28575" cap="flat" cmpd="sng">
            <a:solidFill>
              <a:schemeClr val="dk2"/>
            </a:solidFill>
            <a:prstDash val="solid"/>
            <a:round/>
            <a:headEnd type="none" w="med" len="med"/>
            <a:tailEnd type="triangle" w="med" len="med"/>
          </a:ln>
        </p:spPr>
      </p:cxnSp>
      <p:grpSp>
        <p:nvGrpSpPr>
          <p:cNvPr id="1155" name="Google Shape;1155;p51"/>
          <p:cNvGrpSpPr/>
          <p:nvPr/>
        </p:nvGrpSpPr>
        <p:grpSpPr>
          <a:xfrm>
            <a:off x="2870101" y="3438275"/>
            <a:ext cx="2056800" cy="1812525"/>
            <a:chOff x="2870101" y="3438275"/>
            <a:chExt cx="2056800" cy="1812525"/>
          </a:xfrm>
        </p:grpSpPr>
        <p:sp>
          <p:nvSpPr>
            <p:cNvPr id="1156" name="Google Shape;1156;p51"/>
            <p:cNvSpPr/>
            <p:nvPr/>
          </p:nvSpPr>
          <p:spPr>
            <a:xfrm>
              <a:off x="2870101" y="3454225"/>
              <a:ext cx="2056800" cy="1198200"/>
            </a:xfrm>
            <a:prstGeom prst="rect">
              <a:avLst/>
            </a:prstGeom>
            <a:solidFill>
              <a:srgbClr val="EFEFE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51"/>
            <p:cNvSpPr/>
            <p:nvPr/>
          </p:nvSpPr>
          <p:spPr>
            <a:xfrm>
              <a:off x="3287563" y="4009467"/>
              <a:ext cx="335400" cy="2370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nsolas"/>
                <a:ea typeface="Consolas"/>
                <a:cs typeface="Consolas"/>
                <a:sym typeface="Consolas"/>
              </a:endParaRPr>
            </a:p>
          </p:txBody>
        </p:sp>
        <p:sp>
          <p:nvSpPr>
            <p:cNvPr id="1158" name="Google Shape;1158;p51"/>
            <p:cNvSpPr/>
            <p:nvPr/>
          </p:nvSpPr>
          <p:spPr>
            <a:xfrm>
              <a:off x="3287563" y="4243322"/>
              <a:ext cx="335400" cy="2370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nsolas"/>
                <a:ea typeface="Consolas"/>
                <a:cs typeface="Consolas"/>
                <a:sym typeface="Consolas"/>
              </a:endParaRPr>
            </a:p>
          </p:txBody>
        </p:sp>
        <p:sp>
          <p:nvSpPr>
            <p:cNvPr id="1159" name="Google Shape;1159;p51"/>
            <p:cNvSpPr/>
            <p:nvPr/>
          </p:nvSpPr>
          <p:spPr>
            <a:xfrm>
              <a:off x="3287563" y="3769043"/>
              <a:ext cx="335400" cy="2370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nsolas"/>
                <a:ea typeface="Consolas"/>
                <a:cs typeface="Consolas"/>
                <a:sym typeface="Consolas"/>
              </a:endParaRPr>
            </a:p>
          </p:txBody>
        </p:sp>
        <p:sp>
          <p:nvSpPr>
            <p:cNvPr id="1160" name="Google Shape;1160;p51"/>
            <p:cNvSpPr/>
            <p:nvPr/>
          </p:nvSpPr>
          <p:spPr>
            <a:xfrm>
              <a:off x="3287563" y="3535188"/>
              <a:ext cx="335400" cy="2370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nsolas"/>
                <a:ea typeface="Consolas"/>
                <a:cs typeface="Consolas"/>
                <a:sym typeface="Consolas"/>
              </a:endParaRPr>
            </a:p>
          </p:txBody>
        </p:sp>
        <p:sp>
          <p:nvSpPr>
            <p:cNvPr id="1161" name="Google Shape;1161;p51"/>
            <p:cNvSpPr/>
            <p:nvPr/>
          </p:nvSpPr>
          <p:spPr>
            <a:xfrm>
              <a:off x="3857813" y="3524117"/>
              <a:ext cx="251400" cy="2400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cxnSp>
          <p:nvCxnSpPr>
            <p:cNvPr id="1162" name="Google Shape;1162;p51"/>
            <p:cNvCxnSpPr>
              <a:endCxn id="1161" idx="1"/>
            </p:cNvCxnSpPr>
            <p:nvPr/>
          </p:nvCxnSpPr>
          <p:spPr>
            <a:xfrm>
              <a:off x="3480413" y="3644117"/>
              <a:ext cx="377400" cy="0"/>
            </a:xfrm>
            <a:prstGeom prst="straightConnector1">
              <a:avLst/>
            </a:prstGeom>
            <a:noFill/>
            <a:ln w="19050" cap="flat" cmpd="sng">
              <a:solidFill>
                <a:srgbClr val="666666"/>
              </a:solidFill>
              <a:prstDash val="solid"/>
              <a:round/>
              <a:headEnd type="none" w="med" len="med"/>
              <a:tailEnd type="triangle" w="med" len="med"/>
            </a:ln>
          </p:spPr>
        </p:cxnSp>
        <p:sp>
          <p:nvSpPr>
            <p:cNvPr id="1163" name="Google Shape;1163;p51"/>
            <p:cNvSpPr txBox="1"/>
            <p:nvPr/>
          </p:nvSpPr>
          <p:spPr>
            <a:xfrm>
              <a:off x="3005075" y="3438275"/>
              <a:ext cx="288300" cy="10401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marL="0" lvl="0" indent="0" algn="r" rtl="0">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marL="0" lvl="0" indent="0" algn="r" rtl="0">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marL="0" lvl="0" indent="0" algn="r" rtl="0">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p:txBody>
        </p:sp>
        <p:cxnSp>
          <p:nvCxnSpPr>
            <p:cNvPr id="1164" name="Google Shape;1164;p51"/>
            <p:cNvCxnSpPr/>
            <p:nvPr/>
          </p:nvCxnSpPr>
          <p:spPr>
            <a:xfrm rot="10800000" flipH="1">
              <a:off x="3288334" y="4029078"/>
              <a:ext cx="333900" cy="192900"/>
            </a:xfrm>
            <a:prstGeom prst="straightConnector1">
              <a:avLst/>
            </a:prstGeom>
            <a:noFill/>
            <a:ln w="19050" cap="flat" cmpd="sng">
              <a:solidFill>
                <a:srgbClr val="666666"/>
              </a:solidFill>
              <a:prstDash val="solid"/>
              <a:round/>
              <a:headEnd type="none" w="med" len="med"/>
              <a:tailEnd type="none" w="med" len="med"/>
            </a:ln>
          </p:spPr>
        </p:cxnSp>
        <p:sp>
          <p:nvSpPr>
            <p:cNvPr id="1165" name="Google Shape;1165;p51"/>
            <p:cNvSpPr/>
            <p:nvPr/>
          </p:nvSpPr>
          <p:spPr>
            <a:xfrm>
              <a:off x="4109213" y="3524117"/>
              <a:ext cx="251400" cy="240000"/>
            </a:xfrm>
            <a:prstGeom prst="rect">
              <a:avLst/>
            </a:prstGeom>
            <a:solidFill>
              <a:srgbClr val="D9D2E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66" name="Google Shape;1166;p51"/>
            <p:cNvCxnSpPr/>
            <p:nvPr/>
          </p:nvCxnSpPr>
          <p:spPr>
            <a:xfrm rot="10800000" flipH="1">
              <a:off x="3288334" y="3790727"/>
              <a:ext cx="333900" cy="192900"/>
            </a:xfrm>
            <a:prstGeom prst="straightConnector1">
              <a:avLst/>
            </a:prstGeom>
            <a:noFill/>
            <a:ln w="19050" cap="flat" cmpd="sng">
              <a:solidFill>
                <a:srgbClr val="666666"/>
              </a:solidFill>
              <a:prstDash val="solid"/>
              <a:round/>
              <a:headEnd type="none" w="med" len="med"/>
              <a:tailEnd type="none" w="med" len="med"/>
            </a:ln>
          </p:spPr>
        </p:cxnSp>
        <p:cxnSp>
          <p:nvCxnSpPr>
            <p:cNvPr id="1167" name="Google Shape;1167;p51"/>
            <p:cNvCxnSpPr/>
            <p:nvPr/>
          </p:nvCxnSpPr>
          <p:spPr>
            <a:xfrm rot="10800000" flipH="1">
              <a:off x="3288334" y="4267429"/>
              <a:ext cx="333900" cy="192900"/>
            </a:xfrm>
            <a:prstGeom prst="straightConnector1">
              <a:avLst/>
            </a:prstGeom>
            <a:noFill/>
            <a:ln w="19050" cap="flat" cmpd="sng">
              <a:solidFill>
                <a:srgbClr val="666666"/>
              </a:solidFill>
              <a:prstDash val="solid"/>
              <a:round/>
              <a:headEnd type="none" w="med" len="med"/>
              <a:tailEnd type="none" w="med" len="med"/>
            </a:ln>
          </p:spPr>
        </p:cxnSp>
        <p:cxnSp>
          <p:nvCxnSpPr>
            <p:cNvPr id="1168" name="Google Shape;1168;p51"/>
            <p:cNvCxnSpPr/>
            <p:nvPr/>
          </p:nvCxnSpPr>
          <p:spPr>
            <a:xfrm>
              <a:off x="4226925" y="3641900"/>
              <a:ext cx="131700" cy="1608900"/>
            </a:xfrm>
            <a:prstGeom prst="straightConnector1">
              <a:avLst/>
            </a:prstGeom>
            <a:noFill/>
            <a:ln w="28575" cap="flat" cmpd="sng">
              <a:solidFill>
                <a:schemeClr val="dk2"/>
              </a:solidFill>
              <a:prstDash val="solid"/>
              <a:round/>
              <a:headEnd type="none" w="med" len="med"/>
              <a:tailEnd type="triangle" w="med" len="med"/>
            </a:ln>
          </p:spPr>
        </p:cxnSp>
      </p:grpSp>
      <p:sp>
        <p:nvSpPr>
          <p:cNvPr id="1169" name="Google Shape;1169;p51"/>
          <p:cNvSpPr/>
          <p:nvPr/>
        </p:nvSpPr>
        <p:spPr>
          <a:xfrm>
            <a:off x="6206101" y="3498675"/>
            <a:ext cx="2056800" cy="1198200"/>
          </a:xfrm>
          <a:prstGeom prst="rect">
            <a:avLst/>
          </a:prstGeom>
          <a:solidFill>
            <a:srgbClr val="EFEFE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51"/>
          <p:cNvSpPr/>
          <p:nvPr/>
        </p:nvSpPr>
        <p:spPr>
          <a:xfrm>
            <a:off x="6623563" y="4053917"/>
            <a:ext cx="335400" cy="2370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nsolas"/>
              <a:ea typeface="Consolas"/>
              <a:cs typeface="Consolas"/>
              <a:sym typeface="Consolas"/>
            </a:endParaRPr>
          </a:p>
        </p:txBody>
      </p:sp>
      <p:sp>
        <p:nvSpPr>
          <p:cNvPr id="1171" name="Google Shape;1171;p51"/>
          <p:cNvSpPr/>
          <p:nvPr/>
        </p:nvSpPr>
        <p:spPr>
          <a:xfrm>
            <a:off x="6623563" y="4287772"/>
            <a:ext cx="335400" cy="2370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nsolas"/>
              <a:ea typeface="Consolas"/>
              <a:cs typeface="Consolas"/>
              <a:sym typeface="Consolas"/>
            </a:endParaRPr>
          </a:p>
        </p:txBody>
      </p:sp>
      <p:sp>
        <p:nvSpPr>
          <p:cNvPr id="1172" name="Google Shape;1172;p51"/>
          <p:cNvSpPr/>
          <p:nvPr/>
        </p:nvSpPr>
        <p:spPr>
          <a:xfrm>
            <a:off x="6623563" y="3813493"/>
            <a:ext cx="335400" cy="2370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nsolas"/>
              <a:ea typeface="Consolas"/>
              <a:cs typeface="Consolas"/>
              <a:sym typeface="Consolas"/>
            </a:endParaRPr>
          </a:p>
        </p:txBody>
      </p:sp>
      <p:sp>
        <p:nvSpPr>
          <p:cNvPr id="1173" name="Google Shape;1173;p51"/>
          <p:cNvSpPr/>
          <p:nvPr/>
        </p:nvSpPr>
        <p:spPr>
          <a:xfrm>
            <a:off x="6623563" y="3579638"/>
            <a:ext cx="335400" cy="2370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nsolas"/>
              <a:ea typeface="Consolas"/>
              <a:cs typeface="Consolas"/>
              <a:sym typeface="Consolas"/>
            </a:endParaRPr>
          </a:p>
        </p:txBody>
      </p:sp>
      <p:sp>
        <p:nvSpPr>
          <p:cNvPr id="1174" name="Google Shape;1174;p51"/>
          <p:cNvSpPr txBox="1"/>
          <p:nvPr/>
        </p:nvSpPr>
        <p:spPr>
          <a:xfrm>
            <a:off x="6341075" y="3482725"/>
            <a:ext cx="288300" cy="10401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marL="0" lvl="0" indent="0" algn="r" rtl="0">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marL="0" lvl="0" indent="0" algn="r" rtl="0">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marL="0" lvl="0" indent="0" algn="r" rtl="0">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p:txBody>
      </p:sp>
      <p:cxnSp>
        <p:nvCxnSpPr>
          <p:cNvPr id="1175" name="Google Shape;1175;p51"/>
          <p:cNvCxnSpPr/>
          <p:nvPr/>
        </p:nvCxnSpPr>
        <p:spPr>
          <a:xfrm rot="10800000" flipH="1">
            <a:off x="6624334" y="4073528"/>
            <a:ext cx="333900" cy="192900"/>
          </a:xfrm>
          <a:prstGeom prst="straightConnector1">
            <a:avLst/>
          </a:prstGeom>
          <a:noFill/>
          <a:ln w="19050" cap="flat" cmpd="sng">
            <a:solidFill>
              <a:srgbClr val="666666"/>
            </a:solidFill>
            <a:prstDash val="solid"/>
            <a:round/>
            <a:headEnd type="none" w="med" len="med"/>
            <a:tailEnd type="none" w="med" len="med"/>
          </a:ln>
        </p:spPr>
      </p:cxnSp>
      <p:cxnSp>
        <p:nvCxnSpPr>
          <p:cNvPr id="1176" name="Google Shape;1176;p51"/>
          <p:cNvCxnSpPr/>
          <p:nvPr/>
        </p:nvCxnSpPr>
        <p:spPr>
          <a:xfrm rot="10800000" flipH="1">
            <a:off x="6624334" y="3835177"/>
            <a:ext cx="333900" cy="192900"/>
          </a:xfrm>
          <a:prstGeom prst="straightConnector1">
            <a:avLst/>
          </a:prstGeom>
          <a:noFill/>
          <a:ln w="19050" cap="flat" cmpd="sng">
            <a:solidFill>
              <a:srgbClr val="666666"/>
            </a:solidFill>
            <a:prstDash val="solid"/>
            <a:round/>
            <a:headEnd type="none" w="med" len="med"/>
            <a:tailEnd type="none" w="med" len="med"/>
          </a:ln>
        </p:spPr>
      </p:cxnSp>
      <p:cxnSp>
        <p:nvCxnSpPr>
          <p:cNvPr id="1177" name="Google Shape;1177;p51"/>
          <p:cNvCxnSpPr/>
          <p:nvPr/>
        </p:nvCxnSpPr>
        <p:spPr>
          <a:xfrm rot="10800000" flipH="1">
            <a:off x="6624334" y="4311879"/>
            <a:ext cx="333900" cy="192900"/>
          </a:xfrm>
          <a:prstGeom prst="straightConnector1">
            <a:avLst/>
          </a:prstGeom>
          <a:noFill/>
          <a:ln w="19050" cap="flat" cmpd="sng">
            <a:solidFill>
              <a:srgbClr val="666666"/>
            </a:solidFill>
            <a:prstDash val="solid"/>
            <a:round/>
            <a:headEnd type="none" w="med" len="med"/>
            <a:tailEnd type="none" w="med" len="med"/>
          </a:ln>
        </p:spPr>
      </p:cxnSp>
      <p:cxnSp>
        <p:nvCxnSpPr>
          <p:cNvPr id="1178" name="Google Shape;1178;p51"/>
          <p:cNvCxnSpPr/>
          <p:nvPr/>
        </p:nvCxnSpPr>
        <p:spPr>
          <a:xfrm rot="10800000" flipH="1">
            <a:off x="6624334" y="3602551"/>
            <a:ext cx="333900" cy="192900"/>
          </a:xfrm>
          <a:prstGeom prst="straightConnector1">
            <a:avLst/>
          </a:prstGeom>
          <a:noFill/>
          <a:ln w="19050" cap="flat" cmpd="sng">
            <a:solidFill>
              <a:srgbClr val="666666"/>
            </a:solidFill>
            <a:prstDash val="solid"/>
            <a:round/>
            <a:headEnd type="none" w="med" len="med"/>
            <a:tailEnd type="none" w="med" len="med"/>
          </a:ln>
        </p:spPr>
      </p:cxnSp>
      <p:cxnSp>
        <p:nvCxnSpPr>
          <p:cNvPr id="1179" name="Google Shape;1179;p51"/>
          <p:cNvCxnSpPr>
            <a:endCxn id="1135" idx="0"/>
          </p:cNvCxnSpPr>
          <p:nvPr/>
        </p:nvCxnSpPr>
        <p:spPr>
          <a:xfrm>
            <a:off x="5664875" y="2229050"/>
            <a:ext cx="1629600" cy="507300"/>
          </a:xfrm>
          <a:prstGeom prst="straightConnector1">
            <a:avLst/>
          </a:prstGeom>
          <a:noFill/>
          <a:ln w="28575" cap="flat" cmpd="sng">
            <a:solidFill>
              <a:schemeClr val="dk2"/>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39"/>
                                        </p:tgtEl>
                                        <p:attrNameLst>
                                          <p:attrName>style.visibility</p:attrName>
                                        </p:attrNameLst>
                                      </p:cBhvr>
                                      <p:to>
                                        <p:strVal val="visible"/>
                                      </p:to>
                                    </p:set>
                                    <p:animEffect transition="in" filter="fade">
                                      <p:cBhvr>
                                        <p:cTn id="7" dur="1000"/>
                                        <p:tgtEl>
                                          <p:spTgt spid="113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30"/>
                                        </p:tgtEl>
                                        <p:attrNameLst>
                                          <p:attrName>style.visibility</p:attrName>
                                        </p:attrNameLst>
                                      </p:cBhvr>
                                      <p:to>
                                        <p:strVal val="visible"/>
                                      </p:to>
                                    </p:set>
                                    <p:animEffect transition="in" filter="fade">
                                      <p:cBhvr>
                                        <p:cTn id="12" dur="1000"/>
                                        <p:tgtEl>
                                          <p:spTgt spid="1130"/>
                                        </p:tgtEl>
                                      </p:cBhvr>
                                    </p:animEffect>
                                  </p:childTnLst>
                                </p:cTn>
                              </p:par>
                              <p:par>
                                <p:cTn id="13" presetID="10" presetClass="entr" presetSubtype="0" fill="hold" nodeType="withEffect">
                                  <p:stCondLst>
                                    <p:cond delay="0"/>
                                  </p:stCondLst>
                                  <p:childTnLst>
                                    <p:set>
                                      <p:cBhvr>
                                        <p:cTn id="14" dur="1" fill="hold">
                                          <p:stCondLst>
                                            <p:cond delay="0"/>
                                          </p:stCondLst>
                                        </p:cTn>
                                        <p:tgtEl>
                                          <p:spTgt spid="1154"/>
                                        </p:tgtEl>
                                        <p:attrNameLst>
                                          <p:attrName>style.visibility</p:attrName>
                                        </p:attrNameLst>
                                      </p:cBhvr>
                                      <p:to>
                                        <p:strVal val="visible"/>
                                      </p:to>
                                    </p:set>
                                    <p:animEffect transition="in" filter="fade">
                                      <p:cBhvr>
                                        <p:cTn id="15" dur="1000"/>
                                        <p:tgtEl>
                                          <p:spTgt spid="1154"/>
                                        </p:tgtEl>
                                      </p:cBhvr>
                                    </p:animEffect>
                                  </p:childTnLst>
                                </p:cTn>
                              </p:par>
                              <p:par>
                                <p:cTn id="16" presetID="10" presetClass="entr" presetSubtype="0" fill="hold" nodeType="withEffect">
                                  <p:stCondLst>
                                    <p:cond delay="0"/>
                                  </p:stCondLst>
                                  <p:childTnLst>
                                    <p:set>
                                      <p:cBhvr>
                                        <p:cTn id="17" dur="1" fill="hold">
                                          <p:stCondLst>
                                            <p:cond delay="0"/>
                                          </p:stCondLst>
                                        </p:cTn>
                                        <p:tgtEl>
                                          <p:spTgt spid="1133"/>
                                        </p:tgtEl>
                                        <p:attrNameLst>
                                          <p:attrName>style.visibility</p:attrName>
                                        </p:attrNameLst>
                                      </p:cBhvr>
                                      <p:to>
                                        <p:strVal val="visible"/>
                                      </p:to>
                                    </p:set>
                                    <p:animEffect transition="in" filter="fade">
                                      <p:cBhvr>
                                        <p:cTn id="18" dur="1000"/>
                                        <p:tgtEl>
                                          <p:spTgt spid="1133"/>
                                        </p:tgtEl>
                                      </p:cBhvr>
                                    </p:animEffect>
                                  </p:childTnLst>
                                </p:cTn>
                              </p:par>
                              <p:par>
                                <p:cTn id="19" presetID="10" presetClass="entr" presetSubtype="0" fill="hold" nodeType="withEffect">
                                  <p:stCondLst>
                                    <p:cond delay="0"/>
                                  </p:stCondLst>
                                  <p:childTnLst>
                                    <p:set>
                                      <p:cBhvr>
                                        <p:cTn id="20" dur="1" fill="hold">
                                          <p:stCondLst>
                                            <p:cond delay="0"/>
                                          </p:stCondLst>
                                        </p:cTn>
                                        <p:tgtEl>
                                          <p:spTgt spid="1134"/>
                                        </p:tgtEl>
                                        <p:attrNameLst>
                                          <p:attrName>style.visibility</p:attrName>
                                        </p:attrNameLst>
                                      </p:cBhvr>
                                      <p:to>
                                        <p:strVal val="visible"/>
                                      </p:to>
                                    </p:set>
                                    <p:animEffect transition="in" filter="fade">
                                      <p:cBhvr>
                                        <p:cTn id="21" dur="1000"/>
                                        <p:tgtEl>
                                          <p:spTgt spid="113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155"/>
                                        </p:tgtEl>
                                        <p:attrNameLst>
                                          <p:attrName>style.visibility</p:attrName>
                                        </p:attrNameLst>
                                      </p:cBhvr>
                                      <p:to>
                                        <p:strVal val="visible"/>
                                      </p:to>
                                    </p:set>
                                    <p:animEffect transition="in" filter="fade">
                                      <p:cBhvr>
                                        <p:cTn id="26" dur="1000"/>
                                        <p:tgtEl>
                                          <p:spTgt spid="115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136"/>
                                        </p:tgtEl>
                                        <p:attrNameLst>
                                          <p:attrName>style.visibility</p:attrName>
                                        </p:attrNameLst>
                                      </p:cBhvr>
                                      <p:to>
                                        <p:strVal val="visible"/>
                                      </p:to>
                                    </p:set>
                                    <p:animEffect transition="in" filter="fade">
                                      <p:cBhvr>
                                        <p:cTn id="31" dur="1000"/>
                                        <p:tgtEl>
                                          <p:spTgt spid="1136"/>
                                        </p:tgtEl>
                                      </p:cBhvr>
                                    </p:animEffect>
                                  </p:childTnLst>
                                </p:cTn>
                              </p:par>
                              <p:par>
                                <p:cTn id="32" presetID="10" presetClass="entr" presetSubtype="0" fill="hold" nodeType="withEffect">
                                  <p:stCondLst>
                                    <p:cond delay="0"/>
                                  </p:stCondLst>
                                  <p:childTnLst>
                                    <p:set>
                                      <p:cBhvr>
                                        <p:cTn id="33" dur="1" fill="hold">
                                          <p:stCondLst>
                                            <p:cond delay="0"/>
                                          </p:stCondLst>
                                        </p:cTn>
                                        <p:tgtEl>
                                          <p:spTgt spid="1137"/>
                                        </p:tgtEl>
                                        <p:attrNameLst>
                                          <p:attrName>style.visibility</p:attrName>
                                        </p:attrNameLst>
                                      </p:cBhvr>
                                      <p:to>
                                        <p:strVal val="visible"/>
                                      </p:to>
                                    </p:set>
                                    <p:animEffect transition="in" filter="fade">
                                      <p:cBhvr>
                                        <p:cTn id="34" dur="1000"/>
                                        <p:tgtEl>
                                          <p:spTgt spid="1137"/>
                                        </p:tgtEl>
                                      </p:cBhvr>
                                    </p:animEffect>
                                  </p:childTnLst>
                                </p:cTn>
                              </p:par>
                              <p:par>
                                <p:cTn id="35" presetID="10" presetClass="entr" presetSubtype="0" fill="hold" nodeType="withEffect">
                                  <p:stCondLst>
                                    <p:cond delay="0"/>
                                  </p:stCondLst>
                                  <p:childTnLst>
                                    <p:set>
                                      <p:cBhvr>
                                        <p:cTn id="36" dur="1" fill="hold">
                                          <p:stCondLst>
                                            <p:cond delay="0"/>
                                          </p:stCondLst>
                                        </p:cTn>
                                        <p:tgtEl>
                                          <p:spTgt spid="1138"/>
                                        </p:tgtEl>
                                        <p:attrNameLst>
                                          <p:attrName>style.visibility</p:attrName>
                                        </p:attrNameLst>
                                      </p:cBhvr>
                                      <p:to>
                                        <p:strVal val="visible"/>
                                      </p:to>
                                    </p:set>
                                    <p:animEffect transition="in" filter="fade">
                                      <p:cBhvr>
                                        <p:cTn id="37" dur="1000"/>
                                        <p:tgtEl>
                                          <p:spTgt spid="1138"/>
                                        </p:tgtEl>
                                      </p:cBhvr>
                                    </p:animEffect>
                                  </p:childTnLst>
                                </p:cTn>
                              </p:par>
                              <p:par>
                                <p:cTn id="38" presetID="10" presetClass="entr" presetSubtype="0" fill="hold" nodeType="withEffect">
                                  <p:stCondLst>
                                    <p:cond delay="0"/>
                                  </p:stCondLst>
                                  <p:childTnLst>
                                    <p:set>
                                      <p:cBhvr>
                                        <p:cTn id="39" dur="1" fill="hold">
                                          <p:stCondLst>
                                            <p:cond delay="0"/>
                                          </p:stCondLst>
                                        </p:cTn>
                                        <p:tgtEl>
                                          <p:spTgt spid="1169"/>
                                        </p:tgtEl>
                                        <p:attrNameLst>
                                          <p:attrName>style.visibility</p:attrName>
                                        </p:attrNameLst>
                                      </p:cBhvr>
                                      <p:to>
                                        <p:strVal val="visible"/>
                                      </p:to>
                                    </p:set>
                                    <p:animEffect transition="in" filter="fade">
                                      <p:cBhvr>
                                        <p:cTn id="40" dur="1000"/>
                                        <p:tgtEl>
                                          <p:spTgt spid="1169"/>
                                        </p:tgtEl>
                                      </p:cBhvr>
                                    </p:animEffect>
                                  </p:childTnLst>
                                </p:cTn>
                              </p:par>
                              <p:par>
                                <p:cTn id="41" presetID="10" presetClass="entr" presetSubtype="0" fill="hold" nodeType="withEffect">
                                  <p:stCondLst>
                                    <p:cond delay="0"/>
                                  </p:stCondLst>
                                  <p:childTnLst>
                                    <p:set>
                                      <p:cBhvr>
                                        <p:cTn id="42" dur="1" fill="hold">
                                          <p:stCondLst>
                                            <p:cond delay="0"/>
                                          </p:stCondLst>
                                        </p:cTn>
                                        <p:tgtEl>
                                          <p:spTgt spid="1170"/>
                                        </p:tgtEl>
                                        <p:attrNameLst>
                                          <p:attrName>style.visibility</p:attrName>
                                        </p:attrNameLst>
                                      </p:cBhvr>
                                      <p:to>
                                        <p:strVal val="visible"/>
                                      </p:to>
                                    </p:set>
                                    <p:animEffect transition="in" filter="fade">
                                      <p:cBhvr>
                                        <p:cTn id="43" dur="1000"/>
                                        <p:tgtEl>
                                          <p:spTgt spid="1170"/>
                                        </p:tgtEl>
                                      </p:cBhvr>
                                    </p:animEffect>
                                  </p:childTnLst>
                                </p:cTn>
                              </p:par>
                              <p:par>
                                <p:cTn id="44" presetID="10" presetClass="entr" presetSubtype="0" fill="hold" nodeType="withEffect">
                                  <p:stCondLst>
                                    <p:cond delay="0"/>
                                  </p:stCondLst>
                                  <p:childTnLst>
                                    <p:set>
                                      <p:cBhvr>
                                        <p:cTn id="45" dur="1" fill="hold">
                                          <p:stCondLst>
                                            <p:cond delay="0"/>
                                          </p:stCondLst>
                                        </p:cTn>
                                        <p:tgtEl>
                                          <p:spTgt spid="1171"/>
                                        </p:tgtEl>
                                        <p:attrNameLst>
                                          <p:attrName>style.visibility</p:attrName>
                                        </p:attrNameLst>
                                      </p:cBhvr>
                                      <p:to>
                                        <p:strVal val="visible"/>
                                      </p:to>
                                    </p:set>
                                    <p:animEffect transition="in" filter="fade">
                                      <p:cBhvr>
                                        <p:cTn id="46" dur="1000"/>
                                        <p:tgtEl>
                                          <p:spTgt spid="1171"/>
                                        </p:tgtEl>
                                      </p:cBhvr>
                                    </p:animEffect>
                                  </p:childTnLst>
                                </p:cTn>
                              </p:par>
                              <p:par>
                                <p:cTn id="47" presetID="10" presetClass="entr" presetSubtype="0" fill="hold" nodeType="withEffect">
                                  <p:stCondLst>
                                    <p:cond delay="0"/>
                                  </p:stCondLst>
                                  <p:childTnLst>
                                    <p:set>
                                      <p:cBhvr>
                                        <p:cTn id="48" dur="1" fill="hold">
                                          <p:stCondLst>
                                            <p:cond delay="0"/>
                                          </p:stCondLst>
                                        </p:cTn>
                                        <p:tgtEl>
                                          <p:spTgt spid="1172"/>
                                        </p:tgtEl>
                                        <p:attrNameLst>
                                          <p:attrName>style.visibility</p:attrName>
                                        </p:attrNameLst>
                                      </p:cBhvr>
                                      <p:to>
                                        <p:strVal val="visible"/>
                                      </p:to>
                                    </p:set>
                                    <p:animEffect transition="in" filter="fade">
                                      <p:cBhvr>
                                        <p:cTn id="49" dur="1000"/>
                                        <p:tgtEl>
                                          <p:spTgt spid="1172"/>
                                        </p:tgtEl>
                                      </p:cBhvr>
                                    </p:animEffect>
                                  </p:childTnLst>
                                </p:cTn>
                              </p:par>
                              <p:par>
                                <p:cTn id="50" presetID="10" presetClass="entr" presetSubtype="0" fill="hold" nodeType="withEffect">
                                  <p:stCondLst>
                                    <p:cond delay="0"/>
                                  </p:stCondLst>
                                  <p:childTnLst>
                                    <p:set>
                                      <p:cBhvr>
                                        <p:cTn id="51" dur="1" fill="hold">
                                          <p:stCondLst>
                                            <p:cond delay="0"/>
                                          </p:stCondLst>
                                        </p:cTn>
                                        <p:tgtEl>
                                          <p:spTgt spid="1173"/>
                                        </p:tgtEl>
                                        <p:attrNameLst>
                                          <p:attrName>style.visibility</p:attrName>
                                        </p:attrNameLst>
                                      </p:cBhvr>
                                      <p:to>
                                        <p:strVal val="visible"/>
                                      </p:to>
                                    </p:set>
                                    <p:animEffect transition="in" filter="fade">
                                      <p:cBhvr>
                                        <p:cTn id="52" dur="1000"/>
                                        <p:tgtEl>
                                          <p:spTgt spid="1173"/>
                                        </p:tgtEl>
                                      </p:cBhvr>
                                    </p:animEffect>
                                  </p:childTnLst>
                                </p:cTn>
                              </p:par>
                              <p:par>
                                <p:cTn id="53" presetID="10" presetClass="entr" presetSubtype="0" fill="hold" nodeType="withEffect">
                                  <p:stCondLst>
                                    <p:cond delay="0"/>
                                  </p:stCondLst>
                                  <p:childTnLst>
                                    <p:set>
                                      <p:cBhvr>
                                        <p:cTn id="54" dur="1" fill="hold">
                                          <p:stCondLst>
                                            <p:cond delay="0"/>
                                          </p:stCondLst>
                                        </p:cTn>
                                        <p:tgtEl>
                                          <p:spTgt spid="1174"/>
                                        </p:tgtEl>
                                        <p:attrNameLst>
                                          <p:attrName>style.visibility</p:attrName>
                                        </p:attrNameLst>
                                      </p:cBhvr>
                                      <p:to>
                                        <p:strVal val="visible"/>
                                      </p:to>
                                    </p:set>
                                    <p:animEffect transition="in" filter="fade">
                                      <p:cBhvr>
                                        <p:cTn id="55" dur="1000"/>
                                        <p:tgtEl>
                                          <p:spTgt spid="1174"/>
                                        </p:tgtEl>
                                      </p:cBhvr>
                                    </p:animEffect>
                                  </p:childTnLst>
                                </p:cTn>
                              </p:par>
                              <p:par>
                                <p:cTn id="56" presetID="10" presetClass="entr" presetSubtype="0" fill="hold" nodeType="withEffect">
                                  <p:stCondLst>
                                    <p:cond delay="0"/>
                                  </p:stCondLst>
                                  <p:childTnLst>
                                    <p:set>
                                      <p:cBhvr>
                                        <p:cTn id="57" dur="1" fill="hold">
                                          <p:stCondLst>
                                            <p:cond delay="0"/>
                                          </p:stCondLst>
                                        </p:cTn>
                                        <p:tgtEl>
                                          <p:spTgt spid="1175"/>
                                        </p:tgtEl>
                                        <p:attrNameLst>
                                          <p:attrName>style.visibility</p:attrName>
                                        </p:attrNameLst>
                                      </p:cBhvr>
                                      <p:to>
                                        <p:strVal val="visible"/>
                                      </p:to>
                                    </p:set>
                                    <p:animEffect transition="in" filter="fade">
                                      <p:cBhvr>
                                        <p:cTn id="58" dur="1000"/>
                                        <p:tgtEl>
                                          <p:spTgt spid="1175"/>
                                        </p:tgtEl>
                                      </p:cBhvr>
                                    </p:animEffect>
                                  </p:childTnLst>
                                </p:cTn>
                              </p:par>
                              <p:par>
                                <p:cTn id="59" presetID="10" presetClass="entr" presetSubtype="0" fill="hold" nodeType="withEffect">
                                  <p:stCondLst>
                                    <p:cond delay="0"/>
                                  </p:stCondLst>
                                  <p:childTnLst>
                                    <p:set>
                                      <p:cBhvr>
                                        <p:cTn id="60" dur="1" fill="hold">
                                          <p:stCondLst>
                                            <p:cond delay="0"/>
                                          </p:stCondLst>
                                        </p:cTn>
                                        <p:tgtEl>
                                          <p:spTgt spid="1176"/>
                                        </p:tgtEl>
                                        <p:attrNameLst>
                                          <p:attrName>style.visibility</p:attrName>
                                        </p:attrNameLst>
                                      </p:cBhvr>
                                      <p:to>
                                        <p:strVal val="visible"/>
                                      </p:to>
                                    </p:set>
                                    <p:animEffect transition="in" filter="fade">
                                      <p:cBhvr>
                                        <p:cTn id="61" dur="1000"/>
                                        <p:tgtEl>
                                          <p:spTgt spid="1176"/>
                                        </p:tgtEl>
                                      </p:cBhvr>
                                    </p:animEffect>
                                  </p:childTnLst>
                                </p:cTn>
                              </p:par>
                              <p:par>
                                <p:cTn id="62" presetID="10" presetClass="entr" presetSubtype="0" fill="hold" nodeType="withEffect">
                                  <p:stCondLst>
                                    <p:cond delay="0"/>
                                  </p:stCondLst>
                                  <p:childTnLst>
                                    <p:set>
                                      <p:cBhvr>
                                        <p:cTn id="63" dur="1" fill="hold">
                                          <p:stCondLst>
                                            <p:cond delay="0"/>
                                          </p:stCondLst>
                                        </p:cTn>
                                        <p:tgtEl>
                                          <p:spTgt spid="1177"/>
                                        </p:tgtEl>
                                        <p:attrNameLst>
                                          <p:attrName>style.visibility</p:attrName>
                                        </p:attrNameLst>
                                      </p:cBhvr>
                                      <p:to>
                                        <p:strVal val="visible"/>
                                      </p:to>
                                    </p:set>
                                    <p:animEffect transition="in" filter="fade">
                                      <p:cBhvr>
                                        <p:cTn id="64" dur="1000"/>
                                        <p:tgtEl>
                                          <p:spTgt spid="1177"/>
                                        </p:tgtEl>
                                      </p:cBhvr>
                                    </p:animEffect>
                                  </p:childTnLst>
                                </p:cTn>
                              </p:par>
                              <p:par>
                                <p:cTn id="65" presetID="10" presetClass="entr" presetSubtype="0" fill="hold" nodeType="withEffect">
                                  <p:stCondLst>
                                    <p:cond delay="0"/>
                                  </p:stCondLst>
                                  <p:childTnLst>
                                    <p:set>
                                      <p:cBhvr>
                                        <p:cTn id="66" dur="1" fill="hold">
                                          <p:stCondLst>
                                            <p:cond delay="0"/>
                                          </p:stCondLst>
                                        </p:cTn>
                                        <p:tgtEl>
                                          <p:spTgt spid="1178"/>
                                        </p:tgtEl>
                                        <p:attrNameLst>
                                          <p:attrName>style.visibility</p:attrName>
                                        </p:attrNameLst>
                                      </p:cBhvr>
                                      <p:to>
                                        <p:strVal val="visible"/>
                                      </p:to>
                                    </p:set>
                                    <p:animEffect transition="in" filter="fade">
                                      <p:cBhvr>
                                        <p:cTn id="67" dur="1000"/>
                                        <p:tgtEl>
                                          <p:spTgt spid="1178"/>
                                        </p:tgtEl>
                                      </p:cBhvr>
                                    </p:animEffect>
                                  </p:childTnLst>
                                </p:cTn>
                              </p:par>
                              <p:par>
                                <p:cTn id="68" presetID="10" presetClass="entr" presetSubtype="0" fill="hold" nodeType="withEffect">
                                  <p:stCondLst>
                                    <p:cond delay="0"/>
                                  </p:stCondLst>
                                  <p:childTnLst>
                                    <p:set>
                                      <p:cBhvr>
                                        <p:cTn id="69" dur="1" fill="hold">
                                          <p:stCondLst>
                                            <p:cond delay="0"/>
                                          </p:stCondLst>
                                        </p:cTn>
                                        <p:tgtEl>
                                          <p:spTgt spid="1179"/>
                                        </p:tgtEl>
                                        <p:attrNameLst>
                                          <p:attrName>style.visibility</p:attrName>
                                        </p:attrNameLst>
                                      </p:cBhvr>
                                      <p:to>
                                        <p:strVal val="visible"/>
                                      </p:to>
                                    </p:set>
                                    <p:animEffect transition="in" filter="fade">
                                      <p:cBhvr>
                                        <p:cTn id="70" dur="1000"/>
                                        <p:tgtEl>
                                          <p:spTgt spid="1179"/>
                                        </p:tgtEl>
                                      </p:cBhvr>
                                    </p:animEffect>
                                  </p:childTnLst>
                                </p:cTn>
                              </p:par>
                              <p:par>
                                <p:cTn id="71" presetID="10" presetClass="entr" presetSubtype="0" fill="hold" nodeType="withEffect">
                                  <p:stCondLst>
                                    <p:cond delay="0"/>
                                  </p:stCondLst>
                                  <p:childTnLst>
                                    <p:set>
                                      <p:cBhvr>
                                        <p:cTn id="72" dur="1" fill="hold">
                                          <p:stCondLst>
                                            <p:cond delay="0"/>
                                          </p:stCondLst>
                                        </p:cTn>
                                        <p:tgtEl>
                                          <p:spTgt spid="1135"/>
                                        </p:tgtEl>
                                        <p:attrNameLst>
                                          <p:attrName>style.visibility</p:attrName>
                                        </p:attrNameLst>
                                      </p:cBhvr>
                                      <p:to>
                                        <p:strVal val="visible"/>
                                      </p:to>
                                    </p:set>
                                    <p:animEffect transition="in" filter="fade">
                                      <p:cBhvr>
                                        <p:cTn id="73" dur="1000"/>
                                        <p:tgtEl>
                                          <p:spTgt spid="1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83"/>
        <p:cNvGrpSpPr/>
        <p:nvPr/>
      </p:nvGrpSpPr>
      <p:grpSpPr>
        <a:xfrm>
          <a:off x="0" y="0"/>
          <a:ext cx="0" cy="0"/>
          <a:chOff x="0" y="0"/>
          <a:chExt cx="0" cy="0"/>
        </a:xfrm>
      </p:grpSpPr>
      <p:sp>
        <p:nvSpPr>
          <p:cNvPr id="1184" name="Google Shape;1184;p5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Alternate Idea #2: The BST-Based Trie</a:t>
            </a:r>
            <a:endParaRPr/>
          </a:p>
        </p:txBody>
      </p:sp>
      <p:sp>
        <p:nvSpPr>
          <p:cNvPr id="1185" name="Google Shape;1185;p52"/>
          <p:cNvSpPr/>
          <p:nvPr/>
        </p:nvSpPr>
        <p:spPr>
          <a:xfrm>
            <a:off x="3848825" y="643575"/>
            <a:ext cx="2297100" cy="1982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52"/>
          <p:cNvSpPr txBox="1"/>
          <p:nvPr/>
        </p:nvSpPr>
        <p:spPr>
          <a:xfrm>
            <a:off x="4404594" y="698150"/>
            <a:ext cx="828000" cy="31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isKey:</a:t>
            </a:r>
            <a:endParaRPr/>
          </a:p>
        </p:txBody>
      </p:sp>
      <p:graphicFrame>
        <p:nvGraphicFramePr>
          <p:cNvPr id="1187" name="Google Shape;1187;p52"/>
          <p:cNvGraphicFramePr/>
          <p:nvPr/>
        </p:nvGraphicFramePr>
        <p:xfrm>
          <a:off x="5047044" y="706150"/>
          <a:ext cx="3000000" cy="3000000"/>
        </p:xfrm>
        <a:graphic>
          <a:graphicData uri="http://schemas.openxmlformats.org/drawingml/2006/table">
            <a:tbl>
              <a:tblPr>
                <a:noFill/>
                <a:tableStyleId>{BC467F25-A352-40E9-8C40-E7B4C2D9D289}</a:tableStyleId>
              </a:tblPr>
              <a:tblGrid>
                <a:gridCol w="382850">
                  <a:extLst>
                    <a:ext uri="{9D8B030D-6E8A-4147-A177-3AD203B41FA5}">
                      <a16:colId xmlns:a16="http://schemas.microsoft.com/office/drawing/2014/main" val="20000"/>
                    </a:ext>
                  </a:extLst>
                </a:gridCol>
              </a:tblGrid>
              <a:tr h="355200">
                <a:tc>
                  <a:txBody>
                    <a:bodyPr/>
                    <a:lstStyle/>
                    <a:p>
                      <a:pPr marL="0" lvl="0" indent="0" algn="ctr" rtl="0">
                        <a:spcBef>
                          <a:spcPts val="0"/>
                        </a:spcBef>
                        <a:spcAft>
                          <a:spcPts val="0"/>
                        </a:spcAft>
                        <a:buNone/>
                      </a:pPr>
                      <a:r>
                        <a:rPr lang="en"/>
                        <a:t>F</a:t>
                      </a:r>
                      <a:endParaRPr/>
                    </a:p>
                  </a:txBody>
                  <a:tcPr marL="91425" marR="91425" marT="91425" marB="91425">
                    <a:solidFill>
                      <a:srgbClr val="FFFFFF"/>
                    </a:solidFill>
                  </a:tcPr>
                </a:tc>
                <a:extLst>
                  <a:ext uri="{0D108BD9-81ED-4DB2-BD59-A6C34878D82A}">
                    <a16:rowId xmlns:a16="http://schemas.microsoft.com/office/drawing/2014/main" val="10000"/>
                  </a:ext>
                </a:extLst>
              </a:tr>
            </a:tbl>
          </a:graphicData>
        </a:graphic>
      </p:graphicFrame>
      <p:sp>
        <p:nvSpPr>
          <p:cNvPr id="1188" name="Google Shape;1188;p52"/>
          <p:cNvSpPr/>
          <p:nvPr/>
        </p:nvSpPr>
        <p:spPr>
          <a:xfrm>
            <a:off x="4310322" y="1307811"/>
            <a:ext cx="1420200" cy="1198200"/>
          </a:xfrm>
          <a:prstGeom prst="rect">
            <a:avLst/>
          </a:prstGeom>
          <a:solidFill>
            <a:srgbClr val="EFEFE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52"/>
          <p:cNvSpPr/>
          <p:nvPr/>
        </p:nvSpPr>
        <p:spPr>
          <a:xfrm>
            <a:off x="883779" y="1614563"/>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1190" name="Google Shape;1190;p52"/>
          <p:cNvSpPr/>
          <p:nvPr/>
        </p:nvSpPr>
        <p:spPr>
          <a:xfrm>
            <a:off x="386150" y="2291298"/>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cxnSp>
        <p:nvCxnSpPr>
          <p:cNvPr id="1191" name="Google Shape;1191;p52"/>
          <p:cNvCxnSpPr>
            <a:stCxn id="1189" idx="3"/>
            <a:endCxn id="1190" idx="0"/>
          </p:cNvCxnSpPr>
          <p:nvPr/>
        </p:nvCxnSpPr>
        <p:spPr>
          <a:xfrm flipH="1">
            <a:off x="602476" y="1984066"/>
            <a:ext cx="344700" cy="307200"/>
          </a:xfrm>
          <a:prstGeom prst="straightConnector1">
            <a:avLst/>
          </a:prstGeom>
          <a:noFill/>
          <a:ln w="28575" cap="flat" cmpd="sng">
            <a:solidFill>
              <a:schemeClr val="dk2"/>
            </a:solidFill>
            <a:prstDash val="solid"/>
            <a:round/>
            <a:headEnd type="none" w="med" len="med"/>
            <a:tailEnd type="none" w="med" len="med"/>
          </a:ln>
        </p:spPr>
      </p:cxnSp>
      <p:cxnSp>
        <p:nvCxnSpPr>
          <p:cNvPr id="1192" name="Google Shape;1192;p52"/>
          <p:cNvCxnSpPr>
            <a:endCxn id="1193" idx="0"/>
          </p:cNvCxnSpPr>
          <p:nvPr/>
        </p:nvCxnSpPr>
        <p:spPr>
          <a:xfrm>
            <a:off x="602600" y="2724073"/>
            <a:ext cx="0" cy="202500"/>
          </a:xfrm>
          <a:prstGeom prst="straightConnector1">
            <a:avLst/>
          </a:prstGeom>
          <a:noFill/>
          <a:ln w="28575" cap="flat" cmpd="sng">
            <a:solidFill>
              <a:schemeClr val="dk2"/>
            </a:solidFill>
            <a:prstDash val="solid"/>
            <a:round/>
            <a:headEnd type="none" w="med" len="med"/>
            <a:tailEnd type="none" w="med" len="med"/>
          </a:ln>
        </p:spPr>
      </p:cxnSp>
      <p:sp>
        <p:nvSpPr>
          <p:cNvPr id="1193" name="Google Shape;1193;p52"/>
          <p:cNvSpPr/>
          <p:nvPr/>
        </p:nvSpPr>
        <p:spPr>
          <a:xfrm>
            <a:off x="386150" y="2926573"/>
            <a:ext cx="432900" cy="432900"/>
          </a:xfrm>
          <a:prstGeom prst="ellipse">
            <a:avLst/>
          </a:prstGeom>
          <a:solidFill>
            <a:srgbClr val="C9DAF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d</a:t>
            </a:r>
            <a:endParaRPr sz="1800">
              <a:latin typeface="Consolas"/>
              <a:ea typeface="Consolas"/>
              <a:cs typeface="Consolas"/>
              <a:sym typeface="Consolas"/>
            </a:endParaRPr>
          </a:p>
        </p:txBody>
      </p:sp>
      <p:sp>
        <p:nvSpPr>
          <p:cNvPr id="1194" name="Google Shape;1194;p52"/>
          <p:cNvSpPr/>
          <p:nvPr/>
        </p:nvSpPr>
        <p:spPr>
          <a:xfrm>
            <a:off x="1316675" y="2291298"/>
            <a:ext cx="432900" cy="432900"/>
          </a:xfrm>
          <a:prstGeom prst="ellipse">
            <a:avLst/>
          </a:prstGeom>
          <a:solidFill>
            <a:srgbClr val="C9DAF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c</a:t>
            </a:r>
            <a:endParaRPr sz="1800">
              <a:latin typeface="Consolas"/>
              <a:ea typeface="Consolas"/>
              <a:cs typeface="Consolas"/>
              <a:sym typeface="Consolas"/>
            </a:endParaRPr>
          </a:p>
        </p:txBody>
      </p:sp>
      <p:cxnSp>
        <p:nvCxnSpPr>
          <p:cNvPr id="1195" name="Google Shape;1195;p52"/>
          <p:cNvCxnSpPr>
            <a:stCxn id="1189" idx="5"/>
            <a:endCxn id="1194" idx="0"/>
          </p:cNvCxnSpPr>
          <p:nvPr/>
        </p:nvCxnSpPr>
        <p:spPr>
          <a:xfrm>
            <a:off x="1253283" y="1984066"/>
            <a:ext cx="279900" cy="307200"/>
          </a:xfrm>
          <a:prstGeom prst="straightConnector1">
            <a:avLst/>
          </a:prstGeom>
          <a:noFill/>
          <a:ln w="28575" cap="flat" cmpd="sng">
            <a:solidFill>
              <a:schemeClr val="dk2"/>
            </a:solidFill>
            <a:prstDash val="solid"/>
            <a:round/>
            <a:headEnd type="none" w="med" len="med"/>
            <a:tailEnd type="none" w="med" len="med"/>
          </a:ln>
        </p:spPr>
      </p:cxnSp>
      <p:graphicFrame>
        <p:nvGraphicFramePr>
          <p:cNvPr id="1196" name="Google Shape;1196;p52"/>
          <p:cNvGraphicFramePr/>
          <p:nvPr/>
        </p:nvGraphicFramePr>
        <p:xfrm>
          <a:off x="4807797" y="1406328"/>
          <a:ext cx="3000000" cy="3000000"/>
        </p:xfrm>
        <a:graphic>
          <a:graphicData uri="http://schemas.openxmlformats.org/drawingml/2006/table">
            <a:tbl>
              <a:tblPr>
                <a:noFill/>
                <a:tableStyleId>{BC467F25-A352-40E9-8C40-E7B4C2D9D289}</a:tableStyleId>
              </a:tblPr>
              <a:tblGrid>
                <a:gridCol w="391175">
                  <a:extLst>
                    <a:ext uri="{9D8B030D-6E8A-4147-A177-3AD203B41FA5}">
                      <a16:colId xmlns:a16="http://schemas.microsoft.com/office/drawing/2014/main" val="20000"/>
                    </a:ext>
                  </a:extLst>
                </a:gridCol>
                <a:gridCol w="391175">
                  <a:extLst>
                    <a:ext uri="{9D8B030D-6E8A-4147-A177-3AD203B41FA5}">
                      <a16:colId xmlns:a16="http://schemas.microsoft.com/office/drawing/2014/main" val="20001"/>
                    </a:ext>
                  </a:extLst>
                </a:gridCol>
              </a:tblGrid>
              <a:tr h="381000">
                <a:tc>
                  <a:txBody>
                    <a:bodyPr/>
                    <a:lstStyle/>
                    <a:p>
                      <a:pPr marL="0" lvl="0" indent="0" algn="ctr" rtl="0">
                        <a:spcBef>
                          <a:spcPts val="0"/>
                        </a:spcBef>
                        <a:spcAft>
                          <a:spcPts val="0"/>
                        </a:spcAft>
                        <a:buNone/>
                      </a:pPr>
                      <a:r>
                        <a:rPr lang="en"/>
                        <a:t>‘c’</a:t>
                      </a:r>
                      <a:endParaRPr/>
                    </a:p>
                  </a:txBody>
                  <a:tcPr marL="91425" marR="91425" marT="91425" marB="91425">
                    <a:solidFill>
                      <a:srgbClr val="FFFFFF"/>
                    </a:solidFill>
                  </a:tcPr>
                </a:tc>
                <a:tc>
                  <a:txBody>
                    <a:bodyPr/>
                    <a:lstStyle/>
                    <a:p>
                      <a:pPr marL="0" lvl="0" indent="0" algn="ctr" rtl="0">
                        <a:spcBef>
                          <a:spcPts val="0"/>
                        </a:spcBef>
                        <a:spcAft>
                          <a:spcPts val="0"/>
                        </a:spcAft>
                        <a:buNone/>
                      </a:pPr>
                      <a:endParaRPr/>
                    </a:p>
                  </a:txBody>
                  <a:tcPr marL="91425" marR="91425" marT="91425" marB="91425">
                    <a:solidFill>
                      <a:srgbClr val="D9D2E9"/>
                    </a:solidFill>
                  </a:tcPr>
                </a:tc>
                <a:extLst>
                  <a:ext uri="{0D108BD9-81ED-4DB2-BD59-A6C34878D82A}">
                    <a16:rowId xmlns:a16="http://schemas.microsoft.com/office/drawing/2014/main" val="10000"/>
                  </a:ext>
                </a:extLst>
              </a:tr>
            </a:tbl>
          </a:graphicData>
        </a:graphic>
      </p:graphicFrame>
      <p:graphicFrame>
        <p:nvGraphicFramePr>
          <p:cNvPr id="1197" name="Google Shape;1197;p52"/>
          <p:cNvGraphicFramePr/>
          <p:nvPr/>
        </p:nvGraphicFramePr>
        <p:xfrm>
          <a:off x="4383655" y="2002303"/>
          <a:ext cx="3000000" cy="3000000"/>
        </p:xfrm>
        <a:graphic>
          <a:graphicData uri="http://schemas.openxmlformats.org/drawingml/2006/table">
            <a:tbl>
              <a:tblPr>
                <a:noFill/>
                <a:tableStyleId>{BC467F25-A352-40E9-8C40-E7B4C2D9D289}</a:tableStyleId>
              </a:tblPr>
              <a:tblGrid>
                <a:gridCol w="391175">
                  <a:extLst>
                    <a:ext uri="{9D8B030D-6E8A-4147-A177-3AD203B41FA5}">
                      <a16:colId xmlns:a16="http://schemas.microsoft.com/office/drawing/2014/main" val="20000"/>
                    </a:ext>
                  </a:extLst>
                </a:gridCol>
                <a:gridCol w="391175">
                  <a:extLst>
                    <a:ext uri="{9D8B030D-6E8A-4147-A177-3AD203B41FA5}">
                      <a16:colId xmlns:a16="http://schemas.microsoft.com/office/drawing/2014/main" val="20001"/>
                    </a:ext>
                  </a:extLst>
                </a:gridCol>
              </a:tblGrid>
              <a:tr h="381000">
                <a:tc>
                  <a:txBody>
                    <a:bodyPr/>
                    <a:lstStyle/>
                    <a:p>
                      <a:pPr marL="0" lvl="0" indent="0" algn="ctr" rtl="0">
                        <a:spcBef>
                          <a:spcPts val="0"/>
                        </a:spcBef>
                        <a:spcAft>
                          <a:spcPts val="0"/>
                        </a:spcAft>
                        <a:buNone/>
                      </a:pPr>
                      <a:r>
                        <a:rPr lang="en"/>
                        <a:t>‘a’</a:t>
                      </a:r>
                      <a:endParaRPr/>
                    </a:p>
                  </a:txBody>
                  <a:tcPr marL="91425" marR="91425" marT="91425" marB="91425">
                    <a:solidFill>
                      <a:srgbClr val="FFFFFF"/>
                    </a:solidFill>
                  </a:tcPr>
                </a:tc>
                <a:tc>
                  <a:txBody>
                    <a:bodyPr/>
                    <a:lstStyle/>
                    <a:p>
                      <a:pPr marL="0" lvl="0" indent="0" algn="ctr" rtl="0">
                        <a:spcBef>
                          <a:spcPts val="0"/>
                        </a:spcBef>
                        <a:spcAft>
                          <a:spcPts val="0"/>
                        </a:spcAft>
                        <a:buNone/>
                      </a:pPr>
                      <a:endParaRPr/>
                    </a:p>
                  </a:txBody>
                  <a:tcPr marL="91425" marR="91425" marT="91425" marB="91425">
                    <a:solidFill>
                      <a:srgbClr val="D9D2E9"/>
                    </a:solidFill>
                  </a:tcPr>
                </a:tc>
                <a:extLst>
                  <a:ext uri="{0D108BD9-81ED-4DB2-BD59-A6C34878D82A}">
                    <a16:rowId xmlns:a16="http://schemas.microsoft.com/office/drawing/2014/main" val="10000"/>
                  </a:ext>
                </a:extLst>
              </a:tr>
            </a:tbl>
          </a:graphicData>
        </a:graphic>
      </p:graphicFrame>
      <p:sp>
        <p:nvSpPr>
          <p:cNvPr id="1198" name="Google Shape;1198;p52"/>
          <p:cNvSpPr txBox="1"/>
          <p:nvPr/>
        </p:nvSpPr>
        <p:spPr>
          <a:xfrm>
            <a:off x="3863586" y="975948"/>
            <a:ext cx="980700" cy="31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links:</a:t>
            </a:r>
            <a:endParaRPr/>
          </a:p>
        </p:txBody>
      </p:sp>
      <p:sp>
        <p:nvSpPr>
          <p:cNvPr id="1199" name="Google Shape;1199;p52"/>
          <p:cNvSpPr/>
          <p:nvPr/>
        </p:nvSpPr>
        <p:spPr>
          <a:xfrm>
            <a:off x="2749950" y="2736455"/>
            <a:ext cx="2297100" cy="13395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52"/>
          <p:cNvSpPr txBox="1"/>
          <p:nvPr/>
        </p:nvSpPr>
        <p:spPr>
          <a:xfrm>
            <a:off x="3305719" y="2812825"/>
            <a:ext cx="828000" cy="31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isKey</a:t>
            </a:r>
            <a:r>
              <a:rPr lang="en"/>
              <a:t>:</a:t>
            </a:r>
            <a:endParaRPr/>
          </a:p>
        </p:txBody>
      </p:sp>
      <p:graphicFrame>
        <p:nvGraphicFramePr>
          <p:cNvPr id="1201" name="Google Shape;1201;p52"/>
          <p:cNvGraphicFramePr/>
          <p:nvPr/>
        </p:nvGraphicFramePr>
        <p:xfrm>
          <a:off x="3948169" y="2820825"/>
          <a:ext cx="3000000" cy="3000000"/>
        </p:xfrm>
        <a:graphic>
          <a:graphicData uri="http://schemas.openxmlformats.org/drawingml/2006/table">
            <a:tbl>
              <a:tblPr>
                <a:noFill/>
                <a:tableStyleId>{BC467F25-A352-40E9-8C40-E7B4C2D9D289}</a:tableStyleId>
              </a:tblPr>
              <a:tblGrid>
                <a:gridCol w="382850">
                  <a:extLst>
                    <a:ext uri="{9D8B030D-6E8A-4147-A177-3AD203B41FA5}">
                      <a16:colId xmlns:a16="http://schemas.microsoft.com/office/drawing/2014/main" val="20000"/>
                    </a:ext>
                  </a:extLst>
                </a:gridCol>
              </a:tblGrid>
              <a:tr h="355200">
                <a:tc>
                  <a:txBody>
                    <a:bodyPr/>
                    <a:lstStyle/>
                    <a:p>
                      <a:pPr marL="0" lvl="0" indent="0" algn="ctr" rtl="0">
                        <a:spcBef>
                          <a:spcPts val="0"/>
                        </a:spcBef>
                        <a:spcAft>
                          <a:spcPts val="0"/>
                        </a:spcAft>
                        <a:buNone/>
                      </a:pPr>
                      <a:r>
                        <a:rPr lang="en"/>
                        <a:t>F</a:t>
                      </a:r>
                      <a:endParaRPr/>
                    </a:p>
                  </a:txBody>
                  <a:tcPr marL="91425" marR="91425" marT="91425" marB="91425">
                    <a:solidFill>
                      <a:srgbClr val="FFFFFF"/>
                    </a:solidFill>
                  </a:tcPr>
                </a:tc>
                <a:extLst>
                  <a:ext uri="{0D108BD9-81ED-4DB2-BD59-A6C34878D82A}">
                    <a16:rowId xmlns:a16="http://schemas.microsoft.com/office/drawing/2014/main" val="10000"/>
                  </a:ext>
                </a:extLst>
              </a:tr>
            </a:tbl>
          </a:graphicData>
        </a:graphic>
      </p:graphicFrame>
      <p:sp>
        <p:nvSpPr>
          <p:cNvPr id="1202" name="Google Shape;1202;p52"/>
          <p:cNvSpPr/>
          <p:nvPr/>
        </p:nvSpPr>
        <p:spPr>
          <a:xfrm>
            <a:off x="3211450" y="3422481"/>
            <a:ext cx="1420200" cy="588000"/>
          </a:xfrm>
          <a:prstGeom prst="rect">
            <a:avLst/>
          </a:prstGeom>
          <a:solidFill>
            <a:srgbClr val="EFEFE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1203" name="Google Shape;1203;p52"/>
          <p:cNvGraphicFramePr/>
          <p:nvPr/>
        </p:nvGraphicFramePr>
        <p:xfrm>
          <a:off x="3404122" y="3521003"/>
          <a:ext cx="3000000" cy="3000000"/>
        </p:xfrm>
        <a:graphic>
          <a:graphicData uri="http://schemas.openxmlformats.org/drawingml/2006/table">
            <a:tbl>
              <a:tblPr>
                <a:noFill/>
                <a:tableStyleId>{BC467F25-A352-40E9-8C40-E7B4C2D9D289}</a:tableStyleId>
              </a:tblPr>
              <a:tblGrid>
                <a:gridCol w="391175">
                  <a:extLst>
                    <a:ext uri="{9D8B030D-6E8A-4147-A177-3AD203B41FA5}">
                      <a16:colId xmlns:a16="http://schemas.microsoft.com/office/drawing/2014/main" val="20000"/>
                    </a:ext>
                  </a:extLst>
                </a:gridCol>
                <a:gridCol w="391175">
                  <a:extLst>
                    <a:ext uri="{9D8B030D-6E8A-4147-A177-3AD203B41FA5}">
                      <a16:colId xmlns:a16="http://schemas.microsoft.com/office/drawing/2014/main" val="20001"/>
                    </a:ext>
                  </a:extLst>
                </a:gridCol>
              </a:tblGrid>
              <a:tr h="381000">
                <a:tc>
                  <a:txBody>
                    <a:bodyPr/>
                    <a:lstStyle/>
                    <a:p>
                      <a:pPr marL="0" lvl="0" indent="0" algn="ctr" rtl="0">
                        <a:spcBef>
                          <a:spcPts val="0"/>
                        </a:spcBef>
                        <a:spcAft>
                          <a:spcPts val="0"/>
                        </a:spcAft>
                        <a:buNone/>
                      </a:pPr>
                      <a:r>
                        <a:rPr lang="en"/>
                        <a:t>‘d’</a:t>
                      </a:r>
                      <a:endParaRPr/>
                    </a:p>
                  </a:txBody>
                  <a:tcPr marL="91425" marR="91425" marT="91425" marB="91425">
                    <a:solidFill>
                      <a:srgbClr val="FFFFFF"/>
                    </a:solidFill>
                  </a:tcPr>
                </a:tc>
                <a:tc>
                  <a:txBody>
                    <a:bodyPr/>
                    <a:lstStyle/>
                    <a:p>
                      <a:pPr marL="0" lvl="0" indent="0" algn="ctr" rtl="0">
                        <a:spcBef>
                          <a:spcPts val="0"/>
                        </a:spcBef>
                        <a:spcAft>
                          <a:spcPts val="0"/>
                        </a:spcAft>
                        <a:buNone/>
                      </a:pPr>
                      <a:endParaRPr/>
                    </a:p>
                  </a:txBody>
                  <a:tcPr marL="91425" marR="91425" marT="91425" marB="91425">
                    <a:solidFill>
                      <a:srgbClr val="D9D2E9"/>
                    </a:solidFill>
                  </a:tcPr>
                </a:tc>
                <a:extLst>
                  <a:ext uri="{0D108BD9-81ED-4DB2-BD59-A6C34878D82A}">
                    <a16:rowId xmlns:a16="http://schemas.microsoft.com/office/drawing/2014/main" val="10000"/>
                  </a:ext>
                </a:extLst>
              </a:tr>
            </a:tbl>
          </a:graphicData>
        </a:graphic>
      </p:graphicFrame>
      <p:sp>
        <p:nvSpPr>
          <p:cNvPr id="1204" name="Google Shape;1204;p52"/>
          <p:cNvSpPr txBox="1"/>
          <p:nvPr/>
        </p:nvSpPr>
        <p:spPr>
          <a:xfrm>
            <a:off x="2764711" y="3090623"/>
            <a:ext cx="980700" cy="31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links:</a:t>
            </a:r>
            <a:endParaRPr/>
          </a:p>
        </p:txBody>
      </p:sp>
      <p:sp>
        <p:nvSpPr>
          <p:cNvPr id="1205" name="Google Shape;1205;p52"/>
          <p:cNvSpPr/>
          <p:nvPr/>
        </p:nvSpPr>
        <p:spPr>
          <a:xfrm>
            <a:off x="6145925" y="2834450"/>
            <a:ext cx="2297100" cy="9141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52"/>
          <p:cNvSpPr txBox="1"/>
          <p:nvPr/>
        </p:nvSpPr>
        <p:spPr>
          <a:xfrm>
            <a:off x="6701695" y="2889025"/>
            <a:ext cx="828000" cy="31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isKey</a:t>
            </a:r>
            <a:r>
              <a:rPr lang="en"/>
              <a:t>:</a:t>
            </a:r>
            <a:endParaRPr/>
          </a:p>
        </p:txBody>
      </p:sp>
      <p:graphicFrame>
        <p:nvGraphicFramePr>
          <p:cNvPr id="1207" name="Google Shape;1207;p52"/>
          <p:cNvGraphicFramePr/>
          <p:nvPr/>
        </p:nvGraphicFramePr>
        <p:xfrm>
          <a:off x="7344145" y="2897025"/>
          <a:ext cx="3000000" cy="3000000"/>
        </p:xfrm>
        <a:graphic>
          <a:graphicData uri="http://schemas.openxmlformats.org/drawingml/2006/table">
            <a:tbl>
              <a:tblPr>
                <a:noFill/>
                <a:tableStyleId>{BC467F25-A352-40E9-8C40-E7B4C2D9D289}</a:tableStyleId>
              </a:tblPr>
              <a:tblGrid>
                <a:gridCol w="382850">
                  <a:extLst>
                    <a:ext uri="{9D8B030D-6E8A-4147-A177-3AD203B41FA5}">
                      <a16:colId xmlns:a16="http://schemas.microsoft.com/office/drawing/2014/main" val="20000"/>
                    </a:ext>
                  </a:extLst>
                </a:gridCol>
              </a:tblGrid>
              <a:tr h="355200">
                <a:tc>
                  <a:txBody>
                    <a:bodyPr/>
                    <a:lstStyle/>
                    <a:p>
                      <a:pPr marL="0" lvl="0" indent="0" algn="ctr" rtl="0">
                        <a:spcBef>
                          <a:spcPts val="0"/>
                        </a:spcBef>
                        <a:spcAft>
                          <a:spcPts val="0"/>
                        </a:spcAft>
                        <a:buNone/>
                      </a:pPr>
                      <a:r>
                        <a:rPr lang="en"/>
                        <a:t>T</a:t>
                      </a:r>
                      <a:endParaRPr/>
                    </a:p>
                  </a:txBody>
                  <a:tcPr marL="91425" marR="91425" marT="91425" marB="91425">
                    <a:solidFill>
                      <a:srgbClr val="C9DAF8"/>
                    </a:solidFill>
                  </a:tcPr>
                </a:tc>
                <a:extLst>
                  <a:ext uri="{0D108BD9-81ED-4DB2-BD59-A6C34878D82A}">
                    <a16:rowId xmlns:a16="http://schemas.microsoft.com/office/drawing/2014/main" val="10000"/>
                  </a:ext>
                </a:extLst>
              </a:tr>
            </a:tbl>
          </a:graphicData>
        </a:graphic>
      </p:graphicFrame>
      <p:sp>
        <p:nvSpPr>
          <p:cNvPr id="1208" name="Google Shape;1208;p52"/>
          <p:cNvSpPr txBox="1"/>
          <p:nvPr/>
        </p:nvSpPr>
        <p:spPr>
          <a:xfrm>
            <a:off x="6160686" y="3166823"/>
            <a:ext cx="980700" cy="31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links:</a:t>
            </a:r>
            <a:endParaRPr/>
          </a:p>
        </p:txBody>
      </p:sp>
      <p:sp>
        <p:nvSpPr>
          <p:cNvPr id="1209" name="Google Shape;1209;p52"/>
          <p:cNvSpPr/>
          <p:nvPr/>
        </p:nvSpPr>
        <p:spPr>
          <a:xfrm>
            <a:off x="6871775" y="3348922"/>
            <a:ext cx="828000" cy="342900"/>
          </a:xfrm>
          <a:prstGeom prst="rect">
            <a:avLst/>
          </a:prstGeom>
          <a:solidFill>
            <a:srgbClr val="EFEFE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52"/>
          <p:cNvSpPr/>
          <p:nvPr/>
        </p:nvSpPr>
        <p:spPr>
          <a:xfrm>
            <a:off x="2749950" y="4197850"/>
            <a:ext cx="2297100" cy="9141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52"/>
          <p:cNvSpPr txBox="1"/>
          <p:nvPr/>
        </p:nvSpPr>
        <p:spPr>
          <a:xfrm>
            <a:off x="3305719" y="4252425"/>
            <a:ext cx="828000" cy="31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isKey</a:t>
            </a:r>
            <a:r>
              <a:rPr lang="en"/>
              <a:t>:</a:t>
            </a:r>
            <a:endParaRPr/>
          </a:p>
        </p:txBody>
      </p:sp>
      <p:graphicFrame>
        <p:nvGraphicFramePr>
          <p:cNvPr id="1212" name="Google Shape;1212;p52"/>
          <p:cNvGraphicFramePr/>
          <p:nvPr/>
        </p:nvGraphicFramePr>
        <p:xfrm>
          <a:off x="3948169" y="4260425"/>
          <a:ext cx="3000000" cy="3000000"/>
        </p:xfrm>
        <a:graphic>
          <a:graphicData uri="http://schemas.openxmlformats.org/drawingml/2006/table">
            <a:tbl>
              <a:tblPr>
                <a:noFill/>
                <a:tableStyleId>{BC467F25-A352-40E9-8C40-E7B4C2D9D289}</a:tableStyleId>
              </a:tblPr>
              <a:tblGrid>
                <a:gridCol w="382850">
                  <a:extLst>
                    <a:ext uri="{9D8B030D-6E8A-4147-A177-3AD203B41FA5}">
                      <a16:colId xmlns:a16="http://schemas.microsoft.com/office/drawing/2014/main" val="20000"/>
                    </a:ext>
                  </a:extLst>
                </a:gridCol>
              </a:tblGrid>
              <a:tr h="355200">
                <a:tc>
                  <a:txBody>
                    <a:bodyPr/>
                    <a:lstStyle/>
                    <a:p>
                      <a:pPr marL="0" lvl="0" indent="0" algn="ctr" rtl="0">
                        <a:spcBef>
                          <a:spcPts val="0"/>
                        </a:spcBef>
                        <a:spcAft>
                          <a:spcPts val="0"/>
                        </a:spcAft>
                        <a:buNone/>
                      </a:pPr>
                      <a:r>
                        <a:rPr lang="en"/>
                        <a:t>T</a:t>
                      </a:r>
                      <a:endParaRPr/>
                    </a:p>
                  </a:txBody>
                  <a:tcPr marL="91425" marR="91425" marT="91425" marB="91425">
                    <a:solidFill>
                      <a:srgbClr val="C9DAF8"/>
                    </a:solidFill>
                  </a:tcPr>
                </a:tc>
                <a:extLst>
                  <a:ext uri="{0D108BD9-81ED-4DB2-BD59-A6C34878D82A}">
                    <a16:rowId xmlns:a16="http://schemas.microsoft.com/office/drawing/2014/main" val="10000"/>
                  </a:ext>
                </a:extLst>
              </a:tr>
            </a:tbl>
          </a:graphicData>
        </a:graphic>
      </p:graphicFrame>
      <p:sp>
        <p:nvSpPr>
          <p:cNvPr id="1213" name="Google Shape;1213;p52"/>
          <p:cNvSpPr txBox="1"/>
          <p:nvPr/>
        </p:nvSpPr>
        <p:spPr>
          <a:xfrm>
            <a:off x="2764711" y="4530223"/>
            <a:ext cx="980700" cy="31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links:</a:t>
            </a:r>
            <a:endParaRPr/>
          </a:p>
        </p:txBody>
      </p:sp>
      <p:sp>
        <p:nvSpPr>
          <p:cNvPr id="1214" name="Google Shape;1214;p52"/>
          <p:cNvSpPr/>
          <p:nvPr/>
        </p:nvSpPr>
        <p:spPr>
          <a:xfrm>
            <a:off x="3475800" y="4712322"/>
            <a:ext cx="828000" cy="342900"/>
          </a:xfrm>
          <a:prstGeom prst="rect">
            <a:avLst/>
          </a:prstGeom>
          <a:solidFill>
            <a:srgbClr val="EFEFE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15" name="Google Shape;1215;p52"/>
          <p:cNvCxnSpPr>
            <a:endCxn id="1199" idx="0"/>
          </p:cNvCxnSpPr>
          <p:nvPr/>
        </p:nvCxnSpPr>
        <p:spPr>
          <a:xfrm flipH="1">
            <a:off x="3898500" y="2212055"/>
            <a:ext cx="1125000" cy="524400"/>
          </a:xfrm>
          <a:prstGeom prst="straightConnector1">
            <a:avLst/>
          </a:prstGeom>
          <a:noFill/>
          <a:ln w="28575" cap="flat" cmpd="sng">
            <a:solidFill>
              <a:schemeClr val="dk2"/>
            </a:solidFill>
            <a:prstDash val="solid"/>
            <a:round/>
            <a:headEnd type="none" w="med" len="med"/>
            <a:tailEnd type="triangle" w="med" len="med"/>
          </a:ln>
        </p:spPr>
      </p:cxnSp>
      <p:cxnSp>
        <p:nvCxnSpPr>
          <p:cNvPr id="1216" name="Google Shape;1216;p52"/>
          <p:cNvCxnSpPr>
            <a:endCxn id="1205" idx="0"/>
          </p:cNvCxnSpPr>
          <p:nvPr/>
        </p:nvCxnSpPr>
        <p:spPr>
          <a:xfrm>
            <a:off x="5405075" y="1612850"/>
            <a:ext cx="1889400" cy="1221600"/>
          </a:xfrm>
          <a:prstGeom prst="straightConnector1">
            <a:avLst/>
          </a:prstGeom>
          <a:noFill/>
          <a:ln w="28575" cap="flat" cmpd="sng">
            <a:solidFill>
              <a:schemeClr val="dk2"/>
            </a:solidFill>
            <a:prstDash val="solid"/>
            <a:round/>
            <a:headEnd type="none" w="med" len="med"/>
            <a:tailEnd type="triangle" w="med" len="med"/>
          </a:ln>
        </p:spPr>
      </p:cxnSp>
      <p:cxnSp>
        <p:nvCxnSpPr>
          <p:cNvPr id="1217" name="Google Shape;1217;p52"/>
          <p:cNvCxnSpPr/>
          <p:nvPr/>
        </p:nvCxnSpPr>
        <p:spPr>
          <a:xfrm flipH="1">
            <a:off x="3898500" y="3726825"/>
            <a:ext cx="133500" cy="492900"/>
          </a:xfrm>
          <a:prstGeom prst="straightConnector1">
            <a:avLst/>
          </a:prstGeom>
          <a:noFill/>
          <a:ln w="28575" cap="flat" cmpd="sng">
            <a:solidFill>
              <a:schemeClr val="dk2"/>
            </a:solidFill>
            <a:prstDash val="solid"/>
            <a:round/>
            <a:headEnd type="none" w="med" len="med"/>
            <a:tailEnd type="triangle" w="med" len="med"/>
          </a:ln>
        </p:spPr>
      </p:cxnSp>
      <p:cxnSp>
        <p:nvCxnSpPr>
          <p:cNvPr id="1218" name="Google Shape;1218;p52"/>
          <p:cNvCxnSpPr/>
          <p:nvPr/>
        </p:nvCxnSpPr>
        <p:spPr>
          <a:xfrm flipH="1">
            <a:off x="5023678" y="1808947"/>
            <a:ext cx="174300" cy="174300"/>
          </a:xfrm>
          <a:prstGeom prst="straightConnector1">
            <a:avLst/>
          </a:prstGeom>
          <a:noFill/>
          <a:ln w="9525" cap="flat" cmpd="sng">
            <a:solidFill>
              <a:schemeClr val="dk2"/>
            </a:solidFill>
            <a:prstDash val="solid"/>
            <a:round/>
            <a:headEnd type="none" w="med" len="med"/>
            <a:tailEnd type="stealth"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96"/>
                                        </p:tgtEl>
                                        <p:attrNameLst>
                                          <p:attrName>style.visibility</p:attrName>
                                        </p:attrNameLst>
                                      </p:cBhvr>
                                      <p:to>
                                        <p:strVal val="visible"/>
                                      </p:to>
                                    </p:set>
                                    <p:animEffect transition="in" filter="fade">
                                      <p:cBhvr>
                                        <p:cTn id="7" dur="1000"/>
                                        <p:tgtEl>
                                          <p:spTgt spid="1196"/>
                                        </p:tgtEl>
                                      </p:cBhvr>
                                    </p:animEffect>
                                  </p:childTnLst>
                                </p:cTn>
                              </p:par>
                              <p:par>
                                <p:cTn id="8" presetID="10" presetClass="entr" presetSubtype="0" fill="hold" nodeType="withEffect">
                                  <p:stCondLst>
                                    <p:cond delay="0"/>
                                  </p:stCondLst>
                                  <p:childTnLst>
                                    <p:set>
                                      <p:cBhvr>
                                        <p:cTn id="9" dur="1" fill="hold">
                                          <p:stCondLst>
                                            <p:cond delay="0"/>
                                          </p:stCondLst>
                                        </p:cTn>
                                        <p:tgtEl>
                                          <p:spTgt spid="1197"/>
                                        </p:tgtEl>
                                        <p:attrNameLst>
                                          <p:attrName>style.visibility</p:attrName>
                                        </p:attrNameLst>
                                      </p:cBhvr>
                                      <p:to>
                                        <p:strVal val="visible"/>
                                      </p:to>
                                    </p:set>
                                    <p:animEffect transition="in" filter="fade">
                                      <p:cBhvr>
                                        <p:cTn id="10" dur="1000"/>
                                        <p:tgtEl>
                                          <p:spTgt spid="1197"/>
                                        </p:tgtEl>
                                      </p:cBhvr>
                                    </p:animEffect>
                                  </p:childTnLst>
                                </p:cTn>
                              </p:par>
                              <p:par>
                                <p:cTn id="11" presetID="10" presetClass="entr" presetSubtype="0" fill="hold" nodeType="withEffect">
                                  <p:stCondLst>
                                    <p:cond delay="0"/>
                                  </p:stCondLst>
                                  <p:childTnLst>
                                    <p:set>
                                      <p:cBhvr>
                                        <p:cTn id="12" dur="1" fill="hold">
                                          <p:stCondLst>
                                            <p:cond delay="0"/>
                                          </p:stCondLst>
                                        </p:cTn>
                                        <p:tgtEl>
                                          <p:spTgt spid="1218"/>
                                        </p:tgtEl>
                                        <p:attrNameLst>
                                          <p:attrName>style.visibility</p:attrName>
                                        </p:attrNameLst>
                                      </p:cBhvr>
                                      <p:to>
                                        <p:strVal val="visible"/>
                                      </p:to>
                                    </p:set>
                                    <p:animEffect transition="in" filter="fade">
                                      <p:cBhvr>
                                        <p:cTn id="13" dur="1000"/>
                                        <p:tgtEl>
                                          <p:spTgt spid="121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99"/>
                                        </p:tgtEl>
                                        <p:attrNameLst>
                                          <p:attrName>style.visibility</p:attrName>
                                        </p:attrNameLst>
                                      </p:cBhvr>
                                      <p:to>
                                        <p:strVal val="visible"/>
                                      </p:to>
                                    </p:set>
                                    <p:animEffect transition="in" filter="fade">
                                      <p:cBhvr>
                                        <p:cTn id="18" dur="1000"/>
                                        <p:tgtEl>
                                          <p:spTgt spid="1199"/>
                                        </p:tgtEl>
                                      </p:cBhvr>
                                    </p:animEffect>
                                  </p:childTnLst>
                                </p:cTn>
                              </p:par>
                              <p:par>
                                <p:cTn id="19" presetID="10" presetClass="entr" presetSubtype="0" fill="hold" nodeType="withEffect">
                                  <p:stCondLst>
                                    <p:cond delay="0"/>
                                  </p:stCondLst>
                                  <p:childTnLst>
                                    <p:set>
                                      <p:cBhvr>
                                        <p:cTn id="20" dur="1" fill="hold">
                                          <p:stCondLst>
                                            <p:cond delay="0"/>
                                          </p:stCondLst>
                                        </p:cTn>
                                        <p:tgtEl>
                                          <p:spTgt spid="1200"/>
                                        </p:tgtEl>
                                        <p:attrNameLst>
                                          <p:attrName>style.visibility</p:attrName>
                                        </p:attrNameLst>
                                      </p:cBhvr>
                                      <p:to>
                                        <p:strVal val="visible"/>
                                      </p:to>
                                    </p:set>
                                    <p:animEffect transition="in" filter="fade">
                                      <p:cBhvr>
                                        <p:cTn id="21" dur="1000"/>
                                        <p:tgtEl>
                                          <p:spTgt spid="1200"/>
                                        </p:tgtEl>
                                      </p:cBhvr>
                                    </p:animEffect>
                                  </p:childTnLst>
                                </p:cTn>
                              </p:par>
                              <p:par>
                                <p:cTn id="22" presetID="10" presetClass="entr" presetSubtype="0" fill="hold" nodeType="withEffect">
                                  <p:stCondLst>
                                    <p:cond delay="0"/>
                                  </p:stCondLst>
                                  <p:childTnLst>
                                    <p:set>
                                      <p:cBhvr>
                                        <p:cTn id="23" dur="1" fill="hold">
                                          <p:stCondLst>
                                            <p:cond delay="0"/>
                                          </p:stCondLst>
                                        </p:cTn>
                                        <p:tgtEl>
                                          <p:spTgt spid="1201"/>
                                        </p:tgtEl>
                                        <p:attrNameLst>
                                          <p:attrName>style.visibility</p:attrName>
                                        </p:attrNameLst>
                                      </p:cBhvr>
                                      <p:to>
                                        <p:strVal val="visible"/>
                                      </p:to>
                                    </p:set>
                                    <p:animEffect transition="in" filter="fade">
                                      <p:cBhvr>
                                        <p:cTn id="24" dur="1000"/>
                                        <p:tgtEl>
                                          <p:spTgt spid="1201"/>
                                        </p:tgtEl>
                                      </p:cBhvr>
                                    </p:animEffect>
                                  </p:childTnLst>
                                </p:cTn>
                              </p:par>
                              <p:par>
                                <p:cTn id="25" presetID="10" presetClass="entr" presetSubtype="0" fill="hold" nodeType="withEffect">
                                  <p:stCondLst>
                                    <p:cond delay="0"/>
                                  </p:stCondLst>
                                  <p:childTnLst>
                                    <p:set>
                                      <p:cBhvr>
                                        <p:cTn id="26" dur="1" fill="hold">
                                          <p:stCondLst>
                                            <p:cond delay="0"/>
                                          </p:stCondLst>
                                        </p:cTn>
                                        <p:tgtEl>
                                          <p:spTgt spid="1202"/>
                                        </p:tgtEl>
                                        <p:attrNameLst>
                                          <p:attrName>style.visibility</p:attrName>
                                        </p:attrNameLst>
                                      </p:cBhvr>
                                      <p:to>
                                        <p:strVal val="visible"/>
                                      </p:to>
                                    </p:set>
                                    <p:animEffect transition="in" filter="fade">
                                      <p:cBhvr>
                                        <p:cTn id="27" dur="1000"/>
                                        <p:tgtEl>
                                          <p:spTgt spid="1202"/>
                                        </p:tgtEl>
                                      </p:cBhvr>
                                    </p:animEffect>
                                  </p:childTnLst>
                                </p:cTn>
                              </p:par>
                              <p:par>
                                <p:cTn id="28" presetID="10" presetClass="entr" presetSubtype="0" fill="hold" nodeType="withEffect">
                                  <p:stCondLst>
                                    <p:cond delay="0"/>
                                  </p:stCondLst>
                                  <p:childTnLst>
                                    <p:set>
                                      <p:cBhvr>
                                        <p:cTn id="29" dur="1" fill="hold">
                                          <p:stCondLst>
                                            <p:cond delay="0"/>
                                          </p:stCondLst>
                                        </p:cTn>
                                        <p:tgtEl>
                                          <p:spTgt spid="1203"/>
                                        </p:tgtEl>
                                        <p:attrNameLst>
                                          <p:attrName>style.visibility</p:attrName>
                                        </p:attrNameLst>
                                      </p:cBhvr>
                                      <p:to>
                                        <p:strVal val="visible"/>
                                      </p:to>
                                    </p:set>
                                    <p:animEffect transition="in" filter="fade">
                                      <p:cBhvr>
                                        <p:cTn id="30" dur="1000"/>
                                        <p:tgtEl>
                                          <p:spTgt spid="1203"/>
                                        </p:tgtEl>
                                      </p:cBhvr>
                                    </p:animEffect>
                                  </p:childTnLst>
                                </p:cTn>
                              </p:par>
                              <p:par>
                                <p:cTn id="31" presetID="10" presetClass="entr" presetSubtype="0" fill="hold" nodeType="withEffect">
                                  <p:stCondLst>
                                    <p:cond delay="0"/>
                                  </p:stCondLst>
                                  <p:childTnLst>
                                    <p:set>
                                      <p:cBhvr>
                                        <p:cTn id="32" dur="1" fill="hold">
                                          <p:stCondLst>
                                            <p:cond delay="0"/>
                                          </p:stCondLst>
                                        </p:cTn>
                                        <p:tgtEl>
                                          <p:spTgt spid="1204"/>
                                        </p:tgtEl>
                                        <p:attrNameLst>
                                          <p:attrName>style.visibility</p:attrName>
                                        </p:attrNameLst>
                                      </p:cBhvr>
                                      <p:to>
                                        <p:strVal val="visible"/>
                                      </p:to>
                                    </p:set>
                                    <p:animEffect transition="in" filter="fade">
                                      <p:cBhvr>
                                        <p:cTn id="33" dur="1000"/>
                                        <p:tgtEl>
                                          <p:spTgt spid="1204"/>
                                        </p:tgtEl>
                                      </p:cBhvr>
                                    </p:animEffect>
                                  </p:childTnLst>
                                </p:cTn>
                              </p:par>
                              <p:par>
                                <p:cTn id="34" presetID="10" presetClass="entr" presetSubtype="0" fill="hold" nodeType="withEffect">
                                  <p:stCondLst>
                                    <p:cond delay="0"/>
                                  </p:stCondLst>
                                  <p:childTnLst>
                                    <p:set>
                                      <p:cBhvr>
                                        <p:cTn id="35" dur="1" fill="hold">
                                          <p:stCondLst>
                                            <p:cond delay="0"/>
                                          </p:stCondLst>
                                        </p:cTn>
                                        <p:tgtEl>
                                          <p:spTgt spid="1215"/>
                                        </p:tgtEl>
                                        <p:attrNameLst>
                                          <p:attrName>style.visibility</p:attrName>
                                        </p:attrNameLst>
                                      </p:cBhvr>
                                      <p:to>
                                        <p:strVal val="visible"/>
                                      </p:to>
                                    </p:set>
                                    <p:animEffect transition="in" filter="fade">
                                      <p:cBhvr>
                                        <p:cTn id="36" dur="1000"/>
                                        <p:tgtEl>
                                          <p:spTgt spid="121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210"/>
                                        </p:tgtEl>
                                        <p:attrNameLst>
                                          <p:attrName>style.visibility</p:attrName>
                                        </p:attrNameLst>
                                      </p:cBhvr>
                                      <p:to>
                                        <p:strVal val="visible"/>
                                      </p:to>
                                    </p:set>
                                    <p:animEffect transition="in" filter="fade">
                                      <p:cBhvr>
                                        <p:cTn id="41" dur="1000"/>
                                        <p:tgtEl>
                                          <p:spTgt spid="1210"/>
                                        </p:tgtEl>
                                      </p:cBhvr>
                                    </p:animEffect>
                                  </p:childTnLst>
                                </p:cTn>
                              </p:par>
                              <p:par>
                                <p:cTn id="42" presetID="10" presetClass="entr" presetSubtype="0" fill="hold" nodeType="withEffect">
                                  <p:stCondLst>
                                    <p:cond delay="0"/>
                                  </p:stCondLst>
                                  <p:childTnLst>
                                    <p:set>
                                      <p:cBhvr>
                                        <p:cTn id="43" dur="1" fill="hold">
                                          <p:stCondLst>
                                            <p:cond delay="0"/>
                                          </p:stCondLst>
                                        </p:cTn>
                                        <p:tgtEl>
                                          <p:spTgt spid="1211"/>
                                        </p:tgtEl>
                                        <p:attrNameLst>
                                          <p:attrName>style.visibility</p:attrName>
                                        </p:attrNameLst>
                                      </p:cBhvr>
                                      <p:to>
                                        <p:strVal val="visible"/>
                                      </p:to>
                                    </p:set>
                                    <p:animEffect transition="in" filter="fade">
                                      <p:cBhvr>
                                        <p:cTn id="44" dur="1000"/>
                                        <p:tgtEl>
                                          <p:spTgt spid="1211"/>
                                        </p:tgtEl>
                                      </p:cBhvr>
                                    </p:animEffect>
                                  </p:childTnLst>
                                </p:cTn>
                              </p:par>
                              <p:par>
                                <p:cTn id="45" presetID="10" presetClass="entr" presetSubtype="0" fill="hold" nodeType="withEffect">
                                  <p:stCondLst>
                                    <p:cond delay="0"/>
                                  </p:stCondLst>
                                  <p:childTnLst>
                                    <p:set>
                                      <p:cBhvr>
                                        <p:cTn id="46" dur="1" fill="hold">
                                          <p:stCondLst>
                                            <p:cond delay="0"/>
                                          </p:stCondLst>
                                        </p:cTn>
                                        <p:tgtEl>
                                          <p:spTgt spid="1212"/>
                                        </p:tgtEl>
                                        <p:attrNameLst>
                                          <p:attrName>style.visibility</p:attrName>
                                        </p:attrNameLst>
                                      </p:cBhvr>
                                      <p:to>
                                        <p:strVal val="visible"/>
                                      </p:to>
                                    </p:set>
                                    <p:animEffect transition="in" filter="fade">
                                      <p:cBhvr>
                                        <p:cTn id="47" dur="1000"/>
                                        <p:tgtEl>
                                          <p:spTgt spid="1212"/>
                                        </p:tgtEl>
                                      </p:cBhvr>
                                    </p:animEffect>
                                  </p:childTnLst>
                                </p:cTn>
                              </p:par>
                              <p:par>
                                <p:cTn id="48" presetID="10" presetClass="entr" presetSubtype="0" fill="hold" nodeType="withEffect">
                                  <p:stCondLst>
                                    <p:cond delay="0"/>
                                  </p:stCondLst>
                                  <p:childTnLst>
                                    <p:set>
                                      <p:cBhvr>
                                        <p:cTn id="49" dur="1" fill="hold">
                                          <p:stCondLst>
                                            <p:cond delay="0"/>
                                          </p:stCondLst>
                                        </p:cTn>
                                        <p:tgtEl>
                                          <p:spTgt spid="1213"/>
                                        </p:tgtEl>
                                        <p:attrNameLst>
                                          <p:attrName>style.visibility</p:attrName>
                                        </p:attrNameLst>
                                      </p:cBhvr>
                                      <p:to>
                                        <p:strVal val="visible"/>
                                      </p:to>
                                    </p:set>
                                    <p:animEffect transition="in" filter="fade">
                                      <p:cBhvr>
                                        <p:cTn id="50" dur="1000"/>
                                        <p:tgtEl>
                                          <p:spTgt spid="1213"/>
                                        </p:tgtEl>
                                      </p:cBhvr>
                                    </p:animEffect>
                                  </p:childTnLst>
                                </p:cTn>
                              </p:par>
                              <p:par>
                                <p:cTn id="51" presetID="10" presetClass="entr" presetSubtype="0" fill="hold" nodeType="withEffect">
                                  <p:stCondLst>
                                    <p:cond delay="0"/>
                                  </p:stCondLst>
                                  <p:childTnLst>
                                    <p:set>
                                      <p:cBhvr>
                                        <p:cTn id="52" dur="1" fill="hold">
                                          <p:stCondLst>
                                            <p:cond delay="0"/>
                                          </p:stCondLst>
                                        </p:cTn>
                                        <p:tgtEl>
                                          <p:spTgt spid="1214"/>
                                        </p:tgtEl>
                                        <p:attrNameLst>
                                          <p:attrName>style.visibility</p:attrName>
                                        </p:attrNameLst>
                                      </p:cBhvr>
                                      <p:to>
                                        <p:strVal val="visible"/>
                                      </p:to>
                                    </p:set>
                                    <p:animEffect transition="in" filter="fade">
                                      <p:cBhvr>
                                        <p:cTn id="53" dur="1000"/>
                                        <p:tgtEl>
                                          <p:spTgt spid="1214"/>
                                        </p:tgtEl>
                                      </p:cBhvr>
                                    </p:animEffect>
                                  </p:childTnLst>
                                </p:cTn>
                              </p:par>
                              <p:par>
                                <p:cTn id="54" presetID="10" presetClass="entr" presetSubtype="0" fill="hold" nodeType="withEffect">
                                  <p:stCondLst>
                                    <p:cond delay="0"/>
                                  </p:stCondLst>
                                  <p:childTnLst>
                                    <p:set>
                                      <p:cBhvr>
                                        <p:cTn id="55" dur="1" fill="hold">
                                          <p:stCondLst>
                                            <p:cond delay="0"/>
                                          </p:stCondLst>
                                        </p:cTn>
                                        <p:tgtEl>
                                          <p:spTgt spid="1217"/>
                                        </p:tgtEl>
                                        <p:attrNameLst>
                                          <p:attrName>style.visibility</p:attrName>
                                        </p:attrNameLst>
                                      </p:cBhvr>
                                      <p:to>
                                        <p:strVal val="visible"/>
                                      </p:to>
                                    </p:set>
                                    <p:animEffect transition="in" filter="fade">
                                      <p:cBhvr>
                                        <p:cTn id="56" dur="1000"/>
                                        <p:tgtEl>
                                          <p:spTgt spid="1217"/>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205"/>
                                        </p:tgtEl>
                                        <p:attrNameLst>
                                          <p:attrName>style.visibility</p:attrName>
                                        </p:attrNameLst>
                                      </p:cBhvr>
                                      <p:to>
                                        <p:strVal val="visible"/>
                                      </p:to>
                                    </p:set>
                                    <p:animEffect transition="in" filter="fade">
                                      <p:cBhvr>
                                        <p:cTn id="61" dur="1000"/>
                                        <p:tgtEl>
                                          <p:spTgt spid="1205"/>
                                        </p:tgtEl>
                                      </p:cBhvr>
                                    </p:animEffect>
                                  </p:childTnLst>
                                </p:cTn>
                              </p:par>
                              <p:par>
                                <p:cTn id="62" presetID="10" presetClass="entr" presetSubtype="0" fill="hold" nodeType="withEffect">
                                  <p:stCondLst>
                                    <p:cond delay="0"/>
                                  </p:stCondLst>
                                  <p:childTnLst>
                                    <p:set>
                                      <p:cBhvr>
                                        <p:cTn id="63" dur="1" fill="hold">
                                          <p:stCondLst>
                                            <p:cond delay="0"/>
                                          </p:stCondLst>
                                        </p:cTn>
                                        <p:tgtEl>
                                          <p:spTgt spid="1206"/>
                                        </p:tgtEl>
                                        <p:attrNameLst>
                                          <p:attrName>style.visibility</p:attrName>
                                        </p:attrNameLst>
                                      </p:cBhvr>
                                      <p:to>
                                        <p:strVal val="visible"/>
                                      </p:to>
                                    </p:set>
                                    <p:animEffect transition="in" filter="fade">
                                      <p:cBhvr>
                                        <p:cTn id="64" dur="1000"/>
                                        <p:tgtEl>
                                          <p:spTgt spid="1206"/>
                                        </p:tgtEl>
                                      </p:cBhvr>
                                    </p:animEffect>
                                  </p:childTnLst>
                                </p:cTn>
                              </p:par>
                              <p:par>
                                <p:cTn id="65" presetID="10" presetClass="entr" presetSubtype="0" fill="hold" nodeType="withEffect">
                                  <p:stCondLst>
                                    <p:cond delay="0"/>
                                  </p:stCondLst>
                                  <p:childTnLst>
                                    <p:set>
                                      <p:cBhvr>
                                        <p:cTn id="66" dur="1" fill="hold">
                                          <p:stCondLst>
                                            <p:cond delay="0"/>
                                          </p:stCondLst>
                                        </p:cTn>
                                        <p:tgtEl>
                                          <p:spTgt spid="1207"/>
                                        </p:tgtEl>
                                        <p:attrNameLst>
                                          <p:attrName>style.visibility</p:attrName>
                                        </p:attrNameLst>
                                      </p:cBhvr>
                                      <p:to>
                                        <p:strVal val="visible"/>
                                      </p:to>
                                    </p:set>
                                    <p:animEffect transition="in" filter="fade">
                                      <p:cBhvr>
                                        <p:cTn id="67" dur="1000"/>
                                        <p:tgtEl>
                                          <p:spTgt spid="1207"/>
                                        </p:tgtEl>
                                      </p:cBhvr>
                                    </p:animEffect>
                                  </p:childTnLst>
                                </p:cTn>
                              </p:par>
                              <p:par>
                                <p:cTn id="68" presetID="10" presetClass="entr" presetSubtype="0" fill="hold" nodeType="withEffect">
                                  <p:stCondLst>
                                    <p:cond delay="0"/>
                                  </p:stCondLst>
                                  <p:childTnLst>
                                    <p:set>
                                      <p:cBhvr>
                                        <p:cTn id="69" dur="1" fill="hold">
                                          <p:stCondLst>
                                            <p:cond delay="0"/>
                                          </p:stCondLst>
                                        </p:cTn>
                                        <p:tgtEl>
                                          <p:spTgt spid="1208"/>
                                        </p:tgtEl>
                                        <p:attrNameLst>
                                          <p:attrName>style.visibility</p:attrName>
                                        </p:attrNameLst>
                                      </p:cBhvr>
                                      <p:to>
                                        <p:strVal val="visible"/>
                                      </p:to>
                                    </p:set>
                                    <p:animEffect transition="in" filter="fade">
                                      <p:cBhvr>
                                        <p:cTn id="70" dur="1000"/>
                                        <p:tgtEl>
                                          <p:spTgt spid="1208"/>
                                        </p:tgtEl>
                                      </p:cBhvr>
                                    </p:animEffect>
                                  </p:childTnLst>
                                </p:cTn>
                              </p:par>
                              <p:par>
                                <p:cTn id="71" presetID="10" presetClass="entr" presetSubtype="0" fill="hold" nodeType="withEffect">
                                  <p:stCondLst>
                                    <p:cond delay="0"/>
                                  </p:stCondLst>
                                  <p:childTnLst>
                                    <p:set>
                                      <p:cBhvr>
                                        <p:cTn id="72" dur="1" fill="hold">
                                          <p:stCondLst>
                                            <p:cond delay="0"/>
                                          </p:stCondLst>
                                        </p:cTn>
                                        <p:tgtEl>
                                          <p:spTgt spid="1209"/>
                                        </p:tgtEl>
                                        <p:attrNameLst>
                                          <p:attrName>style.visibility</p:attrName>
                                        </p:attrNameLst>
                                      </p:cBhvr>
                                      <p:to>
                                        <p:strVal val="visible"/>
                                      </p:to>
                                    </p:set>
                                    <p:animEffect transition="in" filter="fade">
                                      <p:cBhvr>
                                        <p:cTn id="73" dur="1000"/>
                                        <p:tgtEl>
                                          <p:spTgt spid="1209"/>
                                        </p:tgtEl>
                                      </p:cBhvr>
                                    </p:animEffect>
                                  </p:childTnLst>
                                </p:cTn>
                              </p:par>
                              <p:par>
                                <p:cTn id="74" presetID="10" presetClass="entr" presetSubtype="0" fill="hold" nodeType="withEffect">
                                  <p:stCondLst>
                                    <p:cond delay="0"/>
                                  </p:stCondLst>
                                  <p:childTnLst>
                                    <p:set>
                                      <p:cBhvr>
                                        <p:cTn id="75" dur="1" fill="hold">
                                          <p:stCondLst>
                                            <p:cond delay="0"/>
                                          </p:stCondLst>
                                        </p:cTn>
                                        <p:tgtEl>
                                          <p:spTgt spid="1216"/>
                                        </p:tgtEl>
                                        <p:attrNameLst>
                                          <p:attrName>style.visibility</p:attrName>
                                        </p:attrNameLst>
                                      </p:cBhvr>
                                      <p:to>
                                        <p:strVal val="visible"/>
                                      </p:to>
                                    </p:set>
                                    <p:animEffect transition="in" filter="fade">
                                      <p:cBhvr>
                                        <p:cTn id="76" dur="1000"/>
                                        <p:tgtEl>
                                          <p:spTgt spid="12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222"/>
        <p:cNvGrpSpPr/>
        <p:nvPr/>
      </p:nvGrpSpPr>
      <p:grpSpPr>
        <a:xfrm>
          <a:off x="0" y="0"/>
          <a:ext cx="0" cy="0"/>
          <a:chOff x="0" y="0"/>
          <a:chExt cx="0" cy="0"/>
        </a:xfrm>
      </p:grpSpPr>
      <p:sp>
        <p:nvSpPr>
          <p:cNvPr id="1223" name="Google Shape;1223;p5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Three Trie Implementations</a:t>
            </a:r>
            <a:endParaRPr/>
          </a:p>
        </p:txBody>
      </p:sp>
      <p:sp>
        <p:nvSpPr>
          <p:cNvPr id="1224" name="Google Shape;1224;p53"/>
          <p:cNvSpPr txBox="1">
            <a:spLocks noGrp="1"/>
          </p:cNvSpPr>
          <p:nvPr>
            <p:ph type="body" idx="1"/>
          </p:nvPr>
        </p:nvSpPr>
        <p:spPr>
          <a:xfrm>
            <a:off x="89475" y="399450"/>
            <a:ext cx="84438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When we implement a Trie, we have to pick a map to our children</a:t>
            </a:r>
            <a:endParaRPr/>
          </a:p>
          <a:p>
            <a:pPr marL="457200" lvl="0" indent="-342900" algn="l" rtl="0">
              <a:spcBef>
                <a:spcPts val="600"/>
              </a:spcBef>
              <a:spcAft>
                <a:spcPts val="0"/>
              </a:spcAft>
              <a:buSzPts val="1800"/>
              <a:buChar char="●"/>
            </a:pPr>
            <a:r>
              <a:rPr lang="en"/>
              <a:t>DataIndexedCharMap: Very fast, but memory hungry.</a:t>
            </a:r>
            <a:endParaRPr/>
          </a:p>
          <a:p>
            <a:pPr marL="457200" lvl="0" indent="-342900" algn="l" rtl="0">
              <a:spcBef>
                <a:spcPts val="600"/>
              </a:spcBef>
              <a:spcAft>
                <a:spcPts val="0"/>
              </a:spcAft>
              <a:buSzPts val="1800"/>
              <a:buChar char="●"/>
            </a:pPr>
            <a:r>
              <a:rPr lang="en"/>
              <a:t>Hash Table: Almost as fast, uses less memory.</a:t>
            </a:r>
            <a:endParaRPr/>
          </a:p>
          <a:p>
            <a:pPr marL="457200" lvl="0" indent="-342900" algn="l" rtl="0">
              <a:spcBef>
                <a:spcPts val="600"/>
              </a:spcBef>
              <a:spcAft>
                <a:spcPts val="0"/>
              </a:spcAft>
              <a:buSzPts val="1800"/>
              <a:buChar char="●"/>
            </a:pPr>
            <a:r>
              <a:rPr lang="en"/>
              <a:t>Balanced BST: A little slower than Hash Table, uses similar amount of memory?</a:t>
            </a:r>
            <a:endParaRPr/>
          </a:p>
        </p:txBody>
      </p:sp>
      <p:pic>
        <p:nvPicPr>
          <p:cNvPr id="1225" name="Google Shape;1225;p53"/>
          <p:cNvPicPr preferRelativeResize="0"/>
          <p:nvPr/>
        </p:nvPicPr>
        <p:blipFill>
          <a:blip r:embed="rId3">
            <a:alphaModFix/>
          </a:blip>
          <a:stretch>
            <a:fillRect/>
          </a:stretch>
        </p:blipFill>
        <p:spPr>
          <a:xfrm>
            <a:off x="2129125" y="2133800"/>
            <a:ext cx="4669299" cy="2635625"/>
          </a:xfrm>
          <a:prstGeom prst="rect">
            <a:avLst/>
          </a:prstGeom>
          <a:noFill/>
          <a:ln>
            <a:noFill/>
          </a:ln>
        </p:spPr>
      </p:pic>
      <p:sp>
        <p:nvSpPr>
          <p:cNvPr id="1226" name="Google Shape;1226;p53"/>
          <p:cNvSpPr txBox="1"/>
          <p:nvPr/>
        </p:nvSpPr>
        <p:spPr>
          <a:xfrm>
            <a:off x="2525150" y="3205050"/>
            <a:ext cx="1178700" cy="8466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dictionary from letter to Node</a:t>
            </a:r>
            <a:endParaRPr>
              <a:latin typeface="Roboto"/>
              <a:ea typeface="Roboto"/>
              <a:cs typeface="Roboto"/>
              <a:sym typeface="Roboto"/>
            </a:endParaRPr>
          </a:p>
        </p:txBody>
      </p:sp>
      <p:sp>
        <p:nvSpPr>
          <p:cNvPr id="1227" name="Google Shape;1227;p53"/>
          <p:cNvSpPr txBox="1"/>
          <p:nvPr/>
        </p:nvSpPr>
        <p:spPr>
          <a:xfrm>
            <a:off x="4027000" y="3175750"/>
            <a:ext cx="1927500" cy="3510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DataIndexedCharMap</a:t>
            </a:r>
            <a:endParaRPr>
              <a:latin typeface="Roboto"/>
              <a:ea typeface="Roboto"/>
              <a:cs typeface="Roboto"/>
              <a:sym typeface="Roboto"/>
            </a:endParaRPr>
          </a:p>
        </p:txBody>
      </p:sp>
      <p:sp>
        <p:nvSpPr>
          <p:cNvPr id="1228" name="Google Shape;1228;p53"/>
          <p:cNvSpPr txBox="1"/>
          <p:nvPr/>
        </p:nvSpPr>
        <p:spPr>
          <a:xfrm>
            <a:off x="4152000" y="3621450"/>
            <a:ext cx="1136100" cy="3510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Hash Table</a:t>
            </a:r>
            <a:endParaRPr>
              <a:latin typeface="Roboto"/>
              <a:ea typeface="Roboto"/>
              <a:cs typeface="Roboto"/>
              <a:sym typeface="Roboto"/>
            </a:endParaRPr>
          </a:p>
        </p:txBody>
      </p:sp>
      <p:sp>
        <p:nvSpPr>
          <p:cNvPr id="1229" name="Google Shape;1229;p53"/>
          <p:cNvSpPr txBox="1"/>
          <p:nvPr/>
        </p:nvSpPr>
        <p:spPr>
          <a:xfrm>
            <a:off x="4107900" y="4067150"/>
            <a:ext cx="1380300" cy="3510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Balanced BST</a:t>
            </a:r>
            <a:endParaRPr>
              <a:latin typeface="Roboto"/>
              <a:ea typeface="Roboto"/>
              <a:cs typeface="Roboto"/>
              <a:sym typeface="Roboto"/>
            </a:endParaRPr>
          </a:p>
        </p:txBody>
      </p:sp>
      <p:sp>
        <p:nvSpPr>
          <p:cNvPr id="1230" name="Google Shape;1230;p53"/>
          <p:cNvSpPr txBox="1"/>
          <p:nvPr/>
        </p:nvSpPr>
        <p:spPr>
          <a:xfrm>
            <a:off x="241875" y="3689900"/>
            <a:ext cx="1700400" cy="437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a:solidFill>
                  <a:srgbClr val="BE0712"/>
                </a:solidFill>
                <a:latin typeface="Consolas"/>
                <a:ea typeface="Consolas"/>
                <a:cs typeface="Consolas"/>
                <a:sym typeface="Consolas"/>
              </a:rPr>
              <a:t>this.next</a:t>
            </a:r>
            <a:endParaRPr>
              <a:solidFill>
                <a:srgbClr val="BE0712"/>
              </a:solidFill>
            </a:endParaRPr>
          </a:p>
        </p:txBody>
      </p:sp>
      <p:cxnSp>
        <p:nvCxnSpPr>
          <p:cNvPr id="1231" name="Google Shape;1231;p53"/>
          <p:cNvCxnSpPr/>
          <p:nvPr/>
        </p:nvCxnSpPr>
        <p:spPr>
          <a:xfrm rot="10800000" flipH="1">
            <a:off x="1630650" y="3536175"/>
            <a:ext cx="824700" cy="246900"/>
          </a:xfrm>
          <a:prstGeom prst="straightConnector1">
            <a:avLst/>
          </a:prstGeom>
          <a:noFill/>
          <a:ln w="9525" cap="flat" cmpd="sng">
            <a:solidFill>
              <a:srgbClr val="BE0712"/>
            </a:solidFill>
            <a:prstDash val="solid"/>
            <a:round/>
            <a:headEnd type="none" w="med" len="med"/>
            <a:tailEnd type="triangle" w="med" len="med"/>
          </a:ln>
        </p:spPr>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235"/>
        <p:cNvGrpSpPr/>
        <p:nvPr/>
      </p:nvGrpSpPr>
      <p:grpSpPr>
        <a:xfrm>
          <a:off x="0" y="0"/>
          <a:ext cx="0" cy="0"/>
          <a:chOff x="0" y="0"/>
          <a:chExt cx="0" cy="0"/>
        </a:xfrm>
      </p:grpSpPr>
      <p:sp>
        <p:nvSpPr>
          <p:cNvPr id="1236" name="Google Shape;1236;p5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Performance of the DataIndexedCharMap, BST, and Hash Table Trie </a:t>
            </a:r>
            <a:endParaRPr/>
          </a:p>
        </p:txBody>
      </p:sp>
      <p:sp>
        <p:nvSpPr>
          <p:cNvPr id="1237" name="Google Shape;1237;p54"/>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Using a BST or a Hash Table to store links to children will usually use less memory.</a:t>
            </a:r>
            <a:endParaRPr/>
          </a:p>
          <a:p>
            <a:pPr marL="457200" lvl="0" indent="-342900" algn="l" rtl="0">
              <a:spcBef>
                <a:spcPts val="600"/>
              </a:spcBef>
              <a:spcAft>
                <a:spcPts val="0"/>
              </a:spcAft>
              <a:buSzPts val="1800"/>
              <a:buChar char="●"/>
            </a:pPr>
            <a:r>
              <a:rPr lang="en"/>
              <a:t>DataIndexedCharMap: 128 links per node.</a:t>
            </a:r>
            <a:endParaRPr/>
          </a:p>
          <a:p>
            <a:pPr marL="457200" lvl="0" indent="-342900" algn="l" rtl="0">
              <a:spcBef>
                <a:spcPts val="600"/>
              </a:spcBef>
              <a:spcAft>
                <a:spcPts val="0"/>
              </a:spcAft>
              <a:buSzPts val="1800"/>
              <a:buChar char="●"/>
            </a:pPr>
            <a:r>
              <a:rPr lang="en"/>
              <a:t>BST: C links per node, where C is the number of children.</a:t>
            </a:r>
            <a:endParaRPr/>
          </a:p>
          <a:p>
            <a:pPr marL="457200" lvl="0" indent="-342900" algn="l" rtl="0">
              <a:spcBef>
                <a:spcPts val="600"/>
              </a:spcBef>
              <a:spcAft>
                <a:spcPts val="0"/>
              </a:spcAft>
              <a:buSzPts val="1800"/>
              <a:buChar char="●"/>
            </a:pPr>
            <a:r>
              <a:rPr lang="en"/>
              <a:t>Hash Table: C links per node.</a:t>
            </a:r>
            <a:endParaRPr/>
          </a:p>
          <a:p>
            <a:pPr marL="457200" lvl="0" indent="-342900" algn="l" rtl="0">
              <a:spcBef>
                <a:spcPts val="600"/>
              </a:spcBef>
              <a:spcAft>
                <a:spcPts val="0"/>
              </a:spcAft>
              <a:buSzPts val="1800"/>
              <a:buChar char="●"/>
            </a:pPr>
            <a:r>
              <a:rPr lang="en"/>
              <a:t>Note: Cost per link is higher in BST and Hash Table.</a:t>
            </a:r>
            <a:endParaRPr/>
          </a:p>
          <a:p>
            <a:pPr marL="0" lvl="0" indent="0" algn="l" rtl="0">
              <a:spcBef>
                <a:spcPts val="600"/>
              </a:spcBef>
              <a:spcAft>
                <a:spcPts val="0"/>
              </a:spcAft>
              <a:buNone/>
            </a:pPr>
            <a:endParaRPr/>
          </a:p>
          <a:p>
            <a:pPr marL="0" lvl="0" indent="0" algn="l" rtl="0">
              <a:spcBef>
                <a:spcPts val="600"/>
              </a:spcBef>
              <a:spcAft>
                <a:spcPts val="0"/>
              </a:spcAft>
              <a:buNone/>
            </a:pPr>
            <a:r>
              <a:rPr lang="en"/>
              <a:t>Using a BST or a Hash Table will take slightly more time.</a:t>
            </a:r>
            <a:endParaRPr/>
          </a:p>
          <a:p>
            <a:pPr marL="457200" lvl="0" indent="-342900" algn="l" rtl="0">
              <a:spcBef>
                <a:spcPts val="600"/>
              </a:spcBef>
              <a:spcAft>
                <a:spcPts val="0"/>
              </a:spcAft>
              <a:buSzPts val="1800"/>
              <a:buChar char="●"/>
            </a:pPr>
            <a:r>
              <a:rPr lang="en"/>
              <a:t>DataIndexedCharMap is Θ(1).</a:t>
            </a:r>
            <a:endParaRPr/>
          </a:p>
          <a:p>
            <a:pPr marL="457200" lvl="0" indent="-342900" algn="l" rtl="0">
              <a:spcBef>
                <a:spcPts val="600"/>
              </a:spcBef>
              <a:spcAft>
                <a:spcPts val="0"/>
              </a:spcAft>
              <a:buSzPts val="1800"/>
              <a:buChar char="●"/>
            </a:pPr>
            <a:r>
              <a:rPr lang="en"/>
              <a:t>BST is O(log R), where R is size of alphabet.</a:t>
            </a:r>
            <a:endParaRPr/>
          </a:p>
          <a:p>
            <a:pPr marL="457200" lvl="0" indent="-342900" algn="l" rtl="0">
              <a:spcBef>
                <a:spcPts val="600"/>
              </a:spcBef>
              <a:spcAft>
                <a:spcPts val="0"/>
              </a:spcAft>
              <a:buSzPts val="1800"/>
              <a:buChar char="●"/>
            </a:pPr>
            <a:r>
              <a:rPr lang="en"/>
              <a:t>Hash Table is O(R), where R is size of alphabet.</a:t>
            </a:r>
            <a:endParaRPr/>
          </a:p>
          <a:p>
            <a:pPr marL="0" lvl="0" indent="0" algn="l" rtl="0">
              <a:spcBef>
                <a:spcPts val="600"/>
              </a:spcBef>
              <a:spcAft>
                <a:spcPts val="0"/>
              </a:spcAft>
              <a:buNone/>
            </a:pPr>
            <a:endParaRPr/>
          </a:p>
          <a:p>
            <a:pPr marL="0" lvl="0" indent="0" algn="l" rtl="0">
              <a:spcBef>
                <a:spcPts val="600"/>
              </a:spcBef>
              <a:spcAft>
                <a:spcPts val="0"/>
              </a:spcAft>
              <a:buNone/>
            </a:pPr>
            <a:r>
              <a:rPr lang="en"/>
              <a:t>Since R is fixed (e.g. 128), can think of all 3 as Θ(1).</a:t>
            </a:r>
            <a:endParaRPr/>
          </a:p>
        </p:txBody>
      </p:sp>
      <p:sp>
        <p:nvSpPr>
          <p:cNvPr id="1238" name="Google Shape;1238;p54"/>
          <p:cNvSpPr/>
          <p:nvPr/>
        </p:nvSpPr>
        <p:spPr>
          <a:xfrm>
            <a:off x="7034455" y="1674400"/>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1239" name="Google Shape;1239;p54"/>
          <p:cNvSpPr/>
          <p:nvPr/>
        </p:nvSpPr>
        <p:spPr>
          <a:xfrm>
            <a:off x="7710000" y="2427321"/>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sp>
        <p:nvSpPr>
          <p:cNvPr id="1240" name="Google Shape;1240;p54"/>
          <p:cNvSpPr/>
          <p:nvPr/>
        </p:nvSpPr>
        <p:spPr>
          <a:xfrm>
            <a:off x="7710000" y="3062598"/>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241" name="Google Shape;1241;p54"/>
          <p:cNvSpPr/>
          <p:nvPr/>
        </p:nvSpPr>
        <p:spPr>
          <a:xfrm>
            <a:off x="7710000" y="3697877"/>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m</a:t>
            </a:r>
            <a:endParaRPr sz="1800">
              <a:latin typeface="Consolas"/>
              <a:ea typeface="Consolas"/>
              <a:cs typeface="Consolas"/>
              <a:sym typeface="Consolas"/>
            </a:endParaRPr>
          </a:p>
        </p:txBody>
      </p:sp>
      <p:sp>
        <p:nvSpPr>
          <p:cNvPr id="1242" name="Google Shape;1242;p54"/>
          <p:cNvSpPr/>
          <p:nvPr/>
        </p:nvSpPr>
        <p:spPr>
          <a:xfrm>
            <a:off x="7080500" y="3697877"/>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d</a:t>
            </a:r>
            <a:endParaRPr sz="1800">
              <a:latin typeface="Consolas"/>
              <a:ea typeface="Consolas"/>
              <a:cs typeface="Consolas"/>
              <a:sym typeface="Consolas"/>
            </a:endParaRPr>
          </a:p>
        </p:txBody>
      </p:sp>
      <p:sp>
        <p:nvSpPr>
          <p:cNvPr id="1243" name="Google Shape;1243;p54"/>
          <p:cNvSpPr/>
          <p:nvPr/>
        </p:nvSpPr>
        <p:spPr>
          <a:xfrm>
            <a:off x="8339500" y="3697877"/>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p</a:t>
            </a:r>
            <a:endParaRPr sz="1800">
              <a:latin typeface="Consolas"/>
              <a:ea typeface="Consolas"/>
              <a:cs typeface="Consolas"/>
              <a:sym typeface="Consolas"/>
            </a:endParaRPr>
          </a:p>
        </p:txBody>
      </p:sp>
      <p:sp>
        <p:nvSpPr>
          <p:cNvPr id="1244" name="Google Shape;1244;p54"/>
          <p:cNvSpPr/>
          <p:nvPr/>
        </p:nvSpPr>
        <p:spPr>
          <a:xfrm>
            <a:off x="7710000" y="43331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e</a:t>
            </a:r>
            <a:endParaRPr sz="1800">
              <a:latin typeface="Consolas"/>
              <a:ea typeface="Consolas"/>
              <a:cs typeface="Consolas"/>
              <a:sym typeface="Consolas"/>
            </a:endParaRPr>
          </a:p>
        </p:txBody>
      </p:sp>
      <p:sp>
        <p:nvSpPr>
          <p:cNvPr id="1245" name="Google Shape;1245;p54"/>
          <p:cNvSpPr/>
          <p:nvPr/>
        </p:nvSpPr>
        <p:spPr>
          <a:xfrm>
            <a:off x="6384425" y="2427336"/>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246" name="Google Shape;1246;p54"/>
          <p:cNvSpPr/>
          <p:nvPr/>
        </p:nvSpPr>
        <p:spPr>
          <a:xfrm>
            <a:off x="6384425" y="3062611"/>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w</a:t>
            </a:r>
            <a:endParaRPr sz="1800">
              <a:latin typeface="Consolas"/>
              <a:ea typeface="Consolas"/>
              <a:cs typeface="Consolas"/>
              <a:sym typeface="Consolas"/>
            </a:endParaRPr>
          </a:p>
        </p:txBody>
      </p:sp>
      <p:sp>
        <p:nvSpPr>
          <p:cNvPr id="1247" name="Google Shape;1247;p54"/>
          <p:cNvSpPr/>
          <p:nvPr/>
        </p:nvSpPr>
        <p:spPr>
          <a:xfrm>
            <a:off x="6384425" y="369788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l</a:t>
            </a:r>
            <a:endParaRPr sz="1800">
              <a:latin typeface="Consolas"/>
              <a:ea typeface="Consolas"/>
              <a:cs typeface="Consolas"/>
              <a:sym typeface="Consolas"/>
            </a:endParaRPr>
          </a:p>
        </p:txBody>
      </p:sp>
      <p:cxnSp>
        <p:nvCxnSpPr>
          <p:cNvPr id="1248" name="Google Shape;1248;p54"/>
          <p:cNvCxnSpPr/>
          <p:nvPr/>
        </p:nvCxnSpPr>
        <p:spPr>
          <a:xfrm>
            <a:off x="7926450" y="4130777"/>
            <a:ext cx="0" cy="0"/>
          </a:xfrm>
          <a:prstGeom prst="straightConnector1">
            <a:avLst/>
          </a:prstGeom>
          <a:noFill/>
          <a:ln w="19050" cap="flat" cmpd="sng">
            <a:solidFill>
              <a:schemeClr val="dk2"/>
            </a:solidFill>
            <a:prstDash val="solid"/>
            <a:round/>
            <a:headEnd type="none" w="med" len="med"/>
            <a:tailEnd type="none" w="med" len="med"/>
          </a:ln>
        </p:spPr>
      </p:cxnSp>
      <p:cxnSp>
        <p:nvCxnSpPr>
          <p:cNvPr id="1249" name="Google Shape;1249;p54"/>
          <p:cNvCxnSpPr>
            <a:stCxn id="1238" idx="5"/>
            <a:endCxn id="1239" idx="0"/>
          </p:cNvCxnSpPr>
          <p:nvPr/>
        </p:nvCxnSpPr>
        <p:spPr>
          <a:xfrm>
            <a:off x="7403958" y="2043903"/>
            <a:ext cx="522600" cy="383400"/>
          </a:xfrm>
          <a:prstGeom prst="straightConnector1">
            <a:avLst/>
          </a:prstGeom>
          <a:noFill/>
          <a:ln w="28575" cap="flat" cmpd="sng">
            <a:solidFill>
              <a:schemeClr val="dk2"/>
            </a:solidFill>
            <a:prstDash val="solid"/>
            <a:round/>
            <a:headEnd type="none" w="med" len="med"/>
            <a:tailEnd type="none" w="med" len="med"/>
          </a:ln>
        </p:spPr>
      </p:cxnSp>
      <p:cxnSp>
        <p:nvCxnSpPr>
          <p:cNvPr id="1250" name="Google Shape;1250;p54"/>
          <p:cNvCxnSpPr>
            <a:stCxn id="1239" idx="4"/>
            <a:endCxn id="1240" idx="0"/>
          </p:cNvCxnSpPr>
          <p:nvPr/>
        </p:nvCxnSpPr>
        <p:spPr>
          <a:xfrm>
            <a:off x="7926450" y="2860221"/>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1251" name="Google Shape;1251;p54"/>
          <p:cNvCxnSpPr>
            <a:stCxn id="1240" idx="4"/>
            <a:endCxn id="1241" idx="0"/>
          </p:cNvCxnSpPr>
          <p:nvPr/>
        </p:nvCxnSpPr>
        <p:spPr>
          <a:xfrm>
            <a:off x="7926450" y="3495498"/>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1252" name="Google Shape;1252;p54"/>
          <p:cNvCxnSpPr>
            <a:stCxn id="1240" idx="3"/>
            <a:endCxn id="1242" idx="0"/>
          </p:cNvCxnSpPr>
          <p:nvPr/>
        </p:nvCxnSpPr>
        <p:spPr>
          <a:xfrm flipH="1">
            <a:off x="7296997" y="3432102"/>
            <a:ext cx="476400" cy="265800"/>
          </a:xfrm>
          <a:prstGeom prst="straightConnector1">
            <a:avLst/>
          </a:prstGeom>
          <a:noFill/>
          <a:ln w="28575" cap="flat" cmpd="sng">
            <a:solidFill>
              <a:schemeClr val="dk2"/>
            </a:solidFill>
            <a:prstDash val="solid"/>
            <a:round/>
            <a:headEnd type="none" w="med" len="med"/>
            <a:tailEnd type="none" w="med" len="med"/>
          </a:ln>
        </p:spPr>
      </p:cxnSp>
      <p:cxnSp>
        <p:nvCxnSpPr>
          <p:cNvPr id="1253" name="Google Shape;1253;p54"/>
          <p:cNvCxnSpPr>
            <a:stCxn id="1240" idx="5"/>
            <a:endCxn id="1243" idx="0"/>
          </p:cNvCxnSpPr>
          <p:nvPr/>
        </p:nvCxnSpPr>
        <p:spPr>
          <a:xfrm>
            <a:off x="8079503" y="3432102"/>
            <a:ext cx="476400" cy="265800"/>
          </a:xfrm>
          <a:prstGeom prst="straightConnector1">
            <a:avLst/>
          </a:prstGeom>
          <a:noFill/>
          <a:ln w="28575" cap="flat" cmpd="sng">
            <a:solidFill>
              <a:schemeClr val="dk2"/>
            </a:solidFill>
            <a:prstDash val="solid"/>
            <a:round/>
            <a:headEnd type="none" w="med" len="med"/>
            <a:tailEnd type="none" w="med" len="med"/>
          </a:ln>
        </p:spPr>
      </p:cxnSp>
      <p:cxnSp>
        <p:nvCxnSpPr>
          <p:cNvPr id="1254" name="Google Shape;1254;p54"/>
          <p:cNvCxnSpPr>
            <a:stCxn id="1241" idx="4"/>
            <a:endCxn id="1244" idx="0"/>
          </p:cNvCxnSpPr>
          <p:nvPr/>
        </p:nvCxnSpPr>
        <p:spPr>
          <a:xfrm>
            <a:off x="7926450" y="4130777"/>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1255" name="Google Shape;1255;p54"/>
          <p:cNvCxnSpPr>
            <a:stCxn id="1238" idx="3"/>
            <a:endCxn id="1245" idx="0"/>
          </p:cNvCxnSpPr>
          <p:nvPr/>
        </p:nvCxnSpPr>
        <p:spPr>
          <a:xfrm flipH="1">
            <a:off x="6600751" y="2043903"/>
            <a:ext cx="497100" cy="383400"/>
          </a:xfrm>
          <a:prstGeom prst="straightConnector1">
            <a:avLst/>
          </a:prstGeom>
          <a:noFill/>
          <a:ln w="28575" cap="flat" cmpd="sng">
            <a:solidFill>
              <a:schemeClr val="dk2"/>
            </a:solidFill>
            <a:prstDash val="solid"/>
            <a:round/>
            <a:headEnd type="none" w="med" len="med"/>
            <a:tailEnd type="none" w="med" len="med"/>
          </a:ln>
        </p:spPr>
      </p:cxnSp>
      <p:cxnSp>
        <p:nvCxnSpPr>
          <p:cNvPr id="1256" name="Google Shape;1256;p54"/>
          <p:cNvCxnSpPr>
            <a:endCxn id="1246" idx="0"/>
          </p:cNvCxnSpPr>
          <p:nvPr/>
        </p:nvCxnSpPr>
        <p:spPr>
          <a:xfrm>
            <a:off x="6600875" y="2860111"/>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1257" name="Google Shape;1257;p54"/>
          <p:cNvCxnSpPr>
            <a:endCxn id="1247" idx="0"/>
          </p:cNvCxnSpPr>
          <p:nvPr/>
        </p:nvCxnSpPr>
        <p:spPr>
          <a:xfrm>
            <a:off x="6600875" y="3495386"/>
            <a:ext cx="0" cy="202500"/>
          </a:xfrm>
          <a:prstGeom prst="straightConnector1">
            <a:avLst/>
          </a:prstGeom>
          <a:noFill/>
          <a:ln w="28575" cap="flat" cmpd="sng">
            <a:solidFill>
              <a:schemeClr val="dk2"/>
            </a:solidFill>
            <a:prstDash val="solid"/>
            <a:round/>
            <a:headEnd type="none" w="med" len="med"/>
            <a:tailEnd type="none" w="med" len="med"/>
          </a:ln>
        </p:spPr>
      </p:cxnSp>
      <p:sp>
        <p:nvSpPr>
          <p:cNvPr id="1258" name="Google Shape;1258;p54"/>
          <p:cNvSpPr/>
          <p:nvPr/>
        </p:nvSpPr>
        <p:spPr>
          <a:xfrm>
            <a:off x="6384425" y="4333161"/>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cxnSp>
        <p:nvCxnSpPr>
          <p:cNvPr id="1259" name="Google Shape;1259;p54"/>
          <p:cNvCxnSpPr>
            <a:stCxn id="1247" idx="4"/>
            <a:endCxn id="1258" idx="0"/>
          </p:cNvCxnSpPr>
          <p:nvPr/>
        </p:nvCxnSpPr>
        <p:spPr>
          <a:xfrm>
            <a:off x="6600875" y="4130786"/>
            <a:ext cx="0" cy="202500"/>
          </a:xfrm>
          <a:prstGeom prst="straightConnector1">
            <a:avLst/>
          </a:prstGeom>
          <a:noFill/>
          <a:ln w="28575" cap="flat" cmpd="sng">
            <a:solidFill>
              <a:schemeClr val="dk2"/>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37">
                                            <p:txEl>
                                              <p:pRg st="0" end="0"/>
                                            </p:txEl>
                                          </p:spTgt>
                                        </p:tgtEl>
                                        <p:attrNameLst>
                                          <p:attrName>style.visibility</p:attrName>
                                        </p:attrNameLst>
                                      </p:cBhvr>
                                      <p:to>
                                        <p:strVal val="visible"/>
                                      </p:to>
                                    </p:set>
                                    <p:animEffect transition="in" filter="fade">
                                      <p:cBhvr>
                                        <p:cTn id="7" dur="1"/>
                                        <p:tgtEl>
                                          <p:spTgt spid="123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37">
                                            <p:txEl>
                                              <p:pRg st="1" end="1"/>
                                            </p:txEl>
                                          </p:spTgt>
                                        </p:tgtEl>
                                        <p:attrNameLst>
                                          <p:attrName>style.visibility</p:attrName>
                                        </p:attrNameLst>
                                      </p:cBhvr>
                                      <p:to>
                                        <p:strVal val="visible"/>
                                      </p:to>
                                    </p:set>
                                    <p:animEffect transition="in" filter="fade">
                                      <p:cBhvr>
                                        <p:cTn id="12" dur="1"/>
                                        <p:tgtEl>
                                          <p:spTgt spid="123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37">
                                            <p:txEl>
                                              <p:pRg st="2" end="2"/>
                                            </p:txEl>
                                          </p:spTgt>
                                        </p:tgtEl>
                                        <p:attrNameLst>
                                          <p:attrName>style.visibility</p:attrName>
                                        </p:attrNameLst>
                                      </p:cBhvr>
                                      <p:to>
                                        <p:strVal val="visible"/>
                                      </p:to>
                                    </p:set>
                                    <p:animEffect transition="in" filter="fade">
                                      <p:cBhvr>
                                        <p:cTn id="17" dur="1"/>
                                        <p:tgtEl>
                                          <p:spTgt spid="123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37">
                                            <p:txEl>
                                              <p:pRg st="3" end="3"/>
                                            </p:txEl>
                                          </p:spTgt>
                                        </p:tgtEl>
                                        <p:attrNameLst>
                                          <p:attrName>style.visibility</p:attrName>
                                        </p:attrNameLst>
                                      </p:cBhvr>
                                      <p:to>
                                        <p:strVal val="visible"/>
                                      </p:to>
                                    </p:set>
                                    <p:animEffect transition="in" filter="fade">
                                      <p:cBhvr>
                                        <p:cTn id="22" dur="1"/>
                                        <p:tgtEl>
                                          <p:spTgt spid="123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37">
                                            <p:txEl>
                                              <p:pRg st="4" end="4"/>
                                            </p:txEl>
                                          </p:spTgt>
                                        </p:tgtEl>
                                        <p:attrNameLst>
                                          <p:attrName>style.visibility</p:attrName>
                                        </p:attrNameLst>
                                      </p:cBhvr>
                                      <p:to>
                                        <p:strVal val="visible"/>
                                      </p:to>
                                    </p:set>
                                    <p:animEffect transition="in" filter="fade">
                                      <p:cBhvr>
                                        <p:cTn id="27" dur="1"/>
                                        <p:tgtEl>
                                          <p:spTgt spid="123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237">
                                            <p:txEl>
                                              <p:pRg st="5" end="5"/>
                                            </p:txEl>
                                          </p:spTgt>
                                        </p:tgtEl>
                                        <p:attrNameLst>
                                          <p:attrName>style.visibility</p:attrName>
                                        </p:attrNameLst>
                                      </p:cBhvr>
                                      <p:to>
                                        <p:strVal val="visible"/>
                                      </p:to>
                                    </p:set>
                                    <p:animEffect transition="in" filter="fade">
                                      <p:cBhvr>
                                        <p:cTn id="32" dur="1"/>
                                        <p:tgtEl>
                                          <p:spTgt spid="123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37">
                                            <p:txEl>
                                              <p:pRg st="6" end="6"/>
                                            </p:txEl>
                                          </p:spTgt>
                                        </p:tgtEl>
                                        <p:attrNameLst>
                                          <p:attrName>style.visibility</p:attrName>
                                        </p:attrNameLst>
                                      </p:cBhvr>
                                      <p:to>
                                        <p:strVal val="visible"/>
                                      </p:to>
                                    </p:set>
                                    <p:animEffect transition="in" filter="fade">
                                      <p:cBhvr>
                                        <p:cTn id="37" dur="1"/>
                                        <p:tgtEl>
                                          <p:spTgt spid="123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237">
                                            <p:txEl>
                                              <p:pRg st="7" end="7"/>
                                            </p:txEl>
                                          </p:spTgt>
                                        </p:tgtEl>
                                        <p:attrNameLst>
                                          <p:attrName>style.visibility</p:attrName>
                                        </p:attrNameLst>
                                      </p:cBhvr>
                                      <p:to>
                                        <p:strVal val="visible"/>
                                      </p:to>
                                    </p:set>
                                    <p:animEffect transition="in" filter="fade">
                                      <p:cBhvr>
                                        <p:cTn id="42" dur="1"/>
                                        <p:tgtEl>
                                          <p:spTgt spid="123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237">
                                            <p:txEl>
                                              <p:pRg st="8" end="8"/>
                                            </p:txEl>
                                          </p:spTgt>
                                        </p:tgtEl>
                                        <p:attrNameLst>
                                          <p:attrName>style.visibility</p:attrName>
                                        </p:attrNameLst>
                                      </p:cBhvr>
                                      <p:to>
                                        <p:strVal val="visible"/>
                                      </p:to>
                                    </p:set>
                                    <p:animEffect transition="in" filter="fade">
                                      <p:cBhvr>
                                        <p:cTn id="47" dur="1"/>
                                        <p:tgtEl>
                                          <p:spTgt spid="1237">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237">
                                            <p:txEl>
                                              <p:pRg st="9" end="9"/>
                                            </p:txEl>
                                          </p:spTgt>
                                        </p:tgtEl>
                                        <p:attrNameLst>
                                          <p:attrName>style.visibility</p:attrName>
                                        </p:attrNameLst>
                                      </p:cBhvr>
                                      <p:to>
                                        <p:strVal val="visible"/>
                                      </p:to>
                                    </p:set>
                                    <p:animEffect transition="in" filter="fade">
                                      <p:cBhvr>
                                        <p:cTn id="52" dur="1"/>
                                        <p:tgtEl>
                                          <p:spTgt spid="1237">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237">
                                            <p:txEl>
                                              <p:pRg st="10" end="10"/>
                                            </p:txEl>
                                          </p:spTgt>
                                        </p:tgtEl>
                                        <p:attrNameLst>
                                          <p:attrName>style.visibility</p:attrName>
                                        </p:attrNameLst>
                                      </p:cBhvr>
                                      <p:to>
                                        <p:strVal val="visible"/>
                                      </p:to>
                                    </p:set>
                                    <p:animEffect transition="in" filter="fade">
                                      <p:cBhvr>
                                        <p:cTn id="57" dur="1"/>
                                        <p:tgtEl>
                                          <p:spTgt spid="1237">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237">
                                            <p:txEl>
                                              <p:pRg st="11" end="11"/>
                                            </p:txEl>
                                          </p:spTgt>
                                        </p:tgtEl>
                                        <p:attrNameLst>
                                          <p:attrName>style.visibility</p:attrName>
                                        </p:attrNameLst>
                                      </p:cBhvr>
                                      <p:to>
                                        <p:strVal val="visible"/>
                                      </p:to>
                                    </p:set>
                                    <p:animEffect transition="in" filter="fade">
                                      <p:cBhvr>
                                        <p:cTn id="62" dur="1"/>
                                        <p:tgtEl>
                                          <p:spTgt spid="123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263"/>
        <p:cNvGrpSpPr/>
        <p:nvPr/>
      </p:nvGrpSpPr>
      <p:grpSpPr>
        <a:xfrm>
          <a:off x="0" y="0"/>
          <a:ext cx="0" cy="0"/>
          <a:chOff x="0" y="0"/>
          <a:chExt cx="0" cy="0"/>
        </a:xfrm>
      </p:grpSpPr>
      <p:sp>
        <p:nvSpPr>
          <p:cNvPr id="1264" name="Google Shape;1264;p55"/>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Trie Performance in Terms of N</a:t>
            </a:r>
            <a:endParaRPr/>
          </a:p>
        </p:txBody>
      </p:sp>
      <p:sp>
        <p:nvSpPr>
          <p:cNvPr id="1265" name="Google Shape;1265;p55"/>
          <p:cNvSpPr txBox="1">
            <a:spLocks noGrp="1"/>
          </p:cNvSpPr>
          <p:nvPr>
            <p:ph type="body" idx="1"/>
          </p:nvPr>
        </p:nvSpPr>
        <p:spPr>
          <a:xfrm>
            <a:off x="90600" y="404100"/>
            <a:ext cx="41736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When our keys are strings, Tries give us slightly better performance on contains and add.</a:t>
            </a:r>
            <a:endParaRPr/>
          </a:p>
          <a:p>
            <a:pPr marL="457200" lvl="0" indent="-342900" algn="l" rtl="0">
              <a:spcBef>
                <a:spcPts val="600"/>
              </a:spcBef>
              <a:spcAft>
                <a:spcPts val="0"/>
              </a:spcAft>
              <a:buSzPts val="1800"/>
              <a:buChar char="●"/>
            </a:pPr>
            <a:r>
              <a:rPr lang="en"/>
              <a:t>Using BST or Hash Table will be slightly slower, but more memory efficient.</a:t>
            </a:r>
            <a:endParaRPr/>
          </a:p>
          <a:p>
            <a:pPr marL="457200" lvl="0" indent="-342900" algn="l" rtl="0">
              <a:spcBef>
                <a:spcPts val="600"/>
              </a:spcBef>
              <a:spcAft>
                <a:spcPts val="0"/>
              </a:spcAft>
              <a:buSzPts val="1800"/>
              <a:buChar char="●"/>
            </a:pPr>
            <a:r>
              <a:rPr lang="en"/>
              <a:t>Would have to do computational experiments to see which is best for your application.</a:t>
            </a:r>
            <a:endParaRPr/>
          </a:p>
        </p:txBody>
      </p:sp>
      <p:sp>
        <p:nvSpPr>
          <p:cNvPr id="1266" name="Google Shape;1266;p55"/>
          <p:cNvSpPr txBox="1"/>
          <p:nvPr/>
        </p:nvSpPr>
        <p:spPr>
          <a:xfrm>
            <a:off x="340125" y="4112825"/>
            <a:ext cx="8574900" cy="568500"/>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None/>
            </a:pPr>
            <a:r>
              <a:rPr lang="en" sz="1800">
                <a:solidFill>
                  <a:schemeClr val="dk1"/>
                </a:solidFill>
                <a:latin typeface="Roboto"/>
                <a:ea typeface="Roboto"/>
                <a:cs typeface="Roboto"/>
                <a:sym typeface="Roboto"/>
              </a:rPr>
              <a:t>… but where Tries really shine is their efficiency with special string operations!</a:t>
            </a:r>
            <a:endParaRPr sz="1800">
              <a:solidFill>
                <a:schemeClr val="dk1"/>
              </a:solidFill>
              <a:latin typeface="Roboto"/>
              <a:ea typeface="Roboto"/>
              <a:cs typeface="Roboto"/>
              <a:sym typeface="Roboto"/>
            </a:endParaRPr>
          </a:p>
        </p:txBody>
      </p:sp>
      <p:sp>
        <p:nvSpPr>
          <p:cNvPr id="1267" name="Google Shape;1267;p55"/>
          <p:cNvSpPr txBox="1"/>
          <p:nvPr/>
        </p:nvSpPr>
        <p:spPr>
          <a:xfrm>
            <a:off x="4406525" y="496925"/>
            <a:ext cx="4351800" cy="43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Runtimes treating length of keys as a constant</a:t>
            </a:r>
            <a:endParaRPr>
              <a:latin typeface="Roboto"/>
              <a:ea typeface="Roboto"/>
              <a:cs typeface="Roboto"/>
              <a:sym typeface="Roboto"/>
            </a:endParaRPr>
          </a:p>
        </p:txBody>
      </p:sp>
      <p:graphicFrame>
        <p:nvGraphicFramePr>
          <p:cNvPr id="1268" name="Google Shape;1268;p55"/>
          <p:cNvGraphicFramePr/>
          <p:nvPr/>
        </p:nvGraphicFramePr>
        <p:xfrm>
          <a:off x="4406525" y="917150"/>
          <a:ext cx="3000000" cy="3000000"/>
        </p:xfrm>
        <a:graphic>
          <a:graphicData uri="http://schemas.openxmlformats.org/drawingml/2006/table">
            <a:tbl>
              <a:tblPr>
                <a:noFill/>
                <a:tableStyleId>{BC467F25-A352-40E9-8C40-E7B4C2D9D289}</a:tableStyleId>
              </a:tblPr>
              <a:tblGrid>
                <a:gridCol w="1598500">
                  <a:extLst>
                    <a:ext uri="{9D8B030D-6E8A-4147-A177-3AD203B41FA5}">
                      <a16:colId xmlns:a16="http://schemas.microsoft.com/office/drawing/2014/main" val="20000"/>
                    </a:ext>
                  </a:extLst>
                </a:gridCol>
                <a:gridCol w="1017950">
                  <a:extLst>
                    <a:ext uri="{9D8B030D-6E8A-4147-A177-3AD203B41FA5}">
                      <a16:colId xmlns:a16="http://schemas.microsoft.com/office/drawing/2014/main" val="20001"/>
                    </a:ext>
                  </a:extLst>
                </a:gridCol>
                <a:gridCol w="1075525">
                  <a:extLst>
                    <a:ext uri="{9D8B030D-6E8A-4147-A177-3AD203B41FA5}">
                      <a16:colId xmlns:a16="http://schemas.microsoft.com/office/drawing/2014/main" val="20002"/>
                    </a:ext>
                  </a:extLst>
                </a:gridCol>
                <a:gridCol w="971775">
                  <a:extLst>
                    <a:ext uri="{9D8B030D-6E8A-4147-A177-3AD203B41FA5}">
                      <a16:colId xmlns:a16="http://schemas.microsoft.com/office/drawing/2014/main" val="20003"/>
                    </a:ext>
                  </a:extLst>
                </a:gridCol>
              </a:tblGrid>
              <a:tr h="396200">
                <a:tc>
                  <a:txBody>
                    <a:bodyPr/>
                    <a:lstStyle/>
                    <a:p>
                      <a:pPr marL="0" lvl="0" indent="0" algn="l" rtl="0">
                        <a:spcBef>
                          <a:spcPts val="0"/>
                        </a:spcBef>
                        <a:spcAft>
                          <a:spcPts val="0"/>
                        </a:spcAft>
                        <a:buNone/>
                      </a:pPr>
                      <a:endParaRPr sz="1200">
                        <a:latin typeface="Roboto"/>
                        <a:ea typeface="Roboto"/>
                        <a:cs typeface="Roboto"/>
                        <a:sym typeface="Roboto"/>
                      </a:endParaRPr>
                    </a:p>
                  </a:txBody>
                  <a:tcPr marL="91425" marR="91425" marT="91425" marB="91425">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latin typeface="Roboto"/>
                          <a:ea typeface="Roboto"/>
                          <a:cs typeface="Roboto"/>
                          <a:sym typeface="Roboto"/>
                        </a:rPr>
                        <a:t>key type</a:t>
                      </a:r>
                      <a:endParaRPr sz="1200">
                        <a:latin typeface="Roboto"/>
                        <a:ea typeface="Roboto"/>
                        <a:cs typeface="Roboto"/>
                        <a:sym typeface="Roboto"/>
                      </a:endParaRPr>
                    </a:p>
                  </a:txBody>
                  <a:tcPr marL="91425" marR="91425" marT="91425" marB="91425">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latin typeface="Roboto"/>
                          <a:ea typeface="Roboto"/>
                          <a:cs typeface="Roboto"/>
                          <a:sym typeface="Roboto"/>
                        </a:rPr>
                        <a:t>get(x)</a:t>
                      </a:r>
                      <a:endParaRPr sz="1200">
                        <a:latin typeface="Roboto"/>
                        <a:ea typeface="Roboto"/>
                        <a:cs typeface="Roboto"/>
                        <a:sym typeface="Roboto"/>
                      </a:endParaRPr>
                    </a:p>
                  </a:txBody>
                  <a:tcPr marL="91425" marR="91425" marT="91425" marB="91425">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latin typeface="Roboto"/>
                          <a:ea typeface="Roboto"/>
                          <a:cs typeface="Roboto"/>
                          <a:sym typeface="Roboto"/>
                        </a:rPr>
                        <a:t>add(x)</a:t>
                      </a:r>
                      <a:endParaRPr sz="1200">
                        <a:latin typeface="Roboto"/>
                        <a:ea typeface="Roboto"/>
                        <a:cs typeface="Roboto"/>
                        <a:sym typeface="Roboto"/>
                      </a:endParaRPr>
                    </a:p>
                  </a:txBody>
                  <a:tcPr marL="91425" marR="91425" marT="91425" marB="91425">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1200">
                          <a:latin typeface="Roboto"/>
                          <a:ea typeface="Roboto"/>
                          <a:cs typeface="Roboto"/>
                          <a:sym typeface="Roboto"/>
                        </a:rPr>
                        <a:t>Balanced BST</a:t>
                      </a:r>
                      <a:endParaRPr sz="1200">
                        <a:latin typeface="Roboto"/>
                        <a:ea typeface="Roboto"/>
                        <a:cs typeface="Roboto"/>
                        <a:sym typeface="Roboto"/>
                      </a:endParaRPr>
                    </a:p>
                  </a:txBody>
                  <a:tcPr marL="91425" marR="91425" marT="91425" marB="91425">
                    <a:lnT w="9525" cap="flat" cmpd="sng">
                      <a:solidFill>
                        <a:srgbClr val="000000"/>
                      </a:solidFill>
                      <a:prstDash val="solid"/>
                      <a:round/>
                      <a:headEnd type="none" w="sm" len="sm"/>
                      <a:tailEnd type="none" w="sm" len="sm"/>
                    </a:lnT>
                    <a:solidFill>
                      <a:srgbClr val="FFFFFF"/>
                    </a:solidFill>
                  </a:tcPr>
                </a:tc>
                <a:tc>
                  <a:txBody>
                    <a:bodyPr/>
                    <a:lstStyle/>
                    <a:p>
                      <a:pPr marL="0" lvl="0" indent="0" algn="ctr" rtl="0">
                        <a:spcBef>
                          <a:spcPts val="0"/>
                        </a:spcBef>
                        <a:spcAft>
                          <a:spcPts val="0"/>
                        </a:spcAft>
                        <a:buNone/>
                      </a:pPr>
                      <a:r>
                        <a:rPr lang="en" sz="1200">
                          <a:latin typeface="Roboto"/>
                          <a:ea typeface="Roboto"/>
                          <a:cs typeface="Roboto"/>
                          <a:sym typeface="Roboto"/>
                        </a:rPr>
                        <a:t>comparable</a:t>
                      </a:r>
                      <a:endParaRPr sz="1200">
                        <a:solidFill>
                          <a:srgbClr val="000000"/>
                        </a:solidFill>
                        <a:latin typeface="Roboto"/>
                        <a:ea typeface="Roboto"/>
                        <a:cs typeface="Roboto"/>
                        <a:sym typeface="Roboto"/>
                      </a:endParaRPr>
                    </a:p>
                  </a:txBody>
                  <a:tcPr marL="91425" marR="91425" marT="91425" marB="91425">
                    <a:lnT w="9525" cap="flat" cmpd="sng">
                      <a:solidFill>
                        <a:srgbClr val="000000"/>
                      </a:solidFill>
                      <a:prstDash val="solid"/>
                      <a:round/>
                      <a:headEnd type="none" w="sm" len="sm"/>
                      <a:tailEnd type="none" w="sm" len="sm"/>
                    </a:lnT>
                    <a:solidFill>
                      <a:srgbClr val="FFFFFF"/>
                    </a:solidFill>
                  </a:tcPr>
                </a:tc>
                <a:tc>
                  <a:txBody>
                    <a:bodyPr/>
                    <a:lstStyle/>
                    <a:p>
                      <a:pPr marL="0" lvl="0" indent="0" algn="ctr" rtl="0">
                        <a:spcBef>
                          <a:spcPts val="0"/>
                        </a:spcBef>
                        <a:spcAft>
                          <a:spcPts val="0"/>
                        </a:spcAft>
                        <a:buNone/>
                      </a:pPr>
                      <a:r>
                        <a:rPr lang="en" sz="1200">
                          <a:solidFill>
                            <a:srgbClr val="000000"/>
                          </a:solidFill>
                          <a:latin typeface="Roboto"/>
                          <a:ea typeface="Roboto"/>
                          <a:cs typeface="Roboto"/>
                          <a:sym typeface="Roboto"/>
                        </a:rPr>
                        <a:t>Θ(log N)</a:t>
                      </a:r>
                      <a:endParaRPr sz="1200">
                        <a:latin typeface="Roboto"/>
                        <a:ea typeface="Roboto"/>
                        <a:cs typeface="Roboto"/>
                        <a:sym typeface="Roboto"/>
                      </a:endParaRPr>
                    </a:p>
                  </a:txBody>
                  <a:tcPr marL="91425" marR="91425" marT="91425" marB="91425">
                    <a:lnT w="9525" cap="flat" cmpd="sng">
                      <a:solidFill>
                        <a:srgbClr val="000000"/>
                      </a:solidFill>
                      <a:prstDash val="solid"/>
                      <a:round/>
                      <a:headEnd type="none" w="sm" len="sm"/>
                      <a:tailEnd type="none" w="sm" len="sm"/>
                    </a:lnT>
                    <a:solidFill>
                      <a:srgbClr val="FFFFFF"/>
                    </a:solidFill>
                  </a:tcPr>
                </a:tc>
                <a:tc>
                  <a:txBody>
                    <a:bodyPr/>
                    <a:lstStyle/>
                    <a:p>
                      <a:pPr marL="0" lvl="0" indent="0" algn="ctr" rtl="0">
                        <a:spcBef>
                          <a:spcPts val="0"/>
                        </a:spcBef>
                        <a:spcAft>
                          <a:spcPts val="0"/>
                        </a:spcAft>
                        <a:buNone/>
                      </a:pPr>
                      <a:r>
                        <a:rPr lang="en" sz="1200">
                          <a:solidFill>
                            <a:srgbClr val="000000"/>
                          </a:solidFill>
                          <a:latin typeface="Roboto"/>
                          <a:ea typeface="Roboto"/>
                          <a:cs typeface="Roboto"/>
                          <a:sym typeface="Roboto"/>
                        </a:rPr>
                        <a:t>Θ(log N)</a:t>
                      </a:r>
                      <a:endParaRPr sz="1200">
                        <a:latin typeface="Roboto"/>
                        <a:ea typeface="Roboto"/>
                        <a:cs typeface="Roboto"/>
                        <a:sym typeface="Roboto"/>
                      </a:endParaRPr>
                    </a:p>
                  </a:txBody>
                  <a:tcPr marL="91425" marR="91425" marT="91425" marB="91425">
                    <a:lnT w="9525" cap="flat" cmpd="sng">
                      <a:solidFill>
                        <a:srgbClr val="000000"/>
                      </a:solidFill>
                      <a:prstDash val="solid"/>
                      <a:round/>
                      <a:headEnd type="none" w="sm" len="sm"/>
                      <a:tailEnd type="none" w="sm" len="sm"/>
                    </a:lnT>
                    <a:solidFill>
                      <a:srgbClr val="FFFFFF"/>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sz="1200">
                          <a:latin typeface="Roboto"/>
                          <a:ea typeface="Roboto"/>
                          <a:cs typeface="Roboto"/>
                          <a:sym typeface="Roboto"/>
                        </a:rPr>
                        <a:t>Resizing Separate Chaining Hash Table</a:t>
                      </a:r>
                      <a:endParaRPr sz="1200">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None/>
                      </a:pPr>
                      <a:r>
                        <a:rPr lang="en" sz="1200">
                          <a:latin typeface="Roboto"/>
                          <a:ea typeface="Roboto"/>
                          <a:cs typeface="Roboto"/>
                          <a:sym typeface="Roboto"/>
                        </a:rPr>
                        <a:t>hashable</a:t>
                      </a:r>
                      <a:endParaRPr sz="1200">
                        <a:solidFill>
                          <a:srgbClr val="000000"/>
                        </a:solidFill>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None/>
                      </a:pPr>
                      <a:r>
                        <a:rPr lang="en" sz="1200">
                          <a:solidFill>
                            <a:schemeClr val="dk1"/>
                          </a:solidFill>
                          <a:latin typeface="Roboto"/>
                          <a:ea typeface="Roboto"/>
                          <a:cs typeface="Roboto"/>
                          <a:sym typeface="Roboto"/>
                        </a:rPr>
                        <a:t>Θ(1)</a:t>
                      </a:r>
                      <a:endParaRPr sz="1200">
                        <a:solidFill>
                          <a:schemeClr val="dk1"/>
                        </a:solidFill>
                        <a:latin typeface="Roboto"/>
                        <a:ea typeface="Roboto"/>
                        <a:cs typeface="Roboto"/>
                        <a:sym typeface="Roboto"/>
                      </a:endParaRPr>
                    </a:p>
                    <a:p>
                      <a:pPr marL="0" lvl="0" indent="0" algn="ctr" rtl="0">
                        <a:spcBef>
                          <a:spcPts val="0"/>
                        </a:spcBef>
                        <a:spcAft>
                          <a:spcPts val="0"/>
                        </a:spcAft>
                        <a:buNone/>
                      </a:pPr>
                      <a:r>
                        <a:rPr lang="en" sz="600">
                          <a:solidFill>
                            <a:schemeClr val="dk1"/>
                          </a:solidFill>
                          <a:latin typeface="Roboto"/>
                          <a:ea typeface="Roboto"/>
                          <a:cs typeface="Roboto"/>
                          <a:sym typeface="Roboto"/>
                        </a:rPr>
                        <a:t>assuming even spread</a:t>
                      </a:r>
                      <a:endParaRPr sz="1000">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None/>
                      </a:pPr>
                      <a:r>
                        <a:rPr lang="en" sz="1200">
                          <a:solidFill>
                            <a:schemeClr val="dk1"/>
                          </a:solidFill>
                          <a:latin typeface="Roboto"/>
                          <a:ea typeface="Roboto"/>
                          <a:cs typeface="Roboto"/>
                          <a:sym typeface="Roboto"/>
                        </a:rPr>
                        <a:t>Θ(1)</a:t>
                      </a:r>
                      <a:endParaRPr sz="1200">
                        <a:solidFill>
                          <a:schemeClr val="dk1"/>
                        </a:solidFill>
                        <a:latin typeface="Roboto"/>
                        <a:ea typeface="Roboto"/>
                        <a:cs typeface="Roboto"/>
                        <a:sym typeface="Roboto"/>
                      </a:endParaRPr>
                    </a:p>
                    <a:p>
                      <a:pPr marL="0" lvl="0" indent="0" algn="ctr" rtl="0">
                        <a:spcBef>
                          <a:spcPts val="0"/>
                        </a:spcBef>
                        <a:spcAft>
                          <a:spcPts val="0"/>
                        </a:spcAft>
                        <a:buNone/>
                      </a:pPr>
                      <a:r>
                        <a:rPr lang="en" sz="600">
                          <a:solidFill>
                            <a:schemeClr val="dk1"/>
                          </a:solidFill>
                          <a:latin typeface="Roboto"/>
                          <a:ea typeface="Roboto"/>
                          <a:cs typeface="Roboto"/>
                          <a:sym typeface="Roboto"/>
                        </a:rPr>
                        <a:t>on average,</a:t>
                      </a:r>
                      <a:endParaRPr sz="600">
                        <a:solidFill>
                          <a:schemeClr val="dk1"/>
                        </a:solidFill>
                        <a:latin typeface="Roboto"/>
                        <a:ea typeface="Roboto"/>
                        <a:cs typeface="Roboto"/>
                        <a:sym typeface="Roboto"/>
                      </a:endParaRPr>
                    </a:p>
                    <a:p>
                      <a:pPr marL="0" lvl="0" indent="0" algn="ctr" rtl="0">
                        <a:spcBef>
                          <a:spcPts val="0"/>
                        </a:spcBef>
                        <a:spcAft>
                          <a:spcPts val="0"/>
                        </a:spcAft>
                        <a:buNone/>
                      </a:pPr>
                      <a:r>
                        <a:rPr lang="en" sz="600">
                          <a:solidFill>
                            <a:schemeClr val="dk1"/>
                          </a:solidFill>
                          <a:latin typeface="Roboto"/>
                          <a:ea typeface="Roboto"/>
                          <a:cs typeface="Roboto"/>
                          <a:sym typeface="Roboto"/>
                        </a:rPr>
                        <a:t>assuming even spread</a:t>
                      </a:r>
                      <a:endParaRPr sz="600">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1200">
                          <a:latin typeface="Roboto"/>
                          <a:ea typeface="Roboto"/>
                          <a:cs typeface="Roboto"/>
                          <a:sym typeface="Roboto"/>
                        </a:rPr>
                        <a:t>data indexed array</a:t>
                      </a:r>
                      <a:endParaRPr sz="1200">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None/>
                      </a:pPr>
                      <a:r>
                        <a:rPr lang="en" sz="1200">
                          <a:latin typeface="Roboto"/>
                          <a:ea typeface="Roboto"/>
                          <a:cs typeface="Roboto"/>
                          <a:sym typeface="Roboto"/>
                        </a:rPr>
                        <a:t>chars</a:t>
                      </a:r>
                      <a:endParaRPr sz="1200">
                        <a:solidFill>
                          <a:srgbClr val="000000"/>
                        </a:solidFill>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None/>
                      </a:pPr>
                      <a:r>
                        <a:rPr lang="en" sz="1200">
                          <a:solidFill>
                            <a:schemeClr val="dk1"/>
                          </a:solidFill>
                          <a:latin typeface="Roboto"/>
                          <a:ea typeface="Roboto"/>
                          <a:cs typeface="Roboto"/>
                          <a:sym typeface="Roboto"/>
                        </a:rPr>
                        <a:t>Θ(1)</a:t>
                      </a:r>
                      <a:endParaRPr sz="1200">
                        <a:solidFill>
                          <a:schemeClr val="dk1"/>
                        </a:solidFill>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None/>
                      </a:pPr>
                      <a:r>
                        <a:rPr lang="en" sz="1200">
                          <a:solidFill>
                            <a:schemeClr val="dk1"/>
                          </a:solidFill>
                          <a:latin typeface="Roboto"/>
                          <a:ea typeface="Roboto"/>
                          <a:cs typeface="Roboto"/>
                          <a:sym typeface="Roboto"/>
                        </a:rPr>
                        <a:t>Θ(1)</a:t>
                      </a:r>
                      <a:endParaRPr sz="1200">
                        <a:solidFill>
                          <a:schemeClr val="dk1"/>
                        </a:solidFill>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sz="1200">
                          <a:latin typeface="Roboto"/>
                          <a:ea typeface="Roboto"/>
                          <a:cs typeface="Roboto"/>
                          <a:sym typeface="Roboto"/>
                        </a:rPr>
                        <a:t>Tries (BST, Hash Table, Data Indexed Char Map)</a:t>
                      </a:r>
                      <a:endParaRPr sz="1200">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None/>
                      </a:pPr>
                      <a:r>
                        <a:rPr lang="en" sz="1200">
                          <a:latin typeface="Roboto"/>
                          <a:ea typeface="Roboto"/>
                          <a:cs typeface="Roboto"/>
                          <a:sym typeface="Roboto"/>
                        </a:rPr>
                        <a:t>Strings</a:t>
                      </a:r>
                      <a:endParaRPr sz="1200">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None/>
                      </a:pPr>
                      <a:r>
                        <a:rPr lang="en" sz="1200">
                          <a:solidFill>
                            <a:schemeClr val="dk1"/>
                          </a:solidFill>
                          <a:latin typeface="Roboto"/>
                          <a:ea typeface="Roboto"/>
                          <a:cs typeface="Roboto"/>
                          <a:sym typeface="Roboto"/>
                        </a:rPr>
                        <a:t>Θ(1)</a:t>
                      </a:r>
                      <a:endParaRPr sz="1200">
                        <a:solidFill>
                          <a:schemeClr val="dk1"/>
                        </a:solidFill>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spcBef>
                          <a:spcPts val="0"/>
                        </a:spcBef>
                        <a:spcAft>
                          <a:spcPts val="0"/>
                        </a:spcAft>
                        <a:buNone/>
                      </a:pPr>
                      <a:r>
                        <a:rPr lang="en" sz="1200">
                          <a:solidFill>
                            <a:schemeClr val="dk1"/>
                          </a:solidFill>
                          <a:latin typeface="Roboto"/>
                          <a:ea typeface="Roboto"/>
                          <a:cs typeface="Roboto"/>
                          <a:sym typeface="Roboto"/>
                        </a:rPr>
                        <a:t>Θ(1)</a:t>
                      </a:r>
                      <a:endParaRPr sz="1200">
                        <a:solidFill>
                          <a:schemeClr val="dk1"/>
                        </a:solidFill>
                        <a:latin typeface="Roboto"/>
                        <a:ea typeface="Roboto"/>
                        <a:cs typeface="Roboto"/>
                        <a:sym typeface="Roboto"/>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272"/>
        <p:cNvGrpSpPr/>
        <p:nvPr/>
      </p:nvGrpSpPr>
      <p:grpSpPr>
        <a:xfrm>
          <a:off x="0" y="0"/>
          <a:ext cx="0" cy="0"/>
          <a:chOff x="0" y="0"/>
          <a:chExt cx="0" cy="0"/>
        </a:xfrm>
      </p:grpSpPr>
      <p:sp>
        <p:nvSpPr>
          <p:cNvPr id="1273" name="Google Shape;1273;p56"/>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Lecture 26, CS61B, Fall 2023</a:t>
            </a:r>
            <a:endParaRPr/>
          </a:p>
        </p:txBody>
      </p:sp>
      <p:sp>
        <p:nvSpPr>
          <p:cNvPr id="1274" name="Google Shape;1274;p56"/>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Tries (Conceptual)</a:t>
            </a:r>
            <a:endParaRPr/>
          </a:p>
          <a:p>
            <a:pPr marL="0" lvl="0" indent="0" algn="l" rtl="0">
              <a:spcBef>
                <a:spcPts val="600"/>
              </a:spcBef>
              <a:spcAft>
                <a:spcPts val="0"/>
              </a:spcAft>
              <a:buNone/>
            </a:pPr>
            <a:r>
              <a:rPr lang="en"/>
              <a:t>Trie Implementation and</a:t>
            </a:r>
            <a:br>
              <a:rPr lang="en"/>
            </a:br>
            <a:r>
              <a:rPr lang="en"/>
              <a:t>Performance</a:t>
            </a:r>
            <a:endParaRPr/>
          </a:p>
          <a:p>
            <a:pPr marL="0" lvl="0" indent="0" algn="l" rtl="0">
              <a:spcBef>
                <a:spcPts val="600"/>
              </a:spcBef>
              <a:spcAft>
                <a:spcPts val="0"/>
              </a:spcAft>
              <a:buNone/>
            </a:pPr>
            <a:r>
              <a:rPr lang="en"/>
              <a:t>Alternate Child Tracking Strategies</a:t>
            </a:r>
            <a:endParaRPr/>
          </a:p>
          <a:p>
            <a:pPr marL="0" lvl="0" indent="0" algn="l" rtl="0">
              <a:spcBef>
                <a:spcPts val="600"/>
              </a:spcBef>
              <a:spcAft>
                <a:spcPts val="0"/>
              </a:spcAft>
              <a:buNone/>
            </a:pPr>
            <a:r>
              <a:rPr lang="en" b="1">
                <a:solidFill>
                  <a:schemeClr val="accent3"/>
                </a:solidFill>
                <a:latin typeface="Roboto"/>
                <a:ea typeface="Roboto"/>
                <a:cs typeface="Roboto"/>
                <a:sym typeface="Roboto"/>
              </a:rPr>
              <a:t>Trie String Operations</a:t>
            </a:r>
            <a:endParaRPr/>
          </a:p>
          <a:p>
            <a:pPr marL="0" lvl="0" indent="0" algn="l" rtl="0">
              <a:spcBef>
                <a:spcPts val="600"/>
              </a:spcBef>
              <a:spcAft>
                <a:spcPts val="0"/>
              </a:spcAft>
              <a:buNone/>
            </a:pPr>
            <a:r>
              <a:rPr lang="en"/>
              <a:t>Autocomplete</a:t>
            </a:r>
            <a:endParaRPr/>
          </a:p>
          <a:p>
            <a:pPr marL="0" lvl="0" indent="0" algn="l" rtl="0">
              <a:spcBef>
                <a:spcPts val="600"/>
              </a:spcBef>
              <a:spcAft>
                <a:spcPts val="0"/>
              </a:spcAft>
              <a:buNone/>
            </a:pPr>
            <a:r>
              <a:rPr lang="en"/>
              <a:t>Trie Summary</a:t>
            </a:r>
            <a:endParaRPr/>
          </a:p>
        </p:txBody>
      </p:sp>
      <p:sp>
        <p:nvSpPr>
          <p:cNvPr id="1275" name="Google Shape;1275;p56"/>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Trie String Operations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279"/>
        <p:cNvGrpSpPr/>
        <p:nvPr/>
      </p:nvGrpSpPr>
      <p:grpSpPr>
        <a:xfrm>
          <a:off x="0" y="0"/>
          <a:ext cx="0" cy="0"/>
          <a:chOff x="0" y="0"/>
          <a:chExt cx="0" cy="0"/>
        </a:xfrm>
      </p:grpSpPr>
      <p:sp>
        <p:nvSpPr>
          <p:cNvPr id="1280" name="Google Shape;1280;p5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String Specific Operations</a:t>
            </a:r>
            <a:endParaRPr/>
          </a:p>
        </p:txBody>
      </p:sp>
      <p:sp>
        <p:nvSpPr>
          <p:cNvPr id="1281" name="Google Shape;1281;p57"/>
          <p:cNvSpPr txBox="1">
            <a:spLocks noGrp="1"/>
          </p:cNvSpPr>
          <p:nvPr>
            <p:ph type="body" idx="1"/>
          </p:nvPr>
        </p:nvSpPr>
        <p:spPr>
          <a:xfrm>
            <a:off x="319200" y="556500"/>
            <a:ext cx="8443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p:txBody>
      </p:sp>
      <p:sp>
        <p:nvSpPr>
          <p:cNvPr id="1282" name="Google Shape;1282;p57"/>
          <p:cNvSpPr txBox="1">
            <a:spLocks noGrp="1"/>
          </p:cNvSpPr>
          <p:nvPr>
            <p:ph type="body" idx="1"/>
          </p:nvPr>
        </p:nvSpPr>
        <p:spPr>
          <a:xfrm>
            <a:off x="166800" y="409755"/>
            <a:ext cx="8901000" cy="1422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Theoretical asymptotic speed improvement is nice. But the </a:t>
            </a:r>
            <a:r>
              <a:rPr lang="en" b="1" u="sng"/>
              <a:t>main appeal of tries</a:t>
            </a:r>
            <a:r>
              <a:rPr lang="en" b="1"/>
              <a:t> </a:t>
            </a:r>
            <a:r>
              <a:rPr lang="en"/>
              <a:t>is their ability to efficiently support string specific operations like </a:t>
            </a:r>
            <a:r>
              <a:rPr lang="en" b="1" u="sng"/>
              <a:t>prefix matching</a:t>
            </a:r>
            <a:r>
              <a:rPr lang="en"/>
              <a:t>.</a:t>
            </a:r>
            <a:endParaRPr/>
          </a:p>
          <a:p>
            <a:pPr marL="457200" lvl="0" indent="-342900" algn="l" rtl="0">
              <a:spcBef>
                <a:spcPts val="600"/>
              </a:spcBef>
              <a:spcAft>
                <a:spcPts val="0"/>
              </a:spcAft>
              <a:buSzPts val="1800"/>
              <a:buChar char="●"/>
            </a:pPr>
            <a:r>
              <a:rPr lang="en"/>
              <a:t>Finding all keys that match a given prefix: </a:t>
            </a:r>
            <a:r>
              <a:rPr lang="en">
                <a:latin typeface="Consolas"/>
                <a:ea typeface="Consolas"/>
                <a:cs typeface="Consolas"/>
                <a:sym typeface="Consolas"/>
              </a:rPr>
              <a:t>keysWithPrefix("sa")</a:t>
            </a:r>
            <a:endParaRPr>
              <a:latin typeface="Consolas"/>
              <a:ea typeface="Consolas"/>
              <a:cs typeface="Consolas"/>
              <a:sym typeface="Consolas"/>
            </a:endParaRPr>
          </a:p>
          <a:p>
            <a:pPr marL="457200" lvl="0" indent="-342900" algn="l" rtl="0">
              <a:spcBef>
                <a:spcPts val="0"/>
              </a:spcBef>
              <a:spcAft>
                <a:spcPts val="0"/>
              </a:spcAft>
              <a:buSzPts val="1800"/>
              <a:buChar char="●"/>
            </a:pPr>
            <a:r>
              <a:rPr lang="en"/>
              <a:t>Finding longest prefix of: </a:t>
            </a:r>
            <a:r>
              <a:rPr lang="en">
                <a:latin typeface="Consolas"/>
                <a:ea typeface="Consolas"/>
                <a:cs typeface="Consolas"/>
                <a:sym typeface="Consolas"/>
              </a:rPr>
              <a:t>longestPrefixOf("sample")</a:t>
            </a:r>
            <a:endParaRPr>
              <a:latin typeface="Consolas"/>
              <a:ea typeface="Consolas"/>
              <a:cs typeface="Consolas"/>
              <a:sym typeface="Consolas"/>
            </a:endParaRPr>
          </a:p>
          <a:p>
            <a:pPr marL="0" lvl="0" indent="0" algn="l" rtl="0">
              <a:spcBef>
                <a:spcPts val="600"/>
              </a:spcBef>
              <a:spcAft>
                <a:spcPts val="0"/>
              </a:spcAft>
              <a:buNone/>
            </a:pPr>
            <a:endParaRPr/>
          </a:p>
        </p:txBody>
      </p:sp>
      <p:sp>
        <p:nvSpPr>
          <p:cNvPr id="1283" name="Google Shape;1283;p57"/>
          <p:cNvSpPr/>
          <p:nvPr/>
        </p:nvSpPr>
        <p:spPr>
          <a:xfrm>
            <a:off x="7191630" y="18951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1284" name="Google Shape;1284;p57"/>
          <p:cNvSpPr/>
          <p:nvPr/>
        </p:nvSpPr>
        <p:spPr>
          <a:xfrm>
            <a:off x="7867175" y="264809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sp>
        <p:nvSpPr>
          <p:cNvPr id="1285" name="Google Shape;1285;p57"/>
          <p:cNvSpPr/>
          <p:nvPr/>
        </p:nvSpPr>
        <p:spPr>
          <a:xfrm>
            <a:off x="7867175" y="3283373"/>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286" name="Google Shape;1286;p57"/>
          <p:cNvSpPr/>
          <p:nvPr/>
        </p:nvSpPr>
        <p:spPr>
          <a:xfrm>
            <a:off x="7867175" y="39186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m</a:t>
            </a:r>
            <a:endParaRPr sz="1800">
              <a:latin typeface="Consolas"/>
              <a:ea typeface="Consolas"/>
              <a:cs typeface="Consolas"/>
              <a:sym typeface="Consolas"/>
            </a:endParaRPr>
          </a:p>
        </p:txBody>
      </p:sp>
      <p:sp>
        <p:nvSpPr>
          <p:cNvPr id="1287" name="Google Shape;1287;p57"/>
          <p:cNvSpPr/>
          <p:nvPr/>
        </p:nvSpPr>
        <p:spPr>
          <a:xfrm>
            <a:off x="7237675" y="39186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d</a:t>
            </a:r>
            <a:endParaRPr sz="1800">
              <a:latin typeface="Consolas"/>
              <a:ea typeface="Consolas"/>
              <a:cs typeface="Consolas"/>
              <a:sym typeface="Consolas"/>
            </a:endParaRPr>
          </a:p>
        </p:txBody>
      </p:sp>
      <p:sp>
        <p:nvSpPr>
          <p:cNvPr id="1288" name="Google Shape;1288;p57"/>
          <p:cNvSpPr/>
          <p:nvPr/>
        </p:nvSpPr>
        <p:spPr>
          <a:xfrm>
            <a:off x="8496675" y="39186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p</a:t>
            </a:r>
            <a:endParaRPr sz="1800">
              <a:latin typeface="Consolas"/>
              <a:ea typeface="Consolas"/>
              <a:cs typeface="Consolas"/>
              <a:sym typeface="Consolas"/>
            </a:endParaRPr>
          </a:p>
        </p:txBody>
      </p:sp>
      <p:sp>
        <p:nvSpPr>
          <p:cNvPr id="1289" name="Google Shape;1289;p57"/>
          <p:cNvSpPr/>
          <p:nvPr/>
        </p:nvSpPr>
        <p:spPr>
          <a:xfrm>
            <a:off x="7867175" y="4553927"/>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e</a:t>
            </a:r>
            <a:endParaRPr sz="1800">
              <a:latin typeface="Consolas"/>
              <a:ea typeface="Consolas"/>
              <a:cs typeface="Consolas"/>
              <a:sym typeface="Consolas"/>
            </a:endParaRPr>
          </a:p>
        </p:txBody>
      </p:sp>
      <p:sp>
        <p:nvSpPr>
          <p:cNvPr id="1290" name="Google Shape;1290;p57"/>
          <p:cNvSpPr/>
          <p:nvPr/>
        </p:nvSpPr>
        <p:spPr>
          <a:xfrm>
            <a:off x="6541600" y="2648111"/>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291" name="Google Shape;1291;p57"/>
          <p:cNvSpPr/>
          <p:nvPr/>
        </p:nvSpPr>
        <p:spPr>
          <a:xfrm>
            <a:off x="6541600" y="328338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w</a:t>
            </a:r>
            <a:endParaRPr sz="1800">
              <a:latin typeface="Consolas"/>
              <a:ea typeface="Consolas"/>
              <a:cs typeface="Consolas"/>
              <a:sym typeface="Consolas"/>
            </a:endParaRPr>
          </a:p>
        </p:txBody>
      </p:sp>
      <p:sp>
        <p:nvSpPr>
          <p:cNvPr id="1292" name="Google Shape;1292;p57"/>
          <p:cNvSpPr/>
          <p:nvPr/>
        </p:nvSpPr>
        <p:spPr>
          <a:xfrm>
            <a:off x="6541600" y="3918661"/>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l</a:t>
            </a:r>
            <a:endParaRPr sz="1800">
              <a:latin typeface="Consolas"/>
              <a:ea typeface="Consolas"/>
              <a:cs typeface="Consolas"/>
              <a:sym typeface="Consolas"/>
            </a:endParaRPr>
          </a:p>
        </p:txBody>
      </p:sp>
      <p:cxnSp>
        <p:nvCxnSpPr>
          <p:cNvPr id="1293" name="Google Shape;1293;p57"/>
          <p:cNvCxnSpPr/>
          <p:nvPr/>
        </p:nvCxnSpPr>
        <p:spPr>
          <a:xfrm>
            <a:off x="8083625" y="4351552"/>
            <a:ext cx="0" cy="0"/>
          </a:xfrm>
          <a:prstGeom prst="straightConnector1">
            <a:avLst/>
          </a:prstGeom>
          <a:noFill/>
          <a:ln w="19050" cap="flat" cmpd="sng">
            <a:solidFill>
              <a:schemeClr val="dk2"/>
            </a:solidFill>
            <a:prstDash val="solid"/>
            <a:round/>
            <a:headEnd type="none" w="med" len="med"/>
            <a:tailEnd type="none" w="med" len="med"/>
          </a:ln>
        </p:spPr>
      </p:cxnSp>
      <p:cxnSp>
        <p:nvCxnSpPr>
          <p:cNvPr id="1294" name="Google Shape;1294;p57"/>
          <p:cNvCxnSpPr>
            <a:stCxn id="1283" idx="5"/>
            <a:endCxn id="1284" idx="0"/>
          </p:cNvCxnSpPr>
          <p:nvPr/>
        </p:nvCxnSpPr>
        <p:spPr>
          <a:xfrm>
            <a:off x="7561133" y="2264678"/>
            <a:ext cx="522600" cy="383400"/>
          </a:xfrm>
          <a:prstGeom prst="straightConnector1">
            <a:avLst/>
          </a:prstGeom>
          <a:noFill/>
          <a:ln w="28575" cap="flat" cmpd="sng">
            <a:solidFill>
              <a:schemeClr val="dk2"/>
            </a:solidFill>
            <a:prstDash val="solid"/>
            <a:round/>
            <a:headEnd type="none" w="med" len="med"/>
            <a:tailEnd type="none" w="med" len="med"/>
          </a:ln>
        </p:spPr>
      </p:cxnSp>
      <p:cxnSp>
        <p:nvCxnSpPr>
          <p:cNvPr id="1295" name="Google Shape;1295;p57"/>
          <p:cNvCxnSpPr>
            <a:stCxn id="1284" idx="4"/>
            <a:endCxn id="1285" idx="0"/>
          </p:cNvCxnSpPr>
          <p:nvPr/>
        </p:nvCxnSpPr>
        <p:spPr>
          <a:xfrm>
            <a:off x="8083625" y="3080996"/>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1296" name="Google Shape;1296;p57"/>
          <p:cNvCxnSpPr>
            <a:stCxn id="1285" idx="4"/>
            <a:endCxn id="1286" idx="0"/>
          </p:cNvCxnSpPr>
          <p:nvPr/>
        </p:nvCxnSpPr>
        <p:spPr>
          <a:xfrm>
            <a:off x="8083625" y="3716273"/>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1297" name="Google Shape;1297;p57"/>
          <p:cNvCxnSpPr>
            <a:stCxn id="1285" idx="3"/>
            <a:endCxn id="1287" idx="0"/>
          </p:cNvCxnSpPr>
          <p:nvPr/>
        </p:nvCxnSpPr>
        <p:spPr>
          <a:xfrm flipH="1">
            <a:off x="7454172" y="3652877"/>
            <a:ext cx="476400" cy="265800"/>
          </a:xfrm>
          <a:prstGeom prst="straightConnector1">
            <a:avLst/>
          </a:prstGeom>
          <a:noFill/>
          <a:ln w="28575" cap="flat" cmpd="sng">
            <a:solidFill>
              <a:schemeClr val="dk2"/>
            </a:solidFill>
            <a:prstDash val="solid"/>
            <a:round/>
            <a:headEnd type="none" w="med" len="med"/>
            <a:tailEnd type="none" w="med" len="med"/>
          </a:ln>
        </p:spPr>
      </p:cxnSp>
      <p:cxnSp>
        <p:nvCxnSpPr>
          <p:cNvPr id="1298" name="Google Shape;1298;p57"/>
          <p:cNvCxnSpPr>
            <a:stCxn id="1285" idx="5"/>
            <a:endCxn id="1288" idx="0"/>
          </p:cNvCxnSpPr>
          <p:nvPr/>
        </p:nvCxnSpPr>
        <p:spPr>
          <a:xfrm>
            <a:off x="8236678" y="3652877"/>
            <a:ext cx="476400" cy="265800"/>
          </a:xfrm>
          <a:prstGeom prst="straightConnector1">
            <a:avLst/>
          </a:prstGeom>
          <a:noFill/>
          <a:ln w="28575" cap="flat" cmpd="sng">
            <a:solidFill>
              <a:schemeClr val="dk2"/>
            </a:solidFill>
            <a:prstDash val="solid"/>
            <a:round/>
            <a:headEnd type="none" w="med" len="med"/>
            <a:tailEnd type="none" w="med" len="med"/>
          </a:ln>
        </p:spPr>
      </p:cxnSp>
      <p:cxnSp>
        <p:nvCxnSpPr>
          <p:cNvPr id="1299" name="Google Shape;1299;p57"/>
          <p:cNvCxnSpPr>
            <a:stCxn id="1286" idx="4"/>
            <a:endCxn id="1289" idx="0"/>
          </p:cNvCxnSpPr>
          <p:nvPr/>
        </p:nvCxnSpPr>
        <p:spPr>
          <a:xfrm>
            <a:off x="8083625" y="4351552"/>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1300" name="Google Shape;1300;p57"/>
          <p:cNvCxnSpPr>
            <a:stCxn id="1283" idx="3"/>
            <a:endCxn id="1290" idx="0"/>
          </p:cNvCxnSpPr>
          <p:nvPr/>
        </p:nvCxnSpPr>
        <p:spPr>
          <a:xfrm flipH="1">
            <a:off x="6757926" y="2264678"/>
            <a:ext cx="497100" cy="383400"/>
          </a:xfrm>
          <a:prstGeom prst="straightConnector1">
            <a:avLst/>
          </a:prstGeom>
          <a:noFill/>
          <a:ln w="28575" cap="flat" cmpd="sng">
            <a:solidFill>
              <a:schemeClr val="dk2"/>
            </a:solidFill>
            <a:prstDash val="solid"/>
            <a:round/>
            <a:headEnd type="none" w="med" len="med"/>
            <a:tailEnd type="none" w="med" len="med"/>
          </a:ln>
        </p:spPr>
      </p:cxnSp>
      <p:cxnSp>
        <p:nvCxnSpPr>
          <p:cNvPr id="1301" name="Google Shape;1301;p57"/>
          <p:cNvCxnSpPr>
            <a:endCxn id="1291" idx="0"/>
          </p:cNvCxnSpPr>
          <p:nvPr/>
        </p:nvCxnSpPr>
        <p:spPr>
          <a:xfrm>
            <a:off x="6758050" y="3080886"/>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1302" name="Google Shape;1302;p57"/>
          <p:cNvCxnSpPr>
            <a:endCxn id="1292" idx="0"/>
          </p:cNvCxnSpPr>
          <p:nvPr/>
        </p:nvCxnSpPr>
        <p:spPr>
          <a:xfrm>
            <a:off x="6758050" y="3716161"/>
            <a:ext cx="0" cy="202500"/>
          </a:xfrm>
          <a:prstGeom prst="straightConnector1">
            <a:avLst/>
          </a:prstGeom>
          <a:noFill/>
          <a:ln w="28575" cap="flat" cmpd="sng">
            <a:solidFill>
              <a:schemeClr val="dk2"/>
            </a:solidFill>
            <a:prstDash val="solid"/>
            <a:round/>
            <a:headEnd type="none" w="med" len="med"/>
            <a:tailEnd type="none" w="med" len="med"/>
          </a:ln>
        </p:spPr>
      </p:cxnSp>
      <p:sp>
        <p:nvSpPr>
          <p:cNvPr id="1303" name="Google Shape;1303;p57"/>
          <p:cNvSpPr/>
          <p:nvPr/>
        </p:nvSpPr>
        <p:spPr>
          <a:xfrm>
            <a:off x="6541600" y="4553936"/>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cxnSp>
        <p:nvCxnSpPr>
          <p:cNvPr id="1304" name="Google Shape;1304;p57"/>
          <p:cNvCxnSpPr>
            <a:stCxn id="1292" idx="4"/>
            <a:endCxn id="1303" idx="0"/>
          </p:cNvCxnSpPr>
          <p:nvPr/>
        </p:nvCxnSpPr>
        <p:spPr>
          <a:xfrm>
            <a:off x="6758050" y="4351561"/>
            <a:ext cx="0" cy="202500"/>
          </a:xfrm>
          <a:prstGeom prst="straightConnector1">
            <a:avLst/>
          </a:prstGeom>
          <a:noFill/>
          <a:ln w="28575" cap="flat" cmpd="sng">
            <a:solidFill>
              <a:schemeClr val="dk2"/>
            </a:solidFill>
            <a:prstDash val="solid"/>
            <a:round/>
            <a:headEnd type="none" w="med" len="med"/>
            <a:tailEnd type="none" w="med" len="med"/>
          </a:ln>
        </p:spPr>
      </p:cxnSp>
      <p:sp>
        <p:nvSpPr>
          <p:cNvPr id="1305" name="Google Shape;1305;p57"/>
          <p:cNvSpPr/>
          <p:nvPr/>
        </p:nvSpPr>
        <p:spPr>
          <a:xfrm>
            <a:off x="4320701" y="2445250"/>
            <a:ext cx="767100" cy="432900"/>
          </a:xfrm>
          <a:prstGeom prst="rect">
            <a:avLst/>
          </a:prstGeom>
          <a:solidFill>
            <a:srgbClr val="D9EAD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sad</a:t>
            </a:r>
            <a:endParaRPr/>
          </a:p>
        </p:txBody>
      </p:sp>
      <p:sp>
        <p:nvSpPr>
          <p:cNvPr id="1306" name="Google Shape;1306;p57"/>
          <p:cNvSpPr/>
          <p:nvPr/>
        </p:nvSpPr>
        <p:spPr>
          <a:xfrm>
            <a:off x="4915463" y="3233400"/>
            <a:ext cx="767100" cy="432900"/>
          </a:xfrm>
          <a:prstGeom prst="rect">
            <a:avLst/>
          </a:prstGeom>
          <a:solidFill>
            <a:srgbClr val="D9EAD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same</a:t>
            </a:r>
            <a:endParaRPr/>
          </a:p>
        </p:txBody>
      </p:sp>
      <p:sp>
        <p:nvSpPr>
          <p:cNvPr id="1307" name="Google Shape;1307;p57"/>
          <p:cNvSpPr/>
          <p:nvPr/>
        </p:nvSpPr>
        <p:spPr>
          <a:xfrm>
            <a:off x="5404851" y="3981950"/>
            <a:ext cx="767100" cy="432900"/>
          </a:xfrm>
          <a:prstGeom prst="rect">
            <a:avLst/>
          </a:prstGeom>
          <a:solidFill>
            <a:srgbClr val="D9EAD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sap</a:t>
            </a:r>
            <a:endParaRPr/>
          </a:p>
        </p:txBody>
      </p:sp>
      <p:cxnSp>
        <p:nvCxnSpPr>
          <p:cNvPr id="1308" name="Google Shape;1308;p57"/>
          <p:cNvCxnSpPr>
            <a:stCxn id="1305" idx="2"/>
            <a:endCxn id="1306" idx="0"/>
          </p:cNvCxnSpPr>
          <p:nvPr/>
        </p:nvCxnSpPr>
        <p:spPr>
          <a:xfrm>
            <a:off x="4704251" y="2878150"/>
            <a:ext cx="594900" cy="355200"/>
          </a:xfrm>
          <a:prstGeom prst="straightConnector1">
            <a:avLst/>
          </a:prstGeom>
          <a:noFill/>
          <a:ln w="19050" cap="flat" cmpd="sng">
            <a:solidFill>
              <a:schemeClr val="dk2"/>
            </a:solidFill>
            <a:prstDash val="solid"/>
            <a:round/>
            <a:headEnd type="none" w="med" len="med"/>
            <a:tailEnd type="none" w="med" len="med"/>
          </a:ln>
        </p:spPr>
      </p:cxnSp>
      <p:cxnSp>
        <p:nvCxnSpPr>
          <p:cNvPr id="1309" name="Google Shape;1309;p57"/>
          <p:cNvCxnSpPr>
            <a:stCxn id="1306" idx="2"/>
            <a:endCxn id="1307" idx="0"/>
          </p:cNvCxnSpPr>
          <p:nvPr/>
        </p:nvCxnSpPr>
        <p:spPr>
          <a:xfrm>
            <a:off x="5299013" y="3666300"/>
            <a:ext cx="489300" cy="315600"/>
          </a:xfrm>
          <a:prstGeom prst="straightConnector1">
            <a:avLst/>
          </a:prstGeom>
          <a:noFill/>
          <a:ln w="19050" cap="flat" cmpd="sng">
            <a:solidFill>
              <a:schemeClr val="dk2"/>
            </a:solidFill>
            <a:prstDash val="solid"/>
            <a:round/>
            <a:headEnd type="none" w="med" len="med"/>
            <a:tailEnd type="none" w="med" len="med"/>
          </a:ln>
        </p:spPr>
      </p:cxnSp>
      <p:sp>
        <p:nvSpPr>
          <p:cNvPr id="1310" name="Google Shape;1310;p57"/>
          <p:cNvSpPr/>
          <p:nvPr/>
        </p:nvSpPr>
        <p:spPr>
          <a:xfrm>
            <a:off x="3627036" y="3233400"/>
            <a:ext cx="767100" cy="432900"/>
          </a:xfrm>
          <a:prstGeom prst="rect">
            <a:avLst/>
          </a:prstGeom>
          <a:solidFill>
            <a:srgbClr val="D9EAD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awls</a:t>
            </a:r>
            <a:endParaRPr/>
          </a:p>
        </p:txBody>
      </p:sp>
      <p:sp>
        <p:nvSpPr>
          <p:cNvPr id="1311" name="Google Shape;1311;p57"/>
          <p:cNvSpPr/>
          <p:nvPr/>
        </p:nvSpPr>
        <p:spPr>
          <a:xfrm>
            <a:off x="3243525" y="3981950"/>
            <a:ext cx="767100" cy="432900"/>
          </a:xfrm>
          <a:prstGeom prst="rect">
            <a:avLst/>
          </a:prstGeom>
          <a:solidFill>
            <a:srgbClr val="D9EAD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a:t>
            </a:r>
            <a:endParaRPr/>
          </a:p>
        </p:txBody>
      </p:sp>
      <p:cxnSp>
        <p:nvCxnSpPr>
          <p:cNvPr id="1312" name="Google Shape;1312;p57"/>
          <p:cNvCxnSpPr>
            <a:stCxn id="1305" idx="2"/>
            <a:endCxn id="1310" idx="0"/>
          </p:cNvCxnSpPr>
          <p:nvPr/>
        </p:nvCxnSpPr>
        <p:spPr>
          <a:xfrm flipH="1">
            <a:off x="4010651" y="2878150"/>
            <a:ext cx="693600" cy="355200"/>
          </a:xfrm>
          <a:prstGeom prst="straightConnector1">
            <a:avLst/>
          </a:prstGeom>
          <a:noFill/>
          <a:ln w="19050" cap="flat" cmpd="sng">
            <a:solidFill>
              <a:schemeClr val="dk2"/>
            </a:solidFill>
            <a:prstDash val="solid"/>
            <a:round/>
            <a:headEnd type="none" w="med" len="med"/>
            <a:tailEnd type="none" w="med" len="med"/>
          </a:ln>
        </p:spPr>
      </p:cxnSp>
      <p:cxnSp>
        <p:nvCxnSpPr>
          <p:cNvPr id="1313" name="Google Shape;1313;p57"/>
          <p:cNvCxnSpPr>
            <a:stCxn id="1310" idx="2"/>
            <a:endCxn id="1311" idx="0"/>
          </p:cNvCxnSpPr>
          <p:nvPr/>
        </p:nvCxnSpPr>
        <p:spPr>
          <a:xfrm flipH="1">
            <a:off x="3627186" y="3666300"/>
            <a:ext cx="383400" cy="315600"/>
          </a:xfrm>
          <a:prstGeom prst="straightConnector1">
            <a:avLst/>
          </a:prstGeom>
          <a:noFill/>
          <a:ln w="19050" cap="flat" cmpd="sng">
            <a:solidFill>
              <a:schemeClr val="dk2"/>
            </a:solidFill>
            <a:prstDash val="solid"/>
            <a:round/>
            <a:headEnd type="none" w="med" len="med"/>
            <a:tailEnd type="none" w="med" len="med"/>
          </a:ln>
        </p:spPr>
      </p:cxnSp>
      <p:sp>
        <p:nvSpPr>
          <p:cNvPr id="1314" name="Google Shape;1314;p57"/>
          <p:cNvSpPr/>
          <p:nvPr/>
        </p:nvSpPr>
        <p:spPr>
          <a:xfrm>
            <a:off x="4421986" y="3981950"/>
            <a:ext cx="767100" cy="432900"/>
          </a:xfrm>
          <a:prstGeom prst="rect">
            <a:avLst/>
          </a:prstGeom>
          <a:solidFill>
            <a:srgbClr val="D9EAD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sam</a:t>
            </a:r>
            <a:endParaRPr/>
          </a:p>
        </p:txBody>
      </p:sp>
      <p:cxnSp>
        <p:nvCxnSpPr>
          <p:cNvPr id="1315" name="Google Shape;1315;p57"/>
          <p:cNvCxnSpPr>
            <a:stCxn id="1306" idx="2"/>
            <a:endCxn id="1314" idx="0"/>
          </p:cNvCxnSpPr>
          <p:nvPr/>
        </p:nvCxnSpPr>
        <p:spPr>
          <a:xfrm flipH="1">
            <a:off x="4805513" y="3666300"/>
            <a:ext cx="493500" cy="315600"/>
          </a:xfrm>
          <a:prstGeom prst="straightConnector1">
            <a:avLst/>
          </a:prstGeom>
          <a:noFill/>
          <a:ln w="19050" cap="flat" cmpd="sng">
            <a:solidFill>
              <a:schemeClr val="dk2"/>
            </a:solidFill>
            <a:prstDash val="solid"/>
            <a:round/>
            <a:headEnd type="none" w="med" len="med"/>
            <a:tailEnd type="none" w="med" len="med"/>
          </a:ln>
        </p:spPr>
      </p:cxnSp>
      <p:sp>
        <p:nvSpPr>
          <p:cNvPr id="1316" name="Google Shape;1316;p57"/>
          <p:cNvSpPr/>
          <p:nvPr/>
        </p:nvSpPr>
        <p:spPr>
          <a:xfrm>
            <a:off x="337888" y="3566668"/>
            <a:ext cx="493200" cy="45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nsolas"/>
              <a:ea typeface="Consolas"/>
              <a:cs typeface="Consolas"/>
              <a:sym typeface="Consolas"/>
            </a:endParaRPr>
          </a:p>
        </p:txBody>
      </p:sp>
      <p:sp>
        <p:nvSpPr>
          <p:cNvPr id="1317" name="Google Shape;1317;p57"/>
          <p:cNvSpPr/>
          <p:nvPr/>
        </p:nvSpPr>
        <p:spPr>
          <a:xfrm>
            <a:off x="337888" y="4015101"/>
            <a:ext cx="493200" cy="45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nsolas"/>
              <a:ea typeface="Consolas"/>
              <a:cs typeface="Consolas"/>
              <a:sym typeface="Consolas"/>
            </a:endParaRPr>
          </a:p>
        </p:txBody>
      </p:sp>
      <p:sp>
        <p:nvSpPr>
          <p:cNvPr id="1318" name="Google Shape;1318;p57"/>
          <p:cNvSpPr/>
          <p:nvPr/>
        </p:nvSpPr>
        <p:spPr>
          <a:xfrm>
            <a:off x="337888" y="3122284"/>
            <a:ext cx="493200" cy="45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nsolas"/>
              <a:ea typeface="Consolas"/>
              <a:cs typeface="Consolas"/>
              <a:sym typeface="Consolas"/>
            </a:endParaRPr>
          </a:p>
        </p:txBody>
      </p:sp>
      <p:sp>
        <p:nvSpPr>
          <p:cNvPr id="1319" name="Google Shape;1319;p57"/>
          <p:cNvSpPr txBox="1"/>
          <p:nvPr/>
        </p:nvSpPr>
        <p:spPr>
          <a:xfrm>
            <a:off x="66063" y="2687227"/>
            <a:ext cx="288300" cy="1782300"/>
          </a:xfrm>
          <a:prstGeom prst="rect">
            <a:avLst/>
          </a:prstGeom>
          <a:noFill/>
          <a:ln>
            <a:noFill/>
          </a:ln>
        </p:spPr>
        <p:txBody>
          <a:bodyPr spcFirstLastPara="1" wrap="square" lIns="91425" tIns="91425" rIns="91425" bIns="91425" anchor="t" anchorCtr="0">
            <a:noAutofit/>
          </a:bodyPr>
          <a:lstStyle/>
          <a:p>
            <a:pPr marL="0" lvl="0" indent="0" algn="r" rtl="0">
              <a:lnSpc>
                <a:spcPct val="200000"/>
              </a:lnSpc>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marL="0" lvl="0" indent="0" algn="r" rtl="0">
              <a:lnSpc>
                <a:spcPct val="200000"/>
              </a:lnSpc>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marL="0" lvl="0" indent="0" algn="r" rtl="0">
              <a:lnSpc>
                <a:spcPct val="200000"/>
              </a:lnSpc>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marL="0" lvl="0" indent="0" algn="r" rtl="0">
              <a:lnSpc>
                <a:spcPct val="200000"/>
              </a:lnSpc>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p:txBody>
      </p:sp>
      <p:sp>
        <p:nvSpPr>
          <p:cNvPr id="1320" name="Google Shape;1320;p57"/>
          <p:cNvSpPr/>
          <p:nvPr/>
        </p:nvSpPr>
        <p:spPr>
          <a:xfrm>
            <a:off x="337888" y="2673850"/>
            <a:ext cx="493200" cy="45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nsolas"/>
              <a:ea typeface="Consolas"/>
              <a:cs typeface="Consolas"/>
              <a:sym typeface="Consolas"/>
            </a:endParaRPr>
          </a:p>
        </p:txBody>
      </p:sp>
      <p:cxnSp>
        <p:nvCxnSpPr>
          <p:cNvPr id="1321" name="Google Shape;1321;p57"/>
          <p:cNvCxnSpPr/>
          <p:nvPr/>
        </p:nvCxnSpPr>
        <p:spPr>
          <a:xfrm>
            <a:off x="575789" y="2897195"/>
            <a:ext cx="568800" cy="0"/>
          </a:xfrm>
          <a:prstGeom prst="straightConnector1">
            <a:avLst/>
          </a:prstGeom>
          <a:noFill/>
          <a:ln w="19050" cap="flat" cmpd="sng">
            <a:solidFill>
              <a:srgbClr val="666666"/>
            </a:solidFill>
            <a:prstDash val="solid"/>
            <a:round/>
            <a:headEnd type="none" w="med" len="med"/>
            <a:tailEnd type="triangle" w="med" len="med"/>
          </a:ln>
        </p:spPr>
      </p:cxnSp>
      <p:cxnSp>
        <p:nvCxnSpPr>
          <p:cNvPr id="1322" name="Google Shape;1322;p57"/>
          <p:cNvCxnSpPr/>
          <p:nvPr/>
        </p:nvCxnSpPr>
        <p:spPr>
          <a:xfrm>
            <a:off x="587663" y="3372975"/>
            <a:ext cx="559200" cy="0"/>
          </a:xfrm>
          <a:prstGeom prst="straightConnector1">
            <a:avLst/>
          </a:prstGeom>
          <a:noFill/>
          <a:ln w="19050" cap="flat" cmpd="sng">
            <a:solidFill>
              <a:srgbClr val="666666"/>
            </a:solidFill>
            <a:prstDash val="solid"/>
            <a:round/>
            <a:headEnd type="none" w="med" len="med"/>
            <a:tailEnd type="triangle" w="med" len="med"/>
          </a:ln>
        </p:spPr>
      </p:cxnSp>
      <p:cxnSp>
        <p:nvCxnSpPr>
          <p:cNvPr id="1323" name="Google Shape;1323;p57"/>
          <p:cNvCxnSpPr/>
          <p:nvPr/>
        </p:nvCxnSpPr>
        <p:spPr>
          <a:xfrm>
            <a:off x="611050" y="4243586"/>
            <a:ext cx="535800" cy="0"/>
          </a:xfrm>
          <a:prstGeom prst="straightConnector1">
            <a:avLst/>
          </a:prstGeom>
          <a:noFill/>
          <a:ln w="19050" cap="flat" cmpd="sng">
            <a:solidFill>
              <a:srgbClr val="666666"/>
            </a:solidFill>
            <a:prstDash val="solid"/>
            <a:round/>
            <a:headEnd type="none" w="med" len="med"/>
            <a:tailEnd type="triangle" w="med" len="med"/>
          </a:ln>
        </p:spPr>
      </p:cxnSp>
      <p:cxnSp>
        <p:nvCxnSpPr>
          <p:cNvPr id="1324" name="Google Shape;1324;p57"/>
          <p:cNvCxnSpPr/>
          <p:nvPr/>
        </p:nvCxnSpPr>
        <p:spPr>
          <a:xfrm>
            <a:off x="594484" y="3816532"/>
            <a:ext cx="559200" cy="0"/>
          </a:xfrm>
          <a:prstGeom prst="straightConnector1">
            <a:avLst/>
          </a:prstGeom>
          <a:noFill/>
          <a:ln w="19050" cap="flat" cmpd="sng">
            <a:solidFill>
              <a:srgbClr val="666666"/>
            </a:solidFill>
            <a:prstDash val="solid"/>
            <a:round/>
            <a:headEnd type="none" w="med" len="med"/>
            <a:tailEnd type="triangle" w="med" len="med"/>
          </a:ln>
        </p:spPr>
      </p:cxnSp>
      <p:sp>
        <p:nvSpPr>
          <p:cNvPr id="1325" name="Google Shape;1325;p57"/>
          <p:cNvSpPr txBox="1"/>
          <p:nvPr/>
        </p:nvSpPr>
        <p:spPr>
          <a:xfrm>
            <a:off x="1219710" y="2673850"/>
            <a:ext cx="679800" cy="28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latin typeface="Consolas"/>
                <a:ea typeface="Consolas"/>
                <a:cs typeface="Consolas"/>
                <a:sym typeface="Consolas"/>
              </a:rPr>
              <a:t>sad</a:t>
            </a:r>
            <a:endParaRPr sz="1500">
              <a:latin typeface="Consolas"/>
              <a:ea typeface="Consolas"/>
              <a:cs typeface="Consolas"/>
              <a:sym typeface="Consolas"/>
            </a:endParaRPr>
          </a:p>
        </p:txBody>
      </p:sp>
      <p:sp>
        <p:nvSpPr>
          <p:cNvPr id="1326" name="Google Shape;1326;p57"/>
          <p:cNvSpPr txBox="1"/>
          <p:nvPr/>
        </p:nvSpPr>
        <p:spPr>
          <a:xfrm>
            <a:off x="1233352" y="3151525"/>
            <a:ext cx="633600" cy="28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latin typeface="Consolas"/>
                <a:ea typeface="Consolas"/>
                <a:cs typeface="Consolas"/>
                <a:sym typeface="Consolas"/>
              </a:rPr>
              <a:t>awls</a:t>
            </a:r>
            <a:endParaRPr sz="1500">
              <a:latin typeface="Consolas"/>
              <a:ea typeface="Consolas"/>
              <a:cs typeface="Consolas"/>
              <a:sym typeface="Consolas"/>
            </a:endParaRPr>
          </a:p>
        </p:txBody>
      </p:sp>
      <p:sp>
        <p:nvSpPr>
          <p:cNvPr id="1327" name="Google Shape;1327;p57"/>
          <p:cNvSpPr txBox="1"/>
          <p:nvPr/>
        </p:nvSpPr>
        <p:spPr>
          <a:xfrm>
            <a:off x="1246983" y="3608725"/>
            <a:ext cx="535800" cy="28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latin typeface="Consolas"/>
                <a:ea typeface="Consolas"/>
                <a:cs typeface="Consolas"/>
                <a:sym typeface="Consolas"/>
              </a:rPr>
              <a:t>a</a:t>
            </a:r>
            <a:endParaRPr sz="1500">
              <a:latin typeface="Consolas"/>
              <a:ea typeface="Consolas"/>
              <a:cs typeface="Consolas"/>
              <a:sym typeface="Consolas"/>
            </a:endParaRPr>
          </a:p>
        </p:txBody>
      </p:sp>
      <p:sp>
        <p:nvSpPr>
          <p:cNvPr id="1328" name="Google Shape;1328;p57"/>
          <p:cNvSpPr txBox="1"/>
          <p:nvPr/>
        </p:nvSpPr>
        <p:spPr>
          <a:xfrm>
            <a:off x="1246973" y="4065925"/>
            <a:ext cx="679800" cy="28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latin typeface="Consolas"/>
                <a:ea typeface="Consolas"/>
                <a:cs typeface="Consolas"/>
                <a:sym typeface="Consolas"/>
              </a:rPr>
              <a:t>same</a:t>
            </a:r>
            <a:endParaRPr sz="1500">
              <a:latin typeface="Consolas"/>
              <a:ea typeface="Consolas"/>
              <a:cs typeface="Consolas"/>
              <a:sym typeface="Consolas"/>
            </a:endParaRPr>
          </a:p>
        </p:txBody>
      </p:sp>
      <p:sp>
        <p:nvSpPr>
          <p:cNvPr id="1329" name="Google Shape;1329;p57"/>
          <p:cNvSpPr txBox="1"/>
          <p:nvPr/>
        </p:nvSpPr>
        <p:spPr>
          <a:xfrm>
            <a:off x="2417270" y="3608725"/>
            <a:ext cx="535800" cy="28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latin typeface="Consolas"/>
                <a:ea typeface="Consolas"/>
                <a:cs typeface="Consolas"/>
                <a:sym typeface="Consolas"/>
              </a:rPr>
              <a:t>sap</a:t>
            </a:r>
            <a:endParaRPr sz="1500">
              <a:latin typeface="Consolas"/>
              <a:ea typeface="Consolas"/>
              <a:cs typeface="Consolas"/>
              <a:sym typeface="Consolas"/>
            </a:endParaRPr>
          </a:p>
        </p:txBody>
      </p:sp>
      <p:cxnSp>
        <p:nvCxnSpPr>
          <p:cNvPr id="1330" name="Google Shape;1330;p57"/>
          <p:cNvCxnSpPr/>
          <p:nvPr/>
        </p:nvCxnSpPr>
        <p:spPr>
          <a:xfrm>
            <a:off x="1737484" y="3816532"/>
            <a:ext cx="559200" cy="0"/>
          </a:xfrm>
          <a:prstGeom prst="straightConnector1">
            <a:avLst/>
          </a:prstGeom>
          <a:noFill/>
          <a:ln w="19050" cap="flat" cmpd="sng">
            <a:solidFill>
              <a:srgbClr val="666666"/>
            </a:solidFill>
            <a:prstDash val="solid"/>
            <a:round/>
            <a:headEnd type="none" w="med" len="med"/>
            <a:tailEnd type="triangle" w="med" len="med"/>
          </a:ln>
        </p:spPr>
      </p:cxnSp>
      <p:cxnSp>
        <p:nvCxnSpPr>
          <p:cNvPr id="1331" name="Google Shape;1331;p57"/>
          <p:cNvCxnSpPr/>
          <p:nvPr/>
        </p:nvCxnSpPr>
        <p:spPr>
          <a:xfrm>
            <a:off x="1768459" y="2901107"/>
            <a:ext cx="559200" cy="0"/>
          </a:xfrm>
          <a:prstGeom prst="straightConnector1">
            <a:avLst/>
          </a:prstGeom>
          <a:noFill/>
          <a:ln w="19050" cap="flat" cmpd="sng">
            <a:solidFill>
              <a:srgbClr val="666666"/>
            </a:solidFill>
            <a:prstDash val="solid"/>
            <a:round/>
            <a:headEnd type="none" w="med" len="med"/>
            <a:tailEnd type="triangle" w="med" len="med"/>
          </a:ln>
        </p:spPr>
      </p:cxnSp>
      <p:sp>
        <p:nvSpPr>
          <p:cNvPr id="1332" name="Google Shape;1332;p57"/>
          <p:cNvSpPr txBox="1"/>
          <p:nvPr/>
        </p:nvSpPr>
        <p:spPr>
          <a:xfrm>
            <a:off x="2411754" y="2664121"/>
            <a:ext cx="679800" cy="28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latin typeface="Consolas"/>
                <a:ea typeface="Consolas"/>
                <a:cs typeface="Consolas"/>
                <a:sym typeface="Consolas"/>
              </a:rPr>
              <a:t>sam</a:t>
            </a:r>
            <a:endParaRPr sz="1500">
              <a:latin typeface="Consolas"/>
              <a:ea typeface="Consolas"/>
              <a:cs typeface="Consolas"/>
              <a:sym typeface="Consola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336"/>
        <p:cNvGrpSpPr/>
        <p:nvPr/>
      </p:nvGrpSpPr>
      <p:grpSpPr>
        <a:xfrm>
          <a:off x="0" y="0"/>
          <a:ext cx="0" cy="0"/>
          <a:chOff x="0" y="0"/>
          <a:chExt cx="0" cy="0"/>
        </a:xfrm>
      </p:grpSpPr>
      <p:sp>
        <p:nvSpPr>
          <p:cNvPr id="1337" name="Google Shape;1337;p5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Prefix Matching Operations</a:t>
            </a:r>
            <a:endParaRPr/>
          </a:p>
        </p:txBody>
      </p:sp>
      <p:sp>
        <p:nvSpPr>
          <p:cNvPr id="1338" name="Google Shape;1338;p58"/>
          <p:cNvSpPr txBox="1">
            <a:spLocks noGrp="1"/>
          </p:cNvSpPr>
          <p:nvPr>
            <p:ph type="body" idx="1"/>
          </p:nvPr>
        </p:nvSpPr>
        <p:spPr>
          <a:xfrm>
            <a:off x="319200" y="556500"/>
            <a:ext cx="8443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p:txBody>
      </p:sp>
      <p:sp>
        <p:nvSpPr>
          <p:cNvPr id="1339" name="Google Shape;1339;p58"/>
          <p:cNvSpPr txBox="1">
            <a:spLocks noGrp="1"/>
          </p:cNvSpPr>
          <p:nvPr>
            <p:ph type="body" idx="1"/>
          </p:nvPr>
        </p:nvSpPr>
        <p:spPr>
          <a:xfrm>
            <a:off x="166800" y="409739"/>
            <a:ext cx="89010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a:t>Theoretical asymptotic speed improvement is nice. But the </a:t>
            </a:r>
            <a:r>
              <a:rPr lang="en" b="1" u="sng"/>
              <a:t>main appeal of tries</a:t>
            </a:r>
            <a:r>
              <a:rPr lang="en" b="1"/>
              <a:t> </a:t>
            </a:r>
            <a:r>
              <a:rPr lang="en"/>
              <a:t>is their ability to efficiently support string specific operations like </a:t>
            </a:r>
            <a:r>
              <a:rPr lang="en" b="1" u="sng"/>
              <a:t>prefix matching</a:t>
            </a:r>
            <a:r>
              <a:rPr lang="en"/>
              <a:t>.</a:t>
            </a:r>
            <a:endParaRPr/>
          </a:p>
          <a:p>
            <a:pPr marL="0" lvl="0" indent="0" algn="l" rtl="0">
              <a:spcBef>
                <a:spcPts val="600"/>
              </a:spcBef>
              <a:spcAft>
                <a:spcPts val="0"/>
              </a:spcAft>
              <a:buNone/>
            </a:pPr>
            <a:endParaRPr/>
          </a:p>
        </p:txBody>
      </p:sp>
      <p:sp>
        <p:nvSpPr>
          <p:cNvPr id="1340" name="Google Shape;1340;p58"/>
          <p:cNvSpPr/>
          <p:nvPr/>
        </p:nvSpPr>
        <p:spPr>
          <a:xfrm>
            <a:off x="943230" y="20475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1341" name="Google Shape;1341;p58"/>
          <p:cNvSpPr/>
          <p:nvPr/>
        </p:nvSpPr>
        <p:spPr>
          <a:xfrm>
            <a:off x="1618775" y="264809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sp>
        <p:nvSpPr>
          <p:cNvPr id="1342" name="Google Shape;1342;p58"/>
          <p:cNvSpPr/>
          <p:nvPr/>
        </p:nvSpPr>
        <p:spPr>
          <a:xfrm>
            <a:off x="1618775" y="3283373"/>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343" name="Google Shape;1343;p58"/>
          <p:cNvSpPr/>
          <p:nvPr/>
        </p:nvSpPr>
        <p:spPr>
          <a:xfrm>
            <a:off x="1618775" y="39186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m</a:t>
            </a:r>
            <a:endParaRPr sz="1800">
              <a:latin typeface="Consolas"/>
              <a:ea typeface="Consolas"/>
              <a:cs typeface="Consolas"/>
              <a:sym typeface="Consolas"/>
            </a:endParaRPr>
          </a:p>
        </p:txBody>
      </p:sp>
      <p:sp>
        <p:nvSpPr>
          <p:cNvPr id="1344" name="Google Shape;1344;p58"/>
          <p:cNvSpPr/>
          <p:nvPr/>
        </p:nvSpPr>
        <p:spPr>
          <a:xfrm>
            <a:off x="989275" y="39186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d</a:t>
            </a:r>
            <a:endParaRPr sz="1800">
              <a:latin typeface="Consolas"/>
              <a:ea typeface="Consolas"/>
              <a:cs typeface="Consolas"/>
              <a:sym typeface="Consolas"/>
            </a:endParaRPr>
          </a:p>
        </p:txBody>
      </p:sp>
      <p:sp>
        <p:nvSpPr>
          <p:cNvPr id="1345" name="Google Shape;1345;p58"/>
          <p:cNvSpPr/>
          <p:nvPr/>
        </p:nvSpPr>
        <p:spPr>
          <a:xfrm>
            <a:off x="2248275" y="39186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p</a:t>
            </a:r>
            <a:endParaRPr sz="1800">
              <a:latin typeface="Consolas"/>
              <a:ea typeface="Consolas"/>
              <a:cs typeface="Consolas"/>
              <a:sym typeface="Consolas"/>
            </a:endParaRPr>
          </a:p>
        </p:txBody>
      </p:sp>
      <p:sp>
        <p:nvSpPr>
          <p:cNvPr id="1346" name="Google Shape;1346;p58"/>
          <p:cNvSpPr/>
          <p:nvPr/>
        </p:nvSpPr>
        <p:spPr>
          <a:xfrm>
            <a:off x="1618775" y="4553927"/>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e</a:t>
            </a:r>
            <a:endParaRPr sz="1800">
              <a:latin typeface="Consolas"/>
              <a:ea typeface="Consolas"/>
              <a:cs typeface="Consolas"/>
              <a:sym typeface="Consolas"/>
            </a:endParaRPr>
          </a:p>
        </p:txBody>
      </p:sp>
      <p:sp>
        <p:nvSpPr>
          <p:cNvPr id="1347" name="Google Shape;1347;p58"/>
          <p:cNvSpPr/>
          <p:nvPr/>
        </p:nvSpPr>
        <p:spPr>
          <a:xfrm>
            <a:off x="293200" y="2648111"/>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348" name="Google Shape;1348;p58"/>
          <p:cNvSpPr/>
          <p:nvPr/>
        </p:nvSpPr>
        <p:spPr>
          <a:xfrm>
            <a:off x="293200" y="328338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w</a:t>
            </a:r>
            <a:endParaRPr sz="1800">
              <a:latin typeface="Consolas"/>
              <a:ea typeface="Consolas"/>
              <a:cs typeface="Consolas"/>
              <a:sym typeface="Consolas"/>
            </a:endParaRPr>
          </a:p>
        </p:txBody>
      </p:sp>
      <p:sp>
        <p:nvSpPr>
          <p:cNvPr id="1349" name="Google Shape;1349;p58"/>
          <p:cNvSpPr/>
          <p:nvPr/>
        </p:nvSpPr>
        <p:spPr>
          <a:xfrm>
            <a:off x="293200" y="3918661"/>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l</a:t>
            </a:r>
            <a:endParaRPr sz="1800">
              <a:latin typeface="Consolas"/>
              <a:ea typeface="Consolas"/>
              <a:cs typeface="Consolas"/>
              <a:sym typeface="Consolas"/>
            </a:endParaRPr>
          </a:p>
        </p:txBody>
      </p:sp>
      <p:cxnSp>
        <p:nvCxnSpPr>
          <p:cNvPr id="1350" name="Google Shape;1350;p58"/>
          <p:cNvCxnSpPr/>
          <p:nvPr/>
        </p:nvCxnSpPr>
        <p:spPr>
          <a:xfrm>
            <a:off x="1835225" y="4351552"/>
            <a:ext cx="0" cy="0"/>
          </a:xfrm>
          <a:prstGeom prst="straightConnector1">
            <a:avLst/>
          </a:prstGeom>
          <a:noFill/>
          <a:ln w="19050" cap="flat" cmpd="sng">
            <a:solidFill>
              <a:schemeClr val="dk2"/>
            </a:solidFill>
            <a:prstDash val="solid"/>
            <a:round/>
            <a:headEnd type="none" w="med" len="med"/>
            <a:tailEnd type="none" w="med" len="med"/>
          </a:ln>
        </p:spPr>
      </p:cxnSp>
      <p:cxnSp>
        <p:nvCxnSpPr>
          <p:cNvPr id="1351" name="Google Shape;1351;p58"/>
          <p:cNvCxnSpPr>
            <a:stCxn id="1340" idx="5"/>
            <a:endCxn id="1341" idx="0"/>
          </p:cNvCxnSpPr>
          <p:nvPr/>
        </p:nvCxnSpPr>
        <p:spPr>
          <a:xfrm>
            <a:off x="1312733" y="2417078"/>
            <a:ext cx="522600" cy="231000"/>
          </a:xfrm>
          <a:prstGeom prst="straightConnector1">
            <a:avLst/>
          </a:prstGeom>
          <a:noFill/>
          <a:ln w="28575" cap="flat" cmpd="sng">
            <a:solidFill>
              <a:schemeClr val="dk2"/>
            </a:solidFill>
            <a:prstDash val="solid"/>
            <a:round/>
            <a:headEnd type="none" w="med" len="med"/>
            <a:tailEnd type="none" w="med" len="med"/>
          </a:ln>
        </p:spPr>
      </p:cxnSp>
      <p:cxnSp>
        <p:nvCxnSpPr>
          <p:cNvPr id="1352" name="Google Shape;1352;p58"/>
          <p:cNvCxnSpPr>
            <a:stCxn id="1341" idx="4"/>
            <a:endCxn id="1342" idx="0"/>
          </p:cNvCxnSpPr>
          <p:nvPr/>
        </p:nvCxnSpPr>
        <p:spPr>
          <a:xfrm>
            <a:off x="1835225" y="3080996"/>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1353" name="Google Shape;1353;p58"/>
          <p:cNvCxnSpPr>
            <a:stCxn id="1342" idx="4"/>
            <a:endCxn id="1343" idx="0"/>
          </p:cNvCxnSpPr>
          <p:nvPr/>
        </p:nvCxnSpPr>
        <p:spPr>
          <a:xfrm>
            <a:off x="1835225" y="3716273"/>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1354" name="Google Shape;1354;p58"/>
          <p:cNvCxnSpPr>
            <a:stCxn id="1342" idx="3"/>
            <a:endCxn id="1344" idx="0"/>
          </p:cNvCxnSpPr>
          <p:nvPr/>
        </p:nvCxnSpPr>
        <p:spPr>
          <a:xfrm flipH="1">
            <a:off x="1205772" y="3652877"/>
            <a:ext cx="476400" cy="265800"/>
          </a:xfrm>
          <a:prstGeom prst="straightConnector1">
            <a:avLst/>
          </a:prstGeom>
          <a:noFill/>
          <a:ln w="28575" cap="flat" cmpd="sng">
            <a:solidFill>
              <a:schemeClr val="dk2"/>
            </a:solidFill>
            <a:prstDash val="solid"/>
            <a:round/>
            <a:headEnd type="none" w="med" len="med"/>
            <a:tailEnd type="none" w="med" len="med"/>
          </a:ln>
        </p:spPr>
      </p:cxnSp>
      <p:cxnSp>
        <p:nvCxnSpPr>
          <p:cNvPr id="1355" name="Google Shape;1355;p58"/>
          <p:cNvCxnSpPr>
            <a:stCxn id="1342" idx="5"/>
            <a:endCxn id="1345" idx="0"/>
          </p:cNvCxnSpPr>
          <p:nvPr/>
        </p:nvCxnSpPr>
        <p:spPr>
          <a:xfrm>
            <a:off x="1988278" y="3652877"/>
            <a:ext cx="476400" cy="265800"/>
          </a:xfrm>
          <a:prstGeom prst="straightConnector1">
            <a:avLst/>
          </a:prstGeom>
          <a:noFill/>
          <a:ln w="28575" cap="flat" cmpd="sng">
            <a:solidFill>
              <a:schemeClr val="dk2"/>
            </a:solidFill>
            <a:prstDash val="solid"/>
            <a:round/>
            <a:headEnd type="none" w="med" len="med"/>
            <a:tailEnd type="none" w="med" len="med"/>
          </a:ln>
        </p:spPr>
      </p:cxnSp>
      <p:cxnSp>
        <p:nvCxnSpPr>
          <p:cNvPr id="1356" name="Google Shape;1356;p58"/>
          <p:cNvCxnSpPr>
            <a:stCxn id="1343" idx="4"/>
            <a:endCxn id="1346" idx="0"/>
          </p:cNvCxnSpPr>
          <p:nvPr/>
        </p:nvCxnSpPr>
        <p:spPr>
          <a:xfrm>
            <a:off x="1835225" y="4351552"/>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1357" name="Google Shape;1357;p58"/>
          <p:cNvCxnSpPr>
            <a:stCxn id="1340" idx="3"/>
            <a:endCxn id="1347" idx="0"/>
          </p:cNvCxnSpPr>
          <p:nvPr/>
        </p:nvCxnSpPr>
        <p:spPr>
          <a:xfrm flipH="1">
            <a:off x="509526" y="2417078"/>
            <a:ext cx="497100" cy="231000"/>
          </a:xfrm>
          <a:prstGeom prst="straightConnector1">
            <a:avLst/>
          </a:prstGeom>
          <a:noFill/>
          <a:ln w="28575" cap="flat" cmpd="sng">
            <a:solidFill>
              <a:schemeClr val="dk2"/>
            </a:solidFill>
            <a:prstDash val="solid"/>
            <a:round/>
            <a:headEnd type="none" w="med" len="med"/>
            <a:tailEnd type="none" w="med" len="med"/>
          </a:ln>
        </p:spPr>
      </p:cxnSp>
      <p:cxnSp>
        <p:nvCxnSpPr>
          <p:cNvPr id="1358" name="Google Shape;1358;p58"/>
          <p:cNvCxnSpPr>
            <a:endCxn id="1348" idx="0"/>
          </p:cNvCxnSpPr>
          <p:nvPr/>
        </p:nvCxnSpPr>
        <p:spPr>
          <a:xfrm>
            <a:off x="509650" y="3080886"/>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1359" name="Google Shape;1359;p58"/>
          <p:cNvCxnSpPr>
            <a:endCxn id="1349" idx="0"/>
          </p:cNvCxnSpPr>
          <p:nvPr/>
        </p:nvCxnSpPr>
        <p:spPr>
          <a:xfrm>
            <a:off x="509650" y="3716161"/>
            <a:ext cx="0" cy="202500"/>
          </a:xfrm>
          <a:prstGeom prst="straightConnector1">
            <a:avLst/>
          </a:prstGeom>
          <a:noFill/>
          <a:ln w="28575" cap="flat" cmpd="sng">
            <a:solidFill>
              <a:schemeClr val="dk2"/>
            </a:solidFill>
            <a:prstDash val="solid"/>
            <a:round/>
            <a:headEnd type="none" w="med" len="med"/>
            <a:tailEnd type="none" w="med" len="med"/>
          </a:ln>
        </p:spPr>
      </p:cxnSp>
      <p:sp>
        <p:nvSpPr>
          <p:cNvPr id="1360" name="Google Shape;1360;p58"/>
          <p:cNvSpPr/>
          <p:nvPr/>
        </p:nvSpPr>
        <p:spPr>
          <a:xfrm>
            <a:off x="293200" y="4553936"/>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cxnSp>
        <p:nvCxnSpPr>
          <p:cNvPr id="1361" name="Google Shape;1361;p58"/>
          <p:cNvCxnSpPr>
            <a:stCxn id="1349" idx="4"/>
            <a:endCxn id="1360" idx="0"/>
          </p:cNvCxnSpPr>
          <p:nvPr/>
        </p:nvCxnSpPr>
        <p:spPr>
          <a:xfrm>
            <a:off x="509650" y="4351561"/>
            <a:ext cx="0" cy="202500"/>
          </a:xfrm>
          <a:prstGeom prst="straightConnector1">
            <a:avLst/>
          </a:prstGeom>
          <a:noFill/>
          <a:ln w="28575" cap="flat" cmpd="sng">
            <a:solidFill>
              <a:schemeClr val="dk2"/>
            </a:solidFill>
            <a:prstDash val="solid"/>
            <a:round/>
            <a:headEnd type="none" w="med" len="med"/>
            <a:tailEnd type="none" w="med" len="med"/>
          </a:ln>
        </p:spPr>
      </p:cxnSp>
      <p:sp>
        <p:nvSpPr>
          <p:cNvPr id="1362" name="Google Shape;1362;p58"/>
          <p:cNvSpPr txBox="1"/>
          <p:nvPr/>
        </p:nvSpPr>
        <p:spPr>
          <a:xfrm>
            <a:off x="3116850" y="1613350"/>
            <a:ext cx="5227500" cy="3000000"/>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None/>
            </a:pPr>
            <a:r>
              <a:rPr lang="en" sz="2000">
                <a:solidFill>
                  <a:schemeClr val="dk1"/>
                </a:solidFill>
                <a:latin typeface="Calibri"/>
                <a:ea typeface="Calibri"/>
                <a:cs typeface="Calibri"/>
                <a:sym typeface="Calibri"/>
              </a:rPr>
              <a:t>Examples:</a:t>
            </a:r>
            <a:endParaRPr sz="2000">
              <a:solidFill>
                <a:schemeClr val="dk1"/>
              </a:solidFill>
              <a:latin typeface="Calibri"/>
              <a:ea typeface="Calibri"/>
              <a:cs typeface="Calibri"/>
              <a:sym typeface="Calibri"/>
            </a:endParaRPr>
          </a:p>
          <a:p>
            <a:pPr marL="457200" lvl="0" indent="-355600" algn="l" rtl="0">
              <a:spcBef>
                <a:spcPts val="60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Finding the longest prefix of a string: </a:t>
            </a:r>
            <a:r>
              <a:rPr lang="en" sz="2000">
                <a:solidFill>
                  <a:schemeClr val="dk1"/>
                </a:solidFill>
                <a:latin typeface="Consolas"/>
                <a:ea typeface="Consolas"/>
                <a:cs typeface="Consolas"/>
                <a:sym typeface="Consolas"/>
              </a:rPr>
              <a:t>longestPrefixOf("sample")</a:t>
            </a:r>
            <a:endParaRPr sz="2000">
              <a:solidFill>
                <a:schemeClr val="dk1"/>
              </a:solidFill>
              <a:latin typeface="Consolas"/>
              <a:ea typeface="Consolas"/>
              <a:cs typeface="Consolas"/>
              <a:sym typeface="Consolas"/>
            </a:endParaRPr>
          </a:p>
          <a:p>
            <a:pPr marL="914400" lvl="1" indent="-355600" algn="l" rtl="0">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Result: </a:t>
            </a:r>
            <a:r>
              <a:rPr lang="en" sz="2000">
                <a:solidFill>
                  <a:schemeClr val="dk1"/>
                </a:solidFill>
                <a:latin typeface="Consolas"/>
                <a:ea typeface="Consolas"/>
                <a:cs typeface="Consolas"/>
                <a:sym typeface="Consolas"/>
              </a:rPr>
              <a:t>sam</a:t>
            </a:r>
            <a:endParaRPr sz="2000">
              <a:solidFill>
                <a:schemeClr val="dk1"/>
              </a:solidFill>
              <a:latin typeface="Calibri"/>
              <a:ea typeface="Calibri"/>
              <a:cs typeface="Calibri"/>
              <a:sym typeface="Calibri"/>
            </a:endParaRPr>
          </a:p>
          <a:p>
            <a:pPr marL="457200" lvl="0" indent="-355600" algn="l" rtl="0">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Finding all keys that match a given prefix: </a:t>
            </a:r>
            <a:r>
              <a:rPr lang="en" sz="2000">
                <a:solidFill>
                  <a:schemeClr val="dk1"/>
                </a:solidFill>
                <a:latin typeface="Consolas"/>
                <a:ea typeface="Consolas"/>
                <a:cs typeface="Consolas"/>
                <a:sym typeface="Consolas"/>
              </a:rPr>
              <a:t>keysWithPrefix("sa")</a:t>
            </a:r>
            <a:endParaRPr sz="2000">
              <a:solidFill>
                <a:schemeClr val="dk1"/>
              </a:solidFill>
              <a:latin typeface="Consolas"/>
              <a:ea typeface="Consolas"/>
              <a:cs typeface="Consolas"/>
              <a:sym typeface="Consolas"/>
            </a:endParaRPr>
          </a:p>
          <a:p>
            <a:pPr marL="914400" lvl="1" indent="-355600" algn="l" rtl="0">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Result: </a:t>
            </a:r>
            <a:r>
              <a:rPr lang="en" sz="2000">
                <a:solidFill>
                  <a:schemeClr val="dk1"/>
                </a:solidFill>
                <a:latin typeface="Consolas"/>
                <a:ea typeface="Consolas"/>
                <a:cs typeface="Consolas"/>
                <a:sym typeface="Consolas"/>
              </a:rPr>
              <a:t>[sad, sam, same, sap]</a:t>
            </a:r>
            <a:endParaRPr sz="2000">
              <a:solidFill>
                <a:schemeClr val="dk1"/>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62"/>
                                        </p:tgtEl>
                                        <p:attrNameLst>
                                          <p:attrName>style.visibility</p:attrName>
                                        </p:attrNameLst>
                                      </p:cBhvr>
                                      <p:to>
                                        <p:strVal val="visible"/>
                                      </p:to>
                                    </p:set>
                                    <p:animEffect transition="in" filter="fade">
                                      <p:cBhvr>
                                        <p:cTn id="7" dur="1000"/>
                                        <p:tgtEl>
                                          <p:spTgt spid="136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62">
                                            <p:txEl>
                                              <p:pRg st="0" end="0"/>
                                            </p:txEl>
                                          </p:spTgt>
                                        </p:tgtEl>
                                        <p:attrNameLst>
                                          <p:attrName>style.visibility</p:attrName>
                                        </p:attrNameLst>
                                      </p:cBhvr>
                                      <p:to>
                                        <p:strVal val="visible"/>
                                      </p:to>
                                    </p:set>
                                    <p:animEffect transition="in" filter="fade">
                                      <p:cBhvr>
                                        <p:cTn id="12" dur="1"/>
                                        <p:tgtEl>
                                          <p:spTgt spid="136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62">
                                            <p:txEl>
                                              <p:pRg st="1" end="1"/>
                                            </p:txEl>
                                          </p:spTgt>
                                        </p:tgtEl>
                                        <p:attrNameLst>
                                          <p:attrName>style.visibility</p:attrName>
                                        </p:attrNameLst>
                                      </p:cBhvr>
                                      <p:to>
                                        <p:strVal val="visible"/>
                                      </p:to>
                                    </p:set>
                                    <p:animEffect transition="in" filter="fade">
                                      <p:cBhvr>
                                        <p:cTn id="17" dur="1"/>
                                        <p:tgtEl>
                                          <p:spTgt spid="136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62">
                                            <p:txEl>
                                              <p:pRg st="2" end="2"/>
                                            </p:txEl>
                                          </p:spTgt>
                                        </p:tgtEl>
                                        <p:attrNameLst>
                                          <p:attrName>style.visibility</p:attrName>
                                        </p:attrNameLst>
                                      </p:cBhvr>
                                      <p:to>
                                        <p:strVal val="visible"/>
                                      </p:to>
                                    </p:set>
                                    <p:animEffect transition="in" filter="fade">
                                      <p:cBhvr>
                                        <p:cTn id="22" dur="1"/>
                                        <p:tgtEl>
                                          <p:spTgt spid="136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62">
                                            <p:txEl>
                                              <p:pRg st="3" end="3"/>
                                            </p:txEl>
                                          </p:spTgt>
                                        </p:tgtEl>
                                        <p:attrNameLst>
                                          <p:attrName>style.visibility</p:attrName>
                                        </p:attrNameLst>
                                      </p:cBhvr>
                                      <p:to>
                                        <p:strVal val="visible"/>
                                      </p:to>
                                    </p:set>
                                    <p:animEffect transition="in" filter="fade">
                                      <p:cBhvr>
                                        <p:cTn id="27" dur="1"/>
                                        <p:tgtEl>
                                          <p:spTgt spid="136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62">
                                            <p:txEl>
                                              <p:pRg st="4" end="4"/>
                                            </p:txEl>
                                          </p:spTgt>
                                        </p:tgtEl>
                                        <p:attrNameLst>
                                          <p:attrName>style.visibility</p:attrName>
                                        </p:attrNameLst>
                                      </p:cBhvr>
                                      <p:to>
                                        <p:strVal val="visible"/>
                                      </p:to>
                                    </p:set>
                                    <p:animEffect transition="in" filter="fade">
                                      <p:cBhvr>
                                        <p:cTn id="32" dur="1"/>
                                        <p:tgtEl>
                                          <p:spTgt spid="136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C9DAF8"/>
        </a:solidFill>
        <a:effectLst/>
      </p:bgPr>
    </p:bg>
    <p:spTree>
      <p:nvGrpSpPr>
        <p:cNvPr id="1" name="Shape 1366"/>
        <p:cNvGrpSpPr/>
        <p:nvPr/>
      </p:nvGrpSpPr>
      <p:grpSpPr>
        <a:xfrm>
          <a:off x="0" y="0"/>
          <a:ext cx="0" cy="0"/>
          <a:chOff x="0" y="0"/>
          <a:chExt cx="0" cy="0"/>
        </a:xfrm>
      </p:grpSpPr>
      <p:cxnSp>
        <p:nvCxnSpPr>
          <p:cNvPr id="1367" name="Google Shape;1367;p59"/>
          <p:cNvCxnSpPr>
            <a:endCxn id="1368" idx="0"/>
          </p:cNvCxnSpPr>
          <p:nvPr/>
        </p:nvCxnSpPr>
        <p:spPr>
          <a:xfrm>
            <a:off x="6834250" y="3792361"/>
            <a:ext cx="0" cy="202500"/>
          </a:xfrm>
          <a:prstGeom prst="straightConnector1">
            <a:avLst/>
          </a:prstGeom>
          <a:noFill/>
          <a:ln w="28575" cap="flat" cmpd="sng">
            <a:solidFill>
              <a:schemeClr val="dk2"/>
            </a:solidFill>
            <a:prstDash val="solid"/>
            <a:round/>
            <a:headEnd type="none" w="med" len="med"/>
            <a:tailEnd type="none" w="med" len="med"/>
          </a:ln>
        </p:spPr>
      </p:cxnSp>
      <p:sp>
        <p:nvSpPr>
          <p:cNvPr id="1369" name="Google Shape;1369;p5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Challenging Warmup Exercise: Collecting Trie Keys</a:t>
            </a:r>
            <a:endParaRPr/>
          </a:p>
        </p:txBody>
      </p:sp>
      <p:sp>
        <p:nvSpPr>
          <p:cNvPr id="1370" name="Google Shape;1370;p59"/>
          <p:cNvSpPr txBox="1">
            <a:spLocks noGrp="1"/>
          </p:cNvSpPr>
          <p:nvPr>
            <p:ph type="body" idx="1"/>
          </p:nvPr>
        </p:nvSpPr>
        <p:spPr>
          <a:xfrm>
            <a:off x="319200" y="556500"/>
            <a:ext cx="8443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p:txBody>
      </p:sp>
      <p:sp>
        <p:nvSpPr>
          <p:cNvPr id="1371" name="Google Shape;1371;p59"/>
          <p:cNvSpPr txBox="1">
            <a:spLocks noGrp="1"/>
          </p:cNvSpPr>
          <p:nvPr>
            <p:ph type="body" idx="1"/>
          </p:nvPr>
        </p:nvSpPr>
        <p:spPr>
          <a:xfrm>
            <a:off x="90600" y="409750"/>
            <a:ext cx="8701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Challenging Exercise: Give an algorithm for collecting all the keys in a Trie.</a:t>
            </a:r>
            <a:endParaRPr/>
          </a:p>
          <a:p>
            <a:pPr marL="0" lvl="0" indent="0" algn="l" rtl="0">
              <a:spcBef>
                <a:spcPts val="600"/>
              </a:spcBef>
              <a:spcAft>
                <a:spcPts val="0"/>
              </a:spcAft>
              <a:buNone/>
            </a:pPr>
            <a:r>
              <a:rPr lang="en">
                <a:latin typeface="Consolas"/>
                <a:ea typeface="Consolas"/>
                <a:cs typeface="Consolas"/>
                <a:sym typeface="Consolas"/>
              </a:rPr>
              <a:t>collect()</a:t>
            </a:r>
            <a:r>
              <a:rPr lang="en"/>
              <a:t> returns </a:t>
            </a:r>
            <a:r>
              <a:rPr lang="en">
                <a:latin typeface="Consolas"/>
                <a:ea typeface="Consolas"/>
                <a:cs typeface="Consolas"/>
                <a:sym typeface="Consolas"/>
              </a:rPr>
              <a:t>["a", "awls", "sad", "sam", "same", "sap"]</a:t>
            </a:r>
            <a:endParaRPr>
              <a:latin typeface="Consolas"/>
              <a:ea typeface="Consolas"/>
              <a:cs typeface="Consolas"/>
              <a:sym typeface="Consolas"/>
            </a:endParaRPr>
          </a:p>
        </p:txBody>
      </p:sp>
      <p:sp>
        <p:nvSpPr>
          <p:cNvPr id="1372" name="Google Shape;1372;p59"/>
          <p:cNvSpPr/>
          <p:nvPr/>
        </p:nvSpPr>
        <p:spPr>
          <a:xfrm>
            <a:off x="7267830" y="21999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1373" name="Google Shape;1373;p59"/>
          <p:cNvSpPr/>
          <p:nvPr/>
        </p:nvSpPr>
        <p:spPr>
          <a:xfrm>
            <a:off x="7943375" y="280049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sp>
        <p:nvSpPr>
          <p:cNvPr id="1374" name="Google Shape;1374;p59"/>
          <p:cNvSpPr/>
          <p:nvPr/>
        </p:nvSpPr>
        <p:spPr>
          <a:xfrm>
            <a:off x="7943375" y="3435773"/>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375" name="Google Shape;1375;p59"/>
          <p:cNvSpPr/>
          <p:nvPr/>
        </p:nvSpPr>
        <p:spPr>
          <a:xfrm>
            <a:off x="79433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m</a:t>
            </a:r>
            <a:endParaRPr sz="1800">
              <a:latin typeface="Consolas"/>
              <a:ea typeface="Consolas"/>
              <a:cs typeface="Consolas"/>
              <a:sym typeface="Consolas"/>
            </a:endParaRPr>
          </a:p>
        </p:txBody>
      </p:sp>
      <p:sp>
        <p:nvSpPr>
          <p:cNvPr id="1376" name="Google Shape;1376;p59"/>
          <p:cNvSpPr/>
          <p:nvPr/>
        </p:nvSpPr>
        <p:spPr>
          <a:xfrm>
            <a:off x="73138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d</a:t>
            </a:r>
            <a:endParaRPr sz="1800">
              <a:latin typeface="Consolas"/>
              <a:ea typeface="Consolas"/>
              <a:cs typeface="Consolas"/>
              <a:sym typeface="Consolas"/>
            </a:endParaRPr>
          </a:p>
        </p:txBody>
      </p:sp>
      <p:sp>
        <p:nvSpPr>
          <p:cNvPr id="1377" name="Google Shape;1377;p59"/>
          <p:cNvSpPr/>
          <p:nvPr/>
        </p:nvSpPr>
        <p:spPr>
          <a:xfrm>
            <a:off x="85728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p</a:t>
            </a:r>
            <a:endParaRPr sz="1800">
              <a:latin typeface="Consolas"/>
              <a:ea typeface="Consolas"/>
              <a:cs typeface="Consolas"/>
              <a:sym typeface="Consolas"/>
            </a:endParaRPr>
          </a:p>
        </p:txBody>
      </p:sp>
      <p:sp>
        <p:nvSpPr>
          <p:cNvPr id="1378" name="Google Shape;1378;p59"/>
          <p:cNvSpPr/>
          <p:nvPr/>
        </p:nvSpPr>
        <p:spPr>
          <a:xfrm>
            <a:off x="7943375" y="4553927"/>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e</a:t>
            </a:r>
            <a:endParaRPr sz="1800">
              <a:latin typeface="Consolas"/>
              <a:ea typeface="Consolas"/>
              <a:cs typeface="Consolas"/>
              <a:sym typeface="Consolas"/>
            </a:endParaRPr>
          </a:p>
        </p:txBody>
      </p:sp>
      <p:sp>
        <p:nvSpPr>
          <p:cNvPr id="1379" name="Google Shape;1379;p59"/>
          <p:cNvSpPr/>
          <p:nvPr/>
        </p:nvSpPr>
        <p:spPr>
          <a:xfrm>
            <a:off x="6617800" y="2800511"/>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380" name="Google Shape;1380;p59"/>
          <p:cNvSpPr/>
          <p:nvPr/>
        </p:nvSpPr>
        <p:spPr>
          <a:xfrm>
            <a:off x="6617800" y="343578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w</a:t>
            </a:r>
            <a:endParaRPr sz="1800">
              <a:latin typeface="Consolas"/>
              <a:ea typeface="Consolas"/>
              <a:cs typeface="Consolas"/>
              <a:sym typeface="Consolas"/>
            </a:endParaRPr>
          </a:p>
        </p:txBody>
      </p:sp>
      <p:sp>
        <p:nvSpPr>
          <p:cNvPr id="1368" name="Google Shape;1368;p59"/>
          <p:cNvSpPr/>
          <p:nvPr/>
        </p:nvSpPr>
        <p:spPr>
          <a:xfrm>
            <a:off x="6617800" y="3994861"/>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l</a:t>
            </a:r>
            <a:endParaRPr sz="1800">
              <a:latin typeface="Consolas"/>
              <a:ea typeface="Consolas"/>
              <a:cs typeface="Consolas"/>
              <a:sym typeface="Consolas"/>
            </a:endParaRPr>
          </a:p>
        </p:txBody>
      </p:sp>
      <p:cxnSp>
        <p:nvCxnSpPr>
          <p:cNvPr id="1381" name="Google Shape;1381;p59"/>
          <p:cNvCxnSpPr/>
          <p:nvPr/>
        </p:nvCxnSpPr>
        <p:spPr>
          <a:xfrm>
            <a:off x="8159825" y="4351552"/>
            <a:ext cx="0" cy="0"/>
          </a:xfrm>
          <a:prstGeom prst="straightConnector1">
            <a:avLst/>
          </a:prstGeom>
          <a:noFill/>
          <a:ln w="19050" cap="flat" cmpd="sng">
            <a:solidFill>
              <a:schemeClr val="dk2"/>
            </a:solidFill>
            <a:prstDash val="solid"/>
            <a:round/>
            <a:headEnd type="none" w="med" len="med"/>
            <a:tailEnd type="none" w="med" len="med"/>
          </a:ln>
        </p:spPr>
      </p:cxnSp>
      <p:cxnSp>
        <p:nvCxnSpPr>
          <p:cNvPr id="1382" name="Google Shape;1382;p59"/>
          <p:cNvCxnSpPr>
            <a:stCxn id="1372" idx="5"/>
            <a:endCxn id="1373" idx="0"/>
          </p:cNvCxnSpPr>
          <p:nvPr/>
        </p:nvCxnSpPr>
        <p:spPr>
          <a:xfrm>
            <a:off x="7637333" y="2569478"/>
            <a:ext cx="522600" cy="231000"/>
          </a:xfrm>
          <a:prstGeom prst="straightConnector1">
            <a:avLst/>
          </a:prstGeom>
          <a:noFill/>
          <a:ln w="28575" cap="flat" cmpd="sng">
            <a:solidFill>
              <a:schemeClr val="dk2"/>
            </a:solidFill>
            <a:prstDash val="solid"/>
            <a:round/>
            <a:headEnd type="none" w="med" len="med"/>
            <a:tailEnd type="none" w="med" len="med"/>
          </a:ln>
        </p:spPr>
      </p:cxnSp>
      <p:cxnSp>
        <p:nvCxnSpPr>
          <p:cNvPr id="1383" name="Google Shape;1383;p59"/>
          <p:cNvCxnSpPr>
            <a:stCxn id="1373" idx="4"/>
            <a:endCxn id="1374" idx="0"/>
          </p:cNvCxnSpPr>
          <p:nvPr/>
        </p:nvCxnSpPr>
        <p:spPr>
          <a:xfrm>
            <a:off x="8159825" y="3233396"/>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1384" name="Google Shape;1384;p59"/>
          <p:cNvCxnSpPr>
            <a:stCxn id="1374" idx="4"/>
            <a:endCxn id="1375" idx="0"/>
          </p:cNvCxnSpPr>
          <p:nvPr/>
        </p:nvCxnSpPr>
        <p:spPr>
          <a:xfrm>
            <a:off x="8159825" y="3868673"/>
            <a:ext cx="0" cy="126300"/>
          </a:xfrm>
          <a:prstGeom prst="straightConnector1">
            <a:avLst/>
          </a:prstGeom>
          <a:noFill/>
          <a:ln w="28575" cap="flat" cmpd="sng">
            <a:solidFill>
              <a:schemeClr val="dk2"/>
            </a:solidFill>
            <a:prstDash val="solid"/>
            <a:round/>
            <a:headEnd type="none" w="med" len="med"/>
            <a:tailEnd type="none" w="med" len="med"/>
          </a:ln>
        </p:spPr>
      </p:cxnSp>
      <p:cxnSp>
        <p:nvCxnSpPr>
          <p:cNvPr id="1385" name="Google Shape;1385;p59"/>
          <p:cNvCxnSpPr>
            <a:stCxn id="1374" idx="3"/>
            <a:endCxn id="1376" idx="0"/>
          </p:cNvCxnSpPr>
          <p:nvPr/>
        </p:nvCxnSpPr>
        <p:spPr>
          <a:xfrm flipH="1">
            <a:off x="7530372" y="3805277"/>
            <a:ext cx="476400" cy="189600"/>
          </a:xfrm>
          <a:prstGeom prst="straightConnector1">
            <a:avLst/>
          </a:prstGeom>
          <a:noFill/>
          <a:ln w="28575" cap="flat" cmpd="sng">
            <a:solidFill>
              <a:schemeClr val="dk2"/>
            </a:solidFill>
            <a:prstDash val="solid"/>
            <a:round/>
            <a:headEnd type="none" w="med" len="med"/>
            <a:tailEnd type="none" w="med" len="med"/>
          </a:ln>
        </p:spPr>
      </p:cxnSp>
      <p:cxnSp>
        <p:nvCxnSpPr>
          <p:cNvPr id="1386" name="Google Shape;1386;p59"/>
          <p:cNvCxnSpPr>
            <a:stCxn id="1374" idx="5"/>
            <a:endCxn id="1377" idx="0"/>
          </p:cNvCxnSpPr>
          <p:nvPr/>
        </p:nvCxnSpPr>
        <p:spPr>
          <a:xfrm>
            <a:off x="8312878" y="3805277"/>
            <a:ext cx="476400" cy="189600"/>
          </a:xfrm>
          <a:prstGeom prst="straightConnector1">
            <a:avLst/>
          </a:prstGeom>
          <a:noFill/>
          <a:ln w="28575" cap="flat" cmpd="sng">
            <a:solidFill>
              <a:schemeClr val="dk2"/>
            </a:solidFill>
            <a:prstDash val="solid"/>
            <a:round/>
            <a:headEnd type="none" w="med" len="med"/>
            <a:tailEnd type="none" w="med" len="med"/>
          </a:ln>
        </p:spPr>
      </p:cxnSp>
      <p:cxnSp>
        <p:nvCxnSpPr>
          <p:cNvPr id="1387" name="Google Shape;1387;p59"/>
          <p:cNvCxnSpPr>
            <a:stCxn id="1375" idx="4"/>
            <a:endCxn id="1378" idx="0"/>
          </p:cNvCxnSpPr>
          <p:nvPr/>
        </p:nvCxnSpPr>
        <p:spPr>
          <a:xfrm>
            <a:off x="8159825" y="4427752"/>
            <a:ext cx="0" cy="126300"/>
          </a:xfrm>
          <a:prstGeom prst="straightConnector1">
            <a:avLst/>
          </a:prstGeom>
          <a:noFill/>
          <a:ln w="28575" cap="flat" cmpd="sng">
            <a:solidFill>
              <a:schemeClr val="dk2"/>
            </a:solidFill>
            <a:prstDash val="solid"/>
            <a:round/>
            <a:headEnd type="none" w="med" len="med"/>
            <a:tailEnd type="none" w="med" len="med"/>
          </a:ln>
        </p:spPr>
      </p:cxnSp>
      <p:cxnSp>
        <p:nvCxnSpPr>
          <p:cNvPr id="1388" name="Google Shape;1388;p59"/>
          <p:cNvCxnSpPr>
            <a:stCxn id="1372" idx="3"/>
            <a:endCxn id="1379" idx="0"/>
          </p:cNvCxnSpPr>
          <p:nvPr/>
        </p:nvCxnSpPr>
        <p:spPr>
          <a:xfrm flipH="1">
            <a:off x="6834126" y="2569478"/>
            <a:ext cx="497100" cy="231000"/>
          </a:xfrm>
          <a:prstGeom prst="straightConnector1">
            <a:avLst/>
          </a:prstGeom>
          <a:noFill/>
          <a:ln w="28575" cap="flat" cmpd="sng">
            <a:solidFill>
              <a:schemeClr val="dk2"/>
            </a:solidFill>
            <a:prstDash val="solid"/>
            <a:round/>
            <a:headEnd type="none" w="med" len="med"/>
            <a:tailEnd type="none" w="med" len="med"/>
          </a:ln>
        </p:spPr>
      </p:cxnSp>
      <p:cxnSp>
        <p:nvCxnSpPr>
          <p:cNvPr id="1389" name="Google Shape;1389;p59"/>
          <p:cNvCxnSpPr>
            <a:endCxn id="1380" idx="0"/>
          </p:cNvCxnSpPr>
          <p:nvPr/>
        </p:nvCxnSpPr>
        <p:spPr>
          <a:xfrm>
            <a:off x="6834250" y="3233286"/>
            <a:ext cx="0" cy="202500"/>
          </a:xfrm>
          <a:prstGeom prst="straightConnector1">
            <a:avLst/>
          </a:prstGeom>
          <a:noFill/>
          <a:ln w="28575" cap="flat" cmpd="sng">
            <a:solidFill>
              <a:schemeClr val="dk2"/>
            </a:solidFill>
            <a:prstDash val="solid"/>
            <a:round/>
            <a:headEnd type="none" w="med" len="med"/>
            <a:tailEnd type="none" w="med" len="med"/>
          </a:ln>
        </p:spPr>
      </p:cxnSp>
      <p:sp>
        <p:nvSpPr>
          <p:cNvPr id="1390" name="Google Shape;1390;p59"/>
          <p:cNvSpPr/>
          <p:nvPr/>
        </p:nvSpPr>
        <p:spPr>
          <a:xfrm>
            <a:off x="6617800" y="4553936"/>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cxnSp>
        <p:nvCxnSpPr>
          <p:cNvPr id="1391" name="Google Shape;1391;p59"/>
          <p:cNvCxnSpPr>
            <a:stCxn id="1368" idx="4"/>
            <a:endCxn id="1390" idx="0"/>
          </p:cNvCxnSpPr>
          <p:nvPr/>
        </p:nvCxnSpPr>
        <p:spPr>
          <a:xfrm>
            <a:off x="6834250" y="4427761"/>
            <a:ext cx="0" cy="126300"/>
          </a:xfrm>
          <a:prstGeom prst="straightConnector1">
            <a:avLst/>
          </a:prstGeom>
          <a:noFill/>
          <a:ln w="28575" cap="flat" cmpd="sng">
            <a:solidFill>
              <a:schemeClr val="dk2"/>
            </a:solidFill>
            <a:prstDash val="solid"/>
            <a:round/>
            <a:headEnd type="none" w="med" len="med"/>
            <a:tailEnd type="none" w="med" len="med"/>
          </a:ln>
        </p:spPr>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C9DAF8"/>
        </a:solidFill>
        <a:effectLst/>
      </p:bgPr>
    </p:bg>
    <p:spTree>
      <p:nvGrpSpPr>
        <p:cNvPr id="1" name="Shape 1395"/>
        <p:cNvGrpSpPr/>
        <p:nvPr/>
      </p:nvGrpSpPr>
      <p:grpSpPr>
        <a:xfrm>
          <a:off x="0" y="0"/>
          <a:ext cx="0" cy="0"/>
          <a:chOff x="0" y="0"/>
          <a:chExt cx="0" cy="0"/>
        </a:xfrm>
      </p:grpSpPr>
      <p:cxnSp>
        <p:nvCxnSpPr>
          <p:cNvPr id="1396" name="Google Shape;1396;p60"/>
          <p:cNvCxnSpPr>
            <a:endCxn id="1397" idx="0"/>
          </p:cNvCxnSpPr>
          <p:nvPr/>
        </p:nvCxnSpPr>
        <p:spPr>
          <a:xfrm>
            <a:off x="6834250" y="3792361"/>
            <a:ext cx="0" cy="202500"/>
          </a:xfrm>
          <a:prstGeom prst="straightConnector1">
            <a:avLst/>
          </a:prstGeom>
          <a:noFill/>
          <a:ln w="28575" cap="flat" cmpd="sng">
            <a:solidFill>
              <a:schemeClr val="dk2"/>
            </a:solidFill>
            <a:prstDash val="solid"/>
            <a:round/>
            <a:headEnd type="none" w="med" len="med"/>
            <a:tailEnd type="none" w="med" len="med"/>
          </a:ln>
        </p:spPr>
      </p:cxnSp>
      <p:sp>
        <p:nvSpPr>
          <p:cNvPr id="1398" name="Google Shape;1398;p6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Challenging Warmup Exercise: Collecting Trie Keys</a:t>
            </a:r>
            <a:endParaRPr/>
          </a:p>
        </p:txBody>
      </p:sp>
      <p:sp>
        <p:nvSpPr>
          <p:cNvPr id="1399" name="Google Shape;1399;p60"/>
          <p:cNvSpPr txBox="1">
            <a:spLocks noGrp="1"/>
          </p:cNvSpPr>
          <p:nvPr>
            <p:ph type="body" idx="1"/>
          </p:nvPr>
        </p:nvSpPr>
        <p:spPr>
          <a:xfrm>
            <a:off x="319200" y="556500"/>
            <a:ext cx="8443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p:txBody>
      </p:sp>
      <p:sp>
        <p:nvSpPr>
          <p:cNvPr id="1400" name="Google Shape;1400;p60"/>
          <p:cNvSpPr txBox="1">
            <a:spLocks noGrp="1"/>
          </p:cNvSpPr>
          <p:nvPr>
            <p:ph type="body" idx="1"/>
          </p:nvPr>
        </p:nvSpPr>
        <p:spPr>
          <a:xfrm>
            <a:off x="90600" y="409750"/>
            <a:ext cx="8701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Challenging Exercise: Give an algorithm for collecting all the keys in a Trie.</a:t>
            </a:r>
            <a:endParaRPr/>
          </a:p>
          <a:p>
            <a:pPr marL="0" lvl="0" indent="0" algn="l" rtl="0">
              <a:spcBef>
                <a:spcPts val="600"/>
              </a:spcBef>
              <a:spcAft>
                <a:spcPts val="0"/>
              </a:spcAft>
              <a:buClr>
                <a:schemeClr val="dk1"/>
              </a:buClr>
              <a:buSzPts val="1100"/>
              <a:buFont typeface="Arial"/>
              <a:buNone/>
            </a:pPr>
            <a:r>
              <a:rPr lang="en">
                <a:latin typeface="Consolas"/>
                <a:ea typeface="Consolas"/>
                <a:cs typeface="Consolas"/>
                <a:sym typeface="Consolas"/>
              </a:rPr>
              <a:t>collect()</a:t>
            </a:r>
            <a:r>
              <a:rPr lang="en"/>
              <a:t> returns </a:t>
            </a:r>
            <a:r>
              <a:rPr lang="en">
                <a:latin typeface="Consolas"/>
                <a:ea typeface="Consolas"/>
                <a:cs typeface="Consolas"/>
                <a:sym typeface="Consolas"/>
              </a:rPr>
              <a:t>["a", "awls", "sad", "sam", "same", "sap"]</a:t>
            </a:r>
            <a:endParaRPr>
              <a:latin typeface="Consolas"/>
              <a:ea typeface="Consolas"/>
              <a:cs typeface="Consolas"/>
              <a:sym typeface="Consolas"/>
            </a:endParaRPr>
          </a:p>
          <a:p>
            <a:pPr marL="0" lvl="0" indent="0" algn="l" rtl="0">
              <a:spcBef>
                <a:spcPts val="600"/>
              </a:spcBef>
              <a:spcAft>
                <a:spcPts val="0"/>
              </a:spcAft>
              <a:buNone/>
            </a:pPr>
            <a:endParaRPr sz="1200">
              <a:latin typeface="Consolas"/>
              <a:ea typeface="Consolas"/>
              <a:cs typeface="Consolas"/>
              <a:sym typeface="Consolas"/>
            </a:endParaRPr>
          </a:p>
          <a:p>
            <a:pPr marL="0" lvl="0" indent="0" algn="l" rtl="0">
              <a:spcBef>
                <a:spcPts val="600"/>
              </a:spcBef>
              <a:spcAft>
                <a:spcPts val="0"/>
              </a:spcAft>
              <a:buNone/>
            </a:pPr>
            <a:r>
              <a:rPr lang="en">
                <a:latin typeface="Consolas"/>
                <a:ea typeface="Consolas"/>
                <a:cs typeface="Consolas"/>
                <a:sym typeface="Consolas"/>
              </a:rPr>
              <a:t>collect():</a:t>
            </a:r>
            <a:endParaRPr>
              <a:latin typeface="Consolas"/>
              <a:ea typeface="Consolas"/>
              <a:cs typeface="Consolas"/>
              <a:sym typeface="Consolas"/>
            </a:endParaRPr>
          </a:p>
          <a:p>
            <a:pPr marL="457200" lvl="0" indent="-342900" algn="l" rtl="0">
              <a:spcBef>
                <a:spcPts val="600"/>
              </a:spcBef>
              <a:spcAft>
                <a:spcPts val="0"/>
              </a:spcAft>
              <a:buSzPts val="1800"/>
              <a:buChar char="●"/>
            </a:pPr>
            <a:r>
              <a:rPr lang="en"/>
              <a:t>Create an empty list of results </a:t>
            </a:r>
            <a:r>
              <a:rPr lang="en">
                <a:latin typeface="Consolas"/>
                <a:ea typeface="Consolas"/>
                <a:cs typeface="Consolas"/>
                <a:sym typeface="Consolas"/>
              </a:rPr>
              <a:t>x</a:t>
            </a:r>
            <a:r>
              <a:rPr lang="en"/>
              <a:t>.</a:t>
            </a:r>
            <a:endParaRPr/>
          </a:p>
          <a:p>
            <a:pPr marL="457200" lvl="0" indent="-342900" algn="l" rtl="0">
              <a:spcBef>
                <a:spcPts val="600"/>
              </a:spcBef>
              <a:spcAft>
                <a:spcPts val="0"/>
              </a:spcAft>
              <a:buSzPts val="1800"/>
              <a:buChar char="●"/>
            </a:pPr>
            <a:r>
              <a:rPr lang="en"/>
              <a:t>For character </a:t>
            </a:r>
            <a:r>
              <a:rPr lang="en">
                <a:latin typeface="Consolas"/>
                <a:ea typeface="Consolas"/>
                <a:cs typeface="Consolas"/>
                <a:sym typeface="Consolas"/>
              </a:rPr>
              <a:t>c</a:t>
            </a:r>
            <a:r>
              <a:rPr lang="en"/>
              <a:t> in </a:t>
            </a:r>
            <a:r>
              <a:rPr lang="en">
                <a:latin typeface="Consolas"/>
                <a:ea typeface="Consolas"/>
                <a:cs typeface="Consolas"/>
                <a:sym typeface="Consolas"/>
              </a:rPr>
              <a:t>root.next.keys()</a:t>
            </a:r>
            <a:r>
              <a:rPr lang="en"/>
              <a:t>:</a:t>
            </a:r>
            <a:endParaRPr/>
          </a:p>
          <a:p>
            <a:pPr marL="914400" lvl="1" indent="-342900" algn="l" rtl="0">
              <a:spcBef>
                <a:spcPts val="600"/>
              </a:spcBef>
              <a:spcAft>
                <a:spcPts val="0"/>
              </a:spcAft>
              <a:buSzPts val="1800"/>
              <a:buChar char="○"/>
            </a:pPr>
            <a:r>
              <a:rPr lang="en"/>
              <a:t>Call </a:t>
            </a:r>
            <a:r>
              <a:rPr lang="en">
                <a:latin typeface="Consolas"/>
                <a:ea typeface="Consolas"/>
                <a:cs typeface="Consolas"/>
                <a:sym typeface="Consolas"/>
              </a:rPr>
              <a:t>colHelp(c, x, root.next.get(c))</a:t>
            </a:r>
            <a:r>
              <a:rPr lang="en"/>
              <a:t>.</a:t>
            </a:r>
            <a:endParaRPr/>
          </a:p>
          <a:p>
            <a:pPr marL="457200" lvl="0" indent="-342900" algn="l" rtl="0">
              <a:spcBef>
                <a:spcPts val="600"/>
              </a:spcBef>
              <a:spcAft>
                <a:spcPts val="0"/>
              </a:spcAft>
              <a:buSzPts val="1800"/>
              <a:buChar char="●"/>
            </a:pPr>
            <a:r>
              <a:rPr lang="en"/>
              <a:t>Return </a:t>
            </a:r>
            <a:r>
              <a:rPr lang="en">
                <a:latin typeface="Consolas"/>
                <a:ea typeface="Consolas"/>
                <a:cs typeface="Consolas"/>
                <a:sym typeface="Consolas"/>
              </a:rPr>
              <a:t>x</a:t>
            </a:r>
            <a:r>
              <a:rPr lang="en"/>
              <a:t>.</a:t>
            </a:r>
            <a:endParaRPr/>
          </a:p>
          <a:p>
            <a:pPr marL="0" lvl="0" indent="0" algn="l" rtl="0">
              <a:spcBef>
                <a:spcPts val="600"/>
              </a:spcBef>
              <a:spcAft>
                <a:spcPts val="0"/>
              </a:spcAft>
              <a:buNone/>
            </a:pPr>
            <a:endParaRPr sz="1200"/>
          </a:p>
          <a:p>
            <a:pPr marL="0" lvl="0" indent="0" algn="l" rtl="0">
              <a:spcBef>
                <a:spcPts val="600"/>
              </a:spcBef>
              <a:spcAft>
                <a:spcPts val="0"/>
              </a:spcAft>
              <a:buNone/>
            </a:pPr>
            <a:r>
              <a:rPr lang="en">
                <a:latin typeface="Consolas"/>
                <a:ea typeface="Consolas"/>
                <a:cs typeface="Consolas"/>
                <a:sym typeface="Consolas"/>
              </a:rPr>
              <a:t>colHelp(String s, List&lt;String&gt; x, Node n)</a:t>
            </a:r>
            <a:r>
              <a:rPr lang="en"/>
              <a:t>:</a:t>
            </a:r>
            <a:endParaRPr/>
          </a:p>
        </p:txBody>
      </p:sp>
      <p:sp>
        <p:nvSpPr>
          <p:cNvPr id="1401" name="Google Shape;1401;p60"/>
          <p:cNvSpPr/>
          <p:nvPr/>
        </p:nvSpPr>
        <p:spPr>
          <a:xfrm>
            <a:off x="7267830" y="21999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1402" name="Google Shape;1402;p60"/>
          <p:cNvSpPr/>
          <p:nvPr/>
        </p:nvSpPr>
        <p:spPr>
          <a:xfrm>
            <a:off x="7943375" y="280049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sp>
        <p:nvSpPr>
          <p:cNvPr id="1403" name="Google Shape;1403;p60"/>
          <p:cNvSpPr/>
          <p:nvPr/>
        </p:nvSpPr>
        <p:spPr>
          <a:xfrm>
            <a:off x="7943375" y="3435773"/>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404" name="Google Shape;1404;p60"/>
          <p:cNvSpPr/>
          <p:nvPr/>
        </p:nvSpPr>
        <p:spPr>
          <a:xfrm>
            <a:off x="79433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m</a:t>
            </a:r>
            <a:endParaRPr sz="1800">
              <a:latin typeface="Consolas"/>
              <a:ea typeface="Consolas"/>
              <a:cs typeface="Consolas"/>
              <a:sym typeface="Consolas"/>
            </a:endParaRPr>
          </a:p>
        </p:txBody>
      </p:sp>
      <p:sp>
        <p:nvSpPr>
          <p:cNvPr id="1405" name="Google Shape;1405;p60"/>
          <p:cNvSpPr/>
          <p:nvPr/>
        </p:nvSpPr>
        <p:spPr>
          <a:xfrm>
            <a:off x="73138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d</a:t>
            </a:r>
            <a:endParaRPr sz="1800">
              <a:latin typeface="Consolas"/>
              <a:ea typeface="Consolas"/>
              <a:cs typeface="Consolas"/>
              <a:sym typeface="Consolas"/>
            </a:endParaRPr>
          </a:p>
        </p:txBody>
      </p:sp>
      <p:sp>
        <p:nvSpPr>
          <p:cNvPr id="1406" name="Google Shape;1406;p60"/>
          <p:cNvSpPr/>
          <p:nvPr/>
        </p:nvSpPr>
        <p:spPr>
          <a:xfrm>
            <a:off x="85728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p</a:t>
            </a:r>
            <a:endParaRPr sz="1800">
              <a:latin typeface="Consolas"/>
              <a:ea typeface="Consolas"/>
              <a:cs typeface="Consolas"/>
              <a:sym typeface="Consolas"/>
            </a:endParaRPr>
          </a:p>
        </p:txBody>
      </p:sp>
      <p:sp>
        <p:nvSpPr>
          <p:cNvPr id="1407" name="Google Shape;1407;p60"/>
          <p:cNvSpPr/>
          <p:nvPr/>
        </p:nvSpPr>
        <p:spPr>
          <a:xfrm>
            <a:off x="7943375" y="4553927"/>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e</a:t>
            </a:r>
            <a:endParaRPr sz="1800">
              <a:latin typeface="Consolas"/>
              <a:ea typeface="Consolas"/>
              <a:cs typeface="Consolas"/>
              <a:sym typeface="Consolas"/>
            </a:endParaRPr>
          </a:p>
        </p:txBody>
      </p:sp>
      <p:sp>
        <p:nvSpPr>
          <p:cNvPr id="1408" name="Google Shape;1408;p60"/>
          <p:cNvSpPr/>
          <p:nvPr/>
        </p:nvSpPr>
        <p:spPr>
          <a:xfrm>
            <a:off x="6617800" y="2800511"/>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409" name="Google Shape;1409;p60"/>
          <p:cNvSpPr/>
          <p:nvPr/>
        </p:nvSpPr>
        <p:spPr>
          <a:xfrm>
            <a:off x="6617800" y="343578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w</a:t>
            </a:r>
            <a:endParaRPr sz="1800">
              <a:latin typeface="Consolas"/>
              <a:ea typeface="Consolas"/>
              <a:cs typeface="Consolas"/>
              <a:sym typeface="Consolas"/>
            </a:endParaRPr>
          </a:p>
        </p:txBody>
      </p:sp>
      <p:sp>
        <p:nvSpPr>
          <p:cNvPr id="1397" name="Google Shape;1397;p60"/>
          <p:cNvSpPr/>
          <p:nvPr/>
        </p:nvSpPr>
        <p:spPr>
          <a:xfrm>
            <a:off x="6617800" y="3994861"/>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l</a:t>
            </a:r>
            <a:endParaRPr sz="1800">
              <a:latin typeface="Consolas"/>
              <a:ea typeface="Consolas"/>
              <a:cs typeface="Consolas"/>
              <a:sym typeface="Consolas"/>
            </a:endParaRPr>
          </a:p>
        </p:txBody>
      </p:sp>
      <p:cxnSp>
        <p:nvCxnSpPr>
          <p:cNvPr id="1410" name="Google Shape;1410;p60"/>
          <p:cNvCxnSpPr/>
          <p:nvPr/>
        </p:nvCxnSpPr>
        <p:spPr>
          <a:xfrm>
            <a:off x="8159825" y="4351552"/>
            <a:ext cx="0" cy="0"/>
          </a:xfrm>
          <a:prstGeom prst="straightConnector1">
            <a:avLst/>
          </a:prstGeom>
          <a:noFill/>
          <a:ln w="19050" cap="flat" cmpd="sng">
            <a:solidFill>
              <a:schemeClr val="dk2"/>
            </a:solidFill>
            <a:prstDash val="solid"/>
            <a:round/>
            <a:headEnd type="none" w="med" len="med"/>
            <a:tailEnd type="none" w="med" len="med"/>
          </a:ln>
        </p:spPr>
      </p:cxnSp>
      <p:cxnSp>
        <p:nvCxnSpPr>
          <p:cNvPr id="1411" name="Google Shape;1411;p60"/>
          <p:cNvCxnSpPr>
            <a:stCxn id="1401" idx="5"/>
            <a:endCxn id="1402" idx="0"/>
          </p:cNvCxnSpPr>
          <p:nvPr/>
        </p:nvCxnSpPr>
        <p:spPr>
          <a:xfrm>
            <a:off x="7637333" y="2569478"/>
            <a:ext cx="522600" cy="231000"/>
          </a:xfrm>
          <a:prstGeom prst="straightConnector1">
            <a:avLst/>
          </a:prstGeom>
          <a:noFill/>
          <a:ln w="28575" cap="flat" cmpd="sng">
            <a:solidFill>
              <a:schemeClr val="dk2"/>
            </a:solidFill>
            <a:prstDash val="solid"/>
            <a:round/>
            <a:headEnd type="none" w="med" len="med"/>
            <a:tailEnd type="none" w="med" len="med"/>
          </a:ln>
        </p:spPr>
      </p:cxnSp>
      <p:cxnSp>
        <p:nvCxnSpPr>
          <p:cNvPr id="1412" name="Google Shape;1412;p60"/>
          <p:cNvCxnSpPr>
            <a:stCxn id="1402" idx="4"/>
            <a:endCxn id="1403" idx="0"/>
          </p:cNvCxnSpPr>
          <p:nvPr/>
        </p:nvCxnSpPr>
        <p:spPr>
          <a:xfrm>
            <a:off x="8159825" y="3233396"/>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1413" name="Google Shape;1413;p60"/>
          <p:cNvCxnSpPr>
            <a:stCxn id="1403" idx="4"/>
            <a:endCxn id="1404" idx="0"/>
          </p:cNvCxnSpPr>
          <p:nvPr/>
        </p:nvCxnSpPr>
        <p:spPr>
          <a:xfrm>
            <a:off x="8159825" y="3868673"/>
            <a:ext cx="0" cy="126300"/>
          </a:xfrm>
          <a:prstGeom prst="straightConnector1">
            <a:avLst/>
          </a:prstGeom>
          <a:noFill/>
          <a:ln w="28575" cap="flat" cmpd="sng">
            <a:solidFill>
              <a:schemeClr val="dk2"/>
            </a:solidFill>
            <a:prstDash val="solid"/>
            <a:round/>
            <a:headEnd type="none" w="med" len="med"/>
            <a:tailEnd type="none" w="med" len="med"/>
          </a:ln>
        </p:spPr>
      </p:cxnSp>
      <p:cxnSp>
        <p:nvCxnSpPr>
          <p:cNvPr id="1414" name="Google Shape;1414;p60"/>
          <p:cNvCxnSpPr>
            <a:stCxn id="1403" idx="3"/>
            <a:endCxn id="1405" idx="0"/>
          </p:cNvCxnSpPr>
          <p:nvPr/>
        </p:nvCxnSpPr>
        <p:spPr>
          <a:xfrm flipH="1">
            <a:off x="7530372" y="3805277"/>
            <a:ext cx="476400" cy="189600"/>
          </a:xfrm>
          <a:prstGeom prst="straightConnector1">
            <a:avLst/>
          </a:prstGeom>
          <a:noFill/>
          <a:ln w="28575" cap="flat" cmpd="sng">
            <a:solidFill>
              <a:schemeClr val="dk2"/>
            </a:solidFill>
            <a:prstDash val="solid"/>
            <a:round/>
            <a:headEnd type="none" w="med" len="med"/>
            <a:tailEnd type="none" w="med" len="med"/>
          </a:ln>
        </p:spPr>
      </p:cxnSp>
      <p:cxnSp>
        <p:nvCxnSpPr>
          <p:cNvPr id="1415" name="Google Shape;1415;p60"/>
          <p:cNvCxnSpPr>
            <a:stCxn id="1403" idx="5"/>
            <a:endCxn id="1406" idx="0"/>
          </p:cNvCxnSpPr>
          <p:nvPr/>
        </p:nvCxnSpPr>
        <p:spPr>
          <a:xfrm>
            <a:off x="8312878" y="3805277"/>
            <a:ext cx="476400" cy="189600"/>
          </a:xfrm>
          <a:prstGeom prst="straightConnector1">
            <a:avLst/>
          </a:prstGeom>
          <a:noFill/>
          <a:ln w="28575" cap="flat" cmpd="sng">
            <a:solidFill>
              <a:schemeClr val="dk2"/>
            </a:solidFill>
            <a:prstDash val="solid"/>
            <a:round/>
            <a:headEnd type="none" w="med" len="med"/>
            <a:tailEnd type="none" w="med" len="med"/>
          </a:ln>
        </p:spPr>
      </p:cxnSp>
      <p:cxnSp>
        <p:nvCxnSpPr>
          <p:cNvPr id="1416" name="Google Shape;1416;p60"/>
          <p:cNvCxnSpPr>
            <a:stCxn id="1404" idx="4"/>
            <a:endCxn id="1407" idx="0"/>
          </p:cNvCxnSpPr>
          <p:nvPr/>
        </p:nvCxnSpPr>
        <p:spPr>
          <a:xfrm>
            <a:off x="8159825" y="4427752"/>
            <a:ext cx="0" cy="126300"/>
          </a:xfrm>
          <a:prstGeom prst="straightConnector1">
            <a:avLst/>
          </a:prstGeom>
          <a:noFill/>
          <a:ln w="28575" cap="flat" cmpd="sng">
            <a:solidFill>
              <a:schemeClr val="dk2"/>
            </a:solidFill>
            <a:prstDash val="solid"/>
            <a:round/>
            <a:headEnd type="none" w="med" len="med"/>
            <a:tailEnd type="none" w="med" len="med"/>
          </a:ln>
        </p:spPr>
      </p:cxnSp>
      <p:cxnSp>
        <p:nvCxnSpPr>
          <p:cNvPr id="1417" name="Google Shape;1417;p60"/>
          <p:cNvCxnSpPr>
            <a:stCxn id="1401" idx="3"/>
            <a:endCxn id="1408" idx="0"/>
          </p:cNvCxnSpPr>
          <p:nvPr/>
        </p:nvCxnSpPr>
        <p:spPr>
          <a:xfrm flipH="1">
            <a:off x="6834126" y="2569478"/>
            <a:ext cx="497100" cy="231000"/>
          </a:xfrm>
          <a:prstGeom prst="straightConnector1">
            <a:avLst/>
          </a:prstGeom>
          <a:noFill/>
          <a:ln w="28575" cap="flat" cmpd="sng">
            <a:solidFill>
              <a:schemeClr val="dk2"/>
            </a:solidFill>
            <a:prstDash val="solid"/>
            <a:round/>
            <a:headEnd type="none" w="med" len="med"/>
            <a:tailEnd type="none" w="med" len="med"/>
          </a:ln>
        </p:spPr>
      </p:cxnSp>
      <p:cxnSp>
        <p:nvCxnSpPr>
          <p:cNvPr id="1418" name="Google Shape;1418;p60"/>
          <p:cNvCxnSpPr>
            <a:endCxn id="1409" idx="0"/>
          </p:cNvCxnSpPr>
          <p:nvPr/>
        </p:nvCxnSpPr>
        <p:spPr>
          <a:xfrm>
            <a:off x="6834250" y="3233286"/>
            <a:ext cx="0" cy="202500"/>
          </a:xfrm>
          <a:prstGeom prst="straightConnector1">
            <a:avLst/>
          </a:prstGeom>
          <a:noFill/>
          <a:ln w="28575" cap="flat" cmpd="sng">
            <a:solidFill>
              <a:schemeClr val="dk2"/>
            </a:solidFill>
            <a:prstDash val="solid"/>
            <a:round/>
            <a:headEnd type="none" w="med" len="med"/>
            <a:tailEnd type="none" w="med" len="med"/>
          </a:ln>
        </p:spPr>
      </p:cxnSp>
      <p:sp>
        <p:nvSpPr>
          <p:cNvPr id="1419" name="Google Shape;1419;p60"/>
          <p:cNvSpPr/>
          <p:nvPr/>
        </p:nvSpPr>
        <p:spPr>
          <a:xfrm>
            <a:off x="6617800" y="4553936"/>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cxnSp>
        <p:nvCxnSpPr>
          <p:cNvPr id="1420" name="Google Shape;1420;p60"/>
          <p:cNvCxnSpPr>
            <a:stCxn id="1397" idx="4"/>
            <a:endCxn id="1419" idx="0"/>
          </p:cNvCxnSpPr>
          <p:nvPr/>
        </p:nvCxnSpPr>
        <p:spPr>
          <a:xfrm>
            <a:off x="6834250" y="4427761"/>
            <a:ext cx="0" cy="126300"/>
          </a:xfrm>
          <a:prstGeom prst="straightConnector1">
            <a:avLst/>
          </a:prstGeom>
          <a:noFill/>
          <a:ln w="28575" cap="flat" cmpd="sng">
            <a:solidFill>
              <a:schemeClr val="dk2"/>
            </a:solidFill>
            <a:prstDash val="solid"/>
            <a:round/>
            <a:headEnd type="none" w="med" len="med"/>
            <a:tailEnd type="none" w="med" len="med"/>
          </a:ln>
        </p:spPr>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24"/>
        <p:cNvGrpSpPr/>
        <p:nvPr/>
      </p:nvGrpSpPr>
      <p:grpSpPr>
        <a:xfrm>
          <a:off x="0" y="0"/>
          <a:ext cx="0" cy="0"/>
          <a:chOff x="0" y="0"/>
          <a:chExt cx="0" cy="0"/>
        </a:xfrm>
      </p:grpSpPr>
      <p:cxnSp>
        <p:nvCxnSpPr>
          <p:cNvPr id="1425" name="Google Shape;1425;p61"/>
          <p:cNvCxnSpPr>
            <a:endCxn id="1426" idx="0"/>
          </p:cNvCxnSpPr>
          <p:nvPr/>
        </p:nvCxnSpPr>
        <p:spPr>
          <a:xfrm>
            <a:off x="6834250" y="3792361"/>
            <a:ext cx="0" cy="202500"/>
          </a:xfrm>
          <a:prstGeom prst="straightConnector1">
            <a:avLst/>
          </a:prstGeom>
          <a:noFill/>
          <a:ln w="28575" cap="flat" cmpd="sng">
            <a:solidFill>
              <a:schemeClr val="dk2"/>
            </a:solidFill>
            <a:prstDash val="solid"/>
            <a:round/>
            <a:headEnd type="none" w="med" len="med"/>
            <a:tailEnd type="none" w="med" len="med"/>
          </a:ln>
        </p:spPr>
      </p:cxnSp>
      <p:sp>
        <p:nvSpPr>
          <p:cNvPr id="1427" name="Google Shape;1427;p6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Challenging Warmup Exercise: Collecting Trie Keys</a:t>
            </a:r>
            <a:endParaRPr/>
          </a:p>
        </p:txBody>
      </p:sp>
      <p:sp>
        <p:nvSpPr>
          <p:cNvPr id="1428" name="Google Shape;1428;p61"/>
          <p:cNvSpPr txBox="1">
            <a:spLocks noGrp="1"/>
          </p:cNvSpPr>
          <p:nvPr>
            <p:ph type="body" idx="1"/>
          </p:nvPr>
        </p:nvSpPr>
        <p:spPr>
          <a:xfrm>
            <a:off x="319200" y="556500"/>
            <a:ext cx="8443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p:txBody>
      </p:sp>
      <p:sp>
        <p:nvSpPr>
          <p:cNvPr id="1429" name="Google Shape;1429;p61"/>
          <p:cNvSpPr txBox="1">
            <a:spLocks noGrp="1"/>
          </p:cNvSpPr>
          <p:nvPr>
            <p:ph type="body" idx="1"/>
          </p:nvPr>
        </p:nvSpPr>
        <p:spPr>
          <a:xfrm>
            <a:off x="90600" y="409750"/>
            <a:ext cx="8701800" cy="4339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a:t>Challenging Exercise: Give an algorithm for collecting all the keys in a Trie.</a:t>
            </a:r>
            <a:endParaRPr/>
          </a:p>
          <a:p>
            <a:pPr marL="0" lvl="0" indent="0" algn="l" rtl="0">
              <a:spcBef>
                <a:spcPts val="600"/>
              </a:spcBef>
              <a:spcAft>
                <a:spcPts val="0"/>
              </a:spcAft>
              <a:buClr>
                <a:schemeClr val="dk1"/>
              </a:buClr>
              <a:buSzPts val="1100"/>
              <a:buFont typeface="Arial"/>
              <a:buNone/>
            </a:pPr>
            <a:r>
              <a:rPr lang="en">
                <a:latin typeface="Consolas"/>
                <a:ea typeface="Consolas"/>
                <a:cs typeface="Consolas"/>
                <a:sym typeface="Consolas"/>
              </a:rPr>
              <a:t>collect()</a:t>
            </a:r>
            <a:r>
              <a:rPr lang="en"/>
              <a:t> returns </a:t>
            </a:r>
            <a:r>
              <a:rPr lang="en">
                <a:latin typeface="Consolas"/>
                <a:ea typeface="Consolas"/>
                <a:cs typeface="Consolas"/>
                <a:sym typeface="Consolas"/>
              </a:rPr>
              <a:t>["a", "awls", "sad", "sam", "same", "sap"]</a:t>
            </a:r>
            <a:endParaRPr>
              <a:latin typeface="Consolas"/>
              <a:ea typeface="Consolas"/>
              <a:cs typeface="Consolas"/>
              <a:sym typeface="Consolas"/>
            </a:endParaRPr>
          </a:p>
          <a:p>
            <a:pPr marL="0" lvl="0" indent="0" algn="l" rtl="0">
              <a:spcBef>
                <a:spcPts val="600"/>
              </a:spcBef>
              <a:spcAft>
                <a:spcPts val="0"/>
              </a:spcAft>
              <a:buClr>
                <a:schemeClr val="dk1"/>
              </a:buClr>
              <a:buSzPts val="1100"/>
              <a:buFont typeface="Arial"/>
              <a:buNone/>
            </a:pPr>
            <a:endParaRPr sz="1200">
              <a:latin typeface="Consolas"/>
              <a:ea typeface="Consolas"/>
              <a:cs typeface="Consolas"/>
              <a:sym typeface="Consolas"/>
            </a:endParaRPr>
          </a:p>
          <a:p>
            <a:pPr marL="0" lvl="0" indent="0" algn="l" rtl="0">
              <a:spcBef>
                <a:spcPts val="600"/>
              </a:spcBef>
              <a:spcAft>
                <a:spcPts val="0"/>
              </a:spcAft>
              <a:buClr>
                <a:schemeClr val="dk1"/>
              </a:buClr>
              <a:buSzPts val="1100"/>
              <a:buFont typeface="Arial"/>
              <a:buNone/>
            </a:pPr>
            <a:r>
              <a:rPr lang="en">
                <a:latin typeface="Consolas"/>
                <a:ea typeface="Consolas"/>
                <a:cs typeface="Consolas"/>
                <a:sym typeface="Consolas"/>
              </a:rPr>
              <a:t>collect():</a:t>
            </a:r>
            <a:endParaRPr>
              <a:latin typeface="Consolas"/>
              <a:ea typeface="Consolas"/>
              <a:cs typeface="Consolas"/>
              <a:sym typeface="Consolas"/>
            </a:endParaRPr>
          </a:p>
          <a:p>
            <a:pPr marL="457200" lvl="0" indent="-342900" algn="l" rtl="0">
              <a:spcBef>
                <a:spcPts val="600"/>
              </a:spcBef>
              <a:spcAft>
                <a:spcPts val="0"/>
              </a:spcAft>
              <a:buSzPts val="1800"/>
              <a:buChar char="●"/>
            </a:pPr>
            <a:r>
              <a:rPr lang="en"/>
              <a:t>Create an empty list of results </a:t>
            </a:r>
            <a:r>
              <a:rPr lang="en">
                <a:latin typeface="Consolas"/>
                <a:ea typeface="Consolas"/>
                <a:cs typeface="Consolas"/>
                <a:sym typeface="Consolas"/>
              </a:rPr>
              <a:t>x</a:t>
            </a:r>
            <a:r>
              <a:rPr lang="en"/>
              <a:t>.</a:t>
            </a:r>
            <a:endParaRPr/>
          </a:p>
          <a:p>
            <a:pPr marL="457200" lvl="0" indent="-342900" algn="l" rtl="0">
              <a:spcBef>
                <a:spcPts val="600"/>
              </a:spcBef>
              <a:spcAft>
                <a:spcPts val="0"/>
              </a:spcAft>
              <a:buSzPts val="1800"/>
              <a:buChar char="●"/>
            </a:pPr>
            <a:r>
              <a:rPr lang="en"/>
              <a:t>For character </a:t>
            </a:r>
            <a:r>
              <a:rPr lang="en">
                <a:latin typeface="Consolas"/>
                <a:ea typeface="Consolas"/>
                <a:cs typeface="Consolas"/>
                <a:sym typeface="Consolas"/>
              </a:rPr>
              <a:t>c</a:t>
            </a:r>
            <a:r>
              <a:rPr lang="en"/>
              <a:t> in </a:t>
            </a:r>
            <a:r>
              <a:rPr lang="en">
                <a:latin typeface="Consolas"/>
                <a:ea typeface="Consolas"/>
                <a:cs typeface="Consolas"/>
                <a:sym typeface="Consolas"/>
              </a:rPr>
              <a:t>root.next.keys()</a:t>
            </a:r>
            <a:r>
              <a:rPr lang="en"/>
              <a:t>:</a:t>
            </a:r>
            <a:endParaRPr/>
          </a:p>
          <a:p>
            <a:pPr marL="914400" lvl="1" indent="-342900" algn="l" rtl="0">
              <a:spcBef>
                <a:spcPts val="600"/>
              </a:spcBef>
              <a:spcAft>
                <a:spcPts val="0"/>
              </a:spcAft>
              <a:buSzPts val="1800"/>
              <a:buChar char="○"/>
            </a:pPr>
            <a:r>
              <a:rPr lang="en"/>
              <a:t>Call </a:t>
            </a:r>
            <a:r>
              <a:rPr lang="en">
                <a:latin typeface="Consolas"/>
                <a:ea typeface="Consolas"/>
                <a:cs typeface="Consolas"/>
                <a:sym typeface="Consolas"/>
              </a:rPr>
              <a:t>colHelp(c, x, root.next.get(c))</a:t>
            </a:r>
            <a:r>
              <a:rPr lang="en"/>
              <a:t>.</a:t>
            </a:r>
            <a:endParaRPr/>
          </a:p>
          <a:p>
            <a:pPr marL="457200" lvl="0" indent="-342900" algn="l" rtl="0">
              <a:spcBef>
                <a:spcPts val="600"/>
              </a:spcBef>
              <a:spcAft>
                <a:spcPts val="0"/>
              </a:spcAft>
              <a:buSzPts val="1800"/>
              <a:buChar char="●"/>
            </a:pPr>
            <a:r>
              <a:rPr lang="en"/>
              <a:t>Return </a:t>
            </a:r>
            <a:r>
              <a:rPr lang="en">
                <a:latin typeface="Consolas"/>
                <a:ea typeface="Consolas"/>
                <a:cs typeface="Consolas"/>
                <a:sym typeface="Consolas"/>
              </a:rPr>
              <a:t>x</a:t>
            </a:r>
            <a:r>
              <a:rPr lang="en"/>
              <a:t>.</a:t>
            </a:r>
            <a:endParaRPr/>
          </a:p>
          <a:p>
            <a:pPr marL="0" lvl="0" indent="0" algn="l" rtl="0">
              <a:spcBef>
                <a:spcPts val="600"/>
              </a:spcBef>
              <a:spcAft>
                <a:spcPts val="0"/>
              </a:spcAft>
              <a:buClr>
                <a:schemeClr val="dk1"/>
              </a:buClr>
              <a:buSzPts val="1100"/>
              <a:buFont typeface="Arial"/>
              <a:buNone/>
            </a:pPr>
            <a:endParaRPr sz="1200"/>
          </a:p>
          <a:p>
            <a:pPr marL="0" lvl="0" indent="0" algn="l" rtl="0">
              <a:spcBef>
                <a:spcPts val="600"/>
              </a:spcBef>
              <a:spcAft>
                <a:spcPts val="0"/>
              </a:spcAft>
              <a:buClr>
                <a:schemeClr val="dk1"/>
              </a:buClr>
              <a:buSzPts val="1100"/>
              <a:buFont typeface="Arial"/>
              <a:buNone/>
            </a:pPr>
            <a:r>
              <a:rPr lang="en">
                <a:latin typeface="Consolas"/>
                <a:ea typeface="Consolas"/>
                <a:cs typeface="Consolas"/>
                <a:sym typeface="Consolas"/>
              </a:rPr>
              <a:t>colHelp(String s, List&lt;String&gt; x, Node n)</a:t>
            </a:r>
            <a:r>
              <a:rPr lang="en"/>
              <a:t>:</a:t>
            </a:r>
            <a:endParaRPr/>
          </a:p>
          <a:p>
            <a:pPr marL="457200" lvl="0" indent="-342900" algn="l" rtl="0">
              <a:spcBef>
                <a:spcPts val="600"/>
              </a:spcBef>
              <a:spcAft>
                <a:spcPts val="0"/>
              </a:spcAft>
              <a:buSzPts val="1800"/>
              <a:buChar char="●"/>
            </a:pPr>
            <a:r>
              <a:rPr lang="en"/>
              <a:t>If </a:t>
            </a:r>
            <a:r>
              <a:rPr lang="en">
                <a:latin typeface="Consolas"/>
                <a:ea typeface="Consolas"/>
                <a:cs typeface="Consolas"/>
                <a:sym typeface="Consolas"/>
              </a:rPr>
              <a:t>n.isKey</a:t>
            </a:r>
            <a:r>
              <a:rPr lang="en"/>
              <a:t>, then </a:t>
            </a:r>
            <a:r>
              <a:rPr lang="en">
                <a:latin typeface="Consolas"/>
                <a:ea typeface="Consolas"/>
                <a:cs typeface="Consolas"/>
                <a:sym typeface="Consolas"/>
              </a:rPr>
              <a:t>x.add(s)</a:t>
            </a:r>
            <a:r>
              <a:rPr lang="en"/>
              <a:t>.</a:t>
            </a:r>
            <a:endParaRPr/>
          </a:p>
          <a:p>
            <a:pPr marL="457200" lvl="0" indent="-342900" algn="l" rtl="0">
              <a:spcBef>
                <a:spcPts val="600"/>
              </a:spcBef>
              <a:spcAft>
                <a:spcPts val="0"/>
              </a:spcAft>
              <a:buSzPts val="1800"/>
              <a:buChar char="●"/>
            </a:pPr>
            <a:r>
              <a:rPr lang="en"/>
              <a:t>For character </a:t>
            </a:r>
            <a:r>
              <a:rPr lang="en">
                <a:latin typeface="Consolas"/>
                <a:ea typeface="Consolas"/>
                <a:cs typeface="Consolas"/>
                <a:sym typeface="Consolas"/>
              </a:rPr>
              <a:t>c</a:t>
            </a:r>
            <a:r>
              <a:rPr lang="en"/>
              <a:t> in </a:t>
            </a:r>
            <a:r>
              <a:rPr lang="en">
                <a:latin typeface="Consolas"/>
                <a:ea typeface="Consolas"/>
                <a:cs typeface="Consolas"/>
                <a:sym typeface="Consolas"/>
              </a:rPr>
              <a:t>n.next.keys()</a:t>
            </a:r>
            <a:r>
              <a:rPr lang="en"/>
              <a:t>:</a:t>
            </a:r>
            <a:endParaRPr/>
          </a:p>
          <a:p>
            <a:pPr marL="914400" lvl="1" indent="-342900" algn="l" rtl="0">
              <a:spcBef>
                <a:spcPts val="600"/>
              </a:spcBef>
              <a:spcAft>
                <a:spcPts val="0"/>
              </a:spcAft>
              <a:buSzPts val="1800"/>
              <a:buChar char="○"/>
            </a:pPr>
            <a:r>
              <a:rPr lang="en"/>
              <a:t>Call </a:t>
            </a:r>
            <a:r>
              <a:rPr lang="en">
                <a:latin typeface="Consolas"/>
                <a:ea typeface="Consolas"/>
                <a:cs typeface="Consolas"/>
                <a:sym typeface="Consolas"/>
              </a:rPr>
              <a:t>colHelp(s + c, x, n.next.get(c))</a:t>
            </a:r>
            <a:endParaRPr/>
          </a:p>
          <a:p>
            <a:pPr marL="0" lvl="0" indent="0" algn="l" rtl="0">
              <a:spcBef>
                <a:spcPts val="600"/>
              </a:spcBef>
              <a:spcAft>
                <a:spcPts val="0"/>
              </a:spcAft>
              <a:buNone/>
            </a:pPr>
            <a:endParaRPr/>
          </a:p>
        </p:txBody>
      </p:sp>
      <p:sp>
        <p:nvSpPr>
          <p:cNvPr id="1430" name="Google Shape;1430;p61"/>
          <p:cNvSpPr/>
          <p:nvPr/>
        </p:nvSpPr>
        <p:spPr>
          <a:xfrm>
            <a:off x="7267830" y="21999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1431" name="Google Shape;1431;p61"/>
          <p:cNvSpPr/>
          <p:nvPr/>
        </p:nvSpPr>
        <p:spPr>
          <a:xfrm>
            <a:off x="7943375" y="280049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sp>
        <p:nvSpPr>
          <p:cNvPr id="1432" name="Google Shape;1432;p61"/>
          <p:cNvSpPr/>
          <p:nvPr/>
        </p:nvSpPr>
        <p:spPr>
          <a:xfrm>
            <a:off x="7943375" y="3435773"/>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433" name="Google Shape;1433;p61"/>
          <p:cNvSpPr/>
          <p:nvPr/>
        </p:nvSpPr>
        <p:spPr>
          <a:xfrm>
            <a:off x="79433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m</a:t>
            </a:r>
            <a:endParaRPr sz="1800">
              <a:latin typeface="Consolas"/>
              <a:ea typeface="Consolas"/>
              <a:cs typeface="Consolas"/>
              <a:sym typeface="Consolas"/>
            </a:endParaRPr>
          </a:p>
        </p:txBody>
      </p:sp>
      <p:sp>
        <p:nvSpPr>
          <p:cNvPr id="1434" name="Google Shape;1434;p61"/>
          <p:cNvSpPr/>
          <p:nvPr/>
        </p:nvSpPr>
        <p:spPr>
          <a:xfrm>
            <a:off x="73138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d</a:t>
            </a:r>
            <a:endParaRPr sz="1800">
              <a:latin typeface="Consolas"/>
              <a:ea typeface="Consolas"/>
              <a:cs typeface="Consolas"/>
              <a:sym typeface="Consolas"/>
            </a:endParaRPr>
          </a:p>
        </p:txBody>
      </p:sp>
      <p:sp>
        <p:nvSpPr>
          <p:cNvPr id="1435" name="Google Shape;1435;p61"/>
          <p:cNvSpPr/>
          <p:nvPr/>
        </p:nvSpPr>
        <p:spPr>
          <a:xfrm>
            <a:off x="85728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p</a:t>
            </a:r>
            <a:endParaRPr sz="1800">
              <a:latin typeface="Consolas"/>
              <a:ea typeface="Consolas"/>
              <a:cs typeface="Consolas"/>
              <a:sym typeface="Consolas"/>
            </a:endParaRPr>
          </a:p>
        </p:txBody>
      </p:sp>
      <p:sp>
        <p:nvSpPr>
          <p:cNvPr id="1436" name="Google Shape;1436;p61"/>
          <p:cNvSpPr/>
          <p:nvPr/>
        </p:nvSpPr>
        <p:spPr>
          <a:xfrm>
            <a:off x="7943375" y="4553927"/>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e</a:t>
            </a:r>
            <a:endParaRPr sz="1800">
              <a:latin typeface="Consolas"/>
              <a:ea typeface="Consolas"/>
              <a:cs typeface="Consolas"/>
              <a:sym typeface="Consolas"/>
            </a:endParaRPr>
          </a:p>
        </p:txBody>
      </p:sp>
      <p:sp>
        <p:nvSpPr>
          <p:cNvPr id="1437" name="Google Shape;1437;p61"/>
          <p:cNvSpPr/>
          <p:nvPr/>
        </p:nvSpPr>
        <p:spPr>
          <a:xfrm>
            <a:off x="6617800" y="2800511"/>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438" name="Google Shape;1438;p61"/>
          <p:cNvSpPr/>
          <p:nvPr/>
        </p:nvSpPr>
        <p:spPr>
          <a:xfrm>
            <a:off x="6617800" y="343578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w</a:t>
            </a:r>
            <a:endParaRPr sz="1800">
              <a:latin typeface="Consolas"/>
              <a:ea typeface="Consolas"/>
              <a:cs typeface="Consolas"/>
              <a:sym typeface="Consolas"/>
            </a:endParaRPr>
          </a:p>
        </p:txBody>
      </p:sp>
      <p:sp>
        <p:nvSpPr>
          <p:cNvPr id="1426" name="Google Shape;1426;p61"/>
          <p:cNvSpPr/>
          <p:nvPr/>
        </p:nvSpPr>
        <p:spPr>
          <a:xfrm>
            <a:off x="6617800" y="3994861"/>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l</a:t>
            </a:r>
            <a:endParaRPr sz="1800">
              <a:latin typeface="Consolas"/>
              <a:ea typeface="Consolas"/>
              <a:cs typeface="Consolas"/>
              <a:sym typeface="Consolas"/>
            </a:endParaRPr>
          </a:p>
        </p:txBody>
      </p:sp>
      <p:cxnSp>
        <p:nvCxnSpPr>
          <p:cNvPr id="1439" name="Google Shape;1439;p61"/>
          <p:cNvCxnSpPr/>
          <p:nvPr/>
        </p:nvCxnSpPr>
        <p:spPr>
          <a:xfrm>
            <a:off x="8159825" y="4351552"/>
            <a:ext cx="0" cy="0"/>
          </a:xfrm>
          <a:prstGeom prst="straightConnector1">
            <a:avLst/>
          </a:prstGeom>
          <a:noFill/>
          <a:ln w="19050" cap="flat" cmpd="sng">
            <a:solidFill>
              <a:schemeClr val="dk2"/>
            </a:solidFill>
            <a:prstDash val="solid"/>
            <a:round/>
            <a:headEnd type="none" w="med" len="med"/>
            <a:tailEnd type="none" w="med" len="med"/>
          </a:ln>
        </p:spPr>
      </p:cxnSp>
      <p:cxnSp>
        <p:nvCxnSpPr>
          <p:cNvPr id="1440" name="Google Shape;1440;p61"/>
          <p:cNvCxnSpPr>
            <a:stCxn id="1430" idx="5"/>
            <a:endCxn id="1431" idx="0"/>
          </p:cNvCxnSpPr>
          <p:nvPr/>
        </p:nvCxnSpPr>
        <p:spPr>
          <a:xfrm>
            <a:off x="7637333" y="2569478"/>
            <a:ext cx="522600" cy="231000"/>
          </a:xfrm>
          <a:prstGeom prst="straightConnector1">
            <a:avLst/>
          </a:prstGeom>
          <a:noFill/>
          <a:ln w="28575" cap="flat" cmpd="sng">
            <a:solidFill>
              <a:schemeClr val="dk2"/>
            </a:solidFill>
            <a:prstDash val="solid"/>
            <a:round/>
            <a:headEnd type="none" w="med" len="med"/>
            <a:tailEnd type="none" w="med" len="med"/>
          </a:ln>
        </p:spPr>
      </p:cxnSp>
      <p:cxnSp>
        <p:nvCxnSpPr>
          <p:cNvPr id="1441" name="Google Shape;1441;p61"/>
          <p:cNvCxnSpPr>
            <a:stCxn id="1431" idx="4"/>
            <a:endCxn id="1432" idx="0"/>
          </p:cNvCxnSpPr>
          <p:nvPr/>
        </p:nvCxnSpPr>
        <p:spPr>
          <a:xfrm>
            <a:off x="8159825" y="3233396"/>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1442" name="Google Shape;1442;p61"/>
          <p:cNvCxnSpPr>
            <a:stCxn id="1432" idx="4"/>
            <a:endCxn id="1433" idx="0"/>
          </p:cNvCxnSpPr>
          <p:nvPr/>
        </p:nvCxnSpPr>
        <p:spPr>
          <a:xfrm>
            <a:off x="8159825" y="3868673"/>
            <a:ext cx="0" cy="126300"/>
          </a:xfrm>
          <a:prstGeom prst="straightConnector1">
            <a:avLst/>
          </a:prstGeom>
          <a:noFill/>
          <a:ln w="28575" cap="flat" cmpd="sng">
            <a:solidFill>
              <a:schemeClr val="dk2"/>
            </a:solidFill>
            <a:prstDash val="solid"/>
            <a:round/>
            <a:headEnd type="none" w="med" len="med"/>
            <a:tailEnd type="none" w="med" len="med"/>
          </a:ln>
        </p:spPr>
      </p:cxnSp>
      <p:cxnSp>
        <p:nvCxnSpPr>
          <p:cNvPr id="1443" name="Google Shape;1443;p61"/>
          <p:cNvCxnSpPr>
            <a:stCxn id="1432" idx="3"/>
            <a:endCxn id="1434" idx="0"/>
          </p:cNvCxnSpPr>
          <p:nvPr/>
        </p:nvCxnSpPr>
        <p:spPr>
          <a:xfrm flipH="1">
            <a:off x="7530372" y="3805277"/>
            <a:ext cx="476400" cy="189600"/>
          </a:xfrm>
          <a:prstGeom prst="straightConnector1">
            <a:avLst/>
          </a:prstGeom>
          <a:noFill/>
          <a:ln w="28575" cap="flat" cmpd="sng">
            <a:solidFill>
              <a:schemeClr val="dk2"/>
            </a:solidFill>
            <a:prstDash val="solid"/>
            <a:round/>
            <a:headEnd type="none" w="med" len="med"/>
            <a:tailEnd type="none" w="med" len="med"/>
          </a:ln>
        </p:spPr>
      </p:cxnSp>
      <p:cxnSp>
        <p:nvCxnSpPr>
          <p:cNvPr id="1444" name="Google Shape;1444;p61"/>
          <p:cNvCxnSpPr>
            <a:stCxn id="1432" idx="5"/>
            <a:endCxn id="1435" idx="0"/>
          </p:cNvCxnSpPr>
          <p:nvPr/>
        </p:nvCxnSpPr>
        <p:spPr>
          <a:xfrm>
            <a:off x="8312878" y="3805277"/>
            <a:ext cx="476400" cy="189600"/>
          </a:xfrm>
          <a:prstGeom prst="straightConnector1">
            <a:avLst/>
          </a:prstGeom>
          <a:noFill/>
          <a:ln w="28575" cap="flat" cmpd="sng">
            <a:solidFill>
              <a:schemeClr val="dk2"/>
            </a:solidFill>
            <a:prstDash val="solid"/>
            <a:round/>
            <a:headEnd type="none" w="med" len="med"/>
            <a:tailEnd type="none" w="med" len="med"/>
          </a:ln>
        </p:spPr>
      </p:cxnSp>
      <p:cxnSp>
        <p:nvCxnSpPr>
          <p:cNvPr id="1445" name="Google Shape;1445;p61"/>
          <p:cNvCxnSpPr>
            <a:stCxn id="1433" idx="4"/>
            <a:endCxn id="1436" idx="0"/>
          </p:cNvCxnSpPr>
          <p:nvPr/>
        </p:nvCxnSpPr>
        <p:spPr>
          <a:xfrm>
            <a:off x="8159825" y="4427752"/>
            <a:ext cx="0" cy="126300"/>
          </a:xfrm>
          <a:prstGeom prst="straightConnector1">
            <a:avLst/>
          </a:prstGeom>
          <a:noFill/>
          <a:ln w="28575" cap="flat" cmpd="sng">
            <a:solidFill>
              <a:schemeClr val="dk2"/>
            </a:solidFill>
            <a:prstDash val="solid"/>
            <a:round/>
            <a:headEnd type="none" w="med" len="med"/>
            <a:tailEnd type="none" w="med" len="med"/>
          </a:ln>
        </p:spPr>
      </p:cxnSp>
      <p:cxnSp>
        <p:nvCxnSpPr>
          <p:cNvPr id="1446" name="Google Shape;1446;p61"/>
          <p:cNvCxnSpPr>
            <a:stCxn id="1430" idx="3"/>
            <a:endCxn id="1437" idx="0"/>
          </p:cNvCxnSpPr>
          <p:nvPr/>
        </p:nvCxnSpPr>
        <p:spPr>
          <a:xfrm flipH="1">
            <a:off x="6834126" y="2569478"/>
            <a:ext cx="497100" cy="231000"/>
          </a:xfrm>
          <a:prstGeom prst="straightConnector1">
            <a:avLst/>
          </a:prstGeom>
          <a:noFill/>
          <a:ln w="28575" cap="flat" cmpd="sng">
            <a:solidFill>
              <a:schemeClr val="dk2"/>
            </a:solidFill>
            <a:prstDash val="solid"/>
            <a:round/>
            <a:headEnd type="none" w="med" len="med"/>
            <a:tailEnd type="none" w="med" len="med"/>
          </a:ln>
        </p:spPr>
      </p:cxnSp>
      <p:cxnSp>
        <p:nvCxnSpPr>
          <p:cNvPr id="1447" name="Google Shape;1447;p61"/>
          <p:cNvCxnSpPr>
            <a:endCxn id="1438" idx="0"/>
          </p:cNvCxnSpPr>
          <p:nvPr/>
        </p:nvCxnSpPr>
        <p:spPr>
          <a:xfrm>
            <a:off x="6834250" y="3233286"/>
            <a:ext cx="0" cy="202500"/>
          </a:xfrm>
          <a:prstGeom prst="straightConnector1">
            <a:avLst/>
          </a:prstGeom>
          <a:noFill/>
          <a:ln w="28575" cap="flat" cmpd="sng">
            <a:solidFill>
              <a:schemeClr val="dk2"/>
            </a:solidFill>
            <a:prstDash val="solid"/>
            <a:round/>
            <a:headEnd type="none" w="med" len="med"/>
            <a:tailEnd type="none" w="med" len="med"/>
          </a:ln>
        </p:spPr>
      </p:cxnSp>
      <p:sp>
        <p:nvSpPr>
          <p:cNvPr id="1448" name="Google Shape;1448;p61"/>
          <p:cNvSpPr/>
          <p:nvPr/>
        </p:nvSpPr>
        <p:spPr>
          <a:xfrm>
            <a:off x="6617800" y="4553936"/>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cxnSp>
        <p:nvCxnSpPr>
          <p:cNvPr id="1449" name="Google Shape;1449;p61"/>
          <p:cNvCxnSpPr>
            <a:stCxn id="1426" idx="4"/>
            <a:endCxn id="1448" idx="0"/>
          </p:cNvCxnSpPr>
          <p:nvPr/>
        </p:nvCxnSpPr>
        <p:spPr>
          <a:xfrm>
            <a:off x="6834250" y="4427761"/>
            <a:ext cx="0" cy="126300"/>
          </a:xfrm>
          <a:prstGeom prst="straightConnector1">
            <a:avLst/>
          </a:prstGeom>
          <a:noFill/>
          <a:ln w="28575" cap="flat" cmpd="sng">
            <a:solidFill>
              <a:schemeClr val="dk2"/>
            </a:solidFill>
            <a:prstDash val="solid"/>
            <a:round/>
            <a:headEnd type="none" w="med" len="med"/>
            <a:tailEnd type="none" w="med" len="med"/>
          </a:ln>
        </p:spPr>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53"/>
        <p:cNvGrpSpPr/>
        <p:nvPr/>
      </p:nvGrpSpPr>
      <p:grpSpPr>
        <a:xfrm>
          <a:off x="0" y="0"/>
          <a:ext cx="0" cy="0"/>
          <a:chOff x="0" y="0"/>
          <a:chExt cx="0" cy="0"/>
        </a:xfrm>
      </p:grpSpPr>
      <p:cxnSp>
        <p:nvCxnSpPr>
          <p:cNvPr id="1454" name="Google Shape;1454;p62"/>
          <p:cNvCxnSpPr>
            <a:endCxn id="1455" idx="0"/>
          </p:cNvCxnSpPr>
          <p:nvPr/>
        </p:nvCxnSpPr>
        <p:spPr>
          <a:xfrm>
            <a:off x="6834250" y="3792361"/>
            <a:ext cx="0" cy="202500"/>
          </a:xfrm>
          <a:prstGeom prst="straightConnector1">
            <a:avLst/>
          </a:prstGeom>
          <a:noFill/>
          <a:ln w="28575" cap="flat" cmpd="sng">
            <a:solidFill>
              <a:schemeClr val="dk2"/>
            </a:solidFill>
            <a:prstDash val="solid"/>
            <a:round/>
            <a:headEnd type="none" w="med" len="med"/>
            <a:tailEnd type="none" w="med" len="med"/>
          </a:ln>
        </p:spPr>
      </p:cxnSp>
      <p:sp>
        <p:nvSpPr>
          <p:cNvPr id="1456" name="Google Shape;1456;p6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Challenging Warmup Exercise: Collecting Trie Keys</a:t>
            </a:r>
            <a:endParaRPr/>
          </a:p>
        </p:txBody>
      </p:sp>
      <p:sp>
        <p:nvSpPr>
          <p:cNvPr id="1457" name="Google Shape;1457;p62"/>
          <p:cNvSpPr txBox="1">
            <a:spLocks noGrp="1"/>
          </p:cNvSpPr>
          <p:nvPr>
            <p:ph type="body" idx="1"/>
          </p:nvPr>
        </p:nvSpPr>
        <p:spPr>
          <a:xfrm>
            <a:off x="319200" y="556500"/>
            <a:ext cx="8443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p:txBody>
      </p:sp>
      <p:sp>
        <p:nvSpPr>
          <p:cNvPr id="1458" name="Google Shape;1458;p62"/>
          <p:cNvSpPr txBox="1">
            <a:spLocks noGrp="1"/>
          </p:cNvSpPr>
          <p:nvPr>
            <p:ph type="body" idx="1"/>
          </p:nvPr>
        </p:nvSpPr>
        <p:spPr>
          <a:xfrm>
            <a:off x="90600" y="409750"/>
            <a:ext cx="8701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solidFill>
                  <a:srgbClr val="999999"/>
                </a:solidFill>
              </a:rPr>
              <a:t>Challenging Exercise: Give an algorithm for collecting all the keys in a Trie.</a:t>
            </a:r>
            <a:endParaRPr>
              <a:solidFill>
                <a:srgbClr val="999999"/>
              </a:solidFill>
            </a:endParaRPr>
          </a:p>
          <a:p>
            <a:pPr marL="0" lvl="0" indent="0" algn="l" rtl="0">
              <a:spcBef>
                <a:spcPts val="600"/>
              </a:spcBef>
              <a:spcAft>
                <a:spcPts val="0"/>
              </a:spcAft>
              <a:buNone/>
            </a:pPr>
            <a:r>
              <a:rPr lang="en">
                <a:latin typeface="Consolas"/>
                <a:ea typeface="Consolas"/>
                <a:cs typeface="Consolas"/>
                <a:sym typeface="Consolas"/>
              </a:rPr>
              <a:t>collect():</a:t>
            </a:r>
            <a:endParaRPr>
              <a:latin typeface="Consolas"/>
              <a:ea typeface="Consolas"/>
              <a:cs typeface="Consolas"/>
              <a:sym typeface="Consolas"/>
            </a:endParaRPr>
          </a:p>
          <a:p>
            <a:pPr marL="457200" lvl="0" indent="-342900" algn="l" rtl="0">
              <a:spcBef>
                <a:spcPts val="600"/>
              </a:spcBef>
              <a:spcAft>
                <a:spcPts val="0"/>
              </a:spcAft>
              <a:buSzPts val="1800"/>
              <a:buChar char="●"/>
            </a:pPr>
            <a:r>
              <a:rPr lang="en"/>
              <a:t>Create an empty list of results </a:t>
            </a:r>
            <a:r>
              <a:rPr lang="en">
                <a:latin typeface="Consolas"/>
                <a:ea typeface="Consolas"/>
                <a:cs typeface="Consolas"/>
                <a:sym typeface="Consolas"/>
              </a:rPr>
              <a:t>x</a:t>
            </a:r>
            <a:r>
              <a:rPr lang="en"/>
              <a:t>.</a:t>
            </a:r>
            <a:endParaRPr/>
          </a:p>
          <a:p>
            <a:pPr marL="457200" lvl="0" indent="-342900" algn="l" rtl="0">
              <a:spcBef>
                <a:spcPts val="600"/>
              </a:spcBef>
              <a:spcAft>
                <a:spcPts val="0"/>
              </a:spcAft>
              <a:buSzPts val="1800"/>
              <a:buChar char="●"/>
            </a:pPr>
            <a:r>
              <a:rPr lang="en"/>
              <a:t>For character </a:t>
            </a:r>
            <a:r>
              <a:rPr lang="en">
                <a:latin typeface="Consolas"/>
                <a:ea typeface="Consolas"/>
                <a:cs typeface="Consolas"/>
                <a:sym typeface="Consolas"/>
              </a:rPr>
              <a:t>c</a:t>
            </a:r>
            <a:r>
              <a:rPr lang="en"/>
              <a:t> in </a:t>
            </a:r>
            <a:r>
              <a:rPr lang="en">
                <a:latin typeface="Consolas"/>
                <a:ea typeface="Consolas"/>
                <a:cs typeface="Consolas"/>
                <a:sym typeface="Consolas"/>
              </a:rPr>
              <a:t>root.next.keys()</a:t>
            </a:r>
            <a:r>
              <a:rPr lang="en"/>
              <a:t>:</a:t>
            </a:r>
            <a:endParaRPr/>
          </a:p>
          <a:p>
            <a:pPr marL="914400" lvl="1" indent="-342900" algn="l" rtl="0">
              <a:spcBef>
                <a:spcPts val="600"/>
              </a:spcBef>
              <a:spcAft>
                <a:spcPts val="0"/>
              </a:spcAft>
              <a:buSzPts val="1800"/>
              <a:buChar char="○"/>
            </a:pPr>
            <a:r>
              <a:rPr lang="en"/>
              <a:t>Call </a:t>
            </a:r>
            <a:r>
              <a:rPr lang="en">
                <a:latin typeface="Consolas"/>
                <a:ea typeface="Consolas"/>
                <a:cs typeface="Consolas"/>
                <a:sym typeface="Consolas"/>
              </a:rPr>
              <a:t>colHelp(c, x, root.next.get(c))</a:t>
            </a:r>
            <a:r>
              <a:rPr lang="en"/>
              <a:t>.</a:t>
            </a:r>
            <a:endParaRPr/>
          </a:p>
          <a:p>
            <a:pPr marL="457200" lvl="0" indent="-342900" algn="l" rtl="0">
              <a:spcBef>
                <a:spcPts val="600"/>
              </a:spcBef>
              <a:spcAft>
                <a:spcPts val="0"/>
              </a:spcAft>
              <a:buClr>
                <a:schemeClr val="dk2"/>
              </a:buClr>
              <a:buSzPts val="1800"/>
              <a:buChar char="●"/>
            </a:pPr>
            <a:r>
              <a:rPr lang="en">
                <a:solidFill>
                  <a:schemeClr val="dk2"/>
                </a:solidFill>
              </a:rPr>
              <a:t>Return </a:t>
            </a:r>
            <a:r>
              <a:rPr lang="en">
                <a:solidFill>
                  <a:schemeClr val="dk2"/>
                </a:solidFill>
                <a:latin typeface="Consolas"/>
                <a:ea typeface="Consolas"/>
                <a:cs typeface="Consolas"/>
                <a:sym typeface="Consolas"/>
              </a:rPr>
              <a:t>x</a:t>
            </a:r>
            <a:r>
              <a:rPr lang="en">
                <a:solidFill>
                  <a:schemeClr val="dk2"/>
                </a:solidFill>
              </a:rPr>
              <a:t>.</a:t>
            </a:r>
            <a:endParaRPr>
              <a:solidFill>
                <a:schemeClr val="dk2"/>
              </a:solidFill>
            </a:endParaRPr>
          </a:p>
          <a:p>
            <a:pPr marL="0" lvl="0" indent="0" algn="l" rtl="0">
              <a:spcBef>
                <a:spcPts val="600"/>
              </a:spcBef>
              <a:spcAft>
                <a:spcPts val="0"/>
              </a:spcAft>
              <a:buClr>
                <a:srgbClr val="000000"/>
              </a:buClr>
              <a:buSzPts val="1100"/>
              <a:buFont typeface="Arial"/>
              <a:buNone/>
            </a:pPr>
            <a:endParaRPr>
              <a:solidFill>
                <a:schemeClr val="dk2"/>
              </a:solidFill>
            </a:endParaRPr>
          </a:p>
          <a:p>
            <a:pPr marL="0" lvl="0" indent="0" algn="l" rtl="0">
              <a:spcBef>
                <a:spcPts val="600"/>
              </a:spcBef>
              <a:spcAft>
                <a:spcPts val="0"/>
              </a:spcAft>
              <a:buClr>
                <a:srgbClr val="000000"/>
              </a:buClr>
              <a:buSzPts val="1100"/>
              <a:buFont typeface="Arial"/>
              <a:buNone/>
            </a:pPr>
            <a:r>
              <a:rPr lang="en">
                <a:solidFill>
                  <a:schemeClr val="dk2"/>
                </a:solidFill>
                <a:latin typeface="Consolas"/>
                <a:ea typeface="Consolas"/>
                <a:cs typeface="Consolas"/>
                <a:sym typeface="Consolas"/>
              </a:rPr>
              <a:t>colHelp(String s, List&lt;String&gt; x, Node n)</a:t>
            </a:r>
            <a:r>
              <a:rPr lang="en">
                <a:solidFill>
                  <a:schemeClr val="dk2"/>
                </a:solidFill>
              </a:rPr>
              <a:t>:</a:t>
            </a:r>
            <a:endParaRPr>
              <a:solidFill>
                <a:schemeClr val="dk2"/>
              </a:solidFill>
            </a:endParaRPr>
          </a:p>
          <a:p>
            <a:pPr marL="457200" lvl="0" indent="-342900" algn="l" rtl="0">
              <a:spcBef>
                <a:spcPts val="600"/>
              </a:spcBef>
              <a:spcAft>
                <a:spcPts val="0"/>
              </a:spcAft>
              <a:buClr>
                <a:schemeClr val="dk2"/>
              </a:buClr>
              <a:buSzPts val="1800"/>
              <a:buChar char="●"/>
            </a:pPr>
            <a:r>
              <a:rPr lang="en">
                <a:solidFill>
                  <a:schemeClr val="dk2"/>
                </a:solidFill>
              </a:rPr>
              <a:t>If </a:t>
            </a:r>
            <a:r>
              <a:rPr lang="en">
                <a:solidFill>
                  <a:schemeClr val="dk2"/>
                </a:solidFill>
                <a:latin typeface="Consolas"/>
                <a:ea typeface="Consolas"/>
                <a:cs typeface="Consolas"/>
                <a:sym typeface="Consolas"/>
              </a:rPr>
              <a:t>n.isKey</a:t>
            </a:r>
            <a:r>
              <a:rPr lang="en">
                <a:solidFill>
                  <a:schemeClr val="dk2"/>
                </a:solidFill>
              </a:rPr>
              <a:t>, then </a:t>
            </a:r>
            <a:r>
              <a:rPr lang="en">
                <a:solidFill>
                  <a:schemeClr val="dk2"/>
                </a:solidFill>
                <a:latin typeface="Consolas"/>
                <a:ea typeface="Consolas"/>
                <a:cs typeface="Consolas"/>
                <a:sym typeface="Consolas"/>
              </a:rPr>
              <a:t>x.add(s)</a:t>
            </a:r>
            <a:r>
              <a:rPr lang="en">
                <a:solidFill>
                  <a:schemeClr val="dk2"/>
                </a:solidFill>
              </a:rPr>
              <a:t>.</a:t>
            </a:r>
            <a:endParaRPr>
              <a:solidFill>
                <a:schemeClr val="dk2"/>
              </a:solidFill>
            </a:endParaRPr>
          </a:p>
          <a:p>
            <a:pPr marL="457200" lvl="0" indent="-342900" algn="l" rtl="0">
              <a:spcBef>
                <a:spcPts val="600"/>
              </a:spcBef>
              <a:spcAft>
                <a:spcPts val="0"/>
              </a:spcAft>
              <a:buClr>
                <a:schemeClr val="dk2"/>
              </a:buClr>
              <a:buSzPts val="1800"/>
              <a:buChar char="●"/>
            </a:pPr>
            <a:r>
              <a:rPr lang="en">
                <a:solidFill>
                  <a:schemeClr val="dk2"/>
                </a:solidFill>
              </a:rPr>
              <a:t>For character </a:t>
            </a:r>
            <a:r>
              <a:rPr lang="en">
                <a:solidFill>
                  <a:schemeClr val="dk2"/>
                </a:solidFill>
                <a:latin typeface="Consolas"/>
                <a:ea typeface="Consolas"/>
                <a:cs typeface="Consolas"/>
                <a:sym typeface="Consolas"/>
              </a:rPr>
              <a:t>c</a:t>
            </a:r>
            <a:r>
              <a:rPr lang="en">
                <a:solidFill>
                  <a:schemeClr val="dk2"/>
                </a:solidFill>
              </a:rPr>
              <a:t> in </a:t>
            </a:r>
            <a:r>
              <a:rPr lang="en">
                <a:solidFill>
                  <a:schemeClr val="dk2"/>
                </a:solidFill>
                <a:latin typeface="Consolas"/>
                <a:ea typeface="Consolas"/>
                <a:cs typeface="Consolas"/>
                <a:sym typeface="Consolas"/>
              </a:rPr>
              <a:t>n.next.keys()</a:t>
            </a:r>
            <a:r>
              <a:rPr lang="en">
                <a:solidFill>
                  <a:schemeClr val="dk2"/>
                </a:solidFill>
              </a:rPr>
              <a:t>:</a:t>
            </a:r>
            <a:endParaRPr>
              <a:solidFill>
                <a:schemeClr val="dk2"/>
              </a:solidFill>
            </a:endParaRPr>
          </a:p>
          <a:p>
            <a:pPr marL="914400" lvl="1" indent="-342900" algn="l" rtl="0">
              <a:spcBef>
                <a:spcPts val="600"/>
              </a:spcBef>
              <a:spcAft>
                <a:spcPts val="0"/>
              </a:spcAft>
              <a:buClr>
                <a:schemeClr val="dk2"/>
              </a:buClr>
              <a:buSzPts val="1800"/>
              <a:buChar char="○"/>
            </a:pPr>
            <a:r>
              <a:rPr lang="en">
                <a:solidFill>
                  <a:schemeClr val="dk2"/>
                </a:solidFill>
              </a:rPr>
              <a:t>Call </a:t>
            </a:r>
            <a:r>
              <a:rPr lang="en">
                <a:solidFill>
                  <a:schemeClr val="dk2"/>
                </a:solidFill>
                <a:latin typeface="Consolas"/>
                <a:ea typeface="Consolas"/>
                <a:cs typeface="Consolas"/>
                <a:sym typeface="Consolas"/>
              </a:rPr>
              <a:t>colHelp(s + c, x, n.next.get(c))</a:t>
            </a:r>
            <a:endParaRPr>
              <a:solidFill>
                <a:schemeClr val="dk2"/>
              </a:solidFill>
            </a:endParaRPr>
          </a:p>
        </p:txBody>
      </p:sp>
      <p:sp>
        <p:nvSpPr>
          <p:cNvPr id="1459" name="Google Shape;1459;p62"/>
          <p:cNvSpPr/>
          <p:nvPr/>
        </p:nvSpPr>
        <p:spPr>
          <a:xfrm>
            <a:off x="7267830" y="21999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1460" name="Google Shape;1460;p62"/>
          <p:cNvSpPr/>
          <p:nvPr/>
        </p:nvSpPr>
        <p:spPr>
          <a:xfrm>
            <a:off x="7943375" y="280049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sp>
        <p:nvSpPr>
          <p:cNvPr id="1461" name="Google Shape;1461;p62"/>
          <p:cNvSpPr/>
          <p:nvPr/>
        </p:nvSpPr>
        <p:spPr>
          <a:xfrm>
            <a:off x="7943375" y="3435773"/>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462" name="Google Shape;1462;p62"/>
          <p:cNvSpPr/>
          <p:nvPr/>
        </p:nvSpPr>
        <p:spPr>
          <a:xfrm>
            <a:off x="79433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m</a:t>
            </a:r>
            <a:endParaRPr sz="1800">
              <a:latin typeface="Consolas"/>
              <a:ea typeface="Consolas"/>
              <a:cs typeface="Consolas"/>
              <a:sym typeface="Consolas"/>
            </a:endParaRPr>
          </a:p>
        </p:txBody>
      </p:sp>
      <p:sp>
        <p:nvSpPr>
          <p:cNvPr id="1463" name="Google Shape;1463;p62"/>
          <p:cNvSpPr/>
          <p:nvPr/>
        </p:nvSpPr>
        <p:spPr>
          <a:xfrm>
            <a:off x="73138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d</a:t>
            </a:r>
            <a:endParaRPr sz="1800">
              <a:latin typeface="Consolas"/>
              <a:ea typeface="Consolas"/>
              <a:cs typeface="Consolas"/>
              <a:sym typeface="Consolas"/>
            </a:endParaRPr>
          </a:p>
        </p:txBody>
      </p:sp>
      <p:sp>
        <p:nvSpPr>
          <p:cNvPr id="1464" name="Google Shape;1464;p62"/>
          <p:cNvSpPr/>
          <p:nvPr/>
        </p:nvSpPr>
        <p:spPr>
          <a:xfrm>
            <a:off x="85728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p</a:t>
            </a:r>
            <a:endParaRPr sz="1800">
              <a:latin typeface="Consolas"/>
              <a:ea typeface="Consolas"/>
              <a:cs typeface="Consolas"/>
              <a:sym typeface="Consolas"/>
            </a:endParaRPr>
          </a:p>
        </p:txBody>
      </p:sp>
      <p:sp>
        <p:nvSpPr>
          <p:cNvPr id="1465" name="Google Shape;1465;p62"/>
          <p:cNvSpPr/>
          <p:nvPr/>
        </p:nvSpPr>
        <p:spPr>
          <a:xfrm>
            <a:off x="7943375" y="4553927"/>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e</a:t>
            </a:r>
            <a:endParaRPr sz="1800">
              <a:latin typeface="Consolas"/>
              <a:ea typeface="Consolas"/>
              <a:cs typeface="Consolas"/>
              <a:sym typeface="Consolas"/>
            </a:endParaRPr>
          </a:p>
        </p:txBody>
      </p:sp>
      <p:sp>
        <p:nvSpPr>
          <p:cNvPr id="1466" name="Google Shape;1466;p62"/>
          <p:cNvSpPr/>
          <p:nvPr/>
        </p:nvSpPr>
        <p:spPr>
          <a:xfrm>
            <a:off x="6617800" y="2800511"/>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467" name="Google Shape;1467;p62"/>
          <p:cNvSpPr/>
          <p:nvPr/>
        </p:nvSpPr>
        <p:spPr>
          <a:xfrm>
            <a:off x="6617800" y="343578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w</a:t>
            </a:r>
            <a:endParaRPr sz="1800">
              <a:latin typeface="Consolas"/>
              <a:ea typeface="Consolas"/>
              <a:cs typeface="Consolas"/>
              <a:sym typeface="Consolas"/>
            </a:endParaRPr>
          </a:p>
        </p:txBody>
      </p:sp>
      <p:sp>
        <p:nvSpPr>
          <p:cNvPr id="1455" name="Google Shape;1455;p62"/>
          <p:cNvSpPr/>
          <p:nvPr/>
        </p:nvSpPr>
        <p:spPr>
          <a:xfrm>
            <a:off x="6617800" y="3994861"/>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l</a:t>
            </a:r>
            <a:endParaRPr sz="1800">
              <a:latin typeface="Consolas"/>
              <a:ea typeface="Consolas"/>
              <a:cs typeface="Consolas"/>
              <a:sym typeface="Consolas"/>
            </a:endParaRPr>
          </a:p>
        </p:txBody>
      </p:sp>
      <p:cxnSp>
        <p:nvCxnSpPr>
          <p:cNvPr id="1468" name="Google Shape;1468;p62"/>
          <p:cNvCxnSpPr/>
          <p:nvPr/>
        </p:nvCxnSpPr>
        <p:spPr>
          <a:xfrm>
            <a:off x="8159825" y="4351552"/>
            <a:ext cx="0" cy="0"/>
          </a:xfrm>
          <a:prstGeom prst="straightConnector1">
            <a:avLst/>
          </a:prstGeom>
          <a:noFill/>
          <a:ln w="19050" cap="flat" cmpd="sng">
            <a:solidFill>
              <a:schemeClr val="dk2"/>
            </a:solidFill>
            <a:prstDash val="solid"/>
            <a:round/>
            <a:headEnd type="none" w="med" len="med"/>
            <a:tailEnd type="none" w="med" len="med"/>
          </a:ln>
        </p:spPr>
      </p:cxnSp>
      <p:cxnSp>
        <p:nvCxnSpPr>
          <p:cNvPr id="1469" name="Google Shape;1469;p62"/>
          <p:cNvCxnSpPr>
            <a:stCxn id="1459" idx="5"/>
            <a:endCxn id="1460" idx="0"/>
          </p:cNvCxnSpPr>
          <p:nvPr/>
        </p:nvCxnSpPr>
        <p:spPr>
          <a:xfrm>
            <a:off x="7637333" y="2569478"/>
            <a:ext cx="522600" cy="231000"/>
          </a:xfrm>
          <a:prstGeom prst="straightConnector1">
            <a:avLst/>
          </a:prstGeom>
          <a:noFill/>
          <a:ln w="28575" cap="flat" cmpd="sng">
            <a:solidFill>
              <a:schemeClr val="dk2"/>
            </a:solidFill>
            <a:prstDash val="solid"/>
            <a:round/>
            <a:headEnd type="none" w="med" len="med"/>
            <a:tailEnd type="none" w="med" len="med"/>
          </a:ln>
        </p:spPr>
      </p:cxnSp>
      <p:cxnSp>
        <p:nvCxnSpPr>
          <p:cNvPr id="1470" name="Google Shape;1470;p62"/>
          <p:cNvCxnSpPr>
            <a:stCxn id="1460" idx="4"/>
            <a:endCxn id="1461" idx="0"/>
          </p:cNvCxnSpPr>
          <p:nvPr/>
        </p:nvCxnSpPr>
        <p:spPr>
          <a:xfrm>
            <a:off x="8159825" y="3233396"/>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1471" name="Google Shape;1471;p62"/>
          <p:cNvCxnSpPr>
            <a:stCxn id="1461" idx="4"/>
            <a:endCxn id="1462" idx="0"/>
          </p:cNvCxnSpPr>
          <p:nvPr/>
        </p:nvCxnSpPr>
        <p:spPr>
          <a:xfrm>
            <a:off x="8159825" y="3868673"/>
            <a:ext cx="0" cy="126300"/>
          </a:xfrm>
          <a:prstGeom prst="straightConnector1">
            <a:avLst/>
          </a:prstGeom>
          <a:noFill/>
          <a:ln w="28575" cap="flat" cmpd="sng">
            <a:solidFill>
              <a:schemeClr val="dk2"/>
            </a:solidFill>
            <a:prstDash val="solid"/>
            <a:round/>
            <a:headEnd type="none" w="med" len="med"/>
            <a:tailEnd type="none" w="med" len="med"/>
          </a:ln>
        </p:spPr>
      </p:cxnSp>
      <p:cxnSp>
        <p:nvCxnSpPr>
          <p:cNvPr id="1472" name="Google Shape;1472;p62"/>
          <p:cNvCxnSpPr>
            <a:stCxn id="1461" idx="3"/>
            <a:endCxn id="1463" idx="0"/>
          </p:cNvCxnSpPr>
          <p:nvPr/>
        </p:nvCxnSpPr>
        <p:spPr>
          <a:xfrm flipH="1">
            <a:off x="7530372" y="3805277"/>
            <a:ext cx="476400" cy="189600"/>
          </a:xfrm>
          <a:prstGeom prst="straightConnector1">
            <a:avLst/>
          </a:prstGeom>
          <a:noFill/>
          <a:ln w="28575" cap="flat" cmpd="sng">
            <a:solidFill>
              <a:schemeClr val="dk2"/>
            </a:solidFill>
            <a:prstDash val="solid"/>
            <a:round/>
            <a:headEnd type="none" w="med" len="med"/>
            <a:tailEnd type="none" w="med" len="med"/>
          </a:ln>
        </p:spPr>
      </p:cxnSp>
      <p:cxnSp>
        <p:nvCxnSpPr>
          <p:cNvPr id="1473" name="Google Shape;1473;p62"/>
          <p:cNvCxnSpPr>
            <a:stCxn id="1461" idx="5"/>
            <a:endCxn id="1464" idx="0"/>
          </p:cNvCxnSpPr>
          <p:nvPr/>
        </p:nvCxnSpPr>
        <p:spPr>
          <a:xfrm>
            <a:off x="8312878" y="3805277"/>
            <a:ext cx="476400" cy="189600"/>
          </a:xfrm>
          <a:prstGeom prst="straightConnector1">
            <a:avLst/>
          </a:prstGeom>
          <a:noFill/>
          <a:ln w="28575" cap="flat" cmpd="sng">
            <a:solidFill>
              <a:schemeClr val="dk2"/>
            </a:solidFill>
            <a:prstDash val="solid"/>
            <a:round/>
            <a:headEnd type="none" w="med" len="med"/>
            <a:tailEnd type="none" w="med" len="med"/>
          </a:ln>
        </p:spPr>
      </p:cxnSp>
      <p:cxnSp>
        <p:nvCxnSpPr>
          <p:cNvPr id="1474" name="Google Shape;1474;p62"/>
          <p:cNvCxnSpPr>
            <a:stCxn id="1462" idx="4"/>
            <a:endCxn id="1465" idx="0"/>
          </p:cNvCxnSpPr>
          <p:nvPr/>
        </p:nvCxnSpPr>
        <p:spPr>
          <a:xfrm>
            <a:off x="8159825" y="4427752"/>
            <a:ext cx="0" cy="126300"/>
          </a:xfrm>
          <a:prstGeom prst="straightConnector1">
            <a:avLst/>
          </a:prstGeom>
          <a:noFill/>
          <a:ln w="28575" cap="flat" cmpd="sng">
            <a:solidFill>
              <a:schemeClr val="dk2"/>
            </a:solidFill>
            <a:prstDash val="solid"/>
            <a:round/>
            <a:headEnd type="none" w="med" len="med"/>
            <a:tailEnd type="none" w="med" len="med"/>
          </a:ln>
        </p:spPr>
      </p:cxnSp>
      <p:cxnSp>
        <p:nvCxnSpPr>
          <p:cNvPr id="1475" name="Google Shape;1475;p62"/>
          <p:cNvCxnSpPr>
            <a:stCxn id="1459" idx="3"/>
            <a:endCxn id="1466" idx="0"/>
          </p:cNvCxnSpPr>
          <p:nvPr/>
        </p:nvCxnSpPr>
        <p:spPr>
          <a:xfrm flipH="1">
            <a:off x="6834126" y="2569478"/>
            <a:ext cx="497100" cy="231000"/>
          </a:xfrm>
          <a:prstGeom prst="straightConnector1">
            <a:avLst/>
          </a:prstGeom>
          <a:noFill/>
          <a:ln w="28575" cap="flat" cmpd="sng">
            <a:solidFill>
              <a:schemeClr val="dk2"/>
            </a:solidFill>
            <a:prstDash val="solid"/>
            <a:round/>
            <a:headEnd type="none" w="med" len="med"/>
            <a:tailEnd type="none" w="med" len="med"/>
          </a:ln>
        </p:spPr>
      </p:cxnSp>
      <p:cxnSp>
        <p:nvCxnSpPr>
          <p:cNvPr id="1476" name="Google Shape;1476;p62"/>
          <p:cNvCxnSpPr>
            <a:endCxn id="1467" idx="0"/>
          </p:cNvCxnSpPr>
          <p:nvPr/>
        </p:nvCxnSpPr>
        <p:spPr>
          <a:xfrm>
            <a:off x="6834250" y="3233286"/>
            <a:ext cx="0" cy="202500"/>
          </a:xfrm>
          <a:prstGeom prst="straightConnector1">
            <a:avLst/>
          </a:prstGeom>
          <a:noFill/>
          <a:ln w="28575" cap="flat" cmpd="sng">
            <a:solidFill>
              <a:schemeClr val="dk2"/>
            </a:solidFill>
            <a:prstDash val="solid"/>
            <a:round/>
            <a:headEnd type="none" w="med" len="med"/>
            <a:tailEnd type="none" w="med" len="med"/>
          </a:ln>
        </p:spPr>
      </p:cxnSp>
      <p:sp>
        <p:nvSpPr>
          <p:cNvPr id="1477" name="Google Shape;1477;p62"/>
          <p:cNvSpPr/>
          <p:nvPr/>
        </p:nvSpPr>
        <p:spPr>
          <a:xfrm>
            <a:off x="6617800" y="4553936"/>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cxnSp>
        <p:nvCxnSpPr>
          <p:cNvPr id="1478" name="Google Shape;1478;p62"/>
          <p:cNvCxnSpPr>
            <a:stCxn id="1455" idx="4"/>
            <a:endCxn id="1477" idx="0"/>
          </p:cNvCxnSpPr>
          <p:nvPr/>
        </p:nvCxnSpPr>
        <p:spPr>
          <a:xfrm>
            <a:off x="6834250" y="4427761"/>
            <a:ext cx="0" cy="126300"/>
          </a:xfrm>
          <a:prstGeom prst="straightConnector1">
            <a:avLst/>
          </a:prstGeom>
          <a:noFill/>
          <a:ln w="28575" cap="flat" cmpd="sng">
            <a:solidFill>
              <a:schemeClr val="dk2"/>
            </a:solidFill>
            <a:prstDash val="solid"/>
            <a:round/>
            <a:headEnd type="none" w="med" len="med"/>
            <a:tailEnd type="none" w="med" len="med"/>
          </a:ln>
        </p:spPr>
      </p:cxnSp>
      <p:sp>
        <p:nvSpPr>
          <p:cNvPr id="1479" name="Google Shape;1479;p62"/>
          <p:cNvSpPr txBox="1"/>
          <p:nvPr/>
        </p:nvSpPr>
        <p:spPr>
          <a:xfrm>
            <a:off x="6033375" y="1512500"/>
            <a:ext cx="801000" cy="36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onsolas"/>
                <a:ea typeface="Consolas"/>
                <a:cs typeface="Consolas"/>
                <a:sym typeface="Consolas"/>
              </a:rPr>
              <a:t>x = []</a:t>
            </a:r>
            <a:endParaRPr>
              <a:latin typeface="Consolas"/>
              <a:ea typeface="Consolas"/>
              <a:cs typeface="Consolas"/>
              <a:sym typeface="Consolas"/>
            </a:endParaRPr>
          </a:p>
        </p:txBody>
      </p:sp>
      <p:sp>
        <p:nvSpPr>
          <p:cNvPr id="1480" name="Google Shape;1480;p62"/>
          <p:cNvSpPr txBox="1"/>
          <p:nvPr/>
        </p:nvSpPr>
        <p:spPr>
          <a:xfrm>
            <a:off x="4969425" y="2788950"/>
            <a:ext cx="2667900" cy="36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Consolas"/>
                <a:ea typeface="Consolas"/>
                <a:cs typeface="Consolas"/>
                <a:sym typeface="Consolas"/>
              </a:rPr>
              <a:t>colHelp(</a:t>
            </a:r>
            <a:r>
              <a:rPr lang="en">
                <a:solidFill>
                  <a:schemeClr val="dk1"/>
                </a:solidFill>
                <a:latin typeface="Consolas"/>
                <a:ea typeface="Consolas"/>
                <a:cs typeface="Consolas"/>
                <a:sym typeface="Consolas"/>
              </a:rPr>
              <a:t>"</a:t>
            </a:r>
            <a:r>
              <a:rPr lang="en" b="1">
                <a:latin typeface="Consolas"/>
                <a:ea typeface="Consolas"/>
                <a:cs typeface="Consolas"/>
                <a:sym typeface="Consolas"/>
              </a:rPr>
              <a:t>a</a:t>
            </a:r>
            <a:r>
              <a:rPr lang="en">
                <a:solidFill>
                  <a:schemeClr val="dk1"/>
                </a:solidFill>
                <a:latin typeface="Consolas"/>
                <a:ea typeface="Consolas"/>
                <a:cs typeface="Consolas"/>
                <a:sym typeface="Consolas"/>
              </a:rPr>
              <a:t>"</a:t>
            </a:r>
            <a:r>
              <a:rPr lang="en" b="1">
                <a:latin typeface="Consolas"/>
                <a:ea typeface="Consolas"/>
                <a:cs typeface="Consolas"/>
                <a:sym typeface="Consolas"/>
              </a:rPr>
              <a:t>, x,      )  </a:t>
            </a:r>
            <a:endParaRPr b="1">
              <a:latin typeface="Consolas"/>
              <a:ea typeface="Consolas"/>
              <a:cs typeface="Consolas"/>
              <a:sym typeface="Consola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84"/>
        <p:cNvGrpSpPr/>
        <p:nvPr/>
      </p:nvGrpSpPr>
      <p:grpSpPr>
        <a:xfrm>
          <a:off x="0" y="0"/>
          <a:ext cx="0" cy="0"/>
          <a:chOff x="0" y="0"/>
          <a:chExt cx="0" cy="0"/>
        </a:xfrm>
      </p:grpSpPr>
      <p:cxnSp>
        <p:nvCxnSpPr>
          <p:cNvPr id="1485" name="Google Shape;1485;p63"/>
          <p:cNvCxnSpPr>
            <a:endCxn id="1486" idx="0"/>
          </p:cNvCxnSpPr>
          <p:nvPr/>
        </p:nvCxnSpPr>
        <p:spPr>
          <a:xfrm>
            <a:off x="6834250" y="3792361"/>
            <a:ext cx="0" cy="202500"/>
          </a:xfrm>
          <a:prstGeom prst="straightConnector1">
            <a:avLst/>
          </a:prstGeom>
          <a:noFill/>
          <a:ln w="28575" cap="flat" cmpd="sng">
            <a:solidFill>
              <a:schemeClr val="dk2"/>
            </a:solidFill>
            <a:prstDash val="solid"/>
            <a:round/>
            <a:headEnd type="none" w="med" len="med"/>
            <a:tailEnd type="none" w="med" len="med"/>
          </a:ln>
        </p:spPr>
      </p:cxnSp>
      <p:sp>
        <p:nvSpPr>
          <p:cNvPr id="1487" name="Google Shape;1487;p6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Challenging Warmup Exercise: Collecting Trie Keys</a:t>
            </a:r>
            <a:endParaRPr/>
          </a:p>
        </p:txBody>
      </p:sp>
      <p:sp>
        <p:nvSpPr>
          <p:cNvPr id="1488" name="Google Shape;1488;p63"/>
          <p:cNvSpPr txBox="1">
            <a:spLocks noGrp="1"/>
          </p:cNvSpPr>
          <p:nvPr>
            <p:ph type="body" idx="1"/>
          </p:nvPr>
        </p:nvSpPr>
        <p:spPr>
          <a:xfrm>
            <a:off x="319200" y="556500"/>
            <a:ext cx="8443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p:txBody>
      </p:sp>
      <p:sp>
        <p:nvSpPr>
          <p:cNvPr id="1489" name="Google Shape;1489;p63"/>
          <p:cNvSpPr txBox="1">
            <a:spLocks noGrp="1"/>
          </p:cNvSpPr>
          <p:nvPr>
            <p:ph type="body" idx="1"/>
          </p:nvPr>
        </p:nvSpPr>
        <p:spPr>
          <a:xfrm>
            <a:off x="90600" y="409750"/>
            <a:ext cx="8701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rgbClr val="000000"/>
              </a:buClr>
              <a:buSzPts val="1100"/>
              <a:buFont typeface="Arial"/>
              <a:buNone/>
            </a:pPr>
            <a:r>
              <a:rPr lang="en">
                <a:solidFill>
                  <a:srgbClr val="999999"/>
                </a:solidFill>
              </a:rPr>
              <a:t>Challenging Exercise: Give an algorithm for collecting all the keys in a Trie.</a:t>
            </a:r>
            <a:endParaRPr>
              <a:solidFill>
                <a:srgbClr val="999999"/>
              </a:solidFill>
            </a:endParaRPr>
          </a:p>
          <a:p>
            <a:pPr marL="0" lvl="0" indent="0" algn="l" rtl="0">
              <a:spcBef>
                <a:spcPts val="600"/>
              </a:spcBef>
              <a:spcAft>
                <a:spcPts val="0"/>
              </a:spcAft>
              <a:buClr>
                <a:srgbClr val="000000"/>
              </a:buClr>
              <a:buSzPts val="1100"/>
              <a:buFont typeface="Arial"/>
              <a:buNone/>
            </a:pPr>
            <a:r>
              <a:rPr lang="en">
                <a:solidFill>
                  <a:srgbClr val="999999"/>
                </a:solidFill>
                <a:latin typeface="Consolas"/>
                <a:ea typeface="Consolas"/>
                <a:cs typeface="Consolas"/>
                <a:sym typeface="Consolas"/>
              </a:rPr>
              <a:t>collect():</a:t>
            </a:r>
            <a:endParaRPr>
              <a:solidFill>
                <a:srgbClr val="999999"/>
              </a:solidFill>
              <a:latin typeface="Consolas"/>
              <a:ea typeface="Consolas"/>
              <a:cs typeface="Consolas"/>
              <a:sym typeface="Consolas"/>
            </a:endParaRPr>
          </a:p>
          <a:p>
            <a:pPr marL="457200" lvl="0" indent="-342900" algn="l" rtl="0">
              <a:spcBef>
                <a:spcPts val="600"/>
              </a:spcBef>
              <a:spcAft>
                <a:spcPts val="0"/>
              </a:spcAft>
              <a:buClr>
                <a:srgbClr val="999999"/>
              </a:buClr>
              <a:buSzPts val="1800"/>
              <a:buChar char="●"/>
            </a:pPr>
            <a:r>
              <a:rPr lang="en">
                <a:solidFill>
                  <a:srgbClr val="999999"/>
                </a:solidFill>
              </a:rPr>
              <a:t>Create an empty list of results </a:t>
            </a:r>
            <a:r>
              <a:rPr lang="en">
                <a:solidFill>
                  <a:srgbClr val="999999"/>
                </a:solidFill>
                <a:latin typeface="Consolas"/>
                <a:ea typeface="Consolas"/>
                <a:cs typeface="Consolas"/>
                <a:sym typeface="Consolas"/>
              </a:rPr>
              <a:t>x</a:t>
            </a:r>
            <a:r>
              <a:rPr lang="en">
                <a:solidFill>
                  <a:srgbClr val="999999"/>
                </a:solidFill>
              </a:rPr>
              <a:t>.</a:t>
            </a:r>
            <a:endParaRPr>
              <a:solidFill>
                <a:srgbClr val="999999"/>
              </a:solidFill>
            </a:endParaRPr>
          </a:p>
          <a:p>
            <a:pPr marL="457200" lvl="0" indent="-342900" algn="l" rtl="0">
              <a:spcBef>
                <a:spcPts val="600"/>
              </a:spcBef>
              <a:spcAft>
                <a:spcPts val="0"/>
              </a:spcAft>
              <a:buClr>
                <a:srgbClr val="999999"/>
              </a:buClr>
              <a:buSzPts val="1800"/>
              <a:buChar char="●"/>
            </a:pPr>
            <a:r>
              <a:rPr lang="en">
                <a:solidFill>
                  <a:srgbClr val="999999"/>
                </a:solidFill>
              </a:rPr>
              <a:t>For character </a:t>
            </a:r>
            <a:r>
              <a:rPr lang="en">
                <a:solidFill>
                  <a:srgbClr val="999999"/>
                </a:solidFill>
                <a:latin typeface="Consolas"/>
                <a:ea typeface="Consolas"/>
                <a:cs typeface="Consolas"/>
                <a:sym typeface="Consolas"/>
              </a:rPr>
              <a:t>c</a:t>
            </a:r>
            <a:r>
              <a:rPr lang="en">
                <a:solidFill>
                  <a:srgbClr val="999999"/>
                </a:solidFill>
              </a:rPr>
              <a:t> in </a:t>
            </a:r>
            <a:r>
              <a:rPr lang="en">
                <a:solidFill>
                  <a:srgbClr val="999999"/>
                </a:solidFill>
                <a:latin typeface="Consolas"/>
                <a:ea typeface="Consolas"/>
                <a:cs typeface="Consolas"/>
                <a:sym typeface="Consolas"/>
              </a:rPr>
              <a:t>root.next.keys()</a:t>
            </a:r>
            <a:r>
              <a:rPr lang="en">
                <a:solidFill>
                  <a:srgbClr val="999999"/>
                </a:solidFill>
              </a:rPr>
              <a:t>:</a:t>
            </a:r>
            <a:endParaRPr>
              <a:solidFill>
                <a:srgbClr val="999999"/>
              </a:solidFill>
            </a:endParaRPr>
          </a:p>
          <a:p>
            <a:pPr marL="914400" lvl="1" indent="-342900" algn="l" rtl="0">
              <a:spcBef>
                <a:spcPts val="600"/>
              </a:spcBef>
              <a:spcAft>
                <a:spcPts val="0"/>
              </a:spcAft>
              <a:buClr>
                <a:srgbClr val="999999"/>
              </a:buClr>
              <a:buSzPts val="1800"/>
              <a:buChar char="○"/>
            </a:pPr>
            <a:r>
              <a:rPr lang="en">
                <a:solidFill>
                  <a:srgbClr val="999999"/>
                </a:solidFill>
              </a:rPr>
              <a:t>Call </a:t>
            </a:r>
            <a:r>
              <a:rPr lang="en">
                <a:solidFill>
                  <a:srgbClr val="999999"/>
                </a:solidFill>
                <a:latin typeface="Consolas"/>
                <a:ea typeface="Consolas"/>
                <a:cs typeface="Consolas"/>
                <a:sym typeface="Consolas"/>
              </a:rPr>
              <a:t>colHelp(c, x, root.next.get(c))</a:t>
            </a:r>
            <a:r>
              <a:rPr lang="en">
                <a:solidFill>
                  <a:srgbClr val="999999"/>
                </a:solidFill>
              </a:rPr>
              <a:t>.</a:t>
            </a:r>
            <a:endParaRPr>
              <a:solidFill>
                <a:srgbClr val="999999"/>
              </a:solidFill>
            </a:endParaRPr>
          </a:p>
          <a:p>
            <a:pPr marL="457200" lvl="0" indent="-342900" algn="l" rtl="0">
              <a:spcBef>
                <a:spcPts val="600"/>
              </a:spcBef>
              <a:spcAft>
                <a:spcPts val="0"/>
              </a:spcAft>
              <a:buClr>
                <a:srgbClr val="999999"/>
              </a:buClr>
              <a:buSzPts val="1800"/>
              <a:buChar char="●"/>
            </a:pPr>
            <a:r>
              <a:rPr lang="en">
                <a:solidFill>
                  <a:srgbClr val="999999"/>
                </a:solidFill>
              </a:rPr>
              <a:t>Return </a:t>
            </a:r>
            <a:r>
              <a:rPr lang="en">
                <a:solidFill>
                  <a:srgbClr val="999999"/>
                </a:solidFill>
                <a:latin typeface="Consolas"/>
                <a:ea typeface="Consolas"/>
                <a:cs typeface="Consolas"/>
                <a:sym typeface="Consolas"/>
              </a:rPr>
              <a:t>x</a:t>
            </a:r>
            <a:r>
              <a:rPr lang="en">
                <a:solidFill>
                  <a:srgbClr val="999999"/>
                </a:solidFill>
              </a:rPr>
              <a:t>.</a:t>
            </a:r>
            <a:endParaRPr>
              <a:solidFill>
                <a:srgbClr val="999999"/>
              </a:solidFill>
            </a:endParaRPr>
          </a:p>
          <a:p>
            <a:pPr marL="0" lvl="0" indent="0" algn="l" rtl="0">
              <a:spcBef>
                <a:spcPts val="600"/>
              </a:spcBef>
              <a:spcAft>
                <a:spcPts val="0"/>
              </a:spcAft>
              <a:buClr>
                <a:srgbClr val="000000"/>
              </a:buClr>
              <a:buSzPts val="1100"/>
              <a:buFont typeface="Arial"/>
              <a:buNone/>
            </a:pPr>
            <a:endParaRPr/>
          </a:p>
          <a:p>
            <a:pPr marL="0" lvl="0" indent="0" algn="l" rtl="0">
              <a:spcBef>
                <a:spcPts val="600"/>
              </a:spcBef>
              <a:spcAft>
                <a:spcPts val="0"/>
              </a:spcAft>
              <a:buClr>
                <a:srgbClr val="000000"/>
              </a:buClr>
              <a:buSzPts val="1100"/>
              <a:buFont typeface="Arial"/>
              <a:buNone/>
            </a:pPr>
            <a:r>
              <a:rPr lang="en">
                <a:latin typeface="Consolas"/>
                <a:ea typeface="Consolas"/>
                <a:cs typeface="Consolas"/>
                <a:sym typeface="Consolas"/>
              </a:rPr>
              <a:t>colHelp(String s, List&lt;String&gt; x, Node n)</a:t>
            </a:r>
            <a:r>
              <a:rPr lang="en"/>
              <a:t>:</a:t>
            </a:r>
            <a:endParaRPr/>
          </a:p>
          <a:p>
            <a:pPr marL="457200" lvl="0" indent="-342900" algn="l" rtl="0">
              <a:spcBef>
                <a:spcPts val="600"/>
              </a:spcBef>
              <a:spcAft>
                <a:spcPts val="0"/>
              </a:spcAft>
              <a:buSzPts val="1800"/>
              <a:buChar char="●"/>
            </a:pPr>
            <a:r>
              <a:rPr lang="en"/>
              <a:t>If </a:t>
            </a:r>
            <a:r>
              <a:rPr lang="en">
                <a:latin typeface="Consolas"/>
                <a:ea typeface="Consolas"/>
                <a:cs typeface="Consolas"/>
                <a:sym typeface="Consolas"/>
              </a:rPr>
              <a:t>n.isKey</a:t>
            </a:r>
            <a:r>
              <a:rPr lang="en"/>
              <a:t>, then </a:t>
            </a:r>
            <a:r>
              <a:rPr lang="en">
                <a:latin typeface="Consolas"/>
                <a:ea typeface="Consolas"/>
                <a:cs typeface="Consolas"/>
                <a:sym typeface="Consolas"/>
              </a:rPr>
              <a:t>x.add(s)</a:t>
            </a:r>
            <a:r>
              <a:rPr lang="en"/>
              <a:t>.</a:t>
            </a:r>
            <a:endParaRPr/>
          </a:p>
          <a:p>
            <a:pPr marL="457200" lvl="0" indent="-342900" algn="l" rtl="0">
              <a:spcBef>
                <a:spcPts val="600"/>
              </a:spcBef>
              <a:spcAft>
                <a:spcPts val="0"/>
              </a:spcAft>
              <a:buSzPts val="1800"/>
              <a:buChar char="●"/>
            </a:pPr>
            <a:r>
              <a:rPr lang="en"/>
              <a:t>For character </a:t>
            </a:r>
            <a:r>
              <a:rPr lang="en">
                <a:latin typeface="Consolas"/>
                <a:ea typeface="Consolas"/>
                <a:cs typeface="Consolas"/>
                <a:sym typeface="Consolas"/>
              </a:rPr>
              <a:t>c</a:t>
            </a:r>
            <a:r>
              <a:rPr lang="en"/>
              <a:t> in </a:t>
            </a:r>
            <a:r>
              <a:rPr lang="en">
                <a:latin typeface="Consolas"/>
                <a:ea typeface="Consolas"/>
                <a:cs typeface="Consolas"/>
                <a:sym typeface="Consolas"/>
              </a:rPr>
              <a:t>n.next.keys()</a:t>
            </a:r>
            <a:r>
              <a:rPr lang="en"/>
              <a:t>:</a:t>
            </a:r>
            <a:endParaRPr/>
          </a:p>
          <a:p>
            <a:pPr marL="914400" lvl="1" indent="-342900" algn="l" rtl="0">
              <a:spcBef>
                <a:spcPts val="600"/>
              </a:spcBef>
              <a:spcAft>
                <a:spcPts val="0"/>
              </a:spcAft>
              <a:buSzPts val="1800"/>
              <a:buChar char="○"/>
            </a:pPr>
            <a:r>
              <a:rPr lang="en"/>
              <a:t>Call </a:t>
            </a:r>
            <a:r>
              <a:rPr lang="en">
                <a:latin typeface="Consolas"/>
                <a:ea typeface="Consolas"/>
                <a:cs typeface="Consolas"/>
                <a:sym typeface="Consolas"/>
              </a:rPr>
              <a:t>colHelp(s + c, x, n.next.get(c))</a:t>
            </a:r>
            <a:endParaRPr/>
          </a:p>
        </p:txBody>
      </p:sp>
      <p:sp>
        <p:nvSpPr>
          <p:cNvPr id="1490" name="Google Shape;1490;p63"/>
          <p:cNvSpPr/>
          <p:nvPr/>
        </p:nvSpPr>
        <p:spPr>
          <a:xfrm>
            <a:off x="7267830" y="21999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1491" name="Google Shape;1491;p63"/>
          <p:cNvSpPr/>
          <p:nvPr/>
        </p:nvSpPr>
        <p:spPr>
          <a:xfrm>
            <a:off x="7943375" y="280049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sp>
        <p:nvSpPr>
          <p:cNvPr id="1492" name="Google Shape;1492;p63"/>
          <p:cNvSpPr/>
          <p:nvPr/>
        </p:nvSpPr>
        <p:spPr>
          <a:xfrm>
            <a:off x="7943375" y="3435773"/>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493" name="Google Shape;1493;p63"/>
          <p:cNvSpPr/>
          <p:nvPr/>
        </p:nvSpPr>
        <p:spPr>
          <a:xfrm>
            <a:off x="79433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m</a:t>
            </a:r>
            <a:endParaRPr sz="1800">
              <a:latin typeface="Consolas"/>
              <a:ea typeface="Consolas"/>
              <a:cs typeface="Consolas"/>
              <a:sym typeface="Consolas"/>
            </a:endParaRPr>
          </a:p>
        </p:txBody>
      </p:sp>
      <p:sp>
        <p:nvSpPr>
          <p:cNvPr id="1494" name="Google Shape;1494;p63"/>
          <p:cNvSpPr/>
          <p:nvPr/>
        </p:nvSpPr>
        <p:spPr>
          <a:xfrm>
            <a:off x="73138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d</a:t>
            </a:r>
            <a:endParaRPr sz="1800">
              <a:latin typeface="Consolas"/>
              <a:ea typeface="Consolas"/>
              <a:cs typeface="Consolas"/>
              <a:sym typeface="Consolas"/>
            </a:endParaRPr>
          </a:p>
        </p:txBody>
      </p:sp>
      <p:sp>
        <p:nvSpPr>
          <p:cNvPr id="1495" name="Google Shape;1495;p63"/>
          <p:cNvSpPr/>
          <p:nvPr/>
        </p:nvSpPr>
        <p:spPr>
          <a:xfrm>
            <a:off x="85728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p</a:t>
            </a:r>
            <a:endParaRPr sz="1800">
              <a:latin typeface="Consolas"/>
              <a:ea typeface="Consolas"/>
              <a:cs typeface="Consolas"/>
              <a:sym typeface="Consolas"/>
            </a:endParaRPr>
          </a:p>
        </p:txBody>
      </p:sp>
      <p:sp>
        <p:nvSpPr>
          <p:cNvPr id="1496" name="Google Shape;1496;p63"/>
          <p:cNvSpPr/>
          <p:nvPr/>
        </p:nvSpPr>
        <p:spPr>
          <a:xfrm>
            <a:off x="7943375" y="4553927"/>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e</a:t>
            </a:r>
            <a:endParaRPr sz="1800">
              <a:latin typeface="Consolas"/>
              <a:ea typeface="Consolas"/>
              <a:cs typeface="Consolas"/>
              <a:sym typeface="Consolas"/>
            </a:endParaRPr>
          </a:p>
        </p:txBody>
      </p:sp>
      <p:sp>
        <p:nvSpPr>
          <p:cNvPr id="1497" name="Google Shape;1497;p63"/>
          <p:cNvSpPr/>
          <p:nvPr/>
        </p:nvSpPr>
        <p:spPr>
          <a:xfrm>
            <a:off x="6617800" y="2800511"/>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498" name="Google Shape;1498;p63"/>
          <p:cNvSpPr/>
          <p:nvPr/>
        </p:nvSpPr>
        <p:spPr>
          <a:xfrm>
            <a:off x="6617800" y="343578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w</a:t>
            </a:r>
            <a:endParaRPr sz="1800">
              <a:latin typeface="Consolas"/>
              <a:ea typeface="Consolas"/>
              <a:cs typeface="Consolas"/>
              <a:sym typeface="Consolas"/>
            </a:endParaRPr>
          </a:p>
        </p:txBody>
      </p:sp>
      <p:sp>
        <p:nvSpPr>
          <p:cNvPr id="1486" name="Google Shape;1486;p63"/>
          <p:cNvSpPr/>
          <p:nvPr/>
        </p:nvSpPr>
        <p:spPr>
          <a:xfrm>
            <a:off x="6617800" y="3994861"/>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l</a:t>
            </a:r>
            <a:endParaRPr sz="1800">
              <a:latin typeface="Consolas"/>
              <a:ea typeface="Consolas"/>
              <a:cs typeface="Consolas"/>
              <a:sym typeface="Consolas"/>
            </a:endParaRPr>
          </a:p>
        </p:txBody>
      </p:sp>
      <p:cxnSp>
        <p:nvCxnSpPr>
          <p:cNvPr id="1499" name="Google Shape;1499;p63"/>
          <p:cNvCxnSpPr/>
          <p:nvPr/>
        </p:nvCxnSpPr>
        <p:spPr>
          <a:xfrm>
            <a:off x="8159825" y="4351552"/>
            <a:ext cx="0" cy="0"/>
          </a:xfrm>
          <a:prstGeom prst="straightConnector1">
            <a:avLst/>
          </a:prstGeom>
          <a:noFill/>
          <a:ln w="19050" cap="flat" cmpd="sng">
            <a:solidFill>
              <a:schemeClr val="dk2"/>
            </a:solidFill>
            <a:prstDash val="solid"/>
            <a:round/>
            <a:headEnd type="none" w="med" len="med"/>
            <a:tailEnd type="none" w="med" len="med"/>
          </a:ln>
        </p:spPr>
      </p:cxnSp>
      <p:cxnSp>
        <p:nvCxnSpPr>
          <p:cNvPr id="1500" name="Google Shape;1500;p63"/>
          <p:cNvCxnSpPr>
            <a:stCxn id="1490" idx="5"/>
            <a:endCxn id="1491" idx="0"/>
          </p:cNvCxnSpPr>
          <p:nvPr/>
        </p:nvCxnSpPr>
        <p:spPr>
          <a:xfrm>
            <a:off x="7637333" y="2569478"/>
            <a:ext cx="522600" cy="231000"/>
          </a:xfrm>
          <a:prstGeom prst="straightConnector1">
            <a:avLst/>
          </a:prstGeom>
          <a:noFill/>
          <a:ln w="28575" cap="flat" cmpd="sng">
            <a:solidFill>
              <a:schemeClr val="dk2"/>
            </a:solidFill>
            <a:prstDash val="solid"/>
            <a:round/>
            <a:headEnd type="none" w="med" len="med"/>
            <a:tailEnd type="none" w="med" len="med"/>
          </a:ln>
        </p:spPr>
      </p:cxnSp>
      <p:cxnSp>
        <p:nvCxnSpPr>
          <p:cNvPr id="1501" name="Google Shape;1501;p63"/>
          <p:cNvCxnSpPr>
            <a:stCxn id="1491" idx="4"/>
            <a:endCxn id="1492" idx="0"/>
          </p:cNvCxnSpPr>
          <p:nvPr/>
        </p:nvCxnSpPr>
        <p:spPr>
          <a:xfrm>
            <a:off x="8159825" y="3233396"/>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1502" name="Google Shape;1502;p63"/>
          <p:cNvCxnSpPr>
            <a:stCxn id="1492" idx="4"/>
            <a:endCxn id="1493" idx="0"/>
          </p:cNvCxnSpPr>
          <p:nvPr/>
        </p:nvCxnSpPr>
        <p:spPr>
          <a:xfrm>
            <a:off x="8159825" y="3868673"/>
            <a:ext cx="0" cy="126300"/>
          </a:xfrm>
          <a:prstGeom prst="straightConnector1">
            <a:avLst/>
          </a:prstGeom>
          <a:noFill/>
          <a:ln w="28575" cap="flat" cmpd="sng">
            <a:solidFill>
              <a:schemeClr val="dk2"/>
            </a:solidFill>
            <a:prstDash val="solid"/>
            <a:round/>
            <a:headEnd type="none" w="med" len="med"/>
            <a:tailEnd type="none" w="med" len="med"/>
          </a:ln>
        </p:spPr>
      </p:cxnSp>
      <p:cxnSp>
        <p:nvCxnSpPr>
          <p:cNvPr id="1503" name="Google Shape;1503;p63"/>
          <p:cNvCxnSpPr>
            <a:stCxn id="1492" idx="3"/>
            <a:endCxn id="1494" idx="0"/>
          </p:cNvCxnSpPr>
          <p:nvPr/>
        </p:nvCxnSpPr>
        <p:spPr>
          <a:xfrm flipH="1">
            <a:off x="7530372" y="3805277"/>
            <a:ext cx="476400" cy="189600"/>
          </a:xfrm>
          <a:prstGeom prst="straightConnector1">
            <a:avLst/>
          </a:prstGeom>
          <a:noFill/>
          <a:ln w="28575" cap="flat" cmpd="sng">
            <a:solidFill>
              <a:schemeClr val="dk2"/>
            </a:solidFill>
            <a:prstDash val="solid"/>
            <a:round/>
            <a:headEnd type="none" w="med" len="med"/>
            <a:tailEnd type="none" w="med" len="med"/>
          </a:ln>
        </p:spPr>
      </p:cxnSp>
      <p:cxnSp>
        <p:nvCxnSpPr>
          <p:cNvPr id="1504" name="Google Shape;1504;p63"/>
          <p:cNvCxnSpPr>
            <a:stCxn id="1492" idx="5"/>
            <a:endCxn id="1495" idx="0"/>
          </p:cNvCxnSpPr>
          <p:nvPr/>
        </p:nvCxnSpPr>
        <p:spPr>
          <a:xfrm>
            <a:off x="8312878" y="3805277"/>
            <a:ext cx="476400" cy="189600"/>
          </a:xfrm>
          <a:prstGeom prst="straightConnector1">
            <a:avLst/>
          </a:prstGeom>
          <a:noFill/>
          <a:ln w="28575" cap="flat" cmpd="sng">
            <a:solidFill>
              <a:schemeClr val="dk2"/>
            </a:solidFill>
            <a:prstDash val="solid"/>
            <a:round/>
            <a:headEnd type="none" w="med" len="med"/>
            <a:tailEnd type="none" w="med" len="med"/>
          </a:ln>
        </p:spPr>
      </p:cxnSp>
      <p:cxnSp>
        <p:nvCxnSpPr>
          <p:cNvPr id="1505" name="Google Shape;1505;p63"/>
          <p:cNvCxnSpPr>
            <a:stCxn id="1493" idx="4"/>
            <a:endCxn id="1496" idx="0"/>
          </p:cNvCxnSpPr>
          <p:nvPr/>
        </p:nvCxnSpPr>
        <p:spPr>
          <a:xfrm>
            <a:off x="8159825" y="4427752"/>
            <a:ext cx="0" cy="126300"/>
          </a:xfrm>
          <a:prstGeom prst="straightConnector1">
            <a:avLst/>
          </a:prstGeom>
          <a:noFill/>
          <a:ln w="28575" cap="flat" cmpd="sng">
            <a:solidFill>
              <a:schemeClr val="dk2"/>
            </a:solidFill>
            <a:prstDash val="solid"/>
            <a:round/>
            <a:headEnd type="none" w="med" len="med"/>
            <a:tailEnd type="none" w="med" len="med"/>
          </a:ln>
        </p:spPr>
      </p:cxnSp>
      <p:cxnSp>
        <p:nvCxnSpPr>
          <p:cNvPr id="1506" name="Google Shape;1506;p63"/>
          <p:cNvCxnSpPr>
            <a:stCxn id="1490" idx="3"/>
            <a:endCxn id="1497" idx="0"/>
          </p:cNvCxnSpPr>
          <p:nvPr/>
        </p:nvCxnSpPr>
        <p:spPr>
          <a:xfrm flipH="1">
            <a:off x="6834126" y="2569478"/>
            <a:ext cx="497100" cy="231000"/>
          </a:xfrm>
          <a:prstGeom prst="straightConnector1">
            <a:avLst/>
          </a:prstGeom>
          <a:noFill/>
          <a:ln w="28575" cap="flat" cmpd="sng">
            <a:solidFill>
              <a:schemeClr val="dk2"/>
            </a:solidFill>
            <a:prstDash val="solid"/>
            <a:round/>
            <a:headEnd type="none" w="med" len="med"/>
            <a:tailEnd type="none" w="med" len="med"/>
          </a:ln>
        </p:spPr>
      </p:cxnSp>
      <p:cxnSp>
        <p:nvCxnSpPr>
          <p:cNvPr id="1507" name="Google Shape;1507;p63"/>
          <p:cNvCxnSpPr>
            <a:endCxn id="1498" idx="0"/>
          </p:cNvCxnSpPr>
          <p:nvPr/>
        </p:nvCxnSpPr>
        <p:spPr>
          <a:xfrm>
            <a:off x="6834250" y="3233286"/>
            <a:ext cx="0" cy="202500"/>
          </a:xfrm>
          <a:prstGeom prst="straightConnector1">
            <a:avLst/>
          </a:prstGeom>
          <a:noFill/>
          <a:ln w="28575" cap="flat" cmpd="sng">
            <a:solidFill>
              <a:schemeClr val="dk2"/>
            </a:solidFill>
            <a:prstDash val="solid"/>
            <a:round/>
            <a:headEnd type="none" w="med" len="med"/>
            <a:tailEnd type="none" w="med" len="med"/>
          </a:ln>
        </p:spPr>
      </p:cxnSp>
      <p:sp>
        <p:nvSpPr>
          <p:cNvPr id="1508" name="Google Shape;1508;p63"/>
          <p:cNvSpPr/>
          <p:nvPr/>
        </p:nvSpPr>
        <p:spPr>
          <a:xfrm>
            <a:off x="6617800" y="4553936"/>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cxnSp>
        <p:nvCxnSpPr>
          <p:cNvPr id="1509" name="Google Shape;1509;p63"/>
          <p:cNvCxnSpPr>
            <a:stCxn id="1486" idx="4"/>
            <a:endCxn id="1508" idx="0"/>
          </p:cNvCxnSpPr>
          <p:nvPr/>
        </p:nvCxnSpPr>
        <p:spPr>
          <a:xfrm>
            <a:off x="6834250" y="4427761"/>
            <a:ext cx="0" cy="126300"/>
          </a:xfrm>
          <a:prstGeom prst="straightConnector1">
            <a:avLst/>
          </a:prstGeom>
          <a:noFill/>
          <a:ln w="28575" cap="flat" cmpd="sng">
            <a:solidFill>
              <a:schemeClr val="dk2"/>
            </a:solidFill>
            <a:prstDash val="solid"/>
            <a:round/>
            <a:headEnd type="none" w="med" len="med"/>
            <a:tailEnd type="none" w="med" len="med"/>
          </a:ln>
        </p:spPr>
      </p:cxnSp>
      <p:sp>
        <p:nvSpPr>
          <p:cNvPr id="1510" name="Google Shape;1510;p63"/>
          <p:cNvSpPr txBox="1"/>
          <p:nvPr/>
        </p:nvSpPr>
        <p:spPr>
          <a:xfrm>
            <a:off x="6033375" y="1512500"/>
            <a:ext cx="1146000" cy="36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onsolas"/>
                <a:ea typeface="Consolas"/>
                <a:cs typeface="Consolas"/>
                <a:sym typeface="Consolas"/>
              </a:rPr>
              <a:t>x = [</a:t>
            </a:r>
            <a:r>
              <a:rPr lang="en">
                <a:solidFill>
                  <a:schemeClr val="dk1"/>
                </a:solidFill>
                <a:latin typeface="Consolas"/>
                <a:ea typeface="Consolas"/>
                <a:cs typeface="Consolas"/>
                <a:sym typeface="Consolas"/>
              </a:rPr>
              <a:t>"</a:t>
            </a:r>
            <a:r>
              <a:rPr lang="en">
                <a:latin typeface="Consolas"/>
                <a:ea typeface="Consolas"/>
                <a:cs typeface="Consolas"/>
                <a:sym typeface="Consolas"/>
              </a:rPr>
              <a:t>a</a:t>
            </a:r>
            <a:r>
              <a:rPr lang="en">
                <a:solidFill>
                  <a:schemeClr val="dk1"/>
                </a:solidFill>
                <a:latin typeface="Consolas"/>
                <a:ea typeface="Consolas"/>
                <a:cs typeface="Consolas"/>
                <a:sym typeface="Consolas"/>
              </a:rPr>
              <a:t>"</a:t>
            </a:r>
            <a:r>
              <a:rPr lang="en">
                <a:latin typeface="Consolas"/>
                <a:ea typeface="Consolas"/>
                <a:cs typeface="Consolas"/>
                <a:sym typeface="Consolas"/>
              </a:rPr>
              <a:t>]</a:t>
            </a:r>
            <a:endParaRPr>
              <a:latin typeface="Consolas"/>
              <a:ea typeface="Consolas"/>
              <a:cs typeface="Consolas"/>
              <a:sym typeface="Consolas"/>
            </a:endParaRPr>
          </a:p>
        </p:txBody>
      </p:sp>
      <p:sp>
        <p:nvSpPr>
          <p:cNvPr id="1511" name="Google Shape;1511;p63"/>
          <p:cNvSpPr txBox="1"/>
          <p:nvPr/>
        </p:nvSpPr>
        <p:spPr>
          <a:xfrm>
            <a:off x="4893225" y="3391900"/>
            <a:ext cx="2667900" cy="36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1"/>
                </a:solidFill>
                <a:latin typeface="Consolas"/>
                <a:ea typeface="Consolas"/>
                <a:cs typeface="Consolas"/>
                <a:sym typeface="Consolas"/>
              </a:rPr>
              <a:t>colHelp("aw", x,      )  </a:t>
            </a:r>
            <a:endParaRPr b="1">
              <a:latin typeface="Consolas"/>
              <a:ea typeface="Consolas"/>
              <a:cs typeface="Consolas"/>
              <a:sym typeface="Consolas"/>
            </a:endParaRPr>
          </a:p>
        </p:txBody>
      </p:sp>
      <p:sp>
        <p:nvSpPr>
          <p:cNvPr id="1512" name="Google Shape;1512;p63"/>
          <p:cNvSpPr txBox="1"/>
          <p:nvPr/>
        </p:nvSpPr>
        <p:spPr>
          <a:xfrm>
            <a:off x="4969425" y="2788950"/>
            <a:ext cx="2667900" cy="36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onsolas"/>
                <a:ea typeface="Consolas"/>
                <a:cs typeface="Consolas"/>
                <a:sym typeface="Consolas"/>
              </a:rPr>
              <a:t>colHelp("a", x,      )  </a:t>
            </a:r>
            <a:endParaRPr>
              <a:latin typeface="Consolas"/>
              <a:ea typeface="Consolas"/>
              <a:cs typeface="Consolas"/>
              <a:sym typeface="Consola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16"/>
        <p:cNvGrpSpPr/>
        <p:nvPr/>
      </p:nvGrpSpPr>
      <p:grpSpPr>
        <a:xfrm>
          <a:off x="0" y="0"/>
          <a:ext cx="0" cy="0"/>
          <a:chOff x="0" y="0"/>
          <a:chExt cx="0" cy="0"/>
        </a:xfrm>
      </p:grpSpPr>
      <p:cxnSp>
        <p:nvCxnSpPr>
          <p:cNvPr id="1517" name="Google Shape;1517;p64"/>
          <p:cNvCxnSpPr>
            <a:endCxn id="1518" idx="0"/>
          </p:cNvCxnSpPr>
          <p:nvPr/>
        </p:nvCxnSpPr>
        <p:spPr>
          <a:xfrm>
            <a:off x="6834250" y="3792361"/>
            <a:ext cx="0" cy="202500"/>
          </a:xfrm>
          <a:prstGeom prst="straightConnector1">
            <a:avLst/>
          </a:prstGeom>
          <a:noFill/>
          <a:ln w="28575" cap="flat" cmpd="sng">
            <a:solidFill>
              <a:schemeClr val="dk2"/>
            </a:solidFill>
            <a:prstDash val="solid"/>
            <a:round/>
            <a:headEnd type="none" w="med" len="med"/>
            <a:tailEnd type="none" w="med" len="med"/>
          </a:ln>
        </p:spPr>
      </p:cxnSp>
      <p:sp>
        <p:nvSpPr>
          <p:cNvPr id="1519" name="Google Shape;1519;p6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Challenging Warmup Exercise: Collecting Trie Keys</a:t>
            </a:r>
            <a:endParaRPr/>
          </a:p>
        </p:txBody>
      </p:sp>
      <p:sp>
        <p:nvSpPr>
          <p:cNvPr id="1520" name="Google Shape;1520;p64"/>
          <p:cNvSpPr txBox="1">
            <a:spLocks noGrp="1"/>
          </p:cNvSpPr>
          <p:nvPr>
            <p:ph type="body" idx="1"/>
          </p:nvPr>
        </p:nvSpPr>
        <p:spPr>
          <a:xfrm>
            <a:off x="319200" y="556500"/>
            <a:ext cx="8443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p:txBody>
      </p:sp>
      <p:sp>
        <p:nvSpPr>
          <p:cNvPr id="1521" name="Google Shape;1521;p64"/>
          <p:cNvSpPr txBox="1">
            <a:spLocks noGrp="1"/>
          </p:cNvSpPr>
          <p:nvPr>
            <p:ph type="body" idx="1"/>
          </p:nvPr>
        </p:nvSpPr>
        <p:spPr>
          <a:xfrm>
            <a:off x="90600" y="409750"/>
            <a:ext cx="8701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solidFill>
                  <a:srgbClr val="999999"/>
                </a:solidFill>
              </a:rPr>
              <a:t>Challenging Exercise: Give an algorithm for collecting all the keys in a Trie.</a:t>
            </a:r>
            <a:endParaRPr>
              <a:solidFill>
                <a:srgbClr val="999999"/>
              </a:solidFill>
            </a:endParaRPr>
          </a:p>
          <a:p>
            <a:pPr marL="0" lvl="0" indent="0" algn="l" rtl="0">
              <a:spcBef>
                <a:spcPts val="600"/>
              </a:spcBef>
              <a:spcAft>
                <a:spcPts val="0"/>
              </a:spcAft>
              <a:buNone/>
            </a:pPr>
            <a:r>
              <a:rPr lang="en">
                <a:solidFill>
                  <a:srgbClr val="999999"/>
                </a:solidFill>
                <a:latin typeface="Consolas"/>
                <a:ea typeface="Consolas"/>
                <a:cs typeface="Consolas"/>
                <a:sym typeface="Consolas"/>
              </a:rPr>
              <a:t>collect():</a:t>
            </a:r>
            <a:endParaRPr>
              <a:solidFill>
                <a:srgbClr val="999999"/>
              </a:solidFill>
              <a:latin typeface="Consolas"/>
              <a:ea typeface="Consolas"/>
              <a:cs typeface="Consolas"/>
              <a:sym typeface="Consolas"/>
            </a:endParaRPr>
          </a:p>
          <a:p>
            <a:pPr marL="457200" lvl="0" indent="-342900" algn="l" rtl="0">
              <a:spcBef>
                <a:spcPts val="600"/>
              </a:spcBef>
              <a:spcAft>
                <a:spcPts val="0"/>
              </a:spcAft>
              <a:buClr>
                <a:srgbClr val="999999"/>
              </a:buClr>
              <a:buSzPts val="1800"/>
              <a:buChar char="●"/>
            </a:pPr>
            <a:r>
              <a:rPr lang="en">
                <a:solidFill>
                  <a:srgbClr val="999999"/>
                </a:solidFill>
              </a:rPr>
              <a:t>Create an empty list of results </a:t>
            </a:r>
            <a:r>
              <a:rPr lang="en">
                <a:solidFill>
                  <a:srgbClr val="999999"/>
                </a:solidFill>
                <a:latin typeface="Consolas"/>
                <a:ea typeface="Consolas"/>
                <a:cs typeface="Consolas"/>
                <a:sym typeface="Consolas"/>
              </a:rPr>
              <a:t>x</a:t>
            </a:r>
            <a:r>
              <a:rPr lang="en">
                <a:solidFill>
                  <a:srgbClr val="999999"/>
                </a:solidFill>
              </a:rPr>
              <a:t>.</a:t>
            </a:r>
            <a:endParaRPr>
              <a:solidFill>
                <a:srgbClr val="999999"/>
              </a:solidFill>
            </a:endParaRPr>
          </a:p>
          <a:p>
            <a:pPr marL="457200" lvl="0" indent="-342900" algn="l" rtl="0">
              <a:spcBef>
                <a:spcPts val="600"/>
              </a:spcBef>
              <a:spcAft>
                <a:spcPts val="0"/>
              </a:spcAft>
              <a:buClr>
                <a:srgbClr val="999999"/>
              </a:buClr>
              <a:buSzPts val="1800"/>
              <a:buChar char="●"/>
            </a:pPr>
            <a:r>
              <a:rPr lang="en">
                <a:solidFill>
                  <a:srgbClr val="999999"/>
                </a:solidFill>
              </a:rPr>
              <a:t>For character </a:t>
            </a:r>
            <a:r>
              <a:rPr lang="en">
                <a:solidFill>
                  <a:srgbClr val="999999"/>
                </a:solidFill>
                <a:latin typeface="Consolas"/>
                <a:ea typeface="Consolas"/>
                <a:cs typeface="Consolas"/>
                <a:sym typeface="Consolas"/>
              </a:rPr>
              <a:t>c</a:t>
            </a:r>
            <a:r>
              <a:rPr lang="en">
                <a:solidFill>
                  <a:srgbClr val="999999"/>
                </a:solidFill>
              </a:rPr>
              <a:t> in </a:t>
            </a:r>
            <a:r>
              <a:rPr lang="en">
                <a:solidFill>
                  <a:srgbClr val="999999"/>
                </a:solidFill>
                <a:latin typeface="Consolas"/>
                <a:ea typeface="Consolas"/>
                <a:cs typeface="Consolas"/>
                <a:sym typeface="Consolas"/>
              </a:rPr>
              <a:t>root.next.keys()</a:t>
            </a:r>
            <a:r>
              <a:rPr lang="en">
                <a:solidFill>
                  <a:srgbClr val="999999"/>
                </a:solidFill>
              </a:rPr>
              <a:t>:</a:t>
            </a:r>
            <a:endParaRPr>
              <a:solidFill>
                <a:srgbClr val="999999"/>
              </a:solidFill>
            </a:endParaRPr>
          </a:p>
          <a:p>
            <a:pPr marL="914400" lvl="1" indent="-342900" algn="l" rtl="0">
              <a:spcBef>
                <a:spcPts val="600"/>
              </a:spcBef>
              <a:spcAft>
                <a:spcPts val="0"/>
              </a:spcAft>
              <a:buClr>
                <a:srgbClr val="999999"/>
              </a:buClr>
              <a:buSzPts val="1800"/>
              <a:buChar char="○"/>
            </a:pPr>
            <a:r>
              <a:rPr lang="en">
                <a:solidFill>
                  <a:srgbClr val="999999"/>
                </a:solidFill>
              </a:rPr>
              <a:t>Call </a:t>
            </a:r>
            <a:r>
              <a:rPr lang="en">
                <a:solidFill>
                  <a:srgbClr val="999999"/>
                </a:solidFill>
                <a:latin typeface="Consolas"/>
                <a:ea typeface="Consolas"/>
                <a:cs typeface="Consolas"/>
                <a:sym typeface="Consolas"/>
              </a:rPr>
              <a:t>colHelp(c, x, root.next.get(c))</a:t>
            </a:r>
            <a:r>
              <a:rPr lang="en">
                <a:solidFill>
                  <a:srgbClr val="999999"/>
                </a:solidFill>
              </a:rPr>
              <a:t>.</a:t>
            </a:r>
            <a:endParaRPr>
              <a:solidFill>
                <a:srgbClr val="999999"/>
              </a:solidFill>
            </a:endParaRPr>
          </a:p>
          <a:p>
            <a:pPr marL="457200" lvl="0" indent="-342900" algn="l" rtl="0">
              <a:spcBef>
                <a:spcPts val="600"/>
              </a:spcBef>
              <a:spcAft>
                <a:spcPts val="0"/>
              </a:spcAft>
              <a:buClr>
                <a:srgbClr val="999999"/>
              </a:buClr>
              <a:buSzPts val="1800"/>
              <a:buChar char="●"/>
            </a:pPr>
            <a:r>
              <a:rPr lang="en">
                <a:solidFill>
                  <a:srgbClr val="999999"/>
                </a:solidFill>
              </a:rPr>
              <a:t>Return </a:t>
            </a:r>
            <a:r>
              <a:rPr lang="en">
                <a:solidFill>
                  <a:srgbClr val="999999"/>
                </a:solidFill>
                <a:latin typeface="Consolas"/>
                <a:ea typeface="Consolas"/>
                <a:cs typeface="Consolas"/>
                <a:sym typeface="Consolas"/>
              </a:rPr>
              <a:t>x</a:t>
            </a:r>
            <a:r>
              <a:rPr lang="en">
                <a:solidFill>
                  <a:srgbClr val="999999"/>
                </a:solidFill>
              </a:rPr>
              <a:t>.</a:t>
            </a:r>
            <a:endParaRPr>
              <a:solidFill>
                <a:srgbClr val="999999"/>
              </a:solidFill>
            </a:endParaRPr>
          </a:p>
          <a:p>
            <a:pPr marL="0" lvl="0" indent="0" algn="l" rtl="0">
              <a:spcBef>
                <a:spcPts val="600"/>
              </a:spcBef>
              <a:spcAft>
                <a:spcPts val="0"/>
              </a:spcAft>
              <a:buNone/>
            </a:pPr>
            <a:endParaRPr/>
          </a:p>
          <a:p>
            <a:pPr marL="0" lvl="0" indent="0" algn="l" rtl="0">
              <a:spcBef>
                <a:spcPts val="600"/>
              </a:spcBef>
              <a:spcAft>
                <a:spcPts val="0"/>
              </a:spcAft>
              <a:buNone/>
            </a:pPr>
            <a:r>
              <a:rPr lang="en">
                <a:latin typeface="Consolas"/>
                <a:ea typeface="Consolas"/>
                <a:cs typeface="Consolas"/>
                <a:sym typeface="Consolas"/>
              </a:rPr>
              <a:t>colHelp(String s, List&lt;String&gt; x, Node n)</a:t>
            </a:r>
            <a:r>
              <a:rPr lang="en"/>
              <a:t>:</a:t>
            </a:r>
            <a:endParaRPr/>
          </a:p>
          <a:p>
            <a:pPr marL="457200" lvl="0" indent="-342900" algn="l" rtl="0">
              <a:spcBef>
                <a:spcPts val="600"/>
              </a:spcBef>
              <a:spcAft>
                <a:spcPts val="0"/>
              </a:spcAft>
              <a:buClr>
                <a:srgbClr val="999999"/>
              </a:buClr>
              <a:buSzPts val="1800"/>
              <a:buChar char="●"/>
            </a:pPr>
            <a:r>
              <a:rPr lang="en">
                <a:solidFill>
                  <a:srgbClr val="999999"/>
                </a:solidFill>
              </a:rPr>
              <a:t>If </a:t>
            </a:r>
            <a:r>
              <a:rPr lang="en">
                <a:solidFill>
                  <a:srgbClr val="999999"/>
                </a:solidFill>
                <a:latin typeface="Consolas"/>
                <a:ea typeface="Consolas"/>
                <a:cs typeface="Consolas"/>
                <a:sym typeface="Consolas"/>
              </a:rPr>
              <a:t>n.isKey</a:t>
            </a:r>
            <a:r>
              <a:rPr lang="en">
                <a:solidFill>
                  <a:srgbClr val="999999"/>
                </a:solidFill>
              </a:rPr>
              <a:t>, then </a:t>
            </a:r>
            <a:r>
              <a:rPr lang="en">
                <a:solidFill>
                  <a:srgbClr val="999999"/>
                </a:solidFill>
                <a:latin typeface="Consolas"/>
                <a:ea typeface="Consolas"/>
                <a:cs typeface="Consolas"/>
                <a:sym typeface="Consolas"/>
              </a:rPr>
              <a:t>x.add(s)</a:t>
            </a:r>
            <a:r>
              <a:rPr lang="en">
                <a:solidFill>
                  <a:srgbClr val="999999"/>
                </a:solidFill>
              </a:rPr>
              <a:t>.</a:t>
            </a:r>
            <a:endParaRPr>
              <a:solidFill>
                <a:srgbClr val="999999"/>
              </a:solidFill>
            </a:endParaRPr>
          </a:p>
          <a:p>
            <a:pPr marL="457200" lvl="0" indent="-342900" algn="l" rtl="0">
              <a:spcBef>
                <a:spcPts val="600"/>
              </a:spcBef>
              <a:spcAft>
                <a:spcPts val="0"/>
              </a:spcAft>
              <a:buSzPts val="1800"/>
              <a:buChar char="●"/>
            </a:pPr>
            <a:r>
              <a:rPr lang="en"/>
              <a:t>For character </a:t>
            </a:r>
            <a:r>
              <a:rPr lang="en">
                <a:latin typeface="Consolas"/>
                <a:ea typeface="Consolas"/>
                <a:cs typeface="Consolas"/>
                <a:sym typeface="Consolas"/>
              </a:rPr>
              <a:t>c</a:t>
            </a:r>
            <a:r>
              <a:rPr lang="en"/>
              <a:t> in </a:t>
            </a:r>
            <a:r>
              <a:rPr lang="en">
                <a:latin typeface="Consolas"/>
                <a:ea typeface="Consolas"/>
                <a:cs typeface="Consolas"/>
                <a:sym typeface="Consolas"/>
              </a:rPr>
              <a:t>n.next.keys()</a:t>
            </a:r>
            <a:r>
              <a:rPr lang="en"/>
              <a:t>:</a:t>
            </a:r>
            <a:endParaRPr/>
          </a:p>
          <a:p>
            <a:pPr marL="914400" lvl="1" indent="-342900" algn="l" rtl="0">
              <a:spcBef>
                <a:spcPts val="600"/>
              </a:spcBef>
              <a:spcAft>
                <a:spcPts val="0"/>
              </a:spcAft>
              <a:buSzPts val="1800"/>
              <a:buChar char="○"/>
            </a:pPr>
            <a:r>
              <a:rPr lang="en"/>
              <a:t>Call </a:t>
            </a:r>
            <a:r>
              <a:rPr lang="en">
                <a:latin typeface="Consolas"/>
                <a:ea typeface="Consolas"/>
                <a:cs typeface="Consolas"/>
                <a:sym typeface="Consolas"/>
              </a:rPr>
              <a:t>colHelp(s + c, x, n.next.get(c))</a:t>
            </a:r>
            <a:endParaRPr/>
          </a:p>
        </p:txBody>
      </p:sp>
      <p:sp>
        <p:nvSpPr>
          <p:cNvPr id="1522" name="Google Shape;1522;p64"/>
          <p:cNvSpPr/>
          <p:nvPr/>
        </p:nvSpPr>
        <p:spPr>
          <a:xfrm>
            <a:off x="7267830" y="21999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1523" name="Google Shape;1523;p64"/>
          <p:cNvSpPr/>
          <p:nvPr/>
        </p:nvSpPr>
        <p:spPr>
          <a:xfrm>
            <a:off x="7943375" y="280049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sp>
        <p:nvSpPr>
          <p:cNvPr id="1524" name="Google Shape;1524;p64"/>
          <p:cNvSpPr/>
          <p:nvPr/>
        </p:nvSpPr>
        <p:spPr>
          <a:xfrm>
            <a:off x="7943375" y="3435773"/>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525" name="Google Shape;1525;p64"/>
          <p:cNvSpPr/>
          <p:nvPr/>
        </p:nvSpPr>
        <p:spPr>
          <a:xfrm>
            <a:off x="79433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m</a:t>
            </a:r>
            <a:endParaRPr sz="1800">
              <a:latin typeface="Consolas"/>
              <a:ea typeface="Consolas"/>
              <a:cs typeface="Consolas"/>
              <a:sym typeface="Consolas"/>
            </a:endParaRPr>
          </a:p>
        </p:txBody>
      </p:sp>
      <p:sp>
        <p:nvSpPr>
          <p:cNvPr id="1526" name="Google Shape;1526;p64"/>
          <p:cNvSpPr/>
          <p:nvPr/>
        </p:nvSpPr>
        <p:spPr>
          <a:xfrm>
            <a:off x="73138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d</a:t>
            </a:r>
            <a:endParaRPr sz="1800">
              <a:latin typeface="Consolas"/>
              <a:ea typeface="Consolas"/>
              <a:cs typeface="Consolas"/>
              <a:sym typeface="Consolas"/>
            </a:endParaRPr>
          </a:p>
        </p:txBody>
      </p:sp>
      <p:sp>
        <p:nvSpPr>
          <p:cNvPr id="1527" name="Google Shape;1527;p64"/>
          <p:cNvSpPr/>
          <p:nvPr/>
        </p:nvSpPr>
        <p:spPr>
          <a:xfrm>
            <a:off x="85728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p</a:t>
            </a:r>
            <a:endParaRPr sz="1800">
              <a:latin typeface="Consolas"/>
              <a:ea typeface="Consolas"/>
              <a:cs typeface="Consolas"/>
              <a:sym typeface="Consolas"/>
            </a:endParaRPr>
          </a:p>
        </p:txBody>
      </p:sp>
      <p:sp>
        <p:nvSpPr>
          <p:cNvPr id="1528" name="Google Shape;1528;p64"/>
          <p:cNvSpPr/>
          <p:nvPr/>
        </p:nvSpPr>
        <p:spPr>
          <a:xfrm>
            <a:off x="7943375" y="4553927"/>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e</a:t>
            </a:r>
            <a:endParaRPr sz="1800">
              <a:latin typeface="Consolas"/>
              <a:ea typeface="Consolas"/>
              <a:cs typeface="Consolas"/>
              <a:sym typeface="Consolas"/>
            </a:endParaRPr>
          </a:p>
        </p:txBody>
      </p:sp>
      <p:sp>
        <p:nvSpPr>
          <p:cNvPr id="1529" name="Google Shape;1529;p64"/>
          <p:cNvSpPr/>
          <p:nvPr/>
        </p:nvSpPr>
        <p:spPr>
          <a:xfrm>
            <a:off x="6617800" y="2800511"/>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530" name="Google Shape;1530;p64"/>
          <p:cNvSpPr/>
          <p:nvPr/>
        </p:nvSpPr>
        <p:spPr>
          <a:xfrm>
            <a:off x="6617800" y="343578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w</a:t>
            </a:r>
            <a:endParaRPr sz="1800">
              <a:latin typeface="Consolas"/>
              <a:ea typeface="Consolas"/>
              <a:cs typeface="Consolas"/>
              <a:sym typeface="Consolas"/>
            </a:endParaRPr>
          </a:p>
        </p:txBody>
      </p:sp>
      <p:sp>
        <p:nvSpPr>
          <p:cNvPr id="1518" name="Google Shape;1518;p64"/>
          <p:cNvSpPr/>
          <p:nvPr/>
        </p:nvSpPr>
        <p:spPr>
          <a:xfrm>
            <a:off x="6617800" y="3994861"/>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l</a:t>
            </a:r>
            <a:endParaRPr sz="1800">
              <a:latin typeface="Consolas"/>
              <a:ea typeface="Consolas"/>
              <a:cs typeface="Consolas"/>
              <a:sym typeface="Consolas"/>
            </a:endParaRPr>
          </a:p>
        </p:txBody>
      </p:sp>
      <p:cxnSp>
        <p:nvCxnSpPr>
          <p:cNvPr id="1531" name="Google Shape;1531;p64"/>
          <p:cNvCxnSpPr/>
          <p:nvPr/>
        </p:nvCxnSpPr>
        <p:spPr>
          <a:xfrm>
            <a:off x="8159825" y="4351552"/>
            <a:ext cx="0" cy="0"/>
          </a:xfrm>
          <a:prstGeom prst="straightConnector1">
            <a:avLst/>
          </a:prstGeom>
          <a:noFill/>
          <a:ln w="19050" cap="flat" cmpd="sng">
            <a:solidFill>
              <a:schemeClr val="dk2"/>
            </a:solidFill>
            <a:prstDash val="solid"/>
            <a:round/>
            <a:headEnd type="none" w="med" len="med"/>
            <a:tailEnd type="none" w="med" len="med"/>
          </a:ln>
        </p:spPr>
      </p:cxnSp>
      <p:cxnSp>
        <p:nvCxnSpPr>
          <p:cNvPr id="1532" name="Google Shape;1532;p64"/>
          <p:cNvCxnSpPr>
            <a:stCxn id="1522" idx="5"/>
            <a:endCxn id="1523" idx="0"/>
          </p:cNvCxnSpPr>
          <p:nvPr/>
        </p:nvCxnSpPr>
        <p:spPr>
          <a:xfrm>
            <a:off x="7637333" y="2569478"/>
            <a:ext cx="522600" cy="231000"/>
          </a:xfrm>
          <a:prstGeom prst="straightConnector1">
            <a:avLst/>
          </a:prstGeom>
          <a:noFill/>
          <a:ln w="28575" cap="flat" cmpd="sng">
            <a:solidFill>
              <a:schemeClr val="dk2"/>
            </a:solidFill>
            <a:prstDash val="solid"/>
            <a:round/>
            <a:headEnd type="none" w="med" len="med"/>
            <a:tailEnd type="none" w="med" len="med"/>
          </a:ln>
        </p:spPr>
      </p:cxnSp>
      <p:cxnSp>
        <p:nvCxnSpPr>
          <p:cNvPr id="1533" name="Google Shape;1533;p64"/>
          <p:cNvCxnSpPr>
            <a:stCxn id="1523" idx="4"/>
            <a:endCxn id="1524" idx="0"/>
          </p:cNvCxnSpPr>
          <p:nvPr/>
        </p:nvCxnSpPr>
        <p:spPr>
          <a:xfrm>
            <a:off x="8159825" y="3233396"/>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1534" name="Google Shape;1534;p64"/>
          <p:cNvCxnSpPr>
            <a:stCxn id="1524" idx="4"/>
            <a:endCxn id="1525" idx="0"/>
          </p:cNvCxnSpPr>
          <p:nvPr/>
        </p:nvCxnSpPr>
        <p:spPr>
          <a:xfrm>
            <a:off x="8159825" y="3868673"/>
            <a:ext cx="0" cy="126300"/>
          </a:xfrm>
          <a:prstGeom prst="straightConnector1">
            <a:avLst/>
          </a:prstGeom>
          <a:noFill/>
          <a:ln w="28575" cap="flat" cmpd="sng">
            <a:solidFill>
              <a:schemeClr val="dk2"/>
            </a:solidFill>
            <a:prstDash val="solid"/>
            <a:round/>
            <a:headEnd type="none" w="med" len="med"/>
            <a:tailEnd type="none" w="med" len="med"/>
          </a:ln>
        </p:spPr>
      </p:cxnSp>
      <p:cxnSp>
        <p:nvCxnSpPr>
          <p:cNvPr id="1535" name="Google Shape;1535;p64"/>
          <p:cNvCxnSpPr>
            <a:stCxn id="1524" idx="3"/>
            <a:endCxn id="1526" idx="0"/>
          </p:cNvCxnSpPr>
          <p:nvPr/>
        </p:nvCxnSpPr>
        <p:spPr>
          <a:xfrm flipH="1">
            <a:off x="7530372" y="3805277"/>
            <a:ext cx="476400" cy="189600"/>
          </a:xfrm>
          <a:prstGeom prst="straightConnector1">
            <a:avLst/>
          </a:prstGeom>
          <a:noFill/>
          <a:ln w="28575" cap="flat" cmpd="sng">
            <a:solidFill>
              <a:schemeClr val="dk2"/>
            </a:solidFill>
            <a:prstDash val="solid"/>
            <a:round/>
            <a:headEnd type="none" w="med" len="med"/>
            <a:tailEnd type="none" w="med" len="med"/>
          </a:ln>
        </p:spPr>
      </p:cxnSp>
      <p:cxnSp>
        <p:nvCxnSpPr>
          <p:cNvPr id="1536" name="Google Shape;1536;p64"/>
          <p:cNvCxnSpPr>
            <a:stCxn id="1524" idx="5"/>
            <a:endCxn id="1527" idx="0"/>
          </p:cNvCxnSpPr>
          <p:nvPr/>
        </p:nvCxnSpPr>
        <p:spPr>
          <a:xfrm>
            <a:off x="8312878" y="3805277"/>
            <a:ext cx="476400" cy="189600"/>
          </a:xfrm>
          <a:prstGeom prst="straightConnector1">
            <a:avLst/>
          </a:prstGeom>
          <a:noFill/>
          <a:ln w="28575" cap="flat" cmpd="sng">
            <a:solidFill>
              <a:schemeClr val="dk2"/>
            </a:solidFill>
            <a:prstDash val="solid"/>
            <a:round/>
            <a:headEnd type="none" w="med" len="med"/>
            <a:tailEnd type="none" w="med" len="med"/>
          </a:ln>
        </p:spPr>
      </p:cxnSp>
      <p:cxnSp>
        <p:nvCxnSpPr>
          <p:cNvPr id="1537" name="Google Shape;1537;p64"/>
          <p:cNvCxnSpPr>
            <a:stCxn id="1525" idx="4"/>
            <a:endCxn id="1528" idx="0"/>
          </p:cNvCxnSpPr>
          <p:nvPr/>
        </p:nvCxnSpPr>
        <p:spPr>
          <a:xfrm>
            <a:off x="8159825" y="4427752"/>
            <a:ext cx="0" cy="126300"/>
          </a:xfrm>
          <a:prstGeom prst="straightConnector1">
            <a:avLst/>
          </a:prstGeom>
          <a:noFill/>
          <a:ln w="28575" cap="flat" cmpd="sng">
            <a:solidFill>
              <a:schemeClr val="dk2"/>
            </a:solidFill>
            <a:prstDash val="solid"/>
            <a:round/>
            <a:headEnd type="none" w="med" len="med"/>
            <a:tailEnd type="none" w="med" len="med"/>
          </a:ln>
        </p:spPr>
      </p:cxnSp>
      <p:cxnSp>
        <p:nvCxnSpPr>
          <p:cNvPr id="1538" name="Google Shape;1538;p64"/>
          <p:cNvCxnSpPr>
            <a:stCxn id="1522" idx="3"/>
            <a:endCxn id="1529" idx="0"/>
          </p:cNvCxnSpPr>
          <p:nvPr/>
        </p:nvCxnSpPr>
        <p:spPr>
          <a:xfrm flipH="1">
            <a:off x="6834126" y="2569478"/>
            <a:ext cx="497100" cy="231000"/>
          </a:xfrm>
          <a:prstGeom prst="straightConnector1">
            <a:avLst/>
          </a:prstGeom>
          <a:noFill/>
          <a:ln w="28575" cap="flat" cmpd="sng">
            <a:solidFill>
              <a:schemeClr val="dk2"/>
            </a:solidFill>
            <a:prstDash val="solid"/>
            <a:round/>
            <a:headEnd type="none" w="med" len="med"/>
            <a:tailEnd type="none" w="med" len="med"/>
          </a:ln>
        </p:spPr>
      </p:cxnSp>
      <p:cxnSp>
        <p:nvCxnSpPr>
          <p:cNvPr id="1539" name="Google Shape;1539;p64"/>
          <p:cNvCxnSpPr>
            <a:endCxn id="1530" idx="0"/>
          </p:cNvCxnSpPr>
          <p:nvPr/>
        </p:nvCxnSpPr>
        <p:spPr>
          <a:xfrm>
            <a:off x="6834250" y="3233286"/>
            <a:ext cx="0" cy="202500"/>
          </a:xfrm>
          <a:prstGeom prst="straightConnector1">
            <a:avLst/>
          </a:prstGeom>
          <a:noFill/>
          <a:ln w="28575" cap="flat" cmpd="sng">
            <a:solidFill>
              <a:schemeClr val="dk2"/>
            </a:solidFill>
            <a:prstDash val="solid"/>
            <a:round/>
            <a:headEnd type="none" w="med" len="med"/>
            <a:tailEnd type="none" w="med" len="med"/>
          </a:ln>
        </p:spPr>
      </p:cxnSp>
      <p:sp>
        <p:nvSpPr>
          <p:cNvPr id="1540" name="Google Shape;1540;p64"/>
          <p:cNvSpPr/>
          <p:nvPr/>
        </p:nvSpPr>
        <p:spPr>
          <a:xfrm>
            <a:off x="6617800" y="4553936"/>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cxnSp>
        <p:nvCxnSpPr>
          <p:cNvPr id="1541" name="Google Shape;1541;p64"/>
          <p:cNvCxnSpPr>
            <a:stCxn id="1518" idx="4"/>
            <a:endCxn id="1540" idx="0"/>
          </p:cNvCxnSpPr>
          <p:nvPr/>
        </p:nvCxnSpPr>
        <p:spPr>
          <a:xfrm>
            <a:off x="6834250" y="4427761"/>
            <a:ext cx="0" cy="126300"/>
          </a:xfrm>
          <a:prstGeom prst="straightConnector1">
            <a:avLst/>
          </a:prstGeom>
          <a:noFill/>
          <a:ln w="28575" cap="flat" cmpd="sng">
            <a:solidFill>
              <a:schemeClr val="dk2"/>
            </a:solidFill>
            <a:prstDash val="solid"/>
            <a:round/>
            <a:headEnd type="none" w="med" len="med"/>
            <a:tailEnd type="none" w="med" len="med"/>
          </a:ln>
        </p:spPr>
      </p:cxnSp>
      <p:sp>
        <p:nvSpPr>
          <p:cNvPr id="1542" name="Google Shape;1542;p64"/>
          <p:cNvSpPr txBox="1"/>
          <p:nvPr/>
        </p:nvSpPr>
        <p:spPr>
          <a:xfrm>
            <a:off x="6033375" y="1512500"/>
            <a:ext cx="1146000" cy="36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onsolas"/>
                <a:ea typeface="Consolas"/>
                <a:cs typeface="Consolas"/>
                <a:sym typeface="Consolas"/>
              </a:rPr>
              <a:t>x = ["a"]</a:t>
            </a:r>
            <a:endParaRPr>
              <a:latin typeface="Consolas"/>
              <a:ea typeface="Consolas"/>
              <a:cs typeface="Consolas"/>
              <a:sym typeface="Consolas"/>
            </a:endParaRPr>
          </a:p>
        </p:txBody>
      </p:sp>
      <p:sp>
        <p:nvSpPr>
          <p:cNvPr id="1543" name="Google Shape;1543;p64"/>
          <p:cNvSpPr txBox="1"/>
          <p:nvPr/>
        </p:nvSpPr>
        <p:spPr>
          <a:xfrm>
            <a:off x="4969425" y="2788950"/>
            <a:ext cx="2667900" cy="36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onsolas"/>
                <a:ea typeface="Consolas"/>
                <a:cs typeface="Consolas"/>
                <a:sym typeface="Consolas"/>
              </a:rPr>
              <a:t>colHelp("a", x,      )  </a:t>
            </a:r>
            <a:endParaRPr>
              <a:latin typeface="Consolas"/>
              <a:ea typeface="Consolas"/>
              <a:cs typeface="Consolas"/>
              <a:sym typeface="Consolas"/>
            </a:endParaRPr>
          </a:p>
        </p:txBody>
      </p:sp>
      <p:sp>
        <p:nvSpPr>
          <p:cNvPr id="1544" name="Google Shape;1544;p64"/>
          <p:cNvSpPr txBox="1"/>
          <p:nvPr/>
        </p:nvSpPr>
        <p:spPr>
          <a:xfrm>
            <a:off x="4893225" y="3391900"/>
            <a:ext cx="2667900" cy="36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onsolas"/>
                <a:ea typeface="Consolas"/>
                <a:cs typeface="Consolas"/>
                <a:sym typeface="Consolas"/>
              </a:rPr>
              <a:t>colHelp("aw", x,      )  </a:t>
            </a:r>
            <a:endParaRPr>
              <a:latin typeface="Consolas"/>
              <a:ea typeface="Consolas"/>
              <a:cs typeface="Consolas"/>
              <a:sym typeface="Consolas"/>
            </a:endParaRPr>
          </a:p>
        </p:txBody>
      </p:sp>
      <p:sp>
        <p:nvSpPr>
          <p:cNvPr id="1545" name="Google Shape;1545;p64"/>
          <p:cNvSpPr txBox="1"/>
          <p:nvPr/>
        </p:nvSpPr>
        <p:spPr>
          <a:xfrm>
            <a:off x="4817025" y="3856500"/>
            <a:ext cx="2667900" cy="36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onsolas"/>
                <a:ea typeface="Consolas"/>
                <a:cs typeface="Consolas"/>
                <a:sym typeface="Consolas"/>
              </a:rPr>
              <a:t>colHelp</a:t>
            </a:r>
            <a:r>
              <a:rPr lang="en" b="1">
                <a:solidFill>
                  <a:schemeClr val="dk1"/>
                </a:solidFill>
                <a:latin typeface="Consolas"/>
                <a:ea typeface="Consolas"/>
                <a:cs typeface="Consolas"/>
                <a:sym typeface="Consolas"/>
              </a:rPr>
              <a:t>("awl", x,      )</a:t>
            </a:r>
            <a:endParaRPr b="1">
              <a:latin typeface="Consolas"/>
              <a:ea typeface="Consolas"/>
              <a:cs typeface="Consolas"/>
              <a:sym typeface="Consola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49"/>
        <p:cNvGrpSpPr/>
        <p:nvPr/>
      </p:nvGrpSpPr>
      <p:grpSpPr>
        <a:xfrm>
          <a:off x="0" y="0"/>
          <a:ext cx="0" cy="0"/>
          <a:chOff x="0" y="0"/>
          <a:chExt cx="0" cy="0"/>
        </a:xfrm>
      </p:grpSpPr>
      <p:cxnSp>
        <p:nvCxnSpPr>
          <p:cNvPr id="1550" name="Google Shape;1550;p65"/>
          <p:cNvCxnSpPr>
            <a:endCxn id="1551" idx="0"/>
          </p:cNvCxnSpPr>
          <p:nvPr/>
        </p:nvCxnSpPr>
        <p:spPr>
          <a:xfrm>
            <a:off x="6834250" y="3792361"/>
            <a:ext cx="0" cy="202500"/>
          </a:xfrm>
          <a:prstGeom prst="straightConnector1">
            <a:avLst/>
          </a:prstGeom>
          <a:noFill/>
          <a:ln w="28575" cap="flat" cmpd="sng">
            <a:solidFill>
              <a:schemeClr val="dk2"/>
            </a:solidFill>
            <a:prstDash val="solid"/>
            <a:round/>
            <a:headEnd type="none" w="med" len="med"/>
            <a:tailEnd type="none" w="med" len="med"/>
          </a:ln>
        </p:spPr>
      </p:cxnSp>
      <p:sp>
        <p:nvSpPr>
          <p:cNvPr id="1552" name="Google Shape;1552;p65"/>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Challenging Warmup Exercise: Collecting Trie Keys</a:t>
            </a:r>
            <a:endParaRPr/>
          </a:p>
        </p:txBody>
      </p:sp>
      <p:sp>
        <p:nvSpPr>
          <p:cNvPr id="1553" name="Google Shape;1553;p65"/>
          <p:cNvSpPr txBox="1">
            <a:spLocks noGrp="1"/>
          </p:cNvSpPr>
          <p:nvPr>
            <p:ph type="body" idx="1"/>
          </p:nvPr>
        </p:nvSpPr>
        <p:spPr>
          <a:xfrm>
            <a:off x="319200" y="556500"/>
            <a:ext cx="8443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p:txBody>
      </p:sp>
      <p:sp>
        <p:nvSpPr>
          <p:cNvPr id="1554" name="Google Shape;1554;p65"/>
          <p:cNvSpPr txBox="1">
            <a:spLocks noGrp="1"/>
          </p:cNvSpPr>
          <p:nvPr>
            <p:ph type="body" idx="1"/>
          </p:nvPr>
        </p:nvSpPr>
        <p:spPr>
          <a:xfrm>
            <a:off x="90600" y="409750"/>
            <a:ext cx="8701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a:solidFill>
                  <a:srgbClr val="999999"/>
                </a:solidFill>
              </a:rPr>
              <a:t>Challenging Exercise: Give an algorithm for collecting all the keys in a Trie.</a:t>
            </a:r>
            <a:endParaRPr>
              <a:solidFill>
                <a:srgbClr val="999999"/>
              </a:solidFill>
            </a:endParaRPr>
          </a:p>
          <a:p>
            <a:pPr marL="0" lvl="0" indent="0" algn="l" rtl="0">
              <a:spcBef>
                <a:spcPts val="600"/>
              </a:spcBef>
              <a:spcAft>
                <a:spcPts val="0"/>
              </a:spcAft>
              <a:buClr>
                <a:schemeClr val="dk1"/>
              </a:buClr>
              <a:buSzPts val="1100"/>
              <a:buFont typeface="Arial"/>
              <a:buNone/>
            </a:pPr>
            <a:r>
              <a:rPr lang="en">
                <a:solidFill>
                  <a:srgbClr val="999999"/>
                </a:solidFill>
                <a:latin typeface="Consolas"/>
                <a:ea typeface="Consolas"/>
                <a:cs typeface="Consolas"/>
                <a:sym typeface="Consolas"/>
              </a:rPr>
              <a:t>collect():</a:t>
            </a:r>
            <a:endParaRPr>
              <a:solidFill>
                <a:srgbClr val="999999"/>
              </a:solidFill>
              <a:latin typeface="Consolas"/>
              <a:ea typeface="Consolas"/>
              <a:cs typeface="Consolas"/>
              <a:sym typeface="Consolas"/>
            </a:endParaRPr>
          </a:p>
          <a:p>
            <a:pPr marL="457200" lvl="0" indent="-342900" algn="l" rtl="0">
              <a:spcBef>
                <a:spcPts val="600"/>
              </a:spcBef>
              <a:spcAft>
                <a:spcPts val="0"/>
              </a:spcAft>
              <a:buClr>
                <a:srgbClr val="999999"/>
              </a:buClr>
              <a:buSzPts val="1800"/>
              <a:buChar char="●"/>
            </a:pPr>
            <a:r>
              <a:rPr lang="en">
                <a:solidFill>
                  <a:srgbClr val="999999"/>
                </a:solidFill>
              </a:rPr>
              <a:t>Create an empty list of results </a:t>
            </a:r>
            <a:r>
              <a:rPr lang="en">
                <a:solidFill>
                  <a:srgbClr val="999999"/>
                </a:solidFill>
                <a:latin typeface="Consolas"/>
                <a:ea typeface="Consolas"/>
                <a:cs typeface="Consolas"/>
                <a:sym typeface="Consolas"/>
              </a:rPr>
              <a:t>x</a:t>
            </a:r>
            <a:r>
              <a:rPr lang="en">
                <a:solidFill>
                  <a:srgbClr val="999999"/>
                </a:solidFill>
              </a:rPr>
              <a:t>.</a:t>
            </a:r>
            <a:endParaRPr>
              <a:solidFill>
                <a:srgbClr val="999999"/>
              </a:solidFill>
            </a:endParaRPr>
          </a:p>
          <a:p>
            <a:pPr marL="457200" lvl="0" indent="-342900" algn="l" rtl="0">
              <a:spcBef>
                <a:spcPts val="600"/>
              </a:spcBef>
              <a:spcAft>
                <a:spcPts val="0"/>
              </a:spcAft>
              <a:buClr>
                <a:srgbClr val="999999"/>
              </a:buClr>
              <a:buSzPts val="1800"/>
              <a:buChar char="●"/>
            </a:pPr>
            <a:r>
              <a:rPr lang="en">
                <a:solidFill>
                  <a:srgbClr val="999999"/>
                </a:solidFill>
              </a:rPr>
              <a:t>For character </a:t>
            </a:r>
            <a:r>
              <a:rPr lang="en">
                <a:solidFill>
                  <a:srgbClr val="999999"/>
                </a:solidFill>
                <a:latin typeface="Consolas"/>
                <a:ea typeface="Consolas"/>
                <a:cs typeface="Consolas"/>
                <a:sym typeface="Consolas"/>
              </a:rPr>
              <a:t>c</a:t>
            </a:r>
            <a:r>
              <a:rPr lang="en">
                <a:solidFill>
                  <a:srgbClr val="999999"/>
                </a:solidFill>
              </a:rPr>
              <a:t> in </a:t>
            </a:r>
            <a:r>
              <a:rPr lang="en">
                <a:solidFill>
                  <a:srgbClr val="999999"/>
                </a:solidFill>
                <a:latin typeface="Consolas"/>
                <a:ea typeface="Consolas"/>
                <a:cs typeface="Consolas"/>
                <a:sym typeface="Consolas"/>
              </a:rPr>
              <a:t>root.next.keys()</a:t>
            </a:r>
            <a:r>
              <a:rPr lang="en">
                <a:solidFill>
                  <a:srgbClr val="999999"/>
                </a:solidFill>
              </a:rPr>
              <a:t>:</a:t>
            </a:r>
            <a:endParaRPr>
              <a:solidFill>
                <a:srgbClr val="999999"/>
              </a:solidFill>
            </a:endParaRPr>
          </a:p>
          <a:p>
            <a:pPr marL="914400" lvl="1" indent="-342900" algn="l" rtl="0">
              <a:spcBef>
                <a:spcPts val="600"/>
              </a:spcBef>
              <a:spcAft>
                <a:spcPts val="0"/>
              </a:spcAft>
              <a:buClr>
                <a:srgbClr val="999999"/>
              </a:buClr>
              <a:buSzPts val="1800"/>
              <a:buChar char="○"/>
            </a:pPr>
            <a:r>
              <a:rPr lang="en">
                <a:solidFill>
                  <a:srgbClr val="999999"/>
                </a:solidFill>
              </a:rPr>
              <a:t>Call </a:t>
            </a:r>
            <a:r>
              <a:rPr lang="en">
                <a:solidFill>
                  <a:srgbClr val="999999"/>
                </a:solidFill>
                <a:latin typeface="Consolas"/>
                <a:ea typeface="Consolas"/>
                <a:cs typeface="Consolas"/>
                <a:sym typeface="Consolas"/>
              </a:rPr>
              <a:t>colHelp(c, x, root.next.get(c))</a:t>
            </a:r>
            <a:r>
              <a:rPr lang="en">
                <a:solidFill>
                  <a:srgbClr val="999999"/>
                </a:solidFill>
              </a:rPr>
              <a:t>.</a:t>
            </a:r>
            <a:endParaRPr>
              <a:solidFill>
                <a:srgbClr val="999999"/>
              </a:solidFill>
            </a:endParaRPr>
          </a:p>
          <a:p>
            <a:pPr marL="457200" lvl="0" indent="-342900" algn="l" rtl="0">
              <a:spcBef>
                <a:spcPts val="600"/>
              </a:spcBef>
              <a:spcAft>
                <a:spcPts val="0"/>
              </a:spcAft>
              <a:buClr>
                <a:srgbClr val="999999"/>
              </a:buClr>
              <a:buSzPts val="1800"/>
              <a:buChar char="●"/>
            </a:pPr>
            <a:r>
              <a:rPr lang="en">
                <a:solidFill>
                  <a:srgbClr val="999999"/>
                </a:solidFill>
              </a:rPr>
              <a:t>Return </a:t>
            </a:r>
            <a:r>
              <a:rPr lang="en">
                <a:solidFill>
                  <a:srgbClr val="999999"/>
                </a:solidFill>
                <a:latin typeface="Consolas"/>
                <a:ea typeface="Consolas"/>
                <a:cs typeface="Consolas"/>
                <a:sym typeface="Consolas"/>
              </a:rPr>
              <a:t>x</a:t>
            </a:r>
            <a:r>
              <a:rPr lang="en">
                <a:solidFill>
                  <a:srgbClr val="999999"/>
                </a:solidFill>
              </a:rPr>
              <a:t>.</a:t>
            </a:r>
            <a:endParaRPr>
              <a:solidFill>
                <a:srgbClr val="999999"/>
              </a:solidFill>
            </a:endParaRPr>
          </a:p>
          <a:p>
            <a:pPr marL="0" lvl="0" indent="0" algn="l" rtl="0">
              <a:spcBef>
                <a:spcPts val="600"/>
              </a:spcBef>
              <a:spcAft>
                <a:spcPts val="0"/>
              </a:spcAft>
              <a:buClr>
                <a:schemeClr val="dk1"/>
              </a:buClr>
              <a:buSzPts val="1100"/>
              <a:buFont typeface="Arial"/>
              <a:buNone/>
            </a:pPr>
            <a:endParaRPr/>
          </a:p>
          <a:p>
            <a:pPr marL="0" lvl="0" indent="0" algn="l" rtl="0">
              <a:spcBef>
                <a:spcPts val="600"/>
              </a:spcBef>
              <a:spcAft>
                <a:spcPts val="0"/>
              </a:spcAft>
              <a:buClr>
                <a:schemeClr val="dk1"/>
              </a:buClr>
              <a:buSzPts val="1100"/>
              <a:buFont typeface="Arial"/>
              <a:buNone/>
            </a:pPr>
            <a:r>
              <a:rPr lang="en">
                <a:latin typeface="Consolas"/>
                <a:ea typeface="Consolas"/>
                <a:cs typeface="Consolas"/>
                <a:sym typeface="Consolas"/>
              </a:rPr>
              <a:t>colHelp(String s, List&lt;String&gt; x, Node n)</a:t>
            </a:r>
            <a:r>
              <a:rPr lang="en"/>
              <a:t>:</a:t>
            </a:r>
            <a:endParaRPr/>
          </a:p>
          <a:p>
            <a:pPr marL="457200" lvl="0" indent="-342900" algn="l" rtl="0">
              <a:spcBef>
                <a:spcPts val="600"/>
              </a:spcBef>
              <a:spcAft>
                <a:spcPts val="0"/>
              </a:spcAft>
              <a:buClr>
                <a:srgbClr val="999999"/>
              </a:buClr>
              <a:buSzPts val="1800"/>
              <a:buChar char="●"/>
            </a:pPr>
            <a:r>
              <a:rPr lang="en">
                <a:solidFill>
                  <a:srgbClr val="999999"/>
                </a:solidFill>
              </a:rPr>
              <a:t>If </a:t>
            </a:r>
            <a:r>
              <a:rPr lang="en">
                <a:solidFill>
                  <a:srgbClr val="999999"/>
                </a:solidFill>
                <a:latin typeface="Consolas"/>
                <a:ea typeface="Consolas"/>
                <a:cs typeface="Consolas"/>
                <a:sym typeface="Consolas"/>
              </a:rPr>
              <a:t>n.isKey</a:t>
            </a:r>
            <a:r>
              <a:rPr lang="en">
                <a:solidFill>
                  <a:srgbClr val="999999"/>
                </a:solidFill>
              </a:rPr>
              <a:t>, then </a:t>
            </a:r>
            <a:r>
              <a:rPr lang="en">
                <a:solidFill>
                  <a:srgbClr val="999999"/>
                </a:solidFill>
                <a:latin typeface="Consolas"/>
                <a:ea typeface="Consolas"/>
                <a:cs typeface="Consolas"/>
                <a:sym typeface="Consolas"/>
              </a:rPr>
              <a:t>x.add(s)</a:t>
            </a:r>
            <a:r>
              <a:rPr lang="en">
                <a:solidFill>
                  <a:srgbClr val="999999"/>
                </a:solidFill>
              </a:rPr>
              <a:t>.</a:t>
            </a:r>
            <a:endParaRPr>
              <a:solidFill>
                <a:srgbClr val="999999"/>
              </a:solidFill>
            </a:endParaRPr>
          </a:p>
          <a:p>
            <a:pPr marL="457200" lvl="0" indent="-342900" algn="l" rtl="0">
              <a:spcBef>
                <a:spcPts val="600"/>
              </a:spcBef>
              <a:spcAft>
                <a:spcPts val="0"/>
              </a:spcAft>
              <a:buSzPts val="1800"/>
              <a:buChar char="●"/>
            </a:pPr>
            <a:r>
              <a:rPr lang="en"/>
              <a:t>For character </a:t>
            </a:r>
            <a:r>
              <a:rPr lang="en">
                <a:latin typeface="Consolas"/>
                <a:ea typeface="Consolas"/>
                <a:cs typeface="Consolas"/>
                <a:sym typeface="Consolas"/>
              </a:rPr>
              <a:t>c</a:t>
            </a:r>
            <a:r>
              <a:rPr lang="en"/>
              <a:t> in </a:t>
            </a:r>
            <a:r>
              <a:rPr lang="en">
                <a:latin typeface="Consolas"/>
                <a:ea typeface="Consolas"/>
                <a:cs typeface="Consolas"/>
                <a:sym typeface="Consolas"/>
              </a:rPr>
              <a:t>n.next.keys()</a:t>
            </a:r>
            <a:r>
              <a:rPr lang="en"/>
              <a:t>:</a:t>
            </a:r>
            <a:endParaRPr/>
          </a:p>
          <a:p>
            <a:pPr marL="914400" lvl="1" indent="-342900" algn="l" rtl="0">
              <a:spcBef>
                <a:spcPts val="600"/>
              </a:spcBef>
              <a:spcAft>
                <a:spcPts val="0"/>
              </a:spcAft>
              <a:buSzPts val="1800"/>
              <a:buChar char="○"/>
            </a:pPr>
            <a:r>
              <a:rPr lang="en"/>
              <a:t>Call </a:t>
            </a:r>
            <a:r>
              <a:rPr lang="en">
                <a:latin typeface="Consolas"/>
                <a:ea typeface="Consolas"/>
                <a:cs typeface="Consolas"/>
                <a:sym typeface="Consolas"/>
              </a:rPr>
              <a:t>colHelp(s + c, x, n.next.get(c))</a:t>
            </a:r>
            <a:endParaRPr/>
          </a:p>
        </p:txBody>
      </p:sp>
      <p:sp>
        <p:nvSpPr>
          <p:cNvPr id="1555" name="Google Shape;1555;p65"/>
          <p:cNvSpPr/>
          <p:nvPr/>
        </p:nvSpPr>
        <p:spPr>
          <a:xfrm>
            <a:off x="7267830" y="21999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1556" name="Google Shape;1556;p65"/>
          <p:cNvSpPr/>
          <p:nvPr/>
        </p:nvSpPr>
        <p:spPr>
          <a:xfrm>
            <a:off x="7943375" y="280049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sp>
        <p:nvSpPr>
          <p:cNvPr id="1557" name="Google Shape;1557;p65"/>
          <p:cNvSpPr/>
          <p:nvPr/>
        </p:nvSpPr>
        <p:spPr>
          <a:xfrm>
            <a:off x="7943375" y="3435773"/>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558" name="Google Shape;1558;p65"/>
          <p:cNvSpPr/>
          <p:nvPr/>
        </p:nvSpPr>
        <p:spPr>
          <a:xfrm>
            <a:off x="79433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m</a:t>
            </a:r>
            <a:endParaRPr sz="1800">
              <a:latin typeface="Consolas"/>
              <a:ea typeface="Consolas"/>
              <a:cs typeface="Consolas"/>
              <a:sym typeface="Consolas"/>
            </a:endParaRPr>
          </a:p>
        </p:txBody>
      </p:sp>
      <p:sp>
        <p:nvSpPr>
          <p:cNvPr id="1559" name="Google Shape;1559;p65"/>
          <p:cNvSpPr/>
          <p:nvPr/>
        </p:nvSpPr>
        <p:spPr>
          <a:xfrm>
            <a:off x="73138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d</a:t>
            </a:r>
            <a:endParaRPr sz="1800">
              <a:latin typeface="Consolas"/>
              <a:ea typeface="Consolas"/>
              <a:cs typeface="Consolas"/>
              <a:sym typeface="Consolas"/>
            </a:endParaRPr>
          </a:p>
        </p:txBody>
      </p:sp>
      <p:sp>
        <p:nvSpPr>
          <p:cNvPr id="1560" name="Google Shape;1560;p65"/>
          <p:cNvSpPr/>
          <p:nvPr/>
        </p:nvSpPr>
        <p:spPr>
          <a:xfrm>
            <a:off x="85728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p</a:t>
            </a:r>
            <a:endParaRPr sz="1800">
              <a:latin typeface="Consolas"/>
              <a:ea typeface="Consolas"/>
              <a:cs typeface="Consolas"/>
              <a:sym typeface="Consolas"/>
            </a:endParaRPr>
          </a:p>
        </p:txBody>
      </p:sp>
      <p:sp>
        <p:nvSpPr>
          <p:cNvPr id="1561" name="Google Shape;1561;p65"/>
          <p:cNvSpPr/>
          <p:nvPr/>
        </p:nvSpPr>
        <p:spPr>
          <a:xfrm>
            <a:off x="7943375" y="4553927"/>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e</a:t>
            </a:r>
            <a:endParaRPr sz="1800">
              <a:latin typeface="Consolas"/>
              <a:ea typeface="Consolas"/>
              <a:cs typeface="Consolas"/>
              <a:sym typeface="Consolas"/>
            </a:endParaRPr>
          </a:p>
        </p:txBody>
      </p:sp>
      <p:sp>
        <p:nvSpPr>
          <p:cNvPr id="1562" name="Google Shape;1562;p65"/>
          <p:cNvSpPr/>
          <p:nvPr/>
        </p:nvSpPr>
        <p:spPr>
          <a:xfrm>
            <a:off x="6617800" y="2800511"/>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563" name="Google Shape;1563;p65"/>
          <p:cNvSpPr/>
          <p:nvPr/>
        </p:nvSpPr>
        <p:spPr>
          <a:xfrm>
            <a:off x="6617800" y="343578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w</a:t>
            </a:r>
            <a:endParaRPr sz="1800">
              <a:latin typeface="Consolas"/>
              <a:ea typeface="Consolas"/>
              <a:cs typeface="Consolas"/>
              <a:sym typeface="Consolas"/>
            </a:endParaRPr>
          </a:p>
        </p:txBody>
      </p:sp>
      <p:sp>
        <p:nvSpPr>
          <p:cNvPr id="1551" name="Google Shape;1551;p65"/>
          <p:cNvSpPr/>
          <p:nvPr/>
        </p:nvSpPr>
        <p:spPr>
          <a:xfrm>
            <a:off x="6617800" y="3994861"/>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l</a:t>
            </a:r>
            <a:endParaRPr sz="1800">
              <a:latin typeface="Consolas"/>
              <a:ea typeface="Consolas"/>
              <a:cs typeface="Consolas"/>
              <a:sym typeface="Consolas"/>
            </a:endParaRPr>
          </a:p>
        </p:txBody>
      </p:sp>
      <p:cxnSp>
        <p:nvCxnSpPr>
          <p:cNvPr id="1564" name="Google Shape;1564;p65"/>
          <p:cNvCxnSpPr/>
          <p:nvPr/>
        </p:nvCxnSpPr>
        <p:spPr>
          <a:xfrm>
            <a:off x="8159825" y="4351552"/>
            <a:ext cx="0" cy="0"/>
          </a:xfrm>
          <a:prstGeom prst="straightConnector1">
            <a:avLst/>
          </a:prstGeom>
          <a:noFill/>
          <a:ln w="19050" cap="flat" cmpd="sng">
            <a:solidFill>
              <a:schemeClr val="dk2"/>
            </a:solidFill>
            <a:prstDash val="solid"/>
            <a:round/>
            <a:headEnd type="none" w="med" len="med"/>
            <a:tailEnd type="none" w="med" len="med"/>
          </a:ln>
        </p:spPr>
      </p:cxnSp>
      <p:cxnSp>
        <p:nvCxnSpPr>
          <p:cNvPr id="1565" name="Google Shape;1565;p65"/>
          <p:cNvCxnSpPr>
            <a:stCxn id="1555" idx="5"/>
            <a:endCxn id="1556" idx="0"/>
          </p:cNvCxnSpPr>
          <p:nvPr/>
        </p:nvCxnSpPr>
        <p:spPr>
          <a:xfrm>
            <a:off x="7637333" y="2569478"/>
            <a:ext cx="522600" cy="231000"/>
          </a:xfrm>
          <a:prstGeom prst="straightConnector1">
            <a:avLst/>
          </a:prstGeom>
          <a:noFill/>
          <a:ln w="28575" cap="flat" cmpd="sng">
            <a:solidFill>
              <a:schemeClr val="dk2"/>
            </a:solidFill>
            <a:prstDash val="solid"/>
            <a:round/>
            <a:headEnd type="none" w="med" len="med"/>
            <a:tailEnd type="none" w="med" len="med"/>
          </a:ln>
        </p:spPr>
      </p:cxnSp>
      <p:cxnSp>
        <p:nvCxnSpPr>
          <p:cNvPr id="1566" name="Google Shape;1566;p65"/>
          <p:cNvCxnSpPr>
            <a:stCxn id="1556" idx="4"/>
            <a:endCxn id="1557" idx="0"/>
          </p:cNvCxnSpPr>
          <p:nvPr/>
        </p:nvCxnSpPr>
        <p:spPr>
          <a:xfrm>
            <a:off x="8159825" y="3233396"/>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1567" name="Google Shape;1567;p65"/>
          <p:cNvCxnSpPr>
            <a:stCxn id="1557" idx="4"/>
            <a:endCxn id="1558" idx="0"/>
          </p:cNvCxnSpPr>
          <p:nvPr/>
        </p:nvCxnSpPr>
        <p:spPr>
          <a:xfrm>
            <a:off x="8159825" y="3868673"/>
            <a:ext cx="0" cy="126300"/>
          </a:xfrm>
          <a:prstGeom prst="straightConnector1">
            <a:avLst/>
          </a:prstGeom>
          <a:noFill/>
          <a:ln w="28575" cap="flat" cmpd="sng">
            <a:solidFill>
              <a:schemeClr val="dk2"/>
            </a:solidFill>
            <a:prstDash val="solid"/>
            <a:round/>
            <a:headEnd type="none" w="med" len="med"/>
            <a:tailEnd type="none" w="med" len="med"/>
          </a:ln>
        </p:spPr>
      </p:cxnSp>
      <p:cxnSp>
        <p:nvCxnSpPr>
          <p:cNvPr id="1568" name="Google Shape;1568;p65"/>
          <p:cNvCxnSpPr>
            <a:stCxn id="1557" idx="3"/>
            <a:endCxn id="1559" idx="0"/>
          </p:cNvCxnSpPr>
          <p:nvPr/>
        </p:nvCxnSpPr>
        <p:spPr>
          <a:xfrm flipH="1">
            <a:off x="7530372" y="3805277"/>
            <a:ext cx="476400" cy="189600"/>
          </a:xfrm>
          <a:prstGeom prst="straightConnector1">
            <a:avLst/>
          </a:prstGeom>
          <a:noFill/>
          <a:ln w="28575" cap="flat" cmpd="sng">
            <a:solidFill>
              <a:schemeClr val="dk2"/>
            </a:solidFill>
            <a:prstDash val="solid"/>
            <a:round/>
            <a:headEnd type="none" w="med" len="med"/>
            <a:tailEnd type="none" w="med" len="med"/>
          </a:ln>
        </p:spPr>
      </p:cxnSp>
      <p:cxnSp>
        <p:nvCxnSpPr>
          <p:cNvPr id="1569" name="Google Shape;1569;p65"/>
          <p:cNvCxnSpPr>
            <a:stCxn id="1557" idx="5"/>
            <a:endCxn id="1560" idx="0"/>
          </p:cNvCxnSpPr>
          <p:nvPr/>
        </p:nvCxnSpPr>
        <p:spPr>
          <a:xfrm>
            <a:off x="8312878" y="3805277"/>
            <a:ext cx="476400" cy="189600"/>
          </a:xfrm>
          <a:prstGeom prst="straightConnector1">
            <a:avLst/>
          </a:prstGeom>
          <a:noFill/>
          <a:ln w="28575" cap="flat" cmpd="sng">
            <a:solidFill>
              <a:schemeClr val="dk2"/>
            </a:solidFill>
            <a:prstDash val="solid"/>
            <a:round/>
            <a:headEnd type="none" w="med" len="med"/>
            <a:tailEnd type="none" w="med" len="med"/>
          </a:ln>
        </p:spPr>
      </p:cxnSp>
      <p:cxnSp>
        <p:nvCxnSpPr>
          <p:cNvPr id="1570" name="Google Shape;1570;p65"/>
          <p:cNvCxnSpPr>
            <a:stCxn id="1558" idx="4"/>
            <a:endCxn id="1561" idx="0"/>
          </p:cNvCxnSpPr>
          <p:nvPr/>
        </p:nvCxnSpPr>
        <p:spPr>
          <a:xfrm>
            <a:off x="8159825" y="4427752"/>
            <a:ext cx="0" cy="126300"/>
          </a:xfrm>
          <a:prstGeom prst="straightConnector1">
            <a:avLst/>
          </a:prstGeom>
          <a:noFill/>
          <a:ln w="28575" cap="flat" cmpd="sng">
            <a:solidFill>
              <a:schemeClr val="dk2"/>
            </a:solidFill>
            <a:prstDash val="solid"/>
            <a:round/>
            <a:headEnd type="none" w="med" len="med"/>
            <a:tailEnd type="none" w="med" len="med"/>
          </a:ln>
        </p:spPr>
      </p:cxnSp>
      <p:cxnSp>
        <p:nvCxnSpPr>
          <p:cNvPr id="1571" name="Google Shape;1571;p65"/>
          <p:cNvCxnSpPr>
            <a:stCxn id="1555" idx="3"/>
            <a:endCxn id="1562" idx="0"/>
          </p:cNvCxnSpPr>
          <p:nvPr/>
        </p:nvCxnSpPr>
        <p:spPr>
          <a:xfrm flipH="1">
            <a:off x="6834126" y="2569478"/>
            <a:ext cx="497100" cy="231000"/>
          </a:xfrm>
          <a:prstGeom prst="straightConnector1">
            <a:avLst/>
          </a:prstGeom>
          <a:noFill/>
          <a:ln w="28575" cap="flat" cmpd="sng">
            <a:solidFill>
              <a:schemeClr val="dk2"/>
            </a:solidFill>
            <a:prstDash val="solid"/>
            <a:round/>
            <a:headEnd type="none" w="med" len="med"/>
            <a:tailEnd type="none" w="med" len="med"/>
          </a:ln>
        </p:spPr>
      </p:cxnSp>
      <p:cxnSp>
        <p:nvCxnSpPr>
          <p:cNvPr id="1572" name="Google Shape;1572;p65"/>
          <p:cNvCxnSpPr>
            <a:endCxn id="1563" idx="0"/>
          </p:cNvCxnSpPr>
          <p:nvPr/>
        </p:nvCxnSpPr>
        <p:spPr>
          <a:xfrm>
            <a:off x="6834250" y="3233286"/>
            <a:ext cx="0" cy="202500"/>
          </a:xfrm>
          <a:prstGeom prst="straightConnector1">
            <a:avLst/>
          </a:prstGeom>
          <a:noFill/>
          <a:ln w="28575" cap="flat" cmpd="sng">
            <a:solidFill>
              <a:schemeClr val="dk2"/>
            </a:solidFill>
            <a:prstDash val="solid"/>
            <a:round/>
            <a:headEnd type="none" w="med" len="med"/>
            <a:tailEnd type="none" w="med" len="med"/>
          </a:ln>
        </p:spPr>
      </p:cxnSp>
      <p:sp>
        <p:nvSpPr>
          <p:cNvPr id="1573" name="Google Shape;1573;p65"/>
          <p:cNvSpPr/>
          <p:nvPr/>
        </p:nvSpPr>
        <p:spPr>
          <a:xfrm>
            <a:off x="6617800" y="4553936"/>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cxnSp>
        <p:nvCxnSpPr>
          <p:cNvPr id="1574" name="Google Shape;1574;p65"/>
          <p:cNvCxnSpPr>
            <a:stCxn id="1551" idx="4"/>
            <a:endCxn id="1573" idx="0"/>
          </p:cNvCxnSpPr>
          <p:nvPr/>
        </p:nvCxnSpPr>
        <p:spPr>
          <a:xfrm>
            <a:off x="6834250" y="4427761"/>
            <a:ext cx="0" cy="126300"/>
          </a:xfrm>
          <a:prstGeom prst="straightConnector1">
            <a:avLst/>
          </a:prstGeom>
          <a:noFill/>
          <a:ln w="28575" cap="flat" cmpd="sng">
            <a:solidFill>
              <a:schemeClr val="dk2"/>
            </a:solidFill>
            <a:prstDash val="solid"/>
            <a:round/>
            <a:headEnd type="none" w="med" len="med"/>
            <a:tailEnd type="none" w="med" len="med"/>
          </a:ln>
        </p:spPr>
      </p:cxnSp>
      <p:sp>
        <p:nvSpPr>
          <p:cNvPr id="1575" name="Google Shape;1575;p65"/>
          <p:cNvSpPr txBox="1"/>
          <p:nvPr/>
        </p:nvSpPr>
        <p:spPr>
          <a:xfrm>
            <a:off x="6033375" y="1512500"/>
            <a:ext cx="1146000" cy="36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onsolas"/>
                <a:ea typeface="Consolas"/>
                <a:cs typeface="Consolas"/>
                <a:sym typeface="Consolas"/>
              </a:rPr>
              <a:t>x = ["a"]</a:t>
            </a:r>
            <a:endParaRPr>
              <a:latin typeface="Consolas"/>
              <a:ea typeface="Consolas"/>
              <a:cs typeface="Consolas"/>
              <a:sym typeface="Consolas"/>
            </a:endParaRPr>
          </a:p>
        </p:txBody>
      </p:sp>
      <p:sp>
        <p:nvSpPr>
          <p:cNvPr id="1576" name="Google Shape;1576;p65"/>
          <p:cNvSpPr txBox="1"/>
          <p:nvPr/>
        </p:nvSpPr>
        <p:spPr>
          <a:xfrm>
            <a:off x="4969425" y="2788950"/>
            <a:ext cx="2667900" cy="36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onsolas"/>
                <a:ea typeface="Consolas"/>
                <a:cs typeface="Consolas"/>
                <a:sym typeface="Consolas"/>
              </a:rPr>
              <a:t>colHelp("a", x,      )  </a:t>
            </a:r>
            <a:endParaRPr>
              <a:latin typeface="Consolas"/>
              <a:ea typeface="Consolas"/>
              <a:cs typeface="Consolas"/>
              <a:sym typeface="Consolas"/>
            </a:endParaRPr>
          </a:p>
        </p:txBody>
      </p:sp>
      <p:sp>
        <p:nvSpPr>
          <p:cNvPr id="1577" name="Google Shape;1577;p65"/>
          <p:cNvSpPr txBox="1"/>
          <p:nvPr/>
        </p:nvSpPr>
        <p:spPr>
          <a:xfrm>
            <a:off x="4893225" y="3391900"/>
            <a:ext cx="2667900" cy="36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onsolas"/>
                <a:ea typeface="Consolas"/>
                <a:cs typeface="Consolas"/>
                <a:sym typeface="Consolas"/>
              </a:rPr>
              <a:t>colHelp("aw", x,      )  </a:t>
            </a:r>
            <a:endParaRPr>
              <a:latin typeface="Consolas"/>
              <a:ea typeface="Consolas"/>
              <a:cs typeface="Consolas"/>
              <a:sym typeface="Consolas"/>
            </a:endParaRPr>
          </a:p>
        </p:txBody>
      </p:sp>
      <p:sp>
        <p:nvSpPr>
          <p:cNvPr id="1578" name="Google Shape;1578;p65"/>
          <p:cNvSpPr txBox="1"/>
          <p:nvPr/>
        </p:nvSpPr>
        <p:spPr>
          <a:xfrm>
            <a:off x="4706875" y="4514225"/>
            <a:ext cx="2667900" cy="36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onsolas"/>
                <a:ea typeface="Consolas"/>
                <a:cs typeface="Consolas"/>
                <a:sym typeface="Consolas"/>
              </a:rPr>
              <a:t>colHelp</a:t>
            </a:r>
            <a:r>
              <a:rPr lang="en" b="1">
                <a:solidFill>
                  <a:schemeClr val="dk1"/>
                </a:solidFill>
                <a:latin typeface="Consolas"/>
                <a:ea typeface="Consolas"/>
                <a:cs typeface="Consolas"/>
                <a:sym typeface="Consolas"/>
              </a:rPr>
              <a:t>("awls", x,      )  </a:t>
            </a:r>
            <a:endParaRPr b="1">
              <a:latin typeface="Consolas"/>
              <a:ea typeface="Consolas"/>
              <a:cs typeface="Consolas"/>
              <a:sym typeface="Consolas"/>
            </a:endParaRPr>
          </a:p>
        </p:txBody>
      </p:sp>
      <p:sp>
        <p:nvSpPr>
          <p:cNvPr id="1579" name="Google Shape;1579;p65"/>
          <p:cNvSpPr txBox="1"/>
          <p:nvPr/>
        </p:nvSpPr>
        <p:spPr>
          <a:xfrm>
            <a:off x="4817025" y="3856500"/>
            <a:ext cx="2667900" cy="36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onsolas"/>
                <a:ea typeface="Consolas"/>
                <a:cs typeface="Consolas"/>
                <a:sym typeface="Consolas"/>
              </a:rPr>
              <a:t>colHelp("awl", x,      )  </a:t>
            </a:r>
            <a:endParaRPr>
              <a:latin typeface="Consolas"/>
              <a:ea typeface="Consolas"/>
              <a:cs typeface="Consolas"/>
              <a:sym typeface="Consola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83"/>
        <p:cNvGrpSpPr/>
        <p:nvPr/>
      </p:nvGrpSpPr>
      <p:grpSpPr>
        <a:xfrm>
          <a:off x="0" y="0"/>
          <a:ext cx="0" cy="0"/>
          <a:chOff x="0" y="0"/>
          <a:chExt cx="0" cy="0"/>
        </a:xfrm>
      </p:grpSpPr>
      <p:cxnSp>
        <p:nvCxnSpPr>
          <p:cNvPr id="1584" name="Google Shape;1584;p66"/>
          <p:cNvCxnSpPr>
            <a:endCxn id="1585" idx="0"/>
          </p:cNvCxnSpPr>
          <p:nvPr/>
        </p:nvCxnSpPr>
        <p:spPr>
          <a:xfrm>
            <a:off x="6834250" y="3792361"/>
            <a:ext cx="0" cy="202500"/>
          </a:xfrm>
          <a:prstGeom prst="straightConnector1">
            <a:avLst/>
          </a:prstGeom>
          <a:noFill/>
          <a:ln w="28575" cap="flat" cmpd="sng">
            <a:solidFill>
              <a:schemeClr val="dk2"/>
            </a:solidFill>
            <a:prstDash val="solid"/>
            <a:round/>
            <a:headEnd type="none" w="med" len="med"/>
            <a:tailEnd type="none" w="med" len="med"/>
          </a:ln>
        </p:spPr>
      </p:cxnSp>
      <p:sp>
        <p:nvSpPr>
          <p:cNvPr id="1586" name="Google Shape;1586;p6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Challenging Warmup Exercise: Collecting Trie Keys</a:t>
            </a:r>
            <a:endParaRPr/>
          </a:p>
        </p:txBody>
      </p:sp>
      <p:sp>
        <p:nvSpPr>
          <p:cNvPr id="1587" name="Google Shape;1587;p66"/>
          <p:cNvSpPr txBox="1">
            <a:spLocks noGrp="1"/>
          </p:cNvSpPr>
          <p:nvPr>
            <p:ph type="body" idx="1"/>
          </p:nvPr>
        </p:nvSpPr>
        <p:spPr>
          <a:xfrm>
            <a:off x="319200" y="556500"/>
            <a:ext cx="8443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p:txBody>
      </p:sp>
      <p:sp>
        <p:nvSpPr>
          <p:cNvPr id="1588" name="Google Shape;1588;p66"/>
          <p:cNvSpPr txBox="1">
            <a:spLocks noGrp="1"/>
          </p:cNvSpPr>
          <p:nvPr>
            <p:ph type="body" idx="1"/>
          </p:nvPr>
        </p:nvSpPr>
        <p:spPr>
          <a:xfrm>
            <a:off x="90600" y="409750"/>
            <a:ext cx="8701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rgbClr val="000000"/>
              </a:buClr>
              <a:buSzPts val="1100"/>
              <a:buFont typeface="Arial"/>
              <a:buNone/>
            </a:pPr>
            <a:r>
              <a:rPr lang="en">
                <a:solidFill>
                  <a:srgbClr val="999999"/>
                </a:solidFill>
              </a:rPr>
              <a:t>Challenging Exercise: Give an algorithm for collecting all the keys in a Trie.</a:t>
            </a:r>
            <a:endParaRPr>
              <a:solidFill>
                <a:srgbClr val="999999"/>
              </a:solidFill>
            </a:endParaRPr>
          </a:p>
          <a:p>
            <a:pPr marL="0" lvl="0" indent="0" algn="l" rtl="0">
              <a:spcBef>
                <a:spcPts val="600"/>
              </a:spcBef>
              <a:spcAft>
                <a:spcPts val="0"/>
              </a:spcAft>
              <a:buClr>
                <a:srgbClr val="000000"/>
              </a:buClr>
              <a:buSzPts val="1100"/>
              <a:buFont typeface="Arial"/>
              <a:buNone/>
            </a:pPr>
            <a:r>
              <a:rPr lang="en">
                <a:solidFill>
                  <a:srgbClr val="999999"/>
                </a:solidFill>
                <a:latin typeface="Consolas"/>
                <a:ea typeface="Consolas"/>
                <a:cs typeface="Consolas"/>
                <a:sym typeface="Consolas"/>
              </a:rPr>
              <a:t>collect():</a:t>
            </a:r>
            <a:endParaRPr>
              <a:solidFill>
                <a:srgbClr val="999999"/>
              </a:solidFill>
              <a:latin typeface="Consolas"/>
              <a:ea typeface="Consolas"/>
              <a:cs typeface="Consolas"/>
              <a:sym typeface="Consolas"/>
            </a:endParaRPr>
          </a:p>
          <a:p>
            <a:pPr marL="457200" lvl="0" indent="-342900" algn="l" rtl="0">
              <a:spcBef>
                <a:spcPts val="600"/>
              </a:spcBef>
              <a:spcAft>
                <a:spcPts val="0"/>
              </a:spcAft>
              <a:buClr>
                <a:srgbClr val="999999"/>
              </a:buClr>
              <a:buSzPts val="1800"/>
              <a:buChar char="●"/>
            </a:pPr>
            <a:r>
              <a:rPr lang="en">
                <a:solidFill>
                  <a:srgbClr val="999999"/>
                </a:solidFill>
              </a:rPr>
              <a:t>Create an empty list of results </a:t>
            </a:r>
            <a:r>
              <a:rPr lang="en">
                <a:solidFill>
                  <a:srgbClr val="999999"/>
                </a:solidFill>
                <a:latin typeface="Consolas"/>
                <a:ea typeface="Consolas"/>
                <a:cs typeface="Consolas"/>
                <a:sym typeface="Consolas"/>
              </a:rPr>
              <a:t>x</a:t>
            </a:r>
            <a:r>
              <a:rPr lang="en">
                <a:solidFill>
                  <a:srgbClr val="999999"/>
                </a:solidFill>
              </a:rPr>
              <a:t>.</a:t>
            </a:r>
            <a:endParaRPr>
              <a:solidFill>
                <a:srgbClr val="999999"/>
              </a:solidFill>
            </a:endParaRPr>
          </a:p>
          <a:p>
            <a:pPr marL="457200" lvl="0" indent="-342900" algn="l" rtl="0">
              <a:spcBef>
                <a:spcPts val="600"/>
              </a:spcBef>
              <a:spcAft>
                <a:spcPts val="0"/>
              </a:spcAft>
              <a:buClr>
                <a:srgbClr val="999999"/>
              </a:buClr>
              <a:buSzPts val="1800"/>
              <a:buChar char="●"/>
            </a:pPr>
            <a:r>
              <a:rPr lang="en">
                <a:solidFill>
                  <a:srgbClr val="999999"/>
                </a:solidFill>
              </a:rPr>
              <a:t>For character </a:t>
            </a:r>
            <a:r>
              <a:rPr lang="en">
                <a:solidFill>
                  <a:srgbClr val="999999"/>
                </a:solidFill>
                <a:latin typeface="Consolas"/>
                <a:ea typeface="Consolas"/>
                <a:cs typeface="Consolas"/>
                <a:sym typeface="Consolas"/>
              </a:rPr>
              <a:t>c</a:t>
            </a:r>
            <a:r>
              <a:rPr lang="en">
                <a:solidFill>
                  <a:srgbClr val="999999"/>
                </a:solidFill>
              </a:rPr>
              <a:t> in </a:t>
            </a:r>
            <a:r>
              <a:rPr lang="en">
                <a:solidFill>
                  <a:srgbClr val="999999"/>
                </a:solidFill>
                <a:latin typeface="Consolas"/>
                <a:ea typeface="Consolas"/>
                <a:cs typeface="Consolas"/>
                <a:sym typeface="Consolas"/>
              </a:rPr>
              <a:t>root.next.keys()</a:t>
            </a:r>
            <a:r>
              <a:rPr lang="en">
                <a:solidFill>
                  <a:srgbClr val="999999"/>
                </a:solidFill>
              </a:rPr>
              <a:t>:</a:t>
            </a:r>
            <a:endParaRPr>
              <a:solidFill>
                <a:srgbClr val="999999"/>
              </a:solidFill>
            </a:endParaRPr>
          </a:p>
          <a:p>
            <a:pPr marL="914400" lvl="1" indent="-342900" algn="l" rtl="0">
              <a:spcBef>
                <a:spcPts val="600"/>
              </a:spcBef>
              <a:spcAft>
                <a:spcPts val="0"/>
              </a:spcAft>
              <a:buClr>
                <a:srgbClr val="999999"/>
              </a:buClr>
              <a:buSzPts val="1800"/>
              <a:buChar char="○"/>
            </a:pPr>
            <a:r>
              <a:rPr lang="en">
                <a:solidFill>
                  <a:srgbClr val="999999"/>
                </a:solidFill>
              </a:rPr>
              <a:t>Call </a:t>
            </a:r>
            <a:r>
              <a:rPr lang="en">
                <a:solidFill>
                  <a:srgbClr val="999999"/>
                </a:solidFill>
                <a:latin typeface="Consolas"/>
                <a:ea typeface="Consolas"/>
                <a:cs typeface="Consolas"/>
                <a:sym typeface="Consolas"/>
              </a:rPr>
              <a:t>colHelp(c, x, root.next.get(c))</a:t>
            </a:r>
            <a:r>
              <a:rPr lang="en">
                <a:solidFill>
                  <a:srgbClr val="999999"/>
                </a:solidFill>
              </a:rPr>
              <a:t>.</a:t>
            </a:r>
            <a:endParaRPr>
              <a:solidFill>
                <a:srgbClr val="999999"/>
              </a:solidFill>
            </a:endParaRPr>
          </a:p>
          <a:p>
            <a:pPr marL="457200" lvl="0" indent="-342900" algn="l" rtl="0">
              <a:spcBef>
                <a:spcPts val="600"/>
              </a:spcBef>
              <a:spcAft>
                <a:spcPts val="0"/>
              </a:spcAft>
              <a:buClr>
                <a:srgbClr val="999999"/>
              </a:buClr>
              <a:buSzPts val="1800"/>
              <a:buChar char="●"/>
            </a:pPr>
            <a:r>
              <a:rPr lang="en">
                <a:solidFill>
                  <a:srgbClr val="999999"/>
                </a:solidFill>
              </a:rPr>
              <a:t>Return </a:t>
            </a:r>
            <a:r>
              <a:rPr lang="en">
                <a:solidFill>
                  <a:srgbClr val="999999"/>
                </a:solidFill>
                <a:latin typeface="Consolas"/>
                <a:ea typeface="Consolas"/>
                <a:cs typeface="Consolas"/>
                <a:sym typeface="Consolas"/>
              </a:rPr>
              <a:t>x</a:t>
            </a:r>
            <a:r>
              <a:rPr lang="en">
                <a:solidFill>
                  <a:srgbClr val="999999"/>
                </a:solidFill>
              </a:rPr>
              <a:t>.</a:t>
            </a:r>
            <a:endParaRPr>
              <a:solidFill>
                <a:srgbClr val="999999"/>
              </a:solidFill>
            </a:endParaRPr>
          </a:p>
          <a:p>
            <a:pPr marL="0" lvl="0" indent="0" algn="l" rtl="0">
              <a:spcBef>
                <a:spcPts val="600"/>
              </a:spcBef>
              <a:spcAft>
                <a:spcPts val="0"/>
              </a:spcAft>
              <a:buClr>
                <a:srgbClr val="000000"/>
              </a:buClr>
              <a:buSzPts val="1100"/>
              <a:buFont typeface="Arial"/>
              <a:buNone/>
            </a:pPr>
            <a:endParaRPr/>
          </a:p>
          <a:p>
            <a:pPr marL="0" lvl="0" indent="0" algn="l" rtl="0">
              <a:spcBef>
                <a:spcPts val="600"/>
              </a:spcBef>
              <a:spcAft>
                <a:spcPts val="0"/>
              </a:spcAft>
              <a:buClr>
                <a:srgbClr val="000000"/>
              </a:buClr>
              <a:buSzPts val="1100"/>
              <a:buFont typeface="Arial"/>
              <a:buNone/>
            </a:pPr>
            <a:r>
              <a:rPr lang="en">
                <a:latin typeface="Consolas"/>
                <a:ea typeface="Consolas"/>
                <a:cs typeface="Consolas"/>
                <a:sym typeface="Consolas"/>
              </a:rPr>
              <a:t>colHelp(String s, List&lt;String&gt; x, Node n)</a:t>
            </a:r>
            <a:r>
              <a:rPr lang="en"/>
              <a:t>:</a:t>
            </a:r>
            <a:endParaRPr/>
          </a:p>
          <a:p>
            <a:pPr marL="457200" lvl="0" indent="-342900" algn="l" rtl="0">
              <a:spcBef>
                <a:spcPts val="600"/>
              </a:spcBef>
              <a:spcAft>
                <a:spcPts val="0"/>
              </a:spcAft>
              <a:buSzPts val="1800"/>
              <a:buChar char="●"/>
            </a:pPr>
            <a:r>
              <a:rPr lang="en"/>
              <a:t>If </a:t>
            </a:r>
            <a:r>
              <a:rPr lang="en">
                <a:latin typeface="Consolas"/>
                <a:ea typeface="Consolas"/>
                <a:cs typeface="Consolas"/>
                <a:sym typeface="Consolas"/>
              </a:rPr>
              <a:t>n.isKey</a:t>
            </a:r>
            <a:r>
              <a:rPr lang="en"/>
              <a:t>, then </a:t>
            </a:r>
            <a:r>
              <a:rPr lang="en">
                <a:latin typeface="Consolas"/>
                <a:ea typeface="Consolas"/>
                <a:cs typeface="Consolas"/>
                <a:sym typeface="Consolas"/>
              </a:rPr>
              <a:t>x.add(s)</a:t>
            </a:r>
            <a:r>
              <a:rPr lang="en"/>
              <a:t>.</a:t>
            </a:r>
            <a:endParaRPr/>
          </a:p>
          <a:p>
            <a:pPr marL="457200" lvl="0" indent="-342900" algn="l" rtl="0">
              <a:spcBef>
                <a:spcPts val="600"/>
              </a:spcBef>
              <a:spcAft>
                <a:spcPts val="0"/>
              </a:spcAft>
              <a:buClr>
                <a:srgbClr val="999999"/>
              </a:buClr>
              <a:buSzPts val="1800"/>
              <a:buChar char="●"/>
            </a:pPr>
            <a:r>
              <a:rPr lang="en">
                <a:solidFill>
                  <a:srgbClr val="999999"/>
                </a:solidFill>
              </a:rPr>
              <a:t>For character </a:t>
            </a:r>
            <a:r>
              <a:rPr lang="en">
                <a:solidFill>
                  <a:srgbClr val="999999"/>
                </a:solidFill>
                <a:latin typeface="Consolas"/>
                <a:ea typeface="Consolas"/>
                <a:cs typeface="Consolas"/>
                <a:sym typeface="Consolas"/>
              </a:rPr>
              <a:t>c</a:t>
            </a:r>
            <a:r>
              <a:rPr lang="en">
                <a:solidFill>
                  <a:srgbClr val="999999"/>
                </a:solidFill>
              </a:rPr>
              <a:t> in </a:t>
            </a:r>
            <a:r>
              <a:rPr lang="en">
                <a:solidFill>
                  <a:srgbClr val="999999"/>
                </a:solidFill>
                <a:latin typeface="Consolas"/>
                <a:ea typeface="Consolas"/>
                <a:cs typeface="Consolas"/>
                <a:sym typeface="Consolas"/>
              </a:rPr>
              <a:t>n.next.keys()</a:t>
            </a:r>
            <a:r>
              <a:rPr lang="en">
                <a:solidFill>
                  <a:srgbClr val="999999"/>
                </a:solidFill>
              </a:rPr>
              <a:t>:</a:t>
            </a:r>
            <a:endParaRPr>
              <a:solidFill>
                <a:srgbClr val="999999"/>
              </a:solidFill>
            </a:endParaRPr>
          </a:p>
          <a:p>
            <a:pPr marL="914400" lvl="1" indent="-342900" algn="l" rtl="0">
              <a:spcBef>
                <a:spcPts val="600"/>
              </a:spcBef>
              <a:spcAft>
                <a:spcPts val="0"/>
              </a:spcAft>
              <a:buClr>
                <a:srgbClr val="999999"/>
              </a:buClr>
              <a:buSzPts val="1800"/>
              <a:buChar char="○"/>
            </a:pPr>
            <a:r>
              <a:rPr lang="en">
                <a:solidFill>
                  <a:srgbClr val="999999"/>
                </a:solidFill>
              </a:rPr>
              <a:t>Call </a:t>
            </a:r>
            <a:r>
              <a:rPr lang="en">
                <a:solidFill>
                  <a:srgbClr val="999999"/>
                </a:solidFill>
                <a:latin typeface="Consolas"/>
                <a:ea typeface="Consolas"/>
                <a:cs typeface="Consolas"/>
                <a:sym typeface="Consolas"/>
              </a:rPr>
              <a:t>colHelp(s + c, x, n.next.get(c))</a:t>
            </a:r>
            <a:endParaRPr>
              <a:solidFill>
                <a:srgbClr val="999999"/>
              </a:solidFill>
            </a:endParaRPr>
          </a:p>
        </p:txBody>
      </p:sp>
      <p:sp>
        <p:nvSpPr>
          <p:cNvPr id="1589" name="Google Shape;1589;p66"/>
          <p:cNvSpPr/>
          <p:nvPr/>
        </p:nvSpPr>
        <p:spPr>
          <a:xfrm>
            <a:off x="7267830" y="21999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1590" name="Google Shape;1590;p66"/>
          <p:cNvSpPr/>
          <p:nvPr/>
        </p:nvSpPr>
        <p:spPr>
          <a:xfrm>
            <a:off x="7943375" y="280049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sp>
        <p:nvSpPr>
          <p:cNvPr id="1591" name="Google Shape;1591;p66"/>
          <p:cNvSpPr/>
          <p:nvPr/>
        </p:nvSpPr>
        <p:spPr>
          <a:xfrm>
            <a:off x="7943375" y="3435773"/>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592" name="Google Shape;1592;p66"/>
          <p:cNvSpPr/>
          <p:nvPr/>
        </p:nvSpPr>
        <p:spPr>
          <a:xfrm>
            <a:off x="79433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m</a:t>
            </a:r>
            <a:endParaRPr sz="1800">
              <a:latin typeface="Consolas"/>
              <a:ea typeface="Consolas"/>
              <a:cs typeface="Consolas"/>
              <a:sym typeface="Consolas"/>
            </a:endParaRPr>
          </a:p>
        </p:txBody>
      </p:sp>
      <p:sp>
        <p:nvSpPr>
          <p:cNvPr id="1593" name="Google Shape;1593;p66"/>
          <p:cNvSpPr/>
          <p:nvPr/>
        </p:nvSpPr>
        <p:spPr>
          <a:xfrm>
            <a:off x="73138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d</a:t>
            </a:r>
            <a:endParaRPr sz="1800">
              <a:latin typeface="Consolas"/>
              <a:ea typeface="Consolas"/>
              <a:cs typeface="Consolas"/>
              <a:sym typeface="Consolas"/>
            </a:endParaRPr>
          </a:p>
        </p:txBody>
      </p:sp>
      <p:sp>
        <p:nvSpPr>
          <p:cNvPr id="1594" name="Google Shape;1594;p66"/>
          <p:cNvSpPr/>
          <p:nvPr/>
        </p:nvSpPr>
        <p:spPr>
          <a:xfrm>
            <a:off x="85728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p</a:t>
            </a:r>
            <a:endParaRPr sz="1800">
              <a:latin typeface="Consolas"/>
              <a:ea typeface="Consolas"/>
              <a:cs typeface="Consolas"/>
              <a:sym typeface="Consolas"/>
            </a:endParaRPr>
          </a:p>
        </p:txBody>
      </p:sp>
      <p:sp>
        <p:nvSpPr>
          <p:cNvPr id="1595" name="Google Shape;1595;p66"/>
          <p:cNvSpPr/>
          <p:nvPr/>
        </p:nvSpPr>
        <p:spPr>
          <a:xfrm>
            <a:off x="7943375" y="4553927"/>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e</a:t>
            </a:r>
            <a:endParaRPr sz="1800">
              <a:latin typeface="Consolas"/>
              <a:ea typeface="Consolas"/>
              <a:cs typeface="Consolas"/>
              <a:sym typeface="Consolas"/>
            </a:endParaRPr>
          </a:p>
        </p:txBody>
      </p:sp>
      <p:sp>
        <p:nvSpPr>
          <p:cNvPr id="1596" name="Google Shape;1596;p66"/>
          <p:cNvSpPr/>
          <p:nvPr/>
        </p:nvSpPr>
        <p:spPr>
          <a:xfrm>
            <a:off x="6617800" y="2800511"/>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597" name="Google Shape;1597;p66"/>
          <p:cNvSpPr/>
          <p:nvPr/>
        </p:nvSpPr>
        <p:spPr>
          <a:xfrm>
            <a:off x="6617800" y="343578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w</a:t>
            </a:r>
            <a:endParaRPr sz="1800">
              <a:latin typeface="Consolas"/>
              <a:ea typeface="Consolas"/>
              <a:cs typeface="Consolas"/>
              <a:sym typeface="Consolas"/>
            </a:endParaRPr>
          </a:p>
        </p:txBody>
      </p:sp>
      <p:sp>
        <p:nvSpPr>
          <p:cNvPr id="1585" name="Google Shape;1585;p66"/>
          <p:cNvSpPr/>
          <p:nvPr/>
        </p:nvSpPr>
        <p:spPr>
          <a:xfrm>
            <a:off x="6617800" y="3994861"/>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l</a:t>
            </a:r>
            <a:endParaRPr sz="1800">
              <a:latin typeface="Consolas"/>
              <a:ea typeface="Consolas"/>
              <a:cs typeface="Consolas"/>
              <a:sym typeface="Consolas"/>
            </a:endParaRPr>
          </a:p>
        </p:txBody>
      </p:sp>
      <p:cxnSp>
        <p:nvCxnSpPr>
          <p:cNvPr id="1598" name="Google Shape;1598;p66"/>
          <p:cNvCxnSpPr/>
          <p:nvPr/>
        </p:nvCxnSpPr>
        <p:spPr>
          <a:xfrm>
            <a:off x="8159825" y="4351552"/>
            <a:ext cx="0" cy="0"/>
          </a:xfrm>
          <a:prstGeom prst="straightConnector1">
            <a:avLst/>
          </a:prstGeom>
          <a:noFill/>
          <a:ln w="19050" cap="flat" cmpd="sng">
            <a:solidFill>
              <a:schemeClr val="dk2"/>
            </a:solidFill>
            <a:prstDash val="solid"/>
            <a:round/>
            <a:headEnd type="none" w="med" len="med"/>
            <a:tailEnd type="none" w="med" len="med"/>
          </a:ln>
        </p:spPr>
      </p:cxnSp>
      <p:cxnSp>
        <p:nvCxnSpPr>
          <p:cNvPr id="1599" name="Google Shape;1599;p66"/>
          <p:cNvCxnSpPr>
            <a:stCxn id="1589" idx="5"/>
            <a:endCxn id="1590" idx="0"/>
          </p:cNvCxnSpPr>
          <p:nvPr/>
        </p:nvCxnSpPr>
        <p:spPr>
          <a:xfrm>
            <a:off x="7637333" y="2569478"/>
            <a:ext cx="522600" cy="231000"/>
          </a:xfrm>
          <a:prstGeom prst="straightConnector1">
            <a:avLst/>
          </a:prstGeom>
          <a:noFill/>
          <a:ln w="28575" cap="flat" cmpd="sng">
            <a:solidFill>
              <a:schemeClr val="dk2"/>
            </a:solidFill>
            <a:prstDash val="solid"/>
            <a:round/>
            <a:headEnd type="none" w="med" len="med"/>
            <a:tailEnd type="none" w="med" len="med"/>
          </a:ln>
        </p:spPr>
      </p:cxnSp>
      <p:cxnSp>
        <p:nvCxnSpPr>
          <p:cNvPr id="1600" name="Google Shape;1600;p66"/>
          <p:cNvCxnSpPr>
            <a:stCxn id="1590" idx="4"/>
            <a:endCxn id="1591" idx="0"/>
          </p:cNvCxnSpPr>
          <p:nvPr/>
        </p:nvCxnSpPr>
        <p:spPr>
          <a:xfrm>
            <a:off x="8159825" y="3233396"/>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1601" name="Google Shape;1601;p66"/>
          <p:cNvCxnSpPr>
            <a:stCxn id="1591" idx="4"/>
            <a:endCxn id="1592" idx="0"/>
          </p:cNvCxnSpPr>
          <p:nvPr/>
        </p:nvCxnSpPr>
        <p:spPr>
          <a:xfrm>
            <a:off x="8159825" y="3868673"/>
            <a:ext cx="0" cy="126300"/>
          </a:xfrm>
          <a:prstGeom prst="straightConnector1">
            <a:avLst/>
          </a:prstGeom>
          <a:noFill/>
          <a:ln w="28575" cap="flat" cmpd="sng">
            <a:solidFill>
              <a:schemeClr val="dk2"/>
            </a:solidFill>
            <a:prstDash val="solid"/>
            <a:round/>
            <a:headEnd type="none" w="med" len="med"/>
            <a:tailEnd type="none" w="med" len="med"/>
          </a:ln>
        </p:spPr>
      </p:cxnSp>
      <p:cxnSp>
        <p:nvCxnSpPr>
          <p:cNvPr id="1602" name="Google Shape;1602;p66"/>
          <p:cNvCxnSpPr>
            <a:stCxn id="1591" idx="3"/>
            <a:endCxn id="1593" idx="0"/>
          </p:cNvCxnSpPr>
          <p:nvPr/>
        </p:nvCxnSpPr>
        <p:spPr>
          <a:xfrm flipH="1">
            <a:off x="7530372" y="3805277"/>
            <a:ext cx="476400" cy="189600"/>
          </a:xfrm>
          <a:prstGeom prst="straightConnector1">
            <a:avLst/>
          </a:prstGeom>
          <a:noFill/>
          <a:ln w="28575" cap="flat" cmpd="sng">
            <a:solidFill>
              <a:schemeClr val="dk2"/>
            </a:solidFill>
            <a:prstDash val="solid"/>
            <a:round/>
            <a:headEnd type="none" w="med" len="med"/>
            <a:tailEnd type="none" w="med" len="med"/>
          </a:ln>
        </p:spPr>
      </p:cxnSp>
      <p:cxnSp>
        <p:nvCxnSpPr>
          <p:cNvPr id="1603" name="Google Shape;1603;p66"/>
          <p:cNvCxnSpPr>
            <a:stCxn id="1591" idx="5"/>
            <a:endCxn id="1594" idx="0"/>
          </p:cNvCxnSpPr>
          <p:nvPr/>
        </p:nvCxnSpPr>
        <p:spPr>
          <a:xfrm>
            <a:off x="8312878" y="3805277"/>
            <a:ext cx="476400" cy="189600"/>
          </a:xfrm>
          <a:prstGeom prst="straightConnector1">
            <a:avLst/>
          </a:prstGeom>
          <a:noFill/>
          <a:ln w="28575" cap="flat" cmpd="sng">
            <a:solidFill>
              <a:schemeClr val="dk2"/>
            </a:solidFill>
            <a:prstDash val="solid"/>
            <a:round/>
            <a:headEnd type="none" w="med" len="med"/>
            <a:tailEnd type="none" w="med" len="med"/>
          </a:ln>
        </p:spPr>
      </p:cxnSp>
      <p:cxnSp>
        <p:nvCxnSpPr>
          <p:cNvPr id="1604" name="Google Shape;1604;p66"/>
          <p:cNvCxnSpPr>
            <a:stCxn id="1592" idx="4"/>
            <a:endCxn id="1595" idx="0"/>
          </p:cNvCxnSpPr>
          <p:nvPr/>
        </p:nvCxnSpPr>
        <p:spPr>
          <a:xfrm>
            <a:off x="8159825" y="4427752"/>
            <a:ext cx="0" cy="126300"/>
          </a:xfrm>
          <a:prstGeom prst="straightConnector1">
            <a:avLst/>
          </a:prstGeom>
          <a:noFill/>
          <a:ln w="28575" cap="flat" cmpd="sng">
            <a:solidFill>
              <a:schemeClr val="dk2"/>
            </a:solidFill>
            <a:prstDash val="solid"/>
            <a:round/>
            <a:headEnd type="none" w="med" len="med"/>
            <a:tailEnd type="none" w="med" len="med"/>
          </a:ln>
        </p:spPr>
      </p:cxnSp>
      <p:cxnSp>
        <p:nvCxnSpPr>
          <p:cNvPr id="1605" name="Google Shape;1605;p66"/>
          <p:cNvCxnSpPr>
            <a:stCxn id="1589" idx="3"/>
            <a:endCxn id="1596" idx="0"/>
          </p:cNvCxnSpPr>
          <p:nvPr/>
        </p:nvCxnSpPr>
        <p:spPr>
          <a:xfrm flipH="1">
            <a:off x="6834126" y="2569478"/>
            <a:ext cx="497100" cy="231000"/>
          </a:xfrm>
          <a:prstGeom prst="straightConnector1">
            <a:avLst/>
          </a:prstGeom>
          <a:noFill/>
          <a:ln w="28575" cap="flat" cmpd="sng">
            <a:solidFill>
              <a:schemeClr val="dk2"/>
            </a:solidFill>
            <a:prstDash val="solid"/>
            <a:round/>
            <a:headEnd type="none" w="med" len="med"/>
            <a:tailEnd type="none" w="med" len="med"/>
          </a:ln>
        </p:spPr>
      </p:cxnSp>
      <p:cxnSp>
        <p:nvCxnSpPr>
          <p:cNvPr id="1606" name="Google Shape;1606;p66"/>
          <p:cNvCxnSpPr>
            <a:endCxn id="1597" idx="0"/>
          </p:cNvCxnSpPr>
          <p:nvPr/>
        </p:nvCxnSpPr>
        <p:spPr>
          <a:xfrm>
            <a:off x="6834250" y="3233286"/>
            <a:ext cx="0" cy="202500"/>
          </a:xfrm>
          <a:prstGeom prst="straightConnector1">
            <a:avLst/>
          </a:prstGeom>
          <a:noFill/>
          <a:ln w="28575" cap="flat" cmpd="sng">
            <a:solidFill>
              <a:schemeClr val="dk2"/>
            </a:solidFill>
            <a:prstDash val="solid"/>
            <a:round/>
            <a:headEnd type="none" w="med" len="med"/>
            <a:tailEnd type="none" w="med" len="med"/>
          </a:ln>
        </p:spPr>
      </p:cxnSp>
      <p:sp>
        <p:nvSpPr>
          <p:cNvPr id="1607" name="Google Shape;1607;p66"/>
          <p:cNvSpPr/>
          <p:nvPr/>
        </p:nvSpPr>
        <p:spPr>
          <a:xfrm>
            <a:off x="6617800" y="4553936"/>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cxnSp>
        <p:nvCxnSpPr>
          <p:cNvPr id="1608" name="Google Shape;1608;p66"/>
          <p:cNvCxnSpPr>
            <a:stCxn id="1585" idx="4"/>
            <a:endCxn id="1607" idx="0"/>
          </p:cNvCxnSpPr>
          <p:nvPr/>
        </p:nvCxnSpPr>
        <p:spPr>
          <a:xfrm>
            <a:off x="6834250" y="4427761"/>
            <a:ext cx="0" cy="126300"/>
          </a:xfrm>
          <a:prstGeom prst="straightConnector1">
            <a:avLst/>
          </a:prstGeom>
          <a:noFill/>
          <a:ln w="28575" cap="flat" cmpd="sng">
            <a:solidFill>
              <a:schemeClr val="dk2"/>
            </a:solidFill>
            <a:prstDash val="solid"/>
            <a:round/>
            <a:headEnd type="none" w="med" len="med"/>
            <a:tailEnd type="none" w="med" len="med"/>
          </a:ln>
        </p:spPr>
      </p:cxnSp>
      <p:sp>
        <p:nvSpPr>
          <p:cNvPr id="1609" name="Google Shape;1609;p66"/>
          <p:cNvSpPr txBox="1"/>
          <p:nvPr/>
        </p:nvSpPr>
        <p:spPr>
          <a:xfrm>
            <a:off x="6033375" y="1512500"/>
            <a:ext cx="2053500" cy="36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onsolas"/>
                <a:ea typeface="Consolas"/>
                <a:cs typeface="Consolas"/>
                <a:sym typeface="Consolas"/>
              </a:rPr>
              <a:t>x = ["a", </a:t>
            </a:r>
            <a:r>
              <a:rPr lang="en">
                <a:solidFill>
                  <a:schemeClr val="dk1"/>
                </a:solidFill>
                <a:latin typeface="Consolas"/>
                <a:ea typeface="Consolas"/>
                <a:cs typeface="Consolas"/>
                <a:sym typeface="Consolas"/>
              </a:rPr>
              <a:t>"awls"</a:t>
            </a:r>
            <a:r>
              <a:rPr lang="en">
                <a:latin typeface="Consolas"/>
                <a:ea typeface="Consolas"/>
                <a:cs typeface="Consolas"/>
                <a:sym typeface="Consolas"/>
              </a:rPr>
              <a:t>]</a:t>
            </a:r>
            <a:endParaRPr>
              <a:latin typeface="Consolas"/>
              <a:ea typeface="Consolas"/>
              <a:cs typeface="Consolas"/>
              <a:sym typeface="Consolas"/>
            </a:endParaRPr>
          </a:p>
        </p:txBody>
      </p:sp>
      <p:sp>
        <p:nvSpPr>
          <p:cNvPr id="1610" name="Google Shape;1610;p66"/>
          <p:cNvSpPr txBox="1"/>
          <p:nvPr/>
        </p:nvSpPr>
        <p:spPr>
          <a:xfrm>
            <a:off x="4969425" y="2788950"/>
            <a:ext cx="2667900" cy="36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onsolas"/>
                <a:ea typeface="Consolas"/>
                <a:cs typeface="Consolas"/>
                <a:sym typeface="Consolas"/>
              </a:rPr>
              <a:t>colHelp("a", x,      )  </a:t>
            </a:r>
            <a:endParaRPr>
              <a:latin typeface="Consolas"/>
              <a:ea typeface="Consolas"/>
              <a:cs typeface="Consolas"/>
              <a:sym typeface="Consolas"/>
            </a:endParaRPr>
          </a:p>
        </p:txBody>
      </p:sp>
      <p:sp>
        <p:nvSpPr>
          <p:cNvPr id="1611" name="Google Shape;1611;p66"/>
          <p:cNvSpPr txBox="1"/>
          <p:nvPr/>
        </p:nvSpPr>
        <p:spPr>
          <a:xfrm>
            <a:off x="4893225" y="3391900"/>
            <a:ext cx="2667900" cy="36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onsolas"/>
                <a:ea typeface="Consolas"/>
                <a:cs typeface="Consolas"/>
                <a:sym typeface="Consolas"/>
              </a:rPr>
              <a:t>colHelp("aw", x,      )  </a:t>
            </a:r>
            <a:endParaRPr>
              <a:latin typeface="Consolas"/>
              <a:ea typeface="Consolas"/>
              <a:cs typeface="Consolas"/>
              <a:sym typeface="Consolas"/>
            </a:endParaRPr>
          </a:p>
        </p:txBody>
      </p:sp>
      <p:sp>
        <p:nvSpPr>
          <p:cNvPr id="1612" name="Google Shape;1612;p66"/>
          <p:cNvSpPr txBox="1"/>
          <p:nvPr/>
        </p:nvSpPr>
        <p:spPr>
          <a:xfrm>
            <a:off x="4706875" y="4514225"/>
            <a:ext cx="2667900" cy="36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onsolas"/>
                <a:ea typeface="Consolas"/>
                <a:cs typeface="Consolas"/>
                <a:sym typeface="Consolas"/>
              </a:rPr>
              <a:t>colHelp</a:t>
            </a:r>
            <a:r>
              <a:rPr lang="en" b="1">
                <a:solidFill>
                  <a:schemeClr val="dk1"/>
                </a:solidFill>
                <a:latin typeface="Consolas"/>
                <a:ea typeface="Consolas"/>
                <a:cs typeface="Consolas"/>
                <a:sym typeface="Consolas"/>
              </a:rPr>
              <a:t>("awls", x,      )  </a:t>
            </a:r>
            <a:endParaRPr b="1">
              <a:latin typeface="Consolas"/>
              <a:ea typeface="Consolas"/>
              <a:cs typeface="Consolas"/>
              <a:sym typeface="Consolas"/>
            </a:endParaRPr>
          </a:p>
        </p:txBody>
      </p:sp>
      <p:sp>
        <p:nvSpPr>
          <p:cNvPr id="1613" name="Google Shape;1613;p66"/>
          <p:cNvSpPr txBox="1"/>
          <p:nvPr/>
        </p:nvSpPr>
        <p:spPr>
          <a:xfrm>
            <a:off x="4817025" y="3856500"/>
            <a:ext cx="2667900" cy="36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onsolas"/>
                <a:ea typeface="Consolas"/>
                <a:cs typeface="Consolas"/>
                <a:sym typeface="Consolas"/>
              </a:rPr>
              <a:t>colHelp("awl", x,      )  </a:t>
            </a:r>
            <a:endParaRPr>
              <a:latin typeface="Consolas"/>
              <a:ea typeface="Consolas"/>
              <a:cs typeface="Consolas"/>
              <a:sym typeface="Consola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17"/>
        <p:cNvGrpSpPr/>
        <p:nvPr/>
      </p:nvGrpSpPr>
      <p:grpSpPr>
        <a:xfrm>
          <a:off x="0" y="0"/>
          <a:ext cx="0" cy="0"/>
          <a:chOff x="0" y="0"/>
          <a:chExt cx="0" cy="0"/>
        </a:xfrm>
      </p:grpSpPr>
      <p:cxnSp>
        <p:nvCxnSpPr>
          <p:cNvPr id="1618" name="Google Shape;1618;p67"/>
          <p:cNvCxnSpPr>
            <a:endCxn id="1619" idx="0"/>
          </p:cNvCxnSpPr>
          <p:nvPr/>
        </p:nvCxnSpPr>
        <p:spPr>
          <a:xfrm>
            <a:off x="6224650" y="3792361"/>
            <a:ext cx="0" cy="202500"/>
          </a:xfrm>
          <a:prstGeom prst="straightConnector1">
            <a:avLst/>
          </a:prstGeom>
          <a:noFill/>
          <a:ln w="28575" cap="flat" cmpd="sng">
            <a:solidFill>
              <a:schemeClr val="dk2"/>
            </a:solidFill>
            <a:prstDash val="solid"/>
            <a:round/>
            <a:headEnd type="none" w="med" len="med"/>
            <a:tailEnd type="none" w="med" len="med"/>
          </a:ln>
        </p:spPr>
      </p:cxnSp>
      <p:sp>
        <p:nvSpPr>
          <p:cNvPr id="1620" name="Google Shape;1620;p6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Challenging Warmup Exercise: Collecting Trie Keys</a:t>
            </a:r>
            <a:endParaRPr/>
          </a:p>
        </p:txBody>
      </p:sp>
      <p:sp>
        <p:nvSpPr>
          <p:cNvPr id="1621" name="Google Shape;1621;p67"/>
          <p:cNvSpPr txBox="1">
            <a:spLocks noGrp="1"/>
          </p:cNvSpPr>
          <p:nvPr>
            <p:ph type="body" idx="1"/>
          </p:nvPr>
        </p:nvSpPr>
        <p:spPr>
          <a:xfrm>
            <a:off x="319200" y="556500"/>
            <a:ext cx="8443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p:txBody>
      </p:sp>
      <p:sp>
        <p:nvSpPr>
          <p:cNvPr id="1622" name="Google Shape;1622;p67"/>
          <p:cNvSpPr txBox="1">
            <a:spLocks noGrp="1"/>
          </p:cNvSpPr>
          <p:nvPr>
            <p:ph type="body" idx="1"/>
          </p:nvPr>
        </p:nvSpPr>
        <p:spPr>
          <a:xfrm>
            <a:off x="90600" y="409750"/>
            <a:ext cx="8701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rgbClr val="000000"/>
              </a:buClr>
              <a:buSzPts val="1100"/>
              <a:buFont typeface="Arial"/>
              <a:buNone/>
            </a:pPr>
            <a:r>
              <a:rPr lang="en">
                <a:solidFill>
                  <a:srgbClr val="999999"/>
                </a:solidFill>
              </a:rPr>
              <a:t>Challenging Exercise: Give an algorithm for collecting all the keys in a Trie.</a:t>
            </a:r>
            <a:endParaRPr>
              <a:solidFill>
                <a:srgbClr val="999999"/>
              </a:solidFill>
            </a:endParaRPr>
          </a:p>
          <a:p>
            <a:pPr marL="0" lvl="0" indent="0" algn="l" rtl="0">
              <a:spcBef>
                <a:spcPts val="600"/>
              </a:spcBef>
              <a:spcAft>
                <a:spcPts val="0"/>
              </a:spcAft>
              <a:buClr>
                <a:srgbClr val="000000"/>
              </a:buClr>
              <a:buSzPts val="1100"/>
              <a:buFont typeface="Arial"/>
              <a:buNone/>
            </a:pPr>
            <a:r>
              <a:rPr lang="en">
                <a:solidFill>
                  <a:srgbClr val="999999"/>
                </a:solidFill>
                <a:latin typeface="Consolas"/>
                <a:ea typeface="Consolas"/>
                <a:cs typeface="Consolas"/>
                <a:sym typeface="Consolas"/>
              </a:rPr>
              <a:t>collect():</a:t>
            </a:r>
            <a:endParaRPr>
              <a:solidFill>
                <a:srgbClr val="999999"/>
              </a:solidFill>
              <a:latin typeface="Consolas"/>
              <a:ea typeface="Consolas"/>
              <a:cs typeface="Consolas"/>
              <a:sym typeface="Consolas"/>
            </a:endParaRPr>
          </a:p>
          <a:p>
            <a:pPr marL="457200" lvl="0" indent="-342900" algn="l" rtl="0">
              <a:spcBef>
                <a:spcPts val="600"/>
              </a:spcBef>
              <a:spcAft>
                <a:spcPts val="0"/>
              </a:spcAft>
              <a:buClr>
                <a:srgbClr val="999999"/>
              </a:buClr>
              <a:buSzPts val="1800"/>
              <a:buChar char="●"/>
            </a:pPr>
            <a:r>
              <a:rPr lang="en">
                <a:solidFill>
                  <a:srgbClr val="999999"/>
                </a:solidFill>
              </a:rPr>
              <a:t>Create an empty list of results </a:t>
            </a:r>
            <a:r>
              <a:rPr lang="en">
                <a:solidFill>
                  <a:srgbClr val="999999"/>
                </a:solidFill>
                <a:latin typeface="Consolas"/>
                <a:ea typeface="Consolas"/>
                <a:cs typeface="Consolas"/>
                <a:sym typeface="Consolas"/>
              </a:rPr>
              <a:t>x</a:t>
            </a:r>
            <a:r>
              <a:rPr lang="en">
                <a:solidFill>
                  <a:srgbClr val="999999"/>
                </a:solidFill>
              </a:rPr>
              <a:t>.</a:t>
            </a:r>
            <a:endParaRPr>
              <a:solidFill>
                <a:srgbClr val="999999"/>
              </a:solidFill>
            </a:endParaRPr>
          </a:p>
          <a:p>
            <a:pPr marL="457200" lvl="0" indent="-342900" algn="l" rtl="0">
              <a:spcBef>
                <a:spcPts val="600"/>
              </a:spcBef>
              <a:spcAft>
                <a:spcPts val="0"/>
              </a:spcAft>
              <a:buSzPts val="1800"/>
              <a:buChar char="●"/>
            </a:pPr>
            <a:r>
              <a:rPr lang="en"/>
              <a:t>For character </a:t>
            </a:r>
            <a:r>
              <a:rPr lang="en">
                <a:latin typeface="Consolas"/>
                <a:ea typeface="Consolas"/>
                <a:cs typeface="Consolas"/>
                <a:sym typeface="Consolas"/>
              </a:rPr>
              <a:t>c</a:t>
            </a:r>
            <a:r>
              <a:rPr lang="en"/>
              <a:t> in </a:t>
            </a:r>
            <a:r>
              <a:rPr lang="en">
                <a:latin typeface="Consolas"/>
                <a:ea typeface="Consolas"/>
                <a:cs typeface="Consolas"/>
                <a:sym typeface="Consolas"/>
              </a:rPr>
              <a:t>root.next.keys()</a:t>
            </a:r>
            <a:r>
              <a:rPr lang="en"/>
              <a:t>:</a:t>
            </a:r>
            <a:endParaRPr/>
          </a:p>
          <a:p>
            <a:pPr marL="914400" lvl="1" indent="-342900" algn="l" rtl="0">
              <a:spcBef>
                <a:spcPts val="600"/>
              </a:spcBef>
              <a:spcAft>
                <a:spcPts val="0"/>
              </a:spcAft>
              <a:buSzPts val="1800"/>
              <a:buChar char="○"/>
            </a:pPr>
            <a:r>
              <a:rPr lang="en"/>
              <a:t>Call </a:t>
            </a:r>
            <a:r>
              <a:rPr lang="en">
                <a:latin typeface="Consolas"/>
                <a:ea typeface="Consolas"/>
                <a:cs typeface="Consolas"/>
                <a:sym typeface="Consolas"/>
              </a:rPr>
              <a:t>colHelp(c, x, root.next.get(c))</a:t>
            </a:r>
            <a:r>
              <a:rPr lang="en"/>
              <a:t>.</a:t>
            </a:r>
            <a:endParaRPr/>
          </a:p>
          <a:p>
            <a:pPr marL="457200" lvl="0" indent="-342900" algn="l" rtl="0">
              <a:spcBef>
                <a:spcPts val="600"/>
              </a:spcBef>
              <a:spcAft>
                <a:spcPts val="0"/>
              </a:spcAft>
              <a:buClr>
                <a:srgbClr val="999999"/>
              </a:buClr>
              <a:buSzPts val="1800"/>
              <a:buChar char="●"/>
            </a:pPr>
            <a:r>
              <a:rPr lang="en">
                <a:solidFill>
                  <a:srgbClr val="999999"/>
                </a:solidFill>
              </a:rPr>
              <a:t>Return </a:t>
            </a:r>
            <a:r>
              <a:rPr lang="en">
                <a:solidFill>
                  <a:srgbClr val="999999"/>
                </a:solidFill>
                <a:latin typeface="Consolas"/>
                <a:ea typeface="Consolas"/>
                <a:cs typeface="Consolas"/>
                <a:sym typeface="Consolas"/>
              </a:rPr>
              <a:t>x</a:t>
            </a:r>
            <a:r>
              <a:rPr lang="en">
                <a:solidFill>
                  <a:srgbClr val="999999"/>
                </a:solidFill>
              </a:rPr>
              <a:t>.</a:t>
            </a:r>
            <a:endParaRPr>
              <a:solidFill>
                <a:srgbClr val="999999"/>
              </a:solidFill>
            </a:endParaRPr>
          </a:p>
          <a:p>
            <a:pPr marL="0" lvl="0" indent="0" algn="l" rtl="0">
              <a:spcBef>
                <a:spcPts val="600"/>
              </a:spcBef>
              <a:spcAft>
                <a:spcPts val="0"/>
              </a:spcAft>
              <a:buClr>
                <a:srgbClr val="000000"/>
              </a:buClr>
              <a:buSzPts val="1100"/>
              <a:buFont typeface="Arial"/>
              <a:buNone/>
            </a:pPr>
            <a:endParaRPr>
              <a:solidFill>
                <a:srgbClr val="999999"/>
              </a:solidFill>
            </a:endParaRPr>
          </a:p>
          <a:p>
            <a:pPr marL="0" lvl="0" indent="0" algn="l" rtl="0">
              <a:spcBef>
                <a:spcPts val="600"/>
              </a:spcBef>
              <a:spcAft>
                <a:spcPts val="0"/>
              </a:spcAft>
              <a:buClr>
                <a:srgbClr val="000000"/>
              </a:buClr>
              <a:buSzPts val="1100"/>
              <a:buFont typeface="Arial"/>
              <a:buNone/>
            </a:pPr>
            <a:r>
              <a:rPr lang="en">
                <a:solidFill>
                  <a:srgbClr val="999999"/>
                </a:solidFill>
                <a:latin typeface="Consolas"/>
                <a:ea typeface="Consolas"/>
                <a:cs typeface="Consolas"/>
                <a:sym typeface="Consolas"/>
              </a:rPr>
              <a:t>colHelp(String s, List&lt;String&gt; x, Node n)</a:t>
            </a:r>
            <a:r>
              <a:rPr lang="en">
                <a:solidFill>
                  <a:srgbClr val="999999"/>
                </a:solidFill>
              </a:rPr>
              <a:t>:</a:t>
            </a:r>
            <a:endParaRPr>
              <a:solidFill>
                <a:srgbClr val="999999"/>
              </a:solidFill>
            </a:endParaRPr>
          </a:p>
          <a:p>
            <a:pPr marL="457200" lvl="0" indent="-342900" algn="l" rtl="0">
              <a:spcBef>
                <a:spcPts val="600"/>
              </a:spcBef>
              <a:spcAft>
                <a:spcPts val="0"/>
              </a:spcAft>
              <a:buClr>
                <a:srgbClr val="999999"/>
              </a:buClr>
              <a:buSzPts val="1800"/>
              <a:buChar char="●"/>
            </a:pPr>
            <a:r>
              <a:rPr lang="en">
                <a:solidFill>
                  <a:srgbClr val="999999"/>
                </a:solidFill>
              </a:rPr>
              <a:t>If </a:t>
            </a:r>
            <a:r>
              <a:rPr lang="en">
                <a:solidFill>
                  <a:srgbClr val="999999"/>
                </a:solidFill>
                <a:latin typeface="Consolas"/>
                <a:ea typeface="Consolas"/>
                <a:cs typeface="Consolas"/>
                <a:sym typeface="Consolas"/>
              </a:rPr>
              <a:t>n.isKey</a:t>
            </a:r>
            <a:r>
              <a:rPr lang="en">
                <a:solidFill>
                  <a:srgbClr val="999999"/>
                </a:solidFill>
              </a:rPr>
              <a:t>, then </a:t>
            </a:r>
            <a:r>
              <a:rPr lang="en">
                <a:solidFill>
                  <a:srgbClr val="999999"/>
                </a:solidFill>
                <a:latin typeface="Consolas"/>
                <a:ea typeface="Consolas"/>
                <a:cs typeface="Consolas"/>
                <a:sym typeface="Consolas"/>
              </a:rPr>
              <a:t>x.add(s)</a:t>
            </a:r>
            <a:r>
              <a:rPr lang="en">
                <a:solidFill>
                  <a:srgbClr val="999999"/>
                </a:solidFill>
              </a:rPr>
              <a:t>.</a:t>
            </a:r>
            <a:endParaRPr>
              <a:solidFill>
                <a:srgbClr val="999999"/>
              </a:solidFill>
            </a:endParaRPr>
          </a:p>
          <a:p>
            <a:pPr marL="457200" lvl="0" indent="-342900" algn="l" rtl="0">
              <a:spcBef>
                <a:spcPts val="600"/>
              </a:spcBef>
              <a:spcAft>
                <a:spcPts val="0"/>
              </a:spcAft>
              <a:buClr>
                <a:srgbClr val="999999"/>
              </a:buClr>
              <a:buSzPts val="1800"/>
              <a:buChar char="●"/>
            </a:pPr>
            <a:r>
              <a:rPr lang="en">
                <a:solidFill>
                  <a:srgbClr val="999999"/>
                </a:solidFill>
              </a:rPr>
              <a:t>For character </a:t>
            </a:r>
            <a:r>
              <a:rPr lang="en">
                <a:solidFill>
                  <a:srgbClr val="999999"/>
                </a:solidFill>
                <a:latin typeface="Consolas"/>
                <a:ea typeface="Consolas"/>
                <a:cs typeface="Consolas"/>
                <a:sym typeface="Consolas"/>
              </a:rPr>
              <a:t>c</a:t>
            </a:r>
            <a:r>
              <a:rPr lang="en">
                <a:solidFill>
                  <a:srgbClr val="999999"/>
                </a:solidFill>
              </a:rPr>
              <a:t> in </a:t>
            </a:r>
            <a:r>
              <a:rPr lang="en">
                <a:solidFill>
                  <a:srgbClr val="999999"/>
                </a:solidFill>
                <a:latin typeface="Consolas"/>
                <a:ea typeface="Consolas"/>
                <a:cs typeface="Consolas"/>
                <a:sym typeface="Consolas"/>
              </a:rPr>
              <a:t>n.next.keys()</a:t>
            </a:r>
            <a:r>
              <a:rPr lang="en">
                <a:solidFill>
                  <a:srgbClr val="999999"/>
                </a:solidFill>
              </a:rPr>
              <a:t>:</a:t>
            </a:r>
            <a:endParaRPr>
              <a:solidFill>
                <a:srgbClr val="999999"/>
              </a:solidFill>
            </a:endParaRPr>
          </a:p>
          <a:p>
            <a:pPr marL="914400" lvl="1" indent="-342900" algn="l" rtl="0">
              <a:spcBef>
                <a:spcPts val="600"/>
              </a:spcBef>
              <a:spcAft>
                <a:spcPts val="0"/>
              </a:spcAft>
              <a:buClr>
                <a:srgbClr val="999999"/>
              </a:buClr>
              <a:buSzPts val="1800"/>
              <a:buChar char="○"/>
            </a:pPr>
            <a:r>
              <a:rPr lang="en">
                <a:solidFill>
                  <a:srgbClr val="999999"/>
                </a:solidFill>
              </a:rPr>
              <a:t>Call </a:t>
            </a:r>
            <a:r>
              <a:rPr lang="en">
                <a:solidFill>
                  <a:srgbClr val="999999"/>
                </a:solidFill>
                <a:latin typeface="Consolas"/>
                <a:ea typeface="Consolas"/>
                <a:cs typeface="Consolas"/>
                <a:sym typeface="Consolas"/>
              </a:rPr>
              <a:t>colHelp(s + c, x, n.next.get(c))</a:t>
            </a:r>
            <a:endParaRPr>
              <a:solidFill>
                <a:srgbClr val="999999"/>
              </a:solidFill>
            </a:endParaRPr>
          </a:p>
          <a:p>
            <a:pPr marL="914400" lvl="0" indent="0" algn="l" rtl="0">
              <a:spcBef>
                <a:spcPts val="600"/>
              </a:spcBef>
              <a:spcAft>
                <a:spcPts val="0"/>
              </a:spcAft>
              <a:buNone/>
            </a:pPr>
            <a:endParaRPr>
              <a:solidFill>
                <a:srgbClr val="999999"/>
              </a:solidFill>
            </a:endParaRPr>
          </a:p>
        </p:txBody>
      </p:sp>
      <p:sp>
        <p:nvSpPr>
          <p:cNvPr id="1623" name="Google Shape;1623;p67"/>
          <p:cNvSpPr/>
          <p:nvPr/>
        </p:nvSpPr>
        <p:spPr>
          <a:xfrm>
            <a:off x="7267830" y="21999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1624" name="Google Shape;1624;p67"/>
          <p:cNvSpPr/>
          <p:nvPr/>
        </p:nvSpPr>
        <p:spPr>
          <a:xfrm>
            <a:off x="7943375" y="280049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sp>
        <p:nvSpPr>
          <p:cNvPr id="1625" name="Google Shape;1625;p67"/>
          <p:cNvSpPr/>
          <p:nvPr/>
        </p:nvSpPr>
        <p:spPr>
          <a:xfrm>
            <a:off x="7943375" y="3435773"/>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626" name="Google Shape;1626;p67"/>
          <p:cNvSpPr/>
          <p:nvPr/>
        </p:nvSpPr>
        <p:spPr>
          <a:xfrm>
            <a:off x="79433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m</a:t>
            </a:r>
            <a:endParaRPr sz="1800">
              <a:latin typeface="Consolas"/>
              <a:ea typeface="Consolas"/>
              <a:cs typeface="Consolas"/>
              <a:sym typeface="Consolas"/>
            </a:endParaRPr>
          </a:p>
        </p:txBody>
      </p:sp>
      <p:sp>
        <p:nvSpPr>
          <p:cNvPr id="1627" name="Google Shape;1627;p67"/>
          <p:cNvSpPr/>
          <p:nvPr/>
        </p:nvSpPr>
        <p:spPr>
          <a:xfrm>
            <a:off x="73138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d</a:t>
            </a:r>
            <a:endParaRPr sz="1800">
              <a:latin typeface="Consolas"/>
              <a:ea typeface="Consolas"/>
              <a:cs typeface="Consolas"/>
              <a:sym typeface="Consolas"/>
            </a:endParaRPr>
          </a:p>
        </p:txBody>
      </p:sp>
      <p:sp>
        <p:nvSpPr>
          <p:cNvPr id="1628" name="Google Shape;1628;p67"/>
          <p:cNvSpPr/>
          <p:nvPr/>
        </p:nvSpPr>
        <p:spPr>
          <a:xfrm>
            <a:off x="85728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p</a:t>
            </a:r>
            <a:endParaRPr sz="1800">
              <a:latin typeface="Consolas"/>
              <a:ea typeface="Consolas"/>
              <a:cs typeface="Consolas"/>
              <a:sym typeface="Consolas"/>
            </a:endParaRPr>
          </a:p>
        </p:txBody>
      </p:sp>
      <p:sp>
        <p:nvSpPr>
          <p:cNvPr id="1629" name="Google Shape;1629;p67"/>
          <p:cNvSpPr/>
          <p:nvPr/>
        </p:nvSpPr>
        <p:spPr>
          <a:xfrm>
            <a:off x="7943375" y="4553927"/>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e</a:t>
            </a:r>
            <a:endParaRPr sz="1800">
              <a:latin typeface="Consolas"/>
              <a:ea typeface="Consolas"/>
              <a:cs typeface="Consolas"/>
              <a:sym typeface="Consolas"/>
            </a:endParaRPr>
          </a:p>
        </p:txBody>
      </p:sp>
      <p:sp>
        <p:nvSpPr>
          <p:cNvPr id="1630" name="Google Shape;1630;p67"/>
          <p:cNvSpPr/>
          <p:nvPr/>
        </p:nvSpPr>
        <p:spPr>
          <a:xfrm>
            <a:off x="6008200" y="2800511"/>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631" name="Google Shape;1631;p67"/>
          <p:cNvSpPr/>
          <p:nvPr/>
        </p:nvSpPr>
        <p:spPr>
          <a:xfrm>
            <a:off x="6008200" y="343578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w</a:t>
            </a:r>
            <a:endParaRPr sz="1800">
              <a:latin typeface="Consolas"/>
              <a:ea typeface="Consolas"/>
              <a:cs typeface="Consolas"/>
              <a:sym typeface="Consolas"/>
            </a:endParaRPr>
          </a:p>
        </p:txBody>
      </p:sp>
      <p:sp>
        <p:nvSpPr>
          <p:cNvPr id="1619" name="Google Shape;1619;p67"/>
          <p:cNvSpPr/>
          <p:nvPr/>
        </p:nvSpPr>
        <p:spPr>
          <a:xfrm>
            <a:off x="6008200" y="3994861"/>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l</a:t>
            </a:r>
            <a:endParaRPr sz="1800">
              <a:latin typeface="Consolas"/>
              <a:ea typeface="Consolas"/>
              <a:cs typeface="Consolas"/>
              <a:sym typeface="Consolas"/>
            </a:endParaRPr>
          </a:p>
        </p:txBody>
      </p:sp>
      <p:cxnSp>
        <p:nvCxnSpPr>
          <p:cNvPr id="1632" name="Google Shape;1632;p67"/>
          <p:cNvCxnSpPr/>
          <p:nvPr/>
        </p:nvCxnSpPr>
        <p:spPr>
          <a:xfrm>
            <a:off x="8159825" y="4351552"/>
            <a:ext cx="0" cy="0"/>
          </a:xfrm>
          <a:prstGeom prst="straightConnector1">
            <a:avLst/>
          </a:prstGeom>
          <a:noFill/>
          <a:ln w="19050" cap="flat" cmpd="sng">
            <a:solidFill>
              <a:schemeClr val="dk2"/>
            </a:solidFill>
            <a:prstDash val="solid"/>
            <a:round/>
            <a:headEnd type="none" w="med" len="med"/>
            <a:tailEnd type="none" w="med" len="med"/>
          </a:ln>
        </p:spPr>
      </p:cxnSp>
      <p:cxnSp>
        <p:nvCxnSpPr>
          <p:cNvPr id="1633" name="Google Shape;1633;p67"/>
          <p:cNvCxnSpPr>
            <a:stCxn id="1623" idx="5"/>
            <a:endCxn id="1624" idx="0"/>
          </p:cNvCxnSpPr>
          <p:nvPr/>
        </p:nvCxnSpPr>
        <p:spPr>
          <a:xfrm>
            <a:off x="7637333" y="2569478"/>
            <a:ext cx="522600" cy="231000"/>
          </a:xfrm>
          <a:prstGeom prst="straightConnector1">
            <a:avLst/>
          </a:prstGeom>
          <a:noFill/>
          <a:ln w="28575" cap="flat" cmpd="sng">
            <a:solidFill>
              <a:schemeClr val="dk2"/>
            </a:solidFill>
            <a:prstDash val="solid"/>
            <a:round/>
            <a:headEnd type="none" w="med" len="med"/>
            <a:tailEnd type="none" w="med" len="med"/>
          </a:ln>
        </p:spPr>
      </p:cxnSp>
      <p:cxnSp>
        <p:nvCxnSpPr>
          <p:cNvPr id="1634" name="Google Shape;1634;p67"/>
          <p:cNvCxnSpPr>
            <a:stCxn id="1624" idx="4"/>
            <a:endCxn id="1625" idx="0"/>
          </p:cNvCxnSpPr>
          <p:nvPr/>
        </p:nvCxnSpPr>
        <p:spPr>
          <a:xfrm>
            <a:off x="8159825" y="3233396"/>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1635" name="Google Shape;1635;p67"/>
          <p:cNvCxnSpPr>
            <a:stCxn id="1625" idx="4"/>
            <a:endCxn id="1626" idx="0"/>
          </p:cNvCxnSpPr>
          <p:nvPr/>
        </p:nvCxnSpPr>
        <p:spPr>
          <a:xfrm>
            <a:off x="8159825" y="3868673"/>
            <a:ext cx="0" cy="126300"/>
          </a:xfrm>
          <a:prstGeom prst="straightConnector1">
            <a:avLst/>
          </a:prstGeom>
          <a:noFill/>
          <a:ln w="28575" cap="flat" cmpd="sng">
            <a:solidFill>
              <a:schemeClr val="dk2"/>
            </a:solidFill>
            <a:prstDash val="solid"/>
            <a:round/>
            <a:headEnd type="none" w="med" len="med"/>
            <a:tailEnd type="none" w="med" len="med"/>
          </a:ln>
        </p:spPr>
      </p:cxnSp>
      <p:cxnSp>
        <p:nvCxnSpPr>
          <p:cNvPr id="1636" name="Google Shape;1636;p67"/>
          <p:cNvCxnSpPr>
            <a:stCxn id="1625" idx="3"/>
            <a:endCxn id="1627" idx="0"/>
          </p:cNvCxnSpPr>
          <p:nvPr/>
        </p:nvCxnSpPr>
        <p:spPr>
          <a:xfrm flipH="1">
            <a:off x="7530372" y="3805277"/>
            <a:ext cx="476400" cy="189600"/>
          </a:xfrm>
          <a:prstGeom prst="straightConnector1">
            <a:avLst/>
          </a:prstGeom>
          <a:noFill/>
          <a:ln w="28575" cap="flat" cmpd="sng">
            <a:solidFill>
              <a:schemeClr val="dk2"/>
            </a:solidFill>
            <a:prstDash val="solid"/>
            <a:round/>
            <a:headEnd type="none" w="med" len="med"/>
            <a:tailEnd type="none" w="med" len="med"/>
          </a:ln>
        </p:spPr>
      </p:cxnSp>
      <p:cxnSp>
        <p:nvCxnSpPr>
          <p:cNvPr id="1637" name="Google Shape;1637;p67"/>
          <p:cNvCxnSpPr>
            <a:stCxn id="1625" idx="5"/>
            <a:endCxn id="1628" idx="0"/>
          </p:cNvCxnSpPr>
          <p:nvPr/>
        </p:nvCxnSpPr>
        <p:spPr>
          <a:xfrm>
            <a:off x="8312878" y="3805277"/>
            <a:ext cx="476400" cy="189600"/>
          </a:xfrm>
          <a:prstGeom prst="straightConnector1">
            <a:avLst/>
          </a:prstGeom>
          <a:noFill/>
          <a:ln w="28575" cap="flat" cmpd="sng">
            <a:solidFill>
              <a:schemeClr val="dk2"/>
            </a:solidFill>
            <a:prstDash val="solid"/>
            <a:round/>
            <a:headEnd type="none" w="med" len="med"/>
            <a:tailEnd type="none" w="med" len="med"/>
          </a:ln>
        </p:spPr>
      </p:cxnSp>
      <p:cxnSp>
        <p:nvCxnSpPr>
          <p:cNvPr id="1638" name="Google Shape;1638;p67"/>
          <p:cNvCxnSpPr>
            <a:stCxn id="1626" idx="4"/>
            <a:endCxn id="1629" idx="0"/>
          </p:cNvCxnSpPr>
          <p:nvPr/>
        </p:nvCxnSpPr>
        <p:spPr>
          <a:xfrm>
            <a:off x="8159825" y="4427752"/>
            <a:ext cx="0" cy="126300"/>
          </a:xfrm>
          <a:prstGeom prst="straightConnector1">
            <a:avLst/>
          </a:prstGeom>
          <a:noFill/>
          <a:ln w="28575" cap="flat" cmpd="sng">
            <a:solidFill>
              <a:schemeClr val="dk2"/>
            </a:solidFill>
            <a:prstDash val="solid"/>
            <a:round/>
            <a:headEnd type="none" w="med" len="med"/>
            <a:tailEnd type="none" w="med" len="med"/>
          </a:ln>
        </p:spPr>
      </p:cxnSp>
      <p:cxnSp>
        <p:nvCxnSpPr>
          <p:cNvPr id="1639" name="Google Shape;1639;p67"/>
          <p:cNvCxnSpPr>
            <a:stCxn id="1623" idx="3"/>
            <a:endCxn id="1630" idx="0"/>
          </p:cNvCxnSpPr>
          <p:nvPr/>
        </p:nvCxnSpPr>
        <p:spPr>
          <a:xfrm flipH="1">
            <a:off x="6224526" y="2569478"/>
            <a:ext cx="1106700" cy="231000"/>
          </a:xfrm>
          <a:prstGeom prst="straightConnector1">
            <a:avLst/>
          </a:prstGeom>
          <a:noFill/>
          <a:ln w="28575" cap="flat" cmpd="sng">
            <a:solidFill>
              <a:schemeClr val="dk2"/>
            </a:solidFill>
            <a:prstDash val="solid"/>
            <a:round/>
            <a:headEnd type="none" w="med" len="med"/>
            <a:tailEnd type="none" w="med" len="med"/>
          </a:ln>
        </p:spPr>
      </p:cxnSp>
      <p:cxnSp>
        <p:nvCxnSpPr>
          <p:cNvPr id="1640" name="Google Shape;1640;p67"/>
          <p:cNvCxnSpPr>
            <a:endCxn id="1631" idx="0"/>
          </p:cNvCxnSpPr>
          <p:nvPr/>
        </p:nvCxnSpPr>
        <p:spPr>
          <a:xfrm>
            <a:off x="6224650" y="3233286"/>
            <a:ext cx="0" cy="202500"/>
          </a:xfrm>
          <a:prstGeom prst="straightConnector1">
            <a:avLst/>
          </a:prstGeom>
          <a:noFill/>
          <a:ln w="28575" cap="flat" cmpd="sng">
            <a:solidFill>
              <a:schemeClr val="dk2"/>
            </a:solidFill>
            <a:prstDash val="solid"/>
            <a:round/>
            <a:headEnd type="none" w="med" len="med"/>
            <a:tailEnd type="none" w="med" len="med"/>
          </a:ln>
        </p:spPr>
      </p:cxnSp>
      <p:sp>
        <p:nvSpPr>
          <p:cNvPr id="1641" name="Google Shape;1641;p67"/>
          <p:cNvSpPr/>
          <p:nvPr/>
        </p:nvSpPr>
        <p:spPr>
          <a:xfrm>
            <a:off x="6008200" y="4553936"/>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cxnSp>
        <p:nvCxnSpPr>
          <p:cNvPr id="1642" name="Google Shape;1642;p67"/>
          <p:cNvCxnSpPr>
            <a:stCxn id="1619" idx="4"/>
            <a:endCxn id="1641" idx="0"/>
          </p:cNvCxnSpPr>
          <p:nvPr/>
        </p:nvCxnSpPr>
        <p:spPr>
          <a:xfrm>
            <a:off x="6224650" y="4427761"/>
            <a:ext cx="0" cy="126300"/>
          </a:xfrm>
          <a:prstGeom prst="straightConnector1">
            <a:avLst/>
          </a:prstGeom>
          <a:noFill/>
          <a:ln w="28575" cap="flat" cmpd="sng">
            <a:solidFill>
              <a:schemeClr val="dk2"/>
            </a:solidFill>
            <a:prstDash val="solid"/>
            <a:round/>
            <a:headEnd type="none" w="med" len="med"/>
            <a:tailEnd type="none" w="med" len="med"/>
          </a:ln>
        </p:spPr>
      </p:cxnSp>
      <p:sp>
        <p:nvSpPr>
          <p:cNvPr id="1643" name="Google Shape;1643;p67"/>
          <p:cNvSpPr txBox="1"/>
          <p:nvPr/>
        </p:nvSpPr>
        <p:spPr>
          <a:xfrm>
            <a:off x="6385964" y="2801100"/>
            <a:ext cx="2667900" cy="36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onsolas"/>
                <a:ea typeface="Consolas"/>
                <a:cs typeface="Consolas"/>
                <a:sym typeface="Consolas"/>
              </a:rPr>
              <a:t>colHelp("s", x,     )</a:t>
            </a:r>
            <a:endParaRPr>
              <a:latin typeface="Consolas"/>
              <a:ea typeface="Consolas"/>
              <a:cs typeface="Consolas"/>
              <a:sym typeface="Consolas"/>
            </a:endParaRPr>
          </a:p>
        </p:txBody>
      </p:sp>
      <p:sp>
        <p:nvSpPr>
          <p:cNvPr id="1644" name="Google Shape;1644;p67"/>
          <p:cNvSpPr txBox="1"/>
          <p:nvPr/>
        </p:nvSpPr>
        <p:spPr>
          <a:xfrm>
            <a:off x="6033375" y="1512500"/>
            <a:ext cx="2053500" cy="36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onsolas"/>
                <a:ea typeface="Consolas"/>
                <a:cs typeface="Consolas"/>
                <a:sym typeface="Consolas"/>
              </a:rPr>
              <a:t>x = ["a", </a:t>
            </a:r>
            <a:r>
              <a:rPr lang="en">
                <a:solidFill>
                  <a:schemeClr val="dk1"/>
                </a:solidFill>
                <a:latin typeface="Consolas"/>
                <a:ea typeface="Consolas"/>
                <a:cs typeface="Consolas"/>
                <a:sym typeface="Consolas"/>
              </a:rPr>
              <a:t>"awls"</a:t>
            </a:r>
            <a:r>
              <a:rPr lang="en">
                <a:latin typeface="Consolas"/>
                <a:ea typeface="Consolas"/>
                <a:cs typeface="Consolas"/>
                <a:sym typeface="Consolas"/>
              </a:rPr>
              <a:t>]</a:t>
            </a:r>
            <a:endParaRPr>
              <a:latin typeface="Consolas"/>
              <a:ea typeface="Consolas"/>
              <a:cs typeface="Consolas"/>
              <a:sym typeface="Consola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48"/>
        <p:cNvGrpSpPr/>
        <p:nvPr/>
      </p:nvGrpSpPr>
      <p:grpSpPr>
        <a:xfrm>
          <a:off x="0" y="0"/>
          <a:ext cx="0" cy="0"/>
          <a:chOff x="0" y="0"/>
          <a:chExt cx="0" cy="0"/>
        </a:xfrm>
      </p:grpSpPr>
      <p:cxnSp>
        <p:nvCxnSpPr>
          <p:cNvPr id="1649" name="Google Shape;1649;p68"/>
          <p:cNvCxnSpPr>
            <a:endCxn id="1650" idx="0"/>
          </p:cNvCxnSpPr>
          <p:nvPr/>
        </p:nvCxnSpPr>
        <p:spPr>
          <a:xfrm>
            <a:off x="6224650" y="3792361"/>
            <a:ext cx="0" cy="202500"/>
          </a:xfrm>
          <a:prstGeom prst="straightConnector1">
            <a:avLst/>
          </a:prstGeom>
          <a:noFill/>
          <a:ln w="28575" cap="flat" cmpd="sng">
            <a:solidFill>
              <a:schemeClr val="dk2"/>
            </a:solidFill>
            <a:prstDash val="solid"/>
            <a:round/>
            <a:headEnd type="none" w="med" len="med"/>
            <a:tailEnd type="none" w="med" len="med"/>
          </a:ln>
        </p:spPr>
      </p:cxnSp>
      <p:sp>
        <p:nvSpPr>
          <p:cNvPr id="1651" name="Google Shape;1651;p6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Challenging Warmup Exercise: Collecting Trie Keys</a:t>
            </a:r>
            <a:endParaRPr/>
          </a:p>
        </p:txBody>
      </p:sp>
      <p:sp>
        <p:nvSpPr>
          <p:cNvPr id="1652" name="Google Shape;1652;p68"/>
          <p:cNvSpPr txBox="1">
            <a:spLocks noGrp="1"/>
          </p:cNvSpPr>
          <p:nvPr>
            <p:ph type="body" idx="1"/>
          </p:nvPr>
        </p:nvSpPr>
        <p:spPr>
          <a:xfrm>
            <a:off x="319200" y="556500"/>
            <a:ext cx="8443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p:txBody>
      </p:sp>
      <p:sp>
        <p:nvSpPr>
          <p:cNvPr id="1653" name="Google Shape;1653;p68"/>
          <p:cNvSpPr txBox="1">
            <a:spLocks noGrp="1"/>
          </p:cNvSpPr>
          <p:nvPr>
            <p:ph type="body" idx="1"/>
          </p:nvPr>
        </p:nvSpPr>
        <p:spPr>
          <a:xfrm>
            <a:off x="90600" y="409750"/>
            <a:ext cx="8701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a:solidFill>
                  <a:srgbClr val="999999"/>
                </a:solidFill>
              </a:rPr>
              <a:t>Challenging Exercise: Give an algorithm for collecting all the keys in a Trie.</a:t>
            </a:r>
            <a:endParaRPr>
              <a:solidFill>
                <a:srgbClr val="999999"/>
              </a:solidFill>
            </a:endParaRPr>
          </a:p>
          <a:p>
            <a:pPr marL="0" lvl="0" indent="0" algn="l" rtl="0">
              <a:spcBef>
                <a:spcPts val="600"/>
              </a:spcBef>
              <a:spcAft>
                <a:spcPts val="0"/>
              </a:spcAft>
              <a:buClr>
                <a:schemeClr val="dk1"/>
              </a:buClr>
              <a:buSzPts val="1100"/>
              <a:buFont typeface="Arial"/>
              <a:buNone/>
            </a:pPr>
            <a:r>
              <a:rPr lang="en">
                <a:solidFill>
                  <a:srgbClr val="999999"/>
                </a:solidFill>
                <a:latin typeface="Consolas"/>
                <a:ea typeface="Consolas"/>
                <a:cs typeface="Consolas"/>
                <a:sym typeface="Consolas"/>
              </a:rPr>
              <a:t>collect():</a:t>
            </a:r>
            <a:endParaRPr>
              <a:solidFill>
                <a:srgbClr val="999999"/>
              </a:solidFill>
              <a:latin typeface="Consolas"/>
              <a:ea typeface="Consolas"/>
              <a:cs typeface="Consolas"/>
              <a:sym typeface="Consolas"/>
            </a:endParaRPr>
          </a:p>
          <a:p>
            <a:pPr marL="457200" lvl="0" indent="-342900" algn="l" rtl="0">
              <a:spcBef>
                <a:spcPts val="600"/>
              </a:spcBef>
              <a:spcAft>
                <a:spcPts val="0"/>
              </a:spcAft>
              <a:buClr>
                <a:srgbClr val="999999"/>
              </a:buClr>
              <a:buSzPts val="1800"/>
              <a:buChar char="●"/>
            </a:pPr>
            <a:r>
              <a:rPr lang="en">
                <a:solidFill>
                  <a:srgbClr val="999999"/>
                </a:solidFill>
              </a:rPr>
              <a:t>Create an empty list of results </a:t>
            </a:r>
            <a:r>
              <a:rPr lang="en">
                <a:solidFill>
                  <a:srgbClr val="999999"/>
                </a:solidFill>
                <a:latin typeface="Consolas"/>
                <a:ea typeface="Consolas"/>
                <a:cs typeface="Consolas"/>
                <a:sym typeface="Consolas"/>
              </a:rPr>
              <a:t>x</a:t>
            </a:r>
            <a:r>
              <a:rPr lang="en">
                <a:solidFill>
                  <a:srgbClr val="999999"/>
                </a:solidFill>
              </a:rPr>
              <a:t>.</a:t>
            </a:r>
            <a:endParaRPr>
              <a:solidFill>
                <a:srgbClr val="999999"/>
              </a:solidFill>
            </a:endParaRPr>
          </a:p>
          <a:p>
            <a:pPr marL="457200" lvl="0" indent="-342900" algn="l" rtl="0">
              <a:spcBef>
                <a:spcPts val="600"/>
              </a:spcBef>
              <a:spcAft>
                <a:spcPts val="0"/>
              </a:spcAft>
              <a:buClr>
                <a:srgbClr val="999999"/>
              </a:buClr>
              <a:buSzPts val="1800"/>
              <a:buChar char="●"/>
            </a:pPr>
            <a:r>
              <a:rPr lang="en">
                <a:solidFill>
                  <a:srgbClr val="999999"/>
                </a:solidFill>
              </a:rPr>
              <a:t>For character </a:t>
            </a:r>
            <a:r>
              <a:rPr lang="en">
                <a:solidFill>
                  <a:srgbClr val="999999"/>
                </a:solidFill>
                <a:latin typeface="Consolas"/>
                <a:ea typeface="Consolas"/>
                <a:cs typeface="Consolas"/>
                <a:sym typeface="Consolas"/>
              </a:rPr>
              <a:t>c</a:t>
            </a:r>
            <a:r>
              <a:rPr lang="en">
                <a:solidFill>
                  <a:srgbClr val="999999"/>
                </a:solidFill>
              </a:rPr>
              <a:t> in </a:t>
            </a:r>
            <a:r>
              <a:rPr lang="en">
                <a:solidFill>
                  <a:srgbClr val="999999"/>
                </a:solidFill>
                <a:latin typeface="Consolas"/>
                <a:ea typeface="Consolas"/>
                <a:cs typeface="Consolas"/>
                <a:sym typeface="Consolas"/>
              </a:rPr>
              <a:t>root.next.keys()</a:t>
            </a:r>
            <a:r>
              <a:rPr lang="en">
                <a:solidFill>
                  <a:srgbClr val="999999"/>
                </a:solidFill>
              </a:rPr>
              <a:t>:</a:t>
            </a:r>
            <a:endParaRPr>
              <a:solidFill>
                <a:srgbClr val="999999"/>
              </a:solidFill>
            </a:endParaRPr>
          </a:p>
          <a:p>
            <a:pPr marL="914400" lvl="1" indent="-342900" algn="l" rtl="0">
              <a:spcBef>
                <a:spcPts val="600"/>
              </a:spcBef>
              <a:spcAft>
                <a:spcPts val="0"/>
              </a:spcAft>
              <a:buClr>
                <a:srgbClr val="999999"/>
              </a:buClr>
              <a:buSzPts val="1800"/>
              <a:buChar char="○"/>
            </a:pPr>
            <a:r>
              <a:rPr lang="en">
                <a:solidFill>
                  <a:srgbClr val="999999"/>
                </a:solidFill>
              </a:rPr>
              <a:t>Call </a:t>
            </a:r>
            <a:r>
              <a:rPr lang="en">
                <a:solidFill>
                  <a:srgbClr val="999999"/>
                </a:solidFill>
                <a:latin typeface="Consolas"/>
                <a:ea typeface="Consolas"/>
                <a:cs typeface="Consolas"/>
                <a:sym typeface="Consolas"/>
              </a:rPr>
              <a:t>colHelp(c, x, root.next.get(c))</a:t>
            </a:r>
            <a:r>
              <a:rPr lang="en">
                <a:solidFill>
                  <a:srgbClr val="999999"/>
                </a:solidFill>
              </a:rPr>
              <a:t>.</a:t>
            </a:r>
            <a:endParaRPr>
              <a:solidFill>
                <a:srgbClr val="999999"/>
              </a:solidFill>
            </a:endParaRPr>
          </a:p>
          <a:p>
            <a:pPr marL="457200" lvl="0" indent="-342900" algn="l" rtl="0">
              <a:spcBef>
                <a:spcPts val="600"/>
              </a:spcBef>
              <a:spcAft>
                <a:spcPts val="0"/>
              </a:spcAft>
              <a:buClr>
                <a:srgbClr val="999999"/>
              </a:buClr>
              <a:buSzPts val="1800"/>
              <a:buChar char="●"/>
            </a:pPr>
            <a:r>
              <a:rPr lang="en">
                <a:solidFill>
                  <a:srgbClr val="999999"/>
                </a:solidFill>
              </a:rPr>
              <a:t>Return </a:t>
            </a:r>
            <a:r>
              <a:rPr lang="en">
                <a:solidFill>
                  <a:srgbClr val="999999"/>
                </a:solidFill>
                <a:latin typeface="Consolas"/>
                <a:ea typeface="Consolas"/>
                <a:cs typeface="Consolas"/>
                <a:sym typeface="Consolas"/>
              </a:rPr>
              <a:t>x</a:t>
            </a:r>
            <a:r>
              <a:rPr lang="en">
                <a:solidFill>
                  <a:srgbClr val="999999"/>
                </a:solidFill>
              </a:rPr>
              <a:t>.</a:t>
            </a:r>
            <a:endParaRPr>
              <a:solidFill>
                <a:srgbClr val="999999"/>
              </a:solidFill>
            </a:endParaRPr>
          </a:p>
          <a:p>
            <a:pPr marL="0" lvl="0" indent="0" algn="l" rtl="0">
              <a:spcBef>
                <a:spcPts val="600"/>
              </a:spcBef>
              <a:spcAft>
                <a:spcPts val="0"/>
              </a:spcAft>
              <a:buClr>
                <a:schemeClr val="dk1"/>
              </a:buClr>
              <a:buSzPts val="1100"/>
              <a:buFont typeface="Arial"/>
              <a:buNone/>
            </a:pPr>
            <a:endParaRPr/>
          </a:p>
          <a:p>
            <a:pPr marL="0" lvl="0" indent="0" algn="l" rtl="0">
              <a:spcBef>
                <a:spcPts val="600"/>
              </a:spcBef>
              <a:spcAft>
                <a:spcPts val="0"/>
              </a:spcAft>
              <a:buClr>
                <a:schemeClr val="dk1"/>
              </a:buClr>
              <a:buSzPts val="1100"/>
              <a:buFont typeface="Arial"/>
              <a:buNone/>
            </a:pPr>
            <a:r>
              <a:rPr lang="en">
                <a:latin typeface="Consolas"/>
                <a:ea typeface="Consolas"/>
                <a:cs typeface="Consolas"/>
                <a:sym typeface="Consolas"/>
              </a:rPr>
              <a:t>colHelp(String s, List&lt;String&gt; x, Node n)</a:t>
            </a:r>
            <a:r>
              <a:rPr lang="en"/>
              <a:t>:</a:t>
            </a:r>
            <a:endParaRPr/>
          </a:p>
          <a:p>
            <a:pPr marL="457200" lvl="0" indent="-342900" algn="l" rtl="0">
              <a:spcBef>
                <a:spcPts val="600"/>
              </a:spcBef>
              <a:spcAft>
                <a:spcPts val="0"/>
              </a:spcAft>
              <a:buClr>
                <a:srgbClr val="999999"/>
              </a:buClr>
              <a:buSzPts val="1800"/>
              <a:buChar char="●"/>
            </a:pPr>
            <a:r>
              <a:rPr lang="en">
                <a:solidFill>
                  <a:srgbClr val="999999"/>
                </a:solidFill>
              </a:rPr>
              <a:t>If </a:t>
            </a:r>
            <a:r>
              <a:rPr lang="en">
                <a:solidFill>
                  <a:srgbClr val="999999"/>
                </a:solidFill>
                <a:latin typeface="Consolas"/>
                <a:ea typeface="Consolas"/>
                <a:cs typeface="Consolas"/>
                <a:sym typeface="Consolas"/>
              </a:rPr>
              <a:t>n.isKey</a:t>
            </a:r>
            <a:r>
              <a:rPr lang="en">
                <a:solidFill>
                  <a:srgbClr val="999999"/>
                </a:solidFill>
              </a:rPr>
              <a:t>, then </a:t>
            </a:r>
            <a:r>
              <a:rPr lang="en">
                <a:solidFill>
                  <a:srgbClr val="999999"/>
                </a:solidFill>
                <a:latin typeface="Consolas"/>
                <a:ea typeface="Consolas"/>
                <a:cs typeface="Consolas"/>
                <a:sym typeface="Consolas"/>
              </a:rPr>
              <a:t>x.add(s)</a:t>
            </a:r>
            <a:r>
              <a:rPr lang="en">
                <a:solidFill>
                  <a:srgbClr val="999999"/>
                </a:solidFill>
              </a:rPr>
              <a:t>.</a:t>
            </a:r>
            <a:endParaRPr>
              <a:solidFill>
                <a:srgbClr val="999999"/>
              </a:solidFill>
            </a:endParaRPr>
          </a:p>
          <a:p>
            <a:pPr marL="457200" lvl="0" indent="-342900" algn="l" rtl="0">
              <a:spcBef>
                <a:spcPts val="600"/>
              </a:spcBef>
              <a:spcAft>
                <a:spcPts val="0"/>
              </a:spcAft>
              <a:buSzPts val="1800"/>
              <a:buChar char="●"/>
            </a:pPr>
            <a:r>
              <a:rPr lang="en"/>
              <a:t>For character </a:t>
            </a:r>
            <a:r>
              <a:rPr lang="en">
                <a:latin typeface="Consolas"/>
                <a:ea typeface="Consolas"/>
                <a:cs typeface="Consolas"/>
                <a:sym typeface="Consolas"/>
              </a:rPr>
              <a:t>c</a:t>
            </a:r>
            <a:r>
              <a:rPr lang="en"/>
              <a:t> in </a:t>
            </a:r>
            <a:r>
              <a:rPr lang="en">
                <a:latin typeface="Consolas"/>
                <a:ea typeface="Consolas"/>
                <a:cs typeface="Consolas"/>
                <a:sym typeface="Consolas"/>
              </a:rPr>
              <a:t>n.next.keys()</a:t>
            </a:r>
            <a:r>
              <a:rPr lang="en"/>
              <a:t>:</a:t>
            </a:r>
            <a:endParaRPr/>
          </a:p>
          <a:p>
            <a:pPr marL="914400" lvl="1" indent="-342900" algn="l" rtl="0">
              <a:spcBef>
                <a:spcPts val="600"/>
              </a:spcBef>
              <a:spcAft>
                <a:spcPts val="0"/>
              </a:spcAft>
              <a:buSzPts val="1800"/>
              <a:buChar char="○"/>
            </a:pPr>
            <a:r>
              <a:rPr lang="en"/>
              <a:t>Call </a:t>
            </a:r>
            <a:r>
              <a:rPr lang="en">
                <a:latin typeface="Consolas"/>
                <a:ea typeface="Consolas"/>
                <a:cs typeface="Consolas"/>
                <a:sym typeface="Consolas"/>
              </a:rPr>
              <a:t>colHelp(s + c, x, n.next.get(c))</a:t>
            </a:r>
            <a:endParaRPr/>
          </a:p>
        </p:txBody>
      </p:sp>
      <p:sp>
        <p:nvSpPr>
          <p:cNvPr id="1654" name="Google Shape;1654;p68"/>
          <p:cNvSpPr/>
          <p:nvPr/>
        </p:nvSpPr>
        <p:spPr>
          <a:xfrm>
            <a:off x="7267830" y="21999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1655" name="Google Shape;1655;p68"/>
          <p:cNvSpPr/>
          <p:nvPr/>
        </p:nvSpPr>
        <p:spPr>
          <a:xfrm>
            <a:off x="7943375" y="280049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sp>
        <p:nvSpPr>
          <p:cNvPr id="1656" name="Google Shape;1656;p68"/>
          <p:cNvSpPr/>
          <p:nvPr/>
        </p:nvSpPr>
        <p:spPr>
          <a:xfrm>
            <a:off x="7943375" y="3435773"/>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657" name="Google Shape;1657;p68"/>
          <p:cNvSpPr/>
          <p:nvPr/>
        </p:nvSpPr>
        <p:spPr>
          <a:xfrm>
            <a:off x="79433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m</a:t>
            </a:r>
            <a:endParaRPr sz="1800">
              <a:latin typeface="Consolas"/>
              <a:ea typeface="Consolas"/>
              <a:cs typeface="Consolas"/>
              <a:sym typeface="Consolas"/>
            </a:endParaRPr>
          </a:p>
        </p:txBody>
      </p:sp>
      <p:sp>
        <p:nvSpPr>
          <p:cNvPr id="1658" name="Google Shape;1658;p68"/>
          <p:cNvSpPr/>
          <p:nvPr/>
        </p:nvSpPr>
        <p:spPr>
          <a:xfrm>
            <a:off x="73138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d</a:t>
            </a:r>
            <a:endParaRPr sz="1800">
              <a:latin typeface="Consolas"/>
              <a:ea typeface="Consolas"/>
              <a:cs typeface="Consolas"/>
              <a:sym typeface="Consolas"/>
            </a:endParaRPr>
          </a:p>
        </p:txBody>
      </p:sp>
      <p:sp>
        <p:nvSpPr>
          <p:cNvPr id="1659" name="Google Shape;1659;p68"/>
          <p:cNvSpPr/>
          <p:nvPr/>
        </p:nvSpPr>
        <p:spPr>
          <a:xfrm>
            <a:off x="85728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p</a:t>
            </a:r>
            <a:endParaRPr sz="1800">
              <a:latin typeface="Consolas"/>
              <a:ea typeface="Consolas"/>
              <a:cs typeface="Consolas"/>
              <a:sym typeface="Consolas"/>
            </a:endParaRPr>
          </a:p>
        </p:txBody>
      </p:sp>
      <p:sp>
        <p:nvSpPr>
          <p:cNvPr id="1660" name="Google Shape;1660;p68"/>
          <p:cNvSpPr/>
          <p:nvPr/>
        </p:nvSpPr>
        <p:spPr>
          <a:xfrm>
            <a:off x="7943375" y="4553927"/>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e</a:t>
            </a:r>
            <a:endParaRPr sz="1800">
              <a:latin typeface="Consolas"/>
              <a:ea typeface="Consolas"/>
              <a:cs typeface="Consolas"/>
              <a:sym typeface="Consolas"/>
            </a:endParaRPr>
          </a:p>
        </p:txBody>
      </p:sp>
      <p:sp>
        <p:nvSpPr>
          <p:cNvPr id="1661" name="Google Shape;1661;p68"/>
          <p:cNvSpPr/>
          <p:nvPr/>
        </p:nvSpPr>
        <p:spPr>
          <a:xfrm>
            <a:off x="6008200" y="2800511"/>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662" name="Google Shape;1662;p68"/>
          <p:cNvSpPr/>
          <p:nvPr/>
        </p:nvSpPr>
        <p:spPr>
          <a:xfrm>
            <a:off x="6008200" y="343578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w</a:t>
            </a:r>
            <a:endParaRPr sz="1800">
              <a:latin typeface="Consolas"/>
              <a:ea typeface="Consolas"/>
              <a:cs typeface="Consolas"/>
              <a:sym typeface="Consolas"/>
            </a:endParaRPr>
          </a:p>
        </p:txBody>
      </p:sp>
      <p:sp>
        <p:nvSpPr>
          <p:cNvPr id="1650" name="Google Shape;1650;p68"/>
          <p:cNvSpPr/>
          <p:nvPr/>
        </p:nvSpPr>
        <p:spPr>
          <a:xfrm>
            <a:off x="6008200" y="3994861"/>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l</a:t>
            </a:r>
            <a:endParaRPr sz="1800">
              <a:latin typeface="Consolas"/>
              <a:ea typeface="Consolas"/>
              <a:cs typeface="Consolas"/>
              <a:sym typeface="Consolas"/>
            </a:endParaRPr>
          </a:p>
        </p:txBody>
      </p:sp>
      <p:cxnSp>
        <p:nvCxnSpPr>
          <p:cNvPr id="1663" name="Google Shape;1663;p68"/>
          <p:cNvCxnSpPr/>
          <p:nvPr/>
        </p:nvCxnSpPr>
        <p:spPr>
          <a:xfrm>
            <a:off x="8159825" y="4351552"/>
            <a:ext cx="0" cy="0"/>
          </a:xfrm>
          <a:prstGeom prst="straightConnector1">
            <a:avLst/>
          </a:prstGeom>
          <a:noFill/>
          <a:ln w="19050" cap="flat" cmpd="sng">
            <a:solidFill>
              <a:schemeClr val="dk2"/>
            </a:solidFill>
            <a:prstDash val="solid"/>
            <a:round/>
            <a:headEnd type="none" w="med" len="med"/>
            <a:tailEnd type="none" w="med" len="med"/>
          </a:ln>
        </p:spPr>
      </p:cxnSp>
      <p:cxnSp>
        <p:nvCxnSpPr>
          <p:cNvPr id="1664" name="Google Shape;1664;p68"/>
          <p:cNvCxnSpPr>
            <a:stCxn id="1654" idx="5"/>
            <a:endCxn id="1655" idx="0"/>
          </p:cNvCxnSpPr>
          <p:nvPr/>
        </p:nvCxnSpPr>
        <p:spPr>
          <a:xfrm>
            <a:off x="7637333" y="2569478"/>
            <a:ext cx="522600" cy="231000"/>
          </a:xfrm>
          <a:prstGeom prst="straightConnector1">
            <a:avLst/>
          </a:prstGeom>
          <a:noFill/>
          <a:ln w="28575" cap="flat" cmpd="sng">
            <a:solidFill>
              <a:schemeClr val="dk2"/>
            </a:solidFill>
            <a:prstDash val="solid"/>
            <a:round/>
            <a:headEnd type="none" w="med" len="med"/>
            <a:tailEnd type="none" w="med" len="med"/>
          </a:ln>
        </p:spPr>
      </p:cxnSp>
      <p:cxnSp>
        <p:nvCxnSpPr>
          <p:cNvPr id="1665" name="Google Shape;1665;p68"/>
          <p:cNvCxnSpPr>
            <a:stCxn id="1655" idx="4"/>
            <a:endCxn id="1656" idx="0"/>
          </p:cNvCxnSpPr>
          <p:nvPr/>
        </p:nvCxnSpPr>
        <p:spPr>
          <a:xfrm>
            <a:off x="8159825" y="3233396"/>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1666" name="Google Shape;1666;p68"/>
          <p:cNvCxnSpPr>
            <a:stCxn id="1656" idx="4"/>
            <a:endCxn id="1657" idx="0"/>
          </p:cNvCxnSpPr>
          <p:nvPr/>
        </p:nvCxnSpPr>
        <p:spPr>
          <a:xfrm>
            <a:off x="8159825" y="3868673"/>
            <a:ext cx="0" cy="126300"/>
          </a:xfrm>
          <a:prstGeom prst="straightConnector1">
            <a:avLst/>
          </a:prstGeom>
          <a:noFill/>
          <a:ln w="28575" cap="flat" cmpd="sng">
            <a:solidFill>
              <a:schemeClr val="dk2"/>
            </a:solidFill>
            <a:prstDash val="solid"/>
            <a:round/>
            <a:headEnd type="none" w="med" len="med"/>
            <a:tailEnd type="none" w="med" len="med"/>
          </a:ln>
        </p:spPr>
      </p:cxnSp>
      <p:cxnSp>
        <p:nvCxnSpPr>
          <p:cNvPr id="1667" name="Google Shape;1667;p68"/>
          <p:cNvCxnSpPr>
            <a:stCxn id="1656" idx="3"/>
            <a:endCxn id="1658" idx="0"/>
          </p:cNvCxnSpPr>
          <p:nvPr/>
        </p:nvCxnSpPr>
        <p:spPr>
          <a:xfrm flipH="1">
            <a:off x="7530372" y="3805277"/>
            <a:ext cx="476400" cy="189600"/>
          </a:xfrm>
          <a:prstGeom prst="straightConnector1">
            <a:avLst/>
          </a:prstGeom>
          <a:noFill/>
          <a:ln w="28575" cap="flat" cmpd="sng">
            <a:solidFill>
              <a:schemeClr val="dk2"/>
            </a:solidFill>
            <a:prstDash val="solid"/>
            <a:round/>
            <a:headEnd type="none" w="med" len="med"/>
            <a:tailEnd type="none" w="med" len="med"/>
          </a:ln>
        </p:spPr>
      </p:cxnSp>
      <p:cxnSp>
        <p:nvCxnSpPr>
          <p:cNvPr id="1668" name="Google Shape;1668;p68"/>
          <p:cNvCxnSpPr>
            <a:stCxn id="1656" idx="5"/>
            <a:endCxn id="1659" idx="0"/>
          </p:cNvCxnSpPr>
          <p:nvPr/>
        </p:nvCxnSpPr>
        <p:spPr>
          <a:xfrm>
            <a:off x="8312878" y="3805277"/>
            <a:ext cx="476400" cy="189600"/>
          </a:xfrm>
          <a:prstGeom prst="straightConnector1">
            <a:avLst/>
          </a:prstGeom>
          <a:noFill/>
          <a:ln w="28575" cap="flat" cmpd="sng">
            <a:solidFill>
              <a:schemeClr val="dk2"/>
            </a:solidFill>
            <a:prstDash val="solid"/>
            <a:round/>
            <a:headEnd type="none" w="med" len="med"/>
            <a:tailEnd type="none" w="med" len="med"/>
          </a:ln>
        </p:spPr>
      </p:cxnSp>
      <p:cxnSp>
        <p:nvCxnSpPr>
          <p:cNvPr id="1669" name="Google Shape;1669;p68"/>
          <p:cNvCxnSpPr>
            <a:stCxn id="1657" idx="4"/>
            <a:endCxn id="1660" idx="0"/>
          </p:cNvCxnSpPr>
          <p:nvPr/>
        </p:nvCxnSpPr>
        <p:spPr>
          <a:xfrm>
            <a:off x="8159825" y="4427752"/>
            <a:ext cx="0" cy="126300"/>
          </a:xfrm>
          <a:prstGeom prst="straightConnector1">
            <a:avLst/>
          </a:prstGeom>
          <a:noFill/>
          <a:ln w="28575" cap="flat" cmpd="sng">
            <a:solidFill>
              <a:schemeClr val="dk2"/>
            </a:solidFill>
            <a:prstDash val="solid"/>
            <a:round/>
            <a:headEnd type="none" w="med" len="med"/>
            <a:tailEnd type="none" w="med" len="med"/>
          </a:ln>
        </p:spPr>
      </p:cxnSp>
      <p:cxnSp>
        <p:nvCxnSpPr>
          <p:cNvPr id="1670" name="Google Shape;1670;p68"/>
          <p:cNvCxnSpPr>
            <a:stCxn id="1654" idx="3"/>
            <a:endCxn id="1661" idx="0"/>
          </p:cNvCxnSpPr>
          <p:nvPr/>
        </p:nvCxnSpPr>
        <p:spPr>
          <a:xfrm flipH="1">
            <a:off x="6224526" y="2569478"/>
            <a:ext cx="1106700" cy="231000"/>
          </a:xfrm>
          <a:prstGeom prst="straightConnector1">
            <a:avLst/>
          </a:prstGeom>
          <a:noFill/>
          <a:ln w="28575" cap="flat" cmpd="sng">
            <a:solidFill>
              <a:schemeClr val="dk2"/>
            </a:solidFill>
            <a:prstDash val="solid"/>
            <a:round/>
            <a:headEnd type="none" w="med" len="med"/>
            <a:tailEnd type="none" w="med" len="med"/>
          </a:ln>
        </p:spPr>
      </p:cxnSp>
      <p:cxnSp>
        <p:nvCxnSpPr>
          <p:cNvPr id="1671" name="Google Shape;1671;p68"/>
          <p:cNvCxnSpPr>
            <a:endCxn id="1662" idx="0"/>
          </p:cNvCxnSpPr>
          <p:nvPr/>
        </p:nvCxnSpPr>
        <p:spPr>
          <a:xfrm>
            <a:off x="6224650" y="3233286"/>
            <a:ext cx="0" cy="202500"/>
          </a:xfrm>
          <a:prstGeom prst="straightConnector1">
            <a:avLst/>
          </a:prstGeom>
          <a:noFill/>
          <a:ln w="28575" cap="flat" cmpd="sng">
            <a:solidFill>
              <a:schemeClr val="dk2"/>
            </a:solidFill>
            <a:prstDash val="solid"/>
            <a:round/>
            <a:headEnd type="none" w="med" len="med"/>
            <a:tailEnd type="none" w="med" len="med"/>
          </a:ln>
        </p:spPr>
      </p:cxnSp>
      <p:sp>
        <p:nvSpPr>
          <p:cNvPr id="1672" name="Google Shape;1672;p68"/>
          <p:cNvSpPr/>
          <p:nvPr/>
        </p:nvSpPr>
        <p:spPr>
          <a:xfrm>
            <a:off x="6008200" y="4553936"/>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cxnSp>
        <p:nvCxnSpPr>
          <p:cNvPr id="1673" name="Google Shape;1673;p68"/>
          <p:cNvCxnSpPr>
            <a:stCxn id="1650" idx="4"/>
            <a:endCxn id="1672" idx="0"/>
          </p:cNvCxnSpPr>
          <p:nvPr/>
        </p:nvCxnSpPr>
        <p:spPr>
          <a:xfrm>
            <a:off x="6224650" y="4427761"/>
            <a:ext cx="0" cy="126300"/>
          </a:xfrm>
          <a:prstGeom prst="straightConnector1">
            <a:avLst/>
          </a:prstGeom>
          <a:noFill/>
          <a:ln w="28575" cap="flat" cmpd="sng">
            <a:solidFill>
              <a:schemeClr val="dk2"/>
            </a:solidFill>
            <a:prstDash val="solid"/>
            <a:round/>
            <a:headEnd type="none" w="med" len="med"/>
            <a:tailEnd type="none" w="med" len="med"/>
          </a:ln>
        </p:spPr>
      </p:cxnSp>
      <p:sp>
        <p:nvSpPr>
          <p:cNvPr id="1674" name="Google Shape;1674;p68"/>
          <p:cNvSpPr txBox="1"/>
          <p:nvPr/>
        </p:nvSpPr>
        <p:spPr>
          <a:xfrm>
            <a:off x="6385964" y="2801100"/>
            <a:ext cx="2667900" cy="36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onsolas"/>
                <a:ea typeface="Consolas"/>
                <a:cs typeface="Consolas"/>
                <a:sym typeface="Consolas"/>
              </a:rPr>
              <a:t>colHelp("s", x,     )</a:t>
            </a:r>
            <a:endParaRPr>
              <a:latin typeface="Consolas"/>
              <a:ea typeface="Consolas"/>
              <a:cs typeface="Consolas"/>
              <a:sym typeface="Consolas"/>
            </a:endParaRPr>
          </a:p>
        </p:txBody>
      </p:sp>
      <p:sp>
        <p:nvSpPr>
          <p:cNvPr id="1675" name="Google Shape;1675;p68"/>
          <p:cNvSpPr txBox="1"/>
          <p:nvPr/>
        </p:nvSpPr>
        <p:spPr>
          <a:xfrm>
            <a:off x="6314423" y="3269274"/>
            <a:ext cx="2667900" cy="36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onsolas"/>
                <a:ea typeface="Consolas"/>
                <a:cs typeface="Consolas"/>
                <a:sym typeface="Consolas"/>
              </a:rPr>
              <a:t>colHelp("sa", x,     )</a:t>
            </a:r>
            <a:endParaRPr>
              <a:latin typeface="Consolas"/>
              <a:ea typeface="Consolas"/>
              <a:cs typeface="Consolas"/>
              <a:sym typeface="Consolas"/>
            </a:endParaRPr>
          </a:p>
        </p:txBody>
      </p:sp>
      <p:sp>
        <p:nvSpPr>
          <p:cNvPr id="1676" name="Google Shape;1676;p68"/>
          <p:cNvSpPr txBox="1"/>
          <p:nvPr/>
        </p:nvSpPr>
        <p:spPr>
          <a:xfrm>
            <a:off x="6033375" y="1512500"/>
            <a:ext cx="2053500" cy="36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onsolas"/>
                <a:ea typeface="Consolas"/>
                <a:cs typeface="Consolas"/>
                <a:sym typeface="Consolas"/>
              </a:rPr>
              <a:t>x = ["a", </a:t>
            </a:r>
            <a:r>
              <a:rPr lang="en">
                <a:solidFill>
                  <a:schemeClr val="dk1"/>
                </a:solidFill>
                <a:latin typeface="Consolas"/>
                <a:ea typeface="Consolas"/>
                <a:cs typeface="Consolas"/>
                <a:sym typeface="Consolas"/>
              </a:rPr>
              <a:t>"awls"</a:t>
            </a:r>
            <a:r>
              <a:rPr lang="en">
                <a:latin typeface="Consolas"/>
                <a:ea typeface="Consolas"/>
                <a:cs typeface="Consolas"/>
                <a:sym typeface="Consolas"/>
              </a:rPr>
              <a:t>]</a:t>
            </a:r>
            <a:endParaRPr>
              <a:latin typeface="Consolas"/>
              <a:ea typeface="Consolas"/>
              <a:cs typeface="Consolas"/>
              <a:sym typeface="Consola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80"/>
        <p:cNvGrpSpPr/>
        <p:nvPr/>
      </p:nvGrpSpPr>
      <p:grpSpPr>
        <a:xfrm>
          <a:off x="0" y="0"/>
          <a:ext cx="0" cy="0"/>
          <a:chOff x="0" y="0"/>
          <a:chExt cx="0" cy="0"/>
        </a:xfrm>
      </p:grpSpPr>
      <p:cxnSp>
        <p:nvCxnSpPr>
          <p:cNvPr id="1681" name="Google Shape;1681;p69"/>
          <p:cNvCxnSpPr>
            <a:endCxn id="1682" idx="0"/>
          </p:cNvCxnSpPr>
          <p:nvPr/>
        </p:nvCxnSpPr>
        <p:spPr>
          <a:xfrm>
            <a:off x="6224650" y="3792361"/>
            <a:ext cx="0" cy="202500"/>
          </a:xfrm>
          <a:prstGeom prst="straightConnector1">
            <a:avLst/>
          </a:prstGeom>
          <a:noFill/>
          <a:ln w="28575" cap="flat" cmpd="sng">
            <a:solidFill>
              <a:schemeClr val="dk2"/>
            </a:solidFill>
            <a:prstDash val="solid"/>
            <a:round/>
            <a:headEnd type="none" w="med" len="med"/>
            <a:tailEnd type="none" w="med" len="med"/>
          </a:ln>
        </p:spPr>
      </p:cxnSp>
      <p:sp>
        <p:nvSpPr>
          <p:cNvPr id="1683" name="Google Shape;1683;p6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Challenging Warmup Exercise: Collecting Trie Keys</a:t>
            </a:r>
            <a:endParaRPr/>
          </a:p>
        </p:txBody>
      </p:sp>
      <p:sp>
        <p:nvSpPr>
          <p:cNvPr id="1684" name="Google Shape;1684;p69"/>
          <p:cNvSpPr txBox="1">
            <a:spLocks noGrp="1"/>
          </p:cNvSpPr>
          <p:nvPr>
            <p:ph type="body" idx="1"/>
          </p:nvPr>
        </p:nvSpPr>
        <p:spPr>
          <a:xfrm>
            <a:off x="319200" y="556500"/>
            <a:ext cx="8443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p:txBody>
      </p:sp>
      <p:sp>
        <p:nvSpPr>
          <p:cNvPr id="1685" name="Google Shape;1685;p69"/>
          <p:cNvSpPr txBox="1">
            <a:spLocks noGrp="1"/>
          </p:cNvSpPr>
          <p:nvPr>
            <p:ph type="body" idx="1"/>
          </p:nvPr>
        </p:nvSpPr>
        <p:spPr>
          <a:xfrm>
            <a:off x="90600" y="409750"/>
            <a:ext cx="8701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rgbClr val="000000"/>
              </a:buClr>
              <a:buSzPts val="1100"/>
              <a:buFont typeface="Arial"/>
              <a:buNone/>
            </a:pPr>
            <a:r>
              <a:rPr lang="en"/>
              <a:t>Challenging Exercise: Give an algorithm for collecting all the keys in a Trie.</a:t>
            </a:r>
            <a:endParaRPr/>
          </a:p>
          <a:p>
            <a:pPr marL="0" lvl="0" indent="0" algn="l" rtl="0">
              <a:spcBef>
                <a:spcPts val="600"/>
              </a:spcBef>
              <a:spcAft>
                <a:spcPts val="0"/>
              </a:spcAft>
              <a:buClr>
                <a:srgbClr val="000000"/>
              </a:buClr>
              <a:buSzPts val="1100"/>
              <a:buFont typeface="Arial"/>
              <a:buNone/>
            </a:pPr>
            <a:r>
              <a:rPr lang="en">
                <a:latin typeface="Consolas"/>
                <a:ea typeface="Consolas"/>
                <a:cs typeface="Consolas"/>
                <a:sym typeface="Consolas"/>
              </a:rPr>
              <a:t>collect():</a:t>
            </a:r>
            <a:endParaRPr>
              <a:latin typeface="Consolas"/>
              <a:ea typeface="Consolas"/>
              <a:cs typeface="Consolas"/>
              <a:sym typeface="Consolas"/>
            </a:endParaRPr>
          </a:p>
          <a:p>
            <a:pPr marL="457200" lvl="0" indent="-342900" algn="l" rtl="0">
              <a:spcBef>
                <a:spcPts val="600"/>
              </a:spcBef>
              <a:spcAft>
                <a:spcPts val="0"/>
              </a:spcAft>
              <a:buSzPts val="1800"/>
              <a:buChar char="●"/>
            </a:pPr>
            <a:r>
              <a:rPr lang="en"/>
              <a:t>Create an empty list of results </a:t>
            </a:r>
            <a:r>
              <a:rPr lang="en">
                <a:latin typeface="Consolas"/>
                <a:ea typeface="Consolas"/>
                <a:cs typeface="Consolas"/>
                <a:sym typeface="Consolas"/>
              </a:rPr>
              <a:t>x</a:t>
            </a:r>
            <a:r>
              <a:rPr lang="en"/>
              <a:t>.</a:t>
            </a:r>
            <a:endParaRPr/>
          </a:p>
          <a:p>
            <a:pPr marL="457200" lvl="0" indent="-342900" algn="l" rtl="0">
              <a:spcBef>
                <a:spcPts val="600"/>
              </a:spcBef>
              <a:spcAft>
                <a:spcPts val="0"/>
              </a:spcAft>
              <a:buSzPts val="1800"/>
              <a:buChar char="●"/>
            </a:pPr>
            <a:r>
              <a:rPr lang="en"/>
              <a:t>For character </a:t>
            </a:r>
            <a:r>
              <a:rPr lang="en">
                <a:latin typeface="Consolas"/>
                <a:ea typeface="Consolas"/>
                <a:cs typeface="Consolas"/>
                <a:sym typeface="Consolas"/>
              </a:rPr>
              <a:t>c</a:t>
            </a:r>
            <a:r>
              <a:rPr lang="en"/>
              <a:t> in </a:t>
            </a:r>
            <a:r>
              <a:rPr lang="en">
                <a:latin typeface="Consolas"/>
                <a:ea typeface="Consolas"/>
                <a:cs typeface="Consolas"/>
                <a:sym typeface="Consolas"/>
              </a:rPr>
              <a:t>root.next.keys()</a:t>
            </a:r>
            <a:r>
              <a:rPr lang="en"/>
              <a:t>:</a:t>
            </a:r>
            <a:endParaRPr/>
          </a:p>
          <a:p>
            <a:pPr marL="914400" lvl="1" indent="-342900" algn="l" rtl="0">
              <a:spcBef>
                <a:spcPts val="600"/>
              </a:spcBef>
              <a:spcAft>
                <a:spcPts val="0"/>
              </a:spcAft>
              <a:buSzPts val="1800"/>
              <a:buChar char="○"/>
            </a:pPr>
            <a:r>
              <a:rPr lang="en"/>
              <a:t>Call </a:t>
            </a:r>
            <a:r>
              <a:rPr lang="en">
                <a:latin typeface="Consolas"/>
                <a:ea typeface="Consolas"/>
                <a:cs typeface="Consolas"/>
                <a:sym typeface="Consolas"/>
              </a:rPr>
              <a:t>colHelp(c, x, root.next.get(c))</a:t>
            </a:r>
            <a:r>
              <a:rPr lang="en"/>
              <a:t>.</a:t>
            </a:r>
            <a:endParaRPr/>
          </a:p>
          <a:p>
            <a:pPr marL="457200" lvl="0" indent="-342900" algn="l" rtl="0">
              <a:spcBef>
                <a:spcPts val="600"/>
              </a:spcBef>
              <a:spcAft>
                <a:spcPts val="0"/>
              </a:spcAft>
              <a:buSzPts val="1800"/>
              <a:buChar char="●"/>
            </a:pPr>
            <a:r>
              <a:rPr lang="en"/>
              <a:t>Return </a:t>
            </a:r>
            <a:r>
              <a:rPr lang="en">
                <a:latin typeface="Consolas"/>
                <a:ea typeface="Consolas"/>
                <a:cs typeface="Consolas"/>
                <a:sym typeface="Consolas"/>
              </a:rPr>
              <a:t>x</a:t>
            </a:r>
            <a:r>
              <a:rPr lang="en"/>
              <a:t>.</a:t>
            </a:r>
            <a:endParaRPr/>
          </a:p>
          <a:p>
            <a:pPr marL="0" lvl="0" indent="0" algn="l" rtl="0">
              <a:spcBef>
                <a:spcPts val="600"/>
              </a:spcBef>
              <a:spcAft>
                <a:spcPts val="0"/>
              </a:spcAft>
              <a:buClr>
                <a:srgbClr val="000000"/>
              </a:buClr>
              <a:buSzPts val="1100"/>
              <a:buFont typeface="Arial"/>
              <a:buNone/>
            </a:pPr>
            <a:endParaRPr/>
          </a:p>
          <a:p>
            <a:pPr marL="0" lvl="0" indent="0" algn="l" rtl="0">
              <a:spcBef>
                <a:spcPts val="600"/>
              </a:spcBef>
              <a:spcAft>
                <a:spcPts val="0"/>
              </a:spcAft>
              <a:buClr>
                <a:srgbClr val="000000"/>
              </a:buClr>
              <a:buSzPts val="1100"/>
              <a:buFont typeface="Arial"/>
              <a:buNone/>
            </a:pPr>
            <a:r>
              <a:rPr lang="en">
                <a:latin typeface="Consolas"/>
                <a:ea typeface="Consolas"/>
                <a:cs typeface="Consolas"/>
                <a:sym typeface="Consolas"/>
              </a:rPr>
              <a:t>colHelp(String s, List&lt;String&gt; x, Node n)</a:t>
            </a:r>
            <a:r>
              <a:rPr lang="en"/>
              <a:t>:</a:t>
            </a:r>
            <a:endParaRPr/>
          </a:p>
          <a:p>
            <a:pPr marL="457200" lvl="0" indent="-342900" algn="l" rtl="0">
              <a:spcBef>
                <a:spcPts val="600"/>
              </a:spcBef>
              <a:spcAft>
                <a:spcPts val="0"/>
              </a:spcAft>
              <a:buSzPts val="1800"/>
              <a:buChar char="●"/>
            </a:pPr>
            <a:r>
              <a:rPr lang="en"/>
              <a:t>If </a:t>
            </a:r>
            <a:r>
              <a:rPr lang="en">
                <a:latin typeface="Consolas"/>
                <a:ea typeface="Consolas"/>
                <a:cs typeface="Consolas"/>
                <a:sym typeface="Consolas"/>
              </a:rPr>
              <a:t>n.isKey</a:t>
            </a:r>
            <a:r>
              <a:rPr lang="en"/>
              <a:t>, then </a:t>
            </a:r>
            <a:r>
              <a:rPr lang="en">
                <a:latin typeface="Consolas"/>
                <a:ea typeface="Consolas"/>
                <a:cs typeface="Consolas"/>
                <a:sym typeface="Consolas"/>
              </a:rPr>
              <a:t>x.add(s)</a:t>
            </a:r>
            <a:r>
              <a:rPr lang="en"/>
              <a:t>.</a:t>
            </a:r>
            <a:endParaRPr/>
          </a:p>
          <a:p>
            <a:pPr marL="457200" lvl="0" indent="-342900" algn="l" rtl="0">
              <a:spcBef>
                <a:spcPts val="600"/>
              </a:spcBef>
              <a:spcAft>
                <a:spcPts val="0"/>
              </a:spcAft>
              <a:buSzPts val="1800"/>
              <a:buChar char="●"/>
            </a:pPr>
            <a:r>
              <a:rPr lang="en"/>
              <a:t>For character </a:t>
            </a:r>
            <a:r>
              <a:rPr lang="en">
                <a:latin typeface="Consolas"/>
                <a:ea typeface="Consolas"/>
                <a:cs typeface="Consolas"/>
                <a:sym typeface="Consolas"/>
              </a:rPr>
              <a:t>c</a:t>
            </a:r>
            <a:r>
              <a:rPr lang="en"/>
              <a:t> in </a:t>
            </a:r>
            <a:r>
              <a:rPr lang="en">
                <a:latin typeface="Consolas"/>
                <a:ea typeface="Consolas"/>
                <a:cs typeface="Consolas"/>
                <a:sym typeface="Consolas"/>
              </a:rPr>
              <a:t>n.next.keys()</a:t>
            </a:r>
            <a:r>
              <a:rPr lang="en"/>
              <a:t>:</a:t>
            </a:r>
            <a:endParaRPr/>
          </a:p>
          <a:p>
            <a:pPr marL="914400" lvl="1" indent="-342900" algn="l" rtl="0">
              <a:spcBef>
                <a:spcPts val="600"/>
              </a:spcBef>
              <a:spcAft>
                <a:spcPts val="0"/>
              </a:spcAft>
              <a:buSzPts val="1800"/>
              <a:buChar char="○"/>
            </a:pPr>
            <a:r>
              <a:rPr lang="en"/>
              <a:t>Call </a:t>
            </a:r>
            <a:r>
              <a:rPr lang="en">
                <a:latin typeface="Consolas"/>
                <a:ea typeface="Consolas"/>
                <a:cs typeface="Consolas"/>
                <a:sym typeface="Consolas"/>
              </a:rPr>
              <a:t>colHelp(s + c, x, n.next.get(c))</a:t>
            </a:r>
            <a:endParaRPr/>
          </a:p>
        </p:txBody>
      </p:sp>
      <p:sp>
        <p:nvSpPr>
          <p:cNvPr id="1686" name="Google Shape;1686;p69"/>
          <p:cNvSpPr/>
          <p:nvPr/>
        </p:nvSpPr>
        <p:spPr>
          <a:xfrm>
            <a:off x="7267830" y="21999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1687" name="Google Shape;1687;p69"/>
          <p:cNvSpPr/>
          <p:nvPr/>
        </p:nvSpPr>
        <p:spPr>
          <a:xfrm>
            <a:off x="7943375" y="280049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sp>
        <p:nvSpPr>
          <p:cNvPr id="1688" name="Google Shape;1688;p69"/>
          <p:cNvSpPr/>
          <p:nvPr/>
        </p:nvSpPr>
        <p:spPr>
          <a:xfrm>
            <a:off x="7943375" y="3435773"/>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689" name="Google Shape;1689;p69"/>
          <p:cNvSpPr/>
          <p:nvPr/>
        </p:nvSpPr>
        <p:spPr>
          <a:xfrm>
            <a:off x="79433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m</a:t>
            </a:r>
            <a:endParaRPr sz="1800">
              <a:latin typeface="Consolas"/>
              <a:ea typeface="Consolas"/>
              <a:cs typeface="Consolas"/>
              <a:sym typeface="Consolas"/>
            </a:endParaRPr>
          </a:p>
        </p:txBody>
      </p:sp>
      <p:sp>
        <p:nvSpPr>
          <p:cNvPr id="1690" name="Google Shape;1690;p69"/>
          <p:cNvSpPr/>
          <p:nvPr/>
        </p:nvSpPr>
        <p:spPr>
          <a:xfrm>
            <a:off x="73138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d</a:t>
            </a:r>
            <a:endParaRPr sz="1800">
              <a:latin typeface="Consolas"/>
              <a:ea typeface="Consolas"/>
              <a:cs typeface="Consolas"/>
              <a:sym typeface="Consolas"/>
            </a:endParaRPr>
          </a:p>
        </p:txBody>
      </p:sp>
      <p:sp>
        <p:nvSpPr>
          <p:cNvPr id="1691" name="Google Shape;1691;p69"/>
          <p:cNvSpPr/>
          <p:nvPr/>
        </p:nvSpPr>
        <p:spPr>
          <a:xfrm>
            <a:off x="85728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p</a:t>
            </a:r>
            <a:endParaRPr sz="1800">
              <a:latin typeface="Consolas"/>
              <a:ea typeface="Consolas"/>
              <a:cs typeface="Consolas"/>
              <a:sym typeface="Consolas"/>
            </a:endParaRPr>
          </a:p>
        </p:txBody>
      </p:sp>
      <p:sp>
        <p:nvSpPr>
          <p:cNvPr id="1692" name="Google Shape;1692;p69"/>
          <p:cNvSpPr/>
          <p:nvPr/>
        </p:nvSpPr>
        <p:spPr>
          <a:xfrm>
            <a:off x="7943375" y="4553927"/>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e</a:t>
            </a:r>
            <a:endParaRPr sz="1800">
              <a:latin typeface="Consolas"/>
              <a:ea typeface="Consolas"/>
              <a:cs typeface="Consolas"/>
              <a:sym typeface="Consolas"/>
            </a:endParaRPr>
          </a:p>
        </p:txBody>
      </p:sp>
      <p:sp>
        <p:nvSpPr>
          <p:cNvPr id="1693" name="Google Shape;1693;p69"/>
          <p:cNvSpPr/>
          <p:nvPr/>
        </p:nvSpPr>
        <p:spPr>
          <a:xfrm>
            <a:off x="6008200" y="2800511"/>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694" name="Google Shape;1694;p69"/>
          <p:cNvSpPr/>
          <p:nvPr/>
        </p:nvSpPr>
        <p:spPr>
          <a:xfrm>
            <a:off x="6008200" y="343578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w</a:t>
            </a:r>
            <a:endParaRPr sz="1800">
              <a:latin typeface="Consolas"/>
              <a:ea typeface="Consolas"/>
              <a:cs typeface="Consolas"/>
              <a:sym typeface="Consolas"/>
            </a:endParaRPr>
          </a:p>
        </p:txBody>
      </p:sp>
      <p:sp>
        <p:nvSpPr>
          <p:cNvPr id="1682" name="Google Shape;1682;p69"/>
          <p:cNvSpPr/>
          <p:nvPr/>
        </p:nvSpPr>
        <p:spPr>
          <a:xfrm>
            <a:off x="6008200" y="3994861"/>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l</a:t>
            </a:r>
            <a:endParaRPr sz="1800">
              <a:latin typeface="Consolas"/>
              <a:ea typeface="Consolas"/>
              <a:cs typeface="Consolas"/>
              <a:sym typeface="Consolas"/>
            </a:endParaRPr>
          </a:p>
        </p:txBody>
      </p:sp>
      <p:cxnSp>
        <p:nvCxnSpPr>
          <p:cNvPr id="1695" name="Google Shape;1695;p69"/>
          <p:cNvCxnSpPr/>
          <p:nvPr/>
        </p:nvCxnSpPr>
        <p:spPr>
          <a:xfrm>
            <a:off x="8159825" y="4351552"/>
            <a:ext cx="0" cy="0"/>
          </a:xfrm>
          <a:prstGeom prst="straightConnector1">
            <a:avLst/>
          </a:prstGeom>
          <a:noFill/>
          <a:ln w="19050" cap="flat" cmpd="sng">
            <a:solidFill>
              <a:schemeClr val="dk2"/>
            </a:solidFill>
            <a:prstDash val="solid"/>
            <a:round/>
            <a:headEnd type="none" w="med" len="med"/>
            <a:tailEnd type="none" w="med" len="med"/>
          </a:ln>
        </p:spPr>
      </p:cxnSp>
      <p:cxnSp>
        <p:nvCxnSpPr>
          <p:cNvPr id="1696" name="Google Shape;1696;p69"/>
          <p:cNvCxnSpPr>
            <a:stCxn id="1686" idx="5"/>
            <a:endCxn id="1687" idx="0"/>
          </p:cNvCxnSpPr>
          <p:nvPr/>
        </p:nvCxnSpPr>
        <p:spPr>
          <a:xfrm>
            <a:off x="7637333" y="2569478"/>
            <a:ext cx="522600" cy="231000"/>
          </a:xfrm>
          <a:prstGeom prst="straightConnector1">
            <a:avLst/>
          </a:prstGeom>
          <a:noFill/>
          <a:ln w="28575" cap="flat" cmpd="sng">
            <a:solidFill>
              <a:schemeClr val="dk2"/>
            </a:solidFill>
            <a:prstDash val="solid"/>
            <a:round/>
            <a:headEnd type="none" w="med" len="med"/>
            <a:tailEnd type="none" w="med" len="med"/>
          </a:ln>
        </p:spPr>
      </p:cxnSp>
      <p:cxnSp>
        <p:nvCxnSpPr>
          <p:cNvPr id="1697" name="Google Shape;1697;p69"/>
          <p:cNvCxnSpPr>
            <a:stCxn id="1687" idx="4"/>
            <a:endCxn id="1688" idx="0"/>
          </p:cNvCxnSpPr>
          <p:nvPr/>
        </p:nvCxnSpPr>
        <p:spPr>
          <a:xfrm>
            <a:off x="8159825" y="3233396"/>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1698" name="Google Shape;1698;p69"/>
          <p:cNvCxnSpPr>
            <a:stCxn id="1688" idx="4"/>
            <a:endCxn id="1689" idx="0"/>
          </p:cNvCxnSpPr>
          <p:nvPr/>
        </p:nvCxnSpPr>
        <p:spPr>
          <a:xfrm>
            <a:off x="8159825" y="3868673"/>
            <a:ext cx="0" cy="126300"/>
          </a:xfrm>
          <a:prstGeom prst="straightConnector1">
            <a:avLst/>
          </a:prstGeom>
          <a:noFill/>
          <a:ln w="28575" cap="flat" cmpd="sng">
            <a:solidFill>
              <a:schemeClr val="dk2"/>
            </a:solidFill>
            <a:prstDash val="solid"/>
            <a:round/>
            <a:headEnd type="none" w="med" len="med"/>
            <a:tailEnd type="none" w="med" len="med"/>
          </a:ln>
        </p:spPr>
      </p:cxnSp>
      <p:cxnSp>
        <p:nvCxnSpPr>
          <p:cNvPr id="1699" name="Google Shape;1699;p69"/>
          <p:cNvCxnSpPr>
            <a:stCxn id="1688" idx="3"/>
            <a:endCxn id="1690" idx="0"/>
          </p:cNvCxnSpPr>
          <p:nvPr/>
        </p:nvCxnSpPr>
        <p:spPr>
          <a:xfrm flipH="1">
            <a:off x="7530372" y="3805277"/>
            <a:ext cx="476400" cy="189600"/>
          </a:xfrm>
          <a:prstGeom prst="straightConnector1">
            <a:avLst/>
          </a:prstGeom>
          <a:noFill/>
          <a:ln w="28575" cap="flat" cmpd="sng">
            <a:solidFill>
              <a:schemeClr val="dk2"/>
            </a:solidFill>
            <a:prstDash val="solid"/>
            <a:round/>
            <a:headEnd type="none" w="med" len="med"/>
            <a:tailEnd type="none" w="med" len="med"/>
          </a:ln>
        </p:spPr>
      </p:cxnSp>
      <p:cxnSp>
        <p:nvCxnSpPr>
          <p:cNvPr id="1700" name="Google Shape;1700;p69"/>
          <p:cNvCxnSpPr>
            <a:stCxn id="1688" idx="5"/>
            <a:endCxn id="1691" idx="0"/>
          </p:cNvCxnSpPr>
          <p:nvPr/>
        </p:nvCxnSpPr>
        <p:spPr>
          <a:xfrm>
            <a:off x="8312878" y="3805277"/>
            <a:ext cx="476400" cy="189600"/>
          </a:xfrm>
          <a:prstGeom prst="straightConnector1">
            <a:avLst/>
          </a:prstGeom>
          <a:noFill/>
          <a:ln w="28575" cap="flat" cmpd="sng">
            <a:solidFill>
              <a:schemeClr val="dk2"/>
            </a:solidFill>
            <a:prstDash val="solid"/>
            <a:round/>
            <a:headEnd type="none" w="med" len="med"/>
            <a:tailEnd type="none" w="med" len="med"/>
          </a:ln>
        </p:spPr>
      </p:cxnSp>
      <p:cxnSp>
        <p:nvCxnSpPr>
          <p:cNvPr id="1701" name="Google Shape;1701;p69"/>
          <p:cNvCxnSpPr>
            <a:stCxn id="1689" idx="4"/>
            <a:endCxn id="1692" idx="0"/>
          </p:cNvCxnSpPr>
          <p:nvPr/>
        </p:nvCxnSpPr>
        <p:spPr>
          <a:xfrm>
            <a:off x="8159825" y="4427752"/>
            <a:ext cx="0" cy="126300"/>
          </a:xfrm>
          <a:prstGeom prst="straightConnector1">
            <a:avLst/>
          </a:prstGeom>
          <a:noFill/>
          <a:ln w="28575" cap="flat" cmpd="sng">
            <a:solidFill>
              <a:schemeClr val="dk2"/>
            </a:solidFill>
            <a:prstDash val="solid"/>
            <a:round/>
            <a:headEnd type="none" w="med" len="med"/>
            <a:tailEnd type="none" w="med" len="med"/>
          </a:ln>
        </p:spPr>
      </p:cxnSp>
      <p:cxnSp>
        <p:nvCxnSpPr>
          <p:cNvPr id="1702" name="Google Shape;1702;p69"/>
          <p:cNvCxnSpPr>
            <a:stCxn id="1686" idx="3"/>
            <a:endCxn id="1693" idx="0"/>
          </p:cNvCxnSpPr>
          <p:nvPr/>
        </p:nvCxnSpPr>
        <p:spPr>
          <a:xfrm flipH="1">
            <a:off x="6224526" y="2569478"/>
            <a:ext cx="1106700" cy="231000"/>
          </a:xfrm>
          <a:prstGeom prst="straightConnector1">
            <a:avLst/>
          </a:prstGeom>
          <a:noFill/>
          <a:ln w="28575" cap="flat" cmpd="sng">
            <a:solidFill>
              <a:schemeClr val="dk2"/>
            </a:solidFill>
            <a:prstDash val="solid"/>
            <a:round/>
            <a:headEnd type="none" w="med" len="med"/>
            <a:tailEnd type="none" w="med" len="med"/>
          </a:ln>
        </p:spPr>
      </p:cxnSp>
      <p:cxnSp>
        <p:nvCxnSpPr>
          <p:cNvPr id="1703" name="Google Shape;1703;p69"/>
          <p:cNvCxnSpPr>
            <a:endCxn id="1694" idx="0"/>
          </p:cNvCxnSpPr>
          <p:nvPr/>
        </p:nvCxnSpPr>
        <p:spPr>
          <a:xfrm>
            <a:off x="6224650" y="3233286"/>
            <a:ext cx="0" cy="202500"/>
          </a:xfrm>
          <a:prstGeom prst="straightConnector1">
            <a:avLst/>
          </a:prstGeom>
          <a:noFill/>
          <a:ln w="28575" cap="flat" cmpd="sng">
            <a:solidFill>
              <a:schemeClr val="dk2"/>
            </a:solidFill>
            <a:prstDash val="solid"/>
            <a:round/>
            <a:headEnd type="none" w="med" len="med"/>
            <a:tailEnd type="none" w="med" len="med"/>
          </a:ln>
        </p:spPr>
      </p:cxnSp>
      <p:sp>
        <p:nvSpPr>
          <p:cNvPr id="1704" name="Google Shape;1704;p69"/>
          <p:cNvSpPr/>
          <p:nvPr/>
        </p:nvSpPr>
        <p:spPr>
          <a:xfrm>
            <a:off x="6008200" y="4553936"/>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cxnSp>
        <p:nvCxnSpPr>
          <p:cNvPr id="1705" name="Google Shape;1705;p69"/>
          <p:cNvCxnSpPr>
            <a:stCxn id="1682" idx="4"/>
            <a:endCxn id="1704" idx="0"/>
          </p:cNvCxnSpPr>
          <p:nvPr/>
        </p:nvCxnSpPr>
        <p:spPr>
          <a:xfrm>
            <a:off x="6224650" y="4427761"/>
            <a:ext cx="0" cy="126300"/>
          </a:xfrm>
          <a:prstGeom prst="straightConnector1">
            <a:avLst/>
          </a:prstGeom>
          <a:noFill/>
          <a:ln w="28575" cap="flat" cmpd="sng">
            <a:solidFill>
              <a:schemeClr val="dk2"/>
            </a:solidFill>
            <a:prstDash val="solid"/>
            <a:round/>
            <a:headEnd type="none" w="med" len="med"/>
            <a:tailEnd type="none" w="med" len="med"/>
          </a:ln>
        </p:spPr>
      </p:cxnSp>
      <p:sp>
        <p:nvSpPr>
          <p:cNvPr id="1706" name="Google Shape;1706;p69"/>
          <p:cNvSpPr txBox="1"/>
          <p:nvPr/>
        </p:nvSpPr>
        <p:spPr>
          <a:xfrm>
            <a:off x="6033375" y="1512500"/>
            <a:ext cx="2837400" cy="36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onsolas"/>
                <a:ea typeface="Consolas"/>
                <a:cs typeface="Consolas"/>
                <a:sym typeface="Consolas"/>
              </a:rPr>
              <a:t>x = ["a", </a:t>
            </a:r>
            <a:r>
              <a:rPr lang="en">
                <a:solidFill>
                  <a:schemeClr val="dk1"/>
                </a:solidFill>
                <a:latin typeface="Consolas"/>
                <a:ea typeface="Consolas"/>
                <a:cs typeface="Consolas"/>
                <a:sym typeface="Consolas"/>
              </a:rPr>
              <a:t>"</a:t>
            </a:r>
            <a:r>
              <a:rPr lang="en">
                <a:latin typeface="Consolas"/>
                <a:ea typeface="Consolas"/>
                <a:cs typeface="Consolas"/>
                <a:sym typeface="Consolas"/>
              </a:rPr>
              <a:t>awls</a:t>
            </a:r>
            <a:r>
              <a:rPr lang="en">
                <a:solidFill>
                  <a:schemeClr val="dk1"/>
                </a:solidFill>
                <a:latin typeface="Consolas"/>
                <a:ea typeface="Consolas"/>
                <a:cs typeface="Consolas"/>
                <a:sym typeface="Consolas"/>
              </a:rPr>
              <a:t>"</a:t>
            </a:r>
            <a:r>
              <a:rPr lang="en">
                <a:latin typeface="Consolas"/>
                <a:ea typeface="Consolas"/>
                <a:cs typeface="Consolas"/>
                <a:sym typeface="Consolas"/>
              </a:rPr>
              <a:t>, </a:t>
            </a:r>
            <a:r>
              <a:rPr lang="en">
                <a:solidFill>
                  <a:schemeClr val="dk1"/>
                </a:solidFill>
                <a:latin typeface="Consolas"/>
                <a:ea typeface="Consolas"/>
                <a:cs typeface="Consolas"/>
                <a:sym typeface="Consolas"/>
              </a:rPr>
              <a:t>"</a:t>
            </a:r>
            <a:r>
              <a:rPr lang="en">
                <a:latin typeface="Consolas"/>
                <a:ea typeface="Consolas"/>
                <a:cs typeface="Consolas"/>
                <a:sym typeface="Consolas"/>
              </a:rPr>
              <a:t>sad</a:t>
            </a:r>
            <a:r>
              <a:rPr lang="en">
                <a:solidFill>
                  <a:schemeClr val="dk1"/>
                </a:solidFill>
                <a:latin typeface="Consolas"/>
                <a:ea typeface="Consolas"/>
                <a:cs typeface="Consolas"/>
                <a:sym typeface="Consolas"/>
              </a:rPr>
              <a:t>"</a:t>
            </a:r>
            <a:r>
              <a:rPr lang="en">
                <a:latin typeface="Consolas"/>
                <a:ea typeface="Consolas"/>
                <a:cs typeface="Consolas"/>
                <a:sym typeface="Consolas"/>
              </a:rPr>
              <a:t>,  </a:t>
            </a:r>
            <a:endParaRPr>
              <a:latin typeface="Consolas"/>
              <a:ea typeface="Consolas"/>
              <a:cs typeface="Consolas"/>
              <a:sym typeface="Consolas"/>
            </a:endParaRPr>
          </a:p>
          <a:p>
            <a:pPr marL="0" lvl="0" indent="0" algn="l" rtl="0">
              <a:spcBef>
                <a:spcPts val="0"/>
              </a:spcBef>
              <a:spcAft>
                <a:spcPts val="0"/>
              </a:spcAft>
              <a:buNone/>
            </a:pPr>
            <a:r>
              <a:rPr lang="en">
                <a:latin typeface="Consolas"/>
                <a:ea typeface="Consolas"/>
                <a:cs typeface="Consolas"/>
                <a:sym typeface="Consolas"/>
              </a:rPr>
              <a:t>     </a:t>
            </a:r>
            <a:r>
              <a:rPr lang="en">
                <a:solidFill>
                  <a:schemeClr val="dk1"/>
                </a:solidFill>
                <a:latin typeface="Consolas"/>
                <a:ea typeface="Consolas"/>
                <a:cs typeface="Consolas"/>
                <a:sym typeface="Consolas"/>
              </a:rPr>
              <a:t>"</a:t>
            </a:r>
            <a:r>
              <a:rPr lang="en">
                <a:latin typeface="Consolas"/>
                <a:ea typeface="Consolas"/>
                <a:cs typeface="Consolas"/>
                <a:sym typeface="Consolas"/>
              </a:rPr>
              <a:t>sam</a:t>
            </a:r>
            <a:r>
              <a:rPr lang="en">
                <a:solidFill>
                  <a:schemeClr val="dk1"/>
                </a:solidFill>
                <a:latin typeface="Consolas"/>
                <a:ea typeface="Consolas"/>
                <a:cs typeface="Consolas"/>
                <a:sym typeface="Consolas"/>
              </a:rPr>
              <a:t>"</a:t>
            </a:r>
            <a:r>
              <a:rPr lang="en">
                <a:latin typeface="Consolas"/>
                <a:ea typeface="Consolas"/>
                <a:cs typeface="Consolas"/>
                <a:sym typeface="Consolas"/>
              </a:rPr>
              <a:t>, </a:t>
            </a:r>
            <a:r>
              <a:rPr lang="en">
                <a:solidFill>
                  <a:schemeClr val="dk1"/>
                </a:solidFill>
                <a:latin typeface="Consolas"/>
                <a:ea typeface="Consolas"/>
                <a:cs typeface="Consolas"/>
                <a:sym typeface="Consolas"/>
              </a:rPr>
              <a:t>"</a:t>
            </a:r>
            <a:r>
              <a:rPr lang="en">
                <a:latin typeface="Consolas"/>
                <a:ea typeface="Consolas"/>
                <a:cs typeface="Consolas"/>
                <a:sym typeface="Consolas"/>
              </a:rPr>
              <a:t>same</a:t>
            </a:r>
            <a:r>
              <a:rPr lang="en">
                <a:solidFill>
                  <a:schemeClr val="dk1"/>
                </a:solidFill>
                <a:latin typeface="Consolas"/>
                <a:ea typeface="Consolas"/>
                <a:cs typeface="Consolas"/>
                <a:sym typeface="Consolas"/>
              </a:rPr>
              <a:t>"</a:t>
            </a:r>
            <a:r>
              <a:rPr lang="en">
                <a:latin typeface="Consolas"/>
                <a:ea typeface="Consolas"/>
                <a:cs typeface="Consolas"/>
                <a:sym typeface="Consolas"/>
              </a:rPr>
              <a:t>, </a:t>
            </a:r>
            <a:r>
              <a:rPr lang="en">
                <a:solidFill>
                  <a:schemeClr val="dk1"/>
                </a:solidFill>
                <a:latin typeface="Consolas"/>
                <a:ea typeface="Consolas"/>
                <a:cs typeface="Consolas"/>
                <a:sym typeface="Consolas"/>
              </a:rPr>
              <a:t>"</a:t>
            </a:r>
            <a:r>
              <a:rPr lang="en">
                <a:latin typeface="Consolas"/>
                <a:ea typeface="Consolas"/>
                <a:cs typeface="Consolas"/>
                <a:sym typeface="Consolas"/>
              </a:rPr>
              <a:t>sap</a:t>
            </a:r>
            <a:r>
              <a:rPr lang="en">
                <a:solidFill>
                  <a:schemeClr val="dk1"/>
                </a:solidFill>
                <a:latin typeface="Consolas"/>
                <a:ea typeface="Consolas"/>
                <a:cs typeface="Consolas"/>
                <a:sym typeface="Consolas"/>
              </a:rPr>
              <a:t>"</a:t>
            </a:r>
            <a:r>
              <a:rPr lang="en">
                <a:latin typeface="Consolas"/>
                <a:ea typeface="Consolas"/>
                <a:cs typeface="Consolas"/>
                <a:sym typeface="Consolas"/>
              </a:rPr>
              <a:t>]</a:t>
            </a:r>
            <a:endParaRPr>
              <a:latin typeface="Consolas"/>
              <a:ea typeface="Consolas"/>
              <a:cs typeface="Consolas"/>
              <a:sym typeface="Consolas"/>
            </a:endParaRPr>
          </a:p>
        </p:txBody>
      </p:sp>
      <p:sp>
        <p:nvSpPr>
          <p:cNvPr id="1707" name="Google Shape;1707;p69"/>
          <p:cNvSpPr txBox="1"/>
          <p:nvPr/>
        </p:nvSpPr>
        <p:spPr>
          <a:xfrm>
            <a:off x="6385964" y="2801100"/>
            <a:ext cx="2667900" cy="36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onsolas"/>
                <a:ea typeface="Consolas"/>
                <a:cs typeface="Consolas"/>
                <a:sym typeface="Consolas"/>
              </a:rPr>
              <a:t>colHelp("s", x,     )</a:t>
            </a:r>
            <a:endParaRPr>
              <a:latin typeface="Consolas"/>
              <a:ea typeface="Consolas"/>
              <a:cs typeface="Consolas"/>
              <a:sym typeface="Consolas"/>
            </a:endParaRPr>
          </a:p>
        </p:txBody>
      </p:sp>
      <p:sp>
        <p:nvSpPr>
          <p:cNvPr id="1708" name="Google Shape;1708;p69"/>
          <p:cNvSpPr txBox="1"/>
          <p:nvPr/>
        </p:nvSpPr>
        <p:spPr>
          <a:xfrm>
            <a:off x="6314423" y="3269274"/>
            <a:ext cx="2667900" cy="36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onsolas"/>
                <a:ea typeface="Consolas"/>
                <a:cs typeface="Consolas"/>
                <a:sym typeface="Consolas"/>
              </a:rPr>
              <a:t>colHelp("sa", x,     )</a:t>
            </a:r>
            <a:endParaRPr>
              <a:latin typeface="Consolas"/>
              <a:ea typeface="Consolas"/>
              <a:cs typeface="Consolas"/>
              <a:sym typeface="Consolas"/>
            </a:endParaRPr>
          </a:p>
        </p:txBody>
      </p:sp>
      <p:sp>
        <p:nvSpPr>
          <p:cNvPr id="1709" name="Google Shape;1709;p69"/>
          <p:cNvSpPr txBox="1"/>
          <p:nvPr/>
        </p:nvSpPr>
        <p:spPr>
          <a:xfrm>
            <a:off x="6871975" y="3652625"/>
            <a:ext cx="476400" cy="43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C9DAF8"/>
        </a:solidFill>
        <a:effectLst/>
      </p:bgPr>
    </p:bg>
    <p:spTree>
      <p:nvGrpSpPr>
        <p:cNvPr id="1" name="Shape 1713"/>
        <p:cNvGrpSpPr/>
        <p:nvPr/>
      </p:nvGrpSpPr>
      <p:grpSpPr>
        <a:xfrm>
          <a:off x="0" y="0"/>
          <a:ext cx="0" cy="0"/>
          <a:chOff x="0" y="0"/>
          <a:chExt cx="0" cy="0"/>
        </a:xfrm>
      </p:grpSpPr>
      <p:cxnSp>
        <p:nvCxnSpPr>
          <p:cNvPr id="1714" name="Google Shape;1714;p70"/>
          <p:cNvCxnSpPr>
            <a:endCxn id="1715" idx="0"/>
          </p:cNvCxnSpPr>
          <p:nvPr/>
        </p:nvCxnSpPr>
        <p:spPr>
          <a:xfrm>
            <a:off x="6834250" y="3792361"/>
            <a:ext cx="0" cy="202500"/>
          </a:xfrm>
          <a:prstGeom prst="straightConnector1">
            <a:avLst/>
          </a:prstGeom>
          <a:noFill/>
          <a:ln w="28575" cap="flat" cmpd="sng">
            <a:solidFill>
              <a:schemeClr val="dk2"/>
            </a:solidFill>
            <a:prstDash val="solid"/>
            <a:round/>
            <a:headEnd type="none" w="med" len="med"/>
            <a:tailEnd type="none" w="med" len="med"/>
          </a:ln>
        </p:spPr>
      </p:cxnSp>
      <p:sp>
        <p:nvSpPr>
          <p:cNvPr id="1716" name="Google Shape;1716;p7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Usages of Tries</a:t>
            </a:r>
            <a:endParaRPr/>
          </a:p>
        </p:txBody>
      </p:sp>
      <p:sp>
        <p:nvSpPr>
          <p:cNvPr id="1717" name="Google Shape;1717;p70"/>
          <p:cNvSpPr txBox="1">
            <a:spLocks noGrp="1"/>
          </p:cNvSpPr>
          <p:nvPr>
            <p:ph type="body" idx="1"/>
          </p:nvPr>
        </p:nvSpPr>
        <p:spPr>
          <a:xfrm>
            <a:off x="319200" y="556500"/>
            <a:ext cx="8443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p:txBody>
      </p:sp>
      <p:sp>
        <p:nvSpPr>
          <p:cNvPr id="1718" name="Google Shape;1718;p70"/>
          <p:cNvSpPr txBox="1">
            <a:spLocks noGrp="1"/>
          </p:cNvSpPr>
          <p:nvPr>
            <p:ph type="body" idx="1"/>
          </p:nvPr>
        </p:nvSpPr>
        <p:spPr>
          <a:xfrm>
            <a:off x="90600" y="409750"/>
            <a:ext cx="89010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Challenge: Give an algorithm for </a:t>
            </a:r>
            <a:r>
              <a:rPr lang="en">
                <a:latin typeface="Consolas"/>
                <a:ea typeface="Consolas"/>
                <a:cs typeface="Consolas"/>
                <a:sym typeface="Consolas"/>
              </a:rPr>
              <a:t>keysWithPrefix</a:t>
            </a:r>
            <a:r>
              <a:rPr lang="en"/>
              <a:t>.</a:t>
            </a:r>
            <a:endParaRPr/>
          </a:p>
          <a:p>
            <a:pPr marL="457200" lvl="0" indent="-342900" algn="l" rtl="0">
              <a:spcBef>
                <a:spcPts val="600"/>
              </a:spcBef>
              <a:spcAft>
                <a:spcPts val="0"/>
              </a:spcAft>
              <a:buSzPts val="1800"/>
              <a:buChar char="●"/>
            </a:pPr>
            <a:r>
              <a:rPr lang="en"/>
              <a:t>Example: </a:t>
            </a:r>
            <a:r>
              <a:rPr lang="en">
                <a:latin typeface="Consolas"/>
                <a:ea typeface="Consolas"/>
                <a:cs typeface="Consolas"/>
                <a:sym typeface="Consolas"/>
              </a:rPr>
              <a:t>keysWithPrefix("sa")</a:t>
            </a:r>
            <a:r>
              <a:rPr lang="en"/>
              <a:t> is </a:t>
            </a:r>
            <a:r>
              <a:rPr lang="en">
                <a:latin typeface="Consolas"/>
                <a:ea typeface="Consolas"/>
                <a:cs typeface="Consolas"/>
                <a:sym typeface="Consolas"/>
              </a:rPr>
              <a:t>["sad", "sam", "same", "sap"]</a:t>
            </a:r>
            <a:r>
              <a:rPr lang="en"/>
              <a:t>.</a:t>
            </a:r>
            <a:endParaRPr/>
          </a:p>
        </p:txBody>
      </p:sp>
      <p:sp>
        <p:nvSpPr>
          <p:cNvPr id="1719" name="Google Shape;1719;p70"/>
          <p:cNvSpPr/>
          <p:nvPr/>
        </p:nvSpPr>
        <p:spPr>
          <a:xfrm>
            <a:off x="7267830" y="21999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1720" name="Google Shape;1720;p70"/>
          <p:cNvSpPr/>
          <p:nvPr/>
        </p:nvSpPr>
        <p:spPr>
          <a:xfrm>
            <a:off x="7943375" y="280049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sp>
        <p:nvSpPr>
          <p:cNvPr id="1721" name="Google Shape;1721;p70"/>
          <p:cNvSpPr/>
          <p:nvPr/>
        </p:nvSpPr>
        <p:spPr>
          <a:xfrm>
            <a:off x="7943375" y="3435773"/>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722" name="Google Shape;1722;p70"/>
          <p:cNvSpPr/>
          <p:nvPr/>
        </p:nvSpPr>
        <p:spPr>
          <a:xfrm>
            <a:off x="79433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m</a:t>
            </a:r>
            <a:endParaRPr sz="1800">
              <a:latin typeface="Consolas"/>
              <a:ea typeface="Consolas"/>
              <a:cs typeface="Consolas"/>
              <a:sym typeface="Consolas"/>
            </a:endParaRPr>
          </a:p>
        </p:txBody>
      </p:sp>
      <p:sp>
        <p:nvSpPr>
          <p:cNvPr id="1723" name="Google Shape;1723;p70"/>
          <p:cNvSpPr/>
          <p:nvPr/>
        </p:nvSpPr>
        <p:spPr>
          <a:xfrm>
            <a:off x="73138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d</a:t>
            </a:r>
            <a:endParaRPr sz="1800">
              <a:latin typeface="Consolas"/>
              <a:ea typeface="Consolas"/>
              <a:cs typeface="Consolas"/>
              <a:sym typeface="Consolas"/>
            </a:endParaRPr>
          </a:p>
        </p:txBody>
      </p:sp>
      <p:sp>
        <p:nvSpPr>
          <p:cNvPr id="1724" name="Google Shape;1724;p70"/>
          <p:cNvSpPr/>
          <p:nvPr/>
        </p:nvSpPr>
        <p:spPr>
          <a:xfrm>
            <a:off x="85728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p</a:t>
            </a:r>
            <a:endParaRPr sz="1800">
              <a:latin typeface="Consolas"/>
              <a:ea typeface="Consolas"/>
              <a:cs typeface="Consolas"/>
              <a:sym typeface="Consolas"/>
            </a:endParaRPr>
          </a:p>
        </p:txBody>
      </p:sp>
      <p:sp>
        <p:nvSpPr>
          <p:cNvPr id="1725" name="Google Shape;1725;p70"/>
          <p:cNvSpPr/>
          <p:nvPr/>
        </p:nvSpPr>
        <p:spPr>
          <a:xfrm>
            <a:off x="7943375" y="4553927"/>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e</a:t>
            </a:r>
            <a:endParaRPr sz="1800">
              <a:latin typeface="Consolas"/>
              <a:ea typeface="Consolas"/>
              <a:cs typeface="Consolas"/>
              <a:sym typeface="Consolas"/>
            </a:endParaRPr>
          </a:p>
        </p:txBody>
      </p:sp>
      <p:sp>
        <p:nvSpPr>
          <p:cNvPr id="1726" name="Google Shape;1726;p70"/>
          <p:cNvSpPr/>
          <p:nvPr/>
        </p:nvSpPr>
        <p:spPr>
          <a:xfrm>
            <a:off x="6617800" y="2800511"/>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727" name="Google Shape;1727;p70"/>
          <p:cNvSpPr/>
          <p:nvPr/>
        </p:nvSpPr>
        <p:spPr>
          <a:xfrm>
            <a:off x="6617800" y="343578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w</a:t>
            </a:r>
            <a:endParaRPr sz="1800">
              <a:latin typeface="Consolas"/>
              <a:ea typeface="Consolas"/>
              <a:cs typeface="Consolas"/>
              <a:sym typeface="Consolas"/>
            </a:endParaRPr>
          </a:p>
        </p:txBody>
      </p:sp>
      <p:sp>
        <p:nvSpPr>
          <p:cNvPr id="1715" name="Google Shape;1715;p70"/>
          <p:cNvSpPr/>
          <p:nvPr/>
        </p:nvSpPr>
        <p:spPr>
          <a:xfrm>
            <a:off x="6617800" y="3994861"/>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l</a:t>
            </a:r>
            <a:endParaRPr sz="1800">
              <a:latin typeface="Consolas"/>
              <a:ea typeface="Consolas"/>
              <a:cs typeface="Consolas"/>
              <a:sym typeface="Consolas"/>
            </a:endParaRPr>
          </a:p>
        </p:txBody>
      </p:sp>
      <p:cxnSp>
        <p:nvCxnSpPr>
          <p:cNvPr id="1728" name="Google Shape;1728;p70"/>
          <p:cNvCxnSpPr/>
          <p:nvPr/>
        </p:nvCxnSpPr>
        <p:spPr>
          <a:xfrm>
            <a:off x="8159825" y="4351552"/>
            <a:ext cx="0" cy="0"/>
          </a:xfrm>
          <a:prstGeom prst="straightConnector1">
            <a:avLst/>
          </a:prstGeom>
          <a:noFill/>
          <a:ln w="19050" cap="flat" cmpd="sng">
            <a:solidFill>
              <a:schemeClr val="dk2"/>
            </a:solidFill>
            <a:prstDash val="solid"/>
            <a:round/>
            <a:headEnd type="none" w="med" len="med"/>
            <a:tailEnd type="none" w="med" len="med"/>
          </a:ln>
        </p:spPr>
      </p:cxnSp>
      <p:cxnSp>
        <p:nvCxnSpPr>
          <p:cNvPr id="1729" name="Google Shape;1729;p70"/>
          <p:cNvCxnSpPr>
            <a:stCxn id="1719" idx="5"/>
            <a:endCxn id="1720" idx="0"/>
          </p:cNvCxnSpPr>
          <p:nvPr/>
        </p:nvCxnSpPr>
        <p:spPr>
          <a:xfrm>
            <a:off x="7637333" y="2569478"/>
            <a:ext cx="522600" cy="231000"/>
          </a:xfrm>
          <a:prstGeom prst="straightConnector1">
            <a:avLst/>
          </a:prstGeom>
          <a:noFill/>
          <a:ln w="28575" cap="flat" cmpd="sng">
            <a:solidFill>
              <a:schemeClr val="dk2"/>
            </a:solidFill>
            <a:prstDash val="solid"/>
            <a:round/>
            <a:headEnd type="none" w="med" len="med"/>
            <a:tailEnd type="none" w="med" len="med"/>
          </a:ln>
        </p:spPr>
      </p:cxnSp>
      <p:cxnSp>
        <p:nvCxnSpPr>
          <p:cNvPr id="1730" name="Google Shape;1730;p70"/>
          <p:cNvCxnSpPr>
            <a:stCxn id="1720" idx="4"/>
            <a:endCxn id="1721" idx="0"/>
          </p:cNvCxnSpPr>
          <p:nvPr/>
        </p:nvCxnSpPr>
        <p:spPr>
          <a:xfrm>
            <a:off x="8159825" y="3233396"/>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1731" name="Google Shape;1731;p70"/>
          <p:cNvCxnSpPr>
            <a:stCxn id="1721" idx="4"/>
            <a:endCxn id="1722" idx="0"/>
          </p:cNvCxnSpPr>
          <p:nvPr/>
        </p:nvCxnSpPr>
        <p:spPr>
          <a:xfrm>
            <a:off x="8159825" y="3868673"/>
            <a:ext cx="0" cy="126300"/>
          </a:xfrm>
          <a:prstGeom prst="straightConnector1">
            <a:avLst/>
          </a:prstGeom>
          <a:noFill/>
          <a:ln w="28575" cap="flat" cmpd="sng">
            <a:solidFill>
              <a:schemeClr val="dk2"/>
            </a:solidFill>
            <a:prstDash val="solid"/>
            <a:round/>
            <a:headEnd type="none" w="med" len="med"/>
            <a:tailEnd type="none" w="med" len="med"/>
          </a:ln>
        </p:spPr>
      </p:cxnSp>
      <p:cxnSp>
        <p:nvCxnSpPr>
          <p:cNvPr id="1732" name="Google Shape;1732;p70"/>
          <p:cNvCxnSpPr>
            <a:stCxn id="1721" idx="3"/>
            <a:endCxn id="1723" idx="0"/>
          </p:cNvCxnSpPr>
          <p:nvPr/>
        </p:nvCxnSpPr>
        <p:spPr>
          <a:xfrm flipH="1">
            <a:off x="7530372" y="3805277"/>
            <a:ext cx="476400" cy="189600"/>
          </a:xfrm>
          <a:prstGeom prst="straightConnector1">
            <a:avLst/>
          </a:prstGeom>
          <a:noFill/>
          <a:ln w="28575" cap="flat" cmpd="sng">
            <a:solidFill>
              <a:schemeClr val="dk2"/>
            </a:solidFill>
            <a:prstDash val="solid"/>
            <a:round/>
            <a:headEnd type="none" w="med" len="med"/>
            <a:tailEnd type="none" w="med" len="med"/>
          </a:ln>
        </p:spPr>
      </p:cxnSp>
      <p:cxnSp>
        <p:nvCxnSpPr>
          <p:cNvPr id="1733" name="Google Shape;1733;p70"/>
          <p:cNvCxnSpPr>
            <a:stCxn id="1721" idx="5"/>
            <a:endCxn id="1724" idx="0"/>
          </p:cNvCxnSpPr>
          <p:nvPr/>
        </p:nvCxnSpPr>
        <p:spPr>
          <a:xfrm>
            <a:off x="8312878" y="3805277"/>
            <a:ext cx="476400" cy="189600"/>
          </a:xfrm>
          <a:prstGeom prst="straightConnector1">
            <a:avLst/>
          </a:prstGeom>
          <a:noFill/>
          <a:ln w="28575" cap="flat" cmpd="sng">
            <a:solidFill>
              <a:schemeClr val="dk2"/>
            </a:solidFill>
            <a:prstDash val="solid"/>
            <a:round/>
            <a:headEnd type="none" w="med" len="med"/>
            <a:tailEnd type="none" w="med" len="med"/>
          </a:ln>
        </p:spPr>
      </p:cxnSp>
      <p:cxnSp>
        <p:nvCxnSpPr>
          <p:cNvPr id="1734" name="Google Shape;1734;p70"/>
          <p:cNvCxnSpPr>
            <a:stCxn id="1722" idx="4"/>
            <a:endCxn id="1725" idx="0"/>
          </p:cNvCxnSpPr>
          <p:nvPr/>
        </p:nvCxnSpPr>
        <p:spPr>
          <a:xfrm>
            <a:off x="8159825" y="4427752"/>
            <a:ext cx="0" cy="126300"/>
          </a:xfrm>
          <a:prstGeom prst="straightConnector1">
            <a:avLst/>
          </a:prstGeom>
          <a:noFill/>
          <a:ln w="28575" cap="flat" cmpd="sng">
            <a:solidFill>
              <a:schemeClr val="dk2"/>
            </a:solidFill>
            <a:prstDash val="solid"/>
            <a:round/>
            <a:headEnd type="none" w="med" len="med"/>
            <a:tailEnd type="none" w="med" len="med"/>
          </a:ln>
        </p:spPr>
      </p:cxnSp>
      <p:cxnSp>
        <p:nvCxnSpPr>
          <p:cNvPr id="1735" name="Google Shape;1735;p70"/>
          <p:cNvCxnSpPr>
            <a:stCxn id="1719" idx="3"/>
            <a:endCxn id="1726" idx="0"/>
          </p:cNvCxnSpPr>
          <p:nvPr/>
        </p:nvCxnSpPr>
        <p:spPr>
          <a:xfrm flipH="1">
            <a:off x="6834126" y="2569478"/>
            <a:ext cx="497100" cy="231000"/>
          </a:xfrm>
          <a:prstGeom prst="straightConnector1">
            <a:avLst/>
          </a:prstGeom>
          <a:noFill/>
          <a:ln w="28575" cap="flat" cmpd="sng">
            <a:solidFill>
              <a:schemeClr val="dk2"/>
            </a:solidFill>
            <a:prstDash val="solid"/>
            <a:round/>
            <a:headEnd type="none" w="med" len="med"/>
            <a:tailEnd type="none" w="med" len="med"/>
          </a:ln>
        </p:spPr>
      </p:cxnSp>
      <p:cxnSp>
        <p:nvCxnSpPr>
          <p:cNvPr id="1736" name="Google Shape;1736;p70"/>
          <p:cNvCxnSpPr>
            <a:endCxn id="1727" idx="0"/>
          </p:cNvCxnSpPr>
          <p:nvPr/>
        </p:nvCxnSpPr>
        <p:spPr>
          <a:xfrm>
            <a:off x="6834250" y="3233286"/>
            <a:ext cx="0" cy="202500"/>
          </a:xfrm>
          <a:prstGeom prst="straightConnector1">
            <a:avLst/>
          </a:prstGeom>
          <a:noFill/>
          <a:ln w="28575" cap="flat" cmpd="sng">
            <a:solidFill>
              <a:schemeClr val="dk2"/>
            </a:solidFill>
            <a:prstDash val="solid"/>
            <a:round/>
            <a:headEnd type="none" w="med" len="med"/>
            <a:tailEnd type="none" w="med" len="med"/>
          </a:ln>
        </p:spPr>
      </p:cxnSp>
      <p:sp>
        <p:nvSpPr>
          <p:cNvPr id="1737" name="Google Shape;1737;p70"/>
          <p:cNvSpPr/>
          <p:nvPr/>
        </p:nvSpPr>
        <p:spPr>
          <a:xfrm>
            <a:off x="6617800" y="4553936"/>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cxnSp>
        <p:nvCxnSpPr>
          <p:cNvPr id="1738" name="Google Shape;1738;p70"/>
          <p:cNvCxnSpPr>
            <a:stCxn id="1715" idx="4"/>
            <a:endCxn id="1737" idx="0"/>
          </p:cNvCxnSpPr>
          <p:nvPr/>
        </p:nvCxnSpPr>
        <p:spPr>
          <a:xfrm>
            <a:off x="6834250" y="4427761"/>
            <a:ext cx="0" cy="126300"/>
          </a:xfrm>
          <a:prstGeom prst="straightConnector1">
            <a:avLst/>
          </a:prstGeom>
          <a:noFill/>
          <a:ln w="28575" cap="flat" cmpd="sng">
            <a:solidFill>
              <a:schemeClr val="dk2"/>
            </a:solidFill>
            <a:prstDash val="solid"/>
            <a:round/>
            <a:headEnd type="none" w="med" len="med"/>
            <a:tailEnd type="none" w="med" len="med"/>
          </a:ln>
        </p:spPr>
      </p:cxn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42"/>
        <p:cNvGrpSpPr/>
        <p:nvPr/>
      </p:nvGrpSpPr>
      <p:grpSpPr>
        <a:xfrm>
          <a:off x="0" y="0"/>
          <a:ext cx="0" cy="0"/>
          <a:chOff x="0" y="0"/>
          <a:chExt cx="0" cy="0"/>
        </a:xfrm>
      </p:grpSpPr>
      <p:cxnSp>
        <p:nvCxnSpPr>
          <p:cNvPr id="1743" name="Google Shape;1743;p71"/>
          <p:cNvCxnSpPr>
            <a:endCxn id="1744" idx="0"/>
          </p:cNvCxnSpPr>
          <p:nvPr/>
        </p:nvCxnSpPr>
        <p:spPr>
          <a:xfrm>
            <a:off x="6834250" y="3792361"/>
            <a:ext cx="0" cy="202500"/>
          </a:xfrm>
          <a:prstGeom prst="straightConnector1">
            <a:avLst/>
          </a:prstGeom>
          <a:noFill/>
          <a:ln w="28575" cap="flat" cmpd="sng">
            <a:solidFill>
              <a:schemeClr val="dk2"/>
            </a:solidFill>
            <a:prstDash val="solid"/>
            <a:round/>
            <a:headEnd type="none" w="med" len="med"/>
            <a:tailEnd type="none" w="med" len="med"/>
          </a:ln>
        </p:spPr>
      </p:cxnSp>
      <p:sp>
        <p:nvSpPr>
          <p:cNvPr id="1745" name="Google Shape;1745;p7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Usages of Tries</a:t>
            </a:r>
            <a:endParaRPr/>
          </a:p>
        </p:txBody>
      </p:sp>
      <p:sp>
        <p:nvSpPr>
          <p:cNvPr id="1746" name="Google Shape;1746;p71"/>
          <p:cNvSpPr txBox="1">
            <a:spLocks noGrp="1"/>
          </p:cNvSpPr>
          <p:nvPr>
            <p:ph type="body" idx="1"/>
          </p:nvPr>
        </p:nvSpPr>
        <p:spPr>
          <a:xfrm>
            <a:off x="319200" y="556500"/>
            <a:ext cx="8443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p:txBody>
      </p:sp>
      <p:sp>
        <p:nvSpPr>
          <p:cNvPr id="1747" name="Google Shape;1747;p71"/>
          <p:cNvSpPr txBox="1">
            <a:spLocks noGrp="1"/>
          </p:cNvSpPr>
          <p:nvPr>
            <p:ph type="body" idx="1"/>
          </p:nvPr>
        </p:nvSpPr>
        <p:spPr>
          <a:xfrm>
            <a:off x="90600" y="409750"/>
            <a:ext cx="8828100" cy="4255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Challenge: Give an algorithm for </a:t>
            </a:r>
            <a:r>
              <a:rPr lang="en">
                <a:latin typeface="Consolas"/>
                <a:ea typeface="Consolas"/>
                <a:cs typeface="Consolas"/>
                <a:sym typeface="Consolas"/>
              </a:rPr>
              <a:t>keysWithPrefix</a:t>
            </a:r>
            <a:r>
              <a:rPr lang="en"/>
              <a:t>.</a:t>
            </a:r>
            <a:endParaRPr/>
          </a:p>
          <a:p>
            <a:pPr marL="457200" lvl="0" indent="-342900" algn="l" rtl="0">
              <a:spcBef>
                <a:spcPts val="600"/>
              </a:spcBef>
              <a:spcAft>
                <a:spcPts val="0"/>
              </a:spcAft>
              <a:buSzPts val="1800"/>
              <a:buChar char="●"/>
            </a:pPr>
            <a:r>
              <a:rPr lang="en"/>
              <a:t>Example: </a:t>
            </a:r>
            <a:r>
              <a:rPr lang="en">
                <a:latin typeface="Consolas"/>
                <a:ea typeface="Consolas"/>
                <a:cs typeface="Consolas"/>
                <a:sym typeface="Consolas"/>
              </a:rPr>
              <a:t>keysWithPrefix("sa")</a:t>
            </a:r>
            <a:r>
              <a:rPr lang="en"/>
              <a:t> is </a:t>
            </a:r>
            <a:r>
              <a:rPr lang="en">
                <a:latin typeface="Consolas"/>
                <a:ea typeface="Consolas"/>
                <a:cs typeface="Consolas"/>
                <a:sym typeface="Consolas"/>
              </a:rPr>
              <a:t>["sad", "sam", "same", "sap"]</a:t>
            </a:r>
            <a:r>
              <a:rPr lang="en"/>
              <a:t>.</a:t>
            </a:r>
            <a:endParaRPr/>
          </a:p>
          <a:p>
            <a:pPr marL="0" lvl="0" indent="0" algn="l" rtl="0">
              <a:spcBef>
                <a:spcPts val="600"/>
              </a:spcBef>
              <a:spcAft>
                <a:spcPts val="0"/>
              </a:spcAft>
              <a:buNone/>
            </a:pPr>
            <a:endParaRPr/>
          </a:p>
          <a:p>
            <a:pPr marL="0" lvl="0" indent="0" algn="l" rtl="0">
              <a:spcBef>
                <a:spcPts val="600"/>
              </a:spcBef>
              <a:spcAft>
                <a:spcPts val="0"/>
              </a:spcAft>
              <a:buNone/>
            </a:pPr>
            <a:r>
              <a:rPr lang="en"/>
              <a:t>Algorithm:</a:t>
            </a:r>
            <a:endParaRPr/>
          </a:p>
          <a:p>
            <a:pPr marL="457200" lvl="0" indent="-342900" algn="l" rtl="0">
              <a:spcBef>
                <a:spcPts val="600"/>
              </a:spcBef>
              <a:spcAft>
                <a:spcPts val="0"/>
              </a:spcAft>
              <a:buSzPts val="1800"/>
              <a:buChar char="●"/>
            </a:pPr>
            <a:r>
              <a:rPr lang="en"/>
              <a:t>Find the node </a:t>
            </a:r>
            <a:r>
              <a:rPr lang="en">
                <a:latin typeface="Times New Roman"/>
                <a:ea typeface="Times New Roman"/>
                <a:cs typeface="Times New Roman"/>
                <a:sym typeface="Times New Roman"/>
              </a:rPr>
              <a:t>α</a:t>
            </a:r>
            <a:r>
              <a:rPr lang="en"/>
              <a:t> corresponding to the string (in pink).</a:t>
            </a:r>
            <a:endParaRPr/>
          </a:p>
          <a:p>
            <a:pPr marL="457200" lvl="0" indent="-342900" algn="l" rtl="0">
              <a:spcBef>
                <a:spcPts val="600"/>
              </a:spcBef>
              <a:spcAft>
                <a:spcPts val="0"/>
              </a:spcAft>
              <a:buSzPts val="1800"/>
              <a:buChar char="●"/>
            </a:pPr>
            <a:r>
              <a:rPr lang="en"/>
              <a:t>Create an empty list </a:t>
            </a:r>
            <a:r>
              <a:rPr lang="en">
                <a:latin typeface="Consolas"/>
                <a:ea typeface="Consolas"/>
                <a:cs typeface="Consolas"/>
                <a:sym typeface="Consolas"/>
              </a:rPr>
              <a:t>x</a:t>
            </a:r>
            <a:r>
              <a:rPr lang="en"/>
              <a:t>.</a:t>
            </a:r>
            <a:endParaRPr/>
          </a:p>
          <a:p>
            <a:pPr marL="457200" lvl="0" indent="-342900" algn="l" rtl="0">
              <a:spcBef>
                <a:spcPts val="600"/>
              </a:spcBef>
              <a:spcAft>
                <a:spcPts val="0"/>
              </a:spcAft>
              <a:buSzPts val="1800"/>
              <a:buChar char="●"/>
            </a:pPr>
            <a:r>
              <a:rPr lang="en"/>
              <a:t>For character </a:t>
            </a:r>
            <a:r>
              <a:rPr lang="en">
                <a:latin typeface="Consolas"/>
                <a:ea typeface="Consolas"/>
                <a:cs typeface="Consolas"/>
                <a:sym typeface="Consolas"/>
              </a:rPr>
              <a:t>c</a:t>
            </a:r>
            <a:r>
              <a:rPr lang="en"/>
              <a:t> in </a:t>
            </a:r>
            <a:r>
              <a:rPr lang="en">
                <a:latin typeface="Times New Roman"/>
                <a:ea typeface="Times New Roman"/>
                <a:cs typeface="Times New Roman"/>
                <a:sym typeface="Times New Roman"/>
              </a:rPr>
              <a:t>α</a:t>
            </a:r>
            <a:r>
              <a:rPr lang="en">
                <a:latin typeface="Consolas"/>
                <a:ea typeface="Consolas"/>
                <a:cs typeface="Consolas"/>
                <a:sym typeface="Consolas"/>
              </a:rPr>
              <a:t>.next.keys()</a:t>
            </a:r>
            <a:r>
              <a:rPr lang="en"/>
              <a:t>:</a:t>
            </a:r>
            <a:endParaRPr/>
          </a:p>
          <a:p>
            <a:pPr marL="914400" lvl="1" indent="-342900" algn="l" rtl="0">
              <a:spcBef>
                <a:spcPts val="600"/>
              </a:spcBef>
              <a:spcAft>
                <a:spcPts val="0"/>
              </a:spcAft>
              <a:buSzPts val="1800"/>
              <a:buChar char="○"/>
            </a:pPr>
            <a:r>
              <a:rPr lang="en"/>
              <a:t>Call </a:t>
            </a:r>
            <a:r>
              <a:rPr lang="en">
                <a:latin typeface="Consolas"/>
                <a:ea typeface="Consolas"/>
                <a:cs typeface="Consolas"/>
                <a:sym typeface="Consolas"/>
              </a:rPr>
              <a:t>colHelp("sa" + c, x, </a:t>
            </a:r>
            <a:r>
              <a:rPr lang="en">
                <a:latin typeface="Times New Roman"/>
                <a:ea typeface="Times New Roman"/>
                <a:cs typeface="Times New Roman"/>
                <a:sym typeface="Times New Roman"/>
              </a:rPr>
              <a:t>α</a:t>
            </a:r>
            <a:r>
              <a:rPr lang="en">
                <a:latin typeface="Consolas"/>
                <a:ea typeface="Consolas"/>
                <a:cs typeface="Consolas"/>
                <a:sym typeface="Consolas"/>
              </a:rPr>
              <a:t>.next.get(c))</a:t>
            </a:r>
            <a:r>
              <a:rPr lang="en"/>
              <a:t>.</a:t>
            </a:r>
            <a:endParaRPr/>
          </a:p>
          <a:p>
            <a:pPr marL="0" lvl="0" indent="0" algn="l" rtl="0">
              <a:spcBef>
                <a:spcPts val="600"/>
              </a:spcBef>
              <a:spcAft>
                <a:spcPts val="0"/>
              </a:spcAft>
              <a:buNone/>
            </a:pPr>
            <a:endParaRPr/>
          </a:p>
          <a:p>
            <a:pPr marL="0" lvl="0" indent="0" algn="l" rtl="0">
              <a:spcBef>
                <a:spcPts val="600"/>
              </a:spcBef>
              <a:spcAft>
                <a:spcPts val="0"/>
              </a:spcAft>
              <a:buNone/>
            </a:pPr>
            <a:r>
              <a:rPr lang="en"/>
              <a:t>Another common operation: </a:t>
            </a:r>
            <a:r>
              <a:rPr lang="en">
                <a:latin typeface="Consolas"/>
                <a:ea typeface="Consolas"/>
                <a:cs typeface="Consolas"/>
                <a:sym typeface="Consolas"/>
              </a:rPr>
              <a:t>LongestPrefixOf</a:t>
            </a:r>
            <a:r>
              <a:rPr lang="en"/>
              <a:t>. See lab.</a:t>
            </a:r>
            <a:endParaRPr/>
          </a:p>
        </p:txBody>
      </p:sp>
      <p:sp>
        <p:nvSpPr>
          <p:cNvPr id="1748" name="Google Shape;1748;p71"/>
          <p:cNvSpPr/>
          <p:nvPr/>
        </p:nvSpPr>
        <p:spPr>
          <a:xfrm>
            <a:off x="7267830" y="21999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1749" name="Google Shape;1749;p71"/>
          <p:cNvSpPr/>
          <p:nvPr/>
        </p:nvSpPr>
        <p:spPr>
          <a:xfrm>
            <a:off x="7943375" y="280049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sp>
        <p:nvSpPr>
          <p:cNvPr id="1750" name="Google Shape;1750;p71"/>
          <p:cNvSpPr/>
          <p:nvPr/>
        </p:nvSpPr>
        <p:spPr>
          <a:xfrm>
            <a:off x="7943375" y="3435773"/>
            <a:ext cx="432900" cy="432900"/>
          </a:xfrm>
          <a:prstGeom prst="ellipse">
            <a:avLst/>
          </a:prstGeom>
          <a:solidFill>
            <a:srgbClr val="F4CCCC"/>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751" name="Google Shape;1751;p71"/>
          <p:cNvSpPr/>
          <p:nvPr/>
        </p:nvSpPr>
        <p:spPr>
          <a:xfrm>
            <a:off x="79433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m</a:t>
            </a:r>
            <a:endParaRPr sz="1800">
              <a:latin typeface="Consolas"/>
              <a:ea typeface="Consolas"/>
              <a:cs typeface="Consolas"/>
              <a:sym typeface="Consolas"/>
            </a:endParaRPr>
          </a:p>
        </p:txBody>
      </p:sp>
      <p:sp>
        <p:nvSpPr>
          <p:cNvPr id="1752" name="Google Shape;1752;p71"/>
          <p:cNvSpPr/>
          <p:nvPr/>
        </p:nvSpPr>
        <p:spPr>
          <a:xfrm>
            <a:off x="73138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d</a:t>
            </a:r>
            <a:endParaRPr sz="1800">
              <a:latin typeface="Consolas"/>
              <a:ea typeface="Consolas"/>
              <a:cs typeface="Consolas"/>
              <a:sym typeface="Consolas"/>
            </a:endParaRPr>
          </a:p>
        </p:txBody>
      </p:sp>
      <p:sp>
        <p:nvSpPr>
          <p:cNvPr id="1753" name="Google Shape;1753;p71"/>
          <p:cNvSpPr/>
          <p:nvPr/>
        </p:nvSpPr>
        <p:spPr>
          <a:xfrm>
            <a:off x="8572875" y="3994852"/>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p</a:t>
            </a:r>
            <a:endParaRPr sz="1800">
              <a:latin typeface="Consolas"/>
              <a:ea typeface="Consolas"/>
              <a:cs typeface="Consolas"/>
              <a:sym typeface="Consolas"/>
            </a:endParaRPr>
          </a:p>
        </p:txBody>
      </p:sp>
      <p:sp>
        <p:nvSpPr>
          <p:cNvPr id="1754" name="Google Shape;1754;p71"/>
          <p:cNvSpPr/>
          <p:nvPr/>
        </p:nvSpPr>
        <p:spPr>
          <a:xfrm>
            <a:off x="7943375" y="4553927"/>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e</a:t>
            </a:r>
            <a:endParaRPr sz="1800">
              <a:latin typeface="Consolas"/>
              <a:ea typeface="Consolas"/>
              <a:cs typeface="Consolas"/>
              <a:sym typeface="Consolas"/>
            </a:endParaRPr>
          </a:p>
        </p:txBody>
      </p:sp>
      <p:sp>
        <p:nvSpPr>
          <p:cNvPr id="1755" name="Google Shape;1755;p71"/>
          <p:cNvSpPr/>
          <p:nvPr/>
        </p:nvSpPr>
        <p:spPr>
          <a:xfrm>
            <a:off x="6617800" y="2800511"/>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756" name="Google Shape;1756;p71"/>
          <p:cNvSpPr/>
          <p:nvPr/>
        </p:nvSpPr>
        <p:spPr>
          <a:xfrm>
            <a:off x="6617800" y="343578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w</a:t>
            </a:r>
            <a:endParaRPr sz="1800">
              <a:latin typeface="Consolas"/>
              <a:ea typeface="Consolas"/>
              <a:cs typeface="Consolas"/>
              <a:sym typeface="Consolas"/>
            </a:endParaRPr>
          </a:p>
        </p:txBody>
      </p:sp>
      <p:sp>
        <p:nvSpPr>
          <p:cNvPr id="1744" name="Google Shape;1744;p71"/>
          <p:cNvSpPr/>
          <p:nvPr/>
        </p:nvSpPr>
        <p:spPr>
          <a:xfrm>
            <a:off x="6617800" y="3994861"/>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l</a:t>
            </a:r>
            <a:endParaRPr sz="1800">
              <a:latin typeface="Consolas"/>
              <a:ea typeface="Consolas"/>
              <a:cs typeface="Consolas"/>
              <a:sym typeface="Consolas"/>
            </a:endParaRPr>
          </a:p>
        </p:txBody>
      </p:sp>
      <p:cxnSp>
        <p:nvCxnSpPr>
          <p:cNvPr id="1757" name="Google Shape;1757;p71"/>
          <p:cNvCxnSpPr/>
          <p:nvPr/>
        </p:nvCxnSpPr>
        <p:spPr>
          <a:xfrm>
            <a:off x="8159825" y="4351552"/>
            <a:ext cx="0" cy="0"/>
          </a:xfrm>
          <a:prstGeom prst="straightConnector1">
            <a:avLst/>
          </a:prstGeom>
          <a:noFill/>
          <a:ln w="19050" cap="flat" cmpd="sng">
            <a:solidFill>
              <a:schemeClr val="dk2"/>
            </a:solidFill>
            <a:prstDash val="solid"/>
            <a:round/>
            <a:headEnd type="none" w="med" len="med"/>
            <a:tailEnd type="none" w="med" len="med"/>
          </a:ln>
        </p:spPr>
      </p:cxnSp>
      <p:cxnSp>
        <p:nvCxnSpPr>
          <p:cNvPr id="1758" name="Google Shape;1758;p71"/>
          <p:cNvCxnSpPr>
            <a:stCxn id="1748" idx="5"/>
            <a:endCxn id="1749" idx="0"/>
          </p:cNvCxnSpPr>
          <p:nvPr/>
        </p:nvCxnSpPr>
        <p:spPr>
          <a:xfrm>
            <a:off x="7637333" y="2569478"/>
            <a:ext cx="522600" cy="231000"/>
          </a:xfrm>
          <a:prstGeom prst="straightConnector1">
            <a:avLst/>
          </a:prstGeom>
          <a:noFill/>
          <a:ln w="28575" cap="flat" cmpd="sng">
            <a:solidFill>
              <a:schemeClr val="dk2"/>
            </a:solidFill>
            <a:prstDash val="solid"/>
            <a:round/>
            <a:headEnd type="none" w="med" len="med"/>
            <a:tailEnd type="none" w="med" len="med"/>
          </a:ln>
        </p:spPr>
      </p:cxnSp>
      <p:cxnSp>
        <p:nvCxnSpPr>
          <p:cNvPr id="1759" name="Google Shape;1759;p71"/>
          <p:cNvCxnSpPr>
            <a:stCxn id="1749" idx="4"/>
            <a:endCxn id="1750" idx="0"/>
          </p:cNvCxnSpPr>
          <p:nvPr/>
        </p:nvCxnSpPr>
        <p:spPr>
          <a:xfrm>
            <a:off x="8159825" y="3233396"/>
            <a:ext cx="0" cy="202500"/>
          </a:xfrm>
          <a:prstGeom prst="straightConnector1">
            <a:avLst/>
          </a:prstGeom>
          <a:noFill/>
          <a:ln w="28575" cap="flat" cmpd="sng">
            <a:solidFill>
              <a:schemeClr val="dk2"/>
            </a:solidFill>
            <a:prstDash val="solid"/>
            <a:round/>
            <a:headEnd type="none" w="med" len="med"/>
            <a:tailEnd type="none" w="med" len="med"/>
          </a:ln>
        </p:spPr>
      </p:cxnSp>
      <p:cxnSp>
        <p:nvCxnSpPr>
          <p:cNvPr id="1760" name="Google Shape;1760;p71"/>
          <p:cNvCxnSpPr>
            <a:stCxn id="1750" idx="4"/>
            <a:endCxn id="1751" idx="0"/>
          </p:cNvCxnSpPr>
          <p:nvPr/>
        </p:nvCxnSpPr>
        <p:spPr>
          <a:xfrm>
            <a:off x="8159825" y="3868673"/>
            <a:ext cx="0" cy="126300"/>
          </a:xfrm>
          <a:prstGeom prst="straightConnector1">
            <a:avLst/>
          </a:prstGeom>
          <a:noFill/>
          <a:ln w="28575" cap="flat" cmpd="sng">
            <a:solidFill>
              <a:schemeClr val="dk2"/>
            </a:solidFill>
            <a:prstDash val="solid"/>
            <a:round/>
            <a:headEnd type="none" w="med" len="med"/>
            <a:tailEnd type="none" w="med" len="med"/>
          </a:ln>
        </p:spPr>
      </p:cxnSp>
      <p:cxnSp>
        <p:nvCxnSpPr>
          <p:cNvPr id="1761" name="Google Shape;1761;p71"/>
          <p:cNvCxnSpPr>
            <a:stCxn id="1750" idx="3"/>
            <a:endCxn id="1752" idx="0"/>
          </p:cNvCxnSpPr>
          <p:nvPr/>
        </p:nvCxnSpPr>
        <p:spPr>
          <a:xfrm flipH="1">
            <a:off x="7530372" y="3805277"/>
            <a:ext cx="476400" cy="189600"/>
          </a:xfrm>
          <a:prstGeom prst="straightConnector1">
            <a:avLst/>
          </a:prstGeom>
          <a:noFill/>
          <a:ln w="28575" cap="flat" cmpd="sng">
            <a:solidFill>
              <a:schemeClr val="dk2"/>
            </a:solidFill>
            <a:prstDash val="solid"/>
            <a:round/>
            <a:headEnd type="none" w="med" len="med"/>
            <a:tailEnd type="none" w="med" len="med"/>
          </a:ln>
        </p:spPr>
      </p:cxnSp>
      <p:cxnSp>
        <p:nvCxnSpPr>
          <p:cNvPr id="1762" name="Google Shape;1762;p71"/>
          <p:cNvCxnSpPr>
            <a:stCxn id="1750" idx="5"/>
            <a:endCxn id="1753" idx="0"/>
          </p:cNvCxnSpPr>
          <p:nvPr/>
        </p:nvCxnSpPr>
        <p:spPr>
          <a:xfrm>
            <a:off x="8312878" y="3805277"/>
            <a:ext cx="476400" cy="189600"/>
          </a:xfrm>
          <a:prstGeom prst="straightConnector1">
            <a:avLst/>
          </a:prstGeom>
          <a:noFill/>
          <a:ln w="28575" cap="flat" cmpd="sng">
            <a:solidFill>
              <a:schemeClr val="dk2"/>
            </a:solidFill>
            <a:prstDash val="solid"/>
            <a:round/>
            <a:headEnd type="none" w="med" len="med"/>
            <a:tailEnd type="none" w="med" len="med"/>
          </a:ln>
        </p:spPr>
      </p:cxnSp>
      <p:cxnSp>
        <p:nvCxnSpPr>
          <p:cNvPr id="1763" name="Google Shape;1763;p71"/>
          <p:cNvCxnSpPr>
            <a:stCxn id="1751" idx="4"/>
            <a:endCxn id="1754" idx="0"/>
          </p:cNvCxnSpPr>
          <p:nvPr/>
        </p:nvCxnSpPr>
        <p:spPr>
          <a:xfrm>
            <a:off x="8159825" y="4427752"/>
            <a:ext cx="0" cy="126300"/>
          </a:xfrm>
          <a:prstGeom prst="straightConnector1">
            <a:avLst/>
          </a:prstGeom>
          <a:noFill/>
          <a:ln w="28575" cap="flat" cmpd="sng">
            <a:solidFill>
              <a:schemeClr val="dk2"/>
            </a:solidFill>
            <a:prstDash val="solid"/>
            <a:round/>
            <a:headEnd type="none" w="med" len="med"/>
            <a:tailEnd type="none" w="med" len="med"/>
          </a:ln>
        </p:spPr>
      </p:cxnSp>
      <p:cxnSp>
        <p:nvCxnSpPr>
          <p:cNvPr id="1764" name="Google Shape;1764;p71"/>
          <p:cNvCxnSpPr>
            <a:stCxn id="1748" idx="3"/>
            <a:endCxn id="1755" idx="0"/>
          </p:cNvCxnSpPr>
          <p:nvPr/>
        </p:nvCxnSpPr>
        <p:spPr>
          <a:xfrm flipH="1">
            <a:off x="6834126" y="2569478"/>
            <a:ext cx="497100" cy="231000"/>
          </a:xfrm>
          <a:prstGeom prst="straightConnector1">
            <a:avLst/>
          </a:prstGeom>
          <a:noFill/>
          <a:ln w="28575" cap="flat" cmpd="sng">
            <a:solidFill>
              <a:schemeClr val="dk2"/>
            </a:solidFill>
            <a:prstDash val="solid"/>
            <a:round/>
            <a:headEnd type="none" w="med" len="med"/>
            <a:tailEnd type="none" w="med" len="med"/>
          </a:ln>
        </p:spPr>
      </p:cxnSp>
      <p:cxnSp>
        <p:nvCxnSpPr>
          <p:cNvPr id="1765" name="Google Shape;1765;p71"/>
          <p:cNvCxnSpPr>
            <a:endCxn id="1756" idx="0"/>
          </p:cNvCxnSpPr>
          <p:nvPr/>
        </p:nvCxnSpPr>
        <p:spPr>
          <a:xfrm>
            <a:off x="6834250" y="3233286"/>
            <a:ext cx="0" cy="202500"/>
          </a:xfrm>
          <a:prstGeom prst="straightConnector1">
            <a:avLst/>
          </a:prstGeom>
          <a:noFill/>
          <a:ln w="28575" cap="flat" cmpd="sng">
            <a:solidFill>
              <a:schemeClr val="dk2"/>
            </a:solidFill>
            <a:prstDash val="solid"/>
            <a:round/>
            <a:headEnd type="none" w="med" len="med"/>
            <a:tailEnd type="none" w="med" len="med"/>
          </a:ln>
        </p:spPr>
      </p:cxnSp>
      <p:sp>
        <p:nvSpPr>
          <p:cNvPr id="1766" name="Google Shape;1766;p71"/>
          <p:cNvSpPr/>
          <p:nvPr/>
        </p:nvSpPr>
        <p:spPr>
          <a:xfrm>
            <a:off x="6617800" y="4553936"/>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cxnSp>
        <p:nvCxnSpPr>
          <p:cNvPr id="1767" name="Google Shape;1767;p71"/>
          <p:cNvCxnSpPr>
            <a:stCxn id="1744" idx="4"/>
            <a:endCxn id="1766" idx="0"/>
          </p:cNvCxnSpPr>
          <p:nvPr/>
        </p:nvCxnSpPr>
        <p:spPr>
          <a:xfrm>
            <a:off x="6834250" y="4427761"/>
            <a:ext cx="0" cy="126300"/>
          </a:xfrm>
          <a:prstGeom prst="straightConnector1">
            <a:avLst/>
          </a:prstGeom>
          <a:noFill/>
          <a:ln w="28575" cap="flat" cmpd="sng">
            <a:solidFill>
              <a:schemeClr val="dk2"/>
            </a:solidFill>
            <a:prstDash val="solid"/>
            <a:round/>
            <a:headEnd type="none" w="med" len="med"/>
            <a:tailEnd type="none" w="med" len="med"/>
          </a:ln>
        </p:spPr>
      </p:cxn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771"/>
        <p:cNvGrpSpPr/>
        <p:nvPr/>
      </p:nvGrpSpPr>
      <p:grpSpPr>
        <a:xfrm>
          <a:off x="0" y="0"/>
          <a:ext cx="0" cy="0"/>
          <a:chOff x="0" y="0"/>
          <a:chExt cx="0" cy="0"/>
        </a:xfrm>
      </p:grpSpPr>
      <p:sp>
        <p:nvSpPr>
          <p:cNvPr id="1772" name="Google Shape;1772;p72"/>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Lecture 26, CS61B, Fall 2023</a:t>
            </a:r>
            <a:endParaRPr/>
          </a:p>
        </p:txBody>
      </p:sp>
      <p:sp>
        <p:nvSpPr>
          <p:cNvPr id="1773" name="Google Shape;1773;p72"/>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Tries (Conceptual)</a:t>
            </a:r>
            <a:endParaRPr/>
          </a:p>
          <a:p>
            <a:pPr marL="0" lvl="0" indent="0" algn="l" rtl="0">
              <a:spcBef>
                <a:spcPts val="600"/>
              </a:spcBef>
              <a:spcAft>
                <a:spcPts val="0"/>
              </a:spcAft>
              <a:buNone/>
            </a:pPr>
            <a:r>
              <a:rPr lang="en"/>
              <a:t>Trie Implementation and</a:t>
            </a:r>
            <a:br>
              <a:rPr lang="en"/>
            </a:br>
            <a:r>
              <a:rPr lang="en"/>
              <a:t>Performance</a:t>
            </a:r>
            <a:endParaRPr/>
          </a:p>
          <a:p>
            <a:pPr marL="0" lvl="0" indent="0" algn="l" rtl="0">
              <a:spcBef>
                <a:spcPts val="600"/>
              </a:spcBef>
              <a:spcAft>
                <a:spcPts val="0"/>
              </a:spcAft>
              <a:buNone/>
            </a:pPr>
            <a:r>
              <a:rPr lang="en"/>
              <a:t>Alternate Child Tracking Strategies</a:t>
            </a:r>
            <a:endParaRPr/>
          </a:p>
          <a:p>
            <a:pPr marL="0" lvl="0" indent="0" algn="l" rtl="0">
              <a:spcBef>
                <a:spcPts val="600"/>
              </a:spcBef>
              <a:spcAft>
                <a:spcPts val="0"/>
              </a:spcAft>
              <a:buNone/>
            </a:pPr>
            <a:r>
              <a:rPr lang="en"/>
              <a:t>Trie String Operations</a:t>
            </a:r>
            <a:endParaRPr/>
          </a:p>
          <a:p>
            <a:pPr marL="0" lvl="0" indent="0" algn="l" rtl="0">
              <a:spcBef>
                <a:spcPts val="600"/>
              </a:spcBef>
              <a:spcAft>
                <a:spcPts val="0"/>
              </a:spcAft>
              <a:buNone/>
            </a:pPr>
            <a:r>
              <a:rPr lang="en" b="1">
                <a:solidFill>
                  <a:schemeClr val="accent3"/>
                </a:solidFill>
                <a:latin typeface="Roboto"/>
                <a:ea typeface="Roboto"/>
                <a:cs typeface="Roboto"/>
                <a:sym typeface="Roboto"/>
              </a:rPr>
              <a:t>Autocomplete</a:t>
            </a:r>
            <a:endParaRPr/>
          </a:p>
          <a:p>
            <a:pPr marL="0" lvl="0" indent="0" algn="l" rtl="0">
              <a:spcBef>
                <a:spcPts val="600"/>
              </a:spcBef>
              <a:spcAft>
                <a:spcPts val="0"/>
              </a:spcAft>
              <a:buNone/>
            </a:pPr>
            <a:r>
              <a:rPr lang="en"/>
              <a:t>Trie Summary</a:t>
            </a:r>
            <a:endParaRPr/>
          </a:p>
        </p:txBody>
      </p:sp>
      <p:sp>
        <p:nvSpPr>
          <p:cNvPr id="1774" name="Google Shape;1774;p72"/>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Autocomplete</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78"/>
        <p:cNvGrpSpPr/>
        <p:nvPr/>
      </p:nvGrpSpPr>
      <p:grpSpPr>
        <a:xfrm>
          <a:off x="0" y="0"/>
          <a:ext cx="0" cy="0"/>
          <a:chOff x="0" y="0"/>
          <a:chExt cx="0" cy="0"/>
        </a:xfrm>
      </p:grpSpPr>
      <p:sp>
        <p:nvSpPr>
          <p:cNvPr id="1779" name="Google Shape;1779;p7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Autocomplete Problem</a:t>
            </a:r>
            <a:endParaRPr/>
          </a:p>
        </p:txBody>
      </p:sp>
      <p:sp>
        <p:nvSpPr>
          <p:cNvPr id="1780" name="Google Shape;1780;p73"/>
          <p:cNvSpPr txBox="1">
            <a:spLocks noGrp="1"/>
          </p:cNvSpPr>
          <p:nvPr>
            <p:ph type="body" idx="1"/>
          </p:nvPr>
        </p:nvSpPr>
        <p:spPr>
          <a:xfrm>
            <a:off x="90600" y="409750"/>
            <a:ext cx="5412300" cy="4255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Example, when I type “how are” into Google, I get 10 results, shown to the right.</a:t>
            </a:r>
            <a:endParaRPr/>
          </a:p>
          <a:p>
            <a:pPr marL="0" lvl="0" indent="0" algn="l" rtl="0">
              <a:spcBef>
                <a:spcPts val="600"/>
              </a:spcBef>
              <a:spcAft>
                <a:spcPts val="0"/>
              </a:spcAft>
              <a:buNone/>
            </a:pPr>
            <a:endParaRPr/>
          </a:p>
          <a:p>
            <a:pPr marL="0" lvl="0" indent="0" algn="l" rtl="0">
              <a:spcBef>
                <a:spcPts val="600"/>
              </a:spcBef>
              <a:spcAft>
                <a:spcPts val="0"/>
              </a:spcAft>
              <a:buNone/>
            </a:pPr>
            <a:r>
              <a:rPr lang="en"/>
              <a:t>One way to do this is to create a Trie based map from strings to values</a:t>
            </a:r>
            <a:endParaRPr/>
          </a:p>
          <a:p>
            <a:pPr marL="457200" lvl="0" indent="-342900" algn="l" rtl="0">
              <a:spcBef>
                <a:spcPts val="600"/>
              </a:spcBef>
              <a:spcAft>
                <a:spcPts val="0"/>
              </a:spcAft>
              <a:buSzPts val="1800"/>
              <a:buChar char="●"/>
            </a:pPr>
            <a:r>
              <a:rPr lang="en"/>
              <a:t>Value represents how important Google thinks that string is.</a:t>
            </a:r>
            <a:endParaRPr/>
          </a:p>
          <a:p>
            <a:pPr marL="457200" lvl="0" indent="-342900" algn="l" rtl="0">
              <a:spcBef>
                <a:spcPts val="600"/>
              </a:spcBef>
              <a:spcAft>
                <a:spcPts val="0"/>
              </a:spcAft>
              <a:buSzPts val="1800"/>
              <a:buChar char="●"/>
            </a:pPr>
            <a:r>
              <a:rPr lang="en"/>
              <a:t>Can store billions of strings efficiently since they share nodes.</a:t>
            </a:r>
            <a:endParaRPr/>
          </a:p>
          <a:p>
            <a:pPr marL="457200" lvl="0" indent="-342900" algn="l" rtl="0">
              <a:spcBef>
                <a:spcPts val="600"/>
              </a:spcBef>
              <a:spcAft>
                <a:spcPts val="0"/>
              </a:spcAft>
              <a:buSzPts val="1800"/>
              <a:buChar char="●"/>
            </a:pPr>
            <a:r>
              <a:rPr lang="en"/>
              <a:t>When a user types in a string “hello”, we:</a:t>
            </a:r>
            <a:endParaRPr/>
          </a:p>
          <a:p>
            <a:pPr marL="914400" lvl="1" indent="-342900" algn="l" rtl="0">
              <a:spcBef>
                <a:spcPts val="600"/>
              </a:spcBef>
              <a:spcAft>
                <a:spcPts val="0"/>
              </a:spcAft>
              <a:buSzPts val="1800"/>
              <a:buChar char="○"/>
            </a:pPr>
            <a:r>
              <a:rPr lang="en"/>
              <a:t>Call </a:t>
            </a:r>
            <a:r>
              <a:rPr lang="en">
                <a:latin typeface="Consolas"/>
                <a:ea typeface="Consolas"/>
                <a:cs typeface="Consolas"/>
                <a:sym typeface="Consolas"/>
              </a:rPr>
              <a:t>keysWithPrefix("hello")</a:t>
            </a:r>
            <a:r>
              <a:rPr lang="en"/>
              <a:t>.</a:t>
            </a:r>
            <a:endParaRPr>
              <a:latin typeface="Consolas"/>
              <a:ea typeface="Consolas"/>
              <a:cs typeface="Consolas"/>
              <a:sym typeface="Consolas"/>
            </a:endParaRPr>
          </a:p>
          <a:p>
            <a:pPr marL="914400" lvl="1" indent="-342900" algn="l" rtl="0">
              <a:spcBef>
                <a:spcPts val="600"/>
              </a:spcBef>
              <a:spcAft>
                <a:spcPts val="0"/>
              </a:spcAft>
              <a:buSzPts val="1800"/>
              <a:buFont typeface="Consolas"/>
              <a:buChar char="○"/>
            </a:pPr>
            <a:r>
              <a:rPr lang="en"/>
              <a:t>Return the 10 strings with the highest value.</a:t>
            </a:r>
            <a:endParaRPr>
              <a:latin typeface="Consolas"/>
              <a:ea typeface="Consolas"/>
              <a:cs typeface="Consolas"/>
              <a:sym typeface="Consolas"/>
            </a:endParaRPr>
          </a:p>
          <a:p>
            <a:pPr marL="914400" lvl="0" indent="0" algn="l" rtl="0">
              <a:spcBef>
                <a:spcPts val="600"/>
              </a:spcBef>
              <a:spcAft>
                <a:spcPts val="0"/>
              </a:spcAft>
              <a:buNone/>
            </a:pPr>
            <a:endParaRPr>
              <a:latin typeface="Consolas"/>
              <a:ea typeface="Consolas"/>
              <a:cs typeface="Consolas"/>
              <a:sym typeface="Consolas"/>
            </a:endParaRPr>
          </a:p>
        </p:txBody>
      </p:sp>
      <p:pic>
        <p:nvPicPr>
          <p:cNvPr id="1781" name="Google Shape;1781;p73"/>
          <p:cNvPicPr preferRelativeResize="0"/>
          <p:nvPr/>
        </p:nvPicPr>
        <p:blipFill>
          <a:blip r:embed="rId3">
            <a:alphaModFix/>
          </a:blip>
          <a:stretch>
            <a:fillRect/>
          </a:stretch>
        </p:blipFill>
        <p:spPr>
          <a:xfrm>
            <a:off x="5744375" y="653175"/>
            <a:ext cx="3399626" cy="2983252"/>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85"/>
        <p:cNvGrpSpPr/>
        <p:nvPr/>
      </p:nvGrpSpPr>
      <p:grpSpPr>
        <a:xfrm>
          <a:off x="0" y="0"/>
          <a:ext cx="0" cy="0"/>
          <a:chOff x="0" y="0"/>
          <a:chExt cx="0" cy="0"/>
        </a:xfrm>
      </p:grpSpPr>
      <p:sp>
        <p:nvSpPr>
          <p:cNvPr id="1786" name="Google Shape;1786;p7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Autocomplete Example, for Top Three Matches</a:t>
            </a:r>
            <a:endParaRPr/>
          </a:p>
        </p:txBody>
      </p:sp>
      <p:sp>
        <p:nvSpPr>
          <p:cNvPr id="1787" name="Google Shape;1787;p74"/>
          <p:cNvSpPr txBox="1">
            <a:spLocks noGrp="1"/>
          </p:cNvSpPr>
          <p:nvPr>
            <p:ph type="body" idx="1"/>
          </p:nvPr>
        </p:nvSpPr>
        <p:spPr>
          <a:xfrm>
            <a:off x="319200" y="556500"/>
            <a:ext cx="8443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p:txBody>
      </p:sp>
      <p:sp>
        <p:nvSpPr>
          <p:cNvPr id="1788" name="Google Shape;1788;p74"/>
          <p:cNvSpPr txBox="1">
            <a:spLocks noGrp="1"/>
          </p:cNvSpPr>
          <p:nvPr>
            <p:ph type="body" idx="1"/>
          </p:nvPr>
        </p:nvSpPr>
        <p:spPr>
          <a:xfrm>
            <a:off x="90600" y="409750"/>
            <a:ext cx="8828100" cy="4255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Suppose we have six strings with values shown below:</a:t>
            </a:r>
            <a:endParaRPr/>
          </a:p>
          <a:p>
            <a:pPr marL="457200" lvl="0" indent="-342900" algn="l" rtl="0">
              <a:spcBef>
                <a:spcPts val="600"/>
              </a:spcBef>
              <a:spcAft>
                <a:spcPts val="0"/>
              </a:spcAft>
              <a:buSzPts val="1800"/>
              <a:buChar char="●"/>
            </a:pPr>
            <a:r>
              <a:rPr lang="en"/>
              <a:t>buck: 10</a:t>
            </a:r>
            <a:endParaRPr/>
          </a:p>
          <a:p>
            <a:pPr marL="457200" lvl="0" indent="-342900" algn="l" rtl="0">
              <a:spcBef>
                <a:spcPts val="600"/>
              </a:spcBef>
              <a:spcAft>
                <a:spcPts val="0"/>
              </a:spcAft>
              <a:buSzPts val="1800"/>
              <a:buChar char="●"/>
            </a:pPr>
            <a:r>
              <a:rPr lang="en"/>
              <a:t>sad: 12</a:t>
            </a:r>
            <a:endParaRPr/>
          </a:p>
          <a:p>
            <a:pPr marL="457200" lvl="0" indent="-342900" algn="l" rtl="0">
              <a:spcBef>
                <a:spcPts val="600"/>
              </a:spcBef>
              <a:spcAft>
                <a:spcPts val="0"/>
              </a:spcAft>
              <a:buSzPts val="1800"/>
              <a:buChar char="●"/>
            </a:pPr>
            <a:r>
              <a:rPr lang="en"/>
              <a:t>smog: 5</a:t>
            </a:r>
            <a:endParaRPr/>
          </a:p>
          <a:p>
            <a:pPr marL="457200" lvl="0" indent="-342900" algn="l" rtl="0">
              <a:spcBef>
                <a:spcPts val="600"/>
              </a:spcBef>
              <a:spcAft>
                <a:spcPts val="0"/>
              </a:spcAft>
              <a:buSzPts val="1800"/>
              <a:buChar char="●"/>
            </a:pPr>
            <a:r>
              <a:rPr lang="en"/>
              <a:t>spit: 15</a:t>
            </a:r>
            <a:endParaRPr/>
          </a:p>
          <a:p>
            <a:pPr marL="457200" lvl="0" indent="-342900" algn="l" rtl="0">
              <a:spcBef>
                <a:spcPts val="600"/>
              </a:spcBef>
              <a:spcAft>
                <a:spcPts val="0"/>
              </a:spcAft>
              <a:buSzPts val="1800"/>
              <a:buChar char="●"/>
            </a:pPr>
            <a:r>
              <a:rPr lang="en"/>
              <a:t>spite: 20</a:t>
            </a:r>
            <a:endParaRPr/>
          </a:p>
          <a:p>
            <a:pPr marL="457200" lvl="0" indent="-342900" algn="l" rtl="0">
              <a:spcBef>
                <a:spcPts val="600"/>
              </a:spcBef>
              <a:spcAft>
                <a:spcPts val="0"/>
              </a:spcAft>
              <a:buSzPts val="1800"/>
              <a:buChar char="●"/>
            </a:pPr>
            <a:r>
              <a:rPr lang="en"/>
              <a:t>spy: 7 </a:t>
            </a:r>
            <a:br>
              <a:rPr lang="en"/>
            </a:br>
            <a:endParaRPr/>
          </a:p>
          <a:p>
            <a:pPr marL="0" lvl="0" indent="0" algn="l" rtl="0">
              <a:spcBef>
                <a:spcPts val="600"/>
              </a:spcBef>
              <a:spcAft>
                <a:spcPts val="0"/>
              </a:spcAft>
              <a:buNone/>
            </a:pPr>
            <a:r>
              <a:rPr lang="en"/>
              <a:t>If the user types “s”, we:</a:t>
            </a:r>
            <a:endParaRPr/>
          </a:p>
          <a:p>
            <a:pPr marL="457200" lvl="0" indent="-342900" algn="l" rtl="0">
              <a:spcBef>
                <a:spcPts val="600"/>
              </a:spcBef>
              <a:spcAft>
                <a:spcPts val="0"/>
              </a:spcAft>
              <a:buSzPts val="1800"/>
              <a:buChar char="●"/>
            </a:pPr>
            <a:r>
              <a:rPr lang="en"/>
              <a:t>Call </a:t>
            </a:r>
            <a:r>
              <a:rPr lang="en">
                <a:latin typeface="Consolas"/>
                <a:ea typeface="Consolas"/>
                <a:cs typeface="Consolas"/>
                <a:sym typeface="Consolas"/>
              </a:rPr>
              <a:t>keysWithPrefix("s")</a:t>
            </a:r>
            <a:r>
              <a:rPr lang="en"/>
              <a:t>.</a:t>
            </a:r>
            <a:endParaRPr/>
          </a:p>
          <a:p>
            <a:pPr marL="914400" lvl="1" indent="-342900" algn="l" rtl="0">
              <a:spcBef>
                <a:spcPts val="600"/>
              </a:spcBef>
              <a:spcAft>
                <a:spcPts val="0"/>
              </a:spcAft>
              <a:buSzPts val="1800"/>
              <a:buChar char="○"/>
            </a:pPr>
            <a:r>
              <a:rPr lang="en"/>
              <a:t>sad, smog, spit, spite, spy</a:t>
            </a:r>
            <a:endParaRPr/>
          </a:p>
          <a:p>
            <a:pPr marL="457200" lvl="0" indent="-342900" algn="l" rtl="0">
              <a:spcBef>
                <a:spcPts val="600"/>
              </a:spcBef>
              <a:spcAft>
                <a:spcPts val="0"/>
              </a:spcAft>
              <a:buSzPts val="1800"/>
              <a:buChar char="●"/>
            </a:pPr>
            <a:r>
              <a:rPr lang="en"/>
              <a:t>Return the three keys with highest value.</a:t>
            </a:r>
            <a:endParaRPr/>
          </a:p>
          <a:p>
            <a:pPr marL="914400" lvl="1" indent="-342900" algn="l" rtl="0">
              <a:spcBef>
                <a:spcPts val="600"/>
              </a:spcBef>
              <a:spcAft>
                <a:spcPts val="0"/>
              </a:spcAft>
              <a:buSzPts val="1800"/>
              <a:buChar char="○"/>
            </a:pPr>
            <a:r>
              <a:rPr lang="en"/>
              <a:t>spit, spite, sad</a:t>
            </a:r>
            <a:endParaRPr/>
          </a:p>
        </p:txBody>
      </p:sp>
      <p:cxnSp>
        <p:nvCxnSpPr>
          <p:cNvPr id="1789" name="Google Shape;1789;p74"/>
          <p:cNvCxnSpPr>
            <a:stCxn id="1790" idx="4"/>
            <a:endCxn id="1791" idx="0"/>
          </p:cNvCxnSpPr>
          <p:nvPr/>
        </p:nvCxnSpPr>
        <p:spPr>
          <a:xfrm>
            <a:off x="5499463" y="2921986"/>
            <a:ext cx="0" cy="278700"/>
          </a:xfrm>
          <a:prstGeom prst="straightConnector1">
            <a:avLst/>
          </a:prstGeom>
          <a:noFill/>
          <a:ln w="28575" cap="flat" cmpd="sng">
            <a:solidFill>
              <a:schemeClr val="dk2"/>
            </a:solidFill>
            <a:prstDash val="solid"/>
            <a:round/>
            <a:headEnd type="none" w="med" len="med"/>
            <a:tailEnd type="none" w="med" len="med"/>
          </a:ln>
        </p:spPr>
      </p:cxnSp>
      <p:sp>
        <p:nvSpPr>
          <p:cNvPr id="1792" name="Google Shape;1792;p74"/>
          <p:cNvSpPr/>
          <p:nvPr/>
        </p:nvSpPr>
        <p:spPr>
          <a:xfrm>
            <a:off x="6695042" y="12532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1793" name="Google Shape;1793;p74"/>
          <p:cNvSpPr/>
          <p:nvPr/>
        </p:nvSpPr>
        <p:spPr>
          <a:xfrm>
            <a:off x="7370588" y="185379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sp>
        <p:nvSpPr>
          <p:cNvPr id="1794" name="Google Shape;1794;p74"/>
          <p:cNvSpPr/>
          <p:nvPr/>
        </p:nvSpPr>
        <p:spPr>
          <a:xfrm>
            <a:off x="6760988" y="2489073"/>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795" name="Google Shape;1795;p74"/>
          <p:cNvSpPr/>
          <p:nvPr/>
        </p:nvSpPr>
        <p:spPr>
          <a:xfrm>
            <a:off x="7370588" y="249611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m</a:t>
            </a:r>
            <a:endParaRPr sz="1800">
              <a:latin typeface="Consolas"/>
              <a:ea typeface="Consolas"/>
              <a:cs typeface="Consolas"/>
              <a:sym typeface="Consolas"/>
            </a:endParaRPr>
          </a:p>
        </p:txBody>
      </p:sp>
      <p:sp>
        <p:nvSpPr>
          <p:cNvPr id="1796" name="Google Shape;1796;p74"/>
          <p:cNvSpPr/>
          <p:nvPr/>
        </p:nvSpPr>
        <p:spPr>
          <a:xfrm>
            <a:off x="6764753" y="3239177"/>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d</a:t>
            </a:r>
            <a:endParaRPr sz="1800">
              <a:latin typeface="Consolas"/>
              <a:ea typeface="Consolas"/>
              <a:cs typeface="Consolas"/>
              <a:sym typeface="Consolas"/>
            </a:endParaRPr>
          </a:p>
        </p:txBody>
      </p:sp>
      <p:sp>
        <p:nvSpPr>
          <p:cNvPr id="1797" name="Google Shape;1797;p74"/>
          <p:cNvSpPr/>
          <p:nvPr/>
        </p:nvSpPr>
        <p:spPr>
          <a:xfrm>
            <a:off x="7980188" y="2489077"/>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p</a:t>
            </a:r>
            <a:endParaRPr sz="1800">
              <a:latin typeface="Consolas"/>
              <a:ea typeface="Consolas"/>
              <a:cs typeface="Consolas"/>
              <a:sym typeface="Consolas"/>
            </a:endParaRPr>
          </a:p>
        </p:txBody>
      </p:sp>
      <p:sp>
        <p:nvSpPr>
          <p:cNvPr id="1798" name="Google Shape;1798;p74"/>
          <p:cNvSpPr/>
          <p:nvPr/>
        </p:nvSpPr>
        <p:spPr>
          <a:xfrm>
            <a:off x="7370588" y="3239177"/>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o</a:t>
            </a:r>
            <a:endParaRPr sz="1800">
              <a:latin typeface="Consolas"/>
              <a:ea typeface="Consolas"/>
              <a:cs typeface="Consolas"/>
              <a:sym typeface="Consolas"/>
            </a:endParaRPr>
          </a:p>
        </p:txBody>
      </p:sp>
      <p:sp>
        <p:nvSpPr>
          <p:cNvPr id="1799" name="Google Shape;1799;p74"/>
          <p:cNvSpPr/>
          <p:nvPr/>
        </p:nvSpPr>
        <p:spPr>
          <a:xfrm>
            <a:off x="5283013" y="1853811"/>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b</a:t>
            </a:r>
            <a:endParaRPr sz="1800">
              <a:latin typeface="Consolas"/>
              <a:ea typeface="Consolas"/>
              <a:cs typeface="Consolas"/>
              <a:sym typeface="Consolas"/>
            </a:endParaRPr>
          </a:p>
        </p:txBody>
      </p:sp>
      <p:sp>
        <p:nvSpPr>
          <p:cNvPr id="1790" name="Google Shape;1790;p74"/>
          <p:cNvSpPr/>
          <p:nvPr/>
        </p:nvSpPr>
        <p:spPr>
          <a:xfrm>
            <a:off x="5283013" y="248908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u</a:t>
            </a:r>
            <a:endParaRPr sz="1800">
              <a:latin typeface="Consolas"/>
              <a:ea typeface="Consolas"/>
              <a:cs typeface="Consolas"/>
              <a:sym typeface="Consolas"/>
            </a:endParaRPr>
          </a:p>
        </p:txBody>
      </p:sp>
      <p:sp>
        <p:nvSpPr>
          <p:cNvPr id="1791" name="Google Shape;1791;p74"/>
          <p:cNvSpPr/>
          <p:nvPr/>
        </p:nvSpPr>
        <p:spPr>
          <a:xfrm>
            <a:off x="5283013" y="3200561"/>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c</a:t>
            </a:r>
            <a:endParaRPr sz="1800">
              <a:latin typeface="Consolas"/>
              <a:ea typeface="Consolas"/>
              <a:cs typeface="Consolas"/>
              <a:sym typeface="Consolas"/>
            </a:endParaRPr>
          </a:p>
        </p:txBody>
      </p:sp>
      <p:cxnSp>
        <p:nvCxnSpPr>
          <p:cNvPr id="1800" name="Google Shape;1800;p74"/>
          <p:cNvCxnSpPr/>
          <p:nvPr/>
        </p:nvCxnSpPr>
        <p:spPr>
          <a:xfrm>
            <a:off x="7587038" y="3404852"/>
            <a:ext cx="0" cy="0"/>
          </a:xfrm>
          <a:prstGeom prst="straightConnector1">
            <a:avLst/>
          </a:prstGeom>
          <a:noFill/>
          <a:ln w="19050" cap="flat" cmpd="sng">
            <a:solidFill>
              <a:schemeClr val="dk2"/>
            </a:solidFill>
            <a:prstDash val="solid"/>
            <a:round/>
            <a:headEnd type="none" w="med" len="med"/>
            <a:tailEnd type="none" w="med" len="med"/>
          </a:ln>
        </p:spPr>
      </p:cxnSp>
      <p:cxnSp>
        <p:nvCxnSpPr>
          <p:cNvPr id="1801" name="Google Shape;1801;p74"/>
          <p:cNvCxnSpPr>
            <a:stCxn id="1792" idx="5"/>
            <a:endCxn id="1793" idx="0"/>
          </p:cNvCxnSpPr>
          <p:nvPr/>
        </p:nvCxnSpPr>
        <p:spPr>
          <a:xfrm>
            <a:off x="7064545" y="1622778"/>
            <a:ext cx="522600" cy="231000"/>
          </a:xfrm>
          <a:prstGeom prst="straightConnector1">
            <a:avLst/>
          </a:prstGeom>
          <a:noFill/>
          <a:ln w="28575" cap="flat" cmpd="sng">
            <a:solidFill>
              <a:schemeClr val="dk2"/>
            </a:solidFill>
            <a:prstDash val="solid"/>
            <a:round/>
            <a:headEnd type="none" w="med" len="med"/>
            <a:tailEnd type="none" w="med" len="med"/>
          </a:ln>
        </p:spPr>
      </p:cxnSp>
      <p:cxnSp>
        <p:nvCxnSpPr>
          <p:cNvPr id="1802" name="Google Shape;1802;p74"/>
          <p:cNvCxnSpPr>
            <a:stCxn id="1793" idx="3"/>
            <a:endCxn id="1794" idx="0"/>
          </p:cNvCxnSpPr>
          <p:nvPr/>
        </p:nvCxnSpPr>
        <p:spPr>
          <a:xfrm flipH="1">
            <a:off x="6977384" y="2223299"/>
            <a:ext cx="456600" cy="265800"/>
          </a:xfrm>
          <a:prstGeom prst="straightConnector1">
            <a:avLst/>
          </a:prstGeom>
          <a:noFill/>
          <a:ln w="28575" cap="flat" cmpd="sng">
            <a:solidFill>
              <a:schemeClr val="dk2"/>
            </a:solidFill>
            <a:prstDash val="solid"/>
            <a:round/>
            <a:headEnd type="none" w="med" len="med"/>
            <a:tailEnd type="none" w="med" len="med"/>
          </a:ln>
        </p:spPr>
      </p:cxnSp>
      <p:cxnSp>
        <p:nvCxnSpPr>
          <p:cNvPr id="1803" name="Google Shape;1803;p74"/>
          <p:cNvCxnSpPr>
            <a:stCxn id="1793" idx="4"/>
            <a:endCxn id="1795" idx="0"/>
          </p:cNvCxnSpPr>
          <p:nvPr/>
        </p:nvCxnSpPr>
        <p:spPr>
          <a:xfrm>
            <a:off x="7587038" y="2286696"/>
            <a:ext cx="0" cy="209400"/>
          </a:xfrm>
          <a:prstGeom prst="straightConnector1">
            <a:avLst/>
          </a:prstGeom>
          <a:noFill/>
          <a:ln w="28575" cap="flat" cmpd="sng">
            <a:solidFill>
              <a:schemeClr val="dk2"/>
            </a:solidFill>
            <a:prstDash val="solid"/>
            <a:round/>
            <a:headEnd type="none" w="med" len="med"/>
            <a:tailEnd type="none" w="med" len="med"/>
          </a:ln>
        </p:spPr>
      </p:cxnSp>
      <p:cxnSp>
        <p:nvCxnSpPr>
          <p:cNvPr id="1804" name="Google Shape;1804;p74"/>
          <p:cNvCxnSpPr>
            <a:stCxn id="1794" idx="4"/>
            <a:endCxn id="1796" idx="0"/>
          </p:cNvCxnSpPr>
          <p:nvPr/>
        </p:nvCxnSpPr>
        <p:spPr>
          <a:xfrm>
            <a:off x="6977438" y="2921973"/>
            <a:ext cx="3900" cy="317100"/>
          </a:xfrm>
          <a:prstGeom prst="straightConnector1">
            <a:avLst/>
          </a:prstGeom>
          <a:noFill/>
          <a:ln w="28575" cap="flat" cmpd="sng">
            <a:solidFill>
              <a:schemeClr val="dk2"/>
            </a:solidFill>
            <a:prstDash val="solid"/>
            <a:round/>
            <a:headEnd type="none" w="med" len="med"/>
            <a:tailEnd type="none" w="med" len="med"/>
          </a:ln>
        </p:spPr>
      </p:cxnSp>
      <p:cxnSp>
        <p:nvCxnSpPr>
          <p:cNvPr id="1805" name="Google Shape;1805;p74"/>
          <p:cNvCxnSpPr>
            <a:stCxn id="1793" idx="5"/>
            <a:endCxn id="1797" idx="0"/>
          </p:cNvCxnSpPr>
          <p:nvPr/>
        </p:nvCxnSpPr>
        <p:spPr>
          <a:xfrm>
            <a:off x="7740091" y="2223299"/>
            <a:ext cx="456600" cy="265800"/>
          </a:xfrm>
          <a:prstGeom prst="straightConnector1">
            <a:avLst/>
          </a:prstGeom>
          <a:noFill/>
          <a:ln w="28575" cap="flat" cmpd="sng">
            <a:solidFill>
              <a:schemeClr val="dk2"/>
            </a:solidFill>
            <a:prstDash val="solid"/>
            <a:round/>
            <a:headEnd type="none" w="med" len="med"/>
            <a:tailEnd type="none" w="med" len="med"/>
          </a:ln>
        </p:spPr>
      </p:cxnSp>
      <p:cxnSp>
        <p:nvCxnSpPr>
          <p:cNvPr id="1806" name="Google Shape;1806;p74"/>
          <p:cNvCxnSpPr>
            <a:stCxn id="1795" idx="4"/>
            <a:endCxn id="1798" idx="0"/>
          </p:cNvCxnSpPr>
          <p:nvPr/>
        </p:nvCxnSpPr>
        <p:spPr>
          <a:xfrm>
            <a:off x="7587038" y="2929016"/>
            <a:ext cx="0" cy="310200"/>
          </a:xfrm>
          <a:prstGeom prst="straightConnector1">
            <a:avLst/>
          </a:prstGeom>
          <a:noFill/>
          <a:ln w="28575" cap="flat" cmpd="sng">
            <a:solidFill>
              <a:schemeClr val="dk2"/>
            </a:solidFill>
            <a:prstDash val="solid"/>
            <a:round/>
            <a:headEnd type="none" w="med" len="med"/>
            <a:tailEnd type="none" w="med" len="med"/>
          </a:ln>
        </p:spPr>
      </p:cxnSp>
      <p:cxnSp>
        <p:nvCxnSpPr>
          <p:cNvPr id="1807" name="Google Shape;1807;p74"/>
          <p:cNvCxnSpPr>
            <a:stCxn id="1792" idx="3"/>
            <a:endCxn id="1799" idx="0"/>
          </p:cNvCxnSpPr>
          <p:nvPr/>
        </p:nvCxnSpPr>
        <p:spPr>
          <a:xfrm flipH="1">
            <a:off x="5499339" y="1622778"/>
            <a:ext cx="1259100" cy="231000"/>
          </a:xfrm>
          <a:prstGeom prst="straightConnector1">
            <a:avLst/>
          </a:prstGeom>
          <a:noFill/>
          <a:ln w="28575" cap="flat" cmpd="sng">
            <a:solidFill>
              <a:schemeClr val="dk2"/>
            </a:solidFill>
            <a:prstDash val="solid"/>
            <a:round/>
            <a:headEnd type="none" w="med" len="med"/>
            <a:tailEnd type="none" w="med" len="med"/>
          </a:ln>
        </p:spPr>
      </p:cxnSp>
      <p:cxnSp>
        <p:nvCxnSpPr>
          <p:cNvPr id="1808" name="Google Shape;1808;p74"/>
          <p:cNvCxnSpPr>
            <a:endCxn id="1790" idx="0"/>
          </p:cNvCxnSpPr>
          <p:nvPr/>
        </p:nvCxnSpPr>
        <p:spPr>
          <a:xfrm>
            <a:off x="5499463" y="2286586"/>
            <a:ext cx="0" cy="202500"/>
          </a:xfrm>
          <a:prstGeom prst="straightConnector1">
            <a:avLst/>
          </a:prstGeom>
          <a:noFill/>
          <a:ln w="28575" cap="flat" cmpd="sng">
            <a:solidFill>
              <a:schemeClr val="dk2"/>
            </a:solidFill>
            <a:prstDash val="solid"/>
            <a:round/>
            <a:headEnd type="none" w="med" len="med"/>
            <a:tailEnd type="none" w="med" len="med"/>
          </a:ln>
        </p:spPr>
      </p:cxnSp>
      <p:sp>
        <p:nvSpPr>
          <p:cNvPr id="1809" name="Google Shape;1809;p74"/>
          <p:cNvSpPr/>
          <p:nvPr/>
        </p:nvSpPr>
        <p:spPr>
          <a:xfrm>
            <a:off x="5283013" y="3912036"/>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k</a:t>
            </a:r>
            <a:endParaRPr sz="1800">
              <a:latin typeface="Consolas"/>
              <a:ea typeface="Consolas"/>
              <a:cs typeface="Consolas"/>
              <a:sym typeface="Consolas"/>
            </a:endParaRPr>
          </a:p>
        </p:txBody>
      </p:sp>
      <p:cxnSp>
        <p:nvCxnSpPr>
          <p:cNvPr id="1810" name="Google Shape;1810;p74"/>
          <p:cNvCxnSpPr>
            <a:stCxn id="1791" idx="4"/>
            <a:endCxn id="1809" idx="0"/>
          </p:cNvCxnSpPr>
          <p:nvPr/>
        </p:nvCxnSpPr>
        <p:spPr>
          <a:xfrm>
            <a:off x="5499463" y="3633461"/>
            <a:ext cx="0" cy="278700"/>
          </a:xfrm>
          <a:prstGeom prst="straightConnector1">
            <a:avLst/>
          </a:prstGeom>
          <a:noFill/>
          <a:ln w="28575" cap="flat" cmpd="sng">
            <a:solidFill>
              <a:schemeClr val="dk2"/>
            </a:solidFill>
            <a:prstDash val="solid"/>
            <a:round/>
            <a:headEnd type="none" w="med" len="med"/>
            <a:tailEnd type="none" w="med" len="med"/>
          </a:ln>
        </p:spPr>
      </p:cxnSp>
      <p:sp>
        <p:nvSpPr>
          <p:cNvPr id="1811" name="Google Shape;1811;p74"/>
          <p:cNvSpPr/>
          <p:nvPr/>
        </p:nvSpPr>
        <p:spPr>
          <a:xfrm>
            <a:off x="7370588" y="3890398"/>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g</a:t>
            </a:r>
            <a:endParaRPr sz="1800">
              <a:latin typeface="Consolas"/>
              <a:ea typeface="Consolas"/>
              <a:cs typeface="Consolas"/>
              <a:sym typeface="Consolas"/>
            </a:endParaRPr>
          </a:p>
        </p:txBody>
      </p:sp>
      <p:cxnSp>
        <p:nvCxnSpPr>
          <p:cNvPr id="1812" name="Google Shape;1812;p74"/>
          <p:cNvCxnSpPr>
            <a:stCxn id="1798" idx="4"/>
            <a:endCxn id="1811" idx="0"/>
          </p:cNvCxnSpPr>
          <p:nvPr/>
        </p:nvCxnSpPr>
        <p:spPr>
          <a:xfrm>
            <a:off x="7587038" y="3672077"/>
            <a:ext cx="0" cy="218400"/>
          </a:xfrm>
          <a:prstGeom prst="straightConnector1">
            <a:avLst/>
          </a:prstGeom>
          <a:noFill/>
          <a:ln w="28575" cap="flat" cmpd="sng">
            <a:solidFill>
              <a:schemeClr val="dk2"/>
            </a:solidFill>
            <a:prstDash val="solid"/>
            <a:round/>
            <a:headEnd type="none" w="med" len="med"/>
            <a:tailEnd type="none" w="med" len="med"/>
          </a:ln>
        </p:spPr>
      </p:cxnSp>
      <p:sp>
        <p:nvSpPr>
          <p:cNvPr id="1813" name="Google Shape;1813;p74"/>
          <p:cNvSpPr/>
          <p:nvPr/>
        </p:nvSpPr>
        <p:spPr>
          <a:xfrm>
            <a:off x="8663688" y="3239177"/>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y</a:t>
            </a:r>
            <a:endParaRPr sz="1800">
              <a:latin typeface="Consolas"/>
              <a:ea typeface="Consolas"/>
              <a:cs typeface="Consolas"/>
              <a:sym typeface="Consolas"/>
            </a:endParaRPr>
          </a:p>
        </p:txBody>
      </p:sp>
      <p:sp>
        <p:nvSpPr>
          <p:cNvPr id="1814" name="Google Shape;1814;p74"/>
          <p:cNvSpPr/>
          <p:nvPr/>
        </p:nvSpPr>
        <p:spPr>
          <a:xfrm>
            <a:off x="7982868" y="3239173"/>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i</a:t>
            </a:r>
            <a:endParaRPr sz="1800">
              <a:latin typeface="Consolas"/>
              <a:ea typeface="Consolas"/>
              <a:cs typeface="Consolas"/>
              <a:sym typeface="Consolas"/>
            </a:endParaRPr>
          </a:p>
        </p:txBody>
      </p:sp>
      <p:sp>
        <p:nvSpPr>
          <p:cNvPr id="1815" name="Google Shape;1815;p74"/>
          <p:cNvSpPr/>
          <p:nvPr/>
        </p:nvSpPr>
        <p:spPr>
          <a:xfrm>
            <a:off x="7989184" y="3890398"/>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t</a:t>
            </a:r>
            <a:endParaRPr sz="1800">
              <a:latin typeface="Consolas"/>
              <a:ea typeface="Consolas"/>
              <a:cs typeface="Consolas"/>
              <a:sym typeface="Consolas"/>
            </a:endParaRPr>
          </a:p>
        </p:txBody>
      </p:sp>
      <p:sp>
        <p:nvSpPr>
          <p:cNvPr id="1816" name="Google Shape;1816;p74"/>
          <p:cNvSpPr/>
          <p:nvPr/>
        </p:nvSpPr>
        <p:spPr>
          <a:xfrm>
            <a:off x="7989184" y="4481998"/>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e</a:t>
            </a:r>
            <a:endParaRPr sz="1800">
              <a:latin typeface="Consolas"/>
              <a:ea typeface="Consolas"/>
              <a:cs typeface="Consolas"/>
              <a:sym typeface="Consolas"/>
            </a:endParaRPr>
          </a:p>
        </p:txBody>
      </p:sp>
      <p:cxnSp>
        <p:nvCxnSpPr>
          <p:cNvPr id="1817" name="Google Shape;1817;p74"/>
          <p:cNvCxnSpPr>
            <a:stCxn id="1797" idx="5"/>
            <a:endCxn id="1813" idx="0"/>
          </p:cNvCxnSpPr>
          <p:nvPr/>
        </p:nvCxnSpPr>
        <p:spPr>
          <a:xfrm>
            <a:off x="8349691" y="2858580"/>
            <a:ext cx="530400" cy="380700"/>
          </a:xfrm>
          <a:prstGeom prst="straightConnector1">
            <a:avLst/>
          </a:prstGeom>
          <a:noFill/>
          <a:ln w="28575" cap="flat" cmpd="sng">
            <a:solidFill>
              <a:schemeClr val="dk2"/>
            </a:solidFill>
            <a:prstDash val="solid"/>
            <a:round/>
            <a:headEnd type="none" w="med" len="med"/>
            <a:tailEnd type="none" w="med" len="med"/>
          </a:ln>
        </p:spPr>
      </p:cxnSp>
      <p:cxnSp>
        <p:nvCxnSpPr>
          <p:cNvPr id="1818" name="Google Shape;1818;p74"/>
          <p:cNvCxnSpPr>
            <a:stCxn id="1797" idx="4"/>
            <a:endCxn id="1814" idx="0"/>
          </p:cNvCxnSpPr>
          <p:nvPr/>
        </p:nvCxnSpPr>
        <p:spPr>
          <a:xfrm>
            <a:off x="8196638" y="2921977"/>
            <a:ext cx="2700" cy="317100"/>
          </a:xfrm>
          <a:prstGeom prst="straightConnector1">
            <a:avLst/>
          </a:prstGeom>
          <a:noFill/>
          <a:ln w="28575" cap="flat" cmpd="sng">
            <a:solidFill>
              <a:schemeClr val="dk2"/>
            </a:solidFill>
            <a:prstDash val="solid"/>
            <a:round/>
            <a:headEnd type="none" w="med" len="med"/>
            <a:tailEnd type="none" w="med" len="med"/>
          </a:ln>
        </p:spPr>
      </p:cxnSp>
      <p:cxnSp>
        <p:nvCxnSpPr>
          <p:cNvPr id="1819" name="Google Shape;1819;p74"/>
          <p:cNvCxnSpPr>
            <a:stCxn id="1814" idx="4"/>
            <a:endCxn id="1815" idx="0"/>
          </p:cNvCxnSpPr>
          <p:nvPr/>
        </p:nvCxnSpPr>
        <p:spPr>
          <a:xfrm>
            <a:off x="8199318" y="3672073"/>
            <a:ext cx="6300" cy="218400"/>
          </a:xfrm>
          <a:prstGeom prst="straightConnector1">
            <a:avLst/>
          </a:prstGeom>
          <a:noFill/>
          <a:ln w="28575" cap="flat" cmpd="sng">
            <a:solidFill>
              <a:schemeClr val="dk2"/>
            </a:solidFill>
            <a:prstDash val="solid"/>
            <a:round/>
            <a:headEnd type="none" w="med" len="med"/>
            <a:tailEnd type="none" w="med" len="med"/>
          </a:ln>
        </p:spPr>
      </p:cxnSp>
      <p:cxnSp>
        <p:nvCxnSpPr>
          <p:cNvPr id="1820" name="Google Shape;1820;p74"/>
          <p:cNvCxnSpPr>
            <a:stCxn id="1815" idx="4"/>
            <a:endCxn id="1816" idx="0"/>
          </p:cNvCxnSpPr>
          <p:nvPr/>
        </p:nvCxnSpPr>
        <p:spPr>
          <a:xfrm>
            <a:off x="8205634" y="4323298"/>
            <a:ext cx="0" cy="158700"/>
          </a:xfrm>
          <a:prstGeom prst="straightConnector1">
            <a:avLst/>
          </a:prstGeom>
          <a:noFill/>
          <a:ln w="28575" cap="flat" cmpd="sng">
            <a:solidFill>
              <a:schemeClr val="dk2"/>
            </a:solidFill>
            <a:prstDash val="solid"/>
            <a:round/>
            <a:headEnd type="none" w="med" len="med"/>
            <a:tailEnd type="none" w="med" len="med"/>
          </a:ln>
        </p:spPr>
      </p:cxnSp>
      <p:sp>
        <p:nvSpPr>
          <p:cNvPr id="1821" name="Google Shape;1821;p74"/>
          <p:cNvSpPr txBox="1"/>
          <p:nvPr/>
        </p:nvSpPr>
        <p:spPr>
          <a:xfrm>
            <a:off x="4857650" y="3864775"/>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10</a:t>
            </a:r>
            <a:endParaRPr/>
          </a:p>
        </p:txBody>
      </p:sp>
      <p:sp>
        <p:nvSpPr>
          <p:cNvPr id="1822" name="Google Shape;1822;p74"/>
          <p:cNvSpPr txBox="1"/>
          <p:nvPr/>
        </p:nvSpPr>
        <p:spPr>
          <a:xfrm>
            <a:off x="6337925" y="3226738"/>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12</a:t>
            </a:r>
            <a:endParaRPr/>
          </a:p>
        </p:txBody>
      </p:sp>
      <p:sp>
        <p:nvSpPr>
          <p:cNvPr id="1823" name="Google Shape;1823;p74"/>
          <p:cNvSpPr txBox="1"/>
          <p:nvPr/>
        </p:nvSpPr>
        <p:spPr>
          <a:xfrm>
            <a:off x="7176125" y="4141138"/>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5</a:t>
            </a:r>
            <a:endParaRPr/>
          </a:p>
        </p:txBody>
      </p:sp>
      <p:sp>
        <p:nvSpPr>
          <p:cNvPr id="1824" name="Google Shape;1824;p74"/>
          <p:cNvSpPr txBox="1"/>
          <p:nvPr/>
        </p:nvSpPr>
        <p:spPr>
          <a:xfrm>
            <a:off x="7709525" y="4141138"/>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15</a:t>
            </a:r>
            <a:endParaRPr/>
          </a:p>
        </p:txBody>
      </p:sp>
      <p:sp>
        <p:nvSpPr>
          <p:cNvPr id="1825" name="Google Shape;1825;p74"/>
          <p:cNvSpPr txBox="1"/>
          <p:nvPr/>
        </p:nvSpPr>
        <p:spPr>
          <a:xfrm>
            <a:off x="7709525" y="4750738"/>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20</a:t>
            </a:r>
            <a:endParaRPr/>
          </a:p>
        </p:txBody>
      </p:sp>
      <p:sp>
        <p:nvSpPr>
          <p:cNvPr id="1826" name="Google Shape;1826;p74"/>
          <p:cNvSpPr txBox="1"/>
          <p:nvPr/>
        </p:nvSpPr>
        <p:spPr>
          <a:xfrm>
            <a:off x="8852525" y="3607738"/>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7</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30"/>
        <p:cNvGrpSpPr/>
        <p:nvPr/>
      </p:nvGrpSpPr>
      <p:grpSpPr>
        <a:xfrm>
          <a:off x="0" y="0"/>
          <a:ext cx="0" cy="0"/>
          <a:chOff x="0" y="0"/>
          <a:chExt cx="0" cy="0"/>
        </a:xfrm>
      </p:grpSpPr>
      <p:sp>
        <p:nvSpPr>
          <p:cNvPr id="1831" name="Google Shape;1831;p75"/>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Autocomplete Example, for Top Three Matches</a:t>
            </a:r>
            <a:endParaRPr/>
          </a:p>
        </p:txBody>
      </p:sp>
      <p:sp>
        <p:nvSpPr>
          <p:cNvPr id="1832" name="Google Shape;1832;p75"/>
          <p:cNvSpPr txBox="1">
            <a:spLocks noGrp="1"/>
          </p:cNvSpPr>
          <p:nvPr>
            <p:ph type="body" idx="1"/>
          </p:nvPr>
        </p:nvSpPr>
        <p:spPr>
          <a:xfrm>
            <a:off x="319200" y="556500"/>
            <a:ext cx="8443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p:txBody>
      </p:sp>
      <p:sp>
        <p:nvSpPr>
          <p:cNvPr id="1833" name="Google Shape;1833;p75"/>
          <p:cNvSpPr txBox="1">
            <a:spLocks noGrp="1"/>
          </p:cNvSpPr>
          <p:nvPr>
            <p:ph type="body" idx="1"/>
          </p:nvPr>
        </p:nvSpPr>
        <p:spPr>
          <a:xfrm>
            <a:off x="90600" y="409750"/>
            <a:ext cx="8828100" cy="4255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Suppose we have six strings with values shown below:</a:t>
            </a:r>
            <a:endParaRPr/>
          </a:p>
          <a:p>
            <a:pPr marL="457200" lvl="0" indent="-342900" algn="l" rtl="0">
              <a:spcBef>
                <a:spcPts val="600"/>
              </a:spcBef>
              <a:spcAft>
                <a:spcPts val="0"/>
              </a:spcAft>
              <a:buSzPts val="1800"/>
              <a:buChar char="●"/>
            </a:pPr>
            <a:r>
              <a:rPr lang="en"/>
              <a:t>buck: 10</a:t>
            </a:r>
            <a:endParaRPr/>
          </a:p>
          <a:p>
            <a:pPr marL="457200" lvl="0" indent="-342900" algn="l" rtl="0">
              <a:spcBef>
                <a:spcPts val="600"/>
              </a:spcBef>
              <a:spcAft>
                <a:spcPts val="0"/>
              </a:spcAft>
              <a:buSzPts val="1800"/>
              <a:buChar char="●"/>
            </a:pPr>
            <a:r>
              <a:rPr lang="en"/>
              <a:t>sad: 12</a:t>
            </a:r>
            <a:endParaRPr/>
          </a:p>
          <a:p>
            <a:pPr marL="457200" lvl="0" indent="-342900" algn="l" rtl="0">
              <a:spcBef>
                <a:spcPts val="600"/>
              </a:spcBef>
              <a:spcAft>
                <a:spcPts val="0"/>
              </a:spcAft>
              <a:buSzPts val="1800"/>
              <a:buChar char="●"/>
            </a:pPr>
            <a:r>
              <a:rPr lang="en"/>
              <a:t>smog: 5</a:t>
            </a:r>
            <a:endParaRPr/>
          </a:p>
          <a:p>
            <a:pPr marL="457200" lvl="0" indent="-342900" algn="l" rtl="0">
              <a:spcBef>
                <a:spcPts val="600"/>
              </a:spcBef>
              <a:spcAft>
                <a:spcPts val="0"/>
              </a:spcAft>
              <a:buSzPts val="1800"/>
              <a:buChar char="●"/>
            </a:pPr>
            <a:r>
              <a:rPr lang="en"/>
              <a:t>spit: 15</a:t>
            </a:r>
            <a:endParaRPr/>
          </a:p>
          <a:p>
            <a:pPr marL="457200" lvl="0" indent="-342900" algn="l" rtl="0">
              <a:spcBef>
                <a:spcPts val="600"/>
              </a:spcBef>
              <a:spcAft>
                <a:spcPts val="0"/>
              </a:spcAft>
              <a:buSzPts val="1800"/>
              <a:buChar char="●"/>
            </a:pPr>
            <a:r>
              <a:rPr lang="en"/>
              <a:t>spite: 20</a:t>
            </a:r>
            <a:endParaRPr/>
          </a:p>
          <a:p>
            <a:pPr marL="457200" lvl="0" indent="-342900" algn="l" rtl="0">
              <a:spcBef>
                <a:spcPts val="600"/>
              </a:spcBef>
              <a:spcAft>
                <a:spcPts val="0"/>
              </a:spcAft>
              <a:buSzPts val="1800"/>
              <a:buChar char="●"/>
            </a:pPr>
            <a:r>
              <a:rPr lang="en"/>
              <a:t>spy: 7 </a:t>
            </a:r>
            <a:br>
              <a:rPr lang="en"/>
            </a:br>
            <a:endParaRPr/>
          </a:p>
          <a:p>
            <a:pPr marL="0" lvl="0" indent="0" algn="l" rtl="0">
              <a:spcBef>
                <a:spcPts val="600"/>
              </a:spcBef>
              <a:spcAft>
                <a:spcPts val="0"/>
              </a:spcAft>
              <a:buNone/>
            </a:pPr>
            <a:r>
              <a:rPr lang="en"/>
              <a:t>If the user types “s”, we:</a:t>
            </a:r>
            <a:endParaRPr/>
          </a:p>
          <a:p>
            <a:pPr marL="457200" lvl="0" indent="-342900" algn="l" rtl="0">
              <a:spcBef>
                <a:spcPts val="600"/>
              </a:spcBef>
              <a:spcAft>
                <a:spcPts val="0"/>
              </a:spcAft>
              <a:buSzPts val="1800"/>
              <a:buChar char="●"/>
            </a:pPr>
            <a:r>
              <a:rPr lang="en"/>
              <a:t>Call </a:t>
            </a:r>
            <a:r>
              <a:rPr lang="en">
                <a:latin typeface="Consolas"/>
                <a:ea typeface="Consolas"/>
                <a:cs typeface="Consolas"/>
                <a:sym typeface="Consolas"/>
              </a:rPr>
              <a:t>keysWithPrefix("s")</a:t>
            </a:r>
            <a:r>
              <a:rPr lang="en"/>
              <a:t>.</a:t>
            </a:r>
            <a:endParaRPr/>
          </a:p>
          <a:p>
            <a:pPr marL="914400" lvl="1" indent="-342900" algn="l" rtl="0">
              <a:spcBef>
                <a:spcPts val="600"/>
              </a:spcBef>
              <a:spcAft>
                <a:spcPts val="0"/>
              </a:spcAft>
              <a:buSzPts val="1800"/>
              <a:buChar char="○"/>
            </a:pPr>
            <a:r>
              <a:rPr lang="en"/>
              <a:t>sad, smog, spit, spite, spy</a:t>
            </a:r>
            <a:endParaRPr/>
          </a:p>
          <a:p>
            <a:pPr marL="457200" lvl="0" indent="-342900" algn="l" rtl="0">
              <a:spcBef>
                <a:spcPts val="600"/>
              </a:spcBef>
              <a:spcAft>
                <a:spcPts val="0"/>
              </a:spcAft>
              <a:buSzPts val="1800"/>
              <a:buChar char="●"/>
            </a:pPr>
            <a:r>
              <a:rPr lang="en"/>
              <a:t>Return the three keys with highest value.</a:t>
            </a:r>
            <a:endParaRPr/>
          </a:p>
          <a:p>
            <a:pPr marL="914400" lvl="1" indent="-342900" algn="l" rtl="0">
              <a:spcBef>
                <a:spcPts val="600"/>
              </a:spcBef>
              <a:spcAft>
                <a:spcPts val="0"/>
              </a:spcAft>
              <a:buSzPts val="1800"/>
              <a:buChar char="○"/>
            </a:pPr>
            <a:r>
              <a:rPr lang="en"/>
              <a:t>spit, spite, sad</a:t>
            </a:r>
            <a:endParaRPr/>
          </a:p>
        </p:txBody>
      </p:sp>
      <p:cxnSp>
        <p:nvCxnSpPr>
          <p:cNvPr id="1834" name="Google Shape;1834;p75"/>
          <p:cNvCxnSpPr>
            <a:stCxn id="1835" idx="4"/>
            <a:endCxn id="1836" idx="0"/>
          </p:cNvCxnSpPr>
          <p:nvPr/>
        </p:nvCxnSpPr>
        <p:spPr>
          <a:xfrm>
            <a:off x="5499463" y="2921986"/>
            <a:ext cx="0" cy="278700"/>
          </a:xfrm>
          <a:prstGeom prst="straightConnector1">
            <a:avLst/>
          </a:prstGeom>
          <a:noFill/>
          <a:ln w="28575" cap="flat" cmpd="sng">
            <a:solidFill>
              <a:schemeClr val="dk2"/>
            </a:solidFill>
            <a:prstDash val="solid"/>
            <a:round/>
            <a:headEnd type="none" w="med" len="med"/>
            <a:tailEnd type="none" w="med" len="med"/>
          </a:ln>
        </p:spPr>
      </p:cxnSp>
      <p:sp>
        <p:nvSpPr>
          <p:cNvPr id="1837" name="Google Shape;1837;p75"/>
          <p:cNvSpPr/>
          <p:nvPr/>
        </p:nvSpPr>
        <p:spPr>
          <a:xfrm>
            <a:off x="6695042" y="12532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1838" name="Google Shape;1838;p75"/>
          <p:cNvSpPr/>
          <p:nvPr/>
        </p:nvSpPr>
        <p:spPr>
          <a:xfrm>
            <a:off x="7370588" y="1853796"/>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sp>
        <p:nvSpPr>
          <p:cNvPr id="1839" name="Google Shape;1839;p75"/>
          <p:cNvSpPr/>
          <p:nvPr/>
        </p:nvSpPr>
        <p:spPr>
          <a:xfrm>
            <a:off x="6760988" y="2489073"/>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840" name="Google Shape;1840;p75"/>
          <p:cNvSpPr/>
          <p:nvPr/>
        </p:nvSpPr>
        <p:spPr>
          <a:xfrm>
            <a:off x="7370588" y="249611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m</a:t>
            </a:r>
            <a:endParaRPr sz="1800">
              <a:latin typeface="Consolas"/>
              <a:ea typeface="Consolas"/>
              <a:cs typeface="Consolas"/>
              <a:sym typeface="Consolas"/>
            </a:endParaRPr>
          </a:p>
        </p:txBody>
      </p:sp>
      <p:sp>
        <p:nvSpPr>
          <p:cNvPr id="1841" name="Google Shape;1841;p75"/>
          <p:cNvSpPr/>
          <p:nvPr/>
        </p:nvSpPr>
        <p:spPr>
          <a:xfrm>
            <a:off x="6764753" y="3239177"/>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d</a:t>
            </a:r>
            <a:endParaRPr sz="1800">
              <a:latin typeface="Consolas"/>
              <a:ea typeface="Consolas"/>
              <a:cs typeface="Consolas"/>
              <a:sym typeface="Consolas"/>
            </a:endParaRPr>
          </a:p>
        </p:txBody>
      </p:sp>
      <p:sp>
        <p:nvSpPr>
          <p:cNvPr id="1842" name="Google Shape;1842;p75"/>
          <p:cNvSpPr/>
          <p:nvPr/>
        </p:nvSpPr>
        <p:spPr>
          <a:xfrm>
            <a:off x="7980188" y="2489077"/>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p</a:t>
            </a:r>
            <a:endParaRPr sz="1800">
              <a:latin typeface="Consolas"/>
              <a:ea typeface="Consolas"/>
              <a:cs typeface="Consolas"/>
              <a:sym typeface="Consolas"/>
            </a:endParaRPr>
          </a:p>
        </p:txBody>
      </p:sp>
      <p:sp>
        <p:nvSpPr>
          <p:cNvPr id="1843" name="Google Shape;1843;p75"/>
          <p:cNvSpPr/>
          <p:nvPr/>
        </p:nvSpPr>
        <p:spPr>
          <a:xfrm>
            <a:off x="7370588" y="3239177"/>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o</a:t>
            </a:r>
            <a:endParaRPr sz="1800">
              <a:latin typeface="Consolas"/>
              <a:ea typeface="Consolas"/>
              <a:cs typeface="Consolas"/>
              <a:sym typeface="Consolas"/>
            </a:endParaRPr>
          </a:p>
        </p:txBody>
      </p:sp>
      <p:sp>
        <p:nvSpPr>
          <p:cNvPr id="1844" name="Google Shape;1844;p75"/>
          <p:cNvSpPr/>
          <p:nvPr/>
        </p:nvSpPr>
        <p:spPr>
          <a:xfrm>
            <a:off x="5283013" y="1853811"/>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b</a:t>
            </a:r>
            <a:endParaRPr sz="1800">
              <a:latin typeface="Consolas"/>
              <a:ea typeface="Consolas"/>
              <a:cs typeface="Consolas"/>
              <a:sym typeface="Consolas"/>
            </a:endParaRPr>
          </a:p>
        </p:txBody>
      </p:sp>
      <p:sp>
        <p:nvSpPr>
          <p:cNvPr id="1835" name="Google Shape;1835;p75"/>
          <p:cNvSpPr/>
          <p:nvPr/>
        </p:nvSpPr>
        <p:spPr>
          <a:xfrm>
            <a:off x="5283013" y="248908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u</a:t>
            </a:r>
            <a:endParaRPr sz="1800">
              <a:latin typeface="Consolas"/>
              <a:ea typeface="Consolas"/>
              <a:cs typeface="Consolas"/>
              <a:sym typeface="Consolas"/>
            </a:endParaRPr>
          </a:p>
        </p:txBody>
      </p:sp>
      <p:sp>
        <p:nvSpPr>
          <p:cNvPr id="1836" name="Google Shape;1836;p75"/>
          <p:cNvSpPr/>
          <p:nvPr/>
        </p:nvSpPr>
        <p:spPr>
          <a:xfrm>
            <a:off x="5283013" y="3200561"/>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c</a:t>
            </a:r>
            <a:endParaRPr sz="1800">
              <a:latin typeface="Consolas"/>
              <a:ea typeface="Consolas"/>
              <a:cs typeface="Consolas"/>
              <a:sym typeface="Consolas"/>
            </a:endParaRPr>
          </a:p>
        </p:txBody>
      </p:sp>
      <p:cxnSp>
        <p:nvCxnSpPr>
          <p:cNvPr id="1845" name="Google Shape;1845;p75"/>
          <p:cNvCxnSpPr/>
          <p:nvPr/>
        </p:nvCxnSpPr>
        <p:spPr>
          <a:xfrm>
            <a:off x="7587038" y="3404852"/>
            <a:ext cx="0" cy="0"/>
          </a:xfrm>
          <a:prstGeom prst="straightConnector1">
            <a:avLst/>
          </a:prstGeom>
          <a:noFill/>
          <a:ln w="19050" cap="flat" cmpd="sng">
            <a:solidFill>
              <a:schemeClr val="dk2"/>
            </a:solidFill>
            <a:prstDash val="solid"/>
            <a:round/>
            <a:headEnd type="none" w="med" len="med"/>
            <a:tailEnd type="none" w="med" len="med"/>
          </a:ln>
        </p:spPr>
      </p:cxnSp>
      <p:cxnSp>
        <p:nvCxnSpPr>
          <p:cNvPr id="1846" name="Google Shape;1846;p75"/>
          <p:cNvCxnSpPr>
            <a:stCxn id="1837" idx="5"/>
            <a:endCxn id="1838" idx="0"/>
          </p:cNvCxnSpPr>
          <p:nvPr/>
        </p:nvCxnSpPr>
        <p:spPr>
          <a:xfrm>
            <a:off x="7064545" y="1622778"/>
            <a:ext cx="522600" cy="231000"/>
          </a:xfrm>
          <a:prstGeom prst="straightConnector1">
            <a:avLst/>
          </a:prstGeom>
          <a:noFill/>
          <a:ln w="28575" cap="flat" cmpd="sng">
            <a:solidFill>
              <a:schemeClr val="dk2"/>
            </a:solidFill>
            <a:prstDash val="solid"/>
            <a:round/>
            <a:headEnd type="none" w="med" len="med"/>
            <a:tailEnd type="none" w="med" len="med"/>
          </a:ln>
        </p:spPr>
      </p:cxnSp>
      <p:cxnSp>
        <p:nvCxnSpPr>
          <p:cNvPr id="1847" name="Google Shape;1847;p75"/>
          <p:cNvCxnSpPr>
            <a:stCxn id="1838" idx="3"/>
            <a:endCxn id="1839" idx="0"/>
          </p:cNvCxnSpPr>
          <p:nvPr/>
        </p:nvCxnSpPr>
        <p:spPr>
          <a:xfrm flipH="1">
            <a:off x="6977384" y="2223299"/>
            <a:ext cx="456600" cy="265800"/>
          </a:xfrm>
          <a:prstGeom prst="straightConnector1">
            <a:avLst/>
          </a:prstGeom>
          <a:noFill/>
          <a:ln w="28575" cap="flat" cmpd="sng">
            <a:solidFill>
              <a:schemeClr val="dk2"/>
            </a:solidFill>
            <a:prstDash val="solid"/>
            <a:round/>
            <a:headEnd type="none" w="med" len="med"/>
            <a:tailEnd type="none" w="med" len="med"/>
          </a:ln>
        </p:spPr>
      </p:cxnSp>
      <p:cxnSp>
        <p:nvCxnSpPr>
          <p:cNvPr id="1848" name="Google Shape;1848;p75"/>
          <p:cNvCxnSpPr>
            <a:stCxn id="1838" idx="4"/>
            <a:endCxn id="1840" idx="0"/>
          </p:cNvCxnSpPr>
          <p:nvPr/>
        </p:nvCxnSpPr>
        <p:spPr>
          <a:xfrm>
            <a:off x="7587038" y="2286696"/>
            <a:ext cx="0" cy="209400"/>
          </a:xfrm>
          <a:prstGeom prst="straightConnector1">
            <a:avLst/>
          </a:prstGeom>
          <a:noFill/>
          <a:ln w="28575" cap="flat" cmpd="sng">
            <a:solidFill>
              <a:schemeClr val="dk2"/>
            </a:solidFill>
            <a:prstDash val="solid"/>
            <a:round/>
            <a:headEnd type="none" w="med" len="med"/>
            <a:tailEnd type="none" w="med" len="med"/>
          </a:ln>
        </p:spPr>
      </p:cxnSp>
      <p:cxnSp>
        <p:nvCxnSpPr>
          <p:cNvPr id="1849" name="Google Shape;1849;p75"/>
          <p:cNvCxnSpPr>
            <a:stCxn id="1839" idx="4"/>
            <a:endCxn id="1841" idx="0"/>
          </p:cNvCxnSpPr>
          <p:nvPr/>
        </p:nvCxnSpPr>
        <p:spPr>
          <a:xfrm>
            <a:off x="6977438" y="2921973"/>
            <a:ext cx="3900" cy="317100"/>
          </a:xfrm>
          <a:prstGeom prst="straightConnector1">
            <a:avLst/>
          </a:prstGeom>
          <a:noFill/>
          <a:ln w="28575" cap="flat" cmpd="sng">
            <a:solidFill>
              <a:schemeClr val="dk2"/>
            </a:solidFill>
            <a:prstDash val="solid"/>
            <a:round/>
            <a:headEnd type="none" w="med" len="med"/>
            <a:tailEnd type="none" w="med" len="med"/>
          </a:ln>
        </p:spPr>
      </p:cxnSp>
      <p:cxnSp>
        <p:nvCxnSpPr>
          <p:cNvPr id="1850" name="Google Shape;1850;p75"/>
          <p:cNvCxnSpPr>
            <a:stCxn id="1838" idx="5"/>
            <a:endCxn id="1842" idx="0"/>
          </p:cNvCxnSpPr>
          <p:nvPr/>
        </p:nvCxnSpPr>
        <p:spPr>
          <a:xfrm>
            <a:off x="7740091" y="2223299"/>
            <a:ext cx="456600" cy="265800"/>
          </a:xfrm>
          <a:prstGeom prst="straightConnector1">
            <a:avLst/>
          </a:prstGeom>
          <a:noFill/>
          <a:ln w="28575" cap="flat" cmpd="sng">
            <a:solidFill>
              <a:schemeClr val="dk2"/>
            </a:solidFill>
            <a:prstDash val="solid"/>
            <a:round/>
            <a:headEnd type="none" w="med" len="med"/>
            <a:tailEnd type="none" w="med" len="med"/>
          </a:ln>
        </p:spPr>
      </p:cxnSp>
      <p:cxnSp>
        <p:nvCxnSpPr>
          <p:cNvPr id="1851" name="Google Shape;1851;p75"/>
          <p:cNvCxnSpPr>
            <a:stCxn id="1840" idx="4"/>
            <a:endCxn id="1843" idx="0"/>
          </p:cNvCxnSpPr>
          <p:nvPr/>
        </p:nvCxnSpPr>
        <p:spPr>
          <a:xfrm>
            <a:off x="7587038" y="2929016"/>
            <a:ext cx="0" cy="310200"/>
          </a:xfrm>
          <a:prstGeom prst="straightConnector1">
            <a:avLst/>
          </a:prstGeom>
          <a:noFill/>
          <a:ln w="28575" cap="flat" cmpd="sng">
            <a:solidFill>
              <a:schemeClr val="dk2"/>
            </a:solidFill>
            <a:prstDash val="solid"/>
            <a:round/>
            <a:headEnd type="none" w="med" len="med"/>
            <a:tailEnd type="none" w="med" len="med"/>
          </a:ln>
        </p:spPr>
      </p:cxnSp>
      <p:cxnSp>
        <p:nvCxnSpPr>
          <p:cNvPr id="1852" name="Google Shape;1852;p75"/>
          <p:cNvCxnSpPr>
            <a:stCxn id="1837" idx="3"/>
            <a:endCxn id="1844" idx="0"/>
          </p:cNvCxnSpPr>
          <p:nvPr/>
        </p:nvCxnSpPr>
        <p:spPr>
          <a:xfrm flipH="1">
            <a:off x="5499339" y="1622778"/>
            <a:ext cx="1259100" cy="231000"/>
          </a:xfrm>
          <a:prstGeom prst="straightConnector1">
            <a:avLst/>
          </a:prstGeom>
          <a:noFill/>
          <a:ln w="28575" cap="flat" cmpd="sng">
            <a:solidFill>
              <a:schemeClr val="dk2"/>
            </a:solidFill>
            <a:prstDash val="solid"/>
            <a:round/>
            <a:headEnd type="none" w="med" len="med"/>
            <a:tailEnd type="none" w="med" len="med"/>
          </a:ln>
        </p:spPr>
      </p:cxnSp>
      <p:cxnSp>
        <p:nvCxnSpPr>
          <p:cNvPr id="1853" name="Google Shape;1853;p75"/>
          <p:cNvCxnSpPr>
            <a:endCxn id="1835" idx="0"/>
          </p:cNvCxnSpPr>
          <p:nvPr/>
        </p:nvCxnSpPr>
        <p:spPr>
          <a:xfrm>
            <a:off x="5499463" y="2286586"/>
            <a:ext cx="0" cy="202500"/>
          </a:xfrm>
          <a:prstGeom prst="straightConnector1">
            <a:avLst/>
          </a:prstGeom>
          <a:noFill/>
          <a:ln w="28575" cap="flat" cmpd="sng">
            <a:solidFill>
              <a:schemeClr val="dk2"/>
            </a:solidFill>
            <a:prstDash val="solid"/>
            <a:round/>
            <a:headEnd type="none" w="med" len="med"/>
            <a:tailEnd type="none" w="med" len="med"/>
          </a:ln>
        </p:spPr>
      </p:cxnSp>
      <p:sp>
        <p:nvSpPr>
          <p:cNvPr id="1854" name="Google Shape;1854;p75"/>
          <p:cNvSpPr/>
          <p:nvPr/>
        </p:nvSpPr>
        <p:spPr>
          <a:xfrm>
            <a:off x="5283013" y="3912036"/>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k</a:t>
            </a:r>
            <a:endParaRPr sz="1800">
              <a:latin typeface="Consolas"/>
              <a:ea typeface="Consolas"/>
              <a:cs typeface="Consolas"/>
              <a:sym typeface="Consolas"/>
            </a:endParaRPr>
          </a:p>
        </p:txBody>
      </p:sp>
      <p:cxnSp>
        <p:nvCxnSpPr>
          <p:cNvPr id="1855" name="Google Shape;1855;p75"/>
          <p:cNvCxnSpPr>
            <a:stCxn id="1836" idx="4"/>
            <a:endCxn id="1854" idx="0"/>
          </p:cNvCxnSpPr>
          <p:nvPr/>
        </p:nvCxnSpPr>
        <p:spPr>
          <a:xfrm>
            <a:off x="5499463" y="3633461"/>
            <a:ext cx="0" cy="278700"/>
          </a:xfrm>
          <a:prstGeom prst="straightConnector1">
            <a:avLst/>
          </a:prstGeom>
          <a:noFill/>
          <a:ln w="28575" cap="flat" cmpd="sng">
            <a:solidFill>
              <a:schemeClr val="dk2"/>
            </a:solidFill>
            <a:prstDash val="solid"/>
            <a:round/>
            <a:headEnd type="none" w="med" len="med"/>
            <a:tailEnd type="none" w="med" len="med"/>
          </a:ln>
        </p:spPr>
      </p:cxnSp>
      <p:sp>
        <p:nvSpPr>
          <p:cNvPr id="1856" name="Google Shape;1856;p75"/>
          <p:cNvSpPr/>
          <p:nvPr/>
        </p:nvSpPr>
        <p:spPr>
          <a:xfrm>
            <a:off x="7370588" y="3890398"/>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g</a:t>
            </a:r>
            <a:endParaRPr sz="1800">
              <a:latin typeface="Consolas"/>
              <a:ea typeface="Consolas"/>
              <a:cs typeface="Consolas"/>
              <a:sym typeface="Consolas"/>
            </a:endParaRPr>
          </a:p>
        </p:txBody>
      </p:sp>
      <p:cxnSp>
        <p:nvCxnSpPr>
          <p:cNvPr id="1857" name="Google Shape;1857;p75"/>
          <p:cNvCxnSpPr>
            <a:stCxn id="1843" idx="4"/>
            <a:endCxn id="1856" idx="0"/>
          </p:cNvCxnSpPr>
          <p:nvPr/>
        </p:nvCxnSpPr>
        <p:spPr>
          <a:xfrm>
            <a:off x="7587038" y="3672077"/>
            <a:ext cx="0" cy="218400"/>
          </a:xfrm>
          <a:prstGeom prst="straightConnector1">
            <a:avLst/>
          </a:prstGeom>
          <a:noFill/>
          <a:ln w="28575" cap="flat" cmpd="sng">
            <a:solidFill>
              <a:schemeClr val="dk2"/>
            </a:solidFill>
            <a:prstDash val="solid"/>
            <a:round/>
            <a:headEnd type="none" w="med" len="med"/>
            <a:tailEnd type="none" w="med" len="med"/>
          </a:ln>
        </p:spPr>
      </p:cxnSp>
      <p:sp>
        <p:nvSpPr>
          <p:cNvPr id="1858" name="Google Shape;1858;p75"/>
          <p:cNvSpPr/>
          <p:nvPr/>
        </p:nvSpPr>
        <p:spPr>
          <a:xfrm>
            <a:off x="8663688" y="3239177"/>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y</a:t>
            </a:r>
            <a:endParaRPr sz="1800">
              <a:latin typeface="Consolas"/>
              <a:ea typeface="Consolas"/>
              <a:cs typeface="Consolas"/>
              <a:sym typeface="Consolas"/>
            </a:endParaRPr>
          </a:p>
        </p:txBody>
      </p:sp>
      <p:sp>
        <p:nvSpPr>
          <p:cNvPr id="1859" name="Google Shape;1859;p75"/>
          <p:cNvSpPr/>
          <p:nvPr/>
        </p:nvSpPr>
        <p:spPr>
          <a:xfrm>
            <a:off x="7982868" y="3239173"/>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i</a:t>
            </a:r>
            <a:endParaRPr sz="1800">
              <a:latin typeface="Consolas"/>
              <a:ea typeface="Consolas"/>
              <a:cs typeface="Consolas"/>
              <a:sym typeface="Consolas"/>
            </a:endParaRPr>
          </a:p>
        </p:txBody>
      </p:sp>
      <p:sp>
        <p:nvSpPr>
          <p:cNvPr id="1860" name="Google Shape;1860;p75"/>
          <p:cNvSpPr/>
          <p:nvPr/>
        </p:nvSpPr>
        <p:spPr>
          <a:xfrm>
            <a:off x="7989184" y="3890398"/>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t</a:t>
            </a:r>
            <a:endParaRPr sz="1800">
              <a:latin typeface="Consolas"/>
              <a:ea typeface="Consolas"/>
              <a:cs typeface="Consolas"/>
              <a:sym typeface="Consolas"/>
            </a:endParaRPr>
          </a:p>
        </p:txBody>
      </p:sp>
      <p:sp>
        <p:nvSpPr>
          <p:cNvPr id="1861" name="Google Shape;1861;p75"/>
          <p:cNvSpPr/>
          <p:nvPr/>
        </p:nvSpPr>
        <p:spPr>
          <a:xfrm>
            <a:off x="7989184" y="4481998"/>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e</a:t>
            </a:r>
            <a:endParaRPr sz="1800">
              <a:latin typeface="Consolas"/>
              <a:ea typeface="Consolas"/>
              <a:cs typeface="Consolas"/>
              <a:sym typeface="Consolas"/>
            </a:endParaRPr>
          </a:p>
        </p:txBody>
      </p:sp>
      <p:cxnSp>
        <p:nvCxnSpPr>
          <p:cNvPr id="1862" name="Google Shape;1862;p75"/>
          <p:cNvCxnSpPr>
            <a:stCxn id="1842" idx="5"/>
            <a:endCxn id="1858" idx="0"/>
          </p:cNvCxnSpPr>
          <p:nvPr/>
        </p:nvCxnSpPr>
        <p:spPr>
          <a:xfrm>
            <a:off x="8349691" y="2858580"/>
            <a:ext cx="530400" cy="380700"/>
          </a:xfrm>
          <a:prstGeom prst="straightConnector1">
            <a:avLst/>
          </a:prstGeom>
          <a:noFill/>
          <a:ln w="28575" cap="flat" cmpd="sng">
            <a:solidFill>
              <a:schemeClr val="dk2"/>
            </a:solidFill>
            <a:prstDash val="solid"/>
            <a:round/>
            <a:headEnd type="none" w="med" len="med"/>
            <a:tailEnd type="none" w="med" len="med"/>
          </a:ln>
        </p:spPr>
      </p:cxnSp>
      <p:cxnSp>
        <p:nvCxnSpPr>
          <p:cNvPr id="1863" name="Google Shape;1863;p75"/>
          <p:cNvCxnSpPr>
            <a:stCxn id="1842" idx="4"/>
            <a:endCxn id="1859" idx="0"/>
          </p:cNvCxnSpPr>
          <p:nvPr/>
        </p:nvCxnSpPr>
        <p:spPr>
          <a:xfrm>
            <a:off x="8196638" y="2921977"/>
            <a:ext cx="2700" cy="317100"/>
          </a:xfrm>
          <a:prstGeom prst="straightConnector1">
            <a:avLst/>
          </a:prstGeom>
          <a:noFill/>
          <a:ln w="28575" cap="flat" cmpd="sng">
            <a:solidFill>
              <a:schemeClr val="dk2"/>
            </a:solidFill>
            <a:prstDash val="solid"/>
            <a:round/>
            <a:headEnd type="none" w="med" len="med"/>
            <a:tailEnd type="none" w="med" len="med"/>
          </a:ln>
        </p:spPr>
      </p:cxnSp>
      <p:cxnSp>
        <p:nvCxnSpPr>
          <p:cNvPr id="1864" name="Google Shape;1864;p75"/>
          <p:cNvCxnSpPr>
            <a:stCxn id="1859" idx="4"/>
            <a:endCxn id="1860" idx="0"/>
          </p:cNvCxnSpPr>
          <p:nvPr/>
        </p:nvCxnSpPr>
        <p:spPr>
          <a:xfrm>
            <a:off x="8199318" y="3672073"/>
            <a:ext cx="6300" cy="218400"/>
          </a:xfrm>
          <a:prstGeom prst="straightConnector1">
            <a:avLst/>
          </a:prstGeom>
          <a:noFill/>
          <a:ln w="28575" cap="flat" cmpd="sng">
            <a:solidFill>
              <a:schemeClr val="dk2"/>
            </a:solidFill>
            <a:prstDash val="solid"/>
            <a:round/>
            <a:headEnd type="none" w="med" len="med"/>
            <a:tailEnd type="none" w="med" len="med"/>
          </a:ln>
        </p:spPr>
      </p:cxnSp>
      <p:cxnSp>
        <p:nvCxnSpPr>
          <p:cNvPr id="1865" name="Google Shape;1865;p75"/>
          <p:cNvCxnSpPr>
            <a:stCxn id="1860" idx="4"/>
            <a:endCxn id="1861" idx="0"/>
          </p:cNvCxnSpPr>
          <p:nvPr/>
        </p:nvCxnSpPr>
        <p:spPr>
          <a:xfrm>
            <a:off x="8205634" y="4323298"/>
            <a:ext cx="0" cy="158700"/>
          </a:xfrm>
          <a:prstGeom prst="straightConnector1">
            <a:avLst/>
          </a:prstGeom>
          <a:noFill/>
          <a:ln w="28575" cap="flat" cmpd="sng">
            <a:solidFill>
              <a:schemeClr val="dk2"/>
            </a:solidFill>
            <a:prstDash val="solid"/>
            <a:round/>
            <a:headEnd type="none" w="med" len="med"/>
            <a:tailEnd type="none" w="med" len="med"/>
          </a:ln>
        </p:spPr>
      </p:cxnSp>
      <p:sp>
        <p:nvSpPr>
          <p:cNvPr id="1866" name="Google Shape;1866;p75"/>
          <p:cNvSpPr txBox="1"/>
          <p:nvPr/>
        </p:nvSpPr>
        <p:spPr>
          <a:xfrm>
            <a:off x="7176125" y="4141138"/>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70"/>
        <p:cNvGrpSpPr/>
        <p:nvPr/>
      </p:nvGrpSpPr>
      <p:grpSpPr>
        <a:xfrm>
          <a:off x="0" y="0"/>
          <a:ext cx="0" cy="0"/>
          <a:chOff x="0" y="0"/>
          <a:chExt cx="0" cy="0"/>
        </a:xfrm>
      </p:grpSpPr>
      <p:sp>
        <p:nvSpPr>
          <p:cNvPr id="1871" name="Google Shape;1871;p7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Autocomplete Problem</a:t>
            </a:r>
            <a:endParaRPr/>
          </a:p>
        </p:txBody>
      </p:sp>
      <p:sp>
        <p:nvSpPr>
          <p:cNvPr id="1872" name="Google Shape;1872;p76"/>
          <p:cNvSpPr txBox="1">
            <a:spLocks noGrp="1"/>
          </p:cNvSpPr>
          <p:nvPr>
            <p:ph type="body" idx="1"/>
          </p:nvPr>
        </p:nvSpPr>
        <p:spPr>
          <a:xfrm>
            <a:off x="90600" y="409750"/>
            <a:ext cx="8828100" cy="4255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One way to do this is to create a Trie based Dictionary that maps strings to values.</a:t>
            </a:r>
            <a:endParaRPr/>
          </a:p>
          <a:p>
            <a:pPr marL="457200" lvl="0" indent="-342900" algn="l" rtl="0">
              <a:spcBef>
                <a:spcPts val="600"/>
              </a:spcBef>
              <a:spcAft>
                <a:spcPts val="0"/>
              </a:spcAft>
              <a:buSzPts val="1800"/>
              <a:buChar char="●"/>
            </a:pPr>
            <a:r>
              <a:rPr lang="en"/>
              <a:t>When a user types in a string hello, we:</a:t>
            </a:r>
            <a:endParaRPr/>
          </a:p>
          <a:p>
            <a:pPr marL="914400" lvl="1" indent="-342900" algn="l" rtl="0">
              <a:spcBef>
                <a:spcPts val="600"/>
              </a:spcBef>
              <a:spcAft>
                <a:spcPts val="0"/>
              </a:spcAft>
              <a:buSzPts val="1800"/>
              <a:buChar char="○"/>
            </a:pPr>
            <a:r>
              <a:rPr lang="en"/>
              <a:t>Call </a:t>
            </a:r>
            <a:r>
              <a:rPr lang="en">
                <a:latin typeface="Consolas"/>
                <a:ea typeface="Consolas"/>
                <a:cs typeface="Consolas"/>
                <a:sym typeface="Consolas"/>
              </a:rPr>
              <a:t>keysWithPrefix("hello")</a:t>
            </a:r>
            <a:r>
              <a:rPr lang="en"/>
              <a:t>.</a:t>
            </a:r>
            <a:endParaRPr>
              <a:latin typeface="Consolas"/>
              <a:ea typeface="Consolas"/>
              <a:cs typeface="Consolas"/>
              <a:sym typeface="Consolas"/>
            </a:endParaRPr>
          </a:p>
          <a:p>
            <a:pPr marL="914400" lvl="1" indent="-342900" algn="l" rtl="0">
              <a:spcBef>
                <a:spcPts val="600"/>
              </a:spcBef>
              <a:spcAft>
                <a:spcPts val="0"/>
              </a:spcAft>
              <a:buSzPts val="1800"/>
              <a:buFont typeface="Consolas"/>
              <a:buChar char="○"/>
            </a:pPr>
            <a:r>
              <a:rPr lang="en"/>
              <a:t>Return the ten strings with the highest value.</a:t>
            </a:r>
            <a:endParaRPr>
              <a:latin typeface="Consolas"/>
              <a:ea typeface="Consolas"/>
              <a:cs typeface="Consolas"/>
              <a:sym typeface="Consolas"/>
            </a:endParaRPr>
          </a:p>
          <a:p>
            <a:pPr marL="914400" lvl="0" indent="0" algn="l" rtl="0">
              <a:spcBef>
                <a:spcPts val="600"/>
              </a:spcBef>
              <a:spcAft>
                <a:spcPts val="0"/>
              </a:spcAft>
              <a:buNone/>
            </a:pPr>
            <a:endParaRPr>
              <a:latin typeface="Consolas"/>
              <a:ea typeface="Consolas"/>
              <a:cs typeface="Consolas"/>
              <a:sym typeface="Consolas"/>
            </a:endParaRPr>
          </a:p>
          <a:p>
            <a:pPr marL="0" lvl="0" indent="0" algn="l" rtl="0">
              <a:spcBef>
                <a:spcPts val="600"/>
              </a:spcBef>
              <a:spcAft>
                <a:spcPts val="0"/>
              </a:spcAft>
              <a:buClr>
                <a:schemeClr val="dk1"/>
              </a:buClr>
              <a:buSzPts val="1100"/>
              <a:buFont typeface="Arial"/>
              <a:buNone/>
            </a:pPr>
            <a:r>
              <a:rPr lang="en"/>
              <a:t>The approach above has one major flaw. If we enter a short string, the number of keys with the appropriate prefix will be too big.</a:t>
            </a:r>
            <a:endParaRPr/>
          </a:p>
          <a:p>
            <a:pPr marL="457200" lvl="0" indent="-342900" algn="l" rtl="0">
              <a:spcBef>
                <a:spcPts val="600"/>
              </a:spcBef>
              <a:spcAft>
                <a:spcPts val="0"/>
              </a:spcAft>
              <a:buSzPts val="1800"/>
              <a:buChar char="●"/>
            </a:pPr>
            <a:r>
              <a:rPr lang="en"/>
              <a:t>We are collecting billions of results only to keep 10!</a:t>
            </a:r>
            <a:endParaRPr/>
          </a:p>
          <a:p>
            <a:pPr marL="457200" lvl="0" indent="-342900" algn="l" rtl="0">
              <a:spcBef>
                <a:spcPts val="600"/>
              </a:spcBef>
              <a:spcAft>
                <a:spcPts val="0"/>
              </a:spcAft>
              <a:buSzPts val="1800"/>
              <a:buChar char="●"/>
            </a:pPr>
            <a:r>
              <a:rPr lang="en"/>
              <a:t>This is extremely inefficient.</a:t>
            </a:r>
            <a:endParaRPr/>
          </a:p>
        </p:txBody>
      </p:sp>
      <p:pic>
        <p:nvPicPr>
          <p:cNvPr id="1873" name="Google Shape;1873;p76"/>
          <p:cNvPicPr preferRelativeResize="0"/>
          <p:nvPr/>
        </p:nvPicPr>
        <p:blipFill>
          <a:blip r:embed="rId3">
            <a:alphaModFix/>
          </a:blip>
          <a:stretch>
            <a:fillRect/>
          </a:stretch>
        </p:blipFill>
        <p:spPr>
          <a:xfrm>
            <a:off x="6220948" y="2827700"/>
            <a:ext cx="2561000" cy="219022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77"/>
        <p:cNvGrpSpPr/>
        <p:nvPr/>
      </p:nvGrpSpPr>
      <p:grpSpPr>
        <a:xfrm>
          <a:off x="0" y="0"/>
          <a:ext cx="0" cy="0"/>
          <a:chOff x="0" y="0"/>
          <a:chExt cx="0" cy="0"/>
        </a:xfrm>
      </p:grpSpPr>
      <p:sp>
        <p:nvSpPr>
          <p:cNvPr id="1878" name="Google Shape;1878;p7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More Efficient Autocomplete</a:t>
            </a:r>
            <a:endParaRPr/>
          </a:p>
        </p:txBody>
      </p:sp>
      <p:sp>
        <p:nvSpPr>
          <p:cNvPr id="1879" name="Google Shape;1879;p77"/>
          <p:cNvSpPr txBox="1">
            <a:spLocks noGrp="1"/>
          </p:cNvSpPr>
          <p:nvPr>
            <p:ph type="body" idx="1"/>
          </p:nvPr>
        </p:nvSpPr>
        <p:spPr>
          <a:xfrm>
            <a:off x="319200" y="556500"/>
            <a:ext cx="8443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p:txBody>
      </p:sp>
      <p:sp>
        <p:nvSpPr>
          <p:cNvPr id="1880" name="Google Shape;1880;p77"/>
          <p:cNvSpPr txBox="1">
            <a:spLocks noGrp="1"/>
          </p:cNvSpPr>
          <p:nvPr>
            <p:ph type="body" idx="1"/>
          </p:nvPr>
        </p:nvSpPr>
        <p:spPr>
          <a:xfrm>
            <a:off x="90600" y="409750"/>
            <a:ext cx="3368400" cy="4255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One way to address this issue: </a:t>
            </a:r>
            <a:endParaRPr/>
          </a:p>
          <a:p>
            <a:pPr marL="457200" lvl="0" indent="-342900" algn="l" rtl="0">
              <a:spcBef>
                <a:spcPts val="600"/>
              </a:spcBef>
              <a:spcAft>
                <a:spcPts val="0"/>
              </a:spcAft>
              <a:buSzPts val="1800"/>
              <a:buChar char="●"/>
            </a:pPr>
            <a:r>
              <a:rPr lang="en"/>
              <a:t>Each node stores its own value, as well as the value of its best substring.</a:t>
            </a:r>
            <a:endParaRPr/>
          </a:p>
        </p:txBody>
      </p:sp>
      <p:cxnSp>
        <p:nvCxnSpPr>
          <p:cNvPr id="1881" name="Google Shape;1881;p77"/>
          <p:cNvCxnSpPr>
            <a:stCxn id="1882" idx="4"/>
            <a:endCxn id="1883" idx="0"/>
          </p:cNvCxnSpPr>
          <p:nvPr/>
        </p:nvCxnSpPr>
        <p:spPr>
          <a:xfrm>
            <a:off x="4508863" y="2693386"/>
            <a:ext cx="0" cy="278700"/>
          </a:xfrm>
          <a:prstGeom prst="straightConnector1">
            <a:avLst/>
          </a:prstGeom>
          <a:noFill/>
          <a:ln w="28575" cap="flat" cmpd="sng">
            <a:solidFill>
              <a:schemeClr val="dk2"/>
            </a:solidFill>
            <a:prstDash val="solid"/>
            <a:round/>
            <a:headEnd type="none" w="med" len="med"/>
            <a:tailEnd type="none" w="med" len="med"/>
          </a:ln>
        </p:spPr>
      </p:cxnSp>
      <p:sp>
        <p:nvSpPr>
          <p:cNvPr id="1884" name="Google Shape;1884;p77"/>
          <p:cNvSpPr/>
          <p:nvPr/>
        </p:nvSpPr>
        <p:spPr>
          <a:xfrm>
            <a:off x="6390242" y="10246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1885" name="Google Shape;1885;p77"/>
          <p:cNvSpPr/>
          <p:nvPr/>
        </p:nvSpPr>
        <p:spPr>
          <a:xfrm>
            <a:off x="7065788" y="162519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sp>
        <p:nvSpPr>
          <p:cNvPr id="1886" name="Google Shape;1886;p77"/>
          <p:cNvSpPr/>
          <p:nvPr/>
        </p:nvSpPr>
        <p:spPr>
          <a:xfrm>
            <a:off x="5389388" y="2260473"/>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887" name="Google Shape;1887;p77"/>
          <p:cNvSpPr/>
          <p:nvPr/>
        </p:nvSpPr>
        <p:spPr>
          <a:xfrm>
            <a:off x="6684788" y="226751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m</a:t>
            </a:r>
            <a:endParaRPr sz="1800">
              <a:latin typeface="Consolas"/>
              <a:ea typeface="Consolas"/>
              <a:cs typeface="Consolas"/>
              <a:sym typeface="Consolas"/>
            </a:endParaRPr>
          </a:p>
        </p:txBody>
      </p:sp>
      <p:sp>
        <p:nvSpPr>
          <p:cNvPr id="1888" name="Google Shape;1888;p77"/>
          <p:cNvSpPr/>
          <p:nvPr/>
        </p:nvSpPr>
        <p:spPr>
          <a:xfrm>
            <a:off x="5393153" y="3010577"/>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d</a:t>
            </a:r>
            <a:endParaRPr sz="1800">
              <a:latin typeface="Consolas"/>
              <a:ea typeface="Consolas"/>
              <a:cs typeface="Consolas"/>
              <a:sym typeface="Consolas"/>
            </a:endParaRPr>
          </a:p>
        </p:txBody>
      </p:sp>
      <p:sp>
        <p:nvSpPr>
          <p:cNvPr id="1889" name="Google Shape;1889;p77"/>
          <p:cNvSpPr/>
          <p:nvPr/>
        </p:nvSpPr>
        <p:spPr>
          <a:xfrm>
            <a:off x="7675388" y="2260477"/>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p</a:t>
            </a:r>
            <a:endParaRPr sz="1800">
              <a:latin typeface="Consolas"/>
              <a:ea typeface="Consolas"/>
              <a:cs typeface="Consolas"/>
              <a:sym typeface="Consolas"/>
            </a:endParaRPr>
          </a:p>
        </p:txBody>
      </p:sp>
      <p:sp>
        <p:nvSpPr>
          <p:cNvPr id="1890" name="Google Shape;1890;p77"/>
          <p:cNvSpPr/>
          <p:nvPr/>
        </p:nvSpPr>
        <p:spPr>
          <a:xfrm>
            <a:off x="6684788" y="3010577"/>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o</a:t>
            </a:r>
            <a:endParaRPr sz="1800">
              <a:latin typeface="Consolas"/>
              <a:ea typeface="Consolas"/>
              <a:cs typeface="Consolas"/>
              <a:sym typeface="Consolas"/>
            </a:endParaRPr>
          </a:p>
        </p:txBody>
      </p:sp>
      <p:sp>
        <p:nvSpPr>
          <p:cNvPr id="1891" name="Google Shape;1891;p77"/>
          <p:cNvSpPr/>
          <p:nvPr/>
        </p:nvSpPr>
        <p:spPr>
          <a:xfrm>
            <a:off x="4292413" y="1625211"/>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b</a:t>
            </a:r>
            <a:endParaRPr sz="1800">
              <a:latin typeface="Consolas"/>
              <a:ea typeface="Consolas"/>
              <a:cs typeface="Consolas"/>
              <a:sym typeface="Consolas"/>
            </a:endParaRPr>
          </a:p>
        </p:txBody>
      </p:sp>
      <p:sp>
        <p:nvSpPr>
          <p:cNvPr id="1882" name="Google Shape;1882;p77"/>
          <p:cNvSpPr/>
          <p:nvPr/>
        </p:nvSpPr>
        <p:spPr>
          <a:xfrm>
            <a:off x="4292413" y="226048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u</a:t>
            </a:r>
            <a:endParaRPr sz="1800">
              <a:latin typeface="Consolas"/>
              <a:ea typeface="Consolas"/>
              <a:cs typeface="Consolas"/>
              <a:sym typeface="Consolas"/>
            </a:endParaRPr>
          </a:p>
        </p:txBody>
      </p:sp>
      <p:sp>
        <p:nvSpPr>
          <p:cNvPr id="1883" name="Google Shape;1883;p77"/>
          <p:cNvSpPr/>
          <p:nvPr/>
        </p:nvSpPr>
        <p:spPr>
          <a:xfrm>
            <a:off x="4292413" y="2971961"/>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c</a:t>
            </a:r>
            <a:endParaRPr sz="1800">
              <a:latin typeface="Consolas"/>
              <a:ea typeface="Consolas"/>
              <a:cs typeface="Consolas"/>
              <a:sym typeface="Consolas"/>
            </a:endParaRPr>
          </a:p>
        </p:txBody>
      </p:sp>
      <p:cxnSp>
        <p:nvCxnSpPr>
          <p:cNvPr id="1892" name="Google Shape;1892;p77"/>
          <p:cNvCxnSpPr/>
          <p:nvPr/>
        </p:nvCxnSpPr>
        <p:spPr>
          <a:xfrm>
            <a:off x="6901238" y="3176252"/>
            <a:ext cx="0" cy="0"/>
          </a:xfrm>
          <a:prstGeom prst="straightConnector1">
            <a:avLst/>
          </a:prstGeom>
          <a:noFill/>
          <a:ln w="19050" cap="flat" cmpd="sng">
            <a:solidFill>
              <a:schemeClr val="dk2"/>
            </a:solidFill>
            <a:prstDash val="solid"/>
            <a:round/>
            <a:headEnd type="none" w="med" len="med"/>
            <a:tailEnd type="none" w="med" len="med"/>
          </a:ln>
        </p:spPr>
      </p:cxnSp>
      <p:cxnSp>
        <p:nvCxnSpPr>
          <p:cNvPr id="1893" name="Google Shape;1893;p77"/>
          <p:cNvCxnSpPr>
            <a:stCxn id="1884" idx="5"/>
            <a:endCxn id="1885" idx="0"/>
          </p:cNvCxnSpPr>
          <p:nvPr/>
        </p:nvCxnSpPr>
        <p:spPr>
          <a:xfrm>
            <a:off x="6759745" y="1394178"/>
            <a:ext cx="522600" cy="231000"/>
          </a:xfrm>
          <a:prstGeom prst="straightConnector1">
            <a:avLst/>
          </a:prstGeom>
          <a:noFill/>
          <a:ln w="28575" cap="flat" cmpd="sng">
            <a:solidFill>
              <a:schemeClr val="dk2"/>
            </a:solidFill>
            <a:prstDash val="solid"/>
            <a:round/>
            <a:headEnd type="none" w="med" len="med"/>
            <a:tailEnd type="none" w="med" len="med"/>
          </a:ln>
        </p:spPr>
      </p:cxnSp>
      <p:cxnSp>
        <p:nvCxnSpPr>
          <p:cNvPr id="1894" name="Google Shape;1894;p77"/>
          <p:cNvCxnSpPr>
            <a:stCxn id="1885" idx="3"/>
            <a:endCxn id="1886" idx="0"/>
          </p:cNvCxnSpPr>
          <p:nvPr/>
        </p:nvCxnSpPr>
        <p:spPr>
          <a:xfrm flipH="1">
            <a:off x="5605784" y="1994699"/>
            <a:ext cx="1523400" cy="265800"/>
          </a:xfrm>
          <a:prstGeom prst="straightConnector1">
            <a:avLst/>
          </a:prstGeom>
          <a:noFill/>
          <a:ln w="28575" cap="flat" cmpd="sng">
            <a:solidFill>
              <a:schemeClr val="dk2"/>
            </a:solidFill>
            <a:prstDash val="solid"/>
            <a:round/>
            <a:headEnd type="none" w="med" len="med"/>
            <a:tailEnd type="none" w="med" len="med"/>
          </a:ln>
        </p:spPr>
      </p:cxnSp>
      <p:cxnSp>
        <p:nvCxnSpPr>
          <p:cNvPr id="1895" name="Google Shape;1895;p77"/>
          <p:cNvCxnSpPr>
            <a:stCxn id="1885" idx="4"/>
            <a:endCxn id="1887" idx="0"/>
          </p:cNvCxnSpPr>
          <p:nvPr/>
        </p:nvCxnSpPr>
        <p:spPr>
          <a:xfrm flipH="1">
            <a:off x="6901238" y="2058096"/>
            <a:ext cx="381000" cy="209400"/>
          </a:xfrm>
          <a:prstGeom prst="straightConnector1">
            <a:avLst/>
          </a:prstGeom>
          <a:noFill/>
          <a:ln w="28575" cap="flat" cmpd="sng">
            <a:solidFill>
              <a:schemeClr val="dk2"/>
            </a:solidFill>
            <a:prstDash val="solid"/>
            <a:round/>
            <a:headEnd type="none" w="med" len="med"/>
            <a:tailEnd type="none" w="med" len="med"/>
          </a:ln>
        </p:spPr>
      </p:cxnSp>
      <p:cxnSp>
        <p:nvCxnSpPr>
          <p:cNvPr id="1896" name="Google Shape;1896;p77"/>
          <p:cNvCxnSpPr>
            <a:stCxn id="1886" idx="4"/>
            <a:endCxn id="1888" idx="0"/>
          </p:cNvCxnSpPr>
          <p:nvPr/>
        </p:nvCxnSpPr>
        <p:spPr>
          <a:xfrm>
            <a:off x="5605838" y="2693373"/>
            <a:ext cx="3900" cy="317100"/>
          </a:xfrm>
          <a:prstGeom prst="straightConnector1">
            <a:avLst/>
          </a:prstGeom>
          <a:noFill/>
          <a:ln w="28575" cap="flat" cmpd="sng">
            <a:solidFill>
              <a:schemeClr val="dk2"/>
            </a:solidFill>
            <a:prstDash val="solid"/>
            <a:round/>
            <a:headEnd type="none" w="med" len="med"/>
            <a:tailEnd type="none" w="med" len="med"/>
          </a:ln>
        </p:spPr>
      </p:cxnSp>
      <p:cxnSp>
        <p:nvCxnSpPr>
          <p:cNvPr id="1897" name="Google Shape;1897;p77"/>
          <p:cNvCxnSpPr>
            <a:stCxn id="1885" idx="5"/>
            <a:endCxn id="1889" idx="0"/>
          </p:cNvCxnSpPr>
          <p:nvPr/>
        </p:nvCxnSpPr>
        <p:spPr>
          <a:xfrm>
            <a:off x="7435291" y="1994699"/>
            <a:ext cx="456600" cy="265800"/>
          </a:xfrm>
          <a:prstGeom prst="straightConnector1">
            <a:avLst/>
          </a:prstGeom>
          <a:noFill/>
          <a:ln w="28575" cap="flat" cmpd="sng">
            <a:solidFill>
              <a:schemeClr val="dk2"/>
            </a:solidFill>
            <a:prstDash val="solid"/>
            <a:round/>
            <a:headEnd type="none" w="med" len="med"/>
            <a:tailEnd type="none" w="med" len="med"/>
          </a:ln>
        </p:spPr>
      </p:cxnSp>
      <p:cxnSp>
        <p:nvCxnSpPr>
          <p:cNvPr id="1898" name="Google Shape;1898;p77"/>
          <p:cNvCxnSpPr>
            <a:stCxn id="1887" idx="4"/>
            <a:endCxn id="1890" idx="0"/>
          </p:cNvCxnSpPr>
          <p:nvPr/>
        </p:nvCxnSpPr>
        <p:spPr>
          <a:xfrm>
            <a:off x="6901238" y="2700416"/>
            <a:ext cx="0" cy="310200"/>
          </a:xfrm>
          <a:prstGeom prst="straightConnector1">
            <a:avLst/>
          </a:prstGeom>
          <a:noFill/>
          <a:ln w="28575" cap="flat" cmpd="sng">
            <a:solidFill>
              <a:schemeClr val="dk2"/>
            </a:solidFill>
            <a:prstDash val="solid"/>
            <a:round/>
            <a:headEnd type="none" w="med" len="med"/>
            <a:tailEnd type="none" w="med" len="med"/>
          </a:ln>
        </p:spPr>
      </p:cxnSp>
      <p:cxnSp>
        <p:nvCxnSpPr>
          <p:cNvPr id="1899" name="Google Shape;1899;p77"/>
          <p:cNvCxnSpPr>
            <a:stCxn id="1884" idx="3"/>
            <a:endCxn id="1891" idx="0"/>
          </p:cNvCxnSpPr>
          <p:nvPr/>
        </p:nvCxnSpPr>
        <p:spPr>
          <a:xfrm flipH="1">
            <a:off x="4508739" y="1394178"/>
            <a:ext cx="1944900" cy="231000"/>
          </a:xfrm>
          <a:prstGeom prst="straightConnector1">
            <a:avLst/>
          </a:prstGeom>
          <a:noFill/>
          <a:ln w="28575" cap="flat" cmpd="sng">
            <a:solidFill>
              <a:schemeClr val="dk2"/>
            </a:solidFill>
            <a:prstDash val="solid"/>
            <a:round/>
            <a:headEnd type="none" w="med" len="med"/>
            <a:tailEnd type="none" w="med" len="med"/>
          </a:ln>
        </p:spPr>
      </p:cxnSp>
      <p:cxnSp>
        <p:nvCxnSpPr>
          <p:cNvPr id="1900" name="Google Shape;1900;p77"/>
          <p:cNvCxnSpPr>
            <a:endCxn id="1882" idx="0"/>
          </p:cNvCxnSpPr>
          <p:nvPr/>
        </p:nvCxnSpPr>
        <p:spPr>
          <a:xfrm>
            <a:off x="4508863" y="2057986"/>
            <a:ext cx="0" cy="202500"/>
          </a:xfrm>
          <a:prstGeom prst="straightConnector1">
            <a:avLst/>
          </a:prstGeom>
          <a:noFill/>
          <a:ln w="28575" cap="flat" cmpd="sng">
            <a:solidFill>
              <a:schemeClr val="dk2"/>
            </a:solidFill>
            <a:prstDash val="solid"/>
            <a:round/>
            <a:headEnd type="none" w="med" len="med"/>
            <a:tailEnd type="none" w="med" len="med"/>
          </a:ln>
        </p:spPr>
      </p:cxnSp>
      <p:sp>
        <p:nvSpPr>
          <p:cNvPr id="1901" name="Google Shape;1901;p77"/>
          <p:cNvSpPr/>
          <p:nvPr/>
        </p:nvSpPr>
        <p:spPr>
          <a:xfrm>
            <a:off x="4292413" y="3683436"/>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k</a:t>
            </a:r>
            <a:endParaRPr sz="1800">
              <a:latin typeface="Consolas"/>
              <a:ea typeface="Consolas"/>
              <a:cs typeface="Consolas"/>
              <a:sym typeface="Consolas"/>
            </a:endParaRPr>
          </a:p>
        </p:txBody>
      </p:sp>
      <p:cxnSp>
        <p:nvCxnSpPr>
          <p:cNvPr id="1902" name="Google Shape;1902;p77"/>
          <p:cNvCxnSpPr>
            <a:stCxn id="1883" idx="4"/>
            <a:endCxn id="1901" idx="0"/>
          </p:cNvCxnSpPr>
          <p:nvPr/>
        </p:nvCxnSpPr>
        <p:spPr>
          <a:xfrm>
            <a:off x="4508863" y="3404861"/>
            <a:ext cx="0" cy="278700"/>
          </a:xfrm>
          <a:prstGeom prst="straightConnector1">
            <a:avLst/>
          </a:prstGeom>
          <a:noFill/>
          <a:ln w="28575" cap="flat" cmpd="sng">
            <a:solidFill>
              <a:schemeClr val="dk2"/>
            </a:solidFill>
            <a:prstDash val="solid"/>
            <a:round/>
            <a:headEnd type="none" w="med" len="med"/>
            <a:tailEnd type="none" w="med" len="med"/>
          </a:ln>
        </p:spPr>
      </p:cxnSp>
      <p:sp>
        <p:nvSpPr>
          <p:cNvPr id="1903" name="Google Shape;1903;p77"/>
          <p:cNvSpPr/>
          <p:nvPr/>
        </p:nvSpPr>
        <p:spPr>
          <a:xfrm>
            <a:off x="6684788" y="3661798"/>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g</a:t>
            </a:r>
            <a:endParaRPr sz="1800">
              <a:latin typeface="Consolas"/>
              <a:ea typeface="Consolas"/>
              <a:cs typeface="Consolas"/>
              <a:sym typeface="Consolas"/>
            </a:endParaRPr>
          </a:p>
        </p:txBody>
      </p:sp>
      <p:cxnSp>
        <p:nvCxnSpPr>
          <p:cNvPr id="1904" name="Google Shape;1904;p77"/>
          <p:cNvCxnSpPr>
            <a:stCxn id="1890" idx="4"/>
            <a:endCxn id="1903" idx="0"/>
          </p:cNvCxnSpPr>
          <p:nvPr/>
        </p:nvCxnSpPr>
        <p:spPr>
          <a:xfrm>
            <a:off x="6901238" y="3443477"/>
            <a:ext cx="0" cy="218400"/>
          </a:xfrm>
          <a:prstGeom prst="straightConnector1">
            <a:avLst/>
          </a:prstGeom>
          <a:noFill/>
          <a:ln w="28575" cap="flat" cmpd="sng">
            <a:solidFill>
              <a:schemeClr val="dk2"/>
            </a:solidFill>
            <a:prstDash val="solid"/>
            <a:round/>
            <a:headEnd type="none" w="med" len="med"/>
            <a:tailEnd type="none" w="med" len="med"/>
          </a:ln>
        </p:spPr>
      </p:cxnSp>
      <p:sp>
        <p:nvSpPr>
          <p:cNvPr id="1905" name="Google Shape;1905;p77"/>
          <p:cNvSpPr/>
          <p:nvPr/>
        </p:nvSpPr>
        <p:spPr>
          <a:xfrm>
            <a:off x="8358888" y="3010577"/>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y</a:t>
            </a:r>
            <a:endParaRPr sz="1800">
              <a:latin typeface="Consolas"/>
              <a:ea typeface="Consolas"/>
              <a:cs typeface="Consolas"/>
              <a:sym typeface="Consolas"/>
            </a:endParaRPr>
          </a:p>
        </p:txBody>
      </p:sp>
      <p:sp>
        <p:nvSpPr>
          <p:cNvPr id="1906" name="Google Shape;1906;p77"/>
          <p:cNvSpPr/>
          <p:nvPr/>
        </p:nvSpPr>
        <p:spPr>
          <a:xfrm>
            <a:off x="7678068" y="3010573"/>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i</a:t>
            </a:r>
            <a:endParaRPr sz="1800">
              <a:latin typeface="Consolas"/>
              <a:ea typeface="Consolas"/>
              <a:cs typeface="Consolas"/>
              <a:sym typeface="Consolas"/>
            </a:endParaRPr>
          </a:p>
        </p:txBody>
      </p:sp>
      <p:sp>
        <p:nvSpPr>
          <p:cNvPr id="1907" name="Google Shape;1907;p77"/>
          <p:cNvSpPr/>
          <p:nvPr/>
        </p:nvSpPr>
        <p:spPr>
          <a:xfrm>
            <a:off x="7684384" y="3661798"/>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t</a:t>
            </a:r>
            <a:endParaRPr sz="1800">
              <a:latin typeface="Consolas"/>
              <a:ea typeface="Consolas"/>
              <a:cs typeface="Consolas"/>
              <a:sym typeface="Consolas"/>
            </a:endParaRPr>
          </a:p>
        </p:txBody>
      </p:sp>
      <p:sp>
        <p:nvSpPr>
          <p:cNvPr id="1908" name="Google Shape;1908;p77"/>
          <p:cNvSpPr/>
          <p:nvPr/>
        </p:nvSpPr>
        <p:spPr>
          <a:xfrm>
            <a:off x="7684384" y="4253398"/>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e</a:t>
            </a:r>
            <a:endParaRPr sz="1800">
              <a:latin typeface="Consolas"/>
              <a:ea typeface="Consolas"/>
              <a:cs typeface="Consolas"/>
              <a:sym typeface="Consolas"/>
            </a:endParaRPr>
          </a:p>
        </p:txBody>
      </p:sp>
      <p:cxnSp>
        <p:nvCxnSpPr>
          <p:cNvPr id="1909" name="Google Shape;1909;p77"/>
          <p:cNvCxnSpPr>
            <a:stCxn id="1889" idx="5"/>
            <a:endCxn id="1905" idx="0"/>
          </p:cNvCxnSpPr>
          <p:nvPr/>
        </p:nvCxnSpPr>
        <p:spPr>
          <a:xfrm>
            <a:off x="8044891" y="2629980"/>
            <a:ext cx="530400" cy="380700"/>
          </a:xfrm>
          <a:prstGeom prst="straightConnector1">
            <a:avLst/>
          </a:prstGeom>
          <a:noFill/>
          <a:ln w="28575" cap="flat" cmpd="sng">
            <a:solidFill>
              <a:schemeClr val="dk2"/>
            </a:solidFill>
            <a:prstDash val="solid"/>
            <a:round/>
            <a:headEnd type="none" w="med" len="med"/>
            <a:tailEnd type="none" w="med" len="med"/>
          </a:ln>
        </p:spPr>
      </p:cxnSp>
      <p:cxnSp>
        <p:nvCxnSpPr>
          <p:cNvPr id="1910" name="Google Shape;1910;p77"/>
          <p:cNvCxnSpPr>
            <a:stCxn id="1889" idx="4"/>
            <a:endCxn id="1906" idx="0"/>
          </p:cNvCxnSpPr>
          <p:nvPr/>
        </p:nvCxnSpPr>
        <p:spPr>
          <a:xfrm>
            <a:off x="7891838" y="2693377"/>
            <a:ext cx="2700" cy="317100"/>
          </a:xfrm>
          <a:prstGeom prst="straightConnector1">
            <a:avLst/>
          </a:prstGeom>
          <a:noFill/>
          <a:ln w="28575" cap="flat" cmpd="sng">
            <a:solidFill>
              <a:schemeClr val="dk2"/>
            </a:solidFill>
            <a:prstDash val="solid"/>
            <a:round/>
            <a:headEnd type="none" w="med" len="med"/>
            <a:tailEnd type="none" w="med" len="med"/>
          </a:ln>
        </p:spPr>
      </p:cxnSp>
      <p:cxnSp>
        <p:nvCxnSpPr>
          <p:cNvPr id="1911" name="Google Shape;1911;p77"/>
          <p:cNvCxnSpPr>
            <a:stCxn id="1906" idx="4"/>
            <a:endCxn id="1907" idx="0"/>
          </p:cNvCxnSpPr>
          <p:nvPr/>
        </p:nvCxnSpPr>
        <p:spPr>
          <a:xfrm>
            <a:off x="7894518" y="3443473"/>
            <a:ext cx="6300" cy="218400"/>
          </a:xfrm>
          <a:prstGeom prst="straightConnector1">
            <a:avLst/>
          </a:prstGeom>
          <a:noFill/>
          <a:ln w="28575" cap="flat" cmpd="sng">
            <a:solidFill>
              <a:schemeClr val="dk2"/>
            </a:solidFill>
            <a:prstDash val="solid"/>
            <a:round/>
            <a:headEnd type="none" w="med" len="med"/>
            <a:tailEnd type="none" w="med" len="med"/>
          </a:ln>
        </p:spPr>
      </p:cxnSp>
      <p:cxnSp>
        <p:nvCxnSpPr>
          <p:cNvPr id="1912" name="Google Shape;1912;p77"/>
          <p:cNvCxnSpPr>
            <a:stCxn id="1907" idx="4"/>
            <a:endCxn id="1908" idx="0"/>
          </p:cNvCxnSpPr>
          <p:nvPr/>
        </p:nvCxnSpPr>
        <p:spPr>
          <a:xfrm>
            <a:off x="7900834" y="4094698"/>
            <a:ext cx="0" cy="158700"/>
          </a:xfrm>
          <a:prstGeom prst="straightConnector1">
            <a:avLst/>
          </a:prstGeom>
          <a:noFill/>
          <a:ln w="28575" cap="flat" cmpd="sng">
            <a:solidFill>
              <a:schemeClr val="dk2"/>
            </a:solidFill>
            <a:prstDash val="solid"/>
            <a:round/>
            <a:headEnd type="none" w="med" len="med"/>
            <a:tailEnd type="none" w="med" len="med"/>
          </a:ln>
        </p:spPr>
      </p:cxnSp>
      <p:sp>
        <p:nvSpPr>
          <p:cNvPr id="1913" name="Google Shape;1913;p77"/>
          <p:cNvSpPr txBox="1"/>
          <p:nvPr/>
        </p:nvSpPr>
        <p:spPr>
          <a:xfrm>
            <a:off x="3676650" y="1578775"/>
            <a:ext cx="6600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None</a:t>
            </a:r>
            <a:endParaRPr/>
          </a:p>
          <a:p>
            <a:pPr marL="0" lvl="0" indent="0" algn="l" rtl="0">
              <a:spcBef>
                <a:spcPts val="0"/>
              </a:spcBef>
              <a:spcAft>
                <a:spcPts val="0"/>
              </a:spcAft>
              <a:buNone/>
            </a:pPr>
            <a:r>
              <a:rPr lang="en"/>
              <a:t>10</a:t>
            </a:r>
            <a:endParaRPr/>
          </a:p>
        </p:txBody>
      </p:sp>
      <p:sp>
        <p:nvSpPr>
          <p:cNvPr id="1914" name="Google Shape;1914;p77"/>
          <p:cNvSpPr txBox="1"/>
          <p:nvPr/>
        </p:nvSpPr>
        <p:spPr>
          <a:xfrm>
            <a:off x="3661745" y="2188375"/>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None</a:t>
            </a:r>
            <a:endParaRPr/>
          </a:p>
          <a:p>
            <a:pPr marL="0" lvl="0" indent="0" algn="l" rtl="0">
              <a:spcBef>
                <a:spcPts val="0"/>
              </a:spcBef>
              <a:spcAft>
                <a:spcPts val="0"/>
              </a:spcAft>
              <a:buNone/>
            </a:pPr>
            <a:r>
              <a:rPr lang="en"/>
              <a:t>10</a:t>
            </a:r>
            <a:endParaRPr/>
          </a:p>
        </p:txBody>
      </p:sp>
      <p:sp>
        <p:nvSpPr>
          <p:cNvPr id="1915" name="Google Shape;1915;p77"/>
          <p:cNvSpPr txBox="1"/>
          <p:nvPr/>
        </p:nvSpPr>
        <p:spPr>
          <a:xfrm>
            <a:off x="3652427" y="2874175"/>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None</a:t>
            </a:r>
            <a:endParaRPr/>
          </a:p>
          <a:p>
            <a:pPr marL="0" lvl="0" indent="0" algn="l" rtl="0">
              <a:spcBef>
                <a:spcPts val="0"/>
              </a:spcBef>
              <a:spcAft>
                <a:spcPts val="0"/>
              </a:spcAft>
              <a:buNone/>
            </a:pPr>
            <a:r>
              <a:rPr lang="en"/>
              <a:t>10</a:t>
            </a:r>
            <a:endParaRPr/>
          </a:p>
        </p:txBody>
      </p:sp>
      <p:sp>
        <p:nvSpPr>
          <p:cNvPr id="1916" name="Google Shape;1916;p77"/>
          <p:cNvSpPr txBox="1"/>
          <p:nvPr/>
        </p:nvSpPr>
        <p:spPr>
          <a:xfrm>
            <a:off x="3677378" y="3580267"/>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10</a:t>
            </a:r>
            <a:endParaRPr/>
          </a:p>
          <a:p>
            <a:pPr marL="0" lvl="0" indent="0" algn="l" rtl="0">
              <a:spcBef>
                <a:spcPts val="0"/>
              </a:spcBef>
              <a:spcAft>
                <a:spcPts val="0"/>
              </a:spcAft>
              <a:buNone/>
            </a:pPr>
            <a:r>
              <a:rPr lang="en"/>
              <a:t>10</a:t>
            </a:r>
            <a:endParaRPr/>
          </a:p>
        </p:txBody>
      </p:sp>
      <p:sp>
        <p:nvSpPr>
          <p:cNvPr id="1917" name="Google Shape;1917;p77"/>
          <p:cNvSpPr txBox="1"/>
          <p:nvPr/>
        </p:nvSpPr>
        <p:spPr>
          <a:xfrm>
            <a:off x="5174775" y="867875"/>
            <a:ext cx="14985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value = None</a:t>
            </a:r>
            <a:endParaRPr/>
          </a:p>
          <a:p>
            <a:pPr marL="0" lvl="0" indent="0" algn="l" rtl="0">
              <a:spcBef>
                <a:spcPts val="0"/>
              </a:spcBef>
              <a:spcAft>
                <a:spcPts val="0"/>
              </a:spcAft>
              <a:buNone/>
            </a:pPr>
            <a:r>
              <a:rPr lang="en"/>
              <a:t>best = 20</a:t>
            </a:r>
            <a:endParaRPr/>
          </a:p>
        </p:txBody>
      </p:sp>
      <p:sp>
        <p:nvSpPr>
          <p:cNvPr id="1918" name="Google Shape;1918;p77"/>
          <p:cNvSpPr txBox="1"/>
          <p:nvPr/>
        </p:nvSpPr>
        <p:spPr>
          <a:xfrm>
            <a:off x="6490325" y="1474138"/>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None</a:t>
            </a:r>
            <a:endParaRPr/>
          </a:p>
          <a:p>
            <a:pPr marL="0" lvl="0" indent="0" algn="l" rtl="0">
              <a:spcBef>
                <a:spcPts val="0"/>
              </a:spcBef>
              <a:spcAft>
                <a:spcPts val="0"/>
              </a:spcAft>
              <a:buNone/>
            </a:pPr>
            <a:r>
              <a:rPr lang="en"/>
              <a:t>20</a:t>
            </a:r>
            <a:endParaRPr/>
          </a:p>
        </p:txBody>
      </p:sp>
      <p:sp>
        <p:nvSpPr>
          <p:cNvPr id="1919" name="Google Shape;1919;p77"/>
          <p:cNvSpPr txBox="1"/>
          <p:nvPr/>
        </p:nvSpPr>
        <p:spPr>
          <a:xfrm>
            <a:off x="4813925" y="2159938"/>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None</a:t>
            </a:r>
            <a:endParaRPr/>
          </a:p>
          <a:p>
            <a:pPr marL="0" lvl="0" indent="0" algn="l" rtl="0">
              <a:spcBef>
                <a:spcPts val="0"/>
              </a:spcBef>
              <a:spcAft>
                <a:spcPts val="0"/>
              </a:spcAft>
              <a:buNone/>
            </a:pPr>
            <a:r>
              <a:rPr lang="en"/>
              <a:t>12</a:t>
            </a:r>
            <a:endParaRPr/>
          </a:p>
        </p:txBody>
      </p:sp>
      <p:sp>
        <p:nvSpPr>
          <p:cNvPr id="1920" name="Google Shape;1920;p77"/>
          <p:cNvSpPr txBox="1"/>
          <p:nvPr/>
        </p:nvSpPr>
        <p:spPr>
          <a:xfrm>
            <a:off x="4890125" y="2921938"/>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12</a:t>
            </a:r>
            <a:endParaRPr/>
          </a:p>
          <a:p>
            <a:pPr marL="0" lvl="0" indent="0" algn="l" rtl="0">
              <a:spcBef>
                <a:spcPts val="0"/>
              </a:spcBef>
              <a:spcAft>
                <a:spcPts val="0"/>
              </a:spcAft>
              <a:buNone/>
            </a:pPr>
            <a:r>
              <a:rPr lang="en"/>
              <a:t>12</a:t>
            </a:r>
            <a:endParaRPr/>
          </a:p>
        </p:txBody>
      </p:sp>
      <p:sp>
        <p:nvSpPr>
          <p:cNvPr id="1921" name="Google Shape;1921;p77"/>
          <p:cNvSpPr txBox="1"/>
          <p:nvPr/>
        </p:nvSpPr>
        <p:spPr>
          <a:xfrm>
            <a:off x="6109325" y="2212550"/>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None</a:t>
            </a:r>
            <a:endParaRPr/>
          </a:p>
          <a:p>
            <a:pPr marL="0" lvl="0" indent="0" algn="l" rtl="0">
              <a:spcBef>
                <a:spcPts val="0"/>
              </a:spcBef>
              <a:spcAft>
                <a:spcPts val="0"/>
              </a:spcAft>
              <a:buNone/>
            </a:pPr>
            <a:r>
              <a:rPr lang="en"/>
              <a:t>5</a:t>
            </a:r>
            <a:endParaRPr/>
          </a:p>
        </p:txBody>
      </p:sp>
      <p:sp>
        <p:nvSpPr>
          <p:cNvPr id="1922" name="Google Shape;1922;p77"/>
          <p:cNvSpPr txBox="1"/>
          <p:nvPr/>
        </p:nvSpPr>
        <p:spPr>
          <a:xfrm>
            <a:off x="6119471" y="2948670"/>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None</a:t>
            </a:r>
            <a:endParaRPr/>
          </a:p>
          <a:p>
            <a:pPr marL="0" lvl="0" indent="0" algn="l" rtl="0">
              <a:spcBef>
                <a:spcPts val="0"/>
              </a:spcBef>
              <a:spcAft>
                <a:spcPts val="0"/>
              </a:spcAft>
              <a:buNone/>
            </a:pPr>
            <a:r>
              <a:rPr lang="en"/>
              <a:t>5</a:t>
            </a:r>
            <a:endParaRPr/>
          </a:p>
        </p:txBody>
      </p:sp>
      <p:sp>
        <p:nvSpPr>
          <p:cNvPr id="1923" name="Google Shape;1923;p77"/>
          <p:cNvSpPr txBox="1"/>
          <p:nvPr/>
        </p:nvSpPr>
        <p:spPr>
          <a:xfrm>
            <a:off x="6134096" y="3557232"/>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5</a:t>
            </a:r>
            <a:endParaRPr/>
          </a:p>
          <a:p>
            <a:pPr marL="0" lvl="0" indent="0" algn="l" rtl="0">
              <a:spcBef>
                <a:spcPts val="0"/>
              </a:spcBef>
              <a:spcAft>
                <a:spcPts val="0"/>
              </a:spcAft>
              <a:buNone/>
            </a:pPr>
            <a:r>
              <a:rPr lang="en"/>
              <a:t>5</a:t>
            </a:r>
            <a:endParaRPr/>
          </a:p>
        </p:txBody>
      </p:sp>
      <p:sp>
        <p:nvSpPr>
          <p:cNvPr id="1924" name="Google Shape;1924;p77"/>
          <p:cNvSpPr txBox="1"/>
          <p:nvPr/>
        </p:nvSpPr>
        <p:spPr>
          <a:xfrm>
            <a:off x="7135846" y="2190340"/>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None</a:t>
            </a:r>
            <a:endParaRPr/>
          </a:p>
          <a:p>
            <a:pPr marL="0" lvl="0" indent="0" algn="l" rtl="0">
              <a:spcBef>
                <a:spcPts val="0"/>
              </a:spcBef>
              <a:spcAft>
                <a:spcPts val="0"/>
              </a:spcAft>
              <a:buNone/>
            </a:pPr>
            <a:r>
              <a:rPr lang="en"/>
              <a:t>20</a:t>
            </a:r>
            <a:endParaRPr/>
          </a:p>
        </p:txBody>
      </p:sp>
      <p:sp>
        <p:nvSpPr>
          <p:cNvPr id="1925" name="Google Shape;1925;p77"/>
          <p:cNvSpPr txBox="1"/>
          <p:nvPr/>
        </p:nvSpPr>
        <p:spPr>
          <a:xfrm>
            <a:off x="7145646" y="2876713"/>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None</a:t>
            </a:r>
            <a:endParaRPr/>
          </a:p>
          <a:p>
            <a:pPr marL="0" lvl="0" indent="0" algn="l" rtl="0">
              <a:spcBef>
                <a:spcPts val="0"/>
              </a:spcBef>
              <a:spcAft>
                <a:spcPts val="0"/>
              </a:spcAft>
              <a:buNone/>
            </a:pPr>
            <a:r>
              <a:rPr lang="en"/>
              <a:t>20</a:t>
            </a:r>
            <a:endParaRPr/>
          </a:p>
        </p:txBody>
      </p:sp>
      <p:sp>
        <p:nvSpPr>
          <p:cNvPr id="1926" name="Google Shape;1926;p77"/>
          <p:cNvSpPr txBox="1"/>
          <p:nvPr/>
        </p:nvSpPr>
        <p:spPr>
          <a:xfrm>
            <a:off x="7185443" y="3561148"/>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15</a:t>
            </a:r>
            <a:endParaRPr/>
          </a:p>
          <a:p>
            <a:pPr marL="0" lvl="0" indent="0" algn="l" rtl="0">
              <a:spcBef>
                <a:spcPts val="0"/>
              </a:spcBef>
              <a:spcAft>
                <a:spcPts val="0"/>
              </a:spcAft>
              <a:buNone/>
            </a:pPr>
            <a:r>
              <a:rPr lang="en"/>
              <a:t>20</a:t>
            </a:r>
            <a:endParaRPr/>
          </a:p>
        </p:txBody>
      </p:sp>
      <p:sp>
        <p:nvSpPr>
          <p:cNvPr id="1927" name="Google Shape;1927;p77"/>
          <p:cNvSpPr txBox="1"/>
          <p:nvPr/>
        </p:nvSpPr>
        <p:spPr>
          <a:xfrm>
            <a:off x="7188743" y="4147724"/>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20</a:t>
            </a:r>
            <a:endParaRPr/>
          </a:p>
          <a:p>
            <a:pPr marL="0" lvl="0" indent="0" algn="l" rtl="0">
              <a:spcBef>
                <a:spcPts val="0"/>
              </a:spcBef>
              <a:spcAft>
                <a:spcPts val="0"/>
              </a:spcAft>
              <a:buNone/>
            </a:pPr>
            <a:r>
              <a:rPr lang="en"/>
              <a:t>20</a:t>
            </a:r>
            <a:endParaRPr/>
          </a:p>
        </p:txBody>
      </p:sp>
      <p:sp>
        <p:nvSpPr>
          <p:cNvPr id="1928" name="Google Shape;1928;p77"/>
          <p:cNvSpPr txBox="1"/>
          <p:nvPr/>
        </p:nvSpPr>
        <p:spPr>
          <a:xfrm>
            <a:off x="8090525" y="2388538"/>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20</a:t>
            </a:r>
            <a:endParaRPr/>
          </a:p>
        </p:txBody>
      </p:sp>
      <p:sp>
        <p:nvSpPr>
          <p:cNvPr id="1929" name="Google Shape;1929;p77"/>
          <p:cNvSpPr txBox="1"/>
          <p:nvPr/>
        </p:nvSpPr>
        <p:spPr>
          <a:xfrm>
            <a:off x="8762050" y="2952913"/>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7</a:t>
            </a:r>
            <a:endParaRPr/>
          </a:p>
          <a:p>
            <a:pPr marL="0" lvl="0" indent="0" algn="l" rtl="0">
              <a:spcBef>
                <a:spcPts val="0"/>
              </a:spcBef>
              <a:spcAft>
                <a:spcPts val="0"/>
              </a:spcAft>
              <a:buNone/>
            </a:pPr>
            <a:r>
              <a:rPr lang="en"/>
              <a:t>7</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33"/>
        <p:cNvGrpSpPr/>
        <p:nvPr/>
      </p:nvGrpSpPr>
      <p:grpSpPr>
        <a:xfrm>
          <a:off x="0" y="0"/>
          <a:ext cx="0" cy="0"/>
          <a:chOff x="0" y="0"/>
          <a:chExt cx="0" cy="0"/>
        </a:xfrm>
      </p:grpSpPr>
      <p:sp>
        <p:nvSpPr>
          <p:cNvPr id="1934" name="Google Shape;1934;p7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More Efficient Autocomplete</a:t>
            </a:r>
            <a:endParaRPr/>
          </a:p>
        </p:txBody>
      </p:sp>
      <p:sp>
        <p:nvSpPr>
          <p:cNvPr id="1935" name="Google Shape;1935;p78"/>
          <p:cNvSpPr txBox="1">
            <a:spLocks noGrp="1"/>
          </p:cNvSpPr>
          <p:nvPr>
            <p:ph type="body" idx="1"/>
          </p:nvPr>
        </p:nvSpPr>
        <p:spPr>
          <a:xfrm>
            <a:off x="319200" y="556500"/>
            <a:ext cx="8443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p:txBody>
      </p:sp>
      <p:sp>
        <p:nvSpPr>
          <p:cNvPr id="1936" name="Google Shape;1936;p78"/>
          <p:cNvSpPr txBox="1">
            <a:spLocks noGrp="1"/>
          </p:cNvSpPr>
          <p:nvPr>
            <p:ph type="body" idx="1"/>
          </p:nvPr>
        </p:nvSpPr>
        <p:spPr>
          <a:xfrm>
            <a:off x="90600" y="409750"/>
            <a:ext cx="3368400" cy="4255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One way to address this issue: </a:t>
            </a:r>
            <a:endParaRPr/>
          </a:p>
          <a:p>
            <a:pPr marL="457200" lvl="0" indent="-342900" algn="l" rtl="0">
              <a:spcBef>
                <a:spcPts val="600"/>
              </a:spcBef>
              <a:spcAft>
                <a:spcPts val="0"/>
              </a:spcAft>
              <a:buSzPts val="1800"/>
              <a:buChar char="●"/>
            </a:pPr>
            <a:r>
              <a:rPr lang="en"/>
              <a:t>Each node stores its own value, as well as the value of its best substring.</a:t>
            </a:r>
            <a:endParaRPr/>
          </a:p>
          <a:p>
            <a:pPr marL="0" lvl="0" indent="0" algn="l" rtl="0">
              <a:spcBef>
                <a:spcPts val="600"/>
              </a:spcBef>
              <a:spcAft>
                <a:spcPts val="0"/>
              </a:spcAft>
              <a:buNone/>
            </a:pPr>
            <a:endParaRPr/>
          </a:p>
          <a:p>
            <a:pPr marL="0" lvl="0" indent="0" algn="l" rtl="0">
              <a:spcBef>
                <a:spcPts val="600"/>
              </a:spcBef>
              <a:spcAft>
                <a:spcPts val="0"/>
              </a:spcAft>
              <a:buNone/>
            </a:pPr>
            <a:r>
              <a:rPr lang="en"/>
              <a:t>Search will consider nodes in order of “best”.</a:t>
            </a:r>
            <a:endParaRPr/>
          </a:p>
          <a:p>
            <a:pPr marL="457200" lvl="0" indent="-342900" algn="l" rtl="0">
              <a:spcBef>
                <a:spcPts val="600"/>
              </a:spcBef>
              <a:spcAft>
                <a:spcPts val="0"/>
              </a:spcAft>
              <a:buSzPts val="1800"/>
              <a:buChar char="●"/>
            </a:pPr>
            <a:r>
              <a:rPr lang="en"/>
              <a:t>Consider ‘sp’ before ‘sm’.</a:t>
            </a:r>
            <a:endParaRPr/>
          </a:p>
          <a:p>
            <a:pPr marL="457200" lvl="0" indent="-342900" algn="l" rtl="0">
              <a:spcBef>
                <a:spcPts val="600"/>
              </a:spcBef>
              <a:spcAft>
                <a:spcPts val="0"/>
              </a:spcAft>
              <a:buSzPts val="1800"/>
              <a:buChar char="●"/>
            </a:pPr>
            <a:r>
              <a:rPr lang="en"/>
              <a:t>Can stop when top 3 matches are all better than best remaining.</a:t>
            </a:r>
            <a:endParaRPr/>
          </a:p>
        </p:txBody>
      </p:sp>
      <p:cxnSp>
        <p:nvCxnSpPr>
          <p:cNvPr id="1937" name="Google Shape;1937;p78"/>
          <p:cNvCxnSpPr>
            <a:stCxn id="1938" idx="4"/>
            <a:endCxn id="1939" idx="0"/>
          </p:cNvCxnSpPr>
          <p:nvPr/>
        </p:nvCxnSpPr>
        <p:spPr>
          <a:xfrm>
            <a:off x="4508863" y="2693386"/>
            <a:ext cx="0" cy="278700"/>
          </a:xfrm>
          <a:prstGeom prst="straightConnector1">
            <a:avLst/>
          </a:prstGeom>
          <a:noFill/>
          <a:ln w="28575" cap="flat" cmpd="sng">
            <a:solidFill>
              <a:schemeClr val="dk2"/>
            </a:solidFill>
            <a:prstDash val="solid"/>
            <a:round/>
            <a:headEnd type="none" w="med" len="med"/>
            <a:tailEnd type="none" w="med" len="med"/>
          </a:ln>
        </p:spPr>
      </p:cxnSp>
      <p:sp>
        <p:nvSpPr>
          <p:cNvPr id="1940" name="Google Shape;1940;p78"/>
          <p:cNvSpPr/>
          <p:nvPr/>
        </p:nvSpPr>
        <p:spPr>
          <a:xfrm>
            <a:off x="6390242" y="10246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1941" name="Google Shape;1941;p78"/>
          <p:cNvSpPr/>
          <p:nvPr/>
        </p:nvSpPr>
        <p:spPr>
          <a:xfrm>
            <a:off x="7065788" y="162519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sp>
        <p:nvSpPr>
          <p:cNvPr id="1942" name="Google Shape;1942;p78"/>
          <p:cNvSpPr/>
          <p:nvPr/>
        </p:nvSpPr>
        <p:spPr>
          <a:xfrm>
            <a:off x="5389388" y="2260473"/>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943" name="Google Shape;1943;p78"/>
          <p:cNvSpPr/>
          <p:nvPr/>
        </p:nvSpPr>
        <p:spPr>
          <a:xfrm>
            <a:off x="6684788" y="226751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m</a:t>
            </a:r>
            <a:endParaRPr sz="1800">
              <a:latin typeface="Consolas"/>
              <a:ea typeface="Consolas"/>
              <a:cs typeface="Consolas"/>
              <a:sym typeface="Consolas"/>
            </a:endParaRPr>
          </a:p>
        </p:txBody>
      </p:sp>
      <p:sp>
        <p:nvSpPr>
          <p:cNvPr id="1944" name="Google Shape;1944;p78"/>
          <p:cNvSpPr/>
          <p:nvPr/>
        </p:nvSpPr>
        <p:spPr>
          <a:xfrm>
            <a:off x="5393153" y="3010577"/>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d</a:t>
            </a:r>
            <a:endParaRPr sz="1800">
              <a:latin typeface="Consolas"/>
              <a:ea typeface="Consolas"/>
              <a:cs typeface="Consolas"/>
              <a:sym typeface="Consolas"/>
            </a:endParaRPr>
          </a:p>
        </p:txBody>
      </p:sp>
      <p:sp>
        <p:nvSpPr>
          <p:cNvPr id="1945" name="Google Shape;1945;p78"/>
          <p:cNvSpPr/>
          <p:nvPr/>
        </p:nvSpPr>
        <p:spPr>
          <a:xfrm>
            <a:off x="7675388" y="2260477"/>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p</a:t>
            </a:r>
            <a:endParaRPr sz="1800">
              <a:latin typeface="Consolas"/>
              <a:ea typeface="Consolas"/>
              <a:cs typeface="Consolas"/>
              <a:sym typeface="Consolas"/>
            </a:endParaRPr>
          </a:p>
        </p:txBody>
      </p:sp>
      <p:sp>
        <p:nvSpPr>
          <p:cNvPr id="1946" name="Google Shape;1946;p78"/>
          <p:cNvSpPr/>
          <p:nvPr/>
        </p:nvSpPr>
        <p:spPr>
          <a:xfrm>
            <a:off x="6684788" y="3010577"/>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o</a:t>
            </a:r>
            <a:endParaRPr sz="1800">
              <a:latin typeface="Consolas"/>
              <a:ea typeface="Consolas"/>
              <a:cs typeface="Consolas"/>
              <a:sym typeface="Consolas"/>
            </a:endParaRPr>
          </a:p>
        </p:txBody>
      </p:sp>
      <p:sp>
        <p:nvSpPr>
          <p:cNvPr id="1947" name="Google Shape;1947;p78"/>
          <p:cNvSpPr/>
          <p:nvPr/>
        </p:nvSpPr>
        <p:spPr>
          <a:xfrm>
            <a:off x="4292413" y="1625211"/>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b</a:t>
            </a:r>
            <a:endParaRPr sz="1800">
              <a:latin typeface="Consolas"/>
              <a:ea typeface="Consolas"/>
              <a:cs typeface="Consolas"/>
              <a:sym typeface="Consolas"/>
            </a:endParaRPr>
          </a:p>
        </p:txBody>
      </p:sp>
      <p:sp>
        <p:nvSpPr>
          <p:cNvPr id="1938" name="Google Shape;1938;p78"/>
          <p:cNvSpPr/>
          <p:nvPr/>
        </p:nvSpPr>
        <p:spPr>
          <a:xfrm>
            <a:off x="4292413" y="226048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u</a:t>
            </a:r>
            <a:endParaRPr sz="1800">
              <a:latin typeface="Consolas"/>
              <a:ea typeface="Consolas"/>
              <a:cs typeface="Consolas"/>
              <a:sym typeface="Consolas"/>
            </a:endParaRPr>
          </a:p>
        </p:txBody>
      </p:sp>
      <p:sp>
        <p:nvSpPr>
          <p:cNvPr id="1939" name="Google Shape;1939;p78"/>
          <p:cNvSpPr/>
          <p:nvPr/>
        </p:nvSpPr>
        <p:spPr>
          <a:xfrm>
            <a:off x="4292413" y="2971961"/>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c</a:t>
            </a:r>
            <a:endParaRPr sz="1800">
              <a:latin typeface="Consolas"/>
              <a:ea typeface="Consolas"/>
              <a:cs typeface="Consolas"/>
              <a:sym typeface="Consolas"/>
            </a:endParaRPr>
          </a:p>
        </p:txBody>
      </p:sp>
      <p:cxnSp>
        <p:nvCxnSpPr>
          <p:cNvPr id="1948" name="Google Shape;1948;p78"/>
          <p:cNvCxnSpPr/>
          <p:nvPr/>
        </p:nvCxnSpPr>
        <p:spPr>
          <a:xfrm>
            <a:off x="6901238" y="3176252"/>
            <a:ext cx="0" cy="0"/>
          </a:xfrm>
          <a:prstGeom prst="straightConnector1">
            <a:avLst/>
          </a:prstGeom>
          <a:noFill/>
          <a:ln w="19050" cap="flat" cmpd="sng">
            <a:solidFill>
              <a:schemeClr val="dk2"/>
            </a:solidFill>
            <a:prstDash val="solid"/>
            <a:round/>
            <a:headEnd type="none" w="med" len="med"/>
            <a:tailEnd type="none" w="med" len="med"/>
          </a:ln>
        </p:spPr>
      </p:cxnSp>
      <p:cxnSp>
        <p:nvCxnSpPr>
          <p:cNvPr id="1949" name="Google Shape;1949;p78"/>
          <p:cNvCxnSpPr>
            <a:stCxn id="1940" idx="5"/>
            <a:endCxn id="1941" idx="0"/>
          </p:cNvCxnSpPr>
          <p:nvPr/>
        </p:nvCxnSpPr>
        <p:spPr>
          <a:xfrm>
            <a:off x="6759745" y="1394178"/>
            <a:ext cx="522600" cy="231000"/>
          </a:xfrm>
          <a:prstGeom prst="straightConnector1">
            <a:avLst/>
          </a:prstGeom>
          <a:noFill/>
          <a:ln w="28575" cap="flat" cmpd="sng">
            <a:solidFill>
              <a:schemeClr val="dk2"/>
            </a:solidFill>
            <a:prstDash val="solid"/>
            <a:round/>
            <a:headEnd type="none" w="med" len="med"/>
            <a:tailEnd type="none" w="med" len="med"/>
          </a:ln>
        </p:spPr>
      </p:cxnSp>
      <p:cxnSp>
        <p:nvCxnSpPr>
          <p:cNvPr id="1950" name="Google Shape;1950;p78"/>
          <p:cNvCxnSpPr>
            <a:stCxn id="1941" idx="3"/>
            <a:endCxn id="1942" idx="0"/>
          </p:cNvCxnSpPr>
          <p:nvPr/>
        </p:nvCxnSpPr>
        <p:spPr>
          <a:xfrm flipH="1">
            <a:off x="5605784" y="1994699"/>
            <a:ext cx="1523400" cy="265800"/>
          </a:xfrm>
          <a:prstGeom prst="straightConnector1">
            <a:avLst/>
          </a:prstGeom>
          <a:noFill/>
          <a:ln w="28575" cap="flat" cmpd="sng">
            <a:solidFill>
              <a:schemeClr val="dk2"/>
            </a:solidFill>
            <a:prstDash val="solid"/>
            <a:round/>
            <a:headEnd type="none" w="med" len="med"/>
            <a:tailEnd type="none" w="med" len="med"/>
          </a:ln>
        </p:spPr>
      </p:cxnSp>
      <p:cxnSp>
        <p:nvCxnSpPr>
          <p:cNvPr id="1951" name="Google Shape;1951;p78"/>
          <p:cNvCxnSpPr>
            <a:stCxn id="1941" idx="4"/>
            <a:endCxn id="1943" idx="0"/>
          </p:cNvCxnSpPr>
          <p:nvPr/>
        </p:nvCxnSpPr>
        <p:spPr>
          <a:xfrm flipH="1">
            <a:off x="6901238" y="2058096"/>
            <a:ext cx="381000" cy="209400"/>
          </a:xfrm>
          <a:prstGeom prst="straightConnector1">
            <a:avLst/>
          </a:prstGeom>
          <a:noFill/>
          <a:ln w="28575" cap="flat" cmpd="sng">
            <a:solidFill>
              <a:schemeClr val="dk2"/>
            </a:solidFill>
            <a:prstDash val="solid"/>
            <a:round/>
            <a:headEnd type="none" w="med" len="med"/>
            <a:tailEnd type="none" w="med" len="med"/>
          </a:ln>
        </p:spPr>
      </p:cxnSp>
      <p:cxnSp>
        <p:nvCxnSpPr>
          <p:cNvPr id="1952" name="Google Shape;1952;p78"/>
          <p:cNvCxnSpPr>
            <a:stCxn id="1942" idx="4"/>
            <a:endCxn id="1944" idx="0"/>
          </p:cNvCxnSpPr>
          <p:nvPr/>
        </p:nvCxnSpPr>
        <p:spPr>
          <a:xfrm>
            <a:off x="5605838" y="2693373"/>
            <a:ext cx="3900" cy="317100"/>
          </a:xfrm>
          <a:prstGeom prst="straightConnector1">
            <a:avLst/>
          </a:prstGeom>
          <a:noFill/>
          <a:ln w="28575" cap="flat" cmpd="sng">
            <a:solidFill>
              <a:schemeClr val="dk2"/>
            </a:solidFill>
            <a:prstDash val="solid"/>
            <a:round/>
            <a:headEnd type="none" w="med" len="med"/>
            <a:tailEnd type="none" w="med" len="med"/>
          </a:ln>
        </p:spPr>
      </p:cxnSp>
      <p:cxnSp>
        <p:nvCxnSpPr>
          <p:cNvPr id="1953" name="Google Shape;1953;p78"/>
          <p:cNvCxnSpPr>
            <a:stCxn id="1941" idx="5"/>
            <a:endCxn id="1945" idx="0"/>
          </p:cNvCxnSpPr>
          <p:nvPr/>
        </p:nvCxnSpPr>
        <p:spPr>
          <a:xfrm>
            <a:off x="7435291" y="1994699"/>
            <a:ext cx="456600" cy="265800"/>
          </a:xfrm>
          <a:prstGeom prst="straightConnector1">
            <a:avLst/>
          </a:prstGeom>
          <a:noFill/>
          <a:ln w="28575" cap="flat" cmpd="sng">
            <a:solidFill>
              <a:schemeClr val="dk2"/>
            </a:solidFill>
            <a:prstDash val="solid"/>
            <a:round/>
            <a:headEnd type="none" w="med" len="med"/>
            <a:tailEnd type="none" w="med" len="med"/>
          </a:ln>
        </p:spPr>
      </p:cxnSp>
      <p:cxnSp>
        <p:nvCxnSpPr>
          <p:cNvPr id="1954" name="Google Shape;1954;p78"/>
          <p:cNvCxnSpPr>
            <a:stCxn id="1943" idx="4"/>
            <a:endCxn id="1946" idx="0"/>
          </p:cNvCxnSpPr>
          <p:nvPr/>
        </p:nvCxnSpPr>
        <p:spPr>
          <a:xfrm>
            <a:off x="6901238" y="2700416"/>
            <a:ext cx="0" cy="310200"/>
          </a:xfrm>
          <a:prstGeom prst="straightConnector1">
            <a:avLst/>
          </a:prstGeom>
          <a:noFill/>
          <a:ln w="28575" cap="flat" cmpd="sng">
            <a:solidFill>
              <a:schemeClr val="dk2"/>
            </a:solidFill>
            <a:prstDash val="solid"/>
            <a:round/>
            <a:headEnd type="none" w="med" len="med"/>
            <a:tailEnd type="none" w="med" len="med"/>
          </a:ln>
        </p:spPr>
      </p:cxnSp>
      <p:cxnSp>
        <p:nvCxnSpPr>
          <p:cNvPr id="1955" name="Google Shape;1955;p78"/>
          <p:cNvCxnSpPr>
            <a:stCxn id="1940" idx="3"/>
            <a:endCxn id="1947" idx="0"/>
          </p:cNvCxnSpPr>
          <p:nvPr/>
        </p:nvCxnSpPr>
        <p:spPr>
          <a:xfrm flipH="1">
            <a:off x="4508739" y="1394178"/>
            <a:ext cx="1944900" cy="231000"/>
          </a:xfrm>
          <a:prstGeom prst="straightConnector1">
            <a:avLst/>
          </a:prstGeom>
          <a:noFill/>
          <a:ln w="28575" cap="flat" cmpd="sng">
            <a:solidFill>
              <a:schemeClr val="dk2"/>
            </a:solidFill>
            <a:prstDash val="solid"/>
            <a:round/>
            <a:headEnd type="none" w="med" len="med"/>
            <a:tailEnd type="none" w="med" len="med"/>
          </a:ln>
        </p:spPr>
      </p:cxnSp>
      <p:cxnSp>
        <p:nvCxnSpPr>
          <p:cNvPr id="1956" name="Google Shape;1956;p78"/>
          <p:cNvCxnSpPr>
            <a:endCxn id="1938" idx="0"/>
          </p:cNvCxnSpPr>
          <p:nvPr/>
        </p:nvCxnSpPr>
        <p:spPr>
          <a:xfrm>
            <a:off x="4508863" y="2057986"/>
            <a:ext cx="0" cy="202500"/>
          </a:xfrm>
          <a:prstGeom prst="straightConnector1">
            <a:avLst/>
          </a:prstGeom>
          <a:noFill/>
          <a:ln w="28575" cap="flat" cmpd="sng">
            <a:solidFill>
              <a:schemeClr val="dk2"/>
            </a:solidFill>
            <a:prstDash val="solid"/>
            <a:round/>
            <a:headEnd type="none" w="med" len="med"/>
            <a:tailEnd type="none" w="med" len="med"/>
          </a:ln>
        </p:spPr>
      </p:cxnSp>
      <p:sp>
        <p:nvSpPr>
          <p:cNvPr id="1957" name="Google Shape;1957;p78"/>
          <p:cNvSpPr/>
          <p:nvPr/>
        </p:nvSpPr>
        <p:spPr>
          <a:xfrm>
            <a:off x="4292413" y="3683436"/>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k</a:t>
            </a:r>
            <a:endParaRPr sz="1800">
              <a:latin typeface="Consolas"/>
              <a:ea typeface="Consolas"/>
              <a:cs typeface="Consolas"/>
              <a:sym typeface="Consolas"/>
            </a:endParaRPr>
          </a:p>
        </p:txBody>
      </p:sp>
      <p:cxnSp>
        <p:nvCxnSpPr>
          <p:cNvPr id="1958" name="Google Shape;1958;p78"/>
          <p:cNvCxnSpPr>
            <a:stCxn id="1939" idx="4"/>
            <a:endCxn id="1957" idx="0"/>
          </p:cNvCxnSpPr>
          <p:nvPr/>
        </p:nvCxnSpPr>
        <p:spPr>
          <a:xfrm>
            <a:off x="4508863" y="3404861"/>
            <a:ext cx="0" cy="278700"/>
          </a:xfrm>
          <a:prstGeom prst="straightConnector1">
            <a:avLst/>
          </a:prstGeom>
          <a:noFill/>
          <a:ln w="28575" cap="flat" cmpd="sng">
            <a:solidFill>
              <a:schemeClr val="dk2"/>
            </a:solidFill>
            <a:prstDash val="solid"/>
            <a:round/>
            <a:headEnd type="none" w="med" len="med"/>
            <a:tailEnd type="none" w="med" len="med"/>
          </a:ln>
        </p:spPr>
      </p:cxnSp>
      <p:sp>
        <p:nvSpPr>
          <p:cNvPr id="1959" name="Google Shape;1959;p78"/>
          <p:cNvSpPr/>
          <p:nvPr/>
        </p:nvSpPr>
        <p:spPr>
          <a:xfrm>
            <a:off x="6684788" y="3661798"/>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g</a:t>
            </a:r>
            <a:endParaRPr sz="1800">
              <a:latin typeface="Consolas"/>
              <a:ea typeface="Consolas"/>
              <a:cs typeface="Consolas"/>
              <a:sym typeface="Consolas"/>
            </a:endParaRPr>
          </a:p>
        </p:txBody>
      </p:sp>
      <p:cxnSp>
        <p:nvCxnSpPr>
          <p:cNvPr id="1960" name="Google Shape;1960;p78"/>
          <p:cNvCxnSpPr>
            <a:stCxn id="1946" idx="4"/>
            <a:endCxn id="1959" idx="0"/>
          </p:cNvCxnSpPr>
          <p:nvPr/>
        </p:nvCxnSpPr>
        <p:spPr>
          <a:xfrm>
            <a:off x="6901238" y="3443477"/>
            <a:ext cx="0" cy="218400"/>
          </a:xfrm>
          <a:prstGeom prst="straightConnector1">
            <a:avLst/>
          </a:prstGeom>
          <a:noFill/>
          <a:ln w="28575" cap="flat" cmpd="sng">
            <a:solidFill>
              <a:schemeClr val="dk2"/>
            </a:solidFill>
            <a:prstDash val="solid"/>
            <a:round/>
            <a:headEnd type="none" w="med" len="med"/>
            <a:tailEnd type="none" w="med" len="med"/>
          </a:ln>
        </p:spPr>
      </p:cxnSp>
      <p:sp>
        <p:nvSpPr>
          <p:cNvPr id="1961" name="Google Shape;1961;p78"/>
          <p:cNvSpPr/>
          <p:nvPr/>
        </p:nvSpPr>
        <p:spPr>
          <a:xfrm>
            <a:off x="8358888" y="3010577"/>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y</a:t>
            </a:r>
            <a:endParaRPr sz="1800">
              <a:latin typeface="Consolas"/>
              <a:ea typeface="Consolas"/>
              <a:cs typeface="Consolas"/>
              <a:sym typeface="Consolas"/>
            </a:endParaRPr>
          </a:p>
        </p:txBody>
      </p:sp>
      <p:sp>
        <p:nvSpPr>
          <p:cNvPr id="1962" name="Google Shape;1962;p78"/>
          <p:cNvSpPr/>
          <p:nvPr/>
        </p:nvSpPr>
        <p:spPr>
          <a:xfrm>
            <a:off x="7678068" y="3010573"/>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i</a:t>
            </a:r>
            <a:endParaRPr sz="1800">
              <a:latin typeface="Consolas"/>
              <a:ea typeface="Consolas"/>
              <a:cs typeface="Consolas"/>
              <a:sym typeface="Consolas"/>
            </a:endParaRPr>
          </a:p>
        </p:txBody>
      </p:sp>
      <p:sp>
        <p:nvSpPr>
          <p:cNvPr id="1963" name="Google Shape;1963;p78"/>
          <p:cNvSpPr/>
          <p:nvPr/>
        </p:nvSpPr>
        <p:spPr>
          <a:xfrm>
            <a:off x="7684384" y="3661798"/>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t</a:t>
            </a:r>
            <a:endParaRPr sz="1800">
              <a:latin typeface="Consolas"/>
              <a:ea typeface="Consolas"/>
              <a:cs typeface="Consolas"/>
              <a:sym typeface="Consolas"/>
            </a:endParaRPr>
          </a:p>
        </p:txBody>
      </p:sp>
      <p:sp>
        <p:nvSpPr>
          <p:cNvPr id="1964" name="Google Shape;1964;p78"/>
          <p:cNvSpPr/>
          <p:nvPr/>
        </p:nvSpPr>
        <p:spPr>
          <a:xfrm>
            <a:off x="7684384" y="4253398"/>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e</a:t>
            </a:r>
            <a:endParaRPr sz="1800">
              <a:latin typeface="Consolas"/>
              <a:ea typeface="Consolas"/>
              <a:cs typeface="Consolas"/>
              <a:sym typeface="Consolas"/>
            </a:endParaRPr>
          </a:p>
        </p:txBody>
      </p:sp>
      <p:cxnSp>
        <p:nvCxnSpPr>
          <p:cNvPr id="1965" name="Google Shape;1965;p78"/>
          <p:cNvCxnSpPr>
            <a:stCxn id="1945" idx="5"/>
            <a:endCxn id="1961" idx="0"/>
          </p:cNvCxnSpPr>
          <p:nvPr/>
        </p:nvCxnSpPr>
        <p:spPr>
          <a:xfrm>
            <a:off x="8044891" y="2629980"/>
            <a:ext cx="530400" cy="380700"/>
          </a:xfrm>
          <a:prstGeom prst="straightConnector1">
            <a:avLst/>
          </a:prstGeom>
          <a:noFill/>
          <a:ln w="28575" cap="flat" cmpd="sng">
            <a:solidFill>
              <a:schemeClr val="dk2"/>
            </a:solidFill>
            <a:prstDash val="solid"/>
            <a:round/>
            <a:headEnd type="none" w="med" len="med"/>
            <a:tailEnd type="none" w="med" len="med"/>
          </a:ln>
        </p:spPr>
      </p:cxnSp>
      <p:cxnSp>
        <p:nvCxnSpPr>
          <p:cNvPr id="1966" name="Google Shape;1966;p78"/>
          <p:cNvCxnSpPr>
            <a:stCxn id="1945" idx="4"/>
            <a:endCxn id="1962" idx="0"/>
          </p:cNvCxnSpPr>
          <p:nvPr/>
        </p:nvCxnSpPr>
        <p:spPr>
          <a:xfrm>
            <a:off x="7891838" y="2693377"/>
            <a:ext cx="2700" cy="317100"/>
          </a:xfrm>
          <a:prstGeom prst="straightConnector1">
            <a:avLst/>
          </a:prstGeom>
          <a:noFill/>
          <a:ln w="28575" cap="flat" cmpd="sng">
            <a:solidFill>
              <a:schemeClr val="dk2"/>
            </a:solidFill>
            <a:prstDash val="solid"/>
            <a:round/>
            <a:headEnd type="none" w="med" len="med"/>
            <a:tailEnd type="none" w="med" len="med"/>
          </a:ln>
        </p:spPr>
      </p:cxnSp>
      <p:cxnSp>
        <p:nvCxnSpPr>
          <p:cNvPr id="1967" name="Google Shape;1967;p78"/>
          <p:cNvCxnSpPr>
            <a:stCxn id="1962" idx="4"/>
            <a:endCxn id="1963" idx="0"/>
          </p:cNvCxnSpPr>
          <p:nvPr/>
        </p:nvCxnSpPr>
        <p:spPr>
          <a:xfrm>
            <a:off x="7894518" y="3443473"/>
            <a:ext cx="6300" cy="218400"/>
          </a:xfrm>
          <a:prstGeom prst="straightConnector1">
            <a:avLst/>
          </a:prstGeom>
          <a:noFill/>
          <a:ln w="28575" cap="flat" cmpd="sng">
            <a:solidFill>
              <a:schemeClr val="dk2"/>
            </a:solidFill>
            <a:prstDash val="solid"/>
            <a:round/>
            <a:headEnd type="none" w="med" len="med"/>
            <a:tailEnd type="none" w="med" len="med"/>
          </a:ln>
        </p:spPr>
      </p:cxnSp>
      <p:cxnSp>
        <p:nvCxnSpPr>
          <p:cNvPr id="1968" name="Google Shape;1968;p78"/>
          <p:cNvCxnSpPr>
            <a:stCxn id="1963" idx="4"/>
            <a:endCxn id="1964" idx="0"/>
          </p:cNvCxnSpPr>
          <p:nvPr/>
        </p:nvCxnSpPr>
        <p:spPr>
          <a:xfrm>
            <a:off x="7900834" y="4094698"/>
            <a:ext cx="0" cy="158700"/>
          </a:xfrm>
          <a:prstGeom prst="straightConnector1">
            <a:avLst/>
          </a:prstGeom>
          <a:noFill/>
          <a:ln w="28575" cap="flat" cmpd="sng">
            <a:solidFill>
              <a:schemeClr val="dk2"/>
            </a:solidFill>
            <a:prstDash val="solid"/>
            <a:round/>
            <a:headEnd type="none" w="med" len="med"/>
            <a:tailEnd type="none" w="med" len="med"/>
          </a:ln>
        </p:spPr>
      </p:cxnSp>
      <p:sp>
        <p:nvSpPr>
          <p:cNvPr id="1969" name="Google Shape;1969;p78"/>
          <p:cNvSpPr txBox="1"/>
          <p:nvPr/>
        </p:nvSpPr>
        <p:spPr>
          <a:xfrm>
            <a:off x="3676650" y="1578775"/>
            <a:ext cx="6600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None</a:t>
            </a:r>
            <a:endParaRPr/>
          </a:p>
          <a:p>
            <a:pPr marL="0" lvl="0" indent="0" algn="l" rtl="0">
              <a:spcBef>
                <a:spcPts val="0"/>
              </a:spcBef>
              <a:spcAft>
                <a:spcPts val="0"/>
              </a:spcAft>
              <a:buNone/>
            </a:pPr>
            <a:r>
              <a:rPr lang="en"/>
              <a:t>10</a:t>
            </a:r>
            <a:endParaRPr/>
          </a:p>
        </p:txBody>
      </p:sp>
      <p:sp>
        <p:nvSpPr>
          <p:cNvPr id="1970" name="Google Shape;1970;p78"/>
          <p:cNvSpPr txBox="1"/>
          <p:nvPr/>
        </p:nvSpPr>
        <p:spPr>
          <a:xfrm>
            <a:off x="3661745" y="2188375"/>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None</a:t>
            </a:r>
            <a:endParaRPr/>
          </a:p>
          <a:p>
            <a:pPr marL="0" lvl="0" indent="0" algn="l" rtl="0">
              <a:spcBef>
                <a:spcPts val="0"/>
              </a:spcBef>
              <a:spcAft>
                <a:spcPts val="0"/>
              </a:spcAft>
              <a:buNone/>
            </a:pPr>
            <a:r>
              <a:rPr lang="en"/>
              <a:t>10</a:t>
            </a:r>
            <a:endParaRPr/>
          </a:p>
        </p:txBody>
      </p:sp>
      <p:sp>
        <p:nvSpPr>
          <p:cNvPr id="1971" name="Google Shape;1971;p78"/>
          <p:cNvSpPr txBox="1"/>
          <p:nvPr/>
        </p:nvSpPr>
        <p:spPr>
          <a:xfrm>
            <a:off x="3652427" y="2874175"/>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None</a:t>
            </a:r>
            <a:endParaRPr/>
          </a:p>
          <a:p>
            <a:pPr marL="0" lvl="0" indent="0" algn="l" rtl="0">
              <a:spcBef>
                <a:spcPts val="0"/>
              </a:spcBef>
              <a:spcAft>
                <a:spcPts val="0"/>
              </a:spcAft>
              <a:buNone/>
            </a:pPr>
            <a:r>
              <a:rPr lang="en"/>
              <a:t>10</a:t>
            </a:r>
            <a:endParaRPr/>
          </a:p>
        </p:txBody>
      </p:sp>
      <p:sp>
        <p:nvSpPr>
          <p:cNvPr id="1972" name="Google Shape;1972;p78"/>
          <p:cNvSpPr txBox="1"/>
          <p:nvPr/>
        </p:nvSpPr>
        <p:spPr>
          <a:xfrm>
            <a:off x="3677378" y="3580267"/>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10</a:t>
            </a:r>
            <a:endParaRPr/>
          </a:p>
          <a:p>
            <a:pPr marL="0" lvl="0" indent="0" algn="l" rtl="0">
              <a:spcBef>
                <a:spcPts val="0"/>
              </a:spcBef>
              <a:spcAft>
                <a:spcPts val="0"/>
              </a:spcAft>
              <a:buNone/>
            </a:pPr>
            <a:r>
              <a:rPr lang="en"/>
              <a:t>10</a:t>
            </a:r>
            <a:endParaRPr/>
          </a:p>
        </p:txBody>
      </p:sp>
      <p:sp>
        <p:nvSpPr>
          <p:cNvPr id="1973" name="Google Shape;1973;p78"/>
          <p:cNvSpPr txBox="1"/>
          <p:nvPr/>
        </p:nvSpPr>
        <p:spPr>
          <a:xfrm>
            <a:off x="5174775" y="867875"/>
            <a:ext cx="14985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value = None</a:t>
            </a:r>
            <a:endParaRPr/>
          </a:p>
          <a:p>
            <a:pPr marL="0" lvl="0" indent="0" algn="l" rtl="0">
              <a:spcBef>
                <a:spcPts val="0"/>
              </a:spcBef>
              <a:spcAft>
                <a:spcPts val="0"/>
              </a:spcAft>
              <a:buNone/>
            </a:pPr>
            <a:r>
              <a:rPr lang="en"/>
              <a:t>best = 20</a:t>
            </a:r>
            <a:endParaRPr/>
          </a:p>
        </p:txBody>
      </p:sp>
      <p:sp>
        <p:nvSpPr>
          <p:cNvPr id="1974" name="Google Shape;1974;p78"/>
          <p:cNvSpPr txBox="1"/>
          <p:nvPr/>
        </p:nvSpPr>
        <p:spPr>
          <a:xfrm>
            <a:off x="6490325" y="1474138"/>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None</a:t>
            </a:r>
            <a:endParaRPr/>
          </a:p>
          <a:p>
            <a:pPr marL="0" lvl="0" indent="0" algn="l" rtl="0">
              <a:spcBef>
                <a:spcPts val="0"/>
              </a:spcBef>
              <a:spcAft>
                <a:spcPts val="0"/>
              </a:spcAft>
              <a:buNone/>
            </a:pPr>
            <a:r>
              <a:rPr lang="en"/>
              <a:t>20</a:t>
            </a:r>
            <a:endParaRPr/>
          </a:p>
        </p:txBody>
      </p:sp>
      <p:sp>
        <p:nvSpPr>
          <p:cNvPr id="1975" name="Google Shape;1975;p78"/>
          <p:cNvSpPr txBox="1"/>
          <p:nvPr/>
        </p:nvSpPr>
        <p:spPr>
          <a:xfrm>
            <a:off x="4813925" y="2159938"/>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None</a:t>
            </a:r>
            <a:endParaRPr/>
          </a:p>
          <a:p>
            <a:pPr marL="0" lvl="0" indent="0" algn="l" rtl="0">
              <a:spcBef>
                <a:spcPts val="0"/>
              </a:spcBef>
              <a:spcAft>
                <a:spcPts val="0"/>
              </a:spcAft>
              <a:buNone/>
            </a:pPr>
            <a:r>
              <a:rPr lang="en"/>
              <a:t>12</a:t>
            </a:r>
            <a:endParaRPr/>
          </a:p>
        </p:txBody>
      </p:sp>
      <p:sp>
        <p:nvSpPr>
          <p:cNvPr id="1976" name="Google Shape;1976;p78"/>
          <p:cNvSpPr txBox="1"/>
          <p:nvPr/>
        </p:nvSpPr>
        <p:spPr>
          <a:xfrm>
            <a:off x="4890125" y="2921938"/>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12</a:t>
            </a:r>
            <a:endParaRPr/>
          </a:p>
          <a:p>
            <a:pPr marL="0" lvl="0" indent="0" algn="l" rtl="0">
              <a:spcBef>
                <a:spcPts val="0"/>
              </a:spcBef>
              <a:spcAft>
                <a:spcPts val="0"/>
              </a:spcAft>
              <a:buNone/>
            </a:pPr>
            <a:r>
              <a:rPr lang="en"/>
              <a:t>12</a:t>
            </a:r>
            <a:endParaRPr/>
          </a:p>
        </p:txBody>
      </p:sp>
      <p:sp>
        <p:nvSpPr>
          <p:cNvPr id="1977" name="Google Shape;1977;p78"/>
          <p:cNvSpPr txBox="1"/>
          <p:nvPr/>
        </p:nvSpPr>
        <p:spPr>
          <a:xfrm>
            <a:off x="6109325" y="2212550"/>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None</a:t>
            </a:r>
            <a:endParaRPr/>
          </a:p>
          <a:p>
            <a:pPr marL="0" lvl="0" indent="0" algn="l" rtl="0">
              <a:spcBef>
                <a:spcPts val="0"/>
              </a:spcBef>
              <a:spcAft>
                <a:spcPts val="0"/>
              </a:spcAft>
              <a:buNone/>
            </a:pPr>
            <a:r>
              <a:rPr lang="en"/>
              <a:t>5</a:t>
            </a:r>
            <a:endParaRPr/>
          </a:p>
        </p:txBody>
      </p:sp>
      <p:sp>
        <p:nvSpPr>
          <p:cNvPr id="1978" name="Google Shape;1978;p78"/>
          <p:cNvSpPr txBox="1"/>
          <p:nvPr/>
        </p:nvSpPr>
        <p:spPr>
          <a:xfrm>
            <a:off x="6119471" y="2948670"/>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None</a:t>
            </a:r>
            <a:endParaRPr/>
          </a:p>
          <a:p>
            <a:pPr marL="0" lvl="0" indent="0" algn="l" rtl="0">
              <a:spcBef>
                <a:spcPts val="0"/>
              </a:spcBef>
              <a:spcAft>
                <a:spcPts val="0"/>
              </a:spcAft>
              <a:buNone/>
            </a:pPr>
            <a:r>
              <a:rPr lang="en"/>
              <a:t>5</a:t>
            </a:r>
            <a:endParaRPr/>
          </a:p>
        </p:txBody>
      </p:sp>
      <p:sp>
        <p:nvSpPr>
          <p:cNvPr id="1979" name="Google Shape;1979;p78"/>
          <p:cNvSpPr txBox="1"/>
          <p:nvPr/>
        </p:nvSpPr>
        <p:spPr>
          <a:xfrm>
            <a:off x="6134096" y="3557232"/>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5</a:t>
            </a:r>
            <a:endParaRPr/>
          </a:p>
          <a:p>
            <a:pPr marL="0" lvl="0" indent="0" algn="l" rtl="0">
              <a:spcBef>
                <a:spcPts val="0"/>
              </a:spcBef>
              <a:spcAft>
                <a:spcPts val="0"/>
              </a:spcAft>
              <a:buNone/>
            </a:pPr>
            <a:r>
              <a:rPr lang="en"/>
              <a:t>5</a:t>
            </a:r>
            <a:endParaRPr/>
          </a:p>
        </p:txBody>
      </p:sp>
      <p:sp>
        <p:nvSpPr>
          <p:cNvPr id="1980" name="Google Shape;1980;p78"/>
          <p:cNvSpPr txBox="1"/>
          <p:nvPr/>
        </p:nvSpPr>
        <p:spPr>
          <a:xfrm>
            <a:off x="7135846" y="2190340"/>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None</a:t>
            </a:r>
            <a:endParaRPr/>
          </a:p>
          <a:p>
            <a:pPr marL="0" lvl="0" indent="0" algn="l" rtl="0">
              <a:spcBef>
                <a:spcPts val="0"/>
              </a:spcBef>
              <a:spcAft>
                <a:spcPts val="0"/>
              </a:spcAft>
              <a:buNone/>
            </a:pPr>
            <a:r>
              <a:rPr lang="en"/>
              <a:t>20</a:t>
            </a:r>
            <a:endParaRPr/>
          </a:p>
        </p:txBody>
      </p:sp>
      <p:sp>
        <p:nvSpPr>
          <p:cNvPr id="1981" name="Google Shape;1981;p78"/>
          <p:cNvSpPr txBox="1"/>
          <p:nvPr/>
        </p:nvSpPr>
        <p:spPr>
          <a:xfrm>
            <a:off x="7145646" y="2876713"/>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None</a:t>
            </a:r>
            <a:endParaRPr/>
          </a:p>
          <a:p>
            <a:pPr marL="0" lvl="0" indent="0" algn="l" rtl="0">
              <a:spcBef>
                <a:spcPts val="0"/>
              </a:spcBef>
              <a:spcAft>
                <a:spcPts val="0"/>
              </a:spcAft>
              <a:buNone/>
            </a:pPr>
            <a:r>
              <a:rPr lang="en"/>
              <a:t>20</a:t>
            </a:r>
            <a:endParaRPr/>
          </a:p>
        </p:txBody>
      </p:sp>
      <p:sp>
        <p:nvSpPr>
          <p:cNvPr id="1982" name="Google Shape;1982;p78"/>
          <p:cNvSpPr txBox="1"/>
          <p:nvPr/>
        </p:nvSpPr>
        <p:spPr>
          <a:xfrm>
            <a:off x="7185443" y="3561148"/>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15</a:t>
            </a:r>
            <a:endParaRPr/>
          </a:p>
          <a:p>
            <a:pPr marL="0" lvl="0" indent="0" algn="l" rtl="0">
              <a:spcBef>
                <a:spcPts val="0"/>
              </a:spcBef>
              <a:spcAft>
                <a:spcPts val="0"/>
              </a:spcAft>
              <a:buNone/>
            </a:pPr>
            <a:r>
              <a:rPr lang="en"/>
              <a:t>20</a:t>
            </a:r>
            <a:endParaRPr/>
          </a:p>
        </p:txBody>
      </p:sp>
      <p:sp>
        <p:nvSpPr>
          <p:cNvPr id="1983" name="Google Shape;1983;p78"/>
          <p:cNvSpPr txBox="1"/>
          <p:nvPr/>
        </p:nvSpPr>
        <p:spPr>
          <a:xfrm>
            <a:off x="7188743" y="4147724"/>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20</a:t>
            </a:r>
            <a:endParaRPr/>
          </a:p>
          <a:p>
            <a:pPr marL="0" lvl="0" indent="0" algn="l" rtl="0">
              <a:spcBef>
                <a:spcPts val="0"/>
              </a:spcBef>
              <a:spcAft>
                <a:spcPts val="0"/>
              </a:spcAft>
              <a:buNone/>
            </a:pPr>
            <a:r>
              <a:rPr lang="en"/>
              <a:t>20</a:t>
            </a:r>
            <a:endParaRPr/>
          </a:p>
        </p:txBody>
      </p:sp>
      <p:sp>
        <p:nvSpPr>
          <p:cNvPr id="1984" name="Google Shape;1984;p78"/>
          <p:cNvSpPr txBox="1"/>
          <p:nvPr/>
        </p:nvSpPr>
        <p:spPr>
          <a:xfrm>
            <a:off x="8090525" y="2388538"/>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20</a:t>
            </a:r>
            <a:endParaRPr/>
          </a:p>
        </p:txBody>
      </p:sp>
      <p:sp>
        <p:nvSpPr>
          <p:cNvPr id="1985" name="Google Shape;1985;p78"/>
          <p:cNvSpPr txBox="1"/>
          <p:nvPr/>
        </p:nvSpPr>
        <p:spPr>
          <a:xfrm>
            <a:off x="8762050" y="2952913"/>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7</a:t>
            </a:r>
            <a:endParaRPr/>
          </a:p>
          <a:p>
            <a:pPr marL="0" lvl="0" indent="0" algn="l" rtl="0">
              <a:spcBef>
                <a:spcPts val="0"/>
              </a:spcBef>
              <a:spcAft>
                <a:spcPts val="0"/>
              </a:spcAft>
              <a:buNone/>
            </a:pPr>
            <a:r>
              <a:rPr lang="en"/>
              <a:t>7</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89"/>
        <p:cNvGrpSpPr/>
        <p:nvPr/>
      </p:nvGrpSpPr>
      <p:grpSpPr>
        <a:xfrm>
          <a:off x="0" y="0"/>
          <a:ext cx="0" cy="0"/>
          <a:chOff x="0" y="0"/>
          <a:chExt cx="0" cy="0"/>
        </a:xfrm>
      </p:grpSpPr>
      <p:sp>
        <p:nvSpPr>
          <p:cNvPr id="1990" name="Google Shape;1990;p7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Even More Efficient Autocomplete</a:t>
            </a:r>
            <a:endParaRPr/>
          </a:p>
        </p:txBody>
      </p:sp>
      <p:sp>
        <p:nvSpPr>
          <p:cNvPr id="1991" name="Google Shape;1991;p79"/>
          <p:cNvSpPr txBox="1">
            <a:spLocks noGrp="1"/>
          </p:cNvSpPr>
          <p:nvPr>
            <p:ph type="body" idx="1"/>
          </p:nvPr>
        </p:nvSpPr>
        <p:spPr>
          <a:xfrm>
            <a:off x="319200" y="556500"/>
            <a:ext cx="8443800" cy="95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p:txBody>
      </p:sp>
      <p:sp>
        <p:nvSpPr>
          <p:cNvPr id="1992" name="Google Shape;1992;p79"/>
          <p:cNvSpPr txBox="1">
            <a:spLocks noGrp="1"/>
          </p:cNvSpPr>
          <p:nvPr>
            <p:ph type="body" idx="1"/>
          </p:nvPr>
        </p:nvSpPr>
        <p:spPr>
          <a:xfrm>
            <a:off x="90600" y="409750"/>
            <a:ext cx="3368400" cy="4255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Can also merge nodes that are redundant!</a:t>
            </a:r>
            <a:endParaRPr/>
          </a:p>
          <a:p>
            <a:pPr marL="457200" lvl="0" indent="-342900" algn="l" rtl="0">
              <a:spcBef>
                <a:spcPts val="600"/>
              </a:spcBef>
              <a:spcAft>
                <a:spcPts val="0"/>
              </a:spcAft>
              <a:buSzPts val="1800"/>
              <a:buChar char="●"/>
            </a:pPr>
            <a:r>
              <a:rPr lang="en"/>
              <a:t>This version of trie is known as a “radix tree” or “radix trie”.</a:t>
            </a:r>
            <a:endParaRPr/>
          </a:p>
          <a:p>
            <a:pPr marL="457200" lvl="0" indent="-342900" algn="l" rtl="0">
              <a:spcBef>
                <a:spcPts val="600"/>
              </a:spcBef>
              <a:spcAft>
                <a:spcPts val="0"/>
              </a:spcAft>
              <a:buSzPts val="1800"/>
              <a:buChar char="●"/>
            </a:pPr>
            <a:r>
              <a:rPr lang="en"/>
              <a:t>Won’t discuss.</a:t>
            </a:r>
            <a:endParaRPr/>
          </a:p>
        </p:txBody>
      </p:sp>
      <p:sp>
        <p:nvSpPr>
          <p:cNvPr id="1993" name="Google Shape;1993;p79"/>
          <p:cNvSpPr/>
          <p:nvPr/>
        </p:nvSpPr>
        <p:spPr>
          <a:xfrm>
            <a:off x="6390242" y="1024675"/>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1994" name="Google Shape;1994;p79"/>
          <p:cNvSpPr/>
          <p:nvPr/>
        </p:nvSpPr>
        <p:spPr>
          <a:xfrm>
            <a:off x="7065788" y="1625196"/>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sp>
        <p:nvSpPr>
          <p:cNvPr id="1995" name="Google Shape;1995;p79"/>
          <p:cNvSpPr/>
          <p:nvPr/>
        </p:nvSpPr>
        <p:spPr>
          <a:xfrm>
            <a:off x="5148150" y="2260475"/>
            <a:ext cx="6744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ad</a:t>
            </a:r>
            <a:endParaRPr sz="1800">
              <a:latin typeface="Consolas"/>
              <a:ea typeface="Consolas"/>
              <a:cs typeface="Consolas"/>
              <a:sym typeface="Consolas"/>
            </a:endParaRPr>
          </a:p>
        </p:txBody>
      </p:sp>
      <p:sp>
        <p:nvSpPr>
          <p:cNvPr id="1996" name="Google Shape;1996;p79"/>
          <p:cNvSpPr/>
          <p:nvPr/>
        </p:nvSpPr>
        <p:spPr>
          <a:xfrm>
            <a:off x="6247700" y="2267525"/>
            <a:ext cx="8154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mog</a:t>
            </a:r>
            <a:endParaRPr sz="1800">
              <a:latin typeface="Consolas"/>
              <a:ea typeface="Consolas"/>
              <a:cs typeface="Consolas"/>
              <a:sym typeface="Consolas"/>
            </a:endParaRPr>
          </a:p>
        </p:txBody>
      </p:sp>
      <p:sp>
        <p:nvSpPr>
          <p:cNvPr id="1997" name="Google Shape;1997;p79"/>
          <p:cNvSpPr/>
          <p:nvPr/>
        </p:nvSpPr>
        <p:spPr>
          <a:xfrm>
            <a:off x="7675388" y="2260477"/>
            <a:ext cx="432900" cy="432900"/>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p</a:t>
            </a:r>
            <a:endParaRPr sz="1800">
              <a:latin typeface="Consolas"/>
              <a:ea typeface="Consolas"/>
              <a:cs typeface="Consolas"/>
              <a:sym typeface="Consolas"/>
            </a:endParaRPr>
          </a:p>
        </p:txBody>
      </p:sp>
      <p:sp>
        <p:nvSpPr>
          <p:cNvPr id="1998" name="Google Shape;1998;p79"/>
          <p:cNvSpPr/>
          <p:nvPr/>
        </p:nvSpPr>
        <p:spPr>
          <a:xfrm>
            <a:off x="4292447" y="1625200"/>
            <a:ext cx="11820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onsolas"/>
                <a:ea typeface="Consolas"/>
                <a:cs typeface="Consolas"/>
                <a:sym typeface="Consolas"/>
              </a:rPr>
              <a:t>buck</a:t>
            </a:r>
            <a:endParaRPr sz="1800">
              <a:latin typeface="Consolas"/>
              <a:ea typeface="Consolas"/>
              <a:cs typeface="Consolas"/>
              <a:sym typeface="Consolas"/>
            </a:endParaRPr>
          </a:p>
        </p:txBody>
      </p:sp>
      <p:cxnSp>
        <p:nvCxnSpPr>
          <p:cNvPr id="1999" name="Google Shape;1999;p79"/>
          <p:cNvCxnSpPr/>
          <p:nvPr/>
        </p:nvCxnSpPr>
        <p:spPr>
          <a:xfrm>
            <a:off x="6901238" y="3176252"/>
            <a:ext cx="0" cy="0"/>
          </a:xfrm>
          <a:prstGeom prst="straightConnector1">
            <a:avLst/>
          </a:prstGeom>
          <a:noFill/>
          <a:ln w="19050" cap="flat" cmpd="sng">
            <a:solidFill>
              <a:schemeClr val="dk2"/>
            </a:solidFill>
            <a:prstDash val="solid"/>
            <a:round/>
            <a:headEnd type="none" w="med" len="med"/>
            <a:tailEnd type="none" w="med" len="med"/>
          </a:ln>
        </p:spPr>
      </p:cxnSp>
      <p:cxnSp>
        <p:nvCxnSpPr>
          <p:cNvPr id="2000" name="Google Shape;2000;p79"/>
          <p:cNvCxnSpPr>
            <a:stCxn id="1993" idx="5"/>
            <a:endCxn id="1994" idx="0"/>
          </p:cNvCxnSpPr>
          <p:nvPr/>
        </p:nvCxnSpPr>
        <p:spPr>
          <a:xfrm>
            <a:off x="6759745" y="1394178"/>
            <a:ext cx="522600" cy="231000"/>
          </a:xfrm>
          <a:prstGeom prst="straightConnector1">
            <a:avLst/>
          </a:prstGeom>
          <a:noFill/>
          <a:ln w="28575" cap="flat" cmpd="sng">
            <a:solidFill>
              <a:schemeClr val="dk2"/>
            </a:solidFill>
            <a:prstDash val="solid"/>
            <a:round/>
            <a:headEnd type="none" w="med" len="med"/>
            <a:tailEnd type="none" w="med" len="med"/>
          </a:ln>
        </p:spPr>
      </p:cxnSp>
      <p:cxnSp>
        <p:nvCxnSpPr>
          <p:cNvPr id="2001" name="Google Shape;2001;p79"/>
          <p:cNvCxnSpPr>
            <a:stCxn id="1994" idx="3"/>
            <a:endCxn id="1995" idx="0"/>
          </p:cNvCxnSpPr>
          <p:nvPr/>
        </p:nvCxnSpPr>
        <p:spPr>
          <a:xfrm flipH="1">
            <a:off x="5485484" y="1994699"/>
            <a:ext cx="1643700" cy="265800"/>
          </a:xfrm>
          <a:prstGeom prst="straightConnector1">
            <a:avLst/>
          </a:prstGeom>
          <a:noFill/>
          <a:ln w="28575" cap="flat" cmpd="sng">
            <a:solidFill>
              <a:schemeClr val="dk2"/>
            </a:solidFill>
            <a:prstDash val="solid"/>
            <a:round/>
            <a:headEnd type="none" w="med" len="med"/>
            <a:tailEnd type="none" w="med" len="med"/>
          </a:ln>
        </p:spPr>
      </p:cxnSp>
      <p:cxnSp>
        <p:nvCxnSpPr>
          <p:cNvPr id="2002" name="Google Shape;2002;p79"/>
          <p:cNvCxnSpPr>
            <a:stCxn id="1994" idx="4"/>
            <a:endCxn id="1996" idx="0"/>
          </p:cNvCxnSpPr>
          <p:nvPr/>
        </p:nvCxnSpPr>
        <p:spPr>
          <a:xfrm flipH="1">
            <a:off x="6655538" y="2058096"/>
            <a:ext cx="626700" cy="209400"/>
          </a:xfrm>
          <a:prstGeom prst="straightConnector1">
            <a:avLst/>
          </a:prstGeom>
          <a:noFill/>
          <a:ln w="28575" cap="flat" cmpd="sng">
            <a:solidFill>
              <a:schemeClr val="dk2"/>
            </a:solidFill>
            <a:prstDash val="solid"/>
            <a:round/>
            <a:headEnd type="none" w="med" len="med"/>
            <a:tailEnd type="none" w="med" len="med"/>
          </a:ln>
        </p:spPr>
      </p:cxnSp>
      <p:cxnSp>
        <p:nvCxnSpPr>
          <p:cNvPr id="2003" name="Google Shape;2003;p79"/>
          <p:cNvCxnSpPr>
            <a:stCxn id="1994" idx="5"/>
            <a:endCxn id="1997" idx="0"/>
          </p:cNvCxnSpPr>
          <p:nvPr/>
        </p:nvCxnSpPr>
        <p:spPr>
          <a:xfrm>
            <a:off x="7435291" y="1994699"/>
            <a:ext cx="456600" cy="265800"/>
          </a:xfrm>
          <a:prstGeom prst="straightConnector1">
            <a:avLst/>
          </a:prstGeom>
          <a:noFill/>
          <a:ln w="28575" cap="flat" cmpd="sng">
            <a:solidFill>
              <a:schemeClr val="dk2"/>
            </a:solidFill>
            <a:prstDash val="solid"/>
            <a:round/>
            <a:headEnd type="none" w="med" len="med"/>
            <a:tailEnd type="none" w="med" len="med"/>
          </a:ln>
        </p:spPr>
      </p:cxnSp>
      <p:cxnSp>
        <p:nvCxnSpPr>
          <p:cNvPr id="2004" name="Google Shape;2004;p79"/>
          <p:cNvCxnSpPr>
            <a:stCxn id="1993" idx="3"/>
            <a:endCxn id="1998" idx="0"/>
          </p:cNvCxnSpPr>
          <p:nvPr/>
        </p:nvCxnSpPr>
        <p:spPr>
          <a:xfrm flipH="1">
            <a:off x="4883439" y="1394178"/>
            <a:ext cx="1570200" cy="231000"/>
          </a:xfrm>
          <a:prstGeom prst="straightConnector1">
            <a:avLst/>
          </a:prstGeom>
          <a:noFill/>
          <a:ln w="28575" cap="flat" cmpd="sng">
            <a:solidFill>
              <a:schemeClr val="dk2"/>
            </a:solidFill>
            <a:prstDash val="solid"/>
            <a:round/>
            <a:headEnd type="none" w="med" len="med"/>
            <a:tailEnd type="none" w="med" len="med"/>
          </a:ln>
        </p:spPr>
      </p:cxnSp>
      <p:sp>
        <p:nvSpPr>
          <p:cNvPr id="2005" name="Google Shape;2005;p79"/>
          <p:cNvSpPr/>
          <p:nvPr/>
        </p:nvSpPr>
        <p:spPr>
          <a:xfrm>
            <a:off x="8358888" y="3010577"/>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y</a:t>
            </a:r>
            <a:endParaRPr sz="1800">
              <a:latin typeface="Consolas"/>
              <a:ea typeface="Consolas"/>
              <a:cs typeface="Consolas"/>
              <a:sym typeface="Consolas"/>
            </a:endParaRPr>
          </a:p>
        </p:txBody>
      </p:sp>
      <p:sp>
        <p:nvSpPr>
          <p:cNvPr id="2006" name="Google Shape;2006;p79"/>
          <p:cNvSpPr/>
          <p:nvPr/>
        </p:nvSpPr>
        <p:spPr>
          <a:xfrm>
            <a:off x="7580575" y="3010575"/>
            <a:ext cx="6744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it</a:t>
            </a:r>
            <a:endParaRPr sz="1800">
              <a:latin typeface="Consolas"/>
              <a:ea typeface="Consolas"/>
              <a:cs typeface="Consolas"/>
              <a:sym typeface="Consolas"/>
            </a:endParaRPr>
          </a:p>
        </p:txBody>
      </p:sp>
      <p:sp>
        <p:nvSpPr>
          <p:cNvPr id="2007" name="Google Shape;2007;p79"/>
          <p:cNvSpPr/>
          <p:nvPr/>
        </p:nvSpPr>
        <p:spPr>
          <a:xfrm>
            <a:off x="7703020" y="3620504"/>
            <a:ext cx="432900" cy="432900"/>
          </a:xfrm>
          <a:prstGeom prst="ellipse">
            <a:avLst/>
          </a:prstGeom>
          <a:solidFill>
            <a:srgbClr val="CFE2F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e</a:t>
            </a:r>
            <a:endParaRPr sz="1800">
              <a:latin typeface="Consolas"/>
              <a:ea typeface="Consolas"/>
              <a:cs typeface="Consolas"/>
              <a:sym typeface="Consolas"/>
            </a:endParaRPr>
          </a:p>
        </p:txBody>
      </p:sp>
      <p:cxnSp>
        <p:nvCxnSpPr>
          <p:cNvPr id="2008" name="Google Shape;2008;p79"/>
          <p:cNvCxnSpPr>
            <a:stCxn id="1997" idx="5"/>
            <a:endCxn id="2005" idx="0"/>
          </p:cNvCxnSpPr>
          <p:nvPr/>
        </p:nvCxnSpPr>
        <p:spPr>
          <a:xfrm>
            <a:off x="8044891" y="2629980"/>
            <a:ext cx="530400" cy="380700"/>
          </a:xfrm>
          <a:prstGeom prst="straightConnector1">
            <a:avLst/>
          </a:prstGeom>
          <a:noFill/>
          <a:ln w="28575" cap="flat" cmpd="sng">
            <a:solidFill>
              <a:schemeClr val="dk2"/>
            </a:solidFill>
            <a:prstDash val="solid"/>
            <a:round/>
            <a:headEnd type="none" w="med" len="med"/>
            <a:tailEnd type="none" w="med" len="med"/>
          </a:ln>
        </p:spPr>
      </p:cxnSp>
      <p:cxnSp>
        <p:nvCxnSpPr>
          <p:cNvPr id="2009" name="Google Shape;2009;p79"/>
          <p:cNvCxnSpPr>
            <a:stCxn id="1997" idx="4"/>
            <a:endCxn id="2006" idx="0"/>
          </p:cNvCxnSpPr>
          <p:nvPr/>
        </p:nvCxnSpPr>
        <p:spPr>
          <a:xfrm>
            <a:off x="7891838" y="2693377"/>
            <a:ext cx="25800" cy="317100"/>
          </a:xfrm>
          <a:prstGeom prst="straightConnector1">
            <a:avLst/>
          </a:prstGeom>
          <a:noFill/>
          <a:ln w="28575" cap="flat" cmpd="sng">
            <a:solidFill>
              <a:schemeClr val="dk2"/>
            </a:solidFill>
            <a:prstDash val="solid"/>
            <a:round/>
            <a:headEnd type="none" w="med" len="med"/>
            <a:tailEnd type="none" w="med" len="med"/>
          </a:ln>
        </p:spPr>
      </p:cxnSp>
      <p:cxnSp>
        <p:nvCxnSpPr>
          <p:cNvPr id="2010" name="Google Shape;2010;p79"/>
          <p:cNvCxnSpPr>
            <a:stCxn id="2006" idx="4"/>
            <a:endCxn id="2007" idx="0"/>
          </p:cNvCxnSpPr>
          <p:nvPr/>
        </p:nvCxnSpPr>
        <p:spPr>
          <a:xfrm>
            <a:off x="7917775" y="3443475"/>
            <a:ext cx="1800" cy="177000"/>
          </a:xfrm>
          <a:prstGeom prst="straightConnector1">
            <a:avLst/>
          </a:prstGeom>
          <a:noFill/>
          <a:ln w="28575" cap="flat" cmpd="sng">
            <a:solidFill>
              <a:schemeClr val="dk2"/>
            </a:solidFill>
            <a:prstDash val="solid"/>
            <a:round/>
            <a:headEnd type="none" w="med" len="med"/>
            <a:tailEnd type="none" w="med" len="med"/>
          </a:ln>
        </p:spPr>
      </p:cxnSp>
      <p:sp>
        <p:nvSpPr>
          <p:cNvPr id="2011" name="Google Shape;2011;p79"/>
          <p:cNvSpPr txBox="1"/>
          <p:nvPr/>
        </p:nvSpPr>
        <p:spPr>
          <a:xfrm>
            <a:off x="3848407" y="1527020"/>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10</a:t>
            </a:r>
            <a:endParaRPr/>
          </a:p>
          <a:p>
            <a:pPr marL="0" lvl="0" indent="0" algn="l" rtl="0">
              <a:spcBef>
                <a:spcPts val="0"/>
              </a:spcBef>
              <a:spcAft>
                <a:spcPts val="0"/>
              </a:spcAft>
              <a:buNone/>
            </a:pPr>
            <a:r>
              <a:rPr lang="en"/>
              <a:t>10</a:t>
            </a:r>
            <a:endParaRPr/>
          </a:p>
        </p:txBody>
      </p:sp>
      <p:sp>
        <p:nvSpPr>
          <p:cNvPr id="2012" name="Google Shape;2012;p79"/>
          <p:cNvSpPr txBox="1"/>
          <p:nvPr/>
        </p:nvSpPr>
        <p:spPr>
          <a:xfrm>
            <a:off x="5174775" y="867875"/>
            <a:ext cx="14985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value = None</a:t>
            </a:r>
            <a:endParaRPr/>
          </a:p>
          <a:p>
            <a:pPr marL="0" lvl="0" indent="0" algn="l" rtl="0">
              <a:spcBef>
                <a:spcPts val="0"/>
              </a:spcBef>
              <a:spcAft>
                <a:spcPts val="0"/>
              </a:spcAft>
              <a:buNone/>
            </a:pPr>
            <a:r>
              <a:rPr lang="en"/>
              <a:t>best = 20</a:t>
            </a:r>
            <a:endParaRPr/>
          </a:p>
        </p:txBody>
      </p:sp>
      <p:sp>
        <p:nvSpPr>
          <p:cNvPr id="2013" name="Google Shape;2013;p79"/>
          <p:cNvSpPr txBox="1"/>
          <p:nvPr/>
        </p:nvSpPr>
        <p:spPr>
          <a:xfrm>
            <a:off x="6490325" y="1474138"/>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None</a:t>
            </a:r>
            <a:endParaRPr/>
          </a:p>
          <a:p>
            <a:pPr marL="0" lvl="0" indent="0" algn="l" rtl="0">
              <a:spcBef>
                <a:spcPts val="0"/>
              </a:spcBef>
              <a:spcAft>
                <a:spcPts val="0"/>
              </a:spcAft>
              <a:buNone/>
            </a:pPr>
            <a:r>
              <a:rPr lang="en"/>
              <a:t>20</a:t>
            </a:r>
            <a:endParaRPr/>
          </a:p>
        </p:txBody>
      </p:sp>
      <p:sp>
        <p:nvSpPr>
          <p:cNvPr id="2014" name="Google Shape;2014;p79"/>
          <p:cNvSpPr txBox="1"/>
          <p:nvPr/>
        </p:nvSpPr>
        <p:spPr>
          <a:xfrm>
            <a:off x="4764714" y="2160730"/>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12</a:t>
            </a:r>
            <a:endParaRPr/>
          </a:p>
          <a:p>
            <a:pPr marL="0" lvl="0" indent="0" algn="l" rtl="0">
              <a:spcBef>
                <a:spcPts val="0"/>
              </a:spcBef>
              <a:spcAft>
                <a:spcPts val="0"/>
              </a:spcAft>
              <a:buNone/>
            </a:pPr>
            <a:r>
              <a:rPr lang="en"/>
              <a:t>12</a:t>
            </a:r>
            <a:endParaRPr/>
          </a:p>
        </p:txBody>
      </p:sp>
      <p:sp>
        <p:nvSpPr>
          <p:cNvPr id="2015" name="Google Shape;2015;p79"/>
          <p:cNvSpPr txBox="1"/>
          <p:nvPr/>
        </p:nvSpPr>
        <p:spPr>
          <a:xfrm>
            <a:off x="5964396" y="2202382"/>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5</a:t>
            </a:r>
            <a:endParaRPr/>
          </a:p>
          <a:p>
            <a:pPr marL="0" lvl="0" indent="0" algn="l" rtl="0">
              <a:spcBef>
                <a:spcPts val="0"/>
              </a:spcBef>
              <a:spcAft>
                <a:spcPts val="0"/>
              </a:spcAft>
              <a:buNone/>
            </a:pPr>
            <a:r>
              <a:rPr lang="en"/>
              <a:t>5</a:t>
            </a:r>
            <a:endParaRPr/>
          </a:p>
        </p:txBody>
      </p:sp>
      <p:sp>
        <p:nvSpPr>
          <p:cNvPr id="2016" name="Google Shape;2016;p79"/>
          <p:cNvSpPr txBox="1"/>
          <p:nvPr/>
        </p:nvSpPr>
        <p:spPr>
          <a:xfrm>
            <a:off x="7135846" y="2190340"/>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None</a:t>
            </a:r>
            <a:endParaRPr/>
          </a:p>
          <a:p>
            <a:pPr marL="0" lvl="0" indent="0" algn="l" rtl="0">
              <a:spcBef>
                <a:spcPts val="0"/>
              </a:spcBef>
              <a:spcAft>
                <a:spcPts val="0"/>
              </a:spcAft>
              <a:buNone/>
            </a:pPr>
            <a:r>
              <a:rPr lang="en"/>
              <a:t>20</a:t>
            </a:r>
            <a:endParaRPr/>
          </a:p>
        </p:txBody>
      </p:sp>
      <p:sp>
        <p:nvSpPr>
          <p:cNvPr id="2017" name="Google Shape;2017;p79"/>
          <p:cNvSpPr txBox="1"/>
          <p:nvPr/>
        </p:nvSpPr>
        <p:spPr>
          <a:xfrm>
            <a:off x="7188743" y="2952923"/>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15</a:t>
            </a:r>
            <a:endParaRPr/>
          </a:p>
          <a:p>
            <a:pPr marL="0" lvl="0" indent="0" algn="l" rtl="0">
              <a:spcBef>
                <a:spcPts val="0"/>
              </a:spcBef>
              <a:spcAft>
                <a:spcPts val="0"/>
              </a:spcAft>
              <a:buNone/>
            </a:pPr>
            <a:r>
              <a:rPr lang="en"/>
              <a:t>20</a:t>
            </a:r>
            <a:endParaRPr/>
          </a:p>
        </p:txBody>
      </p:sp>
      <p:sp>
        <p:nvSpPr>
          <p:cNvPr id="2018" name="Google Shape;2018;p79"/>
          <p:cNvSpPr txBox="1"/>
          <p:nvPr/>
        </p:nvSpPr>
        <p:spPr>
          <a:xfrm>
            <a:off x="7207379" y="3546710"/>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20</a:t>
            </a:r>
            <a:endParaRPr/>
          </a:p>
          <a:p>
            <a:pPr marL="0" lvl="0" indent="0" algn="l" rtl="0">
              <a:spcBef>
                <a:spcPts val="0"/>
              </a:spcBef>
              <a:spcAft>
                <a:spcPts val="0"/>
              </a:spcAft>
              <a:buNone/>
            </a:pPr>
            <a:r>
              <a:rPr lang="en"/>
              <a:t>20</a:t>
            </a:r>
            <a:endParaRPr/>
          </a:p>
        </p:txBody>
      </p:sp>
      <p:sp>
        <p:nvSpPr>
          <p:cNvPr id="2019" name="Google Shape;2019;p79"/>
          <p:cNvSpPr txBox="1"/>
          <p:nvPr/>
        </p:nvSpPr>
        <p:spPr>
          <a:xfrm>
            <a:off x="8090525" y="2388538"/>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20</a:t>
            </a:r>
            <a:endParaRPr/>
          </a:p>
        </p:txBody>
      </p:sp>
      <p:sp>
        <p:nvSpPr>
          <p:cNvPr id="2020" name="Google Shape;2020;p79"/>
          <p:cNvSpPr txBox="1"/>
          <p:nvPr/>
        </p:nvSpPr>
        <p:spPr>
          <a:xfrm>
            <a:off x="8762050" y="2952913"/>
            <a:ext cx="8154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7</a:t>
            </a:r>
            <a:endParaRPr/>
          </a:p>
          <a:p>
            <a:pPr marL="0" lvl="0" indent="0" algn="l" rtl="0">
              <a:spcBef>
                <a:spcPts val="0"/>
              </a:spcBef>
              <a:spcAft>
                <a:spcPts val="0"/>
              </a:spcAft>
              <a:buNone/>
            </a:pPr>
            <a:r>
              <a:rPr lang="en"/>
              <a:t>7</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024"/>
        <p:cNvGrpSpPr/>
        <p:nvPr/>
      </p:nvGrpSpPr>
      <p:grpSpPr>
        <a:xfrm>
          <a:off x="0" y="0"/>
          <a:ext cx="0" cy="0"/>
          <a:chOff x="0" y="0"/>
          <a:chExt cx="0" cy="0"/>
        </a:xfrm>
      </p:grpSpPr>
      <p:sp>
        <p:nvSpPr>
          <p:cNvPr id="2025" name="Google Shape;2025;p80"/>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Lecture 26, CS61B, Fall 2023</a:t>
            </a:r>
            <a:endParaRPr/>
          </a:p>
        </p:txBody>
      </p:sp>
      <p:sp>
        <p:nvSpPr>
          <p:cNvPr id="2026" name="Google Shape;2026;p80"/>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Tries (Conceptual)</a:t>
            </a:r>
            <a:endParaRPr/>
          </a:p>
          <a:p>
            <a:pPr marL="0" lvl="0" indent="0" algn="l" rtl="0">
              <a:spcBef>
                <a:spcPts val="600"/>
              </a:spcBef>
              <a:spcAft>
                <a:spcPts val="0"/>
              </a:spcAft>
              <a:buNone/>
            </a:pPr>
            <a:r>
              <a:rPr lang="en"/>
              <a:t>Trie Implementation and</a:t>
            </a:r>
            <a:br>
              <a:rPr lang="en"/>
            </a:br>
            <a:r>
              <a:rPr lang="en"/>
              <a:t>Performance</a:t>
            </a:r>
            <a:endParaRPr/>
          </a:p>
          <a:p>
            <a:pPr marL="0" lvl="0" indent="0" algn="l" rtl="0">
              <a:spcBef>
                <a:spcPts val="600"/>
              </a:spcBef>
              <a:spcAft>
                <a:spcPts val="0"/>
              </a:spcAft>
              <a:buNone/>
            </a:pPr>
            <a:r>
              <a:rPr lang="en"/>
              <a:t>Alternate Child Tracking Strategies</a:t>
            </a:r>
            <a:endParaRPr/>
          </a:p>
          <a:p>
            <a:pPr marL="0" lvl="0" indent="0" algn="l" rtl="0">
              <a:spcBef>
                <a:spcPts val="600"/>
              </a:spcBef>
              <a:spcAft>
                <a:spcPts val="0"/>
              </a:spcAft>
              <a:buNone/>
            </a:pPr>
            <a:r>
              <a:rPr lang="en"/>
              <a:t>Trie String Operations</a:t>
            </a:r>
            <a:endParaRPr/>
          </a:p>
          <a:p>
            <a:pPr marL="0" lvl="0" indent="0" algn="l" rtl="0">
              <a:spcBef>
                <a:spcPts val="600"/>
              </a:spcBef>
              <a:spcAft>
                <a:spcPts val="0"/>
              </a:spcAft>
              <a:buNone/>
            </a:pPr>
            <a:r>
              <a:rPr lang="en"/>
              <a:t>Autocomplete</a:t>
            </a:r>
            <a:endParaRPr/>
          </a:p>
          <a:p>
            <a:pPr marL="0" lvl="0" indent="0" algn="l" rtl="0">
              <a:spcBef>
                <a:spcPts val="600"/>
              </a:spcBef>
              <a:spcAft>
                <a:spcPts val="0"/>
              </a:spcAft>
              <a:buNone/>
            </a:pPr>
            <a:r>
              <a:rPr lang="en" b="1">
                <a:solidFill>
                  <a:schemeClr val="accent3"/>
                </a:solidFill>
                <a:latin typeface="Roboto"/>
                <a:ea typeface="Roboto"/>
                <a:cs typeface="Roboto"/>
                <a:sym typeface="Roboto"/>
              </a:rPr>
              <a:t>Trie Summary</a:t>
            </a:r>
            <a:endParaRPr/>
          </a:p>
        </p:txBody>
      </p:sp>
      <p:sp>
        <p:nvSpPr>
          <p:cNvPr id="2027" name="Google Shape;2027;p80"/>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Trie Summary</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031"/>
        <p:cNvGrpSpPr/>
        <p:nvPr/>
      </p:nvGrpSpPr>
      <p:grpSpPr>
        <a:xfrm>
          <a:off x="0" y="0"/>
          <a:ext cx="0" cy="0"/>
          <a:chOff x="0" y="0"/>
          <a:chExt cx="0" cy="0"/>
        </a:xfrm>
      </p:grpSpPr>
      <p:sp>
        <p:nvSpPr>
          <p:cNvPr id="2032" name="Google Shape;2032;p8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Tries</a:t>
            </a:r>
            <a:endParaRPr/>
          </a:p>
        </p:txBody>
      </p:sp>
      <p:sp>
        <p:nvSpPr>
          <p:cNvPr id="2033" name="Google Shape;2033;p81"/>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When your key is a string, you can use a Trie:</a:t>
            </a:r>
            <a:endParaRPr/>
          </a:p>
          <a:p>
            <a:pPr marL="457200" lvl="0" indent="-342900" algn="l" rtl="0">
              <a:spcBef>
                <a:spcPts val="600"/>
              </a:spcBef>
              <a:spcAft>
                <a:spcPts val="0"/>
              </a:spcAft>
              <a:buSzPts val="1800"/>
              <a:buChar char="●"/>
            </a:pPr>
            <a:r>
              <a:rPr lang="en"/>
              <a:t>Theoretically better performance than hash table or search tree.</a:t>
            </a:r>
            <a:endParaRPr/>
          </a:p>
          <a:p>
            <a:pPr marL="457200" lvl="0" indent="-342900" algn="l" rtl="0">
              <a:spcBef>
                <a:spcPts val="600"/>
              </a:spcBef>
              <a:spcAft>
                <a:spcPts val="0"/>
              </a:spcAft>
              <a:buSzPts val="1800"/>
              <a:buChar char="●"/>
            </a:pPr>
            <a:r>
              <a:rPr lang="en"/>
              <a:t>Have to decide on a mapping from letter to node. Three natural choices:</a:t>
            </a:r>
            <a:endParaRPr/>
          </a:p>
          <a:p>
            <a:pPr marL="914400" lvl="1" indent="-342900" algn="l" rtl="0">
              <a:spcBef>
                <a:spcPts val="600"/>
              </a:spcBef>
              <a:spcAft>
                <a:spcPts val="0"/>
              </a:spcAft>
              <a:buSzPts val="1800"/>
              <a:buChar char="○"/>
            </a:pPr>
            <a:r>
              <a:rPr lang="en"/>
              <a:t>DataIndexedCharMap, i.e. an array of all possible child links.</a:t>
            </a:r>
            <a:endParaRPr/>
          </a:p>
          <a:p>
            <a:pPr marL="914400" lvl="1" indent="-342900" algn="l" rtl="0">
              <a:spcBef>
                <a:spcPts val="600"/>
              </a:spcBef>
              <a:spcAft>
                <a:spcPts val="0"/>
              </a:spcAft>
              <a:buSzPts val="1800"/>
              <a:buChar char="○"/>
            </a:pPr>
            <a:r>
              <a:rPr lang="en"/>
              <a:t>Bushy BST.</a:t>
            </a:r>
            <a:endParaRPr/>
          </a:p>
          <a:p>
            <a:pPr marL="914400" lvl="1" indent="-342900" algn="l" rtl="0">
              <a:spcBef>
                <a:spcPts val="600"/>
              </a:spcBef>
              <a:spcAft>
                <a:spcPts val="0"/>
              </a:spcAft>
              <a:buSzPts val="1800"/>
              <a:buChar char="○"/>
            </a:pPr>
            <a:r>
              <a:rPr lang="en"/>
              <a:t>Hash Table.</a:t>
            </a:r>
            <a:endParaRPr/>
          </a:p>
          <a:p>
            <a:pPr marL="457200" lvl="0" indent="-342900" algn="l" rtl="0">
              <a:spcBef>
                <a:spcPts val="600"/>
              </a:spcBef>
              <a:spcAft>
                <a:spcPts val="0"/>
              </a:spcAft>
              <a:buSzPts val="1800"/>
              <a:buChar char="●"/>
            </a:pPr>
            <a:r>
              <a:rPr lang="en"/>
              <a:t>All three choices are fine, though hash table is probably the most natural.</a:t>
            </a:r>
            <a:endParaRPr/>
          </a:p>
          <a:p>
            <a:pPr marL="457200" lvl="0" indent="-342900" algn="l" rtl="0">
              <a:spcBef>
                <a:spcPts val="600"/>
              </a:spcBef>
              <a:spcAft>
                <a:spcPts val="0"/>
              </a:spcAft>
              <a:buSzPts val="1800"/>
              <a:buChar char="●"/>
            </a:pPr>
            <a:r>
              <a:rPr lang="en"/>
              <a:t>Supports special string operations like longestPrefixOf and keysWithPrefix.</a:t>
            </a:r>
            <a:endParaRPr/>
          </a:p>
          <a:p>
            <a:pPr marL="914400" lvl="1" indent="-342900" algn="l" rtl="0">
              <a:spcBef>
                <a:spcPts val="600"/>
              </a:spcBef>
              <a:spcAft>
                <a:spcPts val="0"/>
              </a:spcAft>
              <a:buSzPts val="1800"/>
              <a:buChar char="○"/>
            </a:pPr>
            <a:r>
              <a:rPr lang="en"/>
              <a:t>keysWithPrefix is the heart of important technology like autocomplete.</a:t>
            </a:r>
            <a:endParaRPr/>
          </a:p>
          <a:p>
            <a:pPr marL="914400" lvl="1" indent="-342900" algn="l" rtl="0">
              <a:spcBef>
                <a:spcPts val="600"/>
              </a:spcBef>
              <a:spcAft>
                <a:spcPts val="0"/>
              </a:spcAft>
              <a:buSzPts val="1800"/>
              <a:buChar char="○"/>
            </a:pPr>
            <a:r>
              <a:rPr lang="en"/>
              <a:t>Optimal implementation of Autocomplete involves use of a priority queue!</a:t>
            </a:r>
            <a:endParaRPr/>
          </a:p>
          <a:p>
            <a:pPr marL="0" lvl="0" indent="0" algn="l" rtl="0">
              <a:spcBef>
                <a:spcPts val="600"/>
              </a:spcBef>
              <a:spcAft>
                <a:spcPts val="0"/>
              </a:spcAft>
              <a:buNone/>
            </a:pPr>
            <a:endParaRPr/>
          </a:p>
          <a:p>
            <a:pPr marL="0" lvl="0" indent="0" algn="l" rtl="0">
              <a:spcBef>
                <a:spcPts val="600"/>
              </a:spcBef>
              <a:spcAft>
                <a:spcPts val="0"/>
              </a:spcAft>
              <a:buNone/>
            </a:pPr>
            <a:r>
              <a:rPr lang="en"/>
              <a:t>Bottom line: Data structures interact in beautiful and important ways!</a:t>
            </a: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037"/>
        <p:cNvGrpSpPr/>
        <p:nvPr/>
      </p:nvGrpSpPr>
      <p:grpSpPr>
        <a:xfrm>
          <a:off x="0" y="0"/>
          <a:ext cx="0" cy="0"/>
          <a:chOff x="0" y="0"/>
          <a:chExt cx="0" cy="0"/>
        </a:xfrm>
      </p:grpSpPr>
      <p:sp>
        <p:nvSpPr>
          <p:cNvPr id="2038" name="Google Shape;2038;p8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Domain Specific Sets and Maps</a:t>
            </a:r>
            <a:endParaRPr/>
          </a:p>
        </p:txBody>
      </p:sp>
      <p:sp>
        <p:nvSpPr>
          <p:cNvPr id="2039" name="Google Shape;2039;p82"/>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More generally, we can sometimes take special advantage of our key type to improve our sets and maps.</a:t>
            </a:r>
            <a:endParaRPr/>
          </a:p>
          <a:p>
            <a:pPr marL="457200" lvl="0" indent="-342900" algn="l" rtl="0">
              <a:spcBef>
                <a:spcPts val="600"/>
              </a:spcBef>
              <a:spcAft>
                <a:spcPts val="0"/>
              </a:spcAft>
              <a:buSzPts val="1800"/>
              <a:buChar char="●"/>
            </a:pPr>
            <a:r>
              <a:rPr lang="en"/>
              <a:t>Example: Tries handle String keys. Allow for fast string specific operations.</a:t>
            </a:r>
            <a:endParaRPr/>
          </a:p>
          <a:p>
            <a:pPr marL="457200" lvl="0" indent="-342900" algn="l" rtl="0">
              <a:spcBef>
                <a:spcPts val="600"/>
              </a:spcBef>
              <a:spcAft>
                <a:spcPts val="0"/>
              </a:spcAft>
              <a:buSzPts val="1800"/>
              <a:buChar char="●"/>
            </a:pPr>
            <a:r>
              <a:rPr lang="en"/>
              <a:t>Note: There are many other types of string sets/maps out there. </a:t>
            </a:r>
            <a:endParaRPr/>
          </a:p>
          <a:p>
            <a:pPr marL="914400" lvl="1" indent="-342900" algn="l" rtl="0">
              <a:spcBef>
                <a:spcPts val="600"/>
              </a:spcBef>
              <a:spcAft>
                <a:spcPts val="0"/>
              </a:spcAft>
              <a:buSzPts val="1800"/>
              <a:buChar char="○"/>
            </a:pPr>
            <a:r>
              <a:rPr lang="en"/>
              <a:t>Suffix Trees (</a:t>
            </a:r>
            <a:r>
              <a:rPr lang="en" u="sng">
                <a:solidFill>
                  <a:schemeClr val="hlink"/>
                </a:solidFill>
                <a:hlinkClick r:id="rId3"/>
              </a:rPr>
              <a:t>Link</a:t>
            </a:r>
            <a:r>
              <a:rPr lang="en"/>
              <a:t>).</a:t>
            </a:r>
            <a:endParaRPr/>
          </a:p>
          <a:p>
            <a:pPr marL="914400" lvl="1" indent="-342900" algn="l" rtl="0">
              <a:spcBef>
                <a:spcPts val="600"/>
              </a:spcBef>
              <a:spcAft>
                <a:spcPts val="0"/>
              </a:spcAft>
              <a:buSzPts val="1800"/>
              <a:buChar char="○"/>
            </a:pPr>
            <a:r>
              <a:rPr lang="en"/>
              <a:t>DAWG (</a:t>
            </a:r>
            <a:r>
              <a:rPr lang="en" u="sng">
                <a:solidFill>
                  <a:schemeClr val="hlink"/>
                </a:solidFill>
                <a:hlinkClick r:id="rId4"/>
              </a:rPr>
              <a:t>Link</a:t>
            </a:r>
            <a:r>
              <a:rPr lang="en"/>
              <a:t>).</a:t>
            </a:r>
            <a:endParaRPr/>
          </a:p>
          <a:p>
            <a:pPr marL="914400" lvl="1" indent="-342900" algn="l" rtl="0">
              <a:spcBef>
                <a:spcPts val="600"/>
              </a:spcBef>
              <a:spcAft>
                <a:spcPts val="0"/>
              </a:spcAft>
              <a:buSzPts val="1800"/>
              <a:buChar char="○"/>
            </a:pPr>
            <a:r>
              <a:rPr lang="en"/>
              <a:t>Won’t discuss in our course.</a:t>
            </a:r>
            <a:endParaRPr/>
          </a:p>
        </p:txBody>
      </p:sp>
    </p:spTree>
  </p:cSld>
  <p:clrMapOvr>
    <a:masterClrMapping/>
  </p:clrMapOvr>
</p:sld>
</file>

<file path=ppt/theme/theme1.xml><?xml version="1.0" encoding="utf-8"?>
<a:theme xmlns:a="http://schemas.openxmlformats.org/drawingml/2006/main"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5335</Words>
  <Application>Microsoft Office PowerPoint</Application>
  <PresentationFormat>On-screen Show (16:9)</PresentationFormat>
  <Paragraphs>1329</Paragraphs>
  <Slides>59</Slides>
  <Notes>59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59</vt:i4>
      </vt:variant>
    </vt:vector>
  </HeadingPairs>
  <TitlesOfParts>
    <vt:vector size="67" baseType="lpstr">
      <vt:lpstr>Calibri</vt:lpstr>
      <vt:lpstr>Arial</vt:lpstr>
      <vt:lpstr>Times New Roman</vt:lpstr>
      <vt:lpstr>Roboto Medium</vt:lpstr>
      <vt:lpstr>Roboto Light</vt:lpstr>
      <vt:lpstr>Consolas</vt:lpstr>
      <vt:lpstr>Roboto</vt:lpstr>
      <vt:lpstr>Simple Lecture</vt:lpstr>
      <vt:lpstr>PowerPoint Presentation</vt:lpstr>
      <vt:lpstr>Tries (Conceptual)</vt:lpstr>
      <vt:lpstr>Abstract Data Types vs. Specific Implementations</vt:lpstr>
      <vt:lpstr>BST and Hash Table Set Runtimes</vt:lpstr>
      <vt:lpstr>Special Case 1: Character Keyed Map</vt:lpstr>
      <vt:lpstr>Special Case 2: String Keyed Map</vt:lpstr>
      <vt:lpstr>Sets of Strings</vt:lpstr>
      <vt:lpstr>Tries: Each Node Stores One Character</vt:lpstr>
      <vt:lpstr>Tries: Each Node Stores One Character</vt:lpstr>
      <vt:lpstr>Tries: Each Node Stores One Character</vt:lpstr>
      <vt:lpstr>Tries: Each Node Stores One Character</vt:lpstr>
      <vt:lpstr>Tries: Search Hits and Misses</vt:lpstr>
      <vt:lpstr>Trie Maps</vt:lpstr>
      <vt:lpstr>Tries: A Digit-by-Digit Set Representation</vt:lpstr>
      <vt:lpstr>Tries</vt:lpstr>
      <vt:lpstr>Trie Implementation and Performance</vt:lpstr>
      <vt:lpstr>Very Basic Trie Implementation</vt:lpstr>
      <vt:lpstr>Zooming in On a Node</vt:lpstr>
      <vt:lpstr>Zooming in On a Node</vt:lpstr>
      <vt:lpstr>Very Basic Trie Implementation</vt:lpstr>
      <vt:lpstr>Very Basic Trie Implementation</vt:lpstr>
      <vt:lpstr>Trie Performance in Terms of N</vt:lpstr>
      <vt:lpstr>Trie Performance in Terms of N</vt:lpstr>
      <vt:lpstr>Trie Performance in Terms of N</vt:lpstr>
      <vt:lpstr>Alternate Child Tracking Strategies</vt:lpstr>
      <vt:lpstr>Trie Performance in Terms of N</vt:lpstr>
      <vt:lpstr>The DataIndexedCharMap Trie</vt:lpstr>
      <vt:lpstr>Alternate Idea #1: The Hash-Table Based Trie</vt:lpstr>
      <vt:lpstr>Alternate Idea #2: The BST-Based Trie</vt:lpstr>
      <vt:lpstr>The Three Trie Implementations</vt:lpstr>
      <vt:lpstr>Performance of the DataIndexedCharMap, BST, and Hash Table Trie </vt:lpstr>
      <vt:lpstr>Trie Performance in Terms of N</vt:lpstr>
      <vt:lpstr>Trie String Operations</vt:lpstr>
      <vt:lpstr>String Specific Operations</vt:lpstr>
      <vt:lpstr>Prefix Matching Operations</vt:lpstr>
      <vt:lpstr>Challenging Warmup Exercise: Collecting Trie Keys</vt:lpstr>
      <vt:lpstr>Challenging Warmup Exercise: Collecting Trie Keys</vt:lpstr>
      <vt:lpstr>Challenging Warmup Exercise: Collecting Trie Keys</vt:lpstr>
      <vt:lpstr>Challenging Warmup Exercise: Collecting Trie Keys</vt:lpstr>
      <vt:lpstr>Challenging Warmup Exercise: Collecting Trie Keys</vt:lpstr>
      <vt:lpstr>Challenging Warmup Exercise: Collecting Trie Keys</vt:lpstr>
      <vt:lpstr>Challenging Warmup Exercise: Collecting Trie Keys</vt:lpstr>
      <vt:lpstr>Challenging Warmup Exercise: Collecting Trie Keys</vt:lpstr>
      <vt:lpstr>Challenging Warmup Exercise: Collecting Trie Keys</vt:lpstr>
      <vt:lpstr>Challenging Warmup Exercise: Collecting Trie Keys</vt:lpstr>
      <vt:lpstr>Challenging Warmup Exercise: Collecting Trie Keys</vt:lpstr>
      <vt:lpstr>Usages of Tries</vt:lpstr>
      <vt:lpstr>Usages of Tries</vt:lpstr>
      <vt:lpstr>Autocomplete</vt:lpstr>
      <vt:lpstr>The Autocomplete Problem</vt:lpstr>
      <vt:lpstr>Autocomplete Example, for Top Three Matches</vt:lpstr>
      <vt:lpstr>Autocomplete Example, for Top Three Matches</vt:lpstr>
      <vt:lpstr>The Autocomplete Problem</vt:lpstr>
      <vt:lpstr>A More Efficient Autocomplete</vt:lpstr>
      <vt:lpstr>A More Efficient Autocomplete</vt:lpstr>
      <vt:lpstr>Even More Efficient Autocomplete</vt:lpstr>
      <vt:lpstr>Trie Summary</vt:lpstr>
      <vt:lpstr>Tries</vt:lpstr>
      <vt:lpstr>Domain Specific Sets and Maps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Vader Darth</cp:lastModifiedBy>
  <cp:revision>1</cp:revision>
  <dcterms:modified xsi:type="dcterms:W3CDTF">2025-08-07T11:53:50Z</dcterms:modified>
</cp:coreProperties>
</file>