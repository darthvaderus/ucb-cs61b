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embeddedFontLst>
    <p:embeddedFont>
      <p:font typeface="Roboto Medium"/>
      <p:regular r:id="rId61"/>
      <p:bold r:id="rId62"/>
      <p:italic r:id="rId63"/>
      <p:boldItalic r:id="rId64"/>
    </p:embeddedFont>
    <p:embeddedFont>
      <p:font typeface="Roboto"/>
      <p:regular r:id="rId65"/>
      <p:bold r:id="rId66"/>
      <p:italic r:id="rId67"/>
      <p:boldItalic r:id="rId68"/>
    </p:embeddedFont>
    <p:embeddedFont>
      <p:font typeface="Roboto Light"/>
      <p:regular r:id="rId69"/>
      <p:bold r:id="rId70"/>
      <p:italic r:id="rId71"/>
      <p:boldItalic r:id="rId72"/>
    </p:embeddedFont>
    <p:embeddedFont>
      <p:font typeface="Ubuntu Mono"/>
      <p:regular r:id="rId73"/>
      <p:bold r:id="rId74"/>
      <p:italic r:id="rId75"/>
      <p:boldItalic r:id="rId7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ECBA62-D5AE-4AF2-B8BC-2D97442E8694}">
  <a:tblStyle styleId="{A8ECBA62-D5AE-4AF2-B8BC-2D97442E86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UbuntuMono-regular.fntdata"/><Relationship Id="rId72" Type="http://schemas.openxmlformats.org/officeDocument/2006/relationships/font" Target="fonts/RobotoLight-boldItalic.fntdata"/><Relationship Id="rId31" Type="http://schemas.openxmlformats.org/officeDocument/2006/relationships/slide" Target="slides/slide26.xml"/><Relationship Id="rId75" Type="http://schemas.openxmlformats.org/officeDocument/2006/relationships/font" Target="fonts/UbuntuMono-italic.fntdata"/><Relationship Id="rId30" Type="http://schemas.openxmlformats.org/officeDocument/2006/relationships/slide" Target="slides/slide25.xml"/><Relationship Id="rId74" Type="http://schemas.openxmlformats.org/officeDocument/2006/relationships/font" Target="fonts/UbuntuMono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schemas.openxmlformats.org/officeDocument/2006/relationships/font" Target="fonts/UbuntuMono-boldItalic.fnt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Light-italic.fntdata"/><Relationship Id="rId70" Type="http://schemas.openxmlformats.org/officeDocument/2006/relationships/font" Target="fonts/RobotoLigh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edium-bold.fntdata"/><Relationship Id="rId61" Type="http://schemas.openxmlformats.org/officeDocument/2006/relationships/font" Target="fonts/RobotoMedium-regular.fntdata"/><Relationship Id="rId20" Type="http://schemas.openxmlformats.org/officeDocument/2006/relationships/slide" Target="slides/slide15.xml"/><Relationship Id="rId64" Type="http://schemas.openxmlformats.org/officeDocument/2006/relationships/font" Target="fonts/RobotoMedium-boldItalic.fntdata"/><Relationship Id="rId63" Type="http://schemas.openxmlformats.org/officeDocument/2006/relationships/font" Target="fonts/RobotoMedium-italic.fntdata"/><Relationship Id="rId22" Type="http://schemas.openxmlformats.org/officeDocument/2006/relationships/slide" Target="slides/slide17.xml"/><Relationship Id="rId66" Type="http://schemas.openxmlformats.org/officeDocument/2006/relationships/font" Target="fonts/Roboto-bold.fntdata"/><Relationship Id="rId21" Type="http://schemas.openxmlformats.org/officeDocument/2006/relationships/slide" Target="slides/slide16.xml"/><Relationship Id="rId65" Type="http://schemas.openxmlformats.org/officeDocument/2006/relationships/font" Target="fonts/Roboto-regular.fntdata"/><Relationship Id="rId24" Type="http://schemas.openxmlformats.org/officeDocument/2006/relationships/slide" Target="slides/slide19.xml"/><Relationship Id="rId68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67" Type="http://schemas.openxmlformats.org/officeDocument/2006/relationships/font" Target="fonts/Roboto-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Ligh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cs.au.dk/~danvy/binaries.html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H-yq4CktrsMWVS0m31aW1rgiLjIqy4K-UWvkcOfqEtapu_Q/viewform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endCcLM69YYICSHT7yMJF1rixUweOTk1g_Z_EicS9HNasIiw/viewform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eL9QGBEbgxJCHJbSYAfryceABZ4i0vR-Vp8XrZ_ddeVHdkNw/viewform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148fb6dae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148fb6dae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Probably photoshopped binary tree: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http://cs.au.dk/~danvy/binaries.html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148fb6dae_0_3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148fb6dae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0738e5fde_0_1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0738e5fd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0738e5fde_0_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0738e5f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0730fc7b0_0_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0730fc7b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50738e5fde_0_3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50738e5fd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50730fc7b0_0_2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50730fc7b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https://docs.google.com/forms/d/e/1FAIpQLSfH-yq4CktrsMWVS0m31aW1rgiLjIqy4K-UWvkcOfqEtapu_Q/viewform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50730fc7b0_0_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50730fc7b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50730fc7b0_0_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50730fc7b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https://docs.google.com/forms/d/e/1FAIpQLSendCcLM69YYICSHT7yMJF1rixUweOTk1g_Z_EicS9HNasIiw/viewform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0730fc7b0_0_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50730fc7b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50738e5fde_0_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50738e5fd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50730fc7b0_0_1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50730fc7b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50738e5fde_0_1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50738e5fde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50730fc7b0_0_1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50730fc7b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1148fb6dae_0_34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1148fb6dae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8dd5cb732_0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8dd5cb732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8:19 begin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1da219138_0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1da2191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8:19 begin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8dd5cb732_0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8dd5cb732_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8dd5cb732_0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8dd5cb732_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dd5cb732_01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dd5cb732_0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8dd5cb732_01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8dd5cb732_0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8dd5cb732_01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8dd5cb732_0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minutes from start of this section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1148fb6dae_0_3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21148fb6dae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8dd5cb732_01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8dd5cb732_0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8dd5cb732_013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8dd5cb732_0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8dd5cb732_014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8dd5cb732_0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8dd5cb732_014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8dd5cb732_0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21148fb6dae_0_3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21148fb6dae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8dd5cb732_015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8dd5cb732_01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8dd5cb732_015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8dd5cb732_0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8dd5cb732_0157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8dd5cb732_0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https://docs.google.com/forms/d/e/1FAIpQLSeL9QGBEbgxJCHJbSYAfryceABZ4i0vR-Vp8XrZ_ddeVHdkNw/viewform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8dd5cb732_016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8dd5cb732_01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8dd5cb732_016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8dd5cb732_0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1148fb6dae_0_3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1148fb6dae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8e0cacf51_217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8e0cacf51_2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8dd5cb732_0169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8dd5cb732_0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1148fb6dae_0_3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1148fb6dae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8dd5cb732_017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8dd5cb732_0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11da219138_0_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11da21913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8dd5cb732_017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8dd5cb732_0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8dd5cb732_017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8dd5cb732_01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8dd5cb732_017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8dd5cb732_01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11da219138_0_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11da21913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8dd5cb732_018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8dd5cb732_01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8dd5cb732_018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8dd5cb732_01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8e0cacf51_21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8e0cacf51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11da219138_0_2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11da219138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8e0cacf51_21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8e0cacf51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21148fb6dae_0_3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21148fb6da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50738e5fde_0_1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50738e5fd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50738e5fde_0_2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50738e5fd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50738e5fde_0_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50738e5fde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50738e5fde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50738e5f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1148fb6dae_0_3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1148fb6da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11da219138_0_2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11da219138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presentation/d/1uItKUU8BDI8qSh_T8EO_0DWO34rKJtiO9nuoIj_VduE/edit#slide=id.g4eca586dfd_0_70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presentation/d/1uItKUU8BDI8qSh_T8EO_0DWO34rKJtiO9nuoIj_VduE/edit#slide=id.g4eca586dfd_0_70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en.wikipedia.org/wiki/Skip_lis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amusingplanet.com/2010/12/baobab-upside-down-tree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ADTs, BSTs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16 (Data Structures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6975" y="262600"/>
            <a:ext cx="4695325" cy="319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Abstract Data Types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4" name="Google Shape;154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  <p:sp>
        <p:nvSpPr>
          <p:cNvPr id="155" name="Google Shape;155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 vs. Implementation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class: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ALists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SLLists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Created an interface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List61B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Modified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AList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SLList</a:t>
            </a:r>
            <a:r>
              <a:rPr lang="en"/>
              <a:t> to implement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List61B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List61B</a:t>
            </a:r>
            <a:r>
              <a:rPr lang="en"/>
              <a:t> provided default methods.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projects: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Developed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ArrayDeque</a:t>
            </a:r>
            <a:r>
              <a:rPr lang="en"/>
              <a:t> and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LinkedListDeque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class implemented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Deque</a:t>
            </a:r>
            <a:r>
              <a:rPr lang="en"/>
              <a:t> interface.</a:t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6531758" y="819950"/>
            <a:ext cx="1909200" cy="401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List61B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3" name="Google Shape;163;p26"/>
          <p:cNvCxnSpPr>
            <a:stCxn id="164" idx="0"/>
            <a:endCxn id="162" idx="2"/>
          </p:cNvCxnSpPr>
          <p:nvPr/>
        </p:nvCxnSpPr>
        <p:spPr>
          <a:xfrm flipH="1" rot="10800000">
            <a:off x="6587508" y="1220950"/>
            <a:ext cx="898800" cy="83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26"/>
          <p:cNvSpPr/>
          <p:nvPr/>
        </p:nvSpPr>
        <p:spPr>
          <a:xfrm>
            <a:off x="5924358" y="2056750"/>
            <a:ext cx="13263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AList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7486433" y="2056750"/>
            <a:ext cx="15285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SLList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6" name="Google Shape;166;p26"/>
          <p:cNvCxnSpPr>
            <a:stCxn id="165" idx="0"/>
            <a:endCxn id="162" idx="2"/>
          </p:cNvCxnSpPr>
          <p:nvPr/>
        </p:nvCxnSpPr>
        <p:spPr>
          <a:xfrm rot="10800000">
            <a:off x="7486283" y="1220950"/>
            <a:ext cx="764400" cy="83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6"/>
          <p:cNvSpPr/>
          <p:nvPr/>
        </p:nvSpPr>
        <p:spPr>
          <a:xfrm>
            <a:off x="6531747" y="3019250"/>
            <a:ext cx="1909200" cy="401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8" name="Google Shape;168;p26"/>
          <p:cNvCxnSpPr>
            <a:stCxn id="169" idx="0"/>
            <a:endCxn id="167" idx="2"/>
          </p:cNvCxnSpPr>
          <p:nvPr/>
        </p:nvCxnSpPr>
        <p:spPr>
          <a:xfrm flipH="1" rot="10800000">
            <a:off x="6553750" y="3420350"/>
            <a:ext cx="932700" cy="83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6"/>
          <p:cNvSpPr/>
          <p:nvPr/>
        </p:nvSpPr>
        <p:spPr>
          <a:xfrm>
            <a:off x="5856850" y="4256150"/>
            <a:ext cx="13938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7456029" y="4256150"/>
            <a:ext cx="16062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LinkedList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1" name="Google Shape;171;p26"/>
          <p:cNvCxnSpPr>
            <a:stCxn id="170" idx="0"/>
            <a:endCxn id="167" idx="2"/>
          </p:cNvCxnSpPr>
          <p:nvPr/>
        </p:nvCxnSpPr>
        <p:spPr>
          <a:xfrm rot="10800000">
            <a:off x="7486329" y="3420350"/>
            <a:ext cx="772800" cy="83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 vs. Implementation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DisjointSets</a:t>
            </a:r>
            <a:r>
              <a:rPr lang="en"/>
              <a:t>, we saw a much richer set of possible implementations.</a:t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3510308" y="1297750"/>
            <a:ext cx="1909200" cy="401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DisjointSets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508325" y="2732375"/>
            <a:ext cx="1909200" cy="621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ListOfSetsDS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2684000" y="2732375"/>
            <a:ext cx="1909200" cy="621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QuickFindDS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4835300" y="2732375"/>
            <a:ext cx="1909200" cy="621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QuickUnionDS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6932975" y="2732375"/>
            <a:ext cx="2028000" cy="6219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Weighted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QuickUnionDS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3" name="Google Shape;183;p27"/>
          <p:cNvCxnSpPr>
            <a:stCxn id="179" idx="0"/>
          </p:cNvCxnSpPr>
          <p:nvPr/>
        </p:nvCxnSpPr>
        <p:spPr>
          <a:xfrm flipH="1" rot="10800000">
            <a:off x="1462925" y="1711175"/>
            <a:ext cx="2432400" cy="102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27"/>
          <p:cNvCxnSpPr>
            <a:stCxn id="180" idx="0"/>
          </p:cNvCxnSpPr>
          <p:nvPr/>
        </p:nvCxnSpPr>
        <p:spPr>
          <a:xfrm flipH="1" rot="10800000">
            <a:off x="3638600" y="1711175"/>
            <a:ext cx="666300" cy="102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7"/>
          <p:cNvCxnSpPr>
            <a:stCxn id="181" idx="0"/>
          </p:cNvCxnSpPr>
          <p:nvPr/>
        </p:nvCxnSpPr>
        <p:spPr>
          <a:xfrm rot="10800000">
            <a:off x="4850900" y="1711175"/>
            <a:ext cx="939000" cy="1021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7"/>
          <p:cNvCxnSpPr>
            <a:stCxn id="182" idx="0"/>
          </p:cNvCxnSpPr>
          <p:nvPr/>
        </p:nvCxnSpPr>
        <p:spPr>
          <a:xfrm rot="10800000">
            <a:off x="5138675" y="1716275"/>
            <a:ext cx="2808300" cy="1016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7"/>
          <p:cNvCxnSpPr/>
          <p:nvPr/>
        </p:nvCxnSpPr>
        <p:spPr>
          <a:xfrm rot="10800000">
            <a:off x="5364125" y="1696400"/>
            <a:ext cx="4464600" cy="1092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Abstract Data Type (ADT)</a:t>
            </a:r>
            <a:r>
              <a:rPr lang="en"/>
              <a:t> is defined only by its operations, not by its implementation.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Deque</a:t>
            </a:r>
            <a:r>
              <a:rPr lang="en"/>
              <a:t> ADT:</a:t>
            </a:r>
            <a:endParaRPr/>
          </a:p>
          <a:p>
            <a:pPr indent="-349250" lvl="0" marL="457200" rtl="0" algn="l">
              <a:spcBef>
                <a:spcPts val="60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addFirst(</a:t>
            </a:r>
            <a:r>
              <a:rPr lang="en" sz="1900">
                <a:solidFill>
                  <a:srgbClr val="20892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addLast(</a:t>
            </a:r>
            <a:r>
              <a:rPr lang="en" sz="1900">
                <a:solidFill>
                  <a:srgbClr val="20892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isEmpty();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size();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printDeque();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solidFill>
                  <a:srgbClr val="20892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removeFirst();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solidFill>
                  <a:srgbClr val="20892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removeLast();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nsolas"/>
              <a:buChar char="●"/>
            </a:pPr>
            <a:r>
              <a:rPr lang="en" sz="1900">
                <a:solidFill>
                  <a:srgbClr val="20892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get(</a:t>
            </a:r>
            <a:r>
              <a:rPr lang="en" sz="1900">
                <a:solidFill>
                  <a:srgbClr val="20892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index);</a:t>
            </a:r>
            <a:endParaRPr sz="19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6534472" y="1280775"/>
            <a:ext cx="1909200" cy="401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5" name="Google Shape;195;p28"/>
          <p:cNvCxnSpPr>
            <a:stCxn id="196" idx="0"/>
            <a:endCxn id="194" idx="2"/>
          </p:cNvCxnSpPr>
          <p:nvPr/>
        </p:nvCxnSpPr>
        <p:spPr>
          <a:xfrm flipH="1" rot="10800000">
            <a:off x="6590222" y="1681775"/>
            <a:ext cx="898800" cy="531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8"/>
          <p:cNvSpPr/>
          <p:nvPr/>
        </p:nvSpPr>
        <p:spPr>
          <a:xfrm>
            <a:off x="5927072" y="2212775"/>
            <a:ext cx="13263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Array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7489148" y="2212775"/>
            <a:ext cx="1528500" cy="552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LinkedList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Deque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8" name="Google Shape;198;p28"/>
          <p:cNvCxnSpPr>
            <a:stCxn id="197" idx="0"/>
            <a:endCxn id="194" idx="2"/>
          </p:cNvCxnSpPr>
          <p:nvPr/>
        </p:nvCxnSpPr>
        <p:spPr>
          <a:xfrm rot="10800000">
            <a:off x="7488998" y="1681775"/>
            <a:ext cx="764400" cy="531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8"/>
          <p:cNvSpPr txBox="1"/>
          <p:nvPr/>
        </p:nvSpPr>
        <p:spPr>
          <a:xfrm>
            <a:off x="5912400" y="2778344"/>
            <a:ext cx="3231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ArrayDeque and LinkedList Deque are implementations of the Deque ADT.</a:t>
            </a:r>
            <a:endParaRPr>
              <a:solidFill>
                <a:srgbClr val="BE0712"/>
              </a:solidFill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175" y="3469632"/>
            <a:ext cx="2825800" cy="159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 of an ADT: The </a:t>
            </a:r>
            <a:r>
              <a:rPr lang="en"/>
              <a:t>Stack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Recall, t</a:t>
            </a:r>
            <a:r>
              <a:rPr lang="en"/>
              <a:t>he Stack </a:t>
            </a:r>
            <a:r>
              <a:rPr lang="en" u="sng"/>
              <a:t>ADT</a:t>
            </a:r>
            <a:r>
              <a:rPr lang="en"/>
              <a:t> supports the following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push(int x)</a:t>
            </a:r>
            <a:r>
              <a:rPr lang="en"/>
              <a:t>: Puts x on top of the stack.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pop()</a:t>
            </a:r>
            <a:r>
              <a:rPr lang="en"/>
              <a:t>: Removes and returns the top item from the stack.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29"/>
          <p:cNvCxnSpPr/>
          <p:nvPr/>
        </p:nvCxnSpPr>
        <p:spPr>
          <a:xfrm rot="10800000">
            <a:off x="2991823" y="329358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9"/>
          <p:cNvCxnSpPr/>
          <p:nvPr/>
        </p:nvCxnSpPr>
        <p:spPr>
          <a:xfrm rot="10800000">
            <a:off x="2991823" y="39270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9" name="Google Shape;209;p29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10" name="Google Shape;210;p29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insertBack()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11" name="Google Shape;211;p29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deleteBack()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14" name="Google Shape;214;p29"/>
          <p:cNvSpPr/>
          <p:nvPr/>
        </p:nvSpPr>
        <p:spPr>
          <a:xfrm>
            <a:off x="3439788" y="3148000"/>
            <a:ext cx="1320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5" name="Google Shape;215;p29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16" name="Google Shape;216;p29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push(int x)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17" name="Google Shape;217;p29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pop()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18" name="Google Shape;218;p29"/>
          <p:cNvSpPr/>
          <p:nvPr/>
        </p:nvSpPr>
        <p:spPr>
          <a:xfrm>
            <a:off x="6436950" y="40554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219" name="Google Shape;219;p29"/>
          <p:cNvSpPr/>
          <p:nvPr/>
        </p:nvSpPr>
        <p:spPr>
          <a:xfrm>
            <a:off x="6436950" y="36807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20" name="Google Shape;220;p29"/>
          <p:cNvSpPr/>
          <p:nvPr/>
        </p:nvSpPr>
        <p:spPr>
          <a:xfrm>
            <a:off x="6436950" y="3310371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Stack ADT: yellkey.com</a:t>
            </a:r>
            <a:r>
              <a:rPr lang="en">
                <a:solidFill>
                  <a:srgbClr val="208920"/>
                </a:solidFill>
              </a:rPr>
              <a:t>/likely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Recall, t</a:t>
            </a:r>
            <a:r>
              <a:rPr lang="en"/>
              <a:t>he Stack </a:t>
            </a:r>
            <a:r>
              <a:rPr lang="en" u="sng"/>
              <a:t>ADT</a:t>
            </a:r>
            <a:r>
              <a:rPr lang="en"/>
              <a:t> supports the following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push(int x)</a:t>
            </a:r>
            <a:r>
              <a:rPr lang="en"/>
              <a:t>: Puts x on top of the stack.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pop()</a:t>
            </a:r>
            <a:r>
              <a:rPr lang="en"/>
              <a:t>: Removes and returns the top item from the stack.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</a:t>
            </a:r>
            <a:r>
              <a:rPr lang="en" u="sng"/>
              <a:t>implementation</a:t>
            </a:r>
            <a:r>
              <a:rPr lang="en"/>
              <a:t> do you think would result in faster overall performance?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Linked List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Array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30"/>
          <p:cNvCxnSpPr/>
          <p:nvPr/>
        </p:nvCxnSpPr>
        <p:spPr>
          <a:xfrm rot="10800000">
            <a:off x="2991823" y="329358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rot="10800000">
            <a:off x="2991823" y="39270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" name="Google Shape;229;p30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30" name="Google Shape;230;p30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insertBack()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31" name="Google Shape;231;p30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32" name="Google Shape;232;p30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33" name="Google Shape;233;p30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deleteBack()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34" name="Google Shape;234;p30"/>
          <p:cNvSpPr/>
          <p:nvPr/>
        </p:nvSpPr>
        <p:spPr>
          <a:xfrm>
            <a:off x="3439788" y="3148000"/>
            <a:ext cx="1320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30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36" name="Google Shape;236;p30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push(int x)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7" name="Google Shape;237;p30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pop()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38" name="Google Shape;238;p30"/>
          <p:cNvSpPr/>
          <p:nvPr/>
        </p:nvSpPr>
        <p:spPr>
          <a:xfrm>
            <a:off x="6436950" y="40554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Stack ADT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Stack </a:t>
            </a:r>
            <a:r>
              <a:rPr lang="en" u="sng"/>
              <a:t>ADT</a:t>
            </a:r>
            <a:r>
              <a:rPr lang="en"/>
              <a:t> supports the following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push(int x)</a:t>
            </a:r>
            <a:r>
              <a:rPr lang="en"/>
              <a:t>: Puts x on top of the stack.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pop()</a:t>
            </a:r>
            <a:r>
              <a:rPr lang="en"/>
              <a:t>: Removes and returns the top item from the stack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</a:t>
            </a:r>
            <a:r>
              <a:rPr lang="en" u="sng"/>
              <a:t>implementation</a:t>
            </a:r>
            <a:r>
              <a:rPr lang="en"/>
              <a:t> do you think would result in faster overall performance?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Linked List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Array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are about the same. No resizing for linked lists, so probably a lil faster.</a:t>
            </a:r>
            <a:endParaRPr/>
          </a:p>
        </p:txBody>
      </p:sp>
      <p:cxnSp>
        <p:nvCxnSpPr>
          <p:cNvPr id="245" name="Google Shape;245;p31"/>
          <p:cNvCxnSpPr/>
          <p:nvPr/>
        </p:nvCxnSpPr>
        <p:spPr>
          <a:xfrm rot="10800000">
            <a:off x="2991823" y="3293584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1"/>
          <p:cNvCxnSpPr/>
          <p:nvPr/>
        </p:nvCxnSpPr>
        <p:spPr>
          <a:xfrm rot="10800000">
            <a:off x="2991823" y="3927088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7" name="Google Shape;247;p31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48" name="Google Shape;248;p31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insertBack()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49" name="Google Shape;249;p31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50" name="Google Shape;250;p31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51" name="Google Shape;251;p31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deleteBack()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52" name="Google Shape;252;p31"/>
          <p:cNvSpPr/>
          <p:nvPr/>
        </p:nvSpPr>
        <p:spPr>
          <a:xfrm>
            <a:off x="3439788" y="3148000"/>
            <a:ext cx="1320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>
            <a:off x="3380664" y="3091439"/>
            <a:ext cx="1582372" cy="961571"/>
            <a:chOff x="1114701" y="3234112"/>
            <a:chExt cx="1582372" cy="961571"/>
          </a:xfrm>
        </p:grpSpPr>
        <p:sp>
          <p:nvSpPr>
            <p:cNvPr id="254" name="Google Shape;254;p31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push(int x)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5" name="Google Shape;255;p31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pop()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56" name="Google Shape;256;p31"/>
          <p:cNvSpPr/>
          <p:nvPr/>
        </p:nvSpPr>
        <p:spPr>
          <a:xfrm>
            <a:off x="6436950" y="4055488"/>
            <a:ext cx="502500" cy="374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GrabBag ADT: yellkey.com</a:t>
            </a:r>
            <a:r>
              <a:rPr lang="en">
                <a:solidFill>
                  <a:srgbClr val="208920"/>
                </a:solidFill>
              </a:rPr>
              <a:t>/involve</a:t>
            </a:r>
            <a:endParaRPr/>
          </a:p>
        </p:txBody>
      </p:sp>
      <p:sp>
        <p:nvSpPr>
          <p:cNvPr id="262" name="Google Shape;262;p3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GrabBag </a:t>
            </a:r>
            <a:r>
              <a:rPr lang="en" u="sng"/>
              <a:t>ADT</a:t>
            </a:r>
            <a:r>
              <a:rPr lang="en"/>
              <a:t> supports the following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insert(int x)</a:t>
            </a:r>
            <a:r>
              <a:rPr lang="en"/>
              <a:t>: Inserts x into the grab bag.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remove()</a:t>
            </a:r>
            <a:r>
              <a:rPr lang="en"/>
              <a:t>: </a:t>
            </a:r>
            <a:r>
              <a:rPr lang="en"/>
              <a:t>Removes a random item from the bag.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sample()</a:t>
            </a:r>
            <a:r>
              <a:rPr lang="en"/>
              <a:t>: Samples a random item from the bag (without removing!)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size()</a:t>
            </a:r>
            <a:r>
              <a:rPr lang="en"/>
              <a:t>: Number of items in the bag.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</a:t>
            </a:r>
            <a:r>
              <a:rPr lang="en" u="sng"/>
              <a:t>implementation</a:t>
            </a:r>
            <a:r>
              <a:rPr lang="en"/>
              <a:t> do you think would result in faster overall performance?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Linked List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Array</a:t>
            </a:r>
            <a:endParaRPr/>
          </a:p>
        </p:txBody>
      </p:sp>
      <p:cxnSp>
        <p:nvCxnSpPr>
          <p:cNvPr id="263" name="Google Shape;263;p32"/>
          <p:cNvCxnSpPr/>
          <p:nvPr/>
        </p:nvCxnSpPr>
        <p:spPr>
          <a:xfrm rot="10800000">
            <a:off x="3159923" y="404995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2"/>
          <p:cNvCxnSpPr/>
          <p:nvPr/>
        </p:nvCxnSpPr>
        <p:spPr>
          <a:xfrm rot="10800000">
            <a:off x="3159923" y="429720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2"/>
          <p:cNvCxnSpPr/>
          <p:nvPr/>
        </p:nvCxnSpPr>
        <p:spPr>
          <a:xfrm rot="10800000">
            <a:off x="3159923" y="468346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2"/>
          <p:cNvCxnSpPr/>
          <p:nvPr/>
        </p:nvCxnSpPr>
        <p:spPr>
          <a:xfrm rot="10800000">
            <a:off x="3159923" y="449033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7" name="Google Shape;267;p32"/>
          <p:cNvGrpSpPr/>
          <p:nvPr/>
        </p:nvGrpSpPr>
        <p:grpSpPr>
          <a:xfrm>
            <a:off x="3548764" y="3847814"/>
            <a:ext cx="1582372" cy="961571"/>
            <a:chOff x="1114701" y="3234112"/>
            <a:chExt cx="1582372" cy="961571"/>
          </a:xfrm>
        </p:grpSpPr>
        <p:sp>
          <p:nvSpPr>
            <p:cNvPr id="268" name="Google Shape;268;p32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insertBack()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69" name="Google Shape;269;p32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70" name="Google Shape;270;p32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71" name="Google Shape;271;p32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deleteBack()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72" name="Google Shape;272;p32"/>
          <p:cNvSpPr/>
          <p:nvPr/>
        </p:nvSpPr>
        <p:spPr>
          <a:xfrm>
            <a:off x="3607888" y="3904375"/>
            <a:ext cx="1320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" name="Google Shape;273;p32"/>
          <p:cNvGrpSpPr/>
          <p:nvPr/>
        </p:nvGrpSpPr>
        <p:grpSpPr>
          <a:xfrm>
            <a:off x="3548764" y="3847814"/>
            <a:ext cx="1582372" cy="961571"/>
            <a:chOff x="1114701" y="3234112"/>
            <a:chExt cx="1582372" cy="961571"/>
          </a:xfrm>
        </p:grpSpPr>
        <p:sp>
          <p:nvSpPr>
            <p:cNvPr id="274" name="Google Shape;274;p32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remove()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5" name="Google Shape;275;p32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insert(int x)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6" name="Google Shape;276;p32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sample()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7" name="Google Shape;277;p32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size(int i)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GrabBag ADT</a:t>
            </a:r>
            <a:endParaRPr/>
          </a:p>
        </p:txBody>
      </p:sp>
      <p:sp>
        <p:nvSpPr>
          <p:cNvPr id="283" name="Google Shape;283;p3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GrabBag </a:t>
            </a:r>
            <a:r>
              <a:rPr lang="en" u="sng"/>
              <a:t>ADT</a:t>
            </a:r>
            <a:r>
              <a:rPr lang="en"/>
              <a:t> supports the following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insert(int x)</a:t>
            </a:r>
            <a:r>
              <a:rPr lang="en"/>
              <a:t>: Inserts x into the grab bag.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remove()</a:t>
            </a:r>
            <a:r>
              <a:rPr lang="en"/>
              <a:t>: Removes a random item from the bag.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sample()</a:t>
            </a:r>
            <a:r>
              <a:rPr lang="en"/>
              <a:t>: Samples a random item from the bag (without removing!)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int size()</a:t>
            </a:r>
            <a:r>
              <a:rPr lang="en"/>
              <a:t>: Number of items in the bag.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</a:t>
            </a:r>
            <a:r>
              <a:rPr lang="en" u="sng"/>
              <a:t>implementation</a:t>
            </a:r>
            <a:r>
              <a:rPr lang="en"/>
              <a:t> do you think would result in faster overall performance?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Linked List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Array</a:t>
            </a:r>
            <a:endParaRPr b="1"/>
          </a:p>
        </p:txBody>
      </p:sp>
      <p:cxnSp>
        <p:nvCxnSpPr>
          <p:cNvPr id="284" name="Google Shape;284;p33"/>
          <p:cNvCxnSpPr/>
          <p:nvPr/>
        </p:nvCxnSpPr>
        <p:spPr>
          <a:xfrm rot="10800000">
            <a:off x="3159923" y="4049959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33"/>
          <p:cNvCxnSpPr/>
          <p:nvPr/>
        </p:nvCxnSpPr>
        <p:spPr>
          <a:xfrm rot="10800000">
            <a:off x="3159923" y="4297207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33"/>
          <p:cNvCxnSpPr/>
          <p:nvPr/>
        </p:nvCxnSpPr>
        <p:spPr>
          <a:xfrm rot="10800000">
            <a:off x="3159923" y="4683463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3"/>
          <p:cNvCxnSpPr/>
          <p:nvPr/>
        </p:nvCxnSpPr>
        <p:spPr>
          <a:xfrm rot="10800000">
            <a:off x="3159923" y="4490335"/>
            <a:ext cx="4323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88" name="Google Shape;288;p33"/>
          <p:cNvGrpSpPr/>
          <p:nvPr/>
        </p:nvGrpSpPr>
        <p:grpSpPr>
          <a:xfrm>
            <a:off x="3548764" y="3847814"/>
            <a:ext cx="1582372" cy="961571"/>
            <a:chOff x="1114701" y="3234112"/>
            <a:chExt cx="1582372" cy="961571"/>
          </a:xfrm>
        </p:grpSpPr>
        <p:sp>
          <p:nvSpPr>
            <p:cNvPr id="289" name="Google Shape;289;p33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insertBack()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90" name="Google Shape;290;p33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91" name="Google Shape;291;p33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get(int i)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  <p:sp>
          <p:nvSpPr>
            <p:cNvPr id="292" name="Google Shape;292;p33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Ubuntu Mono"/>
                  <a:ea typeface="Ubuntu Mono"/>
                  <a:cs typeface="Ubuntu Mono"/>
                  <a:sym typeface="Ubuntu Mono"/>
                </a:rPr>
                <a:t>deleteBack()</a:t>
              </a:r>
              <a:endParaRPr>
                <a:latin typeface="Ubuntu Mono"/>
                <a:ea typeface="Ubuntu Mono"/>
                <a:cs typeface="Ubuntu Mono"/>
                <a:sym typeface="Ubuntu Mono"/>
              </a:endParaRPr>
            </a:p>
          </p:txBody>
        </p:sp>
      </p:grpSp>
      <p:sp>
        <p:nvSpPr>
          <p:cNvPr id="293" name="Google Shape;293;p33"/>
          <p:cNvSpPr/>
          <p:nvPr/>
        </p:nvSpPr>
        <p:spPr>
          <a:xfrm>
            <a:off x="3607888" y="3904375"/>
            <a:ext cx="1320000" cy="907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33"/>
          <p:cNvGrpSpPr/>
          <p:nvPr/>
        </p:nvGrpSpPr>
        <p:grpSpPr>
          <a:xfrm>
            <a:off x="3548764" y="3847814"/>
            <a:ext cx="1582372" cy="961571"/>
            <a:chOff x="1114701" y="3234112"/>
            <a:chExt cx="1582372" cy="961571"/>
          </a:xfrm>
        </p:grpSpPr>
        <p:sp>
          <p:nvSpPr>
            <p:cNvPr id="295" name="Google Shape;295;p33"/>
            <p:cNvSpPr txBox="1"/>
            <p:nvPr/>
          </p:nvSpPr>
          <p:spPr>
            <a:xfrm>
              <a:off x="1122672" y="344422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remove()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6" name="Google Shape;296;p33"/>
            <p:cNvSpPr txBox="1"/>
            <p:nvPr/>
          </p:nvSpPr>
          <p:spPr>
            <a:xfrm>
              <a:off x="1114701" y="3234112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insert(int x)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7" name="Google Shape;297;p33"/>
            <p:cNvSpPr txBox="1"/>
            <p:nvPr/>
          </p:nvSpPr>
          <p:spPr>
            <a:xfrm>
              <a:off x="1122672" y="3666255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sample()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98" name="Google Shape;298;p33"/>
            <p:cNvSpPr txBox="1"/>
            <p:nvPr/>
          </p:nvSpPr>
          <p:spPr>
            <a:xfrm>
              <a:off x="1122672" y="3859383"/>
              <a:ext cx="15744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nsolas"/>
                  <a:ea typeface="Consolas"/>
                  <a:cs typeface="Consolas"/>
                  <a:sym typeface="Consolas"/>
                </a:rPr>
                <a:t>size(int i)</a:t>
              </a:r>
              <a:endParaRPr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 in Java</a:t>
            </a:r>
            <a:endParaRPr/>
          </a:p>
        </p:txBody>
      </p:sp>
      <p:sp>
        <p:nvSpPr>
          <p:cNvPr id="304" name="Google Shape;304;p3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thing I particularly like about Java is the syntax differentiation between abstract data types and implementations.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Interfaces in Java aren’t purely abstract as they can contain some implementation details, e.g. default methods.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List&lt;Integer&gt; L = new ArrayList&lt;&gt;();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4119063" y="32583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4553900" y="4132400"/>
            <a:ext cx="1230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ArrayList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3359790" y="41324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Linked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8" name="Google Shape;308;p34"/>
          <p:cNvCxnSpPr>
            <a:stCxn id="307" idx="0"/>
          </p:cNvCxnSpPr>
          <p:nvPr/>
        </p:nvCxnSpPr>
        <p:spPr>
          <a:xfrm flipH="1" rot="10800000">
            <a:off x="3911190" y="3768500"/>
            <a:ext cx="6300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4"/>
          <p:cNvCxnSpPr>
            <a:stCxn id="306" idx="0"/>
          </p:cNvCxnSpPr>
          <p:nvPr/>
        </p:nvCxnSpPr>
        <p:spPr>
          <a:xfrm rot="10800000">
            <a:off x="4574750" y="3768500"/>
            <a:ext cx="5943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</a:t>
            </a:r>
            <a:endParaRPr/>
          </a:p>
        </p:txBody>
      </p:sp>
      <p:sp>
        <p:nvSpPr>
          <p:cNvPr id="315" name="Google Shape;315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Among the most important interfaces in the java.util library are those that extend the Collection interface (btw interfaces can extend other interfaces).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Lists of things.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Sets of things.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Mappings between items, e.g. jhug’s grade is 88.4, or Creature c’s north neighbor is a Plip.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Maps also known as associative arrays, associative lists (in Lisp), symbol tables, dictionaries (in Python).</a:t>
            </a:r>
            <a:endParaRPr/>
          </a:p>
        </p:txBody>
      </p:sp>
      <p:sp>
        <p:nvSpPr>
          <p:cNvPr id="316" name="Google Shape;316;p35"/>
          <p:cNvSpPr/>
          <p:nvPr/>
        </p:nvSpPr>
        <p:spPr>
          <a:xfrm>
            <a:off x="3895076" y="3546088"/>
            <a:ext cx="13167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Collection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35"/>
          <p:cNvSpPr/>
          <p:nvPr/>
        </p:nvSpPr>
        <p:spPr>
          <a:xfrm>
            <a:off x="2906613" y="4356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4131163" y="4356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9" name="Google Shape;319;p35"/>
          <p:cNvSpPr/>
          <p:nvPr/>
        </p:nvSpPr>
        <p:spPr>
          <a:xfrm>
            <a:off x="5392888" y="4356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0" name="Google Shape;320;p35"/>
          <p:cNvCxnSpPr>
            <a:stCxn id="317" idx="0"/>
            <a:endCxn id="316" idx="2"/>
          </p:cNvCxnSpPr>
          <p:nvPr/>
        </p:nvCxnSpPr>
        <p:spPr>
          <a:xfrm flipH="1" rot="10800000">
            <a:off x="3328863" y="4041475"/>
            <a:ext cx="1224600" cy="31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5"/>
          <p:cNvCxnSpPr>
            <a:stCxn id="318" idx="0"/>
            <a:endCxn id="316" idx="2"/>
          </p:cNvCxnSpPr>
          <p:nvPr/>
        </p:nvCxnSpPr>
        <p:spPr>
          <a:xfrm rot="10800000">
            <a:off x="4553413" y="4041475"/>
            <a:ext cx="0" cy="31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5"/>
          <p:cNvCxnSpPr>
            <a:stCxn id="319" idx="0"/>
            <a:endCxn id="316" idx="2"/>
          </p:cNvCxnSpPr>
          <p:nvPr/>
        </p:nvCxnSpPr>
        <p:spPr>
          <a:xfrm rot="10800000">
            <a:off x="4553338" y="4041475"/>
            <a:ext cx="1261800" cy="315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 Example</a:t>
            </a:r>
            <a:endParaRPr/>
          </a:p>
        </p:txBody>
      </p:sp>
      <p:sp>
        <p:nvSpPr>
          <p:cNvPr id="328" name="Google Shape;328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Maps are very handy tools for all sorts of tasks. Example: Counting words.</a:t>
            </a:r>
            <a:endParaRPr/>
          </a:p>
        </p:txBody>
      </p:sp>
      <p:sp>
        <p:nvSpPr>
          <p:cNvPr id="329" name="Google Shape;329;p36"/>
          <p:cNvSpPr txBox="1"/>
          <p:nvPr/>
        </p:nvSpPr>
        <p:spPr>
          <a:xfrm>
            <a:off x="302275" y="1132900"/>
            <a:ext cx="6464700" cy="2208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Map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Integer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TreeMap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&lt;&gt;();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text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 {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"sumomo"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"momo"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"momo"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"no"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"uchi"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String s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text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0000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currentCount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9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getOrDefault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880022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m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9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currentCount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rgbClr val="880022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302275" y="3396075"/>
            <a:ext cx="4314600" cy="1595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 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 {}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text 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 [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"sumomo"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"momo"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\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"momo"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"no"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AA440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"uchi"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 </a:t>
            </a:r>
            <a:r>
              <a:rPr b="1" lang="en" sz="15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text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current_count 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5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880022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m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current_count </a:t>
            </a:r>
            <a:r>
              <a:rPr b="1"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880022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4612075" y="4463050"/>
            <a:ext cx="15357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equivalent</a:t>
            </a:r>
            <a:endParaRPr/>
          </a:p>
        </p:txBody>
      </p:sp>
      <p:graphicFrame>
        <p:nvGraphicFramePr>
          <p:cNvPr id="332" name="Google Shape;332;p36"/>
          <p:cNvGraphicFramePr/>
          <p:nvPr/>
        </p:nvGraphicFramePr>
        <p:xfrm>
          <a:off x="7442325" y="130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{A8ECBA62-D5AE-4AF2-B8BC-2D97442E8694}</a:tableStyleId>
              </a:tblPr>
              <a:tblGrid>
                <a:gridCol w="969775"/>
                <a:gridCol w="414025"/>
              </a:tblGrid>
              <a:tr h="37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uchi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333" name="Google Shape;333;p36"/>
          <p:cNvCxnSpPr/>
          <p:nvPr/>
        </p:nvCxnSpPr>
        <p:spPr>
          <a:xfrm>
            <a:off x="6835250" y="2308873"/>
            <a:ext cx="5070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Libraries</a:t>
            </a:r>
            <a:endParaRPr/>
          </a:p>
        </p:txBody>
      </p:sp>
      <p:sp>
        <p:nvSpPr>
          <p:cNvPr id="339" name="Google Shape;339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built-in java.util package provides a number of useful: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Interfaces: ADTs (lists, sets, maps, priority queues, etc.) and other stuff.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Implementations: Concrete classes you can use.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we’ll learn the basic ideas behind the TreeSet and TreeMap.</a:t>
            </a:r>
            <a:endParaRPr/>
          </a:p>
        </p:txBody>
      </p:sp>
      <p:sp>
        <p:nvSpPr>
          <p:cNvPr id="340" name="Google Shape;340;p37"/>
          <p:cNvSpPr/>
          <p:nvPr/>
        </p:nvSpPr>
        <p:spPr>
          <a:xfrm>
            <a:off x="3789356" y="2773550"/>
            <a:ext cx="15309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Collection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p37"/>
          <p:cNvSpPr/>
          <p:nvPr/>
        </p:nvSpPr>
        <p:spPr>
          <a:xfrm>
            <a:off x="1463663" y="3594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37"/>
          <p:cNvSpPr/>
          <p:nvPr/>
        </p:nvSpPr>
        <p:spPr>
          <a:xfrm>
            <a:off x="4131163" y="3594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p37"/>
          <p:cNvSpPr/>
          <p:nvPr/>
        </p:nvSpPr>
        <p:spPr>
          <a:xfrm>
            <a:off x="6645488" y="3594775"/>
            <a:ext cx="8445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4" name="Google Shape;344;p37"/>
          <p:cNvCxnSpPr>
            <a:stCxn id="341" idx="0"/>
            <a:endCxn id="340" idx="2"/>
          </p:cNvCxnSpPr>
          <p:nvPr/>
        </p:nvCxnSpPr>
        <p:spPr>
          <a:xfrm flipH="1" rot="10800000">
            <a:off x="1885913" y="3268975"/>
            <a:ext cx="2668800" cy="32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7"/>
          <p:cNvCxnSpPr>
            <a:stCxn id="342" idx="0"/>
            <a:endCxn id="340" idx="2"/>
          </p:cNvCxnSpPr>
          <p:nvPr/>
        </p:nvCxnSpPr>
        <p:spPr>
          <a:xfrm flipH="1" rot="10800000">
            <a:off x="4553413" y="3268975"/>
            <a:ext cx="1500" cy="32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7"/>
          <p:cNvCxnSpPr>
            <a:stCxn id="343" idx="0"/>
            <a:endCxn id="340" idx="2"/>
          </p:cNvCxnSpPr>
          <p:nvPr/>
        </p:nvCxnSpPr>
        <p:spPr>
          <a:xfrm rot="10800000">
            <a:off x="4554938" y="3268975"/>
            <a:ext cx="2512800" cy="325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7"/>
          <p:cNvSpPr/>
          <p:nvPr/>
        </p:nvSpPr>
        <p:spPr>
          <a:xfrm>
            <a:off x="1898500" y="4468800"/>
            <a:ext cx="12303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ArrayList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704390" y="44688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Linked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9" name="Google Shape;349;p37"/>
          <p:cNvCxnSpPr>
            <a:stCxn id="348" idx="0"/>
            <a:endCxn id="350" idx="2"/>
          </p:cNvCxnSpPr>
          <p:nvPr/>
        </p:nvCxnSpPr>
        <p:spPr>
          <a:xfrm flipH="1" rot="10800000">
            <a:off x="1255790" y="4104900"/>
            <a:ext cx="6300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1" name="Google Shape;351;p37"/>
          <p:cNvCxnSpPr>
            <a:stCxn id="347" idx="0"/>
            <a:endCxn id="350" idx="2"/>
          </p:cNvCxnSpPr>
          <p:nvPr/>
        </p:nvCxnSpPr>
        <p:spPr>
          <a:xfrm rot="10800000">
            <a:off x="1919350" y="4104900"/>
            <a:ext cx="5943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37"/>
          <p:cNvSpPr/>
          <p:nvPr/>
        </p:nvSpPr>
        <p:spPr>
          <a:xfrm>
            <a:off x="4576445" y="44688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TreeSet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37"/>
          <p:cNvSpPr/>
          <p:nvPr/>
        </p:nvSpPr>
        <p:spPr>
          <a:xfrm>
            <a:off x="3369120" y="44688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HashSet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37"/>
          <p:cNvSpPr/>
          <p:nvPr/>
        </p:nvSpPr>
        <p:spPr>
          <a:xfrm>
            <a:off x="7126795" y="44688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TreeMap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" name="Google Shape;355;p37"/>
          <p:cNvSpPr/>
          <p:nvPr/>
        </p:nvSpPr>
        <p:spPr>
          <a:xfrm>
            <a:off x="5919470" y="4468800"/>
            <a:ext cx="1102800" cy="4953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HashMap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6" name="Google Shape;356;p37"/>
          <p:cNvCxnSpPr>
            <a:stCxn id="353" idx="0"/>
            <a:endCxn id="357" idx="2"/>
          </p:cNvCxnSpPr>
          <p:nvPr/>
        </p:nvCxnSpPr>
        <p:spPr>
          <a:xfrm flipH="1" rot="10800000">
            <a:off x="3920520" y="4105200"/>
            <a:ext cx="636900" cy="36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37"/>
          <p:cNvCxnSpPr>
            <a:stCxn id="352" idx="0"/>
            <a:endCxn id="357" idx="2"/>
          </p:cNvCxnSpPr>
          <p:nvPr/>
        </p:nvCxnSpPr>
        <p:spPr>
          <a:xfrm rot="10800000">
            <a:off x="4557545" y="4105200"/>
            <a:ext cx="570300" cy="363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37"/>
          <p:cNvCxnSpPr>
            <a:stCxn id="355" idx="0"/>
            <a:endCxn id="360" idx="2"/>
          </p:cNvCxnSpPr>
          <p:nvPr/>
        </p:nvCxnSpPr>
        <p:spPr>
          <a:xfrm flipH="1" rot="10800000">
            <a:off x="6470870" y="4104900"/>
            <a:ext cx="5970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37"/>
          <p:cNvCxnSpPr>
            <a:stCxn id="354" idx="0"/>
            <a:endCxn id="360" idx="2"/>
          </p:cNvCxnSpPr>
          <p:nvPr/>
        </p:nvCxnSpPr>
        <p:spPr>
          <a:xfrm rot="10800000">
            <a:off x="7067695" y="4104900"/>
            <a:ext cx="610500" cy="36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Binary Search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Derivation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7" name="Google Shape;367;p3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Trees: Derivation</a:t>
            </a:r>
            <a:endParaRPr/>
          </a:p>
        </p:txBody>
      </p:sp>
      <p:sp>
        <p:nvSpPr>
          <p:cNvPr id="368" name="Google Shape;368;p3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9"/>
          <p:cNvSpPr/>
          <p:nvPr/>
        </p:nvSpPr>
        <p:spPr>
          <a:xfrm>
            <a:off x="318475" y="1751650"/>
            <a:ext cx="8368200" cy="1303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an Ordered</a:t>
            </a:r>
            <a:r>
              <a:rPr lang="en"/>
              <a:t>LinkedListSet</a:t>
            </a:r>
            <a:r>
              <a:rPr lang="en"/>
              <a:t>&lt;Character&gt;</a:t>
            </a:r>
            <a:endParaRPr/>
          </a:p>
        </p:txBody>
      </p:sp>
      <p:sp>
        <p:nvSpPr>
          <p:cNvPr id="375" name="Google Shape;375;p39"/>
          <p:cNvSpPr txBox="1"/>
          <p:nvPr>
            <p:ph idx="1" type="body"/>
          </p:nvPr>
        </p:nvSpPr>
        <p:spPr>
          <a:xfrm>
            <a:off x="243000" y="556500"/>
            <a:ext cx="8443800" cy="10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an earlier lecture, we implemented a set based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unordered arrays</a:t>
            </a:r>
            <a:r>
              <a:rPr lang="en"/>
              <a:t>. For the </a:t>
            </a:r>
            <a:r>
              <a:rPr b="1" i="1" lang="en"/>
              <a:t>order linked list</a:t>
            </a:r>
            <a:r>
              <a:rPr lang="en"/>
              <a:t> set implementation below, name an operation that takes worst case linear time, i.e. Θ(N).</a:t>
            </a:r>
            <a:endParaRPr/>
          </a:p>
        </p:txBody>
      </p:sp>
      <p:cxnSp>
        <p:nvCxnSpPr>
          <p:cNvPr id="376" name="Google Shape;376;p39"/>
          <p:cNvCxnSpPr/>
          <p:nvPr/>
        </p:nvCxnSpPr>
        <p:spPr>
          <a:xfrm>
            <a:off x="2062614" y="3065364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9"/>
          <p:cNvSpPr txBox="1"/>
          <p:nvPr/>
        </p:nvSpPr>
        <p:spPr>
          <a:xfrm>
            <a:off x="1513164" y="2607331"/>
            <a:ext cx="1098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78" name="Google Shape;378;p39"/>
          <p:cNvCxnSpPr/>
          <p:nvPr/>
        </p:nvCxnSpPr>
        <p:spPr>
          <a:xfrm>
            <a:off x="3609658" y="3061943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9"/>
          <p:cNvSpPr txBox="1"/>
          <p:nvPr/>
        </p:nvSpPr>
        <p:spPr>
          <a:xfrm>
            <a:off x="2769680" y="2607325"/>
            <a:ext cx="17223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contains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0" name="Google Shape;380;p39"/>
          <p:cNvCxnSpPr/>
          <p:nvPr/>
        </p:nvCxnSpPr>
        <p:spPr>
          <a:xfrm>
            <a:off x="5156702" y="3046687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9"/>
          <p:cNvSpPr txBox="1"/>
          <p:nvPr/>
        </p:nvSpPr>
        <p:spPr>
          <a:xfrm>
            <a:off x="4607252" y="2607331"/>
            <a:ext cx="1098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add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82" name="Google Shape;382;p39"/>
          <p:cNvCxnSpPr/>
          <p:nvPr/>
        </p:nvCxnSpPr>
        <p:spPr>
          <a:xfrm>
            <a:off x="6703746" y="3057736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9"/>
          <p:cNvSpPr txBox="1"/>
          <p:nvPr/>
        </p:nvSpPr>
        <p:spPr>
          <a:xfrm>
            <a:off x="6060425" y="2607325"/>
            <a:ext cx="1192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iterator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84" name="Google Shape;384;p39"/>
          <p:cNvGrpSpPr/>
          <p:nvPr/>
        </p:nvGrpSpPr>
        <p:grpSpPr>
          <a:xfrm>
            <a:off x="299128" y="2030000"/>
            <a:ext cx="8345672" cy="813160"/>
            <a:chOff x="299128" y="2030000"/>
            <a:chExt cx="8345672" cy="813160"/>
          </a:xfrm>
        </p:grpSpPr>
        <p:grpSp>
          <p:nvGrpSpPr>
            <p:cNvPr id="385" name="Google Shape;385;p39"/>
            <p:cNvGrpSpPr/>
            <p:nvPr/>
          </p:nvGrpSpPr>
          <p:grpSpPr>
            <a:xfrm>
              <a:off x="554125" y="2030000"/>
              <a:ext cx="7331350" cy="495300"/>
              <a:chOff x="554125" y="2030000"/>
              <a:chExt cx="7331350" cy="495300"/>
            </a:xfrm>
          </p:grpSpPr>
          <p:sp>
            <p:nvSpPr>
              <p:cNvPr id="386" name="Google Shape;386;p39"/>
              <p:cNvSpPr/>
              <p:nvPr/>
            </p:nvSpPr>
            <p:spPr>
              <a:xfrm>
                <a:off x="1106125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A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87" name="Google Shape;387;p39"/>
              <p:cNvSpPr/>
              <p:nvPr/>
            </p:nvSpPr>
            <p:spPr>
              <a:xfrm>
                <a:off x="3200808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C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88" name="Google Shape;388;p39"/>
              <p:cNvSpPr/>
              <p:nvPr/>
            </p:nvSpPr>
            <p:spPr>
              <a:xfrm>
                <a:off x="2153467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B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89" name="Google Shape;389;p39"/>
              <p:cNvSpPr/>
              <p:nvPr/>
            </p:nvSpPr>
            <p:spPr>
              <a:xfrm>
                <a:off x="4248150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D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90" name="Google Shape;390;p39"/>
              <p:cNvSpPr/>
              <p:nvPr/>
            </p:nvSpPr>
            <p:spPr>
              <a:xfrm>
                <a:off x="5295492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E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91" name="Google Shape;391;p39"/>
              <p:cNvSpPr/>
              <p:nvPr/>
            </p:nvSpPr>
            <p:spPr>
              <a:xfrm>
                <a:off x="6342833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F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92" name="Google Shape;392;p39"/>
              <p:cNvSpPr/>
              <p:nvPr/>
            </p:nvSpPr>
            <p:spPr>
              <a:xfrm>
                <a:off x="7390175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G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93" name="Google Shape;393;p39"/>
              <p:cNvCxnSpPr>
                <a:stCxn id="386" idx="6"/>
                <a:endCxn id="388" idx="2"/>
              </p:cNvCxnSpPr>
              <p:nvPr/>
            </p:nvCxnSpPr>
            <p:spPr>
              <a:xfrm>
                <a:off x="1601425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4" name="Google Shape;394;p39"/>
              <p:cNvCxnSpPr>
                <a:stCxn id="388" idx="6"/>
                <a:endCxn id="387" idx="2"/>
              </p:cNvCxnSpPr>
              <p:nvPr/>
            </p:nvCxnSpPr>
            <p:spPr>
              <a:xfrm>
                <a:off x="2648767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5" name="Google Shape;395;p39"/>
              <p:cNvCxnSpPr>
                <a:stCxn id="387" idx="6"/>
                <a:endCxn id="389" idx="2"/>
              </p:cNvCxnSpPr>
              <p:nvPr/>
            </p:nvCxnSpPr>
            <p:spPr>
              <a:xfrm>
                <a:off x="3696108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6" name="Google Shape;396;p39"/>
              <p:cNvCxnSpPr>
                <a:stCxn id="389" idx="6"/>
                <a:endCxn id="390" idx="2"/>
              </p:cNvCxnSpPr>
              <p:nvPr/>
            </p:nvCxnSpPr>
            <p:spPr>
              <a:xfrm>
                <a:off x="4743450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7" name="Google Shape;397;p39"/>
              <p:cNvCxnSpPr>
                <a:stCxn id="390" idx="6"/>
                <a:endCxn id="391" idx="2"/>
              </p:cNvCxnSpPr>
              <p:nvPr/>
            </p:nvCxnSpPr>
            <p:spPr>
              <a:xfrm>
                <a:off x="5790792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8" name="Google Shape;398;p39"/>
              <p:cNvCxnSpPr>
                <a:stCxn id="391" idx="6"/>
                <a:endCxn id="392" idx="2"/>
              </p:cNvCxnSpPr>
              <p:nvPr/>
            </p:nvCxnSpPr>
            <p:spPr>
              <a:xfrm>
                <a:off x="6838133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99" name="Google Shape;399;p39"/>
              <p:cNvCxnSpPr/>
              <p:nvPr/>
            </p:nvCxnSpPr>
            <p:spPr>
              <a:xfrm>
                <a:off x="554125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00" name="Google Shape;400;p39"/>
            <p:cNvSpPr/>
            <p:nvPr/>
          </p:nvSpPr>
          <p:spPr>
            <a:xfrm>
              <a:off x="389245" y="2071296"/>
              <a:ext cx="347400" cy="4032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9"/>
            <p:cNvSpPr txBox="1"/>
            <p:nvPr/>
          </p:nvSpPr>
          <p:spPr>
            <a:xfrm>
              <a:off x="299128" y="2426050"/>
              <a:ext cx="625500" cy="1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sent</a:t>
              </a: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>
              <a:off x="8187395" y="2101046"/>
              <a:ext cx="347400" cy="4032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403" name="Google Shape;403;p39"/>
            <p:cNvSpPr txBox="1"/>
            <p:nvPr/>
          </p:nvSpPr>
          <p:spPr>
            <a:xfrm>
              <a:off x="8104500" y="2439960"/>
              <a:ext cx="540300" cy="4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size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of an OrderedLinkedListSet&lt;Character&gt;</a:t>
            </a:r>
            <a:endParaRPr/>
          </a:p>
        </p:txBody>
      </p:sp>
      <p:sp>
        <p:nvSpPr>
          <p:cNvPr id="409" name="Google Shape;409;p40"/>
          <p:cNvSpPr txBox="1"/>
          <p:nvPr>
            <p:ph idx="1" type="body"/>
          </p:nvPr>
        </p:nvSpPr>
        <p:spPr>
          <a:xfrm>
            <a:off x="243000" y="556500"/>
            <a:ext cx="8443800" cy="10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an earlier lecture, we implemented a set based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unordered arrays</a:t>
            </a:r>
            <a:r>
              <a:rPr lang="en"/>
              <a:t>. For the </a:t>
            </a:r>
            <a:r>
              <a:rPr b="1" i="1" lang="en"/>
              <a:t>order linked list</a:t>
            </a:r>
            <a:r>
              <a:rPr lang="en"/>
              <a:t> set implementation below, name an operation that takes worst case linear time, i.e. Θ(N).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0"/>
          <p:cNvSpPr/>
          <p:nvPr/>
        </p:nvSpPr>
        <p:spPr>
          <a:xfrm>
            <a:off x="318475" y="1751650"/>
            <a:ext cx="8368200" cy="13035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40"/>
          <p:cNvCxnSpPr/>
          <p:nvPr/>
        </p:nvCxnSpPr>
        <p:spPr>
          <a:xfrm>
            <a:off x="2062614" y="3065364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40"/>
          <p:cNvSpPr txBox="1"/>
          <p:nvPr/>
        </p:nvSpPr>
        <p:spPr>
          <a:xfrm>
            <a:off x="1513164" y="2607331"/>
            <a:ext cx="1098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size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3" name="Google Shape;413;p40"/>
          <p:cNvCxnSpPr/>
          <p:nvPr/>
        </p:nvCxnSpPr>
        <p:spPr>
          <a:xfrm>
            <a:off x="3609658" y="3061943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40"/>
          <p:cNvSpPr txBox="1"/>
          <p:nvPr/>
        </p:nvSpPr>
        <p:spPr>
          <a:xfrm>
            <a:off x="2769680" y="2607325"/>
            <a:ext cx="17223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contains</a:t>
            </a:r>
            <a:endParaRPr b="1" sz="1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5" name="Google Shape;415;p40"/>
          <p:cNvCxnSpPr/>
          <p:nvPr/>
        </p:nvCxnSpPr>
        <p:spPr>
          <a:xfrm>
            <a:off x="5156702" y="3046687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0"/>
          <p:cNvSpPr txBox="1"/>
          <p:nvPr/>
        </p:nvSpPr>
        <p:spPr>
          <a:xfrm>
            <a:off x="4607252" y="2607331"/>
            <a:ext cx="10989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endParaRPr b="1" sz="18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17" name="Google Shape;417;p40"/>
          <p:cNvCxnSpPr/>
          <p:nvPr/>
        </p:nvCxnSpPr>
        <p:spPr>
          <a:xfrm>
            <a:off x="6703746" y="3057736"/>
            <a:ext cx="0" cy="525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40"/>
          <p:cNvSpPr txBox="1"/>
          <p:nvPr/>
        </p:nvSpPr>
        <p:spPr>
          <a:xfrm>
            <a:off x="6060425" y="2607325"/>
            <a:ext cx="1192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iterator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19" name="Google Shape;419;p40"/>
          <p:cNvGrpSpPr/>
          <p:nvPr/>
        </p:nvGrpSpPr>
        <p:grpSpPr>
          <a:xfrm>
            <a:off x="299128" y="2030000"/>
            <a:ext cx="8345672" cy="813160"/>
            <a:chOff x="299128" y="2030000"/>
            <a:chExt cx="8345672" cy="813160"/>
          </a:xfrm>
        </p:grpSpPr>
        <p:grpSp>
          <p:nvGrpSpPr>
            <p:cNvPr id="420" name="Google Shape;420;p40"/>
            <p:cNvGrpSpPr/>
            <p:nvPr/>
          </p:nvGrpSpPr>
          <p:grpSpPr>
            <a:xfrm>
              <a:off x="554125" y="2030000"/>
              <a:ext cx="7331350" cy="495300"/>
              <a:chOff x="554125" y="2030000"/>
              <a:chExt cx="7331350" cy="495300"/>
            </a:xfrm>
          </p:grpSpPr>
          <p:sp>
            <p:nvSpPr>
              <p:cNvPr id="421" name="Google Shape;421;p40"/>
              <p:cNvSpPr/>
              <p:nvPr/>
            </p:nvSpPr>
            <p:spPr>
              <a:xfrm>
                <a:off x="1106125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A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2" name="Google Shape;422;p40"/>
              <p:cNvSpPr/>
              <p:nvPr/>
            </p:nvSpPr>
            <p:spPr>
              <a:xfrm>
                <a:off x="3200808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C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3" name="Google Shape;423;p40"/>
              <p:cNvSpPr/>
              <p:nvPr/>
            </p:nvSpPr>
            <p:spPr>
              <a:xfrm>
                <a:off x="2153467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B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4" name="Google Shape;424;p40"/>
              <p:cNvSpPr/>
              <p:nvPr/>
            </p:nvSpPr>
            <p:spPr>
              <a:xfrm>
                <a:off x="4248150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D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5" name="Google Shape;425;p40"/>
              <p:cNvSpPr/>
              <p:nvPr/>
            </p:nvSpPr>
            <p:spPr>
              <a:xfrm>
                <a:off x="5295492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E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6" name="Google Shape;426;p40"/>
              <p:cNvSpPr/>
              <p:nvPr/>
            </p:nvSpPr>
            <p:spPr>
              <a:xfrm>
                <a:off x="6342833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F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7" name="Google Shape;427;p40"/>
              <p:cNvSpPr/>
              <p:nvPr/>
            </p:nvSpPr>
            <p:spPr>
              <a:xfrm>
                <a:off x="7390175" y="2030000"/>
                <a:ext cx="495300" cy="495300"/>
              </a:xfrm>
              <a:prstGeom prst="ellipse">
                <a:avLst/>
              </a:prstGeom>
              <a:solidFill>
                <a:srgbClr val="B1DD8B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200">
                    <a:latin typeface="Consolas"/>
                    <a:ea typeface="Consolas"/>
                    <a:cs typeface="Consolas"/>
                    <a:sym typeface="Consolas"/>
                  </a:rPr>
                  <a:t>G</a:t>
                </a:r>
                <a:endParaRPr sz="2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28" name="Google Shape;428;p40"/>
              <p:cNvCxnSpPr>
                <a:stCxn id="421" idx="6"/>
                <a:endCxn id="423" idx="2"/>
              </p:cNvCxnSpPr>
              <p:nvPr/>
            </p:nvCxnSpPr>
            <p:spPr>
              <a:xfrm>
                <a:off x="1601425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29" name="Google Shape;429;p40"/>
              <p:cNvCxnSpPr>
                <a:stCxn id="423" idx="6"/>
                <a:endCxn id="422" idx="2"/>
              </p:cNvCxnSpPr>
              <p:nvPr/>
            </p:nvCxnSpPr>
            <p:spPr>
              <a:xfrm>
                <a:off x="2648767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0" name="Google Shape;430;p40"/>
              <p:cNvCxnSpPr>
                <a:stCxn id="422" idx="6"/>
                <a:endCxn id="424" idx="2"/>
              </p:cNvCxnSpPr>
              <p:nvPr/>
            </p:nvCxnSpPr>
            <p:spPr>
              <a:xfrm>
                <a:off x="3696108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1" name="Google Shape;431;p40"/>
              <p:cNvCxnSpPr>
                <a:stCxn id="424" idx="6"/>
                <a:endCxn id="425" idx="2"/>
              </p:cNvCxnSpPr>
              <p:nvPr/>
            </p:nvCxnSpPr>
            <p:spPr>
              <a:xfrm>
                <a:off x="4743450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2" name="Google Shape;432;p40"/>
              <p:cNvCxnSpPr>
                <a:stCxn id="425" idx="6"/>
                <a:endCxn id="426" idx="2"/>
              </p:cNvCxnSpPr>
              <p:nvPr/>
            </p:nvCxnSpPr>
            <p:spPr>
              <a:xfrm>
                <a:off x="5790792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3" name="Google Shape;433;p40"/>
              <p:cNvCxnSpPr>
                <a:stCxn id="426" idx="6"/>
                <a:endCxn id="427" idx="2"/>
              </p:cNvCxnSpPr>
              <p:nvPr/>
            </p:nvCxnSpPr>
            <p:spPr>
              <a:xfrm>
                <a:off x="6838133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4" name="Google Shape;434;p40"/>
              <p:cNvCxnSpPr/>
              <p:nvPr/>
            </p:nvCxnSpPr>
            <p:spPr>
              <a:xfrm>
                <a:off x="554125" y="2277650"/>
                <a:ext cx="5520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435" name="Google Shape;435;p40"/>
            <p:cNvSpPr/>
            <p:nvPr/>
          </p:nvSpPr>
          <p:spPr>
            <a:xfrm>
              <a:off x="389245" y="2071296"/>
              <a:ext cx="347400" cy="4032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40"/>
            <p:cNvSpPr txBox="1"/>
            <p:nvPr/>
          </p:nvSpPr>
          <p:spPr>
            <a:xfrm>
              <a:off x="299128" y="2426050"/>
              <a:ext cx="625500" cy="1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sent</a:t>
              </a: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8187395" y="2101046"/>
              <a:ext cx="347400" cy="403200"/>
            </a:xfrm>
            <a:prstGeom prst="rect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7</a:t>
              </a:r>
              <a:endParaRPr/>
            </a:p>
          </p:txBody>
        </p:sp>
        <p:sp>
          <p:nvSpPr>
            <p:cNvPr id="438" name="Google Shape;438;p40"/>
            <p:cNvSpPr txBox="1"/>
            <p:nvPr/>
          </p:nvSpPr>
          <p:spPr>
            <a:xfrm>
              <a:off x="8104500" y="2439960"/>
              <a:ext cx="540300" cy="40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size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Extra Links</a:t>
            </a:r>
            <a:endParaRPr/>
          </a:p>
        </p:txBody>
      </p:sp>
      <p:sp>
        <p:nvSpPr>
          <p:cNvPr id="444" name="Google Shape;444;p41"/>
          <p:cNvSpPr txBox="1"/>
          <p:nvPr>
            <p:ph idx="1" type="body"/>
          </p:nvPr>
        </p:nvSpPr>
        <p:spPr>
          <a:xfrm>
            <a:off x="243000" y="556500"/>
            <a:ext cx="8443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Problem: Slow search, even though it’s in order.</a:t>
            </a:r>
            <a:endParaRPr/>
          </a:p>
        </p:txBody>
      </p:sp>
      <p:sp>
        <p:nvSpPr>
          <p:cNvPr id="445" name="Google Shape;445;p41"/>
          <p:cNvSpPr/>
          <p:nvPr/>
        </p:nvSpPr>
        <p:spPr>
          <a:xfrm>
            <a:off x="110612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41"/>
          <p:cNvSpPr/>
          <p:nvPr/>
        </p:nvSpPr>
        <p:spPr>
          <a:xfrm>
            <a:off x="3200808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7" name="Google Shape;447;p41"/>
          <p:cNvSpPr/>
          <p:nvPr/>
        </p:nvSpPr>
        <p:spPr>
          <a:xfrm>
            <a:off x="2153467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8" name="Google Shape;448;p41"/>
          <p:cNvSpPr/>
          <p:nvPr/>
        </p:nvSpPr>
        <p:spPr>
          <a:xfrm>
            <a:off x="4248150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41"/>
          <p:cNvSpPr/>
          <p:nvPr/>
        </p:nvSpPr>
        <p:spPr>
          <a:xfrm>
            <a:off x="5295492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41"/>
          <p:cNvSpPr/>
          <p:nvPr/>
        </p:nvSpPr>
        <p:spPr>
          <a:xfrm>
            <a:off x="6342833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41"/>
          <p:cNvSpPr/>
          <p:nvPr/>
        </p:nvSpPr>
        <p:spPr>
          <a:xfrm>
            <a:off x="73901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2" name="Google Shape;452;p41"/>
          <p:cNvCxnSpPr>
            <a:stCxn id="445" idx="6"/>
            <a:endCxn id="447" idx="2"/>
          </p:cNvCxnSpPr>
          <p:nvPr/>
        </p:nvCxnSpPr>
        <p:spPr>
          <a:xfrm>
            <a:off x="160142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1"/>
          <p:cNvCxnSpPr>
            <a:stCxn id="447" idx="6"/>
            <a:endCxn id="446" idx="2"/>
          </p:cNvCxnSpPr>
          <p:nvPr/>
        </p:nvCxnSpPr>
        <p:spPr>
          <a:xfrm>
            <a:off x="2648767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1"/>
          <p:cNvCxnSpPr>
            <a:stCxn id="446" idx="6"/>
            <a:endCxn id="448" idx="2"/>
          </p:cNvCxnSpPr>
          <p:nvPr/>
        </p:nvCxnSpPr>
        <p:spPr>
          <a:xfrm>
            <a:off x="3696108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41"/>
          <p:cNvCxnSpPr>
            <a:stCxn id="448" idx="6"/>
            <a:endCxn id="449" idx="2"/>
          </p:cNvCxnSpPr>
          <p:nvPr/>
        </p:nvCxnSpPr>
        <p:spPr>
          <a:xfrm>
            <a:off x="4743450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41"/>
          <p:cNvCxnSpPr>
            <a:stCxn id="449" idx="6"/>
            <a:endCxn id="450" idx="2"/>
          </p:cNvCxnSpPr>
          <p:nvPr/>
        </p:nvCxnSpPr>
        <p:spPr>
          <a:xfrm>
            <a:off x="5790792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41"/>
          <p:cNvCxnSpPr>
            <a:stCxn id="450" idx="6"/>
            <a:endCxn id="451" idx="2"/>
          </p:cNvCxnSpPr>
          <p:nvPr/>
        </p:nvCxnSpPr>
        <p:spPr>
          <a:xfrm>
            <a:off x="6838133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1"/>
          <p:cNvCxnSpPr>
            <a:stCxn id="445" idx="4"/>
            <a:endCxn id="448" idx="4"/>
          </p:cNvCxnSpPr>
          <p:nvPr/>
        </p:nvCxnSpPr>
        <p:spPr>
          <a:xfrm flipH="1" rot="-5400000">
            <a:off x="2924425" y="954650"/>
            <a:ext cx="600" cy="31419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1"/>
          <p:cNvCxnSpPr>
            <a:stCxn id="447" idx="4"/>
            <a:endCxn id="451" idx="4"/>
          </p:cNvCxnSpPr>
          <p:nvPr/>
        </p:nvCxnSpPr>
        <p:spPr>
          <a:xfrm flipH="1" rot="-5400000">
            <a:off x="5019217" y="-92800"/>
            <a:ext cx="600" cy="5236800"/>
          </a:xfrm>
          <a:prstGeom prst="curvedConnector3">
            <a:avLst>
              <a:gd fmla="val 396875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1"/>
          <p:cNvCxnSpPr/>
          <p:nvPr/>
        </p:nvCxnSpPr>
        <p:spPr>
          <a:xfrm>
            <a:off x="55412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41"/>
          <p:cNvSpPr txBox="1"/>
          <p:nvPr/>
        </p:nvSpPr>
        <p:spPr>
          <a:xfrm>
            <a:off x="211975" y="728749"/>
            <a:ext cx="8686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(random) express lanes. </a:t>
            </a:r>
            <a:r>
              <a:rPr lang="en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Skip List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(won’t discuss in 61B)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Change the Entry Point</a:t>
            </a:r>
            <a:endParaRPr/>
          </a:p>
        </p:txBody>
      </p:sp>
      <p:sp>
        <p:nvSpPr>
          <p:cNvPr id="467" name="Google Shape;467;p42"/>
          <p:cNvSpPr txBox="1"/>
          <p:nvPr>
            <p:ph idx="1" type="body"/>
          </p:nvPr>
        </p:nvSpPr>
        <p:spPr>
          <a:xfrm>
            <a:off x="243000" y="556500"/>
            <a:ext cx="8443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Problem: Slow search, even though it’s in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pointer to middle.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2"/>
          <p:cNvSpPr/>
          <p:nvPr/>
        </p:nvSpPr>
        <p:spPr>
          <a:xfrm>
            <a:off x="11338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42"/>
          <p:cNvSpPr/>
          <p:nvPr/>
        </p:nvSpPr>
        <p:spPr>
          <a:xfrm>
            <a:off x="3200808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42"/>
          <p:cNvSpPr/>
          <p:nvPr/>
        </p:nvSpPr>
        <p:spPr>
          <a:xfrm>
            <a:off x="2181217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4248150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5295492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6342833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42"/>
          <p:cNvSpPr/>
          <p:nvPr/>
        </p:nvSpPr>
        <p:spPr>
          <a:xfrm>
            <a:off x="73901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42"/>
          <p:cNvCxnSpPr>
            <a:stCxn id="468" idx="6"/>
            <a:endCxn id="470" idx="2"/>
          </p:cNvCxnSpPr>
          <p:nvPr/>
        </p:nvCxnSpPr>
        <p:spPr>
          <a:xfrm>
            <a:off x="162917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6" name="Google Shape;476;p42"/>
          <p:cNvCxnSpPr>
            <a:stCxn id="470" idx="6"/>
            <a:endCxn id="469" idx="2"/>
          </p:cNvCxnSpPr>
          <p:nvPr/>
        </p:nvCxnSpPr>
        <p:spPr>
          <a:xfrm>
            <a:off x="2676517" y="2277650"/>
            <a:ext cx="5244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2"/>
          <p:cNvCxnSpPr>
            <a:stCxn id="469" idx="6"/>
            <a:endCxn id="471" idx="2"/>
          </p:cNvCxnSpPr>
          <p:nvPr/>
        </p:nvCxnSpPr>
        <p:spPr>
          <a:xfrm>
            <a:off x="3696108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2"/>
          <p:cNvCxnSpPr>
            <a:stCxn id="471" idx="6"/>
            <a:endCxn id="472" idx="2"/>
          </p:cNvCxnSpPr>
          <p:nvPr/>
        </p:nvCxnSpPr>
        <p:spPr>
          <a:xfrm>
            <a:off x="4743450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42"/>
          <p:cNvCxnSpPr>
            <a:stCxn id="472" idx="6"/>
            <a:endCxn id="473" idx="2"/>
          </p:cNvCxnSpPr>
          <p:nvPr/>
        </p:nvCxnSpPr>
        <p:spPr>
          <a:xfrm>
            <a:off x="5790792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0" name="Google Shape;480;p42"/>
          <p:cNvCxnSpPr>
            <a:stCxn id="473" idx="6"/>
            <a:endCxn id="474" idx="2"/>
          </p:cNvCxnSpPr>
          <p:nvPr/>
        </p:nvCxnSpPr>
        <p:spPr>
          <a:xfrm>
            <a:off x="6838133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42"/>
          <p:cNvCxnSpPr/>
          <p:nvPr/>
        </p:nvCxnSpPr>
        <p:spPr>
          <a:xfrm>
            <a:off x="4507850" y="1596050"/>
            <a:ext cx="0" cy="4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Change the Entry Point, Flip Links</a:t>
            </a:r>
            <a:endParaRPr/>
          </a:p>
        </p:txBody>
      </p:sp>
      <p:sp>
        <p:nvSpPr>
          <p:cNvPr id="487" name="Google Shape;487;p43"/>
          <p:cNvSpPr txBox="1"/>
          <p:nvPr>
            <p:ph idx="1" type="body"/>
          </p:nvPr>
        </p:nvSpPr>
        <p:spPr>
          <a:xfrm>
            <a:off x="243000" y="556500"/>
            <a:ext cx="8443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Problem: Slow search, even though it’s in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pointer to middle and flip left links. Halved search time!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3"/>
          <p:cNvSpPr/>
          <p:nvPr/>
        </p:nvSpPr>
        <p:spPr>
          <a:xfrm>
            <a:off x="110612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43"/>
          <p:cNvSpPr/>
          <p:nvPr/>
        </p:nvSpPr>
        <p:spPr>
          <a:xfrm>
            <a:off x="3200808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43"/>
          <p:cNvSpPr/>
          <p:nvPr/>
        </p:nvSpPr>
        <p:spPr>
          <a:xfrm>
            <a:off x="2153467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43"/>
          <p:cNvSpPr/>
          <p:nvPr/>
        </p:nvSpPr>
        <p:spPr>
          <a:xfrm>
            <a:off x="4248150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43"/>
          <p:cNvSpPr/>
          <p:nvPr/>
        </p:nvSpPr>
        <p:spPr>
          <a:xfrm>
            <a:off x="5295492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43"/>
          <p:cNvSpPr/>
          <p:nvPr/>
        </p:nvSpPr>
        <p:spPr>
          <a:xfrm>
            <a:off x="6342833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4" name="Google Shape;494;p43"/>
          <p:cNvSpPr/>
          <p:nvPr/>
        </p:nvSpPr>
        <p:spPr>
          <a:xfrm>
            <a:off x="73901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5" name="Google Shape;495;p43"/>
          <p:cNvCxnSpPr>
            <a:stCxn id="488" idx="6"/>
            <a:endCxn id="490" idx="2"/>
          </p:cNvCxnSpPr>
          <p:nvPr/>
        </p:nvCxnSpPr>
        <p:spPr>
          <a:xfrm>
            <a:off x="160142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6" name="Google Shape;496;p43"/>
          <p:cNvCxnSpPr>
            <a:stCxn id="490" idx="6"/>
            <a:endCxn id="489" idx="2"/>
          </p:cNvCxnSpPr>
          <p:nvPr/>
        </p:nvCxnSpPr>
        <p:spPr>
          <a:xfrm>
            <a:off x="2648767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7" name="Google Shape;497;p43"/>
          <p:cNvCxnSpPr>
            <a:stCxn id="489" idx="6"/>
            <a:endCxn id="491" idx="2"/>
          </p:cNvCxnSpPr>
          <p:nvPr/>
        </p:nvCxnSpPr>
        <p:spPr>
          <a:xfrm>
            <a:off x="3696108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" name="Google Shape;498;p43"/>
          <p:cNvCxnSpPr>
            <a:stCxn id="491" idx="6"/>
            <a:endCxn id="492" idx="2"/>
          </p:cNvCxnSpPr>
          <p:nvPr/>
        </p:nvCxnSpPr>
        <p:spPr>
          <a:xfrm>
            <a:off x="4743450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3"/>
          <p:cNvCxnSpPr>
            <a:stCxn id="492" idx="6"/>
            <a:endCxn id="493" idx="2"/>
          </p:cNvCxnSpPr>
          <p:nvPr/>
        </p:nvCxnSpPr>
        <p:spPr>
          <a:xfrm>
            <a:off x="5790792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0" name="Google Shape;500;p43"/>
          <p:cNvCxnSpPr>
            <a:stCxn id="493" idx="6"/>
            <a:endCxn id="494" idx="2"/>
          </p:cNvCxnSpPr>
          <p:nvPr/>
        </p:nvCxnSpPr>
        <p:spPr>
          <a:xfrm>
            <a:off x="6838133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43"/>
          <p:cNvCxnSpPr/>
          <p:nvPr/>
        </p:nvCxnSpPr>
        <p:spPr>
          <a:xfrm>
            <a:off x="4507850" y="1596050"/>
            <a:ext cx="0" cy="4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Change the Entry Point, Flip Links</a:t>
            </a:r>
            <a:endParaRPr/>
          </a:p>
        </p:txBody>
      </p:sp>
      <p:sp>
        <p:nvSpPr>
          <p:cNvPr id="507" name="Google Shape;507;p44"/>
          <p:cNvSpPr txBox="1"/>
          <p:nvPr>
            <p:ph idx="1" type="body"/>
          </p:nvPr>
        </p:nvSpPr>
        <p:spPr>
          <a:xfrm>
            <a:off x="243000" y="556500"/>
            <a:ext cx="8443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Problem: Slow search, even though it’s in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do even better?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Dream big!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4"/>
          <p:cNvSpPr/>
          <p:nvPr/>
        </p:nvSpPr>
        <p:spPr>
          <a:xfrm>
            <a:off x="110612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3200808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0" name="Google Shape;510;p44"/>
          <p:cNvSpPr/>
          <p:nvPr/>
        </p:nvSpPr>
        <p:spPr>
          <a:xfrm>
            <a:off x="2153467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1" name="Google Shape;511;p44"/>
          <p:cNvSpPr/>
          <p:nvPr/>
        </p:nvSpPr>
        <p:spPr>
          <a:xfrm>
            <a:off x="4248150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44"/>
          <p:cNvSpPr/>
          <p:nvPr/>
        </p:nvSpPr>
        <p:spPr>
          <a:xfrm>
            <a:off x="5295492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44"/>
          <p:cNvSpPr/>
          <p:nvPr/>
        </p:nvSpPr>
        <p:spPr>
          <a:xfrm>
            <a:off x="6342833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4" name="Google Shape;514;p44"/>
          <p:cNvSpPr/>
          <p:nvPr/>
        </p:nvSpPr>
        <p:spPr>
          <a:xfrm>
            <a:off x="73901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5" name="Google Shape;515;p44"/>
          <p:cNvCxnSpPr>
            <a:stCxn id="508" idx="6"/>
            <a:endCxn id="510" idx="2"/>
          </p:cNvCxnSpPr>
          <p:nvPr/>
        </p:nvCxnSpPr>
        <p:spPr>
          <a:xfrm>
            <a:off x="160142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6" name="Google Shape;516;p44"/>
          <p:cNvCxnSpPr>
            <a:stCxn id="510" idx="6"/>
            <a:endCxn id="509" idx="2"/>
          </p:cNvCxnSpPr>
          <p:nvPr/>
        </p:nvCxnSpPr>
        <p:spPr>
          <a:xfrm>
            <a:off x="2648767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7" name="Google Shape;517;p44"/>
          <p:cNvCxnSpPr>
            <a:stCxn id="509" idx="6"/>
            <a:endCxn id="511" idx="2"/>
          </p:cNvCxnSpPr>
          <p:nvPr/>
        </p:nvCxnSpPr>
        <p:spPr>
          <a:xfrm>
            <a:off x="3696108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" name="Google Shape;518;p44"/>
          <p:cNvCxnSpPr>
            <a:stCxn id="511" idx="6"/>
            <a:endCxn id="512" idx="2"/>
          </p:cNvCxnSpPr>
          <p:nvPr/>
        </p:nvCxnSpPr>
        <p:spPr>
          <a:xfrm>
            <a:off x="4743450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44"/>
          <p:cNvCxnSpPr>
            <a:stCxn id="512" idx="6"/>
            <a:endCxn id="513" idx="2"/>
          </p:cNvCxnSpPr>
          <p:nvPr/>
        </p:nvCxnSpPr>
        <p:spPr>
          <a:xfrm>
            <a:off x="5790792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4"/>
          <p:cNvCxnSpPr>
            <a:stCxn id="513" idx="6"/>
            <a:endCxn id="514" idx="2"/>
          </p:cNvCxnSpPr>
          <p:nvPr/>
        </p:nvCxnSpPr>
        <p:spPr>
          <a:xfrm>
            <a:off x="6838133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44"/>
          <p:cNvCxnSpPr/>
          <p:nvPr/>
        </p:nvCxnSpPr>
        <p:spPr>
          <a:xfrm>
            <a:off x="4507850" y="1596050"/>
            <a:ext cx="0" cy="4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Change Entry Point, Flip Links, Allow Big Jumps</a:t>
            </a:r>
            <a:endParaRPr/>
          </a:p>
        </p:txBody>
      </p:sp>
      <p:sp>
        <p:nvSpPr>
          <p:cNvPr id="527" name="Google Shape;527;p45"/>
          <p:cNvSpPr txBox="1"/>
          <p:nvPr>
            <p:ph idx="1" type="body"/>
          </p:nvPr>
        </p:nvSpPr>
        <p:spPr>
          <a:xfrm>
            <a:off x="243000" y="556500"/>
            <a:ext cx="8443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Fundamental Problem: Slow search, even though it’s in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do better?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5"/>
          <p:cNvSpPr/>
          <p:nvPr/>
        </p:nvSpPr>
        <p:spPr>
          <a:xfrm>
            <a:off x="110612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9" name="Google Shape;529;p45"/>
          <p:cNvSpPr/>
          <p:nvPr/>
        </p:nvSpPr>
        <p:spPr>
          <a:xfrm>
            <a:off x="3200808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45"/>
          <p:cNvSpPr/>
          <p:nvPr/>
        </p:nvSpPr>
        <p:spPr>
          <a:xfrm>
            <a:off x="2153467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45"/>
          <p:cNvSpPr/>
          <p:nvPr/>
        </p:nvSpPr>
        <p:spPr>
          <a:xfrm>
            <a:off x="4248150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45"/>
          <p:cNvSpPr/>
          <p:nvPr/>
        </p:nvSpPr>
        <p:spPr>
          <a:xfrm>
            <a:off x="5295492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45"/>
          <p:cNvSpPr/>
          <p:nvPr/>
        </p:nvSpPr>
        <p:spPr>
          <a:xfrm>
            <a:off x="6342833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45"/>
          <p:cNvSpPr/>
          <p:nvPr/>
        </p:nvSpPr>
        <p:spPr>
          <a:xfrm>
            <a:off x="7390175" y="2030000"/>
            <a:ext cx="495300" cy="495300"/>
          </a:xfrm>
          <a:prstGeom prst="ellipse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5" name="Google Shape;535;p45"/>
          <p:cNvCxnSpPr>
            <a:stCxn id="528" idx="6"/>
            <a:endCxn id="530" idx="2"/>
          </p:cNvCxnSpPr>
          <p:nvPr/>
        </p:nvCxnSpPr>
        <p:spPr>
          <a:xfrm>
            <a:off x="1601425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6" name="Google Shape;536;p45"/>
          <p:cNvCxnSpPr>
            <a:stCxn id="530" idx="6"/>
            <a:endCxn id="529" idx="2"/>
          </p:cNvCxnSpPr>
          <p:nvPr/>
        </p:nvCxnSpPr>
        <p:spPr>
          <a:xfrm>
            <a:off x="2648767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45"/>
          <p:cNvCxnSpPr>
            <a:stCxn id="532" idx="6"/>
            <a:endCxn id="533" idx="2"/>
          </p:cNvCxnSpPr>
          <p:nvPr/>
        </p:nvCxnSpPr>
        <p:spPr>
          <a:xfrm>
            <a:off x="5790792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38" name="Google Shape;538;p45"/>
          <p:cNvCxnSpPr>
            <a:stCxn id="533" idx="6"/>
            <a:endCxn id="534" idx="2"/>
          </p:cNvCxnSpPr>
          <p:nvPr/>
        </p:nvCxnSpPr>
        <p:spPr>
          <a:xfrm>
            <a:off x="6838133" y="2277650"/>
            <a:ext cx="5520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45"/>
          <p:cNvCxnSpPr/>
          <p:nvPr/>
        </p:nvCxnSpPr>
        <p:spPr>
          <a:xfrm>
            <a:off x="4507850" y="1596050"/>
            <a:ext cx="0" cy="432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0" name="Google Shape;540;p45"/>
          <p:cNvCxnSpPr>
            <a:stCxn id="531" idx="1"/>
            <a:endCxn id="530" idx="0"/>
          </p:cNvCxnSpPr>
          <p:nvPr/>
        </p:nvCxnSpPr>
        <p:spPr>
          <a:xfrm flipH="1" rot="5400000">
            <a:off x="3324535" y="1106385"/>
            <a:ext cx="72600" cy="1919700"/>
          </a:xfrm>
          <a:prstGeom prst="curvedConnector3">
            <a:avLst>
              <a:gd fmla="val 427906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45"/>
          <p:cNvCxnSpPr>
            <a:stCxn id="531" idx="7"/>
            <a:endCxn id="533" idx="0"/>
          </p:cNvCxnSpPr>
          <p:nvPr/>
        </p:nvCxnSpPr>
        <p:spPr>
          <a:xfrm rot="-5400000">
            <a:off x="5594465" y="1106385"/>
            <a:ext cx="72600" cy="1919700"/>
          </a:xfrm>
          <a:prstGeom prst="curvedConnector3">
            <a:avLst>
              <a:gd fmla="val 427906" name="adj1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42" name="Google Shape;542;p45"/>
          <p:cNvGrpSpPr/>
          <p:nvPr/>
        </p:nvGrpSpPr>
        <p:grpSpPr>
          <a:xfrm>
            <a:off x="2553925" y="2900025"/>
            <a:ext cx="3959950" cy="1994400"/>
            <a:chOff x="2553925" y="2900025"/>
            <a:chExt cx="3959950" cy="1994400"/>
          </a:xfrm>
        </p:grpSpPr>
        <p:sp>
          <p:nvSpPr>
            <p:cNvPr id="543" name="Google Shape;543;p45"/>
            <p:cNvSpPr/>
            <p:nvPr/>
          </p:nvSpPr>
          <p:spPr>
            <a:xfrm>
              <a:off x="2553925" y="43991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4" name="Google Shape;544;p45"/>
            <p:cNvSpPr/>
            <p:nvPr/>
          </p:nvSpPr>
          <p:spPr>
            <a:xfrm>
              <a:off x="3886608" y="43991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5" name="Google Shape;545;p45"/>
            <p:cNvSpPr/>
            <p:nvPr/>
          </p:nvSpPr>
          <p:spPr>
            <a:xfrm>
              <a:off x="3220267" y="37133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6" name="Google Shape;546;p45"/>
            <p:cNvSpPr/>
            <p:nvPr/>
          </p:nvSpPr>
          <p:spPr>
            <a:xfrm>
              <a:off x="4248150" y="33323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D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4685892" y="43991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E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8" name="Google Shape;548;p45"/>
            <p:cNvSpPr/>
            <p:nvPr/>
          </p:nvSpPr>
          <p:spPr>
            <a:xfrm>
              <a:off x="5352233" y="37895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F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9" name="Google Shape;549;p45"/>
            <p:cNvSpPr/>
            <p:nvPr/>
          </p:nvSpPr>
          <p:spPr>
            <a:xfrm>
              <a:off x="6018575" y="4399125"/>
              <a:ext cx="495300" cy="495300"/>
            </a:xfrm>
            <a:prstGeom prst="ellipse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latin typeface="Consolas"/>
                  <a:ea typeface="Consolas"/>
                  <a:cs typeface="Consolas"/>
                  <a:sym typeface="Consolas"/>
                </a:rPr>
                <a:t>G</a:t>
              </a:r>
              <a:endParaRPr sz="2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50" name="Google Shape;550;p45"/>
            <p:cNvCxnSpPr>
              <a:stCxn id="543" idx="7"/>
              <a:endCxn id="545" idx="3"/>
            </p:cNvCxnSpPr>
            <p:nvPr/>
          </p:nvCxnSpPr>
          <p:spPr>
            <a:xfrm flipH="1" rot="10800000">
              <a:off x="2976690" y="4135960"/>
              <a:ext cx="316200" cy="33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51" name="Google Shape;551;p45"/>
            <p:cNvCxnSpPr>
              <a:stCxn id="545" idx="5"/>
              <a:endCxn id="544" idx="1"/>
            </p:cNvCxnSpPr>
            <p:nvPr/>
          </p:nvCxnSpPr>
          <p:spPr>
            <a:xfrm>
              <a:off x="3643032" y="4136090"/>
              <a:ext cx="316200" cy="33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2" name="Google Shape;552;p45"/>
            <p:cNvCxnSpPr>
              <a:stCxn id="547" idx="7"/>
              <a:endCxn id="548" idx="3"/>
            </p:cNvCxnSpPr>
            <p:nvPr/>
          </p:nvCxnSpPr>
          <p:spPr>
            <a:xfrm flipH="1" rot="10800000">
              <a:off x="5108657" y="4212160"/>
              <a:ext cx="316200" cy="259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53" name="Google Shape;553;p45"/>
            <p:cNvCxnSpPr>
              <a:stCxn id="548" idx="5"/>
              <a:endCxn id="549" idx="1"/>
            </p:cNvCxnSpPr>
            <p:nvPr/>
          </p:nvCxnSpPr>
          <p:spPr>
            <a:xfrm>
              <a:off x="5774998" y="4212290"/>
              <a:ext cx="316200" cy="259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4" name="Google Shape;554;p45"/>
            <p:cNvCxnSpPr/>
            <p:nvPr/>
          </p:nvCxnSpPr>
          <p:spPr>
            <a:xfrm>
              <a:off x="4495800" y="2900025"/>
              <a:ext cx="0" cy="432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5" name="Google Shape;555;p45"/>
            <p:cNvCxnSpPr>
              <a:stCxn id="546" idx="2"/>
              <a:endCxn id="545" idx="7"/>
            </p:cNvCxnSpPr>
            <p:nvPr/>
          </p:nvCxnSpPr>
          <p:spPr>
            <a:xfrm flipH="1">
              <a:off x="3643050" y="3579975"/>
              <a:ext cx="605100" cy="205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6" name="Google Shape;556;p45"/>
            <p:cNvCxnSpPr>
              <a:stCxn id="546" idx="6"/>
              <a:endCxn id="548" idx="1"/>
            </p:cNvCxnSpPr>
            <p:nvPr/>
          </p:nvCxnSpPr>
          <p:spPr>
            <a:xfrm>
              <a:off x="4743450" y="3579975"/>
              <a:ext cx="681300" cy="28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6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Binary Search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62" name="Google Shape;562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Trees: Definition</a:t>
            </a:r>
            <a:endParaRPr/>
          </a:p>
        </p:txBody>
      </p:sp>
      <p:sp>
        <p:nvSpPr>
          <p:cNvPr id="563" name="Google Shape;563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endParaRPr/>
          </a:p>
        </p:txBody>
      </p:sp>
      <p:sp>
        <p:nvSpPr>
          <p:cNvPr id="569" name="Google Shape;569;p47"/>
          <p:cNvSpPr/>
          <p:nvPr/>
        </p:nvSpPr>
        <p:spPr>
          <a:xfrm>
            <a:off x="362638" y="2944275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4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tree consists of: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edges that connect those nodes.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Constraint: There is exactly one path between any two nodes.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Green structures below are trees. Pink ones are not.</a:t>
            </a:r>
            <a:endParaRPr/>
          </a:p>
        </p:txBody>
      </p:sp>
      <p:grpSp>
        <p:nvGrpSpPr>
          <p:cNvPr id="571" name="Google Shape;571;p47"/>
          <p:cNvGrpSpPr/>
          <p:nvPr/>
        </p:nvGrpSpPr>
        <p:grpSpPr>
          <a:xfrm>
            <a:off x="4696588" y="2940275"/>
            <a:ext cx="1430074" cy="1721325"/>
            <a:chOff x="4696588" y="2940275"/>
            <a:chExt cx="1430074" cy="1721325"/>
          </a:xfrm>
        </p:grpSpPr>
        <p:sp>
          <p:nvSpPr>
            <p:cNvPr id="572" name="Google Shape;572;p47"/>
            <p:cNvSpPr/>
            <p:nvPr/>
          </p:nvSpPr>
          <p:spPr>
            <a:xfrm>
              <a:off x="5212963" y="294027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73" name="Google Shape;573;p47"/>
            <p:cNvCxnSpPr>
              <a:stCxn id="574" idx="1"/>
              <a:endCxn id="575" idx="5"/>
            </p:cNvCxnSpPr>
            <p:nvPr/>
          </p:nvCxnSpPr>
          <p:spPr>
            <a:xfrm rot="10800000">
              <a:off x="5068211" y="3961848"/>
              <a:ext cx="170400" cy="328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47"/>
            <p:cNvCxnSpPr>
              <a:stCxn id="575" idx="7"/>
              <a:endCxn id="572" idx="3"/>
            </p:cNvCxnSpPr>
            <p:nvPr/>
          </p:nvCxnSpPr>
          <p:spPr>
            <a:xfrm flipH="1" rot="10800000">
              <a:off x="5068140" y="3311973"/>
              <a:ext cx="208500" cy="34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7" name="Google Shape;577;p47"/>
            <p:cNvCxnSpPr>
              <a:stCxn id="578" idx="1"/>
              <a:endCxn id="572" idx="5"/>
            </p:cNvCxnSpPr>
            <p:nvPr/>
          </p:nvCxnSpPr>
          <p:spPr>
            <a:xfrm rot="10800000">
              <a:off x="5584411" y="3311973"/>
              <a:ext cx="170700" cy="34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4" name="Google Shape;574;p47"/>
            <p:cNvSpPr/>
            <p:nvPr/>
          </p:nvSpPr>
          <p:spPr>
            <a:xfrm>
              <a:off x="5174863" y="422630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79" name="Google Shape;579;p47"/>
            <p:cNvCxnSpPr>
              <a:stCxn id="578" idx="3"/>
              <a:endCxn id="574" idx="7"/>
            </p:cNvCxnSpPr>
            <p:nvPr/>
          </p:nvCxnSpPr>
          <p:spPr>
            <a:xfrm flipH="1">
              <a:off x="5546311" y="3961777"/>
              <a:ext cx="208800" cy="328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8" name="Google Shape;578;p47"/>
            <p:cNvSpPr/>
            <p:nvPr/>
          </p:nvSpPr>
          <p:spPr>
            <a:xfrm>
              <a:off x="5691363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5" name="Google Shape;575;p47"/>
            <p:cNvSpPr/>
            <p:nvPr/>
          </p:nvSpPr>
          <p:spPr>
            <a:xfrm>
              <a:off x="4696588" y="359022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0" name="Google Shape;580;p47"/>
          <p:cNvGrpSpPr/>
          <p:nvPr/>
        </p:nvGrpSpPr>
        <p:grpSpPr>
          <a:xfrm>
            <a:off x="6805488" y="2870887"/>
            <a:ext cx="1865374" cy="1790700"/>
            <a:chOff x="6805488" y="2870887"/>
            <a:chExt cx="1865374" cy="1790700"/>
          </a:xfrm>
        </p:grpSpPr>
        <p:sp>
          <p:nvSpPr>
            <p:cNvPr id="581" name="Google Shape;581;p47"/>
            <p:cNvSpPr/>
            <p:nvPr/>
          </p:nvSpPr>
          <p:spPr>
            <a:xfrm>
              <a:off x="7757163" y="2871013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82" name="Google Shape;582;p47"/>
            <p:cNvCxnSpPr>
              <a:stCxn id="583" idx="0"/>
              <a:endCxn id="584" idx="3"/>
            </p:cNvCxnSpPr>
            <p:nvPr/>
          </p:nvCxnSpPr>
          <p:spPr>
            <a:xfrm flipH="1" rot="10800000">
              <a:off x="7023138" y="3892388"/>
              <a:ext cx="281400" cy="333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47"/>
            <p:cNvCxnSpPr>
              <a:stCxn id="584" idx="7"/>
              <a:endCxn id="581" idx="3"/>
            </p:cNvCxnSpPr>
            <p:nvPr/>
          </p:nvCxnSpPr>
          <p:spPr>
            <a:xfrm flipH="1" rot="10800000">
              <a:off x="7612340" y="3242711"/>
              <a:ext cx="208500" cy="34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47"/>
            <p:cNvCxnSpPr>
              <a:stCxn id="587" idx="1"/>
              <a:endCxn id="581" idx="5"/>
            </p:cNvCxnSpPr>
            <p:nvPr/>
          </p:nvCxnSpPr>
          <p:spPr>
            <a:xfrm rot="10800000">
              <a:off x="8128611" y="3242711"/>
              <a:ext cx="170700" cy="342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7" name="Google Shape;587;p47"/>
            <p:cNvSpPr/>
            <p:nvPr/>
          </p:nvSpPr>
          <p:spPr>
            <a:xfrm>
              <a:off x="8235563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7240788" y="3520963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83" name="Google Shape;583;p47"/>
            <p:cNvSpPr/>
            <p:nvPr/>
          </p:nvSpPr>
          <p:spPr>
            <a:xfrm>
              <a:off x="6805488" y="4226288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88" name="Google Shape;588;p47"/>
            <p:cNvCxnSpPr>
              <a:stCxn id="583" idx="4"/>
              <a:endCxn id="581" idx="0"/>
            </p:cNvCxnSpPr>
            <p:nvPr/>
          </p:nvCxnSpPr>
          <p:spPr>
            <a:xfrm rot="-5400000">
              <a:off x="6603588" y="3290437"/>
              <a:ext cx="1790700" cy="951600"/>
            </a:xfrm>
            <a:prstGeom prst="curvedConnector5">
              <a:avLst>
                <a:gd fmla="val -13298" name="adj1"/>
                <a:gd fmla="val -53170" name="adj2"/>
                <a:gd fmla="val 113291" name="adj3"/>
              </a:avLst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89" name="Google Shape;589;p47"/>
          <p:cNvGrpSpPr/>
          <p:nvPr/>
        </p:nvGrpSpPr>
        <p:grpSpPr>
          <a:xfrm>
            <a:off x="1318250" y="2924125"/>
            <a:ext cx="984900" cy="1767500"/>
            <a:chOff x="1318250" y="2924125"/>
            <a:chExt cx="984900" cy="1767500"/>
          </a:xfrm>
        </p:grpSpPr>
        <p:sp>
          <p:nvSpPr>
            <p:cNvPr id="590" name="Google Shape;590;p47"/>
            <p:cNvSpPr/>
            <p:nvPr/>
          </p:nvSpPr>
          <p:spPr>
            <a:xfrm>
              <a:off x="1318250" y="354405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91" name="Google Shape;591;p47"/>
            <p:cNvCxnSpPr>
              <a:stCxn id="592" idx="0"/>
              <a:endCxn id="590" idx="5"/>
            </p:cNvCxnSpPr>
            <p:nvPr/>
          </p:nvCxnSpPr>
          <p:spPr>
            <a:xfrm rot="10800000">
              <a:off x="1689750" y="3915525"/>
              <a:ext cx="1320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47"/>
            <p:cNvCxnSpPr>
              <a:stCxn id="590" idx="0"/>
              <a:endCxn id="594" idx="3"/>
            </p:cNvCxnSpPr>
            <p:nvPr/>
          </p:nvCxnSpPr>
          <p:spPr>
            <a:xfrm flipH="1" rot="10800000">
              <a:off x="1535900" y="3295650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2" name="Google Shape;592;p47"/>
            <p:cNvSpPr/>
            <p:nvPr/>
          </p:nvSpPr>
          <p:spPr>
            <a:xfrm>
              <a:off x="1604100" y="42563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4" name="Google Shape;594;p47"/>
            <p:cNvSpPr/>
            <p:nvPr/>
          </p:nvSpPr>
          <p:spPr>
            <a:xfrm>
              <a:off x="1867850" y="29241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95" name="Google Shape;595;p47"/>
          <p:cNvGrpSpPr/>
          <p:nvPr/>
        </p:nvGrpSpPr>
        <p:grpSpPr>
          <a:xfrm>
            <a:off x="2507425" y="3046500"/>
            <a:ext cx="1943375" cy="1767500"/>
            <a:chOff x="2507425" y="3046500"/>
            <a:chExt cx="1943375" cy="1767500"/>
          </a:xfrm>
        </p:grpSpPr>
        <p:sp>
          <p:nvSpPr>
            <p:cNvPr id="596" name="Google Shape;596;p47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97" name="Google Shape;597;p47"/>
            <p:cNvCxnSpPr>
              <a:stCxn id="598" idx="0"/>
              <a:endCxn id="596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47"/>
            <p:cNvCxnSpPr>
              <a:stCxn id="596" idx="0"/>
              <a:endCxn id="600" idx="3"/>
            </p:cNvCxnSpPr>
            <p:nvPr/>
          </p:nvCxnSpPr>
          <p:spPr>
            <a:xfrm flipH="1" rot="10800000">
              <a:off x="3255250" y="3418025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8" name="Google Shape;598;p47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0" name="Google Shape;600;p47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1" name="Google Shape;601;p47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2" name="Google Shape;602;p47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03" name="Google Shape;603;p47"/>
            <p:cNvCxnSpPr>
              <a:stCxn id="596" idx="3"/>
              <a:endCxn id="601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47"/>
            <p:cNvCxnSpPr>
              <a:stCxn id="596" idx="4"/>
              <a:endCxn id="602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5" name="Google Shape;605;p47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06" name="Google Shape;606;p47"/>
            <p:cNvCxnSpPr>
              <a:stCxn id="605" idx="0"/>
              <a:endCxn id="600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Rooted Trees and Rooted Binary Trees</a:t>
            </a:r>
            <a:endParaRPr/>
          </a:p>
        </p:txBody>
      </p:sp>
      <p:sp>
        <p:nvSpPr>
          <p:cNvPr id="612" name="Google Shape;612;p48"/>
          <p:cNvSpPr/>
          <p:nvPr/>
        </p:nvSpPr>
        <p:spPr>
          <a:xfrm>
            <a:off x="1055013" y="2936050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3" name="Google Shape;613;p48"/>
          <p:cNvSpPr txBox="1"/>
          <p:nvPr>
            <p:ph idx="1" type="body"/>
          </p:nvPr>
        </p:nvSpPr>
        <p:spPr>
          <a:xfrm>
            <a:off x="107050" y="402200"/>
            <a:ext cx="8520600" cy="22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rooted tree, we call one node the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node N except the root has exactly one parent, defined as the first node on the path from N to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Unlike </a:t>
            </a:r>
            <a:r>
              <a:rPr lang="en" u="sng">
                <a:solidFill>
                  <a:schemeClr val="hlink"/>
                </a:solidFill>
                <a:hlinkClick r:id="rId3"/>
              </a:rPr>
              <a:t>(most) real trees</a:t>
            </a:r>
            <a:r>
              <a:rPr lang="en"/>
              <a:t>, the root is usually depicted at the top of the 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node with no child is called a leaf.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 rooted binary tree, every node has either 0, 1, or 2 children (subtrees).</a:t>
            </a:r>
            <a:endParaRPr/>
          </a:p>
        </p:txBody>
      </p:sp>
      <p:grpSp>
        <p:nvGrpSpPr>
          <p:cNvPr id="614" name="Google Shape;614;p48"/>
          <p:cNvGrpSpPr/>
          <p:nvPr/>
        </p:nvGrpSpPr>
        <p:grpSpPr>
          <a:xfrm>
            <a:off x="3717650" y="2936050"/>
            <a:ext cx="984900" cy="1767500"/>
            <a:chOff x="1318250" y="2924125"/>
            <a:chExt cx="984900" cy="1767500"/>
          </a:xfrm>
        </p:grpSpPr>
        <p:sp>
          <p:nvSpPr>
            <p:cNvPr id="615" name="Google Shape;615;p48"/>
            <p:cNvSpPr/>
            <p:nvPr/>
          </p:nvSpPr>
          <p:spPr>
            <a:xfrm>
              <a:off x="1318250" y="354405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16" name="Google Shape;616;p48"/>
            <p:cNvCxnSpPr>
              <a:stCxn id="617" idx="0"/>
              <a:endCxn id="615" idx="5"/>
            </p:cNvCxnSpPr>
            <p:nvPr/>
          </p:nvCxnSpPr>
          <p:spPr>
            <a:xfrm rot="10800000">
              <a:off x="1689750" y="3915525"/>
              <a:ext cx="1320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18" name="Google Shape;618;p48"/>
            <p:cNvCxnSpPr>
              <a:stCxn id="615" idx="0"/>
              <a:endCxn id="619" idx="3"/>
            </p:cNvCxnSpPr>
            <p:nvPr/>
          </p:nvCxnSpPr>
          <p:spPr>
            <a:xfrm flipH="1" rot="10800000">
              <a:off x="1535900" y="3295650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17" name="Google Shape;617;p48"/>
            <p:cNvSpPr/>
            <p:nvPr/>
          </p:nvSpPr>
          <p:spPr>
            <a:xfrm>
              <a:off x="1604100" y="42563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1867850" y="29241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20" name="Google Shape;620;p48"/>
          <p:cNvGrpSpPr/>
          <p:nvPr/>
        </p:nvGrpSpPr>
        <p:grpSpPr>
          <a:xfrm>
            <a:off x="5592625" y="3058425"/>
            <a:ext cx="1943375" cy="1767500"/>
            <a:chOff x="2507425" y="3046500"/>
            <a:chExt cx="1943375" cy="1767500"/>
          </a:xfrm>
        </p:grpSpPr>
        <p:sp>
          <p:nvSpPr>
            <p:cNvPr id="621" name="Google Shape;621;p48"/>
            <p:cNvSpPr/>
            <p:nvPr/>
          </p:nvSpPr>
          <p:spPr>
            <a:xfrm>
              <a:off x="3037600" y="366642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2" name="Google Shape;622;p48"/>
            <p:cNvCxnSpPr>
              <a:stCxn id="623" idx="0"/>
              <a:endCxn id="621" idx="5"/>
            </p:cNvCxnSpPr>
            <p:nvPr/>
          </p:nvCxnSpPr>
          <p:spPr>
            <a:xfrm rot="10800000">
              <a:off x="3409100" y="4037900"/>
              <a:ext cx="360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48"/>
            <p:cNvCxnSpPr>
              <a:stCxn id="621" idx="0"/>
              <a:endCxn id="625" idx="3"/>
            </p:cNvCxnSpPr>
            <p:nvPr/>
          </p:nvCxnSpPr>
          <p:spPr>
            <a:xfrm flipH="1" rot="10800000">
              <a:off x="3255250" y="3418025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3" name="Google Shape;623;p48"/>
            <p:cNvSpPr/>
            <p:nvPr/>
          </p:nvSpPr>
          <p:spPr>
            <a:xfrm>
              <a:off x="3552050" y="437870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3587200" y="304650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A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2507425" y="437870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3029738" y="437870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C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8" name="Google Shape;628;p48"/>
            <p:cNvCxnSpPr>
              <a:stCxn id="621" idx="3"/>
              <a:endCxn id="626" idx="0"/>
            </p:cNvCxnSpPr>
            <p:nvPr/>
          </p:nvCxnSpPr>
          <p:spPr>
            <a:xfrm flipH="1">
              <a:off x="2725148" y="4037977"/>
              <a:ext cx="3762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9" name="Google Shape;629;p48"/>
            <p:cNvCxnSpPr>
              <a:stCxn id="621" idx="4"/>
              <a:endCxn id="627" idx="0"/>
            </p:cNvCxnSpPr>
            <p:nvPr/>
          </p:nvCxnSpPr>
          <p:spPr>
            <a:xfrm flipH="1">
              <a:off x="3247450" y="4101725"/>
              <a:ext cx="7800" cy="2769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0" name="Google Shape;630;p48"/>
            <p:cNvSpPr/>
            <p:nvPr/>
          </p:nvSpPr>
          <p:spPr>
            <a:xfrm>
              <a:off x="4015500" y="366642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B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31" name="Google Shape;631;p48"/>
            <p:cNvCxnSpPr>
              <a:stCxn id="630" idx="0"/>
              <a:endCxn id="625" idx="5"/>
            </p:cNvCxnSpPr>
            <p:nvPr/>
          </p:nvCxnSpPr>
          <p:spPr>
            <a:xfrm rot="10800000">
              <a:off x="3958650" y="3418025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2" name="Google Shape;632;p48"/>
          <p:cNvSpPr txBox="1"/>
          <p:nvPr/>
        </p:nvSpPr>
        <p:spPr>
          <a:xfrm>
            <a:off x="238750" y="3473775"/>
            <a:ext cx="36885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For each of these: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is the root.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 is a child of A.     (and C of B)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 is a parent of B.    (and B of C)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8"/>
          <p:cNvSpPr txBox="1"/>
          <p:nvPr/>
        </p:nvSpPr>
        <p:spPr>
          <a:xfrm>
            <a:off x="7247700" y="4390625"/>
            <a:ext cx="1563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Not binary!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  <p:sp>
        <p:nvSpPr>
          <p:cNvPr id="639" name="Google Shape;639;p4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binary search tree is a rooted binary tree with the BST property.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BST Property.</a:t>
            </a:r>
            <a:r>
              <a:rPr lang="en"/>
              <a:t> For every node X in the tree: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key in the </a:t>
            </a:r>
            <a:r>
              <a:rPr b="1" lang="en"/>
              <a:t>left</a:t>
            </a:r>
            <a:r>
              <a:rPr lang="en"/>
              <a:t> subtree is </a:t>
            </a:r>
            <a:r>
              <a:rPr b="1" lang="en"/>
              <a:t>less</a:t>
            </a:r>
            <a:r>
              <a:rPr lang="en"/>
              <a:t> than X’s key.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key in the </a:t>
            </a:r>
            <a:r>
              <a:rPr b="1" lang="en"/>
              <a:t>right</a:t>
            </a:r>
            <a:r>
              <a:rPr lang="en"/>
              <a:t> subtree is </a:t>
            </a:r>
            <a:r>
              <a:rPr b="1" lang="en"/>
              <a:t>greater</a:t>
            </a:r>
            <a:r>
              <a:rPr lang="en"/>
              <a:t> than X’s key.</a:t>
            </a:r>
            <a:br>
              <a:rPr lang="en"/>
            </a:br>
            <a:endParaRPr/>
          </a:p>
        </p:txBody>
      </p:sp>
      <p:cxnSp>
        <p:nvCxnSpPr>
          <p:cNvPr id="640" name="Google Shape;640;p49"/>
          <p:cNvCxnSpPr>
            <a:stCxn id="641" idx="0"/>
          </p:cNvCxnSpPr>
          <p:nvPr/>
        </p:nvCxnSpPr>
        <p:spPr>
          <a:xfrm flipH="1" rot="10800000">
            <a:off x="724950" y="3939499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2" name="Google Shape;642;p49"/>
          <p:cNvCxnSpPr>
            <a:endCxn id="643" idx="0"/>
          </p:cNvCxnSpPr>
          <p:nvPr/>
        </p:nvCxnSpPr>
        <p:spPr>
          <a:xfrm>
            <a:off x="1375754" y="3990499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49"/>
          <p:cNvCxnSpPr>
            <a:stCxn id="645" idx="0"/>
          </p:cNvCxnSpPr>
          <p:nvPr/>
        </p:nvCxnSpPr>
        <p:spPr>
          <a:xfrm flipH="1" rot="10800000">
            <a:off x="2869950" y="3998899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46" name="Google Shape;646;p49"/>
          <p:cNvCxnSpPr>
            <a:endCxn id="647" idx="0"/>
          </p:cNvCxnSpPr>
          <p:nvPr/>
        </p:nvCxnSpPr>
        <p:spPr>
          <a:xfrm>
            <a:off x="3558907" y="3999199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8" name="Google Shape;648;p49"/>
          <p:cNvCxnSpPr>
            <a:stCxn id="649" idx="1"/>
            <a:endCxn id="650" idx="0"/>
          </p:cNvCxnSpPr>
          <p:nvPr/>
        </p:nvCxnSpPr>
        <p:spPr>
          <a:xfrm flipH="1">
            <a:off x="1192790" y="3252849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49"/>
          <p:cNvCxnSpPr>
            <a:stCxn id="649" idx="3"/>
            <a:endCxn id="652" idx="0"/>
          </p:cNvCxnSpPr>
          <p:nvPr/>
        </p:nvCxnSpPr>
        <p:spPr>
          <a:xfrm>
            <a:off x="2640890" y="3252849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49"/>
          <p:cNvSpPr/>
          <p:nvPr/>
        </p:nvSpPr>
        <p:spPr>
          <a:xfrm>
            <a:off x="1903790" y="300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9"/>
          <p:cNvSpPr/>
          <p:nvPr/>
        </p:nvSpPr>
        <p:spPr>
          <a:xfrm>
            <a:off x="824152" y="35766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9"/>
          <p:cNvSpPr/>
          <p:nvPr/>
        </p:nvSpPr>
        <p:spPr>
          <a:xfrm>
            <a:off x="2983429" y="35766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356400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1291904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2501400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3465457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3" name="Google Shape;653;p49"/>
          <p:cNvGrpSpPr/>
          <p:nvPr/>
        </p:nvGrpSpPr>
        <p:grpSpPr>
          <a:xfrm>
            <a:off x="4967175" y="3005187"/>
            <a:ext cx="3846157" cy="1765300"/>
            <a:chOff x="5220400" y="1136488"/>
            <a:chExt cx="3846157" cy="1765300"/>
          </a:xfrm>
        </p:grpSpPr>
        <p:cxnSp>
          <p:nvCxnSpPr>
            <p:cNvPr id="654" name="Google Shape;654;p49"/>
            <p:cNvCxnSpPr>
              <a:stCxn id="655" idx="0"/>
            </p:cNvCxnSpPr>
            <p:nvPr/>
          </p:nvCxnSpPr>
          <p:spPr>
            <a:xfrm flipH="1" rot="10800000">
              <a:off x="5588950" y="2070788"/>
              <a:ext cx="368400" cy="33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56" name="Google Shape;656;p49"/>
            <p:cNvCxnSpPr>
              <a:endCxn id="657" idx="0"/>
            </p:cNvCxnSpPr>
            <p:nvPr/>
          </p:nvCxnSpPr>
          <p:spPr>
            <a:xfrm>
              <a:off x="6239754" y="2121788"/>
              <a:ext cx="284700" cy="284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8" name="Google Shape;658;p49"/>
            <p:cNvCxnSpPr>
              <a:stCxn id="659" idx="0"/>
            </p:cNvCxnSpPr>
            <p:nvPr/>
          </p:nvCxnSpPr>
          <p:spPr>
            <a:xfrm flipH="1" rot="10800000">
              <a:off x="7733950" y="2130188"/>
              <a:ext cx="339000" cy="276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60" name="Google Shape;660;p49"/>
            <p:cNvCxnSpPr>
              <a:endCxn id="661" idx="0"/>
            </p:cNvCxnSpPr>
            <p:nvPr/>
          </p:nvCxnSpPr>
          <p:spPr>
            <a:xfrm>
              <a:off x="8422907" y="2130488"/>
              <a:ext cx="275100" cy="27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2" name="Google Shape;662;p49"/>
            <p:cNvCxnSpPr>
              <a:stCxn id="663" idx="1"/>
              <a:endCxn id="664" idx="0"/>
            </p:cNvCxnSpPr>
            <p:nvPr/>
          </p:nvCxnSpPr>
          <p:spPr>
            <a:xfrm flipH="1">
              <a:off x="6056790" y="1384138"/>
              <a:ext cx="711000" cy="3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5" name="Google Shape;665;p49"/>
            <p:cNvCxnSpPr>
              <a:stCxn id="663" idx="3"/>
              <a:endCxn id="666" idx="0"/>
            </p:cNvCxnSpPr>
            <p:nvPr/>
          </p:nvCxnSpPr>
          <p:spPr>
            <a:xfrm>
              <a:off x="7504890" y="1384138"/>
              <a:ext cx="711000" cy="3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3" name="Google Shape;663;p49"/>
            <p:cNvSpPr/>
            <p:nvPr/>
          </p:nvSpPr>
          <p:spPr>
            <a:xfrm>
              <a:off x="6767790" y="113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debt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49"/>
            <p:cNvSpPr/>
            <p:nvPr/>
          </p:nvSpPr>
          <p:spPr>
            <a:xfrm>
              <a:off x="5688152" y="17079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bus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9"/>
            <p:cNvSpPr/>
            <p:nvPr/>
          </p:nvSpPr>
          <p:spPr>
            <a:xfrm>
              <a:off x="7847429" y="1707988"/>
              <a:ext cx="737100" cy="495300"/>
            </a:xfrm>
            <a:prstGeom prst="rect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ears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49"/>
            <p:cNvSpPr/>
            <p:nvPr/>
          </p:nvSpPr>
          <p:spPr>
            <a:xfrm>
              <a:off x="5220400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axe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49"/>
            <p:cNvSpPr/>
            <p:nvPr/>
          </p:nvSpPr>
          <p:spPr>
            <a:xfrm>
              <a:off x="6155904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cow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49"/>
            <p:cNvSpPr/>
            <p:nvPr/>
          </p:nvSpPr>
          <p:spPr>
            <a:xfrm>
              <a:off x="7365400" y="2406488"/>
              <a:ext cx="737100" cy="495300"/>
            </a:xfrm>
            <a:prstGeom prst="rect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fish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49"/>
            <p:cNvSpPr/>
            <p:nvPr/>
          </p:nvSpPr>
          <p:spPr>
            <a:xfrm>
              <a:off x="8329457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gut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7" name="Google Shape;667;p49"/>
          <p:cNvSpPr txBox="1"/>
          <p:nvPr/>
        </p:nvSpPr>
        <p:spPr>
          <a:xfrm>
            <a:off x="5140925" y="4731823"/>
            <a:ext cx="351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Tree, but not a Binary Search Tree</a:t>
            </a:r>
            <a:endParaRPr/>
          </a:p>
        </p:txBody>
      </p:sp>
      <p:sp>
        <p:nvSpPr>
          <p:cNvPr id="668" name="Google Shape;668;p49"/>
          <p:cNvSpPr txBox="1"/>
          <p:nvPr/>
        </p:nvSpPr>
        <p:spPr>
          <a:xfrm>
            <a:off x="1561250" y="4735599"/>
            <a:ext cx="1727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  <p:sp>
        <p:nvSpPr>
          <p:cNvPr id="674" name="Google Shape;674;p5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Ordering must be complete, transitive, and antisymmetric. Given keys p and q: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Exactly one of p ≺ q and q ≺ p are true.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 ≺ q and q ≺ r imply p ≺ 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consequence of these rules: No duplicate keys allowed!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things simple. Most real world implementations follow this rule.</a:t>
            </a:r>
            <a:endParaRPr/>
          </a:p>
        </p:txBody>
      </p:sp>
      <p:cxnSp>
        <p:nvCxnSpPr>
          <p:cNvPr id="675" name="Google Shape;675;p50"/>
          <p:cNvCxnSpPr>
            <a:stCxn id="676" idx="0"/>
          </p:cNvCxnSpPr>
          <p:nvPr/>
        </p:nvCxnSpPr>
        <p:spPr>
          <a:xfrm flipH="1" rot="10800000">
            <a:off x="724950" y="3939499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77" name="Google Shape;677;p50"/>
          <p:cNvCxnSpPr>
            <a:endCxn id="678" idx="0"/>
          </p:cNvCxnSpPr>
          <p:nvPr/>
        </p:nvCxnSpPr>
        <p:spPr>
          <a:xfrm>
            <a:off x="1375754" y="3990499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50"/>
          <p:cNvCxnSpPr>
            <a:stCxn id="680" idx="0"/>
          </p:cNvCxnSpPr>
          <p:nvPr/>
        </p:nvCxnSpPr>
        <p:spPr>
          <a:xfrm flipH="1" rot="10800000">
            <a:off x="2869950" y="3998899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81" name="Google Shape;681;p50"/>
          <p:cNvCxnSpPr>
            <a:endCxn id="682" idx="0"/>
          </p:cNvCxnSpPr>
          <p:nvPr/>
        </p:nvCxnSpPr>
        <p:spPr>
          <a:xfrm>
            <a:off x="3558907" y="3999199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50"/>
          <p:cNvCxnSpPr>
            <a:stCxn id="684" idx="1"/>
            <a:endCxn id="685" idx="0"/>
          </p:cNvCxnSpPr>
          <p:nvPr/>
        </p:nvCxnSpPr>
        <p:spPr>
          <a:xfrm flipH="1">
            <a:off x="1192790" y="3252849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50"/>
          <p:cNvCxnSpPr>
            <a:stCxn id="684" idx="3"/>
            <a:endCxn id="687" idx="0"/>
          </p:cNvCxnSpPr>
          <p:nvPr/>
        </p:nvCxnSpPr>
        <p:spPr>
          <a:xfrm>
            <a:off x="2640890" y="3252849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4" name="Google Shape;684;p50"/>
          <p:cNvSpPr/>
          <p:nvPr/>
        </p:nvSpPr>
        <p:spPr>
          <a:xfrm>
            <a:off x="1903790" y="300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0"/>
          <p:cNvSpPr/>
          <p:nvPr/>
        </p:nvSpPr>
        <p:spPr>
          <a:xfrm>
            <a:off x="824152" y="35766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0"/>
          <p:cNvSpPr/>
          <p:nvPr/>
        </p:nvSpPr>
        <p:spPr>
          <a:xfrm>
            <a:off x="2983429" y="35766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0"/>
          <p:cNvSpPr/>
          <p:nvPr/>
        </p:nvSpPr>
        <p:spPr>
          <a:xfrm>
            <a:off x="356400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0"/>
          <p:cNvSpPr/>
          <p:nvPr/>
        </p:nvSpPr>
        <p:spPr>
          <a:xfrm>
            <a:off x="1291904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0"/>
          <p:cNvSpPr/>
          <p:nvPr/>
        </p:nvSpPr>
        <p:spPr>
          <a:xfrm>
            <a:off x="2501400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0"/>
          <p:cNvSpPr/>
          <p:nvPr/>
        </p:nvSpPr>
        <p:spPr>
          <a:xfrm>
            <a:off x="3465457" y="4275199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8" name="Google Shape;688;p50"/>
          <p:cNvGrpSpPr/>
          <p:nvPr/>
        </p:nvGrpSpPr>
        <p:grpSpPr>
          <a:xfrm>
            <a:off x="4967175" y="3005187"/>
            <a:ext cx="3846157" cy="1765300"/>
            <a:chOff x="5220400" y="1136488"/>
            <a:chExt cx="3846157" cy="1765300"/>
          </a:xfrm>
        </p:grpSpPr>
        <p:cxnSp>
          <p:nvCxnSpPr>
            <p:cNvPr id="689" name="Google Shape;689;p50"/>
            <p:cNvCxnSpPr>
              <a:stCxn id="690" idx="0"/>
            </p:cNvCxnSpPr>
            <p:nvPr/>
          </p:nvCxnSpPr>
          <p:spPr>
            <a:xfrm flipH="1" rot="10800000">
              <a:off x="5588950" y="2070788"/>
              <a:ext cx="368400" cy="33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91" name="Google Shape;691;p50"/>
            <p:cNvCxnSpPr>
              <a:endCxn id="692" idx="0"/>
            </p:cNvCxnSpPr>
            <p:nvPr/>
          </p:nvCxnSpPr>
          <p:spPr>
            <a:xfrm>
              <a:off x="6239754" y="2121788"/>
              <a:ext cx="284700" cy="284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93" name="Google Shape;693;p50"/>
            <p:cNvCxnSpPr>
              <a:stCxn id="694" idx="0"/>
            </p:cNvCxnSpPr>
            <p:nvPr/>
          </p:nvCxnSpPr>
          <p:spPr>
            <a:xfrm flipH="1" rot="10800000">
              <a:off x="7733950" y="2130188"/>
              <a:ext cx="339000" cy="276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95" name="Google Shape;695;p50"/>
            <p:cNvCxnSpPr>
              <a:endCxn id="696" idx="0"/>
            </p:cNvCxnSpPr>
            <p:nvPr/>
          </p:nvCxnSpPr>
          <p:spPr>
            <a:xfrm>
              <a:off x="8422907" y="2130488"/>
              <a:ext cx="275100" cy="27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97" name="Google Shape;697;p50"/>
            <p:cNvCxnSpPr>
              <a:stCxn id="698" idx="1"/>
              <a:endCxn id="699" idx="0"/>
            </p:cNvCxnSpPr>
            <p:nvPr/>
          </p:nvCxnSpPr>
          <p:spPr>
            <a:xfrm flipH="1">
              <a:off x="6056790" y="1384138"/>
              <a:ext cx="711000" cy="3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00" name="Google Shape;700;p50"/>
            <p:cNvCxnSpPr>
              <a:stCxn id="698" idx="3"/>
              <a:endCxn id="701" idx="0"/>
            </p:cNvCxnSpPr>
            <p:nvPr/>
          </p:nvCxnSpPr>
          <p:spPr>
            <a:xfrm>
              <a:off x="7504890" y="1384138"/>
              <a:ext cx="711000" cy="324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98" name="Google Shape;698;p50"/>
            <p:cNvSpPr/>
            <p:nvPr/>
          </p:nvSpPr>
          <p:spPr>
            <a:xfrm>
              <a:off x="6767790" y="113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debt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50"/>
            <p:cNvSpPr/>
            <p:nvPr/>
          </p:nvSpPr>
          <p:spPr>
            <a:xfrm>
              <a:off x="5688152" y="17079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bus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50"/>
            <p:cNvSpPr/>
            <p:nvPr/>
          </p:nvSpPr>
          <p:spPr>
            <a:xfrm>
              <a:off x="7847429" y="1707988"/>
              <a:ext cx="737100" cy="495300"/>
            </a:xfrm>
            <a:prstGeom prst="rect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ears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50"/>
            <p:cNvSpPr/>
            <p:nvPr/>
          </p:nvSpPr>
          <p:spPr>
            <a:xfrm>
              <a:off x="5220400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axe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50"/>
            <p:cNvSpPr/>
            <p:nvPr/>
          </p:nvSpPr>
          <p:spPr>
            <a:xfrm>
              <a:off x="6155904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cow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50"/>
            <p:cNvSpPr/>
            <p:nvPr/>
          </p:nvSpPr>
          <p:spPr>
            <a:xfrm>
              <a:off x="7365400" y="2406488"/>
              <a:ext cx="737100" cy="495300"/>
            </a:xfrm>
            <a:prstGeom prst="rect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fish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50"/>
            <p:cNvSpPr/>
            <p:nvPr/>
          </p:nvSpPr>
          <p:spPr>
            <a:xfrm>
              <a:off x="8329457" y="2406488"/>
              <a:ext cx="737100" cy="495300"/>
            </a:xfrm>
            <a:prstGeom prst="rect">
              <a:avLst/>
            </a:prstGeom>
            <a:solidFill>
              <a:srgbClr val="EACDC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gut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2" name="Google Shape;702;p50"/>
          <p:cNvSpPr txBox="1"/>
          <p:nvPr/>
        </p:nvSpPr>
        <p:spPr>
          <a:xfrm>
            <a:off x="5140925" y="4731823"/>
            <a:ext cx="351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Tree, but not a Binary Search Tree</a:t>
            </a:r>
            <a:endParaRPr/>
          </a:p>
        </p:txBody>
      </p:sp>
      <p:sp>
        <p:nvSpPr>
          <p:cNvPr id="703" name="Google Shape;703;p50"/>
          <p:cNvSpPr txBox="1"/>
          <p:nvPr/>
        </p:nvSpPr>
        <p:spPr>
          <a:xfrm>
            <a:off x="1561250" y="4735599"/>
            <a:ext cx="1727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contains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09" name="Google Shape;709;p5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contains</a:t>
            </a:r>
            <a:endParaRPr/>
          </a:p>
        </p:txBody>
      </p:sp>
      <p:sp>
        <p:nvSpPr>
          <p:cNvPr id="710" name="Google Shape;710;p5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searchKey in a BST (come back to this for the BST lab)</a:t>
            </a:r>
            <a:endParaRPr/>
          </a:p>
        </p:txBody>
      </p:sp>
      <p:sp>
        <p:nvSpPr>
          <p:cNvPr id="716" name="Google Shape;716;p5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searchKey equals T.key, return.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searchKey </a:t>
            </a:r>
            <a:r>
              <a:rPr lang="en" sz="2200"/>
              <a:t>≺</a:t>
            </a:r>
            <a:r>
              <a:rPr lang="en"/>
              <a:t> T.key, search T.left.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searchKey ≻ T.key, search T.right. </a:t>
            </a:r>
            <a:endParaRPr/>
          </a:p>
        </p:txBody>
      </p:sp>
      <p:cxnSp>
        <p:nvCxnSpPr>
          <p:cNvPr id="717" name="Google Shape;717;p52"/>
          <p:cNvCxnSpPr>
            <a:stCxn id="718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19" name="Google Shape;719;p52"/>
          <p:cNvCxnSpPr>
            <a:endCxn id="720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1" name="Google Shape;721;p52"/>
          <p:cNvCxnSpPr>
            <a:stCxn id="722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23" name="Google Shape;723;p52"/>
          <p:cNvCxnSpPr>
            <a:endCxn id="724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5" name="Google Shape;725;p52"/>
          <p:cNvCxnSpPr>
            <a:stCxn id="726" idx="1"/>
            <a:endCxn id="727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52"/>
          <p:cNvCxnSpPr>
            <a:stCxn id="726" idx="3"/>
            <a:endCxn id="729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6" name="Google Shape;726;p52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2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2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2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2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2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2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searchKey in a BST</a:t>
            </a:r>
            <a:endParaRPr/>
          </a:p>
        </p:txBody>
      </p:sp>
      <p:sp>
        <p:nvSpPr>
          <p:cNvPr id="735" name="Google Shape;735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If searchKey equals T.key, return.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searchKey </a:t>
            </a:r>
            <a:r>
              <a:rPr lang="en" sz="2200"/>
              <a:t>≺</a:t>
            </a:r>
            <a:r>
              <a:rPr lang="en"/>
              <a:t> T.key, search T.left.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searchKey ≻ T.key, search T.right. </a:t>
            </a:r>
            <a:endParaRPr/>
          </a:p>
        </p:txBody>
      </p:sp>
      <p:sp>
        <p:nvSpPr>
          <p:cNvPr id="736" name="Google Shape;736;p53"/>
          <p:cNvSpPr txBox="1"/>
          <p:nvPr/>
        </p:nvSpPr>
        <p:spPr>
          <a:xfrm>
            <a:off x="243000" y="1924100"/>
            <a:ext cx="4661700" cy="306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 find(BST T, Key sk)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 == null)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(sk.equals(T.key))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(sk ≺ T.key)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find(T.left, sk);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1" sz="19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find(T.right, sk);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737" name="Google Shape;737;p53"/>
          <p:cNvCxnSpPr>
            <a:stCxn id="738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39" name="Google Shape;739;p53"/>
          <p:cNvCxnSpPr>
            <a:endCxn id="740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53"/>
          <p:cNvCxnSpPr>
            <a:stCxn id="742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3" name="Google Shape;743;p53"/>
          <p:cNvCxnSpPr>
            <a:endCxn id="744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53"/>
          <p:cNvCxnSpPr>
            <a:stCxn id="746" idx="1"/>
            <a:endCxn id="747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53"/>
          <p:cNvCxnSpPr>
            <a:stCxn id="746" idx="3"/>
            <a:endCxn id="749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53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3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3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3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3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3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3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Search: </a:t>
            </a:r>
            <a:r>
              <a:rPr lang="en"/>
              <a:t>http://yellkey.com</a:t>
            </a:r>
            <a:r>
              <a:rPr lang="en">
                <a:solidFill>
                  <a:srgbClr val="208920"/>
                </a:solidFill>
              </a:rPr>
              <a:t>/leave</a:t>
            </a:r>
            <a:endParaRPr>
              <a:solidFill>
                <a:srgbClr val="208920"/>
              </a:solidFill>
            </a:endParaRPr>
          </a:p>
        </p:txBody>
      </p:sp>
      <p:grpSp>
        <p:nvGrpSpPr>
          <p:cNvPr id="755" name="Google Shape;755;p54"/>
          <p:cNvGrpSpPr/>
          <p:nvPr/>
        </p:nvGrpSpPr>
        <p:grpSpPr>
          <a:xfrm>
            <a:off x="1596015" y="1580690"/>
            <a:ext cx="6093754" cy="3173543"/>
            <a:chOff x="4866600" y="3068225"/>
            <a:chExt cx="3449425" cy="1525742"/>
          </a:xfrm>
        </p:grpSpPr>
        <p:grpSp>
          <p:nvGrpSpPr>
            <p:cNvPr id="756" name="Google Shape;756;p54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757" name="Google Shape;757;p5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5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5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5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5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5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54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4" name="Google Shape;764;p54"/>
              <p:cNvCxnSpPr>
                <a:stCxn id="758" idx="0"/>
                <a:endCxn id="757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5" name="Google Shape;765;p54"/>
              <p:cNvCxnSpPr>
                <a:stCxn id="759" idx="0"/>
                <a:endCxn id="757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6" name="Google Shape;766;p54"/>
              <p:cNvCxnSpPr>
                <a:stCxn id="760" idx="0"/>
                <a:endCxn id="758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7" name="Google Shape;767;p54"/>
              <p:cNvCxnSpPr>
                <a:stCxn id="758" idx="2"/>
                <a:endCxn id="761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8" name="Google Shape;768;p54"/>
              <p:cNvCxnSpPr>
                <a:stCxn id="759" idx="2"/>
                <a:endCxn id="762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9" name="Google Shape;769;p54"/>
              <p:cNvCxnSpPr>
                <a:stCxn id="759" idx="2"/>
                <a:endCxn id="763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770" name="Google Shape;770;p54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71" name="Google Shape;771;p54"/>
            <p:cNvCxnSpPr>
              <a:stCxn id="770" idx="2"/>
              <a:endCxn id="757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54"/>
            <p:cNvCxnSpPr>
              <a:stCxn id="770" idx="2"/>
              <a:endCxn id="773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74" name="Google Shape;774;p54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773" name="Google Shape;773;p5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5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5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5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5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79" name="Google Shape;779;p54"/>
              <p:cNvCxnSpPr>
                <a:stCxn id="780" idx="0"/>
                <a:endCxn id="773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1" name="Google Shape;781;p54"/>
              <p:cNvCxnSpPr>
                <a:stCxn id="775" idx="0"/>
                <a:endCxn id="773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2" name="Google Shape;782;p54"/>
              <p:cNvCxnSpPr>
                <a:stCxn id="776" idx="0"/>
                <a:endCxn id="780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3" name="Google Shape;783;p54"/>
              <p:cNvCxnSpPr>
                <a:stCxn id="780" idx="2"/>
                <a:endCxn id="777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84" name="Google Shape;784;p54"/>
              <p:cNvCxnSpPr>
                <a:stCxn id="775" idx="2"/>
                <a:endCxn id="778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80" name="Google Shape;780;p5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5" name="Google Shape;785;p5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runtime to complete a search on a “bushy” BST in the worst case, where N is the number of nodes.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Θ(log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 log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Θ(N</a:t>
            </a:r>
            <a:r>
              <a:rPr baseline="30000" lang="en"/>
              <a:t>2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Θ(2</a:t>
            </a:r>
            <a:r>
              <a:rPr baseline="30000" lang="en"/>
              <a:t>N</a:t>
            </a:r>
            <a:r>
              <a:rPr lang="en"/>
              <a:t>)</a:t>
            </a:r>
            <a:endParaRPr/>
          </a:p>
        </p:txBody>
      </p:sp>
      <p:grpSp>
        <p:nvGrpSpPr>
          <p:cNvPr id="786" name="Google Shape;786;p54"/>
          <p:cNvGrpSpPr/>
          <p:nvPr/>
        </p:nvGrpSpPr>
        <p:grpSpPr>
          <a:xfrm>
            <a:off x="7394583" y="3932425"/>
            <a:ext cx="768206" cy="821808"/>
            <a:chOff x="6237693" y="4323943"/>
            <a:chExt cx="434850" cy="395100"/>
          </a:xfrm>
        </p:grpSpPr>
        <p:cxnSp>
          <p:nvCxnSpPr>
            <p:cNvPr id="787" name="Google Shape;787;p54"/>
            <p:cNvCxnSpPr>
              <a:stCxn id="788" idx="2"/>
              <a:endCxn id="789" idx="0"/>
            </p:cNvCxnSpPr>
            <p:nvPr/>
          </p:nvCxnSpPr>
          <p:spPr>
            <a:xfrm>
              <a:off x="6237693" y="4323943"/>
              <a:ext cx="267900" cy="13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9" name="Google Shape;789;p54"/>
            <p:cNvSpPr/>
            <p:nvPr/>
          </p:nvSpPr>
          <p:spPr>
            <a:xfrm>
              <a:off x="6338643" y="4454743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90" name="Google Shape;790;p54"/>
          <p:cNvCxnSpPr/>
          <p:nvPr/>
        </p:nvCxnSpPr>
        <p:spPr>
          <a:xfrm rot="10800000">
            <a:off x="5826375" y="1118600"/>
            <a:ext cx="273000" cy="193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1" name="Google Shape;791;p54"/>
          <p:cNvSpPr txBox="1"/>
          <p:nvPr/>
        </p:nvSpPr>
        <p:spPr>
          <a:xfrm>
            <a:off x="6065243" y="1258622"/>
            <a:ext cx="2958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“bushiness” is an intuitive concept that we haven’t defined.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Search</a:t>
            </a:r>
            <a:endParaRPr/>
          </a:p>
        </p:txBody>
      </p:sp>
      <p:grpSp>
        <p:nvGrpSpPr>
          <p:cNvPr id="797" name="Google Shape;797;p55"/>
          <p:cNvGrpSpPr/>
          <p:nvPr/>
        </p:nvGrpSpPr>
        <p:grpSpPr>
          <a:xfrm>
            <a:off x="1596015" y="1580690"/>
            <a:ext cx="6093754" cy="3173543"/>
            <a:chOff x="4866600" y="3068225"/>
            <a:chExt cx="3449425" cy="1525742"/>
          </a:xfrm>
        </p:grpSpPr>
        <p:grpSp>
          <p:nvGrpSpPr>
            <p:cNvPr id="798" name="Google Shape;798;p55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799" name="Google Shape;799;p55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55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55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55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55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55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55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6" name="Google Shape;806;p55"/>
              <p:cNvCxnSpPr>
                <a:stCxn id="800" idx="0"/>
                <a:endCxn id="799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7" name="Google Shape;807;p55"/>
              <p:cNvCxnSpPr>
                <a:stCxn id="801" idx="0"/>
                <a:endCxn id="799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8" name="Google Shape;808;p55"/>
              <p:cNvCxnSpPr>
                <a:stCxn id="802" idx="0"/>
                <a:endCxn id="800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09" name="Google Shape;809;p55"/>
              <p:cNvCxnSpPr>
                <a:stCxn id="800" idx="2"/>
                <a:endCxn id="803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0" name="Google Shape;810;p55"/>
              <p:cNvCxnSpPr>
                <a:stCxn id="801" idx="2"/>
                <a:endCxn id="804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11" name="Google Shape;811;p55"/>
              <p:cNvCxnSpPr>
                <a:stCxn id="801" idx="2"/>
                <a:endCxn id="805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12" name="Google Shape;812;p55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3" name="Google Shape;813;p55"/>
            <p:cNvCxnSpPr>
              <a:stCxn id="812" idx="2"/>
              <a:endCxn id="799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4" name="Google Shape;814;p55"/>
            <p:cNvCxnSpPr>
              <a:stCxn id="812" idx="2"/>
              <a:endCxn id="815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16" name="Google Shape;816;p55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815" name="Google Shape;815;p55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55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55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55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55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21" name="Google Shape;821;p55"/>
              <p:cNvCxnSpPr>
                <a:stCxn id="822" idx="0"/>
                <a:endCxn id="815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3" name="Google Shape;823;p55"/>
              <p:cNvCxnSpPr>
                <a:stCxn id="817" idx="0"/>
                <a:endCxn id="815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4" name="Google Shape;824;p55"/>
              <p:cNvCxnSpPr>
                <a:stCxn id="818" idx="0"/>
                <a:endCxn id="822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5" name="Google Shape;825;p55"/>
              <p:cNvCxnSpPr>
                <a:stCxn id="822" idx="2"/>
                <a:endCxn id="819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26" name="Google Shape;826;p55"/>
              <p:cNvCxnSpPr>
                <a:stCxn id="817" idx="2"/>
                <a:endCxn id="820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22" name="Google Shape;822;p55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7" name="Google Shape;827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is the runtime to complete a search on a “bushy” BST in the worst case, where N is the number of nodes.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Θ(log N)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b="1" lang="en"/>
            </a:br>
            <a:r>
              <a:rPr lang="en"/>
              <a:t>Height of the tree is ~log</a:t>
            </a:r>
            <a:r>
              <a:rPr baseline="-25000" lang="en"/>
              <a:t>2</a:t>
            </a:r>
            <a:r>
              <a:rPr lang="en"/>
              <a:t>(N)</a:t>
            </a:r>
            <a:endParaRPr/>
          </a:p>
        </p:txBody>
      </p:sp>
      <p:grpSp>
        <p:nvGrpSpPr>
          <p:cNvPr id="828" name="Google Shape;828;p55"/>
          <p:cNvGrpSpPr/>
          <p:nvPr/>
        </p:nvGrpSpPr>
        <p:grpSpPr>
          <a:xfrm>
            <a:off x="7394835" y="3932804"/>
            <a:ext cx="767954" cy="821429"/>
            <a:chOff x="6237836" y="4324125"/>
            <a:chExt cx="434707" cy="394918"/>
          </a:xfrm>
        </p:grpSpPr>
        <p:sp>
          <p:nvSpPr>
            <p:cNvPr id="829" name="Google Shape;829;p55"/>
            <p:cNvSpPr/>
            <p:nvPr/>
          </p:nvSpPr>
          <p:spPr>
            <a:xfrm>
              <a:off x="6338643" y="4454743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0" name="Google Shape;830;p55"/>
            <p:cNvCxnSpPr>
              <a:stCxn id="817" idx="2"/>
              <a:endCxn id="829" idx="0"/>
            </p:cNvCxnSpPr>
            <p:nvPr/>
          </p:nvCxnSpPr>
          <p:spPr>
            <a:xfrm>
              <a:off x="6237836" y="4324125"/>
              <a:ext cx="267900" cy="130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BSTs</a:t>
            </a:r>
            <a:endParaRPr/>
          </a:p>
        </p:txBody>
      </p:sp>
      <p:sp>
        <p:nvSpPr>
          <p:cNvPr id="836" name="Google Shape;836;p5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Bushy BSTs are extremely fast.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1 microsecond per operation, can find something from a tree of size 10</a:t>
            </a:r>
            <a:r>
              <a:rPr baseline="30000" lang="en"/>
              <a:t>300000</a:t>
            </a:r>
            <a:r>
              <a:rPr lang="en"/>
              <a:t> in one second.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Much (perhaps most?) computation is dedicated towards finding things in response to queries.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a good thing that we can do such queries almost for free.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insert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42" name="Google Shape;842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</a:t>
            </a:r>
            <a:endParaRPr/>
          </a:p>
        </p:txBody>
      </p:sp>
      <p:sp>
        <p:nvSpPr>
          <p:cNvPr id="843" name="Google Shape;843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Inserting a New Key into a BST</a:t>
            </a:r>
            <a:endParaRPr/>
          </a:p>
        </p:txBody>
      </p:sp>
      <p:sp>
        <p:nvSpPr>
          <p:cNvPr id="849" name="Google Shape;849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Search for key.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found, do nothing.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 found: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new node.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appropriate link.</a:t>
            </a:r>
            <a:endParaRPr/>
          </a:p>
        </p:txBody>
      </p:sp>
      <p:sp>
        <p:nvSpPr>
          <p:cNvPr id="850" name="Google Shape;850;p58"/>
          <p:cNvSpPr txBox="1"/>
          <p:nvPr/>
        </p:nvSpPr>
        <p:spPr>
          <a:xfrm>
            <a:off x="3534975" y="654950"/>
            <a:ext cx="2166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Example: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insert “eyes”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1" name="Google Shape;851;p58"/>
          <p:cNvCxnSpPr>
            <a:stCxn id="852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53" name="Google Shape;853;p58"/>
          <p:cNvCxnSpPr>
            <a:endCxn id="854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58"/>
          <p:cNvCxnSpPr>
            <a:stCxn id="856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57" name="Google Shape;857;p58"/>
          <p:cNvCxnSpPr>
            <a:endCxn id="858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9" name="Google Shape;859;p58"/>
          <p:cNvCxnSpPr>
            <a:stCxn id="860" idx="1"/>
            <a:endCxn id="861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2" name="Google Shape;862;p58"/>
          <p:cNvCxnSpPr>
            <a:stCxn id="860" idx="3"/>
            <a:endCxn id="863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0" name="Google Shape;860;p58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8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8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8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8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8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8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Inserting a New Key into a BST</a:t>
            </a:r>
            <a:endParaRPr/>
          </a:p>
        </p:txBody>
      </p:sp>
      <p:sp>
        <p:nvSpPr>
          <p:cNvPr id="869" name="Google Shape;869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Search for key.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found, do nothing.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 found: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new node.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Set appropriate link.</a:t>
            </a:r>
            <a:endParaRPr/>
          </a:p>
        </p:txBody>
      </p:sp>
      <p:sp>
        <p:nvSpPr>
          <p:cNvPr id="870" name="Google Shape;870;p59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59"/>
          <p:cNvCxnSpPr>
            <a:stCxn id="872" idx="2"/>
            <a:endCxn id="870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59"/>
          <p:cNvSpPr txBox="1"/>
          <p:nvPr/>
        </p:nvSpPr>
        <p:spPr>
          <a:xfrm>
            <a:off x="5178232" y="3170821"/>
            <a:ext cx="3940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Arms </a:t>
            </a:r>
            <a:r>
              <a:rPr lang="en"/>
              <a:t>length recursion: </a:t>
            </a:r>
            <a:r>
              <a:rPr lang="en"/>
              <a:t>A common rookie bad habit to avoid:</a:t>
            </a:r>
            <a:endParaRPr/>
          </a:p>
        </p:txBody>
      </p:sp>
      <p:pic>
        <p:nvPicPr>
          <p:cNvPr id="874" name="Google Shape;87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00" y="2406975"/>
            <a:ext cx="44577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59"/>
          <p:cNvSpPr txBox="1"/>
          <p:nvPr/>
        </p:nvSpPr>
        <p:spPr>
          <a:xfrm>
            <a:off x="166800" y="2367425"/>
            <a:ext cx="4917000" cy="2736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 insert(BST T, Key ik)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 == null)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BST(ik);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(ik ≺ T.key)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T.left = insert(T.left, ik);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(ik ≻ T.key)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T.right = insert(T.right, ik);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876" name="Google Shape;876;p59"/>
          <p:cNvSpPr txBox="1"/>
          <p:nvPr/>
        </p:nvSpPr>
        <p:spPr>
          <a:xfrm>
            <a:off x="5214052" y="3742237"/>
            <a:ext cx="3821700" cy="135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if (T.left ==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T.left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BST(ik);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else if (T.right ==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T.right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BST(ik);</a:t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877" name="Google Shape;877;p59"/>
          <p:cNvCxnSpPr>
            <a:stCxn id="878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9" name="Google Shape;879;p59"/>
          <p:cNvCxnSpPr>
            <a:endCxn id="880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59"/>
          <p:cNvCxnSpPr>
            <a:stCxn id="872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2" name="Google Shape;882;p59"/>
          <p:cNvCxnSpPr>
            <a:endCxn id="883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4" name="Google Shape;884;p59"/>
          <p:cNvCxnSpPr>
            <a:stCxn id="885" idx="1"/>
            <a:endCxn id="886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7" name="Google Shape;887;p59"/>
          <p:cNvCxnSpPr>
            <a:stCxn id="885" idx="3"/>
            <a:endCxn id="888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5" name="Google Shape;885;p59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9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9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9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9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9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9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Hibbard deletion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4" name="Google Shape;894;p6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Hibbard deletion</a:t>
            </a:r>
            <a:endParaRPr/>
          </a:p>
        </p:txBody>
      </p:sp>
      <p:sp>
        <p:nvSpPr>
          <p:cNvPr id="895" name="Google Shape;895;p6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Deleting from a BST</a:t>
            </a:r>
            <a:endParaRPr/>
          </a:p>
        </p:txBody>
      </p:sp>
      <p:sp>
        <p:nvSpPr>
          <p:cNvPr id="901" name="Google Shape;901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 Cases: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Deletion key has no children.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Deletion key has one child.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Deletion key has two children.</a:t>
            </a:r>
            <a:endParaRPr/>
          </a:p>
        </p:txBody>
      </p:sp>
      <p:sp>
        <p:nvSpPr>
          <p:cNvPr id="902" name="Google Shape;902;p61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3" name="Google Shape;903;p61"/>
          <p:cNvCxnSpPr>
            <a:stCxn id="904" idx="2"/>
            <a:endCxn id="902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61"/>
          <p:cNvCxnSpPr>
            <a:stCxn id="906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07" name="Google Shape;907;p61"/>
          <p:cNvCxnSpPr>
            <a:endCxn id="908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61"/>
          <p:cNvCxnSpPr>
            <a:stCxn id="904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10" name="Google Shape;910;p61"/>
          <p:cNvCxnSpPr>
            <a:endCxn id="911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61"/>
          <p:cNvCxnSpPr>
            <a:stCxn id="913" idx="1"/>
            <a:endCxn id="914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5" name="Google Shape;915;p61"/>
          <p:cNvCxnSpPr>
            <a:stCxn id="913" idx="3"/>
            <a:endCxn id="916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3" name="Google Shape;913;p61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61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1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1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1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61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1: Deleting from a BST: Key with no Children</a:t>
            </a:r>
            <a:endParaRPr/>
          </a:p>
        </p:txBody>
      </p:sp>
      <p:sp>
        <p:nvSpPr>
          <p:cNvPr id="922" name="Google Shape;922;p6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Deletion key has no children (“glut”):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sever the parent’s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to “glut” node?</a:t>
            </a:r>
            <a:endParaRPr/>
          </a:p>
        </p:txBody>
      </p:sp>
      <p:sp>
        <p:nvSpPr>
          <p:cNvPr id="923" name="Google Shape;923;p62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62"/>
          <p:cNvCxnSpPr>
            <a:stCxn id="925" idx="2"/>
            <a:endCxn id="923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62"/>
          <p:cNvCxnSpPr>
            <a:stCxn id="927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28" name="Google Shape;928;p62"/>
          <p:cNvCxnSpPr>
            <a:endCxn id="929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62"/>
          <p:cNvCxnSpPr>
            <a:stCxn id="925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31" name="Google Shape;931;p62"/>
          <p:cNvCxnSpPr>
            <a:endCxn id="932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62"/>
          <p:cNvCxnSpPr>
            <a:stCxn id="934" idx="1"/>
            <a:endCxn id="935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62"/>
          <p:cNvCxnSpPr>
            <a:stCxn id="934" idx="3"/>
            <a:endCxn id="937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4" name="Google Shape;934;p62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2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2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2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62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62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2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1: Deleting from a BST: Key with no Children</a:t>
            </a:r>
            <a:endParaRPr/>
          </a:p>
        </p:txBody>
      </p:sp>
      <p:sp>
        <p:nvSpPr>
          <p:cNvPr id="943" name="Google Shape;943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Deletion key has no children (“glut”):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Just sever the parent’s link.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happens to “glut” node?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Garbage collected.</a:t>
            </a:r>
            <a:endParaRPr/>
          </a:p>
        </p:txBody>
      </p:sp>
      <p:sp>
        <p:nvSpPr>
          <p:cNvPr id="944" name="Google Shape;944;p63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5" name="Google Shape;945;p63"/>
          <p:cNvCxnSpPr>
            <a:stCxn id="946" idx="2"/>
            <a:endCxn id="944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63"/>
          <p:cNvCxnSpPr>
            <a:stCxn id="948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9" name="Google Shape;949;p63"/>
          <p:cNvCxnSpPr>
            <a:endCxn id="950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63"/>
          <p:cNvCxnSpPr>
            <a:stCxn id="946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52" name="Google Shape;952;p63"/>
          <p:cNvCxnSpPr>
            <a:stCxn id="953" idx="1"/>
            <a:endCxn id="954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5" name="Google Shape;955;p63"/>
          <p:cNvCxnSpPr>
            <a:stCxn id="953" idx="3"/>
            <a:endCxn id="956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3" name="Google Shape;953;p63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3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3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3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3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3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3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2: Deleting from a BST: Key with one Child</a:t>
            </a:r>
            <a:endParaRPr/>
          </a:p>
        </p:txBody>
      </p:sp>
      <p:sp>
        <p:nvSpPr>
          <p:cNvPr id="963" name="Google Shape;963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delete(“flat”):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BST property.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Flat’s child definitely larger than dog.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Safe to just move that child into flat’s spot.</a:t>
            </a:r>
            <a:endParaRPr/>
          </a:p>
          <a:p>
            <a:pPr indent="0" lvl="0" marL="228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Thus: Move flat’s parent’s pointer to flat’s child.</a:t>
            </a:r>
            <a:endParaRPr/>
          </a:p>
        </p:txBody>
      </p:sp>
      <p:sp>
        <p:nvSpPr>
          <p:cNvPr id="964" name="Google Shape;964;p64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5" name="Google Shape;965;p64"/>
          <p:cNvCxnSpPr>
            <a:stCxn id="966" idx="2"/>
            <a:endCxn id="964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64"/>
          <p:cNvCxnSpPr>
            <a:stCxn id="968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69" name="Google Shape;969;p64"/>
          <p:cNvCxnSpPr>
            <a:endCxn id="970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64"/>
          <p:cNvCxnSpPr>
            <a:stCxn id="966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2" name="Google Shape;972;p64"/>
          <p:cNvCxnSpPr>
            <a:stCxn id="973" idx="1"/>
            <a:endCxn id="974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64"/>
          <p:cNvCxnSpPr>
            <a:stCxn id="973" idx="3"/>
            <a:endCxn id="976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3" name="Google Shape;973;p64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64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4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4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4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4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2: Deleting from a BST: Key with one Child</a:t>
            </a:r>
            <a:endParaRPr/>
          </a:p>
        </p:txBody>
      </p:sp>
      <p:sp>
        <p:nvSpPr>
          <p:cNvPr id="982" name="Google Shape;982;p6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delete(“flat”):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BST property.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Flat’s child definitely larger than dog.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Safe to just move that child into flat’s spot.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Thus: Move flat’s parent’s pointer to flat’s child.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Flat will be garbage collected (along with its instance variables). </a:t>
            </a:r>
            <a:endParaRPr/>
          </a:p>
        </p:txBody>
      </p:sp>
      <p:sp>
        <p:nvSpPr>
          <p:cNvPr id="983" name="Google Shape;983;p65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4" name="Google Shape;984;p65"/>
          <p:cNvCxnSpPr>
            <a:stCxn id="985" idx="2"/>
            <a:endCxn id="983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6" name="Google Shape;986;p65"/>
          <p:cNvCxnSpPr>
            <a:stCxn id="987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8" name="Google Shape;988;p65"/>
          <p:cNvCxnSpPr>
            <a:endCxn id="989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65"/>
          <p:cNvCxnSpPr>
            <a:stCxn id="991" idx="1"/>
            <a:endCxn id="992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65"/>
          <p:cNvCxnSpPr>
            <a:stCxn id="991" idx="3"/>
            <a:endCxn id="985" idx="0"/>
          </p:cNvCxnSpPr>
          <p:nvPr/>
        </p:nvCxnSpPr>
        <p:spPr>
          <a:xfrm>
            <a:off x="7204165" y="958124"/>
            <a:ext cx="229200" cy="1022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65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65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94" name="Google Shape;994;p65"/>
          <p:cNvGrpSpPr/>
          <p:nvPr/>
        </p:nvGrpSpPr>
        <p:grpSpPr>
          <a:xfrm>
            <a:off x="7433225" y="1281974"/>
            <a:ext cx="850579" cy="698500"/>
            <a:chOff x="7433225" y="1281974"/>
            <a:chExt cx="850579" cy="698500"/>
          </a:xfrm>
        </p:grpSpPr>
        <p:cxnSp>
          <p:nvCxnSpPr>
            <p:cNvPr id="995" name="Google Shape;995;p65"/>
            <p:cNvCxnSpPr>
              <a:stCxn id="985" idx="0"/>
            </p:cNvCxnSpPr>
            <p:nvPr/>
          </p:nvCxnSpPr>
          <p:spPr>
            <a:xfrm flipH="1" rot="10800000">
              <a:off x="7433225" y="1704174"/>
              <a:ext cx="339000" cy="276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996" name="Google Shape;996;p65"/>
            <p:cNvSpPr/>
            <p:nvPr/>
          </p:nvSpPr>
          <p:spPr>
            <a:xfrm>
              <a:off x="7546704" y="1281974"/>
              <a:ext cx="737100" cy="4953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flat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7" name="Google Shape;987;p65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5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5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 Challenge</a:t>
            </a:r>
            <a:endParaRPr/>
          </a:p>
        </p:txBody>
      </p:sp>
      <p:sp>
        <p:nvSpPr>
          <p:cNvPr id="1002" name="Google Shape;1002;p6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k.</a:t>
            </a:r>
            <a:endParaRPr/>
          </a:p>
        </p:txBody>
      </p:sp>
      <p:sp>
        <p:nvSpPr>
          <p:cNvPr id="1003" name="Google Shape;1003;p66"/>
          <p:cNvSpPr/>
          <p:nvPr/>
        </p:nvSpPr>
        <p:spPr>
          <a:xfrm>
            <a:off x="2571749" y="2241093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6"/>
          <p:cNvSpPr/>
          <p:nvPr/>
        </p:nvSpPr>
        <p:spPr>
          <a:xfrm>
            <a:off x="1720763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6"/>
          <p:cNvSpPr/>
          <p:nvPr/>
        </p:nvSpPr>
        <p:spPr>
          <a:xfrm>
            <a:off x="3422736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66"/>
          <p:cNvSpPr/>
          <p:nvPr/>
        </p:nvSpPr>
        <p:spPr>
          <a:xfrm>
            <a:off x="1227286" y="3674294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66"/>
          <p:cNvSpPr/>
          <p:nvPr/>
        </p:nvSpPr>
        <p:spPr>
          <a:xfrm>
            <a:off x="2117998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66"/>
          <p:cNvSpPr/>
          <p:nvPr/>
        </p:nvSpPr>
        <p:spPr>
          <a:xfrm>
            <a:off x="2943079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9" name="Google Shape;1009;p66"/>
          <p:cNvCxnSpPr>
            <a:stCxn id="1004" idx="0"/>
            <a:endCxn id="1003" idx="2"/>
          </p:cNvCxnSpPr>
          <p:nvPr/>
        </p:nvCxnSpPr>
        <p:spPr>
          <a:xfrm flipH="1" rot="10800000">
            <a:off x="2031563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66"/>
          <p:cNvCxnSpPr>
            <a:stCxn id="1005" idx="0"/>
            <a:endCxn id="1003" idx="2"/>
          </p:cNvCxnSpPr>
          <p:nvPr/>
        </p:nvCxnSpPr>
        <p:spPr>
          <a:xfrm rot="10800000">
            <a:off x="2882436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1" name="Google Shape;1011;p66"/>
          <p:cNvCxnSpPr>
            <a:stCxn id="1006" idx="0"/>
            <a:endCxn id="1004" idx="2"/>
          </p:cNvCxnSpPr>
          <p:nvPr/>
        </p:nvCxnSpPr>
        <p:spPr>
          <a:xfrm flipH="1" rot="10800000">
            <a:off x="1538086" y="3442394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66"/>
          <p:cNvCxnSpPr>
            <a:stCxn id="1004" idx="2"/>
            <a:endCxn id="1007" idx="0"/>
          </p:cNvCxnSpPr>
          <p:nvPr/>
        </p:nvCxnSpPr>
        <p:spPr>
          <a:xfrm>
            <a:off x="2031563" y="3442248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66"/>
          <p:cNvCxnSpPr>
            <a:stCxn id="1005" idx="2"/>
            <a:endCxn id="1008" idx="0"/>
          </p:cNvCxnSpPr>
          <p:nvPr/>
        </p:nvCxnSpPr>
        <p:spPr>
          <a:xfrm flipH="1">
            <a:off x="3253836" y="3442248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66"/>
          <p:cNvSpPr/>
          <p:nvPr/>
        </p:nvSpPr>
        <p:spPr>
          <a:xfrm>
            <a:off x="6175065" y="225332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6"/>
          <p:cNvSpPr/>
          <p:nvPr/>
        </p:nvSpPr>
        <p:spPr>
          <a:xfrm>
            <a:off x="5324088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6"/>
          <p:cNvSpPr/>
          <p:nvPr/>
        </p:nvSpPr>
        <p:spPr>
          <a:xfrm>
            <a:off x="7026043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6"/>
          <p:cNvSpPr/>
          <p:nvPr/>
        </p:nvSpPr>
        <p:spPr>
          <a:xfrm>
            <a:off x="4830615" y="3686511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66"/>
          <p:cNvSpPr/>
          <p:nvPr/>
        </p:nvSpPr>
        <p:spPr>
          <a:xfrm>
            <a:off x="5721318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66"/>
          <p:cNvSpPr/>
          <p:nvPr/>
        </p:nvSpPr>
        <p:spPr>
          <a:xfrm>
            <a:off x="6546391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66"/>
          <p:cNvSpPr/>
          <p:nvPr/>
        </p:nvSpPr>
        <p:spPr>
          <a:xfrm>
            <a:off x="7489993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1" name="Google Shape;1021;p66"/>
          <p:cNvCxnSpPr>
            <a:stCxn id="1015" idx="0"/>
            <a:endCxn id="1014" idx="2"/>
          </p:cNvCxnSpPr>
          <p:nvPr/>
        </p:nvCxnSpPr>
        <p:spPr>
          <a:xfrm flipH="1" rot="10800000">
            <a:off x="5634888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66"/>
          <p:cNvCxnSpPr>
            <a:stCxn id="1016" idx="0"/>
            <a:endCxn id="1014" idx="2"/>
          </p:cNvCxnSpPr>
          <p:nvPr/>
        </p:nvCxnSpPr>
        <p:spPr>
          <a:xfrm rot="10800000">
            <a:off x="6485743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66"/>
          <p:cNvCxnSpPr>
            <a:stCxn id="1017" idx="0"/>
            <a:endCxn id="1015" idx="2"/>
          </p:cNvCxnSpPr>
          <p:nvPr/>
        </p:nvCxnSpPr>
        <p:spPr>
          <a:xfrm flipH="1" rot="10800000">
            <a:off x="5141415" y="3454611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66"/>
          <p:cNvCxnSpPr>
            <a:stCxn id="1015" idx="2"/>
            <a:endCxn id="1018" idx="0"/>
          </p:cNvCxnSpPr>
          <p:nvPr/>
        </p:nvCxnSpPr>
        <p:spPr>
          <a:xfrm>
            <a:off x="5634888" y="3454475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66"/>
          <p:cNvCxnSpPr>
            <a:stCxn id="1016" idx="2"/>
            <a:endCxn id="1019" idx="0"/>
          </p:cNvCxnSpPr>
          <p:nvPr/>
        </p:nvCxnSpPr>
        <p:spPr>
          <a:xfrm flipH="1">
            <a:off x="6857143" y="3454475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6"/>
          <p:cNvCxnSpPr>
            <a:stCxn id="1016" idx="2"/>
            <a:endCxn id="1020" idx="0"/>
          </p:cNvCxnSpPr>
          <p:nvPr/>
        </p:nvCxnSpPr>
        <p:spPr>
          <a:xfrm>
            <a:off x="7336843" y="3454475"/>
            <a:ext cx="4641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66"/>
          <p:cNvSpPr/>
          <p:nvPr/>
        </p:nvSpPr>
        <p:spPr>
          <a:xfrm>
            <a:off x="4357757" y="134963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8" name="Google Shape;1028;p66"/>
          <p:cNvCxnSpPr>
            <a:stCxn id="1027" idx="2"/>
            <a:endCxn id="1003" idx="0"/>
          </p:cNvCxnSpPr>
          <p:nvPr/>
        </p:nvCxnSpPr>
        <p:spPr>
          <a:xfrm flipH="1">
            <a:off x="2882657" y="1841636"/>
            <a:ext cx="1785900" cy="39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9" name="Google Shape;1029;p66"/>
          <p:cNvCxnSpPr>
            <a:stCxn id="1027" idx="2"/>
            <a:endCxn id="1014" idx="0"/>
          </p:cNvCxnSpPr>
          <p:nvPr/>
        </p:nvCxnSpPr>
        <p:spPr>
          <a:xfrm>
            <a:off x="4668557" y="1841636"/>
            <a:ext cx="1817400" cy="41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3: Deleting from a BST: Deletion with two Children (Hibbard)</a:t>
            </a:r>
            <a:endParaRPr/>
          </a:p>
        </p:txBody>
      </p:sp>
      <p:sp>
        <p:nvSpPr>
          <p:cNvPr id="1035" name="Google Shape;1035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delete(“dog”)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 new root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&gt; than everything in left subtree.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&lt; than everything right subtree.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Would bag work?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7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7" name="Google Shape;1037;p67"/>
          <p:cNvCxnSpPr>
            <a:stCxn id="1038" idx="2"/>
            <a:endCxn id="1036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9" name="Google Shape;1039;p67"/>
          <p:cNvCxnSpPr>
            <a:stCxn id="1040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41" name="Google Shape;1041;p67"/>
          <p:cNvCxnSpPr>
            <a:endCxn id="1042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3" name="Google Shape;1043;p67"/>
          <p:cNvCxnSpPr>
            <a:stCxn id="1038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44" name="Google Shape;1044;p67"/>
          <p:cNvCxnSpPr>
            <a:endCxn id="1045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6" name="Google Shape;1046;p67"/>
          <p:cNvCxnSpPr>
            <a:stCxn id="1047" idx="1"/>
            <a:endCxn id="1048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67"/>
          <p:cNvCxnSpPr>
            <a:stCxn id="1047" idx="3"/>
            <a:endCxn id="1050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7" name="Google Shape;1047;p67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7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67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67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67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67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delete(“dog”)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 new root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&gt; than everything in left subtree.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&lt; than everything right subtree.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Choose either predecessor (“cat”) or successor (“elf”).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 “cat” or “elf”, and stick new copy in the root position: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deletion guaranteed to be either case 1 or 2. 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strategy is sometimes known as “Hibbard deletion”.</a:t>
            </a:r>
            <a:endParaRPr/>
          </a:p>
        </p:txBody>
      </p:sp>
      <p:sp>
        <p:nvSpPr>
          <p:cNvPr id="1056" name="Google Shape;1056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3: Deleting from a BST: Deletion with two Children (Hibbard)</a:t>
            </a:r>
            <a:endParaRPr/>
          </a:p>
        </p:txBody>
      </p:sp>
      <p:sp>
        <p:nvSpPr>
          <p:cNvPr id="1057" name="Google Shape;1057;p68"/>
          <p:cNvSpPr/>
          <p:nvPr/>
        </p:nvSpPr>
        <p:spPr>
          <a:xfrm>
            <a:off x="7506902" y="2770643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8" name="Google Shape;1058;p68"/>
          <p:cNvCxnSpPr>
            <a:stCxn id="1059" idx="2"/>
            <a:endCxn id="1057" idx="0"/>
          </p:cNvCxnSpPr>
          <p:nvPr/>
        </p:nvCxnSpPr>
        <p:spPr>
          <a:xfrm>
            <a:off x="7433225" y="2475774"/>
            <a:ext cx="442200" cy="29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68"/>
          <p:cNvCxnSpPr>
            <a:stCxn id="1061" idx="0"/>
          </p:cNvCxnSpPr>
          <p:nvPr/>
        </p:nvCxnSpPr>
        <p:spPr>
          <a:xfrm flipH="1" rot="10800000">
            <a:off x="5288225" y="1644774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62" name="Google Shape;1062;p68"/>
          <p:cNvCxnSpPr>
            <a:endCxn id="1063" idx="0"/>
          </p:cNvCxnSpPr>
          <p:nvPr/>
        </p:nvCxnSpPr>
        <p:spPr>
          <a:xfrm>
            <a:off x="5939029" y="1695774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4" name="Google Shape;1064;p68"/>
          <p:cNvCxnSpPr>
            <a:stCxn id="1059" idx="0"/>
          </p:cNvCxnSpPr>
          <p:nvPr/>
        </p:nvCxnSpPr>
        <p:spPr>
          <a:xfrm flipH="1" rot="10800000">
            <a:off x="7433225" y="1704174"/>
            <a:ext cx="339000" cy="276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65" name="Google Shape;1065;p68"/>
          <p:cNvCxnSpPr>
            <a:endCxn id="1066" idx="0"/>
          </p:cNvCxnSpPr>
          <p:nvPr/>
        </p:nvCxnSpPr>
        <p:spPr>
          <a:xfrm>
            <a:off x="8122182" y="1704474"/>
            <a:ext cx="275100" cy="276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7" name="Google Shape;1067;p68"/>
          <p:cNvCxnSpPr>
            <a:stCxn id="1068" idx="1"/>
            <a:endCxn id="1069" idx="0"/>
          </p:cNvCxnSpPr>
          <p:nvPr/>
        </p:nvCxnSpPr>
        <p:spPr>
          <a:xfrm flipH="1">
            <a:off x="57560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0" name="Google Shape;1070;p68"/>
          <p:cNvCxnSpPr>
            <a:stCxn id="1068" idx="3"/>
            <a:endCxn id="1071" idx="0"/>
          </p:cNvCxnSpPr>
          <p:nvPr/>
        </p:nvCxnSpPr>
        <p:spPr>
          <a:xfrm>
            <a:off x="7204165" y="958124"/>
            <a:ext cx="7110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68"/>
          <p:cNvSpPr/>
          <p:nvPr/>
        </p:nvSpPr>
        <p:spPr>
          <a:xfrm>
            <a:off x="6467065" y="71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dog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8"/>
          <p:cNvSpPr/>
          <p:nvPr/>
        </p:nvSpPr>
        <p:spPr>
          <a:xfrm>
            <a:off x="5387427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bag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68"/>
          <p:cNvSpPr/>
          <p:nvPr/>
        </p:nvSpPr>
        <p:spPr>
          <a:xfrm>
            <a:off x="7546704" y="12819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flat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8"/>
          <p:cNvSpPr/>
          <p:nvPr/>
        </p:nvSpPr>
        <p:spPr>
          <a:xfrm>
            <a:off x="4919675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alf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68"/>
          <p:cNvSpPr/>
          <p:nvPr/>
        </p:nvSpPr>
        <p:spPr>
          <a:xfrm>
            <a:off x="5855179" y="1980474"/>
            <a:ext cx="737100" cy="495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cat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68"/>
          <p:cNvSpPr/>
          <p:nvPr/>
        </p:nvSpPr>
        <p:spPr>
          <a:xfrm>
            <a:off x="7064675" y="1980474"/>
            <a:ext cx="737100" cy="4953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elf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8"/>
          <p:cNvSpPr/>
          <p:nvPr/>
        </p:nvSpPr>
        <p:spPr>
          <a:xfrm>
            <a:off x="8028732" y="1980474"/>
            <a:ext cx="7371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glut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 Challenge (Hopefully Now Easy)</a:t>
            </a:r>
            <a:endParaRPr/>
          </a:p>
        </p:txBody>
      </p:sp>
      <p:sp>
        <p:nvSpPr>
          <p:cNvPr id="1077" name="Google Shape;1077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k.</a:t>
            </a:r>
            <a:endParaRPr/>
          </a:p>
        </p:txBody>
      </p:sp>
      <p:sp>
        <p:nvSpPr>
          <p:cNvPr id="1078" name="Google Shape;1078;p69"/>
          <p:cNvSpPr/>
          <p:nvPr/>
        </p:nvSpPr>
        <p:spPr>
          <a:xfrm>
            <a:off x="2571749" y="2241093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69"/>
          <p:cNvSpPr/>
          <p:nvPr/>
        </p:nvSpPr>
        <p:spPr>
          <a:xfrm>
            <a:off x="1720763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69"/>
          <p:cNvSpPr/>
          <p:nvPr/>
        </p:nvSpPr>
        <p:spPr>
          <a:xfrm>
            <a:off x="3422736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9"/>
          <p:cNvSpPr/>
          <p:nvPr/>
        </p:nvSpPr>
        <p:spPr>
          <a:xfrm>
            <a:off x="1227286" y="3674294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69"/>
          <p:cNvSpPr/>
          <p:nvPr/>
        </p:nvSpPr>
        <p:spPr>
          <a:xfrm>
            <a:off x="2117998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69"/>
          <p:cNvSpPr/>
          <p:nvPr/>
        </p:nvSpPr>
        <p:spPr>
          <a:xfrm>
            <a:off x="2943079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4" name="Google Shape;1084;p69"/>
          <p:cNvCxnSpPr>
            <a:stCxn id="1079" idx="0"/>
            <a:endCxn id="1078" idx="2"/>
          </p:cNvCxnSpPr>
          <p:nvPr/>
        </p:nvCxnSpPr>
        <p:spPr>
          <a:xfrm flipH="1" rot="10800000">
            <a:off x="2031563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69"/>
          <p:cNvCxnSpPr>
            <a:stCxn id="1080" idx="0"/>
            <a:endCxn id="1078" idx="2"/>
          </p:cNvCxnSpPr>
          <p:nvPr/>
        </p:nvCxnSpPr>
        <p:spPr>
          <a:xfrm rot="10800000">
            <a:off x="2882436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69"/>
          <p:cNvCxnSpPr>
            <a:stCxn id="1081" idx="0"/>
            <a:endCxn id="1079" idx="2"/>
          </p:cNvCxnSpPr>
          <p:nvPr/>
        </p:nvCxnSpPr>
        <p:spPr>
          <a:xfrm flipH="1" rot="10800000">
            <a:off x="1538086" y="3442394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69"/>
          <p:cNvCxnSpPr>
            <a:stCxn id="1079" idx="2"/>
            <a:endCxn id="1082" idx="0"/>
          </p:cNvCxnSpPr>
          <p:nvPr/>
        </p:nvCxnSpPr>
        <p:spPr>
          <a:xfrm>
            <a:off x="2031563" y="3442248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69"/>
          <p:cNvCxnSpPr>
            <a:stCxn id="1080" idx="2"/>
            <a:endCxn id="1083" idx="0"/>
          </p:cNvCxnSpPr>
          <p:nvPr/>
        </p:nvCxnSpPr>
        <p:spPr>
          <a:xfrm flipH="1">
            <a:off x="3253836" y="3442248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9" name="Google Shape;1089;p69"/>
          <p:cNvSpPr/>
          <p:nvPr/>
        </p:nvSpPr>
        <p:spPr>
          <a:xfrm>
            <a:off x="6175065" y="225332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69"/>
          <p:cNvSpPr/>
          <p:nvPr/>
        </p:nvSpPr>
        <p:spPr>
          <a:xfrm>
            <a:off x="5324088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69"/>
          <p:cNvSpPr/>
          <p:nvPr/>
        </p:nvSpPr>
        <p:spPr>
          <a:xfrm>
            <a:off x="7026043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9"/>
          <p:cNvSpPr/>
          <p:nvPr/>
        </p:nvSpPr>
        <p:spPr>
          <a:xfrm>
            <a:off x="4830615" y="3686511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69"/>
          <p:cNvSpPr/>
          <p:nvPr/>
        </p:nvSpPr>
        <p:spPr>
          <a:xfrm>
            <a:off x="5721318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9"/>
          <p:cNvSpPr/>
          <p:nvPr/>
        </p:nvSpPr>
        <p:spPr>
          <a:xfrm>
            <a:off x="6546391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9"/>
          <p:cNvSpPr/>
          <p:nvPr/>
        </p:nvSpPr>
        <p:spPr>
          <a:xfrm>
            <a:off x="7489993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6" name="Google Shape;1096;p69"/>
          <p:cNvCxnSpPr>
            <a:stCxn id="1090" idx="0"/>
            <a:endCxn id="1089" idx="2"/>
          </p:cNvCxnSpPr>
          <p:nvPr/>
        </p:nvCxnSpPr>
        <p:spPr>
          <a:xfrm flipH="1" rot="10800000">
            <a:off x="5634888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69"/>
          <p:cNvCxnSpPr>
            <a:stCxn id="1091" idx="0"/>
            <a:endCxn id="1089" idx="2"/>
          </p:cNvCxnSpPr>
          <p:nvPr/>
        </p:nvCxnSpPr>
        <p:spPr>
          <a:xfrm rot="10800000">
            <a:off x="6485743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69"/>
          <p:cNvCxnSpPr>
            <a:stCxn id="1092" idx="0"/>
            <a:endCxn id="1090" idx="2"/>
          </p:cNvCxnSpPr>
          <p:nvPr/>
        </p:nvCxnSpPr>
        <p:spPr>
          <a:xfrm flipH="1" rot="10800000">
            <a:off x="5141415" y="3454611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69"/>
          <p:cNvCxnSpPr>
            <a:stCxn id="1090" idx="2"/>
            <a:endCxn id="1093" idx="0"/>
          </p:cNvCxnSpPr>
          <p:nvPr/>
        </p:nvCxnSpPr>
        <p:spPr>
          <a:xfrm>
            <a:off x="5634888" y="3454475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69"/>
          <p:cNvCxnSpPr>
            <a:stCxn id="1091" idx="2"/>
            <a:endCxn id="1094" idx="0"/>
          </p:cNvCxnSpPr>
          <p:nvPr/>
        </p:nvCxnSpPr>
        <p:spPr>
          <a:xfrm flipH="1">
            <a:off x="6857143" y="3454475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69"/>
          <p:cNvCxnSpPr>
            <a:stCxn id="1091" idx="2"/>
            <a:endCxn id="1095" idx="0"/>
          </p:cNvCxnSpPr>
          <p:nvPr/>
        </p:nvCxnSpPr>
        <p:spPr>
          <a:xfrm>
            <a:off x="7336843" y="3454475"/>
            <a:ext cx="4641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69"/>
          <p:cNvSpPr/>
          <p:nvPr/>
        </p:nvSpPr>
        <p:spPr>
          <a:xfrm>
            <a:off x="4357757" y="134963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3" name="Google Shape;1103;p69"/>
          <p:cNvCxnSpPr>
            <a:stCxn id="1102" idx="2"/>
            <a:endCxn id="1078" idx="0"/>
          </p:cNvCxnSpPr>
          <p:nvPr/>
        </p:nvCxnSpPr>
        <p:spPr>
          <a:xfrm flipH="1">
            <a:off x="2882657" y="1841636"/>
            <a:ext cx="1785900" cy="39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69"/>
          <p:cNvCxnSpPr>
            <a:stCxn id="1102" idx="2"/>
            <a:endCxn id="1089" idx="0"/>
          </p:cNvCxnSpPr>
          <p:nvPr/>
        </p:nvCxnSpPr>
        <p:spPr>
          <a:xfrm>
            <a:off x="4668557" y="1841636"/>
            <a:ext cx="1817400" cy="41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 Challenge (Hopefully Now Easy)</a:t>
            </a:r>
            <a:endParaRPr/>
          </a:p>
        </p:txBody>
      </p:sp>
      <p:sp>
        <p:nvSpPr>
          <p:cNvPr id="1110" name="Google Shape;1110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k. Two solutions: Either promote g or m to be in the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Below, solution for g is shown.</a:t>
            </a:r>
            <a:endParaRPr/>
          </a:p>
        </p:txBody>
      </p:sp>
      <p:sp>
        <p:nvSpPr>
          <p:cNvPr id="1111" name="Google Shape;1111;p70"/>
          <p:cNvSpPr/>
          <p:nvPr/>
        </p:nvSpPr>
        <p:spPr>
          <a:xfrm>
            <a:off x="2571749" y="2241093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70"/>
          <p:cNvSpPr/>
          <p:nvPr/>
        </p:nvSpPr>
        <p:spPr>
          <a:xfrm>
            <a:off x="1720763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0"/>
          <p:cNvSpPr/>
          <p:nvPr/>
        </p:nvSpPr>
        <p:spPr>
          <a:xfrm>
            <a:off x="3422736" y="2950248"/>
            <a:ext cx="621600" cy="4920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70"/>
          <p:cNvSpPr/>
          <p:nvPr/>
        </p:nvSpPr>
        <p:spPr>
          <a:xfrm>
            <a:off x="1227286" y="3674294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70"/>
          <p:cNvSpPr/>
          <p:nvPr/>
        </p:nvSpPr>
        <p:spPr>
          <a:xfrm>
            <a:off x="2117998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0"/>
          <p:cNvSpPr/>
          <p:nvPr/>
        </p:nvSpPr>
        <p:spPr>
          <a:xfrm>
            <a:off x="2943079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7" name="Google Shape;1117;p70"/>
          <p:cNvCxnSpPr>
            <a:stCxn id="1112" idx="0"/>
            <a:endCxn id="1111" idx="2"/>
          </p:cNvCxnSpPr>
          <p:nvPr/>
        </p:nvCxnSpPr>
        <p:spPr>
          <a:xfrm flipH="1" rot="10800000">
            <a:off x="2031563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70"/>
          <p:cNvCxnSpPr>
            <a:stCxn id="1113" idx="0"/>
            <a:endCxn id="1111" idx="2"/>
          </p:cNvCxnSpPr>
          <p:nvPr/>
        </p:nvCxnSpPr>
        <p:spPr>
          <a:xfrm rot="10800000">
            <a:off x="2882436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70"/>
          <p:cNvCxnSpPr>
            <a:stCxn id="1114" idx="0"/>
            <a:endCxn id="1112" idx="2"/>
          </p:cNvCxnSpPr>
          <p:nvPr/>
        </p:nvCxnSpPr>
        <p:spPr>
          <a:xfrm flipH="1" rot="10800000">
            <a:off x="1538086" y="3442394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70"/>
          <p:cNvCxnSpPr>
            <a:stCxn id="1112" idx="2"/>
            <a:endCxn id="1115" idx="0"/>
          </p:cNvCxnSpPr>
          <p:nvPr/>
        </p:nvCxnSpPr>
        <p:spPr>
          <a:xfrm>
            <a:off x="2031563" y="3442248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70"/>
          <p:cNvCxnSpPr>
            <a:stCxn id="1113" idx="2"/>
            <a:endCxn id="1116" idx="0"/>
          </p:cNvCxnSpPr>
          <p:nvPr/>
        </p:nvCxnSpPr>
        <p:spPr>
          <a:xfrm flipH="1">
            <a:off x="3253836" y="3442248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70"/>
          <p:cNvSpPr/>
          <p:nvPr/>
        </p:nvSpPr>
        <p:spPr>
          <a:xfrm>
            <a:off x="6175065" y="225332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70"/>
          <p:cNvSpPr/>
          <p:nvPr/>
        </p:nvSpPr>
        <p:spPr>
          <a:xfrm>
            <a:off x="5324088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70"/>
          <p:cNvSpPr/>
          <p:nvPr/>
        </p:nvSpPr>
        <p:spPr>
          <a:xfrm>
            <a:off x="7026043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70"/>
          <p:cNvSpPr/>
          <p:nvPr/>
        </p:nvSpPr>
        <p:spPr>
          <a:xfrm>
            <a:off x="4830615" y="3686511"/>
            <a:ext cx="621600" cy="4920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70"/>
          <p:cNvSpPr/>
          <p:nvPr/>
        </p:nvSpPr>
        <p:spPr>
          <a:xfrm>
            <a:off x="5721318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70"/>
          <p:cNvSpPr/>
          <p:nvPr/>
        </p:nvSpPr>
        <p:spPr>
          <a:xfrm>
            <a:off x="6546391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70"/>
          <p:cNvSpPr/>
          <p:nvPr/>
        </p:nvSpPr>
        <p:spPr>
          <a:xfrm>
            <a:off x="7489993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9" name="Google Shape;1129;p70"/>
          <p:cNvCxnSpPr>
            <a:stCxn id="1123" idx="0"/>
            <a:endCxn id="1122" idx="2"/>
          </p:cNvCxnSpPr>
          <p:nvPr/>
        </p:nvCxnSpPr>
        <p:spPr>
          <a:xfrm flipH="1" rot="10800000">
            <a:off x="5634888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70"/>
          <p:cNvCxnSpPr>
            <a:stCxn id="1124" idx="0"/>
            <a:endCxn id="1122" idx="2"/>
          </p:cNvCxnSpPr>
          <p:nvPr/>
        </p:nvCxnSpPr>
        <p:spPr>
          <a:xfrm rot="10800000">
            <a:off x="6485743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70"/>
          <p:cNvCxnSpPr>
            <a:stCxn id="1125" idx="0"/>
            <a:endCxn id="1123" idx="2"/>
          </p:cNvCxnSpPr>
          <p:nvPr/>
        </p:nvCxnSpPr>
        <p:spPr>
          <a:xfrm flipH="1" rot="10800000">
            <a:off x="5141415" y="3454611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70"/>
          <p:cNvCxnSpPr>
            <a:stCxn id="1123" idx="2"/>
            <a:endCxn id="1126" idx="0"/>
          </p:cNvCxnSpPr>
          <p:nvPr/>
        </p:nvCxnSpPr>
        <p:spPr>
          <a:xfrm>
            <a:off x="5634888" y="3454475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70"/>
          <p:cNvCxnSpPr>
            <a:stCxn id="1124" idx="2"/>
            <a:endCxn id="1127" idx="0"/>
          </p:cNvCxnSpPr>
          <p:nvPr/>
        </p:nvCxnSpPr>
        <p:spPr>
          <a:xfrm flipH="1">
            <a:off x="6857143" y="3454475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4" name="Google Shape;1134;p70"/>
          <p:cNvCxnSpPr>
            <a:stCxn id="1124" idx="2"/>
            <a:endCxn id="1128" idx="0"/>
          </p:cNvCxnSpPr>
          <p:nvPr/>
        </p:nvCxnSpPr>
        <p:spPr>
          <a:xfrm>
            <a:off x="7336843" y="3454475"/>
            <a:ext cx="4641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70"/>
          <p:cNvSpPr/>
          <p:nvPr/>
        </p:nvSpPr>
        <p:spPr>
          <a:xfrm>
            <a:off x="4357757" y="134963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k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6" name="Google Shape;1136;p70"/>
          <p:cNvCxnSpPr>
            <a:stCxn id="1135" idx="2"/>
            <a:endCxn id="1111" idx="0"/>
          </p:cNvCxnSpPr>
          <p:nvPr/>
        </p:nvCxnSpPr>
        <p:spPr>
          <a:xfrm flipH="1">
            <a:off x="2882657" y="1841636"/>
            <a:ext cx="1785900" cy="39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0"/>
          <p:cNvCxnSpPr>
            <a:stCxn id="1135" idx="2"/>
            <a:endCxn id="1122" idx="0"/>
          </p:cNvCxnSpPr>
          <p:nvPr/>
        </p:nvCxnSpPr>
        <p:spPr>
          <a:xfrm>
            <a:off x="4668557" y="1841636"/>
            <a:ext cx="1817400" cy="41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2" name="Google Shape;1142;p71"/>
          <p:cNvCxnSpPr>
            <a:stCxn id="1143" idx="2"/>
            <a:endCxn id="1144" idx="0"/>
          </p:cNvCxnSpPr>
          <p:nvPr/>
        </p:nvCxnSpPr>
        <p:spPr>
          <a:xfrm flipH="1">
            <a:off x="2882549" y="1841493"/>
            <a:ext cx="1785900" cy="39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1"/>
          <p:cNvCxnSpPr>
            <a:stCxn id="1143" idx="2"/>
            <a:endCxn id="1146" idx="0"/>
          </p:cNvCxnSpPr>
          <p:nvPr/>
        </p:nvCxnSpPr>
        <p:spPr>
          <a:xfrm>
            <a:off x="4668465" y="1841729"/>
            <a:ext cx="1817400" cy="411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7" name="Google Shape;1147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 Challenge (Hopefully Now Easy)</a:t>
            </a:r>
            <a:endParaRPr/>
          </a:p>
        </p:txBody>
      </p:sp>
      <p:sp>
        <p:nvSpPr>
          <p:cNvPr id="1148" name="Google Shape;1148;p7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solutions: Either promote g or m to be in the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Below, solution for g is shown.</a:t>
            </a:r>
            <a:endParaRPr/>
          </a:p>
        </p:txBody>
      </p:sp>
      <p:sp>
        <p:nvSpPr>
          <p:cNvPr id="1144" name="Google Shape;1144;p71"/>
          <p:cNvSpPr/>
          <p:nvPr/>
        </p:nvSpPr>
        <p:spPr>
          <a:xfrm>
            <a:off x="2571749" y="2241093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1"/>
          <p:cNvSpPr/>
          <p:nvPr/>
        </p:nvSpPr>
        <p:spPr>
          <a:xfrm>
            <a:off x="1720763" y="2950248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b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71"/>
          <p:cNvSpPr/>
          <p:nvPr/>
        </p:nvSpPr>
        <p:spPr>
          <a:xfrm>
            <a:off x="4353861" y="132498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71"/>
          <p:cNvSpPr/>
          <p:nvPr/>
        </p:nvSpPr>
        <p:spPr>
          <a:xfrm>
            <a:off x="1227286" y="3674294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71"/>
          <p:cNvSpPr/>
          <p:nvPr/>
        </p:nvSpPr>
        <p:spPr>
          <a:xfrm>
            <a:off x="2117998" y="36853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71"/>
          <p:cNvSpPr/>
          <p:nvPr/>
        </p:nvSpPr>
        <p:spPr>
          <a:xfrm>
            <a:off x="3193354" y="296320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f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4" name="Google Shape;1154;p71"/>
          <p:cNvCxnSpPr>
            <a:stCxn id="1149" idx="0"/>
            <a:endCxn id="1144" idx="2"/>
          </p:cNvCxnSpPr>
          <p:nvPr/>
        </p:nvCxnSpPr>
        <p:spPr>
          <a:xfrm flipH="1" rot="10800000">
            <a:off x="2031563" y="2733048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5" name="Google Shape;1155;p71"/>
          <p:cNvCxnSpPr>
            <a:stCxn id="1151" idx="0"/>
            <a:endCxn id="1149" idx="2"/>
          </p:cNvCxnSpPr>
          <p:nvPr/>
        </p:nvCxnSpPr>
        <p:spPr>
          <a:xfrm flipH="1" rot="10800000">
            <a:off x="1538086" y="3442394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71"/>
          <p:cNvCxnSpPr>
            <a:stCxn id="1149" idx="2"/>
            <a:endCxn id="1152" idx="0"/>
          </p:cNvCxnSpPr>
          <p:nvPr/>
        </p:nvCxnSpPr>
        <p:spPr>
          <a:xfrm>
            <a:off x="2031563" y="3442248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71"/>
          <p:cNvSpPr/>
          <p:nvPr/>
        </p:nvSpPr>
        <p:spPr>
          <a:xfrm>
            <a:off x="6175065" y="2253329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v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71"/>
          <p:cNvSpPr/>
          <p:nvPr/>
        </p:nvSpPr>
        <p:spPr>
          <a:xfrm>
            <a:off x="5324088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71"/>
          <p:cNvSpPr/>
          <p:nvPr/>
        </p:nvSpPr>
        <p:spPr>
          <a:xfrm>
            <a:off x="7026043" y="2962475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71"/>
          <p:cNvSpPr/>
          <p:nvPr/>
        </p:nvSpPr>
        <p:spPr>
          <a:xfrm>
            <a:off x="4830615" y="3686511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71"/>
          <p:cNvSpPr/>
          <p:nvPr/>
        </p:nvSpPr>
        <p:spPr>
          <a:xfrm>
            <a:off x="5721318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r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71"/>
          <p:cNvSpPr/>
          <p:nvPr/>
        </p:nvSpPr>
        <p:spPr>
          <a:xfrm>
            <a:off x="6546391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71"/>
          <p:cNvSpPr/>
          <p:nvPr/>
        </p:nvSpPr>
        <p:spPr>
          <a:xfrm>
            <a:off x="7489993" y="3697526"/>
            <a:ext cx="621600" cy="4920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3" name="Google Shape;1163;p71"/>
          <p:cNvCxnSpPr>
            <a:stCxn id="1157" idx="0"/>
            <a:endCxn id="1146" idx="2"/>
          </p:cNvCxnSpPr>
          <p:nvPr/>
        </p:nvCxnSpPr>
        <p:spPr>
          <a:xfrm flipH="1" rot="10800000">
            <a:off x="5634888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71"/>
          <p:cNvCxnSpPr>
            <a:stCxn id="1158" idx="0"/>
            <a:endCxn id="1146" idx="2"/>
          </p:cNvCxnSpPr>
          <p:nvPr/>
        </p:nvCxnSpPr>
        <p:spPr>
          <a:xfrm rot="10800000">
            <a:off x="6485743" y="2745275"/>
            <a:ext cx="851100" cy="217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5" name="Google Shape;1165;p71"/>
          <p:cNvCxnSpPr>
            <a:stCxn id="1159" idx="0"/>
            <a:endCxn id="1157" idx="2"/>
          </p:cNvCxnSpPr>
          <p:nvPr/>
        </p:nvCxnSpPr>
        <p:spPr>
          <a:xfrm flipH="1" rot="10800000">
            <a:off x="5141415" y="3454611"/>
            <a:ext cx="493500" cy="23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71"/>
          <p:cNvCxnSpPr>
            <a:stCxn id="1157" idx="2"/>
            <a:endCxn id="1160" idx="0"/>
          </p:cNvCxnSpPr>
          <p:nvPr/>
        </p:nvCxnSpPr>
        <p:spPr>
          <a:xfrm>
            <a:off x="5634888" y="3454475"/>
            <a:ext cx="3972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71"/>
          <p:cNvCxnSpPr>
            <a:stCxn id="1158" idx="2"/>
            <a:endCxn id="1161" idx="0"/>
          </p:cNvCxnSpPr>
          <p:nvPr/>
        </p:nvCxnSpPr>
        <p:spPr>
          <a:xfrm flipH="1">
            <a:off x="6857143" y="3454475"/>
            <a:ext cx="4797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71"/>
          <p:cNvCxnSpPr>
            <a:stCxn id="1158" idx="2"/>
            <a:endCxn id="1162" idx="0"/>
          </p:cNvCxnSpPr>
          <p:nvPr/>
        </p:nvCxnSpPr>
        <p:spPr>
          <a:xfrm>
            <a:off x="7336843" y="3454475"/>
            <a:ext cx="464100" cy="24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71"/>
          <p:cNvCxnSpPr>
            <a:stCxn id="1144" idx="2"/>
            <a:endCxn id="1153" idx="0"/>
          </p:cNvCxnSpPr>
          <p:nvPr/>
        </p:nvCxnSpPr>
        <p:spPr>
          <a:xfrm>
            <a:off x="2882549" y="2733093"/>
            <a:ext cx="621600" cy="230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Sets and Maps (are the same thing)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BST Implementation Tips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75" name="Google Shape;1175;p7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and Maps (are the same thing)</a:t>
            </a:r>
            <a:endParaRPr/>
          </a:p>
        </p:txBody>
      </p:sp>
      <p:sp>
        <p:nvSpPr>
          <p:cNvPr id="1176" name="Google Shape;1176;p7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vs. Maps</a:t>
            </a:r>
            <a:endParaRPr/>
          </a:p>
        </p:txBody>
      </p:sp>
      <p:sp>
        <p:nvSpPr>
          <p:cNvPr id="1182" name="Google Shape;1182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think of the BST below as representing a Set: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{mo, no, sumomo, uchi, momo}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3" name="Google Shape;1183;p73"/>
          <p:cNvCxnSpPr>
            <a:stCxn id="1184" idx="0"/>
          </p:cNvCxnSpPr>
          <p:nvPr/>
        </p:nvCxnSpPr>
        <p:spPr>
          <a:xfrm flipH="1" rot="10800000">
            <a:off x="2194653" y="2482075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5" name="Google Shape;1185;p73"/>
          <p:cNvCxnSpPr>
            <a:endCxn id="1186" idx="0"/>
          </p:cNvCxnSpPr>
          <p:nvPr/>
        </p:nvCxnSpPr>
        <p:spPr>
          <a:xfrm>
            <a:off x="3304068" y="2533075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73"/>
          <p:cNvCxnSpPr>
            <a:stCxn id="1188" idx="1"/>
            <a:endCxn id="1189" idx="0"/>
          </p:cNvCxnSpPr>
          <p:nvPr/>
        </p:nvCxnSpPr>
        <p:spPr>
          <a:xfrm flipH="1">
            <a:off x="2891719" y="1795425"/>
            <a:ext cx="10596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0" name="Google Shape;1190;p73"/>
          <p:cNvCxnSpPr>
            <a:stCxn id="1188" idx="3"/>
            <a:endCxn id="1191" idx="0"/>
          </p:cNvCxnSpPr>
          <p:nvPr/>
        </p:nvCxnSpPr>
        <p:spPr>
          <a:xfrm>
            <a:off x="5049919" y="1795425"/>
            <a:ext cx="1136100" cy="35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8" name="Google Shape;1188;p73"/>
          <p:cNvSpPr/>
          <p:nvPr/>
        </p:nvSpPr>
        <p:spPr>
          <a:xfrm>
            <a:off x="3951319" y="154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sumomo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73"/>
          <p:cNvSpPr/>
          <p:nvPr/>
        </p:nvSpPr>
        <p:spPr>
          <a:xfrm>
            <a:off x="2342410" y="21192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73"/>
          <p:cNvSpPr/>
          <p:nvPr/>
        </p:nvSpPr>
        <p:spPr>
          <a:xfrm>
            <a:off x="1645353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73"/>
          <p:cNvSpPr/>
          <p:nvPr/>
        </p:nvSpPr>
        <p:spPr>
          <a:xfrm>
            <a:off x="3039468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73"/>
          <p:cNvSpPr/>
          <p:nvPr/>
        </p:nvSpPr>
        <p:spPr>
          <a:xfrm>
            <a:off x="5636784" y="2149671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uchi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2" name="Google Shape;1192;p73"/>
          <p:cNvGraphicFramePr/>
          <p:nvPr/>
        </p:nvGraphicFramePr>
        <p:xfrm>
          <a:off x="7594725" y="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{A8ECBA62-D5AE-4AF2-B8BC-2D97442E8694}</a:tableStyleId>
              </a:tblPr>
              <a:tblGrid>
                <a:gridCol w="969775"/>
              </a:tblGrid>
              <a:tr h="37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uchi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3" name="Google Shape;1193;p73"/>
          <p:cNvSpPr/>
          <p:nvPr/>
        </p:nvSpPr>
        <p:spPr>
          <a:xfrm>
            <a:off x="7274025" y="792624"/>
            <a:ext cx="180300" cy="192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73"/>
          <p:cNvSpPr/>
          <p:nvPr/>
        </p:nvSpPr>
        <p:spPr>
          <a:xfrm>
            <a:off x="6752375" y="1470300"/>
            <a:ext cx="170700" cy="1872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5" name="Google Shape;1195;p73"/>
          <p:cNvCxnSpPr>
            <a:stCxn id="1194" idx="1"/>
            <a:endCxn id="1193" idx="1"/>
          </p:cNvCxnSpPr>
          <p:nvPr/>
        </p:nvCxnSpPr>
        <p:spPr>
          <a:xfrm flipH="1" rot="10800000">
            <a:off x="6923075" y="1753500"/>
            <a:ext cx="351000" cy="65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196" name="Google Shape;11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0775" y="1753503"/>
            <a:ext cx="1592350" cy="8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954" y="2149675"/>
            <a:ext cx="379455" cy="1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2556" y="2119284"/>
            <a:ext cx="180300" cy="357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vs. Maps</a:t>
            </a:r>
            <a:endParaRPr/>
          </a:p>
        </p:txBody>
      </p:sp>
      <p:sp>
        <p:nvSpPr>
          <p:cNvPr id="1204" name="Google Shape;1204;p7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think of the BST below as representing a Set: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{mo, no, sumomo, uchi, momo}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what if we wanted to represent a mapping of word counts?</a:t>
            </a:r>
            <a:endParaRPr/>
          </a:p>
        </p:txBody>
      </p:sp>
      <p:cxnSp>
        <p:nvCxnSpPr>
          <p:cNvPr id="1205" name="Google Shape;1205;p74"/>
          <p:cNvCxnSpPr>
            <a:stCxn id="1206" idx="0"/>
          </p:cNvCxnSpPr>
          <p:nvPr/>
        </p:nvCxnSpPr>
        <p:spPr>
          <a:xfrm flipH="1" rot="10800000">
            <a:off x="2194653" y="2482075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07" name="Google Shape;1207;p74"/>
          <p:cNvCxnSpPr>
            <a:endCxn id="1208" idx="0"/>
          </p:cNvCxnSpPr>
          <p:nvPr/>
        </p:nvCxnSpPr>
        <p:spPr>
          <a:xfrm>
            <a:off x="3304068" y="2533075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74"/>
          <p:cNvCxnSpPr>
            <a:stCxn id="1210" idx="1"/>
            <a:endCxn id="1211" idx="0"/>
          </p:cNvCxnSpPr>
          <p:nvPr/>
        </p:nvCxnSpPr>
        <p:spPr>
          <a:xfrm flipH="1">
            <a:off x="2891719" y="1795425"/>
            <a:ext cx="10596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74"/>
          <p:cNvCxnSpPr>
            <a:stCxn id="1210" idx="3"/>
            <a:endCxn id="1213" idx="0"/>
          </p:cNvCxnSpPr>
          <p:nvPr/>
        </p:nvCxnSpPr>
        <p:spPr>
          <a:xfrm>
            <a:off x="5049919" y="1795425"/>
            <a:ext cx="1136100" cy="35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74"/>
          <p:cNvSpPr/>
          <p:nvPr/>
        </p:nvSpPr>
        <p:spPr>
          <a:xfrm>
            <a:off x="3951319" y="154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sumomo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74"/>
          <p:cNvSpPr/>
          <p:nvPr/>
        </p:nvSpPr>
        <p:spPr>
          <a:xfrm>
            <a:off x="2342410" y="21192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74"/>
          <p:cNvSpPr/>
          <p:nvPr/>
        </p:nvSpPr>
        <p:spPr>
          <a:xfrm>
            <a:off x="1645353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74"/>
          <p:cNvSpPr/>
          <p:nvPr/>
        </p:nvSpPr>
        <p:spPr>
          <a:xfrm>
            <a:off x="3039468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74"/>
          <p:cNvSpPr/>
          <p:nvPr/>
        </p:nvSpPr>
        <p:spPr>
          <a:xfrm>
            <a:off x="5636784" y="2149671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uchi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4" name="Google Shape;1214;p74"/>
          <p:cNvGraphicFramePr/>
          <p:nvPr/>
        </p:nvGraphicFramePr>
        <p:xfrm>
          <a:off x="7594725" y="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{A8ECBA62-D5AE-4AF2-B8BC-2D97442E8694}</a:tableStyleId>
              </a:tblPr>
              <a:tblGrid>
                <a:gridCol w="969775"/>
              </a:tblGrid>
              <a:tr h="37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uchi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5" name="Google Shape;1215;p74"/>
          <p:cNvGraphicFramePr/>
          <p:nvPr/>
        </p:nvGraphicFramePr>
        <p:xfrm>
          <a:off x="7366125" y="305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{A8ECBA62-D5AE-4AF2-B8BC-2D97442E8694}</a:tableStyleId>
              </a:tblPr>
              <a:tblGrid>
                <a:gridCol w="969775"/>
                <a:gridCol w="414025"/>
              </a:tblGrid>
              <a:tr h="37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uchi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16" name="Google Shape;1216;p74"/>
          <p:cNvSpPr/>
          <p:nvPr/>
        </p:nvSpPr>
        <p:spPr>
          <a:xfrm>
            <a:off x="7274025" y="792624"/>
            <a:ext cx="180300" cy="192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74"/>
          <p:cNvSpPr/>
          <p:nvPr/>
        </p:nvSpPr>
        <p:spPr>
          <a:xfrm>
            <a:off x="6752375" y="1470300"/>
            <a:ext cx="170700" cy="1872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18" name="Google Shape;1218;p74"/>
          <p:cNvCxnSpPr>
            <a:stCxn id="1217" idx="1"/>
            <a:endCxn id="1216" idx="1"/>
          </p:cNvCxnSpPr>
          <p:nvPr/>
        </p:nvCxnSpPr>
        <p:spPr>
          <a:xfrm flipH="1" rot="10800000">
            <a:off x="6923075" y="1753500"/>
            <a:ext cx="351000" cy="65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219" name="Google Shape;121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0775" y="1753503"/>
            <a:ext cx="1592350" cy="89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556" y="2119284"/>
            <a:ext cx="180300" cy="357191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74"/>
          <p:cNvSpPr/>
          <p:nvPr/>
        </p:nvSpPr>
        <p:spPr>
          <a:xfrm>
            <a:off x="7054450" y="3077899"/>
            <a:ext cx="180300" cy="192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2" name="Google Shape;1222;p74"/>
          <p:cNvCxnSpPr>
            <a:stCxn id="1223" idx="1"/>
            <a:endCxn id="1221" idx="1"/>
          </p:cNvCxnSpPr>
          <p:nvPr/>
        </p:nvCxnSpPr>
        <p:spPr>
          <a:xfrm flipH="1" rot="10800000">
            <a:off x="6605375" y="4038675"/>
            <a:ext cx="449100" cy="36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23" name="Google Shape;1223;p74"/>
          <p:cNvSpPr/>
          <p:nvPr/>
        </p:nvSpPr>
        <p:spPr>
          <a:xfrm>
            <a:off x="6434675" y="4012425"/>
            <a:ext cx="170700" cy="7881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74"/>
          <p:cNvSpPr txBox="1"/>
          <p:nvPr/>
        </p:nvSpPr>
        <p:spPr>
          <a:xfrm>
            <a:off x="5819550" y="4178175"/>
            <a:ext cx="1248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????</a:t>
            </a:r>
            <a:endParaRPr/>
          </a:p>
        </p:txBody>
      </p:sp>
      <p:pic>
        <p:nvPicPr>
          <p:cNvPr id="1225" name="Google Shape;122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954" y="2149675"/>
            <a:ext cx="379455" cy="13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Sets vs. Maps</a:t>
            </a:r>
            <a:endParaRPr/>
          </a:p>
        </p:txBody>
      </p:sp>
      <p:sp>
        <p:nvSpPr>
          <p:cNvPr id="1231" name="Google Shape;1231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represent maps, just have each BST node store key/value pairs.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No efficient way to look up by value.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Cannot find all the keys with value = 1 without iterating over ALL nodes. This is fine.</a:t>
            </a:r>
            <a:endParaRPr/>
          </a:p>
        </p:txBody>
      </p:sp>
      <p:cxnSp>
        <p:nvCxnSpPr>
          <p:cNvPr id="1232" name="Google Shape;1232;p75"/>
          <p:cNvCxnSpPr>
            <a:stCxn id="1233" idx="0"/>
          </p:cNvCxnSpPr>
          <p:nvPr/>
        </p:nvCxnSpPr>
        <p:spPr>
          <a:xfrm flipH="1" rot="10800000">
            <a:off x="2194653" y="2482075"/>
            <a:ext cx="368400" cy="335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4" name="Google Shape;1234;p75"/>
          <p:cNvCxnSpPr>
            <a:endCxn id="1235" idx="0"/>
          </p:cNvCxnSpPr>
          <p:nvPr/>
        </p:nvCxnSpPr>
        <p:spPr>
          <a:xfrm>
            <a:off x="3304068" y="2533075"/>
            <a:ext cx="284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75"/>
          <p:cNvCxnSpPr>
            <a:stCxn id="1237" idx="1"/>
            <a:endCxn id="1238" idx="0"/>
          </p:cNvCxnSpPr>
          <p:nvPr/>
        </p:nvCxnSpPr>
        <p:spPr>
          <a:xfrm flipH="1">
            <a:off x="2914112" y="1795425"/>
            <a:ext cx="897900" cy="324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9" name="Google Shape;1239;p75"/>
          <p:cNvCxnSpPr>
            <a:stCxn id="1237" idx="3"/>
            <a:endCxn id="1240" idx="0"/>
          </p:cNvCxnSpPr>
          <p:nvPr/>
        </p:nvCxnSpPr>
        <p:spPr>
          <a:xfrm>
            <a:off x="5240912" y="1795425"/>
            <a:ext cx="945300" cy="354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7" name="Google Shape;1237;p75"/>
          <p:cNvSpPr/>
          <p:nvPr/>
        </p:nvSpPr>
        <p:spPr>
          <a:xfrm>
            <a:off x="3812012" y="1547775"/>
            <a:ext cx="14289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umomo    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75"/>
          <p:cNvSpPr/>
          <p:nvPr/>
        </p:nvSpPr>
        <p:spPr>
          <a:xfrm>
            <a:off x="2342400" y="2119275"/>
            <a:ext cx="1143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omo 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75"/>
          <p:cNvSpPr/>
          <p:nvPr/>
        </p:nvSpPr>
        <p:spPr>
          <a:xfrm>
            <a:off x="1645353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      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75"/>
          <p:cNvSpPr/>
          <p:nvPr/>
        </p:nvSpPr>
        <p:spPr>
          <a:xfrm>
            <a:off x="3039468" y="2817775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o      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75"/>
          <p:cNvSpPr/>
          <p:nvPr/>
        </p:nvSpPr>
        <p:spPr>
          <a:xfrm>
            <a:off x="5636784" y="2149671"/>
            <a:ext cx="1098600" cy="495300"/>
          </a:xfrm>
          <a:prstGeom prst="rect">
            <a:avLst/>
          </a:prstGeom>
          <a:solidFill>
            <a:srgbClr val="B1DD8B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chi      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1" name="Google Shape;1241;p75"/>
          <p:cNvGraphicFramePr/>
          <p:nvPr/>
        </p:nvGraphicFramePr>
        <p:xfrm>
          <a:off x="7566000" y="77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{A8ECBA62-D5AE-4AF2-B8BC-2D97442E8694}</a:tableStyleId>
              </a:tblPr>
              <a:tblGrid>
                <a:gridCol w="969775"/>
                <a:gridCol w="414025"/>
              </a:tblGrid>
              <a:tr h="37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momo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uchi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2" name="Google Shape;1242;p75"/>
          <p:cNvSpPr/>
          <p:nvPr/>
        </p:nvSpPr>
        <p:spPr>
          <a:xfrm>
            <a:off x="7274025" y="792624"/>
            <a:ext cx="180300" cy="1921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5"/>
          <p:cNvSpPr/>
          <p:nvPr/>
        </p:nvSpPr>
        <p:spPr>
          <a:xfrm>
            <a:off x="6752375" y="1470300"/>
            <a:ext cx="170700" cy="1872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4" name="Google Shape;1244;p75"/>
          <p:cNvCxnSpPr>
            <a:stCxn id="1243" idx="1"/>
            <a:endCxn id="1242" idx="1"/>
          </p:cNvCxnSpPr>
          <p:nvPr/>
        </p:nvCxnSpPr>
        <p:spPr>
          <a:xfrm flipH="1" rot="10800000">
            <a:off x="6923075" y="1753500"/>
            <a:ext cx="351000" cy="652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1245" name="Google Shape;124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00775" y="1753503"/>
            <a:ext cx="1592350" cy="89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6" name="Google Shape;1246;p75"/>
          <p:cNvCxnSpPr/>
          <p:nvPr/>
        </p:nvCxnSpPr>
        <p:spPr>
          <a:xfrm rot="10800000">
            <a:off x="4880225" y="1550475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7" name="Google Shape;1247;p75"/>
          <p:cNvCxnSpPr/>
          <p:nvPr/>
        </p:nvCxnSpPr>
        <p:spPr>
          <a:xfrm rot="10800000">
            <a:off x="3162276" y="2120775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75"/>
          <p:cNvCxnSpPr/>
          <p:nvPr/>
        </p:nvCxnSpPr>
        <p:spPr>
          <a:xfrm rot="10800000">
            <a:off x="2276225" y="2820748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75"/>
          <p:cNvCxnSpPr/>
          <p:nvPr/>
        </p:nvCxnSpPr>
        <p:spPr>
          <a:xfrm rot="10800000">
            <a:off x="3644402" y="2820748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0" name="Google Shape;1250;p75"/>
          <p:cNvCxnSpPr/>
          <p:nvPr/>
        </p:nvCxnSpPr>
        <p:spPr>
          <a:xfrm rot="10800000">
            <a:off x="6327101" y="2160148"/>
            <a:ext cx="0" cy="492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51" name="Google Shape;125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5951" y="2119274"/>
            <a:ext cx="238548" cy="3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625" y="2150398"/>
            <a:ext cx="412150" cy="14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258" name="Google Shape;1258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Abstract data types (</a:t>
            </a:r>
            <a:r>
              <a:rPr lang="en"/>
              <a:t>ADT</a:t>
            </a:r>
            <a:r>
              <a:rPr lang="en"/>
              <a:t>s</a:t>
            </a:r>
            <a:r>
              <a:rPr lang="en"/>
              <a:t>) are defined in terms of operations, not implementation.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Several useful ADTs: Disjoint Sets, Map, Set, List.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 provides Map, Set, List interfaces, along with several implementations.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We’ve seen two ways to implement a Set (or Map): ArraySet and using a BST.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ArraySet: Θ(N) operations in the worst case.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BST: Θ(log N) operations in the worst case if tree is balanced.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BST Implementations: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and insert are straightforward (but insert is a little tricky).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Deletion is more challenging. Typical approach is “Hibbard deletion”.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7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Abstract Data Types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Binary Search Trees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Derivation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Definition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contains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Insert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</a:pPr>
            <a:r>
              <a:rPr lang="en">
                <a:solidFill>
                  <a:schemeClr val="dk2"/>
                </a:solidFill>
              </a:rPr>
              <a:t>Hibbard deletion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Sets and Maps (are the same thing)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BST Implementation Tips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7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Implementation Tips</a:t>
            </a:r>
            <a:endParaRPr/>
          </a:p>
        </p:txBody>
      </p:sp>
      <p:sp>
        <p:nvSpPr>
          <p:cNvPr id="1265" name="Google Shape;1265;p7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16, CS61B, Fall 2023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78"/>
          <p:cNvSpPr txBox="1"/>
          <p:nvPr/>
        </p:nvSpPr>
        <p:spPr>
          <a:xfrm>
            <a:off x="166800" y="2672225"/>
            <a:ext cx="4917000" cy="239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 insert(BST T, Key ik)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 == null)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BST(ik);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(ik ≺ T.label()))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T.left = insert(T.left, ik);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else 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(ik ≻ T.label())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T.right = insert(T.right, ik);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271" name="Google Shape;1271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for BST Lab</a:t>
            </a:r>
            <a:endParaRPr/>
          </a:p>
        </p:txBody>
      </p:sp>
      <p:sp>
        <p:nvSpPr>
          <p:cNvPr id="1272" name="Google Shape;1272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from class was “naked recursion”. Your BSTMap will not be.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each public method,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put(K key, V value)</a:t>
            </a:r>
            <a:r>
              <a:rPr lang="en"/>
              <a:t>, create a private recursive method,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put(K key, V value, Node 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/>
              <a:t>When inserting, always set left/right pointers, even if nothing is actually changing.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Avoid “arms length base cases”. Don’t check if left or right is null!</a:t>
            </a:r>
            <a:endParaRPr/>
          </a:p>
        </p:txBody>
      </p:sp>
      <p:cxnSp>
        <p:nvCxnSpPr>
          <p:cNvPr id="1273" name="Google Shape;1273;p78"/>
          <p:cNvCxnSpPr/>
          <p:nvPr/>
        </p:nvCxnSpPr>
        <p:spPr>
          <a:xfrm rot="10800000">
            <a:off x="2176350" y="4529625"/>
            <a:ext cx="300600" cy="1737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4" name="Google Shape;1274;p78"/>
          <p:cNvSpPr txBox="1"/>
          <p:nvPr/>
        </p:nvSpPr>
        <p:spPr>
          <a:xfrm>
            <a:off x="2512494" y="4525407"/>
            <a:ext cx="1742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Always set, even if nothing changes!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1275" name="Google Shape;1275;p78"/>
          <p:cNvSpPr txBox="1"/>
          <p:nvPr/>
        </p:nvSpPr>
        <p:spPr>
          <a:xfrm>
            <a:off x="5178232" y="3399421"/>
            <a:ext cx="39405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Avoid “arms length base cases”.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1276" name="Google Shape;1276;p78"/>
          <p:cNvSpPr txBox="1"/>
          <p:nvPr/>
        </p:nvSpPr>
        <p:spPr>
          <a:xfrm>
            <a:off x="5214052" y="3742237"/>
            <a:ext cx="3821700" cy="135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if (T.left ==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T.left = new BST(ik);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else if (T.right ==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T.right = </a:t>
            </a: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BST(ik);</a:t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