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92.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84.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91.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82.xml"/>
  <Override ContentType="application/vnd.openxmlformats-officedocument.presentationml.notesSlide+xml" PartName="/ppt/notesSlides/notesSlide85.xml"/>
  <Override ContentType="application/vnd.openxmlformats-officedocument.presentationml.notesSlide+xml" PartName="/ppt/notesSlides/notesSlide16.xml"/>
  <Override ContentType="application/vnd.openxmlformats-officedocument.presentationml.notesSlide+xml" PartName="/ppt/notesSlides/notesSlide94.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77.xml"/>
  <Override ContentType="application/vnd.openxmlformats-officedocument.presentationml.notesSlide+xml" PartName="/ppt/notesSlides/notesSlide90.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86.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93.xml"/>
  <Override ContentType="application/vnd.openxmlformats-officedocument.presentationml.notesSlide+xml" PartName="/ppt/notesSlides/notesSlide87.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89.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83.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94.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84.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79.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83.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90.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93.xml"/>
  <Override ContentType="application/vnd.openxmlformats-officedocument.presentationml.slide+xml" PartName="/ppt/slides/slide80.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91.xml"/>
  <Override ContentType="application/vnd.openxmlformats-officedocument.presentationml.slide+xml" PartName="/ppt/slides/slide31.xml"/>
  <Override ContentType="application/vnd.openxmlformats-officedocument.presentationml.slide+xml" PartName="/ppt/slides/slide87.xml"/>
  <Override ContentType="application/vnd.openxmlformats-officedocument.presentationml.slide+xml" PartName="/ppt/slides/slide74.xml"/>
  <Override ContentType="application/vnd.openxmlformats-officedocument.presentationml.slide+xml" PartName="/ppt/slides/slide88.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slide+xml" PartName="/ppt/slides/slide92.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Lst>
  <p:sldSz cy="5143500" cx="9144000"/>
  <p:notesSz cx="6858000" cy="9144000"/>
  <p:embeddedFontLst>
    <p:embeddedFont>
      <p:font typeface="Roboto Medium"/>
      <p:regular r:id="rId100"/>
      <p:bold r:id="rId101"/>
      <p:italic r:id="rId102"/>
      <p:boldItalic r:id="rId103"/>
    </p:embeddedFont>
    <p:embeddedFont>
      <p:font typeface="Roboto"/>
      <p:regular r:id="rId104"/>
      <p:bold r:id="rId105"/>
      <p:italic r:id="rId106"/>
      <p:boldItalic r:id="rId107"/>
    </p:embeddedFont>
    <p:embeddedFont>
      <p:font typeface="Roboto Light"/>
      <p:regular r:id="rId108"/>
      <p:bold r:id="rId109"/>
      <p:italic r:id="rId110"/>
      <p:boldItalic r:id="rId11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55F59F9-F03C-4897-888D-DC2DF699074A}">
  <a:tblStyle styleId="{C55F59F9-F03C-4897-888D-DC2DF699074A}" styleName="Table_0">
    <a:wholeTbl>
      <a:tcTxStyle>
        <a:font>
          <a:latin typeface="Arial"/>
          <a:ea typeface="Arial"/>
          <a:cs typeface="Arial"/>
        </a:font>
        <a:srgbClr val="000000"/>
      </a:tcTxStyle>
      <a:tcStyle>
        <a:tcBdr>
          <a:left>
            <a:ln cap="flat" cmpd="sng" w="9525">
              <a:solidFill>
                <a:srgbClr val="000000"/>
              </a:solidFill>
              <a:prstDash val="solid"/>
              <a:round/>
              <a:headEnd len="sm" w="sm" type="none"/>
              <a:tailEnd len="sm" w="sm" type="none"/>
            </a:ln>
          </a:left>
          <a:right>
            <a:ln cap="flat" cmpd="sng" w="9525">
              <a:solidFill>
                <a:srgbClr val="000000"/>
              </a:solidFill>
              <a:prstDash val="solid"/>
              <a:round/>
              <a:headEnd len="sm" w="sm" type="none"/>
              <a:tailEnd len="sm" w="sm" type="none"/>
            </a:ln>
          </a:right>
          <a:top>
            <a:ln cap="flat" cmpd="sng" w="9525">
              <a:solidFill>
                <a:srgbClr val="000000"/>
              </a:solidFill>
              <a:prstDash val="solid"/>
              <a:round/>
              <a:headEnd len="sm" w="sm" type="none"/>
              <a:tailEnd len="sm" w="sm" type="none"/>
            </a:ln>
          </a:top>
          <a:bottom>
            <a:ln cap="flat" cmpd="sng" w="9525">
              <a:solidFill>
                <a:srgbClr val="000000"/>
              </a:solidFill>
              <a:prstDash val="solid"/>
              <a:round/>
              <a:headEnd len="sm" w="sm" type="none"/>
              <a:tailEnd len="sm" w="sm" type="none"/>
            </a:ln>
          </a:bottom>
          <a:insideH>
            <a:ln cap="flat" cmpd="sng" w="9525">
              <a:solidFill>
                <a:srgbClr val="000000"/>
              </a:solidFill>
              <a:prstDash val="solid"/>
              <a:round/>
              <a:headEnd len="sm" w="sm" type="none"/>
              <a:tailEnd len="sm" w="sm" type="none"/>
            </a:ln>
          </a:insideH>
          <a:insideV>
            <a:ln cap="flat" cmpd="sng" w="9525">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07" Type="http://schemas.openxmlformats.org/officeDocument/2006/relationships/font" Target="fonts/Roboto-boldItalic.fntdata"/><Relationship Id="rId106" Type="http://schemas.openxmlformats.org/officeDocument/2006/relationships/font" Target="fonts/Roboto-italic.fntdata"/><Relationship Id="rId105" Type="http://schemas.openxmlformats.org/officeDocument/2006/relationships/font" Target="fonts/Roboto-bold.fntdata"/><Relationship Id="rId104" Type="http://schemas.openxmlformats.org/officeDocument/2006/relationships/font" Target="fonts/Roboto-regular.fntdata"/><Relationship Id="rId109" Type="http://schemas.openxmlformats.org/officeDocument/2006/relationships/font" Target="fonts/RobotoLight-bold.fntdata"/><Relationship Id="rId108" Type="http://schemas.openxmlformats.org/officeDocument/2006/relationships/font" Target="fonts/RobotoLight-regular.fntdata"/><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103" Type="http://schemas.openxmlformats.org/officeDocument/2006/relationships/font" Target="fonts/RobotoMedium-boldItalic.fntdata"/><Relationship Id="rId102" Type="http://schemas.openxmlformats.org/officeDocument/2006/relationships/font" Target="fonts/RobotoMedium-italic.fntdata"/><Relationship Id="rId101" Type="http://schemas.openxmlformats.org/officeDocument/2006/relationships/font" Target="fonts/RobotoMedium-bold.fntdata"/><Relationship Id="rId100" Type="http://schemas.openxmlformats.org/officeDocument/2006/relationships/font" Target="fonts/RobotoMedium-regular.fntdata"/><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95" Type="http://schemas.openxmlformats.org/officeDocument/2006/relationships/slide" Target="slides/slide90.xml"/><Relationship Id="rId94" Type="http://schemas.openxmlformats.org/officeDocument/2006/relationships/slide" Target="slides/slide89.xml"/><Relationship Id="rId97" Type="http://schemas.openxmlformats.org/officeDocument/2006/relationships/slide" Target="slides/slide92.xml"/><Relationship Id="rId96" Type="http://schemas.openxmlformats.org/officeDocument/2006/relationships/slide" Target="slides/slide91.xml"/><Relationship Id="rId11" Type="http://schemas.openxmlformats.org/officeDocument/2006/relationships/slide" Target="slides/slide6.xml"/><Relationship Id="rId99" Type="http://schemas.openxmlformats.org/officeDocument/2006/relationships/slide" Target="slides/slide94.xml"/><Relationship Id="rId10" Type="http://schemas.openxmlformats.org/officeDocument/2006/relationships/slide" Target="slides/slide5.xml"/><Relationship Id="rId98" Type="http://schemas.openxmlformats.org/officeDocument/2006/relationships/slide" Target="slides/slide93.xml"/><Relationship Id="rId13" Type="http://schemas.openxmlformats.org/officeDocument/2006/relationships/slide" Target="slides/slide8.xml"/><Relationship Id="rId12" Type="http://schemas.openxmlformats.org/officeDocument/2006/relationships/slide" Target="slides/slide7.xml"/><Relationship Id="rId91" Type="http://schemas.openxmlformats.org/officeDocument/2006/relationships/slide" Target="slides/slide86.xml"/><Relationship Id="rId90" Type="http://schemas.openxmlformats.org/officeDocument/2006/relationships/slide" Target="slides/slide85.xml"/><Relationship Id="rId93" Type="http://schemas.openxmlformats.org/officeDocument/2006/relationships/slide" Target="slides/slide88.xml"/><Relationship Id="rId92" Type="http://schemas.openxmlformats.org/officeDocument/2006/relationships/slide" Target="slides/slide87.xml"/><Relationship Id="rId15" Type="http://schemas.openxmlformats.org/officeDocument/2006/relationships/slide" Target="slides/slide10.xml"/><Relationship Id="rId110" Type="http://schemas.openxmlformats.org/officeDocument/2006/relationships/font" Target="fonts/RobotoLight-italic.fntdata"/><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 Id="rId111" Type="http://schemas.openxmlformats.org/officeDocument/2006/relationships/font" Target="fonts/RobotoLight-boldItalic.fntdata"/><Relationship Id="rId84" Type="http://schemas.openxmlformats.org/officeDocument/2006/relationships/slide" Target="slides/slide79.xml"/><Relationship Id="rId83" Type="http://schemas.openxmlformats.org/officeDocument/2006/relationships/slide" Target="slides/slide78.xml"/><Relationship Id="rId86" Type="http://schemas.openxmlformats.org/officeDocument/2006/relationships/slide" Target="slides/slide81.xml"/><Relationship Id="rId85" Type="http://schemas.openxmlformats.org/officeDocument/2006/relationships/slide" Target="slides/slide80.xml"/><Relationship Id="rId88" Type="http://schemas.openxmlformats.org/officeDocument/2006/relationships/slide" Target="slides/slide83.xml"/><Relationship Id="rId87" Type="http://schemas.openxmlformats.org/officeDocument/2006/relationships/slide" Target="slides/slide82.xml"/><Relationship Id="rId89" Type="http://schemas.openxmlformats.org/officeDocument/2006/relationships/slide" Target="slides/slide84.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73" Type="http://schemas.openxmlformats.org/officeDocument/2006/relationships/slide" Target="slides/slide68.xml"/><Relationship Id="rId72" Type="http://schemas.openxmlformats.org/officeDocument/2006/relationships/slide" Target="slides/slide67.xml"/><Relationship Id="rId75" Type="http://schemas.openxmlformats.org/officeDocument/2006/relationships/slide" Target="slides/slide70.xml"/><Relationship Id="rId74" Type="http://schemas.openxmlformats.org/officeDocument/2006/relationships/slide" Target="slides/slide69.xml"/><Relationship Id="rId77" Type="http://schemas.openxmlformats.org/officeDocument/2006/relationships/slide" Target="slides/slide72.xml"/><Relationship Id="rId76" Type="http://schemas.openxmlformats.org/officeDocument/2006/relationships/slide" Target="slides/slide71.xml"/><Relationship Id="rId79" Type="http://schemas.openxmlformats.org/officeDocument/2006/relationships/slide" Target="slides/slide74.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62" Type="http://schemas.openxmlformats.org/officeDocument/2006/relationships/slide" Target="slides/slide57.xml"/><Relationship Id="rId61" Type="http://schemas.openxmlformats.org/officeDocument/2006/relationships/slide" Target="slides/slide56.xml"/><Relationship Id="rId64" Type="http://schemas.openxmlformats.org/officeDocument/2006/relationships/slide" Target="slides/slide59.xml"/><Relationship Id="rId63" Type="http://schemas.openxmlformats.org/officeDocument/2006/relationships/slide" Target="slides/slide58.xml"/><Relationship Id="rId66" Type="http://schemas.openxmlformats.org/officeDocument/2006/relationships/slide" Target="slides/slide61.xml"/><Relationship Id="rId65" Type="http://schemas.openxmlformats.org/officeDocument/2006/relationships/slide" Target="slides/slide60.xml"/><Relationship Id="rId68" Type="http://schemas.openxmlformats.org/officeDocument/2006/relationships/slide" Target="slides/slide63.xml"/><Relationship Id="rId67" Type="http://schemas.openxmlformats.org/officeDocument/2006/relationships/slide" Target="slides/slide62.xml"/><Relationship Id="rId60" Type="http://schemas.openxmlformats.org/officeDocument/2006/relationships/slide" Target="slides/slide55.xml"/><Relationship Id="rId69" Type="http://schemas.openxmlformats.org/officeDocument/2006/relationships/slide" Target="slides/slide6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55" Type="http://schemas.openxmlformats.org/officeDocument/2006/relationships/slide" Target="slides/slide50.xml"/><Relationship Id="rId54" Type="http://schemas.openxmlformats.org/officeDocument/2006/relationships/slide" Target="slides/slide49.xml"/><Relationship Id="rId57" Type="http://schemas.openxmlformats.org/officeDocument/2006/relationships/slide" Target="slides/slide52.xml"/><Relationship Id="rId56" Type="http://schemas.openxmlformats.org/officeDocument/2006/relationships/slide" Target="slides/slide51.xml"/><Relationship Id="rId59" Type="http://schemas.openxmlformats.org/officeDocument/2006/relationships/slide" Target="slides/slide54.xml"/><Relationship Id="rId58"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Char char="●"/>
              <a:defRPr sz="1100"/>
            </a:lvl1pPr>
            <a:lvl2pPr indent="-317500" lvl="1" marL="914400">
              <a:spcBef>
                <a:spcPts val="0"/>
              </a:spcBef>
              <a:spcAft>
                <a:spcPts val="0"/>
              </a:spcAft>
              <a:buSzPts val="1400"/>
              <a:buChar char="○"/>
              <a:defRPr sz="1100"/>
            </a:lvl2pPr>
            <a:lvl3pPr indent="-317500" lvl="2" marL="1371600">
              <a:spcBef>
                <a:spcPts val="0"/>
              </a:spcBef>
              <a:spcAft>
                <a:spcPts val="0"/>
              </a:spcAft>
              <a:buSzPts val="1400"/>
              <a:buChar char="■"/>
              <a:defRPr sz="1100"/>
            </a:lvl3pPr>
            <a:lvl4pPr indent="-317500" lvl="3" marL="1828800">
              <a:spcBef>
                <a:spcPts val="0"/>
              </a:spcBef>
              <a:spcAft>
                <a:spcPts val="0"/>
              </a:spcAft>
              <a:buSzPts val="1400"/>
              <a:buChar char="●"/>
              <a:defRPr sz="1100"/>
            </a:lvl4pPr>
            <a:lvl5pPr indent="-317500" lvl="4" marL="2286000">
              <a:spcBef>
                <a:spcPts val="0"/>
              </a:spcBef>
              <a:spcAft>
                <a:spcPts val="0"/>
              </a:spcAft>
              <a:buSzPts val="1400"/>
              <a:buChar char="○"/>
              <a:defRPr sz="1100"/>
            </a:lvl5pPr>
            <a:lvl6pPr indent="-317500" lvl="5" marL="2743200">
              <a:spcBef>
                <a:spcPts val="0"/>
              </a:spcBef>
              <a:spcAft>
                <a:spcPts val="0"/>
              </a:spcAft>
              <a:buSzPts val="1400"/>
              <a:buChar char="■"/>
              <a:defRPr sz="1100"/>
            </a:lvl6pPr>
            <a:lvl7pPr indent="-317500" lvl="6" marL="3200400">
              <a:spcBef>
                <a:spcPts val="0"/>
              </a:spcBef>
              <a:spcAft>
                <a:spcPts val="0"/>
              </a:spcAft>
              <a:buSzPts val="1400"/>
              <a:buChar char="●"/>
              <a:defRPr sz="1100"/>
            </a:lvl7pPr>
            <a:lvl8pPr indent="-317500" lvl="7" marL="3657600">
              <a:spcBef>
                <a:spcPts val="0"/>
              </a:spcBef>
              <a:spcAft>
                <a:spcPts val="0"/>
              </a:spcAft>
              <a:buSzPts val="1400"/>
              <a:buChar char="○"/>
              <a:defRPr sz="1100"/>
            </a:lvl8pPr>
            <a:lvl9pPr indent="-317500" lvl="8" marL="4114800">
              <a:spcBef>
                <a:spcPts val="0"/>
              </a:spcBef>
              <a:spcAft>
                <a:spcPts val="0"/>
              </a:spcAft>
              <a:buSzPts val="14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docs.google.com/forms/d/e/1FAIpQLSeONzEwy4Pu_xmE4uINQwAROZLXXrCOerhL6OqvNVULv9yqEg/viewform" TargetMode="Externa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docs.google.com/forms/d/e/1FAIpQLSeONzEwy4Pu_xmE4uINQwAROZLXXrCOerhL6OqvNVULv9yqEg/viewform"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docs.google.com/forms/d/e/1FAIpQLScSCXMzxT5jaycy8SS_SfRI0kzmv2V9PNjZmAMjnufKdobvSA/viewform"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g22b713dd174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2" name="Google Shape;142;g22b713dd174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Quickman from Mega Man 2</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25e3164fbfa_0_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51" name="Google Shape;151;g25e3164fbf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solidFill>
                  <a:schemeClr val="dk1"/>
                </a:solidFill>
              </a:rPr>
              <a:t>Note: Based on Spring 2019 timing, it is unlikely we will finish this section. Thus we will probably finish this section next time.</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25e3164fbfa_0_6: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25e3164fbfa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25e3164fbfa_0_22: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25e3164fbfa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25e3164fbfa_0_3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25e3164fbfa_0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25e3164fbfa_0_55: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25e3164fbf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25e3164fbfa_0_7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25e3164fbfa_0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25e3164fbfa_0_92: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25e3164fbfa_0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5e3164fbfa_0_112: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70" name="Google Shape;270;g25e3164fbfa_0_1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g25e3164fbfa_0_13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92" name="Google Shape;292;g25e3164fbfa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25e3164fbfa_0_155: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25e3164fbfa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25e3164fbfa_0_17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25e3164fbfa_0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g25e3164fbfa_0_204: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366" name="Google Shape;366;g25e3164fbfa_0_2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5e3164fbfa_0_232: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5e3164fbfa_0_2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g25e3164fbfa_0_23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402" name="Google Shape;402;g25e3164fbfa_0_2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g25e3164fbfa_0_24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408" name="Google Shape;408;g25e3164fbfa_0_2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3" name="Shape 423"/>
        <p:cNvGrpSpPr/>
        <p:nvPr/>
      </p:nvGrpSpPr>
      <p:grpSpPr>
        <a:xfrm>
          <a:off x="0" y="0"/>
          <a:ext cx="0" cy="0"/>
          <a:chOff x="0" y="0"/>
          <a:chExt cx="0" cy="0"/>
        </a:xfrm>
      </p:grpSpPr>
      <p:sp>
        <p:nvSpPr>
          <p:cNvPr id="424" name="Google Shape;424;g25e3164fbfa_0_25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425" name="Google Shape;425;g25e3164fbfa_0_2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 name="Shape 442"/>
        <p:cNvGrpSpPr/>
        <p:nvPr/>
      </p:nvGrpSpPr>
      <p:grpSpPr>
        <a:xfrm>
          <a:off x="0" y="0"/>
          <a:ext cx="0" cy="0"/>
          <a:chOff x="0" y="0"/>
          <a:chExt cx="0" cy="0"/>
        </a:xfrm>
      </p:grpSpPr>
      <p:sp>
        <p:nvSpPr>
          <p:cNvPr id="443" name="Google Shape;443;g25e3164fbfa_0_277: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444" name="Google Shape;444;g25e3164fbfa_0_2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25e3164fbfa_0_29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467" name="Google Shape;467;g25e3164fbfa_0_2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 name="Shape 488"/>
        <p:cNvGrpSpPr/>
        <p:nvPr/>
      </p:nvGrpSpPr>
      <p:grpSpPr>
        <a:xfrm>
          <a:off x="0" y="0"/>
          <a:ext cx="0" cy="0"/>
          <a:chOff x="0" y="0"/>
          <a:chExt cx="0" cy="0"/>
        </a:xfrm>
      </p:grpSpPr>
      <p:sp>
        <p:nvSpPr>
          <p:cNvPr id="489" name="Google Shape;489;g25e3164fbfa_0_321: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490" name="Google Shape;490;g25e3164fbfa_0_3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g25e3164fbfa_0_341: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511" name="Google Shape;511;g25e3164fbfa_0_3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g25e3164fbfa_0_36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534" name="Google Shape;534;g25e3164fbfa_0_3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25e3164fbfa_0_385: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25e3164fbfa_0_3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8" name="Shape 578"/>
        <p:cNvGrpSpPr/>
        <p:nvPr/>
      </p:nvGrpSpPr>
      <p:grpSpPr>
        <a:xfrm>
          <a:off x="0" y="0"/>
          <a:ext cx="0" cy="0"/>
          <a:chOff x="0" y="0"/>
          <a:chExt cx="0" cy="0"/>
        </a:xfrm>
      </p:grpSpPr>
      <p:sp>
        <p:nvSpPr>
          <p:cNvPr id="579" name="Google Shape;579;g25e3164fbfa_0_407: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580" name="Google Shape;580;g25e3164fbfa_0_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5e3164fbfa_0_42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603" name="Google Shape;603;g25e3164fbfa_0_4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4" name="Shape 624"/>
        <p:cNvGrpSpPr/>
        <p:nvPr/>
      </p:nvGrpSpPr>
      <p:grpSpPr>
        <a:xfrm>
          <a:off x="0" y="0"/>
          <a:ext cx="0" cy="0"/>
          <a:chOff x="0" y="0"/>
          <a:chExt cx="0" cy="0"/>
        </a:xfrm>
      </p:grpSpPr>
      <p:sp>
        <p:nvSpPr>
          <p:cNvPr id="625" name="Google Shape;625;g25e3164fbfa_0_451: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626" name="Google Shape;626;g25e3164fbfa_0_4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7" name="Shape 647"/>
        <p:cNvGrpSpPr/>
        <p:nvPr/>
      </p:nvGrpSpPr>
      <p:grpSpPr>
        <a:xfrm>
          <a:off x="0" y="0"/>
          <a:ext cx="0" cy="0"/>
          <a:chOff x="0" y="0"/>
          <a:chExt cx="0" cy="0"/>
        </a:xfrm>
      </p:grpSpPr>
      <p:sp>
        <p:nvSpPr>
          <p:cNvPr id="648" name="Google Shape;648;g25e3164fbfa_0_47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649" name="Google Shape;649;g25e3164fbfa_0_4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5e3164fbfa_0_49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670" name="Google Shape;670;g25e3164fbfa_0_4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1" name="Shape 691"/>
        <p:cNvGrpSpPr/>
        <p:nvPr/>
      </p:nvGrpSpPr>
      <p:grpSpPr>
        <a:xfrm>
          <a:off x="0" y="0"/>
          <a:ext cx="0" cy="0"/>
          <a:chOff x="0" y="0"/>
          <a:chExt cx="0" cy="0"/>
        </a:xfrm>
      </p:grpSpPr>
      <p:sp>
        <p:nvSpPr>
          <p:cNvPr id="692" name="Google Shape;692;g25e3164fbfa_0_515: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693" name="Google Shape;693;g25e3164fbfa_0_5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4" name="Shape 714"/>
        <p:cNvGrpSpPr/>
        <p:nvPr/>
      </p:nvGrpSpPr>
      <p:grpSpPr>
        <a:xfrm>
          <a:off x="0" y="0"/>
          <a:ext cx="0" cy="0"/>
          <a:chOff x="0" y="0"/>
          <a:chExt cx="0" cy="0"/>
        </a:xfrm>
      </p:grpSpPr>
      <p:sp>
        <p:nvSpPr>
          <p:cNvPr id="715" name="Google Shape;715;g25e3164fbfa_0_537: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716" name="Google Shape;716;g25e3164fbfa_0_5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5" name="Shape 735"/>
        <p:cNvGrpSpPr/>
        <p:nvPr/>
      </p:nvGrpSpPr>
      <p:grpSpPr>
        <a:xfrm>
          <a:off x="0" y="0"/>
          <a:ext cx="0" cy="0"/>
          <a:chOff x="0" y="0"/>
          <a:chExt cx="0" cy="0"/>
        </a:xfrm>
      </p:grpSpPr>
      <p:sp>
        <p:nvSpPr>
          <p:cNvPr id="736" name="Google Shape;736;g25e3164fbfa_0_557: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737" name="Google Shape;737;g25e3164fbfa_0_5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8" name="Shape 758"/>
        <p:cNvGrpSpPr/>
        <p:nvPr/>
      </p:nvGrpSpPr>
      <p:grpSpPr>
        <a:xfrm>
          <a:off x="0" y="0"/>
          <a:ext cx="0" cy="0"/>
          <a:chOff x="0" y="0"/>
          <a:chExt cx="0" cy="0"/>
        </a:xfrm>
      </p:grpSpPr>
      <p:sp>
        <p:nvSpPr>
          <p:cNvPr id="759" name="Google Shape;759;g25e3164fbfa_0_57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760" name="Google Shape;760;g25e3164fbfa_0_5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1" name="Shape 781"/>
        <p:cNvGrpSpPr/>
        <p:nvPr/>
      </p:nvGrpSpPr>
      <p:grpSpPr>
        <a:xfrm>
          <a:off x="0" y="0"/>
          <a:ext cx="0" cy="0"/>
          <a:chOff x="0" y="0"/>
          <a:chExt cx="0" cy="0"/>
        </a:xfrm>
      </p:grpSpPr>
      <p:sp>
        <p:nvSpPr>
          <p:cNvPr id="782" name="Google Shape;782;g25e3164fbfa_0_601: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783" name="Google Shape;783;g25e3164fbfa_0_6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2" name="Shape 802"/>
        <p:cNvGrpSpPr/>
        <p:nvPr/>
      </p:nvGrpSpPr>
      <p:grpSpPr>
        <a:xfrm>
          <a:off x="0" y="0"/>
          <a:ext cx="0" cy="0"/>
          <a:chOff x="0" y="0"/>
          <a:chExt cx="0" cy="0"/>
        </a:xfrm>
      </p:grpSpPr>
      <p:sp>
        <p:nvSpPr>
          <p:cNvPr id="803" name="Google Shape;803;g25e3164fbfa_0_621: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04" name="Google Shape;804;g25e3164fbfa_0_6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5" name="Shape 825"/>
        <p:cNvGrpSpPr/>
        <p:nvPr/>
      </p:nvGrpSpPr>
      <p:grpSpPr>
        <a:xfrm>
          <a:off x="0" y="0"/>
          <a:ext cx="0" cy="0"/>
          <a:chOff x="0" y="0"/>
          <a:chExt cx="0" cy="0"/>
        </a:xfrm>
      </p:grpSpPr>
      <p:sp>
        <p:nvSpPr>
          <p:cNvPr id="826" name="Google Shape;826;g25e3164fbfa_0_64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27" name="Google Shape;827;g25e3164fbfa_0_6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8" name="Shape 848"/>
        <p:cNvGrpSpPr/>
        <p:nvPr/>
      </p:nvGrpSpPr>
      <p:grpSpPr>
        <a:xfrm>
          <a:off x="0" y="0"/>
          <a:ext cx="0" cy="0"/>
          <a:chOff x="0" y="0"/>
          <a:chExt cx="0" cy="0"/>
        </a:xfrm>
      </p:grpSpPr>
      <p:sp>
        <p:nvSpPr>
          <p:cNvPr id="849" name="Google Shape;849;g25e3164fbfa_0_665: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50" name="Google Shape;850;g25e3164fbfa_0_6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5e3164fbfa_0_685: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5e3164fbfa_0_6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2" name="Shape 892"/>
        <p:cNvGrpSpPr/>
        <p:nvPr/>
      </p:nvGrpSpPr>
      <p:grpSpPr>
        <a:xfrm>
          <a:off x="0" y="0"/>
          <a:ext cx="0" cy="0"/>
          <a:chOff x="0" y="0"/>
          <a:chExt cx="0" cy="0"/>
        </a:xfrm>
      </p:grpSpPr>
      <p:sp>
        <p:nvSpPr>
          <p:cNvPr id="893" name="Google Shape;893;g25e3164fbfa_0_707: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94" name="Google Shape;894;g25e3164fbfa_0_7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5e3164fbfa_0_72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5e3164fbfa_0_7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6" name="Shape 936"/>
        <p:cNvGrpSpPr/>
        <p:nvPr/>
      </p:nvGrpSpPr>
      <p:grpSpPr>
        <a:xfrm>
          <a:off x="0" y="0"/>
          <a:ext cx="0" cy="0"/>
          <a:chOff x="0" y="0"/>
          <a:chExt cx="0" cy="0"/>
        </a:xfrm>
      </p:grpSpPr>
      <p:sp>
        <p:nvSpPr>
          <p:cNvPr id="937" name="Google Shape;937;g25e3164fbfa_0_74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938" name="Google Shape;938;g25e3164fbfa_0_7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7" name="Shape 957"/>
        <p:cNvGrpSpPr/>
        <p:nvPr/>
      </p:nvGrpSpPr>
      <p:grpSpPr>
        <a:xfrm>
          <a:off x="0" y="0"/>
          <a:ext cx="0" cy="0"/>
          <a:chOff x="0" y="0"/>
          <a:chExt cx="0" cy="0"/>
        </a:xfrm>
      </p:grpSpPr>
      <p:sp>
        <p:nvSpPr>
          <p:cNvPr id="958" name="Google Shape;958;g25e3164fbfa_0_76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959" name="Google Shape;959;g25e3164fbfa_0_7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25e3164fbfa_0_78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25e3164fbfa_0_7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25e3164fbfa_0_80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25e3164fbfa_0_8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25e3164fbfa_0_831: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25e3164fbfa_0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5" name="Shape 1045"/>
        <p:cNvGrpSpPr/>
        <p:nvPr/>
      </p:nvGrpSpPr>
      <p:grpSpPr>
        <a:xfrm>
          <a:off x="0" y="0"/>
          <a:ext cx="0" cy="0"/>
          <a:chOff x="0" y="0"/>
          <a:chExt cx="0" cy="0"/>
        </a:xfrm>
      </p:grpSpPr>
      <p:sp>
        <p:nvSpPr>
          <p:cNvPr id="1046" name="Google Shape;1046;g25e3164fbfa_0_85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047" name="Google Shape;1047;g25e3164fbfa_0_8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8" name="Shape 1068"/>
        <p:cNvGrpSpPr/>
        <p:nvPr/>
      </p:nvGrpSpPr>
      <p:grpSpPr>
        <a:xfrm>
          <a:off x="0" y="0"/>
          <a:ext cx="0" cy="0"/>
          <a:chOff x="0" y="0"/>
          <a:chExt cx="0" cy="0"/>
        </a:xfrm>
      </p:grpSpPr>
      <p:sp>
        <p:nvSpPr>
          <p:cNvPr id="1069" name="Google Shape;1069;g25e3164fbfa_0_875: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070" name="Google Shape;1070;g25e3164fbfa_0_8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7" name="Shape 1087"/>
        <p:cNvGrpSpPr/>
        <p:nvPr/>
      </p:nvGrpSpPr>
      <p:grpSpPr>
        <a:xfrm>
          <a:off x="0" y="0"/>
          <a:ext cx="0" cy="0"/>
          <a:chOff x="0" y="0"/>
          <a:chExt cx="0" cy="0"/>
        </a:xfrm>
      </p:grpSpPr>
      <p:sp>
        <p:nvSpPr>
          <p:cNvPr id="1088" name="Google Shape;1088;g25e3164fbfa_0_89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089" name="Google Shape;1089;g25e3164fbfa_0_8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6" name="Shape 1106"/>
        <p:cNvGrpSpPr/>
        <p:nvPr/>
      </p:nvGrpSpPr>
      <p:grpSpPr>
        <a:xfrm>
          <a:off x="0" y="0"/>
          <a:ext cx="0" cy="0"/>
          <a:chOff x="0" y="0"/>
          <a:chExt cx="0" cy="0"/>
        </a:xfrm>
      </p:grpSpPr>
      <p:sp>
        <p:nvSpPr>
          <p:cNvPr id="1107" name="Google Shape;1107;g25e3164fbfa_0_911: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108" name="Google Shape;1108;g25e3164fbfa_0_9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25e3164fbfa_0_92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127" name="Google Shape;1127;g25e3164fbfa_0_9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4" name="Shape 1144"/>
        <p:cNvGrpSpPr/>
        <p:nvPr/>
      </p:nvGrpSpPr>
      <p:grpSpPr>
        <a:xfrm>
          <a:off x="0" y="0"/>
          <a:ext cx="0" cy="0"/>
          <a:chOff x="0" y="0"/>
          <a:chExt cx="0" cy="0"/>
        </a:xfrm>
      </p:grpSpPr>
      <p:sp>
        <p:nvSpPr>
          <p:cNvPr id="1145" name="Google Shape;1145;g25e3164fbfa_0_947: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146" name="Google Shape;1146;g25e3164fbfa_0_9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5" name="Shape 1165"/>
        <p:cNvGrpSpPr/>
        <p:nvPr/>
      </p:nvGrpSpPr>
      <p:grpSpPr>
        <a:xfrm>
          <a:off x="0" y="0"/>
          <a:ext cx="0" cy="0"/>
          <a:chOff x="0" y="0"/>
          <a:chExt cx="0" cy="0"/>
        </a:xfrm>
      </p:grpSpPr>
      <p:sp>
        <p:nvSpPr>
          <p:cNvPr id="1166" name="Google Shape;1166;g25e3164fbfa_0_967: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167" name="Google Shape;1167;g25e3164fbfa_0_9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3164fbfa_0_97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3164fbfa_0_9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3" name="Shape 1183"/>
        <p:cNvGrpSpPr/>
        <p:nvPr/>
      </p:nvGrpSpPr>
      <p:grpSpPr>
        <a:xfrm>
          <a:off x="0" y="0"/>
          <a:ext cx="0" cy="0"/>
          <a:chOff x="0" y="0"/>
          <a:chExt cx="0" cy="0"/>
        </a:xfrm>
      </p:grpSpPr>
      <p:sp>
        <p:nvSpPr>
          <p:cNvPr id="1184" name="Google Shape;1184;g25e3164fbfa_0_98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185" name="Google Shape;1185;g25e3164fbfa_0_9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https://docs.google.com/forms/d/e/1FAIpQLSeONzEwy4Pu_xmE4uINQwAROZLXXrCOerhL6OqvNVULv9yqEg/viewform</a:t>
            </a:r>
            <a:r>
              <a:rPr lang="en"/>
              <a:t>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1" name="Shape 1191"/>
        <p:cNvGrpSpPr/>
        <p:nvPr/>
      </p:nvGrpSpPr>
      <p:grpSpPr>
        <a:xfrm>
          <a:off x="0" y="0"/>
          <a:ext cx="0" cy="0"/>
          <a:chOff x="0" y="0"/>
          <a:chExt cx="0" cy="0"/>
        </a:xfrm>
      </p:grpSpPr>
      <p:sp>
        <p:nvSpPr>
          <p:cNvPr id="1192" name="Google Shape;1192;g25e3164fbfa_0_99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193" name="Google Shape;1193;g25e3164fbfa_0_9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9" name="Shape 1199"/>
        <p:cNvGrpSpPr/>
        <p:nvPr/>
      </p:nvGrpSpPr>
      <p:grpSpPr>
        <a:xfrm>
          <a:off x="0" y="0"/>
          <a:ext cx="0" cy="0"/>
          <a:chOff x="0" y="0"/>
          <a:chExt cx="0" cy="0"/>
        </a:xfrm>
      </p:grpSpPr>
      <p:sp>
        <p:nvSpPr>
          <p:cNvPr id="1200" name="Google Shape;1200;g25e3164fbfa_0_997: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01" name="Google Shape;1201;g25e3164fbfa_0_9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https://docs.google.com/forms/d/e/1FAIpQLSeONzEwy4Pu_xmE4uINQwAROZLXXrCOerhL6OqvNVULv9yqEg/viewform</a:t>
            </a:r>
            <a:r>
              <a:rPr lang="en"/>
              <a:t>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5" name="Shape 1205"/>
        <p:cNvGrpSpPr/>
        <p:nvPr/>
      </p:nvGrpSpPr>
      <p:grpSpPr>
        <a:xfrm>
          <a:off x="0" y="0"/>
          <a:ext cx="0" cy="0"/>
          <a:chOff x="0" y="0"/>
          <a:chExt cx="0" cy="0"/>
        </a:xfrm>
      </p:grpSpPr>
      <p:sp>
        <p:nvSpPr>
          <p:cNvPr id="1206" name="Google Shape;1206;g25e3164fbfa_0_1002: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07" name="Google Shape;1207;g25e3164fbfa_0_10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3" name="Shape 1213"/>
        <p:cNvGrpSpPr/>
        <p:nvPr/>
      </p:nvGrpSpPr>
      <p:grpSpPr>
        <a:xfrm>
          <a:off x="0" y="0"/>
          <a:ext cx="0" cy="0"/>
          <a:chOff x="0" y="0"/>
          <a:chExt cx="0" cy="0"/>
        </a:xfrm>
      </p:grpSpPr>
      <p:sp>
        <p:nvSpPr>
          <p:cNvPr id="1214" name="Google Shape;1214;g25e3164fbfa_0_100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15" name="Google Shape;1215;g25e3164fbfa_0_10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9" name="Shape 1219"/>
        <p:cNvGrpSpPr/>
        <p:nvPr/>
      </p:nvGrpSpPr>
      <p:grpSpPr>
        <a:xfrm>
          <a:off x="0" y="0"/>
          <a:ext cx="0" cy="0"/>
          <a:chOff x="0" y="0"/>
          <a:chExt cx="0" cy="0"/>
        </a:xfrm>
      </p:grpSpPr>
      <p:sp>
        <p:nvSpPr>
          <p:cNvPr id="1220" name="Google Shape;1220;g25e3164fbfa_0_1014: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21" name="Google Shape;1221;g25e3164fbfa_0_10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5" name="Shape 1225"/>
        <p:cNvGrpSpPr/>
        <p:nvPr/>
      </p:nvGrpSpPr>
      <p:grpSpPr>
        <a:xfrm>
          <a:off x="0" y="0"/>
          <a:ext cx="0" cy="0"/>
          <a:chOff x="0" y="0"/>
          <a:chExt cx="0" cy="0"/>
        </a:xfrm>
      </p:grpSpPr>
      <p:sp>
        <p:nvSpPr>
          <p:cNvPr id="1226" name="Google Shape;1226;g25e3164fbfa_0_101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27" name="Google Shape;1227;g25e3164fbfa_0_10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2" name="Shape 1232"/>
        <p:cNvGrpSpPr/>
        <p:nvPr/>
      </p:nvGrpSpPr>
      <p:grpSpPr>
        <a:xfrm>
          <a:off x="0" y="0"/>
          <a:ext cx="0" cy="0"/>
          <a:chOff x="0" y="0"/>
          <a:chExt cx="0" cy="0"/>
        </a:xfrm>
      </p:grpSpPr>
      <p:sp>
        <p:nvSpPr>
          <p:cNvPr id="1233" name="Google Shape;1233;g22b713dd174_0_391: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34" name="Google Shape;1234;g22b713dd174_0_3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9" name="Shape 1239"/>
        <p:cNvGrpSpPr/>
        <p:nvPr/>
      </p:nvGrpSpPr>
      <p:grpSpPr>
        <a:xfrm>
          <a:off x="0" y="0"/>
          <a:ext cx="0" cy="0"/>
          <a:chOff x="0" y="0"/>
          <a:chExt cx="0" cy="0"/>
        </a:xfrm>
      </p:grpSpPr>
      <p:sp>
        <p:nvSpPr>
          <p:cNvPr id="1240" name="Google Shape;1240;g239d559103d_1_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41" name="Google Shape;1241;g239d559103d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6" name="Shape 1246"/>
        <p:cNvGrpSpPr/>
        <p:nvPr/>
      </p:nvGrpSpPr>
      <p:grpSpPr>
        <a:xfrm>
          <a:off x="0" y="0"/>
          <a:ext cx="0" cy="0"/>
          <a:chOff x="0" y="0"/>
          <a:chExt cx="0" cy="0"/>
        </a:xfrm>
      </p:grpSpPr>
      <p:sp>
        <p:nvSpPr>
          <p:cNvPr id="1247" name="Google Shape;1247;g4661758db_1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48" name="Google Shape;1248;g4661758db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2" name="Shape 1252"/>
        <p:cNvGrpSpPr/>
        <p:nvPr/>
      </p:nvGrpSpPr>
      <p:grpSpPr>
        <a:xfrm>
          <a:off x="0" y="0"/>
          <a:ext cx="0" cy="0"/>
          <a:chOff x="0" y="0"/>
          <a:chExt cx="0" cy="0"/>
        </a:xfrm>
      </p:grpSpPr>
      <p:sp>
        <p:nvSpPr>
          <p:cNvPr id="1253" name="Google Shape;1253;g380c129b03_0_17: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54" name="Google Shape;1254;g380c129b03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Koshka nosil krasivaya shapka</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9816be120_1_37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74" name="Google Shape;1274;g9816be120_1_3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0" name="Shape 1280"/>
        <p:cNvGrpSpPr/>
        <p:nvPr/>
      </p:nvGrpSpPr>
      <p:grpSpPr>
        <a:xfrm>
          <a:off x="0" y="0"/>
          <a:ext cx="0" cy="0"/>
          <a:chOff x="0" y="0"/>
          <a:chExt cx="0" cy="0"/>
        </a:xfrm>
      </p:grpSpPr>
      <p:sp>
        <p:nvSpPr>
          <p:cNvPr id="1281" name="Google Shape;1281;g4661758db_11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82" name="Google Shape;1282;g4661758db_1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https://docs.google.com/forms/d/e/1FAIpQLScSCXMzxT5jaycy8SS_SfRI0kzmv2V9PNjZmAMjnufKdobvSA/viewform</a:t>
            </a:r>
            <a:r>
              <a:rPr lang="en"/>
              <a:t>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5" name="Shape 1335"/>
        <p:cNvGrpSpPr/>
        <p:nvPr/>
      </p:nvGrpSpPr>
      <p:grpSpPr>
        <a:xfrm>
          <a:off x="0" y="0"/>
          <a:ext cx="0" cy="0"/>
          <a:chOff x="0" y="0"/>
          <a:chExt cx="0" cy="0"/>
        </a:xfrm>
      </p:grpSpPr>
      <p:sp>
        <p:nvSpPr>
          <p:cNvPr id="1336" name="Google Shape;1336;g4661758db_167: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37" name="Google Shape;1337;g4661758db_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2" name="Shape 1392"/>
        <p:cNvGrpSpPr/>
        <p:nvPr/>
      </p:nvGrpSpPr>
      <p:grpSpPr>
        <a:xfrm>
          <a:off x="0" y="0"/>
          <a:ext cx="0" cy="0"/>
          <a:chOff x="0" y="0"/>
          <a:chExt cx="0" cy="0"/>
        </a:xfrm>
      </p:grpSpPr>
      <p:sp>
        <p:nvSpPr>
          <p:cNvPr id="1393" name="Google Shape;1393;g9816be120_1_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94" name="Google Shape;1394;g9816be120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5" name="Shape 1425"/>
        <p:cNvGrpSpPr/>
        <p:nvPr/>
      </p:nvGrpSpPr>
      <p:grpSpPr>
        <a:xfrm>
          <a:off x="0" y="0"/>
          <a:ext cx="0" cy="0"/>
          <a:chOff x="0" y="0"/>
          <a:chExt cx="0" cy="0"/>
        </a:xfrm>
      </p:grpSpPr>
      <p:sp>
        <p:nvSpPr>
          <p:cNvPr id="1426" name="Google Shape;1426;g22b713dd174_0_37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427" name="Google Shape;1427;g22b713dd174_0_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2" name="Shape 1432"/>
        <p:cNvGrpSpPr/>
        <p:nvPr/>
      </p:nvGrpSpPr>
      <p:grpSpPr>
        <a:xfrm>
          <a:off x="0" y="0"/>
          <a:ext cx="0" cy="0"/>
          <a:chOff x="0" y="0"/>
          <a:chExt cx="0" cy="0"/>
        </a:xfrm>
      </p:grpSpPr>
      <p:sp>
        <p:nvSpPr>
          <p:cNvPr id="1433" name="Google Shape;1433;g4661758db_112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434" name="Google Shape;1434;g4661758db_1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4" name="Shape 1484"/>
        <p:cNvGrpSpPr/>
        <p:nvPr/>
      </p:nvGrpSpPr>
      <p:grpSpPr>
        <a:xfrm>
          <a:off x="0" y="0"/>
          <a:ext cx="0" cy="0"/>
          <a:chOff x="0" y="0"/>
          <a:chExt cx="0" cy="0"/>
        </a:xfrm>
      </p:grpSpPr>
      <p:sp>
        <p:nvSpPr>
          <p:cNvPr id="1485" name="Google Shape;1485;g239d559103d_1_145: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486" name="Google Shape;1486;g239d559103d_1_1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2" name="Shape 1502"/>
        <p:cNvGrpSpPr/>
        <p:nvPr/>
      </p:nvGrpSpPr>
      <p:grpSpPr>
        <a:xfrm>
          <a:off x="0" y="0"/>
          <a:ext cx="0" cy="0"/>
          <a:chOff x="0" y="0"/>
          <a:chExt cx="0" cy="0"/>
        </a:xfrm>
      </p:grpSpPr>
      <p:sp>
        <p:nvSpPr>
          <p:cNvPr id="1503" name="Google Shape;1503;g239d559103d_1_162: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504" name="Google Shape;1504;g239d559103d_1_1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9" name="Shape 1519"/>
        <p:cNvGrpSpPr/>
        <p:nvPr/>
      </p:nvGrpSpPr>
      <p:grpSpPr>
        <a:xfrm>
          <a:off x="0" y="0"/>
          <a:ext cx="0" cy="0"/>
          <a:chOff x="0" y="0"/>
          <a:chExt cx="0" cy="0"/>
        </a:xfrm>
      </p:grpSpPr>
      <p:sp>
        <p:nvSpPr>
          <p:cNvPr id="1520" name="Google Shape;1520;g239d559103d_1_17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521" name="Google Shape;1521;g239d559103d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2" name="Shape 1542"/>
        <p:cNvGrpSpPr/>
        <p:nvPr/>
      </p:nvGrpSpPr>
      <p:grpSpPr>
        <a:xfrm>
          <a:off x="0" y="0"/>
          <a:ext cx="0" cy="0"/>
          <a:chOff x="0" y="0"/>
          <a:chExt cx="0" cy="0"/>
        </a:xfrm>
      </p:grpSpPr>
      <p:sp>
        <p:nvSpPr>
          <p:cNvPr id="1543" name="Google Shape;1543;g239d559103d_1_20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544" name="Google Shape;1544;g239d559103d_1_2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1" name="Shape 1561"/>
        <p:cNvGrpSpPr/>
        <p:nvPr/>
      </p:nvGrpSpPr>
      <p:grpSpPr>
        <a:xfrm>
          <a:off x="0" y="0"/>
          <a:ext cx="0" cy="0"/>
          <a:chOff x="0" y="0"/>
          <a:chExt cx="0" cy="0"/>
        </a:xfrm>
      </p:grpSpPr>
      <p:sp>
        <p:nvSpPr>
          <p:cNvPr id="1562" name="Google Shape;1562;g239d559103d_1_21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563" name="Google Shape;1563;g239d559103d_1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6" name="Shape 1616"/>
        <p:cNvGrpSpPr/>
        <p:nvPr/>
      </p:nvGrpSpPr>
      <p:grpSpPr>
        <a:xfrm>
          <a:off x="0" y="0"/>
          <a:ext cx="0" cy="0"/>
          <a:chOff x="0" y="0"/>
          <a:chExt cx="0" cy="0"/>
        </a:xfrm>
      </p:grpSpPr>
      <p:sp>
        <p:nvSpPr>
          <p:cNvPr id="1617" name="Google Shape;1617;g239d559103d_1_272: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618" name="Google Shape;1618;g239d559103d_1_2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4" name="Shape 1674"/>
        <p:cNvGrpSpPr/>
        <p:nvPr/>
      </p:nvGrpSpPr>
      <p:grpSpPr>
        <a:xfrm>
          <a:off x="0" y="0"/>
          <a:ext cx="0" cy="0"/>
          <a:chOff x="0" y="0"/>
          <a:chExt cx="0" cy="0"/>
        </a:xfrm>
      </p:grpSpPr>
      <p:sp>
        <p:nvSpPr>
          <p:cNvPr id="1675" name="Google Shape;1675;g12aa371fc6_0_37: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676" name="Google Shape;1676;g12aa371fc6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6" name="Shape 1706"/>
        <p:cNvGrpSpPr/>
        <p:nvPr/>
      </p:nvGrpSpPr>
      <p:grpSpPr>
        <a:xfrm>
          <a:off x="0" y="0"/>
          <a:ext cx="0" cy="0"/>
          <a:chOff x="0" y="0"/>
          <a:chExt cx="0" cy="0"/>
        </a:xfrm>
      </p:grpSpPr>
      <p:sp>
        <p:nvSpPr>
          <p:cNvPr id="1707" name="Google Shape;1707;g4661758db_1174: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708" name="Google Shape;1708;g4661758db_11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Got here</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2" name="Shape 1712"/>
        <p:cNvGrpSpPr/>
        <p:nvPr/>
      </p:nvGrpSpPr>
      <p:grpSpPr>
        <a:xfrm>
          <a:off x="0" y="0"/>
          <a:ext cx="0" cy="0"/>
          <a:chOff x="0" y="0"/>
          <a:chExt cx="0" cy="0"/>
        </a:xfrm>
      </p:grpSpPr>
      <p:sp>
        <p:nvSpPr>
          <p:cNvPr id="1713" name="Google Shape;1713;g22b713dd174_0_366: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714" name="Google Shape;1714;g22b713dd174_0_3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9" name="Shape 1719"/>
        <p:cNvGrpSpPr/>
        <p:nvPr/>
      </p:nvGrpSpPr>
      <p:grpSpPr>
        <a:xfrm>
          <a:off x="0" y="0"/>
          <a:ext cx="0" cy="0"/>
          <a:chOff x="0" y="0"/>
          <a:chExt cx="0" cy="0"/>
        </a:xfrm>
      </p:grpSpPr>
      <p:sp>
        <p:nvSpPr>
          <p:cNvPr id="1720" name="Google Shape;1720;g4661758db_117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721" name="Google Shape;1721;g4661758db_1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1" name="Shape 1811"/>
        <p:cNvGrpSpPr/>
        <p:nvPr/>
      </p:nvGrpSpPr>
      <p:grpSpPr>
        <a:xfrm>
          <a:off x="0" y="0"/>
          <a:ext cx="0" cy="0"/>
          <a:chOff x="0" y="0"/>
          <a:chExt cx="0" cy="0"/>
        </a:xfrm>
      </p:grpSpPr>
      <p:sp>
        <p:nvSpPr>
          <p:cNvPr id="1812" name="Google Shape;1812;g4661758db_127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813" name="Google Shape;1813;g4661758db_12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4" name="Shape 1904"/>
        <p:cNvGrpSpPr/>
        <p:nvPr/>
      </p:nvGrpSpPr>
      <p:grpSpPr>
        <a:xfrm>
          <a:off x="0" y="0"/>
          <a:ext cx="0" cy="0"/>
          <a:chOff x="0" y="0"/>
          <a:chExt cx="0" cy="0"/>
        </a:xfrm>
      </p:grpSpPr>
      <p:sp>
        <p:nvSpPr>
          <p:cNvPr id="1905" name="Google Shape;1905;g4661758db_1362: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906" name="Google Shape;1906;g4661758db_13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1" name="Shape 2001"/>
        <p:cNvGrpSpPr/>
        <p:nvPr/>
      </p:nvGrpSpPr>
      <p:grpSpPr>
        <a:xfrm>
          <a:off x="0" y="0"/>
          <a:ext cx="0" cy="0"/>
          <a:chOff x="0" y="0"/>
          <a:chExt cx="0" cy="0"/>
        </a:xfrm>
      </p:grpSpPr>
      <p:sp>
        <p:nvSpPr>
          <p:cNvPr id="2002" name="Google Shape;2002;g4661758db_145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003" name="Google Shape;2003;g4661758db_14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2" name="Shape 2062"/>
        <p:cNvGrpSpPr/>
        <p:nvPr/>
      </p:nvGrpSpPr>
      <p:grpSpPr>
        <a:xfrm>
          <a:off x="0" y="0"/>
          <a:ext cx="0" cy="0"/>
          <a:chOff x="0" y="0"/>
          <a:chExt cx="0" cy="0"/>
        </a:xfrm>
      </p:grpSpPr>
      <p:sp>
        <p:nvSpPr>
          <p:cNvPr id="2063" name="Google Shape;2063;g4661758db_151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064" name="Google Shape;2064;g4661758db_15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3" name="Shape 2123"/>
        <p:cNvGrpSpPr/>
        <p:nvPr/>
      </p:nvGrpSpPr>
      <p:grpSpPr>
        <a:xfrm>
          <a:off x="0" y="0"/>
          <a:ext cx="0" cy="0"/>
          <a:chOff x="0" y="0"/>
          <a:chExt cx="0" cy="0"/>
        </a:xfrm>
      </p:grpSpPr>
      <p:sp>
        <p:nvSpPr>
          <p:cNvPr id="2124" name="Google Shape;2124;g4661758db_157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125" name="Google Shape;2125;g4661758db_15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9" name="Shape 2129"/>
        <p:cNvGrpSpPr/>
        <p:nvPr/>
      </p:nvGrpSpPr>
      <p:grpSpPr>
        <a:xfrm>
          <a:off x="0" y="0"/>
          <a:ext cx="0" cy="0"/>
          <a:chOff x="0" y="0"/>
          <a:chExt cx="0" cy="0"/>
        </a:xfrm>
      </p:grpSpPr>
      <p:sp>
        <p:nvSpPr>
          <p:cNvPr id="2130" name="Google Shape;2130;g4661758db_158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131" name="Google Shape;2131;g4661758db_15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5" name="Shape 2175"/>
        <p:cNvGrpSpPr/>
        <p:nvPr/>
      </p:nvGrpSpPr>
      <p:grpSpPr>
        <a:xfrm>
          <a:off x="0" y="0"/>
          <a:ext cx="0" cy="0"/>
          <a:chOff x="0" y="0"/>
          <a:chExt cx="0" cy="0"/>
        </a:xfrm>
      </p:grpSpPr>
      <p:sp>
        <p:nvSpPr>
          <p:cNvPr id="2176" name="Google Shape;2176;g4661758db_1627: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177" name="Google Shape;2177;g4661758db_16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1" name="Shape 2231"/>
        <p:cNvGrpSpPr/>
        <p:nvPr/>
      </p:nvGrpSpPr>
      <p:grpSpPr>
        <a:xfrm>
          <a:off x="0" y="0"/>
          <a:ext cx="0" cy="0"/>
          <a:chOff x="0" y="0"/>
          <a:chExt cx="0" cy="0"/>
        </a:xfrm>
      </p:grpSpPr>
      <p:sp>
        <p:nvSpPr>
          <p:cNvPr id="2232" name="Google Shape;2232;g8606c75bb_0_8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233" name="Google Shape;2233;g8606c75bb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0" name="Shape 2250"/>
        <p:cNvGrpSpPr/>
        <p:nvPr/>
      </p:nvGrpSpPr>
      <p:grpSpPr>
        <a:xfrm>
          <a:off x="0" y="0"/>
          <a:ext cx="0" cy="0"/>
          <a:chOff x="0" y="0"/>
          <a:chExt cx="0" cy="0"/>
        </a:xfrm>
      </p:grpSpPr>
      <p:sp>
        <p:nvSpPr>
          <p:cNvPr id="2251" name="Google Shape;2251;g8606c75bb_0_8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252" name="Google Shape;2252;g8606c75bb_0_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0" name="Shape 2260"/>
        <p:cNvGrpSpPr/>
        <p:nvPr/>
      </p:nvGrpSpPr>
      <p:grpSpPr>
        <a:xfrm>
          <a:off x="0" y="0"/>
          <a:ext cx="0" cy="0"/>
          <a:chOff x="0" y="0"/>
          <a:chExt cx="0" cy="0"/>
        </a:xfrm>
      </p:grpSpPr>
      <p:sp>
        <p:nvSpPr>
          <p:cNvPr id="2261" name="Google Shape;2261;g1d6f0e3f4d_33_11: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262" name="Google Shape;2262;g1d6f0e3f4d_33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7" name="Shape 2267"/>
        <p:cNvGrpSpPr/>
        <p:nvPr/>
      </p:nvGrpSpPr>
      <p:grpSpPr>
        <a:xfrm>
          <a:off x="0" y="0"/>
          <a:ext cx="0" cy="0"/>
          <a:chOff x="0" y="0"/>
          <a:chExt cx="0" cy="0"/>
        </a:xfrm>
      </p:grpSpPr>
      <p:sp>
        <p:nvSpPr>
          <p:cNvPr id="2268" name="Google Shape;2268;g22b713dd174_0_35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269" name="Google Shape;2269;g22b713dd174_0_3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4" name="Shape 2274"/>
        <p:cNvGrpSpPr/>
        <p:nvPr/>
      </p:nvGrpSpPr>
      <p:grpSpPr>
        <a:xfrm>
          <a:off x="0" y="0"/>
          <a:ext cx="0" cy="0"/>
          <a:chOff x="0" y="0"/>
          <a:chExt cx="0" cy="0"/>
        </a:xfrm>
      </p:grpSpPr>
      <p:sp>
        <p:nvSpPr>
          <p:cNvPr id="2275" name="Google Shape;2275;g1d6f0e3f4d_33_5: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276" name="Google Shape;2276;g1d6f0e3f4d_33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0" name="Shape 2280"/>
        <p:cNvGrpSpPr/>
        <p:nvPr/>
      </p:nvGrpSpPr>
      <p:grpSpPr>
        <a:xfrm>
          <a:off x="0" y="0"/>
          <a:ext cx="0" cy="0"/>
          <a:chOff x="0" y="0"/>
          <a:chExt cx="0" cy="0"/>
        </a:xfrm>
      </p:grpSpPr>
      <p:sp>
        <p:nvSpPr>
          <p:cNvPr id="2281" name="Google Shape;2281;g1d713c1a70_0_17: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282" name="Google Shape;2282;g1d713c1a70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0" name="Shape 2300"/>
        <p:cNvGrpSpPr/>
        <p:nvPr/>
      </p:nvGrpSpPr>
      <p:grpSpPr>
        <a:xfrm>
          <a:off x="0" y="0"/>
          <a:ext cx="0" cy="0"/>
          <a:chOff x="0" y="0"/>
          <a:chExt cx="0" cy="0"/>
        </a:xfrm>
      </p:grpSpPr>
      <p:sp>
        <p:nvSpPr>
          <p:cNvPr id="2301" name="Google Shape;2301;g563c679d37_0_172: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302" name="Google Shape;2302;g563c679d37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6" name="Shape 2306"/>
        <p:cNvGrpSpPr/>
        <p:nvPr/>
      </p:nvGrpSpPr>
      <p:grpSpPr>
        <a:xfrm>
          <a:off x="0" y="0"/>
          <a:ext cx="0" cy="0"/>
          <a:chOff x="0" y="0"/>
          <a:chExt cx="0" cy="0"/>
        </a:xfrm>
      </p:grpSpPr>
      <p:sp>
        <p:nvSpPr>
          <p:cNvPr id="2307" name="Google Shape;2307;g9816be120_1_35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308" name="Google Shape;2308;g9816be120_1_3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
        <p:nvSpPr>
          <p:cNvPr id="11" name="Google Shape;11;p2"/>
          <p:cNvSpPr txBox="1"/>
          <p:nvPr>
            <p:ph type="ctrTitle"/>
          </p:nvPr>
        </p:nvSpPr>
        <p:spPr>
          <a:xfrm>
            <a:off x="311708" y="744575"/>
            <a:ext cx="8520600" cy="2052600"/>
          </a:xfrm>
          <a:prstGeom prst="rect">
            <a:avLst/>
          </a:prstGeom>
        </p:spPr>
        <p:txBody>
          <a:bodyPr anchorCtr="0" anchor="b" bIns="91425" lIns="91425" spcFirstLastPara="1" rIns="91425" wrap="square" tIns="91425">
            <a:noAutofit/>
          </a:bodyPr>
          <a:lstStyle>
            <a:lvl1pPr lvl="0" rtl="0">
              <a:spcBef>
                <a:spcPts val="0"/>
              </a:spcBef>
              <a:spcAft>
                <a:spcPts val="0"/>
              </a:spcAft>
              <a:buSzPts val="4400"/>
              <a:buNone/>
              <a:defRPr sz="4400"/>
            </a:lvl1pPr>
            <a:lvl2pPr lvl="1" rtl="0">
              <a:spcBef>
                <a:spcPts val="0"/>
              </a:spcBef>
              <a:spcAft>
                <a:spcPts val="0"/>
              </a:spcAft>
              <a:buSzPts val="4400"/>
              <a:buNone/>
              <a:defRPr sz="4400"/>
            </a:lvl2pPr>
            <a:lvl3pPr lvl="2" rtl="0">
              <a:spcBef>
                <a:spcPts val="0"/>
              </a:spcBef>
              <a:spcAft>
                <a:spcPts val="0"/>
              </a:spcAft>
              <a:buSzPts val="4400"/>
              <a:buNone/>
              <a:defRPr sz="4400"/>
            </a:lvl3pPr>
            <a:lvl4pPr lvl="3" rtl="0">
              <a:spcBef>
                <a:spcPts val="0"/>
              </a:spcBef>
              <a:spcAft>
                <a:spcPts val="0"/>
              </a:spcAft>
              <a:buSzPts val="4400"/>
              <a:buNone/>
              <a:defRPr sz="4400"/>
            </a:lvl4pPr>
            <a:lvl5pPr lvl="4" rtl="0">
              <a:spcBef>
                <a:spcPts val="0"/>
              </a:spcBef>
              <a:spcAft>
                <a:spcPts val="0"/>
              </a:spcAft>
              <a:buSzPts val="4400"/>
              <a:buNone/>
              <a:defRPr sz="4400"/>
            </a:lvl5pPr>
            <a:lvl6pPr lvl="5" rtl="0">
              <a:spcBef>
                <a:spcPts val="0"/>
              </a:spcBef>
              <a:spcAft>
                <a:spcPts val="0"/>
              </a:spcAft>
              <a:buSzPts val="4400"/>
              <a:buNone/>
              <a:defRPr sz="4400"/>
            </a:lvl6pPr>
            <a:lvl7pPr lvl="6" rtl="0">
              <a:spcBef>
                <a:spcPts val="0"/>
              </a:spcBef>
              <a:spcAft>
                <a:spcPts val="0"/>
              </a:spcAft>
              <a:buSzPts val="4400"/>
              <a:buNone/>
              <a:defRPr sz="4400"/>
            </a:lvl7pPr>
            <a:lvl8pPr lvl="7" rtl="0">
              <a:spcBef>
                <a:spcPts val="0"/>
              </a:spcBef>
              <a:spcAft>
                <a:spcPts val="0"/>
              </a:spcAft>
              <a:buSzPts val="4400"/>
              <a:buNone/>
              <a:defRPr sz="4400"/>
            </a:lvl8pPr>
            <a:lvl9pPr lvl="8" rtl="0">
              <a:spcBef>
                <a:spcPts val="0"/>
              </a:spcBef>
              <a:spcAft>
                <a:spcPts val="0"/>
              </a:spcAft>
              <a:buSzPts val="4400"/>
              <a:buNone/>
              <a:defRPr sz="4400"/>
            </a:lvl9pPr>
          </a:lstStyle>
          <a:p/>
        </p:txBody>
      </p:sp>
      <p:sp>
        <p:nvSpPr>
          <p:cNvPr id="12" name="Google Shape;12;p2"/>
          <p:cNvSpPr txBox="1"/>
          <p:nvPr>
            <p:ph idx="1" type="subTitle"/>
          </p:nvPr>
        </p:nvSpPr>
        <p:spPr>
          <a:xfrm>
            <a:off x="311700" y="2834125"/>
            <a:ext cx="8520600" cy="1536300"/>
          </a:xfrm>
          <a:prstGeom prst="rect">
            <a:avLst/>
          </a:prstGeom>
        </p:spPr>
        <p:txBody>
          <a:bodyPr anchorCtr="0" anchor="t" bIns="91425" lIns="91425" spcFirstLastPara="1" rIns="91425" wrap="square" tIns="91425">
            <a:noAutofit/>
          </a:bodyPr>
          <a:lstStyle>
            <a:lvl1pPr lvl="0"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p:txBody>
      </p:sp>
      <p:sp>
        <p:nvSpPr>
          <p:cNvPr id="13" name="Google Shape;13;p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4" name="Shape 14"/>
        <p:cNvGrpSpPr/>
        <p:nvPr/>
      </p:nvGrpSpPr>
      <p:grpSpPr>
        <a:xfrm>
          <a:off x="0" y="0"/>
          <a:ext cx="0" cy="0"/>
          <a:chOff x="0" y="0"/>
          <a:chExt cx="0" cy="0"/>
        </a:xfrm>
      </p:grpSpPr>
      <p:sp>
        <p:nvSpPr>
          <p:cNvPr id="15" name="Google Shape;15;p3"/>
          <p:cNvSpPr txBox="1"/>
          <p:nvPr>
            <p:ph type="title"/>
          </p:nvPr>
        </p:nvSpPr>
        <p:spPr>
          <a:xfrm>
            <a:off x="311700" y="2150850"/>
            <a:ext cx="8520600" cy="841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6" name="Google Shape;16;p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7" name="Google Shape;17;p3"/>
          <p:cNvSpPr txBox="1"/>
          <p:nvPr>
            <p:ph idx="1" type="subTitle"/>
          </p:nvPr>
        </p:nvSpPr>
        <p:spPr>
          <a:xfrm>
            <a:off x="311700" y="2834125"/>
            <a:ext cx="8520600" cy="1536300"/>
          </a:xfrm>
          <a:prstGeom prst="rect">
            <a:avLst/>
          </a:prstGeom>
        </p:spPr>
        <p:txBody>
          <a:bodyPr anchorCtr="0" anchor="t" bIns="91425" lIns="91425" spcFirstLastPara="1" rIns="91425" wrap="square" tIns="91425">
            <a:noAutofit/>
          </a:bodyPr>
          <a:lstStyle>
            <a:lvl1pPr lvl="0"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8" name="Shape 18"/>
        <p:cNvGrpSpPr/>
        <p:nvPr/>
      </p:nvGrpSpPr>
      <p:grpSpPr>
        <a:xfrm>
          <a:off x="0" y="0"/>
          <a:ext cx="0" cy="0"/>
          <a:chOff x="0" y="0"/>
          <a:chExt cx="0" cy="0"/>
        </a:xfrm>
      </p:grpSpPr>
      <p:sp>
        <p:nvSpPr>
          <p:cNvPr id="19" name="Google Shape;19;p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0" name="Google Shape;20;p4"/>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21" name="Google Shape;21;p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cxnSp>
        <p:nvCxnSpPr>
          <p:cNvPr id="22" name="Google Shape;22;p4"/>
          <p:cNvCxnSpPr/>
          <p:nvPr/>
        </p:nvCxnSpPr>
        <p:spPr>
          <a:xfrm>
            <a:off x="95431" y="402210"/>
            <a:ext cx="8909700" cy="0"/>
          </a:xfrm>
          <a:prstGeom prst="straightConnector1">
            <a:avLst/>
          </a:prstGeom>
          <a:noFill/>
          <a:ln cap="flat" cmpd="sng" w="19050">
            <a:solidFill>
              <a:srgbClr val="BF9000"/>
            </a:solidFill>
            <a:prstDash val="solid"/>
            <a:round/>
            <a:headEnd len="med" w="med" type="none"/>
            <a:tailEnd len="med" w="med" type="none"/>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oadmap">
  <p:cSld name="SECTION_TITLE_AND_DESCRIPTION_1">
    <p:spTree>
      <p:nvGrpSpPr>
        <p:cNvPr id="23" name="Shape 23"/>
        <p:cNvGrpSpPr/>
        <p:nvPr/>
      </p:nvGrpSpPr>
      <p:grpSpPr>
        <a:xfrm>
          <a:off x="0" y="0"/>
          <a:ext cx="0" cy="0"/>
          <a:chOff x="0" y="0"/>
          <a:chExt cx="0" cy="0"/>
        </a:xfrm>
      </p:grpSpPr>
      <p:sp>
        <p:nvSpPr>
          <p:cNvPr id="24" name="Google Shape;24;p5"/>
          <p:cNvSpPr/>
          <p:nvPr/>
        </p:nvSpPr>
        <p:spPr>
          <a:xfrm>
            <a:off x="0" y="-125"/>
            <a:ext cx="4572000" cy="5143500"/>
          </a:xfrm>
          <a:prstGeom prst="rect">
            <a:avLst/>
          </a:prstGeom>
          <a:solidFill>
            <a:srgbClr val="CFE2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26" name="Google Shape;26;p5"/>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lvl1pPr indent="-342900" lvl="0" marL="4572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indent="-342900" lvl="1" marL="9144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indent="-342900" lvl="2" marL="13716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indent="-342900" lvl="3" marL="18288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indent="-342900" lvl="4" marL="22860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indent="-342900" lvl="5" marL="27432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indent="-342900" lvl="6" marL="32004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indent="-342900" lvl="7" marL="36576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indent="-342900" lvl="8" marL="41148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p:txBody>
      </p:sp>
      <p:pic>
        <p:nvPicPr>
          <p:cNvPr id="27" name="Google Shape;27;p5"/>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28" name="Google Shape;28;p5"/>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p:txBody>
      </p:sp>
      <p:cxnSp>
        <p:nvCxnSpPr>
          <p:cNvPr id="29" name="Google Shape;29;p5"/>
          <p:cNvCxnSpPr/>
          <p:nvPr/>
        </p:nvCxnSpPr>
        <p:spPr>
          <a:xfrm>
            <a:off x="266975" y="4049175"/>
            <a:ext cx="4038000" cy="0"/>
          </a:xfrm>
          <a:prstGeom prst="straightConnector1">
            <a:avLst/>
          </a:prstGeom>
          <a:noFill/>
          <a:ln cap="flat" cmpd="sng" w="19050">
            <a:solidFill>
              <a:srgbClr val="BF9000"/>
            </a:solidFill>
            <a:prstDash val="solid"/>
            <a:round/>
            <a:headEnd len="med" w="med" type="none"/>
            <a:tailEnd len="med" w="med" type="none"/>
          </a:ln>
        </p:spPr>
      </p:cxnSp>
      <p:sp>
        <p:nvSpPr>
          <p:cNvPr id="30" name="Google Shape;30;p5"/>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mo slide right">
  <p:cSld name="SECTION_TITLE_AND_DESCRIPTION_2">
    <p:spTree>
      <p:nvGrpSpPr>
        <p:cNvPr id="31" name="Shape 31"/>
        <p:cNvGrpSpPr/>
        <p:nvPr/>
      </p:nvGrpSpPr>
      <p:grpSpPr>
        <a:xfrm>
          <a:off x="0" y="0"/>
          <a:ext cx="0" cy="0"/>
          <a:chOff x="0" y="0"/>
          <a:chExt cx="0" cy="0"/>
        </a:xfrm>
      </p:grpSpPr>
      <p:sp>
        <p:nvSpPr>
          <p:cNvPr id="32" name="Google Shape;32;p6"/>
          <p:cNvSpPr/>
          <p:nvPr/>
        </p:nvSpPr>
        <p:spPr>
          <a:xfrm>
            <a:off x="4572000" y="-125"/>
            <a:ext cx="4572000" cy="5143500"/>
          </a:xfrm>
          <a:prstGeom prst="rect">
            <a:avLst/>
          </a:prstGeom>
          <a:solidFill>
            <a:srgbClr val="CFE2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6"/>
          <p:cNvSpPr txBox="1"/>
          <p:nvPr>
            <p:ph idx="1" type="subTitle"/>
          </p:nvPr>
        </p:nvSpPr>
        <p:spPr>
          <a:xfrm>
            <a:off x="4835400" y="4198275"/>
            <a:ext cx="4045200" cy="465000"/>
          </a:xfrm>
          <a:prstGeom prst="rect">
            <a:avLst/>
          </a:prstGeom>
        </p:spPr>
        <p:txBody>
          <a:bodyPr anchorCtr="0" anchor="t" bIns="91425" lIns="91425" spcFirstLastPara="1" rIns="91425" wrap="square" tIns="91425">
            <a:noAutofit/>
          </a:bodyPr>
          <a:lstStyle>
            <a:lvl1pPr lvl="0" rtl="0" algn="r">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34" name="Google Shape;34;p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35" name="Google Shape;35;p6"/>
          <p:cNvSpPr txBox="1"/>
          <p:nvPr/>
        </p:nvSpPr>
        <p:spPr>
          <a:xfrm>
            <a:off x="6365900" y="3724875"/>
            <a:ext cx="2591100" cy="5694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b="1" lang="en" sz="2500">
                <a:solidFill>
                  <a:schemeClr val="accent3"/>
                </a:solidFill>
                <a:latin typeface="Roboto"/>
                <a:ea typeface="Roboto"/>
                <a:cs typeface="Roboto"/>
                <a:sym typeface="Roboto"/>
              </a:rPr>
              <a:t>Demo Slides</a:t>
            </a:r>
            <a:endParaRPr b="1" sz="2500">
              <a:solidFill>
                <a:schemeClr val="accent3"/>
              </a:solidFill>
              <a:latin typeface="Roboto"/>
              <a:ea typeface="Roboto"/>
              <a:cs typeface="Roboto"/>
              <a:sym typeface="Roboto"/>
            </a:endParaRPr>
          </a:p>
        </p:txBody>
      </p:sp>
      <p:sp>
        <p:nvSpPr>
          <p:cNvPr id="36" name="Google Shape;36;p6"/>
          <p:cNvSpPr txBox="1"/>
          <p:nvPr>
            <p:ph idx="2" type="body"/>
          </p:nvPr>
        </p:nvSpPr>
        <p:spPr>
          <a:xfrm>
            <a:off x="95425" y="402200"/>
            <a:ext cx="4302300" cy="42612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
        <p:nvSpPr>
          <p:cNvPr id="37" name="Google Shape;37;p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cxnSp>
        <p:nvCxnSpPr>
          <p:cNvPr id="38" name="Google Shape;38;p6"/>
          <p:cNvCxnSpPr/>
          <p:nvPr/>
        </p:nvCxnSpPr>
        <p:spPr>
          <a:xfrm>
            <a:off x="95431" y="402210"/>
            <a:ext cx="4352100" cy="0"/>
          </a:xfrm>
          <a:prstGeom prst="straightConnector1">
            <a:avLst/>
          </a:prstGeom>
          <a:noFill/>
          <a:ln cap="flat" cmpd="sng" w="19050">
            <a:solidFill>
              <a:srgbClr val="BF9000"/>
            </a:solidFill>
            <a:prstDash val="solid"/>
            <a:round/>
            <a:headEnd len="med" w="med" type="none"/>
            <a:tailEnd len="med" w="med" type="none"/>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mo slide left">
  <p:cSld name="SECTION_TITLE_AND_DESCRIPTION_2_1">
    <p:spTree>
      <p:nvGrpSpPr>
        <p:cNvPr id="39" name="Shape 39"/>
        <p:cNvGrpSpPr/>
        <p:nvPr/>
      </p:nvGrpSpPr>
      <p:grpSpPr>
        <a:xfrm>
          <a:off x="0" y="0"/>
          <a:ext cx="0" cy="0"/>
          <a:chOff x="0" y="0"/>
          <a:chExt cx="0" cy="0"/>
        </a:xfrm>
      </p:grpSpPr>
      <p:sp>
        <p:nvSpPr>
          <p:cNvPr id="40" name="Google Shape;40;p7"/>
          <p:cNvSpPr/>
          <p:nvPr/>
        </p:nvSpPr>
        <p:spPr>
          <a:xfrm>
            <a:off x="0" y="-125"/>
            <a:ext cx="4572000" cy="5143500"/>
          </a:xfrm>
          <a:prstGeom prst="rect">
            <a:avLst/>
          </a:prstGeom>
          <a:solidFill>
            <a:srgbClr val="FDF6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7"/>
          <p:cNvSpPr txBox="1"/>
          <p:nvPr>
            <p:ph idx="1" type="subTitle"/>
          </p:nvPr>
        </p:nvSpPr>
        <p:spPr>
          <a:xfrm>
            <a:off x="225450" y="3943400"/>
            <a:ext cx="4045200" cy="465000"/>
          </a:xfrm>
          <a:prstGeom prst="rect">
            <a:avLst/>
          </a:prstGeom>
        </p:spPr>
        <p:txBody>
          <a:bodyPr anchorCtr="0" anchor="t" bIns="91425" lIns="91425" spcFirstLastPara="1" rIns="91425" wrap="square" tIns="91425">
            <a:noAutofit/>
          </a:bodyPr>
          <a:lstStyle>
            <a:lvl1pPr lvl="0" rtl="0">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42" name="Google Shape;42;p7"/>
          <p:cNvSpPr txBox="1"/>
          <p:nvPr/>
        </p:nvSpPr>
        <p:spPr>
          <a:xfrm>
            <a:off x="208440" y="3420075"/>
            <a:ext cx="41217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2500">
                <a:solidFill>
                  <a:schemeClr val="accent3"/>
                </a:solidFill>
                <a:latin typeface="Roboto"/>
                <a:ea typeface="Roboto"/>
                <a:cs typeface="Roboto"/>
                <a:sym typeface="Roboto"/>
              </a:rPr>
              <a:t>Demo Slides</a:t>
            </a:r>
            <a:endParaRPr b="1" sz="2500">
              <a:solidFill>
                <a:schemeClr val="accent3"/>
              </a:solidFill>
              <a:latin typeface="Roboto"/>
              <a:ea typeface="Roboto"/>
              <a:cs typeface="Roboto"/>
              <a:sym typeface="Roboto"/>
            </a:endParaRPr>
          </a:p>
        </p:txBody>
      </p:sp>
      <p:sp>
        <p:nvSpPr>
          <p:cNvPr id="43" name="Google Shape;43;p7"/>
          <p:cNvSpPr txBox="1"/>
          <p:nvPr>
            <p:ph idx="2" type="body"/>
          </p:nvPr>
        </p:nvSpPr>
        <p:spPr>
          <a:xfrm>
            <a:off x="4667425" y="402200"/>
            <a:ext cx="4302300" cy="42612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
        <p:nvSpPr>
          <p:cNvPr id="44" name="Google Shape;44;p7"/>
          <p:cNvSpPr txBox="1"/>
          <p:nvPr>
            <p:ph type="title"/>
          </p:nvPr>
        </p:nvSpPr>
        <p:spPr>
          <a:xfrm>
            <a:off x="4572000" y="0"/>
            <a:ext cx="45720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cxnSp>
        <p:nvCxnSpPr>
          <p:cNvPr id="45" name="Google Shape;45;p7"/>
          <p:cNvCxnSpPr/>
          <p:nvPr/>
        </p:nvCxnSpPr>
        <p:spPr>
          <a:xfrm>
            <a:off x="4667431" y="402210"/>
            <a:ext cx="4352100" cy="0"/>
          </a:xfrm>
          <a:prstGeom prst="straightConnector1">
            <a:avLst/>
          </a:prstGeom>
          <a:noFill/>
          <a:ln cap="flat" cmpd="sng" w="19050">
            <a:solidFill>
              <a:srgbClr val="BF9000"/>
            </a:solidFill>
            <a:prstDash val="solid"/>
            <a:round/>
            <a:headEnd len="med" w="med" type="none"/>
            <a:tailEnd len="med" w="med" type="none"/>
          </a:ln>
        </p:spPr>
      </p:cxnSp>
      <p:pic>
        <p:nvPicPr>
          <p:cNvPr id="46" name="Google Shape;46;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7" name="Google Shape;47;p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ide Puzzle">
  <p:cSld name="SECTION_TITLE_AND_DESCRIPTION_2_1_1">
    <p:spTree>
      <p:nvGrpSpPr>
        <p:cNvPr id="48" name="Shape 48"/>
        <p:cNvGrpSpPr/>
        <p:nvPr/>
      </p:nvGrpSpPr>
      <p:grpSpPr>
        <a:xfrm>
          <a:off x="0" y="0"/>
          <a:ext cx="0" cy="0"/>
          <a:chOff x="0" y="0"/>
          <a:chExt cx="0" cy="0"/>
        </a:xfrm>
      </p:grpSpPr>
      <p:sp>
        <p:nvSpPr>
          <p:cNvPr id="49" name="Google Shape;49;p8"/>
          <p:cNvSpPr/>
          <p:nvPr/>
        </p:nvSpPr>
        <p:spPr>
          <a:xfrm>
            <a:off x="0" y="-125"/>
            <a:ext cx="2776500" cy="5143500"/>
          </a:xfrm>
          <a:prstGeom prst="rect">
            <a:avLst/>
          </a:prstGeom>
          <a:solidFill>
            <a:srgbClr val="FDF6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8"/>
          <p:cNvSpPr txBox="1"/>
          <p:nvPr>
            <p:ph idx="1" type="subTitle"/>
          </p:nvPr>
        </p:nvSpPr>
        <p:spPr>
          <a:xfrm>
            <a:off x="225450" y="3943400"/>
            <a:ext cx="2450400" cy="719700"/>
          </a:xfrm>
          <a:prstGeom prst="rect">
            <a:avLst/>
          </a:prstGeom>
        </p:spPr>
        <p:txBody>
          <a:bodyPr anchorCtr="0" anchor="t" bIns="91425" lIns="91425" spcFirstLastPara="1" rIns="91425" wrap="square" tIns="91425">
            <a:noAutofit/>
          </a:bodyPr>
          <a:lstStyle>
            <a:lvl1pPr lvl="0" rtl="0">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51" name="Google Shape;51;p8"/>
          <p:cNvSpPr txBox="1"/>
          <p:nvPr>
            <p:ph idx="2" type="body"/>
          </p:nvPr>
        </p:nvSpPr>
        <p:spPr>
          <a:xfrm>
            <a:off x="2937350" y="402200"/>
            <a:ext cx="6032400" cy="42612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
        <p:nvSpPr>
          <p:cNvPr id="52" name="Google Shape;52;p8"/>
          <p:cNvSpPr txBox="1"/>
          <p:nvPr>
            <p:ph type="title"/>
          </p:nvPr>
        </p:nvSpPr>
        <p:spPr>
          <a:xfrm>
            <a:off x="2776500" y="0"/>
            <a:ext cx="63675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cxnSp>
        <p:nvCxnSpPr>
          <p:cNvPr id="53" name="Google Shape;53;p8"/>
          <p:cNvCxnSpPr/>
          <p:nvPr/>
        </p:nvCxnSpPr>
        <p:spPr>
          <a:xfrm>
            <a:off x="2937350" y="402200"/>
            <a:ext cx="6082200" cy="0"/>
          </a:xfrm>
          <a:prstGeom prst="straightConnector1">
            <a:avLst/>
          </a:prstGeom>
          <a:noFill/>
          <a:ln cap="flat" cmpd="sng" w="19050">
            <a:solidFill>
              <a:srgbClr val="BF9000"/>
            </a:solidFill>
            <a:prstDash val="solid"/>
            <a:round/>
            <a:headEnd len="med" w="med" type="none"/>
            <a:tailEnd len="med" w="med" type="none"/>
          </a:ln>
        </p:spPr>
      </p:cxnSp>
      <p:pic>
        <p:nvPicPr>
          <p:cNvPr id="54" name="Google Shape;54;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5" name="Google Shape;55;p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56" name="Google Shape;56;p8"/>
          <p:cNvSpPr txBox="1"/>
          <p:nvPr/>
        </p:nvSpPr>
        <p:spPr>
          <a:xfrm>
            <a:off x="208440" y="3420075"/>
            <a:ext cx="41217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2500">
                <a:solidFill>
                  <a:schemeClr val="accent3"/>
                </a:solidFill>
                <a:latin typeface="Roboto"/>
                <a:ea typeface="Roboto"/>
                <a:cs typeface="Roboto"/>
                <a:sym typeface="Roboto"/>
              </a:rPr>
              <a:t>Demo</a:t>
            </a:r>
            <a:endParaRPr b="1" sz="2500">
              <a:solidFill>
                <a:schemeClr val="accent3"/>
              </a:solidFill>
              <a:latin typeface="Roboto"/>
              <a:ea typeface="Roboto"/>
              <a:cs typeface="Roboto"/>
              <a:sym typeface="Roboto"/>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ide Puzzle 1">
  <p:cSld name="SECTION_TITLE_AND_DESCRIPTION_2_1_1_2">
    <p:spTree>
      <p:nvGrpSpPr>
        <p:cNvPr id="57" name="Shape 57"/>
        <p:cNvGrpSpPr/>
        <p:nvPr/>
      </p:nvGrpSpPr>
      <p:grpSpPr>
        <a:xfrm>
          <a:off x="0" y="0"/>
          <a:ext cx="0" cy="0"/>
          <a:chOff x="0" y="0"/>
          <a:chExt cx="0" cy="0"/>
        </a:xfrm>
      </p:grpSpPr>
      <p:sp>
        <p:nvSpPr>
          <p:cNvPr id="58" name="Google Shape;58;p9"/>
          <p:cNvSpPr/>
          <p:nvPr/>
        </p:nvSpPr>
        <p:spPr>
          <a:xfrm>
            <a:off x="0" y="-125"/>
            <a:ext cx="2776500" cy="5143500"/>
          </a:xfrm>
          <a:prstGeom prst="rect">
            <a:avLst/>
          </a:prstGeom>
          <a:solidFill>
            <a:srgbClr val="FDF6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9"/>
          <p:cNvSpPr txBox="1"/>
          <p:nvPr>
            <p:ph idx="1" type="subTitle"/>
          </p:nvPr>
        </p:nvSpPr>
        <p:spPr>
          <a:xfrm>
            <a:off x="225450" y="3943400"/>
            <a:ext cx="2450400" cy="719700"/>
          </a:xfrm>
          <a:prstGeom prst="rect">
            <a:avLst/>
          </a:prstGeom>
        </p:spPr>
        <p:txBody>
          <a:bodyPr anchorCtr="0" anchor="t" bIns="91425" lIns="91425" spcFirstLastPara="1" rIns="91425" wrap="square" tIns="91425">
            <a:noAutofit/>
          </a:bodyPr>
          <a:lstStyle>
            <a:lvl1pPr lvl="0" rtl="0">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60" name="Google Shape;60;p9"/>
          <p:cNvSpPr txBox="1"/>
          <p:nvPr/>
        </p:nvSpPr>
        <p:spPr>
          <a:xfrm>
            <a:off x="208445" y="3420075"/>
            <a:ext cx="18738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2500">
                <a:solidFill>
                  <a:schemeClr val="accent3"/>
                </a:solidFill>
                <a:latin typeface="Roboto"/>
                <a:ea typeface="Roboto"/>
                <a:cs typeface="Roboto"/>
                <a:sym typeface="Roboto"/>
              </a:rPr>
              <a:t>Compare</a:t>
            </a:r>
            <a:endParaRPr b="1" sz="2500">
              <a:solidFill>
                <a:schemeClr val="accent3"/>
              </a:solidFill>
              <a:latin typeface="Roboto"/>
              <a:ea typeface="Roboto"/>
              <a:cs typeface="Roboto"/>
              <a:sym typeface="Roboto"/>
            </a:endParaRPr>
          </a:p>
        </p:txBody>
      </p:sp>
      <p:sp>
        <p:nvSpPr>
          <p:cNvPr id="61" name="Google Shape;61;p9"/>
          <p:cNvSpPr txBox="1"/>
          <p:nvPr>
            <p:ph idx="2" type="body"/>
          </p:nvPr>
        </p:nvSpPr>
        <p:spPr>
          <a:xfrm>
            <a:off x="2937350" y="402200"/>
            <a:ext cx="6032400" cy="42612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
        <p:nvSpPr>
          <p:cNvPr id="62" name="Google Shape;62;p9"/>
          <p:cNvSpPr txBox="1"/>
          <p:nvPr>
            <p:ph type="title"/>
          </p:nvPr>
        </p:nvSpPr>
        <p:spPr>
          <a:xfrm>
            <a:off x="2776500" y="0"/>
            <a:ext cx="63675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cxnSp>
        <p:nvCxnSpPr>
          <p:cNvPr id="63" name="Google Shape;63;p9"/>
          <p:cNvCxnSpPr/>
          <p:nvPr/>
        </p:nvCxnSpPr>
        <p:spPr>
          <a:xfrm>
            <a:off x="2937350" y="402200"/>
            <a:ext cx="6082200" cy="0"/>
          </a:xfrm>
          <a:prstGeom prst="straightConnector1">
            <a:avLst/>
          </a:prstGeom>
          <a:noFill/>
          <a:ln cap="flat" cmpd="sng" w="19050">
            <a:solidFill>
              <a:srgbClr val="BF9000"/>
            </a:solidFill>
            <a:prstDash val="solid"/>
            <a:round/>
            <a:headEnd len="med" w="med" type="none"/>
            <a:tailEnd len="med" w="med" type="none"/>
          </a:ln>
        </p:spPr>
      </p:cxnSp>
      <p:pic>
        <p:nvPicPr>
          <p:cNvPr id="64" name="Google Shape;64;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5" name="Google Shape;65;p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ide Puzzle Solution">
  <p:cSld name="SECTION_TITLE_AND_DESCRIPTION_2_1_1_1">
    <p:spTree>
      <p:nvGrpSpPr>
        <p:cNvPr id="66" name="Shape 66"/>
        <p:cNvGrpSpPr/>
        <p:nvPr/>
      </p:nvGrpSpPr>
      <p:grpSpPr>
        <a:xfrm>
          <a:off x="0" y="0"/>
          <a:ext cx="0" cy="0"/>
          <a:chOff x="0" y="0"/>
          <a:chExt cx="0" cy="0"/>
        </a:xfrm>
      </p:grpSpPr>
      <p:sp>
        <p:nvSpPr>
          <p:cNvPr id="67" name="Google Shape;67;p10"/>
          <p:cNvSpPr/>
          <p:nvPr/>
        </p:nvSpPr>
        <p:spPr>
          <a:xfrm>
            <a:off x="0" y="-125"/>
            <a:ext cx="2776500" cy="5143500"/>
          </a:xfrm>
          <a:prstGeom prst="rect">
            <a:avLst/>
          </a:prstGeom>
          <a:solidFill>
            <a:srgbClr val="F3F3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10"/>
          <p:cNvSpPr txBox="1"/>
          <p:nvPr>
            <p:ph idx="1" type="subTitle"/>
          </p:nvPr>
        </p:nvSpPr>
        <p:spPr>
          <a:xfrm>
            <a:off x="225450" y="3943400"/>
            <a:ext cx="2450400" cy="719700"/>
          </a:xfrm>
          <a:prstGeom prst="rect">
            <a:avLst/>
          </a:prstGeom>
        </p:spPr>
        <p:txBody>
          <a:bodyPr anchorCtr="0" anchor="t" bIns="91425" lIns="91425" spcFirstLastPara="1" rIns="91425" wrap="square" tIns="91425">
            <a:noAutofit/>
          </a:bodyPr>
          <a:lstStyle>
            <a:lvl1pPr lvl="0" rtl="0">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69" name="Google Shape;69;p10"/>
          <p:cNvSpPr txBox="1"/>
          <p:nvPr/>
        </p:nvSpPr>
        <p:spPr>
          <a:xfrm>
            <a:off x="208445" y="3420075"/>
            <a:ext cx="18738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2500">
                <a:solidFill>
                  <a:schemeClr val="accent3"/>
                </a:solidFill>
                <a:latin typeface="Roboto"/>
                <a:ea typeface="Roboto"/>
                <a:cs typeface="Roboto"/>
                <a:sym typeface="Roboto"/>
              </a:rPr>
              <a:t>Solution</a:t>
            </a:r>
            <a:endParaRPr b="1" sz="2500">
              <a:solidFill>
                <a:schemeClr val="accent3"/>
              </a:solidFill>
              <a:latin typeface="Roboto"/>
              <a:ea typeface="Roboto"/>
              <a:cs typeface="Roboto"/>
              <a:sym typeface="Roboto"/>
            </a:endParaRPr>
          </a:p>
        </p:txBody>
      </p:sp>
      <p:sp>
        <p:nvSpPr>
          <p:cNvPr id="70" name="Google Shape;70;p10"/>
          <p:cNvSpPr txBox="1"/>
          <p:nvPr>
            <p:ph idx="2" type="body"/>
          </p:nvPr>
        </p:nvSpPr>
        <p:spPr>
          <a:xfrm>
            <a:off x="2937350" y="402200"/>
            <a:ext cx="6032400" cy="42612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
        <p:nvSpPr>
          <p:cNvPr id="71" name="Google Shape;71;p10"/>
          <p:cNvSpPr txBox="1"/>
          <p:nvPr>
            <p:ph type="title"/>
          </p:nvPr>
        </p:nvSpPr>
        <p:spPr>
          <a:xfrm>
            <a:off x="2776500" y="0"/>
            <a:ext cx="63675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cxnSp>
        <p:nvCxnSpPr>
          <p:cNvPr id="72" name="Google Shape;72;p10"/>
          <p:cNvCxnSpPr/>
          <p:nvPr/>
        </p:nvCxnSpPr>
        <p:spPr>
          <a:xfrm>
            <a:off x="2937350" y="402200"/>
            <a:ext cx="6082200" cy="0"/>
          </a:xfrm>
          <a:prstGeom prst="straightConnector1">
            <a:avLst/>
          </a:prstGeom>
          <a:noFill/>
          <a:ln cap="flat" cmpd="sng" w="19050">
            <a:solidFill>
              <a:srgbClr val="BF9000"/>
            </a:solidFill>
            <a:prstDash val="solid"/>
            <a:round/>
            <a:headEnd len="med" w="med" type="none"/>
            <a:tailEnd len="med" w="med" type="none"/>
          </a:ln>
        </p:spPr>
      </p:cxnSp>
      <p:pic>
        <p:nvPicPr>
          <p:cNvPr id="73" name="Google Shape;73;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4" name="Google Shape;74;p1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5" name="Shape 75"/>
        <p:cNvGrpSpPr/>
        <p:nvPr/>
      </p:nvGrpSpPr>
      <p:grpSpPr>
        <a:xfrm>
          <a:off x="0" y="0"/>
          <a:ext cx="0" cy="0"/>
          <a:chOff x="0" y="0"/>
          <a:chExt cx="0" cy="0"/>
        </a:xfrm>
      </p:grpSpPr>
      <p:sp>
        <p:nvSpPr>
          <p:cNvPr id="76" name="Google Shape;76;p1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7" name="Google Shape;77;p11"/>
          <p:cNvSpPr txBox="1"/>
          <p:nvPr>
            <p:ph idx="1" type="body"/>
          </p:nvPr>
        </p:nvSpPr>
        <p:spPr>
          <a:xfrm>
            <a:off x="4812381" y="402206"/>
            <a:ext cx="3999900" cy="34164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
        <p:nvSpPr>
          <p:cNvPr id="78" name="Google Shape;78;p1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cxnSp>
        <p:nvCxnSpPr>
          <p:cNvPr id="79" name="Google Shape;79;p11"/>
          <p:cNvCxnSpPr/>
          <p:nvPr/>
        </p:nvCxnSpPr>
        <p:spPr>
          <a:xfrm>
            <a:off x="95431" y="402210"/>
            <a:ext cx="8909700" cy="0"/>
          </a:xfrm>
          <a:prstGeom prst="straightConnector1">
            <a:avLst/>
          </a:prstGeom>
          <a:noFill/>
          <a:ln cap="flat" cmpd="sng" w="19050">
            <a:solidFill>
              <a:srgbClr val="BF9000"/>
            </a:solidFill>
            <a:prstDash val="solid"/>
            <a:round/>
            <a:headEnd len="med" w="med" type="none"/>
            <a:tailEnd len="med" w="med" type="none"/>
          </a:ln>
        </p:spPr>
      </p:cxnSp>
      <p:sp>
        <p:nvSpPr>
          <p:cNvPr id="80" name="Google Shape;80;p11"/>
          <p:cNvSpPr txBox="1"/>
          <p:nvPr>
            <p:ph idx="2" type="body"/>
          </p:nvPr>
        </p:nvSpPr>
        <p:spPr>
          <a:xfrm>
            <a:off x="95431" y="402206"/>
            <a:ext cx="3999900" cy="34164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1" name="Shape 81"/>
        <p:cNvGrpSpPr/>
        <p:nvPr/>
      </p:nvGrpSpPr>
      <p:grpSpPr>
        <a:xfrm>
          <a:off x="0" y="0"/>
          <a:ext cx="0" cy="0"/>
          <a:chOff x="0" y="0"/>
          <a:chExt cx="0" cy="0"/>
        </a:xfrm>
      </p:grpSpPr>
      <p:sp>
        <p:nvSpPr>
          <p:cNvPr id="82" name="Google Shape;82;p1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3" name="Google Shape;83;p1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cxnSp>
        <p:nvCxnSpPr>
          <p:cNvPr id="84" name="Google Shape;84;p12"/>
          <p:cNvCxnSpPr/>
          <p:nvPr/>
        </p:nvCxnSpPr>
        <p:spPr>
          <a:xfrm>
            <a:off x="95431" y="402210"/>
            <a:ext cx="8909700" cy="0"/>
          </a:xfrm>
          <a:prstGeom prst="straightConnector1">
            <a:avLst/>
          </a:prstGeom>
          <a:noFill/>
          <a:ln cap="flat" cmpd="sng" w="19050">
            <a:solidFill>
              <a:srgbClr val="BF9000"/>
            </a:solidFill>
            <a:prstDash val="solid"/>
            <a:round/>
            <a:headEnd len="med" w="med" type="none"/>
            <a:tailEnd len="med" w="med" type="none"/>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85" name="Shape 85"/>
        <p:cNvGrpSpPr/>
        <p:nvPr/>
      </p:nvGrpSpPr>
      <p:grpSpPr>
        <a:xfrm>
          <a:off x="0" y="0"/>
          <a:ext cx="0" cy="0"/>
          <a:chOff x="0" y="0"/>
          <a:chExt cx="0" cy="0"/>
        </a:xfrm>
      </p:grpSpPr>
      <p:sp>
        <p:nvSpPr>
          <p:cNvPr id="86" name="Google Shape;86;p13"/>
          <p:cNvSpPr txBox="1"/>
          <p:nvPr>
            <p:ph type="title"/>
          </p:nvPr>
        </p:nvSpPr>
        <p:spPr>
          <a:xfrm>
            <a:off x="490250" y="450150"/>
            <a:ext cx="6367800" cy="4090800"/>
          </a:xfrm>
          <a:prstGeom prst="rect">
            <a:avLst/>
          </a:prstGeom>
        </p:spPr>
        <p:txBody>
          <a:bodyPr anchorCtr="0" anchor="ctr" bIns="91425" lIns="91425" spcFirstLastPara="1" rIns="91425" wrap="square" tIns="91425">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sp>
        <p:nvSpPr>
          <p:cNvPr id="87" name="Google Shape;87;p1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TITLE_AND_DESCRIPTION_3">
  <p:cSld name="SECTION_TITLE_AND_DESCRIPTION_3">
    <p:spTree>
      <p:nvGrpSpPr>
        <p:cNvPr id="88" name="Shape 88"/>
        <p:cNvGrpSpPr/>
        <p:nvPr/>
      </p:nvGrpSpPr>
      <p:grpSpPr>
        <a:xfrm>
          <a:off x="0" y="0"/>
          <a:ext cx="0" cy="0"/>
          <a:chOff x="0" y="0"/>
          <a:chExt cx="0" cy="0"/>
        </a:xfrm>
      </p:grpSpPr>
      <p:sp>
        <p:nvSpPr>
          <p:cNvPr id="89" name="Google Shape;89;p14"/>
          <p:cNvSpPr/>
          <p:nvPr/>
        </p:nvSpPr>
        <p:spPr>
          <a:xfrm>
            <a:off x="4572000" y="-125"/>
            <a:ext cx="4572000" cy="5143500"/>
          </a:xfrm>
          <a:prstGeom prst="rect">
            <a:avLst/>
          </a:prstGeom>
          <a:solidFill>
            <a:srgbClr val="CFE2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14"/>
          <p:cNvSpPr txBox="1"/>
          <p:nvPr>
            <p:ph type="title"/>
          </p:nvPr>
        </p:nvSpPr>
        <p:spPr>
          <a:xfrm>
            <a:off x="265500" y="1233175"/>
            <a:ext cx="4045200" cy="14823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1600"/>
              <a:buNone/>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91" name="Google Shape;91;p14"/>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rtl="0" algn="ctr">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92" name="Google Shape;92;p1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93" name="Google Shape;93;p14"/>
          <p:cNvSpPr txBox="1"/>
          <p:nvPr>
            <p:ph idx="2" type="body"/>
          </p:nvPr>
        </p:nvSpPr>
        <p:spPr>
          <a:xfrm>
            <a:off x="4812381" y="402206"/>
            <a:ext cx="3999900" cy="34164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4" name="Shape 94"/>
        <p:cNvGrpSpPr/>
        <p:nvPr/>
      </p:nvGrpSpPr>
      <p:grpSpPr>
        <a:xfrm>
          <a:off x="0" y="0"/>
          <a:ext cx="0" cy="0"/>
          <a:chOff x="0" y="0"/>
          <a:chExt cx="0" cy="0"/>
        </a:xfrm>
      </p:grpSpPr>
      <p:sp>
        <p:nvSpPr>
          <p:cNvPr id="95" name="Google Shape;95;p1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96" name="Google Shape;96;p15"/>
          <p:cNvSpPr txBox="1"/>
          <p:nvPr>
            <p:ph type="title"/>
          </p:nvPr>
        </p:nvSpPr>
        <p:spPr>
          <a:xfrm>
            <a:off x="95425" y="4382350"/>
            <a:ext cx="84252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cxnSp>
        <p:nvCxnSpPr>
          <p:cNvPr id="97" name="Google Shape;97;p15"/>
          <p:cNvCxnSpPr/>
          <p:nvPr/>
        </p:nvCxnSpPr>
        <p:spPr>
          <a:xfrm>
            <a:off x="168250" y="4288400"/>
            <a:ext cx="8757000" cy="0"/>
          </a:xfrm>
          <a:prstGeom prst="straightConnector1">
            <a:avLst/>
          </a:prstGeom>
          <a:noFill/>
          <a:ln cap="flat" cmpd="sng" w="19050">
            <a:solidFill>
              <a:srgbClr val="BF9000"/>
            </a:solidFill>
            <a:prstDash val="solid"/>
            <a:round/>
            <a:headEnd len="med" w="med" type="none"/>
            <a:tailEnd len="med" w="med" type="none"/>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8" name="Shape 98"/>
        <p:cNvGrpSpPr/>
        <p:nvPr/>
      </p:nvGrpSpPr>
      <p:grpSpPr>
        <a:xfrm>
          <a:off x="0" y="0"/>
          <a:ext cx="0" cy="0"/>
          <a:chOff x="0" y="0"/>
          <a:chExt cx="0" cy="0"/>
        </a:xfrm>
      </p:grpSpPr>
      <p:sp>
        <p:nvSpPr>
          <p:cNvPr id="99" name="Google Shape;99;p1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dark">
  <p:cSld name="BLANK_1">
    <p:bg>
      <p:bgPr>
        <a:solidFill>
          <a:schemeClr val="dk1"/>
        </a:solidFill>
      </p:bgPr>
    </p:bg>
    <p:spTree>
      <p:nvGrpSpPr>
        <p:cNvPr id="100" name="Shape 100"/>
        <p:cNvGrpSpPr/>
        <p:nvPr/>
      </p:nvGrpSpPr>
      <p:grpSpPr>
        <a:xfrm>
          <a:off x="0" y="0"/>
          <a:ext cx="0" cy="0"/>
          <a:chOff x="0" y="0"/>
          <a:chExt cx="0" cy="0"/>
        </a:xfrm>
      </p:grpSpPr>
      <p:sp>
        <p:nvSpPr>
          <p:cNvPr id="101" name="Google Shape;101;p1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rlude">
  <p:cSld name="SECTION_TITLE_AND_DESCRIPTION_1_3">
    <p:spTree>
      <p:nvGrpSpPr>
        <p:cNvPr id="102" name="Shape 102"/>
        <p:cNvGrpSpPr/>
        <p:nvPr/>
      </p:nvGrpSpPr>
      <p:grpSpPr>
        <a:xfrm>
          <a:off x="0" y="0"/>
          <a:ext cx="0" cy="0"/>
          <a:chOff x="0" y="0"/>
          <a:chExt cx="0" cy="0"/>
        </a:xfrm>
      </p:grpSpPr>
      <p:sp>
        <p:nvSpPr>
          <p:cNvPr id="103" name="Google Shape;103;p18"/>
          <p:cNvSpPr/>
          <p:nvPr/>
        </p:nvSpPr>
        <p:spPr>
          <a:xfrm>
            <a:off x="0" y="-125"/>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1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05" name="Google Shape;105;p18"/>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pic>
        <p:nvPicPr>
          <p:cNvPr id="106" name="Google Shape;106;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7" name="Google Shape;107;p18"/>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p:txBody>
      </p:sp>
      <p:cxnSp>
        <p:nvCxnSpPr>
          <p:cNvPr id="108" name="Google Shape;108;p18"/>
          <p:cNvCxnSpPr/>
          <p:nvPr/>
        </p:nvCxnSpPr>
        <p:spPr>
          <a:xfrm>
            <a:off x="266975" y="4049175"/>
            <a:ext cx="4038000" cy="0"/>
          </a:xfrm>
          <a:prstGeom prst="straightConnector1">
            <a:avLst/>
          </a:prstGeom>
          <a:noFill/>
          <a:ln cap="flat" cmpd="sng" w="19050">
            <a:solidFill>
              <a:srgbClr val="BF9000"/>
            </a:solidFill>
            <a:prstDash val="solid"/>
            <a:round/>
            <a:headEnd len="med" w="med" type="none"/>
            <a:tailEnd len="med" w="med" type="none"/>
          </a:ln>
        </p:spPr>
      </p:cxnSp>
      <p:sp>
        <p:nvSpPr>
          <p:cNvPr id="109" name="Google Shape;109;p18"/>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_1">
    <p:spTree>
      <p:nvGrpSpPr>
        <p:cNvPr id="110" name="Shape 110"/>
        <p:cNvGrpSpPr/>
        <p:nvPr/>
      </p:nvGrpSpPr>
      <p:grpSpPr>
        <a:xfrm>
          <a:off x="0" y="0"/>
          <a:ext cx="0" cy="0"/>
          <a:chOff x="0" y="0"/>
          <a:chExt cx="0" cy="0"/>
        </a:xfrm>
      </p:grpSpPr>
      <p:sp>
        <p:nvSpPr>
          <p:cNvPr id="111" name="Google Shape;111;p19"/>
          <p:cNvSpPr/>
          <p:nvPr/>
        </p:nvSpPr>
        <p:spPr>
          <a:xfrm>
            <a:off x="4572000" y="-125"/>
            <a:ext cx="4572000" cy="5143500"/>
          </a:xfrm>
          <a:prstGeom prst="rect">
            <a:avLst/>
          </a:prstGeom>
          <a:solidFill>
            <a:srgbClr val="CFE2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19"/>
          <p:cNvSpPr txBox="1"/>
          <p:nvPr>
            <p:ph type="title"/>
          </p:nvPr>
        </p:nvSpPr>
        <p:spPr>
          <a:xfrm>
            <a:off x="265500" y="1233175"/>
            <a:ext cx="4045200" cy="14823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1600"/>
              <a:buNone/>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13" name="Google Shape;113;p19"/>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rtl="0" algn="ctr">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114" name="Google Shape;114;p19"/>
          <p:cNvSpPr txBox="1"/>
          <p:nvPr>
            <p:ph idx="2" type="body"/>
          </p:nvPr>
        </p:nvSpPr>
        <p:spPr>
          <a:xfrm>
            <a:off x="4939500" y="724075"/>
            <a:ext cx="3837000" cy="3695100"/>
          </a:xfrm>
          <a:prstGeom prst="rect">
            <a:avLst/>
          </a:prstGeom>
        </p:spPr>
        <p:txBody>
          <a:bodyPr anchorCtr="0" anchor="ctr"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15" name="Google Shape;115;p1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de on left">
  <p:cSld name="SECTION_TITLE_AND_DESCRIPTION_1_1_1">
    <p:spTree>
      <p:nvGrpSpPr>
        <p:cNvPr id="116" name="Shape 116"/>
        <p:cNvGrpSpPr/>
        <p:nvPr/>
      </p:nvGrpSpPr>
      <p:grpSpPr>
        <a:xfrm>
          <a:off x="0" y="0"/>
          <a:ext cx="0" cy="0"/>
          <a:chOff x="0" y="0"/>
          <a:chExt cx="0" cy="0"/>
        </a:xfrm>
      </p:grpSpPr>
      <p:sp>
        <p:nvSpPr>
          <p:cNvPr id="117" name="Google Shape;117;p20"/>
          <p:cNvSpPr/>
          <p:nvPr/>
        </p:nvSpPr>
        <p:spPr>
          <a:xfrm>
            <a:off x="0" y="6"/>
            <a:ext cx="4572000" cy="5143500"/>
          </a:xfrm>
          <a:prstGeom prst="rect">
            <a:avLst/>
          </a:prstGeom>
          <a:solidFill>
            <a:srgbClr val="FDF6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2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0"/>
          <p:cNvSpPr txBox="1"/>
          <p:nvPr>
            <p:ph idx="1" type="body"/>
          </p:nvPr>
        </p:nvSpPr>
        <p:spPr>
          <a:xfrm>
            <a:off x="4882900" y="1152150"/>
            <a:ext cx="3950100" cy="34200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20" name="Google Shape;120;p20"/>
          <p:cNvSpPr txBox="1"/>
          <p:nvPr>
            <p:ph idx="2" type="body"/>
          </p:nvPr>
        </p:nvSpPr>
        <p:spPr>
          <a:xfrm>
            <a:off x="310900" y="448050"/>
            <a:ext cx="3950100" cy="41241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21" name="Google Shape;121;p20"/>
          <p:cNvSpPr txBox="1"/>
          <p:nvPr>
            <p:ph type="title"/>
          </p:nvPr>
        </p:nvSpPr>
        <p:spPr>
          <a:xfrm>
            <a:off x="4882900" y="445025"/>
            <a:ext cx="3950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22" name="Google Shape;122;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de left, Heading">
  <p:cSld name="SECTION_TITLE_AND_DESCRIPTION_1_1_1_1">
    <p:spTree>
      <p:nvGrpSpPr>
        <p:cNvPr id="123" name="Shape 123"/>
        <p:cNvGrpSpPr/>
        <p:nvPr/>
      </p:nvGrpSpPr>
      <p:grpSpPr>
        <a:xfrm>
          <a:off x="0" y="0"/>
          <a:ext cx="0" cy="0"/>
          <a:chOff x="0" y="0"/>
          <a:chExt cx="0" cy="0"/>
        </a:xfrm>
      </p:grpSpPr>
      <p:sp>
        <p:nvSpPr>
          <p:cNvPr id="124" name="Google Shape;124;p21"/>
          <p:cNvSpPr/>
          <p:nvPr/>
        </p:nvSpPr>
        <p:spPr>
          <a:xfrm>
            <a:off x="0" y="6"/>
            <a:ext cx="4572000" cy="5143500"/>
          </a:xfrm>
          <a:prstGeom prst="rect">
            <a:avLst/>
          </a:prstGeom>
          <a:solidFill>
            <a:srgbClr val="FDF6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txBox="1"/>
          <p:nvPr>
            <p:ph idx="1" type="body"/>
          </p:nvPr>
        </p:nvSpPr>
        <p:spPr>
          <a:xfrm>
            <a:off x="4882900" y="1152150"/>
            <a:ext cx="3950100" cy="34200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27" name="Google Shape;127;p21"/>
          <p:cNvSpPr txBox="1"/>
          <p:nvPr>
            <p:ph idx="2" type="body"/>
          </p:nvPr>
        </p:nvSpPr>
        <p:spPr>
          <a:xfrm>
            <a:off x="310900" y="448050"/>
            <a:ext cx="3950100" cy="41241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28" name="Google Shape;128;p21"/>
          <p:cNvSpPr txBox="1"/>
          <p:nvPr>
            <p:ph idx="3" type="subTitle"/>
          </p:nvPr>
        </p:nvSpPr>
        <p:spPr>
          <a:xfrm>
            <a:off x="225450" y="3943400"/>
            <a:ext cx="4045200" cy="465000"/>
          </a:xfrm>
          <a:prstGeom prst="rect">
            <a:avLst/>
          </a:prstGeom>
        </p:spPr>
        <p:txBody>
          <a:bodyPr anchorCtr="0" anchor="t" bIns="91425" lIns="91425" spcFirstLastPara="1" rIns="91425" wrap="square" tIns="91425">
            <a:noAutofit/>
          </a:bodyPr>
          <a:lstStyle>
            <a:lvl1pPr lvl="0" rtl="0">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129" name="Google Shape;129;p21"/>
          <p:cNvSpPr txBox="1"/>
          <p:nvPr>
            <p:ph type="title"/>
          </p:nvPr>
        </p:nvSpPr>
        <p:spPr>
          <a:xfrm>
            <a:off x="208450" y="3418425"/>
            <a:ext cx="3950100" cy="572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pic>
        <p:nvPicPr>
          <p:cNvPr id="130" name="Google Shape;130;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spTree>
      <p:nvGrpSpPr>
        <p:cNvPr id="131" name="Shape 131"/>
        <p:cNvGrpSpPr/>
        <p:nvPr/>
      </p:nvGrpSpPr>
      <p:grpSpPr>
        <a:xfrm>
          <a:off x="0" y="0"/>
          <a:ext cx="0" cy="0"/>
          <a:chOff x="0" y="0"/>
          <a:chExt cx="0" cy="0"/>
        </a:xfrm>
      </p:grpSpPr>
      <p:sp>
        <p:nvSpPr>
          <p:cNvPr id="132" name="Google Shape;132;p22"/>
          <p:cNvSpPr txBox="1"/>
          <p:nvPr>
            <p:ph type="title"/>
          </p:nvPr>
        </p:nvSpPr>
        <p:spPr>
          <a:xfrm>
            <a:off x="311700" y="2150850"/>
            <a:ext cx="8520600" cy="841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33" name="Google Shape;133;p2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de on right">
  <p:cSld name="SECTION_TITLE_AND_DESCRIPTION_1_2">
    <p:spTree>
      <p:nvGrpSpPr>
        <p:cNvPr id="134" name="Shape 134"/>
        <p:cNvGrpSpPr/>
        <p:nvPr/>
      </p:nvGrpSpPr>
      <p:grpSpPr>
        <a:xfrm>
          <a:off x="0" y="0"/>
          <a:ext cx="0" cy="0"/>
          <a:chOff x="0" y="0"/>
          <a:chExt cx="0" cy="0"/>
        </a:xfrm>
      </p:grpSpPr>
      <p:sp>
        <p:nvSpPr>
          <p:cNvPr id="135" name="Google Shape;135;p23"/>
          <p:cNvSpPr/>
          <p:nvPr/>
        </p:nvSpPr>
        <p:spPr>
          <a:xfrm>
            <a:off x="4572000" y="-125"/>
            <a:ext cx="4572000" cy="5143500"/>
          </a:xfrm>
          <a:prstGeom prst="rect">
            <a:avLst/>
          </a:prstGeom>
          <a:solidFill>
            <a:srgbClr val="FDF6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2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37" name="Google Shape;137;p23"/>
          <p:cNvSpPr txBox="1"/>
          <p:nvPr>
            <p:ph idx="1" type="body"/>
          </p:nvPr>
        </p:nvSpPr>
        <p:spPr>
          <a:xfrm>
            <a:off x="311700" y="1152150"/>
            <a:ext cx="3950100" cy="34200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38" name="Google Shape;138;p23"/>
          <p:cNvSpPr txBox="1"/>
          <p:nvPr>
            <p:ph idx="2" type="body"/>
          </p:nvPr>
        </p:nvSpPr>
        <p:spPr>
          <a:xfrm>
            <a:off x="4882900" y="448050"/>
            <a:ext cx="3950100" cy="41241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39" name="Google Shape;139;p23"/>
          <p:cNvSpPr txBox="1"/>
          <p:nvPr>
            <p:ph type="title"/>
          </p:nvPr>
        </p:nvSpPr>
        <p:spPr>
          <a:xfrm>
            <a:off x="311700" y="445025"/>
            <a:ext cx="3950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19.xml"/><Relationship Id="rId11" Type="http://schemas.openxmlformats.org/officeDocument/2006/relationships/slideLayout" Target="../slideLayouts/slideLayout10.xml"/><Relationship Id="rId22" Type="http://schemas.openxmlformats.org/officeDocument/2006/relationships/slideLayout" Target="../slideLayouts/slideLayout21.xml"/><Relationship Id="rId10" Type="http://schemas.openxmlformats.org/officeDocument/2006/relationships/slideLayout" Target="../slideLayouts/slideLayout9.xml"/><Relationship Id="rId21" Type="http://schemas.openxmlformats.org/officeDocument/2006/relationships/slideLayout" Target="../slideLayouts/slideLayout20.xml"/><Relationship Id="rId13" Type="http://schemas.openxmlformats.org/officeDocument/2006/relationships/slideLayout" Target="../slideLayouts/slideLayout12.xml"/><Relationship Id="rId24" Type="http://schemas.openxmlformats.org/officeDocument/2006/relationships/theme" Target="../theme/theme2.xml"/><Relationship Id="rId12" Type="http://schemas.openxmlformats.org/officeDocument/2006/relationships/slideLayout" Target="../slideLayouts/slideLayout11.xml"/><Relationship Id="rId23" Type="http://schemas.openxmlformats.org/officeDocument/2006/relationships/slideLayout" Target="../slideLayouts/slideLayout22.xml"/><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15" Type="http://schemas.openxmlformats.org/officeDocument/2006/relationships/slideLayout" Target="../slideLayouts/slideLayout14.xml"/><Relationship Id="rId14" Type="http://schemas.openxmlformats.org/officeDocument/2006/relationships/slideLayout" Target="../slideLayouts/slideLayout13.xml"/><Relationship Id="rId17" Type="http://schemas.openxmlformats.org/officeDocument/2006/relationships/slideLayout" Target="../slideLayouts/slideLayout16.xml"/><Relationship Id="rId16" Type="http://schemas.openxmlformats.org/officeDocument/2006/relationships/slideLayout" Target="../slideLayouts/slideLayout15.xml"/><Relationship Id="rId5" Type="http://schemas.openxmlformats.org/officeDocument/2006/relationships/slideLayout" Target="../slideLayouts/slideLayout4.xml"/><Relationship Id="rId19" Type="http://schemas.openxmlformats.org/officeDocument/2006/relationships/slideLayout" Target="../slideLayouts/slideLayout18.xml"/><Relationship Id="rId6" Type="http://schemas.openxmlformats.org/officeDocument/2006/relationships/slideLayout" Target="../slideLayouts/slideLayout5.xml"/><Relationship Id="rId18" Type="http://schemas.openxmlformats.org/officeDocument/2006/relationships/slideLayout" Target="../slideLayouts/slideLayout17.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0" y="0"/>
            <a:ext cx="8520600" cy="3936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p:txBody>
      </p:sp>
      <p:sp>
        <p:nvSpPr>
          <p:cNvPr id="7" name="Google Shape;7;p1"/>
          <p:cNvSpPr txBox="1"/>
          <p:nvPr>
            <p:ph idx="1" type="body"/>
          </p:nvPr>
        </p:nvSpPr>
        <p:spPr>
          <a:xfrm>
            <a:off x="311700" y="572700"/>
            <a:ext cx="8520600" cy="3416400"/>
          </a:xfrm>
          <a:prstGeom prst="rect">
            <a:avLst/>
          </a:prstGeom>
          <a:noFill/>
          <a:ln>
            <a:noFill/>
          </a:ln>
        </p:spPr>
        <p:txBody>
          <a:bodyPr anchorCtr="0" anchor="t" bIns="91425" lIns="91425" spcFirstLastPara="1" rIns="91425" wrap="square" tIns="91425">
            <a:noAutofit/>
          </a:bodyPr>
          <a:lstStyle>
            <a:lvl1pPr indent="-342900" lvl="0" marL="457200" rtl="0">
              <a:lnSpc>
                <a:spcPct val="100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indent="-342900" lvl="1" marL="914400" rtl="0">
              <a:lnSpc>
                <a:spcPct val="100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indent="-342900" lvl="2" marL="1371600" rtl="0">
              <a:lnSpc>
                <a:spcPct val="100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indent="-342900" lvl="3" marL="1828800" rtl="0">
              <a:lnSpc>
                <a:spcPct val="100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indent="-342900" lvl="4" marL="2286000" rtl="0">
              <a:lnSpc>
                <a:spcPct val="100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indent="-342900" lvl="5" marL="2743200" rtl="0">
              <a:lnSpc>
                <a:spcPct val="100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indent="-342900" lvl="6" marL="3200400" rtl="0">
              <a:lnSpc>
                <a:spcPct val="100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indent="-342900" lvl="7" marL="3657600" rtl="0">
              <a:lnSpc>
                <a:spcPct val="100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indent="-342900" lvl="8" marL="4114800" rtl="0">
              <a:lnSpc>
                <a:spcPct val="100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rtl="0" algn="r">
              <a:buNone/>
              <a:defRPr sz="1000">
                <a:solidFill>
                  <a:schemeClr val="dk1"/>
                </a:solidFill>
                <a:latin typeface="Roboto"/>
                <a:ea typeface="Roboto"/>
                <a:cs typeface="Roboto"/>
                <a:sym typeface="Roboto"/>
              </a:defRPr>
            </a:lvl1pPr>
            <a:lvl2pPr lvl="1" rtl="0" algn="r">
              <a:buNone/>
              <a:defRPr sz="1000">
                <a:solidFill>
                  <a:schemeClr val="dk1"/>
                </a:solidFill>
                <a:latin typeface="Roboto"/>
                <a:ea typeface="Roboto"/>
                <a:cs typeface="Roboto"/>
                <a:sym typeface="Roboto"/>
              </a:defRPr>
            </a:lvl2pPr>
            <a:lvl3pPr lvl="2" rtl="0" algn="r">
              <a:buNone/>
              <a:defRPr sz="1000">
                <a:solidFill>
                  <a:schemeClr val="dk1"/>
                </a:solidFill>
                <a:latin typeface="Roboto"/>
                <a:ea typeface="Roboto"/>
                <a:cs typeface="Roboto"/>
                <a:sym typeface="Roboto"/>
              </a:defRPr>
            </a:lvl3pPr>
            <a:lvl4pPr lvl="3" rtl="0" algn="r">
              <a:buNone/>
              <a:defRPr sz="1000">
                <a:solidFill>
                  <a:schemeClr val="dk1"/>
                </a:solidFill>
                <a:latin typeface="Roboto"/>
                <a:ea typeface="Roboto"/>
                <a:cs typeface="Roboto"/>
                <a:sym typeface="Roboto"/>
              </a:defRPr>
            </a:lvl4pPr>
            <a:lvl5pPr lvl="4" rtl="0" algn="r">
              <a:buNone/>
              <a:defRPr sz="1000">
                <a:solidFill>
                  <a:schemeClr val="dk1"/>
                </a:solidFill>
                <a:latin typeface="Roboto"/>
                <a:ea typeface="Roboto"/>
                <a:cs typeface="Roboto"/>
                <a:sym typeface="Roboto"/>
              </a:defRPr>
            </a:lvl5pPr>
            <a:lvl6pPr lvl="5" rtl="0" algn="r">
              <a:buNone/>
              <a:defRPr sz="1000">
                <a:solidFill>
                  <a:schemeClr val="dk1"/>
                </a:solidFill>
                <a:latin typeface="Roboto"/>
                <a:ea typeface="Roboto"/>
                <a:cs typeface="Roboto"/>
                <a:sym typeface="Roboto"/>
              </a:defRPr>
            </a:lvl6pPr>
            <a:lvl7pPr lvl="6" rtl="0" algn="r">
              <a:buNone/>
              <a:defRPr sz="1000">
                <a:solidFill>
                  <a:schemeClr val="dk1"/>
                </a:solidFill>
                <a:latin typeface="Roboto"/>
                <a:ea typeface="Roboto"/>
                <a:cs typeface="Roboto"/>
                <a:sym typeface="Roboto"/>
              </a:defRPr>
            </a:lvl7pPr>
            <a:lvl8pPr lvl="7" rtl="0" algn="r">
              <a:buNone/>
              <a:defRPr sz="1000">
                <a:solidFill>
                  <a:schemeClr val="dk1"/>
                </a:solidFill>
                <a:latin typeface="Roboto"/>
                <a:ea typeface="Roboto"/>
                <a:cs typeface="Roboto"/>
                <a:sym typeface="Roboto"/>
              </a:defRPr>
            </a:lvl8pPr>
            <a:lvl9pPr lvl="8" rtl="0" algn="r">
              <a:buNone/>
              <a:defRPr sz="1000">
                <a:solidFill>
                  <a:schemeClr val="dk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 name="Google Shape;9;p1"/>
          <p:cNvPicPr preferRelativeResize="0"/>
          <p:nvPr/>
        </p:nvPicPr>
        <p:blipFill>
          <a:blip r:embed="rId1">
            <a:alphaModFix/>
          </a:blip>
          <a:stretch>
            <a:fillRect/>
          </a:stretch>
        </p:blipFill>
        <p:spPr>
          <a:xfrm>
            <a:off x="0" y="4983478"/>
            <a:ext cx="457200" cy="160022"/>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 id="2147483668" r:id="rId22"/>
    <p:sldLayoutId id="2147483669" r:id="rId2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goo.gl/bVyVCS"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 Id="rId3" Type="http://schemas.openxmlformats.org/officeDocument/2006/relationships/image" Target="../media/image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image" Target="../media/image5.png"/><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 Id="rId3" Type="http://schemas.openxmlformats.org/officeDocument/2006/relationships/hyperlink" Target="http://grepcode.com/file/repository.grepcode.com/java/root/jdk/openjdk/6-b14/java/util/Arrays.java#Arrays.mergeSort%28java.lang.Object%5B%5D%2Cjava.lang.Object%5B%5D%2Cint%2Cint%2Cint%29"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 Id="rId3" Type="http://schemas.openxmlformats.org/officeDocument/2006/relationships/hyperlink" Target="http://algs4.cs.princeton.edu/21elementary/Selection.java.html" TargetMode="External"/><Relationship Id="rId4" Type="http://schemas.openxmlformats.org/officeDocument/2006/relationships/hyperlink" Target="http://algs4.cs.princeton.edu/24pq/Heap.java.html" TargetMode="External"/><Relationship Id="rId5" Type="http://schemas.openxmlformats.org/officeDocument/2006/relationships/hyperlink" Target="http://algs4.cs.princeton.edu/14analysis/Mergesort.java.html" TargetMode="External"/><Relationship Id="rId6" Type="http://schemas.openxmlformats.org/officeDocument/2006/relationships/hyperlink" Target="http://algs4.cs.princeton.edu/21elementary/Insertion.java.html" TargetMode="External"/><Relationship Id="rId7" Type="http://schemas.openxmlformats.org/officeDocument/2006/relationships/slide" Target="/ppt/slides/slide16.xml"/><Relationship Id="rId8" Type="http://schemas.openxmlformats.org/officeDocument/2006/relationships/hyperlink" Target="https://docs.google.com/presentation/d/14RfFPU3RX9iDpE4OCXlXKmtaoxZbdNdcXTGhC9dr9xQ/edit#slide=id.g12a12f5ae1_0_98"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 Id="rId3" Type="http://schemas.openxmlformats.org/officeDocument/2006/relationships/hyperlink" Target="http://algs4.cs.princeton.edu/21elementary/Selection.java.html" TargetMode="External"/><Relationship Id="rId4" Type="http://schemas.openxmlformats.org/officeDocument/2006/relationships/hyperlink" Target="http://algs4.cs.princeton.edu/24pq/Heap.java.html" TargetMode="External"/><Relationship Id="rId5" Type="http://schemas.openxmlformats.org/officeDocument/2006/relationships/hyperlink" Target="http://algs4.cs.princeton.edu/14analysis/Mergesort.java.html" TargetMode="External"/><Relationship Id="rId6" Type="http://schemas.openxmlformats.org/officeDocument/2006/relationships/hyperlink" Target="http://algs4.cs.princeton.edu/21elementary/Insertion.java.html" TargetMode="External"/><Relationship Id="rId7" Type="http://schemas.openxmlformats.org/officeDocument/2006/relationships/hyperlink" Target="https://docs.google.com/presentation/d/14RfFPU3RX9iDpE4OCXlXKmtaoxZbdNdcXTGhC9dr9xQ/edit#slide=id.g12a12f5ae1_0_98"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 Id="rId3" Type="http://schemas.openxmlformats.org/officeDocument/2006/relationships/hyperlink" Target="https://www.bl.uk/voices-of-science/interviewees/tony-hoare/audio/tony-hoare-inventing-quicksort" TargetMode="External"/><Relationship Id="rId4" Type="http://schemas.openxmlformats.org/officeDocument/2006/relationships/image" Target="../media/image7.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 Id="rId3" Type="http://schemas.openxmlformats.org/officeDocument/2006/relationships/hyperlink" Target="https://www.bl.uk/voices-of-science/interviewees/tony-hoare/audio/tony-hoare-inventing-quicksort"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 Id="rId3" Type="http://schemas.openxmlformats.org/officeDocument/2006/relationships/hyperlink" Target="https://docs.google.com/presentation/d/1QjAs-zx1i0_XWlLqsKtexb-iueao9jNLkN-gW9QxAD0/edit#slide=id.g12aaf29688_0_307"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6.xml"/><Relationship Id="rId3" Type="http://schemas.openxmlformats.org/officeDocument/2006/relationships/image" Target="../media/image1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7.xml"/><Relationship Id="rId3" Type="http://schemas.openxmlformats.org/officeDocument/2006/relationships/hyperlink" Target="http://www.informit.com/articles/article.aspx?p=2017754&amp;seqNum=7" TargetMode="External"/><Relationship Id="rId4" Type="http://schemas.openxmlformats.org/officeDocument/2006/relationships/image" Target="../media/image9.png"/><Relationship Id="rId5" Type="http://schemas.openxmlformats.org/officeDocument/2006/relationships/image" Target="../media/image10.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4.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4"/>
          <p:cNvSpPr txBox="1"/>
          <p:nvPr>
            <p:ph type="ctrTitle"/>
          </p:nvPr>
        </p:nvSpPr>
        <p:spPr>
          <a:xfrm>
            <a:off x="311700" y="1658975"/>
            <a:ext cx="8709600" cy="2052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sz="3600">
                <a:solidFill>
                  <a:schemeClr val="accent3"/>
                </a:solidFill>
              </a:rPr>
              <a:t>Insertion Sort and Quicksort</a:t>
            </a:r>
            <a:endParaRPr sz="3600">
              <a:solidFill>
                <a:schemeClr val="accent3"/>
              </a:solidFill>
            </a:endParaRPr>
          </a:p>
        </p:txBody>
      </p:sp>
      <p:sp>
        <p:nvSpPr>
          <p:cNvPr id="145" name="Google Shape;145;p24"/>
          <p:cNvSpPr txBox="1"/>
          <p:nvPr/>
        </p:nvSpPr>
        <p:spPr>
          <a:xfrm>
            <a:off x="345775" y="2740300"/>
            <a:ext cx="2762700" cy="282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rgbClr val="BF9000"/>
                </a:solidFill>
                <a:latin typeface="Roboto Medium"/>
                <a:ea typeface="Roboto Medium"/>
                <a:cs typeface="Roboto Medium"/>
                <a:sym typeface="Roboto Medium"/>
              </a:rPr>
              <a:t>Lecture 30 (Sorting 2)</a:t>
            </a:r>
            <a:endParaRPr sz="1200">
              <a:solidFill>
                <a:srgbClr val="BF9000"/>
              </a:solidFill>
              <a:latin typeface="Roboto Medium"/>
              <a:ea typeface="Roboto Medium"/>
              <a:cs typeface="Roboto Medium"/>
              <a:sym typeface="Roboto Medium"/>
            </a:endParaRPr>
          </a:p>
        </p:txBody>
      </p:sp>
      <p:sp>
        <p:nvSpPr>
          <p:cNvPr id="146" name="Google Shape;146;p2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147" name="Google Shape;147;p24"/>
          <p:cNvSpPr txBox="1"/>
          <p:nvPr/>
        </p:nvSpPr>
        <p:spPr>
          <a:xfrm>
            <a:off x="311700" y="3854350"/>
            <a:ext cx="8520600" cy="658500"/>
          </a:xfrm>
          <a:prstGeom prst="rect">
            <a:avLst/>
          </a:prstGeom>
          <a:noFill/>
          <a:ln>
            <a:noFill/>
          </a:ln>
        </p:spPr>
        <p:txBody>
          <a:bodyPr anchorCtr="0" anchor="t" bIns="91425" lIns="91425" spcFirstLastPara="1" rIns="91425" wrap="square" tIns="91425">
            <a:noAutofit/>
          </a:bodyPr>
          <a:lstStyle/>
          <a:p>
            <a:pPr indent="0" lvl="0" marL="0" rtl="0" algn="l">
              <a:spcBef>
                <a:spcPts val="600"/>
              </a:spcBef>
              <a:spcAft>
                <a:spcPts val="0"/>
              </a:spcAft>
              <a:buNone/>
            </a:pPr>
            <a:r>
              <a:rPr lang="en" sz="1600">
                <a:latin typeface="Roboto Medium"/>
                <a:ea typeface="Roboto Medium"/>
                <a:cs typeface="Roboto Medium"/>
                <a:sym typeface="Roboto Medium"/>
              </a:rPr>
              <a:t>CS61B, Fall</a:t>
            </a:r>
            <a:r>
              <a:rPr lang="en" sz="1600">
                <a:solidFill>
                  <a:srgbClr val="000000"/>
                </a:solidFill>
                <a:latin typeface="Roboto Medium"/>
                <a:ea typeface="Roboto Medium"/>
                <a:cs typeface="Roboto Medium"/>
                <a:sym typeface="Roboto Medium"/>
              </a:rPr>
              <a:t> 202</a:t>
            </a:r>
            <a:r>
              <a:rPr lang="en" sz="1600">
                <a:latin typeface="Roboto Medium"/>
                <a:ea typeface="Roboto Medium"/>
                <a:cs typeface="Roboto Medium"/>
                <a:sym typeface="Roboto Medium"/>
              </a:rPr>
              <a:t>3</a:t>
            </a:r>
            <a:r>
              <a:rPr lang="en" sz="1600">
                <a:solidFill>
                  <a:srgbClr val="000000"/>
                </a:solidFill>
                <a:latin typeface="Roboto Medium"/>
                <a:ea typeface="Roboto Medium"/>
                <a:cs typeface="Roboto Medium"/>
                <a:sym typeface="Roboto Medium"/>
              </a:rPr>
              <a:t> @ UC Berkeley</a:t>
            </a:r>
            <a:endParaRPr sz="1600">
              <a:solidFill>
                <a:srgbClr val="000000"/>
              </a:solidFill>
              <a:latin typeface="Roboto Medium"/>
              <a:ea typeface="Roboto Medium"/>
              <a:cs typeface="Roboto Medium"/>
              <a:sym typeface="Roboto Medium"/>
            </a:endParaRPr>
          </a:p>
          <a:p>
            <a:pPr indent="0" lvl="0" marL="0" rtl="0" algn="l">
              <a:spcBef>
                <a:spcPts val="600"/>
              </a:spcBef>
              <a:spcAft>
                <a:spcPts val="0"/>
              </a:spcAft>
              <a:buNone/>
            </a:pPr>
            <a:r>
              <a:rPr lang="en" sz="1600">
                <a:latin typeface="Roboto Light"/>
                <a:ea typeface="Roboto Light"/>
                <a:cs typeface="Roboto Light"/>
                <a:sym typeface="Roboto Light"/>
              </a:rPr>
              <a:t>Slides credit: </a:t>
            </a:r>
            <a:r>
              <a:rPr lang="en" sz="1600">
                <a:solidFill>
                  <a:srgbClr val="000000"/>
                </a:solidFill>
                <a:latin typeface="Roboto Light"/>
                <a:ea typeface="Roboto Light"/>
                <a:cs typeface="Roboto Light"/>
                <a:sym typeface="Roboto Light"/>
              </a:rPr>
              <a:t>Josh Hug</a:t>
            </a:r>
            <a:endParaRPr sz="1600">
              <a:solidFill>
                <a:srgbClr val="000000"/>
              </a:solidFill>
              <a:latin typeface="Roboto Light"/>
              <a:ea typeface="Roboto Light"/>
              <a:cs typeface="Roboto Light"/>
              <a:sym typeface="Roboto Light"/>
            </a:endParaRPr>
          </a:p>
        </p:txBody>
      </p:sp>
      <p:pic>
        <p:nvPicPr>
          <p:cNvPr id="148" name="Google Shape;148;p24"/>
          <p:cNvPicPr preferRelativeResize="0"/>
          <p:nvPr/>
        </p:nvPicPr>
        <p:blipFill>
          <a:blip r:embed="rId3">
            <a:alphaModFix/>
          </a:blip>
          <a:stretch>
            <a:fillRect/>
          </a:stretch>
        </p:blipFill>
        <p:spPr>
          <a:xfrm>
            <a:off x="6696800" y="424775"/>
            <a:ext cx="1786225" cy="20895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25"/>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b="1" lang="en">
                <a:solidFill>
                  <a:schemeClr val="accent3"/>
                </a:solidFill>
                <a:latin typeface="Roboto"/>
                <a:ea typeface="Roboto"/>
                <a:cs typeface="Roboto"/>
                <a:sym typeface="Roboto"/>
              </a:rPr>
              <a:t>Insertion Sort</a:t>
            </a:r>
            <a:endParaRPr b="1">
              <a:solidFill>
                <a:schemeClr val="accent3"/>
              </a:solidFill>
              <a:latin typeface="Roboto"/>
              <a:ea typeface="Roboto"/>
              <a:cs typeface="Roboto"/>
              <a:sym typeface="Roboto"/>
            </a:endParaRPr>
          </a:p>
          <a:p>
            <a:pPr indent="-342900" lvl="0" marL="457200" rtl="0" algn="l">
              <a:spcBef>
                <a:spcPts val="600"/>
              </a:spcBef>
              <a:spcAft>
                <a:spcPts val="0"/>
              </a:spcAft>
              <a:buClr>
                <a:schemeClr val="accent3"/>
              </a:buClr>
              <a:buSzPts val="1800"/>
              <a:buFont typeface="Roboto"/>
              <a:buChar char="•"/>
            </a:pPr>
            <a:r>
              <a:rPr b="1" lang="en">
                <a:solidFill>
                  <a:schemeClr val="accent3"/>
                </a:solidFill>
                <a:latin typeface="Roboto"/>
                <a:ea typeface="Roboto"/>
                <a:cs typeface="Roboto"/>
                <a:sym typeface="Roboto"/>
              </a:rPr>
              <a:t>Naive Insertion Sort</a:t>
            </a:r>
            <a:endParaRPr b="1">
              <a:solidFill>
                <a:schemeClr val="accent3"/>
              </a:solidFill>
              <a:latin typeface="Roboto"/>
              <a:ea typeface="Roboto"/>
              <a:cs typeface="Roboto"/>
              <a:sym typeface="Roboto"/>
            </a:endParaRPr>
          </a:p>
          <a:p>
            <a:pPr indent="-342900" lvl="0" marL="457200" rtl="0" algn="l">
              <a:spcBef>
                <a:spcPts val="0"/>
              </a:spcBef>
              <a:spcAft>
                <a:spcPts val="0"/>
              </a:spcAft>
              <a:buSzPts val="1800"/>
              <a:buChar char="•"/>
            </a:pPr>
            <a:r>
              <a:rPr lang="en"/>
              <a:t>In-Place Insertion Sort</a:t>
            </a:r>
            <a:endParaRPr/>
          </a:p>
          <a:p>
            <a:pPr indent="-342900" lvl="0" marL="457200" rtl="0" algn="l">
              <a:spcBef>
                <a:spcPts val="0"/>
              </a:spcBef>
              <a:spcAft>
                <a:spcPts val="0"/>
              </a:spcAft>
              <a:buSzPts val="1800"/>
              <a:buChar char="•"/>
            </a:pPr>
            <a:r>
              <a:rPr lang="en"/>
              <a:t>Insertion Sort Runtime</a:t>
            </a:r>
            <a:endParaRPr/>
          </a:p>
          <a:p>
            <a:pPr indent="0" lvl="0" marL="0" rtl="0" algn="l">
              <a:spcBef>
                <a:spcPts val="600"/>
              </a:spcBef>
              <a:spcAft>
                <a:spcPts val="0"/>
              </a:spcAft>
              <a:buNone/>
            </a:pPr>
            <a:r>
              <a:rPr lang="en"/>
              <a:t>Quicksort</a:t>
            </a:r>
            <a:endParaRPr b="1">
              <a:solidFill>
                <a:schemeClr val="accent3"/>
              </a:solidFill>
              <a:latin typeface="Roboto"/>
              <a:ea typeface="Roboto"/>
              <a:cs typeface="Roboto"/>
              <a:sym typeface="Roboto"/>
            </a:endParaRPr>
          </a:p>
          <a:p>
            <a:pPr indent="-342900" lvl="0" marL="457200" rtl="0" algn="l">
              <a:spcBef>
                <a:spcPts val="600"/>
              </a:spcBef>
              <a:spcAft>
                <a:spcPts val="0"/>
              </a:spcAft>
              <a:buSzPts val="1800"/>
              <a:buChar char="•"/>
            </a:pPr>
            <a:r>
              <a:rPr lang="en"/>
              <a:t>Quicksort Backstory,</a:t>
            </a:r>
            <a:br>
              <a:rPr lang="en"/>
            </a:br>
            <a:r>
              <a:rPr lang="en"/>
              <a:t>Partitioning</a:t>
            </a:r>
            <a:endParaRPr/>
          </a:p>
          <a:p>
            <a:pPr indent="-342900" lvl="0" marL="457200" rtl="0" algn="l">
              <a:spcBef>
                <a:spcPts val="0"/>
              </a:spcBef>
              <a:spcAft>
                <a:spcPts val="0"/>
              </a:spcAft>
              <a:buSzPts val="1800"/>
              <a:buChar char="•"/>
            </a:pPr>
            <a:r>
              <a:rPr lang="en"/>
              <a:t>Quicksort</a:t>
            </a:r>
            <a:endParaRPr/>
          </a:p>
          <a:p>
            <a:pPr indent="0" lvl="0" marL="0" rtl="0" algn="l">
              <a:spcBef>
                <a:spcPts val="600"/>
              </a:spcBef>
              <a:spcAft>
                <a:spcPts val="0"/>
              </a:spcAft>
              <a:buNone/>
            </a:pPr>
            <a:r>
              <a:rPr lang="en"/>
              <a:t>Quicksort Performance</a:t>
            </a:r>
            <a:endParaRPr/>
          </a:p>
          <a:p>
            <a:pPr indent="-342900" lvl="0" marL="457200" rtl="0" algn="l">
              <a:spcBef>
                <a:spcPts val="600"/>
              </a:spcBef>
              <a:spcAft>
                <a:spcPts val="0"/>
              </a:spcAft>
              <a:buSzPts val="1800"/>
              <a:buChar char="•"/>
            </a:pPr>
            <a:r>
              <a:rPr lang="en"/>
              <a:t>Quicksort Runtime Analysis</a:t>
            </a:r>
            <a:endParaRPr/>
          </a:p>
          <a:p>
            <a:pPr indent="-342900" lvl="0" marL="457200" rtl="0" algn="l">
              <a:spcBef>
                <a:spcPts val="0"/>
              </a:spcBef>
              <a:spcAft>
                <a:spcPts val="0"/>
              </a:spcAft>
              <a:buSzPts val="1800"/>
              <a:buChar char="•"/>
            </a:pPr>
            <a:r>
              <a:rPr lang="en"/>
              <a:t>Avoiding Quicksort Worst Case</a:t>
            </a:r>
            <a:endParaRPr/>
          </a:p>
        </p:txBody>
      </p:sp>
      <p:sp>
        <p:nvSpPr>
          <p:cNvPr id="154" name="Google Shape;154;p25"/>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30, CS61B, Fall 2023</a:t>
            </a:r>
            <a:endParaRPr/>
          </a:p>
        </p:txBody>
      </p:sp>
      <p:sp>
        <p:nvSpPr>
          <p:cNvPr id="155" name="Google Shape;155;p25"/>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Naive Insertion Sort</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Insertion Sort</a:t>
            </a:r>
            <a:endParaRPr/>
          </a:p>
        </p:txBody>
      </p:sp>
      <p:sp>
        <p:nvSpPr>
          <p:cNvPr id="161" name="Google Shape;161;p26"/>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Starting with an empty output sequence.</a:t>
            </a:r>
            <a:endParaRPr/>
          </a:p>
          <a:p>
            <a:pPr indent="-342900" lvl="0" marL="457200" rtl="0" algn="l">
              <a:spcBef>
                <a:spcPts val="0"/>
              </a:spcBef>
              <a:spcAft>
                <a:spcPts val="0"/>
              </a:spcAft>
              <a:buSzPts val="1800"/>
              <a:buChar char="●"/>
            </a:pPr>
            <a:r>
              <a:rPr lang="en"/>
              <a:t>Add each item from input, inserting into output at right point.</a:t>
            </a:r>
            <a:endParaRPr/>
          </a:p>
          <a:p>
            <a:pPr indent="0" lvl="0" marL="0" rtl="0" algn="l">
              <a:spcBef>
                <a:spcPts val="600"/>
              </a:spcBef>
              <a:spcAft>
                <a:spcPts val="0"/>
              </a:spcAft>
              <a:buNone/>
            </a:pPr>
            <a:r>
              <a:t/>
            </a:r>
            <a:endParaRPr/>
          </a:p>
          <a:p>
            <a:pPr indent="0" lvl="0" marL="0" rtl="0" algn="l">
              <a:spcBef>
                <a:spcPts val="600"/>
              </a:spcBef>
              <a:spcAft>
                <a:spcPts val="0"/>
              </a:spcAft>
              <a:buClr>
                <a:schemeClr val="dk1"/>
              </a:buClr>
              <a:buSzPts val="1100"/>
              <a:buFont typeface="Arial"/>
              <a:buNone/>
            </a:pPr>
            <a:r>
              <a:rPr lang="en"/>
              <a:t>Naive approach, build entirely new output: </a:t>
            </a:r>
            <a:r>
              <a:rPr lang="en" u="sng">
                <a:solidFill>
                  <a:schemeClr val="hlink"/>
                </a:solidFill>
                <a:hlinkClick r:id="rId3"/>
              </a:rPr>
              <a:t>Demo (Link)</a:t>
            </a:r>
            <a:endParaRPr/>
          </a:p>
          <a:p>
            <a:pPr indent="0" lvl="0" marL="0" rtl="0" algn="l">
              <a:spcBef>
                <a:spcPts val="600"/>
              </a:spcBef>
              <a:spcAft>
                <a:spcPts val="0"/>
              </a:spcAft>
              <a:buNone/>
            </a:pPr>
            <a:r>
              <a:t/>
            </a:r>
            <a:endParaRPr/>
          </a:p>
        </p:txBody>
      </p:sp>
      <p:sp>
        <p:nvSpPr>
          <p:cNvPr id="162" name="Google Shape;162;p26"/>
          <p:cNvSpPr/>
          <p:nvPr/>
        </p:nvSpPr>
        <p:spPr>
          <a:xfrm>
            <a:off x="283417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163" name="Google Shape;163;p26"/>
          <p:cNvSpPr/>
          <p:nvPr/>
        </p:nvSpPr>
        <p:spPr>
          <a:xfrm>
            <a:off x="3319364"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164" name="Google Shape;164;p26"/>
          <p:cNvSpPr/>
          <p:nvPr/>
        </p:nvSpPr>
        <p:spPr>
          <a:xfrm>
            <a:off x="380870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65" name="Google Shape;165;p26"/>
          <p:cNvSpPr/>
          <p:nvPr/>
        </p:nvSpPr>
        <p:spPr>
          <a:xfrm>
            <a:off x="4293894"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66" name="Google Shape;166;p26"/>
          <p:cNvSpPr/>
          <p:nvPr/>
        </p:nvSpPr>
        <p:spPr>
          <a:xfrm>
            <a:off x="477863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167" name="Google Shape;167;p26"/>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168" name="Google Shape;168;p26"/>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169" name="Google Shape;169;p26"/>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70" name="Google Shape;170;p26"/>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71" name="Google Shape;171;p26"/>
          <p:cNvSpPr txBox="1"/>
          <p:nvPr/>
        </p:nvSpPr>
        <p:spPr>
          <a:xfrm>
            <a:off x="1300800" y="2872650"/>
            <a:ext cx="948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400">
                <a:latin typeface="Calibri"/>
                <a:ea typeface="Calibri"/>
                <a:cs typeface="Calibri"/>
                <a:sym typeface="Calibri"/>
              </a:rPr>
              <a:t>Input:</a:t>
            </a:r>
            <a:endParaRPr sz="2400">
              <a:latin typeface="Calibri"/>
              <a:ea typeface="Calibri"/>
              <a:cs typeface="Calibri"/>
              <a:sym typeface="Calibri"/>
            </a:endParaRPr>
          </a:p>
        </p:txBody>
      </p:sp>
      <p:sp>
        <p:nvSpPr>
          <p:cNvPr id="172" name="Google Shape;172;p26"/>
          <p:cNvSpPr txBox="1"/>
          <p:nvPr/>
        </p:nvSpPr>
        <p:spPr>
          <a:xfrm>
            <a:off x="1221525" y="3748200"/>
            <a:ext cx="11721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400">
                <a:latin typeface="Calibri"/>
                <a:ea typeface="Calibri"/>
                <a:cs typeface="Calibri"/>
                <a:sym typeface="Calibri"/>
              </a:rPr>
              <a:t>Output:</a:t>
            </a:r>
            <a:endParaRPr sz="2400">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Insertion Sort</a:t>
            </a:r>
            <a:endParaRPr/>
          </a:p>
        </p:txBody>
      </p:sp>
      <p:sp>
        <p:nvSpPr>
          <p:cNvPr id="178" name="Google Shape;178;p27"/>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Starting with an empty output sequence.</a:t>
            </a:r>
            <a:endParaRPr/>
          </a:p>
          <a:p>
            <a:pPr indent="-342900" lvl="0" marL="457200" rtl="0" algn="l">
              <a:spcBef>
                <a:spcPts val="0"/>
              </a:spcBef>
              <a:spcAft>
                <a:spcPts val="0"/>
              </a:spcAft>
              <a:buSzPts val="1800"/>
              <a:buChar char="●"/>
            </a:pPr>
            <a:r>
              <a:rPr lang="en"/>
              <a:t>Add each item from input, inserting into output at right point.</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Naive approach, build entirely new output:</a:t>
            </a:r>
            <a:endParaRPr/>
          </a:p>
        </p:txBody>
      </p:sp>
      <p:sp>
        <p:nvSpPr>
          <p:cNvPr id="179" name="Google Shape;179;p27"/>
          <p:cNvSpPr/>
          <p:nvPr/>
        </p:nvSpPr>
        <p:spPr>
          <a:xfrm>
            <a:off x="2834175"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180" name="Google Shape;180;p27"/>
          <p:cNvSpPr/>
          <p:nvPr/>
        </p:nvSpPr>
        <p:spPr>
          <a:xfrm>
            <a:off x="3319364"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181" name="Google Shape;181;p27"/>
          <p:cNvSpPr/>
          <p:nvPr/>
        </p:nvSpPr>
        <p:spPr>
          <a:xfrm>
            <a:off x="380870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82" name="Google Shape;182;p27"/>
          <p:cNvSpPr/>
          <p:nvPr/>
        </p:nvSpPr>
        <p:spPr>
          <a:xfrm>
            <a:off x="4293894"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83" name="Google Shape;183;p27"/>
          <p:cNvSpPr/>
          <p:nvPr/>
        </p:nvSpPr>
        <p:spPr>
          <a:xfrm>
            <a:off x="477863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184" name="Google Shape;184;p27"/>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185" name="Google Shape;185;p27"/>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186" name="Google Shape;186;p27"/>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87" name="Google Shape;187;p27"/>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88" name="Google Shape;188;p27"/>
          <p:cNvSpPr txBox="1"/>
          <p:nvPr/>
        </p:nvSpPr>
        <p:spPr>
          <a:xfrm>
            <a:off x="1300800" y="2872650"/>
            <a:ext cx="948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Input:</a:t>
            </a:r>
            <a:endParaRPr sz="2000">
              <a:latin typeface="Calibri"/>
              <a:ea typeface="Calibri"/>
              <a:cs typeface="Calibri"/>
              <a:sym typeface="Calibri"/>
            </a:endParaRPr>
          </a:p>
        </p:txBody>
      </p:sp>
      <p:sp>
        <p:nvSpPr>
          <p:cNvPr id="189" name="Google Shape;189;p27"/>
          <p:cNvSpPr txBox="1"/>
          <p:nvPr/>
        </p:nvSpPr>
        <p:spPr>
          <a:xfrm>
            <a:off x="1221525" y="3866612"/>
            <a:ext cx="11721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Output:</a:t>
            </a:r>
            <a:endParaRPr sz="2000">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2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Insertion Sort</a:t>
            </a:r>
            <a:endParaRPr/>
          </a:p>
        </p:txBody>
      </p:sp>
      <p:sp>
        <p:nvSpPr>
          <p:cNvPr id="195" name="Google Shape;195;p28"/>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196" name="Google Shape;196;p28"/>
          <p:cNvSpPr/>
          <p:nvPr/>
        </p:nvSpPr>
        <p:spPr>
          <a:xfrm>
            <a:off x="3319364"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197" name="Google Shape;197;p28"/>
          <p:cNvSpPr/>
          <p:nvPr/>
        </p:nvSpPr>
        <p:spPr>
          <a:xfrm>
            <a:off x="380870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98" name="Google Shape;198;p28"/>
          <p:cNvSpPr/>
          <p:nvPr/>
        </p:nvSpPr>
        <p:spPr>
          <a:xfrm>
            <a:off x="4293894"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99" name="Google Shape;199;p28"/>
          <p:cNvSpPr/>
          <p:nvPr/>
        </p:nvSpPr>
        <p:spPr>
          <a:xfrm>
            <a:off x="477863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200" name="Google Shape;200;p28"/>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201" name="Google Shape;201;p28"/>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202" name="Google Shape;202;p28"/>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203" name="Google Shape;203;p28"/>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204" name="Google Shape;204;p28"/>
          <p:cNvSpPr/>
          <p:nvPr/>
        </p:nvSpPr>
        <p:spPr>
          <a:xfrm>
            <a:off x="2834175" y="3880930"/>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205" name="Google Shape;205;p28"/>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Starting with an empty output sequence.</a:t>
            </a:r>
            <a:endParaRPr/>
          </a:p>
          <a:p>
            <a:pPr indent="-342900" lvl="0" marL="457200" rtl="0" algn="l">
              <a:spcBef>
                <a:spcPts val="0"/>
              </a:spcBef>
              <a:spcAft>
                <a:spcPts val="0"/>
              </a:spcAft>
              <a:buSzPts val="1800"/>
              <a:buChar char="●"/>
            </a:pPr>
            <a:r>
              <a:rPr lang="en"/>
              <a:t>Add each item from input, inserting into output at right point.</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Naive approach, build entirely new output:</a:t>
            </a:r>
            <a:endParaRPr/>
          </a:p>
        </p:txBody>
      </p:sp>
      <p:sp>
        <p:nvSpPr>
          <p:cNvPr id="206" name="Google Shape;206;p28"/>
          <p:cNvSpPr txBox="1"/>
          <p:nvPr/>
        </p:nvSpPr>
        <p:spPr>
          <a:xfrm>
            <a:off x="1300800" y="2872650"/>
            <a:ext cx="948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Input:</a:t>
            </a:r>
            <a:endParaRPr sz="2000">
              <a:latin typeface="Calibri"/>
              <a:ea typeface="Calibri"/>
              <a:cs typeface="Calibri"/>
              <a:sym typeface="Calibri"/>
            </a:endParaRPr>
          </a:p>
        </p:txBody>
      </p:sp>
      <p:sp>
        <p:nvSpPr>
          <p:cNvPr id="207" name="Google Shape;207;p28"/>
          <p:cNvSpPr txBox="1"/>
          <p:nvPr/>
        </p:nvSpPr>
        <p:spPr>
          <a:xfrm>
            <a:off x="1221525" y="3866612"/>
            <a:ext cx="11721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Output:</a:t>
            </a:r>
            <a:endParaRPr sz="2000">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2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Insertion Sort</a:t>
            </a:r>
            <a:endParaRPr/>
          </a:p>
        </p:txBody>
      </p:sp>
      <p:sp>
        <p:nvSpPr>
          <p:cNvPr id="213" name="Google Shape;213;p29"/>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214" name="Google Shape;214;p29"/>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215" name="Google Shape;215;p29"/>
          <p:cNvSpPr/>
          <p:nvPr/>
        </p:nvSpPr>
        <p:spPr>
          <a:xfrm>
            <a:off x="3808705"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216" name="Google Shape;216;p29"/>
          <p:cNvSpPr/>
          <p:nvPr/>
        </p:nvSpPr>
        <p:spPr>
          <a:xfrm>
            <a:off x="4293894"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217" name="Google Shape;217;p29"/>
          <p:cNvSpPr/>
          <p:nvPr/>
        </p:nvSpPr>
        <p:spPr>
          <a:xfrm>
            <a:off x="477863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218" name="Google Shape;218;p29"/>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219" name="Google Shape;219;p29"/>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220" name="Google Shape;220;p29"/>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221" name="Google Shape;221;p29"/>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222" name="Google Shape;222;p29"/>
          <p:cNvSpPr/>
          <p:nvPr/>
        </p:nvSpPr>
        <p:spPr>
          <a:xfrm>
            <a:off x="3313400" y="3880930"/>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223" name="Google Shape;223;p29"/>
          <p:cNvSpPr/>
          <p:nvPr/>
        </p:nvSpPr>
        <p:spPr>
          <a:xfrm>
            <a:off x="2818089"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224" name="Google Shape;224;p29"/>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Starting with an empty output sequence.</a:t>
            </a:r>
            <a:endParaRPr/>
          </a:p>
          <a:p>
            <a:pPr indent="-342900" lvl="0" marL="457200" rtl="0" algn="l">
              <a:spcBef>
                <a:spcPts val="0"/>
              </a:spcBef>
              <a:spcAft>
                <a:spcPts val="0"/>
              </a:spcAft>
              <a:buSzPts val="1800"/>
              <a:buChar char="●"/>
            </a:pPr>
            <a:r>
              <a:rPr lang="en"/>
              <a:t>Add each item from input, inserting into output at right point.</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Naive approach, build entirely new output:</a:t>
            </a:r>
            <a:endParaRPr/>
          </a:p>
        </p:txBody>
      </p:sp>
      <p:sp>
        <p:nvSpPr>
          <p:cNvPr id="225" name="Google Shape;225;p29"/>
          <p:cNvSpPr txBox="1"/>
          <p:nvPr/>
        </p:nvSpPr>
        <p:spPr>
          <a:xfrm>
            <a:off x="1300800" y="2872650"/>
            <a:ext cx="948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Input:</a:t>
            </a:r>
            <a:endParaRPr sz="2000">
              <a:latin typeface="Calibri"/>
              <a:ea typeface="Calibri"/>
              <a:cs typeface="Calibri"/>
              <a:sym typeface="Calibri"/>
            </a:endParaRPr>
          </a:p>
        </p:txBody>
      </p:sp>
      <p:sp>
        <p:nvSpPr>
          <p:cNvPr id="226" name="Google Shape;226;p29"/>
          <p:cNvSpPr txBox="1"/>
          <p:nvPr/>
        </p:nvSpPr>
        <p:spPr>
          <a:xfrm>
            <a:off x="1221525" y="3866612"/>
            <a:ext cx="11721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Output:</a:t>
            </a:r>
            <a:endParaRPr sz="2000">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30"/>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Insertion Sort</a:t>
            </a:r>
            <a:endParaRPr/>
          </a:p>
        </p:txBody>
      </p:sp>
      <p:sp>
        <p:nvSpPr>
          <p:cNvPr id="232" name="Google Shape;232;p30"/>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233" name="Google Shape;233;p30"/>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234" name="Google Shape;234;p30"/>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235" name="Google Shape;235;p30"/>
          <p:cNvSpPr/>
          <p:nvPr/>
        </p:nvSpPr>
        <p:spPr>
          <a:xfrm>
            <a:off x="4293894"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236" name="Google Shape;236;p30"/>
          <p:cNvSpPr/>
          <p:nvPr/>
        </p:nvSpPr>
        <p:spPr>
          <a:xfrm>
            <a:off x="477863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237" name="Google Shape;237;p30"/>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238" name="Google Shape;238;p30"/>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239" name="Google Shape;239;p30"/>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240" name="Google Shape;240;p30"/>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241" name="Google Shape;241;p30"/>
          <p:cNvSpPr/>
          <p:nvPr/>
        </p:nvSpPr>
        <p:spPr>
          <a:xfrm>
            <a:off x="3814675" y="3880930"/>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242" name="Google Shape;242;p30"/>
          <p:cNvSpPr/>
          <p:nvPr/>
        </p:nvSpPr>
        <p:spPr>
          <a:xfrm>
            <a:off x="3319364"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243" name="Google Shape;243;p30"/>
          <p:cNvSpPr/>
          <p:nvPr/>
        </p:nvSpPr>
        <p:spPr>
          <a:xfrm>
            <a:off x="2824080"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244" name="Google Shape;244;p30"/>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Starting with an empty output sequence.</a:t>
            </a:r>
            <a:endParaRPr/>
          </a:p>
          <a:p>
            <a:pPr indent="-342900" lvl="0" marL="457200" rtl="0" algn="l">
              <a:spcBef>
                <a:spcPts val="0"/>
              </a:spcBef>
              <a:spcAft>
                <a:spcPts val="0"/>
              </a:spcAft>
              <a:buSzPts val="1800"/>
              <a:buChar char="●"/>
            </a:pPr>
            <a:r>
              <a:rPr lang="en"/>
              <a:t>Add each item from input, inserting into output at right point.</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Naive approach, build entirely new output:</a:t>
            </a:r>
            <a:endParaRPr/>
          </a:p>
        </p:txBody>
      </p:sp>
      <p:sp>
        <p:nvSpPr>
          <p:cNvPr id="245" name="Google Shape;245;p30"/>
          <p:cNvSpPr txBox="1"/>
          <p:nvPr/>
        </p:nvSpPr>
        <p:spPr>
          <a:xfrm>
            <a:off x="1300800" y="2872650"/>
            <a:ext cx="948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Input:</a:t>
            </a:r>
            <a:endParaRPr sz="2000">
              <a:latin typeface="Calibri"/>
              <a:ea typeface="Calibri"/>
              <a:cs typeface="Calibri"/>
              <a:sym typeface="Calibri"/>
            </a:endParaRPr>
          </a:p>
        </p:txBody>
      </p:sp>
      <p:sp>
        <p:nvSpPr>
          <p:cNvPr id="246" name="Google Shape;246;p30"/>
          <p:cNvSpPr txBox="1"/>
          <p:nvPr/>
        </p:nvSpPr>
        <p:spPr>
          <a:xfrm>
            <a:off x="1221525" y="3866612"/>
            <a:ext cx="11721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Output:</a:t>
            </a:r>
            <a:endParaRPr sz="2000">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Insertion Sort</a:t>
            </a:r>
            <a:endParaRPr/>
          </a:p>
        </p:txBody>
      </p:sp>
      <p:sp>
        <p:nvSpPr>
          <p:cNvPr id="252" name="Google Shape;252;p31"/>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253" name="Google Shape;253;p31"/>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254" name="Google Shape;254;p31"/>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255" name="Google Shape;255;p31"/>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256" name="Google Shape;256;p31"/>
          <p:cNvSpPr/>
          <p:nvPr/>
        </p:nvSpPr>
        <p:spPr>
          <a:xfrm>
            <a:off x="4778636"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257" name="Google Shape;257;p31"/>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258" name="Google Shape;258;p31"/>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259" name="Google Shape;259;p31"/>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260" name="Google Shape;260;p31"/>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261" name="Google Shape;261;p31"/>
          <p:cNvSpPr/>
          <p:nvPr/>
        </p:nvSpPr>
        <p:spPr>
          <a:xfrm>
            <a:off x="4299562" y="3880930"/>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262" name="Google Shape;262;p31"/>
          <p:cNvSpPr/>
          <p:nvPr/>
        </p:nvSpPr>
        <p:spPr>
          <a:xfrm>
            <a:off x="3319364"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263" name="Google Shape;263;p31"/>
          <p:cNvSpPr/>
          <p:nvPr/>
        </p:nvSpPr>
        <p:spPr>
          <a:xfrm>
            <a:off x="2824080"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264" name="Google Shape;264;p31"/>
          <p:cNvSpPr/>
          <p:nvPr/>
        </p:nvSpPr>
        <p:spPr>
          <a:xfrm>
            <a:off x="3809462"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265" name="Google Shape;265;p31"/>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Starting with an empty output sequence.</a:t>
            </a:r>
            <a:endParaRPr/>
          </a:p>
          <a:p>
            <a:pPr indent="-342900" lvl="0" marL="457200" rtl="0" algn="l">
              <a:spcBef>
                <a:spcPts val="0"/>
              </a:spcBef>
              <a:spcAft>
                <a:spcPts val="0"/>
              </a:spcAft>
              <a:buSzPts val="1800"/>
              <a:buChar char="●"/>
            </a:pPr>
            <a:r>
              <a:rPr lang="en"/>
              <a:t>Add each item from input, inserting into output at right point.</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Naive approach, build entirely new output:</a:t>
            </a:r>
            <a:endParaRPr/>
          </a:p>
        </p:txBody>
      </p:sp>
      <p:sp>
        <p:nvSpPr>
          <p:cNvPr id="266" name="Google Shape;266;p31"/>
          <p:cNvSpPr txBox="1"/>
          <p:nvPr/>
        </p:nvSpPr>
        <p:spPr>
          <a:xfrm>
            <a:off x="1300800" y="2872650"/>
            <a:ext cx="948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Input:</a:t>
            </a:r>
            <a:endParaRPr sz="2000">
              <a:latin typeface="Calibri"/>
              <a:ea typeface="Calibri"/>
              <a:cs typeface="Calibri"/>
              <a:sym typeface="Calibri"/>
            </a:endParaRPr>
          </a:p>
        </p:txBody>
      </p:sp>
      <p:sp>
        <p:nvSpPr>
          <p:cNvPr id="267" name="Google Shape;267;p31"/>
          <p:cNvSpPr txBox="1"/>
          <p:nvPr/>
        </p:nvSpPr>
        <p:spPr>
          <a:xfrm>
            <a:off x="1221525" y="3866612"/>
            <a:ext cx="11721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Output:</a:t>
            </a:r>
            <a:endParaRPr sz="2000">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3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Insertion Sort</a:t>
            </a:r>
            <a:endParaRPr/>
          </a:p>
        </p:txBody>
      </p:sp>
      <p:sp>
        <p:nvSpPr>
          <p:cNvPr id="273" name="Google Shape;273;p32"/>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274" name="Google Shape;274;p32"/>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275" name="Google Shape;275;p32"/>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276" name="Google Shape;276;p32"/>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277" name="Google Shape;277;p32"/>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278" name="Google Shape;278;p32"/>
          <p:cNvSpPr/>
          <p:nvPr/>
        </p:nvSpPr>
        <p:spPr>
          <a:xfrm>
            <a:off x="5263825"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279" name="Google Shape;279;p32"/>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280" name="Google Shape;280;p32"/>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281" name="Google Shape;281;p32"/>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282" name="Google Shape;282;p32"/>
          <p:cNvSpPr/>
          <p:nvPr/>
        </p:nvSpPr>
        <p:spPr>
          <a:xfrm>
            <a:off x="4794818"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283" name="Google Shape;283;p32"/>
          <p:cNvSpPr/>
          <p:nvPr/>
        </p:nvSpPr>
        <p:spPr>
          <a:xfrm>
            <a:off x="3319364"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284" name="Google Shape;284;p32"/>
          <p:cNvSpPr/>
          <p:nvPr/>
        </p:nvSpPr>
        <p:spPr>
          <a:xfrm>
            <a:off x="2824080"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285" name="Google Shape;285;p32"/>
          <p:cNvSpPr/>
          <p:nvPr/>
        </p:nvSpPr>
        <p:spPr>
          <a:xfrm>
            <a:off x="3809462"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286" name="Google Shape;286;p32"/>
          <p:cNvSpPr/>
          <p:nvPr/>
        </p:nvSpPr>
        <p:spPr>
          <a:xfrm>
            <a:off x="4293911"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287" name="Google Shape;287;p32"/>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Starting with an empty output sequence.</a:t>
            </a:r>
            <a:endParaRPr/>
          </a:p>
          <a:p>
            <a:pPr indent="-342900" lvl="0" marL="457200" rtl="0" algn="l">
              <a:spcBef>
                <a:spcPts val="0"/>
              </a:spcBef>
              <a:spcAft>
                <a:spcPts val="0"/>
              </a:spcAft>
              <a:buSzPts val="1800"/>
              <a:buChar char="●"/>
            </a:pPr>
            <a:r>
              <a:rPr lang="en"/>
              <a:t>Add each item from input, inserting into output at right point.</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Naive approach, build entirely new output:</a:t>
            </a:r>
            <a:endParaRPr/>
          </a:p>
        </p:txBody>
      </p:sp>
      <p:sp>
        <p:nvSpPr>
          <p:cNvPr id="288" name="Google Shape;288;p32"/>
          <p:cNvSpPr txBox="1"/>
          <p:nvPr/>
        </p:nvSpPr>
        <p:spPr>
          <a:xfrm>
            <a:off x="1300800" y="2872650"/>
            <a:ext cx="948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Input:</a:t>
            </a:r>
            <a:endParaRPr sz="2000">
              <a:latin typeface="Calibri"/>
              <a:ea typeface="Calibri"/>
              <a:cs typeface="Calibri"/>
              <a:sym typeface="Calibri"/>
            </a:endParaRPr>
          </a:p>
        </p:txBody>
      </p:sp>
      <p:sp>
        <p:nvSpPr>
          <p:cNvPr id="289" name="Google Shape;289;p32"/>
          <p:cNvSpPr txBox="1"/>
          <p:nvPr/>
        </p:nvSpPr>
        <p:spPr>
          <a:xfrm>
            <a:off x="1221525" y="3866612"/>
            <a:ext cx="11721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Output:</a:t>
            </a:r>
            <a:endParaRPr sz="2000">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33"/>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Insertion Sort</a:t>
            </a:r>
            <a:endParaRPr/>
          </a:p>
        </p:txBody>
      </p:sp>
      <p:sp>
        <p:nvSpPr>
          <p:cNvPr id="295" name="Google Shape;295;p33"/>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296" name="Google Shape;296;p33"/>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297" name="Google Shape;297;p33"/>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298" name="Google Shape;298;p33"/>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299" name="Google Shape;299;p33"/>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300" name="Google Shape;300;p33"/>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301" name="Google Shape;301;p33"/>
          <p:cNvSpPr/>
          <p:nvPr/>
        </p:nvSpPr>
        <p:spPr>
          <a:xfrm>
            <a:off x="5753166"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302" name="Google Shape;302;p33"/>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303" name="Google Shape;303;p33"/>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304" name="Google Shape;304;p33"/>
          <p:cNvSpPr/>
          <p:nvPr/>
        </p:nvSpPr>
        <p:spPr>
          <a:xfrm>
            <a:off x="5280812"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305" name="Google Shape;305;p33"/>
          <p:cNvSpPr/>
          <p:nvPr/>
        </p:nvSpPr>
        <p:spPr>
          <a:xfrm>
            <a:off x="3319364"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306" name="Google Shape;306;p33"/>
          <p:cNvSpPr/>
          <p:nvPr/>
        </p:nvSpPr>
        <p:spPr>
          <a:xfrm>
            <a:off x="2824080"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307" name="Google Shape;307;p33"/>
          <p:cNvSpPr/>
          <p:nvPr/>
        </p:nvSpPr>
        <p:spPr>
          <a:xfrm>
            <a:off x="3809462"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308" name="Google Shape;308;p33"/>
          <p:cNvSpPr/>
          <p:nvPr/>
        </p:nvSpPr>
        <p:spPr>
          <a:xfrm>
            <a:off x="4293911"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309" name="Google Shape;309;p33"/>
          <p:cNvSpPr/>
          <p:nvPr/>
        </p:nvSpPr>
        <p:spPr>
          <a:xfrm>
            <a:off x="4782431"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310" name="Google Shape;310;p33"/>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Starting with an empty output sequence.</a:t>
            </a:r>
            <a:endParaRPr/>
          </a:p>
          <a:p>
            <a:pPr indent="-342900" lvl="0" marL="457200" rtl="0" algn="l">
              <a:spcBef>
                <a:spcPts val="0"/>
              </a:spcBef>
              <a:spcAft>
                <a:spcPts val="0"/>
              </a:spcAft>
              <a:buSzPts val="1800"/>
              <a:buChar char="●"/>
            </a:pPr>
            <a:r>
              <a:rPr lang="en"/>
              <a:t>Add each item from input, inserting into output at right point.</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Naive approach, build entirely new output:</a:t>
            </a:r>
            <a:endParaRPr/>
          </a:p>
        </p:txBody>
      </p:sp>
      <p:sp>
        <p:nvSpPr>
          <p:cNvPr id="311" name="Google Shape;311;p33"/>
          <p:cNvSpPr txBox="1"/>
          <p:nvPr/>
        </p:nvSpPr>
        <p:spPr>
          <a:xfrm>
            <a:off x="1300800" y="2872650"/>
            <a:ext cx="948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Input:</a:t>
            </a:r>
            <a:endParaRPr sz="2000">
              <a:latin typeface="Calibri"/>
              <a:ea typeface="Calibri"/>
              <a:cs typeface="Calibri"/>
              <a:sym typeface="Calibri"/>
            </a:endParaRPr>
          </a:p>
        </p:txBody>
      </p:sp>
      <p:sp>
        <p:nvSpPr>
          <p:cNvPr id="312" name="Google Shape;312;p33"/>
          <p:cNvSpPr txBox="1"/>
          <p:nvPr/>
        </p:nvSpPr>
        <p:spPr>
          <a:xfrm>
            <a:off x="1221525" y="3866612"/>
            <a:ext cx="11721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Output:</a:t>
            </a:r>
            <a:endParaRPr sz="2000">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3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Insertion Sort</a:t>
            </a:r>
            <a:endParaRPr/>
          </a:p>
        </p:txBody>
      </p:sp>
      <p:sp>
        <p:nvSpPr>
          <p:cNvPr id="318" name="Google Shape;318;p34"/>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319" name="Google Shape;319;p34"/>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320" name="Google Shape;320;p34"/>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321" name="Google Shape;321;p34"/>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322" name="Google Shape;322;p34"/>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323" name="Google Shape;323;p34"/>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324" name="Google Shape;324;p34"/>
          <p:cNvSpPr/>
          <p:nvPr/>
        </p:nvSpPr>
        <p:spPr>
          <a:xfrm>
            <a:off x="575316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325" name="Google Shape;325;p34"/>
          <p:cNvSpPr/>
          <p:nvPr/>
        </p:nvSpPr>
        <p:spPr>
          <a:xfrm>
            <a:off x="6238355"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326" name="Google Shape;326;p34"/>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327" name="Google Shape;327;p34"/>
          <p:cNvSpPr/>
          <p:nvPr/>
        </p:nvSpPr>
        <p:spPr>
          <a:xfrm>
            <a:off x="5280812"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328" name="Google Shape;328;p34"/>
          <p:cNvSpPr/>
          <p:nvPr/>
        </p:nvSpPr>
        <p:spPr>
          <a:xfrm>
            <a:off x="3319364"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329" name="Google Shape;329;p34"/>
          <p:cNvSpPr/>
          <p:nvPr/>
        </p:nvSpPr>
        <p:spPr>
          <a:xfrm>
            <a:off x="2824080"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330" name="Google Shape;330;p34"/>
          <p:cNvSpPr/>
          <p:nvPr/>
        </p:nvSpPr>
        <p:spPr>
          <a:xfrm>
            <a:off x="3809462"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331" name="Google Shape;331;p34"/>
          <p:cNvSpPr/>
          <p:nvPr/>
        </p:nvSpPr>
        <p:spPr>
          <a:xfrm>
            <a:off x="4293911"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332" name="Google Shape;332;p34"/>
          <p:cNvSpPr/>
          <p:nvPr/>
        </p:nvSpPr>
        <p:spPr>
          <a:xfrm>
            <a:off x="4782431"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333" name="Google Shape;333;p34"/>
          <p:cNvSpPr/>
          <p:nvPr/>
        </p:nvSpPr>
        <p:spPr>
          <a:xfrm>
            <a:off x="5766771"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334" name="Google Shape;334;p34"/>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Starting with an empty output sequence.</a:t>
            </a:r>
            <a:endParaRPr/>
          </a:p>
          <a:p>
            <a:pPr indent="-342900" lvl="0" marL="457200" rtl="0" algn="l">
              <a:spcBef>
                <a:spcPts val="0"/>
              </a:spcBef>
              <a:spcAft>
                <a:spcPts val="0"/>
              </a:spcAft>
              <a:buSzPts val="1800"/>
              <a:buChar char="●"/>
            </a:pPr>
            <a:r>
              <a:rPr lang="en"/>
              <a:t>Add each item from input, inserting into output at right point.</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Naive approach, build entirely new output:</a:t>
            </a:r>
            <a:endParaRPr/>
          </a:p>
        </p:txBody>
      </p:sp>
      <p:sp>
        <p:nvSpPr>
          <p:cNvPr id="335" name="Google Shape;335;p34"/>
          <p:cNvSpPr txBox="1"/>
          <p:nvPr/>
        </p:nvSpPr>
        <p:spPr>
          <a:xfrm>
            <a:off x="1300800" y="2872650"/>
            <a:ext cx="948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Input:</a:t>
            </a:r>
            <a:endParaRPr sz="2000">
              <a:latin typeface="Calibri"/>
              <a:ea typeface="Calibri"/>
              <a:cs typeface="Calibri"/>
              <a:sym typeface="Calibri"/>
            </a:endParaRPr>
          </a:p>
        </p:txBody>
      </p:sp>
      <p:sp>
        <p:nvSpPr>
          <p:cNvPr id="336" name="Google Shape;336;p34"/>
          <p:cNvSpPr txBox="1"/>
          <p:nvPr/>
        </p:nvSpPr>
        <p:spPr>
          <a:xfrm>
            <a:off x="1221525" y="3866612"/>
            <a:ext cx="11721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Output:</a:t>
            </a:r>
            <a:endParaRPr sz="2000">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35"/>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Insertion Sort</a:t>
            </a:r>
            <a:endParaRPr/>
          </a:p>
        </p:txBody>
      </p:sp>
      <p:sp>
        <p:nvSpPr>
          <p:cNvPr id="342" name="Google Shape;342;p35"/>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343" name="Google Shape;343;p35"/>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344" name="Google Shape;344;p35"/>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345" name="Google Shape;345;p35"/>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346" name="Google Shape;346;p35"/>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347" name="Google Shape;347;p35"/>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348" name="Google Shape;348;p35"/>
          <p:cNvSpPr/>
          <p:nvPr/>
        </p:nvSpPr>
        <p:spPr>
          <a:xfrm>
            <a:off x="575316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349" name="Google Shape;349;p35"/>
          <p:cNvSpPr/>
          <p:nvPr/>
        </p:nvSpPr>
        <p:spPr>
          <a:xfrm>
            <a:off x="4300092"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350" name="Google Shape;350;p35"/>
          <p:cNvSpPr/>
          <p:nvPr/>
        </p:nvSpPr>
        <p:spPr>
          <a:xfrm>
            <a:off x="6727730"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351" name="Google Shape;351;p35"/>
          <p:cNvSpPr/>
          <p:nvPr/>
        </p:nvSpPr>
        <p:spPr>
          <a:xfrm>
            <a:off x="5777030"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352" name="Google Shape;352;p35"/>
          <p:cNvSpPr/>
          <p:nvPr/>
        </p:nvSpPr>
        <p:spPr>
          <a:xfrm>
            <a:off x="3319364"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353" name="Google Shape;353;p35"/>
          <p:cNvSpPr/>
          <p:nvPr/>
        </p:nvSpPr>
        <p:spPr>
          <a:xfrm>
            <a:off x="2824080"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354" name="Google Shape;354;p35"/>
          <p:cNvSpPr/>
          <p:nvPr/>
        </p:nvSpPr>
        <p:spPr>
          <a:xfrm>
            <a:off x="3809462"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355" name="Google Shape;355;p35"/>
          <p:cNvSpPr/>
          <p:nvPr/>
        </p:nvSpPr>
        <p:spPr>
          <a:xfrm>
            <a:off x="4790129"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356" name="Google Shape;356;p35"/>
          <p:cNvSpPr/>
          <p:nvPr/>
        </p:nvSpPr>
        <p:spPr>
          <a:xfrm>
            <a:off x="5278649"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357" name="Google Shape;357;p35"/>
          <p:cNvSpPr/>
          <p:nvPr/>
        </p:nvSpPr>
        <p:spPr>
          <a:xfrm>
            <a:off x="6262990"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358" name="Google Shape;358;p35"/>
          <p:cNvSpPr/>
          <p:nvPr/>
        </p:nvSpPr>
        <p:spPr>
          <a:xfrm>
            <a:off x="623835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cxnSp>
        <p:nvCxnSpPr>
          <p:cNvPr id="359" name="Google Shape;359;p35"/>
          <p:cNvCxnSpPr>
            <a:stCxn id="358" idx="2"/>
            <a:endCxn id="349" idx="0"/>
          </p:cNvCxnSpPr>
          <p:nvPr/>
        </p:nvCxnSpPr>
        <p:spPr>
          <a:xfrm rot="5400000">
            <a:off x="5270405" y="2665475"/>
            <a:ext cx="492900" cy="1938300"/>
          </a:xfrm>
          <a:prstGeom prst="curvedConnector3">
            <a:avLst>
              <a:gd fmla="val 49985" name="adj1"/>
            </a:avLst>
          </a:prstGeom>
          <a:noFill/>
          <a:ln cap="flat" cmpd="sng" w="19050">
            <a:solidFill>
              <a:schemeClr val="dk2"/>
            </a:solidFill>
            <a:prstDash val="solid"/>
            <a:round/>
            <a:headEnd len="med" w="med" type="none"/>
            <a:tailEnd len="med" w="med" type="triangle"/>
          </a:ln>
        </p:spPr>
      </p:cxnSp>
      <p:cxnSp>
        <p:nvCxnSpPr>
          <p:cNvPr id="360" name="Google Shape;360;p35"/>
          <p:cNvCxnSpPr>
            <a:stCxn id="345" idx="2"/>
            <a:endCxn id="354" idx="0"/>
          </p:cNvCxnSpPr>
          <p:nvPr/>
        </p:nvCxnSpPr>
        <p:spPr>
          <a:xfrm rot="5400000">
            <a:off x="4052844" y="3392375"/>
            <a:ext cx="492900" cy="484500"/>
          </a:xfrm>
          <a:prstGeom prst="curvedConnector3">
            <a:avLst>
              <a:gd fmla="val 49985" name="adj1"/>
            </a:avLst>
          </a:prstGeom>
          <a:noFill/>
          <a:ln cap="flat" cmpd="sng" w="19050">
            <a:solidFill>
              <a:schemeClr val="dk2"/>
            </a:solidFill>
            <a:prstDash val="solid"/>
            <a:round/>
            <a:headEnd len="med" w="med" type="none"/>
            <a:tailEnd len="med" w="med" type="triangle"/>
          </a:ln>
        </p:spPr>
      </p:cxnSp>
      <p:sp>
        <p:nvSpPr>
          <p:cNvPr id="361" name="Google Shape;361;p35"/>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Starting with an empty output sequence.</a:t>
            </a:r>
            <a:endParaRPr/>
          </a:p>
          <a:p>
            <a:pPr indent="-342900" lvl="0" marL="457200" rtl="0" algn="l">
              <a:spcBef>
                <a:spcPts val="0"/>
              </a:spcBef>
              <a:spcAft>
                <a:spcPts val="0"/>
              </a:spcAft>
              <a:buSzPts val="1800"/>
              <a:buChar char="●"/>
            </a:pPr>
            <a:r>
              <a:rPr lang="en"/>
              <a:t>Add each item from input, inserting into output at right point.</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Naive approach, build entirely new output:</a:t>
            </a:r>
            <a:endParaRPr/>
          </a:p>
        </p:txBody>
      </p:sp>
      <p:sp>
        <p:nvSpPr>
          <p:cNvPr id="362" name="Google Shape;362;p35"/>
          <p:cNvSpPr txBox="1"/>
          <p:nvPr/>
        </p:nvSpPr>
        <p:spPr>
          <a:xfrm>
            <a:off x="1300800" y="2872650"/>
            <a:ext cx="948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Input:</a:t>
            </a:r>
            <a:endParaRPr sz="2000">
              <a:latin typeface="Calibri"/>
              <a:ea typeface="Calibri"/>
              <a:cs typeface="Calibri"/>
              <a:sym typeface="Calibri"/>
            </a:endParaRPr>
          </a:p>
        </p:txBody>
      </p:sp>
      <p:sp>
        <p:nvSpPr>
          <p:cNvPr id="363" name="Google Shape;363;p35"/>
          <p:cNvSpPr txBox="1"/>
          <p:nvPr/>
        </p:nvSpPr>
        <p:spPr>
          <a:xfrm>
            <a:off x="1221525" y="3866612"/>
            <a:ext cx="11721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Output:</a:t>
            </a:r>
            <a:endParaRPr sz="2000">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sp>
        <p:nvSpPr>
          <p:cNvPr id="368" name="Google Shape;368;p3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Insertion Sort</a:t>
            </a:r>
            <a:endParaRPr/>
          </a:p>
        </p:txBody>
      </p:sp>
      <p:sp>
        <p:nvSpPr>
          <p:cNvPr id="369" name="Google Shape;369;p36"/>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370" name="Google Shape;370;p36"/>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371" name="Google Shape;371;p36"/>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372" name="Google Shape;372;p36"/>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373" name="Google Shape;373;p36"/>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374" name="Google Shape;374;p36"/>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375" name="Google Shape;375;p36"/>
          <p:cNvSpPr/>
          <p:nvPr/>
        </p:nvSpPr>
        <p:spPr>
          <a:xfrm>
            <a:off x="575316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376" name="Google Shape;376;p36"/>
          <p:cNvSpPr/>
          <p:nvPr/>
        </p:nvSpPr>
        <p:spPr>
          <a:xfrm>
            <a:off x="4300092"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377" name="Google Shape;377;p36"/>
          <p:cNvSpPr/>
          <p:nvPr/>
        </p:nvSpPr>
        <p:spPr>
          <a:xfrm>
            <a:off x="6727730"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378" name="Google Shape;378;p36"/>
          <p:cNvSpPr/>
          <p:nvPr/>
        </p:nvSpPr>
        <p:spPr>
          <a:xfrm>
            <a:off x="6273248"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379" name="Google Shape;379;p36"/>
          <p:cNvSpPr/>
          <p:nvPr/>
        </p:nvSpPr>
        <p:spPr>
          <a:xfrm>
            <a:off x="3319364"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380" name="Google Shape;380;p36"/>
          <p:cNvSpPr/>
          <p:nvPr/>
        </p:nvSpPr>
        <p:spPr>
          <a:xfrm>
            <a:off x="2824080"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381" name="Google Shape;381;p36"/>
          <p:cNvSpPr/>
          <p:nvPr/>
        </p:nvSpPr>
        <p:spPr>
          <a:xfrm>
            <a:off x="3809462"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382" name="Google Shape;382;p36"/>
          <p:cNvSpPr/>
          <p:nvPr/>
        </p:nvSpPr>
        <p:spPr>
          <a:xfrm>
            <a:off x="5286347"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383" name="Google Shape;383;p36"/>
          <p:cNvSpPr/>
          <p:nvPr/>
        </p:nvSpPr>
        <p:spPr>
          <a:xfrm>
            <a:off x="5774867"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384" name="Google Shape;384;p36"/>
          <p:cNvSpPr/>
          <p:nvPr/>
        </p:nvSpPr>
        <p:spPr>
          <a:xfrm>
            <a:off x="6759208" y="388092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385" name="Google Shape;385;p36"/>
          <p:cNvSpPr/>
          <p:nvPr/>
        </p:nvSpPr>
        <p:spPr>
          <a:xfrm>
            <a:off x="623835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cxnSp>
        <p:nvCxnSpPr>
          <p:cNvPr id="386" name="Google Shape;386;p36"/>
          <p:cNvCxnSpPr>
            <a:stCxn id="385" idx="2"/>
            <a:endCxn id="376" idx="0"/>
          </p:cNvCxnSpPr>
          <p:nvPr/>
        </p:nvCxnSpPr>
        <p:spPr>
          <a:xfrm rot="5400000">
            <a:off x="5270405" y="2665475"/>
            <a:ext cx="492900" cy="1938300"/>
          </a:xfrm>
          <a:prstGeom prst="curvedConnector3">
            <a:avLst>
              <a:gd fmla="val 49985" name="adj1"/>
            </a:avLst>
          </a:prstGeom>
          <a:noFill/>
          <a:ln cap="flat" cmpd="sng" w="19050">
            <a:solidFill>
              <a:schemeClr val="dk2"/>
            </a:solidFill>
            <a:prstDash val="solid"/>
            <a:round/>
            <a:headEnd len="med" w="med" type="none"/>
            <a:tailEnd len="med" w="med" type="triangle"/>
          </a:ln>
        </p:spPr>
      </p:cxnSp>
      <p:cxnSp>
        <p:nvCxnSpPr>
          <p:cNvPr id="387" name="Google Shape;387;p36"/>
          <p:cNvCxnSpPr>
            <a:stCxn id="372" idx="2"/>
            <a:endCxn id="381" idx="0"/>
          </p:cNvCxnSpPr>
          <p:nvPr/>
        </p:nvCxnSpPr>
        <p:spPr>
          <a:xfrm rot="5400000">
            <a:off x="4052844" y="3392375"/>
            <a:ext cx="492900" cy="484500"/>
          </a:xfrm>
          <a:prstGeom prst="curvedConnector3">
            <a:avLst>
              <a:gd fmla="val 49985" name="adj1"/>
            </a:avLst>
          </a:prstGeom>
          <a:noFill/>
          <a:ln cap="flat" cmpd="sng" w="19050">
            <a:solidFill>
              <a:schemeClr val="dk2"/>
            </a:solidFill>
            <a:prstDash val="solid"/>
            <a:round/>
            <a:headEnd len="med" w="med" type="none"/>
            <a:tailEnd len="med" w="med" type="triangle"/>
          </a:ln>
        </p:spPr>
      </p:cxnSp>
      <p:sp>
        <p:nvSpPr>
          <p:cNvPr id="388" name="Google Shape;388;p36"/>
          <p:cNvSpPr/>
          <p:nvPr/>
        </p:nvSpPr>
        <p:spPr>
          <a:xfrm>
            <a:off x="4790116" y="3881220"/>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cxnSp>
        <p:nvCxnSpPr>
          <p:cNvPr id="389" name="Google Shape;389;p36"/>
          <p:cNvCxnSpPr>
            <a:stCxn id="377" idx="2"/>
            <a:endCxn id="388" idx="0"/>
          </p:cNvCxnSpPr>
          <p:nvPr/>
        </p:nvCxnSpPr>
        <p:spPr>
          <a:xfrm rot="5400000">
            <a:off x="5760080" y="2665775"/>
            <a:ext cx="492900" cy="1937700"/>
          </a:xfrm>
          <a:prstGeom prst="curvedConnector3">
            <a:avLst>
              <a:gd fmla="val 50015" name="adj1"/>
            </a:avLst>
          </a:prstGeom>
          <a:noFill/>
          <a:ln cap="flat" cmpd="sng" w="19050">
            <a:solidFill>
              <a:schemeClr val="dk2"/>
            </a:solidFill>
            <a:prstDash val="solid"/>
            <a:round/>
            <a:headEnd len="med" w="med" type="none"/>
            <a:tailEnd len="med" w="med" type="triangle"/>
          </a:ln>
        </p:spPr>
      </p:cxnSp>
      <p:sp>
        <p:nvSpPr>
          <p:cNvPr id="390" name="Google Shape;390;p36"/>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Starting with an empty output sequence.</a:t>
            </a:r>
            <a:endParaRPr/>
          </a:p>
          <a:p>
            <a:pPr indent="-342900" lvl="0" marL="457200" rtl="0" algn="l">
              <a:spcBef>
                <a:spcPts val="0"/>
              </a:spcBef>
              <a:spcAft>
                <a:spcPts val="0"/>
              </a:spcAft>
              <a:buSzPts val="1800"/>
              <a:buChar char="●"/>
            </a:pPr>
            <a:r>
              <a:rPr lang="en"/>
              <a:t>Add each item from input, inserting into output at right point.</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Naive approach, build entirely new output:</a:t>
            </a:r>
            <a:endParaRPr/>
          </a:p>
        </p:txBody>
      </p:sp>
      <p:sp>
        <p:nvSpPr>
          <p:cNvPr id="391" name="Google Shape;391;p36"/>
          <p:cNvSpPr txBox="1"/>
          <p:nvPr/>
        </p:nvSpPr>
        <p:spPr>
          <a:xfrm>
            <a:off x="1300800" y="2872650"/>
            <a:ext cx="948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Input:</a:t>
            </a:r>
            <a:endParaRPr sz="2000">
              <a:latin typeface="Calibri"/>
              <a:ea typeface="Calibri"/>
              <a:cs typeface="Calibri"/>
              <a:sym typeface="Calibri"/>
            </a:endParaRPr>
          </a:p>
        </p:txBody>
      </p:sp>
      <p:sp>
        <p:nvSpPr>
          <p:cNvPr id="392" name="Google Shape;392;p36"/>
          <p:cNvSpPr txBox="1"/>
          <p:nvPr/>
        </p:nvSpPr>
        <p:spPr>
          <a:xfrm>
            <a:off x="1221525" y="3866612"/>
            <a:ext cx="11721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Output:</a:t>
            </a:r>
            <a:endParaRPr sz="2000">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37"/>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b="1" lang="en">
                <a:solidFill>
                  <a:schemeClr val="accent3"/>
                </a:solidFill>
                <a:latin typeface="Roboto"/>
                <a:ea typeface="Roboto"/>
                <a:cs typeface="Roboto"/>
                <a:sym typeface="Roboto"/>
              </a:rPr>
              <a:t>Insertion Sort</a:t>
            </a:r>
            <a:endParaRPr/>
          </a:p>
          <a:p>
            <a:pPr indent="-342900" lvl="0" marL="457200" rtl="0" algn="l">
              <a:spcBef>
                <a:spcPts val="600"/>
              </a:spcBef>
              <a:spcAft>
                <a:spcPts val="0"/>
              </a:spcAft>
              <a:buSzPts val="1800"/>
              <a:buChar char="•"/>
            </a:pPr>
            <a:r>
              <a:rPr lang="en"/>
              <a:t>Naive Insertion Sort</a:t>
            </a:r>
            <a:endParaRPr/>
          </a:p>
          <a:p>
            <a:pPr indent="-342900" lvl="0" marL="457200" rtl="0" algn="l">
              <a:spcBef>
                <a:spcPts val="0"/>
              </a:spcBef>
              <a:spcAft>
                <a:spcPts val="0"/>
              </a:spcAft>
              <a:buClr>
                <a:schemeClr val="accent3"/>
              </a:buClr>
              <a:buSzPts val="1800"/>
              <a:buFont typeface="Roboto"/>
              <a:buChar char="•"/>
            </a:pPr>
            <a:r>
              <a:rPr b="1" lang="en">
                <a:solidFill>
                  <a:schemeClr val="accent3"/>
                </a:solidFill>
                <a:latin typeface="Roboto"/>
                <a:ea typeface="Roboto"/>
                <a:cs typeface="Roboto"/>
                <a:sym typeface="Roboto"/>
              </a:rPr>
              <a:t>In-Place Insertion Sort</a:t>
            </a:r>
            <a:endParaRPr/>
          </a:p>
          <a:p>
            <a:pPr indent="-342900" lvl="0" marL="457200" rtl="0" algn="l">
              <a:spcBef>
                <a:spcPts val="0"/>
              </a:spcBef>
              <a:spcAft>
                <a:spcPts val="0"/>
              </a:spcAft>
              <a:buSzPts val="1800"/>
              <a:buChar char="•"/>
            </a:pPr>
            <a:r>
              <a:rPr lang="en"/>
              <a:t>Insertion Sort Runtime</a:t>
            </a:r>
            <a:endParaRPr/>
          </a:p>
          <a:p>
            <a:pPr indent="0" lvl="0" marL="0" rtl="0" algn="l">
              <a:spcBef>
                <a:spcPts val="600"/>
              </a:spcBef>
              <a:spcAft>
                <a:spcPts val="0"/>
              </a:spcAft>
              <a:buNone/>
            </a:pPr>
            <a:r>
              <a:rPr lang="en"/>
              <a:t>Quicksort</a:t>
            </a:r>
            <a:endParaRPr b="1">
              <a:solidFill>
                <a:schemeClr val="accent3"/>
              </a:solidFill>
              <a:latin typeface="Roboto"/>
              <a:ea typeface="Roboto"/>
              <a:cs typeface="Roboto"/>
              <a:sym typeface="Roboto"/>
            </a:endParaRPr>
          </a:p>
          <a:p>
            <a:pPr indent="-342900" lvl="0" marL="457200" rtl="0" algn="l">
              <a:spcBef>
                <a:spcPts val="600"/>
              </a:spcBef>
              <a:spcAft>
                <a:spcPts val="0"/>
              </a:spcAft>
              <a:buSzPts val="1800"/>
              <a:buChar char="•"/>
            </a:pPr>
            <a:r>
              <a:rPr lang="en"/>
              <a:t>Quicksort Backstory,</a:t>
            </a:r>
            <a:br>
              <a:rPr lang="en"/>
            </a:br>
            <a:r>
              <a:rPr lang="en"/>
              <a:t>Partitioning</a:t>
            </a:r>
            <a:endParaRPr/>
          </a:p>
          <a:p>
            <a:pPr indent="-342900" lvl="0" marL="457200" rtl="0" algn="l">
              <a:spcBef>
                <a:spcPts val="0"/>
              </a:spcBef>
              <a:spcAft>
                <a:spcPts val="0"/>
              </a:spcAft>
              <a:buSzPts val="1800"/>
              <a:buChar char="•"/>
            </a:pPr>
            <a:r>
              <a:rPr lang="en"/>
              <a:t>Quicksort</a:t>
            </a:r>
            <a:endParaRPr/>
          </a:p>
          <a:p>
            <a:pPr indent="0" lvl="0" marL="0" rtl="0" algn="l">
              <a:spcBef>
                <a:spcPts val="600"/>
              </a:spcBef>
              <a:spcAft>
                <a:spcPts val="0"/>
              </a:spcAft>
              <a:buNone/>
            </a:pPr>
            <a:r>
              <a:rPr lang="en"/>
              <a:t>Quicksort Performance</a:t>
            </a:r>
            <a:endParaRPr/>
          </a:p>
          <a:p>
            <a:pPr indent="-342900" lvl="0" marL="457200" rtl="0" algn="l">
              <a:spcBef>
                <a:spcPts val="600"/>
              </a:spcBef>
              <a:spcAft>
                <a:spcPts val="0"/>
              </a:spcAft>
              <a:buSzPts val="1800"/>
              <a:buChar char="•"/>
            </a:pPr>
            <a:r>
              <a:rPr lang="en"/>
              <a:t>Quicksort Runtime Analysis</a:t>
            </a:r>
            <a:endParaRPr/>
          </a:p>
          <a:p>
            <a:pPr indent="-342900" lvl="0" marL="457200" rtl="0" algn="l">
              <a:spcBef>
                <a:spcPts val="0"/>
              </a:spcBef>
              <a:spcAft>
                <a:spcPts val="0"/>
              </a:spcAft>
              <a:buSzPts val="1800"/>
              <a:buChar char="•"/>
            </a:pPr>
            <a:r>
              <a:rPr lang="en"/>
              <a:t>Avoiding Quicksort Worst Case</a:t>
            </a:r>
            <a:endParaRPr/>
          </a:p>
        </p:txBody>
      </p:sp>
      <p:sp>
        <p:nvSpPr>
          <p:cNvPr id="398" name="Google Shape;398;p37"/>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30, CS61B, Fall 2023</a:t>
            </a:r>
            <a:endParaRPr/>
          </a:p>
        </p:txBody>
      </p:sp>
      <p:sp>
        <p:nvSpPr>
          <p:cNvPr id="399" name="Google Shape;399;p37"/>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In-Place Insertion Sort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3" name="Shape 403"/>
        <p:cNvGrpSpPr/>
        <p:nvPr/>
      </p:nvGrpSpPr>
      <p:grpSpPr>
        <a:xfrm>
          <a:off x="0" y="0"/>
          <a:ext cx="0" cy="0"/>
          <a:chOff x="0" y="0"/>
          <a:chExt cx="0" cy="0"/>
        </a:xfrm>
      </p:grpSpPr>
      <p:sp>
        <p:nvSpPr>
          <p:cNvPr id="404" name="Google Shape;404;p3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Insertion Sort</a:t>
            </a:r>
            <a:endParaRPr/>
          </a:p>
        </p:txBody>
      </p:sp>
      <p:sp>
        <p:nvSpPr>
          <p:cNvPr id="405" name="Google Shape;405;p38"/>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Starting with an empty output sequence.</a:t>
            </a:r>
            <a:endParaRPr/>
          </a:p>
          <a:p>
            <a:pPr indent="-342900" lvl="0" marL="457200" rtl="0" algn="l">
              <a:spcBef>
                <a:spcPts val="0"/>
              </a:spcBef>
              <a:spcAft>
                <a:spcPts val="0"/>
              </a:spcAft>
              <a:buSzPts val="1800"/>
              <a:buChar char="●"/>
            </a:pPr>
            <a:r>
              <a:rPr lang="en"/>
              <a:t>Add each item from input, inserting into output at right point.</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For naive approach, if output sequence contains k items, worst cost to insert a single item is k.</a:t>
            </a:r>
            <a:endParaRPr/>
          </a:p>
          <a:p>
            <a:pPr indent="-342900" lvl="0" marL="457200" rtl="0" algn="l">
              <a:spcBef>
                <a:spcPts val="600"/>
              </a:spcBef>
              <a:spcAft>
                <a:spcPts val="0"/>
              </a:spcAft>
              <a:buSzPts val="1800"/>
              <a:buChar char="●"/>
            </a:pPr>
            <a:r>
              <a:rPr lang="en"/>
              <a:t>Might need to move everything over.</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More efficient method:</a:t>
            </a:r>
            <a:endParaRPr/>
          </a:p>
          <a:p>
            <a:pPr indent="-342900" lvl="0" marL="457200" rtl="0" algn="l">
              <a:spcBef>
                <a:spcPts val="600"/>
              </a:spcBef>
              <a:spcAft>
                <a:spcPts val="0"/>
              </a:spcAft>
              <a:buSzPts val="1800"/>
              <a:buChar char="●"/>
            </a:pPr>
            <a:r>
              <a:rPr lang="en"/>
              <a:t>Do everything in place using swapping.</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9" name="Shape 409"/>
        <p:cNvGrpSpPr/>
        <p:nvPr/>
      </p:nvGrpSpPr>
      <p:grpSpPr>
        <a:xfrm>
          <a:off x="0" y="0"/>
          <a:ext cx="0" cy="0"/>
          <a:chOff x="0" y="0"/>
          <a:chExt cx="0" cy="0"/>
        </a:xfrm>
      </p:grpSpPr>
      <p:sp>
        <p:nvSpPr>
          <p:cNvPr id="410" name="Google Shape;410;p3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In-place Insertion Sort</a:t>
            </a:r>
            <a:endParaRPr/>
          </a:p>
        </p:txBody>
      </p:sp>
      <p:sp>
        <p:nvSpPr>
          <p:cNvPr id="411" name="Google Shape;411;p39"/>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lang="en"/>
              <a:t>Swap item backwards until traveller is in the right place among all previously examined items.</a:t>
            </a:r>
            <a:endParaRPr/>
          </a:p>
        </p:txBody>
      </p:sp>
      <p:sp>
        <p:nvSpPr>
          <p:cNvPr id="412" name="Google Shape;412;p39"/>
          <p:cNvSpPr/>
          <p:nvPr/>
        </p:nvSpPr>
        <p:spPr>
          <a:xfrm>
            <a:off x="283417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413" name="Google Shape;413;p39"/>
          <p:cNvSpPr/>
          <p:nvPr/>
        </p:nvSpPr>
        <p:spPr>
          <a:xfrm>
            <a:off x="3319364"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414" name="Google Shape;414;p39"/>
          <p:cNvSpPr/>
          <p:nvPr/>
        </p:nvSpPr>
        <p:spPr>
          <a:xfrm>
            <a:off x="380870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415" name="Google Shape;415;p39"/>
          <p:cNvSpPr/>
          <p:nvPr/>
        </p:nvSpPr>
        <p:spPr>
          <a:xfrm>
            <a:off x="4293894"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416" name="Google Shape;416;p39"/>
          <p:cNvSpPr/>
          <p:nvPr/>
        </p:nvSpPr>
        <p:spPr>
          <a:xfrm>
            <a:off x="477863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417" name="Google Shape;417;p39"/>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418" name="Google Shape;418;p39"/>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419" name="Google Shape;419;p39"/>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420" name="Google Shape;420;p39"/>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421" name="Google Shape;421;p39"/>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422" name="Google Shape;422;p39"/>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6" name="Shape 426"/>
        <p:cNvGrpSpPr/>
        <p:nvPr/>
      </p:nvGrpSpPr>
      <p:grpSpPr>
        <a:xfrm>
          <a:off x="0" y="0"/>
          <a:ext cx="0" cy="0"/>
          <a:chOff x="0" y="0"/>
          <a:chExt cx="0" cy="0"/>
        </a:xfrm>
      </p:grpSpPr>
      <p:sp>
        <p:nvSpPr>
          <p:cNvPr id="427" name="Google Shape;427;p40"/>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In-place Insertion Sort</a:t>
            </a:r>
            <a:endParaRPr/>
          </a:p>
        </p:txBody>
      </p:sp>
      <p:sp>
        <p:nvSpPr>
          <p:cNvPr id="428" name="Google Shape;428;p40"/>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b="1" lang="en"/>
              <a:t>Designate item i as the traveling item.</a:t>
            </a:r>
            <a:endParaRPr b="1"/>
          </a:p>
          <a:p>
            <a:pPr indent="-342900" lvl="1" marL="914400" rtl="0" algn="l">
              <a:spcBef>
                <a:spcPts val="600"/>
              </a:spcBef>
              <a:spcAft>
                <a:spcPts val="0"/>
              </a:spcAft>
              <a:buSzPts val="1800"/>
              <a:buChar char="○"/>
            </a:pPr>
            <a:r>
              <a:rPr lang="en"/>
              <a:t>Swap item backwards until traveller is in the right place among all previously examined items.</a:t>
            </a:r>
            <a:endParaRPr/>
          </a:p>
        </p:txBody>
      </p:sp>
      <p:sp>
        <p:nvSpPr>
          <p:cNvPr id="429" name="Google Shape;429;p40"/>
          <p:cNvSpPr/>
          <p:nvPr/>
        </p:nvSpPr>
        <p:spPr>
          <a:xfrm>
            <a:off x="2834175"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430" name="Google Shape;430;p40"/>
          <p:cNvSpPr/>
          <p:nvPr/>
        </p:nvSpPr>
        <p:spPr>
          <a:xfrm>
            <a:off x="3319364"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431" name="Google Shape;431;p40"/>
          <p:cNvSpPr/>
          <p:nvPr/>
        </p:nvSpPr>
        <p:spPr>
          <a:xfrm>
            <a:off x="380870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432" name="Google Shape;432;p40"/>
          <p:cNvSpPr/>
          <p:nvPr/>
        </p:nvSpPr>
        <p:spPr>
          <a:xfrm>
            <a:off x="4293894"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433" name="Google Shape;433;p40"/>
          <p:cNvSpPr/>
          <p:nvPr/>
        </p:nvSpPr>
        <p:spPr>
          <a:xfrm>
            <a:off x="477863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434" name="Google Shape;434;p40"/>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435" name="Google Shape;435;p40"/>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436" name="Google Shape;436;p40"/>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437" name="Google Shape;437;p40"/>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438" name="Google Shape;438;p40"/>
          <p:cNvSpPr txBox="1"/>
          <p:nvPr/>
        </p:nvSpPr>
        <p:spPr>
          <a:xfrm>
            <a:off x="2911624"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439" name="Google Shape;439;p40"/>
          <p:cNvSpPr txBox="1"/>
          <p:nvPr/>
        </p:nvSpPr>
        <p:spPr>
          <a:xfrm>
            <a:off x="2911624"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440" name="Google Shape;440;p40"/>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441" name="Google Shape;441;p40"/>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5" name="Shape 445"/>
        <p:cNvGrpSpPr/>
        <p:nvPr/>
      </p:nvGrpSpPr>
      <p:grpSpPr>
        <a:xfrm>
          <a:off x="0" y="0"/>
          <a:ext cx="0" cy="0"/>
          <a:chOff x="0" y="0"/>
          <a:chExt cx="0" cy="0"/>
        </a:xfrm>
      </p:grpSpPr>
      <p:sp>
        <p:nvSpPr>
          <p:cNvPr id="446" name="Google Shape;446;p4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In-place Insertion Sort</a:t>
            </a:r>
            <a:endParaRPr/>
          </a:p>
        </p:txBody>
      </p:sp>
      <p:sp>
        <p:nvSpPr>
          <p:cNvPr id="447" name="Google Shape;447;p41"/>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448" name="Google Shape;448;p41"/>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449" name="Google Shape;449;p41"/>
          <p:cNvSpPr/>
          <p:nvPr/>
        </p:nvSpPr>
        <p:spPr>
          <a:xfrm>
            <a:off x="3319364"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450" name="Google Shape;450;p41"/>
          <p:cNvSpPr/>
          <p:nvPr/>
        </p:nvSpPr>
        <p:spPr>
          <a:xfrm>
            <a:off x="380870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451" name="Google Shape;451;p41"/>
          <p:cNvSpPr/>
          <p:nvPr/>
        </p:nvSpPr>
        <p:spPr>
          <a:xfrm>
            <a:off x="4293894"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452" name="Google Shape;452;p41"/>
          <p:cNvSpPr/>
          <p:nvPr/>
        </p:nvSpPr>
        <p:spPr>
          <a:xfrm>
            <a:off x="477863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453" name="Google Shape;453;p41"/>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454" name="Google Shape;454;p41"/>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455" name="Google Shape;455;p41"/>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456" name="Google Shape;456;p41"/>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457" name="Google Shape;457;p41"/>
          <p:cNvSpPr txBox="1"/>
          <p:nvPr/>
        </p:nvSpPr>
        <p:spPr>
          <a:xfrm>
            <a:off x="2911624"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458" name="Google Shape;458;p41"/>
          <p:cNvSpPr txBox="1"/>
          <p:nvPr/>
        </p:nvSpPr>
        <p:spPr>
          <a:xfrm>
            <a:off x="2911624"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459" name="Google Shape;459;p41"/>
          <p:cNvSpPr/>
          <p:nvPr/>
        </p:nvSpPr>
        <p:spPr>
          <a:xfrm rot="-5400000">
            <a:off x="2931191" y="2489334"/>
            <a:ext cx="260700" cy="4305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41"/>
          <p:cNvSpPr txBox="1"/>
          <p:nvPr/>
        </p:nvSpPr>
        <p:spPr>
          <a:xfrm>
            <a:off x="2752884" y="2237025"/>
            <a:ext cx="849900" cy="3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sorted</a:t>
            </a:r>
            <a:endParaRPr/>
          </a:p>
        </p:txBody>
      </p:sp>
      <p:sp>
        <p:nvSpPr>
          <p:cNvPr id="461" name="Google Shape;461;p41"/>
          <p:cNvSpPr/>
          <p:nvPr/>
        </p:nvSpPr>
        <p:spPr>
          <a:xfrm rot="-5400000">
            <a:off x="5149125" y="778575"/>
            <a:ext cx="260700" cy="38520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41"/>
          <p:cNvSpPr txBox="1"/>
          <p:nvPr/>
        </p:nvSpPr>
        <p:spPr>
          <a:xfrm>
            <a:off x="3353475" y="2237025"/>
            <a:ext cx="38520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463" name="Google Shape;463;p41"/>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464" name="Google Shape;464;p41"/>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8" name="Shape 468"/>
        <p:cNvGrpSpPr/>
        <p:nvPr/>
      </p:nvGrpSpPr>
      <p:grpSpPr>
        <a:xfrm>
          <a:off x="0" y="0"/>
          <a:ext cx="0" cy="0"/>
          <a:chOff x="0" y="0"/>
          <a:chExt cx="0" cy="0"/>
        </a:xfrm>
      </p:grpSpPr>
      <p:sp>
        <p:nvSpPr>
          <p:cNvPr id="469" name="Google Shape;469;p4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470" name="Google Shape;470;p42"/>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b="1" lang="en"/>
              <a:t>Designate item i as the traveling item.</a:t>
            </a:r>
            <a:endParaRPr b="1"/>
          </a:p>
          <a:p>
            <a:pPr indent="-342900" lvl="1" marL="914400" rtl="0" algn="l">
              <a:spcBef>
                <a:spcPts val="600"/>
              </a:spcBef>
              <a:spcAft>
                <a:spcPts val="0"/>
              </a:spcAft>
              <a:buSzPts val="1800"/>
              <a:buChar char="○"/>
            </a:pPr>
            <a:r>
              <a:rPr lang="en"/>
              <a:t>Swap item backwards until traveller is in the right place among all previously examined items.</a:t>
            </a:r>
            <a:endParaRPr/>
          </a:p>
        </p:txBody>
      </p:sp>
      <p:sp>
        <p:nvSpPr>
          <p:cNvPr id="471" name="Google Shape;471;p42"/>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472" name="Google Shape;472;p42"/>
          <p:cNvSpPr/>
          <p:nvPr/>
        </p:nvSpPr>
        <p:spPr>
          <a:xfrm>
            <a:off x="3319364"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473" name="Google Shape;473;p42"/>
          <p:cNvSpPr/>
          <p:nvPr/>
        </p:nvSpPr>
        <p:spPr>
          <a:xfrm>
            <a:off x="380870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474" name="Google Shape;474;p42"/>
          <p:cNvSpPr/>
          <p:nvPr/>
        </p:nvSpPr>
        <p:spPr>
          <a:xfrm>
            <a:off x="4293894"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475" name="Google Shape;475;p42"/>
          <p:cNvSpPr/>
          <p:nvPr/>
        </p:nvSpPr>
        <p:spPr>
          <a:xfrm>
            <a:off x="477863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476" name="Google Shape;476;p42"/>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477" name="Google Shape;477;p42"/>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478" name="Google Shape;478;p42"/>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479" name="Google Shape;479;p42"/>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480" name="Google Shape;480;p42"/>
          <p:cNvSpPr txBox="1"/>
          <p:nvPr/>
        </p:nvSpPr>
        <p:spPr>
          <a:xfrm>
            <a:off x="3445024"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481" name="Google Shape;481;p42"/>
          <p:cNvSpPr txBox="1"/>
          <p:nvPr/>
        </p:nvSpPr>
        <p:spPr>
          <a:xfrm>
            <a:off x="3445024"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482" name="Google Shape;482;p42"/>
          <p:cNvSpPr/>
          <p:nvPr/>
        </p:nvSpPr>
        <p:spPr>
          <a:xfrm rot="-5400000">
            <a:off x="2931191" y="2489334"/>
            <a:ext cx="260700" cy="4305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42"/>
          <p:cNvSpPr txBox="1"/>
          <p:nvPr/>
        </p:nvSpPr>
        <p:spPr>
          <a:xfrm>
            <a:off x="2752884" y="2237025"/>
            <a:ext cx="849900" cy="3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sorted</a:t>
            </a:r>
            <a:endParaRPr/>
          </a:p>
        </p:txBody>
      </p:sp>
      <p:sp>
        <p:nvSpPr>
          <p:cNvPr id="484" name="Google Shape;484;p42"/>
          <p:cNvSpPr/>
          <p:nvPr/>
        </p:nvSpPr>
        <p:spPr>
          <a:xfrm rot="-5400000">
            <a:off x="5381425" y="1010775"/>
            <a:ext cx="260700" cy="33876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42"/>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486" name="Google Shape;486;p42"/>
          <p:cNvSpPr txBox="1"/>
          <p:nvPr/>
        </p:nvSpPr>
        <p:spPr>
          <a:xfrm>
            <a:off x="3817875" y="2237025"/>
            <a:ext cx="33876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487" name="Google Shape;487;p42"/>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43"/>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493" name="Google Shape;493;p43"/>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494" name="Google Shape;494;p43"/>
          <p:cNvSpPr/>
          <p:nvPr/>
        </p:nvSpPr>
        <p:spPr>
          <a:xfrm>
            <a:off x="2834175"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495" name="Google Shape;495;p43"/>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496" name="Google Shape;496;p43"/>
          <p:cNvSpPr/>
          <p:nvPr/>
        </p:nvSpPr>
        <p:spPr>
          <a:xfrm>
            <a:off x="380870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497" name="Google Shape;497;p43"/>
          <p:cNvSpPr/>
          <p:nvPr/>
        </p:nvSpPr>
        <p:spPr>
          <a:xfrm>
            <a:off x="4293894"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498" name="Google Shape;498;p43"/>
          <p:cNvSpPr/>
          <p:nvPr/>
        </p:nvSpPr>
        <p:spPr>
          <a:xfrm>
            <a:off x="477863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499" name="Google Shape;499;p43"/>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500" name="Google Shape;500;p43"/>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501" name="Google Shape;501;p43"/>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502" name="Google Shape;502;p43"/>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503" name="Google Shape;503;p43"/>
          <p:cNvSpPr txBox="1"/>
          <p:nvPr/>
        </p:nvSpPr>
        <p:spPr>
          <a:xfrm>
            <a:off x="3445024"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504" name="Google Shape;504;p43"/>
          <p:cNvSpPr txBox="1"/>
          <p:nvPr/>
        </p:nvSpPr>
        <p:spPr>
          <a:xfrm>
            <a:off x="2956941"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505" name="Google Shape;505;p43"/>
          <p:cNvSpPr/>
          <p:nvPr/>
        </p:nvSpPr>
        <p:spPr>
          <a:xfrm rot="-5400000">
            <a:off x="5381425" y="1010775"/>
            <a:ext cx="260700" cy="33876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43"/>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507" name="Google Shape;507;p43"/>
          <p:cNvSpPr txBox="1"/>
          <p:nvPr/>
        </p:nvSpPr>
        <p:spPr>
          <a:xfrm>
            <a:off x="3817875" y="2237025"/>
            <a:ext cx="33876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508" name="Google Shape;508;p43"/>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sp>
        <p:nvSpPr>
          <p:cNvPr id="513" name="Google Shape;513;p4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514" name="Google Shape;514;p44"/>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515" name="Google Shape;515;p44"/>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516" name="Google Shape;516;p44"/>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517" name="Google Shape;517;p44"/>
          <p:cNvSpPr/>
          <p:nvPr/>
        </p:nvSpPr>
        <p:spPr>
          <a:xfrm>
            <a:off x="380870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518" name="Google Shape;518;p44"/>
          <p:cNvSpPr/>
          <p:nvPr/>
        </p:nvSpPr>
        <p:spPr>
          <a:xfrm>
            <a:off x="4293894"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519" name="Google Shape;519;p44"/>
          <p:cNvSpPr/>
          <p:nvPr/>
        </p:nvSpPr>
        <p:spPr>
          <a:xfrm>
            <a:off x="477863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520" name="Google Shape;520;p44"/>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521" name="Google Shape;521;p44"/>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522" name="Google Shape;522;p44"/>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523" name="Google Shape;523;p44"/>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524" name="Google Shape;524;p44"/>
          <p:cNvSpPr txBox="1"/>
          <p:nvPr/>
        </p:nvSpPr>
        <p:spPr>
          <a:xfrm>
            <a:off x="3445024"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525" name="Google Shape;525;p44"/>
          <p:cNvSpPr txBox="1"/>
          <p:nvPr/>
        </p:nvSpPr>
        <p:spPr>
          <a:xfrm>
            <a:off x="2956941"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526" name="Google Shape;526;p44"/>
          <p:cNvSpPr/>
          <p:nvPr/>
        </p:nvSpPr>
        <p:spPr>
          <a:xfrm rot="-5400000">
            <a:off x="3167759" y="2252775"/>
            <a:ext cx="260700" cy="9036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44"/>
          <p:cNvSpPr txBox="1"/>
          <p:nvPr/>
        </p:nvSpPr>
        <p:spPr>
          <a:xfrm>
            <a:off x="2752884" y="2237025"/>
            <a:ext cx="849900" cy="3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sorted</a:t>
            </a:r>
            <a:endParaRPr/>
          </a:p>
        </p:txBody>
      </p:sp>
      <p:sp>
        <p:nvSpPr>
          <p:cNvPr id="528" name="Google Shape;528;p44"/>
          <p:cNvSpPr/>
          <p:nvPr/>
        </p:nvSpPr>
        <p:spPr>
          <a:xfrm rot="-5400000">
            <a:off x="5381425" y="1010775"/>
            <a:ext cx="260700" cy="33876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44"/>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530" name="Google Shape;530;p44"/>
          <p:cNvSpPr txBox="1"/>
          <p:nvPr/>
        </p:nvSpPr>
        <p:spPr>
          <a:xfrm>
            <a:off x="3817875" y="2237025"/>
            <a:ext cx="33876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531" name="Google Shape;531;p44"/>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45"/>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537" name="Google Shape;537;p45"/>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b="1" lang="en"/>
              <a:t>Designate item i as the traveling item.</a:t>
            </a:r>
            <a:endParaRPr b="1"/>
          </a:p>
          <a:p>
            <a:pPr indent="-342900" lvl="1" marL="914400" rtl="0" algn="l">
              <a:spcBef>
                <a:spcPts val="600"/>
              </a:spcBef>
              <a:spcAft>
                <a:spcPts val="0"/>
              </a:spcAft>
              <a:buSzPts val="1800"/>
              <a:buChar char="○"/>
            </a:pPr>
            <a:r>
              <a:rPr lang="en"/>
              <a:t>Swap item backwards until traveller is in the right place among all previously examined items.</a:t>
            </a:r>
            <a:endParaRPr/>
          </a:p>
        </p:txBody>
      </p:sp>
      <p:sp>
        <p:nvSpPr>
          <p:cNvPr id="538" name="Google Shape;538;p45"/>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539" name="Google Shape;539;p45"/>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540" name="Google Shape;540;p45"/>
          <p:cNvSpPr/>
          <p:nvPr/>
        </p:nvSpPr>
        <p:spPr>
          <a:xfrm>
            <a:off x="3808705"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541" name="Google Shape;541;p45"/>
          <p:cNvSpPr/>
          <p:nvPr/>
        </p:nvSpPr>
        <p:spPr>
          <a:xfrm>
            <a:off x="4293894"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542" name="Google Shape;542;p45"/>
          <p:cNvSpPr/>
          <p:nvPr/>
        </p:nvSpPr>
        <p:spPr>
          <a:xfrm>
            <a:off x="477863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543" name="Google Shape;543;p45"/>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544" name="Google Shape;544;p45"/>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545" name="Google Shape;545;p45"/>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546" name="Google Shape;546;p45"/>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547" name="Google Shape;547;p45"/>
          <p:cNvSpPr txBox="1"/>
          <p:nvPr/>
        </p:nvSpPr>
        <p:spPr>
          <a:xfrm>
            <a:off x="3902224"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548" name="Google Shape;548;p45"/>
          <p:cNvSpPr txBox="1"/>
          <p:nvPr/>
        </p:nvSpPr>
        <p:spPr>
          <a:xfrm>
            <a:off x="3894000"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549" name="Google Shape;549;p45"/>
          <p:cNvSpPr/>
          <p:nvPr/>
        </p:nvSpPr>
        <p:spPr>
          <a:xfrm rot="-5400000">
            <a:off x="3167759" y="2252775"/>
            <a:ext cx="260700" cy="9036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45"/>
          <p:cNvSpPr txBox="1"/>
          <p:nvPr/>
        </p:nvSpPr>
        <p:spPr>
          <a:xfrm>
            <a:off x="2752884" y="2237025"/>
            <a:ext cx="849900" cy="3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sorted</a:t>
            </a:r>
            <a:endParaRPr/>
          </a:p>
        </p:txBody>
      </p:sp>
      <p:sp>
        <p:nvSpPr>
          <p:cNvPr id="551" name="Google Shape;551;p45"/>
          <p:cNvSpPr/>
          <p:nvPr/>
        </p:nvSpPr>
        <p:spPr>
          <a:xfrm rot="-5400000">
            <a:off x="5381425" y="1010775"/>
            <a:ext cx="260700" cy="33876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45"/>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553" name="Google Shape;553;p45"/>
          <p:cNvSpPr txBox="1"/>
          <p:nvPr/>
        </p:nvSpPr>
        <p:spPr>
          <a:xfrm>
            <a:off x="3817875" y="2237025"/>
            <a:ext cx="33876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554" name="Google Shape;554;p45"/>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4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560" name="Google Shape;560;p46"/>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561" name="Google Shape;561;p46"/>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562" name="Google Shape;562;p46"/>
          <p:cNvSpPr/>
          <p:nvPr/>
        </p:nvSpPr>
        <p:spPr>
          <a:xfrm>
            <a:off x="3319364"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563" name="Google Shape;563;p46"/>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564" name="Google Shape;564;p46"/>
          <p:cNvSpPr/>
          <p:nvPr/>
        </p:nvSpPr>
        <p:spPr>
          <a:xfrm>
            <a:off x="4293894"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565" name="Google Shape;565;p46"/>
          <p:cNvSpPr/>
          <p:nvPr/>
        </p:nvSpPr>
        <p:spPr>
          <a:xfrm>
            <a:off x="477863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566" name="Google Shape;566;p46"/>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567" name="Google Shape;567;p46"/>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568" name="Google Shape;568;p46"/>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569" name="Google Shape;569;p46"/>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570" name="Google Shape;570;p46"/>
          <p:cNvSpPr txBox="1"/>
          <p:nvPr/>
        </p:nvSpPr>
        <p:spPr>
          <a:xfrm>
            <a:off x="3902224"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571" name="Google Shape;571;p46"/>
          <p:cNvSpPr txBox="1"/>
          <p:nvPr/>
        </p:nvSpPr>
        <p:spPr>
          <a:xfrm>
            <a:off x="3436800"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572" name="Google Shape;572;p46"/>
          <p:cNvSpPr/>
          <p:nvPr/>
        </p:nvSpPr>
        <p:spPr>
          <a:xfrm rot="-5400000">
            <a:off x="5624975" y="1254375"/>
            <a:ext cx="260700" cy="29004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46"/>
          <p:cNvSpPr txBox="1"/>
          <p:nvPr/>
        </p:nvSpPr>
        <p:spPr>
          <a:xfrm>
            <a:off x="243000" y="3744125"/>
            <a:ext cx="2810400" cy="65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rgbClr val="BE0712"/>
                </a:solidFill>
                <a:latin typeface="Roboto"/>
                <a:ea typeface="Roboto"/>
                <a:cs typeface="Roboto"/>
                <a:sym typeface="Roboto"/>
              </a:rPr>
              <a:t>Note: We’ve temporarily broken our invariant that the items up through item i should be sorted!</a:t>
            </a:r>
            <a:endParaRPr>
              <a:solidFill>
                <a:srgbClr val="BE0712"/>
              </a:solidFill>
              <a:latin typeface="Roboto"/>
              <a:ea typeface="Roboto"/>
              <a:cs typeface="Roboto"/>
              <a:sym typeface="Roboto"/>
            </a:endParaRPr>
          </a:p>
        </p:txBody>
      </p:sp>
      <p:cxnSp>
        <p:nvCxnSpPr>
          <p:cNvPr id="574" name="Google Shape;574;p46"/>
          <p:cNvCxnSpPr/>
          <p:nvPr/>
        </p:nvCxnSpPr>
        <p:spPr>
          <a:xfrm flipH="1" rot="10800000">
            <a:off x="2617075" y="3534600"/>
            <a:ext cx="657000" cy="215400"/>
          </a:xfrm>
          <a:prstGeom prst="straightConnector1">
            <a:avLst/>
          </a:prstGeom>
          <a:noFill/>
          <a:ln cap="flat" cmpd="sng" w="9525">
            <a:solidFill>
              <a:srgbClr val="BE0712"/>
            </a:solidFill>
            <a:prstDash val="solid"/>
            <a:round/>
            <a:headEnd len="med" w="med" type="none"/>
            <a:tailEnd len="med" w="med" type="triangle"/>
          </a:ln>
        </p:spPr>
      </p:cxnSp>
      <p:sp>
        <p:nvSpPr>
          <p:cNvPr id="575" name="Google Shape;575;p46"/>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576" name="Google Shape;576;p46"/>
          <p:cNvSpPr txBox="1"/>
          <p:nvPr/>
        </p:nvSpPr>
        <p:spPr>
          <a:xfrm>
            <a:off x="4305075" y="2237025"/>
            <a:ext cx="29004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577" name="Google Shape;577;p46"/>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1" name="Shape 581"/>
        <p:cNvGrpSpPr/>
        <p:nvPr/>
      </p:nvGrpSpPr>
      <p:grpSpPr>
        <a:xfrm>
          <a:off x="0" y="0"/>
          <a:ext cx="0" cy="0"/>
          <a:chOff x="0" y="0"/>
          <a:chExt cx="0" cy="0"/>
        </a:xfrm>
      </p:grpSpPr>
      <p:sp>
        <p:nvSpPr>
          <p:cNvPr id="582" name="Google Shape;582;p47"/>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583" name="Google Shape;583;p4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584" name="Google Shape;584;p47"/>
          <p:cNvSpPr/>
          <p:nvPr/>
        </p:nvSpPr>
        <p:spPr>
          <a:xfrm>
            <a:off x="2834175"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585" name="Google Shape;585;p47"/>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586" name="Google Shape;586;p47"/>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587" name="Google Shape;587;p47"/>
          <p:cNvSpPr/>
          <p:nvPr/>
        </p:nvSpPr>
        <p:spPr>
          <a:xfrm>
            <a:off x="4293894"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588" name="Google Shape;588;p47"/>
          <p:cNvSpPr/>
          <p:nvPr/>
        </p:nvSpPr>
        <p:spPr>
          <a:xfrm>
            <a:off x="477863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589" name="Google Shape;589;p47"/>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590" name="Google Shape;590;p47"/>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591" name="Google Shape;591;p47"/>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592" name="Google Shape;592;p47"/>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593" name="Google Shape;593;p47"/>
          <p:cNvSpPr txBox="1"/>
          <p:nvPr/>
        </p:nvSpPr>
        <p:spPr>
          <a:xfrm>
            <a:off x="3902224"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594" name="Google Shape;594;p47"/>
          <p:cNvSpPr txBox="1"/>
          <p:nvPr/>
        </p:nvSpPr>
        <p:spPr>
          <a:xfrm>
            <a:off x="2979600"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595" name="Google Shape;595;p47"/>
          <p:cNvSpPr txBox="1"/>
          <p:nvPr/>
        </p:nvSpPr>
        <p:spPr>
          <a:xfrm>
            <a:off x="243000" y="3744125"/>
            <a:ext cx="2309400" cy="65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rgbClr val="BE0712"/>
                </a:solidFill>
                <a:latin typeface="Roboto"/>
                <a:ea typeface="Roboto"/>
                <a:cs typeface="Roboto"/>
                <a:sym typeface="Roboto"/>
              </a:rPr>
              <a:t>Once the traveller settles, the invariant is restored.</a:t>
            </a:r>
            <a:endParaRPr>
              <a:solidFill>
                <a:srgbClr val="BE0712"/>
              </a:solidFill>
              <a:latin typeface="Roboto"/>
              <a:ea typeface="Roboto"/>
              <a:cs typeface="Roboto"/>
              <a:sym typeface="Roboto"/>
            </a:endParaRPr>
          </a:p>
        </p:txBody>
      </p:sp>
      <p:cxnSp>
        <p:nvCxnSpPr>
          <p:cNvPr id="596" name="Google Shape;596;p47"/>
          <p:cNvCxnSpPr/>
          <p:nvPr/>
        </p:nvCxnSpPr>
        <p:spPr>
          <a:xfrm flipH="1" rot="10800000">
            <a:off x="2159875" y="3534600"/>
            <a:ext cx="657000" cy="215400"/>
          </a:xfrm>
          <a:prstGeom prst="straightConnector1">
            <a:avLst/>
          </a:prstGeom>
          <a:noFill/>
          <a:ln cap="flat" cmpd="sng" w="9525">
            <a:solidFill>
              <a:srgbClr val="BE0712"/>
            </a:solidFill>
            <a:prstDash val="solid"/>
            <a:round/>
            <a:headEnd len="med" w="med" type="none"/>
            <a:tailEnd len="med" w="med" type="triangle"/>
          </a:ln>
        </p:spPr>
      </p:cxnSp>
      <p:sp>
        <p:nvSpPr>
          <p:cNvPr id="597" name="Google Shape;597;p47"/>
          <p:cNvSpPr/>
          <p:nvPr/>
        </p:nvSpPr>
        <p:spPr>
          <a:xfrm rot="-5400000">
            <a:off x="5624975" y="1254375"/>
            <a:ext cx="260700" cy="29004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47"/>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599" name="Google Shape;599;p47"/>
          <p:cNvSpPr txBox="1"/>
          <p:nvPr/>
        </p:nvSpPr>
        <p:spPr>
          <a:xfrm>
            <a:off x="4305075" y="2237025"/>
            <a:ext cx="29004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600" name="Google Shape;600;p47"/>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4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606" name="Google Shape;606;p48"/>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607" name="Google Shape;607;p48"/>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608" name="Google Shape;608;p48"/>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609" name="Google Shape;609;p48"/>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610" name="Google Shape;610;p48"/>
          <p:cNvSpPr/>
          <p:nvPr/>
        </p:nvSpPr>
        <p:spPr>
          <a:xfrm>
            <a:off x="4293894"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611" name="Google Shape;611;p48"/>
          <p:cNvSpPr/>
          <p:nvPr/>
        </p:nvSpPr>
        <p:spPr>
          <a:xfrm>
            <a:off x="477863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612" name="Google Shape;612;p48"/>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613" name="Google Shape;613;p48"/>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614" name="Google Shape;614;p48"/>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615" name="Google Shape;615;p48"/>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616" name="Google Shape;616;p48"/>
          <p:cNvSpPr txBox="1"/>
          <p:nvPr/>
        </p:nvSpPr>
        <p:spPr>
          <a:xfrm>
            <a:off x="3902224"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617" name="Google Shape;617;p48"/>
          <p:cNvSpPr txBox="1"/>
          <p:nvPr/>
        </p:nvSpPr>
        <p:spPr>
          <a:xfrm>
            <a:off x="2979600"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618" name="Google Shape;618;p48"/>
          <p:cNvSpPr/>
          <p:nvPr/>
        </p:nvSpPr>
        <p:spPr>
          <a:xfrm rot="-5400000">
            <a:off x="5624975" y="1254375"/>
            <a:ext cx="260700" cy="29004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48"/>
          <p:cNvSpPr/>
          <p:nvPr/>
        </p:nvSpPr>
        <p:spPr>
          <a:xfrm rot="-5400000">
            <a:off x="3417045" y="2003475"/>
            <a:ext cx="260700" cy="14022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48"/>
          <p:cNvSpPr txBox="1"/>
          <p:nvPr/>
        </p:nvSpPr>
        <p:spPr>
          <a:xfrm>
            <a:off x="3210084" y="2237025"/>
            <a:ext cx="849900" cy="3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sorted</a:t>
            </a:r>
            <a:endParaRPr/>
          </a:p>
        </p:txBody>
      </p:sp>
      <p:sp>
        <p:nvSpPr>
          <p:cNvPr id="621" name="Google Shape;621;p48"/>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622" name="Google Shape;622;p48"/>
          <p:cNvSpPr txBox="1"/>
          <p:nvPr/>
        </p:nvSpPr>
        <p:spPr>
          <a:xfrm>
            <a:off x="4305075" y="2237025"/>
            <a:ext cx="29004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623" name="Google Shape;623;p48"/>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7" name="Shape 627"/>
        <p:cNvGrpSpPr/>
        <p:nvPr/>
      </p:nvGrpSpPr>
      <p:grpSpPr>
        <a:xfrm>
          <a:off x="0" y="0"/>
          <a:ext cx="0" cy="0"/>
          <a:chOff x="0" y="0"/>
          <a:chExt cx="0" cy="0"/>
        </a:xfrm>
      </p:grpSpPr>
      <p:sp>
        <p:nvSpPr>
          <p:cNvPr id="628" name="Google Shape;628;p4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629" name="Google Shape;629;p49"/>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b="1" lang="en"/>
              <a:t>Designate item i as the traveling item.</a:t>
            </a:r>
            <a:endParaRPr b="1"/>
          </a:p>
          <a:p>
            <a:pPr indent="-342900" lvl="1" marL="914400" rtl="0" algn="l">
              <a:spcBef>
                <a:spcPts val="600"/>
              </a:spcBef>
              <a:spcAft>
                <a:spcPts val="0"/>
              </a:spcAft>
              <a:buSzPts val="1800"/>
              <a:buChar char="○"/>
            </a:pPr>
            <a:r>
              <a:rPr lang="en"/>
              <a:t>Swap item backwards until traveller is in the right place among all previously examined items.</a:t>
            </a:r>
            <a:endParaRPr/>
          </a:p>
        </p:txBody>
      </p:sp>
      <p:sp>
        <p:nvSpPr>
          <p:cNvPr id="630" name="Google Shape;630;p49"/>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631" name="Google Shape;631;p49"/>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632" name="Google Shape;632;p49"/>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633" name="Google Shape;633;p49"/>
          <p:cNvSpPr/>
          <p:nvPr/>
        </p:nvSpPr>
        <p:spPr>
          <a:xfrm>
            <a:off x="4293894"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634" name="Google Shape;634;p49"/>
          <p:cNvSpPr/>
          <p:nvPr/>
        </p:nvSpPr>
        <p:spPr>
          <a:xfrm>
            <a:off x="477863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635" name="Google Shape;635;p49"/>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636" name="Google Shape;636;p49"/>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637" name="Google Shape;637;p49"/>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638" name="Google Shape;638;p49"/>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639" name="Google Shape;639;p49"/>
          <p:cNvSpPr txBox="1"/>
          <p:nvPr/>
        </p:nvSpPr>
        <p:spPr>
          <a:xfrm>
            <a:off x="4435624"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640" name="Google Shape;640;p49"/>
          <p:cNvSpPr txBox="1"/>
          <p:nvPr/>
        </p:nvSpPr>
        <p:spPr>
          <a:xfrm>
            <a:off x="4427400"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641" name="Google Shape;641;p49"/>
          <p:cNvSpPr/>
          <p:nvPr/>
        </p:nvSpPr>
        <p:spPr>
          <a:xfrm rot="-5400000">
            <a:off x="5624975" y="1254375"/>
            <a:ext cx="260700" cy="29004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49"/>
          <p:cNvSpPr/>
          <p:nvPr/>
        </p:nvSpPr>
        <p:spPr>
          <a:xfrm rot="-5400000">
            <a:off x="3417045" y="2003475"/>
            <a:ext cx="260700" cy="14022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49"/>
          <p:cNvSpPr txBox="1"/>
          <p:nvPr/>
        </p:nvSpPr>
        <p:spPr>
          <a:xfrm>
            <a:off x="3210084" y="2237025"/>
            <a:ext cx="849900" cy="3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sorted</a:t>
            </a:r>
            <a:endParaRPr/>
          </a:p>
        </p:txBody>
      </p:sp>
      <p:sp>
        <p:nvSpPr>
          <p:cNvPr id="644" name="Google Shape;644;p49"/>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645" name="Google Shape;645;p49"/>
          <p:cNvSpPr txBox="1"/>
          <p:nvPr/>
        </p:nvSpPr>
        <p:spPr>
          <a:xfrm>
            <a:off x="4305075" y="2237025"/>
            <a:ext cx="29004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646" name="Google Shape;646;p49"/>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0" name="Shape 650"/>
        <p:cNvGrpSpPr/>
        <p:nvPr/>
      </p:nvGrpSpPr>
      <p:grpSpPr>
        <a:xfrm>
          <a:off x="0" y="0"/>
          <a:ext cx="0" cy="0"/>
          <a:chOff x="0" y="0"/>
          <a:chExt cx="0" cy="0"/>
        </a:xfrm>
      </p:grpSpPr>
      <p:sp>
        <p:nvSpPr>
          <p:cNvPr id="651" name="Google Shape;651;p50"/>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652" name="Google Shape;652;p50"/>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653" name="Google Shape;653;p50"/>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654" name="Google Shape;654;p50"/>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655" name="Google Shape;655;p50"/>
          <p:cNvSpPr/>
          <p:nvPr/>
        </p:nvSpPr>
        <p:spPr>
          <a:xfrm>
            <a:off x="3808705"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656" name="Google Shape;656;p50"/>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657" name="Google Shape;657;p50"/>
          <p:cNvSpPr/>
          <p:nvPr/>
        </p:nvSpPr>
        <p:spPr>
          <a:xfrm>
            <a:off x="477863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658" name="Google Shape;658;p50"/>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659" name="Google Shape;659;p50"/>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660" name="Google Shape;660;p50"/>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661" name="Google Shape;661;p50"/>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662" name="Google Shape;662;p50"/>
          <p:cNvSpPr txBox="1"/>
          <p:nvPr/>
        </p:nvSpPr>
        <p:spPr>
          <a:xfrm>
            <a:off x="4435624"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663" name="Google Shape;663;p50"/>
          <p:cNvSpPr txBox="1"/>
          <p:nvPr/>
        </p:nvSpPr>
        <p:spPr>
          <a:xfrm>
            <a:off x="3916659"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664" name="Google Shape;664;p50"/>
          <p:cNvSpPr/>
          <p:nvPr/>
        </p:nvSpPr>
        <p:spPr>
          <a:xfrm rot="-5400000">
            <a:off x="5879950" y="1509225"/>
            <a:ext cx="260700" cy="23907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50"/>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666" name="Google Shape;666;p50"/>
          <p:cNvSpPr txBox="1"/>
          <p:nvPr/>
        </p:nvSpPr>
        <p:spPr>
          <a:xfrm>
            <a:off x="4814775" y="2237025"/>
            <a:ext cx="23907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667" name="Google Shape;667;p50"/>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51"/>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673" name="Google Shape;673;p5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674" name="Google Shape;674;p51"/>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675" name="Google Shape;675;p51"/>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676" name="Google Shape;676;p51"/>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677" name="Google Shape;677;p51"/>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678" name="Google Shape;678;p51"/>
          <p:cNvSpPr/>
          <p:nvPr/>
        </p:nvSpPr>
        <p:spPr>
          <a:xfrm>
            <a:off x="477863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679" name="Google Shape;679;p51"/>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680" name="Google Shape;680;p51"/>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681" name="Google Shape;681;p51"/>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682" name="Google Shape;682;p51"/>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683" name="Google Shape;683;p51"/>
          <p:cNvSpPr txBox="1"/>
          <p:nvPr/>
        </p:nvSpPr>
        <p:spPr>
          <a:xfrm>
            <a:off x="4435624"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684" name="Google Shape;684;p51"/>
          <p:cNvSpPr txBox="1"/>
          <p:nvPr/>
        </p:nvSpPr>
        <p:spPr>
          <a:xfrm>
            <a:off x="3916659"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685" name="Google Shape;685;p51"/>
          <p:cNvSpPr/>
          <p:nvPr/>
        </p:nvSpPr>
        <p:spPr>
          <a:xfrm rot="-5400000">
            <a:off x="5879950" y="1509225"/>
            <a:ext cx="260700" cy="23907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 name="Google Shape;686;p51"/>
          <p:cNvSpPr/>
          <p:nvPr/>
        </p:nvSpPr>
        <p:spPr>
          <a:xfrm rot="-5400000">
            <a:off x="3666352" y="1754175"/>
            <a:ext cx="260700" cy="19008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51"/>
          <p:cNvSpPr txBox="1"/>
          <p:nvPr/>
        </p:nvSpPr>
        <p:spPr>
          <a:xfrm>
            <a:off x="3461342" y="2237025"/>
            <a:ext cx="849900" cy="3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sorted</a:t>
            </a:r>
            <a:endParaRPr/>
          </a:p>
        </p:txBody>
      </p:sp>
      <p:sp>
        <p:nvSpPr>
          <p:cNvPr id="688" name="Google Shape;688;p51"/>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689" name="Google Shape;689;p51"/>
          <p:cNvSpPr txBox="1"/>
          <p:nvPr/>
        </p:nvSpPr>
        <p:spPr>
          <a:xfrm>
            <a:off x="4814775" y="2237025"/>
            <a:ext cx="23907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690" name="Google Shape;690;p51"/>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4" name="Shape 694"/>
        <p:cNvGrpSpPr/>
        <p:nvPr/>
      </p:nvGrpSpPr>
      <p:grpSpPr>
        <a:xfrm>
          <a:off x="0" y="0"/>
          <a:ext cx="0" cy="0"/>
          <a:chOff x="0" y="0"/>
          <a:chExt cx="0" cy="0"/>
        </a:xfrm>
      </p:grpSpPr>
      <p:sp>
        <p:nvSpPr>
          <p:cNvPr id="695" name="Google Shape;695;p5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696" name="Google Shape;696;p52"/>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b="1" lang="en"/>
              <a:t>Designate item i as the traveling item.</a:t>
            </a:r>
            <a:endParaRPr b="1"/>
          </a:p>
          <a:p>
            <a:pPr indent="-342900" lvl="1" marL="914400" rtl="0" algn="l">
              <a:spcBef>
                <a:spcPts val="600"/>
              </a:spcBef>
              <a:spcAft>
                <a:spcPts val="0"/>
              </a:spcAft>
              <a:buSzPts val="1800"/>
              <a:buChar char="○"/>
            </a:pPr>
            <a:r>
              <a:rPr lang="en"/>
              <a:t>Swap item backwards until traveller is in the right place among all previously examined items.</a:t>
            </a:r>
            <a:endParaRPr/>
          </a:p>
        </p:txBody>
      </p:sp>
      <p:sp>
        <p:nvSpPr>
          <p:cNvPr id="697" name="Google Shape;697;p52"/>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698" name="Google Shape;698;p52"/>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699" name="Google Shape;699;p52"/>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700" name="Google Shape;700;p52"/>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701" name="Google Shape;701;p52"/>
          <p:cNvSpPr/>
          <p:nvPr/>
        </p:nvSpPr>
        <p:spPr>
          <a:xfrm>
            <a:off x="4778636"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702" name="Google Shape;702;p52"/>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703" name="Google Shape;703;p52"/>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704" name="Google Shape;704;p52"/>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705" name="Google Shape;705;p52"/>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706" name="Google Shape;706;p52"/>
          <p:cNvSpPr txBox="1"/>
          <p:nvPr/>
        </p:nvSpPr>
        <p:spPr>
          <a:xfrm>
            <a:off x="4907259"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707" name="Google Shape;707;p52"/>
          <p:cNvSpPr/>
          <p:nvPr/>
        </p:nvSpPr>
        <p:spPr>
          <a:xfrm rot="-5400000">
            <a:off x="5879950" y="1509225"/>
            <a:ext cx="260700" cy="23907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 name="Google Shape;708;p52"/>
          <p:cNvSpPr/>
          <p:nvPr/>
        </p:nvSpPr>
        <p:spPr>
          <a:xfrm rot="-5400000">
            <a:off x="3666352" y="1754175"/>
            <a:ext cx="260700" cy="19008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52"/>
          <p:cNvSpPr txBox="1"/>
          <p:nvPr/>
        </p:nvSpPr>
        <p:spPr>
          <a:xfrm>
            <a:off x="3461342" y="2237025"/>
            <a:ext cx="849900" cy="3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sorted</a:t>
            </a:r>
            <a:endParaRPr/>
          </a:p>
        </p:txBody>
      </p:sp>
      <p:sp>
        <p:nvSpPr>
          <p:cNvPr id="710" name="Google Shape;710;p52"/>
          <p:cNvSpPr txBox="1"/>
          <p:nvPr/>
        </p:nvSpPr>
        <p:spPr>
          <a:xfrm>
            <a:off x="4892824"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711" name="Google Shape;711;p52"/>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712" name="Google Shape;712;p52"/>
          <p:cNvSpPr txBox="1"/>
          <p:nvPr/>
        </p:nvSpPr>
        <p:spPr>
          <a:xfrm>
            <a:off x="4814775" y="2237025"/>
            <a:ext cx="23907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713" name="Google Shape;713;p52"/>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7" name="Shape 717"/>
        <p:cNvGrpSpPr/>
        <p:nvPr/>
      </p:nvGrpSpPr>
      <p:grpSpPr>
        <a:xfrm>
          <a:off x="0" y="0"/>
          <a:ext cx="0" cy="0"/>
          <a:chOff x="0" y="0"/>
          <a:chExt cx="0" cy="0"/>
        </a:xfrm>
      </p:grpSpPr>
      <p:sp>
        <p:nvSpPr>
          <p:cNvPr id="718" name="Google Shape;718;p53"/>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719" name="Google Shape;719;p53"/>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720" name="Google Shape;720;p53"/>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721" name="Google Shape;721;p53"/>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722" name="Google Shape;722;p53"/>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723" name="Google Shape;723;p53"/>
          <p:cNvSpPr/>
          <p:nvPr/>
        </p:nvSpPr>
        <p:spPr>
          <a:xfrm>
            <a:off x="4293894"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724" name="Google Shape;724;p53"/>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725" name="Google Shape;725;p53"/>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726" name="Google Shape;726;p53"/>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727" name="Google Shape;727;p53"/>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728" name="Google Shape;728;p53"/>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729" name="Google Shape;729;p53"/>
          <p:cNvSpPr txBox="1"/>
          <p:nvPr/>
        </p:nvSpPr>
        <p:spPr>
          <a:xfrm>
            <a:off x="4892824"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730" name="Google Shape;730;p53"/>
          <p:cNvSpPr txBox="1"/>
          <p:nvPr/>
        </p:nvSpPr>
        <p:spPr>
          <a:xfrm>
            <a:off x="4396517"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731" name="Google Shape;731;p53"/>
          <p:cNvSpPr/>
          <p:nvPr/>
        </p:nvSpPr>
        <p:spPr>
          <a:xfrm rot="-5400000">
            <a:off x="6134925" y="1764075"/>
            <a:ext cx="260700" cy="18810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53"/>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733" name="Google Shape;733;p53"/>
          <p:cNvSpPr txBox="1"/>
          <p:nvPr/>
        </p:nvSpPr>
        <p:spPr>
          <a:xfrm>
            <a:off x="5324475" y="2237025"/>
            <a:ext cx="18810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734" name="Google Shape;734;p53"/>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8" name="Shape 738"/>
        <p:cNvGrpSpPr/>
        <p:nvPr/>
      </p:nvGrpSpPr>
      <p:grpSpPr>
        <a:xfrm>
          <a:off x="0" y="0"/>
          <a:ext cx="0" cy="0"/>
          <a:chOff x="0" y="0"/>
          <a:chExt cx="0" cy="0"/>
        </a:xfrm>
      </p:grpSpPr>
      <p:sp>
        <p:nvSpPr>
          <p:cNvPr id="739" name="Google Shape;739;p5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740" name="Google Shape;740;p54"/>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741" name="Google Shape;741;p54"/>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742" name="Google Shape;742;p54"/>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743" name="Google Shape;743;p54"/>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744" name="Google Shape;744;p54"/>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745" name="Google Shape;745;p54"/>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746" name="Google Shape;746;p54"/>
          <p:cNvSpPr/>
          <p:nvPr/>
        </p:nvSpPr>
        <p:spPr>
          <a:xfrm>
            <a:off x="526382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747" name="Google Shape;747;p54"/>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748" name="Google Shape;748;p54"/>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749" name="Google Shape;749;p54"/>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750" name="Google Shape;750;p54"/>
          <p:cNvSpPr txBox="1"/>
          <p:nvPr/>
        </p:nvSpPr>
        <p:spPr>
          <a:xfrm>
            <a:off x="4892824"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751" name="Google Shape;751;p54"/>
          <p:cNvSpPr txBox="1"/>
          <p:nvPr/>
        </p:nvSpPr>
        <p:spPr>
          <a:xfrm>
            <a:off x="4396517"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752" name="Google Shape;752;p54"/>
          <p:cNvSpPr/>
          <p:nvPr/>
        </p:nvSpPr>
        <p:spPr>
          <a:xfrm rot="-5400000">
            <a:off x="6134925" y="1764075"/>
            <a:ext cx="260700" cy="18810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54"/>
          <p:cNvSpPr/>
          <p:nvPr/>
        </p:nvSpPr>
        <p:spPr>
          <a:xfrm rot="-5400000">
            <a:off x="3887150" y="1533375"/>
            <a:ext cx="260700" cy="23424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54"/>
          <p:cNvSpPr txBox="1"/>
          <p:nvPr/>
        </p:nvSpPr>
        <p:spPr>
          <a:xfrm>
            <a:off x="3689942" y="2237025"/>
            <a:ext cx="849900" cy="3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sorted</a:t>
            </a:r>
            <a:endParaRPr/>
          </a:p>
        </p:txBody>
      </p:sp>
      <p:sp>
        <p:nvSpPr>
          <p:cNvPr id="755" name="Google Shape;755;p54"/>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756" name="Google Shape;756;p54"/>
          <p:cNvSpPr txBox="1"/>
          <p:nvPr/>
        </p:nvSpPr>
        <p:spPr>
          <a:xfrm>
            <a:off x="5324475" y="2237025"/>
            <a:ext cx="18810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757" name="Google Shape;757;p54"/>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1" name="Shape 761"/>
        <p:cNvGrpSpPr/>
        <p:nvPr/>
      </p:nvGrpSpPr>
      <p:grpSpPr>
        <a:xfrm>
          <a:off x="0" y="0"/>
          <a:ext cx="0" cy="0"/>
          <a:chOff x="0" y="0"/>
          <a:chExt cx="0" cy="0"/>
        </a:xfrm>
      </p:grpSpPr>
      <p:sp>
        <p:nvSpPr>
          <p:cNvPr id="762" name="Google Shape;762;p55"/>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763" name="Google Shape;763;p55"/>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b="1" lang="en"/>
              <a:t>Designate item i as the traveling item.</a:t>
            </a:r>
            <a:endParaRPr b="1"/>
          </a:p>
          <a:p>
            <a:pPr indent="-342900" lvl="1" marL="914400" rtl="0" algn="l">
              <a:spcBef>
                <a:spcPts val="600"/>
              </a:spcBef>
              <a:spcAft>
                <a:spcPts val="0"/>
              </a:spcAft>
              <a:buSzPts val="1800"/>
              <a:buChar char="○"/>
            </a:pPr>
            <a:r>
              <a:rPr lang="en"/>
              <a:t>Swap item backwards until traveller is in the right place among all previously examined items.</a:t>
            </a:r>
            <a:endParaRPr/>
          </a:p>
        </p:txBody>
      </p:sp>
      <p:sp>
        <p:nvSpPr>
          <p:cNvPr id="764" name="Google Shape;764;p55"/>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765" name="Google Shape;765;p55"/>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766" name="Google Shape;766;p55"/>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767" name="Google Shape;767;p55"/>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768" name="Google Shape;768;p55"/>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769" name="Google Shape;769;p55"/>
          <p:cNvSpPr/>
          <p:nvPr/>
        </p:nvSpPr>
        <p:spPr>
          <a:xfrm>
            <a:off x="5263825"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770" name="Google Shape;770;p55"/>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771" name="Google Shape;771;p55"/>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772" name="Google Shape;772;p55"/>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773" name="Google Shape;773;p55"/>
          <p:cNvSpPr txBox="1"/>
          <p:nvPr/>
        </p:nvSpPr>
        <p:spPr>
          <a:xfrm>
            <a:off x="5392236"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774" name="Google Shape;774;p55"/>
          <p:cNvSpPr txBox="1"/>
          <p:nvPr/>
        </p:nvSpPr>
        <p:spPr>
          <a:xfrm>
            <a:off x="5387117"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775" name="Google Shape;775;p55"/>
          <p:cNvSpPr/>
          <p:nvPr/>
        </p:nvSpPr>
        <p:spPr>
          <a:xfrm rot="-5400000">
            <a:off x="6134925" y="1764075"/>
            <a:ext cx="260700" cy="18810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 name="Google Shape;776;p55"/>
          <p:cNvSpPr/>
          <p:nvPr/>
        </p:nvSpPr>
        <p:spPr>
          <a:xfrm rot="-5400000">
            <a:off x="3887150" y="1533375"/>
            <a:ext cx="260700" cy="23424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p55"/>
          <p:cNvSpPr txBox="1"/>
          <p:nvPr/>
        </p:nvSpPr>
        <p:spPr>
          <a:xfrm>
            <a:off x="3689942" y="2237025"/>
            <a:ext cx="849900" cy="3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sorted</a:t>
            </a:r>
            <a:endParaRPr/>
          </a:p>
        </p:txBody>
      </p:sp>
      <p:sp>
        <p:nvSpPr>
          <p:cNvPr id="778" name="Google Shape;778;p55"/>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779" name="Google Shape;779;p55"/>
          <p:cNvSpPr txBox="1"/>
          <p:nvPr/>
        </p:nvSpPr>
        <p:spPr>
          <a:xfrm>
            <a:off x="5324475" y="2237025"/>
            <a:ext cx="18810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780" name="Google Shape;780;p55"/>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4" name="Shape 784"/>
        <p:cNvGrpSpPr/>
        <p:nvPr/>
      </p:nvGrpSpPr>
      <p:grpSpPr>
        <a:xfrm>
          <a:off x="0" y="0"/>
          <a:ext cx="0" cy="0"/>
          <a:chOff x="0" y="0"/>
          <a:chExt cx="0" cy="0"/>
        </a:xfrm>
      </p:grpSpPr>
      <p:sp>
        <p:nvSpPr>
          <p:cNvPr id="785" name="Google Shape;785;p5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786" name="Google Shape;786;p56"/>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787" name="Google Shape;787;p56"/>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788" name="Google Shape;788;p56"/>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789" name="Google Shape;789;p56"/>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790" name="Google Shape;790;p56"/>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791" name="Google Shape;791;p56"/>
          <p:cNvSpPr/>
          <p:nvPr/>
        </p:nvSpPr>
        <p:spPr>
          <a:xfrm>
            <a:off x="4778636"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792" name="Google Shape;792;p56"/>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793" name="Google Shape;793;p56"/>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794" name="Google Shape;794;p56"/>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795" name="Google Shape;795;p56"/>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796" name="Google Shape;796;p56"/>
          <p:cNvSpPr txBox="1"/>
          <p:nvPr/>
        </p:nvSpPr>
        <p:spPr>
          <a:xfrm>
            <a:off x="5392236"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797" name="Google Shape;797;p56"/>
          <p:cNvSpPr txBox="1"/>
          <p:nvPr/>
        </p:nvSpPr>
        <p:spPr>
          <a:xfrm>
            <a:off x="4876376"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798" name="Google Shape;798;p56"/>
          <p:cNvSpPr/>
          <p:nvPr/>
        </p:nvSpPr>
        <p:spPr>
          <a:xfrm rot="-5400000">
            <a:off x="6361450" y="1990725"/>
            <a:ext cx="260700" cy="14277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 name="Google Shape;799;p56"/>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800" name="Google Shape;800;p56"/>
          <p:cNvSpPr txBox="1"/>
          <p:nvPr/>
        </p:nvSpPr>
        <p:spPr>
          <a:xfrm>
            <a:off x="5753175" y="2237025"/>
            <a:ext cx="14523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801" name="Google Shape;801;p56"/>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5" name="Shape 805"/>
        <p:cNvGrpSpPr/>
        <p:nvPr/>
      </p:nvGrpSpPr>
      <p:grpSpPr>
        <a:xfrm>
          <a:off x="0" y="0"/>
          <a:ext cx="0" cy="0"/>
          <a:chOff x="0" y="0"/>
          <a:chExt cx="0" cy="0"/>
        </a:xfrm>
      </p:grpSpPr>
      <p:sp>
        <p:nvSpPr>
          <p:cNvPr id="806" name="Google Shape;806;p5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807" name="Google Shape;807;p57"/>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808" name="Google Shape;808;p57"/>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809" name="Google Shape;809;p57"/>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810" name="Google Shape;810;p57"/>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811" name="Google Shape;811;p57"/>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812" name="Google Shape;812;p57"/>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813" name="Google Shape;813;p57"/>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814" name="Google Shape;814;p57"/>
          <p:cNvSpPr/>
          <p:nvPr/>
        </p:nvSpPr>
        <p:spPr>
          <a:xfrm>
            <a:off x="5753166"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815" name="Google Shape;815;p57"/>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816" name="Google Shape;816;p57"/>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817" name="Google Shape;817;p57"/>
          <p:cNvSpPr txBox="1"/>
          <p:nvPr/>
        </p:nvSpPr>
        <p:spPr>
          <a:xfrm>
            <a:off x="5392236"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818" name="Google Shape;818;p57"/>
          <p:cNvSpPr txBox="1"/>
          <p:nvPr/>
        </p:nvSpPr>
        <p:spPr>
          <a:xfrm>
            <a:off x="4876376"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819" name="Google Shape;819;p57"/>
          <p:cNvSpPr/>
          <p:nvPr/>
        </p:nvSpPr>
        <p:spPr>
          <a:xfrm rot="-5400000">
            <a:off x="6361450" y="1990725"/>
            <a:ext cx="260700" cy="14277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 name="Google Shape;820;p57"/>
          <p:cNvSpPr/>
          <p:nvPr/>
        </p:nvSpPr>
        <p:spPr>
          <a:xfrm rot="-5400000">
            <a:off x="4136450" y="1284075"/>
            <a:ext cx="260700" cy="28410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p57"/>
          <p:cNvSpPr txBox="1"/>
          <p:nvPr/>
        </p:nvSpPr>
        <p:spPr>
          <a:xfrm>
            <a:off x="3918542" y="2237025"/>
            <a:ext cx="849900" cy="3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sorted</a:t>
            </a:r>
            <a:endParaRPr/>
          </a:p>
        </p:txBody>
      </p:sp>
      <p:sp>
        <p:nvSpPr>
          <p:cNvPr id="822" name="Google Shape;822;p57"/>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823" name="Google Shape;823;p57"/>
          <p:cNvSpPr txBox="1"/>
          <p:nvPr/>
        </p:nvSpPr>
        <p:spPr>
          <a:xfrm>
            <a:off x="5753175" y="2237025"/>
            <a:ext cx="14523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824" name="Google Shape;824;p57"/>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8" name="Shape 828"/>
        <p:cNvGrpSpPr/>
        <p:nvPr/>
      </p:nvGrpSpPr>
      <p:grpSpPr>
        <a:xfrm>
          <a:off x="0" y="0"/>
          <a:ext cx="0" cy="0"/>
          <a:chOff x="0" y="0"/>
          <a:chExt cx="0" cy="0"/>
        </a:xfrm>
      </p:grpSpPr>
      <p:sp>
        <p:nvSpPr>
          <p:cNvPr id="829" name="Google Shape;829;p5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830" name="Google Shape;830;p58"/>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b="1" lang="en"/>
              <a:t>Designate item i as the traveling item.</a:t>
            </a:r>
            <a:endParaRPr b="1"/>
          </a:p>
          <a:p>
            <a:pPr indent="-342900" lvl="1" marL="914400" rtl="0" algn="l">
              <a:spcBef>
                <a:spcPts val="600"/>
              </a:spcBef>
              <a:spcAft>
                <a:spcPts val="0"/>
              </a:spcAft>
              <a:buSzPts val="1800"/>
              <a:buChar char="○"/>
            </a:pPr>
            <a:r>
              <a:rPr lang="en"/>
              <a:t>Swap item backwards until traveller is in the right place among all previously examined items</a:t>
            </a:r>
            <a:r>
              <a:rPr b="1" lang="en"/>
              <a:t>.</a:t>
            </a:r>
            <a:endParaRPr b="1"/>
          </a:p>
        </p:txBody>
      </p:sp>
      <p:sp>
        <p:nvSpPr>
          <p:cNvPr id="831" name="Google Shape;831;p58"/>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832" name="Google Shape;832;p58"/>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833" name="Google Shape;833;p58"/>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834" name="Google Shape;834;p58"/>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835" name="Google Shape;835;p58"/>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836" name="Google Shape;836;p58"/>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837" name="Google Shape;837;p58"/>
          <p:cNvSpPr/>
          <p:nvPr/>
        </p:nvSpPr>
        <p:spPr>
          <a:xfrm>
            <a:off x="5753166"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838" name="Google Shape;838;p58"/>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839" name="Google Shape;839;p58"/>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840" name="Google Shape;840;p58"/>
          <p:cNvSpPr txBox="1"/>
          <p:nvPr/>
        </p:nvSpPr>
        <p:spPr>
          <a:xfrm>
            <a:off x="5849436"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841" name="Google Shape;841;p58"/>
          <p:cNvSpPr txBox="1"/>
          <p:nvPr/>
        </p:nvSpPr>
        <p:spPr>
          <a:xfrm>
            <a:off x="5866976"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842" name="Google Shape;842;p58"/>
          <p:cNvSpPr/>
          <p:nvPr/>
        </p:nvSpPr>
        <p:spPr>
          <a:xfrm rot="-5400000">
            <a:off x="6361450" y="1990725"/>
            <a:ext cx="260700" cy="14277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 name="Google Shape;843;p58"/>
          <p:cNvSpPr/>
          <p:nvPr/>
        </p:nvSpPr>
        <p:spPr>
          <a:xfrm rot="-5400000">
            <a:off x="4136450" y="1284075"/>
            <a:ext cx="260700" cy="28410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 name="Google Shape;844;p58"/>
          <p:cNvSpPr txBox="1"/>
          <p:nvPr/>
        </p:nvSpPr>
        <p:spPr>
          <a:xfrm>
            <a:off x="3918542" y="2237025"/>
            <a:ext cx="849900" cy="3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sorted</a:t>
            </a:r>
            <a:endParaRPr/>
          </a:p>
        </p:txBody>
      </p:sp>
      <p:sp>
        <p:nvSpPr>
          <p:cNvPr id="845" name="Google Shape;845;p58"/>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846" name="Google Shape;846;p58"/>
          <p:cNvSpPr txBox="1"/>
          <p:nvPr/>
        </p:nvSpPr>
        <p:spPr>
          <a:xfrm>
            <a:off x="5753175" y="2237025"/>
            <a:ext cx="14523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847" name="Google Shape;847;p58"/>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1" name="Shape 851"/>
        <p:cNvGrpSpPr/>
        <p:nvPr/>
      </p:nvGrpSpPr>
      <p:grpSpPr>
        <a:xfrm>
          <a:off x="0" y="0"/>
          <a:ext cx="0" cy="0"/>
          <a:chOff x="0" y="0"/>
          <a:chExt cx="0" cy="0"/>
        </a:xfrm>
      </p:grpSpPr>
      <p:sp>
        <p:nvSpPr>
          <p:cNvPr id="852" name="Google Shape;852;p5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853" name="Google Shape;853;p59"/>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854" name="Google Shape;854;p59"/>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855" name="Google Shape;855;p59"/>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856" name="Google Shape;856;p59"/>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857" name="Google Shape;857;p59"/>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858" name="Google Shape;858;p59"/>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859" name="Google Shape;859;p59"/>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860" name="Google Shape;860;p59"/>
          <p:cNvSpPr/>
          <p:nvPr/>
        </p:nvSpPr>
        <p:spPr>
          <a:xfrm>
            <a:off x="5753166"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861" name="Google Shape;861;p59"/>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862" name="Google Shape;862;p59"/>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863" name="Google Shape;863;p59"/>
          <p:cNvSpPr txBox="1"/>
          <p:nvPr/>
        </p:nvSpPr>
        <p:spPr>
          <a:xfrm>
            <a:off x="5849436"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864" name="Google Shape;864;p59"/>
          <p:cNvSpPr txBox="1"/>
          <p:nvPr/>
        </p:nvSpPr>
        <p:spPr>
          <a:xfrm>
            <a:off x="5866976"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865" name="Google Shape;865;p59"/>
          <p:cNvSpPr/>
          <p:nvPr/>
        </p:nvSpPr>
        <p:spPr>
          <a:xfrm rot="-5400000">
            <a:off x="6616400" y="2245575"/>
            <a:ext cx="260700" cy="9180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59"/>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867" name="Google Shape;867;p59"/>
          <p:cNvSpPr txBox="1"/>
          <p:nvPr/>
        </p:nvSpPr>
        <p:spPr>
          <a:xfrm>
            <a:off x="6160700" y="2237025"/>
            <a:ext cx="11721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868" name="Google Shape;868;p59"/>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60"/>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874" name="Google Shape;874;p60"/>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875" name="Google Shape;875;p60"/>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876" name="Google Shape;876;p60"/>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877" name="Google Shape;877;p60"/>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878" name="Google Shape;878;p60"/>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879" name="Google Shape;879;p60"/>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880" name="Google Shape;880;p60"/>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881" name="Google Shape;881;p60"/>
          <p:cNvSpPr/>
          <p:nvPr/>
        </p:nvSpPr>
        <p:spPr>
          <a:xfrm>
            <a:off x="575316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882" name="Google Shape;882;p60"/>
          <p:cNvSpPr/>
          <p:nvPr/>
        </p:nvSpPr>
        <p:spPr>
          <a:xfrm>
            <a:off x="6238355"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883" name="Google Shape;883;p60"/>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884" name="Google Shape;884;p60"/>
          <p:cNvSpPr txBox="1"/>
          <p:nvPr/>
        </p:nvSpPr>
        <p:spPr>
          <a:xfrm>
            <a:off x="5849436"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885" name="Google Shape;885;p60"/>
          <p:cNvSpPr txBox="1"/>
          <p:nvPr/>
        </p:nvSpPr>
        <p:spPr>
          <a:xfrm>
            <a:off x="5866976"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886" name="Google Shape;886;p60"/>
          <p:cNvSpPr/>
          <p:nvPr/>
        </p:nvSpPr>
        <p:spPr>
          <a:xfrm rot="-5400000">
            <a:off x="6616400" y="2245575"/>
            <a:ext cx="260700" cy="9180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p60"/>
          <p:cNvSpPr/>
          <p:nvPr/>
        </p:nvSpPr>
        <p:spPr>
          <a:xfrm rot="-5400000">
            <a:off x="4363100" y="1057425"/>
            <a:ext cx="260700" cy="32943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60"/>
          <p:cNvSpPr txBox="1"/>
          <p:nvPr/>
        </p:nvSpPr>
        <p:spPr>
          <a:xfrm>
            <a:off x="4147142" y="2237025"/>
            <a:ext cx="849900" cy="3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sorted</a:t>
            </a:r>
            <a:endParaRPr/>
          </a:p>
        </p:txBody>
      </p:sp>
      <p:sp>
        <p:nvSpPr>
          <p:cNvPr id="889" name="Google Shape;889;p60"/>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890" name="Google Shape;890;p60"/>
          <p:cNvSpPr txBox="1"/>
          <p:nvPr/>
        </p:nvSpPr>
        <p:spPr>
          <a:xfrm>
            <a:off x="6160700" y="2237025"/>
            <a:ext cx="11721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891" name="Google Shape;891;p60"/>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5" name="Shape 895"/>
        <p:cNvGrpSpPr/>
        <p:nvPr/>
      </p:nvGrpSpPr>
      <p:grpSpPr>
        <a:xfrm>
          <a:off x="0" y="0"/>
          <a:ext cx="0" cy="0"/>
          <a:chOff x="0" y="0"/>
          <a:chExt cx="0" cy="0"/>
        </a:xfrm>
      </p:grpSpPr>
      <p:sp>
        <p:nvSpPr>
          <p:cNvPr id="896" name="Google Shape;896;p6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897" name="Google Shape;897;p61"/>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b="1" lang="en"/>
              <a:t>Designate item i as the traveling item.</a:t>
            </a:r>
            <a:endParaRPr b="1"/>
          </a:p>
          <a:p>
            <a:pPr indent="-342900" lvl="1" marL="914400" rtl="0" algn="l">
              <a:spcBef>
                <a:spcPts val="600"/>
              </a:spcBef>
              <a:spcAft>
                <a:spcPts val="0"/>
              </a:spcAft>
              <a:buSzPts val="1800"/>
              <a:buChar char="○"/>
            </a:pPr>
            <a:r>
              <a:rPr lang="en"/>
              <a:t>Swap item backwards until traveller is in the right place among all previously examined items.</a:t>
            </a:r>
            <a:endParaRPr/>
          </a:p>
        </p:txBody>
      </p:sp>
      <p:sp>
        <p:nvSpPr>
          <p:cNvPr id="898" name="Google Shape;898;p61"/>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899" name="Google Shape;899;p61"/>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900" name="Google Shape;900;p61"/>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901" name="Google Shape;901;p61"/>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902" name="Google Shape;902;p61"/>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903" name="Google Shape;903;p61"/>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904" name="Google Shape;904;p61"/>
          <p:cNvSpPr/>
          <p:nvPr/>
        </p:nvSpPr>
        <p:spPr>
          <a:xfrm>
            <a:off x="575316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905" name="Google Shape;905;p61"/>
          <p:cNvSpPr/>
          <p:nvPr/>
        </p:nvSpPr>
        <p:spPr>
          <a:xfrm>
            <a:off x="6238355"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906" name="Google Shape;906;p61"/>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907" name="Google Shape;907;p61"/>
          <p:cNvSpPr txBox="1"/>
          <p:nvPr/>
        </p:nvSpPr>
        <p:spPr>
          <a:xfrm>
            <a:off x="6306636"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908" name="Google Shape;908;p61"/>
          <p:cNvSpPr txBox="1"/>
          <p:nvPr/>
        </p:nvSpPr>
        <p:spPr>
          <a:xfrm>
            <a:off x="6324176"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909" name="Google Shape;909;p61"/>
          <p:cNvSpPr/>
          <p:nvPr/>
        </p:nvSpPr>
        <p:spPr>
          <a:xfrm rot="-5400000">
            <a:off x="6616400" y="2245575"/>
            <a:ext cx="260700" cy="9180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0" name="Google Shape;910;p61"/>
          <p:cNvSpPr/>
          <p:nvPr/>
        </p:nvSpPr>
        <p:spPr>
          <a:xfrm rot="-5400000">
            <a:off x="4363100" y="1057425"/>
            <a:ext cx="260700" cy="32943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 name="Google Shape;911;p61"/>
          <p:cNvSpPr txBox="1"/>
          <p:nvPr/>
        </p:nvSpPr>
        <p:spPr>
          <a:xfrm>
            <a:off x="4147142" y="2237025"/>
            <a:ext cx="849900" cy="3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sorted</a:t>
            </a:r>
            <a:endParaRPr/>
          </a:p>
        </p:txBody>
      </p:sp>
      <p:sp>
        <p:nvSpPr>
          <p:cNvPr id="912" name="Google Shape;912;p61"/>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913" name="Google Shape;913;p61"/>
          <p:cNvSpPr txBox="1"/>
          <p:nvPr/>
        </p:nvSpPr>
        <p:spPr>
          <a:xfrm>
            <a:off x="6160700" y="2237025"/>
            <a:ext cx="11721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914" name="Google Shape;914;p61"/>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6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920" name="Google Shape;920;p62"/>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921" name="Google Shape;921;p62"/>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922" name="Google Shape;922;p62"/>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923" name="Google Shape;923;p62"/>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924" name="Google Shape;924;p62"/>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925" name="Google Shape;925;p62"/>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926" name="Google Shape;926;p62"/>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927" name="Google Shape;927;p62"/>
          <p:cNvSpPr/>
          <p:nvPr/>
        </p:nvSpPr>
        <p:spPr>
          <a:xfrm>
            <a:off x="5753166"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928" name="Google Shape;928;p62"/>
          <p:cNvSpPr/>
          <p:nvPr/>
        </p:nvSpPr>
        <p:spPr>
          <a:xfrm>
            <a:off x="6238355" y="2892875"/>
            <a:ext cx="495300" cy="495300"/>
          </a:xfrm>
          <a:prstGeom prst="rect">
            <a:avLst/>
          </a:prstGeom>
          <a:solidFill>
            <a:srgbClr val="CCCCCC"/>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929" name="Google Shape;929;p62"/>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930" name="Google Shape;930;p62"/>
          <p:cNvSpPr txBox="1"/>
          <p:nvPr/>
        </p:nvSpPr>
        <p:spPr>
          <a:xfrm>
            <a:off x="6306636"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931" name="Google Shape;931;p62"/>
          <p:cNvSpPr txBox="1"/>
          <p:nvPr/>
        </p:nvSpPr>
        <p:spPr>
          <a:xfrm>
            <a:off x="5889634"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932" name="Google Shape;932;p62"/>
          <p:cNvSpPr/>
          <p:nvPr/>
        </p:nvSpPr>
        <p:spPr>
          <a:xfrm rot="-5400000">
            <a:off x="6859975" y="2489175"/>
            <a:ext cx="260700" cy="4308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 name="Google Shape;933;p62"/>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934" name="Google Shape;934;p62"/>
          <p:cNvSpPr txBox="1"/>
          <p:nvPr/>
        </p:nvSpPr>
        <p:spPr>
          <a:xfrm>
            <a:off x="6404275" y="2237025"/>
            <a:ext cx="11721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935" name="Google Shape;935;p62"/>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63"/>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941" name="Google Shape;941;p63"/>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942" name="Google Shape;942;p63"/>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943" name="Google Shape;943;p63"/>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944" name="Google Shape;944;p63"/>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945" name="Google Shape;945;p63"/>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946" name="Google Shape;946;p63"/>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947" name="Google Shape;947;p63"/>
          <p:cNvSpPr/>
          <p:nvPr/>
        </p:nvSpPr>
        <p:spPr>
          <a:xfrm>
            <a:off x="5263825"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948" name="Google Shape;948;p63"/>
          <p:cNvSpPr/>
          <p:nvPr/>
        </p:nvSpPr>
        <p:spPr>
          <a:xfrm>
            <a:off x="575316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949" name="Google Shape;949;p63"/>
          <p:cNvSpPr/>
          <p:nvPr/>
        </p:nvSpPr>
        <p:spPr>
          <a:xfrm>
            <a:off x="6238355" y="2892875"/>
            <a:ext cx="495300" cy="495300"/>
          </a:xfrm>
          <a:prstGeom prst="rect">
            <a:avLst/>
          </a:prstGeom>
          <a:solidFill>
            <a:srgbClr val="CCCCCC"/>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950" name="Google Shape;950;p63"/>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951" name="Google Shape;951;p63"/>
          <p:cNvSpPr txBox="1"/>
          <p:nvPr/>
        </p:nvSpPr>
        <p:spPr>
          <a:xfrm>
            <a:off x="6306636"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952" name="Google Shape;952;p63"/>
          <p:cNvSpPr txBox="1"/>
          <p:nvPr/>
        </p:nvSpPr>
        <p:spPr>
          <a:xfrm>
            <a:off x="5367564"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953" name="Google Shape;953;p63"/>
          <p:cNvSpPr/>
          <p:nvPr/>
        </p:nvSpPr>
        <p:spPr>
          <a:xfrm rot="-5400000">
            <a:off x="6859975" y="2489175"/>
            <a:ext cx="260700" cy="4308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63"/>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955" name="Google Shape;955;p63"/>
          <p:cNvSpPr txBox="1"/>
          <p:nvPr/>
        </p:nvSpPr>
        <p:spPr>
          <a:xfrm>
            <a:off x="6404275" y="2237025"/>
            <a:ext cx="11721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956" name="Google Shape;956;p63"/>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0" name="Shape 960"/>
        <p:cNvGrpSpPr/>
        <p:nvPr/>
      </p:nvGrpSpPr>
      <p:grpSpPr>
        <a:xfrm>
          <a:off x="0" y="0"/>
          <a:ext cx="0" cy="0"/>
          <a:chOff x="0" y="0"/>
          <a:chExt cx="0" cy="0"/>
        </a:xfrm>
      </p:grpSpPr>
      <p:sp>
        <p:nvSpPr>
          <p:cNvPr id="961" name="Google Shape;961;p6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962" name="Google Shape;962;p64"/>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963" name="Google Shape;963;p64"/>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964" name="Google Shape;964;p64"/>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965" name="Google Shape;965;p64"/>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966" name="Google Shape;966;p64"/>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967" name="Google Shape;967;p64"/>
          <p:cNvSpPr/>
          <p:nvPr/>
        </p:nvSpPr>
        <p:spPr>
          <a:xfrm>
            <a:off x="4778636"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968" name="Google Shape;968;p64"/>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969" name="Google Shape;969;p64"/>
          <p:cNvSpPr/>
          <p:nvPr/>
        </p:nvSpPr>
        <p:spPr>
          <a:xfrm>
            <a:off x="575316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970" name="Google Shape;970;p64"/>
          <p:cNvSpPr/>
          <p:nvPr/>
        </p:nvSpPr>
        <p:spPr>
          <a:xfrm>
            <a:off x="6238355" y="2892875"/>
            <a:ext cx="495300" cy="495300"/>
          </a:xfrm>
          <a:prstGeom prst="rect">
            <a:avLst/>
          </a:prstGeom>
          <a:solidFill>
            <a:srgbClr val="CCCCCC"/>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971" name="Google Shape;971;p64"/>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972" name="Google Shape;972;p64"/>
          <p:cNvSpPr txBox="1"/>
          <p:nvPr/>
        </p:nvSpPr>
        <p:spPr>
          <a:xfrm>
            <a:off x="6306636"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973" name="Google Shape;973;p64"/>
          <p:cNvSpPr txBox="1"/>
          <p:nvPr/>
        </p:nvSpPr>
        <p:spPr>
          <a:xfrm>
            <a:off x="4899034"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974" name="Google Shape;974;p64"/>
          <p:cNvSpPr/>
          <p:nvPr/>
        </p:nvSpPr>
        <p:spPr>
          <a:xfrm rot="-5400000">
            <a:off x="6859975" y="2489175"/>
            <a:ext cx="260700" cy="4308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 name="Google Shape;975;p64"/>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976" name="Google Shape;976;p64"/>
          <p:cNvSpPr txBox="1"/>
          <p:nvPr/>
        </p:nvSpPr>
        <p:spPr>
          <a:xfrm>
            <a:off x="6404275" y="2237025"/>
            <a:ext cx="11721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977" name="Google Shape;977;p64"/>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65"/>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983" name="Google Shape;983;p65"/>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984" name="Google Shape;984;p65"/>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985" name="Google Shape;985;p65"/>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986" name="Google Shape;986;p65"/>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987" name="Google Shape;987;p65"/>
          <p:cNvSpPr/>
          <p:nvPr/>
        </p:nvSpPr>
        <p:spPr>
          <a:xfrm>
            <a:off x="4293894"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988" name="Google Shape;988;p65"/>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989" name="Google Shape;989;p65"/>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990" name="Google Shape;990;p65"/>
          <p:cNvSpPr/>
          <p:nvPr/>
        </p:nvSpPr>
        <p:spPr>
          <a:xfrm>
            <a:off x="575316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991" name="Google Shape;991;p65"/>
          <p:cNvSpPr/>
          <p:nvPr/>
        </p:nvSpPr>
        <p:spPr>
          <a:xfrm>
            <a:off x="623835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992" name="Google Shape;992;p65"/>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993" name="Google Shape;993;p65"/>
          <p:cNvSpPr txBox="1"/>
          <p:nvPr/>
        </p:nvSpPr>
        <p:spPr>
          <a:xfrm>
            <a:off x="6306636"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994" name="Google Shape;994;p65"/>
          <p:cNvSpPr txBox="1"/>
          <p:nvPr/>
        </p:nvSpPr>
        <p:spPr>
          <a:xfrm>
            <a:off x="4441834"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995" name="Google Shape;995;p65"/>
          <p:cNvSpPr/>
          <p:nvPr/>
        </p:nvSpPr>
        <p:spPr>
          <a:xfrm rot="-5400000">
            <a:off x="6859975" y="2489175"/>
            <a:ext cx="260700" cy="4308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65"/>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997" name="Google Shape;997;p65"/>
          <p:cNvSpPr txBox="1"/>
          <p:nvPr/>
        </p:nvSpPr>
        <p:spPr>
          <a:xfrm>
            <a:off x="6404275" y="2237025"/>
            <a:ext cx="11721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998" name="Google Shape;998;p65"/>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2" name="Shape 1002"/>
        <p:cNvGrpSpPr/>
        <p:nvPr/>
      </p:nvGrpSpPr>
      <p:grpSpPr>
        <a:xfrm>
          <a:off x="0" y="0"/>
          <a:ext cx="0" cy="0"/>
          <a:chOff x="0" y="0"/>
          <a:chExt cx="0" cy="0"/>
        </a:xfrm>
      </p:grpSpPr>
      <p:sp>
        <p:nvSpPr>
          <p:cNvPr id="1003" name="Google Shape;1003;p6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1004" name="Google Shape;1004;p66"/>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1005" name="Google Shape;1005;p66"/>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006" name="Google Shape;1006;p66"/>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1007" name="Google Shape;1007;p66"/>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008" name="Google Shape;1008;p66"/>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009" name="Google Shape;1009;p66"/>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1010" name="Google Shape;1010;p66"/>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1011" name="Google Shape;1011;p66"/>
          <p:cNvSpPr/>
          <p:nvPr/>
        </p:nvSpPr>
        <p:spPr>
          <a:xfrm>
            <a:off x="575316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1012" name="Google Shape;1012;p66"/>
          <p:cNvSpPr/>
          <p:nvPr/>
        </p:nvSpPr>
        <p:spPr>
          <a:xfrm>
            <a:off x="623835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1013" name="Google Shape;1013;p66"/>
          <p:cNvSpPr/>
          <p:nvPr/>
        </p:nvSpPr>
        <p:spPr>
          <a:xfrm>
            <a:off x="6727730" y="28928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014" name="Google Shape;1014;p66"/>
          <p:cNvSpPr txBox="1"/>
          <p:nvPr/>
        </p:nvSpPr>
        <p:spPr>
          <a:xfrm>
            <a:off x="6306636"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1015" name="Google Shape;1015;p66"/>
          <p:cNvSpPr txBox="1"/>
          <p:nvPr/>
        </p:nvSpPr>
        <p:spPr>
          <a:xfrm>
            <a:off x="4441834" y="3692259"/>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1016" name="Google Shape;1016;p66"/>
          <p:cNvSpPr/>
          <p:nvPr/>
        </p:nvSpPr>
        <p:spPr>
          <a:xfrm rot="-5400000">
            <a:off x="6859975" y="2489175"/>
            <a:ext cx="260700" cy="4308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66"/>
          <p:cNvSpPr/>
          <p:nvPr/>
        </p:nvSpPr>
        <p:spPr>
          <a:xfrm rot="-5400000">
            <a:off x="4640600" y="779925"/>
            <a:ext cx="260700" cy="38493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66"/>
          <p:cNvSpPr txBox="1"/>
          <p:nvPr/>
        </p:nvSpPr>
        <p:spPr>
          <a:xfrm>
            <a:off x="4451942" y="2237025"/>
            <a:ext cx="849900" cy="3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sorted</a:t>
            </a:r>
            <a:endParaRPr/>
          </a:p>
        </p:txBody>
      </p:sp>
      <p:sp>
        <p:nvSpPr>
          <p:cNvPr id="1019" name="Google Shape;1019;p66"/>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1020" name="Google Shape;1020;p66"/>
          <p:cNvSpPr txBox="1"/>
          <p:nvPr/>
        </p:nvSpPr>
        <p:spPr>
          <a:xfrm>
            <a:off x="6404275" y="2237025"/>
            <a:ext cx="11721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1021" name="Google Shape;1021;p66"/>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6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In-place Insertion Sort</a:t>
            </a:r>
            <a:endParaRPr/>
          </a:p>
        </p:txBody>
      </p:sp>
      <p:sp>
        <p:nvSpPr>
          <p:cNvPr id="1027" name="Google Shape;1027;p67"/>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b="1" lang="en"/>
              <a:t>Designate item i as the traveling item.</a:t>
            </a:r>
            <a:endParaRPr b="1"/>
          </a:p>
          <a:p>
            <a:pPr indent="-342900" lvl="1" marL="914400" rtl="0" algn="l">
              <a:spcBef>
                <a:spcPts val="600"/>
              </a:spcBef>
              <a:spcAft>
                <a:spcPts val="0"/>
              </a:spcAft>
              <a:buSzPts val="1800"/>
              <a:buChar char="○"/>
            </a:pPr>
            <a:r>
              <a:rPr lang="en"/>
              <a:t>Swap item backwards until traveller is in the right place among all previously examined items.</a:t>
            </a:r>
            <a:endParaRPr/>
          </a:p>
        </p:txBody>
      </p:sp>
      <p:sp>
        <p:nvSpPr>
          <p:cNvPr id="1028" name="Google Shape;1028;p67"/>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029" name="Google Shape;1029;p67"/>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1030" name="Google Shape;1030;p67"/>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031" name="Google Shape;1031;p67"/>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032" name="Google Shape;1032;p67"/>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1033" name="Google Shape;1033;p67"/>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1034" name="Google Shape;1034;p67"/>
          <p:cNvSpPr/>
          <p:nvPr/>
        </p:nvSpPr>
        <p:spPr>
          <a:xfrm>
            <a:off x="575316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1035" name="Google Shape;1035;p67"/>
          <p:cNvSpPr/>
          <p:nvPr/>
        </p:nvSpPr>
        <p:spPr>
          <a:xfrm>
            <a:off x="623835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1036" name="Google Shape;1036;p67"/>
          <p:cNvSpPr/>
          <p:nvPr/>
        </p:nvSpPr>
        <p:spPr>
          <a:xfrm>
            <a:off x="6727730"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037" name="Google Shape;1037;p67"/>
          <p:cNvSpPr txBox="1"/>
          <p:nvPr/>
        </p:nvSpPr>
        <p:spPr>
          <a:xfrm>
            <a:off x="6840036"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1038" name="Google Shape;1038;p67"/>
          <p:cNvSpPr txBox="1"/>
          <p:nvPr/>
        </p:nvSpPr>
        <p:spPr>
          <a:xfrm>
            <a:off x="6851134" y="3706834"/>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1039" name="Google Shape;1039;p67"/>
          <p:cNvSpPr/>
          <p:nvPr/>
        </p:nvSpPr>
        <p:spPr>
          <a:xfrm rot="-5400000">
            <a:off x="6859975" y="2489175"/>
            <a:ext cx="260700" cy="4308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 name="Google Shape;1040;p67"/>
          <p:cNvSpPr/>
          <p:nvPr/>
        </p:nvSpPr>
        <p:spPr>
          <a:xfrm rot="-5400000">
            <a:off x="4640600" y="779925"/>
            <a:ext cx="260700" cy="38493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 name="Google Shape;1041;p67"/>
          <p:cNvSpPr txBox="1"/>
          <p:nvPr/>
        </p:nvSpPr>
        <p:spPr>
          <a:xfrm>
            <a:off x="4451942" y="2237025"/>
            <a:ext cx="849900" cy="3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sorted</a:t>
            </a:r>
            <a:endParaRPr/>
          </a:p>
        </p:txBody>
      </p:sp>
      <p:sp>
        <p:nvSpPr>
          <p:cNvPr id="1042" name="Google Shape;1042;p67"/>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1043" name="Google Shape;1043;p67"/>
          <p:cNvSpPr txBox="1"/>
          <p:nvPr/>
        </p:nvSpPr>
        <p:spPr>
          <a:xfrm>
            <a:off x="6404275" y="2237025"/>
            <a:ext cx="11721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1044" name="Google Shape;1044;p67"/>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8" name="Shape 1048"/>
        <p:cNvGrpSpPr/>
        <p:nvPr/>
      </p:nvGrpSpPr>
      <p:grpSpPr>
        <a:xfrm>
          <a:off x="0" y="0"/>
          <a:ext cx="0" cy="0"/>
          <a:chOff x="0" y="0"/>
          <a:chExt cx="0" cy="0"/>
        </a:xfrm>
      </p:grpSpPr>
      <p:sp>
        <p:nvSpPr>
          <p:cNvPr id="1049" name="Google Shape;1049;p6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1050" name="Google Shape;1050;p68"/>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1051" name="Google Shape;1051;p68"/>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052" name="Google Shape;1052;p68"/>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1053" name="Google Shape;1053;p68"/>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054" name="Google Shape;1054;p68"/>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055" name="Google Shape;1055;p68"/>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1056" name="Google Shape;1056;p68"/>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1057" name="Google Shape;1057;p68"/>
          <p:cNvSpPr/>
          <p:nvPr/>
        </p:nvSpPr>
        <p:spPr>
          <a:xfrm>
            <a:off x="575316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1058" name="Google Shape;1058;p68"/>
          <p:cNvSpPr/>
          <p:nvPr/>
        </p:nvSpPr>
        <p:spPr>
          <a:xfrm>
            <a:off x="623835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1059" name="Google Shape;1059;p68"/>
          <p:cNvSpPr/>
          <p:nvPr/>
        </p:nvSpPr>
        <p:spPr>
          <a:xfrm>
            <a:off x="6727730"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060" name="Google Shape;1060;p68"/>
          <p:cNvSpPr txBox="1"/>
          <p:nvPr/>
        </p:nvSpPr>
        <p:spPr>
          <a:xfrm>
            <a:off x="6840036"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1061" name="Google Shape;1061;p68"/>
          <p:cNvSpPr txBox="1"/>
          <p:nvPr/>
        </p:nvSpPr>
        <p:spPr>
          <a:xfrm>
            <a:off x="6851134" y="3706834"/>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1062" name="Google Shape;1062;p68"/>
          <p:cNvSpPr/>
          <p:nvPr/>
        </p:nvSpPr>
        <p:spPr>
          <a:xfrm rot="-5400000">
            <a:off x="6859975" y="2489175"/>
            <a:ext cx="260700" cy="4308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 name="Google Shape;1063;p68"/>
          <p:cNvSpPr/>
          <p:nvPr/>
        </p:nvSpPr>
        <p:spPr>
          <a:xfrm rot="-5400000">
            <a:off x="4640600" y="779925"/>
            <a:ext cx="260700" cy="38493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68"/>
          <p:cNvSpPr txBox="1"/>
          <p:nvPr/>
        </p:nvSpPr>
        <p:spPr>
          <a:xfrm>
            <a:off x="4451942" y="2237025"/>
            <a:ext cx="849900" cy="3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sorted</a:t>
            </a:r>
            <a:endParaRPr/>
          </a:p>
        </p:txBody>
      </p:sp>
      <p:sp>
        <p:nvSpPr>
          <p:cNvPr id="1065" name="Google Shape;1065;p68"/>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1066" name="Google Shape;1066;p68"/>
          <p:cNvSpPr txBox="1"/>
          <p:nvPr/>
        </p:nvSpPr>
        <p:spPr>
          <a:xfrm>
            <a:off x="6404275" y="2237025"/>
            <a:ext cx="1172100" cy="337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unexamined</a:t>
            </a:r>
            <a:endParaRPr>
              <a:latin typeface="Roboto"/>
              <a:ea typeface="Roboto"/>
              <a:cs typeface="Roboto"/>
              <a:sym typeface="Roboto"/>
            </a:endParaRPr>
          </a:p>
        </p:txBody>
      </p:sp>
      <p:sp>
        <p:nvSpPr>
          <p:cNvPr id="1067" name="Google Shape;1067;p68"/>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1" name="Shape 1071"/>
        <p:cNvGrpSpPr/>
        <p:nvPr/>
      </p:nvGrpSpPr>
      <p:grpSpPr>
        <a:xfrm>
          <a:off x="0" y="0"/>
          <a:ext cx="0" cy="0"/>
          <a:chOff x="0" y="0"/>
          <a:chExt cx="0" cy="0"/>
        </a:xfrm>
      </p:grpSpPr>
      <p:sp>
        <p:nvSpPr>
          <p:cNvPr id="1072" name="Google Shape;1072;p6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1073" name="Google Shape;1073;p69"/>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1074" name="Google Shape;1074;p69"/>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075" name="Google Shape;1075;p69"/>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1076" name="Google Shape;1076;p69"/>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077" name="Google Shape;1077;p69"/>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078" name="Google Shape;1078;p69"/>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1079" name="Google Shape;1079;p69"/>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1080" name="Google Shape;1080;p69"/>
          <p:cNvSpPr/>
          <p:nvPr/>
        </p:nvSpPr>
        <p:spPr>
          <a:xfrm>
            <a:off x="575316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1081" name="Google Shape;1081;p69"/>
          <p:cNvSpPr/>
          <p:nvPr/>
        </p:nvSpPr>
        <p:spPr>
          <a:xfrm>
            <a:off x="6238355"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082" name="Google Shape;1082;p69"/>
          <p:cNvSpPr/>
          <p:nvPr/>
        </p:nvSpPr>
        <p:spPr>
          <a:xfrm>
            <a:off x="6727730"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1083" name="Google Shape;1083;p69"/>
          <p:cNvSpPr txBox="1"/>
          <p:nvPr/>
        </p:nvSpPr>
        <p:spPr>
          <a:xfrm>
            <a:off x="6840036"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1084" name="Google Shape;1084;p69"/>
          <p:cNvSpPr txBox="1"/>
          <p:nvPr/>
        </p:nvSpPr>
        <p:spPr>
          <a:xfrm>
            <a:off x="6329064" y="3706834"/>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1085" name="Google Shape;1085;p69"/>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1086" name="Google Shape;1086;p69"/>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0" name="Shape 1090"/>
        <p:cNvGrpSpPr/>
        <p:nvPr/>
      </p:nvGrpSpPr>
      <p:grpSpPr>
        <a:xfrm>
          <a:off x="0" y="0"/>
          <a:ext cx="0" cy="0"/>
          <a:chOff x="0" y="0"/>
          <a:chExt cx="0" cy="0"/>
        </a:xfrm>
      </p:grpSpPr>
      <p:sp>
        <p:nvSpPr>
          <p:cNvPr id="1091" name="Google Shape;1091;p70"/>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1092" name="Google Shape;1092;p70"/>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1093" name="Google Shape;1093;p70"/>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094" name="Google Shape;1094;p70"/>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1095" name="Google Shape;1095;p70"/>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096" name="Google Shape;1096;p70"/>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097" name="Google Shape;1097;p70"/>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1098" name="Google Shape;1098;p70"/>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1099" name="Google Shape;1099;p70"/>
          <p:cNvSpPr/>
          <p:nvPr/>
        </p:nvSpPr>
        <p:spPr>
          <a:xfrm>
            <a:off x="5753166"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100" name="Google Shape;1100;p70"/>
          <p:cNvSpPr/>
          <p:nvPr/>
        </p:nvSpPr>
        <p:spPr>
          <a:xfrm>
            <a:off x="623835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1101" name="Google Shape;1101;p70"/>
          <p:cNvSpPr/>
          <p:nvPr/>
        </p:nvSpPr>
        <p:spPr>
          <a:xfrm>
            <a:off x="6727730"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1102" name="Google Shape;1102;p70"/>
          <p:cNvSpPr txBox="1"/>
          <p:nvPr/>
        </p:nvSpPr>
        <p:spPr>
          <a:xfrm>
            <a:off x="6840036"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1103" name="Google Shape;1103;p70"/>
          <p:cNvSpPr txBox="1"/>
          <p:nvPr/>
        </p:nvSpPr>
        <p:spPr>
          <a:xfrm>
            <a:off x="5871864" y="3706834"/>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1104" name="Google Shape;1104;p70"/>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1105" name="Google Shape;1105;p70"/>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9" name="Shape 1109"/>
        <p:cNvGrpSpPr/>
        <p:nvPr/>
      </p:nvGrpSpPr>
      <p:grpSpPr>
        <a:xfrm>
          <a:off x="0" y="0"/>
          <a:ext cx="0" cy="0"/>
          <a:chOff x="0" y="0"/>
          <a:chExt cx="0" cy="0"/>
        </a:xfrm>
      </p:grpSpPr>
      <p:sp>
        <p:nvSpPr>
          <p:cNvPr id="1110" name="Google Shape;1110;p7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1111" name="Google Shape;1111;p71"/>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1112" name="Google Shape;1112;p71"/>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113" name="Google Shape;1113;p71"/>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1114" name="Google Shape;1114;p71"/>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115" name="Google Shape;1115;p71"/>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116" name="Google Shape;1116;p71"/>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1117" name="Google Shape;1117;p71"/>
          <p:cNvSpPr/>
          <p:nvPr/>
        </p:nvSpPr>
        <p:spPr>
          <a:xfrm>
            <a:off x="5263825"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118" name="Google Shape;1118;p71"/>
          <p:cNvSpPr/>
          <p:nvPr/>
        </p:nvSpPr>
        <p:spPr>
          <a:xfrm>
            <a:off x="575316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1119" name="Google Shape;1119;p71"/>
          <p:cNvSpPr/>
          <p:nvPr/>
        </p:nvSpPr>
        <p:spPr>
          <a:xfrm>
            <a:off x="623835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1120" name="Google Shape;1120;p71"/>
          <p:cNvSpPr/>
          <p:nvPr/>
        </p:nvSpPr>
        <p:spPr>
          <a:xfrm>
            <a:off x="6727730"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1121" name="Google Shape;1121;p71"/>
          <p:cNvSpPr txBox="1"/>
          <p:nvPr/>
        </p:nvSpPr>
        <p:spPr>
          <a:xfrm>
            <a:off x="6840036"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1122" name="Google Shape;1122;p71"/>
          <p:cNvSpPr txBox="1"/>
          <p:nvPr/>
        </p:nvSpPr>
        <p:spPr>
          <a:xfrm>
            <a:off x="5414664" y="3706834"/>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1123" name="Google Shape;1123;p71"/>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1124" name="Google Shape;1124;p71"/>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8" name="Shape 1128"/>
        <p:cNvGrpSpPr/>
        <p:nvPr/>
      </p:nvGrpSpPr>
      <p:grpSpPr>
        <a:xfrm>
          <a:off x="0" y="0"/>
          <a:ext cx="0" cy="0"/>
          <a:chOff x="0" y="0"/>
          <a:chExt cx="0" cy="0"/>
        </a:xfrm>
      </p:grpSpPr>
      <p:sp>
        <p:nvSpPr>
          <p:cNvPr id="1129" name="Google Shape;1129;p7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1130" name="Google Shape;1130;p72"/>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1131" name="Google Shape;1131;p72"/>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132" name="Google Shape;1132;p72"/>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1133" name="Google Shape;1133;p72"/>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134" name="Google Shape;1134;p72"/>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135" name="Google Shape;1135;p72"/>
          <p:cNvSpPr/>
          <p:nvPr/>
        </p:nvSpPr>
        <p:spPr>
          <a:xfrm>
            <a:off x="4778636" y="2892875"/>
            <a:ext cx="495300" cy="495300"/>
          </a:xfrm>
          <a:prstGeom prst="rect">
            <a:avLst/>
          </a:prstGeom>
          <a:solidFill>
            <a:schemeClr val="accent3"/>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136" name="Google Shape;1136;p72"/>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1137" name="Google Shape;1137;p72"/>
          <p:cNvSpPr/>
          <p:nvPr/>
        </p:nvSpPr>
        <p:spPr>
          <a:xfrm>
            <a:off x="575316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1138" name="Google Shape;1138;p72"/>
          <p:cNvSpPr/>
          <p:nvPr/>
        </p:nvSpPr>
        <p:spPr>
          <a:xfrm>
            <a:off x="623835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1139" name="Google Shape;1139;p72"/>
          <p:cNvSpPr/>
          <p:nvPr/>
        </p:nvSpPr>
        <p:spPr>
          <a:xfrm>
            <a:off x="6727730"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1140" name="Google Shape;1140;p72"/>
          <p:cNvSpPr txBox="1"/>
          <p:nvPr/>
        </p:nvSpPr>
        <p:spPr>
          <a:xfrm>
            <a:off x="6840036"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1141" name="Google Shape;1141;p72"/>
          <p:cNvSpPr txBox="1"/>
          <p:nvPr/>
        </p:nvSpPr>
        <p:spPr>
          <a:xfrm>
            <a:off x="4892593" y="3706834"/>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1142" name="Google Shape;1142;p72"/>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1143" name="Google Shape;1143;p72"/>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7" name="Shape 1147"/>
        <p:cNvGrpSpPr/>
        <p:nvPr/>
      </p:nvGrpSpPr>
      <p:grpSpPr>
        <a:xfrm>
          <a:off x="0" y="0"/>
          <a:ext cx="0" cy="0"/>
          <a:chOff x="0" y="0"/>
          <a:chExt cx="0" cy="0"/>
        </a:xfrm>
      </p:grpSpPr>
      <p:sp>
        <p:nvSpPr>
          <p:cNvPr id="1148" name="Google Shape;1148;p73"/>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In-place Insertion Sort</a:t>
            </a:r>
            <a:endParaRPr/>
          </a:p>
        </p:txBody>
      </p:sp>
      <p:sp>
        <p:nvSpPr>
          <p:cNvPr id="1149" name="Google Shape;1149;p73"/>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General strategy: </a:t>
            </a:r>
            <a:endParaRPr/>
          </a:p>
          <a:p>
            <a:pPr indent="-342900" lvl="0" marL="457200" rtl="0" algn="l">
              <a:spcBef>
                <a:spcPts val="600"/>
              </a:spcBef>
              <a:spcAft>
                <a:spcPts val="0"/>
              </a:spcAft>
              <a:buSzPts val="1800"/>
              <a:buChar char="●"/>
            </a:pPr>
            <a:r>
              <a:rPr lang="en"/>
              <a:t>Repeat for i = 0 to N - 1:</a:t>
            </a:r>
            <a:endParaRPr/>
          </a:p>
          <a:p>
            <a:pPr indent="-342900" lvl="1" marL="914400" rtl="0" algn="l">
              <a:spcBef>
                <a:spcPts val="0"/>
              </a:spcBef>
              <a:spcAft>
                <a:spcPts val="0"/>
              </a:spcAft>
              <a:buSzPts val="1800"/>
              <a:buChar char="○"/>
            </a:pPr>
            <a:r>
              <a:rPr lang="en"/>
              <a:t>Designate item i as the traveling item.</a:t>
            </a:r>
            <a:endParaRPr/>
          </a:p>
          <a:p>
            <a:pPr indent="-342900" lvl="1" marL="914400" rtl="0" algn="l">
              <a:spcBef>
                <a:spcPts val="600"/>
              </a:spcBef>
              <a:spcAft>
                <a:spcPts val="0"/>
              </a:spcAft>
              <a:buSzPts val="1800"/>
              <a:buChar char="○"/>
            </a:pPr>
            <a:r>
              <a:rPr b="1" lang="en"/>
              <a:t>Swap item backwards until traveller is in the right place among all previously examined items.</a:t>
            </a:r>
            <a:endParaRPr b="1"/>
          </a:p>
        </p:txBody>
      </p:sp>
      <p:sp>
        <p:nvSpPr>
          <p:cNvPr id="1150" name="Google Shape;1150;p73"/>
          <p:cNvSpPr/>
          <p:nvPr/>
        </p:nvSpPr>
        <p:spPr>
          <a:xfrm>
            <a:off x="283417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151" name="Google Shape;1151;p73"/>
          <p:cNvSpPr/>
          <p:nvPr/>
        </p:nvSpPr>
        <p:spPr>
          <a:xfrm>
            <a:off x="331936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1152" name="Google Shape;1152;p73"/>
          <p:cNvSpPr/>
          <p:nvPr/>
        </p:nvSpPr>
        <p:spPr>
          <a:xfrm>
            <a:off x="380870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153" name="Google Shape;1153;p73"/>
          <p:cNvSpPr/>
          <p:nvPr/>
        </p:nvSpPr>
        <p:spPr>
          <a:xfrm>
            <a:off x="4293894"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154" name="Google Shape;1154;p73"/>
          <p:cNvSpPr/>
          <p:nvPr/>
        </p:nvSpPr>
        <p:spPr>
          <a:xfrm>
            <a:off x="477863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155" name="Google Shape;1155;p73"/>
          <p:cNvSpPr/>
          <p:nvPr/>
        </p:nvSpPr>
        <p:spPr>
          <a:xfrm>
            <a:off x="526382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1156" name="Google Shape;1156;p73"/>
          <p:cNvSpPr/>
          <p:nvPr/>
        </p:nvSpPr>
        <p:spPr>
          <a:xfrm>
            <a:off x="5753166"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1157" name="Google Shape;1157;p73"/>
          <p:cNvSpPr/>
          <p:nvPr/>
        </p:nvSpPr>
        <p:spPr>
          <a:xfrm>
            <a:off x="6238355"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1158" name="Google Shape;1158;p73"/>
          <p:cNvSpPr/>
          <p:nvPr/>
        </p:nvSpPr>
        <p:spPr>
          <a:xfrm>
            <a:off x="6727730" y="2892875"/>
            <a:ext cx="495300" cy="495300"/>
          </a:xfrm>
          <a:prstGeom prst="rect">
            <a:avLst/>
          </a:prstGeom>
          <a:solidFill>
            <a:srgbClr val="D9D9D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1159" name="Google Shape;1159;p73"/>
          <p:cNvSpPr txBox="1"/>
          <p:nvPr/>
        </p:nvSpPr>
        <p:spPr>
          <a:xfrm>
            <a:off x="1294775" y="2892875"/>
            <a:ext cx="948300" cy="49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latin typeface="Roboto"/>
                <a:ea typeface="Roboto"/>
                <a:cs typeface="Roboto"/>
                <a:sym typeface="Roboto"/>
              </a:rPr>
              <a:t>Input:</a:t>
            </a:r>
            <a:endParaRPr sz="1800">
              <a:latin typeface="Roboto"/>
              <a:ea typeface="Roboto"/>
              <a:cs typeface="Roboto"/>
              <a:sym typeface="Roboto"/>
            </a:endParaRPr>
          </a:p>
        </p:txBody>
      </p:sp>
      <p:sp>
        <p:nvSpPr>
          <p:cNvPr id="1160" name="Google Shape;1160;p73"/>
          <p:cNvSpPr txBox="1"/>
          <p:nvPr/>
        </p:nvSpPr>
        <p:spPr>
          <a:xfrm>
            <a:off x="6840036" y="3364800"/>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i</a:t>
            </a:r>
            <a:endParaRPr sz="1600">
              <a:latin typeface="Consolas"/>
              <a:ea typeface="Consolas"/>
              <a:cs typeface="Consolas"/>
              <a:sym typeface="Consolas"/>
            </a:endParaRPr>
          </a:p>
        </p:txBody>
      </p:sp>
      <p:sp>
        <p:nvSpPr>
          <p:cNvPr id="1161" name="Google Shape;1161;p73"/>
          <p:cNvSpPr txBox="1"/>
          <p:nvPr/>
        </p:nvSpPr>
        <p:spPr>
          <a:xfrm>
            <a:off x="4881264" y="3706834"/>
            <a:ext cx="495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Consolas"/>
                <a:ea typeface="Consolas"/>
                <a:cs typeface="Consolas"/>
                <a:sym typeface="Consolas"/>
              </a:rPr>
              <a:t>j</a:t>
            </a:r>
            <a:endParaRPr sz="1600">
              <a:latin typeface="Consolas"/>
              <a:ea typeface="Consolas"/>
              <a:cs typeface="Consolas"/>
              <a:sym typeface="Consolas"/>
            </a:endParaRPr>
          </a:p>
        </p:txBody>
      </p:sp>
      <p:sp>
        <p:nvSpPr>
          <p:cNvPr id="1162" name="Google Shape;1162;p73"/>
          <p:cNvSpPr txBox="1"/>
          <p:nvPr/>
        </p:nvSpPr>
        <p:spPr>
          <a:xfrm>
            <a:off x="166800" y="4316400"/>
            <a:ext cx="8972700" cy="827100"/>
          </a:xfrm>
          <a:prstGeom prst="rect">
            <a:avLst/>
          </a:prstGeom>
          <a:noFill/>
          <a:ln>
            <a:noFill/>
          </a:ln>
        </p:spPr>
        <p:txBody>
          <a:bodyPr anchorCtr="0" anchor="ctr" bIns="91425" lIns="91425" spcFirstLastPara="1" rIns="91425" wrap="square" tIns="91425">
            <a:noAutofit/>
          </a:bodyPr>
          <a:lstStyle/>
          <a:p>
            <a:pPr indent="0" lvl="0" marL="0" rtl="0" algn="l">
              <a:spcBef>
                <a:spcPts val="480"/>
              </a:spcBef>
              <a:spcAft>
                <a:spcPts val="0"/>
              </a:spcAft>
              <a:buNone/>
            </a:pPr>
            <a:r>
              <a:rPr lang="en" sz="1800">
                <a:solidFill>
                  <a:schemeClr val="dk1"/>
                </a:solidFill>
                <a:latin typeface="Roboto"/>
                <a:ea typeface="Roboto"/>
                <a:cs typeface="Roboto"/>
                <a:sym typeface="Roboto"/>
              </a:rPr>
              <a:t>In example above: Use j pointer to track current spot of traveling item.</a:t>
            </a:r>
            <a:endParaRPr sz="1800">
              <a:latin typeface="Roboto"/>
              <a:ea typeface="Roboto"/>
              <a:cs typeface="Roboto"/>
              <a:sym typeface="Roboto"/>
            </a:endParaRPr>
          </a:p>
        </p:txBody>
      </p:sp>
      <p:sp>
        <p:nvSpPr>
          <p:cNvPr id="1163" name="Google Shape;1163;p73"/>
          <p:cNvSpPr/>
          <p:nvPr/>
        </p:nvSpPr>
        <p:spPr>
          <a:xfrm rot="-5400000">
            <a:off x="4901150" y="519375"/>
            <a:ext cx="260700" cy="43704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73"/>
          <p:cNvSpPr txBox="1"/>
          <p:nvPr/>
        </p:nvSpPr>
        <p:spPr>
          <a:xfrm>
            <a:off x="4680542" y="2237025"/>
            <a:ext cx="849900" cy="3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sorted</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8" name="Shape 1168"/>
        <p:cNvGrpSpPr/>
        <p:nvPr/>
      </p:nvGrpSpPr>
      <p:grpSpPr>
        <a:xfrm>
          <a:off x="0" y="0"/>
          <a:ext cx="0" cy="0"/>
          <a:chOff x="0" y="0"/>
          <a:chExt cx="0" cy="0"/>
        </a:xfrm>
      </p:grpSpPr>
      <p:sp>
        <p:nvSpPr>
          <p:cNvPr id="1169" name="Google Shape;1169;p74"/>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30, CS61B, Fall 2023</a:t>
            </a:r>
            <a:endParaRPr/>
          </a:p>
        </p:txBody>
      </p:sp>
      <p:sp>
        <p:nvSpPr>
          <p:cNvPr id="1170" name="Google Shape;1170;p74"/>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Insertion Sort Runtime</a:t>
            </a:r>
            <a:endParaRPr/>
          </a:p>
        </p:txBody>
      </p:sp>
      <p:sp>
        <p:nvSpPr>
          <p:cNvPr id="1171" name="Google Shape;1171;p74"/>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b="1" lang="en">
                <a:solidFill>
                  <a:schemeClr val="accent3"/>
                </a:solidFill>
                <a:latin typeface="Roboto"/>
                <a:ea typeface="Roboto"/>
                <a:cs typeface="Roboto"/>
                <a:sym typeface="Roboto"/>
              </a:rPr>
              <a:t>Insertion Sort</a:t>
            </a:r>
            <a:endParaRPr/>
          </a:p>
          <a:p>
            <a:pPr indent="-342900" lvl="0" marL="457200" rtl="0" algn="l">
              <a:spcBef>
                <a:spcPts val="600"/>
              </a:spcBef>
              <a:spcAft>
                <a:spcPts val="0"/>
              </a:spcAft>
              <a:buSzPts val="1800"/>
              <a:buChar char="•"/>
            </a:pPr>
            <a:r>
              <a:rPr lang="en"/>
              <a:t>Naive Insertion Sort</a:t>
            </a:r>
            <a:endParaRPr/>
          </a:p>
          <a:p>
            <a:pPr indent="-342900" lvl="0" marL="457200" rtl="0" algn="l">
              <a:spcBef>
                <a:spcPts val="0"/>
              </a:spcBef>
              <a:spcAft>
                <a:spcPts val="0"/>
              </a:spcAft>
              <a:buSzPts val="1800"/>
              <a:buChar char="•"/>
            </a:pPr>
            <a:r>
              <a:rPr lang="en"/>
              <a:t>In-Place Insertion Sort</a:t>
            </a:r>
            <a:endParaRPr/>
          </a:p>
          <a:p>
            <a:pPr indent="-342900" lvl="0" marL="457200" rtl="0" algn="l">
              <a:spcBef>
                <a:spcPts val="0"/>
              </a:spcBef>
              <a:spcAft>
                <a:spcPts val="0"/>
              </a:spcAft>
              <a:buClr>
                <a:schemeClr val="accent3"/>
              </a:buClr>
              <a:buSzPts val="1800"/>
              <a:buFont typeface="Roboto"/>
              <a:buChar char="•"/>
            </a:pPr>
            <a:r>
              <a:rPr b="1" lang="en">
                <a:solidFill>
                  <a:schemeClr val="accent3"/>
                </a:solidFill>
                <a:latin typeface="Roboto"/>
                <a:ea typeface="Roboto"/>
                <a:cs typeface="Roboto"/>
                <a:sym typeface="Roboto"/>
              </a:rPr>
              <a:t>Insertion Sort Runtime</a:t>
            </a:r>
            <a:endParaRPr b="1">
              <a:solidFill>
                <a:schemeClr val="accent3"/>
              </a:solidFill>
              <a:latin typeface="Roboto"/>
              <a:ea typeface="Roboto"/>
              <a:cs typeface="Roboto"/>
              <a:sym typeface="Roboto"/>
            </a:endParaRPr>
          </a:p>
          <a:p>
            <a:pPr indent="0" lvl="0" marL="0" rtl="0" algn="l">
              <a:spcBef>
                <a:spcPts val="600"/>
              </a:spcBef>
              <a:spcAft>
                <a:spcPts val="0"/>
              </a:spcAft>
              <a:buNone/>
            </a:pPr>
            <a:r>
              <a:rPr lang="en"/>
              <a:t>Quicksort</a:t>
            </a:r>
            <a:endParaRPr b="1">
              <a:solidFill>
                <a:schemeClr val="accent3"/>
              </a:solidFill>
              <a:latin typeface="Roboto"/>
              <a:ea typeface="Roboto"/>
              <a:cs typeface="Roboto"/>
              <a:sym typeface="Roboto"/>
            </a:endParaRPr>
          </a:p>
          <a:p>
            <a:pPr indent="-342900" lvl="0" marL="457200" rtl="0" algn="l">
              <a:spcBef>
                <a:spcPts val="600"/>
              </a:spcBef>
              <a:spcAft>
                <a:spcPts val="0"/>
              </a:spcAft>
              <a:buSzPts val="1800"/>
              <a:buChar char="•"/>
            </a:pPr>
            <a:r>
              <a:rPr lang="en"/>
              <a:t>Quicksort Backstory,</a:t>
            </a:r>
            <a:br>
              <a:rPr lang="en"/>
            </a:br>
            <a:r>
              <a:rPr lang="en"/>
              <a:t>Partitioning</a:t>
            </a:r>
            <a:endParaRPr/>
          </a:p>
          <a:p>
            <a:pPr indent="-342900" lvl="0" marL="457200" rtl="0" algn="l">
              <a:spcBef>
                <a:spcPts val="0"/>
              </a:spcBef>
              <a:spcAft>
                <a:spcPts val="0"/>
              </a:spcAft>
              <a:buSzPts val="1800"/>
              <a:buChar char="•"/>
            </a:pPr>
            <a:r>
              <a:rPr lang="en"/>
              <a:t>Quicksort</a:t>
            </a:r>
            <a:endParaRPr/>
          </a:p>
          <a:p>
            <a:pPr indent="0" lvl="0" marL="0" rtl="0" algn="l">
              <a:spcBef>
                <a:spcPts val="600"/>
              </a:spcBef>
              <a:spcAft>
                <a:spcPts val="0"/>
              </a:spcAft>
              <a:buNone/>
            </a:pPr>
            <a:r>
              <a:rPr lang="en"/>
              <a:t>Quicksort Performance</a:t>
            </a:r>
            <a:endParaRPr/>
          </a:p>
          <a:p>
            <a:pPr indent="-342900" lvl="0" marL="457200" rtl="0" algn="l">
              <a:spcBef>
                <a:spcPts val="600"/>
              </a:spcBef>
              <a:spcAft>
                <a:spcPts val="0"/>
              </a:spcAft>
              <a:buSzPts val="1800"/>
              <a:buChar char="•"/>
            </a:pPr>
            <a:r>
              <a:rPr lang="en"/>
              <a:t>Quicksort Runtime Analysis</a:t>
            </a:r>
            <a:endParaRPr/>
          </a:p>
          <a:p>
            <a:pPr indent="-342900" lvl="0" marL="457200" rtl="0" algn="l">
              <a:spcBef>
                <a:spcPts val="0"/>
              </a:spcBef>
              <a:spcAft>
                <a:spcPts val="0"/>
              </a:spcAft>
              <a:buSzPts val="1800"/>
              <a:buChar char="•"/>
            </a:pPr>
            <a:r>
              <a:rPr lang="en"/>
              <a:t>Avoiding Quicksort Worst Case</a:t>
            </a:r>
            <a:endParaRPr b="1">
              <a:solidFill>
                <a:schemeClr val="accent3"/>
              </a:solidFill>
              <a:latin typeface="Roboto"/>
              <a:ea typeface="Roboto"/>
              <a:cs typeface="Roboto"/>
              <a:sym typeface="Roboto"/>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5" name="Shape 1175"/>
        <p:cNvGrpSpPr/>
        <p:nvPr/>
      </p:nvGrpSpPr>
      <p:grpSpPr>
        <a:xfrm>
          <a:off x="0" y="0"/>
          <a:ext cx="0" cy="0"/>
          <a:chOff x="0" y="0"/>
          <a:chExt cx="0" cy="0"/>
        </a:xfrm>
      </p:grpSpPr>
      <p:sp>
        <p:nvSpPr>
          <p:cNvPr id="1176" name="Google Shape;1176;p75"/>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In-place Insertion Sort</a:t>
            </a:r>
            <a:endParaRPr/>
          </a:p>
        </p:txBody>
      </p:sp>
      <p:sp>
        <p:nvSpPr>
          <p:cNvPr id="1177" name="Google Shape;1177;p75"/>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Clr>
                <a:srgbClr val="000000"/>
              </a:buClr>
              <a:buSzPts val="1100"/>
              <a:buFont typeface="Arial"/>
              <a:buNone/>
            </a:pPr>
            <a:r>
              <a:rPr lang="en"/>
              <a:t>Two more examples.</a:t>
            </a:r>
            <a:endParaRPr/>
          </a:p>
        </p:txBody>
      </p:sp>
      <p:sp>
        <p:nvSpPr>
          <p:cNvPr id="1178" name="Google Shape;1178;p75"/>
          <p:cNvSpPr txBox="1"/>
          <p:nvPr/>
        </p:nvSpPr>
        <p:spPr>
          <a:xfrm>
            <a:off x="381000" y="1676400"/>
            <a:ext cx="2749200" cy="1407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999999"/>
                </a:solidFill>
                <a:latin typeface="Consolas"/>
                <a:ea typeface="Consolas"/>
                <a:cs typeface="Consolas"/>
                <a:sym typeface="Consolas"/>
              </a:rPr>
              <a:t>P O T A T O</a:t>
            </a:r>
            <a:endParaRPr>
              <a:solidFill>
                <a:srgbClr val="999999"/>
              </a:solidFill>
              <a:latin typeface="Consolas"/>
              <a:ea typeface="Consolas"/>
              <a:cs typeface="Consolas"/>
              <a:sym typeface="Consolas"/>
            </a:endParaRPr>
          </a:p>
          <a:p>
            <a:pPr indent="0" lvl="0" marL="0" rtl="0" algn="l">
              <a:spcBef>
                <a:spcPts val="0"/>
              </a:spcBef>
              <a:spcAft>
                <a:spcPts val="0"/>
              </a:spcAft>
              <a:buNone/>
            </a:pPr>
            <a:r>
              <a:rPr lang="en">
                <a:solidFill>
                  <a:srgbClr val="9900FF"/>
                </a:solidFill>
                <a:latin typeface="Consolas"/>
                <a:ea typeface="Consolas"/>
                <a:cs typeface="Consolas"/>
                <a:sym typeface="Consolas"/>
              </a:rPr>
              <a:t>P</a:t>
            </a:r>
            <a:r>
              <a:rPr lang="en">
                <a:solidFill>
                  <a:srgbClr val="CCCCCC"/>
                </a:solidFill>
                <a:latin typeface="Consolas"/>
                <a:ea typeface="Consolas"/>
                <a:cs typeface="Consolas"/>
                <a:sym typeface="Consolas"/>
              </a:rPr>
              <a:t> O T A T O  </a:t>
            </a:r>
            <a:r>
              <a:rPr lang="en">
                <a:solidFill>
                  <a:schemeClr val="dk1"/>
                </a:solidFill>
                <a:latin typeface="Consolas"/>
                <a:ea typeface="Consolas"/>
                <a:cs typeface="Consolas"/>
                <a:sym typeface="Consolas"/>
              </a:rPr>
              <a:t>(0 swaps)</a:t>
            </a:r>
            <a:endParaRPr>
              <a:solidFill>
                <a:srgbClr val="CCCCCC"/>
              </a:solidFill>
              <a:latin typeface="Consolas"/>
              <a:ea typeface="Consolas"/>
              <a:cs typeface="Consolas"/>
              <a:sym typeface="Consolas"/>
            </a:endParaRPr>
          </a:p>
          <a:p>
            <a:pPr indent="0" lvl="0" marL="0" rtl="0" algn="l">
              <a:spcBef>
                <a:spcPts val="0"/>
              </a:spcBef>
              <a:spcAft>
                <a:spcPts val="0"/>
              </a:spcAft>
              <a:buNone/>
            </a:pPr>
            <a:r>
              <a:rPr lang="en">
                <a:solidFill>
                  <a:srgbClr val="9900FF"/>
                </a:solidFill>
                <a:latin typeface="Consolas"/>
                <a:ea typeface="Consolas"/>
                <a:cs typeface="Consolas"/>
                <a:sym typeface="Consolas"/>
              </a:rPr>
              <a:t>O</a:t>
            </a:r>
            <a:r>
              <a:rPr lang="en">
                <a:solidFill>
                  <a:srgbClr val="CCCCCC"/>
                </a:solidFill>
                <a:latin typeface="Consolas"/>
                <a:ea typeface="Consolas"/>
                <a:cs typeface="Consolas"/>
                <a:sym typeface="Consolas"/>
              </a:rPr>
              <a:t> </a:t>
            </a:r>
            <a:r>
              <a:rPr lang="en">
                <a:latin typeface="Consolas"/>
                <a:ea typeface="Consolas"/>
                <a:cs typeface="Consolas"/>
                <a:sym typeface="Consolas"/>
              </a:rPr>
              <a:t>P</a:t>
            </a:r>
            <a:r>
              <a:rPr lang="en">
                <a:solidFill>
                  <a:srgbClr val="CCCCCC"/>
                </a:solidFill>
                <a:latin typeface="Consolas"/>
                <a:ea typeface="Consolas"/>
                <a:cs typeface="Consolas"/>
                <a:sym typeface="Consolas"/>
              </a:rPr>
              <a:t> T A T O </a:t>
            </a:r>
            <a:r>
              <a:rPr lang="en">
                <a:solidFill>
                  <a:schemeClr val="dk1"/>
                </a:solidFill>
                <a:latin typeface="Consolas"/>
                <a:ea typeface="Consolas"/>
                <a:cs typeface="Consolas"/>
                <a:sym typeface="Consolas"/>
              </a:rPr>
              <a:t> (1 swap )</a:t>
            </a:r>
            <a:endParaRPr>
              <a:solidFill>
                <a:schemeClr val="dk1"/>
              </a:solidFill>
              <a:latin typeface="Consolas"/>
              <a:ea typeface="Consolas"/>
              <a:cs typeface="Consolas"/>
              <a:sym typeface="Consolas"/>
            </a:endParaRPr>
          </a:p>
          <a:p>
            <a:pPr indent="0" lvl="0" marL="0" rtl="0" algn="l">
              <a:spcBef>
                <a:spcPts val="0"/>
              </a:spcBef>
              <a:spcAft>
                <a:spcPts val="0"/>
              </a:spcAft>
              <a:buNone/>
            </a:pPr>
            <a:r>
              <a:rPr lang="en">
                <a:solidFill>
                  <a:srgbClr val="CCCCCC"/>
                </a:solidFill>
                <a:latin typeface="Consolas"/>
                <a:ea typeface="Consolas"/>
                <a:cs typeface="Consolas"/>
                <a:sym typeface="Consolas"/>
              </a:rPr>
              <a:t>O P </a:t>
            </a:r>
            <a:r>
              <a:rPr lang="en">
                <a:solidFill>
                  <a:srgbClr val="9900FF"/>
                </a:solidFill>
                <a:latin typeface="Consolas"/>
                <a:ea typeface="Consolas"/>
                <a:cs typeface="Consolas"/>
                <a:sym typeface="Consolas"/>
              </a:rPr>
              <a:t>T</a:t>
            </a:r>
            <a:r>
              <a:rPr lang="en">
                <a:solidFill>
                  <a:srgbClr val="CCCCCC"/>
                </a:solidFill>
                <a:latin typeface="Consolas"/>
                <a:ea typeface="Consolas"/>
                <a:cs typeface="Consolas"/>
                <a:sym typeface="Consolas"/>
              </a:rPr>
              <a:t> A T O  </a:t>
            </a:r>
            <a:r>
              <a:rPr lang="en">
                <a:solidFill>
                  <a:schemeClr val="dk1"/>
                </a:solidFill>
                <a:latin typeface="Consolas"/>
                <a:ea typeface="Consolas"/>
                <a:cs typeface="Consolas"/>
                <a:sym typeface="Consolas"/>
              </a:rPr>
              <a:t>(0 swaps)</a:t>
            </a:r>
            <a:endParaRPr>
              <a:solidFill>
                <a:schemeClr val="dk1"/>
              </a:solidFill>
              <a:latin typeface="Consolas"/>
              <a:ea typeface="Consolas"/>
              <a:cs typeface="Consolas"/>
              <a:sym typeface="Consolas"/>
            </a:endParaRPr>
          </a:p>
          <a:p>
            <a:pPr indent="0" lvl="0" marL="0" rtl="0" algn="l">
              <a:spcBef>
                <a:spcPts val="0"/>
              </a:spcBef>
              <a:spcAft>
                <a:spcPts val="0"/>
              </a:spcAft>
              <a:buNone/>
            </a:pPr>
            <a:r>
              <a:rPr lang="en">
                <a:solidFill>
                  <a:srgbClr val="9900FF"/>
                </a:solidFill>
                <a:latin typeface="Consolas"/>
                <a:ea typeface="Consolas"/>
                <a:cs typeface="Consolas"/>
                <a:sym typeface="Consolas"/>
              </a:rPr>
              <a:t>A</a:t>
            </a:r>
            <a:r>
              <a:rPr lang="en">
                <a:latin typeface="Consolas"/>
                <a:ea typeface="Consolas"/>
                <a:cs typeface="Consolas"/>
                <a:sym typeface="Consolas"/>
              </a:rPr>
              <a:t> O P</a:t>
            </a:r>
            <a:r>
              <a:rPr lang="en">
                <a:solidFill>
                  <a:srgbClr val="CCCCCC"/>
                </a:solidFill>
                <a:latin typeface="Consolas"/>
                <a:ea typeface="Consolas"/>
                <a:cs typeface="Consolas"/>
                <a:sym typeface="Consolas"/>
              </a:rPr>
              <a:t> </a:t>
            </a:r>
            <a:r>
              <a:rPr lang="en">
                <a:latin typeface="Consolas"/>
                <a:ea typeface="Consolas"/>
                <a:cs typeface="Consolas"/>
                <a:sym typeface="Consolas"/>
              </a:rPr>
              <a:t>T</a:t>
            </a:r>
            <a:r>
              <a:rPr lang="en">
                <a:solidFill>
                  <a:srgbClr val="CCCCCC"/>
                </a:solidFill>
                <a:latin typeface="Consolas"/>
                <a:ea typeface="Consolas"/>
                <a:cs typeface="Consolas"/>
                <a:sym typeface="Consolas"/>
              </a:rPr>
              <a:t> T O </a:t>
            </a:r>
            <a:r>
              <a:rPr lang="en">
                <a:solidFill>
                  <a:schemeClr val="dk1"/>
                </a:solidFill>
                <a:latin typeface="Consolas"/>
                <a:ea typeface="Consolas"/>
                <a:cs typeface="Consolas"/>
                <a:sym typeface="Consolas"/>
              </a:rPr>
              <a:t> (3 swaps)</a:t>
            </a:r>
            <a:endParaRPr>
              <a:solidFill>
                <a:schemeClr val="dk1"/>
              </a:solidFill>
              <a:latin typeface="Consolas"/>
              <a:ea typeface="Consolas"/>
              <a:cs typeface="Consolas"/>
              <a:sym typeface="Consolas"/>
            </a:endParaRPr>
          </a:p>
          <a:p>
            <a:pPr indent="0" lvl="0" marL="0" rtl="0" algn="l">
              <a:spcBef>
                <a:spcPts val="0"/>
              </a:spcBef>
              <a:spcAft>
                <a:spcPts val="0"/>
              </a:spcAft>
              <a:buNone/>
            </a:pPr>
            <a:r>
              <a:rPr lang="en">
                <a:solidFill>
                  <a:srgbClr val="CCCCCC"/>
                </a:solidFill>
                <a:latin typeface="Consolas"/>
                <a:ea typeface="Consolas"/>
                <a:cs typeface="Consolas"/>
                <a:sym typeface="Consolas"/>
              </a:rPr>
              <a:t>A O P T </a:t>
            </a:r>
            <a:r>
              <a:rPr lang="en">
                <a:solidFill>
                  <a:srgbClr val="9900FF"/>
                </a:solidFill>
                <a:latin typeface="Consolas"/>
                <a:ea typeface="Consolas"/>
                <a:cs typeface="Consolas"/>
                <a:sym typeface="Consolas"/>
              </a:rPr>
              <a:t>T</a:t>
            </a:r>
            <a:r>
              <a:rPr lang="en">
                <a:solidFill>
                  <a:srgbClr val="CCCCCC"/>
                </a:solidFill>
                <a:latin typeface="Consolas"/>
                <a:ea typeface="Consolas"/>
                <a:cs typeface="Consolas"/>
                <a:sym typeface="Consolas"/>
              </a:rPr>
              <a:t> O </a:t>
            </a:r>
            <a:r>
              <a:rPr lang="en">
                <a:solidFill>
                  <a:schemeClr val="dk1"/>
                </a:solidFill>
                <a:latin typeface="Consolas"/>
                <a:ea typeface="Consolas"/>
                <a:cs typeface="Consolas"/>
                <a:sym typeface="Consolas"/>
              </a:rPr>
              <a:t> (0 swaps)</a:t>
            </a:r>
            <a:endParaRPr>
              <a:solidFill>
                <a:schemeClr val="dk1"/>
              </a:solidFill>
              <a:latin typeface="Consolas"/>
              <a:ea typeface="Consolas"/>
              <a:cs typeface="Consolas"/>
              <a:sym typeface="Consolas"/>
            </a:endParaRPr>
          </a:p>
          <a:p>
            <a:pPr indent="0" lvl="0" marL="0" rtl="0" algn="l">
              <a:spcBef>
                <a:spcPts val="0"/>
              </a:spcBef>
              <a:spcAft>
                <a:spcPts val="0"/>
              </a:spcAft>
              <a:buNone/>
            </a:pPr>
            <a:r>
              <a:rPr lang="en">
                <a:solidFill>
                  <a:srgbClr val="CCCCCC"/>
                </a:solidFill>
                <a:latin typeface="Consolas"/>
                <a:ea typeface="Consolas"/>
                <a:cs typeface="Consolas"/>
                <a:sym typeface="Consolas"/>
              </a:rPr>
              <a:t>A O </a:t>
            </a:r>
            <a:r>
              <a:rPr lang="en">
                <a:solidFill>
                  <a:srgbClr val="9900FF"/>
                </a:solidFill>
                <a:latin typeface="Consolas"/>
                <a:ea typeface="Consolas"/>
                <a:cs typeface="Consolas"/>
                <a:sym typeface="Consolas"/>
              </a:rPr>
              <a:t>O</a:t>
            </a:r>
            <a:r>
              <a:rPr lang="en">
                <a:solidFill>
                  <a:srgbClr val="CCCCCC"/>
                </a:solidFill>
                <a:latin typeface="Consolas"/>
                <a:ea typeface="Consolas"/>
                <a:cs typeface="Consolas"/>
                <a:sym typeface="Consolas"/>
              </a:rPr>
              <a:t> </a:t>
            </a:r>
            <a:r>
              <a:rPr lang="en">
                <a:latin typeface="Consolas"/>
                <a:ea typeface="Consolas"/>
                <a:cs typeface="Consolas"/>
                <a:sym typeface="Consolas"/>
              </a:rPr>
              <a:t>P T T </a:t>
            </a:r>
            <a:r>
              <a:rPr lang="en">
                <a:solidFill>
                  <a:schemeClr val="dk1"/>
                </a:solidFill>
                <a:latin typeface="Consolas"/>
                <a:ea typeface="Consolas"/>
                <a:cs typeface="Consolas"/>
                <a:sym typeface="Consolas"/>
              </a:rPr>
              <a:t> (3 swaps)</a:t>
            </a:r>
            <a:endParaRPr>
              <a:solidFill>
                <a:schemeClr val="dk1"/>
              </a:solidFill>
              <a:latin typeface="Consolas"/>
              <a:ea typeface="Consolas"/>
              <a:cs typeface="Consolas"/>
              <a:sym typeface="Consolas"/>
            </a:endParaRPr>
          </a:p>
        </p:txBody>
      </p:sp>
      <p:sp>
        <p:nvSpPr>
          <p:cNvPr id="1179" name="Google Shape;1179;p75"/>
          <p:cNvSpPr txBox="1"/>
          <p:nvPr/>
        </p:nvSpPr>
        <p:spPr>
          <a:xfrm>
            <a:off x="4523225" y="1641275"/>
            <a:ext cx="3738300" cy="2455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999999"/>
                </a:solidFill>
                <a:latin typeface="Consolas"/>
                <a:ea typeface="Consolas"/>
                <a:cs typeface="Consolas"/>
                <a:sym typeface="Consolas"/>
              </a:rPr>
              <a:t>S O R T E X A M P L E</a:t>
            </a:r>
            <a:endParaRPr>
              <a:solidFill>
                <a:srgbClr val="999999"/>
              </a:solidFill>
              <a:latin typeface="Consolas"/>
              <a:ea typeface="Consolas"/>
              <a:cs typeface="Consolas"/>
              <a:sym typeface="Consolas"/>
            </a:endParaRPr>
          </a:p>
          <a:p>
            <a:pPr indent="0" lvl="0" marL="0" rtl="0" algn="l">
              <a:spcBef>
                <a:spcPts val="0"/>
              </a:spcBef>
              <a:spcAft>
                <a:spcPts val="0"/>
              </a:spcAft>
              <a:buNone/>
            </a:pPr>
            <a:r>
              <a:rPr lang="en">
                <a:solidFill>
                  <a:srgbClr val="9900FF"/>
                </a:solidFill>
                <a:latin typeface="Consolas"/>
                <a:ea typeface="Consolas"/>
                <a:cs typeface="Consolas"/>
                <a:sym typeface="Consolas"/>
              </a:rPr>
              <a:t>S</a:t>
            </a:r>
            <a:r>
              <a:rPr lang="en">
                <a:solidFill>
                  <a:schemeClr val="dk1"/>
                </a:solidFill>
                <a:latin typeface="Consolas"/>
                <a:ea typeface="Consolas"/>
                <a:cs typeface="Consolas"/>
                <a:sym typeface="Consolas"/>
              </a:rPr>
              <a:t> </a:t>
            </a:r>
            <a:r>
              <a:rPr lang="en">
                <a:solidFill>
                  <a:srgbClr val="CCCCCC"/>
                </a:solidFill>
                <a:latin typeface="Consolas"/>
                <a:ea typeface="Consolas"/>
                <a:cs typeface="Consolas"/>
                <a:sym typeface="Consolas"/>
              </a:rPr>
              <a:t>O R T E X A M P L E  </a:t>
            </a:r>
            <a:r>
              <a:rPr lang="en">
                <a:solidFill>
                  <a:schemeClr val="dk1"/>
                </a:solidFill>
                <a:latin typeface="Consolas"/>
                <a:ea typeface="Consolas"/>
                <a:cs typeface="Consolas"/>
                <a:sym typeface="Consolas"/>
              </a:rPr>
              <a:t>(0 swaps)</a:t>
            </a:r>
            <a:endParaRPr>
              <a:solidFill>
                <a:srgbClr val="999999"/>
              </a:solidFill>
              <a:latin typeface="Consolas"/>
              <a:ea typeface="Consolas"/>
              <a:cs typeface="Consolas"/>
              <a:sym typeface="Consolas"/>
            </a:endParaRPr>
          </a:p>
          <a:p>
            <a:pPr indent="0" lvl="0" marL="0" rtl="0" algn="l">
              <a:spcBef>
                <a:spcPts val="0"/>
              </a:spcBef>
              <a:spcAft>
                <a:spcPts val="0"/>
              </a:spcAft>
              <a:buNone/>
            </a:pPr>
            <a:r>
              <a:rPr lang="en">
                <a:solidFill>
                  <a:srgbClr val="9900FF"/>
                </a:solidFill>
                <a:latin typeface="Consolas"/>
                <a:ea typeface="Consolas"/>
                <a:cs typeface="Consolas"/>
                <a:sym typeface="Consolas"/>
              </a:rPr>
              <a:t>O</a:t>
            </a:r>
            <a:r>
              <a:rPr lang="en">
                <a:solidFill>
                  <a:schemeClr val="dk1"/>
                </a:solidFill>
                <a:latin typeface="Consolas"/>
                <a:ea typeface="Consolas"/>
                <a:cs typeface="Consolas"/>
                <a:sym typeface="Consolas"/>
              </a:rPr>
              <a:t> S </a:t>
            </a:r>
            <a:r>
              <a:rPr lang="en">
                <a:solidFill>
                  <a:srgbClr val="CCCCCC"/>
                </a:solidFill>
                <a:latin typeface="Consolas"/>
                <a:ea typeface="Consolas"/>
                <a:cs typeface="Consolas"/>
                <a:sym typeface="Consolas"/>
              </a:rPr>
              <a:t>R T E X A M P L E  </a:t>
            </a:r>
            <a:r>
              <a:rPr lang="en">
                <a:latin typeface="Consolas"/>
                <a:ea typeface="Consolas"/>
                <a:cs typeface="Consolas"/>
                <a:sym typeface="Consolas"/>
              </a:rPr>
              <a:t>(1 swap )</a:t>
            </a:r>
            <a:endParaRPr>
              <a:latin typeface="Consolas"/>
              <a:ea typeface="Consolas"/>
              <a:cs typeface="Consolas"/>
              <a:sym typeface="Consolas"/>
            </a:endParaRPr>
          </a:p>
          <a:p>
            <a:pPr indent="0" lvl="0" marL="0" rtl="0" algn="l">
              <a:spcBef>
                <a:spcPts val="0"/>
              </a:spcBef>
              <a:spcAft>
                <a:spcPts val="0"/>
              </a:spcAft>
              <a:buNone/>
            </a:pPr>
            <a:r>
              <a:rPr lang="en">
                <a:solidFill>
                  <a:srgbClr val="CCCCCC"/>
                </a:solidFill>
                <a:latin typeface="Consolas"/>
                <a:ea typeface="Consolas"/>
                <a:cs typeface="Consolas"/>
                <a:sym typeface="Consolas"/>
              </a:rPr>
              <a:t>O </a:t>
            </a:r>
            <a:r>
              <a:rPr lang="en">
                <a:solidFill>
                  <a:srgbClr val="9900FF"/>
                </a:solidFill>
                <a:latin typeface="Consolas"/>
                <a:ea typeface="Consolas"/>
                <a:cs typeface="Consolas"/>
                <a:sym typeface="Consolas"/>
              </a:rPr>
              <a:t>R</a:t>
            </a:r>
            <a:r>
              <a:rPr lang="en">
                <a:solidFill>
                  <a:schemeClr val="dk1"/>
                </a:solidFill>
                <a:latin typeface="Consolas"/>
                <a:ea typeface="Consolas"/>
                <a:cs typeface="Consolas"/>
                <a:sym typeface="Consolas"/>
              </a:rPr>
              <a:t> S </a:t>
            </a:r>
            <a:r>
              <a:rPr lang="en">
                <a:solidFill>
                  <a:srgbClr val="B7B7B7"/>
                </a:solidFill>
                <a:latin typeface="Consolas"/>
                <a:ea typeface="Consolas"/>
                <a:cs typeface="Consolas"/>
                <a:sym typeface="Consolas"/>
              </a:rPr>
              <a:t>T E X A M P L E </a:t>
            </a:r>
            <a:r>
              <a:rPr lang="en">
                <a:solidFill>
                  <a:srgbClr val="CCCCCC"/>
                </a:solidFill>
                <a:latin typeface="Consolas"/>
                <a:ea typeface="Consolas"/>
                <a:cs typeface="Consolas"/>
                <a:sym typeface="Consolas"/>
              </a:rPr>
              <a:t> </a:t>
            </a:r>
            <a:r>
              <a:rPr lang="en">
                <a:solidFill>
                  <a:schemeClr val="dk1"/>
                </a:solidFill>
                <a:latin typeface="Consolas"/>
                <a:ea typeface="Consolas"/>
                <a:cs typeface="Consolas"/>
                <a:sym typeface="Consolas"/>
              </a:rPr>
              <a:t>(1 swap )</a:t>
            </a:r>
            <a:endParaRPr>
              <a:solidFill>
                <a:srgbClr val="B7B7B7"/>
              </a:solidFill>
              <a:latin typeface="Consolas"/>
              <a:ea typeface="Consolas"/>
              <a:cs typeface="Consolas"/>
              <a:sym typeface="Consolas"/>
            </a:endParaRPr>
          </a:p>
          <a:p>
            <a:pPr indent="0" lvl="0" marL="0" rtl="0" algn="l">
              <a:spcBef>
                <a:spcPts val="0"/>
              </a:spcBef>
              <a:spcAft>
                <a:spcPts val="0"/>
              </a:spcAft>
              <a:buNone/>
            </a:pPr>
            <a:r>
              <a:rPr lang="en">
                <a:solidFill>
                  <a:srgbClr val="CCCCCC"/>
                </a:solidFill>
                <a:latin typeface="Consolas"/>
                <a:ea typeface="Consolas"/>
                <a:cs typeface="Consolas"/>
                <a:sym typeface="Consolas"/>
              </a:rPr>
              <a:t>O R S </a:t>
            </a:r>
            <a:r>
              <a:rPr lang="en">
                <a:solidFill>
                  <a:srgbClr val="9900FF"/>
                </a:solidFill>
                <a:latin typeface="Consolas"/>
                <a:ea typeface="Consolas"/>
                <a:cs typeface="Consolas"/>
                <a:sym typeface="Consolas"/>
              </a:rPr>
              <a:t>T</a:t>
            </a:r>
            <a:r>
              <a:rPr lang="en">
                <a:solidFill>
                  <a:schemeClr val="dk1"/>
                </a:solidFill>
                <a:latin typeface="Consolas"/>
                <a:ea typeface="Consolas"/>
                <a:cs typeface="Consolas"/>
                <a:sym typeface="Consolas"/>
              </a:rPr>
              <a:t> </a:t>
            </a:r>
            <a:r>
              <a:rPr lang="en">
                <a:solidFill>
                  <a:srgbClr val="CCCCCC"/>
                </a:solidFill>
                <a:latin typeface="Consolas"/>
                <a:ea typeface="Consolas"/>
                <a:cs typeface="Consolas"/>
                <a:sym typeface="Consolas"/>
              </a:rPr>
              <a:t>E X A M P L E  </a:t>
            </a:r>
            <a:r>
              <a:rPr lang="en">
                <a:solidFill>
                  <a:schemeClr val="dk1"/>
                </a:solidFill>
                <a:latin typeface="Consolas"/>
                <a:ea typeface="Consolas"/>
                <a:cs typeface="Consolas"/>
                <a:sym typeface="Consolas"/>
              </a:rPr>
              <a:t>(0 swaps)</a:t>
            </a:r>
            <a:endParaRPr>
              <a:solidFill>
                <a:srgbClr val="CCCCCC"/>
              </a:solidFill>
              <a:latin typeface="Consolas"/>
              <a:ea typeface="Consolas"/>
              <a:cs typeface="Consolas"/>
              <a:sym typeface="Consolas"/>
            </a:endParaRPr>
          </a:p>
          <a:p>
            <a:pPr indent="0" lvl="0" marL="0" rtl="0" algn="l">
              <a:spcBef>
                <a:spcPts val="0"/>
              </a:spcBef>
              <a:spcAft>
                <a:spcPts val="0"/>
              </a:spcAft>
              <a:buNone/>
            </a:pPr>
            <a:r>
              <a:rPr lang="en">
                <a:solidFill>
                  <a:srgbClr val="9900FF"/>
                </a:solidFill>
                <a:latin typeface="Consolas"/>
                <a:ea typeface="Consolas"/>
                <a:cs typeface="Consolas"/>
                <a:sym typeface="Consolas"/>
              </a:rPr>
              <a:t>E</a:t>
            </a:r>
            <a:r>
              <a:rPr lang="en">
                <a:solidFill>
                  <a:schemeClr val="dk1"/>
                </a:solidFill>
                <a:latin typeface="Consolas"/>
                <a:ea typeface="Consolas"/>
                <a:cs typeface="Consolas"/>
                <a:sym typeface="Consolas"/>
              </a:rPr>
              <a:t> O R S </a:t>
            </a:r>
            <a:r>
              <a:rPr lang="en">
                <a:latin typeface="Consolas"/>
                <a:ea typeface="Consolas"/>
                <a:cs typeface="Consolas"/>
                <a:sym typeface="Consolas"/>
              </a:rPr>
              <a:t>T</a:t>
            </a:r>
            <a:r>
              <a:rPr lang="en">
                <a:solidFill>
                  <a:schemeClr val="dk1"/>
                </a:solidFill>
                <a:latin typeface="Consolas"/>
                <a:ea typeface="Consolas"/>
                <a:cs typeface="Consolas"/>
                <a:sym typeface="Consolas"/>
              </a:rPr>
              <a:t> </a:t>
            </a:r>
            <a:r>
              <a:rPr lang="en">
                <a:solidFill>
                  <a:srgbClr val="B7B7B7"/>
                </a:solidFill>
                <a:latin typeface="Consolas"/>
                <a:ea typeface="Consolas"/>
                <a:cs typeface="Consolas"/>
                <a:sym typeface="Consolas"/>
              </a:rPr>
              <a:t>X A M P L E </a:t>
            </a:r>
            <a:r>
              <a:rPr lang="en">
                <a:solidFill>
                  <a:srgbClr val="CCCCCC"/>
                </a:solidFill>
                <a:latin typeface="Consolas"/>
                <a:ea typeface="Consolas"/>
                <a:cs typeface="Consolas"/>
                <a:sym typeface="Consolas"/>
              </a:rPr>
              <a:t> </a:t>
            </a:r>
            <a:r>
              <a:rPr lang="en">
                <a:solidFill>
                  <a:schemeClr val="dk1"/>
                </a:solidFill>
                <a:latin typeface="Consolas"/>
                <a:ea typeface="Consolas"/>
                <a:cs typeface="Consolas"/>
                <a:sym typeface="Consolas"/>
              </a:rPr>
              <a:t>(4 swaps)</a:t>
            </a:r>
            <a:endParaRPr>
              <a:solidFill>
                <a:srgbClr val="B7B7B7"/>
              </a:solidFill>
              <a:latin typeface="Consolas"/>
              <a:ea typeface="Consolas"/>
              <a:cs typeface="Consolas"/>
              <a:sym typeface="Consolas"/>
            </a:endParaRPr>
          </a:p>
          <a:p>
            <a:pPr indent="0" lvl="0" marL="0" rtl="0" algn="l">
              <a:spcBef>
                <a:spcPts val="0"/>
              </a:spcBef>
              <a:spcAft>
                <a:spcPts val="0"/>
              </a:spcAft>
              <a:buNone/>
            </a:pPr>
            <a:r>
              <a:rPr lang="en">
                <a:solidFill>
                  <a:srgbClr val="CCCCCC"/>
                </a:solidFill>
                <a:latin typeface="Consolas"/>
                <a:ea typeface="Consolas"/>
                <a:cs typeface="Consolas"/>
                <a:sym typeface="Consolas"/>
              </a:rPr>
              <a:t>E O R S T</a:t>
            </a:r>
            <a:r>
              <a:rPr lang="en">
                <a:solidFill>
                  <a:schemeClr val="dk1"/>
                </a:solidFill>
                <a:latin typeface="Consolas"/>
                <a:ea typeface="Consolas"/>
                <a:cs typeface="Consolas"/>
                <a:sym typeface="Consolas"/>
              </a:rPr>
              <a:t> </a:t>
            </a:r>
            <a:r>
              <a:rPr lang="en">
                <a:solidFill>
                  <a:srgbClr val="9900FF"/>
                </a:solidFill>
                <a:latin typeface="Consolas"/>
                <a:ea typeface="Consolas"/>
                <a:cs typeface="Consolas"/>
                <a:sym typeface="Consolas"/>
              </a:rPr>
              <a:t>X</a:t>
            </a:r>
            <a:r>
              <a:rPr lang="en">
                <a:solidFill>
                  <a:schemeClr val="dk1"/>
                </a:solidFill>
                <a:latin typeface="Consolas"/>
                <a:ea typeface="Consolas"/>
                <a:cs typeface="Consolas"/>
                <a:sym typeface="Consolas"/>
              </a:rPr>
              <a:t> </a:t>
            </a:r>
            <a:r>
              <a:rPr lang="en">
                <a:solidFill>
                  <a:srgbClr val="CCCCCC"/>
                </a:solidFill>
                <a:latin typeface="Consolas"/>
                <a:ea typeface="Consolas"/>
                <a:cs typeface="Consolas"/>
                <a:sym typeface="Consolas"/>
              </a:rPr>
              <a:t>A M P L E  </a:t>
            </a:r>
            <a:r>
              <a:rPr lang="en">
                <a:solidFill>
                  <a:schemeClr val="dk1"/>
                </a:solidFill>
                <a:latin typeface="Consolas"/>
                <a:ea typeface="Consolas"/>
                <a:cs typeface="Consolas"/>
                <a:sym typeface="Consolas"/>
              </a:rPr>
              <a:t>(0 swaps)</a:t>
            </a:r>
            <a:endParaRPr>
              <a:solidFill>
                <a:srgbClr val="CCCCCC"/>
              </a:solidFill>
              <a:latin typeface="Consolas"/>
              <a:ea typeface="Consolas"/>
              <a:cs typeface="Consolas"/>
              <a:sym typeface="Consolas"/>
            </a:endParaRPr>
          </a:p>
          <a:p>
            <a:pPr indent="0" lvl="0" marL="0" rtl="0" algn="l">
              <a:spcBef>
                <a:spcPts val="0"/>
              </a:spcBef>
              <a:spcAft>
                <a:spcPts val="0"/>
              </a:spcAft>
              <a:buNone/>
            </a:pPr>
            <a:r>
              <a:rPr lang="en">
                <a:solidFill>
                  <a:srgbClr val="9900FF"/>
                </a:solidFill>
                <a:latin typeface="Consolas"/>
                <a:ea typeface="Consolas"/>
                <a:cs typeface="Consolas"/>
                <a:sym typeface="Consolas"/>
              </a:rPr>
              <a:t>A</a:t>
            </a:r>
            <a:r>
              <a:rPr lang="en">
                <a:solidFill>
                  <a:schemeClr val="dk1"/>
                </a:solidFill>
                <a:latin typeface="Consolas"/>
                <a:ea typeface="Consolas"/>
                <a:cs typeface="Consolas"/>
                <a:sym typeface="Consolas"/>
              </a:rPr>
              <a:t> E O R S T </a:t>
            </a:r>
            <a:r>
              <a:rPr lang="en">
                <a:latin typeface="Consolas"/>
                <a:ea typeface="Consolas"/>
                <a:cs typeface="Consolas"/>
                <a:sym typeface="Consolas"/>
              </a:rPr>
              <a:t>X</a:t>
            </a:r>
            <a:r>
              <a:rPr lang="en">
                <a:solidFill>
                  <a:schemeClr val="dk1"/>
                </a:solidFill>
                <a:latin typeface="Consolas"/>
                <a:ea typeface="Consolas"/>
                <a:cs typeface="Consolas"/>
                <a:sym typeface="Consolas"/>
              </a:rPr>
              <a:t> </a:t>
            </a:r>
            <a:r>
              <a:rPr lang="en">
                <a:solidFill>
                  <a:srgbClr val="CCCCCC"/>
                </a:solidFill>
                <a:latin typeface="Consolas"/>
                <a:ea typeface="Consolas"/>
                <a:cs typeface="Consolas"/>
                <a:sym typeface="Consolas"/>
              </a:rPr>
              <a:t>M P L E  </a:t>
            </a:r>
            <a:r>
              <a:rPr lang="en">
                <a:solidFill>
                  <a:schemeClr val="dk1"/>
                </a:solidFill>
                <a:latin typeface="Consolas"/>
                <a:ea typeface="Consolas"/>
                <a:cs typeface="Consolas"/>
                <a:sym typeface="Consolas"/>
              </a:rPr>
              <a:t>(6 swaps)</a:t>
            </a:r>
            <a:endParaRPr>
              <a:solidFill>
                <a:srgbClr val="CCCCCC"/>
              </a:solidFill>
              <a:latin typeface="Consolas"/>
              <a:ea typeface="Consolas"/>
              <a:cs typeface="Consolas"/>
              <a:sym typeface="Consolas"/>
            </a:endParaRPr>
          </a:p>
          <a:p>
            <a:pPr indent="0" lvl="0" marL="0" rtl="0" algn="l">
              <a:spcBef>
                <a:spcPts val="0"/>
              </a:spcBef>
              <a:spcAft>
                <a:spcPts val="0"/>
              </a:spcAft>
              <a:buNone/>
            </a:pPr>
            <a:r>
              <a:rPr lang="en">
                <a:solidFill>
                  <a:srgbClr val="CCCCCC"/>
                </a:solidFill>
                <a:latin typeface="Consolas"/>
                <a:ea typeface="Consolas"/>
                <a:cs typeface="Consolas"/>
                <a:sym typeface="Consolas"/>
              </a:rPr>
              <a:t>A E </a:t>
            </a:r>
            <a:r>
              <a:rPr lang="en">
                <a:solidFill>
                  <a:srgbClr val="9900FF"/>
                </a:solidFill>
                <a:latin typeface="Consolas"/>
                <a:ea typeface="Consolas"/>
                <a:cs typeface="Consolas"/>
                <a:sym typeface="Consolas"/>
              </a:rPr>
              <a:t>M</a:t>
            </a:r>
            <a:r>
              <a:rPr lang="en">
                <a:solidFill>
                  <a:schemeClr val="dk1"/>
                </a:solidFill>
                <a:latin typeface="Consolas"/>
                <a:ea typeface="Consolas"/>
                <a:cs typeface="Consolas"/>
                <a:sym typeface="Consolas"/>
              </a:rPr>
              <a:t> O R S T X </a:t>
            </a:r>
            <a:r>
              <a:rPr lang="en">
                <a:solidFill>
                  <a:srgbClr val="CCCCCC"/>
                </a:solidFill>
                <a:latin typeface="Consolas"/>
                <a:ea typeface="Consolas"/>
                <a:cs typeface="Consolas"/>
                <a:sym typeface="Consolas"/>
              </a:rPr>
              <a:t>P L E  </a:t>
            </a:r>
            <a:r>
              <a:rPr lang="en">
                <a:solidFill>
                  <a:schemeClr val="dk1"/>
                </a:solidFill>
                <a:latin typeface="Consolas"/>
                <a:ea typeface="Consolas"/>
                <a:cs typeface="Consolas"/>
                <a:sym typeface="Consolas"/>
              </a:rPr>
              <a:t>(5 swaps)</a:t>
            </a:r>
            <a:endParaRPr>
              <a:solidFill>
                <a:srgbClr val="CCCCCC"/>
              </a:solidFill>
              <a:latin typeface="Consolas"/>
              <a:ea typeface="Consolas"/>
              <a:cs typeface="Consolas"/>
              <a:sym typeface="Consolas"/>
            </a:endParaRPr>
          </a:p>
          <a:p>
            <a:pPr indent="0" lvl="0" marL="0" rtl="0" algn="l">
              <a:spcBef>
                <a:spcPts val="0"/>
              </a:spcBef>
              <a:spcAft>
                <a:spcPts val="0"/>
              </a:spcAft>
              <a:buNone/>
            </a:pPr>
            <a:r>
              <a:rPr lang="en">
                <a:solidFill>
                  <a:srgbClr val="CCCCCC"/>
                </a:solidFill>
                <a:latin typeface="Consolas"/>
                <a:ea typeface="Consolas"/>
                <a:cs typeface="Consolas"/>
                <a:sym typeface="Consolas"/>
              </a:rPr>
              <a:t>A E M O </a:t>
            </a:r>
            <a:r>
              <a:rPr lang="en">
                <a:solidFill>
                  <a:srgbClr val="9900FF"/>
                </a:solidFill>
                <a:latin typeface="Consolas"/>
                <a:ea typeface="Consolas"/>
                <a:cs typeface="Consolas"/>
                <a:sym typeface="Consolas"/>
              </a:rPr>
              <a:t>P</a:t>
            </a:r>
            <a:r>
              <a:rPr lang="en">
                <a:solidFill>
                  <a:schemeClr val="dk1"/>
                </a:solidFill>
                <a:latin typeface="Consolas"/>
                <a:ea typeface="Consolas"/>
                <a:cs typeface="Consolas"/>
                <a:sym typeface="Consolas"/>
              </a:rPr>
              <a:t> R S T X </a:t>
            </a:r>
            <a:r>
              <a:rPr lang="en">
                <a:solidFill>
                  <a:srgbClr val="CCCCCC"/>
                </a:solidFill>
                <a:latin typeface="Consolas"/>
                <a:ea typeface="Consolas"/>
                <a:cs typeface="Consolas"/>
                <a:sym typeface="Consolas"/>
              </a:rPr>
              <a:t>L E  </a:t>
            </a:r>
            <a:r>
              <a:rPr lang="en">
                <a:solidFill>
                  <a:schemeClr val="dk1"/>
                </a:solidFill>
                <a:latin typeface="Consolas"/>
                <a:ea typeface="Consolas"/>
                <a:cs typeface="Consolas"/>
                <a:sym typeface="Consolas"/>
              </a:rPr>
              <a:t>(4 swaps)</a:t>
            </a:r>
            <a:endParaRPr>
              <a:solidFill>
                <a:srgbClr val="CCCCCC"/>
              </a:solidFill>
              <a:latin typeface="Consolas"/>
              <a:ea typeface="Consolas"/>
              <a:cs typeface="Consolas"/>
              <a:sym typeface="Consolas"/>
            </a:endParaRPr>
          </a:p>
          <a:p>
            <a:pPr indent="0" lvl="0" marL="0" rtl="0" algn="l">
              <a:spcBef>
                <a:spcPts val="0"/>
              </a:spcBef>
              <a:spcAft>
                <a:spcPts val="0"/>
              </a:spcAft>
              <a:buNone/>
            </a:pPr>
            <a:r>
              <a:rPr lang="en">
                <a:solidFill>
                  <a:srgbClr val="CCCCCC"/>
                </a:solidFill>
                <a:latin typeface="Consolas"/>
                <a:ea typeface="Consolas"/>
                <a:cs typeface="Consolas"/>
                <a:sym typeface="Consolas"/>
              </a:rPr>
              <a:t>A E </a:t>
            </a:r>
            <a:r>
              <a:rPr lang="en">
                <a:solidFill>
                  <a:srgbClr val="9900FF"/>
                </a:solidFill>
                <a:latin typeface="Consolas"/>
                <a:ea typeface="Consolas"/>
                <a:cs typeface="Consolas"/>
                <a:sym typeface="Consolas"/>
              </a:rPr>
              <a:t>L</a:t>
            </a:r>
            <a:r>
              <a:rPr lang="en">
                <a:solidFill>
                  <a:srgbClr val="FF0000"/>
                </a:solidFill>
                <a:latin typeface="Consolas"/>
                <a:ea typeface="Consolas"/>
                <a:cs typeface="Consolas"/>
                <a:sym typeface="Consolas"/>
              </a:rPr>
              <a:t> </a:t>
            </a:r>
            <a:r>
              <a:rPr lang="en">
                <a:solidFill>
                  <a:schemeClr val="dk1"/>
                </a:solidFill>
                <a:latin typeface="Consolas"/>
                <a:ea typeface="Consolas"/>
                <a:cs typeface="Consolas"/>
                <a:sym typeface="Consolas"/>
              </a:rPr>
              <a:t>M O </a:t>
            </a:r>
            <a:r>
              <a:rPr lang="en">
                <a:latin typeface="Consolas"/>
                <a:ea typeface="Consolas"/>
                <a:cs typeface="Consolas"/>
                <a:sym typeface="Consolas"/>
              </a:rPr>
              <a:t>P</a:t>
            </a:r>
            <a:r>
              <a:rPr lang="en">
                <a:solidFill>
                  <a:schemeClr val="dk1"/>
                </a:solidFill>
                <a:latin typeface="Consolas"/>
                <a:ea typeface="Consolas"/>
                <a:cs typeface="Consolas"/>
                <a:sym typeface="Consolas"/>
              </a:rPr>
              <a:t> R S T X </a:t>
            </a:r>
            <a:r>
              <a:rPr lang="en">
                <a:solidFill>
                  <a:srgbClr val="CCCCCC"/>
                </a:solidFill>
                <a:latin typeface="Consolas"/>
                <a:ea typeface="Consolas"/>
                <a:cs typeface="Consolas"/>
                <a:sym typeface="Consolas"/>
              </a:rPr>
              <a:t>E  </a:t>
            </a:r>
            <a:r>
              <a:rPr lang="en">
                <a:solidFill>
                  <a:schemeClr val="dk1"/>
                </a:solidFill>
                <a:latin typeface="Consolas"/>
                <a:ea typeface="Consolas"/>
                <a:cs typeface="Consolas"/>
                <a:sym typeface="Consolas"/>
              </a:rPr>
              <a:t>(7 swaps)</a:t>
            </a:r>
            <a:endParaRPr>
              <a:solidFill>
                <a:srgbClr val="CCCCCC"/>
              </a:solidFill>
              <a:latin typeface="Consolas"/>
              <a:ea typeface="Consolas"/>
              <a:cs typeface="Consolas"/>
              <a:sym typeface="Consolas"/>
            </a:endParaRPr>
          </a:p>
          <a:p>
            <a:pPr indent="0" lvl="0" marL="0" rtl="0" algn="l">
              <a:spcBef>
                <a:spcPts val="0"/>
              </a:spcBef>
              <a:spcAft>
                <a:spcPts val="0"/>
              </a:spcAft>
              <a:buNone/>
            </a:pPr>
            <a:r>
              <a:rPr lang="en">
                <a:solidFill>
                  <a:srgbClr val="CCCCCC"/>
                </a:solidFill>
                <a:latin typeface="Consolas"/>
                <a:ea typeface="Consolas"/>
                <a:cs typeface="Consolas"/>
                <a:sym typeface="Consolas"/>
              </a:rPr>
              <a:t>A E </a:t>
            </a:r>
            <a:r>
              <a:rPr lang="en">
                <a:solidFill>
                  <a:srgbClr val="9900FF"/>
                </a:solidFill>
                <a:latin typeface="Consolas"/>
                <a:ea typeface="Consolas"/>
                <a:cs typeface="Consolas"/>
                <a:sym typeface="Consolas"/>
              </a:rPr>
              <a:t>E</a:t>
            </a:r>
            <a:r>
              <a:rPr lang="en">
                <a:solidFill>
                  <a:schemeClr val="dk1"/>
                </a:solidFill>
                <a:latin typeface="Consolas"/>
                <a:ea typeface="Consolas"/>
                <a:cs typeface="Consolas"/>
                <a:sym typeface="Consolas"/>
              </a:rPr>
              <a:t> </a:t>
            </a:r>
            <a:r>
              <a:rPr lang="en">
                <a:latin typeface="Consolas"/>
                <a:ea typeface="Consolas"/>
                <a:cs typeface="Consolas"/>
                <a:sym typeface="Consolas"/>
              </a:rPr>
              <a:t>L</a:t>
            </a:r>
            <a:r>
              <a:rPr lang="en">
                <a:solidFill>
                  <a:srgbClr val="FF0000"/>
                </a:solidFill>
                <a:latin typeface="Consolas"/>
                <a:ea typeface="Consolas"/>
                <a:cs typeface="Consolas"/>
                <a:sym typeface="Consolas"/>
              </a:rPr>
              <a:t> </a:t>
            </a:r>
            <a:r>
              <a:rPr lang="en">
                <a:solidFill>
                  <a:schemeClr val="dk1"/>
                </a:solidFill>
                <a:latin typeface="Consolas"/>
                <a:ea typeface="Consolas"/>
                <a:cs typeface="Consolas"/>
                <a:sym typeface="Consolas"/>
              </a:rPr>
              <a:t>M O P R S T X  (8 swaps)</a:t>
            </a:r>
            <a:endParaRPr>
              <a:solidFill>
                <a:schemeClr val="dk1"/>
              </a:solidFill>
              <a:latin typeface="Consolas"/>
              <a:ea typeface="Consolas"/>
              <a:cs typeface="Consolas"/>
              <a:sym typeface="Consolas"/>
            </a:endParaRPr>
          </a:p>
        </p:txBody>
      </p:sp>
      <p:sp>
        <p:nvSpPr>
          <p:cNvPr id="1180" name="Google Shape;1180;p75"/>
          <p:cNvSpPr txBox="1"/>
          <p:nvPr>
            <p:ph idx="1" type="body"/>
          </p:nvPr>
        </p:nvSpPr>
        <p:spPr>
          <a:xfrm>
            <a:off x="357243" y="1123792"/>
            <a:ext cx="1400400" cy="5685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7 swaps:</a:t>
            </a:r>
            <a:endParaRPr/>
          </a:p>
        </p:txBody>
      </p:sp>
      <p:sp>
        <p:nvSpPr>
          <p:cNvPr id="1181" name="Google Shape;1181;p75"/>
          <p:cNvSpPr txBox="1"/>
          <p:nvPr>
            <p:ph idx="1" type="body"/>
          </p:nvPr>
        </p:nvSpPr>
        <p:spPr>
          <a:xfrm>
            <a:off x="4523218" y="1088156"/>
            <a:ext cx="1400400" cy="5685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36 swaps:</a:t>
            </a:r>
            <a:endParaRPr/>
          </a:p>
        </p:txBody>
      </p:sp>
      <p:sp>
        <p:nvSpPr>
          <p:cNvPr id="1182" name="Google Shape;1182;p75"/>
          <p:cNvSpPr txBox="1"/>
          <p:nvPr/>
        </p:nvSpPr>
        <p:spPr>
          <a:xfrm>
            <a:off x="185225" y="3870525"/>
            <a:ext cx="4338000" cy="89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rgbClr val="9900FF"/>
                </a:solidFill>
              </a:rPr>
              <a:t>Purple</a:t>
            </a:r>
            <a:r>
              <a:rPr lang="en"/>
              <a:t>: Element that we’re moving left (with swaps).</a:t>
            </a:r>
            <a:endParaRPr/>
          </a:p>
          <a:p>
            <a:pPr indent="0" lvl="0" marL="0" rtl="0" algn="l">
              <a:spcBef>
                <a:spcPts val="0"/>
              </a:spcBef>
              <a:spcAft>
                <a:spcPts val="0"/>
              </a:spcAft>
              <a:buNone/>
            </a:pPr>
            <a:r>
              <a:rPr lang="en"/>
              <a:t>Black: Elements that got swapped with purple.  </a:t>
            </a:r>
            <a:endParaRPr/>
          </a:p>
          <a:p>
            <a:pPr indent="0" lvl="0" marL="0" rtl="0" algn="l">
              <a:spcBef>
                <a:spcPts val="0"/>
              </a:spcBef>
              <a:spcAft>
                <a:spcPts val="0"/>
              </a:spcAft>
              <a:buNone/>
            </a:pPr>
            <a:r>
              <a:rPr lang="en">
                <a:solidFill>
                  <a:srgbClr val="B7B7B7"/>
                </a:solidFill>
              </a:rPr>
              <a:t>Grey</a:t>
            </a:r>
            <a:r>
              <a:rPr lang="en"/>
              <a:t>: Not considered this iteration.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78">
                                            <p:txEl>
                                              <p:pRg end="0" st="0"/>
                                            </p:txEl>
                                          </p:spTgt>
                                        </p:tgtEl>
                                        <p:attrNameLst>
                                          <p:attrName>style.visibility</p:attrName>
                                        </p:attrNameLst>
                                      </p:cBhvr>
                                      <p:to>
                                        <p:strVal val="visible"/>
                                      </p:to>
                                    </p:set>
                                    <p:animEffect filter="fade" transition="in">
                                      <p:cBhvr>
                                        <p:cTn dur="1000"/>
                                        <p:tgtEl>
                                          <p:spTgt spid="1178">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78">
                                            <p:txEl>
                                              <p:pRg end="1" st="1"/>
                                            </p:txEl>
                                          </p:spTgt>
                                        </p:tgtEl>
                                        <p:attrNameLst>
                                          <p:attrName>style.visibility</p:attrName>
                                        </p:attrNameLst>
                                      </p:cBhvr>
                                      <p:to>
                                        <p:strVal val="visible"/>
                                      </p:to>
                                    </p:set>
                                    <p:animEffect filter="fade" transition="in">
                                      <p:cBhvr>
                                        <p:cTn dur="1000"/>
                                        <p:tgtEl>
                                          <p:spTgt spid="1178">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78">
                                            <p:txEl>
                                              <p:pRg end="2" st="2"/>
                                            </p:txEl>
                                          </p:spTgt>
                                        </p:tgtEl>
                                        <p:attrNameLst>
                                          <p:attrName>style.visibility</p:attrName>
                                        </p:attrNameLst>
                                      </p:cBhvr>
                                      <p:to>
                                        <p:strVal val="visible"/>
                                      </p:to>
                                    </p:set>
                                    <p:animEffect filter="fade" transition="in">
                                      <p:cBhvr>
                                        <p:cTn dur="1000"/>
                                        <p:tgtEl>
                                          <p:spTgt spid="1178">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78">
                                            <p:txEl>
                                              <p:pRg end="3" st="3"/>
                                            </p:txEl>
                                          </p:spTgt>
                                        </p:tgtEl>
                                        <p:attrNameLst>
                                          <p:attrName>style.visibility</p:attrName>
                                        </p:attrNameLst>
                                      </p:cBhvr>
                                      <p:to>
                                        <p:strVal val="visible"/>
                                      </p:to>
                                    </p:set>
                                    <p:animEffect filter="fade" transition="in">
                                      <p:cBhvr>
                                        <p:cTn dur="1000"/>
                                        <p:tgtEl>
                                          <p:spTgt spid="1178">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78">
                                            <p:txEl>
                                              <p:pRg end="4" st="4"/>
                                            </p:txEl>
                                          </p:spTgt>
                                        </p:tgtEl>
                                        <p:attrNameLst>
                                          <p:attrName>style.visibility</p:attrName>
                                        </p:attrNameLst>
                                      </p:cBhvr>
                                      <p:to>
                                        <p:strVal val="visible"/>
                                      </p:to>
                                    </p:set>
                                    <p:animEffect filter="fade" transition="in">
                                      <p:cBhvr>
                                        <p:cTn dur="1000"/>
                                        <p:tgtEl>
                                          <p:spTgt spid="1178">
                                            <p:txEl>
                                              <p:pRg end="4" st="4"/>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78">
                                            <p:txEl>
                                              <p:pRg end="5" st="5"/>
                                            </p:txEl>
                                          </p:spTgt>
                                        </p:tgtEl>
                                        <p:attrNameLst>
                                          <p:attrName>style.visibility</p:attrName>
                                        </p:attrNameLst>
                                      </p:cBhvr>
                                      <p:to>
                                        <p:strVal val="visible"/>
                                      </p:to>
                                    </p:set>
                                    <p:animEffect filter="fade" transition="in">
                                      <p:cBhvr>
                                        <p:cTn dur="1000"/>
                                        <p:tgtEl>
                                          <p:spTgt spid="1178">
                                            <p:txEl>
                                              <p:pRg end="5" st="5"/>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78">
                                            <p:txEl>
                                              <p:pRg end="6" st="6"/>
                                            </p:txEl>
                                          </p:spTgt>
                                        </p:tgtEl>
                                        <p:attrNameLst>
                                          <p:attrName>style.visibility</p:attrName>
                                        </p:attrNameLst>
                                      </p:cBhvr>
                                      <p:to>
                                        <p:strVal val="visible"/>
                                      </p:to>
                                    </p:set>
                                    <p:animEffect filter="fade" transition="in">
                                      <p:cBhvr>
                                        <p:cTn dur="1000"/>
                                        <p:tgtEl>
                                          <p:spTgt spid="1178">
                                            <p:txEl>
                                              <p:pRg end="6" st="6"/>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80"/>
                                        </p:tgtEl>
                                        <p:attrNameLst>
                                          <p:attrName>style.visibility</p:attrName>
                                        </p:attrNameLst>
                                      </p:cBhvr>
                                      <p:to>
                                        <p:strVal val="visible"/>
                                      </p:to>
                                    </p:set>
                                    <p:animEffect filter="fade" transition="in">
                                      <p:cBhvr>
                                        <p:cTn dur="1000"/>
                                        <p:tgtEl>
                                          <p:spTgt spid="11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79"/>
                                        </p:tgtEl>
                                        <p:attrNameLst>
                                          <p:attrName>style.visibility</p:attrName>
                                        </p:attrNameLst>
                                      </p:cBhvr>
                                      <p:to>
                                        <p:strVal val="visible"/>
                                      </p:to>
                                    </p:set>
                                    <p:animEffect filter="fade" transition="in">
                                      <p:cBhvr>
                                        <p:cTn dur="1000"/>
                                        <p:tgtEl>
                                          <p:spTgt spid="117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81"/>
                                        </p:tgtEl>
                                        <p:attrNameLst>
                                          <p:attrName>style.visibility</p:attrName>
                                        </p:attrNameLst>
                                      </p:cBhvr>
                                      <p:to>
                                        <p:strVal val="visible"/>
                                      </p:to>
                                    </p:set>
                                    <p:animEffect filter="fade" transition="in">
                                      <p:cBhvr>
                                        <p:cTn dur="1000"/>
                                        <p:tgtEl>
                                          <p:spTgt spid="118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D2E9"/>
        </a:solidFill>
      </p:bgPr>
    </p:bg>
    <p:spTree>
      <p:nvGrpSpPr>
        <p:cNvPr id="1186" name="Shape 1186"/>
        <p:cNvGrpSpPr/>
        <p:nvPr/>
      </p:nvGrpSpPr>
      <p:grpSpPr>
        <a:xfrm>
          <a:off x="0" y="0"/>
          <a:ext cx="0" cy="0"/>
          <a:chOff x="0" y="0"/>
          <a:chExt cx="0" cy="0"/>
        </a:xfrm>
      </p:grpSpPr>
      <p:sp>
        <p:nvSpPr>
          <p:cNvPr id="1187" name="Google Shape;1187;p7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Insertion Sort Runtime: yellkey.com/TODO</a:t>
            </a:r>
            <a:endParaRPr>
              <a:solidFill>
                <a:srgbClr val="38761D"/>
              </a:solidFill>
            </a:endParaRPr>
          </a:p>
        </p:txBody>
      </p:sp>
      <p:sp>
        <p:nvSpPr>
          <p:cNvPr id="1188" name="Google Shape;1188;p76"/>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What is the runtime of insertion sort?</a:t>
            </a:r>
            <a:endParaRPr/>
          </a:p>
          <a:p>
            <a:pPr indent="-342900" lvl="0" marL="457200" rtl="0" algn="l">
              <a:spcBef>
                <a:spcPts val="600"/>
              </a:spcBef>
              <a:spcAft>
                <a:spcPts val="0"/>
              </a:spcAft>
              <a:buSzPts val="1800"/>
              <a:buFont typeface="Consolas"/>
              <a:buAutoNum type="alphaUcPeriod"/>
            </a:pPr>
            <a:r>
              <a:rPr lang="en">
                <a:latin typeface="Consolas"/>
                <a:ea typeface="Consolas"/>
                <a:cs typeface="Consolas"/>
                <a:sym typeface="Consolas"/>
              </a:rPr>
              <a:t>Ω(1), O(N)</a:t>
            </a:r>
            <a:endParaRPr>
              <a:latin typeface="Consolas"/>
              <a:ea typeface="Consolas"/>
              <a:cs typeface="Consolas"/>
              <a:sym typeface="Consolas"/>
            </a:endParaRPr>
          </a:p>
          <a:p>
            <a:pPr indent="-342900" lvl="0" marL="457200" rtl="0" algn="l">
              <a:spcBef>
                <a:spcPts val="0"/>
              </a:spcBef>
              <a:spcAft>
                <a:spcPts val="0"/>
              </a:spcAft>
              <a:buSzPts val="1800"/>
              <a:buFont typeface="Consolas"/>
              <a:buAutoNum type="alphaUcPeriod"/>
            </a:pPr>
            <a:r>
              <a:rPr lang="en">
                <a:latin typeface="Consolas"/>
                <a:ea typeface="Consolas"/>
                <a:cs typeface="Consolas"/>
                <a:sym typeface="Consolas"/>
              </a:rPr>
              <a:t>Ω(N), O(N)</a:t>
            </a:r>
            <a:endParaRPr>
              <a:latin typeface="Consolas"/>
              <a:ea typeface="Consolas"/>
              <a:cs typeface="Consolas"/>
              <a:sym typeface="Consolas"/>
            </a:endParaRPr>
          </a:p>
          <a:p>
            <a:pPr indent="-342900" lvl="0" marL="457200" rtl="0" algn="l">
              <a:spcBef>
                <a:spcPts val="0"/>
              </a:spcBef>
              <a:spcAft>
                <a:spcPts val="0"/>
              </a:spcAft>
              <a:buSzPts val="1800"/>
              <a:buFont typeface="Consolas"/>
              <a:buAutoNum type="alphaUcPeriod"/>
            </a:pPr>
            <a:r>
              <a:rPr lang="en">
                <a:latin typeface="Consolas"/>
                <a:ea typeface="Consolas"/>
                <a:cs typeface="Consolas"/>
                <a:sym typeface="Consolas"/>
              </a:rPr>
              <a:t>Ω(1), O(N</a:t>
            </a:r>
            <a:r>
              <a:rPr baseline="30000" lang="en">
                <a:latin typeface="Consolas"/>
                <a:ea typeface="Consolas"/>
                <a:cs typeface="Consolas"/>
                <a:sym typeface="Consolas"/>
              </a:rPr>
              <a:t>2</a:t>
            </a:r>
            <a:r>
              <a:rPr lang="en">
                <a:latin typeface="Consolas"/>
                <a:ea typeface="Consolas"/>
                <a:cs typeface="Consolas"/>
                <a:sym typeface="Consolas"/>
              </a:rPr>
              <a:t>)</a:t>
            </a:r>
            <a:endParaRPr>
              <a:latin typeface="Consolas"/>
              <a:ea typeface="Consolas"/>
              <a:cs typeface="Consolas"/>
              <a:sym typeface="Consolas"/>
            </a:endParaRPr>
          </a:p>
          <a:p>
            <a:pPr indent="-342900" lvl="0" marL="457200" rtl="0" algn="l">
              <a:spcBef>
                <a:spcPts val="0"/>
              </a:spcBef>
              <a:spcAft>
                <a:spcPts val="0"/>
              </a:spcAft>
              <a:buSzPts val="1800"/>
              <a:buFont typeface="Consolas"/>
              <a:buAutoNum type="alphaUcPeriod"/>
            </a:pPr>
            <a:r>
              <a:rPr lang="en">
                <a:latin typeface="Consolas"/>
                <a:ea typeface="Consolas"/>
                <a:cs typeface="Consolas"/>
                <a:sym typeface="Consolas"/>
              </a:rPr>
              <a:t>Ω(N), O(N</a:t>
            </a:r>
            <a:r>
              <a:rPr baseline="30000" lang="en">
                <a:latin typeface="Consolas"/>
                <a:ea typeface="Consolas"/>
                <a:cs typeface="Consolas"/>
                <a:sym typeface="Consolas"/>
              </a:rPr>
              <a:t>2</a:t>
            </a:r>
            <a:r>
              <a:rPr lang="en">
                <a:latin typeface="Consolas"/>
                <a:ea typeface="Consolas"/>
                <a:cs typeface="Consolas"/>
                <a:sym typeface="Consolas"/>
              </a:rPr>
              <a:t>)</a:t>
            </a:r>
            <a:endParaRPr>
              <a:latin typeface="Consolas"/>
              <a:ea typeface="Consolas"/>
              <a:cs typeface="Consolas"/>
              <a:sym typeface="Consolas"/>
            </a:endParaRPr>
          </a:p>
          <a:p>
            <a:pPr indent="-342900" lvl="0" marL="457200" rtl="0" algn="l">
              <a:spcBef>
                <a:spcPts val="0"/>
              </a:spcBef>
              <a:spcAft>
                <a:spcPts val="0"/>
              </a:spcAft>
              <a:buSzPts val="1800"/>
              <a:buFont typeface="Consolas"/>
              <a:buAutoNum type="alphaUcPeriod"/>
            </a:pPr>
            <a:r>
              <a:rPr lang="en">
                <a:latin typeface="Consolas"/>
                <a:ea typeface="Consolas"/>
                <a:cs typeface="Consolas"/>
                <a:sym typeface="Consolas"/>
              </a:rPr>
              <a:t>Ω(N</a:t>
            </a:r>
            <a:r>
              <a:rPr baseline="30000" lang="en">
                <a:latin typeface="Consolas"/>
                <a:ea typeface="Consolas"/>
                <a:cs typeface="Consolas"/>
                <a:sym typeface="Consolas"/>
              </a:rPr>
              <a:t>2</a:t>
            </a:r>
            <a:r>
              <a:rPr lang="en">
                <a:latin typeface="Consolas"/>
                <a:ea typeface="Consolas"/>
                <a:cs typeface="Consolas"/>
                <a:sym typeface="Consolas"/>
              </a:rPr>
              <a:t>), O(N</a:t>
            </a:r>
            <a:r>
              <a:rPr baseline="30000" lang="en">
                <a:latin typeface="Consolas"/>
                <a:ea typeface="Consolas"/>
                <a:cs typeface="Consolas"/>
                <a:sym typeface="Consolas"/>
              </a:rPr>
              <a:t>2</a:t>
            </a:r>
            <a:r>
              <a:rPr lang="en">
                <a:latin typeface="Consolas"/>
                <a:ea typeface="Consolas"/>
                <a:cs typeface="Consolas"/>
                <a:sym typeface="Consolas"/>
              </a:rPr>
              <a:t>)</a:t>
            </a:r>
            <a:endParaRPr>
              <a:latin typeface="Consolas"/>
              <a:ea typeface="Consolas"/>
              <a:cs typeface="Consolas"/>
              <a:sym typeface="Consolas"/>
            </a:endParaRPr>
          </a:p>
        </p:txBody>
      </p:sp>
      <p:sp>
        <p:nvSpPr>
          <p:cNvPr id="1189" name="Google Shape;1189;p76"/>
          <p:cNvSpPr txBox="1"/>
          <p:nvPr>
            <p:ph idx="1" type="body"/>
          </p:nvPr>
        </p:nvSpPr>
        <p:spPr>
          <a:xfrm>
            <a:off x="4523218" y="1088156"/>
            <a:ext cx="1400400" cy="5685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36 swaps:</a:t>
            </a:r>
            <a:endParaRPr/>
          </a:p>
        </p:txBody>
      </p:sp>
      <p:pic>
        <p:nvPicPr>
          <p:cNvPr id="1190" name="Google Shape;1190;p76"/>
          <p:cNvPicPr preferRelativeResize="0"/>
          <p:nvPr/>
        </p:nvPicPr>
        <p:blipFill>
          <a:blip r:embed="rId3">
            <a:alphaModFix/>
          </a:blip>
          <a:stretch>
            <a:fillRect/>
          </a:stretch>
        </p:blipFill>
        <p:spPr>
          <a:xfrm>
            <a:off x="4598425" y="1656650"/>
            <a:ext cx="3194250" cy="2576349"/>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4" name="Shape 1194"/>
        <p:cNvGrpSpPr/>
        <p:nvPr/>
      </p:nvGrpSpPr>
      <p:grpSpPr>
        <a:xfrm>
          <a:off x="0" y="0"/>
          <a:ext cx="0" cy="0"/>
          <a:chOff x="0" y="0"/>
          <a:chExt cx="0" cy="0"/>
        </a:xfrm>
      </p:grpSpPr>
      <p:sp>
        <p:nvSpPr>
          <p:cNvPr id="1195" name="Google Shape;1195;p7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Insertion Sort Runtime</a:t>
            </a:r>
            <a:endParaRPr>
              <a:solidFill>
                <a:srgbClr val="38761D"/>
              </a:solidFill>
            </a:endParaRPr>
          </a:p>
        </p:txBody>
      </p:sp>
      <p:sp>
        <p:nvSpPr>
          <p:cNvPr id="1196" name="Google Shape;1196;p77"/>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What is the runtime of insertion sort?</a:t>
            </a:r>
            <a:endParaRPr/>
          </a:p>
          <a:p>
            <a:pPr indent="-342900" lvl="0" marL="457200" rtl="0" algn="l">
              <a:spcBef>
                <a:spcPts val="600"/>
              </a:spcBef>
              <a:spcAft>
                <a:spcPts val="0"/>
              </a:spcAft>
              <a:buSzPts val="1800"/>
              <a:buFont typeface="Consolas"/>
              <a:buAutoNum type="alphaUcPeriod"/>
            </a:pPr>
            <a:r>
              <a:rPr lang="en">
                <a:latin typeface="Consolas"/>
                <a:ea typeface="Consolas"/>
                <a:cs typeface="Consolas"/>
                <a:sym typeface="Consolas"/>
              </a:rPr>
              <a:t>Ω(1), O(N)</a:t>
            </a:r>
            <a:endParaRPr>
              <a:latin typeface="Consolas"/>
              <a:ea typeface="Consolas"/>
              <a:cs typeface="Consolas"/>
              <a:sym typeface="Consolas"/>
            </a:endParaRPr>
          </a:p>
          <a:p>
            <a:pPr indent="-342900" lvl="0" marL="457200" rtl="0" algn="l">
              <a:spcBef>
                <a:spcPts val="0"/>
              </a:spcBef>
              <a:spcAft>
                <a:spcPts val="0"/>
              </a:spcAft>
              <a:buSzPts val="1800"/>
              <a:buFont typeface="Consolas"/>
              <a:buAutoNum type="alphaUcPeriod"/>
            </a:pPr>
            <a:r>
              <a:rPr lang="en">
                <a:latin typeface="Consolas"/>
                <a:ea typeface="Consolas"/>
                <a:cs typeface="Consolas"/>
                <a:sym typeface="Consolas"/>
              </a:rPr>
              <a:t>Ω(N), O(N)</a:t>
            </a:r>
            <a:endParaRPr>
              <a:latin typeface="Consolas"/>
              <a:ea typeface="Consolas"/>
              <a:cs typeface="Consolas"/>
              <a:sym typeface="Consolas"/>
            </a:endParaRPr>
          </a:p>
          <a:p>
            <a:pPr indent="-342900" lvl="0" marL="457200" rtl="0" algn="l">
              <a:spcBef>
                <a:spcPts val="0"/>
              </a:spcBef>
              <a:spcAft>
                <a:spcPts val="0"/>
              </a:spcAft>
              <a:buSzPts val="1800"/>
              <a:buFont typeface="Consolas"/>
              <a:buAutoNum type="alphaUcPeriod"/>
            </a:pPr>
            <a:r>
              <a:rPr lang="en">
                <a:latin typeface="Consolas"/>
                <a:ea typeface="Consolas"/>
                <a:cs typeface="Consolas"/>
                <a:sym typeface="Consolas"/>
              </a:rPr>
              <a:t>Ω(1), O(N</a:t>
            </a:r>
            <a:r>
              <a:rPr baseline="30000" lang="en">
                <a:latin typeface="Consolas"/>
                <a:ea typeface="Consolas"/>
                <a:cs typeface="Consolas"/>
                <a:sym typeface="Consolas"/>
              </a:rPr>
              <a:t>2</a:t>
            </a:r>
            <a:r>
              <a:rPr lang="en">
                <a:latin typeface="Consolas"/>
                <a:ea typeface="Consolas"/>
                <a:cs typeface="Consolas"/>
                <a:sym typeface="Consolas"/>
              </a:rPr>
              <a:t>)</a:t>
            </a:r>
            <a:endParaRPr>
              <a:latin typeface="Consolas"/>
              <a:ea typeface="Consolas"/>
              <a:cs typeface="Consolas"/>
              <a:sym typeface="Consolas"/>
            </a:endParaRPr>
          </a:p>
          <a:p>
            <a:pPr indent="-342900" lvl="0" marL="457200" rtl="0" algn="l">
              <a:spcBef>
                <a:spcPts val="0"/>
              </a:spcBef>
              <a:spcAft>
                <a:spcPts val="0"/>
              </a:spcAft>
              <a:buSzPts val="1800"/>
              <a:buFont typeface="Consolas"/>
              <a:buAutoNum type="alphaUcPeriod"/>
            </a:pPr>
            <a:r>
              <a:rPr b="1" lang="en">
                <a:latin typeface="Consolas"/>
                <a:ea typeface="Consolas"/>
                <a:cs typeface="Consolas"/>
                <a:sym typeface="Consolas"/>
              </a:rPr>
              <a:t>Ω(N), O(N</a:t>
            </a:r>
            <a:r>
              <a:rPr b="1" baseline="30000" lang="en">
                <a:latin typeface="Consolas"/>
                <a:ea typeface="Consolas"/>
                <a:cs typeface="Consolas"/>
                <a:sym typeface="Consolas"/>
              </a:rPr>
              <a:t>2</a:t>
            </a:r>
            <a:r>
              <a:rPr b="1" lang="en">
                <a:latin typeface="Consolas"/>
                <a:ea typeface="Consolas"/>
                <a:cs typeface="Consolas"/>
                <a:sym typeface="Consolas"/>
              </a:rPr>
              <a:t>)</a:t>
            </a:r>
            <a:endParaRPr b="1">
              <a:latin typeface="Consolas"/>
              <a:ea typeface="Consolas"/>
              <a:cs typeface="Consolas"/>
              <a:sym typeface="Consolas"/>
            </a:endParaRPr>
          </a:p>
          <a:p>
            <a:pPr indent="-342900" lvl="0" marL="457200" rtl="0" algn="l">
              <a:spcBef>
                <a:spcPts val="0"/>
              </a:spcBef>
              <a:spcAft>
                <a:spcPts val="0"/>
              </a:spcAft>
              <a:buSzPts val="1800"/>
              <a:buFont typeface="Consolas"/>
              <a:buAutoNum type="alphaUcPeriod"/>
            </a:pPr>
            <a:r>
              <a:rPr lang="en">
                <a:latin typeface="Consolas"/>
                <a:ea typeface="Consolas"/>
                <a:cs typeface="Consolas"/>
                <a:sym typeface="Consolas"/>
              </a:rPr>
              <a:t>Ω(N</a:t>
            </a:r>
            <a:r>
              <a:rPr baseline="30000" lang="en">
                <a:latin typeface="Consolas"/>
                <a:ea typeface="Consolas"/>
                <a:cs typeface="Consolas"/>
                <a:sym typeface="Consolas"/>
              </a:rPr>
              <a:t>2</a:t>
            </a:r>
            <a:r>
              <a:rPr lang="en">
                <a:latin typeface="Consolas"/>
                <a:ea typeface="Consolas"/>
                <a:cs typeface="Consolas"/>
                <a:sym typeface="Consolas"/>
              </a:rPr>
              <a:t>), O(N</a:t>
            </a:r>
            <a:r>
              <a:rPr baseline="30000" lang="en">
                <a:latin typeface="Consolas"/>
                <a:ea typeface="Consolas"/>
                <a:cs typeface="Consolas"/>
                <a:sym typeface="Consolas"/>
              </a:rPr>
              <a:t>2</a:t>
            </a:r>
            <a:r>
              <a:rPr lang="en">
                <a:latin typeface="Consolas"/>
                <a:ea typeface="Consolas"/>
                <a:cs typeface="Consolas"/>
                <a:sym typeface="Consolas"/>
              </a:rPr>
              <a:t>)</a:t>
            </a:r>
            <a:endParaRPr>
              <a:latin typeface="Consolas"/>
              <a:ea typeface="Consolas"/>
              <a:cs typeface="Consolas"/>
              <a:sym typeface="Consolas"/>
            </a:endParaRPr>
          </a:p>
          <a:p>
            <a:pPr indent="0" lvl="0" marL="0" rtl="0" algn="l">
              <a:spcBef>
                <a:spcPts val="600"/>
              </a:spcBef>
              <a:spcAft>
                <a:spcPts val="0"/>
              </a:spcAft>
              <a:buNone/>
            </a:pPr>
            <a:r>
              <a:t/>
            </a:r>
            <a:endParaRPr>
              <a:latin typeface="Consolas"/>
              <a:ea typeface="Consolas"/>
              <a:cs typeface="Consolas"/>
              <a:sym typeface="Consolas"/>
            </a:endParaRPr>
          </a:p>
          <a:p>
            <a:pPr indent="0" lvl="0" marL="0" rtl="0" algn="l">
              <a:spcBef>
                <a:spcPts val="600"/>
              </a:spcBef>
              <a:spcAft>
                <a:spcPts val="0"/>
              </a:spcAft>
              <a:buNone/>
            </a:pPr>
            <a:r>
              <a:rPr lang="en"/>
              <a:t>You may recall </a:t>
            </a:r>
            <a:r>
              <a:rPr lang="en">
                <a:latin typeface="Consolas"/>
                <a:ea typeface="Consolas"/>
                <a:cs typeface="Consolas"/>
                <a:sym typeface="Consolas"/>
              </a:rPr>
              <a:t>Ω</a:t>
            </a:r>
            <a:r>
              <a:rPr lang="en"/>
              <a:t> is not “best case”.</a:t>
            </a:r>
            <a:endParaRPr/>
          </a:p>
          <a:p>
            <a:pPr indent="0" lvl="0" marL="0" rtl="0" algn="l">
              <a:spcBef>
                <a:spcPts val="600"/>
              </a:spcBef>
              <a:spcAft>
                <a:spcPts val="0"/>
              </a:spcAft>
              <a:buNone/>
            </a:pPr>
            <a:r>
              <a:rPr lang="en"/>
              <a:t>So technnnniically you could also say </a:t>
            </a:r>
            <a:br>
              <a:rPr lang="en"/>
            </a:br>
            <a:r>
              <a:rPr lang="en"/>
              <a:t>     </a:t>
            </a:r>
            <a:r>
              <a:rPr lang="en">
                <a:latin typeface="Consolas"/>
                <a:ea typeface="Consolas"/>
                <a:cs typeface="Consolas"/>
                <a:sym typeface="Consolas"/>
              </a:rPr>
              <a:t>Ω(1)</a:t>
            </a:r>
            <a:endParaRPr/>
          </a:p>
          <a:p>
            <a:pPr indent="0" lvl="0" marL="0" rtl="0" algn="l">
              <a:spcBef>
                <a:spcPts val="600"/>
              </a:spcBef>
              <a:spcAft>
                <a:spcPts val="0"/>
              </a:spcAft>
              <a:buClr>
                <a:schemeClr val="dk1"/>
              </a:buClr>
              <a:buSzPts val="1100"/>
              <a:buFont typeface="Arial"/>
              <a:buNone/>
            </a:pPr>
            <a:r>
              <a:t/>
            </a:r>
            <a:endParaRPr/>
          </a:p>
        </p:txBody>
      </p:sp>
      <p:sp>
        <p:nvSpPr>
          <p:cNvPr id="1197" name="Google Shape;1197;p77"/>
          <p:cNvSpPr txBox="1"/>
          <p:nvPr>
            <p:ph idx="1" type="body"/>
          </p:nvPr>
        </p:nvSpPr>
        <p:spPr>
          <a:xfrm>
            <a:off x="4523218" y="1088156"/>
            <a:ext cx="1400400" cy="5685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36 swaps:</a:t>
            </a:r>
            <a:endParaRPr/>
          </a:p>
        </p:txBody>
      </p:sp>
      <p:pic>
        <p:nvPicPr>
          <p:cNvPr id="1198" name="Google Shape;1198;p77"/>
          <p:cNvPicPr preferRelativeResize="0"/>
          <p:nvPr/>
        </p:nvPicPr>
        <p:blipFill>
          <a:blip r:embed="rId3">
            <a:alphaModFix/>
          </a:blip>
          <a:stretch>
            <a:fillRect/>
          </a:stretch>
        </p:blipFill>
        <p:spPr>
          <a:xfrm>
            <a:off x="4598425" y="1656650"/>
            <a:ext cx="3194250" cy="257634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D2E9"/>
        </a:solidFill>
      </p:bgPr>
    </p:bg>
    <p:spTree>
      <p:nvGrpSpPr>
        <p:cNvPr id="1202" name="Shape 1202"/>
        <p:cNvGrpSpPr/>
        <p:nvPr/>
      </p:nvGrpSpPr>
      <p:grpSpPr>
        <a:xfrm>
          <a:off x="0" y="0"/>
          <a:ext cx="0" cy="0"/>
          <a:chOff x="0" y="0"/>
          <a:chExt cx="0" cy="0"/>
        </a:xfrm>
      </p:grpSpPr>
      <p:sp>
        <p:nvSpPr>
          <p:cNvPr id="1203" name="Google Shape;1203;p7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Picking the Best Sort: yellkey.com/TODO</a:t>
            </a:r>
            <a:endParaRPr>
              <a:solidFill>
                <a:srgbClr val="38761D"/>
              </a:solidFill>
            </a:endParaRPr>
          </a:p>
        </p:txBody>
      </p:sp>
      <p:sp>
        <p:nvSpPr>
          <p:cNvPr id="1204" name="Google Shape;1204;p78"/>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Suppose we do the following:</a:t>
            </a:r>
            <a:endParaRPr/>
          </a:p>
          <a:p>
            <a:pPr indent="-342900" lvl="0" marL="457200" rtl="0" algn="l">
              <a:spcBef>
                <a:spcPts val="600"/>
              </a:spcBef>
              <a:spcAft>
                <a:spcPts val="0"/>
              </a:spcAft>
              <a:buSzPts val="1800"/>
              <a:buChar char="●"/>
            </a:pPr>
            <a:r>
              <a:rPr lang="en"/>
              <a:t>Read 1,000,000 integers from a file into an array of length 1,000,000.</a:t>
            </a:r>
            <a:endParaRPr/>
          </a:p>
          <a:p>
            <a:pPr indent="-342900" lvl="0" marL="457200" rtl="0" algn="l">
              <a:spcBef>
                <a:spcPts val="0"/>
              </a:spcBef>
              <a:spcAft>
                <a:spcPts val="0"/>
              </a:spcAft>
              <a:buSzPts val="1800"/>
              <a:buChar char="●"/>
            </a:pPr>
            <a:r>
              <a:rPr lang="en"/>
              <a:t>Mergesort these integers.</a:t>
            </a:r>
            <a:endParaRPr/>
          </a:p>
          <a:p>
            <a:pPr indent="-342900" lvl="0" marL="457200" rtl="0" algn="l">
              <a:spcBef>
                <a:spcPts val="0"/>
              </a:spcBef>
              <a:spcAft>
                <a:spcPts val="0"/>
              </a:spcAft>
              <a:buSzPts val="1800"/>
              <a:buChar char="●"/>
            </a:pPr>
            <a:r>
              <a:rPr lang="en"/>
              <a:t>Select one integer randomly and change it.</a:t>
            </a:r>
            <a:endParaRPr/>
          </a:p>
          <a:p>
            <a:pPr indent="-342900" lvl="0" marL="457200" rtl="0" algn="l">
              <a:spcBef>
                <a:spcPts val="0"/>
              </a:spcBef>
              <a:spcAft>
                <a:spcPts val="0"/>
              </a:spcAft>
              <a:buSzPts val="1800"/>
              <a:buChar char="●"/>
            </a:pPr>
            <a:r>
              <a:rPr lang="en"/>
              <a:t>Sort using algorithm X of your choice.</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Which sorting algorithm would be the fastest choice for X?</a:t>
            </a:r>
            <a:endParaRPr/>
          </a:p>
          <a:p>
            <a:pPr indent="-342900" lvl="0" marL="457200" rtl="0" algn="l">
              <a:spcBef>
                <a:spcPts val="600"/>
              </a:spcBef>
              <a:spcAft>
                <a:spcPts val="0"/>
              </a:spcAft>
              <a:buSzPts val="1800"/>
              <a:buAutoNum type="alphaUcPeriod"/>
            </a:pPr>
            <a:r>
              <a:rPr lang="en"/>
              <a:t>Selection Sort: O(N</a:t>
            </a:r>
            <a:r>
              <a:rPr baseline="30000" lang="en"/>
              <a:t>2</a:t>
            </a:r>
            <a:r>
              <a:rPr lang="en"/>
              <a:t>)</a:t>
            </a:r>
            <a:endParaRPr/>
          </a:p>
          <a:p>
            <a:pPr indent="-342900" lvl="0" marL="457200" rtl="0" algn="l">
              <a:spcBef>
                <a:spcPts val="0"/>
              </a:spcBef>
              <a:spcAft>
                <a:spcPts val="0"/>
              </a:spcAft>
              <a:buSzPts val="1800"/>
              <a:buAutoNum type="alphaUcPeriod"/>
            </a:pPr>
            <a:r>
              <a:rPr lang="en"/>
              <a:t>Heapsort: O(N Log N)</a:t>
            </a:r>
            <a:endParaRPr/>
          </a:p>
          <a:p>
            <a:pPr indent="-342900" lvl="0" marL="457200" rtl="0" algn="l">
              <a:spcBef>
                <a:spcPts val="0"/>
              </a:spcBef>
              <a:spcAft>
                <a:spcPts val="0"/>
              </a:spcAft>
              <a:buSzPts val="1800"/>
              <a:buAutoNum type="alphaUcPeriod"/>
            </a:pPr>
            <a:r>
              <a:rPr lang="en"/>
              <a:t>Mergesort: O(N Log N)</a:t>
            </a:r>
            <a:endParaRPr/>
          </a:p>
          <a:p>
            <a:pPr indent="-342900" lvl="0" marL="457200" rtl="0" algn="l">
              <a:spcBef>
                <a:spcPts val="0"/>
              </a:spcBef>
              <a:spcAft>
                <a:spcPts val="0"/>
              </a:spcAft>
              <a:buSzPts val="1800"/>
              <a:buAutoNum type="alphaUcPeriod"/>
            </a:pPr>
            <a:r>
              <a:rPr lang="en"/>
              <a:t>Insertion Sort: O(N</a:t>
            </a:r>
            <a:r>
              <a:rPr baseline="30000" lang="en"/>
              <a:t>2</a:t>
            </a:r>
            <a:r>
              <a:rPr lang="en"/>
              <a:t>)</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7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Observation: Insertion Sort on Almost Sorted Arrays</a:t>
            </a:r>
            <a:endParaRPr/>
          </a:p>
        </p:txBody>
      </p:sp>
      <p:sp>
        <p:nvSpPr>
          <p:cNvPr id="1210" name="Google Shape;1210;p79"/>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For arrays that are almost sorted, insertion sort does very little work.</a:t>
            </a:r>
            <a:endParaRPr/>
          </a:p>
          <a:p>
            <a:pPr indent="-342900" lvl="0" marL="457200" rtl="0" algn="l">
              <a:spcBef>
                <a:spcPts val="600"/>
              </a:spcBef>
              <a:spcAft>
                <a:spcPts val="0"/>
              </a:spcAft>
              <a:buSzPts val="1800"/>
              <a:buChar char="●"/>
            </a:pPr>
            <a:r>
              <a:rPr lang="en"/>
              <a:t>Left array: 5 inversions, so only 5 swaps.</a:t>
            </a:r>
            <a:endParaRPr/>
          </a:p>
          <a:p>
            <a:pPr indent="-342900" lvl="0" marL="457200" rtl="0" algn="l">
              <a:spcBef>
                <a:spcPts val="0"/>
              </a:spcBef>
              <a:spcAft>
                <a:spcPts val="0"/>
              </a:spcAft>
              <a:buSzPts val="1800"/>
              <a:buChar char="●"/>
            </a:pPr>
            <a:r>
              <a:rPr lang="en"/>
              <a:t>Right array: 3 inversion, so only 3 swaps.</a:t>
            </a:r>
            <a:endParaRPr/>
          </a:p>
          <a:p>
            <a:pPr indent="0" lvl="0" marL="0" rtl="0" algn="l">
              <a:spcBef>
                <a:spcPts val="600"/>
              </a:spcBef>
              <a:spcAft>
                <a:spcPts val="0"/>
              </a:spcAft>
              <a:buNone/>
            </a:pPr>
            <a:r>
              <a:t/>
            </a:r>
            <a:endParaRPr/>
          </a:p>
          <a:p>
            <a:pPr indent="0" lvl="0" marL="0" rtl="0" algn="l">
              <a:spcBef>
                <a:spcPts val="600"/>
              </a:spcBef>
              <a:spcAft>
                <a:spcPts val="0"/>
              </a:spcAft>
              <a:buNone/>
            </a:pPr>
            <a:r>
              <a:t/>
            </a:r>
            <a:endParaRPr/>
          </a:p>
          <a:p>
            <a:pPr indent="0" lvl="0" marL="0" rtl="0" algn="l">
              <a:spcBef>
                <a:spcPts val="600"/>
              </a:spcBef>
              <a:spcAft>
                <a:spcPts val="0"/>
              </a:spcAft>
              <a:buNone/>
            </a:pPr>
            <a:r>
              <a:t/>
            </a:r>
            <a:endParaRPr/>
          </a:p>
        </p:txBody>
      </p:sp>
      <p:pic>
        <p:nvPicPr>
          <p:cNvPr id="1211" name="Google Shape;1211;p79"/>
          <p:cNvPicPr preferRelativeResize="0"/>
          <p:nvPr/>
        </p:nvPicPr>
        <p:blipFill>
          <a:blip r:embed="rId3">
            <a:alphaModFix/>
          </a:blip>
          <a:stretch>
            <a:fillRect/>
          </a:stretch>
        </p:blipFill>
        <p:spPr>
          <a:xfrm>
            <a:off x="4615375" y="2519675"/>
            <a:ext cx="2275519" cy="2576350"/>
          </a:xfrm>
          <a:prstGeom prst="rect">
            <a:avLst/>
          </a:prstGeom>
          <a:noFill/>
          <a:ln>
            <a:noFill/>
          </a:ln>
        </p:spPr>
      </p:pic>
      <p:pic>
        <p:nvPicPr>
          <p:cNvPr id="1212" name="Google Shape;1212;p79"/>
          <p:cNvPicPr preferRelativeResize="0"/>
          <p:nvPr/>
        </p:nvPicPr>
        <p:blipFill>
          <a:blip r:embed="rId4">
            <a:alphaModFix/>
          </a:blip>
          <a:stretch>
            <a:fillRect/>
          </a:stretch>
        </p:blipFill>
        <p:spPr>
          <a:xfrm>
            <a:off x="1549991" y="2519675"/>
            <a:ext cx="2289034" cy="26238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6" name="Shape 1216"/>
        <p:cNvGrpSpPr/>
        <p:nvPr/>
      </p:nvGrpSpPr>
      <p:grpSpPr>
        <a:xfrm>
          <a:off x="0" y="0"/>
          <a:ext cx="0" cy="0"/>
          <a:chOff x="0" y="0"/>
          <a:chExt cx="0" cy="0"/>
        </a:xfrm>
      </p:grpSpPr>
      <p:sp>
        <p:nvSpPr>
          <p:cNvPr id="1217" name="Google Shape;1217;p80"/>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Picking the Best Sort (Poll Everywhere)</a:t>
            </a:r>
            <a:endParaRPr/>
          </a:p>
        </p:txBody>
      </p:sp>
      <p:sp>
        <p:nvSpPr>
          <p:cNvPr id="1218" name="Google Shape;1218;p80"/>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Suppose we do the following:</a:t>
            </a:r>
            <a:endParaRPr/>
          </a:p>
          <a:p>
            <a:pPr indent="-342900" lvl="0" marL="457200" rtl="0" algn="l">
              <a:spcBef>
                <a:spcPts val="600"/>
              </a:spcBef>
              <a:spcAft>
                <a:spcPts val="0"/>
              </a:spcAft>
              <a:buSzPts val="1800"/>
              <a:buChar char="●"/>
            </a:pPr>
            <a:r>
              <a:rPr lang="en"/>
              <a:t>Read 1,000,000 integers from a file into an array of length 1,000,000.</a:t>
            </a:r>
            <a:endParaRPr/>
          </a:p>
          <a:p>
            <a:pPr indent="-342900" lvl="0" marL="457200" rtl="0" algn="l">
              <a:spcBef>
                <a:spcPts val="0"/>
              </a:spcBef>
              <a:spcAft>
                <a:spcPts val="0"/>
              </a:spcAft>
              <a:buSzPts val="1800"/>
              <a:buChar char="●"/>
            </a:pPr>
            <a:r>
              <a:rPr lang="en"/>
              <a:t>Mergesort these integers.</a:t>
            </a:r>
            <a:endParaRPr/>
          </a:p>
          <a:p>
            <a:pPr indent="-342900" lvl="0" marL="457200" rtl="0" algn="l">
              <a:spcBef>
                <a:spcPts val="0"/>
              </a:spcBef>
              <a:spcAft>
                <a:spcPts val="0"/>
              </a:spcAft>
              <a:buSzPts val="1800"/>
              <a:buChar char="●"/>
            </a:pPr>
            <a:r>
              <a:rPr lang="en"/>
              <a:t>Select one integer randomly and change it.</a:t>
            </a:r>
            <a:endParaRPr/>
          </a:p>
          <a:p>
            <a:pPr indent="-342900" lvl="0" marL="457200" rtl="0" algn="l">
              <a:spcBef>
                <a:spcPts val="0"/>
              </a:spcBef>
              <a:spcAft>
                <a:spcPts val="0"/>
              </a:spcAft>
              <a:buSzPts val="1800"/>
              <a:buChar char="●"/>
            </a:pPr>
            <a:r>
              <a:rPr lang="en"/>
              <a:t>Sort using algorithm X of your choice.</a:t>
            </a:r>
            <a:endParaRPr/>
          </a:p>
          <a:p>
            <a:pPr indent="-342900" lvl="0" marL="457200" rtl="0" algn="l">
              <a:spcBef>
                <a:spcPts val="0"/>
              </a:spcBef>
              <a:spcAft>
                <a:spcPts val="0"/>
              </a:spcAft>
              <a:buSzPts val="1800"/>
              <a:buChar char="●"/>
            </a:pPr>
            <a:r>
              <a:rPr lang="en"/>
              <a:t>In the worst case, we have 999,999 inversions: Θ(N) inversions.</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Which sorting algorithm would be the fastest choice for X? Worst case run-times:</a:t>
            </a:r>
            <a:endParaRPr/>
          </a:p>
          <a:p>
            <a:pPr indent="-342900" lvl="0" marL="457200" rtl="0" algn="l">
              <a:spcBef>
                <a:spcPts val="600"/>
              </a:spcBef>
              <a:spcAft>
                <a:spcPts val="0"/>
              </a:spcAft>
              <a:buSzPts val="1800"/>
              <a:buAutoNum type="alphaUcPeriod"/>
            </a:pPr>
            <a:r>
              <a:rPr lang="en"/>
              <a:t>Selection Sort: Θ(N</a:t>
            </a:r>
            <a:r>
              <a:rPr baseline="30000" lang="en"/>
              <a:t>2</a:t>
            </a:r>
            <a:r>
              <a:rPr lang="en"/>
              <a:t>)</a:t>
            </a:r>
            <a:endParaRPr/>
          </a:p>
          <a:p>
            <a:pPr indent="-342900" lvl="0" marL="457200" rtl="0" algn="l">
              <a:spcBef>
                <a:spcPts val="0"/>
              </a:spcBef>
              <a:spcAft>
                <a:spcPts val="0"/>
              </a:spcAft>
              <a:buSzPts val="1800"/>
              <a:buAutoNum type="alphaUcPeriod"/>
            </a:pPr>
            <a:r>
              <a:rPr lang="en"/>
              <a:t>Heapsort: Θ(N log N)</a:t>
            </a:r>
            <a:endParaRPr/>
          </a:p>
          <a:p>
            <a:pPr indent="-342900" lvl="0" marL="457200" rtl="0" algn="l">
              <a:spcBef>
                <a:spcPts val="0"/>
              </a:spcBef>
              <a:spcAft>
                <a:spcPts val="0"/>
              </a:spcAft>
              <a:buSzPts val="1800"/>
              <a:buAutoNum type="alphaUcPeriod"/>
            </a:pPr>
            <a:r>
              <a:rPr lang="en"/>
              <a:t>Mergesort:  Θ(N log N)</a:t>
            </a:r>
            <a:endParaRPr/>
          </a:p>
          <a:p>
            <a:pPr indent="-342900" lvl="0" marL="457200" rtl="0" algn="l">
              <a:spcBef>
                <a:spcPts val="0"/>
              </a:spcBef>
              <a:spcAft>
                <a:spcPts val="0"/>
              </a:spcAft>
              <a:buSzPts val="1800"/>
              <a:buAutoNum type="alphaUcPeriod"/>
            </a:pPr>
            <a:r>
              <a:rPr b="1" lang="en"/>
              <a:t>Insertion Sort:  Θ(N)</a:t>
            </a:r>
            <a:endParaRPr b="1"/>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2" name="Shape 1222"/>
        <p:cNvGrpSpPr/>
        <p:nvPr/>
      </p:nvGrpSpPr>
      <p:grpSpPr>
        <a:xfrm>
          <a:off x="0" y="0"/>
          <a:ext cx="0" cy="0"/>
          <a:chOff x="0" y="0"/>
          <a:chExt cx="0" cy="0"/>
        </a:xfrm>
      </p:grpSpPr>
      <p:sp>
        <p:nvSpPr>
          <p:cNvPr id="1223" name="Google Shape;1223;p8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Insertion Sort Sweet Spots</a:t>
            </a:r>
            <a:endParaRPr/>
          </a:p>
        </p:txBody>
      </p:sp>
      <p:sp>
        <p:nvSpPr>
          <p:cNvPr id="1224" name="Google Shape;1224;p81"/>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On arrays with a small number of inversions, insertion sort is extremely fast.</a:t>
            </a:r>
            <a:endParaRPr/>
          </a:p>
          <a:p>
            <a:pPr indent="-342900" lvl="0" marL="457200" rtl="0" algn="l">
              <a:spcBef>
                <a:spcPts val="600"/>
              </a:spcBef>
              <a:spcAft>
                <a:spcPts val="0"/>
              </a:spcAft>
              <a:buSzPts val="1800"/>
              <a:buChar char="●"/>
            </a:pPr>
            <a:r>
              <a:rPr lang="en"/>
              <a:t>One exchange per inversion (and number of comparisons is similar). Runtime is Θ(N + K) where K is number of inversions.</a:t>
            </a:r>
            <a:endParaRPr baseline="30000"/>
          </a:p>
          <a:p>
            <a:pPr indent="-342900" lvl="0" marL="457200" rtl="0" algn="l">
              <a:spcBef>
                <a:spcPts val="0"/>
              </a:spcBef>
              <a:spcAft>
                <a:spcPts val="0"/>
              </a:spcAft>
              <a:buSzPts val="1800"/>
              <a:buChar char="●"/>
            </a:pPr>
            <a:r>
              <a:rPr lang="en"/>
              <a:t>Define an </a:t>
            </a:r>
            <a:r>
              <a:rPr b="1" i="1" lang="en"/>
              <a:t>almost sorted</a:t>
            </a:r>
            <a:r>
              <a:rPr lang="en"/>
              <a:t> array as one in which number of inversions ≤ cN for some c. Insertion sort is excellent on these arrays.</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Less obvious: For small arrays (N &lt; 15 or so), insertion sort is fastest.</a:t>
            </a:r>
            <a:endParaRPr/>
          </a:p>
          <a:p>
            <a:pPr indent="-342900" lvl="0" marL="457200" rtl="0" algn="l">
              <a:spcBef>
                <a:spcPts val="600"/>
              </a:spcBef>
              <a:spcAft>
                <a:spcPts val="0"/>
              </a:spcAft>
              <a:buSzPts val="1800"/>
              <a:buChar char="●"/>
            </a:pPr>
            <a:r>
              <a:rPr lang="en"/>
              <a:t>More of an empirical fact than a theoretical one.</a:t>
            </a:r>
            <a:endParaRPr/>
          </a:p>
          <a:p>
            <a:pPr indent="-342900" lvl="0" marL="457200" rtl="0" algn="l">
              <a:spcBef>
                <a:spcPts val="0"/>
              </a:spcBef>
              <a:spcAft>
                <a:spcPts val="0"/>
              </a:spcAft>
              <a:buSzPts val="1800"/>
              <a:buChar char="●"/>
            </a:pPr>
            <a:r>
              <a:rPr lang="en"/>
              <a:t>Theoretical analysis beyond scope of the course.</a:t>
            </a:r>
            <a:endParaRPr/>
          </a:p>
          <a:p>
            <a:pPr indent="-342900" lvl="0" marL="457200" rtl="0" algn="l">
              <a:spcBef>
                <a:spcPts val="0"/>
              </a:spcBef>
              <a:spcAft>
                <a:spcPts val="0"/>
              </a:spcAft>
              <a:buSzPts val="1800"/>
              <a:buChar char="●"/>
            </a:pPr>
            <a:r>
              <a:rPr lang="en"/>
              <a:t>Rough idea: Divide and conquer algorithms like heapsort / mergesort spend too much time dividing, but insertion sort goes straight to the conquest.</a:t>
            </a:r>
            <a:endParaRPr/>
          </a:p>
          <a:p>
            <a:pPr indent="-342900" lvl="0" marL="457200" rtl="0" algn="l">
              <a:spcBef>
                <a:spcPts val="0"/>
              </a:spcBef>
              <a:spcAft>
                <a:spcPts val="0"/>
              </a:spcAft>
              <a:buSzPts val="1800"/>
              <a:buChar char="●"/>
            </a:pPr>
            <a:r>
              <a:rPr lang="en"/>
              <a:t>The Java implementation of Mergesort does this (</a:t>
            </a:r>
            <a:r>
              <a:rPr lang="en" u="sng">
                <a:solidFill>
                  <a:schemeClr val="hlink"/>
                </a:solidFill>
                <a:hlinkClick r:id="rId3"/>
              </a:rPr>
              <a:t>Link</a:t>
            </a:r>
            <a:r>
              <a:rPr lang="en"/>
              <a:t>).</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8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Sorts So Far</a:t>
            </a:r>
            <a:endParaRPr/>
          </a:p>
        </p:txBody>
      </p:sp>
      <p:graphicFrame>
        <p:nvGraphicFramePr>
          <p:cNvPr id="1230" name="Google Shape;1230;p82"/>
          <p:cNvGraphicFramePr/>
          <p:nvPr/>
        </p:nvGraphicFramePr>
        <p:xfrm>
          <a:off x="418075" y="1084538"/>
          <a:ext cx="3000000" cy="3000000"/>
        </p:xfrm>
        <a:graphic>
          <a:graphicData uri="http://schemas.openxmlformats.org/drawingml/2006/table">
            <a:tbl>
              <a:tblPr>
                <a:noFill/>
                <a:tableStyleId>{C55F59F9-F03C-4897-888D-DC2DF699074A}</a:tableStyleId>
              </a:tblPr>
              <a:tblGrid>
                <a:gridCol w="1749100"/>
                <a:gridCol w="1344650"/>
                <a:gridCol w="1375900"/>
                <a:gridCol w="900075"/>
                <a:gridCol w="884200"/>
                <a:gridCol w="2053875"/>
              </a:tblGrid>
              <a:tr h="681800">
                <a:tc>
                  <a:txBody>
                    <a:bodyPr/>
                    <a:lstStyle/>
                    <a:p>
                      <a:pPr indent="0" lvl="0" marL="0" rtl="0" algn="l">
                        <a:spcBef>
                          <a:spcPts val="0"/>
                        </a:spcBef>
                        <a:spcAft>
                          <a:spcPts val="0"/>
                        </a:spcAft>
                        <a:buNone/>
                      </a:pPr>
                      <a:r>
                        <a:t/>
                      </a:r>
                      <a:endParaRPr sz="1800"/>
                    </a:p>
                  </a:txBody>
                  <a:tcPr marT="91425" marB="91425" marR="91425" marL="91425"/>
                </a:tc>
                <a:tc>
                  <a:txBody>
                    <a:bodyPr/>
                    <a:lstStyle/>
                    <a:p>
                      <a:pPr indent="0" lvl="0" marL="0" rtl="0" algn="l">
                        <a:spcBef>
                          <a:spcPts val="0"/>
                        </a:spcBef>
                        <a:spcAft>
                          <a:spcPts val="0"/>
                        </a:spcAft>
                        <a:buNone/>
                      </a:pPr>
                      <a:r>
                        <a:rPr lang="en" sz="1800"/>
                        <a:t>Best Case Runtime</a:t>
                      </a:r>
                      <a:endParaRPr sz="1800"/>
                    </a:p>
                  </a:txBody>
                  <a:tcPr marT="91425" marB="91425" marR="91425" marL="91425"/>
                </a:tc>
                <a:tc>
                  <a:txBody>
                    <a:bodyPr/>
                    <a:lstStyle/>
                    <a:p>
                      <a:pPr indent="0" lvl="0" marL="0" rtl="0" algn="l">
                        <a:spcBef>
                          <a:spcPts val="0"/>
                        </a:spcBef>
                        <a:spcAft>
                          <a:spcPts val="0"/>
                        </a:spcAft>
                        <a:buNone/>
                      </a:pPr>
                      <a:r>
                        <a:rPr lang="en" sz="1800"/>
                        <a:t>Worst Case Runtime</a:t>
                      </a:r>
                      <a:endParaRPr sz="1800"/>
                    </a:p>
                  </a:txBody>
                  <a:tcPr marT="91425" marB="91425" marR="91425" marL="91425"/>
                </a:tc>
                <a:tc>
                  <a:txBody>
                    <a:bodyPr/>
                    <a:lstStyle/>
                    <a:p>
                      <a:pPr indent="0" lvl="0" marL="0" rtl="0" algn="l">
                        <a:spcBef>
                          <a:spcPts val="0"/>
                        </a:spcBef>
                        <a:spcAft>
                          <a:spcPts val="0"/>
                        </a:spcAft>
                        <a:buNone/>
                      </a:pPr>
                      <a:r>
                        <a:rPr lang="en" sz="1800"/>
                        <a:t>Space</a:t>
                      </a:r>
                      <a:endParaRPr sz="1800"/>
                    </a:p>
                  </a:txBody>
                  <a:tcPr marT="91425" marB="91425" marR="91425" marL="91425"/>
                </a:tc>
                <a:tc>
                  <a:txBody>
                    <a:bodyPr/>
                    <a:lstStyle/>
                    <a:p>
                      <a:pPr indent="0" lvl="0" marL="0" rtl="0" algn="l">
                        <a:spcBef>
                          <a:spcPts val="0"/>
                        </a:spcBef>
                        <a:spcAft>
                          <a:spcPts val="0"/>
                        </a:spcAft>
                        <a:buNone/>
                      </a:pPr>
                      <a:r>
                        <a:rPr lang="en" sz="1800"/>
                        <a:t>Demo</a:t>
                      </a:r>
                      <a:endParaRPr sz="1800"/>
                    </a:p>
                  </a:txBody>
                  <a:tcPr marT="91425" marB="91425" marR="91425" marL="91425"/>
                </a:tc>
                <a:tc>
                  <a:txBody>
                    <a:bodyPr/>
                    <a:lstStyle/>
                    <a:p>
                      <a:pPr indent="0" lvl="0" marL="0" rtl="0" algn="l">
                        <a:spcBef>
                          <a:spcPts val="0"/>
                        </a:spcBef>
                        <a:spcAft>
                          <a:spcPts val="0"/>
                        </a:spcAft>
                        <a:buNone/>
                      </a:pPr>
                      <a:r>
                        <a:rPr lang="en" sz="1800"/>
                        <a:t>Notes</a:t>
                      </a:r>
                      <a:endParaRPr sz="1800"/>
                    </a:p>
                  </a:txBody>
                  <a:tcPr marT="91425" marB="91425" marR="91425" marL="91425"/>
                </a:tc>
              </a:tr>
              <a:tr h="317800">
                <a:tc>
                  <a:txBody>
                    <a:bodyPr/>
                    <a:lstStyle/>
                    <a:p>
                      <a:pPr indent="0" lvl="0" marL="0" rtl="0" algn="l">
                        <a:spcBef>
                          <a:spcPts val="0"/>
                        </a:spcBef>
                        <a:spcAft>
                          <a:spcPts val="0"/>
                        </a:spcAft>
                        <a:buNone/>
                      </a:pPr>
                      <a:r>
                        <a:rPr lang="en" sz="1800" u="sng">
                          <a:solidFill>
                            <a:schemeClr val="hlink"/>
                          </a:solidFill>
                          <a:hlinkClick r:id="rId3"/>
                        </a:rPr>
                        <a:t>Selection Sort</a:t>
                      </a:r>
                      <a:endParaRPr sz="1800"/>
                    </a:p>
                  </a:txBody>
                  <a:tcPr marT="91425" marB="91425" marR="91425" marL="91425"/>
                </a:tc>
                <a:tc>
                  <a:txBody>
                    <a:bodyPr/>
                    <a:lstStyle/>
                    <a:p>
                      <a:pPr indent="0" lvl="0" marL="0" rtl="0" algn="l">
                        <a:spcBef>
                          <a:spcPts val="0"/>
                        </a:spcBef>
                        <a:spcAft>
                          <a:spcPts val="0"/>
                        </a:spcAft>
                        <a:buNone/>
                      </a:pPr>
                      <a:r>
                        <a:rPr lang="en" sz="1800">
                          <a:solidFill>
                            <a:schemeClr val="dk1"/>
                          </a:solidFill>
                        </a:rPr>
                        <a:t>Θ(N</a:t>
                      </a:r>
                      <a:r>
                        <a:rPr baseline="30000" lang="en" sz="1800">
                          <a:solidFill>
                            <a:schemeClr val="dk1"/>
                          </a:solidFill>
                        </a:rPr>
                        <a:t>2</a:t>
                      </a:r>
                      <a:r>
                        <a:rPr lang="en" sz="1800">
                          <a:solidFill>
                            <a:schemeClr val="dk1"/>
                          </a:solidFill>
                        </a:rPr>
                        <a:t>)</a:t>
                      </a:r>
                      <a:endParaRPr sz="1800"/>
                    </a:p>
                  </a:txBody>
                  <a:tcPr marT="91425" marB="91425" marR="91425" marL="91425"/>
                </a:tc>
                <a:tc>
                  <a:txBody>
                    <a:bodyPr/>
                    <a:lstStyle/>
                    <a:p>
                      <a:pPr indent="0" lvl="0" marL="0" rtl="0" algn="l">
                        <a:spcBef>
                          <a:spcPts val="0"/>
                        </a:spcBef>
                        <a:spcAft>
                          <a:spcPts val="0"/>
                        </a:spcAft>
                        <a:buNone/>
                      </a:pPr>
                      <a:r>
                        <a:rPr lang="en" sz="1800"/>
                        <a:t>Θ(N</a:t>
                      </a:r>
                      <a:r>
                        <a:rPr baseline="30000" lang="en" sz="1800"/>
                        <a:t>2</a:t>
                      </a:r>
                      <a:r>
                        <a:rPr lang="en" sz="1800"/>
                        <a:t>)</a:t>
                      </a:r>
                      <a:endParaRPr sz="1800"/>
                    </a:p>
                  </a:txBody>
                  <a:tcPr marT="91425" marB="91425" marR="91425" marL="91425"/>
                </a:tc>
                <a:tc>
                  <a:txBody>
                    <a:bodyPr/>
                    <a:lstStyle/>
                    <a:p>
                      <a:pPr indent="0" lvl="0" marL="0" rtl="0" algn="l">
                        <a:spcBef>
                          <a:spcPts val="0"/>
                        </a:spcBef>
                        <a:spcAft>
                          <a:spcPts val="0"/>
                        </a:spcAft>
                        <a:buNone/>
                      </a:pPr>
                      <a:r>
                        <a:rPr lang="en" sz="1800"/>
                        <a:t>Θ(1)</a:t>
                      </a:r>
                      <a:endParaRPr sz="1800"/>
                    </a:p>
                  </a:txBody>
                  <a:tcPr marT="91425" marB="91425" marR="91425" marL="91425"/>
                </a:tc>
                <a:tc>
                  <a:txBody>
                    <a:bodyPr/>
                    <a:lstStyle/>
                    <a:p>
                      <a:pPr indent="0" lvl="0" marL="0" rtl="0" algn="l">
                        <a:spcBef>
                          <a:spcPts val="0"/>
                        </a:spcBef>
                        <a:spcAft>
                          <a:spcPts val="0"/>
                        </a:spcAft>
                        <a:buNone/>
                      </a:pPr>
                      <a:r>
                        <a:rPr lang="en" sz="1800" u="sng">
                          <a:solidFill>
                            <a:schemeClr val="hlink"/>
                          </a:solidFill>
                          <a:hlinkClick/>
                        </a:rPr>
                        <a:t>Link</a:t>
                      </a:r>
                      <a:endParaRPr sz="1800"/>
                    </a:p>
                  </a:txBody>
                  <a:tcPr marT="91425" marB="91425" marR="91425" marL="91425"/>
                </a:tc>
                <a:tc>
                  <a:txBody>
                    <a:bodyPr/>
                    <a:lstStyle/>
                    <a:p>
                      <a:pPr indent="0" lvl="0" marL="0" rtl="0" algn="l">
                        <a:spcBef>
                          <a:spcPts val="0"/>
                        </a:spcBef>
                        <a:spcAft>
                          <a:spcPts val="0"/>
                        </a:spcAft>
                        <a:buNone/>
                      </a:pPr>
                      <a:r>
                        <a:t/>
                      </a:r>
                      <a:endParaRPr sz="1800"/>
                    </a:p>
                  </a:txBody>
                  <a:tcPr marT="91425" marB="91425" marR="91425" marL="91425"/>
                </a:tc>
              </a:tr>
              <a:tr h="425675">
                <a:tc>
                  <a:txBody>
                    <a:bodyPr/>
                    <a:lstStyle/>
                    <a:p>
                      <a:pPr indent="0" lvl="0" marL="0" rtl="0" algn="l">
                        <a:spcBef>
                          <a:spcPts val="0"/>
                        </a:spcBef>
                        <a:spcAft>
                          <a:spcPts val="0"/>
                        </a:spcAft>
                        <a:buNone/>
                      </a:pPr>
                      <a:r>
                        <a:rPr lang="en" sz="1800" u="sng">
                          <a:solidFill>
                            <a:schemeClr val="hlink"/>
                          </a:solidFill>
                          <a:hlinkClick r:id="rId4"/>
                        </a:rPr>
                        <a:t>Heapsort</a:t>
                      </a:r>
                      <a:r>
                        <a:rPr lang="en" sz="1800"/>
                        <a:t> </a:t>
                      </a:r>
                      <a:endParaRPr sz="1800"/>
                    </a:p>
                    <a:p>
                      <a:pPr indent="0" lvl="0" marL="0" rtl="0" algn="l">
                        <a:spcBef>
                          <a:spcPts val="0"/>
                        </a:spcBef>
                        <a:spcAft>
                          <a:spcPts val="0"/>
                        </a:spcAft>
                        <a:buNone/>
                      </a:pPr>
                      <a:r>
                        <a:rPr lang="en" sz="1800"/>
                        <a:t>(in place)</a:t>
                      </a:r>
                      <a:endParaRPr sz="1800"/>
                    </a:p>
                  </a:txBody>
                  <a:tcPr marT="91425" marB="91425" marR="91425" marL="91425"/>
                </a:tc>
                <a:tc>
                  <a:txBody>
                    <a:bodyPr/>
                    <a:lstStyle/>
                    <a:p>
                      <a:pPr indent="0" lvl="0" marL="0" rtl="0" algn="l">
                        <a:spcBef>
                          <a:spcPts val="0"/>
                        </a:spcBef>
                        <a:spcAft>
                          <a:spcPts val="0"/>
                        </a:spcAft>
                        <a:buNone/>
                      </a:pPr>
                      <a:r>
                        <a:rPr lang="en" sz="1800">
                          <a:solidFill>
                            <a:schemeClr val="dk1"/>
                          </a:solidFill>
                        </a:rPr>
                        <a:t>Θ(N)*</a:t>
                      </a:r>
                      <a:endParaRPr sz="1800"/>
                    </a:p>
                  </a:txBody>
                  <a:tcPr marT="91425" marB="91425" marR="91425" marL="91425"/>
                </a:tc>
                <a:tc>
                  <a:txBody>
                    <a:bodyPr/>
                    <a:lstStyle/>
                    <a:p>
                      <a:pPr indent="0" lvl="0" marL="0" rtl="0" algn="l">
                        <a:spcBef>
                          <a:spcPts val="0"/>
                        </a:spcBef>
                        <a:spcAft>
                          <a:spcPts val="0"/>
                        </a:spcAft>
                        <a:buNone/>
                      </a:pPr>
                      <a:r>
                        <a:rPr lang="en" sz="1800"/>
                        <a:t>Θ(N log N)</a:t>
                      </a:r>
                      <a:endParaRPr sz="1800"/>
                    </a:p>
                  </a:txBody>
                  <a:tcPr marT="91425" marB="91425" marR="91425" marL="91425"/>
                </a:tc>
                <a:tc>
                  <a:txBody>
                    <a:bodyPr/>
                    <a:lstStyle/>
                    <a:p>
                      <a:pPr indent="0" lvl="0" marL="0" rtl="0" algn="l">
                        <a:spcBef>
                          <a:spcPts val="0"/>
                        </a:spcBef>
                        <a:spcAft>
                          <a:spcPts val="0"/>
                        </a:spcAft>
                        <a:buNone/>
                      </a:pPr>
                      <a:r>
                        <a:rPr lang="en" sz="1800"/>
                        <a:t>Θ(1)</a:t>
                      </a:r>
                      <a:endParaRPr sz="1800"/>
                    </a:p>
                  </a:txBody>
                  <a:tcPr marT="91425" marB="91425" marR="91425" marL="91425"/>
                </a:tc>
                <a:tc>
                  <a:txBody>
                    <a:bodyPr/>
                    <a:lstStyle/>
                    <a:p>
                      <a:pPr indent="0" lvl="0" marL="0" rtl="0" algn="l">
                        <a:spcBef>
                          <a:spcPts val="0"/>
                        </a:spcBef>
                        <a:spcAft>
                          <a:spcPts val="0"/>
                        </a:spcAft>
                        <a:buNone/>
                      </a:pPr>
                      <a:r>
                        <a:rPr lang="en" sz="1800" u="sng">
                          <a:solidFill>
                            <a:schemeClr val="hlink"/>
                          </a:solidFill>
                          <a:hlinkClick/>
                        </a:rPr>
                        <a:t>Link</a:t>
                      </a:r>
                      <a:endParaRPr sz="1800"/>
                    </a:p>
                  </a:txBody>
                  <a:tcPr marT="91425" marB="91425" marR="91425" marL="91425"/>
                </a:tc>
                <a:tc>
                  <a:txBody>
                    <a:bodyPr/>
                    <a:lstStyle/>
                    <a:p>
                      <a:pPr indent="0" lvl="0" marL="0" rtl="0" algn="l">
                        <a:spcBef>
                          <a:spcPts val="0"/>
                        </a:spcBef>
                        <a:spcAft>
                          <a:spcPts val="0"/>
                        </a:spcAft>
                        <a:buNone/>
                      </a:pPr>
                      <a:r>
                        <a:rPr lang="en" sz="1800">
                          <a:solidFill>
                            <a:schemeClr val="dk1"/>
                          </a:solidFill>
                        </a:rPr>
                        <a:t>Bad cache (61C) performance.</a:t>
                      </a:r>
                      <a:endParaRPr sz="1800"/>
                    </a:p>
                  </a:txBody>
                  <a:tcPr marT="91425" marB="91425" marR="91425" marL="91425"/>
                </a:tc>
              </a:tr>
              <a:tr h="425675">
                <a:tc>
                  <a:txBody>
                    <a:bodyPr/>
                    <a:lstStyle/>
                    <a:p>
                      <a:pPr indent="0" lvl="0" marL="0" rtl="0" algn="l">
                        <a:spcBef>
                          <a:spcPts val="0"/>
                        </a:spcBef>
                        <a:spcAft>
                          <a:spcPts val="0"/>
                        </a:spcAft>
                        <a:buNone/>
                      </a:pPr>
                      <a:r>
                        <a:rPr lang="en" sz="1800" u="sng">
                          <a:solidFill>
                            <a:schemeClr val="hlink"/>
                          </a:solidFill>
                          <a:hlinkClick r:id="rId5"/>
                        </a:rPr>
                        <a:t>Mergesort</a:t>
                      </a:r>
                      <a:endParaRPr sz="1800"/>
                    </a:p>
                  </a:txBody>
                  <a:tcPr marT="91425" marB="91425" marR="91425" marL="91425"/>
                </a:tc>
                <a:tc>
                  <a:txBody>
                    <a:bodyPr/>
                    <a:lstStyle/>
                    <a:p>
                      <a:pPr indent="0" lvl="0" marL="0" rtl="0" algn="l">
                        <a:spcBef>
                          <a:spcPts val="0"/>
                        </a:spcBef>
                        <a:spcAft>
                          <a:spcPts val="0"/>
                        </a:spcAft>
                        <a:buNone/>
                      </a:pPr>
                      <a:r>
                        <a:rPr lang="en" sz="1800">
                          <a:solidFill>
                            <a:schemeClr val="dk1"/>
                          </a:solidFill>
                        </a:rPr>
                        <a:t>Θ(N log N)</a:t>
                      </a:r>
                      <a:endParaRPr sz="1800">
                        <a:solidFill>
                          <a:schemeClr val="dk1"/>
                        </a:solidFill>
                      </a:endParaRPr>
                    </a:p>
                  </a:txBody>
                  <a:tcPr marT="91425" marB="91425" marR="91425" marL="91425"/>
                </a:tc>
                <a:tc>
                  <a:txBody>
                    <a:bodyPr/>
                    <a:lstStyle/>
                    <a:p>
                      <a:pPr indent="0" lvl="0" marL="0" rtl="0" algn="l">
                        <a:spcBef>
                          <a:spcPts val="0"/>
                        </a:spcBef>
                        <a:spcAft>
                          <a:spcPts val="0"/>
                        </a:spcAft>
                        <a:buNone/>
                      </a:pPr>
                      <a:r>
                        <a:rPr lang="en" sz="1800"/>
                        <a:t>Θ(N log N)</a:t>
                      </a:r>
                      <a:endParaRPr sz="1800"/>
                    </a:p>
                  </a:txBody>
                  <a:tcPr marT="91425" marB="91425" marR="91425" marL="91425"/>
                </a:tc>
                <a:tc>
                  <a:txBody>
                    <a:bodyPr/>
                    <a:lstStyle/>
                    <a:p>
                      <a:pPr indent="0" lvl="0" marL="0" rtl="0" algn="l">
                        <a:spcBef>
                          <a:spcPts val="0"/>
                        </a:spcBef>
                        <a:spcAft>
                          <a:spcPts val="0"/>
                        </a:spcAft>
                        <a:buNone/>
                      </a:pPr>
                      <a:r>
                        <a:rPr lang="en" sz="1800"/>
                        <a:t>Θ(N)</a:t>
                      </a:r>
                      <a:endParaRPr sz="1800"/>
                    </a:p>
                  </a:txBody>
                  <a:tcPr marT="91425" marB="91425" marR="91425" marL="91425"/>
                </a:tc>
                <a:tc>
                  <a:txBody>
                    <a:bodyPr/>
                    <a:lstStyle/>
                    <a:p>
                      <a:pPr indent="0" lvl="0" marL="0" rtl="0" algn="l">
                        <a:spcBef>
                          <a:spcPts val="0"/>
                        </a:spcBef>
                        <a:spcAft>
                          <a:spcPts val="0"/>
                        </a:spcAft>
                        <a:buNone/>
                      </a:pPr>
                      <a:r>
                        <a:rPr lang="en" sz="1800" u="sng">
                          <a:solidFill>
                            <a:schemeClr val="hlink"/>
                          </a:solidFill>
                          <a:hlinkClick/>
                        </a:rPr>
                        <a:t>Link</a:t>
                      </a:r>
                      <a:endParaRPr sz="1800"/>
                    </a:p>
                  </a:txBody>
                  <a:tcPr marT="91425" marB="91425" marR="91425" marL="91425"/>
                </a:tc>
                <a:tc>
                  <a:txBody>
                    <a:bodyPr/>
                    <a:lstStyle/>
                    <a:p>
                      <a:pPr indent="0" lvl="0" marL="0" rtl="0" algn="l">
                        <a:spcBef>
                          <a:spcPts val="0"/>
                        </a:spcBef>
                        <a:spcAft>
                          <a:spcPts val="0"/>
                        </a:spcAft>
                        <a:buNone/>
                      </a:pPr>
                      <a:r>
                        <a:rPr lang="en" sz="1800">
                          <a:solidFill>
                            <a:schemeClr val="dk1"/>
                          </a:solidFill>
                        </a:rPr>
                        <a:t>Fastest of these.</a:t>
                      </a:r>
                      <a:endParaRPr sz="1800">
                        <a:solidFill>
                          <a:schemeClr val="dk1"/>
                        </a:solidFill>
                      </a:endParaRPr>
                    </a:p>
                  </a:txBody>
                  <a:tcPr marT="91425" marB="91425" marR="91425" marL="91425"/>
                </a:tc>
              </a:tr>
              <a:tr h="425675">
                <a:tc>
                  <a:txBody>
                    <a:bodyPr/>
                    <a:lstStyle/>
                    <a:p>
                      <a:pPr indent="0" lvl="0" marL="0" rtl="0" algn="l">
                        <a:spcBef>
                          <a:spcPts val="0"/>
                        </a:spcBef>
                        <a:spcAft>
                          <a:spcPts val="0"/>
                        </a:spcAft>
                        <a:buNone/>
                      </a:pPr>
                      <a:r>
                        <a:rPr lang="en" sz="1800" u="sng">
                          <a:solidFill>
                            <a:schemeClr val="hlink"/>
                          </a:solidFill>
                          <a:hlinkClick r:id="rId6"/>
                        </a:rPr>
                        <a:t>Insertion Sort</a:t>
                      </a:r>
                      <a:r>
                        <a:rPr lang="en" sz="1800"/>
                        <a:t> (in place)</a:t>
                      </a:r>
                      <a:endParaRPr sz="1800"/>
                    </a:p>
                  </a:txBody>
                  <a:tcPr marT="91425" marB="91425" marR="91425" marL="91425"/>
                </a:tc>
                <a:tc>
                  <a:txBody>
                    <a:bodyPr/>
                    <a:lstStyle/>
                    <a:p>
                      <a:pPr indent="0" lvl="0" marL="0" rtl="0" algn="l">
                        <a:spcBef>
                          <a:spcPts val="0"/>
                        </a:spcBef>
                        <a:spcAft>
                          <a:spcPts val="0"/>
                        </a:spcAft>
                        <a:buNone/>
                      </a:pPr>
                      <a:r>
                        <a:rPr lang="en" sz="1800">
                          <a:solidFill>
                            <a:schemeClr val="dk1"/>
                          </a:solidFill>
                        </a:rPr>
                        <a:t>Θ(N)</a:t>
                      </a:r>
                      <a:endParaRPr sz="1800">
                        <a:solidFill>
                          <a:schemeClr val="dk1"/>
                        </a:solidFill>
                      </a:endParaRPr>
                    </a:p>
                  </a:txBody>
                  <a:tcPr marT="91425" marB="91425" marR="91425" marL="91425"/>
                </a:tc>
                <a:tc>
                  <a:txBody>
                    <a:bodyPr/>
                    <a:lstStyle/>
                    <a:p>
                      <a:pPr indent="0" lvl="0" marL="0" rtl="0" algn="l">
                        <a:spcBef>
                          <a:spcPts val="0"/>
                        </a:spcBef>
                        <a:spcAft>
                          <a:spcPts val="0"/>
                        </a:spcAft>
                        <a:buNone/>
                      </a:pPr>
                      <a:r>
                        <a:rPr lang="en" sz="1800">
                          <a:solidFill>
                            <a:schemeClr val="dk1"/>
                          </a:solidFill>
                        </a:rPr>
                        <a:t>Θ(N</a:t>
                      </a:r>
                      <a:r>
                        <a:rPr baseline="30000" lang="en" sz="1800">
                          <a:solidFill>
                            <a:schemeClr val="dk1"/>
                          </a:solidFill>
                        </a:rPr>
                        <a:t>2</a:t>
                      </a:r>
                      <a:r>
                        <a:rPr lang="en" sz="1800">
                          <a:solidFill>
                            <a:schemeClr val="dk1"/>
                          </a:solidFill>
                        </a:rPr>
                        <a:t>)</a:t>
                      </a:r>
                      <a:endParaRPr sz="1800"/>
                    </a:p>
                  </a:txBody>
                  <a:tcPr marT="91425" marB="91425" marR="91425" marL="91425"/>
                </a:tc>
                <a:tc>
                  <a:txBody>
                    <a:bodyPr/>
                    <a:lstStyle/>
                    <a:p>
                      <a:pPr indent="0" lvl="0" marL="0" rtl="0" algn="l">
                        <a:spcBef>
                          <a:spcPts val="0"/>
                        </a:spcBef>
                        <a:spcAft>
                          <a:spcPts val="0"/>
                        </a:spcAft>
                        <a:buNone/>
                      </a:pPr>
                      <a:r>
                        <a:rPr lang="en" sz="1800">
                          <a:solidFill>
                            <a:schemeClr val="dk1"/>
                          </a:solidFill>
                        </a:rPr>
                        <a:t>Θ(1)</a:t>
                      </a:r>
                      <a:endParaRPr sz="1800"/>
                    </a:p>
                  </a:txBody>
                  <a:tcPr marT="91425" marB="91425" marR="91425" marL="91425"/>
                </a:tc>
                <a:tc>
                  <a:txBody>
                    <a:bodyPr/>
                    <a:lstStyle/>
                    <a:p>
                      <a:pPr indent="0" lvl="0" marL="0" rtl="0" algn="l">
                        <a:spcBef>
                          <a:spcPts val="0"/>
                        </a:spcBef>
                        <a:spcAft>
                          <a:spcPts val="0"/>
                        </a:spcAft>
                        <a:buNone/>
                      </a:pPr>
                      <a:r>
                        <a:rPr lang="en" sz="1800" u="sng">
                          <a:solidFill>
                            <a:schemeClr val="hlink"/>
                          </a:solidFill>
                          <a:hlinkClick action="ppaction://hlinksldjump" r:id="rId7"/>
                        </a:rPr>
                        <a:t>Link</a:t>
                      </a:r>
                      <a:endParaRPr sz="1800"/>
                    </a:p>
                  </a:txBody>
                  <a:tcPr marT="91425" marB="91425" marR="91425" marL="91425"/>
                </a:tc>
                <a:tc>
                  <a:txBody>
                    <a:bodyPr/>
                    <a:lstStyle/>
                    <a:p>
                      <a:pPr indent="0" lvl="0" marL="0" rtl="0" algn="l">
                        <a:spcBef>
                          <a:spcPts val="0"/>
                        </a:spcBef>
                        <a:spcAft>
                          <a:spcPts val="0"/>
                        </a:spcAft>
                        <a:buNone/>
                      </a:pPr>
                      <a:r>
                        <a:rPr lang="en" sz="1800"/>
                        <a:t>Best for small N or almost sorted. </a:t>
                      </a:r>
                      <a:endParaRPr sz="1800"/>
                    </a:p>
                  </a:txBody>
                  <a:tcPr marT="91425" marB="91425" marR="91425" marL="91425"/>
                </a:tc>
              </a:tr>
            </a:tbl>
          </a:graphicData>
        </a:graphic>
      </p:graphicFrame>
      <p:sp>
        <p:nvSpPr>
          <p:cNvPr id="1231" name="Google Shape;1231;p82"/>
          <p:cNvSpPr txBox="1"/>
          <p:nvPr/>
        </p:nvSpPr>
        <p:spPr>
          <a:xfrm>
            <a:off x="418075" y="4332500"/>
            <a:ext cx="4192800" cy="633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latin typeface="Roboto"/>
                <a:ea typeface="Roboto"/>
                <a:cs typeface="Roboto"/>
                <a:sym typeface="Roboto"/>
              </a:rPr>
              <a:t>See </a:t>
            </a:r>
            <a:r>
              <a:rPr lang="en" u="sng">
                <a:solidFill>
                  <a:schemeClr val="hlink"/>
                </a:solidFill>
                <a:latin typeface="Roboto"/>
                <a:ea typeface="Roboto"/>
                <a:cs typeface="Roboto"/>
                <a:sym typeface="Roboto"/>
                <a:hlinkClick r:id="rId8"/>
              </a:rPr>
              <a:t>this link</a:t>
            </a:r>
            <a:r>
              <a:rPr lang="en">
                <a:latin typeface="Roboto"/>
                <a:ea typeface="Roboto"/>
                <a:cs typeface="Roboto"/>
                <a:sym typeface="Roboto"/>
              </a:rPr>
              <a:t> for bonus slides on Shell's Sort, an optimization of insertion sort.</a:t>
            </a:r>
            <a:endParaRPr>
              <a:latin typeface="Roboto"/>
              <a:ea typeface="Roboto"/>
              <a:cs typeface="Roboto"/>
              <a:sym typeface="Roboto"/>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5" name="Shape 1235"/>
        <p:cNvGrpSpPr/>
        <p:nvPr/>
      </p:nvGrpSpPr>
      <p:grpSpPr>
        <a:xfrm>
          <a:off x="0" y="0"/>
          <a:ext cx="0" cy="0"/>
          <a:chOff x="0" y="0"/>
          <a:chExt cx="0" cy="0"/>
        </a:xfrm>
      </p:grpSpPr>
      <p:sp>
        <p:nvSpPr>
          <p:cNvPr id="1236" name="Google Shape;1236;p83"/>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30, CS61B, Fall 2023</a:t>
            </a:r>
            <a:endParaRPr/>
          </a:p>
        </p:txBody>
      </p:sp>
      <p:sp>
        <p:nvSpPr>
          <p:cNvPr id="1237" name="Google Shape;1237;p83"/>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Clr>
                <a:schemeClr val="dk1"/>
              </a:buClr>
              <a:buSzPts val="1100"/>
              <a:buFont typeface="Arial"/>
              <a:buNone/>
            </a:pPr>
            <a:r>
              <a:rPr lang="en"/>
              <a:t>Insertion Sort</a:t>
            </a:r>
            <a:endParaRPr/>
          </a:p>
          <a:p>
            <a:pPr indent="-342900" lvl="0" marL="457200" rtl="0" algn="l">
              <a:spcBef>
                <a:spcPts val="600"/>
              </a:spcBef>
              <a:spcAft>
                <a:spcPts val="0"/>
              </a:spcAft>
              <a:buSzPts val="1800"/>
              <a:buChar char="•"/>
            </a:pPr>
            <a:r>
              <a:rPr lang="en"/>
              <a:t>Naive Insertion Sort</a:t>
            </a:r>
            <a:endParaRPr/>
          </a:p>
          <a:p>
            <a:pPr indent="-342900" lvl="0" marL="457200" rtl="0" algn="l">
              <a:spcBef>
                <a:spcPts val="0"/>
              </a:spcBef>
              <a:spcAft>
                <a:spcPts val="0"/>
              </a:spcAft>
              <a:buSzPts val="1800"/>
              <a:buChar char="•"/>
            </a:pPr>
            <a:r>
              <a:rPr lang="en"/>
              <a:t>In-Place Insertion Sort</a:t>
            </a:r>
            <a:endParaRPr/>
          </a:p>
          <a:p>
            <a:pPr indent="-342900" lvl="0" marL="457200" rtl="0" algn="l">
              <a:spcBef>
                <a:spcPts val="0"/>
              </a:spcBef>
              <a:spcAft>
                <a:spcPts val="0"/>
              </a:spcAft>
              <a:buSzPts val="1800"/>
              <a:buChar char="•"/>
            </a:pPr>
            <a:r>
              <a:rPr lang="en"/>
              <a:t>Insertion Sort Runtime</a:t>
            </a:r>
            <a:endParaRPr/>
          </a:p>
          <a:p>
            <a:pPr indent="0" lvl="0" marL="0" rtl="0" algn="l">
              <a:spcBef>
                <a:spcPts val="600"/>
              </a:spcBef>
              <a:spcAft>
                <a:spcPts val="0"/>
              </a:spcAft>
              <a:buNone/>
            </a:pPr>
            <a:r>
              <a:rPr b="1" lang="en">
                <a:solidFill>
                  <a:schemeClr val="accent3"/>
                </a:solidFill>
                <a:latin typeface="Roboto"/>
                <a:ea typeface="Roboto"/>
                <a:cs typeface="Roboto"/>
                <a:sym typeface="Roboto"/>
              </a:rPr>
              <a:t>Quicksort</a:t>
            </a:r>
            <a:endParaRPr b="1">
              <a:solidFill>
                <a:schemeClr val="accent3"/>
              </a:solidFill>
              <a:latin typeface="Roboto"/>
              <a:ea typeface="Roboto"/>
              <a:cs typeface="Roboto"/>
              <a:sym typeface="Roboto"/>
            </a:endParaRPr>
          </a:p>
          <a:p>
            <a:pPr indent="-342900" lvl="0" marL="457200" rtl="0" algn="l">
              <a:spcBef>
                <a:spcPts val="600"/>
              </a:spcBef>
              <a:spcAft>
                <a:spcPts val="0"/>
              </a:spcAft>
              <a:buClr>
                <a:schemeClr val="accent3"/>
              </a:buClr>
              <a:buSzPts val="1800"/>
              <a:buFont typeface="Roboto"/>
              <a:buChar char="•"/>
            </a:pPr>
            <a:r>
              <a:rPr b="1" lang="en">
                <a:solidFill>
                  <a:schemeClr val="accent3"/>
                </a:solidFill>
                <a:latin typeface="Roboto"/>
                <a:ea typeface="Roboto"/>
                <a:cs typeface="Roboto"/>
                <a:sym typeface="Roboto"/>
              </a:rPr>
              <a:t>Quicksort Backstory, Partitioning</a:t>
            </a:r>
            <a:endParaRPr b="1">
              <a:solidFill>
                <a:schemeClr val="accent3"/>
              </a:solidFill>
              <a:latin typeface="Roboto"/>
              <a:ea typeface="Roboto"/>
              <a:cs typeface="Roboto"/>
              <a:sym typeface="Roboto"/>
            </a:endParaRPr>
          </a:p>
          <a:p>
            <a:pPr indent="-342900" lvl="0" marL="457200" rtl="0" algn="l">
              <a:spcBef>
                <a:spcPts val="0"/>
              </a:spcBef>
              <a:spcAft>
                <a:spcPts val="0"/>
              </a:spcAft>
              <a:buSzPts val="1800"/>
              <a:buChar char="•"/>
            </a:pPr>
            <a:r>
              <a:rPr lang="en"/>
              <a:t>Quicksort</a:t>
            </a:r>
            <a:endParaRPr/>
          </a:p>
          <a:p>
            <a:pPr indent="0" lvl="0" marL="0" rtl="0" algn="l">
              <a:spcBef>
                <a:spcPts val="600"/>
              </a:spcBef>
              <a:spcAft>
                <a:spcPts val="0"/>
              </a:spcAft>
              <a:buNone/>
            </a:pPr>
            <a:r>
              <a:rPr lang="en"/>
              <a:t>Quicksort Performance</a:t>
            </a:r>
            <a:endParaRPr/>
          </a:p>
          <a:p>
            <a:pPr indent="-342900" lvl="0" marL="457200" rtl="0" algn="l">
              <a:spcBef>
                <a:spcPts val="600"/>
              </a:spcBef>
              <a:spcAft>
                <a:spcPts val="0"/>
              </a:spcAft>
              <a:buSzPts val="1800"/>
              <a:buChar char="•"/>
            </a:pPr>
            <a:r>
              <a:rPr lang="en"/>
              <a:t>Quicksort Runtime Analysis</a:t>
            </a:r>
            <a:endParaRPr/>
          </a:p>
          <a:p>
            <a:pPr indent="-342900" lvl="0" marL="457200" rtl="0" algn="l">
              <a:spcBef>
                <a:spcPts val="0"/>
              </a:spcBef>
              <a:spcAft>
                <a:spcPts val="0"/>
              </a:spcAft>
              <a:buSzPts val="1800"/>
              <a:buChar char="•"/>
            </a:pPr>
            <a:r>
              <a:rPr lang="en"/>
              <a:t>Avoiding Quicksort Worst Case</a:t>
            </a:r>
            <a:endParaRPr/>
          </a:p>
        </p:txBody>
      </p:sp>
      <p:sp>
        <p:nvSpPr>
          <p:cNvPr id="1238" name="Google Shape;1238;p83"/>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Quicksort Backstory, Partitioning</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2" name="Shape 1242"/>
        <p:cNvGrpSpPr/>
        <p:nvPr/>
      </p:nvGrpSpPr>
      <p:grpSpPr>
        <a:xfrm>
          <a:off x="0" y="0"/>
          <a:ext cx="0" cy="0"/>
          <a:chOff x="0" y="0"/>
          <a:chExt cx="0" cy="0"/>
        </a:xfrm>
      </p:grpSpPr>
      <p:sp>
        <p:nvSpPr>
          <p:cNvPr id="1243" name="Google Shape;1243;p8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Sorts So Far</a:t>
            </a:r>
            <a:endParaRPr/>
          </a:p>
        </p:txBody>
      </p:sp>
      <p:graphicFrame>
        <p:nvGraphicFramePr>
          <p:cNvPr id="1244" name="Google Shape;1244;p84"/>
          <p:cNvGraphicFramePr/>
          <p:nvPr/>
        </p:nvGraphicFramePr>
        <p:xfrm>
          <a:off x="418075" y="1084538"/>
          <a:ext cx="3000000" cy="3000000"/>
        </p:xfrm>
        <a:graphic>
          <a:graphicData uri="http://schemas.openxmlformats.org/drawingml/2006/table">
            <a:tbl>
              <a:tblPr>
                <a:noFill/>
                <a:tableStyleId>{C55F59F9-F03C-4897-888D-DC2DF699074A}</a:tableStyleId>
              </a:tblPr>
              <a:tblGrid>
                <a:gridCol w="1749100"/>
                <a:gridCol w="1344650"/>
                <a:gridCol w="1375900"/>
                <a:gridCol w="900075"/>
                <a:gridCol w="884200"/>
                <a:gridCol w="2053875"/>
              </a:tblGrid>
              <a:tr h="681800">
                <a:tc>
                  <a:txBody>
                    <a:bodyPr/>
                    <a:lstStyle/>
                    <a:p>
                      <a:pPr indent="0" lvl="0" marL="0" rtl="0" algn="l">
                        <a:spcBef>
                          <a:spcPts val="0"/>
                        </a:spcBef>
                        <a:spcAft>
                          <a:spcPts val="0"/>
                        </a:spcAft>
                        <a:buNone/>
                      </a:pPr>
                      <a:r>
                        <a:t/>
                      </a:r>
                      <a:endParaRPr sz="1800"/>
                    </a:p>
                  </a:txBody>
                  <a:tcPr marT="91425" marB="91425" marR="91425" marL="91425"/>
                </a:tc>
                <a:tc>
                  <a:txBody>
                    <a:bodyPr/>
                    <a:lstStyle/>
                    <a:p>
                      <a:pPr indent="0" lvl="0" marL="0" rtl="0" algn="l">
                        <a:spcBef>
                          <a:spcPts val="0"/>
                        </a:spcBef>
                        <a:spcAft>
                          <a:spcPts val="0"/>
                        </a:spcAft>
                        <a:buNone/>
                      </a:pPr>
                      <a:r>
                        <a:rPr lang="en" sz="1800"/>
                        <a:t>Best Case Runtime</a:t>
                      </a:r>
                      <a:endParaRPr sz="1800"/>
                    </a:p>
                  </a:txBody>
                  <a:tcPr marT="91425" marB="91425" marR="91425" marL="91425"/>
                </a:tc>
                <a:tc>
                  <a:txBody>
                    <a:bodyPr/>
                    <a:lstStyle/>
                    <a:p>
                      <a:pPr indent="0" lvl="0" marL="0" rtl="0" algn="l">
                        <a:spcBef>
                          <a:spcPts val="0"/>
                        </a:spcBef>
                        <a:spcAft>
                          <a:spcPts val="0"/>
                        </a:spcAft>
                        <a:buNone/>
                      </a:pPr>
                      <a:r>
                        <a:rPr lang="en" sz="1800"/>
                        <a:t>Worst Case Runtime</a:t>
                      </a:r>
                      <a:endParaRPr sz="1800"/>
                    </a:p>
                  </a:txBody>
                  <a:tcPr marT="91425" marB="91425" marR="91425" marL="91425"/>
                </a:tc>
                <a:tc>
                  <a:txBody>
                    <a:bodyPr/>
                    <a:lstStyle/>
                    <a:p>
                      <a:pPr indent="0" lvl="0" marL="0" rtl="0" algn="l">
                        <a:spcBef>
                          <a:spcPts val="0"/>
                        </a:spcBef>
                        <a:spcAft>
                          <a:spcPts val="0"/>
                        </a:spcAft>
                        <a:buNone/>
                      </a:pPr>
                      <a:r>
                        <a:rPr lang="en" sz="1800"/>
                        <a:t>Space</a:t>
                      </a:r>
                      <a:endParaRPr sz="1800"/>
                    </a:p>
                  </a:txBody>
                  <a:tcPr marT="91425" marB="91425" marR="91425" marL="91425"/>
                </a:tc>
                <a:tc>
                  <a:txBody>
                    <a:bodyPr/>
                    <a:lstStyle/>
                    <a:p>
                      <a:pPr indent="0" lvl="0" marL="0" rtl="0" algn="l">
                        <a:spcBef>
                          <a:spcPts val="0"/>
                        </a:spcBef>
                        <a:spcAft>
                          <a:spcPts val="0"/>
                        </a:spcAft>
                        <a:buNone/>
                      </a:pPr>
                      <a:r>
                        <a:rPr lang="en" sz="1800"/>
                        <a:t>Demo</a:t>
                      </a:r>
                      <a:endParaRPr sz="1800"/>
                    </a:p>
                  </a:txBody>
                  <a:tcPr marT="91425" marB="91425" marR="91425" marL="91425"/>
                </a:tc>
                <a:tc>
                  <a:txBody>
                    <a:bodyPr/>
                    <a:lstStyle/>
                    <a:p>
                      <a:pPr indent="0" lvl="0" marL="0" rtl="0" algn="l">
                        <a:spcBef>
                          <a:spcPts val="0"/>
                        </a:spcBef>
                        <a:spcAft>
                          <a:spcPts val="0"/>
                        </a:spcAft>
                        <a:buNone/>
                      </a:pPr>
                      <a:r>
                        <a:rPr lang="en" sz="1800"/>
                        <a:t>Notes</a:t>
                      </a:r>
                      <a:endParaRPr sz="1800"/>
                    </a:p>
                  </a:txBody>
                  <a:tcPr marT="91425" marB="91425" marR="91425" marL="91425"/>
                </a:tc>
              </a:tr>
              <a:tr h="317800">
                <a:tc>
                  <a:txBody>
                    <a:bodyPr/>
                    <a:lstStyle/>
                    <a:p>
                      <a:pPr indent="0" lvl="0" marL="0" rtl="0" algn="l">
                        <a:spcBef>
                          <a:spcPts val="0"/>
                        </a:spcBef>
                        <a:spcAft>
                          <a:spcPts val="0"/>
                        </a:spcAft>
                        <a:buNone/>
                      </a:pPr>
                      <a:r>
                        <a:rPr lang="en" sz="1800" u="sng">
                          <a:solidFill>
                            <a:schemeClr val="hlink"/>
                          </a:solidFill>
                          <a:hlinkClick r:id="rId3"/>
                        </a:rPr>
                        <a:t>Selection Sort</a:t>
                      </a:r>
                      <a:endParaRPr sz="1800"/>
                    </a:p>
                  </a:txBody>
                  <a:tcPr marT="91425" marB="91425" marR="91425" marL="91425"/>
                </a:tc>
                <a:tc>
                  <a:txBody>
                    <a:bodyPr/>
                    <a:lstStyle/>
                    <a:p>
                      <a:pPr indent="0" lvl="0" marL="0" rtl="0" algn="l">
                        <a:spcBef>
                          <a:spcPts val="0"/>
                        </a:spcBef>
                        <a:spcAft>
                          <a:spcPts val="0"/>
                        </a:spcAft>
                        <a:buNone/>
                      </a:pPr>
                      <a:r>
                        <a:rPr lang="en" sz="1800">
                          <a:solidFill>
                            <a:schemeClr val="dk1"/>
                          </a:solidFill>
                        </a:rPr>
                        <a:t>Θ(N</a:t>
                      </a:r>
                      <a:r>
                        <a:rPr baseline="30000" lang="en" sz="1800">
                          <a:solidFill>
                            <a:schemeClr val="dk1"/>
                          </a:solidFill>
                        </a:rPr>
                        <a:t>2</a:t>
                      </a:r>
                      <a:r>
                        <a:rPr lang="en" sz="1800">
                          <a:solidFill>
                            <a:schemeClr val="dk1"/>
                          </a:solidFill>
                        </a:rPr>
                        <a:t>)</a:t>
                      </a:r>
                      <a:endParaRPr sz="1800"/>
                    </a:p>
                  </a:txBody>
                  <a:tcPr marT="91425" marB="91425" marR="91425" marL="91425"/>
                </a:tc>
                <a:tc>
                  <a:txBody>
                    <a:bodyPr/>
                    <a:lstStyle/>
                    <a:p>
                      <a:pPr indent="0" lvl="0" marL="0" rtl="0" algn="l">
                        <a:spcBef>
                          <a:spcPts val="0"/>
                        </a:spcBef>
                        <a:spcAft>
                          <a:spcPts val="0"/>
                        </a:spcAft>
                        <a:buNone/>
                      </a:pPr>
                      <a:r>
                        <a:rPr lang="en" sz="1800"/>
                        <a:t>Θ(N</a:t>
                      </a:r>
                      <a:r>
                        <a:rPr baseline="30000" lang="en" sz="1800"/>
                        <a:t>2</a:t>
                      </a:r>
                      <a:r>
                        <a:rPr lang="en" sz="1800"/>
                        <a:t>)</a:t>
                      </a:r>
                      <a:endParaRPr sz="1800"/>
                    </a:p>
                  </a:txBody>
                  <a:tcPr marT="91425" marB="91425" marR="91425" marL="91425"/>
                </a:tc>
                <a:tc>
                  <a:txBody>
                    <a:bodyPr/>
                    <a:lstStyle/>
                    <a:p>
                      <a:pPr indent="0" lvl="0" marL="0" rtl="0" algn="l">
                        <a:spcBef>
                          <a:spcPts val="0"/>
                        </a:spcBef>
                        <a:spcAft>
                          <a:spcPts val="0"/>
                        </a:spcAft>
                        <a:buNone/>
                      </a:pPr>
                      <a:r>
                        <a:rPr lang="en" sz="1800"/>
                        <a:t>Θ(1)</a:t>
                      </a:r>
                      <a:endParaRPr sz="1800"/>
                    </a:p>
                  </a:txBody>
                  <a:tcPr marT="91425" marB="91425" marR="91425" marL="91425"/>
                </a:tc>
                <a:tc>
                  <a:txBody>
                    <a:bodyPr/>
                    <a:lstStyle/>
                    <a:p>
                      <a:pPr indent="0" lvl="0" marL="0" rtl="0" algn="l">
                        <a:spcBef>
                          <a:spcPts val="0"/>
                        </a:spcBef>
                        <a:spcAft>
                          <a:spcPts val="0"/>
                        </a:spcAft>
                        <a:buNone/>
                      </a:pPr>
                      <a:r>
                        <a:rPr lang="en" sz="1800" u="sng">
                          <a:solidFill>
                            <a:schemeClr val="hlink"/>
                          </a:solidFill>
                          <a:hlinkClick/>
                        </a:rPr>
                        <a:t>Link</a:t>
                      </a:r>
                      <a:endParaRPr sz="1800"/>
                    </a:p>
                  </a:txBody>
                  <a:tcPr marT="91425" marB="91425" marR="91425" marL="91425"/>
                </a:tc>
                <a:tc>
                  <a:txBody>
                    <a:bodyPr/>
                    <a:lstStyle/>
                    <a:p>
                      <a:pPr indent="0" lvl="0" marL="0" rtl="0" algn="l">
                        <a:spcBef>
                          <a:spcPts val="0"/>
                        </a:spcBef>
                        <a:spcAft>
                          <a:spcPts val="0"/>
                        </a:spcAft>
                        <a:buNone/>
                      </a:pPr>
                      <a:r>
                        <a:t/>
                      </a:r>
                      <a:endParaRPr sz="1800"/>
                    </a:p>
                  </a:txBody>
                  <a:tcPr marT="91425" marB="91425" marR="91425" marL="91425"/>
                </a:tc>
              </a:tr>
              <a:tr h="425675">
                <a:tc>
                  <a:txBody>
                    <a:bodyPr/>
                    <a:lstStyle/>
                    <a:p>
                      <a:pPr indent="0" lvl="0" marL="0" rtl="0" algn="l">
                        <a:spcBef>
                          <a:spcPts val="0"/>
                        </a:spcBef>
                        <a:spcAft>
                          <a:spcPts val="0"/>
                        </a:spcAft>
                        <a:buNone/>
                      </a:pPr>
                      <a:r>
                        <a:rPr lang="en" sz="1800" u="sng">
                          <a:solidFill>
                            <a:schemeClr val="hlink"/>
                          </a:solidFill>
                          <a:hlinkClick r:id="rId4"/>
                        </a:rPr>
                        <a:t>Heapsort</a:t>
                      </a:r>
                      <a:r>
                        <a:rPr lang="en" sz="1800"/>
                        <a:t> </a:t>
                      </a:r>
                      <a:endParaRPr sz="1800"/>
                    </a:p>
                    <a:p>
                      <a:pPr indent="0" lvl="0" marL="0" rtl="0" algn="l">
                        <a:spcBef>
                          <a:spcPts val="0"/>
                        </a:spcBef>
                        <a:spcAft>
                          <a:spcPts val="0"/>
                        </a:spcAft>
                        <a:buNone/>
                      </a:pPr>
                      <a:r>
                        <a:rPr lang="en" sz="1800"/>
                        <a:t>(in place)</a:t>
                      </a:r>
                      <a:endParaRPr sz="1800"/>
                    </a:p>
                  </a:txBody>
                  <a:tcPr marT="91425" marB="91425" marR="91425" marL="91425"/>
                </a:tc>
                <a:tc>
                  <a:txBody>
                    <a:bodyPr/>
                    <a:lstStyle/>
                    <a:p>
                      <a:pPr indent="0" lvl="0" marL="0" rtl="0" algn="l">
                        <a:spcBef>
                          <a:spcPts val="0"/>
                        </a:spcBef>
                        <a:spcAft>
                          <a:spcPts val="0"/>
                        </a:spcAft>
                        <a:buNone/>
                      </a:pPr>
                      <a:r>
                        <a:rPr lang="en" sz="1800">
                          <a:solidFill>
                            <a:schemeClr val="dk1"/>
                          </a:solidFill>
                        </a:rPr>
                        <a:t>Θ(N)*</a:t>
                      </a:r>
                      <a:endParaRPr sz="1800"/>
                    </a:p>
                  </a:txBody>
                  <a:tcPr marT="91425" marB="91425" marR="91425" marL="91425"/>
                </a:tc>
                <a:tc>
                  <a:txBody>
                    <a:bodyPr/>
                    <a:lstStyle/>
                    <a:p>
                      <a:pPr indent="0" lvl="0" marL="0" rtl="0" algn="l">
                        <a:spcBef>
                          <a:spcPts val="0"/>
                        </a:spcBef>
                        <a:spcAft>
                          <a:spcPts val="0"/>
                        </a:spcAft>
                        <a:buNone/>
                      </a:pPr>
                      <a:r>
                        <a:rPr lang="en" sz="1800"/>
                        <a:t>Θ(N log N)</a:t>
                      </a:r>
                      <a:endParaRPr sz="1800"/>
                    </a:p>
                  </a:txBody>
                  <a:tcPr marT="91425" marB="91425" marR="91425" marL="91425"/>
                </a:tc>
                <a:tc>
                  <a:txBody>
                    <a:bodyPr/>
                    <a:lstStyle/>
                    <a:p>
                      <a:pPr indent="0" lvl="0" marL="0" rtl="0" algn="l">
                        <a:spcBef>
                          <a:spcPts val="0"/>
                        </a:spcBef>
                        <a:spcAft>
                          <a:spcPts val="0"/>
                        </a:spcAft>
                        <a:buNone/>
                      </a:pPr>
                      <a:r>
                        <a:rPr lang="en" sz="1800"/>
                        <a:t>Θ(1)</a:t>
                      </a:r>
                      <a:endParaRPr sz="1800"/>
                    </a:p>
                  </a:txBody>
                  <a:tcPr marT="91425" marB="91425" marR="91425" marL="91425"/>
                </a:tc>
                <a:tc>
                  <a:txBody>
                    <a:bodyPr/>
                    <a:lstStyle/>
                    <a:p>
                      <a:pPr indent="0" lvl="0" marL="0" rtl="0" algn="l">
                        <a:spcBef>
                          <a:spcPts val="0"/>
                        </a:spcBef>
                        <a:spcAft>
                          <a:spcPts val="0"/>
                        </a:spcAft>
                        <a:buNone/>
                      </a:pPr>
                      <a:r>
                        <a:rPr lang="en" sz="1800" u="sng">
                          <a:solidFill>
                            <a:schemeClr val="hlink"/>
                          </a:solidFill>
                          <a:hlinkClick/>
                        </a:rPr>
                        <a:t>Link</a:t>
                      </a:r>
                      <a:endParaRPr sz="1800"/>
                    </a:p>
                  </a:txBody>
                  <a:tcPr marT="91425" marB="91425" marR="91425" marL="91425"/>
                </a:tc>
                <a:tc>
                  <a:txBody>
                    <a:bodyPr/>
                    <a:lstStyle/>
                    <a:p>
                      <a:pPr indent="0" lvl="0" marL="0" rtl="0" algn="l">
                        <a:spcBef>
                          <a:spcPts val="0"/>
                        </a:spcBef>
                        <a:spcAft>
                          <a:spcPts val="0"/>
                        </a:spcAft>
                        <a:buNone/>
                      </a:pPr>
                      <a:r>
                        <a:rPr lang="en" sz="1800">
                          <a:solidFill>
                            <a:schemeClr val="dk1"/>
                          </a:solidFill>
                        </a:rPr>
                        <a:t>Bad cache (61C) performance.</a:t>
                      </a:r>
                      <a:endParaRPr sz="1800"/>
                    </a:p>
                  </a:txBody>
                  <a:tcPr marT="91425" marB="91425" marR="91425" marL="91425"/>
                </a:tc>
              </a:tr>
              <a:tr h="425675">
                <a:tc>
                  <a:txBody>
                    <a:bodyPr/>
                    <a:lstStyle/>
                    <a:p>
                      <a:pPr indent="0" lvl="0" marL="0" rtl="0" algn="l">
                        <a:spcBef>
                          <a:spcPts val="0"/>
                        </a:spcBef>
                        <a:spcAft>
                          <a:spcPts val="0"/>
                        </a:spcAft>
                        <a:buNone/>
                      </a:pPr>
                      <a:r>
                        <a:rPr lang="en" sz="1800" u="sng">
                          <a:solidFill>
                            <a:schemeClr val="hlink"/>
                          </a:solidFill>
                          <a:hlinkClick r:id="rId5"/>
                        </a:rPr>
                        <a:t>Mergesort</a:t>
                      </a:r>
                      <a:endParaRPr sz="1800"/>
                    </a:p>
                  </a:txBody>
                  <a:tcPr marT="91425" marB="91425" marR="91425" marL="91425"/>
                </a:tc>
                <a:tc>
                  <a:txBody>
                    <a:bodyPr/>
                    <a:lstStyle/>
                    <a:p>
                      <a:pPr indent="0" lvl="0" marL="0" rtl="0" algn="l">
                        <a:spcBef>
                          <a:spcPts val="0"/>
                        </a:spcBef>
                        <a:spcAft>
                          <a:spcPts val="0"/>
                        </a:spcAft>
                        <a:buNone/>
                      </a:pPr>
                      <a:r>
                        <a:rPr lang="en" sz="1800">
                          <a:solidFill>
                            <a:schemeClr val="dk1"/>
                          </a:solidFill>
                        </a:rPr>
                        <a:t>Θ(N log N)</a:t>
                      </a:r>
                      <a:endParaRPr sz="1800">
                        <a:solidFill>
                          <a:schemeClr val="dk1"/>
                        </a:solidFill>
                      </a:endParaRPr>
                    </a:p>
                  </a:txBody>
                  <a:tcPr marT="91425" marB="91425" marR="91425" marL="91425"/>
                </a:tc>
                <a:tc>
                  <a:txBody>
                    <a:bodyPr/>
                    <a:lstStyle/>
                    <a:p>
                      <a:pPr indent="0" lvl="0" marL="0" rtl="0" algn="l">
                        <a:spcBef>
                          <a:spcPts val="0"/>
                        </a:spcBef>
                        <a:spcAft>
                          <a:spcPts val="0"/>
                        </a:spcAft>
                        <a:buNone/>
                      </a:pPr>
                      <a:r>
                        <a:rPr lang="en" sz="1800"/>
                        <a:t>Θ(N log N)</a:t>
                      </a:r>
                      <a:endParaRPr sz="1800"/>
                    </a:p>
                  </a:txBody>
                  <a:tcPr marT="91425" marB="91425" marR="91425" marL="91425"/>
                </a:tc>
                <a:tc>
                  <a:txBody>
                    <a:bodyPr/>
                    <a:lstStyle/>
                    <a:p>
                      <a:pPr indent="0" lvl="0" marL="0" rtl="0" algn="l">
                        <a:spcBef>
                          <a:spcPts val="0"/>
                        </a:spcBef>
                        <a:spcAft>
                          <a:spcPts val="0"/>
                        </a:spcAft>
                        <a:buNone/>
                      </a:pPr>
                      <a:r>
                        <a:rPr lang="en" sz="1800"/>
                        <a:t>Θ(N)</a:t>
                      </a:r>
                      <a:endParaRPr sz="1800"/>
                    </a:p>
                  </a:txBody>
                  <a:tcPr marT="91425" marB="91425" marR="91425" marL="91425"/>
                </a:tc>
                <a:tc>
                  <a:txBody>
                    <a:bodyPr/>
                    <a:lstStyle/>
                    <a:p>
                      <a:pPr indent="0" lvl="0" marL="0" rtl="0" algn="l">
                        <a:spcBef>
                          <a:spcPts val="0"/>
                        </a:spcBef>
                        <a:spcAft>
                          <a:spcPts val="0"/>
                        </a:spcAft>
                        <a:buNone/>
                      </a:pPr>
                      <a:r>
                        <a:rPr lang="en" sz="1800" u="sng">
                          <a:solidFill>
                            <a:schemeClr val="hlink"/>
                          </a:solidFill>
                          <a:hlinkClick/>
                        </a:rPr>
                        <a:t>Link</a:t>
                      </a:r>
                      <a:endParaRPr sz="1800"/>
                    </a:p>
                  </a:txBody>
                  <a:tcPr marT="91425" marB="91425" marR="91425" marL="91425"/>
                </a:tc>
                <a:tc>
                  <a:txBody>
                    <a:bodyPr/>
                    <a:lstStyle/>
                    <a:p>
                      <a:pPr indent="0" lvl="0" marL="0" rtl="0" algn="l">
                        <a:spcBef>
                          <a:spcPts val="0"/>
                        </a:spcBef>
                        <a:spcAft>
                          <a:spcPts val="0"/>
                        </a:spcAft>
                        <a:buNone/>
                      </a:pPr>
                      <a:r>
                        <a:rPr lang="en" sz="1800">
                          <a:solidFill>
                            <a:schemeClr val="dk1"/>
                          </a:solidFill>
                        </a:rPr>
                        <a:t>Fastest of these.</a:t>
                      </a:r>
                      <a:endParaRPr sz="1800">
                        <a:solidFill>
                          <a:schemeClr val="dk1"/>
                        </a:solidFill>
                      </a:endParaRPr>
                    </a:p>
                  </a:txBody>
                  <a:tcPr marT="91425" marB="91425" marR="91425" marL="91425"/>
                </a:tc>
              </a:tr>
              <a:tr h="425675">
                <a:tc>
                  <a:txBody>
                    <a:bodyPr/>
                    <a:lstStyle/>
                    <a:p>
                      <a:pPr indent="0" lvl="0" marL="0" rtl="0" algn="l">
                        <a:spcBef>
                          <a:spcPts val="0"/>
                        </a:spcBef>
                        <a:spcAft>
                          <a:spcPts val="0"/>
                        </a:spcAft>
                        <a:buNone/>
                      </a:pPr>
                      <a:r>
                        <a:rPr lang="en" sz="1800" u="sng">
                          <a:solidFill>
                            <a:schemeClr val="hlink"/>
                          </a:solidFill>
                          <a:hlinkClick r:id="rId6"/>
                        </a:rPr>
                        <a:t>Insertion Sort</a:t>
                      </a:r>
                      <a:r>
                        <a:rPr lang="en" sz="1800"/>
                        <a:t> (in place)</a:t>
                      </a:r>
                      <a:endParaRPr sz="1800"/>
                    </a:p>
                  </a:txBody>
                  <a:tcPr marT="91425" marB="91425" marR="91425" marL="91425"/>
                </a:tc>
                <a:tc>
                  <a:txBody>
                    <a:bodyPr/>
                    <a:lstStyle/>
                    <a:p>
                      <a:pPr indent="0" lvl="0" marL="0" rtl="0" algn="l">
                        <a:spcBef>
                          <a:spcPts val="0"/>
                        </a:spcBef>
                        <a:spcAft>
                          <a:spcPts val="0"/>
                        </a:spcAft>
                        <a:buNone/>
                      </a:pPr>
                      <a:r>
                        <a:rPr lang="en" sz="1800">
                          <a:solidFill>
                            <a:schemeClr val="dk1"/>
                          </a:solidFill>
                        </a:rPr>
                        <a:t>Θ(N)</a:t>
                      </a:r>
                      <a:endParaRPr sz="1800">
                        <a:solidFill>
                          <a:schemeClr val="dk1"/>
                        </a:solidFill>
                      </a:endParaRPr>
                    </a:p>
                  </a:txBody>
                  <a:tcPr marT="91425" marB="91425" marR="91425" marL="91425"/>
                </a:tc>
                <a:tc>
                  <a:txBody>
                    <a:bodyPr/>
                    <a:lstStyle/>
                    <a:p>
                      <a:pPr indent="0" lvl="0" marL="0" rtl="0" algn="l">
                        <a:spcBef>
                          <a:spcPts val="0"/>
                        </a:spcBef>
                        <a:spcAft>
                          <a:spcPts val="0"/>
                        </a:spcAft>
                        <a:buNone/>
                      </a:pPr>
                      <a:r>
                        <a:rPr lang="en" sz="1800">
                          <a:solidFill>
                            <a:schemeClr val="dk1"/>
                          </a:solidFill>
                        </a:rPr>
                        <a:t>Θ(N</a:t>
                      </a:r>
                      <a:r>
                        <a:rPr baseline="30000" lang="en" sz="1800">
                          <a:solidFill>
                            <a:schemeClr val="dk1"/>
                          </a:solidFill>
                        </a:rPr>
                        <a:t>2</a:t>
                      </a:r>
                      <a:r>
                        <a:rPr lang="en" sz="1800">
                          <a:solidFill>
                            <a:schemeClr val="dk1"/>
                          </a:solidFill>
                        </a:rPr>
                        <a:t>)</a:t>
                      </a:r>
                      <a:endParaRPr sz="1800"/>
                    </a:p>
                  </a:txBody>
                  <a:tcPr marT="91425" marB="91425" marR="91425" marL="91425"/>
                </a:tc>
                <a:tc>
                  <a:txBody>
                    <a:bodyPr/>
                    <a:lstStyle/>
                    <a:p>
                      <a:pPr indent="0" lvl="0" marL="0" rtl="0" algn="l">
                        <a:spcBef>
                          <a:spcPts val="0"/>
                        </a:spcBef>
                        <a:spcAft>
                          <a:spcPts val="0"/>
                        </a:spcAft>
                        <a:buNone/>
                      </a:pPr>
                      <a:r>
                        <a:rPr lang="en" sz="1800">
                          <a:solidFill>
                            <a:schemeClr val="dk1"/>
                          </a:solidFill>
                        </a:rPr>
                        <a:t>Θ(1)</a:t>
                      </a:r>
                      <a:endParaRPr sz="1800"/>
                    </a:p>
                  </a:txBody>
                  <a:tcPr marT="91425" marB="91425" marR="91425" marL="91425"/>
                </a:tc>
                <a:tc>
                  <a:txBody>
                    <a:bodyPr/>
                    <a:lstStyle/>
                    <a:p>
                      <a:pPr indent="0" lvl="0" marL="0" rtl="0" algn="l">
                        <a:spcBef>
                          <a:spcPts val="0"/>
                        </a:spcBef>
                        <a:spcAft>
                          <a:spcPts val="0"/>
                        </a:spcAft>
                        <a:buNone/>
                      </a:pPr>
                      <a:r>
                        <a:rPr lang="en" sz="1800" u="sng">
                          <a:solidFill>
                            <a:schemeClr val="hlink"/>
                          </a:solidFill>
                          <a:hlinkClick/>
                        </a:rPr>
                        <a:t>Link</a:t>
                      </a:r>
                      <a:endParaRPr sz="1800"/>
                    </a:p>
                  </a:txBody>
                  <a:tcPr marT="91425" marB="91425" marR="91425" marL="91425"/>
                </a:tc>
                <a:tc>
                  <a:txBody>
                    <a:bodyPr/>
                    <a:lstStyle/>
                    <a:p>
                      <a:pPr indent="0" lvl="0" marL="0" rtl="0" algn="l">
                        <a:spcBef>
                          <a:spcPts val="0"/>
                        </a:spcBef>
                        <a:spcAft>
                          <a:spcPts val="0"/>
                        </a:spcAft>
                        <a:buNone/>
                      </a:pPr>
                      <a:r>
                        <a:rPr lang="en" sz="1800"/>
                        <a:t>Best for small N or almost sorted. </a:t>
                      </a:r>
                      <a:endParaRPr sz="1800"/>
                    </a:p>
                  </a:txBody>
                  <a:tcPr marT="91425" marB="91425" marR="91425" marL="91425"/>
                </a:tc>
              </a:tr>
            </a:tbl>
          </a:graphicData>
        </a:graphic>
      </p:graphicFrame>
      <p:sp>
        <p:nvSpPr>
          <p:cNvPr id="1245" name="Google Shape;1245;p84"/>
          <p:cNvSpPr txBox="1"/>
          <p:nvPr/>
        </p:nvSpPr>
        <p:spPr>
          <a:xfrm>
            <a:off x="418075" y="4332500"/>
            <a:ext cx="4192800" cy="633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latin typeface="Roboto"/>
                <a:ea typeface="Roboto"/>
                <a:cs typeface="Roboto"/>
                <a:sym typeface="Roboto"/>
              </a:rPr>
              <a:t>See </a:t>
            </a:r>
            <a:r>
              <a:rPr lang="en" u="sng">
                <a:solidFill>
                  <a:schemeClr val="hlink"/>
                </a:solidFill>
                <a:latin typeface="Roboto"/>
                <a:ea typeface="Roboto"/>
                <a:cs typeface="Roboto"/>
                <a:sym typeface="Roboto"/>
                <a:hlinkClick r:id="rId7"/>
              </a:rPr>
              <a:t>this link</a:t>
            </a:r>
            <a:r>
              <a:rPr lang="en">
                <a:latin typeface="Roboto"/>
                <a:ea typeface="Roboto"/>
                <a:cs typeface="Roboto"/>
                <a:sym typeface="Roboto"/>
              </a:rPr>
              <a:t> for bonus slides on Shell's Sort, an optimization of insertion sort.</a:t>
            </a:r>
            <a:endParaRPr>
              <a:latin typeface="Roboto"/>
              <a:ea typeface="Roboto"/>
              <a:cs typeface="Roboto"/>
              <a:sym typeface="Roboto"/>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85"/>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Sorting So Far</a:t>
            </a:r>
            <a:endParaRPr/>
          </a:p>
        </p:txBody>
      </p:sp>
      <p:sp>
        <p:nvSpPr>
          <p:cNvPr id="1251" name="Google Shape;1251;p85"/>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Core ideas:</a:t>
            </a:r>
            <a:endParaRPr/>
          </a:p>
          <a:p>
            <a:pPr indent="-342900" lvl="0" marL="457200" rtl="0" algn="l">
              <a:spcBef>
                <a:spcPts val="600"/>
              </a:spcBef>
              <a:spcAft>
                <a:spcPts val="0"/>
              </a:spcAft>
              <a:buSzPts val="1800"/>
              <a:buChar char="●"/>
            </a:pPr>
            <a:r>
              <a:rPr lang="en"/>
              <a:t>Selection sort: Find the smallest item and put it at the front.</a:t>
            </a:r>
            <a:endParaRPr/>
          </a:p>
          <a:p>
            <a:pPr indent="-342900" lvl="1" marL="914400" rtl="0" algn="l">
              <a:spcBef>
                <a:spcPts val="0"/>
              </a:spcBef>
              <a:spcAft>
                <a:spcPts val="0"/>
              </a:spcAft>
              <a:buSzPts val="1800"/>
              <a:buChar char="○"/>
            </a:pPr>
            <a:r>
              <a:rPr lang="en"/>
              <a:t>Heapsort variant: Use MaxPQ to find max element and put at the back.</a:t>
            </a:r>
            <a:endParaRPr/>
          </a:p>
          <a:p>
            <a:pPr indent="-342900" lvl="0" marL="457200" rtl="0" algn="l">
              <a:spcBef>
                <a:spcPts val="0"/>
              </a:spcBef>
              <a:spcAft>
                <a:spcPts val="0"/>
              </a:spcAft>
              <a:buSzPts val="1800"/>
              <a:buChar char="●"/>
            </a:pPr>
            <a:r>
              <a:rPr lang="en"/>
              <a:t>Merge sort: Merge two sorted halves into one sorted whole.</a:t>
            </a:r>
            <a:endParaRPr/>
          </a:p>
          <a:p>
            <a:pPr indent="-342900" lvl="0" marL="457200" rtl="0" algn="l">
              <a:spcBef>
                <a:spcPts val="600"/>
              </a:spcBef>
              <a:spcAft>
                <a:spcPts val="0"/>
              </a:spcAft>
              <a:buSzPts val="1800"/>
              <a:buChar char="●"/>
            </a:pPr>
            <a:r>
              <a:rPr lang="en"/>
              <a:t>Insertion sort: Figure out where to insert the current item.</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Quicksort:</a:t>
            </a:r>
            <a:endParaRPr/>
          </a:p>
          <a:p>
            <a:pPr indent="-342900" lvl="0" marL="457200" rtl="0" algn="l">
              <a:spcBef>
                <a:spcPts val="600"/>
              </a:spcBef>
              <a:spcAft>
                <a:spcPts val="0"/>
              </a:spcAft>
              <a:buSzPts val="1800"/>
              <a:buChar char="●"/>
            </a:pPr>
            <a:r>
              <a:rPr lang="en"/>
              <a:t>Much stranger core idea: Partitioning.</a:t>
            </a:r>
            <a:endParaRPr/>
          </a:p>
          <a:p>
            <a:pPr indent="-342900" lvl="0" marL="457200" rtl="0" algn="l">
              <a:spcBef>
                <a:spcPts val="0"/>
              </a:spcBef>
              <a:spcAft>
                <a:spcPts val="0"/>
              </a:spcAft>
              <a:buSzPts val="1800"/>
              <a:buChar char="●"/>
            </a:pPr>
            <a:r>
              <a:rPr lang="en"/>
              <a:t>Invented by Sir Tony Hoare in 1960, at the time a novice programmer.</a:t>
            </a:r>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5" name="Shape 1255"/>
        <p:cNvGrpSpPr/>
        <p:nvPr/>
      </p:nvGrpSpPr>
      <p:grpSpPr>
        <a:xfrm>
          <a:off x="0" y="0"/>
          <a:ext cx="0" cy="0"/>
          <a:chOff x="0" y="0"/>
          <a:chExt cx="0" cy="0"/>
        </a:xfrm>
      </p:grpSpPr>
      <p:sp>
        <p:nvSpPr>
          <p:cNvPr id="1256" name="Google Shape;1256;p8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Context for Quicksort’s Invention (</a:t>
            </a:r>
            <a:r>
              <a:rPr lang="en" u="sng">
                <a:solidFill>
                  <a:schemeClr val="hlink"/>
                </a:solidFill>
                <a:hlinkClick r:id="rId3"/>
              </a:rPr>
              <a:t>Source</a:t>
            </a:r>
            <a:r>
              <a:rPr lang="en"/>
              <a:t>)</a:t>
            </a:r>
            <a:endParaRPr/>
          </a:p>
        </p:txBody>
      </p:sp>
      <p:sp>
        <p:nvSpPr>
          <p:cNvPr id="1257" name="Google Shape;1257;p86"/>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1960: Tony Hoare was working on a crude automated translation program for Russian and English. </a:t>
            </a:r>
            <a:br>
              <a:rPr lang="en"/>
            </a:br>
            <a:endParaRPr/>
          </a:p>
        </p:txBody>
      </p:sp>
      <p:graphicFrame>
        <p:nvGraphicFramePr>
          <p:cNvPr id="1258" name="Google Shape;1258;p86"/>
          <p:cNvGraphicFramePr/>
          <p:nvPr/>
        </p:nvGraphicFramePr>
        <p:xfrm>
          <a:off x="2096235" y="2213950"/>
          <a:ext cx="3000000" cy="3000000"/>
        </p:xfrm>
        <a:graphic>
          <a:graphicData uri="http://schemas.openxmlformats.org/drawingml/2006/table">
            <a:tbl>
              <a:tblPr>
                <a:noFill/>
                <a:tableStyleId>{C55F59F9-F03C-4897-888D-DC2DF699074A}</a:tableStyleId>
              </a:tblPr>
              <a:tblGrid>
                <a:gridCol w="1618250"/>
                <a:gridCol w="1618250"/>
              </a:tblGrid>
              <a:tr h="428775">
                <a:tc>
                  <a:txBody>
                    <a:bodyPr/>
                    <a:lstStyle/>
                    <a:p>
                      <a:pPr indent="0" lvl="0" marL="0" rtl="0" algn="ctr">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a:txBody>
                  <a:tcPr marT="91425" marB="91425" marR="91425" marL="91425" anchor="ctr"/>
                </a:tc>
              </a:tr>
              <a:tr h="428775">
                <a:tc>
                  <a:txBody>
                    <a:bodyPr/>
                    <a:lstStyle/>
                    <a:p>
                      <a:pPr indent="0" lvl="0" marL="0" rtl="0" algn="ctr">
                        <a:spcBef>
                          <a:spcPts val="0"/>
                        </a:spcBef>
                        <a:spcAft>
                          <a:spcPts val="0"/>
                        </a:spcAft>
                        <a:buNone/>
                      </a:pPr>
                      <a:r>
                        <a:rPr lang="en">
                          <a:latin typeface="Roboto"/>
                          <a:ea typeface="Roboto"/>
                          <a:cs typeface="Roboto"/>
                          <a:sym typeface="Roboto"/>
                        </a:rPr>
                        <a:t>beautiful</a:t>
                      </a:r>
                      <a:endParaRPr>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a:latin typeface="Roboto"/>
                          <a:ea typeface="Roboto"/>
                          <a:cs typeface="Roboto"/>
                          <a:sym typeface="Roboto"/>
                        </a:rPr>
                        <a:t>красивая</a:t>
                      </a:r>
                      <a:r>
                        <a:rPr lang="en">
                          <a:latin typeface="Roboto"/>
                          <a:ea typeface="Roboto"/>
                          <a:cs typeface="Roboto"/>
                          <a:sym typeface="Roboto"/>
                        </a:rPr>
                        <a:t> </a:t>
                      </a:r>
                      <a:endParaRPr>
                        <a:latin typeface="Roboto"/>
                        <a:ea typeface="Roboto"/>
                        <a:cs typeface="Roboto"/>
                        <a:sym typeface="Roboto"/>
                      </a:endParaRPr>
                    </a:p>
                  </a:txBody>
                  <a:tcPr marT="91425" marB="91425" marR="91425" marL="91425" anchor="ctr"/>
                </a:tc>
              </a:tr>
              <a:tr h="428775">
                <a:tc>
                  <a:txBody>
                    <a:bodyPr/>
                    <a:lstStyle/>
                    <a:p>
                      <a:pPr indent="0" lvl="0" marL="0" rtl="0" algn="ctr">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a:txBody>
                  <a:tcPr marT="91425" marB="91425" marR="91425" marL="91425" anchor="ctr"/>
                </a:tc>
              </a:tr>
              <a:tr h="428775">
                <a:tc>
                  <a:txBody>
                    <a:bodyPr/>
                    <a:lstStyle/>
                    <a:p>
                      <a:pPr indent="0" lvl="0" marL="0" rtl="0" algn="ctr">
                        <a:spcBef>
                          <a:spcPts val="0"/>
                        </a:spcBef>
                        <a:spcAft>
                          <a:spcPts val="0"/>
                        </a:spcAft>
                        <a:buNone/>
                      </a:pPr>
                      <a:r>
                        <a:rPr lang="en">
                          <a:latin typeface="Roboto"/>
                          <a:ea typeface="Roboto"/>
                          <a:cs typeface="Roboto"/>
                          <a:sym typeface="Roboto"/>
                        </a:rPr>
                        <a:t>cat</a:t>
                      </a:r>
                      <a:endParaRPr>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a:solidFill>
                            <a:schemeClr val="dk1"/>
                          </a:solidFill>
                          <a:latin typeface="Roboto"/>
                          <a:ea typeface="Roboto"/>
                          <a:cs typeface="Roboto"/>
                          <a:sym typeface="Roboto"/>
                        </a:rPr>
                        <a:t>кошка</a:t>
                      </a:r>
                      <a:endParaRPr>
                        <a:latin typeface="Roboto"/>
                        <a:ea typeface="Roboto"/>
                        <a:cs typeface="Roboto"/>
                        <a:sym typeface="Roboto"/>
                      </a:endParaRPr>
                    </a:p>
                  </a:txBody>
                  <a:tcPr marT="91425" marB="91425" marR="91425" marL="91425" anchor="ctr"/>
                </a:tc>
              </a:tr>
              <a:tr h="428775">
                <a:tc>
                  <a:txBody>
                    <a:bodyPr/>
                    <a:lstStyle/>
                    <a:p>
                      <a:pPr indent="0" lvl="0" marL="0" rtl="0" algn="ctr">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a:txBody>
                  <a:tcPr marT="91425" marB="91425" marR="91425" marL="91425" anchor="ctr"/>
                </a:tc>
              </a:tr>
            </a:tbl>
          </a:graphicData>
        </a:graphic>
      </p:graphicFrame>
      <p:sp>
        <p:nvSpPr>
          <p:cNvPr id="1259" name="Google Shape;1259;p86"/>
          <p:cNvSpPr txBox="1"/>
          <p:nvPr/>
        </p:nvSpPr>
        <p:spPr>
          <a:xfrm>
            <a:off x="228600" y="1371600"/>
            <a:ext cx="3610500" cy="6657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600"/>
              </a:spcBef>
              <a:spcAft>
                <a:spcPts val="0"/>
              </a:spcAft>
              <a:buNone/>
            </a:pPr>
            <a:r>
              <a:rPr lang="en" sz="1800">
                <a:solidFill>
                  <a:schemeClr val="dk1"/>
                </a:solidFill>
                <a:latin typeface="Roboto"/>
                <a:ea typeface="Roboto"/>
                <a:cs typeface="Roboto"/>
                <a:sym typeface="Roboto"/>
              </a:rPr>
              <a:t>“The cat wore a beautiful hat.”</a:t>
            </a:r>
            <a:endParaRPr sz="1200">
              <a:latin typeface="Roboto"/>
              <a:ea typeface="Roboto"/>
              <a:cs typeface="Roboto"/>
              <a:sym typeface="Roboto"/>
            </a:endParaRPr>
          </a:p>
        </p:txBody>
      </p:sp>
      <p:sp>
        <p:nvSpPr>
          <p:cNvPr id="1260" name="Google Shape;1260;p86"/>
          <p:cNvSpPr txBox="1"/>
          <p:nvPr/>
        </p:nvSpPr>
        <p:spPr>
          <a:xfrm>
            <a:off x="2123156" y="3295154"/>
            <a:ext cx="323700" cy="411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cxnSp>
        <p:nvCxnSpPr>
          <p:cNvPr id="1261" name="Google Shape;1261;p86"/>
          <p:cNvCxnSpPr>
            <a:stCxn id="1262" idx="2"/>
            <a:endCxn id="1260" idx="1"/>
          </p:cNvCxnSpPr>
          <p:nvPr/>
        </p:nvCxnSpPr>
        <p:spPr>
          <a:xfrm flipH="1" rot="-5400000">
            <a:off x="1033525" y="2411151"/>
            <a:ext cx="1463400" cy="715800"/>
          </a:xfrm>
          <a:prstGeom prst="bentConnector2">
            <a:avLst/>
          </a:prstGeom>
          <a:noFill/>
          <a:ln cap="flat" cmpd="sng" w="19050">
            <a:solidFill>
              <a:schemeClr val="dk2"/>
            </a:solidFill>
            <a:prstDash val="solid"/>
            <a:round/>
            <a:headEnd len="med" w="med" type="none"/>
            <a:tailEnd len="med" w="med" type="triangle"/>
          </a:ln>
        </p:spPr>
      </p:cxnSp>
      <p:sp>
        <p:nvSpPr>
          <p:cNvPr id="1263" name="Google Shape;1263;p86"/>
          <p:cNvSpPr txBox="1"/>
          <p:nvPr/>
        </p:nvSpPr>
        <p:spPr>
          <a:xfrm>
            <a:off x="5009035" y="3357400"/>
            <a:ext cx="323700" cy="28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64" name="Google Shape;1264;p86"/>
          <p:cNvSpPr txBox="1"/>
          <p:nvPr/>
        </p:nvSpPr>
        <p:spPr>
          <a:xfrm>
            <a:off x="2501210" y="4328825"/>
            <a:ext cx="2565600" cy="411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latin typeface="Roboto"/>
                <a:ea typeface="Roboto"/>
                <a:cs typeface="Roboto"/>
                <a:sym typeface="Roboto"/>
              </a:rPr>
              <a:t>Dictionary of D english words</a:t>
            </a:r>
            <a:endParaRPr>
              <a:latin typeface="Roboto"/>
              <a:ea typeface="Roboto"/>
              <a:cs typeface="Roboto"/>
              <a:sym typeface="Roboto"/>
            </a:endParaRPr>
          </a:p>
        </p:txBody>
      </p:sp>
      <p:sp>
        <p:nvSpPr>
          <p:cNvPr id="1265" name="Google Shape;1265;p86"/>
          <p:cNvSpPr txBox="1"/>
          <p:nvPr/>
        </p:nvSpPr>
        <p:spPr>
          <a:xfrm>
            <a:off x="243000" y="2037300"/>
            <a:ext cx="877800" cy="411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N words</a:t>
            </a:r>
            <a:endParaRPr/>
          </a:p>
        </p:txBody>
      </p:sp>
      <p:pic>
        <p:nvPicPr>
          <p:cNvPr id="1266" name="Google Shape;1266;p86"/>
          <p:cNvPicPr preferRelativeResize="0"/>
          <p:nvPr/>
        </p:nvPicPr>
        <p:blipFill>
          <a:blip r:embed="rId4">
            <a:alphaModFix/>
          </a:blip>
          <a:stretch>
            <a:fillRect/>
          </a:stretch>
        </p:blipFill>
        <p:spPr>
          <a:xfrm>
            <a:off x="147355" y="3618995"/>
            <a:ext cx="1858495" cy="1392075"/>
          </a:xfrm>
          <a:prstGeom prst="rect">
            <a:avLst/>
          </a:prstGeom>
          <a:noFill/>
          <a:ln>
            <a:noFill/>
          </a:ln>
        </p:spPr>
      </p:pic>
      <p:grpSp>
        <p:nvGrpSpPr>
          <p:cNvPr id="1267" name="Google Shape;1267;p86"/>
          <p:cNvGrpSpPr/>
          <p:nvPr/>
        </p:nvGrpSpPr>
        <p:grpSpPr>
          <a:xfrm>
            <a:off x="5332735" y="3500650"/>
            <a:ext cx="3130975" cy="1449912"/>
            <a:chOff x="5332735" y="3500650"/>
            <a:chExt cx="3130975" cy="1449912"/>
          </a:xfrm>
        </p:grpSpPr>
        <p:sp>
          <p:nvSpPr>
            <p:cNvPr id="1268" name="Google Shape;1268;p86"/>
            <p:cNvSpPr txBox="1"/>
            <p:nvPr/>
          </p:nvSpPr>
          <p:spPr>
            <a:xfrm>
              <a:off x="6179510" y="3929062"/>
              <a:ext cx="2284200" cy="10215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600"/>
                </a:spcBef>
                <a:spcAft>
                  <a:spcPts val="0"/>
                </a:spcAft>
                <a:buNone/>
              </a:pPr>
              <a:r>
                <a:rPr lang="en" sz="1800">
                  <a:solidFill>
                    <a:schemeClr val="dk1"/>
                  </a:solidFill>
                  <a:latin typeface="Roboto"/>
                  <a:ea typeface="Roboto"/>
                  <a:cs typeface="Roboto"/>
                  <a:sym typeface="Roboto"/>
                </a:rPr>
                <a:t>“К</a:t>
              </a:r>
              <a:r>
                <a:rPr lang="en" sz="1800">
                  <a:solidFill>
                    <a:schemeClr val="dk1"/>
                  </a:solidFill>
                  <a:latin typeface="Roboto"/>
                  <a:ea typeface="Roboto"/>
                  <a:cs typeface="Roboto"/>
                  <a:sym typeface="Roboto"/>
                </a:rPr>
                <a:t>ошка носил  красивая шапка.</a:t>
              </a:r>
              <a:r>
                <a:rPr lang="en" sz="1800">
                  <a:solidFill>
                    <a:schemeClr val="dk1"/>
                  </a:solidFill>
                  <a:latin typeface="Roboto"/>
                  <a:ea typeface="Roboto"/>
                  <a:cs typeface="Roboto"/>
                  <a:sym typeface="Roboto"/>
                </a:rPr>
                <a:t>”</a:t>
              </a:r>
              <a:endParaRPr sz="1200">
                <a:latin typeface="Roboto"/>
                <a:ea typeface="Roboto"/>
                <a:cs typeface="Roboto"/>
                <a:sym typeface="Roboto"/>
              </a:endParaRPr>
            </a:p>
          </p:txBody>
        </p:sp>
        <p:cxnSp>
          <p:nvCxnSpPr>
            <p:cNvPr id="1269" name="Google Shape;1269;p86"/>
            <p:cNvCxnSpPr>
              <a:stCxn id="1263" idx="3"/>
              <a:endCxn id="1268" idx="1"/>
            </p:cNvCxnSpPr>
            <p:nvPr/>
          </p:nvCxnSpPr>
          <p:spPr>
            <a:xfrm>
              <a:off x="5332735" y="3500650"/>
              <a:ext cx="846900" cy="939300"/>
            </a:xfrm>
            <a:prstGeom prst="bentConnector3">
              <a:avLst>
                <a:gd fmla="val 49993" name="adj1"/>
              </a:avLst>
            </a:prstGeom>
            <a:noFill/>
            <a:ln cap="flat" cmpd="sng" w="19050">
              <a:solidFill>
                <a:schemeClr val="dk2"/>
              </a:solidFill>
              <a:prstDash val="solid"/>
              <a:round/>
              <a:headEnd len="med" w="med" type="none"/>
              <a:tailEnd len="med" w="med" type="triangle"/>
            </a:ln>
          </p:spPr>
        </p:cxnSp>
      </p:grpSp>
      <p:sp>
        <p:nvSpPr>
          <p:cNvPr id="1270" name="Google Shape;1270;p86"/>
          <p:cNvSpPr txBox="1"/>
          <p:nvPr/>
        </p:nvSpPr>
        <p:spPr>
          <a:xfrm>
            <a:off x="5157610" y="1104267"/>
            <a:ext cx="2721600" cy="665700"/>
          </a:xfrm>
          <a:prstGeom prst="rect">
            <a:avLst/>
          </a:prstGeom>
          <a:noFill/>
          <a:ln>
            <a:noFill/>
          </a:ln>
        </p:spPr>
        <p:txBody>
          <a:bodyPr anchorCtr="0" anchor="ctr" bIns="91425" lIns="91425" spcFirstLastPara="1" rIns="91425" wrap="square" tIns="91425">
            <a:noAutofit/>
          </a:bodyPr>
          <a:lstStyle/>
          <a:p>
            <a:pPr indent="0" lvl="0" marL="0" rtl="0" algn="l">
              <a:spcBef>
                <a:spcPts val="600"/>
              </a:spcBef>
              <a:spcAft>
                <a:spcPts val="0"/>
              </a:spcAft>
              <a:buNone/>
            </a:pPr>
            <a:r>
              <a:rPr lang="en" sz="2000">
                <a:solidFill>
                  <a:schemeClr val="dk1"/>
                </a:solidFill>
                <a:latin typeface="Calibri"/>
                <a:ea typeface="Calibri"/>
                <a:cs typeface="Calibri"/>
                <a:sym typeface="Calibri"/>
              </a:rPr>
              <a:t>How would you do this?</a:t>
            </a:r>
            <a:endParaRPr/>
          </a:p>
        </p:txBody>
      </p:sp>
      <p:sp>
        <p:nvSpPr>
          <p:cNvPr id="1271" name="Google Shape;1271;p86"/>
          <p:cNvSpPr txBox="1"/>
          <p:nvPr>
            <p:ph idx="1" type="body"/>
          </p:nvPr>
        </p:nvSpPr>
        <p:spPr>
          <a:xfrm>
            <a:off x="5387735" y="1496050"/>
            <a:ext cx="3711900" cy="1575600"/>
          </a:xfrm>
          <a:prstGeom prst="rect">
            <a:avLst/>
          </a:prstGeom>
        </p:spPr>
        <p:txBody>
          <a:bodyPr anchorCtr="0" anchor="t" bIns="91425" lIns="91425" spcFirstLastPara="1" rIns="91425" wrap="square" tIns="91425">
            <a:noAutofit/>
          </a:bodyPr>
          <a:lstStyle/>
          <a:p>
            <a:pPr indent="-342900" lvl="0" marL="457200" rtl="0" algn="l">
              <a:spcBef>
                <a:spcPts val="600"/>
              </a:spcBef>
              <a:spcAft>
                <a:spcPts val="0"/>
              </a:spcAft>
              <a:buSzPts val="1800"/>
              <a:buChar char="●"/>
            </a:pPr>
            <a:r>
              <a:rPr lang="en"/>
              <a:t>Binary search for each word.</a:t>
            </a:r>
            <a:endParaRPr/>
          </a:p>
          <a:p>
            <a:pPr indent="-342900" lvl="1" marL="914400" rtl="0" algn="l">
              <a:spcBef>
                <a:spcPts val="0"/>
              </a:spcBef>
              <a:spcAft>
                <a:spcPts val="0"/>
              </a:spcAft>
              <a:buSzPts val="1800"/>
              <a:buChar char="○"/>
            </a:pPr>
            <a:r>
              <a:rPr lang="en"/>
              <a:t>Find “the” in log D time.</a:t>
            </a:r>
            <a:endParaRPr/>
          </a:p>
          <a:p>
            <a:pPr indent="-342900" lvl="1" marL="914400" rtl="0" algn="l">
              <a:spcBef>
                <a:spcPts val="0"/>
              </a:spcBef>
              <a:spcAft>
                <a:spcPts val="0"/>
              </a:spcAft>
              <a:buSzPts val="1800"/>
              <a:buChar char="○"/>
            </a:pPr>
            <a:r>
              <a:rPr lang="en"/>
              <a:t>Find “cat” in log D time...</a:t>
            </a:r>
            <a:endParaRPr/>
          </a:p>
          <a:p>
            <a:pPr indent="-342900" lvl="0" marL="457200" rtl="0" algn="l">
              <a:spcBef>
                <a:spcPts val="0"/>
              </a:spcBef>
              <a:spcAft>
                <a:spcPts val="0"/>
              </a:spcAft>
              <a:buSzPts val="1800"/>
              <a:buChar char="●"/>
            </a:pPr>
            <a:r>
              <a:rPr lang="en"/>
              <a:t>Total time: N log D</a:t>
            </a:r>
            <a:endParaRPr/>
          </a:p>
          <a:p>
            <a:pPr indent="0" lvl="0" marL="0" rtl="0" algn="l">
              <a:spcBef>
                <a:spcPts val="600"/>
              </a:spcBef>
              <a:spcAft>
                <a:spcPts val="0"/>
              </a:spcAft>
              <a:buNone/>
            </a:pPr>
            <a:r>
              <a:t/>
            </a:r>
            <a:endParaRPr/>
          </a:p>
        </p:txBody>
      </p:sp>
      <p:sp>
        <p:nvSpPr>
          <p:cNvPr id="1262" name="Google Shape;1262;p86"/>
          <p:cNvSpPr txBox="1"/>
          <p:nvPr/>
        </p:nvSpPr>
        <p:spPr>
          <a:xfrm>
            <a:off x="1245475" y="1750851"/>
            <a:ext cx="323700" cy="28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66"/>
                                        </p:tgtEl>
                                        <p:attrNameLst>
                                          <p:attrName>style.visibility</p:attrName>
                                        </p:attrNameLst>
                                      </p:cBhvr>
                                      <p:to>
                                        <p:strVal val="visible"/>
                                      </p:to>
                                    </p:set>
                                    <p:animEffect filter="fade" transition="in">
                                      <p:cBhvr>
                                        <p:cTn dur="1"/>
                                        <p:tgtEl>
                                          <p:spTgt spid="126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58"/>
                                        </p:tgtEl>
                                        <p:attrNameLst>
                                          <p:attrName>style.visibility</p:attrName>
                                        </p:attrNameLst>
                                      </p:cBhvr>
                                      <p:to>
                                        <p:strVal val="visible"/>
                                      </p:to>
                                    </p:set>
                                    <p:animEffect filter="fade" transition="in">
                                      <p:cBhvr>
                                        <p:cTn dur="1"/>
                                        <p:tgtEl>
                                          <p:spTgt spid="1258"/>
                                        </p:tgtEl>
                                      </p:cBhvr>
                                    </p:animEffect>
                                  </p:childTnLst>
                                </p:cTn>
                              </p:par>
                              <p:par>
                                <p:cTn fill="hold" nodeType="withEffect" presetClass="entr" presetID="10" presetSubtype="0">
                                  <p:stCondLst>
                                    <p:cond delay="0"/>
                                  </p:stCondLst>
                                  <p:childTnLst>
                                    <p:set>
                                      <p:cBhvr>
                                        <p:cTn dur="1" fill="hold">
                                          <p:stCondLst>
                                            <p:cond delay="0"/>
                                          </p:stCondLst>
                                        </p:cTn>
                                        <p:tgtEl>
                                          <p:spTgt spid="1261"/>
                                        </p:tgtEl>
                                        <p:attrNameLst>
                                          <p:attrName>style.visibility</p:attrName>
                                        </p:attrNameLst>
                                      </p:cBhvr>
                                      <p:to>
                                        <p:strVal val="visible"/>
                                      </p:to>
                                    </p:set>
                                    <p:animEffect filter="fade" transition="in">
                                      <p:cBhvr>
                                        <p:cTn dur="1"/>
                                        <p:tgtEl>
                                          <p:spTgt spid="1261"/>
                                        </p:tgtEl>
                                      </p:cBhvr>
                                    </p:animEffect>
                                  </p:childTnLst>
                                </p:cTn>
                              </p:par>
                              <p:par>
                                <p:cTn fill="hold" nodeType="withEffect" presetClass="entr" presetID="10" presetSubtype="0">
                                  <p:stCondLst>
                                    <p:cond delay="0"/>
                                  </p:stCondLst>
                                  <p:childTnLst>
                                    <p:set>
                                      <p:cBhvr>
                                        <p:cTn dur="1" fill="hold">
                                          <p:stCondLst>
                                            <p:cond delay="0"/>
                                          </p:stCondLst>
                                        </p:cTn>
                                        <p:tgtEl>
                                          <p:spTgt spid="1264"/>
                                        </p:tgtEl>
                                        <p:attrNameLst>
                                          <p:attrName>style.visibility</p:attrName>
                                        </p:attrNameLst>
                                      </p:cBhvr>
                                      <p:to>
                                        <p:strVal val="visible"/>
                                      </p:to>
                                    </p:set>
                                    <p:animEffect filter="fade" transition="in">
                                      <p:cBhvr>
                                        <p:cTn dur="1"/>
                                        <p:tgtEl>
                                          <p:spTgt spid="126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67"/>
                                        </p:tgtEl>
                                        <p:attrNameLst>
                                          <p:attrName>style.visibility</p:attrName>
                                        </p:attrNameLst>
                                      </p:cBhvr>
                                      <p:to>
                                        <p:strVal val="visible"/>
                                      </p:to>
                                    </p:set>
                                    <p:animEffect filter="fade" transition="in">
                                      <p:cBhvr>
                                        <p:cTn dur="1"/>
                                        <p:tgtEl>
                                          <p:spTgt spid="126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70"/>
                                        </p:tgtEl>
                                        <p:attrNameLst>
                                          <p:attrName>style.visibility</p:attrName>
                                        </p:attrNameLst>
                                      </p:cBhvr>
                                      <p:to>
                                        <p:strVal val="visible"/>
                                      </p:to>
                                    </p:set>
                                    <p:animEffect filter="fade" transition="in">
                                      <p:cBhvr>
                                        <p:cTn dur="1"/>
                                        <p:tgtEl>
                                          <p:spTgt spid="127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71"/>
                                        </p:tgtEl>
                                        <p:attrNameLst>
                                          <p:attrName>style.visibility</p:attrName>
                                        </p:attrNameLst>
                                      </p:cBhvr>
                                      <p:to>
                                        <p:strVal val="visible"/>
                                      </p:to>
                                    </p:set>
                                    <p:animEffect filter="fade" transition="in">
                                      <p:cBhvr>
                                        <p:cTn dur="1"/>
                                        <p:tgtEl>
                                          <p:spTgt spid="127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5" name="Shape 1275"/>
        <p:cNvGrpSpPr/>
        <p:nvPr/>
      </p:nvGrpSpPr>
      <p:grpSpPr>
        <a:xfrm>
          <a:off x="0" y="0"/>
          <a:ext cx="0" cy="0"/>
          <a:chOff x="0" y="0"/>
          <a:chExt cx="0" cy="0"/>
        </a:xfrm>
      </p:grpSpPr>
      <p:sp>
        <p:nvSpPr>
          <p:cNvPr id="1276" name="Google Shape;1276;p8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Context for Quicksort’s Invention</a:t>
            </a:r>
            <a:r>
              <a:rPr lang="en"/>
              <a:t> (</a:t>
            </a:r>
            <a:r>
              <a:rPr lang="en" u="sng">
                <a:solidFill>
                  <a:schemeClr val="hlink"/>
                </a:solidFill>
                <a:hlinkClick r:id="rId3"/>
              </a:rPr>
              <a:t>Source</a:t>
            </a:r>
            <a:r>
              <a:rPr lang="en"/>
              <a:t>)</a:t>
            </a:r>
            <a:endParaRPr/>
          </a:p>
        </p:txBody>
      </p:sp>
      <p:sp>
        <p:nvSpPr>
          <p:cNvPr id="1277" name="Google Shape;1277;p87"/>
          <p:cNvSpPr txBox="1"/>
          <p:nvPr>
            <p:ph idx="1" type="body"/>
          </p:nvPr>
        </p:nvSpPr>
        <p:spPr>
          <a:xfrm>
            <a:off x="90600" y="3124650"/>
            <a:ext cx="9018000" cy="19428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Limitation at the time:</a:t>
            </a:r>
            <a:endParaRPr/>
          </a:p>
          <a:p>
            <a:pPr indent="-342900" lvl="0" marL="457200" rtl="0" algn="l">
              <a:spcBef>
                <a:spcPts val="600"/>
              </a:spcBef>
              <a:spcAft>
                <a:spcPts val="0"/>
              </a:spcAft>
              <a:buSzPts val="1800"/>
              <a:buChar char="●"/>
            </a:pPr>
            <a:r>
              <a:rPr lang="en"/>
              <a:t>Dictionary stored on long piece of tape, sentence is an array in RAM.</a:t>
            </a:r>
            <a:endParaRPr/>
          </a:p>
          <a:p>
            <a:pPr indent="-342900" lvl="1" marL="914400" rtl="0" algn="l">
              <a:spcBef>
                <a:spcPts val="0"/>
              </a:spcBef>
              <a:spcAft>
                <a:spcPts val="0"/>
              </a:spcAft>
              <a:buSzPts val="1800"/>
              <a:buChar char="○"/>
            </a:pPr>
            <a:r>
              <a:rPr lang="en"/>
              <a:t>Binary search of tape is not log time (requires physical movement!).</a:t>
            </a:r>
            <a:endParaRPr/>
          </a:p>
          <a:p>
            <a:pPr indent="-342900" lvl="0" marL="457200" rtl="0" algn="l">
              <a:spcBef>
                <a:spcPts val="0"/>
              </a:spcBef>
              <a:spcAft>
                <a:spcPts val="0"/>
              </a:spcAft>
              <a:buSzPts val="1800"/>
              <a:buChar char="●"/>
            </a:pPr>
            <a:r>
              <a:rPr lang="en"/>
              <a:t>Better: </a:t>
            </a:r>
            <a:r>
              <a:rPr b="1" lang="en"/>
              <a:t>Sort the sentence</a:t>
            </a:r>
            <a:r>
              <a:rPr lang="en"/>
              <a:t> and scan dictionary tape once. Takes N log N + D time.</a:t>
            </a:r>
            <a:endParaRPr/>
          </a:p>
          <a:p>
            <a:pPr indent="-342900" lvl="1" marL="914400" rtl="0" algn="l">
              <a:spcBef>
                <a:spcPts val="0"/>
              </a:spcBef>
              <a:spcAft>
                <a:spcPts val="0"/>
              </a:spcAft>
              <a:buSzPts val="1800"/>
              <a:buChar char="○"/>
            </a:pPr>
            <a:r>
              <a:rPr lang="en"/>
              <a:t>But Tony had to figure out how to sort an array (without Google!)...</a:t>
            </a:r>
            <a:br>
              <a:rPr lang="en"/>
            </a:br>
            <a:endParaRPr/>
          </a:p>
        </p:txBody>
      </p:sp>
      <p:sp>
        <p:nvSpPr>
          <p:cNvPr id="1278" name="Google Shape;1278;p87"/>
          <p:cNvSpPr txBox="1"/>
          <p:nvPr>
            <p:ph idx="1" type="body"/>
          </p:nvPr>
        </p:nvSpPr>
        <p:spPr>
          <a:xfrm>
            <a:off x="90600" y="404100"/>
            <a:ext cx="8443800" cy="28881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1960: Tony Hoare was working on a crude automated translation program for Russian and English. </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Algorithm: N binary searches of D length dictionary.</a:t>
            </a:r>
            <a:endParaRPr/>
          </a:p>
          <a:p>
            <a:pPr indent="-342900" lvl="0" marL="457200" rtl="0" algn="l">
              <a:spcBef>
                <a:spcPts val="600"/>
              </a:spcBef>
              <a:spcAft>
                <a:spcPts val="0"/>
              </a:spcAft>
              <a:buSzPts val="1800"/>
              <a:buChar char="●"/>
            </a:pPr>
            <a:r>
              <a:rPr lang="en"/>
              <a:t>Total runtime: N log D</a:t>
            </a:r>
            <a:endParaRPr/>
          </a:p>
          <a:p>
            <a:pPr indent="-342900" lvl="0" marL="457200" rtl="0" algn="l">
              <a:spcBef>
                <a:spcPts val="600"/>
              </a:spcBef>
              <a:spcAft>
                <a:spcPts val="0"/>
              </a:spcAft>
              <a:buSzPts val="1800"/>
              <a:buChar char="●"/>
            </a:pPr>
            <a:r>
              <a:rPr lang="en"/>
              <a:t>ASSUMES log time binary search!</a:t>
            </a:r>
            <a:endParaRPr/>
          </a:p>
        </p:txBody>
      </p:sp>
      <p:graphicFrame>
        <p:nvGraphicFramePr>
          <p:cNvPr id="1279" name="Google Shape;1279;p87"/>
          <p:cNvGraphicFramePr/>
          <p:nvPr/>
        </p:nvGraphicFramePr>
        <p:xfrm>
          <a:off x="5784785" y="1558650"/>
          <a:ext cx="3000000" cy="3000000"/>
        </p:xfrm>
        <a:graphic>
          <a:graphicData uri="http://schemas.openxmlformats.org/drawingml/2006/table">
            <a:tbl>
              <a:tblPr>
                <a:noFill/>
                <a:tableStyleId>{C55F59F9-F03C-4897-888D-DC2DF699074A}</a:tableStyleId>
              </a:tblPr>
              <a:tblGrid>
                <a:gridCol w="1618250"/>
                <a:gridCol w="1618250"/>
              </a:tblGrid>
              <a:tr h="428775">
                <a:tc>
                  <a:txBody>
                    <a:bodyPr/>
                    <a:lstStyle/>
                    <a:p>
                      <a:pPr indent="0" lvl="0" marL="0" rtl="0" algn="ctr">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a:txBody>
                  <a:tcPr marT="91425" marB="91425" marR="91425" marL="91425" anchor="ctr"/>
                </a:tc>
              </a:tr>
              <a:tr h="428775">
                <a:tc>
                  <a:txBody>
                    <a:bodyPr/>
                    <a:lstStyle/>
                    <a:p>
                      <a:pPr indent="0" lvl="0" marL="0" rtl="0" algn="ctr">
                        <a:spcBef>
                          <a:spcPts val="0"/>
                        </a:spcBef>
                        <a:spcAft>
                          <a:spcPts val="0"/>
                        </a:spcAft>
                        <a:buNone/>
                      </a:pPr>
                      <a:r>
                        <a:rPr lang="en">
                          <a:latin typeface="Roboto"/>
                          <a:ea typeface="Roboto"/>
                          <a:cs typeface="Roboto"/>
                          <a:sym typeface="Roboto"/>
                        </a:rPr>
                        <a:t>beautiful</a:t>
                      </a:r>
                      <a:endParaRPr>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a:latin typeface="Roboto"/>
                          <a:ea typeface="Roboto"/>
                          <a:cs typeface="Roboto"/>
                          <a:sym typeface="Roboto"/>
                        </a:rPr>
                        <a:t>красивая </a:t>
                      </a:r>
                      <a:endParaRPr>
                        <a:latin typeface="Roboto"/>
                        <a:ea typeface="Roboto"/>
                        <a:cs typeface="Roboto"/>
                        <a:sym typeface="Roboto"/>
                      </a:endParaRPr>
                    </a:p>
                  </a:txBody>
                  <a:tcPr marT="91425" marB="91425" marR="91425" marL="91425" anchor="ctr"/>
                </a:tc>
              </a:tr>
              <a:tr h="428775">
                <a:tc>
                  <a:txBody>
                    <a:bodyPr/>
                    <a:lstStyle/>
                    <a:p>
                      <a:pPr indent="0" lvl="0" marL="0" rtl="0" algn="ctr">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a:txBody>
                  <a:tcPr marT="91425" marB="91425" marR="91425" marL="91425" anchor="ctr"/>
                </a:tc>
              </a:tr>
              <a:tr h="428775">
                <a:tc>
                  <a:txBody>
                    <a:bodyPr/>
                    <a:lstStyle/>
                    <a:p>
                      <a:pPr indent="0" lvl="0" marL="0" rtl="0" algn="ctr">
                        <a:spcBef>
                          <a:spcPts val="0"/>
                        </a:spcBef>
                        <a:spcAft>
                          <a:spcPts val="0"/>
                        </a:spcAft>
                        <a:buNone/>
                      </a:pPr>
                      <a:r>
                        <a:rPr lang="en">
                          <a:latin typeface="Roboto"/>
                          <a:ea typeface="Roboto"/>
                          <a:cs typeface="Roboto"/>
                          <a:sym typeface="Roboto"/>
                        </a:rPr>
                        <a:t>cat</a:t>
                      </a:r>
                      <a:endParaRPr>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a:solidFill>
                            <a:schemeClr val="dk1"/>
                          </a:solidFill>
                          <a:latin typeface="Roboto"/>
                          <a:ea typeface="Roboto"/>
                          <a:cs typeface="Roboto"/>
                          <a:sym typeface="Roboto"/>
                        </a:rPr>
                        <a:t>кошка</a:t>
                      </a:r>
                      <a:endParaRPr>
                        <a:latin typeface="Roboto"/>
                        <a:ea typeface="Roboto"/>
                        <a:cs typeface="Roboto"/>
                        <a:sym typeface="Roboto"/>
                      </a:endParaRPr>
                    </a:p>
                  </a:txBody>
                  <a:tcPr marT="91425" marB="91425" marR="91425" marL="91425" anchor="ctr"/>
                </a:tc>
              </a:tr>
              <a:tr h="428775">
                <a:tc>
                  <a:txBody>
                    <a:bodyPr/>
                    <a:lstStyle/>
                    <a:p>
                      <a:pPr indent="0" lvl="0" marL="0" rtl="0" algn="ctr">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D2E9"/>
        </a:solidFill>
      </p:bgPr>
    </p:bg>
    <p:spTree>
      <p:nvGrpSpPr>
        <p:cNvPr id="1283" name="Shape 1283"/>
        <p:cNvGrpSpPr/>
        <p:nvPr/>
      </p:nvGrpSpPr>
      <p:grpSpPr>
        <a:xfrm>
          <a:off x="0" y="0"/>
          <a:ext cx="0" cy="0"/>
          <a:chOff x="0" y="0"/>
          <a:chExt cx="0" cy="0"/>
        </a:xfrm>
      </p:grpSpPr>
      <p:sp>
        <p:nvSpPr>
          <p:cNvPr id="1284" name="Google Shape;1284;p8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Core Idea of Tony’s Sort: Partitioning </a:t>
            </a:r>
            <a:r>
              <a:rPr lang="en"/>
              <a:t>http://yellkey.com</a:t>
            </a:r>
            <a:r>
              <a:rPr lang="en">
                <a:solidFill>
                  <a:srgbClr val="38761D"/>
                </a:solidFill>
              </a:rPr>
              <a:t>/TODO</a:t>
            </a:r>
            <a:endParaRPr/>
          </a:p>
        </p:txBody>
      </p:sp>
      <p:sp>
        <p:nvSpPr>
          <p:cNvPr id="1285" name="Google Shape;1285;p88"/>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To partition an array a[] on element </a:t>
            </a:r>
            <a:r>
              <a:rPr lang="en">
                <a:solidFill>
                  <a:srgbClr val="000000"/>
                </a:solidFill>
                <a:highlight>
                  <a:srgbClr val="B1DD8B"/>
                </a:highlight>
              </a:rPr>
              <a:t>x=a[i]</a:t>
            </a:r>
            <a:r>
              <a:rPr lang="en"/>
              <a:t> is to rearrange a[] so that:</a:t>
            </a:r>
            <a:endParaRPr/>
          </a:p>
          <a:p>
            <a:pPr indent="-342900" lvl="0" marL="457200" rtl="0" algn="l">
              <a:spcBef>
                <a:spcPts val="600"/>
              </a:spcBef>
              <a:spcAft>
                <a:spcPts val="0"/>
              </a:spcAft>
              <a:buSzPts val="1800"/>
              <a:buChar char="●"/>
            </a:pPr>
            <a:r>
              <a:rPr lang="en"/>
              <a:t>x moves to position j (may be the same as i)</a:t>
            </a:r>
            <a:endParaRPr/>
          </a:p>
          <a:p>
            <a:pPr indent="-342900" lvl="0" marL="457200" rtl="0" algn="l">
              <a:spcBef>
                <a:spcPts val="0"/>
              </a:spcBef>
              <a:spcAft>
                <a:spcPts val="0"/>
              </a:spcAft>
              <a:buSzPts val="1800"/>
              <a:buChar char="●"/>
            </a:pPr>
            <a:r>
              <a:rPr lang="en"/>
              <a:t>All entries to the left of </a:t>
            </a:r>
            <a:r>
              <a:rPr lang="en">
                <a:solidFill>
                  <a:srgbClr val="000000"/>
                </a:solidFill>
                <a:highlight>
                  <a:srgbClr val="B1DD8B"/>
                </a:highlight>
              </a:rPr>
              <a:t>x</a:t>
            </a:r>
            <a:r>
              <a:rPr lang="en"/>
              <a:t> are &lt;= </a:t>
            </a:r>
            <a:r>
              <a:rPr lang="en">
                <a:highlight>
                  <a:srgbClr val="B1DD8B"/>
                </a:highlight>
              </a:rPr>
              <a:t>x</a:t>
            </a:r>
            <a:r>
              <a:rPr lang="en"/>
              <a:t>.</a:t>
            </a:r>
            <a:endParaRPr/>
          </a:p>
          <a:p>
            <a:pPr indent="-342900" lvl="0" marL="457200" rtl="0" algn="l">
              <a:spcBef>
                <a:spcPts val="0"/>
              </a:spcBef>
              <a:spcAft>
                <a:spcPts val="0"/>
              </a:spcAft>
              <a:buSzPts val="1800"/>
              <a:buChar char="●"/>
            </a:pPr>
            <a:r>
              <a:rPr lang="en"/>
              <a:t>All entries to the right of </a:t>
            </a:r>
            <a:r>
              <a:rPr lang="en">
                <a:solidFill>
                  <a:srgbClr val="000000"/>
                </a:solidFill>
                <a:highlight>
                  <a:srgbClr val="B1DD8B"/>
                </a:highlight>
              </a:rPr>
              <a:t>x</a:t>
            </a:r>
            <a:r>
              <a:rPr lang="en"/>
              <a:t> are &gt;= </a:t>
            </a:r>
            <a:r>
              <a:rPr lang="en">
                <a:highlight>
                  <a:srgbClr val="B1DD8B"/>
                </a:highlight>
              </a:rPr>
              <a:t>x</a:t>
            </a:r>
            <a:r>
              <a:rPr lang="en"/>
              <a:t>.</a:t>
            </a:r>
            <a:endParaRPr/>
          </a:p>
        </p:txBody>
      </p:sp>
      <p:sp>
        <p:nvSpPr>
          <p:cNvPr id="1286" name="Google Shape;1286;p88"/>
          <p:cNvSpPr/>
          <p:nvPr/>
        </p:nvSpPr>
        <p:spPr>
          <a:xfrm>
            <a:off x="5291050" y="17406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a:t>
            </a:r>
            <a:endParaRPr sz="1800">
              <a:latin typeface="Calibri"/>
              <a:ea typeface="Calibri"/>
              <a:cs typeface="Calibri"/>
              <a:sym typeface="Calibri"/>
            </a:endParaRPr>
          </a:p>
        </p:txBody>
      </p:sp>
      <p:sp>
        <p:nvSpPr>
          <p:cNvPr id="1287" name="Google Shape;1287;p88"/>
          <p:cNvSpPr/>
          <p:nvPr/>
        </p:nvSpPr>
        <p:spPr>
          <a:xfrm>
            <a:off x="5820105" y="17406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550</a:t>
            </a:r>
            <a:endParaRPr sz="1800">
              <a:latin typeface="Calibri"/>
              <a:ea typeface="Calibri"/>
              <a:cs typeface="Calibri"/>
              <a:sym typeface="Calibri"/>
            </a:endParaRPr>
          </a:p>
        </p:txBody>
      </p:sp>
      <p:sp>
        <p:nvSpPr>
          <p:cNvPr id="1288" name="Google Shape;1288;p88"/>
          <p:cNvSpPr/>
          <p:nvPr/>
        </p:nvSpPr>
        <p:spPr>
          <a:xfrm>
            <a:off x="6353686" y="1740625"/>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289" name="Google Shape;1289;p88"/>
          <p:cNvSpPr/>
          <p:nvPr/>
        </p:nvSpPr>
        <p:spPr>
          <a:xfrm>
            <a:off x="6882741" y="17406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1290" name="Google Shape;1290;p88"/>
          <p:cNvSpPr/>
          <p:nvPr/>
        </p:nvSpPr>
        <p:spPr>
          <a:xfrm>
            <a:off x="7411309" y="17406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291" name="Google Shape;1291;p88"/>
          <p:cNvSpPr/>
          <p:nvPr/>
        </p:nvSpPr>
        <p:spPr>
          <a:xfrm>
            <a:off x="7940363" y="17406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9</a:t>
            </a:r>
            <a:endParaRPr sz="1800">
              <a:latin typeface="Calibri"/>
              <a:ea typeface="Calibri"/>
              <a:cs typeface="Calibri"/>
              <a:sym typeface="Calibri"/>
            </a:endParaRPr>
          </a:p>
        </p:txBody>
      </p:sp>
      <p:sp>
        <p:nvSpPr>
          <p:cNvPr id="1292" name="Google Shape;1292;p88"/>
          <p:cNvSpPr/>
          <p:nvPr/>
        </p:nvSpPr>
        <p:spPr>
          <a:xfrm>
            <a:off x="8473945" y="17406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330</a:t>
            </a:r>
            <a:endParaRPr sz="1800">
              <a:latin typeface="Calibri"/>
              <a:ea typeface="Calibri"/>
              <a:cs typeface="Calibri"/>
              <a:sym typeface="Calibri"/>
            </a:endParaRPr>
          </a:p>
        </p:txBody>
      </p:sp>
      <p:sp>
        <p:nvSpPr>
          <p:cNvPr id="1293" name="Google Shape;1293;p88"/>
          <p:cNvSpPr txBox="1"/>
          <p:nvPr>
            <p:ph idx="1" type="body"/>
          </p:nvPr>
        </p:nvSpPr>
        <p:spPr>
          <a:xfrm>
            <a:off x="243000" y="4255650"/>
            <a:ext cx="8618700" cy="8826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Which partitions are valid?</a:t>
            </a:r>
            <a:endParaRPr/>
          </a:p>
        </p:txBody>
      </p:sp>
      <p:sp>
        <p:nvSpPr>
          <p:cNvPr id="1294" name="Google Shape;1294;p88"/>
          <p:cNvSpPr txBox="1"/>
          <p:nvPr/>
        </p:nvSpPr>
        <p:spPr>
          <a:xfrm>
            <a:off x="6490800" y="1444475"/>
            <a:ext cx="268200" cy="219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latin typeface="Consolas"/>
                <a:ea typeface="Consolas"/>
                <a:cs typeface="Consolas"/>
                <a:sym typeface="Consolas"/>
              </a:rPr>
              <a:t>i</a:t>
            </a:r>
            <a:endParaRPr>
              <a:latin typeface="Consolas"/>
              <a:ea typeface="Consolas"/>
              <a:cs typeface="Consolas"/>
              <a:sym typeface="Consolas"/>
            </a:endParaRPr>
          </a:p>
        </p:txBody>
      </p:sp>
      <p:grpSp>
        <p:nvGrpSpPr>
          <p:cNvPr id="1295" name="Google Shape;1295;p88"/>
          <p:cNvGrpSpPr/>
          <p:nvPr/>
        </p:nvGrpSpPr>
        <p:grpSpPr>
          <a:xfrm>
            <a:off x="118850" y="2435550"/>
            <a:ext cx="8666745" cy="1666825"/>
            <a:chOff x="118850" y="2435550"/>
            <a:chExt cx="8666745" cy="1666825"/>
          </a:xfrm>
        </p:grpSpPr>
        <p:grpSp>
          <p:nvGrpSpPr>
            <p:cNvPr id="1296" name="Google Shape;1296;p88"/>
            <p:cNvGrpSpPr/>
            <p:nvPr/>
          </p:nvGrpSpPr>
          <p:grpSpPr>
            <a:xfrm>
              <a:off x="118850" y="2731650"/>
              <a:ext cx="8666745" cy="1370725"/>
              <a:chOff x="118850" y="2731650"/>
              <a:chExt cx="8666745" cy="1370725"/>
            </a:xfrm>
          </p:grpSpPr>
          <p:sp>
            <p:nvSpPr>
              <p:cNvPr id="1297" name="Google Shape;1297;p88"/>
              <p:cNvSpPr/>
              <p:nvPr/>
            </p:nvSpPr>
            <p:spPr>
              <a:xfrm>
                <a:off x="602100"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1298" name="Google Shape;1298;p88"/>
              <p:cNvSpPr/>
              <p:nvPr/>
            </p:nvSpPr>
            <p:spPr>
              <a:xfrm>
                <a:off x="1131155"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a:t>
                </a:r>
                <a:endParaRPr sz="1800">
                  <a:latin typeface="Calibri"/>
                  <a:ea typeface="Calibri"/>
                  <a:cs typeface="Calibri"/>
                  <a:sym typeface="Calibri"/>
                </a:endParaRPr>
              </a:p>
            </p:txBody>
          </p:sp>
          <p:sp>
            <p:nvSpPr>
              <p:cNvPr id="1299" name="Google Shape;1299;p88"/>
              <p:cNvSpPr/>
              <p:nvPr/>
            </p:nvSpPr>
            <p:spPr>
              <a:xfrm>
                <a:off x="1664737"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9</a:t>
                </a:r>
                <a:endParaRPr sz="1800">
                  <a:latin typeface="Calibri"/>
                  <a:ea typeface="Calibri"/>
                  <a:cs typeface="Calibri"/>
                  <a:sym typeface="Calibri"/>
                </a:endParaRPr>
              </a:p>
            </p:txBody>
          </p:sp>
          <p:sp>
            <p:nvSpPr>
              <p:cNvPr id="1300" name="Google Shape;1300;p88"/>
              <p:cNvSpPr/>
              <p:nvPr/>
            </p:nvSpPr>
            <p:spPr>
              <a:xfrm>
                <a:off x="2193791" y="2768875"/>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301" name="Google Shape;1301;p88"/>
              <p:cNvSpPr/>
              <p:nvPr/>
            </p:nvSpPr>
            <p:spPr>
              <a:xfrm>
                <a:off x="2722359"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302" name="Google Shape;1302;p88"/>
              <p:cNvSpPr/>
              <p:nvPr/>
            </p:nvSpPr>
            <p:spPr>
              <a:xfrm>
                <a:off x="3251413"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330</a:t>
                </a:r>
                <a:endParaRPr sz="1800">
                  <a:latin typeface="Calibri"/>
                  <a:ea typeface="Calibri"/>
                  <a:cs typeface="Calibri"/>
                  <a:sym typeface="Calibri"/>
                </a:endParaRPr>
              </a:p>
            </p:txBody>
          </p:sp>
          <p:sp>
            <p:nvSpPr>
              <p:cNvPr id="1303" name="Google Shape;1303;p88"/>
              <p:cNvSpPr/>
              <p:nvPr/>
            </p:nvSpPr>
            <p:spPr>
              <a:xfrm>
                <a:off x="3784995"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550</a:t>
                </a:r>
                <a:endParaRPr sz="1800">
                  <a:latin typeface="Calibri"/>
                  <a:ea typeface="Calibri"/>
                  <a:cs typeface="Calibri"/>
                  <a:sym typeface="Calibri"/>
                </a:endParaRPr>
              </a:p>
            </p:txBody>
          </p:sp>
          <p:sp>
            <p:nvSpPr>
              <p:cNvPr id="1304" name="Google Shape;1304;p88"/>
              <p:cNvSpPr/>
              <p:nvPr/>
            </p:nvSpPr>
            <p:spPr>
              <a:xfrm>
                <a:off x="602100"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a:t>
                </a:r>
                <a:endParaRPr sz="1800">
                  <a:latin typeface="Calibri"/>
                  <a:ea typeface="Calibri"/>
                  <a:cs typeface="Calibri"/>
                  <a:sym typeface="Calibri"/>
                </a:endParaRPr>
              </a:p>
            </p:txBody>
          </p:sp>
          <p:sp>
            <p:nvSpPr>
              <p:cNvPr id="1305" name="Google Shape;1305;p88"/>
              <p:cNvSpPr/>
              <p:nvPr/>
            </p:nvSpPr>
            <p:spPr>
              <a:xfrm>
                <a:off x="1131155"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9</a:t>
                </a:r>
                <a:endParaRPr sz="1800">
                  <a:latin typeface="Calibri"/>
                  <a:ea typeface="Calibri"/>
                  <a:cs typeface="Calibri"/>
                  <a:sym typeface="Calibri"/>
                </a:endParaRPr>
              </a:p>
            </p:txBody>
          </p:sp>
          <p:sp>
            <p:nvSpPr>
              <p:cNvPr id="1306" name="Google Shape;1306;p88"/>
              <p:cNvSpPr/>
              <p:nvPr/>
            </p:nvSpPr>
            <p:spPr>
              <a:xfrm>
                <a:off x="1664737"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307" name="Google Shape;1307;p88"/>
              <p:cNvSpPr/>
              <p:nvPr/>
            </p:nvSpPr>
            <p:spPr>
              <a:xfrm>
                <a:off x="2193791"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1308" name="Google Shape;1308;p88"/>
              <p:cNvSpPr/>
              <p:nvPr/>
            </p:nvSpPr>
            <p:spPr>
              <a:xfrm>
                <a:off x="2722359" y="3607075"/>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309" name="Google Shape;1309;p88"/>
              <p:cNvSpPr/>
              <p:nvPr/>
            </p:nvSpPr>
            <p:spPr>
              <a:xfrm>
                <a:off x="3251413"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550</a:t>
                </a:r>
                <a:endParaRPr sz="1800">
                  <a:latin typeface="Calibri"/>
                  <a:ea typeface="Calibri"/>
                  <a:cs typeface="Calibri"/>
                  <a:sym typeface="Calibri"/>
                </a:endParaRPr>
              </a:p>
            </p:txBody>
          </p:sp>
          <p:sp>
            <p:nvSpPr>
              <p:cNvPr id="1310" name="Google Shape;1310;p88"/>
              <p:cNvSpPr/>
              <p:nvPr/>
            </p:nvSpPr>
            <p:spPr>
              <a:xfrm>
                <a:off x="3784995"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330</a:t>
                </a:r>
                <a:endParaRPr sz="1800">
                  <a:latin typeface="Calibri"/>
                  <a:ea typeface="Calibri"/>
                  <a:cs typeface="Calibri"/>
                  <a:sym typeface="Calibri"/>
                </a:endParaRPr>
              </a:p>
            </p:txBody>
          </p:sp>
          <p:sp>
            <p:nvSpPr>
              <p:cNvPr id="1311" name="Google Shape;1311;p88"/>
              <p:cNvSpPr/>
              <p:nvPr/>
            </p:nvSpPr>
            <p:spPr>
              <a:xfrm>
                <a:off x="5062700"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a:t>
                </a:r>
                <a:endParaRPr sz="1800">
                  <a:latin typeface="Calibri"/>
                  <a:ea typeface="Calibri"/>
                  <a:cs typeface="Calibri"/>
                  <a:sym typeface="Calibri"/>
                </a:endParaRPr>
              </a:p>
            </p:txBody>
          </p:sp>
          <p:sp>
            <p:nvSpPr>
              <p:cNvPr id="1312" name="Google Shape;1312;p88"/>
              <p:cNvSpPr/>
              <p:nvPr/>
            </p:nvSpPr>
            <p:spPr>
              <a:xfrm>
                <a:off x="5591755"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1313" name="Google Shape;1313;p88"/>
              <p:cNvSpPr/>
              <p:nvPr/>
            </p:nvSpPr>
            <p:spPr>
              <a:xfrm>
                <a:off x="6125336"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9</a:t>
                </a:r>
                <a:endParaRPr sz="1800">
                  <a:latin typeface="Calibri"/>
                  <a:ea typeface="Calibri"/>
                  <a:cs typeface="Calibri"/>
                  <a:sym typeface="Calibri"/>
                </a:endParaRPr>
              </a:p>
            </p:txBody>
          </p:sp>
          <p:sp>
            <p:nvSpPr>
              <p:cNvPr id="1314" name="Google Shape;1314;p88"/>
              <p:cNvSpPr/>
              <p:nvPr/>
            </p:nvSpPr>
            <p:spPr>
              <a:xfrm>
                <a:off x="6654391" y="2768875"/>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315" name="Google Shape;1315;p88"/>
              <p:cNvSpPr/>
              <p:nvPr/>
            </p:nvSpPr>
            <p:spPr>
              <a:xfrm>
                <a:off x="7182959"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316" name="Google Shape;1316;p88"/>
              <p:cNvSpPr/>
              <p:nvPr/>
            </p:nvSpPr>
            <p:spPr>
              <a:xfrm>
                <a:off x="7712013"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550</a:t>
                </a:r>
                <a:endParaRPr sz="1800">
                  <a:latin typeface="Calibri"/>
                  <a:ea typeface="Calibri"/>
                  <a:cs typeface="Calibri"/>
                  <a:sym typeface="Calibri"/>
                </a:endParaRPr>
              </a:p>
            </p:txBody>
          </p:sp>
          <p:sp>
            <p:nvSpPr>
              <p:cNvPr id="1317" name="Google Shape;1317;p88"/>
              <p:cNvSpPr/>
              <p:nvPr/>
            </p:nvSpPr>
            <p:spPr>
              <a:xfrm>
                <a:off x="8245595"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330</a:t>
                </a:r>
                <a:endParaRPr sz="1800">
                  <a:latin typeface="Calibri"/>
                  <a:ea typeface="Calibri"/>
                  <a:cs typeface="Calibri"/>
                  <a:sym typeface="Calibri"/>
                </a:endParaRPr>
              </a:p>
            </p:txBody>
          </p:sp>
          <p:sp>
            <p:nvSpPr>
              <p:cNvPr id="1318" name="Google Shape;1318;p88"/>
              <p:cNvSpPr/>
              <p:nvPr/>
            </p:nvSpPr>
            <p:spPr>
              <a:xfrm>
                <a:off x="5062700"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a:t>
                </a:r>
                <a:endParaRPr sz="1800">
                  <a:latin typeface="Calibri"/>
                  <a:ea typeface="Calibri"/>
                  <a:cs typeface="Calibri"/>
                  <a:sym typeface="Calibri"/>
                </a:endParaRPr>
              </a:p>
            </p:txBody>
          </p:sp>
          <p:sp>
            <p:nvSpPr>
              <p:cNvPr id="1319" name="Google Shape;1319;p88"/>
              <p:cNvSpPr/>
              <p:nvPr/>
            </p:nvSpPr>
            <p:spPr>
              <a:xfrm>
                <a:off x="5591755"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9</a:t>
                </a:r>
                <a:endParaRPr sz="1800">
                  <a:latin typeface="Calibri"/>
                  <a:ea typeface="Calibri"/>
                  <a:cs typeface="Calibri"/>
                  <a:sym typeface="Calibri"/>
                </a:endParaRPr>
              </a:p>
            </p:txBody>
          </p:sp>
          <p:sp>
            <p:nvSpPr>
              <p:cNvPr id="1320" name="Google Shape;1320;p88"/>
              <p:cNvSpPr/>
              <p:nvPr/>
            </p:nvSpPr>
            <p:spPr>
              <a:xfrm>
                <a:off x="6125336" y="3607075"/>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321" name="Google Shape;1321;p88"/>
              <p:cNvSpPr/>
              <p:nvPr/>
            </p:nvSpPr>
            <p:spPr>
              <a:xfrm>
                <a:off x="6654391"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1322" name="Google Shape;1322;p88"/>
              <p:cNvSpPr/>
              <p:nvPr/>
            </p:nvSpPr>
            <p:spPr>
              <a:xfrm>
                <a:off x="7182959"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323" name="Google Shape;1323;p88"/>
              <p:cNvSpPr/>
              <p:nvPr/>
            </p:nvSpPr>
            <p:spPr>
              <a:xfrm>
                <a:off x="7712013"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550</a:t>
                </a:r>
                <a:endParaRPr sz="1800">
                  <a:latin typeface="Calibri"/>
                  <a:ea typeface="Calibri"/>
                  <a:cs typeface="Calibri"/>
                  <a:sym typeface="Calibri"/>
                </a:endParaRPr>
              </a:p>
            </p:txBody>
          </p:sp>
          <p:sp>
            <p:nvSpPr>
              <p:cNvPr id="1324" name="Google Shape;1324;p88"/>
              <p:cNvSpPr/>
              <p:nvPr/>
            </p:nvSpPr>
            <p:spPr>
              <a:xfrm>
                <a:off x="8245595"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330</a:t>
                </a:r>
                <a:endParaRPr sz="1800">
                  <a:latin typeface="Calibri"/>
                  <a:ea typeface="Calibri"/>
                  <a:cs typeface="Calibri"/>
                  <a:sym typeface="Calibri"/>
                </a:endParaRPr>
              </a:p>
            </p:txBody>
          </p:sp>
          <p:sp>
            <p:nvSpPr>
              <p:cNvPr id="1325" name="Google Shape;1325;p88"/>
              <p:cNvSpPr txBox="1"/>
              <p:nvPr/>
            </p:nvSpPr>
            <p:spPr>
              <a:xfrm>
                <a:off x="118850" y="2731650"/>
                <a:ext cx="540000" cy="308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400">
                    <a:latin typeface="Consolas"/>
                    <a:ea typeface="Consolas"/>
                    <a:cs typeface="Consolas"/>
                    <a:sym typeface="Consolas"/>
                  </a:rPr>
                  <a:t>A.</a:t>
                </a:r>
                <a:endParaRPr sz="2400">
                  <a:latin typeface="Consolas"/>
                  <a:ea typeface="Consolas"/>
                  <a:cs typeface="Consolas"/>
                  <a:sym typeface="Consolas"/>
                </a:endParaRPr>
              </a:p>
            </p:txBody>
          </p:sp>
          <p:sp>
            <p:nvSpPr>
              <p:cNvPr id="1326" name="Google Shape;1326;p88"/>
              <p:cNvSpPr txBox="1"/>
              <p:nvPr/>
            </p:nvSpPr>
            <p:spPr>
              <a:xfrm>
                <a:off x="118850" y="3569850"/>
                <a:ext cx="540000" cy="308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400">
                    <a:latin typeface="Consolas"/>
                    <a:ea typeface="Consolas"/>
                    <a:cs typeface="Consolas"/>
                    <a:sym typeface="Consolas"/>
                  </a:rPr>
                  <a:t>C.</a:t>
                </a:r>
                <a:endParaRPr sz="2400">
                  <a:latin typeface="Consolas"/>
                  <a:ea typeface="Consolas"/>
                  <a:cs typeface="Consolas"/>
                  <a:sym typeface="Consolas"/>
                </a:endParaRPr>
              </a:p>
            </p:txBody>
          </p:sp>
          <p:sp>
            <p:nvSpPr>
              <p:cNvPr id="1327" name="Google Shape;1327;p88"/>
              <p:cNvSpPr txBox="1"/>
              <p:nvPr/>
            </p:nvSpPr>
            <p:spPr>
              <a:xfrm>
                <a:off x="4583218" y="2750339"/>
                <a:ext cx="540000" cy="308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400">
                    <a:latin typeface="Consolas"/>
                    <a:ea typeface="Consolas"/>
                    <a:cs typeface="Consolas"/>
                    <a:sym typeface="Consolas"/>
                  </a:rPr>
                  <a:t>B.</a:t>
                </a:r>
                <a:endParaRPr sz="2400">
                  <a:latin typeface="Consolas"/>
                  <a:ea typeface="Consolas"/>
                  <a:cs typeface="Consolas"/>
                  <a:sym typeface="Consolas"/>
                </a:endParaRPr>
              </a:p>
            </p:txBody>
          </p:sp>
          <p:sp>
            <p:nvSpPr>
              <p:cNvPr id="1328" name="Google Shape;1328;p88"/>
              <p:cNvSpPr txBox="1"/>
              <p:nvPr/>
            </p:nvSpPr>
            <p:spPr>
              <a:xfrm>
                <a:off x="4583218" y="3588539"/>
                <a:ext cx="540000" cy="308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400">
                    <a:latin typeface="Consolas"/>
                    <a:ea typeface="Consolas"/>
                    <a:cs typeface="Consolas"/>
                    <a:sym typeface="Consolas"/>
                  </a:rPr>
                  <a:t>D.</a:t>
                </a:r>
                <a:endParaRPr sz="2400">
                  <a:latin typeface="Consolas"/>
                  <a:ea typeface="Consolas"/>
                  <a:cs typeface="Consolas"/>
                  <a:sym typeface="Consolas"/>
                </a:endParaRPr>
              </a:p>
            </p:txBody>
          </p:sp>
        </p:grpSp>
        <p:sp>
          <p:nvSpPr>
            <p:cNvPr id="1329" name="Google Shape;1329;p88"/>
            <p:cNvSpPr txBox="1"/>
            <p:nvPr/>
          </p:nvSpPr>
          <p:spPr>
            <a:xfrm>
              <a:off x="2331225" y="2435550"/>
              <a:ext cx="268200" cy="219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latin typeface="Consolas"/>
                  <a:ea typeface="Consolas"/>
                  <a:cs typeface="Consolas"/>
                  <a:sym typeface="Consolas"/>
                </a:rPr>
                <a:t>j</a:t>
              </a:r>
              <a:endParaRPr>
                <a:latin typeface="Consolas"/>
                <a:ea typeface="Consolas"/>
                <a:cs typeface="Consolas"/>
                <a:sym typeface="Consolas"/>
              </a:endParaRPr>
            </a:p>
          </p:txBody>
        </p:sp>
        <p:sp>
          <p:nvSpPr>
            <p:cNvPr id="1330" name="Google Shape;1330;p88"/>
            <p:cNvSpPr txBox="1"/>
            <p:nvPr/>
          </p:nvSpPr>
          <p:spPr>
            <a:xfrm>
              <a:off x="6759000" y="2444850"/>
              <a:ext cx="268200" cy="219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latin typeface="Consolas"/>
                  <a:ea typeface="Consolas"/>
                  <a:cs typeface="Consolas"/>
                  <a:sym typeface="Consolas"/>
                </a:rPr>
                <a:t>j</a:t>
              </a:r>
              <a:endParaRPr>
                <a:latin typeface="Consolas"/>
                <a:ea typeface="Consolas"/>
                <a:cs typeface="Consolas"/>
                <a:sym typeface="Consolas"/>
              </a:endParaRPr>
            </a:p>
          </p:txBody>
        </p:sp>
        <p:sp>
          <p:nvSpPr>
            <p:cNvPr id="1331" name="Google Shape;1331;p88"/>
            <p:cNvSpPr txBox="1"/>
            <p:nvPr/>
          </p:nvSpPr>
          <p:spPr>
            <a:xfrm>
              <a:off x="2837000" y="3281293"/>
              <a:ext cx="268200" cy="219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latin typeface="Consolas"/>
                  <a:ea typeface="Consolas"/>
                  <a:cs typeface="Consolas"/>
                  <a:sym typeface="Consolas"/>
                </a:rPr>
                <a:t>j</a:t>
              </a:r>
              <a:endParaRPr>
                <a:latin typeface="Consolas"/>
                <a:ea typeface="Consolas"/>
                <a:cs typeface="Consolas"/>
                <a:sym typeface="Consolas"/>
              </a:endParaRPr>
            </a:p>
          </p:txBody>
        </p:sp>
        <p:sp>
          <p:nvSpPr>
            <p:cNvPr id="1332" name="Google Shape;1332;p88"/>
            <p:cNvSpPr txBox="1"/>
            <p:nvPr/>
          </p:nvSpPr>
          <p:spPr>
            <a:xfrm>
              <a:off x="6225600" y="3283050"/>
              <a:ext cx="268200" cy="219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latin typeface="Consolas"/>
                  <a:ea typeface="Consolas"/>
                  <a:cs typeface="Consolas"/>
                  <a:sym typeface="Consolas"/>
                </a:rPr>
                <a:t>j</a:t>
              </a:r>
              <a:endParaRPr>
                <a:latin typeface="Consolas"/>
                <a:ea typeface="Consolas"/>
                <a:cs typeface="Consolas"/>
                <a:sym typeface="Consolas"/>
              </a:endParaRPr>
            </a:p>
          </p:txBody>
        </p:sp>
      </p:grpSp>
      <p:cxnSp>
        <p:nvCxnSpPr>
          <p:cNvPr id="1333" name="Google Shape;1333;p88"/>
          <p:cNvCxnSpPr/>
          <p:nvPr/>
        </p:nvCxnSpPr>
        <p:spPr>
          <a:xfrm flipH="1">
            <a:off x="6854325" y="1433275"/>
            <a:ext cx="389400" cy="202500"/>
          </a:xfrm>
          <a:prstGeom prst="straightConnector1">
            <a:avLst/>
          </a:prstGeom>
          <a:noFill/>
          <a:ln cap="flat" cmpd="sng" w="19050">
            <a:solidFill>
              <a:schemeClr val="dk2"/>
            </a:solidFill>
            <a:prstDash val="solid"/>
            <a:round/>
            <a:headEnd len="med" w="med" type="none"/>
            <a:tailEnd len="med" w="med" type="triangle"/>
          </a:ln>
        </p:spPr>
      </p:cxnSp>
      <p:sp>
        <p:nvSpPr>
          <p:cNvPr id="1334" name="Google Shape;1334;p88"/>
          <p:cNvSpPr txBox="1"/>
          <p:nvPr/>
        </p:nvSpPr>
        <p:spPr>
          <a:xfrm>
            <a:off x="7181400" y="1137300"/>
            <a:ext cx="1680300" cy="30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Called the ‘pivot’.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95"/>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29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8" name="Shape 1338"/>
        <p:cNvGrpSpPr/>
        <p:nvPr/>
      </p:nvGrpSpPr>
      <p:grpSpPr>
        <a:xfrm>
          <a:off x="0" y="0"/>
          <a:ext cx="0" cy="0"/>
          <a:chOff x="0" y="0"/>
          <a:chExt cx="0" cy="0"/>
        </a:xfrm>
      </p:grpSpPr>
      <p:sp>
        <p:nvSpPr>
          <p:cNvPr id="1339" name="Google Shape;1339;p8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Core Idea of Tony’s Sort: Partitioning</a:t>
            </a:r>
            <a:endParaRPr/>
          </a:p>
        </p:txBody>
      </p:sp>
      <p:sp>
        <p:nvSpPr>
          <p:cNvPr id="1340" name="Google Shape;1340;p89"/>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To partition an array a[] on element </a:t>
            </a:r>
            <a:r>
              <a:rPr lang="en">
                <a:solidFill>
                  <a:srgbClr val="000000"/>
                </a:solidFill>
                <a:highlight>
                  <a:srgbClr val="B1DD8B"/>
                </a:highlight>
              </a:rPr>
              <a:t>x=a[i]</a:t>
            </a:r>
            <a:r>
              <a:rPr lang="en"/>
              <a:t> is to rearrange a[] so that:</a:t>
            </a:r>
            <a:endParaRPr/>
          </a:p>
          <a:p>
            <a:pPr indent="-342900" lvl="0" marL="457200" rtl="0" algn="l">
              <a:spcBef>
                <a:spcPts val="600"/>
              </a:spcBef>
              <a:spcAft>
                <a:spcPts val="0"/>
              </a:spcAft>
              <a:buSzPts val="1800"/>
              <a:buChar char="●"/>
            </a:pPr>
            <a:r>
              <a:rPr lang="en"/>
              <a:t>x moves to position j (may be the same as i)</a:t>
            </a:r>
            <a:endParaRPr/>
          </a:p>
          <a:p>
            <a:pPr indent="-342900" lvl="0" marL="457200" rtl="0" algn="l">
              <a:spcBef>
                <a:spcPts val="0"/>
              </a:spcBef>
              <a:spcAft>
                <a:spcPts val="0"/>
              </a:spcAft>
              <a:buSzPts val="1800"/>
              <a:buChar char="●"/>
            </a:pPr>
            <a:r>
              <a:rPr lang="en"/>
              <a:t>All entries to the left of </a:t>
            </a:r>
            <a:r>
              <a:rPr lang="en">
                <a:solidFill>
                  <a:srgbClr val="000000"/>
                </a:solidFill>
                <a:highlight>
                  <a:srgbClr val="B1DD8B"/>
                </a:highlight>
              </a:rPr>
              <a:t>x</a:t>
            </a:r>
            <a:r>
              <a:rPr lang="en"/>
              <a:t> are &lt;= </a:t>
            </a:r>
            <a:r>
              <a:rPr lang="en">
                <a:highlight>
                  <a:srgbClr val="B1DD8B"/>
                </a:highlight>
              </a:rPr>
              <a:t>x</a:t>
            </a:r>
            <a:r>
              <a:rPr lang="en"/>
              <a:t>.</a:t>
            </a:r>
            <a:endParaRPr/>
          </a:p>
          <a:p>
            <a:pPr indent="-342900" lvl="0" marL="457200" rtl="0" algn="l">
              <a:spcBef>
                <a:spcPts val="0"/>
              </a:spcBef>
              <a:spcAft>
                <a:spcPts val="0"/>
              </a:spcAft>
              <a:buSzPts val="1800"/>
              <a:buChar char="●"/>
            </a:pPr>
            <a:r>
              <a:rPr lang="en"/>
              <a:t>All entries to the right of </a:t>
            </a:r>
            <a:r>
              <a:rPr lang="en">
                <a:solidFill>
                  <a:srgbClr val="000000"/>
                </a:solidFill>
                <a:highlight>
                  <a:srgbClr val="B1DD8B"/>
                </a:highlight>
              </a:rPr>
              <a:t>x</a:t>
            </a:r>
            <a:r>
              <a:rPr lang="en"/>
              <a:t> are &gt;= </a:t>
            </a:r>
            <a:r>
              <a:rPr lang="en">
                <a:highlight>
                  <a:srgbClr val="B1DD8B"/>
                </a:highlight>
              </a:rPr>
              <a:t>x</a:t>
            </a:r>
            <a:r>
              <a:rPr lang="en"/>
              <a:t>.</a:t>
            </a:r>
            <a:endParaRPr/>
          </a:p>
        </p:txBody>
      </p:sp>
      <p:sp>
        <p:nvSpPr>
          <p:cNvPr id="1341" name="Google Shape;1341;p89"/>
          <p:cNvSpPr/>
          <p:nvPr/>
        </p:nvSpPr>
        <p:spPr>
          <a:xfrm>
            <a:off x="5291050" y="17406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a:t>
            </a:r>
            <a:endParaRPr sz="1800">
              <a:latin typeface="Calibri"/>
              <a:ea typeface="Calibri"/>
              <a:cs typeface="Calibri"/>
              <a:sym typeface="Calibri"/>
            </a:endParaRPr>
          </a:p>
        </p:txBody>
      </p:sp>
      <p:sp>
        <p:nvSpPr>
          <p:cNvPr id="1342" name="Google Shape;1342;p89"/>
          <p:cNvSpPr/>
          <p:nvPr/>
        </p:nvSpPr>
        <p:spPr>
          <a:xfrm>
            <a:off x="5820105" y="17406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550</a:t>
            </a:r>
            <a:endParaRPr sz="1800">
              <a:latin typeface="Calibri"/>
              <a:ea typeface="Calibri"/>
              <a:cs typeface="Calibri"/>
              <a:sym typeface="Calibri"/>
            </a:endParaRPr>
          </a:p>
        </p:txBody>
      </p:sp>
      <p:sp>
        <p:nvSpPr>
          <p:cNvPr id="1343" name="Google Shape;1343;p89"/>
          <p:cNvSpPr/>
          <p:nvPr/>
        </p:nvSpPr>
        <p:spPr>
          <a:xfrm>
            <a:off x="6353686" y="1740625"/>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344" name="Google Shape;1344;p89"/>
          <p:cNvSpPr/>
          <p:nvPr/>
        </p:nvSpPr>
        <p:spPr>
          <a:xfrm>
            <a:off x="6882741" y="17406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1345" name="Google Shape;1345;p89"/>
          <p:cNvSpPr/>
          <p:nvPr/>
        </p:nvSpPr>
        <p:spPr>
          <a:xfrm>
            <a:off x="7411309" y="17406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346" name="Google Shape;1346;p89"/>
          <p:cNvSpPr/>
          <p:nvPr/>
        </p:nvSpPr>
        <p:spPr>
          <a:xfrm>
            <a:off x="7940363" y="17406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9</a:t>
            </a:r>
            <a:endParaRPr sz="1800">
              <a:latin typeface="Calibri"/>
              <a:ea typeface="Calibri"/>
              <a:cs typeface="Calibri"/>
              <a:sym typeface="Calibri"/>
            </a:endParaRPr>
          </a:p>
        </p:txBody>
      </p:sp>
      <p:sp>
        <p:nvSpPr>
          <p:cNvPr id="1347" name="Google Shape;1347;p89"/>
          <p:cNvSpPr/>
          <p:nvPr/>
        </p:nvSpPr>
        <p:spPr>
          <a:xfrm>
            <a:off x="8473945" y="17406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330</a:t>
            </a:r>
            <a:endParaRPr sz="1800">
              <a:latin typeface="Calibri"/>
              <a:ea typeface="Calibri"/>
              <a:cs typeface="Calibri"/>
              <a:sym typeface="Calibri"/>
            </a:endParaRPr>
          </a:p>
        </p:txBody>
      </p:sp>
      <p:sp>
        <p:nvSpPr>
          <p:cNvPr id="1348" name="Google Shape;1348;p89"/>
          <p:cNvSpPr txBox="1"/>
          <p:nvPr>
            <p:ph idx="1" type="body"/>
          </p:nvPr>
        </p:nvSpPr>
        <p:spPr>
          <a:xfrm>
            <a:off x="243000" y="4255650"/>
            <a:ext cx="8618700" cy="8826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Which partitions are valid?</a:t>
            </a:r>
            <a:endParaRPr/>
          </a:p>
        </p:txBody>
      </p:sp>
      <p:sp>
        <p:nvSpPr>
          <p:cNvPr id="1349" name="Google Shape;1349;p89"/>
          <p:cNvSpPr txBox="1"/>
          <p:nvPr/>
        </p:nvSpPr>
        <p:spPr>
          <a:xfrm>
            <a:off x="6490800" y="1444475"/>
            <a:ext cx="268200" cy="219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latin typeface="Consolas"/>
                <a:ea typeface="Consolas"/>
                <a:cs typeface="Consolas"/>
                <a:sym typeface="Consolas"/>
              </a:rPr>
              <a:t>i</a:t>
            </a:r>
            <a:endParaRPr>
              <a:latin typeface="Consolas"/>
              <a:ea typeface="Consolas"/>
              <a:cs typeface="Consolas"/>
              <a:sym typeface="Consolas"/>
            </a:endParaRPr>
          </a:p>
        </p:txBody>
      </p:sp>
      <p:grpSp>
        <p:nvGrpSpPr>
          <p:cNvPr id="1350" name="Google Shape;1350;p89"/>
          <p:cNvGrpSpPr/>
          <p:nvPr/>
        </p:nvGrpSpPr>
        <p:grpSpPr>
          <a:xfrm>
            <a:off x="118850" y="2435550"/>
            <a:ext cx="8666745" cy="1666825"/>
            <a:chOff x="118850" y="2435550"/>
            <a:chExt cx="8666745" cy="1666825"/>
          </a:xfrm>
        </p:grpSpPr>
        <p:grpSp>
          <p:nvGrpSpPr>
            <p:cNvPr id="1351" name="Google Shape;1351;p89"/>
            <p:cNvGrpSpPr/>
            <p:nvPr/>
          </p:nvGrpSpPr>
          <p:grpSpPr>
            <a:xfrm>
              <a:off x="118850" y="2731650"/>
              <a:ext cx="8666745" cy="1370725"/>
              <a:chOff x="118850" y="2731650"/>
              <a:chExt cx="8666745" cy="1370725"/>
            </a:xfrm>
          </p:grpSpPr>
          <p:sp>
            <p:nvSpPr>
              <p:cNvPr id="1352" name="Google Shape;1352;p89"/>
              <p:cNvSpPr/>
              <p:nvPr/>
            </p:nvSpPr>
            <p:spPr>
              <a:xfrm>
                <a:off x="602100"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1353" name="Google Shape;1353;p89"/>
              <p:cNvSpPr/>
              <p:nvPr/>
            </p:nvSpPr>
            <p:spPr>
              <a:xfrm>
                <a:off x="1131155"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a:t>
                </a:r>
                <a:endParaRPr sz="1800">
                  <a:latin typeface="Calibri"/>
                  <a:ea typeface="Calibri"/>
                  <a:cs typeface="Calibri"/>
                  <a:sym typeface="Calibri"/>
                </a:endParaRPr>
              </a:p>
            </p:txBody>
          </p:sp>
          <p:sp>
            <p:nvSpPr>
              <p:cNvPr id="1354" name="Google Shape;1354;p89"/>
              <p:cNvSpPr/>
              <p:nvPr/>
            </p:nvSpPr>
            <p:spPr>
              <a:xfrm>
                <a:off x="1664737"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9</a:t>
                </a:r>
                <a:endParaRPr sz="1800">
                  <a:latin typeface="Calibri"/>
                  <a:ea typeface="Calibri"/>
                  <a:cs typeface="Calibri"/>
                  <a:sym typeface="Calibri"/>
                </a:endParaRPr>
              </a:p>
            </p:txBody>
          </p:sp>
          <p:sp>
            <p:nvSpPr>
              <p:cNvPr id="1355" name="Google Shape;1355;p89"/>
              <p:cNvSpPr/>
              <p:nvPr/>
            </p:nvSpPr>
            <p:spPr>
              <a:xfrm>
                <a:off x="2193791" y="2768875"/>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356" name="Google Shape;1356;p89"/>
              <p:cNvSpPr/>
              <p:nvPr/>
            </p:nvSpPr>
            <p:spPr>
              <a:xfrm>
                <a:off x="2722359"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357" name="Google Shape;1357;p89"/>
              <p:cNvSpPr/>
              <p:nvPr/>
            </p:nvSpPr>
            <p:spPr>
              <a:xfrm>
                <a:off x="3251413"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330</a:t>
                </a:r>
                <a:endParaRPr sz="1800">
                  <a:latin typeface="Calibri"/>
                  <a:ea typeface="Calibri"/>
                  <a:cs typeface="Calibri"/>
                  <a:sym typeface="Calibri"/>
                </a:endParaRPr>
              </a:p>
            </p:txBody>
          </p:sp>
          <p:sp>
            <p:nvSpPr>
              <p:cNvPr id="1358" name="Google Shape;1358;p89"/>
              <p:cNvSpPr/>
              <p:nvPr/>
            </p:nvSpPr>
            <p:spPr>
              <a:xfrm>
                <a:off x="3784995"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550</a:t>
                </a:r>
                <a:endParaRPr sz="1800">
                  <a:latin typeface="Calibri"/>
                  <a:ea typeface="Calibri"/>
                  <a:cs typeface="Calibri"/>
                  <a:sym typeface="Calibri"/>
                </a:endParaRPr>
              </a:p>
            </p:txBody>
          </p:sp>
          <p:sp>
            <p:nvSpPr>
              <p:cNvPr id="1359" name="Google Shape;1359;p89"/>
              <p:cNvSpPr/>
              <p:nvPr/>
            </p:nvSpPr>
            <p:spPr>
              <a:xfrm>
                <a:off x="602100"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a:t>
                </a:r>
                <a:endParaRPr sz="1800">
                  <a:latin typeface="Calibri"/>
                  <a:ea typeface="Calibri"/>
                  <a:cs typeface="Calibri"/>
                  <a:sym typeface="Calibri"/>
                </a:endParaRPr>
              </a:p>
            </p:txBody>
          </p:sp>
          <p:sp>
            <p:nvSpPr>
              <p:cNvPr id="1360" name="Google Shape;1360;p89"/>
              <p:cNvSpPr/>
              <p:nvPr/>
            </p:nvSpPr>
            <p:spPr>
              <a:xfrm>
                <a:off x="1131155"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9</a:t>
                </a:r>
                <a:endParaRPr sz="1800">
                  <a:latin typeface="Calibri"/>
                  <a:ea typeface="Calibri"/>
                  <a:cs typeface="Calibri"/>
                  <a:sym typeface="Calibri"/>
                </a:endParaRPr>
              </a:p>
            </p:txBody>
          </p:sp>
          <p:sp>
            <p:nvSpPr>
              <p:cNvPr id="1361" name="Google Shape;1361;p89"/>
              <p:cNvSpPr/>
              <p:nvPr/>
            </p:nvSpPr>
            <p:spPr>
              <a:xfrm>
                <a:off x="1664737"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362" name="Google Shape;1362;p89"/>
              <p:cNvSpPr/>
              <p:nvPr/>
            </p:nvSpPr>
            <p:spPr>
              <a:xfrm>
                <a:off x="2193791"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1363" name="Google Shape;1363;p89"/>
              <p:cNvSpPr/>
              <p:nvPr/>
            </p:nvSpPr>
            <p:spPr>
              <a:xfrm>
                <a:off x="2722359" y="3607075"/>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364" name="Google Shape;1364;p89"/>
              <p:cNvSpPr/>
              <p:nvPr/>
            </p:nvSpPr>
            <p:spPr>
              <a:xfrm>
                <a:off x="3251413"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550</a:t>
                </a:r>
                <a:endParaRPr sz="1800">
                  <a:latin typeface="Calibri"/>
                  <a:ea typeface="Calibri"/>
                  <a:cs typeface="Calibri"/>
                  <a:sym typeface="Calibri"/>
                </a:endParaRPr>
              </a:p>
            </p:txBody>
          </p:sp>
          <p:sp>
            <p:nvSpPr>
              <p:cNvPr id="1365" name="Google Shape;1365;p89"/>
              <p:cNvSpPr/>
              <p:nvPr/>
            </p:nvSpPr>
            <p:spPr>
              <a:xfrm>
                <a:off x="3784995"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330</a:t>
                </a:r>
                <a:endParaRPr sz="1800">
                  <a:latin typeface="Calibri"/>
                  <a:ea typeface="Calibri"/>
                  <a:cs typeface="Calibri"/>
                  <a:sym typeface="Calibri"/>
                </a:endParaRPr>
              </a:p>
            </p:txBody>
          </p:sp>
          <p:sp>
            <p:nvSpPr>
              <p:cNvPr id="1366" name="Google Shape;1366;p89"/>
              <p:cNvSpPr/>
              <p:nvPr/>
            </p:nvSpPr>
            <p:spPr>
              <a:xfrm>
                <a:off x="5062700"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a:t>
                </a:r>
                <a:endParaRPr sz="1800">
                  <a:latin typeface="Calibri"/>
                  <a:ea typeface="Calibri"/>
                  <a:cs typeface="Calibri"/>
                  <a:sym typeface="Calibri"/>
                </a:endParaRPr>
              </a:p>
            </p:txBody>
          </p:sp>
          <p:sp>
            <p:nvSpPr>
              <p:cNvPr id="1367" name="Google Shape;1367;p89"/>
              <p:cNvSpPr/>
              <p:nvPr/>
            </p:nvSpPr>
            <p:spPr>
              <a:xfrm>
                <a:off x="5591755"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1368" name="Google Shape;1368;p89"/>
              <p:cNvSpPr/>
              <p:nvPr/>
            </p:nvSpPr>
            <p:spPr>
              <a:xfrm>
                <a:off x="6125336"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9</a:t>
                </a:r>
                <a:endParaRPr sz="1800">
                  <a:latin typeface="Calibri"/>
                  <a:ea typeface="Calibri"/>
                  <a:cs typeface="Calibri"/>
                  <a:sym typeface="Calibri"/>
                </a:endParaRPr>
              </a:p>
            </p:txBody>
          </p:sp>
          <p:sp>
            <p:nvSpPr>
              <p:cNvPr id="1369" name="Google Shape;1369;p89"/>
              <p:cNvSpPr/>
              <p:nvPr/>
            </p:nvSpPr>
            <p:spPr>
              <a:xfrm>
                <a:off x="6654391" y="2768875"/>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370" name="Google Shape;1370;p89"/>
              <p:cNvSpPr/>
              <p:nvPr/>
            </p:nvSpPr>
            <p:spPr>
              <a:xfrm>
                <a:off x="7182959"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371" name="Google Shape;1371;p89"/>
              <p:cNvSpPr/>
              <p:nvPr/>
            </p:nvSpPr>
            <p:spPr>
              <a:xfrm>
                <a:off x="7712013"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550</a:t>
                </a:r>
                <a:endParaRPr sz="1800">
                  <a:latin typeface="Calibri"/>
                  <a:ea typeface="Calibri"/>
                  <a:cs typeface="Calibri"/>
                  <a:sym typeface="Calibri"/>
                </a:endParaRPr>
              </a:p>
            </p:txBody>
          </p:sp>
          <p:sp>
            <p:nvSpPr>
              <p:cNvPr id="1372" name="Google Shape;1372;p89"/>
              <p:cNvSpPr/>
              <p:nvPr/>
            </p:nvSpPr>
            <p:spPr>
              <a:xfrm>
                <a:off x="8245595" y="27688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330</a:t>
                </a:r>
                <a:endParaRPr sz="1800">
                  <a:latin typeface="Calibri"/>
                  <a:ea typeface="Calibri"/>
                  <a:cs typeface="Calibri"/>
                  <a:sym typeface="Calibri"/>
                </a:endParaRPr>
              </a:p>
            </p:txBody>
          </p:sp>
          <p:sp>
            <p:nvSpPr>
              <p:cNvPr id="1373" name="Google Shape;1373;p89"/>
              <p:cNvSpPr/>
              <p:nvPr/>
            </p:nvSpPr>
            <p:spPr>
              <a:xfrm>
                <a:off x="5062700"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a:t>
                </a:r>
                <a:endParaRPr sz="1800">
                  <a:latin typeface="Calibri"/>
                  <a:ea typeface="Calibri"/>
                  <a:cs typeface="Calibri"/>
                  <a:sym typeface="Calibri"/>
                </a:endParaRPr>
              </a:p>
            </p:txBody>
          </p:sp>
          <p:sp>
            <p:nvSpPr>
              <p:cNvPr id="1374" name="Google Shape;1374;p89"/>
              <p:cNvSpPr/>
              <p:nvPr/>
            </p:nvSpPr>
            <p:spPr>
              <a:xfrm>
                <a:off x="5591755"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9</a:t>
                </a:r>
                <a:endParaRPr sz="1800">
                  <a:latin typeface="Calibri"/>
                  <a:ea typeface="Calibri"/>
                  <a:cs typeface="Calibri"/>
                  <a:sym typeface="Calibri"/>
                </a:endParaRPr>
              </a:p>
            </p:txBody>
          </p:sp>
          <p:sp>
            <p:nvSpPr>
              <p:cNvPr id="1375" name="Google Shape;1375;p89"/>
              <p:cNvSpPr/>
              <p:nvPr/>
            </p:nvSpPr>
            <p:spPr>
              <a:xfrm>
                <a:off x="6125336" y="3607075"/>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376" name="Google Shape;1376;p89"/>
              <p:cNvSpPr/>
              <p:nvPr/>
            </p:nvSpPr>
            <p:spPr>
              <a:xfrm>
                <a:off x="6654391"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1377" name="Google Shape;1377;p89"/>
              <p:cNvSpPr/>
              <p:nvPr/>
            </p:nvSpPr>
            <p:spPr>
              <a:xfrm>
                <a:off x="7182959"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10</a:t>
                </a:r>
                <a:endParaRPr sz="1800">
                  <a:latin typeface="Calibri"/>
                  <a:ea typeface="Calibri"/>
                  <a:cs typeface="Calibri"/>
                  <a:sym typeface="Calibri"/>
                </a:endParaRPr>
              </a:p>
            </p:txBody>
          </p:sp>
          <p:sp>
            <p:nvSpPr>
              <p:cNvPr id="1378" name="Google Shape;1378;p89"/>
              <p:cNvSpPr/>
              <p:nvPr/>
            </p:nvSpPr>
            <p:spPr>
              <a:xfrm>
                <a:off x="7712013"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550</a:t>
                </a:r>
                <a:endParaRPr sz="1800">
                  <a:latin typeface="Calibri"/>
                  <a:ea typeface="Calibri"/>
                  <a:cs typeface="Calibri"/>
                  <a:sym typeface="Calibri"/>
                </a:endParaRPr>
              </a:p>
            </p:txBody>
          </p:sp>
          <p:sp>
            <p:nvSpPr>
              <p:cNvPr id="1379" name="Google Shape;1379;p89"/>
              <p:cNvSpPr/>
              <p:nvPr/>
            </p:nvSpPr>
            <p:spPr>
              <a:xfrm>
                <a:off x="8245595" y="360707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330</a:t>
                </a:r>
                <a:endParaRPr sz="1800">
                  <a:latin typeface="Calibri"/>
                  <a:ea typeface="Calibri"/>
                  <a:cs typeface="Calibri"/>
                  <a:sym typeface="Calibri"/>
                </a:endParaRPr>
              </a:p>
            </p:txBody>
          </p:sp>
          <p:sp>
            <p:nvSpPr>
              <p:cNvPr id="1380" name="Google Shape;1380;p89"/>
              <p:cNvSpPr txBox="1"/>
              <p:nvPr/>
            </p:nvSpPr>
            <p:spPr>
              <a:xfrm>
                <a:off x="118850" y="2731650"/>
                <a:ext cx="540000" cy="308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400">
                    <a:latin typeface="Consolas"/>
                    <a:ea typeface="Consolas"/>
                    <a:cs typeface="Consolas"/>
                    <a:sym typeface="Consolas"/>
                  </a:rPr>
                  <a:t>A.</a:t>
                </a:r>
                <a:endParaRPr sz="2400">
                  <a:latin typeface="Consolas"/>
                  <a:ea typeface="Consolas"/>
                  <a:cs typeface="Consolas"/>
                  <a:sym typeface="Consolas"/>
                </a:endParaRPr>
              </a:p>
            </p:txBody>
          </p:sp>
          <p:sp>
            <p:nvSpPr>
              <p:cNvPr id="1381" name="Google Shape;1381;p89"/>
              <p:cNvSpPr txBox="1"/>
              <p:nvPr/>
            </p:nvSpPr>
            <p:spPr>
              <a:xfrm>
                <a:off x="118850" y="3569850"/>
                <a:ext cx="540000" cy="308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400">
                    <a:latin typeface="Consolas"/>
                    <a:ea typeface="Consolas"/>
                    <a:cs typeface="Consolas"/>
                    <a:sym typeface="Consolas"/>
                  </a:rPr>
                  <a:t>C.</a:t>
                </a:r>
                <a:endParaRPr sz="2400">
                  <a:latin typeface="Consolas"/>
                  <a:ea typeface="Consolas"/>
                  <a:cs typeface="Consolas"/>
                  <a:sym typeface="Consolas"/>
                </a:endParaRPr>
              </a:p>
            </p:txBody>
          </p:sp>
          <p:sp>
            <p:nvSpPr>
              <p:cNvPr id="1382" name="Google Shape;1382;p89"/>
              <p:cNvSpPr txBox="1"/>
              <p:nvPr/>
            </p:nvSpPr>
            <p:spPr>
              <a:xfrm>
                <a:off x="4583218" y="2750339"/>
                <a:ext cx="540000" cy="308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400">
                    <a:latin typeface="Consolas"/>
                    <a:ea typeface="Consolas"/>
                    <a:cs typeface="Consolas"/>
                    <a:sym typeface="Consolas"/>
                  </a:rPr>
                  <a:t>B.</a:t>
                </a:r>
                <a:endParaRPr sz="2400">
                  <a:latin typeface="Consolas"/>
                  <a:ea typeface="Consolas"/>
                  <a:cs typeface="Consolas"/>
                  <a:sym typeface="Consolas"/>
                </a:endParaRPr>
              </a:p>
            </p:txBody>
          </p:sp>
          <p:sp>
            <p:nvSpPr>
              <p:cNvPr id="1383" name="Google Shape;1383;p89"/>
              <p:cNvSpPr txBox="1"/>
              <p:nvPr/>
            </p:nvSpPr>
            <p:spPr>
              <a:xfrm>
                <a:off x="4583218" y="3588539"/>
                <a:ext cx="540000" cy="308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400">
                    <a:latin typeface="Consolas"/>
                    <a:ea typeface="Consolas"/>
                    <a:cs typeface="Consolas"/>
                    <a:sym typeface="Consolas"/>
                  </a:rPr>
                  <a:t>D.</a:t>
                </a:r>
                <a:endParaRPr sz="2400">
                  <a:latin typeface="Consolas"/>
                  <a:ea typeface="Consolas"/>
                  <a:cs typeface="Consolas"/>
                  <a:sym typeface="Consolas"/>
                </a:endParaRPr>
              </a:p>
            </p:txBody>
          </p:sp>
        </p:grpSp>
        <p:sp>
          <p:nvSpPr>
            <p:cNvPr id="1384" name="Google Shape;1384;p89"/>
            <p:cNvSpPr txBox="1"/>
            <p:nvPr/>
          </p:nvSpPr>
          <p:spPr>
            <a:xfrm>
              <a:off x="2331225" y="2435550"/>
              <a:ext cx="268200" cy="219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latin typeface="Consolas"/>
                  <a:ea typeface="Consolas"/>
                  <a:cs typeface="Consolas"/>
                  <a:sym typeface="Consolas"/>
                </a:rPr>
                <a:t>j</a:t>
              </a:r>
              <a:endParaRPr>
                <a:latin typeface="Consolas"/>
                <a:ea typeface="Consolas"/>
                <a:cs typeface="Consolas"/>
                <a:sym typeface="Consolas"/>
              </a:endParaRPr>
            </a:p>
          </p:txBody>
        </p:sp>
        <p:sp>
          <p:nvSpPr>
            <p:cNvPr id="1385" name="Google Shape;1385;p89"/>
            <p:cNvSpPr txBox="1"/>
            <p:nvPr/>
          </p:nvSpPr>
          <p:spPr>
            <a:xfrm>
              <a:off x="6759000" y="2444850"/>
              <a:ext cx="268200" cy="219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latin typeface="Consolas"/>
                  <a:ea typeface="Consolas"/>
                  <a:cs typeface="Consolas"/>
                  <a:sym typeface="Consolas"/>
                </a:rPr>
                <a:t>j</a:t>
              </a:r>
              <a:endParaRPr>
                <a:latin typeface="Consolas"/>
                <a:ea typeface="Consolas"/>
                <a:cs typeface="Consolas"/>
                <a:sym typeface="Consolas"/>
              </a:endParaRPr>
            </a:p>
          </p:txBody>
        </p:sp>
        <p:sp>
          <p:nvSpPr>
            <p:cNvPr id="1386" name="Google Shape;1386;p89"/>
            <p:cNvSpPr txBox="1"/>
            <p:nvPr/>
          </p:nvSpPr>
          <p:spPr>
            <a:xfrm>
              <a:off x="2837000" y="3281293"/>
              <a:ext cx="268200" cy="219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latin typeface="Consolas"/>
                  <a:ea typeface="Consolas"/>
                  <a:cs typeface="Consolas"/>
                  <a:sym typeface="Consolas"/>
                </a:rPr>
                <a:t>j</a:t>
              </a:r>
              <a:endParaRPr>
                <a:latin typeface="Consolas"/>
                <a:ea typeface="Consolas"/>
                <a:cs typeface="Consolas"/>
                <a:sym typeface="Consolas"/>
              </a:endParaRPr>
            </a:p>
          </p:txBody>
        </p:sp>
        <p:sp>
          <p:nvSpPr>
            <p:cNvPr id="1387" name="Google Shape;1387;p89"/>
            <p:cNvSpPr txBox="1"/>
            <p:nvPr/>
          </p:nvSpPr>
          <p:spPr>
            <a:xfrm>
              <a:off x="6225600" y="3283050"/>
              <a:ext cx="268200" cy="219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latin typeface="Consolas"/>
                  <a:ea typeface="Consolas"/>
                  <a:cs typeface="Consolas"/>
                  <a:sym typeface="Consolas"/>
                </a:rPr>
                <a:t>j</a:t>
              </a:r>
              <a:endParaRPr>
                <a:latin typeface="Consolas"/>
                <a:ea typeface="Consolas"/>
                <a:cs typeface="Consolas"/>
                <a:sym typeface="Consolas"/>
              </a:endParaRPr>
            </a:p>
          </p:txBody>
        </p:sp>
      </p:grpSp>
      <p:cxnSp>
        <p:nvCxnSpPr>
          <p:cNvPr id="1388" name="Google Shape;1388;p89"/>
          <p:cNvCxnSpPr/>
          <p:nvPr/>
        </p:nvCxnSpPr>
        <p:spPr>
          <a:xfrm flipH="1">
            <a:off x="6668858" y="3457726"/>
            <a:ext cx="510900" cy="843300"/>
          </a:xfrm>
          <a:prstGeom prst="straightConnector1">
            <a:avLst/>
          </a:prstGeom>
          <a:noFill/>
          <a:ln cap="flat" cmpd="sng" w="19050">
            <a:solidFill>
              <a:srgbClr val="FF0000"/>
            </a:solidFill>
            <a:prstDash val="solid"/>
            <a:round/>
            <a:headEnd len="med" w="med" type="none"/>
            <a:tailEnd len="med" w="med" type="none"/>
          </a:ln>
        </p:spPr>
      </p:cxnSp>
      <p:cxnSp>
        <p:nvCxnSpPr>
          <p:cNvPr id="1389" name="Google Shape;1389;p89"/>
          <p:cNvCxnSpPr/>
          <p:nvPr/>
        </p:nvCxnSpPr>
        <p:spPr>
          <a:xfrm>
            <a:off x="6657083" y="3529001"/>
            <a:ext cx="570300" cy="783900"/>
          </a:xfrm>
          <a:prstGeom prst="straightConnector1">
            <a:avLst/>
          </a:prstGeom>
          <a:noFill/>
          <a:ln cap="flat" cmpd="sng" w="19050">
            <a:solidFill>
              <a:srgbClr val="FF0000"/>
            </a:solidFill>
            <a:prstDash val="solid"/>
            <a:round/>
            <a:headEnd len="med" w="med" type="none"/>
            <a:tailEnd len="med" w="med" type="none"/>
          </a:ln>
        </p:spPr>
      </p:cxnSp>
      <p:sp>
        <p:nvSpPr>
          <p:cNvPr id="1390" name="Google Shape;1390;p89"/>
          <p:cNvSpPr txBox="1"/>
          <p:nvPr/>
        </p:nvSpPr>
        <p:spPr>
          <a:xfrm>
            <a:off x="7181400" y="1137300"/>
            <a:ext cx="1680300" cy="30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Called the ‘pivot’.</a:t>
            </a:r>
            <a:endParaRPr/>
          </a:p>
        </p:txBody>
      </p:sp>
      <p:cxnSp>
        <p:nvCxnSpPr>
          <p:cNvPr id="1391" name="Google Shape;1391;p89"/>
          <p:cNvCxnSpPr/>
          <p:nvPr/>
        </p:nvCxnSpPr>
        <p:spPr>
          <a:xfrm flipH="1">
            <a:off x="6854325" y="1433275"/>
            <a:ext cx="389400" cy="202500"/>
          </a:xfrm>
          <a:prstGeom prst="straightConnector1">
            <a:avLst/>
          </a:prstGeom>
          <a:noFill/>
          <a:ln cap="flat" cmpd="sng" w="19050">
            <a:solidFill>
              <a:schemeClr val="dk2"/>
            </a:solidFill>
            <a:prstDash val="solid"/>
            <a:round/>
            <a:headEnd len="med" w="med" type="none"/>
            <a:tailEnd len="med" w="med" type="triangle"/>
          </a:ln>
        </p:spPr>
      </p:cxn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FE2F3"/>
        </a:solidFill>
      </p:bgPr>
    </p:bg>
    <p:spTree>
      <p:nvGrpSpPr>
        <p:cNvPr id="1395" name="Shape 1395"/>
        <p:cNvGrpSpPr/>
        <p:nvPr/>
      </p:nvGrpSpPr>
      <p:grpSpPr>
        <a:xfrm>
          <a:off x="0" y="0"/>
          <a:ext cx="0" cy="0"/>
          <a:chOff x="0" y="0"/>
          <a:chExt cx="0" cy="0"/>
        </a:xfrm>
      </p:grpSpPr>
      <p:sp>
        <p:nvSpPr>
          <p:cNvPr id="1396" name="Google Shape;1396;p90"/>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Job Interview Style Question (Partitioning)</a:t>
            </a:r>
            <a:endParaRPr/>
          </a:p>
        </p:txBody>
      </p:sp>
      <p:sp>
        <p:nvSpPr>
          <p:cNvPr id="1397" name="Google Shape;1397;p90"/>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Given an array of colors where the 0th element is white (and maybe a few more), and the remaining elements are red (less) or blue (greater), rearrange the array so that all red squares are to the left of the white square, the white squares end up together, and all blue squares are to the right. Your algorithm must complete in Θ(N) time (no space restriction).</a:t>
            </a:r>
            <a:endParaRPr/>
          </a:p>
          <a:p>
            <a:pPr indent="-342900" lvl="0" marL="457200" rtl="0" algn="l">
              <a:spcBef>
                <a:spcPts val="600"/>
              </a:spcBef>
              <a:spcAft>
                <a:spcPts val="0"/>
              </a:spcAft>
              <a:buSzPts val="1800"/>
              <a:buChar char="●"/>
            </a:pPr>
            <a:r>
              <a:rPr lang="en"/>
              <a:t>Relative order of red and blues does NOT need to stay the same.</a:t>
            </a:r>
            <a:endParaRPr/>
          </a:p>
        </p:txBody>
      </p:sp>
      <p:sp>
        <p:nvSpPr>
          <p:cNvPr id="1398" name="Google Shape;1398;p90"/>
          <p:cNvSpPr/>
          <p:nvPr/>
        </p:nvSpPr>
        <p:spPr>
          <a:xfrm>
            <a:off x="194625" y="4192500"/>
            <a:ext cx="540000" cy="495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a:t>
            </a:r>
            <a:endParaRPr sz="1800">
              <a:latin typeface="Calibri"/>
              <a:ea typeface="Calibri"/>
              <a:cs typeface="Calibri"/>
              <a:sym typeface="Calibri"/>
            </a:endParaRPr>
          </a:p>
        </p:txBody>
      </p:sp>
      <p:sp>
        <p:nvSpPr>
          <p:cNvPr id="1399" name="Google Shape;1399;p90"/>
          <p:cNvSpPr/>
          <p:nvPr/>
        </p:nvSpPr>
        <p:spPr>
          <a:xfrm>
            <a:off x="723680" y="4192500"/>
            <a:ext cx="540000" cy="495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a:t>
            </a:r>
            <a:endParaRPr sz="1800">
              <a:latin typeface="Calibri"/>
              <a:ea typeface="Calibri"/>
              <a:cs typeface="Calibri"/>
              <a:sym typeface="Calibri"/>
            </a:endParaRPr>
          </a:p>
        </p:txBody>
      </p:sp>
      <p:sp>
        <p:nvSpPr>
          <p:cNvPr id="1400" name="Google Shape;1400;p90"/>
          <p:cNvSpPr/>
          <p:nvPr/>
        </p:nvSpPr>
        <p:spPr>
          <a:xfrm>
            <a:off x="1257261" y="4192500"/>
            <a:ext cx="540000" cy="495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401" name="Google Shape;1401;p90"/>
          <p:cNvSpPr/>
          <p:nvPr/>
        </p:nvSpPr>
        <p:spPr>
          <a:xfrm>
            <a:off x="1786316" y="4192500"/>
            <a:ext cx="540000" cy="495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1402" name="Google Shape;1402;p90"/>
          <p:cNvSpPr/>
          <p:nvPr/>
        </p:nvSpPr>
        <p:spPr>
          <a:xfrm>
            <a:off x="2314884" y="4192500"/>
            <a:ext cx="540000" cy="495300"/>
          </a:xfrm>
          <a:prstGeom prst="rect">
            <a:avLst/>
          </a:prstGeom>
          <a:solidFill>
            <a:srgbClr val="FFFFFF"/>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6</a:t>
            </a:r>
            <a:endParaRPr sz="1800">
              <a:latin typeface="Calibri"/>
              <a:ea typeface="Calibri"/>
              <a:cs typeface="Calibri"/>
              <a:sym typeface="Calibri"/>
            </a:endParaRPr>
          </a:p>
        </p:txBody>
      </p:sp>
      <p:sp>
        <p:nvSpPr>
          <p:cNvPr id="1403" name="Google Shape;1403;p90"/>
          <p:cNvSpPr/>
          <p:nvPr/>
        </p:nvSpPr>
        <p:spPr>
          <a:xfrm>
            <a:off x="3377338" y="4192500"/>
            <a:ext cx="540000" cy="495300"/>
          </a:xfrm>
          <a:prstGeom prst="rect">
            <a:avLst/>
          </a:prstGeom>
          <a:solidFill>
            <a:srgbClr val="A4C2F4"/>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8</a:t>
            </a:r>
            <a:endParaRPr sz="1800">
              <a:latin typeface="Calibri"/>
              <a:ea typeface="Calibri"/>
              <a:cs typeface="Calibri"/>
              <a:sym typeface="Calibri"/>
            </a:endParaRPr>
          </a:p>
        </p:txBody>
      </p:sp>
      <p:sp>
        <p:nvSpPr>
          <p:cNvPr id="1404" name="Google Shape;1404;p90"/>
          <p:cNvSpPr/>
          <p:nvPr/>
        </p:nvSpPr>
        <p:spPr>
          <a:xfrm>
            <a:off x="3910920" y="4192500"/>
            <a:ext cx="540000" cy="495300"/>
          </a:xfrm>
          <a:prstGeom prst="rect">
            <a:avLst/>
          </a:prstGeom>
          <a:solidFill>
            <a:srgbClr val="A4C2F4"/>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7</a:t>
            </a:r>
            <a:endParaRPr sz="1800">
              <a:latin typeface="Calibri"/>
              <a:ea typeface="Calibri"/>
              <a:cs typeface="Calibri"/>
              <a:sym typeface="Calibri"/>
            </a:endParaRPr>
          </a:p>
        </p:txBody>
      </p:sp>
      <p:sp>
        <p:nvSpPr>
          <p:cNvPr id="1405" name="Google Shape;1405;p90"/>
          <p:cNvSpPr/>
          <p:nvPr/>
        </p:nvSpPr>
        <p:spPr>
          <a:xfrm>
            <a:off x="4792925" y="4192500"/>
            <a:ext cx="540000" cy="495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a:t>
            </a:r>
            <a:endParaRPr sz="1800">
              <a:latin typeface="Calibri"/>
              <a:ea typeface="Calibri"/>
              <a:cs typeface="Calibri"/>
              <a:sym typeface="Calibri"/>
            </a:endParaRPr>
          </a:p>
        </p:txBody>
      </p:sp>
      <p:sp>
        <p:nvSpPr>
          <p:cNvPr id="1406" name="Google Shape;1406;p90"/>
          <p:cNvSpPr/>
          <p:nvPr/>
        </p:nvSpPr>
        <p:spPr>
          <a:xfrm>
            <a:off x="5321980" y="4192500"/>
            <a:ext cx="540000" cy="495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1407" name="Google Shape;1407;p90"/>
          <p:cNvSpPr/>
          <p:nvPr/>
        </p:nvSpPr>
        <p:spPr>
          <a:xfrm>
            <a:off x="5855561" y="4192500"/>
            <a:ext cx="540000" cy="495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a:t>
            </a:r>
            <a:endParaRPr sz="1800">
              <a:latin typeface="Calibri"/>
              <a:ea typeface="Calibri"/>
              <a:cs typeface="Calibri"/>
              <a:sym typeface="Calibri"/>
            </a:endParaRPr>
          </a:p>
        </p:txBody>
      </p:sp>
      <p:sp>
        <p:nvSpPr>
          <p:cNvPr id="1408" name="Google Shape;1408;p90"/>
          <p:cNvSpPr/>
          <p:nvPr/>
        </p:nvSpPr>
        <p:spPr>
          <a:xfrm>
            <a:off x="6384616" y="4192500"/>
            <a:ext cx="540000" cy="495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409" name="Google Shape;1409;p90"/>
          <p:cNvSpPr/>
          <p:nvPr/>
        </p:nvSpPr>
        <p:spPr>
          <a:xfrm>
            <a:off x="6913184" y="4192500"/>
            <a:ext cx="540000" cy="495300"/>
          </a:xfrm>
          <a:prstGeom prst="rect">
            <a:avLst/>
          </a:prstGeom>
          <a:solidFill>
            <a:srgbClr val="FFFFFF"/>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6</a:t>
            </a:r>
            <a:endParaRPr sz="1800">
              <a:latin typeface="Calibri"/>
              <a:ea typeface="Calibri"/>
              <a:cs typeface="Calibri"/>
              <a:sym typeface="Calibri"/>
            </a:endParaRPr>
          </a:p>
        </p:txBody>
      </p:sp>
      <p:sp>
        <p:nvSpPr>
          <p:cNvPr id="1410" name="Google Shape;1410;p90"/>
          <p:cNvSpPr/>
          <p:nvPr/>
        </p:nvSpPr>
        <p:spPr>
          <a:xfrm>
            <a:off x="7975638" y="4192500"/>
            <a:ext cx="540000" cy="495300"/>
          </a:xfrm>
          <a:prstGeom prst="rect">
            <a:avLst/>
          </a:prstGeom>
          <a:solidFill>
            <a:srgbClr val="A4C2F4"/>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7</a:t>
            </a:r>
            <a:endParaRPr sz="1800">
              <a:latin typeface="Calibri"/>
              <a:ea typeface="Calibri"/>
              <a:cs typeface="Calibri"/>
              <a:sym typeface="Calibri"/>
            </a:endParaRPr>
          </a:p>
        </p:txBody>
      </p:sp>
      <p:sp>
        <p:nvSpPr>
          <p:cNvPr id="1411" name="Google Shape;1411;p90"/>
          <p:cNvSpPr/>
          <p:nvPr/>
        </p:nvSpPr>
        <p:spPr>
          <a:xfrm>
            <a:off x="8509220" y="4192500"/>
            <a:ext cx="540000" cy="495300"/>
          </a:xfrm>
          <a:prstGeom prst="rect">
            <a:avLst/>
          </a:prstGeom>
          <a:solidFill>
            <a:srgbClr val="A4C2F4"/>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8</a:t>
            </a:r>
            <a:endParaRPr sz="1800">
              <a:latin typeface="Calibri"/>
              <a:ea typeface="Calibri"/>
              <a:cs typeface="Calibri"/>
              <a:sym typeface="Calibri"/>
            </a:endParaRPr>
          </a:p>
        </p:txBody>
      </p:sp>
      <p:sp>
        <p:nvSpPr>
          <p:cNvPr id="1412" name="Google Shape;1412;p90"/>
          <p:cNvSpPr txBox="1"/>
          <p:nvPr/>
        </p:nvSpPr>
        <p:spPr>
          <a:xfrm>
            <a:off x="142559" y="3844596"/>
            <a:ext cx="3491100" cy="459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Example of a valid output</a:t>
            </a:r>
            <a:endParaRPr/>
          </a:p>
        </p:txBody>
      </p:sp>
      <p:sp>
        <p:nvSpPr>
          <p:cNvPr id="1413" name="Google Shape;1413;p90"/>
          <p:cNvSpPr txBox="1"/>
          <p:nvPr/>
        </p:nvSpPr>
        <p:spPr>
          <a:xfrm>
            <a:off x="4792934" y="3838000"/>
            <a:ext cx="3491100" cy="459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Another e</a:t>
            </a:r>
            <a:r>
              <a:rPr lang="en"/>
              <a:t>xample of a valid</a:t>
            </a:r>
            <a:r>
              <a:rPr lang="en"/>
              <a:t> </a:t>
            </a:r>
            <a:r>
              <a:rPr lang="en"/>
              <a:t>output</a:t>
            </a:r>
            <a:endParaRPr/>
          </a:p>
        </p:txBody>
      </p:sp>
      <p:sp>
        <p:nvSpPr>
          <p:cNvPr id="1414" name="Google Shape;1414;p90"/>
          <p:cNvSpPr/>
          <p:nvPr/>
        </p:nvSpPr>
        <p:spPr>
          <a:xfrm>
            <a:off x="2710550" y="2652898"/>
            <a:ext cx="540000" cy="495300"/>
          </a:xfrm>
          <a:prstGeom prst="rect">
            <a:avLst/>
          </a:prstGeom>
          <a:solidFill>
            <a:srgbClr val="FFFFFF"/>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6</a:t>
            </a:r>
            <a:endParaRPr sz="1800">
              <a:latin typeface="Calibri"/>
              <a:ea typeface="Calibri"/>
              <a:cs typeface="Calibri"/>
              <a:sym typeface="Calibri"/>
            </a:endParaRPr>
          </a:p>
        </p:txBody>
      </p:sp>
      <p:sp>
        <p:nvSpPr>
          <p:cNvPr id="1415" name="Google Shape;1415;p90"/>
          <p:cNvSpPr/>
          <p:nvPr/>
        </p:nvSpPr>
        <p:spPr>
          <a:xfrm>
            <a:off x="3239605" y="2652898"/>
            <a:ext cx="540000" cy="495300"/>
          </a:xfrm>
          <a:prstGeom prst="rect">
            <a:avLst/>
          </a:prstGeom>
          <a:solidFill>
            <a:srgbClr val="A4C2F4"/>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8</a:t>
            </a:r>
            <a:endParaRPr sz="1800">
              <a:latin typeface="Calibri"/>
              <a:ea typeface="Calibri"/>
              <a:cs typeface="Calibri"/>
              <a:sym typeface="Calibri"/>
            </a:endParaRPr>
          </a:p>
        </p:txBody>
      </p:sp>
      <p:sp>
        <p:nvSpPr>
          <p:cNvPr id="1416" name="Google Shape;1416;p90"/>
          <p:cNvSpPr/>
          <p:nvPr/>
        </p:nvSpPr>
        <p:spPr>
          <a:xfrm>
            <a:off x="3773186" y="2652898"/>
            <a:ext cx="540000" cy="495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a:t>
            </a:r>
            <a:endParaRPr sz="1800">
              <a:latin typeface="Calibri"/>
              <a:ea typeface="Calibri"/>
              <a:cs typeface="Calibri"/>
              <a:sym typeface="Calibri"/>
            </a:endParaRPr>
          </a:p>
        </p:txBody>
      </p:sp>
      <p:sp>
        <p:nvSpPr>
          <p:cNvPr id="1417" name="Google Shape;1417;p90"/>
          <p:cNvSpPr/>
          <p:nvPr/>
        </p:nvSpPr>
        <p:spPr>
          <a:xfrm>
            <a:off x="4302241" y="2652898"/>
            <a:ext cx="540000" cy="495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a:t>
            </a:r>
            <a:endParaRPr sz="1800">
              <a:latin typeface="Calibri"/>
              <a:ea typeface="Calibri"/>
              <a:cs typeface="Calibri"/>
              <a:sym typeface="Calibri"/>
            </a:endParaRPr>
          </a:p>
        </p:txBody>
      </p:sp>
      <p:sp>
        <p:nvSpPr>
          <p:cNvPr id="1418" name="Google Shape;1418;p90"/>
          <p:cNvSpPr/>
          <p:nvPr/>
        </p:nvSpPr>
        <p:spPr>
          <a:xfrm>
            <a:off x="4830809" y="2652898"/>
            <a:ext cx="540000" cy="495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419" name="Google Shape;1419;p90"/>
          <p:cNvSpPr/>
          <p:nvPr/>
        </p:nvSpPr>
        <p:spPr>
          <a:xfrm>
            <a:off x="5359863" y="2652898"/>
            <a:ext cx="540000" cy="495300"/>
          </a:xfrm>
          <a:prstGeom prst="rect">
            <a:avLst/>
          </a:prstGeom>
          <a:solidFill>
            <a:srgbClr val="A4C2F4"/>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7</a:t>
            </a:r>
            <a:endParaRPr sz="1800">
              <a:latin typeface="Calibri"/>
              <a:ea typeface="Calibri"/>
              <a:cs typeface="Calibri"/>
              <a:sym typeface="Calibri"/>
            </a:endParaRPr>
          </a:p>
        </p:txBody>
      </p:sp>
      <p:sp>
        <p:nvSpPr>
          <p:cNvPr id="1420" name="Google Shape;1420;p90"/>
          <p:cNvSpPr/>
          <p:nvPr/>
        </p:nvSpPr>
        <p:spPr>
          <a:xfrm>
            <a:off x="5893445" y="2652898"/>
            <a:ext cx="540000" cy="495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1421" name="Google Shape;1421;p90"/>
          <p:cNvSpPr txBox="1"/>
          <p:nvPr/>
        </p:nvSpPr>
        <p:spPr>
          <a:xfrm>
            <a:off x="2669663" y="2317299"/>
            <a:ext cx="3491100" cy="459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Input</a:t>
            </a:r>
            <a:endParaRPr/>
          </a:p>
        </p:txBody>
      </p:sp>
      <p:sp>
        <p:nvSpPr>
          <p:cNvPr id="1422" name="Google Shape;1422;p90"/>
          <p:cNvSpPr/>
          <p:nvPr/>
        </p:nvSpPr>
        <p:spPr>
          <a:xfrm>
            <a:off x="6426845" y="2652898"/>
            <a:ext cx="540000" cy="495300"/>
          </a:xfrm>
          <a:prstGeom prst="rect">
            <a:avLst/>
          </a:prstGeom>
          <a:solidFill>
            <a:schemeClr val="lt1"/>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6</a:t>
            </a:r>
            <a:endParaRPr sz="1800">
              <a:latin typeface="Calibri"/>
              <a:ea typeface="Calibri"/>
              <a:cs typeface="Calibri"/>
              <a:sym typeface="Calibri"/>
            </a:endParaRPr>
          </a:p>
        </p:txBody>
      </p:sp>
      <p:sp>
        <p:nvSpPr>
          <p:cNvPr id="1423" name="Google Shape;1423;p90"/>
          <p:cNvSpPr/>
          <p:nvPr/>
        </p:nvSpPr>
        <p:spPr>
          <a:xfrm>
            <a:off x="2848284" y="4192500"/>
            <a:ext cx="540000" cy="495300"/>
          </a:xfrm>
          <a:prstGeom prst="rect">
            <a:avLst/>
          </a:prstGeom>
          <a:solidFill>
            <a:srgbClr val="FFFFFF"/>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6</a:t>
            </a:r>
            <a:endParaRPr sz="1800">
              <a:latin typeface="Calibri"/>
              <a:ea typeface="Calibri"/>
              <a:cs typeface="Calibri"/>
              <a:sym typeface="Calibri"/>
            </a:endParaRPr>
          </a:p>
        </p:txBody>
      </p:sp>
      <p:sp>
        <p:nvSpPr>
          <p:cNvPr id="1424" name="Google Shape;1424;p90"/>
          <p:cNvSpPr/>
          <p:nvPr/>
        </p:nvSpPr>
        <p:spPr>
          <a:xfrm>
            <a:off x="7446584" y="4192500"/>
            <a:ext cx="540000" cy="495300"/>
          </a:xfrm>
          <a:prstGeom prst="rect">
            <a:avLst/>
          </a:prstGeom>
          <a:solidFill>
            <a:srgbClr val="FFFFFF"/>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6</a:t>
            </a:r>
            <a:endParaRPr sz="1800">
              <a:latin typeface="Calibri"/>
              <a:ea typeface="Calibri"/>
              <a:cs typeface="Calibri"/>
              <a:sym typeface="Calibri"/>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8" name="Shape 1428"/>
        <p:cNvGrpSpPr/>
        <p:nvPr/>
      </p:nvGrpSpPr>
      <p:grpSpPr>
        <a:xfrm>
          <a:off x="0" y="0"/>
          <a:ext cx="0" cy="0"/>
          <a:chOff x="0" y="0"/>
          <a:chExt cx="0" cy="0"/>
        </a:xfrm>
      </p:grpSpPr>
      <p:sp>
        <p:nvSpPr>
          <p:cNvPr id="1429" name="Google Shape;1429;p91"/>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30, CS61B, Fall 2023</a:t>
            </a:r>
            <a:endParaRPr/>
          </a:p>
        </p:txBody>
      </p:sp>
      <p:sp>
        <p:nvSpPr>
          <p:cNvPr id="1430" name="Google Shape;1430;p91"/>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Clr>
                <a:schemeClr val="dk1"/>
              </a:buClr>
              <a:buSzPts val="1100"/>
              <a:buFont typeface="Arial"/>
              <a:buNone/>
            </a:pPr>
            <a:r>
              <a:rPr lang="en"/>
              <a:t>Insertion Sort</a:t>
            </a:r>
            <a:endParaRPr/>
          </a:p>
          <a:p>
            <a:pPr indent="-342900" lvl="0" marL="457200" rtl="0" algn="l">
              <a:spcBef>
                <a:spcPts val="600"/>
              </a:spcBef>
              <a:spcAft>
                <a:spcPts val="0"/>
              </a:spcAft>
              <a:buSzPts val="1800"/>
              <a:buChar char="•"/>
            </a:pPr>
            <a:r>
              <a:rPr lang="en"/>
              <a:t>Naive Insertion Sort</a:t>
            </a:r>
            <a:endParaRPr/>
          </a:p>
          <a:p>
            <a:pPr indent="-342900" lvl="0" marL="457200" rtl="0" algn="l">
              <a:spcBef>
                <a:spcPts val="0"/>
              </a:spcBef>
              <a:spcAft>
                <a:spcPts val="0"/>
              </a:spcAft>
              <a:buSzPts val="1800"/>
              <a:buChar char="•"/>
            </a:pPr>
            <a:r>
              <a:rPr lang="en"/>
              <a:t>In-Place Insertion Sort</a:t>
            </a:r>
            <a:endParaRPr/>
          </a:p>
          <a:p>
            <a:pPr indent="-342900" lvl="0" marL="457200" rtl="0" algn="l">
              <a:spcBef>
                <a:spcPts val="0"/>
              </a:spcBef>
              <a:spcAft>
                <a:spcPts val="0"/>
              </a:spcAft>
              <a:buSzPts val="1800"/>
              <a:buChar char="•"/>
            </a:pPr>
            <a:r>
              <a:rPr lang="en"/>
              <a:t>Insertion Sort Runtime</a:t>
            </a:r>
            <a:endParaRPr/>
          </a:p>
          <a:p>
            <a:pPr indent="0" lvl="0" marL="0" rtl="0" algn="l">
              <a:spcBef>
                <a:spcPts val="600"/>
              </a:spcBef>
              <a:spcAft>
                <a:spcPts val="0"/>
              </a:spcAft>
              <a:buNone/>
            </a:pPr>
            <a:r>
              <a:rPr b="1" lang="en">
                <a:solidFill>
                  <a:schemeClr val="accent3"/>
                </a:solidFill>
                <a:latin typeface="Roboto"/>
                <a:ea typeface="Roboto"/>
                <a:cs typeface="Roboto"/>
                <a:sym typeface="Roboto"/>
              </a:rPr>
              <a:t>Quicksort</a:t>
            </a:r>
            <a:endParaRPr b="1">
              <a:solidFill>
                <a:schemeClr val="accent3"/>
              </a:solidFill>
              <a:latin typeface="Roboto"/>
              <a:ea typeface="Roboto"/>
              <a:cs typeface="Roboto"/>
              <a:sym typeface="Roboto"/>
            </a:endParaRPr>
          </a:p>
          <a:p>
            <a:pPr indent="-342900" lvl="0" marL="457200" rtl="0" algn="l">
              <a:spcBef>
                <a:spcPts val="600"/>
              </a:spcBef>
              <a:spcAft>
                <a:spcPts val="0"/>
              </a:spcAft>
              <a:buSzPts val="1800"/>
              <a:buChar char="•"/>
            </a:pPr>
            <a:r>
              <a:rPr lang="en"/>
              <a:t>Quicksort Backstory,</a:t>
            </a:r>
            <a:br>
              <a:rPr lang="en"/>
            </a:br>
            <a:r>
              <a:rPr lang="en"/>
              <a:t>Partitioning</a:t>
            </a:r>
            <a:endParaRPr b="1">
              <a:solidFill>
                <a:schemeClr val="accent3"/>
              </a:solidFill>
              <a:latin typeface="Roboto"/>
              <a:ea typeface="Roboto"/>
              <a:cs typeface="Roboto"/>
              <a:sym typeface="Roboto"/>
            </a:endParaRPr>
          </a:p>
          <a:p>
            <a:pPr indent="-342900" lvl="0" marL="457200" rtl="0" algn="l">
              <a:spcBef>
                <a:spcPts val="0"/>
              </a:spcBef>
              <a:spcAft>
                <a:spcPts val="0"/>
              </a:spcAft>
              <a:buClr>
                <a:schemeClr val="accent3"/>
              </a:buClr>
              <a:buSzPts val="1800"/>
              <a:buFont typeface="Roboto"/>
              <a:buChar char="•"/>
            </a:pPr>
            <a:r>
              <a:rPr b="1" lang="en">
                <a:solidFill>
                  <a:schemeClr val="accent3"/>
                </a:solidFill>
                <a:latin typeface="Roboto"/>
                <a:ea typeface="Roboto"/>
                <a:cs typeface="Roboto"/>
                <a:sym typeface="Roboto"/>
              </a:rPr>
              <a:t>Quicksort</a:t>
            </a:r>
            <a:endParaRPr/>
          </a:p>
          <a:p>
            <a:pPr indent="0" lvl="0" marL="0" rtl="0" algn="l">
              <a:spcBef>
                <a:spcPts val="600"/>
              </a:spcBef>
              <a:spcAft>
                <a:spcPts val="0"/>
              </a:spcAft>
              <a:buNone/>
            </a:pPr>
            <a:r>
              <a:rPr lang="en"/>
              <a:t>Quicksort Performance</a:t>
            </a:r>
            <a:endParaRPr/>
          </a:p>
          <a:p>
            <a:pPr indent="-342900" lvl="0" marL="457200" rtl="0" algn="l">
              <a:spcBef>
                <a:spcPts val="600"/>
              </a:spcBef>
              <a:spcAft>
                <a:spcPts val="0"/>
              </a:spcAft>
              <a:buSzPts val="1800"/>
              <a:buChar char="•"/>
            </a:pPr>
            <a:r>
              <a:rPr lang="en"/>
              <a:t>Quicksort Runtime Analysis</a:t>
            </a:r>
            <a:endParaRPr/>
          </a:p>
          <a:p>
            <a:pPr indent="-342900" lvl="0" marL="457200" rtl="0" algn="l">
              <a:spcBef>
                <a:spcPts val="0"/>
              </a:spcBef>
              <a:spcAft>
                <a:spcPts val="0"/>
              </a:spcAft>
              <a:buSzPts val="1800"/>
              <a:buChar char="•"/>
            </a:pPr>
            <a:r>
              <a:rPr lang="en"/>
              <a:t>Avoiding Quicksort Worst Case</a:t>
            </a:r>
            <a:endParaRPr/>
          </a:p>
        </p:txBody>
      </p:sp>
      <p:sp>
        <p:nvSpPr>
          <p:cNvPr id="1431" name="Google Shape;1431;p91"/>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Quicksort</a:t>
            </a:r>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5" name="Shape 1435"/>
        <p:cNvGrpSpPr/>
        <p:nvPr/>
      </p:nvGrpSpPr>
      <p:grpSpPr>
        <a:xfrm>
          <a:off x="0" y="0"/>
          <a:ext cx="0" cy="0"/>
          <a:chOff x="0" y="0"/>
          <a:chExt cx="0" cy="0"/>
        </a:xfrm>
      </p:grpSpPr>
      <p:sp>
        <p:nvSpPr>
          <p:cNvPr id="1436" name="Google Shape;1436;p9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Partition Sort, a.k.a. Quicksort</a:t>
            </a:r>
            <a:endParaRPr/>
          </a:p>
        </p:txBody>
      </p:sp>
      <p:sp>
        <p:nvSpPr>
          <p:cNvPr id="1437" name="Google Shape;1437;p92"/>
          <p:cNvSpPr txBox="1"/>
          <p:nvPr>
            <p:ph idx="1" type="body"/>
          </p:nvPr>
        </p:nvSpPr>
        <p:spPr>
          <a:xfrm>
            <a:off x="243000" y="2169225"/>
            <a:ext cx="8555700" cy="13551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Observations:</a:t>
            </a:r>
            <a:endParaRPr/>
          </a:p>
          <a:p>
            <a:pPr indent="-342900" lvl="0" marL="457200" rtl="0" algn="l">
              <a:spcBef>
                <a:spcPts val="600"/>
              </a:spcBef>
              <a:spcAft>
                <a:spcPts val="0"/>
              </a:spcAft>
              <a:buSzPts val="1800"/>
              <a:buChar char="●"/>
            </a:pPr>
            <a:r>
              <a:rPr lang="en"/>
              <a:t>5 is “in its place.” Exactly where it’d be if the array were sorted.</a:t>
            </a:r>
            <a:endParaRPr/>
          </a:p>
          <a:p>
            <a:pPr indent="-342900" lvl="0" marL="457200" rtl="0" algn="l">
              <a:spcBef>
                <a:spcPts val="0"/>
              </a:spcBef>
              <a:spcAft>
                <a:spcPts val="0"/>
              </a:spcAft>
              <a:buSzPts val="1800"/>
              <a:buChar char="●"/>
            </a:pPr>
            <a:r>
              <a:rPr lang="en"/>
              <a:t>Can sort two halves separately, e.g. through recursive use of partitioning.</a:t>
            </a:r>
            <a:endParaRPr/>
          </a:p>
        </p:txBody>
      </p:sp>
      <p:sp>
        <p:nvSpPr>
          <p:cNvPr id="1438" name="Google Shape;1438;p92"/>
          <p:cNvSpPr/>
          <p:nvPr/>
        </p:nvSpPr>
        <p:spPr>
          <a:xfrm>
            <a:off x="2437900" y="785725"/>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a:t>
            </a:r>
            <a:endParaRPr sz="1800">
              <a:latin typeface="Calibri"/>
              <a:ea typeface="Calibri"/>
              <a:cs typeface="Calibri"/>
              <a:sym typeface="Calibri"/>
            </a:endParaRPr>
          </a:p>
        </p:txBody>
      </p:sp>
      <p:sp>
        <p:nvSpPr>
          <p:cNvPr id="1439" name="Google Shape;1439;p92"/>
          <p:cNvSpPr/>
          <p:nvPr/>
        </p:nvSpPr>
        <p:spPr>
          <a:xfrm>
            <a:off x="2970500" y="7857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a:t>
            </a:r>
            <a:endParaRPr sz="1800">
              <a:latin typeface="Calibri"/>
              <a:ea typeface="Calibri"/>
              <a:cs typeface="Calibri"/>
              <a:sym typeface="Calibri"/>
            </a:endParaRPr>
          </a:p>
        </p:txBody>
      </p:sp>
      <p:sp>
        <p:nvSpPr>
          <p:cNvPr id="1440" name="Google Shape;1440;p92"/>
          <p:cNvSpPr/>
          <p:nvPr/>
        </p:nvSpPr>
        <p:spPr>
          <a:xfrm>
            <a:off x="3503100" y="7857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441" name="Google Shape;1441;p92"/>
          <p:cNvSpPr/>
          <p:nvPr/>
        </p:nvSpPr>
        <p:spPr>
          <a:xfrm>
            <a:off x="4035701" y="7857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a:t>
            </a:r>
            <a:endParaRPr sz="1800">
              <a:latin typeface="Calibri"/>
              <a:ea typeface="Calibri"/>
              <a:cs typeface="Calibri"/>
              <a:sym typeface="Calibri"/>
            </a:endParaRPr>
          </a:p>
        </p:txBody>
      </p:sp>
      <p:sp>
        <p:nvSpPr>
          <p:cNvPr id="1442" name="Google Shape;1442;p92"/>
          <p:cNvSpPr/>
          <p:nvPr/>
        </p:nvSpPr>
        <p:spPr>
          <a:xfrm>
            <a:off x="5100901" y="7857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8</a:t>
            </a:r>
            <a:endParaRPr sz="1800">
              <a:latin typeface="Calibri"/>
              <a:ea typeface="Calibri"/>
              <a:cs typeface="Calibri"/>
              <a:sym typeface="Calibri"/>
            </a:endParaRPr>
          </a:p>
        </p:txBody>
      </p:sp>
      <p:sp>
        <p:nvSpPr>
          <p:cNvPr id="1443" name="Google Shape;1443;p92"/>
          <p:cNvSpPr/>
          <p:nvPr/>
        </p:nvSpPr>
        <p:spPr>
          <a:xfrm>
            <a:off x="5633501" y="7857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1444" name="Google Shape;1444;p92"/>
          <p:cNvSpPr/>
          <p:nvPr/>
        </p:nvSpPr>
        <p:spPr>
          <a:xfrm>
            <a:off x="6166102" y="7857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6</a:t>
            </a:r>
            <a:endParaRPr sz="1800">
              <a:latin typeface="Calibri"/>
              <a:ea typeface="Calibri"/>
              <a:cs typeface="Calibri"/>
              <a:sym typeface="Calibri"/>
            </a:endParaRPr>
          </a:p>
        </p:txBody>
      </p:sp>
      <p:sp>
        <p:nvSpPr>
          <p:cNvPr id="1445" name="Google Shape;1445;p92"/>
          <p:cNvSpPr/>
          <p:nvPr/>
        </p:nvSpPr>
        <p:spPr>
          <a:xfrm>
            <a:off x="4568301" y="7857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7</a:t>
            </a:r>
            <a:endParaRPr sz="1800">
              <a:latin typeface="Calibri"/>
              <a:ea typeface="Calibri"/>
              <a:cs typeface="Calibri"/>
              <a:sym typeface="Calibri"/>
            </a:endParaRPr>
          </a:p>
        </p:txBody>
      </p:sp>
      <p:grpSp>
        <p:nvGrpSpPr>
          <p:cNvPr id="1446" name="Google Shape;1446;p92"/>
          <p:cNvGrpSpPr/>
          <p:nvPr/>
        </p:nvGrpSpPr>
        <p:grpSpPr>
          <a:xfrm>
            <a:off x="2437888" y="1583425"/>
            <a:ext cx="4268202" cy="495300"/>
            <a:chOff x="2437888" y="1583425"/>
            <a:chExt cx="4268202" cy="495300"/>
          </a:xfrm>
        </p:grpSpPr>
        <p:sp>
          <p:nvSpPr>
            <p:cNvPr id="1447" name="Google Shape;1447;p92"/>
            <p:cNvSpPr/>
            <p:nvPr/>
          </p:nvSpPr>
          <p:spPr>
            <a:xfrm>
              <a:off x="2437888" y="15834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a:t>
              </a:r>
              <a:endParaRPr sz="1800">
                <a:latin typeface="Calibri"/>
                <a:ea typeface="Calibri"/>
                <a:cs typeface="Calibri"/>
                <a:sym typeface="Calibri"/>
              </a:endParaRPr>
            </a:p>
          </p:txBody>
        </p:sp>
        <p:sp>
          <p:nvSpPr>
            <p:cNvPr id="1448" name="Google Shape;1448;p92"/>
            <p:cNvSpPr/>
            <p:nvPr/>
          </p:nvSpPr>
          <p:spPr>
            <a:xfrm>
              <a:off x="2970488" y="15834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449" name="Google Shape;1449;p92"/>
            <p:cNvSpPr/>
            <p:nvPr/>
          </p:nvSpPr>
          <p:spPr>
            <a:xfrm>
              <a:off x="3503088" y="15834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a:t>
              </a:r>
              <a:endParaRPr sz="1800">
                <a:latin typeface="Calibri"/>
                <a:ea typeface="Calibri"/>
                <a:cs typeface="Calibri"/>
                <a:sym typeface="Calibri"/>
              </a:endParaRPr>
            </a:p>
          </p:txBody>
        </p:sp>
        <p:sp>
          <p:nvSpPr>
            <p:cNvPr id="1450" name="Google Shape;1450;p92"/>
            <p:cNvSpPr/>
            <p:nvPr/>
          </p:nvSpPr>
          <p:spPr>
            <a:xfrm>
              <a:off x="4035688" y="15834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1451" name="Google Shape;1451;p92"/>
            <p:cNvSpPr/>
            <p:nvPr/>
          </p:nvSpPr>
          <p:spPr>
            <a:xfrm>
              <a:off x="5100889" y="15834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7</a:t>
              </a:r>
              <a:endParaRPr sz="1800">
                <a:latin typeface="Calibri"/>
                <a:ea typeface="Calibri"/>
                <a:cs typeface="Calibri"/>
                <a:sym typeface="Calibri"/>
              </a:endParaRPr>
            </a:p>
          </p:txBody>
        </p:sp>
        <p:sp>
          <p:nvSpPr>
            <p:cNvPr id="1452" name="Google Shape;1452;p92"/>
            <p:cNvSpPr/>
            <p:nvPr/>
          </p:nvSpPr>
          <p:spPr>
            <a:xfrm>
              <a:off x="5633489" y="15834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8</a:t>
              </a:r>
              <a:endParaRPr sz="1800">
                <a:latin typeface="Calibri"/>
                <a:ea typeface="Calibri"/>
                <a:cs typeface="Calibri"/>
                <a:sym typeface="Calibri"/>
              </a:endParaRPr>
            </a:p>
          </p:txBody>
        </p:sp>
        <p:sp>
          <p:nvSpPr>
            <p:cNvPr id="1453" name="Google Shape;1453;p92"/>
            <p:cNvSpPr/>
            <p:nvPr/>
          </p:nvSpPr>
          <p:spPr>
            <a:xfrm>
              <a:off x="6166089" y="15834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6</a:t>
              </a:r>
              <a:endParaRPr sz="1800">
                <a:latin typeface="Calibri"/>
                <a:ea typeface="Calibri"/>
                <a:cs typeface="Calibri"/>
                <a:sym typeface="Calibri"/>
              </a:endParaRPr>
            </a:p>
          </p:txBody>
        </p:sp>
        <p:sp>
          <p:nvSpPr>
            <p:cNvPr id="1454" name="Google Shape;1454;p92"/>
            <p:cNvSpPr/>
            <p:nvPr/>
          </p:nvSpPr>
          <p:spPr>
            <a:xfrm>
              <a:off x="4568288" y="1583425"/>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a:t>
              </a:r>
              <a:endParaRPr sz="1800">
                <a:latin typeface="Calibri"/>
                <a:ea typeface="Calibri"/>
                <a:cs typeface="Calibri"/>
                <a:sym typeface="Calibri"/>
              </a:endParaRPr>
            </a:p>
          </p:txBody>
        </p:sp>
      </p:grpSp>
      <p:grpSp>
        <p:nvGrpSpPr>
          <p:cNvPr id="1455" name="Google Shape;1455;p92"/>
          <p:cNvGrpSpPr/>
          <p:nvPr/>
        </p:nvGrpSpPr>
        <p:grpSpPr>
          <a:xfrm>
            <a:off x="411438" y="3669400"/>
            <a:ext cx="7542427" cy="495300"/>
            <a:chOff x="411438" y="3669400"/>
            <a:chExt cx="7542427" cy="495300"/>
          </a:xfrm>
        </p:grpSpPr>
        <p:sp>
          <p:nvSpPr>
            <p:cNvPr id="1456" name="Google Shape;1456;p92"/>
            <p:cNvSpPr/>
            <p:nvPr/>
          </p:nvSpPr>
          <p:spPr>
            <a:xfrm>
              <a:off x="411438" y="3669400"/>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a:t>
              </a:r>
              <a:endParaRPr sz="1800">
                <a:latin typeface="Calibri"/>
                <a:ea typeface="Calibri"/>
                <a:cs typeface="Calibri"/>
                <a:sym typeface="Calibri"/>
              </a:endParaRPr>
            </a:p>
          </p:txBody>
        </p:sp>
        <p:sp>
          <p:nvSpPr>
            <p:cNvPr id="1457" name="Google Shape;1457;p92"/>
            <p:cNvSpPr/>
            <p:nvPr/>
          </p:nvSpPr>
          <p:spPr>
            <a:xfrm>
              <a:off x="944038" y="3669400"/>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458" name="Google Shape;1458;p92"/>
            <p:cNvSpPr/>
            <p:nvPr/>
          </p:nvSpPr>
          <p:spPr>
            <a:xfrm>
              <a:off x="1476638" y="3669400"/>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a:t>
              </a:r>
              <a:endParaRPr sz="1800">
                <a:latin typeface="Calibri"/>
                <a:ea typeface="Calibri"/>
                <a:cs typeface="Calibri"/>
                <a:sym typeface="Calibri"/>
              </a:endParaRPr>
            </a:p>
          </p:txBody>
        </p:sp>
        <p:sp>
          <p:nvSpPr>
            <p:cNvPr id="1459" name="Google Shape;1459;p92"/>
            <p:cNvSpPr/>
            <p:nvPr/>
          </p:nvSpPr>
          <p:spPr>
            <a:xfrm>
              <a:off x="2009238" y="3669400"/>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1460" name="Google Shape;1460;p92"/>
            <p:cNvSpPr/>
            <p:nvPr/>
          </p:nvSpPr>
          <p:spPr>
            <a:xfrm>
              <a:off x="2541838" y="3669400"/>
              <a:ext cx="540000" cy="4953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5</a:t>
              </a:r>
              <a:endParaRPr sz="1800">
                <a:solidFill>
                  <a:srgbClr val="FFFFFF"/>
                </a:solidFill>
                <a:latin typeface="Calibri"/>
                <a:ea typeface="Calibri"/>
                <a:cs typeface="Calibri"/>
                <a:sym typeface="Calibri"/>
              </a:endParaRPr>
            </a:p>
          </p:txBody>
        </p:sp>
        <p:sp>
          <p:nvSpPr>
            <p:cNvPr id="1461" name="Google Shape;1461;p92"/>
            <p:cNvSpPr/>
            <p:nvPr/>
          </p:nvSpPr>
          <p:spPr>
            <a:xfrm>
              <a:off x="6348664" y="3669400"/>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7</a:t>
              </a:r>
              <a:endParaRPr sz="1800">
                <a:latin typeface="Calibri"/>
                <a:ea typeface="Calibri"/>
                <a:cs typeface="Calibri"/>
                <a:sym typeface="Calibri"/>
              </a:endParaRPr>
            </a:p>
          </p:txBody>
        </p:sp>
        <p:sp>
          <p:nvSpPr>
            <p:cNvPr id="1462" name="Google Shape;1462;p92"/>
            <p:cNvSpPr/>
            <p:nvPr/>
          </p:nvSpPr>
          <p:spPr>
            <a:xfrm>
              <a:off x="6881264" y="3669400"/>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8</a:t>
              </a:r>
              <a:endParaRPr sz="1800">
                <a:latin typeface="Calibri"/>
                <a:ea typeface="Calibri"/>
                <a:cs typeface="Calibri"/>
                <a:sym typeface="Calibri"/>
              </a:endParaRPr>
            </a:p>
          </p:txBody>
        </p:sp>
        <p:sp>
          <p:nvSpPr>
            <p:cNvPr id="1463" name="Google Shape;1463;p92"/>
            <p:cNvSpPr/>
            <p:nvPr/>
          </p:nvSpPr>
          <p:spPr>
            <a:xfrm>
              <a:off x="7413864" y="3669400"/>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6</a:t>
              </a:r>
              <a:endParaRPr sz="1800">
                <a:latin typeface="Calibri"/>
                <a:ea typeface="Calibri"/>
                <a:cs typeface="Calibri"/>
                <a:sym typeface="Calibri"/>
              </a:endParaRPr>
            </a:p>
          </p:txBody>
        </p:sp>
        <p:sp>
          <p:nvSpPr>
            <p:cNvPr id="1464" name="Google Shape;1464;p92"/>
            <p:cNvSpPr/>
            <p:nvPr/>
          </p:nvSpPr>
          <p:spPr>
            <a:xfrm>
              <a:off x="5816063" y="3669400"/>
              <a:ext cx="540000" cy="4953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5</a:t>
              </a:r>
              <a:endParaRPr sz="1800">
                <a:solidFill>
                  <a:srgbClr val="FFFFFF"/>
                </a:solidFill>
                <a:latin typeface="Calibri"/>
                <a:ea typeface="Calibri"/>
                <a:cs typeface="Calibri"/>
                <a:sym typeface="Calibri"/>
              </a:endParaRPr>
            </a:p>
          </p:txBody>
        </p:sp>
      </p:grpSp>
      <p:grpSp>
        <p:nvGrpSpPr>
          <p:cNvPr id="1465" name="Google Shape;1465;p92"/>
          <p:cNvGrpSpPr/>
          <p:nvPr/>
        </p:nvGrpSpPr>
        <p:grpSpPr>
          <a:xfrm>
            <a:off x="411438" y="4431400"/>
            <a:ext cx="7542427" cy="495300"/>
            <a:chOff x="411438" y="4431400"/>
            <a:chExt cx="7542427" cy="495300"/>
          </a:xfrm>
        </p:grpSpPr>
        <p:sp>
          <p:nvSpPr>
            <p:cNvPr id="1466" name="Google Shape;1466;p92"/>
            <p:cNvSpPr/>
            <p:nvPr/>
          </p:nvSpPr>
          <p:spPr>
            <a:xfrm>
              <a:off x="411438" y="4431400"/>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467" name="Google Shape;1467;p92"/>
            <p:cNvSpPr/>
            <p:nvPr/>
          </p:nvSpPr>
          <p:spPr>
            <a:xfrm>
              <a:off x="944038" y="4431400"/>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a:t>
              </a:r>
              <a:endParaRPr sz="1800">
                <a:latin typeface="Calibri"/>
                <a:ea typeface="Calibri"/>
                <a:cs typeface="Calibri"/>
                <a:sym typeface="Calibri"/>
              </a:endParaRPr>
            </a:p>
          </p:txBody>
        </p:sp>
        <p:sp>
          <p:nvSpPr>
            <p:cNvPr id="1468" name="Google Shape;1468;p92"/>
            <p:cNvSpPr/>
            <p:nvPr/>
          </p:nvSpPr>
          <p:spPr>
            <a:xfrm>
              <a:off x="1476638" y="4431400"/>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a:t>
              </a:r>
              <a:endParaRPr sz="1800">
                <a:latin typeface="Calibri"/>
                <a:ea typeface="Calibri"/>
                <a:cs typeface="Calibri"/>
                <a:sym typeface="Calibri"/>
              </a:endParaRPr>
            </a:p>
          </p:txBody>
        </p:sp>
        <p:sp>
          <p:nvSpPr>
            <p:cNvPr id="1469" name="Google Shape;1469;p92"/>
            <p:cNvSpPr/>
            <p:nvPr/>
          </p:nvSpPr>
          <p:spPr>
            <a:xfrm>
              <a:off x="2009238" y="4431400"/>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1470" name="Google Shape;1470;p92"/>
            <p:cNvSpPr/>
            <p:nvPr/>
          </p:nvSpPr>
          <p:spPr>
            <a:xfrm>
              <a:off x="2541838" y="4431400"/>
              <a:ext cx="540000" cy="4953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5</a:t>
              </a:r>
              <a:endParaRPr sz="1800">
                <a:solidFill>
                  <a:srgbClr val="FFFFFF"/>
                </a:solidFill>
                <a:latin typeface="Calibri"/>
                <a:ea typeface="Calibri"/>
                <a:cs typeface="Calibri"/>
                <a:sym typeface="Calibri"/>
              </a:endParaRPr>
            </a:p>
          </p:txBody>
        </p:sp>
        <p:sp>
          <p:nvSpPr>
            <p:cNvPr id="1471" name="Google Shape;1471;p92"/>
            <p:cNvSpPr/>
            <p:nvPr/>
          </p:nvSpPr>
          <p:spPr>
            <a:xfrm>
              <a:off x="6348664" y="4431400"/>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6</a:t>
              </a:r>
              <a:endParaRPr sz="1800">
                <a:latin typeface="Calibri"/>
                <a:ea typeface="Calibri"/>
                <a:cs typeface="Calibri"/>
                <a:sym typeface="Calibri"/>
              </a:endParaRPr>
            </a:p>
          </p:txBody>
        </p:sp>
        <p:sp>
          <p:nvSpPr>
            <p:cNvPr id="1472" name="Google Shape;1472;p92"/>
            <p:cNvSpPr/>
            <p:nvPr/>
          </p:nvSpPr>
          <p:spPr>
            <a:xfrm>
              <a:off x="6881264" y="4431400"/>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7</a:t>
              </a:r>
              <a:endParaRPr sz="1800">
                <a:latin typeface="Calibri"/>
                <a:ea typeface="Calibri"/>
                <a:cs typeface="Calibri"/>
                <a:sym typeface="Calibri"/>
              </a:endParaRPr>
            </a:p>
          </p:txBody>
        </p:sp>
        <p:sp>
          <p:nvSpPr>
            <p:cNvPr id="1473" name="Google Shape;1473;p92"/>
            <p:cNvSpPr/>
            <p:nvPr/>
          </p:nvSpPr>
          <p:spPr>
            <a:xfrm>
              <a:off x="7413864" y="4431400"/>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8</a:t>
              </a:r>
              <a:endParaRPr sz="1800">
                <a:latin typeface="Calibri"/>
                <a:ea typeface="Calibri"/>
                <a:cs typeface="Calibri"/>
                <a:sym typeface="Calibri"/>
              </a:endParaRPr>
            </a:p>
          </p:txBody>
        </p:sp>
        <p:sp>
          <p:nvSpPr>
            <p:cNvPr id="1474" name="Google Shape;1474;p92"/>
            <p:cNvSpPr/>
            <p:nvPr/>
          </p:nvSpPr>
          <p:spPr>
            <a:xfrm>
              <a:off x="5816063" y="4431400"/>
              <a:ext cx="540000" cy="4953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5</a:t>
              </a:r>
              <a:endParaRPr sz="1800">
                <a:solidFill>
                  <a:srgbClr val="FFFFFF"/>
                </a:solidFill>
                <a:latin typeface="Calibri"/>
                <a:ea typeface="Calibri"/>
                <a:cs typeface="Calibri"/>
                <a:sym typeface="Calibri"/>
              </a:endParaRPr>
            </a:p>
          </p:txBody>
        </p:sp>
      </p:grpSp>
      <p:grpSp>
        <p:nvGrpSpPr>
          <p:cNvPr id="1475" name="Google Shape;1475;p92"/>
          <p:cNvGrpSpPr/>
          <p:nvPr/>
        </p:nvGrpSpPr>
        <p:grpSpPr>
          <a:xfrm>
            <a:off x="2708000" y="1281025"/>
            <a:ext cx="3728101" cy="302400"/>
            <a:chOff x="2708000" y="1281025"/>
            <a:chExt cx="3728101" cy="302400"/>
          </a:xfrm>
        </p:grpSpPr>
        <p:cxnSp>
          <p:nvCxnSpPr>
            <p:cNvPr id="1476" name="Google Shape;1476;p92"/>
            <p:cNvCxnSpPr>
              <a:stCxn id="1439" idx="2"/>
              <a:endCxn id="1447" idx="0"/>
            </p:cNvCxnSpPr>
            <p:nvPr/>
          </p:nvCxnSpPr>
          <p:spPr>
            <a:xfrm flipH="1">
              <a:off x="2708000" y="1281025"/>
              <a:ext cx="532500" cy="302400"/>
            </a:xfrm>
            <a:prstGeom prst="straightConnector1">
              <a:avLst/>
            </a:prstGeom>
            <a:noFill/>
            <a:ln cap="flat" cmpd="sng" w="19050">
              <a:solidFill>
                <a:schemeClr val="dk2"/>
              </a:solidFill>
              <a:prstDash val="solid"/>
              <a:round/>
              <a:headEnd len="med" w="med" type="none"/>
              <a:tailEnd len="med" w="med" type="triangle"/>
            </a:ln>
          </p:spPr>
        </p:cxnSp>
        <p:cxnSp>
          <p:nvCxnSpPr>
            <p:cNvPr id="1477" name="Google Shape;1477;p92"/>
            <p:cNvCxnSpPr>
              <a:stCxn id="1440" idx="2"/>
              <a:endCxn id="1448" idx="0"/>
            </p:cNvCxnSpPr>
            <p:nvPr/>
          </p:nvCxnSpPr>
          <p:spPr>
            <a:xfrm flipH="1">
              <a:off x="3240600" y="1281025"/>
              <a:ext cx="532500" cy="302400"/>
            </a:xfrm>
            <a:prstGeom prst="straightConnector1">
              <a:avLst/>
            </a:prstGeom>
            <a:noFill/>
            <a:ln cap="flat" cmpd="sng" w="19050">
              <a:solidFill>
                <a:schemeClr val="dk2"/>
              </a:solidFill>
              <a:prstDash val="solid"/>
              <a:round/>
              <a:headEnd len="med" w="med" type="none"/>
              <a:tailEnd len="med" w="med" type="triangle"/>
            </a:ln>
          </p:spPr>
        </p:cxnSp>
        <p:cxnSp>
          <p:nvCxnSpPr>
            <p:cNvPr id="1478" name="Google Shape;1478;p92"/>
            <p:cNvCxnSpPr>
              <a:stCxn id="1441" idx="2"/>
              <a:endCxn id="1449" idx="0"/>
            </p:cNvCxnSpPr>
            <p:nvPr/>
          </p:nvCxnSpPr>
          <p:spPr>
            <a:xfrm flipH="1">
              <a:off x="3773201" y="1281025"/>
              <a:ext cx="532500" cy="302400"/>
            </a:xfrm>
            <a:prstGeom prst="straightConnector1">
              <a:avLst/>
            </a:prstGeom>
            <a:noFill/>
            <a:ln cap="flat" cmpd="sng" w="19050">
              <a:solidFill>
                <a:schemeClr val="dk2"/>
              </a:solidFill>
              <a:prstDash val="solid"/>
              <a:round/>
              <a:headEnd len="med" w="med" type="none"/>
              <a:tailEnd len="med" w="med" type="triangle"/>
            </a:ln>
          </p:spPr>
        </p:cxnSp>
        <p:cxnSp>
          <p:nvCxnSpPr>
            <p:cNvPr id="1479" name="Google Shape;1479;p92"/>
            <p:cNvCxnSpPr>
              <a:stCxn id="1443" idx="2"/>
              <a:endCxn id="1450" idx="0"/>
            </p:cNvCxnSpPr>
            <p:nvPr/>
          </p:nvCxnSpPr>
          <p:spPr>
            <a:xfrm flipH="1">
              <a:off x="4305701" y="1281025"/>
              <a:ext cx="1597800" cy="302400"/>
            </a:xfrm>
            <a:prstGeom prst="straightConnector1">
              <a:avLst/>
            </a:prstGeom>
            <a:noFill/>
            <a:ln cap="flat" cmpd="sng" w="19050">
              <a:solidFill>
                <a:schemeClr val="dk2"/>
              </a:solidFill>
              <a:prstDash val="solid"/>
              <a:round/>
              <a:headEnd len="med" w="med" type="none"/>
              <a:tailEnd len="med" w="med" type="triangle"/>
            </a:ln>
          </p:spPr>
        </p:cxnSp>
        <p:cxnSp>
          <p:nvCxnSpPr>
            <p:cNvPr id="1480" name="Google Shape;1480;p92"/>
            <p:cNvCxnSpPr>
              <a:stCxn id="1445" idx="2"/>
              <a:endCxn id="1451" idx="0"/>
            </p:cNvCxnSpPr>
            <p:nvPr/>
          </p:nvCxnSpPr>
          <p:spPr>
            <a:xfrm>
              <a:off x="4838301" y="1281025"/>
              <a:ext cx="532500" cy="302400"/>
            </a:xfrm>
            <a:prstGeom prst="straightConnector1">
              <a:avLst/>
            </a:prstGeom>
            <a:noFill/>
            <a:ln cap="flat" cmpd="sng" w="19050">
              <a:solidFill>
                <a:schemeClr val="dk2"/>
              </a:solidFill>
              <a:prstDash val="solid"/>
              <a:round/>
              <a:headEnd len="med" w="med" type="none"/>
              <a:tailEnd len="med" w="med" type="triangle"/>
            </a:ln>
          </p:spPr>
        </p:cxnSp>
        <p:cxnSp>
          <p:nvCxnSpPr>
            <p:cNvPr id="1481" name="Google Shape;1481;p92"/>
            <p:cNvCxnSpPr>
              <a:stCxn id="1442" idx="2"/>
              <a:endCxn id="1452" idx="0"/>
            </p:cNvCxnSpPr>
            <p:nvPr/>
          </p:nvCxnSpPr>
          <p:spPr>
            <a:xfrm>
              <a:off x="5370901" y="1281025"/>
              <a:ext cx="532500" cy="302400"/>
            </a:xfrm>
            <a:prstGeom prst="straightConnector1">
              <a:avLst/>
            </a:prstGeom>
            <a:noFill/>
            <a:ln cap="flat" cmpd="sng" w="19050">
              <a:solidFill>
                <a:schemeClr val="dk2"/>
              </a:solidFill>
              <a:prstDash val="solid"/>
              <a:round/>
              <a:headEnd len="med" w="med" type="none"/>
              <a:tailEnd len="med" w="med" type="triangle"/>
            </a:ln>
          </p:spPr>
        </p:cxnSp>
        <p:cxnSp>
          <p:nvCxnSpPr>
            <p:cNvPr id="1482" name="Google Shape;1482;p92"/>
            <p:cNvCxnSpPr>
              <a:stCxn id="1444" idx="2"/>
              <a:endCxn id="1453" idx="0"/>
            </p:cNvCxnSpPr>
            <p:nvPr/>
          </p:nvCxnSpPr>
          <p:spPr>
            <a:xfrm>
              <a:off x="6436102" y="1281025"/>
              <a:ext cx="0" cy="302400"/>
            </a:xfrm>
            <a:prstGeom prst="straightConnector1">
              <a:avLst/>
            </a:prstGeom>
            <a:noFill/>
            <a:ln cap="flat" cmpd="sng" w="19050">
              <a:solidFill>
                <a:schemeClr val="dk2"/>
              </a:solidFill>
              <a:prstDash val="solid"/>
              <a:round/>
              <a:headEnd len="med" w="med" type="none"/>
              <a:tailEnd len="med" w="med" type="triangle"/>
            </a:ln>
          </p:spPr>
        </p:cxnSp>
      </p:grpSp>
      <p:sp>
        <p:nvSpPr>
          <p:cNvPr id="1483" name="Google Shape;1483;p92"/>
          <p:cNvSpPr txBox="1"/>
          <p:nvPr/>
        </p:nvSpPr>
        <p:spPr>
          <a:xfrm>
            <a:off x="6877075" y="1095575"/>
            <a:ext cx="2266800" cy="714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Q: How would we use this operation for sorting?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46"/>
                                        </p:tgtEl>
                                        <p:attrNameLst>
                                          <p:attrName>style.visibility</p:attrName>
                                        </p:attrNameLst>
                                      </p:cBhvr>
                                      <p:to>
                                        <p:strVal val="visible"/>
                                      </p:to>
                                    </p:set>
                                    <p:animEffect filter="fade" transition="in">
                                      <p:cBhvr>
                                        <p:cTn dur="1"/>
                                        <p:tgtEl>
                                          <p:spTgt spid="144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75"/>
                                        </p:tgtEl>
                                        <p:attrNameLst>
                                          <p:attrName>style.visibility</p:attrName>
                                        </p:attrNameLst>
                                      </p:cBhvr>
                                      <p:to>
                                        <p:strVal val="visible"/>
                                      </p:to>
                                    </p:set>
                                    <p:animEffect filter="fade" transition="in">
                                      <p:cBhvr>
                                        <p:cTn dur="1"/>
                                        <p:tgtEl>
                                          <p:spTgt spid="147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83"/>
                                        </p:tgtEl>
                                        <p:attrNameLst>
                                          <p:attrName>style.visibility</p:attrName>
                                        </p:attrNameLst>
                                      </p:cBhvr>
                                      <p:to>
                                        <p:strVal val="visible"/>
                                      </p:to>
                                    </p:set>
                                    <p:animEffect filter="fade" transition="in">
                                      <p:cBhvr>
                                        <p:cTn dur="1"/>
                                        <p:tgtEl>
                                          <p:spTgt spid="148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37">
                                            <p:txEl>
                                              <p:pRg end="0" st="0"/>
                                            </p:txEl>
                                          </p:spTgt>
                                        </p:tgtEl>
                                        <p:attrNameLst>
                                          <p:attrName>style.visibility</p:attrName>
                                        </p:attrNameLst>
                                      </p:cBhvr>
                                      <p:to>
                                        <p:strVal val="visible"/>
                                      </p:to>
                                    </p:set>
                                    <p:animEffect filter="fade" transition="in">
                                      <p:cBhvr>
                                        <p:cTn dur="1"/>
                                        <p:tgtEl>
                                          <p:spTgt spid="1437">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37">
                                            <p:txEl>
                                              <p:pRg end="1" st="1"/>
                                            </p:txEl>
                                          </p:spTgt>
                                        </p:tgtEl>
                                        <p:attrNameLst>
                                          <p:attrName>style.visibility</p:attrName>
                                        </p:attrNameLst>
                                      </p:cBhvr>
                                      <p:to>
                                        <p:strVal val="visible"/>
                                      </p:to>
                                    </p:set>
                                    <p:animEffect filter="fade" transition="in">
                                      <p:cBhvr>
                                        <p:cTn dur="1"/>
                                        <p:tgtEl>
                                          <p:spTgt spid="1437">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37">
                                            <p:txEl>
                                              <p:pRg end="2" st="2"/>
                                            </p:txEl>
                                          </p:spTgt>
                                        </p:tgtEl>
                                        <p:attrNameLst>
                                          <p:attrName>style.visibility</p:attrName>
                                        </p:attrNameLst>
                                      </p:cBhvr>
                                      <p:to>
                                        <p:strVal val="visible"/>
                                      </p:to>
                                    </p:set>
                                    <p:animEffect filter="fade" transition="in">
                                      <p:cBhvr>
                                        <p:cTn dur="1"/>
                                        <p:tgtEl>
                                          <p:spTgt spid="1437">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55"/>
                                        </p:tgtEl>
                                        <p:attrNameLst>
                                          <p:attrName>style.visibility</p:attrName>
                                        </p:attrNameLst>
                                      </p:cBhvr>
                                      <p:to>
                                        <p:strVal val="visible"/>
                                      </p:to>
                                    </p:set>
                                    <p:animEffect filter="fade" transition="in">
                                      <p:cBhvr>
                                        <p:cTn dur="1"/>
                                        <p:tgtEl>
                                          <p:spTgt spid="14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65"/>
                                        </p:tgtEl>
                                        <p:attrNameLst>
                                          <p:attrName>style.visibility</p:attrName>
                                        </p:attrNameLst>
                                      </p:cBhvr>
                                      <p:to>
                                        <p:strVal val="visible"/>
                                      </p:to>
                                    </p:set>
                                    <p:animEffect filter="fade" transition="in">
                                      <p:cBhvr>
                                        <p:cTn dur="1"/>
                                        <p:tgtEl>
                                          <p:spTgt spid="146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7" name="Shape 1487"/>
        <p:cNvGrpSpPr/>
        <p:nvPr/>
      </p:nvGrpSpPr>
      <p:grpSpPr>
        <a:xfrm>
          <a:off x="0" y="0"/>
          <a:ext cx="0" cy="0"/>
          <a:chOff x="0" y="0"/>
          <a:chExt cx="0" cy="0"/>
        </a:xfrm>
      </p:grpSpPr>
      <p:sp>
        <p:nvSpPr>
          <p:cNvPr id="1488" name="Google Shape;1488;p93"/>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Quick Sort</a:t>
            </a:r>
            <a:endParaRPr/>
          </a:p>
        </p:txBody>
      </p:sp>
      <p:sp>
        <p:nvSpPr>
          <p:cNvPr id="1489" name="Google Shape;1489;p93"/>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Quick sorting N items: </a:t>
            </a:r>
            <a:endParaRPr/>
          </a:p>
          <a:p>
            <a:pPr indent="-342900" lvl="0" marL="457200" rtl="0" algn="l">
              <a:spcBef>
                <a:spcPts val="600"/>
              </a:spcBef>
              <a:spcAft>
                <a:spcPts val="0"/>
              </a:spcAft>
              <a:buSzPts val="1800"/>
              <a:buChar char="●"/>
            </a:pPr>
            <a:r>
              <a:rPr lang="en"/>
              <a:t>Partition on leftmost item. </a:t>
            </a:r>
            <a:endParaRPr/>
          </a:p>
          <a:p>
            <a:pPr indent="-342900" lvl="0" marL="457200" rtl="0" algn="l">
              <a:spcBef>
                <a:spcPts val="600"/>
              </a:spcBef>
              <a:spcAft>
                <a:spcPts val="0"/>
              </a:spcAft>
              <a:buSzPts val="1800"/>
              <a:buChar char="●"/>
            </a:pPr>
            <a:r>
              <a:rPr lang="en"/>
              <a:t>Quicksort left half.</a:t>
            </a:r>
            <a:endParaRPr/>
          </a:p>
          <a:p>
            <a:pPr indent="-342900" lvl="0" marL="457200" rtl="0" algn="l">
              <a:spcBef>
                <a:spcPts val="600"/>
              </a:spcBef>
              <a:spcAft>
                <a:spcPts val="0"/>
              </a:spcAft>
              <a:buSzPts val="1800"/>
              <a:buChar char="●"/>
            </a:pPr>
            <a:r>
              <a:rPr lang="en"/>
              <a:t>Quicksort right half.</a:t>
            </a:r>
            <a:endParaRPr/>
          </a:p>
          <a:p>
            <a:pPr indent="0" lvl="0" marL="0" rtl="0" algn="l">
              <a:spcBef>
                <a:spcPts val="600"/>
              </a:spcBef>
              <a:spcAft>
                <a:spcPts val="0"/>
              </a:spcAft>
              <a:buNone/>
            </a:pPr>
            <a:r>
              <a:t/>
            </a:r>
            <a:endParaRPr sz="1600"/>
          </a:p>
          <a:p>
            <a:pPr indent="0" lvl="0" marL="0" rtl="0" algn="l">
              <a:spcBef>
                <a:spcPts val="600"/>
              </a:spcBef>
              <a:spcAft>
                <a:spcPts val="0"/>
              </a:spcAft>
              <a:buNone/>
            </a:pPr>
            <a:r>
              <a:t/>
            </a:r>
            <a:endParaRPr sz="1600"/>
          </a:p>
        </p:txBody>
      </p:sp>
      <p:sp>
        <p:nvSpPr>
          <p:cNvPr id="1490" name="Google Shape;1490;p93"/>
          <p:cNvSpPr/>
          <p:nvPr/>
        </p:nvSpPr>
        <p:spPr>
          <a:xfrm>
            <a:off x="2834175" y="42644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1491" name="Google Shape;1491;p93"/>
          <p:cNvSpPr/>
          <p:nvPr/>
        </p:nvSpPr>
        <p:spPr>
          <a:xfrm>
            <a:off x="3319364" y="42644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1492" name="Google Shape;1492;p93"/>
          <p:cNvSpPr/>
          <p:nvPr/>
        </p:nvSpPr>
        <p:spPr>
          <a:xfrm>
            <a:off x="3808705" y="42644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493" name="Google Shape;1493;p93"/>
          <p:cNvSpPr/>
          <p:nvPr/>
        </p:nvSpPr>
        <p:spPr>
          <a:xfrm>
            <a:off x="4293894" y="42644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494" name="Google Shape;1494;p93"/>
          <p:cNvSpPr/>
          <p:nvPr/>
        </p:nvSpPr>
        <p:spPr>
          <a:xfrm>
            <a:off x="4778636" y="42644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1495" name="Google Shape;1495;p93"/>
          <p:cNvSpPr/>
          <p:nvPr/>
        </p:nvSpPr>
        <p:spPr>
          <a:xfrm>
            <a:off x="5263825" y="42644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1496" name="Google Shape;1496;p93"/>
          <p:cNvSpPr/>
          <p:nvPr/>
        </p:nvSpPr>
        <p:spPr>
          <a:xfrm>
            <a:off x="5753166" y="42644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1497" name="Google Shape;1497;p93"/>
          <p:cNvSpPr/>
          <p:nvPr/>
        </p:nvSpPr>
        <p:spPr>
          <a:xfrm>
            <a:off x="6238355" y="42644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498" name="Google Shape;1498;p93"/>
          <p:cNvSpPr/>
          <p:nvPr/>
        </p:nvSpPr>
        <p:spPr>
          <a:xfrm>
            <a:off x="6727730" y="42644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499" name="Google Shape;1499;p93"/>
          <p:cNvSpPr txBox="1"/>
          <p:nvPr/>
        </p:nvSpPr>
        <p:spPr>
          <a:xfrm>
            <a:off x="1300800" y="4244250"/>
            <a:ext cx="948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Input:</a:t>
            </a:r>
            <a:endParaRPr sz="2000">
              <a:latin typeface="Calibri"/>
              <a:ea typeface="Calibri"/>
              <a:cs typeface="Calibri"/>
              <a:sym typeface="Calibri"/>
            </a:endParaRPr>
          </a:p>
        </p:txBody>
      </p:sp>
      <p:sp>
        <p:nvSpPr>
          <p:cNvPr id="1500" name="Google Shape;1500;p93"/>
          <p:cNvSpPr/>
          <p:nvPr/>
        </p:nvSpPr>
        <p:spPr>
          <a:xfrm rot="-5400000">
            <a:off x="4895528" y="1896675"/>
            <a:ext cx="260700" cy="43590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93"/>
          <p:cNvSpPr txBox="1"/>
          <p:nvPr/>
        </p:nvSpPr>
        <p:spPr>
          <a:xfrm>
            <a:off x="4574383" y="3608625"/>
            <a:ext cx="948300" cy="3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unsorted</a:t>
            </a:r>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5" name="Shape 1505"/>
        <p:cNvGrpSpPr/>
        <p:nvPr/>
      </p:nvGrpSpPr>
      <p:grpSpPr>
        <a:xfrm>
          <a:off x="0" y="0"/>
          <a:ext cx="0" cy="0"/>
          <a:chOff x="0" y="0"/>
          <a:chExt cx="0" cy="0"/>
        </a:xfrm>
      </p:grpSpPr>
      <p:sp>
        <p:nvSpPr>
          <p:cNvPr id="1506" name="Google Shape;1506;p9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Quick Sort</a:t>
            </a:r>
            <a:endParaRPr/>
          </a:p>
        </p:txBody>
      </p:sp>
      <p:sp>
        <p:nvSpPr>
          <p:cNvPr id="1507" name="Google Shape;1507;p94"/>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Quick sorting N items: </a:t>
            </a:r>
            <a:endParaRPr/>
          </a:p>
          <a:p>
            <a:pPr indent="-342900" lvl="0" marL="457200" rtl="0" algn="l">
              <a:spcBef>
                <a:spcPts val="600"/>
              </a:spcBef>
              <a:spcAft>
                <a:spcPts val="0"/>
              </a:spcAft>
              <a:buSzPts val="1800"/>
              <a:buChar char="●"/>
            </a:pPr>
            <a:r>
              <a:rPr b="1" lang="en"/>
              <a:t>Partition on leftmost item (32). </a:t>
            </a:r>
            <a:endParaRPr b="1"/>
          </a:p>
          <a:p>
            <a:pPr indent="-342900" lvl="0" marL="457200" rtl="0" algn="l">
              <a:spcBef>
                <a:spcPts val="600"/>
              </a:spcBef>
              <a:spcAft>
                <a:spcPts val="0"/>
              </a:spcAft>
              <a:buSzPts val="1800"/>
              <a:buChar char="●"/>
            </a:pPr>
            <a:r>
              <a:rPr lang="en"/>
              <a:t>Quicksort left half.</a:t>
            </a:r>
            <a:endParaRPr/>
          </a:p>
          <a:p>
            <a:pPr indent="-342900" lvl="0" marL="457200" rtl="0" algn="l">
              <a:spcBef>
                <a:spcPts val="600"/>
              </a:spcBef>
              <a:spcAft>
                <a:spcPts val="0"/>
              </a:spcAft>
              <a:buSzPts val="1800"/>
              <a:buChar char="●"/>
            </a:pPr>
            <a:r>
              <a:rPr lang="en"/>
              <a:t>Quicksort right half.</a:t>
            </a:r>
            <a:endParaRPr/>
          </a:p>
          <a:p>
            <a:pPr indent="0" lvl="0" marL="0" rtl="0" algn="l">
              <a:spcBef>
                <a:spcPts val="600"/>
              </a:spcBef>
              <a:spcAft>
                <a:spcPts val="0"/>
              </a:spcAft>
              <a:buNone/>
            </a:pPr>
            <a:r>
              <a:t/>
            </a:r>
            <a:endParaRPr sz="1600"/>
          </a:p>
          <a:p>
            <a:pPr indent="0" lvl="0" marL="0" rtl="0" algn="l">
              <a:spcBef>
                <a:spcPts val="600"/>
              </a:spcBef>
              <a:spcAft>
                <a:spcPts val="0"/>
              </a:spcAft>
              <a:buNone/>
            </a:pPr>
            <a:r>
              <a:t/>
            </a:r>
            <a:endParaRPr sz="1600"/>
          </a:p>
        </p:txBody>
      </p:sp>
      <p:sp>
        <p:nvSpPr>
          <p:cNvPr id="1508" name="Google Shape;1508;p94"/>
          <p:cNvSpPr/>
          <p:nvPr/>
        </p:nvSpPr>
        <p:spPr>
          <a:xfrm>
            <a:off x="2834175" y="4264475"/>
            <a:ext cx="495300" cy="495300"/>
          </a:xfrm>
          <a:prstGeom prst="rect">
            <a:avLst/>
          </a:prstGeom>
          <a:solidFill>
            <a:srgbClr val="FFFFFF"/>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1509" name="Google Shape;1509;p94"/>
          <p:cNvSpPr/>
          <p:nvPr/>
        </p:nvSpPr>
        <p:spPr>
          <a:xfrm>
            <a:off x="3319364" y="4264475"/>
            <a:ext cx="495300" cy="495300"/>
          </a:xfrm>
          <a:prstGeom prst="rect">
            <a:avLst/>
          </a:prstGeom>
          <a:solidFill>
            <a:srgbClr val="EA999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1510" name="Google Shape;1510;p94"/>
          <p:cNvSpPr/>
          <p:nvPr/>
        </p:nvSpPr>
        <p:spPr>
          <a:xfrm>
            <a:off x="3808705" y="4264475"/>
            <a:ext cx="495300" cy="495300"/>
          </a:xfrm>
          <a:prstGeom prst="rect">
            <a:avLst/>
          </a:prstGeom>
          <a:solidFill>
            <a:srgbClr val="EA999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511" name="Google Shape;1511;p94"/>
          <p:cNvSpPr/>
          <p:nvPr/>
        </p:nvSpPr>
        <p:spPr>
          <a:xfrm>
            <a:off x="4293894" y="4264475"/>
            <a:ext cx="495300" cy="495300"/>
          </a:xfrm>
          <a:prstGeom prst="rect">
            <a:avLst/>
          </a:prstGeom>
          <a:solidFill>
            <a:srgbClr val="EA999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512" name="Google Shape;1512;p94"/>
          <p:cNvSpPr/>
          <p:nvPr/>
        </p:nvSpPr>
        <p:spPr>
          <a:xfrm>
            <a:off x="4778636" y="4264475"/>
            <a:ext cx="495300" cy="495300"/>
          </a:xfrm>
          <a:prstGeom prst="rect">
            <a:avLst/>
          </a:prstGeom>
          <a:solidFill>
            <a:srgbClr val="EA999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1513" name="Google Shape;1513;p94"/>
          <p:cNvSpPr/>
          <p:nvPr/>
        </p:nvSpPr>
        <p:spPr>
          <a:xfrm>
            <a:off x="5263825" y="4264475"/>
            <a:ext cx="495300" cy="495300"/>
          </a:xfrm>
          <a:prstGeom prst="rect">
            <a:avLst/>
          </a:prstGeom>
          <a:solidFill>
            <a:srgbClr val="EA999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1514" name="Google Shape;1514;p94"/>
          <p:cNvSpPr/>
          <p:nvPr/>
        </p:nvSpPr>
        <p:spPr>
          <a:xfrm>
            <a:off x="5753166" y="4264475"/>
            <a:ext cx="495300" cy="495300"/>
          </a:xfrm>
          <a:prstGeom prst="rect">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1515" name="Google Shape;1515;p94"/>
          <p:cNvSpPr/>
          <p:nvPr/>
        </p:nvSpPr>
        <p:spPr>
          <a:xfrm>
            <a:off x="6238355" y="4264475"/>
            <a:ext cx="495300" cy="495300"/>
          </a:xfrm>
          <a:prstGeom prst="rect">
            <a:avLst/>
          </a:prstGeom>
          <a:solidFill>
            <a:srgbClr val="EA999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516" name="Google Shape;1516;p94"/>
          <p:cNvSpPr/>
          <p:nvPr/>
        </p:nvSpPr>
        <p:spPr>
          <a:xfrm>
            <a:off x="6727730" y="4264475"/>
            <a:ext cx="495300" cy="495300"/>
          </a:xfrm>
          <a:prstGeom prst="rect">
            <a:avLst/>
          </a:prstGeom>
          <a:solidFill>
            <a:srgbClr val="EA999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517" name="Google Shape;1517;p94"/>
          <p:cNvSpPr txBox="1"/>
          <p:nvPr/>
        </p:nvSpPr>
        <p:spPr>
          <a:xfrm>
            <a:off x="1300800" y="4244250"/>
            <a:ext cx="948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Input:</a:t>
            </a:r>
            <a:endParaRPr sz="2000">
              <a:latin typeface="Calibri"/>
              <a:ea typeface="Calibri"/>
              <a:cs typeface="Calibri"/>
              <a:sym typeface="Calibri"/>
            </a:endParaRPr>
          </a:p>
        </p:txBody>
      </p:sp>
      <p:sp>
        <p:nvSpPr>
          <p:cNvPr id="1518" name="Google Shape;1518;p94"/>
          <p:cNvSpPr txBox="1"/>
          <p:nvPr/>
        </p:nvSpPr>
        <p:spPr>
          <a:xfrm>
            <a:off x="6721700" y="574525"/>
            <a:ext cx="1372200" cy="52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a:t>partition(32)</a:t>
            </a:r>
            <a:endParaRPr b="1"/>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2" name="Shape 1522"/>
        <p:cNvGrpSpPr/>
        <p:nvPr/>
      </p:nvGrpSpPr>
      <p:grpSpPr>
        <a:xfrm>
          <a:off x="0" y="0"/>
          <a:ext cx="0" cy="0"/>
          <a:chOff x="0" y="0"/>
          <a:chExt cx="0" cy="0"/>
        </a:xfrm>
      </p:grpSpPr>
      <p:sp>
        <p:nvSpPr>
          <p:cNvPr id="1523" name="Google Shape;1523;p95"/>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Quick Sort</a:t>
            </a:r>
            <a:endParaRPr/>
          </a:p>
        </p:txBody>
      </p:sp>
      <p:sp>
        <p:nvSpPr>
          <p:cNvPr id="1524" name="Google Shape;1524;p95"/>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Quick sorting N items: </a:t>
            </a:r>
            <a:endParaRPr/>
          </a:p>
          <a:p>
            <a:pPr indent="-342900" lvl="0" marL="457200" rtl="0" algn="l">
              <a:spcBef>
                <a:spcPts val="600"/>
              </a:spcBef>
              <a:spcAft>
                <a:spcPts val="0"/>
              </a:spcAft>
              <a:buSzPts val="1800"/>
              <a:buChar char="●"/>
            </a:pPr>
            <a:r>
              <a:rPr b="1" lang="en"/>
              <a:t>Partition on leftmost item (32). </a:t>
            </a:r>
            <a:endParaRPr b="1"/>
          </a:p>
          <a:p>
            <a:pPr indent="-342900" lvl="0" marL="457200" rtl="0" algn="l">
              <a:spcBef>
                <a:spcPts val="600"/>
              </a:spcBef>
              <a:spcAft>
                <a:spcPts val="0"/>
              </a:spcAft>
              <a:buSzPts val="1800"/>
              <a:buChar char="●"/>
            </a:pPr>
            <a:r>
              <a:rPr lang="en"/>
              <a:t>Quicksort left half.</a:t>
            </a:r>
            <a:endParaRPr/>
          </a:p>
          <a:p>
            <a:pPr indent="-342900" lvl="0" marL="457200" rtl="0" algn="l">
              <a:spcBef>
                <a:spcPts val="600"/>
              </a:spcBef>
              <a:spcAft>
                <a:spcPts val="0"/>
              </a:spcAft>
              <a:buSzPts val="1800"/>
              <a:buChar char="●"/>
            </a:pPr>
            <a:r>
              <a:rPr lang="en"/>
              <a:t>Quicksort right half.</a:t>
            </a:r>
            <a:endParaRPr/>
          </a:p>
          <a:p>
            <a:pPr indent="0" lvl="0" marL="0" rtl="0" algn="l">
              <a:spcBef>
                <a:spcPts val="600"/>
              </a:spcBef>
              <a:spcAft>
                <a:spcPts val="0"/>
              </a:spcAft>
              <a:buNone/>
            </a:pPr>
            <a:r>
              <a:t/>
            </a:r>
            <a:endParaRPr sz="1600"/>
          </a:p>
          <a:p>
            <a:pPr indent="0" lvl="0" marL="0" rtl="0" algn="l">
              <a:spcBef>
                <a:spcPts val="600"/>
              </a:spcBef>
              <a:spcAft>
                <a:spcPts val="0"/>
              </a:spcAft>
              <a:buNone/>
            </a:pPr>
            <a:r>
              <a:t/>
            </a:r>
            <a:endParaRPr sz="1600"/>
          </a:p>
        </p:txBody>
      </p:sp>
      <p:sp>
        <p:nvSpPr>
          <p:cNvPr id="1525" name="Google Shape;1525;p95"/>
          <p:cNvSpPr/>
          <p:nvPr/>
        </p:nvSpPr>
        <p:spPr>
          <a:xfrm>
            <a:off x="2834175" y="4264475"/>
            <a:ext cx="495300" cy="495300"/>
          </a:xfrm>
          <a:prstGeom prst="rect">
            <a:avLst/>
          </a:prstGeom>
          <a:solidFill>
            <a:srgbClr val="EA999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1526" name="Google Shape;1526;p95"/>
          <p:cNvSpPr/>
          <p:nvPr/>
        </p:nvSpPr>
        <p:spPr>
          <a:xfrm>
            <a:off x="3319364" y="4264475"/>
            <a:ext cx="495300" cy="495300"/>
          </a:xfrm>
          <a:prstGeom prst="rect">
            <a:avLst/>
          </a:prstGeom>
          <a:solidFill>
            <a:srgbClr val="EA999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527" name="Google Shape;1527;p95"/>
          <p:cNvSpPr/>
          <p:nvPr/>
        </p:nvSpPr>
        <p:spPr>
          <a:xfrm>
            <a:off x="3808705" y="4264475"/>
            <a:ext cx="495300" cy="495300"/>
          </a:xfrm>
          <a:prstGeom prst="rect">
            <a:avLst/>
          </a:prstGeom>
          <a:solidFill>
            <a:srgbClr val="EA999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528" name="Google Shape;1528;p95"/>
          <p:cNvSpPr/>
          <p:nvPr/>
        </p:nvSpPr>
        <p:spPr>
          <a:xfrm>
            <a:off x="4293894" y="4264475"/>
            <a:ext cx="495300" cy="495300"/>
          </a:xfrm>
          <a:prstGeom prst="rect">
            <a:avLst/>
          </a:prstGeom>
          <a:solidFill>
            <a:srgbClr val="EA999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1529" name="Google Shape;1529;p95"/>
          <p:cNvSpPr/>
          <p:nvPr/>
        </p:nvSpPr>
        <p:spPr>
          <a:xfrm>
            <a:off x="4778636" y="4264475"/>
            <a:ext cx="495300" cy="495300"/>
          </a:xfrm>
          <a:prstGeom prst="rect">
            <a:avLst/>
          </a:prstGeom>
          <a:solidFill>
            <a:srgbClr val="EA999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1530" name="Google Shape;1530;p95"/>
          <p:cNvSpPr/>
          <p:nvPr/>
        </p:nvSpPr>
        <p:spPr>
          <a:xfrm>
            <a:off x="5263825" y="4264475"/>
            <a:ext cx="495300" cy="495300"/>
          </a:xfrm>
          <a:prstGeom prst="rect">
            <a:avLst/>
          </a:prstGeom>
          <a:solidFill>
            <a:srgbClr val="EA999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531" name="Google Shape;1531;p95"/>
          <p:cNvSpPr/>
          <p:nvPr/>
        </p:nvSpPr>
        <p:spPr>
          <a:xfrm>
            <a:off x="5753166" y="4264475"/>
            <a:ext cx="495300" cy="495300"/>
          </a:xfrm>
          <a:prstGeom prst="rect">
            <a:avLst/>
          </a:prstGeom>
          <a:solidFill>
            <a:srgbClr val="EA9999"/>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532" name="Google Shape;1532;p95"/>
          <p:cNvSpPr/>
          <p:nvPr/>
        </p:nvSpPr>
        <p:spPr>
          <a:xfrm>
            <a:off x="6238355" y="4264475"/>
            <a:ext cx="495300" cy="495300"/>
          </a:xfrm>
          <a:prstGeom prst="rect">
            <a:avLst/>
          </a:prstGeom>
          <a:solidFill>
            <a:srgbClr val="FFFFFF"/>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1533" name="Google Shape;1533;p95"/>
          <p:cNvSpPr/>
          <p:nvPr/>
        </p:nvSpPr>
        <p:spPr>
          <a:xfrm>
            <a:off x="6727730" y="4264475"/>
            <a:ext cx="495300" cy="495300"/>
          </a:xfrm>
          <a:prstGeom prst="rect">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1534" name="Google Shape;1534;p95"/>
          <p:cNvSpPr txBox="1"/>
          <p:nvPr/>
        </p:nvSpPr>
        <p:spPr>
          <a:xfrm>
            <a:off x="1300800" y="4244250"/>
            <a:ext cx="948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Input:</a:t>
            </a:r>
            <a:endParaRPr sz="2000">
              <a:latin typeface="Calibri"/>
              <a:ea typeface="Calibri"/>
              <a:cs typeface="Calibri"/>
              <a:sym typeface="Calibri"/>
            </a:endParaRPr>
          </a:p>
        </p:txBody>
      </p:sp>
      <p:sp>
        <p:nvSpPr>
          <p:cNvPr id="1535" name="Google Shape;1535;p95"/>
          <p:cNvSpPr/>
          <p:nvPr/>
        </p:nvSpPr>
        <p:spPr>
          <a:xfrm rot="-5400000">
            <a:off x="4395977" y="2386125"/>
            <a:ext cx="260700" cy="33801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 name="Google Shape;1536;p95"/>
          <p:cNvSpPr/>
          <p:nvPr/>
        </p:nvSpPr>
        <p:spPr>
          <a:xfrm rot="-5400000">
            <a:off x="6833327" y="3840225"/>
            <a:ext cx="260700" cy="4719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 name="Google Shape;1537;p95"/>
          <p:cNvSpPr txBox="1"/>
          <p:nvPr/>
        </p:nvSpPr>
        <p:spPr>
          <a:xfrm>
            <a:off x="4617375" y="3704525"/>
            <a:ext cx="830700" cy="339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&lt;= 32</a:t>
            </a:r>
            <a:endParaRPr/>
          </a:p>
        </p:txBody>
      </p:sp>
      <p:sp>
        <p:nvSpPr>
          <p:cNvPr id="1538" name="Google Shape;1538;p95"/>
          <p:cNvSpPr txBox="1"/>
          <p:nvPr/>
        </p:nvSpPr>
        <p:spPr>
          <a:xfrm>
            <a:off x="7012725" y="3739250"/>
            <a:ext cx="830700" cy="339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&gt;= 32</a:t>
            </a:r>
            <a:endParaRPr/>
          </a:p>
        </p:txBody>
      </p:sp>
      <p:sp>
        <p:nvSpPr>
          <p:cNvPr id="1539" name="Google Shape;1539;p95"/>
          <p:cNvSpPr/>
          <p:nvPr/>
        </p:nvSpPr>
        <p:spPr>
          <a:xfrm rot="-5400000">
            <a:off x="6338712" y="3863500"/>
            <a:ext cx="260700" cy="4392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 name="Google Shape;1540;p95"/>
          <p:cNvSpPr txBox="1"/>
          <p:nvPr/>
        </p:nvSpPr>
        <p:spPr>
          <a:xfrm>
            <a:off x="6180876" y="33653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sp>
        <p:nvSpPr>
          <p:cNvPr id="1541" name="Google Shape;1541;p95"/>
          <p:cNvSpPr txBox="1"/>
          <p:nvPr/>
        </p:nvSpPr>
        <p:spPr>
          <a:xfrm>
            <a:off x="6721700" y="574525"/>
            <a:ext cx="1372200" cy="52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a:t>partition(32)</a:t>
            </a:r>
            <a:endParaRPr b="1"/>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5" name="Shape 1545"/>
        <p:cNvGrpSpPr/>
        <p:nvPr/>
      </p:nvGrpSpPr>
      <p:grpSpPr>
        <a:xfrm>
          <a:off x="0" y="0"/>
          <a:ext cx="0" cy="0"/>
          <a:chOff x="0" y="0"/>
          <a:chExt cx="0" cy="0"/>
        </a:xfrm>
      </p:grpSpPr>
      <p:sp>
        <p:nvSpPr>
          <p:cNvPr id="1546" name="Google Shape;1546;p9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Quick Sort</a:t>
            </a:r>
            <a:endParaRPr/>
          </a:p>
        </p:txBody>
      </p:sp>
      <p:sp>
        <p:nvSpPr>
          <p:cNvPr id="1547" name="Google Shape;1547;p96"/>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Quick sorting N items: </a:t>
            </a:r>
            <a:endParaRPr/>
          </a:p>
          <a:p>
            <a:pPr indent="-342900" lvl="0" marL="457200" rtl="0" algn="l">
              <a:spcBef>
                <a:spcPts val="600"/>
              </a:spcBef>
              <a:spcAft>
                <a:spcPts val="0"/>
              </a:spcAft>
              <a:buSzPts val="1800"/>
              <a:buChar char="●"/>
            </a:pPr>
            <a:r>
              <a:rPr b="1" lang="en"/>
              <a:t>Partition on leftmost item (32) (done). </a:t>
            </a:r>
            <a:endParaRPr b="1"/>
          </a:p>
          <a:p>
            <a:pPr indent="-342900" lvl="0" marL="457200" rtl="0" algn="l">
              <a:spcBef>
                <a:spcPts val="600"/>
              </a:spcBef>
              <a:spcAft>
                <a:spcPts val="0"/>
              </a:spcAft>
              <a:buSzPts val="1800"/>
              <a:buChar char="●"/>
            </a:pPr>
            <a:r>
              <a:rPr lang="en"/>
              <a:t>Quicksort left half.</a:t>
            </a:r>
            <a:endParaRPr/>
          </a:p>
          <a:p>
            <a:pPr indent="-342900" lvl="0" marL="457200" rtl="0" algn="l">
              <a:spcBef>
                <a:spcPts val="600"/>
              </a:spcBef>
              <a:spcAft>
                <a:spcPts val="0"/>
              </a:spcAft>
              <a:buSzPts val="1800"/>
              <a:buChar char="●"/>
            </a:pPr>
            <a:r>
              <a:rPr lang="en"/>
              <a:t>Quicksort right half.</a:t>
            </a:r>
            <a:endParaRPr/>
          </a:p>
          <a:p>
            <a:pPr indent="0" lvl="0" marL="0" rtl="0" algn="l">
              <a:spcBef>
                <a:spcPts val="600"/>
              </a:spcBef>
              <a:spcAft>
                <a:spcPts val="0"/>
              </a:spcAft>
              <a:buNone/>
            </a:pPr>
            <a:r>
              <a:t/>
            </a:r>
            <a:endParaRPr sz="1600"/>
          </a:p>
          <a:p>
            <a:pPr indent="0" lvl="0" marL="0" rtl="0" algn="l">
              <a:spcBef>
                <a:spcPts val="600"/>
              </a:spcBef>
              <a:spcAft>
                <a:spcPts val="0"/>
              </a:spcAft>
              <a:buNone/>
            </a:pPr>
            <a:r>
              <a:t/>
            </a:r>
            <a:endParaRPr sz="1600"/>
          </a:p>
        </p:txBody>
      </p:sp>
      <p:sp>
        <p:nvSpPr>
          <p:cNvPr id="1548" name="Google Shape;1548;p96"/>
          <p:cNvSpPr/>
          <p:nvPr/>
        </p:nvSpPr>
        <p:spPr>
          <a:xfrm>
            <a:off x="2834175" y="42644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1549" name="Google Shape;1549;p96"/>
          <p:cNvSpPr/>
          <p:nvPr/>
        </p:nvSpPr>
        <p:spPr>
          <a:xfrm>
            <a:off x="3319364" y="42644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550" name="Google Shape;1550;p96"/>
          <p:cNvSpPr/>
          <p:nvPr/>
        </p:nvSpPr>
        <p:spPr>
          <a:xfrm>
            <a:off x="3808705" y="42644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551" name="Google Shape;1551;p96"/>
          <p:cNvSpPr/>
          <p:nvPr/>
        </p:nvSpPr>
        <p:spPr>
          <a:xfrm>
            <a:off x="4293894" y="42644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1552" name="Google Shape;1552;p96"/>
          <p:cNvSpPr/>
          <p:nvPr/>
        </p:nvSpPr>
        <p:spPr>
          <a:xfrm>
            <a:off x="4778636" y="42644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1553" name="Google Shape;1553;p96"/>
          <p:cNvSpPr/>
          <p:nvPr/>
        </p:nvSpPr>
        <p:spPr>
          <a:xfrm>
            <a:off x="5263825" y="42644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554" name="Google Shape;1554;p96"/>
          <p:cNvSpPr/>
          <p:nvPr/>
        </p:nvSpPr>
        <p:spPr>
          <a:xfrm>
            <a:off x="5753166" y="42644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555" name="Google Shape;1555;p96"/>
          <p:cNvSpPr/>
          <p:nvPr/>
        </p:nvSpPr>
        <p:spPr>
          <a:xfrm>
            <a:off x="6238355" y="4264475"/>
            <a:ext cx="495300" cy="495300"/>
          </a:xfrm>
          <a:prstGeom prst="rect">
            <a:avLst/>
          </a:prstGeom>
          <a:solidFill>
            <a:srgbClr val="00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32</a:t>
            </a:r>
            <a:endParaRPr sz="1800">
              <a:solidFill>
                <a:srgbClr val="FFFFFF"/>
              </a:solidFill>
              <a:latin typeface="Calibri"/>
              <a:ea typeface="Calibri"/>
              <a:cs typeface="Calibri"/>
              <a:sym typeface="Calibri"/>
            </a:endParaRPr>
          </a:p>
        </p:txBody>
      </p:sp>
      <p:sp>
        <p:nvSpPr>
          <p:cNvPr id="1556" name="Google Shape;1556;p96"/>
          <p:cNvSpPr txBox="1"/>
          <p:nvPr/>
        </p:nvSpPr>
        <p:spPr>
          <a:xfrm>
            <a:off x="1300800" y="4244250"/>
            <a:ext cx="948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Input:</a:t>
            </a:r>
            <a:endParaRPr sz="2000">
              <a:latin typeface="Calibri"/>
              <a:ea typeface="Calibri"/>
              <a:cs typeface="Calibri"/>
              <a:sym typeface="Calibri"/>
            </a:endParaRPr>
          </a:p>
        </p:txBody>
      </p:sp>
      <p:sp>
        <p:nvSpPr>
          <p:cNvPr id="1557" name="Google Shape;1557;p96"/>
          <p:cNvSpPr/>
          <p:nvPr/>
        </p:nvSpPr>
        <p:spPr>
          <a:xfrm rot="-5400000">
            <a:off x="6338712" y="3863500"/>
            <a:ext cx="260700" cy="4392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96"/>
          <p:cNvSpPr txBox="1"/>
          <p:nvPr/>
        </p:nvSpPr>
        <p:spPr>
          <a:xfrm>
            <a:off x="6180876" y="33653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sp>
        <p:nvSpPr>
          <p:cNvPr id="1559" name="Google Shape;1559;p96"/>
          <p:cNvSpPr/>
          <p:nvPr/>
        </p:nvSpPr>
        <p:spPr>
          <a:xfrm>
            <a:off x="6727730" y="42644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1560" name="Google Shape;1560;p96"/>
          <p:cNvSpPr txBox="1"/>
          <p:nvPr/>
        </p:nvSpPr>
        <p:spPr>
          <a:xfrm>
            <a:off x="6721700" y="574525"/>
            <a:ext cx="1372200" cy="52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a:t>partition(32)</a:t>
            </a:r>
            <a:endParaRPr b="1"/>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4" name="Shape 1564"/>
        <p:cNvGrpSpPr/>
        <p:nvPr/>
      </p:nvGrpSpPr>
      <p:grpSpPr>
        <a:xfrm>
          <a:off x="0" y="0"/>
          <a:ext cx="0" cy="0"/>
          <a:chOff x="0" y="0"/>
          <a:chExt cx="0" cy="0"/>
        </a:xfrm>
      </p:grpSpPr>
      <p:sp>
        <p:nvSpPr>
          <p:cNvPr id="1565" name="Google Shape;1565;p9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Quick Sort</a:t>
            </a:r>
            <a:endParaRPr/>
          </a:p>
        </p:txBody>
      </p:sp>
      <p:sp>
        <p:nvSpPr>
          <p:cNvPr id="1566" name="Google Shape;1566;p97"/>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Quick sorting N items: </a:t>
            </a:r>
            <a:endParaRPr/>
          </a:p>
          <a:p>
            <a:pPr indent="-342900" lvl="0" marL="457200" rtl="0" algn="l">
              <a:spcBef>
                <a:spcPts val="600"/>
              </a:spcBef>
              <a:spcAft>
                <a:spcPts val="0"/>
              </a:spcAft>
              <a:buSzPts val="1800"/>
              <a:buChar char="●"/>
            </a:pPr>
            <a:r>
              <a:rPr lang="en"/>
              <a:t>Partition on leftmost item (32) (done). </a:t>
            </a:r>
            <a:endParaRPr/>
          </a:p>
          <a:p>
            <a:pPr indent="-342900" lvl="0" marL="457200" rtl="0" algn="l">
              <a:spcBef>
                <a:spcPts val="600"/>
              </a:spcBef>
              <a:spcAft>
                <a:spcPts val="0"/>
              </a:spcAft>
              <a:buSzPts val="1800"/>
              <a:buChar char="●"/>
            </a:pPr>
            <a:r>
              <a:rPr b="1" lang="en"/>
              <a:t>Quicksort left half (details not shown).</a:t>
            </a:r>
            <a:endParaRPr b="1"/>
          </a:p>
          <a:p>
            <a:pPr indent="-342900" lvl="0" marL="457200" rtl="0" algn="l">
              <a:spcBef>
                <a:spcPts val="600"/>
              </a:spcBef>
              <a:spcAft>
                <a:spcPts val="0"/>
              </a:spcAft>
              <a:buSzPts val="1800"/>
              <a:buChar char="●"/>
            </a:pPr>
            <a:r>
              <a:rPr lang="en"/>
              <a:t>Quicksort right half.</a:t>
            </a:r>
            <a:endParaRPr/>
          </a:p>
          <a:p>
            <a:pPr indent="0" lvl="0" marL="0" rtl="0" algn="l">
              <a:spcBef>
                <a:spcPts val="600"/>
              </a:spcBef>
              <a:spcAft>
                <a:spcPts val="0"/>
              </a:spcAft>
              <a:buNone/>
            </a:pPr>
            <a:r>
              <a:t/>
            </a:r>
            <a:endParaRPr sz="1600"/>
          </a:p>
          <a:p>
            <a:pPr indent="0" lvl="0" marL="0" rtl="0" algn="l">
              <a:spcBef>
                <a:spcPts val="600"/>
              </a:spcBef>
              <a:spcAft>
                <a:spcPts val="0"/>
              </a:spcAft>
              <a:buNone/>
            </a:pPr>
            <a:r>
              <a:t/>
            </a:r>
            <a:endParaRPr sz="1600"/>
          </a:p>
        </p:txBody>
      </p:sp>
      <p:sp>
        <p:nvSpPr>
          <p:cNvPr id="1567" name="Google Shape;1567;p97"/>
          <p:cNvSpPr txBox="1"/>
          <p:nvPr/>
        </p:nvSpPr>
        <p:spPr>
          <a:xfrm>
            <a:off x="6721700" y="574525"/>
            <a:ext cx="1142400" cy="52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partition(32)</a:t>
            </a:r>
            <a:endParaRPr/>
          </a:p>
        </p:txBody>
      </p:sp>
      <p:cxnSp>
        <p:nvCxnSpPr>
          <p:cNvPr id="1568" name="Google Shape;1568;p97"/>
          <p:cNvCxnSpPr/>
          <p:nvPr/>
        </p:nvCxnSpPr>
        <p:spPr>
          <a:xfrm flipH="1">
            <a:off x="7026450" y="934550"/>
            <a:ext cx="186900" cy="131400"/>
          </a:xfrm>
          <a:prstGeom prst="straightConnector1">
            <a:avLst/>
          </a:prstGeom>
          <a:noFill/>
          <a:ln cap="flat" cmpd="sng" w="9525">
            <a:solidFill>
              <a:schemeClr val="dk2"/>
            </a:solidFill>
            <a:prstDash val="solid"/>
            <a:round/>
            <a:headEnd len="med" w="med" type="none"/>
            <a:tailEnd len="med" w="med" type="none"/>
          </a:ln>
        </p:spPr>
      </p:cxnSp>
      <p:sp>
        <p:nvSpPr>
          <p:cNvPr id="1569" name="Google Shape;1569;p97"/>
          <p:cNvSpPr txBox="1"/>
          <p:nvPr/>
        </p:nvSpPr>
        <p:spPr>
          <a:xfrm>
            <a:off x="5946525" y="1003400"/>
            <a:ext cx="1262700" cy="52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partition(15)</a:t>
            </a:r>
            <a:endParaRPr/>
          </a:p>
        </p:txBody>
      </p:sp>
      <p:sp>
        <p:nvSpPr>
          <p:cNvPr id="1570" name="Google Shape;1570;p97"/>
          <p:cNvSpPr txBox="1"/>
          <p:nvPr/>
        </p:nvSpPr>
        <p:spPr>
          <a:xfrm>
            <a:off x="5115879" y="1453400"/>
            <a:ext cx="1262700" cy="52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partition(2)</a:t>
            </a:r>
            <a:endParaRPr/>
          </a:p>
        </p:txBody>
      </p:sp>
      <p:cxnSp>
        <p:nvCxnSpPr>
          <p:cNvPr id="1571" name="Google Shape;1571;p97"/>
          <p:cNvCxnSpPr/>
          <p:nvPr/>
        </p:nvCxnSpPr>
        <p:spPr>
          <a:xfrm flipH="1">
            <a:off x="6181276" y="1377905"/>
            <a:ext cx="186900" cy="131400"/>
          </a:xfrm>
          <a:prstGeom prst="straightConnector1">
            <a:avLst/>
          </a:prstGeom>
          <a:noFill/>
          <a:ln cap="flat" cmpd="sng" w="9525">
            <a:solidFill>
              <a:schemeClr val="dk2"/>
            </a:solidFill>
            <a:prstDash val="solid"/>
            <a:round/>
            <a:headEnd len="med" w="med" type="none"/>
            <a:tailEnd len="med" w="med" type="none"/>
          </a:ln>
        </p:spPr>
      </p:cxnSp>
      <p:sp>
        <p:nvSpPr>
          <p:cNvPr id="1572" name="Google Shape;1572;p97"/>
          <p:cNvSpPr txBox="1"/>
          <p:nvPr/>
        </p:nvSpPr>
        <p:spPr>
          <a:xfrm>
            <a:off x="6708525" y="1460600"/>
            <a:ext cx="1262700" cy="52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partition(17)</a:t>
            </a:r>
            <a:endParaRPr/>
          </a:p>
        </p:txBody>
      </p:sp>
      <p:cxnSp>
        <p:nvCxnSpPr>
          <p:cNvPr id="1573" name="Google Shape;1573;p97"/>
          <p:cNvCxnSpPr/>
          <p:nvPr/>
        </p:nvCxnSpPr>
        <p:spPr>
          <a:xfrm>
            <a:off x="6737450" y="1379625"/>
            <a:ext cx="260400" cy="150300"/>
          </a:xfrm>
          <a:prstGeom prst="straightConnector1">
            <a:avLst/>
          </a:prstGeom>
          <a:noFill/>
          <a:ln cap="flat" cmpd="sng" w="9525">
            <a:solidFill>
              <a:schemeClr val="dk2"/>
            </a:solidFill>
            <a:prstDash val="solid"/>
            <a:round/>
            <a:headEnd len="med" w="med" type="none"/>
            <a:tailEnd len="med" w="med" type="none"/>
          </a:ln>
        </p:spPr>
      </p:cxnSp>
      <p:sp>
        <p:nvSpPr>
          <p:cNvPr id="1574" name="Google Shape;1574;p97"/>
          <p:cNvSpPr txBox="1"/>
          <p:nvPr/>
        </p:nvSpPr>
        <p:spPr>
          <a:xfrm>
            <a:off x="7165725" y="1841600"/>
            <a:ext cx="1262700" cy="52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partition(19)</a:t>
            </a:r>
            <a:endParaRPr/>
          </a:p>
        </p:txBody>
      </p:sp>
      <p:cxnSp>
        <p:nvCxnSpPr>
          <p:cNvPr id="1575" name="Google Shape;1575;p97"/>
          <p:cNvCxnSpPr/>
          <p:nvPr/>
        </p:nvCxnSpPr>
        <p:spPr>
          <a:xfrm>
            <a:off x="7244061" y="1783247"/>
            <a:ext cx="260400" cy="150300"/>
          </a:xfrm>
          <a:prstGeom prst="straightConnector1">
            <a:avLst/>
          </a:prstGeom>
          <a:noFill/>
          <a:ln cap="flat" cmpd="sng" w="9525">
            <a:solidFill>
              <a:schemeClr val="dk2"/>
            </a:solidFill>
            <a:prstDash val="solid"/>
            <a:round/>
            <a:headEnd len="med" w="med" type="none"/>
            <a:tailEnd len="med" w="med" type="none"/>
          </a:ln>
        </p:spPr>
      </p:cxnSp>
      <p:sp>
        <p:nvSpPr>
          <p:cNvPr id="1576" name="Google Shape;1576;p97"/>
          <p:cNvSpPr txBox="1"/>
          <p:nvPr/>
        </p:nvSpPr>
        <p:spPr>
          <a:xfrm>
            <a:off x="6360108" y="2266571"/>
            <a:ext cx="1262700" cy="52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partition(17)</a:t>
            </a:r>
            <a:endParaRPr/>
          </a:p>
        </p:txBody>
      </p:sp>
      <p:cxnSp>
        <p:nvCxnSpPr>
          <p:cNvPr id="1577" name="Google Shape;1577;p97"/>
          <p:cNvCxnSpPr/>
          <p:nvPr/>
        </p:nvCxnSpPr>
        <p:spPr>
          <a:xfrm flipH="1">
            <a:off x="7425505" y="2191076"/>
            <a:ext cx="186900" cy="131400"/>
          </a:xfrm>
          <a:prstGeom prst="straightConnector1">
            <a:avLst/>
          </a:prstGeom>
          <a:noFill/>
          <a:ln cap="flat" cmpd="sng" w="9525">
            <a:solidFill>
              <a:schemeClr val="dk2"/>
            </a:solidFill>
            <a:prstDash val="solid"/>
            <a:round/>
            <a:headEnd len="med" w="med" type="none"/>
            <a:tailEnd len="med" w="med" type="none"/>
          </a:ln>
        </p:spPr>
      </p:cxnSp>
      <p:cxnSp>
        <p:nvCxnSpPr>
          <p:cNvPr id="1578" name="Google Shape;1578;p97"/>
          <p:cNvCxnSpPr/>
          <p:nvPr/>
        </p:nvCxnSpPr>
        <p:spPr>
          <a:xfrm>
            <a:off x="6851659" y="2635074"/>
            <a:ext cx="260400" cy="150300"/>
          </a:xfrm>
          <a:prstGeom prst="straightConnector1">
            <a:avLst/>
          </a:prstGeom>
          <a:noFill/>
          <a:ln cap="flat" cmpd="sng" w="9525">
            <a:solidFill>
              <a:schemeClr val="dk2"/>
            </a:solidFill>
            <a:prstDash val="solid"/>
            <a:round/>
            <a:headEnd len="med" w="med" type="none"/>
            <a:tailEnd len="med" w="med" type="none"/>
          </a:ln>
        </p:spPr>
      </p:cxnSp>
      <p:sp>
        <p:nvSpPr>
          <p:cNvPr id="1579" name="Google Shape;1579;p97"/>
          <p:cNvSpPr txBox="1"/>
          <p:nvPr/>
        </p:nvSpPr>
        <p:spPr>
          <a:xfrm>
            <a:off x="6860925" y="2744598"/>
            <a:ext cx="1262700" cy="52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partition(17)</a:t>
            </a:r>
            <a:endParaRPr/>
          </a:p>
        </p:txBody>
      </p:sp>
      <p:cxnSp>
        <p:nvCxnSpPr>
          <p:cNvPr id="1580" name="Google Shape;1580;p97"/>
          <p:cNvCxnSpPr/>
          <p:nvPr/>
        </p:nvCxnSpPr>
        <p:spPr>
          <a:xfrm>
            <a:off x="7825294" y="2189276"/>
            <a:ext cx="260400" cy="150300"/>
          </a:xfrm>
          <a:prstGeom prst="straightConnector1">
            <a:avLst/>
          </a:prstGeom>
          <a:noFill/>
          <a:ln cap="flat" cmpd="sng" w="9525">
            <a:solidFill>
              <a:schemeClr val="dk2"/>
            </a:solidFill>
            <a:prstDash val="solid"/>
            <a:round/>
            <a:headEnd len="med" w="med" type="none"/>
            <a:tailEnd len="med" w="med" type="none"/>
          </a:ln>
        </p:spPr>
      </p:cxnSp>
      <p:sp>
        <p:nvSpPr>
          <p:cNvPr id="1581" name="Google Shape;1581;p97"/>
          <p:cNvSpPr txBox="1"/>
          <p:nvPr/>
        </p:nvSpPr>
        <p:spPr>
          <a:xfrm>
            <a:off x="7826556" y="2253646"/>
            <a:ext cx="1262700" cy="52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partition(26)</a:t>
            </a:r>
            <a:endParaRPr/>
          </a:p>
        </p:txBody>
      </p:sp>
      <p:sp>
        <p:nvSpPr>
          <p:cNvPr id="1582" name="Google Shape;1582;p97"/>
          <p:cNvSpPr txBox="1"/>
          <p:nvPr/>
        </p:nvSpPr>
        <p:spPr>
          <a:xfrm>
            <a:off x="5096125" y="1721325"/>
            <a:ext cx="454800" cy="38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x</a:t>
            </a:r>
            <a:endParaRPr/>
          </a:p>
        </p:txBody>
      </p:sp>
      <p:sp>
        <p:nvSpPr>
          <p:cNvPr id="1583" name="Google Shape;1583;p97"/>
          <p:cNvSpPr txBox="1"/>
          <p:nvPr/>
        </p:nvSpPr>
        <p:spPr>
          <a:xfrm>
            <a:off x="5858125" y="1721325"/>
            <a:ext cx="454800" cy="38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x</a:t>
            </a:r>
            <a:endParaRPr/>
          </a:p>
        </p:txBody>
      </p:sp>
      <p:sp>
        <p:nvSpPr>
          <p:cNvPr id="1584" name="Google Shape;1584;p97"/>
          <p:cNvSpPr txBox="1"/>
          <p:nvPr/>
        </p:nvSpPr>
        <p:spPr>
          <a:xfrm>
            <a:off x="6747975" y="1721325"/>
            <a:ext cx="454800" cy="38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x</a:t>
            </a:r>
            <a:endParaRPr/>
          </a:p>
        </p:txBody>
      </p:sp>
      <p:sp>
        <p:nvSpPr>
          <p:cNvPr id="1585" name="Google Shape;1585;p97"/>
          <p:cNvSpPr txBox="1"/>
          <p:nvPr/>
        </p:nvSpPr>
        <p:spPr>
          <a:xfrm>
            <a:off x="6419848" y="2529978"/>
            <a:ext cx="454800" cy="38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x</a:t>
            </a:r>
            <a:endParaRPr/>
          </a:p>
        </p:txBody>
      </p:sp>
      <p:sp>
        <p:nvSpPr>
          <p:cNvPr id="1586" name="Google Shape;1586;p97"/>
          <p:cNvSpPr txBox="1"/>
          <p:nvPr/>
        </p:nvSpPr>
        <p:spPr>
          <a:xfrm>
            <a:off x="7695293" y="2992900"/>
            <a:ext cx="454800" cy="38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x</a:t>
            </a:r>
            <a:endParaRPr/>
          </a:p>
        </p:txBody>
      </p:sp>
      <p:sp>
        <p:nvSpPr>
          <p:cNvPr id="1587" name="Google Shape;1587;p97"/>
          <p:cNvSpPr txBox="1"/>
          <p:nvPr/>
        </p:nvSpPr>
        <p:spPr>
          <a:xfrm>
            <a:off x="7882683" y="2512373"/>
            <a:ext cx="454800" cy="38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x</a:t>
            </a:r>
            <a:endParaRPr/>
          </a:p>
        </p:txBody>
      </p:sp>
      <p:sp>
        <p:nvSpPr>
          <p:cNvPr id="1588" name="Google Shape;1588;p97"/>
          <p:cNvSpPr txBox="1"/>
          <p:nvPr/>
        </p:nvSpPr>
        <p:spPr>
          <a:xfrm>
            <a:off x="8644683" y="2512373"/>
            <a:ext cx="454800" cy="38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x</a:t>
            </a:r>
            <a:endParaRPr/>
          </a:p>
        </p:txBody>
      </p:sp>
      <p:sp>
        <p:nvSpPr>
          <p:cNvPr id="1589" name="Google Shape;1589;p97"/>
          <p:cNvSpPr/>
          <p:nvPr/>
        </p:nvSpPr>
        <p:spPr>
          <a:xfrm>
            <a:off x="2834175" y="4264475"/>
            <a:ext cx="495300" cy="495300"/>
          </a:xfrm>
          <a:prstGeom prst="rect">
            <a:avLst/>
          </a:prstGeom>
          <a:solidFill>
            <a:srgbClr val="00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2</a:t>
            </a:r>
            <a:endParaRPr sz="1800">
              <a:solidFill>
                <a:srgbClr val="FFFFFF"/>
              </a:solidFill>
              <a:latin typeface="Calibri"/>
              <a:ea typeface="Calibri"/>
              <a:cs typeface="Calibri"/>
              <a:sym typeface="Calibri"/>
            </a:endParaRPr>
          </a:p>
        </p:txBody>
      </p:sp>
      <p:sp>
        <p:nvSpPr>
          <p:cNvPr id="1590" name="Google Shape;1590;p97"/>
          <p:cNvSpPr/>
          <p:nvPr/>
        </p:nvSpPr>
        <p:spPr>
          <a:xfrm>
            <a:off x="3319364" y="4264475"/>
            <a:ext cx="495300" cy="495300"/>
          </a:xfrm>
          <a:prstGeom prst="rect">
            <a:avLst/>
          </a:prstGeom>
          <a:solidFill>
            <a:srgbClr val="00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15</a:t>
            </a:r>
            <a:endParaRPr sz="1800">
              <a:solidFill>
                <a:srgbClr val="FFFFFF"/>
              </a:solidFill>
              <a:latin typeface="Calibri"/>
              <a:ea typeface="Calibri"/>
              <a:cs typeface="Calibri"/>
              <a:sym typeface="Calibri"/>
            </a:endParaRPr>
          </a:p>
        </p:txBody>
      </p:sp>
      <p:sp>
        <p:nvSpPr>
          <p:cNvPr id="1591" name="Google Shape;1591;p97"/>
          <p:cNvSpPr/>
          <p:nvPr/>
        </p:nvSpPr>
        <p:spPr>
          <a:xfrm>
            <a:off x="3808705" y="4264475"/>
            <a:ext cx="495300" cy="495300"/>
          </a:xfrm>
          <a:prstGeom prst="rect">
            <a:avLst/>
          </a:prstGeom>
          <a:solidFill>
            <a:srgbClr val="00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17</a:t>
            </a:r>
            <a:endParaRPr sz="1800">
              <a:solidFill>
                <a:srgbClr val="FFFFFF"/>
              </a:solidFill>
              <a:latin typeface="Calibri"/>
              <a:ea typeface="Calibri"/>
              <a:cs typeface="Calibri"/>
              <a:sym typeface="Calibri"/>
            </a:endParaRPr>
          </a:p>
        </p:txBody>
      </p:sp>
      <p:sp>
        <p:nvSpPr>
          <p:cNvPr id="1592" name="Google Shape;1592;p97"/>
          <p:cNvSpPr/>
          <p:nvPr/>
        </p:nvSpPr>
        <p:spPr>
          <a:xfrm>
            <a:off x="4293894" y="4264475"/>
            <a:ext cx="495300" cy="495300"/>
          </a:xfrm>
          <a:prstGeom prst="rect">
            <a:avLst/>
          </a:prstGeom>
          <a:solidFill>
            <a:srgbClr val="00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17</a:t>
            </a:r>
            <a:endParaRPr sz="1800">
              <a:solidFill>
                <a:srgbClr val="FFFFFF"/>
              </a:solidFill>
              <a:latin typeface="Calibri"/>
              <a:ea typeface="Calibri"/>
              <a:cs typeface="Calibri"/>
              <a:sym typeface="Calibri"/>
            </a:endParaRPr>
          </a:p>
        </p:txBody>
      </p:sp>
      <p:sp>
        <p:nvSpPr>
          <p:cNvPr id="1593" name="Google Shape;1593;p97"/>
          <p:cNvSpPr/>
          <p:nvPr/>
        </p:nvSpPr>
        <p:spPr>
          <a:xfrm>
            <a:off x="4778636" y="4264475"/>
            <a:ext cx="495300" cy="495300"/>
          </a:xfrm>
          <a:prstGeom prst="rect">
            <a:avLst/>
          </a:prstGeom>
          <a:solidFill>
            <a:srgbClr val="00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17</a:t>
            </a:r>
            <a:endParaRPr sz="1800">
              <a:solidFill>
                <a:srgbClr val="FFFFFF"/>
              </a:solidFill>
              <a:latin typeface="Calibri"/>
              <a:ea typeface="Calibri"/>
              <a:cs typeface="Calibri"/>
              <a:sym typeface="Calibri"/>
            </a:endParaRPr>
          </a:p>
        </p:txBody>
      </p:sp>
      <p:sp>
        <p:nvSpPr>
          <p:cNvPr id="1594" name="Google Shape;1594;p97"/>
          <p:cNvSpPr/>
          <p:nvPr/>
        </p:nvSpPr>
        <p:spPr>
          <a:xfrm>
            <a:off x="5263825" y="4264475"/>
            <a:ext cx="495300" cy="495300"/>
          </a:xfrm>
          <a:prstGeom prst="rect">
            <a:avLst/>
          </a:prstGeom>
          <a:solidFill>
            <a:srgbClr val="00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19</a:t>
            </a:r>
            <a:endParaRPr sz="1800">
              <a:solidFill>
                <a:srgbClr val="FFFFFF"/>
              </a:solidFill>
              <a:latin typeface="Calibri"/>
              <a:ea typeface="Calibri"/>
              <a:cs typeface="Calibri"/>
              <a:sym typeface="Calibri"/>
            </a:endParaRPr>
          </a:p>
        </p:txBody>
      </p:sp>
      <p:sp>
        <p:nvSpPr>
          <p:cNvPr id="1595" name="Google Shape;1595;p97"/>
          <p:cNvSpPr/>
          <p:nvPr/>
        </p:nvSpPr>
        <p:spPr>
          <a:xfrm>
            <a:off x="5753166" y="4264475"/>
            <a:ext cx="495300" cy="495300"/>
          </a:xfrm>
          <a:prstGeom prst="rect">
            <a:avLst/>
          </a:prstGeom>
          <a:solidFill>
            <a:srgbClr val="00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26</a:t>
            </a:r>
            <a:endParaRPr sz="1800">
              <a:solidFill>
                <a:srgbClr val="FFFFFF"/>
              </a:solidFill>
              <a:latin typeface="Calibri"/>
              <a:ea typeface="Calibri"/>
              <a:cs typeface="Calibri"/>
              <a:sym typeface="Calibri"/>
            </a:endParaRPr>
          </a:p>
        </p:txBody>
      </p:sp>
      <p:sp>
        <p:nvSpPr>
          <p:cNvPr id="1596" name="Google Shape;1596;p97"/>
          <p:cNvSpPr/>
          <p:nvPr/>
        </p:nvSpPr>
        <p:spPr>
          <a:xfrm>
            <a:off x="6238355" y="4264475"/>
            <a:ext cx="495300" cy="495300"/>
          </a:xfrm>
          <a:prstGeom prst="rect">
            <a:avLst/>
          </a:prstGeom>
          <a:solidFill>
            <a:srgbClr val="00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32</a:t>
            </a:r>
            <a:endParaRPr sz="1800">
              <a:solidFill>
                <a:srgbClr val="FFFFFF"/>
              </a:solidFill>
              <a:latin typeface="Calibri"/>
              <a:ea typeface="Calibri"/>
              <a:cs typeface="Calibri"/>
              <a:sym typeface="Calibri"/>
            </a:endParaRPr>
          </a:p>
        </p:txBody>
      </p:sp>
      <p:sp>
        <p:nvSpPr>
          <p:cNvPr id="1597" name="Google Shape;1597;p97"/>
          <p:cNvSpPr/>
          <p:nvPr/>
        </p:nvSpPr>
        <p:spPr>
          <a:xfrm>
            <a:off x="6727730" y="4264475"/>
            <a:ext cx="495300" cy="495300"/>
          </a:xfrm>
          <a:prstGeom prst="rect">
            <a:avLst/>
          </a:prstGeom>
          <a:solidFill>
            <a:srgbClr val="B1DD8B"/>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1598" name="Google Shape;1598;p97"/>
          <p:cNvSpPr txBox="1"/>
          <p:nvPr/>
        </p:nvSpPr>
        <p:spPr>
          <a:xfrm>
            <a:off x="1300800" y="4244250"/>
            <a:ext cx="948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Input:</a:t>
            </a:r>
            <a:endParaRPr sz="2000">
              <a:latin typeface="Calibri"/>
              <a:ea typeface="Calibri"/>
              <a:cs typeface="Calibri"/>
              <a:sym typeface="Calibri"/>
            </a:endParaRPr>
          </a:p>
        </p:txBody>
      </p:sp>
      <p:sp>
        <p:nvSpPr>
          <p:cNvPr id="1599" name="Google Shape;1599;p97"/>
          <p:cNvSpPr/>
          <p:nvPr/>
        </p:nvSpPr>
        <p:spPr>
          <a:xfrm rot="-5400000">
            <a:off x="3445914" y="3847148"/>
            <a:ext cx="260700" cy="4719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0" name="Google Shape;1600;p97"/>
          <p:cNvSpPr txBox="1"/>
          <p:nvPr/>
        </p:nvSpPr>
        <p:spPr>
          <a:xfrm>
            <a:off x="3271727" y="33653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sp>
        <p:nvSpPr>
          <p:cNvPr id="1601" name="Google Shape;1601;p97"/>
          <p:cNvSpPr/>
          <p:nvPr/>
        </p:nvSpPr>
        <p:spPr>
          <a:xfrm rot="-5400000">
            <a:off x="2940204" y="3847148"/>
            <a:ext cx="260700" cy="4719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97"/>
          <p:cNvSpPr txBox="1"/>
          <p:nvPr/>
        </p:nvSpPr>
        <p:spPr>
          <a:xfrm>
            <a:off x="2766018" y="33653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sp>
        <p:nvSpPr>
          <p:cNvPr id="1603" name="Google Shape;1603;p97"/>
          <p:cNvSpPr/>
          <p:nvPr/>
        </p:nvSpPr>
        <p:spPr>
          <a:xfrm rot="-5400000">
            <a:off x="3928350" y="3863500"/>
            <a:ext cx="260700" cy="4392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4" name="Google Shape;1604;p97"/>
          <p:cNvSpPr txBox="1"/>
          <p:nvPr/>
        </p:nvSpPr>
        <p:spPr>
          <a:xfrm>
            <a:off x="3770514" y="33653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sp>
        <p:nvSpPr>
          <p:cNvPr id="1605" name="Google Shape;1605;p97"/>
          <p:cNvSpPr/>
          <p:nvPr/>
        </p:nvSpPr>
        <p:spPr>
          <a:xfrm rot="-5400000">
            <a:off x="5383175" y="3863500"/>
            <a:ext cx="260700" cy="4392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 name="Google Shape;1606;p97"/>
          <p:cNvSpPr txBox="1"/>
          <p:nvPr/>
        </p:nvSpPr>
        <p:spPr>
          <a:xfrm>
            <a:off x="5225340" y="33653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sp>
        <p:nvSpPr>
          <p:cNvPr id="1607" name="Google Shape;1607;p97"/>
          <p:cNvSpPr/>
          <p:nvPr/>
        </p:nvSpPr>
        <p:spPr>
          <a:xfrm rot="-5400000">
            <a:off x="6338712" y="3863500"/>
            <a:ext cx="260700" cy="4392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8" name="Google Shape;1608;p97"/>
          <p:cNvSpPr txBox="1"/>
          <p:nvPr/>
        </p:nvSpPr>
        <p:spPr>
          <a:xfrm>
            <a:off x="6180876" y="33653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sp>
        <p:nvSpPr>
          <p:cNvPr id="1609" name="Google Shape;1609;p97"/>
          <p:cNvSpPr/>
          <p:nvPr/>
        </p:nvSpPr>
        <p:spPr>
          <a:xfrm rot="-5400000">
            <a:off x="4399395" y="3863500"/>
            <a:ext cx="260700" cy="4392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0" name="Google Shape;1610;p97"/>
          <p:cNvSpPr txBox="1"/>
          <p:nvPr/>
        </p:nvSpPr>
        <p:spPr>
          <a:xfrm>
            <a:off x="4241560" y="33653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sp>
        <p:nvSpPr>
          <p:cNvPr id="1611" name="Google Shape;1611;p97"/>
          <p:cNvSpPr/>
          <p:nvPr/>
        </p:nvSpPr>
        <p:spPr>
          <a:xfrm rot="-5400000">
            <a:off x="4884337" y="3863500"/>
            <a:ext cx="260700" cy="4392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2" name="Google Shape;1612;p97"/>
          <p:cNvSpPr txBox="1"/>
          <p:nvPr/>
        </p:nvSpPr>
        <p:spPr>
          <a:xfrm>
            <a:off x="4726501" y="33653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sp>
        <p:nvSpPr>
          <p:cNvPr id="1613" name="Google Shape;1613;p97"/>
          <p:cNvSpPr/>
          <p:nvPr/>
        </p:nvSpPr>
        <p:spPr>
          <a:xfrm rot="-5400000">
            <a:off x="5868117" y="3863500"/>
            <a:ext cx="260700" cy="4392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4" name="Google Shape;1614;p97"/>
          <p:cNvSpPr txBox="1"/>
          <p:nvPr/>
        </p:nvSpPr>
        <p:spPr>
          <a:xfrm>
            <a:off x="5710281" y="33653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sp>
        <p:nvSpPr>
          <p:cNvPr id="1615" name="Google Shape;1615;p97"/>
          <p:cNvSpPr txBox="1"/>
          <p:nvPr/>
        </p:nvSpPr>
        <p:spPr>
          <a:xfrm>
            <a:off x="6860539" y="2988115"/>
            <a:ext cx="454800" cy="38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x</a:t>
            </a:r>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9" name="Shape 1619"/>
        <p:cNvGrpSpPr/>
        <p:nvPr/>
      </p:nvGrpSpPr>
      <p:grpSpPr>
        <a:xfrm>
          <a:off x="0" y="0"/>
          <a:ext cx="0" cy="0"/>
          <a:chOff x="0" y="0"/>
          <a:chExt cx="0" cy="0"/>
        </a:xfrm>
      </p:grpSpPr>
      <p:sp>
        <p:nvSpPr>
          <p:cNvPr id="1620" name="Google Shape;1620;p98"/>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Quick sorting N items: </a:t>
            </a:r>
            <a:endParaRPr/>
          </a:p>
          <a:p>
            <a:pPr indent="-342900" lvl="0" marL="457200" rtl="0" algn="l">
              <a:spcBef>
                <a:spcPts val="600"/>
              </a:spcBef>
              <a:spcAft>
                <a:spcPts val="0"/>
              </a:spcAft>
              <a:buSzPts val="1800"/>
              <a:buChar char="●"/>
            </a:pPr>
            <a:r>
              <a:rPr lang="en"/>
              <a:t>Partition on leftmost item (32) (done). </a:t>
            </a:r>
            <a:endParaRPr/>
          </a:p>
          <a:p>
            <a:pPr indent="-342900" lvl="0" marL="457200" rtl="0" algn="l">
              <a:spcBef>
                <a:spcPts val="600"/>
              </a:spcBef>
              <a:spcAft>
                <a:spcPts val="0"/>
              </a:spcAft>
              <a:buSzPts val="1800"/>
              <a:buChar char="●"/>
            </a:pPr>
            <a:r>
              <a:rPr lang="en"/>
              <a:t>Quicksort left half (details not shown).</a:t>
            </a:r>
            <a:endParaRPr/>
          </a:p>
          <a:p>
            <a:pPr indent="-342900" lvl="0" marL="457200" rtl="0" algn="l">
              <a:spcBef>
                <a:spcPts val="600"/>
              </a:spcBef>
              <a:spcAft>
                <a:spcPts val="0"/>
              </a:spcAft>
              <a:buSzPts val="1800"/>
              <a:buChar char="●"/>
            </a:pPr>
            <a:r>
              <a:rPr b="1" lang="en"/>
              <a:t>Quicksort right half (details not shown).</a:t>
            </a:r>
            <a:endParaRPr b="1"/>
          </a:p>
          <a:p>
            <a:pPr indent="0" lvl="0" marL="0" rtl="0" algn="l">
              <a:spcBef>
                <a:spcPts val="600"/>
              </a:spcBef>
              <a:spcAft>
                <a:spcPts val="0"/>
              </a:spcAft>
              <a:buNone/>
            </a:pPr>
            <a:r>
              <a:t/>
            </a:r>
            <a:endParaRPr sz="1600"/>
          </a:p>
          <a:p>
            <a:pPr indent="0" lvl="0" marL="0" rtl="0" algn="l">
              <a:spcBef>
                <a:spcPts val="600"/>
              </a:spcBef>
              <a:spcAft>
                <a:spcPts val="0"/>
              </a:spcAft>
              <a:buNone/>
            </a:pPr>
            <a:r>
              <a:t/>
            </a:r>
            <a:endParaRPr sz="1600"/>
          </a:p>
        </p:txBody>
      </p:sp>
      <p:sp>
        <p:nvSpPr>
          <p:cNvPr id="1621" name="Google Shape;1621;p9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Quick Sort</a:t>
            </a:r>
            <a:endParaRPr/>
          </a:p>
        </p:txBody>
      </p:sp>
      <p:sp>
        <p:nvSpPr>
          <p:cNvPr id="1622" name="Google Shape;1622;p98"/>
          <p:cNvSpPr txBox="1"/>
          <p:nvPr/>
        </p:nvSpPr>
        <p:spPr>
          <a:xfrm>
            <a:off x="6721700" y="574525"/>
            <a:ext cx="1142400" cy="52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partition(32)</a:t>
            </a:r>
            <a:endParaRPr/>
          </a:p>
        </p:txBody>
      </p:sp>
      <p:cxnSp>
        <p:nvCxnSpPr>
          <p:cNvPr id="1623" name="Google Shape;1623;p98"/>
          <p:cNvCxnSpPr/>
          <p:nvPr/>
        </p:nvCxnSpPr>
        <p:spPr>
          <a:xfrm flipH="1">
            <a:off x="7026450" y="934550"/>
            <a:ext cx="186900" cy="131400"/>
          </a:xfrm>
          <a:prstGeom prst="straightConnector1">
            <a:avLst/>
          </a:prstGeom>
          <a:noFill/>
          <a:ln cap="flat" cmpd="sng" w="9525">
            <a:solidFill>
              <a:schemeClr val="dk2"/>
            </a:solidFill>
            <a:prstDash val="solid"/>
            <a:round/>
            <a:headEnd len="med" w="med" type="none"/>
            <a:tailEnd len="med" w="med" type="none"/>
          </a:ln>
        </p:spPr>
      </p:cxnSp>
      <p:sp>
        <p:nvSpPr>
          <p:cNvPr id="1624" name="Google Shape;1624;p98"/>
          <p:cNvSpPr txBox="1"/>
          <p:nvPr/>
        </p:nvSpPr>
        <p:spPr>
          <a:xfrm>
            <a:off x="5946525" y="1003400"/>
            <a:ext cx="1262700" cy="52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partition(15)</a:t>
            </a:r>
            <a:endParaRPr/>
          </a:p>
        </p:txBody>
      </p:sp>
      <p:sp>
        <p:nvSpPr>
          <p:cNvPr id="1625" name="Google Shape;1625;p98"/>
          <p:cNvSpPr txBox="1"/>
          <p:nvPr/>
        </p:nvSpPr>
        <p:spPr>
          <a:xfrm>
            <a:off x="5115879" y="1453400"/>
            <a:ext cx="1262700" cy="52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partition(2)</a:t>
            </a:r>
            <a:endParaRPr/>
          </a:p>
        </p:txBody>
      </p:sp>
      <p:cxnSp>
        <p:nvCxnSpPr>
          <p:cNvPr id="1626" name="Google Shape;1626;p98"/>
          <p:cNvCxnSpPr/>
          <p:nvPr/>
        </p:nvCxnSpPr>
        <p:spPr>
          <a:xfrm flipH="1">
            <a:off x="6181276" y="1377905"/>
            <a:ext cx="186900" cy="131400"/>
          </a:xfrm>
          <a:prstGeom prst="straightConnector1">
            <a:avLst/>
          </a:prstGeom>
          <a:noFill/>
          <a:ln cap="flat" cmpd="sng" w="9525">
            <a:solidFill>
              <a:schemeClr val="dk2"/>
            </a:solidFill>
            <a:prstDash val="solid"/>
            <a:round/>
            <a:headEnd len="med" w="med" type="none"/>
            <a:tailEnd len="med" w="med" type="none"/>
          </a:ln>
        </p:spPr>
      </p:cxnSp>
      <p:sp>
        <p:nvSpPr>
          <p:cNvPr id="1627" name="Google Shape;1627;p98"/>
          <p:cNvSpPr txBox="1"/>
          <p:nvPr/>
        </p:nvSpPr>
        <p:spPr>
          <a:xfrm>
            <a:off x="6708525" y="1460600"/>
            <a:ext cx="1262700" cy="52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partition(17)</a:t>
            </a:r>
            <a:endParaRPr/>
          </a:p>
        </p:txBody>
      </p:sp>
      <p:cxnSp>
        <p:nvCxnSpPr>
          <p:cNvPr id="1628" name="Google Shape;1628;p98"/>
          <p:cNvCxnSpPr/>
          <p:nvPr/>
        </p:nvCxnSpPr>
        <p:spPr>
          <a:xfrm>
            <a:off x="6737450" y="1379625"/>
            <a:ext cx="260400" cy="150300"/>
          </a:xfrm>
          <a:prstGeom prst="straightConnector1">
            <a:avLst/>
          </a:prstGeom>
          <a:noFill/>
          <a:ln cap="flat" cmpd="sng" w="9525">
            <a:solidFill>
              <a:schemeClr val="dk2"/>
            </a:solidFill>
            <a:prstDash val="solid"/>
            <a:round/>
            <a:headEnd len="med" w="med" type="none"/>
            <a:tailEnd len="med" w="med" type="none"/>
          </a:ln>
        </p:spPr>
      </p:cxnSp>
      <p:sp>
        <p:nvSpPr>
          <p:cNvPr id="1629" name="Google Shape;1629;p98"/>
          <p:cNvSpPr txBox="1"/>
          <p:nvPr/>
        </p:nvSpPr>
        <p:spPr>
          <a:xfrm>
            <a:off x="7165725" y="1841600"/>
            <a:ext cx="1262700" cy="52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partition(19)</a:t>
            </a:r>
            <a:endParaRPr/>
          </a:p>
        </p:txBody>
      </p:sp>
      <p:cxnSp>
        <p:nvCxnSpPr>
          <p:cNvPr id="1630" name="Google Shape;1630;p98"/>
          <p:cNvCxnSpPr/>
          <p:nvPr/>
        </p:nvCxnSpPr>
        <p:spPr>
          <a:xfrm>
            <a:off x="7244061" y="1783247"/>
            <a:ext cx="260400" cy="150300"/>
          </a:xfrm>
          <a:prstGeom prst="straightConnector1">
            <a:avLst/>
          </a:prstGeom>
          <a:noFill/>
          <a:ln cap="flat" cmpd="sng" w="9525">
            <a:solidFill>
              <a:schemeClr val="dk2"/>
            </a:solidFill>
            <a:prstDash val="solid"/>
            <a:round/>
            <a:headEnd len="med" w="med" type="none"/>
            <a:tailEnd len="med" w="med" type="none"/>
          </a:ln>
        </p:spPr>
      </p:cxnSp>
      <p:sp>
        <p:nvSpPr>
          <p:cNvPr id="1631" name="Google Shape;1631;p98"/>
          <p:cNvSpPr txBox="1"/>
          <p:nvPr/>
        </p:nvSpPr>
        <p:spPr>
          <a:xfrm>
            <a:off x="6360108" y="2266571"/>
            <a:ext cx="1262700" cy="52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partition(17)</a:t>
            </a:r>
            <a:endParaRPr/>
          </a:p>
        </p:txBody>
      </p:sp>
      <p:cxnSp>
        <p:nvCxnSpPr>
          <p:cNvPr id="1632" name="Google Shape;1632;p98"/>
          <p:cNvCxnSpPr/>
          <p:nvPr/>
        </p:nvCxnSpPr>
        <p:spPr>
          <a:xfrm flipH="1">
            <a:off x="7425505" y="2191076"/>
            <a:ext cx="186900" cy="131400"/>
          </a:xfrm>
          <a:prstGeom prst="straightConnector1">
            <a:avLst/>
          </a:prstGeom>
          <a:noFill/>
          <a:ln cap="flat" cmpd="sng" w="9525">
            <a:solidFill>
              <a:schemeClr val="dk2"/>
            </a:solidFill>
            <a:prstDash val="solid"/>
            <a:round/>
            <a:headEnd len="med" w="med" type="none"/>
            <a:tailEnd len="med" w="med" type="none"/>
          </a:ln>
        </p:spPr>
      </p:cxnSp>
      <p:cxnSp>
        <p:nvCxnSpPr>
          <p:cNvPr id="1633" name="Google Shape;1633;p98"/>
          <p:cNvCxnSpPr/>
          <p:nvPr/>
        </p:nvCxnSpPr>
        <p:spPr>
          <a:xfrm>
            <a:off x="6851659" y="2635074"/>
            <a:ext cx="260400" cy="150300"/>
          </a:xfrm>
          <a:prstGeom prst="straightConnector1">
            <a:avLst/>
          </a:prstGeom>
          <a:noFill/>
          <a:ln cap="flat" cmpd="sng" w="9525">
            <a:solidFill>
              <a:schemeClr val="dk2"/>
            </a:solidFill>
            <a:prstDash val="solid"/>
            <a:round/>
            <a:headEnd len="med" w="med" type="none"/>
            <a:tailEnd len="med" w="med" type="none"/>
          </a:ln>
        </p:spPr>
      </p:cxnSp>
      <p:sp>
        <p:nvSpPr>
          <p:cNvPr id="1634" name="Google Shape;1634;p98"/>
          <p:cNvSpPr txBox="1"/>
          <p:nvPr/>
        </p:nvSpPr>
        <p:spPr>
          <a:xfrm>
            <a:off x="6860925" y="2744598"/>
            <a:ext cx="1262700" cy="52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partition(17)</a:t>
            </a:r>
            <a:endParaRPr/>
          </a:p>
        </p:txBody>
      </p:sp>
      <p:cxnSp>
        <p:nvCxnSpPr>
          <p:cNvPr id="1635" name="Google Shape;1635;p98"/>
          <p:cNvCxnSpPr/>
          <p:nvPr/>
        </p:nvCxnSpPr>
        <p:spPr>
          <a:xfrm>
            <a:off x="7825294" y="2189276"/>
            <a:ext cx="260400" cy="150300"/>
          </a:xfrm>
          <a:prstGeom prst="straightConnector1">
            <a:avLst/>
          </a:prstGeom>
          <a:noFill/>
          <a:ln cap="flat" cmpd="sng" w="9525">
            <a:solidFill>
              <a:schemeClr val="dk2"/>
            </a:solidFill>
            <a:prstDash val="solid"/>
            <a:round/>
            <a:headEnd len="med" w="med" type="none"/>
            <a:tailEnd len="med" w="med" type="none"/>
          </a:ln>
        </p:spPr>
      </p:cxnSp>
      <p:sp>
        <p:nvSpPr>
          <p:cNvPr id="1636" name="Google Shape;1636;p98"/>
          <p:cNvSpPr txBox="1"/>
          <p:nvPr/>
        </p:nvSpPr>
        <p:spPr>
          <a:xfrm>
            <a:off x="7826556" y="2253646"/>
            <a:ext cx="1262700" cy="52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partition(26)</a:t>
            </a:r>
            <a:endParaRPr/>
          </a:p>
        </p:txBody>
      </p:sp>
      <p:sp>
        <p:nvSpPr>
          <p:cNvPr id="1637" name="Google Shape;1637;p98"/>
          <p:cNvSpPr txBox="1"/>
          <p:nvPr/>
        </p:nvSpPr>
        <p:spPr>
          <a:xfrm>
            <a:off x="5096125" y="1721325"/>
            <a:ext cx="454800" cy="38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x</a:t>
            </a:r>
            <a:endParaRPr/>
          </a:p>
        </p:txBody>
      </p:sp>
      <p:sp>
        <p:nvSpPr>
          <p:cNvPr id="1638" name="Google Shape;1638;p98"/>
          <p:cNvSpPr txBox="1"/>
          <p:nvPr/>
        </p:nvSpPr>
        <p:spPr>
          <a:xfrm>
            <a:off x="5858125" y="1721325"/>
            <a:ext cx="454800" cy="38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x</a:t>
            </a:r>
            <a:endParaRPr/>
          </a:p>
        </p:txBody>
      </p:sp>
      <p:sp>
        <p:nvSpPr>
          <p:cNvPr id="1639" name="Google Shape;1639;p98"/>
          <p:cNvSpPr txBox="1"/>
          <p:nvPr/>
        </p:nvSpPr>
        <p:spPr>
          <a:xfrm>
            <a:off x="6747975" y="1721325"/>
            <a:ext cx="454800" cy="38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x</a:t>
            </a:r>
            <a:endParaRPr/>
          </a:p>
        </p:txBody>
      </p:sp>
      <p:sp>
        <p:nvSpPr>
          <p:cNvPr id="1640" name="Google Shape;1640;p98"/>
          <p:cNvSpPr txBox="1"/>
          <p:nvPr/>
        </p:nvSpPr>
        <p:spPr>
          <a:xfrm>
            <a:off x="6419848" y="2529978"/>
            <a:ext cx="454800" cy="38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x</a:t>
            </a:r>
            <a:endParaRPr/>
          </a:p>
        </p:txBody>
      </p:sp>
      <p:sp>
        <p:nvSpPr>
          <p:cNvPr id="1641" name="Google Shape;1641;p98"/>
          <p:cNvSpPr txBox="1"/>
          <p:nvPr/>
        </p:nvSpPr>
        <p:spPr>
          <a:xfrm>
            <a:off x="7695293" y="2992900"/>
            <a:ext cx="454800" cy="38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x</a:t>
            </a:r>
            <a:endParaRPr/>
          </a:p>
        </p:txBody>
      </p:sp>
      <p:sp>
        <p:nvSpPr>
          <p:cNvPr id="1642" name="Google Shape;1642;p98"/>
          <p:cNvSpPr txBox="1"/>
          <p:nvPr/>
        </p:nvSpPr>
        <p:spPr>
          <a:xfrm>
            <a:off x="7882683" y="2512373"/>
            <a:ext cx="454800" cy="38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x</a:t>
            </a:r>
            <a:endParaRPr/>
          </a:p>
        </p:txBody>
      </p:sp>
      <p:sp>
        <p:nvSpPr>
          <p:cNvPr id="1643" name="Google Shape;1643;p98"/>
          <p:cNvSpPr txBox="1"/>
          <p:nvPr/>
        </p:nvSpPr>
        <p:spPr>
          <a:xfrm>
            <a:off x="8644683" y="2512373"/>
            <a:ext cx="454800" cy="38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x</a:t>
            </a:r>
            <a:endParaRPr/>
          </a:p>
        </p:txBody>
      </p:sp>
      <p:sp>
        <p:nvSpPr>
          <p:cNvPr id="1644" name="Google Shape;1644;p98"/>
          <p:cNvSpPr/>
          <p:nvPr/>
        </p:nvSpPr>
        <p:spPr>
          <a:xfrm>
            <a:off x="2834175" y="4264475"/>
            <a:ext cx="495300" cy="495300"/>
          </a:xfrm>
          <a:prstGeom prst="rect">
            <a:avLst/>
          </a:prstGeom>
          <a:solidFill>
            <a:srgbClr val="00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2</a:t>
            </a:r>
            <a:endParaRPr sz="1800">
              <a:solidFill>
                <a:srgbClr val="FFFFFF"/>
              </a:solidFill>
              <a:latin typeface="Calibri"/>
              <a:ea typeface="Calibri"/>
              <a:cs typeface="Calibri"/>
              <a:sym typeface="Calibri"/>
            </a:endParaRPr>
          </a:p>
        </p:txBody>
      </p:sp>
      <p:sp>
        <p:nvSpPr>
          <p:cNvPr id="1645" name="Google Shape;1645;p98"/>
          <p:cNvSpPr/>
          <p:nvPr/>
        </p:nvSpPr>
        <p:spPr>
          <a:xfrm>
            <a:off x="3319364" y="4264475"/>
            <a:ext cx="495300" cy="495300"/>
          </a:xfrm>
          <a:prstGeom prst="rect">
            <a:avLst/>
          </a:prstGeom>
          <a:solidFill>
            <a:srgbClr val="00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15</a:t>
            </a:r>
            <a:endParaRPr sz="1800">
              <a:solidFill>
                <a:srgbClr val="FFFFFF"/>
              </a:solidFill>
              <a:latin typeface="Calibri"/>
              <a:ea typeface="Calibri"/>
              <a:cs typeface="Calibri"/>
              <a:sym typeface="Calibri"/>
            </a:endParaRPr>
          </a:p>
        </p:txBody>
      </p:sp>
      <p:sp>
        <p:nvSpPr>
          <p:cNvPr id="1646" name="Google Shape;1646;p98"/>
          <p:cNvSpPr/>
          <p:nvPr/>
        </p:nvSpPr>
        <p:spPr>
          <a:xfrm>
            <a:off x="3808705" y="4264475"/>
            <a:ext cx="495300" cy="495300"/>
          </a:xfrm>
          <a:prstGeom prst="rect">
            <a:avLst/>
          </a:prstGeom>
          <a:solidFill>
            <a:srgbClr val="00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17</a:t>
            </a:r>
            <a:endParaRPr sz="1800">
              <a:solidFill>
                <a:srgbClr val="FFFFFF"/>
              </a:solidFill>
              <a:latin typeface="Calibri"/>
              <a:ea typeface="Calibri"/>
              <a:cs typeface="Calibri"/>
              <a:sym typeface="Calibri"/>
            </a:endParaRPr>
          </a:p>
        </p:txBody>
      </p:sp>
      <p:sp>
        <p:nvSpPr>
          <p:cNvPr id="1647" name="Google Shape;1647;p98"/>
          <p:cNvSpPr/>
          <p:nvPr/>
        </p:nvSpPr>
        <p:spPr>
          <a:xfrm>
            <a:off x="4293894" y="4264475"/>
            <a:ext cx="495300" cy="495300"/>
          </a:xfrm>
          <a:prstGeom prst="rect">
            <a:avLst/>
          </a:prstGeom>
          <a:solidFill>
            <a:srgbClr val="00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17</a:t>
            </a:r>
            <a:endParaRPr sz="1800">
              <a:solidFill>
                <a:srgbClr val="FFFFFF"/>
              </a:solidFill>
              <a:latin typeface="Calibri"/>
              <a:ea typeface="Calibri"/>
              <a:cs typeface="Calibri"/>
              <a:sym typeface="Calibri"/>
            </a:endParaRPr>
          </a:p>
        </p:txBody>
      </p:sp>
      <p:sp>
        <p:nvSpPr>
          <p:cNvPr id="1648" name="Google Shape;1648;p98"/>
          <p:cNvSpPr/>
          <p:nvPr/>
        </p:nvSpPr>
        <p:spPr>
          <a:xfrm>
            <a:off x="4778636" y="4264475"/>
            <a:ext cx="495300" cy="495300"/>
          </a:xfrm>
          <a:prstGeom prst="rect">
            <a:avLst/>
          </a:prstGeom>
          <a:solidFill>
            <a:srgbClr val="00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17</a:t>
            </a:r>
            <a:endParaRPr sz="1800">
              <a:solidFill>
                <a:srgbClr val="FFFFFF"/>
              </a:solidFill>
              <a:latin typeface="Calibri"/>
              <a:ea typeface="Calibri"/>
              <a:cs typeface="Calibri"/>
              <a:sym typeface="Calibri"/>
            </a:endParaRPr>
          </a:p>
        </p:txBody>
      </p:sp>
      <p:sp>
        <p:nvSpPr>
          <p:cNvPr id="1649" name="Google Shape;1649;p98"/>
          <p:cNvSpPr/>
          <p:nvPr/>
        </p:nvSpPr>
        <p:spPr>
          <a:xfrm>
            <a:off x="5263825" y="4264475"/>
            <a:ext cx="495300" cy="495300"/>
          </a:xfrm>
          <a:prstGeom prst="rect">
            <a:avLst/>
          </a:prstGeom>
          <a:solidFill>
            <a:srgbClr val="00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19</a:t>
            </a:r>
            <a:endParaRPr sz="1800">
              <a:solidFill>
                <a:srgbClr val="FFFFFF"/>
              </a:solidFill>
              <a:latin typeface="Calibri"/>
              <a:ea typeface="Calibri"/>
              <a:cs typeface="Calibri"/>
              <a:sym typeface="Calibri"/>
            </a:endParaRPr>
          </a:p>
        </p:txBody>
      </p:sp>
      <p:sp>
        <p:nvSpPr>
          <p:cNvPr id="1650" name="Google Shape;1650;p98"/>
          <p:cNvSpPr/>
          <p:nvPr/>
        </p:nvSpPr>
        <p:spPr>
          <a:xfrm>
            <a:off x="5753166" y="4264475"/>
            <a:ext cx="495300" cy="495300"/>
          </a:xfrm>
          <a:prstGeom prst="rect">
            <a:avLst/>
          </a:prstGeom>
          <a:solidFill>
            <a:srgbClr val="00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26</a:t>
            </a:r>
            <a:endParaRPr sz="1800">
              <a:solidFill>
                <a:srgbClr val="FFFFFF"/>
              </a:solidFill>
              <a:latin typeface="Calibri"/>
              <a:ea typeface="Calibri"/>
              <a:cs typeface="Calibri"/>
              <a:sym typeface="Calibri"/>
            </a:endParaRPr>
          </a:p>
        </p:txBody>
      </p:sp>
      <p:sp>
        <p:nvSpPr>
          <p:cNvPr id="1651" name="Google Shape;1651;p98"/>
          <p:cNvSpPr/>
          <p:nvPr/>
        </p:nvSpPr>
        <p:spPr>
          <a:xfrm>
            <a:off x="6238355" y="4264475"/>
            <a:ext cx="495300" cy="495300"/>
          </a:xfrm>
          <a:prstGeom prst="rect">
            <a:avLst/>
          </a:prstGeom>
          <a:solidFill>
            <a:srgbClr val="00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32</a:t>
            </a:r>
            <a:endParaRPr sz="1800">
              <a:solidFill>
                <a:srgbClr val="FFFFFF"/>
              </a:solidFill>
              <a:latin typeface="Calibri"/>
              <a:ea typeface="Calibri"/>
              <a:cs typeface="Calibri"/>
              <a:sym typeface="Calibri"/>
            </a:endParaRPr>
          </a:p>
        </p:txBody>
      </p:sp>
      <p:sp>
        <p:nvSpPr>
          <p:cNvPr id="1652" name="Google Shape;1652;p98"/>
          <p:cNvSpPr/>
          <p:nvPr/>
        </p:nvSpPr>
        <p:spPr>
          <a:xfrm>
            <a:off x="6727730" y="4264475"/>
            <a:ext cx="495300" cy="495300"/>
          </a:xfrm>
          <a:prstGeom prst="rect">
            <a:avLst/>
          </a:prstGeom>
          <a:solidFill>
            <a:srgbClr val="00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41</a:t>
            </a:r>
            <a:endParaRPr sz="1800">
              <a:solidFill>
                <a:srgbClr val="FFFFFF"/>
              </a:solidFill>
              <a:latin typeface="Calibri"/>
              <a:ea typeface="Calibri"/>
              <a:cs typeface="Calibri"/>
              <a:sym typeface="Calibri"/>
            </a:endParaRPr>
          </a:p>
        </p:txBody>
      </p:sp>
      <p:sp>
        <p:nvSpPr>
          <p:cNvPr id="1653" name="Google Shape;1653;p98"/>
          <p:cNvSpPr txBox="1"/>
          <p:nvPr/>
        </p:nvSpPr>
        <p:spPr>
          <a:xfrm>
            <a:off x="1300800" y="4244250"/>
            <a:ext cx="9483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Input:</a:t>
            </a:r>
            <a:endParaRPr sz="2000">
              <a:latin typeface="Calibri"/>
              <a:ea typeface="Calibri"/>
              <a:cs typeface="Calibri"/>
              <a:sym typeface="Calibri"/>
            </a:endParaRPr>
          </a:p>
        </p:txBody>
      </p:sp>
      <p:sp>
        <p:nvSpPr>
          <p:cNvPr id="1654" name="Google Shape;1654;p98"/>
          <p:cNvSpPr/>
          <p:nvPr/>
        </p:nvSpPr>
        <p:spPr>
          <a:xfrm rot="-5400000">
            <a:off x="3445914" y="3847148"/>
            <a:ext cx="260700" cy="4719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5" name="Google Shape;1655;p98"/>
          <p:cNvSpPr txBox="1"/>
          <p:nvPr/>
        </p:nvSpPr>
        <p:spPr>
          <a:xfrm>
            <a:off x="3271727" y="33653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sp>
        <p:nvSpPr>
          <p:cNvPr id="1656" name="Google Shape;1656;p98"/>
          <p:cNvSpPr/>
          <p:nvPr/>
        </p:nvSpPr>
        <p:spPr>
          <a:xfrm rot="-5400000">
            <a:off x="2940204" y="3847148"/>
            <a:ext cx="260700" cy="4719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7" name="Google Shape;1657;p98"/>
          <p:cNvSpPr txBox="1"/>
          <p:nvPr/>
        </p:nvSpPr>
        <p:spPr>
          <a:xfrm>
            <a:off x="2766018" y="33653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sp>
        <p:nvSpPr>
          <p:cNvPr id="1658" name="Google Shape;1658;p98"/>
          <p:cNvSpPr/>
          <p:nvPr/>
        </p:nvSpPr>
        <p:spPr>
          <a:xfrm rot="-5400000">
            <a:off x="3928350" y="3863500"/>
            <a:ext cx="260700" cy="4392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9" name="Google Shape;1659;p98"/>
          <p:cNvSpPr txBox="1"/>
          <p:nvPr/>
        </p:nvSpPr>
        <p:spPr>
          <a:xfrm>
            <a:off x="3770514" y="33653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sp>
        <p:nvSpPr>
          <p:cNvPr id="1660" name="Google Shape;1660;p98"/>
          <p:cNvSpPr/>
          <p:nvPr/>
        </p:nvSpPr>
        <p:spPr>
          <a:xfrm rot="-5400000">
            <a:off x="5383175" y="3863500"/>
            <a:ext cx="260700" cy="4392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 name="Google Shape;1661;p98"/>
          <p:cNvSpPr txBox="1"/>
          <p:nvPr/>
        </p:nvSpPr>
        <p:spPr>
          <a:xfrm>
            <a:off x="5225340" y="33653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sp>
        <p:nvSpPr>
          <p:cNvPr id="1662" name="Google Shape;1662;p98"/>
          <p:cNvSpPr/>
          <p:nvPr/>
        </p:nvSpPr>
        <p:spPr>
          <a:xfrm rot="-5400000">
            <a:off x="6338712" y="3863500"/>
            <a:ext cx="260700" cy="4392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 name="Google Shape;1663;p98"/>
          <p:cNvSpPr txBox="1"/>
          <p:nvPr/>
        </p:nvSpPr>
        <p:spPr>
          <a:xfrm>
            <a:off x="6180876" y="33653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sp>
        <p:nvSpPr>
          <p:cNvPr id="1664" name="Google Shape;1664;p98"/>
          <p:cNvSpPr/>
          <p:nvPr/>
        </p:nvSpPr>
        <p:spPr>
          <a:xfrm rot="-5400000">
            <a:off x="4399395" y="3863500"/>
            <a:ext cx="260700" cy="4392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5" name="Google Shape;1665;p98"/>
          <p:cNvSpPr txBox="1"/>
          <p:nvPr/>
        </p:nvSpPr>
        <p:spPr>
          <a:xfrm>
            <a:off x="4241560" y="33653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sp>
        <p:nvSpPr>
          <p:cNvPr id="1666" name="Google Shape;1666;p98"/>
          <p:cNvSpPr/>
          <p:nvPr/>
        </p:nvSpPr>
        <p:spPr>
          <a:xfrm rot="-5400000">
            <a:off x="4884337" y="3863500"/>
            <a:ext cx="260700" cy="4392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7" name="Google Shape;1667;p98"/>
          <p:cNvSpPr txBox="1"/>
          <p:nvPr/>
        </p:nvSpPr>
        <p:spPr>
          <a:xfrm>
            <a:off x="4726501" y="33653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sp>
        <p:nvSpPr>
          <p:cNvPr id="1668" name="Google Shape;1668;p98"/>
          <p:cNvSpPr/>
          <p:nvPr/>
        </p:nvSpPr>
        <p:spPr>
          <a:xfrm rot="-5400000">
            <a:off x="5868117" y="3863500"/>
            <a:ext cx="260700" cy="4392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9" name="Google Shape;1669;p98"/>
          <p:cNvSpPr txBox="1"/>
          <p:nvPr/>
        </p:nvSpPr>
        <p:spPr>
          <a:xfrm>
            <a:off x="5710281" y="33653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sp>
        <p:nvSpPr>
          <p:cNvPr id="1670" name="Google Shape;1670;p98"/>
          <p:cNvSpPr/>
          <p:nvPr/>
        </p:nvSpPr>
        <p:spPr>
          <a:xfrm rot="-5400000">
            <a:off x="6831928" y="3863500"/>
            <a:ext cx="260700" cy="439200"/>
          </a:xfrm>
          <a:prstGeom prst="rightBrace">
            <a:avLst>
              <a:gd fmla="val 8333"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1" name="Google Shape;1671;p98"/>
          <p:cNvSpPr txBox="1"/>
          <p:nvPr/>
        </p:nvSpPr>
        <p:spPr>
          <a:xfrm>
            <a:off x="6674092" y="33653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sp>
        <p:nvSpPr>
          <p:cNvPr id="1672" name="Google Shape;1672;p98"/>
          <p:cNvSpPr txBox="1"/>
          <p:nvPr/>
        </p:nvSpPr>
        <p:spPr>
          <a:xfrm>
            <a:off x="357275" y="2253650"/>
            <a:ext cx="1925400" cy="103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latin typeface="Roboto"/>
                <a:ea typeface="Roboto"/>
                <a:cs typeface="Roboto"/>
                <a:sym typeface="Roboto"/>
              </a:rPr>
              <a:t>If you don't fully trust the recursion, see </a:t>
            </a:r>
            <a:r>
              <a:rPr lang="en" u="sng">
                <a:solidFill>
                  <a:schemeClr val="hlink"/>
                </a:solidFill>
                <a:latin typeface="Roboto"/>
                <a:ea typeface="Roboto"/>
                <a:cs typeface="Roboto"/>
                <a:sym typeface="Roboto"/>
                <a:hlinkClick r:id="rId3"/>
              </a:rPr>
              <a:t>these extra slides</a:t>
            </a:r>
            <a:r>
              <a:rPr lang="en">
                <a:latin typeface="Roboto"/>
                <a:ea typeface="Roboto"/>
                <a:cs typeface="Roboto"/>
                <a:sym typeface="Roboto"/>
              </a:rPr>
              <a:t> for a complete demo. </a:t>
            </a:r>
            <a:endParaRPr>
              <a:latin typeface="Roboto"/>
              <a:ea typeface="Roboto"/>
              <a:cs typeface="Roboto"/>
              <a:sym typeface="Roboto"/>
            </a:endParaRPr>
          </a:p>
        </p:txBody>
      </p:sp>
      <p:sp>
        <p:nvSpPr>
          <p:cNvPr id="1673" name="Google Shape;1673;p98"/>
          <p:cNvSpPr txBox="1"/>
          <p:nvPr/>
        </p:nvSpPr>
        <p:spPr>
          <a:xfrm>
            <a:off x="6860539" y="2988115"/>
            <a:ext cx="454800" cy="384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x</a:t>
            </a:r>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7" name="Shape 1677"/>
        <p:cNvGrpSpPr/>
        <p:nvPr/>
      </p:nvGrpSpPr>
      <p:grpSpPr>
        <a:xfrm>
          <a:off x="0" y="0"/>
          <a:ext cx="0" cy="0"/>
          <a:chOff x="0" y="0"/>
          <a:chExt cx="0" cy="0"/>
        </a:xfrm>
      </p:grpSpPr>
      <p:sp>
        <p:nvSpPr>
          <p:cNvPr id="1678" name="Google Shape;1678;p9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Partition Sort, a.k.a. Quicksort</a:t>
            </a:r>
            <a:endParaRPr/>
          </a:p>
        </p:txBody>
      </p:sp>
      <p:sp>
        <p:nvSpPr>
          <p:cNvPr id="1679" name="Google Shape;1679;p99"/>
          <p:cNvSpPr/>
          <p:nvPr/>
        </p:nvSpPr>
        <p:spPr>
          <a:xfrm>
            <a:off x="2377588" y="2121625"/>
            <a:ext cx="4953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1680" name="Google Shape;1680;p99"/>
          <p:cNvSpPr/>
          <p:nvPr/>
        </p:nvSpPr>
        <p:spPr>
          <a:xfrm>
            <a:off x="2862777" y="2121625"/>
            <a:ext cx="4953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1681" name="Google Shape;1681;p99"/>
          <p:cNvSpPr/>
          <p:nvPr/>
        </p:nvSpPr>
        <p:spPr>
          <a:xfrm>
            <a:off x="3352117" y="2121625"/>
            <a:ext cx="4953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682" name="Google Shape;1682;p99"/>
          <p:cNvSpPr/>
          <p:nvPr/>
        </p:nvSpPr>
        <p:spPr>
          <a:xfrm>
            <a:off x="3837306" y="2121625"/>
            <a:ext cx="4953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683" name="Google Shape;1683;p99"/>
          <p:cNvSpPr/>
          <p:nvPr/>
        </p:nvSpPr>
        <p:spPr>
          <a:xfrm>
            <a:off x="4322048" y="2121625"/>
            <a:ext cx="4953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1684" name="Google Shape;1684;p99"/>
          <p:cNvSpPr/>
          <p:nvPr/>
        </p:nvSpPr>
        <p:spPr>
          <a:xfrm>
            <a:off x="4807238" y="2121625"/>
            <a:ext cx="4953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1685" name="Google Shape;1685;p99"/>
          <p:cNvSpPr/>
          <p:nvPr/>
        </p:nvSpPr>
        <p:spPr>
          <a:xfrm>
            <a:off x="5296578" y="2121625"/>
            <a:ext cx="4953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1686" name="Google Shape;1686;p99"/>
          <p:cNvSpPr/>
          <p:nvPr/>
        </p:nvSpPr>
        <p:spPr>
          <a:xfrm>
            <a:off x="5781767" y="2121625"/>
            <a:ext cx="4953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687" name="Google Shape;1687;p99"/>
          <p:cNvSpPr/>
          <p:nvPr/>
        </p:nvSpPr>
        <p:spPr>
          <a:xfrm>
            <a:off x="6271142" y="2121625"/>
            <a:ext cx="4953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688" name="Google Shape;1688;p99"/>
          <p:cNvSpPr txBox="1"/>
          <p:nvPr/>
        </p:nvSpPr>
        <p:spPr>
          <a:xfrm>
            <a:off x="862300" y="3114125"/>
            <a:ext cx="1781400" cy="361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partition(32)</a:t>
            </a:r>
            <a:endParaRPr/>
          </a:p>
        </p:txBody>
      </p:sp>
      <p:sp>
        <p:nvSpPr>
          <p:cNvPr id="1689" name="Google Shape;1689;p99"/>
          <p:cNvSpPr/>
          <p:nvPr/>
        </p:nvSpPr>
        <p:spPr>
          <a:xfrm>
            <a:off x="2377588" y="4026625"/>
            <a:ext cx="495300" cy="495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15</a:t>
            </a:r>
            <a:endParaRPr sz="1800">
              <a:latin typeface="Calibri"/>
              <a:ea typeface="Calibri"/>
              <a:cs typeface="Calibri"/>
              <a:sym typeface="Calibri"/>
            </a:endParaRPr>
          </a:p>
        </p:txBody>
      </p:sp>
      <p:sp>
        <p:nvSpPr>
          <p:cNvPr id="1690" name="Google Shape;1690;p99"/>
          <p:cNvSpPr/>
          <p:nvPr/>
        </p:nvSpPr>
        <p:spPr>
          <a:xfrm>
            <a:off x="2862777" y="4026625"/>
            <a:ext cx="495300" cy="495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1691" name="Google Shape;1691;p99"/>
          <p:cNvSpPr/>
          <p:nvPr/>
        </p:nvSpPr>
        <p:spPr>
          <a:xfrm>
            <a:off x="3352117" y="4026625"/>
            <a:ext cx="495300" cy="495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692" name="Google Shape;1692;p99"/>
          <p:cNvSpPr/>
          <p:nvPr/>
        </p:nvSpPr>
        <p:spPr>
          <a:xfrm>
            <a:off x="3837306" y="4026625"/>
            <a:ext cx="495300" cy="495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19</a:t>
            </a:r>
            <a:endParaRPr sz="1800">
              <a:latin typeface="Calibri"/>
              <a:ea typeface="Calibri"/>
              <a:cs typeface="Calibri"/>
              <a:sym typeface="Calibri"/>
            </a:endParaRPr>
          </a:p>
        </p:txBody>
      </p:sp>
      <p:sp>
        <p:nvSpPr>
          <p:cNvPr id="1693" name="Google Shape;1693;p99"/>
          <p:cNvSpPr/>
          <p:nvPr/>
        </p:nvSpPr>
        <p:spPr>
          <a:xfrm>
            <a:off x="4322048" y="4026625"/>
            <a:ext cx="495300" cy="495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26</a:t>
            </a:r>
            <a:endParaRPr sz="1800">
              <a:latin typeface="Calibri"/>
              <a:ea typeface="Calibri"/>
              <a:cs typeface="Calibri"/>
              <a:sym typeface="Calibri"/>
            </a:endParaRPr>
          </a:p>
        </p:txBody>
      </p:sp>
      <p:sp>
        <p:nvSpPr>
          <p:cNvPr id="1694" name="Google Shape;1694;p99"/>
          <p:cNvSpPr/>
          <p:nvPr/>
        </p:nvSpPr>
        <p:spPr>
          <a:xfrm>
            <a:off x="4807238" y="4026625"/>
            <a:ext cx="495300" cy="495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695" name="Google Shape;1695;p99"/>
          <p:cNvSpPr/>
          <p:nvPr/>
        </p:nvSpPr>
        <p:spPr>
          <a:xfrm>
            <a:off x="5296578" y="4026625"/>
            <a:ext cx="495300" cy="495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17</a:t>
            </a:r>
            <a:endParaRPr sz="1800">
              <a:latin typeface="Calibri"/>
              <a:ea typeface="Calibri"/>
              <a:cs typeface="Calibri"/>
              <a:sym typeface="Calibri"/>
            </a:endParaRPr>
          </a:p>
        </p:txBody>
      </p:sp>
      <p:sp>
        <p:nvSpPr>
          <p:cNvPr id="1696" name="Google Shape;1696;p99"/>
          <p:cNvSpPr/>
          <p:nvPr/>
        </p:nvSpPr>
        <p:spPr>
          <a:xfrm>
            <a:off x="5781767" y="4026625"/>
            <a:ext cx="495300" cy="495300"/>
          </a:xfrm>
          <a:prstGeom prst="rect">
            <a:avLst/>
          </a:prstGeom>
          <a:solidFill>
            <a:srgbClr val="FFFFFF"/>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32</a:t>
            </a:r>
            <a:endParaRPr sz="1800">
              <a:latin typeface="Calibri"/>
              <a:ea typeface="Calibri"/>
              <a:cs typeface="Calibri"/>
              <a:sym typeface="Calibri"/>
            </a:endParaRPr>
          </a:p>
        </p:txBody>
      </p:sp>
      <p:sp>
        <p:nvSpPr>
          <p:cNvPr id="1697" name="Google Shape;1697;p99"/>
          <p:cNvSpPr/>
          <p:nvPr/>
        </p:nvSpPr>
        <p:spPr>
          <a:xfrm>
            <a:off x="6271142" y="4026625"/>
            <a:ext cx="495300" cy="495300"/>
          </a:xfrm>
          <a:prstGeom prst="rect">
            <a:avLst/>
          </a:prstGeom>
          <a:solidFill>
            <a:srgbClr val="A4C2F4"/>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41</a:t>
            </a:r>
            <a:endParaRPr sz="1800">
              <a:latin typeface="Calibri"/>
              <a:ea typeface="Calibri"/>
              <a:cs typeface="Calibri"/>
              <a:sym typeface="Calibri"/>
            </a:endParaRPr>
          </a:p>
        </p:txBody>
      </p:sp>
      <p:sp>
        <p:nvSpPr>
          <p:cNvPr id="1698" name="Google Shape;1698;p99"/>
          <p:cNvSpPr/>
          <p:nvPr/>
        </p:nvSpPr>
        <p:spPr>
          <a:xfrm rot="-5400000">
            <a:off x="3938777" y="2157525"/>
            <a:ext cx="260700" cy="33801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9" name="Google Shape;1699;p99"/>
          <p:cNvSpPr/>
          <p:nvPr/>
        </p:nvSpPr>
        <p:spPr>
          <a:xfrm rot="-5400000">
            <a:off x="6376127" y="3611625"/>
            <a:ext cx="260700" cy="4719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0" name="Google Shape;1700;p99"/>
          <p:cNvSpPr txBox="1"/>
          <p:nvPr/>
        </p:nvSpPr>
        <p:spPr>
          <a:xfrm>
            <a:off x="4160175" y="3475925"/>
            <a:ext cx="830700" cy="339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&lt;= 32</a:t>
            </a:r>
            <a:endParaRPr/>
          </a:p>
        </p:txBody>
      </p:sp>
      <p:sp>
        <p:nvSpPr>
          <p:cNvPr id="1701" name="Google Shape;1701;p99"/>
          <p:cNvSpPr txBox="1"/>
          <p:nvPr/>
        </p:nvSpPr>
        <p:spPr>
          <a:xfrm>
            <a:off x="6555525" y="3510650"/>
            <a:ext cx="830700" cy="339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&gt;= 32</a:t>
            </a:r>
            <a:endParaRPr/>
          </a:p>
        </p:txBody>
      </p:sp>
      <p:sp>
        <p:nvSpPr>
          <p:cNvPr id="1702" name="Google Shape;1702;p99"/>
          <p:cNvSpPr/>
          <p:nvPr/>
        </p:nvSpPr>
        <p:spPr>
          <a:xfrm rot="-5400000">
            <a:off x="5881512" y="3634900"/>
            <a:ext cx="260700" cy="439200"/>
          </a:xfrm>
          <a:prstGeom prst="rightBrace">
            <a:avLst>
              <a:gd fmla="val 8333" name="adj1"/>
              <a:gd fmla="val 50000" name="adj2"/>
            </a:avLst>
          </a:prstGeom>
          <a:no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99"/>
          <p:cNvSpPr txBox="1"/>
          <p:nvPr/>
        </p:nvSpPr>
        <p:spPr>
          <a:xfrm>
            <a:off x="5723676" y="3136715"/>
            <a:ext cx="830700" cy="57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in its place</a:t>
            </a:r>
            <a:endParaRPr/>
          </a:p>
        </p:txBody>
      </p:sp>
      <p:cxnSp>
        <p:nvCxnSpPr>
          <p:cNvPr id="1704" name="Google Shape;1704;p99"/>
          <p:cNvCxnSpPr>
            <a:stCxn id="1679" idx="1"/>
            <a:endCxn id="1689" idx="1"/>
          </p:cNvCxnSpPr>
          <p:nvPr/>
        </p:nvCxnSpPr>
        <p:spPr>
          <a:xfrm>
            <a:off x="2377588" y="2369275"/>
            <a:ext cx="600" cy="1905000"/>
          </a:xfrm>
          <a:prstGeom prst="bentConnector3">
            <a:avLst>
              <a:gd fmla="val -39687500" name="adj1"/>
            </a:avLst>
          </a:prstGeom>
          <a:noFill/>
          <a:ln cap="flat" cmpd="sng" w="19050">
            <a:solidFill>
              <a:schemeClr val="dk2"/>
            </a:solidFill>
            <a:prstDash val="solid"/>
            <a:round/>
            <a:headEnd len="med" w="med" type="none"/>
            <a:tailEnd len="med" w="med" type="triangle"/>
          </a:ln>
        </p:spPr>
      </p:cxnSp>
      <p:sp>
        <p:nvSpPr>
          <p:cNvPr id="1705" name="Google Shape;1705;p99"/>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Quick sorting N items: </a:t>
            </a:r>
            <a:endParaRPr/>
          </a:p>
          <a:p>
            <a:pPr indent="-342900" lvl="0" marL="457200" rtl="0" algn="l">
              <a:spcBef>
                <a:spcPts val="600"/>
              </a:spcBef>
              <a:spcAft>
                <a:spcPts val="0"/>
              </a:spcAft>
              <a:buSzPts val="1800"/>
              <a:buChar char="●"/>
            </a:pPr>
            <a:r>
              <a:rPr lang="en"/>
              <a:t>Partition on leftmost item. </a:t>
            </a:r>
            <a:endParaRPr/>
          </a:p>
          <a:p>
            <a:pPr indent="-342900" lvl="0" marL="457200" rtl="0" algn="l">
              <a:spcBef>
                <a:spcPts val="600"/>
              </a:spcBef>
              <a:spcAft>
                <a:spcPts val="0"/>
              </a:spcAft>
              <a:buSzPts val="1800"/>
              <a:buChar char="●"/>
            </a:pPr>
            <a:r>
              <a:rPr lang="en"/>
              <a:t>Quicksort left half.</a:t>
            </a:r>
            <a:endParaRPr/>
          </a:p>
          <a:p>
            <a:pPr indent="-342900" lvl="0" marL="457200" rtl="0" algn="l">
              <a:spcBef>
                <a:spcPts val="600"/>
              </a:spcBef>
              <a:spcAft>
                <a:spcPts val="0"/>
              </a:spcAft>
              <a:buSzPts val="1800"/>
              <a:buChar char="●"/>
            </a:pPr>
            <a:r>
              <a:rPr lang="en"/>
              <a:t>Quicksort right half.</a:t>
            </a:r>
            <a:endParaRPr/>
          </a:p>
          <a:p>
            <a:pPr indent="0" lvl="0" marL="0" rtl="0" algn="l">
              <a:spcBef>
                <a:spcPts val="600"/>
              </a:spcBef>
              <a:spcAft>
                <a:spcPts val="0"/>
              </a:spcAft>
              <a:buNone/>
            </a:pPr>
            <a:r>
              <a:t/>
            </a:r>
            <a:endParaRPr sz="1600"/>
          </a:p>
          <a:p>
            <a:pPr indent="0" lvl="0" marL="0" rtl="0" algn="l">
              <a:spcBef>
                <a:spcPts val="600"/>
              </a:spcBef>
              <a:spcAft>
                <a:spcPts val="0"/>
              </a:spcAft>
              <a:buNone/>
            </a:pPr>
            <a:r>
              <a:t/>
            </a:r>
            <a:endParaRPr sz="1600"/>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9" name="Shape 1709"/>
        <p:cNvGrpSpPr/>
        <p:nvPr/>
      </p:nvGrpSpPr>
      <p:grpSpPr>
        <a:xfrm>
          <a:off x="0" y="0"/>
          <a:ext cx="0" cy="0"/>
          <a:chOff x="0" y="0"/>
          <a:chExt cx="0" cy="0"/>
        </a:xfrm>
      </p:grpSpPr>
      <p:sp>
        <p:nvSpPr>
          <p:cNvPr id="1710" name="Google Shape;1710;p100"/>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Quicksort</a:t>
            </a:r>
            <a:endParaRPr/>
          </a:p>
        </p:txBody>
      </p:sp>
      <p:sp>
        <p:nvSpPr>
          <p:cNvPr id="1711" name="Google Shape;1711;p100"/>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Quicksort was the name chosen by Tony Hoare for partition sort.</a:t>
            </a:r>
            <a:endParaRPr/>
          </a:p>
          <a:p>
            <a:pPr indent="-342900" lvl="0" marL="457200" rtl="0" algn="l">
              <a:spcBef>
                <a:spcPts val="600"/>
              </a:spcBef>
              <a:spcAft>
                <a:spcPts val="0"/>
              </a:spcAft>
              <a:buSzPts val="1800"/>
              <a:buChar char="●"/>
            </a:pPr>
            <a:r>
              <a:rPr lang="en"/>
              <a:t>For most common situations, it is empirically the fastest sort.</a:t>
            </a:r>
            <a:endParaRPr/>
          </a:p>
          <a:p>
            <a:pPr indent="-342900" lvl="1" marL="914400" rtl="0" algn="l">
              <a:spcBef>
                <a:spcPts val="0"/>
              </a:spcBef>
              <a:spcAft>
                <a:spcPts val="0"/>
              </a:spcAft>
              <a:buSzPts val="1800"/>
              <a:buChar char="○"/>
            </a:pPr>
            <a:r>
              <a:rPr lang="en"/>
              <a:t>Tony was lucky that the name was correct.</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How fast is Quicksort?</a:t>
            </a:r>
            <a:r>
              <a:rPr lang="en"/>
              <a:t> Need to count number and difficulty of partition operations.</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Theoretical analysis:</a:t>
            </a:r>
            <a:endParaRPr/>
          </a:p>
          <a:p>
            <a:pPr indent="-342900" lvl="0" marL="457200" rtl="0" algn="l">
              <a:spcBef>
                <a:spcPts val="600"/>
              </a:spcBef>
              <a:spcAft>
                <a:spcPts val="0"/>
              </a:spcAft>
              <a:buSzPts val="1800"/>
              <a:buChar char="●"/>
            </a:pPr>
            <a:r>
              <a:rPr lang="en"/>
              <a:t>Partitioning costs Θ(K) time, where Θ(K) is the number of elements being partitioned (as we saw in our earlier “interview question”).</a:t>
            </a:r>
            <a:endParaRPr/>
          </a:p>
          <a:p>
            <a:pPr indent="-342900" lvl="0" marL="457200" rtl="0" algn="l">
              <a:spcBef>
                <a:spcPts val="0"/>
              </a:spcBef>
              <a:spcAft>
                <a:spcPts val="0"/>
              </a:spcAft>
              <a:buSzPts val="1800"/>
              <a:buChar char="●"/>
            </a:pPr>
            <a:r>
              <a:rPr lang="en"/>
              <a:t>The interesting twist: Overall runtime will depend crucially on where pivot ends up.</a:t>
            </a:r>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5" name="Shape 1715"/>
        <p:cNvGrpSpPr/>
        <p:nvPr/>
      </p:nvGrpSpPr>
      <p:grpSpPr>
        <a:xfrm>
          <a:off x="0" y="0"/>
          <a:ext cx="0" cy="0"/>
          <a:chOff x="0" y="0"/>
          <a:chExt cx="0" cy="0"/>
        </a:xfrm>
      </p:grpSpPr>
      <p:sp>
        <p:nvSpPr>
          <p:cNvPr id="1716" name="Google Shape;1716;p101"/>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30, CS61B, Fall 2023</a:t>
            </a:r>
            <a:endParaRPr/>
          </a:p>
        </p:txBody>
      </p:sp>
      <p:sp>
        <p:nvSpPr>
          <p:cNvPr id="1717" name="Google Shape;1717;p101"/>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Clr>
                <a:schemeClr val="dk1"/>
              </a:buClr>
              <a:buSzPts val="1100"/>
              <a:buFont typeface="Arial"/>
              <a:buNone/>
            </a:pPr>
            <a:r>
              <a:rPr lang="en"/>
              <a:t>Insertion Sort</a:t>
            </a:r>
            <a:endParaRPr/>
          </a:p>
          <a:p>
            <a:pPr indent="-342900" lvl="0" marL="457200" rtl="0" algn="l">
              <a:spcBef>
                <a:spcPts val="600"/>
              </a:spcBef>
              <a:spcAft>
                <a:spcPts val="0"/>
              </a:spcAft>
              <a:buSzPts val="1800"/>
              <a:buChar char="•"/>
            </a:pPr>
            <a:r>
              <a:rPr lang="en"/>
              <a:t>Naive Insertion Sort</a:t>
            </a:r>
            <a:endParaRPr/>
          </a:p>
          <a:p>
            <a:pPr indent="-342900" lvl="0" marL="457200" rtl="0" algn="l">
              <a:spcBef>
                <a:spcPts val="0"/>
              </a:spcBef>
              <a:spcAft>
                <a:spcPts val="0"/>
              </a:spcAft>
              <a:buSzPts val="1800"/>
              <a:buChar char="•"/>
            </a:pPr>
            <a:r>
              <a:rPr lang="en"/>
              <a:t>In-Place Insertion Sort</a:t>
            </a:r>
            <a:endParaRPr/>
          </a:p>
          <a:p>
            <a:pPr indent="-342900" lvl="0" marL="457200" rtl="0" algn="l">
              <a:spcBef>
                <a:spcPts val="0"/>
              </a:spcBef>
              <a:spcAft>
                <a:spcPts val="0"/>
              </a:spcAft>
              <a:buSzPts val="1800"/>
              <a:buChar char="•"/>
            </a:pPr>
            <a:r>
              <a:rPr lang="en"/>
              <a:t>Insertion Sort Runtime</a:t>
            </a:r>
            <a:endParaRPr/>
          </a:p>
          <a:p>
            <a:pPr indent="0" lvl="0" marL="0" rtl="0" algn="l">
              <a:spcBef>
                <a:spcPts val="600"/>
              </a:spcBef>
              <a:spcAft>
                <a:spcPts val="0"/>
              </a:spcAft>
              <a:buNone/>
            </a:pPr>
            <a:r>
              <a:rPr lang="en"/>
              <a:t>Quicksort</a:t>
            </a:r>
            <a:endParaRPr b="1">
              <a:solidFill>
                <a:schemeClr val="accent3"/>
              </a:solidFill>
              <a:latin typeface="Roboto"/>
              <a:ea typeface="Roboto"/>
              <a:cs typeface="Roboto"/>
              <a:sym typeface="Roboto"/>
            </a:endParaRPr>
          </a:p>
          <a:p>
            <a:pPr indent="-342900" lvl="0" marL="457200" rtl="0" algn="l">
              <a:spcBef>
                <a:spcPts val="600"/>
              </a:spcBef>
              <a:spcAft>
                <a:spcPts val="0"/>
              </a:spcAft>
              <a:buSzPts val="1800"/>
              <a:buChar char="•"/>
            </a:pPr>
            <a:r>
              <a:rPr lang="en"/>
              <a:t>Quicksort Backstory,</a:t>
            </a:r>
            <a:br>
              <a:rPr lang="en"/>
            </a:br>
            <a:r>
              <a:rPr lang="en"/>
              <a:t>Partitioning</a:t>
            </a:r>
            <a:endParaRPr/>
          </a:p>
          <a:p>
            <a:pPr indent="-342900" lvl="0" marL="457200" rtl="0" algn="l">
              <a:spcBef>
                <a:spcPts val="0"/>
              </a:spcBef>
              <a:spcAft>
                <a:spcPts val="0"/>
              </a:spcAft>
              <a:buSzPts val="1800"/>
              <a:buChar char="•"/>
            </a:pPr>
            <a:r>
              <a:rPr lang="en"/>
              <a:t>Quicksort</a:t>
            </a:r>
            <a:endParaRPr b="1">
              <a:solidFill>
                <a:schemeClr val="accent3"/>
              </a:solidFill>
              <a:latin typeface="Roboto"/>
              <a:ea typeface="Roboto"/>
              <a:cs typeface="Roboto"/>
              <a:sym typeface="Roboto"/>
            </a:endParaRPr>
          </a:p>
          <a:p>
            <a:pPr indent="0" lvl="0" marL="0" rtl="0" algn="l">
              <a:spcBef>
                <a:spcPts val="600"/>
              </a:spcBef>
              <a:spcAft>
                <a:spcPts val="0"/>
              </a:spcAft>
              <a:buNone/>
            </a:pPr>
            <a:r>
              <a:rPr b="1" lang="en">
                <a:solidFill>
                  <a:schemeClr val="accent3"/>
                </a:solidFill>
                <a:latin typeface="Roboto"/>
                <a:ea typeface="Roboto"/>
                <a:cs typeface="Roboto"/>
                <a:sym typeface="Roboto"/>
              </a:rPr>
              <a:t>Quicksort Runtime Analysis</a:t>
            </a:r>
            <a:endParaRPr b="1">
              <a:solidFill>
                <a:schemeClr val="accent3"/>
              </a:solidFill>
              <a:latin typeface="Roboto"/>
              <a:ea typeface="Roboto"/>
              <a:cs typeface="Roboto"/>
              <a:sym typeface="Roboto"/>
            </a:endParaRPr>
          </a:p>
          <a:p>
            <a:pPr indent="-342900" lvl="0" marL="457200" rtl="0" algn="l">
              <a:spcBef>
                <a:spcPts val="600"/>
              </a:spcBef>
              <a:spcAft>
                <a:spcPts val="0"/>
              </a:spcAft>
              <a:buClr>
                <a:schemeClr val="accent3"/>
              </a:buClr>
              <a:buSzPts val="1800"/>
              <a:buFont typeface="Roboto"/>
              <a:buChar char="•"/>
            </a:pPr>
            <a:r>
              <a:rPr b="1" lang="en">
                <a:solidFill>
                  <a:schemeClr val="accent3"/>
                </a:solidFill>
                <a:latin typeface="Roboto"/>
                <a:ea typeface="Roboto"/>
                <a:cs typeface="Roboto"/>
                <a:sym typeface="Roboto"/>
              </a:rPr>
              <a:t>Quicksort Runtime Analysis</a:t>
            </a:r>
            <a:endParaRPr b="1">
              <a:solidFill>
                <a:schemeClr val="accent3"/>
              </a:solidFill>
              <a:latin typeface="Roboto"/>
              <a:ea typeface="Roboto"/>
              <a:cs typeface="Roboto"/>
              <a:sym typeface="Roboto"/>
            </a:endParaRPr>
          </a:p>
          <a:p>
            <a:pPr indent="-342900" lvl="0" marL="457200" rtl="0" algn="l">
              <a:spcBef>
                <a:spcPts val="0"/>
              </a:spcBef>
              <a:spcAft>
                <a:spcPts val="0"/>
              </a:spcAft>
              <a:buSzPts val="1800"/>
              <a:buChar char="•"/>
            </a:pPr>
            <a:r>
              <a:rPr lang="en"/>
              <a:t>Avoiding Quicksort Worst Case</a:t>
            </a:r>
            <a:endParaRPr/>
          </a:p>
        </p:txBody>
      </p:sp>
      <p:sp>
        <p:nvSpPr>
          <p:cNvPr id="1718" name="Google Shape;1718;p101"/>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Quicksort Runtime Analysis</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2" name="Shape 1722"/>
        <p:cNvGrpSpPr/>
        <p:nvPr/>
      </p:nvGrpSpPr>
      <p:grpSpPr>
        <a:xfrm>
          <a:off x="0" y="0"/>
          <a:ext cx="0" cy="0"/>
          <a:chOff x="0" y="0"/>
          <a:chExt cx="0" cy="0"/>
        </a:xfrm>
      </p:grpSpPr>
      <p:sp>
        <p:nvSpPr>
          <p:cNvPr id="1723" name="Google Shape;1723;p10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Best Case: Pivot Always Lands in the Middle </a:t>
            </a:r>
            <a:endParaRPr/>
          </a:p>
        </p:txBody>
      </p:sp>
      <p:sp>
        <p:nvSpPr>
          <p:cNvPr id="1724" name="Google Shape;1724;p102"/>
          <p:cNvSpPr/>
          <p:nvPr/>
        </p:nvSpPr>
        <p:spPr>
          <a:xfrm>
            <a:off x="1779763" y="7857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25" name="Google Shape;1725;p102"/>
          <p:cNvSpPr/>
          <p:nvPr/>
        </p:nvSpPr>
        <p:spPr>
          <a:xfrm>
            <a:off x="2151476"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26" name="Google Shape;1726;p102"/>
          <p:cNvSpPr/>
          <p:nvPr/>
        </p:nvSpPr>
        <p:spPr>
          <a:xfrm>
            <a:off x="2894904"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27" name="Google Shape;1727;p102"/>
          <p:cNvSpPr/>
          <p:nvPr/>
        </p:nvSpPr>
        <p:spPr>
          <a:xfrm>
            <a:off x="3638332"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28" name="Google Shape;1728;p102"/>
          <p:cNvSpPr/>
          <p:nvPr/>
        </p:nvSpPr>
        <p:spPr>
          <a:xfrm>
            <a:off x="4010045"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29" name="Google Shape;1729;p102"/>
          <p:cNvSpPr/>
          <p:nvPr/>
        </p:nvSpPr>
        <p:spPr>
          <a:xfrm>
            <a:off x="3266618"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30" name="Google Shape;1730;p102"/>
          <p:cNvSpPr/>
          <p:nvPr/>
        </p:nvSpPr>
        <p:spPr>
          <a:xfrm>
            <a:off x="2523190"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31" name="Google Shape;1731;p102"/>
          <p:cNvSpPr/>
          <p:nvPr/>
        </p:nvSpPr>
        <p:spPr>
          <a:xfrm>
            <a:off x="4381763"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32" name="Google Shape;1732;p102"/>
          <p:cNvSpPr/>
          <p:nvPr/>
        </p:nvSpPr>
        <p:spPr>
          <a:xfrm>
            <a:off x="4753476"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33" name="Google Shape;1733;p102"/>
          <p:cNvSpPr/>
          <p:nvPr/>
        </p:nvSpPr>
        <p:spPr>
          <a:xfrm>
            <a:off x="5496904"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34" name="Google Shape;1734;p102"/>
          <p:cNvSpPr/>
          <p:nvPr/>
        </p:nvSpPr>
        <p:spPr>
          <a:xfrm>
            <a:off x="6240332"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35" name="Google Shape;1735;p102"/>
          <p:cNvSpPr/>
          <p:nvPr/>
        </p:nvSpPr>
        <p:spPr>
          <a:xfrm>
            <a:off x="6612045"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36" name="Google Shape;1736;p102"/>
          <p:cNvSpPr/>
          <p:nvPr/>
        </p:nvSpPr>
        <p:spPr>
          <a:xfrm>
            <a:off x="6983759"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37" name="Google Shape;1737;p102"/>
          <p:cNvSpPr/>
          <p:nvPr/>
        </p:nvSpPr>
        <p:spPr>
          <a:xfrm>
            <a:off x="5868618"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38" name="Google Shape;1738;p102"/>
          <p:cNvSpPr/>
          <p:nvPr/>
        </p:nvSpPr>
        <p:spPr>
          <a:xfrm>
            <a:off x="5125190"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nvGrpSpPr>
          <p:cNvPr id="1739" name="Google Shape;1739;p102"/>
          <p:cNvGrpSpPr/>
          <p:nvPr/>
        </p:nvGrpSpPr>
        <p:grpSpPr>
          <a:xfrm>
            <a:off x="1779763" y="1131325"/>
            <a:ext cx="5585872" cy="609600"/>
            <a:chOff x="1675900" y="1131325"/>
            <a:chExt cx="5585872" cy="609600"/>
          </a:xfrm>
        </p:grpSpPr>
        <p:sp>
          <p:nvSpPr>
            <p:cNvPr id="1740" name="Google Shape;1740;p102"/>
            <p:cNvSpPr/>
            <p:nvPr/>
          </p:nvSpPr>
          <p:spPr>
            <a:xfrm>
              <a:off x="1675900" y="13953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41" name="Google Shape;1741;p102"/>
            <p:cNvSpPr/>
            <p:nvPr/>
          </p:nvSpPr>
          <p:spPr>
            <a:xfrm>
              <a:off x="2047614"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42" name="Google Shape;1742;p102"/>
            <p:cNvSpPr/>
            <p:nvPr/>
          </p:nvSpPr>
          <p:spPr>
            <a:xfrm>
              <a:off x="2791041"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43" name="Google Shape;1743;p102"/>
            <p:cNvSpPr/>
            <p:nvPr/>
          </p:nvSpPr>
          <p:spPr>
            <a:xfrm>
              <a:off x="3534469"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44" name="Google Shape;1744;p102"/>
            <p:cNvSpPr/>
            <p:nvPr/>
          </p:nvSpPr>
          <p:spPr>
            <a:xfrm>
              <a:off x="3906183"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45" name="Google Shape;1745;p102"/>
            <p:cNvSpPr/>
            <p:nvPr/>
          </p:nvSpPr>
          <p:spPr>
            <a:xfrm>
              <a:off x="3162755"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46" name="Google Shape;1746;p102"/>
            <p:cNvSpPr/>
            <p:nvPr/>
          </p:nvSpPr>
          <p:spPr>
            <a:xfrm>
              <a:off x="2419328"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47" name="Google Shape;1747;p102"/>
            <p:cNvSpPr/>
            <p:nvPr/>
          </p:nvSpPr>
          <p:spPr>
            <a:xfrm>
              <a:off x="4282975" y="13953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48" name="Google Shape;1748;p102"/>
            <p:cNvSpPr/>
            <p:nvPr/>
          </p:nvSpPr>
          <p:spPr>
            <a:xfrm>
              <a:off x="4654689" y="13953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49" name="Google Shape;1749;p102"/>
            <p:cNvSpPr/>
            <p:nvPr/>
          </p:nvSpPr>
          <p:spPr>
            <a:xfrm>
              <a:off x="5398116"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50" name="Google Shape;1750;p102"/>
            <p:cNvSpPr/>
            <p:nvPr/>
          </p:nvSpPr>
          <p:spPr>
            <a:xfrm>
              <a:off x="6141544"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51" name="Google Shape;1751;p102"/>
            <p:cNvSpPr/>
            <p:nvPr/>
          </p:nvSpPr>
          <p:spPr>
            <a:xfrm>
              <a:off x="6513258"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52" name="Google Shape;1752;p102"/>
            <p:cNvSpPr/>
            <p:nvPr/>
          </p:nvSpPr>
          <p:spPr>
            <a:xfrm>
              <a:off x="6884972"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53" name="Google Shape;1753;p102"/>
            <p:cNvSpPr/>
            <p:nvPr/>
          </p:nvSpPr>
          <p:spPr>
            <a:xfrm>
              <a:off x="5769830"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54" name="Google Shape;1754;p102"/>
            <p:cNvSpPr/>
            <p:nvPr/>
          </p:nvSpPr>
          <p:spPr>
            <a:xfrm>
              <a:off x="5026403"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cxnSp>
          <p:nvCxnSpPr>
            <p:cNvPr id="1755" name="Google Shape;1755;p102"/>
            <p:cNvCxnSpPr>
              <a:stCxn id="1724" idx="2"/>
              <a:endCxn id="1747" idx="0"/>
            </p:cNvCxnSpPr>
            <p:nvPr/>
          </p:nvCxnSpPr>
          <p:spPr>
            <a:xfrm flipH="1" rot="-5400000">
              <a:off x="3035800" y="-40175"/>
              <a:ext cx="264000" cy="2607000"/>
            </a:xfrm>
            <a:prstGeom prst="curvedConnector3">
              <a:avLst>
                <a:gd fmla="val 50000" name="adj1"/>
              </a:avLst>
            </a:prstGeom>
            <a:noFill/>
            <a:ln cap="flat" cmpd="sng" w="19050">
              <a:solidFill>
                <a:schemeClr val="dk2"/>
              </a:solidFill>
              <a:prstDash val="solid"/>
              <a:round/>
              <a:headEnd len="med" w="med" type="none"/>
              <a:tailEnd len="med" w="med" type="triangle"/>
            </a:ln>
          </p:spPr>
        </p:cxnSp>
      </p:grpSp>
      <p:grpSp>
        <p:nvGrpSpPr>
          <p:cNvPr id="1756" name="Google Shape;1756;p102"/>
          <p:cNvGrpSpPr/>
          <p:nvPr/>
        </p:nvGrpSpPr>
        <p:grpSpPr>
          <a:xfrm>
            <a:off x="1779763" y="1740925"/>
            <a:ext cx="5580797" cy="609600"/>
            <a:chOff x="1675900" y="1740925"/>
            <a:chExt cx="5580797" cy="609600"/>
          </a:xfrm>
        </p:grpSpPr>
        <p:sp>
          <p:nvSpPr>
            <p:cNvPr id="1757" name="Google Shape;1757;p102"/>
            <p:cNvSpPr/>
            <p:nvPr/>
          </p:nvSpPr>
          <p:spPr>
            <a:xfrm>
              <a:off x="1675900" y="20049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58" name="Google Shape;1758;p102"/>
            <p:cNvSpPr/>
            <p:nvPr/>
          </p:nvSpPr>
          <p:spPr>
            <a:xfrm>
              <a:off x="2047614"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59" name="Google Shape;1759;p102"/>
            <p:cNvSpPr/>
            <p:nvPr/>
          </p:nvSpPr>
          <p:spPr>
            <a:xfrm>
              <a:off x="3162769" y="20049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60" name="Google Shape;1760;p102"/>
            <p:cNvSpPr/>
            <p:nvPr/>
          </p:nvSpPr>
          <p:spPr>
            <a:xfrm>
              <a:off x="3534483"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61" name="Google Shape;1761;p102"/>
            <p:cNvSpPr/>
            <p:nvPr/>
          </p:nvSpPr>
          <p:spPr>
            <a:xfrm>
              <a:off x="3906197"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62" name="Google Shape;1762;p102"/>
            <p:cNvSpPr/>
            <p:nvPr/>
          </p:nvSpPr>
          <p:spPr>
            <a:xfrm>
              <a:off x="2791055" y="20049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63" name="Google Shape;1763;p102"/>
            <p:cNvSpPr/>
            <p:nvPr/>
          </p:nvSpPr>
          <p:spPr>
            <a:xfrm>
              <a:off x="2419328"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64" name="Google Shape;1764;p102"/>
            <p:cNvSpPr/>
            <p:nvPr/>
          </p:nvSpPr>
          <p:spPr>
            <a:xfrm>
              <a:off x="4277900" y="20049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65" name="Google Shape;1765;p102"/>
            <p:cNvSpPr/>
            <p:nvPr/>
          </p:nvSpPr>
          <p:spPr>
            <a:xfrm>
              <a:off x="4649614" y="20049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66" name="Google Shape;1766;p102"/>
            <p:cNvSpPr/>
            <p:nvPr/>
          </p:nvSpPr>
          <p:spPr>
            <a:xfrm>
              <a:off x="5393041"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67" name="Google Shape;1767;p102"/>
            <p:cNvSpPr/>
            <p:nvPr/>
          </p:nvSpPr>
          <p:spPr>
            <a:xfrm>
              <a:off x="6136469" y="20049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68" name="Google Shape;1768;p102"/>
            <p:cNvSpPr/>
            <p:nvPr/>
          </p:nvSpPr>
          <p:spPr>
            <a:xfrm>
              <a:off x="6508183"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69" name="Google Shape;1769;p102"/>
            <p:cNvSpPr/>
            <p:nvPr/>
          </p:nvSpPr>
          <p:spPr>
            <a:xfrm>
              <a:off x="6879897"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70" name="Google Shape;1770;p102"/>
            <p:cNvSpPr/>
            <p:nvPr/>
          </p:nvSpPr>
          <p:spPr>
            <a:xfrm>
              <a:off x="5764755" y="20049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71" name="Google Shape;1771;p102"/>
            <p:cNvSpPr/>
            <p:nvPr/>
          </p:nvSpPr>
          <p:spPr>
            <a:xfrm>
              <a:off x="5021328"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cxnSp>
          <p:nvCxnSpPr>
            <p:cNvPr id="1772" name="Google Shape;1772;p102"/>
            <p:cNvCxnSpPr>
              <a:stCxn id="1740" idx="2"/>
              <a:endCxn id="1762" idx="0"/>
            </p:cNvCxnSpPr>
            <p:nvPr/>
          </p:nvCxnSpPr>
          <p:spPr>
            <a:xfrm flipH="1" rot="-5400000">
              <a:off x="2289850" y="1315375"/>
              <a:ext cx="264000" cy="1115100"/>
            </a:xfrm>
            <a:prstGeom prst="curvedConnector3">
              <a:avLst>
                <a:gd fmla="val 50000" name="adj1"/>
              </a:avLst>
            </a:prstGeom>
            <a:noFill/>
            <a:ln cap="flat" cmpd="sng" w="19050">
              <a:solidFill>
                <a:schemeClr val="dk2"/>
              </a:solidFill>
              <a:prstDash val="solid"/>
              <a:round/>
              <a:headEnd len="med" w="med" type="none"/>
              <a:tailEnd len="med" w="med" type="triangle"/>
            </a:ln>
          </p:spPr>
        </p:cxnSp>
        <p:cxnSp>
          <p:nvCxnSpPr>
            <p:cNvPr id="1773" name="Google Shape;1773;p102"/>
            <p:cNvCxnSpPr>
              <a:stCxn id="1748" idx="2"/>
              <a:endCxn id="1770" idx="0"/>
            </p:cNvCxnSpPr>
            <p:nvPr/>
          </p:nvCxnSpPr>
          <p:spPr>
            <a:xfrm flipH="1" rot="-5400000">
              <a:off x="5266089" y="1317925"/>
              <a:ext cx="264000" cy="1110000"/>
            </a:xfrm>
            <a:prstGeom prst="curvedConnector3">
              <a:avLst>
                <a:gd fmla="val 50000" name="adj1"/>
              </a:avLst>
            </a:prstGeom>
            <a:noFill/>
            <a:ln cap="flat" cmpd="sng" w="19050">
              <a:solidFill>
                <a:schemeClr val="dk2"/>
              </a:solidFill>
              <a:prstDash val="solid"/>
              <a:round/>
              <a:headEnd len="med" w="med" type="none"/>
              <a:tailEnd len="med" w="med" type="triangle"/>
            </a:ln>
          </p:spPr>
        </p:cxnSp>
      </p:grpSp>
      <p:grpSp>
        <p:nvGrpSpPr>
          <p:cNvPr id="1774" name="Google Shape;1774;p102"/>
          <p:cNvGrpSpPr/>
          <p:nvPr/>
        </p:nvGrpSpPr>
        <p:grpSpPr>
          <a:xfrm>
            <a:off x="1778364" y="2350525"/>
            <a:ext cx="5580796" cy="696300"/>
            <a:chOff x="1674501" y="2350525"/>
            <a:chExt cx="5580796" cy="696300"/>
          </a:xfrm>
        </p:grpSpPr>
        <p:sp>
          <p:nvSpPr>
            <p:cNvPr id="1775" name="Google Shape;1775;p102"/>
            <p:cNvSpPr/>
            <p:nvPr/>
          </p:nvSpPr>
          <p:spPr>
            <a:xfrm>
              <a:off x="1674501"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76" name="Google Shape;1776;p102"/>
            <p:cNvSpPr/>
            <p:nvPr/>
          </p:nvSpPr>
          <p:spPr>
            <a:xfrm>
              <a:off x="2046215"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77" name="Google Shape;1777;p102"/>
            <p:cNvSpPr/>
            <p:nvPr/>
          </p:nvSpPr>
          <p:spPr>
            <a:xfrm>
              <a:off x="3161370"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78" name="Google Shape;1778;p102"/>
            <p:cNvSpPr/>
            <p:nvPr/>
          </p:nvSpPr>
          <p:spPr>
            <a:xfrm>
              <a:off x="3533084"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79" name="Google Shape;1779;p102"/>
            <p:cNvSpPr/>
            <p:nvPr/>
          </p:nvSpPr>
          <p:spPr>
            <a:xfrm>
              <a:off x="3904798"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80" name="Google Shape;1780;p102"/>
            <p:cNvSpPr/>
            <p:nvPr/>
          </p:nvSpPr>
          <p:spPr>
            <a:xfrm>
              <a:off x="2789656"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81" name="Google Shape;1781;p102"/>
            <p:cNvSpPr/>
            <p:nvPr/>
          </p:nvSpPr>
          <p:spPr>
            <a:xfrm>
              <a:off x="2417929"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82" name="Google Shape;1782;p102"/>
            <p:cNvSpPr/>
            <p:nvPr/>
          </p:nvSpPr>
          <p:spPr>
            <a:xfrm>
              <a:off x="4276501"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83" name="Google Shape;1783;p102"/>
            <p:cNvSpPr/>
            <p:nvPr/>
          </p:nvSpPr>
          <p:spPr>
            <a:xfrm>
              <a:off x="4648215"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84" name="Google Shape;1784;p102"/>
            <p:cNvSpPr/>
            <p:nvPr/>
          </p:nvSpPr>
          <p:spPr>
            <a:xfrm>
              <a:off x="5391643"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85" name="Google Shape;1785;p102"/>
            <p:cNvSpPr/>
            <p:nvPr/>
          </p:nvSpPr>
          <p:spPr>
            <a:xfrm>
              <a:off x="6135070"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86" name="Google Shape;1786;p102"/>
            <p:cNvSpPr/>
            <p:nvPr/>
          </p:nvSpPr>
          <p:spPr>
            <a:xfrm>
              <a:off x="6506784"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87" name="Google Shape;1787;p102"/>
            <p:cNvSpPr/>
            <p:nvPr/>
          </p:nvSpPr>
          <p:spPr>
            <a:xfrm>
              <a:off x="6878498"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88" name="Google Shape;1788;p102"/>
            <p:cNvSpPr/>
            <p:nvPr/>
          </p:nvSpPr>
          <p:spPr>
            <a:xfrm>
              <a:off x="5763357"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89" name="Google Shape;1789;p102"/>
            <p:cNvSpPr/>
            <p:nvPr/>
          </p:nvSpPr>
          <p:spPr>
            <a:xfrm>
              <a:off x="5019929"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cxnSp>
          <p:nvCxnSpPr>
            <p:cNvPr id="1790" name="Google Shape;1790;p102"/>
            <p:cNvCxnSpPr>
              <a:stCxn id="1757" idx="2"/>
              <a:endCxn id="1776" idx="0"/>
            </p:cNvCxnSpPr>
            <p:nvPr/>
          </p:nvCxnSpPr>
          <p:spPr>
            <a:xfrm flipH="1" rot="-5400000">
              <a:off x="1874050" y="2340775"/>
              <a:ext cx="350700" cy="370200"/>
            </a:xfrm>
            <a:prstGeom prst="curvedConnector3">
              <a:avLst>
                <a:gd fmla="val 50000" name="adj1"/>
              </a:avLst>
            </a:prstGeom>
            <a:noFill/>
            <a:ln cap="flat" cmpd="sng" w="19050">
              <a:solidFill>
                <a:schemeClr val="dk2"/>
              </a:solidFill>
              <a:prstDash val="solid"/>
              <a:round/>
              <a:headEnd len="med" w="med" type="none"/>
              <a:tailEnd len="med" w="med" type="triangle"/>
            </a:ln>
          </p:spPr>
        </p:cxnSp>
        <p:cxnSp>
          <p:nvCxnSpPr>
            <p:cNvPr id="1791" name="Google Shape;1791;p102"/>
            <p:cNvCxnSpPr>
              <a:stCxn id="1759" idx="2"/>
              <a:endCxn id="1778" idx="0"/>
            </p:cNvCxnSpPr>
            <p:nvPr/>
          </p:nvCxnSpPr>
          <p:spPr>
            <a:xfrm flipH="1" rot="-5400000">
              <a:off x="3360919" y="2340775"/>
              <a:ext cx="350700" cy="370200"/>
            </a:xfrm>
            <a:prstGeom prst="curvedConnector3">
              <a:avLst>
                <a:gd fmla="val 50000" name="adj1"/>
              </a:avLst>
            </a:prstGeom>
            <a:noFill/>
            <a:ln cap="flat" cmpd="sng" w="19050">
              <a:solidFill>
                <a:schemeClr val="dk2"/>
              </a:solidFill>
              <a:prstDash val="solid"/>
              <a:round/>
              <a:headEnd len="med" w="med" type="none"/>
              <a:tailEnd len="med" w="med" type="triangle"/>
            </a:ln>
          </p:spPr>
        </p:cxnSp>
        <p:cxnSp>
          <p:nvCxnSpPr>
            <p:cNvPr id="1792" name="Google Shape;1792;p102"/>
            <p:cNvCxnSpPr>
              <a:stCxn id="1765" idx="2"/>
              <a:endCxn id="1789" idx="0"/>
            </p:cNvCxnSpPr>
            <p:nvPr/>
          </p:nvCxnSpPr>
          <p:spPr>
            <a:xfrm flipH="1" rot="-5400000">
              <a:off x="4847764" y="2340775"/>
              <a:ext cx="350700" cy="370200"/>
            </a:xfrm>
            <a:prstGeom prst="curvedConnector3">
              <a:avLst>
                <a:gd fmla="val 50000" name="adj1"/>
              </a:avLst>
            </a:prstGeom>
            <a:noFill/>
            <a:ln cap="flat" cmpd="sng" w="19050">
              <a:solidFill>
                <a:schemeClr val="dk2"/>
              </a:solidFill>
              <a:prstDash val="solid"/>
              <a:round/>
              <a:headEnd len="med" w="med" type="none"/>
              <a:tailEnd len="med" w="med" type="triangle"/>
            </a:ln>
          </p:spPr>
        </p:cxnSp>
        <p:cxnSp>
          <p:nvCxnSpPr>
            <p:cNvPr id="1793" name="Google Shape;1793;p102"/>
            <p:cNvCxnSpPr>
              <a:stCxn id="1767" idx="2"/>
              <a:endCxn id="1786" idx="0"/>
            </p:cNvCxnSpPr>
            <p:nvPr/>
          </p:nvCxnSpPr>
          <p:spPr>
            <a:xfrm flipH="1" rot="-5400000">
              <a:off x="6334619" y="2340775"/>
              <a:ext cx="350700" cy="370200"/>
            </a:xfrm>
            <a:prstGeom prst="curvedConnector3">
              <a:avLst>
                <a:gd fmla="val 50000" name="adj1"/>
              </a:avLst>
            </a:prstGeom>
            <a:noFill/>
            <a:ln cap="flat" cmpd="sng" w="19050">
              <a:solidFill>
                <a:schemeClr val="dk2"/>
              </a:solidFill>
              <a:prstDash val="solid"/>
              <a:round/>
              <a:headEnd len="med" w="med" type="none"/>
              <a:tailEnd len="med" w="med" type="triangle"/>
            </a:ln>
          </p:spPr>
        </p:cxnSp>
      </p:grpSp>
      <p:grpSp>
        <p:nvGrpSpPr>
          <p:cNvPr id="1794" name="Google Shape;1794;p102"/>
          <p:cNvGrpSpPr/>
          <p:nvPr/>
        </p:nvGrpSpPr>
        <p:grpSpPr>
          <a:xfrm>
            <a:off x="1778364" y="3615625"/>
            <a:ext cx="5580796" cy="345600"/>
            <a:chOff x="1674501" y="3615625"/>
            <a:chExt cx="5580796" cy="345600"/>
          </a:xfrm>
        </p:grpSpPr>
        <p:sp>
          <p:nvSpPr>
            <p:cNvPr id="1795" name="Google Shape;1795;p102"/>
            <p:cNvSpPr/>
            <p:nvPr/>
          </p:nvSpPr>
          <p:spPr>
            <a:xfrm>
              <a:off x="1674501"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96" name="Google Shape;1796;p102"/>
            <p:cNvSpPr/>
            <p:nvPr/>
          </p:nvSpPr>
          <p:spPr>
            <a:xfrm>
              <a:off x="2046215"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97" name="Google Shape;1797;p102"/>
            <p:cNvSpPr/>
            <p:nvPr/>
          </p:nvSpPr>
          <p:spPr>
            <a:xfrm>
              <a:off x="3161370"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98" name="Google Shape;1798;p102"/>
            <p:cNvSpPr/>
            <p:nvPr/>
          </p:nvSpPr>
          <p:spPr>
            <a:xfrm>
              <a:off x="3533084"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799" name="Google Shape;1799;p102"/>
            <p:cNvSpPr/>
            <p:nvPr/>
          </p:nvSpPr>
          <p:spPr>
            <a:xfrm>
              <a:off x="3904798"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00" name="Google Shape;1800;p102"/>
            <p:cNvSpPr/>
            <p:nvPr/>
          </p:nvSpPr>
          <p:spPr>
            <a:xfrm>
              <a:off x="2789656"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01" name="Google Shape;1801;p102"/>
            <p:cNvSpPr/>
            <p:nvPr/>
          </p:nvSpPr>
          <p:spPr>
            <a:xfrm>
              <a:off x="2417929"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02" name="Google Shape;1802;p102"/>
            <p:cNvSpPr/>
            <p:nvPr/>
          </p:nvSpPr>
          <p:spPr>
            <a:xfrm>
              <a:off x="4276501"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03" name="Google Shape;1803;p102"/>
            <p:cNvSpPr/>
            <p:nvPr/>
          </p:nvSpPr>
          <p:spPr>
            <a:xfrm>
              <a:off x="4648215"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04" name="Google Shape;1804;p102"/>
            <p:cNvSpPr/>
            <p:nvPr/>
          </p:nvSpPr>
          <p:spPr>
            <a:xfrm>
              <a:off x="5391643"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05" name="Google Shape;1805;p102"/>
            <p:cNvSpPr/>
            <p:nvPr/>
          </p:nvSpPr>
          <p:spPr>
            <a:xfrm>
              <a:off x="6135070"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06" name="Google Shape;1806;p102"/>
            <p:cNvSpPr/>
            <p:nvPr/>
          </p:nvSpPr>
          <p:spPr>
            <a:xfrm>
              <a:off x="6506784"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07" name="Google Shape;1807;p102"/>
            <p:cNvSpPr/>
            <p:nvPr/>
          </p:nvSpPr>
          <p:spPr>
            <a:xfrm>
              <a:off x="6878498"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08" name="Google Shape;1808;p102"/>
            <p:cNvSpPr/>
            <p:nvPr/>
          </p:nvSpPr>
          <p:spPr>
            <a:xfrm>
              <a:off x="5763357"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09" name="Google Shape;1809;p102"/>
            <p:cNvSpPr/>
            <p:nvPr/>
          </p:nvSpPr>
          <p:spPr>
            <a:xfrm>
              <a:off x="5019929"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sp>
        <p:nvSpPr>
          <p:cNvPr id="1810" name="Google Shape;1810;p102"/>
          <p:cNvSpPr txBox="1"/>
          <p:nvPr/>
        </p:nvSpPr>
        <p:spPr>
          <a:xfrm>
            <a:off x="3127363" y="3178775"/>
            <a:ext cx="4200300" cy="130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Only size 1 problems remain, so we’re done.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39"/>
                                        </p:tgtEl>
                                        <p:attrNameLst>
                                          <p:attrName>style.visibility</p:attrName>
                                        </p:attrNameLst>
                                      </p:cBhvr>
                                      <p:to>
                                        <p:strVal val="visible"/>
                                      </p:to>
                                    </p:set>
                                    <p:animEffect filter="fade" transition="in">
                                      <p:cBhvr>
                                        <p:cTn dur="1"/>
                                        <p:tgtEl>
                                          <p:spTgt spid="173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56"/>
                                        </p:tgtEl>
                                        <p:attrNameLst>
                                          <p:attrName>style.visibility</p:attrName>
                                        </p:attrNameLst>
                                      </p:cBhvr>
                                      <p:to>
                                        <p:strVal val="visible"/>
                                      </p:to>
                                    </p:set>
                                    <p:animEffect filter="fade" transition="in">
                                      <p:cBhvr>
                                        <p:cTn dur="1"/>
                                        <p:tgtEl>
                                          <p:spTgt spid="17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74"/>
                                        </p:tgtEl>
                                        <p:attrNameLst>
                                          <p:attrName>style.visibility</p:attrName>
                                        </p:attrNameLst>
                                      </p:cBhvr>
                                      <p:to>
                                        <p:strVal val="visible"/>
                                      </p:to>
                                    </p:set>
                                    <p:animEffect filter="fade" transition="in">
                                      <p:cBhvr>
                                        <p:cTn dur="1"/>
                                        <p:tgtEl>
                                          <p:spTgt spid="177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10"/>
                                        </p:tgtEl>
                                        <p:attrNameLst>
                                          <p:attrName>style.visibility</p:attrName>
                                        </p:attrNameLst>
                                      </p:cBhvr>
                                      <p:to>
                                        <p:strVal val="visible"/>
                                      </p:to>
                                    </p:set>
                                    <p:animEffect filter="fade" transition="in">
                                      <p:cBhvr>
                                        <p:cTn dur="1000"/>
                                        <p:tgtEl>
                                          <p:spTgt spid="181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94"/>
                                        </p:tgtEl>
                                        <p:attrNameLst>
                                          <p:attrName>style.visibility</p:attrName>
                                        </p:attrNameLst>
                                      </p:cBhvr>
                                      <p:to>
                                        <p:strVal val="visible"/>
                                      </p:to>
                                    </p:set>
                                    <p:animEffect filter="fade" transition="in">
                                      <p:cBhvr>
                                        <p:cTn dur="1"/>
                                        <p:tgtEl>
                                          <p:spTgt spid="179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9DAF8"/>
        </a:solidFill>
      </p:bgPr>
    </p:bg>
    <p:spTree>
      <p:nvGrpSpPr>
        <p:cNvPr id="1814" name="Shape 1814"/>
        <p:cNvGrpSpPr/>
        <p:nvPr/>
      </p:nvGrpSpPr>
      <p:grpSpPr>
        <a:xfrm>
          <a:off x="0" y="0"/>
          <a:ext cx="0" cy="0"/>
          <a:chOff x="0" y="0"/>
          <a:chExt cx="0" cy="0"/>
        </a:xfrm>
      </p:grpSpPr>
      <p:sp>
        <p:nvSpPr>
          <p:cNvPr id="1815" name="Google Shape;1815;p103"/>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Best Case Runtime?</a:t>
            </a:r>
            <a:endParaRPr/>
          </a:p>
        </p:txBody>
      </p:sp>
      <p:sp>
        <p:nvSpPr>
          <p:cNvPr id="1816" name="Google Shape;1816;p103"/>
          <p:cNvSpPr/>
          <p:nvPr/>
        </p:nvSpPr>
        <p:spPr>
          <a:xfrm>
            <a:off x="1779763" y="7857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17" name="Google Shape;1817;p103"/>
          <p:cNvSpPr/>
          <p:nvPr/>
        </p:nvSpPr>
        <p:spPr>
          <a:xfrm>
            <a:off x="2151476"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18" name="Google Shape;1818;p103"/>
          <p:cNvSpPr/>
          <p:nvPr/>
        </p:nvSpPr>
        <p:spPr>
          <a:xfrm>
            <a:off x="2894904"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19" name="Google Shape;1819;p103"/>
          <p:cNvSpPr/>
          <p:nvPr/>
        </p:nvSpPr>
        <p:spPr>
          <a:xfrm>
            <a:off x="3638332"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20" name="Google Shape;1820;p103"/>
          <p:cNvSpPr/>
          <p:nvPr/>
        </p:nvSpPr>
        <p:spPr>
          <a:xfrm>
            <a:off x="4010045"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21" name="Google Shape;1821;p103"/>
          <p:cNvSpPr/>
          <p:nvPr/>
        </p:nvSpPr>
        <p:spPr>
          <a:xfrm>
            <a:off x="3266618"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22" name="Google Shape;1822;p103"/>
          <p:cNvSpPr/>
          <p:nvPr/>
        </p:nvSpPr>
        <p:spPr>
          <a:xfrm>
            <a:off x="2523190"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23" name="Google Shape;1823;p103"/>
          <p:cNvSpPr/>
          <p:nvPr/>
        </p:nvSpPr>
        <p:spPr>
          <a:xfrm>
            <a:off x="4381763"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24" name="Google Shape;1824;p103"/>
          <p:cNvSpPr/>
          <p:nvPr/>
        </p:nvSpPr>
        <p:spPr>
          <a:xfrm>
            <a:off x="4753476"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25" name="Google Shape;1825;p103"/>
          <p:cNvSpPr/>
          <p:nvPr/>
        </p:nvSpPr>
        <p:spPr>
          <a:xfrm>
            <a:off x="5496904"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26" name="Google Shape;1826;p103"/>
          <p:cNvSpPr/>
          <p:nvPr/>
        </p:nvSpPr>
        <p:spPr>
          <a:xfrm>
            <a:off x="6240332"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27" name="Google Shape;1827;p103"/>
          <p:cNvSpPr/>
          <p:nvPr/>
        </p:nvSpPr>
        <p:spPr>
          <a:xfrm>
            <a:off x="6612045"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28" name="Google Shape;1828;p103"/>
          <p:cNvSpPr/>
          <p:nvPr/>
        </p:nvSpPr>
        <p:spPr>
          <a:xfrm>
            <a:off x="6983759"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29" name="Google Shape;1829;p103"/>
          <p:cNvSpPr/>
          <p:nvPr/>
        </p:nvSpPr>
        <p:spPr>
          <a:xfrm>
            <a:off x="5868618"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30" name="Google Shape;1830;p103"/>
          <p:cNvSpPr/>
          <p:nvPr/>
        </p:nvSpPr>
        <p:spPr>
          <a:xfrm>
            <a:off x="5125190"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nvGrpSpPr>
          <p:cNvPr id="1831" name="Google Shape;1831;p103"/>
          <p:cNvGrpSpPr/>
          <p:nvPr/>
        </p:nvGrpSpPr>
        <p:grpSpPr>
          <a:xfrm>
            <a:off x="1779763" y="1131325"/>
            <a:ext cx="5585872" cy="609600"/>
            <a:chOff x="1675900" y="1131325"/>
            <a:chExt cx="5585872" cy="609600"/>
          </a:xfrm>
        </p:grpSpPr>
        <p:sp>
          <p:nvSpPr>
            <p:cNvPr id="1832" name="Google Shape;1832;p103"/>
            <p:cNvSpPr/>
            <p:nvPr/>
          </p:nvSpPr>
          <p:spPr>
            <a:xfrm>
              <a:off x="1675900" y="13953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33" name="Google Shape;1833;p103"/>
            <p:cNvSpPr/>
            <p:nvPr/>
          </p:nvSpPr>
          <p:spPr>
            <a:xfrm>
              <a:off x="2047614"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34" name="Google Shape;1834;p103"/>
            <p:cNvSpPr/>
            <p:nvPr/>
          </p:nvSpPr>
          <p:spPr>
            <a:xfrm>
              <a:off x="2791041"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35" name="Google Shape;1835;p103"/>
            <p:cNvSpPr/>
            <p:nvPr/>
          </p:nvSpPr>
          <p:spPr>
            <a:xfrm>
              <a:off x="3534469"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36" name="Google Shape;1836;p103"/>
            <p:cNvSpPr/>
            <p:nvPr/>
          </p:nvSpPr>
          <p:spPr>
            <a:xfrm>
              <a:off x="3906183"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37" name="Google Shape;1837;p103"/>
            <p:cNvSpPr/>
            <p:nvPr/>
          </p:nvSpPr>
          <p:spPr>
            <a:xfrm>
              <a:off x="3162755"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38" name="Google Shape;1838;p103"/>
            <p:cNvSpPr/>
            <p:nvPr/>
          </p:nvSpPr>
          <p:spPr>
            <a:xfrm>
              <a:off x="2419328"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39" name="Google Shape;1839;p103"/>
            <p:cNvSpPr/>
            <p:nvPr/>
          </p:nvSpPr>
          <p:spPr>
            <a:xfrm>
              <a:off x="4282975" y="13953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40" name="Google Shape;1840;p103"/>
            <p:cNvSpPr/>
            <p:nvPr/>
          </p:nvSpPr>
          <p:spPr>
            <a:xfrm>
              <a:off x="4654689" y="13953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41" name="Google Shape;1841;p103"/>
            <p:cNvSpPr/>
            <p:nvPr/>
          </p:nvSpPr>
          <p:spPr>
            <a:xfrm>
              <a:off x="5398116"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42" name="Google Shape;1842;p103"/>
            <p:cNvSpPr/>
            <p:nvPr/>
          </p:nvSpPr>
          <p:spPr>
            <a:xfrm>
              <a:off x="6141544"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43" name="Google Shape;1843;p103"/>
            <p:cNvSpPr/>
            <p:nvPr/>
          </p:nvSpPr>
          <p:spPr>
            <a:xfrm>
              <a:off x="6513258"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44" name="Google Shape;1844;p103"/>
            <p:cNvSpPr/>
            <p:nvPr/>
          </p:nvSpPr>
          <p:spPr>
            <a:xfrm>
              <a:off x="6884972"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45" name="Google Shape;1845;p103"/>
            <p:cNvSpPr/>
            <p:nvPr/>
          </p:nvSpPr>
          <p:spPr>
            <a:xfrm>
              <a:off x="5769830"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46" name="Google Shape;1846;p103"/>
            <p:cNvSpPr/>
            <p:nvPr/>
          </p:nvSpPr>
          <p:spPr>
            <a:xfrm>
              <a:off x="5026403"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cxnSp>
          <p:nvCxnSpPr>
            <p:cNvPr id="1847" name="Google Shape;1847;p103"/>
            <p:cNvCxnSpPr>
              <a:stCxn id="1816" idx="2"/>
              <a:endCxn id="1839" idx="0"/>
            </p:cNvCxnSpPr>
            <p:nvPr/>
          </p:nvCxnSpPr>
          <p:spPr>
            <a:xfrm flipH="1" rot="-5400000">
              <a:off x="3035800" y="-40175"/>
              <a:ext cx="264000" cy="2607000"/>
            </a:xfrm>
            <a:prstGeom prst="curvedConnector3">
              <a:avLst>
                <a:gd fmla="val 50000" name="adj1"/>
              </a:avLst>
            </a:prstGeom>
            <a:noFill/>
            <a:ln cap="flat" cmpd="sng" w="19050">
              <a:solidFill>
                <a:schemeClr val="dk2"/>
              </a:solidFill>
              <a:prstDash val="solid"/>
              <a:round/>
              <a:headEnd len="med" w="med" type="none"/>
              <a:tailEnd len="med" w="med" type="triangle"/>
            </a:ln>
          </p:spPr>
        </p:cxnSp>
      </p:grpSp>
      <p:grpSp>
        <p:nvGrpSpPr>
          <p:cNvPr id="1848" name="Google Shape;1848;p103"/>
          <p:cNvGrpSpPr/>
          <p:nvPr/>
        </p:nvGrpSpPr>
        <p:grpSpPr>
          <a:xfrm>
            <a:off x="1779763" y="1740925"/>
            <a:ext cx="5580797" cy="609600"/>
            <a:chOff x="1675900" y="1740925"/>
            <a:chExt cx="5580797" cy="609600"/>
          </a:xfrm>
        </p:grpSpPr>
        <p:sp>
          <p:nvSpPr>
            <p:cNvPr id="1849" name="Google Shape;1849;p103"/>
            <p:cNvSpPr/>
            <p:nvPr/>
          </p:nvSpPr>
          <p:spPr>
            <a:xfrm>
              <a:off x="1675900" y="20049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50" name="Google Shape;1850;p103"/>
            <p:cNvSpPr/>
            <p:nvPr/>
          </p:nvSpPr>
          <p:spPr>
            <a:xfrm>
              <a:off x="2047614"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51" name="Google Shape;1851;p103"/>
            <p:cNvSpPr/>
            <p:nvPr/>
          </p:nvSpPr>
          <p:spPr>
            <a:xfrm>
              <a:off x="3162769" y="20049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52" name="Google Shape;1852;p103"/>
            <p:cNvSpPr/>
            <p:nvPr/>
          </p:nvSpPr>
          <p:spPr>
            <a:xfrm>
              <a:off x="3534483"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53" name="Google Shape;1853;p103"/>
            <p:cNvSpPr/>
            <p:nvPr/>
          </p:nvSpPr>
          <p:spPr>
            <a:xfrm>
              <a:off x="3906197"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54" name="Google Shape;1854;p103"/>
            <p:cNvSpPr/>
            <p:nvPr/>
          </p:nvSpPr>
          <p:spPr>
            <a:xfrm>
              <a:off x="2791055" y="20049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55" name="Google Shape;1855;p103"/>
            <p:cNvSpPr/>
            <p:nvPr/>
          </p:nvSpPr>
          <p:spPr>
            <a:xfrm>
              <a:off x="2419328"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56" name="Google Shape;1856;p103"/>
            <p:cNvSpPr/>
            <p:nvPr/>
          </p:nvSpPr>
          <p:spPr>
            <a:xfrm>
              <a:off x="4277900" y="20049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57" name="Google Shape;1857;p103"/>
            <p:cNvSpPr/>
            <p:nvPr/>
          </p:nvSpPr>
          <p:spPr>
            <a:xfrm>
              <a:off x="4649614" y="20049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58" name="Google Shape;1858;p103"/>
            <p:cNvSpPr/>
            <p:nvPr/>
          </p:nvSpPr>
          <p:spPr>
            <a:xfrm>
              <a:off x="5393041"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59" name="Google Shape;1859;p103"/>
            <p:cNvSpPr/>
            <p:nvPr/>
          </p:nvSpPr>
          <p:spPr>
            <a:xfrm>
              <a:off x="6136469" y="20049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60" name="Google Shape;1860;p103"/>
            <p:cNvSpPr/>
            <p:nvPr/>
          </p:nvSpPr>
          <p:spPr>
            <a:xfrm>
              <a:off x="6508183"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61" name="Google Shape;1861;p103"/>
            <p:cNvSpPr/>
            <p:nvPr/>
          </p:nvSpPr>
          <p:spPr>
            <a:xfrm>
              <a:off x="6879897"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62" name="Google Shape;1862;p103"/>
            <p:cNvSpPr/>
            <p:nvPr/>
          </p:nvSpPr>
          <p:spPr>
            <a:xfrm>
              <a:off x="5764755" y="20049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63" name="Google Shape;1863;p103"/>
            <p:cNvSpPr/>
            <p:nvPr/>
          </p:nvSpPr>
          <p:spPr>
            <a:xfrm>
              <a:off x="5021328"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cxnSp>
          <p:nvCxnSpPr>
            <p:cNvPr id="1864" name="Google Shape;1864;p103"/>
            <p:cNvCxnSpPr>
              <a:stCxn id="1832" idx="2"/>
              <a:endCxn id="1854" idx="0"/>
            </p:cNvCxnSpPr>
            <p:nvPr/>
          </p:nvCxnSpPr>
          <p:spPr>
            <a:xfrm flipH="1" rot="-5400000">
              <a:off x="2289850" y="1315375"/>
              <a:ext cx="264000" cy="1115100"/>
            </a:xfrm>
            <a:prstGeom prst="curvedConnector3">
              <a:avLst>
                <a:gd fmla="val 50000" name="adj1"/>
              </a:avLst>
            </a:prstGeom>
            <a:noFill/>
            <a:ln cap="flat" cmpd="sng" w="19050">
              <a:solidFill>
                <a:schemeClr val="dk2"/>
              </a:solidFill>
              <a:prstDash val="solid"/>
              <a:round/>
              <a:headEnd len="med" w="med" type="none"/>
              <a:tailEnd len="med" w="med" type="triangle"/>
            </a:ln>
          </p:spPr>
        </p:cxnSp>
        <p:cxnSp>
          <p:nvCxnSpPr>
            <p:cNvPr id="1865" name="Google Shape;1865;p103"/>
            <p:cNvCxnSpPr>
              <a:stCxn id="1840" idx="2"/>
              <a:endCxn id="1862" idx="0"/>
            </p:cNvCxnSpPr>
            <p:nvPr/>
          </p:nvCxnSpPr>
          <p:spPr>
            <a:xfrm flipH="1" rot="-5400000">
              <a:off x="5266089" y="1317925"/>
              <a:ext cx="264000" cy="1110000"/>
            </a:xfrm>
            <a:prstGeom prst="curvedConnector3">
              <a:avLst>
                <a:gd fmla="val 50000" name="adj1"/>
              </a:avLst>
            </a:prstGeom>
            <a:noFill/>
            <a:ln cap="flat" cmpd="sng" w="19050">
              <a:solidFill>
                <a:schemeClr val="dk2"/>
              </a:solidFill>
              <a:prstDash val="solid"/>
              <a:round/>
              <a:headEnd len="med" w="med" type="none"/>
              <a:tailEnd len="med" w="med" type="triangle"/>
            </a:ln>
          </p:spPr>
        </p:cxnSp>
      </p:grpSp>
      <p:grpSp>
        <p:nvGrpSpPr>
          <p:cNvPr id="1866" name="Google Shape;1866;p103"/>
          <p:cNvGrpSpPr/>
          <p:nvPr/>
        </p:nvGrpSpPr>
        <p:grpSpPr>
          <a:xfrm>
            <a:off x="1778364" y="2350525"/>
            <a:ext cx="5580796" cy="696300"/>
            <a:chOff x="1674501" y="2350525"/>
            <a:chExt cx="5580796" cy="696300"/>
          </a:xfrm>
        </p:grpSpPr>
        <p:sp>
          <p:nvSpPr>
            <p:cNvPr id="1867" name="Google Shape;1867;p103"/>
            <p:cNvSpPr/>
            <p:nvPr/>
          </p:nvSpPr>
          <p:spPr>
            <a:xfrm>
              <a:off x="1674501"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68" name="Google Shape;1868;p103"/>
            <p:cNvSpPr/>
            <p:nvPr/>
          </p:nvSpPr>
          <p:spPr>
            <a:xfrm>
              <a:off x="2046215"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69" name="Google Shape;1869;p103"/>
            <p:cNvSpPr/>
            <p:nvPr/>
          </p:nvSpPr>
          <p:spPr>
            <a:xfrm>
              <a:off x="3161370"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70" name="Google Shape;1870;p103"/>
            <p:cNvSpPr/>
            <p:nvPr/>
          </p:nvSpPr>
          <p:spPr>
            <a:xfrm>
              <a:off x="3533084"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71" name="Google Shape;1871;p103"/>
            <p:cNvSpPr/>
            <p:nvPr/>
          </p:nvSpPr>
          <p:spPr>
            <a:xfrm>
              <a:off x="3904798"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72" name="Google Shape;1872;p103"/>
            <p:cNvSpPr/>
            <p:nvPr/>
          </p:nvSpPr>
          <p:spPr>
            <a:xfrm>
              <a:off x="2789656"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73" name="Google Shape;1873;p103"/>
            <p:cNvSpPr/>
            <p:nvPr/>
          </p:nvSpPr>
          <p:spPr>
            <a:xfrm>
              <a:off x="2417929"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74" name="Google Shape;1874;p103"/>
            <p:cNvSpPr/>
            <p:nvPr/>
          </p:nvSpPr>
          <p:spPr>
            <a:xfrm>
              <a:off x="4276501"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75" name="Google Shape;1875;p103"/>
            <p:cNvSpPr/>
            <p:nvPr/>
          </p:nvSpPr>
          <p:spPr>
            <a:xfrm>
              <a:off x="4648215"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76" name="Google Shape;1876;p103"/>
            <p:cNvSpPr/>
            <p:nvPr/>
          </p:nvSpPr>
          <p:spPr>
            <a:xfrm>
              <a:off x="5391643"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77" name="Google Shape;1877;p103"/>
            <p:cNvSpPr/>
            <p:nvPr/>
          </p:nvSpPr>
          <p:spPr>
            <a:xfrm>
              <a:off x="6135070"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78" name="Google Shape;1878;p103"/>
            <p:cNvSpPr/>
            <p:nvPr/>
          </p:nvSpPr>
          <p:spPr>
            <a:xfrm>
              <a:off x="6506784"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79" name="Google Shape;1879;p103"/>
            <p:cNvSpPr/>
            <p:nvPr/>
          </p:nvSpPr>
          <p:spPr>
            <a:xfrm>
              <a:off x="6878498"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80" name="Google Shape;1880;p103"/>
            <p:cNvSpPr/>
            <p:nvPr/>
          </p:nvSpPr>
          <p:spPr>
            <a:xfrm>
              <a:off x="5763357"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81" name="Google Shape;1881;p103"/>
            <p:cNvSpPr/>
            <p:nvPr/>
          </p:nvSpPr>
          <p:spPr>
            <a:xfrm>
              <a:off x="5019929"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cxnSp>
          <p:nvCxnSpPr>
            <p:cNvPr id="1882" name="Google Shape;1882;p103"/>
            <p:cNvCxnSpPr>
              <a:stCxn id="1849" idx="2"/>
              <a:endCxn id="1868" idx="0"/>
            </p:cNvCxnSpPr>
            <p:nvPr/>
          </p:nvCxnSpPr>
          <p:spPr>
            <a:xfrm flipH="1" rot="-5400000">
              <a:off x="1874050" y="2340775"/>
              <a:ext cx="350700" cy="370200"/>
            </a:xfrm>
            <a:prstGeom prst="curvedConnector3">
              <a:avLst>
                <a:gd fmla="val 50000" name="adj1"/>
              </a:avLst>
            </a:prstGeom>
            <a:noFill/>
            <a:ln cap="flat" cmpd="sng" w="19050">
              <a:solidFill>
                <a:schemeClr val="dk2"/>
              </a:solidFill>
              <a:prstDash val="solid"/>
              <a:round/>
              <a:headEnd len="med" w="med" type="none"/>
              <a:tailEnd len="med" w="med" type="triangle"/>
            </a:ln>
          </p:spPr>
        </p:cxnSp>
        <p:cxnSp>
          <p:nvCxnSpPr>
            <p:cNvPr id="1883" name="Google Shape;1883;p103"/>
            <p:cNvCxnSpPr>
              <a:stCxn id="1851" idx="2"/>
              <a:endCxn id="1870" idx="0"/>
            </p:cNvCxnSpPr>
            <p:nvPr/>
          </p:nvCxnSpPr>
          <p:spPr>
            <a:xfrm flipH="1" rot="-5400000">
              <a:off x="3360919" y="2340775"/>
              <a:ext cx="350700" cy="370200"/>
            </a:xfrm>
            <a:prstGeom prst="curvedConnector3">
              <a:avLst>
                <a:gd fmla="val 50000" name="adj1"/>
              </a:avLst>
            </a:prstGeom>
            <a:noFill/>
            <a:ln cap="flat" cmpd="sng" w="19050">
              <a:solidFill>
                <a:schemeClr val="dk2"/>
              </a:solidFill>
              <a:prstDash val="solid"/>
              <a:round/>
              <a:headEnd len="med" w="med" type="none"/>
              <a:tailEnd len="med" w="med" type="triangle"/>
            </a:ln>
          </p:spPr>
        </p:cxnSp>
        <p:cxnSp>
          <p:nvCxnSpPr>
            <p:cNvPr id="1884" name="Google Shape;1884;p103"/>
            <p:cNvCxnSpPr>
              <a:stCxn id="1857" idx="2"/>
              <a:endCxn id="1881" idx="0"/>
            </p:cNvCxnSpPr>
            <p:nvPr/>
          </p:nvCxnSpPr>
          <p:spPr>
            <a:xfrm flipH="1" rot="-5400000">
              <a:off x="4847764" y="2340775"/>
              <a:ext cx="350700" cy="370200"/>
            </a:xfrm>
            <a:prstGeom prst="curvedConnector3">
              <a:avLst>
                <a:gd fmla="val 50000" name="adj1"/>
              </a:avLst>
            </a:prstGeom>
            <a:noFill/>
            <a:ln cap="flat" cmpd="sng" w="19050">
              <a:solidFill>
                <a:schemeClr val="dk2"/>
              </a:solidFill>
              <a:prstDash val="solid"/>
              <a:round/>
              <a:headEnd len="med" w="med" type="none"/>
              <a:tailEnd len="med" w="med" type="triangle"/>
            </a:ln>
          </p:spPr>
        </p:cxnSp>
        <p:cxnSp>
          <p:nvCxnSpPr>
            <p:cNvPr id="1885" name="Google Shape;1885;p103"/>
            <p:cNvCxnSpPr>
              <a:stCxn id="1859" idx="2"/>
              <a:endCxn id="1878" idx="0"/>
            </p:cNvCxnSpPr>
            <p:nvPr/>
          </p:nvCxnSpPr>
          <p:spPr>
            <a:xfrm flipH="1" rot="-5400000">
              <a:off x="6334619" y="2340775"/>
              <a:ext cx="350700" cy="370200"/>
            </a:xfrm>
            <a:prstGeom prst="curvedConnector3">
              <a:avLst>
                <a:gd fmla="val 50000" name="adj1"/>
              </a:avLst>
            </a:prstGeom>
            <a:noFill/>
            <a:ln cap="flat" cmpd="sng" w="19050">
              <a:solidFill>
                <a:schemeClr val="dk2"/>
              </a:solidFill>
              <a:prstDash val="solid"/>
              <a:round/>
              <a:headEnd len="med" w="med" type="none"/>
              <a:tailEnd len="med" w="med" type="triangle"/>
            </a:ln>
          </p:spPr>
        </p:cxnSp>
      </p:grpSp>
      <p:grpSp>
        <p:nvGrpSpPr>
          <p:cNvPr id="1886" name="Google Shape;1886;p103"/>
          <p:cNvGrpSpPr/>
          <p:nvPr/>
        </p:nvGrpSpPr>
        <p:grpSpPr>
          <a:xfrm>
            <a:off x="1778364" y="3615625"/>
            <a:ext cx="5580796" cy="345600"/>
            <a:chOff x="1674501" y="3615625"/>
            <a:chExt cx="5580796" cy="345600"/>
          </a:xfrm>
        </p:grpSpPr>
        <p:sp>
          <p:nvSpPr>
            <p:cNvPr id="1887" name="Google Shape;1887;p103"/>
            <p:cNvSpPr/>
            <p:nvPr/>
          </p:nvSpPr>
          <p:spPr>
            <a:xfrm>
              <a:off x="1674501"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88" name="Google Shape;1888;p103"/>
            <p:cNvSpPr/>
            <p:nvPr/>
          </p:nvSpPr>
          <p:spPr>
            <a:xfrm>
              <a:off x="2046215"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89" name="Google Shape;1889;p103"/>
            <p:cNvSpPr/>
            <p:nvPr/>
          </p:nvSpPr>
          <p:spPr>
            <a:xfrm>
              <a:off x="3161370"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90" name="Google Shape;1890;p103"/>
            <p:cNvSpPr/>
            <p:nvPr/>
          </p:nvSpPr>
          <p:spPr>
            <a:xfrm>
              <a:off x="3533084"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91" name="Google Shape;1891;p103"/>
            <p:cNvSpPr/>
            <p:nvPr/>
          </p:nvSpPr>
          <p:spPr>
            <a:xfrm>
              <a:off x="3904798"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92" name="Google Shape;1892;p103"/>
            <p:cNvSpPr/>
            <p:nvPr/>
          </p:nvSpPr>
          <p:spPr>
            <a:xfrm>
              <a:off x="2789656"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93" name="Google Shape;1893;p103"/>
            <p:cNvSpPr/>
            <p:nvPr/>
          </p:nvSpPr>
          <p:spPr>
            <a:xfrm>
              <a:off x="2417929"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94" name="Google Shape;1894;p103"/>
            <p:cNvSpPr/>
            <p:nvPr/>
          </p:nvSpPr>
          <p:spPr>
            <a:xfrm>
              <a:off x="4276501"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95" name="Google Shape;1895;p103"/>
            <p:cNvSpPr/>
            <p:nvPr/>
          </p:nvSpPr>
          <p:spPr>
            <a:xfrm>
              <a:off x="4648215"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96" name="Google Shape;1896;p103"/>
            <p:cNvSpPr/>
            <p:nvPr/>
          </p:nvSpPr>
          <p:spPr>
            <a:xfrm>
              <a:off x="5391643"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97" name="Google Shape;1897;p103"/>
            <p:cNvSpPr/>
            <p:nvPr/>
          </p:nvSpPr>
          <p:spPr>
            <a:xfrm>
              <a:off x="6135070"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98" name="Google Shape;1898;p103"/>
            <p:cNvSpPr/>
            <p:nvPr/>
          </p:nvSpPr>
          <p:spPr>
            <a:xfrm>
              <a:off x="6506784"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899" name="Google Shape;1899;p103"/>
            <p:cNvSpPr/>
            <p:nvPr/>
          </p:nvSpPr>
          <p:spPr>
            <a:xfrm>
              <a:off x="6878498"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00" name="Google Shape;1900;p103"/>
            <p:cNvSpPr/>
            <p:nvPr/>
          </p:nvSpPr>
          <p:spPr>
            <a:xfrm>
              <a:off x="5763357"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01" name="Google Shape;1901;p103"/>
            <p:cNvSpPr/>
            <p:nvPr/>
          </p:nvSpPr>
          <p:spPr>
            <a:xfrm>
              <a:off x="5019929"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sp>
        <p:nvSpPr>
          <p:cNvPr id="1902" name="Google Shape;1902;p103"/>
          <p:cNvSpPr txBox="1"/>
          <p:nvPr/>
        </p:nvSpPr>
        <p:spPr>
          <a:xfrm>
            <a:off x="3127363" y="3178775"/>
            <a:ext cx="4200300" cy="130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Only size 1 problems remain, so we’re done.</a:t>
            </a:r>
            <a:endParaRPr/>
          </a:p>
        </p:txBody>
      </p:sp>
      <p:sp>
        <p:nvSpPr>
          <p:cNvPr id="1903" name="Google Shape;1903;p103"/>
          <p:cNvSpPr txBox="1"/>
          <p:nvPr>
            <p:ph idx="1" type="body"/>
          </p:nvPr>
        </p:nvSpPr>
        <p:spPr>
          <a:xfrm>
            <a:off x="243000" y="4100700"/>
            <a:ext cx="8443800" cy="6096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What is the best case runtime?</a:t>
            </a:r>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07" name="Shape 1907"/>
        <p:cNvGrpSpPr/>
        <p:nvPr/>
      </p:nvGrpSpPr>
      <p:grpSpPr>
        <a:xfrm>
          <a:off x="0" y="0"/>
          <a:ext cx="0" cy="0"/>
          <a:chOff x="0" y="0"/>
          <a:chExt cx="0" cy="0"/>
        </a:xfrm>
      </p:grpSpPr>
      <p:sp>
        <p:nvSpPr>
          <p:cNvPr id="1908" name="Google Shape;1908;p10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Best Case Runtime?</a:t>
            </a:r>
            <a:endParaRPr/>
          </a:p>
        </p:txBody>
      </p:sp>
      <p:sp>
        <p:nvSpPr>
          <p:cNvPr id="1909" name="Google Shape;1909;p104"/>
          <p:cNvSpPr/>
          <p:nvPr/>
        </p:nvSpPr>
        <p:spPr>
          <a:xfrm>
            <a:off x="408163" y="13191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10" name="Google Shape;1910;p104"/>
          <p:cNvSpPr/>
          <p:nvPr/>
        </p:nvSpPr>
        <p:spPr>
          <a:xfrm>
            <a:off x="779876" y="13191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11" name="Google Shape;1911;p104"/>
          <p:cNvSpPr/>
          <p:nvPr/>
        </p:nvSpPr>
        <p:spPr>
          <a:xfrm>
            <a:off x="1523304" y="13191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12" name="Google Shape;1912;p104"/>
          <p:cNvSpPr/>
          <p:nvPr/>
        </p:nvSpPr>
        <p:spPr>
          <a:xfrm>
            <a:off x="2266732" y="13191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13" name="Google Shape;1913;p104"/>
          <p:cNvSpPr/>
          <p:nvPr/>
        </p:nvSpPr>
        <p:spPr>
          <a:xfrm>
            <a:off x="2638445" y="13191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14" name="Google Shape;1914;p104"/>
          <p:cNvSpPr/>
          <p:nvPr/>
        </p:nvSpPr>
        <p:spPr>
          <a:xfrm>
            <a:off x="1895018" y="13191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15" name="Google Shape;1915;p104"/>
          <p:cNvSpPr/>
          <p:nvPr/>
        </p:nvSpPr>
        <p:spPr>
          <a:xfrm>
            <a:off x="1151590" y="13191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16" name="Google Shape;1916;p104"/>
          <p:cNvSpPr/>
          <p:nvPr/>
        </p:nvSpPr>
        <p:spPr>
          <a:xfrm>
            <a:off x="3010163" y="13191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17" name="Google Shape;1917;p104"/>
          <p:cNvSpPr/>
          <p:nvPr/>
        </p:nvSpPr>
        <p:spPr>
          <a:xfrm>
            <a:off x="3381876" y="13191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18" name="Google Shape;1918;p104"/>
          <p:cNvSpPr/>
          <p:nvPr/>
        </p:nvSpPr>
        <p:spPr>
          <a:xfrm>
            <a:off x="4125304" y="13191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19" name="Google Shape;1919;p104"/>
          <p:cNvSpPr/>
          <p:nvPr/>
        </p:nvSpPr>
        <p:spPr>
          <a:xfrm>
            <a:off x="4868732" y="13191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20" name="Google Shape;1920;p104"/>
          <p:cNvSpPr/>
          <p:nvPr/>
        </p:nvSpPr>
        <p:spPr>
          <a:xfrm>
            <a:off x="5240445" y="13191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21" name="Google Shape;1921;p104"/>
          <p:cNvSpPr/>
          <p:nvPr/>
        </p:nvSpPr>
        <p:spPr>
          <a:xfrm>
            <a:off x="5612159" y="13191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22" name="Google Shape;1922;p104"/>
          <p:cNvSpPr/>
          <p:nvPr/>
        </p:nvSpPr>
        <p:spPr>
          <a:xfrm>
            <a:off x="4497018" y="13191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23" name="Google Shape;1923;p104"/>
          <p:cNvSpPr/>
          <p:nvPr/>
        </p:nvSpPr>
        <p:spPr>
          <a:xfrm>
            <a:off x="3753590" y="13191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nvGrpSpPr>
          <p:cNvPr id="1924" name="Google Shape;1924;p104"/>
          <p:cNvGrpSpPr/>
          <p:nvPr/>
        </p:nvGrpSpPr>
        <p:grpSpPr>
          <a:xfrm>
            <a:off x="408163" y="1664725"/>
            <a:ext cx="5585872" cy="609600"/>
            <a:chOff x="1675900" y="1131325"/>
            <a:chExt cx="5585872" cy="609600"/>
          </a:xfrm>
        </p:grpSpPr>
        <p:sp>
          <p:nvSpPr>
            <p:cNvPr id="1925" name="Google Shape;1925;p104"/>
            <p:cNvSpPr/>
            <p:nvPr/>
          </p:nvSpPr>
          <p:spPr>
            <a:xfrm>
              <a:off x="1675900" y="13953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26" name="Google Shape;1926;p104"/>
            <p:cNvSpPr/>
            <p:nvPr/>
          </p:nvSpPr>
          <p:spPr>
            <a:xfrm>
              <a:off x="2047614"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27" name="Google Shape;1927;p104"/>
            <p:cNvSpPr/>
            <p:nvPr/>
          </p:nvSpPr>
          <p:spPr>
            <a:xfrm>
              <a:off x="2791041"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28" name="Google Shape;1928;p104"/>
            <p:cNvSpPr/>
            <p:nvPr/>
          </p:nvSpPr>
          <p:spPr>
            <a:xfrm>
              <a:off x="3534469"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29" name="Google Shape;1929;p104"/>
            <p:cNvSpPr/>
            <p:nvPr/>
          </p:nvSpPr>
          <p:spPr>
            <a:xfrm>
              <a:off x="3906183"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30" name="Google Shape;1930;p104"/>
            <p:cNvSpPr/>
            <p:nvPr/>
          </p:nvSpPr>
          <p:spPr>
            <a:xfrm>
              <a:off x="3162755"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31" name="Google Shape;1931;p104"/>
            <p:cNvSpPr/>
            <p:nvPr/>
          </p:nvSpPr>
          <p:spPr>
            <a:xfrm>
              <a:off x="2419328"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32" name="Google Shape;1932;p104"/>
            <p:cNvSpPr/>
            <p:nvPr/>
          </p:nvSpPr>
          <p:spPr>
            <a:xfrm>
              <a:off x="4282975" y="13953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33" name="Google Shape;1933;p104"/>
            <p:cNvSpPr/>
            <p:nvPr/>
          </p:nvSpPr>
          <p:spPr>
            <a:xfrm>
              <a:off x="4654689" y="13953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34" name="Google Shape;1934;p104"/>
            <p:cNvSpPr/>
            <p:nvPr/>
          </p:nvSpPr>
          <p:spPr>
            <a:xfrm>
              <a:off x="5398116"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35" name="Google Shape;1935;p104"/>
            <p:cNvSpPr/>
            <p:nvPr/>
          </p:nvSpPr>
          <p:spPr>
            <a:xfrm>
              <a:off x="6141544"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36" name="Google Shape;1936;p104"/>
            <p:cNvSpPr/>
            <p:nvPr/>
          </p:nvSpPr>
          <p:spPr>
            <a:xfrm>
              <a:off x="6513258"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37" name="Google Shape;1937;p104"/>
            <p:cNvSpPr/>
            <p:nvPr/>
          </p:nvSpPr>
          <p:spPr>
            <a:xfrm>
              <a:off x="6884972"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38" name="Google Shape;1938;p104"/>
            <p:cNvSpPr/>
            <p:nvPr/>
          </p:nvSpPr>
          <p:spPr>
            <a:xfrm>
              <a:off x="5769830"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39" name="Google Shape;1939;p104"/>
            <p:cNvSpPr/>
            <p:nvPr/>
          </p:nvSpPr>
          <p:spPr>
            <a:xfrm>
              <a:off x="5026403" y="13953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cxnSp>
          <p:nvCxnSpPr>
            <p:cNvPr id="1940" name="Google Shape;1940;p104"/>
            <p:cNvCxnSpPr>
              <a:stCxn id="1909" idx="2"/>
              <a:endCxn id="1932" idx="0"/>
            </p:cNvCxnSpPr>
            <p:nvPr/>
          </p:nvCxnSpPr>
          <p:spPr>
            <a:xfrm flipH="1" rot="-5400000">
              <a:off x="3035800" y="-40175"/>
              <a:ext cx="264000" cy="2607000"/>
            </a:xfrm>
            <a:prstGeom prst="curvedConnector3">
              <a:avLst>
                <a:gd fmla="val 50000" name="adj1"/>
              </a:avLst>
            </a:prstGeom>
            <a:noFill/>
            <a:ln cap="flat" cmpd="sng" w="19050">
              <a:solidFill>
                <a:schemeClr val="dk2"/>
              </a:solidFill>
              <a:prstDash val="solid"/>
              <a:round/>
              <a:headEnd len="med" w="med" type="none"/>
              <a:tailEnd len="med" w="med" type="triangle"/>
            </a:ln>
          </p:spPr>
        </p:cxnSp>
      </p:grpSp>
      <p:grpSp>
        <p:nvGrpSpPr>
          <p:cNvPr id="1941" name="Google Shape;1941;p104"/>
          <p:cNvGrpSpPr/>
          <p:nvPr/>
        </p:nvGrpSpPr>
        <p:grpSpPr>
          <a:xfrm>
            <a:off x="408163" y="2274325"/>
            <a:ext cx="5580797" cy="609600"/>
            <a:chOff x="1675900" y="1740925"/>
            <a:chExt cx="5580797" cy="609600"/>
          </a:xfrm>
        </p:grpSpPr>
        <p:sp>
          <p:nvSpPr>
            <p:cNvPr id="1942" name="Google Shape;1942;p104"/>
            <p:cNvSpPr/>
            <p:nvPr/>
          </p:nvSpPr>
          <p:spPr>
            <a:xfrm>
              <a:off x="1675900" y="20049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43" name="Google Shape;1943;p104"/>
            <p:cNvSpPr/>
            <p:nvPr/>
          </p:nvSpPr>
          <p:spPr>
            <a:xfrm>
              <a:off x="2047614"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44" name="Google Shape;1944;p104"/>
            <p:cNvSpPr/>
            <p:nvPr/>
          </p:nvSpPr>
          <p:spPr>
            <a:xfrm>
              <a:off x="3162769" y="20049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45" name="Google Shape;1945;p104"/>
            <p:cNvSpPr/>
            <p:nvPr/>
          </p:nvSpPr>
          <p:spPr>
            <a:xfrm>
              <a:off x="3534483"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46" name="Google Shape;1946;p104"/>
            <p:cNvSpPr/>
            <p:nvPr/>
          </p:nvSpPr>
          <p:spPr>
            <a:xfrm>
              <a:off x="3906197"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47" name="Google Shape;1947;p104"/>
            <p:cNvSpPr/>
            <p:nvPr/>
          </p:nvSpPr>
          <p:spPr>
            <a:xfrm>
              <a:off x="2791055" y="20049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48" name="Google Shape;1948;p104"/>
            <p:cNvSpPr/>
            <p:nvPr/>
          </p:nvSpPr>
          <p:spPr>
            <a:xfrm>
              <a:off x="2419328"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49" name="Google Shape;1949;p104"/>
            <p:cNvSpPr/>
            <p:nvPr/>
          </p:nvSpPr>
          <p:spPr>
            <a:xfrm>
              <a:off x="4277900" y="20049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50" name="Google Shape;1950;p104"/>
            <p:cNvSpPr/>
            <p:nvPr/>
          </p:nvSpPr>
          <p:spPr>
            <a:xfrm>
              <a:off x="4649614" y="20049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51" name="Google Shape;1951;p104"/>
            <p:cNvSpPr/>
            <p:nvPr/>
          </p:nvSpPr>
          <p:spPr>
            <a:xfrm>
              <a:off x="5393041"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52" name="Google Shape;1952;p104"/>
            <p:cNvSpPr/>
            <p:nvPr/>
          </p:nvSpPr>
          <p:spPr>
            <a:xfrm>
              <a:off x="6136469" y="20049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53" name="Google Shape;1953;p104"/>
            <p:cNvSpPr/>
            <p:nvPr/>
          </p:nvSpPr>
          <p:spPr>
            <a:xfrm>
              <a:off x="6508183"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54" name="Google Shape;1954;p104"/>
            <p:cNvSpPr/>
            <p:nvPr/>
          </p:nvSpPr>
          <p:spPr>
            <a:xfrm>
              <a:off x="6879897"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55" name="Google Shape;1955;p104"/>
            <p:cNvSpPr/>
            <p:nvPr/>
          </p:nvSpPr>
          <p:spPr>
            <a:xfrm>
              <a:off x="5764755" y="20049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56" name="Google Shape;1956;p104"/>
            <p:cNvSpPr/>
            <p:nvPr/>
          </p:nvSpPr>
          <p:spPr>
            <a:xfrm>
              <a:off x="5021328" y="20049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cxnSp>
          <p:nvCxnSpPr>
            <p:cNvPr id="1957" name="Google Shape;1957;p104"/>
            <p:cNvCxnSpPr>
              <a:stCxn id="1925" idx="2"/>
              <a:endCxn id="1947" idx="0"/>
            </p:cNvCxnSpPr>
            <p:nvPr/>
          </p:nvCxnSpPr>
          <p:spPr>
            <a:xfrm flipH="1" rot="-5400000">
              <a:off x="2289850" y="1315375"/>
              <a:ext cx="264000" cy="1115100"/>
            </a:xfrm>
            <a:prstGeom prst="curvedConnector3">
              <a:avLst>
                <a:gd fmla="val 50000" name="adj1"/>
              </a:avLst>
            </a:prstGeom>
            <a:noFill/>
            <a:ln cap="flat" cmpd="sng" w="19050">
              <a:solidFill>
                <a:schemeClr val="dk2"/>
              </a:solidFill>
              <a:prstDash val="solid"/>
              <a:round/>
              <a:headEnd len="med" w="med" type="none"/>
              <a:tailEnd len="med" w="med" type="triangle"/>
            </a:ln>
          </p:spPr>
        </p:cxnSp>
        <p:cxnSp>
          <p:nvCxnSpPr>
            <p:cNvPr id="1958" name="Google Shape;1958;p104"/>
            <p:cNvCxnSpPr>
              <a:stCxn id="1933" idx="2"/>
              <a:endCxn id="1955" idx="0"/>
            </p:cNvCxnSpPr>
            <p:nvPr/>
          </p:nvCxnSpPr>
          <p:spPr>
            <a:xfrm flipH="1" rot="-5400000">
              <a:off x="5266089" y="1317925"/>
              <a:ext cx="264000" cy="1110000"/>
            </a:xfrm>
            <a:prstGeom prst="curvedConnector3">
              <a:avLst>
                <a:gd fmla="val 50000" name="adj1"/>
              </a:avLst>
            </a:prstGeom>
            <a:noFill/>
            <a:ln cap="flat" cmpd="sng" w="19050">
              <a:solidFill>
                <a:schemeClr val="dk2"/>
              </a:solidFill>
              <a:prstDash val="solid"/>
              <a:round/>
              <a:headEnd len="med" w="med" type="none"/>
              <a:tailEnd len="med" w="med" type="triangle"/>
            </a:ln>
          </p:spPr>
        </p:cxnSp>
      </p:grpSp>
      <p:grpSp>
        <p:nvGrpSpPr>
          <p:cNvPr id="1959" name="Google Shape;1959;p104"/>
          <p:cNvGrpSpPr/>
          <p:nvPr/>
        </p:nvGrpSpPr>
        <p:grpSpPr>
          <a:xfrm>
            <a:off x="406764" y="2883925"/>
            <a:ext cx="5580796" cy="696300"/>
            <a:chOff x="1674501" y="2350525"/>
            <a:chExt cx="5580796" cy="696300"/>
          </a:xfrm>
        </p:grpSpPr>
        <p:sp>
          <p:nvSpPr>
            <p:cNvPr id="1960" name="Google Shape;1960;p104"/>
            <p:cNvSpPr/>
            <p:nvPr/>
          </p:nvSpPr>
          <p:spPr>
            <a:xfrm>
              <a:off x="1674501"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61" name="Google Shape;1961;p104"/>
            <p:cNvSpPr/>
            <p:nvPr/>
          </p:nvSpPr>
          <p:spPr>
            <a:xfrm>
              <a:off x="2046215"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62" name="Google Shape;1962;p104"/>
            <p:cNvSpPr/>
            <p:nvPr/>
          </p:nvSpPr>
          <p:spPr>
            <a:xfrm>
              <a:off x="3161370"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63" name="Google Shape;1963;p104"/>
            <p:cNvSpPr/>
            <p:nvPr/>
          </p:nvSpPr>
          <p:spPr>
            <a:xfrm>
              <a:off x="3533084"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64" name="Google Shape;1964;p104"/>
            <p:cNvSpPr/>
            <p:nvPr/>
          </p:nvSpPr>
          <p:spPr>
            <a:xfrm>
              <a:off x="3904798"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65" name="Google Shape;1965;p104"/>
            <p:cNvSpPr/>
            <p:nvPr/>
          </p:nvSpPr>
          <p:spPr>
            <a:xfrm>
              <a:off x="2789656"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66" name="Google Shape;1966;p104"/>
            <p:cNvSpPr/>
            <p:nvPr/>
          </p:nvSpPr>
          <p:spPr>
            <a:xfrm>
              <a:off x="2417929"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67" name="Google Shape;1967;p104"/>
            <p:cNvSpPr/>
            <p:nvPr/>
          </p:nvSpPr>
          <p:spPr>
            <a:xfrm>
              <a:off x="4276501"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68" name="Google Shape;1968;p104"/>
            <p:cNvSpPr/>
            <p:nvPr/>
          </p:nvSpPr>
          <p:spPr>
            <a:xfrm>
              <a:off x="4648215"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69" name="Google Shape;1969;p104"/>
            <p:cNvSpPr/>
            <p:nvPr/>
          </p:nvSpPr>
          <p:spPr>
            <a:xfrm>
              <a:off x="5391643"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70" name="Google Shape;1970;p104"/>
            <p:cNvSpPr/>
            <p:nvPr/>
          </p:nvSpPr>
          <p:spPr>
            <a:xfrm>
              <a:off x="6135070"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71" name="Google Shape;1971;p104"/>
            <p:cNvSpPr/>
            <p:nvPr/>
          </p:nvSpPr>
          <p:spPr>
            <a:xfrm>
              <a:off x="6506784"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72" name="Google Shape;1972;p104"/>
            <p:cNvSpPr/>
            <p:nvPr/>
          </p:nvSpPr>
          <p:spPr>
            <a:xfrm>
              <a:off x="6878498" y="27012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73" name="Google Shape;1973;p104"/>
            <p:cNvSpPr/>
            <p:nvPr/>
          </p:nvSpPr>
          <p:spPr>
            <a:xfrm>
              <a:off x="5763357"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74" name="Google Shape;1974;p104"/>
            <p:cNvSpPr/>
            <p:nvPr/>
          </p:nvSpPr>
          <p:spPr>
            <a:xfrm>
              <a:off x="5019929" y="27012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cxnSp>
          <p:nvCxnSpPr>
            <p:cNvPr id="1975" name="Google Shape;1975;p104"/>
            <p:cNvCxnSpPr>
              <a:stCxn id="1942" idx="2"/>
              <a:endCxn id="1961" idx="0"/>
            </p:cNvCxnSpPr>
            <p:nvPr/>
          </p:nvCxnSpPr>
          <p:spPr>
            <a:xfrm flipH="1" rot="-5400000">
              <a:off x="1874050" y="2340775"/>
              <a:ext cx="350700" cy="370200"/>
            </a:xfrm>
            <a:prstGeom prst="curvedConnector3">
              <a:avLst>
                <a:gd fmla="val 50000" name="adj1"/>
              </a:avLst>
            </a:prstGeom>
            <a:noFill/>
            <a:ln cap="flat" cmpd="sng" w="19050">
              <a:solidFill>
                <a:schemeClr val="dk2"/>
              </a:solidFill>
              <a:prstDash val="solid"/>
              <a:round/>
              <a:headEnd len="med" w="med" type="none"/>
              <a:tailEnd len="med" w="med" type="triangle"/>
            </a:ln>
          </p:spPr>
        </p:cxnSp>
        <p:cxnSp>
          <p:nvCxnSpPr>
            <p:cNvPr id="1976" name="Google Shape;1976;p104"/>
            <p:cNvCxnSpPr>
              <a:stCxn id="1944" idx="2"/>
              <a:endCxn id="1963" idx="0"/>
            </p:cNvCxnSpPr>
            <p:nvPr/>
          </p:nvCxnSpPr>
          <p:spPr>
            <a:xfrm flipH="1" rot="-5400000">
              <a:off x="3360919" y="2340775"/>
              <a:ext cx="350700" cy="370200"/>
            </a:xfrm>
            <a:prstGeom prst="curvedConnector3">
              <a:avLst>
                <a:gd fmla="val 50000" name="adj1"/>
              </a:avLst>
            </a:prstGeom>
            <a:noFill/>
            <a:ln cap="flat" cmpd="sng" w="19050">
              <a:solidFill>
                <a:schemeClr val="dk2"/>
              </a:solidFill>
              <a:prstDash val="solid"/>
              <a:round/>
              <a:headEnd len="med" w="med" type="none"/>
              <a:tailEnd len="med" w="med" type="triangle"/>
            </a:ln>
          </p:spPr>
        </p:cxnSp>
        <p:cxnSp>
          <p:nvCxnSpPr>
            <p:cNvPr id="1977" name="Google Shape;1977;p104"/>
            <p:cNvCxnSpPr>
              <a:stCxn id="1950" idx="2"/>
              <a:endCxn id="1974" idx="0"/>
            </p:cNvCxnSpPr>
            <p:nvPr/>
          </p:nvCxnSpPr>
          <p:spPr>
            <a:xfrm flipH="1" rot="-5400000">
              <a:off x="4847764" y="2340775"/>
              <a:ext cx="350700" cy="370200"/>
            </a:xfrm>
            <a:prstGeom prst="curvedConnector3">
              <a:avLst>
                <a:gd fmla="val 50000" name="adj1"/>
              </a:avLst>
            </a:prstGeom>
            <a:noFill/>
            <a:ln cap="flat" cmpd="sng" w="19050">
              <a:solidFill>
                <a:schemeClr val="dk2"/>
              </a:solidFill>
              <a:prstDash val="solid"/>
              <a:round/>
              <a:headEnd len="med" w="med" type="none"/>
              <a:tailEnd len="med" w="med" type="triangle"/>
            </a:ln>
          </p:spPr>
        </p:cxnSp>
        <p:cxnSp>
          <p:nvCxnSpPr>
            <p:cNvPr id="1978" name="Google Shape;1978;p104"/>
            <p:cNvCxnSpPr>
              <a:stCxn id="1952" idx="2"/>
              <a:endCxn id="1971" idx="0"/>
            </p:cNvCxnSpPr>
            <p:nvPr/>
          </p:nvCxnSpPr>
          <p:spPr>
            <a:xfrm flipH="1" rot="-5400000">
              <a:off x="6334619" y="2340775"/>
              <a:ext cx="350700" cy="370200"/>
            </a:xfrm>
            <a:prstGeom prst="curvedConnector3">
              <a:avLst>
                <a:gd fmla="val 50000" name="adj1"/>
              </a:avLst>
            </a:prstGeom>
            <a:noFill/>
            <a:ln cap="flat" cmpd="sng" w="19050">
              <a:solidFill>
                <a:schemeClr val="dk2"/>
              </a:solidFill>
              <a:prstDash val="solid"/>
              <a:round/>
              <a:headEnd len="med" w="med" type="none"/>
              <a:tailEnd len="med" w="med" type="triangle"/>
            </a:ln>
          </p:spPr>
        </p:cxnSp>
      </p:grpSp>
      <p:grpSp>
        <p:nvGrpSpPr>
          <p:cNvPr id="1979" name="Google Shape;1979;p104"/>
          <p:cNvGrpSpPr/>
          <p:nvPr/>
        </p:nvGrpSpPr>
        <p:grpSpPr>
          <a:xfrm>
            <a:off x="406764" y="4149025"/>
            <a:ext cx="5580796" cy="345600"/>
            <a:chOff x="1674501" y="3615625"/>
            <a:chExt cx="5580796" cy="345600"/>
          </a:xfrm>
        </p:grpSpPr>
        <p:sp>
          <p:nvSpPr>
            <p:cNvPr id="1980" name="Google Shape;1980;p104"/>
            <p:cNvSpPr/>
            <p:nvPr/>
          </p:nvSpPr>
          <p:spPr>
            <a:xfrm>
              <a:off x="1674501"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81" name="Google Shape;1981;p104"/>
            <p:cNvSpPr/>
            <p:nvPr/>
          </p:nvSpPr>
          <p:spPr>
            <a:xfrm>
              <a:off x="2046215"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82" name="Google Shape;1982;p104"/>
            <p:cNvSpPr/>
            <p:nvPr/>
          </p:nvSpPr>
          <p:spPr>
            <a:xfrm>
              <a:off x="3161370"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83" name="Google Shape;1983;p104"/>
            <p:cNvSpPr/>
            <p:nvPr/>
          </p:nvSpPr>
          <p:spPr>
            <a:xfrm>
              <a:off x="3533084"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84" name="Google Shape;1984;p104"/>
            <p:cNvSpPr/>
            <p:nvPr/>
          </p:nvSpPr>
          <p:spPr>
            <a:xfrm>
              <a:off x="3904798"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85" name="Google Shape;1985;p104"/>
            <p:cNvSpPr/>
            <p:nvPr/>
          </p:nvSpPr>
          <p:spPr>
            <a:xfrm>
              <a:off x="2789656"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86" name="Google Shape;1986;p104"/>
            <p:cNvSpPr/>
            <p:nvPr/>
          </p:nvSpPr>
          <p:spPr>
            <a:xfrm>
              <a:off x="2417929"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87" name="Google Shape;1987;p104"/>
            <p:cNvSpPr/>
            <p:nvPr/>
          </p:nvSpPr>
          <p:spPr>
            <a:xfrm>
              <a:off x="4276501"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88" name="Google Shape;1988;p104"/>
            <p:cNvSpPr/>
            <p:nvPr/>
          </p:nvSpPr>
          <p:spPr>
            <a:xfrm>
              <a:off x="4648215"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89" name="Google Shape;1989;p104"/>
            <p:cNvSpPr/>
            <p:nvPr/>
          </p:nvSpPr>
          <p:spPr>
            <a:xfrm>
              <a:off x="5391643"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90" name="Google Shape;1990;p104"/>
            <p:cNvSpPr/>
            <p:nvPr/>
          </p:nvSpPr>
          <p:spPr>
            <a:xfrm>
              <a:off x="6135070"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91" name="Google Shape;1991;p104"/>
            <p:cNvSpPr/>
            <p:nvPr/>
          </p:nvSpPr>
          <p:spPr>
            <a:xfrm>
              <a:off x="6506784"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92" name="Google Shape;1992;p104"/>
            <p:cNvSpPr/>
            <p:nvPr/>
          </p:nvSpPr>
          <p:spPr>
            <a:xfrm>
              <a:off x="6878498"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93" name="Google Shape;1993;p104"/>
            <p:cNvSpPr/>
            <p:nvPr/>
          </p:nvSpPr>
          <p:spPr>
            <a:xfrm>
              <a:off x="5763357"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1994" name="Google Shape;1994;p104"/>
            <p:cNvSpPr/>
            <p:nvPr/>
          </p:nvSpPr>
          <p:spPr>
            <a:xfrm>
              <a:off x="5019929" y="36156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sp>
        <p:nvSpPr>
          <p:cNvPr id="1995" name="Google Shape;1995;p104"/>
          <p:cNvSpPr txBox="1"/>
          <p:nvPr/>
        </p:nvSpPr>
        <p:spPr>
          <a:xfrm>
            <a:off x="1755763" y="3712175"/>
            <a:ext cx="4200300" cy="130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Only size 1 problems remain, so we’re done.</a:t>
            </a:r>
            <a:endParaRPr/>
          </a:p>
        </p:txBody>
      </p:sp>
      <p:sp>
        <p:nvSpPr>
          <p:cNvPr id="1996" name="Google Shape;1996;p104"/>
          <p:cNvSpPr txBox="1"/>
          <p:nvPr/>
        </p:nvSpPr>
        <p:spPr>
          <a:xfrm>
            <a:off x="6324650" y="773950"/>
            <a:ext cx="2535600" cy="345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Roboto"/>
                <a:ea typeface="Roboto"/>
                <a:cs typeface="Roboto"/>
                <a:sym typeface="Roboto"/>
              </a:rPr>
              <a:t>Total work at each level:</a:t>
            </a:r>
            <a:endParaRPr sz="1600">
              <a:latin typeface="Roboto"/>
              <a:ea typeface="Roboto"/>
              <a:cs typeface="Roboto"/>
              <a:sym typeface="Roboto"/>
            </a:endParaRPr>
          </a:p>
        </p:txBody>
      </p:sp>
      <p:sp>
        <p:nvSpPr>
          <p:cNvPr id="1997" name="Google Shape;1997;p104"/>
          <p:cNvSpPr txBox="1"/>
          <p:nvPr/>
        </p:nvSpPr>
        <p:spPr>
          <a:xfrm>
            <a:off x="7434425" y="1184025"/>
            <a:ext cx="7476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900">
                <a:solidFill>
                  <a:srgbClr val="545454"/>
                </a:solidFill>
                <a:highlight>
                  <a:srgbClr val="FFFFFF"/>
                </a:highlight>
                <a:latin typeface="Roboto"/>
                <a:ea typeface="Roboto"/>
                <a:cs typeface="Roboto"/>
                <a:sym typeface="Roboto"/>
              </a:rPr>
              <a:t>≈ </a:t>
            </a:r>
            <a:r>
              <a:rPr lang="en" sz="1600">
                <a:latin typeface="Roboto"/>
                <a:ea typeface="Roboto"/>
                <a:cs typeface="Roboto"/>
                <a:sym typeface="Roboto"/>
              </a:rPr>
              <a:t>N</a:t>
            </a:r>
            <a:endParaRPr sz="1600">
              <a:latin typeface="Roboto"/>
              <a:ea typeface="Roboto"/>
              <a:cs typeface="Roboto"/>
              <a:sym typeface="Roboto"/>
            </a:endParaRPr>
          </a:p>
        </p:txBody>
      </p:sp>
      <p:sp>
        <p:nvSpPr>
          <p:cNvPr id="1998" name="Google Shape;1998;p104"/>
          <p:cNvSpPr txBox="1"/>
          <p:nvPr/>
        </p:nvSpPr>
        <p:spPr>
          <a:xfrm>
            <a:off x="6824825" y="1869825"/>
            <a:ext cx="18726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900">
                <a:solidFill>
                  <a:srgbClr val="545454"/>
                </a:solidFill>
                <a:highlight>
                  <a:srgbClr val="FFFFFF"/>
                </a:highlight>
                <a:latin typeface="Roboto"/>
                <a:ea typeface="Roboto"/>
                <a:cs typeface="Roboto"/>
                <a:sym typeface="Roboto"/>
              </a:rPr>
              <a:t>≈</a:t>
            </a:r>
            <a:r>
              <a:rPr lang="en" sz="1600">
                <a:latin typeface="Roboto"/>
                <a:ea typeface="Roboto"/>
                <a:cs typeface="Roboto"/>
                <a:sym typeface="Roboto"/>
              </a:rPr>
              <a:t>N/2 + </a:t>
            </a:r>
            <a:r>
              <a:rPr lang="en" sz="900">
                <a:solidFill>
                  <a:srgbClr val="545454"/>
                </a:solidFill>
                <a:highlight>
                  <a:srgbClr val="FFFFFF"/>
                </a:highlight>
                <a:latin typeface="Roboto"/>
                <a:ea typeface="Roboto"/>
                <a:cs typeface="Roboto"/>
                <a:sym typeface="Roboto"/>
              </a:rPr>
              <a:t>≈</a:t>
            </a:r>
            <a:r>
              <a:rPr lang="en" sz="1600">
                <a:latin typeface="Roboto"/>
                <a:ea typeface="Roboto"/>
                <a:cs typeface="Roboto"/>
                <a:sym typeface="Roboto"/>
              </a:rPr>
              <a:t>N/2 = </a:t>
            </a:r>
            <a:r>
              <a:rPr lang="en" sz="900">
                <a:solidFill>
                  <a:srgbClr val="545454"/>
                </a:solidFill>
                <a:highlight>
                  <a:srgbClr val="FFFFFF"/>
                </a:highlight>
                <a:latin typeface="Roboto"/>
                <a:ea typeface="Roboto"/>
                <a:cs typeface="Roboto"/>
                <a:sym typeface="Roboto"/>
              </a:rPr>
              <a:t>≈</a:t>
            </a:r>
            <a:r>
              <a:rPr lang="en" sz="1600">
                <a:latin typeface="Roboto"/>
                <a:ea typeface="Roboto"/>
                <a:cs typeface="Roboto"/>
                <a:sym typeface="Roboto"/>
              </a:rPr>
              <a:t>N</a:t>
            </a:r>
            <a:endParaRPr sz="1600">
              <a:latin typeface="Roboto"/>
              <a:ea typeface="Roboto"/>
              <a:cs typeface="Roboto"/>
              <a:sym typeface="Roboto"/>
            </a:endParaRPr>
          </a:p>
        </p:txBody>
      </p:sp>
      <p:sp>
        <p:nvSpPr>
          <p:cNvPr id="1999" name="Google Shape;1999;p104"/>
          <p:cNvSpPr txBox="1"/>
          <p:nvPr/>
        </p:nvSpPr>
        <p:spPr>
          <a:xfrm>
            <a:off x="6977225" y="2479425"/>
            <a:ext cx="18726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900">
                <a:solidFill>
                  <a:srgbClr val="545454"/>
                </a:solidFill>
                <a:highlight>
                  <a:srgbClr val="FFFFFF"/>
                </a:highlight>
                <a:latin typeface="Roboto"/>
                <a:ea typeface="Roboto"/>
                <a:cs typeface="Roboto"/>
                <a:sym typeface="Roboto"/>
              </a:rPr>
              <a:t>≈</a:t>
            </a:r>
            <a:r>
              <a:rPr lang="en" sz="1600">
                <a:latin typeface="Roboto"/>
                <a:ea typeface="Roboto"/>
                <a:cs typeface="Roboto"/>
                <a:sym typeface="Roboto"/>
              </a:rPr>
              <a:t>N/4 * 4 = </a:t>
            </a:r>
            <a:r>
              <a:rPr lang="en" sz="900">
                <a:solidFill>
                  <a:srgbClr val="545454"/>
                </a:solidFill>
                <a:highlight>
                  <a:srgbClr val="FFFFFF"/>
                </a:highlight>
                <a:latin typeface="Roboto"/>
                <a:ea typeface="Roboto"/>
                <a:cs typeface="Roboto"/>
                <a:sym typeface="Roboto"/>
              </a:rPr>
              <a:t>≈</a:t>
            </a:r>
            <a:r>
              <a:rPr lang="en" sz="1600">
                <a:latin typeface="Roboto"/>
                <a:ea typeface="Roboto"/>
                <a:cs typeface="Roboto"/>
                <a:sym typeface="Roboto"/>
              </a:rPr>
              <a:t>N</a:t>
            </a:r>
            <a:endParaRPr sz="1600">
              <a:latin typeface="Roboto"/>
              <a:ea typeface="Roboto"/>
              <a:cs typeface="Roboto"/>
              <a:sym typeface="Roboto"/>
            </a:endParaRPr>
          </a:p>
        </p:txBody>
      </p:sp>
      <p:sp>
        <p:nvSpPr>
          <p:cNvPr id="2000" name="Google Shape;2000;p104"/>
          <p:cNvSpPr txBox="1"/>
          <p:nvPr/>
        </p:nvSpPr>
        <p:spPr>
          <a:xfrm>
            <a:off x="6284675" y="3749400"/>
            <a:ext cx="2859300" cy="1239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latin typeface="Roboto"/>
                <a:ea typeface="Roboto"/>
                <a:cs typeface="Roboto"/>
                <a:sym typeface="Roboto"/>
              </a:rPr>
              <a:t>Overall runtime:</a:t>
            </a:r>
            <a:endParaRPr sz="1600">
              <a:latin typeface="Roboto"/>
              <a:ea typeface="Roboto"/>
              <a:cs typeface="Roboto"/>
              <a:sym typeface="Roboto"/>
            </a:endParaRPr>
          </a:p>
          <a:p>
            <a:pPr indent="0" lvl="0" marL="0" rtl="0" algn="l">
              <a:spcBef>
                <a:spcPts val="0"/>
              </a:spcBef>
              <a:spcAft>
                <a:spcPts val="0"/>
              </a:spcAft>
              <a:buNone/>
            </a:pPr>
            <a:r>
              <a:rPr lang="en" sz="1600">
                <a:latin typeface="Roboto"/>
                <a:ea typeface="Roboto"/>
                <a:cs typeface="Roboto"/>
                <a:sym typeface="Roboto"/>
              </a:rPr>
              <a:t>Θ(NH) where H = </a:t>
            </a:r>
            <a:r>
              <a:rPr lang="en" sz="1600">
                <a:solidFill>
                  <a:schemeClr val="dk1"/>
                </a:solidFill>
                <a:latin typeface="Roboto"/>
                <a:ea typeface="Roboto"/>
                <a:cs typeface="Roboto"/>
                <a:sym typeface="Roboto"/>
              </a:rPr>
              <a:t>Θ(</a:t>
            </a:r>
            <a:r>
              <a:rPr lang="en" sz="1600">
                <a:latin typeface="Roboto"/>
                <a:ea typeface="Roboto"/>
                <a:cs typeface="Roboto"/>
                <a:sym typeface="Roboto"/>
              </a:rPr>
              <a:t>log</a:t>
            </a:r>
            <a:r>
              <a:rPr lang="en" sz="1600">
                <a:latin typeface="Roboto"/>
                <a:ea typeface="Roboto"/>
                <a:cs typeface="Roboto"/>
                <a:sym typeface="Roboto"/>
              </a:rPr>
              <a:t> N)</a:t>
            </a:r>
            <a:endParaRPr sz="1600">
              <a:latin typeface="Roboto"/>
              <a:ea typeface="Roboto"/>
              <a:cs typeface="Roboto"/>
              <a:sym typeface="Roboto"/>
            </a:endParaRPr>
          </a:p>
          <a:p>
            <a:pPr indent="0" lvl="0" marL="0" rtl="0" algn="l">
              <a:spcBef>
                <a:spcPts val="0"/>
              </a:spcBef>
              <a:spcAft>
                <a:spcPts val="0"/>
              </a:spcAft>
              <a:buNone/>
            </a:pPr>
            <a:r>
              <a:t/>
            </a:r>
            <a:endParaRPr sz="1600">
              <a:latin typeface="Roboto"/>
              <a:ea typeface="Roboto"/>
              <a:cs typeface="Roboto"/>
              <a:sym typeface="Roboto"/>
            </a:endParaRPr>
          </a:p>
          <a:p>
            <a:pPr indent="0" lvl="0" marL="0" rtl="0" algn="l">
              <a:spcBef>
                <a:spcPts val="0"/>
              </a:spcBef>
              <a:spcAft>
                <a:spcPts val="0"/>
              </a:spcAft>
              <a:buNone/>
            </a:pPr>
            <a:r>
              <a:rPr lang="en" sz="1600">
                <a:latin typeface="Roboto"/>
                <a:ea typeface="Roboto"/>
                <a:cs typeface="Roboto"/>
                <a:sym typeface="Roboto"/>
              </a:rPr>
              <a:t>so: Θ(N log N)</a:t>
            </a:r>
            <a:endParaRPr sz="1600">
              <a:latin typeface="Roboto"/>
              <a:ea typeface="Roboto"/>
              <a:cs typeface="Roboto"/>
              <a:sym typeface="Roboto"/>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96"/>
                                        </p:tgtEl>
                                        <p:attrNameLst>
                                          <p:attrName>style.visibility</p:attrName>
                                        </p:attrNameLst>
                                      </p:cBhvr>
                                      <p:to>
                                        <p:strVal val="visible"/>
                                      </p:to>
                                    </p:set>
                                    <p:animEffect filter="fade" transition="in">
                                      <p:cBhvr>
                                        <p:cTn dur="1"/>
                                        <p:tgtEl>
                                          <p:spTgt spid="199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97"/>
                                        </p:tgtEl>
                                        <p:attrNameLst>
                                          <p:attrName>style.visibility</p:attrName>
                                        </p:attrNameLst>
                                      </p:cBhvr>
                                      <p:to>
                                        <p:strVal val="visible"/>
                                      </p:to>
                                    </p:set>
                                    <p:animEffect filter="fade" transition="in">
                                      <p:cBhvr>
                                        <p:cTn dur="1"/>
                                        <p:tgtEl>
                                          <p:spTgt spid="199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98"/>
                                        </p:tgtEl>
                                        <p:attrNameLst>
                                          <p:attrName>style.visibility</p:attrName>
                                        </p:attrNameLst>
                                      </p:cBhvr>
                                      <p:to>
                                        <p:strVal val="visible"/>
                                      </p:to>
                                    </p:set>
                                    <p:animEffect filter="fade" transition="in">
                                      <p:cBhvr>
                                        <p:cTn dur="1"/>
                                        <p:tgtEl>
                                          <p:spTgt spid="199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99"/>
                                        </p:tgtEl>
                                        <p:attrNameLst>
                                          <p:attrName>style.visibility</p:attrName>
                                        </p:attrNameLst>
                                      </p:cBhvr>
                                      <p:to>
                                        <p:strVal val="visible"/>
                                      </p:to>
                                    </p:set>
                                    <p:animEffect filter="fade" transition="in">
                                      <p:cBhvr>
                                        <p:cTn dur="1"/>
                                        <p:tgtEl>
                                          <p:spTgt spid="199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00"/>
                                        </p:tgtEl>
                                        <p:attrNameLst>
                                          <p:attrName>style.visibility</p:attrName>
                                        </p:attrNameLst>
                                      </p:cBhvr>
                                      <p:to>
                                        <p:strVal val="visible"/>
                                      </p:to>
                                    </p:set>
                                    <p:animEffect filter="fade" transition="in">
                                      <p:cBhvr>
                                        <p:cTn dur="1"/>
                                        <p:tgtEl>
                                          <p:spTgt spid="200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9DAF8"/>
        </a:solidFill>
      </p:bgPr>
    </p:bg>
    <p:spTree>
      <p:nvGrpSpPr>
        <p:cNvPr id="2004" name="Shape 2004"/>
        <p:cNvGrpSpPr/>
        <p:nvPr/>
      </p:nvGrpSpPr>
      <p:grpSpPr>
        <a:xfrm>
          <a:off x="0" y="0"/>
          <a:ext cx="0" cy="0"/>
          <a:chOff x="0" y="0"/>
          <a:chExt cx="0" cy="0"/>
        </a:xfrm>
      </p:grpSpPr>
      <p:sp>
        <p:nvSpPr>
          <p:cNvPr id="2005" name="Google Shape;2005;p105"/>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Worst Case: Pivot Always Lands at Beginning of Array</a:t>
            </a:r>
            <a:endParaRPr/>
          </a:p>
        </p:txBody>
      </p:sp>
      <p:grpSp>
        <p:nvGrpSpPr>
          <p:cNvPr id="2006" name="Google Shape;2006;p105"/>
          <p:cNvGrpSpPr/>
          <p:nvPr/>
        </p:nvGrpSpPr>
        <p:grpSpPr>
          <a:xfrm>
            <a:off x="4599288" y="799625"/>
            <a:ext cx="2235369" cy="345600"/>
            <a:chOff x="1779763" y="785725"/>
            <a:chExt cx="2235369" cy="345600"/>
          </a:xfrm>
        </p:grpSpPr>
        <p:sp>
          <p:nvSpPr>
            <p:cNvPr id="2007" name="Google Shape;2007;p105"/>
            <p:cNvSpPr/>
            <p:nvPr/>
          </p:nvSpPr>
          <p:spPr>
            <a:xfrm>
              <a:off x="1779763" y="7857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08" name="Google Shape;2008;p105"/>
            <p:cNvSpPr/>
            <p:nvPr/>
          </p:nvSpPr>
          <p:spPr>
            <a:xfrm>
              <a:off x="2151476"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09" name="Google Shape;2009;p105"/>
            <p:cNvSpPr/>
            <p:nvPr/>
          </p:nvSpPr>
          <p:spPr>
            <a:xfrm>
              <a:off x="2894904"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10" name="Google Shape;2010;p105"/>
            <p:cNvSpPr/>
            <p:nvPr/>
          </p:nvSpPr>
          <p:spPr>
            <a:xfrm>
              <a:off x="3638332"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11" name="Google Shape;2011;p105"/>
            <p:cNvSpPr/>
            <p:nvPr/>
          </p:nvSpPr>
          <p:spPr>
            <a:xfrm>
              <a:off x="3266618"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12" name="Google Shape;2012;p105"/>
            <p:cNvSpPr/>
            <p:nvPr/>
          </p:nvSpPr>
          <p:spPr>
            <a:xfrm>
              <a:off x="2523190"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grpSp>
        <p:nvGrpSpPr>
          <p:cNvPr id="2013" name="Google Shape;2013;p105"/>
          <p:cNvGrpSpPr/>
          <p:nvPr/>
        </p:nvGrpSpPr>
        <p:grpSpPr>
          <a:xfrm>
            <a:off x="4599288" y="1422792"/>
            <a:ext cx="2235369" cy="345600"/>
            <a:chOff x="1779763" y="1344828"/>
            <a:chExt cx="2235369" cy="345600"/>
          </a:xfrm>
        </p:grpSpPr>
        <p:sp>
          <p:nvSpPr>
            <p:cNvPr id="2014" name="Google Shape;2014;p105"/>
            <p:cNvSpPr/>
            <p:nvPr/>
          </p:nvSpPr>
          <p:spPr>
            <a:xfrm>
              <a:off x="1779763" y="1344828"/>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15" name="Google Shape;2015;p105"/>
            <p:cNvSpPr/>
            <p:nvPr/>
          </p:nvSpPr>
          <p:spPr>
            <a:xfrm>
              <a:off x="2151476" y="1344828"/>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16" name="Google Shape;2016;p105"/>
            <p:cNvSpPr/>
            <p:nvPr/>
          </p:nvSpPr>
          <p:spPr>
            <a:xfrm>
              <a:off x="2894904" y="1344828"/>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17" name="Google Shape;2017;p105"/>
            <p:cNvSpPr/>
            <p:nvPr/>
          </p:nvSpPr>
          <p:spPr>
            <a:xfrm>
              <a:off x="3638332" y="1344828"/>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18" name="Google Shape;2018;p105"/>
            <p:cNvSpPr/>
            <p:nvPr/>
          </p:nvSpPr>
          <p:spPr>
            <a:xfrm>
              <a:off x="3266618" y="1344828"/>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19" name="Google Shape;2019;p105"/>
            <p:cNvSpPr/>
            <p:nvPr/>
          </p:nvSpPr>
          <p:spPr>
            <a:xfrm>
              <a:off x="2523190" y="1344828"/>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grpSp>
        <p:nvGrpSpPr>
          <p:cNvPr id="2020" name="Google Shape;2020;p105"/>
          <p:cNvGrpSpPr/>
          <p:nvPr/>
        </p:nvGrpSpPr>
        <p:grpSpPr>
          <a:xfrm>
            <a:off x="4599288" y="2045958"/>
            <a:ext cx="2235369" cy="345600"/>
            <a:chOff x="1779763" y="2089175"/>
            <a:chExt cx="2235369" cy="345600"/>
          </a:xfrm>
        </p:grpSpPr>
        <p:sp>
          <p:nvSpPr>
            <p:cNvPr id="2021" name="Google Shape;2021;p105"/>
            <p:cNvSpPr/>
            <p:nvPr/>
          </p:nvSpPr>
          <p:spPr>
            <a:xfrm>
              <a:off x="1779763" y="208917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22" name="Google Shape;2022;p105"/>
            <p:cNvSpPr/>
            <p:nvPr/>
          </p:nvSpPr>
          <p:spPr>
            <a:xfrm>
              <a:off x="2151476" y="208917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23" name="Google Shape;2023;p105"/>
            <p:cNvSpPr/>
            <p:nvPr/>
          </p:nvSpPr>
          <p:spPr>
            <a:xfrm>
              <a:off x="2894904" y="208917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24" name="Google Shape;2024;p105"/>
            <p:cNvSpPr/>
            <p:nvPr/>
          </p:nvSpPr>
          <p:spPr>
            <a:xfrm>
              <a:off x="3638332" y="208917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25" name="Google Shape;2025;p105"/>
            <p:cNvSpPr/>
            <p:nvPr/>
          </p:nvSpPr>
          <p:spPr>
            <a:xfrm>
              <a:off x="3266618" y="208917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26" name="Google Shape;2026;p105"/>
            <p:cNvSpPr/>
            <p:nvPr/>
          </p:nvSpPr>
          <p:spPr>
            <a:xfrm>
              <a:off x="2523190" y="208917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grpSp>
        <p:nvGrpSpPr>
          <p:cNvPr id="2027" name="Google Shape;2027;p105"/>
          <p:cNvGrpSpPr/>
          <p:nvPr/>
        </p:nvGrpSpPr>
        <p:grpSpPr>
          <a:xfrm>
            <a:off x="4599288" y="2669125"/>
            <a:ext cx="2235369" cy="345600"/>
            <a:chOff x="1779763" y="2764075"/>
            <a:chExt cx="2235369" cy="345600"/>
          </a:xfrm>
        </p:grpSpPr>
        <p:sp>
          <p:nvSpPr>
            <p:cNvPr id="2028" name="Google Shape;2028;p105"/>
            <p:cNvSpPr/>
            <p:nvPr/>
          </p:nvSpPr>
          <p:spPr>
            <a:xfrm>
              <a:off x="1779763" y="276407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29" name="Google Shape;2029;p105"/>
            <p:cNvSpPr/>
            <p:nvPr/>
          </p:nvSpPr>
          <p:spPr>
            <a:xfrm>
              <a:off x="2151476" y="276407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30" name="Google Shape;2030;p105"/>
            <p:cNvSpPr/>
            <p:nvPr/>
          </p:nvSpPr>
          <p:spPr>
            <a:xfrm>
              <a:off x="2894904" y="276407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31" name="Google Shape;2031;p105"/>
            <p:cNvSpPr/>
            <p:nvPr/>
          </p:nvSpPr>
          <p:spPr>
            <a:xfrm>
              <a:off x="3638332" y="276407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32" name="Google Shape;2032;p105"/>
            <p:cNvSpPr/>
            <p:nvPr/>
          </p:nvSpPr>
          <p:spPr>
            <a:xfrm>
              <a:off x="3266618" y="276407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33" name="Google Shape;2033;p105"/>
            <p:cNvSpPr/>
            <p:nvPr/>
          </p:nvSpPr>
          <p:spPr>
            <a:xfrm>
              <a:off x="2523190" y="276407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grpSp>
        <p:nvGrpSpPr>
          <p:cNvPr id="2034" name="Google Shape;2034;p105"/>
          <p:cNvGrpSpPr/>
          <p:nvPr/>
        </p:nvGrpSpPr>
        <p:grpSpPr>
          <a:xfrm>
            <a:off x="4599288" y="3292292"/>
            <a:ext cx="2235369" cy="345600"/>
            <a:chOff x="1779763" y="3475577"/>
            <a:chExt cx="2235369" cy="345600"/>
          </a:xfrm>
        </p:grpSpPr>
        <p:sp>
          <p:nvSpPr>
            <p:cNvPr id="2035" name="Google Shape;2035;p105"/>
            <p:cNvSpPr/>
            <p:nvPr/>
          </p:nvSpPr>
          <p:spPr>
            <a:xfrm>
              <a:off x="1779763" y="3475577"/>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36" name="Google Shape;2036;p105"/>
            <p:cNvSpPr/>
            <p:nvPr/>
          </p:nvSpPr>
          <p:spPr>
            <a:xfrm>
              <a:off x="2151476" y="3475577"/>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37" name="Google Shape;2037;p105"/>
            <p:cNvSpPr/>
            <p:nvPr/>
          </p:nvSpPr>
          <p:spPr>
            <a:xfrm>
              <a:off x="2894904" y="3475577"/>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38" name="Google Shape;2038;p105"/>
            <p:cNvSpPr/>
            <p:nvPr/>
          </p:nvSpPr>
          <p:spPr>
            <a:xfrm>
              <a:off x="3638332" y="3475577"/>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39" name="Google Shape;2039;p105"/>
            <p:cNvSpPr/>
            <p:nvPr/>
          </p:nvSpPr>
          <p:spPr>
            <a:xfrm>
              <a:off x="3266618" y="3475577"/>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40" name="Google Shape;2040;p105"/>
            <p:cNvSpPr/>
            <p:nvPr/>
          </p:nvSpPr>
          <p:spPr>
            <a:xfrm>
              <a:off x="2523190" y="3475577"/>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grpSp>
        <p:nvGrpSpPr>
          <p:cNvPr id="2041" name="Google Shape;2041;p105"/>
          <p:cNvGrpSpPr/>
          <p:nvPr/>
        </p:nvGrpSpPr>
        <p:grpSpPr>
          <a:xfrm>
            <a:off x="4599288" y="3915458"/>
            <a:ext cx="2235369" cy="345600"/>
            <a:chOff x="1779763" y="4067525"/>
            <a:chExt cx="2235369" cy="345600"/>
          </a:xfrm>
        </p:grpSpPr>
        <p:sp>
          <p:nvSpPr>
            <p:cNvPr id="2042" name="Google Shape;2042;p105"/>
            <p:cNvSpPr/>
            <p:nvPr/>
          </p:nvSpPr>
          <p:spPr>
            <a:xfrm>
              <a:off x="1779763" y="40675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43" name="Google Shape;2043;p105"/>
            <p:cNvSpPr/>
            <p:nvPr/>
          </p:nvSpPr>
          <p:spPr>
            <a:xfrm>
              <a:off x="2151476" y="40675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44" name="Google Shape;2044;p105"/>
            <p:cNvSpPr/>
            <p:nvPr/>
          </p:nvSpPr>
          <p:spPr>
            <a:xfrm>
              <a:off x="2894904" y="40675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45" name="Google Shape;2045;p105"/>
            <p:cNvSpPr/>
            <p:nvPr/>
          </p:nvSpPr>
          <p:spPr>
            <a:xfrm>
              <a:off x="3638332" y="40675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46" name="Google Shape;2046;p105"/>
            <p:cNvSpPr/>
            <p:nvPr/>
          </p:nvSpPr>
          <p:spPr>
            <a:xfrm>
              <a:off x="3266618" y="40675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47" name="Google Shape;2047;p105"/>
            <p:cNvSpPr/>
            <p:nvPr/>
          </p:nvSpPr>
          <p:spPr>
            <a:xfrm>
              <a:off x="2523190" y="40675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grpSp>
        <p:nvGrpSpPr>
          <p:cNvPr id="2048" name="Google Shape;2048;p105"/>
          <p:cNvGrpSpPr/>
          <p:nvPr/>
        </p:nvGrpSpPr>
        <p:grpSpPr>
          <a:xfrm>
            <a:off x="4599288" y="4538625"/>
            <a:ext cx="2235369" cy="345600"/>
            <a:chOff x="1779763" y="4677125"/>
            <a:chExt cx="2235369" cy="345600"/>
          </a:xfrm>
        </p:grpSpPr>
        <p:sp>
          <p:nvSpPr>
            <p:cNvPr id="2049" name="Google Shape;2049;p105"/>
            <p:cNvSpPr/>
            <p:nvPr/>
          </p:nvSpPr>
          <p:spPr>
            <a:xfrm>
              <a:off x="1779763" y="46771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50" name="Google Shape;2050;p105"/>
            <p:cNvSpPr/>
            <p:nvPr/>
          </p:nvSpPr>
          <p:spPr>
            <a:xfrm>
              <a:off x="2151476" y="46771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51" name="Google Shape;2051;p105"/>
            <p:cNvSpPr/>
            <p:nvPr/>
          </p:nvSpPr>
          <p:spPr>
            <a:xfrm>
              <a:off x="2894904" y="46771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52" name="Google Shape;2052;p105"/>
            <p:cNvSpPr/>
            <p:nvPr/>
          </p:nvSpPr>
          <p:spPr>
            <a:xfrm>
              <a:off x="3638332" y="46771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53" name="Google Shape;2053;p105"/>
            <p:cNvSpPr/>
            <p:nvPr/>
          </p:nvSpPr>
          <p:spPr>
            <a:xfrm>
              <a:off x="3266618" y="46771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54" name="Google Shape;2054;p105"/>
            <p:cNvSpPr/>
            <p:nvPr/>
          </p:nvSpPr>
          <p:spPr>
            <a:xfrm>
              <a:off x="2523190" y="46771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cxnSp>
        <p:nvCxnSpPr>
          <p:cNvPr id="2055" name="Google Shape;2055;p105"/>
          <p:cNvCxnSpPr>
            <a:stCxn id="2007" idx="2"/>
            <a:endCxn id="2014" idx="0"/>
          </p:cNvCxnSpPr>
          <p:nvPr/>
        </p:nvCxnSpPr>
        <p:spPr>
          <a:xfrm>
            <a:off x="4787687" y="1145225"/>
            <a:ext cx="0" cy="277500"/>
          </a:xfrm>
          <a:prstGeom prst="straightConnector1">
            <a:avLst/>
          </a:prstGeom>
          <a:noFill/>
          <a:ln cap="flat" cmpd="sng" w="19050">
            <a:solidFill>
              <a:schemeClr val="dk2"/>
            </a:solidFill>
            <a:prstDash val="solid"/>
            <a:round/>
            <a:headEnd len="med" w="med" type="none"/>
            <a:tailEnd len="med" w="med" type="triangle"/>
          </a:ln>
        </p:spPr>
      </p:cxnSp>
      <p:cxnSp>
        <p:nvCxnSpPr>
          <p:cNvPr id="2056" name="Google Shape;2056;p105"/>
          <p:cNvCxnSpPr>
            <a:endCxn id="2022" idx="0"/>
          </p:cNvCxnSpPr>
          <p:nvPr/>
        </p:nvCxnSpPr>
        <p:spPr>
          <a:xfrm>
            <a:off x="5159401" y="1768458"/>
            <a:ext cx="0" cy="277500"/>
          </a:xfrm>
          <a:prstGeom prst="straightConnector1">
            <a:avLst/>
          </a:prstGeom>
          <a:noFill/>
          <a:ln cap="flat" cmpd="sng" w="19050">
            <a:solidFill>
              <a:schemeClr val="dk2"/>
            </a:solidFill>
            <a:prstDash val="solid"/>
            <a:round/>
            <a:headEnd len="med" w="med" type="none"/>
            <a:tailEnd len="med" w="med" type="triangle"/>
          </a:ln>
        </p:spPr>
      </p:cxnSp>
      <p:cxnSp>
        <p:nvCxnSpPr>
          <p:cNvPr id="2057" name="Google Shape;2057;p105"/>
          <p:cNvCxnSpPr>
            <a:stCxn id="2026" idx="2"/>
            <a:endCxn id="2033" idx="0"/>
          </p:cNvCxnSpPr>
          <p:nvPr/>
        </p:nvCxnSpPr>
        <p:spPr>
          <a:xfrm>
            <a:off x="5531115" y="2391558"/>
            <a:ext cx="0" cy="277500"/>
          </a:xfrm>
          <a:prstGeom prst="straightConnector1">
            <a:avLst/>
          </a:prstGeom>
          <a:noFill/>
          <a:ln cap="flat" cmpd="sng" w="19050">
            <a:solidFill>
              <a:schemeClr val="dk2"/>
            </a:solidFill>
            <a:prstDash val="solid"/>
            <a:round/>
            <a:headEnd len="med" w="med" type="none"/>
            <a:tailEnd len="med" w="med" type="triangle"/>
          </a:ln>
        </p:spPr>
      </p:cxnSp>
      <p:cxnSp>
        <p:nvCxnSpPr>
          <p:cNvPr id="2058" name="Google Shape;2058;p105"/>
          <p:cNvCxnSpPr>
            <a:endCxn id="2037" idx="0"/>
          </p:cNvCxnSpPr>
          <p:nvPr/>
        </p:nvCxnSpPr>
        <p:spPr>
          <a:xfrm>
            <a:off x="5902829" y="3014792"/>
            <a:ext cx="0" cy="277500"/>
          </a:xfrm>
          <a:prstGeom prst="straightConnector1">
            <a:avLst/>
          </a:prstGeom>
          <a:noFill/>
          <a:ln cap="flat" cmpd="sng" w="19050">
            <a:solidFill>
              <a:schemeClr val="dk2"/>
            </a:solidFill>
            <a:prstDash val="solid"/>
            <a:round/>
            <a:headEnd len="med" w="med" type="none"/>
            <a:tailEnd len="med" w="med" type="triangle"/>
          </a:ln>
        </p:spPr>
      </p:cxnSp>
      <p:cxnSp>
        <p:nvCxnSpPr>
          <p:cNvPr id="2059" name="Google Shape;2059;p105"/>
          <p:cNvCxnSpPr>
            <a:endCxn id="2046" idx="0"/>
          </p:cNvCxnSpPr>
          <p:nvPr/>
        </p:nvCxnSpPr>
        <p:spPr>
          <a:xfrm>
            <a:off x="6274543" y="3637958"/>
            <a:ext cx="0" cy="277500"/>
          </a:xfrm>
          <a:prstGeom prst="straightConnector1">
            <a:avLst/>
          </a:prstGeom>
          <a:noFill/>
          <a:ln cap="flat" cmpd="sng" w="19050">
            <a:solidFill>
              <a:schemeClr val="dk2"/>
            </a:solidFill>
            <a:prstDash val="solid"/>
            <a:round/>
            <a:headEnd len="med" w="med" type="none"/>
            <a:tailEnd len="med" w="med" type="triangle"/>
          </a:ln>
        </p:spPr>
      </p:cxnSp>
      <p:cxnSp>
        <p:nvCxnSpPr>
          <p:cNvPr id="2060" name="Google Shape;2060;p105"/>
          <p:cNvCxnSpPr>
            <a:endCxn id="2052" idx="0"/>
          </p:cNvCxnSpPr>
          <p:nvPr/>
        </p:nvCxnSpPr>
        <p:spPr>
          <a:xfrm>
            <a:off x="6646257" y="4261125"/>
            <a:ext cx="0" cy="277500"/>
          </a:xfrm>
          <a:prstGeom prst="straightConnector1">
            <a:avLst/>
          </a:prstGeom>
          <a:noFill/>
          <a:ln cap="flat" cmpd="sng" w="19050">
            <a:solidFill>
              <a:schemeClr val="dk2"/>
            </a:solidFill>
            <a:prstDash val="solid"/>
            <a:round/>
            <a:headEnd len="med" w="med" type="none"/>
            <a:tailEnd len="med" w="med" type="triangle"/>
          </a:ln>
        </p:spPr>
      </p:cxnSp>
      <p:sp>
        <p:nvSpPr>
          <p:cNvPr id="2061" name="Google Shape;2061;p105"/>
          <p:cNvSpPr txBox="1"/>
          <p:nvPr>
            <p:ph idx="1" type="body"/>
          </p:nvPr>
        </p:nvSpPr>
        <p:spPr>
          <a:xfrm>
            <a:off x="243000" y="556500"/>
            <a:ext cx="4103400" cy="41538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Give an example of an array that would follow the pattern to the right.</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What is the runtime Θ(∙)?</a:t>
            </a:r>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5" name="Shape 2065"/>
        <p:cNvGrpSpPr/>
        <p:nvPr/>
      </p:nvGrpSpPr>
      <p:grpSpPr>
        <a:xfrm>
          <a:off x="0" y="0"/>
          <a:ext cx="0" cy="0"/>
          <a:chOff x="0" y="0"/>
          <a:chExt cx="0" cy="0"/>
        </a:xfrm>
      </p:grpSpPr>
      <p:sp>
        <p:nvSpPr>
          <p:cNvPr id="2066" name="Google Shape;2066;p10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Worst Case</a:t>
            </a:r>
            <a:r>
              <a:rPr lang="en"/>
              <a:t>: Pivot Always Lands at Beginning of Array</a:t>
            </a:r>
            <a:endParaRPr/>
          </a:p>
        </p:txBody>
      </p:sp>
      <p:grpSp>
        <p:nvGrpSpPr>
          <p:cNvPr id="2067" name="Google Shape;2067;p106"/>
          <p:cNvGrpSpPr/>
          <p:nvPr/>
        </p:nvGrpSpPr>
        <p:grpSpPr>
          <a:xfrm>
            <a:off x="4599288" y="799625"/>
            <a:ext cx="2235369" cy="345600"/>
            <a:chOff x="1779763" y="785725"/>
            <a:chExt cx="2235369" cy="345600"/>
          </a:xfrm>
        </p:grpSpPr>
        <p:sp>
          <p:nvSpPr>
            <p:cNvPr id="2068" name="Google Shape;2068;p106"/>
            <p:cNvSpPr/>
            <p:nvPr/>
          </p:nvSpPr>
          <p:spPr>
            <a:xfrm>
              <a:off x="1779763" y="7857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69" name="Google Shape;2069;p106"/>
            <p:cNvSpPr/>
            <p:nvPr/>
          </p:nvSpPr>
          <p:spPr>
            <a:xfrm>
              <a:off x="2151476"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70" name="Google Shape;2070;p106"/>
            <p:cNvSpPr/>
            <p:nvPr/>
          </p:nvSpPr>
          <p:spPr>
            <a:xfrm>
              <a:off x="2894904"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71" name="Google Shape;2071;p106"/>
            <p:cNvSpPr/>
            <p:nvPr/>
          </p:nvSpPr>
          <p:spPr>
            <a:xfrm>
              <a:off x="3638332"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72" name="Google Shape;2072;p106"/>
            <p:cNvSpPr/>
            <p:nvPr/>
          </p:nvSpPr>
          <p:spPr>
            <a:xfrm>
              <a:off x="3266618"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73" name="Google Shape;2073;p106"/>
            <p:cNvSpPr/>
            <p:nvPr/>
          </p:nvSpPr>
          <p:spPr>
            <a:xfrm>
              <a:off x="2523190" y="78572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grpSp>
        <p:nvGrpSpPr>
          <p:cNvPr id="2074" name="Google Shape;2074;p106"/>
          <p:cNvGrpSpPr/>
          <p:nvPr/>
        </p:nvGrpSpPr>
        <p:grpSpPr>
          <a:xfrm>
            <a:off x="4599288" y="1422792"/>
            <a:ext cx="2235369" cy="345600"/>
            <a:chOff x="1779763" y="1344828"/>
            <a:chExt cx="2235369" cy="345600"/>
          </a:xfrm>
        </p:grpSpPr>
        <p:sp>
          <p:nvSpPr>
            <p:cNvPr id="2075" name="Google Shape;2075;p106"/>
            <p:cNvSpPr/>
            <p:nvPr/>
          </p:nvSpPr>
          <p:spPr>
            <a:xfrm>
              <a:off x="1779763" y="1344828"/>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76" name="Google Shape;2076;p106"/>
            <p:cNvSpPr/>
            <p:nvPr/>
          </p:nvSpPr>
          <p:spPr>
            <a:xfrm>
              <a:off x="2151476" y="1344828"/>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77" name="Google Shape;2077;p106"/>
            <p:cNvSpPr/>
            <p:nvPr/>
          </p:nvSpPr>
          <p:spPr>
            <a:xfrm>
              <a:off x="2894904" y="1344828"/>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78" name="Google Shape;2078;p106"/>
            <p:cNvSpPr/>
            <p:nvPr/>
          </p:nvSpPr>
          <p:spPr>
            <a:xfrm>
              <a:off x="3638332" y="1344828"/>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79" name="Google Shape;2079;p106"/>
            <p:cNvSpPr/>
            <p:nvPr/>
          </p:nvSpPr>
          <p:spPr>
            <a:xfrm>
              <a:off x="3266618" y="1344828"/>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80" name="Google Shape;2080;p106"/>
            <p:cNvSpPr/>
            <p:nvPr/>
          </p:nvSpPr>
          <p:spPr>
            <a:xfrm>
              <a:off x="2523190" y="1344828"/>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grpSp>
        <p:nvGrpSpPr>
          <p:cNvPr id="2081" name="Google Shape;2081;p106"/>
          <p:cNvGrpSpPr/>
          <p:nvPr/>
        </p:nvGrpSpPr>
        <p:grpSpPr>
          <a:xfrm>
            <a:off x="4599288" y="2045958"/>
            <a:ext cx="2235369" cy="345600"/>
            <a:chOff x="1779763" y="2089175"/>
            <a:chExt cx="2235369" cy="345600"/>
          </a:xfrm>
        </p:grpSpPr>
        <p:sp>
          <p:nvSpPr>
            <p:cNvPr id="2082" name="Google Shape;2082;p106"/>
            <p:cNvSpPr/>
            <p:nvPr/>
          </p:nvSpPr>
          <p:spPr>
            <a:xfrm>
              <a:off x="1779763" y="208917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83" name="Google Shape;2083;p106"/>
            <p:cNvSpPr/>
            <p:nvPr/>
          </p:nvSpPr>
          <p:spPr>
            <a:xfrm>
              <a:off x="2151476" y="208917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84" name="Google Shape;2084;p106"/>
            <p:cNvSpPr/>
            <p:nvPr/>
          </p:nvSpPr>
          <p:spPr>
            <a:xfrm>
              <a:off x="2894904" y="208917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85" name="Google Shape;2085;p106"/>
            <p:cNvSpPr/>
            <p:nvPr/>
          </p:nvSpPr>
          <p:spPr>
            <a:xfrm>
              <a:off x="3638332" y="208917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86" name="Google Shape;2086;p106"/>
            <p:cNvSpPr/>
            <p:nvPr/>
          </p:nvSpPr>
          <p:spPr>
            <a:xfrm>
              <a:off x="3266618" y="208917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87" name="Google Shape;2087;p106"/>
            <p:cNvSpPr/>
            <p:nvPr/>
          </p:nvSpPr>
          <p:spPr>
            <a:xfrm>
              <a:off x="2523190" y="208917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grpSp>
        <p:nvGrpSpPr>
          <p:cNvPr id="2088" name="Google Shape;2088;p106"/>
          <p:cNvGrpSpPr/>
          <p:nvPr/>
        </p:nvGrpSpPr>
        <p:grpSpPr>
          <a:xfrm>
            <a:off x="4599288" y="2669125"/>
            <a:ext cx="2235369" cy="345600"/>
            <a:chOff x="1779763" y="2764075"/>
            <a:chExt cx="2235369" cy="345600"/>
          </a:xfrm>
        </p:grpSpPr>
        <p:sp>
          <p:nvSpPr>
            <p:cNvPr id="2089" name="Google Shape;2089;p106"/>
            <p:cNvSpPr/>
            <p:nvPr/>
          </p:nvSpPr>
          <p:spPr>
            <a:xfrm>
              <a:off x="1779763" y="276407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90" name="Google Shape;2090;p106"/>
            <p:cNvSpPr/>
            <p:nvPr/>
          </p:nvSpPr>
          <p:spPr>
            <a:xfrm>
              <a:off x="2151476" y="276407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91" name="Google Shape;2091;p106"/>
            <p:cNvSpPr/>
            <p:nvPr/>
          </p:nvSpPr>
          <p:spPr>
            <a:xfrm>
              <a:off x="2894904" y="276407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92" name="Google Shape;2092;p106"/>
            <p:cNvSpPr/>
            <p:nvPr/>
          </p:nvSpPr>
          <p:spPr>
            <a:xfrm>
              <a:off x="3638332" y="276407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93" name="Google Shape;2093;p106"/>
            <p:cNvSpPr/>
            <p:nvPr/>
          </p:nvSpPr>
          <p:spPr>
            <a:xfrm>
              <a:off x="3266618" y="2764075"/>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94" name="Google Shape;2094;p106"/>
            <p:cNvSpPr/>
            <p:nvPr/>
          </p:nvSpPr>
          <p:spPr>
            <a:xfrm>
              <a:off x="2523190" y="276407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grpSp>
        <p:nvGrpSpPr>
          <p:cNvPr id="2095" name="Google Shape;2095;p106"/>
          <p:cNvGrpSpPr/>
          <p:nvPr/>
        </p:nvGrpSpPr>
        <p:grpSpPr>
          <a:xfrm>
            <a:off x="4599288" y="3292292"/>
            <a:ext cx="2235369" cy="345600"/>
            <a:chOff x="1779763" y="3475577"/>
            <a:chExt cx="2235369" cy="345600"/>
          </a:xfrm>
        </p:grpSpPr>
        <p:sp>
          <p:nvSpPr>
            <p:cNvPr id="2096" name="Google Shape;2096;p106"/>
            <p:cNvSpPr/>
            <p:nvPr/>
          </p:nvSpPr>
          <p:spPr>
            <a:xfrm>
              <a:off x="1779763" y="3475577"/>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97" name="Google Shape;2097;p106"/>
            <p:cNvSpPr/>
            <p:nvPr/>
          </p:nvSpPr>
          <p:spPr>
            <a:xfrm>
              <a:off x="2151476" y="3475577"/>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98" name="Google Shape;2098;p106"/>
            <p:cNvSpPr/>
            <p:nvPr/>
          </p:nvSpPr>
          <p:spPr>
            <a:xfrm>
              <a:off x="2894904" y="3475577"/>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099" name="Google Shape;2099;p106"/>
            <p:cNvSpPr/>
            <p:nvPr/>
          </p:nvSpPr>
          <p:spPr>
            <a:xfrm>
              <a:off x="3638332" y="3475577"/>
              <a:ext cx="3768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00" name="Google Shape;2100;p106"/>
            <p:cNvSpPr/>
            <p:nvPr/>
          </p:nvSpPr>
          <p:spPr>
            <a:xfrm>
              <a:off x="3266618" y="3475577"/>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01" name="Google Shape;2101;p106"/>
            <p:cNvSpPr/>
            <p:nvPr/>
          </p:nvSpPr>
          <p:spPr>
            <a:xfrm>
              <a:off x="2523190" y="3475577"/>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grpSp>
        <p:nvGrpSpPr>
          <p:cNvPr id="2102" name="Google Shape;2102;p106"/>
          <p:cNvGrpSpPr/>
          <p:nvPr/>
        </p:nvGrpSpPr>
        <p:grpSpPr>
          <a:xfrm>
            <a:off x="4599288" y="3915458"/>
            <a:ext cx="2235369" cy="345600"/>
            <a:chOff x="1779763" y="4067525"/>
            <a:chExt cx="2235369" cy="345600"/>
          </a:xfrm>
        </p:grpSpPr>
        <p:sp>
          <p:nvSpPr>
            <p:cNvPr id="2103" name="Google Shape;2103;p106"/>
            <p:cNvSpPr/>
            <p:nvPr/>
          </p:nvSpPr>
          <p:spPr>
            <a:xfrm>
              <a:off x="1779763" y="40675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04" name="Google Shape;2104;p106"/>
            <p:cNvSpPr/>
            <p:nvPr/>
          </p:nvSpPr>
          <p:spPr>
            <a:xfrm>
              <a:off x="2151476" y="40675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05" name="Google Shape;2105;p106"/>
            <p:cNvSpPr/>
            <p:nvPr/>
          </p:nvSpPr>
          <p:spPr>
            <a:xfrm>
              <a:off x="2894904" y="40675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06" name="Google Shape;2106;p106"/>
            <p:cNvSpPr/>
            <p:nvPr/>
          </p:nvSpPr>
          <p:spPr>
            <a:xfrm>
              <a:off x="3638332" y="4067525"/>
              <a:ext cx="376800" cy="3456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07" name="Google Shape;2107;p106"/>
            <p:cNvSpPr/>
            <p:nvPr/>
          </p:nvSpPr>
          <p:spPr>
            <a:xfrm>
              <a:off x="3266618" y="40675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08" name="Google Shape;2108;p106"/>
            <p:cNvSpPr/>
            <p:nvPr/>
          </p:nvSpPr>
          <p:spPr>
            <a:xfrm>
              <a:off x="2523190" y="40675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grpSp>
        <p:nvGrpSpPr>
          <p:cNvPr id="2109" name="Google Shape;2109;p106"/>
          <p:cNvGrpSpPr/>
          <p:nvPr/>
        </p:nvGrpSpPr>
        <p:grpSpPr>
          <a:xfrm>
            <a:off x="4599288" y="4538625"/>
            <a:ext cx="2235369" cy="345600"/>
            <a:chOff x="1779763" y="4677125"/>
            <a:chExt cx="2235369" cy="345600"/>
          </a:xfrm>
        </p:grpSpPr>
        <p:sp>
          <p:nvSpPr>
            <p:cNvPr id="2110" name="Google Shape;2110;p106"/>
            <p:cNvSpPr/>
            <p:nvPr/>
          </p:nvSpPr>
          <p:spPr>
            <a:xfrm>
              <a:off x="1779763" y="46771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11" name="Google Shape;2111;p106"/>
            <p:cNvSpPr/>
            <p:nvPr/>
          </p:nvSpPr>
          <p:spPr>
            <a:xfrm>
              <a:off x="2151476" y="46771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12" name="Google Shape;2112;p106"/>
            <p:cNvSpPr/>
            <p:nvPr/>
          </p:nvSpPr>
          <p:spPr>
            <a:xfrm>
              <a:off x="2894904" y="46771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13" name="Google Shape;2113;p106"/>
            <p:cNvSpPr/>
            <p:nvPr/>
          </p:nvSpPr>
          <p:spPr>
            <a:xfrm>
              <a:off x="3638332" y="46771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14" name="Google Shape;2114;p106"/>
            <p:cNvSpPr/>
            <p:nvPr/>
          </p:nvSpPr>
          <p:spPr>
            <a:xfrm>
              <a:off x="3266618" y="46771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15" name="Google Shape;2115;p106"/>
            <p:cNvSpPr/>
            <p:nvPr/>
          </p:nvSpPr>
          <p:spPr>
            <a:xfrm>
              <a:off x="2523190" y="4677125"/>
              <a:ext cx="376800" cy="3456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cxnSp>
        <p:nvCxnSpPr>
          <p:cNvPr id="2116" name="Google Shape;2116;p106"/>
          <p:cNvCxnSpPr>
            <a:stCxn id="2068" idx="2"/>
            <a:endCxn id="2075" idx="0"/>
          </p:cNvCxnSpPr>
          <p:nvPr/>
        </p:nvCxnSpPr>
        <p:spPr>
          <a:xfrm>
            <a:off x="4787687" y="1145225"/>
            <a:ext cx="0" cy="277500"/>
          </a:xfrm>
          <a:prstGeom prst="straightConnector1">
            <a:avLst/>
          </a:prstGeom>
          <a:noFill/>
          <a:ln cap="flat" cmpd="sng" w="19050">
            <a:solidFill>
              <a:schemeClr val="dk2"/>
            </a:solidFill>
            <a:prstDash val="solid"/>
            <a:round/>
            <a:headEnd len="med" w="med" type="none"/>
            <a:tailEnd len="med" w="med" type="triangle"/>
          </a:ln>
        </p:spPr>
      </p:cxnSp>
      <p:cxnSp>
        <p:nvCxnSpPr>
          <p:cNvPr id="2117" name="Google Shape;2117;p106"/>
          <p:cNvCxnSpPr>
            <a:endCxn id="2083" idx="0"/>
          </p:cNvCxnSpPr>
          <p:nvPr/>
        </p:nvCxnSpPr>
        <p:spPr>
          <a:xfrm>
            <a:off x="5159401" y="1768458"/>
            <a:ext cx="0" cy="277500"/>
          </a:xfrm>
          <a:prstGeom prst="straightConnector1">
            <a:avLst/>
          </a:prstGeom>
          <a:noFill/>
          <a:ln cap="flat" cmpd="sng" w="19050">
            <a:solidFill>
              <a:schemeClr val="dk2"/>
            </a:solidFill>
            <a:prstDash val="solid"/>
            <a:round/>
            <a:headEnd len="med" w="med" type="none"/>
            <a:tailEnd len="med" w="med" type="triangle"/>
          </a:ln>
        </p:spPr>
      </p:cxnSp>
      <p:cxnSp>
        <p:nvCxnSpPr>
          <p:cNvPr id="2118" name="Google Shape;2118;p106"/>
          <p:cNvCxnSpPr>
            <a:stCxn id="2087" idx="2"/>
            <a:endCxn id="2094" idx="0"/>
          </p:cNvCxnSpPr>
          <p:nvPr/>
        </p:nvCxnSpPr>
        <p:spPr>
          <a:xfrm>
            <a:off x="5531115" y="2391558"/>
            <a:ext cx="0" cy="277500"/>
          </a:xfrm>
          <a:prstGeom prst="straightConnector1">
            <a:avLst/>
          </a:prstGeom>
          <a:noFill/>
          <a:ln cap="flat" cmpd="sng" w="19050">
            <a:solidFill>
              <a:schemeClr val="dk2"/>
            </a:solidFill>
            <a:prstDash val="solid"/>
            <a:round/>
            <a:headEnd len="med" w="med" type="none"/>
            <a:tailEnd len="med" w="med" type="triangle"/>
          </a:ln>
        </p:spPr>
      </p:cxnSp>
      <p:cxnSp>
        <p:nvCxnSpPr>
          <p:cNvPr id="2119" name="Google Shape;2119;p106"/>
          <p:cNvCxnSpPr>
            <a:endCxn id="2098" idx="0"/>
          </p:cNvCxnSpPr>
          <p:nvPr/>
        </p:nvCxnSpPr>
        <p:spPr>
          <a:xfrm>
            <a:off x="5902829" y="3014792"/>
            <a:ext cx="0" cy="277500"/>
          </a:xfrm>
          <a:prstGeom prst="straightConnector1">
            <a:avLst/>
          </a:prstGeom>
          <a:noFill/>
          <a:ln cap="flat" cmpd="sng" w="19050">
            <a:solidFill>
              <a:schemeClr val="dk2"/>
            </a:solidFill>
            <a:prstDash val="solid"/>
            <a:round/>
            <a:headEnd len="med" w="med" type="none"/>
            <a:tailEnd len="med" w="med" type="triangle"/>
          </a:ln>
        </p:spPr>
      </p:cxnSp>
      <p:cxnSp>
        <p:nvCxnSpPr>
          <p:cNvPr id="2120" name="Google Shape;2120;p106"/>
          <p:cNvCxnSpPr>
            <a:endCxn id="2107" idx="0"/>
          </p:cNvCxnSpPr>
          <p:nvPr/>
        </p:nvCxnSpPr>
        <p:spPr>
          <a:xfrm>
            <a:off x="6274543" y="3637958"/>
            <a:ext cx="0" cy="277500"/>
          </a:xfrm>
          <a:prstGeom prst="straightConnector1">
            <a:avLst/>
          </a:prstGeom>
          <a:noFill/>
          <a:ln cap="flat" cmpd="sng" w="19050">
            <a:solidFill>
              <a:schemeClr val="dk2"/>
            </a:solidFill>
            <a:prstDash val="solid"/>
            <a:round/>
            <a:headEnd len="med" w="med" type="none"/>
            <a:tailEnd len="med" w="med" type="triangle"/>
          </a:ln>
        </p:spPr>
      </p:cxnSp>
      <p:cxnSp>
        <p:nvCxnSpPr>
          <p:cNvPr id="2121" name="Google Shape;2121;p106"/>
          <p:cNvCxnSpPr>
            <a:endCxn id="2113" idx="0"/>
          </p:cNvCxnSpPr>
          <p:nvPr/>
        </p:nvCxnSpPr>
        <p:spPr>
          <a:xfrm>
            <a:off x="6646257" y="4261125"/>
            <a:ext cx="0" cy="277500"/>
          </a:xfrm>
          <a:prstGeom prst="straightConnector1">
            <a:avLst/>
          </a:prstGeom>
          <a:noFill/>
          <a:ln cap="flat" cmpd="sng" w="19050">
            <a:solidFill>
              <a:schemeClr val="dk2"/>
            </a:solidFill>
            <a:prstDash val="solid"/>
            <a:round/>
            <a:headEnd len="med" w="med" type="none"/>
            <a:tailEnd len="med" w="med" type="triangle"/>
          </a:ln>
        </p:spPr>
      </p:cxnSp>
      <p:sp>
        <p:nvSpPr>
          <p:cNvPr id="2122" name="Google Shape;2122;p106"/>
          <p:cNvSpPr txBox="1"/>
          <p:nvPr>
            <p:ph idx="1" type="body"/>
          </p:nvPr>
        </p:nvSpPr>
        <p:spPr>
          <a:xfrm>
            <a:off x="243000" y="556500"/>
            <a:ext cx="4103400" cy="41538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Give an example of an array that would follow the pattern to the right.</a:t>
            </a:r>
            <a:endParaRPr/>
          </a:p>
          <a:p>
            <a:pPr indent="-342900" lvl="0" marL="457200" rtl="0" algn="l">
              <a:spcBef>
                <a:spcPts val="600"/>
              </a:spcBef>
              <a:spcAft>
                <a:spcPts val="0"/>
              </a:spcAft>
              <a:buSzPts val="1800"/>
              <a:buChar char="●"/>
            </a:pPr>
            <a:r>
              <a:rPr lang="en"/>
              <a:t>1 2 3 4 5 6</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What is the runtime Θ(∙)?</a:t>
            </a:r>
            <a:endParaRPr/>
          </a:p>
          <a:p>
            <a:pPr indent="-342900" lvl="0" marL="457200" rtl="0" algn="l">
              <a:spcBef>
                <a:spcPts val="600"/>
              </a:spcBef>
              <a:spcAft>
                <a:spcPts val="0"/>
              </a:spcAft>
              <a:buSzPts val="1800"/>
              <a:buChar char="●"/>
            </a:pPr>
            <a:r>
              <a:rPr lang="en"/>
              <a:t>N</a:t>
            </a:r>
            <a:r>
              <a:rPr baseline="30000" lang="en"/>
              <a:t>2</a:t>
            </a:r>
            <a:endParaRPr baseline="30000"/>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6" name="Shape 2126"/>
        <p:cNvGrpSpPr/>
        <p:nvPr/>
      </p:nvGrpSpPr>
      <p:grpSpPr>
        <a:xfrm>
          <a:off x="0" y="0"/>
          <a:ext cx="0" cy="0"/>
          <a:chOff x="0" y="0"/>
          <a:chExt cx="0" cy="0"/>
        </a:xfrm>
      </p:grpSpPr>
      <p:sp>
        <p:nvSpPr>
          <p:cNvPr id="2127" name="Google Shape;2127;p10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Quicksort Performance</a:t>
            </a:r>
            <a:endParaRPr/>
          </a:p>
        </p:txBody>
      </p:sp>
      <p:sp>
        <p:nvSpPr>
          <p:cNvPr id="2128" name="Google Shape;2128;p107"/>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Theoretical analysis:</a:t>
            </a:r>
            <a:endParaRPr/>
          </a:p>
          <a:p>
            <a:pPr indent="-342900" lvl="0" marL="457200" rtl="0" algn="l">
              <a:spcBef>
                <a:spcPts val="600"/>
              </a:spcBef>
              <a:spcAft>
                <a:spcPts val="0"/>
              </a:spcAft>
              <a:buSzPts val="1800"/>
              <a:buChar char="●"/>
            </a:pPr>
            <a:r>
              <a:rPr lang="en"/>
              <a:t>Best case: Θ(N log N)</a:t>
            </a:r>
            <a:endParaRPr/>
          </a:p>
          <a:p>
            <a:pPr indent="-342900" lvl="0" marL="457200" rtl="0" algn="l">
              <a:spcBef>
                <a:spcPts val="0"/>
              </a:spcBef>
              <a:spcAft>
                <a:spcPts val="0"/>
              </a:spcAft>
              <a:buSzPts val="1800"/>
              <a:buChar char="●"/>
            </a:pPr>
            <a:r>
              <a:rPr lang="en"/>
              <a:t>Worst case: Θ(N</a:t>
            </a:r>
            <a:r>
              <a:rPr baseline="30000" lang="en"/>
              <a:t>2</a:t>
            </a:r>
            <a:r>
              <a:rPr lang="en"/>
              <a:t>)</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Compare this to Mergesort.</a:t>
            </a:r>
            <a:endParaRPr/>
          </a:p>
          <a:p>
            <a:pPr indent="-342900" lvl="0" marL="457200" rtl="0" algn="l">
              <a:spcBef>
                <a:spcPts val="600"/>
              </a:spcBef>
              <a:spcAft>
                <a:spcPts val="0"/>
              </a:spcAft>
              <a:buSzPts val="1800"/>
              <a:buChar char="●"/>
            </a:pPr>
            <a:r>
              <a:rPr lang="en"/>
              <a:t>Best case: Θ(N log N)</a:t>
            </a:r>
            <a:endParaRPr/>
          </a:p>
          <a:p>
            <a:pPr indent="-342900" lvl="0" marL="457200" rtl="0" algn="l">
              <a:spcBef>
                <a:spcPts val="0"/>
              </a:spcBef>
              <a:spcAft>
                <a:spcPts val="0"/>
              </a:spcAft>
              <a:buSzPts val="1800"/>
              <a:buChar char="●"/>
            </a:pPr>
            <a:r>
              <a:rPr lang="en"/>
              <a:t>Worst case: Θ(N log N)</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Recall that Θ(N log N) vs. Θ(N</a:t>
            </a:r>
            <a:r>
              <a:rPr baseline="30000" lang="en"/>
              <a:t>2</a:t>
            </a:r>
            <a:r>
              <a:rPr lang="en"/>
              <a:t>) is a </a:t>
            </a:r>
            <a:r>
              <a:rPr b="1" lang="en" u="sng"/>
              <a:t>really big deal</a:t>
            </a:r>
            <a:r>
              <a:rPr lang="en"/>
              <a:t>. So how can Quicksort be the fastest sort empirically? Because on average it is </a:t>
            </a:r>
            <a:r>
              <a:rPr lang="en"/>
              <a:t>Θ(N log N).</a:t>
            </a:r>
            <a:endParaRPr/>
          </a:p>
          <a:p>
            <a:pPr indent="-342900" lvl="0" marL="457200" rtl="0" algn="l">
              <a:spcBef>
                <a:spcPts val="600"/>
              </a:spcBef>
              <a:spcAft>
                <a:spcPts val="0"/>
              </a:spcAft>
              <a:buSzPts val="1800"/>
              <a:buChar char="●"/>
            </a:pPr>
            <a:r>
              <a:rPr lang="en"/>
              <a:t>Rigorous proof requires probability theory + calculus, but intuition + empirical analysis will hopefully convince you.</a:t>
            </a:r>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2" name="Shape 2132"/>
        <p:cNvGrpSpPr/>
        <p:nvPr/>
      </p:nvGrpSpPr>
      <p:grpSpPr>
        <a:xfrm>
          <a:off x="0" y="0"/>
          <a:ext cx="0" cy="0"/>
          <a:chOff x="0" y="0"/>
          <a:chExt cx="0" cy="0"/>
        </a:xfrm>
      </p:grpSpPr>
      <p:sp>
        <p:nvSpPr>
          <p:cNvPr id="2133" name="Google Shape;2133;p10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Argument #1: 10% Case</a:t>
            </a:r>
            <a:endParaRPr/>
          </a:p>
        </p:txBody>
      </p:sp>
      <p:sp>
        <p:nvSpPr>
          <p:cNvPr id="2134" name="Google Shape;2134;p108"/>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Suppose pivot always ends up at least 10% from either edge (not to scale).</a:t>
            </a:r>
            <a:endParaRPr/>
          </a:p>
        </p:txBody>
      </p:sp>
      <p:sp>
        <p:nvSpPr>
          <p:cNvPr id="2135" name="Google Shape;2135;p108"/>
          <p:cNvSpPr/>
          <p:nvPr/>
        </p:nvSpPr>
        <p:spPr>
          <a:xfrm>
            <a:off x="255300" y="1290975"/>
            <a:ext cx="51117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36" name="Google Shape;2136;p108"/>
          <p:cNvSpPr/>
          <p:nvPr/>
        </p:nvSpPr>
        <p:spPr>
          <a:xfrm>
            <a:off x="219166" y="1290975"/>
            <a:ext cx="113700" cy="345600"/>
          </a:xfrm>
          <a:prstGeom prst="rect">
            <a:avLst/>
          </a:prstGeom>
          <a:solidFill>
            <a:srgbClr val="B1DD8B"/>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nvGrpSpPr>
          <p:cNvPr id="2137" name="Google Shape;2137;p108"/>
          <p:cNvGrpSpPr/>
          <p:nvPr/>
        </p:nvGrpSpPr>
        <p:grpSpPr>
          <a:xfrm>
            <a:off x="248634" y="1636575"/>
            <a:ext cx="5118366" cy="609600"/>
            <a:chOff x="248634" y="1636575"/>
            <a:chExt cx="5118366" cy="609600"/>
          </a:xfrm>
        </p:grpSpPr>
        <p:sp>
          <p:nvSpPr>
            <p:cNvPr id="2138" name="Google Shape;2138;p108"/>
            <p:cNvSpPr/>
            <p:nvPr/>
          </p:nvSpPr>
          <p:spPr>
            <a:xfrm>
              <a:off x="255300" y="1900575"/>
              <a:ext cx="51117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39" name="Google Shape;2139;p108"/>
            <p:cNvSpPr/>
            <p:nvPr/>
          </p:nvSpPr>
          <p:spPr>
            <a:xfrm>
              <a:off x="904600" y="1900575"/>
              <a:ext cx="113700" cy="345600"/>
            </a:xfrm>
            <a:prstGeom prst="rect">
              <a:avLst/>
            </a:prstGeom>
            <a:solidFill>
              <a:srgbClr val="000000"/>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cxnSp>
          <p:nvCxnSpPr>
            <p:cNvPr id="2140" name="Google Shape;2140;p108"/>
            <p:cNvCxnSpPr>
              <a:stCxn id="2136" idx="2"/>
              <a:endCxn id="2139" idx="0"/>
            </p:cNvCxnSpPr>
            <p:nvPr/>
          </p:nvCxnSpPr>
          <p:spPr>
            <a:xfrm flipH="1" rot="-5400000">
              <a:off x="486766" y="1425825"/>
              <a:ext cx="264000" cy="685500"/>
            </a:xfrm>
            <a:prstGeom prst="curvedConnector3">
              <a:avLst>
                <a:gd fmla="val 50000" name="adj1"/>
              </a:avLst>
            </a:prstGeom>
            <a:noFill/>
            <a:ln cap="flat" cmpd="sng" w="19050">
              <a:solidFill>
                <a:schemeClr val="dk2"/>
              </a:solidFill>
              <a:prstDash val="solid"/>
              <a:round/>
              <a:headEnd len="med" w="med" type="none"/>
              <a:tailEnd len="med" w="med" type="triangle"/>
            </a:ln>
          </p:spPr>
        </p:cxnSp>
        <p:sp>
          <p:nvSpPr>
            <p:cNvPr id="2141" name="Google Shape;2141;p108"/>
            <p:cNvSpPr/>
            <p:nvPr/>
          </p:nvSpPr>
          <p:spPr>
            <a:xfrm>
              <a:off x="248634" y="1900575"/>
              <a:ext cx="113700" cy="345600"/>
            </a:xfrm>
            <a:prstGeom prst="rect">
              <a:avLst/>
            </a:prstGeom>
            <a:solidFill>
              <a:srgbClr val="B1DD8B"/>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42" name="Google Shape;2142;p108"/>
            <p:cNvSpPr/>
            <p:nvPr/>
          </p:nvSpPr>
          <p:spPr>
            <a:xfrm>
              <a:off x="1018309" y="1900575"/>
              <a:ext cx="113700" cy="345600"/>
            </a:xfrm>
            <a:prstGeom prst="rect">
              <a:avLst/>
            </a:prstGeom>
            <a:solidFill>
              <a:srgbClr val="B1DD8B"/>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sp>
        <p:nvSpPr>
          <p:cNvPr id="2143" name="Google Shape;2143;p108"/>
          <p:cNvSpPr/>
          <p:nvPr/>
        </p:nvSpPr>
        <p:spPr>
          <a:xfrm>
            <a:off x="7148590" y="1290975"/>
            <a:ext cx="405000" cy="345600"/>
          </a:xfrm>
          <a:prstGeom prst="rect">
            <a:avLst/>
          </a:prstGeom>
          <a:solidFill>
            <a:srgbClr val="FF99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N</a:t>
            </a:r>
            <a:endParaRPr/>
          </a:p>
        </p:txBody>
      </p:sp>
      <p:grpSp>
        <p:nvGrpSpPr>
          <p:cNvPr id="2144" name="Google Shape;2144;p108"/>
          <p:cNvGrpSpPr/>
          <p:nvPr/>
        </p:nvGrpSpPr>
        <p:grpSpPr>
          <a:xfrm>
            <a:off x="248634" y="2246175"/>
            <a:ext cx="5118366" cy="685925"/>
            <a:chOff x="248634" y="2246175"/>
            <a:chExt cx="5118366" cy="685925"/>
          </a:xfrm>
        </p:grpSpPr>
        <p:sp>
          <p:nvSpPr>
            <p:cNvPr id="2145" name="Google Shape;2145;p108"/>
            <p:cNvSpPr/>
            <p:nvPr/>
          </p:nvSpPr>
          <p:spPr>
            <a:xfrm>
              <a:off x="255300" y="2586375"/>
              <a:ext cx="5111700" cy="3456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46" name="Google Shape;2146;p108"/>
            <p:cNvSpPr/>
            <p:nvPr/>
          </p:nvSpPr>
          <p:spPr>
            <a:xfrm>
              <a:off x="904600" y="2246600"/>
              <a:ext cx="113700" cy="685500"/>
            </a:xfrm>
            <a:prstGeom prst="rect">
              <a:avLst/>
            </a:prstGeom>
            <a:solidFill>
              <a:srgbClr val="000000"/>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47" name="Google Shape;2147;p108"/>
            <p:cNvSpPr/>
            <p:nvPr/>
          </p:nvSpPr>
          <p:spPr>
            <a:xfrm>
              <a:off x="1426700" y="2586375"/>
              <a:ext cx="113700" cy="345600"/>
            </a:xfrm>
            <a:prstGeom prst="rect">
              <a:avLst/>
            </a:prstGeom>
            <a:solidFill>
              <a:srgbClr val="000000"/>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48" name="Google Shape;2148;p108"/>
            <p:cNvSpPr/>
            <p:nvPr/>
          </p:nvSpPr>
          <p:spPr>
            <a:xfrm>
              <a:off x="369875" y="2586375"/>
              <a:ext cx="113700" cy="340200"/>
            </a:xfrm>
            <a:prstGeom prst="rect">
              <a:avLst/>
            </a:prstGeom>
            <a:solidFill>
              <a:srgbClr val="000000"/>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cxnSp>
          <p:nvCxnSpPr>
            <p:cNvPr id="2149" name="Google Shape;2149;p108"/>
            <p:cNvCxnSpPr>
              <a:stCxn id="2141" idx="2"/>
              <a:endCxn id="2148" idx="0"/>
            </p:cNvCxnSpPr>
            <p:nvPr/>
          </p:nvCxnSpPr>
          <p:spPr>
            <a:xfrm flipH="1" rot="-5400000">
              <a:off x="195984" y="2355675"/>
              <a:ext cx="340200" cy="121200"/>
            </a:xfrm>
            <a:prstGeom prst="curvedConnector3">
              <a:avLst>
                <a:gd fmla="val 50000" name="adj1"/>
              </a:avLst>
            </a:prstGeom>
            <a:noFill/>
            <a:ln cap="flat" cmpd="sng" w="19050">
              <a:solidFill>
                <a:schemeClr val="dk2"/>
              </a:solidFill>
              <a:prstDash val="solid"/>
              <a:round/>
              <a:headEnd len="med" w="med" type="none"/>
              <a:tailEnd len="med" w="med" type="triangle"/>
            </a:ln>
          </p:spPr>
        </p:cxnSp>
        <p:cxnSp>
          <p:nvCxnSpPr>
            <p:cNvPr id="2150" name="Google Shape;2150;p108"/>
            <p:cNvCxnSpPr>
              <a:stCxn id="2142" idx="2"/>
              <a:endCxn id="2147" idx="0"/>
            </p:cNvCxnSpPr>
            <p:nvPr/>
          </p:nvCxnSpPr>
          <p:spPr>
            <a:xfrm flipH="1" rot="-5400000">
              <a:off x="1109209" y="2212125"/>
              <a:ext cx="340200" cy="408300"/>
            </a:xfrm>
            <a:prstGeom prst="curvedConnector3">
              <a:avLst>
                <a:gd fmla="val 50000" name="adj1"/>
              </a:avLst>
            </a:prstGeom>
            <a:noFill/>
            <a:ln cap="flat" cmpd="sng" w="19050">
              <a:solidFill>
                <a:schemeClr val="dk2"/>
              </a:solidFill>
              <a:prstDash val="solid"/>
              <a:round/>
              <a:headEnd len="med" w="med" type="none"/>
              <a:tailEnd len="med" w="med" type="triangle"/>
            </a:ln>
          </p:spPr>
        </p:cxnSp>
        <p:sp>
          <p:nvSpPr>
            <p:cNvPr id="2151" name="Google Shape;2151;p108"/>
            <p:cNvSpPr/>
            <p:nvPr/>
          </p:nvSpPr>
          <p:spPr>
            <a:xfrm>
              <a:off x="248634" y="2586375"/>
              <a:ext cx="113700" cy="345600"/>
            </a:xfrm>
            <a:prstGeom prst="rect">
              <a:avLst/>
            </a:prstGeom>
            <a:solidFill>
              <a:srgbClr val="B1DD8B"/>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52" name="Google Shape;2152;p108"/>
            <p:cNvSpPr/>
            <p:nvPr/>
          </p:nvSpPr>
          <p:spPr>
            <a:xfrm>
              <a:off x="491124" y="2586375"/>
              <a:ext cx="113700" cy="345600"/>
            </a:xfrm>
            <a:prstGeom prst="rect">
              <a:avLst/>
            </a:prstGeom>
            <a:solidFill>
              <a:srgbClr val="B1DD8B"/>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53" name="Google Shape;2153;p108"/>
            <p:cNvSpPr/>
            <p:nvPr/>
          </p:nvSpPr>
          <p:spPr>
            <a:xfrm>
              <a:off x="1010634" y="2586375"/>
              <a:ext cx="113700" cy="345600"/>
            </a:xfrm>
            <a:prstGeom prst="rect">
              <a:avLst/>
            </a:prstGeom>
            <a:solidFill>
              <a:srgbClr val="B1DD8B"/>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sp>
          <p:nvSpPr>
            <p:cNvPr id="2154" name="Google Shape;2154;p108"/>
            <p:cNvSpPr/>
            <p:nvPr/>
          </p:nvSpPr>
          <p:spPr>
            <a:xfrm>
              <a:off x="1544034" y="2586375"/>
              <a:ext cx="113700" cy="345600"/>
            </a:xfrm>
            <a:prstGeom prst="rect">
              <a:avLst/>
            </a:prstGeom>
            <a:solidFill>
              <a:srgbClr val="B1DD8B"/>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800">
                <a:latin typeface="Calibri"/>
                <a:ea typeface="Calibri"/>
                <a:cs typeface="Calibri"/>
                <a:sym typeface="Calibri"/>
              </a:endParaRPr>
            </a:p>
          </p:txBody>
        </p:sp>
      </p:grpSp>
      <p:grpSp>
        <p:nvGrpSpPr>
          <p:cNvPr id="2155" name="Google Shape;2155;p108"/>
          <p:cNvGrpSpPr/>
          <p:nvPr/>
        </p:nvGrpSpPr>
        <p:grpSpPr>
          <a:xfrm>
            <a:off x="5952095" y="1636575"/>
            <a:ext cx="1398995" cy="610025"/>
            <a:chOff x="5952095" y="1636575"/>
            <a:chExt cx="1398995" cy="610025"/>
          </a:xfrm>
        </p:grpSpPr>
        <p:sp>
          <p:nvSpPr>
            <p:cNvPr id="2156" name="Google Shape;2156;p108"/>
            <p:cNvSpPr/>
            <p:nvPr/>
          </p:nvSpPr>
          <p:spPr>
            <a:xfrm>
              <a:off x="5952095" y="1901000"/>
              <a:ext cx="846600" cy="345600"/>
            </a:xfrm>
            <a:prstGeom prst="rect">
              <a:avLst/>
            </a:prstGeom>
            <a:solidFill>
              <a:srgbClr val="FF99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N/10</a:t>
              </a:r>
              <a:endParaRPr/>
            </a:p>
          </p:txBody>
        </p:sp>
        <p:cxnSp>
          <p:nvCxnSpPr>
            <p:cNvPr id="2157" name="Google Shape;2157;p108"/>
            <p:cNvCxnSpPr>
              <a:stCxn id="2143" idx="2"/>
              <a:endCxn id="2156" idx="0"/>
            </p:cNvCxnSpPr>
            <p:nvPr/>
          </p:nvCxnSpPr>
          <p:spPr>
            <a:xfrm flipH="1">
              <a:off x="6375490" y="1636575"/>
              <a:ext cx="975600" cy="264300"/>
            </a:xfrm>
            <a:prstGeom prst="straightConnector1">
              <a:avLst/>
            </a:prstGeom>
            <a:noFill/>
            <a:ln cap="flat" cmpd="sng" w="19050">
              <a:solidFill>
                <a:schemeClr val="dk2"/>
              </a:solidFill>
              <a:prstDash val="solid"/>
              <a:round/>
              <a:headEnd len="med" w="med" type="none"/>
              <a:tailEnd len="med" w="med" type="triangle"/>
            </a:ln>
          </p:spPr>
        </p:cxnSp>
      </p:grpSp>
      <p:grpSp>
        <p:nvGrpSpPr>
          <p:cNvPr id="2158" name="Google Shape;2158;p108"/>
          <p:cNvGrpSpPr/>
          <p:nvPr/>
        </p:nvGrpSpPr>
        <p:grpSpPr>
          <a:xfrm>
            <a:off x="7351090" y="1636575"/>
            <a:ext cx="1276405" cy="610025"/>
            <a:chOff x="7351090" y="1636575"/>
            <a:chExt cx="1276405" cy="610025"/>
          </a:xfrm>
        </p:grpSpPr>
        <p:sp>
          <p:nvSpPr>
            <p:cNvPr id="2159" name="Google Shape;2159;p108"/>
            <p:cNvSpPr/>
            <p:nvPr/>
          </p:nvSpPr>
          <p:spPr>
            <a:xfrm>
              <a:off x="7780895" y="1901000"/>
              <a:ext cx="846600" cy="345600"/>
            </a:xfrm>
            <a:prstGeom prst="rect">
              <a:avLst/>
            </a:prstGeom>
            <a:solidFill>
              <a:srgbClr val="FF99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9N/10</a:t>
              </a:r>
              <a:endParaRPr/>
            </a:p>
          </p:txBody>
        </p:sp>
        <p:cxnSp>
          <p:nvCxnSpPr>
            <p:cNvPr id="2160" name="Google Shape;2160;p108"/>
            <p:cNvCxnSpPr>
              <a:stCxn id="2143" idx="2"/>
              <a:endCxn id="2159" idx="0"/>
            </p:cNvCxnSpPr>
            <p:nvPr/>
          </p:nvCxnSpPr>
          <p:spPr>
            <a:xfrm>
              <a:off x="7351090" y="1636575"/>
              <a:ext cx="853200" cy="264300"/>
            </a:xfrm>
            <a:prstGeom prst="straightConnector1">
              <a:avLst/>
            </a:prstGeom>
            <a:noFill/>
            <a:ln cap="flat" cmpd="sng" w="19050">
              <a:solidFill>
                <a:schemeClr val="dk2"/>
              </a:solidFill>
              <a:prstDash val="solid"/>
              <a:round/>
              <a:headEnd len="med" w="med" type="none"/>
              <a:tailEnd len="med" w="med" type="triangle"/>
            </a:ln>
          </p:spPr>
        </p:cxnSp>
      </p:grpSp>
      <p:grpSp>
        <p:nvGrpSpPr>
          <p:cNvPr id="2161" name="Google Shape;2161;p108"/>
          <p:cNvGrpSpPr/>
          <p:nvPr/>
        </p:nvGrpSpPr>
        <p:grpSpPr>
          <a:xfrm>
            <a:off x="5547475" y="2246600"/>
            <a:ext cx="827920" cy="685375"/>
            <a:chOff x="5547475" y="2246600"/>
            <a:chExt cx="827920" cy="685375"/>
          </a:xfrm>
        </p:grpSpPr>
        <p:sp>
          <p:nvSpPr>
            <p:cNvPr id="2162" name="Google Shape;2162;p108"/>
            <p:cNvSpPr/>
            <p:nvPr/>
          </p:nvSpPr>
          <p:spPr>
            <a:xfrm>
              <a:off x="5547475" y="2586375"/>
              <a:ext cx="704400" cy="345600"/>
            </a:xfrm>
            <a:prstGeom prst="rect">
              <a:avLst/>
            </a:prstGeom>
            <a:solidFill>
              <a:srgbClr val="FF99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N/100</a:t>
              </a:r>
              <a:endParaRPr/>
            </a:p>
          </p:txBody>
        </p:sp>
        <p:cxnSp>
          <p:nvCxnSpPr>
            <p:cNvPr id="2163" name="Google Shape;2163;p108"/>
            <p:cNvCxnSpPr>
              <a:stCxn id="2156" idx="2"/>
              <a:endCxn id="2162" idx="0"/>
            </p:cNvCxnSpPr>
            <p:nvPr/>
          </p:nvCxnSpPr>
          <p:spPr>
            <a:xfrm flipH="1">
              <a:off x="5899595" y="2246600"/>
              <a:ext cx="475800" cy="339900"/>
            </a:xfrm>
            <a:prstGeom prst="straightConnector1">
              <a:avLst/>
            </a:prstGeom>
            <a:noFill/>
            <a:ln cap="flat" cmpd="sng" w="19050">
              <a:solidFill>
                <a:schemeClr val="dk2"/>
              </a:solidFill>
              <a:prstDash val="solid"/>
              <a:round/>
              <a:headEnd len="med" w="med" type="none"/>
              <a:tailEnd len="med" w="med" type="triangle"/>
            </a:ln>
          </p:spPr>
        </p:cxnSp>
      </p:grpSp>
      <p:grpSp>
        <p:nvGrpSpPr>
          <p:cNvPr id="2164" name="Google Shape;2164;p108"/>
          <p:cNvGrpSpPr/>
          <p:nvPr/>
        </p:nvGrpSpPr>
        <p:grpSpPr>
          <a:xfrm>
            <a:off x="6370040" y="2246600"/>
            <a:ext cx="822000" cy="685375"/>
            <a:chOff x="6370040" y="2246600"/>
            <a:chExt cx="822000" cy="685375"/>
          </a:xfrm>
        </p:grpSpPr>
        <p:sp>
          <p:nvSpPr>
            <p:cNvPr id="2165" name="Google Shape;2165;p108"/>
            <p:cNvSpPr/>
            <p:nvPr/>
          </p:nvSpPr>
          <p:spPr>
            <a:xfrm>
              <a:off x="6370040" y="2586375"/>
              <a:ext cx="822000" cy="345600"/>
            </a:xfrm>
            <a:prstGeom prst="rect">
              <a:avLst/>
            </a:prstGeom>
            <a:solidFill>
              <a:srgbClr val="FF99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9N/100</a:t>
              </a:r>
              <a:endParaRPr/>
            </a:p>
          </p:txBody>
        </p:sp>
        <p:cxnSp>
          <p:nvCxnSpPr>
            <p:cNvPr id="2166" name="Google Shape;2166;p108"/>
            <p:cNvCxnSpPr>
              <a:stCxn id="2156" idx="2"/>
              <a:endCxn id="2165" idx="0"/>
            </p:cNvCxnSpPr>
            <p:nvPr/>
          </p:nvCxnSpPr>
          <p:spPr>
            <a:xfrm>
              <a:off x="6375395" y="2246600"/>
              <a:ext cx="405600" cy="339900"/>
            </a:xfrm>
            <a:prstGeom prst="straightConnector1">
              <a:avLst/>
            </a:prstGeom>
            <a:noFill/>
            <a:ln cap="flat" cmpd="sng" w="19050">
              <a:solidFill>
                <a:schemeClr val="dk2"/>
              </a:solidFill>
              <a:prstDash val="solid"/>
              <a:round/>
              <a:headEnd len="med" w="med" type="none"/>
              <a:tailEnd len="med" w="med" type="triangle"/>
            </a:ln>
          </p:spPr>
        </p:cxnSp>
      </p:grpSp>
      <p:grpSp>
        <p:nvGrpSpPr>
          <p:cNvPr id="2167" name="Google Shape;2167;p108"/>
          <p:cNvGrpSpPr/>
          <p:nvPr/>
        </p:nvGrpSpPr>
        <p:grpSpPr>
          <a:xfrm>
            <a:off x="7300075" y="2246600"/>
            <a:ext cx="904120" cy="685375"/>
            <a:chOff x="7300075" y="2246600"/>
            <a:chExt cx="904120" cy="685375"/>
          </a:xfrm>
        </p:grpSpPr>
        <p:sp>
          <p:nvSpPr>
            <p:cNvPr id="2168" name="Google Shape;2168;p108"/>
            <p:cNvSpPr/>
            <p:nvPr/>
          </p:nvSpPr>
          <p:spPr>
            <a:xfrm>
              <a:off x="7300075" y="2586375"/>
              <a:ext cx="822000" cy="345600"/>
            </a:xfrm>
            <a:prstGeom prst="rect">
              <a:avLst/>
            </a:prstGeom>
            <a:solidFill>
              <a:srgbClr val="FF99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9N/100</a:t>
              </a:r>
              <a:endParaRPr/>
            </a:p>
          </p:txBody>
        </p:sp>
        <p:cxnSp>
          <p:nvCxnSpPr>
            <p:cNvPr id="2169" name="Google Shape;2169;p108"/>
            <p:cNvCxnSpPr>
              <a:stCxn id="2159" idx="2"/>
              <a:endCxn id="2168" idx="0"/>
            </p:cNvCxnSpPr>
            <p:nvPr/>
          </p:nvCxnSpPr>
          <p:spPr>
            <a:xfrm flipH="1">
              <a:off x="7710995" y="2246600"/>
              <a:ext cx="493200" cy="339900"/>
            </a:xfrm>
            <a:prstGeom prst="straightConnector1">
              <a:avLst/>
            </a:prstGeom>
            <a:noFill/>
            <a:ln cap="flat" cmpd="sng" w="19050">
              <a:solidFill>
                <a:schemeClr val="dk2"/>
              </a:solidFill>
              <a:prstDash val="solid"/>
              <a:round/>
              <a:headEnd len="med" w="med" type="none"/>
              <a:tailEnd len="med" w="med" type="triangle"/>
            </a:ln>
          </p:spPr>
        </p:cxnSp>
      </p:grpSp>
      <p:grpSp>
        <p:nvGrpSpPr>
          <p:cNvPr id="2170" name="Google Shape;2170;p108"/>
          <p:cNvGrpSpPr/>
          <p:nvPr/>
        </p:nvGrpSpPr>
        <p:grpSpPr>
          <a:xfrm>
            <a:off x="8193950" y="2246600"/>
            <a:ext cx="930600" cy="685375"/>
            <a:chOff x="8193950" y="2246600"/>
            <a:chExt cx="930600" cy="685375"/>
          </a:xfrm>
        </p:grpSpPr>
        <p:sp>
          <p:nvSpPr>
            <p:cNvPr id="2171" name="Google Shape;2171;p108"/>
            <p:cNvSpPr/>
            <p:nvPr/>
          </p:nvSpPr>
          <p:spPr>
            <a:xfrm>
              <a:off x="8193950" y="2586375"/>
              <a:ext cx="930600" cy="345600"/>
            </a:xfrm>
            <a:prstGeom prst="rect">
              <a:avLst/>
            </a:prstGeom>
            <a:solidFill>
              <a:srgbClr val="FF99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81N/100</a:t>
              </a:r>
              <a:endParaRPr/>
            </a:p>
          </p:txBody>
        </p:sp>
        <p:cxnSp>
          <p:nvCxnSpPr>
            <p:cNvPr id="2172" name="Google Shape;2172;p108"/>
            <p:cNvCxnSpPr>
              <a:stCxn id="2159" idx="2"/>
              <a:endCxn id="2171" idx="0"/>
            </p:cNvCxnSpPr>
            <p:nvPr/>
          </p:nvCxnSpPr>
          <p:spPr>
            <a:xfrm>
              <a:off x="8204195" y="2246600"/>
              <a:ext cx="455100" cy="339900"/>
            </a:xfrm>
            <a:prstGeom prst="straightConnector1">
              <a:avLst/>
            </a:prstGeom>
            <a:noFill/>
            <a:ln cap="flat" cmpd="sng" w="19050">
              <a:solidFill>
                <a:schemeClr val="dk2"/>
              </a:solidFill>
              <a:prstDash val="solid"/>
              <a:round/>
              <a:headEnd len="med" w="med" type="none"/>
              <a:tailEnd len="med" w="med" type="triangle"/>
            </a:ln>
          </p:spPr>
        </p:cxnSp>
      </p:grpSp>
      <p:sp>
        <p:nvSpPr>
          <p:cNvPr id="2173" name="Google Shape;2173;p108"/>
          <p:cNvSpPr txBox="1"/>
          <p:nvPr>
            <p:ph idx="1" type="body"/>
          </p:nvPr>
        </p:nvSpPr>
        <p:spPr>
          <a:xfrm>
            <a:off x="243000" y="3236900"/>
            <a:ext cx="8881500" cy="11685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Work at each level: O(N)</a:t>
            </a:r>
            <a:endParaRPr/>
          </a:p>
          <a:p>
            <a:pPr indent="-342900" lvl="0" marL="457200" rtl="0" algn="l">
              <a:spcBef>
                <a:spcPts val="600"/>
              </a:spcBef>
              <a:spcAft>
                <a:spcPts val="0"/>
              </a:spcAft>
              <a:buSzPts val="1800"/>
              <a:buChar char="●"/>
            </a:pPr>
            <a:r>
              <a:rPr lang="en"/>
              <a:t>Runtime is O(NH). </a:t>
            </a:r>
            <a:endParaRPr/>
          </a:p>
          <a:p>
            <a:pPr indent="-342900" lvl="1" marL="914400" rtl="0" algn="l">
              <a:spcBef>
                <a:spcPts val="0"/>
              </a:spcBef>
              <a:spcAft>
                <a:spcPts val="0"/>
              </a:spcAft>
              <a:buSzPts val="1800"/>
              <a:buChar char="○"/>
            </a:pPr>
            <a:r>
              <a:rPr lang="en"/>
              <a:t>H is approximately log </a:t>
            </a:r>
            <a:r>
              <a:rPr baseline="-25000" lang="en"/>
              <a:t>10/9</a:t>
            </a:r>
            <a:r>
              <a:rPr lang="en"/>
              <a:t> N = O(log N)</a:t>
            </a:r>
            <a:endParaRPr/>
          </a:p>
          <a:p>
            <a:pPr indent="-342900" lvl="0" marL="457200" rtl="0" algn="l">
              <a:spcBef>
                <a:spcPts val="0"/>
              </a:spcBef>
              <a:spcAft>
                <a:spcPts val="0"/>
              </a:spcAft>
              <a:buSzPts val="1800"/>
              <a:buChar char="●"/>
            </a:pPr>
            <a:r>
              <a:rPr lang="en"/>
              <a:t>Overall: O(N log N).</a:t>
            </a:r>
            <a:endParaRPr/>
          </a:p>
        </p:txBody>
      </p:sp>
      <p:sp>
        <p:nvSpPr>
          <p:cNvPr id="2174" name="Google Shape;2174;p108"/>
          <p:cNvSpPr txBox="1"/>
          <p:nvPr/>
        </p:nvSpPr>
        <p:spPr>
          <a:xfrm>
            <a:off x="6046625" y="3376125"/>
            <a:ext cx="2910300" cy="1245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Punchline: Even if you are unlucky enough to have a pivot that never lands anywhere near the middle, but at least always 10% from the edge, runtime is still O(N log 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37"/>
                                        </p:tgtEl>
                                        <p:attrNameLst>
                                          <p:attrName>style.visibility</p:attrName>
                                        </p:attrNameLst>
                                      </p:cBhvr>
                                      <p:to>
                                        <p:strVal val="visible"/>
                                      </p:to>
                                    </p:set>
                                    <p:animEffect filter="fade" transition="in">
                                      <p:cBhvr>
                                        <p:cTn dur="1"/>
                                        <p:tgtEl>
                                          <p:spTgt spid="213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55"/>
                                        </p:tgtEl>
                                        <p:attrNameLst>
                                          <p:attrName>style.visibility</p:attrName>
                                        </p:attrNameLst>
                                      </p:cBhvr>
                                      <p:to>
                                        <p:strVal val="visible"/>
                                      </p:to>
                                    </p:set>
                                    <p:animEffect filter="fade" transition="in">
                                      <p:cBhvr>
                                        <p:cTn dur="1"/>
                                        <p:tgtEl>
                                          <p:spTgt spid="21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58"/>
                                        </p:tgtEl>
                                        <p:attrNameLst>
                                          <p:attrName>style.visibility</p:attrName>
                                        </p:attrNameLst>
                                      </p:cBhvr>
                                      <p:to>
                                        <p:strVal val="visible"/>
                                      </p:to>
                                    </p:set>
                                    <p:animEffect filter="fade" transition="in">
                                      <p:cBhvr>
                                        <p:cTn dur="1"/>
                                        <p:tgtEl>
                                          <p:spTgt spid="215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44"/>
                                        </p:tgtEl>
                                        <p:attrNameLst>
                                          <p:attrName>style.visibility</p:attrName>
                                        </p:attrNameLst>
                                      </p:cBhvr>
                                      <p:to>
                                        <p:strVal val="visible"/>
                                      </p:to>
                                    </p:set>
                                    <p:animEffect filter="fade" transition="in">
                                      <p:cBhvr>
                                        <p:cTn dur="1"/>
                                        <p:tgtEl>
                                          <p:spTgt spid="214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61"/>
                                        </p:tgtEl>
                                        <p:attrNameLst>
                                          <p:attrName>style.visibility</p:attrName>
                                        </p:attrNameLst>
                                      </p:cBhvr>
                                      <p:to>
                                        <p:strVal val="visible"/>
                                      </p:to>
                                    </p:set>
                                    <p:animEffect filter="fade" transition="in">
                                      <p:cBhvr>
                                        <p:cTn dur="1"/>
                                        <p:tgtEl>
                                          <p:spTgt spid="216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64"/>
                                        </p:tgtEl>
                                        <p:attrNameLst>
                                          <p:attrName>style.visibility</p:attrName>
                                        </p:attrNameLst>
                                      </p:cBhvr>
                                      <p:to>
                                        <p:strVal val="visible"/>
                                      </p:to>
                                    </p:set>
                                    <p:animEffect filter="fade" transition="in">
                                      <p:cBhvr>
                                        <p:cTn dur="1"/>
                                        <p:tgtEl>
                                          <p:spTgt spid="216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67"/>
                                        </p:tgtEl>
                                        <p:attrNameLst>
                                          <p:attrName>style.visibility</p:attrName>
                                        </p:attrNameLst>
                                      </p:cBhvr>
                                      <p:to>
                                        <p:strVal val="visible"/>
                                      </p:to>
                                    </p:set>
                                    <p:animEffect filter="fade" transition="in">
                                      <p:cBhvr>
                                        <p:cTn dur="1"/>
                                        <p:tgtEl>
                                          <p:spTgt spid="216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70"/>
                                        </p:tgtEl>
                                        <p:attrNameLst>
                                          <p:attrName>style.visibility</p:attrName>
                                        </p:attrNameLst>
                                      </p:cBhvr>
                                      <p:to>
                                        <p:strVal val="visible"/>
                                      </p:to>
                                    </p:set>
                                    <p:animEffect filter="fade" transition="in">
                                      <p:cBhvr>
                                        <p:cTn dur="1"/>
                                        <p:tgtEl>
                                          <p:spTgt spid="217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73">
                                            <p:txEl>
                                              <p:pRg end="0" st="0"/>
                                            </p:txEl>
                                          </p:spTgt>
                                        </p:tgtEl>
                                        <p:attrNameLst>
                                          <p:attrName>style.visibility</p:attrName>
                                        </p:attrNameLst>
                                      </p:cBhvr>
                                      <p:to>
                                        <p:strVal val="visible"/>
                                      </p:to>
                                    </p:set>
                                    <p:animEffect filter="fade" transition="in">
                                      <p:cBhvr>
                                        <p:cTn dur="1"/>
                                        <p:tgtEl>
                                          <p:spTgt spid="2173">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73">
                                            <p:txEl>
                                              <p:pRg end="1" st="1"/>
                                            </p:txEl>
                                          </p:spTgt>
                                        </p:tgtEl>
                                        <p:attrNameLst>
                                          <p:attrName>style.visibility</p:attrName>
                                        </p:attrNameLst>
                                      </p:cBhvr>
                                      <p:to>
                                        <p:strVal val="visible"/>
                                      </p:to>
                                    </p:set>
                                    <p:animEffect filter="fade" transition="in">
                                      <p:cBhvr>
                                        <p:cTn dur="1"/>
                                        <p:tgtEl>
                                          <p:spTgt spid="2173">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73">
                                            <p:txEl>
                                              <p:pRg end="2" st="2"/>
                                            </p:txEl>
                                          </p:spTgt>
                                        </p:tgtEl>
                                        <p:attrNameLst>
                                          <p:attrName>style.visibility</p:attrName>
                                        </p:attrNameLst>
                                      </p:cBhvr>
                                      <p:to>
                                        <p:strVal val="visible"/>
                                      </p:to>
                                    </p:set>
                                    <p:animEffect filter="fade" transition="in">
                                      <p:cBhvr>
                                        <p:cTn dur="1"/>
                                        <p:tgtEl>
                                          <p:spTgt spid="2173">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73">
                                            <p:txEl>
                                              <p:pRg end="3" st="3"/>
                                            </p:txEl>
                                          </p:spTgt>
                                        </p:tgtEl>
                                        <p:attrNameLst>
                                          <p:attrName>style.visibility</p:attrName>
                                        </p:attrNameLst>
                                      </p:cBhvr>
                                      <p:to>
                                        <p:strVal val="visible"/>
                                      </p:to>
                                    </p:set>
                                    <p:animEffect filter="fade" transition="in">
                                      <p:cBhvr>
                                        <p:cTn dur="1"/>
                                        <p:tgtEl>
                                          <p:spTgt spid="2173">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74"/>
                                        </p:tgtEl>
                                        <p:attrNameLst>
                                          <p:attrName>style.visibility</p:attrName>
                                        </p:attrNameLst>
                                      </p:cBhvr>
                                      <p:to>
                                        <p:strVal val="visible"/>
                                      </p:to>
                                    </p:set>
                                    <p:animEffect filter="fade" transition="in">
                                      <p:cBhvr>
                                        <p:cTn dur="1"/>
                                        <p:tgtEl>
                                          <p:spTgt spid="217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8" name="Shape 2178"/>
        <p:cNvGrpSpPr/>
        <p:nvPr/>
      </p:nvGrpSpPr>
      <p:grpSpPr>
        <a:xfrm>
          <a:off x="0" y="0"/>
          <a:ext cx="0" cy="0"/>
          <a:chOff x="0" y="0"/>
          <a:chExt cx="0" cy="0"/>
        </a:xfrm>
      </p:grpSpPr>
      <p:sp>
        <p:nvSpPr>
          <p:cNvPr id="2179" name="Google Shape;2179;p109"/>
          <p:cNvSpPr txBox="1"/>
          <p:nvPr>
            <p:ph type="title"/>
          </p:nvPr>
        </p:nvSpPr>
        <p:spPr>
          <a:xfrm>
            <a:off x="90600" y="16300"/>
            <a:ext cx="8805900" cy="495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Argument #2: Quicksort is BST Sort</a:t>
            </a:r>
            <a:endParaRPr/>
          </a:p>
        </p:txBody>
      </p:sp>
      <p:sp>
        <p:nvSpPr>
          <p:cNvPr id="2180" name="Google Shape;2180;p109"/>
          <p:cNvSpPr/>
          <p:nvPr/>
        </p:nvSpPr>
        <p:spPr>
          <a:xfrm>
            <a:off x="837700" y="785725"/>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a:t>
            </a:r>
            <a:endParaRPr sz="1800">
              <a:latin typeface="Calibri"/>
              <a:ea typeface="Calibri"/>
              <a:cs typeface="Calibri"/>
              <a:sym typeface="Calibri"/>
            </a:endParaRPr>
          </a:p>
        </p:txBody>
      </p:sp>
      <p:sp>
        <p:nvSpPr>
          <p:cNvPr id="2181" name="Google Shape;2181;p109"/>
          <p:cNvSpPr/>
          <p:nvPr/>
        </p:nvSpPr>
        <p:spPr>
          <a:xfrm>
            <a:off x="1370300" y="7857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a:t>
            </a:r>
            <a:endParaRPr sz="1800">
              <a:latin typeface="Calibri"/>
              <a:ea typeface="Calibri"/>
              <a:cs typeface="Calibri"/>
              <a:sym typeface="Calibri"/>
            </a:endParaRPr>
          </a:p>
        </p:txBody>
      </p:sp>
      <p:sp>
        <p:nvSpPr>
          <p:cNvPr id="2182" name="Google Shape;2182;p109"/>
          <p:cNvSpPr/>
          <p:nvPr/>
        </p:nvSpPr>
        <p:spPr>
          <a:xfrm>
            <a:off x="1902900" y="7857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2183" name="Google Shape;2183;p109"/>
          <p:cNvSpPr/>
          <p:nvPr/>
        </p:nvSpPr>
        <p:spPr>
          <a:xfrm>
            <a:off x="2435501" y="7857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a:t>
            </a:r>
            <a:endParaRPr sz="1800">
              <a:latin typeface="Calibri"/>
              <a:ea typeface="Calibri"/>
              <a:cs typeface="Calibri"/>
              <a:sym typeface="Calibri"/>
            </a:endParaRPr>
          </a:p>
        </p:txBody>
      </p:sp>
      <p:sp>
        <p:nvSpPr>
          <p:cNvPr id="2184" name="Google Shape;2184;p109"/>
          <p:cNvSpPr/>
          <p:nvPr/>
        </p:nvSpPr>
        <p:spPr>
          <a:xfrm>
            <a:off x="3500701" y="7857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8</a:t>
            </a:r>
            <a:endParaRPr sz="1800">
              <a:latin typeface="Calibri"/>
              <a:ea typeface="Calibri"/>
              <a:cs typeface="Calibri"/>
              <a:sym typeface="Calibri"/>
            </a:endParaRPr>
          </a:p>
        </p:txBody>
      </p:sp>
      <p:sp>
        <p:nvSpPr>
          <p:cNvPr id="2185" name="Google Shape;2185;p109"/>
          <p:cNvSpPr/>
          <p:nvPr/>
        </p:nvSpPr>
        <p:spPr>
          <a:xfrm>
            <a:off x="4033301" y="7857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2186" name="Google Shape;2186;p109"/>
          <p:cNvSpPr/>
          <p:nvPr/>
        </p:nvSpPr>
        <p:spPr>
          <a:xfrm>
            <a:off x="4565902" y="7857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6</a:t>
            </a:r>
            <a:endParaRPr sz="1800">
              <a:latin typeface="Calibri"/>
              <a:ea typeface="Calibri"/>
              <a:cs typeface="Calibri"/>
              <a:sym typeface="Calibri"/>
            </a:endParaRPr>
          </a:p>
        </p:txBody>
      </p:sp>
      <p:sp>
        <p:nvSpPr>
          <p:cNvPr id="2187" name="Google Shape;2187;p109"/>
          <p:cNvSpPr/>
          <p:nvPr/>
        </p:nvSpPr>
        <p:spPr>
          <a:xfrm>
            <a:off x="2968101" y="7857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7</a:t>
            </a:r>
            <a:endParaRPr sz="1800">
              <a:latin typeface="Calibri"/>
              <a:ea typeface="Calibri"/>
              <a:cs typeface="Calibri"/>
              <a:sym typeface="Calibri"/>
            </a:endParaRPr>
          </a:p>
        </p:txBody>
      </p:sp>
      <p:sp>
        <p:nvSpPr>
          <p:cNvPr id="2188" name="Google Shape;2188;p109"/>
          <p:cNvSpPr/>
          <p:nvPr/>
        </p:nvSpPr>
        <p:spPr>
          <a:xfrm>
            <a:off x="381275" y="1568125"/>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a:t>
            </a:r>
            <a:endParaRPr sz="1800">
              <a:latin typeface="Calibri"/>
              <a:ea typeface="Calibri"/>
              <a:cs typeface="Calibri"/>
              <a:sym typeface="Calibri"/>
            </a:endParaRPr>
          </a:p>
        </p:txBody>
      </p:sp>
      <p:sp>
        <p:nvSpPr>
          <p:cNvPr id="2189" name="Google Shape;2189;p109"/>
          <p:cNvSpPr/>
          <p:nvPr/>
        </p:nvSpPr>
        <p:spPr>
          <a:xfrm>
            <a:off x="913875" y="15681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2190" name="Google Shape;2190;p109"/>
          <p:cNvSpPr/>
          <p:nvPr/>
        </p:nvSpPr>
        <p:spPr>
          <a:xfrm>
            <a:off x="1446475" y="15681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a:t>
            </a:r>
            <a:endParaRPr sz="1800">
              <a:latin typeface="Calibri"/>
              <a:ea typeface="Calibri"/>
              <a:cs typeface="Calibri"/>
              <a:sym typeface="Calibri"/>
            </a:endParaRPr>
          </a:p>
        </p:txBody>
      </p:sp>
      <p:sp>
        <p:nvSpPr>
          <p:cNvPr id="2191" name="Google Shape;2191;p109"/>
          <p:cNvSpPr/>
          <p:nvPr/>
        </p:nvSpPr>
        <p:spPr>
          <a:xfrm>
            <a:off x="1979076" y="15681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2192" name="Google Shape;2192;p109"/>
          <p:cNvSpPr/>
          <p:nvPr/>
        </p:nvSpPr>
        <p:spPr>
          <a:xfrm>
            <a:off x="3346701" y="1568125"/>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7</a:t>
            </a:r>
            <a:endParaRPr sz="1800">
              <a:latin typeface="Calibri"/>
              <a:ea typeface="Calibri"/>
              <a:cs typeface="Calibri"/>
              <a:sym typeface="Calibri"/>
            </a:endParaRPr>
          </a:p>
        </p:txBody>
      </p:sp>
      <p:sp>
        <p:nvSpPr>
          <p:cNvPr id="2193" name="Google Shape;2193;p109"/>
          <p:cNvSpPr/>
          <p:nvPr/>
        </p:nvSpPr>
        <p:spPr>
          <a:xfrm>
            <a:off x="3879301" y="15681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8</a:t>
            </a:r>
            <a:endParaRPr sz="1800">
              <a:latin typeface="Calibri"/>
              <a:ea typeface="Calibri"/>
              <a:cs typeface="Calibri"/>
              <a:sym typeface="Calibri"/>
            </a:endParaRPr>
          </a:p>
        </p:txBody>
      </p:sp>
      <p:sp>
        <p:nvSpPr>
          <p:cNvPr id="2194" name="Google Shape;2194;p109"/>
          <p:cNvSpPr/>
          <p:nvPr/>
        </p:nvSpPr>
        <p:spPr>
          <a:xfrm>
            <a:off x="4411902" y="1568125"/>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6</a:t>
            </a:r>
            <a:endParaRPr sz="1800">
              <a:latin typeface="Calibri"/>
              <a:ea typeface="Calibri"/>
              <a:cs typeface="Calibri"/>
              <a:sym typeface="Calibri"/>
            </a:endParaRPr>
          </a:p>
        </p:txBody>
      </p:sp>
      <p:grpSp>
        <p:nvGrpSpPr>
          <p:cNvPr id="2195" name="Google Shape;2195;p109"/>
          <p:cNvGrpSpPr/>
          <p:nvPr/>
        </p:nvGrpSpPr>
        <p:grpSpPr>
          <a:xfrm>
            <a:off x="76475" y="2380007"/>
            <a:ext cx="1072600" cy="495300"/>
            <a:chOff x="152675" y="2380007"/>
            <a:chExt cx="1072600" cy="495300"/>
          </a:xfrm>
        </p:grpSpPr>
        <p:sp>
          <p:nvSpPr>
            <p:cNvPr id="2196" name="Google Shape;2196;p109"/>
            <p:cNvSpPr/>
            <p:nvPr/>
          </p:nvSpPr>
          <p:spPr>
            <a:xfrm>
              <a:off x="152675" y="2380007"/>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2197" name="Google Shape;2197;p109"/>
            <p:cNvSpPr/>
            <p:nvPr/>
          </p:nvSpPr>
          <p:spPr>
            <a:xfrm>
              <a:off x="685275" y="2380007"/>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a:t>
              </a:r>
              <a:endParaRPr sz="1800">
                <a:latin typeface="Calibri"/>
                <a:ea typeface="Calibri"/>
                <a:cs typeface="Calibri"/>
                <a:sym typeface="Calibri"/>
              </a:endParaRPr>
            </a:p>
          </p:txBody>
        </p:sp>
      </p:grpSp>
      <p:sp>
        <p:nvSpPr>
          <p:cNvPr id="2198" name="Google Shape;2198;p109"/>
          <p:cNvSpPr/>
          <p:nvPr/>
        </p:nvSpPr>
        <p:spPr>
          <a:xfrm>
            <a:off x="1977492" y="2380007"/>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2199" name="Google Shape;2199;p109"/>
          <p:cNvSpPr/>
          <p:nvPr/>
        </p:nvSpPr>
        <p:spPr>
          <a:xfrm>
            <a:off x="3345909" y="2380007"/>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6</a:t>
            </a:r>
            <a:endParaRPr sz="1800">
              <a:latin typeface="Calibri"/>
              <a:ea typeface="Calibri"/>
              <a:cs typeface="Calibri"/>
              <a:sym typeface="Calibri"/>
            </a:endParaRPr>
          </a:p>
        </p:txBody>
      </p:sp>
      <p:sp>
        <p:nvSpPr>
          <p:cNvPr id="2200" name="Google Shape;2200;p109"/>
          <p:cNvSpPr/>
          <p:nvPr/>
        </p:nvSpPr>
        <p:spPr>
          <a:xfrm>
            <a:off x="4714327" y="2380007"/>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8</a:t>
            </a:r>
            <a:endParaRPr sz="1800">
              <a:latin typeface="Calibri"/>
              <a:ea typeface="Calibri"/>
              <a:cs typeface="Calibri"/>
              <a:sym typeface="Calibri"/>
            </a:endParaRPr>
          </a:p>
        </p:txBody>
      </p:sp>
      <p:sp>
        <p:nvSpPr>
          <p:cNvPr id="2201" name="Google Shape;2201;p109"/>
          <p:cNvSpPr/>
          <p:nvPr/>
        </p:nvSpPr>
        <p:spPr>
          <a:xfrm>
            <a:off x="2662876" y="1574360"/>
            <a:ext cx="540000" cy="4953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5</a:t>
            </a:r>
            <a:endParaRPr sz="1800">
              <a:solidFill>
                <a:srgbClr val="FFFFFF"/>
              </a:solidFill>
              <a:latin typeface="Calibri"/>
              <a:ea typeface="Calibri"/>
              <a:cs typeface="Calibri"/>
              <a:sym typeface="Calibri"/>
            </a:endParaRPr>
          </a:p>
        </p:txBody>
      </p:sp>
      <p:sp>
        <p:nvSpPr>
          <p:cNvPr id="2202" name="Google Shape;2202;p109"/>
          <p:cNvSpPr/>
          <p:nvPr/>
        </p:nvSpPr>
        <p:spPr>
          <a:xfrm>
            <a:off x="1293284" y="2380007"/>
            <a:ext cx="540000" cy="4953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3</a:t>
            </a:r>
            <a:endParaRPr sz="1800">
              <a:solidFill>
                <a:srgbClr val="FFFFFF"/>
              </a:solidFill>
              <a:latin typeface="Calibri"/>
              <a:ea typeface="Calibri"/>
              <a:cs typeface="Calibri"/>
              <a:sym typeface="Calibri"/>
            </a:endParaRPr>
          </a:p>
        </p:txBody>
      </p:sp>
      <p:sp>
        <p:nvSpPr>
          <p:cNvPr id="2203" name="Google Shape;2203;p109"/>
          <p:cNvSpPr/>
          <p:nvPr/>
        </p:nvSpPr>
        <p:spPr>
          <a:xfrm>
            <a:off x="2661701" y="2380007"/>
            <a:ext cx="540000" cy="4953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5</a:t>
            </a:r>
            <a:endParaRPr sz="1800">
              <a:solidFill>
                <a:srgbClr val="FFFFFF"/>
              </a:solidFill>
              <a:latin typeface="Calibri"/>
              <a:ea typeface="Calibri"/>
              <a:cs typeface="Calibri"/>
              <a:sym typeface="Calibri"/>
            </a:endParaRPr>
          </a:p>
        </p:txBody>
      </p:sp>
      <p:sp>
        <p:nvSpPr>
          <p:cNvPr id="2204" name="Google Shape;2204;p109"/>
          <p:cNvSpPr/>
          <p:nvPr/>
        </p:nvSpPr>
        <p:spPr>
          <a:xfrm>
            <a:off x="4030118" y="2380007"/>
            <a:ext cx="540000" cy="495300"/>
          </a:xfrm>
          <a:prstGeom prst="rect">
            <a:avLst/>
          </a:prstGeom>
          <a:solidFill>
            <a:srgbClr val="000000"/>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solidFill>
                  <a:srgbClr val="FFFFFF"/>
                </a:solidFill>
                <a:latin typeface="Calibri"/>
                <a:ea typeface="Calibri"/>
                <a:cs typeface="Calibri"/>
                <a:sym typeface="Calibri"/>
              </a:rPr>
              <a:t>7</a:t>
            </a:r>
            <a:endParaRPr sz="1800">
              <a:solidFill>
                <a:srgbClr val="FFFFFF"/>
              </a:solidFill>
              <a:latin typeface="Calibri"/>
              <a:ea typeface="Calibri"/>
              <a:cs typeface="Calibri"/>
              <a:sym typeface="Calibri"/>
            </a:endParaRPr>
          </a:p>
        </p:txBody>
      </p:sp>
      <p:sp>
        <p:nvSpPr>
          <p:cNvPr id="2205" name="Google Shape;2205;p109"/>
          <p:cNvSpPr/>
          <p:nvPr/>
        </p:nvSpPr>
        <p:spPr>
          <a:xfrm>
            <a:off x="7274975" y="785725"/>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5</a:t>
            </a:r>
            <a:endParaRPr sz="1800">
              <a:latin typeface="Calibri"/>
              <a:ea typeface="Calibri"/>
              <a:cs typeface="Calibri"/>
              <a:sym typeface="Calibri"/>
            </a:endParaRPr>
          </a:p>
        </p:txBody>
      </p:sp>
      <p:grpSp>
        <p:nvGrpSpPr>
          <p:cNvPr id="2206" name="Google Shape;2206;p109"/>
          <p:cNvGrpSpPr/>
          <p:nvPr/>
        </p:nvGrpSpPr>
        <p:grpSpPr>
          <a:xfrm>
            <a:off x="6512975" y="1281025"/>
            <a:ext cx="1032000" cy="762000"/>
            <a:chOff x="6665375" y="1281025"/>
            <a:chExt cx="1032000" cy="762000"/>
          </a:xfrm>
        </p:grpSpPr>
        <p:sp>
          <p:nvSpPr>
            <p:cNvPr id="2207" name="Google Shape;2207;p109"/>
            <p:cNvSpPr/>
            <p:nvPr/>
          </p:nvSpPr>
          <p:spPr>
            <a:xfrm>
              <a:off x="6665375" y="1547725"/>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a:t>
              </a:r>
              <a:endParaRPr sz="1800">
                <a:latin typeface="Calibri"/>
                <a:ea typeface="Calibri"/>
                <a:cs typeface="Calibri"/>
                <a:sym typeface="Calibri"/>
              </a:endParaRPr>
            </a:p>
          </p:txBody>
        </p:sp>
        <p:cxnSp>
          <p:nvCxnSpPr>
            <p:cNvPr id="2208" name="Google Shape;2208;p109"/>
            <p:cNvCxnSpPr>
              <a:stCxn id="2205" idx="2"/>
              <a:endCxn id="2207" idx="0"/>
            </p:cNvCxnSpPr>
            <p:nvPr/>
          </p:nvCxnSpPr>
          <p:spPr>
            <a:xfrm flipH="1">
              <a:off x="6935375" y="1281025"/>
              <a:ext cx="762000" cy="266700"/>
            </a:xfrm>
            <a:prstGeom prst="straightConnector1">
              <a:avLst/>
            </a:prstGeom>
            <a:noFill/>
            <a:ln cap="flat" cmpd="sng" w="19050">
              <a:solidFill>
                <a:schemeClr val="dk2"/>
              </a:solidFill>
              <a:prstDash val="solid"/>
              <a:round/>
              <a:headEnd len="med" w="med" type="none"/>
              <a:tailEnd len="med" w="med" type="triangle"/>
            </a:ln>
          </p:spPr>
        </p:cxnSp>
      </p:grpSp>
      <p:grpSp>
        <p:nvGrpSpPr>
          <p:cNvPr id="2209" name="Google Shape;2209;p109"/>
          <p:cNvGrpSpPr/>
          <p:nvPr/>
        </p:nvGrpSpPr>
        <p:grpSpPr>
          <a:xfrm>
            <a:off x="7544975" y="1281025"/>
            <a:ext cx="1038601" cy="762000"/>
            <a:chOff x="7697375" y="1281025"/>
            <a:chExt cx="1038601" cy="762000"/>
          </a:xfrm>
        </p:grpSpPr>
        <p:sp>
          <p:nvSpPr>
            <p:cNvPr id="2210" name="Google Shape;2210;p109"/>
            <p:cNvSpPr/>
            <p:nvPr/>
          </p:nvSpPr>
          <p:spPr>
            <a:xfrm>
              <a:off x="8195976" y="1547725"/>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7</a:t>
              </a:r>
              <a:endParaRPr sz="1800">
                <a:latin typeface="Calibri"/>
                <a:ea typeface="Calibri"/>
                <a:cs typeface="Calibri"/>
                <a:sym typeface="Calibri"/>
              </a:endParaRPr>
            </a:p>
          </p:txBody>
        </p:sp>
        <p:cxnSp>
          <p:nvCxnSpPr>
            <p:cNvPr id="2211" name="Google Shape;2211;p109"/>
            <p:cNvCxnSpPr>
              <a:stCxn id="2205" idx="2"/>
              <a:endCxn id="2210" idx="0"/>
            </p:cNvCxnSpPr>
            <p:nvPr/>
          </p:nvCxnSpPr>
          <p:spPr>
            <a:xfrm>
              <a:off x="7697375" y="1281025"/>
              <a:ext cx="768600" cy="266700"/>
            </a:xfrm>
            <a:prstGeom prst="straightConnector1">
              <a:avLst/>
            </a:prstGeom>
            <a:noFill/>
            <a:ln cap="flat" cmpd="sng" w="19050">
              <a:solidFill>
                <a:schemeClr val="dk2"/>
              </a:solidFill>
              <a:prstDash val="solid"/>
              <a:round/>
              <a:headEnd len="med" w="med" type="none"/>
              <a:tailEnd len="med" w="med" type="triangle"/>
            </a:ln>
          </p:spPr>
        </p:cxnSp>
      </p:grpSp>
      <p:grpSp>
        <p:nvGrpSpPr>
          <p:cNvPr id="2212" name="Google Shape;2212;p109"/>
          <p:cNvGrpSpPr/>
          <p:nvPr/>
        </p:nvGrpSpPr>
        <p:grpSpPr>
          <a:xfrm>
            <a:off x="6073425" y="2043025"/>
            <a:ext cx="709550" cy="832275"/>
            <a:chOff x="6225825" y="2043025"/>
            <a:chExt cx="709550" cy="832275"/>
          </a:xfrm>
        </p:grpSpPr>
        <p:sp>
          <p:nvSpPr>
            <p:cNvPr id="2213" name="Google Shape;2213;p109"/>
            <p:cNvSpPr/>
            <p:nvPr/>
          </p:nvSpPr>
          <p:spPr>
            <a:xfrm>
              <a:off x="6225825" y="2380000"/>
              <a:ext cx="540000" cy="495300"/>
            </a:xfrm>
            <a:prstGeom prst="rect">
              <a:avLst/>
            </a:prstGeom>
            <a:solidFill>
              <a:srgbClr val="B1DD8B"/>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cxnSp>
          <p:nvCxnSpPr>
            <p:cNvPr id="2214" name="Google Shape;2214;p109"/>
            <p:cNvCxnSpPr>
              <a:stCxn id="2207" idx="2"/>
              <a:endCxn id="2213" idx="0"/>
            </p:cNvCxnSpPr>
            <p:nvPr/>
          </p:nvCxnSpPr>
          <p:spPr>
            <a:xfrm flipH="1">
              <a:off x="6495875" y="2043025"/>
              <a:ext cx="439500" cy="336900"/>
            </a:xfrm>
            <a:prstGeom prst="straightConnector1">
              <a:avLst/>
            </a:prstGeom>
            <a:noFill/>
            <a:ln cap="flat" cmpd="sng" w="19050">
              <a:solidFill>
                <a:schemeClr val="dk2"/>
              </a:solidFill>
              <a:prstDash val="solid"/>
              <a:round/>
              <a:headEnd len="med" w="med" type="none"/>
              <a:tailEnd len="med" w="med" type="triangle"/>
            </a:ln>
          </p:spPr>
        </p:cxnSp>
      </p:grpSp>
      <p:grpSp>
        <p:nvGrpSpPr>
          <p:cNvPr id="2215" name="Google Shape;2215;p109"/>
          <p:cNvGrpSpPr/>
          <p:nvPr/>
        </p:nvGrpSpPr>
        <p:grpSpPr>
          <a:xfrm>
            <a:off x="6782975" y="2043025"/>
            <a:ext cx="600175" cy="832275"/>
            <a:chOff x="6935375" y="2043025"/>
            <a:chExt cx="600175" cy="832275"/>
          </a:xfrm>
        </p:grpSpPr>
        <p:sp>
          <p:nvSpPr>
            <p:cNvPr id="2216" name="Google Shape;2216;p109"/>
            <p:cNvSpPr/>
            <p:nvPr/>
          </p:nvSpPr>
          <p:spPr>
            <a:xfrm>
              <a:off x="6995550" y="2380000"/>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cxnSp>
          <p:nvCxnSpPr>
            <p:cNvPr id="2217" name="Google Shape;2217;p109"/>
            <p:cNvCxnSpPr>
              <a:stCxn id="2207" idx="2"/>
              <a:endCxn id="2216" idx="0"/>
            </p:cNvCxnSpPr>
            <p:nvPr/>
          </p:nvCxnSpPr>
          <p:spPr>
            <a:xfrm>
              <a:off x="6935375" y="2043025"/>
              <a:ext cx="330300" cy="336900"/>
            </a:xfrm>
            <a:prstGeom prst="straightConnector1">
              <a:avLst/>
            </a:prstGeom>
            <a:noFill/>
            <a:ln cap="flat" cmpd="sng" w="19050">
              <a:solidFill>
                <a:schemeClr val="dk2"/>
              </a:solidFill>
              <a:prstDash val="solid"/>
              <a:round/>
              <a:headEnd len="med" w="med" type="none"/>
              <a:tailEnd len="med" w="med" type="triangle"/>
            </a:ln>
          </p:spPr>
        </p:cxnSp>
      </p:grpSp>
      <p:grpSp>
        <p:nvGrpSpPr>
          <p:cNvPr id="2218" name="Google Shape;2218;p109"/>
          <p:cNvGrpSpPr/>
          <p:nvPr/>
        </p:nvGrpSpPr>
        <p:grpSpPr>
          <a:xfrm>
            <a:off x="7641663" y="2043025"/>
            <a:ext cx="671913" cy="832275"/>
            <a:chOff x="7794063" y="2043025"/>
            <a:chExt cx="671913" cy="832275"/>
          </a:xfrm>
        </p:grpSpPr>
        <p:sp>
          <p:nvSpPr>
            <p:cNvPr id="2219" name="Google Shape;2219;p109"/>
            <p:cNvSpPr/>
            <p:nvPr/>
          </p:nvSpPr>
          <p:spPr>
            <a:xfrm>
              <a:off x="7794063" y="2380000"/>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6</a:t>
              </a:r>
              <a:endParaRPr sz="1800">
                <a:latin typeface="Calibri"/>
                <a:ea typeface="Calibri"/>
                <a:cs typeface="Calibri"/>
                <a:sym typeface="Calibri"/>
              </a:endParaRPr>
            </a:p>
          </p:txBody>
        </p:sp>
        <p:cxnSp>
          <p:nvCxnSpPr>
            <p:cNvPr id="2220" name="Google Shape;2220;p109"/>
            <p:cNvCxnSpPr>
              <a:stCxn id="2210" idx="2"/>
              <a:endCxn id="2219" idx="0"/>
            </p:cNvCxnSpPr>
            <p:nvPr/>
          </p:nvCxnSpPr>
          <p:spPr>
            <a:xfrm flipH="1">
              <a:off x="8063976" y="2043025"/>
              <a:ext cx="402000" cy="336900"/>
            </a:xfrm>
            <a:prstGeom prst="straightConnector1">
              <a:avLst/>
            </a:prstGeom>
            <a:noFill/>
            <a:ln cap="flat" cmpd="sng" w="19050">
              <a:solidFill>
                <a:schemeClr val="dk2"/>
              </a:solidFill>
              <a:prstDash val="solid"/>
              <a:round/>
              <a:headEnd len="med" w="med" type="none"/>
              <a:tailEnd len="med" w="med" type="triangle"/>
            </a:ln>
          </p:spPr>
        </p:cxnSp>
      </p:grpSp>
      <p:grpSp>
        <p:nvGrpSpPr>
          <p:cNvPr id="2221" name="Google Shape;2221;p109"/>
          <p:cNvGrpSpPr/>
          <p:nvPr/>
        </p:nvGrpSpPr>
        <p:grpSpPr>
          <a:xfrm>
            <a:off x="8313576" y="2043025"/>
            <a:ext cx="666600" cy="832275"/>
            <a:chOff x="8465976" y="2043025"/>
            <a:chExt cx="666600" cy="832275"/>
          </a:xfrm>
        </p:grpSpPr>
        <p:sp>
          <p:nvSpPr>
            <p:cNvPr id="2222" name="Google Shape;2222;p109"/>
            <p:cNvSpPr/>
            <p:nvPr/>
          </p:nvSpPr>
          <p:spPr>
            <a:xfrm>
              <a:off x="8592576" y="2380000"/>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8</a:t>
              </a:r>
              <a:endParaRPr sz="1800">
                <a:latin typeface="Calibri"/>
                <a:ea typeface="Calibri"/>
                <a:cs typeface="Calibri"/>
                <a:sym typeface="Calibri"/>
              </a:endParaRPr>
            </a:p>
          </p:txBody>
        </p:sp>
        <p:cxnSp>
          <p:nvCxnSpPr>
            <p:cNvPr id="2223" name="Google Shape;2223;p109"/>
            <p:cNvCxnSpPr>
              <a:stCxn id="2210" idx="2"/>
              <a:endCxn id="2222" idx="0"/>
            </p:cNvCxnSpPr>
            <p:nvPr/>
          </p:nvCxnSpPr>
          <p:spPr>
            <a:xfrm>
              <a:off x="8465976" y="2043025"/>
              <a:ext cx="396600" cy="336900"/>
            </a:xfrm>
            <a:prstGeom prst="straightConnector1">
              <a:avLst/>
            </a:prstGeom>
            <a:noFill/>
            <a:ln cap="flat" cmpd="sng" w="19050">
              <a:solidFill>
                <a:schemeClr val="dk2"/>
              </a:solidFill>
              <a:prstDash val="solid"/>
              <a:round/>
              <a:headEnd len="med" w="med" type="none"/>
              <a:tailEnd len="med" w="med" type="triangle"/>
            </a:ln>
          </p:spPr>
        </p:cxnSp>
      </p:grpSp>
      <p:grpSp>
        <p:nvGrpSpPr>
          <p:cNvPr id="2224" name="Google Shape;2224;p109"/>
          <p:cNvGrpSpPr/>
          <p:nvPr/>
        </p:nvGrpSpPr>
        <p:grpSpPr>
          <a:xfrm>
            <a:off x="5618300" y="2875200"/>
            <a:ext cx="725100" cy="837900"/>
            <a:chOff x="5770700" y="2875200"/>
            <a:chExt cx="725100" cy="837900"/>
          </a:xfrm>
        </p:grpSpPr>
        <p:sp>
          <p:nvSpPr>
            <p:cNvPr id="2225" name="Google Shape;2225;p109"/>
            <p:cNvSpPr/>
            <p:nvPr/>
          </p:nvSpPr>
          <p:spPr>
            <a:xfrm>
              <a:off x="5770700" y="3217800"/>
              <a:ext cx="540000" cy="495300"/>
            </a:xfrm>
            <a:prstGeom prst="rect">
              <a:avLst/>
            </a:prstGeom>
            <a:solidFill>
              <a:srgbClr val="D9D9D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a:t>
              </a:r>
              <a:endParaRPr sz="1800">
                <a:latin typeface="Calibri"/>
                <a:ea typeface="Calibri"/>
                <a:cs typeface="Calibri"/>
                <a:sym typeface="Calibri"/>
              </a:endParaRPr>
            </a:p>
          </p:txBody>
        </p:sp>
        <p:cxnSp>
          <p:nvCxnSpPr>
            <p:cNvPr id="2226" name="Google Shape;2226;p109"/>
            <p:cNvCxnSpPr>
              <a:endCxn id="2225" idx="0"/>
            </p:cNvCxnSpPr>
            <p:nvPr/>
          </p:nvCxnSpPr>
          <p:spPr>
            <a:xfrm flipH="1">
              <a:off x="6040700" y="2875200"/>
              <a:ext cx="455100" cy="342600"/>
            </a:xfrm>
            <a:prstGeom prst="straightConnector1">
              <a:avLst/>
            </a:prstGeom>
            <a:noFill/>
            <a:ln cap="flat" cmpd="sng" w="19050">
              <a:solidFill>
                <a:schemeClr val="dk2"/>
              </a:solidFill>
              <a:prstDash val="solid"/>
              <a:round/>
              <a:headEnd len="med" w="med" type="none"/>
              <a:tailEnd len="med" w="med" type="triangle"/>
            </a:ln>
          </p:spPr>
        </p:cxnSp>
      </p:grpSp>
      <p:pic>
        <p:nvPicPr>
          <p:cNvPr id="2227" name="Google Shape;2227;p109"/>
          <p:cNvPicPr preferRelativeResize="0"/>
          <p:nvPr/>
        </p:nvPicPr>
        <p:blipFill>
          <a:blip r:embed="rId3">
            <a:alphaModFix/>
          </a:blip>
          <a:stretch>
            <a:fillRect/>
          </a:stretch>
        </p:blipFill>
        <p:spPr>
          <a:xfrm>
            <a:off x="1232097" y="3056200"/>
            <a:ext cx="2190000" cy="2006900"/>
          </a:xfrm>
          <a:prstGeom prst="rect">
            <a:avLst/>
          </a:prstGeom>
          <a:noFill/>
          <a:ln>
            <a:noFill/>
          </a:ln>
        </p:spPr>
      </p:pic>
      <p:grpSp>
        <p:nvGrpSpPr>
          <p:cNvPr id="2228" name="Google Shape;2228;p109"/>
          <p:cNvGrpSpPr/>
          <p:nvPr/>
        </p:nvGrpSpPr>
        <p:grpSpPr>
          <a:xfrm>
            <a:off x="3544850" y="3725150"/>
            <a:ext cx="5481000" cy="1364500"/>
            <a:chOff x="3773450" y="3648950"/>
            <a:chExt cx="5481000" cy="1364500"/>
          </a:xfrm>
        </p:grpSpPr>
        <p:sp>
          <p:nvSpPr>
            <p:cNvPr id="2229" name="Google Shape;2229;p109"/>
            <p:cNvSpPr txBox="1"/>
            <p:nvPr/>
          </p:nvSpPr>
          <p:spPr>
            <a:xfrm>
              <a:off x="3773450" y="3648950"/>
              <a:ext cx="5481000" cy="947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Key idea: compareTo calls are same for BST insert and Quicksort.</a:t>
              </a:r>
              <a:endParaRPr/>
            </a:p>
            <a:p>
              <a:pPr indent="-317500" lvl="0" marL="457200" rtl="0" algn="l">
                <a:spcBef>
                  <a:spcPts val="0"/>
                </a:spcBef>
                <a:spcAft>
                  <a:spcPts val="0"/>
                </a:spcAft>
                <a:buSzPts val="1400"/>
                <a:buChar char="●"/>
              </a:pPr>
              <a:r>
                <a:rPr lang="en"/>
                <a:t>Every number gets compared to 5 in both.</a:t>
              </a:r>
              <a:endParaRPr/>
            </a:p>
            <a:p>
              <a:pPr indent="-317500" lvl="0" marL="457200" rtl="0" algn="l">
                <a:spcBef>
                  <a:spcPts val="0"/>
                </a:spcBef>
                <a:spcAft>
                  <a:spcPts val="0"/>
                </a:spcAft>
                <a:buSzPts val="1400"/>
                <a:buChar char="●"/>
              </a:pPr>
              <a:r>
                <a:rPr lang="en"/>
                <a:t>3 gets compared to only 1, 2, 4, and 5 in both.</a:t>
              </a:r>
              <a:endParaRPr/>
            </a:p>
          </p:txBody>
        </p:sp>
        <p:sp>
          <p:nvSpPr>
            <p:cNvPr id="2230" name="Google Shape;2230;p109"/>
            <p:cNvSpPr txBox="1"/>
            <p:nvPr/>
          </p:nvSpPr>
          <p:spPr>
            <a:xfrm>
              <a:off x="3773648" y="4518150"/>
              <a:ext cx="5205000" cy="49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Reminder: Random insertion into a BST takes O(N log N) time.</a:t>
              </a:r>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06"/>
                                        </p:tgtEl>
                                        <p:attrNameLst>
                                          <p:attrName>style.visibility</p:attrName>
                                        </p:attrNameLst>
                                      </p:cBhvr>
                                      <p:to>
                                        <p:strVal val="visible"/>
                                      </p:to>
                                    </p:set>
                                    <p:animEffect filter="fade" transition="in">
                                      <p:cBhvr>
                                        <p:cTn dur="1000"/>
                                        <p:tgtEl>
                                          <p:spTgt spid="220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12"/>
                                        </p:tgtEl>
                                        <p:attrNameLst>
                                          <p:attrName>style.visibility</p:attrName>
                                        </p:attrNameLst>
                                      </p:cBhvr>
                                      <p:to>
                                        <p:strVal val="visible"/>
                                      </p:to>
                                    </p:set>
                                    <p:animEffect filter="fade" transition="in">
                                      <p:cBhvr>
                                        <p:cTn dur="1000"/>
                                        <p:tgtEl>
                                          <p:spTgt spid="221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24"/>
                                        </p:tgtEl>
                                        <p:attrNameLst>
                                          <p:attrName>style.visibility</p:attrName>
                                        </p:attrNameLst>
                                      </p:cBhvr>
                                      <p:to>
                                        <p:strVal val="visible"/>
                                      </p:to>
                                    </p:set>
                                    <p:animEffect filter="fade" transition="in">
                                      <p:cBhvr>
                                        <p:cTn dur="1000"/>
                                        <p:tgtEl>
                                          <p:spTgt spid="222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09"/>
                                        </p:tgtEl>
                                        <p:attrNameLst>
                                          <p:attrName>style.visibility</p:attrName>
                                        </p:attrNameLst>
                                      </p:cBhvr>
                                      <p:to>
                                        <p:strVal val="visible"/>
                                      </p:to>
                                    </p:set>
                                    <p:animEffect filter="fade" transition="in">
                                      <p:cBhvr>
                                        <p:cTn dur="1000"/>
                                        <p:tgtEl>
                                          <p:spTgt spid="220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21"/>
                                        </p:tgtEl>
                                        <p:attrNameLst>
                                          <p:attrName>style.visibility</p:attrName>
                                        </p:attrNameLst>
                                      </p:cBhvr>
                                      <p:to>
                                        <p:strVal val="visible"/>
                                      </p:to>
                                    </p:set>
                                    <p:animEffect filter="fade" transition="in">
                                      <p:cBhvr>
                                        <p:cTn dur="1000"/>
                                        <p:tgtEl>
                                          <p:spTgt spid="222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15"/>
                                        </p:tgtEl>
                                        <p:attrNameLst>
                                          <p:attrName>style.visibility</p:attrName>
                                        </p:attrNameLst>
                                      </p:cBhvr>
                                      <p:to>
                                        <p:strVal val="visible"/>
                                      </p:to>
                                    </p:set>
                                    <p:animEffect filter="fade" transition="in">
                                      <p:cBhvr>
                                        <p:cTn dur="1000"/>
                                        <p:tgtEl>
                                          <p:spTgt spid="221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18"/>
                                        </p:tgtEl>
                                        <p:attrNameLst>
                                          <p:attrName>style.visibility</p:attrName>
                                        </p:attrNameLst>
                                      </p:cBhvr>
                                      <p:to>
                                        <p:strVal val="visible"/>
                                      </p:to>
                                    </p:set>
                                    <p:animEffect filter="fade" transition="in">
                                      <p:cBhvr>
                                        <p:cTn dur="1000"/>
                                        <p:tgtEl>
                                          <p:spTgt spid="221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28"/>
                                        </p:tgtEl>
                                        <p:attrNameLst>
                                          <p:attrName>style.visibility</p:attrName>
                                        </p:attrNameLst>
                                      </p:cBhvr>
                                      <p:to>
                                        <p:strVal val="visible"/>
                                      </p:to>
                                    </p:set>
                                    <p:animEffect filter="fade" transition="in">
                                      <p:cBhvr>
                                        <p:cTn dur="1"/>
                                        <p:tgtEl>
                                          <p:spTgt spid="222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4" name="Shape 2234"/>
        <p:cNvGrpSpPr/>
        <p:nvPr/>
      </p:nvGrpSpPr>
      <p:grpSpPr>
        <a:xfrm>
          <a:off x="0" y="0"/>
          <a:ext cx="0" cy="0"/>
          <a:chOff x="0" y="0"/>
          <a:chExt cx="0" cy="0"/>
        </a:xfrm>
      </p:grpSpPr>
      <p:sp>
        <p:nvSpPr>
          <p:cNvPr id="2235" name="Google Shape;2235;p110"/>
          <p:cNvSpPr txBox="1"/>
          <p:nvPr>
            <p:ph type="title"/>
          </p:nvPr>
        </p:nvSpPr>
        <p:spPr>
          <a:xfrm>
            <a:off x="90600" y="16300"/>
            <a:ext cx="8805900" cy="495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Empirical Quicksort Runtimes</a:t>
            </a:r>
            <a:endParaRPr/>
          </a:p>
        </p:txBody>
      </p:sp>
      <p:sp>
        <p:nvSpPr>
          <p:cNvPr id="2236" name="Google Shape;2236;p110"/>
          <p:cNvSpPr txBox="1"/>
          <p:nvPr/>
        </p:nvSpPr>
        <p:spPr>
          <a:xfrm>
            <a:off x="242400" y="4307775"/>
            <a:ext cx="8730300" cy="758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a:t>For more, see: </a:t>
            </a:r>
            <a:r>
              <a:rPr lang="en" u="sng">
                <a:solidFill>
                  <a:schemeClr val="hlink"/>
                </a:solidFill>
                <a:hlinkClick r:id="rId3"/>
              </a:rPr>
              <a:t>http://www.informit.com/articles/article.aspx?p=2017754&amp;seqNum=7</a:t>
            </a:r>
            <a:endParaRPr/>
          </a:p>
        </p:txBody>
      </p:sp>
      <p:pic>
        <p:nvPicPr>
          <p:cNvPr id="2237" name="Google Shape;2237;p110"/>
          <p:cNvPicPr preferRelativeResize="0"/>
          <p:nvPr/>
        </p:nvPicPr>
        <p:blipFill>
          <a:blip r:embed="rId4">
            <a:alphaModFix/>
          </a:blip>
          <a:stretch>
            <a:fillRect/>
          </a:stretch>
        </p:blipFill>
        <p:spPr>
          <a:xfrm>
            <a:off x="1867725" y="2178175"/>
            <a:ext cx="5276850" cy="1695450"/>
          </a:xfrm>
          <a:prstGeom prst="rect">
            <a:avLst/>
          </a:prstGeom>
          <a:noFill/>
          <a:ln>
            <a:noFill/>
          </a:ln>
        </p:spPr>
      </p:pic>
      <p:sp>
        <p:nvSpPr>
          <p:cNvPr id="2238" name="Google Shape;2238;p110"/>
          <p:cNvSpPr txBox="1"/>
          <p:nvPr/>
        </p:nvSpPr>
        <p:spPr>
          <a:xfrm>
            <a:off x="1760650" y="3587150"/>
            <a:ext cx="6432900" cy="815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a:t>Empirical histogram for quicksort compare counts (10,000 trials with N = 1000)</a:t>
            </a:r>
            <a:endParaRPr/>
          </a:p>
        </p:txBody>
      </p:sp>
      <p:sp>
        <p:nvSpPr>
          <p:cNvPr id="2239" name="Google Shape;2239;p110"/>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For N items:</a:t>
            </a:r>
            <a:endParaRPr/>
          </a:p>
          <a:p>
            <a:pPr indent="-342900" lvl="0" marL="457200" rtl="0" algn="l">
              <a:spcBef>
                <a:spcPts val="600"/>
              </a:spcBef>
              <a:spcAft>
                <a:spcPts val="0"/>
              </a:spcAft>
              <a:buSzPts val="1800"/>
              <a:buChar char="●"/>
            </a:pPr>
            <a:r>
              <a:rPr lang="en"/>
              <a:t>Mean number of compares to complete Quicksort: ~2N ln N</a:t>
            </a:r>
            <a:endParaRPr/>
          </a:p>
          <a:p>
            <a:pPr indent="-342900" lvl="0" marL="457200" rtl="0" algn="l">
              <a:spcBef>
                <a:spcPts val="0"/>
              </a:spcBef>
              <a:spcAft>
                <a:spcPts val="0"/>
              </a:spcAft>
              <a:buSzPts val="1800"/>
              <a:buChar char="●"/>
            </a:pPr>
            <a:r>
              <a:rPr lang="en"/>
              <a:t>Standard deviation: </a:t>
            </a:r>
            <a:endParaRPr/>
          </a:p>
        </p:txBody>
      </p:sp>
      <p:grpSp>
        <p:nvGrpSpPr>
          <p:cNvPr id="2240" name="Google Shape;2240;p110"/>
          <p:cNvGrpSpPr/>
          <p:nvPr/>
        </p:nvGrpSpPr>
        <p:grpSpPr>
          <a:xfrm>
            <a:off x="3138775" y="1643125"/>
            <a:ext cx="5471125" cy="583300"/>
            <a:chOff x="3138775" y="1643125"/>
            <a:chExt cx="5471125" cy="583300"/>
          </a:xfrm>
        </p:grpSpPr>
        <p:cxnSp>
          <p:nvCxnSpPr>
            <p:cNvPr id="2241" name="Google Shape;2241;p110"/>
            <p:cNvCxnSpPr/>
            <p:nvPr/>
          </p:nvCxnSpPr>
          <p:spPr>
            <a:xfrm flipH="1">
              <a:off x="3138775" y="1973525"/>
              <a:ext cx="2220300" cy="252900"/>
            </a:xfrm>
            <a:prstGeom prst="straightConnector1">
              <a:avLst/>
            </a:prstGeom>
            <a:noFill/>
            <a:ln cap="flat" cmpd="sng" w="9525">
              <a:solidFill>
                <a:srgbClr val="BE0712"/>
              </a:solidFill>
              <a:prstDash val="solid"/>
              <a:round/>
              <a:headEnd len="med" w="med" type="none"/>
              <a:tailEnd len="med" w="med" type="triangle"/>
            </a:ln>
          </p:spPr>
        </p:cxnSp>
        <p:sp>
          <p:nvSpPr>
            <p:cNvPr id="2242" name="Google Shape;2242;p110"/>
            <p:cNvSpPr txBox="1"/>
            <p:nvPr/>
          </p:nvSpPr>
          <p:spPr>
            <a:xfrm>
              <a:off x="5321600" y="1643125"/>
              <a:ext cx="3288300" cy="577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rgbClr val="BE0712"/>
                  </a:solidFill>
                </a:rPr>
                <a:t>Lots of </a:t>
              </a:r>
              <a:r>
                <a:rPr lang="en">
                  <a:solidFill>
                    <a:srgbClr val="BE0712"/>
                  </a:solidFill>
                </a:rPr>
                <a:t>arrays take 12,000ish compares to sort with Quicksort.</a:t>
              </a:r>
              <a:endParaRPr>
                <a:solidFill>
                  <a:srgbClr val="BE0712"/>
                </a:solidFill>
              </a:endParaRPr>
            </a:p>
          </p:txBody>
        </p:sp>
      </p:grpSp>
      <p:grpSp>
        <p:nvGrpSpPr>
          <p:cNvPr id="2243" name="Google Shape;2243;p110"/>
          <p:cNvGrpSpPr/>
          <p:nvPr/>
        </p:nvGrpSpPr>
        <p:grpSpPr>
          <a:xfrm>
            <a:off x="4553425" y="2401313"/>
            <a:ext cx="3288300" cy="1127638"/>
            <a:chOff x="4553425" y="2401313"/>
            <a:chExt cx="3288300" cy="1127638"/>
          </a:xfrm>
        </p:grpSpPr>
        <p:cxnSp>
          <p:nvCxnSpPr>
            <p:cNvPr id="2244" name="Google Shape;2244;p110"/>
            <p:cNvCxnSpPr/>
            <p:nvPr/>
          </p:nvCxnSpPr>
          <p:spPr>
            <a:xfrm>
              <a:off x="5396450" y="3022850"/>
              <a:ext cx="576600" cy="506100"/>
            </a:xfrm>
            <a:prstGeom prst="straightConnector1">
              <a:avLst/>
            </a:prstGeom>
            <a:noFill/>
            <a:ln cap="flat" cmpd="sng" w="9525">
              <a:solidFill>
                <a:srgbClr val="BE0712"/>
              </a:solidFill>
              <a:prstDash val="solid"/>
              <a:round/>
              <a:headEnd len="med" w="med" type="none"/>
              <a:tailEnd len="med" w="med" type="triangle"/>
            </a:ln>
          </p:spPr>
        </p:cxnSp>
        <p:sp>
          <p:nvSpPr>
            <p:cNvPr id="2245" name="Google Shape;2245;p110"/>
            <p:cNvSpPr txBox="1"/>
            <p:nvPr/>
          </p:nvSpPr>
          <p:spPr>
            <a:xfrm>
              <a:off x="4553425" y="2401313"/>
              <a:ext cx="3288300" cy="577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rgbClr val="BE0712"/>
                  </a:solidFill>
                </a:rPr>
                <a:t>A very small number take</a:t>
              </a:r>
              <a:r>
                <a:rPr lang="en">
                  <a:solidFill>
                    <a:srgbClr val="BE0712"/>
                  </a:solidFill>
                </a:rPr>
                <a:t> 15,000ish compares to sort with Quicksort.</a:t>
              </a:r>
              <a:endParaRPr>
                <a:solidFill>
                  <a:srgbClr val="BE0712"/>
                </a:solidFill>
              </a:endParaRPr>
            </a:p>
          </p:txBody>
        </p:sp>
      </p:grpSp>
      <p:grpSp>
        <p:nvGrpSpPr>
          <p:cNvPr id="2246" name="Google Shape;2246;p110"/>
          <p:cNvGrpSpPr/>
          <p:nvPr/>
        </p:nvGrpSpPr>
        <p:grpSpPr>
          <a:xfrm>
            <a:off x="3550800" y="3625175"/>
            <a:ext cx="5421900" cy="1136525"/>
            <a:chOff x="3550800" y="3625175"/>
            <a:chExt cx="5421900" cy="1136525"/>
          </a:xfrm>
        </p:grpSpPr>
        <p:cxnSp>
          <p:nvCxnSpPr>
            <p:cNvPr id="2247" name="Google Shape;2247;p110"/>
            <p:cNvCxnSpPr/>
            <p:nvPr/>
          </p:nvCxnSpPr>
          <p:spPr>
            <a:xfrm flipH="1" rot="10800000">
              <a:off x="7972900" y="3625175"/>
              <a:ext cx="981900" cy="653100"/>
            </a:xfrm>
            <a:prstGeom prst="straightConnector1">
              <a:avLst/>
            </a:prstGeom>
            <a:noFill/>
            <a:ln cap="flat" cmpd="sng" w="9525">
              <a:solidFill>
                <a:srgbClr val="BE0712"/>
              </a:solidFill>
              <a:prstDash val="solid"/>
              <a:round/>
              <a:headEnd len="med" w="med" type="none"/>
              <a:tailEnd len="med" w="med" type="triangle"/>
            </a:ln>
          </p:spPr>
        </p:cxnSp>
        <p:sp>
          <p:nvSpPr>
            <p:cNvPr id="2248" name="Google Shape;2248;p110"/>
            <p:cNvSpPr txBox="1"/>
            <p:nvPr/>
          </p:nvSpPr>
          <p:spPr>
            <a:xfrm>
              <a:off x="3550800" y="4183900"/>
              <a:ext cx="5421900" cy="577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rgbClr val="BE0712"/>
                  </a:solidFill>
                </a:rPr>
                <a:t>Chance of taking 1,000,000ish compares is effectively zero.</a:t>
              </a:r>
              <a:endParaRPr>
                <a:solidFill>
                  <a:srgbClr val="BE0712"/>
                </a:solidFill>
              </a:endParaRPr>
            </a:p>
          </p:txBody>
        </p:sp>
      </p:grpSp>
      <p:pic>
        <p:nvPicPr>
          <p:cNvPr id="2249" name="Google Shape;2249;p110"/>
          <p:cNvPicPr preferRelativeResize="0"/>
          <p:nvPr/>
        </p:nvPicPr>
        <p:blipFill>
          <a:blip r:embed="rId5">
            <a:alphaModFix/>
          </a:blip>
          <a:stretch>
            <a:fillRect/>
          </a:stretch>
        </p:blipFill>
        <p:spPr>
          <a:xfrm>
            <a:off x="2846200" y="1389936"/>
            <a:ext cx="2984851" cy="3818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40"/>
                                        </p:tgtEl>
                                        <p:attrNameLst>
                                          <p:attrName>style.visibility</p:attrName>
                                        </p:attrNameLst>
                                      </p:cBhvr>
                                      <p:to>
                                        <p:strVal val="visible"/>
                                      </p:to>
                                    </p:set>
                                    <p:animEffect filter="fade" transition="in">
                                      <p:cBhvr>
                                        <p:cTn dur="1"/>
                                        <p:tgtEl>
                                          <p:spTgt spid="224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43"/>
                                        </p:tgtEl>
                                        <p:attrNameLst>
                                          <p:attrName>style.visibility</p:attrName>
                                        </p:attrNameLst>
                                      </p:cBhvr>
                                      <p:to>
                                        <p:strVal val="visible"/>
                                      </p:to>
                                    </p:set>
                                    <p:animEffect filter="fade" transition="in">
                                      <p:cBhvr>
                                        <p:cTn dur="1"/>
                                        <p:tgtEl>
                                          <p:spTgt spid="224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46"/>
                                        </p:tgtEl>
                                        <p:attrNameLst>
                                          <p:attrName>style.visibility</p:attrName>
                                        </p:attrNameLst>
                                      </p:cBhvr>
                                      <p:to>
                                        <p:strVal val="visible"/>
                                      </p:to>
                                    </p:set>
                                    <p:animEffect filter="fade" transition="in">
                                      <p:cBhvr>
                                        <p:cTn dur="1"/>
                                        <p:tgtEl>
                                          <p:spTgt spid="224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3" name="Shape 2253"/>
        <p:cNvGrpSpPr/>
        <p:nvPr/>
      </p:nvGrpSpPr>
      <p:grpSpPr>
        <a:xfrm>
          <a:off x="0" y="0"/>
          <a:ext cx="0" cy="0"/>
          <a:chOff x="0" y="0"/>
          <a:chExt cx="0" cy="0"/>
        </a:xfrm>
      </p:grpSpPr>
      <p:sp>
        <p:nvSpPr>
          <p:cNvPr id="2254" name="Google Shape;2254;p11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Quicksort Performance</a:t>
            </a:r>
            <a:endParaRPr/>
          </a:p>
        </p:txBody>
      </p:sp>
      <p:sp>
        <p:nvSpPr>
          <p:cNvPr id="2255" name="Google Shape;2255;p111"/>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Theoretical analysis:</a:t>
            </a:r>
            <a:endParaRPr/>
          </a:p>
          <a:p>
            <a:pPr indent="-342900" lvl="0" marL="457200" rtl="0" algn="l">
              <a:spcBef>
                <a:spcPts val="600"/>
              </a:spcBef>
              <a:spcAft>
                <a:spcPts val="0"/>
              </a:spcAft>
              <a:buSzPts val="1800"/>
              <a:buChar char="●"/>
            </a:pPr>
            <a:r>
              <a:rPr lang="en"/>
              <a:t>Best case: Θ(N log N)</a:t>
            </a:r>
            <a:endParaRPr/>
          </a:p>
          <a:p>
            <a:pPr indent="-342900" lvl="0" marL="457200" rtl="0" algn="l">
              <a:spcBef>
                <a:spcPts val="0"/>
              </a:spcBef>
              <a:spcAft>
                <a:spcPts val="0"/>
              </a:spcAft>
              <a:buSzPts val="1800"/>
              <a:buChar char="●"/>
            </a:pPr>
            <a:r>
              <a:rPr lang="en"/>
              <a:t>Worst case: Θ(N</a:t>
            </a:r>
            <a:r>
              <a:rPr baseline="30000" lang="en"/>
              <a:t>2</a:t>
            </a:r>
            <a:r>
              <a:rPr lang="en"/>
              <a:t>)</a:t>
            </a:r>
            <a:endParaRPr/>
          </a:p>
          <a:p>
            <a:pPr indent="-342900" lvl="0" marL="457200" rtl="0" algn="l">
              <a:spcBef>
                <a:spcPts val="0"/>
              </a:spcBef>
              <a:spcAft>
                <a:spcPts val="0"/>
              </a:spcAft>
              <a:buSzPts val="1800"/>
              <a:buChar char="●"/>
            </a:pPr>
            <a:r>
              <a:rPr b="1" lang="en"/>
              <a:t>Randomly chosen array case: Θ(N log N) expected</a:t>
            </a:r>
            <a:endParaRPr b="1"/>
          </a:p>
          <a:p>
            <a:pPr indent="0" lvl="0" marL="0" rtl="0" algn="l">
              <a:spcBef>
                <a:spcPts val="600"/>
              </a:spcBef>
              <a:spcAft>
                <a:spcPts val="0"/>
              </a:spcAft>
              <a:buNone/>
            </a:pPr>
            <a:r>
              <a:t/>
            </a:r>
            <a:endParaRPr/>
          </a:p>
          <a:p>
            <a:pPr indent="0" lvl="0" marL="0" rtl="0" algn="l">
              <a:spcBef>
                <a:spcPts val="600"/>
              </a:spcBef>
              <a:spcAft>
                <a:spcPts val="0"/>
              </a:spcAft>
              <a:buNone/>
            </a:pPr>
            <a:r>
              <a:rPr lang="en"/>
              <a:t>Compare this to Mergesort.</a:t>
            </a:r>
            <a:endParaRPr/>
          </a:p>
          <a:p>
            <a:pPr indent="-342900" lvl="0" marL="457200" rtl="0" algn="l">
              <a:spcBef>
                <a:spcPts val="600"/>
              </a:spcBef>
              <a:spcAft>
                <a:spcPts val="0"/>
              </a:spcAft>
              <a:buSzPts val="1800"/>
              <a:buChar char="●"/>
            </a:pPr>
            <a:r>
              <a:rPr lang="en"/>
              <a:t>Best case: Θ(N log N)</a:t>
            </a:r>
            <a:endParaRPr/>
          </a:p>
          <a:p>
            <a:pPr indent="-342900" lvl="0" marL="457200" rtl="0" algn="l">
              <a:spcBef>
                <a:spcPts val="0"/>
              </a:spcBef>
              <a:spcAft>
                <a:spcPts val="0"/>
              </a:spcAft>
              <a:buSzPts val="1800"/>
              <a:buChar char="●"/>
            </a:pPr>
            <a:r>
              <a:rPr lang="en"/>
              <a:t>Worst case: Θ(N log N)</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Why is it faster than mergesort?</a:t>
            </a:r>
            <a:endParaRPr/>
          </a:p>
          <a:p>
            <a:pPr indent="-342900" lvl="0" marL="457200" rtl="0" algn="l">
              <a:spcBef>
                <a:spcPts val="600"/>
              </a:spcBef>
              <a:spcAft>
                <a:spcPts val="0"/>
              </a:spcAft>
              <a:buSzPts val="1800"/>
              <a:buChar char="●"/>
            </a:pPr>
            <a:r>
              <a:rPr lang="en"/>
              <a:t>Requires empirical analysis. No obvious reason why.</a:t>
            </a:r>
            <a:endParaRPr/>
          </a:p>
        </p:txBody>
      </p:sp>
      <p:cxnSp>
        <p:nvCxnSpPr>
          <p:cNvPr id="2256" name="Google Shape;2256;p111"/>
          <p:cNvCxnSpPr/>
          <p:nvPr/>
        </p:nvCxnSpPr>
        <p:spPr>
          <a:xfrm flipH="1">
            <a:off x="5448475" y="1229650"/>
            <a:ext cx="369600" cy="290700"/>
          </a:xfrm>
          <a:prstGeom prst="straightConnector1">
            <a:avLst/>
          </a:prstGeom>
          <a:noFill/>
          <a:ln cap="flat" cmpd="sng" w="9525">
            <a:solidFill>
              <a:srgbClr val="BE0712"/>
            </a:solidFill>
            <a:prstDash val="solid"/>
            <a:round/>
            <a:headEnd len="med" w="med" type="none"/>
            <a:tailEnd len="med" w="med" type="triangle"/>
          </a:ln>
        </p:spPr>
      </p:cxnSp>
      <p:sp>
        <p:nvSpPr>
          <p:cNvPr id="2257" name="Google Shape;2257;p111"/>
          <p:cNvSpPr txBox="1"/>
          <p:nvPr/>
        </p:nvSpPr>
        <p:spPr>
          <a:xfrm>
            <a:off x="5740192" y="871125"/>
            <a:ext cx="3288300" cy="577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rgbClr val="BE0712"/>
                </a:solidFill>
              </a:rPr>
              <a:t>With extremely high probability!!</a:t>
            </a:r>
            <a:endParaRPr>
              <a:solidFill>
                <a:srgbClr val="BE0712"/>
              </a:solidFill>
            </a:endParaRPr>
          </a:p>
        </p:txBody>
      </p:sp>
      <p:cxnSp>
        <p:nvCxnSpPr>
          <p:cNvPr id="2258" name="Google Shape;2258;p111"/>
          <p:cNvCxnSpPr/>
          <p:nvPr/>
        </p:nvCxnSpPr>
        <p:spPr>
          <a:xfrm flipH="1">
            <a:off x="2783650" y="1045775"/>
            <a:ext cx="897900" cy="498900"/>
          </a:xfrm>
          <a:prstGeom prst="straightConnector1">
            <a:avLst/>
          </a:prstGeom>
          <a:noFill/>
          <a:ln cap="flat" cmpd="sng" w="9525">
            <a:solidFill>
              <a:srgbClr val="BE0712"/>
            </a:solidFill>
            <a:prstDash val="solid"/>
            <a:round/>
            <a:headEnd len="med" w="med" type="none"/>
            <a:tailEnd len="med" w="med" type="triangle"/>
          </a:ln>
        </p:spPr>
      </p:cxnSp>
      <p:sp>
        <p:nvSpPr>
          <p:cNvPr id="2259" name="Google Shape;2259;p111"/>
          <p:cNvSpPr txBox="1"/>
          <p:nvPr/>
        </p:nvSpPr>
        <p:spPr>
          <a:xfrm>
            <a:off x="3647150" y="581725"/>
            <a:ext cx="5039700" cy="577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rgbClr val="BE0712"/>
                </a:solidFill>
              </a:rPr>
              <a:t>For our pivot/partitioning strategies: Sorted or close to sorted.</a:t>
            </a:r>
            <a:endParaRPr>
              <a:solidFill>
                <a:srgbClr val="BE0712"/>
              </a:solidFill>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3" name="Shape 2263"/>
        <p:cNvGrpSpPr/>
        <p:nvPr/>
      </p:nvGrpSpPr>
      <p:grpSpPr>
        <a:xfrm>
          <a:off x="0" y="0"/>
          <a:ext cx="0" cy="0"/>
          <a:chOff x="0" y="0"/>
          <a:chExt cx="0" cy="0"/>
        </a:xfrm>
      </p:grpSpPr>
      <p:sp>
        <p:nvSpPr>
          <p:cNvPr id="2264" name="Google Shape;2264;p11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Sorting Summary (so far)</a:t>
            </a:r>
            <a:endParaRPr/>
          </a:p>
        </p:txBody>
      </p:sp>
      <p:sp>
        <p:nvSpPr>
          <p:cNvPr id="2265" name="Google Shape;2265;p112"/>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Listed by mechanism:</a:t>
            </a:r>
            <a:endParaRPr/>
          </a:p>
          <a:p>
            <a:pPr indent="-342900" lvl="0" marL="457200" rtl="0" algn="l">
              <a:spcBef>
                <a:spcPts val="600"/>
              </a:spcBef>
              <a:spcAft>
                <a:spcPts val="0"/>
              </a:spcAft>
              <a:buSzPts val="1800"/>
              <a:buChar char="●"/>
            </a:pPr>
            <a:r>
              <a:rPr lang="en"/>
              <a:t>Selection sort: Find the smallest item and put it at the front.</a:t>
            </a:r>
            <a:endParaRPr/>
          </a:p>
          <a:p>
            <a:pPr indent="-342900" lvl="0" marL="457200" rtl="0" algn="l">
              <a:spcBef>
                <a:spcPts val="600"/>
              </a:spcBef>
              <a:spcAft>
                <a:spcPts val="0"/>
              </a:spcAft>
              <a:buSzPts val="1800"/>
              <a:buChar char="●"/>
            </a:pPr>
            <a:r>
              <a:rPr lang="en"/>
              <a:t>Insertion sort: Figure out where to insert the current item.</a:t>
            </a:r>
            <a:endParaRPr/>
          </a:p>
          <a:p>
            <a:pPr indent="-342900" lvl="0" marL="457200" rtl="0" algn="l">
              <a:spcBef>
                <a:spcPts val="600"/>
              </a:spcBef>
              <a:spcAft>
                <a:spcPts val="0"/>
              </a:spcAft>
              <a:buSzPts val="1800"/>
              <a:buChar char="●"/>
            </a:pPr>
            <a:r>
              <a:rPr lang="en"/>
              <a:t>Merge sort: Merge two sorted halves into one sorted whole.</a:t>
            </a:r>
            <a:endParaRPr/>
          </a:p>
          <a:p>
            <a:pPr indent="-342900" lvl="0" marL="457200" rtl="0" algn="l">
              <a:spcBef>
                <a:spcPts val="600"/>
              </a:spcBef>
              <a:spcAft>
                <a:spcPts val="0"/>
              </a:spcAft>
              <a:buSzPts val="1800"/>
              <a:buChar char="●"/>
            </a:pPr>
            <a:r>
              <a:rPr lang="en"/>
              <a:t>Partition (quick) sort: Partition items around a pivot.</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Listed by memory and runtime:</a:t>
            </a:r>
            <a:endParaRPr/>
          </a:p>
          <a:p>
            <a:pPr indent="0" lvl="0" marL="0" rtl="0" algn="l">
              <a:spcBef>
                <a:spcPts val="600"/>
              </a:spcBef>
              <a:spcAft>
                <a:spcPts val="0"/>
              </a:spcAft>
              <a:buNone/>
            </a:pPr>
            <a:r>
              <a:t/>
            </a:r>
            <a:endParaRPr/>
          </a:p>
        </p:txBody>
      </p:sp>
      <p:graphicFrame>
        <p:nvGraphicFramePr>
          <p:cNvPr id="2266" name="Google Shape;2266;p112"/>
          <p:cNvGraphicFramePr/>
          <p:nvPr/>
        </p:nvGraphicFramePr>
        <p:xfrm>
          <a:off x="826864" y="3081414"/>
          <a:ext cx="3000000" cy="3000000"/>
        </p:xfrm>
        <a:graphic>
          <a:graphicData uri="http://schemas.openxmlformats.org/drawingml/2006/table">
            <a:tbl>
              <a:tblPr>
                <a:noFill/>
                <a:tableStyleId>{C55F59F9-F03C-4897-888D-DC2DF699074A}</a:tableStyleId>
              </a:tblPr>
              <a:tblGrid>
                <a:gridCol w="1809750"/>
                <a:gridCol w="1809750"/>
                <a:gridCol w="1809750"/>
                <a:gridCol w="1809750"/>
              </a:tblGrid>
              <a:tr h="381000">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rPr lang="en"/>
                        <a:t>Memory</a:t>
                      </a:r>
                      <a:endParaRPr/>
                    </a:p>
                  </a:txBody>
                  <a:tcPr marT="91425" marB="91425" marR="91425" marL="91425"/>
                </a:tc>
                <a:tc>
                  <a:txBody>
                    <a:bodyPr/>
                    <a:lstStyle/>
                    <a:p>
                      <a:pPr indent="0" lvl="0" marL="0" rtl="0" algn="l">
                        <a:spcBef>
                          <a:spcPts val="0"/>
                        </a:spcBef>
                        <a:spcAft>
                          <a:spcPts val="0"/>
                        </a:spcAft>
                        <a:buNone/>
                      </a:pPr>
                      <a:r>
                        <a:rPr lang="en"/>
                        <a:t>Time</a:t>
                      </a:r>
                      <a:endParaRPr/>
                    </a:p>
                  </a:txBody>
                  <a:tcPr marT="91425" marB="91425" marR="91425" marL="91425"/>
                </a:tc>
                <a:tc>
                  <a:txBody>
                    <a:bodyPr/>
                    <a:lstStyle/>
                    <a:p>
                      <a:pPr indent="0" lvl="0" marL="0" rtl="0" algn="l">
                        <a:spcBef>
                          <a:spcPts val="0"/>
                        </a:spcBef>
                        <a:spcAft>
                          <a:spcPts val="0"/>
                        </a:spcAft>
                        <a:buNone/>
                      </a:pPr>
                      <a:r>
                        <a:rPr lang="en"/>
                        <a:t>Notes</a:t>
                      </a:r>
                      <a:endParaRPr/>
                    </a:p>
                  </a:txBody>
                  <a:tcPr marT="91425" marB="91425" marR="91425" marL="91425"/>
                </a:tc>
              </a:tr>
              <a:tr h="381000">
                <a:tc>
                  <a:txBody>
                    <a:bodyPr/>
                    <a:lstStyle/>
                    <a:p>
                      <a:pPr indent="0" lvl="0" marL="0" rtl="0" algn="l">
                        <a:spcBef>
                          <a:spcPts val="0"/>
                        </a:spcBef>
                        <a:spcAft>
                          <a:spcPts val="0"/>
                        </a:spcAft>
                        <a:buNone/>
                      </a:pPr>
                      <a:r>
                        <a:rPr lang="en"/>
                        <a:t>Heapsort</a:t>
                      </a:r>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Calibri"/>
                          <a:ea typeface="Calibri"/>
                          <a:cs typeface="Calibri"/>
                          <a:sym typeface="Calibri"/>
                        </a:rPr>
                        <a:t>Θ(1)</a:t>
                      </a:r>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Calibri"/>
                          <a:ea typeface="Calibri"/>
                          <a:cs typeface="Calibri"/>
                          <a:sym typeface="Calibri"/>
                        </a:rPr>
                        <a:t>Θ(N log N)</a:t>
                      </a:r>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Calibri"/>
                          <a:ea typeface="Calibri"/>
                          <a:cs typeface="Calibri"/>
                          <a:sym typeface="Calibri"/>
                        </a:rPr>
                        <a:t>Bad caching (61C)</a:t>
                      </a:r>
                      <a:endParaRPr/>
                    </a:p>
                  </a:txBody>
                  <a:tcPr marT="91425" marB="91425" marR="91425" marL="91425"/>
                </a:tc>
              </a:tr>
              <a:tr h="381000">
                <a:tc>
                  <a:txBody>
                    <a:bodyPr/>
                    <a:lstStyle/>
                    <a:p>
                      <a:pPr indent="0" lvl="0" marL="0" rtl="0" algn="l">
                        <a:spcBef>
                          <a:spcPts val="0"/>
                        </a:spcBef>
                        <a:spcAft>
                          <a:spcPts val="0"/>
                        </a:spcAft>
                        <a:buNone/>
                      </a:pPr>
                      <a:r>
                        <a:rPr lang="en"/>
                        <a:t>Insertion</a:t>
                      </a:r>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Calibri"/>
                          <a:ea typeface="Calibri"/>
                          <a:cs typeface="Calibri"/>
                          <a:sym typeface="Calibri"/>
                        </a:rPr>
                        <a:t>Θ(1)</a:t>
                      </a:r>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Calibri"/>
                          <a:ea typeface="Calibri"/>
                          <a:cs typeface="Calibri"/>
                          <a:sym typeface="Calibri"/>
                        </a:rPr>
                        <a:t>Θ(N</a:t>
                      </a:r>
                      <a:r>
                        <a:rPr baseline="30000" lang="en">
                          <a:solidFill>
                            <a:schemeClr val="dk1"/>
                          </a:solidFill>
                          <a:latin typeface="Calibri"/>
                          <a:ea typeface="Calibri"/>
                          <a:cs typeface="Calibri"/>
                          <a:sym typeface="Calibri"/>
                        </a:rPr>
                        <a:t>2</a:t>
                      </a:r>
                      <a:r>
                        <a:rPr lang="en">
                          <a:solidFill>
                            <a:schemeClr val="dk1"/>
                          </a:solidFill>
                          <a:latin typeface="Calibri"/>
                          <a:ea typeface="Calibri"/>
                          <a:cs typeface="Calibri"/>
                          <a:sym typeface="Calibri"/>
                        </a:rPr>
                        <a:t>)</a:t>
                      </a:r>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Calibri"/>
                          <a:ea typeface="Calibri"/>
                          <a:cs typeface="Calibri"/>
                          <a:sym typeface="Calibri"/>
                        </a:rPr>
                        <a:t>Θ(N) if almost sorted</a:t>
                      </a:r>
                      <a:endParaRPr/>
                    </a:p>
                  </a:txBody>
                  <a:tcPr marT="91425" marB="91425" marR="91425" marL="91425"/>
                </a:tc>
              </a:tr>
              <a:tr h="381000">
                <a:tc>
                  <a:txBody>
                    <a:bodyPr/>
                    <a:lstStyle/>
                    <a:p>
                      <a:pPr indent="0" lvl="0" marL="0" rtl="0" algn="l">
                        <a:spcBef>
                          <a:spcPts val="0"/>
                        </a:spcBef>
                        <a:spcAft>
                          <a:spcPts val="0"/>
                        </a:spcAft>
                        <a:buNone/>
                      </a:pPr>
                      <a:r>
                        <a:rPr lang="en"/>
                        <a:t>Mergesort</a:t>
                      </a:r>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Calibri"/>
                          <a:ea typeface="Calibri"/>
                          <a:cs typeface="Calibri"/>
                          <a:sym typeface="Calibri"/>
                        </a:rPr>
                        <a:t>Θ(N)</a:t>
                      </a:r>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Calibri"/>
                          <a:ea typeface="Calibri"/>
                          <a:cs typeface="Calibri"/>
                          <a:sym typeface="Calibri"/>
                        </a:rPr>
                        <a:t>Θ(N log N)</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r h="381000">
                <a:tc>
                  <a:txBody>
                    <a:bodyPr/>
                    <a:lstStyle/>
                    <a:p>
                      <a:pPr indent="0" lvl="0" marL="0" rtl="0" algn="l">
                        <a:spcBef>
                          <a:spcPts val="0"/>
                        </a:spcBef>
                        <a:spcAft>
                          <a:spcPts val="0"/>
                        </a:spcAft>
                        <a:buNone/>
                      </a:pPr>
                      <a:r>
                        <a:rPr lang="en"/>
                        <a:t>Quicksort</a:t>
                      </a:r>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Calibri"/>
                          <a:ea typeface="Calibri"/>
                          <a:cs typeface="Calibri"/>
                          <a:sym typeface="Calibri"/>
                        </a:rPr>
                        <a:t>Θ(log N) (call stack)</a:t>
                      </a:r>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Calibri"/>
                          <a:ea typeface="Calibri"/>
                          <a:cs typeface="Calibri"/>
                          <a:sym typeface="Calibri"/>
                        </a:rPr>
                        <a:t>Θ(N log N) expected</a:t>
                      </a:r>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Calibri"/>
                          <a:ea typeface="Calibri"/>
                          <a:cs typeface="Calibri"/>
                          <a:sym typeface="Calibri"/>
                        </a:rPr>
                        <a:t>Fastest sort</a:t>
                      </a:r>
                      <a:endParaRPr/>
                    </a:p>
                  </a:txBody>
                  <a:tcPr marT="91425" marB="91425" marR="91425" marL="91425"/>
                </a:tc>
              </a:tr>
            </a:tbl>
          </a:graphicData>
        </a:graphic>
      </p:graphicFrame>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0" name="Shape 2270"/>
        <p:cNvGrpSpPr/>
        <p:nvPr/>
      </p:nvGrpSpPr>
      <p:grpSpPr>
        <a:xfrm>
          <a:off x="0" y="0"/>
          <a:ext cx="0" cy="0"/>
          <a:chOff x="0" y="0"/>
          <a:chExt cx="0" cy="0"/>
        </a:xfrm>
      </p:grpSpPr>
      <p:sp>
        <p:nvSpPr>
          <p:cNvPr id="2271" name="Google Shape;2271;p113"/>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30, CS61B, Fall 2023</a:t>
            </a:r>
            <a:endParaRPr/>
          </a:p>
        </p:txBody>
      </p:sp>
      <p:sp>
        <p:nvSpPr>
          <p:cNvPr id="2272" name="Google Shape;2272;p113"/>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Avoiding Quicksort Worst Case</a:t>
            </a:r>
            <a:endParaRPr/>
          </a:p>
        </p:txBody>
      </p:sp>
      <p:sp>
        <p:nvSpPr>
          <p:cNvPr id="2273" name="Google Shape;2273;p113"/>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Clr>
                <a:schemeClr val="dk1"/>
              </a:buClr>
              <a:buSzPts val="1100"/>
              <a:buFont typeface="Arial"/>
              <a:buNone/>
            </a:pPr>
            <a:r>
              <a:rPr lang="en"/>
              <a:t>Insertion Sort</a:t>
            </a:r>
            <a:endParaRPr/>
          </a:p>
          <a:p>
            <a:pPr indent="-342900" lvl="0" marL="457200" rtl="0" algn="l">
              <a:spcBef>
                <a:spcPts val="600"/>
              </a:spcBef>
              <a:spcAft>
                <a:spcPts val="0"/>
              </a:spcAft>
              <a:buSzPts val="1800"/>
              <a:buChar char="•"/>
            </a:pPr>
            <a:r>
              <a:rPr lang="en"/>
              <a:t>Naive Insertion Sort</a:t>
            </a:r>
            <a:endParaRPr/>
          </a:p>
          <a:p>
            <a:pPr indent="-342900" lvl="0" marL="457200" rtl="0" algn="l">
              <a:spcBef>
                <a:spcPts val="0"/>
              </a:spcBef>
              <a:spcAft>
                <a:spcPts val="0"/>
              </a:spcAft>
              <a:buSzPts val="1800"/>
              <a:buChar char="•"/>
            </a:pPr>
            <a:r>
              <a:rPr lang="en"/>
              <a:t>In-Place Insertion Sort</a:t>
            </a:r>
            <a:endParaRPr/>
          </a:p>
          <a:p>
            <a:pPr indent="-342900" lvl="0" marL="457200" rtl="0" algn="l">
              <a:spcBef>
                <a:spcPts val="0"/>
              </a:spcBef>
              <a:spcAft>
                <a:spcPts val="0"/>
              </a:spcAft>
              <a:buSzPts val="1800"/>
              <a:buChar char="•"/>
            </a:pPr>
            <a:r>
              <a:rPr lang="en"/>
              <a:t>Insertion Sort Runtime</a:t>
            </a:r>
            <a:endParaRPr/>
          </a:p>
          <a:p>
            <a:pPr indent="0" lvl="0" marL="0" rtl="0" algn="l">
              <a:spcBef>
                <a:spcPts val="600"/>
              </a:spcBef>
              <a:spcAft>
                <a:spcPts val="0"/>
              </a:spcAft>
              <a:buNone/>
            </a:pPr>
            <a:r>
              <a:rPr lang="en"/>
              <a:t>Quicksort</a:t>
            </a:r>
            <a:endParaRPr b="1">
              <a:solidFill>
                <a:schemeClr val="accent3"/>
              </a:solidFill>
              <a:latin typeface="Roboto"/>
              <a:ea typeface="Roboto"/>
              <a:cs typeface="Roboto"/>
              <a:sym typeface="Roboto"/>
            </a:endParaRPr>
          </a:p>
          <a:p>
            <a:pPr indent="-342900" lvl="0" marL="457200" rtl="0" algn="l">
              <a:spcBef>
                <a:spcPts val="600"/>
              </a:spcBef>
              <a:spcAft>
                <a:spcPts val="0"/>
              </a:spcAft>
              <a:buSzPts val="1800"/>
              <a:buChar char="•"/>
            </a:pPr>
            <a:r>
              <a:rPr lang="en"/>
              <a:t>Quicksort Backstory,</a:t>
            </a:r>
            <a:br>
              <a:rPr lang="en"/>
            </a:br>
            <a:r>
              <a:rPr lang="en"/>
              <a:t>Partitioning</a:t>
            </a:r>
            <a:endParaRPr/>
          </a:p>
          <a:p>
            <a:pPr indent="-342900" lvl="0" marL="457200" rtl="0" algn="l">
              <a:spcBef>
                <a:spcPts val="0"/>
              </a:spcBef>
              <a:spcAft>
                <a:spcPts val="0"/>
              </a:spcAft>
              <a:buSzPts val="1800"/>
              <a:buChar char="•"/>
            </a:pPr>
            <a:r>
              <a:rPr lang="en"/>
              <a:t>Quicksort</a:t>
            </a:r>
            <a:endParaRPr b="1">
              <a:solidFill>
                <a:schemeClr val="accent3"/>
              </a:solidFill>
              <a:latin typeface="Roboto"/>
              <a:ea typeface="Roboto"/>
              <a:cs typeface="Roboto"/>
              <a:sym typeface="Roboto"/>
            </a:endParaRPr>
          </a:p>
          <a:p>
            <a:pPr indent="0" lvl="0" marL="0" rtl="0" algn="l">
              <a:spcBef>
                <a:spcPts val="600"/>
              </a:spcBef>
              <a:spcAft>
                <a:spcPts val="0"/>
              </a:spcAft>
              <a:buNone/>
            </a:pPr>
            <a:r>
              <a:rPr b="1" lang="en">
                <a:solidFill>
                  <a:schemeClr val="accent3"/>
                </a:solidFill>
                <a:latin typeface="Roboto"/>
                <a:ea typeface="Roboto"/>
                <a:cs typeface="Roboto"/>
                <a:sym typeface="Roboto"/>
              </a:rPr>
              <a:t>Quicksort Runtime Analysis</a:t>
            </a:r>
            <a:endParaRPr/>
          </a:p>
          <a:p>
            <a:pPr indent="-342900" lvl="0" marL="457200" rtl="0" algn="l">
              <a:spcBef>
                <a:spcPts val="600"/>
              </a:spcBef>
              <a:spcAft>
                <a:spcPts val="0"/>
              </a:spcAft>
              <a:buSzPts val="1800"/>
              <a:buChar char="•"/>
            </a:pPr>
            <a:r>
              <a:rPr lang="en"/>
              <a:t>Quicksort Runtime Analysis</a:t>
            </a:r>
            <a:endParaRPr/>
          </a:p>
          <a:p>
            <a:pPr indent="-342900" lvl="0" marL="457200" rtl="0" algn="l">
              <a:spcBef>
                <a:spcPts val="0"/>
              </a:spcBef>
              <a:spcAft>
                <a:spcPts val="0"/>
              </a:spcAft>
              <a:buClr>
                <a:schemeClr val="accent3"/>
              </a:buClr>
              <a:buSzPts val="1800"/>
              <a:buFont typeface="Roboto"/>
              <a:buChar char="•"/>
            </a:pPr>
            <a:r>
              <a:rPr b="1" lang="en">
                <a:solidFill>
                  <a:schemeClr val="accent3"/>
                </a:solidFill>
                <a:latin typeface="Roboto"/>
                <a:ea typeface="Roboto"/>
                <a:cs typeface="Roboto"/>
                <a:sym typeface="Roboto"/>
              </a:rPr>
              <a:t>Avoiding Quicksort Worst Case</a:t>
            </a:r>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7" name="Shape 2277"/>
        <p:cNvGrpSpPr/>
        <p:nvPr/>
      </p:nvGrpSpPr>
      <p:grpSpPr>
        <a:xfrm>
          <a:off x="0" y="0"/>
          <a:ext cx="0" cy="0"/>
          <a:chOff x="0" y="0"/>
          <a:chExt cx="0" cy="0"/>
        </a:xfrm>
      </p:grpSpPr>
      <p:sp>
        <p:nvSpPr>
          <p:cNvPr id="2278" name="Google Shape;2278;p11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Quicksort Performance</a:t>
            </a:r>
            <a:endParaRPr/>
          </a:p>
        </p:txBody>
      </p:sp>
      <p:sp>
        <p:nvSpPr>
          <p:cNvPr id="2279" name="Google Shape;2279;p114"/>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The performance of Quicksort (both order of growth and constant factors) depend critically on:</a:t>
            </a:r>
            <a:endParaRPr/>
          </a:p>
          <a:p>
            <a:pPr indent="-342900" lvl="0" marL="457200" rtl="0" algn="l">
              <a:spcBef>
                <a:spcPts val="600"/>
              </a:spcBef>
              <a:spcAft>
                <a:spcPts val="0"/>
              </a:spcAft>
              <a:buSzPts val="1800"/>
              <a:buChar char="●"/>
            </a:pPr>
            <a:r>
              <a:rPr lang="en"/>
              <a:t>How you select your pivot.</a:t>
            </a:r>
            <a:endParaRPr/>
          </a:p>
          <a:p>
            <a:pPr indent="-342900" lvl="0" marL="457200" rtl="0" algn="l">
              <a:spcBef>
                <a:spcPts val="0"/>
              </a:spcBef>
              <a:spcAft>
                <a:spcPts val="0"/>
              </a:spcAft>
              <a:buSzPts val="1800"/>
              <a:buChar char="●"/>
            </a:pPr>
            <a:r>
              <a:rPr lang="en"/>
              <a:t>How you partition around that pivot.</a:t>
            </a:r>
            <a:endParaRPr/>
          </a:p>
          <a:p>
            <a:pPr indent="-342900" lvl="0" marL="457200" rtl="0" algn="l">
              <a:spcBef>
                <a:spcPts val="0"/>
              </a:spcBef>
              <a:spcAft>
                <a:spcPts val="0"/>
              </a:spcAft>
              <a:buSzPts val="1800"/>
              <a:buChar char="●"/>
            </a:pPr>
            <a:r>
              <a:rPr lang="en"/>
              <a:t>Other optimizations you might add to speed things up.</a:t>
            </a:r>
            <a:br>
              <a:rPr lang="en"/>
            </a:br>
            <a:endParaRPr/>
          </a:p>
          <a:p>
            <a:pPr indent="0" lvl="0" marL="0" rtl="0" algn="l">
              <a:spcBef>
                <a:spcPts val="600"/>
              </a:spcBef>
              <a:spcAft>
                <a:spcPts val="0"/>
              </a:spcAft>
              <a:buNone/>
            </a:pPr>
            <a:r>
              <a:rPr lang="en"/>
              <a:t>Bad choices can be very bad indeed, resulting in Θ(N</a:t>
            </a:r>
            <a:r>
              <a:rPr baseline="30000" lang="en"/>
              <a:t>2</a:t>
            </a:r>
            <a:r>
              <a:rPr lang="en"/>
              <a:t>) runtimes. </a:t>
            </a:r>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9DAF8"/>
        </a:solidFill>
      </p:bgPr>
    </p:bg>
    <p:spTree>
      <p:nvGrpSpPr>
        <p:cNvPr id="2283" name="Shape 2283"/>
        <p:cNvGrpSpPr/>
        <p:nvPr/>
      </p:nvGrpSpPr>
      <p:grpSpPr>
        <a:xfrm>
          <a:off x="0" y="0"/>
          <a:ext cx="0" cy="0"/>
          <a:chOff x="0" y="0"/>
          <a:chExt cx="0" cy="0"/>
        </a:xfrm>
      </p:grpSpPr>
      <p:sp>
        <p:nvSpPr>
          <p:cNvPr id="2284" name="Google Shape;2284;p115"/>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Avoiding the Worst Case</a:t>
            </a:r>
            <a:endParaRPr/>
          </a:p>
        </p:txBody>
      </p:sp>
      <p:sp>
        <p:nvSpPr>
          <p:cNvPr id="2285" name="Google Shape;2285;p115"/>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Clr>
                <a:schemeClr val="dk1"/>
              </a:buClr>
              <a:buSzPts val="1100"/>
              <a:buFont typeface="Arial"/>
              <a:buNone/>
            </a:pPr>
            <a:r>
              <a:rPr lang="en"/>
              <a:t>If pivot always lands somewhere “good”, Quicksort is Θ(N log N). However, the very rare Θ(N</a:t>
            </a:r>
            <a:r>
              <a:rPr baseline="30000" lang="en"/>
              <a:t>2</a:t>
            </a:r>
            <a:r>
              <a:rPr lang="en"/>
              <a:t>) cases do happen in practice, e.g.</a:t>
            </a:r>
            <a:endParaRPr/>
          </a:p>
          <a:p>
            <a:pPr indent="-342900" lvl="0" marL="457200" rtl="0" algn="l">
              <a:spcBef>
                <a:spcPts val="600"/>
              </a:spcBef>
              <a:spcAft>
                <a:spcPts val="0"/>
              </a:spcAft>
              <a:buSzPts val="1800"/>
              <a:buChar char="●"/>
            </a:pPr>
            <a:r>
              <a:rPr lang="en"/>
              <a:t>Bad ordering: Array already in sorted order (or almost sorted order).</a:t>
            </a:r>
            <a:endParaRPr/>
          </a:p>
          <a:p>
            <a:pPr indent="-342900" lvl="0" marL="457200" rtl="0" algn="l">
              <a:spcBef>
                <a:spcPts val="600"/>
              </a:spcBef>
              <a:spcAft>
                <a:spcPts val="0"/>
              </a:spcAft>
              <a:buSzPts val="1800"/>
              <a:buChar char="●"/>
            </a:pPr>
            <a:r>
              <a:rPr lang="en"/>
              <a:t>Bad elements: Array with all duplicates. </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What can we do to avoid worst case behavior?</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Recall, our version of Quicksort has the following properties:</a:t>
            </a:r>
            <a:endParaRPr/>
          </a:p>
          <a:p>
            <a:pPr indent="-342900" lvl="0" marL="457200" rtl="0" algn="l">
              <a:spcBef>
                <a:spcPts val="600"/>
              </a:spcBef>
              <a:spcAft>
                <a:spcPts val="0"/>
              </a:spcAft>
              <a:buSzPts val="1800"/>
              <a:buChar char="●"/>
            </a:pPr>
            <a:r>
              <a:rPr lang="en"/>
              <a:t>Leftmost item is always chosen as the pivot.</a:t>
            </a:r>
            <a:endParaRPr/>
          </a:p>
          <a:p>
            <a:pPr indent="-342900" lvl="0" marL="457200" rtl="0" algn="l">
              <a:spcBef>
                <a:spcPts val="600"/>
              </a:spcBef>
              <a:spcAft>
                <a:spcPts val="0"/>
              </a:spcAft>
              <a:buSzPts val="1800"/>
              <a:buChar char="●"/>
            </a:pPr>
            <a:r>
              <a:rPr lang="en"/>
              <a:t>Our partiti</a:t>
            </a:r>
            <a:r>
              <a:rPr lang="en"/>
              <a:t>o</a:t>
            </a:r>
            <a:r>
              <a:rPr lang="en"/>
              <a:t>ning algorithm preserves the relative order of &lt;= and &gt;= items.</a:t>
            </a:r>
            <a:endParaRPr/>
          </a:p>
          <a:p>
            <a:pPr indent="0" lvl="0" marL="0" rtl="0" algn="l">
              <a:spcBef>
                <a:spcPts val="600"/>
              </a:spcBef>
              <a:spcAft>
                <a:spcPts val="0"/>
              </a:spcAft>
              <a:buNone/>
            </a:pPr>
            <a:r>
              <a:t/>
            </a:r>
            <a:endParaRPr/>
          </a:p>
        </p:txBody>
      </p:sp>
      <p:sp>
        <p:nvSpPr>
          <p:cNvPr id="2286" name="Google Shape;2286;p115"/>
          <p:cNvSpPr/>
          <p:nvPr/>
        </p:nvSpPr>
        <p:spPr>
          <a:xfrm>
            <a:off x="905499" y="4521825"/>
            <a:ext cx="412500" cy="378300"/>
          </a:xfrm>
          <a:prstGeom prst="rect">
            <a:avLst/>
          </a:prstGeom>
          <a:solidFill>
            <a:srgbClr val="FFFFFF"/>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6</a:t>
            </a:r>
            <a:endParaRPr sz="1800">
              <a:latin typeface="Calibri"/>
              <a:ea typeface="Calibri"/>
              <a:cs typeface="Calibri"/>
              <a:sym typeface="Calibri"/>
            </a:endParaRPr>
          </a:p>
        </p:txBody>
      </p:sp>
      <p:sp>
        <p:nvSpPr>
          <p:cNvPr id="2287" name="Google Shape;2287;p115"/>
          <p:cNvSpPr/>
          <p:nvPr/>
        </p:nvSpPr>
        <p:spPr>
          <a:xfrm>
            <a:off x="1309513" y="4521825"/>
            <a:ext cx="412500" cy="378300"/>
          </a:xfrm>
          <a:prstGeom prst="rect">
            <a:avLst/>
          </a:prstGeom>
          <a:solidFill>
            <a:srgbClr val="A4C2F4"/>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8</a:t>
            </a:r>
            <a:endParaRPr sz="1800">
              <a:latin typeface="Calibri"/>
              <a:ea typeface="Calibri"/>
              <a:cs typeface="Calibri"/>
              <a:sym typeface="Calibri"/>
            </a:endParaRPr>
          </a:p>
        </p:txBody>
      </p:sp>
      <p:sp>
        <p:nvSpPr>
          <p:cNvPr id="2288" name="Google Shape;2288;p115"/>
          <p:cNvSpPr/>
          <p:nvPr/>
        </p:nvSpPr>
        <p:spPr>
          <a:xfrm>
            <a:off x="1716984" y="4521825"/>
            <a:ext cx="412500" cy="378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a:t>
            </a:r>
            <a:endParaRPr sz="1800">
              <a:latin typeface="Calibri"/>
              <a:ea typeface="Calibri"/>
              <a:cs typeface="Calibri"/>
              <a:sym typeface="Calibri"/>
            </a:endParaRPr>
          </a:p>
        </p:txBody>
      </p:sp>
      <p:sp>
        <p:nvSpPr>
          <p:cNvPr id="2289" name="Google Shape;2289;p115"/>
          <p:cNvSpPr/>
          <p:nvPr/>
        </p:nvSpPr>
        <p:spPr>
          <a:xfrm>
            <a:off x="2120999" y="4521825"/>
            <a:ext cx="412500" cy="378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a:t>
            </a:r>
            <a:endParaRPr sz="1800">
              <a:latin typeface="Calibri"/>
              <a:ea typeface="Calibri"/>
              <a:cs typeface="Calibri"/>
              <a:sym typeface="Calibri"/>
            </a:endParaRPr>
          </a:p>
        </p:txBody>
      </p:sp>
      <p:sp>
        <p:nvSpPr>
          <p:cNvPr id="2290" name="Google Shape;2290;p115"/>
          <p:cNvSpPr/>
          <p:nvPr/>
        </p:nvSpPr>
        <p:spPr>
          <a:xfrm>
            <a:off x="2524641" y="4521825"/>
            <a:ext cx="412500" cy="378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2291" name="Google Shape;2291;p115"/>
          <p:cNvSpPr/>
          <p:nvPr/>
        </p:nvSpPr>
        <p:spPr>
          <a:xfrm>
            <a:off x="2928655" y="4521825"/>
            <a:ext cx="412500" cy="378300"/>
          </a:xfrm>
          <a:prstGeom prst="rect">
            <a:avLst/>
          </a:prstGeom>
          <a:solidFill>
            <a:srgbClr val="A4C2F4"/>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7</a:t>
            </a:r>
            <a:endParaRPr sz="1800">
              <a:latin typeface="Calibri"/>
              <a:ea typeface="Calibri"/>
              <a:cs typeface="Calibri"/>
              <a:sym typeface="Calibri"/>
            </a:endParaRPr>
          </a:p>
        </p:txBody>
      </p:sp>
      <p:sp>
        <p:nvSpPr>
          <p:cNvPr id="2292" name="Google Shape;2292;p115"/>
          <p:cNvSpPr/>
          <p:nvPr/>
        </p:nvSpPr>
        <p:spPr>
          <a:xfrm>
            <a:off x="3336126" y="4521825"/>
            <a:ext cx="412500" cy="378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2293" name="Google Shape;2293;p115"/>
          <p:cNvSpPr/>
          <p:nvPr/>
        </p:nvSpPr>
        <p:spPr>
          <a:xfrm>
            <a:off x="4809085" y="4521825"/>
            <a:ext cx="412500" cy="378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3</a:t>
            </a:r>
            <a:endParaRPr sz="1800">
              <a:latin typeface="Calibri"/>
              <a:ea typeface="Calibri"/>
              <a:cs typeface="Calibri"/>
              <a:sym typeface="Calibri"/>
            </a:endParaRPr>
          </a:p>
        </p:txBody>
      </p:sp>
      <p:sp>
        <p:nvSpPr>
          <p:cNvPr id="2294" name="Google Shape;2294;p115"/>
          <p:cNvSpPr/>
          <p:nvPr/>
        </p:nvSpPr>
        <p:spPr>
          <a:xfrm>
            <a:off x="5213213" y="4521825"/>
            <a:ext cx="412500" cy="378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1</a:t>
            </a:r>
            <a:endParaRPr sz="1800">
              <a:latin typeface="Calibri"/>
              <a:ea typeface="Calibri"/>
              <a:cs typeface="Calibri"/>
              <a:sym typeface="Calibri"/>
            </a:endParaRPr>
          </a:p>
        </p:txBody>
      </p:sp>
      <p:sp>
        <p:nvSpPr>
          <p:cNvPr id="2295" name="Google Shape;2295;p115"/>
          <p:cNvSpPr/>
          <p:nvPr/>
        </p:nvSpPr>
        <p:spPr>
          <a:xfrm>
            <a:off x="5620800" y="4521825"/>
            <a:ext cx="412500" cy="378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2</a:t>
            </a:r>
            <a:endParaRPr sz="1800">
              <a:latin typeface="Calibri"/>
              <a:ea typeface="Calibri"/>
              <a:cs typeface="Calibri"/>
              <a:sym typeface="Calibri"/>
            </a:endParaRPr>
          </a:p>
        </p:txBody>
      </p:sp>
      <p:sp>
        <p:nvSpPr>
          <p:cNvPr id="2296" name="Google Shape;2296;p115"/>
          <p:cNvSpPr/>
          <p:nvPr/>
        </p:nvSpPr>
        <p:spPr>
          <a:xfrm>
            <a:off x="6024928" y="4521825"/>
            <a:ext cx="412500" cy="378300"/>
          </a:xfrm>
          <a:prstGeom prst="rect">
            <a:avLst/>
          </a:prstGeom>
          <a:solidFill>
            <a:srgbClr val="EA9999"/>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4</a:t>
            </a:r>
            <a:endParaRPr sz="1800">
              <a:latin typeface="Calibri"/>
              <a:ea typeface="Calibri"/>
              <a:cs typeface="Calibri"/>
              <a:sym typeface="Calibri"/>
            </a:endParaRPr>
          </a:p>
        </p:txBody>
      </p:sp>
      <p:sp>
        <p:nvSpPr>
          <p:cNvPr id="2297" name="Google Shape;2297;p115"/>
          <p:cNvSpPr/>
          <p:nvPr/>
        </p:nvSpPr>
        <p:spPr>
          <a:xfrm>
            <a:off x="6428684" y="4521825"/>
            <a:ext cx="412500" cy="378300"/>
          </a:xfrm>
          <a:prstGeom prst="rect">
            <a:avLst/>
          </a:prstGeom>
          <a:solidFill>
            <a:srgbClr val="FFFFFF"/>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6</a:t>
            </a:r>
            <a:endParaRPr sz="1800">
              <a:latin typeface="Calibri"/>
              <a:ea typeface="Calibri"/>
              <a:cs typeface="Calibri"/>
              <a:sym typeface="Calibri"/>
            </a:endParaRPr>
          </a:p>
        </p:txBody>
      </p:sp>
      <p:sp>
        <p:nvSpPr>
          <p:cNvPr id="2298" name="Google Shape;2298;p115"/>
          <p:cNvSpPr/>
          <p:nvPr/>
        </p:nvSpPr>
        <p:spPr>
          <a:xfrm>
            <a:off x="6832812" y="4521825"/>
            <a:ext cx="412500" cy="378300"/>
          </a:xfrm>
          <a:prstGeom prst="rect">
            <a:avLst/>
          </a:prstGeom>
          <a:solidFill>
            <a:srgbClr val="A4C2F4"/>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8</a:t>
            </a:r>
            <a:endParaRPr sz="1800">
              <a:latin typeface="Calibri"/>
              <a:ea typeface="Calibri"/>
              <a:cs typeface="Calibri"/>
              <a:sym typeface="Calibri"/>
            </a:endParaRPr>
          </a:p>
        </p:txBody>
      </p:sp>
      <p:sp>
        <p:nvSpPr>
          <p:cNvPr id="2299" name="Google Shape;2299;p115"/>
          <p:cNvSpPr/>
          <p:nvPr/>
        </p:nvSpPr>
        <p:spPr>
          <a:xfrm>
            <a:off x="7240398" y="4521825"/>
            <a:ext cx="412500" cy="378300"/>
          </a:xfrm>
          <a:prstGeom prst="rect">
            <a:avLst/>
          </a:prstGeom>
          <a:solidFill>
            <a:srgbClr val="A4C2F4"/>
          </a:solidFill>
          <a:ln cap="flat" cmpd="sng" w="19050">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800">
                <a:latin typeface="Calibri"/>
                <a:ea typeface="Calibri"/>
                <a:cs typeface="Calibri"/>
                <a:sym typeface="Calibri"/>
              </a:rPr>
              <a:t>7</a:t>
            </a:r>
            <a:endParaRPr sz="1800">
              <a:latin typeface="Calibri"/>
              <a:ea typeface="Calibri"/>
              <a:cs typeface="Calibri"/>
              <a:sym typeface="Calibri"/>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3" name="Shape 2303"/>
        <p:cNvGrpSpPr/>
        <p:nvPr/>
      </p:nvGrpSpPr>
      <p:grpSpPr>
        <a:xfrm>
          <a:off x="0" y="0"/>
          <a:ext cx="0" cy="0"/>
          <a:chOff x="0" y="0"/>
          <a:chExt cx="0" cy="0"/>
        </a:xfrm>
      </p:grpSpPr>
      <p:sp>
        <p:nvSpPr>
          <p:cNvPr id="2304" name="Google Shape;2304;p11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Avoiding the Worst Case</a:t>
            </a:r>
            <a:endParaRPr/>
          </a:p>
        </p:txBody>
      </p:sp>
      <p:sp>
        <p:nvSpPr>
          <p:cNvPr id="2305" name="Google Shape;2305;p116"/>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Clr>
                <a:schemeClr val="dk1"/>
              </a:buClr>
              <a:buSzPts val="1100"/>
              <a:buFont typeface="Arial"/>
              <a:buNone/>
            </a:pPr>
            <a:r>
              <a:rPr lang="en"/>
              <a:t>If pivot always lands somewhere “good”, Quicksort is Θ(N log N). However, the very rare Θ(N</a:t>
            </a:r>
            <a:r>
              <a:rPr baseline="30000" lang="en"/>
              <a:t>2</a:t>
            </a:r>
            <a:r>
              <a:rPr lang="en"/>
              <a:t>) cases do happen in practice, e.g.</a:t>
            </a:r>
            <a:endParaRPr/>
          </a:p>
          <a:p>
            <a:pPr indent="-342900" lvl="0" marL="457200" rtl="0" algn="l">
              <a:spcBef>
                <a:spcPts val="600"/>
              </a:spcBef>
              <a:spcAft>
                <a:spcPts val="0"/>
              </a:spcAft>
              <a:buSzPts val="1800"/>
              <a:buChar char="●"/>
            </a:pPr>
            <a:r>
              <a:rPr lang="en"/>
              <a:t>Bad ordering: Array already in sorted order (or almost sorted order).</a:t>
            </a:r>
            <a:endParaRPr/>
          </a:p>
          <a:p>
            <a:pPr indent="-342900" lvl="0" marL="457200" rtl="0" algn="l">
              <a:spcBef>
                <a:spcPts val="600"/>
              </a:spcBef>
              <a:spcAft>
                <a:spcPts val="0"/>
              </a:spcAft>
              <a:buSzPts val="1800"/>
              <a:buChar char="●"/>
            </a:pPr>
            <a:r>
              <a:rPr lang="en"/>
              <a:t>Bad elements: Array with all duplicates. </a:t>
            </a:r>
            <a:endParaRPr/>
          </a:p>
          <a:p>
            <a:pPr indent="0" lvl="0" marL="0" rtl="0" algn="l">
              <a:spcBef>
                <a:spcPts val="600"/>
              </a:spcBef>
              <a:spcAft>
                <a:spcPts val="0"/>
              </a:spcAft>
              <a:buClr>
                <a:schemeClr val="dk1"/>
              </a:buClr>
              <a:buSzPts val="1100"/>
              <a:buFont typeface="Arial"/>
              <a:buNone/>
            </a:pPr>
            <a:r>
              <a:t/>
            </a:r>
            <a:endParaRPr/>
          </a:p>
          <a:p>
            <a:pPr indent="0" lvl="0" marL="0" rtl="0" algn="l">
              <a:spcBef>
                <a:spcPts val="600"/>
              </a:spcBef>
              <a:spcAft>
                <a:spcPts val="0"/>
              </a:spcAft>
              <a:buClr>
                <a:schemeClr val="dk1"/>
              </a:buClr>
              <a:buSzPts val="1100"/>
              <a:buFont typeface="Arial"/>
              <a:buNone/>
            </a:pPr>
            <a:r>
              <a:rPr lang="en"/>
              <a:t>What can we do to avoid worst case behavior?</a:t>
            </a:r>
            <a:endParaRPr/>
          </a:p>
          <a:p>
            <a:pPr indent="-342900" lvl="0" marL="457200" rtl="0" algn="l">
              <a:spcBef>
                <a:spcPts val="600"/>
              </a:spcBef>
              <a:spcAft>
                <a:spcPts val="0"/>
              </a:spcAft>
              <a:buSzPts val="1800"/>
              <a:buChar char="●"/>
            </a:pPr>
            <a:r>
              <a:rPr lang="en"/>
              <a:t>Shuffle before starting.</a:t>
            </a:r>
            <a:endParaRPr/>
          </a:p>
          <a:p>
            <a:pPr indent="-342900" lvl="0" marL="457200" rtl="0" algn="l">
              <a:spcBef>
                <a:spcPts val="600"/>
              </a:spcBef>
              <a:spcAft>
                <a:spcPts val="0"/>
              </a:spcAft>
              <a:buSzPts val="1800"/>
              <a:buChar char="●"/>
            </a:pPr>
            <a:r>
              <a:rPr lang="en"/>
              <a:t>Go through entire array, find the median, use that as the pivot.</a:t>
            </a:r>
            <a:endParaRPr/>
          </a:p>
          <a:p>
            <a:pPr indent="-342900" lvl="0" marL="457200" rtl="0" algn="l">
              <a:spcBef>
                <a:spcPts val="600"/>
              </a:spcBef>
              <a:spcAft>
                <a:spcPts val="0"/>
              </a:spcAft>
              <a:buSzPts val="1800"/>
              <a:buChar char="●"/>
            </a:pPr>
            <a:r>
              <a:rPr lang="en"/>
              <a:t>Scan through one tie and check if it’s already sorted, don’t sort.</a:t>
            </a:r>
            <a:endParaRPr/>
          </a:p>
          <a:p>
            <a:pPr indent="0" lvl="0" marL="0" rtl="0" algn="l">
              <a:spcBef>
                <a:spcPts val="600"/>
              </a:spcBef>
              <a:spcAft>
                <a:spcPts val="0"/>
              </a:spcAft>
              <a:buNone/>
            </a:pPr>
            <a:r>
              <a:t/>
            </a:r>
            <a:endParaRPr/>
          </a:p>
          <a:p>
            <a:pPr indent="0" lvl="0" marL="0" rtl="0" algn="l">
              <a:spcBef>
                <a:spcPts val="600"/>
              </a:spcBef>
              <a:spcAft>
                <a:spcPts val="0"/>
              </a:spcAft>
              <a:buNone/>
            </a:pPr>
            <a:r>
              <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Next Monday: We’ll continue discussing Quicksort! Friday is Software Eng. II.</a:t>
            </a:r>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9" name="Shape 2309"/>
        <p:cNvGrpSpPr/>
        <p:nvPr/>
      </p:nvGrpSpPr>
      <p:grpSpPr>
        <a:xfrm>
          <a:off x="0" y="0"/>
          <a:ext cx="0" cy="0"/>
          <a:chOff x="0" y="0"/>
          <a:chExt cx="0" cy="0"/>
        </a:xfrm>
      </p:grpSpPr>
      <p:sp>
        <p:nvSpPr>
          <p:cNvPr id="2310" name="Google Shape;2310;p11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More Quicksort Origins</a:t>
            </a:r>
            <a:endParaRPr/>
          </a:p>
        </p:txBody>
      </p:sp>
      <p:sp>
        <p:nvSpPr>
          <p:cNvPr id="2311" name="Google Shape;2311;p117"/>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Amusingly, Quicksort was the wrong tool for the job. Two issues:</a:t>
            </a:r>
            <a:endParaRPr/>
          </a:p>
          <a:p>
            <a:pPr indent="-342900" lvl="0" marL="457200" rtl="0" algn="l">
              <a:spcBef>
                <a:spcPts val="600"/>
              </a:spcBef>
              <a:spcAft>
                <a:spcPts val="0"/>
              </a:spcAft>
              <a:buSzPts val="1800"/>
              <a:buChar char="●"/>
            </a:pPr>
            <a:r>
              <a:rPr lang="en"/>
              <a:t>Language that Tony was using didn’t support recursion (so he couldn’t easily implement Quicksort).</a:t>
            </a:r>
            <a:endParaRPr/>
          </a:p>
          <a:p>
            <a:pPr indent="-342900" lvl="0" marL="457200" rtl="0" algn="l">
              <a:spcBef>
                <a:spcPts val="0"/>
              </a:spcBef>
              <a:spcAft>
                <a:spcPts val="0"/>
              </a:spcAft>
              <a:buSzPts val="1800"/>
              <a:buChar char="●"/>
            </a:pPr>
            <a:r>
              <a:rPr lang="en"/>
              <a:t>Sentences are usually shorter than 15 words.</a:t>
            </a:r>
            <a:endParaRPr/>
          </a:p>
          <a:p>
            <a:pPr indent="0" lvl="0" marL="0" rtl="0" algn="l">
              <a:spcBef>
                <a:spcPts val="600"/>
              </a:spcBef>
              <a:spcAft>
                <a:spcPts val="0"/>
              </a:spcAft>
              <a:buNone/>
            </a:pPr>
            <a:r>
              <a:t/>
            </a:r>
            <a:endParaRPr/>
          </a:p>
        </p:txBody>
      </p:sp>
      <p:pic>
        <p:nvPicPr>
          <p:cNvPr id="2312" name="Google Shape;2312;p117"/>
          <p:cNvPicPr preferRelativeResize="0"/>
          <p:nvPr/>
        </p:nvPicPr>
        <p:blipFill>
          <a:blip r:embed="rId3">
            <a:alphaModFix/>
          </a:blip>
          <a:stretch>
            <a:fillRect/>
          </a:stretch>
        </p:blipFill>
        <p:spPr>
          <a:xfrm>
            <a:off x="1631575" y="2485550"/>
            <a:ext cx="5880849" cy="24201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11"/>
                                        </p:tgtEl>
                                        <p:attrNameLst>
                                          <p:attrName>style.visibility</p:attrName>
                                        </p:attrNameLst>
                                      </p:cBhvr>
                                      <p:to>
                                        <p:strVal val="visible"/>
                                      </p:to>
                                    </p:set>
                                    <p:animEffect filter="fade" transition="in">
                                      <p:cBhvr>
                                        <p:cTn dur="1000"/>
                                        <p:tgtEl>
                                          <p:spTgt spid="231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12"/>
                                        </p:tgtEl>
                                        <p:attrNameLst>
                                          <p:attrName>style.visibility</p:attrName>
                                        </p:attrNameLst>
                                      </p:cBhvr>
                                      <p:to>
                                        <p:strVal val="visible"/>
                                      </p:to>
                                    </p:set>
                                    <p:animEffect filter="fade" transition="in">
                                      <p:cBhvr>
                                        <p:cTn dur="1000"/>
                                        <p:tgtEl>
                                          <p:spTgt spid="231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