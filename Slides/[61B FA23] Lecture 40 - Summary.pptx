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Lst>
  <p:sldSz cy="5143500" cx="9144000"/>
  <p:notesSz cx="6858000" cy="9144000"/>
  <p:embeddedFontLst>
    <p:embeddedFont>
      <p:font typeface="Roboto Medium"/>
      <p:regular r:id="rId42"/>
      <p:bold r:id="rId43"/>
      <p:italic r:id="rId44"/>
      <p:boldItalic r:id="rId45"/>
    </p:embeddedFont>
    <p:embeddedFont>
      <p:font typeface="Roboto"/>
      <p:regular r:id="rId46"/>
      <p:bold r:id="rId47"/>
      <p:italic r:id="rId48"/>
      <p:boldItalic r:id="rId49"/>
    </p:embeddedFont>
    <p:embeddedFont>
      <p:font typeface="Roboto Light"/>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font" Target="fonts/RobotoMedium-regular.fntdata"/><Relationship Id="rId41" Type="http://schemas.openxmlformats.org/officeDocument/2006/relationships/slide" Target="slides/slide37.xml"/><Relationship Id="rId44" Type="http://schemas.openxmlformats.org/officeDocument/2006/relationships/font" Target="fonts/RobotoMedium-italic.fntdata"/><Relationship Id="rId43" Type="http://schemas.openxmlformats.org/officeDocument/2006/relationships/font" Target="fonts/RobotoMedium-bold.fntdata"/><Relationship Id="rId46" Type="http://schemas.openxmlformats.org/officeDocument/2006/relationships/font" Target="fonts/Roboto-regular.fntdata"/><Relationship Id="rId45" Type="http://schemas.openxmlformats.org/officeDocument/2006/relationships/font" Target="fonts/RobotoMedium-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Roboto-italic.fntdata"/><Relationship Id="rId47" Type="http://schemas.openxmlformats.org/officeDocument/2006/relationships/font" Target="fonts/Roboto-bold.fntdata"/><Relationship Id="rId49" Type="http://schemas.openxmlformats.org/officeDocument/2006/relationships/font" Target="fonts/Roboto-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RobotoLight-bold.fntdata"/><Relationship Id="rId50" Type="http://schemas.openxmlformats.org/officeDocument/2006/relationships/font" Target="fonts/RobotoLight-regular.fntdata"/><Relationship Id="rId53" Type="http://schemas.openxmlformats.org/officeDocument/2006/relationships/font" Target="fonts/RobotoLight-boldItalic.fntdata"/><Relationship Id="rId52" Type="http://schemas.openxmlformats.org/officeDocument/2006/relationships/font" Target="fonts/RobotoLight-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dventofcode.com/" TargetMode="External"/><Relationship Id="rId3" Type="http://schemas.openxmlformats.org/officeDocument/2006/relationships/hyperlink" Target="https://icpc.global/" TargetMode="External"/><Relationship Id="rId4" Type="http://schemas.openxmlformats.org/officeDocument/2006/relationships/hyperlink" Target="https://projecteuler.net/" TargetMode="External"/><Relationship Id="rId9" Type="http://schemas.openxmlformats.org/officeDocument/2006/relationships/hyperlink" Target="https://nsa-codebreaker.org/home" TargetMode="External"/><Relationship Id="rId5" Type="http://schemas.openxmlformats.org/officeDocument/2006/relationships/hyperlink" Target="https://projecteuler.net/" TargetMode="External"/><Relationship Id="rId6" Type="http://schemas.openxmlformats.org/officeDocument/2006/relationships/hyperlink" Target="https://codeforces.com/" TargetMode="External"/><Relationship Id="rId7" Type="http://schemas.openxmlformats.org/officeDocument/2006/relationships/hyperlink" Target="https://cryptopals.com/" TargetMode="External"/><Relationship Id="rId8" Type="http://schemas.openxmlformats.org/officeDocument/2006/relationships/hyperlink" Target="https://ctftime.org/"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zachtronics.com/" TargetMode="External"/><Relationship Id="rId3" Type="http://schemas.openxmlformats.org/officeDocument/2006/relationships/hyperlink" Target="https://store.steampowered.com/app/370360/TIS100/" TargetMode="External"/><Relationship Id="rId4" Type="http://schemas.openxmlformats.org/officeDocument/2006/relationships/hyperlink" Target="https://store.steampowered.com/app/2262930/Bombe/"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62a26ebaf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62a26ebaf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62a26ebaf9_0_1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62a26ebaf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62a26ebaf9_0_1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62a26ebaf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62a26ebaf9_0_2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62a26ebaf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62a26ebaf9_0_3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62a26ebaf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62a26ebaf9_0_3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62a26ebaf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62a26ebaf9_0_4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62a26ebaf9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62a26ebaf9_0_10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62a26ebaf9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Write out code that inserts into a tree, for example. How find 5th largest, that sort of thing.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62a26ebaf9_0_10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62a26ebaf9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62a26ebaf9_0_15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262a26ebaf9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62a26ebaf9_0_20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262a26ebaf9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62a26ebaf9_0_21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262a26ebaf9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13 minutes of a rant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62a26ebaf9_0_21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262a26ebaf9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62a26ebaf9_0_22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62a26ebaf9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62a26ebaf9_0_24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62a26ebaf9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62a26ebaf9_0_49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262a26ebaf9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62a26ebaf9_0_50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262a26ebaf9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62a26ebaf9_0_50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262a26ebaf9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62a26ebaf9_0_51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262a26ebaf9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62a26ebaf9_0_26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62a26ebaf9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262a26ebaf9_0_52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262a26ebaf9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262a26ebaf9_0_54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262a26ebaf9_0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https://adventofcode.com/</a:t>
            </a:r>
            <a:r>
              <a:rPr lang="en"/>
              <a:t>, </a:t>
            </a:r>
            <a:r>
              <a:rPr lang="en" u="sng">
                <a:solidFill>
                  <a:schemeClr val="hlink"/>
                </a:solidFill>
                <a:hlinkClick r:id="rId3"/>
              </a:rPr>
              <a:t>https://icpc.global/</a:t>
            </a:r>
            <a:r>
              <a:rPr lang="en"/>
              <a:t>, </a:t>
            </a:r>
            <a:r>
              <a:rPr lang="en" u="sng">
                <a:solidFill>
                  <a:schemeClr val="hlink"/>
                </a:solidFill>
                <a:hlinkClick r:id="rId4"/>
              </a:rPr>
              <a:t>https://projecteuler.ne</a:t>
            </a:r>
            <a:r>
              <a:rPr lang="en" u="sng">
                <a:solidFill>
                  <a:schemeClr val="hlink"/>
                </a:solidFill>
                <a:hlinkClick r:id="rId5"/>
              </a:rPr>
              <a:t>t/</a:t>
            </a:r>
            <a:r>
              <a:rPr lang="en"/>
              <a:t>, </a:t>
            </a:r>
            <a:r>
              <a:rPr lang="en" u="sng">
                <a:solidFill>
                  <a:schemeClr val="hlink"/>
                </a:solidFill>
                <a:hlinkClick r:id="rId6"/>
              </a:rPr>
              <a:t>https://codeforces.com/</a:t>
            </a:r>
            <a:r>
              <a:rPr lang="en"/>
              <a:t>, </a:t>
            </a:r>
            <a:r>
              <a:rPr lang="en" u="sng">
                <a:solidFill>
                  <a:schemeClr val="hlink"/>
                </a:solidFill>
                <a:hlinkClick r:id="rId7"/>
              </a:rPr>
              <a:t>https://cryptopals.com/</a:t>
            </a:r>
            <a:r>
              <a:rPr lang="en"/>
              <a:t>, </a:t>
            </a:r>
            <a:r>
              <a:rPr lang="en" u="sng">
                <a:solidFill>
                  <a:schemeClr val="hlink"/>
                </a:solidFill>
                <a:hlinkClick r:id="rId8"/>
              </a:rPr>
              <a:t>https://ctftime.org/</a:t>
            </a:r>
            <a:r>
              <a:rPr lang="en"/>
              <a:t>, </a:t>
            </a:r>
            <a:r>
              <a:rPr lang="en" u="sng">
                <a:solidFill>
                  <a:schemeClr val="hlink"/>
                </a:solidFill>
                <a:hlinkClick r:id="rId9"/>
              </a:rPr>
              <a:t>https://nsa-codebreaker.org/home</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62a26ebaf9_0_56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262a26ebaf9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https://www.zachtronics.com/</a:t>
            </a:r>
            <a:r>
              <a:rPr lang="en"/>
              <a:t>, </a:t>
            </a:r>
            <a:r>
              <a:rPr lang="en" u="sng">
                <a:solidFill>
                  <a:schemeClr val="hlink"/>
                </a:solidFill>
                <a:hlinkClick r:id="rId3"/>
              </a:rPr>
              <a:t>https://store.steampowered.com/app/370360/TIS100/</a:t>
            </a:r>
            <a:r>
              <a:rPr lang="en"/>
              <a:t>, </a:t>
            </a:r>
            <a:r>
              <a:rPr lang="en" u="sng">
                <a:solidFill>
                  <a:schemeClr val="hlink"/>
                </a:solidFill>
                <a:hlinkClick r:id="rId4"/>
              </a:rPr>
              <a:t>https://store.steampowered.com/app/2262930/Bombe/</a:t>
            </a:r>
            <a:r>
              <a:rPr lang="en"/>
              <a:t>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262a26ebaf9_0_53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262a26ebaf9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262a26ebaf9_0_27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262a26ebaf9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262a26ebaf9_0_27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262a26ebaf9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262a26ebaf9_0_28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262a26ebaf9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262a26ebaf9_0_29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262a26ebaf9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Josh: Does this seem surprising?</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262a26ebaf9_0_29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262a26ebaf9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62a26ebaf9_0_30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262a26ebaf9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262a26ebaf9_0_31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262a26ebaf9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262a26ebaf9_0_33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262a26ebaf9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262a26ebaf9_0_34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262a26ebaf9_0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262a26ebaf9_0_34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262a26ebaf9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262a26ebaf9_0_35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262a26ebaf9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262a26ebaf9_0_58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262a26ebaf9_0_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262a26ebaf9_0_35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262a26ebaf9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2" name="Google Shape;12;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2" name="Google Shape;22;p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3" name="Shape 23"/>
        <p:cNvGrpSpPr/>
        <p:nvPr/>
      </p:nvGrpSpPr>
      <p:grpSpPr>
        <a:xfrm>
          <a:off x="0" y="0"/>
          <a:ext cx="0" cy="0"/>
          <a:chOff x="0" y="0"/>
          <a:chExt cx="0" cy="0"/>
        </a:xfrm>
      </p:grpSpPr>
      <p:sp>
        <p:nvSpPr>
          <p:cNvPr id="24" name="Google Shape;24;p5"/>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indent="-342900" lvl="1" marL="914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indent="-342900" lvl="2" marL="1371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indent="-342900" lvl="3" marL="1828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indent="-342900" lvl="4" marL="22860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indent="-342900" lvl="5" marL="2743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indent="-342900" lvl="6" marL="3200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indent="-342900" lvl="7" marL="3657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indent="-342900" lvl="8" marL="4114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p:txBody>
      </p:sp>
      <p:pic>
        <p:nvPicPr>
          <p:cNvPr id="27" name="Google Shape;27;p5"/>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8" name="Google Shape;28;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29" name="Google Shape;29;p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30" name="Google Shape;30;p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31" name="Shape 31"/>
        <p:cNvGrpSpPr/>
        <p:nvPr/>
      </p:nvGrpSpPr>
      <p:grpSpPr>
        <a:xfrm>
          <a:off x="0" y="0"/>
          <a:ext cx="0" cy="0"/>
          <a:chOff x="0" y="0"/>
          <a:chExt cx="0" cy="0"/>
        </a:xfrm>
      </p:grpSpPr>
      <p:sp>
        <p:nvSpPr>
          <p:cNvPr id="32" name="Google Shape;32;p6"/>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4" name="Google Shape;34;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36" name="Google Shape;36;p6"/>
          <p:cNvSpPr txBox="1"/>
          <p:nvPr>
            <p:ph idx="2" type="body"/>
          </p:nvPr>
        </p:nvSpPr>
        <p:spPr>
          <a:xfrm>
            <a:off x="95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37" name="Google Shape;37;p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8" name="Google Shape;38;p6"/>
          <p:cNvCxnSpPr/>
          <p:nvPr/>
        </p:nvCxnSpPr>
        <p:spPr>
          <a:xfrm>
            <a:off x="95431" y="402210"/>
            <a:ext cx="43521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39" name="Shape 39"/>
        <p:cNvGrpSpPr/>
        <p:nvPr/>
      </p:nvGrpSpPr>
      <p:grpSpPr>
        <a:xfrm>
          <a:off x="0" y="0"/>
          <a:ext cx="0" cy="0"/>
          <a:chOff x="0" y="0"/>
          <a:chExt cx="0" cy="0"/>
        </a:xfrm>
      </p:grpSpPr>
      <p:sp>
        <p:nvSpPr>
          <p:cNvPr id="40" name="Google Shape;40;p7"/>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txBox="1"/>
          <p:nvPr>
            <p:ph idx="1"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2" name="Google Shape;42;p7"/>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43" name="Google Shape;43;p7"/>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44" name="Google Shape;44;p7"/>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5" name="Google Shape;45;p7"/>
          <p:cNvCxnSpPr/>
          <p:nvPr/>
        </p:nvCxnSpPr>
        <p:spPr>
          <a:xfrm>
            <a:off x="4667431" y="402210"/>
            <a:ext cx="4352100" cy="0"/>
          </a:xfrm>
          <a:prstGeom prst="straightConnector1">
            <a:avLst/>
          </a:prstGeom>
          <a:noFill/>
          <a:ln cap="flat" cmpd="sng" w="19050">
            <a:solidFill>
              <a:srgbClr val="BF9000"/>
            </a:solidFill>
            <a:prstDash val="solid"/>
            <a:round/>
            <a:headEnd len="med" w="med" type="none"/>
            <a:tailEnd len="med" w="med" type="none"/>
          </a:ln>
        </p:spPr>
      </p:cxnSp>
      <p:pic>
        <p:nvPicPr>
          <p:cNvPr id="46" name="Google Shape;46;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p:cSld name="SECTION_TITLE_AND_DESCRIPTION_2_1_1">
    <p:spTree>
      <p:nvGrpSpPr>
        <p:cNvPr id="48" name="Shape 48"/>
        <p:cNvGrpSpPr/>
        <p:nvPr/>
      </p:nvGrpSpPr>
      <p:grpSpPr>
        <a:xfrm>
          <a:off x="0" y="0"/>
          <a:ext cx="0" cy="0"/>
          <a:chOff x="0" y="0"/>
          <a:chExt cx="0" cy="0"/>
        </a:xfrm>
      </p:grpSpPr>
      <p:sp>
        <p:nvSpPr>
          <p:cNvPr id="49" name="Google Shape;49;p8"/>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51" name="Google Shape;51;p8"/>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52" name="Google Shape;52;p8"/>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53" name="Google Shape;53;p8"/>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54" name="Google Shape;54;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8"/>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a:t>
            </a:r>
            <a:endParaRPr b="1" sz="2500">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1">
  <p:cSld name="SECTION_TITLE_AND_DESCRIPTION_2_1_1_2">
    <p:spTree>
      <p:nvGrpSpPr>
        <p:cNvPr id="57" name="Shape 57"/>
        <p:cNvGrpSpPr/>
        <p:nvPr/>
      </p:nvGrpSpPr>
      <p:grpSpPr>
        <a:xfrm>
          <a:off x="0" y="0"/>
          <a:ext cx="0" cy="0"/>
          <a:chOff x="0" y="0"/>
          <a:chExt cx="0" cy="0"/>
        </a:xfrm>
      </p:grpSpPr>
      <p:sp>
        <p:nvSpPr>
          <p:cNvPr id="58" name="Google Shape;58;p9"/>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9"/>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0" name="Google Shape;60;p9"/>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Compare</a:t>
            </a:r>
            <a:endParaRPr b="1" sz="2500">
              <a:solidFill>
                <a:schemeClr val="accent3"/>
              </a:solidFill>
              <a:latin typeface="Roboto"/>
              <a:ea typeface="Roboto"/>
              <a:cs typeface="Roboto"/>
              <a:sym typeface="Roboto"/>
            </a:endParaRPr>
          </a:p>
        </p:txBody>
      </p:sp>
      <p:sp>
        <p:nvSpPr>
          <p:cNvPr id="61" name="Google Shape;61;p9"/>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2" name="Google Shape;62;p9"/>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3" name="Google Shape;63;p9"/>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64" name="Google Shape;64;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5" name="Google Shape;6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Solution">
  <p:cSld name="SECTION_TITLE_AND_DESCRIPTION_2_1_1_1">
    <p:spTree>
      <p:nvGrpSpPr>
        <p:cNvPr id="66" name="Shape 66"/>
        <p:cNvGrpSpPr/>
        <p:nvPr/>
      </p:nvGrpSpPr>
      <p:grpSpPr>
        <a:xfrm>
          <a:off x="0" y="0"/>
          <a:ext cx="0" cy="0"/>
          <a:chOff x="0" y="0"/>
          <a:chExt cx="0" cy="0"/>
        </a:xfrm>
      </p:grpSpPr>
      <p:sp>
        <p:nvSpPr>
          <p:cNvPr id="67" name="Google Shape;67;p10"/>
          <p:cNvSpPr/>
          <p:nvPr/>
        </p:nvSpPr>
        <p:spPr>
          <a:xfrm>
            <a:off x="0" y="-125"/>
            <a:ext cx="27765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0"/>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9" name="Google Shape;69;p10"/>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Solution</a:t>
            </a:r>
            <a:endParaRPr b="1" sz="2500">
              <a:solidFill>
                <a:schemeClr val="accent3"/>
              </a:solidFill>
              <a:latin typeface="Roboto"/>
              <a:ea typeface="Roboto"/>
              <a:cs typeface="Roboto"/>
              <a:sym typeface="Roboto"/>
            </a:endParaRPr>
          </a:p>
        </p:txBody>
      </p:sp>
      <p:sp>
        <p:nvSpPr>
          <p:cNvPr id="70" name="Google Shape;70;p10"/>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1" name="Google Shape;71;p10"/>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72" name="Google Shape;72;p10"/>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73" name="Google Shape;73;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4" name="Google Shape;7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1"/>
          <p:cNvSpPr txBox="1"/>
          <p:nvPr>
            <p:ph idx="1"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8" name="Google Shape;7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79" name="Google Shape;79;p1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80" name="Google Shape;80;p11"/>
          <p:cNvSpPr txBox="1"/>
          <p:nvPr>
            <p:ph idx="2" type="body"/>
          </p:nvPr>
        </p:nvSpPr>
        <p:spPr>
          <a:xfrm>
            <a:off x="9543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4" name="Google Shape;84;p1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7" name="Google Shape;87;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88" name="Shape 88"/>
        <p:cNvGrpSpPr/>
        <p:nvPr/>
      </p:nvGrpSpPr>
      <p:grpSpPr>
        <a:xfrm>
          <a:off x="0" y="0"/>
          <a:ext cx="0" cy="0"/>
          <a:chOff x="0" y="0"/>
          <a:chExt cx="0" cy="0"/>
        </a:xfrm>
      </p:grpSpPr>
      <p:sp>
        <p:nvSpPr>
          <p:cNvPr id="89" name="Google Shape;89;p14"/>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1" name="Google Shape;91;p1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92" name="Google Shape;9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4"/>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15"/>
          <p:cNvSpPr txBox="1"/>
          <p:nvPr>
            <p:ph type="title"/>
          </p:nvPr>
        </p:nvSpPr>
        <p:spPr>
          <a:xfrm>
            <a:off x="95425" y="4382350"/>
            <a:ext cx="8425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cxnSp>
        <p:nvCxnSpPr>
          <p:cNvPr id="97" name="Google Shape;97;p15"/>
          <p:cNvCxnSpPr/>
          <p:nvPr/>
        </p:nvCxnSpPr>
        <p:spPr>
          <a:xfrm>
            <a:off x="168250" y="4288400"/>
            <a:ext cx="87570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100" name="Shape 100"/>
        <p:cNvGrpSpPr/>
        <p:nvPr/>
      </p:nvGrpSpPr>
      <p:grpSpPr>
        <a:xfrm>
          <a:off x="0" y="0"/>
          <a:ext cx="0" cy="0"/>
          <a:chOff x="0" y="0"/>
          <a:chExt cx="0" cy="0"/>
        </a:xfrm>
      </p:grpSpPr>
      <p:sp>
        <p:nvSpPr>
          <p:cNvPr id="101" name="Google Shape;10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02" name="Shape 102"/>
        <p:cNvGrpSpPr/>
        <p:nvPr/>
      </p:nvGrpSpPr>
      <p:grpSpPr>
        <a:xfrm>
          <a:off x="0" y="0"/>
          <a:ext cx="0" cy="0"/>
          <a:chOff x="0" y="0"/>
          <a:chExt cx="0" cy="0"/>
        </a:xfrm>
      </p:grpSpPr>
      <p:sp>
        <p:nvSpPr>
          <p:cNvPr id="103" name="Google Shape;103;p18"/>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1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pic>
        <p:nvPicPr>
          <p:cNvPr id="106" name="Google Shape;106;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7" name="Google Shape;107;p1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108" name="Google Shape;108;p18"/>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09" name="Google Shape;109;p1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10" name="Shape 110"/>
        <p:cNvGrpSpPr/>
        <p:nvPr/>
      </p:nvGrpSpPr>
      <p:grpSpPr>
        <a:xfrm>
          <a:off x="0" y="0"/>
          <a:ext cx="0" cy="0"/>
          <a:chOff x="0" y="0"/>
          <a:chExt cx="0" cy="0"/>
        </a:xfrm>
      </p:grpSpPr>
      <p:sp>
        <p:nvSpPr>
          <p:cNvPr id="111" name="Google Shape;111;p19"/>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3" name="Google Shape;113;p1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4" name="Google Shape;114;p1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5" name="Google Shape;115;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16" name="Shape 116"/>
        <p:cNvGrpSpPr/>
        <p:nvPr/>
      </p:nvGrpSpPr>
      <p:grpSpPr>
        <a:xfrm>
          <a:off x="0" y="0"/>
          <a:ext cx="0" cy="0"/>
          <a:chOff x="0" y="0"/>
          <a:chExt cx="0" cy="0"/>
        </a:xfrm>
      </p:grpSpPr>
      <p:sp>
        <p:nvSpPr>
          <p:cNvPr id="117" name="Google Shape;117;p20"/>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0"/>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0" name="Google Shape;120;p20"/>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1" name="Google Shape;121;p20"/>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2" name="Google Shape;122;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23" name="Shape 123"/>
        <p:cNvGrpSpPr/>
        <p:nvPr/>
      </p:nvGrpSpPr>
      <p:grpSpPr>
        <a:xfrm>
          <a:off x="0" y="0"/>
          <a:ext cx="0" cy="0"/>
          <a:chOff x="0" y="0"/>
          <a:chExt cx="0" cy="0"/>
        </a:xfrm>
      </p:grpSpPr>
      <p:sp>
        <p:nvSpPr>
          <p:cNvPr id="124" name="Google Shape;124;p21"/>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21"/>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7" name="Google Shape;127;p21"/>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8" name="Google Shape;128;p21"/>
          <p:cNvSpPr txBox="1"/>
          <p:nvPr>
            <p:ph idx="3"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29" name="Google Shape;129;p21"/>
          <p:cNvSpPr txBox="1"/>
          <p:nvPr>
            <p:ph type="title"/>
          </p:nvPr>
        </p:nvSpPr>
        <p:spPr>
          <a:xfrm>
            <a:off x="208450" y="3418425"/>
            <a:ext cx="3950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pic>
        <p:nvPicPr>
          <p:cNvPr id="130" name="Google Shape;130;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31" name="Shape 131"/>
        <p:cNvGrpSpPr/>
        <p:nvPr/>
      </p:nvGrpSpPr>
      <p:grpSpPr>
        <a:xfrm>
          <a:off x="0" y="0"/>
          <a:ext cx="0" cy="0"/>
          <a:chOff x="0" y="0"/>
          <a:chExt cx="0" cy="0"/>
        </a:xfrm>
      </p:grpSpPr>
      <p:sp>
        <p:nvSpPr>
          <p:cNvPr id="132" name="Google Shape;132;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3" name="Google Shape;133;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34" name="Shape 134"/>
        <p:cNvGrpSpPr/>
        <p:nvPr/>
      </p:nvGrpSpPr>
      <p:grpSpPr>
        <a:xfrm>
          <a:off x="0" y="0"/>
          <a:ext cx="0" cy="0"/>
          <a:chOff x="0" y="0"/>
          <a:chExt cx="0" cy="0"/>
        </a:xfrm>
      </p:grpSpPr>
      <p:sp>
        <p:nvSpPr>
          <p:cNvPr id="135" name="Google Shape;135;p23"/>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3"/>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8" name="Google Shape;138;p23"/>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9" name="Google Shape;139;p23"/>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slideLayout" Target="../slideLayouts/slideLayout21.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24" Type="http://schemas.openxmlformats.org/officeDocument/2006/relationships/theme" Target="../theme/theme1.xml"/><Relationship Id="rId12" Type="http://schemas.openxmlformats.org/officeDocument/2006/relationships/slideLayout" Target="../slideLayouts/slideLayout11.xml"/><Relationship Id="rId23" Type="http://schemas.openxmlformats.org/officeDocument/2006/relationships/slideLayout" Target="../slideLayouts/slideLayout22.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85206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42900" lvl="1" marL="9144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indent="-342900" lvl="2" marL="13716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indent="-342900" lvl="3" marL="18288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indent="-342900" lvl="4" marL="22860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indent="-342900" lvl="5" marL="27432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indent="-342900" lvl="6" marL="32004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indent="-342900" lvl="7" marL="36576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indent="-342900" lvl="8" marL="41148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0" y="4983478"/>
            <a:ext cx="457200" cy="16002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docs.google.com/presentation/d/15yANECs6fbXUhgOqc4Fu05eAWuZqAVb1wsMQ82mHaCY/edit#slide=id.g10a4194b67_0_295" TargetMode="External"/><Relationship Id="rId4" Type="http://schemas.openxmlformats.org/officeDocument/2006/relationships/hyperlink" Target="https://docs.google.com/presentation/d/1QX6BW2ORZByt7iIoWBCDBSj4ctEubYLMlEylsW-smqU/pub?start=false&amp;loop=false&amp;delayms=3000&amp;slide=id.g78bbe4344_0638"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16.png"/><Relationship Id="rId9" Type="http://schemas.openxmlformats.org/officeDocument/2006/relationships/image" Target="../media/image12.png"/><Relationship Id="rId5" Type="http://schemas.openxmlformats.org/officeDocument/2006/relationships/image" Target="../media/image21.png"/><Relationship Id="rId6" Type="http://schemas.openxmlformats.org/officeDocument/2006/relationships/image" Target="../media/image11.png"/><Relationship Id="rId7" Type="http://schemas.openxmlformats.org/officeDocument/2006/relationships/image" Target="../media/image14.png"/><Relationship Id="rId8"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www.youtube.com/watch?v=4pbAI40dK0A" TargetMode="External"/><Relationship Id="rId4" Type="http://schemas.openxmlformats.org/officeDocument/2006/relationships/image" Target="../media/image1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0.png"/><Relationship Id="rId4" Type="http://schemas.openxmlformats.org/officeDocument/2006/relationships/image" Target="../media/image22.png"/><Relationship Id="rId5" Type="http://schemas.openxmlformats.org/officeDocument/2006/relationships/image" Target="../media/image6.png"/><Relationship Id="rId6" Type="http://schemas.openxmlformats.org/officeDocument/2006/relationships/image" Target="../media/image20.png"/><Relationship Id="rId7"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ctrTitle"/>
          </p:nvPr>
        </p:nvSpPr>
        <p:spPr>
          <a:xfrm>
            <a:off x="311700" y="1658975"/>
            <a:ext cx="8709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chemeClr val="accent3"/>
                </a:solidFill>
              </a:rPr>
              <a:t>Wrapping Things Up</a:t>
            </a:r>
            <a:endParaRPr sz="3600">
              <a:solidFill>
                <a:schemeClr val="accent3"/>
              </a:solidFill>
            </a:endParaRPr>
          </a:p>
        </p:txBody>
      </p:sp>
      <p:sp>
        <p:nvSpPr>
          <p:cNvPr id="145" name="Google Shape;145;p24"/>
          <p:cNvSpPr txBox="1"/>
          <p:nvPr/>
        </p:nvSpPr>
        <p:spPr>
          <a:xfrm>
            <a:off x="345775" y="27403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40</a:t>
            </a:r>
            <a:endParaRPr sz="1200">
              <a:solidFill>
                <a:srgbClr val="BF9000"/>
              </a:solidFill>
              <a:latin typeface="Roboto Medium"/>
              <a:ea typeface="Roboto Medium"/>
              <a:cs typeface="Roboto Medium"/>
              <a:sym typeface="Roboto Medium"/>
            </a:endParaRPr>
          </a:p>
        </p:txBody>
      </p:sp>
      <p:sp>
        <p:nvSpPr>
          <p:cNvPr id="146" name="Google Shape;146;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7" name="Google Shape;147;p24"/>
          <p:cNvSpPr txBox="1"/>
          <p:nvPr/>
        </p:nvSpPr>
        <p:spPr>
          <a:xfrm>
            <a:off x="311700" y="3854350"/>
            <a:ext cx="8520600" cy="6585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Medium"/>
                <a:ea typeface="Roboto Medium"/>
                <a:cs typeface="Roboto Medium"/>
                <a:sym typeface="Roboto Medium"/>
              </a:rPr>
              <a:t>CS61B, Fall </a:t>
            </a:r>
            <a:r>
              <a:rPr lang="en" sz="1600">
                <a:solidFill>
                  <a:srgbClr val="000000"/>
                </a:solidFill>
                <a:latin typeface="Roboto Medium"/>
                <a:ea typeface="Roboto Medium"/>
                <a:cs typeface="Roboto Medium"/>
                <a:sym typeface="Roboto Medium"/>
              </a:rPr>
              <a:t>202</a:t>
            </a:r>
            <a:r>
              <a:rPr lang="en" sz="1600">
                <a:latin typeface="Roboto Medium"/>
                <a:ea typeface="Roboto Medium"/>
                <a:cs typeface="Roboto Medium"/>
                <a:sym typeface="Roboto Medium"/>
              </a:rPr>
              <a:t>3</a:t>
            </a:r>
            <a:r>
              <a:rPr lang="en" sz="1600">
                <a:solidFill>
                  <a:srgbClr val="000000"/>
                </a:solidFill>
                <a:latin typeface="Roboto Medium"/>
                <a:ea typeface="Roboto Medium"/>
                <a:cs typeface="Roboto Medium"/>
                <a:sym typeface="Roboto Medium"/>
              </a:rPr>
              <a:t> @ UC Berkeley</a:t>
            </a:r>
            <a:endParaRPr sz="1600">
              <a:solidFill>
                <a:srgbClr val="000000"/>
              </a:solidFill>
              <a:latin typeface="Roboto Medium"/>
              <a:ea typeface="Roboto Medium"/>
              <a:cs typeface="Roboto Medium"/>
              <a:sym typeface="Roboto Medium"/>
            </a:endParaRPr>
          </a:p>
          <a:p>
            <a:pPr indent="0" lvl="0" marL="0" rtl="0" algn="l">
              <a:spcBef>
                <a:spcPts val="600"/>
              </a:spcBef>
              <a:spcAft>
                <a:spcPts val="0"/>
              </a:spcAft>
              <a:buNone/>
            </a:pPr>
            <a:r>
              <a:rPr lang="en" sz="1600">
                <a:latin typeface="Roboto Light"/>
                <a:ea typeface="Roboto Light"/>
                <a:cs typeface="Roboto Light"/>
                <a:sym typeface="Roboto Light"/>
              </a:rPr>
              <a:t>Slide Credit: Josh Hug</a:t>
            </a:r>
            <a:endParaRPr sz="1600">
              <a:solidFill>
                <a:srgbClr val="000000"/>
              </a:solidFill>
              <a:latin typeface="Roboto Light"/>
              <a:ea typeface="Roboto Light"/>
              <a:cs typeface="Roboto Light"/>
              <a:sym typeface="Roboto Light"/>
            </a:endParaRPr>
          </a:p>
        </p:txBody>
      </p:sp>
      <p:pic>
        <p:nvPicPr>
          <p:cNvPr id="148" name="Google Shape;148;p24"/>
          <p:cNvPicPr preferRelativeResize="0"/>
          <p:nvPr/>
        </p:nvPicPr>
        <p:blipFill>
          <a:blip r:embed="rId3">
            <a:alphaModFix/>
          </a:blip>
          <a:stretch>
            <a:fillRect/>
          </a:stretch>
        </p:blipFill>
        <p:spPr>
          <a:xfrm>
            <a:off x="4422252" y="385769"/>
            <a:ext cx="4278841" cy="15838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40, CS61B, Spring 2023</a:t>
            </a:r>
            <a:endParaRPr/>
          </a:p>
        </p:txBody>
      </p:sp>
      <p:sp>
        <p:nvSpPr>
          <p:cNvPr id="154" name="Google Shape;154;p2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61B in 12 Minutes or Less</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999999"/>
                </a:solidFill>
              </a:rPr>
              <a:t>Your Future</a:t>
            </a:r>
            <a:endParaRPr>
              <a:solidFill>
                <a:srgbClr val="999999"/>
              </a:solidFill>
            </a:endParaRPr>
          </a:p>
          <a:p>
            <a:pPr indent="0" lvl="0" marL="0" rtl="0" algn="l">
              <a:spcBef>
                <a:spcPts val="600"/>
              </a:spcBef>
              <a:spcAft>
                <a:spcPts val="0"/>
              </a:spcAft>
              <a:buNone/>
            </a:pPr>
            <a:r>
              <a:rPr lang="en">
                <a:solidFill>
                  <a:srgbClr val="999999"/>
                </a:solidFill>
              </a:rPr>
              <a:t>AMA</a:t>
            </a:r>
            <a:endParaRPr>
              <a:solidFill>
                <a:srgbClr val="999999"/>
              </a:solidFill>
            </a:endParaRPr>
          </a:p>
          <a:p>
            <a:pPr indent="0" lvl="0" marL="0" rtl="0" algn="l">
              <a:spcBef>
                <a:spcPts val="600"/>
              </a:spcBef>
              <a:spcAft>
                <a:spcPts val="0"/>
              </a:spcAft>
              <a:buNone/>
            </a:pPr>
            <a:r>
              <a:rPr lang="en">
                <a:solidFill>
                  <a:srgbClr val="999999"/>
                </a:solidFill>
              </a:rPr>
              <a:t>Course Reflections</a:t>
            </a:r>
            <a:endParaRPr>
              <a:solidFill>
                <a:srgbClr val="999999"/>
              </a:solidFill>
            </a:endParaRPr>
          </a:p>
        </p:txBody>
      </p:sp>
      <p:sp>
        <p:nvSpPr>
          <p:cNvPr id="155" name="Google Shape;155;p2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61B in 12 Minutes or Less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Where We Started</a:t>
            </a:r>
            <a:endParaRPr/>
          </a:p>
        </p:txBody>
      </p:sp>
      <p:sp>
        <p:nvSpPr>
          <p:cNvPr id="161" name="Google Shape;161;p2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marR="0" rtl="0" algn="l">
              <a:lnSpc>
                <a:spcPct val="100000"/>
              </a:lnSpc>
              <a:spcBef>
                <a:spcPts val="600"/>
              </a:spcBef>
              <a:spcAft>
                <a:spcPts val="0"/>
              </a:spcAft>
              <a:buNone/>
            </a:pPr>
            <a:r>
              <a:rPr lang="en"/>
              <a:t>Just 14 weeks ago:</a:t>
            </a:r>
            <a:br>
              <a:rPr lang="en"/>
            </a:br>
            <a:endParaRPr sz="2000"/>
          </a:p>
        </p:txBody>
      </p:sp>
      <p:pic>
        <p:nvPicPr>
          <p:cNvPr id="162" name="Google Shape;162;p26"/>
          <p:cNvPicPr preferRelativeResize="0"/>
          <p:nvPr/>
        </p:nvPicPr>
        <p:blipFill>
          <a:blip r:embed="rId3">
            <a:alphaModFix/>
          </a:blip>
          <a:stretch>
            <a:fillRect/>
          </a:stretch>
        </p:blipFill>
        <p:spPr>
          <a:xfrm>
            <a:off x="2416874" y="685200"/>
            <a:ext cx="6642075" cy="42989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We’ve Learned about Programming Languages</a:t>
            </a:r>
            <a:endParaRPr/>
          </a:p>
        </p:txBody>
      </p:sp>
      <p:sp>
        <p:nvSpPr>
          <p:cNvPr id="168" name="Google Shape;168;p27"/>
          <p:cNvSpPr txBox="1"/>
          <p:nvPr>
            <p:ph idx="1" type="body"/>
          </p:nvPr>
        </p:nvSpPr>
        <p:spPr>
          <a:xfrm>
            <a:off x="107051" y="402200"/>
            <a:ext cx="8765700" cy="34164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Object based programming: Organize around objects.</a:t>
            </a:r>
            <a:endParaRPr/>
          </a:p>
          <a:p>
            <a:pPr indent="-342900" lvl="0" marL="457200" rtl="0" algn="l">
              <a:spcBef>
                <a:spcPts val="0"/>
              </a:spcBef>
              <a:spcAft>
                <a:spcPts val="0"/>
              </a:spcAft>
              <a:buSzPts val="1800"/>
              <a:buChar char="●"/>
            </a:pPr>
            <a:r>
              <a:rPr lang="en"/>
              <a:t>Object oriented programming:</a:t>
            </a:r>
            <a:endParaRPr/>
          </a:p>
          <a:p>
            <a:pPr indent="-342900" lvl="1" marL="914400" rtl="0" algn="l">
              <a:spcBef>
                <a:spcPts val="0"/>
              </a:spcBef>
              <a:spcAft>
                <a:spcPts val="0"/>
              </a:spcAft>
              <a:buSzPts val="1800"/>
              <a:buChar char="○"/>
            </a:pPr>
            <a:r>
              <a:rPr lang="en"/>
              <a:t>Interface Inheritance.</a:t>
            </a:r>
            <a:endParaRPr/>
          </a:p>
          <a:p>
            <a:pPr indent="-342900" lvl="1" marL="914400" rtl="0" algn="l">
              <a:spcBef>
                <a:spcPts val="0"/>
              </a:spcBef>
              <a:spcAft>
                <a:spcPts val="0"/>
              </a:spcAft>
              <a:buSzPts val="1800"/>
              <a:buChar char="○"/>
            </a:pPr>
            <a:r>
              <a:rPr lang="en"/>
              <a:t>Implementation inheritance.</a:t>
            </a:r>
            <a:endParaRPr/>
          </a:p>
          <a:p>
            <a:pPr indent="-342900" lvl="0" marL="457200" rtl="0" algn="l">
              <a:spcBef>
                <a:spcPts val="0"/>
              </a:spcBef>
              <a:spcAft>
                <a:spcPts val="0"/>
              </a:spcAft>
              <a:buSzPts val="1800"/>
              <a:buChar char="●"/>
            </a:pPr>
            <a:r>
              <a:rPr lang="en"/>
              <a:t>Dynamic vs. static typing.</a:t>
            </a:r>
            <a:endParaRPr/>
          </a:p>
          <a:p>
            <a:pPr indent="-342900" lvl="0" marL="457200" rtl="0" algn="l">
              <a:spcBef>
                <a:spcPts val="0"/>
              </a:spcBef>
              <a:spcAft>
                <a:spcPts val="0"/>
              </a:spcAft>
              <a:buSzPts val="1800"/>
              <a:buChar char="●"/>
            </a:pPr>
            <a:r>
              <a:rPr lang="en"/>
              <a:t>Generic Programming, e.g. ArrayList&lt;Integer&gt;, etc.</a:t>
            </a:r>
            <a:endParaRPr/>
          </a:p>
          <a:p>
            <a:pPr indent="-342900" lvl="0" marL="457200" rtl="0" algn="l">
              <a:spcBef>
                <a:spcPts val="0"/>
              </a:spcBef>
              <a:spcAft>
                <a:spcPts val="0"/>
              </a:spcAft>
              <a:buSzPts val="1800"/>
              <a:buChar char="●"/>
            </a:pPr>
            <a:r>
              <a:rPr lang="en"/>
              <a:t>The model of memory as boxes containing bits.</a:t>
            </a:r>
            <a:endParaRPr/>
          </a:p>
          <a:p>
            <a:pPr indent="-342900" lvl="0" marL="457200" rtl="0" algn="l">
              <a:spcBef>
                <a:spcPts val="0"/>
              </a:spcBef>
              <a:spcAft>
                <a:spcPts val="0"/>
              </a:spcAft>
              <a:buSzPts val="1800"/>
              <a:buChar char="●"/>
            </a:pPr>
            <a:r>
              <a:rPr lang="en"/>
              <a:t>Bit representation of positive integers.</a:t>
            </a:r>
            <a:endParaRPr/>
          </a:p>
          <a:p>
            <a:pPr indent="-342900" lvl="0" marL="457200" rtl="0" algn="l">
              <a:spcBef>
                <a:spcPts val="0"/>
              </a:spcBef>
              <a:spcAft>
                <a:spcPts val="0"/>
              </a:spcAft>
              <a:buSzPts val="1800"/>
              <a:buChar char="●"/>
            </a:pPr>
            <a:r>
              <a:rPr lang="en"/>
              <a:t>Java.</a:t>
            </a:r>
            <a:endParaRPr/>
          </a:p>
          <a:p>
            <a:pPr indent="-342900" lvl="0" marL="457200" rtl="0" algn="l">
              <a:spcBef>
                <a:spcPts val="0"/>
              </a:spcBef>
              <a:spcAft>
                <a:spcPts val="0"/>
              </a:spcAft>
              <a:buSzPts val="1800"/>
              <a:buChar char="●"/>
            </a:pPr>
            <a:r>
              <a:rPr lang="en"/>
              <a:t>Some standard programming idioms/patterns: </a:t>
            </a:r>
            <a:endParaRPr/>
          </a:p>
          <a:p>
            <a:pPr indent="-342900" lvl="1" marL="914400" rtl="0" algn="l">
              <a:spcBef>
                <a:spcPts val="0"/>
              </a:spcBef>
              <a:spcAft>
                <a:spcPts val="0"/>
              </a:spcAft>
              <a:buSzPts val="1800"/>
              <a:buChar char="○"/>
            </a:pPr>
            <a:r>
              <a:rPr lang="en"/>
              <a:t>Objects as function containers (e.g. Comparators, </a:t>
            </a:r>
            <a:r>
              <a:rPr lang="en" u="sng">
                <a:solidFill>
                  <a:schemeClr val="hlink"/>
                </a:solidFill>
                <a:hlinkClick r:id="rId3"/>
              </a:rPr>
              <a:t>IntUnaryFunctions</a:t>
            </a:r>
            <a:r>
              <a:rPr lang="en"/>
              <a:t>).</a:t>
            </a:r>
            <a:endParaRPr/>
          </a:p>
          <a:p>
            <a:pPr indent="-342900" lvl="1" marL="914400" rtl="0" algn="l">
              <a:spcBef>
                <a:spcPts val="0"/>
              </a:spcBef>
              <a:spcAft>
                <a:spcPts val="0"/>
              </a:spcAft>
              <a:buSzPts val="1800"/>
              <a:buChar char="○"/>
            </a:pPr>
            <a:r>
              <a:rPr lang="en"/>
              <a:t>Default method specification in interfaces (</a:t>
            </a:r>
            <a:r>
              <a:rPr lang="en" u="sng">
                <a:solidFill>
                  <a:schemeClr val="hlink"/>
                </a:solidFill>
                <a:hlinkClick r:id="rId4"/>
              </a:rPr>
              <a:t>Link</a:t>
            </a:r>
            <a:r>
              <a:rPr lang="en"/>
              <a:t>). </a:t>
            </a:r>
            <a:endParaRPr/>
          </a:p>
          <a:p>
            <a:pPr indent="-342900" lvl="1" marL="914400" rtl="0" algn="l">
              <a:spcBef>
                <a:spcPts val="0"/>
              </a:spcBef>
              <a:spcAft>
                <a:spcPts val="0"/>
              </a:spcAft>
              <a:buSzPts val="1800"/>
              <a:buChar char="○"/>
            </a:pPr>
            <a:r>
              <a:rPr lang="en"/>
              <a:t>Iterators.</a:t>
            </a:r>
            <a:endParaRPr/>
          </a:p>
        </p:txBody>
      </p:sp>
      <p:cxnSp>
        <p:nvCxnSpPr>
          <p:cNvPr id="169" name="Google Shape;169;p27"/>
          <p:cNvCxnSpPr/>
          <p:nvPr/>
        </p:nvCxnSpPr>
        <p:spPr>
          <a:xfrm flipH="1">
            <a:off x="3599025" y="1189950"/>
            <a:ext cx="1101300" cy="96900"/>
          </a:xfrm>
          <a:prstGeom prst="straightConnector1">
            <a:avLst/>
          </a:prstGeom>
          <a:noFill/>
          <a:ln cap="flat" cmpd="sng" w="19050">
            <a:solidFill>
              <a:schemeClr val="accent4"/>
            </a:solidFill>
            <a:prstDash val="solid"/>
            <a:round/>
            <a:headEnd len="med" w="med" type="none"/>
            <a:tailEnd len="med" w="med" type="triangle"/>
          </a:ln>
        </p:spPr>
      </p:cxnSp>
      <p:sp>
        <p:nvSpPr>
          <p:cNvPr id="170" name="Google Shape;170;p27"/>
          <p:cNvSpPr txBox="1"/>
          <p:nvPr/>
        </p:nvSpPr>
        <p:spPr>
          <a:xfrm>
            <a:off x="4714896" y="764972"/>
            <a:ext cx="43914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accent4"/>
                </a:solidFill>
              </a:rPr>
              <a:t>Example: Programmer only needs to know List API, doesn’t have to know that ArrayList secretly does array resizing.</a:t>
            </a:r>
            <a:endParaRPr b="1">
              <a:solidFill>
                <a:schemeClr val="accent4"/>
              </a:solidFill>
            </a:endParaRPr>
          </a:p>
        </p:txBody>
      </p:sp>
      <p:cxnSp>
        <p:nvCxnSpPr>
          <p:cNvPr id="171" name="Google Shape;171;p27"/>
          <p:cNvCxnSpPr/>
          <p:nvPr/>
        </p:nvCxnSpPr>
        <p:spPr>
          <a:xfrm rot="10800000">
            <a:off x="5559591" y="2389511"/>
            <a:ext cx="981900" cy="97800"/>
          </a:xfrm>
          <a:prstGeom prst="straightConnector1">
            <a:avLst/>
          </a:prstGeom>
          <a:noFill/>
          <a:ln cap="flat" cmpd="sng" w="19050">
            <a:solidFill>
              <a:schemeClr val="accent4"/>
            </a:solidFill>
            <a:prstDash val="solid"/>
            <a:round/>
            <a:headEnd len="med" w="med" type="none"/>
            <a:tailEnd len="med" w="med" type="triangle"/>
          </a:ln>
        </p:spPr>
      </p:cxnSp>
      <p:sp>
        <p:nvSpPr>
          <p:cNvPr id="172" name="Google Shape;172;p27"/>
          <p:cNvSpPr txBox="1"/>
          <p:nvPr/>
        </p:nvSpPr>
        <p:spPr>
          <a:xfrm>
            <a:off x="6628916" y="2052761"/>
            <a:ext cx="2198700" cy="7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accent4"/>
                </a:solidFill>
              </a:rPr>
              <a:t>Example: Array is a sequence of boxes. An array variable is a box containing address of sequences of boxes.</a:t>
            </a:r>
            <a:endParaRPr b="1">
              <a:solidFill>
                <a:schemeClr val="accent4"/>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Important Data Structures in Java</a:t>
            </a:r>
            <a:endParaRPr/>
          </a:p>
        </p:txBody>
      </p:sp>
      <p:sp>
        <p:nvSpPr>
          <p:cNvPr id="178" name="Google Shape;178;p2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Important data structure interfaces:</a:t>
            </a:r>
            <a:endParaRPr/>
          </a:p>
          <a:p>
            <a:pPr indent="-342900" lvl="0" marL="457200" rtl="0" algn="l">
              <a:spcBef>
                <a:spcPts val="600"/>
              </a:spcBef>
              <a:spcAft>
                <a:spcPts val="0"/>
              </a:spcAft>
              <a:buSzPts val="1800"/>
              <a:buChar char="●"/>
            </a:pPr>
            <a:r>
              <a:rPr lang="en"/>
              <a:t>java.util.Collection (and its subtypes).</a:t>
            </a:r>
            <a:endParaRPr/>
          </a:p>
          <a:p>
            <a:pPr indent="-342900" lvl="1" marL="914400" rtl="0" algn="l">
              <a:spcBef>
                <a:spcPts val="0"/>
              </a:spcBef>
              <a:spcAft>
                <a:spcPts val="0"/>
              </a:spcAft>
              <a:buSzPts val="1800"/>
              <a:buChar char="○"/>
            </a:pPr>
            <a:r>
              <a:rPr lang="en"/>
              <a:t>With a special emphasis on Map (and its subtypes).</a:t>
            </a:r>
            <a:endParaRPr/>
          </a:p>
          <a:p>
            <a:pPr indent="-342900" lvl="0" marL="457200" rtl="0" algn="l">
              <a:spcBef>
                <a:spcPts val="0"/>
              </a:spcBef>
              <a:spcAft>
                <a:spcPts val="0"/>
              </a:spcAft>
              <a:buSzPts val="1800"/>
              <a:buChar char="●"/>
            </a:pPr>
            <a:r>
              <a:rPr lang="en"/>
              <a:t>Our own Collections (e.g. Map61B, Deque): Didn’t actually extend Collection.</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Concrete implementations of these abstract implementations:</a:t>
            </a:r>
            <a:endParaRPr/>
          </a:p>
          <a:p>
            <a:pPr indent="-342900" lvl="0" marL="457200" rtl="0" algn="l">
              <a:spcBef>
                <a:spcPts val="600"/>
              </a:spcBef>
              <a:spcAft>
                <a:spcPts val="0"/>
              </a:spcAft>
              <a:buSzPts val="1800"/>
              <a:buChar char="●"/>
            </a:pPr>
            <a:r>
              <a:rPr lang="en"/>
              <a:t>Examples: ArrayDeque implements Deque.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Mathematical Analysis of Data Structure/Algorithm Performance</a:t>
            </a:r>
            <a:endParaRPr/>
          </a:p>
        </p:txBody>
      </p:sp>
      <p:sp>
        <p:nvSpPr>
          <p:cNvPr id="184" name="Google Shape;184;p2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Asymptotic analysis.</a:t>
            </a:r>
            <a:endParaRPr/>
          </a:p>
          <a:p>
            <a:pPr indent="-342900" lvl="0" marL="457200" rtl="0" algn="l">
              <a:spcBef>
                <a:spcPts val="0"/>
              </a:spcBef>
              <a:spcAft>
                <a:spcPts val="0"/>
              </a:spcAft>
              <a:buSzPts val="1800"/>
              <a:buChar char="●"/>
            </a:pPr>
            <a:r>
              <a:rPr lang="en"/>
              <a:t>O(·), Ω(·), Θ(·), and tilde notation.</a:t>
            </a:r>
            <a:endParaRPr/>
          </a:p>
          <a:p>
            <a:pPr indent="-342900" lvl="0" marL="457200" rtl="0" algn="l">
              <a:spcBef>
                <a:spcPts val="0"/>
              </a:spcBef>
              <a:spcAft>
                <a:spcPts val="0"/>
              </a:spcAft>
              <a:buSzPts val="1800"/>
              <a:buChar char="●"/>
            </a:pPr>
            <a:r>
              <a:rPr lang="en"/>
              <a:t>Worst case vs. average case vs. best case.</a:t>
            </a:r>
            <a:endParaRPr/>
          </a:p>
          <a:p>
            <a:pPr indent="-342900" lvl="1" marL="914400" rtl="0" algn="l">
              <a:spcBef>
                <a:spcPts val="0"/>
              </a:spcBef>
              <a:spcAft>
                <a:spcPts val="0"/>
              </a:spcAft>
              <a:buSzPts val="1800"/>
              <a:buChar char="○"/>
            </a:pPr>
            <a:r>
              <a:rPr lang="en"/>
              <a:t>Exemplar of usefulness of average case: Quicksort</a:t>
            </a:r>
            <a:endParaRPr/>
          </a:p>
          <a:p>
            <a:pPr indent="-342900" lvl="0" marL="457200" rtl="0" algn="l">
              <a:spcBef>
                <a:spcPts val="0"/>
              </a:spcBef>
              <a:spcAft>
                <a:spcPts val="0"/>
              </a:spcAft>
              <a:buSzPts val="1800"/>
              <a:buChar char="●"/>
            </a:pPr>
            <a:r>
              <a:rPr lang="en"/>
              <a:t>Determining the runtime of code through inspection (often requires deep thought).</a:t>
            </a:r>
            <a:endParaRPr/>
          </a:p>
          <a:p>
            <a:pPr indent="-342900" lvl="0" marL="457200" rtl="0" algn="l">
              <a:spcBef>
                <a:spcPts val="0"/>
              </a:spcBef>
              <a:spcAft>
                <a:spcPts val="0"/>
              </a:spcAft>
              <a:buSzPts val="1800"/>
              <a:buChar char="●"/>
            </a:pPr>
            <a:r>
              <a:rPr lang="en"/>
              <a:t>Multiplicative resizing is much better than additive resizing.</a:t>
            </a:r>
            <a:endParaRPr/>
          </a:p>
          <a:p>
            <a:pPr indent="-342900" lvl="1" marL="914400" rtl="0" algn="l">
              <a:spcBef>
                <a:spcPts val="0"/>
              </a:spcBef>
              <a:spcAft>
                <a:spcPts val="0"/>
              </a:spcAft>
              <a:buSzPts val="1800"/>
              <a:buChar char="○"/>
            </a:pPr>
            <a:r>
              <a:rPr lang="en"/>
              <a:t>Multiplicative resizing results in Θ(1) add runtime for ArrayLists.</a:t>
            </a:r>
            <a:endParaRPr/>
          </a:p>
          <a:p>
            <a:pPr indent="-342900" lvl="1" marL="914400" rtl="0" algn="l">
              <a:spcBef>
                <a:spcPts val="0"/>
              </a:spcBef>
              <a:spcAft>
                <a:spcPts val="0"/>
              </a:spcAft>
              <a:buSzPts val="1800"/>
              <a:buChar char="○"/>
            </a:pPr>
            <a:r>
              <a:rPr lang="en"/>
              <a:t>Additive resizing results in Θ(N) add runtime for ArrayLists.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p:nvPr/>
        </p:nvSpPr>
        <p:spPr>
          <a:xfrm>
            <a:off x="1268389" y="2398223"/>
            <a:ext cx="1870200" cy="1302900"/>
          </a:xfrm>
          <a:prstGeom prst="roundRect">
            <a:avLst>
              <a:gd fmla="val 16667" name="adj"/>
            </a:avLst>
          </a:prstGeom>
          <a:solidFill>
            <a:srgbClr val="CCCCC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0"/>
          <p:cNvSpPr/>
          <p:nvPr/>
        </p:nvSpPr>
        <p:spPr>
          <a:xfrm>
            <a:off x="1275800" y="1469000"/>
            <a:ext cx="1870200" cy="798300"/>
          </a:xfrm>
          <a:prstGeom prst="roundRect">
            <a:avLst>
              <a:gd fmla="val 16667" name="adj"/>
            </a:avLst>
          </a:prstGeom>
          <a:solidFill>
            <a:srgbClr val="CCCCC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0"/>
          <p:cNvSpPr/>
          <p:nvPr/>
        </p:nvSpPr>
        <p:spPr>
          <a:xfrm>
            <a:off x="3285275" y="1642225"/>
            <a:ext cx="696300" cy="3054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PQ</a:t>
            </a:r>
            <a:endParaRPr/>
          </a:p>
        </p:txBody>
      </p:sp>
      <p:sp>
        <p:nvSpPr>
          <p:cNvPr id="192" name="Google Shape;192;p30"/>
          <p:cNvSpPr/>
          <p:nvPr/>
        </p:nvSpPr>
        <p:spPr>
          <a:xfrm>
            <a:off x="6132750" y="733413"/>
            <a:ext cx="696300" cy="3054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List</a:t>
            </a:r>
            <a:endParaRPr/>
          </a:p>
        </p:txBody>
      </p:sp>
      <p:sp>
        <p:nvSpPr>
          <p:cNvPr id="193" name="Google Shape;193;p30"/>
          <p:cNvSpPr/>
          <p:nvPr/>
        </p:nvSpPr>
        <p:spPr>
          <a:xfrm>
            <a:off x="35725" y="1540375"/>
            <a:ext cx="696300" cy="3054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Set</a:t>
            </a:r>
            <a:endParaRPr/>
          </a:p>
        </p:txBody>
      </p:sp>
      <p:sp>
        <p:nvSpPr>
          <p:cNvPr id="194" name="Google Shape;194;p30"/>
          <p:cNvSpPr/>
          <p:nvPr/>
        </p:nvSpPr>
        <p:spPr>
          <a:xfrm>
            <a:off x="35600" y="2174050"/>
            <a:ext cx="696300" cy="3054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Map</a:t>
            </a:r>
            <a:endParaRPr/>
          </a:p>
        </p:txBody>
      </p:sp>
      <p:sp>
        <p:nvSpPr>
          <p:cNvPr id="195" name="Google Shape;195;p30"/>
          <p:cNvSpPr/>
          <p:nvPr/>
        </p:nvSpPr>
        <p:spPr>
          <a:xfrm>
            <a:off x="1246675" y="587875"/>
            <a:ext cx="1870200" cy="456600"/>
          </a:xfrm>
          <a:prstGeom prst="roundRect">
            <a:avLst>
              <a:gd fmla="val 16667" name="adj"/>
            </a:avLst>
          </a:prstGeom>
          <a:solidFill>
            <a:srgbClr val="CCCCC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0"/>
          <p:cNvSpPr/>
          <p:nvPr/>
        </p:nvSpPr>
        <p:spPr>
          <a:xfrm>
            <a:off x="5182792" y="2816071"/>
            <a:ext cx="1164600" cy="3054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DisjointSets</a:t>
            </a:r>
            <a:endParaRPr/>
          </a:p>
        </p:txBody>
      </p:sp>
      <p:sp>
        <p:nvSpPr>
          <p:cNvPr id="197" name="Google Shape;197;p30"/>
          <p:cNvSpPr/>
          <p:nvPr/>
        </p:nvSpPr>
        <p:spPr>
          <a:xfrm>
            <a:off x="1317675" y="638275"/>
            <a:ext cx="1756800" cy="3054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Chaining HT</a:t>
            </a:r>
            <a:endParaRPr/>
          </a:p>
        </p:txBody>
      </p:sp>
      <p:sp>
        <p:nvSpPr>
          <p:cNvPr id="198" name="Google Shape;198;p30"/>
          <p:cNvSpPr/>
          <p:nvPr/>
        </p:nvSpPr>
        <p:spPr>
          <a:xfrm>
            <a:off x="1317675" y="1540375"/>
            <a:ext cx="1791900" cy="305400"/>
          </a:xfrm>
          <a:prstGeom prst="rect">
            <a:avLst/>
          </a:prstGeom>
          <a:solidFill>
            <a:srgbClr val="F4CCC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LinkedList</a:t>
            </a:r>
            <a:endParaRPr/>
          </a:p>
        </p:txBody>
      </p:sp>
      <p:sp>
        <p:nvSpPr>
          <p:cNvPr id="199" name="Google Shape;199;p30"/>
          <p:cNvSpPr/>
          <p:nvPr/>
        </p:nvSpPr>
        <p:spPr>
          <a:xfrm>
            <a:off x="1325091" y="1921375"/>
            <a:ext cx="1791900" cy="305400"/>
          </a:xfrm>
          <a:prstGeom prst="rect">
            <a:avLst/>
          </a:prstGeom>
          <a:solidFill>
            <a:srgbClr val="F4CCC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Resizing Array</a:t>
            </a:r>
            <a:endParaRPr/>
          </a:p>
        </p:txBody>
      </p:sp>
      <p:sp>
        <p:nvSpPr>
          <p:cNvPr id="200" name="Google Shape;200;p30"/>
          <p:cNvSpPr/>
          <p:nvPr/>
        </p:nvSpPr>
        <p:spPr>
          <a:xfrm>
            <a:off x="1300121" y="4336975"/>
            <a:ext cx="1791900" cy="305400"/>
          </a:xfrm>
          <a:prstGeom prst="rect">
            <a:avLst/>
          </a:prstGeom>
          <a:solidFill>
            <a:srgbClr val="F4CCC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Heap</a:t>
            </a:r>
            <a:endParaRPr/>
          </a:p>
        </p:txBody>
      </p:sp>
      <p:cxnSp>
        <p:nvCxnSpPr>
          <p:cNvPr id="201" name="Google Shape;201;p30"/>
          <p:cNvCxnSpPr>
            <a:stCxn id="193" idx="3"/>
            <a:endCxn id="197" idx="1"/>
          </p:cNvCxnSpPr>
          <p:nvPr/>
        </p:nvCxnSpPr>
        <p:spPr>
          <a:xfrm flipH="1" rot="10800000">
            <a:off x="732025" y="790975"/>
            <a:ext cx="585600" cy="902100"/>
          </a:xfrm>
          <a:prstGeom prst="straightConnector1">
            <a:avLst/>
          </a:prstGeom>
          <a:noFill/>
          <a:ln cap="flat" cmpd="sng" w="19050">
            <a:solidFill>
              <a:srgbClr val="666666"/>
            </a:solidFill>
            <a:prstDash val="solid"/>
            <a:round/>
            <a:headEnd len="med" w="med" type="none"/>
            <a:tailEnd len="med" w="med" type="none"/>
          </a:ln>
        </p:spPr>
      </p:cxnSp>
      <p:cxnSp>
        <p:nvCxnSpPr>
          <p:cNvPr id="202" name="Google Shape;202;p30"/>
          <p:cNvCxnSpPr>
            <a:stCxn id="193" idx="3"/>
            <a:endCxn id="198" idx="1"/>
          </p:cNvCxnSpPr>
          <p:nvPr/>
        </p:nvCxnSpPr>
        <p:spPr>
          <a:xfrm>
            <a:off x="732025" y="1693075"/>
            <a:ext cx="585600" cy="0"/>
          </a:xfrm>
          <a:prstGeom prst="straightConnector1">
            <a:avLst/>
          </a:prstGeom>
          <a:noFill/>
          <a:ln cap="flat" cmpd="sng" w="19050">
            <a:solidFill>
              <a:srgbClr val="666666"/>
            </a:solidFill>
            <a:prstDash val="solid"/>
            <a:round/>
            <a:headEnd len="med" w="med" type="none"/>
            <a:tailEnd len="med" w="med" type="none"/>
          </a:ln>
        </p:spPr>
      </p:cxnSp>
      <p:cxnSp>
        <p:nvCxnSpPr>
          <p:cNvPr id="203" name="Google Shape;203;p30"/>
          <p:cNvCxnSpPr>
            <a:stCxn id="193" idx="3"/>
            <a:endCxn id="204" idx="1"/>
          </p:cNvCxnSpPr>
          <p:nvPr/>
        </p:nvCxnSpPr>
        <p:spPr>
          <a:xfrm>
            <a:off x="732025" y="1693075"/>
            <a:ext cx="580200" cy="990600"/>
          </a:xfrm>
          <a:prstGeom prst="straightConnector1">
            <a:avLst/>
          </a:prstGeom>
          <a:noFill/>
          <a:ln cap="flat" cmpd="sng" w="19050">
            <a:solidFill>
              <a:srgbClr val="666666"/>
            </a:solidFill>
            <a:prstDash val="solid"/>
            <a:round/>
            <a:headEnd len="med" w="med" type="none"/>
            <a:tailEnd len="med" w="med" type="none"/>
          </a:ln>
        </p:spPr>
      </p:cxnSp>
      <p:cxnSp>
        <p:nvCxnSpPr>
          <p:cNvPr id="205" name="Google Shape;205;p30"/>
          <p:cNvCxnSpPr>
            <a:stCxn id="193" idx="3"/>
            <a:endCxn id="199" idx="1"/>
          </p:cNvCxnSpPr>
          <p:nvPr/>
        </p:nvCxnSpPr>
        <p:spPr>
          <a:xfrm>
            <a:off x="732025" y="1693075"/>
            <a:ext cx="593100" cy="381000"/>
          </a:xfrm>
          <a:prstGeom prst="straightConnector1">
            <a:avLst/>
          </a:prstGeom>
          <a:noFill/>
          <a:ln cap="flat" cmpd="sng" w="19050">
            <a:solidFill>
              <a:srgbClr val="666666"/>
            </a:solidFill>
            <a:prstDash val="solid"/>
            <a:round/>
            <a:headEnd len="med" w="med" type="none"/>
            <a:tailEnd len="med" w="med" type="none"/>
          </a:ln>
        </p:spPr>
      </p:cxnSp>
      <p:cxnSp>
        <p:nvCxnSpPr>
          <p:cNvPr id="206" name="Google Shape;206;p30"/>
          <p:cNvCxnSpPr>
            <a:stCxn id="193" idx="3"/>
            <a:endCxn id="207" idx="1"/>
          </p:cNvCxnSpPr>
          <p:nvPr/>
        </p:nvCxnSpPr>
        <p:spPr>
          <a:xfrm>
            <a:off x="732025" y="1693075"/>
            <a:ext cx="580200" cy="1371600"/>
          </a:xfrm>
          <a:prstGeom prst="straightConnector1">
            <a:avLst/>
          </a:prstGeom>
          <a:noFill/>
          <a:ln cap="flat" cmpd="sng" w="19050">
            <a:solidFill>
              <a:srgbClr val="666666"/>
            </a:solidFill>
            <a:prstDash val="solid"/>
            <a:round/>
            <a:headEnd len="med" w="med" type="none"/>
            <a:tailEnd len="med" w="med" type="none"/>
          </a:ln>
        </p:spPr>
      </p:cxnSp>
      <p:cxnSp>
        <p:nvCxnSpPr>
          <p:cNvPr id="208" name="Google Shape;208;p30"/>
          <p:cNvCxnSpPr>
            <a:stCxn id="193" idx="3"/>
            <a:endCxn id="200" idx="1"/>
          </p:cNvCxnSpPr>
          <p:nvPr/>
        </p:nvCxnSpPr>
        <p:spPr>
          <a:xfrm>
            <a:off x="732025" y="1693075"/>
            <a:ext cx="568200" cy="2796600"/>
          </a:xfrm>
          <a:prstGeom prst="straightConnector1">
            <a:avLst/>
          </a:prstGeom>
          <a:noFill/>
          <a:ln cap="flat" cmpd="sng" w="19050">
            <a:solidFill>
              <a:srgbClr val="666666"/>
            </a:solidFill>
            <a:prstDash val="solid"/>
            <a:round/>
            <a:headEnd len="med" w="med" type="none"/>
            <a:tailEnd len="med" w="med" type="none"/>
          </a:ln>
        </p:spPr>
      </p:cxnSp>
      <p:sp>
        <p:nvSpPr>
          <p:cNvPr id="207" name="Google Shape;207;p30"/>
          <p:cNvSpPr/>
          <p:nvPr/>
        </p:nvSpPr>
        <p:spPr>
          <a:xfrm>
            <a:off x="1312221" y="2911975"/>
            <a:ext cx="1791900" cy="3054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Red Black</a:t>
            </a:r>
            <a:endParaRPr/>
          </a:p>
        </p:txBody>
      </p:sp>
      <p:sp>
        <p:nvSpPr>
          <p:cNvPr id="204" name="Google Shape;204;p30"/>
          <p:cNvSpPr/>
          <p:nvPr/>
        </p:nvSpPr>
        <p:spPr>
          <a:xfrm>
            <a:off x="1312350" y="2530975"/>
            <a:ext cx="1791900" cy="305400"/>
          </a:xfrm>
          <a:prstGeom prst="rect">
            <a:avLst/>
          </a:prstGeom>
          <a:solidFill>
            <a:srgbClr val="F4CCC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BST (no balancing)</a:t>
            </a:r>
            <a:endParaRPr/>
          </a:p>
        </p:txBody>
      </p:sp>
      <p:sp>
        <p:nvSpPr>
          <p:cNvPr id="209" name="Google Shape;209;p30"/>
          <p:cNvSpPr/>
          <p:nvPr/>
        </p:nvSpPr>
        <p:spPr>
          <a:xfrm>
            <a:off x="1312221" y="3292975"/>
            <a:ext cx="1791900" cy="3054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300"/>
              <a:t>B-Trees (2-3 / 2-3-4)</a:t>
            </a:r>
            <a:endParaRPr sz="1300"/>
          </a:p>
        </p:txBody>
      </p:sp>
      <p:cxnSp>
        <p:nvCxnSpPr>
          <p:cNvPr id="210" name="Google Shape;210;p30"/>
          <p:cNvCxnSpPr>
            <a:stCxn id="197" idx="1"/>
            <a:endCxn id="194" idx="3"/>
          </p:cNvCxnSpPr>
          <p:nvPr/>
        </p:nvCxnSpPr>
        <p:spPr>
          <a:xfrm flipH="1">
            <a:off x="731775" y="790975"/>
            <a:ext cx="585900" cy="1535700"/>
          </a:xfrm>
          <a:prstGeom prst="straightConnector1">
            <a:avLst/>
          </a:prstGeom>
          <a:noFill/>
          <a:ln cap="flat" cmpd="sng" w="19050">
            <a:solidFill>
              <a:srgbClr val="666666"/>
            </a:solidFill>
            <a:prstDash val="solid"/>
            <a:round/>
            <a:headEnd len="med" w="med" type="none"/>
            <a:tailEnd len="med" w="med" type="none"/>
          </a:ln>
        </p:spPr>
      </p:cxnSp>
      <p:cxnSp>
        <p:nvCxnSpPr>
          <p:cNvPr id="211" name="Google Shape;211;p30"/>
          <p:cNvCxnSpPr>
            <a:stCxn id="198" idx="1"/>
            <a:endCxn id="194" idx="3"/>
          </p:cNvCxnSpPr>
          <p:nvPr/>
        </p:nvCxnSpPr>
        <p:spPr>
          <a:xfrm flipH="1">
            <a:off x="731775" y="1693075"/>
            <a:ext cx="585900" cy="633600"/>
          </a:xfrm>
          <a:prstGeom prst="straightConnector1">
            <a:avLst/>
          </a:prstGeom>
          <a:noFill/>
          <a:ln cap="flat" cmpd="sng" w="19050">
            <a:solidFill>
              <a:srgbClr val="666666"/>
            </a:solidFill>
            <a:prstDash val="solid"/>
            <a:round/>
            <a:headEnd len="med" w="med" type="none"/>
            <a:tailEnd len="med" w="med" type="none"/>
          </a:ln>
        </p:spPr>
      </p:cxnSp>
      <p:cxnSp>
        <p:nvCxnSpPr>
          <p:cNvPr id="212" name="Google Shape;212;p30"/>
          <p:cNvCxnSpPr>
            <a:stCxn id="199" idx="1"/>
            <a:endCxn id="194" idx="3"/>
          </p:cNvCxnSpPr>
          <p:nvPr/>
        </p:nvCxnSpPr>
        <p:spPr>
          <a:xfrm flipH="1">
            <a:off x="731991" y="2074075"/>
            <a:ext cx="593100" cy="252600"/>
          </a:xfrm>
          <a:prstGeom prst="straightConnector1">
            <a:avLst/>
          </a:prstGeom>
          <a:noFill/>
          <a:ln cap="flat" cmpd="sng" w="19050">
            <a:solidFill>
              <a:srgbClr val="666666"/>
            </a:solidFill>
            <a:prstDash val="solid"/>
            <a:round/>
            <a:headEnd len="med" w="med" type="none"/>
            <a:tailEnd len="med" w="med" type="none"/>
          </a:ln>
        </p:spPr>
      </p:cxnSp>
      <p:cxnSp>
        <p:nvCxnSpPr>
          <p:cNvPr id="213" name="Google Shape;213;p30"/>
          <p:cNvCxnSpPr>
            <a:stCxn id="204" idx="1"/>
            <a:endCxn id="194" idx="3"/>
          </p:cNvCxnSpPr>
          <p:nvPr/>
        </p:nvCxnSpPr>
        <p:spPr>
          <a:xfrm rot="10800000">
            <a:off x="731850" y="2326675"/>
            <a:ext cx="580500" cy="357000"/>
          </a:xfrm>
          <a:prstGeom prst="straightConnector1">
            <a:avLst/>
          </a:prstGeom>
          <a:noFill/>
          <a:ln cap="flat" cmpd="sng" w="19050">
            <a:solidFill>
              <a:srgbClr val="666666"/>
            </a:solidFill>
            <a:prstDash val="solid"/>
            <a:round/>
            <a:headEnd len="med" w="med" type="none"/>
            <a:tailEnd len="med" w="med" type="none"/>
          </a:ln>
        </p:spPr>
      </p:cxnSp>
      <p:cxnSp>
        <p:nvCxnSpPr>
          <p:cNvPr id="214" name="Google Shape;214;p30"/>
          <p:cNvCxnSpPr>
            <a:stCxn id="207" idx="1"/>
            <a:endCxn id="194" idx="3"/>
          </p:cNvCxnSpPr>
          <p:nvPr/>
        </p:nvCxnSpPr>
        <p:spPr>
          <a:xfrm rot="10800000">
            <a:off x="732021" y="2326675"/>
            <a:ext cx="580200" cy="738000"/>
          </a:xfrm>
          <a:prstGeom prst="straightConnector1">
            <a:avLst/>
          </a:prstGeom>
          <a:noFill/>
          <a:ln cap="flat" cmpd="sng" w="19050">
            <a:solidFill>
              <a:srgbClr val="666666"/>
            </a:solidFill>
            <a:prstDash val="solid"/>
            <a:round/>
            <a:headEnd len="med" w="med" type="none"/>
            <a:tailEnd len="med" w="med" type="none"/>
          </a:ln>
        </p:spPr>
      </p:cxnSp>
      <p:cxnSp>
        <p:nvCxnSpPr>
          <p:cNvPr id="215" name="Google Shape;215;p30"/>
          <p:cNvCxnSpPr>
            <a:stCxn id="209" idx="1"/>
            <a:endCxn id="194" idx="3"/>
          </p:cNvCxnSpPr>
          <p:nvPr/>
        </p:nvCxnSpPr>
        <p:spPr>
          <a:xfrm rot="10800000">
            <a:off x="732021" y="2326675"/>
            <a:ext cx="580200" cy="1119000"/>
          </a:xfrm>
          <a:prstGeom prst="straightConnector1">
            <a:avLst/>
          </a:prstGeom>
          <a:noFill/>
          <a:ln cap="flat" cmpd="sng" w="19050">
            <a:solidFill>
              <a:srgbClr val="666666"/>
            </a:solidFill>
            <a:prstDash val="solid"/>
            <a:round/>
            <a:headEnd len="med" w="med" type="none"/>
            <a:tailEnd len="med" w="med" type="none"/>
          </a:ln>
        </p:spPr>
      </p:cxnSp>
      <p:cxnSp>
        <p:nvCxnSpPr>
          <p:cNvPr id="216" name="Google Shape;216;p30"/>
          <p:cNvCxnSpPr>
            <a:stCxn id="200" idx="1"/>
            <a:endCxn id="194" idx="3"/>
          </p:cNvCxnSpPr>
          <p:nvPr/>
        </p:nvCxnSpPr>
        <p:spPr>
          <a:xfrm rot="10800000">
            <a:off x="731921" y="2326675"/>
            <a:ext cx="568200" cy="2163000"/>
          </a:xfrm>
          <a:prstGeom prst="straightConnector1">
            <a:avLst/>
          </a:prstGeom>
          <a:noFill/>
          <a:ln cap="flat" cmpd="sng" w="19050">
            <a:solidFill>
              <a:srgbClr val="666666"/>
            </a:solidFill>
            <a:prstDash val="solid"/>
            <a:round/>
            <a:headEnd len="med" w="med" type="none"/>
            <a:tailEnd len="med" w="med" type="none"/>
          </a:ln>
        </p:spPr>
      </p:cxnSp>
      <p:sp>
        <p:nvSpPr>
          <p:cNvPr id="217" name="Google Shape;217;p30"/>
          <p:cNvSpPr/>
          <p:nvPr/>
        </p:nvSpPr>
        <p:spPr>
          <a:xfrm>
            <a:off x="4272675" y="1260625"/>
            <a:ext cx="1756800" cy="3054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Heap</a:t>
            </a:r>
            <a:endParaRPr/>
          </a:p>
        </p:txBody>
      </p:sp>
      <p:sp>
        <p:nvSpPr>
          <p:cNvPr id="218" name="Google Shape;218;p30"/>
          <p:cNvSpPr/>
          <p:nvPr/>
        </p:nvSpPr>
        <p:spPr>
          <a:xfrm>
            <a:off x="4272675" y="2098825"/>
            <a:ext cx="2024100" cy="305400"/>
          </a:xfrm>
          <a:prstGeom prst="rect">
            <a:avLst/>
          </a:prstGeom>
          <a:solidFill>
            <a:srgbClr val="F4CCC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Ordered Linked List</a:t>
            </a:r>
            <a:endParaRPr/>
          </a:p>
        </p:txBody>
      </p:sp>
      <p:sp>
        <p:nvSpPr>
          <p:cNvPr id="219" name="Google Shape;219;p30"/>
          <p:cNvSpPr/>
          <p:nvPr/>
        </p:nvSpPr>
        <p:spPr>
          <a:xfrm>
            <a:off x="4272675" y="1641625"/>
            <a:ext cx="1756800" cy="3054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Balanced Tree</a:t>
            </a:r>
            <a:endParaRPr/>
          </a:p>
        </p:txBody>
      </p:sp>
      <p:cxnSp>
        <p:nvCxnSpPr>
          <p:cNvPr id="220" name="Google Shape;220;p30"/>
          <p:cNvCxnSpPr>
            <a:stCxn id="219" idx="1"/>
            <a:endCxn id="191" idx="3"/>
          </p:cNvCxnSpPr>
          <p:nvPr/>
        </p:nvCxnSpPr>
        <p:spPr>
          <a:xfrm flipH="1">
            <a:off x="3981675" y="1794325"/>
            <a:ext cx="291000" cy="600"/>
          </a:xfrm>
          <a:prstGeom prst="straightConnector1">
            <a:avLst/>
          </a:prstGeom>
          <a:noFill/>
          <a:ln cap="flat" cmpd="sng" w="19050">
            <a:solidFill>
              <a:srgbClr val="666666"/>
            </a:solidFill>
            <a:prstDash val="solid"/>
            <a:round/>
            <a:headEnd len="med" w="med" type="none"/>
            <a:tailEnd len="med" w="med" type="none"/>
          </a:ln>
        </p:spPr>
      </p:cxnSp>
      <p:cxnSp>
        <p:nvCxnSpPr>
          <p:cNvPr id="221" name="Google Shape;221;p30"/>
          <p:cNvCxnSpPr>
            <a:stCxn id="218" idx="1"/>
            <a:endCxn id="191" idx="3"/>
          </p:cNvCxnSpPr>
          <p:nvPr/>
        </p:nvCxnSpPr>
        <p:spPr>
          <a:xfrm rot="10800000">
            <a:off x="3981675" y="1794925"/>
            <a:ext cx="291000" cy="456600"/>
          </a:xfrm>
          <a:prstGeom prst="straightConnector1">
            <a:avLst/>
          </a:prstGeom>
          <a:noFill/>
          <a:ln cap="flat" cmpd="sng" w="19050">
            <a:solidFill>
              <a:srgbClr val="666666"/>
            </a:solidFill>
            <a:prstDash val="solid"/>
            <a:round/>
            <a:headEnd len="med" w="med" type="none"/>
            <a:tailEnd len="med" w="med" type="none"/>
          </a:ln>
        </p:spPr>
      </p:cxnSp>
      <p:cxnSp>
        <p:nvCxnSpPr>
          <p:cNvPr id="222" name="Google Shape;222;p30"/>
          <p:cNvCxnSpPr>
            <a:stCxn id="217" idx="1"/>
            <a:endCxn id="191" idx="3"/>
          </p:cNvCxnSpPr>
          <p:nvPr/>
        </p:nvCxnSpPr>
        <p:spPr>
          <a:xfrm flipH="1">
            <a:off x="3981675" y="1413325"/>
            <a:ext cx="291000" cy="381600"/>
          </a:xfrm>
          <a:prstGeom prst="straightConnector1">
            <a:avLst/>
          </a:prstGeom>
          <a:noFill/>
          <a:ln cap="flat" cmpd="sng" w="19050">
            <a:solidFill>
              <a:srgbClr val="666666"/>
            </a:solidFill>
            <a:prstDash val="solid"/>
            <a:round/>
            <a:headEnd len="med" w="med" type="none"/>
            <a:tailEnd len="med" w="med" type="none"/>
          </a:ln>
        </p:spPr>
      </p:cxnSp>
      <p:sp>
        <p:nvSpPr>
          <p:cNvPr id="223" name="Google Shape;223;p30"/>
          <p:cNvSpPr/>
          <p:nvPr/>
        </p:nvSpPr>
        <p:spPr>
          <a:xfrm>
            <a:off x="7269603" y="923913"/>
            <a:ext cx="1791900" cy="3054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Resizing Array</a:t>
            </a:r>
            <a:endParaRPr/>
          </a:p>
        </p:txBody>
      </p:sp>
      <p:sp>
        <p:nvSpPr>
          <p:cNvPr id="224" name="Google Shape;224;p30"/>
          <p:cNvSpPr/>
          <p:nvPr/>
        </p:nvSpPr>
        <p:spPr>
          <a:xfrm>
            <a:off x="7262188" y="542913"/>
            <a:ext cx="1791900" cy="3054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LinkedList</a:t>
            </a:r>
            <a:endParaRPr/>
          </a:p>
        </p:txBody>
      </p:sp>
      <p:cxnSp>
        <p:nvCxnSpPr>
          <p:cNvPr id="225" name="Google Shape;225;p30"/>
          <p:cNvCxnSpPr>
            <a:stCxn id="224" idx="1"/>
            <a:endCxn id="192" idx="3"/>
          </p:cNvCxnSpPr>
          <p:nvPr/>
        </p:nvCxnSpPr>
        <p:spPr>
          <a:xfrm flipH="1">
            <a:off x="6828988" y="695613"/>
            <a:ext cx="433200" cy="190500"/>
          </a:xfrm>
          <a:prstGeom prst="straightConnector1">
            <a:avLst/>
          </a:prstGeom>
          <a:noFill/>
          <a:ln cap="flat" cmpd="sng" w="19050">
            <a:solidFill>
              <a:srgbClr val="666666"/>
            </a:solidFill>
            <a:prstDash val="solid"/>
            <a:round/>
            <a:headEnd len="med" w="med" type="none"/>
            <a:tailEnd len="med" w="med" type="none"/>
          </a:ln>
        </p:spPr>
      </p:cxnSp>
      <p:cxnSp>
        <p:nvCxnSpPr>
          <p:cNvPr id="226" name="Google Shape;226;p30"/>
          <p:cNvCxnSpPr>
            <a:stCxn id="223" idx="1"/>
            <a:endCxn id="192" idx="3"/>
          </p:cNvCxnSpPr>
          <p:nvPr/>
        </p:nvCxnSpPr>
        <p:spPr>
          <a:xfrm rot="10800000">
            <a:off x="6828903" y="886113"/>
            <a:ext cx="440700" cy="190500"/>
          </a:xfrm>
          <a:prstGeom prst="straightConnector1">
            <a:avLst/>
          </a:prstGeom>
          <a:noFill/>
          <a:ln cap="flat" cmpd="sng" w="19050">
            <a:solidFill>
              <a:srgbClr val="666666"/>
            </a:solidFill>
            <a:prstDash val="solid"/>
            <a:round/>
            <a:headEnd len="med" w="med" type="none"/>
            <a:tailEnd len="med" w="med" type="none"/>
          </a:ln>
        </p:spPr>
      </p:cxnSp>
      <p:sp>
        <p:nvSpPr>
          <p:cNvPr id="227" name="Google Shape;227;p30"/>
          <p:cNvSpPr/>
          <p:nvPr/>
        </p:nvSpPr>
        <p:spPr>
          <a:xfrm>
            <a:off x="6846917" y="2238850"/>
            <a:ext cx="2225100" cy="305400"/>
          </a:xfrm>
          <a:prstGeom prst="rect">
            <a:avLst/>
          </a:prstGeom>
          <a:solidFill>
            <a:srgbClr val="F4CCC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Quick Find</a:t>
            </a:r>
            <a:endParaRPr/>
          </a:p>
        </p:txBody>
      </p:sp>
      <p:sp>
        <p:nvSpPr>
          <p:cNvPr id="228" name="Google Shape;228;p30"/>
          <p:cNvSpPr/>
          <p:nvPr/>
        </p:nvSpPr>
        <p:spPr>
          <a:xfrm>
            <a:off x="6846917" y="2637300"/>
            <a:ext cx="2225100" cy="305400"/>
          </a:xfrm>
          <a:prstGeom prst="rect">
            <a:avLst/>
          </a:prstGeom>
          <a:solidFill>
            <a:srgbClr val="F4CCCC"/>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Quick Union</a:t>
            </a:r>
            <a:endParaRPr/>
          </a:p>
        </p:txBody>
      </p:sp>
      <p:sp>
        <p:nvSpPr>
          <p:cNvPr id="229" name="Google Shape;229;p30"/>
          <p:cNvSpPr/>
          <p:nvPr/>
        </p:nvSpPr>
        <p:spPr>
          <a:xfrm>
            <a:off x="6846917" y="3035750"/>
            <a:ext cx="2225100" cy="3054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WeightedQuickUnionUF</a:t>
            </a:r>
            <a:endParaRPr/>
          </a:p>
        </p:txBody>
      </p:sp>
      <p:sp>
        <p:nvSpPr>
          <p:cNvPr id="230" name="Google Shape;230;p30"/>
          <p:cNvSpPr/>
          <p:nvPr/>
        </p:nvSpPr>
        <p:spPr>
          <a:xfrm>
            <a:off x="6846917" y="3416750"/>
            <a:ext cx="2225100" cy="3054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WQUPC</a:t>
            </a:r>
            <a:endParaRPr/>
          </a:p>
        </p:txBody>
      </p:sp>
      <p:cxnSp>
        <p:nvCxnSpPr>
          <p:cNvPr id="231" name="Google Shape;231;p30"/>
          <p:cNvCxnSpPr>
            <a:stCxn id="227" idx="1"/>
            <a:endCxn id="196" idx="3"/>
          </p:cNvCxnSpPr>
          <p:nvPr/>
        </p:nvCxnSpPr>
        <p:spPr>
          <a:xfrm flipH="1">
            <a:off x="6347417" y="2391550"/>
            <a:ext cx="499500" cy="577200"/>
          </a:xfrm>
          <a:prstGeom prst="straightConnector1">
            <a:avLst/>
          </a:prstGeom>
          <a:noFill/>
          <a:ln cap="flat" cmpd="sng" w="19050">
            <a:solidFill>
              <a:srgbClr val="666666"/>
            </a:solidFill>
            <a:prstDash val="solid"/>
            <a:round/>
            <a:headEnd len="med" w="med" type="none"/>
            <a:tailEnd len="med" w="med" type="none"/>
          </a:ln>
        </p:spPr>
      </p:cxnSp>
      <p:cxnSp>
        <p:nvCxnSpPr>
          <p:cNvPr id="232" name="Google Shape;232;p30"/>
          <p:cNvCxnSpPr>
            <a:stCxn id="228" idx="1"/>
            <a:endCxn id="196" idx="3"/>
          </p:cNvCxnSpPr>
          <p:nvPr/>
        </p:nvCxnSpPr>
        <p:spPr>
          <a:xfrm flipH="1">
            <a:off x="6347417" y="2790000"/>
            <a:ext cx="499500" cy="178800"/>
          </a:xfrm>
          <a:prstGeom prst="straightConnector1">
            <a:avLst/>
          </a:prstGeom>
          <a:noFill/>
          <a:ln cap="flat" cmpd="sng" w="19050">
            <a:solidFill>
              <a:srgbClr val="666666"/>
            </a:solidFill>
            <a:prstDash val="solid"/>
            <a:round/>
            <a:headEnd len="med" w="med" type="none"/>
            <a:tailEnd len="med" w="med" type="none"/>
          </a:ln>
        </p:spPr>
      </p:cxnSp>
      <p:cxnSp>
        <p:nvCxnSpPr>
          <p:cNvPr id="233" name="Google Shape;233;p30"/>
          <p:cNvCxnSpPr>
            <a:stCxn id="229" idx="1"/>
            <a:endCxn id="196" idx="3"/>
          </p:cNvCxnSpPr>
          <p:nvPr/>
        </p:nvCxnSpPr>
        <p:spPr>
          <a:xfrm rot="10800000">
            <a:off x="6347417" y="2968850"/>
            <a:ext cx="499500" cy="219600"/>
          </a:xfrm>
          <a:prstGeom prst="straightConnector1">
            <a:avLst/>
          </a:prstGeom>
          <a:noFill/>
          <a:ln cap="flat" cmpd="sng" w="19050">
            <a:solidFill>
              <a:srgbClr val="666666"/>
            </a:solidFill>
            <a:prstDash val="solid"/>
            <a:round/>
            <a:headEnd len="med" w="med" type="none"/>
            <a:tailEnd len="med" w="med" type="none"/>
          </a:ln>
        </p:spPr>
      </p:cxnSp>
      <p:cxnSp>
        <p:nvCxnSpPr>
          <p:cNvPr id="234" name="Google Shape;234;p30"/>
          <p:cNvCxnSpPr>
            <a:stCxn id="230" idx="1"/>
            <a:endCxn id="196" idx="3"/>
          </p:cNvCxnSpPr>
          <p:nvPr/>
        </p:nvCxnSpPr>
        <p:spPr>
          <a:xfrm rot="10800000">
            <a:off x="6347417" y="2968850"/>
            <a:ext cx="499500" cy="600600"/>
          </a:xfrm>
          <a:prstGeom prst="straightConnector1">
            <a:avLst/>
          </a:prstGeom>
          <a:noFill/>
          <a:ln cap="flat" cmpd="sng" w="19050">
            <a:solidFill>
              <a:srgbClr val="666666"/>
            </a:solidFill>
            <a:prstDash val="solid"/>
            <a:round/>
            <a:headEnd len="med" w="med" type="none"/>
            <a:tailEnd len="med" w="med" type="none"/>
          </a:ln>
        </p:spPr>
      </p:cxnSp>
      <p:sp>
        <p:nvSpPr>
          <p:cNvPr id="235" name="Google Shape;235;p30"/>
          <p:cNvSpPr txBox="1"/>
          <p:nvPr/>
        </p:nvSpPr>
        <p:spPr>
          <a:xfrm>
            <a:off x="9325" y="-2900"/>
            <a:ext cx="39369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Some Examples of Implementations for ADTs</a:t>
            </a:r>
            <a:endParaRPr/>
          </a:p>
        </p:txBody>
      </p:sp>
      <p:sp>
        <p:nvSpPr>
          <p:cNvPr id="236" name="Google Shape;236;p30"/>
          <p:cNvSpPr/>
          <p:nvPr/>
        </p:nvSpPr>
        <p:spPr>
          <a:xfrm>
            <a:off x="1312221" y="3826375"/>
            <a:ext cx="1791900" cy="3054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Trie</a:t>
            </a:r>
            <a:endParaRPr strike="sngStrike"/>
          </a:p>
        </p:txBody>
      </p:sp>
      <p:cxnSp>
        <p:nvCxnSpPr>
          <p:cNvPr id="237" name="Google Shape;237;p30"/>
          <p:cNvCxnSpPr>
            <a:stCxn id="194" idx="3"/>
            <a:endCxn id="236" idx="1"/>
          </p:cNvCxnSpPr>
          <p:nvPr/>
        </p:nvCxnSpPr>
        <p:spPr>
          <a:xfrm>
            <a:off x="731900" y="2326750"/>
            <a:ext cx="580200" cy="1652400"/>
          </a:xfrm>
          <a:prstGeom prst="straightConnector1">
            <a:avLst/>
          </a:prstGeom>
          <a:noFill/>
          <a:ln cap="flat" cmpd="sng" w="19050">
            <a:solidFill>
              <a:schemeClr val="dk2"/>
            </a:solidFill>
            <a:prstDash val="solid"/>
            <a:round/>
            <a:headEnd len="med" w="med" type="none"/>
            <a:tailEnd len="med" w="med" type="none"/>
          </a:ln>
        </p:spPr>
      </p:cxnSp>
      <p:cxnSp>
        <p:nvCxnSpPr>
          <p:cNvPr id="238" name="Google Shape;238;p30"/>
          <p:cNvCxnSpPr>
            <a:stCxn id="193" idx="3"/>
            <a:endCxn id="236" idx="1"/>
          </p:cNvCxnSpPr>
          <p:nvPr/>
        </p:nvCxnSpPr>
        <p:spPr>
          <a:xfrm>
            <a:off x="732025" y="1693075"/>
            <a:ext cx="580200" cy="2286000"/>
          </a:xfrm>
          <a:prstGeom prst="straightConnector1">
            <a:avLst/>
          </a:prstGeom>
          <a:noFill/>
          <a:ln cap="flat" cmpd="sng" w="19050">
            <a:solidFill>
              <a:schemeClr val="dk2"/>
            </a:solidFill>
            <a:prstDash val="solid"/>
            <a:round/>
            <a:headEnd len="med" w="med" type="none"/>
            <a:tailEnd len="med" w="med" type="none"/>
          </a:ln>
        </p:spPr>
      </p:cxnSp>
      <p:sp>
        <p:nvSpPr>
          <p:cNvPr id="239" name="Google Shape;239;p30"/>
          <p:cNvSpPr/>
          <p:nvPr/>
        </p:nvSpPr>
        <p:spPr>
          <a:xfrm>
            <a:off x="3454163" y="4117721"/>
            <a:ext cx="1164600" cy="3054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Graph</a:t>
            </a:r>
            <a:endParaRPr/>
          </a:p>
        </p:txBody>
      </p:sp>
      <p:sp>
        <p:nvSpPr>
          <p:cNvPr id="240" name="Google Shape;240;p30"/>
          <p:cNvSpPr/>
          <p:nvPr/>
        </p:nvSpPr>
        <p:spPr>
          <a:xfrm>
            <a:off x="4926133" y="3721550"/>
            <a:ext cx="1791900" cy="3054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Adjacency Matrix</a:t>
            </a:r>
            <a:endParaRPr/>
          </a:p>
        </p:txBody>
      </p:sp>
      <p:sp>
        <p:nvSpPr>
          <p:cNvPr id="241" name="Google Shape;241;p30"/>
          <p:cNvSpPr/>
          <p:nvPr/>
        </p:nvSpPr>
        <p:spPr>
          <a:xfrm>
            <a:off x="4926133" y="4120000"/>
            <a:ext cx="1791900" cy="3054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Edge List</a:t>
            </a:r>
            <a:endParaRPr/>
          </a:p>
        </p:txBody>
      </p:sp>
      <p:sp>
        <p:nvSpPr>
          <p:cNvPr id="242" name="Google Shape;242;p30"/>
          <p:cNvSpPr/>
          <p:nvPr/>
        </p:nvSpPr>
        <p:spPr>
          <a:xfrm>
            <a:off x="4926133" y="4518450"/>
            <a:ext cx="1791900" cy="305400"/>
          </a:xfrm>
          <a:prstGeom prst="rect">
            <a:avLst/>
          </a:prstGeom>
          <a:solidFill>
            <a:srgbClr val="C9DAF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Adjacency Lists</a:t>
            </a:r>
            <a:endParaRPr/>
          </a:p>
        </p:txBody>
      </p:sp>
      <p:cxnSp>
        <p:nvCxnSpPr>
          <p:cNvPr id="243" name="Google Shape;243;p30"/>
          <p:cNvCxnSpPr>
            <a:stCxn id="240" idx="1"/>
            <a:endCxn id="239" idx="3"/>
          </p:cNvCxnSpPr>
          <p:nvPr/>
        </p:nvCxnSpPr>
        <p:spPr>
          <a:xfrm flipH="1">
            <a:off x="4618633" y="3874250"/>
            <a:ext cx="307500" cy="396300"/>
          </a:xfrm>
          <a:prstGeom prst="straightConnector1">
            <a:avLst/>
          </a:prstGeom>
          <a:noFill/>
          <a:ln cap="flat" cmpd="sng" w="19050">
            <a:solidFill>
              <a:srgbClr val="666666"/>
            </a:solidFill>
            <a:prstDash val="solid"/>
            <a:round/>
            <a:headEnd len="med" w="med" type="none"/>
            <a:tailEnd len="med" w="med" type="none"/>
          </a:ln>
        </p:spPr>
      </p:cxnSp>
      <p:cxnSp>
        <p:nvCxnSpPr>
          <p:cNvPr id="244" name="Google Shape;244;p30"/>
          <p:cNvCxnSpPr>
            <a:stCxn id="241" idx="1"/>
            <a:endCxn id="239" idx="3"/>
          </p:cNvCxnSpPr>
          <p:nvPr/>
        </p:nvCxnSpPr>
        <p:spPr>
          <a:xfrm rot="10800000">
            <a:off x="4618633" y="4270300"/>
            <a:ext cx="307500" cy="2400"/>
          </a:xfrm>
          <a:prstGeom prst="straightConnector1">
            <a:avLst/>
          </a:prstGeom>
          <a:noFill/>
          <a:ln cap="flat" cmpd="sng" w="19050">
            <a:solidFill>
              <a:srgbClr val="666666"/>
            </a:solidFill>
            <a:prstDash val="solid"/>
            <a:round/>
            <a:headEnd len="med" w="med" type="none"/>
            <a:tailEnd len="med" w="med" type="none"/>
          </a:ln>
        </p:spPr>
      </p:cxnSp>
      <p:cxnSp>
        <p:nvCxnSpPr>
          <p:cNvPr id="245" name="Google Shape;245;p30"/>
          <p:cNvCxnSpPr>
            <a:stCxn id="242" idx="1"/>
            <a:endCxn id="239" idx="3"/>
          </p:cNvCxnSpPr>
          <p:nvPr/>
        </p:nvCxnSpPr>
        <p:spPr>
          <a:xfrm rot="10800000">
            <a:off x="4618633" y="4270350"/>
            <a:ext cx="307500" cy="4008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Arrays vs. Linked Data Structures</a:t>
            </a:r>
            <a:endParaRPr/>
          </a:p>
        </p:txBody>
      </p:sp>
      <p:sp>
        <p:nvSpPr>
          <p:cNvPr id="251" name="Google Shape;251;p3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Array-Based Data Structures:</a:t>
            </a:r>
            <a:endParaRPr/>
          </a:p>
          <a:p>
            <a:pPr indent="-342900" lvl="0" marL="457200" rtl="0" algn="l">
              <a:spcBef>
                <a:spcPts val="600"/>
              </a:spcBef>
              <a:spcAft>
                <a:spcPts val="0"/>
              </a:spcAft>
              <a:buSzPts val="1800"/>
              <a:buChar char="●"/>
            </a:pPr>
            <a:r>
              <a:rPr lang="en"/>
              <a:t>ArrayLists and ArrayDeque</a:t>
            </a:r>
            <a:endParaRPr/>
          </a:p>
          <a:p>
            <a:pPr indent="-342900" lvl="0" marL="457200" rtl="0" algn="l">
              <a:spcBef>
                <a:spcPts val="0"/>
              </a:spcBef>
              <a:spcAft>
                <a:spcPts val="0"/>
              </a:spcAft>
              <a:buSzPts val="1800"/>
              <a:buChar char="●"/>
            </a:pPr>
            <a:r>
              <a:rPr lang="en"/>
              <a:t>HashSets, HashMaps, MyHashMap: Arrays of ‘buckets’</a:t>
            </a:r>
            <a:endParaRPr/>
          </a:p>
          <a:p>
            <a:pPr indent="-342900" lvl="0" marL="457200" rtl="0" algn="l">
              <a:spcBef>
                <a:spcPts val="0"/>
              </a:spcBef>
              <a:spcAft>
                <a:spcPts val="0"/>
              </a:spcAft>
              <a:buSzPts val="1800"/>
              <a:buChar char="●"/>
            </a:pPr>
            <a:r>
              <a:rPr lang="en"/>
              <a:t>ArrayHeap (tree represented as an array)</a:t>
            </a:r>
            <a:endParaRPr/>
          </a:p>
          <a:p>
            <a:pPr indent="0" lvl="0" marL="0" rtl="0" algn="l">
              <a:spcBef>
                <a:spcPts val="600"/>
              </a:spcBef>
              <a:spcAft>
                <a:spcPts val="0"/>
              </a:spcAft>
              <a:buNone/>
            </a:pPr>
            <a:r>
              <a:t/>
            </a:r>
            <a:endParaRPr sz="1600"/>
          </a:p>
          <a:p>
            <a:pPr indent="0" lvl="0" marL="0" rtl="0" algn="l">
              <a:spcBef>
                <a:spcPts val="600"/>
              </a:spcBef>
              <a:spcAft>
                <a:spcPts val="0"/>
              </a:spcAft>
              <a:buNone/>
            </a:pPr>
            <a:r>
              <a:rPr lang="en"/>
              <a:t>Linked Data Structures</a:t>
            </a:r>
            <a:endParaRPr/>
          </a:p>
          <a:p>
            <a:pPr indent="-342900" lvl="0" marL="457200" rtl="0" algn="l">
              <a:spcBef>
                <a:spcPts val="600"/>
              </a:spcBef>
              <a:spcAft>
                <a:spcPts val="0"/>
              </a:spcAft>
              <a:buSzPts val="1800"/>
              <a:buChar char="●"/>
            </a:pPr>
            <a:r>
              <a:rPr lang="en"/>
              <a:t>Linked Lists</a:t>
            </a:r>
            <a:endParaRPr/>
          </a:p>
          <a:p>
            <a:pPr indent="-342900" lvl="1" marL="914400" rtl="0" algn="l">
              <a:spcBef>
                <a:spcPts val="0"/>
              </a:spcBef>
              <a:spcAft>
                <a:spcPts val="0"/>
              </a:spcAft>
              <a:buSzPts val="1800"/>
              <a:buChar char="○"/>
            </a:pPr>
            <a:r>
              <a:rPr lang="en"/>
              <a:t>LinkedList, IntList, LinkedListDeque, SLList, DLList</a:t>
            </a:r>
            <a:endParaRPr/>
          </a:p>
          <a:p>
            <a:pPr indent="-342900" lvl="0" marL="457200" rtl="0" algn="l">
              <a:spcBef>
                <a:spcPts val="0"/>
              </a:spcBef>
              <a:spcAft>
                <a:spcPts val="0"/>
              </a:spcAft>
              <a:buSzPts val="1800"/>
              <a:buChar char="●"/>
            </a:pPr>
            <a:r>
              <a:rPr lang="en"/>
              <a:t>Trees: Hierarchical generalization of a linked list. Aim for bushiness.</a:t>
            </a:r>
            <a:endParaRPr/>
          </a:p>
          <a:p>
            <a:pPr indent="-342900" lvl="1" marL="914400" rtl="0" algn="l">
              <a:spcBef>
                <a:spcPts val="0"/>
              </a:spcBef>
              <a:spcAft>
                <a:spcPts val="0"/>
              </a:spcAft>
              <a:buSzPts val="1800"/>
              <a:buChar char="○"/>
            </a:pPr>
            <a:r>
              <a:rPr lang="en"/>
              <a:t>TreeSet, TreeMap, BSTMap, Tries (trie links often stored as arrays)</a:t>
            </a:r>
            <a:endParaRPr/>
          </a:p>
          <a:p>
            <a:pPr indent="-342900" lvl="0" marL="457200" rtl="0" algn="l">
              <a:spcBef>
                <a:spcPts val="0"/>
              </a:spcBef>
              <a:spcAft>
                <a:spcPts val="0"/>
              </a:spcAft>
              <a:buSzPts val="1800"/>
              <a:buChar char="●"/>
            </a:pPr>
            <a:r>
              <a:rPr lang="en"/>
              <a:t>Graphs: Generalization of a tree (including many algorithms). </a:t>
            </a:r>
            <a:endParaRPr/>
          </a:p>
          <a:p>
            <a:pPr indent="0" lvl="0" marL="0" rtl="0" algn="l">
              <a:spcBef>
                <a:spcPts val="600"/>
              </a:spcBef>
              <a:spcAft>
                <a:spcPts val="0"/>
              </a:spcAft>
              <a:buNone/>
            </a:pPr>
            <a:r>
              <a:t/>
            </a:r>
            <a:endParaRPr sz="1600"/>
          </a:p>
          <a:p>
            <a:pPr indent="0" lvl="0" marL="0" rtl="0" algn="l">
              <a:spcBef>
                <a:spcPts val="600"/>
              </a:spcBef>
              <a:spcAft>
                <a:spcPts val="0"/>
              </a:spcAft>
              <a:buNone/>
            </a:pPr>
            <a:r>
              <a:rPr lang="en"/>
              <a:t>Tradeoffs of array-based vs. linked data structures. </a:t>
            </a:r>
            <a:endParaRPr/>
          </a:p>
          <a:p>
            <a:pPr indent="0" lvl="0" marL="0" rtl="0" algn="l">
              <a:spcBef>
                <a:spcPts val="600"/>
              </a:spcBef>
              <a:spcAft>
                <a:spcPts val="0"/>
              </a:spcAft>
              <a:buNone/>
            </a:pPr>
            <a:r>
              <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2"/>
          <p:cNvSpPr txBox="1"/>
          <p:nvPr/>
        </p:nvSpPr>
        <p:spPr>
          <a:xfrm>
            <a:off x="9325" y="-2900"/>
            <a:ext cx="39369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Tractable Graph Problems and Algorithms</a:t>
            </a:r>
            <a:endParaRPr/>
          </a:p>
        </p:txBody>
      </p:sp>
      <p:sp>
        <p:nvSpPr>
          <p:cNvPr id="257" name="Google Shape;257;p32"/>
          <p:cNvSpPr/>
          <p:nvPr/>
        </p:nvSpPr>
        <p:spPr>
          <a:xfrm>
            <a:off x="1670614" y="756123"/>
            <a:ext cx="1806600" cy="305400"/>
          </a:xfrm>
          <a:prstGeom prst="rect">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Reachability</a:t>
            </a:r>
            <a:endParaRPr/>
          </a:p>
        </p:txBody>
      </p:sp>
      <p:sp>
        <p:nvSpPr>
          <p:cNvPr id="258" name="Google Shape;258;p32"/>
          <p:cNvSpPr/>
          <p:nvPr/>
        </p:nvSpPr>
        <p:spPr>
          <a:xfrm>
            <a:off x="1670614" y="336350"/>
            <a:ext cx="1806600" cy="305400"/>
          </a:xfrm>
          <a:prstGeom prst="rect">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Topological Sort</a:t>
            </a:r>
            <a:endParaRPr/>
          </a:p>
        </p:txBody>
      </p:sp>
      <p:sp>
        <p:nvSpPr>
          <p:cNvPr id="259" name="Google Shape;259;p32"/>
          <p:cNvSpPr/>
          <p:nvPr/>
        </p:nvSpPr>
        <p:spPr>
          <a:xfrm>
            <a:off x="1670614" y="3438536"/>
            <a:ext cx="1806600" cy="711000"/>
          </a:xfrm>
          <a:prstGeom prst="rect">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Multiple Target</a:t>
            </a:r>
            <a:endParaRPr/>
          </a:p>
          <a:p>
            <a:pPr indent="0" lvl="0" marL="0" rtl="0" algn="l">
              <a:spcBef>
                <a:spcPts val="0"/>
              </a:spcBef>
              <a:spcAft>
                <a:spcPts val="0"/>
              </a:spcAft>
              <a:buNone/>
            </a:pPr>
            <a:r>
              <a:rPr lang="en"/>
              <a:t>Shortest Paths by Total Edge Weight</a:t>
            </a:r>
            <a:endParaRPr/>
          </a:p>
        </p:txBody>
      </p:sp>
      <p:sp>
        <p:nvSpPr>
          <p:cNvPr id="260" name="Google Shape;260;p32"/>
          <p:cNvSpPr/>
          <p:nvPr/>
        </p:nvSpPr>
        <p:spPr>
          <a:xfrm>
            <a:off x="1670614" y="4258725"/>
            <a:ext cx="1806600" cy="711000"/>
          </a:xfrm>
          <a:prstGeom prst="rect">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Single Target Shortest Paths by Total Edge Weight</a:t>
            </a:r>
            <a:endParaRPr/>
          </a:p>
        </p:txBody>
      </p:sp>
      <p:sp>
        <p:nvSpPr>
          <p:cNvPr id="261" name="Google Shape;261;p32"/>
          <p:cNvSpPr/>
          <p:nvPr/>
        </p:nvSpPr>
        <p:spPr>
          <a:xfrm>
            <a:off x="1670614" y="2097961"/>
            <a:ext cx="1806600" cy="632100"/>
          </a:xfrm>
          <a:prstGeom prst="rect">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Multiple Target</a:t>
            </a:r>
            <a:endParaRPr/>
          </a:p>
          <a:p>
            <a:pPr indent="0" lvl="0" marL="0" rtl="0" algn="l">
              <a:spcBef>
                <a:spcPts val="0"/>
              </a:spcBef>
              <a:spcAft>
                <a:spcPts val="0"/>
              </a:spcAft>
              <a:buNone/>
            </a:pPr>
            <a:r>
              <a:rPr lang="en"/>
              <a:t>Shortest Paths by # of Edges</a:t>
            </a:r>
            <a:endParaRPr/>
          </a:p>
        </p:txBody>
      </p:sp>
      <p:sp>
        <p:nvSpPr>
          <p:cNvPr id="262" name="Google Shape;262;p32"/>
          <p:cNvSpPr/>
          <p:nvPr/>
        </p:nvSpPr>
        <p:spPr>
          <a:xfrm>
            <a:off x="6200414" y="1792561"/>
            <a:ext cx="15264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BFS Traversal</a:t>
            </a:r>
            <a:endParaRPr/>
          </a:p>
        </p:txBody>
      </p:sp>
      <p:sp>
        <p:nvSpPr>
          <p:cNvPr id="263" name="Google Shape;263;p32"/>
          <p:cNvSpPr/>
          <p:nvPr/>
        </p:nvSpPr>
        <p:spPr>
          <a:xfrm>
            <a:off x="6200414" y="800461"/>
            <a:ext cx="15264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DFS Traversal</a:t>
            </a:r>
            <a:endParaRPr/>
          </a:p>
        </p:txBody>
      </p:sp>
      <p:sp>
        <p:nvSpPr>
          <p:cNvPr id="264" name="Google Shape;264;p32"/>
          <p:cNvSpPr/>
          <p:nvPr/>
        </p:nvSpPr>
        <p:spPr>
          <a:xfrm>
            <a:off x="6735015" y="3524625"/>
            <a:ext cx="9918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Dijkstra’s</a:t>
            </a:r>
            <a:endParaRPr/>
          </a:p>
        </p:txBody>
      </p:sp>
      <p:sp>
        <p:nvSpPr>
          <p:cNvPr id="265" name="Google Shape;265;p32"/>
          <p:cNvSpPr/>
          <p:nvPr/>
        </p:nvSpPr>
        <p:spPr>
          <a:xfrm>
            <a:off x="6878715" y="4508700"/>
            <a:ext cx="7044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a:t>
            </a:r>
            <a:endParaRPr/>
          </a:p>
        </p:txBody>
      </p:sp>
      <p:cxnSp>
        <p:nvCxnSpPr>
          <p:cNvPr id="266" name="Google Shape;266;p32"/>
          <p:cNvCxnSpPr>
            <a:stCxn id="260" idx="3"/>
            <a:endCxn id="267" idx="1"/>
          </p:cNvCxnSpPr>
          <p:nvPr/>
        </p:nvCxnSpPr>
        <p:spPr>
          <a:xfrm flipH="1" rot="10800000">
            <a:off x="3477214" y="4588725"/>
            <a:ext cx="623700" cy="25500"/>
          </a:xfrm>
          <a:prstGeom prst="straightConnector1">
            <a:avLst/>
          </a:prstGeom>
          <a:noFill/>
          <a:ln cap="flat" cmpd="sng" w="19050">
            <a:solidFill>
              <a:schemeClr val="dk2"/>
            </a:solidFill>
            <a:prstDash val="solid"/>
            <a:round/>
            <a:headEnd len="med" w="med" type="none"/>
            <a:tailEnd len="med" w="med" type="none"/>
          </a:ln>
        </p:spPr>
      </p:cxnSp>
      <p:sp>
        <p:nvSpPr>
          <p:cNvPr id="268" name="Google Shape;268;p32"/>
          <p:cNvSpPr/>
          <p:nvPr/>
        </p:nvSpPr>
        <p:spPr>
          <a:xfrm>
            <a:off x="1670614" y="1175898"/>
            <a:ext cx="1806600" cy="305400"/>
          </a:xfrm>
          <a:prstGeom prst="rect">
            <a:avLst/>
          </a:prstGeom>
          <a:solidFill>
            <a:srgbClr val="D9D2E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Bipartiteness</a:t>
            </a:r>
            <a:endParaRPr/>
          </a:p>
        </p:txBody>
      </p:sp>
      <p:sp>
        <p:nvSpPr>
          <p:cNvPr id="269" name="Google Shape;269;p32"/>
          <p:cNvSpPr/>
          <p:nvPr/>
        </p:nvSpPr>
        <p:spPr>
          <a:xfrm>
            <a:off x="1670614" y="1636923"/>
            <a:ext cx="1806600" cy="305400"/>
          </a:xfrm>
          <a:prstGeom prst="rect">
            <a:avLst/>
          </a:prstGeom>
          <a:solidFill>
            <a:srgbClr val="D9D2E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Cycle Detection</a:t>
            </a:r>
            <a:endParaRPr/>
          </a:p>
        </p:txBody>
      </p:sp>
      <p:sp>
        <p:nvSpPr>
          <p:cNvPr id="270" name="Google Shape;270;p32"/>
          <p:cNvSpPr/>
          <p:nvPr/>
        </p:nvSpPr>
        <p:spPr>
          <a:xfrm>
            <a:off x="1670614" y="2874520"/>
            <a:ext cx="1806600" cy="468900"/>
          </a:xfrm>
          <a:prstGeom prst="rect">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Minimum Spanning Tree</a:t>
            </a:r>
            <a:endParaRPr/>
          </a:p>
        </p:txBody>
      </p:sp>
      <p:sp>
        <p:nvSpPr>
          <p:cNvPr id="271" name="Google Shape;271;p32"/>
          <p:cNvSpPr/>
          <p:nvPr/>
        </p:nvSpPr>
        <p:spPr>
          <a:xfrm>
            <a:off x="3825289" y="2786761"/>
            <a:ext cx="1787700" cy="4689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Minimum Spanning Tree</a:t>
            </a:r>
            <a:endParaRPr/>
          </a:p>
        </p:txBody>
      </p:sp>
      <p:sp>
        <p:nvSpPr>
          <p:cNvPr id="267" name="Google Shape;267;p32"/>
          <p:cNvSpPr/>
          <p:nvPr/>
        </p:nvSpPr>
        <p:spPr>
          <a:xfrm>
            <a:off x="4100989" y="4436175"/>
            <a:ext cx="1236300" cy="3054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shortest path</a:t>
            </a:r>
            <a:endParaRPr/>
          </a:p>
        </p:txBody>
      </p:sp>
      <p:cxnSp>
        <p:nvCxnSpPr>
          <p:cNvPr id="272" name="Google Shape;272;p32"/>
          <p:cNvCxnSpPr>
            <a:stCxn id="267" idx="3"/>
            <a:endCxn id="265" idx="1"/>
          </p:cNvCxnSpPr>
          <p:nvPr/>
        </p:nvCxnSpPr>
        <p:spPr>
          <a:xfrm>
            <a:off x="5337289" y="4588875"/>
            <a:ext cx="1541400" cy="72600"/>
          </a:xfrm>
          <a:prstGeom prst="straightConnector1">
            <a:avLst/>
          </a:prstGeom>
          <a:noFill/>
          <a:ln cap="flat" cmpd="sng" w="19050">
            <a:solidFill>
              <a:schemeClr val="dk2"/>
            </a:solidFill>
            <a:prstDash val="solid"/>
            <a:round/>
            <a:headEnd len="med" w="med" type="none"/>
            <a:tailEnd len="med" w="med" type="none"/>
          </a:ln>
        </p:spPr>
      </p:cxnSp>
      <p:sp>
        <p:nvSpPr>
          <p:cNvPr id="273" name="Google Shape;273;p32"/>
          <p:cNvSpPr/>
          <p:nvPr/>
        </p:nvSpPr>
        <p:spPr>
          <a:xfrm>
            <a:off x="4100989" y="3628094"/>
            <a:ext cx="1236300" cy="4689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shortest paths tree</a:t>
            </a:r>
            <a:endParaRPr/>
          </a:p>
        </p:txBody>
      </p:sp>
      <p:cxnSp>
        <p:nvCxnSpPr>
          <p:cNvPr id="274" name="Google Shape;274;p32"/>
          <p:cNvCxnSpPr>
            <a:stCxn id="259" idx="3"/>
            <a:endCxn id="273" idx="1"/>
          </p:cNvCxnSpPr>
          <p:nvPr/>
        </p:nvCxnSpPr>
        <p:spPr>
          <a:xfrm>
            <a:off x="3477214" y="3794036"/>
            <a:ext cx="623700" cy="68400"/>
          </a:xfrm>
          <a:prstGeom prst="straightConnector1">
            <a:avLst/>
          </a:prstGeom>
          <a:noFill/>
          <a:ln cap="flat" cmpd="sng" w="19050">
            <a:solidFill>
              <a:schemeClr val="dk2"/>
            </a:solidFill>
            <a:prstDash val="solid"/>
            <a:round/>
            <a:headEnd len="med" w="med" type="none"/>
            <a:tailEnd len="med" w="med" type="none"/>
          </a:ln>
        </p:spPr>
      </p:cxnSp>
      <p:cxnSp>
        <p:nvCxnSpPr>
          <p:cNvPr id="275" name="Google Shape;275;p32"/>
          <p:cNvCxnSpPr>
            <a:stCxn id="273" idx="3"/>
            <a:endCxn id="264" idx="1"/>
          </p:cNvCxnSpPr>
          <p:nvPr/>
        </p:nvCxnSpPr>
        <p:spPr>
          <a:xfrm flipH="1" rot="10800000">
            <a:off x="5337289" y="3677444"/>
            <a:ext cx="1397700" cy="185100"/>
          </a:xfrm>
          <a:prstGeom prst="straightConnector1">
            <a:avLst/>
          </a:prstGeom>
          <a:noFill/>
          <a:ln cap="flat" cmpd="sng" w="19050">
            <a:solidFill>
              <a:schemeClr val="dk2"/>
            </a:solidFill>
            <a:prstDash val="solid"/>
            <a:round/>
            <a:headEnd len="med" w="med" type="none"/>
            <a:tailEnd len="med" w="med" type="none"/>
          </a:ln>
        </p:spPr>
      </p:cxnSp>
      <p:sp>
        <p:nvSpPr>
          <p:cNvPr id="276" name="Google Shape;276;p32"/>
          <p:cNvSpPr/>
          <p:nvPr/>
        </p:nvSpPr>
        <p:spPr>
          <a:xfrm>
            <a:off x="6582615" y="2621629"/>
            <a:ext cx="9918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Prim’s</a:t>
            </a:r>
            <a:endParaRPr/>
          </a:p>
        </p:txBody>
      </p:sp>
      <p:sp>
        <p:nvSpPr>
          <p:cNvPr id="277" name="Google Shape;277;p32"/>
          <p:cNvSpPr/>
          <p:nvPr/>
        </p:nvSpPr>
        <p:spPr>
          <a:xfrm>
            <a:off x="6582615" y="3109904"/>
            <a:ext cx="9918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Kruskal’s</a:t>
            </a:r>
            <a:endParaRPr/>
          </a:p>
        </p:txBody>
      </p:sp>
      <p:cxnSp>
        <p:nvCxnSpPr>
          <p:cNvPr id="278" name="Google Shape;278;p32"/>
          <p:cNvCxnSpPr>
            <a:stCxn id="270" idx="3"/>
            <a:endCxn id="271" idx="1"/>
          </p:cNvCxnSpPr>
          <p:nvPr/>
        </p:nvCxnSpPr>
        <p:spPr>
          <a:xfrm flipH="1" rot="10800000">
            <a:off x="3477214" y="3021070"/>
            <a:ext cx="348000" cy="87900"/>
          </a:xfrm>
          <a:prstGeom prst="straightConnector1">
            <a:avLst/>
          </a:prstGeom>
          <a:noFill/>
          <a:ln cap="flat" cmpd="sng" w="19050">
            <a:solidFill>
              <a:schemeClr val="dk2"/>
            </a:solidFill>
            <a:prstDash val="solid"/>
            <a:round/>
            <a:headEnd len="med" w="med" type="none"/>
            <a:tailEnd len="med" w="med" type="none"/>
          </a:ln>
        </p:spPr>
      </p:cxnSp>
      <p:cxnSp>
        <p:nvCxnSpPr>
          <p:cNvPr id="279" name="Google Shape;279;p32"/>
          <p:cNvCxnSpPr>
            <a:stCxn id="271" idx="3"/>
            <a:endCxn id="276" idx="1"/>
          </p:cNvCxnSpPr>
          <p:nvPr/>
        </p:nvCxnSpPr>
        <p:spPr>
          <a:xfrm flipH="1" rot="10800000">
            <a:off x="5612989" y="2774311"/>
            <a:ext cx="969600" cy="246900"/>
          </a:xfrm>
          <a:prstGeom prst="straightConnector1">
            <a:avLst/>
          </a:prstGeom>
          <a:noFill/>
          <a:ln cap="flat" cmpd="sng" w="19050">
            <a:solidFill>
              <a:schemeClr val="dk2"/>
            </a:solidFill>
            <a:prstDash val="solid"/>
            <a:round/>
            <a:headEnd len="med" w="med" type="none"/>
            <a:tailEnd len="med" w="med" type="none"/>
          </a:ln>
        </p:spPr>
      </p:cxnSp>
      <p:cxnSp>
        <p:nvCxnSpPr>
          <p:cNvPr id="280" name="Google Shape;280;p32"/>
          <p:cNvCxnSpPr>
            <a:stCxn id="271" idx="3"/>
            <a:endCxn id="277" idx="1"/>
          </p:cNvCxnSpPr>
          <p:nvPr/>
        </p:nvCxnSpPr>
        <p:spPr>
          <a:xfrm>
            <a:off x="5612989" y="3021211"/>
            <a:ext cx="969600" cy="241500"/>
          </a:xfrm>
          <a:prstGeom prst="straightConnector1">
            <a:avLst/>
          </a:prstGeom>
          <a:noFill/>
          <a:ln cap="flat" cmpd="sng" w="19050">
            <a:solidFill>
              <a:schemeClr val="dk2"/>
            </a:solidFill>
            <a:prstDash val="solid"/>
            <a:round/>
            <a:headEnd len="med" w="med" type="none"/>
            <a:tailEnd len="med" w="med" type="none"/>
          </a:ln>
        </p:spPr>
      </p:cxnSp>
      <p:sp>
        <p:nvSpPr>
          <p:cNvPr id="281" name="Google Shape;281;p32"/>
          <p:cNvSpPr/>
          <p:nvPr/>
        </p:nvSpPr>
        <p:spPr>
          <a:xfrm>
            <a:off x="4100989" y="2097969"/>
            <a:ext cx="1236300" cy="4689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shortest paths tree</a:t>
            </a:r>
            <a:endParaRPr/>
          </a:p>
        </p:txBody>
      </p:sp>
      <p:cxnSp>
        <p:nvCxnSpPr>
          <p:cNvPr id="282" name="Google Shape;282;p32"/>
          <p:cNvCxnSpPr>
            <a:stCxn id="261" idx="3"/>
            <a:endCxn id="281" idx="1"/>
          </p:cNvCxnSpPr>
          <p:nvPr/>
        </p:nvCxnSpPr>
        <p:spPr>
          <a:xfrm flipH="1" rot="10800000">
            <a:off x="3477214" y="2332411"/>
            <a:ext cx="623700" cy="81600"/>
          </a:xfrm>
          <a:prstGeom prst="straightConnector1">
            <a:avLst/>
          </a:prstGeom>
          <a:noFill/>
          <a:ln cap="flat" cmpd="sng" w="19050">
            <a:solidFill>
              <a:schemeClr val="dk2"/>
            </a:solidFill>
            <a:prstDash val="solid"/>
            <a:round/>
            <a:headEnd len="med" w="med" type="none"/>
            <a:tailEnd len="med" w="med" type="none"/>
          </a:ln>
        </p:spPr>
      </p:cxnSp>
      <p:cxnSp>
        <p:nvCxnSpPr>
          <p:cNvPr id="283" name="Google Shape;283;p32"/>
          <p:cNvCxnSpPr>
            <a:stCxn id="281" idx="3"/>
            <a:endCxn id="262" idx="1"/>
          </p:cNvCxnSpPr>
          <p:nvPr/>
        </p:nvCxnSpPr>
        <p:spPr>
          <a:xfrm flipH="1" rot="10800000">
            <a:off x="5337289" y="1945119"/>
            <a:ext cx="863100" cy="387300"/>
          </a:xfrm>
          <a:prstGeom prst="straightConnector1">
            <a:avLst/>
          </a:prstGeom>
          <a:noFill/>
          <a:ln cap="flat" cmpd="sng" w="19050">
            <a:solidFill>
              <a:schemeClr val="dk2"/>
            </a:solidFill>
            <a:prstDash val="solid"/>
            <a:round/>
            <a:headEnd len="med" w="med" type="none"/>
            <a:tailEnd len="med" w="med" type="none"/>
          </a:ln>
        </p:spPr>
      </p:cxnSp>
      <p:sp>
        <p:nvSpPr>
          <p:cNvPr id="284" name="Google Shape;284;p32"/>
          <p:cNvSpPr/>
          <p:nvPr/>
        </p:nvSpPr>
        <p:spPr>
          <a:xfrm>
            <a:off x="4100989" y="1099869"/>
            <a:ext cx="1236300" cy="4689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vertex markings</a:t>
            </a:r>
            <a:endParaRPr/>
          </a:p>
        </p:txBody>
      </p:sp>
      <p:cxnSp>
        <p:nvCxnSpPr>
          <p:cNvPr id="285" name="Google Shape;285;p32"/>
          <p:cNvCxnSpPr>
            <a:stCxn id="284" idx="1"/>
            <a:endCxn id="257" idx="3"/>
          </p:cNvCxnSpPr>
          <p:nvPr/>
        </p:nvCxnSpPr>
        <p:spPr>
          <a:xfrm rot="10800000">
            <a:off x="3477289" y="908919"/>
            <a:ext cx="623700" cy="425400"/>
          </a:xfrm>
          <a:prstGeom prst="straightConnector1">
            <a:avLst/>
          </a:prstGeom>
          <a:noFill/>
          <a:ln cap="flat" cmpd="sng" w="19050">
            <a:solidFill>
              <a:schemeClr val="dk2"/>
            </a:solidFill>
            <a:prstDash val="solid"/>
            <a:round/>
            <a:headEnd len="med" w="med" type="none"/>
            <a:tailEnd len="med" w="med" type="none"/>
          </a:ln>
        </p:spPr>
      </p:cxnSp>
      <p:cxnSp>
        <p:nvCxnSpPr>
          <p:cNvPr id="286" name="Google Shape;286;p32"/>
          <p:cNvCxnSpPr>
            <a:stCxn id="284" idx="1"/>
            <a:endCxn id="268" idx="3"/>
          </p:cNvCxnSpPr>
          <p:nvPr/>
        </p:nvCxnSpPr>
        <p:spPr>
          <a:xfrm rot="10800000">
            <a:off x="3477289" y="1328619"/>
            <a:ext cx="623700" cy="5700"/>
          </a:xfrm>
          <a:prstGeom prst="straightConnector1">
            <a:avLst/>
          </a:prstGeom>
          <a:noFill/>
          <a:ln cap="flat" cmpd="sng" w="19050">
            <a:solidFill>
              <a:schemeClr val="dk2"/>
            </a:solidFill>
            <a:prstDash val="solid"/>
            <a:round/>
            <a:headEnd len="med" w="med" type="none"/>
            <a:tailEnd len="med" w="med" type="none"/>
          </a:ln>
        </p:spPr>
      </p:cxnSp>
      <p:cxnSp>
        <p:nvCxnSpPr>
          <p:cNvPr id="287" name="Google Shape;287;p32"/>
          <p:cNvCxnSpPr>
            <a:stCxn id="269" idx="3"/>
            <a:endCxn id="284" idx="1"/>
          </p:cNvCxnSpPr>
          <p:nvPr/>
        </p:nvCxnSpPr>
        <p:spPr>
          <a:xfrm flipH="1" rot="10800000">
            <a:off x="3477214" y="1334223"/>
            <a:ext cx="623700" cy="455400"/>
          </a:xfrm>
          <a:prstGeom prst="straightConnector1">
            <a:avLst/>
          </a:prstGeom>
          <a:noFill/>
          <a:ln cap="flat" cmpd="sng" w="19050">
            <a:solidFill>
              <a:schemeClr val="dk2"/>
            </a:solidFill>
            <a:prstDash val="solid"/>
            <a:round/>
            <a:headEnd len="med" w="med" type="none"/>
            <a:tailEnd len="med" w="med" type="none"/>
          </a:ln>
        </p:spPr>
      </p:cxnSp>
      <p:cxnSp>
        <p:nvCxnSpPr>
          <p:cNvPr id="288" name="Google Shape;288;p32"/>
          <p:cNvCxnSpPr>
            <a:stCxn id="284" idx="3"/>
            <a:endCxn id="263" idx="1"/>
          </p:cNvCxnSpPr>
          <p:nvPr/>
        </p:nvCxnSpPr>
        <p:spPr>
          <a:xfrm flipH="1" rot="10800000">
            <a:off x="5337289" y="953019"/>
            <a:ext cx="863100" cy="381300"/>
          </a:xfrm>
          <a:prstGeom prst="straightConnector1">
            <a:avLst/>
          </a:prstGeom>
          <a:noFill/>
          <a:ln cap="flat" cmpd="sng" w="19050">
            <a:solidFill>
              <a:schemeClr val="dk2"/>
            </a:solidFill>
            <a:prstDash val="solid"/>
            <a:round/>
            <a:headEnd len="med" w="med" type="none"/>
            <a:tailEnd len="med" w="med" type="none"/>
          </a:ln>
        </p:spPr>
      </p:cxnSp>
      <p:sp>
        <p:nvSpPr>
          <p:cNvPr id="289" name="Google Shape;289;p32"/>
          <p:cNvSpPr/>
          <p:nvPr/>
        </p:nvSpPr>
        <p:spPr>
          <a:xfrm>
            <a:off x="4100989" y="250260"/>
            <a:ext cx="1236300" cy="468900"/>
          </a:xfrm>
          <a:prstGeom prst="rect">
            <a:avLst/>
          </a:prstGeom>
          <a:solidFill>
            <a:srgbClr val="F4CC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vertex ordering</a:t>
            </a:r>
            <a:endParaRPr/>
          </a:p>
        </p:txBody>
      </p:sp>
      <p:cxnSp>
        <p:nvCxnSpPr>
          <p:cNvPr id="290" name="Google Shape;290;p32"/>
          <p:cNvCxnSpPr>
            <a:stCxn id="258" idx="3"/>
            <a:endCxn id="289" idx="1"/>
          </p:cNvCxnSpPr>
          <p:nvPr/>
        </p:nvCxnSpPr>
        <p:spPr>
          <a:xfrm flipH="1" rot="10800000">
            <a:off x="3477214" y="484850"/>
            <a:ext cx="623700" cy="4200"/>
          </a:xfrm>
          <a:prstGeom prst="straightConnector1">
            <a:avLst/>
          </a:prstGeom>
          <a:noFill/>
          <a:ln cap="flat" cmpd="sng" w="19050">
            <a:solidFill>
              <a:schemeClr val="dk2"/>
            </a:solidFill>
            <a:prstDash val="solid"/>
            <a:round/>
            <a:headEnd len="med" w="med" type="none"/>
            <a:tailEnd len="med" w="med" type="none"/>
          </a:ln>
        </p:spPr>
      </p:cxnSp>
      <p:cxnSp>
        <p:nvCxnSpPr>
          <p:cNvPr id="291" name="Google Shape;291;p32"/>
          <p:cNvCxnSpPr>
            <a:stCxn id="289" idx="3"/>
            <a:endCxn id="263" idx="1"/>
          </p:cNvCxnSpPr>
          <p:nvPr/>
        </p:nvCxnSpPr>
        <p:spPr>
          <a:xfrm>
            <a:off x="5337289" y="484710"/>
            <a:ext cx="863100" cy="468600"/>
          </a:xfrm>
          <a:prstGeom prst="straightConnector1">
            <a:avLst/>
          </a:prstGeom>
          <a:noFill/>
          <a:ln cap="flat" cmpd="sng" w="19050">
            <a:solidFill>
              <a:schemeClr val="dk2"/>
            </a:solidFill>
            <a:prstDash val="solid"/>
            <a:round/>
            <a:headEnd len="med" w="med" type="none"/>
            <a:tailEnd len="med" w="med" type="none"/>
          </a:ln>
        </p:spPr>
      </p:cxnSp>
      <p:cxnSp>
        <p:nvCxnSpPr>
          <p:cNvPr id="292" name="Google Shape;292;p32"/>
          <p:cNvCxnSpPr>
            <a:stCxn id="262" idx="1"/>
            <a:endCxn id="284" idx="3"/>
          </p:cNvCxnSpPr>
          <p:nvPr/>
        </p:nvCxnSpPr>
        <p:spPr>
          <a:xfrm rot="10800000">
            <a:off x="5337314" y="1334461"/>
            <a:ext cx="863100" cy="610800"/>
          </a:xfrm>
          <a:prstGeom prst="straightConnector1">
            <a:avLst/>
          </a:prstGeom>
          <a:noFill/>
          <a:ln cap="flat" cmpd="sng" w="19050">
            <a:solidFill>
              <a:schemeClr val="dk2"/>
            </a:solidFill>
            <a:prstDash val="solid"/>
            <a:round/>
            <a:headEnd len="med" w="med" type="none"/>
            <a:tailEnd len="med" w="med" type="none"/>
          </a:ln>
        </p:spPr>
      </p:cxnSp>
      <p:sp>
        <p:nvSpPr>
          <p:cNvPr id="293" name="Google Shape;293;p32"/>
          <p:cNvSpPr txBox="1"/>
          <p:nvPr/>
        </p:nvSpPr>
        <p:spPr>
          <a:xfrm>
            <a:off x="111925" y="1246375"/>
            <a:ext cx="1236300" cy="76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accent4"/>
                </a:solidFill>
              </a:rPr>
              <a:t>Discussed in section</a:t>
            </a:r>
            <a:endParaRPr b="1">
              <a:solidFill>
                <a:schemeClr val="accent4"/>
              </a:solidFill>
            </a:endParaRPr>
          </a:p>
        </p:txBody>
      </p:sp>
      <p:cxnSp>
        <p:nvCxnSpPr>
          <p:cNvPr id="294" name="Google Shape;294;p32"/>
          <p:cNvCxnSpPr>
            <a:stCxn id="293" idx="3"/>
          </p:cNvCxnSpPr>
          <p:nvPr/>
        </p:nvCxnSpPr>
        <p:spPr>
          <a:xfrm flipH="1" rot="10800000">
            <a:off x="1348225" y="1442875"/>
            <a:ext cx="226800" cy="185100"/>
          </a:xfrm>
          <a:prstGeom prst="straightConnector1">
            <a:avLst/>
          </a:prstGeom>
          <a:noFill/>
          <a:ln cap="flat" cmpd="sng" w="19050">
            <a:solidFill>
              <a:schemeClr val="accent4"/>
            </a:solidFill>
            <a:prstDash val="solid"/>
            <a:round/>
            <a:headEnd len="med" w="med" type="none"/>
            <a:tailEnd len="med" w="med" type="triangle"/>
          </a:ln>
        </p:spPr>
      </p:cxnSp>
      <p:cxnSp>
        <p:nvCxnSpPr>
          <p:cNvPr id="295" name="Google Shape;295;p32"/>
          <p:cNvCxnSpPr>
            <a:stCxn id="293" idx="3"/>
          </p:cNvCxnSpPr>
          <p:nvPr/>
        </p:nvCxnSpPr>
        <p:spPr>
          <a:xfrm>
            <a:off x="1348225" y="1627975"/>
            <a:ext cx="226800" cy="145200"/>
          </a:xfrm>
          <a:prstGeom prst="straightConnector1">
            <a:avLst/>
          </a:prstGeom>
          <a:noFill/>
          <a:ln cap="flat" cmpd="sng" w="19050">
            <a:solidFill>
              <a:schemeClr val="accent4"/>
            </a:solidFill>
            <a:prstDash val="solid"/>
            <a:round/>
            <a:headEnd len="med" w="med" type="none"/>
            <a:tailEnd len="med" w="med" type="triangle"/>
          </a:ln>
        </p:spPr>
      </p:cxnSp>
      <p:sp>
        <p:nvSpPr>
          <p:cNvPr id="296" name="Google Shape;296;p32"/>
          <p:cNvSpPr/>
          <p:nvPr/>
        </p:nvSpPr>
        <p:spPr>
          <a:xfrm>
            <a:off x="6735015" y="3981825"/>
            <a:ext cx="9918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DAGSPT</a:t>
            </a:r>
            <a:endParaRPr/>
          </a:p>
        </p:txBody>
      </p:sp>
      <p:cxnSp>
        <p:nvCxnSpPr>
          <p:cNvPr id="297" name="Google Shape;297;p32"/>
          <p:cNvCxnSpPr>
            <a:stCxn id="273" idx="3"/>
            <a:endCxn id="296" idx="1"/>
          </p:cNvCxnSpPr>
          <p:nvPr/>
        </p:nvCxnSpPr>
        <p:spPr>
          <a:xfrm>
            <a:off x="5337289" y="3862544"/>
            <a:ext cx="1397700" cy="27210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3"/>
          <p:cNvSpPr/>
          <p:nvPr/>
        </p:nvSpPr>
        <p:spPr>
          <a:xfrm>
            <a:off x="3590175" y="2023526"/>
            <a:ext cx="1233300" cy="3816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3"/>
          <p:cNvSpPr/>
          <p:nvPr/>
        </p:nvSpPr>
        <p:spPr>
          <a:xfrm>
            <a:off x="3405733" y="1146710"/>
            <a:ext cx="1673700" cy="749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3"/>
          <p:cNvSpPr/>
          <p:nvPr/>
        </p:nvSpPr>
        <p:spPr>
          <a:xfrm>
            <a:off x="3573250" y="190200"/>
            <a:ext cx="1185000" cy="8628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3"/>
          <p:cNvSpPr txBox="1"/>
          <p:nvPr/>
        </p:nvSpPr>
        <p:spPr>
          <a:xfrm>
            <a:off x="9325" y="-2900"/>
            <a:ext cx="39369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Search-By-Key-Identity Data Structures:</a:t>
            </a:r>
            <a:endParaRPr/>
          </a:p>
        </p:txBody>
      </p:sp>
      <p:sp>
        <p:nvSpPr>
          <p:cNvPr id="306" name="Google Shape;306;p33"/>
          <p:cNvSpPr/>
          <p:nvPr/>
        </p:nvSpPr>
        <p:spPr>
          <a:xfrm>
            <a:off x="1026325" y="525340"/>
            <a:ext cx="696300" cy="305400"/>
          </a:xfrm>
          <a:prstGeom prst="rect">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Set</a:t>
            </a:r>
            <a:endParaRPr/>
          </a:p>
        </p:txBody>
      </p:sp>
      <p:sp>
        <p:nvSpPr>
          <p:cNvPr id="307" name="Google Shape;307;p33"/>
          <p:cNvSpPr/>
          <p:nvPr/>
        </p:nvSpPr>
        <p:spPr>
          <a:xfrm>
            <a:off x="3664650" y="296140"/>
            <a:ext cx="1020300" cy="305400"/>
          </a:xfrm>
          <a:prstGeom prst="rect">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2-3 Tree</a:t>
            </a:r>
            <a:endParaRPr/>
          </a:p>
        </p:txBody>
      </p:sp>
      <p:sp>
        <p:nvSpPr>
          <p:cNvPr id="308" name="Google Shape;308;p33"/>
          <p:cNvSpPr/>
          <p:nvPr/>
        </p:nvSpPr>
        <p:spPr>
          <a:xfrm>
            <a:off x="3664650" y="677140"/>
            <a:ext cx="1020300" cy="305400"/>
          </a:xfrm>
          <a:prstGeom prst="rect">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RedBlack</a:t>
            </a:r>
            <a:endParaRPr/>
          </a:p>
        </p:txBody>
      </p:sp>
      <p:sp>
        <p:nvSpPr>
          <p:cNvPr id="309" name="Google Shape;309;p33"/>
          <p:cNvSpPr/>
          <p:nvPr/>
        </p:nvSpPr>
        <p:spPr>
          <a:xfrm>
            <a:off x="3436175" y="1186278"/>
            <a:ext cx="1594500" cy="305400"/>
          </a:xfrm>
          <a:prstGeom prst="rect">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External Chains</a:t>
            </a:r>
            <a:endParaRPr/>
          </a:p>
        </p:txBody>
      </p:sp>
      <p:sp>
        <p:nvSpPr>
          <p:cNvPr id="310" name="Google Shape;310;p33"/>
          <p:cNvSpPr/>
          <p:nvPr/>
        </p:nvSpPr>
        <p:spPr>
          <a:xfrm>
            <a:off x="3436050" y="1555678"/>
            <a:ext cx="1594500" cy="305400"/>
          </a:xfrm>
          <a:prstGeom prst="rect">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Linear Probing</a:t>
            </a:r>
            <a:endParaRPr/>
          </a:p>
        </p:txBody>
      </p:sp>
      <p:sp>
        <p:nvSpPr>
          <p:cNvPr id="311" name="Google Shape;311;p33"/>
          <p:cNvSpPr/>
          <p:nvPr/>
        </p:nvSpPr>
        <p:spPr>
          <a:xfrm>
            <a:off x="1026200" y="1159015"/>
            <a:ext cx="696300" cy="305400"/>
          </a:xfrm>
          <a:prstGeom prst="rect">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Map</a:t>
            </a:r>
            <a:endParaRPr/>
          </a:p>
        </p:txBody>
      </p:sp>
      <p:cxnSp>
        <p:nvCxnSpPr>
          <p:cNvPr id="312" name="Google Shape;312;p33"/>
          <p:cNvCxnSpPr>
            <a:stCxn id="306" idx="3"/>
            <a:endCxn id="307" idx="1"/>
          </p:cNvCxnSpPr>
          <p:nvPr/>
        </p:nvCxnSpPr>
        <p:spPr>
          <a:xfrm flipH="1" rot="10800000">
            <a:off x="1722625" y="448840"/>
            <a:ext cx="1941900" cy="229200"/>
          </a:xfrm>
          <a:prstGeom prst="straightConnector1">
            <a:avLst/>
          </a:prstGeom>
          <a:noFill/>
          <a:ln cap="flat" cmpd="sng" w="19050">
            <a:solidFill>
              <a:schemeClr val="dk2"/>
            </a:solidFill>
            <a:prstDash val="solid"/>
            <a:round/>
            <a:headEnd len="med" w="med" type="none"/>
            <a:tailEnd len="med" w="med" type="none"/>
          </a:ln>
        </p:spPr>
      </p:cxnSp>
      <p:cxnSp>
        <p:nvCxnSpPr>
          <p:cNvPr id="313" name="Google Shape;313;p33"/>
          <p:cNvCxnSpPr>
            <a:stCxn id="306" idx="3"/>
            <a:endCxn id="308" idx="1"/>
          </p:cNvCxnSpPr>
          <p:nvPr/>
        </p:nvCxnSpPr>
        <p:spPr>
          <a:xfrm>
            <a:off x="1722625" y="678040"/>
            <a:ext cx="1941900" cy="151800"/>
          </a:xfrm>
          <a:prstGeom prst="straightConnector1">
            <a:avLst/>
          </a:prstGeom>
          <a:noFill/>
          <a:ln cap="flat" cmpd="sng" w="19050">
            <a:solidFill>
              <a:schemeClr val="dk2"/>
            </a:solidFill>
            <a:prstDash val="solid"/>
            <a:round/>
            <a:headEnd len="med" w="med" type="none"/>
            <a:tailEnd len="med" w="med" type="none"/>
          </a:ln>
        </p:spPr>
      </p:cxnSp>
      <p:cxnSp>
        <p:nvCxnSpPr>
          <p:cNvPr id="314" name="Google Shape;314;p33"/>
          <p:cNvCxnSpPr>
            <a:stCxn id="311" idx="3"/>
            <a:endCxn id="310" idx="1"/>
          </p:cNvCxnSpPr>
          <p:nvPr/>
        </p:nvCxnSpPr>
        <p:spPr>
          <a:xfrm>
            <a:off x="1722500" y="1311715"/>
            <a:ext cx="1713600" cy="396600"/>
          </a:xfrm>
          <a:prstGeom prst="straightConnector1">
            <a:avLst/>
          </a:prstGeom>
          <a:noFill/>
          <a:ln cap="flat" cmpd="sng" w="19050">
            <a:solidFill>
              <a:schemeClr val="dk2"/>
            </a:solidFill>
            <a:prstDash val="solid"/>
            <a:round/>
            <a:headEnd len="med" w="med" type="none"/>
            <a:tailEnd len="med" w="med" type="none"/>
          </a:ln>
        </p:spPr>
      </p:cxnSp>
      <p:cxnSp>
        <p:nvCxnSpPr>
          <p:cNvPr id="315" name="Google Shape;315;p33"/>
          <p:cNvCxnSpPr>
            <a:stCxn id="311" idx="3"/>
            <a:endCxn id="309" idx="1"/>
          </p:cNvCxnSpPr>
          <p:nvPr/>
        </p:nvCxnSpPr>
        <p:spPr>
          <a:xfrm>
            <a:off x="1722500" y="1311715"/>
            <a:ext cx="1713600" cy="27300"/>
          </a:xfrm>
          <a:prstGeom prst="straightConnector1">
            <a:avLst/>
          </a:prstGeom>
          <a:noFill/>
          <a:ln cap="flat" cmpd="sng" w="19050">
            <a:solidFill>
              <a:schemeClr val="dk2"/>
            </a:solidFill>
            <a:prstDash val="solid"/>
            <a:round/>
            <a:headEnd len="med" w="med" type="none"/>
            <a:tailEnd len="med" w="med" type="none"/>
          </a:ln>
        </p:spPr>
      </p:cxnSp>
      <p:cxnSp>
        <p:nvCxnSpPr>
          <p:cNvPr id="316" name="Google Shape;316;p33"/>
          <p:cNvCxnSpPr>
            <a:stCxn id="306" idx="3"/>
            <a:endCxn id="309" idx="1"/>
          </p:cNvCxnSpPr>
          <p:nvPr/>
        </p:nvCxnSpPr>
        <p:spPr>
          <a:xfrm>
            <a:off x="1722625" y="678040"/>
            <a:ext cx="1713600" cy="660900"/>
          </a:xfrm>
          <a:prstGeom prst="straightConnector1">
            <a:avLst/>
          </a:prstGeom>
          <a:noFill/>
          <a:ln cap="flat" cmpd="sng" w="19050">
            <a:solidFill>
              <a:schemeClr val="dk2"/>
            </a:solidFill>
            <a:prstDash val="solid"/>
            <a:round/>
            <a:headEnd len="med" w="med" type="none"/>
            <a:tailEnd len="med" w="med" type="none"/>
          </a:ln>
        </p:spPr>
      </p:cxnSp>
      <p:cxnSp>
        <p:nvCxnSpPr>
          <p:cNvPr id="317" name="Google Shape;317;p33"/>
          <p:cNvCxnSpPr>
            <a:stCxn id="306" idx="3"/>
            <a:endCxn id="310" idx="1"/>
          </p:cNvCxnSpPr>
          <p:nvPr/>
        </p:nvCxnSpPr>
        <p:spPr>
          <a:xfrm>
            <a:off x="1722625" y="678040"/>
            <a:ext cx="1713300" cy="1030200"/>
          </a:xfrm>
          <a:prstGeom prst="straightConnector1">
            <a:avLst/>
          </a:prstGeom>
          <a:noFill/>
          <a:ln cap="flat" cmpd="sng" w="19050">
            <a:solidFill>
              <a:schemeClr val="dk2"/>
            </a:solidFill>
            <a:prstDash val="solid"/>
            <a:round/>
            <a:headEnd len="med" w="med" type="none"/>
            <a:tailEnd len="med" w="med" type="none"/>
          </a:ln>
        </p:spPr>
      </p:cxnSp>
      <p:cxnSp>
        <p:nvCxnSpPr>
          <p:cNvPr id="318" name="Google Shape;318;p33"/>
          <p:cNvCxnSpPr>
            <a:stCxn id="311" idx="3"/>
            <a:endCxn id="308" idx="1"/>
          </p:cNvCxnSpPr>
          <p:nvPr/>
        </p:nvCxnSpPr>
        <p:spPr>
          <a:xfrm flipH="1" rot="10800000">
            <a:off x="1722500" y="829915"/>
            <a:ext cx="1942200" cy="481800"/>
          </a:xfrm>
          <a:prstGeom prst="straightConnector1">
            <a:avLst/>
          </a:prstGeom>
          <a:noFill/>
          <a:ln cap="flat" cmpd="sng" w="19050">
            <a:solidFill>
              <a:schemeClr val="dk2"/>
            </a:solidFill>
            <a:prstDash val="solid"/>
            <a:round/>
            <a:headEnd len="med" w="med" type="none"/>
            <a:tailEnd len="med" w="med" type="none"/>
          </a:ln>
        </p:spPr>
      </p:cxnSp>
      <p:cxnSp>
        <p:nvCxnSpPr>
          <p:cNvPr id="319" name="Google Shape;319;p33"/>
          <p:cNvCxnSpPr>
            <a:stCxn id="311" idx="3"/>
            <a:endCxn id="307" idx="1"/>
          </p:cNvCxnSpPr>
          <p:nvPr/>
        </p:nvCxnSpPr>
        <p:spPr>
          <a:xfrm flipH="1" rot="10800000">
            <a:off x="1722500" y="448915"/>
            <a:ext cx="1942200" cy="862800"/>
          </a:xfrm>
          <a:prstGeom prst="straightConnector1">
            <a:avLst/>
          </a:prstGeom>
          <a:noFill/>
          <a:ln cap="flat" cmpd="sng" w="19050">
            <a:solidFill>
              <a:schemeClr val="dk2"/>
            </a:solidFill>
            <a:prstDash val="solid"/>
            <a:round/>
            <a:headEnd len="med" w="med" type="none"/>
            <a:tailEnd len="med" w="med" type="none"/>
          </a:ln>
        </p:spPr>
      </p:cxnSp>
      <p:sp>
        <p:nvSpPr>
          <p:cNvPr id="320" name="Google Shape;320;p33"/>
          <p:cNvSpPr txBox="1"/>
          <p:nvPr/>
        </p:nvSpPr>
        <p:spPr>
          <a:xfrm>
            <a:off x="5009100" y="392215"/>
            <a:ext cx="3015300" cy="38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Searches using compareTo()</a:t>
            </a:r>
            <a:endParaRPr/>
          </a:p>
          <a:p>
            <a:pPr indent="0" lvl="0" marL="0" rtl="0" algn="l">
              <a:spcBef>
                <a:spcPts val="0"/>
              </a:spcBef>
              <a:spcAft>
                <a:spcPts val="0"/>
              </a:spcAft>
              <a:buNone/>
            </a:pPr>
            <a:r>
              <a:rPr lang="en"/>
              <a:t>Analogous to </a:t>
            </a:r>
            <a:r>
              <a:rPr b="1" lang="en"/>
              <a:t>Comparison-Based</a:t>
            </a:r>
            <a:endParaRPr b="1"/>
          </a:p>
        </p:txBody>
      </p:sp>
      <p:sp>
        <p:nvSpPr>
          <p:cNvPr id="321" name="Google Shape;321;p33"/>
          <p:cNvSpPr txBox="1"/>
          <p:nvPr/>
        </p:nvSpPr>
        <p:spPr>
          <a:xfrm>
            <a:off x="5317425" y="1254553"/>
            <a:ext cx="3598200" cy="38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Searches using hashCode() and equals()</a:t>
            </a:r>
            <a:endParaRPr/>
          </a:p>
          <a:p>
            <a:pPr indent="0" lvl="0" marL="0" rtl="0" algn="l">
              <a:spcBef>
                <a:spcPts val="0"/>
              </a:spcBef>
              <a:spcAft>
                <a:spcPts val="0"/>
              </a:spcAft>
              <a:buNone/>
            </a:pPr>
            <a:r>
              <a:rPr lang="en"/>
              <a:t>Roughly Analogous to </a:t>
            </a:r>
            <a:r>
              <a:rPr b="1" lang="en"/>
              <a:t>Integer Sorting</a:t>
            </a:r>
            <a:endParaRPr b="1"/>
          </a:p>
        </p:txBody>
      </p:sp>
      <p:sp>
        <p:nvSpPr>
          <p:cNvPr id="322" name="Google Shape;322;p33"/>
          <p:cNvSpPr/>
          <p:nvPr/>
        </p:nvSpPr>
        <p:spPr>
          <a:xfrm>
            <a:off x="5906133" y="3487750"/>
            <a:ext cx="757500" cy="7497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3" name="Google Shape;323;p33"/>
          <p:cNvCxnSpPr/>
          <p:nvPr/>
        </p:nvCxnSpPr>
        <p:spPr>
          <a:xfrm>
            <a:off x="-12225" y="2492325"/>
            <a:ext cx="9162900" cy="0"/>
          </a:xfrm>
          <a:prstGeom prst="straightConnector1">
            <a:avLst/>
          </a:prstGeom>
          <a:noFill/>
          <a:ln cap="flat" cmpd="sng" w="19050">
            <a:solidFill>
              <a:schemeClr val="dk2"/>
            </a:solidFill>
            <a:prstDash val="solid"/>
            <a:round/>
            <a:headEnd len="med" w="med" type="none"/>
            <a:tailEnd len="med" w="med" type="none"/>
          </a:ln>
        </p:spPr>
      </p:cxnSp>
      <p:sp>
        <p:nvSpPr>
          <p:cNvPr id="324" name="Google Shape;324;p33"/>
          <p:cNvSpPr txBox="1"/>
          <p:nvPr/>
        </p:nvSpPr>
        <p:spPr>
          <a:xfrm>
            <a:off x="36650" y="2483025"/>
            <a:ext cx="52179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Comparison Based </a:t>
            </a:r>
            <a:r>
              <a:rPr lang="en"/>
              <a:t>Sorting Algorithms: </a:t>
            </a:r>
            <a:r>
              <a:rPr lang="en">
                <a:solidFill>
                  <a:schemeClr val="dk1"/>
                </a:solidFill>
                <a:latin typeface="Calibri"/>
                <a:ea typeface="Calibri"/>
                <a:cs typeface="Calibri"/>
                <a:sym typeface="Calibri"/>
              </a:rPr>
              <a:t>Ω(N log N) worst case</a:t>
            </a:r>
            <a:endParaRPr/>
          </a:p>
        </p:txBody>
      </p:sp>
      <p:sp>
        <p:nvSpPr>
          <p:cNvPr id="325" name="Google Shape;325;p33"/>
          <p:cNvSpPr/>
          <p:nvPr/>
        </p:nvSpPr>
        <p:spPr>
          <a:xfrm>
            <a:off x="513850" y="2886800"/>
            <a:ext cx="10938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Selection</a:t>
            </a:r>
            <a:endParaRPr/>
          </a:p>
        </p:txBody>
      </p:sp>
      <p:sp>
        <p:nvSpPr>
          <p:cNvPr id="326" name="Google Shape;326;p33"/>
          <p:cNvSpPr/>
          <p:nvPr/>
        </p:nvSpPr>
        <p:spPr>
          <a:xfrm>
            <a:off x="513850" y="4026800"/>
            <a:ext cx="10938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Insertion</a:t>
            </a:r>
            <a:endParaRPr/>
          </a:p>
        </p:txBody>
      </p:sp>
      <p:sp>
        <p:nvSpPr>
          <p:cNvPr id="327" name="Google Shape;327;p33"/>
          <p:cNvSpPr/>
          <p:nvPr/>
        </p:nvSpPr>
        <p:spPr>
          <a:xfrm>
            <a:off x="513850" y="3266600"/>
            <a:ext cx="10938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Merge</a:t>
            </a:r>
            <a:endParaRPr/>
          </a:p>
        </p:txBody>
      </p:sp>
      <p:sp>
        <p:nvSpPr>
          <p:cNvPr id="328" name="Google Shape;328;p33"/>
          <p:cNvSpPr/>
          <p:nvPr/>
        </p:nvSpPr>
        <p:spPr>
          <a:xfrm>
            <a:off x="513850" y="3647000"/>
            <a:ext cx="10938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Partition</a:t>
            </a:r>
            <a:endParaRPr/>
          </a:p>
        </p:txBody>
      </p:sp>
      <p:sp>
        <p:nvSpPr>
          <p:cNvPr id="329" name="Google Shape;329;p33"/>
          <p:cNvSpPr/>
          <p:nvPr/>
        </p:nvSpPr>
        <p:spPr>
          <a:xfrm>
            <a:off x="1352050" y="4682150"/>
            <a:ext cx="10203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Counting</a:t>
            </a:r>
            <a:endParaRPr/>
          </a:p>
        </p:txBody>
      </p:sp>
      <p:sp>
        <p:nvSpPr>
          <p:cNvPr id="330" name="Google Shape;330;p33"/>
          <p:cNvSpPr/>
          <p:nvPr/>
        </p:nvSpPr>
        <p:spPr>
          <a:xfrm>
            <a:off x="5967490" y="3533700"/>
            <a:ext cx="6333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LSD</a:t>
            </a:r>
            <a:endParaRPr/>
          </a:p>
        </p:txBody>
      </p:sp>
      <p:sp>
        <p:nvSpPr>
          <p:cNvPr id="331" name="Google Shape;331;p33"/>
          <p:cNvSpPr/>
          <p:nvPr/>
        </p:nvSpPr>
        <p:spPr>
          <a:xfrm>
            <a:off x="5967490" y="3900650"/>
            <a:ext cx="6333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MSD</a:t>
            </a:r>
            <a:endParaRPr/>
          </a:p>
        </p:txBody>
      </p:sp>
      <p:sp>
        <p:nvSpPr>
          <p:cNvPr id="332" name="Google Shape;332;p33"/>
          <p:cNvSpPr/>
          <p:nvPr/>
        </p:nvSpPr>
        <p:spPr>
          <a:xfrm>
            <a:off x="6946325" y="3686125"/>
            <a:ext cx="1093800" cy="305400"/>
          </a:xfrm>
          <a:prstGeom prst="rect">
            <a:avLst/>
          </a:prstGeom>
          <a:solidFill>
            <a:srgbClr val="B6D7A8"/>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Counting</a:t>
            </a:r>
            <a:endParaRPr/>
          </a:p>
        </p:txBody>
      </p:sp>
      <p:cxnSp>
        <p:nvCxnSpPr>
          <p:cNvPr id="333" name="Google Shape;333;p33"/>
          <p:cNvCxnSpPr>
            <a:stCxn id="331" idx="3"/>
            <a:endCxn id="332" idx="1"/>
          </p:cNvCxnSpPr>
          <p:nvPr/>
        </p:nvCxnSpPr>
        <p:spPr>
          <a:xfrm flipH="1" rot="10800000">
            <a:off x="6600790" y="3838850"/>
            <a:ext cx="345600" cy="214500"/>
          </a:xfrm>
          <a:prstGeom prst="straightConnector1">
            <a:avLst/>
          </a:prstGeom>
          <a:noFill/>
          <a:ln cap="flat" cmpd="sng" w="19050">
            <a:solidFill>
              <a:schemeClr val="dk2"/>
            </a:solidFill>
            <a:prstDash val="solid"/>
            <a:round/>
            <a:headEnd len="med" w="med" type="none"/>
            <a:tailEnd len="med" w="med" type="none"/>
          </a:ln>
        </p:spPr>
      </p:cxnSp>
      <p:cxnSp>
        <p:nvCxnSpPr>
          <p:cNvPr id="334" name="Google Shape;334;p33"/>
          <p:cNvCxnSpPr>
            <a:stCxn id="332" idx="1"/>
            <a:endCxn id="330" idx="3"/>
          </p:cNvCxnSpPr>
          <p:nvPr/>
        </p:nvCxnSpPr>
        <p:spPr>
          <a:xfrm rot="10800000">
            <a:off x="6600725" y="3686425"/>
            <a:ext cx="345600" cy="152400"/>
          </a:xfrm>
          <a:prstGeom prst="straightConnector1">
            <a:avLst/>
          </a:prstGeom>
          <a:noFill/>
          <a:ln cap="flat" cmpd="sng" w="19050">
            <a:solidFill>
              <a:schemeClr val="dk2"/>
            </a:solidFill>
            <a:prstDash val="solid"/>
            <a:round/>
            <a:headEnd len="med" w="med" type="none"/>
            <a:tailEnd len="med" w="med" type="none"/>
          </a:ln>
        </p:spPr>
      </p:cxnSp>
      <p:cxnSp>
        <p:nvCxnSpPr>
          <p:cNvPr id="335" name="Google Shape;335;p33"/>
          <p:cNvCxnSpPr/>
          <p:nvPr/>
        </p:nvCxnSpPr>
        <p:spPr>
          <a:xfrm>
            <a:off x="5321975" y="2492325"/>
            <a:ext cx="0" cy="2663400"/>
          </a:xfrm>
          <a:prstGeom prst="straightConnector1">
            <a:avLst/>
          </a:prstGeom>
          <a:noFill/>
          <a:ln cap="flat" cmpd="sng" w="19050">
            <a:solidFill>
              <a:schemeClr val="dk2"/>
            </a:solidFill>
            <a:prstDash val="solid"/>
            <a:round/>
            <a:headEnd len="med" w="med" type="none"/>
            <a:tailEnd len="med" w="med" type="none"/>
          </a:ln>
        </p:spPr>
      </p:cxnSp>
      <p:sp>
        <p:nvSpPr>
          <p:cNvPr id="336" name="Google Shape;336;p33"/>
          <p:cNvSpPr txBox="1"/>
          <p:nvPr/>
        </p:nvSpPr>
        <p:spPr>
          <a:xfrm>
            <a:off x="5334150" y="2465800"/>
            <a:ext cx="38997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Radix Sorting</a:t>
            </a:r>
            <a:r>
              <a:rPr lang="en"/>
              <a:t> Algorithms: </a:t>
            </a:r>
            <a:r>
              <a:rPr lang="en">
                <a:solidFill>
                  <a:schemeClr val="dk1"/>
                </a:solidFill>
              </a:rPr>
              <a:t>Θ(NW) worst case:</a:t>
            </a:r>
            <a:endParaRPr/>
          </a:p>
        </p:txBody>
      </p:sp>
      <p:cxnSp>
        <p:nvCxnSpPr>
          <p:cNvPr id="337" name="Google Shape;337;p33"/>
          <p:cNvCxnSpPr/>
          <p:nvPr/>
        </p:nvCxnSpPr>
        <p:spPr>
          <a:xfrm rot="10800000">
            <a:off x="-12125" y="4392450"/>
            <a:ext cx="5351100" cy="0"/>
          </a:xfrm>
          <a:prstGeom prst="straightConnector1">
            <a:avLst/>
          </a:prstGeom>
          <a:noFill/>
          <a:ln cap="flat" cmpd="sng" w="19050">
            <a:solidFill>
              <a:schemeClr val="dk2"/>
            </a:solidFill>
            <a:prstDash val="solid"/>
            <a:round/>
            <a:headEnd len="med" w="med" type="none"/>
            <a:tailEnd len="med" w="med" type="none"/>
          </a:ln>
        </p:spPr>
      </p:cxnSp>
      <p:sp>
        <p:nvSpPr>
          <p:cNvPr id="338" name="Google Shape;338;p33"/>
          <p:cNvSpPr txBox="1"/>
          <p:nvPr/>
        </p:nvSpPr>
        <p:spPr>
          <a:xfrm>
            <a:off x="-24325" y="4323450"/>
            <a:ext cx="52656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Small-Alphabet </a:t>
            </a:r>
            <a:r>
              <a:rPr b="1" lang="en"/>
              <a:t>(Integer) Sorting Algorithms</a:t>
            </a:r>
            <a:r>
              <a:rPr lang="en"/>
              <a:t>: Θ(N) worst case</a:t>
            </a:r>
            <a:endParaRPr/>
          </a:p>
        </p:txBody>
      </p:sp>
      <p:sp>
        <p:nvSpPr>
          <p:cNvPr id="339" name="Google Shape;339;p33"/>
          <p:cNvSpPr txBox="1"/>
          <p:nvPr/>
        </p:nvSpPr>
        <p:spPr>
          <a:xfrm>
            <a:off x="5763963" y="2735776"/>
            <a:ext cx="2558700" cy="25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(require a sorting subroutine) </a:t>
            </a:r>
            <a:endParaRPr/>
          </a:p>
        </p:txBody>
      </p:sp>
      <p:sp>
        <p:nvSpPr>
          <p:cNvPr id="340" name="Google Shape;340;p33"/>
          <p:cNvSpPr/>
          <p:nvPr/>
        </p:nvSpPr>
        <p:spPr>
          <a:xfrm>
            <a:off x="2214225" y="4042200"/>
            <a:ext cx="2501700" cy="2532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If store in helper BST, eq. to </a:t>
            </a:r>
            <a:endParaRPr/>
          </a:p>
        </p:txBody>
      </p:sp>
      <p:cxnSp>
        <p:nvCxnSpPr>
          <p:cNvPr id="341" name="Google Shape;341;p33"/>
          <p:cNvCxnSpPr>
            <a:stCxn id="326" idx="3"/>
            <a:endCxn id="340" idx="1"/>
          </p:cNvCxnSpPr>
          <p:nvPr/>
        </p:nvCxnSpPr>
        <p:spPr>
          <a:xfrm flipH="1" rot="10800000">
            <a:off x="1607650" y="4168700"/>
            <a:ext cx="606600" cy="10800"/>
          </a:xfrm>
          <a:prstGeom prst="straightConnector1">
            <a:avLst/>
          </a:prstGeom>
          <a:noFill/>
          <a:ln cap="flat" cmpd="sng" w="19050">
            <a:solidFill>
              <a:schemeClr val="dk2"/>
            </a:solidFill>
            <a:prstDash val="solid"/>
            <a:round/>
            <a:headEnd len="med" w="med" type="none"/>
            <a:tailEnd len="med" w="med" type="triangle"/>
          </a:ln>
        </p:spPr>
      </p:cxnSp>
      <p:cxnSp>
        <p:nvCxnSpPr>
          <p:cNvPr id="342" name="Google Shape;342;p33"/>
          <p:cNvCxnSpPr>
            <a:stCxn id="340" idx="3"/>
            <a:endCxn id="328" idx="3"/>
          </p:cNvCxnSpPr>
          <p:nvPr/>
        </p:nvCxnSpPr>
        <p:spPr>
          <a:xfrm rot="10800000">
            <a:off x="1607625" y="3799800"/>
            <a:ext cx="3108300" cy="369000"/>
          </a:xfrm>
          <a:prstGeom prst="curvedConnector3">
            <a:avLst>
              <a:gd fmla="val -7661" name="adj1"/>
            </a:avLst>
          </a:prstGeom>
          <a:noFill/>
          <a:ln cap="flat" cmpd="sng" w="19050">
            <a:solidFill>
              <a:schemeClr val="dk2"/>
            </a:solidFill>
            <a:prstDash val="solid"/>
            <a:round/>
            <a:headEnd len="med" w="med" type="none"/>
            <a:tailEnd len="med" w="med" type="triangle"/>
          </a:ln>
        </p:spPr>
      </p:cxnSp>
      <p:sp>
        <p:nvSpPr>
          <p:cNvPr id="343" name="Google Shape;343;p33"/>
          <p:cNvSpPr/>
          <p:nvPr/>
        </p:nvSpPr>
        <p:spPr>
          <a:xfrm>
            <a:off x="1877925" y="2910767"/>
            <a:ext cx="1323000" cy="2532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If heapify first</a:t>
            </a:r>
            <a:endParaRPr/>
          </a:p>
        </p:txBody>
      </p:sp>
      <p:cxnSp>
        <p:nvCxnSpPr>
          <p:cNvPr id="344" name="Google Shape;344;p33"/>
          <p:cNvCxnSpPr>
            <a:stCxn id="325" idx="3"/>
            <a:endCxn id="343" idx="1"/>
          </p:cNvCxnSpPr>
          <p:nvPr/>
        </p:nvCxnSpPr>
        <p:spPr>
          <a:xfrm flipH="1" rot="10800000">
            <a:off x="1607650" y="3037400"/>
            <a:ext cx="270300" cy="2100"/>
          </a:xfrm>
          <a:prstGeom prst="straightConnector1">
            <a:avLst/>
          </a:prstGeom>
          <a:noFill/>
          <a:ln cap="flat" cmpd="sng" w="19050">
            <a:solidFill>
              <a:schemeClr val="dk2"/>
            </a:solidFill>
            <a:prstDash val="solid"/>
            <a:round/>
            <a:headEnd len="med" w="med" type="none"/>
            <a:tailEnd len="med" w="med" type="triangle"/>
          </a:ln>
        </p:spPr>
      </p:cxnSp>
      <p:sp>
        <p:nvSpPr>
          <p:cNvPr id="345" name="Google Shape;345;p33"/>
          <p:cNvSpPr/>
          <p:nvPr/>
        </p:nvSpPr>
        <p:spPr>
          <a:xfrm>
            <a:off x="3471200" y="2884655"/>
            <a:ext cx="1093800" cy="305400"/>
          </a:xfrm>
          <a:prstGeom prst="rect">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Heapsort</a:t>
            </a:r>
            <a:endParaRPr/>
          </a:p>
        </p:txBody>
      </p:sp>
      <p:cxnSp>
        <p:nvCxnSpPr>
          <p:cNvPr id="346" name="Google Shape;346;p33"/>
          <p:cNvCxnSpPr>
            <a:stCxn id="343" idx="3"/>
            <a:endCxn id="345" idx="1"/>
          </p:cNvCxnSpPr>
          <p:nvPr/>
        </p:nvCxnSpPr>
        <p:spPr>
          <a:xfrm>
            <a:off x="3200925" y="3037367"/>
            <a:ext cx="270300" cy="0"/>
          </a:xfrm>
          <a:prstGeom prst="straightConnector1">
            <a:avLst/>
          </a:prstGeom>
          <a:noFill/>
          <a:ln cap="flat" cmpd="sng" w="19050">
            <a:solidFill>
              <a:schemeClr val="dk2"/>
            </a:solidFill>
            <a:prstDash val="solid"/>
            <a:round/>
            <a:headEnd len="med" w="med" type="none"/>
            <a:tailEnd len="med" w="med" type="triangle"/>
          </a:ln>
        </p:spPr>
      </p:cxnSp>
      <p:sp>
        <p:nvSpPr>
          <p:cNvPr id="347" name="Google Shape;347;p33"/>
          <p:cNvSpPr/>
          <p:nvPr/>
        </p:nvSpPr>
        <p:spPr>
          <a:xfrm>
            <a:off x="3690038" y="2073128"/>
            <a:ext cx="1020300" cy="305400"/>
          </a:xfrm>
          <a:prstGeom prst="rect">
            <a:avLst/>
          </a:prstGeom>
          <a:solidFill>
            <a:srgbClr val="CFE2F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Trie / TST</a:t>
            </a:r>
            <a:endParaRPr/>
          </a:p>
        </p:txBody>
      </p:sp>
      <p:sp>
        <p:nvSpPr>
          <p:cNvPr id="348" name="Google Shape;348;p33"/>
          <p:cNvSpPr txBox="1"/>
          <p:nvPr/>
        </p:nvSpPr>
        <p:spPr>
          <a:xfrm>
            <a:off x="4974425" y="2028400"/>
            <a:ext cx="4248600" cy="38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Searches by digit. Analogous to </a:t>
            </a:r>
            <a:r>
              <a:rPr b="1" lang="en"/>
              <a:t>Radix Sorting</a:t>
            </a:r>
            <a:endParaRPr b="1"/>
          </a:p>
        </p:txBody>
      </p:sp>
      <p:cxnSp>
        <p:nvCxnSpPr>
          <p:cNvPr id="349" name="Google Shape;349;p33"/>
          <p:cNvCxnSpPr>
            <a:stCxn id="311" idx="3"/>
            <a:endCxn id="347" idx="1"/>
          </p:cNvCxnSpPr>
          <p:nvPr/>
        </p:nvCxnSpPr>
        <p:spPr>
          <a:xfrm>
            <a:off x="1722500" y="1311715"/>
            <a:ext cx="1967400" cy="914100"/>
          </a:xfrm>
          <a:prstGeom prst="straightConnector1">
            <a:avLst/>
          </a:prstGeom>
          <a:noFill/>
          <a:ln cap="flat" cmpd="sng" w="19050">
            <a:solidFill>
              <a:schemeClr val="dk2"/>
            </a:solidFill>
            <a:prstDash val="solid"/>
            <a:round/>
            <a:headEnd len="med" w="med" type="none"/>
            <a:tailEnd len="med" w="med" type="none"/>
          </a:ln>
        </p:spPr>
      </p:cxnSp>
      <p:cxnSp>
        <p:nvCxnSpPr>
          <p:cNvPr id="350" name="Google Shape;350;p33"/>
          <p:cNvCxnSpPr>
            <a:stCxn id="306" idx="3"/>
            <a:endCxn id="347" idx="1"/>
          </p:cNvCxnSpPr>
          <p:nvPr/>
        </p:nvCxnSpPr>
        <p:spPr>
          <a:xfrm>
            <a:off x="1722625" y="678040"/>
            <a:ext cx="1967400" cy="154770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Fun/Weird Topics (This Week)</a:t>
            </a:r>
            <a:endParaRPr/>
          </a:p>
        </p:txBody>
      </p:sp>
      <p:sp>
        <p:nvSpPr>
          <p:cNvPr id="356" name="Google Shape;356;p3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Compression:</a:t>
            </a:r>
            <a:endParaRPr/>
          </a:p>
          <a:p>
            <a:pPr indent="-342900" lvl="0" marL="457200" rtl="0" algn="l">
              <a:spcBef>
                <a:spcPts val="600"/>
              </a:spcBef>
              <a:spcAft>
                <a:spcPts val="0"/>
              </a:spcAft>
              <a:buSzPts val="1800"/>
              <a:buChar char="●"/>
            </a:pPr>
            <a:r>
              <a:rPr lang="en"/>
              <a:t>Huffman Coding, and selection of data structures for Huffman Coding.</a:t>
            </a:r>
            <a:endParaRPr/>
          </a:p>
          <a:p>
            <a:pPr indent="-342900" lvl="0" marL="457200" rtl="0" algn="l">
              <a:spcBef>
                <a:spcPts val="0"/>
              </a:spcBef>
              <a:spcAft>
                <a:spcPts val="0"/>
              </a:spcAft>
              <a:buSzPts val="1800"/>
              <a:buChar char="●"/>
            </a:pPr>
            <a:r>
              <a:rPr lang="en"/>
              <a:t>Other approaches: LZW and Run Length Encoding (extra slides).</a:t>
            </a:r>
            <a:endParaRPr/>
          </a:p>
          <a:p>
            <a:pPr indent="0" lvl="0" marL="457200" rtl="0" algn="l">
              <a:spcBef>
                <a:spcPts val="600"/>
              </a:spcBef>
              <a:spcAft>
                <a:spcPts val="0"/>
              </a:spcAft>
              <a:buNone/>
            </a:pPr>
            <a:r>
              <a:t/>
            </a:r>
            <a:endParaRPr/>
          </a:p>
          <a:p>
            <a:pPr indent="0" lvl="0" marL="0" rtl="0" algn="l">
              <a:spcBef>
                <a:spcPts val="600"/>
              </a:spcBef>
              <a:spcAft>
                <a:spcPts val="0"/>
              </a:spcAft>
              <a:buNone/>
            </a:pPr>
            <a:r>
              <a:rPr lang="en"/>
              <a:t>Compression, Complexity, and P=NP:</a:t>
            </a:r>
            <a:endParaRPr/>
          </a:p>
          <a:p>
            <a:pPr indent="-342900" lvl="0" marL="457200" marR="0" rtl="0" algn="l">
              <a:lnSpc>
                <a:spcPct val="100000"/>
              </a:lnSpc>
              <a:spcBef>
                <a:spcPts val="600"/>
              </a:spcBef>
              <a:spcAft>
                <a:spcPts val="0"/>
              </a:spcAft>
              <a:buClr>
                <a:schemeClr val="dk1"/>
              </a:buClr>
              <a:buSzPts val="1800"/>
              <a:buFont typeface="Calibri"/>
              <a:buChar char="●"/>
            </a:pPr>
            <a:r>
              <a:rPr lang="en"/>
              <a:t>Optimal compression is impossible.</a:t>
            </a:r>
            <a:endParaRPr/>
          </a:p>
          <a:p>
            <a:pPr indent="-342900" lvl="0" marL="457200" marR="0" rtl="0" algn="l">
              <a:lnSpc>
                <a:spcPct val="100000"/>
              </a:lnSpc>
              <a:spcBef>
                <a:spcPts val="0"/>
              </a:spcBef>
              <a:spcAft>
                <a:spcPts val="0"/>
              </a:spcAft>
              <a:buSzPts val="1800"/>
              <a:buChar char="●"/>
            </a:pPr>
            <a:r>
              <a:rPr lang="en"/>
              <a:t>Bounded space/time compression is possible if P=NP.</a:t>
            </a:r>
            <a:endParaRPr/>
          </a:p>
          <a:p>
            <a:pPr indent="-342900" lvl="1" marL="914400" marR="0" rtl="0" algn="l">
              <a:lnSpc>
                <a:spcPct val="100000"/>
              </a:lnSpc>
              <a:spcBef>
                <a:spcPts val="0"/>
              </a:spcBef>
              <a:spcAft>
                <a:spcPts val="0"/>
              </a:spcAft>
              <a:buSzPts val="1800"/>
              <a:buChar char="○"/>
            </a:pPr>
            <a:r>
              <a:rPr lang="en"/>
              <a:t>Allows you to find arbitrarily short programs that produce a given output in a given runtime.</a:t>
            </a:r>
            <a:endParaRPr/>
          </a:p>
          <a:p>
            <a:pPr indent="-342900" lvl="1" marL="914400" marR="0" rtl="0" algn="l">
              <a:lnSpc>
                <a:spcPct val="100000"/>
              </a:lnSpc>
              <a:spcBef>
                <a:spcPts val="0"/>
              </a:spcBef>
              <a:spcAft>
                <a:spcPts val="0"/>
              </a:spcAft>
              <a:buSzPts val="1800"/>
              <a:buChar char="○"/>
            </a:pPr>
            <a:r>
              <a:rPr lang="en"/>
              <a:t>Compression of a stream of bits might provide a useful model of that stream of bits (e.g. hugPlant.bmp -&gt; hugPlant.java).</a:t>
            </a:r>
            <a:endParaRPr/>
          </a:p>
          <a:p>
            <a:pPr indent="-342900" lvl="0" marL="457200" marR="0" rtl="0" algn="l">
              <a:lnSpc>
                <a:spcPct val="100000"/>
              </a:lnSpc>
              <a:spcBef>
                <a:spcPts val="0"/>
              </a:spcBef>
              <a:spcAft>
                <a:spcPts val="0"/>
              </a:spcAft>
              <a:buSzPts val="1800"/>
              <a:buChar char="●"/>
            </a:pPr>
            <a:r>
              <a:rPr lang="en"/>
              <a:t>If P = NP, we could also solve all kinds of other interesting problems.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Practice of Programming</a:t>
            </a:r>
            <a:endParaRPr/>
          </a:p>
        </p:txBody>
      </p:sp>
      <p:sp>
        <p:nvSpPr>
          <p:cNvPr id="362" name="Google Shape;362;p3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Java syntax and idioms.</a:t>
            </a:r>
            <a:endParaRPr/>
          </a:p>
          <a:p>
            <a:pPr indent="-342900" lvl="0" marL="457200" rtl="0" algn="l">
              <a:spcBef>
                <a:spcPts val="0"/>
              </a:spcBef>
              <a:spcAft>
                <a:spcPts val="0"/>
              </a:spcAft>
              <a:buSzPts val="1800"/>
              <a:buChar char="●"/>
            </a:pPr>
            <a:r>
              <a:rPr lang="en"/>
              <a:t>Unit testing (and its more extreme form: Test-driven development).</a:t>
            </a:r>
            <a:endParaRPr/>
          </a:p>
          <a:p>
            <a:pPr indent="-342900" lvl="0" marL="457200" rtl="0" algn="l">
              <a:spcBef>
                <a:spcPts val="0"/>
              </a:spcBef>
              <a:spcAft>
                <a:spcPts val="0"/>
              </a:spcAft>
              <a:buSzPts val="1800"/>
              <a:buChar char="●"/>
            </a:pPr>
            <a:r>
              <a:rPr lang="en"/>
              <a:t>Mining the web for code.</a:t>
            </a:r>
            <a:endParaRPr/>
          </a:p>
          <a:p>
            <a:pPr indent="-342900" lvl="0" marL="457200" rtl="0" algn="l">
              <a:spcBef>
                <a:spcPts val="0"/>
              </a:spcBef>
              <a:spcAft>
                <a:spcPts val="0"/>
              </a:spcAft>
              <a:buSzPts val="1800"/>
              <a:buChar char="●"/>
            </a:pPr>
            <a:r>
              <a:rPr lang="en"/>
              <a:t>Debugging:</a:t>
            </a:r>
            <a:endParaRPr/>
          </a:p>
          <a:p>
            <a:pPr indent="-342900" lvl="1" marL="914400" rtl="0" algn="l">
              <a:spcBef>
                <a:spcPts val="0"/>
              </a:spcBef>
              <a:spcAft>
                <a:spcPts val="0"/>
              </a:spcAft>
              <a:buSzPts val="1800"/>
              <a:buChar char="○"/>
            </a:pPr>
            <a:r>
              <a:rPr lang="en"/>
              <a:t>Identify the simplest case affected by the bug.</a:t>
            </a:r>
            <a:endParaRPr/>
          </a:p>
          <a:p>
            <a:pPr indent="-342900" lvl="1" marL="914400" rtl="0" algn="l">
              <a:spcBef>
                <a:spcPts val="0"/>
              </a:spcBef>
              <a:spcAft>
                <a:spcPts val="0"/>
              </a:spcAft>
              <a:buSzPts val="1800"/>
              <a:buChar char="○"/>
            </a:pPr>
            <a:r>
              <a:rPr lang="en"/>
              <a:t>Hunt it down, giving it no place to hide.</a:t>
            </a:r>
            <a:endParaRPr/>
          </a:p>
          <a:p>
            <a:pPr indent="-342900" lvl="1" marL="914400" rtl="0" algn="l">
              <a:spcBef>
                <a:spcPts val="0"/>
              </a:spcBef>
              <a:spcAft>
                <a:spcPts val="0"/>
              </a:spcAft>
              <a:buSzPts val="1800"/>
              <a:buChar char="○"/>
            </a:pPr>
            <a:r>
              <a:rPr lang="en"/>
              <a:t>With the right methodology, can find bugs even when finding bug through manual code inspection is impossible.</a:t>
            </a:r>
            <a:endParaRPr/>
          </a:p>
          <a:p>
            <a:pPr indent="-342900" lvl="0" marL="457200" rtl="0" algn="l">
              <a:spcBef>
                <a:spcPts val="0"/>
              </a:spcBef>
              <a:spcAft>
                <a:spcPts val="0"/>
              </a:spcAft>
              <a:buSzPts val="1800"/>
              <a:buChar char="●"/>
            </a:pPr>
            <a:r>
              <a:rPr lang="en"/>
              <a:t>Tactical vs. Strategic Programming.</a:t>
            </a:r>
            <a:endParaRPr/>
          </a:p>
          <a:p>
            <a:pPr indent="-342900" lvl="1" marL="914400" rtl="0" algn="l">
              <a:spcBef>
                <a:spcPts val="0"/>
              </a:spcBef>
              <a:spcAft>
                <a:spcPts val="0"/>
              </a:spcAft>
              <a:buSzPts val="1800"/>
              <a:buChar char="○"/>
            </a:pPr>
            <a:r>
              <a:rPr lang="en"/>
              <a:t>Avoid information leakage. Build deep modules. Minimize dependencies. Minimize obscurity.</a:t>
            </a:r>
            <a:endParaRPr/>
          </a:p>
          <a:p>
            <a:pPr indent="-342900" lvl="0" marL="457200" rtl="0" algn="l">
              <a:spcBef>
                <a:spcPts val="0"/>
              </a:spcBef>
              <a:spcAft>
                <a:spcPts val="0"/>
              </a:spcAft>
              <a:buSzPts val="1800"/>
              <a:buChar char="●"/>
            </a:pPr>
            <a:r>
              <a:rPr lang="en"/>
              <a:t>Real tools: IntelliJ, git, Truth, command line.</a:t>
            </a:r>
            <a:endParaRPr/>
          </a:p>
          <a:p>
            <a:pPr indent="-342900" lvl="0" marL="457200" rtl="0" algn="l">
              <a:spcBef>
                <a:spcPts val="0"/>
              </a:spcBef>
              <a:spcAft>
                <a:spcPts val="0"/>
              </a:spcAft>
              <a:buSzPts val="1800"/>
              <a:buChar char="●"/>
            </a:pPr>
            <a:r>
              <a:rPr lang="en"/>
              <a:t>Data structure selection (and API Design)</a:t>
            </a:r>
            <a:endParaRPr/>
          </a:p>
          <a:p>
            <a:pPr indent="-342900" lvl="1" marL="914400" rtl="0" algn="l">
              <a:spcBef>
                <a:spcPts val="600"/>
              </a:spcBef>
              <a:spcAft>
                <a:spcPts val="0"/>
              </a:spcAft>
              <a:buSzPts val="1800"/>
              <a:buChar char="○"/>
            </a:pPr>
            <a:r>
              <a:rPr lang="en"/>
              <a:t>Drive the performance and implementation of your entire program.</a:t>
            </a:r>
            <a:endParaRPr/>
          </a:p>
          <a:p>
            <a:pPr indent="0" lvl="0" marL="0" rtl="0" algn="l">
              <a:spcBef>
                <a:spcPts val="60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6"/>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40, CS61B, Spring 2023</a:t>
            </a:r>
            <a:endParaRPr/>
          </a:p>
        </p:txBody>
      </p:sp>
      <p:sp>
        <p:nvSpPr>
          <p:cNvPr id="368" name="Google Shape;368;p36"/>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999999"/>
                </a:solidFill>
              </a:rPr>
              <a:t>61B in 12 Minutes or Less</a:t>
            </a:r>
            <a:endParaRPr>
              <a:solidFill>
                <a:srgbClr val="999999"/>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Your Future</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999999"/>
                </a:solidFill>
              </a:rPr>
              <a:t>AMA</a:t>
            </a:r>
            <a:endParaRPr>
              <a:solidFill>
                <a:srgbClr val="999999"/>
              </a:solidFill>
            </a:endParaRPr>
          </a:p>
          <a:p>
            <a:pPr indent="0" lvl="0" marL="0" rtl="0" algn="l">
              <a:spcBef>
                <a:spcPts val="600"/>
              </a:spcBef>
              <a:spcAft>
                <a:spcPts val="0"/>
              </a:spcAft>
              <a:buNone/>
            </a:pPr>
            <a:r>
              <a:rPr lang="en">
                <a:solidFill>
                  <a:srgbClr val="999999"/>
                </a:solidFill>
              </a:rPr>
              <a:t>Course Reflections</a:t>
            </a:r>
            <a:endParaRPr>
              <a:solidFill>
                <a:srgbClr val="999999"/>
              </a:solidFill>
            </a:endParaRPr>
          </a:p>
        </p:txBody>
      </p:sp>
      <p:sp>
        <p:nvSpPr>
          <p:cNvPr id="369" name="Google Shape;369;p36"/>
          <p:cNvSpPr txBox="1"/>
          <p:nvPr>
            <p:ph type="title"/>
          </p:nvPr>
        </p:nvSpPr>
        <p:spPr>
          <a:xfrm>
            <a:off x="237925" y="20301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Your Future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Your Life</a:t>
            </a:r>
            <a:endParaRPr/>
          </a:p>
        </p:txBody>
      </p:sp>
      <p:sp>
        <p:nvSpPr>
          <p:cNvPr id="375" name="Google Shape;375;p3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Two </a:t>
            </a:r>
            <a:r>
              <a:rPr lang="en"/>
              <a:t>immediate questions:</a:t>
            </a:r>
            <a:endParaRPr/>
          </a:p>
          <a:p>
            <a:pPr indent="-342900" lvl="0" marL="457200" rtl="0" algn="l">
              <a:spcBef>
                <a:spcPts val="600"/>
              </a:spcBef>
              <a:spcAft>
                <a:spcPts val="0"/>
              </a:spcAft>
              <a:buSzPts val="1800"/>
              <a:buChar char="●"/>
            </a:pPr>
            <a:r>
              <a:rPr lang="en"/>
              <a:t>What classes should I take next semester?</a:t>
            </a:r>
            <a:endParaRPr/>
          </a:p>
          <a:p>
            <a:pPr indent="-342900" lvl="0" marL="457200" rtl="0" algn="l">
              <a:spcBef>
                <a:spcPts val="600"/>
              </a:spcBef>
              <a:spcAft>
                <a:spcPts val="0"/>
              </a:spcAft>
              <a:buSzPts val="1800"/>
              <a:buChar char="●"/>
            </a:pPr>
            <a:r>
              <a:rPr lang="en"/>
              <a:t>How should I prepare for the final?</a:t>
            </a:r>
            <a:endParaRPr/>
          </a:p>
          <a:p>
            <a:pPr indent="0" lvl="0" marL="0" rtl="0" algn="l">
              <a:spcBef>
                <a:spcPts val="600"/>
              </a:spcBef>
              <a:spcAft>
                <a:spcPts val="0"/>
              </a:spcAft>
              <a:buNone/>
            </a:pPr>
            <a:r>
              <a:rPr lang="en"/>
              <a:t>Two long-term questions:</a:t>
            </a:r>
            <a:endParaRPr/>
          </a:p>
          <a:p>
            <a:pPr indent="-342900" lvl="0" marL="457200" rtl="0" algn="l">
              <a:spcBef>
                <a:spcPts val="600"/>
              </a:spcBef>
              <a:spcAft>
                <a:spcPts val="0"/>
              </a:spcAft>
              <a:buSzPts val="1800"/>
              <a:buChar char="●"/>
            </a:pPr>
            <a:r>
              <a:rPr lang="en"/>
              <a:t>What am I capable of achieving?</a:t>
            </a:r>
            <a:endParaRPr/>
          </a:p>
          <a:p>
            <a:pPr indent="-342900" lvl="0" marL="457200" rtl="0" algn="l">
              <a:spcBef>
                <a:spcPts val="600"/>
              </a:spcBef>
              <a:spcAft>
                <a:spcPts val="0"/>
              </a:spcAft>
              <a:buSzPts val="1800"/>
              <a:buChar char="●"/>
            </a:pPr>
            <a:r>
              <a:rPr lang="en"/>
              <a:t>What should I do with my life?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379" name="Shape 379"/>
        <p:cNvGrpSpPr/>
        <p:nvPr/>
      </p:nvGrpSpPr>
      <p:grpSpPr>
        <a:xfrm>
          <a:off x="0" y="0"/>
          <a:ext cx="0" cy="0"/>
          <a:chOff x="0" y="0"/>
          <a:chExt cx="0" cy="0"/>
        </a:xfrm>
      </p:grpSpPr>
      <p:sp>
        <p:nvSpPr>
          <p:cNvPr id="380" name="Google Shape;380;p3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 Poll (Your Answer)</a:t>
            </a:r>
            <a:endParaRPr>
              <a:solidFill>
                <a:srgbClr val="38761D"/>
              </a:solidFill>
            </a:endParaRPr>
          </a:p>
        </p:txBody>
      </p:sp>
      <p:sp>
        <p:nvSpPr>
          <p:cNvPr id="381" name="Google Shape;381;p3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How many students are happy with the grade they are on track to receive?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385" name="Shape 385"/>
        <p:cNvGrpSpPr/>
        <p:nvPr/>
      </p:nvGrpSpPr>
      <p:grpSpPr>
        <a:xfrm>
          <a:off x="0" y="0"/>
          <a:ext cx="0" cy="0"/>
          <a:chOff x="0" y="0"/>
          <a:chExt cx="0" cy="0"/>
        </a:xfrm>
      </p:grpSpPr>
      <p:sp>
        <p:nvSpPr>
          <p:cNvPr id="386" name="Google Shape;386;p3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 Poll (Your Answer)</a:t>
            </a:r>
            <a:endParaRPr>
              <a:solidFill>
                <a:srgbClr val="38761D"/>
              </a:solidFill>
            </a:endParaRPr>
          </a:p>
        </p:txBody>
      </p:sp>
      <p:sp>
        <p:nvSpPr>
          <p:cNvPr id="387" name="Google Shape;387;p3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does a good grade in this class mean? How will a good grade in this class affect you?</a:t>
            </a:r>
            <a:endParaRPr/>
          </a:p>
          <a:p>
            <a:pPr indent="-342900" lvl="0" marL="457200" rtl="0" algn="l">
              <a:spcBef>
                <a:spcPts val="600"/>
              </a:spcBef>
              <a:spcAft>
                <a:spcPts val="0"/>
              </a:spcAft>
              <a:buSzPts val="1800"/>
              <a:buChar char="●"/>
            </a:pPr>
            <a:r>
              <a:rPr lang="en"/>
              <a:t>Determines if you can declare CS</a:t>
            </a:r>
            <a:endParaRPr/>
          </a:p>
          <a:p>
            <a:pPr indent="-342900" lvl="0" marL="457200" rtl="0" algn="l">
              <a:spcBef>
                <a:spcPts val="0"/>
              </a:spcBef>
              <a:spcAft>
                <a:spcPts val="0"/>
              </a:spcAft>
              <a:buSzPts val="1800"/>
              <a:buChar char="●"/>
            </a:pPr>
            <a:r>
              <a:rPr lang="en"/>
              <a:t>Grad school/working in a company</a:t>
            </a:r>
            <a:endParaRPr/>
          </a:p>
          <a:p>
            <a:pPr indent="-342900" lvl="0" marL="457200" rtl="0" algn="l">
              <a:spcBef>
                <a:spcPts val="0"/>
              </a:spcBef>
              <a:spcAft>
                <a:spcPts val="0"/>
              </a:spcAft>
              <a:buSzPts val="1800"/>
              <a:buChar char="●"/>
            </a:pPr>
            <a:r>
              <a:rPr lang="en"/>
              <a:t>Mastery of the material</a:t>
            </a:r>
            <a:endParaRPr/>
          </a:p>
          <a:p>
            <a:pPr indent="-342900" lvl="0" marL="457200" rtl="0" algn="l">
              <a:spcBef>
                <a:spcPts val="0"/>
              </a:spcBef>
              <a:spcAft>
                <a:spcPts val="0"/>
              </a:spcAft>
              <a:buSzPts val="1800"/>
              <a:buChar char="●"/>
            </a:pPr>
            <a:r>
              <a:rPr lang="en"/>
              <a:t>Bragging rights</a:t>
            </a:r>
            <a:endParaRPr/>
          </a:p>
          <a:p>
            <a:pPr indent="-342900" lvl="0" marL="457200" rtl="0" algn="l">
              <a:spcBef>
                <a:spcPts val="0"/>
              </a:spcBef>
              <a:spcAft>
                <a:spcPts val="0"/>
              </a:spcAft>
              <a:buSzPts val="1800"/>
              <a:buChar char="●"/>
            </a:pPr>
            <a:r>
              <a:rPr lang="en"/>
              <a:t>Conceptualization: Can you use this outside toy examples?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1" name="Shape 391"/>
        <p:cNvGrpSpPr/>
        <p:nvPr/>
      </p:nvGrpSpPr>
      <p:grpSpPr>
        <a:xfrm>
          <a:off x="0" y="0"/>
          <a:ext cx="0" cy="0"/>
          <a:chOff x="0" y="0"/>
          <a:chExt cx="0" cy="0"/>
        </a:xfrm>
      </p:grpSpPr>
      <p:sp>
        <p:nvSpPr>
          <p:cNvPr id="392" name="Google Shape;392;p4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 Poll (My Answer)</a:t>
            </a:r>
            <a:endParaRPr>
              <a:solidFill>
                <a:srgbClr val="38761D"/>
              </a:solidFill>
            </a:endParaRPr>
          </a:p>
        </p:txBody>
      </p:sp>
      <p:sp>
        <p:nvSpPr>
          <p:cNvPr id="393" name="Google Shape;393;p4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does a good grade in this class mean? How will a good grade in this class affect you?</a:t>
            </a:r>
            <a:endParaRPr/>
          </a:p>
          <a:p>
            <a:pPr indent="0" lvl="0" marL="0" rtl="0" algn="l">
              <a:spcBef>
                <a:spcPts val="600"/>
              </a:spcBef>
              <a:spcAft>
                <a:spcPts val="0"/>
              </a:spcAft>
              <a:buNone/>
            </a:pPr>
            <a:r>
              <a:rPr lang="en"/>
              <a:t>A grade in this course is not a measure of your worth/intelligence. </a:t>
            </a:r>
            <a:endParaRPr/>
          </a:p>
          <a:p>
            <a:pPr indent="0" lvl="0" marL="0" rtl="0" algn="l">
              <a:spcBef>
                <a:spcPts val="600"/>
              </a:spcBef>
              <a:spcAft>
                <a:spcPts val="0"/>
              </a:spcAft>
              <a:buNone/>
            </a:pPr>
            <a:r>
              <a:rPr lang="en"/>
              <a:t>Several ways your grade could affect your future:</a:t>
            </a:r>
            <a:endParaRPr/>
          </a:p>
          <a:p>
            <a:pPr indent="-342900" lvl="0" marL="457200" rtl="0" algn="l">
              <a:spcBef>
                <a:spcPts val="600"/>
              </a:spcBef>
              <a:spcAft>
                <a:spcPts val="0"/>
              </a:spcAft>
              <a:buSzPts val="1800"/>
              <a:buChar char="●"/>
            </a:pPr>
            <a:r>
              <a:rPr lang="en"/>
              <a:t>Future job prospects/grad school?</a:t>
            </a:r>
            <a:endParaRPr/>
          </a:p>
          <a:p>
            <a:pPr indent="-342900" lvl="1" marL="914400" rtl="0" algn="l">
              <a:spcBef>
                <a:spcPts val="0"/>
              </a:spcBef>
              <a:spcAft>
                <a:spcPts val="0"/>
              </a:spcAft>
              <a:buSzPts val="1800"/>
              <a:buChar char="○"/>
            </a:pPr>
            <a:r>
              <a:rPr lang="en"/>
              <a:t>While GPA is a factor, it's often not a very important one. Once you get into industry, </a:t>
            </a:r>
            <a:r>
              <a:rPr lang="en"/>
              <a:t>job experience matters much more than </a:t>
            </a:r>
            <a:r>
              <a:rPr lang="en"/>
              <a:t>college GPA.</a:t>
            </a:r>
            <a:endParaRPr/>
          </a:p>
          <a:p>
            <a:pPr indent="-342900" lvl="0" marL="457200" rtl="0" algn="l">
              <a:spcBef>
                <a:spcPts val="0"/>
              </a:spcBef>
              <a:spcAft>
                <a:spcPts val="0"/>
              </a:spcAft>
              <a:buSzPts val="1800"/>
              <a:buChar char="●"/>
            </a:pPr>
            <a:r>
              <a:rPr lang="en"/>
              <a:t>GPA requirement to enter the CS major</a:t>
            </a:r>
            <a:endParaRPr/>
          </a:p>
          <a:p>
            <a:pPr indent="-342900" lvl="1" marL="914400" rtl="0" algn="l">
              <a:spcBef>
                <a:spcPts val="0"/>
              </a:spcBef>
              <a:spcAft>
                <a:spcPts val="0"/>
              </a:spcAft>
              <a:buSzPts val="1800"/>
              <a:buChar char="○"/>
            </a:pPr>
            <a:r>
              <a:rPr lang="en"/>
              <a:t>Unfortunately, this is a big determinator of getting into the major. Every faculty member and lecturer hates the GPA requirement because it incentivizes the wrong way to think about your grades</a:t>
            </a:r>
            <a:endParaRPr/>
          </a:p>
          <a:p>
            <a:pPr indent="-342900" lvl="1" marL="914400" rtl="0" algn="l">
              <a:spcBef>
                <a:spcPts val="0"/>
              </a:spcBef>
              <a:spcAft>
                <a:spcPts val="0"/>
              </a:spcAft>
              <a:buSzPts val="1800"/>
              <a:buChar char="○"/>
            </a:pPr>
            <a:r>
              <a:rPr lang="en"/>
              <a:t>Fortunately, students admitted after FA23 won't have that GPA requirement.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7" name="Shape 397"/>
        <p:cNvGrpSpPr/>
        <p:nvPr/>
      </p:nvGrpSpPr>
      <p:grpSpPr>
        <a:xfrm>
          <a:off x="0" y="0"/>
          <a:ext cx="0" cy="0"/>
          <a:chOff x="0" y="0"/>
          <a:chExt cx="0" cy="0"/>
        </a:xfrm>
      </p:grpSpPr>
      <p:sp>
        <p:nvSpPr>
          <p:cNvPr id="398" name="Google Shape;398;p4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does your grade mean?</a:t>
            </a:r>
            <a:endParaRPr>
              <a:solidFill>
                <a:srgbClr val="38761D"/>
              </a:solidFill>
            </a:endParaRPr>
          </a:p>
        </p:txBody>
      </p:sp>
      <p:sp>
        <p:nvSpPr>
          <p:cNvPr id="399" name="Google Shape;399;p4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 would argue that the most important thing your grade tells you is </a:t>
            </a:r>
            <a:r>
              <a:rPr b="1" lang="en"/>
              <a:t>how hard your next semester will be.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Most of the time, you don't truly master a concept until you're forced to use it to solve something new. A lot of the concepts we've covered in the last half of the course will only solidify when you start taking 61C, 170, or any other "next step" class.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 grade you get in this course is my message to you saying how difficult I predict it will be to develop that mastery in your next class.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3" name="Shape 403"/>
        <p:cNvGrpSpPr/>
        <p:nvPr/>
      </p:nvGrpSpPr>
      <p:grpSpPr>
        <a:xfrm>
          <a:off x="0" y="0"/>
          <a:ext cx="0" cy="0"/>
          <a:chOff x="0" y="0"/>
          <a:chExt cx="0" cy="0"/>
        </a:xfrm>
      </p:grpSpPr>
      <p:sp>
        <p:nvSpPr>
          <p:cNvPr id="404" name="Google Shape;404;p4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does your grade mean?</a:t>
            </a:r>
            <a:endParaRPr>
              <a:solidFill>
                <a:srgbClr val="38761D"/>
              </a:solidFill>
            </a:endParaRPr>
          </a:p>
        </p:txBody>
      </p:sp>
      <p:sp>
        <p:nvSpPr>
          <p:cNvPr id="405" name="Google Shape;405;p4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An A in this class is a signifier of </a:t>
            </a:r>
            <a:r>
              <a:rPr b="1" lang="en"/>
              <a:t>mastery</a:t>
            </a:r>
            <a:r>
              <a:rPr lang="en"/>
              <a:t>. If you take a sequel course, </a:t>
            </a:r>
            <a:r>
              <a:rPr b="1" lang="en"/>
              <a:t>you will likely do well even with other work on your plate. </a:t>
            </a:r>
            <a:r>
              <a:rPr lang="en"/>
              <a:t>So you can take more/harder courses.</a:t>
            </a:r>
            <a:endParaRPr/>
          </a:p>
          <a:p>
            <a:pPr indent="0" lvl="0" marL="0" rtl="0" algn="l">
              <a:spcBef>
                <a:spcPts val="600"/>
              </a:spcBef>
              <a:spcAft>
                <a:spcPts val="0"/>
              </a:spcAft>
              <a:buNone/>
            </a:pPr>
            <a:r>
              <a:rPr lang="en"/>
              <a:t>A B in this class is a signifier of </a:t>
            </a:r>
            <a:r>
              <a:rPr b="1" lang="en"/>
              <a:t>comprehension</a:t>
            </a:r>
            <a:r>
              <a:rPr lang="en"/>
              <a:t>. If you take a sequel course, </a:t>
            </a:r>
            <a:r>
              <a:rPr b="1" lang="en"/>
              <a:t>you will likely do well if you dedicate sufficient time to the class</a:t>
            </a:r>
            <a:r>
              <a:rPr lang="en"/>
              <a:t>.</a:t>
            </a:r>
            <a:endParaRPr/>
          </a:p>
          <a:p>
            <a:pPr indent="0" lvl="0" marL="0" rtl="0" algn="l">
              <a:spcBef>
                <a:spcPts val="600"/>
              </a:spcBef>
              <a:spcAft>
                <a:spcPts val="0"/>
              </a:spcAft>
              <a:buNone/>
            </a:pPr>
            <a:r>
              <a:rPr lang="en"/>
              <a:t>A C in this class is a signifier of </a:t>
            </a:r>
            <a:r>
              <a:rPr b="1" lang="en"/>
              <a:t>competence</a:t>
            </a:r>
            <a:r>
              <a:rPr lang="en"/>
              <a:t>. If you take a sequel course, </a:t>
            </a:r>
            <a:r>
              <a:rPr b="1" lang="en"/>
              <a:t>you will likely need to devote more time than usual to do well</a:t>
            </a:r>
            <a:r>
              <a:rPr lang="en"/>
              <a:t>. So try to avoid taking too many courses at the same time</a:t>
            </a:r>
            <a:endParaRPr/>
          </a:p>
          <a:p>
            <a:pPr indent="0" lvl="0" marL="0" rtl="0" algn="l">
              <a:spcBef>
                <a:spcPts val="600"/>
              </a:spcBef>
              <a:spcAft>
                <a:spcPts val="0"/>
              </a:spcAft>
              <a:buNone/>
            </a:pPr>
            <a:r>
              <a:rPr lang="en"/>
              <a:t>Anything below a C is a signifier that </a:t>
            </a:r>
            <a:r>
              <a:rPr b="1" lang="en"/>
              <a:t>you will struggle in a sequel course</a:t>
            </a:r>
            <a:r>
              <a:rPr lang="en"/>
              <a:t>. Going directly to a sequel course will likely not be worthwhile. It may be good to retake the course so you get more time to digest concepts.</a:t>
            </a:r>
            <a:endParaRPr/>
          </a:p>
          <a:p>
            <a:pPr indent="-342900" lvl="0" marL="457200" rtl="0" algn="l">
              <a:spcBef>
                <a:spcPts val="600"/>
              </a:spcBef>
              <a:spcAft>
                <a:spcPts val="0"/>
              </a:spcAft>
              <a:buSzPts val="1800"/>
              <a:buChar char="●"/>
            </a:pPr>
            <a:r>
              <a:rPr lang="en"/>
              <a:t>Like surfing: Once you're behind a wave, it's difficult to climb it</a:t>
            </a:r>
            <a:endParaRPr/>
          </a:p>
          <a:p>
            <a:pPr indent="-342900" lvl="1" marL="914400" rtl="0" algn="l">
              <a:spcBef>
                <a:spcPts val="0"/>
              </a:spcBef>
              <a:spcAft>
                <a:spcPts val="0"/>
              </a:spcAft>
              <a:buSzPts val="1800"/>
              <a:buChar char="○"/>
            </a:pPr>
            <a:r>
              <a:rPr lang="en"/>
              <a:t>But if you're ahead of the wave, it pushes you forward</a:t>
            </a:r>
            <a:endParaRPr/>
          </a:p>
          <a:p>
            <a:pPr indent="-342900" lvl="1" marL="914400" rtl="0" algn="l">
              <a:spcBef>
                <a:spcPts val="0"/>
              </a:spcBef>
              <a:spcAft>
                <a:spcPts val="0"/>
              </a:spcAft>
              <a:buSzPts val="1800"/>
              <a:buChar char="○"/>
            </a:pPr>
            <a:r>
              <a:rPr lang="en"/>
              <a:t>If you're behind the wave, it may be best to wait for the next wave</a:t>
            </a:r>
            <a:endParaRPr/>
          </a:p>
          <a:p>
            <a:pPr indent="0" lvl="0" marL="0" rtl="0" algn="l">
              <a:spcBef>
                <a:spcPts val="60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4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Supporting Experiment for “Everyone Can Do Well”</a:t>
            </a:r>
            <a:endParaRPr/>
          </a:p>
        </p:txBody>
      </p:sp>
      <p:sp>
        <p:nvSpPr>
          <p:cNvPr id="411" name="Google Shape;411;p4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Sp16, Josh gave students the option to fail intentionally to retake the course.</a:t>
            </a:r>
            <a:endParaRPr/>
          </a:p>
          <a:p>
            <a:pPr indent="-342900" lvl="0" marL="457200" rtl="0" algn="l">
              <a:spcBef>
                <a:spcPts val="600"/>
              </a:spcBef>
              <a:spcAft>
                <a:spcPts val="0"/>
              </a:spcAft>
              <a:buSzPts val="1800"/>
              <a:buChar char="●"/>
            </a:pPr>
            <a:r>
              <a:rPr lang="en"/>
              <a:t>On average, students were 2.5 letter grades higher the second time, e.g. someone in the middle of the B range got an A the second time.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My interpretation: Even if you're not on pace for the grade you want, </a:t>
            </a:r>
            <a:r>
              <a:rPr b="1" lang="en"/>
              <a:t>you have learned a lot from this course</a:t>
            </a:r>
            <a:r>
              <a:rPr lang="en"/>
              <a:t>. That foundation will make it much easier to relearn the course material at a later time.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Bottom line: You’re capable of achieving more than you might think possible.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core "goal" of 61B</a:t>
            </a:r>
            <a:endParaRPr/>
          </a:p>
        </p:txBody>
      </p:sp>
      <p:sp>
        <p:nvSpPr>
          <p:cNvPr id="417" name="Google Shape;417;p4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Ultimately, 61A's main goal was to teach you </a:t>
            </a:r>
            <a:r>
              <a:rPr i="1" lang="en"/>
              <a:t>how</a:t>
            </a:r>
            <a:r>
              <a:rPr lang="en"/>
              <a:t> to program:</a:t>
            </a:r>
            <a:endParaRPr/>
          </a:p>
          <a:p>
            <a:pPr indent="-342900" lvl="0" marL="457200" rtl="0" algn="l">
              <a:spcBef>
                <a:spcPts val="600"/>
              </a:spcBef>
              <a:spcAft>
                <a:spcPts val="0"/>
              </a:spcAft>
              <a:buSzPts val="1800"/>
              <a:buChar char="●"/>
            </a:pPr>
            <a:r>
              <a:rPr lang="en"/>
              <a:t>Go from problem description to a code solution</a:t>
            </a:r>
            <a:endParaRPr/>
          </a:p>
          <a:p>
            <a:pPr indent="0" lvl="0" marL="0" rtl="0" algn="l">
              <a:spcBef>
                <a:spcPts val="600"/>
              </a:spcBef>
              <a:spcAft>
                <a:spcPts val="0"/>
              </a:spcAft>
              <a:buNone/>
            </a:pPr>
            <a:r>
              <a:rPr lang="en"/>
              <a:t>61B's goal is to teach you </a:t>
            </a:r>
            <a:r>
              <a:rPr i="1" lang="en"/>
              <a:t>why</a:t>
            </a:r>
            <a:r>
              <a:rPr lang="en"/>
              <a:t> you program:</a:t>
            </a:r>
            <a:endParaRPr/>
          </a:p>
          <a:p>
            <a:pPr indent="-342900" lvl="0" marL="457200" rtl="0" algn="l">
              <a:spcBef>
                <a:spcPts val="600"/>
              </a:spcBef>
              <a:spcAft>
                <a:spcPts val="0"/>
              </a:spcAft>
              <a:buSzPts val="1800"/>
              <a:buChar char="●"/>
            </a:pPr>
            <a:r>
              <a:rPr lang="en"/>
              <a:t>You have a problem, and you need to decide that code is the best way to solve that problem</a:t>
            </a:r>
            <a:endParaRPr/>
          </a:p>
          <a:p>
            <a:pPr indent="0" lvl="0" marL="0" rtl="0" algn="l">
              <a:spcBef>
                <a:spcPts val="600"/>
              </a:spcBef>
              <a:spcAft>
                <a:spcPts val="0"/>
              </a:spcAft>
              <a:buNone/>
            </a:pPr>
            <a:r>
              <a:rPr lang="en"/>
              <a:t>61C and 170 mainly focus on making the code you write </a:t>
            </a:r>
            <a:r>
              <a:rPr i="1" lang="en"/>
              <a:t>efficient</a:t>
            </a:r>
            <a:r>
              <a:rPr lang="en"/>
              <a:t> (170 by focusing on the theoretical algorithm design, and 61C by focusing on the reality of how a physical computer works).</a:t>
            </a:r>
            <a:endParaRPr/>
          </a:p>
          <a:p>
            <a:pPr indent="0" lvl="0" marL="0" rtl="0" algn="l">
              <a:spcBef>
                <a:spcPts val="600"/>
              </a:spcBef>
              <a:spcAft>
                <a:spcPts val="0"/>
              </a:spcAft>
              <a:buNone/>
            </a:pPr>
            <a:r>
              <a:rPr lang="en"/>
              <a:t>After that, most classes in the CS major focus on one tiny facet of CS (specialization)</a:t>
            </a:r>
            <a:endParaRPr/>
          </a:p>
          <a:p>
            <a:pPr indent="0" lvl="0" marL="0" rtl="0" algn="l">
              <a:spcBef>
                <a:spcPts val="600"/>
              </a:spcBef>
              <a:spcAft>
                <a:spcPts val="0"/>
              </a:spcAft>
              <a:buClr>
                <a:schemeClr val="dk1"/>
              </a:buClr>
              <a:buSzPts val="1100"/>
              <a:buFont typeface="Arial"/>
              <a:buNone/>
            </a:pPr>
            <a:r>
              <a:rPr lang="en"/>
              <a:t>At this point, you have everything you need to build whatever you want from code.</a:t>
            </a:r>
            <a:endParaRPr/>
          </a:p>
          <a:p>
            <a:pPr indent="0" lvl="0" marL="0" rtl="0" algn="l">
              <a:spcBef>
                <a:spcPts val="600"/>
              </a:spcBef>
              <a:spcAft>
                <a:spcPts val="0"/>
              </a:spcAft>
              <a:buNone/>
            </a:pPr>
            <a:r>
              <a:rPr b="1" lang="en"/>
              <a:t>The best way to learn CS from now is to make something by yourself, and to play with code.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to have fun with CS: Competitive Programming and CTFs (Links in Speaker Notes)</a:t>
            </a:r>
            <a:endParaRPr/>
          </a:p>
        </p:txBody>
      </p:sp>
      <p:pic>
        <p:nvPicPr>
          <p:cNvPr id="423" name="Google Shape;423;p45"/>
          <p:cNvPicPr preferRelativeResize="0"/>
          <p:nvPr/>
        </p:nvPicPr>
        <p:blipFill>
          <a:blip r:embed="rId3">
            <a:alphaModFix/>
          </a:blip>
          <a:stretch>
            <a:fillRect/>
          </a:stretch>
        </p:blipFill>
        <p:spPr>
          <a:xfrm>
            <a:off x="152400" y="546000"/>
            <a:ext cx="2143125" cy="790575"/>
          </a:xfrm>
          <a:prstGeom prst="rect">
            <a:avLst/>
          </a:prstGeom>
          <a:noFill/>
          <a:ln>
            <a:noFill/>
          </a:ln>
        </p:spPr>
      </p:pic>
      <p:pic>
        <p:nvPicPr>
          <p:cNvPr id="424" name="Google Shape;424;p45"/>
          <p:cNvPicPr preferRelativeResize="0"/>
          <p:nvPr/>
        </p:nvPicPr>
        <p:blipFill>
          <a:blip r:embed="rId4">
            <a:alphaModFix/>
          </a:blip>
          <a:stretch>
            <a:fillRect/>
          </a:stretch>
        </p:blipFill>
        <p:spPr>
          <a:xfrm>
            <a:off x="152400" y="1488975"/>
            <a:ext cx="2105025" cy="695325"/>
          </a:xfrm>
          <a:prstGeom prst="rect">
            <a:avLst/>
          </a:prstGeom>
          <a:noFill/>
          <a:ln>
            <a:noFill/>
          </a:ln>
        </p:spPr>
      </p:pic>
      <p:pic>
        <p:nvPicPr>
          <p:cNvPr id="425" name="Google Shape;425;p45"/>
          <p:cNvPicPr preferRelativeResize="0"/>
          <p:nvPr/>
        </p:nvPicPr>
        <p:blipFill>
          <a:blip r:embed="rId5">
            <a:alphaModFix/>
          </a:blip>
          <a:stretch>
            <a:fillRect/>
          </a:stretch>
        </p:blipFill>
        <p:spPr>
          <a:xfrm>
            <a:off x="2447925" y="546000"/>
            <a:ext cx="3362325" cy="581025"/>
          </a:xfrm>
          <a:prstGeom prst="rect">
            <a:avLst/>
          </a:prstGeom>
          <a:noFill/>
          <a:ln>
            <a:noFill/>
          </a:ln>
        </p:spPr>
      </p:pic>
      <p:pic>
        <p:nvPicPr>
          <p:cNvPr id="426" name="Google Shape;426;p45"/>
          <p:cNvPicPr preferRelativeResize="0"/>
          <p:nvPr/>
        </p:nvPicPr>
        <p:blipFill>
          <a:blip r:embed="rId6">
            <a:alphaModFix/>
          </a:blip>
          <a:stretch>
            <a:fillRect/>
          </a:stretch>
        </p:blipFill>
        <p:spPr>
          <a:xfrm>
            <a:off x="2447925" y="1279425"/>
            <a:ext cx="3533775" cy="876300"/>
          </a:xfrm>
          <a:prstGeom prst="rect">
            <a:avLst/>
          </a:prstGeom>
          <a:noFill/>
          <a:ln>
            <a:noFill/>
          </a:ln>
        </p:spPr>
      </p:pic>
      <p:pic>
        <p:nvPicPr>
          <p:cNvPr id="427" name="Google Shape;427;p45"/>
          <p:cNvPicPr preferRelativeResize="0"/>
          <p:nvPr/>
        </p:nvPicPr>
        <p:blipFill>
          <a:blip r:embed="rId7">
            <a:alphaModFix/>
          </a:blip>
          <a:stretch>
            <a:fillRect/>
          </a:stretch>
        </p:blipFill>
        <p:spPr>
          <a:xfrm>
            <a:off x="152400" y="2336700"/>
            <a:ext cx="4667250" cy="600075"/>
          </a:xfrm>
          <a:prstGeom prst="rect">
            <a:avLst/>
          </a:prstGeom>
          <a:noFill/>
          <a:ln>
            <a:noFill/>
          </a:ln>
        </p:spPr>
      </p:pic>
      <p:pic>
        <p:nvPicPr>
          <p:cNvPr id="428" name="Google Shape;428;p45"/>
          <p:cNvPicPr preferRelativeResize="0"/>
          <p:nvPr/>
        </p:nvPicPr>
        <p:blipFill>
          <a:blip r:embed="rId8">
            <a:alphaModFix/>
          </a:blip>
          <a:stretch>
            <a:fillRect/>
          </a:stretch>
        </p:blipFill>
        <p:spPr>
          <a:xfrm>
            <a:off x="152400" y="3089175"/>
            <a:ext cx="6562725" cy="1657350"/>
          </a:xfrm>
          <a:prstGeom prst="rect">
            <a:avLst/>
          </a:prstGeom>
          <a:noFill/>
          <a:ln>
            <a:noFill/>
          </a:ln>
        </p:spPr>
      </p:pic>
      <p:pic>
        <p:nvPicPr>
          <p:cNvPr id="429" name="Google Shape;429;p45"/>
          <p:cNvPicPr preferRelativeResize="0"/>
          <p:nvPr/>
        </p:nvPicPr>
        <p:blipFill>
          <a:blip r:embed="rId9">
            <a:alphaModFix/>
          </a:blip>
          <a:stretch>
            <a:fillRect/>
          </a:stretch>
        </p:blipFill>
        <p:spPr>
          <a:xfrm>
            <a:off x="6867525" y="546000"/>
            <a:ext cx="1819275" cy="5048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to have fun with CS: Programming Video Games</a:t>
            </a:r>
            <a:endParaRPr/>
          </a:p>
        </p:txBody>
      </p:sp>
      <p:pic>
        <p:nvPicPr>
          <p:cNvPr id="435" name="Google Shape;435;p46"/>
          <p:cNvPicPr preferRelativeResize="0"/>
          <p:nvPr/>
        </p:nvPicPr>
        <p:blipFill>
          <a:blip r:embed="rId3">
            <a:alphaModFix/>
          </a:blip>
          <a:stretch>
            <a:fillRect/>
          </a:stretch>
        </p:blipFill>
        <p:spPr>
          <a:xfrm>
            <a:off x="152400" y="546000"/>
            <a:ext cx="5810250" cy="1181100"/>
          </a:xfrm>
          <a:prstGeom prst="rect">
            <a:avLst/>
          </a:prstGeom>
          <a:noFill/>
          <a:ln>
            <a:noFill/>
          </a:ln>
        </p:spPr>
      </p:pic>
      <p:pic>
        <p:nvPicPr>
          <p:cNvPr id="436" name="Google Shape;436;p46"/>
          <p:cNvPicPr preferRelativeResize="0"/>
          <p:nvPr/>
        </p:nvPicPr>
        <p:blipFill>
          <a:blip r:embed="rId4">
            <a:alphaModFix/>
          </a:blip>
          <a:stretch>
            <a:fillRect/>
          </a:stretch>
        </p:blipFill>
        <p:spPr>
          <a:xfrm>
            <a:off x="3950250" y="1727100"/>
            <a:ext cx="4886625" cy="1303100"/>
          </a:xfrm>
          <a:prstGeom prst="rect">
            <a:avLst/>
          </a:prstGeom>
          <a:noFill/>
          <a:ln>
            <a:noFill/>
          </a:ln>
        </p:spPr>
      </p:pic>
      <p:pic>
        <p:nvPicPr>
          <p:cNvPr id="437" name="Google Shape;437;p46"/>
          <p:cNvPicPr preferRelativeResize="0"/>
          <p:nvPr/>
        </p:nvPicPr>
        <p:blipFill>
          <a:blip r:embed="rId5">
            <a:alphaModFix/>
          </a:blip>
          <a:stretch>
            <a:fillRect/>
          </a:stretch>
        </p:blipFill>
        <p:spPr>
          <a:xfrm>
            <a:off x="152400" y="3182600"/>
            <a:ext cx="3733800" cy="9620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to have fun with CS: Hackathons (https://www.calhacks.io/)</a:t>
            </a:r>
            <a:endParaRPr/>
          </a:p>
        </p:txBody>
      </p:sp>
      <p:pic>
        <p:nvPicPr>
          <p:cNvPr id="443" name="Google Shape;443;p47"/>
          <p:cNvPicPr preferRelativeResize="0"/>
          <p:nvPr/>
        </p:nvPicPr>
        <p:blipFill>
          <a:blip r:embed="rId3">
            <a:alphaModFix/>
          </a:blip>
          <a:stretch>
            <a:fillRect/>
          </a:stretch>
        </p:blipFill>
        <p:spPr>
          <a:xfrm>
            <a:off x="152400" y="546000"/>
            <a:ext cx="8175719" cy="44451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Your Life</a:t>
            </a:r>
            <a:endParaRPr/>
          </a:p>
        </p:txBody>
      </p:sp>
      <p:sp>
        <p:nvSpPr>
          <p:cNvPr id="449" name="Google Shape;449;p4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Two long-term questions:</a:t>
            </a:r>
            <a:endParaRPr/>
          </a:p>
          <a:p>
            <a:pPr indent="-342900" lvl="0" marL="457200" rtl="0" algn="l">
              <a:spcBef>
                <a:spcPts val="600"/>
              </a:spcBef>
              <a:spcAft>
                <a:spcPts val="0"/>
              </a:spcAft>
              <a:buSzPts val="1800"/>
              <a:buChar char="●"/>
            </a:pPr>
            <a:r>
              <a:rPr lang="en"/>
              <a:t>What am I capable of achieving?</a:t>
            </a:r>
            <a:endParaRPr/>
          </a:p>
          <a:p>
            <a:pPr indent="-342900" lvl="1" marL="914400" rtl="0" algn="l">
              <a:spcBef>
                <a:spcPts val="600"/>
              </a:spcBef>
              <a:spcAft>
                <a:spcPts val="0"/>
              </a:spcAft>
              <a:buSzPts val="1800"/>
              <a:buChar char="○"/>
            </a:pPr>
            <a:r>
              <a:rPr lang="en"/>
              <a:t>Almost anything given time and motivation</a:t>
            </a:r>
            <a:endParaRPr/>
          </a:p>
          <a:p>
            <a:pPr indent="-342900" lvl="0" marL="457200" rtl="0" algn="l">
              <a:spcBef>
                <a:spcPts val="600"/>
              </a:spcBef>
              <a:spcAft>
                <a:spcPts val="0"/>
              </a:spcAft>
              <a:buSzPts val="1800"/>
              <a:buChar char="●"/>
            </a:pPr>
            <a:r>
              <a:rPr lang="en"/>
              <a:t>What should I do with my life?</a:t>
            </a:r>
            <a:endParaRPr/>
          </a:p>
          <a:p>
            <a:pPr indent="-342900" lvl="1" marL="914400" rtl="0" algn="l">
              <a:spcBef>
                <a:spcPts val="600"/>
              </a:spcBef>
              <a:spcAft>
                <a:spcPts val="0"/>
              </a:spcAft>
              <a:buSzPts val="1800"/>
              <a:buChar char="○"/>
            </a:pPr>
            <a:r>
              <a:rPr lang="en"/>
              <a:t>You will be in high demand by everyone.</a:t>
            </a:r>
            <a:endParaRPr/>
          </a:p>
          <a:p>
            <a:pPr indent="-342900" lvl="1" marL="914400" rtl="0" algn="l">
              <a:spcBef>
                <a:spcPts val="600"/>
              </a:spcBef>
              <a:spcAft>
                <a:spcPts val="0"/>
              </a:spcAft>
              <a:buSzPts val="1800"/>
              <a:buChar char="○"/>
            </a:pPr>
            <a:r>
              <a:rPr lang="en"/>
              <a:t>Your skills will enable you to affect the world, possibly profoundly.</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Technology will continually to radically reshape the way we live our lives.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pic>
        <p:nvPicPr>
          <p:cNvPr descr="Autonomous Intersection Management (AIM) is a new intersection control protocol that exploits autonomous vehicles' extraordinary capabilities of control, sensing, and communication to make traffic management at intersections much more efficient than traditional control mechanisms such as traffic signals and stop signs. This video illustrates the principle behind this new traffic control protocol and demonstrates its potential using Marvin, the autonomous vehicle developed at the University of Texas at Austin." id="454" name="Google Shape;454;p49" title="Autonomous Intersection Management: Traffic Control for the Future">
            <a:hlinkClick r:id="rId3"/>
          </p:cNvPr>
          <p:cNvPicPr preferRelativeResize="0"/>
          <p:nvPr/>
        </p:nvPicPr>
        <p:blipFill>
          <a:blip r:embed="rId4">
            <a:alphaModFix/>
          </a:blip>
          <a:stretch>
            <a:fillRect/>
          </a:stretch>
        </p:blipFill>
        <p:spPr>
          <a:xfrm>
            <a:off x="1107625" y="1608925"/>
            <a:ext cx="4572000" cy="3429000"/>
          </a:xfrm>
          <a:prstGeom prst="rect">
            <a:avLst/>
          </a:prstGeom>
          <a:noFill/>
          <a:ln>
            <a:noFill/>
          </a:ln>
        </p:spPr>
      </p:pic>
      <p:sp>
        <p:nvSpPr>
          <p:cNvPr id="455" name="Google Shape;455;p4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Choices (Yup)</a:t>
            </a:r>
            <a:endParaRPr/>
          </a:p>
        </p:txBody>
      </p:sp>
      <p:sp>
        <p:nvSpPr>
          <p:cNvPr id="456" name="Google Shape;456;p4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How you use your skills is up to you.</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pic>
        <p:nvPicPr>
          <p:cNvPr id="461" name="Google Shape;461;p50"/>
          <p:cNvPicPr preferRelativeResize="0"/>
          <p:nvPr/>
        </p:nvPicPr>
        <p:blipFill>
          <a:blip r:embed="rId3">
            <a:alphaModFix/>
          </a:blip>
          <a:stretch>
            <a:fillRect/>
          </a:stretch>
        </p:blipFill>
        <p:spPr>
          <a:xfrm>
            <a:off x="1069125" y="1565350"/>
            <a:ext cx="4704425" cy="3530725"/>
          </a:xfrm>
          <a:prstGeom prst="rect">
            <a:avLst/>
          </a:prstGeom>
          <a:noFill/>
          <a:ln>
            <a:noFill/>
          </a:ln>
        </p:spPr>
      </p:pic>
      <p:sp>
        <p:nvSpPr>
          <p:cNvPr id="462" name="Google Shape;462;p5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Choices (Yup)</a:t>
            </a:r>
            <a:endParaRPr/>
          </a:p>
        </p:txBody>
      </p:sp>
      <p:sp>
        <p:nvSpPr>
          <p:cNvPr id="463" name="Google Shape;463;p5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How you use your skills is up to you.</a:t>
            </a:r>
            <a:endParaRPr/>
          </a:p>
        </p:txBody>
      </p:sp>
      <p:pic>
        <p:nvPicPr>
          <p:cNvPr id="464" name="Google Shape;464;p50"/>
          <p:cNvPicPr preferRelativeResize="0"/>
          <p:nvPr/>
        </p:nvPicPr>
        <p:blipFill>
          <a:blip r:embed="rId4">
            <a:alphaModFix/>
          </a:blip>
          <a:stretch>
            <a:fillRect/>
          </a:stretch>
        </p:blipFill>
        <p:spPr>
          <a:xfrm>
            <a:off x="164324" y="1169725"/>
            <a:ext cx="2517148" cy="2091626"/>
          </a:xfrm>
          <a:prstGeom prst="rect">
            <a:avLst/>
          </a:prstGeom>
          <a:noFill/>
          <a:ln>
            <a:noFill/>
          </a:ln>
        </p:spPr>
      </p:pic>
      <p:pic>
        <p:nvPicPr>
          <p:cNvPr id="465" name="Google Shape;465;p50"/>
          <p:cNvPicPr preferRelativeResize="0"/>
          <p:nvPr/>
        </p:nvPicPr>
        <p:blipFill>
          <a:blip r:embed="rId5">
            <a:alphaModFix/>
          </a:blip>
          <a:stretch>
            <a:fillRect/>
          </a:stretch>
        </p:blipFill>
        <p:spPr>
          <a:xfrm>
            <a:off x="4067800" y="2509013"/>
            <a:ext cx="2366925" cy="1487775"/>
          </a:xfrm>
          <a:prstGeom prst="rect">
            <a:avLst/>
          </a:prstGeom>
          <a:noFill/>
          <a:ln>
            <a:noFill/>
          </a:ln>
        </p:spPr>
      </p:pic>
      <p:pic>
        <p:nvPicPr>
          <p:cNvPr id="466" name="Google Shape;466;p50"/>
          <p:cNvPicPr preferRelativeResize="0"/>
          <p:nvPr/>
        </p:nvPicPr>
        <p:blipFill>
          <a:blip r:embed="rId6">
            <a:alphaModFix/>
          </a:blip>
          <a:stretch>
            <a:fillRect/>
          </a:stretch>
        </p:blipFill>
        <p:spPr>
          <a:xfrm>
            <a:off x="6190701" y="128075"/>
            <a:ext cx="2197199" cy="4879324"/>
          </a:xfrm>
          <a:prstGeom prst="rect">
            <a:avLst/>
          </a:prstGeom>
          <a:noFill/>
          <a:ln>
            <a:noFill/>
          </a:ln>
        </p:spPr>
      </p:pic>
      <p:pic>
        <p:nvPicPr>
          <p:cNvPr id="467" name="Google Shape;467;p50"/>
          <p:cNvPicPr preferRelativeResize="0"/>
          <p:nvPr/>
        </p:nvPicPr>
        <p:blipFill>
          <a:blip r:embed="rId7">
            <a:alphaModFix/>
          </a:blip>
          <a:stretch>
            <a:fillRect/>
          </a:stretch>
        </p:blipFill>
        <p:spPr>
          <a:xfrm>
            <a:off x="3086499" y="1199225"/>
            <a:ext cx="2756823" cy="20326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
                                        </p:tgtEl>
                                        <p:attrNameLst>
                                          <p:attrName>style.visibility</p:attrName>
                                        </p:attrNameLst>
                                      </p:cBhvr>
                                      <p:to>
                                        <p:strVal val="visible"/>
                                      </p:to>
                                    </p:set>
                                    <p:animEffect filter="fade" transition="in">
                                      <p:cBhvr>
                                        <p:cTn dur="1"/>
                                        <p:tgtEl>
                                          <p:spTgt spid="4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1"/>
                                        <p:tgtEl>
                                          <p:spTgt spid="4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1"/>
                                        <p:tgtEl>
                                          <p:spTgt spid="4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Your Powers for Good</a:t>
            </a:r>
            <a:endParaRPr/>
          </a:p>
        </p:txBody>
      </p:sp>
      <p:sp>
        <p:nvSpPr>
          <p:cNvPr id="473" name="Google Shape;473;p5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marR="0" rtl="0" algn="l">
              <a:lnSpc>
                <a:spcPct val="100000"/>
              </a:lnSpc>
              <a:spcBef>
                <a:spcPts val="600"/>
              </a:spcBef>
              <a:spcAft>
                <a:spcPts val="0"/>
              </a:spcAft>
              <a:buNone/>
            </a:pPr>
            <a:r>
              <a:rPr lang="en"/>
              <a:t>My request: Use your superpowers in a way that is a net positive for the lives of your fellow humans.</a:t>
            </a:r>
            <a:endParaRPr/>
          </a:p>
          <a:p>
            <a:pPr indent="-342900" lvl="0" marL="457200" marR="0" rtl="0" algn="l">
              <a:lnSpc>
                <a:spcPct val="100000"/>
              </a:lnSpc>
              <a:spcBef>
                <a:spcPts val="600"/>
              </a:spcBef>
              <a:spcAft>
                <a:spcPts val="0"/>
              </a:spcAft>
              <a:buSzPts val="1800"/>
              <a:buChar char="●"/>
            </a:pPr>
            <a:r>
              <a:rPr lang="en"/>
              <a:t>I’m not saying that you must work for relatively low wages to uplift the downtrodden (though that’d be great, of course).</a:t>
            </a:r>
            <a:endParaRPr/>
          </a:p>
          <a:p>
            <a:pPr indent="-342900" lvl="0" marL="457200" marR="0" rtl="0" algn="l">
              <a:lnSpc>
                <a:spcPct val="100000"/>
              </a:lnSpc>
              <a:spcBef>
                <a:spcPts val="0"/>
              </a:spcBef>
              <a:spcAft>
                <a:spcPts val="0"/>
              </a:spcAft>
              <a:buSzPts val="1800"/>
              <a:buChar char="●"/>
            </a:pPr>
            <a:r>
              <a:rPr lang="en"/>
              <a:t>…. but keep in mind that your work will profoundly affect the world.</a:t>
            </a:r>
            <a:endParaRPr/>
          </a:p>
          <a:p>
            <a:pPr indent="0" lvl="0" marL="0" marR="0" rtl="0" algn="l">
              <a:lnSpc>
                <a:spcPct val="100000"/>
              </a:lnSpc>
              <a:spcBef>
                <a:spcPts val="600"/>
              </a:spcBef>
              <a:spcAft>
                <a:spcPts val="0"/>
              </a:spcAft>
              <a:buNone/>
            </a:pPr>
            <a:r>
              <a:t/>
            </a:r>
            <a:endParaRPr/>
          </a:p>
          <a:p>
            <a:pPr indent="0" lvl="0" marL="0" marR="0" rtl="0" algn="l">
              <a:lnSpc>
                <a:spcPct val="100000"/>
              </a:lnSpc>
              <a:spcBef>
                <a:spcPts val="600"/>
              </a:spcBef>
              <a:spcAft>
                <a:spcPts val="0"/>
              </a:spcAft>
              <a:buNone/>
            </a:pPr>
            <a:r>
              <a:t/>
            </a:r>
            <a:endParaRPr/>
          </a:p>
          <a:p>
            <a:pPr indent="0" lvl="0" marL="0" marR="0" rtl="0" algn="l">
              <a:lnSpc>
                <a:spcPct val="100000"/>
              </a:lnSpc>
              <a:spcBef>
                <a:spcPts val="600"/>
              </a:spcBef>
              <a:spcAft>
                <a:spcPts val="0"/>
              </a:spcAft>
              <a:buNone/>
            </a:pPr>
            <a:r>
              <a:rPr lang="en"/>
              <a:t>(Wanna talk about this stuff more? Take CS195!)</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2"/>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40, CS61B, Spring 2023</a:t>
            </a:r>
            <a:endParaRPr/>
          </a:p>
        </p:txBody>
      </p:sp>
      <p:sp>
        <p:nvSpPr>
          <p:cNvPr id="479" name="Google Shape;479;p52"/>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999999"/>
                </a:solidFill>
              </a:rPr>
              <a:t>61B in 12 Minutes or Less</a:t>
            </a:r>
            <a:endParaRPr>
              <a:solidFill>
                <a:srgbClr val="999999"/>
              </a:solidFill>
            </a:endParaRPr>
          </a:p>
          <a:p>
            <a:pPr indent="0" lvl="0" marL="0" rtl="0" algn="l">
              <a:spcBef>
                <a:spcPts val="600"/>
              </a:spcBef>
              <a:spcAft>
                <a:spcPts val="0"/>
              </a:spcAft>
              <a:buNone/>
            </a:pPr>
            <a:r>
              <a:rPr lang="en">
                <a:solidFill>
                  <a:srgbClr val="999999"/>
                </a:solidFill>
              </a:rPr>
              <a:t>Your Future</a:t>
            </a:r>
            <a:endParaRPr>
              <a:solidFill>
                <a:srgbClr val="999999"/>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AMA</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999999"/>
                </a:solidFill>
              </a:rPr>
              <a:t>Course Reflections</a:t>
            </a:r>
            <a:endParaRPr>
              <a:solidFill>
                <a:srgbClr val="999999"/>
              </a:solidFill>
            </a:endParaRPr>
          </a:p>
        </p:txBody>
      </p:sp>
      <p:sp>
        <p:nvSpPr>
          <p:cNvPr id="480" name="Google Shape;480;p52"/>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AMA</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484" name="Shape 484"/>
        <p:cNvGrpSpPr/>
        <p:nvPr/>
      </p:nvGrpSpPr>
      <p:grpSpPr>
        <a:xfrm>
          <a:off x="0" y="0"/>
          <a:ext cx="0" cy="0"/>
          <a:chOff x="0" y="0"/>
          <a:chExt cx="0" cy="0"/>
        </a:xfrm>
      </p:grpSpPr>
      <p:sp>
        <p:nvSpPr>
          <p:cNvPr id="485" name="Google Shape;485;p5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Questions About Anything for Peyrin and Me?</a:t>
            </a:r>
            <a:endParaRPr/>
          </a:p>
        </p:txBody>
      </p:sp>
      <p:sp>
        <p:nvSpPr>
          <p:cNvPr id="486" name="Google Shape;486;p5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4"/>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40, CS61B, Spring 2023</a:t>
            </a:r>
            <a:endParaRPr/>
          </a:p>
        </p:txBody>
      </p:sp>
      <p:sp>
        <p:nvSpPr>
          <p:cNvPr id="492" name="Google Shape;492;p54"/>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999999"/>
                </a:solidFill>
              </a:rPr>
              <a:t>61B in 12 Minutes or Less</a:t>
            </a:r>
            <a:endParaRPr>
              <a:solidFill>
                <a:srgbClr val="999999"/>
              </a:solidFill>
            </a:endParaRPr>
          </a:p>
          <a:p>
            <a:pPr indent="0" lvl="0" marL="0" rtl="0" algn="l">
              <a:spcBef>
                <a:spcPts val="600"/>
              </a:spcBef>
              <a:spcAft>
                <a:spcPts val="0"/>
              </a:spcAft>
              <a:buNone/>
            </a:pPr>
            <a:r>
              <a:rPr lang="en">
                <a:solidFill>
                  <a:srgbClr val="999999"/>
                </a:solidFill>
              </a:rPr>
              <a:t>Your Future</a:t>
            </a:r>
            <a:endParaRPr>
              <a:solidFill>
                <a:srgbClr val="999999"/>
              </a:solidFill>
            </a:endParaRPr>
          </a:p>
          <a:p>
            <a:pPr indent="0" lvl="0" marL="0" rtl="0" algn="l">
              <a:spcBef>
                <a:spcPts val="600"/>
              </a:spcBef>
              <a:spcAft>
                <a:spcPts val="0"/>
              </a:spcAft>
              <a:buNone/>
            </a:pPr>
            <a:r>
              <a:rPr lang="en">
                <a:solidFill>
                  <a:srgbClr val="999999"/>
                </a:solidFill>
              </a:rPr>
              <a:t>AMA</a:t>
            </a:r>
            <a:endParaRPr>
              <a:solidFill>
                <a:srgbClr val="999999"/>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Course Reflections</a:t>
            </a:r>
            <a:endParaRPr b="1">
              <a:solidFill>
                <a:schemeClr val="accent3"/>
              </a:solidFill>
              <a:latin typeface="Roboto"/>
              <a:ea typeface="Roboto"/>
              <a:cs typeface="Roboto"/>
              <a:sym typeface="Roboto"/>
            </a:endParaRPr>
          </a:p>
        </p:txBody>
      </p:sp>
      <p:sp>
        <p:nvSpPr>
          <p:cNvPr id="493" name="Google Shape;493;p54"/>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Course Reflections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Feedback Request</a:t>
            </a:r>
            <a:endParaRPr/>
          </a:p>
        </p:txBody>
      </p:sp>
      <p:sp>
        <p:nvSpPr>
          <p:cNvPr id="499" name="Google Shape;499;p5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marR="0" rtl="0" algn="l">
              <a:lnSpc>
                <a:spcPct val="100000"/>
              </a:lnSpc>
              <a:spcBef>
                <a:spcPts val="480"/>
              </a:spcBef>
              <a:spcAft>
                <a:spcPts val="0"/>
              </a:spcAft>
              <a:buNone/>
            </a:pPr>
            <a:r>
              <a:rPr lang="en"/>
              <a:t>We read all of your feedback, especially on the end of course evaluations.</a:t>
            </a:r>
            <a:endParaRPr/>
          </a:p>
          <a:p>
            <a:pPr indent="-342900" lvl="0" marL="457200" marR="0" rtl="0" algn="l">
              <a:lnSpc>
                <a:spcPct val="100000"/>
              </a:lnSpc>
              <a:spcBef>
                <a:spcPts val="480"/>
              </a:spcBef>
              <a:spcAft>
                <a:spcPts val="0"/>
              </a:spcAft>
              <a:buSzPts val="1800"/>
              <a:buChar char="●"/>
            </a:pPr>
            <a:r>
              <a:rPr lang="en"/>
              <a:t>There is an official form from the university, and an internal survey for 61B that we’ll send out ourselves.</a:t>
            </a:r>
            <a:endParaRPr/>
          </a:p>
          <a:p>
            <a:pPr indent="0" lvl="0" marL="0" marR="0" rtl="0" algn="l">
              <a:lnSpc>
                <a:spcPct val="100000"/>
              </a:lnSpc>
              <a:spcBef>
                <a:spcPts val="480"/>
              </a:spcBef>
              <a:spcAft>
                <a:spcPts val="0"/>
              </a:spcAft>
              <a:buNone/>
            </a:pPr>
            <a:r>
              <a:t/>
            </a:r>
            <a:endParaRPr/>
          </a:p>
          <a:p>
            <a:pPr indent="0" lvl="0" marL="0" marR="0" rtl="0" algn="l">
              <a:lnSpc>
                <a:spcPct val="100000"/>
              </a:lnSpc>
              <a:spcBef>
                <a:spcPts val="480"/>
              </a:spcBef>
              <a:spcAft>
                <a:spcPts val="0"/>
              </a:spcAft>
              <a:buNone/>
            </a:pPr>
            <a:r>
              <a:rPr lang="en"/>
              <a:t>Course evaluations factor heavily into lecturer reviews, and let us know what bits of the class we can improve.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1"/>
                                        <p:tgtEl>
                                          <p:spTgt spid="4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0" st="0"/>
                                            </p:txEl>
                                          </p:spTgt>
                                        </p:tgtEl>
                                        <p:attrNameLst>
                                          <p:attrName>style.visibility</p:attrName>
                                        </p:attrNameLst>
                                      </p:cBhvr>
                                      <p:to>
                                        <p:strVal val="visible"/>
                                      </p:to>
                                    </p:set>
                                    <p:animEffect filter="fade" transition="in">
                                      <p:cBhvr>
                                        <p:cTn dur="1"/>
                                        <p:tgtEl>
                                          <p:spTgt spid="4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1" st="1"/>
                                            </p:txEl>
                                          </p:spTgt>
                                        </p:tgtEl>
                                        <p:attrNameLst>
                                          <p:attrName>style.visibility</p:attrName>
                                        </p:attrNameLst>
                                      </p:cBhvr>
                                      <p:to>
                                        <p:strVal val="visible"/>
                                      </p:to>
                                    </p:set>
                                    <p:animEffect filter="fade" transition="in">
                                      <p:cBhvr>
                                        <p:cTn dur="1"/>
                                        <p:tgtEl>
                                          <p:spTgt spid="4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2" st="2"/>
                                            </p:txEl>
                                          </p:spTgt>
                                        </p:tgtEl>
                                        <p:attrNameLst>
                                          <p:attrName>style.visibility</p:attrName>
                                        </p:attrNameLst>
                                      </p:cBhvr>
                                      <p:to>
                                        <p:strVal val="visible"/>
                                      </p:to>
                                    </p:set>
                                    <p:animEffect filter="fade" transition="in">
                                      <p:cBhvr>
                                        <p:cTn dur="1"/>
                                        <p:tgtEl>
                                          <p:spTgt spid="4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xEl>
                                              <p:pRg end="3" st="3"/>
                                            </p:txEl>
                                          </p:spTgt>
                                        </p:tgtEl>
                                        <p:attrNameLst>
                                          <p:attrName>style.visibility</p:attrName>
                                        </p:attrNameLst>
                                      </p:cBhvr>
                                      <p:to>
                                        <p:strVal val="visible"/>
                                      </p:to>
                                    </p:set>
                                    <p:animEffect filter="fade" transition="in">
                                      <p:cBhvr>
                                        <p:cTn dur="1"/>
                                        <p:tgtEl>
                                          <p:spTgt spid="49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5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Academic interning: Learn more, help others, get units.</a:t>
            </a:r>
            <a:endParaRPr/>
          </a:p>
          <a:p>
            <a:pPr indent="-342900" lvl="0" marL="457200" rtl="0" algn="l">
              <a:spcBef>
                <a:spcPts val="0"/>
              </a:spcBef>
              <a:spcAft>
                <a:spcPts val="0"/>
              </a:spcAft>
              <a:buSzPts val="1800"/>
              <a:buChar char="●"/>
            </a:pPr>
            <a:r>
              <a:rPr lang="en"/>
              <a:t>Watch out for an announcement on the Fall 2023 61B Ed.</a:t>
            </a:r>
            <a:endParaRPr/>
          </a:p>
        </p:txBody>
      </p:sp>
      <p:sp>
        <p:nvSpPr>
          <p:cNvPr id="505" name="Google Shape;505;p5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61B Would Love to Have You Next Fall</a:t>
            </a:r>
            <a:endParaRPr/>
          </a:p>
        </p:txBody>
      </p:sp>
      <p:pic>
        <p:nvPicPr>
          <p:cNvPr id="506" name="Google Shape;506;p56"/>
          <p:cNvPicPr preferRelativeResize="0"/>
          <p:nvPr/>
        </p:nvPicPr>
        <p:blipFill rotWithShape="1">
          <a:blip r:embed="rId3">
            <a:alphaModFix/>
          </a:blip>
          <a:srcRect b="0" l="59" r="69" t="0"/>
          <a:stretch/>
        </p:blipFill>
        <p:spPr>
          <a:xfrm>
            <a:off x="1257076" y="1409000"/>
            <a:ext cx="6629852" cy="36174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Special Thanks to Our Academic Interns (who keep the wheels on the bus)</a:t>
            </a:r>
            <a:endParaRPr/>
          </a:p>
        </p:txBody>
      </p:sp>
      <p:sp>
        <p:nvSpPr>
          <p:cNvPr id="512" name="Google Shape;512;p5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5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Special Thanks to the Staff (who keep the wheels on the bus)</a:t>
            </a:r>
            <a:endParaRPr/>
          </a:p>
        </p:txBody>
      </p:sp>
      <p:sp>
        <p:nvSpPr>
          <p:cNvPr id="518" name="Google Shape;518;p5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5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Closing Thoughts (Peyrin)</a:t>
            </a:r>
            <a:endParaRPr/>
          </a:p>
        </p:txBody>
      </p:sp>
      <p:sp>
        <p:nvSpPr>
          <p:cNvPr id="524" name="Google Shape;524;p5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4">
                                            <p:txEl>
                                              <p:pRg end="0" st="0"/>
                                            </p:txEl>
                                          </p:spTgt>
                                        </p:tgtEl>
                                        <p:attrNameLst>
                                          <p:attrName>style.visibility</p:attrName>
                                        </p:attrNameLst>
                                      </p:cBhvr>
                                      <p:to>
                                        <p:strVal val="visible"/>
                                      </p:to>
                                    </p:set>
                                    <p:animEffect filter="fade" transition="in">
                                      <p:cBhvr>
                                        <p:cTn dur="1"/>
                                        <p:tgtEl>
                                          <p:spTgt spid="52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Closing Thoughts</a:t>
            </a:r>
            <a:endParaRPr/>
          </a:p>
        </p:txBody>
      </p:sp>
      <p:sp>
        <p:nvSpPr>
          <p:cNvPr id="530" name="Google Shape;530;p6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It is a terrifying and awesome responsibility to decide how you should spend hundreds of your precious hours here at Berkeley.</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Don't worry about how others are doing, or focus on perfectly optimizing your college experience. Chances are, the choices you make now will lead to a good outcome. All you need to do is to be better than the person you were a year ago.</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Personally, I teach because I believe that I am doing the most good for the world in this position. Please, prove me right.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xEl>
                                              <p:pRg end="0" st="0"/>
                                            </p:txEl>
                                          </p:spTgt>
                                        </p:tgtEl>
                                        <p:attrNameLst>
                                          <p:attrName>style.visibility</p:attrName>
                                        </p:attrNameLst>
                                      </p:cBhvr>
                                      <p:to>
                                        <p:strVal val="visible"/>
                                      </p:to>
                                    </p:set>
                                    <p:animEffect filter="fade" transition="in">
                                      <p:cBhvr>
                                        <p:cTn dur="1"/>
                                        <p:tgtEl>
                                          <p:spTgt spid="5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xEl>
                                              <p:pRg end="1" st="1"/>
                                            </p:txEl>
                                          </p:spTgt>
                                        </p:tgtEl>
                                        <p:attrNameLst>
                                          <p:attrName>style.visibility</p:attrName>
                                        </p:attrNameLst>
                                      </p:cBhvr>
                                      <p:to>
                                        <p:strVal val="visible"/>
                                      </p:to>
                                    </p:set>
                                    <p:animEffect filter="fade" transition="in">
                                      <p:cBhvr>
                                        <p:cTn dur="1"/>
                                        <p:tgtEl>
                                          <p:spTgt spid="5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xEl>
                                              <p:pRg end="2" st="2"/>
                                            </p:txEl>
                                          </p:spTgt>
                                        </p:tgtEl>
                                        <p:attrNameLst>
                                          <p:attrName>style.visibility</p:attrName>
                                        </p:attrNameLst>
                                      </p:cBhvr>
                                      <p:to>
                                        <p:strVal val="visible"/>
                                      </p:to>
                                    </p:set>
                                    <p:animEffect filter="fade" transition="in">
                                      <p:cBhvr>
                                        <p:cTn dur="1"/>
                                        <p:tgtEl>
                                          <p:spTgt spid="5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xEl>
                                              <p:pRg end="3" st="3"/>
                                            </p:txEl>
                                          </p:spTgt>
                                        </p:tgtEl>
                                        <p:attrNameLst>
                                          <p:attrName>style.visibility</p:attrName>
                                        </p:attrNameLst>
                                      </p:cBhvr>
                                      <p:to>
                                        <p:strVal val="visible"/>
                                      </p:to>
                                    </p:set>
                                    <p:animEffect filter="fade" transition="in">
                                      <p:cBhvr>
                                        <p:cTn dur="1"/>
                                        <p:tgtEl>
                                          <p:spTgt spid="5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xEl>
                                              <p:pRg end="4" st="4"/>
                                            </p:txEl>
                                          </p:spTgt>
                                        </p:tgtEl>
                                        <p:attrNameLst>
                                          <p:attrName>style.visibility</p:attrName>
                                        </p:attrNameLst>
                                      </p:cBhvr>
                                      <p:to>
                                        <p:strVal val="visible"/>
                                      </p:to>
                                    </p:set>
                                    <p:animEffect filter="fade" transition="in">
                                      <p:cBhvr>
                                        <p:cTn dur="1"/>
                                        <p:tgtEl>
                                          <p:spTgt spid="53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