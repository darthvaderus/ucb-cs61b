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Lst>
  <p:sldSz cy="5143500" cx="9144000"/>
  <p:notesSz cx="6858000" cy="9144000"/>
  <p:embeddedFontLst>
    <p:embeddedFont>
      <p:font typeface="Roboto Medium"/>
      <p:regular r:id="rId69"/>
      <p:bold r:id="rId70"/>
      <p:italic r:id="rId71"/>
      <p:boldItalic r:id="rId72"/>
    </p:embeddedFont>
    <p:embeddedFont>
      <p:font typeface="Roboto"/>
      <p:regular r:id="rId73"/>
      <p:bold r:id="rId74"/>
      <p:italic r:id="rId75"/>
      <p:boldItalic r:id="rId76"/>
    </p:embeddedFont>
    <p:embeddedFont>
      <p:font typeface="Roboto Light"/>
      <p:regular r:id="rId77"/>
      <p:bold r:id="rId78"/>
      <p:italic r:id="rId79"/>
      <p:boldItalic r:id="rId80"/>
    </p:embeddedFont>
    <p:embeddedFont>
      <p:font typeface="JetBrains Mono"/>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1731CB-9833-4008-807A-F30776FD67EC}">
  <a:tblStyle styleId="{771731CB-9833-4008-807A-F30776FD67EC}"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JetBrainsMono-boldItalic.fntdata"/><Relationship Id="rId83" Type="http://schemas.openxmlformats.org/officeDocument/2006/relationships/font" Target="fonts/JetBrainsMono-italic.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RobotoLight-boldItalic.fntdata"/><Relationship Id="rId82" Type="http://schemas.openxmlformats.org/officeDocument/2006/relationships/font" Target="fonts/JetBrainsMono-bold.fntdata"/><Relationship Id="rId81" Type="http://schemas.openxmlformats.org/officeDocument/2006/relationships/font" Target="fonts/JetBrainsMon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regular.fntdata"/><Relationship Id="rId72" Type="http://schemas.openxmlformats.org/officeDocument/2006/relationships/font" Target="fonts/RobotoMedium-boldItalic.fntdata"/><Relationship Id="rId31" Type="http://schemas.openxmlformats.org/officeDocument/2006/relationships/slide" Target="slides/slide26.xml"/><Relationship Id="rId75" Type="http://schemas.openxmlformats.org/officeDocument/2006/relationships/font" Target="fonts/Roboto-italic.fntdata"/><Relationship Id="rId30" Type="http://schemas.openxmlformats.org/officeDocument/2006/relationships/slide" Target="slides/slide25.xml"/><Relationship Id="rId74" Type="http://schemas.openxmlformats.org/officeDocument/2006/relationships/font" Target="fonts/Roboto-bold.fntdata"/><Relationship Id="rId33" Type="http://schemas.openxmlformats.org/officeDocument/2006/relationships/slide" Target="slides/slide28.xml"/><Relationship Id="rId77" Type="http://schemas.openxmlformats.org/officeDocument/2006/relationships/font" Target="fonts/RobotoLight-regular.fntdata"/><Relationship Id="rId32" Type="http://schemas.openxmlformats.org/officeDocument/2006/relationships/slide" Target="slides/slide27.xml"/><Relationship Id="rId76" Type="http://schemas.openxmlformats.org/officeDocument/2006/relationships/font" Target="fonts/Roboto-boldItalic.fntdata"/><Relationship Id="rId35" Type="http://schemas.openxmlformats.org/officeDocument/2006/relationships/slide" Target="slides/slide30.xml"/><Relationship Id="rId79" Type="http://schemas.openxmlformats.org/officeDocument/2006/relationships/font" Target="fonts/RobotoLight-italic.fntdata"/><Relationship Id="rId34" Type="http://schemas.openxmlformats.org/officeDocument/2006/relationships/slide" Target="slides/slide29.xml"/><Relationship Id="rId78" Type="http://schemas.openxmlformats.org/officeDocument/2006/relationships/font" Target="fonts/RobotoLight-bold.fntdata"/><Relationship Id="rId71" Type="http://schemas.openxmlformats.org/officeDocument/2006/relationships/font" Target="fonts/RobotoMedium-italic.fntdata"/><Relationship Id="rId70" Type="http://schemas.openxmlformats.org/officeDocument/2006/relationships/font" Target="fonts/RobotoMedium-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Medium-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f6a0dff07b_0_1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f6a0dff07b_0_1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165b69ef3f_0_53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165b69ef3f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165b69ef3f_0_16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165b69ef3f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165b69ef3f_0_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165b69ef3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15bc9243b8_0_1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15bc9243b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15e42cee31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15e42cee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15e42cee31_0_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15e42cee3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15e42cee31_0_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15e42cee3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15e42cee31_0_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15e42cee3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15e42cee31_0_4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15e42cee3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15e42cee31_0_5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15e42cee3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15e42cee31_0_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15e42cee31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15e42cee31_0_9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15e42cee31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16929ed175_0_9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16929ed175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16929ed175_0_9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16929ed175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16929ed175_0_10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16929ed17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16929ed175_0_1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16929ed175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16929ed175_0_1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16929ed17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16929ed175_0_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16929ed17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rr</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16929ed175_0_7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16929ed17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16929ed175_0_1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16929ed17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16929ed175_0_15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16929ed17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16929ed175_0_14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16929ed17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16929ed175_0_16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16929ed175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16929ed175_0_17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16929ed175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16929ed175_0_18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16929ed17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16929ed175_0_20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16929ed175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165b69ef3f_0_51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165b69ef3f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15e42cee31_0_2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215e42cee31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15e42cee31_0_22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15e42cee31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15e42cee31_0_23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15e42cee31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15e42cee31_0_25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15e42cee31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165b69ef3f_0_50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2165b69ef3f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15e42cee31_0_26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15e42cee31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15e42cee31_0_32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15e42cee31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15e42cee31_0_35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15e42cee31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15e42cee31_0_37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15e42cee31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15e42cee31_0_38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15e42cee31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15e42cee31_0_39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15e42cee31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15e42cee31_0_4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215e42cee31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15e42cee31_0_41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15e42cee31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15e42cee31_0_4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15e42cee31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15e42cee31_0_43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15e42cee31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2165b69ef3f_0_50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2165b69ef3f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15e42cee31_0_32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15e42cee31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165b69ef3f_0_29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165b69ef3f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165b69ef3f_0_30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165b69ef3f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2165b69ef3f_0_32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2165b69ef3f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2165b69ef3f_0_3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2165b69ef3f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165b69ef3f_0_39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165b69ef3f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2165b69ef3f_0_42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2165b69ef3f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165b69ef3f_0_44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165b69ef3f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165b69ef3f_0_47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2165b69ef3f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215e42cee31_0_49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215e42cee31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2165b69ef3f_0_23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2165b69ef3f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2165b69ef3f_0_2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2165b69ef3f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2165b69ef3f_0_2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2165b69ef3f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2165b69ef3f_0_26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2165b69ef3f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2165b69ef3f_0_17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2165b69ef3f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2165b69ef3f_0_26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2165b69ef3f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165b69ef3f_0_27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2165b69ef3f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165b69ef3f_0_28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2165b69ef3f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a675256241_0_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a67525624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slideLayout" Target="../slideLayouts/slideLayout2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24" Type="http://schemas.openxmlformats.org/officeDocument/2006/relationships/theme" Target="../theme/theme2.xml"/><Relationship Id="rId12" Type="http://schemas.openxmlformats.org/officeDocument/2006/relationships/slideLayout" Target="../slideLayouts/slideLayout11.xml"/><Relationship Id="rId23" Type="http://schemas.openxmlformats.org/officeDocument/2006/relationships/slideLayout" Target="../slideLayouts/slideLayout22.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github.com/openjdk/jdk/blob/master/src/java.base/share/classes/java/util/HashSet.java"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s://github.com/openjdk/jdk/blob/master/src/java.base/share/classes/java/util/HashMap.java"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hyperlink" Target="https://en.wikipedia.org/wiki/Balls_into_bins_problem"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ctrTitle"/>
          </p:nvPr>
        </p:nvSpPr>
        <p:spPr>
          <a:xfrm>
            <a:off x="311700" y="1658975"/>
            <a:ext cx="8709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chemeClr val="accent3"/>
                </a:solidFill>
              </a:rPr>
              <a:t>Hash Tables II</a:t>
            </a:r>
            <a:endParaRPr sz="3600">
              <a:solidFill>
                <a:schemeClr val="accent3"/>
              </a:solidFill>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20</a:t>
            </a:r>
            <a:endParaRPr sz="1200">
              <a:solidFill>
                <a:srgbClr val="BF9000"/>
              </a:solidFill>
              <a:latin typeface="Roboto Medium"/>
              <a:ea typeface="Roboto Medium"/>
              <a:cs typeface="Roboto Medium"/>
              <a:sym typeface="Roboto Medium"/>
            </a:endParaRPr>
          </a:p>
        </p:txBody>
      </p:sp>
      <p:sp>
        <p:nvSpPr>
          <p:cNvPr id="146" name="Google Shape;14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4"/>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CS61B, Fall </a:t>
            </a:r>
            <a:r>
              <a:rPr lang="en" sz="1600">
                <a:solidFill>
                  <a:srgbClr val="000000"/>
                </a:solidFill>
                <a:latin typeface="Roboto Medium"/>
                <a:ea typeface="Roboto Medium"/>
                <a:cs typeface="Roboto Medium"/>
                <a:sym typeface="Roboto Medium"/>
              </a:rPr>
              <a:t>202</a:t>
            </a:r>
            <a:r>
              <a:rPr lang="en" sz="1600">
                <a:latin typeface="Roboto Medium"/>
                <a:ea typeface="Roboto Medium"/>
                <a:cs typeface="Roboto Medium"/>
                <a:sym typeface="Roboto Medium"/>
              </a:rPr>
              <a:t>3</a:t>
            </a:r>
            <a:r>
              <a:rPr lang="en" sz="1600">
                <a:solidFill>
                  <a:srgbClr val="000000"/>
                </a:solidFill>
                <a:latin typeface="Roboto Medium"/>
                <a:ea typeface="Roboto Medium"/>
                <a:cs typeface="Roboto Medium"/>
                <a:sym typeface="Roboto Medium"/>
              </a:rPr>
              <a:t> @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Josh Hug</a:t>
            </a:r>
            <a:endParaRPr sz="1600">
              <a:solidFill>
                <a:srgbClr val="000000"/>
              </a:solidFill>
              <a:latin typeface="Roboto Light"/>
              <a:ea typeface="Roboto Light"/>
              <a:cs typeface="Roboto Light"/>
              <a:sym typeface="Roboto Light"/>
            </a:endParaRPr>
          </a:p>
        </p:txBody>
      </p:sp>
      <p:pic>
        <p:nvPicPr>
          <p:cNvPr id="148" name="Google Shape;148;p24"/>
          <p:cNvPicPr preferRelativeResize="0"/>
          <p:nvPr/>
        </p:nvPicPr>
        <p:blipFill>
          <a:blip r:embed="rId3">
            <a:alphaModFix/>
          </a:blip>
          <a:stretch>
            <a:fillRect/>
          </a:stretch>
        </p:blipFill>
        <p:spPr>
          <a:xfrm>
            <a:off x="5141450" y="377225"/>
            <a:ext cx="3690849" cy="36908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Visualization for Some Basic Cases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B7B7B7"/>
                </a:solidFill>
              </a:rPr>
              <a:t>hashCode and Equals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Why Custom Hash Functions?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contains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Duplicate Values</a:t>
            </a:r>
            <a:endParaRPr>
              <a:solidFill>
                <a:srgbClr val="B7B7B7"/>
              </a:solidFill>
            </a:endParaRPr>
          </a:p>
          <a:p>
            <a:pPr indent="0" lvl="0" marL="0" rtl="0" algn="l">
              <a:spcBef>
                <a:spcPts val="600"/>
              </a:spcBef>
              <a:spcAft>
                <a:spcPts val="0"/>
              </a:spcAft>
              <a:buNone/>
            </a:pPr>
            <a:r>
              <a:rPr lang="en">
                <a:solidFill>
                  <a:srgbClr val="B7B7B7"/>
                </a:solidFill>
              </a:rPr>
              <a:t>The Danger of Mutable Keys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Mutable vs. Immutable Types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Mutable Hash Table Keys</a:t>
            </a:r>
            <a:endParaRPr>
              <a:solidFill>
                <a:srgbClr val="B7B7B7"/>
              </a:solidFill>
            </a:endParaRPr>
          </a:p>
          <a:p>
            <a:pPr indent="0" lvl="0" marL="0" rtl="0" algn="l">
              <a:spcBef>
                <a:spcPts val="600"/>
              </a:spcBef>
              <a:spcAft>
                <a:spcPts val="0"/>
              </a:spcAft>
              <a:buNone/>
            </a:pPr>
            <a:r>
              <a:rPr lang="en">
                <a:solidFill>
                  <a:srgbClr val="B7B7B7"/>
                </a:solidFill>
              </a:rPr>
              <a:t>A Peek into Java HashSets</a:t>
            </a:r>
            <a:endParaRPr>
              <a:solidFill>
                <a:srgbClr val="B7B7B7"/>
              </a:solidFill>
            </a:endParaRPr>
          </a:p>
        </p:txBody>
      </p:sp>
      <p:sp>
        <p:nvSpPr>
          <p:cNvPr id="154" name="Google Shape;154;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Visualization for Some Basic Cases</a:t>
            </a:r>
            <a:endParaRPr/>
          </a:p>
        </p:txBody>
      </p:sp>
      <p:sp>
        <p:nvSpPr>
          <p:cNvPr id="155" name="Google Shape;155;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20, CS61B, Fall 2023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Sets and Maps</a:t>
            </a:r>
            <a:endParaRPr/>
          </a:p>
        </p:txBody>
      </p:sp>
      <p:sp>
        <p:nvSpPr>
          <p:cNvPr id="161" name="Google Shape;161;p2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We’ve now seen the two implementation philosophies for Sets and Maps.</a:t>
            </a:r>
            <a:endParaRPr/>
          </a:p>
          <a:p>
            <a:pPr indent="-342900" lvl="0" marL="457200" rtl="0" algn="l">
              <a:spcBef>
                <a:spcPts val="600"/>
              </a:spcBef>
              <a:spcAft>
                <a:spcPts val="0"/>
              </a:spcAft>
              <a:buSzPts val="1800"/>
              <a:buChar char="●"/>
            </a:pPr>
            <a:r>
              <a:rPr lang="en"/>
              <a:t>Red black tree based approach: TreeSet/TreeMap.</a:t>
            </a:r>
            <a:endParaRPr/>
          </a:p>
          <a:p>
            <a:pPr indent="-342900" lvl="1" marL="914400" rtl="0" algn="l">
              <a:spcBef>
                <a:spcPts val="0"/>
              </a:spcBef>
              <a:spcAft>
                <a:spcPts val="0"/>
              </a:spcAft>
              <a:buSzPts val="1800"/>
              <a:buChar char="○"/>
            </a:pPr>
            <a:r>
              <a:rPr lang="en"/>
              <a:t>Requires items to be comparable.</a:t>
            </a:r>
            <a:endParaRPr/>
          </a:p>
          <a:p>
            <a:pPr indent="-342900" lvl="1" marL="914400" rtl="0" algn="l">
              <a:spcBef>
                <a:spcPts val="0"/>
              </a:spcBef>
              <a:spcAft>
                <a:spcPts val="0"/>
              </a:spcAft>
              <a:buSzPts val="1800"/>
              <a:buChar char="○"/>
            </a:pPr>
            <a:r>
              <a:rPr lang="en"/>
              <a:t>Logarithmic time operations.</a:t>
            </a:r>
            <a:endParaRPr/>
          </a:p>
          <a:p>
            <a:pPr indent="-342900" lvl="0" marL="457200" rtl="0" algn="l">
              <a:spcBef>
                <a:spcPts val="0"/>
              </a:spcBef>
              <a:spcAft>
                <a:spcPts val="0"/>
              </a:spcAft>
              <a:buSzPts val="1800"/>
              <a:buChar char="●"/>
            </a:pPr>
            <a:r>
              <a:rPr lang="en"/>
              <a:t>Hash table based approach: HashSet/HashMap.</a:t>
            </a:r>
            <a:endParaRPr/>
          </a:p>
          <a:p>
            <a:pPr indent="-342900" lvl="1" marL="914400" rtl="0" algn="l">
              <a:spcBef>
                <a:spcPts val="0"/>
              </a:spcBef>
              <a:spcAft>
                <a:spcPts val="0"/>
              </a:spcAft>
              <a:buSzPts val="1800"/>
              <a:buChar char="○"/>
            </a:pPr>
            <a:r>
              <a:rPr lang="en"/>
              <a:t>Constant time operations if the hashCode spreads the items out nicely.</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162" name="Google Shape;162;p26"/>
          <p:cNvSpPr/>
          <p:nvPr/>
        </p:nvSpPr>
        <p:spPr>
          <a:xfrm>
            <a:off x="2903800" y="3152675"/>
            <a:ext cx="8445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Consolas"/>
                <a:ea typeface="Consolas"/>
                <a:cs typeface="Consolas"/>
                <a:sym typeface="Consolas"/>
              </a:rPr>
              <a:t>Set</a:t>
            </a:r>
            <a:endParaRPr sz="1600">
              <a:latin typeface="Consolas"/>
              <a:ea typeface="Consolas"/>
              <a:cs typeface="Consolas"/>
              <a:sym typeface="Consolas"/>
            </a:endParaRPr>
          </a:p>
        </p:txBody>
      </p:sp>
      <p:sp>
        <p:nvSpPr>
          <p:cNvPr id="163" name="Google Shape;163;p26"/>
          <p:cNvSpPr/>
          <p:nvPr/>
        </p:nvSpPr>
        <p:spPr>
          <a:xfrm>
            <a:off x="3349082" y="4026700"/>
            <a:ext cx="1102800" cy="495300"/>
          </a:xfrm>
          <a:prstGeom prst="rect">
            <a:avLst/>
          </a:prstGeom>
          <a:solidFill>
            <a:srgbClr val="A4C2F4"/>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Consolas"/>
                <a:ea typeface="Consolas"/>
                <a:cs typeface="Consolas"/>
                <a:sym typeface="Consolas"/>
              </a:rPr>
              <a:t>TreeSet</a:t>
            </a:r>
            <a:endParaRPr sz="1600">
              <a:latin typeface="Consolas"/>
              <a:ea typeface="Consolas"/>
              <a:cs typeface="Consolas"/>
              <a:sym typeface="Consolas"/>
            </a:endParaRPr>
          </a:p>
        </p:txBody>
      </p:sp>
      <p:sp>
        <p:nvSpPr>
          <p:cNvPr id="164" name="Google Shape;164;p26"/>
          <p:cNvSpPr/>
          <p:nvPr/>
        </p:nvSpPr>
        <p:spPr>
          <a:xfrm>
            <a:off x="2141757" y="4026700"/>
            <a:ext cx="1102800" cy="495300"/>
          </a:xfrm>
          <a:prstGeom prst="rect">
            <a:avLst/>
          </a:prstGeom>
          <a:solidFill>
            <a:srgbClr val="A4C2F4"/>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Consolas"/>
                <a:ea typeface="Consolas"/>
                <a:cs typeface="Consolas"/>
                <a:sym typeface="Consolas"/>
              </a:rPr>
              <a:t>HashSet</a:t>
            </a:r>
            <a:endParaRPr sz="1600">
              <a:latin typeface="Consolas"/>
              <a:ea typeface="Consolas"/>
              <a:cs typeface="Consolas"/>
              <a:sym typeface="Consolas"/>
            </a:endParaRPr>
          </a:p>
        </p:txBody>
      </p:sp>
      <p:cxnSp>
        <p:nvCxnSpPr>
          <p:cNvPr id="165" name="Google Shape;165;p26"/>
          <p:cNvCxnSpPr>
            <a:stCxn id="164" idx="0"/>
          </p:cNvCxnSpPr>
          <p:nvPr/>
        </p:nvCxnSpPr>
        <p:spPr>
          <a:xfrm flipH="1" rot="10800000">
            <a:off x="2693157" y="3663100"/>
            <a:ext cx="636900" cy="363600"/>
          </a:xfrm>
          <a:prstGeom prst="straightConnector1">
            <a:avLst/>
          </a:prstGeom>
          <a:noFill/>
          <a:ln cap="flat" cmpd="sng" w="19050">
            <a:solidFill>
              <a:srgbClr val="CC4125"/>
            </a:solidFill>
            <a:prstDash val="solid"/>
            <a:round/>
            <a:headEnd len="med" w="med" type="none"/>
            <a:tailEnd len="med" w="med" type="triangle"/>
          </a:ln>
        </p:spPr>
      </p:cxnSp>
      <p:cxnSp>
        <p:nvCxnSpPr>
          <p:cNvPr id="166" name="Google Shape;166;p26"/>
          <p:cNvCxnSpPr>
            <a:stCxn id="163" idx="0"/>
          </p:cNvCxnSpPr>
          <p:nvPr/>
        </p:nvCxnSpPr>
        <p:spPr>
          <a:xfrm rot="10800000">
            <a:off x="3330182" y="3663100"/>
            <a:ext cx="570300" cy="363600"/>
          </a:xfrm>
          <a:prstGeom prst="straightConnector1">
            <a:avLst/>
          </a:prstGeom>
          <a:noFill/>
          <a:ln cap="flat" cmpd="sng" w="19050">
            <a:solidFill>
              <a:srgbClr val="CC4125"/>
            </a:solidFill>
            <a:prstDash val="solid"/>
            <a:round/>
            <a:headEnd len="med" w="med" type="none"/>
            <a:tailEnd len="med" w="med" type="triangle"/>
          </a:ln>
        </p:spPr>
      </p:cxnSp>
      <p:sp>
        <p:nvSpPr>
          <p:cNvPr id="167" name="Google Shape;167;p26"/>
          <p:cNvSpPr/>
          <p:nvPr/>
        </p:nvSpPr>
        <p:spPr>
          <a:xfrm>
            <a:off x="5418125" y="3152675"/>
            <a:ext cx="8445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Consolas"/>
                <a:ea typeface="Consolas"/>
                <a:cs typeface="Consolas"/>
                <a:sym typeface="Consolas"/>
              </a:rPr>
              <a:t>Map</a:t>
            </a:r>
            <a:endParaRPr sz="1600">
              <a:latin typeface="Consolas"/>
              <a:ea typeface="Consolas"/>
              <a:cs typeface="Consolas"/>
              <a:sym typeface="Consolas"/>
            </a:endParaRPr>
          </a:p>
        </p:txBody>
      </p:sp>
      <p:sp>
        <p:nvSpPr>
          <p:cNvPr id="168" name="Google Shape;168;p26"/>
          <p:cNvSpPr/>
          <p:nvPr/>
        </p:nvSpPr>
        <p:spPr>
          <a:xfrm>
            <a:off x="5899432" y="4026700"/>
            <a:ext cx="1102800" cy="495300"/>
          </a:xfrm>
          <a:prstGeom prst="rect">
            <a:avLst/>
          </a:prstGeom>
          <a:solidFill>
            <a:srgbClr val="A4C2F4"/>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Consolas"/>
                <a:ea typeface="Consolas"/>
                <a:cs typeface="Consolas"/>
                <a:sym typeface="Consolas"/>
              </a:rPr>
              <a:t>TreeMap</a:t>
            </a:r>
            <a:endParaRPr sz="1600">
              <a:latin typeface="Consolas"/>
              <a:ea typeface="Consolas"/>
              <a:cs typeface="Consolas"/>
              <a:sym typeface="Consolas"/>
            </a:endParaRPr>
          </a:p>
        </p:txBody>
      </p:sp>
      <p:sp>
        <p:nvSpPr>
          <p:cNvPr id="169" name="Google Shape;169;p26"/>
          <p:cNvSpPr/>
          <p:nvPr/>
        </p:nvSpPr>
        <p:spPr>
          <a:xfrm>
            <a:off x="4692107" y="4026700"/>
            <a:ext cx="1102800" cy="495300"/>
          </a:xfrm>
          <a:prstGeom prst="rect">
            <a:avLst/>
          </a:prstGeom>
          <a:solidFill>
            <a:srgbClr val="A4C2F4"/>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Consolas"/>
                <a:ea typeface="Consolas"/>
                <a:cs typeface="Consolas"/>
                <a:sym typeface="Consolas"/>
              </a:rPr>
              <a:t>HashMap</a:t>
            </a:r>
            <a:endParaRPr sz="1600">
              <a:latin typeface="Consolas"/>
              <a:ea typeface="Consolas"/>
              <a:cs typeface="Consolas"/>
              <a:sym typeface="Consolas"/>
            </a:endParaRPr>
          </a:p>
        </p:txBody>
      </p:sp>
      <p:cxnSp>
        <p:nvCxnSpPr>
          <p:cNvPr id="170" name="Google Shape;170;p26"/>
          <p:cNvCxnSpPr>
            <a:stCxn id="169" idx="0"/>
          </p:cNvCxnSpPr>
          <p:nvPr/>
        </p:nvCxnSpPr>
        <p:spPr>
          <a:xfrm flipH="1" rot="10800000">
            <a:off x="5243507" y="3662800"/>
            <a:ext cx="597000" cy="363900"/>
          </a:xfrm>
          <a:prstGeom prst="straightConnector1">
            <a:avLst/>
          </a:prstGeom>
          <a:noFill/>
          <a:ln cap="flat" cmpd="sng" w="19050">
            <a:solidFill>
              <a:srgbClr val="CC4125"/>
            </a:solidFill>
            <a:prstDash val="solid"/>
            <a:round/>
            <a:headEnd len="med" w="med" type="none"/>
            <a:tailEnd len="med" w="med" type="triangle"/>
          </a:ln>
        </p:spPr>
      </p:cxnSp>
      <p:cxnSp>
        <p:nvCxnSpPr>
          <p:cNvPr id="171" name="Google Shape;171;p26"/>
          <p:cNvCxnSpPr>
            <a:stCxn id="168" idx="0"/>
          </p:cNvCxnSpPr>
          <p:nvPr/>
        </p:nvCxnSpPr>
        <p:spPr>
          <a:xfrm rot="10800000">
            <a:off x="5840332" y="3662800"/>
            <a:ext cx="610500" cy="363900"/>
          </a:xfrm>
          <a:prstGeom prst="straightConnector1">
            <a:avLst/>
          </a:prstGeom>
          <a:noFill/>
          <a:ln cap="flat" cmpd="sng" w="19050">
            <a:solidFill>
              <a:srgbClr val="CC4125"/>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Tables in Java: Recap</a:t>
            </a:r>
            <a:endParaRPr/>
          </a:p>
        </p:txBody>
      </p:sp>
      <p:sp>
        <p:nvSpPr>
          <p:cNvPr id="177" name="Google Shape;177;p27"/>
          <p:cNvSpPr txBox="1"/>
          <p:nvPr>
            <p:ph idx="1" type="body"/>
          </p:nvPr>
        </p:nvSpPr>
        <p:spPr>
          <a:xfrm>
            <a:off x="107050" y="402200"/>
            <a:ext cx="8955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Hash tables:</a:t>
            </a:r>
            <a:endParaRPr/>
          </a:p>
          <a:p>
            <a:pPr indent="-342900" lvl="0" marL="457200" rtl="0" algn="l">
              <a:spcBef>
                <a:spcPts val="600"/>
              </a:spcBef>
              <a:spcAft>
                <a:spcPts val="0"/>
              </a:spcAft>
              <a:buSzPts val="1800"/>
              <a:buChar char="●"/>
            </a:pPr>
            <a:r>
              <a:rPr i="1" lang="en"/>
              <a:t>Data</a:t>
            </a:r>
            <a:r>
              <a:rPr lang="en"/>
              <a:t> is converted into a hash code, the </a:t>
            </a:r>
            <a:r>
              <a:rPr b="1" lang="en"/>
              <a:t>hash code</a:t>
            </a:r>
            <a:r>
              <a:rPr lang="en"/>
              <a:t> is then </a:t>
            </a:r>
            <a:r>
              <a:rPr b="1" lang="en"/>
              <a:t>reduced</a:t>
            </a:r>
            <a:r>
              <a:rPr lang="en"/>
              <a:t> to a valid </a:t>
            </a:r>
            <a:r>
              <a:rPr i="1" lang="en"/>
              <a:t>index</a:t>
            </a:r>
            <a:r>
              <a:rPr lang="en"/>
              <a:t>.</a:t>
            </a:r>
            <a:endParaRPr/>
          </a:p>
          <a:p>
            <a:pPr indent="-342900" lvl="0" marL="457200" rtl="0" algn="l">
              <a:spcBef>
                <a:spcPts val="600"/>
              </a:spcBef>
              <a:spcAft>
                <a:spcPts val="0"/>
              </a:spcAft>
              <a:buSzPts val="1800"/>
              <a:buChar char="●"/>
            </a:pPr>
            <a:r>
              <a:rPr i="1" lang="en"/>
              <a:t>Data </a:t>
            </a:r>
            <a:r>
              <a:rPr lang="en"/>
              <a:t>is then stored in a bucket corresponding to that </a:t>
            </a:r>
            <a:r>
              <a:rPr i="1" lang="en"/>
              <a:t>index</a:t>
            </a:r>
            <a:r>
              <a:rPr lang="en"/>
              <a:t>.</a:t>
            </a:r>
            <a:endParaRPr/>
          </a:p>
          <a:p>
            <a:pPr indent="-342900" lvl="1" marL="914400" rtl="0" algn="l">
              <a:spcBef>
                <a:spcPts val="600"/>
              </a:spcBef>
              <a:spcAft>
                <a:spcPts val="0"/>
              </a:spcAft>
              <a:buSzPts val="1800"/>
              <a:buChar char="○"/>
            </a:pPr>
            <a:r>
              <a:rPr lang="en"/>
              <a:t>Each bucket is a “separate chain” of items.</a:t>
            </a:r>
            <a:endParaRPr/>
          </a:p>
          <a:p>
            <a:pPr indent="-342900" lvl="0" marL="457200" rtl="0" algn="l">
              <a:spcBef>
                <a:spcPts val="600"/>
              </a:spcBef>
              <a:spcAft>
                <a:spcPts val="0"/>
              </a:spcAft>
              <a:buSzPts val="1800"/>
              <a:buChar char="●"/>
            </a:pPr>
            <a:r>
              <a:rPr lang="en"/>
              <a:t>Resize when load factor N/M exceeds some constant.</a:t>
            </a:r>
            <a:endParaRPr/>
          </a:p>
          <a:p>
            <a:pPr indent="-342900" lvl="0" marL="457200" rtl="0" algn="l">
              <a:spcBef>
                <a:spcPts val="600"/>
              </a:spcBef>
              <a:spcAft>
                <a:spcPts val="0"/>
              </a:spcAft>
              <a:buSzPts val="1800"/>
              <a:buChar char="●"/>
            </a:pPr>
            <a:r>
              <a:rPr lang="en"/>
              <a:t>If items are spread out nicely, you get Θ(1) average runtime.</a:t>
            </a:r>
            <a:endParaRPr/>
          </a:p>
        </p:txBody>
      </p:sp>
      <p:sp>
        <p:nvSpPr>
          <p:cNvPr id="178" name="Google Shape;178;p27"/>
          <p:cNvSpPr txBox="1"/>
          <p:nvPr/>
        </p:nvSpPr>
        <p:spPr>
          <a:xfrm>
            <a:off x="326500" y="3330850"/>
            <a:ext cx="882300" cy="3261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đậu hũ</a:t>
            </a:r>
            <a:endParaRPr/>
          </a:p>
        </p:txBody>
      </p:sp>
      <p:sp>
        <p:nvSpPr>
          <p:cNvPr id="179" name="Google Shape;179;p27"/>
          <p:cNvSpPr txBox="1"/>
          <p:nvPr/>
        </p:nvSpPr>
        <p:spPr>
          <a:xfrm>
            <a:off x="1526825" y="3330850"/>
            <a:ext cx="13854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hashCode()</a:t>
            </a:r>
            <a:endParaRPr>
              <a:latin typeface="Consolas"/>
              <a:ea typeface="Consolas"/>
              <a:cs typeface="Consolas"/>
              <a:sym typeface="Consolas"/>
            </a:endParaRPr>
          </a:p>
        </p:txBody>
      </p:sp>
      <p:cxnSp>
        <p:nvCxnSpPr>
          <p:cNvPr id="180" name="Google Shape;180;p27"/>
          <p:cNvCxnSpPr>
            <a:stCxn id="178" idx="3"/>
            <a:endCxn id="179" idx="1"/>
          </p:cNvCxnSpPr>
          <p:nvPr/>
        </p:nvCxnSpPr>
        <p:spPr>
          <a:xfrm>
            <a:off x="1208800" y="3493900"/>
            <a:ext cx="318000" cy="0"/>
          </a:xfrm>
          <a:prstGeom prst="straightConnector1">
            <a:avLst/>
          </a:prstGeom>
          <a:noFill/>
          <a:ln cap="flat" cmpd="sng" w="19050">
            <a:solidFill>
              <a:schemeClr val="dk2"/>
            </a:solidFill>
            <a:prstDash val="solid"/>
            <a:round/>
            <a:headEnd len="med" w="med" type="none"/>
            <a:tailEnd len="med" w="med" type="triangle"/>
          </a:ln>
        </p:spPr>
      </p:cxnSp>
      <p:sp>
        <p:nvSpPr>
          <p:cNvPr id="181" name="Google Shape;181;p27"/>
          <p:cNvSpPr txBox="1"/>
          <p:nvPr/>
        </p:nvSpPr>
        <p:spPr>
          <a:xfrm>
            <a:off x="3215350" y="3330850"/>
            <a:ext cx="1333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-2108180664</a:t>
            </a:r>
            <a:endParaRPr>
              <a:latin typeface="Consolas"/>
              <a:ea typeface="Consolas"/>
              <a:cs typeface="Consolas"/>
              <a:sym typeface="Consolas"/>
            </a:endParaRPr>
          </a:p>
        </p:txBody>
      </p:sp>
      <p:cxnSp>
        <p:nvCxnSpPr>
          <p:cNvPr id="182" name="Google Shape;182;p27"/>
          <p:cNvCxnSpPr>
            <a:stCxn id="179" idx="3"/>
            <a:endCxn id="181" idx="1"/>
          </p:cNvCxnSpPr>
          <p:nvPr/>
        </p:nvCxnSpPr>
        <p:spPr>
          <a:xfrm>
            <a:off x="2912225" y="3493900"/>
            <a:ext cx="303000" cy="0"/>
          </a:xfrm>
          <a:prstGeom prst="straightConnector1">
            <a:avLst/>
          </a:prstGeom>
          <a:noFill/>
          <a:ln cap="flat" cmpd="sng" w="19050">
            <a:solidFill>
              <a:schemeClr val="dk2"/>
            </a:solidFill>
            <a:prstDash val="solid"/>
            <a:round/>
            <a:headEnd len="med" w="med" type="none"/>
            <a:tailEnd len="med" w="med" type="triangle"/>
          </a:ln>
        </p:spPr>
      </p:cxnSp>
      <p:sp>
        <p:nvSpPr>
          <p:cNvPr id="183" name="Google Shape;183;p27"/>
          <p:cNvSpPr txBox="1"/>
          <p:nvPr/>
        </p:nvSpPr>
        <p:spPr>
          <a:xfrm>
            <a:off x="1012975" y="4307050"/>
            <a:ext cx="22023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Math.floorMod(x, 4)</a:t>
            </a:r>
            <a:endParaRPr/>
          </a:p>
        </p:txBody>
      </p:sp>
      <p:sp>
        <p:nvSpPr>
          <p:cNvPr id="184" name="Google Shape;184;p27"/>
          <p:cNvSpPr txBox="1"/>
          <p:nvPr/>
        </p:nvSpPr>
        <p:spPr>
          <a:xfrm>
            <a:off x="3936925" y="4307050"/>
            <a:ext cx="610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p:txBody>
      </p:sp>
      <p:cxnSp>
        <p:nvCxnSpPr>
          <p:cNvPr id="185" name="Google Shape;185;p27"/>
          <p:cNvCxnSpPr>
            <a:stCxn id="181" idx="2"/>
            <a:endCxn id="183" idx="1"/>
          </p:cNvCxnSpPr>
          <p:nvPr/>
        </p:nvCxnSpPr>
        <p:spPr>
          <a:xfrm rot="5400000">
            <a:off x="2040850" y="2629150"/>
            <a:ext cx="813300" cy="2868900"/>
          </a:xfrm>
          <a:prstGeom prst="bentConnector4">
            <a:avLst>
              <a:gd fmla="val 39967" name="adj1"/>
              <a:gd fmla="val 108303" name="adj2"/>
            </a:avLst>
          </a:prstGeom>
          <a:noFill/>
          <a:ln cap="flat" cmpd="sng" w="19050">
            <a:solidFill>
              <a:schemeClr val="dk2"/>
            </a:solidFill>
            <a:prstDash val="solid"/>
            <a:round/>
            <a:headEnd len="med" w="med" type="none"/>
            <a:tailEnd len="med" w="med" type="triangle"/>
          </a:ln>
        </p:spPr>
      </p:cxnSp>
      <p:cxnSp>
        <p:nvCxnSpPr>
          <p:cNvPr id="186" name="Google Shape;186;p27"/>
          <p:cNvCxnSpPr>
            <a:stCxn id="183" idx="3"/>
            <a:endCxn id="184" idx="1"/>
          </p:cNvCxnSpPr>
          <p:nvPr/>
        </p:nvCxnSpPr>
        <p:spPr>
          <a:xfrm>
            <a:off x="3215275" y="4470100"/>
            <a:ext cx="721800" cy="0"/>
          </a:xfrm>
          <a:prstGeom prst="straightConnector1">
            <a:avLst/>
          </a:prstGeom>
          <a:noFill/>
          <a:ln cap="flat" cmpd="sng" w="19050">
            <a:solidFill>
              <a:schemeClr val="dk2"/>
            </a:solidFill>
            <a:prstDash val="solid"/>
            <a:round/>
            <a:headEnd len="med" w="med" type="none"/>
            <a:tailEnd len="med" w="med" type="triangle"/>
          </a:ln>
        </p:spPr>
      </p:cxnSp>
      <p:sp>
        <p:nvSpPr>
          <p:cNvPr id="187" name="Google Shape;187;p27"/>
          <p:cNvSpPr txBox="1"/>
          <p:nvPr/>
        </p:nvSpPr>
        <p:spPr>
          <a:xfrm>
            <a:off x="479575" y="3010800"/>
            <a:ext cx="5769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data</a:t>
            </a:r>
            <a:endParaRPr i="1"/>
          </a:p>
        </p:txBody>
      </p:sp>
      <p:sp>
        <p:nvSpPr>
          <p:cNvPr id="188" name="Google Shape;188;p27"/>
          <p:cNvSpPr txBox="1"/>
          <p:nvPr/>
        </p:nvSpPr>
        <p:spPr>
          <a:xfrm>
            <a:off x="3215350" y="3010800"/>
            <a:ext cx="11025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hash code</a:t>
            </a:r>
            <a:endParaRPr b="1"/>
          </a:p>
        </p:txBody>
      </p:sp>
      <p:sp>
        <p:nvSpPr>
          <p:cNvPr id="189" name="Google Shape;189;p27"/>
          <p:cNvSpPr txBox="1"/>
          <p:nvPr/>
        </p:nvSpPr>
        <p:spPr>
          <a:xfrm>
            <a:off x="1474550" y="3010800"/>
            <a:ext cx="13854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hash function</a:t>
            </a:r>
            <a:endParaRPr b="1"/>
          </a:p>
        </p:txBody>
      </p:sp>
      <p:sp>
        <p:nvSpPr>
          <p:cNvPr id="190" name="Google Shape;190;p27"/>
          <p:cNvSpPr txBox="1"/>
          <p:nvPr/>
        </p:nvSpPr>
        <p:spPr>
          <a:xfrm>
            <a:off x="915275" y="4596028"/>
            <a:ext cx="799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reduce</a:t>
            </a:r>
            <a:endParaRPr b="1"/>
          </a:p>
        </p:txBody>
      </p:sp>
      <p:sp>
        <p:nvSpPr>
          <p:cNvPr id="191" name="Google Shape;191;p27"/>
          <p:cNvSpPr txBox="1"/>
          <p:nvPr/>
        </p:nvSpPr>
        <p:spPr>
          <a:xfrm>
            <a:off x="3936925" y="4596028"/>
            <a:ext cx="610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index</a:t>
            </a:r>
            <a:endParaRPr i="1"/>
          </a:p>
        </p:txBody>
      </p:sp>
      <p:sp>
        <p:nvSpPr>
          <p:cNvPr id="192" name="Google Shape;192;p27"/>
          <p:cNvSpPr txBox="1"/>
          <p:nvPr/>
        </p:nvSpPr>
        <p:spPr>
          <a:xfrm>
            <a:off x="5255625" y="4557375"/>
            <a:ext cx="3174000" cy="2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Indicates “on average”.</a:t>
            </a:r>
            <a:endParaRPr/>
          </a:p>
          <a:p>
            <a:pPr indent="0" lvl="0" marL="0" rtl="0" algn="l">
              <a:spcBef>
                <a:spcPts val="0"/>
              </a:spcBef>
              <a:spcAft>
                <a:spcPts val="0"/>
              </a:spcAft>
              <a:buNone/>
            </a:pPr>
            <a:r>
              <a:rPr lang="en"/>
              <a:t>†: Assuming items are evenly spread.</a:t>
            </a:r>
            <a:endParaRPr/>
          </a:p>
          <a:p>
            <a:pPr indent="0" lvl="0" marL="0" rtl="0" algn="l">
              <a:spcBef>
                <a:spcPts val="0"/>
              </a:spcBef>
              <a:spcAft>
                <a:spcPts val="0"/>
              </a:spcAft>
              <a:buNone/>
            </a:pPr>
            <a:r>
              <a:t/>
            </a:r>
            <a:endParaRPr/>
          </a:p>
        </p:txBody>
      </p:sp>
      <p:graphicFrame>
        <p:nvGraphicFramePr>
          <p:cNvPr id="193" name="Google Shape;193;p27"/>
          <p:cNvGraphicFramePr/>
          <p:nvPr/>
        </p:nvGraphicFramePr>
        <p:xfrm>
          <a:off x="5200800" y="2655555"/>
          <a:ext cx="3000000" cy="3000000"/>
        </p:xfrm>
        <a:graphic>
          <a:graphicData uri="http://schemas.openxmlformats.org/drawingml/2006/table">
            <a:tbl>
              <a:tblPr>
                <a:noFill/>
                <a:tableStyleId>{771731CB-9833-4008-807A-F30776FD67EC}</a:tableStyleId>
              </a:tblPr>
              <a:tblGrid>
                <a:gridCol w="1515100"/>
                <a:gridCol w="1110800"/>
                <a:gridCol w="1110800"/>
              </a:tblGrid>
              <a:tr h="381000">
                <a:tc>
                  <a:txBody>
                    <a:bodyPr/>
                    <a:lstStyle/>
                    <a:p>
                      <a:pPr indent="0" lvl="0" marL="0" rtl="0" algn="l">
                        <a:spcBef>
                          <a:spcPts val="0"/>
                        </a:spcBef>
                        <a:spcAft>
                          <a:spcPts val="0"/>
                        </a:spcAft>
                        <a:buNone/>
                      </a:pPr>
                      <a:r>
                        <a:t/>
                      </a:r>
                      <a:endParaRPr>
                        <a:latin typeface="Calibri"/>
                        <a:ea typeface="Calibri"/>
                        <a:cs typeface="Calibri"/>
                        <a:sym typeface="Calibri"/>
                      </a:endParaRPr>
                    </a:p>
                  </a:txBody>
                  <a:tcPr marT="91425" marB="91425" marR="91425" marL="91425">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latin typeface="Calibri"/>
                          <a:ea typeface="Calibri"/>
                          <a:cs typeface="Calibri"/>
                          <a:sym typeface="Calibri"/>
                        </a:rPr>
                        <a:t>contains(x)</a:t>
                      </a:r>
                      <a:endParaRPr>
                        <a:latin typeface="Calibri"/>
                        <a:ea typeface="Calibri"/>
                        <a:cs typeface="Calibri"/>
                        <a:sym typeface="Calibri"/>
                      </a:endParaRPr>
                    </a:p>
                  </a:txBody>
                  <a:tcPr marT="91425" marB="91425" marR="91425" marL="91425">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latin typeface="Calibri"/>
                          <a:ea typeface="Calibri"/>
                          <a:cs typeface="Calibri"/>
                          <a:sym typeface="Calibri"/>
                        </a:rPr>
                        <a:t>add(x)</a:t>
                      </a:r>
                      <a:endParaRPr>
                        <a:latin typeface="Calibri"/>
                        <a:ea typeface="Calibri"/>
                        <a:cs typeface="Calibri"/>
                        <a:sym typeface="Calibri"/>
                      </a:endParaRPr>
                    </a:p>
                  </a:txBody>
                  <a:tcPr marT="91425" marB="91425" marR="91425" marL="91425">
                    <a:lnB cap="flat" cmpd="sng" w="9525">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latin typeface="Calibri"/>
                          <a:ea typeface="Calibri"/>
                          <a:cs typeface="Calibri"/>
                          <a:sym typeface="Calibri"/>
                        </a:rPr>
                        <a:t>Bushy BSTs</a:t>
                      </a:r>
                      <a:endParaRPr>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chemeClr val="dk1"/>
                          </a:solidFill>
                          <a:latin typeface="Calibri"/>
                          <a:ea typeface="Calibri"/>
                          <a:cs typeface="Calibri"/>
                          <a:sym typeface="Calibri"/>
                        </a:rPr>
                        <a:t>Θ(log N)</a:t>
                      </a:r>
                      <a:endParaRPr>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chemeClr val="dk1"/>
                          </a:solidFill>
                          <a:latin typeface="Calibri"/>
                          <a:ea typeface="Calibri"/>
                          <a:cs typeface="Calibri"/>
                          <a:sym typeface="Calibri"/>
                        </a:rPr>
                        <a:t>Θ(log N)</a:t>
                      </a:r>
                      <a:endParaRPr>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latin typeface="Calibri"/>
                          <a:ea typeface="Calibri"/>
                          <a:cs typeface="Calibri"/>
                          <a:sym typeface="Calibri"/>
                        </a:rPr>
                        <a:t>Separate Chaining Hash Table With No Resizing</a:t>
                      </a:r>
                      <a:endParaRPr>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Θ(N)</a:t>
                      </a:r>
                      <a:endParaRPr>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Θ(N)</a:t>
                      </a:r>
                      <a:endParaRPr>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latin typeface="Calibri"/>
                          <a:ea typeface="Calibri"/>
                          <a:cs typeface="Calibri"/>
                          <a:sym typeface="Calibri"/>
                        </a:rPr>
                        <a:t>… With Resizing</a:t>
                      </a:r>
                      <a:endParaRPr>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Θ(1)</a:t>
                      </a:r>
                      <a:r>
                        <a:rPr baseline="30000" lang="en">
                          <a:solidFill>
                            <a:srgbClr val="000000"/>
                          </a:solidFill>
                          <a:latin typeface="Calibri"/>
                          <a:ea typeface="Calibri"/>
                          <a:cs typeface="Calibri"/>
                          <a:sym typeface="Calibri"/>
                        </a:rPr>
                        <a:t>†</a:t>
                      </a:r>
                      <a:endParaRPr baseline="30000">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Θ(1)*</a:t>
                      </a:r>
                      <a:r>
                        <a:rPr baseline="30000" lang="en">
                          <a:solidFill>
                            <a:srgbClr val="000000"/>
                          </a:solidFill>
                          <a:latin typeface="Calibri"/>
                          <a:ea typeface="Calibri"/>
                          <a:cs typeface="Calibri"/>
                          <a:sym typeface="Calibri"/>
                        </a:rPr>
                        <a:t>†</a:t>
                      </a:r>
                      <a:endParaRPr baseline="30000">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194" name="Google Shape;194;p27"/>
          <p:cNvSpPr txBox="1"/>
          <p:nvPr/>
        </p:nvSpPr>
        <p:spPr>
          <a:xfrm>
            <a:off x="7227350" y="2278450"/>
            <a:ext cx="192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Hash based set ops</a:t>
            </a: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HashTableVisualizer</a:t>
            </a:r>
            <a:endParaRPr/>
          </a:p>
        </p:txBody>
      </p:sp>
      <p:sp>
        <p:nvSpPr>
          <p:cNvPr id="200" name="Google Shape;200;p28"/>
          <p:cNvSpPr txBox="1"/>
          <p:nvPr>
            <p:ph idx="1" type="body"/>
          </p:nvPr>
        </p:nvSpPr>
        <p:spPr>
          <a:xfrm>
            <a:off x="107051"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Let’s play </a:t>
            </a:r>
            <a:r>
              <a:rPr lang="en"/>
              <a:t>around</a:t>
            </a:r>
            <a:r>
              <a:rPr lang="en"/>
              <a:t> </a:t>
            </a:r>
            <a:r>
              <a:rPr lang="en"/>
              <a:t>with</a:t>
            </a:r>
            <a:r>
              <a:rPr lang="en"/>
              <a:t> a hash table visualizer.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Goal, get a deeper understanding of:</a:t>
            </a:r>
            <a:endParaRPr/>
          </a:p>
          <a:p>
            <a:pPr indent="-342900" lvl="0" marL="457200" rtl="0" algn="l">
              <a:spcBef>
                <a:spcPts val="600"/>
              </a:spcBef>
              <a:spcAft>
                <a:spcPts val="0"/>
              </a:spcAft>
              <a:buSzPts val="1800"/>
              <a:buChar char="●"/>
            </a:pPr>
            <a:r>
              <a:rPr lang="en"/>
              <a:t>How hash codes affect the distribution of items.</a:t>
            </a:r>
            <a:endParaRPr/>
          </a:p>
          <a:p>
            <a:pPr indent="-342900" lvl="0" marL="457200" rtl="0" algn="l">
              <a:spcBef>
                <a:spcPts val="0"/>
              </a:spcBef>
              <a:spcAft>
                <a:spcPts val="0"/>
              </a:spcAft>
              <a:buSzPts val="1800"/>
              <a:buChar char="●"/>
            </a:pPr>
            <a:r>
              <a:rPr lang="en"/>
              <a:t>The interaction between equals and hashCode.</a:t>
            </a:r>
            <a:endParaRPr/>
          </a:p>
          <a:p>
            <a:pPr indent="-342900" lvl="0" marL="457200" rtl="0" algn="l">
              <a:spcBef>
                <a:spcPts val="0"/>
              </a:spcBef>
              <a:spcAft>
                <a:spcPts val="0"/>
              </a:spcAft>
              <a:buSzPts val="1800"/>
              <a:buChar char="●"/>
            </a:pPr>
            <a:r>
              <a:rPr lang="en"/>
              <a:t>Why hash tables are fast even though they use linked lists.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ColoredNumbers</a:t>
            </a:r>
            <a:endParaRPr/>
          </a:p>
        </p:txBody>
      </p:sp>
      <p:sp>
        <p:nvSpPr>
          <p:cNvPr id="206" name="Google Shape;206;p2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objects we’re inserting into the HashTable are of type ColoredNumber. Each has 2 attributes: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Let’s see what happens when we insert ColoredNumbers 0 through 19 into a hash table with 6 buckets.</a:t>
            </a:r>
            <a:endParaRPr/>
          </a:p>
          <a:p>
            <a:pPr indent="0" lvl="0" marL="0" rtl="0" algn="l">
              <a:spcBef>
                <a:spcPts val="600"/>
              </a:spcBef>
              <a:spcAft>
                <a:spcPts val="0"/>
              </a:spcAft>
              <a:buNone/>
            </a:pPr>
            <a:r>
              <a:t/>
            </a:r>
            <a:endParaRPr/>
          </a:p>
        </p:txBody>
      </p:sp>
      <p:sp>
        <p:nvSpPr>
          <p:cNvPr id="207" name="Google Shape;207;p29"/>
          <p:cNvSpPr txBox="1"/>
          <p:nvPr/>
        </p:nvSpPr>
        <p:spPr>
          <a:xfrm>
            <a:off x="552625" y="1165375"/>
            <a:ext cx="3000000" cy="738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C393C3"/>
                </a:solidFill>
                <a:highlight>
                  <a:schemeClr val="dk1"/>
                </a:highlight>
                <a:latin typeface="Consolas"/>
                <a:ea typeface="Consolas"/>
                <a:cs typeface="Consolas"/>
                <a:sym typeface="Consolas"/>
              </a:rPr>
              <a:t>private int </a:t>
            </a:r>
            <a:r>
              <a:rPr b="1" lang="en" sz="1800">
                <a:solidFill>
                  <a:srgbClr val="E2E3E4"/>
                </a:solidFill>
                <a:highlight>
                  <a:schemeClr val="dk1"/>
                </a:highlight>
                <a:latin typeface="Consolas"/>
                <a:ea typeface="Consolas"/>
                <a:cs typeface="Consolas"/>
                <a:sym typeface="Consolas"/>
              </a:rPr>
              <a:t>num</a:t>
            </a:r>
            <a:r>
              <a:rPr b="1" lang="en" sz="1800">
                <a:solidFill>
                  <a:srgbClr val="8C9196"/>
                </a:solidFill>
                <a:highlight>
                  <a:schemeClr val="dk1"/>
                </a:highlight>
                <a:latin typeface="Consolas"/>
                <a:ea typeface="Consolas"/>
                <a:cs typeface="Consolas"/>
                <a:sym typeface="Consolas"/>
              </a:rPr>
              <a:t>;</a:t>
            </a:r>
            <a:endParaRPr b="1" sz="18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800">
                <a:solidFill>
                  <a:srgbClr val="C393C3"/>
                </a:solidFill>
                <a:highlight>
                  <a:schemeClr val="dk1"/>
                </a:highlight>
                <a:latin typeface="Consolas"/>
                <a:ea typeface="Consolas"/>
                <a:cs typeface="Consolas"/>
                <a:sym typeface="Consolas"/>
              </a:rPr>
              <a:t>private </a:t>
            </a:r>
            <a:r>
              <a:rPr b="1" lang="en" sz="1800">
                <a:solidFill>
                  <a:srgbClr val="F8B662"/>
                </a:solidFill>
                <a:highlight>
                  <a:schemeClr val="dk1"/>
                </a:highlight>
                <a:latin typeface="Consolas"/>
                <a:ea typeface="Consolas"/>
                <a:cs typeface="Consolas"/>
                <a:sym typeface="Consolas"/>
              </a:rPr>
              <a:t>Color </a:t>
            </a:r>
            <a:r>
              <a:rPr b="1" lang="en" sz="1800">
                <a:solidFill>
                  <a:srgbClr val="E2E3E4"/>
                </a:solidFill>
                <a:highlight>
                  <a:schemeClr val="dk1"/>
                </a:highlight>
                <a:latin typeface="Consolas"/>
                <a:ea typeface="Consolas"/>
                <a:cs typeface="Consolas"/>
                <a:sym typeface="Consolas"/>
              </a:rPr>
              <a:t>color</a:t>
            </a:r>
            <a:r>
              <a:rPr b="1" lang="en" sz="1800">
                <a:solidFill>
                  <a:srgbClr val="8C9196"/>
                </a:solidFill>
                <a:highlight>
                  <a:schemeClr val="dk1"/>
                </a:highlight>
                <a:latin typeface="Consolas"/>
                <a:ea typeface="Consolas"/>
                <a:cs typeface="Consolas"/>
                <a:sym typeface="Consolas"/>
              </a:rPr>
              <a:t>;</a:t>
            </a:r>
            <a:endParaRPr b="1" sz="1800">
              <a:solidFill>
                <a:srgbClr val="8C9196"/>
              </a:solidFill>
              <a:highlight>
                <a:schemeClr val="dk1"/>
              </a:highlight>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11" name="Shape 211"/>
        <p:cNvGrpSpPr/>
        <p:nvPr/>
      </p:nvGrpSpPr>
      <p:grpSpPr>
        <a:xfrm>
          <a:off x="0" y="0"/>
          <a:ext cx="0" cy="0"/>
          <a:chOff x="0" y="0"/>
          <a:chExt cx="0" cy="0"/>
        </a:xfrm>
      </p:grpSpPr>
      <p:sp>
        <p:nvSpPr>
          <p:cNvPr id="212" name="Google Shape;212;p3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Distribution of Items</a:t>
            </a:r>
            <a:endParaRPr/>
          </a:p>
        </p:txBody>
      </p:sp>
      <p:sp>
        <p:nvSpPr>
          <p:cNvPr id="213" name="Google Shape;213;p3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do you notice about the distribution of items?</a:t>
            </a:r>
            <a:endParaRPr/>
          </a:p>
          <a:p>
            <a:pPr indent="0" lvl="0" marL="45720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Why do you we get this distribution?</a:t>
            </a:r>
            <a:endParaRPr/>
          </a:p>
        </p:txBody>
      </p:sp>
      <p:pic>
        <p:nvPicPr>
          <p:cNvPr id="214" name="Google Shape;214;p30"/>
          <p:cNvPicPr preferRelativeResize="0"/>
          <p:nvPr/>
        </p:nvPicPr>
        <p:blipFill>
          <a:blip r:embed="rId3">
            <a:alphaModFix/>
          </a:blip>
          <a:stretch>
            <a:fillRect/>
          </a:stretch>
        </p:blipFill>
        <p:spPr>
          <a:xfrm>
            <a:off x="6206275" y="470225"/>
            <a:ext cx="2843100" cy="453137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 name="Shape 218"/>
        <p:cNvGrpSpPr/>
        <p:nvPr/>
      </p:nvGrpSpPr>
      <p:grpSpPr>
        <a:xfrm>
          <a:off x="0" y="0"/>
          <a:ext cx="0" cy="0"/>
          <a:chOff x="0" y="0"/>
          <a:chExt cx="0" cy="0"/>
        </a:xfrm>
      </p:grpSpPr>
      <p:sp>
        <p:nvSpPr>
          <p:cNvPr id="219" name="Google Shape;219;p3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Distribution of Items (Your Answer)</a:t>
            </a:r>
            <a:endParaRPr/>
          </a:p>
        </p:txBody>
      </p:sp>
      <p:sp>
        <p:nvSpPr>
          <p:cNvPr id="220" name="Google Shape;220;p31"/>
          <p:cNvSpPr txBox="1"/>
          <p:nvPr>
            <p:ph idx="1" type="body"/>
          </p:nvPr>
        </p:nvSpPr>
        <p:spPr>
          <a:xfrm>
            <a:off x="107048" y="402200"/>
            <a:ext cx="5733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do you notice about the distribution of items?</a:t>
            </a:r>
            <a:endParaRPr/>
          </a:p>
          <a:p>
            <a:pPr indent="-342900" lvl="0" marL="457200" rtl="0" algn="l">
              <a:spcBef>
                <a:spcPts val="600"/>
              </a:spcBef>
              <a:spcAft>
                <a:spcPts val="0"/>
              </a:spcAft>
              <a:buSzPts val="1800"/>
              <a:buChar char="●"/>
            </a:pPr>
            <a:r>
              <a:rPr lang="en"/>
              <a:t>No bin has more than 5 items</a:t>
            </a:r>
            <a:endParaRPr/>
          </a:p>
          <a:p>
            <a:pPr indent="-342900" lvl="0" marL="457200" rtl="0" algn="l">
              <a:spcBef>
                <a:spcPts val="0"/>
              </a:spcBef>
              <a:spcAft>
                <a:spcPts val="0"/>
              </a:spcAft>
              <a:buSzPts val="1800"/>
              <a:buChar char="●"/>
            </a:pPr>
            <a:r>
              <a:rPr lang="en"/>
              <a:t>Odd indexes seem to have more items</a:t>
            </a:r>
            <a:endParaRPr/>
          </a:p>
          <a:p>
            <a:pPr indent="-342900" lvl="0" marL="457200" rtl="0" algn="l">
              <a:spcBef>
                <a:spcPts val="0"/>
              </a:spcBef>
              <a:spcAft>
                <a:spcPts val="0"/>
              </a:spcAft>
              <a:buSzPts val="1800"/>
              <a:buChar char="●"/>
            </a:pPr>
            <a:r>
              <a:rPr lang="en"/>
              <a:t>Hash doesn't seem to correspond well with the item</a:t>
            </a:r>
            <a:endParaRPr/>
          </a:p>
          <a:p>
            <a:pPr indent="0" lvl="0" marL="0" rtl="0" algn="l">
              <a:spcBef>
                <a:spcPts val="600"/>
              </a:spcBef>
              <a:spcAft>
                <a:spcPts val="0"/>
              </a:spcAft>
              <a:buNone/>
            </a:pPr>
            <a:r>
              <a:t/>
            </a:r>
            <a:endParaRPr/>
          </a:p>
          <a:p>
            <a:pPr indent="0" lvl="0" marL="0" rtl="0" algn="l">
              <a:spcBef>
                <a:spcPts val="600"/>
              </a:spcBef>
              <a:spcAft>
                <a:spcPts val="0"/>
              </a:spcAft>
              <a:buClr>
                <a:schemeClr val="dk1"/>
              </a:buClr>
              <a:buSzPts val="1100"/>
              <a:buFont typeface="Arial"/>
              <a:buNone/>
            </a:pPr>
            <a:r>
              <a:rPr lang="en"/>
              <a:t>Why do you we get this distribution?</a:t>
            </a:r>
            <a:endParaRPr/>
          </a:p>
          <a:p>
            <a:pPr indent="-342900" lvl="0" marL="457200" rtl="0" algn="l">
              <a:spcBef>
                <a:spcPts val="600"/>
              </a:spcBef>
              <a:spcAft>
                <a:spcPts val="0"/>
              </a:spcAft>
              <a:buSzPts val="1800"/>
              <a:buChar char="●"/>
            </a:pPr>
            <a:r>
              <a:t/>
            </a:r>
            <a:endParaRPr/>
          </a:p>
        </p:txBody>
      </p:sp>
      <p:pic>
        <p:nvPicPr>
          <p:cNvPr id="221" name="Google Shape;221;p31"/>
          <p:cNvPicPr preferRelativeResize="0"/>
          <p:nvPr/>
        </p:nvPicPr>
        <p:blipFill>
          <a:blip r:embed="rId3">
            <a:alphaModFix/>
          </a:blip>
          <a:stretch>
            <a:fillRect/>
          </a:stretch>
        </p:blipFill>
        <p:spPr>
          <a:xfrm>
            <a:off x="6206275" y="470225"/>
            <a:ext cx="2843100" cy="453137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Creating a Custom hashCode Function</a:t>
            </a:r>
            <a:endParaRPr/>
          </a:p>
        </p:txBody>
      </p:sp>
      <p:sp>
        <p:nvSpPr>
          <p:cNvPr id="227" name="Google Shape;227;p3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create a hashCode function that returns 0.</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distribution do we expect?</a:t>
            </a:r>
            <a:endParaRPr/>
          </a:p>
          <a:p>
            <a:pPr indent="-342900" lvl="0" marL="457200" rtl="0" algn="l">
              <a:spcBef>
                <a:spcPts val="600"/>
              </a:spcBef>
              <a:spcAft>
                <a:spcPts val="0"/>
              </a:spcAft>
              <a:buSzPts val="1800"/>
              <a:buChar char="●"/>
            </a:pPr>
            <a:r>
              <a:rPr lang="en"/>
              <a:t>In other words, how will the figure to the right change?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Let’s try it out.</a:t>
            </a:r>
            <a:endParaRPr/>
          </a:p>
        </p:txBody>
      </p:sp>
      <p:sp>
        <p:nvSpPr>
          <p:cNvPr id="228" name="Google Shape;228;p32"/>
          <p:cNvSpPr txBox="1"/>
          <p:nvPr/>
        </p:nvSpPr>
        <p:spPr>
          <a:xfrm>
            <a:off x="654625" y="1062700"/>
            <a:ext cx="3409200" cy="1293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91AFCC"/>
                </a:solidFill>
                <a:highlight>
                  <a:schemeClr val="dk1"/>
                </a:highlight>
                <a:latin typeface="Consolas"/>
                <a:ea typeface="Consolas"/>
                <a:cs typeface="Consolas"/>
                <a:sym typeface="Consolas"/>
              </a:rPr>
              <a:t>@Override</a:t>
            </a:r>
            <a:endParaRPr b="1" sz="1800">
              <a:solidFill>
                <a:srgbClr val="91AFCC"/>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800">
                <a:solidFill>
                  <a:srgbClr val="C393C3"/>
                </a:solidFill>
                <a:highlight>
                  <a:schemeClr val="dk1"/>
                </a:highlight>
                <a:latin typeface="Consolas"/>
                <a:ea typeface="Consolas"/>
                <a:cs typeface="Consolas"/>
                <a:sym typeface="Consolas"/>
              </a:rPr>
              <a:t>public int </a:t>
            </a:r>
            <a:r>
              <a:rPr b="1" lang="en" sz="1800">
                <a:solidFill>
                  <a:srgbClr val="5EB2B2"/>
                </a:solidFill>
                <a:highlight>
                  <a:schemeClr val="dk1"/>
                </a:highlight>
                <a:latin typeface="Consolas"/>
                <a:ea typeface="Consolas"/>
                <a:cs typeface="Consolas"/>
                <a:sym typeface="Consolas"/>
              </a:rPr>
              <a:t>hashCode</a:t>
            </a:r>
            <a:r>
              <a:rPr b="1" lang="en" sz="1800">
                <a:solidFill>
                  <a:srgbClr val="E2E3E4"/>
                </a:solidFill>
                <a:highlight>
                  <a:schemeClr val="dk1"/>
                </a:highlight>
                <a:latin typeface="Consolas"/>
                <a:ea typeface="Consolas"/>
                <a:cs typeface="Consolas"/>
                <a:sym typeface="Consolas"/>
              </a:rPr>
              <a:t>() {</a:t>
            </a:r>
            <a:endParaRPr b="1" sz="18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800">
                <a:solidFill>
                  <a:srgbClr val="E2E3E4"/>
                </a:solidFill>
                <a:highlight>
                  <a:schemeClr val="dk1"/>
                </a:highlight>
                <a:latin typeface="Consolas"/>
                <a:ea typeface="Consolas"/>
                <a:cs typeface="Consolas"/>
                <a:sym typeface="Consolas"/>
              </a:rPr>
              <a:t>   </a:t>
            </a:r>
            <a:r>
              <a:rPr b="1" lang="en" sz="1800">
                <a:solidFill>
                  <a:srgbClr val="C393C3"/>
                </a:solidFill>
                <a:highlight>
                  <a:schemeClr val="dk1"/>
                </a:highlight>
                <a:latin typeface="Consolas"/>
                <a:ea typeface="Consolas"/>
                <a:cs typeface="Consolas"/>
                <a:sym typeface="Consolas"/>
              </a:rPr>
              <a:t>return </a:t>
            </a:r>
            <a:r>
              <a:rPr b="1" lang="en" sz="1800">
                <a:solidFill>
                  <a:srgbClr val="F8B662"/>
                </a:solidFill>
                <a:highlight>
                  <a:schemeClr val="dk1"/>
                </a:highlight>
                <a:latin typeface="Consolas"/>
                <a:ea typeface="Consolas"/>
                <a:cs typeface="Consolas"/>
                <a:sym typeface="Consolas"/>
              </a:rPr>
              <a:t>0</a:t>
            </a:r>
            <a:r>
              <a:rPr b="1" lang="en" sz="1800">
                <a:solidFill>
                  <a:srgbClr val="8C9196"/>
                </a:solidFill>
                <a:highlight>
                  <a:schemeClr val="dk1"/>
                </a:highlight>
                <a:latin typeface="Consolas"/>
                <a:ea typeface="Consolas"/>
                <a:cs typeface="Consolas"/>
                <a:sym typeface="Consolas"/>
              </a:rPr>
              <a:t>;</a:t>
            </a:r>
            <a:endParaRPr b="1" sz="18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800">
                <a:solidFill>
                  <a:srgbClr val="E2E3E4"/>
                </a:solidFill>
                <a:highlight>
                  <a:schemeClr val="dk1"/>
                </a:highlight>
                <a:latin typeface="Consolas"/>
                <a:ea typeface="Consolas"/>
                <a:cs typeface="Consolas"/>
                <a:sym typeface="Consolas"/>
              </a:rPr>
              <a:t>}</a:t>
            </a:r>
            <a:endParaRPr b="1" sz="1800">
              <a:solidFill>
                <a:srgbClr val="E2E3E4"/>
              </a:solidFill>
              <a:highlight>
                <a:schemeClr val="dk1"/>
              </a:highlight>
              <a:latin typeface="Consolas"/>
              <a:ea typeface="Consolas"/>
              <a:cs typeface="Consolas"/>
              <a:sym typeface="Consolas"/>
            </a:endParaRPr>
          </a:p>
        </p:txBody>
      </p:sp>
      <p:pic>
        <p:nvPicPr>
          <p:cNvPr id="229" name="Google Shape;229;p32"/>
          <p:cNvPicPr preferRelativeResize="0"/>
          <p:nvPr/>
        </p:nvPicPr>
        <p:blipFill>
          <a:blip r:embed="rId3">
            <a:alphaModFix/>
          </a:blip>
          <a:stretch>
            <a:fillRect/>
          </a:stretch>
        </p:blipFill>
        <p:spPr>
          <a:xfrm>
            <a:off x="6206275" y="470225"/>
            <a:ext cx="2843100" cy="453137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Zero HashCode Function</a:t>
            </a:r>
            <a:endParaRPr/>
          </a:p>
        </p:txBody>
      </p:sp>
      <p:pic>
        <p:nvPicPr>
          <p:cNvPr id="235" name="Google Shape;235;p33"/>
          <p:cNvPicPr preferRelativeResize="0"/>
          <p:nvPr/>
        </p:nvPicPr>
        <p:blipFill>
          <a:blip r:embed="rId3">
            <a:alphaModFix/>
          </a:blip>
          <a:stretch>
            <a:fillRect/>
          </a:stretch>
        </p:blipFill>
        <p:spPr>
          <a:xfrm>
            <a:off x="3944125" y="486500"/>
            <a:ext cx="4928123" cy="4445102"/>
          </a:xfrm>
          <a:prstGeom prst="rect">
            <a:avLst/>
          </a:prstGeom>
          <a:noFill/>
          <a:ln>
            <a:noFill/>
          </a:ln>
        </p:spPr>
      </p:pic>
      <p:sp>
        <p:nvSpPr>
          <p:cNvPr id="236" name="Google Shape;236;p33"/>
          <p:cNvSpPr txBox="1"/>
          <p:nvPr>
            <p:ph idx="1" type="body"/>
          </p:nvPr>
        </p:nvSpPr>
        <p:spPr>
          <a:xfrm>
            <a:off x="107047" y="402200"/>
            <a:ext cx="38370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resulting distribution is to the right.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40" name="Shape 240"/>
        <p:cNvGrpSpPr/>
        <p:nvPr/>
      </p:nvGrpSpPr>
      <p:grpSpPr>
        <a:xfrm>
          <a:off x="0" y="0"/>
          <a:ext cx="0" cy="0"/>
          <a:chOff x="0" y="0"/>
          <a:chExt cx="0" cy="0"/>
        </a:xfrm>
      </p:grpSpPr>
      <p:sp>
        <p:nvSpPr>
          <p:cNvPr id="241" name="Google Shape;241;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Designing a Hash Function</a:t>
            </a:r>
            <a:endParaRPr/>
          </a:p>
        </p:txBody>
      </p:sp>
      <p:sp>
        <p:nvSpPr>
          <p:cNvPr id="242" name="Google Shape;242;p3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hash function will result in the distribution to the right?</a:t>
            </a:r>
            <a:endParaRPr/>
          </a:p>
        </p:txBody>
      </p:sp>
      <p:pic>
        <p:nvPicPr>
          <p:cNvPr id="243" name="Google Shape;243;p34"/>
          <p:cNvPicPr preferRelativeResize="0"/>
          <p:nvPr/>
        </p:nvPicPr>
        <p:blipFill>
          <a:blip r:embed="rId3">
            <a:alphaModFix/>
          </a:blip>
          <a:stretch>
            <a:fillRect/>
          </a:stretch>
        </p:blipFill>
        <p:spPr>
          <a:xfrm>
            <a:off x="6566100" y="522375"/>
            <a:ext cx="2295450" cy="4553102"/>
          </a:xfrm>
          <a:prstGeom prst="rect">
            <a:avLst/>
          </a:prstGeom>
          <a:noFill/>
          <a:ln>
            <a:noFill/>
          </a:ln>
        </p:spPr>
      </p:pic>
      <p:sp>
        <p:nvSpPr>
          <p:cNvPr id="244" name="Google Shape;244;p34"/>
          <p:cNvSpPr txBox="1"/>
          <p:nvPr/>
        </p:nvSpPr>
        <p:spPr>
          <a:xfrm>
            <a:off x="552625" y="1165375"/>
            <a:ext cx="3000000" cy="738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C393C3"/>
                </a:solidFill>
                <a:highlight>
                  <a:schemeClr val="dk1"/>
                </a:highlight>
                <a:latin typeface="Consolas"/>
                <a:ea typeface="Consolas"/>
                <a:cs typeface="Consolas"/>
                <a:sym typeface="Consolas"/>
              </a:rPr>
              <a:t>private int </a:t>
            </a:r>
            <a:r>
              <a:rPr b="1" lang="en" sz="1800">
                <a:solidFill>
                  <a:srgbClr val="E2E3E4"/>
                </a:solidFill>
                <a:highlight>
                  <a:schemeClr val="dk1"/>
                </a:highlight>
                <a:latin typeface="Consolas"/>
                <a:ea typeface="Consolas"/>
                <a:cs typeface="Consolas"/>
                <a:sym typeface="Consolas"/>
              </a:rPr>
              <a:t>num</a:t>
            </a:r>
            <a:r>
              <a:rPr b="1" lang="en" sz="1800">
                <a:solidFill>
                  <a:srgbClr val="8C9196"/>
                </a:solidFill>
                <a:highlight>
                  <a:schemeClr val="dk1"/>
                </a:highlight>
                <a:latin typeface="Consolas"/>
                <a:ea typeface="Consolas"/>
                <a:cs typeface="Consolas"/>
                <a:sym typeface="Consolas"/>
              </a:rPr>
              <a:t>;</a:t>
            </a:r>
            <a:endParaRPr b="1" sz="18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800">
                <a:solidFill>
                  <a:srgbClr val="C393C3"/>
                </a:solidFill>
                <a:highlight>
                  <a:schemeClr val="dk1"/>
                </a:highlight>
                <a:latin typeface="Consolas"/>
                <a:ea typeface="Consolas"/>
                <a:cs typeface="Consolas"/>
                <a:sym typeface="Consolas"/>
              </a:rPr>
              <a:t>private </a:t>
            </a:r>
            <a:r>
              <a:rPr b="1" lang="en" sz="1800">
                <a:solidFill>
                  <a:srgbClr val="F8B662"/>
                </a:solidFill>
                <a:highlight>
                  <a:schemeClr val="dk1"/>
                </a:highlight>
                <a:latin typeface="Consolas"/>
                <a:ea typeface="Consolas"/>
                <a:cs typeface="Consolas"/>
                <a:sym typeface="Consolas"/>
              </a:rPr>
              <a:t>Color </a:t>
            </a:r>
            <a:r>
              <a:rPr b="1" lang="en" sz="1800">
                <a:solidFill>
                  <a:srgbClr val="E2E3E4"/>
                </a:solidFill>
                <a:highlight>
                  <a:schemeClr val="dk1"/>
                </a:highlight>
                <a:latin typeface="Consolas"/>
                <a:ea typeface="Consolas"/>
                <a:cs typeface="Consolas"/>
                <a:sym typeface="Consolas"/>
              </a:rPr>
              <a:t>color</a:t>
            </a:r>
            <a:r>
              <a:rPr b="1" lang="en" sz="1800">
                <a:solidFill>
                  <a:srgbClr val="8C9196"/>
                </a:solidFill>
                <a:highlight>
                  <a:schemeClr val="dk1"/>
                </a:highlight>
                <a:latin typeface="Consolas"/>
                <a:ea typeface="Consolas"/>
                <a:cs typeface="Consolas"/>
                <a:sym typeface="Consolas"/>
              </a:rPr>
              <a:t>;</a:t>
            </a:r>
            <a:endParaRPr b="1" sz="1800">
              <a:solidFill>
                <a:srgbClr val="8C9196"/>
              </a:solidFill>
              <a:highlight>
                <a:schemeClr val="dk1"/>
              </a:highlight>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8" name="Shape 248"/>
        <p:cNvGrpSpPr/>
        <p:nvPr/>
      </p:nvGrpSpPr>
      <p:grpSpPr>
        <a:xfrm>
          <a:off x="0" y="0"/>
          <a:ext cx="0" cy="0"/>
          <a:chOff x="0" y="0"/>
          <a:chExt cx="0" cy="0"/>
        </a:xfrm>
      </p:grpSpPr>
      <p:sp>
        <p:nvSpPr>
          <p:cNvPr id="249" name="Google Shape;249;p3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Designing a Hash Function</a:t>
            </a:r>
            <a:endParaRPr/>
          </a:p>
        </p:txBody>
      </p:sp>
      <p:sp>
        <p:nvSpPr>
          <p:cNvPr id="250" name="Google Shape;250;p3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hash function will result in the distribution to the right?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Your</a:t>
            </a:r>
            <a:r>
              <a:rPr lang="en"/>
              <a:t> answer?</a:t>
            </a:r>
            <a:endParaRPr/>
          </a:p>
          <a:p>
            <a:pPr indent="-342900" lvl="0" marL="457200" rtl="0" algn="l">
              <a:spcBef>
                <a:spcPts val="600"/>
              </a:spcBef>
              <a:spcAft>
                <a:spcPts val="0"/>
              </a:spcAft>
              <a:buSzPts val="1800"/>
              <a:buChar char="●"/>
            </a:pPr>
            <a:r>
              <a:rPr lang="en"/>
              <a:t>num</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Let’s check it.</a:t>
            </a:r>
            <a:endParaRPr/>
          </a:p>
        </p:txBody>
      </p:sp>
      <p:pic>
        <p:nvPicPr>
          <p:cNvPr id="251" name="Google Shape;251;p35"/>
          <p:cNvPicPr preferRelativeResize="0"/>
          <p:nvPr/>
        </p:nvPicPr>
        <p:blipFill>
          <a:blip r:embed="rId3">
            <a:alphaModFix/>
          </a:blip>
          <a:stretch>
            <a:fillRect/>
          </a:stretch>
        </p:blipFill>
        <p:spPr>
          <a:xfrm>
            <a:off x="6566100" y="522375"/>
            <a:ext cx="2295450" cy="4553102"/>
          </a:xfrm>
          <a:prstGeom prst="rect">
            <a:avLst/>
          </a:prstGeom>
          <a:noFill/>
          <a:ln>
            <a:noFill/>
          </a:ln>
        </p:spPr>
      </p:pic>
      <p:sp>
        <p:nvSpPr>
          <p:cNvPr id="252" name="Google Shape;252;p35"/>
          <p:cNvSpPr txBox="1"/>
          <p:nvPr/>
        </p:nvSpPr>
        <p:spPr>
          <a:xfrm>
            <a:off x="552625" y="1165375"/>
            <a:ext cx="3000000" cy="738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C393C3"/>
                </a:solidFill>
                <a:highlight>
                  <a:schemeClr val="dk1"/>
                </a:highlight>
                <a:latin typeface="Consolas"/>
                <a:ea typeface="Consolas"/>
                <a:cs typeface="Consolas"/>
                <a:sym typeface="Consolas"/>
              </a:rPr>
              <a:t>private int </a:t>
            </a:r>
            <a:r>
              <a:rPr b="1" lang="en" sz="1800">
                <a:solidFill>
                  <a:srgbClr val="E2E3E4"/>
                </a:solidFill>
                <a:highlight>
                  <a:schemeClr val="dk1"/>
                </a:highlight>
                <a:latin typeface="Consolas"/>
                <a:ea typeface="Consolas"/>
                <a:cs typeface="Consolas"/>
                <a:sym typeface="Consolas"/>
              </a:rPr>
              <a:t>num</a:t>
            </a:r>
            <a:r>
              <a:rPr b="1" lang="en" sz="1800">
                <a:solidFill>
                  <a:srgbClr val="8C9196"/>
                </a:solidFill>
                <a:highlight>
                  <a:schemeClr val="dk1"/>
                </a:highlight>
                <a:latin typeface="Consolas"/>
                <a:ea typeface="Consolas"/>
                <a:cs typeface="Consolas"/>
                <a:sym typeface="Consolas"/>
              </a:rPr>
              <a:t>;</a:t>
            </a:r>
            <a:endParaRPr b="1" sz="18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800">
                <a:solidFill>
                  <a:srgbClr val="C393C3"/>
                </a:solidFill>
                <a:highlight>
                  <a:schemeClr val="dk1"/>
                </a:highlight>
                <a:latin typeface="Consolas"/>
                <a:ea typeface="Consolas"/>
                <a:cs typeface="Consolas"/>
                <a:sym typeface="Consolas"/>
              </a:rPr>
              <a:t>private </a:t>
            </a:r>
            <a:r>
              <a:rPr b="1" lang="en" sz="1800">
                <a:solidFill>
                  <a:srgbClr val="F8B662"/>
                </a:solidFill>
                <a:highlight>
                  <a:schemeClr val="dk1"/>
                </a:highlight>
                <a:latin typeface="Consolas"/>
                <a:ea typeface="Consolas"/>
                <a:cs typeface="Consolas"/>
                <a:sym typeface="Consolas"/>
              </a:rPr>
              <a:t>Color </a:t>
            </a:r>
            <a:r>
              <a:rPr b="1" lang="en" sz="1800">
                <a:solidFill>
                  <a:srgbClr val="E2E3E4"/>
                </a:solidFill>
                <a:highlight>
                  <a:schemeClr val="dk1"/>
                </a:highlight>
                <a:latin typeface="Consolas"/>
                <a:ea typeface="Consolas"/>
                <a:cs typeface="Consolas"/>
                <a:sym typeface="Consolas"/>
              </a:rPr>
              <a:t>color</a:t>
            </a:r>
            <a:r>
              <a:rPr b="1" lang="en" sz="1800">
                <a:solidFill>
                  <a:srgbClr val="8C9196"/>
                </a:solidFill>
                <a:highlight>
                  <a:schemeClr val="dk1"/>
                </a:highlight>
                <a:latin typeface="Consolas"/>
                <a:ea typeface="Consolas"/>
                <a:cs typeface="Consolas"/>
                <a:sym typeface="Consolas"/>
              </a:rPr>
              <a:t>;</a:t>
            </a:r>
            <a:endParaRPr b="1" sz="1800">
              <a:solidFill>
                <a:srgbClr val="8C9196"/>
              </a:solidFill>
              <a:highlight>
                <a:schemeClr val="dk1"/>
              </a:highlight>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More Exotic Hash Functions</a:t>
            </a:r>
            <a:endParaRPr/>
          </a:p>
        </p:txBody>
      </p:sp>
      <p:sp>
        <p:nvSpPr>
          <p:cNvPr id="258" name="Google Shape;258;p3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can define whatever hash function we want:</a:t>
            </a:r>
            <a:endParaRPr/>
          </a:p>
          <a:p>
            <a:pPr indent="-342900" lvl="0" marL="457200" rtl="0" algn="l">
              <a:spcBef>
                <a:spcPts val="600"/>
              </a:spcBef>
              <a:spcAft>
                <a:spcPts val="0"/>
              </a:spcAft>
              <a:buSzPts val="1800"/>
              <a:buChar char="●"/>
            </a:pPr>
            <a:r>
              <a:rPr lang="en"/>
              <a:t>Leading digit.</a:t>
            </a:r>
            <a:endParaRPr/>
          </a:p>
          <a:p>
            <a:pPr indent="-342900" lvl="0" marL="457200" rtl="0" algn="l">
              <a:spcBef>
                <a:spcPts val="0"/>
              </a:spcBef>
              <a:spcAft>
                <a:spcPts val="0"/>
              </a:spcAft>
              <a:buSzPts val="1800"/>
              <a:buChar char="●"/>
            </a:pPr>
            <a:r>
              <a:rPr lang="en"/>
              <a:t>Sum of the digits.</a:t>
            </a:r>
            <a:endParaRPr/>
          </a:p>
          <a:p>
            <a:pPr indent="-342900" lvl="0" marL="457200" rtl="0" algn="l">
              <a:spcBef>
                <a:spcPts val="0"/>
              </a:spcBef>
              <a:spcAft>
                <a:spcPts val="0"/>
              </a:spcAft>
              <a:buSzPts val="1800"/>
              <a:buChar char="●"/>
            </a:pPr>
            <a:r>
              <a:rPr lang="en"/>
              <a:t>Length of the number. </a:t>
            </a:r>
            <a:endParaRPr/>
          </a:p>
          <a:p>
            <a:pPr indent="-342900" lvl="0" marL="457200" rtl="0" algn="l">
              <a:spcBef>
                <a:spcPts val="0"/>
              </a:spcBef>
              <a:spcAft>
                <a:spcPts val="0"/>
              </a:spcAft>
              <a:buSzPts val="1800"/>
              <a:buChar char="●"/>
            </a:pPr>
            <a:r>
              <a:rPr lang="en"/>
              <a:t>Something else?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Let’s try one. Which one do you want to try?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Visualization for Some Basic Cases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hashCode and Equals</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Why Custom Hash Functions?</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contains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Duplicate Values</a:t>
            </a:r>
            <a:endParaRPr>
              <a:solidFill>
                <a:srgbClr val="B7B7B7"/>
              </a:solidFill>
            </a:endParaRPr>
          </a:p>
          <a:p>
            <a:pPr indent="0" lvl="0" marL="0" rtl="0" algn="l">
              <a:spcBef>
                <a:spcPts val="600"/>
              </a:spcBef>
              <a:spcAft>
                <a:spcPts val="0"/>
              </a:spcAft>
              <a:buNone/>
            </a:pPr>
            <a:r>
              <a:rPr lang="en">
                <a:solidFill>
                  <a:srgbClr val="B7B7B7"/>
                </a:solidFill>
              </a:rPr>
              <a:t>The Danger of Mutable Keys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Mutable vs. Immutable Types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Mutable Hash Table Keys</a:t>
            </a:r>
            <a:endParaRPr>
              <a:solidFill>
                <a:srgbClr val="B7B7B7"/>
              </a:solidFill>
            </a:endParaRPr>
          </a:p>
          <a:p>
            <a:pPr indent="0" lvl="0" marL="0" rtl="0" algn="l">
              <a:spcBef>
                <a:spcPts val="600"/>
              </a:spcBef>
              <a:spcAft>
                <a:spcPts val="0"/>
              </a:spcAft>
              <a:buNone/>
            </a:pPr>
            <a:r>
              <a:rPr lang="en">
                <a:solidFill>
                  <a:srgbClr val="B7B7B7"/>
                </a:solidFill>
              </a:rPr>
              <a:t>A Peek into Java HashSets</a:t>
            </a:r>
            <a:endParaRPr>
              <a:solidFill>
                <a:srgbClr val="B7B7B7"/>
              </a:solidFill>
            </a:endParaRPr>
          </a:p>
        </p:txBody>
      </p:sp>
      <p:sp>
        <p:nvSpPr>
          <p:cNvPr id="264" name="Google Shape;264;p3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Custom Hash Functions?</a:t>
            </a:r>
            <a:endParaRPr/>
          </a:p>
        </p:txBody>
      </p:sp>
      <p:sp>
        <p:nvSpPr>
          <p:cNvPr id="265" name="Google Shape;265;p3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20, CS61B, Fall 2023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9" name="Shape 269"/>
        <p:cNvGrpSpPr/>
        <p:nvPr/>
      </p:nvGrpSpPr>
      <p:grpSpPr>
        <a:xfrm>
          <a:off x="0" y="0"/>
          <a:ext cx="0" cy="0"/>
          <a:chOff x="0" y="0"/>
          <a:chExt cx="0" cy="0"/>
        </a:xfrm>
      </p:grpSpPr>
      <p:sp>
        <p:nvSpPr>
          <p:cNvPr id="270" name="Google Shape;270;p3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mentioned that the goal of a hash function is to try to spread items out evenly. </a:t>
            </a:r>
            <a:endParaRPr/>
          </a:p>
          <a:p>
            <a:pPr indent="-342900" lvl="0" marL="457200" rtl="0" algn="l">
              <a:spcBef>
                <a:spcPts val="600"/>
              </a:spcBef>
              <a:spcAft>
                <a:spcPts val="0"/>
              </a:spcAft>
              <a:buSzPts val="1800"/>
              <a:buChar char="●"/>
            </a:pPr>
            <a:r>
              <a:rPr lang="en"/>
              <a:t>No spread: Returning 0.</a:t>
            </a:r>
            <a:endParaRPr/>
          </a:p>
          <a:p>
            <a:pPr indent="-342900" lvl="0" marL="457200" rtl="0" algn="l">
              <a:spcBef>
                <a:spcPts val="0"/>
              </a:spcBef>
              <a:spcAft>
                <a:spcPts val="0"/>
              </a:spcAft>
              <a:buSzPts val="1800"/>
              <a:buChar char="●"/>
            </a:pPr>
            <a:r>
              <a:rPr lang="en"/>
              <a:t>Bad spread: Returning sum of the digits.</a:t>
            </a:r>
            <a:endParaRPr/>
          </a:p>
          <a:p>
            <a:pPr indent="-342900" lvl="0" marL="457200" rtl="0" algn="l">
              <a:spcBef>
                <a:spcPts val="0"/>
              </a:spcBef>
              <a:spcAft>
                <a:spcPts val="0"/>
              </a:spcAft>
              <a:buSzPts val="1800"/>
              <a:buChar char="●"/>
            </a:pPr>
            <a:r>
              <a:rPr lang="en"/>
              <a:t>Good spread: Returning num.</a:t>
            </a:r>
            <a:endParaRPr/>
          </a:p>
        </p:txBody>
      </p:sp>
      <p:sp>
        <p:nvSpPr>
          <p:cNvPr id="271" name="Google Shape;271;p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HashCode Comparison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275" name="Shape 275"/>
        <p:cNvGrpSpPr/>
        <p:nvPr/>
      </p:nvGrpSpPr>
      <p:grpSpPr>
        <a:xfrm>
          <a:off x="0" y="0"/>
          <a:ext cx="0" cy="0"/>
          <a:chOff x="0" y="0"/>
          <a:chExt cx="0" cy="0"/>
        </a:xfrm>
      </p:grpSpPr>
      <p:sp>
        <p:nvSpPr>
          <p:cNvPr id="276" name="Google Shape;276;p3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mentioned that the goal of a hash function is to try to spread items out evenly. </a:t>
            </a:r>
            <a:endParaRPr/>
          </a:p>
          <a:p>
            <a:pPr indent="-342900" lvl="0" marL="457200" rtl="0" algn="l">
              <a:spcBef>
                <a:spcPts val="600"/>
              </a:spcBef>
              <a:spcAft>
                <a:spcPts val="0"/>
              </a:spcAft>
              <a:buSzPts val="1800"/>
              <a:buChar char="●"/>
            </a:pPr>
            <a:r>
              <a:rPr lang="en"/>
              <a:t>No spread: Returning 0.</a:t>
            </a:r>
            <a:endParaRPr/>
          </a:p>
          <a:p>
            <a:pPr indent="-342900" lvl="0" marL="457200" rtl="0" algn="l">
              <a:spcBef>
                <a:spcPts val="0"/>
              </a:spcBef>
              <a:spcAft>
                <a:spcPts val="0"/>
              </a:spcAft>
              <a:buSzPts val="1800"/>
              <a:buChar char="●"/>
            </a:pPr>
            <a:r>
              <a:rPr lang="en"/>
              <a:t>Bad spread: Returning sum of the digits.</a:t>
            </a:r>
            <a:endParaRPr/>
          </a:p>
          <a:p>
            <a:pPr indent="-342900" lvl="0" marL="457200" rtl="0" algn="l">
              <a:spcBef>
                <a:spcPts val="0"/>
              </a:spcBef>
              <a:spcAft>
                <a:spcPts val="0"/>
              </a:spcAft>
              <a:buSzPts val="1800"/>
              <a:buChar char="●"/>
            </a:pPr>
            <a:r>
              <a:rPr lang="en"/>
              <a:t>Good spread: Returning num.</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do you think about the spread of the default hashCode, which returns the memory address?</a:t>
            </a:r>
            <a:endParaRPr/>
          </a:p>
          <a:p>
            <a:pPr indent="-342900" lvl="0" marL="457200" rtl="0" algn="l">
              <a:spcBef>
                <a:spcPts val="600"/>
              </a:spcBef>
              <a:spcAft>
                <a:spcPts val="0"/>
              </a:spcAft>
              <a:buSzPts val="1800"/>
              <a:buAutoNum type="alphaUcPeriod"/>
            </a:pPr>
            <a:r>
              <a:rPr lang="en"/>
              <a:t>No spread.</a:t>
            </a:r>
            <a:endParaRPr/>
          </a:p>
          <a:p>
            <a:pPr indent="-342900" lvl="0" marL="457200" rtl="0" algn="l">
              <a:spcBef>
                <a:spcPts val="0"/>
              </a:spcBef>
              <a:spcAft>
                <a:spcPts val="0"/>
              </a:spcAft>
              <a:buSzPts val="1800"/>
              <a:buAutoNum type="alphaUcPeriod"/>
            </a:pPr>
            <a:r>
              <a:rPr lang="en"/>
              <a:t>Bad spread.</a:t>
            </a:r>
            <a:endParaRPr/>
          </a:p>
          <a:p>
            <a:pPr indent="-342900" lvl="0" marL="457200" rtl="0" algn="l">
              <a:spcBef>
                <a:spcPts val="0"/>
              </a:spcBef>
              <a:spcAft>
                <a:spcPts val="0"/>
              </a:spcAft>
              <a:buSzPts val="1800"/>
              <a:buAutoNum type="alphaUcPeriod"/>
            </a:pPr>
            <a:r>
              <a:rPr lang="en"/>
              <a:t>Good spread.</a:t>
            </a:r>
            <a:endParaRPr/>
          </a:p>
        </p:txBody>
      </p:sp>
      <p:sp>
        <p:nvSpPr>
          <p:cNvPr id="277" name="Google Shape;277;p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Default hashCode: yellkey.com</a:t>
            </a:r>
            <a:r>
              <a:rPr lang="en">
                <a:solidFill>
                  <a:srgbClr val="208920"/>
                </a:solidFill>
              </a:rPr>
              <a:t>/part</a:t>
            </a:r>
            <a:endParaRPr>
              <a:solidFill>
                <a:srgbClr val="20892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1" name="Shape 281"/>
        <p:cNvGrpSpPr/>
        <p:nvPr/>
      </p:nvGrpSpPr>
      <p:grpSpPr>
        <a:xfrm>
          <a:off x="0" y="0"/>
          <a:ext cx="0" cy="0"/>
          <a:chOff x="0" y="0"/>
          <a:chExt cx="0" cy="0"/>
        </a:xfrm>
      </p:grpSpPr>
      <p:sp>
        <p:nvSpPr>
          <p:cNvPr id="282" name="Google Shape;282;p4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mentioned that the goal of a hash function is to try to spread items out evenly. </a:t>
            </a:r>
            <a:endParaRPr/>
          </a:p>
          <a:p>
            <a:pPr indent="-342900" lvl="0" marL="457200" rtl="0" algn="l">
              <a:spcBef>
                <a:spcPts val="600"/>
              </a:spcBef>
              <a:spcAft>
                <a:spcPts val="0"/>
              </a:spcAft>
              <a:buSzPts val="1800"/>
              <a:buChar char="●"/>
            </a:pPr>
            <a:r>
              <a:rPr lang="en"/>
              <a:t>No spread: Returning 0.</a:t>
            </a:r>
            <a:endParaRPr/>
          </a:p>
          <a:p>
            <a:pPr indent="-342900" lvl="0" marL="457200" rtl="0" algn="l">
              <a:spcBef>
                <a:spcPts val="0"/>
              </a:spcBef>
              <a:spcAft>
                <a:spcPts val="0"/>
              </a:spcAft>
              <a:buSzPts val="1800"/>
              <a:buChar char="●"/>
            </a:pPr>
            <a:r>
              <a:rPr lang="en"/>
              <a:t>Bad spread: Returning sum of the digits.</a:t>
            </a:r>
            <a:endParaRPr/>
          </a:p>
          <a:p>
            <a:pPr indent="-342900" lvl="0" marL="457200" rtl="0" algn="l">
              <a:spcBef>
                <a:spcPts val="0"/>
              </a:spcBef>
              <a:spcAft>
                <a:spcPts val="0"/>
              </a:spcAft>
              <a:buSzPts val="1800"/>
              <a:buChar char="●"/>
            </a:pPr>
            <a:r>
              <a:rPr lang="en"/>
              <a:t>Good spread: Returning num.</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do you think about the spread of the default hashCode, which returns the memory address?</a:t>
            </a:r>
            <a:endParaRPr/>
          </a:p>
          <a:p>
            <a:pPr indent="-342900" lvl="0" marL="457200" rtl="0" algn="l">
              <a:spcBef>
                <a:spcPts val="600"/>
              </a:spcBef>
              <a:spcAft>
                <a:spcPts val="0"/>
              </a:spcAft>
              <a:buSzPts val="1800"/>
              <a:buAutoNum type="alphaUcPeriod"/>
            </a:pPr>
            <a:r>
              <a:rPr lang="en"/>
              <a:t>No spread.</a:t>
            </a:r>
            <a:endParaRPr/>
          </a:p>
          <a:p>
            <a:pPr indent="-342900" lvl="0" marL="457200" rtl="0" algn="l">
              <a:spcBef>
                <a:spcPts val="0"/>
              </a:spcBef>
              <a:spcAft>
                <a:spcPts val="0"/>
              </a:spcAft>
              <a:buSzPts val="1800"/>
              <a:buAutoNum type="alphaUcPeriod"/>
            </a:pPr>
            <a:r>
              <a:rPr lang="en"/>
              <a:t>Bad spread.</a:t>
            </a:r>
            <a:endParaRPr/>
          </a:p>
          <a:p>
            <a:pPr indent="-342900" lvl="0" marL="457200" rtl="0" algn="l">
              <a:spcBef>
                <a:spcPts val="0"/>
              </a:spcBef>
              <a:spcAft>
                <a:spcPts val="0"/>
              </a:spcAft>
              <a:buSzPts val="1800"/>
              <a:buAutoNum type="alphaUcPeriod"/>
            </a:pPr>
            <a:r>
              <a:rPr b="1" lang="en"/>
              <a:t>Good spread: The memory address is effectively random, so items should be evenly distributed.</a:t>
            </a:r>
            <a:endParaRPr/>
          </a:p>
        </p:txBody>
      </p:sp>
      <p:sp>
        <p:nvSpPr>
          <p:cNvPr id="283" name="Google Shape;283;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Default hashCode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87" name="Shape 287"/>
        <p:cNvGrpSpPr/>
        <p:nvPr/>
      </p:nvGrpSpPr>
      <p:grpSpPr>
        <a:xfrm>
          <a:off x="0" y="0"/>
          <a:ext cx="0" cy="0"/>
          <a:chOff x="0" y="0"/>
          <a:chExt cx="0" cy="0"/>
        </a:xfrm>
      </p:grpSpPr>
      <p:sp>
        <p:nvSpPr>
          <p:cNvPr id="288" name="Google Shape;288;p4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Hard Question</a:t>
            </a:r>
            <a:endParaRPr/>
          </a:p>
        </p:txBody>
      </p:sp>
      <p:sp>
        <p:nvSpPr>
          <p:cNvPr id="289" name="Google Shape;289;p41"/>
          <p:cNvSpPr txBox="1"/>
          <p:nvPr>
            <p:ph idx="1" type="body"/>
          </p:nvPr>
        </p:nvSpPr>
        <p:spPr>
          <a:xfrm>
            <a:off x="107048" y="402200"/>
            <a:ext cx="5988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If the default hashCode achieves good spread, why do we even bother to create custom hash functions?</a:t>
            </a:r>
            <a:endParaRPr/>
          </a:p>
        </p:txBody>
      </p:sp>
      <p:pic>
        <p:nvPicPr>
          <p:cNvPr id="290" name="Google Shape;290;p41"/>
          <p:cNvPicPr preferRelativeResize="0"/>
          <p:nvPr/>
        </p:nvPicPr>
        <p:blipFill>
          <a:blip r:embed="rId3">
            <a:alphaModFix/>
          </a:blip>
          <a:stretch>
            <a:fillRect/>
          </a:stretch>
        </p:blipFill>
        <p:spPr>
          <a:xfrm>
            <a:off x="5979800" y="586600"/>
            <a:ext cx="2731975" cy="44208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2"/>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Visualization for Some Basic Cases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hashCode and Equals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Why Custom Hash Functions?</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contains</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Duplicate Values</a:t>
            </a:r>
            <a:endParaRPr>
              <a:solidFill>
                <a:srgbClr val="B7B7B7"/>
              </a:solidFill>
            </a:endParaRPr>
          </a:p>
          <a:p>
            <a:pPr indent="0" lvl="0" marL="0" rtl="0" algn="l">
              <a:spcBef>
                <a:spcPts val="600"/>
              </a:spcBef>
              <a:spcAft>
                <a:spcPts val="0"/>
              </a:spcAft>
              <a:buNone/>
            </a:pPr>
            <a:r>
              <a:rPr lang="en">
                <a:solidFill>
                  <a:srgbClr val="B7B7B7"/>
                </a:solidFill>
              </a:rPr>
              <a:t>The Danger of Mutable Keys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Mutable vs. Immutable Types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Mutable Hash Table Keys</a:t>
            </a:r>
            <a:endParaRPr>
              <a:solidFill>
                <a:srgbClr val="B7B7B7"/>
              </a:solidFill>
            </a:endParaRPr>
          </a:p>
          <a:p>
            <a:pPr indent="0" lvl="0" marL="0" rtl="0" algn="l">
              <a:spcBef>
                <a:spcPts val="600"/>
              </a:spcBef>
              <a:spcAft>
                <a:spcPts val="0"/>
              </a:spcAft>
              <a:buNone/>
            </a:pPr>
            <a:r>
              <a:rPr lang="en">
                <a:solidFill>
                  <a:srgbClr val="B7B7B7"/>
                </a:solidFill>
              </a:rPr>
              <a:t>A Peek into Java HashSets</a:t>
            </a:r>
            <a:endParaRPr>
              <a:solidFill>
                <a:srgbClr val="B7B7B7"/>
              </a:solidFill>
            </a:endParaRPr>
          </a:p>
        </p:txBody>
      </p:sp>
      <p:sp>
        <p:nvSpPr>
          <p:cNvPr id="296" name="Google Shape;296;p42"/>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contains</a:t>
            </a:r>
            <a:endParaRPr/>
          </a:p>
        </p:txBody>
      </p:sp>
      <p:sp>
        <p:nvSpPr>
          <p:cNvPr id="297" name="Google Shape;297;p42"/>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20, CS61B, Fall 2023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1" name="Shape 301"/>
        <p:cNvGrpSpPr/>
        <p:nvPr/>
      </p:nvGrpSpPr>
      <p:grpSpPr>
        <a:xfrm>
          <a:off x="0" y="0"/>
          <a:ext cx="0" cy="0"/>
          <a:chOff x="0" y="0"/>
          <a:chExt cx="0" cy="0"/>
        </a:xfrm>
      </p:grpSpPr>
      <p:sp>
        <p:nvSpPr>
          <p:cNvPr id="302" name="Google Shape;302;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equals Method for a ColoredNumber</a:t>
            </a:r>
            <a:endParaRPr/>
          </a:p>
        </p:txBody>
      </p:sp>
      <p:sp>
        <p:nvSpPr>
          <p:cNvPr id="303" name="Google Shape;303;p43"/>
          <p:cNvSpPr txBox="1"/>
          <p:nvPr>
            <p:ph idx="1" type="body"/>
          </p:nvPr>
        </p:nvSpPr>
        <p:spPr>
          <a:xfrm>
            <a:off x="107051" y="402200"/>
            <a:ext cx="85818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the equals method for </a:t>
            </a:r>
            <a:r>
              <a:rPr lang="en">
                <a:latin typeface="Consolas"/>
                <a:ea typeface="Consolas"/>
                <a:cs typeface="Consolas"/>
                <a:sym typeface="Consolas"/>
              </a:rPr>
              <a:t>ColoredNumber</a:t>
            </a:r>
            <a:r>
              <a:rPr lang="en"/>
              <a:t> is as below, i.e. two </a:t>
            </a:r>
            <a:r>
              <a:rPr lang="en">
                <a:latin typeface="Consolas"/>
                <a:ea typeface="Consolas"/>
                <a:cs typeface="Consolas"/>
                <a:sym typeface="Consolas"/>
              </a:rPr>
              <a:t>ColoredNumbers</a:t>
            </a:r>
            <a:r>
              <a:rPr lang="en"/>
              <a:t> are </a:t>
            </a:r>
            <a:r>
              <a:rPr lang="en"/>
              <a:t>equal</a:t>
            </a:r>
            <a:r>
              <a:rPr lang="en"/>
              <a:t> if they have the same </a:t>
            </a:r>
            <a:r>
              <a:rPr lang="en">
                <a:latin typeface="Consolas"/>
                <a:ea typeface="Consolas"/>
                <a:cs typeface="Consolas"/>
                <a:sym typeface="Consolas"/>
              </a:rPr>
              <a:t>num</a:t>
            </a:r>
            <a:r>
              <a:rPr lang="en"/>
              <a:t>.</a:t>
            </a:r>
            <a:endParaRPr/>
          </a:p>
        </p:txBody>
      </p:sp>
      <p:sp>
        <p:nvSpPr>
          <p:cNvPr id="304" name="Google Shape;304;p43"/>
          <p:cNvSpPr txBox="1"/>
          <p:nvPr/>
        </p:nvSpPr>
        <p:spPr>
          <a:xfrm>
            <a:off x="552600" y="1586300"/>
            <a:ext cx="5475000" cy="19086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600">
                <a:solidFill>
                  <a:srgbClr val="91AFCC"/>
                </a:solidFill>
                <a:highlight>
                  <a:schemeClr val="dk1"/>
                </a:highlight>
                <a:latin typeface="Consolas"/>
                <a:ea typeface="Consolas"/>
                <a:cs typeface="Consolas"/>
                <a:sym typeface="Consolas"/>
              </a:rPr>
              <a:t>@Override</a:t>
            </a:r>
            <a:endParaRPr b="1" sz="1600">
              <a:solidFill>
                <a:srgbClr val="91AFCC"/>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sz="1600">
                <a:solidFill>
                  <a:srgbClr val="C393C3"/>
                </a:solidFill>
                <a:highlight>
                  <a:schemeClr val="dk1"/>
                </a:highlight>
                <a:latin typeface="Consolas"/>
                <a:ea typeface="Consolas"/>
                <a:cs typeface="Consolas"/>
                <a:sym typeface="Consolas"/>
              </a:rPr>
              <a:t>public boolean </a:t>
            </a:r>
            <a:r>
              <a:rPr b="1" lang="en" sz="1600">
                <a:solidFill>
                  <a:srgbClr val="5EB2B2"/>
                </a:solidFill>
                <a:highlight>
                  <a:schemeClr val="dk1"/>
                </a:highlight>
                <a:latin typeface="Consolas"/>
                <a:ea typeface="Consolas"/>
                <a:cs typeface="Consolas"/>
                <a:sym typeface="Consolas"/>
              </a:rPr>
              <a:t>equals</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Object o</a:t>
            </a: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sz="1600">
                <a:solidFill>
                  <a:srgbClr val="E2E3E4"/>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if </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o </a:t>
            </a:r>
            <a:r>
              <a:rPr b="1" lang="en" sz="1600">
                <a:solidFill>
                  <a:srgbClr val="C393C3"/>
                </a:solidFill>
                <a:highlight>
                  <a:schemeClr val="dk1"/>
                </a:highlight>
                <a:latin typeface="Consolas"/>
                <a:ea typeface="Consolas"/>
                <a:cs typeface="Consolas"/>
                <a:sym typeface="Consolas"/>
              </a:rPr>
              <a:t>instanceof </a:t>
            </a:r>
            <a:r>
              <a:rPr b="1" lang="en" sz="1600">
                <a:solidFill>
                  <a:srgbClr val="F8B662"/>
                </a:solidFill>
                <a:highlight>
                  <a:schemeClr val="dk1"/>
                </a:highlight>
                <a:latin typeface="Consolas"/>
                <a:ea typeface="Consolas"/>
                <a:cs typeface="Consolas"/>
                <a:sym typeface="Consolas"/>
              </a:rPr>
              <a:t>ColoredNumber otherCn</a:t>
            </a: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sz="1600">
                <a:solidFill>
                  <a:srgbClr val="E2E3E4"/>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return this</a:t>
            </a:r>
            <a:r>
              <a:rPr b="1" lang="en" sz="1600">
                <a:solidFill>
                  <a:srgbClr val="8C9196"/>
                </a:solidFill>
                <a:highlight>
                  <a:schemeClr val="dk1"/>
                </a:highlight>
                <a:latin typeface="Consolas"/>
                <a:ea typeface="Consolas"/>
                <a:cs typeface="Consolas"/>
                <a:sym typeface="Consolas"/>
              </a:rPr>
              <a:t>.</a:t>
            </a:r>
            <a:r>
              <a:rPr b="1" lang="en" sz="1600">
                <a:solidFill>
                  <a:srgbClr val="E2E3E4"/>
                </a:solidFill>
                <a:highlight>
                  <a:schemeClr val="dk1"/>
                </a:highlight>
                <a:latin typeface="Consolas"/>
                <a:ea typeface="Consolas"/>
                <a:cs typeface="Consolas"/>
                <a:sym typeface="Consolas"/>
              </a:rPr>
              <a:t>num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otherCn</a:t>
            </a:r>
            <a:r>
              <a:rPr b="1" lang="en" sz="1600">
                <a:solidFill>
                  <a:srgbClr val="8C9196"/>
                </a:solidFill>
                <a:highlight>
                  <a:schemeClr val="dk1"/>
                </a:highlight>
                <a:latin typeface="Consolas"/>
                <a:ea typeface="Consolas"/>
                <a:cs typeface="Consolas"/>
                <a:sym typeface="Consolas"/>
              </a:rPr>
              <a:t>.</a:t>
            </a:r>
            <a:r>
              <a:rPr b="1" lang="en" sz="1600">
                <a:solidFill>
                  <a:srgbClr val="E2E3E4"/>
                </a:solidFill>
                <a:highlight>
                  <a:schemeClr val="dk1"/>
                </a:highlight>
                <a:latin typeface="Consolas"/>
                <a:ea typeface="Consolas"/>
                <a:cs typeface="Consolas"/>
                <a:sym typeface="Consolas"/>
              </a:rPr>
              <a:t>num</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sz="1600">
                <a:solidFill>
                  <a:srgbClr val="E2E3E4"/>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return false</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sz="1600">
                <a:solidFill>
                  <a:srgbClr val="E2E3E4"/>
                </a:solidFill>
                <a:highlight>
                  <a:schemeClr val="dk1"/>
                </a:highlight>
                <a:latin typeface="Consolas"/>
                <a:ea typeface="Consolas"/>
                <a:cs typeface="Consolas"/>
                <a:sym typeface="Consolas"/>
              </a:rPr>
              <a:t>}</a:t>
            </a:r>
            <a:endParaRPr b="1" sz="1600">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308" name="Shape 308"/>
        <p:cNvGrpSpPr/>
        <p:nvPr/>
      </p:nvGrpSpPr>
      <p:grpSpPr>
        <a:xfrm>
          <a:off x="0" y="0"/>
          <a:ext cx="0" cy="0"/>
          <a:chOff x="0" y="0"/>
          <a:chExt cx="0" cy="0"/>
        </a:xfrm>
      </p:grpSpPr>
      <p:sp>
        <p:nvSpPr>
          <p:cNvPr id="309" name="Google Shape;309;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HashSet Behavior</a:t>
            </a:r>
            <a:endParaRPr/>
          </a:p>
        </p:txBody>
      </p:sp>
      <p:sp>
        <p:nvSpPr>
          <p:cNvPr id="310" name="Google Shape;310;p44"/>
          <p:cNvSpPr txBox="1"/>
          <p:nvPr/>
        </p:nvSpPr>
        <p:spPr>
          <a:xfrm>
            <a:off x="484600" y="1201250"/>
            <a:ext cx="5271000" cy="1416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600">
                <a:solidFill>
                  <a:srgbClr val="C393C3"/>
                </a:solidFill>
                <a:highlight>
                  <a:schemeClr val="dk1"/>
                </a:highlight>
                <a:latin typeface="Consolas"/>
                <a:ea typeface="Consolas"/>
                <a:cs typeface="Consolas"/>
                <a:sym typeface="Consolas"/>
              </a:rPr>
              <a:t>int </a:t>
            </a:r>
            <a:r>
              <a:rPr b="1" lang="en" sz="1600">
                <a:solidFill>
                  <a:srgbClr val="E2E3E4"/>
                </a:solidFill>
                <a:highlight>
                  <a:schemeClr val="dk1"/>
                </a:highlight>
                <a:latin typeface="Consolas"/>
                <a:ea typeface="Consolas"/>
                <a:cs typeface="Consolas"/>
                <a:sym typeface="Consolas"/>
              </a:rPr>
              <a:t>N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20</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sz="1600">
                <a:solidFill>
                  <a:srgbClr val="F8B662"/>
                </a:solidFill>
                <a:highlight>
                  <a:schemeClr val="dk1"/>
                </a:highlight>
                <a:latin typeface="Consolas"/>
                <a:ea typeface="Consolas"/>
                <a:cs typeface="Consolas"/>
                <a:sym typeface="Consolas"/>
              </a:rPr>
              <a:t>HashSet</a:t>
            </a:r>
            <a:r>
              <a:rPr b="1" lang="en" sz="1600">
                <a:solidFill>
                  <a:srgbClr val="F48460"/>
                </a:solidFill>
                <a:highlight>
                  <a:schemeClr val="dk1"/>
                </a:highlight>
                <a:latin typeface="Consolas"/>
                <a:ea typeface="Consolas"/>
                <a:cs typeface="Consolas"/>
                <a:sym typeface="Consolas"/>
              </a:rPr>
              <a:t>&lt;</a:t>
            </a:r>
            <a:r>
              <a:rPr b="1" lang="en" sz="1600">
                <a:solidFill>
                  <a:srgbClr val="F8B662"/>
                </a:solidFill>
                <a:highlight>
                  <a:schemeClr val="dk1"/>
                </a:highlight>
                <a:latin typeface="Consolas"/>
                <a:ea typeface="Consolas"/>
                <a:cs typeface="Consolas"/>
                <a:sym typeface="Consolas"/>
              </a:rPr>
              <a:t>ColoredNumber</a:t>
            </a:r>
            <a:r>
              <a:rPr b="1" lang="en" sz="1600">
                <a:solidFill>
                  <a:srgbClr val="F48460"/>
                </a:solidFill>
                <a:highlight>
                  <a:schemeClr val="dk1"/>
                </a:highlight>
                <a:latin typeface="Consolas"/>
                <a:ea typeface="Consolas"/>
                <a:cs typeface="Consolas"/>
                <a:sym typeface="Consolas"/>
              </a:rPr>
              <a:t>&gt; </a:t>
            </a:r>
            <a:r>
              <a:rPr b="1" lang="en" sz="1600">
                <a:solidFill>
                  <a:srgbClr val="E2E3E4"/>
                </a:solidFill>
                <a:highlight>
                  <a:schemeClr val="dk1"/>
                </a:highlight>
                <a:latin typeface="Consolas"/>
                <a:ea typeface="Consolas"/>
                <a:cs typeface="Consolas"/>
                <a:sym typeface="Consolas"/>
              </a:rPr>
              <a:t>hs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HashSet</a:t>
            </a:r>
            <a:r>
              <a:rPr b="1" lang="en" sz="1600">
                <a:solidFill>
                  <a:srgbClr val="F48460"/>
                </a:solidFill>
                <a:highlight>
                  <a:schemeClr val="dk1"/>
                </a:highlight>
                <a:latin typeface="Consolas"/>
                <a:ea typeface="Consolas"/>
                <a:cs typeface="Consolas"/>
                <a:sym typeface="Consolas"/>
              </a:rPr>
              <a:t>&lt;&gt;</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sz="1600">
                <a:solidFill>
                  <a:srgbClr val="C393C3"/>
                </a:solidFill>
                <a:highlight>
                  <a:schemeClr val="dk1"/>
                </a:highlight>
                <a:latin typeface="Consolas"/>
                <a:ea typeface="Consolas"/>
                <a:cs typeface="Consolas"/>
                <a:sym typeface="Consolas"/>
              </a:rPr>
              <a:t>for </a:t>
            </a:r>
            <a:r>
              <a:rPr b="1" lang="en" sz="1600">
                <a:solidFill>
                  <a:srgbClr val="E2E3E4"/>
                </a:solidFill>
                <a:highlight>
                  <a:schemeClr val="dk1"/>
                </a:highlight>
                <a:latin typeface="Consolas"/>
                <a:ea typeface="Consolas"/>
                <a:cs typeface="Consolas"/>
                <a:sym typeface="Consolas"/>
              </a:rPr>
              <a:t>(</a:t>
            </a:r>
            <a:r>
              <a:rPr b="1" lang="en" sz="1600">
                <a:solidFill>
                  <a:srgbClr val="C393C3"/>
                </a:solidFill>
                <a:highlight>
                  <a:schemeClr val="dk1"/>
                </a:highlight>
                <a:latin typeface="Consolas"/>
                <a:ea typeface="Consolas"/>
                <a:cs typeface="Consolas"/>
                <a:sym typeface="Consolas"/>
              </a:rPr>
              <a:t>int </a:t>
            </a:r>
            <a:r>
              <a:rPr b="1" lang="en" sz="1600">
                <a:solidFill>
                  <a:srgbClr val="E2E3E4"/>
                </a:solidFill>
                <a:highlight>
                  <a:schemeClr val="dk1"/>
                </a:highlight>
                <a:latin typeface="Consolas"/>
                <a:ea typeface="Consolas"/>
                <a:cs typeface="Consolas"/>
                <a:sym typeface="Consolas"/>
              </a:rPr>
              <a:t>i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0</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i </a:t>
            </a:r>
            <a:r>
              <a:rPr b="1" lang="en" sz="1600">
                <a:solidFill>
                  <a:srgbClr val="F48460"/>
                </a:solidFill>
                <a:highlight>
                  <a:schemeClr val="dk1"/>
                </a:highlight>
                <a:latin typeface="Consolas"/>
                <a:ea typeface="Consolas"/>
                <a:cs typeface="Consolas"/>
                <a:sym typeface="Consolas"/>
              </a:rPr>
              <a:t>&lt; </a:t>
            </a:r>
            <a:r>
              <a:rPr b="1" lang="en" sz="1600">
                <a:solidFill>
                  <a:srgbClr val="E2E3E4"/>
                </a:solidFill>
                <a:highlight>
                  <a:schemeClr val="dk1"/>
                </a:highlight>
                <a:latin typeface="Consolas"/>
                <a:ea typeface="Consolas"/>
                <a:cs typeface="Consolas"/>
                <a:sym typeface="Consolas"/>
              </a:rPr>
              <a:t>N</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i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1</a:t>
            </a: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sz="1600">
                <a:solidFill>
                  <a:srgbClr val="E2E3E4"/>
                </a:solidFill>
                <a:highlight>
                  <a:schemeClr val="dk1"/>
                </a:highlight>
                <a:latin typeface="Consolas"/>
                <a:ea typeface="Consolas"/>
                <a:cs typeface="Consolas"/>
                <a:sym typeface="Consolas"/>
              </a:rPr>
              <a:t>   hs</a:t>
            </a:r>
            <a:r>
              <a:rPr b="1" lang="en" sz="1600">
                <a:solidFill>
                  <a:srgbClr val="8C9196"/>
                </a:solidFill>
                <a:highlight>
                  <a:schemeClr val="dk1"/>
                </a:highlight>
                <a:latin typeface="Consolas"/>
                <a:ea typeface="Consolas"/>
                <a:cs typeface="Consolas"/>
                <a:sym typeface="Consolas"/>
              </a:rPr>
              <a:t>.</a:t>
            </a:r>
            <a:r>
              <a:rPr b="1" lang="en" sz="1600">
                <a:solidFill>
                  <a:srgbClr val="5EB2B2"/>
                </a:solidFill>
                <a:highlight>
                  <a:schemeClr val="dk1"/>
                </a:highlight>
                <a:latin typeface="Consolas"/>
                <a:ea typeface="Consolas"/>
                <a:cs typeface="Consolas"/>
                <a:sym typeface="Consolas"/>
              </a:rPr>
              <a:t>add</a:t>
            </a:r>
            <a:r>
              <a:rPr b="1" lang="en" sz="1600">
                <a:solidFill>
                  <a:srgbClr val="E2E3E4"/>
                </a:solidFill>
                <a:highlight>
                  <a:schemeClr val="dk1"/>
                </a:highlight>
                <a:latin typeface="Consolas"/>
                <a:ea typeface="Consolas"/>
                <a:cs typeface="Consolas"/>
                <a:sym typeface="Consolas"/>
              </a:rPr>
              <a:t>(</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ColoredNumber</a:t>
            </a:r>
            <a:r>
              <a:rPr b="1" lang="en" sz="1600">
                <a:solidFill>
                  <a:srgbClr val="E2E3E4"/>
                </a:solidFill>
                <a:highlight>
                  <a:schemeClr val="dk1"/>
                </a:highlight>
                <a:latin typeface="Consolas"/>
                <a:ea typeface="Consolas"/>
                <a:cs typeface="Consolas"/>
                <a:sym typeface="Consolas"/>
              </a:rPr>
              <a:t>(i))</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a:t>
            </a:r>
            <a:endParaRPr b="1" sz="1600">
              <a:latin typeface="Consolas"/>
              <a:ea typeface="Consolas"/>
              <a:cs typeface="Consolas"/>
              <a:sym typeface="Consolas"/>
            </a:endParaRPr>
          </a:p>
        </p:txBody>
      </p:sp>
      <p:sp>
        <p:nvSpPr>
          <p:cNvPr id="311" name="Google Shape;311;p44"/>
          <p:cNvSpPr txBox="1"/>
          <p:nvPr/>
        </p:nvSpPr>
        <p:spPr>
          <a:xfrm>
            <a:off x="425700" y="3081050"/>
            <a:ext cx="5329800" cy="677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ColoredNumber </a:t>
            </a:r>
            <a:r>
              <a:rPr b="1" lang="en" sz="1600">
                <a:solidFill>
                  <a:srgbClr val="E2E3E4"/>
                </a:solidFill>
                <a:highlight>
                  <a:schemeClr val="dk1"/>
                </a:highlight>
                <a:latin typeface="Consolas"/>
                <a:ea typeface="Consolas"/>
                <a:cs typeface="Consolas"/>
                <a:sym typeface="Consolas"/>
              </a:rPr>
              <a:t>twelve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ColoredNumber</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12</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hs</a:t>
            </a:r>
            <a:r>
              <a:rPr b="1" lang="en" sz="1600">
                <a:solidFill>
                  <a:srgbClr val="8C9196"/>
                </a:solidFill>
                <a:highlight>
                  <a:schemeClr val="dk1"/>
                </a:highlight>
                <a:latin typeface="Consolas"/>
                <a:ea typeface="Consolas"/>
                <a:cs typeface="Consolas"/>
                <a:sym typeface="Consolas"/>
              </a:rPr>
              <a:t>.</a:t>
            </a:r>
            <a:r>
              <a:rPr b="1" lang="en" sz="1600">
                <a:solidFill>
                  <a:srgbClr val="5EB2B2"/>
                </a:solidFill>
                <a:highlight>
                  <a:schemeClr val="dk1"/>
                </a:highlight>
                <a:latin typeface="Consolas"/>
                <a:ea typeface="Consolas"/>
                <a:cs typeface="Consolas"/>
                <a:sym typeface="Consolas"/>
              </a:rPr>
              <a:t>contains</a:t>
            </a:r>
            <a:r>
              <a:rPr b="1" lang="en" sz="1600">
                <a:solidFill>
                  <a:srgbClr val="E2E3E4"/>
                </a:solidFill>
                <a:highlight>
                  <a:schemeClr val="dk1"/>
                </a:highlight>
                <a:latin typeface="Consolas"/>
                <a:ea typeface="Consolas"/>
                <a:cs typeface="Consolas"/>
                <a:sym typeface="Consolas"/>
              </a:rPr>
              <a:t>(twelve)</a:t>
            </a:r>
            <a:r>
              <a:rPr b="1" lang="en" sz="1600">
                <a:solidFill>
                  <a:srgbClr val="8C9196"/>
                </a:solidFill>
                <a:highlight>
                  <a:schemeClr val="dk1"/>
                </a:highlight>
                <a:latin typeface="Consolas"/>
                <a:ea typeface="Consolas"/>
                <a:cs typeface="Consolas"/>
                <a:sym typeface="Consolas"/>
              </a:rPr>
              <a:t>; // returns ??</a:t>
            </a:r>
            <a:endParaRPr b="1" sz="1600">
              <a:latin typeface="Consolas"/>
              <a:ea typeface="Consolas"/>
              <a:cs typeface="Consolas"/>
              <a:sym typeface="Consolas"/>
            </a:endParaRPr>
          </a:p>
        </p:txBody>
      </p:sp>
      <p:sp>
        <p:nvSpPr>
          <p:cNvPr id="312" name="Google Shape;312;p44"/>
          <p:cNvSpPr txBox="1"/>
          <p:nvPr>
            <p:ph idx="1" type="body"/>
          </p:nvPr>
        </p:nvSpPr>
        <p:spPr>
          <a:xfrm>
            <a:off x="107051" y="402200"/>
            <a:ext cx="80970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the equals method for </a:t>
            </a:r>
            <a:r>
              <a:rPr lang="en">
                <a:latin typeface="Consolas"/>
                <a:ea typeface="Consolas"/>
                <a:cs typeface="Consolas"/>
                <a:sym typeface="Consolas"/>
              </a:rPr>
              <a:t>ColoredNumber</a:t>
            </a:r>
            <a:r>
              <a:rPr lang="en"/>
              <a:t> </a:t>
            </a:r>
            <a:r>
              <a:rPr lang="en"/>
              <a:t>is on the previous slide, i.e. two </a:t>
            </a:r>
            <a:r>
              <a:rPr lang="en">
                <a:latin typeface="Consolas"/>
                <a:ea typeface="Consolas"/>
                <a:cs typeface="Consolas"/>
                <a:sym typeface="Consolas"/>
              </a:rPr>
              <a:t>ColoredNumbers</a:t>
            </a:r>
            <a:r>
              <a:rPr lang="en"/>
              <a:t> are equal if they have the same num.</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sz="2600"/>
          </a:p>
          <a:p>
            <a:pPr indent="0" lvl="0" marL="0" rtl="0" algn="l">
              <a:spcBef>
                <a:spcPts val="600"/>
              </a:spcBef>
              <a:spcAft>
                <a:spcPts val="0"/>
              </a:spcAft>
              <a:buNone/>
            </a:pPr>
            <a:r>
              <a:rPr lang="en"/>
              <a:t>Suppose we now check whether 12 is in the hash table.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do we expect to be returned by </a:t>
            </a:r>
            <a:r>
              <a:rPr lang="en">
                <a:latin typeface="Consolas"/>
                <a:ea typeface="Consolas"/>
                <a:cs typeface="Consolas"/>
                <a:sym typeface="Consolas"/>
              </a:rPr>
              <a:t>contains</a:t>
            </a:r>
            <a:r>
              <a:rPr lang="en"/>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6" name="Shape 316"/>
        <p:cNvGrpSpPr/>
        <p:nvPr/>
      </p:nvGrpSpPr>
      <p:grpSpPr>
        <a:xfrm>
          <a:off x="0" y="0"/>
          <a:ext cx="0" cy="0"/>
          <a:chOff x="0" y="0"/>
          <a:chExt cx="0" cy="0"/>
        </a:xfrm>
      </p:grpSpPr>
      <p:sp>
        <p:nvSpPr>
          <p:cNvPr id="317" name="Google Shape;317;p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HashSet Behavior</a:t>
            </a:r>
            <a:endParaRPr/>
          </a:p>
        </p:txBody>
      </p:sp>
      <p:sp>
        <p:nvSpPr>
          <p:cNvPr id="318" name="Google Shape;318;p45"/>
          <p:cNvSpPr txBox="1"/>
          <p:nvPr/>
        </p:nvSpPr>
        <p:spPr>
          <a:xfrm>
            <a:off x="484600" y="1201250"/>
            <a:ext cx="5271000" cy="1416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int </a:t>
            </a:r>
            <a:r>
              <a:rPr b="1" lang="en" sz="1600">
                <a:solidFill>
                  <a:srgbClr val="E2E3E4"/>
                </a:solidFill>
                <a:highlight>
                  <a:schemeClr val="dk1"/>
                </a:highlight>
                <a:latin typeface="Consolas"/>
                <a:ea typeface="Consolas"/>
                <a:cs typeface="Consolas"/>
                <a:sym typeface="Consolas"/>
              </a:rPr>
              <a:t>N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20</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HashSet</a:t>
            </a:r>
            <a:r>
              <a:rPr b="1" lang="en" sz="1600">
                <a:solidFill>
                  <a:srgbClr val="F48460"/>
                </a:solidFill>
                <a:highlight>
                  <a:schemeClr val="dk1"/>
                </a:highlight>
                <a:latin typeface="Consolas"/>
                <a:ea typeface="Consolas"/>
                <a:cs typeface="Consolas"/>
                <a:sym typeface="Consolas"/>
              </a:rPr>
              <a:t>&lt;</a:t>
            </a:r>
            <a:r>
              <a:rPr b="1" lang="en" sz="1600">
                <a:solidFill>
                  <a:srgbClr val="F8B662"/>
                </a:solidFill>
                <a:highlight>
                  <a:schemeClr val="dk1"/>
                </a:highlight>
                <a:latin typeface="Consolas"/>
                <a:ea typeface="Consolas"/>
                <a:cs typeface="Consolas"/>
                <a:sym typeface="Consolas"/>
              </a:rPr>
              <a:t>ColoredNumber</a:t>
            </a:r>
            <a:r>
              <a:rPr b="1" lang="en" sz="1600">
                <a:solidFill>
                  <a:srgbClr val="F48460"/>
                </a:solidFill>
                <a:highlight>
                  <a:schemeClr val="dk1"/>
                </a:highlight>
                <a:latin typeface="Consolas"/>
                <a:ea typeface="Consolas"/>
                <a:cs typeface="Consolas"/>
                <a:sym typeface="Consolas"/>
              </a:rPr>
              <a:t>&gt; </a:t>
            </a:r>
            <a:r>
              <a:rPr b="1" lang="en" sz="1600">
                <a:solidFill>
                  <a:srgbClr val="E2E3E4"/>
                </a:solidFill>
                <a:highlight>
                  <a:schemeClr val="dk1"/>
                </a:highlight>
                <a:latin typeface="Consolas"/>
                <a:ea typeface="Consolas"/>
                <a:cs typeface="Consolas"/>
                <a:sym typeface="Consolas"/>
              </a:rPr>
              <a:t>hs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HashSet</a:t>
            </a:r>
            <a:r>
              <a:rPr b="1" lang="en" sz="1600">
                <a:solidFill>
                  <a:srgbClr val="F48460"/>
                </a:solidFill>
                <a:highlight>
                  <a:schemeClr val="dk1"/>
                </a:highlight>
                <a:latin typeface="Consolas"/>
                <a:ea typeface="Consolas"/>
                <a:cs typeface="Consolas"/>
                <a:sym typeface="Consolas"/>
              </a:rPr>
              <a:t>&lt;&gt;</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for </a:t>
            </a:r>
            <a:r>
              <a:rPr b="1" lang="en" sz="1600">
                <a:solidFill>
                  <a:srgbClr val="E2E3E4"/>
                </a:solidFill>
                <a:highlight>
                  <a:schemeClr val="dk1"/>
                </a:highlight>
                <a:latin typeface="Consolas"/>
                <a:ea typeface="Consolas"/>
                <a:cs typeface="Consolas"/>
                <a:sym typeface="Consolas"/>
              </a:rPr>
              <a:t>(</a:t>
            </a:r>
            <a:r>
              <a:rPr b="1" lang="en" sz="1600">
                <a:solidFill>
                  <a:srgbClr val="C393C3"/>
                </a:solidFill>
                <a:highlight>
                  <a:schemeClr val="dk1"/>
                </a:highlight>
                <a:latin typeface="Consolas"/>
                <a:ea typeface="Consolas"/>
                <a:cs typeface="Consolas"/>
                <a:sym typeface="Consolas"/>
              </a:rPr>
              <a:t>int </a:t>
            </a:r>
            <a:r>
              <a:rPr b="1" lang="en" sz="1600">
                <a:solidFill>
                  <a:srgbClr val="E2E3E4"/>
                </a:solidFill>
                <a:highlight>
                  <a:schemeClr val="dk1"/>
                </a:highlight>
                <a:latin typeface="Consolas"/>
                <a:ea typeface="Consolas"/>
                <a:cs typeface="Consolas"/>
                <a:sym typeface="Consolas"/>
              </a:rPr>
              <a:t>i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0</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i </a:t>
            </a:r>
            <a:r>
              <a:rPr b="1" lang="en" sz="1600">
                <a:solidFill>
                  <a:srgbClr val="F48460"/>
                </a:solidFill>
                <a:highlight>
                  <a:schemeClr val="dk1"/>
                </a:highlight>
                <a:latin typeface="Consolas"/>
                <a:ea typeface="Consolas"/>
                <a:cs typeface="Consolas"/>
                <a:sym typeface="Consolas"/>
              </a:rPr>
              <a:t>&lt; </a:t>
            </a:r>
            <a:r>
              <a:rPr b="1" lang="en" sz="1600">
                <a:solidFill>
                  <a:srgbClr val="E2E3E4"/>
                </a:solidFill>
                <a:highlight>
                  <a:schemeClr val="dk1"/>
                </a:highlight>
                <a:latin typeface="Consolas"/>
                <a:ea typeface="Consolas"/>
                <a:cs typeface="Consolas"/>
                <a:sym typeface="Consolas"/>
              </a:rPr>
              <a:t>N</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i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1</a:t>
            </a: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hs</a:t>
            </a:r>
            <a:r>
              <a:rPr b="1" lang="en" sz="1600">
                <a:solidFill>
                  <a:srgbClr val="8C9196"/>
                </a:solidFill>
                <a:highlight>
                  <a:schemeClr val="dk1"/>
                </a:highlight>
                <a:latin typeface="Consolas"/>
                <a:ea typeface="Consolas"/>
                <a:cs typeface="Consolas"/>
                <a:sym typeface="Consolas"/>
              </a:rPr>
              <a:t>.</a:t>
            </a:r>
            <a:r>
              <a:rPr b="1" lang="en" sz="1600">
                <a:solidFill>
                  <a:srgbClr val="5EB2B2"/>
                </a:solidFill>
                <a:highlight>
                  <a:schemeClr val="dk1"/>
                </a:highlight>
                <a:latin typeface="Consolas"/>
                <a:ea typeface="Consolas"/>
                <a:cs typeface="Consolas"/>
                <a:sym typeface="Consolas"/>
              </a:rPr>
              <a:t>add</a:t>
            </a:r>
            <a:r>
              <a:rPr b="1" lang="en" sz="1600">
                <a:solidFill>
                  <a:srgbClr val="E2E3E4"/>
                </a:solidFill>
                <a:highlight>
                  <a:schemeClr val="dk1"/>
                </a:highlight>
                <a:latin typeface="Consolas"/>
                <a:ea typeface="Consolas"/>
                <a:cs typeface="Consolas"/>
                <a:sym typeface="Consolas"/>
              </a:rPr>
              <a:t>(</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ColoredNumber</a:t>
            </a:r>
            <a:r>
              <a:rPr b="1" lang="en" sz="1600">
                <a:solidFill>
                  <a:srgbClr val="E2E3E4"/>
                </a:solidFill>
                <a:highlight>
                  <a:schemeClr val="dk1"/>
                </a:highlight>
                <a:latin typeface="Consolas"/>
                <a:ea typeface="Consolas"/>
                <a:cs typeface="Consolas"/>
                <a:sym typeface="Consolas"/>
              </a:rPr>
              <a:t>(i))</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a:t>
            </a:r>
            <a:endParaRPr b="1" sz="1600">
              <a:latin typeface="Consolas"/>
              <a:ea typeface="Consolas"/>
              <a:cs typeface="Consolas"/>
              <a:sym typeface="Consolas"/>
            </a:endParaRPr>
          </a:p>
        </p:txBody>
      </p:sp>
      <p:sp>
        <p:nvSpPr>
          <p:cNvPr id="319" name="Google Shape;319;p45"/>
          <p:cNvSpPr txBox="1"/>
          <p:nvPr/>
        </p:nvSpPr>
        <p:spPr>
          <a:xfrm>
            <a:off x="425700" y="3081050"/>
            <a:ext cx="5329800" cy="677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ColoredNumber </a:t>
            </a:r>
            <a:r>
              <a:rPr b="1" lang="en" sz="1600">
                <a:solidFill>
                  <a:srgbClr val="E2E3E4"/>
                </a:solidFill>
                <a:highlight>
                  <a:schemeClr val="dk1"/>
                </a:highlight>
                <a:latin typeface="Consolas"/>
                <a:ea typeface="Consolas"/>
                <a:cs typeface="Consolas"/>
                <a:sym typeface="Consolas"/>
              </a:rPr>
              <a:t>twelve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ColoredNumber</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12</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hs</a:t>
            </a:r>
            <a:r>
              <a:rPr b="1" lang="en" sz="1600">
                <a:solidFill>
                  <a:srgbClr val="8C9196"/>
                </a:solidFill>
                <a:highlight>
                  <a:schemeClr val="dk1"/>
                </a:highlight>
                <a:latin typeface="Consolas"/>
                <a:ea typeface="Consolas"/>
                <a:cs typeface="Consolas"/>
                <a:sym typeface="Consolas"/>
              </a:rPr>
              <a:t>.</a:t>
            </a:r>
            <a:r>
              <a:rPr b="1" lang="en" sz="1600">
                <a:solidFill>
                  <a:srgbClr val="5EB2B2"/>
                </a:solidFill>
                <a:highlight>
                  <a:schemeClr val="dk1"/>
                </a:highlight>
                <a:latin typeface="Consolas"/>
                <a:ea typeface="Consolas"/>
                <a:cs typeface="Consolas"/>
                <a:sym typeface="Consolas"/>
              </a:rPr>
              <a:t>contains</a:t>
            </a:r>
            <a:r>
              <a:rPr b="1" lang="en" sz="1600">
                <a:solidFill>
                  <a:srgbClr val="E2E3E4"/>
                </a:solidFill>
                <a:highlight>
                  <a:schemeClr val="dk1"/>
                </a:highlight>
                <a:latin typeface="Consolas"/>
                <a:ea typeface="Consolas"/>
                <a:cs typeface="Consolas"/>
                <a:sym typeface="Consolas"/>
              </a:rPr>
              <a:t>(twelve)</a:t>
            </a:r>
            <a:r>
              <a:rPr b="1" lang="en" sz="1600">
                <a:solidFill>
                  <a:srgbClr val="8C9196"/>
                </a:solidFill>
                <a:highlight>
                  <a:schemeClr val="dk1"/>
                </a:highlight>
                <a:latin typeface="Consolas"/>
                <a:ea typeface="Consolas"/>
                <a:cs typeface="Consolas"/>
                <a:sym typeface="Consolas"/>
              </a:rPr>
              <a:t>; // returns true</a:t>
            </a:r>
            <a:endParaRPr b="1" sz="1600">
              <a:latin typeface="Consolas"/>
              <a:ea typeface="Consolas"/>
              <a:cs typeface="Consolas"/>
              <a:sym typeface="Consolas"/>
            </a:endParaRPr>
          </a:p>
        </p:txBody>
      </p:sp>
      <p:sp>
        <p:nvSpPr>
          <p:cNvPr id="320" name="Google Shape;320;p45"/>
          <p:cNvSpPr txBox="1"/>
          <p:nvPr>
            <p:ph idx="1" type="body"/>
          </p:nvPr>
        </p:nvSpPr>
        <p:spPr>
          <a:xfrm>
            <a:off x="107050" y="402200"/>
            <a:ext cx="82077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the equals method for </a:t>
            </a:r>
            <a:r>
              <a:rPr lang="en">
                <a:latin typeface="Consolas"/>
                <a:ea typeface="Consolas"/>
                <a:cs typeface="Consolas"/>
                <a:sym typeface="Consolas"/>
              </a:rPr>
              <a:t>ColoredNumber</a:t>
            </a:r>
            <a:r>
              <a:rPr lang="en"/>
              <a:t> is on the previous slide, i.e. two </a:t>
            </a:r>
            <a:r>
              <a:rPr lang="en">
                <a:latin typeface="Consolas"/>
                <a:ea typeface="Consolas"/>
                <a:cs typeface="Consolas"/>
                <a:sym typeface="Consolas"/>
              </a:rPr>
              <a:t>ColoredNumbers</a:t>
            </a:r>
            <a:r>
              <a:rPr lang="en"/>
              <a:t> are equal if they have the same num.</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sz="2600"/>
          </a:p>
          <a:p>
            <a:pPr indent="0" lvl="0" marL="0" rtl="0" algn="l">
              <a:spcBef>
                <a:spcPts val="600"/>
              </a:spcBef>
              <a:spcAft>
                <a:spcPts val="0"/>
              </a:spcAft>
              <a:buNone/>
            </a:pPr>
            <a:r>
              <a:rPr lang="en"/>
              <a:t>Suppose we now check whether 12 is in the hash table.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do we expect to be returned by </a:t>
            </a:r>
            <a:r>
              <a:rPr lang="en">
                <a:latin typeface="Consolas"/>
                <a:ea typeface="Consolas"/>
                <a:cs typeface="Consolas"/>
                <a:sym typeface="Consolas"/>
              </a:rPr>
              <a:t>contains</a:t>
            </a:r>
            <a:r>
              <a:rPr lang="en"/>
              <a:t>?</a:t>
            </a:r>
            <a:endParaRPr/>
          </a:p>
          <a:p>
            <a:pPr indent="-342900" lvl="0" marL="457200" rtl="0" algn="l">
              <a:spcBef>
                <a:spcPts val="600"/>
              </a:spcBef>
              <a:spcAft>
                <a:spcPts val="0"/>
              </a:spcAft>
              <a:buSzPts val="1800"/>
              <a:buChar char="●"/>
            </a:pPr>
            <a:r>
              <a:rPr lang="en"/>
              <a:t>We expect the contains call to be true, all 12s are created equal!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324" name="Shape 324"/>
        <p:cNvGrpSpPr/>
        <p:nvPr/>
      </p:nvGrpSpPr>
      <p:grpSpPr>
        <a:xfrm>
          <a:off x="0" y="0"/>
          <a:ext cx="0" cy="0"/>
          <a:chOff x="0" y="0"/>
          <a:chExt cx="0" cy="0"/>
        </a:xfrm>
      </p:grpSpPr>
      <p:sp>
        <p:nvSpPr>
          <p:cNvPr id="325" name="Google Shape;325;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 an Item Using the Default HashCode</a:t>
            </a:r>
            <a:endParaRPr/>
          </a:p>
        </p:txBody>
      </p:sp>
      <p:sp>
        <p:nvSpPr>
          <p:cNvPr id="326" name="Google Shape;326;p46"/>
          <p:cNvSpPr txBox="1"/>
          <p:nvPr>
            <p:ph idx="1" type="body"/>
          </p:nvPr>
        </p:nvSpPr>
        <p:spPr>
          <a:xfrm>
            <a:off x="107048" y="402200"/>
            <a:ext cx="6192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are using the default hash function (uses memory address), which yields the table to the right.</a:t>
            </a:r>
            <a:endParaRPr/>
          </a:p>
          <a:p>
            <a:pPr indent="0" lvl="0" marL="0" rtl="0" algn="l">
              <a:spcBef>
                <a:spcPts val="600"/>
              </a:spcBef>
              <a:spcAft>
                <a:spcPts val="0"/>
              </a:spcAft>
              <a:buNone/>
            </a:pPr>
            <a:r>
              <a:rPr lang="en"/>
              <a:t>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Suppose </a:t>
            </a:r>
            <a:r>
              <a:rPr lang="en">
                <a:latin typeface="Consolas"/>
                <a:ea typeface="Consolas"/>
                <a:cs typeface="Consolas"/>
                <a:sym typeface="Consolas"/>
              </a:rPr>
              <a:t>equals</a:t>
            </a:r>
            <a:r>
              <a:rPr lang="en"/>
              <a:t> returns true if two </a:t>
            </a:r>
            <a:r>
              <a:rPr lang="en">
                <a:latin typeface="Consolas"/>
                <a:ea typeface="Consolas"/>
                <a:cs typeface="Consolas"/>
                <a:sym typeface="Consolas"/>
              </a:rPr>
              <a:t>ColoredNumbers</a:t>
            </a:r>
            <a:r>
              <a:rPr lang="en"/>
              <a:t> have the same num (as on the previous slide).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does the </a:t>
            </a:r>
            <a:r>
              <a:rPr lang="en">
                <a:latin typeface="Consolas"/>
                <a:ea typeface="Consolas"/>
                <a:cs typeface="Consolas"/>
                <a:sym typeface="Consolas"/>
              </a:rPr>
              <a:t>contains</a:t>
            </a:r>
            <a:r>
              <a:rPr lang="en"/>
              <a:t> operation return. Why?</a:t>
            </a:r>
            <a:endParaRPr/>
          </a:p>
        </p:txBody>
      </p:sp>
      <p:sp>
        <p:nvSpPr>
          <p:cNvPr id="327" name="Google Shape;327;p46"/>
          <p:cNvSpPr txBox="1"/>
          <p:nvPr/>
        </p:nvSpPr>
        <p:spPr>
          <a:xfrm>
            <a:off x="484600" y="1201250"/>
            <a:ext cx="5271000" cy="19086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int </a:t>
            </a:r>
            <a:r>
              <a:rPr b="1" lang="en" sz="1600">
                <a:solidFill>
                  <a:srgbClr val="E2E3E4"/>
                </a:solidFill>
                <a:highlight>
                  <a:schemeClr val="dk1"/>
                </a:highlight>
                <a:latin typeface="Consolas"/>
                <a:ea typeface="Consolas"/>
                <a:cs typeface="Consolas"/>
                <a:sym typeface="Consolas"/>
              </a:rPr>
              <a:t>N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20</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HashSet</a:t>
            </a:r>
            <a:r>
              <a:rPr b="1" lang="en" sz="1600">
                <a:solidFill>
                  <a:srgbClr val="F48460"/>
                </a:solidFill>
                <a:highlight>
                  <a:schemeClr val="dk1"/>
                </a:highlight>
                <a:latin typeface="Consolas"/>
                <a:ea typeface="Consolas"/>
                <a:cs typeface="Consolas"/>
                <a:sym typeface="Consolas"/>
              </a:rPr>
              <a:t>&lt;</a:t>
            </a:r>
            <a:r>
              <a:rPr b="1" lang="en" sz="1600">
                <a:solidFill>
                  <a:srgbClr val="F8B662"/>
                </a:solidFill>
                <a:highlight>
                  <a:schemeClr val="dk1"/>
                </a:highlight>
                <a:latin typeface="Consolas"/>
                <a:ea typeface="Consolas"/>
                <a:cs typeface="Consolas"/>
                <a:sym typeface="Consolas"/>
              </a:rPr>
              <a:t>ColoredNumber</a:t>
            </a:r>
            <a:r>
              <a:rPr b="1" lang="en" sz="1600">
                <a:solidFill>
                  <a:srgbClr val="F48460"/>
                </a:solidFill>
                <a:highlight>
                  <a:schemeClr val="dk1"/>
                </a:highlight>
                <a:latin typeface="Consolas"/>
                <a:ea typeface="Consolas"/>
                <a:cs typeface="Consolas"/>
                <a:sym typeface="Consolas"/>
              </a:rPr>
              <a:t>&gt; </a:t>
            </a:r>
            <a:r>
              <a:rPr b="1" lang="en" sz="1600">
                <a:solidFill>
                  <a:srgbClr val="E2E3E4"/>
                </a:solidFill>
                <a:highlight>
                  <a:schemeClr val="dk1"/>
                </a:highlight>
                <a:latin typeface="Consolas"/>
                <a:ea typeface="Consolas"/>
                <a:cs typeface="Consolas"/>
                <a:sym typeface="Consolas"/>
              </a:rPr>
              <a:t>hs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HashSet</a:t>
            </a:r>
            <a:r>
              <a:rPr b="1" lang="en" sz="1600">
                <a:solidFill>
                  <a:srgbClr val="F48460"/>
                </a:solidFill>
                <a:highlight>
                  <a:schemeClr val="dk1"/>
                </a:highlight>
                <a:latin typeface="Consolas"/>
                <a:ea typeface="Consolas"/>
                <a:cs typeface="Consolas"/>
                <a:sym typeface="Consolas"/>
              </a:rPr>
              <a:t>&lt;&gt;</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for </a:t>
            </a:r>
            <a:r>
              <a:rPr b="1" lang="en" sz="1600">
                <a:solidFill>
                  <a:srgbClr val="E2E3E4"/>
                </a:solidFill>
                <a:highlight>
                  <a:schemeClr val="dk1"/>
                </a:highlight>
                <a:latin typeface="Consolas"/>
                <a:ea typeface="Consolas"/>
                <a:cs typeface="Consolas"/>
                <a:sym typeface="Consolas"/>
              </a:rPr>
              <a:t>(</a:t>
            </a:r>
            <a:r>
              <a:rPr b="1" lang="en" sz="1600">
                <a:solidFill>
                  <a:srgbClr val="C393C3"/>
                </a:solidFill>
                <a:highlight>
                  <a:schemeClr val="dk1"/>
                </a:highlight>
                <a:latin typeface="Consolas"/>
                <a:ea typeface="Consolas"/>
                <a:cs typeface="Consolas"/>
                <a:sym typeface="Consolas"/>
              </a:rPr>
              <a:t>int </a:t>
            </a:r>
            <a:r>
              <a:rPr b="1" lang="en" sz="1600">
                <a:solidFill>
                  <a:srgbClr val="E2E3E4"/>
                </a:solidFill>
                <a:highlight>
                  <a:schemeClr val="dk1"/>
                </a:highlight>
                <a:latin typeface="Consolas"/>
                <a:ea typeface="Consolas"/>
                <a:cs typeface="Consolas"/>
                <a:sym typeface="Consolas"/>
              </a:rPr>
              <a:t>i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0</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i </a:t>
            </a:r>
            <a:r>
              <a:rPr b="1" lang="en" sz="1600">
                <a:solidFill>
                  <a:srgbClr val="F48460"/>
                </a:solidFill>
                <a:highlight>
                  <a:schemeClr val="dk1"/>
                </a:highlight>
                <a:latin typeface="Consolas"/>
                <a:ea typeface="Consolas"/>
                <a:cs typeface="Consolas"/>
                <a:sym typeface="Consolas"/>
              </a:rPr>
              <a:t>&lt; </a:t>
            </a:r>
            <a:r>
              <a:rPr b="1" lang="en" sz="1600">
                <a:solidFill>
                  <a:srgbClr val="E2E3E4"/>
                </a:solidFill>
                <a:highlight>
                  <a:schemeClr val="dk1"/>
                </a:highlight>
                <a:latin typeface="Consolas"/>
                <a:ea typeface="Consolas"/>
                <a:cs typeface="Consolas"/>
                <a:sym typeface="Consolas"/>
              </a:rPr>
              <a:t>N</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i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1</a:t>
            </a: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hs</a:t>
            </a:r>
            <a:r>
              <a:rPr b="1" lang="en" sz="1600">
                <a:solidFill>
                  <a:srgbClr val="8C9196"/>
                </a:solidFill>
                <a:highlight>
                  <a:schemeClr val="dk1"/>
                </a:highlight>
                <a:latin typeface="Consolas"/>
                <a:ea typeface="Consolas"/>
                <a:cs typeface="Consolas"/>
                <a:sym typeface="Consolas"/>
              </a:rPr>
              <a:t>.</a:t>
            </a:r>
            <a:r>
              <a:rPr b="1" lang="en" sz="1600">
                <a:solidFill>
                  <a:srgbClr val="5EB2B2"/>
                </a:solidFill>
                <a:highlight>
                  <a:schemeClr val="dk1"/>
                </a:highlight>
                <a:latin typeface="Consolas"/>
                <a:ea typeface="Consolas"/>
                <a:cs typeface="Consolas"/>
                <a:sym typeface="Consolas"/>
              </a:rPr>
              <a:t>add</a:t>
            </a:r>
            <a:r>
              <a:rPr b="1" lang="en" sz="1600">
                <a:solidFill>
                  <a:srgbClr val="E2E3E4"/>
                </a:solidFill>
                <a:highlight>
                  <a:schemeClr val="dk1"/>
                </a:highlight>
                <a:latin typeface="Consolas"/>
                <a:ea typeface="Consolas"/>
                <a:cs typeface="Consolas"/>
                <a:sym typeface="Consolas"/>
              </a:rPr>
              <a:t>(</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ColoredNumber</a:t>
            </a:r>
            <a:r>
              <a:rPr b="1" lang="en" sz="1600">
                <a:solidFill>
                  <a:srgbClr val="E2E3E4"/>
                </a:solidFill>
                <a:highlight>
                  <a:schemeClr val="dk1"/>
                </a:highlight>
                <a:latin typeface="Consolas"/>
                <a:ea typeface="Consolas"/>
                <a:cs typeface="Consolas"/>
                <a:sym typeface="Consolas"/>
              </a:rPr>
              <a:t>(i))</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ColoredNumber </a:t>
            </a:r>
            <a:r>
              <a:rPr b="1" lang="en" sz="1600">
                <a:solidFill>
                  <a:srgbClr val="E2E3E4"/>
                </a:solidFill>
                <a:highlight>
                  <a:schemeClr val="dk1"/>
                </a:highlight>
                <a:latin typeface="Consolas"/>
                <a:ea typeface="Consolas"/>
                <a:cs typeface="Consolas"/>
                <a:sym typeface="Consolas"/>
              </a:rPr>
              <a:t>twelve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ColoredNumber</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12</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hs</a:t>
            </a:r>
            <a:r>
              <a:rPr b="1" lang="en" sz="1600">
                <a:solidFill>
                  <a:srgbClr val="8C9196"/>
                </a:solidFill>
                <a:highlight>
                  <a:schemeClr val="dk1"/>
                </a:highlight>
                <a:latin typeface="Consolas"/>
                <a:ea typeface="Consolas"/>
                <a:cs typeface="Consolas"/>
                <a:sym typeface="Consolas"/>
              </a:rPr>
              <a:t>.</a:t>
            </a:r>
            <a:r>
              <a:rPr b="1" lang="en" sz="1600">
                <a:solidFill>
                  <a:srgbClr val="5EB2B2"/>
                </a:solidFill>
                <a:highlight>
                  <a:schemeClr val="dk1"/>
                </a:highlight>
                <a:latin typeface="Consolas"/>
                <a:ea typeface="Consolas"/>
                <a:cs typeface="Consolas"/>
                <a:sym typeface="Consolas"/>
              </a:rPr>
              <a:t>contains</a:t>
            </a:r>
            <a:r>
              <a:rPr b="1" lang="en" sz="1600">
                <a:solidFill>
                  <a:srgbClr val="E2E3E4"/>
                </a:solidFill>
                <a:highlight>
                  <a:schemeClr val="dk1"/>
                </a:highlight>
                <a:latin typeface="Consolas"/>
                <a:ea typeface="Consolas"/>
                <a:cs typeface="Consolas"/>
                <a:sym typeface="Consolas"/>
              </a:rPr>
              <a:t>(twelve)</a:t>
            </a:r>
            <a:r>
              <a:rPr b="1" lang="en" sz="1600">
                <a:solidFill>
                  <a:srgbClr val="8C9196"/>
                </a:solidFill>
                <a:highlight>
                  <a:schemeClr val="dk1"/>
                </a:highlight>
                <a:latin typeface="Consolas"/>
                <a:ea typeface="Consolas"/>
                <a:cs typeface="Consolas"/>
                <a:sym typeface="Consolas"/>
              </a:rPr>
              <a:t>; // returns ??</a:t>
            </a:r>
            <a:endParaRPr b="1" sz="1600">
              <a:solidFill>
                <a:srgbClr val="E2E3E4"/>
              </a:solidFill>
              <a:highlight>
                <a:schemeClr val="dk1"/>
              </a:highlight>
              <a:latin typeface="Consolas"/>
              <a:ea typeface="Consolas"/>
              <a:cs typeface="Consolas"/>
              <a:sym typeface="Consolas"/>
            </a:endParaRPr>
          </a:p>
        </p:txBody>
      </p:sp>
      <p:pic>
        <p:nvPicPr>
          <p:cNvPr id="328" name="Google Shape;328;p46"/>
          <p:cNvPicPr preferRelativeResize="0"/>
          <p:nvPr/>
        </p:nvPicPr>
        <p:blipFill>
          <a:blip r:embed="rId3">
            <a:alphaModFix/>
          </a:blip>
          <a:stretch>
            <a:fillRect/>
          </a:stretch>
        </p:blipFill>
        <p:spPr>
          <a:xfrm>
            <a:off x="6206275" y="470225"/>
            <a:ext cx="2843100" cy="453137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2" name="Shape 332"/>
        <p:cNvGrpSpPr/>
        <p:nvPr/>
      </p:nvGrpSpPr>
      <p:grpSpPr>
        <a:xfrm>
          <a:off x="0" y="0"/>
          <a:ext cx="0" cy="0"/>
          <a:chOff x="0" y="0"/>
          <a:chExt cx="0" cy="0"/>
        </a:xfrm>
      </p:grpSpPr>
      <p:sp>
        <p:nvSpPr>
          <p:cNvPr id="333" name="Google Shape;333;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 an Item Using the Default HashCode</a:t>
            </a:r>
            <a:endParaRPr/>
          </a:p>
        </p:txBody>
      </p:sp>
      <p:sp>
        <p:nvSpPr>
          <p:cNvPr id="334" name="Google Shape;334;p47"/>
          <p:cNvSpPr txBox="1"/>
          <p:nvPr>
            <p:ph idx="1" type="body"/>
          </p:nvPr>
        </p:nvSpPr>
        <p:spPr>
          <a:xfrm>
            <a:off x="107048" y="402200"/>
            <a:ext cx="6192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are using the default hash function (uses memory address), which yields the table to the right.</a:t>
            </a:r>
            <a:endParaRPr/>
          </a:p>
          <a:p>
            <a:pPr indent="0" lvl="0" marL="0" rtl="0" algn="l">
              <a:spcBef>
                <a:spcPts val="600"/>
              </a:spcBef>
              <a:spcAft>
                <a:spcPts val="0"/>
              </a:spcAft>
              <a:buNone/>
            </a:pPr>
            <a:r>
              <a:rPr lang="en"/>
              <a:t>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Suppose </a:t>
            </a:r>
            <a:r>
              <a:rPr lang="en">
                <a:latin typeface="Consolas"/>
                <a:ea typeface="Consolas"/>
                <a:cs typeface="Consolas"/>
                <a:sym typeface="Consolas"/>
              </a:rPr>
              <a:t>equals</a:t>
            </a:r>
            <a:r>
              <a:rPr lang="en"/>
              <a:t> returns true if two </a:t>
            </a:r>
            <a:r>
              <a:rPr lang="en">
                <a:latin typeface="Consolas"/>
                <a:ea typeface="Consolas"/>
                <a:cs typeface="Consolas"/>
                <a:sym typeface="Consolas"/>
              </a:rPr>
              <a:t>ColoredNumbers</a:t>
            </a:r>
            <a:r>
              <a:rPr lang="en"/>
              <a:t> have the same num (as on the previous slide).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does the </a:t>
            </a:r>
            <a:r>
              <a:rPr lang="en">
                <a:latin typeface="Consolas"/>
                <a:ea typeface="Consolas"/>
                <a:cs typeface="Consolas"/>
                <a:sym typeface="Consolas"/>
              </a:rPr>
              <a:t>contains</a:t>
            </a:r>
            <a:r>
              <a:rPr lang="en"/>
              <a:t> operation return. Why?</a:t>
            </a:r>
            <a:endParaRPr/>
          </a:p>
          <a:p>
            <a:pPr indent="-342900" lvl="0" marL="457200" rtl="0" algn="l">
              <a:spcBef>
                <a:spcPts val="600"/>
              </a:spcBef>
              <a:spcAft>
                <a:spcPts val="0"/>
              </a:spcAft>
              <a:buSzPts val="1800"/>
              <a:buChar char="●"/>
            </a:pPr>
            <a:r>
              <a:rPr lang="en"/>
              <a:t>Returns false with probability 5/6ths.</a:t>
            </a:r>
            <a:endParaRPr/>
          </a:p>
        </p:txBody>
      </p:sp>
      <p:sp>
        <p:nvSpPr>
          <p:cNvPr id="335" name="Google Shape;335;p47"/>
          <p:cNvSpPr txBox="1"/>
          <p:nvPr/>
        </p:nvSpPr>
        <p:spPr>
          <a:xfrm>
            <a:off x="484600" y="1201250"/>
            <a:ext cx="5271000" cy="19086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int </a:t>
            </a:r>
            <a:r>
              <a:rPr b="1" lang="en" sz="1600">
                <a:solidFill>
                  <a:srgbClr val="E2E3E4"/>
                </a:solidFill>
                <a:highlight>
                  <a:schemeClr val="dk1"/>
                </a:highlight>
                <a:latin typeface="Consolas"/>
                <a:ea typeface="Consolas"/>
                <a:cs typeface="Consolas"/>
                <a:sym typeface="Consolas"/>
              </a:rPr>
              <a:t>N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20</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HashSet</a:t>
            </a:r>
            <a:r>
              <a:rPr b="1" lang="en" sz="1600">
                <a:solidFill>
                  <a:srgbClr val="F48460"/>
                </a:solidFill>
                <a:highlight>
                  <a:schemeClr val="dk1"/>
                </a:highlight>
                <a:latin typeface="Consolas"/>
                <a:ea typeface="Consolas"/>
                <a:cs typeface="Consolas"/>
                <a:sym typeface="Consolas"/>
              </a:rPr>
              <a:t>&lt;</a:t>
            </a:r>
            <a:r>
              <a:rPr b="1" lang="en" sz="1600">
                <a:solidFill>
                  <a:srgbClr val="F8B662"/>
                </a:solidFill>
                <a:highlight>
                  <a:schemeClr val="dk1"/>
                </a:highlight>
                <a:latin typeface="Consolas"/>
                <a:ea typeface="Consolas"/>
                <a:cs typeface="Consolas"/>
                <a:sym typeface="Consolas"/>
              </a:rPr>
              <a:t>ColoredNumber</a:t>
            </a:r>
            <a:r>
              <a:rPr b="1" lang="en" sz="1600">
                <a:solidFill>
                  <a:srgbClr val="F48460"/>
                </a:solidFill>
                <a:highlight>
                  <a:schemeClr val="dk1"/>
                </a:highlight>
                <a:latin typeface="Consolas"/>
                <a:ea typeface="Consolas"/>
                <a:cs typeface="Consolas"/>
                <a:sym typeface="Consolas"/>
              </a:rPr>
              <a:t>&gt; </a:t>
            </a:r>
            <a:r>
              <a:rPr b="1" lang="en" sz="1600">
                <a:solidFill>
                  <a:srgbClr val="E2E3E4"/>
                </a:solidFill>
                <a:highlight>
                  <a:schemeClr val="dk1"/>
                </a:highlight>
                <a:latin typeface="Consolas"/>
                <a:ea typeface="Consolas"/>
                <a:cs typeface="Consolas"/>
                <a:sym typeface="Consolas"/>
              </a:rPr>
              <a:t>hs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HashSet</a:t>
            </a:r>
            <a:r>
              <a:rPr b="1" lang="en" sz="1600">
                <a:solidFill>
                  <a:srgbClr val="F48460"/>
                </a:solidFill>
                <a:highlight>
                  <a:schemeClr val="dk1"/>
                </a:highlight>
                <a:latin typeface="Consolas"/>
                <a:ea typeface="Consolas"/>
                <a:cs typeface="Consolas"/>
                <a:sym typeface="Consolas"/>
              </a:rPr>
              <a:t>&lt;&gt;</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for </a:t>
            </a:r>
            <a:r>
              <a:rPr b="1" lang="en" sz="1600">
                <a:solidFill>
                  <a:srgbClr val="E2E3E4"/>
                </a:solidFill>
                <a:highlight>
                  <a:schemeClr val="dk1"/>
                </a:highlight>
                <a:latin typeface="Consolas"/>
                <a:ea typeface="Consolas"/>
                <a:cs typeface="Consolas"/>
                <a:sym typeface="Consolas"/>
              </a:rPr>
              <a:t>(</a:t>
            </a:r>
            <a:r>
              <a:rPr b="1" lang="en" sz="1600">
                <a:solidFill>
                  <a:srgbClr val="C393C3"/>
                </a:solidFill>
                <a:highlight>
                  <a:schemeClr val="dk1"/>
                </a:highlight>
                <a:latin typeface="Consolas"/>
                <a:ea typeface="Consolas"/>
                <a:cs typeface="Consolas"/>
                <a:sym typeface="Consolas"/>
              </a:rPr>
              <a:t>int </a:t>
            </a:r>
            <a:r>
              <a:rPr b="1" lang="en" sz="1600">
                <a:solidFill>
                  <a:srgbClr val="E2E3E4"/>
                </a:solidFill>
                <a:highlight>
                  <a:schemeClr val="dk1"/>
                </a:highlight>
                <a:latin typeface="Consolas"/>
                <a:ea typeface="Consolas"/>
                <a:cs typeface="Consolas"/>
                <a:sym typeface="Consolas"/>
              </a:rPr>
              <a:t>i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0</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i </a:t>
            </a:r>
            <a:r>
              <a:rPr b="1" lang="en" sz="1600">
                <a:solidFill>
                  <a:srgbClr val="F48460"/>
                </a:solidFill>
                <a:highlight>
                  <a:schemeClr val="dk1"/>
                </a:highlight>
                <a:latin typeface="Consolas"/>
                <a:ea typeface="Consolas"/>
                <a:cs typeface="Consolas"/>
                <a:sym typeface="Consolas"/>
              </a:rPr>
              <a:t>&lt; </a:t>
            </a:r>
            <a:r>
              <a:rPr b="1" lang="en" sz="1600">
                <a:solidFill>
                  <a:srgbClr val="E2E3E4"/>
                </a:solidFill>
                <a:highlight>
                  <a:schemeClr val="dk1"/>
                </a:highlight>
                <a:latin typeface="Consolas"/>
                <a:ea typeface="Consolas"/>
                <a:cs typeface="Consolas"/>
                <a:sym typeface="Consolas"/>
              </a:rPr>
              <a:t>N</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i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1</a:t>
            </a: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hs</a:t>
            </a:r>
            <a:r>
              <a:rPr b="1" lang="en" sz="1600">
                <a:solidFill>
                  <a:srgbClr val="8C9196"/>
                </a:solidFill>
                <a:highlight>
                  <a:schemeClr val="dk1"/>
                </a:highlight>
                <a:latin typeface="Consolas"/>
                <a:ea typeface="Consolas"/>
                <a:cs typeface="Consolas"/>
                <a:sym typeface="Consolas"/>
              </a:rPr>
              <a:t>.</a:t>
            </a:r>
            <a:r>
              <a:rPr b="1" lang="en" sz="1600">
                <a:solidFill>
                  <a:srgbClr val="5EB2B2"/>
                </a:solidFill>
                <a:highlight>
                  <a:schemeClr val="dk1"/>
                </a:highlight>
                <a:latin typeface="Consolas"/>
                <a:ea typeface="Consolas"/>
                <a:cs typeface="Consolas"/>
                <a:sym typeface="Consolas"/>
              </a:rPr>
              <a:t>add</a:t>
            </a:r>
            <a:r>
              <a:rPr b="1" lang="en" sz="1600">
                <a:solidFill>
                  <a:srgbClr val="E2E3E4"/>
                </a:solidFill>
                <a:highlight>
                  <a:schemeClr val="dk1"/>
                </a:highlight>
                <a:latin typeface="Consolas"/>
                <a:ea typeface="Consolas"/>
                <a:cs typeface="Consolas"/>
                <a:sym typeface="Consolas"/>
              </a:rPr>
              <a:t>(</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ColoredNumber</a:t>
            </a:r>
            <a:r>
              <a:rPr b="1" lang="en" sz="1600">
                <a:solidFill>
                  <a:srgbClr val="E2E3E4"/>
                </a:solidFill>
                <a:highlight>
                  <a:schemeClr val="dk1"/>
                </a:highlight>
                <a:latin typeface="Consolas"/>
                <a:ea typeface="Consolas"/>
                <a:cs typeface="Consolas"/>
                <a:sym typeface="Consolas"/>
              </a:rPr>
              <a:t>(i))</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ColoredNumber </a:t>
            </a:r>
            <a:r>
              <a:rPr b="1" lang="en" sz="1600">
                <a:solidFill>
                  <a:srgbClr val="E2E3E4"/>
                </a:solidFill>
                <a:highlight>
                  <a:schemeClr val="dk1"/>
                </a:highlight>
                <a:latin typeface="Consolas"/>
                <a:ea typeface="Consolas"/>
                <a:cs typeface="Consolas"/>
                <a:sym typeface="Consolas"/>
              </a:rPr>
              <a:t>twelve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ColoredNumber</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12</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hs</a:t>
            </a:r>
            <a:r>
              <a:rPr b="1" lang="en" sz="1600">
                <a:solidFill>
                  <a:srgbClr val="8C9196"/>
                </a:solidFill>
                <a:highlight>
                  <a:schemeClr val="dk1"/>
                </a:highlight>
                <a:latin typeface="Consolas"/>
                <a:ea typeface="Consolas"/>
                <a:cs typeface="Consolas"/>
                <a:sym typeface="Consolas"/>
              </a:rPr>
              <a:t>.</a:t>
            </a:r>
            <a:r>
              <a:rPr b="1" lang="en" sz="1600">
                <a:solidFill>
                  <a:srgbClr val="5EB2B2"/>
                </a:solidFill>
                <a:highlight>
                  <a:schemeClr val="dk1"/>
                </a:highlight>
                <a:latin typeface="Consolas"/>
                <a:ea typeface="Consolas"/>
                <a:cs typeface="Consolas"/>
                <a:sym typeface="Consolas"/>
              </a:rPr>
              <a:t>contains</a:t>
            </a:r>
            <a:r>
              <a:rPr b="1" lang="en" sz="1600">
                <a:solidFill>
                  <a:srgbClr val="E2E3E4"/>
                </a:solidFill>
                <a:highlight>
                  <a:schemeClr val="dk1"/>
                </a:highlight>
                <a:latin typeface="Consolas"/>
                <a:ea typeface="Consolas"/>
                <a:cs typeface="Consolas"/>
                <a:sym typeface="Consolas"/>
              </a:rPr>
              <a:t>(twelve)</a:t>
            </a:r>
            <a:r>
              <a:rPr b="1" lang="en" sz="1600">
                <a:solidFill>
                  <a:srgbClr val="8C9196"/>
                </a:solidFill>
                <a:highlight>
                  <a:schemeClr val="dk1"/>
                </a:highlight>
                <a:latin typeface="Consolas"/>
                <a:ea typeface="Consolas"/>
                <a:cs typeface="Consolas"/>
                <a:sym typeface="Consolas"/>
              </a:rPr>
              <a:t>; // returns ??</a:t>
            </a:r>
            <a:endParaRPr b="1" sz="1600">
              <a:solidFill>
                <a:srgbClr val="E2E3E4"/>
              </a:solidFill>
              <a:highlight>
                <a:schemeClr val="dk1"/>
              </a:highlight>
              <a:latin typeface="Consolas"/>
              <a:ea typeface="Consolas"/>
              <a:cs typeface="Consolas"/>
              <a:sym typeface="Consolas"/>
            </a:endParaRPr>
          </a:p>
        </p:txBody>
      </p:sp>
      <p:pic>
        <p:nvPicPr>
          <p:cNvPr id="336" name="Google Shape;336;p47"/>
          <p:cNvPicPr preferRelativeResize="0"/>
          <p:nvPr/>
        </p:nvPicPr>
        <p:blipFill>
          <a:blip r:embed="rId3">
            <a:alphaModFix/>
          </a:blip>
          <a:stretch>
            <a:fillRect/>
          </a:stretch>
        </p:blipFill>
        <p:spPr>
          <a:xfrm>
            <a:off x="6206275" y="470225"/>
            <a:ext cx="2843100" cy="453137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0" name="Shape 340"/>
        <p:cNvGrpSpPr/>
        <p:nvPr/>
      </p:nvGrpSpPr>
      <p:grpSpPr>
        <a:xfrm>
          <a:off x="0" y="0"/>
          <a:ext cx="0" cy="0"/>
          <a:chOff x="0" y="0"/>
          <a:chExt cx="0" cy="0"/>
        </a:xfrm>
      </p:grpSpPr>
      <p:sp>
        <p:nvSpPr>
          <p:cNvPr id="341" name="Google Shape;341;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 an Item Using the Default HashCode</a:t>
            </a:r>
            <a:endParaRPr/>
          </a:p>
        </p:txBody>
      </p:sp>
      <p:sp>
        <p:nvSpPr>
          <p:cNvPr id="342" name="Google Shape;342;p48"/>
          <p:cNvSpPr txBox="1"/>
          <p:nvPr>
            <p:ph idx="1" type="body"/>
          </p:nvPr>
        </p:nvSpPr>
        <p:spPr>
          <a:xfrm>
            <a:off x="107048" y="402200"/>
            <a:ext cx="6192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hashCode: Based on memory address.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equals: Based on num.</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There are two ColoredNumber objects with num = 12.</a:t>
            </a:r>
            <a:endParaRPr/>
          </a:p>
          <a:p>
            <a:pPr indent="-342900" lvl="0" marL="457200" rtl="0" algn="l">
              <a:spcBef>
                <a:spcPts val="600"/>
              </a:spcBef>
              <a:spcAft>
                <a:spcPts val="0"/>
              </a:spcAft>
              <a:buSzPts val="1800"/>
              <a:buChar char="●"/>
            </a:pPr>
            <a:r>
              <a:rPr lang="en"/>
              <a:t>One of them is in the HashSet.</a:t>
            </a:r>
            <a:endParaRPr/>
          </a:p>
          <a:p>
            <a:pPr indent="-342900" lvl="0" marL="457200" rtl="0" algn="l">
              <a:spcBef>
                <a:spcPts val="0"/>
              </a:spcBef>
              <a:spcAft>
                <a:spcPts val="0"/>
              </a:spcAft>
              <a:buSzPts val="1800"/>
              <a:buChar char="●"/>
            </a:pPr>
            <a:r>
              <a:rPr lang="en"/>
              <a:t>One of them was created by the code above.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Each memory address is random.</a:t>
            </a:r>
            <a:endParaRPr/>
          </a:p>
          <a:p>
            <a:pPr indent="-342900" lvl="0" marL="457200" rtl="0" algn="l">
              <a:spcBef>
                <a:spcPts val="600"/>
              </a:spcBef>
              <a:spcAft>
                <a:spcPts val="0"/>
              </a:spcAft>
              <a:buSzPts val="1800"/>
              <a:buChar char="●"/>
            </a:pPr>
            <a:r>
              <a:rPr lang="en"/>
              <a:t>Only</a:t>
            </a:r>
            <a:r>
              <a:rPr lang="en"/>
              <a:t> 1/6th chance they % to the same bucket.</a:t>
            </a:r>
            <a:endParaRPr/>
          </a:p>
          <a:p>
            <a:pPr indent="0" lvl="0" marL="0" rtl="0" algn="l">
              <a:spcBef>
                <a:spcPts val="600"/>
              </a:spcBef>
              <a:spcAft>
                <a:spcPts val="0"/>
              </a:spcAft>
              <a:buNone/>
            </a:pPr>
            <a:r>
              <a:t/>
            </a:r>
            <a:endParaRPr/>
          </a:p>
        </p:txBody>
      </p:sp>
      <p:pic>
        <p:nvPicPr>
          <p:cNvPr id="343" name="Google Shape;343;p48"/>
          <p:cNvPicPr preferRelativeResize="0"/>
          <p:nvPr/>
        </p:nvPicPr>
        <p:blipFill>
          <a:blip r:embed="rId3">
            <a:alphaModFix/>
          </a:blip>
          <a:stretch>
            <a:fillRect/>
          </a:stretch>
        </p:blipFill>
        <p:spPr>
          <a:xfrm>
            <a:off x="6206275" y="470225"/>
            <a:ext cx="2843100" cy="4531377"/>
          </a:xfrm>
          <a:prstGeom prst="rect">
            <a:avLst/>
          </a:prstGeom>
          <a:noFill/>
          <a:ln>
            <a:noFill/>
          </a:ln>
        </p:spPr>
      </p:pic>
      <p:sp>
        <p:nvSpPr>
          <p:cNvPr id="344" name="Google Shape;344;p48"/>
          <p:cNvSpPr txBox="1"/>
          <p:nvPr/>
        </p:nvSpPr>
        <p:spPr>
          <a:xfrm>
            <a:off x="484600" y="1734650"/>
            <a:ext cx="5271000" cy="677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ColoredNumber </a:t>
            </a:r>
            <a:r>
              <a:rPr b="1" lang="en" sz="1600">
                <a:solidFill>
                  <a:srgbClr val="E2E3E4"/>
                </a:solidFill>
                <a:highlight>
                  <a:schemeClr val="dk1"/>
                </a:highlight>
                <a:latin typeface="Consolas"/>
                <a:ea typeface="Consolas"/>
                <a:cs typeface="Consolas"/>
                <a:sym typeface="Consolas"/>
              </a:rPr>
              <a:t>twelve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ColoredNumber</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12</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hs</a:t>
            </a:r>
            <a:r>
              <a:rPr b="1" lang="en" sz="1600">
                <a:solidFill>
                  <a:srgbClr val="8C9196"/>
                </a:solidFill>
                <a:highlight>
                  <a:schemeClr val="dk1"/>
                </a:highlight>
                <a:latin typeface="Consolas"/>
                <a:ea typeface="Consolas"/>
                <a:cs typeface="Consolas"/>
                <a:sym typeface="Consolas"/>
              </a:rPr>
              <a:t>.</a:t>
            </a:r>
            <a:r>
              <a:rPr b="1" lang="en" sz="1600">
                <a:solidFill>
                  <a:srgbClr val="5EB2B2"/>
                </a:solidFill>
                <a:highlight>
                  <a:schemeClr val="dk1"/>
                </a:highlight>
                <a:latin typeface="Consolas"/>
                <a:ea typeface="Consolas"/>
                <a:cs typeface="Consolas"/>
                <a:sym typeface="Consolas"/>
              </a:rPr>
              <a:t>contains</a:t>
            </a:r>
            <a:r>
              <a:rPr b="1" lang="en" sz="1600">
                <a:solidFill>
                  <a:srgbClr val="E2E3E4"/>
                </a:solidFill>
                <a:highlight>
                  <a:schemeClr val="dk1"/>
                </a:highlight>
                <a:latin typeface="Consolas"/>
                <a:ea typeface="Consolas"/>
                <a:cs typeface="Consolas"/>
                <a:sym typeface="Consolas"/>
              </a:rPr>
              <a:t>(twelve)</a:t>
            </a:r>
            <a:r>
              <a:rPr b="1" lang="en" sz="1600">
                <a:solidFill>
                  <a:srgbClr val="8C9196"/>
                </a:solidFill>
                <a:highlight>
                  <a:schemeClr val="dk1"/>
                </a:highlight>
                <a:latin typeface="Consolas"/>
                <a:ea typeface="Consolas"/>
                <a:cs typeface="Consolas"/>
                <a:sym typeface="Consolas"/>
              </a:rPr>
              <a:t>; // returns ??</a:t>
            </a:r>
            <a:endParaRPr b="1" sz="1600">
              <a:solidFill>
                <a:srgbClr val="E2E3E4"/>
              </a:solidFill>
              <a:highlight>
                <a:schemeClr val="dk1"/>
              </a:highlight>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8" name="Shape 348"/>
        <p:cNvGrpSpPr/>
        <p:nvPr/>
      </p:nvGrpSpPr>
      <p:grpSpPr>
        <a:xfrm>
          <a:off x="0" y="0"/>
          <a:ext cx="0" cy="0"/>
          <a:chOff x="0" y="0"/>
          <a:chExt cx="0" cy="0"/>
        </a:xfrm>
      </p:grpSpPr>
      <p:sp>
        <p:nvSpPr>
          <p:cNvPr id="349" name="Google Shape;349;p4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 an Item Using the Default HashCode</a:t>
            </a:r>
            <a:endParaRPr/>
          </a:p>
        </p:txBody>
      </p:sp>
      <p:sp>
        <p:nvSpPr>
          <p:cNvPr id="350" name="Google Shape;350;p49"/>
          <p:cNvSpPr txBox="1"/>
          <p:nvPr>
            <p:ph idx="1" type="body"/>
          </p:nvPr>
        </p:nvSpPr>
        <p:spPr>
          <a:xfrm>
            <a:off x="107048" y="402200"/>
            <a:ext cx="6192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hashCode: Based on memory address.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equals: Based on num.</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There are two ColoredNumber objects with num = 12.</a:t>
            </a:r>
            <a:endParaRPr/>
          </a:p>
          <a:p>
            <a:pPr indent="-342900" lvl="0" marL="457200" rtl="0" algn="l">
              <a:spcBef>
                <a:spcPts val="600"/>
              </a:spcBef>
              <a:spcAft>
                <a:spcPts val="0"/>
              </a:spcAft>
              <a:buSzPts val="1800"/>
              <a:buChar char="●"/>
            </a:pPr>
            <a:r>
              <a:rPr lang="en"/>
              <a:t>One of them is in the HashSet.</a:t>
            </a:r>
            <a:endParaRPr/>
          </a:p>
          <a:p>
            <a:pPr indent="-342900" lvl="0" marL="457200" rtl="0" algn="l">
              <a:spcBef>
                <a:spcPts val="0"/>
              </a:spcBef>
              <a:spcAft>
                <a:spcPts val="0"/>
              </a:spcAft>
              <a:buSzPts val="1800"/>
              <a:buChar char="●"/>
            </a:pPr>
            <a:r>
              <a:rPr lang="en"/>
              <a:t>One of them was created by the code above.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Example</a:t>
            </a:r>
            <a:r>
              <a:rPr lang="en"/>
              <a:t>: If object created by code above is in memory </a:t>
            </a:r>
            <a:r>
              <a:rPr lang="en"/>
              <a:t>location</a:t>
            </a:r>
            <a:r>
              <a:rPr lang="en"/>
              <a:t> 6000000, its hashCode % 6 is 0.</a:t>
            </a:r>
            <a:endParaRPr/>
          </a:p>
          <a:p>
            <a:pPr indent="-342900" lvl="0" marL="457200" rtl="0" algn="l">
              <a:spcBef>
                <a:spcPts val="600"/>
              </a:spcBef>
              <a:spcAft>
                <a:spcPts val="0"/>
              </a:spcAft>
              <a:buSzPts val="1800"/>
              <a:buChar char="●"/>
            </a:pPr>
            <a:r>
              <a:rPr lang="en"/>
              <a:t>HashSet looks in bucket zero, doesn’t find 12.</a:t>
            </a:r>
            <a:endParaRPr/>
          </a:p>
        </p:txBody>
      </p:sp>
      <p:pic>
        <p:nvPicPr>
          <p:cNvPr id="351" name="Google Shape;351;p49"/>
          <p:cNvPicPr preferRelativeResize="0"/>
          <p:nvPr/>
        </p:nvPicPr>
        <p:blipFill>
          <a:blip r:embed="rId3">
            <a:alphaModFix/>
          </a:blip>
          <a:stretch>
            <a:fillRect/>
          </a:stretch>
        </p:blipFill>
        <p:spPr>
          <a:xfrm>
            <a:off x="6206275" y="470225"/>
            <a:ext cx="2843100" cy="4531377"/>
          </a:xfrm>
          <a:prstGeom prst="rect">
            <a:avLst/>
          </a:prstGeom>
          <a:noFill/>
          <a:ln>
            <a:noFill/>
          </a:ln>
        </p:spPr>
      </p:pic>
      <p:sp>
        <p:nvSpPr>
          <p:cNvPr id="352" name="Google Shape;352;p49"/>
          <p:cNvSpPr txBox="1"/>
          <p:nvPr/>
        </p:nvSpPr>
        <p:spPr>
          <a:xfrm>
            <a:off x="484600" y="1734650"/>
            <a:ext cx="5271000" cy="677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ColoredNumber </a:t>
            </a:r>
            <a:r>
              <a:rPr b="1" lang="en" sz="1600">
                <a:solidFill>
                  <a:srgbClr val="E2E3E4"/>
                </a:solidFill>
                <a:highlight>
                  <a:schemeClr val="dk1"/>
                </a:highlight>
                <a:latin typeface="Consolas"/>
                <a:ea typeface="Consolas"/>
                <a:cs typeface="Consolas"/>
                <a:sym typeface="Consolas"/>
              </a:rPr>
              <a:t>twelve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ColoredNumber</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12</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hs</a:t>
            </a:r>
            <a:r>
              <a:rPr b="1" lang="en" sz="1600">
                <a:solidFill>
                  <a:srgbClr val="8C9196"/>
                </a:solidFill>
                <a:highlight>
                  <a:schemeClr val="dk1"/>
                </a:highlight>
                <a:latin typeface="Consolas"/>
                <a:ea typeface="Consolas"/>
                <a:cs typeface="Consolas"/>
                <a:sym typeface="Consolas"/>
              </a:rPr>
              <a:t>.</a:t>
            </a:r>
            <a:r>
              <a:rPr b="1" lang="en" sz="1600">
                <a:solidFill>
                  <a:srgbClr val="5EB2B2"/>
                </a:solidFill>
                <a:highlight>
                  <a:schemeClr val="dk1"/>
                </a:highlight>
                <a:latin typeface="Consolas"/>
                <a:ea typeface="Consolas"/>
                <a:cs typeface="Consolas"/>
                <a:sym typeface="Consolas"/>
              </a:rPr>
              <a:t>contains</a:t>
            </a:r>
            <a:r>
              <a:rPr b="1" lang="en" sz="1600">
                <a:solidFill>
                  <a:srgbClr val="E2E3E4"/>
                </a:solidFill>
                <a:highlight>
                  <a:schemeClr val="dk1"/>
                </a:highlight>
                <a:latin typeface="Consolas"/>
                <a:ea typeface="Consolas"/>
                <a:cs typeface="Consolas"/>
                <a:sym typeface="Consolas"/>
              </a:rPr>
              <a:t>(twelve)</a:t>
            </a:r>
            <a:r>
              <a:rPr b="1" lang="en" sz="1600">
                <a:solidFill>
                  <a:srgbClr val="8C9196"/>
                </a:solidFill>
                <a:highlight>
                  <a:schemeClr val="dk1"/>
                </a:highlight>
                <a:latin typeface="Consolas"/>
                <a:ea typeface="Consolas"/>
                <a:cs typeface="Consolas"/>
                <a:sym typeface="Consolas"/>
              </a:rPr>
              <a:t>; // returns ??</a:t>
            </a:r>
            <a:endParaRPr b="1" sz="1600">
              <a:solidFill>
                <a:srgbClr val="E2E3E4"/>
              </a:solidFill>
              <a:highlight>
                <a:schemeClr val="dk1"/>
              </a:highlight>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6" name="Shape 356"/>
        <p:cNvGrpSpPr/>
        <p:nvPr/>
      </p:nvGrpSpPr>
      <p:grpSpPr>
        <a:xfrm>
          <a:off x="0" y="0"/>
          <a:ext cx="0" cy="0"/>
          <a:chOff x="0" y="0"/>
          <a:chExt cx="0" cy="0"/>
        </a:xfrm>
      </p:grpSpPr>
      <p:sp>
        <p:nvSpPr>
          <p:cNvPr id="357" name="Google Shape;357;p5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Hard Question</a:t>
            </a:r>
            <a:endParaRPr/>
          </a:p>
        </p:txBody>
      </p:sp>
      <p:sp>
        <p:nvSpPr>
          <p:cNvPr id="358" name="Google Shape;358;p50"/>
          <p:cNvSpPr txBox="1"/>
          <p:nvPr>
            <p:ph idx="1" type="body"/>
          </p:nvPr>
        </p:nvSpPr>
        <p:spPr>
          <a:xfrm>
            <a:off x="107048" y="402200"/>
            <a:ext cx="5988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If the default hashCode achieves good spread, why do we even bother to create custom hash functions?</a:t>
            </a:r>
            <a:endParaRPr/>
          </a:p>
          <a:p>
            <a:pPr indent="-342900" lvl="0" marL="457200" rtl="0" algn="l">
              <a:spcBef>
                <a:spcPts val="600"/>
              </a:spcBef>
              <a:spcAft>
                <a:spcPts val="0"/>
              </a:spcAft>
              <a:buSzPts val="1800"/>
              <a:buChar char="●"/>
            </a:pPr>
            <a:r>
              <a:rPr lang="en"/>
              <a:t>Necessary to have consistency between </a:t>
            </a:r>
            <a:r>
              <a:rPr lang="en">
                <a:latin typeface="Consolas"/>
                <a:ea typeface="Consolas"/>
                <a:cs typeface="Consolas"/>
                <a:sym typeface="Consolas"/>
              </a:rPr>
              <a:t>equals</a:t>
            </a:r>
            <a:r>
              <a:rPr lang="en"/>
              <a:t> and </a:t>
            </a:r>
            <a:r>
              <a:rPr lang="en">
                <a:latin typeface="Consolas"/>
                <a:ea typeface="Consolas"/>
                <a:cs typeface="Consolas"/>
                <a:sym typeface="Consolas"/>
              </a:rPr>
              <a:t>hashCode</a:t>
            </a:r>
            <a:r>
              <a:rPr lang="en"/>
              <a:t> for basic </a:t>
            </a:r>
            <a:r>
              <a:rPr lang="en"/>
              <a:t>operations</a:t>
            </a:r>
            <a:r>
              <a:rPr lang="en"/>
              <a:t> to function.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Basic rule: If two objects are equal, they’d better have the same hashCode so the hash table can find it.</a:t>
            </a:r>
            <a:endParaRPr/>
          </a:p>
        </p:txBody>
      </p:sp>
      <p:pic>
        <p:nvPicPr>
          <p:cNvPr id="359" name="Google Shape;359;p50"/>
          <p:cNvPicPr preferRelativeResize="0"/>
          <p:nvPr/>
        </p:nvPicPr>
        <p:blipFill>
          <a:blip r:embed="rId3">
            <a:alphaModFix/>
          </a:blip>
          <a:stretch>
            <a:fillRect/>
          </a:stretch>
        </p:blipFill>
        <p:spPr>
          <a:xfrm>
            <a:off x="6206275" y="470225"/>
            <a:ext cx="2843100" cy="453137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1"/>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Visualization for Some Basic Cases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hashCode and Equals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Why Custom Hash Functions?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contains</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Duplicate Values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B7B7B7"/>
                </a:solidFill>
              </a:rPr>
              <a:t>The Danger of Mutable Keys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Mutable vs. Immutable Types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Mutable Hash Table Keys</a:t>
            </a:r>
            <a:endParaRPr>
              <a:solidFill>
                <a:srgbClr val="B7B7B7"/>
              </a:solidFill>
            </a:endParaRPr>
          </a:p>
          <a:p>
            <a:pPr indent="0" lvl="0" marL="0" rtl="0" algn="l">
              <a:spcBef>
                <a:spcPts val="600"/>
              </a:spcBef>
              <a:spcAft>
                <a:spcPts val="0"/>
              </a:spcAft>
              <a:buNone/>
            </a:pPr>
            <a:r>
              <a:rPr lang="en">
                <a:solidFill>
                  <a:srgbClr val="B7B7B7"/>
                </a:solidFill>
              </a:rPr>
              <a:t>A Peek into Java HashSets</a:t>
            </a:r>
            <a:endParaRPr>
              <a:solidFill>
                <a:srgbClr val="B7B7B7"/>
              </a:solidFill>
            </a:endParaRPr>
          </a:p>
        </p:txBody>
      </p:sp>
      <p:sp>
        <p:nvSpPr>
          <p:cNvPr id="365" name="Google Shape;365;p5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Duplicate Values</a:t>
            </a:r>
            <a:endParaRPr/>
          </a:p>
        </p:txBody>
      </p:sp>
      <p:sp>
        <p:nvSpPr>
          <p:cNvPr id="366" name="Google Shape;366;p5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20, CS61B, Fall 2023</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370" name="Shape 370"/>
        <p:cNvGrpSpPr/>
        <p:nvPr/>
      </p:nvGrpSpPr>
      <p:grpSpPr>
        <a:xfrm>
          <a:off x="0" y="0"/>
          <a:ext cx="0" cy="0"/>
          <a:chOff x="0" y="0"/>
          <a:chExt cx="0" cy="0"/>
        </a:xfrm>
      </p:grpSpPr>
      <p:sp>
        <p:nvSpPr>
          <p:cNvPr id="371" name="Google Shape;371;p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Overriding Equals but Not HashCode: yellkey.com</a:t>
            </a:r>
            <a:r>
              <a:rPr lang="en">
                <a:solidFill>
                  <a:srgbClr val="208920"/>
                </a:solidFill>
              </a:rPr>
              <a:t>/wide</a:t>
            </a:r>
            <a:endParaRPr>
              <a:solidFill>
                <a:srgbClr val="208920"/>
              </a:solidFill>
            </a:endParaRPr>
          </a:p>
        </p:txBody>
      </p:sp>
      <p:sp>
        <p:nvSpPr>
          <p:cNvPr id="372" name="Google Shape;372;p52"/>
          <p:cNvSpPr txBox="1"/>
          <p:nvPr>
            <p:ph idx="1" type="body"/>
          </p:nvPr>
        </p:nvSpPr>
        <p:spPr>
          <a:xfrm>
            <a:off x="107048" y="402200"/>
            <a:ext cx="5988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the same </a:t>
            </a:r>
            <a:r>
              <a:rPr lang="en">
                <a:latin typeface="Consolas"/>
                <a:ea typeface="Consolas"/>
                <a:cs typeface="Consolas"/>
                <a:sym typeface="Consolas"/>
              </a:rPr>
              <a:t>equals</a:t>
            </a:r>
            <a:r>
              <a:rPr lang="en"/>
              <a:t> method (comparing </a:t>
            </a:r>
            <a:r>
              <a:rPr lang="en">
                <a:latin typeface="Consolas"/>
                <a:ea typeface="Consolas"/>
                <a:cs typeface="Consolas"/>
                <a:sym typeface="Consolas"/>
              </a:rPr>
              <a:t>num</a:t>
            </a:r>
            <a:r>
              <a:rPr lang="en"/>
              <a:t>), but </a:t>
            </a:r>
            <a:r>
              <a:rPr b="1" lang="en" u="sng"/>
              <a:t>we do not override hashCode</a:t>
            </a:r>
            <a:r>
              <a:rPr lang="en"/>
              <a:t>.</a:t>
            </a:r>
            <a:endParaRPr/>
          </a:p>
          <a:p>
            <a:pPr indent="-342900" lvl="0" marL="457200" rtl="0" algn="l">
              <a:spcBef>
                <a:spcPts val="600"/>
              </a:spcBef>
              <a:spcAft>
                <a:spcPts val="0"/>
              </a:spcAft>
              <a:buSzPts val="1800"/>
              <a:buChar char="●"/>
            </a:pPr>
            <a:r>
              <a:rPr lang="en"/>
              <a:t>Result of adding 0 through 19 is shown to the </a:t>
            </a:r>
            <a:r>
              <a:rPr lang="en"/>
              <a:t>right</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Which can happen when we call </a:t>
            </a:r>
            <a:r>
              <a:rPr lang="en">
                <a:latin typeface="Consolas"/>
                <a:ea typeface="Consolas"/>
                <a:cs typeface="Consolas"/>
                <a:sym typeface="Consolas"/>
              </a:rPr>
              <a:t>add(zero)</a:t>
            </a:r>
            <a:r>
              <a:rPr lang="en"/>
              <a:t>?</a:t>
            </a:r>
            <a:endParaRPr/>
          </a:p>
          <a:p>
            <a:pPr indent="-342900" lvl="0" marL="457200" rtl="0" algn="l">
              <a:spcBef>
                <a:spcPts val="600"/>
              </a:spcBef>
              <a:spcAft>
                <a:spcPts val="0"/>
              </a:spcAft>
              <a:buSzPts val="1800"/>
              <a:buAutoNum type="alphaUcPeriod"/>
            </a:pPr>
            <a:r>
              <a:rPr lang="en"/>
              <a:t>We add another 0 to bin zero.</a:t>
            </a:r>
            <a:endParaRPr/>
          </a:p>
          <a:p>
            <a:pPr indent="-342900" lvl="0" marL="457200" rtl="0" algn="l">
              <a:spcBef>
                <a:spcPts val="0"/>
              </a:spcBef>
              <a:spcAft>
                <a:spcPts val="0"/>
              </a:spcAft>
              <a:buSzPts val="1800"/>
              <a:buAutoNum type="alphaUcPeriod"/>
            </a:pPr>
            <a:r>
              <a:rPr lang="en"/>
              <a:t>We add another 0 to bin one.</a:t>
            </a:r>
            <a:endParaRPr/>
          </a:p>
          <a:p>
            <a:pPr indent="-342900" lvl="0" marL="457200" rtl="0" algn="l">
              <a:spcBef>
                <a:spcPts val="0"/>
              </a:spcBef>
              <a:spcAft>
                <a:spcPts val="0"/>
              </a:spcAft>
              <a:buSzPts val="1800"/>
              <a:buAutoNum type="alphaUcPeriod"/>
            </a:pPr>
            <a:r>
              <a:rPr lang="en"/>
              <a:t>We add another 0 to some other bin.</a:t>
            </a:r>
            <a:endParaRPr/>
          </a:p>
          <a:p>
            <a:pPr indent="-342900" lvl="0" marL="457200" rtl="0" algn="l">
              <a:spcBef>
                <a:spcPts val="0"/>
              </a:spcBef>
              <a:spcAft>
                <a:spcPts val="0"/>
              </a:spcAft>
              <a:buSzPts val="1800"/>
              <a:buAutoNum type="alphaUcPeriod"/>
            </a:pPr>
            <a:r>
              <a:rPr lang="en"/>
              <a:t>We do not get a duplicate zero.</a:t>
            </a:r>
            <a:endParaRPr/>
          </a:p>
        </p:txBody>
      </p:sp>
      <p:sp>
        <p:nvSpPr>
          <p:cNvPr id="373" name="Google Shape;373;p52"/>
          <p:cNvSpPr txBox="1"/>
          <p:nvPr/>
        </p:nvSpPr>
        <p:spPr>
          <a:xfrm>
            <a:off x="400200" y="1552293"/>
            <a:ext cx="5475000" cy="831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rgbClr val="C393C3"/>
                </a:solidFill>
                <a:highlight>
                  <a:schemeClr val="dk1"/>
                </a:highlight>
                <a:latin typeface="Consolas"/>
                <a:ea typeface="Consolas"/>
                <a:cs typeface="Consolas"/>
                <a:sym typeface="Consolas"/>
              </a:rPr>
              <a:t>public boolean </a:t>
            </a:r>
            <a:r>
              <a:rPr b="1" lang="en">
                <a:solidFill>
                  <a:srgbClr val="5EB2B2"/>
                </a:solidFill>
                <a:highlight>
                  <a:schemeClr val="dk1"/>
                </a:highlight>
                <a:latin typeface="Consolas"/>
                <a:ea typeface="Consolas"/>
                <a:cs typeface="Consolas"/>
                <a:sym typeface="Consolas"/>
              </a:rPr>
              <a:t>equals</a:t>
            </a:r>
            <a:r>
              <a:rPr b="1" lang="en">
                <a:solidFill>
                  <a:srgbClr val="E2E3E4"/>
                </a:solidFill>
                <a:highlight>
                  <a:schemeClr val="dk1"/>
                </a:highlight>
                <a:latin typeface="Consolas"/>
                <a:ea typeface="Consolas"/>
                <a:cs typeface="Consolas"/>
                <a:sym typeface="Consolas"/>
              </a:rPr>
              <a:t>(</a:t>
            </a:r>
            <a:r>
              <a:rPr b="1" lang="en">
                <a:solidFill>
                  <a:srgbClr val="F8B662"/>
                </a:solidFill>
                <a:highlight>
                  <a:schemeClr val="dk1"/>
                </a:highlight>
                <a:latin typeface="Consolas"/>
                <a:ea typeface="Consolas"/>
                <a:cs typeface="Consolas"/>
                <a:sym typeface="Consolas"/>
              </a:rPr>
              <a:t>Object o</a:t>
            </a:r>
            <a:r>
              <a:rPr b="1" lang="en">
                <a:solidFill>
                  <a:srgbClr val="E2E3E4"/>
                </a:solidFill>
                <a:highlight>
                  <a:schemeClr val="dk1"/>
                </a:highlight>
                <a:latin typeface="Consolas"/>
                <a:ea typeface="Consolas"/>
                <a:cs typeface="Consolas"/>
                <a:sym typeface="Consolas"/>
              </a:rPr>
              <a:t>) {</a:t>
            </a:r>
            <a:endParaRPr b="1">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a:solidFill>
                  <a:srgbClr val="E2E3E4"/>
                </a:solidFill>
                <a:highlight>
                  <a:schemeClr val="dk1"/>
                </a:highlight>
                <a:latin typeface="Consolas"/>
                <a:ea typeface="Consolas"/>
                <a:cs typeface="Consolas"/>
                <a:sym typeface="Consolas"/>
              </a:rPr>
              <a:t>   </a:t>
            </a:r>
            <a:r>
              <a:rPr b="1" lang="en">
                <a:solidFill>
                  <a:srgbClr val="C393C3"/>
                </a:solidFill>
                <a:highlight>
                  <a:schemeClr val="dk1"/>
                </a:highlight>
                <a:latin typeface="Consolas"/>
                <a:ea typeface="Consolas"/>
                <a:cs typeface="Consolas"/>
                <a:sym typeface="Consolas"/>
              </a:rPr>
              <a:t>...</a:t>
            </a:r>
            <a:r>
              <a:rPr b="1" lang="en">
                <a:solidFill>
                  <a:srgbClr val="E2E3E4"/>
                </a:solidFill>
                <a:highlight>
                  <a:schemeClr val="dk1"/>
                </a:highlight>
                <a:latin typeface="Consolas"/>
                <a:ea typeface="Consolas"/>
                <a:cs typeface="Consolas"/>
                <a:sym typeface="Consolas"/>
              </a:rPr>
              <a:t>  </a:t>
            </a:r>
            <a:r>
              <a:rPr b="1" lang="en">
                <a:solidFill>
                  <a:srgbClr val="C393C3"/>
                </a:solidFill>
                <a:highlight>
                  <a:schemeClr val="dk1"/>
                </a:highlight>
                <a:latin typeface="Consolas"/>
                <a:ea typeface="Consolas"/>
                <a:cs typeface="Consolas"/>
                <a:sym typeface="Consolas"/>
              </a:rPr>
              <a:t>return this</a:t>
            </a:r>
            <a:r>
              <a:rPr b="1" lang="en">
                <a:solidFill>
                  <a:srgbClr val="8C9196"/>
                </a:solidFill>
                <a:highlight>
                  <a:schemeClr val="dk1"/>
                </a:highlight>
                <a:latin typeface="Consolas"/>
                <a:ea typeface="Consolas"/>
                <a:cs typeface="Consolas"/>
                <a:sym typeface="Consolas"/>
              </a:rPr>
              <a:t>.</a:t>
            </a:r>
            <a:r>
              <a:rPr b="1" lang="en">
                <a:solidFill>
                  <a:srgbClr val="E2E3E4"/>
                </a:solidFill>
                <a:highlight>
                  <a:schemeClr val="dk1"/>
                </a:highlight>
                <a:latin typeface="Consolas"/>
                <a:ea typeface="Consolas"/>
                <a:cs typeface="Consolas"/>
                <a:sym typeface="Consolas"/>
              </a:rPr>
              <a:t>num </a:t>
            </a:r>
            <a:r>
              <a:rPr b="1" lang="en">
                <a:solidFill>
                  <a:srgbClr val="F48460"/>
                </a:solidFill>
                <a:highlight>
                  <a:schemeClr val="dk1"/>
                </a:highlight>
                <a:latin typeface="Consolas"/>
                <a:ea typeface="Consolas"/>
                <a:cs typeface="Consolas"/>
                <a:sym typeface="Consolas"/>
              </a:rPr>
              <a:t>== </a:t>
            </a:r>
            <a:r>
              <a:rPr b="1" lang="en">
                <a:solidFill>
                  <a:srgbClr val="F8B662"/>
                </a:solidFill>
                <a:highlight>
                  <a:schemeClr val="dk1"/>
                </a:highlight>
                <a:latin typeface="Consolas"/>
                <a:ea typeface="Consolas"/>
                <a:cs typeface="Consolas"/>
                <a:sym typeface="Consolas"/>
              </a:rPr>
              <a:t>otherCn</a:t>
            </a:r>
            <a:r>
              <a:rPr b="1" lang="en">
                <a:solidFill>
                  <a:srgbClr val="8C9196"/>
                </a:solidFill>
                <a:highlight>
                  <a:schemeClr val="dk1"/>
                </a:highlight>
                <a:latin typeface="Consolas"/>
                <a:ea typeface="Consolas"/>
                <a:cs typeface="Consolas"/>
                <a:sym typeface="Consolas"/>
              </a:rPr>
              <a:t>.</a:t>
            </a:r>
            <a:r>
              <a:rPr b="1" lang="en">
                <a:solidFill>
                  <a:srgbClr val="E2E3E4"/>
                </a:solidFill>
                <a:highlight>
                  <a:schemeClr val="dk1"/>
                </a:highlight>
                <a:latin typeface="Consolas"/>
                <a:ea typeface="Consolas"/>
                <a:cs typeface="Consolas"/>
                <a:sym typeface="Consolas"/>
              </a:rPr>
              <a:t>num</a:t>
            </a:r>
            <a:r>
              <a:rPr b="1" lang="en">
                <a:solidFill>
                  <a:srgbClr val="8C9196"/>
                </a:solidFill>
                <a:highlight>
                  <a:schemeClr val="dk1"/>
                </a:highlight>
                <a:latin typeface="Consolas"/>
                <a:ea typeface="Consolas"/>
                <a:cs typeface="Consolas"/>
                <a:sym typeface="Consolas"/>
              </a:rPr>
              <a:t>; </a:t>
            </a:r>
            <a:r>
              <a:rPr b="1" lang="en">
                <a:solidFill>
                  <a:srgbClr val="E2E3E4"/>
                </a:solidFill>
                <a:highlight>
                  <a:schemeClr val="dk1"/>
                </a:highlight>
                <a:latin typeface="Consolas"/>
                <a:ea typeface="Consolas"/>
                <a:cs typeface="Consolas"/>
                <a:sym typeface="Consolas"/>
              </a:rPr>
              <a:t>...</a:t>
            </a:r>
            <a:endParaRPr b="1">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a:solidFill>
                  <a:srgbClr val="E2E3E4"/>
                </a:solidFill>
                <a:highlight>
                  <a:schemeClr val="dk1"/>
                </a:highlight>
                <a:latin typeface="Consolas"/>
                <a:ea typeface="Consolas"/>
                <a:cs typeface="Consolas"/>
                <a:sym typeface="Consolas"/>
              </a:rPr>
              <a:t>}</a:t>
            </a:r>
            <a:endParaRPr b="1">
              <a:solidFill>
                <a:srgbClr val="91AFCC"/>
              </a:solidFill>
              <a:highlight>
                <a:schemeClr val="dk1"/>
              </a:highlight>
              <a:latin typeface="Consolas"/>
              <a:ea typeface="Consolas"/>
              <a:cs typeface="Consolas"/>
              <a:sym typeface="Consolas"/>
            </a:endParaRPr>
          </a:p>
        </p:txBody>
      </p:sp>
      <p:pic>
        <p:nvPicPr>
          <p:cNvPr id="374" name="Google Shape;374;p52"/>
          <p:cNvPicPr preferRelativeResize="0"/>
          <p:nvPr/>
        </p:nvPicPr>
        <p:blipFill>
          <a:blip r:embed="rId3">
            <a:alphaModFix/>
          </a:blip>
          <a:stretch>
            <a:fillRect/>
          </a:stretch>
        </p:blipFill>
        <p:spPr>
          <a:xfrm>
            <a:off x="6248048" y="546000"/>
            <a:ext cx="2743552" cy="4377352"/>
          </a:xfrm>
          <a:prstGeom prst="rect">
            <a:avLst/>
          </a:prstGeom>
          <a:noFill/>
          <a:ln>
            <a:noFill/>
          </a:ln>
        </p:spPr>
      </p:pic>
      <p:sp>
        <p:nvSpPr>
          <p:cNvPr id="375" name="Google Shape;375;p52"/>
          <p:cNvSpPr txBox="1"/>
          <p:nvPr/>
        </p:nvSpPr>
        <p:spPr>
          <a:xfrm>
            <a:off x="484600" y="2496650"/>
            <a:ext cx="5271000" cy="677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ColoredNumber </a:t>
            </a:r>
            <a:r>
              <a:rPr b="1" lang="en" sz="1600">
                <a:solidFill>
                  <a:srgbClr val="E2E3E4"/>
                </a:solidFill>
                <a:highlight>
                  <a:schemeClr val="dk1"/>
                </a:highlight>
                <a:latin typeface="Consolas"/>
                <a:ea typeface="Consolas"/>
                <a:cs typeface="Consolas"/>
                <a:sym typeface="Consolas"/>
              </a:rPr>
              <a:t>zero</a:t>
            </a:r>
            <a:r>
              <a:rPr b="1" lang="en" sz="1600">
                <a:solidFill>
                  <a:srgbClr val="E2E3E4"/>
                </a:solidFill>
                <a:highlight>
                  <a:schemeClr val="dk1"/>
                </a:highlight>
                <a:latin typeface="Consolas"/>
                <a:ea typeface="Consolas"/>
                <a:cs typeface="Consolas"/>
                <a:sym typeface="Consolas"/>
              </a:rPr>
              <a:t>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ColoredNumber</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0</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hs</a:t>
            </a:r>
            <a:r>
              <a:rPr b="1" lang="en" sz="1600">
                <a:solidFill>
                  <a:srgbClr val="8C9196"/>
                </a:solidFill>
                <a:highlight>
                  <a:schemeClr val="dk1"/>
                </a:highlight>
                <a:latin typeface="Consolas"/>
                <a:ea typeface="Consolas"/>
                <a:cs typeface="Consolas"/>
                <a:sym typeface="Consolas"/>
              </a:rPr>
              <a:t>.</a:t>
            </a:r>
            <a:r>
              <a:rPr b="1" lang="en" sz="1600">
                <a:solidFill>
                  <a:srgbClr val="5EB2B2"/>
                </a:solidFill>
                <a:highlight>
                  <a:schemeClr val="dk1"/>
                </a:highlight>
                <a:latin typeface="Consolas"/>
                <a:ea typeface="Consolas"/>
                <a:cs typeface="Consolas"/>
                <a:sym typeface="Consolas"/>
              </a:rPr>
              <a:t>add</a:t>
            </a:r>
            <a:r>
              <a:rPr b="1" lang="en" sz="1600">
                <a:solidFill>
                  <a:srgbClr val="E2E3E4"/>
                </a:solidFill>
                <a:highlight>
                  <a:schemeClr val="dk1"/>
                </a:highlight>
                <a:latin typeface="Consolas"/>
                <a:ea typeface="Consolas"/>
                <a:cs typeface="Consolas"/>
                <a:sym typeface="Consolas"/>
              </a:rPr>
              <a:t>(</a:t>
            </a:r>
            <a:r>
              <a:rPr b="1" lang="en" sz="1600">
                <a:solidFill>
                  <a:srgbClr val="E2E3E4"/>
                </a:solidFill>
                <a:highlight>
                  <a:schemeClr val="dk1"/>
                </a:highlight>
                <a:latin typeface="Consolas"/>
                <a:ea typeface="Consolas"/>
                <a:cs typeface="Consolas"/>
                <a:sym typeface="Consolas"/>
              </a:rPr>
              <a:t>zero</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 // does another zero appear?</a:t>
            </a:r>
            <a:endParaRPr b="1" sz="1600">
              <a:solidFill>
                <a:srgbClr val="E2E3E4"/>
              </a:solidFill>
              <a:highlight>
                <a:schemeClr val="dk1"/>
              </a:highlight>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9" name="Shape 379"/>
        <p:cNvGrpSpPr/>
        <p:nvPr/>
      </p:nvGrpSpPr>
      <p:grpSpPr>
        <a:xfrm>
          <a:off x="0" y="0"/>
          <a:ext cx="0" cy="0"/>
          <a:chOff x="0" y="0"/>
          <a:chExt cx="0" cy="0"/>
        </a:xfrm>
      </p:grpSpPr>
      <p:sp>
        <p:nvSpPr>
          <p:cNvPr id="380" name="Google Shape;380;p5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Overriding Equals but Not HashCode</a:t>
            </a:r>
            <a:endParaRPr/>
          </a:p>
        </p:txBody>
      </p:sp>
      <p:sp>
        <p:nvSpPr>
          <p:cNvPr id="381" name="Google Shape;381;p53"/>
          <p:cNvSpPr txBox="1"/>
          <p:nvPr>
            <p:ph idx="1" type="body"/>
          </p:nvPr>
        </p:nvSpPr>
        <p:spPr>
          <a:xfrm>
            <a:off x="107048" y="402200"/>
            <a:ext cx="5988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the following </a:t>
            </a:r>
            <a:r>
              <a:rPr lang="en">
                <a:latin typeface="Consolas"/>
                <a:ea typeface="Consolas"/>
                <a:cs typeface="Consolas"/>
                <a:sym typeface="Consolas"/>
              </a:rPr>
              <a:t>equals</a:t>
            </a:r>
            <a:r>
              <a:rPr lang="en"/>
              <a:t> method, but </a:t>
            </a:r>
            <a:r>
              <a:rPr b="1" lang="en" u="sng"/>
              <a:t>we do not override hashCode</a:t>
            </a:r>
            <a:r>
              <a:rPr lang="en"/>
              <a:t>.</a:t>
            </a:r>
            <a:endParaRPr/>
          </a:p>
          <a:p>
            <a:pPr indent="-342900" lvl="0" marL="457200" rtl="0" algn="l">
              <a:spcBef>
                <a:spcPts val="600"/>
              </a:spcBef>
              <a:spcAft>
                <a:spcPts val="0"/>
              </a:spcAft>
              <a:buSzPts val="1800"/>
              <a:buChar char="●"/>
            </a:pPr>
            <a:r>
              <a:rPr lang="en"/>
              <a:t>Result of adding 0 through 19 is shown to the right.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Which of the following can happen if we add 0 again?</a:t>
            </a:r>
            <a:endParaRPr/>
          </a:p>
          <a:p>
            <a:pPr indent="-342900" lvl="0" marL="457200" rtl="0" algn="l">
              <a:spcBef>
                <a:spcPts val="600"/>
              </a:spcBef>
              <a:spcAft>
                <a:spcPts val="0"/>
              </a:spcAft>
              <a:buSzPts val="1800"/>
              <a:buAutoNum type="alphaUcPeriod"/>
            </a:pPr>
            <a:r>
              <a:rPr b="1" lang="en"/>
              <a:t>We add another 0 to bin zero.</a:t>
            </a:r>
            <a:endParaRPr b="1"/>
          </a:p>
          <a:p>
            <a:pPr indent="-342900" lvl="0" marL="457200" rtl="0" algn="l">
              <a:spcBef>
                <a:spcPts val="0"/>
              </a:spcBef>
              <a:spcAft>
                <a:spcPts val="0"/>
              </a:spcAft>
              <a:buSzPts val="1800"/>
              <a:buAutoNum type="alphaUcPeriod"/>
            </a:pPr>
            <a:r>
              <a:rPr lang="en"/>
              <a:t>We add another 0 to bin one.</a:t>
            </a:r>
            <a:endParaRPr/>
          </a:p>
          <a:p>
            <a:pPr indent="-342900" lvl="0" marL="457200" rtl="0" algn="l">
              <a:spcBef>
                <a:spcPts val="0"/>
              </a:spcBef>
              <a:spcAft>
                <a:spcPts val="0"/>
              </a:spcAft>
              <a:buSzPts val="1800"/>
              <a:buAutoNum type="alphaUcPeriod"/>
            </a:pPr>
            <a:r>
              <a:rPr b="1" lang="en"/>
              <a:t>We add another 0 to some other bin.</a:t>
            </a:r>
            <a:endParaRPr b="1"/>
          </a:p>
          <a:p>
            <a:pPr indent="-342900" lvl="0" marL="457200" rtl="0" algn="l">
              <a:spcBef>
                <a:spcPts val="0"/>
              </a:spcBef>
              <a:spcAft>
                <a:spcPts val="0"/>
              </a:spcAft>
              <a:buSzPts val="1800"/>
              <a:buAutoNum type="alphaUcPeriod"/>
            </a:pPr>
            <a:r>
              <a:rPr b="1" lang="en"/>
              <a:t>We do not get a duplicate zero.</a:t>
            </a:r>
            <a:endParaRPr b="1"/>
          </a:p>
        </p:txBody>
      </p:sp>
      <p:sp>
        <p:nvSpPr>
          <p:cNvPr id="382" name="Google Shape;382;p53"/>
          <p:cNvSpPr txBox="1"/>
          <p:nvPr/>
        </p:nvSpPr>
        <p:spPr>
          <a:xfrm>
            <a:off x="400200" y="1552293"/>
            <a:ext cx="5475000" cy="1693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rgbClr val="91AFCC"/>
                </a:solidFill>
                <a:highlight>
                  <a:schemeClr val="dk1"/>
                </a:highlight>
                <a:latin typeface="Consolas"/>
                <a:ea typeface="Consolas"/>
                <a:cs typeface="Consolas"/>
                <a:sym typeface="Consolas"/>
              </a:rPr>
              <a:t>@Override</a:t>
            </a:r>
            <a:endParaRPr b="1">
              <a:solidFill>
                <a:srgbClr val="91AFCC"/>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a:solidFill>
                  <a:srgbClr val="C393C3"/>
                </a:solidFill>
                <a:highlight>
                  <a:schemeClr val="dk1"/>
                </a:highlight>
                <a:latin typeface="Consolas"/>
                <a:ea typeface="Consolas"/>
                <a:cs typeface="Consolas"/>
                <a:sym typeface="Consolas"/>
              </a:rPr>
              <a:t>public boolean </a:t>
            </a:r>
            <a:r>
              <a:rPr b="1" lang="en">
                <a:solidFill>
                  <a:srgbClr val="5EB2B2"/>
                </a:solidFill>
                <a:highlight>
                  <a:schemeClr val="dk1"/>
                </a:highlight>
                <a:latin typeface="Consolas"/>
                <a:ea typeface="Consolas"/>
                <a:cs typeface="Consolas"/>
                <a:sym typeface="Consolas"/>
              </a:rPr>
              <a:t>equals</a:t>
            </a:r>
            <a:r>
              <a:rPr b="1" lang="en">
                <a:solidFill>
                  <a:srgbClr val="E2E3E4"/>
                </a:solidFill>
                <a:highlight>
                  <a:schemeClr val="dk1"/>
                </a:highlight>
                <a:latin typeface="Consolas"/>
                <a:ea typeface="Consolas"/>
                <a:cs typeface="Consolas"/>
                <a:sym typeface="Consolas"/>
              </a:rPr>
              <a:t>(</a:t>
            </a:r>
            <a:r>
              <a:rPr b="1" lang="en">
                <a:solidFill>
                  <a:srgbClr val="F8B662"/>
                </a:solidFill>
                <a:highlight>
                  <a:schemeClr val="dk1"/>
                </a:highlight>
                <a:latin typeface="Consolas"/>
                <a:ea typeface="Consolas"/>
                <a:cs typeface="Consolas"/>
                <a:sym typeface="Consolas"/>
              </a:rPr>
              <a:t>Object o</a:t>
            </a:r>
            <a:r>
              <a:rPr b="1" lang="en">
                <a:solidFill>
                  <a:srgbClr val="E2E3E4"/>
                </a:solidFill>
                <a:highlight>
                  <a:schemeClr val="dk1"/>
                </a:highlight>
                <a:latin typeface="Consolas"/>
                <a:ea typeface="Consolas"/>
                <a:cs typeface="Consolas"/>
                <a:sym typeface="Consolas"/>
              </a:rPr>
              <a:t>) {</a:t>
            </a:r>
            <a:endParaRPr b="1">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a:solidFill>
                  <a:srgbClr val="E2E3E4"/>
                </a:solidFill>
                <a:highlight>
                  <a:schemeClr val="dk1"/>
                </a:highlight>
                <a:latin typeface="Consolas"/>
                <a:ea typeface="Consolas"/>
                <a:cs typeface="Consolas"/>
                <a:sym typeface="Consolas"/>
              </a:rPr>
              <a:t>   </a:t>
            </a:r>
            <a:r>
              <a:rPr b="1" lang="en">
                <a:solidFill>
                  <a:srgbClr val="C393C3"/>
                </a:solidFill>
                <a:highlight>
                  <a:schemeClr val="dk1"/>
                </a:highlight>
                <a:latin typeface="Consolas"/>
                <a:ea typeface="Consolas"/>
                <a:cs typeface="Consolas"/>
                <a:sym typeface="Consolas"/>
              </a:rPr>
              <a:t>if </a:t>
            </a:r>
            <a:r>
              <a:rPr b="1" lang="en">
                <a:solidFill>
                  <a:srgbClr val="E2E3E4"/>
                </a:solidFill>
                <a:highlight>
                  <a:schemeClr val="dk1"/>
                </a:highlight>
                <a:latin typeface="Consolas"/>
                <a:ea typeface="Consolas"/>
                <a:cs typeface="Consolas"/>
                <a:sym typeface="Consolas"/>
              </a:rPr>
              <a:t>(</a:t>
            </a:r>
            <a:r>
              <a:rPr b="1" lang="en">
                <a:solidFill>
                  <a:srgbClr val="F8B662"/>
                </a:solidFill>
                <a:highlight>
                  <a:schemeClr val="dk1"/>
                </a:highlight>
                <a:latin typeface="Consolas"/>
                <a:ea typeface="Consolas"/>
                <a:cs typeface="Consolas"/>
                <a:sym typeface="Consolas"/>
              </a:rPr>
              <a:t>o </a:t>
            </a:r>
            <a:r>
              <a:rPr b="1" lang="en">
                <a:solidFill>
                  <a:srgbClr val="C393C3"/>
                </a:solidFill>
                <a:highlight>
                  <a:schemeClr val="dk1"/>
                </a:highlight>
                <a:latin typeface="Consolas"/>
                <a:ea typeface="Consolas"/>
                <a:cs typeface="Consolas"/>
                <a:sym typeface="Consolas"/>
              </a:rPr>
              <a:t>instanceof </a:t>
            </a:r>
            <a:r>
              <a:rPr b="1" lang="en">
                <a:solidFill>
                  <a:srgbClr val="F8B662"/>
                </a:solidFill>
                <a:highlight>
                  <a:schemeClr val="dk1"/>
                </a:highlight>
                <a:latin typeface="Consolas"/>
                <a:ea typeface="Consolas"/>
                <a:cs typeface="Consolas"/>
                <a:sym typeface="Consolas"/>
              </a:rPr>
              <a:t>ColoredNumber otherCn</a:t>
            </a:r>
            <a:r>
              <a:rPr b="1" lang="en">
                <a:solidFill>
                  <a:srgbClr val="E2E3E4"/>
                </a:solidFill>
                <a:highlight>
                  <a:schemeClr val="dk1"/>
                </a:highlight>
                <a:latin typeface="Consolas"/>
                <a:ea typeface="Consolas"/>
                <a:cs typeface="Consolas"/>
                <a:sym typeface="Consolas"/>
              </a:rPr>
              <a:t>) {</a:t>
            </a:r>
            <a:endParaRPr b="1">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a:solidFill>
                  <a:srgbClr val="E2E3E4"/>
                </a:solidFill>
                <a:highlight>
                  <a:schemeClr val="dk1"/>
                </a:highlight>
                <a:latin typeface="Consolas"/>
                <a:ea typeface="Consolas"/>
                <a:cs typeface="Consolas"/>
                <a:sym typeface="Consolas"/>
              </a:rPr>
              <a:t>       </a:t>
            </a:r>
            <a:r>
              <a:rPr b="1" lang="en">
                <a:solidFill>
                  <a:srgbClr val="C393C3"/>
                </a:solidFill>
                <a:highlight>
                  <a:schemeClr val="dk1"/>
                </a:highlight>
                <a:latin typeface="Consolas"/>
                <a:ea typeface="Consolas"/>
                <a:cs typeface="Consolas"/>
                <a:sym typeface="Consolas"/>
              </a:rPr>
              <a:t>return this</a:t>
            </a:r>
            <a:r>
              <a:rPr b="1" lang="en">
                <a:solidFill>
                  <a:srgbClr val="8C9196"/>
                </a:solidFill>
                <a:highlight>
                  <a:schemeClr val="dk1"/>
                </a:highlight>
                <a:latin typeface="Consolas"/>
                <a:ea typeface="Consolas"/>
                <a:cs typeface="Consolas"/>
                <a:sym typeface="Consolas"/>
              </a:rPr>
              <a:t>.</a:t>
            </a:r>
            <a:r>
              <a:rPr b="1" lang="en">
                <a:solidFill>
                  <a:srgbClr val="E2E3E4"/>
                </a:solidFill>
                <a:highlight>
                  <a:schemeClr val="dk1"/>
                </a:highlight>
                <a:latin typeface="Consolas"/>
                <a:ea typeface="Consolas"/>
                <a:cs typeface="Consolas"/>
                <a:sym typeface="Consolas"/>
              </a:rPr>
              <a:t>num </a:t>
            </a:r>
            <a:r>
              <a:rPr b="1" lang="en">
                <a:solidFill>
                  <a:srgbClr val="F48460"/>
                </a:solidFill>
                <a:highlight>
                  <a:schemeClr val="dk1"/>
                </a:highlight>
                <a:latin typeface="Consolas"/>
                <a:ea typeface="Consolas"/>
                <a:cs typeface="Consolas"/>
                <a:sym typeface="Consolas"/>
              </a:rPr>
              <a:t>== </a:t>
            </a:r>
            <a:r>
              <a:rPr b="1" lang="en">
                <a:solidFill>
                  <a:srgbClr val="F8B662"/>
                </a:solidFill>
                <a:highlight>
                  <a:schemeClr val="dk1"/>
                </a:highlight>
                <a:latin typeface="Consolas"/>
                <a:ea typeface="Consolas"/>
                <a:cs typeface="Consolas"/>
                <a:sym typeface="Consolas"/>
              </a:rPr>
              <a:t>otherCn</a:t>
            </a:r>
            <a:r>
              <a:rPr b="1" lang="en">
                <a:solidFill>
                  <a:srgbClr val="8C9196"/>
                </a:solidFill>
                <a:highlight>
                  <a:schemeClr val="dk1"/>
                </a:highlight>
                <a:latin typeface="Consolas"/>
                <a:ea typeface="Consolas"/>
                <a:cs typeface="Consolas"/>
                <a:sym typeface="Consolas"/>
              </a:rPr>
              <a:t>.</a:t>
            </a:r>
            <a:r>
              <a:rPr b="1" lang="en">
                <a:solidFill>
                  <a:srgbClr val="E2E3E4"/>
                </a:solidFill>
                <a:highlight>
                  <a:schemeClr val="dk1"/>
                </a:highlight>
                <a:latin typeface="Consolas"/>
                <a:ea typeface="Consolas"/>
                <a:cs typeface="Consolas"/>
                <a:sym typeface="Consolas"/>
              </a:rPr>
              <a:t>num</a:t>
            </a:r>
            <a:r>
              <a:rPr b="1" lang="en">
                <a:solidFill>
                  <a:srgbClr val="8C9196"/>
                </a:solidFill>
                <a:highlight>
                  <a:schemeClr val="dk1"/>
                </a:highlight>
                <a:latin typeface="Consolas"/>
                <a:ea typeface="Consolas"/>
                <a:cs typeface="Consolas"/>
                <a:sym typeface="Consolas"/>
              </a:rPr>
              <a:t>;</a:t>
            </a:r>
            <a:endParaRPr b="1">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a:solidFill>
                  <a:srgbClr val="8C9196"/>
                </a:solidFill>
                <a:highlight>
                  <a:schemeClr val="dk1"/>
                </a:highlight>
                <a:latin typeface="Consolas"/>
                <a:ea typeface="Consolas"/>
                <a:cs typeface="Consolas"/>
                <a:sym typeface="Consolas"/>
              </a:rPr>
              <a:t>   </a:t>
            </a:r>
            <a:r>
              <a:rPr b="1" lang="en">
                <a:solidFill>
                  <a:srgbClr val="E2E3E4"/>
                </a:solidFill>
                <a:highlight>
                  <a:schemeClr val="dk1"/>
                </a:highlight>
                <a:latin typeface="Consolas"/>
                <a:ea typeface="Consolas"/>
                <a:cs typeface="Consolas"/>
                <a:sym typeface="Consolas"/>
              </a:rPr>
              <a:t>}</a:t>
            </a:r>
            <a:endParaRPr b="1">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a:solidFill>
                  <a:srgbClr val="E2E3E4"/>
                </a:solidFill>
                <a:highlight>
                  <a:schemeClr val="dk1"/>
                </a:highlight>
                <a:latin typeface="Consolas"/>
                <a:ea typeface="Consolas"/>
                <a:cs typeface="Consolas"/>
                <a:sym typeface="Consolas"/>
              </a:rPr>
              <a:t>   </a:t>
            </a:r>
            <a:r>
              <a:rPr b="1" lang="en">
                <a:solidFill>
                  <a:srgbClr val="C393C3"/>
                </a:solidFill>
                <a:highlight>
                  <a:schemeClr val="dk1"/>
                </a:highlight>
                <a:latin typeface="Consolas"/>
                <a:ea typeface="Consolas"/>
                <a:cs typeface="Consolas"/>
                <a:sym typeface="Consolas"/>
              </a:rPr>
              <a:t>return false</a:t>
            </a:r>
            <a:r>
              <a:rPr b="1" lang="en">
                <a:solidFill>
                  <a:srgbClr val="8C9196"/>
                </a:solidFill>
                <a:highlight>
                  <a:schemeClr val="dk1"/>
                </a:highlight>
                <a:latin typeface="Consolas"/>
                <a:ea typeface="Consolas"/>
                <a:cs typeface="Consolas"/>
                <a:sym typeface="Consolas"/>
              </a:rPr>
              <a:t>;</a:t>
            </a:r>
            <a:endParaRPr b="1">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a:solidFill>
                  <a:srgbClr val="E2E3E4"/>
                </a:solidFill>
                <a:highlight>
                  <a:schemeClr val="dk1"/>
                </a:highlight>
                <a:latin typeface="Consolas"/>
                <a:ea typeface="Consolas"/>
                <a:cs typeface="Consolas"/>
                <a:sym typeface="Consolas"/>
              </a:rPr>
              <a:t>}</a:t>
            </a:r>
            <a:endParaRPr b="1">
              <a:solidFill>
                <a:srgbClr val="91AFCC"/>
              </a:solidFill>
              <a:highlight>
                <a:schemeClr val="dk1"/>
              </a:highlight>
              <a:latin typeface="Consolas"/>
              <a:ea typeface="Consolas"/>
              <a:cs typeface="Consolas"/>
              <a:sym typeface="Consolas"/>
            </a:endParaRPr>
          </a:p>
        </p:txBody>
      </p:sp>
      <p:pic>
        <p:nvPicPr>
          <p:cNvPr id="383" name="Google Shape;383;p53"/>
          <p:cNvPicPr preferRelativeResize="0"/>
          <p:nvPr/>
        </p:nvPicPr>
        <p:blipFill>
          <a:blip r:embed="rId3">
            <a:alphaModFix/>
          </a:blip>
          <a:stretch>
            <a:fillRect/>
          </a:stretch>
        </p:blipFill>
        <p:spPr>
          <a:xfrm>
            <a:off x="6248048" y="546000"/>
            <a:ext cx="2743552" cy="437735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7" name="Shape 387"/>
        <p:cNvGrpSpPr/>
        <p:nvPr/>
      </p:nvGrpSpPr>
      <p:grpSpPr>
        <a:xfrm>
          <a:off x="0" y="0"/>
          <a:ext cx="0" cy="0"/>
          <a:chOff x="0" y="0"/>
          <a:chExt cx="0" cy="0"/>
        </a:xfrm>
      </p:grpSpPr>
      <p:sp>
        <p:nvSpPr>
          <p:cNvPr id="388" name="Google Shape;388;p5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Overriding Equals but Not HashCode</a:t>
            </a:r>
            <a:endParaRPr/>
          </a:p>
        </p:txBody>
      </p:sp>
      <p:sp>
        <p:nvSpPr>
          <p:cNvPr id="389" name="Google Shape;389;p54"/>
          <p:cNvSpPr txBox="1"/>
          <p:nvPr>
            <p:ph idx="1" type="body"/>
          </p:nvPr>
        </p:nvSpPr>
        <p:spPr>
          <a:xfrm>
            <a:off x="107048" y="402200"/>
            <a:ext cx="5988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 the following </a:t>
            </a:r>
            <a:r>
              <a:rPr lang="en">
                <a:latin typeface="Consolas"/>
                <a:ea typeface="Consolas"/>
                <a:cs typeface="Consolas"/>
                <a:sym typeface="Consolas"/>
              </a:rPr>
              <a:t>equals</a:t>
            </a:r>
            <a:r>
              <a:rPr lang="en"/>
              <a:t> method, but </a:t>
            </a:r>
            <a:r>
              <a:rPr b="1" lang="en" u="sng"/>
              <a:t>we do not override hashCode</a:t>
            </a:r>
            <a:r>
              <a:rPr lang="en"/>
              <a:t>.</a:t>
            </a:r>
            <a:endParaRPr/>
          </a:p>
          <a:p>
            <a:pPr indent="-342900" lvl="0" marL="457200" rtl="0" algn="l">
              <a:spcBef>
                <a:spcPts val="600"/>
              </a:spcBef>
              <a:spcAft>
                <a:spcPts val="0"/>
              </a:spcAft>
              <a:buSzPts val="1800"/>
              <a:buChar char="●"/>
            </a:pPr>
            <a:r>
              <a:rPr lang="en"/>
              <a:t>Result of adding 0 through 19 is shown to the right.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Which of the following can happen if we add 0 again?</a:t>
            </a:r>
            <a:endParaRPr/>
          </a:p>
          <a:p>
            <a:pPr indent="0" lvl="0" marL="457200" rtl="0" algn="l">
              <a:spcBef>
                <a:spcPts val="600"/>
              </a:spcBef>
              <a:spcAft>
                <a:spcPts val="0"/>
              </a:spcAft>
              <a:buNone/>
            </a:pPr>
            <a:r>
              <a:t/>
            </a:r>
            <a:endParaRPr b="1"/>
          </a:p>
          <a:p>
            <a:pPr indent="0" lvl="0" marL="0" rtl="0" algn="l">
              <a:spcBef>
                <a:spcPts val="600"/>
              </a:spcBef>
              <a:spcAft>
                <a:spcPts val="0"/>
              </a:spcAft>
              <a:buNone/>
            </a:pPr>
            <a:r>
              <a:rPr lang="en"/>
              <a:t>The new zero ends up in a random bin.</a:t>
            </a:r>
            <a:endParaRPr/>
          </a:p>
          <a:p>
            <a:pPr indent="-342900" lvl="0" marL="457200" rtl="0" algn="l">
              <a:spcBef>
                <a:spcPts val="600"/>
              </a:spcBef>
              <a:spcAft>
                <a:spcPts val="0"/>
              </a:spcAft>
              <a:buSzPts val="1800"/>
              <a:buChar char="●"/>
            </a:pPr>
            <a:r>
              <a:rPr lang="en"/>
              <a:t>5/6ths chance: In bin 0, 2, 3, 4, or 5. Duplicate!</a:t>
            </a:r>
            <a:endParaRPr/>
          </a:p>
          <a:p>
            <a:pPr indent="-342900" lvl="0" marL="457200" rtl="0" algn="l">
              <a:spcBef>
                <a:spcPts val="0"/>
              </a:spcBef>
              <a:spcAft>
                <a:spcPts val="0"/>
              </a:spcAft>
              <a:buSzPts val="1800"/>
              <a:buChar char="●"/>
            </a:pPr>
            <a:r>
              <a:rPr lang="en"/>
              <a:t>1/6 chance: In bin 1, no duplicate! (</a:t>
            </a:r>
            <a:r>
              <a:rPr lang="en">
                <a:latin typeface="Consolas"/>
                <a:ea typeface="Consolas"/>
                <a:cs typeface="Consolas"/>
                <a:sym typeface="Consolas"/>
              </a:rPr>
              <a:t>equals</a:t>
            </a:r>
            <a:r>
              <a:rPr lang="en"/>
              <a:t> blocks it)</a:t>
            </a:r>
            <a:endParaRPr/>
          </a:p>
        </p:txBody>
      </p:sp>
      <p:sp>
        <p:nvSpPr>
          <p:cNvPr id="390" name="Google Shape;390;p54"/>
          <p:cNvSpPr txBox="1"/>
          <p:nvPr/>
        </p:nvSpPr>
        <p:spPr>
          <a:xfrm>
            <a:off x="400200" y="1552293"/>
            <a:ext cx="5475000" cy="1693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rgbClr val="91AFCC"/>
                </a:solidFill>
                <a:highlight>
                  <a:schemeClr val="dk1"/>
                </a:highlight>
                <a:latin typeface="Consolas"/>
                <a:ea typeface="Consolas"/>
                <a:cs typeface="Consolas"/>
                <a:sym typeface="Consolas"/>
              </a:rPr>
              <a:t>@Override</a:t>
            </a:r>
            <a:endParaRPr b="1">
              <a:solidFill>
                <a:srgbClr val="91AFCC"/>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a:solidFill>
                  <a:srgbClr val="C393C3"/>
                </a:solidFill>
                <a:highlight>
                  <a:schemeClr val="dk1"/>
                </a:highlight>
                <a:latin typeface="Consolas"/>
                <a:ea typeface="Consolas"/>
                <a:cs typeface="Consolas"/>
                <a:sym typeface="Consolas"/>
              </a:rPr>
              <a:t>public boolean </a:t>
            </a:r>
            <a:r>
              <a:rPr b="1" lang="en">
                <a:solidFill>
                  <a:srgbClr val="5EB2B2"/>
                </a:solidFill>
                <a:highlight>
                  <a:schemeClr val="dk1"/>
                </a:highlight>
                <a:latin typeface="Consolas"/>
                <a:ea typeface="Consolas"/>
                <a:cs typeface="Consolas"/>
                <a:sym typeface="Consolas"/>
              </a:rPr>
              <a:t>equals</a:t>
            </a:r>
            <a:r>
              <a:rPr b="1" lang="en">
                <a:solidFill>
                  <a:srgbClr val="E2E3E4"/>
                </a:solidFill>
                <a:highlight>
                  <a:schemeClr val="dk1"/>
                </a:highlight>
                <a:latin typeface="Consolas"/>
                <a:ea typeface="Consolas"/>
                <a:cs typeface="Consolas"/>
                <a:sym typeface="Consolas"/>
              </a:rPr>
              <a:t>(</a:t>
            </a:r>
            <a:r>
              <a:rPr b="1" lang="en">
                <a:solidFill>
                  <a:srgbClr val="F8B662"/>
                </a:solidFill>
                <a:highlight>
                  <a:schemeClr val="dk1"/>
                </a:highlight>
                <a:latin typeface="Consolas"/>
                <a:ea typeface="Consolas"/>
                <a:cs typeface="Consolas"/>
                <a:sym typeface="Consolas"/>
              </a:rPr>
              <a:t>Object o</a:t>
            </a:r>
            <a:r>
              <a:rPr b="1" lang="en">
                <a:solidFill>
                  <a:srgbClr val="E2E3E4"/>
                </a:solidFill>
                <a:highlight>
                  <a:schemeClr val="dk1"/>
                </a:highlight>
                <a:latin typeface="Consolas"/>
                <a:ea typeface="Consolas"/>
                <a:cs typeface="Consolas"/>
                <a:sym typeface="Consolas"/>
              </a:rPr>
              <a:t>) {</a:t>
            </a:r>
            <a:endParaRPr b="1">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a:solidFill>
                  <a:srgbClr val="E2E3E4"/>
                </a:solidFill>
                <a:highlight>
                  <a:schemeClr val="dk1"/>
                </a:highlight>
                <a:latin typeface="Consolas"/>
                <a:ea typeface="Consolas"/>
                <a:cs typeface="Consolas"/>
                <a:sym typeface="Consolas"/>
              </a:rPr>
              <a:t>   </a:t>
            </a:r>
            <a:r>
              <a:rPr b="1" lang="en">
                <a:solidFill>
                  <a:srgbClr val="C393C3"/>
                </a:solidFill>
                <a:highlight>
                  <a:schemeClr val="dk1"/>
                </a:highlight>
                <a:latin typeface="Consolas"/>
                <a:ea typeface="Consolas"/>
                <a:cs typeface="Consolas"/>
                <a:sym typeface="Consolas"/>
              </a:rPr>
              <a:t>if </a:t>
            </a:r>
            <a:r>
              <a:rPr b="1" lang="en">
                <a:solidFill>
                  <a:srgbClr val="E2E3E4"/>
                </a:solidFill>
                <a:highlight>
                  <a:schemeClr val="dk1"/>
                </a:highlight>
                <a:latin typeface="Consolas"/>
                <a:ea typeface="Consolas"/>
                <a:cs typeface="Consolas"/>
                <a:sym typeface="Consolas"/>
              </a:rPr>
              <a:t>(</a:t>
            </a:r>
            <a:r>
              <a:rPr b="1" lang="en">
                <a:solidFill>
                  <a:srgbClr val="F8B662"/>
                </a:solidFill>
                <a:highlight>
                  <a:schemeClr val="dk1"/>
                </a:highlight>
                <a:latin typeface="Consolas"/>
                <a:ea typeface="Consolas"/>
                <a:cs typeface="Consolas"/>
                <a:sym typeface="Consolas"/>
              </a:rPr>
              <a:t>o </a:t>
            </a:r>
            <a:r>
              <a:rPr b="1" lang="en">
                <a:solidFill>
                  <a:srgbClr val="C393C3"/>
                </a:solidFill>
                <a:highlight>
                  <a:schemeClr val="dk1"/>
                </a:highlight>
                <a:latin typeface="Consolas"/>
                <a:ea typeface="Consolas"/>
                <a:cs typeface="Consolas"/>
                <a:sym typeface="Consolas"/>
              </a:rPr>
              <a:t>instanceof </a:t>
            </a:r>
            <a:r>
              <a:rPr b="1" lang="en">
                <a:solidFill>
                  <a:srgbClr val="F8B662"/>
                </a:solidFill>
                <a:highlight>
                  <a:schemeClr val="dk1"/>
                </a:highlight>
                <a:latin typeface="Consolas"/>
                <a:ea typeface="Consolas"/>
                <a:cs typeface="Consolas"/>
                <a:sym typeface="Consolas"/>
              </a:rPr>
              <a:t>ColoredNumber otherCn</a:t>
            </a:r>
            <a:r>
              <a:rPr b="1" lang="en">
                <a:solidFill>
                  <a:srgbClr val="E2E3E4"/>
                </a:solidFill>
                <a:highlight>
                  <a:schemeClr val="dk1"/>
                </a:highlight>
                <a:latin typeface="Consolas"/>
                <a:ea typeface="Consolas"/>
                <a:cs typeface="Consolas"/>
                <a:sym typeface="Consolas"/>
              </a:rPr>
              <a:t>) {</a:t>
            </a:r>
            <a:endParaRPr b="1">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a:solidFill>
                  <a:srgbClr val="E2E3E4"/>
                </a:solidFill>
                <a:highlight>
                  <a:schemeClr val="dk1"/>
                </a:highlight>
                <a:latin typeface="Consolas"/>
                <a:ea typeface="Consolas"/>
                <a:cs typeface="Consolas"/>
                <a:sym typeface="Consolas"/>
              </a:rPr>
              <a:t>       </a:t>
            </a:r>
            <a:r>
              <a:rPr b="1" lang="en">
                <a:solidFill>
                  <a:srgbClr val="C393C3"/>
                </a:solidFill>
                <a:highlight>
                  <a:schemeClr val="dk1"/>
                </a:highlight>
                <a:latin typeface="Consolas"/>
                <a:ea typeface="Consolas"/>
                <a:cs typeface="Consolas"/>
                <a:sym typeface="Consolas"/>
              </a:rPr>
              <a:t>return this</a:t>
            </a:r>
            <a:r>
              <a:rPr b="1" lang="en">
                <a:solidFill>
                  <a:srgbClr val="8C9196"/>
                </a:solidFill>
                <a:highlight>
                  <a:schemeClr val="dk1"/>
                </a:highlight>
                <a:latin typeface="Consolas"/>
                <a:ea typeface="Consolas"/>
                <a:cs typeface="Consolas"/>
                <a:sym typeface="Consolas"/>
              </a:rPr>
              <a:t>.</a:t>
            </a:r>
            <a:r>
              <a:rPr b="1" lang="en">
                <a:solidFill>
                  <a:srgbClr val="E2E3E4"/>
                </a:solidFill>
                <a:highlight>
                  <a:schemeClr val="dk1"/>
                </a:highlight>
                <a:latin typeface="Consolas"/>
                <a:ea typeface="Consolas"/>
                <a:cs typeface="Consolas"/>
                <a:sym typeface="Consolas"/>
              </a:rPr>
              <a:t>num </a:t>
            </a:r>
            <a:r>
              <a:rPr b="1" lang="en">
                <a:solidFill>
                  <a:srgbClr val="F48460"/>
                </a:solidFill>
                <a:highlight>
                  <a:schemeClr val="dk1"/>
                </a:highlight>
                <a:latin typeface="Consolas"/>
                <a:ea typeface="Consolas"/>
                <a:cs typeface="Consolas"/>
                <a:sym typeface="Consolas"/>
              </a:rPr>
              <a:t>== </a:t>
            </a:r>
            <a:r>
              <a:rPr b="1" lang="en">
                <a:solidFill>
                  <a:srgbClr val="F8B662"/>
                </a:solidFill>
                <a:highlight>
                  <a:schemeClr val="dk1"/>
                </a:highlight>
                <a:latin typeface="Consolas"/>
                <a:ea typeface="Consolas"/>
                <a:cs typeface="Consolas"/>
                <a:sym typeface="Consolas"/>
              </a:rPr>
              <a:t>otherCn</a:t>
            </a:r>
            <a:r>
              <a:rPr b="1" lang="en">
                <a:solidFill>
                  <a:srgbClr val="8C9196"/>
                </a:solidFill>
                <a:highlight>
                  <a:schemeClr val="dk1"/>
                </a:highlight>
                <a:latin typeface="Consolas"/>
                <a:ea typeface="Consolas"/>
                <a:cs typeface="Consolas"/>
                <a:sym typeface="Consolas"/>
              </a:rPr>
              <a:t>.</a:t>
            </a:r>
            <a:r>
              <a:rPr b="1" lang="en">
                <a:solidFill>
                  <a:srgbClr val="E2E3E4"/>
                </a:solidFill>
                <a:highlight>
                  <a:schemeClr val="dk1"/>
                </a:highlight>
                <a:latin typeface="Consolas"/>
                <a:ea typeface="Consolas"/>
                <a:cs typeface="Consolas"/>
                <a:sym typeface="Consolas"/>
              </a:rPr>
              <a:t>num</a:t>
            </a:r>
            <a:r>
              <a:rPr b="1" lang="en">
                <a:solidFill>
                  <a:srgbClr val="8C9196"/>
                </a:solidFill>
                <a:highlight>
                  <a:schemeClr val="dk1"/>
                </a:highlight>
                <a:latin typeface="Consolas"/>
                <a:ea typeface="Consolas"/>
                <a:cs typeface="Consolas"/>
                <a:sym typeface="Consolas"/>
              </a:rPr>
              <a:t>;</a:t>
            </a:r>
            <a:endParaRPr b="1">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a:solidFill>
                  <a:srgbClr val="8C9196"/>
                </a:solidFill>
                <a:highlight>
                  <a:schemeClr val="dk1"/>
                </a:highlight>
                <a:latin typeface="Consolas"/>
                <a:ea typeface="Consolas"/>
                <a:cs typeface="Consolas"/>
                <a:sym typeface="Consolas"/>
              </a:rPr>
              <a:t>   </a:t>
            </a:r>
            <a:r>
              <a:rPr b="1" lang="en">
                <a:solidFill>
                  <a:srgbClr val="E2E3E4"/>
                </a:solidFill>
                <a:highlight>
                  <a:schemeClr val="dk1"/>
                </a:highlight>
                <a:latin typeface="Consolas"/>
                <a:ea typeface="Consolas"/>
                <a:cs typeface="Consolas"/>
                <a:sym typeface="Consolas"/>
              </a:rPr>
              <a:t>}</a:t>
            </a:r>
            <a:endParaRPr b="1">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n">
                <a:solidFill>
                  <a:srgbClr val="E2E3E4"/>
                </a:solidFill>
                <a:highlight>
                  <a:schemeClr val="dk1"/>
                </a:highlight>
                <a:latin typeface="Consolas"/>
                <a:ea typeface="Consolas"/>
                <a:cs typeface="Consolas"/>
                <a:sym typeface="Consolas"/>
              </a:rPr>
              <a:t>   </a:t>
            </a:r>
            <a:r>
              <a:rPr b="1" lang="en">
                <a:solidFill>
                  <a:srgbClr val="C393C3"/>
                </a:solidFill>
                <a:highlight>
                  <a:schemeClr val="dk1"/>
                </a:highlight>
                <a:latin typeface="Consolas"/>
                <a:ea typeface="Consolas"/>
                <a:cs typeface="Consolas"/>
                <a:sym typeface="Consolas"/>
              </a:rPr>
              <a:t>return false</a:t>
            </a:r>
            <a:r>
              <a:rPr b="1" lang="en">
                <a:solidFill>
                  <a:srgbClr val="8C9196"/>
                </a:solidFill>
                <a:highlight>
                  <a:schemeClr val="dk1"/>
                </a:highlight>
                <a:latin typeface="Consolas"/>
                <a:ea typeface="Consolas"/>
                <a:cs typeface="Consolas"/>
                <a:sym typeface="Consolas"/>
              </a:rPr>
              <a:t>;</a:t>
            </a:r>
            <a:endParaRPr b="1">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a:solidFill>
                  <a:srgbClr val="E2E3E4"/>
                </a:solidFill>
                <a:highlight>
                  <a:schemeClr val="dk1"/>
                </a:highlight>
                <a:latin typeface="Consolas"/>
                <a:ea typeface="Consolas"/>
                <a:cs typeface="Consolas"/>
                <a:sym typeface="Consolas"/>
              </a:rPr>
              <a:t>}</a:t>
            </a:r>
            <a:endParaRPr b="1">
              <a:solidFill>
                <a:srgbClr val="91AFCC"/>
              </a:solidFill>
              <a:highlight>
                <a:schemeClr val="dk1"/>
              </a:highlight>
              <a:latin typeface="Consolas"/>
              <a:ea typeface="Consolas"/>
              <a:cs typeface="Consolas"/>
              <a:sym typeface="Consolas"/>
            </a:endParaRPr>
          </a:p>
        </p:txBody>
      </p:sp>
      <p:pic>
        <p:nvPicPr>
          <p:cNvPr id="391" name="Google Shape;391;p54"/>
          <p:cNvPicPr preferRelativeResize="0"/>
          <p:nvPr/>
        </p:nvPicPr>
        <p:blipFill>
          <a:blip r:embed="rId3">
            <a:alphaModFix/>
          </a:blip>
          <a:stretch>
            <a:fillRect/>
          </a:stretch>
        </p:blipFill>
        <p:spPr>
          <a:xfrm>
            <a:off x="6248048" y="546000"/>
            <a:ext cx="2743552" cy="437735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Takeaway: Equals and hashCode</a:t>
            </a:r>
            <a:endParaRPr/>
          </a:p>
        </p:txBody>
      </p:sp>
      <p:sp>
        <p:nvSpPr>
          <p:cNvPr id="397" name="Google Shape;397;p5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Bottom line: If your class override </a:t>
            </a:r>
            <a:r>
              <a:rPr lang="en">
                <a:latin typeface="Consolas"/>
                <a:ea typeface="Consolas"/>
                <a:cs typeface="Consolas"/>
                <a:sym typeface="Consolas"/>
              </a:rPr>
              <a:t>equals</a:t>
            </a:r>
            <a:r>
              <a:rPr lang="en"/>
              <a:t>, you should also override </a:t>
            </a:r>
            <a:r>
              <a:rPr lang="en">
                <a:latin typeface="Consolas"/>
                <a:ea typeface="Consolas"/>
                <a:cs typeface="Consolas"/>
                <a:sym typeface="Consolas"/>
              </a:rPr>
              <a:t>hashCode</a:t>
            </a:r>
            <a:r>
              <a:rPr lang="en"/>
              <a:t> in a consistent manner.</a:t>
            </a:r>
            <a:endParaRPr/>
          </a:p>
          <a:p>
            <a:pPr indent="-342900" lvl="0" marL="457200" rtl="0" algn="l">
              <a:spcBef>
                <a:spcPts val="600"/>
              </a:spcBef>
              <a:spcAft>
                <a:spcPts val="0"/>
              </a:spcAft>
              <a:buSzPts val="1800"/>
              <a:buChar char="●"/>
            </a:pPr>
            <a:r>
              <a:rPr lang="en"/>
              <a:t>If two objects are </a:t>
            </a:r>
            <a:r>
              <a:rPr lang="en">
                <a:latin typeface="Consolas"/>
                <a:ea typeface="Consolas"/>
                <a:cs typeface="Consolas"/>
                <a:sym typeface="Consolas"/>
              </a:rPr>
              <a:t>equals</a:t>
            </a:r>
            <a:r>
              <a:rPr lang="en"/>
              <a:t>, they must always have the same </a:t>
            </a:r>
            <a:r>
              <a:rPr lang="en">
                <a:latin typeface="Consolas"/>
                <a:ea typeface="Consolas"/>
                <a:cs typeface="Consolas"/>
                <a:sym typeface="Consolas"/>
              </a:rPr>
              <a:t>hashCode</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If you don’t everything breaks:</a:t>
            </a:r>
            <a:endParaRPr/>
          </a:p>
          <a:p>
            <a:pPr indent="-342900" lvl="0" marL="457200" rtl="0" algn="l">
              <a:spcBef>
                <a:spcPts val="600"/>
              </a:spcBef>
              <a:spcAft>
                <a:spcPts val="0"/>
              </a:spcAft>
              <a:buSzPts val="1800"/>
              <a:buChar char="●"/>
            </a:pPr>
            <a:r>
              <a:rPr lang="en"/>
              <a:t>Contains can’t find objects (unless it gets lucky).</a:t>
            </a:r>
            <a:endParaRPr/>
          </a:p>
          <a:p>
            <a:pPr indent="-342900" lvl="0" marL="457200" rtl="0" algn="l">
              <a:spcBef>
                <a:spcPts val="0"/>
              </a:spcBef>
              <a:spcAft>
                <a:spcPts val="0"/>
              </a:spcAft>
              <a:buSzPts val="1800"/>
              <a:buChar char="●"/>
            </a:pPr>
            <a:r>
              <a:rPr lang="en"/>
              <a:t>Add results in duplicates.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6"/>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Visualization for Some Basic Cases</a:t>
            </a:r>
            <a:endParaRPr>
              <a:solidFill>
                <a:srgbClr val="B7B7B7"/>
              </a:solidFill>
            </a:endParaRPr>
          </a:p>
          <a:p>
            <a:pPr indent="0" lvl="0" marL="0" rtl="0" algn="l">
              <a:spcBef>
                <a:spcPts val="600"/>
              </a:spcBef>
              <a:spcAft>
                <a:spcPts val="0"/>
              </a:spcAft>
              <a:buNone/>
            </a:pPr>
            <a:r>
              <a:rPr lang="en">
                <a:solidFill>
                  <a:srgbClr val="B7B7B7"/>
                </a:solidFill>
              </a:rPr>
              <a:t>hashCode and Equals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Why Custom Hash Functions?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contains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Duplicate Values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The Danger of Mutable Keys</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Mutable vs. Immutable Types</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Mutable Hash Table Keys</a:t>
            </a:r>
            <a:endParaRPr>
              <a:solidFill>
                <a:srgbClr val="B7B7B7"/>
              </a:solidFill>
            </a:endParaRPr>
          </a:p>
          <a:p>
            <a:pPr indent="0" lvl="0" marL="0" rtl="0" algn="l">
              <a:spcBef>
                <a:spcPts val="600"/>
              </a:spcBef>
              <a:spcAft>
                <a:spcPts val="0"/>
              </a:spcAft>
              <a:buNone/>
            </a:pPr>
            <a:r>
              <a:rPr lang="en">
                <a:solidFill>
                  <a:srgbClr val="B7B7B7"/>
                </a:solidFill>
              </a:rPr>
              <a:t>A Peek into Java HashSets</a:t>
            </a:r>
            <a:endParaRPr>
              <a:solidFill>
                <a:srgbClr val="B7B7B7"/>
              </a:solidFill>
            </a:endParaRPr>
          </a:p>
        </p:txBody>
      </p:sp>
      <p:sp>
        <p:nvSpPr>
          <p:cNvPr id="403" name="Google Shape;403;p56"/>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Mutable vs. Immutable Types</a:t>
            </a:r>
            <a:endParaRPr/>
          </a:p>
        </p:txBody>
      </p:sp>
      <p:sp>
        <p:nvSpPr>
          <p:cNvPr id="404" name="Google Shape;404;p56"/>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20, CS61B, Fall 2023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Immutable Data Types</a:t>
            </a:r>
            <a:endParaRPr/>
          </a:p>
        </p:txBody>
      </p:sp>
      <p:sp>
        <p:nvSpPr>
          <p:cNvPr id="410" name="Google Shape;410;p5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An immutable data type is one for which an instance cannot change in any observable way after instantiation.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Examples:</a:t>
            </a:r>
            <a:endParaRPr/>
          </a:p>
          <a:p>
            <a:pPr indent="-342900" lvl="0" marL="457200" rtl="0" algn="l">
              <a:spcBef>
                <a:spcPts val="600"/>
              </a:spcBef>
              <a:spcAft>
                <a:spcPts val="0"/>
              </a:spcAft>
              <a:buSzPts val="1800"/>
              <a:buChar char="●"/>
            </a:pPr>
            <a:r>
              <a:rPr lang="en"/>
              <a:t>Mutable: ArrayDeque, Percolation.</a:t>
            </a:r>
            <a:endParaRPr/>
          </a:p>
          <a:p>
            <a:pPr indent="-342900" lvl="0" marL="457200" rtl="0" algn="l">
              <a:spcBef>
                <a:spcPts val="0"/>
              </a:spcBef>
              <a:spcAft>
                <a:spcPts val="0"/>
              </a:spcAft>
              <a:buSzPts val="1800"/>
              <a:buChar char="●"/>
            </a:pPr>
            <a:r>
              <a:rPr lang="en"/>
              <a:t>Immutable: Integer, String, Date.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a:t>
            </a:r>
            <a:r>
              <a:rPr b="1" i="1" lang="en"/>
              <a:t>final </a:t>
            </a:r>
            <a:r>
              <a:rPr lang="en"/>
              <a:t>keyword will help the compiler ensure immutability.</a:t>
            </a:r>
            <a:endParaRPr/>
          </a:p>
          <a:p>
            <a:pPr indent="-342900" lvl="0" marL="457200" rtl="0" algn="l">
              <a:spcBef>
                <a:spcPts val="600"/>
              </a:spcBef>
              <a:spcAft>
                <a:spcPts val="0"/>
              </a:spcAft>
              <a:buSzPts val="1800"/>
              <a:buChar char="●"/>
            </a:pPr>
            <a:r>
              <a:rPr lang="en"/>
              <a:t>final variable means you ma</a:t>
            </a:r>
            <a:r>
              <a:rPr lang="en"/>
              <a:t>y</a:t>
            </a:r>
            <a:r>
              <a:rPr lang="en"/>
              <a:t> assign a value once (either in constructor of class or in initializer), but after it can never change.</a:t>
            </a:r>
            <a:endParaRPr/>
          </a:p>
          <a:p>
            <a:pPr indent="-342900" lvl="0" marL="457200" rtl="0" algn="l">
              <a:spcBef>
                <a:spcPts val="0"/>
              </a:spcBef>
              <a:spcAft>
                <a:spcPts val="0"/>
              </a:spcAft>
              <a:buSzPts val="1800"/>
              <a:buChar char="●"/>
            </a:pPr>
            <a:r>
              <a:rPr lang="en"/>
              <a:t>Final is neither sufficient nor necessary for a class to be immutable.</a:t>
            </a:r>
            <a:endParaRPr/>
          </a:p>
        </p:txBody>
      </p:sp>
      <p:sp>
        <p:nvSpPr>
          <p:cNvPr id="411" name="Google Shape;411;p57"/>
          <p:cNvSpPr txBox="1"/>
          <p:nvPr/>
        </p:nvSpPr>
        <p:spPr>
          <a:xfrm>
            <a:off x="4193810" y="982007"/>
            <a:ext cx="4849500" cy="24183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600">
                <a:solidFill>
                  <a:srgbClr val="C393C3"/>
                </a:solidFill>
                <a:highlight>
                  <a:schemeClr val="dk1"/>
                </a:highlight>
                <a:latin typeface="Consolas"/>
                <a:ea typeface="Consolas"/>
                <a:cs typeface="Consolas"/>
                <a:sym typeface="Consolas"/>
              </a:rPr>
              <a:t>public class </a:t>
            </a:r>
            <a:r>
              <a:rPr b="1" lang="en" sz="1600">
                <a:solidFill>
                  <a:srgbClr val="F8B662"/>
                </a:solidFill>
                <a:highlight>
                  <a:schemeClr val="dk1"/>
                </a:highlight>
                <a:latin typeface="Consolas"/>
                <a:ea typeface="Consolas"/>
                <a:cs typeface="Consolas"/>
                <a:sym typeface="Consolas"/>
              </a:rPr>
              <a:t>Date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en" sz="1600">
                <a:solidFill>
                  <a:srgbClr val="E2E3E4"/>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final int </a:t>
            </a:r>
            <a:r>
              <a:rPr b="1" lang="en" sz="1600">
                <a:solidFill>
                  <a:srgbClr val="E2E3E4"/>
                </a:solidFill>
                <a:highlight>
                  <a:schemeClr val="dk1"/>
                </a:highlight>
                <a:latin typeface="Consolas"/>
                <a:ea typeface="Consolas"/>
                <a:cs typeface="Consolas"/>
                <a:sym typeface="Consolas"/>
              </a:rPr>
              <a:t>month</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final int </a:t>
            </a:r>
            <a:r>
              <a:rPr b="1" lang="en" sz="1600">
                <a:solidFill>
                  <a:srgbClr val="E2E3E4"/>
                </a:solidFill>
                <a:highlight>
                  <a:schemeClr val="dk1"/>
                </a:highlight>
                <a:latin typeface="Consolas"/>
                <a:ea typeface="Consolas"/>
                <a:cs typeface="Consolas"/>
                <a:sym typeface="Consolas"/>
              </a:rPr>
              <a:t>day</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final int </a:t>
            </a:r>
            <a:r>
              <a:rPr b="1" lang="en" sz="1600">
                <a:solidFill>
                  <a:srgbClr val="E2E3E4"/>
                </a:solidFill>
                <a:highlight>
                  <a:schemeClr val="dk1"/>
                </a:highlight>
                <a:latin typeface="Consolas"/>
                <a:ea typeface="Consolas"/>
                <a:cs typeface="Consolas"/>
                <a:sym typeface="Consolas"/>
              </a:rPr>
              <a:t>year</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private boolean </a:t>
            </a:r>
            <a:r>
              <a:rPr b="1" lang="en" sz="1600">
                <a:solidFill>
                  <a:srgbClr val="E2E3E4"/>
                </a:solidFill>
                <a:highlight>
                  <a:schemeClr val="dk1"/>
                </a:highlight>
                <a:latin typeface="Consolas"/>
                <a:ea typeface="Consolas"/>
                <a:cs typeface="Consolas"/>
                <a:sym typeface="Consolas"/>
              </a:rPr>
              <a:t>contrived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true</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a:t>
            </a:r>
            <a:r>
              <a:rPr b="1" lang="en" sz="1600">
                <a:solidFill>
                  <a:srgbClr val="5EB2B2"/>
                </a:solidFill>
                <a:highlight>
                  <a:schemeClr val="dk1"/>
                </a:highlight>
                <a:latin typeface="Consolas"/>
                <a:ea typeface="Consolas"/>
                <a:cs typeface="Consolas"/>
                <a:sym typeface="Consolas"/>
              </a:rPr>
              <a:t>Date</a:t>
            </a:r>
            <a:r>
              <a:rPr b="1" lang="en" sz="1600">
                <a:solidFill>
                  <a:srgbClr val="E2E3E4"/>
                </a:solidFill>
                <a:highlight>
                  <a:schemeClr val="dk1"/>
                </a:highlight>
                <a:latin typeface="Consolas"/>
                <a:ea typeface="Consolas"/>
                <a:cs typeface="Consolas"/>
                <a:sym typeface="Consolas"/>
              </a:rPr>
              <a:t>(</a:t>
            </a:r>
            <a:r>
              <a:rPr b="1" lang="en" sz="1600">
                <a:solidFill>
                  <a:srgbClr val="C393C3"/>
                </a:solidFill>
                <a:highlight>
                  <a:schemeClr val="dk1"/>
                </a:highlight>
                <a:latin typeface="Consolas"/>
                <a:ea typeface="Consolas"/>
                <a:cs typeface="Consolas"/>
                <a:sym typeface="Consolas"/>
              </a:rPr>
              <a:t>int </a:t>
            </a:r>
            <a:r>
              <a:rPr b="1" lang="en" sz="1600">
                <a:solidFill>
                  <a:srgbClr val="F8B662"/>
                </a:solidFill>
                <a:highlight>
                  <a:schemeClr val="dk1"/>
                </a:highlight>
                <a:latin typeface="Consolas"/>
                <a:ea typeface="Consolas"/>
                <a:cs typeface="Consolas"/>
                <a:sym typeface="Consolas"/>
              </a:rPr>
              <a:t>m</a:t>
            </a: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int </a:t>
            </a:r>
            <a:r>
              <a:rPr b="1" lang="en" sz="1600">
                <a:solidFill>
                  <a:srgbClr val="F8B662"/>
                </a:solidFill>
                <a:highlight>
                  <a:schemeClr val="dk1"/>
                </a:highlight>
                <a:latin typeface="Consolas"/>
                <a:ea typeface="Consolas"/>
                <a:cs typeface="Consolas"/>
                <a:sym typeface="Consolas"/>
              </a:rPr>
              <a:t>d</a:t>
            </a: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int </a:t>
            </a:r>
            <a:r>
              <a:rPr b="1" lang="en" sz="1600">
                <a:solidFill>
                  <a:srgbClr val="F8B662"/>
                </a:solidFill>
                <a:highlight>
                  <a:schemeClr val="dk1"/>
                </a:highlight>
                <a:latin typeface="Consolas"/>
                <a:ea typeface="Consolas"/>
                <a:cs typeface="Consolas"/>
                <a:sym typeface="Consolas"/>
              </a:rPr>
              <a:t>y</a:t>
            </a: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en" sz="1600">
                <a:solidFill>
                  <a:srgbClr val="E2E3E4"/>
                </a:solidFill>
                <a:highlight>
                  <a:schemeClr val="dk1"/>
                </a:highlight>
                <a:latin typeface="Consolas"/>
                <a:ea typeface="Consolas"/>
                <a:cs typeface="Consolas"/>
                <a:sym typeface="Consolas"/>
              </a:rPr>
              <a:t>       month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m</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day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d</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year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y</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None/>
            </a:pPr>
            <a:r>
              <a:t/>
            </a:r>
            <a:endParaRPr b="1" sz="1600">
              <a:solidFill>
                <a:srgbClr val="9C20EE"/>
              </a:solidFill>
              <a:highlight>
                <a:srgbClr val="EFEFEF"/>
              </a:highlight>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of the Classes Below Are Immutable?</a:t>
            </a:r>
            <a:endParaRPr/>
          </a:p>
        </p:txBody>
      </p:sp>
      <p:sp>
        <p:nvSpPr>
          <p:cNvPr id="417" name="Google Shape;417;p58"/>
          <p:cNvSpPr txBox="1"/>
          <p:nvPr>
            <p:ph idx="1" type="body"/>
          </p:nvPr>
        </p:nvSpPr>
        <p:spPr>
          <a:xfrm>
            <a:off x="107050" y="402200"/>
            <a:ext cx="8520600" cy="711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Immutable: </a:t>
            </a:r>
            <a:r>
              <a:rPr lang="en"/>
              <a:t>an instance cannot change in any observable way after instantiation.</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None/>
            </a:pPr>
            <a:r>
              <a:t/>
            </a:r>
            <a:endParaRPr/>
          </a:p>
        </p:txBody>
      </p:sp>
      <p:sp>
        <p:nvSpPr>
          <p:cNvPr id="418" name="Google Shape;418;p58"/>
          <p:cNvSpPr txBox="1"/>
          <p:nvPr/>
        </p:nvSpPr>
        <p:spPr>
          <a:xfrm>
            <a:off x="152400" y="943675"/>
            <a:ext cx="4073700" cy="1662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public class </a:t>
            </a:r>
            <a:r>
              <a:rPr b="1" lang="en" sz="1600">
                <a:solidFill>
                  <a:srgbClr val="F8B662"/>
                </a:solidFill>
                <a:highlight>
                  <a:schemeClr val="dk1"/>
                </a:highlight>
                <a:latin typeface="Consolas"/>
                <a:ea typeface="Consolas"/>
                <a:cs typeface="Consolas"/>
                <a:sym typeface="Consolas"/>
              </a:rPr>
              <a:t>Pebble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int </a:t>
            </a:r>
            <a:r>
              <a:rPr b="1" lang="en" sz="1600">
                <a:solidFill>
                  <a:srgbClr val="E2E3E4"/>
                </a:solidFill>
                <a:highlight>
                  <a:schemeClr val="dk1"/>
                </a:highlight>
                <a:latin typeface="Consolas"/>
                <a:ea typeface="Consolas"/>
                <a:cs typeface="Consolas"/>
                <a:sym typeface="Consolas"/>
              </a:rPr>
              <a:t>weight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a:t>
            </a:r>
            <a:r>
              <a:rPr b="1" lang="en" sz="1600">
                <a:solidFill>
                  <a:srgbClr val="5EB2B2"/>
                </a:solidFill>
                <a:highlight>
                  <a:schemeClr val="dk1"/>
                </a:highlight>
                <a:latin typeface="Consolas"/>
                <a:ea typeface="Consolas"/>
                <a:cs typeface="Consolas"/>
                <a:sym typeface="Consolas"/>
              </a:rPr>
              <a:t>Pebble</a:t>
            </a:r>
            <a:r>
              <a:rPr b="1" lang="en" sz="1600">
                <a:solidFill>
                  <a:srgbClr val="E2E3E4"/>
                </a:solidFill>
                <a:highlight>
                  <a:schemeClr val="dk1"/>
                </a:highlight>
                <a:latin typeface="Consolas"/>
                <a:ea typeface="Consolas"/>
                <a:cs typeface="Consolas"/>
                <a:sym typeface="Consolas"/>
              </a:rPr>
              <a:t>() {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weight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1</a:t>
            </a:r>
            <a:r>
              <a:rPr b="1" lang="en" sz="1600">
                <a:solidFill>
                  <a:srgbClr val="8C9196"/>
                </a:solidFill>
                <a:highlight>
                  <a:schemeClr val="dk1"/>
                </a:highlight>
                <a:latin typeface="Consolas"/>
                <a:ea typeface="Consolas"/>
                <a:cs typeface="Consolas"/>
                <a:sym typeface="Consolas"/>
              </a:rPr>
              <a:t>; </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p:txBody>
      </p:sp>
      <p:sp>
        <p:nvSpPr>
          <p:cNvPr id="419" name="Google Shape;419;p58"/>
          <p:cNvSpPr txBox="1"/>
          <p:nvPr/>
        </p:nvSpPr>
        <p:spPr>
          <a:xfrm>
            <a:off x="4666150" y="943675"/>
            <a:ext cx="4371000" cy="1662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600">
                <a:solidFill>
                  <a:srgbClr val="C393C3"/>
                </a:solidFill>
                <a:highlight>
                  <a:schemeClr val="dk1"/>
                </a:highlight>
                <a:latin typeface="JetBrains Mono"/>
                <a:ea typeface="JetBrains Mono"/>
                <a:cs typeface="JetBrains Mono"/>
                <a:sym typeface="JetBrains Mono"/>
              </a:rPr>
              <a:t>public class </a:t>
            </a:r>
            <a:r>
              <a:rPr b="1" lang="en" sz="1600">
                <a:solidFill>
                  <a:srgbClr val="F8B662"/>
                </a:solidFill>
                <a:highlight>
                  <a:schemeClr val="dk1"/>
                </a:highlight>
                <a:latin typeface="JetBrains Mono"/>
                <a:ea typeface="JetBrains Mono"/>
                <a:cs typeface="JetBrains Mono"/>
                <a:sym typeface="JetBrains Mono"/>
              </a:rPr>
              <a:t>Rock </a:t>
            </a:r>
            <a:r>
              <a:rPr b="1" lang="en" sz="1600">
                <a:solidFill>
                  <a:srgbClr val="E2E3E4"/>
                </a:solidFill>
                <a:highlight>
                  <a:schemeClr val="dk1"/>
                </a:highlight>
                <a:latin typeface="JetBrains Mono"/>
                <a:ea typeface="JetBrains Mono"/>
                <a:cs typeface="JetBrains Mono"/>
                <a:sym typeface="JetBrains Mono"/>
              </a:rPr>
              <a:t>{</a:t>
            </a:r>
            <a:endParaRPr b="1" sz="1600">
              <a:solidFill>
                <a:srgbClr val="E2E3E4"/>
              </a:solidFill>
              <a:highlight>
                <a:schemeClr val="dk1"/>
              </a:highlight>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b="1" lang="en" sz="1600">
                <a:solidFill>
                  <a:srgbClr val="E2E3E4"/>
                </a:solidFill>
                <a:highlight>
                  <a:schemeClr val="dk1"/>
                </a:highlight>
                <a:latin typeface="JetBrains Mono"/>
                <a:ea typeface="JetBrains Mono"/>
                <a:cs typeface="JetBrains Mono"/>
                <a:sym typeface="JetBrains Mono"/>
              </a:rPr>
              <a:t>  </a:t>
            </a:r>
            <a:r>
              <a:rPr b="1" lang="en" sz="1600">
                <a:solidFill>
                  <a:srgbClr val="C393C3"/>
                </a:solidFill>
                <a:highlight>
                  <a:schemeClr val="dk1"/>
                </a:highlight>
                <a:latin typeface="JetBrains Mono"/>
                <a:ea typeface="JetBrains Mono"/>
                <a:cs typeface="JetBrains Mono"/>
                <a:sym typeface="JetBrains Mono"/>
              </a:rPr>
              <a:t>public final int </a:t>
            </a:r>
            <a:r>
              <a:rPr b="1" lang="en" sz="1600">
                <a:solidFill>
                  <a:srgbClr val="E2E3E4"/>
                </a:solidFill>
                <a:highlight>
                  <a:schemeClr val="dk1"/>
                </a:highlight>
                <a:latin typeface="JetBrains Mono"/>
                <a:ea typeface="JetBrains Mono"/>
                <a:cs typeface="JetBrains Mono"/>
                <a:sym typeface="JetBrains Mono"/>
              </a:rPr>
              <a:t>weight</a:t>
            </a:r>
            <a:r>
              <a:rPr b="1" lang="en" sz="1600">
                <a:solidFill>
                  <a:srgbClr val="8C9196"/>
                </a:solidFill>
                <a:highlight>
                  <a:schemeClr val="dk1"/>
                </a:highlight>
                <a:latin typeface="JetBrains Mono"/>
                <a:ea typeface="JetBrains Mono"/>
                <a:cs typeface="JetBrains Mono"/>
                <a:sym typeface="JetBrains Mono"/>
              </a:rPr>
              <a:t>;</a:t>
            </a:r>
            <a:endParaRPr b="1" sz="1600">
              <a:solidFill>
                <a:srgbClr val="8C9196"/>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600">
                <a:solidFill>
                  <a:srgbClr val="8C9196"/>
                </a:solidFill>
                <a:highlight>
                  <a:schemeClr val="dk1"/>
                </a:highlight>
                <a:latin typeface="JetBrains Mono"/>
                <a:ea typeface="JetBrains Mono"/>
                <a:cs typeface="JetBrains Mono"/>
                <a:sym typeface="JetBrains Mono"/>
              </a:rPr>
              <a:t>  </a:t>
            </a:r>
            <a:r>
              <a:rPr b="1" lang="en" sz="1600">
                <a:solidFill>
                  <a:srgbClr val="C393C3"/>
                </a:solidFill>
                <a:highlight>
                  <a:schemeClr val="dk1"/>
                </a:highlight>
                <a:latin typeface="JetBrains Mono"/>
                <a:ea typeface="JetBrains Mono"/>
                <a:cs typeface="JetBrains Mono"/>
                <a:sym typeface="JetBrains Mono"/>
              </a:rPr>
              <a:t>public </a:t>
            </a:r>
            <a:r>
              <a:rPr b="1" lang="en" sz="1600">
                <a:solidFill>
                  <a:srgbClr val="5EB2B2"/>
                </a:solidFill>
                <a:highlight>
                  <a:schemeClr val="dk1"/>
                </a:highlight>
                <a:latin typeface="JetBrains Mono"/>
                <a:ea typeface="JetBrains Mono"/>
                <a:cs typeface="JetBrains Mono"/>
                <a:sym typeface="JetBrains Mono"/>
              </a:rPr>
              <a:t>Rock </a:t>
            </a:r>
            <a:r>
              <a:rPr b="1" lang="en" sz="1600">
                <a:solidFill>
                  <a:srgbClr val="E2E3E4"/>
                </a:solidFill>
                <a:highlight>
                  <a:schemeClr val="dk1"/>
                </a:highlight>
                <a:latin typeface="JetBrains Mono"/>
                <a:ea typeface="JetBrains Mono"/>
                <a:cs typeface="JetBrains Mono"/>
                <a:sym typeface="JetBrains Mono"/>
              </a:rPr>
              <a:t>(</a:t>
            </a:r>
            <a:r>
              <a:rPr b="1" lang="en" sz="1600">
                <a:solidFill>
                  <a:srgbClr val="C393C3"/>
                </a:solidFill>
                <a:highlight>
                  <a:schemeClr val="dk1"/>
                </a:highlight>
                <a:latin typeface="JetBrains Mono"/>
                <a:ea typeface="JetBrains Mono"/>
                <a:cs typeface="JetBrains Mono"/>
                <a:sym typeface="JetBrains Mono"/>
              </a:rPr>
              <a:t>int </a:t>
            </a:r>
            <a:r>
              <a:rPr b="1" lang="en" sz="1600">
                <a:solidFill>
                  <a:srgbClr val="F8B662"/>
                </a:solidFill>
                <a:highlight>
                  <a:schemeClr val="dk1"/>
                </a:highlight>
                <a:latin typeface="JetBrains Mono"/>
                <a:ea typeface="JetBrains Mono"/>
                <a:cs typeface="JetBrains Mono"/>
                <a:sym typeface="JetBrains Mono"/>
              </a:rPr>
              <a:t>w</a:t>
            </a:r>
            <a:r>
              <a:rPr b="1" lang="en" sz="1600">
                <a:solidFill>
                  <a:srgbClr val="E2E3E4"/>
                </a:solidFill>
                <a:highlight>
                  <a:schemeClr val="dk1"/>
                </a:highlight>
                <a:latin typeface="JetBrains Mono"/>
                <a:ea typeface="JetBrains Mono"/>
                <a:cs typeface="JetBrains Mono"/>
                <a:sym typeface="JetBrains Mono"/>
              </a:rPr>
              <a:t>) { </a:t>
            </a:r>
            <a:endParaRPr b="1" sz="1600">
              <a:solidFill>
                <a:srgbClr val="E2E3E4"/>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600">
                <a:solidFill>
                  <a:srgbClr val="E2E3E4"/>
                </a:solidFill>
                <a:highlight>
                  <a:schemeClr val="dk1"/>
                </a:highlight>
                <a:latin typeface="JetBrains Mono"/>
                <a:ea typeface="JetBrains Mono"/>
                <a:cs typeface="JetBrains Mono"/>
                <a:sym typeface="JetBrains Mono"/>
              </a:rPr>
              <a:t>    weight </a:t>
            </a:r>
            <a:r>
              <a:rPr b="1" lang="en" sz="1600">
                <a:solidFill>
                  <a:srgbClr val="F48460"/>
                </a:solidFill>
                <a:highlight>
                  <a:schemeClr val="dk1"/>
                </a:highlight>
                <a:latin typeface="JetBrains Mono"/>
                <a:ea typeface="JetBrains Mono"/>
                <a:cs typeface="JetBrains Mono"/>
                <a:sym typeface="JetBrains Mono"/>
              </a:rPr>
              <a:t>= </a:t>
            </a:r>
            <a:r>
              <a:rPr b="1" lang="en" sz="1600">
                <a:solidFill>
                  <a:srgbClr val="F8B662"/>
                </a:solidFill>
                <a:highlight>
                  <a:schemeClr val="dk1"/>
                </a:highlight>
                <a:latin typeface="JetBrains Mono"/>
                <a:ea typeface="JetBrains Mono"/>
                <a:cs typeface="JetBrains Mono"/>
                <a:sym typeface="JetBrains Mono"/>
              </a:rPr>
              <a:t>w</a:t>
            </a:r>
            <a:r>
              <a:rPr b="1" lang="en" sz="1600">
                <a:solidFill>
                  <a:srgbClr val="8C9196"/>
                </a:solidFill>
                <a:highlight>
                  <a:schemeClr val="dk1"/>
                </a:highlight>
                <a:latin typeface="JetBrains Mono"/>
                <a:ea typeface="JetBrains Mono"/>
                <a:cs typeface="JetBrains Mono"/>
                <a:sym typeface="JetBrains Mono"/>
              </a:rPr>
              <a:t>; </a:t>
            </a:r>
            <a:endParaRPr b="1" sz="1600">
              <a:solidFill>
                <a:srgbClr val="8C9196"/>
              </a:solidFill>
              <a:highlight>
                <a:schemeClr val="dk1"/>
              </a:highlight>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b="1" lang="en" sz="1600">
                <a:solidFill>
                  <a:srgbClr val="E2E3E4"/>
                </a:solidFill>
                <a:highlight>
                  <a:schemeClr val="dk1"/>
                </a:highlight>
                <a:latin typeface="JetBrains Mono"/>
                <a:ea typeface="JetBrains Mono"/>
                <a:cs typeface="JetBrains Mono"/>
                <a:sym typeface="JetBrains Mono"/>
              </a:rPr>
              <a:t>  }</a:t>
            </a:r>
            <a:endParaRPr b="1" sz="1600">
              <a:solidFill>
                <a:srgbClr val="E2E3E4"/>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600">
                <a:solidFill>
                  <a:srgbClr val="E2E3E4"/>
                </a:solidFill>
                <a:highlight>
                  <a:schemeClr val="dk1"/>
                </a:highlight>
                <a:latin typeface="JetBrains Mono"/>
                <a:ea typeface="JetBrains Mono"/>
                <a:cs typeface="JetBrains Mono"/>
                <a:sym typeface="JetBrains Mono"/>
              </a:rPr>
              <a:t>}</a:t>
            </a:r>
            <a:endParaRPr b="1" sz="1600">
              <a:latin typeface="Roboto"/>
              <a:ea typeface="Roboto"/>
              <a:cs typeface="Roboto"/>
              <a:sym typeface="Roboto"/>
            </a:endParaRPr>
          </a:p>
        </p:txBody>
      </p:sp>
      <p:sp>
        <p:nvSpPr>
          <p:cNvPr id="420" name="Google Shape;420;p58"/>
          <p:cNvSpPr txBox="1"/>
          <p:nvPr/>
        </p:nvSpPr>
        <p:spPr>
          <a:xfrm>
            <a:off x="107050" y="2778475"/>
            <a:ext cx="4119000" cy="1662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public class </a:t>
            </a:r>
            <a:r>
              <a:rPr b="1" lang="en" sz="1600">
                <a:solidFill>
                  <a:srgbClr val="F8B662"/>
                </a:solidFill>
                <a:highlight>
                  <a:schemeClr val="dk1"/>
                </a:highlight>
                <a:latin typeface="Consolas"/>
                <a:ea typeface="Consolas"/>
                <a:cs typeface="Consolas"/>
                <a:sym typeface="Consolas"/>
              </a:rPr>
              <a:t>RocksBox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final </a:t>
            </a: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rocks</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a:t>
            </a:r>
            <a:r>
              <a:rPr b="1" lang="en" sz="1600">
                <a:solidFill>
                  <a:srgbClr val="5EB2B2"/>
                </a:solidFill>
                <a:highlight>
                  <a:schemeClr val="dk1"/>
                </a:highlight>
                <a:latin typeface="Consolas"/>
                <a:ea typeface="Consolas"/>
                <a:cs typeface="Consolas"/>
                <a:sym typeface="Consolas"/>
              </a:rPr>
              <a:t>RocksBox </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rox</a:t>
            </a: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rocks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rox</a:t>
            </a:r>
            <a:r>
              <a:rPr b="1" lang="en" sz="1600">
                <a:solidFill>
                  <a:srgbClr val="8C9196"/>
                </a:solidFill>
                <a:highlight>
                  <a:schemeClr val="dk1"/>
                </a:highlight>
                <a:latin typeface="Consolas"/>
                <a:ea typeface="Consolas"/>
                <a:cs typeface="Consolas"/>
                <a:sym typeface="Consolas"/>
              </a:rPr>
              <a:t>; </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p:txBody>
      </p:sp>
      <p:sp>
        <p:nvSpPr>
          <p:cNvPr id="421" name="Google Shape;421;p58"/>
          <p:cNvSpPr txBox="1"/>
          <p:nvPr/>
        </p:nvSpPr>
        <p:spPr>
          <a:xfrm>
            <a:off x="4666150" y="2778475"/>
            <a:ext cx="4371000" cy="1662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public class </a:t>
            </a:r>
            <a:r>
              <a:rPr b="1" lang="en" sz="1600">
                <a:solidFill>
                  <a:srgbClr val="F8B662"/>
                </a:solidFill>
                <a:highlight>
                  <a:schemeClr val="dk1"/>
                </a:highlight>
                <a:latin typeface="Consolas"/>
                <a:ea typeface="Consolas"/>
                <a:cs typeface="Consolas"/>
                <a:sym typeface="Consolas"/>
              </a:rPr>
              <a:t>SecretRocksBox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private </a:t>
            </a: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rocks</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a:t>
            </a:r>
            <a:r>
              <a:rPr b="1" lang="en" sz="1600">
                <a:solidFill>
                  <a:srgbClr val="5EB2B2"/>
                </a:solidFill>
                <a:highlight>
                  <a:schemeClr val="dk1"/>
                </a:highlight>
                <a:latin typeface="Consolas"/>
                <a:ea typeface="Consolas"/>
                <a:cs typeface="Consolas"/>
                <a:sym typeface="Consolas"/>
              </a:rPr>
              <a:t>SecretRocksBox</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rox</a:t>
            </a: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rocks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rox</a:t>
            </a:r>
            <a:r>
              <a:rPr b="1" lang="en" sz="1600">
                <a:solidFill>
                  <a:srgbClr val="8C9196"/>
                </a:solidFill>
                <a:highlight>
                  <a:schemeClr val="dk1"/>
                </a:highlight>
                <a:latin typeface="Consolas"/>
                <a:ea typeface="Consolas"/>
                <a:cs typeface="Consolas"/>
                <a:sym typeface="Consolas"/>
              </a:rPr>
              <a:t>; </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of the Classes Below Are Immutable?</a:t>
            </a:r>
            <a:endParaRPr/>
          </a:p>
        </p:txBody>
      </p:sp>
      <p:sp>
        <p:nvSpPr>
          <p:cNvPr id="427" name="Google Shape;427;p59"/>
          <p:cNvSpPr txBox="1"/>
          <p:nvPr>
            <p:ph idx="1" type="body"/>
          </p:nvPr>
        </p:nvSpPr>
        <p:spPr>
          <a:xfrm>
            <a:off x="107050" y="402200"/>
            <a:ext cx="8520600" cy="711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Immutable: an instance cannot change in any observable way after instantiation.</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428" name="Google Shape;428;p59"/>
          <p:cNvSpPr txBox="1"/>
          <p:nvPr/>
        </p:nvSpPr>
        <p:spPr>
          <a:xfrm>
            <a:off x="152400" y="943675"/>
            <a:ext cx="4073700" cy="1662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public class </a:t>
            </a:r>
            <a:r>
              <a:rPr b="1" lang="en" sz="1600">
                <a:solidFill>
                  <a:srgbClr val="F8B662"/>
                </a:solidFill>
                <a:highlight>
                  <a:schemeClr val="dk1"/>
                </a:highlight>
                <a:latin typeface="Consolas"/>
                <a:ea typeface="Consolas"/>
                <a:cs typeface="Consolas"/>
                <a:sym typeface="Consolas"/>
              </a:rPr>
              <a:t>Pebble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int </a:t>
            </a:r>
            <a:r>
              <a:rPr b="1" lang="en" sz="1600">
                <a:solidFill>
                  <a:srgbClr val="E2E3E4"/>
                </a:solidFill>
                <a:highlight>
                  <a:schemeClr val="dk1"/>
                </a:highlight>
                <a:latin typeface="Consolas"/>
                <a:ea typeface="Consolas"/>
                <a:cs typeface="Consolas"/>
                <a:sym typeface="Consolas"/>
              </a:rPr>
              <a:t>weight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a:t>
            </a:r>
            <a:r>
              <a:rPr b="1" lang="en" sz="1600">
                <a:solidFill>
                  <a:srgbClr val="5EB2B2"/>
                </a:solidFill>
                <a:highlight>
                  <a:schemeClr val="dk1"/>
                </a:highlight>
                <a:latin typeface="Consolas"/>
                <a:ea typeface="Consolas"/>
                <a:cs typeface="Consolas"/>
                <a:sym typeface="Consolas"/>
              </a:rPr>
              <a:t>Pebble</a:t>
            </a:r>
            <a:r>
              <a:rPr b="1" lang="en" sz="1600">
                <a:solidFill>
                  <a:srgbClr val="E2E3E4"/>
                </a:solidFill>
                <a:highlight>
                  <a:schemeClr val="dk1"/>
                </a:highlight>
                <a:latin typeface="Consolas"/>
                <a:ea typeface="Consolas"/>
                <a:cs typeface="Consolas"/>
                <a:sym typeface="Consolas"/>
              </a:rPr>
              <a:t>() {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weight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1</a:t>
            </a:r>
            <a:r>
              <a:rPr b="1" lang="en" sz="1600">
                <a:solidFill>
                  <a:srgbClr val="8C9196"/>
                </a:solidFill>
                <a:highlight>
                  <a:schemeClr val="dk1"/>
                </a:highlight>
                <a:latin typeface="Consolas"/>
                <a:ea typeface="Consolas"/>
                <a:cs typeface="Consolas"/>
                <a:sym typeface="Consolas"/>
              </a:rPr>
              <a:t>; </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p:txBody>
      </p:sp>
      <p:sp>
        <p:nvSpPr>
          <p:cNvPr id="429" name="Google Shape;429;p59"/>
          <p:cNvSpPr txBox="1"/>
          <p:nvPr/>
        </p:nvSpPr>
        <p:spPr>
          <a:xfrm>
            <a:off x="4632125" y="2626058"/>
            <a:ext cx="4073700" cy="677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Pebble </a:t>
            </a:r>
            <a:r>
              <a:rPr b="1" lang="en" sz="1600">
                <a:solidFill>
                  <a:srgbClr val="E2E3E4"/>
                </a:solidFill>
                <a:highlight>
                  <a:schemeClr val="dk1"/>
                </a:highlight>
                <a:latin typeface="Consolas"/>
                <a:ea typeface="Consolas"/>
                <a:cs typeface="Consolas"/>
                <a:sym typeface="Consolas"/>
              </a:rPr>
              <a:t>p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Pebble</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p</a:t>
            </a:r>
            <a:r>
              <a:rPr b="1" lang="en" sz="1600">
                <a:solidFill>
                  <a:srgbClr val="8C9196"/>
                </a:solidFill>
                <a:highlight>
                  <a:schemeClr val="dk1"/>
                </a:highlight>
                <a:latin typeface="Consolas"/>
                <a:ea typeface="Consolas"/>
                <a:cs typeface="Consolas"/>
                <a:sym typeface="Consolas"/>
              </a:rPr>
              <a:t>.</a:t>
            </a:r>
            <a:r>
              <a:rPr b="1" lang="en" sz="1600">
                <a:solidFill>
                  <a:srgbClr val="E2E3E4"/>
                </a:solidFill>
                <a:highlight>
                  <a:schemeClr val="dk1"/>
                </a:highlight>
                <a:latin typeface="Consolas"/>
                <a:ea typeface="Consolas"/>
                <a:cs typeface="Consolas"/>
                <a:sym typeface="Consolas"/>
              </a:rPr>
              <a:t>weight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2</a:t>
            </a:r>
            <a:r>
              <a:rPr b="1" lang="en" sz="1600">
                <a:solidFill>
                  <a:srgbClr val="8C9196"/>
                </a:solidFill>
                <a:highlight>
                  <a:schemeClr val="dk1"/>
                </a:highlight>
                <a:latin typeface="Consolas"/>
                <a:ea typeface="Consolas"/>
                <a:cs typeface="Consolas"/>
                <a:sym typeface="Consolas"/>
              </a:rPr>
              <a:t>;</a:t>
            </a:r>
            <a:endParaRPr b="1" sz="1600">
              <a:solidFill>
                <a:srgbClr val="C393C3"/>
              </a:solidFill>
              <a:highlight>
                <a:schemeClr val="dk1"/>
              </a:highlight>
              <a:latin typeface="Consolas"/>
              <a:ea typeface="Consolas"/>
              <a:cs typeface="Consolas"/>
              <a:sym typeface="Consolas"/>
            </a:endParaRPr>
          </a:p>
        </p:txBody>
      </p:sp>
      <p:sp>
        <p:nvSpPr>
          <p:cNvPr id="430" name="Google Shape;430;p59"/>
          <p:cNvSpPr txBox="1"/>
          <p:nvPr/>
        </p:nvSpPr>
        <p:spPr>
          <a:xfrm>
            <a:off x="4574200" y="2244751"/>
            <a:ext cx="430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Roboto"/>
                <a:ea typeface="Roboto"/>
                <a:cs typeface="Roboto"/>
                <a:sym typeface="Roboto"/>
              </a:rPr>
              <a:t>Example </a:t>
            </a:r>
            <a:r>
              <a:rPr lang="en" sz="1800">
                <a:latin typeface="Roboto"/>
                <a:ea typeface="Roboto"/>
                <a:cs typeface="Roboto"/>
                <a:sym typeface="Roboto"/>
              </a:rPr>
              <a:t>mutation</a:t>
            </a:r>
            <a:r>
              <a:rPr lang="en" sz="1800">
                <a:latin typeface="Roboto"/>
                <a:ea typeface="Roboto"/>
                <a:cs typeface="Roboto"/>
                <a:sym typeface="Roboto"/>
              </a:rPr>
              <a:t>:</a:t>
            </a:r>
            <a:endParaRPr sz="1800">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of the Classes Below Are Immutable?</a:t>
            </a:r>
            <a:endParaRPr/>
          </a:p>
        </p:txBody>
      </p:sp>
      <p:sp>
        <p:nvSpPr>
          <p:cNvPr id="436" name="Google Shape;436;p60"/>
          <p:cNvSpPr txBox="1"/>
          <p:nvPr>
            <p:ph idx="1" type="body"/>
          </p:nvPr>
        </p:nvSpPr>
        <p:spPr>
          <a:xfrm>
            <a:off x="107050" y="402200"/>
            <a:ext cx="8520600" cy="711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Immutable: an instance cannot change in any observable way after instantiation.</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437" name="Google Shape;437;p60"/>
          <p:cNvSpPr txBox="1"/>
          <p:nvPr/>
        </p:nvSpPr>
        <p:spPr>
          <a:xfrm>
            <a:off x="4666150" y="943675"/>
            <a:ext cx="4266300" cy="1662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C393C3"/>
                </a:solidFill>
                <a:highlight>
                  <a:schemeClr val="dk1"/>
                </a:highlight>
                <a:latin typeface="JetBrains Mono"/>
                <a:ea typeface="JetBrains Mono"/>
                <a:cs typeface="JetBrains Mono"/>
                <a:sym typeface="JetBrains Mono"/>
              </a:rPr>
              <a:t>public class </a:t>
            </a:r>
            <a:r>
              <a:rPr b="1" lang="en" sz="1600">
                <a:solidFill>
                  <a:srgbClr val="F8B662"/>
                </a:solidFill>
                <a:highlight>
                  <a:schemeClr val="dk1"/>
                </a:highlight>
                <a:latin typeface="JetBrains Mono"/>
                <a:ea typeface="JetBrains Mono"/>
                <a:cs typeface="JetBrains Mono"/>
                <a:sym typeface="JetBrains Mono"/>
              </a:rPr>
              <a:t>Rock </a:t>
            </a:r>
            <a:r>
              <a:rPr b="1" lang="en" sz="1600">
                <a:solidFill>
                  <a:srgbClr val="E2E3E4"/>
                </a:solidFill>
                <a:highlight>
                  <a:schemeClr val="dk1"/>
                </a:highlight>
                <a:latin typeface="JetBrains Mono"/>
                <a:ea typeface="JetBrains Mono"/>
                <a:cs typeface="JetBrains Mono"/>
                <a:sym typeface="JetBrains Mono"/>
              </a:rPr>
              <a:t>{</a:t>
            </a:r>
            <a:endParaRPr b="1" sz="1600">
              <a:solidFill>
                <a:srgbClr val="E2E3E4"/>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600">
                <a:solidFill>
                  <a:srgbClr val="E2E3E4"/>
                </a:solidFill>
                <a:highlight>
                  <a:schemeClr val="dk1"/>
                </a:highlight>
                <a:latin typeface="JetBrains Mono"/>
                <a:ea typeface="JetBrains Mono"/>
                <a:cs typeface="JetBrains Mono"/>
                <a:sym typeface="JetBrains Mono"/>
              </a:rPr>
              <a:t>  </a:t>
            </a:r>
            <a:r>
              <a:rPr b="1" lang="en" sz="1600">
                <a:solidFill>
                  <a:srgbClr val="C393C3"/>
                </a:solidFill>
                <a:highlight>
                  <a:schemeClr val="dk1"/>
                </a:highlight>
                <a:latin typeface="JetBrains Mono"/>
                <a:ea typeface="JetBrains Mono"/>
                <a:cs typeface="JetBrains Mono"/>
                <a:sym typeface="JetBrains Mono"/>
              </a:rPr>
              <a:t>public final int </a:t>
            </a:r>
            <a:r>
              <a:rPr b="1" lang="en" sz="1600">
                <a:solidFill>
                  <a:srgbClr val="E2E3E4"/>
                </a:solidFill>
                <a:highlight>
                  <a:schemeClr val="dk1"/>
                </a:highlight>
                <a:latin typeface="JetBrains Mono"/>
                <a:ea typeface="JetBrains Mono"/>
                <a:cs typeface="JetBrains Mono"/>
                <a:sym typeface="JetBrains Mono"/>
              </a:rPr>
              <a:t>weight</a:t>
            </a:r>
            <a:r>
              <a:rPr b="1" lang="en" sz="1600">
                <a:solidFill>
                  <a:srgbClr val="8C9196"/>
                </a:solidFill>
                <a:highlight>
                  <a:schemeClr val="dk1"/>
                </a:highlight>
                <a:latin typeface="JetBrains Mono"/>
                <a:ea typeface="JetBrains Mono"/>
                <a:cs typeface="JetBrains Mono"/>
                <a:sym typeface="JetBrains Mono"/>
              </a:rPr>
              <a:t>;</a:t>
            </a:r>
            <a:endParaRPr b="1" sz="1600">
              <a:solidFill>
                <a:srgbClr val="8C9196"/>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600">
                <a:solidFill>
                  <a:srgbClr val="8C9196"/>
                </a:solidFill>
                <a:highlight>
                  <a:schemeClr val="dk1"/>
                </a:highlight>
                <a:latin typeface="JetBrains Mono"/>
                <a:ea typeface="JetBrains Mono"/>
                <a:cs typeface="JetBrains Mono"/>
                <a:sym typeface="JetBrains Mono"/>
              </a:rPr>
              <a:t>  </a:t>
            </a:r>
            <a:r>
              <a:rPr b="1" lang="en" sz="1600">
                <a:solidFill>
                  <a:srgbClr val="C393C3"/>
                </a:solidFill>
                <a:highlight>
                  <a:schemeClr val="dk1"/>
                </a:highlight>
                <a:latin typeface="JetBrains Mono"/>
                <a:ea typeface="JetBrains Mono"/>
                <a:cs typeface="JetBrains Mono"/>
                <a:sym typeface="JetBrains Mono"/>
              </a:rPr>
              <a:t>public </a:t>
            </a:r>
            <a:r>
              <a:rPr b="1" lang="en" sz="1600">
                <a:solidFill>
                  <a:srgbClr val="5EB2B2"/>
                </a:solidFill>
                <a:highlight>
                  <a:schemeClr val="dk1"/>
                </a:highlight>
                <a:latin typeface="JetBrains Mono"/>
                <a:ea typeface="JetBrains Mono"/>
                <a:cs typeface="JetBrains Mono"/>
                <a:sym typeface="JetBrains Mono"/>
              </a:rPr>
              <a:t>Rock </a:t>
            </a:r>
            <a:r>
              <a:rPr b="1" lang="en" sz="1600">
                <a:solidFill>
                  <a:srgbClr val="E2E3E4"/>
                </a:solidFill>
                <a:highlight>
                  <a:schemeClr val="dk1"/>
                </a:highlight>
                <a:latin typeface="JetBrains Mono"/>
                <a:ea typeface="JetBrains Mono"/>
                <a:cs typeface="JetBrains Mono"/>
                <a:sym typeface="JetBrains Mono"/>
              </a:rPr>
              <a:t>(</a:t>
            </a:r>
            <a:r>
              <a:rPr b="1" lang="en" sz="1600">
                <a:solidFill>
                  <a:srgbClr val="C393C3"/>
                </a:solidFill>
                <a:highlight>
                  <a:schemeClr val="dk1"/>
                </a:highlight>
                <a:latin typeface="JetBrains Mono"/>
                <a:ea typeface="JetBrains Mono"/>
                <a:cs typeface="JetBrains Mono"/>
                <a:sym typeface="JetBrains Mono"/>
              </a:rPr>
              <a:t>int </a:t>
            </a:r>
            <a:r>
              <a:rPr b="1" lang="en" sz="1600">
                <a:solidFill>
                  <a:srgbClr val="F8B662"/>
                </a:solidFill>
                <a:highlight>
                  <a:schemeClr val="dk1"/>
                </a:highlight>
                <a:latin typeface="JetBrains Mono"/>
                <a:ea typeface="JetBrains Mono"/>
                <a:cs typeface="JetBrains Mono"/>
                <a:sym typeface="JetBrains Mono"/>
              </a:rPr>
              <a:t>w</a:t>
            </a:r>
            <a:r>
              <a:rPr b="1" lang="en" sz="1600">
                <a:solidFill>
                  <a:srgbClr val="E2E3E4"/>
                </a:solidFill>
                <a:highlight>
                  <a:schemeClr val="dk1"/>
                </a:highlight>
                <a:latin typeface="JetBrains Mono"/>
                <a:ea typeface="JetBrains Mono"/>
                <a:cs typeface="JetBrains Mono"/>
                <a:sym typeface="JetBrains Mono"/>
              </a:rPr>
              <a:t>) { </a:t>
            </a:r>
            <a:endParaRPr b="1" sz="1600">
              <a:solidFill>
                <a:srgbClr val="E2E3E4"/>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600">
                <a:solidFill>
                  <a:srgbClr val="E2E3E4"/>
                </a:solidFill>
                <a:highlight>
                  <a:schemeClr val="dk1"/>
                </a:highlight>
                <a:latin typeface="JetBrains Mono"/>
                <a:ea typeface="JetBrains Mono"/>
                <a:cs typeface="JetBrains Mono"/>
                <a:sym typeface="JetBrains Mono"/>
              </a:rPr>
              <a:t>    weight </a:t>
            </a:r>
            <a:r>
              <a:rPr b="1" lang="en" sz="1600">
                <a:solidFill>
                  <a:srgbClr val="F48460"/>
                </a:solidFill>
                <a:highlight>
                  <a:schemeClr val="dk1"/>
                </a:highlight>
                <a:latin typeface="JetBrains Mono"/>
                <a:ea typeface="JetBrains Mono"/>
                <a:cs typeface="JetBrains Mono"/>
                <a:sym typeface="JetBrains Mono"/>
              </a:rPr>
              <a:t>= </a:t>
            </a:r>
            <a:r>
              <a:rPr b="1" lang="en" sz="1600">
                <a:solidFill>
                  <a:srgbClr val="F8B662"/>
                </a:solidFill>
                <a:highlight>
                  <a:schemeClr val="dk1"/>
                </a:highlight>
                <a:latin typeface="JetBrains Mono"/>
                <a:ea typeface="JetBrains Mono"/>
                <a:cs typeface="JetBrains Mono"/>
                <a:sym typeface="JetBrains Mono"/>
              </a:rPr>
              <a:t>w</a:t>
            </a:r>
            <a:r>
              <a:rPr b="1" lang="en" sz="1600">
                <a:solidFill>
                  <a:srgbClr val="8C9196"/>
                </a:solidFill>
                <a:highlight>
                  <a:schemeClr val="dk1"/>
                </a:highlight>
                <a:latin typeface="JetBrains Mono"/>
                <a:ea typeface="JetBrains Mono"/>
                <a:cs typeface="JetBrains Mono"/>
                <a:sym typeface="JetBrains Mono"/>
              </a:rPr>
              <a:t>; </a:t>
            </a:r>
            <a:endParaRPr b="1" sz="1600">
              <a:solidFill>
                <a:srgbClr val="8C9196"/>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600">
                <a:solidFill>
                  <a:srgbClr val="E2E3E4"/>
                </a:solidFill>
                <a:highlight>
                  <a:schemeClr val="dk1"/>
                </a:highlight>
                <a:latin typeface="JetBrains Mono"/>
                <a:ea typeface="JetBrains Mono"/>
                <a:cs typeface="JetBrains Mono"/>
                <a:sym typeface="JetBrains Mono"/>
              </a:rPr>
              <a:t>  }</a:t>
            </a:r>
            <a:endParaRPr b="1" sz="1600">
              <a:solidFill>
                <a:srgbClr val="E2E3E4"/>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600">
                <a:solidFill>
                  <a:srgbClr val="E2E3E4"/>
                </a:solidFill>
                <a:highlight>
                  <a:schemeClr val="dk1"/>
                </a:highlight>
                <a:latin typeface="JetBrains Mono"/>
                <a:ea typeface="JetBrains Mono"/>
                <a:cs typeface="JetBrains Mono"/>
                <a:sym typeface="JetBrains Mono"/>
              </a:rPr>
              <a:t>}</a:t>
            </a:r>
            <a:endParaRPr b="1" sz="1600">
              <a:latin typeface="Roboto"/>
              <a:ea typeface="Roboto"/>
              <a:cs typeface="Roboto"/>
              <a:sym typeface="Roboto"/>
            </a:endParaRPr>
          </a:p>
        </p:txBody>
      </p:sp>
      <p:sp>
        <p:nvSpPr>
          <p:cNvPr id="438" name="Google Shape;438;p60"/>
          <p:cNvSpPr txBox="1"/>
          <p:nvPr/>
        </p:nvSpPr>
        <p:spPr>
          <a:xfrm>
            <a:off x="307000" y="2303633"/>
            <a:ext cx="430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Roboto"/>
                <a:ea typeface="Roboto"/>
                <a:cs typeface="Roboto"/>
                <a:sym typeface="Roboto"/>
              </a:rPr>
              <a:t>No mutation possible.</a:t>
            </a:r>
            <a:endParaRPr sz="1800">
              <a:latin typeface="Roboto"/>
              <a:ea typeface="Roboto"/>
              <a:cs typeface="Roboto"/>
              <a:sym typeface="Roboto"/>
            </a:endParaRPr>
          </a:p>
        </p:txBody>
      </p:sp>
      <p:sp>
        <p:nvSpPr>
          <p:cNvPr id="439" name="Google Shape;439;p60"/>
          <p:cNvSpPr txBox="1"/>
          <p:nvPr/>
        </p:nvSpPr>
        <p:spPr>
          <a:xfrm>
            <a:off x="637625" y="4640950"/>
            <a:ext cx="805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Unless you use the special “Reflections” library which lets you disobey access modifiers.</a:t>
            </a:r>
            <a:endParaRPr>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of the Classes Below Are Immutable?</a:t>
            </a:r>
            <a:endParaRPr/>
          </a:p>
        </p:txBody>
      </p:sp>
      <p:sp>
        <p:nvSpPr>
          <p:cNvPr id="445" name="Google Shape;445;p61"/>
          <p:cNvSpPr txBox="1"/>
          <p:nvPr>
            <p:ph idx="1" type="body"/>
          </p:nvPr>
        </p:nvSpPr>
        <p:spPr>
          <a:xfrm>
            <a:off x="107050" y="402200"/>
            <a:ext cx="8520600" cy="711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Immutable: an instance cannot change in any observable way after instantiation.</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446" name="Google Shape;446;p61"/>
          <p:cNvSpPr txBox="1"/>
          <p:nvPr/>
        </p:nvSpPr>
        <p:spPr>
          <a:xfrm>
            <a:off x="4574200" y="873151"/>
            <a:ext cx="430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Roboto"/>
                <a:ea typeface="Roboto"/>
                <a:cs typeface="Roboto"/>
                <a:sym typeface="Roboto"/>
              </a:rPr>
              <a:t>Example mutation:</a:t>
            </a:r>
            <a:endParaRPr sz="1800">
              <a:latin typeface="Roboto"/>
              <a:ea typeface="Roboto"/>
              <a:cs typeface="Roboto"/>
              <a:sym typeface="Roboto"/>
            </a:endParaRPr>
          </a:p>
        </p:txBody>
      </p:sp>
      <p:sp>
        <p:nvSpPr>
          <p:cNvPr id="447" name="Google Shape;447;p61"/>
          <p:cNvSpPr txBox="1"/>
          <p:nvPr/>
        </p:nvSpPr>
        <p:spPr>
          <a:xfrm>
            <a:off x="107050" y="2778475"/>
            <a:ext cx="4119000" cy="1662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public class </a:t>
            </a:r>
            <a:r>
              <a:rPr b="1" lang="en" sz="1600">
                <a:solidFill>
                  <a:srgbClr val="F8B662"/>
                </a:solidFill>
                <a:highlight>
                  <a:schemeClr val="dk1"/>
                </a:highlight>
                <a:latin typeface="Consolas"/>
                <a:ea typeface="Consolas"/>
                <a:cs typeface="Consolas"/>
                <a:sym typeface="Consolas"/>
              </a:rPr>
              <a:t>RocksBox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final </a:t>
            </a: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rocks</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a:t>
            </a:r>
            <a:r>
              <a:rPr b="1" lang="en" sz="1600">
                <a:solidFill>
                  <a:srgbClr val="5EB2B2"/>
                </a:solidFill>
                <a:highlight>
                  <a:schemeClr val="dk1"/>
                </a:highlight>
                <a:latin typeface="Consolas"/>
                <a:ea typeface="Consolas"/>
                <a:cs typeface="Consolas"/>
                <a:sym typeface="Consolas"/>
              </a:rPr>
              <a:t>RocksBox </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rox</a:t>
            </a: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rocks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rox</a:t>
            </a:r>
            <a:r>
              <a:rPr b="1" lang="en" sz="1600">
                <a:solidFill>
                  <a:srgbClr val="8C9196"/>
                </a:solidFill>
                <a:highlight>
                  <a:schemeClr val="dk1"/>
                </a:highlight>
                <a:latin typeface="Consolas"/>
                <a:ea typeface="Consolas"/>
                <a:cs typeface="Consolas"/>
                <a:sym typeface="Consolas"/>
              </a:rPr>
              <a:t>; </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p:txBody>
      </p:sp>
      <p:sp>
        <p:nvSpPr>
          <p:cNvPr id="448" name="Google Shape;448;p61"/>
          <p:cNvSpPr txBox="1"/>
          <p:nvPr/>
        </p:nvSpPr>
        <p:spPr>
          <a:xfrm>
            <a:off x="4650400" y="1254775"/>
            <a:ext cx="3934200" cy="1416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Rock </a:t>
            </a:r>
            <a:r>
              <a:rPr b="1" lang="en" sz="1600">
                <a:solidFill>
                  <a:srgbClr val="E2E3E4"/>
                </a:solidFill>
                <a:highlight>
                  <a:schemeClr val="dk1"/>
                </a:highlight>
                <a:latin typeface="Consolas"/>
                <a:ea typeface="Consolas"/>
                <a:cs typeface="Consolas"/>
                <a:sym typeface="Consolas"/>
              </a:rPr>
              <a:t>r1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10</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Rock </a:t>
            </a:r>
            <a:r>
              <a:rPr b="1" lang="en" sz="1600">
                <a:solidFill>
                  <a:srgbClr val="E2E3E4"/>
                </a:solidFill>
                <a:highlight>
                  <a:schemeClr val="dk1"/>
                </a:highlight>
                <a:latin typeface="Consolas"/>
                <a:ea typeface="Consolas"/>
                <a:cs typeface="Consolas"/>
                <a:sym typeface="Consolas"/>
              </a:rPr>
              <a:t>r2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20</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rox </a:t>
            </a:r>
            <a:r>
              <a:rPr b="1" lang="en" sz="1600">
                <a:solidFill>
                  <a:srgbClr val="F48460"/>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{r1</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r2}</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RocksBox rb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E2E3E4"/>
                </a:solidFill>
                <a:highlight>
                  <a:schemeClr val="dk1"/>
                </a:highlight>
                <a:latin typeface="Consolas"/>
                <a:ea typeface="Consolas"/>
                <a:cs typeface="Consolas"/>
                <a:sym typeface="Consolas"/>
              </a:rPr>
              <a:t>RocksBox(rox)</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rb</a:t>
            </a:r>
            <a:r>
              <a:rPr b="1" lang="en" sz="1600">
                <a:solidFill>
                  <a:srgbClr val="8C9196"/>
                </a:solidFill>
                <a:highlight>
                  <a:schemeClr val="dk1"/>
                </a:highlight>
                <a:latin typeface="Consolas"/>
                <a:ea typeface="Consolas"/>
                <a:cs typeface="Consolas"/>
                <a:sym typeface="Consolas"/>
              </a:rPr>
              <a:t>.</a:t>
            </a:r>
            <a:r>
              <a:rPr b="1" lang="en" sz="1600">
                <a:solidFill>
                  <a:srgbClr val="E2E3E4"/>
                </a:solidFill>
                <a:highlight>
                  <a:schemeClr val="dk1"/>
                </a:highlight>
                <a:latin typeface="Consolas"/>
                <a:ea typeface="Consolas"/>
                <a:cs typeface="Consolas"/>
                <a:sym typeface="Consolas"/>
              </a:rPr>
              <a:t>rocks[</a:t>
            </a:r>
            <a:r>
              <a:rPr b="1" lang="en" sz="1600">
                <a:solidFill>
                  <a:srgbClr val="F8B662"/>
                </a:solidFill>
                <a:highlight>
                  <a:schemeClr val="dk1"/>
                </a:highlight>
                <a:latin typeface="Consolas"/>
                <a:ea typeface="Consolas"/>
                <a:cs typeface="Consolas"/>
                <a:sym typeface="Consolas"/>
              </a:rPr>
              <a:t>1</a:t>
            </a:r>
            <a:r>
              <a:rPr b="1" lang="en" sz="1600">
                <a:solidFill>
                  <a:srgbClr val="E2E3E4"/>
                </a:solidFill>
                <a:highlight>
                  <a:schemeClr val="dk1"/>
                </a:highlight>
                <a:latin typeface="Consolas"/>
                <a:ea typeface="Consolas"/>
                <a:cs typeface="Consolas"/>
                <a:sym typeface="Consolas"/>
              </a:rPr>
              <a:t>]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null</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of the Classes Below Are Immutable?</a:t>
            </a:r>
            <a:endParaRPr/>
          </a:p>
        </p:txBody>
      </p:sp>
      <p:sp>
        <p:nvSpPr>
          <p:cNvPr id="454" name="Google Shape;454;p62"/>
          <p:cNvSpPr txBox="1"/>
          <p:nvPr>
            <p:ph idx="1" type="body"/>
          </p:nvPr>
        </p:nvSpPr>
        <p:spPr>
          <a:xfrm>
            <a:off x="107050" y="402200"/>
            <a:ext cx="8520600" cy="711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Immutable: an instance cannot change in any observable way after instantiation.</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455" name="Google Shape;455;p62"/>
          <p:cNvSpPr txBox="1"/>
          <p:nvPr/>
        </p:nvSpPr>
        <p:spPr>
          <a:xfrm>
            <a:off x="4666150" y="2778475"/>
            <a:ext cx="4371000" cy="1662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public class </a:t>
            </a:r>
            <a:r>
              <a:rPr b="1" lang="en" sz="1600">
                <a:solidFill>
                  <a:srgbClr val="F8B662"/>
                </a:solidFill>
                <a:highlight>
                  <a:schemeClr val="dk1"/>
                </a:highlight>
                <a:latin typeface="Consolas"/>
                <a:ea typeface="Consolas"/>
                <a:cs typeface="Consolas"/>
                <a:sym typeface="Consolas"/>
              </a:rPr>
              <a:t>SecretRocksBox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private </a:t>
            </a: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rocks</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a:t>
            </a:r>
            <a:r>
              <a:rPr b="1" lang="en" sz="1600">
                <a:solidFill>
                  <a:srgbClr val="5EB2B2"/>
                </a:solidFill>
                <a:highlight>
                  <a:schemeClr val="dk1"/>
                </a:highlight>
                <a:latin typeface="Consolas"/>
                <a:ea typeface="Consolas"/>
                <a:cs typeface="Consolas"/>
                <a:sym typeface="Consolas"/>
              </a:rPr>
              <a:t>SecretRocksBox</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rox</a:t>
            </a: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rocks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rox</a:t>
            </a:r>
            <a:r>
              <a:rPr b="1" lang="en" sz="1600">
                <a:solidFill>
                  <a:srgbClr val="8C9196"/>
                </a:solidFill>
                <a:highlight>
                  <a:schemeClr val="dk1"/>
                </a:highlight>
                <a:latin typeface="Consolas"/>
                <a:ea typeface="Consolas"/>
                <a:cs typeface="Consolas"/>
                <a:sym typeface="Consolas"/>
              </a:rPr>
              <a:t>; </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p:txBody>
      </p:sp>
      <p:sp>
        <p:nvSpPr>
          <p:cNvPr id="456" name="Google Shape;456;p62"/>
          <p:cNvSpPr txBox="1"/>
          <p:nvPr/>
        </p:nvSpPr>
        <p:spPr>
          <a:xfrm>
            <a:off x="103905" y="873151"/>
            <a:ext cx="430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Roboto"/>
                <a:ea typeface="Roboto"/>
                <a:cs typeface="Roboto"/>
                <a:sym typeface="Roboto"/>
              </a:rPr>
              <a:t>Example mutation:</a:t>
            </a:r>
            <a:endParaRPr sz="1800">
              <a:latin typeface="Roboto"/>
              <a:ea typeface="Roboto"/>
              <a:cs typeface="Roboto"/>
              <a:sym typeface="Roboto"/>
            </a:endParaRPr>
          </a:p>
        </p:txBody>
      </p:sp>
      <p:sp>
        <p:nvSpPr>
          <p:cNvPr id="457" name="Google Shape;457;p62"/>
          <p:cNvSpPr txBox="1"/>
          <p:nvPr/>
        </p:nvSpPr>
        <p:spPr>
          <a:xfrm>
            <a:off x="180100" y="1254775"/>
            <a:ext cx="5258700" cy="1416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Rock </a:t>
            </a:r>
            <a:r>
              <a:rPr b="1" lang="en" sz="1600">
                <a:solidFill>
                  <a:srgbClr val="E2E3E4"/>
                </a:solidFill>
                <a:highlight>
                  <a:schemeClr val="dk1"/>
                </a:highlight>
                <a:latin typeface="Consolas"/>
                <a:ea typeface="Consolas"/>
                <a:cs typeface="Consolas"/>
                <a:sym typeface="Consolas"/>
              </a:rPr>
              <a:t>r1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10</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Rock </a:t>
            </a:r>
            <a:r>
              <a:rPr b="1" lang="en" sz="1600">
                <a:solidFill>
                  <a:srgbClr val="E2E3E4"/>
                </a:solidFill>
                <a:highlight>
                  <a:schemeClr val="dk1"/>
                </a:highlight>
                <a:latin typeface="Consolas"/>
                <a:ea typeface="Consolas"/>
                <a:cs typeface="Consolas"/>
                <a:sym typeface="Consolas"/>
              </a:rPr>
              <a:t>r2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20</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rox </a:t>
            </a:r>
            <a:r>
              <a:rPr b="1" lang="en" sz="1600">
                <a:solidFill>
                  <a:srgbClr val="F48460"/>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{r1</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r2}</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SecretRocksBox rb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E2E3E4"/>
                </a:solidFill>
                <a:highlight>
                  <a:schemeClr val="dk1"/>
                </a:highlight>
                <a:latin typeface="Consolas"/>
                <a:ea typeface="Consolas"/>
                <a:cs typeface="Consolas"/>
                <a:sym typeface="Consolas"/>
              </a:rPr>
              <a:t>SecretRo</a:t>
            </a:r>
            <a:r>
              <a:rPr b="1" lang="en" sz="1600">
                <a:solidFill>
                  <a:srgbClr val="E2E3E4"/>
                </a:solidFill>
                <a:highlight>
                  <a:schemeClr val="dk1"/>
                </a:highlight>
                <a:latin typeface="Consolas"/>
                <a:ea typeface="Consolas"/>
                <a:cs typeface="Consolas"/>
                <a:sym typeface="Consolas"/>
              </a:rPr>
              <a:t>cksBox(rox)</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rox[</a:t>
            </a:r>
            <a:r>
              <a:rPr b="1" lang="en" sz="1600">
                <a:solidFill>
                  <a:srgbClr val="F8B662"/>
                </a:solidFill>
                <a:highlight>
                  <a:schemeClr val="dk1"/>
                </a:highlight>
                <a:latin typeface="Consolas"/>
                <a:ea typeface="Consolas"/>
                <a:cs typeface="Consolas"/>
                <a:sym typeface="Consolas"/>
              </a:rPr>
              <a:t>0</a:t>
            </a:r>
            <a:r>
              <a:rPr b="1" lang="en" sz="1600">
                <a:solidFill>
                  <a:srgbClr val="E2E3E4"/>
                </a:solidFill>
                <a:highlight>
                  <a:schemeClr val="dk1"/>
                </a:highlight>
                <a:latin typeface="Consolas"/>
                <a:ea typeface="Consolas"/>
                <a:cs typeface="Consolas"/>
                <a:sym typeface="Consolas"/>
              </a:rPr>
              <a:t>] =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-999</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of the Classes Below Are Immutable?</a:t>
            </a:r>
            <a:endParaRPr/>
          </a:p>
        </p:txBody>
      </p:sp>
      <p:sp>
        <p:nvSpPr>
          <p:cNvPr id="463" name="Google Shape;463;p63"/>
          <p:cNvSpPr txBox="1"/>
          <p:nvPr>
            <p:ph idx="1" type="body"/>
          </p:nvPr>
        </p:nvSpPr>
        <p:spPr>
          <a:xfrm>
            <a:off x="107050" y="402200"/>
            <a:ext cx="8520600" cy="711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Immutable: an instance cannot change in any observable way after instantiation.</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464" name="Google Shape;464;p63"/>
          <p:cNvSpPr txBox="1"/>
          <p:nvPr/>
        </p:nvSpPr>
        <p:spPr>
          <a:xfrm>
            <a:off x="152400" y="943675"/>
            <a:ext cx="4073700" cy="1662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public class Pebble {</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  public int weight;</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  public Pebble() { </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    weight = 1; </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  }</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a:t>
            </a:r>
            <a:endParaRPr b="1" sz="1600">
              <a:solidFill>
                <a:srgbClr val="999999"/>
              </a:solidFill>
              <a:highlight>
                <a:schemeClr val="dk1"/>
              </a:highlight>
              <a:latin typeface="Consolas"/>
              <a:ea typeface="Consolas"/>
              <a:cs typeface="Consolas"/>
              <a:sym typeface="Consolas"/>
            </a:endParaRPr>
          </a:p>
        </p:txBody>
      </p:sp>
      <p:sp>
        <p:nvSpPr>
          <p:cNvPr id="465" name="Google Shape;465;p63"/>
          <p:cNvSpPr txBox="1"/>
          <p:nvPr/>
        </p:nvSpPr>
        <p:spPr>
          <a:xfrm>
            <a:off x="4666150" y="943675"/>
            <a:ext cx="4371000" cy="1662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C393C3"/>
                </a:solidFill>
                <a:highlight>
                  <a:schemeClr val="dk1"/>
                </a:highlight>
                <a:latin typeface="JetBrains Mono"/>
                <a:ea typeface="JetBrains Mono"/>
                <a:cs typeface="JetBrains Mono"/>
                <a:sym typeface="JetBrains Mono"/>
              </a:rPr>
              <a:t>public class </a:t>
            </a:r>
            <a:r>
              <a:rPr b="1" lang="en" sz="1600">
                <a:solidFill>
                  <a:srgbClr val="F8B662"/>
                </a:solidFill>
                <a:highlight>
                  <a:schemeClr val="dk1"/>
                </a:highlight>
                <a:latin typeface="JetBrains Mono"/>
                <a:ea typeface="JetBrains Mono"/>
                <a:cs typeface="JetBrains Mono"/>
                <a:sym typeface="JetBrains Mono"/>
              </a:rPr>
              <a:t>Rock </a:t>
            </a:r>
            <a:r>
              <a:rPr b="1" lang="en" sz="1600">
                <a:solidFill>
                  <a:srgbClr val="E2E3E4"/>
                </a:solidFill>
                <a:highlight>
                  <a:schemeClr val="dk1"/>
                </a:highlight>
                <a:latin typeface="JetBrains Mono"/>
                <a:ea typeface="JetBrains Mono"/>
                <a:cs typeface="JetBrains Mono"/>
                <a:sym typeface="JetBrains Mono"/>
              </a:rPr>
              <a:t>{</a:t>
            </a:r>
            <a:endParaRPr b="1" sz="1600">
              <a:solidFill>
                <a:srgbClr val="E2E3E4"/>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600">
                <a:solidFill>
                  <a:srgbClr val="E2E3E4"/>
                </a:solidFill>
                <a:highlight>
                  <a:schemeClr val="dk1"/>
                </a:highlight>
                <a:latin typeface="JetBrains Mono"/>
                <a:ea typeface="JetBrains Mono"/>
                <a:cs typeface="JetBrains Mono"/>
                <a:sym typeface="JetBrains Mono"/>
              </a:rPr>
              <a:t>  </a:t>
            </a:r>
            <a:r>
              <a:rPr b="1" lang="en" sz="1600">
                <a:solidFill>
                  <a:srgbClr val="C393C3"/>
                </a:solidFill>
                <a:highlight>
                  <a:schemeClr val="dk1"/>
                </a:highlight>
                <a:latin typeface="JetBrains Mono"/>
                <a:ea typeface="JetBrains Mono"/>
                <a:cs typeface="JetBrains Mono"/>
                <a:sym typeface="JetBrains Mono"/>
              </a:rPr>
              <a:t>public final int </a:t>
            </a:r>
            <a:r>
              <a:rPr b="1" lang="en" sz="1600">
                <a:solidFill>
                  <a:srgbClr val="E2E3E4"/>
                </a:solidFill>
                <a:highlight>
                  <a:schemeClr val="dk1"/>
                </a:highlight>
                <a:latin typeface="JetBrains Mono"/>
                <a:ea typeface="JetBrains Mono"/>
                <a:cs typeface="JetBrains Mono"/>
                <a:sym typeface="JetBrains Mono"/>
              </a:rPr>
              <a:t>weight</a:t>
            </a:r>
            <a:r>
              <a:rPr b="1" lang="en" sz="1600">
                <a:solidFill>
                  <a:srgbClr val="8C9196"/>
                </a:solidFill>
                <a:highlight>
                  <a:schemeClr val="dk1"/>
                </a:highlight>
                <a:latin typeface="JetBrains Mono"/>
                <a:ea typeface="JetBrains Mono"/>
                <a:cs typeface="JetBrains Mono"/>
                <a:sym typeface="JetBrains Mono"/>
              </a:rPr>
              <a:t>;</a:t>
            </a:r>
            <a:endParaRPr b="1" sz="1600">
              <a:solidFill>
                <a:srgbClr val="8C9196"/>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600">
                <a:solidFill>
                  <a:srgbClr val="8C9196"/>
                </a:solidFill>
                <a:highlight>
                  <a:schemeClr val="dk1"/>
                </a:highlight>
                <a:latin typeface="JetBrains Mono"/>
                <a:ea typeface="JetBrains Mono"/>
                <a:cs typeface="JetBrains Mono"/>
                <a:sym typeface="JetBrains Mono"/>
              </a:rPr>
              <a:t>  </a:t>
            </a:r>
            <a:r>
              <a:rPr b="1" lang="en" sz="1600">
                <a:solidFill>
                  <a:srgbClr val="C393C3"/>
                </a:solidFill>
                <a:highlight>
                  <a:schemeClr val="dk1"/>
                </a:highlight>
                <a:latin typeface="JetBrains Mono"/>
                <a:ea typeface="JetBrains Mono"/>
                <a:cs typeface="JetBrains Mono"/>
                <a:sym typeface="JetBrains Mono"/>
              </a:rPr>
              <a:t>public </a:t>
            </a:r>
            <a:r>
              <a:rPr b="1" lang="en" sz="1600">
                <a:solidFill>
                  <a:srgbClr val="5EB2B2"/>
                </a:solidFill>
                <a:highlight>
                  <a:schemeClr val="dk1"/>
                </a:highlight>
                <a:latin typeface="JetBrains Mono"/>
                <a:ea typeface="JetBrains Mono"/>
                <a:cs typeface="JetBrains Mono"/>
                <a:sym typeface="JetBrains Mono"/>
              </a:rPr>
              <a:t>Rock </a:t>
            </a:r>
            <a:r>
              <a:rPr b="1" lang="en" sz="1600">
                <a:solidFill>
                  <a:srgbClr val="E2E3E4"/>
                </a:solidFill>
                <a:highlight>
                  <a:schemeClr val="dk1"/>
                </a:highlight>
                <a:latin typeface="JetBrains Mono"/>
                <a:ea typeface="JetBrains Mono"/>
                <a:cs typeface="JetBrains Mono"/>
                <a:sym typeface="JetBrains Mono"/>
              </a:rPr>
              <a:t>(</a:t>
            </a:r>
            <a:r>
              <a:rPr b="1" lang="en" sz="1600">
                <a:solidFill>
                  <a:srgbClr val="C393C3"/>
                </a:solidFill>
                <a:highlight>
                  <a:schemeClr val="dk1"/>
                </a:highlight>
                <a:latin typeface="JetBrains Mono"/>
                <a:ea typeface="JetBrains Mono"/>
                <a:cs typeface="JetBrains Mono"/>
                <a:sym typeface="JetBrains Mono"/>
              </a:rPr>
              <a:t>int </a:t>
            </a:r>
            <a:r>
              <a:rPr b="1" lang="en" sz="1600">
                <a:solidFill>
                  <a:srgbClr val="F8B662"/>
                </a:solidFill>
                <a:highlight>
                  <a:schemeClr val="dk1"/>
                </a:highlight>
                <a:latin typeface="JetBrains Mono"/>
                <a:ea typeface="JetBrains Mono"/>
                <a:cs typeface="JetBrains Mono"/>
                <a:sym typeface="JetBrains Mono"/>
              </a:rPr>
              <a:t>w</a:t>
            </a:r>
            <a:r>
              <a:rPr b="1" lang="en" sz="1600">
                <a:solidFill>
                  <a:srgbClr val="E2E3E4"/>
                </a:solidFill>
                <a:highlight>
                  <a:schemeClr val="dk1"/>
                </a:highlight>
                <a:latin typeface="JetBrains Mono"/>
                <a:ea typeface="JetBrains Mono"/>
                <a:cs typeface="JetBrains Mono"/>
                <a:sym typeface="JetBrains Mono"/>
              </a:rPr>
              <a:t>) { </a:t>
            </a:r>
            <a:endParaRPr b="1" sz="1600">
              <a:solidFill>
                <a:srgbClr val="E2E3E4"/>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600">
                <a:solidFill>
                  <a:srgbClr val="E2E3E4"/>
                </a:solidFill>
                <a:highlight>
                  <a:schemeClr val="dk1"/>
                </a:highlight>
                <a:latin typeface="JetBrains Mono"/>
                <a:ea typeface="JetBrains Mono"/>
                <a:cs typeface="JetBrains Mono"/>
                <a:sym typeface="JetBrains Mono"/>
              </a:rPr>
              <a:t>    weight </a:t>
            </a:r>
            <a:r>
              <a:rPr b="1" lang="en" sz="1600">
                <a:solidFill>
                  <a:srgbClr val="F48460"/>
                </a:solidFill>
                <a:highlight>
                  <a:schemeClr val="dk1"/>
                </a:highlight>
                <a:latin typeface="JetBrains Mono"/>
                <a:ea typeface="JetBrains Mono"/>
                <a:cs typeface="JetBrains Mono"/>
                <a:sym typeface="JetBrains Mono"/>
              </a:rPr>
              <a:t>= </a:t>
            </a:r>
            <a:r>
              <a:rPr b="1" lang="en" sz="1600">
                <a:solidFill>
                  <a:srgbClr val="F8B662"/>
                </a:solidFill>
                <a:highlight>
                  <a:schemeClr val="dk1"/>
                </a:highlight>
                <a:latin typeface="JetBrains Mono"/>
                <a:ea typeface="JetBrains Mono"/>
                <a:cs typeface="JetBrains Mono"/>
                <a:sym typeface="JetBrains Mono"/>
              </a:rPr>
              <a:t>w</a:t>
            </a:r>
            <a:r>
              <a:rPr b="1" lang="en" sz="1600">
                <a:solidFill>
                  <a:srgbClr val="8C9196"/>
                </a:solidFill>
                <a:highlight>
                  <a:schemeClr val="dk1"/>
                </a:highlight>
                <a:latin typeface="JetBrains Mono"/>
                <a:ea typeface="JetBrains Mono"/>
                <a:cs typeface="JetBrains Mono"/>
                <a:sym typeface="JetBrains Mono"/>
              </a:rPr>
              <a:t>; </a:t>
            </a:r>
            <a:endParaRPr b="1" sz="1600">
              <a:solidFill>
                <a:srgbClr val="8C9196"/>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600">
                <a:solidFill>
                  <a:srgbClr val="E2E3E4"/>
                </a:solidFill>
                <a:highlight>
                  <a:schemeClr val="dk1"/>
                </a:highlight>
                <a:latin typeface="JetBrains Mono"/>
                <a:ea typeface="JetBrains Mono"/>
                <a:cs typeface="JetBrains Mono"/>
                <a:sym typeface="JetBrains Mono"/>
              </a:rPr>
              <a:t>  }</a:t>
            </a:r>
            <a:endParaRPr b="1" sz="1600">
              <a:solidFill>
                <a:srgbClr val="E2E3E4"/>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600">
                <a:solidFill>
                  <a:srgbClr val="E2E3E4"/>
                </a:solidFill>
                <a:highlight>
                  <a:schemeClr val="dk1"/>
                </a:highlight>
                <a:latin typeface="JetBrains Mono"/>
                <a:ea typeface="JetBrains Mono"/>
                <a:cs typeface="JetBrains Mono"/>
                <a:sym typeface="JetBrains Mono"/>
              </a:rPr>
              <a:t>}</a:t>
            </a:r>
            <a:endParaRPr b="1" sz="1600">
              <a:latin typeface="Roboto"/>
              <a:ea typeface="Roboto"/>
              <a:cs typeface="Roboto"/>
              <a:sym typeface="Roboto"/>
            </a:endParaRPr>
          </a:p>
        </p:txBody>
      </p:sp>
      <p:sp>
        <p:nvSpPr>
          <p:cNvPr id="466" name="Google Shape;466;p63"/>
          <p:cNvSpPr txBox="1"/>
          <p:nvPr/>
        </p:nvSpPr>
        <p:spPr>
          <a:xfrm>
            <a:off x="107050" y="2778475"/>
            <a:ext cx="4119000" cy="1662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public class RocksBox {</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  public final Rock[] rocks;</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  public RocksBox (Rock[] rox) {</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    rocks = rox; </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  }</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a:t>
            </a:r>
            <a:endParaRPr b="1" sz="1600">
              <a:solidFill>
                <a:srgbClr val="999999"/>
              </a:solidFill>
              <a:highlight>
                <a:schemeClr val="dk1"/>
              </a:highlight>
              <a:latin typeface="Consolas"/>
              <a:ea typeface="Consolas"/>
              <a:cs typeface="Consolas"/>
              <a:sym typeface="Consolas"/>
            </a:endParaRPr>
          </a:p>
        </p:txBody>
      </p:sp>
      <p:sp>
        <p:nvSpPr>
          <p:cNvPr id="467" name="Google Shape;467;p63"/>
          <p:cNvSpPr txBox="1"/>
          <p:nvPr/>
        </p:nvSpPr>
        <p:spPr>
          <a:xfrm>
            <a:off x="4666150" y="2778475"/>
            <a:ext cx="4371000" cy="1662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public class SecretRocksBox {</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  private Rock[] rocks;</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  public SecretRocksBox(Rock[] rox) {</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    rocks = rox; </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  }</a:t>
            </a:r>
            <a:endParaRPr b="1" sz="1600">
              <a:solidFill>
                <a:srgbClr val="999999"/>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999999"/>
                </a:solidFill>
                <a:highlight>
                  <a:schemeClr val="dk1"/>
                </a:highlight>
                <a:latin typeface="Consolas"/>
                <a:ea typeface="Consolas"/>
                <a:cs typeface="Consolas"/>
                <a:sym typeface="Consolas"/>
              </a:rPr>
              <a:t>}</a:t>
            </a:r>
            <a:endParaRPr b="1" sz="1600">
              <a:solidFill>
                <a:srgbClr val="999999"/>
              </a:solidFill>
              <a:highlight>
                <a:schemeClr val="dk1"/>
              </a:highlight>
              <a:latin typeface="Consolas"/>
              <a:ea typeface="Consolas"/>
              <a:cs typeface="Consolas"/>
              <a:sym typeface="Consola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71" name="Shape 471"/>
        <p:cNvGrpSpPr/>
        <p:nvPr/>
      </p:nvGrpSpPr>
      <p:grpSpPr>
        <a:xfrm>
          <a:off x="0" y="0"/>
          <a:ext cx="0" cy="0"/>
          <a:chOff x="0" y="0"/>
          <a:chExt cx="0" cy="0"/>
        </a:xfrm>
      </p:grpSpPr>
      <p:sp>
        <p:nvSpPr>
          <p:cNvPr id="472" name="Google Shape;472;p6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Would We Make SecretRocksBox Immutable?</a:t>
            </a:r>
            <a:endParaRPr/>
          </a:p>
        </p:txBody>
      </p:sp>
      <p:sp>
        <p:nvSpPr>
          <p:cNvPr id="473" name="Google Shape;473;p64"/>
          <p:cNvSpPr txBox="1"/>
          <p:nvPr>
            <p:ph idx="1" type="body"/>
          </p:nvPr>
        </p:nvSpPr>
        <p:spPr>
          <a:xfrm>
            <a:off x="107050" y="402200"/>
            <a:ext cx="8520600" cy="711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Immutable: an instance cannot change in any observable way after instantiation.</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474" name="Google Shape;474;p64"/>
          <p:cNvSpPr txBox="1"/>
          <p:nvPr/>
        </p:nvSpPr>
        <p:spPr>
          <a:xfrm>
            <a:off x="4666150" y="2778475"/>
            <a:ext cx="4371000" cy="1662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public class </a:t>
            </a:r>
            <a:r>
              <a:rPr b="1" lang="en" sz="1600">
                <a:solidFill>
                  <a:srgbClr val="F8B662"/>
                </a:solidFill>
                <a:highlight>
                  <a:schemeClr val="dk1"/>
                </a:highlight>
                <a:latin typeface="Consolas"/>
                <a:ea typeface="Consolas"/>
                <a:cs typeface="Consolas"/>
                <a:sym typeface="Consolas"/>
              </a:rPr>
              <a:t>SecretRocksBox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private </a:t>
            </a: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rocks</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a:t>
            </a:r>
            <a:r>
              <a:rPr b="1" lang="en" sz="1600">
                <a:solidFill>
                  <a:srgbClr val="5EB2B2"/>
                </a:solidFill>
                <a:highlight>
                  <a:schemeClr val="dk1"/>
                </a:highlight>
                <a:latin typeface="Consolas"/>
                <a:ea typeface="Consolas"/>
                <a:cs typeface="Consolas"/>
                <a:sym typeface="Consolas"/>
              </a:rPr>
              <a:t>SecretRocksBox</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rox</a:t>
            </a: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rocks </a:t>
            </a:r>
            <a:r>
              <a:rPr b="1" lang="en" sz="1600">
                <a:solidFill>
                  <a:srgbClr val="F48460"/>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rox</a:t>
            </a:r>
            <a:r>
              <a:rPr b="1" lang="en" sz="1600">
                <a:solidFill>
                  <a:srgbClr val="8C9196"/>
                </a:solidFill>
                <a:highlight>
                  <a:schemeClr val="dk1"/>
                </a:highlight>
                <a:latin typeface="Consolas"/>
                <a:ea typeface="Consolas"/>
                <a:cs typeface="Consolas"/>
                <a:sym typeface="Consolas"/>
              </a:rPr>
              <a:t>; </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p:txBody>
      </p:sp>
      <p:sp>
        <p:nvSpPr>
          <p:cNvPr id="475" name="Google Shape;475;p64"/>
          <p:cNvSpPr txBox="1"/>
          <p:nvPr/>
        </p:nvSpPr>
        <p:spPr>
          <a:xfrm>
            <a:off x="103905" y="873151"/>
            <a:ext cx="430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Roboto"/>
                <a:ea typeface="Roboto"/>
                <a:cs typeface="Roboto"/>
                <a:sym typeface="Roboto"/>
              </a:rPr>
              <a:t>Example mutation:</a:t>
            </a:r>
            <a:endParaRPr sz="1800">
              <a:latin typeface="Roboto"/>
              <a:ea typeface="Roboto"/>
              <a:cs typeface="Roboto"/>
              <a:sym typeface="Roboto"/>
            </a:endParaRPr>
          </a:p>
        </p:txBody>
      </p:sp>
      <p:sp>
        <p:nvSpPr>
          <p:cNvPr id="476" name="Google Shape;476;p64"/>
          <p:cNvSpPr txBox="1"/>
          <p:nvPr/>
        </p:nvSpPr>
        <p:spPr>
          <a:xfrm>
            <a:off x="180100" y="1254775"/>
            <a:ext cx="5177700" cy="1416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Rock </a:t>
            </a:r>
            <a:r>
              <a:rPr b="1" lang="en" sz="1600">
                <a:solidFill>
                  <a:srgbClr val="E2E3E4"/>
                </a:solidFill>
                <a:highlight>
                  <a:schemeClr val="dk1"/>
                </a:highlight>
                <a:latin typeface="Consolas"/>
                <a:ea typeface="Consolas"/>
                <a:cs typeface="Consolas"/>
                <a:sym typeface="Consolas"/>
              </a:rPr>
              <a:t>r1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10</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Rock </a:t>
            </a:r>
            <a:r>
              <a:rPr b="1" lang="en" sz="1600">
                <a:solidFill>
                  <a:srgbClr val="E2E3E4"/>
                </a:solidFill>
                <a:highlight>
                  <a:schemeClr val="dk1"/>
                </a:highlight>
                <a:latin typeface="Consolas"/>
                <a:ea typeface="Consolas"/>
                <a:cs typeface="Consolas"/>
                <a:sym typeface="Consolas"/>
              </a:rPr>
              <a:t>r2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20</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rox </a:t>
            </a:r>
            <a:r>
              <a:rPr b="1" lang="en" sz="1600">
                <a:solidFill>
                  <a:srgbClr val="F48460"/>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{r1</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r2}</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Secret</a:t>
            </a:r>
            <a:r>
              <a:rPr b="1" lang="en" sz="1600">
                <a:solidFill>
                  <a:srgbClr val="E2E3E4"/>
                </a:solidFill>
                <a:highlight>
                  <a:schemeClr val="dk1"/>
                </a:highlight>
                <a:latin typeface="Consolas"/>
                <a:ea typeface="Consolas"/>
                <a:cs typeface="Consolas"/>
                <a:sym typeface="Consolas"/>
              </a:rPr>
              <a:t>RocksBox rb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E2E3E4"/>
                </a:solidFill>
                <a:highlight>
                  <a:schemeClr val="dk1"/>
                </a:highlight>
                <a:latin typeface="Consolas"/>
                <a:ea typeface="Consolas"/>
                <a:cs typeface="Consolas"/>
                <a:sym typeface="Consolas"/>
              </a:rPr>
              <a:t>SecretRocksBox(rox)</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rox[</a:t>
            </a:r>
            <a:r>
              <a:rPr b="1" lang="en" sz="1600">
                <a:solidFill>
                  <a:srgbClr val="F8B662"/>
                </a:solidFill>
                <a:highlight>
                  <a:schemeClr val="dk1"/>
                </a:highlight>
                <a:latin typeface="Consolas"/>
                <a:ea typeface="Consolas"/>
                <a:cs typeface="Consolas"/>
                <a:sym typeface="Consolas"/>
              </a:rPr>
              <a:t>0</a:t>
            </a:r>
            <a:r>
              <a:rPr b="1" lang="en" sz="1600">
                <a:solidFill>
                  <a:srgbClr val="E2E3E4"/>
                </a:solidFill>
                <a:highlight>
                  <a:schemeClr val="dk1"/>
                </a:highlight>
                <a:latin typeface="Consolas"/>
                <a:ea typeface="Consolas"/>
                <a:cs typeface="Consolas"/>
                <a:sym typeface="Consolas"/>
              </a:rPr>
              <a:t>] =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-999</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0" name="Shape 480"/>
        <p:cNvGrpSpPr/>
        <p:nvPr/>
      </p:nvGrpSpPr>
      <p:grpSpPr>
        <a:xfrm>
          <a:off x="0" y="0"/>
          <a:ext cx="0" cy="0"/>
          <a:chOff x="0" y="0"/>
          <a:chExt cx="0" cy="0"/>
        </a:xfrm>
      </p:grpSpPr>
      <p:sp>
        <p:nvSpPr>
          <p:cNvPr id="481" name="Google Shape;481;p6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Would We Make SecretRocksBox Immutable?</a:t>
            </a:r>
            <a:endParaRPr/>
          </a:p>
        </p:txBody>
      </p:sp>
      <p:sp>
        <p:nvSpPr>
          <p:cNvPr id="482" name="Google Shape;482;p65"/>
          <p:cNvSpPr txBox="1"/>
          <p:nvPr>
            <p:ph idx="1" type="body"/>
          </p:nvPr>
        </p:nvSpPr>
        <p:spPr>
          <a:xfrm>
            <a:off x="107050" y="402200"/>
            <a:ext cx="8520600" cy="711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 make SecretRocksBox immutable, we can make our own copy of the array.</a:t>
            </a:r>
            <a:endParaRPr/>
          </a:p>
          <a:p>
            <a:pPr indent="-342900" lvl="0" marL="457200" rtl="0" algn="l">
              <a:spcBef>
                <a:spcPts val="0"/>
              </a:spcBef>
              <a:spcAft>
                <a:spcPts val="0"/>
              </a:spcAft>
              <a:buSzPts val="1800"/>
              <a:buChar char="●"/>
            </a:pPr>
            <a:r>
              <a:rPr lang="en"/>
              <a:t>Example mutation fails!</a:t>
            </a:r>
            <a:endParaRPr/>
          </a:p>
        </p:txBody>
      </p:sp>
      <p:sp>
        <p:nvSpPr>
          <p:cNvPr id="483" name="Google Shape;483;p65"/>
          <p:cNvSpPr txBox="1"/>
          <p:nvPr/>
        </p:nvSpPr>
        <p:spPr>
          <a:xfrm>
            <a:off x="4258075" y="2626075"/>
            <a:ext cx="4302000" cy="2401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C393C3"/>
                </a:solidFill>
                <a:highlight>
                  <a:schemeClr val="dk1"/>
                </a:highlight>
                <a:latin typeface="Consolas"/>
                <a:ea typeface="Consolas"/>
                <a:cs typeface="Consolas"/>
                <a:sym typeface="Consolas"/>
              </a:rPr>
              <a:t>public class </a:t>
            </a:r>
            <a:r>
              <a:rPr b="1" lang="en" sz="1600">
                <a:solidFill>
                  <a:srgbClr val="F8B662"/>
                </a:solidFill>
                <a:highlight>
                  <a:schemeClr val="dk1"/>
                </a:highlight>
                <a:latin typeface="Consolas"/>
                <a:ea typeface="Consolas"/>
                <a:cs typeface="Consolas"/>
                <a:sym typeface="Consolas"/>
              </a:rPr>
              <a:t>SecretRocks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private </a:t>
            </a: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rocks</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8C9196"/>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public </a:t>
            </a:r>
            <a:r>
              <a:rPr b="1" lang="en" sz="1600">
                <a:solidFill>
                  <a:srgbClr val="5EB2B2"/>
                </a:solidFill>
                <a:highlight>
                  <a:schemeClr val="dk1"/>
                </a:highlight>
                <a:latin typeface="Consolas"/>
                <a:ea typeface="Consolas"/>
                <a:cs typeface="Consolas"/>
                <a:sym typeface="Consolas"/>
              </a:rPr>
              <a:t>SecretRocks</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rox</a:t>
            </a:r>
            <a:r>
              <a:rPr b="1" lang="en" sz="1600">
                <a:solidFill>
                  <a:srgbClr val="E2E3E4"/>
                </a:solidFill>
                <a:highlight>
                  <a:schemeClr val="dk1"/>
                </a:highlight>
                <a:latin typeface="Consolas"/>
                <a:ea typeface="Consolas"/>
                <a:cs typeface="Consolas"/>
                <a:sym typeface="Consolas"/>
              </a:rPr>
              <a:t>) {</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rocks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rox</a:t>
            </a:r>
            <a:r>
              <a:rPr b="1" lang="en" sz="1600">
                <a:solidFill>
                  <a:srgbClr val="8C9196"/>
                </a:solidFill>
                <a:highlight>
                  <a:schemeClr val="dk1"/>
                </a:highlight>
                <a:latin typeface="Consolas"/>
                <a:ea typeface="Consolas"/>
                <a:cs typeface="Consolas"/>
                <a:sym typeface="Consolas"/>
              </a:rPr>
              <a:t>.</a:t>
            </a:r>
            <a:r>
              <a:rPr b="1" lang="en" sz="1600">
                <a:solidFill>
                  <a:srgbClr val="E2E3E4"/>
                </a:solidFill>
                <a:highlight>
                  <a:schemeClr val="dk1"/>
                </a:highlight>
                <a:latin typeface="Consolas"/>
                <a:ea typeface="Consolas"/>
                <a:cs typeface="Consolas"/>
                <a:sym typeface="Consolas"/>
              </a:rPr>
              <a:t>length]</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8C9196"/>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System</a:t>
            </a:r>
            <a:r>
              <a:rPr b="1" lang="en" sz="1600">
                <a:solidFill>
                  <a:srgbClr val="8C9196"/>
                </a:solidFill>
                <a:highlight>
                  <a:schemeClr val="dk1"/>
                </a:highlight>
                <a:latin typeface="Consolas"/>
                <a:ea typeface="Consolas"/>
                <a:cs typeface="Consolas"/>
                <a:sym typeface="Consolas"/>
              </a:rPr>
              <a:t>.</a:t>
            </a:r>
            <a:r>
              <a:rPr b="1" lang="en" sz="1600">
                <a:solidFill>
                  <a:srgbClr val="E2E3E4"/>
                </a:solidFill>
                <a:highlight>
                  <a:schemeClr val="dk1"/>
                </a:highlight>
                <a:latin typeface="Consolas"/>
                <a:ea typeface="Consolas"/>
                <a:cs typeface="Consolas"/>
                <a:sym typeface="Consolas"/>
              </a:rPr>
              <a:t>arraycopy(</a:t>
            </a:r>
            <a:r>
              <a:rPr b="1" lang="en" sz="1600">
                <a:solidFill>
                  <a:srgbClr val="F8B662"/>
                </a:solidFill>
                <a:highlight>
                  <a:schemeClr val="dk1"/>
                </a:highlight>
                <a:latin typeface="Consolas"/>
                <a:ea typeface="Consolas"/>
                <a:cs typeface="Consolas"/>
                <a:sym typeface="Consolas"/>
              </a:rPr>
              <a:t>rox</a:t>
            </a:r>
            <a:r>
              <a:rPr b="1" lang="en" sz="1600">
                <a:solidFill>
                  <a:srgbClr val="8C9196"/>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0</a:t>
            </a:r>
            <a:r>
              <a:rPr b="1" lang="en" sz="1600">
                <a:solidFill>
                  <a:srgbClr val="8C9196"/>
                </a:solidFill>
                <a:highlight>
                  <a:schemeClr val="dk1"/>
                </a:highlight>
                <a:latin typeface="Consolas"/>
                <a:ea typeface="Consolas"/>
                <a:cs typeface="Consolas"/>
                <a:sym typeface="Consolas"/>
              </a:rPr>
              <a:t>, </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                        rocks</a:t>
            </a:r>
            <a:r>
              <a:rPr b="1" lang="en" sz="1600">
                <a:solidFill>
                  <a:srgbClr val="8C9196"/>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0</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8C9196"/>
                </a:solidFill>
                <a:highlight>
                  <a:schemeClr val="dk1"/>
                </a:highlight>
                <a:latin typeface="Consolas"/>
                <a:ea typeface="Consolas"/>
                <a:cs typeface="Consolas"/>
                <a:sym typeface="Consolas"/>
              </a:rPr>
              <a:t>                        </a:t>
            </a:r>
            <a:r>
              <a:rPr b="1" lang="en" sz="1600">
                <a:solidFill>
                  <a:srgbClr val="F8B662"/>
                </a:solidFill>
                <a:highlight>
                  <a:schemeClr val="dk1"/>
                </a:highlight>
                <a:latin typeface="Consolas"/>
                <a:ea typeface="Consolas"/>
                <a:cs typeface="Consolas"/>
                <a:sym typeface="Consolas"/>
              </a:rPr>
              <a:t>rox</a:t>
            </a:r>
            <a:r>
              <a:rPr b="1" lang="en" sz="1600">
                <a:solidFill>
                  <a:srgbClr val="8C9196"/>
                </a:solidFill>
                <a:highlight>
                  <a:schemeClr val="dk1"/>
                </a:highlight>
                <a:latin typeface="Consolas"/>
                <a:ea typeface="Consolas"/>
                <a:cs typeface="Consolas"/>
                <a:sym typeface="Consolas"/>
              </a:rPr>
              <a:t>.</a:t>
            </a:r>
            <a:r>
              <a:rPr b="1" lang="en" sz="1600">
                <a:solidFill>
                  <a:srgbClr val="E2E3E4"/>
                </a:solidFill>
                <a:highlight>
                  <a:schemeClr val="dk1"/>
                </a:highlight>
                <a:latin typeface="Consolas"/>
                <a:ea typeface="Consolas"/>
                <a:cs typeface="Consolas"/>
                <a:sym typeface="Consolas"/>
              </a:rPr>
              <a:t>length)</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a:t>
            </a:r>
            <a:endParaRPr b="1" sz="160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a:t>
            </a:r>
            <a:endParaRPr b="1" sz="1600">
              <a:solidFill>
                <a:srgbClr val="C393C3"/>
              </a:solidFill>
              <a:highlight>
                <a:schemeClr val="dk1"/>
              </a:highlight>
              <a:latin typeface="Consolas"/>
              <a:ea typeface="Consolas"/>
              <a:cs typeface="Consolas"/>
              <a:sym typeface="Consolas"/>
            </a:endParaRPr>
          </a:p>
        </p:txBody>
      </p:sp>
      <p:sp>
        <p:nvSpPr>
          <p:cNvPr id="484" name="Google Shape;484;p65"/>
          <p:cNvSpPr txBox="1"/>
          <p:nvPr/>
        </p:nvSpPr>
        <p:spPr>
          <a:xfrm>
            <a:off x="180100" y="1254775"/>
            <a:ext cx="5177700" cy="1416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Rock </a:t>
            </a:r>
            <a:r>
              <a:rPr b="1" lang="en" sz="1600">
                <a:solidFill>
                  <a:srgbClr val="E2E3E4"/>
                </a:solidFill>
                <a:highlight>
                  <a:schemeClr val="dk1"/>
                </a:highlight>
                <a:latin typeface="Consolas"/>
                <a:ea typeface="Consolas"/>
                <a:cs typeface="Consolas"/>
                <a:sym typeface="Consolas"/>
              </a:rPr>
              <a:t>r1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10</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Rock </a:t>
            </a:r>
            <a:r>
              <a:rPr b="1" lang="en" sz="1600">
                <a:solidFill>
                  <a:srgbClr val="E2E3E4"/>
                </a:solidFill>
                <a:highlight>
                  <a:schemeClr val="dk1"/>
                </a:highlight>
                <a:latin typeface="Consolas"/>
                <a:ea typeface="Consolas"/>
                <a:cs typeface="Consolas"/>
                <a:sym typeface="Consolas"/>
              </a:rPr>
              <a:t>r2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20</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F8B66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 rox </a:t>
            </a:r>
            <a:r>
              <a:rPr b="1" lang="en" sz="1600">
                <a:solidFill>
                  <a:srgbClr val="F48460"/>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{r1</a:t>
            </a:r>
            <a:r>
              <a:rPr b="1" lang="en" sz="1600">
                <a:solidFill>
                  <a:srgbClr val="8C9196"/>
                </a:solidFill>
                <a:highlight>
                  <a:schemeClr val="dk1"/>
                </a:highlight>
                <a:latin typeface="Consolas"/>
                <a:ea typeface="Consolas"/>
                <a:cs typeface="Consolas"/>
                <a:sym typeface="Consolas"/>
              </a:rPr>
              <a:t>, </a:t>
            </a:r>
            <a:r>
              <a:rPr b="1" lang="en" sz="1600">
                <a:solidFill>
                  <a:srgbClr val="E2E3E4"/>
                </a:solidFill>
                <a:highlight>
                  <a:schemeClr val="dk1"/>
                </a:highlight>
                <a:latin typeface="Consolas"/>
                <a:ea typeface="Consolas"/>
                <a:cs typeface="Consolas"/>
                <a:sym typeface="Consolas"/>
              </a:rPr>
              <a:t>r2}</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SecretRocksBox rb </a:t>
            </a:r>
            <a:r>
              <a:rPr b="1" lang="en" sz="1600">
                <a:solidFill>
                  <a:srgbClr val="F48460"/>
                </a:solidFill>
                <a:highlight>
                  <a:schemeClr val="dk1"/>
                </a:highlight>
                <a:latin typeface="Consolas"/>
                <a:ea typeface="Consolas"/>
                <a:cs typeface="Consolas"/>
                <a:sym typeface="Consolas"/>
              </a:rPr>
              <a:t>= </a:t>
            </a:r>
            <a:r>
              <a:rPr b="1" lang="en" sz="1600">
                <a:solidFill>
                  <a:srgbClr val="C393C3"/>
                </a:solidFill>
                <a:highlight>
                  <a:schemeClr val="dk1"/>
                </a:highlight>
                <a:latin typeface="Consolas"/>
                <a:ea typeface="Consolas"/>
                <a:cs typeface="Consolas"/>
                <a:sym typeface="Consolas"/>
              </a:rPr>
              <a:t>new </a:t>
            </a:r>
            <a:r>
              <a:rPr b="1" lang="en" sz="1600">
                <a:solidFill>
                  <a:srgbClr val="E2E3E4"/>
                </a:solidFill>
                <a:highlight>
                  <a:schemeClr val="dk1"/>
                </a:highlight>
                <a:latin typeface="Consolas"/>
                <a:ea typeface="Consolas"/>
                <a:cs typeface="Consolas"/>
                <a:sym typeface="Consolas"/>
              </a:rPr>
              <a:t>SecretRocksBox(rox)</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600">
                <a:solidFill>
                  <a:srgbClr val="E2E3E4"/>
                </a:solidFill>
                <a:highlight>
                  <a:schemeClr val="dk1"/>
                </a:highlight>
                <a:latin typeface="Consolas"/>
                <a:ea typeface="Consolas"/>
                <a:cs typeface="Consolas"/>
                <a:sym typeface="Consolas"/>
              </a:rPr>
              <a:t>rox[</a:t>
            </a:r>
            <a:r>
              <a:rPr b="1" lang="en" sz="1600">
                <a:solidFill>
                  <a:srgbClr val="F8B662"/>
                </a:solidFill>
                <a:highlight>
                  <a:schemeClr val="dk1"/>
                </a:highlight>
                <a:latin typeface="Consolas"/>
                <a:ea typeface="Consolas"/>
                <a:cs typeface="Consolas"/>
                <a:sym typeface="Consolas"/>
              </a:rPr>
              <a:t>0</a:t>
            </a:r>
            <a:r>
              <a:rPr b="1" lang="en" sz="1600">
                <a:solidFill>
                  <a:srgbClr val="E2E3E4"/>
                </a:solidFill>
                <a:highlight>
                  <a:schemeClr val="dk1"/>
                </a:highlight>
                <a:latin typeface="Consolas"/>
                <a:ea typeface="Consolas"/>
                <a:cs typeface="Consolas"/>
                <a:sym typeface="Consolas"/>
              </a:rPr>
              <a:t>] = </a:t>
            </a:r>
            <a:r>
              <a:rPr b="1" lang="en" sz="1600">
                <a:solidFill>
                  <a:srgbClr val="C393C3"/>
                </a:solidFill>
                <a:highlight>
                  <a:schemeClr val="dk1"/>
                </a:highlight>
                <a:latin typeface="Consolas"/>
                <a:ea typeface="Consolas"/>
                <a:cs typeface="Consolas"/>
                <a:sym typeface="Consolas"/>
              </a:rPr>
              <a:t>new </a:t>
            </a:r>
            <a:r>
              <a:rPr b="1" lang="en" sz="1600">
                <a:solidFill>
                  <a:srgbClr val="5EB2B2"/>
                </a:solidFill>
                <a:highlight>
                  <a:schemeClr val="dk1"/>
                </a:highlight>
                <a:latin typeface="Consolas"/>
                <a:ea typeface="Consolas"/>
                <a:cs typeface="Consolas"/>
                <a:sym typeface="Consolas"/>
              </a:rPr>
              <a:t>Rock</a:t>
            </a:r>
            <a:r>
              <a:rPr b="1" lang="en" sz="1600">
                <a:solidFill>
                  <a:srgbClr val="E2E3E4"/>
                </a:solidFill>
                <a:highlight>
                  <a:schemeClr val="dk1"/>
                </a:highlight>
                <a:latin typeface="Consolas"/>
                <a:ea typeface="Consolas"/>
                <a:cs typeface="Consolas"/>
                <a:sym typeface="Consolas"/>
              </a:rPr>
              <a:t>(</a:t>
            </a:r>
            <a:r>
              <a:rPr b="1" lang="en" sz="1600">
                <a:solidFill>
                  <a:srgbClr val="F8B662"/>
                </a:solidFill>
                <a:highlight>
                  <a:schemeClr val="dk1"/>
                </a:highlight>
                <a:latin typeface="Consolas"/>
                <a:ea typeface="Consolas"/>
                <a:cs typeface="Consolas"/>
                <a:sym typeface="Consolas"/>
              </a:rPr>
              <a:t>-999</a:t>
            </a:r>
            <a:r>
              <a:rPr b="1" lang="en" sz="1600">
                <a:solidFill>
                  <a:srgbClr val="E2E3E4"/>
                </a:solidFill>
                <a:highlight>
                  <a:schemeClr val="dk1"/>
                </a:highlight>
                <a:latin typeface="Consolas"/>
                <a:ea typeface="Consolas"/>
                <a:cs typeface="Consolas"/>
                <a:sym typeface="Consolas"/>
              </a:rPr>
              <a:t>)</a:t>
            </a:r>
            <a:r>
              <a:rPr b="1" lang="en" sz="1600">
                <a:solidFill>
                  <a:srgbClr val="8C9196"/>
                </a:solidFill>
                <a:highlight>
                  <a:schemeClr val="dk1"/>
                </a:highlight>
                <a:latin typeface="Consolas"/>
                <a:ea typeface="Consolas"/>
                <a:cs typeface="Consolas"/>
                <a:sym typeface="Consolas"/>
              </a:rPr>
              <a:t>;</a:t>
            </a:r>
            <a:endParaRPr b="1" sz="1600">
              <a:solidFill>
                <a:srgbClr val="8C9196"/>
              </a:solidFill>
              <a:highlight>
                <a:schemeClr val="dk1"/>
              </a:highlight>
              <a:latin typeface="Consolas"/>
              <a:ea typeface="Consolas"/>
              <a:cs typeface="Consolas"/>
              <a:sym typeface="Consola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Immutability</a:t>
            </a:r>
            <a:endParaRPr/>
          </a:p>
        </p:txBody>
      </p:sp>
      <p:sp>
        <p:nvSpPr>
          <p:cNvPr id="490" name="Google Shape;490;p6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Advantage: Less to think about: Avoids bugs and makes debugging easier.</a:t>
            </a:r>
            <a:endParaRPr/>
          </a:p>
          <a:p>
            <a:pPr indent="-342900" lvl="0" marL="457200" rtl="0" algn="l">
              <a:spcBef>
                <a:spcPts val="600"/>
              </a:spcBef>
              <a:spcAft>
                <a:spcPts val="0"/>
              </a:spcAft>
              <a:buSzPts val="1800"/>
              <a:buChar char="●"/>
            </a:pPr>
            <a:r>
              <a:rPr lang="en"/>
              <a:t>Analogy: Immutable classes have some buttons you can press / windows you can look inside. Results are ALWAYS the same, no matter what.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Disadvantage: Must create a new object anytime anything changes.</a:t>
            </a:r>
            <a:endParaRPr/>
          </a:p>
          <a:p>
            <a:pPr indent="-342900" lvl="0" marL="457200" rtl="0" algn="l">
              <a:spcBef>
                <a:spcPts val="600"/>
              </a:spcBef>
              <a:spcAft>
                <a:spcPts val="0"/>
              </a:spcAft>
              <a:buSzPts val="1800"/>
              <a:buChar char="●"/>
            </a:pPr>
            <a:r>
              <a:rPr lang="en"/>
              <a:t>Example: String concatenation is slow!</a:t>
            </a:r>
            <a:endParaRPr/>
          </a:p>
        </p:txBody>
      </p:sp>
      <p:sp>
        <p:nvSpPr>
          <p:cNvPr id="491" name="Google Shape;491;p66"/>
          <p:cNvSpPr/>
          <p:nvPr/>
        </p:nvSpPr>
        <p:spPr>
          <a:xfrm>
            <a:off x="3729650" y="3279941"/>
            <a:ext cx="2032200" cy="10119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2" name="Google Shape;492;p66"/>
          <p:cNvCxnSpPr/>
          <p:nvPr/>
        </p:nvCxnSpPr>
        <p:spPr>
          <a:xfrm rot="10800000">
            <a:off x="3281648" y="3873402"/>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493" name="Google Shape;493;p66"/>
          <p:cNvCxnSpPr/>
          <p:nvPr/>
        </p:nvCxnSpPr>
        <p:spPr>
          <a:xfrm rot="10800000">
            <a:off x="3293472" y="4088512"/>
            <a:ext cx="432300" cy="0"/>
          </a:xfrm>
          <a:prstGeom prst="straightConnector1">
            <a:avLst/>
          </a:prstGeom>
          <a:noFill/>
          <a:ln cap="flat" cmpd="sng" w="19050">
            <a:solidFill>
              <a:srgbClr val="666666"/>
            </a:solidFill>
            <a:prstDash val="solid"/>
            <a:round/>
            <a:headEnd len="med" w="med" type="none"/>
            <a:tailEnd len="med" w="med" type="none"/>
          </a:ln>
        </p:spPr>
      </p:cxnSp>
      <p:sp>
        <p:nvSpPr>
          <p:cNvPr id="494" name="Google Shape;494;p66"/>
          <p:cNvSpPr txBox="1"/>
          <p:nvPr/>
        </p:nvSpPr>
        <p:spPr>
          <a:xfrm>
            <a:off x="3711050" y="3219113"/>
            <a:ext cx="2151300" cy="9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charAt(int i)</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compareTo(String s)</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concat(String s)</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split(String r)</a:t>
            </a:r>
            <a:endParaRPr>
              <a:latin typeface="Consolas"/>
              <a:ea typeface="Consolas"/>
              <a:cs typeface="Consolas"/>
              <a:sym typeface="Consolas"/>
            </a:endParaRPr>
          </a:p>
        </p:txBody>
      </p:sp>
      <p:sp>
        <p:nvSpPr>
          <p:cNvPr id="495" name="Google Shape;495;p66"/>
          <p:cNvSpPr txBox="1"/>
          <p:nvPr/>
        </p:nvSpPr>
        <p:spPr>
          <a:xfrm>
            <a:off x="4102775" y="4291838"/>
            <a:ext cx="1300500" cy="38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String</a:t>
            </a:r>
            <a:endParaRPr/>
          </a:p>
        </p:txBody>
      </p:sp>
      <p:cxnSp>
        <p:nvCxnSpPr>
          <p:cNvPr id="496" name="Google Shape;496;p66"/>
          <p:cNvCxnSpPr/>
          <p:nvPr/>
        </p:nvCxnSpPr>
        <p:spPr>
          <a:xfrm rot="10800000">
            <a:off x="3288217" y="3443184"/>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497" name="Google Shape;497;p66"/>
          <p:cNvCxnSpPr/>
          <p:nvPr/>
        </p:nvCxnSpPr>
        <p:spPr>
          <a:xfrm rot="10800000">
            <a:off x="3293472" y="3658293"/>
            <a:ext cx="432300" cy="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7"/>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Visualization for Some Basic Cases</a:t>
            </a:r>
            <a:endParaRPr>
              <a:solidFill>
                <a:srgbClr val="B7B7B7"/>
              </a:solidFill>
            </a:endParaRPr>
          </a:p>
          <a:p>
            <a:pPr indent="0" lvl="0" marL="0" rtl="0" algn="l">
              <a:spcBef>
                <a:spcPts val="600"/>
              </a:spcBef>
              <a:spcAft>
                <a:spcPts val="0"/>
              </a:spcAft>
              <a:buNone/>
            </a:pPr>
            <a:r>
              <a:rPr lang="en">
                <a:solidFill>
                  <a:srgbClr val="B7B7B7"/>
                </a:solidFill>
              </a:rPr>
              <a:t>hashCode and Equals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Why Custom Hash Functions?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contains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Duplicate Values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The Danger of Mutable Keys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Mutable vs. Immutable Types</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Mutable Hash Table Keys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B7B7B7"/>
                </a:solidFill>
              </a:rPr>
              <a:t>A Peek into Java HashSets</a:t>
            </a:r>
            <a:endParaRPr>
              <a:solidFill>
                <a:srgbClr val="B7B7B7"/>
              </a:solidFill>
            </a:endParaRPr>
          </a:p>
        </p:txBody>
      </p:sp>
      <p:sp>
        <p:nvSpPr>
          <p:cNvPr id="503" name="Google Shape;503;p6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Mutable Hash Table Keys</a:t>
            </a:r>
            <a:endParaRPr/>
          </a:p>
        </p:txBody>
      </p:sp>
      <p:sp>
        <p:nvSpPr>
          <p:cNvPr id="504" name="Google Shape;504;p6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20, CS61B, Fall 2023</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Mutable HashSet Keys</a:t>
            </a:r>
            <a:endParaRPr/>
          </a:p>
        </p:txBody>
      </p:sp>
      <p:sp>
        <p:nvSpPr>
          <p:cNvPr id="510" name="Google Shape;510;p6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principle, we can create a </a:t>
            </a:r>
            <a:r>
              <a:rPr lang="en">
                <a:latin typeface="Consolas"/>
                <a:ea typeface="Consolas"/>
                <a:cs typeface="Consolas"/>
                <a:sym typeface="Consolas"/>
              </a:rPr>
              <a:t>HashSet&lt;List&gt;</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Weird stuff happens if:</a:t>
            </a:r>
            <a:endParaRPr/>
          </a:p>
          <a:p>
            <a:pPr indent="-342900" lvl="0" marL="457200" rtl="0" algn="l">
              <a:spcBef>
                <a:spcPts val="600"/>
              </a:spcBef>
              <a:spcAft>
                <a:spcPts val="0"/>
              </a:spcAft>
              <a:buSzPts val="1800"/>
              <a:buChar char="●"/>
            </a:pPr>
            <a:r>
              <a:rPr lang="en"/>
              <a:t>We insert a </a:t>
            </a:r>
            <a:r>
              <a:rPr lang="en">
                <a:latin typeface="Consolas"/>
                <a:ea typeface="Consolas"/>
                <a:cs typeface="Consolas"/>
                <a:sym typeface="Consolas"/>
              </a:rPr>
              <a:t>List</a:t>
            </a:r>
            <a:r>
              <a:rPr lang="en"/>
              <a:t> into a </a:t>
            </a:r>
            <a:r>
              <a:rPr lang="en">
                <a:latin typeface="Consolas"/>
                <a:ea typeface="Consolas"/>
                <a:cs typeface="Consolas"/>
                <a:sym typeface="Consolas"/>
              </a:rPr>
              <a:t>HashSet</a:t>
            </a:r>
            <a:r>
              <a:rPr lang="en"/>
              <a:t>.</a:t>
            </a:r>
            <a:endParaRPr/>
          </a:p>
          <a:p>
            <a:pPr indent="-342900" lvl="0" marL="457200" rtl="0" algn="l">
              <a:spcBef>
                <a:spcPts val="0"/>
              </a:spcBef>
              <a:spcAft>
                <a:spcPts val="0"/>
              </a:spcAft>
              <a:buSzPts val="1800"/>
              <a:buChar char="●"/>
            </a:pPr>
            <a:r>
              <a:rPr lang="en"/>
              <a:t>Later mutate that </a:t>
            </a:r>
            <a:r>
              <a:rPr lang="en">
                <a:latin typeface="Consolas"/>
                <a:ea typeface="Consolas"/>
                <a:cs typeface="Consolas"/>
                <a:sym typeface="Consolas"/>
              </a:rPr>
              <a:t>List</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6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hashCode</a:t>
            </a:r>
            <a:endParaRPr/>
          </a:p>
        </p:txBody>
      </p:sp>
      <p:sp>
        <p:nvSpPr>
          <p:cNvPr id="516" name="Google Shape;516;p6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Consider an ArrayList equal to [0, 1].</a:t>
            </a:r>
            <a:endParaRPr/>
          </a:p>
          <a:p>
            <a:pPr indent="-342900" lvl="0" marL="457200" rtl="0" algn="l">
              <a:spcBef>
                <a:spcPts val="600"/>
              </a:spcBef>
              <a:spcAft>
                <a:spcPts val="0"/>
              </a:spcAft>
              <a:buSzPts val="1800"/>
              <a:buChar char="●"/>
            </a:pPr>
            <a:r>
              <a:rPr lang="en"/>
              <a:t>Such a list has hashCode 962 (can compute using code shown).</a:t>
            </a:r>
            <a:endParaRPr/>
          </a:p>
        </p:txBody>
      </p:sp>
      <p:sp>
        <p:nvSpPr>
          <p:cNvPr id="517" name="Google Shape;517;p69"/>
          <p:cNvSpPr txBox="1"/>
          <p:nvPr/>
        </p:nvSpPr>
        <p:spPr>
          <a:xfrm>
            <a:off x="4241375" y="3890925"/>
            <a:ext cx="4896900" cy="1077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 </a:t>
            </a:r>
            <a:r>
              <a:rPr b="1" lang="en" sz="1450">
                <a:solidFill>
                  <a:srgbClr val="E2E3E4"/>
                </a:solidFill>
                <a:highlight>
                  <a:schemeClr val="dk1"/>
                </a:highlight>
                <a:latin typeface="Consolas"/>
                <a:ea typeface="Consolas"/>
                <a:cs typeface="Consolas"/>
                <a:sym typeface="Consolas"/>
              </a:rPr>
              <a:t>items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ArrayList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0</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1</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F8B662"/>
                </a:solidFill>
                <a:highlight>
                  <a:schemeClr val="dk1"/>
                </a:highlight>
                <a:latin typeface="Consolas"/>
                <a:ea typeface="Consolas"/>
                <a:cs typeface="Consolas"/>
                <a:sym typeface="Consolas"/>
              </a:rPr>
              <a:t>System</a:t>
            </a:r>
            <a:r>
              <a:rPr b="1" lang="en" sz="1450">
                <a:solidFill>
                  <a:srgbClr val="8C9196"/>
                </a:solidFill>
                <a:highlight>
                  <a:schemeClr val="dk1"/>
                </a:highlight>
                <a:latin typeface="Consolas"/>
                <a:ea typeface="Consolas"/>
                <a:cs typeface="Consolas"/>
                <a:sym typeface="Consolas"/>
              </a:rPr>
              <a:t>.</a:t>
            </a:r>
            <a:r>
              <a:rPr b="1" lang="en" sz="1450">
                <a:solidFill>
                  <a:srgbClr val="E2E3E4"/>
                </a:solidFill>
                <a:highlight>
                  <a:schemeClr val="dk1"/>
                </a:highlight>
                <a:latin typeface="Consolas"/>
                <a:ea typeface="Consolas"/>
                <a:cs typeface="Consolas"/>
                <a:sym typeface="Consolas"/>
              </a:rPr>
              <a:t>out</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println</a:t>
            </a: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hashCode</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7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a:t>
            </a:r>
            <a:endParaRPr/>
          </a:p>
        </p:txBody>
      </p:sp>
      <p:sp>
        <p:nvSpPr>
          <p:cNvPr id="523" name="Google Shape;523;p7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Consider an ArrayList equal to [0, 1].</a:t>
            </a:r>
            <a:endParaRPr/>
          </a:p>
          <a:p>
            <a:pPr indent="-342900" lvl="0" marL="457200" rtl="0" algn="l">
              <a:spcBef>
                <a:spcPts val="600"/>
              </a:spcBef>
              <a:spcAft>
                <a:spcPts val="0"/>
              </a:spcAft>
              <a:buSzPts val="1800"/>
              <a:buChar char="●"/>
            </a:pPr>
            <a:r>
              <a:rPr lang="en"/>
              <a:t>Such a list has hashCode 962 (can compute using code shown).</a:t>
            </a:r>
            <a:endParaRPr/>
          </a:p>
          <a:p>
            <a:pPr indent="0" lvl="0" marL="0" rtl="0" algn="l">
              <a:spcBef>
                <a:spcPts val="600"/>
              </a:spcBef>
              <a:spcAft>
                <a:spcPts val="0"/>
              </a:spcAft>
              <a:buNone/>
            </a:pPr>
            <a:br>
              <a:rPr lang="en"/>
            </a:br>
            <a:r>
              <a:rPr lang="en"/>
              <a:t>If we add this list to a HashSet with 4 buckets, it lands in bucket 2 (962 % 4 = 2).</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524" name="Google Shape;524;p70"/>
          <p:cNvSpPr txBox="1"/>
          <p:nvPr/>
        </p:nvSpPr>
        <p:spPr>
          <a:xfrm>
            <a:off x="3213950" y="3281325"/>
            <a:ext cx="5848200" cy="1746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 </a:t>
            </a:r>
            <a:r>
              <a:rPr b="1" lang="en" sz="1450">
                <a:solidFill>
                  <a:srgbClr val="E2E3E4"/>
                </a:solidFill>
                <a:highlight>
                  <a:schemeClr val="dk1"/>
                </a:highlight>
                <a:latin typeface="Consolas"/>
                <a:ea typeface="Consolas"/>
                <a:cs typeface="Consolas"/>
                <a:sym typeface="Consolas"/>
              </a:rPr>
              <a:t>items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ArrayList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0</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1</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F8B662"/>
                </a:solidFill>
                <a:highlight>
                  <a:schemeClr val="dk1"/>
                </a:highlight>
                <a:latin typeface="Consolas"/>
                <a:ea typeface="Consolas"/>
                <a:cs typeface="Consolas"/>
                <a:sym typeface="Consolas"/>
              </a:rPr>
              <a:t>System</a:t>
            </a:r>
            <a:r>
              <a:rPr b="1" lang="en" sz="1450">
                <a:solidFill>
                  <a:srgbClr val="8C9196"/>
                </a:solidFill>
                <a:highlight>
                  <a:schemeClr val="dk1"/>
                </a:highlight>
                <a:latin typeface="Consolas"/>
                <a:ea typeface="Consolas"/>
                <a:cs typeface="Consolas"/>
                <a:sym typeface="Consolas"/>
              </a:rPr>
              <a:t>.</a:t>
            </a:r>
            <a:r>
              <a:rPr b="1" lang="en" sz="1450">
                <a:solidFill>
                  <a:srgbClr val="E2E3E4"/>
                </a:solidFill>
                <a:highlight>
                  <a:schemeClr val="dk1"/>
                </a:highlight>
                <a:latin typeface="Consolas"/>
                <a:ea typeface="Consolas"/>
                <a:cs typeface="Consolas"/>
                <a:sym typeface="Consolas"/>
              </a:rPr>
              <a:t>out</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println</a:t>
            </a: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hashCode</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F8B662"/>
                </a:solidFill>
                <a:highlight>
                  <a:schemeClr val="dk1"/>
                </a:highlight>
                <a:latin typeface="JetBrains Mono"/>
                <a:ea typeface="JetBrains Mono"/>
                <a:cs typeface="JetBrains Mono"/>
                <a:sym typeface="JetBrains Mono"/>
              </a:rPr>
              <a:t>HashSet</a:t>
            </a:r>
            <a:r>
              <a:rPr b="1" lang="en" sz="1450">
                <a:solidFill>
                  <a:srgbClr val="F48460"/>
                </a:solidFill>
                <a:highlight>
                  <a:schemeClr val="dk1"/>
                </a:highlight>
                <a:latin typeface="JetBrains Mono"/>
                <a:ea typeface="JetBrains Mono"/>
                <a:cs typeface="JetBrains Mono"/>
                <a:sym typeface="JetBrains Mono"/>
              </a:rPr>
              <a:t>&lt;</a:t>
            </a:r>
            <a:r>
              <a:rPr b="1" lang="en" sz="1450">
                <a:solidFill>
                  <a:srgbClr val="EC696E"/>
                </a:solidFill>
                <a:highlight>
                  <a:schemeClr val="dk1"/>
                </a:highlight>
                <a:latin typeface="JetBrains Mono"/>
                <a:ea typeface="JetBrains Mono"/>
                <a:cs typeface="JetBrains Mono"/>
                <a:sym typeface="JetBrains Mono"/>
              </a:rPr>
              <a:t>List</a:t>
            </a:r>
            <a:r>
              <a:rPr b="1" lang="en" sz="1450">
                <a:solidFill>
                  <a:srgbClr val="F48460"/>
                </a:solidFill>
                <a:highlight>
                  <a:schemeClr val="dk1"/>
                </a:highlight>
                <a:latin typeface="JetBrains Mono"/>
                <a:ea typeface="JetBrains Mono"/>
                <a:cs typeface="JetBrains Mono"/>
                <a:sym typeface="JetBrains Mono"/>
              </a:rPr>
              <a:t>&lt;</a:t>
            </a:r>
            <a:r>
              <a:rPr b="1" lang="en" sz="1450">
                <a:solidFill>
                  <a:srgbClr val="F8B662"/>
                </a:solidFill>
                <a:highlight>
                  <a:schemeClr val="dk1"/>
                </a:highlight>
                <a:latin typeface="JetBrains Mono"/>
                <a:ea typeface="JetBrains Mono"/>
                <a:cs typeface="JetBrains Mono"/>
                <a:sym typeface="JetBrains Mono"/>
              </a:rPr>
              <a:t>Integer</a:t>
            </a:r>
            <a:r>
              <a:rPr b="1" lang="en" sz="1450">
                <a:solidFill>
                  <a:srgbClr val="F48460"/>
                </a:solidFill>
                <a:highlight>
                  <a:schemeClr val="dk1"/>
                </a:highlight>
                <a:latin typeface="JetBrains Mono"/>
                <a:ea typeface="JetBrains Mono"/>
                <a:cs typeface="JetBrains Mono"/>
                <a:sym typeface="JetBrains Mono"/>
              </a:rPr>
              <a:t>&gt;&gt; </a:t>
            </a:r>
            <a:r>
              <a:rPr b="1" lang="en" sz="1450">
                <a:solidFill>
                  <a:srgbClr val="E2E3E4"/>
                </a:solidFill>
                <a:highlight>
                  <a:schemeClr val="dk1"/>
                </a:highlight>
                <a:latin typeface="JetBrains Mono"/>
                <a:ea typeface="JetBrains Mono"/>
                <a:cs typeface="JetBrains Mono"/>
                <a:sym typeface="JetBrains Mono"/>
              </a:rPr>
              <a:t>hs </a:t>
            </a:r>
            <a:r>
              <a:rPr b="1" lang="en" sz="1450">
                <a:solidFill>
                  <a:srgbClr val="F48460"/>
                </a:solidFill>
                <a:highlight>
                  <a:schemeClr val="dk1"/>
                </a:highlight>
                <a:latin typeface="JetBrains Mono"/>
                <a:ea typeface="JetBrains Mono"/>
                <a:cs typeface="JetBrains Mono"/>
                <a:sym typeface="JetBrains Mono"/>
              </a:rPr>
              <a:t>= </a:t>
            </a:r>
            <a:r>
              <a:rPr b="1" lang="en" sz="1450">
                <a:solidFill>
                  <a:srgbClr val="C393C3"/>
                </a:solidFill>
                <a:highlight>
                  <a:schemeClr val="dk1"/>
                </a:highlight>
                <a:latin typeface="JetBrains Mono"/>
                <a:ea typeface="JetBrains Mono"/>
                <a:cs typeface="JetBrains Mono"/>
                <a:sym typeface="JetBrains Mono"/>
              </a:rPr>
              <a:t>new </a:t>
            </a:r>
            <a:r>
              <a:rPr b="1" lang="en" sz="1450">
                <a:solidFill>
                  <a:srgbClr val="5EB2B2"/>
                </a:solidFill>
                <a:highlight>
                  <a:schemeClr val="dk1"/>
                </a:highlight>
                <a:latin typeface="JetBrains Mono"/>
                <a:ea typeface="JetBrains Mono"/>
                <a:cs typeface="JetBrains Mono"/>
                <a:sym typeface="JetBrains Mono"/>
              </a:rPr>
              <a:t>HashSet</a:t>
            </a:r>
            <a:r>
              <a:rPr b="1" lang="en" sz="1450">
                <a:solidFill>
                  <a:srgbClr val="F48460"/>
                </a:solidFill>
                <a:highlight>
                  <a:schemeClr val="dk1"/>
                </a:highlight>
                <a:latin typeface="JetBrains Mono"/>
                <a:ea typeface="JetBrains Mono"/>
                <a:cs typeface="JetBrains Mono"/>
                <a:sym typeface="JetBrains Mono"/>
              </a:rPr>
              <a:t>&lt;&gt;</a:t>
            </a:r>
            <a:r>
              <a:rPr b="1" lang="en" sz="1450">
                <a:solidFill>
                  <a:srgbClr val="E2E3E4"/>
                </a:solidFill>
                <a:highlight>
                  <a:schemeClr val="dk1"/>
                </a:highlight>
                <a:latin typeface="JetBrains Mono"/>
                <a:ea typeface="JetBrains Mono"/>
                <a:cs typeface="JetBrains Mono"/>
                <a:sym typeface="JetBrains Mono"/>
              </a:rPr>
              <a:t>()</a:t>
            </a:r>
            <a:r>
              <a:rPr b="1" lang="en" sz="1450">
                <a:solidFill>
                  <a:srgbClr val="8C9196"/>
                </a:solidFill>
                <a:highlight>
                  <a:schemeClr val="dk1"/>
                </a:highlight>
                <a:latin typeface="JetBrains Mono"/>
                <a:ea typeface="JetBrains Mono"/>
                <a:cs typeface="JetBrains Mono"/>
                <a:sym typeface="JetBrains Mono"/>
              </a:rPr>
              <a:t>;</a:t>
            </a:r>
            <a:endParaRPr b="1" sz="1450">
              <a:solidFill>
                <a:srgbClr val="8C9196"/>
              </a:solidFill>
              <a:highlight>
                <a:schemeClr val="dk1"/>
              </a:highlight>
              <a:latin typeface="JetBrains Mono"/>
              <a:ea typeface="JetBrains Mono"/>
              <a:cs typeface="JetBrains Mono"/>
              <a:sym typeface="JetBrains Mono"/>
            </a:endParaRPr>
          </a:p>
          <a:p>
            <a:pPr indent="0" lvl="0" marL="0" rtl="0" algn="l">
              <a:spcBef>
                <a:spcPts val="0"/>
              </a:spcBef>
              <a:spcAft>
                <a:spcPts val="0"/>
              </a:spcAft>
              <a:buNone/>
            </a:pPr>
            <a:r>
              <a:rPr b="1" lang="en" sz="1450">
                <a:solidFill>
                  <a:srgbClr val="E2E3E4"/>
                </a:solidFill>
                <a:highlight>
                  <a:schemeClr val="dk1"/>
                </a:highlight>
                <a:latin typeface="JetBrains Mono"/>
                <a:ea typeface="JetBrains Mono"/>
                <a:cs typeface="JetBrains Mono"/>
                <a:sym typeface="JetBrains Mono"/>
              </a:rPr>
              <a:t>hs</a:t>
            </a:r>
            <a:r>
              <a:rPr b="1" lang="en" sz="1450">
                <a:solidFill>
                  <a:srgbClr val="8C9196"/>
                </a:solidFill>
                <a:highlight>
                  <a:schemeClr val="dk1"/>
                </a:highlight>
                <a:latin typeface="JetBrains Mono"/>
                <a:ea typeface="JetBrains Mono"/>
                <a:cs typeface="JetBrains Mono"/>
                <a:sym typeface="JetBrains Mono"/>
              </a:rPr>
              <a:t>.</a:t>
            </a:r>
            <a:r>
              <a:rPr b="1" lang="en" sz="1450">
                <a:solidFill>
                  <a:srgbClr val="5EB2B2"/>
                </a:solidFill>
                <a:highlight>
                  <a:schemeClr val="dk1"/>
                </a:highlight>
                <a:latin typeface="JetBrains Mono"/>
                <a:ea typeface="JetBrains Mono"/>
                <a:cs typeface="JetBrains Mono"/>
                <a:sym typeface="JetBrains Mono"/>
              </a:rPr>
              <a:t>add</a:t>
            </a:r>
            <a:r>
              <a:rPr b="1" lang="en" sz="1450">
                <a:solidFill>
                  <a:srgbClr val="E2E3E4"/>
                </a:solidFill>
                <a:highlight>
                  <a:schemeClr val="dk1"/>
                </a:highlight>
                <a:latin typeface="JetBrains Mono"/>
                <a:ea typeface="JetBrains Mono"/>
                <a:cs typeface="JetBrains Mono"/>
                <a:sym typeface="JetBrains Mono"/>
              </a:rPr>
              <a:t>(items)</a:t>
            </a:r>
            <a:r>
              <a:rPr b="1" lang="en" sz="1450">
                <a:solidFill>
                  <a:srgbClr val="8C9196"/>
                </a:solidFill>
                <a:highlight>
                  <a:schemeClr val="dk1"/>
                </a:highlight>
                <a:latin typeface="JetBrains Mono"/>
                <a:ea typeface="JetBrains Mono"/>
                <a:cs typeface="JetBrains Mono"/>
                <a:sym typeface="JetBrains Mono"/>
              </a:rPr>
              <a:t>;</a:t>
            </a:r>
            <a:endParaRPr b="1" sz="1450">
              <a:solidFill>
                <a:srgbClr val="8C9196"/>
              </a:solidFill>
              <a:highlight>
                <a:schemeClr val="dk1"/>
              </a:highlight>
              <a:latin typeface="Consolas"/>
              <a:ea typeface="Consolas"/>
              <a:cs typeface="Consolas"/>
              <a:sym typeface="Consolas"/>
            </a:endParaRPr>
          </a:p>
        </p:txBody>
      </p:sp>
      <p:grpSp>
        <p:nvGrpSpPr>
          <p:cNvPr id="525" name="Google Shape;525;p70"/>
          <p:cNvGrpSpPr/>
          <p:nvPr/>
        </p:nvGrpSpPr>
        <p:grpSpPr>
          <a:xfrm>
            <a:off x="5044516" y="2693073"/>
            <a:ext cx="335400" cy="237000"/>
            <a:chOff x="1911775" y="4636234"/>
            <a:chExt cx="335400" cy="237000"/>
          </a:xfrm>
        </p:grpSpPr>
        <p:sp>
          <p:nvSpPr>
            <p:cNvPr id="526" name="Google Shape;526;p70"/>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27" name="Google Shape;527;p70"/>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528" name="Google Shape;528;p70"/>
          <p:cNvSpPr/>
          <p:nvPr/>
        </p:nvSpPr>
        <p:spPr>
          <a:xfrm>
            <a:off x="5044516" y="2459218"/>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529" name="Google Shape;529;p70"/>
          <p:cNvGrpSpPr/>
          <p:nvPr/>
        </p:nvGrpSpPr>
        <p:grpSpPr>
          <a:xfrm>
            <a:off x="5044516" y="2218794"/>
            <a:ext cx="335400" cy="237000"/>
            <a:chOff x="1911775" y="4636234"/>
            <a:chExt cx="335400" cy="237000"/>
          </a:xfrm>
        </p:grpSpPr>
        <p:sp>
          <p:nvSpPr>
            <p:cNvPr id="530" name="Google Shape;530;p70"/>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31" name="Google Shape;531;p70"/>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532" name="Google Shape;532;p70"/>
          <p:cNvSpPr/>
          <p:nvPr/>
        </p:nvSpPr>
        <p:spPr>
          <a:xfrm>
            <a:off x="5044516" y="1984939"/>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533" name="Google Shape;533;p70"/>
          <p:cNvSpPr txBox="1"/>
          <p:nvPr/>
        </p:nvSpPr>
        <p:spPr>
          <a:xfrm>
            <a:off x="4597250" y="1937525"/>
            <a:ext cx="438600" cy="1071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cxnSp>
        <p:nvCxnSpPr>
          <p:cNvPr id="534" name="Google Shape;534;p70"/>
          <p:cNvCxnSpPr/>
          <p:nvPr/>
        </p:nvCxnSpPr>
        <p:spPr>
          <a:xfrm flipH="1" rot="10800000">
            <a:off x="5209328" y="2569152"/>
            <a:ext cx="368700" cy="4800"/>
          </a:xfrm>
          <a:prstGeom prst="straightConnector1">
            <a:avLst/>
          </a:prstGeom>
          <a:noFill/>
          <a:ln cap="flat" cmpd="sng" w="19050">
            <a:solidFill>
              <a:srgbClr val="666666"/>
            </a:solidFill>
            <a:prstDash val="solid"/>
            <a:round/>
            <a:headEnd len="med" w="med" type="none"/>
            <a:tailEnd len="med" w="med" type="triangle"/>
          </a:ln>
        </p:spPr>
      </p:cxnSp>
      <p:sp>
        <p:nvSpPr>
          <p:cNvPr id="535" name="Google Shape;535;p70"/>
          <p:cNvSpPr/>
          <p:nvPr/>
        </p:nvSpPr>
        <p:spPr>
          <a:xfrm>
            <a:off x="5578024" y="2433450"/>
            <a:ext cx="6537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36" name="Google Shape;536;p70"/>
          <p:cNvCxnSpPr/>
          <p:nvPr/>
        </p:nvCxnSpPr>
        <p:spPr>
          <a:xfrm flipH="1" rot="10800000">
            <a:off x="5045275" y="2001540"/>
            <a:ext cx="333900" cy="192900"/>
          </a:xfrm>
          <a:prstGeom prst="straightConnector1">
            <a:avLst/>
          </a:prstGeom>
          <a:noFill/>
          <a:ln cap="flat" cmpd="sng" w="19050">
            <a:solidFill>
              <a:srgbClr val="666666"/>
            </a:solidFill>
            <a:prstDash val="solid"/>
            <a:round/>
            <a:headEnd len="med" w="med" type="none"/>
            <a:tailEnd len="med" w="med" type="none"/>
          </a:ln>
        </p:spPr>
      </p:cxnSp>
      <p:sp>
        <p:nvSpPr>
          <p:cNvPr id="537" name="Google Shape;537;p70"/>
          <p:cNvSpPr/>
          <p:nvPr/>
        </p:nvSpPr>
        <p:spPr>
          <a:xfrm>
            <a:off x="6240500" y="2873950"/>
            <a:ext cx="8271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 1]</a:t>
            </a:r>
            <a:endParaRPr>
              <a:latin typeface="Consolas"/>
              <a:ea typeface="Consolas"/>
              <a:cs typeface="Consolas"/>
              <a:sym typeface="Consolas"/>
            </a:endParaRPr>
          </a:p>
        </p:txBody>
      </p:sp>
      <p:sp>
        <p:nvSpPr>
          <p:cNvPr id="538" name="Google Shape;538;p70"/>
          <p:cNvSpPr txBox="1"/>
          <p:nvPr/>
        </p:nvSpPr>
        <p:spPr>
          <a:xfrm>
            <a:off x="5535830" y="2363778"/>
            <a:ext cx="3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539" name="Google Shape;539;p70"/>
          <p:cNvCxnSpPr>
            <a:stCxn id="538" idx="3"/>
            <a:endCxn id="537" idx="1"/>
          </p:cNvCxnSpPr>
          <p:nvPr/>
        </p:nvCxnSpPr>
        <p:spPr>
          <a:xfrm>
            <a:off x="5904530" y="2563878"/>
            <a:ext cx="336000" cy="437400"/>
          </a:xfrm>
          <a:prstGeom prst="curvedConnector3">
            <a:avLst>
              <a:gd fmla="val 49996"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a:t>
            </a:r>
            <a:endParaRPr/>
          </a:p>
        </p:txBody>
      </p:sp>
      <p:sp>
        <p:nvSpPr>
          <p:cNvPr id="545" name="Google Shape;545;p71"/>
          <p:cNvSpPr txBox="1"/>
          <p:nvPr>
            <p:ph idx="1" type="body"/>
          </p:nvPr>
        </p:nvSpPr>
        <p:spPr>
          <a:xfrm>
            <a:off x="107050" y="402200"/>
            <a:ext cx="8479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First, we added [0, 1], which had hashCode 962, and </a:t>
            </a:r>
            <a:r>
              <a:rPr lang="en"/>
              <a:t>landed in bucket 2.</a:t>
            </a:r>
            <a:endParaRPr/>
          </a:p>
          <a:p>
            <a:pPr indent="-342900" lvl="0" marL="457200" rtl="0" algn="l">
              <a:spcBef>
                <a:spcPts val="600"/>
              </a:spcBef>
              <a:spcAft>
                <a:spcPts val="0"/>
              </a:spcAft>
              <a:buSzPts val="1800"/>
              <a:buChar char="●"/>
            </a:pPr>
            <a:r>
              <a:rPr lang="en"/>
              <a:t>Suppose we now add the list [2, 3]. This list has hashCode 1026, which also lands in bucket 2. </a:t>
            </a:r>
            <a:endParaRPr/>
          </a:p>
        </p:txBody>
      </p:sp>
      <p:sp>
        <p:nvSpPr>
          <p:cNvPr id="546" name="Google Shape;546;p71"/>
          <p:cNvSpPr txBox="1"/>
          <p:nvPr/>
        </p:nvSpPr>
        <p:spPr>
          <a:xfrm>
            <a:off x="3213950" y="3281325"/>
            <a:ext cx="5848200" cy="15237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 </a:t>
            </a:r>
            <a:r>
              <a:rPr b="1" lang="en" sz="1450">
                <a:solidFill>
                  <a:srgbClr val="E2E3E4"/>
                </a:solidFill>
                <a:highlight>
                  <a:schemeClr val="dk1"/>
                </a:highlight>
                <a:latin typeface="Consolas"/>
                <a:ea typeface="Consolas"/>
                <a:cs typeface="Consolas"/>
                <a:sym typeface="Consolas"/>
              </a:rPr>
              <a:t>items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ArrayList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0</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1</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F8B662"/>
                </a:solidFill>
                <a:highlight>
                  <a:schemeClr val="dk1"/>
                </a:highlight>
                <a:latin typeface="Consolas"/>
                <a:ea typeface="Consolas"/>
                <a:cs typeface="Consolas"/>
                <a:sym typeface="Consolas"/>
              </a:rPr>
              <a:t>HashSet</a:t>
            </a:r>
            <a:r>
              <a:rPr b="1" lang="en" sz="1450">
                <a:solidFill>
                  <a:srgbClr val="F48460"/>
                </a:solidFill>
                <a:highlight>
                  <a:schemeClr val="dk1"/>
                </a:highlight>
                <a:latin typeface="Consolas"/>
                <a:ea typeface="Consolas"/>
                <a:cs typeface="Consolas"/>
                <a:sym typeface="Consolas"/>
              </a:rPr>
              <a:t>&lt;</a:t>
            </a: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&gt;&gt; </a:t>
            </a:r>
            <a:r>
              <a:rPr b="1" lang="en" sz="1450">
                <a:solidFill>
                  <a:srgbClr val="E2E3E4"/>
                </a:solidFill>
                <a:highlight>
                  <a:schemeClr val="dk1"/>
                </a:highlight>
                <a:latin typeface="Consolas"/>
                <a:ea typeface="Consolas"/>
                <a:cs typeface="Consolas"/>
                <a:sym typeface="Consolas"/>
              </a:rPr>
              <a:t>hs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HashSet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EC696E"/>
                </a:solidFill>
                <a:highlight>
                  <a:schemeClr val="dk1"/>
                </a:highlight>
                <a:latin typeface="Consolas"/>
                <a:ea typeface="Consolas"/>
                <a:cs typeface="Consolas"/>
                <a:sym typeface="Consolas"/>
              </a:rPr>
              <a:t>List</a:t>
            </a:r>
            <a:r>
              <a:rPr b="1" lang="en" sz="1450">
                <a:solidFill>
                  <a:srgbClr val="8C9196"/>
                </a:solidFill>
                <a:highlight>
                  <a:schemeClr val="dk1"/>
                </a:highlight>
                <a:latin typeface="Consolas"/>
                <a:ea typeface="Consolas"/>
                <a:cs typeface="Consolas"/>
                <a:sym typeface="Consolas"/>
              </a:rPr>
              <a:t>.</a:t>
            </a:r>
            <a:r>
              <a:rPr b="1" lang="en" sz="1450">
                <a:solidFill>
                  <a:srgbClr val="E2E3E4"/>
                </a:solidFill>
                <a:highlight>
                  <a:schemeClr val="dk1"/>
                </a:highlight>
                <a:latin typeface="Consolas"/>
                <a:ea typeface="Consolas"/>
                <a:cs typeface="Consolas"/>
                <a:sym typeface="Consolas"/>
              </a:rPr>
              <a:t>of(</a:t>
            </a:r>
            <a:r>
              <a:rPr b="1" lang="en" sz="1450">
                <a:solidFill>
                  <a:srgbClr val="F8B662"/>
                </a:solidFill>
                <a:highlight>
                  <a:schemeClr val="dk1"/>
                </a:highlight>
                <a:latin typeface="Consolas"/>
                <a:ea typeface="Consolas"/>
                <a:cs typeface="Consolas"/>
                <a:sym typeface="Consolas"/>
              </a:rPr>
              <a:t>2</a:t>
            </a:r>
            <a:r>
              <a:rPr b="1" lang="en" sz="1450">
                <a:solidFill>
                  <a:srgbClr val="8C9196"/>
                </a:solidFill>
                <a:highlight>
                  <a:schemeClr val="dk1"/>
                </a:highlight>
                <a:latin typeface="Consolas"/>
                <a:ea typeface="Consolas"/>
                <a:cs typeface="Consolas"/>
                <a:sym typeface="Consolas"/>
              </a:rPr>
              <a:t>, </a:t>
            </a:r>
            <a:r>
              <a:rPr b="1" lang="en" sz="1450">
                <a:solidFill>
                  <a:srgbClr val="F8B662"/>
                </a:solidFill>
                <a:highlight>
                  <a:schemeClr val="dk1"/>
                </a:highlight>
                <a:latin typeface="Consolas"/>
                <a:ea typeface="Consolas"/>
                <a:cs typeface="Consolas"/>
                <a:sym typeface="Consolas"/>
              </a:rPr>
              <a:t>3</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E2E3E4"/>
              </a:solidFill>
              <a:highlight>
                <a:schemeClr val="dk1"/>
              </a:highlight>
              <a:latin typeface="Consolas"/>
              <a:ea typeface="Consolas"/>
              <a:cs typeface="Consolas"/>
              <a:sym typeface="Consolas"/>
            </a:endParaRPr>
          </a:p>
        </p:txBody>
      </p:sp>
      <p:grpSp>
        <p:nvGrpSpPr>
          <p:cNvPr id="547" name="Google Shape;547;p71"/>
          <p:cNvGrpSpPr/>
          <p:nvPr/>
        </p:nvGrpSpPr>
        <p:grpSpPr>
          <a:xfrm>
            <a:off x="5044516" y="2693073"/>
            <a:ext cx="335400" cy="237000"/>
            <a:chOff x="1911775" y="4636234"/>
            <a:chExt cx="335400" cy="237000"/>
          </a:xfrm>
        </p:grpSpPr>
        <p:sp>
          <p:nvSpPr>
            <p:cNvPr id="548" name="Google Shape;548;p71"/>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49" name="Google Shape;549;p71"/>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550" name="Google Shape;550;p71"/>
          <p:cNvSpPr/>
          <p:nvPr/>
        </p:nvSpPr>
        <p:spPr>
          <a:xfrm>
            <a:off x="5044516" y="2459218"/>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551" name="Google Shape;551;p71"/>
          <p:cNvGrpSpPr/>
          <p:nvPr/>
        </p:nvGrpSpPr>
        <p:grpSpPr>
          <a:xfrm>
            <a:off x="5044516" y="2218794"/>
            <a:ext cx="335400" cy="237000"/>
            <a:chOff x="1911775" y="4636234"/>
            <a:chExt cx="335400" cy="237000"/>
          </a:xfrm>
        </p:grpSpPr>
        <p:sp>
          <p:nvSpPr>
            <p:cNvPr id="552" name="Google Shape;552;p71"/>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53" name="Google Shape;553;p71"/>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554" name="Google Shape;554;p71"/>
          <p:cNvSpPr/>
          <p:nvPr/>
        </p:nvSpPr>
        <p:spPr>
          <a:xfrm>
            <a:off x="5044516" y="1984939"/>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555" name="Google Shape;555;p71"/>
          <p:cNvSpPr txBox="1"/>
          <p:nvPr/>
        </p:nvSpPr>
        <p:spPr>
          <a:xfrm>
            <a:off x="4597250" y="1937525"/>
            <a:ext cx="438600" cy="1071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cxnSp>
        <p:nvCxnSpPr>
          <p:cNvPr id="556" name="Google Shape;556;p71"/>
          <p:cNvCxnSpPr/>
          <p:nvPr/>
        </p:nvCxnSpPr>
        <p:spPr>
          <a:xfrm flipH="1" rot="10800000">
            <a:off x="5209328" y="2569152"/>
            <a:ext cx="368700" cy="4800"/>
          </a:xfrm>
          <a:prstGeom prst="straightConnector1">
            <a:avLst/>
          </a:prstGeom>
          <a:noFill/>
          <a:ln cap="flat" cmpd="sng" w="19050">
            <a:solidFill>
              <a:srgbClr val="666666"/>
            </a:solidFill>
            <a:prstDash val="solid"/>
            <a:round/>
            <a:headEnd len="med" w="med" type="none"/>
            <a:tailEnd len="med" w="med" type="triangle"/>
          </a:ln>
        </p:spPr>
      </p:cxnSp>
      <p:sp>
        <p:nvSpPr>
          <p:cNvPr id="557" name="Google Shape;557;p71"/>
          <p:cNvSpPr/>
          <p:nvPr/>
        </p:nvSpPr>
        <p:spPr>
          <a:xfrm>
            <a:off x="5578024" y="2433450"/>
            <a:ext cx="6537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58" name="Google Shape;558;p71"/>
          <p:cNvCxnSpPr/>
          <p:nvPr/>
        </p:nvCxnSpPr>
        <p:spPr>
          <a:xfrm flipH="1" rot="10800000">
            <a:off x="5045275" y="2001540"/>
            <a:ext cx="333900" cy="192900"/>
          </a:xfrm>
          <a:prstGeom prst="straightConnector1">
            <a:avLst/>
          </a:prstGeom>
          <a:noFill/>
          <a:ln cap="flat" cmpd="sng" w="19050">
            <a:solidFill>
              <a:srgbClr val="666666"/>
            </a:solidFill>
            <a:prstDash val="solid"/>
            <a:round/>
            <a:headEnd len="med" w="med" type="none"/>
            <a:tailEnd len="med" w="med" type="none"/>
          </a:ln>
        </p:spPr>
      </p:cxnSp>
      <p:sp>
        <p:nvSpPr>
          <p:cNvPr id="559" name="Google Shape;559;p71"/>
          <p:cNvSpPr/>
          <p:nvPr/>
        </p:nvSpPr>
        <p:spPr>
          <a:xfrm>
            <a:off x="6240500" y="2873950"/>
            <a:ext cx="8271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 1]</a:t>
            </a:r>
            <a:endParaRPr>
              <a:latin typeface="Consolas"/>
              <a:ea typeface="Consolas"/>
              <a:cs typeface="Consolas"/>
              <a:sym typeface="Consolas"/>
            </a:endParaRPr>
          </a:p>
        </p:txBody>
      </p:sp>
      <p:sp>
        <p:nvSpPr>
          <p:cNvPr id="560" name="Google Shape;560;p71"/>
          <p:cNvSpPr txBox="1"/>
          <p:nvPr/>
        </p:nvSpPr>
        <p:spPr>
          <a:xfrm>
            <a:off x="5535830" y="2363778"/>
            <a:ext cx="3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561" name="Google Shape;561;p71"/>
          <p:cNvCxnSpPr>
            <a:stCxn id="560" idx="3"/>
            <a:endCxn id="559" idx="1"/>
          </p:cNvCxnSpPr>
          <p:nvPr/>
        </p:nvCxnSpPr>
        <p:spPr>
          <a:xfrm>
            <a:off x="5904530" y="2563878"/>
            <a:ext cx="336000" cy="437400"/>
          </a:xfrm>
          <a:prstGeom prst="curvedConnector3">
            <a:avLst>
              <a:gd fmla="val 49996" name="adj1"/>
            </a:avLst>
          </a:prstGeom>
          <a:noFill/>
          <a:ln cap="flat" cmpd="sng" w="9525">
            <a:solidFill>
              <a:schemeClr val="dk2"/>
            </a:solidFill>
            <a:prstDash val="solid"/>
            <a:round/>
            <a:headEnd len="med" w="med" type="none"/>
            <a:tailEnd len="med" w="med" type="triangle"/>
          </a:ln>
        </p:spPr>
      </p:cxnSp>
      <p:sp>
        <p:nvSpPr>
          <p:cNvPr id="562" name="Google Shape;562;p71"/>
          <p:cNvSpPr/>
          <p:nvPr/>
        </p:nvSpPr>
        <p:spPr>
          <a:xfrm>
            <a:off x="6644824" y="2433450"/>
            <a:ext cx="6537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63" name="Google Shape;563;p71"/>
          <p:cNvCxnSpPr>
            <a:stCxn id="557" idx="3"/>
            <a:endCxn id="562" idx="1"/>
          </p:cNvCxnSpPr>
          <p:nvPr/>
        </p:nvCxnSpPr>
        <p:spPr>
          <a:xfrm>
            <a:off x="6231724" y="2560650"/>
            <a:ext cx="413100" cy="0"/>
          </a:xfrm>
          <a:prstGeom prst="straightConnector1">
            <a:avLst/>
          </a:prstGeom>
          <a:noFill/>
          <a:ln cap="flat" cmpd="sng" w="19050">
            <a:solidFill>
              <a:srgbClr val="666666"/>
            </a:solidFill>
            <a:prstDash val="solid"/>
            <a:round/>
            <a:headEnd len="med" w="med" type="none"/>
            <a:tailEnd len="med" w="med" type="triangle"/>
          </a:ln>
        </p:spPr>
      </p:cxnSp>
      <p:sp>
        <p:nvSpPr>
          <p:cNvPr id="564" name="Google Shape;564;p71"/>
          <p:cNvSpPr/>
          <p:nvPr/>
        </p:nvSpPr>
        <p:spPr>
          <a:xfrm>
            <a:off x="7612100" y="1883350"/>
            <a:ext cx="8271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 3]</a:t>
            </a:r>
            <a:endParaRPr>
              <a:latin typeface="Consolas"/>
              <a:ea typeface="Consolas"/>
              <a:cs typeface="Consolas"/>
              <a:sym typeface="Consolas"/>
            </a:endParaRPr>
          </a:p>
        </p:txBody>
      </p:sp>
      <p:sp>
        <p:nvSpPr>
          <p:cNvPr id="565" name="Google Shape;565;p71"/>
          <p:cNvSpPr txBox="1"/>
          <p:nvPr/>
        </p:nvSpPr>
        <p:spPr>
          <a:xfrm>
            <a:off x="6678830" y="2363778"/>
            <a:ext cx="3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566" name="Google Shape;566;p71"/>
          <p:cNvCxnSpPr>
            <a:stCxn id="565" idx="3"/>
            <a:endCxn id="564" idx="1"/>
          </p:cNvCxnSpPr>
          <p:nvPr/>
        </p:nvCxnSpPr>
        <p:spPr>
          <a:xfrm flipH="1" rot="10800000">
            <a:off x="7047530" y="2010678"/>
            <a:ext cx="564600" cy="553200"/>
          </a:xfrm>
          <a:prstGeom prst="curvedConnector3">
            <a:avLst>
              <a:gd fmla="val 49997"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7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a:t>
            </a:r>
            <a:endParaRPr/>
          </a:p>
        </p:txBody>
      </p:sp>
      <p:sp>
        <p:nvSpPr>
          <p:cNvPr id="572" name="Google Shape;572;p72"/>
          <p:cNvSpPr txBox="1"/>
          <p:nvPr>
            <p:ph idx="1" type="body"/>
          </p:nvPr>
        </p:nvSpPr>
        <p:spPr>
          <a:xfrm>
            <a:off x="107050" y="402200"/>
            <a:ext cx="8479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add</a:t>
            </a:r>
            <a:r>
              <a:rPr lang="en"/>
              <a:t> [0, 1], then [2, 3].</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Now suppose we add the number 7 to items. </a:t>
            </a:r>
            <a:endParaRPr/>
          </a:p>
        </p:txBody>
      </p:sp>
      <p:sp>
        <p:nvSpPr>
          <p:cNvPr id="573" name="Google Shape;573;p72"/>
          <p:cNvSpPr txBox="1"/>
          <p:nvPr/>
        </p:nvSpPr>
        <p:spPr>
          <a:xfrm>
            <a:off x="3213950" y="3281325"/>
            <a:ext cx="5848200" cy="1746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 </a:t>
            </a:r>
            <a:r>
              <a:rPr b="1" lang="en" sz="1450">
                <a:solidFill>
                  <a:srgbClr val="E2E3E4"/>
                </a:solidFill>
                <a:highlight>
                  <a:schemeClr val="dk1"/>
                </a:highlight>
                <a:latin typeface="Consolas"/>
                <a:ea typeface="Consolas"/>
                <a:cs typeface="Consolas"/>
                <a:sym typeface="Consolas"/>
              </a:rPr>
              <a:t>items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ArrayList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0</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1</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F8B662"/>
                </a:solidFill>
                <a:highlight>
                  <a:schemeClr val="dk1"/>
                </a:highlight>
                <a:latin typeface="Consolas"/>
                <a:ea typeface="Consolas"/>
                <a:cs typeface="Consolas"/>
                <a:sym typeface="Consolas"/>
              </a:rPr>
              <a:t>HashSet</a:t>
            </a:r>
            <a:r>
              <a:rPr b="1" lang="en" sz="1450">
                <a:solidFill>
                  <a:srgbClr val="F48460"/>
                </a:solidFill>
                <a:highlight>
                  <a:schemeClr val="dk1"/>
                </a:highlight>
                <a:latin typeface="Consolas"/>
                <a:ea typeface="Consolas"/>
                <a:cs typeface="Consolas"/>
                <a:sym typeface="Consolas"/>
              </a:rPr>
              <a:t>&lt;</a:t>
            </a: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&gt;&gt; </a:t>
            </a:r>
            <a:r>
              <a:rPr b="1" lang="en" sz="1450">
                <a:solidFill>
                  <a:srgbClr val="E2E3E4"/>
                </a:solidFill>
                <a:highlight>
                  <a:schemeClr val="dk1"/>
                </a:highlight>
                <a:latin typeface="Consolas"/>
                <a:ea typeface="Consolas"/>
                <a:cs typeface="Consolas"/>
                <a:sym typeface="Consolas"/>
              </a:rPr>
              <a:t>hs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HashSet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EC696E"/>
                </a:solidFill>
                <a:highlight>
                  <a:schemeClr val="dk1"/>
                </a:highlight>
                <a:latin typeface="Consolas"/>
                <a:ea typeface="Consolas"/>
                <a:cs typeface="Consolas"/>
                <a:sym typeface="Consolas"/>
              </a:rPr>
              <a:t>List</a:t>
            </a:r>
            <a:r>
              <a:rPr b="1" lang="en" sz="1450">
                <a:solidFill>
                  <a:srgbClr val="8C9196"/>
                </a:solidFill>
                <a:highlight>
                  <a:schemeClr val="dk1"/>
                </a:highlight>
                <a:latin typeface="Consolas"/>
                <a:ea typeface="Consolas"/>
                <a:cs typeface="Consolas"/>
                <a:sym typeface="Consolas"/>
              </a:rPr>
              <a:t>.</a:t>
            </a:r>
            <a:r>
              <a:rPr b="1" lang="en" sz="1450">
                <a:solidFill>
                  <a:srgbClr val="E2E3E4"/>
                </a:solidFill>
                <a:highlight>
                  <a:schemeClr val="dk1"/>
                </a:highlight>
                <a:latin typeface="Consolas"/>
                <a:ea typeface="Consolas"/>
                <a:cs typeface="Consolas"/>
                <a:sym typeface="Consolas"/>
              </a:rPr>
              <a:t>of(</a:t>
            </a:r>
            <a:r>
              <a:rPr b="1" lang="en" sz="1450">
                <a:solidFill>
                  <a:srgbClr val="F8B662"/>
                </a:solidFill>
                <a:highlight>
                  <a:schemeClr val="dk1"/>
                </a:highlight>
                <a:latin typeface="Consolas"/>
                <a:ea typeface="Consolas"/>
                <a:cs typeface="Consolas"/>
                <a:sym typeface="Consolas"/>
              </a:rPr>
              <a:t>2</a:t>
            </a:r>
            <a:r>
              <a:rPr b="1" lang="en" sz="1450">
                <a:solidFill>
                  <a:srgbClr val="8C9196"/>
                </a:solidFill>
                <a:highlight>
                  <a:schemeClr val="dk1"/>
                </a:highlight>
                <a:latin typeface="Consolas"/>
                <a:ea typeface="Consolas"/>
                <a:cs typeface="Consolas"/>
                <a:sym typeface="Consolas"/>
              </a:rPr>
              <a:t>, </a:t>
            </a:r>
            <a:r>
              <a:rPr b="1" lang="en" sz="1450">
                <a:solidFill>
                  <a:srgbClr val="F8B662"/>
                </a:solidFill>
                <a:highlight>
                  <a:schemeClr val="dk1"/>
                </a:highlight>
                <a:latin typeface="Consolas"/>
                <a:ea typeface="Consolas"/>
                <a:cs typeface="Consolas"/>
                <a:sym typeface="Consolas"/>
              </a:rPr>
              <a:t>3</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7</a:t>
            </a:r>
            <a:r>
              <a:rPr b="1" lang="en" sz="1450">
                <a:solidFill>
                  <a:srgbClr val="E2E3E4"/>
                </a:solidFill>
                <a:highlight>
                  <a:schemeClr val="dk1"/>
                </a:highlight>
                <a:latin typeface="Consolas"/>
                <a:ea typeface="Consolas"/>
                <a:cs typeface="Consolas"/>
                <a:sym typeface="Consolas"/>
              </a:rPr>
              <a:t>);</a:t>
            </a:r>
            <a:endParaRPr b="1" sz="1450">
              <a:solidFill>
                <a:srgbClr val="EC696E"/>
              </a:solidFill>
              <a:highlight>
                <a:schemeClr val="dk1"/>
              </a:highlight>
              <a:latin typeface="Consolas"/>
              <a:ea typeface="Consolas"/>
              <a:cs typeface="Consolas"/>
              <a:sym typeface="Consolas"/>
            </a:endParaRPr>
          </a:p>
        </p:txBody>
      </p:sp>
      <p:grpSp>
        <p:nvGrpSpPr>
          <p:cNvPr id="574" name="Google Shape;574;p72"/>
          <p:cNvGrpSpPr/>
          <p:nvPr/>
        </p:nvGrpSpPr>
        <p:grpSpPr>
          <a:xfrm>
            <a:off x="5044516" y="2693073"/>
            <a:ext cx="335400" cy="237000"/>
            <a:chOff x="1911775" y="4636234"/>
            <a:chExt cx="335400" cy="237000"/>
          </a:xfrm>
        </p:grpSpPr>
        <p:sp>
          <p:nvSpPr>
            <p:cNvPr id="575" name="Google Shape;575;p72"/>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76" name="Google Shape;576;p72"/>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577" name="Google Shape;577;p72"/>
          <p:cNvSpPr/>
          <p:nvPr/>
        </p:nvSpPr>
        <p:spPr>
          <a:xfrm>
            <a:off x="5044516" y="2459218"/>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578" name="Google Shape;578;p72"/>
          <p:cNvGrpSpPr/>
          <p:nvPr/>
        </p:nvGrpSpPr>
        <p:grpSpPr>
          <a:xfrm>
            <a:off x="5044516" y="2218794"/>
            <a:ext cx="335400" cy="237000"/>
            <a:chOff x="1911775" y="4636234"/>
            <a:chExt cx="335400" cy="237000"/>
          </a:xfrm>
        </p:grpSpPr>
        <p:sp>
          <p:nvSpPr>
            <p:cNvPr id="579" name="Google Shape;579;p72"/>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80" name="Google Shape;580;p72"/>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581" name="Google Shape;581;p72"/>
          <p:cNvSpPr/>
          <p:nvPr/>
        </p:nvSpPr>
        <p:spPr>
          <a:xfrm>
            <a:off x="5044516" y="1984939"/>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582" name="Google Shape;582;p72"/>
          <p:cNvSpPr txBox="1"/>
          <p:nvPr/>
        </p:nvSpPr>
        <p:spPr>
          <a:xfrm>
            <a:off x="4597250" y="1937525"/>
            <a:ext cx="438600" cy="1071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cxnSp>
        <p:nvCxnSpPr>
          <p:cNvPr id="583" name="Google Shape;583;p72"/>
          <p:cNvCxnSpPr/>
          <p:nvPr/>
        </p:nvCxnSpPr>
        <p:spPr>
          <a:xfrm flipH="1" rot="10800000">
            <a:off x="5209328" y="2569152"/>
            <a:ext cx="368700" cy="4800"/>
          </a:xfrm>
          <a:prstGeom prst="straightConnector1">
            <a:avLst/>
          </a:prstGeom>
          <a:noFill/>
          <a:ln cap="flat" cmpd="sng" w="19050">
            <a:solidFill>
              <a:srgbClr val="666666"/>
            </a:solidFill>
            <a:prstDash val="solid"/>
            <a:round/>
            <a:headEnd len="med" w="med" type="none"/>
            <a:tailEnd len="med" w="med" type="triangle"/>
          </a:ln>
        </p:spPr>
      </p:cxnSp>
      <p:sp>
        <p:nvSpPr>
          <p:cNvPr id="584" name="Google Shape;584;p72"/>
          <p:cNvSpPr/>
          <p:nvPr/>
        </p:nvSpPr>
        <p:spPr>
          <a:xfrm>
            <a:off x="5578024" y="2433450"/>
            <a:ext cx="6537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85" name="Google Shape;585;p72"/>
          <p:cNvCxnSpPr/>
          <p:nvPr/>
        </p:nvCxnSpPr>
        <p:spPr>
          <a:xfrm flipH="1" rot="10800000">
            <a:off x="5045275" y="2001540"/>
            <a:ext cx="333900" cy="192900"/>
          </a:xfrm>
          <a:prstGeom prst="straightConnector1">
            <a:avLst/>
          </a:prstGeom>
          <a:noFill/>
          <a:ln cap="flat" cmpd="sng" w="19050">
            <a:solidFill>
              <a:srgbClr val="666666"/>
            </a:solidFill>
            <a:prstDash val="solid"/>
            <a:round/>
            <a:headEnd len="med" w="med" type="none"/>
            <a:tailEnd len="med" w="med" type="none"/>
          </a:ln>
        </p:spPr>
      </p:cxnSp>
      <p:sp>
        <p:nvSpPr>
          <p:cNvPr id="586" name="Google Shape;586;p72"/>
          <p:cNvSpPr/>
          <p:nvPr/>
        </p:nvSpPr>
        <p:spPr>
          <a:xfrm>
            <a:off x="6240500" y="2873950"/>
            <a:ext cx="11643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 1, 7]</a:t>
            </a:r>
            <a:endParaRPr>
              <a:latin typeface="Consolas"/>
              <a:ea typeface="Consolas"/>
              <a:cs typeface="Consolas"/>
              <a:sym typeface="Consolas"/>
            </a:endParaRPr>
          </a:p>
        </p:txBody>
      </p:sp>
      <p:sp>
        <p:nvSpPr>
          <p:cNvPr id="587" name="Google Shape;587;p72"/>
          <p:cNvSpPr txBox="1"/>
          <p:nvPr/>
        </p:nvSpPr>
        <p:spPr>
          <a:xfrm>
            <a:off x="5535830" y="2363778"/>
            <a:ext cx="3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588" name="Google Shape;588;p72"/>
          <p:cNvCxnSpPr>
            <a:stCxn id="587" idx="3"/>
            <a:endCxn id="586" idx="1"/>
          </p:cNvCxnSpPr>
          <p:nvPr/>
        </p:nvCxnSpPr>
        <p:spPr>
          <a:xfrm>
            <a:off x="5904530" y="2563878"/>
            <a:ext cx="336000" cy="437400"/>
          </a:xfrm>
          <a:prstGeom prst="curvedConnector3">
            <a:avLst>
              <a:gd fmla="val 49996" name="adj1"/>
            </a:avLst>
          </a:prstGeom>
          <a:noFill/>
          <a:ln cap="flat" cmpd="sng" w="9525">
            <a:solidFill>
              <a:schemeClr val="dk2"/>
            </a:solidFill>
            <a:prstDash val="solid"/>
            <a:round/>
            <a:headEnd len="med" w="med" type="none"/>
            <a:tailEnd len="med" w="med" type="triangle"/>
          </a:ln>
        </p:spPr>
      </p:cxnSp>
      <p:sp>
        <p:nvSpPr>
          <p:cNvPr id="589" name="Google Shape;589;p72"/>
          <p:cNvSpPr/>
          <p:nvPr/>
        </p:nvSpPr>
        <p:spPr>
          <a:xfrm>
            <a:off x="6644824" y="2433450"/>
            <a:ext cx="6537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90" name="Google Shape;590;p72"/>
          <p:cNvCxnSpPr>
            <a:stCxn id="584" idx="3"/>
            <a:endCxn id="589" idx="1"/>
          </p:cNvCxnSpPr>
          <p:nvPr/>
        </p:nvCxnSpPr>
        <p:spPr>
          <a:xfrm>
            <a:off x="6231724" y="2560650"/>
            <a:ext cx="413100" cy="0"/>
          </a:xfrm>
          <a:prstGeom prst="straightConnector1">
            <a:avLst/>
          </a:prstGeom>
          <a:noFill/>
          <a:ln cap="flat" cmpd="sng" w="19050">
            <a:solidFill>
              <a:srgbClr val="666666"/>
            </a:solidFill>
            <a:prstDash val="solid"/>
            <a:round/>
            <a:headEnd len="med" w="med" type="none"/>
            <a:tailEnd len="med" w="med" type="triangle"/>
          </a:ln>
        </p:spPr>
      </p:cxnSp>
      <p:sp>
        <p:nvSpPr>
          <p:cNvPr id="591" name="Google Shape;591;p72"/>
          <p:cNvSpPr/>
          <p:nvPr/>
        </p:nvSpPr>
        <p:spPr>
          <a:xfrm>
            <a:off x="7612100" y="1883350"/>
            <a:ext cx="8271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 3]</a:t>
            </a:r>
            <a:endParaRPr>
              <a:latin typeface="Consolas"/>
              <a:ea typeface="Consolas"/>
              <a:cs typeface="Consolas"/>
              <a:sym typeface="Consolas"/>
            </a:endParaRPr>
          </a:p>
        </p:txBody>
      </p:sp>
      <p:sp>
        <p:nvSpPr>
          <p:cNvPr id="592" name="Google Shape;592;p72"/>
          <p:cNvSpPr txBox="1"/>
          <p:nvPr/>
        </p:nvSpPr>
        <p:spPr>
          <a:xfrm>
            <a:off x="6678830" y="2363778"/>
            <a:ext cx="3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593" name="Google Shape;593;p72"/>
          <p:cNvCxnSpPr>
            <a:stCxn id="592" idx="3"/>
            <a:endCxn id="591" idx="1"/>
          </p:cNvCxnSpPr>
          <p:nvPr/>
        </p:nvCxnSpPr>
        <p:spPr>
          <a:xfrm flipH="1" rot="10800000">
            <a:off x="7047530" y="2010678"/>
            <a:ext cx="564600" cy="553200"/>
          </a:xfrm>
          <a:prstGeom prst="curvedConnector3">
            <a:avLst>
              <a:gd fmla="val 49997"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597" name="Shape 597"/>
        <p:cNvGrpSpPr/>
        <p:nvPr/>
      </p:nvGrpSpPr>
      <p:grpSpPr>
        <a:xfrm>
          <a:off x="0" y="0"/>
          <a:ext cx="0" cy="0"/>
          <a:chOff x="0" y="0"/>
          <a:chExt cx="0" cy="0"/>
        </a:xfrm>
      </p:grpSpPr>
      <p:sp>
        <p:nvSpPr>
          <p:cNvPr id="598" name="Google Shape;598;p7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a:t>
            </a:r>
            <a:endParaRPr/>
          </a:p>
        </p:txBody>
      </p:sp>
      <p:sp>
        <p:nvSpPr>
          <p:cNvPr id="599" name="Google Shape;599;p73"/>
          <p:cNvSpPr txBox="1"/>
          <p:nvPr>
            <p:ph idx="1" type="body"/>
          </p:nvPr>
        </p:nvSpPr>
        <p:spPr>
          <a:xfrm>
            <a:off x="107050" y="402200"/>
            <a:ext cx="8479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add [0, 1], then [2, 3].</a:t>
            </a:r>
            <a:endParaRPr/>
          </a:p>
          <a:p>
            <a:pPr indent="-342900" lvl="0" marL="457200" rtl="0" algn="l">
              <a:spcBef>
                <a:spcPts val="600"/>
              </a:spcBef>
              <a:spcAft>
                <a:spcPts val="0"/>
              </a:spcAft>
              <a:buSzPts val="1800"/>
              <a:buChar char="●"/>
            </a:pPr>
            <a:r>
              <a:rPr lang="en"/>
              <a:t>Now suppose we add the number 7 to items.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hashCode of a list with [0, 1, 7] is 29829.</a:t>
            </a:r>
            <a:endParaRPr/>
          </a:p>
          <a:p>
            <a:pPr indent="-342900" lvl="0" marL="457200" rtl="0" algn="l">
              <a:spcBef>
                <a:spcPts val="600"/>
              </a:spcBef>
              <a:spcAft>
                <a:spcPts val="0"/>
              </a:spcAft>
              <a:buSzPts val="1800"/>
              <a:buChar char="●"/>
            </a:pPr>
            <a:r>
              <a:rPr lang="en"/>
              <a:t>What could go wrong?</a:t>
            </a:r>
            <a:endParaRPr/>
          </a:p>
          <a:p>
            <a:pPr indent="-342900" lvl="0" marL="457200" rtl="0" algn="l">
              <a:spcBef>
                <a:spcPts val="0"/>
              </a:spcBef>
              <a:spcAft>
                <a:spcPts val="0"/>
              </a:spcAft>
              <a:buSzPts val="1800"/>
              <a:buChar char="●"/>
            </a:pPr>
            <a:r>
              <a:rPr lang="en"/>
              <a:t>What method call will fail?</a:t>
            </a:r>
            <a:endParaRPr/>
          </a:p>
        </p:txBody>
      </p:sp>
      <p:sp>
        <p:nvSpPr>
          <p:cNvPr id="600" name="Google Shape;600;p73"/>
          <p:cNvSpPr txBox="1"/>
          <p:nvPr/>
        </p:nvSpPr>
        <p:spPr>
          <a:xfrm>
            <a:off x="3213950" y="3281325"/>
            <a:ext cx="5848200" cy="1746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 </a:t>
            </a:r>
            <a:r>
              <a:rPr b="1" lang="en" sz="1450">
                <a:solidFill>
                  <a:srgbClr val="E2E3E4"/>
                </a:solidFill>
                <a:highlight>
                  <a:schemeClr val="dk1"/>
                </a:highlight>
                <a:latin typeface="Consolas"/>
                <a:ea typeface="Consolas"/>
                <a:cs typeface="Consolas"/>
                <a:sym typeface="Consolas"/>
              </a:rPr>
              <a:t>items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ArrayList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0</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1</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F8B662"/>
                </a:solidFill>
                <a:highlight>
                  <a:schemeClr val="dk1"/>
                </a:highlight>
                <a:latin typeface="Consolas"/>
                <a:ea typeface="Consolas"/>
                <a:cs typeface="Consolas"/>
                <a:sym typeface="Consolas"/>
              </a:rPr>
              <a:t>HashSet</a:t>
            </a:r>
            <a:r>
              <a:rPr b="1" lang="en" sz="1450">
                <a:solidFill>
                  <a:srgbClr val="F48460"/>
                </a:solidFill>
                <a:highlight>
                  <a:schemeClr val="dk1"/>
                </a:highlight>
                <a:latin typeface="Consolas"/>
                <a:ea typeface="Consolas"/>
                <a:cs typeface="Consolas"/>
                <a:sym typeface="Consolas"/>
              </a:rPr>
              <a:t>&lt;</a:t>
            </a: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&gt;&gt; </a:t>
            </a:r>
            <a:r>
              <a:rPr b="1" lang="en" sz="1450">
                <a:solidFill>
                  <a:srgbClr val="E2E3E4"/>
                </a:solidFill>
                <a:highlight>
                  <a:schemeClr val="dk1"/>
                </a:highlight>
                <a:latin typeface="Consolas"/>
                <a:ea typeface="Consolas"/>
                <a:cs typeface="Consolas"/>
                <a:sym typeface="Consolas"/>
              </a:rPr>
              <a:t>hs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HashSet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EC696E"/>
                </a:solidFill>
                <a:highlight>
                  <a:schemeClr val="dk1"/>
                </a:highlight>
                <a:latin typeface="Consolas"/>
                <a:ea typeface="Consolas"/>
                <a:cs typeface="Consolas"/>
                <a:sym typeface="Consolas"/>
              </a:rPr>
              <a:t>List</a:t>
            </a:r>
            <a:r>
              <a:rPr b="1" lang="en" sz="1450">
                <a:solidFill>
                  <a:srgbClr val="8C9196"/>
                </a:solidFill>
                <a:highlight>
                  <a:schemeClr val="dk1"/>
                </a:highlight>
                <a:latin typeface="Consolas"/>
                <a:ea typeface="Consolas"/>
                <a:cs typeface="Consolas"/>
                <a:sym typeface="Consolas"/>
              </a:rPr>
              <a:t>.</a:t>
            </a:r>
            <a:r>
              <a:rPr b="1" lang="en" sz="1450">
                <a:solidFill>
                  <a:srgbClr val="E2E3E4"/>
                </a:solidFill>
                <a:highlight>
                  <a:schemeClr val="dk1"/>
                </a:highlight>
                <a:latin typeface="Consolas"/>
                <a:ea typeface="Consolas"/>
                <a:cs typeface="Consolas"/>
                <a:sym typeface="Consolas"/>
              </a:rPr>
              <a:t>of(</a:t>
            </a:r>
            <a:r>
              <a:rPr b="1" lang="en" sz="1450">
                <a:solidFill>
                  <a:srgbClr val="F8B662"/>
                </a:solidFill>
                <a:highlight>
                  <a:schemeClr val="dk1"/>
                </a:highlight>
                <a:latin typeface="Consolas"/>
                <a:ea typeface="Consolas"/>
                <a:cs typeface="Consolas"/>
                <a:sym typeface="Consolas"/>
              </a:rPr>
              <a:t>2</a:t>
            </a:r>
            <a:r>
              <a:rPr b="1" lang="en" sz="1450">
                <a:solidFill>
                  <a:srgbClr val="8C9196"/>
                </a:solidFill>
                <a:highlight>
                  <a:schemeClr val="dk1"/>
                </a:highlight>
                <a:latin typeface="Consolas"/>
                <a:ea typeface="Consolas"/>
                <a:cs typeface="Consolas"/>
                <a:sym typeface="Consolas"/>
              </a:rPr>
              <a:t>, </a:t>
            </a:r>
            <a:r>
              <a:rPr b="1" lang="en" sz="1450">
                <a:solidFill>
                  <a:srgbClr val="F8B662"/>
                </a:solidFill>
                <a:highlight>
                  <a:schemeClr val="dk1"/>
                </a:highlight>
                <a:latin typeface="Consolas"/>
                <a:ea typeface="Consolas"/>
                <a:cs typeface="Consolas"/>
                <a:sym typeface="Consolas"/>
              </a:rPr>
              <a:t>3</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7</a:t>
            </a:r>
            <a:r>
              <a:rPr b="1" lang="en" sz="1450">
                <a:solidFill>
                  <a:srgbClr val="E2E3E4"/>
                </a:solidFill>
                <a:highlight>
                  <a:schemeClr val="dk1"/>
                </a:highlight>
                <a:latin typeface="Consolas"/>
                <a:ea typeface="Consolas"/>
                <a:cs typeface="Consolas"/>
                <a:sym typeface="Consolas"/>
              </a:rPr>
              <a:t>);</a:t>
            </a:r>
            <a:endParaRPr b="1" sz="1450">
              <a:solidFill>
                <a:srgbClr val="EC696E"/>
              </a:solidFill>
              <a:highlight>
                <a:schemeClr val="dk1"/>
              </a:highlight>
              <a:latin typeface="Consolas"/>
              <a:ea typeface="Consolas"/>
              <a:cs typeface="Consolas"/>
              <a:sym typeface="Consolas"/>
            </a:endParaRPr>
          </a:p>
        </p:txBody>
      </p:sp>
      <p:grpSp>
        <p:nvGrpSpPr>
          <p:cNvPr id="601" name="Google Shape;601;p73"/>
          <p:cNvGrpSpPr/>
          <p:nvPr/>
        </p:nvGrpSpPr>
        <p:grpSpPr>
          <a:xfrm>
            <a:off x="5044516" y="2693073"/>
            <a:ext cx="335400" cy="237000"/>
            <a:chOff x="1911775" y="4636234"/>
            <a:chExt cx="335400" cy="237000"/>
          </a:xfrm>
        </p:grpSpPr>
        <p:sp>
          <p:nvSpPr>
            <p:cNvPr id="602" name="Google Shape;602;p73"/>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03" name="Google Shape;603;p73"/>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604" name="Google Shape;604;p73"/>
          <p:cNvSpPr/>
          <p:nvPr/>
        </p:nvSpPr>
        <p:spPr>
          <a:xfrm>
            <a:off x="5044516" y="2459218"/>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605" name="Google Shape;605;p73"/>
          <p:cNvGrpSpPr/>
          <p:nvPr/>
        </p:nvGrpSpPr>
        <p:grpSpPr>
          <a:xfrm>
            <a:off x="5044516" y="2218794"/>
            <a:ext cx="335400" cy="237000"/>
            <a:chOff x="1911775" y="4636234"/>
            <a:chExt cx="335400" cy="237000"/>
          </a:xfrm>
        </p:grpSpPr>
        <p:sp>
          <p:nvSpPr>
            <p:cNvPr id="606" name="Google Shape;606;p73"/>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07" name="Google Shape;607;p73"/>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608" name="Google Shape;608;p73"/>
          <p:cNvSpPr/>
          <p:nvPr/>
        </p:nvSpPr>
        <p:spPr>
          <a:xfrm>
            <a:off x="5044516" y="1984939"/>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609" name="Google Shape;609;p73"/>
          <p:cNvSpPr txBox="1"/>
          <p:nvPr/>
        </p:nvSpPr>
        <p:spPr>
          <a:xfrm>
            <a:off x="4597250" y="1937525"/>
            <a:ext cx="438600" cy="1071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cxnSp>
        <p:nvCxnSpPr>
          <p:cNvPr id="610" name="Google Shape;610;p73"/>
          <p:cNvCxnSpPr/>
          <p:nvPr/>
        </p:nvCxnSpPr>
        <p:spPr>
          <a:xfrm flipH="1" rot="10800000">
            <a:off x="5209328" y="2569152"/>
            <a:ext cx="368700" cy="4800"/>
          </a:xfrm>
          <a:prstGeom prst="straightConnector1">
            <a:avLst/>
          </a:prstGeom>
          <a:noFill/>
          <a:ln cap="flat" cmpd="sng" w="19050">
            <a:solidFill>
              <a:srgbClr val="666666"/>
            </a:solidFill>
            <a:prstDash val="solid"/>
            <a:round/>
            <a:headEnd len="med" w="med" type="none"/>
            <a:tailEnd len="med" w="med" type="triangle"/>
          </a:ln>
        </p:spPr>
      </p:cxnSp>
      <p:sp>
        <p:nvSpPr>
          <p:cNvPr id="611" name="Google Shape;611;p73"/>
          <p:cNvSpPr/>
          <p:nvPr/>
        </p:nvSpPr>
        <p:spPr>
          <a:xfrm>
            <a:off x="5578024" y="2433450"/>
            <a:ext cx="6537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12" name="Google Shape;612;p73"/>
          <p:cNvCxnSpPr/>
          <p:nvPr/>
        </p:nvCxnSpPr>
        <p:spPr>
          <a:xfrm flipH="1" rot="10800000">
            <a:off x="5045275" y="2001540"/>
            <a:ext cx="333900" cy="192900"/>
          </a:xfrm>
          <a:prstGeom prst="straightConnector1">
            <a:avLst/>
          </a:prstGeom>
          <a:noFill/>
          <a:ln cap="flat" cmpd="sng" w="19050">
            <a:solidFill>
              <a:srgbClr val="666666"/>
            </a:solidFill>
            <a:prstDash val="solid"/>
            <a:round/>
            <a:headEnd len="med" w="med" type="none"/>
            <a:tailEnd len="med" w="med" type="none"/>
          </a:ln>
        </p:spPr>
      </p:cxnSp>
      <p:sp>
        <p:nvSpPr>
          <p:cNvPr id="613" name="Google Shape;613;p73"/>
          <p:cNvSpPr/>
          <p:nvPr/>
        </p:nvSpPr>
        <p:spPr>
          <a:xfrm>
            <a:off x="6240500" y="2873950"/>
            <a:ext cx="11643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 1, 7]</a:t>
            </a:r>
            <a:endParaRPr>
              <a:latin typeface="Consolas"/>
              <a:ea typeface="Consolas"/>
              <a:cs typeface="Consolas"/>
              <a:sym typeface="Consolas"/>
            </a:endParaRPr>
          </a:p>
        </p:txBody>
      </p:sp>
      <p:sp>
        <p:nvSpPr>
          <p:cNvPr id="614" name="Google Shape;614;p73"/>
          <p:cNvSpPr txBox="1"/>
          <p:nvPr/>
        </p:nvSpPr>
        <p:spPr>
          <a:xfrm>
            <a:off x="5535830" y="2363778"/>
            <a:ext cx="3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615" name="Google Shape;615;p73"/>
          <p:cNvCxnSpPr>
            <a:stCxn id="614" idx="3"/>
            <a:endCxn id="613" idx="1"/>
          </p:cNvCxnSpPr>
          <p:nvPr/>
        </p:nvCxnSpPr>
        <p:spPr>
          <a:xfrm>
            <a:off x="5904530" y="2563878"/>
            <a:ext cx="336000" cy="437400"/>
          </a:xfrm>
          <a:prstGeom prst="curvedConnector3">
            <a:avLst>
              <a:gd fmla="val 49996" name="adj1"/>
            </a:avLst>
          </a:prstGeom>
          <a:noFill/>
          <a:ln cap="flat" cmpd="sng" w="9525">
            <a:solidFill>
              <a:schemeClr val="dk2"/>
            </a:solidFill>
            <a:prstDash val="solid"/>
            <a:round/>
            <a:headEnd len="med" w="med" type="none"/>
            <a:tailEnd len="med" w="med" type="triangle"/>
          </a:ln>
        </p:spPr>
      </p:cxnSp>
      <p:sp>
        <p:nvSpPr>
          <p:cNvPr id="616" name="Google Shape;616;p73"/>
          <p:cNvSpPr/>
          <p:nvPr/>
        </p:nvSpPr>
        <p:spPr>
          <a:xfrm>
            <a:off x="6644824" y="2433450"/>
            <a:ext cx="6537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17" name="Google Shape;617;p73"/>
          <p:cNvCxnSpPr>
            <a:stCxn id="611" idx="3"/>
            <a:endCxn id="616" idx="1"/>
          </p:cNvCxnSpPr>
          <p:nvPr/>
        </p:nvCxnSpPr>
        <p:spPr>
          <a:xfrm>
            <a:off x="6231724" y="2560650"/>
            <a:ext cx="413100" cy="0"/>
          </a:xfrm>
          <a:prstGeom prst="straightConnector1">
            <a:avLst/>
          </a:prstGeom>
          <a:noFill/>
          <a:ln cap="flat" cmpd="sng" w="19050">
            <a:solidFill>
              <a:srgbClr val="666666"/>
            </a:solidFill>
            <a:prstDash val="solid"/>
            <a:round/>
            <a:headEnd len="med" w="med" type="none"/>
            <a:tailEnd len="med" w="med" type="triangle"/>
          </a:ln>
        </p:spPr>
      </p:cxnSp>
      <p:sp>
        <p:nvSpPr>
          <p:cNvPr id="618" name="Google Shape;618;p73"/>
          <p:cNvSpPr/>
          <p:nvPr/>
        </p:nvSpPr>
        <p:spPr>
          <a:xfrm>
            <a:off x="7612100" y="1883350"/>
            <a:ext cx="8271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 3]</a:t>
            </a:r>
            <a:endParaRPr>
              <a:latin typeface="Consolas"/>
              <a:ea typeface="Consolas"/>
              <a:cs typeface="Consolas"/>
              <a:sym typeface="Consolas"/>
            </a:endParaRPr>
          </a:p>
        </p:txBody>
      </p:sp>
      <p:sp>
        <p:nvSpPr>
          <p:cNvPr id="619" name="Google Shape;619;p73"/>
          <p:cNvSpPr txBox="1"/>
          <p:nvPr/>
        </p:nvSpPr>
        <p:spPr>
          <a:xfrm>
            <a:off x="6678830" y="2363778"/>
            <a:ext cx="3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620" name="Google Shape;620;p73"/>
          <p:cNvCxnSpPr>
            <a:stCxn id="619" idx="3"/>
            <a:endCxn id="618" idx="1"/>
          </p:cNvCxnSpPr>
          <p:nvPr/>
        </p:nvCxnSpPr>
        <p:spPr>
          <a:xfrm flipH="1" rot="10800000">
            <a:off x="7047530" y="2010678"/>
            <a:ext cx="564600" cy="553200"/>
          </a:xfrm>
          <a:prstGeom prst="curvedConnector3">
            <a:avLst>
              <a:gd fmla="val 49997"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4" name="Shape 624"/>
        <p:cNvGrpSpPr/>
        <p:nvPr/>
      </p:nvGrpSpPr>
      <p:grpSpPr>
        <a:xfrm>
          <a:off x="0" y="0"/>
          <a:ext cx="0" cy="0"/>
          <a:chOff x="0" y="0"/>
          <a:chExt cx="0" cy="0"/>
        </a:xfrm>
      </p:grpSpPr>
      <p:sp>
        <p:nvSpPr>
          <p:cNvPr id="625" name="Google Shape;625;p7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a:t>
            </a:r>
            <a:endParaRPr/>
          </a:p>
        </p:txBody>
      </p:sp>
      <p:sp>
        <p:nvSpPr>
          <p:cNvPr id="626" name="Google Shape;626;p74"/>
          <p:cNvSpPr txBox="1"/>
          <p:nvPr>
            <p:ph idx="1" type="body"/>
          </p:nvPr>
        </p:nvSpPr>
        <p:spPr>
          <a:xfrm>
            <a:off x="107050" y="402200"/>
            <a:ext cx="8479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add [0, 1], then [2, 3].</a:t>
            </a:r>
            <a:endParaRPr/>
          </a:p>
          <a:p>
            <a:pPr indent="-342900" lvl="0" marL="457200" rtl="0" algn="l">
              <a:spcBef>
                <a:spcPts val="600"/>
              </a:spcBef>
              <a:spcAft>
                <a:spcPts val="0"/>
              </a:spcAft>
              <a:buSzPts val="1800"/>
              <a:buChar char="●"/>
            </a:pPr>
            <a:r>
              <a:rPr lang="en"/>
              <a:t>Now suppose we add the number 7 to items.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hashCode of a list with [0, 1, 7] is 29829.</a:t>
            </a:r>
            <a:endParaRPr/>
          </a:p>
          <a:p>
            <a:pPr indent="-342900" lvl="0" marL="457200" rtl="0" algn="l">
              <a:spcBef>
                <a:spcPts val="600"/>
              </a:spcBef>
              <a:spcAft>
                <a:spcPts val="0"/>
              </a:spcAft>
              <a:buSzPts val="1800"/>
              <a:buChar char="●"/>
            </a:pPr>
            <a:r>
              <a:rPr lang="en"/>
              <a:t>What could go wrong?</a:t>
            </a:r>
            <a:endParaRPr/>
          </a:p>
          <a:p>
            <a:pPr indent="-342900" lvl="0" marL="457200" rtl="0" algn="l">
              <a:spcBef>
                <a:spcPts val="0"/>
              </a:spcBef>
              <a:spcAft>
                <a:spcPts val="0"/>
              </a:spcAft>
              <a:buSzPts val="1800"/>
              <a:buChar char="●"/>
            </a:pPr>
            <a:r>
              <a:rPr lang="en"/>
              <a:t>What method call will fail?</a:t>
            </a:r>
            <a:endParaRPr/>
          </a:p>
          <a:p>
            <a:pPr indent="-342900" lvl="1" marL="914400" rtl="0" algn="l">
              <a:spcBef>
                <a:spcPts val="0"/>
              </a:spcBef>
              <a:spcAft>
                <a:spcPts val="0"/>
              </a:spcAft>
              <a:buSzPts val="1800"/>
              <a:buChar char="○"/>
            </a:pPr>
            <a:r>
              <a:rPr lang="en"/>
              <a:t>contains(items)</a:t>
            </a:r>
            <a:endParaRPr/>
          </a:p>
        </p:txBody>
      </p:sp>
      <p:sp>
        <p:nvSpPr>
          <p:cNvPr id="627" name="Google Shape;627;p74"/>
          <p:cNvSpPr txBox="1"/>
          <p:nvPr/>
        </p:nvSpPr>
        <p:spPr>
          <a:xfrm>
            <a:off x="3213950" y="3128925"/>
            <a:ext cx="5848200" cy="1970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 </a:t>
            </a:r>
            <a:r>
              <a:rPr b="1" lang="en" sz="1450">
                <a:solidFill>
                  <a:srgbClr val="E2E3E4"/>
                </a:solidFill>
                <a:highlight>
                  <a:schemeClr val="dk1"/>
                </a:highlight>
                <a:latin typeface="Consolas"/>
                <a:ea typeface="Consolas"/>
                <a:cs typeface="Consolas"/>
                <a:sym typeface="Consolas"/>
              </a:rPr>
              <a:t>items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ArrayList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0</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1</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F8B662"/>
                </a:solidFill>
                <a:highlight>
                  <a:schemeClr val="dk1"/>
                </a:highlight>
                <a:latin typeface="Consolas"/>
                <a:ea typeface="Consolas"/>
                <a:cs typeface="Consolas"/>
                <a:sym typeface="Consolas"/>
              </a:rPr>
              <a:t>HashSet</a:t>
            </a:r>
            <a:r>
              <a:rPr b="1" lang="en" sz="1450">
                <a:solidFill>
                  <a:srgbClr val="F48460"/>
                </a:solidFill>
                <a:highlight>
                  <a:schemeClr val="dk1"/>
                </a:highlight>
                <a:latin typeface="Consolas"/>
                <a:ea typeface="Consolas"/>
                <a:cs typeface="Consolas"/>
                <a:sym typeface="Consolas"/>
              </a:rPr>
              <a:t>&lt;</a:t>
            </a: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&gt;&gt; </a:t>
            </a:r>
            <a:r>
              <a:rPr b="1" lang="en" sz="1450">
                <a:solidFill>
                  <a:srgbClr val="E2E3E4"/>
                </a:solidFill>
                <a:highlight>
                  <a:schemeClr val="dk1"/>
                </a:highlight>
                <a:latin typeface="Consolas"/>
                <a:ea typeface="Consolas"/>
                <a:cs typeface="Consolas"/>
                <a:sym typeface="Consolas"/>
              </a:rPr>
              <a:t>hs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HashSet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EC696E"/>
                </a:solidFill>
                <a:highlight>
                  <a:schemeClr val="dk1"/>
                </a:highlight>
                <a:latin typeface="Consolas"/>
                <a:ea typeface="Consolas"/>
                <a:cs typeface="Consolas"/>
                <a:sym typeface="Consolas"/>
              </a:rPr>
              <a:t>List</a:t>
            </a:r>
            <a:r>
              <a:rPr b="1" lang="en" sz="1450">
                <a:solidFill>
                  <a:srgbClr val="8C9196"/>
                </a:solidFill>
                <a:highlight>
                  <a:schemeClr val="dk1"/>
                </a:highlight>
                <a:latin typeface="Consolas"/>
                <a:ea typeface="Consolas"/>
                <a:cs typeface="Consolas"/>
                <a:sym typeface="Consolas"/>
              </a:rPr>
              <a:t>.</a:t>
            </a:r>
            <a:r>
              <a:rPr b="1" lang="en" sz="1450">
                <a:solidFill>
                  <a:srgbClr val="E2E3E4"/>
                </a:solidFill>
                <a:highlight>
                  <a:schemeClr val="dk1"/>
                </a:highlight>
                <a:latin typeface="Consolas"/>
                <a:ea typeface="Consolas"/>
                <a:cs typeface="Consolas"/>
                <a:sym typeface="Consolas"/>
              </a:rPr>
              <a:t>of(</a:t>
            </a:r>
            <a:r>
              <a:rPr b="1" lang="en" sz="1450">
                <a:solidFill>
                  <a:srgbClr val="F8B662"/>
                </a:solidFill>
                <a:highlight>
                  <a:schemeClr val="dk1"/>
                </a:highlight>
                <a:latin typeface="Consolas"/>
                <a:ea typeface="Consolas"/>
                <a:cs typeface="Consolas"/>
                <a:sym typeface="Consolas"/>
              </a:rPr>
              <a:t>2</a:t>
            </a:r>
            <a:r>
              <a:rPr b="1" lang="en" sz="1450">
                <a:solidFill>
                  <a:srgbClr val="8C9196"/>
                </a:solidFill>
                <a:highlight>
                  <a:schemeClr val="dk1"/>
                </a:highlight>
                <a:latin typeface="Consolas"/>
                <a:ea typeface="Consolas"/>
                <a:cs typeface="Consolas"/>
                <a:sym typeface="Consolas"/>
              </a:rPr>
              <a:t>, </a:t>
            </a:r>
            <a:r>
              <a:rPr b="1" lang="en" sz="1450">
                <a:solidFill>
                  <a:srgbClr val="F8B662"/>
                </a:solidFill>
                <a:highlight>
                  <a:schemeClr val="dk1"/>
                </a:highlight>
                <a:latin typeface="Consolas"/>
                <a:ea typeface="Consolas"/>
                <a:cs typeface="Consolas"/>
                <a:sym typeface="Consolas"/>
              </a:rPr>
              <a:t>3</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7</a:t>
            </a:r>
            <a:r>
              <a:rPr b="1" lang="en" sz="1450">
                <a:solidFill>
                  <a:srgbClr val="E2E3E4"/>
                </a:solidFill>
                <a:highlight>
                  <a:schemeClr val="dk1"/>
                </a:highlight>
                <a:latin typeface="Consolas"/>
                <a:ea typeface="Consolas"/>
                <a:cs typeface="Consolas"/>
                <a:sym typeface="Consolas"/>
              </a:rPr>
              <a:t>);</a:t>
            </a:r>
            <a:endParaRPr b="1" sz="145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F8B662"/>
                </a:solidFill>
                <a:highlight>
                  <a:schemeClr val="dk1"/>
                </a:highlight>
                <a:latin typeface="Consolas"/>
                <a:ea typeface="Consolas"/>
                <a:cs typeface="Consolas"/>
                <a:sym typeface="Consolas"/>
              </a:rPr>
              <a:t>System</a:t>
            </a:r>
            <a:r>
              <a:rPr b="1" lang="en" sz="1450">
                <a:solidFill>
                  <a:srgbClr val="8C9196"/>
                </a:solidFill>
                <a:highlight>
                  <a:schemeClr val="dk1"/>
                </a:highlight>
                <a:latin typeface="Consolas"/>
                <a:ea typeface="Consolas"/>
                <a:cs typeface="Consolas"/>
                <a:sym typeface="Consolas"/>
              </a:rPr>
              <a:t>.</a:t>
            </a:r>
            <a:r>
              <a:rPr b="1" lang="en" sz="1450">
                <a:solidFill>
                  <a:srgbClr val="E2E3E4"/>
                </a:solidFill>
                <a:highlight>
                  <a:schemeClr val="dk1"/>
                </a:highlight>
                <a:latin typeface="Consolas"/>
                <a:ea typeface="Consolas"/>
                <a:cs typeface="Consolas"/>
                <a:sym typeface="Consolas"/>
              </a:rPr>
              <a:t>out</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println</a:t>
            </a: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contains</a:t>
            </a: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endParaRPr b="1" sz="1450">
              <a:solidFill>
                <a:srgbClr val="E2E3E4"/>
              </a:solidFill>
              <a:highlight>
                <a:schemeClr val="dk1"/>
              </a:highlight>
              <a:latin typeface="Consolas"/>
              <a:ea typeface="Consolas"/>
              <a:cs typeface="Consolas"/>
              <a:sym typeface="Consolas"/>
            </a:endParaRPr>
          </a:p>
        </p:txBody>
      </p:sp>
      <p:grpSp>
        <p:nvGrpSpPr>
          <p:cNvPr id="628" name="Google Shape;628;p74"/>
          <p:cNvGrpSpPr/>
          <p:nvPr/>
        </p:nvGrpSpPr>
        <p:grpSpPr>
          <a:xfrm>
            <a:off x="5044516" y="2464473"/>
            <a:ext cx="335400" cy="237000"/>
            <a:chOff x="1911775" y="4636234"/>
            <a:chExt cx="335400" cy="237000"/>
          </a:xfrm>
        </p:grpSpPr>
        <p:sp>
          <p:nvSpPr>
            <p:cNvPr id="629" name="Google Shape;629;p74"/>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30" name="Google Shape;630;p74"/>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631" name="Google Shape;631;p74"/>
          <p:cNvSpPr/>
          <p:nvPr/>
        </p:nvSpPr>
        <p:spPr>
          <a:xfrm>
            <a:off x="5044516" y="2230618"/>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632" name="Google Shape;632;p74"/>
          <p:cNvGrpSpPr/>
          <p:nvPr/>
        </p:nvGrpSpPr>
        <p:grpSpPr>
          <a:xfrm>
            <a:off x="5044516" y="1990194"/>
            <a:ext cx="335400" cy="237000"/>
            <a:chOff x="1911775" y="4636234"/>
            <a:chExt cx="335400" cy="237000"/>
          </a:xfrm>
        </p:grpSpPr>
        <p:sp>
          <p:nvSpPr>
            <p:cNvPr id="633" name="Google Shape;633;p74"/>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34" name="Google Shape;634;p74"/>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635" name="Google Shape;635;p74"/>
          <p:cNvSpPr/>
          <p:nvPr/>
        </p:nvSpPr>
        <p:spPr>
          <a:xfrm>
            <a:off x="5044516" y="1756339"/>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636" name="Google Shape;636;p74"/>
          <p:cNvSpPr txBox="1"/>
          <p:nvPr/>
        </p:nvSpPr>
        <p:spPr>
          <a:xfrm>
            <a:off x="4597250" y="1708925"/>
            <a:ext cx="438600" cy="1071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cxnSp>
        <p:nvCxnSpPr>
          <p:cNvPr id="637" name="Google Shape;637;p74"/>
          <p:cNvCxnSpPr/>
          <p:nvPr/>
        </p:nvCxnSpPr>
        <p:spPr>
          <a:xfrm flipH="1" rot="10800000">
            <a:off x="5209328" y="2340552"/>
            <a:ext cx="368700" cy="4800"/>
          </a:xfrm>
          <a:prstGeom prst="straightConnector1">
            <a:avLst/>
          </a:prstGeom>
          <a:noFill/>
          <a:ln cap="flat" cmpd="sng" w="19050">
            <a:solidFill>
              <a:srgbClr val="666666"/>
            </a:solidFill>
            <a:prstDash val="solid"/>
            <a:round/>
            <a:headEnd len="med" w="med" type="none"/>
            <a:tailEnd len="med" w="med" type="triangle"/>
          </a:ln>
        </p:spPr>
      </p:cxnSp>
      <p:sp>
        <p:nvSpPr>
          <p:cNvPr id="638" name="Google Shape;638;p74"/>
          <p:cNvSpPr/>
          <p:nvPr/>
        </p:nvSpPr>
        <p:spPr>
          <a:xfrm>
            <a:off x="5578024" y="2204850"/>
            <a:ext cx="6537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39" name="Google Shape;639;p74"/>
          <p:cNvCxnSpPr/>
          <p:nvPr/>
        </p:nvCxnSpPr>
        <p:spPr>
          <a:xfrm flipH="1" rot="10800000">
            <a:off x="5045275" y="1772940"/>
            <a:ext cx="333900" cy="192900"/>
          </a:xfrm>
          <a:prstGeom prst="straightConnector1">
            <a:avLst/>
          </a:prstGeom>
          <a:noFill/>
          <a:ln cap="flat" cmpd="sng" w="19050">
            <a:solidFill>
              <a:srgbClr val="666666"/>
            </a:solidFill>
            <a:prstDash val="solid"/>
            <a:round/>
            <a:headEnd len="med" w="med" type="none"/>
            <a:tailEnd len="med" w="med" type="none"/>
          </a:ln>
        </p:spPr>
      </p:cxnSp>
      <p:sp>
        <p:nvSpPr>
          <p:cNvPr id="640" name="Google Shape;640;p74"/>
          <p:cNvSpPr/>
          <p:nvPr/>
        </p:nvSpPr>
        <p:spPr>
          <a:xfrm>
            <a:off x="6240500" y="2645350"/>
            <a:ext cx="11643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 1, 7]</a:t>
            </a:r>
            <a:endParaRPr>
              <a:latin typeface="Consolas"/>
              <a:ea typeface="Consolas"/>
              <a:cs typeface="Consolas"/>
              <a:sym typeface="Consolas"/>
            </a:endParaRPr>
          </a:p>
        </p:txBody>
      </p:sp>
      <p:sp>
        <p:nvSpPr>
          <p:cNvPr id="641" name="Google Shape;641;p74"/>
          <p:cNvSpPr txBox="1"/>
          <p:nvPr/>
        </p:nvSpPr>
        <p:spPr>
          <a:xfrm>
            <a:off x="5535830" y="2135178"/>
            <a:ext cx="3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642" name="Google Shape;642;p74"/>
          <p:cNvCxnSpPr>
            <a:stCxn id="641" idx="3"/>
            <a:endCxn id="640" idx="1"/>
          </p:cNvCxnSpPr>
          <p:nvPr/>
        </p:nvCxnSpPr>
        <p:spPr>
          <a:xfrm>
            <a:off x="5904530" y="2335278"/>
            <a:ext cx="336000" cy="437400"/>
          </a:xfrm>
          <a:prstGeom prst="curvedConnector3">
            <a:avLst>
              <a:gd fmla="val 49996" name="adj1"/>
            </a:avLst>
          </a:prstGeom>
          <a:noFill/>
          <a:ln cap="flat" cmpd="sng" w="9525">
            <a:solidFill>
              <a:schemeClr val="dk2"/>
            </a:solidFill>
            <a:prstDash val="solid"/>
            <a:round/>
            <a:headEnd len="med" w="med" type="none"/>
            <a:tailEnd len="med" w="med" type="triangle"/>
          </a:ln>
        </p:spPr>
      </p:cxnSp>
      <p:sp>
        <p:nvSpPr>
          <p:cNvPr id="643" name="Google Shape;643;p74"/>
          <p:cNvSpPr/>
          <p:nvPr/>
        </p:nvSpPr>
        <p:spPr>
          <a:xfrm>
            <a:off x="6644824" y="2204850"/>
            <a:ext cx="6537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44" name="Google Shape;644;p74"/>
          <p:cNvCxnSpPr>
            <a:stCxn id="638" idx="3"/>
            <a:endCxn id="643" idx="1"/>
          </p:cNvCxnSpPr>
          <p:nvPr/>
        </p:nvCxnSpPr>
        <p:spPr>
          <a:xfrm>
            <a:off x="6231724" y="2332050"/>
            <a:ext cx="413100" cy="0"/>
          </a:xfrm>
          <a:prstGeom prst="straightConnector1">
            <a:avLst/>
          </a:prstGeom>
          <a:noFill/>
          <a:ln cap="flat" cmpd="sng" w="19050">
            <a:solidFill>
              <a:srgbClr val="666666"/>
            </a:solidFill>
            <a:prstDash val="solid"/>
            <a:round/>
            <a:headEnd len="med" w="med" type="none"/>
            <a:tailEnd len="med" w="med" type="triangle"/>
          </a:ln>
        </p:spPr>
      </p:cxnSp>
      <p:sp>
        <p:nvSpPr>
          <p:cNvPr id="645" name="Google Shape;645;p74"/>
          <p:cNvSpPr/>
          <p:nvPr/>
        </p:nvSpPr>
        <p:spPr>
          <a:xfrm>
            <a:off x="7612100" y="1654750"/>
            <a:ext cx="8271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 3]</a:t>
            </a:r>
            <a:endParaRPr>
              <a:latin typeface="Consolas"/>
              <a:ea typeface="Consolas"/>
              <a:cs typeface="Consolas"/>
              <a:sym typeface="Consolas"/>
            </a:endParaRPr>
          </a:p>
        </p:txBody>
      </p:sp>
      <p:sp>
        <p:nvSpPr>
          <p:cNvPr id="646" name="Google Shape;646;p74"/>
          <p:cNvSpPr txBox="1"/>
          <p:nvPr/>
        </p:nvSpPr>
        <p:spPr>
          <a:xfrm>
            <a:off x="6678830" y="2135178"/>
            <a:ext cx="3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647" name="Google Shape;647;p74"/>
          <p:cNvCxnSpPr>
            <a:stCxn id="646" idx="3"/>
            <a:endCxn id="645" idx="1"/>
          </p:cNvCxnSpPr>
          <p:nvPr/>
        </p:nvCxnSpPr>
        <p:spPr>
          <a:xfrm flipH="1" rot="10800000">
            <a:off x="7047530" y="1782078"/>
            <a:ext cx="564600" cy="553200"/>
          </a:xfrm>
          <a:prstGeom prst="curvedConnector3">
            <a:avLst>
              <a:gd fmla="val 49997"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1" name="Shape 651"/>
        <p:cNvGrpSpPr/>
        <p:nvPr/>
      </p:nvGrpSpPr>
      <p:grpSpPr>
        <a:xfrm>
          <a:off x="0" y="0"/>
          <a:ext cx="0" cy="0"/>
          <a:chOff x="0" y="0"/>
          <a:chExt cx="0" cy="0"/>
        </a:xfrm>
      </p:grpSpPr>
      <p:sp>
        <p:nvSpPr>
          <p:cNvPr id="652" name="Google Shape;652;p7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a:t>
            </a:r>
            <a:endParaRPr/>
          </a:p>
        </p:txBody>
      </p:sp>
      <p:sp>
        <p:nvSpPr>
          <p:cNvPr id="653" name="Google Shape;653;p75"/>
          <p:cNvSpPr txBox="1"/>
          <p:nvPr>
            <p:ph idx="1" type="body"/>
          </p:nvPr>
        </p:nvSpPr>
        <p:spPr>
          <a:xfrm>
            <a:off x="107050" y="402200"/>
            <a:ext cx="8479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add [0, 1], then [2, 3].</a:t>
            </a:r>
            <a:endParaRPr/>
          </a:p>
          <a:p>
            <a:pPr indent="-342900" lvl="0" marL="457200" rtl="0" algn="l">
              <a:spcBef>
                <a:spcPts val="600"/>
              </a:spcBef>
              <a:spcAft>
                <a:spcPts val="0"/>
              </a:spcAft>
              <a:buSzPts val="1800"/>
              <a:buChar char="●"/>
            </a:pPr>
            <a:r>
              <a:rPr lang="en"/>
              <a:t>Now suppose we add the number 7 to items. </a:t>
            </a:r>
            <a:endParaRPr/>
          </a:p>
          <a:p>
            <a:pPr indent="-342900" lvl="0" marL="457200" rtl="0" algn="l">
              <a:spcBef>
                <a:spcPts val="0"/>
              </a:spcBef>
              <a:spcAft>
                <a:spcPts val="0"/>
              </a:spcAft>
              <a:buSzPts val="1800"/>
              <a:buChar char="●"/>
            </a:pPr>
            <a:r>
              <a:rPr lang="en"/>
              <a:t>The hashCode of a list with [0, 1, 7] is 29829.</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If we call contains(items), we have a problem.</a:t>
            </a:r>
            <a:endParaRPr/>
          </a:p>
          <a:p>
            <a:pPr indent="-342900" lvl="0" marL="457200" rtl="0" algn="l">
              <a:spcBef>
                <a:spcPts val="600"/>
              </a:spcBef>
              <a:spcAft>
                <a:spcPts val="0"/>
              </a:spcAft>
              <a:buSzPts val="1800"/>
              <a:buChar char="●"/>
            </a:pPr>
            <a:r>
              <a:rPr lang="en"/>
              <a:t>hashCode of items is 29829 % 4 = 1.</a:t>
            </a:r>
            <a:endParaRPr/>
          </a:p>
          <a:p>
            <a:pPr indent="-342900" lvl="0" marL="457200" rtl="0" algn="l">
              <a:spcBef>
                <a:spcPts val="0"/>
              </a:spcBef>
              <a:spcAft>
                <a:spcPts val="0"/>
              </a:spcAft>
              <a:buSzPts val="1800"/>
              <a:buChar char="●"/>
            </a:pPr>
            <a:r>
              <a:rPr lang="en"/>
              <a:t>Hash table looks in bucket 1, </a:t>
            </a:r>
            <a:r>
              <a:rPr lang="en"/>
              <a:t>empty!</a:t>
            </a:r>
            <a:endParaRPr/>
          </a:p>
        </p:txBody>
      </p:sp>
      <p:sp>
        <p:nvSpPr>
          <p:cNvPr id="654" name="Google Shape;654;p75"/>
          <p:cNvSpPr txBox="1"/>
          <p:nvPr/>
        </p:nvSpPr>
        <p:spPr>
          <a:xfrm>
            <a:off x="3213950" y="3128925"/>
            <a:ext cx="5848200" cy="1970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 </a:t>
            </a:r>
            <a:r>
              <a:rPr b="1" lang="en" sz="1450">
                <a:solidFill>
                  <a:srgbClr val="E2E3E4"/>
                </a:solidFill>
                <a:highlight>
                  <a:schemeClr val="dk1"/>
                </a:highlight>
                <a:latin typeface="Consolas"/>
                <a:ea typeface="Consolas"/>
                <a:cs typeface="Consolas"/>
                <a:sym typeface="Consolas"/>
              </a:rPr>
              <a:t>items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ArrayList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0</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1</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F8B662"/>
                </a:solidFill>
                <a:highlight>
                  <a:schemeClr val="dk1"/>
                </a:highlight>
                <a:latin typeface="Consolas"/>
                <a:ea typeface="Consolas"/>
                <a:cs typeface="Consolas"/>
                <a:sym typeface="Consolas"/>
              </a:rPr>
              <a:t>HashSet</a:t>
            </a:r>
            <a:r>
              <a:rPr b="1" lang="en" sz="1450">
                <a:solidFill>
                  <a:srgbClr val="F48460"/>
                </a:solidFill>
                <a:highlight>
                  <a:schemeClr val="dk1"/>
                </a:highlight>
                <a:latin typeface="Consolas"/>
                <a:ea typeface="Consolas"/>
                <a:cs typeface="Consolas"/>
                <a:sym typeface="Consolas"/>
              </a:rPr>
              <a:t>&lt;</a:t>
            </a: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&gt;&gt; </a:t>
            </a:r>
            <a:r>
              <a:rPr b="1" lang="en" sz="1450">
                <a:solidFill>
                  <a:srgbClr val="E2E3E4"/>
                </a:solidFill>
                <a:highlight>
                  <a:schemeClr val="dk1"/>
                </a:highlight>
                <a:latin typeface="Consolas"/>
                <a:ea typeface="Consolas"/>
                <a:cs typeface="Consolas"/>
                <a:sym typeface="Consolas"/>
              </a:rPr>
              <a:t>hs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HashSet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EC696E"/>
                </a:solidFill>
                <a:highlight>
                  <a:schemeClr val="dk1"/>
                </a:highlight>
                <a:latin typeface="Consolas"/>
                <a:ea typeface="Consolas"/>
                <a:cs typeface="Consolas"/>
                <a:sym typeface="Consolas"/>
              </a:rPr>
              <a:t>List</a:t>
            </a:r>
            <a:r>
              <a:rPr b="1" lang="en" sz="1450">
                <a:solidFill>
                  <a:srgbClr val="8C9196"/>
                </a:solidFill>
                <a:highlight>
                  <a:schemeClr val="dk1"/>
                </a:highlight>
                <a:latin typeface="Consolas"/>
                <a:ea typeface="Consolas"/>
                <a:cs typeface="Consolas"/>
                <a:sym typeface="Consolas"/>
              </a:rPr>
              <a:t>.</a:t>
            </a:r>
            <a:r>
              <a:rPr b="1" lang="en" sz="1450">
                <a:solidFill>
                  <a:srgbClr val="E2E3E4"/>
                </a:solidFill>
                <a:highlight>
                  <a:schemeClr val="dk1"/>
                </a:highlight>
                <a:latin typeface="Consolas"/>
                <a:ea typeface="Consolas"/>
                <a:cs typeface="Consolas"/>
                <a:sym typeface="Consolas"/>
              </a:rPr>
              <a:t>of(</a:t>
            </a:r>
            <a:r>
              <a:rPr b="1" lang="en" sz="1450">
                <a:solidFill>
                  <a:srgbClr val="F8B662"/>
                </a:solidFill>
                <a:highlight>
                  <a:schemeClr val="dk1"/>
                </a:highlight>
                <a:latin typeface="Consolas"/>
                <a:ea typeface="Consolas"/>
                <a:cs typeface="Consolas"/>
                <a:sym typeface="Consolas"/>
              </a:rPr>
              <a:t>2</a:t>
            </a:r>
            <a:r>
              <a:rPr b="1" lang="en" sz="1450">
                <a:solidFill>
                  <a:srgbClr val="8C9196"/>
                </a:solidFill>
                <a:highlight>
                  <a:schemeClr val="dk1"/>
                </a:highlight>
                <a:latin typeface="Consolas"/>
                <a:ea typeface="Consolas"/>
                <a:cs typeface="Consolas"/>
                <a:sym typeface="Consolas"/>
              </a:rPr>
              <a:t>, </a:t>
            </a:r>
            <a:r>
              <a:rPr b="1" lang="en" sz="1450">
                <a:solidFill>
                  <a:srgbClr val="F8B662"/>
                </a:solidFill>
                <a:highlight>
                  <a:schemeClr val="dk1"/>
                </a:highlight>
                <a:latin typeface="Consolas"/>
                <a:ea typeface="Consolas"/>
                <a:cs typeface="Consolas"/>
                <a:sym typeface="Consolas"/>
              </a:rPr>
              <a:t>3</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7</a:t>
            </a:r>
            <a:r>
              <a:rPr b="1" lang="en" sz="1450">
                <a:solidFill>
                  <a:srgbClr val="E2E3E4"/>
                </a:solidFill>
                <a:highlight>
                  <a:schemeClr val="dk1"/>
                </a:highlight>
                <a:latin typeface="Consolas"/>
                <a:ea typeface="Consolas"/>
                <a:cs typeface="Consolas"/>
                <a:sym typeface="Consolas"/>
              </a:rPr>
              <a:t>);</a:t>
            </a:r>
            <a:endParaRPr b="1" sz="145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F8B662"/>
                </a:solidFill>
                <a:highlight>
                  <a:schemeClr val="dk1"/>
                </a:highlight>
                <a:latin typeface="Consolas"/>
                <a:ea typeface="Consolas"/>
                <a:cs typeface="Consolas"/>
                <a:sym typeface="Consolas"/>
              </a:rPr>
              <a:t>System</a:t>
            </a:r>
            <a:r>
              <a:rPr b="1" lang="en" sz="1450">
                <a:solidFill>
                  <a:srgbClr val="8C9196"/>
                </a:solidFill>
                <a:highlight>
                  <a:schemeClr val="dk1"/>
                </a:highlight>
                <a:latin typeface="Consolas"/>
                <a:ea typeface="Consolas"/>
                <a:cs typeface="Consolas"/>
                <a:sym typeface="Consolas"/>
              </a:rPr>
              <a:t>.</a:t>
            </a:r>
            <a:r>
              <a:rPr b="1" lang="en" sz="1450">
                <a:solidFill>
                  <a:srgbClr val="E2E3E4"/>
                </a:solidFill>
                <a:highlight>
                  <a:schemeClr val="dk1"/>
                </a:highlight>
                <a:latin typeface="Consolas"/>
                <a:ea typeface="Consolas"/>
                <a:cs typeface="Consolas"/>
                <a:sym typeface="Consolas"/>
              </a:rPr>
              <a:t>out</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println</a:t>
            </a: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contains</a:t>
            </a: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endParaRPr b="1" sz="1450">
              <a:solidFill>
                <a:srgbClr val="E2E3E4"/>
              </a:solidFill>
              <a:highlight>
                <a:schemeClr val="dk1"/>
              </a:highlight>
              <a:latin typeface="Consolas"/>
              <a:ea typeface="Consolas"/>
              <a:cs typeface="Consolas"/>
              <a:sym typeface="Consolas"/>
            </a:endParaRPr>
          </a:p>
        </p:txBody>
      </p:sp>
      <p:grpSp>
        <p:nvGrpSpPr>
          <p:cNvPr id="655" name="Google Shape;655;p75"/>
          <p:cNvGrpSpPr/>
          <p:nvPr/>
        </p:nvGrpSpPr>
        <p:grpSpPr>
          <a:xfrm>
            <a:off x="5044516" y="2464473"/>
            <a:ext cx="335400" cy="237000"/>
            <a:chOff x="1911775" y="4636234"/>
            <a:chExt cx="335400" cy="237000"/>
          </a:xfrm>
        </p:grpSpPr>
        <p:sp>
          <p:nvSpPr>
            <p:cNvPr id="656" name="Google Shape;656;p75"/>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57" name="Google Shape;657;p75"/>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658" name="Google Shape;658;p75"/>
          <p:cNvSpPr/>
          <p:nvPr/>
        </p:nvSpPr>
        <p:spPr>
          <a:xfrm>
            <a:off x="5044516" y="2230618"/>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659" name="Google Shape;659;p75"/>
          <p:cNvGrpSpPr/>
          <p:nvPr/>
        </p:nvGrpSpPr>
        <p:grpSpPr>
          <a:xfrm>
            <a:off x="5044516" y="1990194"/>
            <a:ext cx="335400" cy="237000"/>
            <a:chOff x="1911775" y="4636234"/>
            <a:chExt cx="335400" cy="237000"/>
          </a:xfrm>
        </p:grpSpPr>
        <p:sp>
          <p:nvSpPr>
            <p:cNvPr id="660" name="Google Shape;660;p75"/>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61" name="Google Shape;661;p75"/>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662" name="Google Shape;662;p75"/>
          <p:cNvSpPr/>
          <p:nvPr/>
        </p:nvSpPr>
        <p:spPr>
          <a:xfrm>
            <a:off x="5044516" y="1756339"/>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663" name="Google Shape;663;p75"/>
          <p:cNvSpPr txBox="1"/>
          <p:nvPr/>
        </p:nvSpPr>
        <p:spPr>
          <a:xfrm>
            <a:off x="4597250" y="1708925"/>
            <a:ext cx="438600" cy="1071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cxnSp>
        <p:nvCxnSpPr>
          <p:cNvPr id="664" name="Google Shape;664;p75"/>
          <p:cNvCxnSpPr/>
          <p:nvPr/>
        </p:nvCxnSpPr>
        <p:spPr>
          <a:xfrm flipH="1" rot="10800000">
            <a:off x="5209328" y="2340552"/>
            <a:ext cx="368700" cy="4800"/>
          </a:xfrm>
          <a:prstGeom prst="straightConnector1">
            <a:avLst/>
          </a:prstGeom>
          <a:noFill/>
          <a:ln cap="flat" cmpd="sng" w="19050">
            <a:solidFill>
              <a:srgbClr val="666666"/>
            </a:solidFill>
            <a:prstDash val="solid"/>
            <a:round/>
            <a:headEnd len="med" w="med" type="none"/>
            <a:tailEnd len="med" w="med" type="triangle"/>
          </a:ln>
        </p:spPr>
      </p:cxnSp>
      <p:sp>
        <p:nvSpPr>
          <p:cNvPr id="665" name="Google Shape;665;p75"/>
          <p:cNvSpPr/>
          <p:nvPr/>
        </p:nvSpPr>
        <p:spPr>
          <a:xfrm>
            <a:off x="5578024" y="2204850"/>
            <a:ext cx="6537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66" name="Google Shape;666;p75"/>
          <p:cNvCxnSpPr/>
          <p:nvPr/>
        </p:nvCxnSpPr>
        <p:spPr>
          <a:xfrm flipH="1" rot="10800000">
            <a:off x="5045275" y="1772940"/>
            <a:ext cx="333900" cy="192900"/>
          </a:xfrm>
          <a:prstGeom prst="straightConnector1">
            <a:avLst/>
          </a:prstGeom>
          <a:noFill/>
          <a:ln cap="flat" cmpd="sng" w="19050">
            <a:solidFill>
              <a:srgbClr val="666666"/>
            </a:solidFill>
            <a:prstDash val="solid"/>
            <a:round/>
            <a:headEnd len="med" w="med" type="none"/>
            <a:tailEnd len="med" w="med" type="none"/>
          </a:ln>
        </p:spPr>
      </p:cxnSp>
      <p:sp>
        <p:nvSpPr>
          <p:cNvPr id="667" name="Google Shape;667;p75"/>
          <p:cNvSpPr/>
          <p:nvPr/>
        </p:nvSpPr>
        <p:spPr>
          <a:xfrm>
            <a:off x="6240500" y="2645350"/>
            <a:ext cx="11643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 1, 7]</a:t>
            </a:r>
            <a:endParaRPr>
              <a:latin typeface="Consolas"/>
              <a:ea typeface="Consolas"/>
              <a:cs typeface="Consolas"/>
              <a:sym typeface="Consolas"/>
            </a:endParaRPr>
          </a:p>
        </p:txBody>
      </p:sp>
      <p:sp>
        <p:nvSpPr>
          <p:cNvPr id="668" name="Google Shape;668;p75"/>
          <p:cNvSpPr txBox="1"/>
          <p:nvPr/>
        </p:nvSpPr>
        <p:spPr>
          <a:xfrm>
            <a:off x="5535830" y="2135178"/>
            <a:ext cx="3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669" name="Google Shape;669;p75"/>
          <p:cNvCxnSpPr>
            <a:stCxn id="668" idx="3"/>
            <a:endCxn id="667" idx="1"/>
          </p:cNvCxnSpPr>
          <p:nvPr/>
        </p:nvCxnSpPr>
        <p:spPr>
          <a:xfrm>
            <a:off x="5904530" y="2335278"/>
            <a:ext cx="336000" cy="437400"/>
          </a:xfrm>
          <a:prstGeom prst="curvedConnector3">
            <a:avLst>
              <a:gd fmla="val 49996" name="adj1"/>
            </a:avLst>
          </a:prstGeom>
          <a:noFill/>
          <a:ln cap="flat" cmpd="sng" w="9525">
            <a:solidFill>
              <a:schemeClr val="dk2"/>
            </a:solidFill>
            <a:prstDash val="solid"/>
            <a:round/>
            <a:headEnd len="med" w="med" type="none"/>
            <a:tailEnd len="med" w="med" type="triangle"/>
          </a:ln>
        </p:spPr>
      </p:cxnSp>
      <p:sp>
        <p:nvSpPr>
          <p:cNvPr id="670" name="Google Shape;670;p75"/>
          <p:cNvSpPr/>
          <p:nvPr/>
        </p:nvSpPr>
        <p:spPr>
          <a:xfrm>
            <a:off x="6644824" y="2204850"/>
            <a:ext cx="6537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71" name="Google Shape;671;p75"/>
          <p:cNvCxnSpPr>
            <a:stCxn id="665" idx="3"/>
            <a:endCxn id="670" idx="1"/>
          </p:cNvCxnSpPr>
          <p:nvPr/>
        </p:nvCxnSpPr>
        <p:spPr>
          <a:xfrm>
            <a:off x="6231724" y="2332050"/>
            <a:ext cx="413100" cy="0"/>
          </a:xfrm>
          <a:prstGeom prst="straightConnector1">
            <a:avLst/>
          </a:prstGeom>
          <a:noFill/>
          <a:ln cap="flat" cmpd="sng" w="19050">
            <a:solidFill>
              <a:srgbClr val="666666"/>
            </a:solidFill>
            <a:prstDash val="solid"/>
            <a:round/>
            <a:headEnd len="med" w="med" type="none"/>
            <a:tailEnd len="med" w="med" type="triangle"/>
          </a:ln>
        </p:spPr>
      </p:cxnSp>
      <p:sp>
        <p:nvSpPr>
          <p:cNvPr id="672" name="Google Shape;672;p75"/>
          <p:cNvSpPr/>
          <p:nvPr/>
        </p:nvSpPr>
        <p:spPr>
          <a:xfrm>
            <a:off x="7612100" y="1654750"/>
            <a:ext cx="8271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 3]</a:t>
            </a:r>
            <a:endParaRPr>
              <a:latin typeface="Consolas"/>
              <a:ea typeface="Consolas"/>
              <a:cs typeface="Consolas"/>
              <a:sym typeface="Consolas"/>
            </a:endParaRPr>
          </a:p>
        </p:txBody>
      </p:sp>
      <p:sp>
        <p:nvSpPr>
          <p:cNvPr id="673" name="Google Shape;673;p75"/>
          <p:cNvSpPr txBox="1"/>
          <p:nvPr/>
        </p:nvSpPr>
        <p:spPr>
          <a:xfrm>
            <a:off x="6678830" y="2135178"/>
            <a:ext cx="3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674" name="Google Shape;674;p75"/>
          <p:cNvCxnSpPr>
            <a:stCxn id="673" idx="3"/>
            <a:endCxn id="672" idx="1"/>
          </p:cNvCxnSpPr>
          <p:nvPr/>
        </p:nvCxnSpPr>
        <p:spPr>
          <a:xfrm flipH="1" rot="10800000">
            <a:off x="7047530" y="1782078"/>
            <a:ext cx="564600" cy="553200"/>
          </a:xfrm>
          <a:prstGeom prst="curvedConnector3">
            <a:avLst>
              <a:gd fmla="val 49997"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7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Don’t Mutate Keys</a:t>
            </a:r>
            <a:endParaRPr/>
          </a:p>
        </p:txBody>
      </p:sp>
      <p:sp>
        <p:nvSpPr>
          <p:cNvPr id="680" name="Google Shape;680;p7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Bottom line: Never mutate an Object being used as a key.</a:t>
            </a:r>
            <a:endParaRPr/>
          </a:p>
          <a:p>
            <a:pPr indent="-342900" lvl="0" marL="457200" rtl="0" algn="l">
              <a:spcBef>
                <a:spcPts val="600"/>
              </a:spcBef>
              <a:spcAft>
                <a:spcPts val="0"/>
              </a:spcAft>
              <a:buSzPts val="1800"/>
              <a:buChar char="●"/>
            </a:pPr>
            <a:r>
              <a:rPr lang="en"/>
              <a:t>Incorrect results, item gets lost.</a:t>
            </a:r>
            <a:endParaRPr/>
          </a:p>
        </p:txBody>
      </p:sp>
      <p:sp>
        <p:nvSpPr>
          <p:cNvPr id="681" name="Google Shape;681;p76"/>
          <p:cNvSpPr txBox="1"/>
          <p:nvPr/>
        </p:nvSpPr>
        <p:spPr>
          <a:xfrm>
            <a:off x="3213950" y="3128925"/>
            <a:ext cx="5848200" cy="1970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 </a:t>
            </a:r>
            <a:r>
              <a:rPr b="1" lang="en" sz="1450">
                <a:solidFill>
                  <a:srgbClr val="E2E3E4"/>
                </a:solidFill>
                <a:highlight>
                  <a:schemeClr val="dk1"/>
                </a:highlight>
                <a:latin typeface="Consolas"/>
                <a:ea typeface="Consolas"/>
                <a:cs typeface="Consolas"/>
                <a:sym typeface="Consolas"/>
              </a:rPr>
              <a:t>items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ArrayList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0</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1</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F8B662"/>
                </a:solidFill>
                <a:highlight>
                  <a:schemeClr val="dk1"/>
                </a:highlight>
                <a:latin typeface="Consolas"/>
                <a:ea typeface="Consolas"/>
                <a:cs typeface="Consolas"/>
                <a:sym typeface="Consolas"/>
              </a:rPr>
              <a:t>HashSet</a:t>
            </a:r>
            <a:r>
              <a:rPr b="1" lang="en" sz="1450">
                <a:solidFill>
                  <a:srgbClr val="F48460"/>
                </a:solidFill>
                <a:highlight>
                  <a:schemeClr val="dk1"/>
                </a:highlight>
                <a:latin typeface="Consolas"/>
                <a:ea typeface="Consolas"/>
                <a:cs typeface="Consolas"/>
                <a:sym typeface="Consolas"/>
              </a:rPr>
              <a:t>&lt;</a:t>
            </a:r>
            <a:r>
              <a:rPr b="1" lang="en" sz="1450">
                <a:solidFill>
                  <a:srgbClr val="EC696E"/>
                </a:solidFill>
                <a:highlight>
                  <a:schemeClr val="dk1"/>
                </a:highlight>
                <a:latin typeface="Consolas"/>
                <a:ea typeface="Consolas"/>
                <a:cs typeface="Consolas"/>
                <a:sym typeface="Consolas"/>
              </a:rPr>
              <a:t>List</a:t>
            </a:r>
            <a:r>
              <a:rPr b="1" lang="en" sz="1450">
                <a:solidFill>
                  <a:srgbClr val="F48460"/>
                </a:solidFill>
                <a:highlight>
                  <a:schemeClr val="dk1"/>
                </a:highlight>
                <a:latin typeface="Consolas"/>
                <a:ea typeface="Consolas"/>
                <a:cs typeface="Consolas"/>
                <a:sym typeface="Consolas"/>
              </a:rPr>
              <a:t>&lt;</a:t>
            </a:r>
            <a:r>
              <a:rPr b="1" lang="en" sz="1450">
                <a:solidFill>
                  <a:srgbClr val="F8B662"/>
                </a:solidFill>
                <a:highlight>
                  <a:schemeClr val="dk1"/>
                </a:highlight>
                <a:latin typeface="Consolas"/>
                <a:ea typeface="Consolas"/>
                <a:cs typeface="Consolas"/>
                <a:sym typeface="Consolas"/>
              </a:rPr>
              <a:t>Integer</a:t>
            </a:r>
            <a:r>
              <a:rPr b="1" lang="en" sz="1450">
                <a:solidFill>
                  <a:srgbClr val="F48460"/>
                </a:solidFill>
                <a:highlight>
                  <a:schemeClr val="dk1"/>
                </a:highlight>
                <a:latin typeface="Consolas"/>
                <a:ea typeface="Consolas"/>
                <a:cs typeface="Consolas"/>
                <a:sym typeface="Consolas"/>
              </a:rPr>
              <a:t>&gt;&gt; </a:t>
            </a:r>
            <a:r>
              <a:rPr b="1" lang="en" sz="1450">
                <a:solidFill>
                  <a:srgbClr val="E2E3E4"/>
                </a:solidFill>
                <a:highlight>
                  <a:schemeClr val="dk1"/>
                </a:highlight>
                <a:latin typeface="Consolas"/>
                <a:ea typeface="Consolas"/>
                <a:cs typeface="Consolas"/>
                <a:sym typeface="Consolas"/>
              </a:rPr>
              <a:t>hs </a:t>
            </a:r>
            <a:r>
              <a:rPr b="1" lang="en" sz="1450">
                <a:solidFill>
                  <a:srgbClr val="F48460"/>
                </a:solidFill>
                <a:highlight>
                  <a:schemeClr val="dk1"/>
                </a:highlight>
                <a:latin typeface="Consolas"/>
                <a:ea typeface="Consolas"/>
                <a:cs typeface="Consolas"/>
                <a:sym typeface="Consolas"/>
              </a:rPr>
              <a:t>= </a:t>
            </a:r>
            <a:r>
              <a:rPr b="1" lang="en" sz="1450">
                <a:solidFill>
                  <a:srgbClr val="C393C3"/>
                </a:solidFill>
                <a:highlight>
                  <a:schemeClr val="dk1"/>
                </a:highlight>
                <a:latin typeface="Consolas"/>
                <a:ea typeface="Consolas"/>
                <a:cs typeface="Consolas"/>
                <a:sym typeface="Consolas"/>
              </a:rPr>
              <a:t>new </a:t>
            </a:r>
            <a:r>
              <a:rPr b="1" lang="en" sz="1450">
                <a:solidFill>
                  <a:srgbClr val="5EB2B2"/>
                </a:solidFill>
                <a:highlight>
                  <a:schemeClr val="dk1"/>
                </a:highlight>
                <a:latin typeface="Consolas"/>
                <a:ea typeface="Consolas"/>
                <a:cs typeface="Consolas"/>
                <a:sym typeface="Consolas"/>
              </a:rPr>
              <a:t>HashSet</a:t>
            </a:r>
            <a:r>
              <a:rPr b="1" lang="en" sz="1450">
                <a:solidFill>
                  <a:srgbClr val="F48460"/>
                </a:solidFill>
                <a:highlight>
                  <a:schemeClr val="dk1"/>
                </a:highlight>
                <a:latin typeface="Consolas"/>
                <a:ea typeface="Consolas"/>
                <a:cs typeface="Consolas"/>
                <a:sym typeface="Consolas"/>
              </a:rPr>
              <a:t>&lt;&gt;</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endParaRPr b="1" sz="145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EC696E"/>
                </a:solidFill>
                <a:highlight>
                  <a:schemeClr val="dk1"/>
                </a:highlight>
                <a:latin typeface="Consolas"/>
                <a:ea typeface="Consolas"/>
                <a:cs typeface="Consolas"/>
                <a:sym typeface="Consolas"/>
              </a:rPr>
              <a:t>List</a:t>
            </a:r>
            <a:r>
              <a:rPr b="1" lang="en" sz="1450">
                <a:solidFill>
                  <a:srgbClr val="8C9196"/>
                </a:solidFill>
                <a:highlight>
                  <a:schemeClr val="dk1"/>
                </a:highlight>
                <a:latin typeface="Consolas"/>
                <a:ea typeface="Consolas"/>
                <a:cs typeface="Consolas"/>
                <a:sym typeface="Consolas"/>
              </a:rPr>
              <a:t>.</a:t>
            </a:r>
            <a:r>
              <a:rPr b="1" lang="en" sz="1450">
                <a:solidFill>
                  <a:srgbClr val="E2E3E4"/>
                </a:solidFill>
                <a:highlight>
                  <a:schemeClr val="dk1"/>
                </a:highlight>
                <a:latin typeface="Consolas"/>
                <a:ea typeface="Consolas"/>
                <a:cs typeface="Consolas"/>
                <a:sym typeface="Consolas"/>
              </a:rPr>
              <a:t>of(</a:t>
            </a:r>
            <a:r>
              <a:rPr b="1" lang="en" sz="1450">
                <a:solidFill>
                  <a:srgbClr val="F8B662"/>
                </a:solidFill>
                <a:highlight>
                  <a:schemeClr val="dk1"/>
                </a:highlight>
                <a:latin typeface="Consolas"/>
                <a:ea typeface="Consolas"/>
                <a:cs typeface="Consolas"/>
                <a:sym typeface="Consolas"/>
              </a:rPr>
              <a:t>2</a:t>
            </a:r>
            <a:r>
              <a:rPr b="1" lang="en" sz="1450">
                <a:solidFill>
                  <a:srgbClr val="8C9196"/>
                </a:solidFill>
                <a:highlight>
                  <a:schemeClr val="dk1"/>
                </a:highlight>
                <a:latin typeface="Consolas"/>
                <a:ea typeface="Consolas"/>
                <a:cs typeface="Consolas"/>
                <a:sym typeface="Consolas"/>
              </a:rPr>
              <a:t>, </a:t>
            </a:r>
            <a:r>
              <a:rPr b="1" lang="en" sz="1450">
                <a:solidFill>
                  <a:srgbClr val="F8B662"/>
                </a:solidFill>
                <a:highlight>
                  <a:schemeClr val="dk1"/>
                </a:highlight>
                <a:latin typeface="Consolas"/>
                <a:ea typeface="Consolas"/>
                <a:cs typeface="Consolas"/>
                <a:sym typeface="Consolas"/>
              </a:rPr>
              <a:t>3</a:t>
            </a:r>
            <a:r>
              <a:rPr b="1" lang="en" sz="1450">
                <a:solidFill>
                  <a:srgbClr val="E2E3E4"/>
                </a:solidFill>
                <a:highlight>
                  <a:schemeClr val="dk1"/>
                </a:highlight>
                <a:latin typeface="Consolas"/>
                <a:ea typeface="Consolas"/>
                <a:cs typeface="Consolas"/>
                <a:sym typeface="Consolas"/>
              </a:rPr>
              <a:t>))</a:t>
            </a:r>
            <a:r>
              <a:rPr b="1" lang="en" sz="1450">
                <a:solidFill>
                  <a:srgbClr val="8C9196"/>
                </a:solidFill>
                <a:highlight>
                  <a:schemeClr val="dk1"/>
                </a:highlight>
                <a:latin typeface="Consolas"/>
                <a:ea typeface="Consolas"/>
                <a:cs typeface="Consolas"/>
                <a:sym typeface="Consolas"/>
              </a:rPr>
              <a:t>;</a:t>
            </a:r>
            <a:endParaRPr b="1" sz="145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add</a:t>
            </a:r>
            <a:r>
              <a:rPr b="1" lang="en" sz="1450">
                <a:solidFill>
                  <a:srgbClr val="E2E3E4"/>
                </a:solidFill>
                <a:highlight>
                  <a:schemeClr val="dk1"/>
                </a:highlight>
                <a:latin typeface="Consolas"/>
                <a:ea typeface="Consolas"/>
                <a:cs typeface="Consolas"/>
                <a:sym typeface="Consolas"/>
              </a:rPr>
              <a:t>(</a:t>
            </a:r>
            <a:r>
              <a:rPr b="1" lang="en" sz="1450">
                <a:solidFill>
                  <a:srgbClr val="F8B662"/>
                </a:solidFill>
                <a:highlight>
                  <a:schemeClr val="dk1"/>
                </a:highlight>
                <a:latin typeface="Consolas"/>
                <a:ea typeface="Consolas"/>
                <a:cs typeface="Consolas"/>
                <a:sym typeface="Consolas"/>
              </a:rPr>
              <a:t>7</a:t>
            </a:r>
            <a:r>
              <a:rPr b="1" lang="en" sz="1450">
                <a:solidFill>
                  <a:srgbClr val="E2E3E4"/>
                </a:solidFill>
                <a:highlight>
                  <a:schemeClr val="dk1"/>
                </a:highlight>
                <a:latin typeface="Consolas"/>
                <a:ea typeface="Consolas"/>
                <a:cs typeface="Consolas"/>
                <a:sym typeface="Consolas"/>
              </a:rPr>
              <a:t>);</a:t>
            </a:r>
            <a:endParaRPr b="1" sz="1450">
              <a:solidFill>
                <a:srgbClr val="E2E3E4"/>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1450">
                <a:solidFill>
                  <a:srgbClr val="F8B662"/>
                </a:solidFill>
                <a:highlight>
                  <a:schemeClr val="dk1"/>
                </a:highlight>
                <a:latin typeface="Consolas"/>
                <a:ea typeface="Consolas"/>
                <a:cs typeface="Consolas"/>
                <a:sym typeface="Consolas"/>
              </a:rPr>
              <a:t>System</a:t>
            </a:r>
            <a:r>
              <a:rPr b="1" lang="en" sz="1450">
                <a:solidFill>
                  <a:srgbClr val="8C9196"/>
                </a:solidFill>
                <a:highlight>
                  <a:schemeClr val="dk1"/>
                </a:highlight>
                <a:latin typeface="Consolas"/>
                <a:ea typeface="Consolas"/>
                <a:cs typeface="Consolas"/>
                <a:sym typeface="Consolas"/>
              </a:rPr>
              <a:t>.</a:t>
            </a:r>
            <a:r>
              <a:rPr b="1" lang="en" sz="1450">
                <a:solidFill>
                  <a:srgbClr val="E2E3E4"/>
                </a:solidFill>
                <a:highlight>
                  <a:schemeClr val="dk1"/>
                </a:highlight>
                <a:latin typeface="Consolas"/>
                <a:ea typeface="Consolas"/>
                <a:cs typeface="Consolas"/>
                <a:sym typeface="Consolas"/>
              </a:rPr>
              <a:t>out</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println</a:t>
            </a:r>
            <a:r>
              <a:rPr b="1" lang="en" sz="1450">
                <a:solidFill>
                  <a:srgbClr val="E2E3E4"/>
                </a:solidFill>
                <a:highlight>
                  <a:schemeClr val="dk1"/>
                </a:highlight>
                <a:latin typeface="Consolas"/>
                <a:ea typeface="Consolas"/>
                <a:cs typeface="Consolas"/>
                <a:sym typeface="Consolas"/>
              </a:rPr>
              <a:t>(hs</a:t>
            </a:r>
            <a:r>
              <a:rPr b="1" lang="en" sz="1450">
                <a:solidFill>
                  <a:srgbClr val="8C9196"/>
                </a:solidFill>
                <a:highlight>
                  <a:schemeClr val="dk1"/>
                </a:highlight>
                <a:latin typeface="Consolas"/>
                <a:ea typeface="Consolas"/>
                <a:cs typeface="Consolas"/>
                <a:sym typeface="Consolas"/>
              </a:rPr>
              <a:t>.</a:t>
            </a:r>
            <a:r>
              <a:rPr b="1" lang="en" sz="1450">
                <a:solidFill>
                  <a:srgbClr val="5EB2B2"/>
                </a:solidFill>
                <a:highlight>
                  <a:schemeClr val="dk1"/>
                </a:highlight>
                <a:latin typeface="Consolas"/>
                <a:ea typeface="Consolas"/>
                <a:cs typeface="Consolas"/>
                <a:sym typeface="Consolas"/>
              </a:rPr>
              <a:t>contains</a:t>
            </a:r>
            <a:r>
              <a:rPr b="1" lang="en" sz="1450">
                <a:solidFill>
                  <a:srgbClr val="E2E3E4"/>
                </a:solidFill>
                <a:highlight>
                  <a:schemeClr val="dk1"/>
                </a:highlight>
                <a:latin typeface="Consolas"/>
                <a:ea typeface="Consolas"/>
                <a:cs typeface="Consolas"/>
                <a:sym typeface="Consolas"/>
              </a:rPr>
              <a:t>(items))</a:t>
            </a:r>
            <a:r>
              <a:rPr b="1" lang="en" sz="1450">
                <a:solidFill>
                  <a:srgbClr val="8C9196"/>
                </a:solidFill>
                <a:highlight>
                  <a:schemeClr val="dk1"/>
                </a:highlight>
                <a:latin typeface="Consolas"/>
                <a:ea typeface="Consolas"/>
                <a:cs typeface="Consolas"/>
                <a:sym typeface="Consolas"/>
              </a:rPr>
              <a:t>;</a:t>
            </a:r>
            <a:endParaRPr b="1" sz="1450">
              <a:solidFill>
                <a:srgbClr val="E2E3E4"/>
              </a:solidFill>
              <a:highlight>
                <a:schemeClr val="dk1"/>
              </a:highlight>
              <a:latin typeface="Consolas"/>
              <a:ea typeface="Consolas"/>
              <a:cs typeface="Consolas"/>
              <a:sym typeface="Consolas"/>
            </a:endParaRPr>
          </a:p>
        </p:txBody>
      </p:sp>
      <p:grpSp>
        <p:nvGrpSpPr>
          <p:cNvPr id="682" name="Google Shape;682;p76"/>
          <p:cNvGrpSpPr/>
          <p:nvPr/>
        </p:nvGrpSpPr>
        <p:grpSpPr>
          <a:xfrm>
            <a:off x="5044516" y="2464473"/>
            <a:ext cx="335400" cy="237000"/>
            <a:chOff x="1911775" y="4636234"/>
            <a:chExt cx="335400" cy="237000"/>
          </a:xfrm>
        </p:grpSpPr>
        <p:sp>
          <p:nvSpPr>
            <p:cNvPr id="683" name="Google Shape;683;p76"/>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84" name="Google Shape;684;p76"/>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685" name="Google Shape;685;p76"/>
          <p:cNvSpPr/>
          <p:nvPr/>
        </p:nvSpPr>
        <p:spPr>
          <a:xfrm>
            <a:off x="5044516" y="2230618"/>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686" name="Google Shape;686;p76"/>
          <p:cNvGrpSpPr/>
          <p:nvPr/>
        </p:nvGrpSpPr>
        <p:grpSpPr>
          <a:xfrm>
            <a:off x="5044516" y="1990194"/>
            <a:ext cx="335400" cy="237000"/>
            <a:chOff x="1911775" y="4636234"/>
            <a:chExt cx="335400" cy="237000"/>
          </a:xfrm>
        </p:grpSpPr>
        <p:sp>
          <p:nvSpPr>
            <p:cNvPr id="687" name="Google Shape;687;p76"/>
            <p:cNvSpPr/>
            <p:nvPr/>
          </p:nvSpPr>
          <p:spPr>
            <a:xfrm>
              <a:off x="1911775" y="4636234"/>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88" name="Google Shape;688;p76"/>
            <p:cNvCxnSpPr/>
            <p:nvPr/>
          </p:nvCxnSpPr>
          <p:spPr>
            <a:xfrm flipH="1" rot="10800000">
              <a:off x="1912534" y="4664508"/>
              <a:ext cx="333900" cy="192900"/>
            </a:xfrm>
            <a:prstGeom prst="straightConnector1">
              <a:avLst/>
            </a:prstGeom>
            <a:noFill/>
            <a:ln cap="flat" cmpd="sng" w="19050">
              <a:solidFill>
                <a:srgbClr val="666666"/>
              </a:solidFill>
              <a:prstDash val="solid"/>
              <a:round/>
              <a:headEnd len="med" w="med" type="none"/>
              <a:tailEnd len="med" w="med" type="none"/>
            </a:ln>
          </p:spPr>
        </p:cxnSp>
      </p:grpSp>
      <p:sp>
        <p:nvSpPr>
          <p:cNvPr id="689" name="Google Shape;689;p76"/>
          <p:cNvSpPr/>
          <p:nvPr/>
        </p:nvSpPr>
        <p:spPr>
          <a:xfrm>
            <a:off x="5044516" y="1756339"/>
            <a:ext cx="335400" cy="2370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690" name="Google Shape;690;p76"/>
          <p:cNvSpPr txBox="1"/>
          <p:nvPr/>
        </p:nvSpPr>
        <p:spPr>
          <a:xfrm>
            <a:off x="4597250" y="1708925"/>
            <a:ext cx="438600" cy="1071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cxnSp>
        <p:nvCxnSpPr>
          <p:cNvPr id="691" name="Google Shape;691;p76"/>
          <p:cNvCxnSpPr/>
          <p:nvPr/>
        </p:nvCxnSpPr>
        <p:spPr>
          <a:xfrm flipH="1" rot="10800000">
            <a:off x="5209328" y="2340552"/>
            <a:ext cx="368700" cy="4800"/>
          </a:xfrm>
          <a:prstGeom prst="straightConnector1">
            <a:avLst/>
          </a:prstGeom>
          <a:noFill/>
          <a:ln cap="flat" cmpd="sng" w="19050">
            <a:solidFill>
              <a:srgbClr val="666666"/>
            </a:solidFill>
            <a:prstDash val="solid"/>
            <a:round/>
            <a:headEnd len="med" w="med" type="none"/>
            <a:tailEnd len="med" w="med" type="triangle"/>
          </a:ln>
        </p:spPr>
      </p:cxnSp>
      <p:sp>
        <p:nvSpPr>
          <p:cNvPr id="692" name="Google Shape;692;p76"/>
          <p:cNvSpPr/>
          <p:nvPr/>
        </p:nvSpPr>
        <p:spPr>
          <a:xfrm>
            <a:off x="5578024" y="2204850"/>
            <a:ext cx="6537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93" name="Google Shape;693;p76"/>
          <p:cNvCxnSpPr/>
          <p:nvPr/>
        </p:nvCxnSpPr>
        <p:spPr>
          <a:xfrm flipH="1" rot="10800000">
            <a:off x="5045275" y="1772940"/>
            <a:ext cx="333900" cy="192900"/>
          </a:xfrm>
          <a:prstGeom prst="straightConnector1">
            <a:avLst/>
          </a:prstGeom>
          <a:noFill/>
          <a:ln cap="flat" cmpd="sng" w="19050">
            <a:solidFill>
              <a:srgbClr val="666666"/>
            </a:solidFill>
            <a:prstDash val="solid"/>
            <a:round/>
            <a:headEnd len="med" w="med" type="none"/>
            <a:tailEnd len="med" w="med" type="none"/>
          </a:ln>
        </p:spPr>
      </p:cxnSp>
      <p:sp>
        <p:nvSpPr>
          <p:cNvPr id="694" name="Google Shape;694;p76"/>
          <p:cNvSpPr/>
          <p:nvPr/>
        </p:nvSpPr>
        <p:spPr>
          <a:xfrm>
            <a:off x="6240500" y="2645350"/>
            <a:ext cx="11643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 1, 7]</a:t>
            </a:r>
            <a:endParaRPr>
              <a:latin typeface="Consolas"/>
              <a:ea typeface="Consolas"/>
              <a:cs typeface="Consolas"/>
              <a:sym typeface="Consolas"/>
            </a:endParaRPr>
          </a:p>
        </p:txBody>
      </p:sp>
      <p:sp>
        <p:nvSpPr>
          <p:cNvPr id="695" name="Google Shape;695;p76"/>
          <p:cNvSpPr txBox="1"/>
          <p:nvPr/>
        </p:nvSpPr>
        <p:spPr>
          <a:xfrm>
            <a:off x="5535830" y="2135178"/>
            <a:ext cx="3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696" name="Google Shape;696;p76"/>
          <p:cNvCxnSpPr>
            <a:stCxn id="695" idx="3"/>
            <a:endCxn id="694" idx="1"/>
          </p:cNvCxnSpPr>
          <p:nvPr/>
        </p:nvCxnSpPr>
        <p:spPr>
          <a:xfrm>
            <a:off x="5904530" y="2335278"/>
            <a:ext cx="336000" cy="437400"/>
          </a:xfrm>
          <a:prstGeom prst="curvedConnector3">
            <a:avLst>
              <a:gd fmla="val 49996" name="adj1"/>
            </a:avLst>
          </a:prstGeom>
          <a:noFill/>
          <a:ln cap="flat" cmpd="sng" w="9525">
            <a:solidFill>
              <a:schemeClr val="dk2"/>
            </a:solidFill>
            <a:prstDash val="solid"/>
            <a:round/>
            <a:headEnd len="med" w="med" type="none"/>
            <a:tailEnd len="med" w="med" type="triangle"/>
          </a:ln>
        </p:spPr>
      </p:cxnSp>
      <p:sp>
        <p:nvSpPr>
          <p:cNvPr id="697" name="Google Shape;697;p76"/>
          <p:cNvSpPr/>
          <p:nvPr/>
        </p:nvSpPr>
        <p:spPr>
          <a:xfrm>
            <a:off x="6644824" y="2204850"/>
            <a:ext cx="6537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98" name="Google Shape;698;p76"/>
          <p:cNvCxnSpPr>
            <a:stCxn id="692" idx="3"/>
            <a:endCxn id="697" idx="1"/>
          </p:cNvCxnSpPr>
          <p:nvPr/>
        </p:nvCxnSpPr>
        <p:spPr>
          <a:xfrm>
            <a:off x="6231724" y="2332050"/>
            <a:ext cx="413100" cy="0"/>
          </a:xfrm>
          <a:prstGeom prst="straightConnector1">
            <a:avLst/>
          </a:prstGeom>
          <a:noFill/>
          <a:ln cap="flat" cmpd="sng" w="19050">
            <a:solidFill>
              <a:srgbClr val="666666"/>
            </a:solidFill>
            <a:prstDash val="solid"/>
            <a:round/>
            <a:headEnd len="med" w="med" type="none"/>
            <a:tailEnd len="med" w="med" type="triangle"/>
          </a:ln>
        </p:spPr>
      </p:cxnSp>
      <p:sp>
        <p:nvSpPr>
          <p:cNvPr id="699" name="Google Shape;699;p76"/>
          <p:cNvSpPr/>
          <p:nvPr/>
        </p:nvSpPr>
        <p:spPr>
          <a:xfrm>
            <a:off x="7612100" y="1654750"/>
            <a:ext cx="827100" cy="2544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 3]</a:t>
            </a:r>
            <a:endParaRPr>
              <a:latin typeface="Consolas"/>
              <a:ea typeface="Consolas"/>
              <a:cs typeface="Consolas"/>
              <a:sym typeface="Consolas"/>
            </a:endParaRPr>
          </a:p>
        </p:txBody>
      </p:sp>
      <p:sp>
        <p:nvSpPr>
          <p:cNvPr id="700" name="Google Shape;700;p76"/>
          <p:cNvSpPr txBox="1"/>
          <p:nvPr/>
        </p:nvSpPr>
        <p:spPr>
          <a:xfrm>
            <a:off x="6678830" y="2135178"/>
            <a:ext cx="36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701" name="Google Shape;701;p76"/>
          <p:cNvCxnSpPr>
            <a:stCxn id="700" idx="3"/>
            <a:endCxn id="699" idx="1"/>
          </p:cNvCxnSpPr>
          <p:nvPr/>
        </p:nvCxnSpPr>
        <p:spPr>
          <a:xfrm flipH="1" rot="10800000">
            <a:off x="7047530" y="1782078"/>
            <a:ext cx="564600" cy="553200"/>
          </a:xfrm>
          <a:prstGeom prst="curvedConnector3">
            <a:avLst>
              <a:gd fmla="val 49997"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77"/>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Visualization for Some Basic Cases</a:t>
            </a:r>
            <a:endParaRPr>
              <a:solidFill>
                <a:srgbClr val="B7B7B7"/>
              </a:solidFill>
            </a:endParaRPr>
          </a:p>
          <a:p>
            <a:pPr indent="0" lvl="0" marL="0" rtl="0" algn="l">
              <a:spcBef>
                <a:spcPts val="600"/>
              </a:spcBef>
              <a:spcAft>
                <a:spcPts val="0"/>
              </a:spcAft>
              <a:buNone/>
            </a:pPr>
            <a:r>
              <a:rPr lang="en">
                <a:solidFill>
                  <a:srgbClr val="B7B7B7"/>
                </a:solidFill>
              </a:rPr>
              <a:t>hashCode and Equals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Why Custom Hash Functions?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contains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Duplicate Values</a:t>
            </a:r>
            <a:endParaRPr>
              <a:solidFill>
                <a:srgbClr val="B7B7B7"/>
              </a:solidFill>
            </a:endParaRPr>
          </a:p>
          <a:p>
            <a:pPr indent="0" lvl="0" marL="0" rtl="0" algn="l">
              <a:spcBef>
                <a:spcPts val="600"/>
              </a:spcBef>
              <a:spcAft>
                <a:spcPts val="0"/>
              </a:spcAft>
              <a:buNone/>
            </a:pPr>
            <a:r>
              <a:rPr lang="en">
                <a:solidFill>
                  <a:srgbClr val="B7B7B7"/>
                </a:solidFill>
              </a:rPr>
              <a:t>The Danger of Mutable Keys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Mutable vs. Immutable Types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Mutable Hash Table Keys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A Peek into Java HashSets</a:t>
            </a:r>
            <a:endParaRPr b="1">
              <a:solidFill>
                <a:schemeClr val="accent3"/>
              </a:solidFill>
              <a:latin typeface="Roboto"/>
              <a:ea typeface="Roboto"/>
              <a:cs typeface="Roboto"/>
              <a:sym typeface="Roboto"/>
            </a:endParaRPr>
          </a:p>
        </p:txBody>
      </p:sp>
      <p:sp>
        <p:nvSpPr>
          <p:cNvPr id="707" name="Google Shape;707;p7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 Peek into Java HashSets</a:t>
            </a:r>
            <a:endParaRPr/>
          </a:p>
        </p:txBody>
      </p:sp>
      <p:sp>
        <p:nvSpPr>
          <p:cNvPr id="708" name="Google Shape;708;p7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20, CS61B, Fall 2023</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7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HashSets in Java</a:t>
            </a:r>
            <a:endParaRPr/>
          </a:p>
        </p:txBody>
      </p:sp>
      <p:sp>
        <p:nvSpPr>
          <p:cNvPr id="714" name="Google Shape;714;p78"/>
          <p:cNvSpPr txBox="1"/>
          <p:nvPr>
            <p:ph idx="1" type="body"/>
          </p:nvPr>
        </p:nvSpPr>
        <p:spPr>
          <a:xfrm>
            <a:off x="107050" y="402200"/>
            <a:ext cx="8955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can look at the code that implements the HashSet in Java:</a:t>
            </a:r>
            <a:endParaRPr/>
          </a:p>
          <a:p>
            <a:pPr indent="-342900" lvl="0" marL="457200" rtl="0" algn="l">
              <a:spcBef>
                <a:spcPts val="600"/>
              </a:spcBef>
              <a:spcAft>
                <a:spcPts val="0"/>
              </a:spcAft>
              <a:buSzPts val="1800"/>
              <a:buChar char="●"/>
            </a:pPr>
            <a:r>
              <a:rPr lang="en" u="sng">
                <a:solidFill>
                  <a:schemeClr val="hlink"/>
                </a:solidFill>
                <a:hlinkClick r:id="rId3"/>
              </a:rPr>
              <a:t>https://github.com/openjdk/jdk/blob/master/src/java.base/share/classes/java/util/HashSet.java</a:t>
            </a:r>
            <a:endParaRPr/>
          </a:p>
          <a:p>
            <a:pPr indent="0" lvl="0" marL="457200" rtl="0" algn="l">
              <a:spcBef>
                <a:spcPts val="600"/>
              </a:spcBef>
              <a:spcAft>
                <a:spcPts val="0"/>
              </a:spcAft>
              <a:buNone/>
            </a:pPr>
            <a:r>
              <a:t/>
            </a:r>
            <a:endParaRPr/>
          </a:p>
          <a:p>
            <a:pPr indent="0" lvl="0" marL="0" rtl="0" algn="l">
              <a:spcBef>
                <a:spcPts val="600"/>
              </a:spcBef>
              <a:spcAft>
                <a:spcPts val="0"/>
              </a:spcAft>
              <a:buNone/>
            </a:pPr>
            <a:r>
              <a:rPr lang="en"/>
              <a:t>It simply delegates all of its work to a </a:t>
            </a:r>
            <a:r>
              <a:rPr lang="en">
                <a:latin typeface="Consolas"/>
                <a:ea typeface="Consolas"/>
                <a:cs typeface="Consolas"/>
                <a:sym typeface="Consolas"/>
              </a:rPr>
              <a:t>HashMap&lt;K, Object&gt;</a:t>
            </a:r>
            <a:r>
              <a:rPr lang="en"/>
              <a:t> and ignores the value.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7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HashSets in Java</a:t>
            </a:r>
            <a:endParaRPr/>
          </a:p>
        </p:txBody>
      </p:sp>
      <p:sp>
        <p:nvSpPr>
          <p:cNvPr id="720" name="Google Shape;720;p79"/>
          <p:cNvSpPr txBox="1"/>
          <p:nvPr>
            <p:ph idx="1" type="body"/>
          </p:nvPr>
        </p:nvSpPr>
        <p:spPr>
          <a:xfrm>
            <a:off x="107050" y="402200"/>
            <a:ext cx="8955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can then look at the code that implements the HashMap in Java:</a:t>
            </a:r>
            <a:endParaRPr/>
          </a:p>
          <a:p>
            <a:pPr indent="-342900" lvl="0" marL="457200" rtl="0" algn="l">
              <a:spcBef>
                <a:spcPts val="600"/>
              </a:spcBef>
              <a:spcAft>
                <a:spcPts val="0"/>
              </a:spcAft>
              <a:buSzPts val="1800"/>
              <a:buChar char="●"/>
            </a:pPr>
            <a:r>
              <a:rPr lang="en" u="sng">
                <a:solidFill>
                  <a:schemeClr val="hlink"/>
                </a:solidFill>
                <a:hlinkClick r:id="rId3"/>
              </a:rPr>
              <a:t>https://github.com/openjdk/jdk/blob/master/src/java.base/share/classes/java/util/HashMap.java</a:t>
            </a:r>
            <a:endParaRPr/>
          </a:p>
          <a:p>
            <a:pPr indent="0" lvl="0" marL="0" rtl="0" algn="l">
              <a:spcBef>
                <a:spcPts val="600"/>
              </a:spcBef>
              <a:spcAft>
                <a:spcPts val="0"/>
              </a:spcAft>
              <a:buNone/>
            </a:pPr>
            <a:r>
              <a:rPr lang="en"/>
              <a:t>Reading the code, we can see that:</a:t>
            </a:r>
            <a:endParaRPr/>
          </a:p>
          <a:p>
            <a:pPr indent="-342900" lvl="0" marL="457200" rtl="0" algn="l">
              <a:spcBef>
                <a:spcPts val="600"/>
              </a:spcBef>
              <a:spcAft>
                <a:spcPts val="0"/>
              </a:spcAft>
              <a:buSzPts val="1800"/>
              <a:buChar char="●"/>
            </a:pPr>
            <a:r>
              <a:rPr lang="en"/>
              <a:t>Hash table starts at size 16, then doubles every time N exceeds load factor which defaults to 0.75.</a:t>
            </a:r>
            <a:endParaRPr/>
          </a:p>
          <a:p>
            <a:pPr indent="-342900" lvl="0" marL="457200" rtl="0" algn="l">
              <a:spcBef>
                <a:spcPts val="0"/>
              </a:spcBef>
              <a:spcAft>
                <a:spcPts val="0"/>
              </a:spcAft>
              <a:buSzPts val="1800"/>
              <a:buChar char="●"/>
            </a:pPr>
            <a:r>
              <a:rPr lang="en"/>
              <a:t>The reduce function is a bit </a:t>
            </a:r>
            <a:r>
              <a:rPr lang="en"/>
              <a:t>complicated</a:t>
            </a:r>
            <a:r>
              <a:rPr lang="en"/>
              <a:t>. Come ask me at OH if </a:t>
            </a:r>
            <a:r>
              <a:rPr lang="en"/>
              <a:t>you</a:t>
            </a:r>
            <a:r>
              <a:rPr lang="en"/>
              <a:t>’re curious.</a:t>
            </a:r>
            <a:endParaRPr/>
          </a:p>
        </p:txBody>
      </p:sp>
      <p:sp>
        <p:nvSpPr>
          <p:cNvPr id="721" name="Google Shape;721;p79"/>
          <p:cNvSpPr txBox="1"/>
          <p:nvPr/>
        </p:nvSpPr>
        <p:spPr>
          <a:xfrm>
            <a:off x="326500" y="3330850"/>
            <a:ext cx="882300" cy="3261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đậu hũ</a:t>
            </a:r>
            <a:endParaRPr/>
          </a:p>
        </p:txBody>
      </p:sp>
      <p:sp>
        <p:nvSpPr>
          <p:cNvPr id="722" name="Google Shape;722;p79"/>
          <p:cNvSpPr txBox="1"/>
          <p:nvPr/>
        </p:nvSpPr>
        <p:spPr>
          <a:xfrm>
            <a:off x="1526825" y="3330850"/>
            <a:ext cx="13854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hashCode()</a:t>
            </a:r>
            <a:endParaRPr>
              <a:latin typeface="Consolas"/>
              <a:ea typeface="Consolas"/>
              <a:cs typeface="Consolas"/>
              <a:sym typeface="Consolas"/>
            </a:endParaRPr>
          </a:p>
        </p:txBody>
      </p:sp>
      <p:cxnSp>
        <p:nvCxnSpPr>
          <p:cNvPr id="723" name="Google Shape;723;p79"/>
          <p:cNvCxnSpPr>
            <a:stCxn id="721" idx="3"/>
            <a:endCxn id="722" idx="1"/>
          </p:cNvCxnSpPr>
          <p:nvPr/>
        </p:nvCxnSpPr>
        <p:spPr>
          <a:xfrm>
            <a:off x="1208800" y="3493900"/>
            <a:ext cx="318000" cy="0"/>
          </a:xfrm>
          <a:prstGeom prst="straightConnector1">
            <a:avLst/>
          </a:prstGeom>
          <a:noFill/>
          <a:ln cap="flat" cmpd="sng" w="19050">
            <a:solidFill>
              <a:schemeClr val="dk2"/>
            </a:solidFill>
            <a:prstDash val="solid"/>
            <a:round/>
            <a:headEnd len="med" w="med" type="none"/>
            <a:tailEnd len="med" w="med" type="triangle"/>
          </a:ln>
        </p:spPr>
      </p:cxnSp>
      <p:sp>
        <p:nvSpPr>
          <p:cNvPr id="724" name="Google Shape;724;p79"/>
          <p:cNvSpPr txBox="1"/>
          <p:nvPr/>
        </p:nvSpPr>
        <p:spPr>
          <a:xfrm>
            <a:off x="3215350" y="3330850"/>
            <a:ext cx="1333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-2108180664</a:t>
            </a:r>
            <a:endParaRPr>
              <a:latin typeface="Consolas"/>
              <a:ea typeface="Consolas"/>
              <a:cs typeface="Consolas"/>
              <a:sym typeface="Consolas"/>
            </a:endParaRPr>
          </a:p>
        </p:txBody>
      </p:sp>
      <p:cxnSp>
        <p:nvCxnSpPr>
          <p:cNvPr id="725" name="Google Shape;725;p79"/>
          <p:cNvCxnSpPr>
            <a:stCxn id="722" idx="3"/>
            <a:endCxn id="724" idx="1"/>
          </p:cNvCxnSpPr>
          <p:nvPr/>
        </p:nvCxnSpPr>
        <p:spPr>
          <a:xfrm>
            <a:off x="2912225" y="3493900"/>
            <a:ext cx="303000" cy="0"/>
          </a:xfrm>
          <a:prstGeom prst="straightConnector1">
            <a:avLst/>
          </a:prstGeom>
          <a:noFill/>
          <a:ln cap="flat" cmpd="sng" w="19050">
            <a:solidFill>
              <a:schemeClr val="dk2"/>
            </a:solidFill>
            <a:prstDash val="solid"/>
            <a:round/>
            <a:headEnd len="med" w="med" type="none"/>
            <a:tailEnd len="med" w="med" type="triangle"/>
          </a:ln>
        </p:spPr>
      </p:cxnSp>
      <p:sp>
        <p:nvSpPr>
          <p:cNvPr id="726" name="Google Shape;726;p79"/>
          <p:cNvSpPr txBox="1"/>
          <p:nvPr/>
        </p:nvSpPr>
        <p:spPr>
          <a:xfrm>
            <a:off x="1003200" y="4307050"/>
            <a:ext cx="23550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(hc ^ (hc &gt;&gt;&gt; 16)) </a:t>
            </a:r>
            <a:r>
              <a:rPr lang="en">
                <a:solidFill>
                  <a:schemeClr val="dk1"/>
                </a:solidFill>
              </a:rPr>
              <a:t>&amp; (N -1)</a:t>
            </a:r>
            <a:endParaRPr/>
          </a:p>
        </p:txBody>
      </p:sp>
      <p:sp>
        <p:nvSpPr>
          <p:cNvPr id="727" name="Google Shape;727;p79"/>
          <p:cNvSpPr txBox="1"/>
          <p:nvPr/>
        </p:nvSpPr>
        <p:spPr>
          <a:xfrm>
            <a:off x="3936925" y="4307050"/>
            <a:ext cx="610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15</a:t>
            </a:r>
            <a:endParaRPr>
              <a:latin typeface="Consolas"/>
              <a:ea typeface="Consolas"/>
              <a:cs typeface="Consolas"/>
              <a:sym typeface="Consolas"/>
            </a:endParaRPr>
          </a:p>
        </p:txBody>
      </p:sp>
      <p:cxnSp>
        <p:nvCxnSpPr>
          <p:cNvPr id="728" name="Google Shape;728;p79"/>
          <p:cNvCxnSpPr>
            <a:stCxn id="724" idx="2"/>
            <a:endCxn id="726" idx="1"/>
          </p:cNvCxnSpPr>
          <p:nvPr/>
        </p:nvCxnSpPr>
        <p:spPr>
          <a:xfrm rot="5400000">
            <a:off x="2035900" y="2624200"/>
            <a:ext cx="813300" cy="2878800"/>
          </a:xfrm>
          <a:prstGeom prst="bentConnector4">
            <a:avLst>
              <a:gd fmla="val 39967" name="adj1"/>
              <a:gd fmla="val 108270" name="adj2"/>
            </a:avLst>
          </a:prstGeom>
          <a:noFill/>
          <a:ln cap="flat" cmpd="sng" w="19050">
            <a:solidFill>
              <a:schemeClr val="dk2"/>
            </a:solidFill>
            <a:prstDash val="solid"/>
            <a:round/>
            <a:headEnd len="med" w="med" type="none"/>
            <a:tailEnd len="med" w="med" type="triangle"/>
          </a:ln>
        </p:spPr>
      </p:cxnSp>
      <p:cxnSp>
        <p:nvCxnSpPr>
          <p:cNvPr id="729" name="Google Shape;729;p79"/>
          <p:cNvCxnSpPr>
            <a:stCxn id="726" idx="3"/>
            <a:endCxn id="727" idx="1"/>
          </p:cNvCxnSpPr>
          <p:nvPr/>
        </p:nvCxnSpPr>
        <p:spPr>
          <a:xfrm>
            <a:off x="3358200" y="4470100"/>
            <a:ext cx="578700" cy="0"/>
          </a:xfrm>
          <a:prstGeom prst="straightConnector1">
            <a:avLst/>
          </a:prstGeom>
          <a:noFill/>
          <a:ln cap="flat" cmpd="sng" w="19050">
            <a:solidFill>
              <a:schemeClr val="dk2"/>
            </a:solidFill>
            <a:prstDash val="solid"/>
            <a:round/>
            <a:headEnd len="med" w="med" type="none"/>
            <a:tailEnd len="med" w="med" type="triangle"/>
          </a:ln>
        </p:spPr>
      </p:cxnSp>
      <p:sp>
        <p:nvSpPr>
          <p:cNvPr id="730" name="Google Shape;730;p79"/>
          <p:cNvSpPr txBox="1"/>
          <p:nvPr/>
        </p:nvSpPr>
        <p:spPr>
          <a:xfrm>
            <a:off x="479575" y="3010800"/>
            <a:ext cx="5769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data</a:t>
            </a:r>
            <a:endParaRPr i="1"/>
          </a:p>
        </p:txBody>
      </p:sp>
      <p:sp>
        <p:nvSpPr>
          <p:cNvPr id="731" name="Google Shape;731;p79"/>
          <p:cNvSpPr txBox="1"/>
          <p:nvPr/>
        </p:nvSpPr>
        <p:spPr>
          <a:xfrm>
            <a:off x="3215350" y="3010800"/>
            <a:ext cx="11025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hash code</a:t>
            </a:r>
            <a:endParaRPr b="1"/>
          </a:p>
        </p:txBody>
      </p:sp>
      <p:sp>
        <p:nvSpPr>
          <p:cNvPr id="732" name="Google Shape;732;p79"/>
          <p:cNvSpPr txBox="1"/>
          <p:nvPr/>
        </p:nvSpPr>
        <p:spPr>
          <a:xfrm>
            <a:off x="1474550" y="3010800"/>
            <a:ext cx="13854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hash function</a:t>
            </a:r>
            <a:endParaRPr b="1"/>
          </a:p>
        </p:txBody>
      </p:sp>
      <p:sp>
        <p:nvSpPr>
          <p:cNvPr id="733" name="Google Shape;733;p79"/>
          <p:cNvSpPr txBox="1"/>
          <p:nvPr/>
        </p:nvSpPr>
        <p:spPr>
          <a:xfrm>
            <a:off x="915275" y="4596028"/>
            <a:ext cx="799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reduce</a:t>
            </a:r>
            <a:endParaRPr b="1"/>
          </a:p>
        </p:txBody>
      </p:sp>
      <p:sp>
        <p:nvSpPr>
          <p:cNvPr id="734" name="Google Shape;734;p79"/>
          <p:cNvSpPr txBox="1"/>
          <p:nvPr/>
        </p:nvSpPr>
        <p:spPr>
          <a:xfrm>
            <a:off x="3936925" y="4596028"/>
            <a:ext cx="610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index</a:t>
            </a:r>
            <a:endParaRPr i="1"/>
          </a:p>
        </p:txBody>
      </p:sp>
      <p:sp>
        <p:nvSpPr>
          <p:cNvPr id="735" name="Google Shape;735;p79"/>
          <p:cNvSpPr txBox="1"/>
          <p:nvPr/>
        </p:nvSpPr>
        <p:spPr>
          <a:xfrm>
            <a:off x="3825125" y="4786125"/>
            <a:ext cx="215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For N = 16</a:t>
            </a:r>
            <a:endParaRPr>
              <a:latin typeface="Roboto"/>
              <a:ea typeface="Roboto"/>
              <a:cs typeface="Roboto"/>
              <a:sym typeface="Roboto"/>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8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HashSets in Java</a:t>
            </a:r>
            <a:endParaRPr/>
          </a:p>
        </p:txBody>
      </p:sp>
      <p:sp>
        <p:nvSpPr>
          <p:cNvPr id="741" name="Google Shape;741;p80"/>
          <p:cNvSpPr txBox="1"/>
          <p:nvPr>
            <p:ph idx="1" type="body"/>
          </p:nvPr>
        </p:nvSpPr>
        <p:spPr>
          <a:xfrm>
            <a:off x="107050" y="402200"/>
            <a:ext cx="8955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I’ve written a class called HashSet probe that uses the reflections library to print out the size of the array holding the buckets.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Let’s try it out.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8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HashSets in Java</a:t>
            </a:r>
            <a:endParaRPr/>
          </a:p>
        </p:txBody>
      </p:sp>
      <p:sp>
        <p:nvSpPr>
          <p:cNvPr id="747" name="Google Shape;747;p81"/>
          <p:cNvSpPr txBox="1"/>
          <p:nvPr>
            <p:ph idx="1" type="body"/>
          </p:nvPr>
        </p:nvSpPr>
        <p:spPr>
          <a:xfrm>
            <a:off x="107050" y="402200"/>
            <a:ext cx="8955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I’ve written a class called HashSet probe that uses the reflections library to print out the size of the array holding the buckets.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Let’s try it out.</a:t>
            </a:r>
            <a:endParaRPr/>
          </a:p>
          <a:p>
            <a:pPr indent="-342900" lvl="0" marL="457200" rtl="0" algn="l">
              <a:spcBef>
                <a:spcPts val="600"/>
              </a:spcBef>
              <a:spcAft>
                <a:spcPts val="0"/>
              </a:spcAft>
              <a:buSzPts val="1800"/>
              <a:buChar char="●"/>
            </a:pPr>
            <a:r>
              <a:rPr lang="en"/>
              <a:t>N/M is never more than 0.75.</a:t>
            </a:r>
            <a:endParaRPr/>
          </a:p>
        </p:txBody>
      </p:sp>
      <p:sp>
        <p:nvSpPr>
          <p:cNvPr id="748" name="Google Shape;748;p81"/>
          <p:cNvSpPr txBox="1"/>
          <p:nvPr/>
        </p:nvSpPr>
        <p:spPr>
          <a:xfrm>
            <a:off x="1251625" y="2245400"/>
            <a:ext cx="71328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Consolas"/>
                <a:ea typeface="Consolas"/>
                <a:cs typeface="Consolas"/>
                <a:sym typeface="Consolas"/>
              </a:rPr>
              <a:t>Resize occurred, N = 13, hash table array size = 32</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Resize occurred, N = 25, hash table array size = 64</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Resize occurred, N = 49, hash table array size = 128</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Resize occurred, N = 97, hash table array size = 256</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Resize occurred, N = 193, hash table array size = 512</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Resize occurred, N = 385, hash table array size = 1024</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Resize occurred, N = 769, hash table array size = 2048</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Resize occurred, N = 1537, hash table array size = 4096</a:t>
            </a:r>
            <a:endParaRPr sz="1800">
              <a:latin typeface="Consolas"/>
              <a:ea typeface="Consolas"/>
              <a:cs typeface="Consolas"/>
              <a:sym typeface="Consola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8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Let’s run a simulation to see what happens if the load factor is kept to 0.75 or less.</a:t>
            </a:r>
            <a:endParaRPr/>
          </a:p>
        </p:txBody>
      </p:sp>
      <p:sp>
        <p:nvSpPr>
          <p:cNvPr id="754" name="Google Shape;754;p8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Visualizing a Hash Table With Load Factor 0.75.</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8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Let’s run a simulation to see what happens if the load factor is kept to 0.75 or less.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Longest bucket in the simulation looks like it’s around ~5.</a:t>
            </a:r>
            <a:endParaRPr/>
          </a:p>
          <a:p>
            <a:pPr indent="-342900" lvl="0" marL="457200" rtl="0" algn="l">
              <a:spcBef>
                <a:spcPts val="600"/>
              </a:spcBef>
              <a:spcAft>
                <a:spcPts val="0"/>
              </a:spcAft>
              <a:buSzPts val="1800"/>
              <a:buChar char="●"/>
            </a:pPr>
            <a:r>
              <a:rPr lang="en"/>
              <a:t>In CS70, you’ll derive a precise mathematical characterization of the length of the longest bucket.</a:t>
            </a:r>
            <a:endParaRPr/>
          </a:p>
          <a:p>
            <a:pPr indent="-342900" lvl="1" marL="914400" rtl="0" algn="l">
              <a:spcBef>
                <a:spcPts val="0"/>
              </a:spcBef>
              <a:spcAft>
                <a:spcPts val="0"/>
              </a:spcAft>
              <a:buSzPts val="1800"/>
              <a:buChar char="○"/>
            </a:pPr>
            <a:r>
              <a:rPr lang="en"/>
              <a:t>This is the so called “balls into bins” problem.</a:t>
            </a:r>
            <a:endParaRPr/>
          </a:p>
          <a:p>
            <a:pPr indent="-342900" lvl="1" marL="914400" rtl="0" algn="l">
              <a:spcBef>
                <a:spcPts val="0"/>
              </a:spcBef>
              <a:spcAft>
                <a:spcPts val="0"/>
              </a:spcAft>
              <a:buSzPts val="1800"/>
              <a:buChar char="○"/>
            </a:pPr>
            <a:r>
              <a:rPr lang="en" u="sng">
                <a:solidFill>
                  <a:schemeClr val="hlink"/>
                </a:solidFill>
                <a:hlinkClick r:id="rId3"/>
              </a:rPr>
              <a:t>https://en.wikipedia.org/wiki/Balls_into_bins_problem</a:t>
            </a:r>
            <a:endParaRPr/>
          </a:p>
          <a:p>
            <a:pPr indent="-342900" lvl="1" marL="914400" rtl="0" algn="l">
              <a:spcBef>
                <a:spcPts val="0"/>
              </a:spcBef>
              <a:spcAft>
                <a:spcPts val="0"/>
              </a:spcAft>
              <a:buSzPts val="1800"/>
              <a:buChar char="○"/>
            </a:pPr>
            <a:r>
              <a:rPr lang="en"/>
              <a:t>Can use this math to show the worst case runtime is a bit worse than constant.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760" name="Google Shape;760;p8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Visualizing a Hash Table With Load Factor 0.75.</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8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If we ctrl-F for “red-</a:t>
            </a:r>
            <a:r>
              <a:rPr lang="en"/>
              <a:t>black</a:t>
            </a:r>
            <a:r>
              <a:rPr lang="en"/>
              <a:t>” we find that that if a bin gets too full, it is converted into a red-black tree!</a:t>
            </a:r>
            <a:endParaRPr/>
          </a:p>
          <a:p>
            <a:pPr indent="-342900" lvl="0" marL="457200" rtl="0" algn="l">
              <a:spcBef>
                <a:spcPts val="600"/>
              </a:spcBef>
              <a:spcAft>
                <a:spcPts val="0"/>
              </a:spcAft>
              <a:buSzPts val="1800"/>
              <a:buChar char="●"/>
            </a:pPr>
            <a:r>
              <a:rPr lang="en"/>
              <a:t>“</a:t>
            </a:r>
            <a:r>
              <a:rPr lang="en"/>
              <a:t>This map usually acts as a binned (bucketed) hash table, but when bins get too large, they are transformed into bins of TreeNodes, each structured similarly to those in java.util.TreeMap. Most methods try to use normal bins, but relay to TreeNode methods when applicable (simply by checking instanceof a node).  Bins of TreeNodes may be traversed and used like any others, but additionally support faster lookup when overpopulated. However, since the vast majority of bins in normal use are not overpopulated, checking for existence of tree bins may be delayed in the course of table methods.”</a:t>
            </a:r>
            <a:endParaRPr/>
          </a:p>
          <a:p>
            <a:pPr indent="-342900" lvl="0" marL="457200" rtl="0" algn="l">
              <a:spcBef>
                <a:spcPts val="0"/>
              </a:spcBef>
              <a:spcAft>
                <a:spcPts val="0"/>
              </a:spcAft>
              <a:buSzPts val="1800"/>
              <a:buChar char="●"/>
            </a:pPr>
            <a:r>
              <a:rPr lang="en"/>
              <a:t>This is well beyond the scope of our course.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most useful algorithms are, unfortunately, not always the most beautiful.” </a:t>
            </a:r>
            <a:endParaRPr/>
          </a:p>
          <a:p>
            <a:pPr indent="0" lvl="0" marL="0" rtl="0" algn="l">
              <a:spcBef>
                <a:spcPts val="600"/>
              </a:spcBef>
              <a:spcAft>
                <a:spcPts val="0"/>
              </a:spcAft>
              <a:buNone/>
            </a:pPr>
            <a:r>
              <a:rPr lang="en"/>
              <a:t> -Josh Hug</a:t>
            </a:r>
            <a:endParaRPr/>
          </a:p>
        </p:txBody>
      </p:sp>
      <p:sp>
        <p:nvSpPr>
          <p:cNvPr id="766" name="Google Shape;766;p8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Another Interesting Optimization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8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Citations</a:t>
            </a:r>
            <a:endParaRPr/>
          </a:p>
        </p:txBody>
      </p:sp>
      <p:sp>
        <p:nvSpPr>
          <p:cNvPr id="772" name="Google Shape;772;p8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Hashbrowns in Cyberspace by Dall-E.</a:t>
            </a:r>
            <a:endParaRPr/>
          </a:p>
          <a:p>
            <a:pPr indent="-342900" lvl="0" marL="457200" rtl="0" algn="l">
              <a:spcBef>
                <a:spcPts val="600"/>
              </a:spcBef>
              <a:spcAft>
                <a:spcPts val="0"/>
              </a:spcAft>
              <a:buSzPts val="1800"/>
              <a:buChar char="●"/>
            </a:pPr>
            <a:r>
              <a:rPr lang="en"/>
              <a:t>Josh conjectures that H thing is the hashbrown key.</a:t>
            </a:r>
            <a:endParaRPr/>
          </a:p>
        </p:txBody>
      </p:sp>
      <p:pic>
        <p:nvPicPr>
          <p:cNvPr id="773" name="Google Shape;773;p85"/>
          <p:cNvPicPr preferRelativeResize="0"/>
          <p:nvPr/>
        </p:nvPicPr>
        <p:blipFill>
          <a:blip r:embed="rId3">
            <a:alphaModFix/>
          </a:blip>
          <a:stretch>
            <a:fillRect/>
          </a:stretch>
        </p:blipFill>
        <p:spPr>
          <a:xfrm>
            <a:off x="5404675" y="1326250"/>
            <a:ext cx="3503826" cy="350382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8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FAQ</a:t>
            </a:r>
            <a:endParaRPr/>
          </a:p>
        </p:txBody>
      </p:sp>
      <p:sp>
        <p:nvSpPr>
          <p:cNvPr id="779" name="Google Shape;779;p8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is the distinction between hash set, hash map, and hash table?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 hash set is an implementation of the Set ADT using the “hash table” as its engine.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 hash map is an implementation of the Map ADT using the “hash table” as its engine.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 “hash table” is a way of storing information, where you have M buckets that store N items. Each item has a “hashCode” that tells you which of M buckets to put that item in.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