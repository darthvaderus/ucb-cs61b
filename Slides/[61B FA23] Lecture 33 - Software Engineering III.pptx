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Lst>
  <p:sldSz cy="5143500" cx="9144000"/>
  <p:notesSz cx="6858000" cy="9144000"/>
  <p:embeddedFontLst>
    <p:embeddedFont>
      <p:font typeface="Roboto Medium"/>
      <p:regular r:id="rId75"/>
      <p:bold r:id="rId76"/>
      <p:italic r:id="rId77"/>
      <p:boldItalic r:id="rId78"/>
    </p:embeddedFont>
    <p:embeddedFont>
      <p:font typeface="Roboto"/>
      <p:regular r:id="rId79"/>
      <p:bold r:id="rId80"/>
      <p:italic r:id="rId81"/>
      <p:boldItalic r:id="rId82"/>
    </p:embeddedFont>
    <p:embeddedFont>
      <p:font typeface="Lato"/>
      <p:regular r:id="rId83"/>
      <p:bold r:id="rId84"/>
      <p:italic r:id="rId85"/>
      <p:boldItalic r:id="rId86"/>
    </p:embeddedFont>
    <p:embeddedFont>
      <p:font typeface="Roboto Light"/>
      <p:regular r:id="rId87"/>
      <p:bold r:id="rId88"/>
      <p:italic r:id="rId89"/>
      <p:boldItalic r:id="rId90"/>
    </p:embeddedFont>
    <p:embeddedFont>
      <p:font typeface="JetBrains Mono"/>
      <p:regular r:id="rId91"/>
      <p:bold r:id="rId92"/>
      <p:italic r:id="rId93"/>
      <p:boldItalic r:id="rId94"/>
    </p:embeddedFont>
    <p:embeddedFont>
      <p:font typeface="Open Sans"/>
      <p:regular r:id="rId95"/>
      <p:bold r:id="rId96"/>
      <p:italic r:id="rId97"/>
      <p:boldItalic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font" Target="fonts/OpenSans-regular.fntdata"/><Relationship Id="rId94" Type="http://schemas.openxmlformats.org/officeDocument/2006/relationships/font" Target="fonts/JetBrainsMono-boldItalic.fntdata"/><Relationship Id="rId97" Type="http://schemas.openxmlformats.org/officeDocument/2006/relationships/font" Target="fonts/OpenSans-italic.fntdata"/><Relationship Id="rId96" Type="http://schemas.openxmlformats.org/officeDocument/2006/relationships/font" Target="fonts/OpenSans-bold.fntdata"/><Relationship Id="rId11" Type="http://schemas.openxmlformats.org/officeDocument/2006/relationships/slide" Target="slides/slide7.xml"/><Relationship Id="rId10" Type="http://schemas.openxmlformats.org/officeDocument/2006/relationships/slide" Target="slides/slide6.xml"/><Relationship Id="rId98" Type="http://schemas.openxmlformats.org/officeDocument/2006/relationships/font" Target="fonts/OpenSans-boldItalic.fntdata"/><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font" Target="fonts/JetBrainsMono-regular.fntdata"/><Relationship Id="rId90" Type="http://schemas.openxmlformats.org/officeDocument/2006/relationships/font" Target="fonts/RobotoLight-boldItalic.fntdata"/><Relationship Id="rId93" Type="http://schemas.openxmlformats.org/officeDocument/2006/relationships/font" Target="fonts/JetBrainsMono-italic.fntdata"/><Relationship Id="rId92" Type="http://schemas.openxmlformats.org/officeDocument/2006/relationships/font" Target="fonts/JetBrainsMono-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84" Type="http://schemas.openxmlformats.org/officeDocument/2006/relationships/font" Target="fonts/Lato-bold.fntdata"/><Relationship Id="rId83" Type="http://schemas.openxmlformats.org/officeDocument/2006/relationships/font" Target="fonts/Lato-regular.fntdata"/><Relationship Id="rId86" Type="http://schemas.openxmlformats.org/officeDocument/2006/relationships/font" Target="fonts/Lato-boldItalic.fntdata"/><Relationship Id="rId85" Type="http://schemas.openxmlformats.org/officeDocument/2006/relationships/font" Target="fonts/Lato-italic.fntdata"/><Relationship Id="rId88" Type="http://schemas.openxmlformats.org/officeDocument/2006/relationships/font" Target="fonts/RobotoLight-bold.fntdata"/><Relationship Id="rId87" Type="http://schemas.openxmlformats.org/officeDocument/2006/relationships/font" Target="fonts/RobotoLight-regular.fntdata"/><Relationship Id="rId89" Type="http://schemas.openxmlformats.org/officeDocument/2006/relationships/font" Target="fonts/RobotoLight-italic.fntdata"/><Relationship Id="rId80" Type="http://schemas.openxmlformats.org/officeDocument/2006/relationships/font" Target="fonts/Roboto-bold.fntdata"/><Relationship Id="rId82" Type="http://schemas.openxmlformats.org/officeDocument/2006/relationships/font" Target="fonts/Roboto-boldItalic.fntdata"/><Relationship Id="rId81"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font" Target="fonts/RobotoMedium-regular.fntdata"/><Relationship Id="rId74" Type="http://schemas.openxmlformats.org/officeDocument/2006/relationships/slide" Target="slides/slide70.xml"/><Relationship Id="rId77" Type="http://schemas.openxmlformats.org/officeDocument/2006/relationships/font" Target="fonts/RobotoMedium-italic.fntdata"/><Relationship Id="rId76" Type="http://schemas.openxmlformats.org/officeDocument/2006/relationships/font" Target="fonts/RobotoMedium-bold.fntdata"/><Relationship Id="rId79" Type="http://schemas.openxmlformats.org/officeDocument/2006/relationships/font" Target="fonts/Roboto-regular.fntdata"/><Relationship Id="rId78" Type="http://schemas.openxmlformats.org/officeDocument/2006/relationships/font" Target="fonts/RobotoMedium-boldItalic.fntdata"/><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ssmVtL-SxBfCXTmLydKp9u5KeRIsJjhG/view"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ssmVtL-SxBfCXTmLydKp9u5KeRIsJjhG/view"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ssmVtL-SxBfCXTmLydKp9u5KeRIsJjhG/view" TargetMode="External"/><Relationship Id="rId3" Type="http://schemas.openxmlformats.org/officeDocument/2006/relationships/hyperlink" Target="https://cs61b.slack.com/archives/C064N0G0BPF/p1699429602154249" TargetMode="External"/><Relationship Id="rId4" Type="http://schemas.openxmlformats.org/officeDocument/2006/relationships/hyperlink" Target="https://cs61b.slack.com/archives/C064N0G0BPF/p1699429646306019" TargetMode="External"/><Relationship Id="rId5" Type="http://schemas.openxmlformats.org/officeDocument/2006/relationships/hyperlink" Target="https://cs61b.slack.com/archives/C064N0G0BPF/p1699429681449319"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ssmVtL-SxBfCXTmLydKp9u5KeRIsJjhG/view"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avascript.plainenglish.io/fibonacci-javascript-implementations-comparison-fd09190f5b79"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avascript.plainenglish.io/fibonacci-javascript-implementations-comparison-fd09190f5b79"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5f155b838b_0_2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5f155b838b_0_2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Pasta tasted bad :(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03587b4f2_0_1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03587b4f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d08577524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d085775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603587b4f2_1_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603587b4f2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03587b4f2_0_1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03587b4f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8d08577524_0_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8d0857752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603587b4f2_0_1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603587b4f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8d08577524_0_8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8d0857752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603587b4f2_0_23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603587b4f2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03587b4f2_2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603587b4f2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603587b4f2_0_2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603587b4f2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603587b4f2_2_1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603587b4f2_2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603587b4f2_2_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603587b4f2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03587b4f2_2_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603587b4f2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978d96e469_0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978d96e46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978d96e469_0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978d96e46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978d96e469_0_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978d96e46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6058148417_0_2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6058148417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988a7d9870_1_1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988a7d9870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988a7d9870_1_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988a7d9870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988a7d9870_1_1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988a7d9870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988a7d9870_1_1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988a7d9870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988a7d9870_1_1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988a7d9870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988a7d9870_1_2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988a7d9870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988a7d9870_1_2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988a7d9870_1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88a7d9870_1_2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988a7d9870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8d08577524_0_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8d0857752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603587b4f2_2_1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603587b4f2_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988a7d9870_0_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988a7d987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6082c444fd_28_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6082c444fd_2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6082c444fd_28_2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6082c444fd_28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6082c444fd_28_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6082c444fd_28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978d96e469_0_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978d96e46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603587b4f2_1_18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603587b4f2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603587b4f2_1_20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2603587b4f2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603587b4f2_1_2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603587b4f2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603587b4f2_1_2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603587b4f2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603587b4f2_1_4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603587b4f2_1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603587b4f2_1_3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603587b4f2_1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603587b4f2_1_2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603587b4f2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2984ae4115d_0_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2984ae4115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Inspired by </a:t>
            </a:r>
            <a:r>
              <a:rPr lang="en" u="sng">
                <a:solidFill>
                  <a:schemeClr val="hlink"/>
                </a:solidFill>
                <a:hlinkClick r:id="rId2"/>
              </a:rPr>
              <a:t>https://drive.google.com/file/d/1ssmVtL-SxBfCXTmLydKp9u5KeRIsJjhG/view</a:t>
            </a:r>
            <a:r>
              <a:rPr lang="en"/>
              <a:t> (Fall 2023 Discussion 7)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984ae4115d_0_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984ae4115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Inspired by </a:t>
            </a:r>
            <a:r>
              <a:rPr lang="en" u="sng">
                <a:solidFill>
                  <a:schemeClr val="hlink"/>
                </a:solidFill>
                <a:hlinkClick r:id="rId2"/>
              </a:rPr>
              <a:t>https://drive.google.com/file/d/1ssmVtL-SxBfCXTmLydKp9u5KeRIsJjhG/view</a:t>
            </a:r>
            <a:r>
              <a:rPr lang="en"/>
              <a:t> (Fall 2023 Discussion 7) </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984ae4115d_0_8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984ae4115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Inspired by </a:t>
            </a:r>
            <a:r>
              <a:rPr lang="en" u="sng">
                <a:solidFill>
                  <a:schemeClr val="hlink"/>
                </a:solidFill>
                <a:hlinkClick r:id="rId2"/>
              </a:rPr>
              <a:t>https://drive.google.com/file/d/1ssmVtL-SxBfCXTmLydKp9u5KeRIsJjhG/view</a:t>
            </a:r>
            <a:r>
              <a:rPr lang="en"/>
              <a:t> (Fall 2023 Discussion 7) </a:t>
            </a:r>
            <a:endParaRPr/>
          </a:p>
          <a:p>
            <a:pPr indent="0" lvl="0" marL="0" rtl="0" algn="l">
              <a:spcBef>
                <a:spcPts val="0"/>
              </a:spcBef>
              <a:spcAft>
                <a:spcPts val="0"/>
              </a:spcAft>
              <a:buNone/>
            </a:pPr>
            <a:r>
              <a:t/>
            </a:r>
            <a:endParaRPr/>
          </a:p>
          <a:p>
            <a:pPr indent="0" lvl="0" marL="190500" marR="190500" rtl="0" algn="l">
              <a:lnSpc>
                <a:spcPct val="146668"/>
              </a:lnSpc>
              <a:spcBef>
                <a:spcPts val="0"/>
              </a:spcBef>
              <a:spcAft>
                <a:spcPts val="0"/>
              </a:spcAft>
              <a:buNone/>
            </a:pPr>
            <a:r>
              <a:rPr lang="en" sz="1150">
                <a:solidFill>
                  <a:srgbClr val="D1D2D3"/>
                </a:solidFill>
                <a:highlight>
                  <a:srgbClr val="1A1D21"/>
                </a:highlight>
              </a:rPr>
              <a:t>The planting trees problem is slightly different from what I was planning actually; the premise is similar, but instead of maximizing score, we just want to count how many distinct ways we can plant the trees. This has a naive solution: check all possible tree arrangements, and count the valid ones. That takes Θ(2^N) time to run.</a:t>
            </a:r>
            <a:endParaRPr sz="1150">
              <a:solidFill>
                <a:srgbClr val="D1D2D3"/>
              </a:solidFill>
              <a:highlight>
                <a:srgbClr val="1A1D21"/>
              </a:highlight>
            </a:endParaRPr>
          </a:p>
          <a:p>
            <a:pPr indent="0" lvl="0" marL="0" marR="266700" rtl="0" algn="r">
              <a:lnSpc>
                <a:spcPct val="146668"/>
              </a:lnSpc>
              <a:spcBef>
                <a:spcPts val="0"/>
              </a:spcBef>
              <a:spcAft>
                <a:spcPts val="0"/>
              </a:spcAft>
              <a:buNone/>
            </a:pPr>
            <a:r>
              <a:rPr lang="en" sz="900">
                <a:solidFill>
                  <a:schemeClr val="hlink"/>
                </a:solidFill>
                <a:highlight>
                  <a:srgbClr val="1A1D21"/>
                </a:highlight>
                <a:uFill>
                  <a:noFill/>
                </a:uFill>
                <a:hlinkClick r:id="rId3"/>
              </a:rPr>
              <a:t>11:46</a:t>
            </a:r>
            <a:endParaRPr sz="900">
              <a:solidFill>
                <a:schemeClr val="hlink"/>
              </a:solidFill>
              <a:highlight>
                <a:srgbClr val="1A1D21"/>
              </a:highlight>
            </a:endParaRPr>
          </a:p>
          <a:p>
            <a:pPr indent="0" lvl="0" marL="190500" marR="190500" rtl="0" algn="l">
              <a:lnSpc>
                <a:spcPct val="146668"/>
              </a:lnSpc>
              <a:spcBef>
                <a:spcPts val="0"/>
              </a:spcBef>
              <a:spcAft>
                <a:spcPts val="0"/>
              </a:spcAft>
              <a:buNone/>
            </a:pPr>
            <a:r>
              <a:rPr lang="en" sz="1150">
                <a:solidFill>
                  <a:srgbClr val="D1D2D3"/>
                </a:solidFill>
                <a:highlight>
                  <a:srgbClr val="1A1D21"/>
                </a:highlight>
              </a:rPr>
              <a:t>Alternatively, we try to break it down to smaller problems; we either plant a tree in spot 0 (in which case we have f(N-2) options for the rest of the garden), or don't plant a tree in spot 0 (in which case we have f(N-1) options for the rest of the garden) (where f is the function in question we want to solve).</a:t>
            </a:r>
            <a:endParaRPr sz="1150">
              <a:solidFill>
                <a:srgbClr val="D1D2D3"/>
              </a:solidFill>
              <a:highlight>
                <a:srgbClr val="1A1D21"/>
              </a:highlight>
            </a:endParaRPr>
          </a:p>
          <a:p>
            <a:pPr indent="0" lvl="0" marL="0" marR="266700" rtl="0" algn="r">
              <a:lnSpc>
                <a:spcPct val="146668"/>
              </a:lnSpc>
              <a:spcBef>
                <a:spcPts val="0"/>
              </a:spcBef>
              <a:spcAft>
                <a:spcPts val="0"/>
              </a:spcAft>
              <a:buNone/>
            </a:pPr>
            <a:r>
              <a:rPr lang="en" sz="900">
                <a:solidFill>
                  <a:schemeClr val="hlink"/>
                </a:solidFill>
                <a:highlight>
                  <a:srgbClr val="1A1D21"/>
                </a:highlight>
                <a:uFill>
                  <a:noFill/>
                </a:uFill>
                <a:hlinkClick r:id="rId4"/>
              </a:rPr>
              <a:t>11:47</a:t>
            </a:r>
            <a:endParaRPr sz="900">
              <a:solidFill>
                <a:schemeClr val="hlink"/>
              </a:solidFill>
              <a:highlight>
                <a:srgbClr val="1A1D21"/>
              </a:highlight>
            </a:endParaRPr>
          </a:p>
          <a:p>
            <a:pPr indent="0" lvl="0" marL="190500" marR="190500" rtl="0" algn="l">
              <a:lnSpc>
                <a:spcPct val="146668"/>
              </a:lnSpc>
              <a:spcBef>
                <a:spcPts val="0"/>
              </a:spcBef>
              <a:spcAft>
                <a:spcPts val="0"/>
              </a:spcAft>
              <a:buNone/>
            </a:pPr>
            <a:r>
              <a:rPr lang="en" sz="1150">
                <a:solidFill>
                  <a:srgbClr val="D1D2D3"/>
                </a:solidFill>
                <a:highlight>
                  <a:srgbClr val="1A1D21"/>
                </a:highlight>
              </a:rPr>
              <a:t>Therefore, the DP method of solving this reveals that the function fulfills the recurrence relation f(N)=f(N-1)+f(N-2).</a:t>
            </a:r>
            <a:endParaRPr sz="1150">
              <a:solidFill>
                <a:srgbClr val="D1D2D3"/>
              </a:solidFill>
              <a:highlight>
                <a:srgbClr val="1A1D21"/>
              </a:highlight>
            </a:endParaRPr>
          </a:p>
          <a:p>
            <a:pPr indent="0" lvl="0" marL="0" marR="266700" rtl="0" algn="r">
              <a:lnSpc>
                <a:spcPct val="146668"/>
              </a:lnSpc>
              <a:spcBef>
                <a:spcPts val="0"/>
              </a:spcBef>
              <a:spcAft>
                <a:spcPts val="0"/>
              </a:spcAft>
              <a:buNone/>
            </a:pPr>
            <a:r>
              <a:rPr lang="en" sz="900">
                <a:solidFill>
                  <a:schemeClr val="hlink"/>
                </a:solidFill>
                <a:highlight>
                  <a:srgbClr val="1A1D21"/>
                </a:highlight>
                <a:uFill>
                  <a:noFill/>
                </a:uFill>
                <a:hlinkClick r:id="rId5"/>
              </a:rPr>
              <a:t>11:48</a:t>
            </a:r>
            <a:endParaRPr sz="900">
              <a:solidFill>
                <a:schemeClr val="hlink"/>
              </a:solidFill>
              <a:highlight>
                <a:srgbClr val="1A1D21"/>
              </a:highlight>
            </a:endParaRPr>
          </a:p>
          <a:p>
            <a:pPr indent="0" lvl="0" marL="190500" marR="190500" rtl="0" algn="l">
              <a:lnSpc>
                <a:spcPct val="146668"/>
              </a:lnSpc>
              <a:spcBef>
                <a:spcPts val="0"/>
              </a:spcBef>
              <a:spcAft>
                <a:spcPts val="0"/>
              </a:spcAft>
              <a:buNone/>
            </a:pPr>
            <a:r>
              <a:rPr lang="en" sz="1150">
                <a:solidFill>
                  <a:srgbClr val="D1D2D3"/>
                </a:solidFill>
                <a:highlight>
                  <a:srgbClr val="1A1D21"/>
                </a:highlight>
              </a:rPr>
              <a:t>At which point you go through solving fib</a:t>
            </a:r>
            <a:endParaRPr sz="1150">
              <a:solidFill>
                <a:srgbClr val="D1D2D3"/>
              </a:solidFill>
              <a:highlight>
                <a:srgbClr val="1A1D21"/>
              </a:highlight>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984ae4115d_0_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2984ae4115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Inspired by </a:t>
            </a:r>
            <a:r>
              <a:rPr lang="en" u="sng">
                <a:solidFill>
                  <a:schemeClr val="hlink"/>
                </a:solidFill>
                <a:hlinkClick r:id="rId2"/>
              </a:rPr>
              <a:t>https://drive.google.com/file/d/1ssmVtL-SxBfCXTmLydKp9u5KeRIsJjhG/view</a:t>
            </a:r>
            <a:r>
              <a:rPr lang="en"/>
              <a:t> (Fall 2023 Discussion 7)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984ae4115d_0_2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984ae4115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603587b4f2_1_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603587b4f2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984ae4115d_0_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984ae4115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984ae4115d_0_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984ae4115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603587b4f2_1_2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603587b4f2_1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603587b4f2_1_2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603587b4f2_1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603587b4f2_1_2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2603587b4f2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2603587b4f2_1_27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2603587b4f2_1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https://javascript.plainenglish.io/fibonacci-javascript-implementations-comparison-fd09190f5b79</a:t>
            </a:r>
            <a:r>
              <a:rPr lang="en"/>
              <a:t>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603587b4f2_1_28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2603587b4f2_1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603587b4f2_1_3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2603587b4f2_1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603587b4f2_1_2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603587b4f2_1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603587b4f2_1_2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2603587b4f2_1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2603587b4f2_1_3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2603587b4f2_1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603587b4f2_1_3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603587b4f2_1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603587b4f2_1_3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603587b4f2_1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603587b4f2_1_3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603587b4f2_1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603587b4f2_1_3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603587b4f2_1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Source:</a:t>
            </a:r>
            <a:r>
              <a:rPr lang="en" u="sng">
                <a:solidFill>
                  <a:schemeClr val="hlink"/>
                </a:solidFill>
                <a:hlinkClick r:id="rId2"/>
              </a:rPr>
              <a:t>https://javascript.plainenglish.io/fibonacci-javascript-implementations-comparison-fd09190f5b79</a:t>
            </a:r>
            <a:r>
              <a:rPr lang="en">
                <a:solidFill>
                  <a:schemeClr val="dk1"/>
                </a:solidFill>
              </a:rPr>
              <a:t>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984ae4115d_0_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984ae4115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988a7d9870_4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988a7d987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2603587b4f2_1_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2603587b4f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603587b4f2_1_3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603587b4f2_1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2603587b4f2_1_3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2603587b4f2_1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603587b4f2_1_1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2603587b4f2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603587b4f2_1_2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2603587b4f2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603587b4f2_1_17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2603587b4f2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8d08577524_0_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8d0857752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jp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hyperlink" Target="https://xkcd.com/159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github.blog/2017-03-20-sha-1-collision-detection-on-github-com/" TargetMode="External"/><Relationship Id="rId4" Type="http://schemas.openxmlformats.org/officeDocument/2006/relationships/hyperlink" Target="http://www.sha1-online.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cbea.ms/git-commit/" TargetMode="External"/><Relationship Id="rId4" Type="http://schemas.openxmlformats.org/officeDocument/2006/relationships/hyperlink" Target="https://github.com/google/truth/commits/master?after=3841f13a52052c3e54f610ee0b8f9e39ec0d2eb2+104&amp;branch=master&amp;qualified_name=refs%2Fheads%2Fmaster" TargetMode="External"/><Relationship Id="rId5"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hyperlink" Target="https://xkcd.com/129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s://people.eecs.berkeley.edu/~vazirani/algorithms/chap6.pdf"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s://www2.eecs.berkeley.edu/Pubs/TechRpts/2022/EECS-2022-219.pdf" TargetMode="External"/><Relationship Id="rId4" Type="http://schemas.openxmlformats.org/officeDocument/2006/relationships/hyperlink" Target="https://math.mit.edu/research/highschool/primes/circle/documents/2020/GonzalezGauss_Zhao_2020.pdf" TargetMode="External"/><Relationship Id="rId5" Type="http://schemas.openxmlformats.org/officeDocument/2006/relationships/hyperlink" Target="https://projecteuler.net/about"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people.eecs.berkeley.edu/~vazirani/algorithms/chap6.pdf"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Light"/>
              <a:ea typeface="Roboto Light"/>
              <a:cs typeface="Roboto Light"/>
              <a:sym typeface="Roboto Light"/>
            </a:endParaRPr>
          </a:p>
        </p:txBody>
      </p:sp>
      <p:sp>
        <p:nvSpPr>
          <p:cNvPr id="146" name="Google Shape;146;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Software Engineering III</a:t>
            </a:r>
            <a:endParaRPr sz="3600">
              <a:solidFill>
                <a:srgbClr val="0B5394"/>
              </a:solidFill>
              <a:latin typeface="Roboto Medium"/>
              <a:ea typeface="Roboto Medium"/>
              <a:cs typeface="Roboto Medium"/>
              <a:sym typeface="Roboto Medium"/>
            </a:endParaRPr>
          </a:p>
        </p:txBody>
      </p:sp>
      <p:sp>
        <p:nvSpPr>
          <p:cNvPr id="147" name="Google Shape;147;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33</a:t>
            </a:r>
            <a:endParaRPr sz="1200">
              <a:solidFill>
                <a:srgbClr val="BF9000"/>
              </a:solidFill>
              <a:latin typeface="Roboto Medium"/>
              <a:ea typeface="Roboto Medium"/>
              <a:cs typeface="Roboto Medium"/>
              <a:sym typeface="Roboto Medium"/>
            </a:endParaRPr>
          </a:p>
          <a:p>
            <a:pPr indent="0" lvl="0" marL="0" rtl="0" algn="l">
              <a:spcBef>
                <a:spcPts val="0"/>
              </a:spcBef>
              <a:spcAft>
                <a:spcPts val="0"/>
              </a:spcAft>
              <a:buNone/>
            </a:pPr>
            <a:r>
              <a:t/>
            </a:r>
            <a:endParaRPr sz="1200">
              <a:solidFill>
                <a:srgbClr val="BF9000"/>
              </a:solidFill>
              <a:latin typeface="Roboto Medium"/>
              <a:ea typeface="Roboto Medium"/>
              <a:cs typeface="Roboto Medium"/>
              <a:sym typeface="Roboto Medium"/>
            </a:endParaRPr>
          </a:p>
        </p:txBody>
      </p:sp>
      <p:pic>
        <p:nvPicPr>
          <p:cNvPr id="148" name="Google Shape;148;p24"/>
          <p:cNvPicPr preferRelativeResize="0"/>
          <p:nvPr/>
        </p:nvPicPr>
        <p:blipFill rotWithShape="1">
          <a:blip r:embed="rId3">
            <a:alphaModFix/>
          </a:blip>
          <a:srcRect b="23168" l="6944" r="1203" t="15684"/>
          <a:stretch/>
        </p:blipFill>
        <p:spPr>
          <a:xfrm>
            <a:off x="2502850" y="256697"/>
            <a:ext cx="5969603" cy="2483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154" name="Google Shape;154;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Background</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accent6"/>
                </a:solidFill>
              </a:rPr>
              <a:t>Git Recap</a:t>
            </a:r>
            <a:r>
              <a:rPr lang="en">
                <a:solidFill>
                  <a:schemeClr val="accent6"/>
                </a:solidFill>
              </a:rPr>
              <a:t> </a:t>
            </a:r>
            <a:endParaRPr>
              <a:solidFill>
                <a:schemeClr val="accent6"/>
              </a:solidFill>
            </a:endParaRPr>
          </a:p>
          <a:p>
            <a:pPr indent="0" lvl="0" marL="0" rtl="0" algn="l">
              <a:spcBef>
                <a:spcPts val="600"/>
              </a:spcBef>
              <a:spcAft>
                <a:spcPts val="0"/>
              </a:spcAft>
              <a:buNone/>
            </a:pPr>
            <a:r>
              <a:rPr lang="en">
                <a:solidFill>
                  <a:schemeClr val="accent6"/>
                </a:solidFill>
              </a:rPr>
              <a:t>  Snapshots</a:t>
            </a:r>
            <a:endParaRPr>
              <a:solidFill>
                <a:schemeClr val="accent6"/>
              </a:solidFill>
            </a:endParaRPr>
          </a:p>
          <a:p>
            <a:pPr indent="0" lvl="0" marL="0" rtl="0" algn="l">
              <a:spcBef>
                <a:spcPts val="600"/>
              </a:spcBef>
              <a:spcAft>
                <a:spcPts val="0"/>
              </a:spcAft>
              <a:buNone/>
            </a:pPr>
            <a:r>
              <a:rPr lang="en">
                <a:solidFill>
                  <a:schemeClr val="accent6"/>
                </a:solidFill>
              </a:rPr>
              <a:t>  SHA-1</a:t>
            </a:r>
            <a:endParaRPr>
              <a:solidFill>
                <a:schemeClr val="accent6"/>
              </a:solidFill>
            </a:endParaRPr>
          </a:p>
          <a:p>
            <a:pPr indent="0" lvl="0" marL="0" rtl="0" algn="l">
              <a:spcBef>
                <a:spcPts val="600"/>
              </a:spcBef>
              <a:spcAft>
                <a:spcPts val="0"/>
              </a:spcAft>
              <a:buNone/>
            </a:pPr>
            <a:r>
              <a:rPr lang="en">
                <a:solidFill>
                  <a:schemeClr val="accent6"/>
                </a:solidFill>
              </a:rPr>
              <a:t>  Remote</a:t>
            </a:r>
            <a:endParaRPr>
              <a:solidFill>
                <a:schemeClr val="accent6"/>
              </a:solidFill>
            </a:endParaRPr>
          </a:p>
          <a:p>
            <a:pPr indent="0" lvl="0" marL="0" rtl="0" algn="l">
              <a:spcBef>
                <a:spcPts val="600"/>
              </a:spcBef>
              <a:spcAft>
                <a:spcPts val="0"/>
              </a:spcAft>
              <a:buNone/>
            </a:pPr>
            <a:r>
              <a:rPr lang="en">
                <a:solidFill>
                  <a:schemeClr val="accent6"/>
                </a:solidFill>
              </a:rPr>
              <a:t>  Git Potpourri</a:t>
            </a:r>
            <a:endParaRPr>
              <a:solidFill>
                <a:schemeClr val="accent6"/>
              </a:solidFill>
            </a:endParaRPr>
          </a:p>
          <a:p>
            <a:pPr indent="0" lvl="0" marL="0" rtl="0" algn="l">
              <a:spcBef>
                <a:spcPts val="600"/>
              </a:spcBef>
              <a:spcAft>
                <a:spcPts val="0"/>
              </a:spcAft>
              <a:buNone/>
            </a:pPr>
            <a:r>
              <a:rPr lang="en">
                <a:solidFill>
                  <a:schemeClr val="accent6"/>
                </a:solidFill>
              </a:rPr>
              <a:t>Break</a:t>
            </a:r>
            <a:endParaRPr>
              <a:solidFill>
                <a:schemeClr val="accent6"/>
              </a:solidFill>
            </a:endParaRPr>
          </a:p>
          <a:p>
            <a:pPr indent="0" lvl="0" marL="0" rtl="0" algn="l">
              <a:spcBef>
                <a:spcPts val="600"/>
              </a:spcBef>
              <a:spcAft>
                <a:spcPts val="0"/>
              </a:spcAft>
              <a:buNone/>
            </a:pPr>
            <a:r>
              <a:rPr lang="en">
                <a:solidFill>
                  <a:schemeClr val="accent6"/>
                </a:solidFill>
              </a:rPr>
              <a:t>Dynamic Programming</a:t>
            </a:r>
            <a:endParaRPr>
              <a:solidFill>
                <a:schemeClr val="accent6"/>
              </a:solidFill>
            </a:endParaRPr>
          </a:p>
          <a:p>
            <a:pPr indent="0" lvl="0" marL="0" rtl="0" algn="l">
              <a:spcBef>
                <a:spcPts val="600"/>
              </a:spcBef>
              <a:spcAft>
                <a:spcPts val="0"/>
              </a:spcAft>
              <a:buNone/>
            </a:pPr>
            <a:r>
              <a:rPr lang="en">
                <a:solidFill>
                  <a:schemeClr val="accent6"/>
                </a:solidFill>
              </a:rPr>
              <a:t>  </a:t>
            </a:r>
            <a:r>
              <a:rPr lang="en">
                <a:solidFill>
                  <a:schemeClr val="accent6"/>
                </a:solidFill>
              </a:rPr>
              <a:t>Example</a:t>
            </a:r>
            <a:endParaRPr>
              <a:solidFill>
                <a:schemeClr val="accent6"/>
              </a:solidFill>
            </a:endParaRPr>
          </a:p>
          <a:p>
            <a:pPr indent="0" lvl="0" marL="0" rtl="0" algn="l">
              <a:spcBef>
                <a:spcPts val="600"/>
              </a:spcBef>
              <a:spcAft>
                <a:spcPts val="0"/>
              </a:spcAft>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p>
        </p:txBody>
      </p:sp>
      <p:sp>
        <p:nvSpPr>
          <p:cNvPr id="155" name="Google Shape;155;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Background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p:txBody>
      </p:sp>
      <p:sp>
        <p:nvSpPr>
          <p:cNvPr id="161" name="Google Shape;161;p26"/>
          <p:cNvSpPr txBox="1"/>
          <p:nvPr/>
        </p:nvSpPr>
        <p:spPr>
          <a:xfrm>
            <a:off x="939975" y="2827738"/>
            <a:ext cx="317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latin typeface="Roboto"/>
                <a:ea typeface="Roboto"/>
                <a:cs typeface="Roboto"/>
                <a:sym typeface="Roboto"/>
              </a:rPr>
              <a:t>Eric Che (he/him)</a:t>
            </a:r>
            <a:endParaRPr sz="2000">
              <a:latin typeface="Roboto"/>
              <a:ea typeface="Roboto"/>
              <a:cs typeface="Roboto"/>
              <a:sym typeface="Roboto"/>
            </a:endParaRPr>
          </a:p>
        </p:txBody>
      </p:sp>
      <p:sp>
        <p:nvSpPr>
          <p:cNvPr id="162" name="Google Shape;162;p26"/>
          <p:cNvSpPr txBox="1"/>
          <p:nvPr/>
        </p:nvSpPr>
        <p:spPr>
          <a:xfrm>
            <a:off x="532575" y="3239463"/>
            <a:ext cx="39867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Senior majoring in CS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2nd sem on staff, also taught 170 and 61C</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salted butter &gt; unsalted butter</a:t>
            </a:r>
            <a:endParaRPr sz="1800">
              <a:solidFill>
                <a:schemeClr val="dk1"/>
              </a:solidFill>
              <a:latin typeface="Roboto"/>
              <a:ea typeface="Roboto"/>
              <a:cs typeface="Roboto"/>
              <a:sym typeface="Roboto"/>
            </a:endParaRPr>
          </a:p>
        </p:txBody>
      </p:sp>
      <p:pic>
        <p:nvPicPr>
          <p:cNvPr id="163" name="Google Shape;163;p26"/>
          <p:cNvPicPr preferRelativeResize="0"/>
          <p:nvPr/>
        </p:nvPicPr>
        <p:blipFill rotWithShape="1">
          <a:blip r:embed="rId3">
            <a:alphaModFix/>
          </a:blip>
          <a:srcRect b="0" l="0" r="0" t="24998"/>
          <a:stretch/>
        </p:blipFill>
        <p:spPr>
          <a:xfrm>
            <a:off x="5726775" y="693875"/>
            <a:ext cx="2103600" cy="2103600"/>
          </a:xfrm>
          <a:prstGeom prst="ellipse">
            <a:avLst/>
          </a:prstGeom>
          <a:noFill/>
          <a:ln>
            <a:noFill/>
          </a:ln>
        </p:spPr>
      </p:pic>
      <p:sp>
        <p:nvSpPr>
          <p:cNvPr id="164" name="Google Shape;164;p26"/>
          <p:cNvSpPr txBox="1"/>
          <p:nvPr/>
        </p:nvSpPr>
        <p:spPr>
          <a:xfrm>
            <a:off x="5192625" y="2797488"/>
            <a:ext cx="317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latin typeface="Roboto"/>
                <a:ea typeface="Roboto"/>
                <a:cs typeface="Roboto"/>
                <a:sym typeface="Roboto"/>
              </a:rPr>
              <a:t>Jasmine</a:t>
            </a:r>
            <a:r>
              <a:rPr lang="en" sz="2000">
                <a:latin typeface="Roboto"/>
                <a:ea typeface="Roboto"/>
                <a:cs typeface="Roboto"/>
                <a:sym typeface="Roboto"/>
              </a:rPr>
              <a:t> Lin (she/her)</a:t>
            </a:r>
            <a:endParaRPr sz="2000">
              <a:latin typeface="Roboto"/>
              <a:ea typeface="Roboto"/>
              <a:cs typeface="Roboto"/>
              <a:sym typeface="Roboto"/>
            </a:endParaRPr>
          </a:p>
        </p:txBody>
      </p:sp>
      <p:sp>
        <p:nvSpPr>
          <p:cNvPr id="165" name="Google Shape;165;p26"/>
          <p:cNvSpPr txBox="1"/>
          <p:nvPr/>
        </p:nvSpPr>
        <p:spPr>
          <a:xfrm>
            <a:off x="4785225" y="3209225"/>
            <a:ext cx="41382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600"/>
              </a:spcBef>
              <a:spcAft>
                <a:spcPts val="0"/>
              </a:spcAft>
              <a:buClr>
                <a:schemeClr val="dk1"/>
              </a:buClr>
              <a:buSzPts val="1800"/>
              <a:buFont typeface="Roboto"/>
              <a:buChar char="●"/>
            </a:pPr>
            <a:r>
              <a:rPr lang="en" sz="1800">
                <a:latin typeface="Roboto"/>
                <a:ea typeface="Roboto"/>
                <a:cs typeface="Roboto"/>
                <a:sym typeface="Roboto"/>
              </a:rPr>
              <a:t>Senior majoring in CS + DS</a:t>
            </a:r>
            <a:endParaRPr sz="1800">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5th Semester on course staff (CS61B + CS61BL)</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unsalted butter &gt; salted butter</a:t>
            </a:r>
            <a:endParaRPr sz="1800">
              <a:solidFill>
                <a:schemeClr val="dk1"/>
              </a:solidFill>
              <a:latin typeface="Roboto"/>
              <a:ea typeface="Roboto"/>
              <a:cs typeface="Roboto"/>
              <a:sym typeface="Roboto"/>
            </a:endParaRPr>
          </a:p>
        </p:txBody>
      </p:sp>
      <p:pic>
        <p:nvPicPr>
          <p:cNvPr id="166" name="Google Shape;166;p26"/>
          <p:cNvPicPr preferRelativeResize="0"/>
          <p:nvPr/>
        </p:nvPicPr>
        <p:blipFill rotWithShape="1">
          <a:blip r:embed="rId4">
            <a:alphaModFix/>
          </a:blip>
          <a:srcRect b="3603" l="17823" r="17830" t="15777"/>
          <a:stretch/>
        </p:blipFill>
        <p:spPr>
          <a:xfrm>
            <a:off x="1474125" y="693863"/>
            <a:ext cx="2103600" cy="21036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Today’s lecture will be split into two topics: </a:t>
            </a:r>
            <a:endParaRPr/>
          </a:p>
          <a:p>
            <a:pPr indent="-342900" lvl="0" marL="457200" rtl="0" algn="l">
              <a:spcBef>
                <a:spcPts val="600"/>
              </a:spcBef>
              <a:spcAft>
                <a:spcPts val="0"/>
              </a:spcAft>
              <a:buSzPts val="1800"/>
              <a:buChar char="●"/>
            </a:pPr>
            <a:r>
              <a:rPr lang="en"/>
              <a:t>Git </a:t>
            </a:r>
            <a:endParaRPr/>
          </a:p>
          <a:p>
            <a:pPr indent="-342900" lvl="0" marL="457200" rtl="0" algn="l">
              <a:spcBef>
                <a:spcPts val="0"/>
              </a:spcBef>
              <a:spcAft>
                <a:spcPts val="0"/>
              </a:spcAft>
              <a:buSzPts val="1800"/>
              <a:buChar char="●"/>
            </a:pPr>
            <a:r>
              <a:rPr lang="en"/>
              <a:t>Dynamic Programming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We’ll have a general Q&amp;A at the end for both parts.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177" name="Google Shape;177;p2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chemeClr val="accent6"/>
                </a:solidFill>
              </a:rPr>
              <a:t>Background</a:t>
            </a:r>
            <a:endParaRPr>
              <a:solidFill>
                <a:schemeClr val="accent6"/>
              </a:solidFill>
            </a:endParaRPr>
          </a:p>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Git Recap </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chemeClr val="accent6"/>
                </a:solidFill>
              </a:rPr>
              <a:t>  Snapshots</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SHA-1</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Remote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Git Potpourri</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Break</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solidFill>
                <a:schemeClr val="accent6"/>
              </a:solidFill>
            </a:endParaRPr>
          </a:p>
        </p:txBody>
      </p:sp>
      <p:sp>
        <p:nvSpPr>
          <p:cNvPr id="178" name="Google Shape;178;p2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Recap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idx="1" type="body"/>
          </p:nvPr>
        </p:nvSpPr>
        <p:spPr>
          <a:xfrm>
            <a:off x="107050" y="402200"/>
            <a:ext cx="5604300" cy="46299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Understand how git works behind the layer of </a:t>
            </a:r>
            <a:r>
              <a:rPr lang="en"/>
              <a:t>abstraction</a:t>
            </a:r>
            <a:r>
              <a:rPr lang="en"/>
              <a:t>. </a:t>
            </a:r>
            <a:endParaRPr/>
          </a:p>
          <a:p>
            <a:pPr indent="-342900" lvl="1" marL="914400" rtl="0" algn="l">
              <a:spcBef>
                <a:spcPts val="0"/>
              </a:spcBef>
              <a:spcAft>
                <a:spcPts val="0"/>
              </a:spcAft>
              <a:buSzPts val="1800"/>
              <a:buChar char="○"/>
            </a:pPr>
            <a:r>
              <a:rPr lang="en"/>
              <a:t>Git is not easy to think of as an abstraction.</a:t>
            </a:r>
            <a:endParaRPr/>
          </a:p>
          <a:p>
            <a:pPr indent="-342900" lvl="1" marL="914400" rtl="0" algn="l">
              <a:spcBef>
                <a:spcPts val="0"/>
              </a:spcBef>
              <a:spcAft>
                <a:spcPts val="0"/>
              </a:spcAft>
              <a:buSzPts val="1800"/>
              <a:buChar char="○"/>
            </a:pPr>
            <a:r>
              <a:rPr lang="en"/>
              <a:t>It’s possible to memorize commands, but things will most likely go wrong.  </a:t>
            </a:r>
            <a:endParaRPr/>
          </a:p>
          <a:p>
            <a:pPr indent="-342900" lvl="0" marL="457200" rtl="0" algn="l">
              <a:spcBef>
                <a:spcPts val="0"/>
              </a:spcBef>
              <a:spcAft>
                <a:spcPts val="0"/>
              </a:spcAft>
              <a:buSzPts val="1800"/>
              <a:buChar char="●"/>
            </a:pPr>
            <a:r>
              <a:rPr lang="en"/>
              <a:t>Learn data model and later cover the command line interface (CLI)</a:t>
            </a:r>
            <a:endParaRPr/>
          </a:p>
          <a:p>
            <a:pPr indent="-342900" lvl="1" marL="914400" rtl="0" algn="l">
              <a:spcBef>
                <a:spcPts val="0"/>
              </a:spcBef>
              <a:spcAft>
                <a:spcPts val="0"/>
              </a:spcAft>
              <a:buSzPts val="1800"/>
              <a:buChar char="○"/>
            </a:pPr>
            <a:r>
              <a:rPr lang="en"/>
              <a:t>Commands can be better understood in terms of how they manipulate the underlying data model.</a:t>
            </a:r>
            <a:endParaRPr/>
          </a:p>
          <a:p>
            <a:pPr indent="-342900" lvl="0" marL="457200" rtl="0" algn="l">
              <a:spcBef>
                <a:spcPts val="0"/>
              </a:spcBef>
              <a:spcAft>
                <a:spcPts val="0"/>
              </a:spcAft>
              <a:buSzPts val="1800"/>
              <a:buChar char="●"/>
            </a:pPr>
            <a:r>
              <a:rPr lang="en"/>
              <a:t>Proper Git usage for collaboration on Proj 3</a:t>
            </a:r>
            <a:endParaRPr/>
          </a:p>
          <a:p>
            <a:pPr indent="-342900" lvl="1" marL="914400" rtl="0" algn="l">
              <a:spcBef>
                <a:spcPts val="0"/>
              </a:spcBef>
              <a:spcAft>
                <a:spcPts val="0"/>
              </a:spcAft>
              <a:buSzPts val="1800"/>
              <a:buChar char="○"/>
            </a:pPr>
            <a:r>
              <a:rPr lang="en"/>
              <a:t>Git is a useful tool and not a hindrance</a:t>
            </a:r>
            <a:endParaRPr/>
          </a:p>
          <a:p>
            <a:pPr indent="0" lvl="0" marL="0" rtl="0" algn="l">
              <a:spcBef>
                <a:spcPts val="600"/>
              </a:spcBef>
              <a:spcAft>
                <a:spcPts val="0"/>
              </a:spcAft>
              <a:buNone/>
            </a:pPr>
            <a:r>
              <a:t/>
            </a:r>
            <a:endParaRPr/>
          </a:p>
        </p:txBody>
      </p:sp>
      <p:sp>
        <p:nvSpPr>
          <p:cNvPr id="184" name="Google Shape;184;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a:t>
            </a:r>
            <a:endParaRPr/>
          </a:p>
        </p:txBody>
      </p:sp>
      <p:pic>
        <p:nvPicPr>
          <p:cNvPr id="185" name="Google Shape;185;p29"/>
          <p:cNvPicPr preferRelativeResize="0"/>
          <p:nvPr/>
        </p:nvPicPr>
        <p:blipFill>
          <a:blip r:embed="rId3">
            <a:alphaModFix/>
          </a:blip>
          <a:stretch>
            <a:fillRect/>
          </a:stretch>
        </p:blipFill>
        <p:spPr>
          <a:xfrm>
            <a:off x="5789075" y="514350"/>
            <a:ext cx="3143250" cy="4281000"/>
          </a:xfrm>
          <a:prstGeom prst="rect">
            <a:avLst/>
          </a:prstGeom>
          <a:noFill/>
          <a:ln>
            <a:noFill/>
          </a:ln>
        </p:spPr>
      </p:pic>
      <p:sp>
        <p:nvSpPr>
          <p:cNvPr id="186" name="Google Shape;186;p29"/>
          <p:cNvSpPr txBox="1"/>
          <p:nvPr/>
        </p:nvSpPr>
        <p:spPr>
          <a:xfrm>
            <a:off x="5712950" y="4795350"/>
            <a:ext cx="329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hlink"/>
                </a:solidFill>
                <a:latin typeface="Roboto"/>
                <a:ea typeface="Roboto"/>
                <a:cs typeface="Roboto"/>
                <a:sym typeface="Roboto"/>
                <a:hlinkClick r:id="rId4"/>
              </a:rPr>
              <a:t>https://xkcd.com/1597/</a:t>
            </a:r>
            <a:endParaRPr sz="12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 vs GitHub</a:t>
            </a:r>
            <a:endParaRPr/>
          </a:p>
        </p:txBody>
      </p:sp>
      <p:sp>
        <p:nvSpPr>
          <p:cNvPr id="192" name="Google Shape;192;p30"/>
          <p:cNvSpPr txBox="1"/>
          <p:nvPr>
            <p:ph idx="1" type="body"/>
          </p:nvPr>
        </p:nvSpPr>
        <p:spPr>
          <a:xfrm>
            <a:off x="158794" y="1727100"/>
            <a:ext cx="8520600" cy="3416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990000"/>
              </a:buClr>
              <a:buSzPts val="1800"/>
              <a:buFont typeface="Arial"/>
              <a:buChar char="●"/>
            </a:pPr>
            <a:r>
              <a:rPr lang="en">
                <a:solidFill>
                  <a:srgbClr val="990000"/>
                </a:solidFill>
                <a:latin typeface="Arial"/>
                <a:ea typeface="Arial"/>
                <a:cs typeface="Arial"/>
                <a:sym typeface="Arial"/>
              </a:rPr>
              <a:t>git - particular implementation of Version Control (There are other version control systems like: SVN, version control for hardware designs, etc)</a:t>
            </a:r>
            <a:endParaRPr>
              <a:solidFill>
                <a:srgbClr val="990000"/>
              </a:solidFill>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lang="en">
                <a:latin typeface="Arial"/>
                <a:ea typeface="Arial"/>
                <a:cs typeface="Arial"/>
                <a:sym typeface="Arial"/>
              </a:rPr>
              <a:t>GitHub - online service for </a:t>
            </a:r>
            <a:r>
              <a:rPr lang="en">
                <a:latin typeface="Arial"/>
                <a:ea typeface="Arial"/>
                <a:cs typeface="Arial"/>
                <a:sym typeface="Arial"/>
              </a:rPr>
              <a:t>distributing git repos through web </a:t>
            </a:r>
            <a:r>
              <a:rPr lang="en">
                <a:latin typeface="Arial"/>
                <a:ea typeface="Arial"/>
                <a:cs typeface="Arial"/>
                <a:sym typeface="Arial"/>
              </a:rPr>
              <a:t>and provides GUI/features for using git</a:t>
            </a:r>
            <a:endParaRPr>
              <a:latin typeface="Arial"/>
              <a:ea typeface="Arial"/>
              <a:cs typeface="Arial"/>
              <a:sym typeface="Arial"/>
            </a:endParaRPr>
          </a:p>
          <a:p>
            <a:pPr indent="-342900" lvl="1" marL="914400" rtl="0" algn="l">
              <a:lnSpc>
                <a:spcPct val="115000"/>
              </a:lnSpc>
              <a:spcBef>
                <a:spcPts val="0"/>
              </a:spcBef>
              <a:spcAft>
                <a:spcPts val="0"/>
              </a:spcAft>
              <a:buSzPts val="1800"/>
              <a:buFont typeface="Arial"/>
              <a:buChar char="○"/>
            </a:pPr>
            <a:r>
              <a:rPr lang="en">
                <a:latin typeface="Arial"/>
                <a:ea typeface="Arial"/>
                <a:cs typeface="Arial"/>
                <a:sym typeface="Arial"/>
              </a:rPr>
              <a:t>Easily view commits, edit code online, manage who can see your repo</a:t>
            </a:r>
            <a:endParaRPr>
              <a:latin typeface="Arial"/>
              <a:ea typeface="Arial"/>
              <a:cs typeface="Arial"/>
              <a:sym typeface="Arial"/>
            </a:endParaRPr>
          </a:p>
          <a:p>
            <a:pPr indent="0" lvl="0" marL="0" rtl="0" algn="l">
              <a:lnSpc>
                <a:spcPct val="115000"/>
              </a:lnSpc>
              <a:spcBef>
                <a:spcPts val="1200"/>
              </a:spcBef>
              <a:spcAft>
                <a:spcPts val="0"/>
              </a:spcAft>
              <a:buNone/>
            </a:pPr>
            <a:r>
              <a:t/>
            </a:r>
            <a:endParaRPr>
              <a:latin typeface="Arial"/>
              <a:ea typeface="Arial"/>
              <a:cs typeface="Arial"/>
              <a:sym typeface="Arial"/>
            </a:endParaRPr>
          </a:p>
          <a:p>
            <a:pPr indent="-342900" lvl="0" marL="457200" rtl="0" algn="l">
              <a:lnSpc>
                <a:spcPct val="115000"/>
              </a:lnSpc>
              <a:spcBef>
                <a:spcPts val="1200"/>
              </a:spcBef>
              <a:spcAft>
                <a:spcPts val="0"/>
              </a:spcAft>
              <a:buClr>
                <a:srgbClr val="990000"/>
              </a:buClr>
              <a:buSzPts val="1800"/>
              <a:buFont typeface="Arial"/>
              <a:buChar char="●"/>
            </a:pPr>
            <a:r>
              <a:rPr lang="en">
                <a:solidFill>
                  <a:srgbClr val="990000"/>
                </a:solidFill>
                <a:latin typeface="Arial"/>
                <a:ea typeface="Arial"/>
                <a:cs typeface="Arial"/>
                <a:sym typeface="Arial"/>
              </a:rPr>
              <a:t>Git is software you use </a:t>
            </a:r>
            <a:r>
              <a:rPr b="1" lang="en">
                <a:solidFill>
                  <a:srgbClr val="990000"/>
                </a:solidFill>
                <a:latin typeface="Arial"/>
                <a:ea typeface="Arial"/>
                <a:cs typeface="Arial"/>
                <a:sym typeface="Arial"/>
              </a:rPr>
              <a:t>locally</a:t>
            </a:r>
            <a:r>
              <a:rPr lang="en">
                <a:solidFill>
                  <a:srgbClr val="990000"/>
                </a:solidFill>
                <a:latin typeface="Arial"/>
                <a:ea typeface="Arial"/>
                <a:cs typeface="Arial"/>
                <a:sym typeface="Arial"/>
              </a:rPr>
              <a:t> to record version control. </a:t>
            </a:r>
            <a:endParaRPr>
              <a:solidFill>
                <a:srgbClr val="990000"/>
              </a:solidFill>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lang="en">
                <a:latin typeface="Arial"/>
                <a:ea typeface="Arial"/>
                <a:cs typeface="Arial"/>
                <a:sym typeface="Arial"/>
              </a:rPr>
              <a:t>GitHub is a hosting service. Theoretically, you can put all of your git projects into google drive or send to email, but GitHub is nicer. </a:t>
            </a:r>
            <a:endParaRPr/>
          </a:p>
        </p:txBody>
      </p:sp>
      <p:pic>
        <p:nvPicPr>
          <p:cNvPr id="193" name="Google Shape;193;p30"/>
          <p:cNvPicPr preferRelativeResize="0"/>
          <p:nvPr/>
        </p:nvPicPr>
        <p:blipFill>
          <a:blip r:embed="rId3">
            <a:alphaModFix/>
          </a:blip>
          <a:stretch>
            <a:fillRect/>
          </a:stretch>
        </p:blipFill>
        <p:spPr>
          <a:xfrm>
            <a:off x="980400" y="804526"/>
            <a:ext cx="1840299" cy="768325"/>
          </a:xfrm>
          <a:prstGeom prst="rect">
            <a:avLst/>
          </a:prstGeom>
          <a:noFill/>
          <a:ln>
            <a:noFill/>
          </a:ln>
        </p:spPr>
      </p:pic>
      <p:pic>
        <p:nvPicPr>
          <p:cNvPr id="194" name="Google Shape;194;p30"/>
          <p:cNvPicPr preferRelativeResize="0"/>
          <p:nvPr/>
        </p:nvPicPr>
        <p:blipFill>
          <a:blip r:embed="rId4">
            <a:alphaModFix/>
          </a:blip>
          <a:stretch>
            <a:fillRect/>
          </a:stretch>
        </p:blipFill>
        <p:spPr>
          <a:xfrm>
            <a:off x="5995500" y="663850"/>
            <a:ext cx="1718625" cy="966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200" name="Google Shape;200;p3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D1D2D3"/>
                </a:solidFill>
              </a:rPr>
              <a:t>Background</a:t>
            </a:r>
            <a:endParaRPr>
              <a:solidFill>
                <a:srgbClr val="D1D2D3"/>
              </a:solidFill>
            </a:endParaRPr>
          </a:p>
          <a:p>
            <a:pPr indent="0" lvl="0" marL="0" rtl="0" algn="l">
              <a:spcBef>
                <a:spcPts val="600"/>
              </a:spcBef>
              <a:spcAft>
                <a:spcPts val="0"/>
              </a:spcAft>
              <a:buClr>
                <a:schemeClr val="dk1"/>
              </a:buClr>
              <a:buSzPts val="1100"/>
              <a:buFont typeface="Arial"/>
              <a:buNone/>
            </a:pPr>
            <a:r>
              <a:rPr lang="en">
                <a:solidFill>
                  <a:schemeClr val="accent6"/>
                </a:solidFill>
              </a:rPr>
              <a:t>Git Recap </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t>
            </a:r>
            <a:r>
              <a:rPr b="1" lang="en">
                <a:solidFill>
                  <a:schemeClr val="accent3"/>
                </a:solidFill>
                <a:latin typeface="Roboto"/>
                <a:ea typeface="Roboto"/>
                <a:cs typeface="Roboto"/>
                <a:sym typeface="Roboto"/>
              </a:rPr>
              <a:t>Snapshots</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chemeClr val="accent6"/>
                </a:solidFill>
              </a:rPr>
              <a:t>  SHA-1</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Remote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Git Potpourri</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Break</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p>
        </p:txBody>
      </p:sp>
      <p:sp>
        <p:nvSpPr>
          <p:cNvPr id="201" name="Google Shape;201;p3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Snapshots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Snapshots</a:t>
            </a:r>
            <a:endParaRPr/>
          </a:p>
          <a:p>
            <a:pPr indent="0" lvl="0" marL="0" rtl="0" algn="l">
              <a:spcBef>
                <a:spcPts val="0"/>
              </a:spcBef>
              <a:spcAft>
                <a:spcPts val="0"/>
              </a:spcAft>
              <a:buNone/>
            </a:pPr>
            <a:r>
              <a:t/>
            </a:r>
            <a:endParaRPr/>
          </a:p>
        </p:txBody>
      </p:sp>
      <p:sp>
        <p:nvSpPr>
          <p:cNvPr id="207" name="Google Shape;207;p32"/>
          <p:cNvSpPr txBox="1"/>
          <p:nvPr>
            <p:ph idx="1" type="body"/>
          </p:nvPr>
        </p:nvSpPr>
        <p:spPr>
          <a:xfrm>
            <a:off x="107050" y="478400"/>
            <a:ext cx="8890500" cy="25209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A </a:t>
            </a:r>
            <a:r>
              <a:rPr b="1" lang="en"/>
              <a:t>snapshot</a:t>
            </a:r>
            <a:r>
              <a:rPr lang="en"/>
              <a:t> represents how a repo looks at a particular point of time.</a:t>
            </a:r>
            <a:endParaRPr/>
          </a:p>
          <a:p>
            <a:pPr indent="-342900" lvl="0" marL="457200" rtl="0" algn="l">
              <a:spcBef>
                <a:spcPts val="0"/>
              </a:spcBef>
              <a:spcAft>
                <a:spcPts val="0"/>
              </a:spcAft>
              <a:buSzPts val="1800"/>
              <a:buChar char="●"/>
            </a:pPr>
            <a:r>
              <a:rPr lang="en"/>
              <a:t>Eg: Working on Project 3 with partner</a:t>
            </a:r>
            <a:endParaRPr/>
          </a:p>
          <a:p>
            <a:pPr indent="-342900" lvl="1" marL="914400" rtl="0" algn="l">
              <a:spcBef>
                <a:spcPts val="0"/>
              </a:spcBef>
              <a:spcAft>
                <a:spcPts val="0"/>
              </a:spcAft>
              <a:buSzPts val="1800"/>
              <a:buChar char="○"/>
            </a:pPr>
            <a:r>
              <a:rPr lang="en"/>
              <a:t>You save commits over time to show progress</a:t>
            </a:r>
            <a:endParaRPr/>
          </a:p>
          <a:p>
            <a:pPr indent="-342900" lvl="1" marL="914400" rtl="0" algn="l">
              <a:spcBef>
                <a:spcPts val="0"/>
              </a:spcBef>
              <a:spcAft>
                <a:spcPts val="0"/>
              </a:spcAft>
              <a:buSzPts val="1800"/>
              <a:buChar char="○"/>
            </a:pPr>
            <a:r>
              <a:rPr lang="en"/>
              <a:t>Partner can understand code in smaller commit chunks</a:t>
            </a:r>
            <a:endParaRPr/>
          </a:p>
          <a:p>
            <a:pPr indent="-342900" lvl="1" marL="914400" rtl="0" algn="l">
              <a:spcBef>
                <a:spcPts val="0"/>
              </a:spcBef>
              <a:spcAft>
                <a:spcPts val="0"/>
              </a:spcAft>
              <a:buSzPts val="1800"/>
              <a:buChar char="○"/>
            </a:pPr>
            <a:r>
              <a:rPr lang="en"/>
              <a:t>If you mess up, you can always revisit back. </a:t>
            </a:r>
            <a:endParaRPr/>
          </a:p>
          <a:p>
            <a:pPr indent="0" lvl="0" marL="0" rtl="0" algn="l">
              <a:spcBef>
                <a:spcPts val="600"/>
              </a:spcBef>
              <a:spcAft>
                <a:spcPts val="0"/>
              </a:spcAft>
              <a:buNone/>
            </a:pPr>
            <a:r>
              <a:t/>
            </a:r>
            <a:endParaRPr/>
          </a:p>
          <a:p>
            <a:pPr indent="-342900" lvl="0" marL="457200" rtl="0" algn="l">
              <a:spcBef>
                <a:spcPts val="600"/>
              </a:spcBef>
              <a:spcAft>
                <a:spcPts val="0"/>
              </a:spcAft>
              <a:buSzPts val="1800"/>
              <a:buChar char="●"/>
            </a:pPr>
            <a:r>
              <a:rPr lang="en"/>
              <a:t>But then, how do we work on two snapshots simultaneously?</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
        <p:nvSpPr>
          <p:cNvPr id="208" name="Google Shape;208;p32"/>
          <p:cNvSpPr/>
          <p:nvPr/>
        </p:nvSpPr>
        <p:spPr>
          <a:xfrm>
            <a:off x="875350"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209" name="Google Shape;209;p32"/>
          <p:cNvSpPr/>
          <p:nvPr/>
        </p:nvSpPr>
        <p:spPr>
          <a:xfrm>
            <a:off x="2559425"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Rooms</a:t>
            </a:r>
            <a:endParaRPr sz="1000">
              <a:latin typeface="Roboto"/>
              <a:ea typeface="Roboto"/>
              <a:cs typeface="Roboto"/>
              <a:sym typeface="Roboto"/>
            </a:endParaRPr>
          </a:p>
        </p:txBody>
      </p:sp>
      <p:cxnSp>
        <p:nvCxnSpPr>
          <p:cNvPr id="210" name="Google Shape;210;p32"/>
          <p:cNvCxnSpPr>
            <a:endCxn id="208" idx="6"/>
          </p:cNvCxnSpPr>
          <p:nvPr/>
        </p:nvCxnSpPr>
        <p:spPr>
          <a:xfrm rot="10800000">
            <a:off x="1532350"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11" name="Google Shape;211;p32"/>
          <p:cNvSpPr/>
          <p:nvPr/>
        </p:nvSpPr>
        <p:spPr>
          <a:xfrm>
            <a:off x="4243500"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Hallway</a:t>
            </a:r>
            <a:endParaRPr sz="1000">
              <a:latin typeface="Roboto"/>
              <a:ea typeface="Roboto"/>
              <a:cs typeface="Roboto"/>
              <a:sym typeface="Roboto"/>
            </a:endParaRPr>
          </a:p>
        </p:txBody>
      </p:sp>
      <p:cxnSp>
        <p:nvCxnSpPr>
          <p:cNvPr id="212" name="Google Shape;212;p32"/>
          <p:cNvCxnSpPr/>
          <p:nvPr/>
        </p:nvCxnSpPr>
        <p:spPr>
          <a:xfrm rot="10800000">
            <a:off x="3216425"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13" name="Google Shape;213;p32"/>
          <p:cNvSpPr/>
          <p:nvPr/>
        </p:nvSpPr>
        <p:spPr>
          <a:xfrm>
            <a:off x="5927575"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Walls</a:t>
            </a:r>
            <a:endParaRPr sz="1000">
              <a:latin typeface="Roboto"/>
              <a:ea typeface="Roboto"/>
              <a:cs typeface="Roboto"/>
              <a:sym typeface="Roboto"/>
            </a:endParaRPr>
          </a:p>
        </p:txBody>
      </p:sp>
      <p:cxnSp>
        <p:nvCxnSpPr>
          <p:cNvPr id="214" name="Google Shape;214;p32"/>
          <p:cNvCxnSpPr/>
          <p:nvPr/>
        </p:nvCxnSpPr>
        <p:spPr>
          <a:xfrm rot="10800000">
            <a:off x="4900500" y="3834175"/>
            <a:ext cx="1023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Relating Snapshots</a:t>
            </a:r>
            <a:endParaRPr>
              <a:solidFill>
                <a:schemeClr val="accent3"/>
              </a:solidFill>
            </a:endParaRPr>
          </a:p>
          <a:p>
            <a:pPr indent="0" lvl="0" marL="0" rtl="0" algn="l">
              <a:spcBef>
                <a:spcPts val="0"/>
              </a:spcBef>
              <a:spcAft>
                <a:spcPts val="0"/>
              </a:spcAft>
              <a:buClr>
                <a:schemeClr val="dk1"/>
              </a:buClr>
              <a:buSzPts val="1100"/>
              <a:buFont typeface="Arial"/>
              <a:buNone/>
            </a:pPr>
            <a:r>
              <a:t/>
            </a:r>
            <a:endParaRPr>
              <a:solidFill>
                <a:schemeClr val="accent3"/>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0" name="Google Shape;220;p33"/>
          <p:cNvSpPr txBox="1"/>
          <p:nvPr>
            <p:ph idx="1" type="body"/>
          </p:nvPr>
        </p:nvSpPr>
        <p:spPr>
          <a:xfrm>
            <a:off x="105900" y="526475"/>
            <a:ext cx="8932200" cy="2585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a:t>How do you have concurrent development?</a:t>
            </a:r>
            <a:endParaRPr/>
          </a:p>
          <a:p>
            <a:pPr indent="-342900" lvl="0" marL="457200" rtl="0" algn="l">
              <a:spcBef>
                <a:spcPts val="600"/>
              </a:spcBef>
              <a:spcAft>
                <a:spcPts val="0"/>
              </a:spcAft>
              <a:buClr>
                <a:srgbClr val="990000"/>
              </a:buClr>
              <a:buSzPts val="1800"/>
              <a:buChar char="●"/>
            </a:pPr>
            <a:r>
              <a:rPr b="1" lang="en">
                <a:solidFill>
                  <a:srgbClr val="990000"/>
                </a:solidFill>
              </a:rPr>
              <a:t>Branches </a:t>
            </a:r>
            <a:endParaRPr>
              <a:solidFill>
                <a:srgbClr val="990000"/>
              </a:solidFill>
            </a:endParaRPr>
          </a:p>
          <a:p>
            <a:pPr indent="-342900" lvl="1" marL="914400" rtl="0" algn="l">
              <a:spcBef>
                <a:spcPts val="0"/>
              </a:spcBef>
              <a:spcAft>
                <a:spcPts val="0"/>
              </a:spcAft>
              <a:buClr>
                <a:srgbClr val="990000"/>
              </a:buClr>
              <a:buSzPts val="1800"/>
              <a:buChar char="○"/>
            </a:pPr>
            <a:r>
              <a:rPr lang="en">
                <a:solidFill>
                  <a:srgbClr val="990000"/>
                </a:solidFill>
              </a:rPr>
              <a:t>Allow more than one pointer to a previous commit</a:t>
            </a:r>
            <a:endParaRPr>
              <a:solidFill>
                <a:srgbClr val="990000"/>
              </a:solidFill>
            </a:endParaRPr>
          </a:p>
          <a:p>
            <a:pPr indent="-342900" lvl="1" marL="914400" rtl="0" algn="l">
              <a:spcBef>
                <a:spcPts val="0"/>
              </a:spcBef>
              <a:spcAft>
                <a:spcPts val="0"/>
              </a:spcAft>
              <a:buClr>
                <a:srgbClr val="990000"/>
              </a:buClr>
              <a:buSzPts val="1800"/>
              <a:buChar char="○"/>
            </a:pPr>
            <a:r>
              <a:rPr lang="en">
                <a:solidFill>
                  <a:srgbClr val="990000"/>
                </a:solidFill>
              </a:rPr>
              <a:t>Work on multiple features in parallel</a:t>
            </a:r>
            <a:endParaRPr>
              <a:solidFill>
                <a:srgbClr val="990000"/>
              </a:solidFill>
            </a:endParaRPr>
          </a:p>
          <a:p>
            <a:pPr indent="-342900" lvl="1" marL="914400" rtl="0" algn="l">
              <a:spcBef>
                <a:spcPts val="0"/>
              </a:spcBef>
              <a:spcAft>
                <a:spcPts val="0"/>
              </a:spcAft>
              <a:buClr>
                <a:srgbClr val="990000"/>
              </a:buClr>
              <a:buSzPts val="1800"/>
              <a:buChar char="○"/>
            </a:pPr>
            <a:r>
              <a:rPr lang="en">
                <a:solidFill>
                  <a:srgbClr val="990000"/>
                </a:solidFill>
                <a:latin typeface="Consolas"/>
                <a:ea typeface="Consolas"/>
                <a:cs typeface="Consolas"/>
                <a:sym typeface="Consolas"/>
              </a:rPr>
              <a:t>main</a:t>
            </a:r>
            <a:r>
              <a:rPr lang="en">
                <a:solidFill>
                  <a:srgbClr val="990000"/>
                </a:solidFill>
              </a:rPr>
              <a:t> branch is considered the default branch.</a:t>
            </a:r>
            <a:endParaRPr>
              <a:solidFill>
                <a:srgbClr val="990000"/>
              </a:solidFill>
            </a:endParaRPr>
          </a:p>
          <a:p>
            <a:pPr indent="-342900" lvl="0" marL="457200" rtl="0" algn="l">
              <a:spcBef>
                <a:spcPts val="0"/>
              </a:spcBef>
              <a:spcAft>
                <a:spcPts val="0"/>
              </a:spcAft>
              <a:buSzPts val="1800"/>
              <a:buChar char="●"/>
            </a:pPr>
            <a:r>
              <a:rPr b="1" lang="en">
                <a:solidFill>
                  <a:srgbClr val="38761D"/>
                </a:solidFill>
              </a:rPr>
              <a:t>Merge</a:t>
            </a:r>
            <a:r>
              <a:rPr lang="en">
                <a:solidFill>
                  <a:srgbClr val="38761D"/>
                </a:solidFill>
              </a:rPr>
              <a:t> </a:t>
            </a:r>
            <a:endParaRPr>
              <a:solidFill>
                <a:srgbClr val="38761D"/>
              </a:solidFill>
            </a:endParaRPr>
          </a:p>
          <a:p>
            <a:pPr indent="-342900" lvl="1" marL="914400" rtl="0" algn="l">
              <a:spcBef>
                <a:spcPts val="0"/>
              </a:spcBef>
              <a:spcAft>
                <a:spcPts val="0"/>
              </a:spcAft>
              <a:buSzPts val="1800"/>
              <a:buChar char="○"/>
            </a:pPr>
            <a:r>
              <a:rPr lang="en">
                <a:solidFill>
                  <a:srgbClr val="38761D"/>
                </a:solidFill>
              </a:rPr>
              <a:t>A snapshot that combines multiple snapshots</a:t>
            </a:r>
            <a:endParaRPr>
              <a:solidFill>
                <a:srgbClr val="38761D"/>
              </a:solidFill>
            </a:endParaRPr>
          </a:p>
          <a:p>
            <a:pPr indent="-342900" lvl="1" marL="914400" rtl="0" algn="l">
              <a:spcBef>
                <a:spcPts val="0"/>
              </a:spcBef>
              <a:spcAft>
                <a:spcPts val="0"/>
              </a:spcAft>
              <a:buClr>
                <a:srgbClr val="38761D"/>
              </a:buClr>
              <a:buSzPts val="1800"/>
              <a:buChar char="○"/>
            </a:pPr>
            <a:r>
              <a:rPr lang="en">
                <a:solidFill>
                  <a:srgbClr val="38761D"/>
                </a:solidFill>
              </a:rPr>
              <a:t>Merge history back together into a single branch</a:t>
            </a:r>
            <a:endParaRPr>
              <a:solidFill>
                <a:srgbClr val="38761D"/>
              </a:solidFill>
            </a:endParaRPr>
          </a:p>
          <a:p>
            <a:pPr indent="-342900" lvl="0" marL="457200" rtl="0" algn="l">
              <a:spcBef>
                <a:spcPts val="0"/>
              </a:spcBef>
              <a:spcAft>
                <a:spcPts val="0"/>
              </a:spcAft>
              <a:buSzPts val="1800"/>
              <a:buChar char="●"/>
            </a:pPr>
            <a:r>
              <a:rPr lang="en"/>
              <a:t>The underlying data structure is a Directed Acyclic Graph!</a:t>
            </a:r>
            <a:endParaRPr>
              <a:solidFill>
                <a:srgbClr val="38761D"/>
              </a:solidFill>
            </a:endParaRPr>
          </a:p>
          <a:p>
            <a:pPr indent="0" lvl="0" marL="0" rtl="0" algn="l">
              <a:spcBef>
                <a:spcPts val="600"/>
              </a:spcBef>
              <a:spcAft>
                <a:spcPts val="0"/>
              </a:spcAft>
              <a:buNone/>
            </a:pPr>
            <a:r>
              <a:t/>
            </a:r>
            <a:endParaRPr/>
          </a:p>
        </p:txBody>
      </p:sp>
      <p:sp>
        <p:nvSpPr>
          <p:cNvPr id="221" name="Google Shape;221;p33"/>
          <p:cNvSpPr/>
          <p:nvPr/>
        </p:nvSpPr>
        <p:spPr>
          <a:xfrm>
            <a:off x="875350"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222" name="Google Shape;222;p33"/>
          <p:cNvSpPr/>
          <p:nvPr/>
        </p:nvSpPr>
        <p:spPr>
          <a:xfrm>
            <a:off x="2559425"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Rooms</a:t>
            </a:r>
            <a:endParaRPr sz="1000">
              <a:latin typeface="Roboto"/>
              <a:ea typeface="Roboto"/>
              <a:cs typeface="Roboto"/>
              <a:sym typeface="Roboto"/>
            </a:endParaRPr>
          </a:p>
        </p:txBody>
      </p:sp>
      <p:cxnSp>
        <p:nvCxnSpPr>
          <p:cNvPr id="223" name="Google Shape;223;p33"/>
          <p:cNvCxnSpPr>
            <a:endCxn id="221" idx="6"/>
          </p:cNvCxnSpPr>
          <p:nvPr/>
        </p:nvCxnSpPr>
        <p:spPr>
          <a:xfrm rot="10800000">
            <a:off x="1532350"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24" name="Google Shape;224;p33"/>
          <p:cNvSpPr/>
          <p:nvPr/>
        </p:nvSpPr>
        <p:spPr>
          <a:xfrm>
            <a:off x="4243500"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Hallway</a:t>
            </a:r>
            <a:endParaRPr sz="1000">
              <a:latin typeface="Roboto"/>
              <a:ea typeface="Roboto"/>
              <a:cs typeface="Roboto"/>
              <a:sym typeface="Roboto"/>
            </a:endParaRPr>
          </a:p>
        </p:txBody>
      </p:sp>
      <p:cxnSp>
        <p:nvCxnSpPr>
          <p:cNvPr id="225" name="Google Shape;225;p33"/>
          <p:cNvCxnSpPr/>
          <p:nvPr/>
        </p:nvCxnSpPr>
        <p:spPr>
          <a:xfrm rot="10800000">
            <a:off x="3216425"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26" name="Google Shape;226;p33"/>
          <p:cNvSpPr/>
          <p:nvPr/>
        </p:nvSpPr>
        <p:spPr>
          <a:xfrm>
            <a:off x="5927575"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Walls</a:t>
            </a:r>
            <a:endParaRPr sz="1000">
              <a:latin typeface="Roboto"/>
              <a:ea typeface="Roboto"/>
              <a:cs typeface="Roboto"/>
              <a:sym typeface="Roboto"/>
            </a:endParaRPr>
          </a:p>
        </p:txBody>
      </p:sp>
      <p:cxnSp>
        <p:nvCxnSpPr>
          <p:cNvPr id="227" name="Google Shape;227;p33"/>
          <p:cNvCxnSpPr/>
          <p:nvPr/>
        </p:nvCxnSpPr>
        <p:spPr>
          <a:xfrm rot="10800000">
            <a:off x="4900500"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28" name="Google Shape;228;p33"/>
          <p:cNvSpPr/>
          <p:nvPr/>
        </p:nvSpPr>
        <p:spPr>
          <a:xfrm>
            <a:off x="7611650" y="3508075"/>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229" name="Google Shape;229;p33"/>
          <p:cNvCxnSpPr/>
          <p:nvPr/>
        </p:nvCxnSpPr>
        <p:spPr>
          <a:xfrm rot="10800000">
            <a:off x="6584575"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30" name="Google Shape;230;p33"/>
          <p:cNvSpPr/>
          <p:nvPr/>
        </p:nvSpPr>
        <p:spPr>
          <a:xfrm>
            <a:off x="5927575" y="4307725"/>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Start Inter-</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activity</a:t>
            </a:r>
            <a:endParaRPr sz="1000">
              <a:latin typeface="Roboto"/>
              <a:ea typeface="Roboto"/>
              <a:cs typeface="Roboto"/>
              <a:sym typeface="Roboto"/>
            </a:endParaRPr>
          </a:p>
        </p:txBody>
      </p:sp>
      <p:cxnSp>
        <p:nvCxnSpPr>
          <p:cNvPr id="231" name="Google Shape;231;p33"/>
          <p:cNvCxnSpPr>
            <a:stCxn id="232" idx="2"/>
            <a:endCxn id="222" idx="6"/>
          </p:cNvCxnSpPr>
          <p:nvPr/>
        </p:nvCxnSpPr>
        <p:spPr>
          <a:xfrm rot="10800000">
            <a:off x="3216300" y="3834325"/>
            <a:ext cx="1027200" cy="799500"/>
          </a:xfrm>
          <a:prstGeom prst="straightConnector1">
            <a:avLst/>
          </a:prstGeom>
          <a:noFill/>
          <a:ln cap="flat" cmpd="sng" w="9525">
            <a:solidFill>
              <a:schemeClr val="dk2"/>
            </a:solidFill>
            <a:prstDash val="solid"/>
            <a:round/>
            <a:headEnd len="med" w="med" type="none"/>
            <a:tailEnd len="med" w="med" type="triangle"/>
          </a:ln>
        </p:spPr>
      </p:cxnSp>
      <p:sp>
        <p:nvSpPr>
          <p:cNvPr id="232" name="Google Shape;232;p33"/>
          <p:cNvSpPr/>
          <p:nvPr/>
        </p:nvSpPr>
        <p:spPr>
          <a:xfrm>
            <a:off x="4243500" y="4307725"/>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Fix Overlap Rooms</a:t>
            </a:r>
            <a:endParaRPr sz="1000">
              <a:latin typeface="Roboto"/>
              <a:ea typeface="Roboto"/>
              <a:cs typeface="Roboto"/>
              <a:sym typeface="Roboto"/>
            </a:endParaRPr>
          </a:p>
        </p:txBody>
      </p:sp>
      <p:cxnSp>
        <p:nvCxnSpPr>
          <p:cNvPr id="233" name="Google Shape;233;p33"/>
          <p:cNvCxnSpPr>
            <a:stCxn id="230" idx="2"/>
            <a:endCxn id="232" idx="6"/>
          </p:cNvCxnSpPr>
          <p:nvPr/>
        </p:nvCxnSpPr>
        <p:spPr>
          <a:xfrm rot="10800000">
            <a:off x="4900375" y="4633825"/>
            <a:ext cx="1027200" cy="0"/>
          </a:xfrm>
          <a:prstGeom prst="straightConnector1">
            <a:avLst/>
          </a:prstGeom>
          <a:noFill/>
          <a:ln cap="flat" cmpd="sng" w="9525">
            <a:solidFill>
              <a:schemeClr val="dk2"/>
            </a:solidFill>
            <a:prstDash val="solid"/>
            <a:round/>
            <a:headEnd len="med" w="med" type="none"/>
            <a:tailEnd len="med" w="med" type="triangle"/>
          </a:ln>
        </p:spPr>
      </p:cxnSp>
      <p:cxnSp>
        <p:nvCxnSpPr>
          <p:cNvPr id="234" name="Google Shape;234;p33"/>
          <p:cNvCxnSpPr>
            <a:stCxn id="228" idx="2"/>
            <a:endCxn id="230" idx="6"/>
          </p:cNvCxnSpPr>
          <p:nvPr/>
        </p:nvCxnSpPr>
        <p:spPr>
          <a:xfrm flipH="1">
            <a:off x="6584450" y="3834175"/>
            <a:ext cx="1027200" cy="799800"/>
          </a:xfrm>
          <a:prstGeom prst="straightConnector1">
            <a:avLst/>
          </a:prstGeom>
          <a:noFill/>
          <a:ln cap="flat" cmpd="sng" w="9525">
            <a:solidFill>
              <a:schemeClr val="dk2"/>
            </a:solidFill>
            <a:prstDash val="solid"/>
            <a:round/>
            <a:headEnd len="med" w="med" type="none"/>
            <a:tailEnd len="med" w="med" type="triangle"/>
          </a:ln>
        </p:spPr>
      </p:cxnSp>
      <p:sp>
        <p:nvSpPr>
          <p:cNvPr id="235" name="Google Shape;235;p33"/>
          <p:cNvSpPr txBox="1"/>
          <p:nvPr/>
        </p:nvSpPr>
        <p:spPr>
          <a:xfrm>
            <a:off x="157275" y="3626425"/>
            <a:ext cx="714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main</a:t>
            </a:r>
            <a:endParaRPr sz="1100">
              <a:solidFill>
                <a:schemeClr val="dk1"/>
              </a:solidFill>
              <a:latin typeface="Consolas"/>
              <a:ea typeface="Consolas"/>
              <a:cs typeface="Consolas"/>
              <a:sym typeface="Consolas"/>
            </a:endParaRPr>
          </a:p>
        </p:txBody>
      </p:sp>
      <p:sp>
        <p:nvSpPr>
          <p:cNvPr id="236" name="Google Shape;236;p33"/>
          <p:cNvSpPr txBox="1"/>
          <p:nvPr/>
        </p:nvSpPr>
        <p:spPr>
          <a:xfrm>
            <a:off x="3277725" y="4426075"/>
            <a:ext cx="965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branch1</a:t>
            </a:r>
            <a:endParaRPr sz="1100">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a:t>
            </a:r>
            <a:r>
              <a:rPr lang="en"/>
              <a:t>elating Snapshots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42" name="Google Shape;242;p34"/>
          <p:cNvSpPr txBox="1"/>
          <p:nvPr>
            <p:ph idx="1" type="body"/>
          </p:nvPr>
        </p:nvSpPr>
        <p:spPr>
          <a:xfrm>
            <a:off x="163800" y="1133800"/>
            <a:ext cx="8816400" cy="204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class Commit {</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Project snapshot; </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Set&lt;Commit&gt; parents; // Root is empty set, Merge has size &gt; 1</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String author;</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String commitMessage;</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a:t>
            </a:r>
            <a:endParaRPr>
              <a:latin typeface="Consolas"/>
              <a:ea typeface="Consolas"/>
              <a:cs typeface="Consolas"/>
              <a:sym typeface="Consolas"/>
            </a:endParaRPr>
          </a:p>
        </p:txBody>
      </p:sp>
      <p:sp>
        <p:nvSpPr>
          <p:cNvPr id="243" name="Google Shape;243;p34"/>
          <p:cNvSpPr txBox="1"/>
          <p:nvPr>
            <p:ph idx="1" type="body"/>
          </p:nvPr>
        </p:nvSpPr>
        <p:spPr>
          <a:xfrm>
            <a:off x="107050" y="402200"/>
            <a:ext cx="8520600" cy="723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A </a:t>
            </a:r>
            <a:r>
              <a:rPr b="1" lang="en">
                <a:latin typeface="Consolas"/>
                <a:ea typeface="Consolas"/>
                <a:cs typeface="Consolas"/>
                <a:sym typeface="Consolas"/>
              </a:rPr>
              <a:t>commit</a:t>
            </a:r>
            <a:r>
              <a:rPr b="1" lang="en"/>
              <a:t> </a:t>
            </a:r>
            <a:r>
              <a:rPr lang="en"/>
              <a:t>is a </a:t>
            </a:r>
            <a:r>
              <a:rPr b="1" lang="en"/>
              <a:t>snapshot</a:t>
            </a:r>
            <a:r>
              <a:rPr lang="en"/>
              <a:t> of your project with additional metadata identifying the commit.  </a:t>
            </a:r>
            <a:endParaRPr/>
          </a:p>
          <a:p>
            <a:pPr indent="0" lvl="0" marL="0" rtl="0" algn="l">
              <a:spcBef>
                <a:spcPts val="600"/>
              </a:spcBef>
              <a:spcAft>
                <a:spcPts val="0"/>
              </a:spcAft>
              <a:buNone/>
            </a:pPr>
            <a:r>
              <a:t/>
            </a:r>
            <a:endParaRPr/>
          </a:p>
        </p:txBody>
      </p:sp>
      <p:sp>
        <p:nvSpPr>
          <p:cNvPr id="244" name="Google Shape;244;p34"/>
          <p:cNvSpPr/>
          <p:nvPr/>
        </p:nvSpPr>
        <p:spPr>
          <a:xfrm>
            <a:off x="875350"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245" name="Google Shape;245;p34"/>
          <p:cNvSpPr/>
          <p:nvPr/>
        </p:nvSpPr>
        <p:spPr>
          <a:xfrm>
            <a:off x="2559425"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Rooms</a:t>
            </a:r>
            <a:endParaRPr sz="1000">
              <a:latin typeface="Roboto"/>
              <a:ea typeface="Roboto"/>
              <a:cs typeface="Roboto"/>
              <a:sym typeface="Roboto"/>
            </a:endParaRPr>
          </a:p>
        </p:txBody>
      </p:sp>
      <p:cxnSp>
        <p:nvCxnSpPr>
          <p:cNvPr id="246" name="Google Shape;246;p34"/>
          <p:cNvCxnSpPr>
            <a:endCxn id="244" idx="6"/>
          </p:cNvCxnSpPr>
          <p:nvPr/>
        </p:nvCxnSpPr>
        <p:spPr>
          <a:xfrm rot="10800000">
            <a:off x="1532350"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47" name="Google Shape;247;p34"/>
          <p:cNvSpPr/>
          <p:nvPr/>
        </p:nvSpPr>
        <p:spPr>
          <a:xfrm>
            <a:off x="4243500"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Hallway</a:t>
            </a:r>
            <a:endParaRPr sz="1000">
              <a:latin typeface="Roboto"/>
              <a:ea typeface="Roboto"/>
              <a:cs typeface="Roboto"/>
              <a:sym typeface="Roboto"/>
            </a:endParaRPr>
          </a:p>
        </p:txBody>
      </p:sp>
      <p:cxnSp>
        <p:nvCxnSpPr>
          <p:cNvPr id="248" name="Google Shape;248;p34"/>
          <p:cNvCxnSpPr/>
          <p:nvPr/>
        </p:nvCxnSpPr>
        <p:spPr>
          <a:xfrm rot="10800000">
            <a:off x="3216425"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49" name="Google Shape;249;p34"/>
          <p:cNvSpPr/>
          <p:nvPr/>
        </p:nvSpPr>
        <p:spPr>
          <a:xfrm>
            <a:off x="5927575" y="35080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Make Walls</a:t>
            </a:r>
            <a:endParaRPr sz="1000">
              <a:latin typeface="Roboto"/>
              <a:ea typeface="Roboto"/>
              <a:cs typeface="Roboto"/>
              <a:sym typeface="Roboto"/>
            </a:endParaRPr>
          </a:p>
        </p:txBody>
      </p:sp>
      <p:cxnSp>
        <p:nvCxnSpPr>
          <p:cNvPr id="250" name="Google Shape;250;p34"/>
          <p:cNvCxnSpPr/>
          <p:nvPr/>
        </p:nvCxnSpPr>
        <p:spPr>
          <a:xfrm rot="10800000">
            <a:off x="4900500"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51" name="Google Shape;251;p34"/>
          <p:cNvSpPr/>
          <p:nvPr/>
        </p:nvSpPr>
        <p:spPr>
          <a:xfrm>
            <a:off x="7611650" y="3508075"/>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252" name="Google Shape;252;p34"/>
          <p:cNvCxnSpPr/>
          <p:nvPr/>
        </p:nvCxnSpPr>
        <p:spPr>
          <a:xfrm rot="10800000">
            <a:off x="6584575" y="38341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253" name="Google Shape;253;p34"/>
          <p:cNvSpPr/>
          <p:nvPr/>
        </p:nvSpPr>
        <p:spPr>
          <a:xfrm>
            <a:off x="5927575" y="4307725"/>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Start Inter-</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activity</a:t>
            </a:r>
            <a:endParaRPr sz="1000">
              <a:latin typeface="Roboto"/>
              <a:ea typeface="Roboto"/>
              <a:cs typeface="Roboto"/>
              <a:sym typeface="Roboto"/>
            </a:endParaRPr>
          </a:p>
        </p:txBody>
      </p:sp>
      <p:cxnSp>
        <p:nvCxnSpPr>
          <p:cNvPr id="254" name="Google Shape;254;p34"/>
          <p:cNvCxnSpPr>
            <a:stCxn id="255" idx="2"/>
            <a:endCxn id="245" idx="6"/>
          </p:cNvCxnSpPr>
          <p:nvPr/>
        </p:nvCxnSpPr>
        <p:spPr>
          <a:xfrm rot="10800000">
            <a:off x="3216300" y="3834325"/>
            <a:ext cx="1027200" cy="799500"/>
          </a:xfrm>
          <a:prstGeom prst="straightConnector1">
            <a:avLst/>
          </a:prstGeom>
          <a:noFill/>
          <a:ln cap="flat" cmpd="sng" w="9525">
            <a:solidFill>
              <a:schemeClr val="dk2"/>
            </a:solidFill>
            <a:prstDash val="solid"/>
            <a:round/>
            <a:headEnd len="med" w="med" type="none"/>
            <a:tailEnd len="med" w="med" type="triangle"/>
          </a:ln>
        </p:spPr>
      </p:cxnSp>
      <p:sp>
        <p:nvSpPr>
          <p:cNvPr id="255" name="Google Shape;255;p34"/>
          <p:cNvSpPr/>
          <p:nvPr/>
        </p:nvSpPr>
        <p:spPr>
          <a:xfrm>
            <a:off x="4243500" y="4307725"/>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Fix Overlap Rooms</a:t>
            </a:r>
            <a:endParaRPr sz="1000">
              <a:latin typeface="Roboto"/>
              <a:ea typeface="Roboto"/>
              <a:cs typeface="Roboto"/>
              <a:sym typeface="Roboto"/>
            </a:endParaRPr>
          </a:p>
        </p:txBody>
      </p:sp>
      <p:cxnSp>
        <p:nvCxnSpPr>
          <p:cNvPr id="256" name="Google Shape;256;p34"/>
          <p:cNvCxnSpPr>
            <a:stCxn id="253" idx="2"/>
            <a:endCxn id="255" idx="6"/>
          </p:cNvCxnSpPr>
          <p:nvPr/>
        </p:nvCxnSpPr>
        <p:spPr>
          <a:xfrm rot="10800000">
            <a:off x="4900375" y="4633825"/>
            <a:ext cx="1027200" cy="0"/>
          </a:xfrm>
          <a:prstGeom prst="straightConnector1">
            <a:avLst/>
          </a:prstGeom>
          <a:noFill/>
          <a:ln cap="flat" cmpd="sng" w="9525">
            <a:solidFill>
              <a:schemeClr val="dk2"/>
            </a:solidFill>
            <a:prstDash val="solid"/>
            <a:round/>
            <a:headEnd len="med" w="med" type="none"/>
            <a:tailEnd len="med" w="med" type="triangle"/>
          </a:ln>
        </p:spPr>
      </p:cxnSp>
      <p:cxnSp>
        <p:nvCxnSpPr>
          <p:cNvPr id="257" name="Google Shape;257;p34"/>
          <p:cNvCxnSpPr>
            <a:stCxn id="251" idx="2"/>
            <a:endCxn id="253" idx="6"/>
          </p:cNvCxnSpPr>
          <p:nvPr/>
        </p:nvCxnSpPr>
        <p:spPr>
          <a:xfrm flipH="1">
            <a:off x="6584450" y="3834175"/>
            <a:ext cx="1027200" cy="799800"/>
          </a:xfrm>
          <a:prstGeom prst="straightConnector1">
            <a:avLst/>
          </a:prstGeom>
          <a:noFill/>
          <a:ln cap="flat" cmpd="sng" w="9525">
            <a:solidFill>
              <a:schemeClr val="dk2"/>
            </a:solidFill>
            <a:prstDash val="solid"/>
            <a:round/>
            <a:headEnd len="med" w="med" type="none"/>
            <a:tailEnd len="med" w="med" type="triangle"/>
          </a:ln>
        </p:spPr>
      </p:cxnSp>
      <p:sp>
        <p:nvSpPr>
          <p:cNvPr id="258" name="Google Shape;258;p34"/>
          <p:cNvSpPr txBox="1"/>
          <p:nvPr/>
        </p:nvSpPr>
        <p:spPr>
          <a:xfrm>
            <a:off x="157275" y="3626425"/>
            <a:ext cx="714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main</a:t>
            </a:r>
            <a:endParaRPr sz="1100">
              <a:solidFill>
                <a:schemeClr val="dk1"/>
              </a:solidFill>
              <a:latin typeface="Consolas"/>
              <a:ea typeface="Consolas"/>
              <a:cs typeface="Consolas"/>
              <a:sym typeface="Consolas"/>
            </a:endParaRPr>
          </a:p>
        </p:txBody>
      </p:sp>
      <p:sp>
        <p:nvSpPr>
          <p:cNvPr id="259" name="Google Shape;259;p34"/>
          <p:cNvSpPr txBox="1"/>
          <p:nvPr/>
        </p:nvSpPr>
        <p:spPr>
          <a:xfrm>
            <a:off x="3277725" y="4426075"/>
            <a:ext cx="965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branch1</a:t>
            </a:r>
            <a:endParaRPr sz="1100">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265" name="Google Shape;265;p3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rgbClr val="D1D2D3"/>
                </a:solidFill>
              </a:rPr>
              <a:t>Background</a:t>
            </a:r>
            <a:endParaRPr>
              <a:solidFill>
                <a:srgbClr val="D1D2D3"/>
              </a:solidFill>
            </a:endParaRPr>
          </a:p>
          <a:p>
            <a:pPr indent="0" lvl="0" marL="0" rtl="0" algn="l">
              <a:spcBef>
                <a:spcPts val="600"/>
              </a:spcBef>
              <a:spcAft>
                <a:spcPts val="0"/>
              </a:spcAft>
              <a:buClr>
                <a:schemeClr val="dk1"/>
              </a:buClr>
              <a:buSzPts val="1100"/>
              <a:buFont typeface="Arial"/>
              <a:buNone/>
            </a:pPr>
            <a:r>
              <a:rPr lang="en">
                <a:solidFill>
                  <a:schemeClr val="accent6"/>
                </a:solidFill>
              </a:rPr>
              <a:t>Git Recap </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Snapshots</a:t>
            </a:r>
            <a:endParaRPr>
              <a:solidFill>
                <a:schemeClr val="accent6"/>
              </a:solidFill>
            </a:endParaRPr>
          </a:p>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  SHA-1</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chemeClr val="accent6"/>
                </a:solidFill>
              </a:rPr>
              <a:t>  Remote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Git Potpourri</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Break</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p>
        </p:txBody>
      </p:sp>
      <p:sp>
        <p:nvSpPr>
          <p:cNvPr id="266" name="Google Shape;266;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SHA-1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SHA (Secure Hashing Algorithm)</a:t>
            </a:r>
            <a:endParaRPr/>
          </a:p>
        </p:txBody>
      </p:sp>
      <p:sp>
        <p:nvSpPr>
          <p:cNvPr id="272" name="Google Shape;272;p36"/>
          <p:cNvSpPr txBox="1"/>
          <p:nvPr>
            <p:ph idx="1" type="body"/>
          </p:nvPr>
        </p:nvSpPr>
        <p:spPr>
          <a:xfrm>
            <a:off x="107050" y="402200"/>
            <a:ext cx="8875500" cy="28488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SHA1 is an implementation of a </a:t>
            </a:r>
            <a:r>
              <a:rPr lang="en">
                <a:latin typeface="Consolas"/>
                <a:ea typeface="Consolas"/>
                <a:cs typeface="Consolas"/>
                <a:sym typeface="Consolas"/>
              </a:rPr>
              <a:t>hashCode</a:t>
            </a:r>
            <a:r>
              <a:rPr lang="en"/>
              <a:t> function. </a:t>
            </a:r>
            <a:endParaRPr/>
          </a:p>
          <a:p>
            <a:pPr indent="-342900" lvl="0" marL="457200" rtl="0" algn="l">
              <a:spcBef>
                <a:spcPts val="0"/>
              </a:spcBef>
              <a:spcAft>
                <a:spcPts val="0"/>
              </a:spcAft>
              <a:buSzPts val="1800"/>
              <a:buChar char="●"/>
            </a:pPr>
            <a:r>
              <a:rPr b="1" lang="en"/>
              <a:t>(Mostly) Collision-Free</a:t>
            </a:r>
            <a:r>
              <a:rPr lang="en"/>
              <a:t>: Cannot easily find two different objects with the same hash because SHA1 (used to be) is secure</a:t>
            </a:r>
            <a:endParaRPr/>
          </a:p>
          <a:p>
            <a:pPr indent="-342900" lvl="1" marL="914400" rtl="0" algn="l">
              <a:spcBef>
                <a:spcPts val="0"/>
              </a:spcBef>
              <a:spcAft>
                <a:spcPts val="0"/>
              </a:spcAft>
              <a:buSzPts val="1800"/>
              <a:buChar char="○"/>
            </a:pPr>
            <a:r>
              <a:rPr lang="en"/>
              <a:t>Quickly determine if two objects are identical by comparing hash</a:t>
            </a:r>
            <a:endParaRPr/>
          </a:p>
          <a:p>
            <a:pPr indent="-342900" lvl="1" marL="914400" rtl="0" algn="l">
              <a:spcBef>
                <a:spcPts val="0"/>
              </a:spcBef>
              <a:spcAft>
                <a:spcPts val="0"/>
              </a:spcAft>
              <a:buSzPts val="1800"/>
              <a:buChar char="○"/>
            </a:pPr>
            <a:r>
              <a:rPr lang="en" u="sng">
                <a:solidFill>
                  <a:schemeClr val="hlink"/>
                </a:solidFill>
                <a:hlinkClick r:id="rId3"/>
              </a:rPr>
              <a:t>Interesting git blog to see what happens if there’s a collision</a:t>
            </a:r>
            <a:endParaRPr/>
          </a:p>
          <a:p>
            <a:pPr indent="-342900" lvl="0" marL="457200" rtl="0" algn="l">
              <a:spcBef>
                <a:spcPts val="0"/>
              </a:spcBef>
              <a:spcAft>
                <a:spcPts val="0"/>
              </a:spcAft>
              <a:buSzPts val="1800"/>
              <a:buChar char="●"/>
            </a:pPr>
            <a:r>
              <a:rPr b="1" lang="en"/>
              <a:t>Consistent</a:t>
            </a:r>
            <a:r>
              <a:rPr lang="en"/>
              <a:t>: The same content stored in two repositories will always be stored under the same hash</a:t>
            </a:r>
            <a:endParaRPr/>
          </a:p>
          <a:p>
            <a:pPr indent="-342900" lvl="1" marL="914400" rtl="0" algn="l">
              <a:spcBef>
                <a:spcPts val="0"/>
              </a:spcBef>
              <a:spcAft>
                <a:spcPts val="0"/>
              </a:spcAft>
              <a:buSzPts val="1800"/>
              <a:buChar char="○"/>
            </a:pPr>
            <a:r>
              <a:rPr lang="en"/>
              <a:t>Corrupted file checking is easily detected</a:t>
            </a:r>
            <a:endParaRPr/>
          </a:p>
          <a:p>
            <a:pPr indent="-342900" lvl="2" marL="1371600" rtl="0" algn="l">
              <a:spcBef>
                <a:spcPts val="0"/>
              </a:spcBef>
              <a:spcAft>
                <a:spcPts val="0"/>
              </a:spcAft>
              <a:buSzPts val="1800"/>
              <a:buChar char="■"/>
            </a:pPr>
            <a:r>
              <a:rPr lang="en"/>
              <a:t>The hash of corrupted content does not match its name.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Examples (try </a:t>
            </a:r>
            <a:r>
              <a:rPr lang="en"/>
              <a:t>with</a:t>
            </a:r>
            <a:r>
              <a:rPr lang="en"/>
              <a:t> </a:t>
            </a:r>
            <a:r>
              <a:rPr lang="en" u="sng">
                <a:solidFill>
                  <a:schemeClr val="hlink"/>
                </a:solidFill>
                <a:hlinkClick r:id="rId4"/>
              </a:rPr>
              <a:t>http://www.sha1-online.com/</a:t>
            </a:r>
            <a:r>
              <a:rPr lang="en"/>
              <a:t>):</a:t>
            </a:r>
            <a:endParaRPr/>
          </a:p>
          <a:p>
            <a:pPr indent="-342900" lvl="0" marL="457200" rtl="0" algn="l">
              <a:spcBef>
                <a:spcPts val="600"/>
              </a:spcBef>
              <a:spcAft>
                <a:spcPts val="0"/>
              </a:spcAft>
              <a:buSzPts val="1800"/>
              <a:buFont typeface="Consolas"/>
              <a:buChar char="●"/>
            </a:pPr>
            <a:r>
              <a:rPr lang="en">
                <a:latin typeface="Consolas"/>
                <a:ea typeface="Consolas"/>
                <a:cs typeface="Consolas"/>
                <a:sym typeface="Consolas"/>
              </a:rPr>
              <a:t>1 -&gt; 356a192b7913b04c54574d18c28d46e6395428ab</a:t>
            </a:r>
            <a:endParaRPr>
              <a:latin typeface="Consolas"/>
              <a:ea typeface="Consolas"/>
              <a:cs typeface="Consolas"/>
              <a:sym typeface="Consolas"/>
            </a:endParaRPr>
          </a:p>
          <a:p>
            <a:pPr indent="-342900" lvl="0" marL="457200" rtl="0" algn="l">
              <a:spcBef>
                <a:spcPts val="0"/>
              </a:spcBef>
              <a:spcAft>
                <a:spcPts val="0"/>
              </a:spcAft>
              <a:buSzPts val="1800"/>
              <a:buFont typeface="Consolas"/>
              <a:buChar char="●"/>
            </a:pPr>
            <a:r>
              <a:rPr lang="en">
                <a:latin typeface="Consolas"/>
                <a:ea typeface="Consolas"/>
                <a:cs typeface="Consolas"/>
                <a:sym typeface="Consolas"/>
              </a:rPr>
              <a:t>2 -&gt; da4b9237bacccdf19c0760cab7aec4a8359010b0</a:t>
            </a:r>
            <a:endParaRPr>
              <a:latin typeface="Consolas"/>
              <a:ea typeface="Consolas"/>
              <a:cs typeface="Consolas"/>
              <a:sym typeface="Consolas"/>
            </a:endParaRPr>
          </a:p>
          <a:p>
            <a:pPr indent="-342900" lvl="0" marL="457200" rtl="0" algn="l">
              <a:spcBef>
                <a:spcPts val="0"/>
              </a:spcBef>
              <a:spcAft>
                <a:spcPts val="0"/>
              </a:spcAft>
              <a:buSzPts val="1800"/>
              <a:buFont typeface="Consolas"/>
              <a:buChar char="●"/>
            </a:pPr>
            <a:r>
              <a:rPr lang="en">
                <a:latin typeface="Consolas"/>
                <a:ea typeface="Consolas"/>
                <a:cs typeface="Consolas"/>
                <a:sym typeface="Consolas"/>
              </a:rPr>
              <a:t>3 -&gt; 77de68daecd823babbb58edb1c8e14d7106e83bb</a:t>
            </a:r>
            <a:endParaRPr>
              <a:latin typeface="Consolas"/>
              <a:ea typeface="Consolas"/>
              <a:cs typeface="Consolas"/>
              <a:sym typeface="Consolas"/>
            </a:endParaRPr>
          </a:p>
          <a:p>
            <a:pPr indent="0" lvl="0" marL="0" rtl="0" algn="l">
              <a:spcBef>
                <a:spcPts val="6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Addressing</a:t>
            </a:r>
            <a:endParaRPr/>
          </a:p>
        </p:txBody>
      </p:sp>
      <p:sp>
        <p:nvSpPr>
          <p:cNvPr id="278" name="Google Shape;278;p37"/>
          <p:cNvSpPr txBox="1"/>
          <p:nvPr>
            <p:ph idx="1" type="body"/>
          </p:nvPr>
        </p:nvSpPr>
        <p:spPr>
          <a:xfrm>
            <a:off x="107050" y="402200"/>
            <a:ext cx="8520600" cy="21078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In git, </a:t>
            </a:r>
            <a:r>
              <a:rPr b="1" lang="en"/>
              <a:t>each file, folder, and commit is addressed by their SHA-1 hash.</a:t>
            </a:r>
            <a:endParaRPr b="1"/>
          </a:p>
          <a:p>
            <a:pPr indent="-342900" lvl="0" marL="457200" rtl="0" algn="l">
              <a:spcBef>
                <a:spcPts val="0"/>
              </a:spcBef>
              <a:spcAft>
                <a:spcPts val="0"/>
              </a:spcAft>
              <a:buSzPts val="1800"/>
              <a:buChar char="●"/>
            </a:pPr>
            <a:r>
              <a:rPr lang="en"/>
              <a:t>In </a:t>
            </a:r>
            <a:r>
              <a:rPr lang="en">
                <a:latin typeface="Consolas"/>
                <a:ea typeface="Consolas"/>
                <a:cs typeface="Consolas"/>
                <a:sym typeface="Consolas"/>
              </a:rPr>
              <a:t>git log, </a:t>
            </a:r>
            <a:r>
              <a:rPr lang="en"/>
              <a:t>SHA1 is the long jargon </a:t>
            </a:r>
            <a:r>
              <a:rPr lang="en"/>
              <a:t>for each commit </a:t>
            </a:r>
            <a:endParaRPr>
              <a:latin typeface="Consolas"/>
              <a:ea typeface="Consolas"/>
              <a:cs typeface="Consolas"/>
              <a:sym typeface="Consolas"/>
            </a:endParaRPr>
          </a:p>
          <a:p>
            <a:pPr indent="-342900" lvl="0" marL="457200" rtl="0" algn="l">
              <a:spcBef>
                <a:spcPts val="0"/>
              </a:spcBef>
              <a:spcAft>
                <a:spcPts val="0"/>
              </a:spcAft>
              <a:buSzPts val="1800"/>
              <a:buChar char="●"/>
            </a:pPr>
            <a:r>
              <a:rPr lang="en"/>
              <a:t>All objects can be quickly identified by their hash. </a:t>
            </a:r>
            <a:endParaRPr/>
          </a:p>
          <a:p>
            <a:pPr indent="-342900" lvl="1" marL="914400" rtl="0" algn="l">
              <a:spcBef>
                <a:spcPts val="0"/>
              </a:spcBef>
              <a:spcAft>
                <a:spcPts val="0"/>
              </a:spcAft>
              <a:buSzPts val="1800"/>
              <a:buChar char="○"/>
            </a:pPr>
            <a:r>
              <a:rPr lang="en">
                <a:latin typeface="Consolas"/>
                <a:ea typeface="Consolas"/>
                <a:cs typeface="Consolas"/>
                <a:sym typeface="Consolas"/>
              </a:rPr>
              <a:t>git status</a:t>
            </a:r>
            <a:r>
              <a:rPr lang="en"/>
              <a:t> </a:t>
            </a:r>
            <a:r>
              <a:rPr b="1" lang="en"/>
              <a:t>uses the SHA1 to quickly identify modified files</a:t>
            </a:r>
            <a:endParaRPr b="1"/>
          </a:p>
          <a:p>
            <a:pPr indent="-342900" lvl="1" marL="914400" rtl="0" algn="l">
              <a:spcBef>
                <a:spcPts val="0"/>
              </a:spcBef>
              <a:spcAft>
                <a:spcPts val="0"/>
              </a:spcAft>
              <a:buSzPts val="1800"/>
              <a:buChar char="○"/>
            </a:pPr>
            <a:r>
              <a:rPr b="1" lang="en"/>
              <a:t>Do not need to store duplicate files</a:t>
            </a:r>
            <a:r>
              <a:rPr lang="en"/>
              <a:t> in each snapshot. Just store hash. </a:t>
            </a:r>
            <a:endParaRPr/>
          </a:p>
          <a:p>
            <a:pPr indent="-342900" lvl="0" marL="457200" rtl="0" algn="l">
              <a:spcBef>
                <a:spcPts val="0"/>
              </a:spcBef>
              <a:spcAft>
                <a:spcPts val="0"/>
              </a:spcAft>
              <a:buSzPts val="1800"/>
              <a:buChar char="●"/>
            </a:pPr>
            <a:r>
              <a:rPr lang="en"/>
              <a:t>Quickly reference commits with hash</a:t>
            </a:r>
            <a:endParaRPr/>
          </a:p>
          <a:p>
            <a:pPr indent="-342900" lvl="0" marL="457200" rtl="0" algn="l">
              <a:spcBef>
                <a:spcPts val="0"/>
              </a:spcBef>
              <a:spcAft>
                <a:spcPts val="0"/>
              </a:spcAft>
              <a:buSzPts val="1800"/>
              <a:buChar char="●"/>
            </a:pPr>
            <a:r>
              <a:rPr lang="en"/>
              <a:t>All objects are stored in </a:t>
            </a:r>
            <a:r>
              <a:rPr lang="en">
                <a:latin typeface="Consolas"/>
                <a:ea typeface="Consolas"/>
                <a:cs typeface="Consolas"/>
                <a:sym typeface="Consolas"/>
              </a:rPr>
              <a:t>.git &gt; objects </a:t>
            </a:r>
            <a:endParaRPr>
              <a:latin typeface="Consolas"/>
              <a:ea typeface="Consolas"/>
              <a:cs typeface="Consolas"/>
              <a:sym typeface="Consolas"/>
            </a:endParaRPr>
          </a:p>
        </p:txBody>
      </p:sp>
      <p:pic>
        <p:nvPicPr>
          <p:cNvPr id="279" name="Google Shape;279;p37"/>
          <p:cNvPicPr preferRelativeResize="0"/>
          <p:nvPr/>
        </p:nvPicPr>
        <p:blipFill>
          <a:blip r:embed="rId3">
            <a:alphaModFix/>
          </a:blip>
          <a:stretch>
            <a:fillRect/>
          </a:stretch>
        </p:blipFill>
        <p:spPr>
          <a:xfrm>
            <a:off x="165750" y="2566700"/>
            <a:ext cx="6210300" cy="1181100"/>
          </a:xfrm>
          <a:prstGeom prst="rect">
            <a:avLst/>
          </a:prstGeom>
          <a:noFill/>
          <a:ln>
            <a:noFill/>
          </a:ln>
        </p:spPr>
      </p:pic>
      <p:pic>
        <p:nvPicPr>
          <p:cNvPr id="280" name="Google Shape;280;p37"/>
          <p:cNvPicPr preferRelativeResize="0"/>
          <p:nvPr/>
        </p:nvPicPr>
        <p:blipFill rotWithShape="1">
          <a:blip r:embed="rId4">
            <a:alphaModFix/>
          </a:blip>
          <a:srcRect b="-2329" l="0" r="0" t="2330"/>
          <a:stretch/>
        </p:blipFill>
        <p:spPr>
          <a:xfrm>
            <a:off x="2506700" y="3225798"/>
            <a:ext cx="6637300" cy="2962975"/>
          </a:xfrm>
          <a:prstGeom prst="rect">
            <a:avLst/>
          </a:prstGeom>
          <a:noFill/>
          <a:ln>
            <a:noFill/>
          </a:ln>
        </p:spPr>
      </p:pic>
      <p:sp>
        <p:nvSpPr>
          <p:cNvPr id="281" name="Google Shape;281;p37"/>
          <p:cNvSpPr/>
          <p:nvPr/>
        </p:nvSpPr>
        <p:spPr>
          <a:xfrm>
            <a:off x="849850" y="2559400"/>
            <a:ext cx="3992400" cy="340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2" name="Google Shape;282;p37"/>
          <p:cNvSpPr/>
          <p:nvPr/>
        </p:nvSpPr>
        <p:spPr>
          <a:xfrm>
            <a:off x="3586350" y="3563125"/>
            <a:ext cx="3207300" cy="259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288" name="Google Shape;288;p3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rgbClr val="D1D2D3"/>
                </a:solidFill>
              </a:rPr>
              <a:t>Background</a:t>
            </a:r>
            <a:endParaRPr>
              <a:solidFill>
                <a:srgbClr val="D1D2D3"/>
              </a:solidFill>
            </a:endParaRPr>
          </a:p>
          <a:p>
            <a:pPr indent="0" lvl="0" marL="0" rtl="0" algn="l">
              <a:spcBef>
                <a:spcPts val="600"/>
              </a:spcBef>
              <a:spcAft>
                <a:spcPts val="0"/>
              </a:spcAft>
              <a:buClr>
                <a:schemeClr val="dk1"/>
              </a:buClr>
              <a:buSzPts val="1100"/>
              <a:buFont typeface="Arial"/>
              <a:buNone/>
            </a:pPr>
            <a:r>
              <a:rPr lang="en">
                <a:solidFill>
                  <a:schemeClr val="accent6"/>
                </a:solidFill>
              </a:rPr>
              <a:t>Git Recap </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Snapshots</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SHA-1</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t>
            </a:r>
            <a:r>
              <a:rPr b="1" lang="en">
                <a:solidFill>
                  <a:schemeClr val="accent3"/>
                </a:solidFill>
                <a:latin typeface="Roboto"/>
                <a:ea typeface="Roboto"/>
                <a:cs typeface="Roboto"/>
                <a:sym typeface="Roboto"/>
              </a:rPr>
              <a:t>Remote</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chemeClr val="accent6"/>
                </a:solidFill>
              </a:rPr>
              <a:t>  Git Potpourri</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Break</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p>
        </p:txBody>
      </p:sp>
      <p:sp>
        <p:nvSpPr>
          <p:cNvPr id="289" name="Google Shape;289;p3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Remote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Remote</a:t>
            </a:r>
            <a:endParaRPr/>
          </a:p>
        </p:txBody>
      </p:sp>
      <p:sp>
        <p:nvSpPr>
          <p:cNvPr id="295" name="Google Shape;295;p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communicate with the outside world, git uses </a:t>
            </a:r>
            <a:r>
              <a:rPr b="1" lang="en"/>
              <a:t>remote</a:t>
            </a:r>
            <a:r>
              <a:rPr b="1" lang="en"/>
              <a:t> </a:t>
            </a:r>
            <a:r>
              <a:rPr lang="en"/>
              <a:t>repositories</a:t>
            </a:r>
            <a:r>
              <a:rPr lang="en"/>
              <a:t>. </a:t>
            </a:r>
            <a:endParaRPr/>
          </a:p>
          <a:p>
            <a:pPr indent="-342900" lvl="0" marL="457200" rtl="0" algn="l">
              <a:spcBef>
                <a:spcPts val="600"/>
              </a:spcBef>
              <a:spcAft>
                <a:spcPts val="0"/>
              </a:spcAft>
              <a:buSzPts val="1800"/>
              <a:buChar char="●"/>
            </a:pPr>
            <a:r>
              <a:rPr b="1" lang="en"/>
              <a:t>Remote</a:t>
            </a:r>
            <a:r>
              <a:rPr lang="en"/>
              <a:t> manages repositories</a:t>
            </a:r>
            <a:r>
              <a:rPr lang="en"/>
              <a:t> </a:t>
            </a:r>
            <a:r>
              <a:rPr lang="en"/>
              <a:t>which you can push or pull changes into. </a:t>
            </a:r>
            <a:endParaRPr/>
          </a:p>
          <a:p>
            <a:pPr indent="-336550" lvl="0" marL="457200" rtl="0" algn="l">
              <a:spcBef>
                <a:spcPts val="0"/>
              </a:spcBef>
              <a:spcAft>
                <a:spcPts val="0"/>
              </a:spcAft>
              <a:buSzPts val="1700"/>
              <a:buChar char="●"/>
            </a:pPr>
            <a:r>
              <a:rPr lang="en" sz="1700">
                <a:latin typeface="Consolas"/>
                <a:ea typeface="Consolas"/>
                <a:cs typeface="Consolas"/>
                <a:sym typeface="Consolas"/>
              </a:rPr>
              <a:t>git remote add &lt;branch&gt; &lt;URL&gt;</a:t>
            </a:r>
            <a:r>
              <a:rPr lang="en" sz="1700"/>
              <a:t>: add a connection to a remote repository</a:t>
            </a:r>
            <a:endParaRPr sz="1700"/>
          </a:p>
          <a:p>
            <a:pPr indent="-336550" lvl="0" marL="457200" rtl="0" algn="l">
              <a:spcBef>
                <a:spcPts val="0"/>
              </a:spcBef>
              <a:spcAft>
                <a:spcPts val="0"/>
              </a:spcAft>
              <a:buSzPts val="1700"/>
              <a:buChar char="●"/>
            </a:pPr>
            <a:r>
              <a:rPr lang="en" sz="1700">
                <a:latin typeface="Consolas"/>
                <a:ea typeface="Consolas"/>
                <a:cs typeface="Consolas"/>
                <a:sym typeface="Consolas"/>
              </a:rPr>
              <a:t>git fetch</a:t>
            </a:r>
            <a:r>
              <a:rPr lang="en" sz="1700"/>
              <a:t>: downloads commits and files from a remote repo into your local repo.</a:t>
            </a:r>
            <a:endParaRPr sz="1700">
              <a:latin typeface="Consolas"/>
              <a:ea typeface="Consolas"/>
              <a:cs typeface="Consolas"/>
              <a:sym typeface="Consolas"/>
            </a:endParaRPr>
          </a:p>
          <a:p>
            <a:pPr indent="-336550" lvl="0" marL="457200" rtl="0" algn="l">
              <a:spcBef>
                <a:spcPts val="0"/>
              </a:spcBef>
              <a:spcAft>
                <a:spcPts val="0"/>
              </a:spcAft>
              <a:buSzPts val="1700"/>
              <a:buChar char="●"/>
            </a:pPr>
            <a:r>
              <a:rPr lang="en" sz="1700">
                <a:latin typeface="Consolas"/>
                <a:ea typeface="Consolas"/>
                <a:cs typeface="Consolas"/>
                <a:sym typeface="Consolas"/>
              </a:rPr>
              <a:t>git push</a:t>
            </a:r>
            <a:r>
              <a:rPr lang="en" sz="1700"/>
              <a:t>: upload local repository content to a remote repository</a:t>
            </a:r>
            <a:endParaRPr sz="1700"/>
          </a:p>
          <a:p>
            <a:pPr indent="0" lvl="0" marL="0" rtl="0" algn="l">
              <a:spcBef>
                <a:spcPts val="600"/>
              </a:spcBef>
              <a:spcAft>
                <a:spcPts val="0"/>
              </a:spcAft>
              <a:buNone/>
            </a:pPr>
            <a:r>
              <a:rPr lang="en"/>
              <a:t>We use remotes in CS61B</a:t>
            </a:r>
            <a:endParaRPr/>
          </a:p>
          <a:p>
            <a:pPr indent="-336550" lvl="0" marL="457200" rtl="0" algn="l">
              <a:spcBef>
                <a:spcPts val="600"/>
              </a:spcBef>
              <a:spcAft>
                <a:spcPts val="0"/>
              </a:spcAft>
              <a:buSzPts val="1700"/>
              <a:buChar char="●"/>
            </a:pPr>
            <a:r>
              <a:rPr lang="en" sz="1700">
                <a:latin typeface="Consolas"/>
                <a:ea typeface="Consolas"/>
                <a:cs typeface="Consolas"/>
                <a:sym typeface="Consolas"/>
              </a:rPr>
              <a:t>origin (fa23-s***):</a:t>
            </a:r>
            <a:r>
              <a:rPr lang="en" sz="1700"/>
              <a:t> private student repository that we </a:t>
            </a:r>
            <a:r>
              <a:rPr b="1" lang="en" sz="1700"/>
              <a:t>push</a:t>
            </a:r>
            <a:r>
              <a:rPr lang="en" sz="1700"/>
              <a:t> changes into</a:t>
            </a:r>
            <a:endParaRPr sz="1700"/>
          </a:p>
          <a:p>
            <a:pPr indent="-336550" lvl="1" marL="914400" rtl="0" algn="l">
              <a:spcBef>
                <a:spcPts val="0"/>
              </a:spcBef>
              <a:spcAft>
                <a:spcPts val="0"/>
              </a:spcAft>
              <a:buSzPts val="1700"/>
              <a:buFont typeface="Consolas"/>
              <a:buChar char="○"/>
            </a:pPr>
            <a:r>
              <a:rPr lang="en" sz="1700">
                <a:latin typeface="Consolas"/>
                <a:ea typeface="Consolas"/>
                <a:cs typeface="Consolas"/>
                <a:sym typeface="Consolas"/>
              </a:rPr>
              <a:t>git push origin main</a:t>
            </a:r>
            <a:endParaRPr sz="1700">
              <a:latin typeface="Consolas"/>
              <a:ea typeface="Consolas"/>
              <a:cs typeface="Consolas"/>
              <a:sym typeface="Consolas"/>
            </a:endParaRPr>
          </a:p>
          <a:p>
            <a:pPr indent="-336550" lvl="0" marL="457200" rtl="0" algn="l">
              <a:spcBef>
                <a:spcPts val="0"/>
              </a:spcBef>
              <a:spcAft>
                <a:spcPts val="0"/>
              </a:spcAft>
              <a:buSzPts val="1700"/>
              <a:buChar char="●"/>
            </a:pPr>
            <a:r>
              <a:rPr lang="en" sz="1700">
                <a:latin typeface="Consolas"/>
                <a:ea typeface="Consolas"/>
                <a:cs typeface="Consolas"/>
                <a:sym typeface="Consolas"/>
              </a:rPr>
              <a:t>skeleton (skeleton-fa23):</a:t>
            </a:r>
            <a:r>
              <a:rPr lang="en" sz="1700"/>
              <a:t> </a:t>
            </a:r>
            <a:r>
              <a:rPr lang="en" sz="1700"/>
              <a:t>repository</a:t>
            </a:r>
            <a:r>
              <a:rPr lang="en" sz="1700"/>
              <a:t> that we </a:t>
            </a:r>
            <a:r>
              <a:rPr b="1" lang="en" sz="1700"/>
              <a:t>pull</a:t>
            </a:r>
            <a:r>
              <a:rPr lang="en" sz="1700"/>
              <a:t> new assignments from</a:t>
            </a:r>
            <a:endParaRPr sz="1700"/>
          </a:p>
          <a:p>
            <a:pPr indent="-336550" lvl="1" marL="914400" rtl="0" algn="l">
              <a:spcBef>
                <a:spcPts val="0"/>
              </a:spcBef>
              <a:spcAft>
                <a:spcPts val="0"/>
              </a:spcAft>
              <a:buSzPts val="1700"/>
              <a:buFont typeface="Consolas"/>
              <a:buChar char="○"/>
            </a:pPr>
            <a:r>
              <a:rPr lang="en" sz="1700">
                <a:latin typeface="Consolas"/>
                <a:ea typeface="Consolas"/>
                <a:cs typeface="Consolas"/>
                <a:sym typeface="Consolas"/>
              </a:rPr>
              <a:t>git pull skeleton main</a:t>
            </a:r>
            <a:endParaRPr sz="1700">
              <a:latin typeface="Consolas"/>
              <a:ea typeface="Consolas"/>
              <a:cs typeface="Consolas"/>
              <a:sym typeface="Consolas"/>
            </a:endParaRPr>
          </a:p>
        </p:txBody>
      </p:sp>
      <p:pic>
        <p:nvPicPr>
          <p:cNvPr id="296" name="Google Shape;296;p39"/>
          <p:cNvPicPr preferRelativeResize="0"/>
          <p:nvPr/>
        </p:nvPicPr>
        <p:blipFill>
          <a:blip r:embed="rId3">
            <a:alphaModFix/>
          </a:blip>
          <a:stretch>
            <a:fillRect/>
          </a:stretch>
        </p:blipFill>
        <p:spPr>
          <a:xfrm>
            <a:off x="1948150" y="4123400"/>
            <a:ext cx="7195840" cy="1020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CS61B Remote Example</a:t>
            </a:r>
            <a:endParaRPr/>
          </a:p>
        </p:txBody>
      </p:sp>
      <p:sp>
        <p:nvSpPr>
          <p:cNvPr id="302" name="Google Shape;302;p40"/>
          <p:cNvSpPr txBox="1"/>
          <p:nvPr>
            <p:ph idx="1" type="body"/>
          </p:nvPr>
        </p:nvSpPr>
        <p:spPr>
          <a:xfrm>
            <a:off x="107100" y="393600"/>
            <a:ext cx="9036900" cy="2189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pull skeleton main # FYI: git pull is a fetch + merge</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commit -m “Finish Proj 0”</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pull skeleton main</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commit -m “Finish Proj 1”</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t/>
            </a:r>
            <a:endParaRPr/>
          </a:p>
        </p:txBody>
      </p:sp>
      <p:sp>
        <p:nvSpPr>
          <p:cNvPr id="303" name="Google Shape;303;p40"/>
          <p:cNvSpPr/>
          <p:nvPr/>
        </p:nvSpPr>
        <p:spPr>
          <a:xfrm>
            <a:off x="1334875" y="3300550"/>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04" name="Google Shape;304;p40"/>
          <p:cNvSpPr/>
          <p:nvPr/>
        </p:nvSpPr>
        <p:spPr>
          <a:xfrm>
            <a:off x="3018950" y="3300550"/>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305" name="Google Shape;305;p40"/>
          <p:cNvCxnSpPr>
            <a:endCxn id="303" idx="6"/>
          </p:cNvCxnSpPr>
          <p:nvPr/>
        </p:nvCxnSpPr>
        <p:spPr>
          <a:xfrm rot="10800000">
            <a:off x="1991875" y="3626650"/>
            <a:ext cx="1023000" cy="0"/>
          </a:xfrm>
          <a:prstGeom prst="straightConnector1">
            <a:avLst/>
          </a:prstGeom>
          <a:noFill/>
          <a:ln cap="flat" cmpd="sng" w="9525">
            <a:solidFill>
              <a:schemeClr val="dk2"/>
            </a:solidFill>
            <a:prstDash val="solid"/>
            <a:round/>
            <a:headEnd len="med" w="med" type="none"/>
            <a:tailEnd len="med" w="med" type="triangle"/>
          </a:ln>
        </p:spPr>
      </p:cxnSp>
      <p:sp>
        <p:nvSpPr>
          <p:cNvPr id="306" name="Google Shape;306;p40"/>
          <p:cNvSpPr/>
          <p:nvPr/>
        </p:nvSpPr>
        <p:spPr>
          <a:xfrm>
            <a:off x="4703025" y="3300550"/>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Finish Proj 0</a:t>
            </a:r>
            <a:endParaRPr sz="1000">
              <a:latin typeface="Roboto"/>
              <a:ea typeface="Roboto"/>
              <a:cs typeface="Roboto"/>
              <a:sym typeface="Roboto"/>
            </a:endParaRPr>
          </a:p>
        </p:txBody>
      </p:sp>
      <p:cxnSp>
        <p:nvCxnSpPr>
          <p:cNvPr id="307" name="Google Shape;307;p40"/>
          <p:cNvCxnSpPr/>
          <p:nvPr/>
        </p:nvCxnSpPr>
        <p:spPr>
          <a:xfrm rot="10800000">
            <a:off x="3675950" y="3626650"/>
            <a:ext cx="1023000" cy="0"/>
          </a:xfrm>
          <a:prstGeom prst="straightConnector1">
            <a:avLst/>
          </a:prstGeom>
          <a:noFill/>
          <a:ln cap="flat" cmpd="sng" w="9525">
            <a:solidFill>
              <a:schemeClr val="dk2"/>
            </a:solidFill>
            <a:prstDash val="solid"/>
            <a:round/>
            <a:headEnd len="med" w="med" type="none"/>
            <a:tailEnd len="med" w="med" type="triangle"/>
          </a:ln>
        </p:spPr>
      </p:cxnSp>
      <p:sp>
        <p:nvSpPr>
          <p:cNvPr id="308" name="Google Shape;308;p40"/>
          <p:cNvSpPr/>
          <p:nvPr/>
        </p:nvSpPr>
        <p:spPr>
          <a:xfrm>
            <a:off x="6387100" y="3300550"/>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309" name="Google Shape;309;p40"/>
          <p:cNvCxnSpPr/>
          <p:nvPr/>
        </p:nvCxnSpPr>
        <p:spPr>
          <a:xfrm rot="10800000">
            <a:off x="5360025" y="3626650"/>
            <a:ext cx="1023000" cy="0"/>
          </a:xfrm>
          <a:prstGeom prst="straightConnector1">
            <a:avLst/>
          </a:prstGeom>
          <a:noFill/>
          <a:ln cap="flat" cmpd="sng" w="9525">
            <a:solidFill>
              <a:schemeClr val="dk2"/>
            </a:solidFill>
            <a:prstDash val="solid"/>
            <a:round/>
            <a:headEnd len="med" w="med" type="none"/>
            <a:tailEnd len="med" w="med" type="triangle"/>
          </a:ln>
        </p:spPr>
      </p:cxnSp>
      <p:sp>
        <p:nvSpPr>
          <p:cNvPr id="310" name="Google Shape;310;p40"/>
          <p:cNvSpPr/>
          <p:nvPr/>
        </p:nvSpPr>
        <p:spPr>
          <a:xfrm>
            <a:off x="8071175" y="3300550"/>
            <a:ext cx="657000" cy="6522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Finish Proj 1</a:t>
            </a:r>
            <a:endParaRPr sz="1000">
              <a:latin typeface="Roboto"/>
              <a:ea typeface="Roboto"/>
              <a:cs typeface="Roboto"/>
              <a:sym typeface="Roboto"/>
            </a:endParaRPr>
          </a:p>
        </p:txBody>
      </p:sp>
      <p:cxnSp>
        <p:nvCxnSpPr>
          <p:cNvPr id="311" name="Google Shape;311;p40"/>
          <p:cNvCxnSpPr/>
          <p:nvPr/>
        </p:nvCxnSpPr>
        <p:spPr>
          <a:xfrm rot="10800000">
            <a:off x="7044100" y="3626650"/>
            <a:ext cx="1023000" cy="0"/>
          </a:xfrm>
          <a:prstGeom prst="straightConnector1">
            <a:avLst/>
          </a:prstGeom>
          <a:noFill/>
          <a:ln cap="flat" cmpd="sng" w="9525">
            <a:solidFill>
              <a:schemeClr val="dk2"/>
            </a:solidFill>
            <a:prstDash val="solid"/>
            <a:round/>
            <a:headEnd len="med" w="med" type="none"/>
            <a:tailEnd len="med" w="med" type="triangle"/>
          </a:ln>
        </p:spPr>
      </p:cxnSp>
      <p:sp>
        <p:nvSpPr>
          <p:cNvPr id="312" name="Google Shape;312;p40"/>
          <p:cNvSpPr/>
          <p:nvPr/>
        </p:nvSpPr>
        <p:spPr>
          <a:xfrm>
            <a:off x="5543025" y="4100200"/>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Create Proj 1</a:t>
            </a:r>
            <a:endParaRPr sz="1000">
              <a:latin typeface="Roboto"/>
              <a:ea typeface="Roboto"/>
              <a:cs typeface="Roboto"/>
              <a:sym typeface="Roboto"/>
            </a:endParaRPr>
          </a:p>
        </p:txBody>
      </p:sp>
      <p:sp>
        <p:nvSpPr>
          <p:cNvPr id="313" name="Google Shape;313;p40"/>
          <p:cNvSpPr/>
          <p:nvPr/>
        </p:nvSpPr>
        <p:spPr>
          <a:xfrm>
            <a:off x="2174875" y="4100200"/>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Create Proj 0</a:t>
            </a:r>
            <a:endParaRPr sz="1000">
              <a:latin typeface="Roboto"/>
              <a:ea typeface="Roboto"/>
              <a:cs typeface="Roboto"/>
              <a:sym typeface="Roboto"/>
            </a:endParaRPr>
          </a:p>
        </p:txBody>
      </p:sp>
      <p:cxnSp>
        <p:nvCxnSpPr>
          <p:cNvPr id="314" name="Google Shape;314;p40"/>
          <p:cNvCxnSpPr>
            <a:stCxn id="312" idx="2"/>
            <a:endCxn id="313" idx="6"/>
          </p:cNvCxnSpPr>
          <p:nvPr/>
        </p:nvCxnSpPr>
        <p:spPr>
          <a:xfrm rot="10800000">
            <a:off x="2831925" y="4426300"/>
            <a:ext cx="2711100" cy="0"/>
          </a:xfrm>
          <a:prstGeom prst="straightConnector1">
            <a:avLst/>
          </a:prstGeom>
          <a:noFill/>
          <a:ln cap="flat" cmpd="sng" w="9525">
            <a:solidFill>
              <a:schemeClr val="dk2"/>
            </a:solidFill>
            <a:prstDash val="solid"/>
            <a:round/>
            <a:headEnd len="med" w="med" type="none"/>
            <a:tailEnd len="med" w="med" type="triangle"/>
          </a:ln>
        </p:spPr>
      </p:cxnSp>
      <p:cxnSp>
        <p:nvCxnSpPr>
          <p:cNvPr id="315" name="Google Shape;315;p40"/>
          <p:cNvCxnSpPr>
            <a:stCxn id="308" idx="2"/>
            <a:endCxn id="312" idx="6"/>
          </p:cNvCxnSpPr>
          <p:nvPr/>
        </p:nvCxnSpPr>
        <p:spPr>
          <a:xfrm flipH="1">
            <a:off x="6199900" y="3626650"/>
            <a:ext cx="187200" cy="799800"/>
          </a:xfrm>
          <a:prstGeom prst="straightConnector1">
            <a:avLst/>
          </a:prstGeom>
          <a:noFill/>
          <a:ln cap="flat" cmpd="sng" w="9525">
            <a:solidFill>
              <a:schemeClr val="dk2"/>
            </a:solidFill>
            <a:prstDash val="solid"/>
            <a:round/>
            <a:headEnd len="med" w="med" type="none"/>
            <a:tailEnd len="med" w="med" type="triangle"/>
          </a:ln>
        </p:spPr>
      </p:cxnSp>
      <p:cxnSp>
        <p:nvCxnSpPr>
          <p:cNvPr id="316" name="Google Shape;316;p40"/>
          <p:cNvCxnSpPr>
            <a:stCxn id="313" idx="2"/>
            <a:endCxn id="303" idx="6"/>
          </p:cNvCxnSpPr>
          <p:nvPr/>
        </p:nvCxnSpPr>
        <p:spPr>
          <a:xfrm rot="10800000">
            <a:off x="1991875" y="3626800"/>
            <a:ext cx="183000" cy="799500"/>
          </a:xfrm>
          <a:prstGeom prst="straightConnector1">
            <a:avLst/>
          </a:prstGeom>
          <a:noFill/>
          <a:ln cap="flat" cmpd="sng" w="9525">
            <a:solidFill>
              <a:schemeClr val="dk2"/>
            </a:solidFill>
            <a:prstDash val="solid"/>
            <a:round/>
            <a:headEnd len="med" w="med" type="none"/>
            <a:tailEnd len="med" w="med" type="triangle"/>
          </a:ln>
        </p:spPr>
      </p:cxnSp>
      <p:cxnSp>
        <p:nvCxnSpPr>
          <p:cNvPr id="317" name="Google Shape;317;p40"/>
          <p:cNvCxnSpPr>
            <a:stCxn id="304" idx="2"/>
            <a:endCxn id="313" idx="6"/>
          </p:cNvCxnSpPr>
          <p:nvPr/>
        </p:nvCxnSpPr>
        <p:spPr>
          <a:xfrm flipH="1">
            <a:off x="2831750" y="3626650"/>
            <a:ext cx="187200" cy="799800"/>
          </a:xfrm>
          <a:prstGeom prst="straightConnector1">
            <a:avLst/>
          </a:prstGeom>
          <a:noFill/>
          <a:ln cap="flat" cmpd="sng" w="9525">
            <a:solidFill>
              <a:schemeClr val="dk2"/>
            </a:solidFill>
            <a:prstDash val="solid"/>
            <a:round/>
            <a:headEnd len="med" w="med" type="none"/>
            <a:tailEnd len="med" w="med" type="triangle"/>
          </a:ln>
        </p:spPr>
      </p:cxnSp>
      <p:sp>
        <p:nvSpPr>
          <p:cNvPr id="318" name="Google Shape;318;p40"/>
          <p:cNvSpPr txBox="1"/>
          <p:nvPr/>
        </p:nvSpPr>
        <p:spPr>
          <a:xfrm>
            <a:off x="673800" y="3426550"/>
            <a:ext cx="6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origin</a:t>
            </a:r>
            <a:endParaRPr>
              <a:solidFill>
                <a:schemeClr val="dk1"/>
              </a:solidFill>
              <a:latin typeface="Roboto"/>
              <a:ea typeface="Roboto"/>
              <a:cs typeface="Roboto"/>
              <a:sym typeface="Roboto"/>
            </a:endParaRPr>
          </a:p>
        </p:txBody>
      </p:sp>
      <p:sp>
        <p:nvSpPr>
          <p:cNvPr id="319" name="Google Shape;319;p40"/>
          <p:cNvSpPr txBox="1"/>
          <p:nvPr/>
        </p:nvSpPr>
        <p:spPr>
          <a:xfrm>
            <a:off x="1324325" y="4226200"/>
            <a:ext cx="85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skeleton</a:t>
            </a:r>
            <a:endParaRPr>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Introducing Git Rebase</a:t>
            </a:r>
            <a:endParaRPr/>
          </a:p>
        </p:txBody>
      </p:sp>
      <p:sp>
        <p:nvSpPr>
          <p:cNvPr id="325" name="Google Shape;325;p41"/>
          <p:cNvSpPr txBox="1"/>
          <p:nvPr>
            <p:ph idx="1" type="body"/>
          </p:nvPr>
        </p:nvSpPr>
        <p:spPr>
          <a:xfrm>
            <a:off x="125025" y="2366275"/>
            <a:ext cx="9036900" cy="158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pull skeleton main --rebase</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commit -m “Finish Proj 0”</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pull skeleton main </a:t>
            </a:r>
            <a:r>
              <a:rPr lang="en">
                <a:latin typeface="Consolas"/>
                <a:ea typeface="Consolas"/>
                <a:cs typeface="Consolas"/>
                <a:sym typeface="Consolas"/>
              </a:rPr>
              <a:t>--</a:t>
            </a:r>
            <a:r>
              <a:rPr lang="en">
                <a:latin typeface="Consolas"/>
                <a:ea typeface="Consolas"/>
                <a:cs typeface="Consolas"/>
                <a:sym typeface="Consolas"/>
              </a:rPr>
              <a:t>rebase</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git commit -m “Finish Proj 1”</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t/>
            </a:r>
            <a:endParaRPr/>
          </a:p>
        </p:txBody>
      </p:sp>
      <p:sp>
        <p:nvSpPr>
          <p:cNvPr id="326" name="Google Shape;326;p41"/>
          <p:cNvSpPr txBox="1"/>
          <p:nvPr/>
        </p:nvSpPr>
        <p:spPr>
          <a:xfrm>
            <a:off x="6535825" y="5237375"/>
            <a:ext cx="87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27" name="Google Shape;327;p41"/>
          <p:cNvSpPr txBox="1"/>
          <p:nvPr>
            <p:ph idx="1" type="body"/>
          </p:nvPr>
        </p:nvSpPr>
        <p:spPr>
          <a:xfrm>
            <a:off x="107050" y="402200"/>
            <a:ext cx="8520600" cy="206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latin typeface="Consolas"/>
                <a:ea typeface="Consolas"/>
                <a:cs typeface="Consolas"/>
                <a:sym typeface="Consolas"/>
              </a:rPr>
              <a:t>git rebase</a:t>
            </a:r>
            <a:r>
              <a:rPr lang="en"/>
              <a:t> </a:t>
            </a:r>
            <a:r>
              <a:rPr lang="en">
                <a:latin typeface="Consolas"/>
                <a:ea typeface="Consolas"/>
                <a:cs typeface="Consolas"/>
                <a:sym typeface="Consolas"/>
              </a:rPr>
              <a:t>&lt;branch&gt;: </a:t>
            </a:r>
            <a:r>
              <a:rPr lang="en"/>
              <a:t>moves commits from a branch to a new base commit</a:t>
            </a:r>
            <a:endParaRPr/>
          </a:p>
          <a:p>
            <a:pPr indent="-342900" lvl="0" marL="457200" rtl="0" algn="l">
              <a:spcBef>
                <a:spcPts val="600"/>
              </a:spcBef>
              <a:spcAft>
                <a:spcPts val="0"/>
              </a:spcAft>
              <a:buSzPts val="1800"/>
              <a:buChar char="●"/>
            </a:pPr>
            <a:r>
              <a:rPr lang="en"/>
              <a:t>Solves same problem as merge (add changes from different branches)</a:t>
            </a:r>
            <a:endParaRPr/>
          </a:p>
          <a:p>
            <a:pPr indent="-342900" lvl="1" marL="914400" rtl="0" algn="l">
              <a:spcBef>
                <a:spcPts val="0"/>
              </a:spcBef>
              <a:spcAft>
                <a:spcPts val="0"/>
              </a:spcAft>
              <a:buSzPts val="1800"/>
              <a:buChar char="○"/>
            </a:pPr>
            <a:r>
              <a:rPr lang="en"/>
              <a:t>Cleaner project history </a:t>
            </a:r>
            <a:endParaRPr/>
          </a:p>
          <a:p>
            <a:pPr indent="-342900" lvl="1" marL="914400" rtl="0" algn="l">
              <a:spcBef>
                <a:spcPts val="0"/>
              </a:spcBef>
              <a:spcAft>
                <a:spcPts val="0"/>
              </a:spcAft>
              <a:buSzPts val="1800"/>
              <a:buChar char="○"/>
            </a:pPr>
            <a:r>
              <a:rPr lang="en"/>
              <a:t>E</a:t>
            </a:r>
            <a:r>
              <a:rPr lang="en"/>
              <a:t>liminates the unnecessary merge commits</a:t>
            </a:r>
            <a:endParaRPr/>
          </a:p>
          <a:p>
            <a:pPr indent="-342900" lvl="0" marL="457200" rtl="0" algn="l">
              <a:spcBef>
                <a:spcPts val="0"/>
              </a:spcBef>
              <a:spcAft>
                <a:spcPts val="0"/>
              </a:spcAft>
              <a:buSzPts val="1800"/>
              <a:buChar char="●"/>
            </a:pPr>
            <a:r>
              <a:rPr lang="en"/>
              <a:t>Downside: This means true history is lost since we moved the commit</a:t>
            </a:r>
            <a:endParaRPr/>
          </a:p>
          <a:p>
            <a:pPr indent="0" lvl="0" marL="0" rtl="0" algn="l">
              <a:spcBef>
                <a:spcPts val="600"/>
              </a:spcBef>
              <a:spcAft>
                <a:spcPts val="0"/>
              </a:spcAft>
              <a:buNone/>
            </a:pPr>
            <a:r>
              <a:t/>
            </a:r>
            <a:endParaRPr/>
          </a:p>
        </p:txBody>
      </p:sp>
      <p:sp>
        <p:nvSpPr>
          <p:cNvPr id="328" name="Google Shape;328;p41"/>
          <p:cNvSpPr/>
          <p:nvPr/>
        </p:nvSpPr>
        <p:spPr>
          <a:xfrm>
            <a:off x="1205888" y="43041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29" name="Google Shape;329;p41"/>
          <p:cNvSpPr/>
          <p:nvPr/>
        </p:nvSpPr>
        <p:spPr>
          <a:xfrm>
            <a:off x="2889963" y="4304175"/>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Create Proj 0</a:t>
            </a:r>
            <a:endParaRPr sz="1000">
              <a:latin typeface="Roboto"/>
              <a:ea typeface="Roboto"/>
              <a:cs typeface="Roboto"/>
              <a:sym typeface="Roboto"/>
            </a:endParaRPr>
          </a:p>
        </p:txBody>
      </p:sp>
      <p:cxnSp>
        <p:nvCxnSpPr>
          <p:cNvPr id="330" name="Google Shape;330;p41"/>
          <p:cNvCxnSpPr>
            <a:endCxn id="328" idx="6"/>
          </p:cNvCxnSpPr>
          <p:nvPr/>
        </p:nvCxnSpPr>
        <p:spPr>
          <a:xfrm rot="10800000">
            <a:off x="1862888" y="46302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331" name="Google Shape;331;p41"/>
          <p:cNvSpPr/>
          <p:nvPr/>
        </p:nvSpPr>
        <p:spPr>
          <a:xfrm>
            <a:off x="4574038" y="4304175"/>
            <a:ext cx="657000" cy="65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Finish Proj 0</a:t>
            </a:r>
            <a:endParaRPr sz="1000">
              <a:latin typeface="Roboto"/>
              <a:ea typeface="Roboto"/>
              <a:cs typeface="Roboto"/>
              <a:sym typeface="Roboto"/>
            </a:endParaRPr>
          </a:p>
        </p:txBody>
      </p:sp>
      <p:cxnSp>
        <p:nvCxnSpPr>
          <p:cNvPr id="332" name="Google Shape;332;p41"/>
          <p:cNvCxnSpPr/>
          <p:nvPr/>
        </p:nvCxnSpPr>
        <p:spPr>
          <a:xfrm rot="10800000">
            <a:off x="3546963" y="46302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333" name="Google Shape;333;p41"/>
          <p:cNvSpPr/>
          <p:nvPr/>
        </p:nvSpPr>
        <p:spPr>
          <a:xfrm>
            <a:off x="6258113" y="4304175"/>
            <a:ext cx="657000" cy="652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Create Proj 1</a:t>
            </a:r>
            <a:endParaRPr sz="1000">
              <a:latin typeface="Roboto"/>
              <a:ea typeface="Roboto"/>
              <a:cs typeface="Roboto"/>
              <a:sym typeface="Roboto"/>
            </a:endParaRPr>
          </a:p>
        </p:txBody>
      </p:sp>
      <p:cxnSp>
        <p:nvCxnSpPr>
          <p:cNvPr id="334" name="Google Shape;334;p41"/>
          <p:cNvCxnSpPr/>
          <p:nvPr/>
        </p:nvCxnSpPr>
        <p:spPr>
          <a:xfrm rot="10800000">
            <a:off x="5231038" y="46302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335" name="Google Shape;335;p41"/>
          <p:cNvSpPr/>
          <p:nvPr/>
        </p:nvSpPr>
        <p:spPr>
          <a:xfrm>
            <a:off x="7942188" y="4304175"/>
            <a:ext cx="657000" cy="6522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Finish Proj 1</a:t>
            </a:r>
            <a:endParaRPr sz="1000">
              <a:latin typeface="Roboto"/>
              <a:ea typeface="Roboto"/>
              <a:cs typeface="Roboto"/>
              <a:sym typeface="Roboto"/>
            </a:endParaRPr>
          </a:p>
        </p:txBody>
      </p:sp>
      <p:cxnSp>
        <p:nvCxnSpPr>
          <p:cNvPr id="336" name="Google Shape;336;p41"/>
          <p:cNvCxnSpPr/>
          <p:nvPr/>
        </p:nvCxnSpPr>
        <p:spPr>
          <a:xfrm rot="10800000">
            <a:off x="6915113" y="4630275"/>
            <a:ext cx="1023000" cy="0"/>
          </a:xfrm>
          <a:prstGeom prst="straightConnector1">
            <a:avLst/>
          </a:prstGeom>
          <a:noFill/>
          <a:ln cap="flat" cmpd="sng" w="9525">
            <a:solidFill>
              <a:schemeClr val="dk2"/>
            </a:solidFill>
            <a:prstDash val="solid"/>
            <a:round/>
            <a:headEnd len="med" w="med" type="none"/>
            <a:tailEnd len="med" w="med" type="triangle"/>
          </a:ln>
        </p:spPr>
      </p:cxnSp>
      <p:sp>
        <p:nvSpPr>
          <p:cNvPr id="337" name="Google Shape;337;p41"/>
          <p:cNvSpPr txBox="1"/>
          <p:nvPr/>
        </p:nvSpPr>
        <p:spPr>
          <a:xfrm>
            <a:off x="544813" y="4430175"/>
            <a:ext cx="6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origin</a:t>
            </a:r>
            <a:endParaRPr>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2"/>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343" name="Google Shape;343;p42"/>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42"/>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5" name="Google Shape;345;p42"/>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346" name="Google Shape;346;p42"/>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347" name="Google Shape;347;p42"/>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48" name="Google Shape;348;p42"/>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49" name="Google Shape;349;p42"/>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0" name="Google Shape;350;p42"/>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351" name="Google Shape;351;p42"/>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52" name="Google Shape;352;p42"/>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53" name="Google Shape;353;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359" name="Google Shape;359;p43"/>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0" name="Google Shape;360;p43"/>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43"/>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362" name="Google Shape;362;p43"/>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363" name="Google Shape;363;p43"/>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64" name="Google Shape;364;p43"/>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65" name="Google Shape;365;p43"/>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6" name="Google Shape;366;p43"/>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367" name="Google Shape;367;p43"/>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68" name="Google Shape;368;p43"/>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69" name="Google Shape;369;p43"/>
          <p:cNvSpPr/>
          <p:nvPr/>
        </p:nvSpPr>
        <p:spPr>
          <a:xfrm>
            <a:off x="9870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70" name="Google Shape;370;p43"/>
          <p:cNvSpPr/>
          <p:nvPr/>
        </p:nvSpPr>
        <p:spPr>
          <a:xfrm>
            <a:off x="54669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71" name="Google Shape;371;p43"/>
          <p:cNvSpPr txBox="1"/>
          <p:nvPr/>
        </p:nvSpPr>
        <p:spPr>
          <a:xfrm>
            <a:off x="1343925" y="2929550"/>
            <a:ext cx="284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git pull origin main</a:t>
            </a:r>
            <a:endParaRPr sz="1800">
              <a:solidFill>
                <a:schemeClr val="dk1"/>
              </a:solidFill>
              <a:latin typeface="Consolas"/>
              <a:ea typeface="Consolas"/>
              <a:cs typeface="Consolas"/>
              <a:sym typeface="Consolas"/>
            </a:endParaRPr>
          </a:p>
        </p:txBody>
      </p:sp>
      <p:sp>
        <p:nvSpPr>
          <p:cNvPr id="372" name="Google Shape;372;p43"/>
          <p:cNvSpPr txBox="1"/>
          <p:nvPr/>
        </p:nvSpPr>
        <p:spPr>
          <a:xfrm>
            <a:off x="5953050" y="2929550"/>
            <a:ext cx="284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git pull origin main</a:t>
            </a:r>
            <a:endParaRPr sz="1800">
              <a:solidFill>
                <a:schemeClr val="dk1"/>
              </a:solidFill>
              <a:latin typeface="Consolas"/>
              <a:ea typeface="Consolas"/>
              <a:cs typeface="Consolas"/>
              <a:sym typeface="Consolas"/>
            </a:endParaRPr>
          </a:p>
        </p:txBody>
      </p:sp>
      <p:sp>
        <p:nvSpPr>
          <p:cNvPr id="373" name="Google Shape;373;p43"/>
          <p:cNvSpPr txBox="1"/>
          <p:nvPr/>
        </p:nvSpPr>
        <p:spPr>
          <a:xfrm>
            <a:off x="1343925" y="2929550"/>
            <a:ext cx="284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git pull origin main</a:t>
            </a:r>
            <a:endParaRPr sz="1800">
              <a:solidFill>
                <a:schemeClr val="dk1"/>
              </a:solidFill>
              <a:latin typeface="Consolas"/>
              <a:ea typeface="Consolas"/>
              <a:cs typeface="Consolas"/>
              <a:sym typeface="Consolas"/>
            </a:endParaRPr>
          </a:p>
        </p:txBody>
      </p:sp>
      <p:sp>
        <p:nvSpPr>
          <p:cNvPr id="374" name="Google Shape;374;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4"/>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380" name="Google Shape;380;p44"/>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1" name="Google Shape;381;p44"/>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2" name="Google Shape;382;p44"/>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383" name="Google Shape;383;p44"/>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384" name="Google Shape;384;p44"/>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85" name="Google Shape;385;p44"/>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86" name="Google Shape;386;p44"/>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 name="Google Shape;387;p44"/>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388" name="Google Shape;388;p44"/>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a:t>
            </a:r>
            <a:r>
              <a:rPr lang="en" sz="1100">
                <a:latin typeface="Consolas"/>
                <a:ea typeface="Consolas"/>
                <a:cs typeface="Consolas"/>
                <a:sym typeface="Consolas"/>
              </a:rPr>
              <a:t>rigin</a:t>
            </a:r>
            <a:endParaRPr sz="1100">
              <a:latin typeface="Consolas"/>
              <a:ea typeface="Consolas"/>
              <a:cs typeface="Consolas"/>
              <a:sym typeface="Consolas"/>
            </a:endParaRPr>
          </a:p>
        </p:txBody>
      </p:sp>
      <p:sp>
        <p:nvSpPr>
          <p:cNvPr id="389" name="Google Shape;389;p44"/>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90" name="Google Shape;390;p44"/>
          <p:cNvSpPr/>
          <p:nvPr/>
        </p:nvSpPr>
        <p:spPr>
          <a:xfrm>
            <a:off x="9870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91" name="Google Shape;391;p44"/>
          <p:cNvSpPr/>
          <p:nvPr/>
        </p:nvSpPr>
        <p:spPr>
          <a:xfrm>
            <a:off x="54669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392" name="Google Shape;392;p44"/>
          <p:cNvSpPr txBox="1"/>
          <p:nvPr/>
        </p:nvSpPr>
        <p:spPr>
          <a:xfrm>
            <a:off x="1338975" y="2809575"/>
            <a:ext cx="2846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git commit -m “Add Hello”</a:t>
            </a:r>
            <a:endParaRPr sz="1500">
              <a:solidFill>
                <a:schemeClr val="dk1"/>
              </a:solidFill>
              <a:latin typeface="Consolas"/>
              <a:ea typeface="Consolas"/>
              <a:cs typeface="Consolas"/>
              <a:sym typeface="Consolas"/>
            </a:endParaRPr>
          </a:p>
          <a:p>
            <a:pPr indent="0" lvl="0" marL="0" rtl="0" algn="l">
              <a:spcBef>
                <a:spcPts val="0"/>
              </a:spcBef>
              <a:spcAft>
                <a:spcPts val="0"/>
              </a:spcAft>
              <a:buNone/>
            </a:pPr>
            <a:r>
              <a:t/>
            </a:r>
            <a:endParaRPr sz="1500">
              <a:solidFill>
                <a:schemeClr val="dk1"/>
              </a:solidFill>
              <a:latin typeface="Consolas"/>
              <a:ea typeface="Consolas"/>
              <a:cs typeface="Consolas"/>
              <a:sym typeface="Consolas"/>
            </a:endParaRPr>
          </a:p>
        </p:txBody>
      </p:sp>
      <p:sp>
        <p:nvSpPr>
          <p:cNvPr id="393" name="Google Shape;393;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
        <p:nvSpPr>
          <p:cNvPr id="394" name="Google Shape;394;p44"/>
          <p:cNvSpPr/>
          <p:nvPr/>
        </p:nvSpPr>
        <p:spPr>
          <a:xfrm>
            <a:off x="2033813"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395" name="Google Shape;395;p44"/>
          <p:cNvCxnSpPr>
            <a:endCxn id="390" idx="6"/>
          </p:cNvCxnSpPr>
          <p:nvPr/>
        </p:nvCxnSpPr>
        <p:spPr>
          <a:xfrm flipH="1">
            <a:off x="1644088" y="3774975"/>
            <a:ext cx="391500" cy="7200"/>
          </a:xfrm>
          <a:prstGeom prst="straightConnector1">
            <a:avLst/>
          </a:prstGeom>
          <a:noFill/>
          <a:ln cap="flat" cmpd="sng" w="9525">
            <a:solidFill>
              <a:schemeClr val="dk2"/>
            </a:solidFill>
            <a:prstDash val="solid"/>
            <a:round/>
            <a:headEnd len="med" w="med" type="none"/>
            <a:tailEnd len="med" w="med" type="triangle"/>
          </a:ln>
        </p:spPr>
      </p:cxnSp>
      <p:cxnSp>
        <p:nvCxnSpPr>
          <p:cNvPr id="396" name="Google Shape;396;p44"/>
          <p:cNvCxnSpPr/>
          <p:nvPr/>
        </p:nvCxnSpPr>
        <p:spPr>
          <a:xfrm flipH="1">
            <a:off x="6123988" y="3753650"/>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397" name="Google Shape;397;p44"/>
          <p:cNvSpPr/>
          <p:nvPr/>
        </p:nvSpPr>
        <p:spPr>
          <a:xfrm>
            <a:off x="6515488" y="3431150"/>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sp>
        <p:nvSpPr>
          <p:cNvPr id="398" name="Google Shape;398;p44"/>
          <p:cNvSpPr txBox="1"/>
          <p:nvPr/>
        </p:nvSpPr>
        <p:spPr>
          <a:xfrm>
            <a:off x="5983300" y="2809575"/>
            <a:ext cx="2846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git commit -m “Add World”</a:t>
            </a:r>
            <a:endParaRPr sz="1500">
              <a:solidFill>
                <a:schemeClr val="dk1"/>
              </a:solidFill>
              <a:latin typeface="Consolas"/>
              <a:ea typeface="Consolas"/>
              <a:cs typeface="Consolas"/>
              <a:sym typeface="Consolas"/>
            </a:endParaRPr>
          </a:p>
          <a:p>
            <a:pPr indent="0" lvl="0" marL="0" rtl="0" algn="l">
              <a:spcBef>
                <a:spcPts val="0"/>
              </a:spcBef>
              <a:spcAft>
                <a:spcPts val="0"/>
              </a:spcAft>
              <a:buNone/>
            </a:pPr>
            <a:r>
              <a:t/>
            </a:r>
            <a:endParaRPr sz="1500">
              <a:solidFill>
                <a:schemeClr val="dk1"/>
              </a:solidFill>
              <a:latin typeface="Consolas"/>
              <a:ea typeface="Consolas"/>
              <a:cs typeface="Consolas"/>
              <a:sym typeface="Consolas"/>
            </a:endParaRPr>
          </a:p>
        </p:txBody>
      </p:sp>
      <p:sp>
        <p:nvSpPr>
          <p:cNvPr id="399" name="Google Shape;399;p44"/>
          <p:cNvSpPr txBox="1"/>
          <p:nvPr/>
        </p:nvSpPr>
        <p:spPr>
          <a:xfrm>
            <a:off x="2035600" y="3934250"/>
            <a:ext cx="231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System.out.println(“Hello”)</a:t>
            </a:r>
            <a:endParaRPr sz="1800">
              <a:solidFill>
                <a:schemeClr val="dk1"/>
              </a:solidFill>
              <a:latin typeface="Consolas"/>
              <a:ea typeface="Consolas"/>
              <a:cs typeface="Consolas"/>
              <a:sym typeface="Consolas"/>
            </a:endParaRPr>
          </a:p>
        </p:txBody>
      </p:sp>
      <p:sp>
        <p:nvSpPr>
          <p:cNvPr id="400" name="Google Shape;400;p44"/>
          <p:cNvSpPr txBox="1"/>
          <p:nvPr/>
        </p:nvSpPr>
        <p:spPr>
          <a:xfrm>
            <a:off x="6640000" y="3934250"/>
            <a:ext cx="231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System.out.println(“World”)</a:t>
            </a:r>
            <a:endParaRPr sz="1800">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5"/>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406" name="Google Shape;406;p45"/>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7" name="Google Shape;407;p45"/>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8" name="Google Shape;408;p45"/>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409" name="Google Shape;409;p45"/>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410" name="Google Shape;410;p45"/>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11" name="Google Shape;411;p45"/>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12" name="Google Shape;412;p45"/>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3" name="Google Shape;413;p45"/>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414" name="Google Shape;414;p45"/>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15" name="Google Shape;415;p45"/>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16" name="Google Shape;416;p45"/>
          <p:cNvSpPr/>
          <p:nvPr/>
        </p:nvSpPr>
        <p:spPr>
          <a:xfrm>
            <a:off x="9870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17" name="Google Shape;417;p45"/>
          <p:cNvSpPr/>
          <p:nvPr/>
        </p:nvSpPr>
        <p:spPr>
          <a:xfrm>
            <a:off x="54669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18" name="Google Shape;418;p45"/>
          <p:cNvSpPr txBox="1"/>
          <p:nvPr/>
        </p:nvSpPr>
        <p:spPr>
          <a:xfrm>
            <a:off x="1338975" y="2809575"/>
            <a:ext cx="284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git push origin main</a:t>
            </a:r>
            <a:endParaRPr sz="1500">
              <a:solidFill>
                <a:schemeClr val="dk1"/>
              </a:solidFill>
              <a:latin typeface="Consolas"/>
              <a:ea typeface="Consolas"/>
              <a:cs typeface="Consolas"/>
              <a:sym typeface="Consolas"/>
            </a:endParaRPr>
          </a:p>
        </p:txBody>
      </p:sp>
      <p:sp>
        <p:nvSpPr>
          <p:cNvPr id="419" name="Google Shape;419;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
        <p:nvSpPr>
          <p:cNvPr id="420" name="Google Shape;420;p45"/>
          <p:cNvSpPr/>
          <p:nvPr/>
        </p:nvSpPr>
        <p:spPr>
          <a:xfrm>
            <a:off x="2033813"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421" name="Google Shape;421;p45"/>
          <p:cNvCxnSpPr>
            <a:endCxn id="416" idx="6"/>
          </p:cNvCxnSpPr>
          <p:nvPr/>
        </p:nvCxnSpPr>
        <p:spPr>
          <a:xfrm flipH="1">
            <a:off x="1644088" y="3774975"/>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422" name="Google Shape;422;p45"/>
          <p:cNvSpPr/>
          <p:nvPr/>
        </p:nvSpPr>
        <p:spPr>
          <a:xfrm>
            <a:off x="2033813" y="1275488"/>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423" name="Google Shape;423;p45"/>
          <p:cNvCxnSpPr/>
          <p:nvPr/>
        </p:nvCxnSpPr>
        <p:spPr>
          <a:xfrm flipH="1">
            <a:off x="1644088" y="1597975"/>
            <a:ext cx="391500" cy="7200"/>
          </a:xfrm>
          <a:prstGeom prst="straightConnector1">
            <a:avLst/>
          </a:prstGeom>
          <a:noFill/>
          <a:ln cap="flat" cmpd="sng" w="9525">
            <a:solidFill>
              <a:schemeClr val="dk2"/>
            </a:solidFill>
            <a:prstDash val="solid"/>
            <a:round/>
            <a:headEnd len="med" w="med" type="none"/>
            <a:tailEnd len="med" w="med" type="triangle"/>
          </a:ln>
        </p:spPr>
      </p:cxnSp>
      <p:cxnSp>
        <p:nvCxnSpPr>
          <p:cNvPr id="424" name="Google Shape;424;p45"/>
          <p:cNvCxnSpPr/>
          <p:nvPr/>
        </p:nvCxnSpPr>
        <p:spPr>
          <a:xfrm flipH="1">
            <a:off x="6123988" y="3753650"/>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425" name="Google Shape;425;p45"/>
          <p:cNvSpPr/>
          <p:nvPr/>
        </p:nvSpPr>
        <p:spPr>
          <a:xfrm>
            <a:off x="6515488" y="3431150"/>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sp>
        <p:nvSpPr>
          <p:cNvPr id="426" name="Google Shape;426;p45"/>
          <p:cNvSpPr txBox="1"/>
          <p:nvPr/>
        </p:nvSpPr>
        <p:spPr>
          <a:xfrm>
            <a:off x="5983300" y="2809575"/>
            <a:ext cx="284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6"/>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432" name="Google Shape;432;p46"/>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3" name="Google Shape;433;p46"/>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4" name="Google Shape;434;p46"/>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435" name="Google Shape;435;p46"/>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436" name="Google Shape;436;p46"/>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37" name="Google Shape;437;p46"/>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38" name="Google Shape;438;p46"/>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9" name="Google Shape;439;p46"/>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440" name="Google Shape;440;p46"/>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41" name="Google Shape;441;p46"/>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42" name="Google Shape;442;p46"/>
          <p:cNvSpPr/>
          <p:nvPr/>
        </p:nvSpPr>
        <p:spPr>
          <a:xfrm>
            <a:off x="9870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43" name="Google Shape;443;p46"/>
          <p:cNvSpPr/>
          <p:nvPr/>
        </p:nvSpPr>
        <p:spPr>
          <a:xfrm>
            <a:off x="54669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44" name="Google Shape;444;p46"/>
          <p:cNvSpPr txBox="1"/>
          <p:nvPr/>
        </p:nvSpPr>
        <p:spPr>
          <a:xfrm>
            <a:off x="5992000" y="2893575"/>
            <a:ext cx="284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git push origin main</a:t>
            </a:r>
            <a:endParaRPr sz="1500">
              <a:solidFill>
                <a:schemeClr val="dk1"/>
              </a:solidFill>
              <a:latin typeface="Consolas"/>
              <a:ea typeface="Consolas"/>
              <a:cs typeface="Consolas"/>
              <a:sym typeface="Consolas"/>
            </a:endParaRPr>
          </a:p>
        </p:txBody>
      </p:sp>
      <p:sp>
        <p:nvSpPr>
          <p:cNvPr id="445" name="Google Shape;44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
        <p:nvSpPr>
          <p:cNvPr id="446" name="Google Shape;446;p46"/>
          <p:cNvSpPr/>
          <p:nvPr/>
        </p:nvSpPr>
        <p:spPr>
          <a:xfrm>
            <a:off x="2033813"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447" name="Google Shape;447;p46"/>
          <p:cNvCxnSpPr>
            <a:endCxn id="442" idx="6"/>
          </p:cNvCxnSpPr>
          <p:nvPr/>
        </p:nvCxnSpPr>
        <p:spPr>
          <a:xfrm flipH="1">
            <a:off x="1644088" y="3774975"/>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448" name="Google Shape;448;p46"/>
          <p:cNvSpPr/>
          <p:nvPr/>
        </p:nvSpPr>
        <p:spPr>
          <a:xfrm>
            <a:off x="2033813" y="1275488"/>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449" name="Google Shape;449;p46"/>
          <p:cNvCxnSpPr/>
          <p:nvPr/>
        </p:nvCxnSpPr>
        <p:spPr>
          <a:xfrm flipH="1">
            <a:off x="1644088" y="1597975"/>
            <a:ext cx="391500" cy="7200"/>
          </a:xfrm>
          <a:prstGeom prst="straightConnector1">
            <a:avLst/>
          </a:prstGeom>
          <a:noFill/>
          <a:ln cap="flat" cmpd="sng" w="9525">
            <a:solidFill>
              <a:schemeClr val="dk2"/>
            </a:solidFill>
            <a:prstDash val="solid"/>
            <a:round/>
            <a:headEnd len="med" w="med" type="none"/>
            <a:tailEnd len="med" w="med" type="triangle"/>
          </a:ln>
        </p:spPr>
      </p:cxnSp>
      <p:cxnSp>
        <p:nvCxnSpPr>
          <p:cNvPr id="450" name="Google Shape;450;p46"/>
          <p:cNvCxnSpPr/>
          <p:nvPr/>
        </p:nvCxnSpPr>
        <p:spPr>
          <a:xfrm flipH="1">
            <a:off x="6123988" y="3753650"/>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451" name="Google Shape;451;p46"/>
          <p:cNvSpPr/>
          <p:nvPr/>
        </p:nvSpPr>
        <p:spPr>
          <a:xfrm>
            <a:off x="6515488" y="3431150"/>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sp>
        <p:nvSpPr>
          <p:cNvPr id="452" name="Google Shape;452;p46"/>
          <p:cNvSpPr txBox="1"/>
          <p:nvPr/>
        </p:nvSpPr>
        <p:spPr>
          <a:xfrm>
            <a:off x="5983300" y="2809575"/>
            <a:ext cx="284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latin typeface="Consolas"/>
              <a:ea typeface="Consolas"/>
              <a:cs typeface="Consolas"/>
              <a:sym typeface="Consolas"/>
            </a:endParaRPr>
          </a:p>
        </p:txBody>
      </p:sp>
      <p:pic>
        <p:nvPicPr>
          <p:cNvPr id="453" name="Google Shape;453;p46"/>
          <p:cNvPicPr preferRelativeResize="0"/>
          <p:nvPr/>
        </p:nvPicPr>
        <p:blipFill>
          <a:blip r:embed="rId3">
            <a:alphaModFix/>
          </a:blip>
          <a:stretch>
            <a:fillRect/>
          </a:stretch>
        </p:blipFill>
        <p:spPr>
          <a:xfrm>
            <a:off x="4419644" y="1245621"/>
            <a:ext cx="4598306" cy="1267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7"/>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459" name="Google Shape;459;p47"/>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0" name="Google Shape;460;p47"/>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1" name="Google Shape;461;p47"/>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462" name="Google Shape;462;p47"/>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463" name="Google Shape;463;p47"/>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64" name="Google Shape;464;p47"/>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65" name="Google Shape;465;p47"/>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6" name="Google Shape;466;p47"/>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467" name="Google Shape;467;p47"/>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68" name="Google Shape;468;p47"/>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69" name="Google Shape;469;p47"/>
          <p:cNvSpPr/>
          <p:nvPr/>
        </p:nvSpPr>
        <p:spPr>
          <a:xfrm>
            <a:off x="9870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70" name="Google Shape;470;p47"/>
          <p:cNvSpPr/>
          <p:nvPr/>
        </p:nvSpPr>
        <p:spPr>
          <a:xfrm>
            <a:off x="54669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71" name="Google Shape;471;p47"/>
          <p:cNvSpPr txBox="1"/>
          <p:nvPr/>
        </p:nvSpPr>
        <p:spPr>
          <a:xfrm>
            <a:off x="5992000" y="2893575"/>
            <a:ext cx="284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git pull origin main</a:t>
            </a:r>
            <a:endParaRPr sz="1500">
              <a:solidFill>
                <a:schemeClr val="dk1"/>
              </a:solidFill>
              <a:latin typeface="Consolas"/>
              <a:ea typeface="Consolas"/>
              <a:cs typeface="Consolas"/>
              <a:sym typeface="Consolas"/>
            </a:endParaRPr>
          </a:p>
        </p:txBody>
      </p:sp>
      <p:sp>
        <p:nvSpPr>
          <p:cNvPr id="472" name="Google Shape;472;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
        <p:nvSpPr>
          <p:cNvPr id="473" name="Google Shape;473;p47"/>
          <p:cNvSpPr/>
          <p:nvPr/>
        </p:nvSpPr>
        <p:spPr>
          <a:xfrm>
            <a:off x="2033813"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cxnSp>
        <p:nvCxnSpPr>
          <p:cNvPr id="474" name="Google Shape;474;p47"/>
          <p:cNvCxnSpPr>
            <a:endCxn id="469" idx="6"/>
          </p:cNvCxnSpPr>
          <p:nvPr/>
        </p:nvCxnSpPr>
        <p:spPr>
          <a:xfrm flipH="1">
            <a:off x="1644088" y="3774975"/>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475" name="Google Shape;475;p47"/>
          <p:cNvSpPr/>
          <p:nvPr/>
        </p:nvSpPr>
        <p:spPr>
          <a:xfrm>
            <a:off x="2033813" y="1275488"/>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476" name="Google Shape;476;p47"/>
          <p:cNvCxnSpPr/>
          <p:nvPr/>
        </p:nvCxnSpPr>
        <p:spPr>
          <a:xfrm flipH="1">
            <a:off x="1644088" y="1597975"/>
            <a:ext cx="391500" cy="7200"/>
          </a:xfrm>
          <a:prstGeom prst="straightConnector1">
            <a:avLst/>
          </a:prstGeom>
          <a:noFill/>
          <a:ln cap="flat" cmpd="sng" w="9525">
            <a:solidFill>
              <a:schemeClr val="dk2"/>
            </a:solidFill>
            <a:prstDash val="solid"/>
            <a:round/>
            <a:headEnd len="med" w="med" type="none"/>
            <a:tailEnd len="med" w="med" type="triangle"/>
          </a:ln>
        </p:spPr>
      </p:cxnSp>
      <p:cxnSp>
        <p:nvCxnSpPr>
          <p:cNvPr id="477" name="Google Shape;477;p47"/>
          <p:cNvCxnSpPr/>
          <p:nvPr/>
        </p:nvCxnSpPr>
        <p:spPr>
          <a:xfrm flipH="1">
            <a:off x="6123988" y="3753650"/>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478" name="Google Shape;478;p47"/>
          <p:cNvSpPr/>
          <p:nvPr/>
        </p:nvSpPr>
        <p:spPr>
          <a:xfrm>
            <a:off x="6515488" y="3431150"/>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sp>
        <p:nvSpPr>
          <p:cNvPr id="479" name="Google Shape;479;p47"/>
          <p:cNvSpPr/>
          <p:nvPr/>
        </p:nvSpPr>
        <p:spPr>
          <a:xfrm>
            <a:off x="7463113" y="4169038"/>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sp>
        <p:nvSpPr>
          <p:cNvPr id="480" name="Google Shape;480;p47"/>
          <p:cNvSpPr/>
          <p:nvPr/>
        </p:nvSpPr>
        <p:spPr>
          <a:xfrm>
            <a:off x="8144813" y="3431138"/>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481" name="Google Shape;481;p47"/>
          <p:cNvCxnSpPr>
            <a:stCxn id="480" idx="3"/>
            <a:endCxn id="479" idx="7"/>
          </p:cNvCxnSpPr>
          <p:nvPr/>
        </p:nvCxnSpPr>
        <p:spPr>
          <a:xfrm flipH="1">
            <a:off x="8023828" y="3987825"/>
            <a:ext cx="217200" cy="276600"/>
          </a:xfrm>
          <a:prstGeom prst="straightConnector1">
            <a:avLst/>
          </a:prstGeom>
          <a:noFill/>
          <a:ln cap="flat" cmpd="sng" w="9525">
            <a:solidFill>
              <a:schemeClr val="dk2"/>
            </a:solidFill>
            <a:prstDash val="solid"/>
            <a:round/>
            <a:headEnd len="med" w="med" type="none"/>
            <a:tailEnd len="med" w="med" type="triangle"/>
          </a:ln>
        </p:spPr>
      </p:cxnSp>
      <p:cxnSp>
        <p:nvCxnSpPr>
          <p:cNvPr id="482" name="Google Shape;482;p47"/>
          <p:cNvCxnSpPr>
            <a:stCxn id="479" idx="1"/>
            <a:endCxn id="478" idx="5"/>
          </p:cNvCxnSpPr>
          <p:nvPr/>
        </p:nvCxnSpPr>
        <p:spPr>
          <a:xfrm rot="10800000">
            <a:off x="7076328" y="3987950"/>
            <a:ext cx="483000" cy="276600"/>
          </a:xfrm>
          <a:prstGeom prst="straightConnector1">
            <a:avLst/>
          </a:prstGeom>
          <a:noFill/>
          <a:ln cap="flat" cmpd="sng" w="9525">
            <a:solidFill>
              <a:schemeClr val="dk2"/>
            </a:solidFill>
            <a:prstDash val="solid"/>
            <a:round/>
            <a:headEnd len="med" w="med" type="none"/>
            <a:tailEnd len="med" w="med" type="triangle"/>
          </a:ln>
        </p:spPr>
      </p:cxnSp>
      <p:cxnSp>
        <p:nvCxnSpPr>
          <p:cNvPr id="483" name="Google Shape;483;p47"/>
          <p:cNvCxnSpPr>
            <a:stCxn id="480" idx="2"/>
            <a:endCxn id="478" idx="6"/>
          </p:cNvCxnSpPr>
          <p:nvPr/>
        </p:nvCxnSpPr>
        <p:spPr>
          <a:xfrm rot="10800000">
            <a:off x="7172513" y="3757238"/>
            <a:ext cx="972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8"/>
          <p:cNvSpPr/>
          <p:nvPr/>
        </p:nvSpPr>
        <p:spPr>
          <a:xfrm>
            <a:off x="8584563" y="3897550"/>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sp>
        <p:nvSpPr>
          <p:cNvPr id="489" name="Google Shape;489;p48"/>
          <p:cNvSpPr/>
          <p:nvPr/>
        </p:nvSpPr>
        <p:spPr>
          <a:xfrm>
            <a:off x="3175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0" name="Google Shape;490;p48"/>
          <p:cNvSpPr/>
          <p:nvPr/>
        </p:nvSpPr>
        <p:spPr>
          <a:xfrm>
            <a:off x="317500" y="556500"/>
            <a:ext cx="8520600" cy="16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48"/>
          <p:cNvSpPr txBox="1"/>
          <p:nvPr/>
        </p:nvSpPr>
        <p:spPr>
          <a:xfrm>
            <a:off x="317500" y="55650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Group Repo on Github</a:t>
            </a:r>
            <a:endParaRPr sz="1800">
              <a:solidFill>
                <a:schemeClr val="dk1"/>
              </a:solidFill>
              <a:latin typeface="Roboto"/>
              <a:ea typeface="Roboto"/>
              <a:cs typeface="Roboto"/>
              <a:sym typeface="Roboto"/>
            </a:endParaRPr>
          </a:p>
        </p:txBody>
      </p:sp>
      <p:sp>
        <p:nvSpPr>
          <p:cNvPr id="492" name="Google Shape;492;p48"/>
          <p:cNvSpPr txBox="1"/>
          <p:nvPr/>
        </p:nvSpPr>
        <p:spPr>
          <a:xfrm>
            <a:off x="3175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1 Local</a:t>
            </a:r>
            <a:endParaRPr sz="1800">
              <a:solidFill>
                <a:schemeClr val="dk1"/>
              </a:solidFill>
              <a:latin typeface="Roboto"/>
              <a:ea typeface="Roboto"/>
              <a:cs typeface="Roboto"/>
              <a:sym typeface="Roboto"/>
            </a:endParaRPr>
          </a:p>
        </p:txBody>
      </p:sp>
      <p:sp>
        <p:nvSpPr>
          <p:cNvPr id="493" name="Google Shape;493;p48"/>
          <p:cNvSpPr txBox="1"/>
          <p:nvPr/>
        </p:nvSpPr>
        <p:spPr>
          <a:xfrm>
            <a:off x="317500" y="1438225"/>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94" name="Google Shape;494;p48"/>
          <p:cNvSpPr txBox="1"/>
          <p:nvPr/>
        </p:nvSpPr>
        <p:spPr>
          <a:xfrm>
            <a:off x="3175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95" name="Google Shape;495;p48"/>
          <p:cNvSpPr/>
          <p:nvPr/>
        </p:nvSpPr>
        <p:spPr>
          <a:xfrm>
            <a:off x="4797400" y="2467850"/>
            <a:ext cx="4032000" cy="240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6" name="Google Shape;496;p48"/>
          <p:cNvSpPr txBox="1"/>
          <p:nvPr/>
        </p:nvSpPr>
        <p:spPr>
          <a:xfrm>
            <a:off x="4797400" y="2467850"/>
            <a:ext cx="415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Student 2 Local</a:t>
            </a:r>
            <a:endParaRPr sz="1800">
              <a:solidFill>
                <a:schemeClr val="dk1"/>
              </a:solidFill>
              <a:latin typeface="Roboto"/>
              <a:ea typeface="Roboto"/>
              <a:cs typeface="Roboto"/>
              <a:sym typeface="Roboto"/>
            </a:endParaRPr>
          </a:p>
        </p:txBody>
      </p:sp>
      <p:sp>
        <p:nvSpPr>
          <p:cNvPr id="497" name="Google Shape;497;p48"/>
          <p:cNvSpPr txBox="1"/>
          <p:nvPr/>
        </p:nvSpPr>
        <p:spPr>
          <a:xfrm>
            <a:off x="4797400" y="3580250"/>
            <a:ext cx="66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nsolas"/>
                <a:ea typeface="Consolas"/>
                <a:cs typeface="Consolas"/>
                <a:sym typeface="Consolas"/>
              </a:rPr>
              <a:t>origin</a:t>
            </a:r>
            <a:endParaRPr sz="1100">
              <a:latin typeface="Consolas"/>
              <a:ea typeface="Consolas"/>
              <a:cs typeface="Consolas"/>
              <a:sym typeface="Consolas"/>
            </a:endParaRPr>
          </a:p>
        </p:txBody>
      </p:sp>
      <p:sp>
        <p:nvSpPr>
          <p:cNvPr id="498" name="Google Shape;498;p48"/>
          <p:cNvSpPr/>
          <p:nvPr/>
        </p:nvSpPr>
        <p:spPr>
          <a:xfrm>
            <a:off x="1008238" y="128912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499" name="Google Shape;499;p48"/>
          <p:cNvSpPr/>
          <p:nvPr/>
        </p:nvSpPr>
        <p:spPr>
          <a:xfrm>
            <a:off x="9870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500" name="Google Shape;500;p48"/>
          <p:cNvSpPr/>
          <p:nvPr/>
        </p:nvSpPr>
        <p:spPr>
          <a:xfrm>
            <a:off x="5466988"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Initial Commit</a:t>
            </a:r>
            <a:endParaRPr sz="1000">
              <a:latin typeface="Roboto"/>
              <a:ea typeface="Roboto"/>
              <a:cs typeface="Roboto"/>
              <a:sym typeface="Roboto"/>
            </a:endParaRPr>
          </a:p>
        </p:txBody>
      </p:sp>
      <p:sp>
        <p:nvSpPr>
          <p:cNvPr id="501" name="Google Shape;501;p48"/>
          <p:cNvSpPr txBox="1"/>
          <p:nvPr/>
        </p:nvSpPr>
        <p:spPr>
          <a:xfrm>
            <a:off x="5992000" y="2893575"/>
            <a:ext cx="284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git push origin main</a:t>
            </a:r>
            <a:endParaRPr sz="1500">
              <a:solidFill>
                <a:schemeClr val="dk1"/>
              </a:solidFill>
              <a:latin typeface="Consolas"/>
              <a:ea typeface="Consolas"/>
              <a:cs typeface="Consolas"/>
              <a:sym typeface="Consolas"/>
            </a:endParaRPr>
          </a:p>
        </p:txBody>
      </p:sp>
      <p:sp>
        <p:nvSpPr>
          <p:cNvPr id="502" name="Google Shape;502;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 Example</a:t>
            </a:r>
            <a:endParaRPr/>
          </a:p>
        </p:txBody>
      </p:sp>
      <p:sp>
        <p:nvSpPr>
          <p:cNvPr id="503" name="Google Shape;503;p48"/>
          <p:cNvSpPr/>
          <p:nvPr/>
        </p:nvSpPr>
        <p:spPr>
          <a:xfrm>
            <a:off x="2033813" y="345607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cxnSp>
        <p:nvCxnSpPr>
          <p:cNvPr id="504" name="Google Shape;504;p48"/>
          <p:cNvCxnSpPr>
            <a:endCxn id="499" idx="6"/>
          </p:cNvCxnSpPr>
          <p:nvPr/>
        </p:nvCxnSpPr>
        <p:spPr>
          <a:xfrm flipH="1">
            <a:off x="1644088" y="3774975"/>
            <a:ext cx="391500" cy="7200"/>
          </a:xfrm>
          <a:prstGeom prst="straightConnector1">
            <a:avLst/>
          </a:prstGeom>
          <a:noFill/>
          <a:ln cap="flat" cmpd="sng" w="9525">
            <a:solidFill>
              <a:schemeClr val="dk2"/>
            </a:solidFill>
            <a:prstDash val="solid"/>
            <a:round/>
            <a:headEnd len="med" w="med" type="none"/>
            <a:tailEnd len="med" w="med" type="triangle"/>
          </a:ln>
        </p:spPr>
      </p:cxnSp>
      <p:cxnSp>
        <p:nvCxnSpPr>
          <p:cNvPr id="505" name="Google Shape;505;p48"/>
          <p:cNvCxnSpPr/>
          <p:nvPr/>
        </p:nvCxnSpPr>
        <p:spPr>
          <a:xfrm flipH="1">
            <a:off x="1644088" y="1597975"/>
            <a:ext cx="391500" cy="7200"/>
          </a:xfrm>
          <a:prstGeom prst="straightConnector1">
            <a:avLst/>
          </a:prstGeom>
          <a:noFill/>
          <a:ln cap="flat" cmpd="sng" w="9525">
            <a:solidFill>
              <a:schemeClr val="dk2"/>
            </a:solidFill>
            <a:prstDash val="solid"/>
            <a:round/>
            <a:headEnd len="med" w="med" type="none"/>
            <a:tailEnd len="med" w="med" type="triangle"/>
          </a:ln>
        </p:spPr>
      </p:cxnSp>
      <p:cxnSp>
        <p:nvCxnSpPr>
          <p:cNvPr id="506" name="Google Shape;506;p48"/>
          <p:cNvCxnSpPr/>
          <p:nvPr/>
        </p:nvCxnSpPr>
        <p:spPr>
          <a:xfrm flipH="1">
            <a:off x="6123988" y="3753650"/>
            <a:ext cx="391500" cy="7200"/>
          </a:xfrm>
          <a:prstGeom prst="straightConnector1">
            <a:avLst/>
          </a:prstGeom>
          <a:noFill/>
          <a:ln cap="flat" cmpd="sng" w="9525">
            <a:solidFill>
              <a:schemeClr val="dk2"/>
            </a:solidFill>
            <a:prstDash val="solid"/>
            <a:round/>
            <a:headEnd len="med" w="med" type="none"/>
            <a:tailEnd len="med" w="med" type="triangle"/>
          </a:ln>
        </p:spPr>
      </p:cxnSp>
      <p:sp>
        <p:nvSpPr>
          <p:cNvPr id="507" name="Google Shape;507;p48"/>
          <p:cNvSpPr/>
          <p:nvPr/>
        </p:nvSpPr>
        <p:spPr>
          <a:xfrm>
            <a:off x="6515488" y="3431150"/>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sp>
        <p:nvSpPr>
          <p:cNvPr id="508" name="Google Shape;508;p48"/>
          <p:cNvSpPr/>
          <p:nvPr/>
        </p:nvSpPr>
        <p:spPr>
          <a:xfrm>
            <a:off x="7463113" y="4169038"/>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sp>
        <p:nvSpPr>
          <p:cNvPr id="509" name="Google Shape;509;p48"/>
          <p:cNvSpPr/>
          <p:nvPr/>
        </p:nvSpPr>
        <p:spPr>
          <a:xfrm>
            <a:off x="8144813" y="3431138"/>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510" name="Google Shape;510;p48"/>
          <p:cNvCxnSpPr>
            <a:stCxn id="509" idx="3"/>
            <a:endCxn id="508" idx="7"/>
          </p:cNvCxnSpPr>
          <p:nvPr/>
        </p:nvCxnSpPr>
        <p:spPr>
          <a:xfrm flipH="1">
            <a:off x="8023828" y="3987825"/>
            <a:ext cx="217200" cy="276600"/>
          </a:xfrm>
          <a:prstGeom prst="straightConnector1">
            <a:avLst/>
          </a:prstGeom>
          <a:noFill/>
          <a:ln cap="flat" cmpd="sng" w="9525">
            <a:solidFill>
              <a:schemeClr val="dk2"/>
            </a:solidFill>
            <a:prstDash val="solid"/>
            <a:round/>
            <a:headEnd len="med" w="med" type="none"/>
            <a:tailEnd len="med" w="med" type="triangle"/>
          </a:ln>
        </p:spPr>
      </p:cxnSp>
      <p:cxnSp>
        <p:nvCxnSpPr>
          <p:cNvPr id="511" name="Google Shape;511;p48"/>
          <p:cNvCxnSpPr>
            <a:stCxn id="508" idx="1"/>
            <a:endCxn id="507" idx="5"/>
          </p:cNvCxnSpPr>
          <p:nvPr/>
        </p:nvCxnSpPr>
        <p:spPr>
          <a:xfrm rot="10800000">
            <a:off x="7076328" y="3987950"/>
            <a:ext cx="483000" cy="276600"/>
          </a:xfrm>
          <a:prstGeom prst="straightConnector1">
            <a:avLst/>
          </a:prstGeom>
          <a:noFill/>
          <a:ln cap="flat" cmpd="sng" w="9525">
            <a:solidFill>
              <a:schemeClr val="dk2"/>
            </a:solidFill>
            <a:prstDash val="solid"/>
            <a:round/>
            <a:headEnd len="med" w="med" type="none"/>
            <a:tailEnd len="med" w="med" type="triangle"/>
          </a:ln>
        </p:spPr>
      </p:cxnSp>
      <p:cxnSp>
        <p:nvCxnSpPr>
          <p:cNvPr id="512" name="Google Shape;512;p48"/>
          <p:cNvCxnSpPr>
            <a:stCxn id="509" idx="2"/>
            <a:endCxn id="507" idx="6"/>
          </p:cNvCxnSpPr>
          <p:nvPr/>
        </p:nvCxnSpPr>
        <p:spPr>
          <a:xfrm rot="10800000">
            <a:off x="7172513" y="3757238"/>
            <a:ext cx="972300" cy="0"/>
          </a:xfrm>
          <a:prstGeom prst="straightConnector1">
            <a:avLst/>
          </a:prstGeom>
          <a:noFill/>
          <a:ln cap="flat" cmpd="sng" w="9525">
            <a:solidFill>
              <a:schemeClr val="dk2"/>
            </a:solidFill>
            <a:prstDash val="solid"/>
            <a:round/>
            <a:headEnd len="med" w="med" type="none"/>
            <a:tailEnd len="med" w="med" type="triangle"/>
          </a:ln>
        </p:spPr>
      </p:cxnSp>
      <p:sp>
        <p:nvSpPr>
          <p:cNvPr id="513" name="Google Shape;513;p48"/>
          <p:cNvSpPr/>
          <p:nvPr/>
        </p:nvSpPr>
        <p:spPr>
          <a:xfrm>
            <a:off x="6637063" y="1643725"/>
            <a:ext cx="376200" cy="271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t/>
            </a:r>
            <a:endParaRPr i="0" u="none" cap="none" strike="noStrike">
              <a:solidFill>
                <a:srgbClr val="000000"/>
              </a:solidFill>
              <a:latin typeface="Lato"/>
              <a:ea typeface="Lato"/>
              <a:cs typeface="Lato"/>
              <a:sym typeface="Lato"/>
            </a:endParaRPr>
          </a:p>
        </p:txBody>
      </p:sp>
      <p:cxnSp>
        <p:nvCxnSpPr>
          <p:cNvPr id="514" name="Google Shape;514;p48"/>
          <p:cNvCxnSpPr>
            <a:stCxn id="515" idx="3"/>
            <a:endCxn id="516" idx="6"/>
          </p:cNvCxnSpPr>
          <p:nvPr/>
        </p:nvCxnSpPr>
        <p:spPr>
          <a:xfrm flipH="1">
            <a:off x="3505553" y="1836947"/>
            <a:ext cx="253800" cy="57600"/>
          </a:xfrm>
          <a:prstGeom prst="straightConnector1">
            <a:avLst/>
          </a:prstGeom>
          <a:noFill/>
          <a:ln cap="flat" cmpd="sng" w="9525">
            <a:solidFill>
              <a:schemeClr val="dk2"/>
            </a:solidFill>
            <a:prstDash val="solid"/>
            <a:round/>
            <a:headEnd len="med" w="med" type="none"/>
            <a:tailEnd len="med" w="med" type="triangle"/>
          </a:ln>
        </p:spPr>
      </p:cxnSp>
      <p:cxnSp>
        <p:nvCxnSpPr>
          <p:cNvPr id="517" name="Google Shape;517;p48"/>
          <p:cNvCxnSpPr>
            <a:stCxn id="516" idx="2"/>
            <a:endCxn id="518" idx="5"/>
          </p:cNvCxnSpPr>
          <p:nvPr/>
        </p:nvCxnSpPr>
        <p:spPr>
          <a:xfrm rot="10800000">
            <a:off x="2594688" y="1837035"/>
            <a:ext cx="253800" cy="57600"/>
          </a:xfrm>
          <a:prstGeom prst="straightConnector1">
            <a:avLst/>
          </a:prstGeom>
          <a:noFill/>
          <a:ln cap="flat" cmpd="sng" w="9525">
            <a:solidFill>
              <a:schemeClr val="dk2"/>
            </a:solidFill>
            <a:prstDash val="solid"/>
            <a:round/>
            <a:headEnd len="med" w="med" type="none"/>
            <a:tailEnd len="med" w="med" type="triangle"/>
          </a:ln>
        </p:spPr>
      </p:cxnSp>
      <p:sp>
        <p:nvSpPr>
          <p:cNvPr id="518" name="Google Shape;518;p48"/>
          <p:cNvSpPr/>
          <p:nvPr/>
        </p:nvSpPr>
        <p:spPr>
          <a:xfrm>
            <a:off x="2033813" y="1280272"/>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World</a:t>
            </a:r>
            <a:endParaRPr sz="1000">
              <a:latin typeface="Roboto"/>
              <a:ea typeface="Roboto"/>
              <a:cs typeface="Roboto"/>
              <a:sym typeface="Roboto"/>
            </a:endParaRPr>
          </a:p>
        </p:txBody>
      </p:sp>
      <p:sp>
        <p:nvSpPr>
          <p:cNvPr id="516" name="Google Shape;516;p48"/>
          <p:cNvSpPr/>
          <p:nvPr/>
        </p:nvSpPr>
        <p:spPr>
          <a:xfrm>
            <a:off x="2848488" y="1568535"/>
            <a:ext cx="657000" cy="652200"/>
          </a:xfrm>
          <a:prstGeom prst="ellipse">
            <a:avLst/>
          </a:prstGeom>
          <a:solidFill>
            <a:srgbClr val="D0E0E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Hello</a:t>
            </a:r>
            <a:endParaRPr sz="1000">
              <a:latin typeface="Roboto"/>
              <a:ea typeface="Roboto"/>
              <a:cs typeface="Roboto"/>
              <a:sym typeface="Roboto"/>
            </a:endParaRPr>
          </a:p>
        </p:txBody>
      </p:sp>
      <p:sp>
        <p:nvSpPr>
          <p:cNvPr id="515" name="Google Shape;515;p48"/>
          <p:cNvSpPr/>
          <p:nvPr/>
        </p:nvSpPr>
        <p:spPr>
          <a:xfrm>
            <a:off x="3663138" y="1280260"/>
            <a:ext cx="657000" cy="6522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latin typeface="Roboto"/>
                <a:ea typeface="Roboto"/>
                <a:cs typeface="Roboto"/>
                <a:sym typeface="Roboto"/>
              </a:rPr>
              <a:t>merge</a:t>
            </a:r>
            <a:endParaRPr sz="1000">
              <a:latin typeface="Roboto"/>
              <a:ea typeface="Roboto"/>
              <a:cs typeface="Roboto"/>
              <a:sym typeface="Roboto"/>
            </a:endParaRPr>
          </a:p>
        </p:txBody>
      </p:sp>
      <p:cxnSp>
        <p:nvCxnSpPr>
          <p:cNvPr id="519" name="Google Shape;519;p48"/>
          <p:cNvCxnSpPr>
            <a:stCxn id="515" idx="1"/>
            <a:endCxn id="518" idx="7"/>
          </p:cNvCxnSpPr>
          <p:nvPr/>
        </p:nvCxnSpPr>
        <p:spPr>
          <a:xfrm rot="10800000">
            <a:off x="2594453" y="1375772"/>
            <a:ext cx="1164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Conflicts</a:t>
            </a:r>
            <a:endParaRPr/>
          </a:p>
        </p:txBody>
      </p:sp>
      <p:sp>
        <p:nvSpPr>
          <p:cNvPr id="525" name="Google Shape;525;p49"/>
          <p:cNvSpPr txBox="1"/>
          <p:nvPr>
            <p:ph idx="1" type="body"/>
          </p:nvPr>
        </p:nvSpPr>
        <p:spPr>
          <a:xfrm>
            <a:off x="107047" y="402200"/>
            <a:ext cx="42360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new &lt;&lt;&lt;&lt;, ====, &gt;&gt;&gt;&gt; lines!</a:t>
            </a:r>
            <a:endParaRPr/>
          </a:p>
          <a:p>
            <a:pPr indent="-342900" lvl="0" marL="457200" rtl="0" algn="l">
              <a:spcBef>
                <a:spcPts val="600"/>
              </a:spcBef>
              <a:spcAft>
                <a:spcPts val="0"/>
              </a:spcAft>
              <a:buSzPts val="1800"/>
              <a:buChar char="●"/>
            </a:pPr>
            <a:r>
              <a:rPr lang="en"/>
              <a:t>The ======= line is the "center" of the conflict. </a:t>
            </a:r>
            <a:endParaRPr/>
          </a:p>
          <a:p>
            <a:pPr indent="-342900" lvl="0" marL="457200" rtl="0" algn="l">
              <a:spcBef>
                <a:spcPts val="0"/>
              </a:spcBef>
              <a:spcAft>
                <a:spcPts val="0"/>
              </a:spcAft>
              <a:buSzPts val="1800"/>
              <a:buChar char="●"/>
            </a:pPr>
            <a:r>
              <a:rPr lang="en"/>
              <a:t>Content </a:t>
            </a:r>
            <a:r>
              <a:rPr b="1" lang="en"/>
              <a:t>above</a:t>
            </a:r>
            <a:r>
              <a:rPr lang="en"/>
              <a:t> the ======= exists in the </a:t>
            </a:r>
            <a:r>
              <a:rPr b="1" lang="en"/>
              <a:t>current</a:t>
            </a:r>
            <a:r>
              <a:rPr lang="en"/>
              <a:t> branch. </a:t>
            </a:r>
            <a:endParaRPr/>
          </a:p>
          <a:p>
            <a:pPr indent="-342900" lvl="0" marL="457200" rtl="0" algn="l">
              <a:spcBef>
                <a:spcPts val="0"/>
              </a:spcBef>
              <a:spcAft>
                <a:spcPts val="0"/>
              </a:spcAft>
              <a:buSzPts val="1800"/>
              <a:buChar char="●"/>
            </a:pPr>
            <a:r>
              <a:rPr lang="en"/>
              <a:t>Content </a:t>
            </a:r>
            <a:r>
              <a:rPr b="1" lang="en"/>
              <a:t>below</a:t>
            </a:r>
            <a:r>
              <a:rPr lang="en"/>
              <a:t> the </a:t>
            </a:r>
            <a:r>
              <a:rPr lang="en"/>
              <a:t>======= exists</a:t>
            </a:r>
            <a:r>
              <a:rPr lang="en"/>
              <a:t> in our </a:t>
            </a:r>
            <a:r>
              <a:rPr b="1" lang="en"/>
              <a:t>merging</a:t>
            </a:r>
            <a:r>
              <a:rPr lang="en"/>
              <a:t> branch. </a:t>
            </a:r>
            <a:endParaRPr/>
          </a:p>
          <a:p>
            <a:pPr indent="0" lvl="0" marL="0" rtl="0" algn="l">
              <a:spcBef>
                <a:spcPts val="600"/>
              </a:spcBef>
              <a:spcAft>
                <a:spcPts val="0"/>
              </a:spcAft>
              <a:buNone/>
            </a:pPr>
            <a:r>
              <a:rPr lang="en"/>
              <a:t>Usually, it makes sense to keep both if both partners are working on different things!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Don’t forget to commit! </a:t>
            </a:r>
            <a:endParaRPr/>
          </a:p>
          <a:p>
            <a:pPr indent="0" lvl="0" marL="0" rtl="0" algn="l">
              <a:spcBef>
                <a:spcPts val="600"/>
              </a:spcBef>
              <a:spcAft>
                <a:spcPts val="0"/>
              </a:spcAft>
              <a:buNone/>
            </a:pPr>
            <a:r>
              <a:rPr lang="en">
                <a:latin typeface="Consolas"/>
                <a:ea typeface="Consolas"/>
                <a:cs typeface="Consolas"/>
                <a:sym typeface="Consolas"/>
              </a:rPr>
              <a:t>git commit -m "Merge and resolve conflicts!"</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
        <p:nvSpPr>
          <p:cNvPr id="526" name="Google Shape;526;p49"/>
          <p:cNvSpPr txBox="1"/>
          <p:nvPr>
            <p:ph idx="1" type="body"/>
          </p:nvPr>
        </p:nvSpPr>
        <p:spPr>
          <a:xfrm>
            <a:off x="4770500" y="402200"/>
            <a:ext cx="4236000" cy="22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latin typeface="Consolas"/>
                <a:ea typeface="Consolas"/>
                <a:cs typeface="Consolas"/>
                <a:sym typeface="Consolas"/>
              </a:rPr>
              <a:t>&lt;&lt;&lt;&lt;&lt;&lt;&lt; HEAD</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System.out.println(“World”)</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System.out.println(“Hello”)</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&gt;&gt;&gt;&gt;&gt;&gt;&gt; </a:t>
            </a:r>
            <a:r>
              <a:rPr lang="en">
                <a:latin typeface="Consolas"/>
                <a:ea typeface="Consolas"/>
                <a:cs typeface="Consolas"/>
                <a:sym typeface="Consolas"/>
              </a:rPr>
              <a:t>d80eec051e8e5eeae1f41a3</a:t>
            </a:r>
            <a:endParaRPr>
              <a:latin typeface="Consolas"/>
              <a:ea typeface="Consolas"/>
              <a:cs typeface="Consolas"/>
              <a:sym typeface="Consolas"/>
            </a:endParaRPr>
          </a:p>
        </p:txBody>
      </p:sp>
      <p:sp>
        <p:nvSpPr>
          <p:cNvPr id="527" name="Google Shape;527;p49"/>
          <p:cNvSpPr txBox="1"/>
          <p:nvPr>
            <p:ph idx="1" type="body"/>
          </p:nvPr>
        </p:nvSpPr>
        <p:spPr>
          <a:xfrm>
            <a:off x="4770500" y="3732850"/>
            <a:ext cx="4236000" cy="1218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latin typeface="Consolas"/>
                <a:ea typeface="Consolas"/>
                <a:cs typeface="Consolas"/>
                <a:sym typeface="Consolas"/>
              </a:rPr>
              <a:t>System.out.println(“Hello”)</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System.out.println(“World”)</a:t>
            </a:r>
            <a:endParaRPr>
              <a:latin typeface="Consolas"/>
              <a:ea typeface="Consolas"/>
              <a:cs typeface="Consolas"/>
              <a:sym typeface="Consolas"/>
            </a:endParaRPr>
          </a:p>
          <a:p>
            <a:pPr indent="0" lvl="0" marL="0" rtl="0" algn="l">
              <a:spcBef>
                <a:spcPts val="600"/>
              </a:spcBef>
              <a:spcAft>
                <a:spcPts val="0"/>
              </a:spcAft>
              <a:buNone/>
            </a:pPr>
            <a:r>
              <a:t/>
            </a:r>
            <a:endParaRPr>
              <a:latin typeface="Consolas"/>
              <a:ea typeface="Consolas"/>
              <a:cs typeface="Consolas"/>
              <a:sym typeface="Consolas"/>
            </a:endParaRPr>
          </a:p>
        </p:txBody>
      </p:sp>
      <p:cxnSp>
        <p:nvCxnSpPr>
          <p:cNvPr id="528" name="Google Shape;528;p49"/>
          <p:cNvCxnSpPr>
            <a:stCxn id="526" idx="2"/>
            <a:endCxn id="527" idx="0"/>
          </p:cNvCxnSpPr>
          <p:nvPr/>
        </p:nvCxnSpPr>
        <p:spPr>
          <a:xfrm>
            <a:off x="6888500" y="2628200"/>
            <a:ext cx="0" cy="1104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534" name="Google Shape;534;p50"/>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rgbClr val="D1D2D3"/>
                </a:solidFill>
              </a:rPr>
              <a:t>Background</a:t>
            </a:r>
            <a:endParaRPr>
              <a:solidFill>
                <a:srgbClr val="D1D2D3"/>
              </a:solidFill>
            </a:endParaRPr>
          </a:p>
          <a:p>
            <a:pPr indent="0" lvl="0" marL="0" rtl="0" algn="l">
              <a:spcBef>
                <a:spcPts val="600"/>
              </a:spcBef>
              <a:spcAft>
                <a:spcPts val="0"/>
              </a:spcAft>
              <a:buClr>
                <a:schemeClr val="dk1"/>
              </a:buClr>
              <a:buSzPts val="1100"/>
              <a:buFont typeface="Arial"/>
              <a:buNone/>
            </a:pPr>
            <a:r>
              <a:rPr lang="en">
                <a:solidFill>
                  <a:schemeClr val="accent6"/>
                </a:solidFill>
              </a:rPr>
              <a:t>Git Recap </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Snapshots</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SHA-1</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Remote</a:t>
            </a:r>
            <a:endParaRPr>
              <a:solidFill>
                <a:schemeClr val="accent6"/>
              </a:solidFill>
            </a:endParaRPr>
          </a:p>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  Git Potpourri</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chemeClr val="accent6"/>
                </a:solidFill>
              </a:rPr>
              <a:t>Break</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p>
        </p:txBody>
      </p:sp>
      <p:sp>
        <p:nvSpPr>
          <p:cNvPr id="535" name="Google Shape;535;p5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a:t>
            </a:r>
            <a:r>
              <a:rPr lang="en"/>
              <a:t>Potpourri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Writing Good Git Commits</a:t>
            </a:r>
            <a:endParaRPr/>
          </a:p>
        </p:txBody>
      </p:sp>
      <p:sp>
        <p:nvSpPr>
          <p:cNvPr id="541" name="Google Shape;541;p51"/>
          <p:cNvSpPr txBox="1"/>
          <p:nvPr>
            <p:ph idx="1" type="body"/>
          </p:nvPr>
        </p:nvSpPr>
        <p:spPr>
          <a:xfrm>
            <a:off x="107050" y="402200"/>
            <a:ext cx="6066300" cy="4474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well-established conventions:</a:t>
            </a:r>
            <a:endParaRPr/>
          </a:p>
          <a:p>
            <a:pPr indent="-342900" lvl="0" marL="457200" rtl="0" algn="l">
              <a:spcBef>
                <a:spcPts val="600"/>
              </a:spcBef>
              <a:spcAft>
                <a:spcPts val="0"/>
              </a:spcAft>
              <a:buSzPts val="1800"/>
              <a:buChar char="●"/>
            </a:pPr>
            <a:r>
              <a:rPr lang="en"/>
              <a:t>Capitalize the subject line</a:t>
            </a:r>
            <a:endParaRPr/>
          </a:p>
          <a:p>
            <a:pPr indent="-342900" lvl="0" marL="457200" rtl="0" algn="l">
              <a:spcBef>
                <a:spcPts val="0"/>
              </a:spcBef>
              <a:spcAft>
                <a:spcPts val="0"/>
              </a:spcAft>
              <a:buSzPts val="1800"/>
              <a:buChar char="●"/>
            </a:pPr>
            <a:r>
              <a:rPr lang="en"/>
              <a:t>Use im</a:t>
            </a:r>
            <a:r>
              <a:rPr lang="en"/>
              <a:t>perative mood in the subject line</a:t>
            </a:r>
            <a:endParaRPr/>
          </a:p>
          <a:p>
            <a:pPr indent="-342900" lvl="1" marL="914400" rtl="0" algn="l">
              <a:spcBef>
                <a:spcPts val="0"/>
              </a:spcBef>
              <a:spcAft>
                <a:spcPts val="0"/>
              </a:spcAft>
              <a:buSzPts val="1800"/>
              <a:buChar char="○"/>
            </a:pPr>
            <a:r>
              <a:rPr lang="en"/>
              <a:t>If applied, this commit will &lt;</a:t>
            </a:r>
            <a:r>
              <a:rPr i="1" lang="en" u="sng"/>
              <a:t>subject line here&gt;</a:t>
            </a:r>
            <a:endParaRPr i="1" u="sng"/>
          </a:p>
          <a:p>
            <a:pPr indent="-342900" lvl="0" marL="457200" rtl="0" algn="l">
              <a:spcBef>
                <a:spcPts val="0"/>
              </a:spcBef>
              <a:spcAft>
                <a:spcPts val="0"/>
              </a:spcAft>
              <a:buSzPts val="1800"/>
              <a:buChar char="●"/>
            </a:pPr>
            <a:r>
              <a:rPr lang="en"/>
              <a:t>Use the body to </a:t>
            </a:r>
            <a:r>
              <a:rPr lang="en"/>
              <a:t>explain</a:t>
            </a:r>
            <a:r>
              <a:rPr lang="en"/>
              <a:t> </a:t>
            </a:r>
            <a:r>
              <a:rPr b="1" lang="en"/>
              <a:t>what and why</a:t>
            </a:r>
            <a:r>
              <a:rPr lang="en"/>
              <a:t> vs how</a:t>
            </a:r>
            <a:endParaRPr/>
          </a:p>
          <a:p>
            <a:pPr indent="-342900" lvl="1" marL="914400" rtl="0" algn="l">
              <a:spcBef>
                <a:spcPts val="0"/>
              </a:spcBef>
              <a:spcAft>
                <a:spcPts val="0"/>
              </a:spcAft>
              <a:buSzPts val="1800"/>
              <a:buChar char="○"/>
            </a:pPr>
            <a:r>
              <a:rPr lang="en"/>
              <a:t>code is self-explanatory</a:t>
            </a:r>
            <a:endParaRPr/>
          </a:p>
          <a:p>
            <a:pPr indent="-342900" lvl="1" marL="914400" rtl="0" algn="l">
              <a:spcBef>
                <a:spcPts val="0"/>
              </a:spcBef>
              <a:spcAft>
                <a:spcPts val="0"/>
              </a:spcAft>
              <a:buSzPts val="1800"/>
              <a:buChar char="○"/>
            </a:pPr>
            <a:r>
              <a:rPr lang="en"/>
              <a:t>If it is complex, add source comments</a:t>
            </a:r>
            <a:endParaRPr/>
          </a:p>
          <a:p>
            <a:pPr indent="-342900" lvl="0" marL="457200" rtl="0" algn="l">
              <a:spcBef>
                <a:spcPts val="0"/>
              </a:spcBef>
              <a:spcAft>
                <a:spcPts val="0"/>
              </a:spcAft>
              <a:buSzPts val="1800"/>
              <a:buChar char="●"/>
            </a:pPr>
            <a:r>
              <a:rPr lang="en"/>
              <a:t>Limit subject line to 50 characters (soft rule)</a:t>
            </a:r>
            <a:endParaRPr/>
          </a:p>
          <a:p>
            <a:pPr indent="-342900" lvl="1" marL="914400" rtl="0" algn="l">
              <a:spcBef>
                <a:spcPts val="0"/>
              </a:spcBef>
              <a:spcAft>
                <a:spcPts val="0"/>
              </a:spcAft>
              <a:buSzPts val="1800"/>
              <a:buChar char="○"/>
            </a:pPr>
            <a:r>
              <a:rPr lang="en"/>
              <a:t>Ensures that commits are readable</a:t>
            </a:r>
            <a:endParaRPr/>
          </a:p>
          <a:p>
            <a:pPr indent="-342900" lvl="1" marL="914400" rtl="0" algn="l">
              <a:spcBef>
                <a:spcPts val="0"/>
              </a:spcBef>
              <a:spcAft>
                <a:spcPts val="0"/>
              </a:spcAft>
              <a:buSzPts val="1800"/>
              <a:buChar char="○"/>
            </a:pPr>
            <a:r>
              <a:rPr lang="en"/>
              <a:t>If you hard time summarizing, you might be committing to</a:t>
            </a:r>
            <a:r>
              <a:rPr lang="en"/>
              <a:t>o many changes at once.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Rules: </a:t>
            </a:r>
            <a:r>
              <a:rPr lang="en" u="sng">
                <a:solidFill>
                  <a:schemeClr val="hlink"/>
                </a:solidFill>
                <a:hlinkClick r:id="rId3"/>
              </a:rPr>
              <a:t>https://cbea.ms/git-commit/</a:t>
            </a:r>
            <a:endParaRPr/>
          </a:p>
          <a:p>
            <a:pPr indent="0" lvl="0" marL="0" rtl="0" algn="l">
              <a:spcBef>
                <a:spcPts val="600"/>
              </a:spcBef>
              <a:spcAft>
                <a:spcPts val="0"/>
              </a:spcAft>
              <a:buNone/>
            </a:pPr>
            <a:r>
              <a:rPr lang="en"/>
              <a:t>Example: </a:t>
            </a:r>
            <a:r>
              <a:rPr lang="en" u="sng">
                <a:solidFill>
                  <a:schemeClr val="hlink"/>
                </a:solidFill>
                <a:hlinkClick r:id="rId4"/>
              </a:rPr>
              <a:t>Google Truth Library</a:t>
            </a:r>
            <a:r>
              <a:rPr lang="en"/>
              <a:t> (We use for writing tests!)</a:t>
            </a:r>
            <a:endParaRPr/>
          </a:p>
          <a:p>
            <a:pPr indent="0" lvl="0" marL="0" rtl="0" algn="l">
              <a:spcBef>
                <a:spcPts val="600"/>
              </a:spcBef>
              <a:spcAft>
                <a:spcPts val="0"/>
              </a:spcAft>
              <a:buNone/>
            </a:pPr>
            <a:r>
              <a:t/>
            </a:r>
            <a:endParaRPr/>
          </a:p>
        </p:txBody>
      </p:sp>
      <p:pic>
        <p:nvPicPr>
          <p:cNvPr id="542" name="Google Shape;542;p51"/>
          <p:cNvPicPr preferRelativeResize="0"/>
          <p:nvPr/>
        </p:nvPicPr>
        <p:blipFill>
          <a:blip r:embed="rId5">
            <a:alphaModFix/>
          </a:blip>
          <a:stretch>
            <a:fillRect/>
          </a:stretch>
        </p:blipFill>
        <p:spPr>
          <a:xfrm>
            <a:off x="6173400" y="580815"/>
            <a:ext cx="2707300" cy="429558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Writing Good Git Commits</a:t>
            </a:r>
            <a:endParaRPr>
              <a:solidFill>
                <a:schemeClr val="accent3"/>
              </a:solidFill>
            </a:endParaRPr>
          </a:p>
          <a:p>
            <a:pPr indent="0" lvl="0" marL="0" rtl="0" algn="l">
              <a:spcBef>
                <a:spcPts val="0"/>
              </a:spcBef>
              <a:spcAft>
                <a:spcPts val="0"/>
              </a:spcAft>
              <a:buNone/>
            </a:pPr>
            <a:r>
              <a:t/>
            </a:r>
            <a:endParaRPr/>
          </a:p>
        </p:txBody>
      </p:sp>
      <p:sp>
        <p:nvSpPr>
          <p:cNvPr id="548" name="Google Shape;548;p52"/>
          <p:cNvSpPr txBox="1"/>
          <p:nvPr>
            <p:ph idx="1" type="body"/>
          </p:nvPr>
        </p:nvSpPr>
        <p:spPr>
          <a:xfrm>
            <a:off x="107050" y="402200"/>
            <a:ext cx="8295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600">
                <a:solidFill>
                  <a:srgbClr val="0D0D0D"/>
                </a:solidFill>
                <a:highlight>
                  <a:schemeClr val="lt1"/>
                </a:highlight>
              </a:rPr>
              <a:t>Good Commit Messages:</a:t>
            </a:r>
            <a:endParaRPr sz="1600">
              <a:solidFill>
                <a:srgbClr val="0D0D0D"/>
              </a:solidFill>
              <a:highlight>
                <a:schemeClr val="lt1"/>
              </a:highlight>
            </a:endParaRPr>
          </a:p>
          <a:p>
            <a:pPr indent="-330200" lvl="0" marL="457200" rtl="0" algn="l">
              <a:spcBef>
                <a:spcPts val="60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Add</a:t>
            </a:r>
            <a:r>
              <a:rPr lang="en" sz="1600">
                <a:solidFill>
                  <a:srgbClr val="0D0D0D"/>
                </a:solidFill>
                <a:highlight>
                  <a:schemeClr val="lt1"/>
                </a:highlight>
                <a:latin typeface="Consolas"/>
                <a:ea typeface="Consolas"/>
                <a:cs typeface="Consolas"/>
                <a:sym typeface="Consolas"/>
              </a:rPr>
              <a:t> room generation logic</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Fix</a:t>
            </a:r>
            <a:r>
              <a:rPr lang="en" sz="1600">
                <a:solidFill>
                  <a:srgbClr val="0D0D0D"/>
                </a:solidFill>
                <a:highlight>
                  <a:schemeClr val="lt1"/>
                </a:highlight>
                <a:latin typeface="Consolas"/>
                <a:ea typeface="Consolas"/>
                <a:cs typeface="Consolas"/>
                <a:sym typeface="Consolas"/>
              </a:rPr>
              <a:t> overlapping rooms</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Make</a:t>
            </a:r>
            <a:r>
              <a:rPr lang="en" sz="1600">
                <a:solidFill>
                  <a:srgbClr val="0D0D0D"/>
                </a:solidFill>
                <a:highlight>
                  <a:schemeClr val="lt1"/>
                </a:highlight>
                <a:latin typeface="Consolas"/>
                <a:ea typeface="Consolas"/>
                <a:cs typeface="Consolas"/>
                <a:sym typeface="Consolas"/>
              </a:rPr>
              <a:t> </a:t>
            </a:r>
            <a:r>
              <a:rPr lang="en" sz="1600">
                <a:solidFill>
                  <a:srgbClr val="0D0D0D"/>
                </a:solidFill>
                <a:highlight>
                  <a:schemeClr val="lt1"/>
                </a:highlight>
                <a:latin typeface="Consolas"/>
                <a:ea typeface="Consolas"/>
                <a:cs typeface="Consolas"/>
                <a:sym typeface="Consolas"/>
              </a:rPr>
              <a:t>world generation tests</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Document</a:t>
            </a:r>
            <a:r>
              <a:rPr lang="en" sz="1600">
                <a:solidFill>
                  <a:srgbClr val="0D0D0D"/>
                </a:solidFill>
                <a:highlight>
                  <a:schemeClr val="lt1"/>
                </a:highlight>
                <a:latin typeface="Consolas"/>
                <a:ea typeface="Consolas"/>
                <a:cs typeface="Consolas"/>
                <a:sym typeface="Consolas"/>
              </a:rPr>
              <a:t> world generation algorithm </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Start</a:t>
            </a:r>
            <a:r>
              <a:rPr lang="en" sz="1600">
                <a:solidFill>
                  <a:srgbClr val="0D0D0D"/>
                </a:solidFill>
                <a:highlight>
                  <a:schemeClr val="lt1"/>
                </a:highlight>
                <a:latin typeface="Consolas"/>
                <a:ea typeface="Consolas"/>
                <a:cs typeface="Consolas"/>
                <a:sym typeface="Consolas"/>
              </a:rPr>
              <a:t> persistence logic</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Refactor</a:t>
            </a:r>
            <a:r>
              <a:rPr lang="en" sz="1600">
                <a:solidFill>
                  <a:srgbClr val="0D0D0D"/>
                </a:solidFill>
                <a:highlight>
                  <a:schemeClr val="lt1"/>
                </a:highlight>
                <a:latin typeface="Consolas"/>
                <a:ea typeface="Consolas"/>
                <a:cs typeface="Consolas"/>
                <a:sym typeface="Consolas"/>
              </a:rPr>
              <a:t> persistence logic to use RandomUtils</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Reformat</a:t>
            </a:r>
            <a:r>
              <a:rPr lang="en" sz="1600">
                <a:solidFill>
                  <a:srgbClr val="0D0D0D"/>
                </a:solidFill>
                <a:highlight>
                  <a:schemeClr val="lt1"/>
                </a:highlight>
                <a:latin typeface="Consolas"/>
                <a:ea typeface="Consolas"/>
                <a:cs typeface="Consolas"/>
                <a:sym typeface="Consolas"/>
              </a:rPr>
              <a:t> game </a:t>
            </a:r>
            <a:r>
              <a:rPr lang="en" sz="1600">
                <a:solidFill>
                  <a:srgbClr val="0D0D0D"/>
                </a:solidFill>
                <a:highlight>
                  <a:schemeClr val="lt1"/>
                </a:highlight>
                <a:latin typeface="Consolas"/>
                <a:ea typeface="Consolas"/>
                <a:cs typeface="Consolas"/>
                <a:sym typeface="Consolas"/>
              </a:rPr>
              <a:t>homepage</a:t>
            </a:r>
            <a:r>
              <a:rPr lang="en" sz="1600">
                <a:solidFill>
                  <a:srgbClr val="0D0D0D"/>
                </a:solidFill>
                <a:highlight>
                  <a:schemeClr val="lt1"/>
                </a:highlight>
                <a:latin typeface="Consolas"/>
                <a:ea typeface="Consolas"/>
                <a:cs typeface="Consolas"/>
                <a:sym typeface="Consolas"/>
              </a:rPr>
              <a:t> text to use more whitespace</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Rearrange</a:t>
            </a:r>
            <a:r>
              <a:rPr lang="en" sz="1600">
                <a:solidFill>
                  <a:srgbClr val="0D0D0D"/>
                </a:solidFill>
                <a:highlight>
                  <a:schemeClr val="lt1"/>
                </a:highlight>
                <a:latin typeface="Consolas"/>
                <a:ea typeface="Consolas"/>
                <a:cs typeface="Consolas"/>
                <a:sym typeface="Consolas"/>
              </a:rPr>
              <a:t> buttons so OK is on the lower right</a:t>
            </a:r>
            <a:endParaRPr sz="1600">
              <a:solidFill>
                <a:srgbClr val="0D0D0D"/>
              </a:solidFill>
              <a:highlight>
                <a:schemeClr val="lt1"/>
              </a:highlight>
              <a:latin typeface="Consolas"/>
              <a:ea typeface="Consolas"/>
              <a:cs typeface="Consolas"/>
              <a:sym typeface="Consolas"/>
            </a:endParaRPr>
          </a:p>
          <a:p>
            <a:pPr indent="-330200" lvl="0" marL="457200" rtl="0" algn="l">
              <a:spcBef>
                <a:spcPts val="0"/>
              </a:spcBef>
              <a:spcAft>
                <a:spcPts val="0"/>
              </a:spcAft>
              <a:buClr>
                <a:srgbClr val="0D0D0D"/>
              </a:buClr>
              <a:buSzPts val="1600"/>
              <a:buFont typeface="Consolas"/>
              <a:buChar char="●"/>
            </a:pPr>
            <a:r>
              <a:rPr b="1" lang="en" sz="1600">
                <a:solidFill>
                  <a:srgbClr val="0D0D0D"/>
                </a:solidFill>
                <a:highlight>
                  <a:schemeClr val="lt1"/>
                </a:highlight>
                <a:latin typeface="Consolas"/>
                <a:ea typeface="Consolas"/>
                <a:cs typeface="Consolas"/>
                <a:sym typeface="Consolas"/>
              </a:rPr>
              <a:t>Revise</a:t>
            </a:r>
            <a:r>
              <a:rPr lang="en" sz="1600">
                <a:solidFill>
                  <a:srgbClr val="0D0D0D"/>
                </a:solidFill>
                <a:highlight>
                  <a:schemeClr val="lt1"/>
                </a:highlight>
                <a:latin typeface="Consolas"/>
                <a:ea typeface="Consolas"/>
                <a:cs typeface="Consolas"/>
                <a:sym typeface="Consolas"/>
              </a:rPr>
              <a:t> link to update it to the new URL</a:t>
            </a:r>
            <a:endParaRPr sz="1600">
              <a:solidFill>
                <a:srgbClr val="0D0D0D"/>
              </a:solidFill>
              <a:highlight>
                <a:schemeClr val="lt1"/>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Bad Commit Messages</a:t>
            </a:r>
            <a:endParaRPr/>
          </a:p>
        </p:txBody>
      </p:sp>
      <p:pic>
        <p:nvPicPr>
          <p:cNvPr id="554" name="Google Shape;554;p53"/>
          <p:cNvPicPr preferRelativeResize="0"/>
          <p:nvPr/>
        </p:nvPicPr>
        <p:blipFill>
          <a:blip r:embed="rId3">
            <a:alphaModFix/>
          </a:blip>
          <a:stretch>
            <a:fillRect/>
          </a:stretch>
        </p:blipFill>
        <p:spPr>
          <a:xfrm>
            <a:off x="119049" y="537950"/>
            <a:ext cx="7389399" cy="4208088"/>
          </a:xfrm>
          <a:prstGeom prst="rect">
            <a:avLst/>
          </a:prstGeom>
          <a:noFill/>
          <a:ln>
            <a:noFill/>
          </a:ln>
        </p:spPr>
      </p:pic>
      <p:sp>
        <p:nvSpPr>
          <p:cNvPr id="555" name="Google Shape;555;p53"/>
          <p:cNvSpPr txBox="1"/>
          <p:nvPr/>
        </p:nvSpPr>
        <p:spPr>
          <a:xfrm>
            <a:off x="3741975" y="4855925"/>
            <a:ext cx="284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latin typeface="Roboto"/>
                <a:ea typeface="Roboto"/>
                <a:cs typeface="Roboto"/>
                <a:sym typeface="Roboto"/>
                <a:hlinkClick r:id="rId4"/>
              </a:rPr>
              <a:t>https://xkcd.com/1296/</a:t>
            </a:r>
            <a:endParaRPr sz="1100">
              <a:solidFill>
                <a:schemeClr val="dk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Bad Commit Message</a:t>
            </a:r>
            <a:endParaRPr/>
          </a:p>
        </p:txBody>
      </p:sp>
      <p:pic>
        <p:nvPicPr>
          <p:cNvPr id="561" name="Google Shape;561;p54"/>
          <p:cNvPicPr preferRelativeResize="0"/>
          <p:nvPr/>
        </p:nvPicPr>
        <p:blipFill rotWithShape="1">
          <a:blip r:embed="rId3">
            <a:alphaModFix/>
          </a:blip>
          <a:srcRect b="23168" l="6944" r="1203" t="15684"/>
          <a:stretch/>
        </p:blipFill>
        <p:spPr>
          <a:xfrm>
            <a:off x="107038" y="782801"/>
            <a:ext cx="8599875" cy="3577901"/>
          </a:xfrm>
          <a:prstGeom prst="rect">
            <a:avLst/>
          </a:prstGeom>
          <a:noFill/>
          <a:ln>
            <a:noFill/>
          </a:ln>
        </p:spPr>
      </p:pic>
      <p:pic>
        <p:nvPicPr>
          <p:cNvPr id="562" name="Google Shape;562;p54"/>
          <p:cNvPicPr preferRelativeResize="0"/>
          <p:nvPr/>
        </p:nvPicPr>
        <p:blipFill>
          <a:blip r:embed="rId4">
            <a:alphaModFix/>
          </a:blip>
          <a:stretch>
            <a:fillRect/>
          </a:stretch>
        </p:blipFill>
        <p:spPr>
          <a:xfrm>
            <a:off x="4973226" y="782800"/>
            <a:ext cx="3733669" cy="3820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Justin’s </a:t>
            </a:r>
            <a:r>
              <a:rPr lang="en">
                <a:solidFill>
                  <a:schemeClr val="accent3"/>
                </a:solidFill>
              </a:rPr>
              <a:t>Bad Commit Message</a:t>
            </a:r>
            <a:endParaRPr>
              <a:solidFill>
                <a:schemeClr val="accent3"/>
              </a:solidFill>
            </a:endParaRPr>
          </a:p>
          <a:p>
            <a:pPr indent="0" lvl="0" marL="0" rtl="0" algn="l">
              <a:spcBef>
                <a:spcPts val="0"/>
              </a:spcBef>
              <a:spcAft>
                <a:spcPts val="0"/>
              </a:spcAft>
              <a:buNone/>
            </a:pPr>
            <a:r>
              <a:t/>
            </a:r>
            <a:endParaRPr/>
          </a:p>
        </p:txBody>
      </p:sp>
      <p:pic>
        <p:nvPicPr>
          <p:cNvPr id="568" name="Google Shape;568;p55"/>
          <p:cNvPicPr preferRelativeResize="0"/>
          <p:nvPr/>
        </p:nvPicPr>
        <p:blipFill>
          <a:blip r:embed="rId3">
            <a:alphaModFix/>
          </a:blip>
          <a:stretch>
            <a:fillRect/>
          </a:stretch>
        </p:blipFill>
        <p:spPr>
          <a:xfrm>
            <a:off x="3886450" y="546674"/>
            <a:ext cx="4634160" cy="782800"/>
          </a:xfrm>
          <a:prstGeom prst="rect">
            <a:avLst/>
          </a:prstGeom>
          <a:noFill/>
          <a:ln>
            <a:noFill/>
          </a:ln>
        </p:spPr>
      </p:pic>
      <p:pic>
        <p:nvPicPr>
          <p:cNvPr id="569" name="Google Shape;569;p55"/>
          <p:cNvPicPr preferRelativeResize="0"/>
          <p:nvPr/>
        </p:nvPicPr>
        <p:blipFill>
          <a:blip r:embed="rId4">
            <a:alphaModFix/>
          </a:blip>
          <a:stretch>
            <a:fillRect/>
          </a:stretch>
        </p:blipFill>
        <p:spPr>
          <a:xfrm>
            <a:off x="186425" y="393600"/>
            <a:ext cx="2949226" cy="4749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 Commands Extras</a:t>
            </a:r>
            <a:endParaRPr/>
          </a:p>
        </p:txBody>
      </p:sp>
      <p:sp>
        <p:nvSpPr>
          <p:cNvPr id="575" name="Google Shape;575;p56"/>
          <p:cNvSpPr txBox="1"/>
          <p:nvPr>
            <p:ph idx="1" type="body"/>
          </p:nvPr>
        </p:nvSpPr>
        <p:spPr>
          <a:xfrm>
            <a:off x="107050" y="326000"/>
            <a:ext cx="8520600" cy="4741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500">
                <a:latin typeface="Consolas"/>
                <a:ea typeface="Consolas"/>
                <a:cs typeface="Consolas"/>
                <a:sym typeface="Consolas"/>
              </a:rPr>
              <a:t>git diff</a:t>
            </a:r>
            <a:endParaRPr sz="1500">
              <a:latin typeface="Consolas"/>
              <a:ea typeface="Consolas"/>
              <a:cs typeface="Consolas"/>
              <a:sym typeface="Consolas"/>
            </a:endParaRPr>
          </a:p>
          <a:p>
            <a:pPr indent="-323850" lvl="0" marL="457200" rtl="0" algn="l">
              <a:spcBef>
                <a:spcPts val="600"/>
              </a:spcBef>
              <a:spcAft>
                <a:spcPts val="0"/>
              </a:spcAft>
              <a:buSzPts val="1500"/>
              <a:buChar char="●"/>
            </a:pPr>
            <a:r>
              <a:rPr lang="en" sz="1500"/>
              <a:t>Show changes between commits or in current working copy</a:t>
            </a:r>
            <a:endParaRPr sz="1500"/>
          </a:p>
          <a:p>
            <a:pPr indent="0" lvl="0" marL="0" rtl="0" algn="l">
              <a:spcBef>
                <a:spcPts val="600"/>
              </a:spcBef>
              <a:spcAft>
                <a:spcPts val="0"/>
              </a:spcAft>
              <a:buNone/>
            </a:pPr>
            <a:r>
              <a:rPr lang="en" sz="1500">
                <a:latin typeface="Consolas"/>
                <a:ea typeface="Consolas"/>
                <a:cs typeface="Consolas"/>
                <a:sym typeface="Consolas"/>
              </a:rPr>
              <a:t>git blame</a:t>
            </a:r>
            <a:endParaRPr sz="1500">
              <a:latin typeface="Consolas"/>
              <a:ea typeface="Consolas"/>
              <a:cs typeface="Consolas"/>
              <a:sym typeface="Consolas"/>
            </a:endParaRPr>
          </a:p>
          <a:p>
            <a:pPr indent="-323850" lvl="0" marL="457200" rtl="0" algn="l">
              <a:spcBef>
                <a:spcPts val="600"/>
              </a:spcBef>
              <a:spcAft>
                <a:spcPts val="0"/>
              </a:spcAft>
              <a:buSzPts val="1500"/>
              <a:buChar char="●"/>
            </a:pPr>
            <a:r>
              <a:rPr lang="en" sz="1500"/>
              <a:t>Examine a file line by line and see when each line was last modified and who the author of the modifications was</a:t>
            </a:r>
            <a:endParaRPr sz="1500"/>
          </a:p>
          <a:p>
            <a:pPr indent="-323850" lvl="1" marL="914400" rtl="0" algn="l">
              <a:spcBef>
                <a:spcPts val="0"/>
              </a:spcBef>
              <a:spcAft>
                <a:spcPts val="0"/>
              </a:spcAft>
              <a:buSzPts val="1500"/>
              <a:buChar char="○"/>
            </a:pPr>
            <a:r>
              <a:rPr lang="en" sz="1500"/>
              <a:t>E.g. Who you blame for a bug</a:t>
            </a:r>
            <a:endParaRPr sz="1500"/>
          </a:p>
          <a:p>
            <a:pPr indent="0" lvl="0" marL="0" rtl="0" algn="l">
              <a:spcBef>
                <a:spcPts val="600"/>
              </a:spcBef>
              <a:spcAft>
                <a:spcPts val="0"/>
              </a:spcAft>
              <a:buNone/>
            </a:pPr>
            <a:r>
              <a:rPr lang="en" sz="1500">
                <a:latin typeface="Consolas"/>
                <a:ea typeface="Consolas"/>
                <a:cs typeface="Consolas"/>
                <a:sym typeface="Consolas"/>
              </a:rPr>
              <a:t>git stash</a:t>
            </a:r>
            <a:endParaRPr sz="1500">
              <a:latin typeface="Consolas"/>
              <a:ea typeface="Consolas"/>
              <a:cs typeface="Consolas"/>
              <a:sym typeface="Consolas"/>
            </a:endParaRPr>
          </a:p>
          <a:p>
            <a:pPr indent="-323850" lvl="0" marL="457200" rtl="0" algn="l">
              <a:spcBef>
                <a:spcPts val="600"/>
              </a:spcBef>
              <a:spcAft>
                <a:spcPts val="0"/>
              </a:spcAft>
              <a:buSzPts val="1500"/>
              <a:buChar char="●"/>
            </a:pPr>
            <a:r>
              <a:rPr lang="en" sz="1500"/>
              <a:t>Stash changes in a dirty working directory away</a:t>
            </a:r>
            <a:endParaRPr sz="1500"/>
          </a:p>
          <a:p>
            <a:pPr indent="-323850" lvl="1" marL="914400" rtl="0" algn="l">
              <a:spcBef>
                <a:spcPts val="0"/>
              </a:spcBef>
              <a:spcAft>
                <a:spcPts val="0"/>
              </a:spcAft>
              <a:buSzPts val="1500"/>
              <a:buChar char="○"/>
            </a:pPr>
            <a:r>
              <a:rPr lang="en" sz="1500"/>
              <a:t>Want to pull changes from remote but don’t want to make a commit yet</a:t>
            </a:r>
            <a:endParaRPr sz="1500"/>
          </a:p>
          <a:p>
            <a:pPr indent="0" lvl="0" marL="0" rtl="0" algn="l">
              <a:spcBef>
                <a:spcPts val="600"/>
              </a:spcBef>
              <a:spcAft>
                <a:spcPts val="0"/>
              </a:spcAft>
              <a:buNone/>
            </a:pPr>
            <a:r>
              <a:t/>
            </a:r>
            <a:endParaRPr sz="1500"/>
          </a:p>
          <a:p>
            <a:pPr indent="0" lvl="0" marL="0" rtl="0" algn="l">
              <a:spcBef>
                <a:spcPts val="600"/>
              </a:spcBef>
              <a:spcAft>
                <a:spcPts val="0"/>
              </a:spcAft>
              <a:buNone/>
            </a:pPr>
            <a:r>
              <a:rPr lang="en" sz="1500">
                <a:latin typeface="Consolas"/>
                <a:ea typeface="Consolas"/>
                <a:cs typeface="Consolas"/>
                <a:sym typeface="Consolas"/>
              </a:rPr>
              <a:t>git commit --amend</a:t>
            </a:r>
            <a:endParaRPr sz="1500">
              <a:latin typeface="Consolas"/>
              <a:ea typeface="Consolas"/>
              <a:cs typeface="Consolas"/>
              <a:sym typeface="Consolas"/>
            </a:endParaRPr>
          </a:p>
          <a:p>
            <a:pPr indent="-323850" lvl="0" marL="457200" rtl="0" algn="l">
              <a:spcBef>
                <a:spcPts val="600"/>
              </a:spcBef>
              <a:spcAft>
                <a:spcPts val="0"/>
              </a:spcAft>
              <a:buSzPts val="1500"/>
              <a:buChar char="●"/>
            </a:pPr>
            <a:r>
              <a:rPr lang="en" sz="1500"/>
              <a:t>amend the most recent commit so you don’t make a new commit</a:t>
            </a:r>
            <a:endParaRPr sz="1500"/>
          </a:p>
          <a:p>
            <a:pPr indent="0" lvl="0" marL="0" rtl="0" algn="l">
              <a:spcBef>
                <a:spcPts val="600"/>
              </a:spcBef>
              <a:spcAft>
                <a:spcPts val="0"/>
              </a:spcAft>
              <a:buNone/>
            </a:pPr>
            <a:r>
              <a:rPr lang="en" sz="1500">
                <a:latin typeface="Consolas"/>
                <a:ea typeface="Consolas"/>
                <a:cs typeface="Consolas"/>
                <a:sym typeface="Consolas"/>
              </a:rPr>
              <a:t>git rebase -i</a:t>
            </a:r>
            <a:endParaRPr sz="1500">
              <a:latin typeface="Consolas"/>
              <a:ea typeface="Consolas"/>
              <a:cs typeface="Consolas"/>
              <a:sym typeface="Consolas"/>
            </a:endParaRPr>
          </a:p>
          <a:p>
            <a:pPr indent="-323850" lvl="0" marL="457200" rtl="0" algn="l">
              <a:spcBef>
                <a:spcPts val="600"/>
              </a:spcBef>
              <a:spcAft>
                <a:spcPts val="0"/>
              </a:spcAft>
              <a:buSzPts val="1500"/>
              <a:buChar char="●"/>
            </a:pPr>
            <a:r>
              <a:rPr lang="en" sz="1500"/>
              <a:t>Interactive rebasing session</a:t>
            </a:r>
            <a:endParaRPr sz="1500"/>
          </a:p>
          <a:p>
            <a:pPr indent="-323850" lvl="0" marL="457200" rtl="0" algn="l">
              <a:spcBef>
                <a:spcPts val="0"/>
              </a:spcBef>
              <a:spcAft>
                <a:spcPts val="0"/>
              </a:spcAft>
              <a:buSzPts val="1500"/>
              <a:buChar char="●"/>
            </a:pPr>
            <a:r>
              <a:rPr lang="en" sz="1500"/>
              <a:t>Allows you to rebase, add, edit, or delete commits along the way</a:t>
            </a:r>
            <a:r>
              <a:rPr lang="en" sz="1500"/>
              <a:t> if you want to modify history</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581" name="Google Shape;581;p5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rgbClr val="D1D2D3"/>
                </a:solidFill>
              </a:rPr>
              <a:t>Background</a:t>
            </a:r>
            <a:endParaRPr>
              <a:solidFill>
                <a:srgbClr val="D1D2D3"/>
              </a:solidFill>
            </a:endParaRPr>
          </a:p>
          <a:p>
            <a:pPr indent="0" lvl="0" marL="0" rtl="0" algn="l">
              <a:spcBef>
                <a:spcPts val="600"/>
              </a:spcBef>
              <a:spcAft>
                <a:spcPts val="0"/>
              </a:spcAft>
              <a:buClr>
                <a:schemeClr val="dk1"/>
              </a:buClr>
              <a:buSzPts val="1100"/>
              <a:buFont typeface="Arial"/>
              <a:buNone/>
            </a:pPr>
            <a:r>
              <a:rPr lang="en">
                <a:solidFill>
                  <a:schemeClr val="accent6"/>
                </a:solidFill>
              </a:rPr>
              <a:t>Git Recap </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Snapshots</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SHA-1</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Remote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Git Potpourri</a:t>
            </a:r>
            <a:endParaRPr>
              <a:solidFill>
                <a:schemeClr val="accent6"/>
              </a:solidFill>
            </a:endParaRPr>
          </a:p>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Break</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p>
        </p:txBody>
      </p:sp>
      <p:sp>
        <p:nvSpPr>
          <p:cNvPr id="582" name="Google Shape;582;p5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Break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588" name="Google Shape;588;p5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D1D2D3"/>
                </a:solidFill>
              </a:rPr>
              <a:t>Background</a:t>
            </a:r>
            <a:endParaRPr>
              <a:solidFill>
                <a:srgbClr val="D1D2D3"/>
              </a:solidFill>
            </a:endParaRPr>
          </a:p>
          <a:p>
            <a:pPr indent="0" lvl="0" marL="0" rtl="0" algn="l">
              <a:spcBef>
                <a:spcPts val="600"/>
              </a:spcBef>
              <a:spcAft>
                <a:spcPts val="0"/>
              </a:spcAft>
              <a:buNone/>
            </a:pPr>
            <a:r>
              <a:rPr lang="en">
                <a:solidFill>
                  <a:schemeClr val="accent6"/>
                </a:solidFill>
              </a:rPr>
              <a:t>Git Recap </a:t>
            </a:r>
            <a:endParaRPr>
              <a:solidFill>
                <a:schemeClr val="accent6"/>
              </a:solidFill>
            </a:endParaRPr>
          </a:p>
          <a:p>
            <a:pPr indent="0" lvl="0" marL="0" rtl="0" algn="l">
              <a:spcBef>
                <a:spcPts val="600"/>
              </a:spcBef>
              <a:spcAft>
                <a:spcPts val="0"/>
              </a:spcAft>
              <a:buNone/>
            </a:pPr>
            <a:r>
              <a:rPr lang="en">
                <a:solidFill>
                  <a:schemeClr val="accent6"/>
                </a:solidFill>
              </a:rPr>
              <a:t>  Snapshots</a:t>
            </a:r>
            <a:endParaRPr>
              <a:solidFill>
                <a:schemeClr val="accent6"/>
              </a:solidFill>
            </a:endParaRPr>
          </a:p>
          <a:p>
            <a:pPr indent="0" lvl="0" marL="0" rtl="0" algn="l">
              <a:spcBef>
                <a:spcPts val="600"/>
              </a:spcBef>
              <a:spcAft>
                <a:spcPts val="0"/>
              </a:spcAft>
              <a:buNone/>
            </a:pPr>
            <a:r>
              <a:rPr lang="en">
                <a:solidFill>
                  <a:schemeClr val="accent6"/>
                </a:solidFill>
              </a:rPr>
              <a:t>  SHA-1</a:t>
            </a:r>
            <a:endParaRPr>
              <a:solidFill>
                <a:schemeClr val="accent6"/>
              </a:solidFill>
            </a:endParaRPr>
          </a:p>
          <a:p>
            <a:pPr indent="0" lvl="0" marL="0" rtl="0" algn="l">
              <a:spcBef>
                <a:spcPts val="600"/>
              </a:spcBef>
              <a:spcAft>
                <a:spcPts val="0"/>
              </a:spcAft>
              <a:buNone/>
            </a:pPr>
            <a:r>
              <a:rPr lang="en">
                <a:solidFill>
                  <a:schemeClr val="accent6"/>
                </a:solidFill>
              </a:rPr>
              <a:t>  Remote</a:t>
            </a:r>
            <a:endParaRPr>
              <a:solidFill>
                <a:schemeClr val="accent6"/>
              </a:solidFill>
            </a:endParaRPr>
          </a:p>
          <a:p>
            <a:pPr indent="0" lvl="0" marL="0" rtl="0" algn="l">
              <a:spcBef>
                <a:spcPts val="600"/>
              </a:spcBef>
              <a:spcAft>
                <a:spcPts val="0"/>
              </a:spcAft>
              <a:buNone/>
            </a:pPr>
            <a:r>
              <a:rPr lang="en">
                <a:solidFill>
                  <a:schemeClr val="accent6"/>
                </a:solidFill>
              </a:rPr>
              <a:t>  Git Potpourri</a:t>
            </a:r>
            <a:endParaRPr>
              <a:solidFill>
                <a:schemeClr val="accent6"/>
              </a:solidFill>
            </a:endParaRPr>
          </a:p>
          <a:p>
            <a:pPr indent="0" lvl="0" marL="0" rtl="0" algn="l">
              <a:spcBef>
                <a:spcPts val="600"/>
              </a:spcBef>
              <a:spcAft>
                <a:spcPts val="0"/>
              </a:spcAft>
              <a:buNone/>
            </a:pPr>
            <a:r>
              <a:rPr lang="en">
                <a:solidFill>
                  <a:schemeClr val="accent6"/>
                </a:solidFill>
              </a:rPr>
              <a:t>Break</a:t>
            </a:r>
            <a:endParaRPr>
              <a:solidFill>
                <a:schemeClr val="accent6"/>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Programming</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accent6"/>
                </a:solidFill>
              </a:rPr>
              <a:t>  Example</a:t>
            </a:r>
            <a:endParaRPr>
              <a:solidFill>
                <a:schemeClr val="accent6"/>
              </a:solidFill>
            </a:endParaRPr>
          </a:p>
          <a:p>
            <a:pPr indent="0" lvl="0" marL="0" rtl="0" algn="l">
              <a:spcBef>
                <a:spcPts val="600"/>
              </a:spcBef>
              <a:spcAft>
                <a:spcPts val="0"/>
              </a:spcAft>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solidFill>
                <a:schemeClr val="accent6"/>
              </a:solidFill>
            </a:endParaRPr>
          </a:p>
        </p:txBody>
      </p:sp>
      <p:sp>
        <p:nvSpPr>
          <p:cNvPr id="589" name="Google Shape;589;p5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Dynamic Programming</a:t>
            </a:r>
            <a:r>
              <a:rPr lang="en"/>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Dynamic Programming (CS170 Preview)</a:t>
            </a:r>
            <a:endParaRPr/>
          </a:p>
        </p:txBody>
      </p:sp>
      <p:sp>
        <p:nvSpPr>
          <p:cNvPr id="595" name="Google Shape;595;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dynamic programming?</a:t>
            </a:r>
            <a:endParaRPr b="1" sz="1500">
              <a:solidFill>
                <a:srgbClr val="080809"/>
              </a:solidFill>
              <a:highlight>
                <a:srgbClr val="FFFFFF"/>
              </a:highlight>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Dynamic Programming (CS170 Preview)</a:t>
            </a:r>
            <a:endParaRPr/>
          </a:p>
        </p:txBody>
      </p:sp>
      <p:sp>
        <p:nvSpPr>
          <p:cNvPr id="601" name="Google Shape;601;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a:t>Dynamic programming</a:t>
            </a:r>
            <a:r>
              <a:rPr lang="en"/>
              <a:t>: a programming technique or algorithmic pattern where a problem can be solved by breaking it down into smaller subproblems. </a:t>
            </a:r>
            <a:endParaRPr/>
          </a:p>
          <a:p>
            <a:pPr indent="-342900" lvl="0" marL="457200" rtl="0" algn="l">
              <a:spcBef>
                <a:spcPts val="600"/>
              </a:spcBef>
              <a:spcAft>
                <a:spcPts val="0"/>
              </a:spcAft>
              <a:buSzPts val="1800"/>
              <a:buChar char="●"/>
            </a:pPr>
            <a:r>
              <a:rPr lang="en"/>
              <a:t>We can use the answers to the smaller subproblems to solve for the larger ones until the whole problem is solved. </a:t>
            </a:r>
            <a:endParaRPr b="1" sz="1500">
              <a:solidFill>
                <a:srgbClr val="080809"/>
              </a:solidFill>
              <a:highlight>
                <a:srgbClr val="FFFFFF"/>
              </a:highlight>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Dynamic Programming (CS170 Preview)</a:t>
            </a:r>
            <a:endParaRPr/>
          </a:p>
        </p:txBody>
      </p:sp>
      <p:sp>
        <p:nvSpPr>
          <p:cNvPr id="607" name="Google Shape;607;p6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Dynamic programming</a:t>
            </a:r>
            <a:r>
              <a:rPr lang="en"/>
              <a:t>: a programming technique or algorithmic pattern where a problem can be solved by breaking it down into smaller subproblems. </a:t>
            </a:r>
            <a:endParaRPr/>
          </a:p>
          <a:p>
            <a:pPr indent="-342900" lvl="0" marL="457200" rtl="0" algn="l">
              <a:spcBef>
                <a:spcPts val="600"/>
              </a:spcBef>
              <a:spcAft>
                <a:spcPts val="0"/>
              </a:spcAft>
              <a:buSzPts val="1800"/>
              <a:buChar char="●"/>
            </a:pPr>
            <a:r>
              <a:rPr lang="en"/>
              <a:t>We can use the answers to the smaller subproblems to solve for the larger ones until the whole problem is solved.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Conceptually, this algorithmic process can be thought of as a DAG (directed acyclic graph). </a:t>
            </a:r>
            <a:endParaRPr b="1" sz="1500">
              <a:solidFill>
                <a:srgbClr val="080809"/>
              </a:solidFill>
              <a:highlight>
                <a:srgbClr val="FFFFFF"/>
              </a:highlight>
              <a:latin typeface="Arial"/>
              <a:ea typeface="Arial"/>
              <a:cs typeface="Arial"/>
              <a:sym typeface="Arial"/>
            </a:endParaRPr>
          </a:p>
        </p:txBody>
      </p:sp>
      <p:pic>
        <p:nvPicPr>
          <p:cNvPr id="608" name="Google Shape;608;p61"/>
          <p:cNvPicPr preferRelativeResize="0"/>
          <p:nvPr/>
        </p:nvPicPr>
        <p:blipFill>
          <a:blip r:embed="rId3">
            <a:alphaModFix/>
          </a:blip>
          <a:stretch>
            <a:fillRect/>
          </a:stretch>
        </p:blipFill>
        <p:spPr>
          <a:xfrm>
            <a:off x="2328300" y="2629525"/>
            <a:ext cx="4078099" cy="210082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Optimization Technique</a:t>
            </a:r>
            <a:endParaRPr/>
          </a:p>
        </p:txBody>
      </p:sp>
      <p:sp>
        <p:nvSpPr>
          <p:cNvPr id="614" name="Google Shape;614;p62"/>
          <p:cNvSpPr txBox="1"/>
          <p:nvPr>
            <p:ph idx="1" type="body"/>
          </p:nvPr>
        </p:nvSpPr>
        <p:spPr>
          <a:xfrm>
            <a:off x="107050" y="402200"/>
            <a:ext cx="8520600" cy="393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Dynamic programming is ultimately an optimization technique - the first step to applying it is to recognize if a problem can be solved with DP. </a:t>
            </a:r>
            <a:endParaRPr/>
          </a:p>
          <a:p>
            <a:pPr indent="-342900" lvl="0" marL="457200" rtl="0" algn="l">
              <a:spcBef>
                <a:spcPts val="600"/>
              </a:spcBef>
              <a:spcAft>
                <a:spcPts val="0"/>
              </a:spcAft>
              <a:buSzPts val="1800"/>
              <a:buChar char="●"/>
            </a:pPr>
            <a:r>
              <a:rPr lang="en"/>
              <a:t>If you’re trying to solve a problem, can you break it down in more “bite-sized” pieces? </a:t>
            </a:r>
            <a:endParaRPr/>
          </a:p>
          <a:p>
            <a:pPr indent="-342900" lvl="0" marL="457200" rtl="0" algn="l">
              <a:spcBef>
                <a:spcPts val="0"/>
              </a:spcBef>
              <a:spcAft>
                <a:spcPts val="0"/>
              </a:spcAft>
              <a:buSzPts val="1800"/>
              <a:buChar char="●"/>
            </a:pPr>
            <a:r>
              <a:rPr lang="en"/>
              <a:t>From here, you want to consider the following: </a:t>
            </a:r>
            <a:endParaRPr/>
          </a:p>
          <a:p>
            <a:pPr indent="-342900" lvl="1" marL="914400" rtl="0" algn="l">
              <a:spcBef>
                <a:spcPts val="0"/>
              </a:spcBef>
              <a:spcAft>
                <a:spcPts val="0"/>
              </a:spcAft>
              <a:buSzPts val="1800"/>
              <a:buChar char="○"/>
            </a:pPr>
            <a:r>
              <a:rPr lang="en"/>
              <a:t>What’s the </a:t>
            </a:r>
            <a:r>
              <a:rPr b="1" lang="en"/>
              <a:t>base case</a:t>
            </a:r>
            <a:r>
              <a:rPr lang="en"/>
              <a:t> (i.e. what’s the smallest subproblem)? </a:t>
            </a:r>
            <a:endParaRPr/>
          </a:p>
          <a:p>
            <a:pPr indent="-342900" lvl="1" marL="914400" rtl="0" algn="l">
              <a:spcBef>
                <a:spcPts val="0"/>
              </a:spcBef>
              <a:spcAft>
                <a:spcPts val="0"/>
              </a:spcAft>
              <a:buSzPts val="1800"/>
              <a:buChar char="○"/>
            </a:pPr>
            <a:r>
              <a:rPr lang="en"/>
              <a:t>What’s the </a:t>
            </a:r>
            <a:r>
              <a:rPr b="1" lang="en"/>
              <a:t>recurrence relation</a:t>
            </a:r>
            <a:r>
              <a:rPr lang="en"/>
              <a:t>? This describes the relationship between the subproblems and how an optimal solution can be solved with the smaller subproblems.</a:t>
            </a:r>
            <a:endParaRPr/>
          </a:p>
          <a:p>
            <a:pPr indent="0" lvl="0" marL="0" rtl="0" algn="l">
              <a:spcBef>
                <a:spcPts val="60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620" name="Google Shape;620;p63"/>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D1D2D3"/>
                </a:solidFill>
              </a:rPr>
              <a:t>Background</a:t>
            </a:r>
            <a:endParaRPr>
              <a:solidFill>
                <a:srgbClr val="D1D2D3"/>
              </a:solidFill>
            </a:endParaRPr>
          </a:p>
          <a:p>
            <a:pPr indent="0" lvl="0" marL="0" rtl="0" algn="l">
              <a:spcBef>
                <a:spcPts val="600"/>
              </a:spcBef>
              <a:spcAft>
                <a:spcPts val="0"/>
              </a:spcAft>
              <a:buNone/>
            </a:pPr>
            <a:r>
              <a:rPr lang="en">
                <a:solidFill>
                  <a:schemeClr val="accent6"/>
                </a:solidFill>
              </a:rPr>
              <a:t>Git Recap </a:t>
            </a:r>
            <a:endParaRPr>
              <a:solidFill>
                <a:schemeClr val="accent6"/>
              </a:solidFill>
            </a:endParaRPr>
          </a:p>
          <a:p>
            <a:pPr indent="0" lvl="0" marL="0" rtl="0" algn="l">
              <a:spcBef>
                <a:spcPts val="600"/>
              </a:spcBef>
              <a:spcAft>
                <a:spcPts val="0"/>
              </a:spcAft>
              <a:buNone/>
            </a:pPr>
            <a:r>
              <a:rPr lang="en">
                <a:solidFill>
                  <a:schemeClr val="accent6"/>
                </a:solidFill>
              </a:rPr>
              <a:t>  Snapshots</a:t>
            </a:r>
            <a:endParaRPr>
              <a:solidFill>
                <a:schemeClr val="accent6"/>
              </a:solidFill>
            </a:endParaRPr>
          </a:p>
          <a:p>
            <a:pPr indent="0" lvl="0" marL="0" rtl="0" algn="l">
              <a:spcBef>
                <a:spcPts val="600"/>
              </a:spcBef>
              <a:spcAft>
                <a:spcPts val="0"/>
              </a:spcAft>
              <a:buNone/>
            </a:pPr>
            <a:r>
              <a:rPr lang="en">
                <a:solidFill>
                  <a:schemeClr val="accent6"/>
                </a:solidFill>
              </a:rPr>
              <a:t>  SHA-1</a:t>
            </a:r>
            <a:endParaRPr>
              <a:solidFill>
                <a:schemeClr val="accent6"/>
              </a:solidFill>
            </a:endParaRPr>
          </a:p>
          <a:p>
            <a:pPr indent="0" lvl="0" marL="0" rtl="0" algn="l">
              <a:spcBef>
                <a:spcPts val="600"/>
              </a:spcBef>
              <a:spcAft>
                <a:spcPts val="0"/>
              </a:spcAft>
              <a:buNone/>
            </a:pPr>
            <a:r>
              <a:rPr lang="en">
                <a:solidFill>
                  <a:schemeClr val="accent6"/>
                </a:solidFill>
              </a:rPr>
              <a:t>  Remote</a:t>
            </a:r>
            <a:endParaRPr>
              <a:solidFill>
                <a:schemeClr val="accent6"/>
              </a:solidFill>
            </a:endParaRPr>
          </a:p>
          <a:p>
            <a:pPr indent="0" lvl="0" marL="0" rtl="0" algn="l">
              <a:spcBef>
                <a:spcPts val="600"/>
              </a:spcBef>
              <a:spcAft>
                <a:spcPts val="0"/>
              </a:spcAft>
              <a:buNone/>
            </a:pPr>
            <a:r>
              <a:rPr lang="en">
                <a:solidFill>
                  <a:schemeClr val="accent6"/>
                </a:solidFill>
              </a:rPr>
              <a:t>  Git Potpourri</a:t>
            </a:r>
            <a:endParaRPr>
              <a:solidFill>
                <a:schemeClr val="accent6"/>
              </a:solidFill>
            </a:endParaRPr>
          </a:p>
          <a:p>
            <a:pPr indent="0" lvl="0" marL="0" rtl="0" algn="l">
              <a:spcBef>
                <a:spcPts val="600"/>
              </a:spcBef>
              <a:spcAft>
                <a:spcPts val="0"/>
              </a:spcAft>
              <a:buNone/>
            </a:pPr>
            <a:r>
              <a:rPr lang="en">
                <a:solidFill>
                  <a:schemeClr val="accent6"/>
                </a:solidFill>
              </a:rPr>
              <a:t>Break</a:t>
            </a:r>
            <a:endParaRPr>
              <a:solidFill>
                <a:schemeClr val="accent6"/>
              </a:solidFill>
            </a:endParaRPr>
          </a:p>
          <a:p>
            <a:pPr indent="0" lvl="0" marL="0" rtl="0" algn="l">
              <a:spcBef>
                <a:spcPts val="600"/>
              </a:spcBef>
              <a:spcAft>
                <a:spcPts val="0"/>
              </a:spcAft>
              <a:buNone/>
            </a:pPr>
            <a:r>
              <a:rPr lang="en">
                <a:solidFill>
                  <a:schemeClr val="accent6"/>
                </a:solidFill>
              </a:rPr>
              <a:t>Dynamic Programming</a:t>
            </a:r>
            <a:endParaRPr>
              <a:solidFill>
                <a:schemeClr val="accent6"/>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  Example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lang="en">
                <a:solidFill>
                  <a:schemeClr val="accent6"/>
                </a:solidFill>
              </a:rPr>
              <a:t>Q&amp;A</a:t>
            </a:r>
            <a:endParaRPr>
              <a:solidFill>
                <a:schemeClr val="accent6"/>
              </a:solidFill>
            </a:endParaRPr>
          </a:p>
        </p:txBody>
      </p:sp>
      <p:sp>
        <p:nvSpPr>
          <p:cNvPr id="621" name="Google Shape;621;p63"/>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Planting Trees</a:t>
            </a:r>
            <a:endParaRPr/>
          </a:p>
        </p:txBody>
      </p:sp>
      <p:sp>
        <p:nvSpPr>
          <p:cNvPr id="627" name="Google Shape;627;p64"/>
          <p:cNvSpPr txBox="1"/>
          <p:nvPr>
            <p:ph idx="1" type="body"/>
          </p:nvPr>
        </p:nvSpPr>
        <p:spPr>
          <a:xfrm>
            <a:off x="107050" y="402200"/>
            <a:ext cx="8520600" cy="22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try building up a dynamic programming algorithm: </a:t>
            </a:r>
            <a:endParaRPr/>
          </a:p>
          <a:p>
            <a:pPr indent="-342900" lvl="0" marL="457200" rtl="0" algn="l">
              <a:spcBef>
                <a:spcPts val="600"/>
              </a:spcBef>
              <a:spcAft>
                <a:spcPts val="0"/>
              </a:spcAft>
              <a:buSzPts val="1800"/>
              <a:buChar char="●"/>
            </a:pPr>
            <a:r>
              <a:rPr lang="en"/>
              <a:t>Let’s say we have a garden with n adjacent spots, numbered 1 to n. </a:t>
            </a:r>
            <a:endParaRPr/>
          </a:p>
          <a:p>
            <a:pPr indent="-342900" lvl="0" marL="457200" rtl="0" algn="l">
              <a:spcBef>
                <a:spcPts val="0"/>
              </a:spcBef>
              <a:spcAft>
                <a:spcPts val="0"/>
              </a:spcAft>
              <a:buSzPts val="1800"/>
              <a:buChar char="●"/>
            </a:pPr>
            <a:r>
              <a:rPr lang="en"/>
              <a:t>Each tree needs a space to grow, so if we plant a tree in the ith spot, we can’t plant a tree in spots i - 1 or i + 1. </a:t>
            </a:r>
            <a:endParaRPr/>
          </a:p>
          <a:p>
            <a:pPr indent="-342900" lvl="0" marL="457200" rtl="0" algn="l">
              <a:spcBef>
                <a:spcPts val="0"/>
              </a:spcBef>
              <a:spcAft>
                <a:spcPts val="0"/>
              </a:spcAft>
              <a:buSzPts val="1800"/>
              <a:buChar char="●"/>
            </a:pPr>
            <a:r>
              <a:rPr b="1" lang="en"/>
              <a:t>Problem: </a:t>
            </a:r>
            <a:r>
              <a:rPr lang="en"/>
              <a:t>What is the maximum number of ways that we can plant our trees in the garden?</a:t>
            </a:r>
            <a:endParaRPr/>
          </a:p>
        </p:txBody>
      </p:sp>
      <p:sp>
        <p:nvSpPr>
          <p:cNvPr id="628" name="Google Shape;628;p64"/>
          <p:cNvSpPr/>
          <p:nvPr/>
        </p:nvSpPr>
        <p:spPr>
          <a:xfrm>
            <a:off x="2837700" y="2975250"/>
            <a:ext cx="5781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9" name="Google Shape;629;p64"/>
          <p:cNvSpPr txBox="1"/>
          <p:nvPr/>
        </p:nvSpPr>
        <p:spPr>
          <a:xfrm>
            <a:off x="2964150" y="3529350"/>
            <a:ext cx="325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1</a:t>
            </a:r>
            <a:endParaRPr sz="1800">
              <a:solidFill>
                <a:schemeClr val="dk1"/>
              </a:solidFill>
              <a:latin typeface="Roboto"/>
              <a:ea typeface="Roboto"/>
              <a:cs typeface="Roboto"/>
              <a:sym typeface="Roboto"/>
            </a:endParaRPr>
          </a:p>
        </p:txBody>
      </p:sp>
      <p:sp>
        <p:nvSpPr>
          <p:cNvPr id="630" name="Google Shape;630;p64"/>
          <p:cNvSpPr/>
          <p:nvPr/>
        </p:nvSpPr>
        <p:spPr>
          <a:xfrm>
            <a:off x="3415800" y="2975250"/>
            <a:ext cx="578100" cy="554100"/>
          </a:xfrm>
          <a:prstGeom prst="rect">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1" name="Google Shape;631;p64"/>
          <p:cNvSpPr txBox="1"/>
          <p:nvPr/>
        </p:nvSpPr>
        <p:spPr>
          <a:xfrm>
            <a:off x="3542250" y="3529350"/>
            <a:ext cx="325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2</a:t>
            </a:r>
            <a:endParaRPr sz="1800">
              <a:solidFill>
                <a:schemeClr val="dk1"/>
              </a:solidFill>
              <a:latin typeface="Roboto"/>
              <a:ea typeface="Roboto"/>
              <a:cs typeface="Roboto"/>
              <a:sym typeface="Roboto"/>
            </a:endParaRPr>
          </a:p>
        </p:txBody>
      </p:sp>
      <p:sp>
        <p:nvSpPr>
          <p:cNvPr id="632" name="Google Shape;632;p64"/>
          <p:cNvSpPr/>
          <p:nvPr/>
        </p:nvSpPr>
        <p:spPr>
          <a:xfrm>
            <a:off x="3993900" y="2975250"/>
            <a:ext cx="5781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latin typeface="Roboto"/>
                <a:ea typeface="Roboto"/>
                <a:cs typeface="Roboto"/>
                <a:sym typeface="Roboto"/>
              </a:rPr>
              <a:t>🌳</a:t>
            </a:r>
            <a:endParaRPr sz="2300">
              <a:latin typeface="Roboto"/>
              <a:ea typeface="Roboto"/>
              <a:cs typeface="Roboto"/>
              <a:sym typeface="Roboto"/>
            </a:endParaRPr>
          </a:p>
        </p:txBody>
      </p:sp>
      <p:sp>
        <p:nvSpPr>
          <p:cNvPr id="633" name="Google Shape;633;p64"/>
          <p:cNvSpPr txBox="1"/>
          <p:nvPr/>
        </p:nvSpPr>
        <p:spPr>
          <a:xfrm>
            <a:off x="4120350" y="3529350"/>
            <a:ext cx="325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3</a:t>
            </a:r>
            <a:endParaRPr sz="1800">
              <a:solidFill>
                <a:schemeClr val="dk1"/>
              </a:solidFill>
              <a:latin typeface="Roboto"/>
              <a:ea typeface="Roboto"/>
              <a:cs typeface="Roboto"/>
              <a:sym typeface="Roboto"/>
            </a:endParaRPr>
          </a:p>
        </p:txBody>
      </p:sp>
      <p:sp>
        <p:nvSpPr>
          <p:cNvPr id="634" name="Google Shape;634;p64"/>
          <p:cNvSpPr/>
          <p:nvPr/>
        </p:nvSpPr>
        <p:spPr>
          <a:xfrm>
            <a:off x="4572000" y="2975250"/>
            <a:ext cx="578100" cy="554100"/>
          </a:xfrm>
          <a:prstGeom prst="rect">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5" name="Google Shape;635;p64"/>
          <p:cNvSpPr txBox="1"/>
          <p:nvPr/>
        </p:nvSpPr>
        <p:spPr>
          <a:xfrm>
            <a:off x="4698450" y="3529350"/>
            <a:ext cx="325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4</a:t>
            </a:r>
            <a:endParaRPr sz="1800">
              <a:solidFill>
                <a:schemeClr val="dk1"/>
              </a:solidFill>
              <a:latin typeface="Roboto"/>
              <a:ea typeface="Roboto"/>
              <a:cs typeface="Roboto"/>
              <a:sym typeface="Roboto"/>
            </a:endParaRPr>
          </a:p>
        </p:txBody>
      </p:sp>
      <p:sp>
        <p:nvSpPr>
          <p:cNvPr id="636" name="Google Shape;636;p64"/>
          <p:cNvSpPr/>
          <p:nvPr/>
        </p:nvSpPr>
        <p:spPr>
          <a:xfrm>
            <a:off x="5150100" y="2975250"/>
            <a:ext cx="5781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7" name="Google Shape;637;p64"/>
          <p:cNvSpPr txBox="1"/>
          <p:nvPr/>
        </p:nvSpPr>
        <p:spPr>
          <a:xfrm>
            <a:off x="5276550" y="3529350"/>
            <a:ext cx="325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5</a:t>
            </a:r>
            <a:endParaRPr sz="1800">
              <a:solidFill>
                <a:schemeClr val="dk1"/>
              </a:solidFill>
              <a:latin typeface="Roboto"/>
              <a:ea typeface="Roboto"/>
              <a:cs typeface="Roboto"/>
              <a:sym typeface="Roboto"/>
            </a:endParaRPr>
          </a:p>
        </p:txBody>
      </p:sp>
      <p:sp>
        <p:nvSpPr>
          <p:cNvPr id="638" name="Google Shape;638;p64"/>
          <p:cNvSpPr/>
          <p:nvPr/>
        </p:nvSpPr>
        <p:spPr>
          <a:xfrm>
            <a:off x="5728200" y="2975250"/>
            <a:ext cx="5781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9" name="Google Shape;639;p64"/>
          <p:cNvSpPr txBox="1"/>
          <p:nvPr/>
        </p:nvSpPr>
        <p:spPr>
          <a:xfrm>
            <a:off x="5854650" y="3529350"/>
            <a:ext cx="325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6</a:t>
            </a:r>
            <a:endParaRPr sz="1800">
              <a:solidFill>
                <a:schemeClr val="dk1"/>
              </a:solidFill>
              <a:latin typeface="Roboto"/>
              <a:ea typeface="Roboto"/>
              <a:cs typeface="Roboto"/>
              <a:sym typeface="Roboto"/>
            </a:endParaRPr>
          </a:p>
        </p:txBody>
      </p:sp>
      <p:sp>
        <p:nvSpPr>
          <p:cNvPr id="640" name="Google Shape;640;p64"/>
          <p:cNvSpPr txBox="1"/>
          <p:nvPr>
            <p:ph idx="1" type="body"/>
          </p:nvPr>
        </p:nvSpPr>
        <p:spPr>
          <a:xfrm>
            <a:off x="311700" y="4096000"/>
            <a:ext cx="8520600" cy="662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we plant a tree at spot 3, then we can’t plant a tree in spot 2 or 4.</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Planting Trees</a:t>
            </a:r>
            <a:endParaRPr/>
          </a:p>
        </p:txBody>
      </p:sp>
      <p:sp>
        <p:nvSpPr>
          <p:cNvPr id="646" name="Google Shape;646;p65"/>
          <p:cNvSpPr txBox="1"/>
          <p:nvPr>
            <p:ph idx="1" type="body"/>
          </p:nvPr>
        </p:nvSpPr>
        <p:spPr>
          <a:xfrm>
            <a:off x="107050" y="402200"/>
            <a:ext cx="8520600" cy="22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Naive Solution: </a:t>
            </a:r>
            <a:endParaRPr/>
          </a:p>
          <a:p>
            <a:pPr indent="-342900" lvl="0" marL="457200" rtl="0" algn="l">
              <a:spcBef>
                <a:spcPts val="600"/>
              </a:spcBef>
              <a:spcAft>
                <a:spcPts val="0"/>
              </a:spcAft>
              <a:buSzPts val="1800"/>
              <a:buChar char="●"/>
            </a:pPr>
            <a:r>
              <a:rPr lang="en"/>
              <a:t>We can try considering </a:t>
            </a:r>
            <a:r>
              <a:rPr b="1" lang="en"/>
              <a:t>all</a:t>
            </a:r>
            <a:r>
              <a:rPr lang="en"/>
              <a:t> the possible tree arrangements and count the valid arrangements. </a:t>
            </a:r>
            <a:endParaRPr/>
          </a:p>
          <a:p>
            <a:pPr indent="-342900" lvl="0" marL="457200" rtl="0" algn="l">
              <a:spcBef>
                <a:spcPts val="0"/>
              </a:spcBef>
              <a:spcAft>
                <a:spcPts val="0"/>
              </a:spcAft>
              <a:buSzPts val="1800"/>
              <a:buChar char="●"/>
            </a:pPr>
            <a:r>
              <a:rPr lang="en"/>
              <a:t>At each spot, we have two choices: don’t plant or plant. Going through all combinations would lead to 2 * 2 * 2… * 2, where we multiply N times. </a:t>
            </a:r>
            <a:endParaRPr/>
          </a:p>
          <a:p>
            <a:pPr indent="-342900" lvl="0" marL="457200" rtl="0" algn="l">
              <a:spcBef>
                <a:spcPts val="0"/>
              </a:spcBef>
              <a:spcAft>
                <a:spcPts val="0"/>
              </a:spcAft>
              <a:buSzPts val="1800"/>
              <a:buChar char="●"/>
            </a:pPr>
            <a:r>
              <a:rPr lang="en"/>
              <a:t>This leads to a time complexity of Θ(2</a:t>
            </a:r>
            <a:r>
              <a:rPr baseline="30000" lang="en"/>
              <a:t>N</a:t>
            </a:r>
            <a:r>
              <a:rPr lang="en"/>
              <a:t>)</a:t>
            </a:r>
            <a:endParaRPr/>
          </a:p>
        </p:txBody>
      </p:sp>
      <p:pic>
        <p:nvPicPr>
          <p:cNvPr id="647" name="Google Shape;647;p65"/>
          <p:cNvPicPr preferRelativeResize="0"/>
          <p:nvPr/>
        </p:nvPicPr>
        <p:blipFill>
          <a:blip r:embed="rId3">
            <a:alphaModFix/>
          </a:blip>
          <a:stretch>
            <a:fillRect/>
          </a:stretch>
        </p:blipFill>
        <p:spPr>
          <a:xfrm>
            <a:off x="2295850" y="2384175"/>
            <a:ext cx="4142999" cy="2607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Planting Trees</a:t>
            </a:r>
            <a:endParaRPr/>
          </a:p>
        </p:txBody>
      </p:sp>
      <p:sp>
        <p:nvSpPr>
          <p:cNvPr id="653" name="Google Shape;653;p66"/>
          <p:cNvSpPr txBox="1"/>
          <p:nvPr>
            <p:ph idx="1" type="body"/>
          </p:nvPr>
        </p:nvSpPr>
        <p:spPr>
          <a:xfrm>
            <a:off x="107050" y="402200"/>
            <a:ext cx="8520600" cy="395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Instead, let’s break it down into smaller subproblems. Let’s define f as a function that counts the number of tree </a:t>
            </a:r>
            <a:r>
              <a:rPr lang="en"/>
              <a:t>arrangements</a:t>
            </a:r>
            <a:r>
              <a:rPr lang="en"/>
              <a:t> based on the input size of N, </a:t>
            </a:r>
            <a:r>
              <a:rPr lang="en"/>
              <a:t>representing</a:t>
            </a:r>
            <a:r>
              <a:rPr lang="en"/>
              <a:t> the number of spots we have in the garden.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Planting at spot 0 would have 1 valid way</a:t>
            </a:r>
            <a:r>
              <a:rPr lang="en"/>
              <a:t> (no trees planted). So f(0) = 1.</a:t>
            </a:r>
            <a:endParaRPr/>
          </a:p>
          <a:p>
            <a:pPr indent="0" lvl="0" marL="0" rtl="0" algn="l">
              <a:spcBef>
                <a:spcPts val="600"/>
              </a:spcBef>
              <a:spcAft>
                <a:spcPts val="0"/>
              </a:spcAft>
              <a:buNone/>
            </a:pPr>
            <a:r>
              <a:rPr lang="en"/>
              <a:t>How many valid ways are there for f(1)?</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Planting Trees</a:t>
            </a:r>
            <a:endParaRPr/>
          </a:p>
        </p:txBody>
      </p:sp>
      <p:sp>
        <p:nvSpPr>
          <p:cNvPr id="659" name="Google Shape;659;p67"/>
          <p:cNvSpPr txBox="1"/>
          <p:nvPr>
            <p:ph idx="1" type="body"/>
          </p:nvPr>
        </p:nvSpPr>
        <p:spPr>
          <a:xfrm>
            <a:off x="107050" y="402200"/>
            <a:ext cx="8520600" cy="4332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Instead, let’s break it down into smaller subproblems. Let’s define f as a function that counts the number of tree arrangements based on the input size of N, representing the number of spots we have in the garden.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Planting at spot 0 would have 1 valid way</a:t>
            </a:r>
            <a:r>
              <a:rPr lang="en"/>
              <a:t> (no trees planted). So f(0) = 1.</a:t>
            </a:r>
            <a:endParaRPr/>
          </a:p>
          <a:p>
            <a:pPr indent="0" lvl="0" marL="0" rtl="0" algn="l">
              <a:spcBef>
                <a:spcPts val="600"/>
              </a:spcBef>
              <a:spcAft>
                <a:spcPts val="0"/>
              </a:spcAft>
              <a:buNone/>
            </a:pPr>
            <a:r>
              <a:rPr lang="en"/>
              <a:t>How many valid ways are there for f(1)? </a:t>
            </a:r>
            <a:r>
              <a:rPr b="1" lang="en"/>
              <a:t>f(1) = </a:t>
            </a:r>
            <a:r>
              <a:rPr b="1" lang="en"/>
              <a:t>2</a:t>
            </a:r>
            <a:endParaRPr b="1"/>
          </a:p>
          <a:p>
            <a:pPr indent="0" lvl="0" marL="0" rtl="0" algn="l">
              <a:spcBef>
                <a:spcPts val="600"/>
              </a:spcBef>
              <a:spcAft>
                <a:spcPts val="0"/>
              </a:spcAft>
              <a:buNone/>
            </a:pPr>
            <a:r>
              <a:t/>
            </a:r>
            <a:endParaRPr b="1"/>
          </a:p>
          <a:p>
            <a:pPr indent="0" lvl="0" marL="0" rtl="0" algn="l">
              <a:spcBef>
                <a:spcPts val="600"/>
              </a:spcBef>
              <a:spcAft>
                <a:spcPts val="0"/>
              </a:spcAft>
              <a:buNone/>
            </a:pPr>
            <a:r>
              <a:rPr lang="en"/>
              <a:t>So, if we decide to plant at spot i using spots from 1 to i, we can break it down into two scenarios: </a:t>
            </a:r>
            <a:endParaRPr/>
          </a:p>
          <a:p>
            <a:pPr indent="-342900" lvl="0" marL="457200" rtl="0" algn="l">
              <a:spcBef>
                <a:spcPts val="600"/>
              </a:spcBef>
              <a:spcAft>
                <a:spcPts val="0"/>
              </a:spcAft>
              <a:buSzPts val="1800"/>
              <a:buChar char="●"/>
            </a:pPr>
            <a:r>
              <a:rPr lang="en"/>
              <a:t>If we plant at spot i, then we have f(i-2) options remaining </a:t>
            </a:r>
            <a:endParaRPr/>
          </a:p>
          <a:p>
            <a:pPr indent="-342900" lvl="0" marL="457200" rtl="0" algn="l">
              <a:spcBef>
                <a:spcPts val="0"/>
              </a:spcBef>
              <a:spcAft>
                <a:spcPts val="0"/>
              </a:spcAft>
              <a:buSzPts val="1800"/>
              <a:buChar char="●"/>
            </a:pPr>
            <a:r>
              <a:rPr lang="en"/>
              <a:t>If we don’t plant at spot i, then we have f(i-1) options remaining </a:t>
            </a:r>
            <a:endParaRPr/>
          </a:p>
          <a:p>
            <a:pPr indent="0" lvl="0" marL="0" rtl="0" algn="l">
              <a:spcBef>
                <a:spcPts val="600"/>
              </a:spcBef>
              <a:spcAft>
                <a:spcPts val="0"/>
              </a:spcAft>
              <a:buNone/>
            </a:pPr>
            <a:r>
              <a:rPr b="1" lang="en"/>
              <a:t>Since we want to count the number of total number of valid tree arrangements, our recurrence relation can be defined as f(i) = f(i-1) + f(i-2)</a:t>
            </a:r>
            <a:endParaRPr b="1"/>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Fibonacci Sequence</a:t>
            </a:r>
            <a:endParaRPr/>
          </a:p>
        </p:txBody>
      </p:sp>
      <p:sp>
        <p:nvSpPr>
          <p:cNvPr id="665" name="Google Shape;665;p6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Fibonacci sequence is a sequence where each number is the sum of the two preceding ones. For this example, let’s assume that the sequence starts from 0 and 1.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So, the Fibonacci sequence is as below: </a:t>
            </a:r>
            <a:endParaRPr/>
          </a:p>
          <a:p>
            <a:pPr indent="0" lvl="0" marL="0" rtl="0" algn="l">
              <a:spcBef>
                <a:spcPts val="600"/>
              </a:spcBef>
              <a:spcAft>
                <a:spcPts val="0"/>
              </a:spcAft>
              <a:buNone/>
            </a:pPr>
            <a:r>
              <a:t/>
            </a:r>
            <a:endParaRPr/>
          </a:p>
          <a:p>
            <a:pPr indent="0" lvl="0" marL="0" rtl="0" algn="ctr">
              <a:spcBef>
                <a:spcPts val="600"/>
              </a:spcBef>
              <a:spcAft>
                <a:spcPts val="0"/>
              </a:spcAft>
              <a:buNone/>
            </a:pPr>
            <a:r>
              <a:rPr lang="en"/>
              <a:t>0, 1, 1, 2, 3, 5, 8, 13, 21, 34, 55, 89, 144…</a:t>
            </a:r>
            <a:endParaRPr/>
          </a:p>
          <a:p>
            <a:pPr indent="0" lvl="0" marL="0" rtl="0" algn="ctr">
              <a:spcBef>
                <a:spcPts val="600"/>
              </a:spcBef>
              <a:spcAft>
                <a:spcPts val="0"/>
              </a:spcAft>
              <a:buNone/>
            </a:pPr>
            <a:r>
              <a:t/>
            </a:r>
            <a:endParaRPr/>
          </a:p>
          <a:p>
            <a:pPr indent="0" lvl="0" marL="0" rtl="0" algn="l">
              <a:spcBef>
                <a:spcPts val="600"/>
              </a:spcBef>
              <a:spcAft>
                <a:spcPts val="0"/>
              </a:spcAft>
              <a:buNone/>
            </a:pPr>
            <a:r>
              <a:rPr lang="en"/>
              <a:t>Notice that the nth value is based on the sum of the two preceding values, except for the 0th and 1st value in the sequence.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9"/>
          <p:cNvSpPr txBox="1"/>
          <p:nvPr>
            <p:ph idx="1" type="body"/>
          </p:nvPr>
        </p:nvSpPr>
        <p:spPr>
          <a:xfrm>
            <a:off x="107050" y="402200"/>
            <a:ext cx="8520600" cy="400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Taking this sequence: </a:t>
            </a:r>
            <a:endParaRPr/>
          </a:p>
          <a:p>
            <a:pPr indent="0" lvl="0" marL="0" rtl="0" algn="ctr">
              <a:spcBef>
                <a:spcPts val="600"/>
              </a:spcBef>
              <a:spcAft>
                <a:spcPts val="0"/>
              </a:spcAft>
              <a:buNone/>
            </a:pPr>
            <a:r>
              <a:rPr lang="en"/>
              <a:t>0, 1, 1, 2, 3, 5, 8, 13, 21, 34, 55, 89, 144…</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 can define a relationship like below for the nth term of the Fibonacci sequence: </a:t>
            </a:r>
            <a:endParaRPr/>
          </a:p>
          <a:p>
            <a:pPr indent="0" lvl="0" marL="0" rtl="0" algn="l">
              <a:spcBef>
                <a:spcPts val="600"/>
              </a:spcBef>
              <a:spcAft>
                <a:spcPts val="0"/>
              </a:spcAft>
              <a:buNone/>
            </a:pPr>
            <a:r>
              <a:rPr b="1" lang="en"/>
              <a:t>Base Case: </a:t>
            </a:r>
            <a:endParaRPr/>
          </a:p>
        </p:txBody>
      </p:sp>
      <p:sp>
        <p:nvSpPr>
          <p:cNvPr id="671" name="Google Shape;671;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0"/>
          <p:cNvSpPr txBox="1"/>
          <p:nvPr>
            <p:ph idx="1" type="body"/>
          </p:nvPr>
        </p:nvSpPr>
        <p:spPr>
          <a:xfrm>
            <a:off x="107050" y="402200"/>
            <a:ext cx="8520600" cy="400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Taking this sequence: </a:t>
            </a:r>
            <a:endParaRPr/>
          </a:p>
          <a:p>
            <a:pPr indent="0" lvl="0" marL="0" rtl="0" algn="ctr">
              <a:spcBef>
                <a:spcPts val="600"/>
              </a:spcBef>
              <a:spcAft>
                <a:spcPts val="0"/>
              </a:spcAft>
              <a:buNone/>
            </a:pPr>
            <a:r>
              <a:rPr lang="en"/>
              <a:t>0, 1, 1, 2, 3, 5, 8, 13, 21, 34, 55, 89, 144…</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 can define a relationship like below for the nth term of the Fibonacci sequence: </a:t>
            </a:r>
            <a:endParaRPr/>
          </a:p>
          <a:p>
            <a:pPr indent="0" lvl="0" marL="0" rtl="0" algn="l">
              <a:spcBef>
                <a:spcPts val="600"/>
              </a:spcBef>
              <a:spcAft>
                <a:spcPts val="0"/>
              </a:spcAft>
              <a:buClr>
                <a:schemeClr val="dk1"/>
              </a:buClr>
              <a:buSzPts val="1100"/>
              <a:buFont typeface="Arial"/>
              <a:buNone/>
            </a:pPr>
            <a:r>
              <a:rPr b="1" lang="en"/>
              <a:t>Base Case: </a:t>
            </a:r>
            <a:endParaRPr b="1"/>
          </a:p>
          <a:p>
            <a:pPr indent="0" lvl="0" marL="0" rtl="0" algn="l">
              <a:spcBef>
                <a:spcPts val="600"/>
              </a:spcBef>
              <a:spcAft>
                <a:spcPts val="0"/>
              </a:spcAft>
              <a:buNone/>
            </a:pPr>
            <a:r>
              <a:rPr lang="en"/>
              <a:t>fib(0) = 0; fib(1) = 1 </a:t>
            </a:r>
            <a:endParaRPr/>
          </a:p>
          <a:p>
            <a:pPr indent="0" lvl="0" marL="0" rtl="0" algn="l">
              <a:spcBef>
                <a:spcPts val="600"/>
              </a:spcBef>
              <a:spcAft>
                <a:spcPts val="0"/>
              </a:spcAft>
              <a:buNone/>
            </a:pPr>
            <a:r>
              <a:rPr lang="en"/>
              <a:t>// The base case for the earlier problem starts 2 terms later in the Fibonacci sequence, so f(n) == fib(n+2). </a:t>
            </a:r>
            <a:endParaRPr/>
          </a:p>
          <a:p>
            <a:pPr indent="0" lvl="0" marL="0" rtl="0" algn="l">
              <a:spcBef>
                <a:spcPts val="600"/>
              </a:spcBef>
              <a:spcAft>
                <a:spcPts val="0"/>
              </a:spcAft>
              <a:buClr>
                <a:schemeClr val="dk1"/>
              </a:buClr>
              <a:buSzPts val="1100"/>
              <a:buFont typeface="Arial"/>
              <a:buNone/>
            </a:pPr>
            <a:r>
              <a:rPr b="1" lang="en"/>
              <a:t>Recurrence Relation:</a:t>
            </a:r>
            <a:endParaRPr b="1"/>
          </a:p>
        </p:txBody>
      </p:sp>
      <p:sp>
        <p:nvSpPr>
          <p:cNvPr id="677" name="Google Shape;677;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1"/>
          <p:cNvSpPr txBox="1"/>
          <p:nvPr>
            <p:ph idx="1" type="body"/>
          </p:nvPr>
        </p:nvSpPr>
        <p:spPr>
          <a:xfrm>
            <a:off x="107050" y="402200"/>
            <a:ext cx="8520600" cy="400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Taking this sequence: </a:t>
            </a:r>
            <a:endParaRPr/>
          </a:p>
          <a:p>
            <a:pPr indent="0" lvl="0" marL="0" rtl="0" algn="ctr">
              <a:spcBef>
                <a:spcPts val="600"/>
              </a:spcBef>
              <a:spcAft>
                <a:spcPts val="0"/>
              </a:spcAft>
              <a:buNone/>
            </a:pPr>
            <a:r>
              <a:rPr lang="en"/>
              <a:t>0, 1, 1, 2, 3, 5, 8, 13, 21, 34, 55, 89, 144…</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 can define a relationship like below for the nth term of the Fibonacci sequence: </a:t>
            </a:r>
            <a:endParaRPr/>
          </a:p>
          <a:p>
            <a:pPr indent="0" lvl="0" marL="0" rtl="0" algn="l">
              <a:spcBef>
                <a:spcPts val="600"/>
              </a:spcBef>
              <a:spcAft>
                <a:spcPts val="0"/>
              </a:spcAft>
              <a:buNone/>
            </a:pPr>
            <a:r>
              <a:rPr b="1" lang="en"/>
              <a:t>Base Case: </a:t>
            </a:r>
            <a:endParaRPr b="1"/>
          </a:p>
          <a:p>
            <a:pPr indent="0" lvl="0" marL="0" rtl="0" algn="l">
              <a:spcBef>
                <a:spcPts val="600"/>
              </a:spcBef>
              <a:spcAft>
                <a:spcPts val="0"/>
              </a:spcAft>
              <a:buNone/>
            </a:pPr>
            <a:r>
              <a:rPr lang="en"/>
              <a:t>fib(0) = 0; fib(1) = 1 </a:t>
            </a:r>
            <a:endParaRPr/>
          </a:p>
          <a:p>
            <a:pPr indent="0" lvl="0" marL="0" rtl="0" algn="l">
              <a:spcBef>
                <a:spcPts val="600"/>
              </a:spcBef>
              <a:spcAft>
                <a:spcPts val="0"/>
              </a:spcAft>
              <a:buNone/>
            </a:pPr>
            <a:r>
              <a:rPr lang="en"/>
              <a:t>// The base case for the earlier problem starts 2 terms later in the Fibonacci sequence, so f(n) == fib(n+2).</a:t>
            </a:r>
            <a:endParaRPr/>
          </a:p>
          <a:p>
            <a:pPr indent="0" lvl="0" marL="0" rtl="0" algn="l">
              <a:spcBef>
                <a:spcPts val="600"/>
              </a:spcBef>
              <a:spcAft>
                <a:spcPts val="0"/>
              </a:spcAft>
              <a:buNone/>
            </a:pPr>
            <a:r>
              <a:rPr b="1" lang="en"/>
              <a:t>Recurrence Relation:</a:t>
            </a:r>
            <a:endParaRPr b="1"/>
          </a:p>
          <a:p>
            <a:pPr indent="0" lvl="0" marL="0" rtl="0" algn="l">
              <a:spcBef>
                <a:spcPts val="600"/>
              </a:spcBef>
              <a:spcAft>
                <a:spcPts val="0"/>
              </a:spcAft>
              <a:buNone/>
            </a:pPr>
            <a:r>
              <a:rPr lang="en"/>
              <a:t>fib(N) = fib(N - 1) + fib(N - 2)</a:t>
            </a:r>
            <a:endParaRPr/>
          </a:p>
          <a:p>
            <a:pPr indent="0" lvl="0" marL="0" rtl="0" algn="l">
              <a:spcBef>
                <a:spcPts val="600"/>
              </a:spcBef>
              <a:spcAft>
                <a:spcPts val="0"/>
              </a:spcAft>
              <a:buNone/>
            </a:pPr>
            <a:r>
              <a:rPr lang="en"/>
              <a:t>// The</a:t>
            </a:r>
            <a:r>
              <a:rPr lang="en"/>
              <a:t> tree counting then </a:t>
            </a:r>
            <a:r>
              <a:rPr b="1" lang="en"/>
              <a:t>reduces</a:t>
            </a:r>
            <a:r>
              <a:rPr lang="en"/>
              <a:t> to Fibonacci.</a:t>
            </a:r>
            <a:endParaRPr/>
          </a:p>
          <a:p>
            <a:pPr indent="0" lvl="0" marL="0" rtl="0" algn="l">
              <a:spcBef>
                <a:spcPts val="600"/>
              </a:spcBef>
              <a:spcAft>
                <a:spcPts val="0"/>
              </a:spcAft>
              <a:buNone/>
            </a:pPr>
            <a:r>
              <a:t/>
            </a:r>
            <a:endParaRPr/>
          </a:p>
        </p:txBody>
      </p:sp>
      <p:sp>
        <p:nvSpPr>
          <p:cNvPr id="683" name="Google Shape;683;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we want to define a function that finds the nth term of the Fibonacci sequence, how would we start?</a:t>
            </a:r>
            <a:endParaRPr/>
          </a:p>
        </p:txBody>
      </p:sp>
      <p:sp>
        <p:nvSpPr>
          <p:cNvPr id="689" name="Google Shape;689;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might start out with a (naive) recursive approach, as the recurrence relation we defined earlier lends itself to this approach: </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b="1" lang="en"/>
              <a:t>Base Case: </a:t>
            </a:r>
            <a:endParaRPr b="1"/>
          </a:p>
          <a:p>
            <a:pPr indent="0" lvl="0" marL="0" rtl="0" algn="l">
              <a:spcBef>
                <a:spcPts val="600"/>
              </a:spcBef>
              <a:spcAft>
                <a:spcPts val="0"/>
              </a:spcAft>
              <a:buClr>
                <a:schemeClr val="dk1"/>
              </a:buClr>
              <a:buSzPts val="1100"/>
              <a:buFont typeface="Arial"/>
              <a:buNone/>
            </a:pPr>
            <a:r>
              <a:rPr lang="en"/>
              <a:t>fib(0) = 0; fib(1) = 1 </a:t>
            </a:r>
            <a:endParaRPr/>
          </a:p>
          <a:p>
            <a:pPr indent="0" lvl="0" marL="0" rtl="0" algn="l">
              <a:spcBef>
                <a:spcPts val="600"/>
              </a:spcBef>
              <a:spcAft>
                <a:spcPts val="0"/>
              </a:spcAft>
              <a:buClr>
                <a:schemeClr val="dk1"/>
              </a:buClr>
              <a:buSzPts val="1100"/>
              <a:buFont typeface="Arial"/>
              <a:buNone/>
            </a:pPr>
            <a:r>
              <a:rPr b="1" lang="en"/>
              <a:t>Recurrence Relation:</a:t>
            </a:r>
            <a:endParaRPr b="1"/>
          </a:p>
          <a:p>
            <a:pPr indent="0" lvl="0" marL="0" rtl="0" algn="l">
              <a:spcBef>
                <a:spcPts val="600"/>
              </a:spcBef>
              <a:spcAft>
                <a:spcPts val="0"/>
              </a:spcAft>
              <a:buClr>
                <a:schemeClr val="dk1"/>
              </a:buClr>
              <a:buSzPts val="1100"/>
              <a:buFont typeface="Arial"/>
              <a:buNone/>
            </a:pPr>
            <a:r>
              <a:rPr lang="en"/>
              <a:t>fib(N) = fib(N - 1) + fib(N - 2)</a:t>
            </a:r>
            <a:endParaRPr b="1"/>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695" name="Google Shape;695;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
        <p:nvSpPr>
          <p:cNvPr id="701" name="Google Shape;701;p74"/>
          <p:cNvSpPr txBox="1"/>
          <p:nvPr>
            <p:ph idx="1" type="body"/>
          </p:nvPr>
        </p:nvSpPr>
        <p:spPr>
          <a:xfrm>
            <a:off x="1538700" y="826825"/>
            <a:ext cx="6066600" cy="238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latin typeface="JetBrains Mono"/>
                <a:ea typeface="JetBrains Mono"/>
                <a:cs typeface="JetBrains Mono"/>
                <a:sym typeface="JetBrains Mono"/>
              </a:rPr>
              <a:t>    public int fib(int N)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if (N </a:t>
            </a:r>
            <a:r>
              <a:rPr lang="en"/>
              <a:t>&lt;=</a:t>
            </a:r>
            <a:r>
              <a:rPr lang="en">
                <a:latin typeface="JetBrains Mono"/>
                <a:ea typeface="JetBrains Mono"/>
                <a:cs typeface="JetBrains Mono"/>
                <a:sym typeface="JetBrains Mono"/>
              </a:rPr>
              <a:t> 1)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return N;</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return fib(N - 1) + fib(N - 2);</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600"/>
              </a:spcBef>
              <a:spcAft>
                <a:spcPts val="0"/>
              </a:spcAft>
              <a:buNone/>
            </a:pPr>
            <a:r>
              <a:t/>
            </a:r>
            <a:endParaRPr>
              <a:latin typeface="JetBrains Mono"/>
              <a:ea typeface="JetBrains Mono"/>
              <a:cs typeface="JetBrains Mono"/>
              <a:sym typeface="JetBrains Mono"/>
            </a:endParaRPr>
          </a:p>
        </p:txBody>
      </p:sp>
      <p:sp>
        <p:nvSpPr>
          <p:cNvPr id="702" name="Google Shape;702;p74"/>
          <p:cNvSpPr txBox="1"/>
          <p:nvPr>
            <p:ph idx="1" type="body"/>
          </p:nvPr>
        </p:nvSpPr>
        <p:spPr>
          <a:xfrm>
            <a:off x="311700" y="3210625"/>
            <a:ext cx="8520600" cy="6870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(Naive) Recursive Approach</a:t>
            </a:r>
            <a:endParaRPr/>
          </a:p>
          <a:p>
            <a:pPr indent="0" lvl="0" marL="0" rtl="0" algn="ctr">
              <a:spcBef>
                <a:spcPts val="60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pic>
        <p:nvPicPr>
          <p:cNvPr id="708" name="Google Shape;708;p75"/>
          <p:cNvPicPr preferRelativeResize="0"/>
          <p:nvPr/>
        </p:nvPicPr>
        <p:blipFill>
          <a:blip r:embed="rId3">
            <a:alphaModFix/>
          </a:blip>
          <a:stretch>
            <a:fillRect/>
          </a:stretch>
        </p:blipFill>
        <p:spPr>
          <a:xfrm>
            <a:off x="2034225" y="753788"/>
            <a:ext cx="4452150" cy="36359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we solve it recursively, </a:t>
            </a:r>
            <a:r>
              <a:rPr lang="en"/>
              <a:t>notice that we don’t save any of the intermediate values; that is we need to re-compute subproblems each time. This results in the following time and space complexity: </a:t>
            </a:r>
            <a:endParaRPr/>
          </a:p>
          <a:p>
            <a:pPr indent="0" lvl="0" marL="0" rtl="0" algn="l">
              <a:spcBef>
                <a:spcPts val="600"/>
              </a:spcBef>
              <a:spcAft>
                <a:spcPts val="0"/>
              </a:spcAft>
              <a:buNone/>
            </a:pPr>
            <a:r>
              <a:t/>
            </a:r>
            <a:endParaRPr/>
          </a:p>
        </p:txBody>
      </p:sp>
      <p:sp>
        <p:nvSpPr>
          <p:cNvPr id="714" name="Google Shape;714;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we solve it recursively, notice that we don’t save any of the intermediate values; that is we need to re-compute subproblems each time. This results in the following time and space complexity: </a:t>
            </a:r>
            <a:endParaRPr/>
          </a:p>
          <a:p>
            <a:pPr indent="-342900" lvl="0" marL="457200" rtl="0" algn="l">
              <a:spcBef>
                <a:spcPts val="600"/>
              </a:spcBef>
              <a:spcAft>
                <a:spcPts val="0"/>
              </a:spcAft>
              <a:buSzPts val="1800"/>
              <a:buChar char="●"/>
            </a:pPr>
            <a:r>
              <a:rPr lang="en"/>
              <a:t>Time Complexity: Ω(2</a:t>
            </a:r>
            <a:r>
              <a:rPr baseline="30000" lang="en"/>
              <a:t>N/2</a:t>
            </a:r>
            <a:r>
              <a:rPr lang="en"/>
              <a:t>)</a:t>
            </a:r>
            <a:endParaRPr/>
          </a:p>
          <a:p>
            <a:pPr indent="-330200" lvl="1" marL="914400" rtl="0" algn="l">
              <a:spcBef>
                <a:spcPts val="0"/>
              </a:spcBef>
              <a:spcAft>
                <a:spcPts val="0"/>
              </a:spcAft>
              <a:buSzPts val="1600"/>
              <a:buChar char="○"/>
            </a:pPr>
            <a:r>
              <a:rPr lang="en" sz="1600"/>
              <a:t>In reality Θ(</a:t>
            </a:r>
            <a:r>
              <a:rPr lang="en" sz="1600"/>
              <a:t>φ</a:t>
            </a:r>
            <a:r>
              <a:rPr baseline="30000" lang="en" sz="1600"/>
              <a:t>N</a:t>
            </a:r>
            <a:r>
              <a:rPr lang="en" sz="1600"/>
              <a:t>), where φ = (sqrt(5)+1)/2)~1.618</a:t>
            </a:r>
            <a:endParaRPr sz="1600"/>
          </a:p>
          <a:p>
            <a:pPr indent="-342900" lvl="0" marL="457200" rtl="0" algn="l">
              <a:spcBef>
                <a:spcPts val="0"/>
              </a:spcBef>
              <a:spcAft>
                <a:spcPts val="0"/>
              </a:spcAft>
              <a:buSzPts val="1800"/>
              <a:buChar char="●"/>
            </a:pPr>
            <a:r>
              <a:rPr lang="en"/>
              <a:t>Space Complexity: Θ(N) </a:t>
            </a:r>
            <a:endParaRPr/>
          </a:p>
          <a:p>
            <a:pPr indent="-342900" lvl="1" marL="914400" rtl="0" algn="l">
              <a:spcBef>
                <a:spcPts val="0"/>
              </a:spcBef>
              <a:spcAft>
                <a:spcPts val="0"/>
              </a:spcAft>
              <a:buSzPts val="1800"/>
              <a:buChar char="○"/>
            </a:pPr>
            <a:r>
              <a:rPr lang="en"/>
              <a:t>This is to account for the maximum size of the stack (i.e. amount of memory needed for recursive calls).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How can we optimize this more?</a:t>
            </a:r>
            <a:endParaRPr/>
          </a:p>
        </p:txBody>
      </p:sp>
      <p:sp>
        <p:nvSpPr>
          <p:cNvPr id="720" name="Google Shape;720;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7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take this further with dynamic programming. Let’s also add a few more details: </a:t>
            </a:r>
            <a:endParaRPr/>
          </a:p>
          <a:p>
            <a:pPr indent="-342900" lvl="0" marL="457200" rtl="0" algn="l">
              <a:spcBef>
                <a:spcPts val="600"/>
              </a:spcBef>
              <a:spcAft>
                <a:spcPts val="0"/>
              </a:spcAft>
              <a:buSzPts val="1800"/>
              <a:buChar char="●"/>
            </a:pPr>
            <a:r>
              <a:rPr lang="en"/>
              <a:t>To reiterate, a recursive function is recursive if it calls itself during execution. </a:t>
            </a:r>
            <a:endParaRPr/>
          </a:p>
          <a:p>
            <a:pPr indent="-342900" lvl="0" marL="457200" rtl="0" algn="l">
              <a:spcBef>
                <a:spcPts val="0"/>
              </a:spcBef>
              <a:spcAft>
                <a:spcPts val="0"/>
              </a:spcAft>
              <a:buSzPts val="1800"/>
              <a:buChar char="●"/>
            </a:pPr>
            <a:r>
              <a:rPr lang="en"/>
              <a:t>Dynamic programming can be implemented with or without recursion, but at its core, DP takes </a:t>
            </a:r>
            <a:r>
              <a:rPr lang="en"/>
              <a:t>advantage</a:t>
            </a:r>
            <a:r>
              <a:rPr lang="en"/>
              <a:t> of </a:t>
            </a:r>
            <a:r>
              <a:rPr b="1" lang="en"/>
              <a:t>using those subproblems to solve the larger one.</a:t>
            </a:r>
            <a:r>
              <a:rPr lang="en"/>
              <a:t> More explicitly, we should try to reuse those solutions to the subproblems to solve for the problem as a whole.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726" name="Google Shape;726;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
        <p:nvSpPr>
          <p:cNvPr id="732" name="Google Shape;732;p79"/>
          <p:cNvSpPr txBox="1"/>
          <p:nvPr>
            <p:ph idx="1" type="body"/>
          </p:nvPr>
        </p:nvSpPr>
        <p:spPr>
          <a:xfrm>
            <a:off x="299975" y="499275"/>
            <a:ext cx="8663100" cy="4433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latin typeface="JetBrains Mono"/>
                <a:ea typeface="JetBrains Mono"/>
                <a:cs typeface="JetBrains Mono"/>
                <a:sym typeface="JetBrains Mono"/>
              </a:rPr>
              <a:t>    public int fib(int N)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if (N </a:t>
            </a:r>
            <a:r>
              <a:rPr lang="en"/>
              <a:t>&lt;=</a:t>
            </a:r>
            <a:r>
              <a:rPr lang="en">
                <a:latin typeface="JetBrains Mono"/>
                <a:ea typeface="JetBrains Mono"/>
                <a:cs typeface="JetBrains Mono"/>
                <a:sym typeface="JetBrains Mono"/>
              </a:rPr>
              <a:t> 1)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return N;</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 track solutions to subproblems</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int[] dp = new int[N + 1];</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r>
              <a:rPr lang="en">
                <a:latin typeface="JetBrains Mono"/>
                <a:ea typeface="JetBrains Mono"/>
                <a:cs typeface="JetBrains Mono"/>
                <a:sym typeface="JetBrains Mono"/>
              </a:rPr>
              <a:t>dp</a:t>
            </a:r>
            <a:r>
              <a:rPr lang="en">
                <a:latin typeface="JetBrains Mono"/>
                <a:ea typeface="JetBrains Mono"/>
                <a:cs typeface="JetBrains Mono"/>
                <a:sym typeface="JetBrains Mono"/>
              </a:rPr>
              <a:t>[1] = 1;</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for (int i = 2; i </a:t>
            </a:r>
            <a:r>
              <a:rPr lang="en"/>
              <a:t>&lt;=</a:t>
            </a:r>
            <a:r>
              <a:rPr lang="en">
                <a:latin typeface="JetBrains Mono"/>
                <a:ea typeface="JetBrains Mono"/>
                <a:cs typeface="JetBrains Mono"/>
                <a:sym typeface="JetBrains Mono"/>
              </a:rPr>
              <a:t> N; i++)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r>
              <a:rPr lang="en">
                <a:latin typeface="JetBrains Mono"/>
                <a:ea typeface="JetBrains Mono"/>
                <a:cs typeface="JetBrains Mono"/>
                <a:sym typeface="JetBrains Mono"/>
              </a:rPr>
              <a:t>dp</a:t>
            </a:r>
            <a:r>
              <a:rPr lang="en">
                <a:latin typeface="JetBrains Mono"/>
                <a:ea typeface="JetBrains Mono"/>
                <a:cs typeface="JetBrains Mono"/>
                <a:sym typeface="JetBrains Mono"/>
              </a:rPr>
              <a:t>[i] = </a:t>
            </a:r>
            <a:r>
              <a:rPr lang="en">
                <a:latin typeface="JetBrains Mono"/>
                <a:ea typeface="JetBrains Mono"/>
                <a:cs typeface="JetBrains Mono"/>
                <a:sym typeface="JetBrains Mono"/>
              </a:rPr>
              <a:t>dp</a:t>
            </a:r>
            <a:r>
              <a:rPr lang="en">
                <a:latin typeface="JetBrains Mono"/>
                <a:ea typeface="JetBrains Mono"/>
                <a:cs typeface="JetBrains Mono"/>
                <a:sym typeface="JetBrains Mono"/>
              </a:rPr>
              <a:t>[i - 1] + </a:t>
            </a:r>
            <a:r>
              <a:rPr lang="en">
                <a:latin typeface="JetBrains Mono"/>
                <a:ea typeface="JetBrains Mono"/>
                <a:cs typeface="JetBrains Mono"/>
                <a:sym typeface="JetBrains Mono"/>
              </a:rPr>
              <a:t>dp</a:t>
            </a:r>
            <a:r>
              <a:rPr lang="en">
                <a:latin typeface="JetBrains Mono"/>
                <a:ea typeface="JetBrains Mono"/>
                <a:cs typeface="JetBrains Mono"/>
                <a:sym typeface="JetBrains Mono"/>
              </a:rPr>
              <a:t>[i - 2];</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return </a:t>
            </a:r>
            <a:r>
              <a:rPr lang="en">
                <a:latin typeface="JetBrains Mono"/>
                <a:ea typeface="JetBrains Mono"/>
                <a:cs typeface="JetBrains Mono"/>
                <a:sym typeface="JetBrains Mono"/>
              </a:rPr>
              <a:t>dp</a:t>
            </a:r>
            <a:r>
              <a:rPr lang="en">
                <a:latin typeface="JetBrains Mono"/>
                <a:ea typeface="JetBrains Mono"/>
                <a:cs typeface="JetBrains Mono"/>
                <a:sym typeface="JetBrains Mono"/>
              </a:rPr>
              <a:t>[N];</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600"/>
              </a:spcBef>
              <a:spcAft>
                <a:spcPts val="0"/>
              </a:spcAft>
              <a:buNone/>
            </a:pPr>
            <a:r>
              <a:t/>
            </a:r>
            <a:endParaRPr>
              <a:latin typeface="JetBrains Mono"/>
              <a:ea typeface="JetBrains Mono"/>
              <a:cs typeface="JetBrains Mono"/>
              <a:sym typeface="JetBrains Mono"/>
            </a:endParaRPr>
          </a:p>
          <a:p>
            <a:pPr indent="0" lvl="0" marL="0" rtl="0" algn="l">
              <a:spcBef>
                <a:spcPts val="600"/>
              </a:spcBef>
              <a:spcAft>
                <a:spcPts val="0"/>
              </a:spcAft>
              <a:buNone/>
            </a:pPr>
            <a:r>
              <a:t/>
            </a:r>
            <a:endParaRPr>
              <a:latin typeface="JetBrains Mono"/>
              <a:ea typeface="JetBrains Mono"/>
              <a:cs typeface="JetBrains Mono"/>
              <a:sym typeface="JetBrains Mono"/>
            </a:endParaRPr>
          </a:p>
        </p:txBody>
      </p:sp>
      <p:sp>
        <p:nvSpPr>
          <p:cNvPr id="733" name="Google Shape;733;p79"/>
          <p:cNvSpPr txBox="1"/>
          <p:nvPr>
            <p:ph idx="1" type="body"/>
          </p:nvPr>
        </p:nvSpPr>
        <p:spPr>
          <a:xfrm>
            <a:off x="4693650" y="4089375"/>
            <a:ext cx="4105500" cy="843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Add a little spice called Dynamic Programming</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8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With dynamic programming, we optimize the problem a little more so that we save the results from smaller </a:t>
            </a:r>
            <a:r>
              <a:rPr lang="en"/>
              <a:t>subproblems</a:t>
            </a:r>
            <a:r>
              <a:rPr lang="en"/>
              <a:t> and use it to solve for larger ones (until the entire problem is solved). This results in the following time complexity and space complexity: </a:t>
            </a:r>
            <a:endParaRPr/>
          </a:p>
          <a:p>
            <a:pPr indent="-342900" lvl="0" marL="457200" rtl="0" algn="l">
              <a:spcBef>
                <a:spcPts val="600"/>
              </a:spcBef>
              <a:spcAft>
                <a:spcPts val="0"/>
              </a:spcAft>
              <a:buSzPts val="1800"/>
              <a:buChar char="●"/>
            </a:pPr>
            <a:r>
              <a:rPr lang="en"/>
              <a:t>Time Complexity: Θ(N)</a:t>
            </a:r>
            <a:endParaRPr/>
          </a:p>
          <a:p>
            <a:pPr indent="-342900" lvl="0" marL="457200" rtl="0" algn="l">
              <a:spcBef>
                <a:spcPts val="0"/>
              </a:spcBef>
              <a:spcAft>
                <a:spcPts val="0"/>
              </a:spcAft>
              <a:buSzPts val="1800"/>
              <a:buChar char="●"/>
            </a:pPr>
            <a:r>
              <a:rPr lang="en"/>
              <a:t>Space Complexity: Θ(N) </a:t>
            </a:r>
            <a:endParaRPr/>
          </a:p>
          <a:p>
            <a:pPr indent="-342900" lvl="1" marL="914400" rtl="0" algn="l">
              <a:spcBef>
                <a:spcPts val="0"/>
              </a:spcBef>
              <a:spcAft>
                <a:spcPts val="0"/>
              </a:spcAft>
              <a:buSzPts val="1800"/>
              <a:buChar char="○"/>
            </a:pPr>
            <a:r>
              <a:rPr lang="en"/>
              <a:t>Proportional to the size of the array</a:t>
            </a:r>
            <a:endParaRPr/>
          </a:p>
        </p:txBody>
      </p:sp>
      <p:sp>
        <p:nvSpPr>
          <p:cNvPr id="739" name="Google Shape;739;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8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With dynamic programming, we optimize the problem a little more so that we save the results from smaller subproblems and use it to solve for larger ones (until the entire problem is solved). This results in the following time complexity and space complexity: </a:t>
            </a:r>
            <a:endParaRPr/>
          </a:p>
          <a:p>
            <a:pPr indent="-342900" lvl="0" marL="457200" rtl="0" algn="l">
              <a:spcBef>
                <a:spcPts val="600"/>
              </a:spcBef>
              <a:spcAft>
                <a:spcPts val="0"/>
              </a:spcAft>
              <a:buSzPts val="1800"/>
              <a:buChar char="●"/>
            </a:pPr>
            <a:r>
              <a:rPr lang="en"/>
              <a:t>Time Complexity: Θ(N)</a:t>
            </a:r>
            <a:endParaRPr/>
          </a:p>
          <a:p>
            <a:pPr indent="-342900" lvl="0" marL="457200" rtl="0" algn="l">
              <a:spcBef>
                <a:spcPts val="0"/>
              </a:spcBef>
              <a:spcAft>
                <a:spcPts val="0"/>
              </a:spcAft>
              <a:buSzPts val="1800"/>
              <a:buChar char="●"/>
            </a:pPr>
            <a:r>
              <a:rPr lang="en"/>
              <a:t>Space Complexity: Θ(N) </a:t>
            </a:r>
            <a:endParaRPr/>
          </a:p>
          <a:p>
            <a:pPr indent="-342900" lvl="1" marL="914400" rtl="0" algn="l">
              <a:spcBef>
                <a:spcPts val="0"/>
              </a:spcBef>
              <a:spcAft>
                <a:spcPts val="0"/>
              </a:spcAft>
              <a:buSzPts val="1800"/>
              <a:buChar char="○"/>
            </a:pPr>
            <a:r>
              <a:rPr lang="en"/>
              <a:t>Proportional to the size of the array</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en"/>
              <a:t>**We can also optimize this even further to constant space complexity if we just track the two preceding terms in two variables.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approach we talk about in this case is bottom-up with tabulation (store results of subproblems in a table). </a:t>
            </a:r>
            <a:endParaRPr/>
          </a:p>
        </p:txBody>
      </p:sp>
      <p:sp>
        <p:nvSpPr>
          <p:cNvPr id="745" name="Google Shape;745;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Fibonacci Sequence</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this approach, a problem can be solved from the “bottom-up”, where we use the smaller subproblems first to solve for the </a:t>
            </a:r>
            <a:r>
              <a:rPr lang="en"/>
              <a:t>larger subproblems. In order to use these subproblems, we have to store them in some kind of data structure, but we effectively work our way up towards solving the larger problem. </a:t>
            </a:r>
            <a:endParaRPr/>
          </a:p>
        </p:txBody>
      </p:sp>
      <p:sp>
        <p:nvSpPr>
          <p:cNvPr id="751" name="Google Shape;751;p8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Bottom-Up Approach</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83"/>
          <p:cNvSpPr txBox="1"/>
          <p:nvPr>
            <p:ph idx="1" type="body"/>
          </p:nvPr>
        </p:nvSpPr>
        <p:spPr>
          <a:xfrm>
            <a:off x="107050" y="402200"/>
            <a:ext cx="8520600" cy="153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Similarly</a:t>
            </a:r>
            <a:r>
              <a:rPr lang="en"/>
              <a:t> to bottom-up, we also still want to use the subproblems to solve for the larger problems, but we don’t start from the “bottom”, but instead, start from the “top”. For example, the top-down approach for the earlier problem (Fibonacci sequence), would save the results from the subproblems for later use.</a:t>
            </a:r>
            <a:endParaRPr/>
          </a:p>
        </p:txBody>
      </p:sp>
      <p:sp>
        <p:nvSpPr>
          <p:cNvPr id="757" name="Google Shape;757;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Top-Down Approach</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84"/>
          <p:cNvSpPr txBox="1"/>
          <p:nvPr>
            <p:ph idx="1" type="body"/>
          </p:nvPr>
        </p:nvSpPr>
        <p:spPr>
          <a:xfrm>
            <a:off x="355275" y="3563300"/>
            <a:ext cx="8520600" cy="1034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This is really just recursion with memoization (storing the results of function calls). </a:t>
            </a:r>
            <a:endParaRPr/>
          </a:p>
        </p:txBody>
      </p:sp>
      <p:sp>
        <p:nvSpPr>
          <p:cNvPr id="763" name="Google Shape;763;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Top-Down Approach</a:t>
            </a:r>
            <a:endParaRPr>
              <a:solidFill>
                <a:schemeClr val="accent3"/>
              </a:solidFill>
            </a:endParaRPr>
          </a:p>
          <a:p>
            <a:pPr indent="0" lvl="0" marL="0" rtl="0" algn="l">
              <a:spcBef>
                <a:spcPts val="0"/>
              </a:spcBef>
              <a:spcAft>
                <a:spcPts val="0"/>
              </a:spcAft>
              <a:buNone/>
            </a:pPr>
            <a:r>
              <a:t/>
            </a:r>
            <a:endParaRPr/>
          </a:p>
        </p:txBody>
      </p:sp>
      <p:pic>
        <p:nvPicPr>
          <p:cNvPr id="764" name="Google Shape;764;p84"/>
          <p:cNvPicPr preferRelativeResize="0"/>
          <p:nvPr/>
        </p:nvPicPr>
        <p:blipFill>
          <a:blip r:embed="rId3">
            <a:alphaModFix/>
          </a:blip>
          <a:stretch>
            <a:fillRect/>
          </a:stretch>
        </p:blipFill>
        <p:spPr>
          <a:xfrm>
            <a:off x="697463" y="651425"/>
            <a:ext cx="3249875" cy="2654050"/>
          </a:xfrm>
          <a:prstGeom prst="rect">
            <a:avLst/>
          </a:prstGeom>
          <a:noFill/>
          <a:ln>
            <a:noFill/>
          </a:ln>
        </p:spPr>
      </p:pic>
      <p:pic>
        <p:nvPicPr>
          <p:cNvPr id="765" name="Google Shape;765;p84"/>
          <p:cNvPicPr preferRelativeResize="0"/>
          <p:nvPr/>
        </p:nvPicPr>
        <p:blipFill>
          <a:blip r:embed="rId3">
            <a:alphaModFix/>
          </a:blip>
          <a:stretch>
            <a:fillRect/>
          </a:stretch>
        </p:blipFill>
        <p:spPr>
          <a:xfrm>
            <a:off x="4856863" y="651425"/>
            <a:ext cx="3249875" cy="2654050"/>
          </a:xfrm>
          <a:prstGeom prst="rect">
            <a:avLst/>
          </a:prstGeom>
          <a:noFill/>
          <a:ln>
            <a:noFill/>
          </a:ln>
        </p:spPr>
      </p:pic>
      <p:pic>
        <p:nvPicPr>
          <p:cNvPr id="766" name="Google Shape;766;p84"/>
          <p:cNvPicPr preferRelativeResize="0"/>
          <p:nvPr/>
        </p:nvPicPr>
        <p:blipFill rotWithShape="1">
          <a:blip r:embed="rId3">
            <a:alphaModFix/>
          </a:blip>
          <a:srcRect b="0" l="35848" r="0" t="77538"/>
          <a:stretch/>
        </p:blipFill>
        <p:spPr>
          <a:xfrm>
            <a:off x="5623550" y="2035726"/>
            <a:ext cx="363125" cy="590375"/>
          </a:xfrm>
          <a:prstGeom prst="rect">
            <a:avLst/>
          </a:prstGeom>
          <a:noFill/>
          <a:ln>
            <a:noFill/>
          </a:ln>
        </p:spPr>
      </p:pic>
      <p:pic>
        <p:nvPicPr>
          <p:cNvPr id="767" name="Google Shape;767;p84"/>
          <p:cNvPicPr preferRelativeResize="0"/>
          <p:nvPr/>
        </p:nvPicPr>
        <p:blipFill rotWithShape="1">
          <a:blip r:embed="rId3">
            <a:alphaModFix/>
          </a:blip>
          <a:srcRect b="0" l="35848" r="0" t="77538"/>
          <a:stretch/>
        </p:blipFill>
        <p:spPr>
          <a:xfrm>
            <a:off x="6057150" y="1502800"/>
            <a:ext cx="831700" cy="1171475"/>
          </a:xfrm>
          <a:prstGeom prst="rect">
            <a:avLst/>
          </a:prstGeom>
          <a:noFill/>
          <a:ln>
            <a:noFill/>
          </a:ln>
        </p:spPr>
      </p:pic>
      <p:pic>
        <p:nvPicPr>
          <p:cNvPr id="768" name="Google Shape;768;p84"/>
          <p:cNvPicPr preferRelativeResize="0"/>
          <p:nvPr/>
        </p:nvPicPr>
        <p:blipFill rotWithShape="1">
          <a:blip r:embed="rId3">
            <a:alphaModFix/>
          </a:blip>
          <a:srcRect b="0" l="35848" r="0" t="77538"/>
          <a:stretch/>
        </p:blipFill>
        <p:spPr>
          <a:xfrm>
            <a:off x="6830275" y="963675"/>
            <a:ext cx="1054575" cy="1786800"/>
          </a:xfrm>
          <a:prstGeom prst="rect">
            <a:avLst/>
          </a:prstGeom>
          <a:noFill/>
          <a:ln>
            <a:noFill/>
          </a:ln>
        </p:spPr>
      </p:pic>
      <p:cxnSp>
        <p:nvCxnSpPr>
          <p:cNvPr id="769" name="Google Shape;769;p84"/>
          <p:cNvCxnSpPr/>
          <p:nvPr/>
        </p:nvCxnSpPr>
        <p:spPr>
          <a:xfrm>
            <a:off x="4023537" y="1978450"/>
            <a:ext cx="1184100" cy="4500"/>
          </a:xfrm>
          <a:prstGeom prst="straightConnector1">
            <a:avLst/>
          </a:prstGeom>
          <a:noFill/>
          <a:ln cap="flat" cmpd="sng" w="19050">
            <a:solidFill>
              <a:schemeClr val="dk1"/>
            </a:solidFill>
            <a:prstDash val="solid"/>
            <a:round/>
            <a:headEnd len="med" w="med" type="none"/>
            <a:tailEnd len="med" w="med" type="stealth"/>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5"/>
          <p:cNvSpPr txBox="1"/>
          <p:nvPr>
            <p:ph idx="1" type="body"/>
          </p:nvPr>
        </p:nvSpPr>
        <p:spPr>
          <a:xfrm>
            <a:off x="107050" y="562500"/>
            <a:ext cx="8520600" cy="4018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private Map&lt;Integer, Integer&gt; memo = new HashMap&lt;&gt;();</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public int fib(int N) {</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if (memo.containsKey(N)) {</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return memo.get(N);</a:t>
            </a:r>
            <a:endParaRPr>
              <a:latin typeface="JetBrains Mono"/>
              <a:ea typeface="JetBrains Mono"/>
              <a:cs typeface="JetBrains Mono"/>
              <a:sym typeface="JetBrains Mono"/>
            </a:endParaRPr>
          </a:p>
          <a:p>
            <a:pPr indent="0" lvl="0" marL="0" rtl="0" algn="l">
              <a:spcBef>
                <a:spcPts val="60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a:t>
            </a:r>
            <a:r>
              <a:rPr lang="en">
                <a:latin typeface="JetBrains Mono"/>
                <a:ea typeface="JetBrains Mono"/>
                <a:cs typeface="JetBrains Mono"/>
                <a:sym typeface="JetBrains Mono"/>
              </a:rPr>
              <a:t>i</a:t>
            </a:r>
            <a:r>
              <a:rPr lang="en">
                <a:latin typeface="JetBrains Mono"/>
                <a:ea typeface="JetBrains Mono"/>
                <a:cs typeface="JetBrains Mono"/>
                <a:sym typeface="JetBrains Mono"/>
              </a:rPr>
              <a:t>nt result = </a:t>
            </a:r>
            <a:r>
              <a:rPr lang="en">
                <a:latin typeface="JetBrains Mono"/>
                <a:ea typeface="JetBrains Mono"/>
                <a:cs typeface="JetBrains Mono"/>
                <a:sym typeface="JetBrains Mono"/>
              </a:rPr>
              <a:t>fib(N - 1) + fib(N - 2);</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memo.put(N, result);</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return memo.get(N);</a:t>
            </a:r>
            <a:endParaRPr>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600"/>
              </a:spcBef>
              <a:spcAft>
                <a:spcPts val="0"/>
              </a:spcAft>
              <a:buNone/>
            </a:pPr>
            <a:r>
              <a:t/>
            </a:r>
            <a:endParaRPr>
              <a:latin typeface="JetBrains Mono"/>
              <a:ea typeface="JetBrains Mono"/>
              <a:cs typeface="JetBrains Mono"/>
              <a:sym typeface="JetBrains Mono"/>
            </a:endParaRPr>
          </a:p>
        </p:txBody>
      </p:sp>
      <p:sp>
        <p:nvSpPr>
          <p:cNvPr id="775" name="Google Shape;775;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Top-Down Approach</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86"/>
          <p:cNvSpPr txBox="1"/>
          <p:nvPr>
            <p:ph idx="1" type="body"/>
          </p:nvPr>
        </p:nvSpPr>
        <p:spPr>
          <a:xfrm>
            <a:off x="107050" y="402200"/>
            <a:ext cx="8520600" cy="153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provide a brief summary: </a:t>
            </a:r>
            <a:endParaRPr/>
          </a:p>
          <a:p>
            <a:pPr indent="-342900" lvl="0" marL="457200" rtl="0" algn="l">
              <a:spcBef>
                <a:spcPts val="600"/>
              </a:spcBef>
              <a:spcAft>
                <a:spcPts val="0"/>
              </a:spcAft>
              <a:buSzPts val="1800"/>
              <a:buChar char="●"/>
            </a:pPr>
            <a:r>
              <a:rPr lang="en"/>
              <a:t>The tree counting problem can be reduced down into the fibonacci sequence. </a:t>
            </a:r>
            <a:endParaRPr/>
          </a:p>
          <a:p>
            <a:pPr indent="-342900" lvl="0" marL="457200" rtl="0" algn="l">
              <a:spcBef>
                <a:spcPts val="0"/>
              </a:spcBef>
              <a:spcAft>
                <a:spcPts val="0"/>
              </a:spcAft>
              <a:buSzPts val="1800"/>
              <a:buChar char="●"/>
            </a:pPr>
            <a:r>
              <a:rPr lang="en"/>
              <a:t>From there, we use dynamic programming to optimize our approach to the problem. </a:t>
            </a:r>
            <a:endParaRPr/>
          </a:p>
          <a:p>
            <a:pPr indent="-342900" lvl="0" marL="457200" rtl="0" algn="l">
              <a:spcBef>
                <a:spcPts val="0"/>
              </a:spcBef>
              <a:spcAft>
                <a:spcPts val="0"/>
              </a:spcAft>
              <a:buSzPts val="1800"/>
              <a:buChar char="●"/>
            </a:pPr>
            <a:r>
              <a:rPr lang="en"/>
              <a:t>Naive runtime: Θ(2</a:t>
            </a:r>
            <a:r>
              <a:rPr baseline="30000" lang="en"/>
              <a:t>Ν</a:t>
            </a:r>
            <a:r>
              <a:rPr lang="en"/>
              <a:t>)</a:t>
            </a:r>
            <a:endParaRPr/>
          </a:p>
          <a:p>
            <a:pPr indent="-342900" lvl="0" marL="457200" rtl="0" algn="l">
              <a:spcBef>
                <a:spcPts val="0"/>
              </a:spcBef>
              <a:spcAft>
                <a:spcPts val="0"/>
              </a:spcAft>
              <a:buSzPts val="1800"/>
              <a:buChar char="●"/>
            </a:pPr>
            <a:r>
              <a:rPr lang="en"/>
              <a:t>After DP: Θ(N)</a:t>
            </a:r>
            <a:endParaRPr/>
          </a:p>
        </p:txBody>
      </p:sp>
      <p:sp>
        <p:nvSpPr>
          <p:cNvPr id="781" name="Google Shape;781;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Tree-Planting, Fibonacci and Dynamic Programming Summary</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8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787" name="Google Shape;787;p8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D1D2D3"/>
                </a:solidFill>
              </a:rPr>
              <a:t>Background</a:t>
            </a:r>
            <a:endParaRPr>
              <a:solidFill>
                <a:srgbClr val="D1D2D3"/>
              </a:solidFill>
            </a:endParaRPr>
          </a:p>
          <a:p>
            <a:pPr indent="0" lvl="0" marL="0" rtl="0" algn="l">
              <a:spcBef>
                <a:spcPts val="600"/>
              </a:spcBef>
              <a:spcAft>
                <a:spcPts val="0"/>
              </a:spcAft>
              <a:buNone/>
            </a:pPr>
            <a:r>
              <a:rPr lang="en">
                <a:solidFill>
                  <a:schemeClr val="accent6"/>
                </a:solidFill>
              </a:rPr>
              <a:t>Git Recap </a:t>
            </a:r>
            <a:endParaRPr>
              <a:solidFill>
                <a:schemeClr val="accent6"/>
              </a:solidFill>
            </a:endParaRPr>
          </a:p>
          <a:p>
            <a:pPr indent="0" lvl="0" marL="0" rtl="0" algn="l">
              <a:spcBef>
                <a:spcPts val="600"/>
              </a:spcBef>
              <a:spcAft>
                <a:spcPts val="0"/>
              </a:spcAft>
              <a:buNone/>
            </a:pPr>
            <a:r>
              <a:rPr lang="en">
                <a:solidFill>
                  <a:schemeClr val="accent6"/>
                </a:solidFill>
              </a:rPr>
              <a:t>  Snapshots</a:t>
            </a:r>
            <a:endParaRPr>
              <a:solidFill>
                <a:schemeClr val="accent6"/>
              </a:solidFill>
            </a:endParaRPr>
          </a:p>
          <a:p>
            <a:pPr indent="0" lvl="0" marL="0" rtl="0" algn="l">
              <a:spcBef>
                <a:spcPts val="600"/>
              </a:spcBef>
              <a:spcAft>
                <a:spcPts val="0"/>
              </a:spcAft>
              <a:buNone/>
            </a:pPr>
            <a:r>
              <a:rPr lang="en">
                <a:solidFill>
                  <a:schemeClr val="accent6"/>
                </a:solidFill>
              </a:rPr>
              <a:t>  SHA-1</a:t>
            </a:r>
            <a:endParaRPr>
              <a:solidFill>
                <a:schemeClr val="accent6"/>
              </a:solidFill>
            </a:endParaRPr>
          </a:p>
          <a:p>
            <a:pPr indent="0" lvl="0" marL="0" rtl="0" algn="l">
              <a:spcBef>
                <a:spcPts val="600"/>
              </a:spcBef>
              <a:spcAft>
                <a:spcPts val="0"/>
              </a:spcAft>
              <a:buNone/>
            </a:pPr>
            <a:r>
              <a:rPr lang="en">
                <a:solidFill>
                  <a:schemeClr val="accent6"/>
                </a:solidFill>
              </a:rPr>
              <a:t>  Remote</a:t>
            </a:r>
            <a:endParaRPr>
              <a:solidFill>
                <a:schemeClr val="accent6"/>
              </a:solidFill>
            </a:endParaRPr>
          </a:p>
          <a:p>
            <a:pPr indent="0" lvl="0" marL="0" rtl="0" algn="l">
              <a:spcBef>
                <a:spcPts val="600"/>
              </a:spcBef>
              <a:spcAft>
                <a:spcPts val="0"/>
              </a:spcAft>
              <a:buNone/>
            </a:pPr>
            <a:r>
              <a:rPr lang="en">
                <a:solidFill>
                  <a:schemeClr val="accent6"/>
                </a:solidFill>
              </a:rPr>
              <a:t>  Git Potpourri</a:t>
            </a:r>
            <a:endParaRPr>
              <a:solidFill>
                <a:schemeClr val="accent6"/>
              </a:solidFill>
            </a:endParaRPr>
          </a:p>
          <a:p>
            <a:pPr indent="0" lvl="0" marL="0" rtl="0" algn="l">
              <a:spcBef>
                <a:spcPts val="600"/>
              </a:spcBef>
              <a:spcAft>
                <a:spcPts val="0"/>
              </a:spcAft>
              <a:buNone/>
            </a:pPr>
            <a:r>
              <a:rPr lang="en">
                <a:solidFill>
                  <a:schemeClr val="accent6"/>
                </a:solidFill>
              </a:rPr>
              <a:t>Break</a:t>
            </a:r>
            <a:endParaRPr>
              <a:solidFill>
                <a:schemeClr val="accent6"/>
              </a:solidFill>
            </a:endParaRPr>
          </a:p>
          <a:p>
            <a:pPr indent="0" lvl="0" marL="0" rtl="0" algn="l">
              <a:spcBef>
                <a:spcPts val="600"/>
              </a:spcBef>
              <a:spcAft>
                <a:spcPts val="0"/>
              </a:spcAft>
              <a:buNone/>
            </a:pPr>
            <a:r>
              <a:rPr lang="en">
                <a:solidFill>
                  <a:schemeClr val="accent6"/>
                </a:solidFill>
              </a:rPr>
              <a:t>Dynamic Programming</a:t>
            </a:r>
            <a:endParaRPr>
              <a:solidFill>
                <a:schemeClr val="accent6"/>
              </a:solidFill>
            </a:endParaRPr>
          </a:p>
          <a:p>
            <a:pPr indent="0" lvl="0" marL="0" rtl="0" algn="l">
              <a:spcBef>
                <a:spcPts val="600"/>
              </a:spcBef>
              <a:spcAft>
                <a:spcPts val="0"/>
              </a:spcAft>
              <a:buNone/>
            </a:pPr>
            <a:r>
              <a:rPr lang="en">
                <a:solidFill>
                  <a:schemeClr val="accent6"/>
                </a:solidFill>
              </a:rPr>
              <a:t>  Example</a:t>
            </a:r>
            <a:endParaRPr>
              <a:solidFill>
                <a:schemeClr val="accent6"/>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  Applications and Continuation</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accent6"/>
                </a:solidFill>
              </a:rPr>
              <a:t>Q&amp;A</a:t>
            </a:r>
            <a:endParaRPr>
              <a:solidFill>
                <a:schemeClr val="accent6"/>
              </a:solidFill>
            </a:endParaRPr>
          </a:p>
        </p:txBody>
      </p:sp>
      <p:sp>
        <p:nvSpPr>
          <p:cNvPr id="788" name="Google Shape;788;p8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Applications and Continuation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8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also more problems that can be solved through dynamic programming. Here a couple of more of them: </a:t>
            </a:r>
            <a:endParaRPr/>
          </a:p>
          <a:p>
            <a:pPr indent="-342900" lvl="0" marL="457200" rtl="0" algn="l">
              <a:spcBef>
                <a:spcPts val="600"/>
              </a:spcBef>
              <a:spcAft>
                <a:spcPts val="0"/>
              </a:spcAft>
              <a:buSzPts val="1800"/>
              <a:buChar char="●"/>
            </a:pPr>
            <a:r>
              <a:rPr lang="en"/>
              <a:t>Longest increasing subsequence: given a sequence of </a:t>
            </a:r>
            <a:r>
              <a:rPr lang="en"/>
              <a:t>integers</a:t>
            </a:r>
            <a:r>
              <a:rPr lang="en"/>
              <a:t>, what is the longest increase subsequence that can be found</a:t>
            </a:r>
            <a:endParaRPr/>
          </a:p>
          <a:p>
            <a:pPr indent="-342900" lvl="0" marL="457200" rtl="0" algn="l">
              <a:spcBef>
                <a:spcPts val="0"/>
              </a:spcBef>
              <a:spcAft>
                <a:spcPts val="0"/>
              </a:spcAft>
              <a:buSzPts val="1800"/>
              <a:buChar char="●"/>
            </a:pPr>
            <a:r>
              <a:rPr lang="en"/>
              <a:t>Edit Distance: the minimum number of edits (insertions, deletions, </a:t>
            </a:r>
            <a:r>
              <a:rPr lang="en"/>
              <a:t>substitutions</a:t>
            </a:r>
            <a:r>
              <a:rPr lang="en"/>
              <a:t> of a character) to transform one word into another </a:t>
            </a:r>
            <a:endParaRPr/>
          </a:p>
          <a:p>
            <a:pPr indent="-342900" lvl="0" marL="457200" rtl="0" algn="l">
              <a:spcBef>
                <a:spcPts val="0"/>
              </a:spcBef>
              <a:spcAft>
                <a:spcPts val="0"/>
              </a:spcAft>
              <a:buSzPts val="1800"/>
              <a:buChar char="●"/>
            </a:pPr>
            <a:r>
              <a:rPr lang="en"/>
              <a:t>Knapsack: resource allocation (more details </a:t>
            </a:r>
            <a:r>
              <a:rPr lang="en" u="sng">
                <a:solidFill>
                  <a:schemeClr val="hlink"/>
                </a:solidFill>
                <a:hlinkClick r:id="rId3"/>
              </a:rPr>
              <a:t>here</a:t>
            </a:r>
            <a:r>
              <a:rPr lang="en"/>
              <a:t>) </a:t>
            </a:r>
            <a:endParaRPr/>
          </a:p>
          <a:p>
            <a:pPr indent="-342900" lvl="0" marL="457200" rtl="0" algn="l">
              <a:spcBef>
                <a:spcPts val="0"/>
              </a:spcBef>
              <a:spcAft>
                <a:spcPts val="0"/>
              </a:spcAft>
              <a:buSzPts val="1800"/>
              <a:buChar char="●"/>
            </a:pPr>
            <a:r>
              <a:rPr lang="en"/>
              <a:t>And of course, a lot more than the ones that are mentioned here.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794" name="Google Shape;794;p8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More Examples</a:t>
            </a:r>
            <a:endParaRPr>
              <a:solidFill>
                <a:schemeClr val="accent3"/>
              </a:solidFill>
            </a:endParaRPr>
          </a:p>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8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More Examples</a:t>
            </a:r>
            <a:endParaRPr/>
          </a:p>
        </p:txBody>
      </p:sp>
      <p:sp>
        <p:nvSpPr>
          <p:cNvPr id="800" name="Google Shape;800;p8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Another cool algorithm that uses dynamic programming: </a:t>
            </a:r>
            <a:endParaRPr/>
          </a:p>
          <a:p>
            <a:pPr indent="-342900" lvl="0" marL="457200" rtl="0" algn="l">
              <a:spcBef>
                <a:spcPts val="600"/>
              </a:spcBef>
              <a:spcAft>
                <a:spcPts val="0"/>
              </a:spcAft>
              <a:buSzPts val="1800"/>
              <a:buChar char="●"/>
            </a:pPr>
            <a:r>
              <a:rPr lang="en"/>
              <a:t>Bellman-Ford: finds the shortest path from a source vertice to the other vertice</a:t>
            </a:r>
            <a:endParaRPr/>
          </a:p>
          <a:p>
            <a:pPr indent="-342900" lvl="1" marL="914400" rtl="0" algn="l">
              <a:spcBef>
                <a:spcPts val="0"/>
              </a:spcBef>
              <a:spcAft>
                <a:spcPts val="0"/>
              </a:spcAft>
              <a:buSzPts val="1800"/>
              <a:buChar char="○"/>
            </a:pPr>
            <a:r>
              <a:rPr lang="en"/>
              <a:t>The main difference between this algorithm and Dijkstra’s is that it can handle negative edge weights by detecting cycles with negative edge weights </a:t>
            </a:r>
            <a:endParaRPr/>
          </a:p>
          <a:p>
            <a:pPr indent="-342900" lvl="1" marL="914400" rtl="0" algn="l">
              <a:spcBef>
                <a:spcPts val="0"/>
              </a:spcBef>
              <a:spcAft>
                <a:spcPts val="0"/>
              </a:spcAft>
              <a:buSzPts val="1800"/>
              <a:buChar char="○"/>
            </a:pPr>
            <a:r>
              <a:rPr lang="en"/>
              <a:t>Caveat: the runtime of this algorithm is O(V*E) for connected graphs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9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Applications of Dynamic Programming</a:t>
            </a:r>
            <a:endParaRPr/>
          </a:p>
        </p:txBody>
      </p:sp>
      <p:sp>
        <p:nvSpPr>
          <p:cNvPr id="806" name="Google Shape;806;p9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Dynamic programming has several applications: </a:t>
            </a:r>
            <a:endParaRPr/>
          </a:p>
          <a:p>
            <a:pPr indent="-342900" lvl="0" marL="457200" rtl="0" algn="l">
              <a:spcBef>
                <a:spcPts val="600"/>
              </a:spcBef>
              <a:spcAft>
                <a:spcPts val="0"/>
              </a:spcAft>
              <a:buSzPts val="1800"/>
              <a:buChar char="●"/>
            </a:pPr>
            <a:r>
              <a:rPr lang="en"/>
              <a:t>Graph theory </a:t>
            </a:r>
            <a:endParaRPr/>
          </a:p>
          <a:p>
            <a:pPr indent="-342900" lvl="1" marL="914400" rtl="0" algn="l">
              <a:spcBef>
                <a:spcPts val="0"/>
              </a:spcBef>
              <a:spcAft>
                <a:spcPts val="0"/>
              </a:spcAft>
              <a:buSzPts val="1800"/>
              <a:buChar char="○"/>
            </a:pPr>
            <a:r>
              <a:rPr lang="en"/>
              <a:t>Traveling Salesman </a:t>
            </a:r>
            <a:endParaRPr/>
          </a:p>
          <a:p>
            <a:pPr indent="-342900" lvl="0" marL="457200" rtl="0" algn="l">
              <a:spcBef>
                <a:spcPts val="0"/>
              </a:spcBef>
              <a:spcAft>
                <a:spcPts val="0"/>
              </a:spcAft>
              <a:buSzPts val="1800"/>
              <a:buChar char="●"/>
            </a:pPr>
            <a:r>
              <a:rPr lang="en"/>
              <a:t>Game Theory </a:t>
            </a:r>
            <a:endParaRPr/>
          </a:p>
          <a:p>
            <a:pPr indent="-342900" lvl="1" marL="914400" rtl="0" algn="l">
              <a:spcBef>
                <a:spcPts val="0"/>
              </a:spcBef>
              <a:spcAft>
                <a:spcPts val="0"/>
              </a:spcAft>
              <a:buSzPts val="1800"/>
              <a:buChar char="○"/>
            </a:pPr>
            <a:r>
              <a:rPr lang="en"/>
              <a:t>Justin’s Master’s thesis :O (</a:t>
            </a:r>
            <a:r>
              <a:rPr lang="en" u="sng">
                <a:solidFill>
                  <a:schemeClr val="hlink"/>
                </a:solidFill>
                <a:hlinkClick r:id="rId3"/>
              </a:rPr>
              <a:t>link</a:t>
            </a:r>
            <a:r>
              <a:rPr lang="en"/>
              <a:t>)</a:t>
            </a:r>
            <a:endParaRPr/>
          </a:p>
          <a:p>
            <a:pPr indent="-342900" lvl="0" marL="457200" rtl="0" algn="l">
              <a:spcBef>
                <a:spcPts val="0"/>
              </a:spcBef>
              <a:spcAft>
                <a:spcPts val="0"/>
              </a:spcAft>
              <a:buSzPts val="1800"/>
              <a:buChar char="●"/>
            </a:pPr>
            <a:r>
              <a:rPr lang="en"/>
              <a:t>AI and Machine Learning </a:t>
            </a:r>
            <a:endParaRPr/>
          </a:p>
          <a:p>
            <a:pPr indent="-342900" lvl="0" marL="457200" rtl="0" algn="l">
              <a:spcBef>
                <a:spcPts val="0"/>
              </a:spcBef>
              <a:spcAft>
                <a:spcPts val="0"/>
              </a:spcAft>
              <a:buSzPts val="1800"/>
              <a:buChar char="●"/>
            </a:pPr>
            <a:r>
              <a:rPr lang="en"/>
              <a:t>Bioinformatics </a:t>
            </a:r>
            <a:endParaRPr/>
          </a:p>
          <a:p>
            <a:pPr indent="-342900" lvl="1" marL="914400" rtl="0" algn="l">
              <a:spcBef>
                <a:spcPts val="0"/>
              </a:spcBef>
              <a:spcAft>
                <a:spcPts val="0"/>
              </a:spcAft>
              <a:buSzPts val="1800"/>
              <a:buChar char="○"/>
            </a:pPr>
            <a:r>
              <a:rPr lang="en"/>
              <a:t>DNA strings can be quickly analyzed for similarity using DP</a:t>
            </a:r>
            <a:endParaRPr/>
          </a:p>
          <a:p>
            <a:pPr indent="-342900" lvl="0" marL="457200" rtl="0" algn="l">
              <a:spcBef>
                <a:spcPts val="0"/>
              </a:spcBef>
              <a:spcAft>
                <a:spcPts val="0"/>
              </a:spcAft>
              <a:buSzPts val="1800"/>
              <a:buChar char="●"/>
            </a:pPr>
            <a:r>
              <a:rPr lang="en"/>
              <a:t>Tech Interviews</a:t>
            </a:r>
            <a:endParaRPr/>
          </a:p>
          <a:p>
            <a:pPr indent="-342900" lvl="0" marL="457200" rtl="0" algn="l">
              <a:spcBef>
                <a:spcPts val="0"/>
              </a:spcBef>
              <a:spcAft>
                <a:spcPts val="0"/>
              </a:spcAft>
              <a:buSzPts val="1800"/>
              <a:buChar char="●"/>
            </a:pPr>
            <a:r>
              <a:rPr lang="en"/>
              <a:t>And more (</a:t>
            </a:r>
            <a:r>
              <a:rPr lang="en" u="sng">
                <a:solidFill>
                  <a:schemeClr val="hlink"/>
                </a:solidFill>
                <a:hlinkClick r:id="rId4"/>
              </a:rPr>
              <a:t>research paper on some applications of DP</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you want to practice more with dynamic </a:t>
            </a:r>
            <a:r>
              <a:rPr lang="en"/>
              <a:t>programming</a:t>
            </a:r>
            <a:r>
              <a:rPr lang="en"/>
              <a:t>, you can find some problems on </a:t>
            </a:r>
            <a:r>
              <a:rPr lang="en" u="sng">
                <a:solidFill>
                  <a:schemeClr val="hlink"/>
                </a:solidFill>
                <a:hlinkClick r:id="rId5"/>
              </a:rPr>
              <a:t>Project Euler</a:t>
            </a:r>
            <a:r>
              <a:rPr lang="en"/>
              <a:t>.</a:t>
            </a:r>
            <a:endParaRPr/>
          </a:p>
          <a:p>
            <a:pPr indent="0" lvl="0" marL="0" rtl="0" algn="l">
              <a:spcBef>
                <a:spcPts val="600"/>
              </a:spcBef>
              <a:spcAft>
                <a:spcPts val="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9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CS170</a:t>
            </a:r>
            <a:endParaRPr/>
          </a:p>
        </p:txBody>
      </p:sp>
      <p:sp>
        <p:nvSpPr>
          <p:cNvPr id="812" name="Google Shape;812;p9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This topic is covered more in-depth in CS170, and if you’re more broadly interested in efficient algorithms, it might be a course to consider taking in the future.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corresponding notes for dynamic programming from CS170 can be found here if you’re interested in reading more: </a:t>
            </a:r>
            <a:r>
              <a:rPr lang="en" u="sng">
                <a:solidFill>
                  <a:schemeClr val="hlink"/>
                </a:solidFill>
                <a:hlinkClick r:id="rId3"/>
              </a:rPr>
              <a:t>https://people.eecs.berkeley.edu/~vazirani/algorithms/chap6.pdf</a:t>
            </a:r>
            <a:r>
              <a:rPr lang="en"/>
              <a:t> </a:t>
            </a:r>
            <a:endParaRPr sz="1700">
              <a:solidFill>
                <a:srgbClr val="212529"/>
              </a:solidFill>
              <a:highlight>
                <a:srgbClr val="FFFFFF"/>
              </a:highlight>
              <a:latin typeface="Open Sans"/>
              <a:ea typeface="Open Sans"/>
              <a:cs typeface="Open Sans"/>
              <a:sym typeface="Open Sans"/>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(They’re very good!)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 </a:t>
            </a:r>
            <a:endParaRPr/>
          </a:p>
          <a:p>
            <a:pPr indent="0" lvl="0" marL="0" rtl="0" algn="l">
              <a:spcBef>
                <a:spcPts val="600"/>
              </a:spcBef>
              <a:spcAft>
                <a:spcPts val="0"/>
              </a:spcAft>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9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12</a:t>
            </a:r>
            <a:endParaRPr/>
          </a:p>
        </p:txBody>
      </p:sp>
      <p:sp>
        <p:nvSpPr>
          <p:cNvPr id="818" name="Google Shape;818;p9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While this is not required (and out-of-scope), one of those methods that you’ll need to implement for lab 12, </a:t>
            </a:r>
            <a:r>
              <a:rPr b="1" lang="en">
                <a:latin typeface="Courier New"/>
                <a:ea typeface="Courier New"/>
                <a:cs typeface="Courier New"/>
                <a:sym typeface="Courier New"/>
              </a:rPr>
              <a:t>clearLines</a:t>
            </a:r>
            <a:r>
              <a:rPr lang="en"/>
              <a:t>, can be solved using dynamic programming.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you want an extra challenge on this week’s lab, see if you can apply DP!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9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33, CS61B, Fall 2023</a:t>
            </a:r>
            <a:endParaRPr/>
          </a:p>
        </p:txBody>
      </p:sp>
      <p:sp>
        <p:nvSpPr>
          <p:cNvPr id="824" name="Google Shape;824;p93"/>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rgbClr val="D1D2D3"/>
                </a:solidFill>
              </a:rPr>
              <a:t>Background</a:t>
            </a:r>
            <a:endParaRPr>
              <a:solidFill>
                <a:srgbClr val="D1D2D3"/>
              </a:solidFill>
            </a:endParaRPr>
          </a:p>
          <a:p>
            <a:pPr indent="0" lvl="0" marL="0" rtl="0" algn="l">
              <a:spcBef>
                <a:spcPts val="600"/>
              </a:spcBef>
              <a:spcAft>
                <a:spcPts val="0"/>
              </a:spcAft>
              <a:buClr>
                <a:schemeClr val="dk1"/>
              </a:buClr>
              <a:buSzPts val="1100"/>
              <a:buFont typeface="Arial"/>
              <a:buNone/>
            </a:pPr>
            <a:r>
              <a:rPr lang="en">
                <a:solidFill>
                  <a:schemeClr val="accent6"/>
                </a:solidFill>
              </a:rPr>
              <a:t>Git Recap </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Snapshots</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SHA-1</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Remote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Git Potpourri</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Break</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Dynamic Programming</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Example</a:t>
            </a:r>
            <a:endParaRPr>
              <a:solidFill>
                <a:schemeClr val="accent6"/>
              </a:solidFill>
            </a:endParaRPr>
          </a:p>
          <a:p>
            <a:pPr indent="0" lvl="0" marL="0" rtl="0" algn="l">
              <a:spcBef>
                <a:spcPts val="600"/>
              </a:spcBef>
              <a:spcAft>
                <a:spcPts val="0"/>
              </a:spcAft>
              <a:buClr>
                <a:schemeClr val="dk1"/>
              </a:buClr>
              <a:buSzPts val="1100"/>
              <a:buFont typeface="Arial"/>
              <a:buNone/>
            </a:pPr>
            <a:r>
              <a:rPr lang="en">
                <a:solidFill>
                  <a:schemeClr val="accent6"/>
                </a:solidFill>
              </a:rPr>
              <a:t>  Applications and Continuation</a:t>
            </a:r>
            <a:endParaRPr>
              <a:solidFill>
                <a:schemeClr val="accent6"/>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Q&amp;A</a:t>
            </a:r>
            <a:endParaRPr b="1">
              <a:solidFill>
                <a:schemeClr val="accent3"/>
              </a:solidFill>
              <a:latin typeface="Roboto"/>
              <a:ea typeface="Roboto"/>
              <a:cs typeface="Roboto"/>
              <a:sym typeface="Roboto"/>
            </a:endParaRPr>
          </a:p>
        </p:txBody>
      </p:sp>
      <p:sp>
        <p:nvSpPr>
          <p:cNvPr id="825" name="Google Shape;825;p93"/>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Q&amp;A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