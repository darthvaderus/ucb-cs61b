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</p:sldIdLst>
  <p:sldSz cy="5143500" cx="9144000"/>
  <p:notesSz cx="6858000" cy="9144000"/>
  <p:embeddedFontLst>
    <p:embeddedFont>
      <p:font typeface="Roboto Medium"/>
      <p:regular r:id="rId50"/>
      <p:bold r:id="rId51"/>
      <p:italic r:id="rId52"/>
      <p:boldItalic r:id="rId53"/>
    </p:embeddedFont>
    <p:embeddedFont>
      <p:font typeface="Roboto"/>
      <p:regular r:id="rId54"/>
      <p:bold r:id="rId55"/>
      <p:italic r:id="rId56"/>
      <p:boldItalic r:id="rId57"/>
    </p:embeddedFont>
    <p:embeddedFont>
      <p:font typeface="Inconsolata"/>
      <p:regular r:id="rId58"/>
      <p:bold r:id="rId59"/>
    </p:embeddedFont>
    <p:embeddedFont>
      <p:font typeface="Roboto Light"/>
      <p:regular r:id="rId60"/>
      <p:bold r:id="rId61"/>
      <p:italic r:id="rId62"/>
      <p:boldItalic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font" Target="fonts/RobotoLight-italic.fntdata"/><Relationship Id="rId61" Type="http://schemas.openxmlformats.org/officeDocument/2006/relationships/font" Target="fonts/RobotoLight-bold.fntdata"/><Relationship Id="rId20" Type="http://schemas.openxmlformats.org/officeDocument/2006/relationships/slide" Target="slides/slide16.xml"/><Relationship Id="rId63" Type="http://schemas.openxmlformats.org/officeDocument/2006/relationships/font" Target="fonts/RobotoLight-boldItalic.fntdata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60" Type="http://schemas.openxmlformats.org/officeDocument/2006/relationships/font" Target="fonts/RobotoLight-regular.fntdata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RobotoMedium-bold.fntdata"/><Relationship Id="rId50" Type="http://schemas.openxmlformats.org/officeDocument/2006/relationships/font" Target="fonts/RobotoMedium-regular.fntdata"/><Relationship Id="rId53" Type="http://schemas.openxmlformats.org/officeDocument/2006/relationships/font" Target="fonts/RobotoMedium-boldItalic.fntdata"/><Relationship Id="rId52" Type="http://schemas.openxmlformats.org/officeDocument/2006/relationships/font" Target="fonts/RobotoMedium-italic.fntdata"/><Relationship Id="rId11" Type="http://schemas.openxmlformats.org/officeDocument/2006/relationships/slide" Target="slides/slide7.xml"/><Relationship Id="rId55" Type="http://schemas.openxmlformats.org/officeDocument/2006/relationships/font" Target="fonts/Roboto-bold.fntdata"/><Relationship Id="rId10" Type="http://schemas.openxmlformats.org/officeDocument/2006/relationships/slide" Target="slides/slide6.xml"/><Relationship Id="rId54" Type="http://schemas.openxmlformats.org/officeDocument/2006/relationships/font" Target="fonts/Roboto-regular.fntdata"/><Relationship Id="rId13" Type="http://schemas.openxmlformats.org/officeDocument/2006/relationships/slide" Target="slides/slide9.xml"/><Relationship Id="rId57" Type="http://schemas.openxmlformats.org/officeDocument/2006/relationships/font" Target="fonts/Roboto-boldItalic.fntdata"/><Relationship Id="rId12" Type="http://schemas.openxmlformats.org/officeDocument/2006/relationships/slide" Target="slides/slide8.xml"/><Relationship Id="rId56" Type="http://schemas.openxmlformats.org/officeDocument/2006/relationships/font" Target="fonts/Roboto-italic.fntdata"/><Relationship Id="rId15" Type="http://schemas.openxmlformats.org/officeDocument/2006/relationships/slide" Target="slides/slide11.xml"/><Relationship Id="rId59" Type="http://schemas.openxmlformats.org/officeDocument/2006/relationships/font" Target="fonts/Inconsolata-bold.fntdata"/><Relationship Id="rId14" Type="http://schemas.openxmlformats.org/officeDocument/2006/relationships/slide" Target="slides/slide10.xml"/><Relationship Id="rId58" Type="http://schemas.openxmlformats.org/officeDocument/2006/relationships/font" Target="fonts/Inconsolata-regular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en.wikipedia.org/wiki/Full_Tilt!_Pinball#Discontinuation" TargetMode="Externa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en.wikipedia.org/wiki/Fast_inverse_square_root" TargetMode="Externa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5f155b838b_0_20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5f155b838b_0_20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5f155b838b_0_217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5f155b838b_0_2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5d19b78424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5d19b78424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put your image in the circle - right click it and use Replace Image. 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5d19b78424_0_10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5d19b78424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5d19b78424_0_7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5d19b78424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8d08577524_0_9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8d08577524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5e40499bb2_0_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5e40499bb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Source: </a:t>
            </a:r>
            <a:r>
              <a:rPr lang="en" u="sng">
                <a:solidFill>
                  <a:schemeClr val="hlink"/>
                </a:solidFill>
                <a:hlinkClick r:id="rId2"/>
              </a:rPr>
              <a:t>Full Tilt! Pinball - Wikipedia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Largely speculative, but still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Originally made by a third party.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Issue arose when porting from 32 to 64 bit.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Doesn’t exist on Windows anymore because of weird collision bug. The code was so bad they couldn’t fix it and opted to trash it for later releases of Windows.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Even Microsoft opted to throw it in the dumpster. If you’re like me you probably don’t want your hard work thrown in the dumpster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5d19b78424_0_8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5d19b78424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5e43f7d8be_1_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25e43f7d8b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5d19b78424_0_22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25d19b78424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5d19b78424_0_21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5d19b78424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5d19b78424_0_22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5d19b78424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5d19b78424_0_31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5d19b78424_0_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25d19b78424_0_23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25d19b78424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5d19b78424_0_25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25d19b78424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5d19b78424_0_25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5d19b78424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Google how to have static generic types java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5d19b78424_0_27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25d19b78424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Google how to print arrays in java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5d19b78424_0_29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5d19b78424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25d19b78424_0_32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25d19b78424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5d19b78424_0_35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25d19b78424_0_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6020f73e0e_2_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26020f73e0e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5e40499bb2_0_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25e40499bb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Fast inverse square root - Wikipedia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1999 people were making this game called Quake III which was a 3D arena game.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involved lots of lighting calculations, which require this operation a TON to normalize vectors.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 going to go into the weeds of this here, you can Google it if you want.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Hopefully your comments look better than this, and magic numbers are bad. Only in 2018 (20 years later) was a mathematical analysis found for why this number is what it is…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6020f73e0e_1_9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26020f73e0e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25d19b78424_0_8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25d19b78424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294c5bfe676_0_3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294c5bfe676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5e5fe0ff11_1_16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25e5fe0ff11_1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25e45adc3db_1_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25e45adc3db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25e5fe0ff11_1_599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25e5fe0ff11_1_5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26020f73e0e_0_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26020f73e0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25e5fe0ff11_1_61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25e5fe0ff11_1_6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94c5bfe676_0_6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294c5bfe676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25e5fe0ff11_1_62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25e5fe0ff11_1_6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25e5fe0ff11_1_63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25e5fe0ff11_1_6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25e5fe0ff11_1_639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25e5fe0ff11_1_6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294c5bfe676_0_12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294c5bfe676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25d19b78424_0_10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25d19b78424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25e45adc3db_1_22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25e45adc3db_1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25e45adc3db_1_21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25e45adc3db_1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25e5fe0ff11_1_64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25e5fe0ff11_1_6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25e5fe0ff11_1_66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25e5fe0ff11_1_6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25e5fe0ff11_1_67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25e5fe0ff11_1_6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25e5fe0ff11_1_68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25e5fe0ff11_1_6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25e1df33c6a_0_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25e1df33c6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25e45adc3db_1_26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25e45adc3db_1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25d19b78424_0_9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25d19b78424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2" name="Google Shape;22;p4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SECTION_TITLE_AND_DESCRIPTION_1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27" name="Google Shape;27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cxnSp>
        <p:nvCxnSpPr>
          <p:cNvPr id="29" name="Google Shape;29;p5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" name="Google Shape;30;p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right">
  <p:cSld name="SECTION_TITLE_AND_DESCRIPTION_2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 txBox="1"/>
          <p:nvPr>
            <p:ph idx="1" type="subTitle"/>
          </p:nvPr>
        </p:nvSpPr>
        <p:spPr>
          <a:xfrm>
            <a:off x="4835400" y="4198275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6"/>
          <p:cNvSpPr txBox="1"/>
          <p:nvPr/>
        </p:nvSpPr>
        <p:spPr>
          <a:xfrm>
            <a:off x="6365900" y="3724875"/>
            <a:ext cx="2591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95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7" name="Google Shape;37;p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38" name="Google Shape;38;p6"/>
          <p:cNvCxnSpPr/>
          <p:nvPr/>
        </p:nvCxnSpPr>
        <p:spPr>
          <a:xfrm>
            <a:off x="95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left">
  <p:cSld name="SECTION_TITLE_AND_DESCRIPTION_2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7"/>
          <p:cNvSpPr txBox="1"/>
          <p:nvPr>
            <p:ph idx="1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7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667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type="title"/>
          </p:nvPr>
        </p:nvSpPr>
        <p:spPr>
          <a:xfrm>
            <a:off x="4572000" y="0"/>
            <a:ext cx="4572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45" name="Google Shape;45;p7"/>
          <p:cNvCxnSpPr/>
          <p:nvPr/>
        </p:nvCxnSpPr>
        <p:spPr>
          <a:xfrm>
            <a:off x="4667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6" name="Google Shape;4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">
  <p:cSld name="SECTION_TITLE_AND_DESCRIPTION_2_1_1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8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1" name="Google Shape;51;p8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52" name="Google Shape;52;p8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53" name="Google Shape;53;p8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4" name="Google Shape;54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" name="Google Shape;56;p8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1">
  <p:cSld name="SECTION_TITLE_AND_DESCRIPTION_2_1_1_2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9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0" name="Google Shape;60;p9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Compare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2" name="Google Shape;62;p9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63" name="Google Shape;63;p9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4" name="Google Shape;6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Solution">
  <p:cSld name="SECTION_TITLE_AND_DESCRIPTION_2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0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9" name="Google Shape;69;p10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Solution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" name="Google Shape;70;p10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71" name="Google Shape;71;p10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72" name="Google Shape;72;p10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3" name="Google Shape;73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9" name="Google Shape;79;p11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" name="Google Shape;80;p11"/>
          <p:cNvSpPr txBox="1"/>
          <p:nvPr>
            <p:ph idx="2" type="body"/>
          </p:nvPr>
        </p:nvSpPr>
        <p:spPr>
          <a:xfrm>
            <a:off x="9543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4" name="Google Shape;84;p12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7" name="Google Shape;8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TITLE_AND_DESCRIPTION_3">
  <p:cSld name="SECTION_TITLE_AND_DESCRIPTION_3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1" name="Google Shape;91;p1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2" name="Google Shape;9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" name="Google Shape;93;p14"/>
          <p:cNvSpPr txBox="1"/>
          <p:nvPr>
            <p:ph idx="2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" name="Google Shape;96;p15"/>
          <p:cNvSpPr txBox="1"/>
          <p:nvPr>
            <p:ph type="title"/>
          </p:nvPr>
        </p:nvSpPr>
        <p:spPr>
          <a:xfrm>
            <a:off x="95425" y="4382350"/>
            <a:ext cx="842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cxnSp>
        <p:nvCxnSpPr>
          <p:cNvPr id="97" name="Google Shape;97;p15"/>
          <p:cNvCxnSpPr/>
          <p:nvPr/>
        </p:nvCxnSpPr>
        <p:spPr>
          <a:xfrm>
            <a:off x="168250" y="4288400"/>
            <a:ext cx="8757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dark">
  <p:cSld name="BLANK_1">
    <p:bg>
      <p:bgPr>
        <a:solidFill>
          <a:schemeClr val="dk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lude">
  <p:cSld name="SECTION_TITLE_AND_DESCRIPTION_1_3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18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106" name="Google Shape;10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8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08" name="Google Shape;108;p18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" name="Google Shape;109;p18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_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3" name="Google Shape;113;p1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4" name="Google Shape;114;p1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left">
  <p:cSld name="SECTION_TITLE_AND_DESCRIPTION_1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20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0" name="Google Shape;120;p20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p20"/>
          <p:cNvSpPr txBox="1"/>
          <p:nvPr>
            <p:ph type="title"/>
          </p:nvPr>
        </p:nvSpPr>
        <p:spPr>
          <a:xfrm>
            <a:off x="48829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2" name="Google Shape;122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left, Heading">
  <p:cSld name="SECTION_TITLE_AND_DESCRIPTION_1_1_1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6" name="Google Shape;126;p21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p21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8" name="Google Shape;128;p21"/>
          <p:cNvSpPr txBox="1"/>
          <p:nvPr>
            <p:ph idx="3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9" name="Google Shape;129;p21"/>
          <p:cNvSpPr txBox="1"/>
          <p:nvPr>
            <p:ph type="title"/>
          </p:nvPr>
        </p:nvSpPr>
        <p:spPr>
          <a:xfrm>
            <a:off x="208450" y="3418425"/>
            <a:ext cx="39501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pic>
        <p:nvPicPr>
          <p:cNvPr id="130" name="Google Shape;130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3" name="Google Shape;13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right">
  <p:cSld name="SECTION_TITLE_AND_DESCRIPTION_1_2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7" name="Google Shape;137;p23"/>
          <p:cNvSpPr txBox="1"/>
          <p:nvPr>
            <p:ph idx="1" type="body"/>
          </p:nvPr>
        </p:nvSpPr>
        <p:spPr>
          <a:xfrm>
            <a:off x="3117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8" name="Google Shape;138;p23"/>
          <p:cNvSpPr txBox="1"/>
          <p:nvPr>
            <p:ph idx="2" type="body"/>
          </p:nvPr>
        </p:nvSpPr>
        <p:spPr>
          <a:xfrm>
            <a:off x="4882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9" name="Google Shape;139;p23"/>
          <p:cNvSpPr txBox="1"/>
          <p:nvPr>
            <p:ph type="title"/>
          </p:nvPr>
        </p:nvSpPr>
        <p:spPr>
          <a:xfrm>
            <a:off x="3117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10.xml"/><Relationship Id="rId22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9.xml"/><Relationship Id="rId21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12.xml"/><Relationship Id="rId24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Roboto Medium"/>
              <a:buNone/>
              <a:defRPr sz="1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572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docs.google.com/presentation/d/1ZQ35zGrbnMCIk2kr37bKyxc4RMvRBFrvZd1me2Av2hQ/edit#slide=id.g28d08577524_0_74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7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5" name="Google Shape;145;p24"/>
          <p:cNvSpPr txBox="1"/>
          <p:nvPr/>
        </p:nvSpPr>
        <p:spPr>
          <a:xfrm>
            <a:off x="311700" y="3854350"/>
            <a:ext cx="8520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CS61B, Fall</a:t>
            </a:r>
            <a:r>
              <a:rPr lang="en" sz="160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 202</a:t>
            </a: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3</a:t>
            </a:r>
            <a:r>
              <a:rPr lang="en" sz="160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 @ UC Berkeley</a:t>
            </a:r>
            <a:endParaRPr sz="1600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6" name="Google Shape;146;p24"/>
          <p:cNvSpPr txBox="1"/>
          <p:nvPr/>
        </p:nvSpPr>
        <p:spPr>
          <a:xfrm>
            <a:off x="311700" y="1658975"/>
            <a:ext cx="8709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rPr>
              <a:t>Software Engineering II</a:t>
            </a:r>
            <a:endParaRPr sz="3600">
              <a:solidFill>
                <a:srgbClr val="0B5394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47" name="Google Shape;147;p24"/>
          <p:cNvSpPr txBox="1"/>
          <p:nvPr/>
        </p:nvSpPr>
        <p:spPr>
          <a:xfrm>
            <a:off x="345775" y="2740300"/>
            <a:ext cx="27627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F9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Lecture 31</a:t>
            </a:r>
            <a:endParaRPr sz="1200">
              <a:solidFill>
                <a:srgbClr val="BF9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5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Background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Problem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Writing Clean Code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Build Your Own World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Documentation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Q &amp; A</a:t>
            </a:r>
            <a:endParaRPr/>
          </a:p>
        </p:txBody>
      </p:sp>
      <p:sp>
        <p:nvSpPr>
          <p:cNvPr id="153" name="Google Shape;153;p2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31, CS61B, Fall 2023</a:t>
            </a:r>
            <a:endParaRPr/>
          </a:p>
        </p:txBody>
      </p:sp>
      <p:sp>
        <p:nvSpPr>
          <p:cNvPr id="154" name="Google Shape;154;p2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6"/>
          <p:cNvSpPr txBox="1"/>
          <p:nvPr/>
        </p:nvSpPr>
        <p:spPr>
          <a:xfrm>
            <a:off x="939975" y="2416188"/>
            <a:ext cx="317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Roboto"/>
                <a:ea typeface="Roboto"/>
                <a:cs typeface="Roboto"/>
                <a:sym typeface="Roboto"/>
              </a:rPr>
              <a:t>Noah Adhikari (he/him)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" name="Google Shape;160;p26"/>
          <p:cNvSpPr txBox="1"/>
          <p:nvPr/>
        </p:nvSpPr>
        <p:spPr>
          <a:xfrm>
            <a:off x="532575" y="2827913"/>
            <a:ext cx="39867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Senior majoring in CS and Applied Math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First taught 61B in Spring 2022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From Torrance, California (same as Justin!)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 sneeze when I look at the sun (this is called ACHOO syndrome)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1" name="Google Shape;161;p26"/>
          <p:cNvPicPr preferRelativeResize="0"/>
          <p:nvPr/>
        </p:nvPicPr>
        <p:blipFill rotWithShape="1">
          <a:blip r:embed="rId3">
            <a:alphaModFix/>
          </a:blip>
          <a:srcRect b="21372" l="4800" r="4800" t="3765"/>
          <a:stretch/>
        </p:blipFill>
        <p:spPr>
          <a:xfrm>
            <a:off x="5726775" y="282325"/>
            <a:ext cx="2103600" cy="21036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62" name="Google Shape;162;p26"/>
          <p:cNvSpPr txBox="1"/>
          <p:nvPr/>
        </p:nvSpPr>
        <p:spPr>
          <a:xfrm>
            <a:off x="5192625" y="2385938"/>
            <a:ext cx="317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Roboto"/>
                <a:ea typeface="Roboto"/>
                <a:cs typeface="Roboto"/>
                <a:sym typeface="Roboto"/>
              </a:rPr>
              <a:t>Stella Kaval (she/her)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" name="Google Shape;163;p26"/>
          <p:cNvSpPr txBox="1"/>
          <p:nvPr/>
        </p:nvSpPr>
        <p:spPr>
          <a:xfrm>
            <a:off x="4785225" y="2797675"/>
            <a:ext cx="41382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Junior majoring in CS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2nd semester on course staff for CS 61B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From SF Bay Area, CA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My favorite music artist is ABBA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Most recently used emojis: 🫶💀🫠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4" name="Google Shape;164;p26"/>
          <p:cNvPicPr preferRelativeResize="0"/>
          <p:nvPr/>
        </p:nvPicPr>
        <p:blipFill rotWithShape="1">
          <a:blip r:embed="rId4">
            <a:alphaModFix/>
          </a:blip>
          <a:srcRect b="10778" l="0" r="0" t="10778"/>
          <a:stretch/>
        </p:blipFill>
        <p:spPr>
          <a:xfrm>
            <a:off x="1474125" y="282313"/>
            <a:ext cx="2103600" cy="21036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7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Today’s lecture will be primarily on how to write good code. You can apply the concepts you’ll learn today </a:t>
            </a:r>
            <a:r>
              <a:rPr i="1" lang="en"/>
              <a:t>right now</a:t>
            </a:r>
            <a:r>
              <a:rPr lang="en"/>
              <a:t>! They’ll also apply forever.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General </a:t>
            </a:r>
            <a:r>
              <a:rPr lang="en"/>
              <a:t>Q&amp;A will be at the very end.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Background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The Problem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Writing Clean Code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Build Your Own World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Documentation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Q &amp; A</a:t>
            </a:r>
            <a:endParaRPr/>
          </a:p>
        </p:txBody>
      </p:sp>
      <p:sp>
        <p:nvSpPr>
          <p:cNvPr id="175" name="Google Shape;175;p28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31, CS61B, Fall 2023</a:t>
            </a:r>
            <a:endParaRPr/>
          </a:p>
        </p:txBody>
      </p:sp>
      <p:sp>
        <p:nvSpPr>
          <p:cNvPr id="176" name="Google Shape;176;p28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Problem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9"/>
          <p:cNvSpPr txBox="1"/>
          <p:nvPr>
            <p:ph idx="1" type="body"/>
          </p:nvPr>
        </p:nvSpPr>
        <p:spPr>
          <a:xfrm>
            <a:off x="107050" y="402200"/>
            <a:ext cx="8884200" cy="460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Your work will be available to other people.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People are going to build off of it, or at least see it.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/>
              <a:t>Maybe this is your future self!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Ideally, it should be flawless and well-documented.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Deadlines exist.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School deadlines, grants, conferences, reviews, etc.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Prototypical, hastily-written code is inevitable.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There is pressure to achieve both quality </a:t>
            </a:r>
            <a:r>
              <a:rPr i="1" lang="en"/>
              <a:t>and </a:t>
            </a:r>
            <a:r>
              <a:rPr lang="en"/>
              <a:t>quantity.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This is inarguably a tradeoff - prioritizing one will negatively affect the other.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This doesn’t just apply to code </a:t>
            </a:r>
            <a:r>
              <a:rPr lang="en"/>
              <a:t>- it applies to life</a:t>
            </a:r>
            <a:r>
              <a:rPr lang="en"/>
              <a:t>. </a:t>
            </a:r>
            <a:r>
              <a:rPr lang="en"/>
              <a:t>🤯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How do you deal with this? See </a:t>
            </a:r>
            <a:r>
              <a:rPr lang="en" u="sng">
                <a:solidFill>
                  <a:schemeClr val="hlink"/>
                </a:solidFill>
                <a:hlinkClick r:id="rId3"/>
              </a:rPr>
              <a:t>Strategic vs Tactical Programming</a:t>
            </a:r>
            <a:r>
              <a:rPr lang="en"/>
              <a:t> from SWE I.</a:t>
            </a:r>
            <a:endParaRPr/>
          </a:p>
        </p:txBody>
      </p:sp>
      <p:sp>
        <p:nvSpPr>
          <p:cNvPr id="182" name="Google Shape;182;p2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Technical Debt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 Cares?</a:t>
            </a:r>
            <a:endParaRPr/>
          </a:p>
        </p:txBody>
      </p:sp>
      <p:sp>
        <p:nvSpPr>
          <p:cNvPr id="188" name="Google Shape;188;p30"/>
          <p:cNvSpPr txBox="1"/>
          <p:nvPr>
            <p:ph idx="1" type="body"/>
          </p:nvPr>
        </p:nvSpPr>
        <p:spPr>
          <a:xfrm>
            <a:off x="311700" y="4153400"/>
            <a:ext cx="8520600" cy="48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probably don’t want your work to end up like Space Cadet Pinball </a:t>
            </a:r>
            <a:r>
              <a:rPr lang="en"/>
              <a:t>👀</a:t>
            </a:r>
            <a:endParaRPr/>
          </a:p>
        </p:txBody>
      </p:sp>
      <p:pic>
        <p:nvPicPr>
          <p:cNvPr id="189" name="Google Shape;189;p30"/>
          <p:cNvPicPr preferRelativeResize="0"/>
          <p:nvPr/>
        </p:nvPicPr>
        <p:blipFill rotWithShape="1">
          <a:blip r:embed="rId3">
            <a:alphaModFix/>
          </a:blip>
          <a:srcRect b="0" l="7494" r="6357" t="0"/>
          <a:stretch/>
        </p:blipFill>
        <p:spPr>
          <a:xfrm>
            <a:off x="2040700" y="496775"/>
            <a:ext cx="5062601" cy="347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1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Background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Problem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Writing Clean Code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Build Your Own World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Documentation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Q &amp; A</a:t>
            </a:r>
            <a:endParaRPr/>
          </a:p>
        </p:txBody>
      </p:sp>
      <p:sp>
        <p:nvSpPr>
          <p:cNvPr id="195" name="Google Shape;195;p31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31, CS61B, Fall 2023</a:t>
            </a:r>
            <a:endParaRPr/>
          </a:p>
        </p:txBody>
      </p:sp>
      <p:sp>
        <p:nvSpPr>
          <p:cNvPr id="196" name="Google Shape;196;p31"/>
          <p:cNvSpPr txBox="1"/>
          <p:nvPr>
            <p:ph type="title"/>
          </p:nvPr>
        </p:nvSpPr>
        <p:spPr>
          <a:xfrm>
            <a:off x="177925" y="2003300"/>
            <a:ext cx="415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Writing Clean Code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IMPORTANT NOTE!</a:t>
            </a:r>
            <a:endParaRPr/>
          </a:p>
        </p:txBody>
      </p:sp>
      <p:sp>
        <p:nvSpPr>
          <p:cNvPr id="202" name="Google Shape;202;p32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Refactoring</a:t>
            </a:r>
            <a:r>
              <a:rPr lang="en"/>
              <a:t> is changing your code to make things more organized without affecting functionality.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Before refactoring, always add and commit your code! This way, you can restore your old work if necessary.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 this lecture, I won’t do this for brevity. But you should!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Bad Code Example 1 - What’s wrong with this?</a:t>
            </a:r>
            <a:endParaRPr/>
          </a:p>
        </p:txBody>
      </p:sp>
      <p:sp>
        <p:nvSpPr>
          <p:cNvPr id="208" name="Google Shape;208;p33"/>
          <p:cNvSpPr txBox="1"/>
          <p:nvPr>
            <p:ph idx="1" type="body"/>
          </p:nvPr>
        </p:nvSpPr>
        <p:spPr>
          <a:xfrm>
            <a:off x="107050" y="402200"/>
            <a:ext cx="4252800" cy="4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33B3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public class </a:t>
            </a:r>
            <a:r>
              <a:rPr b="1" lang="en" sz="14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Structure {</a:t>
            </a:r>
            <a:endParaRPr b="1" sz="14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</a:t>
            </a:r>
            <a:r>
              <a:rPr b="1" lang="en" sz="1400">
                <a:solidFill>
                  <a:srgbClr val="0033B3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private class </a:t>
            </a:r>
            <a:r>
              <a:rPr b="1" lang="en" sz="14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Brick {</a:t>
            </a:r>
            <a:endParaRPr b="1" sz="14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    Brick next;</a:t>
            </a:r>
            <a:endParaRPr b="1" sz="14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}</a:t>
            </a:r>
            <a:endParaRPr b="1" sz="14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</a:t>
            </a:r>
            <a:r>
              <a:rPr b="1" lang="en" sz="1400">
                <a:solidFill>
                  <a:srgbClr val="0033B3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public static int </a:t>
            </a:r>
            <a:r>
              <a:rPr b="1" lang="en" sz="14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size(Brick b) {</a:t>
            </a:r>
            <a:endParaRPr b="1" sz="14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    </a:t>
            </a:r>
            <a:r>
              <a:rPr b="1" lang="en" sz="1400">
                <a:solidFill>
                  <a:srgbClr val="0033B3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if </a:t>
            </a:r>
            <a:r>
              <a:rPr b="1" lang="en" sz="14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(b == </a:t>
            </a:r>
            <a:r>
              <a:rPr b="1" lang="en" sz="1400">
                <a:solidFill>
                  <a:srgbClr val="0033B3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null</a:t>
            </a:r>
            <a:r>
              <a:rPr b="1" lang="en" sz="14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) {</a:t>
            </a:r>
            <a:endParaRPr b="1" sz="14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        </a:t>
            </a:r>
            <a:r>
              <a:rPr b="1" lang="en" sz="1400">
                <a:solidFill>
                  <a:srgbClr val="0033B3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return </a:t>
            </a:r>
            <a:r>
              <a:rPr b="1" lang="en" sz="1400">
                <a:solidFill>
                  <a:srgbClr val="1750EB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0</a:t>
            </a:r>
            <a:r>
              <a:rPr b="1" lang="en" sz="14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;</a:t>
            </a:r>
            <a:endParaRPr b="1" sz="14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    }</a:t>
            </a:r>
            <a:endParaRPr b="1" sz="14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    </a:t>
            </a:r>
            <a:r>
              <a:rPr b="1" lang="en" sz="1400">
                <a:solidFill>
                  <a:srgbClr val="0033B3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if </a:t>
            </a:r>
            <a:r>
              <a:rPr b="1" lang="en" sz="14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(b.next == </a:t>
            </a:r>
            <a:r>
              <a:rPr b="1" lang="en" sz="1400">
                <a:solidFill>
                  <a:srgbClr val="0033B3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null</a:t>
            </a:r>
            <a:r>
              <a:rPr b="1" lang="en" sz="14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) {</a:t>
            </a:r>
            <a:endParaRPr b="1" sz="14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        </a:t>
            </a:r>
            <a:r>
              <a:rPr b="1" lang="en" sz="1400">
                <a:solidFill>
                  <a:srgbClr val="0033B3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return </a:t>
            </a:r>
            <a:r>
              <a:rPr b="1" lang="en" sz="1400">
                <a:solidFill>
                  <a:srgbClr val="1750EB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1</a:t>
            </a:r>
            <a:r>
              <a:rPr b="1" lang="en" sz="14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;</a:t>
            </a:r>
            <a:endParaRPr b="1" sz="14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    }</a:t>
            </a:r>
            <a:endParaRPr b="1" sz="14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    </a:t>
            </a:r>
            <a:r>
              <a:rPr b="1" lang="en" sz="1400">
                <a:solidFill>
                  <a:srgbClr val="0033B3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return </a:t>
            </a:r>
            <a:r>
              <a:rPr b="1" lang="en" sz="1400">
                <a:solidFill>
                  <a:srgbClr val="1750EB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1 </a:t>
            </a:r>
            <a:r>
              <a:rPr b="1" lang="en" sz="14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+ size(b.next);</a:t>
            </a:r>
            <a:endParaRPr b="1" sz="14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}</a:t>
            </a:r>
            <a:endParaRPr b="1" sz="14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}</a:t>
            </a:r>
            <a:endParaRPr b="1" sz="14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0033B3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209" name="Google Shape;209;p33"/>
          <p:cNvSpPr txBox="1"/>
          <p:nvPr/>
        </p:nvSpPr>
        <p:spPr>
          <a:xfrm>
            <a:off x="4489325" y="393600"/>
            <a:ext cx="4197300" cy="42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What does the </a:t>
            </a:r>
            <a:r>
              <a:rPr b="1" lang="en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rPr>
              <a:t>size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method even do?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Returns the size of a </a:t>
            </a:r>
            <a:r>
              <a:rPr b="1" lang="en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rPr>
              <a:t>Structure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? A </a:t>
            </a:r>
            <a:r>
              <a:rPr b="1" lang="en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rPr>
              <a:t>Brick 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the structure?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Why is this method </a:t>
            </a:r>
            <a:r>
              <a:rPr b="1" lang="en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rPr>
              <a:t>static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?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Unnecessary base-case (arms-length recursion)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You can omit the size-1 case entirely and get the same behavior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Exposes visibility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Brick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private, but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size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public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and takes a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Brick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as input. If we want to find the size from another class, we can never actually call this method, because we can’t access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Brick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s!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Why do we need to compute the size like this? Can’t we just track it with an instance variable?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Better </a:t>
            </a:r>
            <a:r>
              <a:rPr lang="en"/>
              <a:t>Code Example 1</a:t>
            </a:r>
            <a:endParaRPr/>
          </a:p>
        </p:txBody>
      </p:sp>
      <p:sp>
        <p:nvSpPr>
          <p:cNvPr id="215" name="Google Shape;215;p34"/>
          <p:cNvSpPr txBox="1"/>
          <p:nvPr>
            <p:ph idx="1" type="body"/>
          </p:nvPr>
        </p:nvSpPr>
        <p:spPr>
          <a:xfrm>
            <a:off x="107050" y="402200"/>
            <a:ext cx="5361000" cy="4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1" lang="en" sz="1300">
                <a:solidFill>
                  <a:srgbClr val="8C8C8C"/>
                </a:solidFill>
                <a:latin typeface="Inconsolata"/>
                <a:ea typeface="Inconsolata"/>
                <a:cs typeface="Inconsolata"/>
                <a:sym typeface="Inconsolata"/>
              </a:rPr>
              <a:t>/** Comment on what a Structure is/does. */</a:t>
            </a:r>
            <a:endParaRPr b="1" i="1" sz="1300">
              <a:solidFill>
                <a:srgbClr val="8C8C8C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33B3"/>
                </a:solidFill>
                <a:latin typeface="Inconsolata"/>
                <a:ea typeface="Inconsolata"/>
                <a:cs typeface="Inconsolata"/>
                <a:sym typeface="Inconsolata"/>
              </a:rPr>
              <a:t>public class </a:t>
            </a:r>
            <a:r>
              <a:rPr b="1" lang="en" sz="13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Structure {</a:t>
            </a:r>
            <a:endParaRPr b="1" sz="130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   </a:t>
            </a:r>
            <a:r>
              <a:rPr b="1" i="1" lang="en" sz="1300">
                <a:solidFill>
                  <a:srgbClr val="8C8C8C"/>
                </a:solidFill>
                <a:latin typeface="Inconsolata"/>
                <a:ea typeface="Inconsolata"/>
                <a:cs typeface="Inconsolata"/>
                <a:sym typeface="Inconsolata"/>
              </a:rPr>
              <a:t>/** Comment on what a Brick is/does. */</a:t>
            </a:r>
            <a:endParaRPr b="1" i="1" sz="1300">
              <a:solidFill>
                <a:srgbClr val="8C8C8C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1" lang="en" sz="1300">
                <a:solidFill>
                  <a:srgbClr val="8C8C8C"/>
                </a:solidFill>
                <a:latin typeface="Inconsolata"/>
                <a:ea typeface="Inconsolata"/>
                <a:cs typeface="Inconsolata"/>
                <a:sym typeface="Inconsolata"/>
              </a:rPr>
              <a:t>   </a:t>
            </a:r>
            <a:r>
              <a:rPr b="1" lang="en" sz="1300">
                <a:solidFill>
                  <a:srgbClr val="0033B3"/>
                </a:solidFill>
                <a:latin typeface="Inconsolata"/>
                <a:ea typeface="Inconsolata"/>
                <a:cs typeface="Inconsolata"/>
                <a:sym typeface="Inconsolata"/>
              </a:rPr>
              <a:t>private class </a:t>
            </a:r>
            <a:r>
              <a:rPr b="1" lang="en" sz="13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Brick {</a:t>
            </a:r>
            <a:endParaRPr b="1" sz="130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       </a:t>
            </a:r>
            <a:r>
              <a:rPr b="1" i="1" lang="en" sz="1300">
                <a:solidFill>
                  <a:srgbClr val="8C8C8C"/>
                </a:solidFill>
                <a:latin typeface="Inconsolata"/>
                <a:ea typeface="Inconsolata"/>
                <a:cs typeface="Inconsolata"/>
                <a:sym typeface="Inconsolata"/>
              </a:rPr>
              <a:t>/** Next Brick in the Structure. */</a:t>
            </a:r>
            <a:endParaRPr b="1" sz="130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       Brick next;</a:t>
            </a:r>
            <a:endParaRPr b="1" sz="130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   }</a:t>
            </a:r>
            <a:endParaRPr b="1" sz="130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   </a:t>
            </a:r>
            <a:r>
              <a:rPr b="1" i="1" lang="en" sz="1300">
                <a:solidFill>
                  <a:srgbClr val="8C8C8C"/>
                </a:solidFill>
                <a:latin typeface="Inconsolata"/>
                <a:ea typeface="Inconsolata"/>
                <a:cs typeface="Inconsolata"/>
                <a:sym typeface="Inconsolata"/>
              </a:rPr>
              <a:t>/* The first Brick in this Structure. */</a:t>
            </a:r>
            <a:endParaRPr b="1" i="1" sz="1300">
              <a:solidFill>
                <a:srgbClr val="8C8C8C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1" lang="en" sz="1300">
                <a:solidFill>
                  <a:srgbClr val="8C8C8C"/>
                </a:solidFill>
                <a:latin typeface="Inconsolata"/>
                <a:ea typeface="Inconsolata"/>
                <a:cs typeface="Inconsolata"/>
                <a:sym typeface="Inconsolata"/>
              </a:rPr>
              <a:t>   </a:t>
            </a:r>
            <a:r>
              <a:rPr b="1" lang="en" sz="1300">
                <a:solidFill>
                  <a:srgbClr val="0033B3"/>
                </a:solidFill>
                <a:latin typeface="Inconsolata"/>
                <a:ea typeface="Inconsolata"/>
                <a:cs typeface="Inconsolata"/>
                <a:sym typeface="Inconsolata"/>
              </a:rPr>
              <a:t>private </a:t>
            </a:r>
            <a:r>
              <a:rPr b="1" lang="en" sz="13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Brick head;</a:t>
            </a:r>
            <a:endParaRPr b="1" sz="130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   </a:t>
            </a:r>
            <a:r>
              <a:rPr b="1" i="1" lang="en" sz="1300">
                <a:solidFill>
                  <a:srgbClr val="8C8C8C"/>
                </a:solidFill>
                <a:latin typeface="Inconsolata"/>
                <a:ea typeface="Inconsolata"/>
                <a:cs typeface="Inconsolata"/>
                <a:sym typeface="Inconsolata"/>
              </a:rPr>
              <a:t>/* Number of Bricks in this Structure. */</a:t>
            </a:r>
            <a:endParaRPr b="1" i="1" sz="1300">
              <a:solidFill>
                <a:srgbClr val="8C8C8C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1" lang="en" sz="1300">
                <a:solidFill>
                  <a:srgbClr val="8C8C8C"/>
                </a:solidFill>
                <a:latin typeface="Inconsolata"/>
                <a:ea typeface="Inconsolata"/>
                <a:cs typeface="Inconsolata"/>
                <a:sym typeface="Inconsolata"/>
              </a:rPr>
              <a:t>   </a:t>
            </a:r>
            <a:r>
              <a:rPr b="1" lang="en" sz="1300">
                <a:solidFill>
                  <a:srgbClr val="0033B3"/>
                </a:solidFill>
                <a:latin typeface="Inconsolata"/>
                <a:ea typeface="Inconsolata"/>
                <a:cs typeface="Inconsolata"/>
                <a:sym typeface="Inconsolata"/>
              </a:rPr>
              <a:t>private int </a:t>
            </a:r>
            <a:r>
              <a:rPr b="1" lang="en" sz="13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size;</a:t>
            </a:r>
            <a:endParaRPr b="1" sz="130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   </a:t>
            </a:r>
            <a:r>
              <a:rPr b="1" i="1" lang="en" sz="1300">
                <a:solidFill>
                  <a:srgbClr val="8C8C8C"/>
                </a:solidFill>
                <a:latin typeface="Inconsolata"/>
                <a:ea typeface="Inconsolata"/>
                <a:cs typeface="Inconsolata"/>
                <a:sym typeface="Inconsolata"/>
              </a:rPr>
              <a:t>/** Returns the number of Bricks</a:t>
            </a:r>
            <a:endParaRPr b="1" i="1" sz="1300">
              <a:solidFill>
                <a:srgbClr val="8C8C8C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1" lang="en" sz="1300">
                <a:solidFill>
                  <a:srgbClr val="8C8C8C"/>
                </a:solidFill>
                <a:latin typeface="Inconsolata"/>
                <a:ea typeface="Inconsolata"/>
                <a:cs typeface="Inconsolata"/>
                <a:sym typeface="Inconsolata"/>
              </a:rPr>
              <a:t>     * </a:t>
            </a:r>
            <a:r>
              <a:rPr b="1" i="1" lang="en" sz="1300">
                <a:solidFill>
                  <a:srgbClr val="8C8C8C"/>
                </a:solidFill>
                <a:latin typeface="Inconsolata"/>
                <a:ea typeface="Inconsolata"/>
                <a:cs typeface="Inconsolata"/>
                <a:sym typeface="Inconsolata"/>
              </a:rPr>
              <a:t>in this Structure. */</a:t>
            </a:r>
            <a:endParaRPr b="1" i="1" sz="1300">
              <a:solidFill>
                <a:srgbClr val="8C8C8C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1" lang="en" sz="1300">
                <a:solidFill>
                  <a:srgbClr val="8C8C8C"/>
                </a:solidFill>
                <a:latin typeface="Inconsolata"/>
                <a:ea typeface="Inconsolata"/>
                <a:cs typeface="Inconsolata"/>
                <a:sym typeface="Inconsolata"/>
              </a:rPr>
              <a:t>   </a:t>
            </a:r>
            <a:r>
              <a:rPr b="1" lang="en" sz="1300">
                <a:solidFill>
                  <a:srgbClr val="0033B3"/>
                </a:solidFill>
                <a:latin typeface="Inconsolata"/>
                <a:ea typeface="Inconsolata"/>
                <a:cs typeface="Inconsolata"/>
                <a:sym typeface="Inconsolata"/>
              </a:rPr>
              <a:t>public int </a:t>
            </a:r>
            <a:r>
              <a:rPr b="1" lang="en" sz="13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size() {</a:t>
            </a:r>
            <a:endParaRPr b="1" sz="130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       </a:t>
            </a:r>
            <a:r>
              <a:rPr b="1" lang="en" sz="1300">
                <a:solidFill>
                  <a:srgbClr val="0033B3"/>
                </a:solidFill>
                <a:latin typeface="Inconsolata"/>
                <a:ea typeface="Inconsolata"/>
                <a:cs typeface="Inconsolata"/>
                <a:sym typeface="Inconsolata"/>
              </a:rPr>
              <a:t>return </a:t>
            </a:r>
            <a:r>
              <a:rPr b="1" lang="en" sz="13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size;</a:t>
            </a:r>
            <a:endParaRPr b="1" sz="130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   }</a:t>
            </a:r>
            <a:endParaRPr b="1" sz="130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033B3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216" name="Google Shape;216;p34"/>
          <p:cNvSpPr txBox="1"/>
          <p:nvPr/>
        </p:nvSpPr>
        <p:spPr>
          <a:xfrm>
            <a:off x="4707675" y="393600"/>
            <a:ext cx="4197300" cy="42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What does the </a:t>
            </a:r>
            <a:r>
              <a:rPr b="1" lang="en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rPr>
              <a:t>size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method even do?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Returns the size of a </a:t>
            </a:r>
            <a:r>
              <a:rPr b="1" lang="en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rPr>
              <a:t>Structure</a:t>
            </a:r>
            <a:endParaRPr b="1">
              <a:solidFill>
                <a:schemeClr val="dk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Maybe too many comments now?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Unnecessary base-case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 don’t even care about this anymore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Exposes visibility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Calling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size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doesn’t require knowing any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private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classes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Why do we need to compute the size like this? Can’t we just track it with an instance variable?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Yes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Bad Code Example 2 - What’s wrong with this?</a:t>
            </a:r>
            <a:endParaRPr/>
          </a:p>
        </p:txBody>
      </p:sp>
      <p:sp>
        <p:nvSpPr>
          <p:cNvPr id="222" name="Google Shape;222;p35"/>
          <p:cNvSpPr txBox="1"/>
          <p:nvPr/>
        </p:nvSpPr>
        <p:spPr>
          <a:xfrm>
            <a:off x="4707675" y="393600"/>
            <a:ext cx="4197300" cy="42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 have no idea what’s going on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Probably prints 3D arrays?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p35"/>
          <p:cNvSpPr txBox="1"/>
          <p:nvPr>
            <p:ph idx="1" type="body"/>
          </p:nvPr>
        </p:nvSpPr>
        <p:spPr>
          <a:xfrm>
            <a:off x="106075" y="393600"/>
            <a:ext cx="4269000" cy="4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33B3"/>
                </a:solidFill>
                <a:latin typeface="Inconsolata"/>
                <a:ea typeface="Inconsolata"/>
                <a:cs typeface="Inconsolata"/>
                <a:sym typeface="Inconsolata"/>
              </a:rPr>
              <a:t>static void </a:t>
            </a:r>
            <a:r>
              <a:rPr b="1" lang="en" sz="1000">
                <a:solidFill>
                  <a:srgbClr val="00627A"/>
                </a:solidFill>
                <a:latin typeface="Inconsolata"/>
                <a:ea typeface="Inconsolata"/>
                <a:cs typeface="Inconsolata"/>
                <a:sym typeface="Inconsolata"/>
              </a:rPr>
              <a:t>print3DArray</a:t>
            </a: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(</a:t>
            </a:r>
            <a:r>
              <a:rPr b="1" lang="en" sz="1000">
                <a:latin typeface="Inconsolata"/>
                <a:ea typeface="Inconsolata"/>
                <a:cs typeface="Inconsolata"/>
                <a:sym typeface="Inconsolata"/>
              </a:rPr>
              <a:t>String</a:t>
            </a: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[][][] arrays) {</a:t>
            </a:r>
            <a:endParaRPr b="1" sz="100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   </a:t>
            </a:r>
            <a:r>
              <a:rPr b="1" lang="en" sz="1000">
                <a:latin typeface="Inconsolata"/>
                <a:ea typeface="Inconsolata"/>
                <a:cs typeface="Inconsolata"/>
                <a:sym typeface="Inconsolata"/>
              </a:rPr>
              <a:t>System</a:t>
            </a: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.</a:t>
            </a:r>
            <a:r>
              <a:rPr b="1" i="1" lang="en" sz="1000">
                <a:solidFill>
                  <a:srgbClr val="871094"/>
                </a:solidFill>
                <a:latin typeface="Inconsolata"/>
                <a:ea typeface="Inconsolata"/>
                <a:cs typeface="Inconsolata"/>
                <a:sym typeface="Inconsolata"/>
              </a:rPr>
              <a:t>out</a:t>
            </a: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.print(</a:t>
            </a:r>
            <a:r>
              <a:rPr b="1" lang="en" sz="1000">
                <a:solidFill>
                  <a:srgbClr val="067D17"/>
                </a:solidFill>
                <a:latin typeface="Inconsolata"/>
                <a:ea typeface="Inconsolata"/>
                <a:cs typeface="Inconsolata"/>
                <a:sym typeface="Inconsolata"/>
              </a:rPr>
              <a:t>"["</a:t>
            </a: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);</a:t>
            </a:r>
            <a:endParaRPr b="1" sz="100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   </a:t>
            </a:r>
            <a:r>
              <a:rPr b="1" lang="en" sz="1000">
                <a:solidFill>
                  <a:srgbClr val="0033B3"/>
                </a:solidFill>
                <a:latin typeface="Inconsolata"/>
                <a:ea typeface="Inconsolata"/>
                <a:cs typeface="Inconsolata"/>
                <a:sym typeface="Inconsolata"/>
              </a:rPr>
              <a:t>for </a:t>
            </a: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(</a:t>
            </a:r>
            <a:r>
              <a:rPr b="1" lang="en" sz="1000">
                <a:solidFill>
                  <a:srgbClr val="0033B3"/>
                </a:solidFill>
                <a:latin typeface="Inconsolata"/>
                <a:ea typeface="Inconsolata"/>
                <a:cs typeface="Inconsolata"/>
                <a:sym typeface="Inconsolata"/>
              </a:rPr>
              <a:t>int </a:t>
            </a:r>
            <a:r>
              <a:rPr b="1" lang="en" sz="1000">
                <a:latin typeface="Inconsolata"/>
                <a:ea typeface="Inconsolata"/>
                <a:cs typeface="Inconsolata"/>
                <a:sym typeface="Inconsolata"/>
              </a:rPr>
              <a:t>i </a:t>
            </a: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= </a:t>
            </a:r>
            <a:r>
              <a:rPr b="1" lang="en" sz="1000">
                <a:solidFill>
                  <a:srgbClr val="1750EB"/>
                </a:solidFill>
                <a:latin typeface="Inconsolata"/>
                <a:ea typeface="Inconsolata"/>
                <a:cs typeface="Inconsolata"/>
                <a:sym typeface="Inconsolata"/>
              </a:rPr>
              <a:t>0</a:t>
            </a: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; </a:t>
            </a:r>
            <a:r>
              <a:rPr b="1" lang="en" sz="1000">
                <a:latin typeface="Inconsolata"/>
                <a:ea typeface="Inconsolata"/>
                <a:cs typeface="Inconsolata"/>
                <a:sym typeface="Inconsolata"/>
              </a:rPr>
              <a:t>i </a:t>
            </a: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&lt; arrays.</a:t>
            </a:r>
            <a:r>
              <a:rPr b="1" lang="en" sz="1000">
                <a:solidFill>
                  <a:srgbClr val="871094"/>
                </a:solidFill>
                <a:latin typeface="Inconsolata"/>
                <a:ea typeface="Inconsolata"/>
                <a:cs typeface="Inconsolata"/>
                <a:sym typeface="Inconsolata"/>
              </a:rPr>
              <a:t>length</a:t>
            </a: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; </a:t>
            </a:r>
            <a:r>
              <a:rPr b="1" lang="en" sz="1000">
                <a:latin typeface="Inconsolata"/>
                <a:ea typeface="Inconsolata"/>
                <a:cs typeface="Inconsolata"/>
                <a:sym typeface="Inconsolata"/>
              </a:rPr>
              <a:t>i</a:t>
            </a: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++) {</a:t>
            </a:r>
            <a:endParaRPr b="1" sz="100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       </a:t>
            </a:r>
            <a:r>
              <a:rPr b="1" lang="en" sz="1000">
                <a:solidFill>
                  <a:srgbClr val="0033B3"/>
                </a:solidFill>
                <a:latin typeface="Inconsolata"/>
                <a:ea typeface="Inconsolata"/>
                <a:cs typeface="Inconsolata"/>
                <a:sym typeface="Inconsolata"/>
              </a:rPr>
              <a:t>if </a:t>
            </a: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(arrays[</a:t>
            </a:r>
            <a:r>
              <a:rPr b="1" lang="en" sz="1000">
                <a:latin typeface="Inconsolata"/>
                <a:ea typeface="Inconsolata"/>
                <a:cs typeface="Inconsolata"/>
                <a:sym typeface="Inconsolata"/>
              </a:rPr>
              <a:t>i</a:t>
            </a: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] == </a:t>
            </a:r>
            <a:r>
              <a:rPr b="1" lang="en" sz="1000">
                <a:solidFill>
                  <a:srgbClr val="0033B3"/>
                </a:solidFill>
                <a:latin typeface="Inconsolata"/>
                <a:ea typeface="Inconsolata"/>
                <a:cs typeface="Inconsolata"/>
                <a:sym typeface="Inconsolata"/>
              </a:rPr>
              <a:t>null</a:t>
            </a: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) {</a:t>
            </a:r>
            <a:endParaRPr b="1" sz="100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           </a:t>
            </a:r>
            <a:r>
              <a:rPr b="1" lang="en" sz="1000">
                <a:solidFill>
                  <a:srgbClr val="0033B3"/>
                </a:solidFill>
                <a:latin typeface="Inconsolata"/>
                <a:ea typeface="Inconsolata"/>
                <a:cs typeface="Inconsolata"/>
                <a:sym typeface="Inconsolata"/>
              </a:rPr>
              <a:t>continue</a:t>
            </a: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;</a:t>
            </a:r>
            <a:endParaRPr b="1" sz="100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       }</a:t>
            </a:r>
            <a:endParaRPr b="1" sz="100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       </a:t>
            </a:r>
            <a:r>
              <a:rPr b="1" lang="en" sz="1000">
                <a:latin typeface="Inconsolata"/>
                <a:ea typeface="Inconsolata"/>
                <a:cs typeface="Inconsolata"/>
                <a:sym typeface="Inconsolata"/>
              </a:rPr>
              <a:t>System</a:t>
            </a: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.</a:t>
            </a:r>
            <a:r>
              <a:rPr b="1" i="1" lang="en" sz="1000">
                <a:solidFill>
                  <a:srgbClr val="871094"/>
                </a:solidFill>
                <a:latin typeface="Inconsolata"/>
                <a:ea typeface="Inconsolata"/>
                <a:cs typeface="Inconsolata"/>
                <a:sym typeface="Inconsolata"/>
              </a:rPr>
              <a:t>out</a:t>
            </a: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.print(</a:t>
            </a:r>
            <a:r>
              <a:rPr b="1" lang="en" sz="1000">
                <a:solidFill>
                  <a:srgbClr val="067D17"/>
                </a:solidFill>
                <a:latin typeface="Inconsolata"/>
                <a:ea typeface="Inconsolata"/>
                <a:cs typeface="Inconsolata"/>
                <a:sym typeface="Inconsolata"/>
              </a:rPr>
              <a:t>"["</a:t>
            </a: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);</a:t>
            </a:r>
            <a:endParaRPr b="1" sz="100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       </a:t>
            </a:r>
            <a:r>
              <a:rPr b="1" lang="en" sz="1000">
                <a:solidFill>
                  <a:srgbClr val="0033B3"/>
                </a:solidFill>
                <a:latin typeface="Inconsolata"/>
                <a:ea typeface="Inconsolata"/>
                <a:cs typeface="Inconsolata"/>
                <a:sym typeface="Inconsolata"/>
              </a:rPr>
              <a:t>for </a:t>
            </a: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(</a:t>
            </a:r>
            <a:r>
              <a:rPr b="1" lang="en" sz="1000">
                <a:solidFill>
                  <a:srgbClr val="0033B3"/>
                </a:solidFill>
                <a:latin typeface="Inconsolata"/>
                <a:ea typeface="Inconsolata"/>
                <a:cs typeface="Inconsolata"/>
                <a:sym typeface="Inconsolata"/>
              </a:rPr>
              <a:t>int </a:t>
            </a:r>
            <a:r>
              <a:rPr b="1" lang="en" sz="1000">
                <a:latin typeface="Inconsolata"/>
                <a:ea typeface="Inconsolata"/>
                <a:cs typeface="Inconsolata"/>
                <a:sym typeface="Inconsolata"/>
              </a:rPr>
              <a:t>j </a:t>
            </a: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= </a:t>
            </a:r>
            <a:r>
              <a:rPr b="1" lang="en" sz="1000">
                <a:solidFill>
                  <a:srgbClr val="1750EB"/>
                </a:solidFill>
                <a:latin typeface="Inconsolata"/>
                <a:ea typeface="Inconsolata"/>
                <a:cs typeface="Inconsolata"/>
                <a:sym typeface="Inconsolata"/>
              </a:rPr>
              <a:t>0</a:t>
            </a: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; </a:t>
            </a:r>
            <a:r>
              <a:rPr b="1" lang="en" sz="1000">
                <a:latin typeface="Inconsolata"/>
                <a:ea typeface="Inconsolata"/>
                <a:cs typeface="Inconsolata"/>
                <a:sym typeface="Inconsolata"/>
              </a:rPr>
              <a:t>j </a:t>
            </a: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&lt; arrays[</a:t>
            </a:r>
            <a:r>
              <a:rPr b="1" lang="en" sz="1000">
                <a:latin typeface="Inconsolata"/>
                <a:ea typeface="Inconsolata"/>
                <a:cs typeface="Inconsolata"/>
                <a:sym typeface="Inconsolata"/>
              </a:rPr>
              <a:t>i</a:t>
            </a: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].</a:t>
            </a:r>
            <a:r>
              <a:rPr b="1" lang="en" sz="1000">
                <a:solidFill>
                  <a:srgbClr val="871094"/>
                </a:solidFill>
                <a:latin typeface="Inconsolata"/>
                <a:ea typeface="Inconsolata"/>
                <a:cs typeface="Inconsolata"/>
                <a:sym typeface="Inconsolata"/>
              </a:rPr>
              <a:t>length</a:t>
            </a: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; </a:t>
            </a:r>
            <a:r>
              <a:rPr b="1" lang="en" sz="1000">
                <a:latin typeface="Inconsolata"/>
                <a:ea typeface="Inconsolata"/>
                <a:cs typeface="Inconsolata"/>
                <a:sym typeface="Inconsolata"/>
              </a:rPr>
              <a:t>j</a:t>
            </a: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++) {</a:t>
            </a:r>
            <a:endParaRPr b="1" sz="100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           </a:t>
            </a:r>
            <a:r>
              <a:rPr b="1" lang="en" sz="1000">
                <a:solidFill>
                  <a:srgbClr val="0033B3"/>
                </a:solidFill>
                <a:latin typeface="Inconsolata"/>
                <a:ea typeface="Inconsolata"/>
                <a:cs typeface="Inconsolata"/>
                <a:sym typeface="Inconsolata"/>
              </a:rPr>
              <a:t>if </a:t>
            </a: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(arrays[</a:t>
            </a:r>
            <a:r>
              <a:rPr b="1" lang="en" sz="1000">
                <a:latin typeface="Inconsolata"/>
                <a:ea typeface="Inconsolata"/>
                <a:cs typeface="Inconsolata"/>
                <a:sym typeface="Inconsolata"/>
              </a:rPr>
              <a:t>i</a:t>
            </a: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][</a:t>
            </a:r>
            <a:r>
              <a:rPr b="1" lang="en" sz="1000">
                <a:latin typeface="Inconsolata"/>
                <a:ea typeface="Inconsolata"/>
                <a:cs typeface="Inconsolata"/>
                <a:sym typeface="Inconsolata"/>
              </a:rPr>
              <a:t>j</a:t>
            </a: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] == </a:t>
            </a:r>
            <a:r>
              <a:rPr b="1" lang="en" sz="1000">
                <a:solidFill>
                  <a:srgbClr val="0033B3"/>
                </a:solidFill>
                <a:latin typeface="Inconsolata"/>
                <a:ea typeface="Inconsolata"/>
                <a:cs typeface="Inconsolata"/>
                <a:sym typeface="Inconsolata"/>
              </a:rPr>
              <a:t>null</a:t>
            </a: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) {</a:t>
            </a:r>
            <a:endParaRPr b="1" sz="100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               </a:t>
            </a:r>
            <a:r>
              <a:rPr b="1" lang="en" sz="1000">
                <a:solidFill>
                  <a:srgbClr val="0033B3"/>
                </a:solidFill>
                <a:latin typeface="Inconsolata"/>
                <a:ea typeface="Inconsolata"/>
                <a:cs typeface="Inconsolata"/>
                <a:sym typeface="Inconsolata"/>
              </a:rPr>
              <a:t>continue</a:t>
            </a: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;</a:t>
            </a:r>
            <a:endParaRPr b="1" sz="100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           }</a:t>
            </a:r>
            <a:endParaRPr b="1" sz="100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           </a:t>
            </a:r>
            <a:r>
              <a:rPr b="1" lang="en" sz="1000">
                <a:latin typeface="Inconsolata"/>
                <a:ea typeface="Inconsolata"/>
                <a:cs typeface="Inconsolata"/>
                <a:sym typeface="Inconsolata"/>
              </a:rPr>
              <a:t>System</a:t>
            </a: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.</a:t>
            </a:r>
            <a:r>
              <a:rPr b="1" i="1" lang="en" sz="1000">
                <a:solidFill>
                  <a:srgbClr val="871094"/>
                </a:solidFill>
                <a:latin typeface="Inconsolata"/>
                <a:ea typeface="Inconsolata"/>
                <a:cs typeface="Inconsolata"/>
                <a:sym typeface="Inconsolata"/>
              </a:rPr>
              <a:t>out</a:t>
            </a: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.print(</a:t>
            </a:r>
            <a:r>
              <a:rPr b="1" lang="en" sz="1000">
                <a:solidFill>
                  <a:srgbClr val="067D17"/>
                </a:solidFill>
                <a:latin typeface="Inconsolata"/>
                <a:ea typeface="Inconsolata"/>
                <a:cs typeface="Inconsolata"/>
                <a:sym typeface="Inconsolata"/>
              </a:rPr>
              <a:t>"["</a:t>
            </a: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);</a:t>
            </a:r>
            <a:endParaRPr b="1" sz="100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           </a:t>
            </a:r>
            <a:r>
              <a:rPr b="1" lang="en" sz="1000">
                <a:solidFill>
                  <a:srgbClr val="0033B3"/>
                </a:solidFill>
                <a:latin typeface="Inconsolata"/>
                <a:ea typeface="Inconsolata"/>
                <a:cs typeface="Inconsolata"/>
                <a:sym typeface="Inconsolata"/>
              </a:rPr>
              <a:t>for </a:t>
            </a: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(</a:t>
            </a:r>
            <a:r>
              <a:rPr b="1" lang="en" sz="1000">
                <a:solidFill>
                  <a:srgbClr val="0033B3"/>
                </a:solidFill>
                <a:latin typeface="Inconsolata"/>
                <a:ea typeface="Inconsolata"/>
                <a:cs typeface="Inconsolata"/>
                <a:sym typeface="Inconsolata"/>
              </a:rPr>
              <a:t>int </a:t>
            </a:r>
            <a:r>
              <a:rPr b="1" lang="en" sz="1000">
                <a:latin typeface="Inconsolata"/>
                <a:ea typeface="Inconsolata"/>
                <a:cs typeface="Inconsolata"/>
                <a:sym typeface="Inconsolata"/>
              </a:rPr>
              <a:t>k </a:t>
            </a: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= </a:t>
            </a:r>
            <a:r>
              <a:rPr b="1" lang="en" sz="1000">
                <a:solidFill>
                  <a:srgbClr val="1750EB"/>
                </a:solidFill>
                <a:latin typeface="Inconsolata"/>
                <a:ea typeface="Inconsolata"/>
                <a:cs typeface="Inconsolata"/>
                <a:sym typeface="Inconsolata"/>
              </a:rPr>
              <a:t>0</a:t>
            </a: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; </a:t>
            </a:r>
            <a:r>
              <a:rPr b="1" lang="en" sz="1000">
                <a:latin typeface="Inconsolata"/>
                <a:ea typeface="Inconsolata"/>
                <a:cs typeface="Inconsolata"/>
                <a:sym typeface="Inconsolata"/>
              </a:rPr>
              <a:t>k </a:t>
            </a: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&lt; arrays[</a:t>
            </a:r>
            <a:r>
              <a:rPr b="1" lang="en" sz="1000">
                <a:latin typeface="Inconsolata"/>
                <a:ea typeface="Inconsolata"/>
                <a:cs typeface="Inconsolata"/>
                <a:sym typeface="Inconsolata"/>
              </a:rPr>
              <a:t>i</a:t>
            </a: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][</a:t>
            </a:r>
            <a:r>
              <a:rPr b="1" lang="en" sz="1000">
                <a:latin typeface="Inconsolata"/>
                <a:ea typeface="Inconsolata"/>
                <a:cs typeface="Inconsolata"/>
                <a:sym typeface="Inconsolata"/>
              </a:rPr>
              <a:t>j</a:t>
            </a: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].</a:t>
            </a:r>
            <a:r>
              <a:rPr b="1" lang="en" sz="1000">
                <a:solidFill>
                  <a:srgbClr val="871094"/>
                </a:solidFill>
                <a:latin typeface="Inconsolata"/>
                <a:ea typeface="Inconsolata"/>
                <a:cs typeface="Inconsolata"/>
                <a:sym typeface="Inconsolata"/>
              </a:rPr>
              <a:t>length</a:t>
            </a: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; </a:t>
            </a:r>
            <a:r>
              <a:rPr b="1" lang="en" sz="1000">
                <a:latin typeface="Inconsolata"/>
                <a:ea typeface="Inconsolata"/>
                <a:cs typeface="Inconsolata"/>
                <a:sym typeface="Inconsolata"/>
              </a:rPr>
              <a:t>k</a:t>
            </a: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++) {</a:t>
            </a:r>
            <a:endParaRPr b="1" sz="100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               </a:t>
            </a:r>
            <a:r>
              <a:rPr b="1" lang="en" sz="1000">
                <a:latin typeface="Inconsolata"/>
                <a:ea typeface="Inconsolata"/>
                <a:cs typeface="Inconsolata"/>
                <a:sym typeface="Inconsolata"/>
              </a:rPr>
              <a:t>System</a:t>
            </a: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.</a:t>
            </a:r>
            <a:r>
              <a:rPr b="1" i="1" lang="en" sz="1000">
                <a:solidFill>
                  <a:srgbClr val="871094"/>
                </a:solidFill>
                <a:latin typeface="Inconsolata"/>
                <a:ea typeface="Inconsolata"/>
                <a:cs typeface="Inconsolata"/>
                <a:sym typeface="Inconsolata"/>
              </a:rPr>
              <a:t>out</a:t>
            </a: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.print(arrays[</a:t>
            </a:r>
            <a:r>
              <a:rPr b="1" lang="en" sz="1000">
                <a:latin typeface="Inconsolata"/>
                <a:ea typeface="Inconsolata"/>
                <a:cs typeface="Inconsolata"/>
                <a:sym typeface="Inconsolata"/>
              </a:rPr>
              <a:t>i</a:t>
            </a: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][</a:t>
            </a:r>
            <a:r>
              <a:rPr b="1" lang="en" sz="1000">
                <a:latin typeface="Inconsolata"/>
                <a:ea typeface="Inconsolata"/>
                <a:cs typeface="Inconsolata"/>
                <a:sym typeface="Inconsolata"/>
              </a:rPr>
              <a:t>j</a:t>
            </a: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][</a:t>
            </a:r>
            <a:r>
              <a:rPr b="1" lang="en" sz="1000">
                <a:latin typeface="Inconsolata"/>
                <a:ea typeface="Inconsolata"/>
                <a:cs typeface="Inconsolata"/>
                <a:sym typeface="Inconsolata"/>
              </a:rPr>
              <a:t>k</a:t>
            </a: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]);</a:t>
            </a:r>
            <a:endParaRPr b="1" sz="100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               </a:t>
            </a:r>
            <a:r>
              <a:rPr b="1" lang="en" sz="1000">
                <a:solidFill>
                  <a:srgbClr val="0033B3"/>
                </a:solidFill>
                <a:latin typeface="Inconsolata"/>
                <a:ea typeface="Inconsolata"/>
                <a:cs typeface="Inconsolata"/>
                <a:sym typeface="Inconsolata"/>
              </a:rPr>
              <a:t>if </a:t>
            </a: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(</a:t>
            </a:r>
            <a:r>
              <a:rPr b="1" lang="en" sz="1000">
                <a:latin typeface="Inconsolata"/>
                <a:ea typeface="Inconsolata"/>
                <a:cs typeface="Inconsolata"/>
                <a:sym typeface="Inconsolata"/>
              </a:rPr>
              <a:t>k </a:t>
            </a: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&lt; arrays[</a:t>
            </a:r>
            <a:r>
              <a:rPr b="1" lang="en" sz="1000">
                <a:latin typeface="Inconsolata"/>
                <a:ea typeface="Inconsolata"/>
                <a:cs typeface="Inconsolata"/>
                <a:sym typeface="Inconsolata"/>
              </a:rPr>
              <a:t>i</a:t>
            </a: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][</a:t>
            </a:r>
            <a:r>
              <a:rPr b="1" lang="en" sz="1000">
                <a:latin typeface="Inconsolata"/>
                <a:ea typeface="Inconsolata"/>
                <a:cs typeface="Inconsolata"/>
                <a:sym typeface="Inconsolata"/>
              </a:rPr>
              <a:t>j</a:t>
            </a: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].</a:t>
            </a:r>
            <a:r>
              <a:rPr b="1" lang="en" sz="1000">
                <a:solidFill>
                  <a:srgbClr val="871094"/>
                </a:solidFill>
                <a:latin typeface="Inconsolata"/>
                <a:ea typeface="Inconsolata"/>
                <a:cs typeface="Inconsolata"/>
                <a:sym typeface="Inconsolata"/>
              </a:rPr>
              <a:t>length </a:t>
            </a: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- </a:t>
            </a:r>
            <a:r>
              <a:rPr b="1" lang="en" sz="1000">
                <a:solidFill>
                  <a:srgbClr val="1750EB"/>
                </a:solidFill>
                <a:latin typeface="Inconsolata"/>
                <a:ea typeface="Inconsolata"/>
                <a:cs typeface="Inconsolata"/>
                <a:sym typeface="Inconsolata"/>
              </a:rPr>
              <a:t>1</a:t>
            </a: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) {</a:t>
            </a:r>
            <a:endParaRPr b="1" sz="100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                   </a:t>
            </a:r>
            <a:r>
              <a:rPr b="1" lang="en" sz="1000">
                <a:latin typeface="Inconsolata"/>
                <a:ea typeface="Inconsolata"/>
                <a:cs typeface="Inconsolata"/>
                <a:sym typeface="Inconsolata"/>
              </a:rPr>
              <a:t>System</a:t>
            </a: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.</a:t>
            </a:r>
            <a:r>
              <a:rPr b="1" i="1" lang="en" sz="1000">
                <a:solidFill>
                  <a:srgbClr val="871094"/>
                </a:solidFill>
                <a:latin typeface="Inconsolata"/>
                <a:ea typeface="Inconsolata"/>
                <a:cs typeface="Inconsolata"/>
                <a:sym typeface="Inconsolata"/>
              </a:rPr>
              <a:t>out</a:t>
            </a: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.print(</a:t>
            </a:r>
            <a:r>
              <a:rPr b="1" lang="en" sz="1000">
                <a:solidFill>
                  <a:srgbClr val="067D17"/>
                </a:solidFill>
                <a:latin typeface="Inconsolata"/>
                <a:ea typeface="Inconsolata"/>
                <a:cs typeface="Inconsolata"/>
                <a:sym typeface="Inconsolata"/>
              </a:rPr>
              <a:t>", "</a:t>
            </a: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);</a:t>
            </a:r>
            <a:endParaRPr b="1" sz="100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               }</a:t>
            </a:r>
            <a:endParaRPr b="1" sz="100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           }</a:t>
            </a:r>
            <a:endParaRPr b="1" sz="100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           </a:t>
            </a:r>
            <a:r>
              <a:rPr b="1" lang="en" sz="1000">
                <a:latin typeface="Inconsolata"/>
                <a:ea typeface="Inconsolata"/>
                <a:cs typeface="Inconsolata"/>
                <a:sym typeface="Inconsolata"/>
              </a:rPr>
              <a:t>System</a:t>
            </a: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.</a:t>
            </a:r>
            <a:r>
              <a:rPr b="1" i="1" lang="en" sz="1000">
                <a:solidFill>
                  <a:srgbClr val="871094"/>
                </a:solidFill>
                <a:latin typeface="Inconsolata"/>
                <a:ea typeface="Inconsolata"/>
                <a:cs typeface="Inconsolata"/>
                <a:sym typeface="Inconsolata"/>
              </a:rPr>
              <a:t>out</a:t>
            </a: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.print(</a:t>
            </a:r>
            <a:r>
              <a:rPr b="1" lang="en" sz="1000">
                <a:solidFill>
                  <a:srgbClr val="067D17"/>
                </a:solidFill>
                <a:latin typeface="Inconsolata"/>
                <a:ea typeface="Inconsolata"/>
                <a:cs typeface="Inconsolata"/>
                <a:sym typeface="Inconsolata"/>
              </a:rPr>
              <a:t>"]"</a:t>
            </a: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);</a:t>
            </a:r>
            <a:endParaRPr b="1" sz="100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           </a:t>
            </a:r>
            <a:r>
              <a:rPr b="1" lang="en" sz="1000">
                <a:solidFill>
                  <a:srgbClr val="0033B3"/>
                </a:solidFill>
                <a:latin typeface="Inconsolata"/>
                <a:ea typeface="Inconsolata"/>
                <a:cs typeface="Inconsolata"/>
                <a:sym typeface="Inconsolata"/>
              </a:rPr>
              <a:t>if </a:t>
            </a: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(</a:t>
            </a:r>
            <a:r>
              <a:rPr b="1" lang="en" sz="1000">
                <a:latin typeface="Inconsolata"/>
                <a:ea typeface="Inconsolata"/>
                <a:cs typeface="Inconsolata"/>
                <a:sym typeface="Inconsolata"/>
              </a:rPr>
              <a:t>j </a:t>
            </a: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&lt; arrays[</a:t>
            </a:r>
            <a:r>
              <a:rPr b="1" lang="en" sz="1000">
                <a:latin typeface="Inconsolata"/>
                <a:ea typeface="Inconsolata"/>
                <a:cs typeface="Inconsolata"/>
                <a:sym typeface="Inconsolata"/>
              </a:rPr>
              <a:t>i</a:t>
            </a: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].</a:t>
            </a:r>
            <a:r>
              <a:rPr b="1" lang="en" sz="1000">
                <a:solidFill>
                  <a:srgbClr val="871094"/>
                </a:solidFill>
                <a:latin typeface="Inconsolata"/>
                <a:ea typeface="Inconsolata"/>
                <a:cs typeface="Inconsolata"/>
                <a:sym typeface="Inconsolata"/>
              </a:rPr>
              <a:t>length </a:t>
            </a: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- </a:t>
            </a:r>
            <a:r>
              <a:rPr b="1" lang="en" sz="1000">
                <a:solidFill>
                  <a:srgbClr val="1750EB"/>
                </a:solidFill>
                <a:latin typeface="Inconsolata"/>
                <a:ea typeface="Inconsolata"/>
                <a:cs typeface="Inconsolata"/>
                <a:sym typeface="Inconsolata"/>
              </a:rPr>
              <a:t>1</a:t>
            </a: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) {</a:t>
            </a:r>
            <a:endParaRPr b="1" sz="100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               </a:t>
            </a:r>
            <a:r>
              <a:rPr b="1" lang="en" sz="1000">
                <a:latin typeface="Inconsolata"/>
                <a:ea typeface="Inconsolata"/>
                <a:cs typeface="Inconsolata"/>
                <a:sym typeface="Inconsolata"/>
              </a:rPr>
              <a:t>System</a:t>
            </a: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.</a:t>
            </a:r>
            <a:r>
              <a:rPr b="1" i="1" lang="en" sz="1000">
                <a:solidFill>
                  <a:srgbClr val="871094"/>
                </a:solidFill>
                <a:latin typeface="Inconsolata"/>
                <a:ea typeface="Inconsolata"/>
                <a:cs typeface="Inconsolata"/>
                <a:sym typeface="Inconsolata"/>
              </a:rPr>
              <a:t>out</a:t>
            </a: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.print(</a:t>
            </a:r>
            <a:r>
              <a:rPr b="1" lang="en" sz="1000">
                <a:solidFill>
                  <a:srgbClr val="067D17"/>
                </a:solidFill>
                <a:latin typeface="Inconsolata"/>
                <a:ea typeface="Inconsolata"/>
                <a:cs typeface="Inconsolata"/>
                <a:sym typeface="Inconsolata"/>
              </a:rPr>
              <a:t>", "</a:t>
            </a: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);</a:t>
            </a:r>
            <a:endParaRPr b="1" sz="100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           }</a:t>
            </a:r>
            <a:endParaRPr b="1" sz="100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       }</a:t>
            </a:r>
            <a:endParaRPr b="1" sz="100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       </a:t>
            </a:r>
            <a:r>
              <a:rPr b="1" lang="en" sz="1000">
                <a:latin typeface="Inconsolata"/>
                <a:ea typeface="Inconsolata"/>
                <a:cs typeface="Inconsolata"/>
                <a:sym typeface="Inconsolata"/>
              </a:rPr>
              <a:t>System</a:t>
            </a: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.</a:t>
            </a:r>
            <a:r>
              <a:rPr b="1" i="1" lang="en" sz="1000">
                <a:solidFill>
                  <a:srgbClr val="871094"/>
                </a:solidFill>
                <a:latin typeface="Inconsolata"/>
                <a:ea typeface="Inconsolata"/>
                <a:cs typeface="Inconsolata"/>
                <a:sym typeface="Inconsolata"/>
              </a:rPr>
              <a:t>out</a:t>
            </a: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.print(</a:t>
            </a:r>
            <a:r>
              <a:rPr b="1" lang="en" sz="1000">
                <a:solidFill>
                  <a:srgbClr val="067D17"/>
                </a:solidFill>
                <a:latin typeface="Inconsolata"/>
                <a:ea typeface="Inconsolata"/>
                <a:cs typeface="Inconsolata"/>
                <a:sym typeface="Inconsolata"/>
              </a:rPr>
              <a:t>"]"</a:t>
            </a: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);</a:t>
            </a:r>
            <a:endParaRPr b="1" sz="100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       </a:t>
            </a:r>
            <a:r>
              <a:rPr b="1" lang="en" sz="1000">
                <a:solidFill>
                  <a:srgbClr val="0033B3"/>
                </a:solidFill>
                <a:latin typeface="Inconsolata"/>
                <a:ea typeface="Inconsolata"/>
                <a:cs typeface="Inconsolata"/>
                <a:sym typeface="Inconsolata"/>
              </a:rPr>
              <a:t>if </a:t>
            </a: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(</a:t>
            </a:r>
            <a:r>
              <a:rPr b="1" lang="en" sz="1000">
                <a:latin typeface="Inconsolata"/>
                <a:ea typeface="Inconsolata"/>
                <a:cs typeface="Inconsolata"/>
                <a:sym typeface="Inconsolata"/>
              </a:rPr>
              <a:t>i </a:t>
            </a: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&lt; arrays.</a:t>
            </a:r>
            <a:r>
              <a:rPr b="1" lang="en" sz="1000">
                <a:solidFill>
                  <a:srgbClr val="871094"/>
                </a:solidFill>
                <a:latin typeface="Inconsolata"/>
                <a:ea typeface="Inconsolata"/>
                <a:cs typeface="Inconsolata"/>
                <a:sym typeface="Inconsolata"/>
              </a:rPr>
              <a:t>length </a:t>
            </a: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- </a:t>
            </a:r>
            <a:r>
              <a:rPr b="1" lang="en" sz="1000">
                <a:solidFill>
                  <a:srgbClr val="1750EB"/>
                </a:solidFill>
                <a:latin typeface="Inconsolata"/>
                <a:ea typeface="Inconsolata"/>
                <a:cs typeface="Inconsolata"/>
                <a:sym typeface="Inconsolata"/>
              </a:rPr>
              <a:t>1</a:t>
            </a: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) {</a:t>
            </a:r>
            <a:endParaRPr b="1" sz="100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           </a:t>
            </a:r>
            <a:r>
              <a:rPr b="1" lang="en" sz="1000">
                <a:latin typeface="Inconsolata"/>
                <a:ea typeface="Inconsolata"/>
                <a:cs typeface="Inconsolata"/>
                <a:sym typeface="Inconsolata"/>
              </a:rPr>
              <a:t>System</a:t>
            </a: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.</a:t>
            </a:r>
            <a:r>
              <a:rPr b="1" i="1" lang="en" sz="1000">
                <a:solidFill>
                  <a:srgbClr val="871094"/>
                </a:solidFill>
                <a:latin typeface="Inconsolata"/>
                <a:ea typeface="Inconsolata"/>
                <a:cs typeface="Inconsolata"/>
                <a:sym typeface="Inconsolata"/>
              </a:rPr>
              <a:t>out</a:t>
            </a: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.print(</a:t>
            </a:r>
            <a:r>
              <a:rPr b="1" lang="en" sz="1000">
                <a:solidFill>
                  <a:srgbClr val="067D17"/>
                </a:solidFill>
                <a:latin typeface="Inconsolata"/>
                <a:ea typeface="Inconsolata"/>
                <a:cs typeface="Inconsolata"/>
                <a:sym typeface="Inconsolata"/>
              </a:rPr>
              <a:t>", "</a:t>
            </a: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);</a:t>
            </a:r>
            <a:endParaRPr b="1" sz="100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       }</a:t>
            </a:r>
            <a:endParaRPr b="1" sz="100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   }</a:t>
            </a:r>
            <a:endParaRPr b="1" sz="100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   </a:t>
            </a:r>
            <a:r>
              <a:rPr b="1" lang="en" sz="1000">
                <a:latin typeface="Inconsolata"/>
                <a:ea typeface="Inconsolata"/>
                <a:cs typeface="Inconsolata"/>
                <a:sym typeface="Inconsolata"/>
              </a:rPr>
              <a:t>System</a:t>
            </a: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.</a:t>
            </a:r>
            <a:r>
              <a:rPr b="1" i="1" lang="en" sz="1000">
                <a:solidFill>
                  <a:srgbClr val="871094"/>
                </a:solidFill>
                <a:latin typeface="Inconsolata"/>
                <a:ea typeface="Inconsolata"/>
                <a:cs typeface="Inconsolata"/>
                <a:sym typeface="Inconsolata"/>
              </a:rPr>
              <a:t>out</a:t>
            </a: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.print(</a:t>
            </a:r>
            <a:r>
              <a:rPr b="1" lang="en" sz="1000">
                <a:solidFill>
                  <a:srgbClr val="067D17"/>
                </a:solidFill>
                <a:latin typeface="Inconsolata"/>
                <a:ea typeface="Inconsolata"/>
                <a:cs typeface="Inconsolata"/>
                <a:sym typeface="Inconsolata"/>
              </a:rPr>
              <a:t>"]</a:t>
            </a:r>
            <a:r>
              <a:rPr b="1" lang="en" sz="1000">
                <a:solidFill>
                  <a:srgbClr val="0037A6"/>
                </a:solidFill>
                <a:latin typeface="Inconsolata"/>
                <a:ea typeface="Inconsolata"/>
                <a:cs typeface="Inconsolata"/>
                <a:sym typeface="Inconsolata"/>
              </a:rPr>
              <a:t>\n</a:t>
            </a:r>
            <a:r>
              <a:rPr b="1" lang="en" sz="1000">
                <a:solidFill>
                  <a:srgbClr val="067D17"/>
                </a:solidFill>
                <a:latin typeface="Inconsolata"/>
                <a:ea typeface="Inconsolata"/>
                <a:cs typeface="Inconsolata"/>
                <a:sym typeface="Inconsolata"/>
              </a:rPr>
              <a:t>"</a:t>
            </a: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);</a:t>
            </a:r>
            <a:endParaRPr b="1" sz="100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}</a:t>
            </a:r>
            <a:endParaRPr b="1" sz="100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0033B3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Bad Code Example 2 - Test to verify correctness as you refactor</a:t>
            </a:r>
            <a:endParaRPr/>
          </a:p>
        </p:txBody>
      </p:sp>
      <p:sp>
        <p:nvSpPr>
          <p:cNvPr id="229" name="Google Shape;229;p36"/>
          <p:cNvSpPr txBox="1"/>
          <p:nvPr>
            <p:ph idx="1" type="body"/>
          </p:nvPr>
        </p:nvSpPr>
        <p:spPr>
          <a:xfrm>
            <a:off x="106075" y="393600"/>
            <a:ext cx="4269000" cy="4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33B3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public static void </a:t>
            </a:r>
            <a:r>
              <a:rPr b="1" lang="en" sz="1400">
                <a:solidFill>
                  <a:srgbClr val="00627A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main</a:t>
            </a:r>
            <a:r>
              <a:rPr b="1" lang="en" sz="14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(</a:t>
            </a:r>
            <a:r>
              <a:rPr b="1" lang="en" sz="1400"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String</a:t>
            </a:r>
            <a:r>
              <a:rPr b="1" lang="en" sz="14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[] args) {</a:t>
            </a:r>
            <a:endParaRPr b="1" sz="14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</a:t>
            </a:r>
            <a:r>
              <a:rPr b="1" lang="en" sz="1400"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String</a:t>
            </a:r>
            <a:r>
              <a:rPr b="1" lang="en" sz="14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[][][] </a:t>
            </a:r>
            <a:r>
              <a:rPr b="1" lang="en" sz="1400"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arrays </a:t>
            </a:r>
            <a:r>
              <a:rPr b="1" lang="en" sz="14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= </a:t>
            </a:r>
            <a:r>
              <a:rPr b="1" lang="en" sz="1400">
                <a:solidFill>
                  <a:srgbClr val="0033B3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new </a:t>
            </a:r>
            <a:r>
              <a:rPr b="1" lang="en" sz="14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String[][][] {</a:t>
            </a:r>
            <a:endParaRPr b="1" sz="14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    </a:t>
            </a:r>
            <a:r>
              <a:rPr b="1" lang="en" sz="1400">
                <a:solidFill>
                  <a:srgbClr val="0033B3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new </a:t>
            </a:r>
            <a:r>
              <a:rPr b="1" lang="en" sz="14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String[][] {</a:t>
            </a:r>
            <a:endParaRPr b="1" sz="14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        </a:t>
            </a:r>
            <a:r>
              <a:rPr b="1" lang="en" sz="1400">
                <a:solidFill>
                  <a:srgbClr val="0033B3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new </a:t>
            </a:r>
            <a:r>
              <a:rPr b="1" lang="en" sz="14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String[] {</a:t>
            </a:r>
            <a:r>
              <a:rPr b="1" lang="en" sz="1400">
                <a:solidFill>
                  <a:srgbClr val="067D17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"1"</a:t>
            </a:r>
            <a:r>
              <a:rPr b="1" lang="en" sz="14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, </a:t>
            </a:r>
            <a:r>
              <a:rPr b="1" lang="en" sz="1400">
                <a:solidFill>
                  <a:srgbClr val="067D17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"2"</a:t>
            </a:r>
            <a:r>
              <a:rPr b="1" lang="en" sz="14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, </a:t>
            </a:r>
            <a:r>
              <a:rPr b="1" lang="en" sz="1400">
                <a:solidFill>
                  <a:srgbClr val="067D17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"3"</a:t>
            </a:r>
            <a:r>
              <a:rPr b="1" lang="en" sz="14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},</a:t>
            </a:r>
            <a:endParaRPr b="1" sz="14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        </a:t>
            </a:r>
            <a:r>
              <a:rPr b="1" lang="en" sz="1400">
                <a:solidFill>
                  <a:srgbClr val="0033B3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new </a:t>
            </a:r>
            <a:r>
              <a:rPr b="1" lang="en" sz="14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String[] {</a:t>
            </a:r>
            <a:r>
              <a:rPr b="1" lang="en" sz="1400">
                <a:solidFill>
                  <a:srgbClr val="067D17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"4"</a:t>
            </a:r>
            <a:r>
              <a:rPr b="1" lang="en" sz="14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, </a:t>
            </a:r>
            <a:r>
              <a:rPr b="1" lang="en" sz="1400">
                <a:solidFill>
                  <a:srgbClr val="067D17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"5"</a:t>
            </a:r>
            <a:r>
              <a:rPr b="1" lang="en" sz="14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, </a:t>
            </a:r>
            <a:r>
              <a:rPr b="1" lang="en" sz="1400">
                <a:solidFill>
                  <a:srgbClr val="067D17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"6"</a:t>
            </a:r>
            <a:r>
              <a:rPr b="1" lang="en" sz="14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},</a:t>
            </a:r>
            <a:endParaRPr b="1" sz="14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        </a:t>
            </a:r>
            <a:r>
              <a:rPr b="1" lang="en" sz="1400">
                <a:solidFill>
                  <a:srgbClr val="0033B3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new </a:t>
            </a:r>
            <a:r>
              <a:rPr b="1" lang="en" sz="14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String[] {</a:t>
            </a:r>
            <a:r>
              <a:rPr b="1" lang="en" sz="1400">
                <a:solidFill>
                  <a:srgbClr val="067D17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"7"</a:t>
            </a:r>
            <a:r>
              <a:rPr b="1" lang="en" sz="14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, </a:t>
            </a:r>
            <a:r>
              <a:rPr b="1" lang="en" sz="1400">
                <a:solidFill>
                  <a:srgbClr val="067D17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"8"</a:t>
            </a:r>
            <a:r>
              <a:rPr b="1" lang="en" sz="14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, </a:t>
            </a:r>
            <a:r>
              <a:rPr b="1" lang="en" sz="1400">
                <a:solidFill>
                  <a:srgbClr val="067D17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"9"</a:t>
            </a:r>
            <a:r>
              <a:rPr b="1" lang="en" sz="14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}</a:t>
            </a:r>
            <a:endParaRPr b="1" sz="14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    },</a:t>
            </a:r>
            <a:endParaRPr b="1" sz="14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    </a:t>
            </a:r>
            <a:r>
              <a:rPr b="1" lang="en" sz="1400">
                <a:solidFill>
                  <a:srgbClr val="0033B3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null</a:t>
            </a:r>
            <a:r>
              <a:rPr b="1" lang="en" sz="14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,</a:t>
            </a:r>
            <a:endParaRPr b="1" sz="14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    </a:t>
            </a:r>
            <a:r>
              <a:rPr b="1" lang="en" sz="1400">
                <a:solidFill>
                  <a:srgbClr val="0033B3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new </a:t>
            </a:r>
            <a:r>
              <a:rPr b="1" lang="en" sz="14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String[][] {</a:t>
            </a:r>
            <a:endParaRPr b="1" sz="14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        </a:t>
            </a:r>
            <a:r>
              <a:rPr b="1" lang="en" sz="1400">
                <a:solidFill>
                  <a:srgbClr val="0033B3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new </a:t>
            </a:r>
            <a:r>
              <a:rPr b="1" lang="en" sz="14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String[] {</a:t>
            </a:r>
            <a:r>
              <a:rPr b="1" lang="en" sz="1400">
                <a:solidFill>
                  <a:srgbClr val="067D17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"10"</a:t>
            </a:r>
            <a:r>
              <a:rPr b="1" lang="en" sz="14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, </a:t>
            </a:r>
            <a:r>
              <a:rPr b="1" lang="en" sz="1400">
                <a:solidFill>
                  <a:srgbClr val="067D17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"11"</a:t>
            </a:r>
            <a:r>
              <a:rPr b="1" lang="en" sz="14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, </a:t>
            </a:r>
            <a:r>
              <a:rPr b="1" lang="en" sz="1400">
                <a:solidFill>
                  <a:srgbClr val="067D17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"12"</a:t>
            </a:r>
            <a:r>
              <a:rPr b="1" lang="en" sz="14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},</a:t>
            </a:r>
            <a:endParaRPr b="1" sz="14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        </a:t>
            </a:r>
            <a:r>
              <a:rPr b="1" lang="en" sz="1400">
                <a:solidFill>
                  <a:srgbClr val="0033B3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new </a:t>
            </a:r>
            <a:r>
              <a:rPr b="1" lang="en" sz="14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String[] {</a:t>
            </a:r>
            <a:r>
              <a:rPr b="1" lang="en" sz="1400">
                <a:solidFill>
                  <a:srgbClr val="067D17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"13"</a:t>
            </a:r>
            <a:r>
              <a:rPr b="1" lang="en" sz="14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, </a:t>
            </a:r>
            <a:r>
              <a:rPr b="1" lang="en" sz="1400">
                <a:solidFill>
                  <a:srgbClr val="067D17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"14"</a:t>
            </a:r>
            <a:r>
              <a:rPr b="1" lang="en" sz="14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, </a:t>
            </a:r>
            <a:r>
              <a:rPr b="1" lang="en" sz="1400">
                <a:solidFill>
                  <a:srgbClr val="067D17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"15"</a:t>
            </a:r>
            <a:r>
              <a:rPr b="1" lang="en" sz="14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},</a:t>
            </a:r>
            <a:endParaRPr b="1" sz="14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        </a:t>
            </a:r>
            <a:r>
              <a:rPr b="1" lang="en" sz="1400">
                <a:solidFill>
                  <a:srgbClr val="0033B3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new </a:t>
            </a:r>
            <a:r>
              <a:rPr b="1" lang="en" sz="14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String[] {</a:t>
            </a:r>
            <a:r>
              <a:rPr b="1" lang="en" sz="1400">
                <a:solidFill>
                  <a:srgbClr val="067D17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"16"</a:t>
            </a:r>
            <a:r>
              <a:rPr b="1" lang="en" sz="14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, </a:t>
            </a:r>
            <a:r>
              <a:rPr b="1" lang="en" sz="1400">
                <a:solidFill>
                  <a:srgbClr val="067D17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"17"</a:t>
            </a:r>
            <a:r>
              <a:rPr b="1" lang="en" sz="14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, </a:t>
            </a:r>
            <a:r>
              <a:rPr b="1" lang="en" sz="1400">
                <a:solidFill>
                  <a:srgbClr val="067D17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"18"</a:t>
            </a:r>
            <a:r>
              <a:rPr b="1" lang="en" sz="14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}</a:t>
            </a:r>
            <a:endParaRPr b="1" sz="14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    }</a:t>
            </a:r>
            <a:endParaRPr b="1" sz="14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};</a:t>
            </a:r>
            <a:endParaRPr b="1" sz="14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</a:t>
            </a:r>
            <a:r>
              <a:rPr b="1" i="1" lang="en" sz="14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print3DArray</a:t>
            </a:r>
            <a:r>
              <a:rPr b="1" lang="en" sz="14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(</a:t>
            </a:r>
            <a:r>
              <a:rPr b="1" lang="en" sz="1400"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arrays</a:t>
            </a:r>
            <a:r>
              <a:rPr b="1" lang="en" sz="14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);</a:t>
            </a:r>
            <a:endParaRPr b="1" sz="14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}</a:t>
            </a:r>
            <a:endParaRPr b="1" sz="14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0033B3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230" name="Google Shape;230;p36"/>
          <p:cNvSpPr txBox="1"/>
          <p:nvPr/>
        </p:nvSpPr>
        <p:spPr>
          <a:xfrm>
            <a:off x="4707675" y="393600"/>
            <a:ext cx="4197300" cy="42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Small test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urier New"/>
              <a:buChar char="○"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[[[1, 2, 3], [4, 5, 6], [7, 8, 9]], [[10, 11, 12], [13, 14, 15], [16, 17, 18]]]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Hey, it works! Why change it?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Bad Code Example 2 - Use the tools of the language</a:t>
            </a:r>
            <a:endParaRPr/>
          </a:p>
        </p:txBody>
      </p:sp>
      <p:sp>
        <p:nvSpPr>
          <p:cNvPr id="236" name="Google Shape;236;p37"/>
          <p:cNvSpPr txBox="1"/>
          <p:nvPr>
            <p:ph idx="1" type="body"/>
          </p:nvPr>
        </p:nvSpPr>
        <p:spPr>
          <a:xfrm>
            <a:off x="106075" y="393600"/>
            <a:ext cx="4269000" cy="4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33B3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static void </a:t>
            </a:r>
            <a:r>
              <a:rPr b="1" lang="en" sz="1300">
                <a:solidFill>
                  <a:srgbClr val="00627A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print3DArray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(</a:t>
            </a:r>
            <a:r>
              <a:rPr b="1" lang="en" sz="1300"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String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[][][] arrays) {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</a:t>
            </a:r>
            <a:r>
              <a:rPr b="1" lang="en" sz="1300"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System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.</a:t>
            </a:r>
            <a:r>
              <a:rPr b="1" lang="en" sz="1300">
                <a:solidFill>
                  <a:srgbClr val="871094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out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.print(</a:t>
            </a:r>
            <a:r>
              <a:rPr b="1" lang="en" sz="1300">
                <a:solidFill>
                  <a:srgbClr val="067D17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"["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);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</a:t>
            </a:r>
            <a:r>
              <a:rPr b="1" lang="en" sz="1300">
                <a:solidFill>
                  <a:srgbClr val="0033B3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for 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(</a:t>
            </a:r>
            <a:r>
              <a:rPr b="1" lang="en" sz="1300"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String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[][] </a:t>
            </a:r>
            <a:r>
              <a:rPr b="1" lang="en" sz="1300"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array 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: arrays) {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    </a:t>
            </a:r>
            <a:r>
              <a:rPr b="1" lang="en" sz="1300">
                <a:solidFill>
                  <a:srgbClr val="0033B3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if 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(</a:t>
            </a:r>
            <a:r>
              <a:rPr b="1" lang="en" sz="1300"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array 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== </a:t>
            </a:r>
            <a:r>
              <a:rPr b="1" lang="en" sz="1300">
                <a:solidFill>
                  <a:srgbClr val="0033B3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null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) {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        </a:t>
            </a:r>
            <a:r>
              <a:rPr b="1" lang="en" sz="1300">
                <a:solidFill>
                  <a:srgbClr val="0033B3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continue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;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    }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    </a:t>
            </a:r>
            <a:r>
              <a:rPr b="1" lang="en" sz="1300"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System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.</a:t>
            </a:r>
            <a:r>
              <a:rPr b="1" lang="en" sz="1300">
                <a:solidFill>
                  <a:srgbClr val="871094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out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.print(</a:t>
            </a:r>
            <a:r>
              <a:rPr b="1" lang="en" sz="1300">
                <a:solidFill>
                  <a:srgbClr val="067D17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"["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);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    </a:t>
            </a:r>
            <a:r>
              <a:rPr b="1" lang="en" sz="1300">
                <a:solidFill>
                  <a:srgbClr val="0033B3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for 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(</a:t>
            </a:r>
            <a:r>
              <a:rPr b="1" lang="en" sz="1300"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String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[] </a:t>
            </a:r>
            <a:r>
              <a:rPr b="1" lang="en" sz="1300"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arr 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: </a:t>
            </a:r>
            <a:r>
              <a:rPr b="1" lang="en" sz="1300"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array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) {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        </a:t>
            </a:r>
            <a:r>
              <a:rPr b="1" lang="en" sz="1300">
                <a:solidFill>
                  <a:srgbClr val="0033B3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if 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(</a:t>
            </a:r>
            <a:r>
              <a:rPr b="1" lang="en" sz="1300"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arr 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== </a:t>
            </a:r>
            <a:r>
              <a:rPr b="1" lang="en" sz="1300">
                <a:solidFill>
                  <a:srgbClr val="0033B3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null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) {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            </a:t>
            </a:r>
            <a:r>
              <a:rPr b="1" lang="en" sz="1300">
                <a:solidFill>
                  <a:srgbClr val="0033B3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continue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;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        }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        </a:t>
            </a:r>
            <a:r>
              <a:rPr b="1" lang="en" sz="1300"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System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.</a:t>
            </a:r>
            <a:r>
              <a:rPr b="1" lang="en" sz="1300">
                <a:solidFill>
                  <a:srgbClr val="871094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out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.print(</a:t>
            </a:r>
            <a:r>
              <a:rPr b="1" lang="en" sz="1300">
                <a:solidFill>
                  <a:srgbClr val="067D17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"["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);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        </a:t>
            </a:r>
            <a:r>
              <a:rPr b="1" lang="en" sz="1300">
                <a:solidFill>
                  <a:srgbClr val="0033B3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for 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(</a:t>
            </a:r>
            <a:r>
              <a:rPr b="1" lang="en" sz="1300"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String a 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: </a:t>
            </a:r>
            <a:r>
              <a:rPr b="1" lang="en" sz="1300"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arr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) {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            </a:t>
            </a:r>
            <a:r>
              <a:rPr b="1" lang="en" sz="1300"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System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.</a:t>
            </a:r>
            <a:r>
              <a:rPr b="1" lang="en" sz="1300">
                <a:solidFill>
                  <a:srgbClr val="871094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out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.print(</a:t>
            </a:r>
            <a:r>
              <a:rPr b="1" lang="en" sz="1300"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a 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+ </a:t>
            </a:r>
            <a:r>
              <a:rPr b="1" lang="en" sz="1300">
                <a:solidFill>
                  <a:srgbClr val="067D17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", "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);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        }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        </a:t>
            </a:r>
            <a:r>
              <a:rPr b="1" lang="en" sz="1300"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System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.</a:t>
            </a:r>
            <a:r>
              <a:rPr b="1" lang="en" sz="1300">
                <a:solidFill>
                  <a:srgbClr val="871094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out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.print(</a:t>
            </a:r>
            <a:r>
              <a:rPr b="1" lang="en" sz="1300">
                <a:solidFill>
                  <a:srgbClr val="067D17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"], "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);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    }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    </a:t>
            </a:r>
            <a:r>
              <a:rPr b="1" lang="en" sz="1300"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System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.</a:t>
            </a:r>
            <a:r>
              <a:rPr b="1" lang="en" sz="1300">
                <a:solidFill>
                  <a:srgbClr val="871094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out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.print(</a:t>
            </a:r>
            <a:r>
              <a:rPr b="1" lang="en" sz="1300">
                <a:solidFill>
                  <a:srgbClr val="067D17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"], "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);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}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</a:t>
            </a:r>
            <a:r>
              <a:rPr b="1" lang="en" sz="1300"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System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.</a:t>
            </a:r>
            <a:r>
              <a:rPr b="1" lang="en" sz="1300">
                <a:solidFill>
                  <a:srgbClr val="871094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out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.print(</a:t>
            </a:r>
            <a:r>
              <a:rPr b="1" lang="en" sz="1300">
                <a:solidFill>
                  <a:srgbClr val="067D17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"]</a:t>
            </a:r>
            <a:r>
              <a:rPr b="1" lang="en" sz="1300">
                <a:solidFill>
                  <a:srgbClr val="0037A6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\n</a:t>
            </a:r>
            <a:r>
              <a:rPr b="1" lang="en" sz="1300">
                <a:solidFill>
                  <a:srgbClr val="067D17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"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);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}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033B3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237" name="Google Shape;237;p37"/>
          <p:cNvSpPr txBox="1"/>
          <p:nvPr/>
        </p:nvSpPr>
        <p:spPr>
          <a:xfrm>
            <a:off x="4707675" y="393600"/>
            <a:ext cx="4197300" cy="42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Enhanced-for loops exist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Still bad, but much 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better, even with terrible variable names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Small test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ourier New"/>
              <a:buChar char="■"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[[[1, 2, 3, ], [4, 5, 6, ], [7, 8, 9, ], ], [[10, 11, 12, ], [13, 14, 15, ], [16, 17, 18, ], ], ]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Hey, you broke it! Change it back!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Bad Code Example 2 - Avoid “goto” statements where possible</a:t>
            </a:r>
            <a:endParaRPr/>
          </a:p>
        </p:txBody>
      </p:sp>
      <p:sp>
        <p:nvSpPr>
          <p:cNvPr id="243" name="Google Shape;243;p38"/>
          <p:cNvSpPr txBox="1"/>
          <p:nvPr>
            <p:ph idx="1" type="body"/>
          </p:nvPr>
        </p:nvSpPr>
        <p:spPr>
          <a:xfrm>
            <a:off x="106075" y="393600"/>
            <a:ext cx="4447500" cy="4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33B3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static void </a:t>
            </a:r>
            <a:r>
              <a:rPr b="1" lang="en" sz="1300">
                <a:solidFill>
                  <a:srgbClr val="00627A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print3DArray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(</a:t>
            </a:r>
            <a:r>
              <a:rPr b="1" lang="en" sz="1300"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String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[][][] arrays) {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</a:t>
            </a:r>
            <a:r>
              <a:rPr b="1" lang="en" sz="1300"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System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.</a:t>
            </a:r>
            <a:r>
              <a:rPr b="1" lang="en" sz="1300">
                <a:solidFill>
                  <a:srgbClr val="871094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out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.print(</a:t>
            </a:r>
            <a:r>
              <a:rPr b="1" lang="en" sz="1300">
                <a:solidFill>
                  <a:srgbClr val="067D17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"["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);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</a:t>
            </a:r>
            <a:r>
              <a:rPr b="1" lang="en" sz="1300">
                <a:solidFill>
                  <a:srgbClr val="0033B3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for 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(</a:t>
            </a:r>
            <a:r>
              <a:rPr b="1" lang="en" sz="1300"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String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[][] </a:t>
            </a:r>
            <a:r>
              <a:rPr b="1" lang="en" sz="1300"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array 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: arrays) {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    </a:t>
            </a:r>
            <a:r>
              <a:rPr b="1" lang="en" sz="1300">
                <a:solidFill>
                  <a:srgbClr val="0033B3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if 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(</a:t>
            </a:r>
            <a:r>
              <a:rPr b="1" lang="en" sz="1300"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array 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!= </a:t>
            </a:r>
            <a:r>
              <a:rPr b="1" lang="en" sz="1300">
                <a:solidFill>
                  <a:srgbClr val="0033B3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null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) {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        </a:t>
            </a:r>
            <a:r>
              <a:rPr b="1" lang="en" sz="1300"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System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.</a:t>
            </a:r>
            <a:r>
              <a:rPr b="1" lang="en" sz="1300">
                <a:solidFill>
                  <a:srgbClr val="871094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out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.print(</a:t>
            </a:r>
            <a:r>
              <a:rPr b="1" lang="en" sz="1300">
                <a:solidFill>
                  <a:srgbClr val="067D17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"["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);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        </a:t>
            </a:r>
            <a:r>
              <a:rPr b="1" lang="en" sz="1300">
                <a:solidFill>
                  <a:srgbClr val="0033B3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for 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(</a:t>
            </a:r>
            <a:r>
              <a:rPr b="1" lang="en" sz="1300"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String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[] </a:t>
            </a:r>
            <a:r>
              <a:rPr b="1" lang="en" sz="1300"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arr 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: </a:t>
            </a:r>
            <a:r>
              <a:rPr b="1" lang="en" sz="1300"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array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) {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            </a:t>
            </a:r>
            <a:r>
              <a:rPr b="1" lang="en" sz="1300">
                <a:solidFill>
                  <a:srgbClr val="0033B3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if 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(</a:t>
            </a:r>
            <a:r>
              <a:rPr b="1" lang="en" sz="1300"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arr 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!= </a:t>
            </a:r>
            <a:r>
              <a:rPr b="1" lang="en" sz="1300">
                <a:solidFill>
                  <a:srgbClr val="0033B3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null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) {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                </a:t>
            </a:r>
            <a:r>
              <a:rPr b="1" lang="en" sz="1300"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System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.</a:t>
            </a:r>
            <a:r>
              <a:rPr b="1" lang="en" sz="1300">
                <a:solidFill>
                  <a:srgbClr val="871094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out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.print(</a:t>
            </a:r>
            <a:r>
              <a:rPr b="1" lang="en" sz="1300">
                <a:solidFill>
                  <a:srgbClr val="067D17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"["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);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                </a:t>
            </a:r>
            <a:r>
              <a:rPr b="1" lang="en" sz="1300">
                <a:solidFill>
                  <a:srgbClr val="0033B3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for 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(</a:t>
            </a:r>
            <a:r>
              <a:rPr b="1" lang="en" sz="1300"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String a 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: </a:t>
            </a:r>
            <a:r>
              <a:rPr b="1" lang="en" sz="1300"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arr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) {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                    </a:t>
            </a:r>
            <a:r>
              <a:rPr b="1" lang="en" sz="1300"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System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.</a:t>
            </a:r>
            <a:r>
              <a:rPr b="1" lang="en" sz="1300">
                <a:solidFill>
                  <a:srgbClr val="871094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out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.print(</a:t>
            </a:r>
            <a:r>
              <a:rPr b="1" lang="en" sz="1300"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a 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+ </a:t>
            </a:r>
            <a:r>
              <a:rPr b="1" lang="en" sz="1300">
                <a:solidFill>
                  <a:srgbClr val="067D17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", "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);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                }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                </a:t>
            </a:r>
            <a:r>
              <a:rPr b="1" lang="en" sz="1300"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System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.</a:t>
            </a:r>
            <a:r>
              <a:rPr b="1" lang="en" sz="1300">
                <a:solidFill>
                  <a:srgbClr val="871094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out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.print(</a:t>
            </a:r>
            <a:r>
              <a:rPr b="1" lang="en" sz="1300">
                <a:solidFill>
                  <a:srgbClr val="067D17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"], "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);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            }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        }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        </a:t>
            </a:r>
            <a:r>
              <a:rPr b="1" lang="en" sz="1300"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System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.</a:t>
            </a:r>
            <a:r>
              <a:rPr b="1" lang="en" sz="1300">
                <a:solidFill>
                  <a:srgbClr val="871094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out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.print(</a:t>
            </a:r>
            <a:r>
              <a:rPr b="1" lang="en" sz="1300">
                <a:solidFill>
                  <a:srgbClr val="067D17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"], "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);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    }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}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</a:t>
            </a:r>
            <a:r>
              <a:rPr b="1" lang="en" sz="1300"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System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.</a:t>
            </a:r>
            <a:r>
              <a:rPr b="1" lang="en" sz="1300">
                <a:solidFill>
                  <a:srgbClr val="871094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out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.print(</a:t>
            </a:r>
            <a:r>
              <a:rPr b="1" lang="en" sz="1300">
                <a:solidFill>
                  <a:srgbClr val="067D17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"]</a:t>
            </a:r>
            <a:r>
              <a:rPr b="1" lang="en" sz="1300">
                <a:solidFill>
                  <a:srgbClr val="0037A6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\n</a:t>
            </a:r>
            <a:r>
              <a:rPr b="1" lang="en" sz="1300">
                <a:solidFill>
                  <a:srgbClr val="067D17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"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);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}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033B3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244" name="Google Shape;244;p38"/>
          <p:cNvSpPr txBox="1"/>
          <p:nvPr/>
        </p:nvSpPr>
        <p:spPr>
          <a:xfrm>
            <a:off x="4707675" y="393600"/>
            <a:ext cx="4197300" cy="42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general, this is a good idea, but it didn’t help much here…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Braces and indentation are even worse than before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Also, the code is still broken :(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Bad Code Example 2 - Separate logic into simple methods</a:t>
            </a:r>
            <a:endParaRPr/>
          </a:p>
        </p:txBody>
      </p:sp>
      <p:sp>
        <p:nvSpPr>
          <p:cNvPr id="250" name="Google Shape;250;p39"/>
          <p:cNvSpPr txBox="1"/>
          <p:nvPr/>
        </p:nvSpPr>
        <p:spPr>
          <a:xfrm>
            <a:off x="3794750" y="393600"/>
            <a:ext cx="5110200" cy="42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Much 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better!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Our test still doesn’t work.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[[[1, 2, 3, ], [4, 5, 6, ], [7, 8, 9, ], ], [[10, 11, 12, ], [13, 14, 15, ], [16, 17, 18, ], ], ]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Weird comma behavior for the last element of arrays.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Notably, we have this problem for every nested array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 have identical print statements for the commas and square brackets everywhere, with similar issues for all of them.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Something like generic types would probably come in handy here, but these methods are </a:t>
            </a:r>
            <a:r>
              <a:rPr b="1" lang="en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rPr>
              <a:t>static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…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1" name="Google Shape;251;p39"/>
          <p:cNvSpPr txBox="1"/>
          <p:nvPr>
            <p:ph idx="1" type="body"/>
          </p:nvPr>
        </p:nvSpPr>
        <p:spPr>
          <a:xfrm>
            <a:off x="106075" y="393600"/>
            <a:ext cx="4447500" cy="4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0033B3"/>
                </a:solidFill>
                <a:latin typeface="Inconsolata"/>
                <a:ea typeface="Inconsolata"/>
                <a:cs typeface="Inconsolata"/>
                <a:sym typeface="Inconsolata"/>
              </a:rPr>
              <a:t>static void </a:t>
            </a:r>
            <a:r>
              <a:rPr b="1" lang="en" sz="1150">
                <a:solidFill>
                  <a:srgbClr val="00627A"/>
                </a:solidFill>
                <a:latin typeface="Inconsolata"/>
                <a:ea typeface="Inconsolata"/>
                <a:cs typeface="Inconsolata"/>
                <a:sym typeface="Inconsolata"/>
              </a:rPr>
              <a:t>print3DArray</a:t>
            </a:r>
            <a:r>
              <a:rPr b="1" lang="en" sz="115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(</a:t>
            </a:r>
            <a:r>
              <a:rPr b="1" lang="en" sz="1150">
                <a:latin typeface="Inconsolata"/>
                <a:ea typeface="Inconsolata"/>
                <a:cs typeface="Inconsolata"/>
                <a:sym typeface="Inconsolata"/>
              </a:rPr>
              <a:t>String</a:t>
            </a:r>
            <a:r>
              <a:rPr b="1" lang="en" sz="115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[][][] arrays) {</a:t>
            </a:r>
            <a:endParaRPr b="1" sz="115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   </a:t>
            </a:r>
            <a:r>
              <a:rPr b="1" lang="en" sz="1150">
                <a:latin typeface="Inconsolata"/>
                <a:ea typeface="Inconsolata"/>
                <a:cs typeface="Inconsolata"/>
                <a:sym typeface="Inconsolata"/>
              </a:rPr>
              <a:t>System</a:t>
            </a:r>
            <a:r>
              <a:rPr b="1" lang="en" sz="115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.</a:t>
            </a:r>
            <a:r>
              <a:rPr b="1" lang="en" sz="1150">
                <a:solidFill>
                  <a:srgbClr val="871094"/>
                </a:solidFill>
                <a:latin typeface="Inconsolata"/>
                <a:ea typeface="Inconsolata"/>
                <a:cs typeface="Inconsolata"/>
                <a:sym typeface="Inconsolata"/>
              </a:rPr>
              <a:t>out</a:t>
            </a:r>
            <a:r>
              <a:rPr b="1" lang="en" sz="115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.print(</a:t>
            </a:r>
            <a:r>
              <a:rPr b="1" lang="en" sz="1150">
                <a:solidFill>
                  <a:srgbClr val="067D17"/>
                </a:solidFill>
                <a:latin typeface="Inconsolata"/>
                <a:ea typeface="Inconsolata"/>
                <a:cs typeface="Inconsolata"/>
                <a:sym typeface="Inconsolata"/>
              </a:rPr>
              <a:t>"["</a:t>
            </a:r>
            <a:r>
              <a:rPr b="1" lang="en" sz="115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);</a:t>
            </a:r>
            <a:endParaRPr b="1" sz="115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   </a:t>
            </a:r>
            <a:r>
              <a:rPr b="1" lang="en" sz="1150">
                <a:solidFill>
                  <a:srgbClr val="0033B3"/>
                </a:solidFill>
                <a:latin typeface="Inconsolata"/>
                <a:ea typeface="Inconsolata"/>
                <a:cs typeface="Inconsolata"/>
                <a:sym typeface="Inconsolata"/>
              </a:rPr>
              <a:t>for </a:t>
            </a:r>
            <a:r>
              <a:rPr b="1" lang="en" sz="115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(</a:t>
            </a:r>
            <a:r>
              <a:rPr b="1" lang="en" sz="1150">
                <a:latin typeface="Inconsolata"/>
                <a:ea typeface="Inconsolata"/>
                <a:cs typeface="Inconsolata"/>
                <a:sym typeface="Inconsolata"/>
              </a:rPr>
              <a:t>String</a:t>
            </a:r>
            <a:r>
              <a:rPr b="1" lang="en" sz="115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[][] </a:t>
            </a:r>
            <a:r>
              <a:rPr b="1" lang="en" sz="1150">
                <a:latin typeface="Inconsolata"/>
                <a:ea typeface="Inconsolata"/>
                <a:cs typeface="Inconsolata"/>
                <a:sym typeface="Inconsolata"/>
              </a:rPr>
              <a:t>array </a:t>
            </a:r>
            <a:r>
              <a:rPr b="1" lang="en" sz="115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: arrays) {</a:t>
            </a:r>
            <a:endParaRPr b="1" sz="115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       print2DArray(</a:t>
            </a:r>
            <a:r>
              <a:rPr b="1" lang="en" sz="1150">
                <a:latin typeface="Inconsolata"/>
                <a:ea typeface="Inconsolata"/>
                <a:cs typeface="Inconsolata"/>
                <a:sym typeface="Inconsolata"/>
              </a:rPr>
              <a:t>array</a:t>
            </a:r>
            <a:r>
              <a:rPr b="1" lang="en" sz="115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);</a:t>
            </a:r>
            <a:endParaRPr b="1" sz="115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       </a:t>
            </a:r>
            <a:r>
              <a:rPr b="1" lang="en" sz="1150">
                <a:latin typeface="Inconsolata"/>
                <a:ea typeface="Inconsolata"/>
                <a:cs typeface="Inconsolata"/>
                <a:sym typeface="Inconsolata"/>
              </a:rPr>
              <a:t>System</a:t>
            </a:r>
            <a:r>
              <a:rPr b="1" lang="en" sz="115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.</a:t>
            </a:r>
            <a:r>
              <a:rPr b="1" lang="en" sz="1150">
                <a:solidFill>
                  <a:srgbClr val="871094"/>
                </a:solidFill>
                <a:latin typeface="Inconsolata"/>
                <a:ea typeface="Inconsolata"/>
                <a:cs typeface="Inconsolata"/>
                <a:sym typeface="Inconsolata"/>
              </a:rPr>
              <a:t>out</a:t>
            </a:r>
            <a:r>
              <a:rPr b="1" lang="en" sz="115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.print(</a:t>
            </a:r>
            <a:r>
              <a:rPr b="1" lang="en" sz="1150">
                <a:solidFill>
                  <a:srgbClr val="067D17"/>
                </a:solidFill>
                <a:latin typeface="Inconsolata"/>
                <a:ea typeface="Inconsolata"/>
                <a:cs typeface="Inconsolata"/>
                <a:sym typeface="Inconsolata"/>
              </a:rPr>
              <a:t>", "</a:t>
            </a:r>
            <a:r>
              <a:rPr b="1" lang="en" sz="115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);</a:t>
            </a:r>
            <a:endParaRPr b="1" sz="115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   }</a:t>
            </a:r>
            <a:endParaRPr b="1" sz="115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   </a:t>
            </a:r>
            <a:r>
              <a:rPr b="1" lang="en" sz="1150">
                <a:latin typeface="Inconsolata"/>
                <a:ea typeface="Inconsolata"/>
                <a:cs typeface="Inconsolata"/>
                <a:sym typeface="Inconsolata"/>
              </a:rPr>
              <a:t>System</a:t>
            </a:r>
            <a:r>
              <a:rPr b="1" lang="en" sz="115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.</a:t>
            </a:r>
            <a:r>
              <a:rPr b="1" lang="en" sz="1150">
                <a:solidFill>
                  <a:srgbClr val="871094"/>
                </a:solidFill>
                <a:latin typeface="Inconsolata"/>
                <a:ea typeface="Inconsolata"/>
                <a:cs typeface="Inconsolata"/>
                <a:sym typeface="Inconsolata"/>
              </a:rPr>
              <a:t>out</a:t>
            </a:r>
            <a:r>
              <a:rPr b="1" lang="en" sz="115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.print(</a:t>
            </a:r>
            <a:r>
              <a:rPr b="1" lang="en" sz="1150">
                <a:solidFill>
                  <a:srgbClr val="067D17"/>
                </a:solidFill>
                <a:latin typeface="Inconsolata"/>
                <a:ea typeface="Inconsolata"/>
                <a:cs typeface="Inconsolata"/>
                <a:sym typeface="Inconsolata"/>
              </a:rPr>
              <a:t>"]</a:t>
            </a:r>
            <a:r>
              <a:rPr b="1" lang="en" sz="1150">
                <a:solidFill>
                  <a:srgbClr val="0037A6"/>
                </a:solidFill>
                <a:latin typeface="Inconsolata"/>
                <a:ea typeface="Inconsolata"/>
                <a:cs typeface="Inconsolata"/>
                <a:sym typeface="Inconsolata"/>
              </a:rPr>
              <a:t>\n</a:t>
            </a:r>
            <a:r>
              <a:rPr b="1" lang="en" sz="1150">
                <a:solidFill>
                  <a:srgbClr val="067D17"/>
                </a:solidFill>
                <a:latin typeface="Inconsolata"/>
                <a:ea typeface="Inconsolata"/>
                <a:cs typeface="Inconsolata"/>
                <a:sym typeface="Inconsolata"/>
              </a:rPr>
              <a:t>"</a:t>
            </a:r>
            <a:r>
              <a:rPr b="1" lang="en" sz="115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);</a:t>
            </a:r>
            <a:endParaRPr b="1" sz="115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}</a:t>
            </a:r>
            <a:endParaRPr b="1" sz="115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0033B3"/>
                </a:solidFill>
                <a:latin typeface="Inconsolata"/>
                <a:ea typeface="Inconsolata"/>
                <a:cs typeface="Inconsolata"/>
                <a:sym typeface="Inconsolata"/>
              </a:rPr>
              <a:t>static void </a:t>
            </a:r>
            <a:r>
              <a:rPr b="1" lang="en" sz="1150">
                <a:solidFill>
                  <a:srgbClr val="00627A"/>
                </a:solidFill>
                <a:latin typeface="Inconsolata"/>
                <a:ea typeface="Inconsolata"/>
                <a:cs typeface="Inconsolata"/>
                <a:sym typeface="Inconsolata"/>
              </a:rPr>
              <a:t>print2DArray</a:t>
            </a:r>
            <a:r>
              <a:rPr b="1" lang="en" sz="115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(</a:t>
            </a:r>
            <a:r>
              <a:rPr b="1" lang="en" sz="1150">
                <a:latin typeface="Inconsolata"/>
                <a:ea typeface="Inconsolata"/>
                <a:cs typeface="Inconsolata"/>
                <a:sym typeface="Inconsolata"/>
              </a:rPr>
              <a:t>String</a:t>
            </a:r>
            <a:r>
              <a:rPr b="1" lang="en" sz="115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[][] array) {</a:t>
            </a:r>
            <a:endParaRPr b="1" sz="115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   </a:t>
            </a:r>
            <a:r>
              <a:rPr b="1" lang="en" sz="1150">
                <a:solidFill>
                  <a:srgbClr val="0033B3"/>
                </a:solidFill>
                <a:latin typeface="Inconsolata"/>
                <a:ea typeface="Inconsolata"/>
                <a:cs typeface="Inconsolata"/>
                <a:sym typeface="Inconsolata"/>
              </a:rPr>
              <a:t>if </a:t>
            </a:r>
            <a:r>
              <a:rPr b="1" lang="en" sz="115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(array != </a:t>
            </a:r>
            <a:r>
              <a:rPr b="1" lang="en" sz="1150">
                <a:solidFill>
                  <a:srgbClr val="0033B3"/>
                </a:solidFill>
                <a:latin typeface="Inconsolata"/>
                <a:ea typeface="Inconsolata"/>
                <a:cs typeface="Inconsolata"/>
                <a:sym typeface="Inconsolata"/>
              </a:rPr>
              <a:t>null</a:t>
            </a:r>
            <a:r>
              <a:rPr b="1" lang="en" sz="115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) {</a:t>
            </a:r>
            <a:endParaRPr b="1" sz="115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       </a:t>
            </a:r>
            <a:r>
              <a:rPr b="1" lang="en" sz="1150">
                <a:latin typeface="Inconsolata"/>
                <a:ea typeface="Inconsolata"/>
                <a:cs typeface="Inconsolata"/>
                <a:sym typeface="Inconsolata"/>
              </a:rPr>
              <a:t>System</a:t>
            </a:r>
            <a:r>
              <a:rPr b="1" lang="en" sz="115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.</a:t>
            </a:r>
            <a:r>
              <a:rPr b="1" lang="en" sz="1150">
                <a:solidFill>
                  <a:srgbClr val="871094"/>
                </a:solidFill>
                <a:latin typeface="Inconsolata"/>
                <a:ea typeface="Inconsolata"/>
                <a:cs typeface="Inconsolata"/>
                <a:sym typeface="Inconsolata"/>
              </a:rPr>
              <a:t>out</a:t>
            </a:r>
            <a:r>
              <a:rPr b="1" lang="en" sz="115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.print(</a:t>
            </a:r>
            <a:r>
              <a:rPr b="1" lang="en" sz="1150">
                <a:solidFill>
                  <a:srgbClr val="067D17"/>
                </a:solidFill>
                <a:latin typeface="Inconsolata"/>
                <a:ea typeface="Inconsolata"/>
                <a:cs typeface="Inconsolata"/>
                <a:sym typeface="Inconsolata"/>
              </a:rPr>
              <a:t>"["</a:t>
            </a:r>
            <a:r>
              <a:rPr b="1" lang="en" sz="115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);</a:t>
            </a:r>
            <a:endParaRPr b="1" sz="115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       </a:t>
            </a:r>
            <a:r>
              <a:rPr b="1" lang="en" sz="1150">
                <a:solidFill>
                  <a:srgbClr val="0033B3"/>
                </a:solidFill>
                <a:latin typeface="Inconsolata"/>
                <a:ea typeface="Inconsolata"/>
                <a:cs typeface="Inconsolata"/>
                <a:sym typeface="Inconsolata"/>
              </a:rPr>
              <a:t>for </a:t>
            </a:r>
            <a:r>
              <a:rPr b="1" lang="en" sz="115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(</a:t>
            </a:r>
            <a:r>
              <a:rPr b="1" lang="en" sz="1150">
                <a:latin typeface="Inconsolata"/>
                <a:ea typeface="Inconsolata"/>
                <a:cs typeface="Inconsolata"/>
                <a:sym typeface="Inconsolata"/>
              </a:rPr>
              <a:t>String</a:t>
            </a:r>
            <a:r>
              <a:rPr b="1" lang="en" sz="115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[] </a:t>
            </a:r>
            <a:r>
              <a:rPr b="1" lang="en" sz="1150">
                <a:latin typeface="Inconsolata"/>
                <a:ea typeface="Inconsolata"/>
                <a:cs typeface="Inconsolata"/>
                <a:sym typeface="Inconsolata"/>
              </a:rPr>
              <a:t>arr </a:t>
            </a:r>
            <a:r>
              <a:rPr b="1" lang="en" sz="115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: array) {</a:t>
            </a:r>
            <a:endParaRPr b="1" sz="115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           print1DArray(</a:t>
            </a:r>
            <a:r>
              <a:rPr b="1" lang="en" sz="1150">
                <a:latin typeface="Inconsolata"/>
                <a:ea typeface="Inconsolata"/>
                <a:cs typeface="Inconsolata"/>
                <a:sym typeface="Inconsolata"/>
              </a:rPr>
              <a:t>arr</a:t>
            </a:r>
            <a:r>
              <a:rPr b="1" lang="en" sz="115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);</a:t>
            </a:r>
            <a:endParaRPr b="1" sz="115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           </a:t>
            </a:r>
            <a:r>
              <a:rPr b="1" lang="en" sz="1150">
                <a:latin typeface="Inconsolata"/>
                <a:ea typeface="Inconsolata"/>
                <a:cs typeface="Inconsolata"/>
                <a:sym typeface="Inconsolata"/>
              </a:rPr>
              <a:t>System</a:t>
            </a:r>
            <a:r>
              <a:rPr b="1" lang="en" sz="115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.</a:t>
            </a:r>
            <a:r>
              <a:rPr b="1" lang="en" sz="1150">
                <a:solidFill>
                  <a:srgbClr val="871094"/>
                </a:solidFill>
                <a:latin typeface="Inconsolata"/>
                <a:ea typeface="Inconsolata"/>
                <a:cs typeface="Inconsolata"/>
                <a:sym typeface="Inconsolata"/>
              </a:rPr>
              <a:t>out</a:t>
            </a:r>
            <a:r>
              <a:rPr b="1" lang="en" sz="115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.print(</a:t>
            </a:r>
            <a:r>
              <a:rPr b="1" lang="en" sz="1150">
                <a:solidFill>
                  <a:srgbClr val="067D17"/>
                </a:solidFill>
                <a:latin typeface="Inconsolata"/>
                <a:ea typeface="Inconsolata"/>
                <a:cs typeface="Inconsolata"/>
                <a:sym typeface="Inconsolata"/>
              </a:rPr>
              <a:t>", "</a:t>
            </a:r>
            <a:r>
              <a:rPr b="1" lang="en" sz="115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);</a:t>
            </a:r>
            <a:endParaRPr b="1" sz="115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       }</a:t>
            </a:r>
            <a:endParaRPr b="1" sz="115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       </a:t>
            </a:r>
            <a:r>
              <a:rPr b="1" lang="en" sz="1150">
                <a:latin typeface="Inconsolata"/>
                <a:ea typeface="Inconsolata"/>
                <a:cs typeface="Inconsolata"/>
                <a:sym typeface="Inconsolata"/>
              </a:rPr>
              <a:t>System</a:t>
            </a:r>
            <a:r>
              <a:rPr b="1" lang="en" sz="115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.</a:t>
            </a:r>
            <a:r>
              <a:rPr b="1" lang="en" sz="1150">
                <a:solidFill>
                  <a:srgbClr val="871094"/>
                </a:solidFill>
                <a:latin typeface="Inconsolata"/>
                <a:ea typeface="Inconsolata"/>
                <a:cs typeface="Inconsolata"/>
                <a:sym typeface="Inconsolata"/>
              </a:rPr>
              <a:t>out</a:t>
            </a:r>
            <a:r>
              <a:rPr b="1" lang="en" sz="115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.print(</a:t>
            </a:r>
            <a:r>
              <a:rPr b="1" lang="en" sz="1150">
                <a:solidFill>
                  <a:srgbClr val="067D17"/>
                </a:solidFill>
                <a:latin typeface="Inconsolata"/>
                <a:ea typeface="Inconsolata"/>
                <a:cs typeface="Inconsolata"/>
                <a:sym typeface="Inconsolata"/>
              </a:rPr>
              <a:t>"]"</a:t>
            </a:r>
            <a:r>
              <a:rPr b="1" lang="en" sz="115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);</a:t>
            </a:r>
            <a:endParaRPr b="1" sz="115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   }</a:t>
            </a:r>
            <a:endParaRPr b="1" sz="115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}</a:t>
            </a:r>
            <a:endParaRPr b="1" sz="115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0033B3"/>
                </a:solidFill>
                <a:latin typeface="Inconsolata"/>
                <a:ea typeface="Inconsolata"/>
                <a:cs typeface="Inconsolata"/>
                <a:sym typeface="Inconsolata"/>
              </a:rPr>
              <a:t>static void </a:t>
            </a:r>
            <a:r>
              <a:rPr b="1" lang="en" sz="1150">
                <a:solidFill>
                  <a:srgbClr val="00627A"/>
                </a:solidFill>
                <a:latin typeface="Inconsolata"/>
                <a:ea typeface="Inconsolata"/>
                <a:cs typeface="Inconsolata"/>
                <a:sym typeface="Inconsolata"/>
              </a:rPr>
              <a:t>print1DArray</a:t>
            </a:r>
            <a:r>
              <a:rPr b="1" lang="en" sz="115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(</a:t>
            </a:r>
            <a:r>
              <a:rPr b="1" lang="en" sz="1150">
                <a:latin typeface="Inconsolata"/>
                <a:ea typeface="Inconsolata"/>
                <a:cs typeface="Inconsolata"/>
                <a:sym typeface="Inconsolata"/>
              </a:rPr>
              <a:t>String</a:t>
            </a:r>
            <a:r>
              <a:rPr b="1" lang="en" sz="115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[] arr) {</a:t>
            </a:r>
            <a:endParaRPr b="1" sz="115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   </a:t>
            </a:r>
            <a:r>
              <a:rPr b="1" lang="en" sz="1150">
                <a:solidFill>
                  <a:srgbClr val="0033B3"/>
                </a:solidFill>
                <a:latin typeface="Inconsolata"/>
                <a:ea typeface="Inconsolata"/>
                <a:cs typeface="Inconsolata"/>
                <a:sym typeface="Inconsolata"/>
              </a:rPr>
              <a:t>if </a:t>
            </a:r>
            <a:r>
              <a:rPr b="1" lang="en" sz="115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(arr != </a:t>
            </a:r>
            <a:r>
              <a:rPr b="1" lang="en" sz="1150">
                <a:solidFill>
                  <a:srgbClr val="0033B3"/>
                </a:solidFill>
                <a:latin typeface="Inconsolata"/>
                <a:ea typeface="Inconsolata"/>
                <a:cs typeface="Inconsolata"/>
                <a:sym typeface="Inconsolata"/>
              </a:rPr>
              <a:t>null</a:t>
            </a:r>
            <a:r>
              <a:rPr b="1" lang="en" sz="115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) {</a:t>
            </a:r>
            <a:endParaRPr b="1" sz="115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       </a:t>
            </a:r>
            <a:r>
              <a:rPr b="1" lang="en" sz="1150">
                <a:latin typeface="Inconsolata"/>
                <a:ea typeface="Inconsolata"/>
                <a:cs typeface="Inconsolata"/>
                <a:sym typeface="Inconsolata"/>
              </a:rPr>
              <a:t>System</a:t>
            </a:r>
            <a:r>
              <a:rPr b="1" lang="en" sz="115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.</a:t>
            </a:r>
            <a:r>
              <a:rPr b="1" lang="en" sz="1150">
                <a:solidFill>
                  <a:srgbClr val="871094"/>
                </a:solidFill>
                <a:latin typeface="Inconsolata"/>
                <a:ea typeface="Inconsolata"/>
                <a:cs typeface="Inconsolata"/>
                <a:sym typeface="Inconsolata"/>
              </a:rPr>
              <a:t>out</a:t>
            </a:r>
            <a:r>
              <a:rPr b="1" lang="en" sz="115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.print(</a:t>
            </a:r>
            <a:r>
              <a:rPr b="1" lang="en" sz="1150">
                <a:solidFill>
                  <a:srgbClr val="067D17"/>
                </a:solidFill>
                <a:latin typeface="Inconsolata"/>
                <a:ea typeface="Inconsolata"/>
                <a:cs typeface="Inconsolata"/>
                <a:sym typeface="Inconsolata"/>
              </a:rPr>
              <a:t>"["</a:t>
            </a:r>
            <a:r>
              <a:rPr b="1" lang="en" sz="115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);</a:t>
            </a:r>
            <a:endParaRPr b="1" sz="115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       </a:t>
            </a:r>
            <a:r>
              <a:rPr b="1" lang="en" sz="1150">
                <a:solidFill>
                  <a:srgbClr val="0033B3"/>
                </a:solidFill>
                <a:latin typeface="Inconsolata"/>
                <a:ea typeface="Inconsolata"/>
                <a:cs typeface="Inconsolata"/>
                <a:sym typeface="Inconsolata"/>
              </a:rPr>
              <a:t>for </a:t>
            </a:r>
            <a:r>
              <a:rPr b="1" lang="en" sz="115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(</a:t>
            </a:r>
            <a:r>
              <a:rPr b="1" lang="en" sz="1150">
                <a:latin typeface="Inconsolata"/>
                <a:ea typeface="Inconsolata"/>
                <a:cs typeface="Inconsolata"/>
                <a:sym typeface="Inconsolata"/>
              </a:rPr>
              <a:t>String a </a:t>
            </a:r>
            <a:r>
              <a:rPr b="1" lang="en" sz="115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: arr) {</a:t>
            </a:r>
            <a:endParaRPr b="1" sz="115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           </a:t>
            </a:r>
            <a:r>
              <a:rPr b="1" lang="en" sz="1150">
                <a:latin typeface="Inconsolata"/>
                <a:ea typeface="Inconsolata"/>
                <a:cs typeface="Inconsolata"/>
                <a:sym typeface="Inconsolata"/>
              </a:rPr>
              <a:t>System</a:t>
            </a:r>
            <a:r>
              <a:rPr b="1" lang="en" sz="115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.</a:t>
            </a:r>
            <a:r>
              <a:rPr b="1" lang="en" sz="1150">
                <a:solidFill>
                  <a:srgbClr val="871094"/>
                </a:solidFill>
                <a:latin typeface="Inconsolata"/>
                <a:ea typeface="Inconsolata"/>
                <a:cs typeface="Inconsolata"/>
                <a:sym typeface="Inconsolata"/>
              </a:rPr>
              <a:t>out</a:t>
            </a:r>
            <a:r>
              <a:rPr b="1" lang="en" sz="115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.print(</a:t>
            </a:r>
            <a:r>
              <a:rPr b="1" lang="en" sz="1150">
                <a:latin typeface="Inconsolata"/>
                <a:ea typeface="Inconsolata"/>
                <a:cs typeface="Inconsolata"/>
                <a:sym typeface="Inconsolata"/>
              </a:rPr>
              <a:t>a </a:t>
            </a:r>
            <a:r>
              <a:rPr b="1" lang="en" sz="115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+ </a:t>
            </a:r>
            <a:r>
              <a:rPr b="1" lang="en" sz="1150">
                <a:solidFill>
                  <a:srgbClr val="067D17"/>
                </a:solidFill>
                <a:latin typeface="Inconsolata"/>
                <a:ea typeface="Inconsolata"/>
                <a:cs typeface="Inconsolata"/>
                <a:sym typeface="Inconsolata"/>
              </a:rPr>
              <a:t>", "</a:t>
            </a:r>
            <a:r>
              <a:rPr b="1" lang="en" sz="115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);</a:t>
            </a:r>
            <a:endParaRPr b="1" sz="115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       }</a:t>
            </a:r>
            <a:endParaRPr b="1" sz="115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       </a:t>
            </a:r>
            <a:r>
              <a:rPr b="1" lang="en" sz="1150">
                <a:latin typeface="Inconsolata"/>
                <a:ea typeface="Inconsolata"/>
                <a:cs typeface="Inconsolata"/>
                <a:sym typeface="Inconsolata"/>
              </a:rPr>
              <a:t>System</a:t>
            </a:r>
            <a:r>
              <a:rPr b="1" lang="en" sz="115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.</a:t>
            </a:r>
            <a:r>
              <a:rPr b="1" lang="en" sz="1150">
                <a:solidFill>
                  <a:srgbClr val="871094"/>
                </a:solidFill>
                <a:latin typeface="Inconsolata"/>
                <a:ea typeface="Inconsolata"/>
                <a:cs typeface="Inconsolata"/>
                <a:sym typeface="Inconsolata"/>
              </a:rPr>
              <a:t>out</a:t>
            </a:r>
            <a:r>
              <a:rPr b="1" lang="en" sz="115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.print(</a:t>
            </a:r>
            <a:r>
              <a:rPr b="1" lang="en" sz="1150">
                <a:solidFill>
                  <a:srgbClr val="067D17"/>
                </a:solidFill>
                <a:latin typeface="Inconsolata"/>
                <a:ea typeface="Inconsolata"/>
                <a:cs typeface="Inconsolata"/>
                <a:sym typeface="Inconsolata"/>
              </a:rPr>
              <a:t>"]"</a:t>
            </a:r>
            <a:r>
              <a:rPr b="1" lang="en" sz="115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);</a:t>
            </a:r>
            <a:endParaRPr b="1" sz="115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   }</a:t>
            </a:r>
            <a:endParaRPr b="1" sz="115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}</a:t>
            </a:r>
            <a:endParaRPr b="1" sz="115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50">
              <a:solidFill>
                <a:srgbClr val="0033B3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Bad Code Example 2 - Code generically; don’t repeat yourself</a:t>
            </a:r>
            <a:endParaRPr/>
          </a:p>
        </p:txBody>
      </p:sp>
      <p:sp>
        <p:nvSpPr>
          <p:cNvPr id="257" name="Google Shape;257;p40"/>
          <p:cNvSpPr txBox="1"/>
          <p:nvPr>
            <p:ph idx="1" type="body"/>
          </p:nvPr>
        </p:nvSpPr>
        <p:spPr>
          <a:xfrm>
            <a:off x="106075" y="393600"/>
            <a:ext cx="4447500" cy="4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33B3"/>
                </a:solidFill>
                <a:latin typeface="Inconsolata"/>
                <a:ea typeface="Inconsolata"/>
                <a:cs typeface="Inconsolata"/>
                <a:sym typeface="Inconsolata"/>
              </a:rPr>
              <a:t>static void </a:t>
            </a:r>
            <a:r>
              <a:rPr b="1" lang="en" sz="1300">
                <a:solidFill>
                  <a:srgbClr val="00627A"/>
                </a:solidFill>
                <a:latin typeface="Inconsolata"/>
                <a:ea typeface="Inconsolata"/>
                <a:cs typeface="Inconsolata"/>
                <a:sym typeface="Inconsolata"/>
              </a:rPr>
              <a:t>print3DArray</a:t>
            </a:r>
            <a:r>
              <a:rPr b="1" lang="en" sz="13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(</a:t>
            </a:r>
            <a:r>
              <a:rPr b="1" lang="en" sz="1300">
                <a:latin typeface="Inconsolata"/>
                <a:ea typeface="Inconsolata"/>
                <a:cs typeface="Inconsolata"/>
                <a:sym typeface="Inconsolata"/>
              </a:rPr>
              <a:t>String</a:t>
            </a:r>
            <a:r>
              <a:rPr b="1" lang="en" sz="13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[][][] arrays) {</a:t>
            </a:r>
            <a:endParaRPr b="1" sz="130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   printCommaSeparated(arrays);</a:t>
            </a:r>
            <a:endParaRPr b="1" sz="130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   </a:t>
            </a:r>
            <a:r>
              <a:rPr b="1" lang="en" sz="1300">
                <a:latin typeface="Inconsolata"/>
                <a:ea typeface="Inconsolata"/>
                <a:cs typeface="Inconsolata"/>
                <a:sym typeface="Inconsolata"/>
              </a:rPr>
              <a:t>System</a:t>
            </a:r>
            <a:r>
              <a:rPr b="1" lang="en" sz="13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.</a:t>
            </a:r>
            <a:r>
              <a:rPr b="1" lang="en" sz="1300">
                <a:solidFill>
                  <a:srgbClr val="871094"/>
                </a:solidFill>
                <a:latin typeface="Inconsolata"/>
                <a:ea typeface="Inconsolata"/>
                <a:cs typeface="Inconsolata"/>
                <a:sym typeface="Inconsolata"/>
              </a:rPr>
              <a:t>out</a:t>
            </a:r>
            <a:r>
              <a:rPr b="1" lang="en" sz="13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.print(</a:t>
            </a:r>
            <a:r>
              <a:rPr b="1" lang="en" sz="1300">
                <a:solidFill>
                  <a:srgbClr val="067D17"/>
                </a:solidFill>
                <a:latin typeface="Inconsolata"/>
                <a:ea typeface="Inconsolata"/>
                <a:cs typeface="Inconsolata"/>
                <a:sym typeface="Inconsolata"/>
              </a:rPr>
              <a:t>"</a:t>
            </a:r>
            <a:r>
              <a:rPr b="1" lang="en" sz="1300">
                <a:solidFill>
                  <a:srgbClr val="0037A6"/>
                </a:solidFill>
                <a:latin typeface="Inconsolata"/>
                <a:ea typeface="Inconsolata"/>
                <a:cs typeface="Inconsolata"/>
                <a:sym typeface="Inconsolata"/>
              </a:rPr>
              <a:t>\n</a:t>
            </a:r>
            <a:r>
              <a:rPr b="1" lang="en" sz="1300">
                <a:solidFill>
                  <a:srgbClr val="067D17"/>
                </a:solidFill>
                <a:latin typeface="Inconsolata"/>
                <a:ea typeface="Inconsolata"/>
                <a:cs typeface="Inconsolata"/>
                <a:sym typeface="Inconsolata"/>
              </a:rPr>
              <a:t>"</a:t>
            </a:r>
            <a:r>
              <a:rPr b="1" lang="en" sz="13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);</a:t>
            </a:r>
            <a:endParaRPr b="1" sz="130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}</a:t>
            </a:r>
            <a:endParaRPr b="1" sz="130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33B3"/>
                </a:solidFill>
                <a:latin typeface="Inconsolata"/>
                <a:ea typeface="Inconsolata"/>
                <a:cs typeface="Inconsolata"/>
                <a:sym typeface="Inconsolata"/>
              </a:rPr>
              <a:t>static void </a:t>
            </a:r>
            <a:r>
              <a:rPr b="1" lang="en" sz="1300">
                <a:solidFill>
                  <a:srgbClr val="00627A"/>
                </a:solidFill>
                <a:latin typeface="Inconsolata"/>
                <a:ea typeface="Inconsolata"/>
                <a:cs typeface="Inconsolata"/>
                <a:sym typeface="Inconsolata"/>
              </a:rPr>
              <a:t>print2DArray</a:t>
            </a:r>
            <a:r>
              <a:rPr b="1" lang="en" sz="13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(</a:t>
            </a:r>
            <a:r>
              <a:rPr b="1" lang="en" sz="1300">
                <a:latin typeface="Inconsolata"/>
                <a:ea typeface="Inconsolata"/>
                <a:cs typeface="Inconsolata"/>
                <a:sym typeface="Inconsolata"/>
              </a:rPr>
              <a:t>String</a:t>
            </a:r>
            <a:r>
              <a:rPr b="1" lang="en" sz="13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[][] array) {</a:t>
            </a:r>
            <a:endParaRPr b="1" sz="130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   printCommaSeparated(array);</a:t>
            </a:r>
            <a:endParaRPr b="1" sz="130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}</a:t>
            </a:r>
            <a:endParaRPr b="1" sz="130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33B3"/>
                </a:solidFill>
                <a:latin typeface="Inconsolata"/>
                <a:ea typeface="Inconsolata"/>
                <a:cs typeface="Inconsolata"/>
                <a:sym typeface="Inconsolata"/>
              </a:rPr>
              <a:t>static void </a:t>
            </a:r>
            <a:r>
              <a:rPr b="1" lang="en" sz="1300">
                <a:solidFill>
                  <a:srgbClr val="00627A"/>
                </a:solidFill>
                <a:latin typeface="Inconsolata"/>
                <a:ea typeface="Inconsolata"/>
                <a:cs typeface="Inconsolata"/>
                <a:sym typeface="Inconsolata"/>
              </a:rPr>
              <a:t>print1DArray</a:t>
            </a:r>
            <a:r>
              <a:rPr b="1" lang="en" sz="13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(</a:t>
            </a:r>
            <a:r>
              <a:rPr b="1" lang="en" sz="1300">
                <a:latin typeface="Inconsolata"/>
                <a:ea typeface="Inconsolata"/>
                <a:cs typeface="Inconsolata"/>
                <a:sym typeface="Inconsolata"/>
              </a:rPr>
              <a:t>String</a:t>
            </a:r>
            <a:r>
              <a:rPr b="1" lang="en" sz="13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[] arr) {</a:t>
            </a:r>
            <a:endParaRPr b="1" sz="130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   printCommaSeparated(arr);</a:t>
            </a:r>
            <a:endParaRPr b="1" sz="130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}</a:t>
            </a:r>
            <a:endParaRPr b="1" sz="130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33B3"/>
                </a:solidFill>
                <a:latin typeface="Inconsolata"/>
                <a:ea typeface="Inconsolata"/>
                <a:cs typeface="Inconsolata"/>
                <a:sym typeface="Inconsolata"/>
              </a:rPr>
              <a:t>static </a:t>
            </a:r>
            <a:r>
              <a:rPr b="1" lang="en" sz="13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&lt;</a:t>
            </a:r>
            <a:r>
              <a:rPr b="1" lang="en" sz="1300">
                <a:solidFill>
                  <a:srgbClr val="007E8A"/>
                </a:solidFill>
                <a:latin typeface="Inconsolata"/>
                <a:ea typeface="Inconsolata"/>
                <a:cs typeface="Inconsolata"/>
                <a:sym typeface="Inconsolata"/>
              </a:rPr>
              <a:t>T</a:t>
            </a:r>
            <a:r>
              <a:rPr b="1" lang="en" sz="13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&gt; </a:t>
            </a:r>
            <a:r>
              <a:rPr b="1" lang="en" sz="1300">
                <a:solidFill>
                  <a:srgbClr val="0033B3"/>
                </a:solidFill>
                <a:latin typeface="Inconsolata"/>
                <a:ea typeface="Inconsolata"/>
                <a:cs typeface="Inconsolata"/>
                <a:sym typeface="Inconsolata"/>
              </a:rPr>
              <a:t>void </a:t>
            </a:r>
            <a:r>
              <a:rPr b="1" lang="en" sz="1300">
                <a:solidFill>
                  <a:srgbClr val="00627A"/>
                </a:solidFill>
                <a:latin typeface="Inconsolata"/>
                <a:ea typeface="Inconsolata"/>
                <a:cs typeface="Inconsolata"/>
                <a:sym typeface="Inconsolata"/>
              </a:rPr>
              <a:t>printCommaSeparated</a:t>
            </a:r>
            <a:r>
              <a:rPr b="1" lang="en" sz="13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(</a:t>
            </a:r>
            <a:r>
              <a:rPr b="1" lang="en" sz="1300">
                <a:solidFill>
                  <a:srgbClr val="007E8A"/>
                </a:solidFill>
                <a:latin typeface="Inconsolata"/>
                <a:ea typeface="Inconsolata"/>
                <a:cs typeface="Inconsolata"/>
                <a:sym typeface="Inconsolata"/>
              </a:rPr>
              <a:t>T</a:t>
            </a:r>
            <a:r>
              <a:rPr b="1" lang="en" sz="13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[] arr) {</a:t>
            </a:r>
            <a:endParaRPr b="1" sz="130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   </a:t>
            </a:r>
            <a:r>
              <a:rPr b="1" lang="en" sz="1300">
                <a:solidFill>
                  <a:srgbClr val="0033B3"/>
                </a:solidFill>
                <a:latin typeface="Inconsolata"/>
                <a:ea typeface="Inconsolata"/>
                <a:cs typeface="Inconsolata"/>
                <a:sym typeface="Inconsolata"/>
              </a:rPr>
              <a:t>if </a:t>
            </a:r>
            <a:r>
              <a:rPr b="1" lang="en" sz="13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(arr != </a:t>
            </a:r>
            <a:r>
              <a:rPr b="1" lang="en" sz="1300">
                <a:solidFill>
                  <a:srgbClr val="0033B3"/>
                </a:solidFill>
                <a:latin typeface="Inconsolata"/>
                <a:ea typeface="Inconsolata"/>
                <a:cs typeface="Inconsolata"/>
                <a:sym typeface="Inconsolata"/>
              </a:rPr>
              <a:t>null</a:t>
            </a:r>
            <a:r>
              <a:rPr b="1" lang="en" sz="13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) {</a:t>
            </a:r>
            <a:endParaRPr b="1" sz="130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       </a:t>
            </a:r>
            <a:r>
              <a:rPr b="1" lang="en" sz="1300">
                <a:latin typeface="Inconsolata"/>
                <a:ea typeface="Inconsolata"/>
                <a:cs typeface="Inconsolata"/>
                <a:sym typeface="Inconsolata"/>
              </a:rPr>
              <a:t>System</a:t>
            </a:r>
            <a:r>
              <a:rPr b="1" lang="en" sz="13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.</a:t>
            </a:r>
            <a:r>
              <a:rPr b="1" lang="en" sz="1300">
                <a:solidFill>
                  <a:srgbClr val="871094"/>
                </a:solidFill>
                <a:latin typeface="Inconsolata"/>
                <a:ea typeface="Inconsolata"/>
                <a:cs typeface="Inconsolata"/>
                <a:sym typeface="Inconsolata"/>
              </a:rPr>
              <a:t>out</a:t>
            </a:r>
            <a:r>
              <a:rPr b="1" lang="en" sz="13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.print(</a:t>
            </a:r>
            <a:r>
              <a:rPr b="1" lang="en" sz="1300">
                <a:solidFill>
                  <a:srgbClr val="067D17"/>
                </a:solidFill>
                <a:latin typeface="Inconsolata"/>
                <a:ea typeface="Inconsolata"/>
                <a:cs typeface="Inconsolata"/>
                <a:sym typeface="Inconsolata"/>
              </a:rPr>
              <a:t>"["</a:t>
            </a:r>
            <a:r>
              <a:rPr b="1" lang="en" sz="13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);</a:t>
            </a:r>
            <a:endParaRPr b="1" sz="130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       </a:t>
            </a:r>
            <a:r>
              <a:rPr b="1" lang="en" sz="1300">
                <a:solidFill>
                  <a:srgbClr val="0033B3"/>
                </a:solidFill>
                <a:latin typeface="Inconsolata"/>
                <a:ea typeface="Inconsolata"/>
                <a:cs typeface="Inconsolata"/>
                <a:sym typeface="Inconsolata"/>
              </a:rPr>
              <a:t>for </a:t>
            </a:r>
            <a:r>
              <a:rPr b="1" lang="en" sz="13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(</a:t>
            </a:r>
            <a:r>
              <a:rPr b="1" lang="en" sz="1300">
                <a:solidFill>
                  <a:srgbClr val="0033B3"/>
                </a:solidFill>
                <a:latin typeface="Inconsolata"/>
                <a:ea typeface="Inconsolata"/>
                <a:cs typeface="Inconsolata"/>
                <a:sym typeface="Inconsolata"/>
              </a:rPr>
              <a:t>int </a:t>
            </a:r>
            <a:r>
              <a:rPr b="1" lang="en" sz="1300">
                <a:latin typeface="Inconsolata"/>
                <a:ea typeface="Inconsolata"/>
                <a:cs typeface="Inconsolata"/>
                <a:sym typeface="Inconsolata"/>
              </a:rPr>
              <a:t>i </a:t>
            </a:r>
            <a:r>
              <a:rPr b="1" lang="en" sz="13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= </a:t>
            </a:r>
            <a:r>
              <a:rPr b="1" lang="en" sz="1300">
                <a:solidFill>
                  <a:srgbClr val="1750EB"/>
                </a:solidFill>
                <a:latin typeface="Inconsolata"/>
                <a:ea typeface="Inconsolata"/>
                <a:cs typeface="Inconsolata"/>
                <a:sym typeface="Inconsolata"/>
              </a:rPr>
              <a:t>0</a:t>
            </a:r>
            <a:r>
              <a:rPr b="1" lang="en" sz="13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; </a:t>
            </a:r>
            <a:r>
              <a:rPr b="1" lang="en" sz="1300">
                <a:latin typeface="Inconsolata"/>
                <a:ea typeface="Inconsolata"/>
                <a:cs typeface="Inconsolata"/>
                <a:sym typeface="Inconsolata"/>
              </a:rPr>
              <a:t>i </a:t>
            </a:r>
            <a:r>
              <a:rPr b="1" lang="en" sz="13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&lt; arr.</a:t>
            </a:r>
            <a:r>
              <a:rPr b="1" lang="en" sz="1300">
                <a:solidFill>
                  <a:srgbClr val="871094"/>
                </a:solidFill>
                <a:latin typeface="Inconsolata"/>
                <a:ea typeface="Inconsolata"/>
                <a:cs typeface="Inconsolata"/>
                <a:sym typeface="Inconsolata"/>
              </a:rPr>
              <a:t>length</a:t>
            </a:r>
            <a:r>
              <a:rPr b="1" lang="en" sz="13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; </a:t>
            </a:r>
            <a:r>
              <a:rPr b="1" lang="en" sz="1300">
                <a:latin typeface="Inconsolata"/>
                <a:ea typeface="Inconsolata"/>
                <a:cs typeface="Inconsolata"/>
                <a:sym typeface="Inconsolata"/>
              </a:rPr>
              <a:t>i</a:t>
            </a:r>
            <a:r>
              <a:rPr b="1" lang="en" sz="13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++) {</a:t>
            </a:r>
            <a:endParaRPr b="1" sz="130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           </a:t>
            </a:r>
            <a:r>
              <a:rPr b="1" lang="en" sz="1300">
                <a:latin typeface="Inconsolata"/>
                <a:ea typeface="Inconsolata"/>
                <a:cs typeface="Inconsolata"/>
                <a:sym typeface="Inconsolata"/>
              </a:rPr>
              <a:t>System</a:t>
            </a:r>
            <a:r>
              <a:rPr b="1" lang="en" sz="13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.</a:t>
            </a:r>
            <a:r>
              <a:rPr b="1" lang="en" sz="1300">
                <a:solidFill>
                  <a:srgbClr val="871094"/>
                </a:solidFill>
                <a:latin typeface="Inconsolata"/>
                <a:ea typeface="Inconsolata"/>
                <a:cs typeface="Inconsolata"/>
                <a:sym typeface="Inconsolata"/>
              </a:rPr>
              <a:t>out</a:t>
            </a:r>
            <a:r>
              <a:rPr b="1" lang="en" sz="13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.print(arr[</a:t>
            </a:r>
            <a:r>
              <a:rPr b="1" lang="en" sz="1300">
                <a:latin typeface="Inconsolata"/>
                <a:ea typeface="Inconsolata"/>
                <a:cs typeface="Inconsolata"/>
                <a:sym typeface="Inconsolata"/>
              </a:rPr>
              <a:t>i</a:t>
            </a:r>
            <a:r>
              <a:rPr b="1" lang="en" sz="13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]);</a:t>
            </a:r>
            <a:endParaRPr b="1" sz="130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           </a:t>
            </a:r>
            <a:r>
              <a:rPr b="1" lang="en" sz="1300">
                <a:solidFill>
                  <a:srgbClr val="0033B3"/>
                </a:solidFill>
                <a:latin typeface="Inconsolata"/>
                <a:ea typeface="Inconsolata"/>
                <a:cs typeface="Inconsolata"/>
                <a:sym typeface="Inconsolata"/>
              </a:rPr>
              <a:t>if </a:t>
            </a:r>
            <a:r>
              <a:rPr b="1" lang="en" sz="13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(</a:t>
            </a:r>
            <a:r>
              <a:rPr b="1" lang="en" sz="1300">
                <a:latin typeface="Inconsolata"/>
                <a:ea typeface="Inconsolata"/>
                <a:cs typeface="Inconsolata"/>
                <a:sym typeface="Inconsolata"/>
              </a:rPr>
              <a:t>i </a:t>
            </a:r>
            <a:r>
              <a:rPr b="1" lang="en" sz="13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&lt; arr.</a:t>
            </a:r>
            <a:r>
              <a:rPr b="1" lang="en" sz="1300">
                <a:solidFill>
                  <a:srgbClr val="871094"/>
                </a:solidFill>
                <a:latin typeface="Inconsolata"/>
                <a:ea typeface="Inconsolata"/>
                <a:cs typeface="Inconsolata"/>
                <a:sym typeface="Inconsolata"/>
              </a:rPr>
              <a:t>length </a:t>
            </a:r>
            <a:r>
              <a:rPr b="1" lang="en" sz="13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- </a:t>
            </a:r>
            <a:r>
              <a:rPr b="1" lang="en" sz="1300">
                <a:solidFill>
                  <a:srgbClr val="1750EB"/>
                </a:solidFill>
                <a:latin typeface="Inconsolata"/>
                <a:ea typeface="Inconsolata"/>
                <a:cs typeface="Inconsolata"/>
                <a:sym typeface="Inconsolata"/>
              </a:rPr>
              <a:t>1</a:t>
            </a:r>
            <a:r>
              <a:rPr b="1" lang="en" sz="13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) {</a:t>
            </a:r>
            <a:endParaRPr b="1" sz="130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               </a:t>
            </a:r>
            <a:r>
              <a:rPr b="1" lang="en" sz="1300">
                <a:latin typeface="Inconsolata"/>
                <a:ea typeface="Inconsolata"/>
                <a:cs typeface="Inconsolata"/>
                <a:sym typeface="Inconsolata"/>
              </a:rPr>
              <a:t>System</a:t>
            </a:r>
            <a:r>
              <a:rPr b="1" lang="en" sz="13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.</a:t>
            </a:r>
            <a:r>
              <a:rPr b="1" lang="en" sz="1300">
                <a:solidFill>
                  <a:srgbClr val="871094"/>
                </a:solidFill>
                <a:latin typeface="Inconsolata"/>
                <a:ea typeface="Inconsolata"/>
                <a:cs typeface="Inconsolata"/>
                <a:sym typeface="Inconsolata"/>
              </a:rPr>
              <a:t>out</a:t>
            </a:r>
            <a:r>
              <a:rPr b="1" lang="en" sz="13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.print(</a:t>
            </a:r>
            <a:r>
              <a:rPr b="1" lang="en" sz="1300">
                <a:solidFill>
                  <a:srgbClr val="067D17"/>
                </a:solidFill>
                <a:latin typeface="Inconsolata"/>
                <a:ea typeface="Inconsolata"/>
                <a:cs typeface="Inconsolata"/>
                <a:sym typeface="Inconsolata"/>
              </a:rPr>
              <a:t>", "</a:t>
            </a:r>
            <a:r>
              <a:rPr b="1" lang="en" sz="13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);</a:t>
            </a:r>
            <a:endParaRPr b="1" sz="130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           }</a:t>
            </a:r>
            <a:endParaRPr b="1" sz="130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       }</a:t>
            </a:r>
            <a:endParaRPr b="1" sz="130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       </a:t>
            </a:r>
            <a:r>
              <a:rPr b="1" lang="en" sz="1300">
                <a:latin typeface="Inconsolata"/>
                <a:ea typeface="Inconsolata"/>
                <a:cs typeface="Inconsolata"/>
                <a:sym typeface="Inconsolata"/>
              </a:rPr>
              <a:t>System</a:t>
            </a:r>
            <a:r>
              <a:rPr b="1" lang="en" sz="13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.</a:t>
            </a:r>
            <a:r>
              <a:rPr b="1" lang="en" sz="1300">
                <a:solidFill>
                  <a:srgbClr val="871094"/>
                </a:solidFill>
                <a:latin typeface="Inconsolata"/>
                <a:ea typeface="Inconsolata"/>
                <a:cs typeface="Inconsolata"/>
                <a:sym typeface="Inconsolata"/>
              </a:rPr>
              <a:t>out</a:t>
            </a:r>
            <a:r>
              <a:rPr b="1" lang="en" sz="13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.print(</a:t>
            </a:r>
            <a:r>
              <a:rPr b="1" lang="en" sz="1300">
                <a:solidFill>
                  <a:srgbClr val="067D17"/>
                </a:solidFill>
                <a:latin typeface="Inconsolata"/>
                <a:ea typeface="Inconsolata"/>
                <a:cs typeface="Inconsolata"/>
                <a:sym typeface="Inconsolata"/>
              </a:rPr>
              <a:t>"]"</a:t>
            </a:r>
            <a:r>
              <a:rPr b="1" lang="en" sz="13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);</a:t>
            </a:r>
            <a:endParaRPr b="1" sz="130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   }</a:t>
            </a:r>
            <a:endParaRPr b="1" sz="130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}</a:t>
            </a:r>
            <a:endParaRPr b="1" sz="130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033B3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258" name="Google Shape;258;p40"/>
          <p:cNvSpPr txBox="1"/>
          <p:nvPr/>
        </p:nvSpPr>
        <p:spPr>
          <a:xfrm>
            <a:off x="4553575" y="393600"/>
            <a:ext cx="4351500" cy="42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You actually can have generic static methods in Java.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[[[Ljava.lang.String;@e9e54c2, null, [[Ljava.lang.String;@65ab7765]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?!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Bad Code Example 2 - Don’t reinvent the wheel</a:t>
            </a:r>
            <a:endParaRPr/>
          </a:p>
        </p:txBody>
      </p:sp>
      <p:sp>
        <p:nvSpPr>
          <p:cNvPr id="264" name="Google Shape;264;p41"/>
          <p:cNvSpPr txBox="1"/>
          <p:nvPr>
            <p:ph idx="1" type="body"/>
          </p:nvPr>
        </p:nvSpPr>
        <p:spPr>
          <a:xfrm>
            <a:off x="106075" y="393600"/>
            <a:ext cx="4447500" cy="4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33B3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static void </a:t>
            </a:r>
            <a:r>
              <a:rPr b="1" lang="en" sz="1300">
                <a:solidFill>
                  <a:srgbClr val="00627A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print3DArray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(</a:t>
            </a:r>
            <a:r>
              <a:rPr b="1" lang="en" sz="1300"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String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[][][] arrays) {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printCommaSeparated(arrays);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</a:t>
            </a:r>
            <a:r>
              <a:rPr b="1" lang="en" sz="1300"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System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.</a:t>
            </a:r>
            <a:r>
              <a:rPr b="1" lang="en" sz="1300">
                <a:solidFill>
                  <a:srgbClr val="871094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out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.print(</a:t>
            </a:r>
            <a:r>
              <a:rPr b="1" lang="en" sz="1300">
                <a:solidFill>
                  <a:srgbClr val="067D17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"</a:t>
            </a:r>
            <a:r>
              <a:rPr b="1" lang="en" sz="1300">
                <a:solidFill>
                  <a:srgbClr val="0037A6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\n</a:t>
            </a:r>
            <a:r>
              <a:rPr b="1" lang="en" sz="1300">
                <a:solidFill>
                  <a:srgbClr val="067D17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"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);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}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33B3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static void </a:t>
            </a:r>
            <a:r>
              <a:rPr b="1" lang="en" sz="1300">
                <a:solidFill>
                  <a:srgbClr val="00627A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print2DArray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(</a:t>
            </a:r>
            <a:r>
              <a:rPr b="1" lang="en" sz="1300"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String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[][] array) {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printCommaSeparated(array);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}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33B3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static void </a:t>
            </a:r>
            <a:r>
              <a:rPr b="1" lang="en" sz="1300">
                <a:solidFill>
                  <a:srgbClr val="00627A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print1DArray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(</a:t>
            </a:r>
            <a:r>
              <a:rPr b="1" lang="en" sz="1300"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String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[] arr) {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printCommaSeparated(arr);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}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33B3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static 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&lt;</a:t>
            </a:r>
            <a:r>
              <a:rPr b="1" lang="en" sz="1300">
                <a:solidFill>
                  <a:srgbClr val="007E8A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T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&gt; </a:t>
            </a:r>
            <a:r>
              <a:rPr b="1" lang="en" sz="1300">
                <a:solidFill>
                  <a:srgbClr val="0033B3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void </a:t>
            </a:r>
            <a:r>
              <a:rPr b="1" lang="en" sz="1300">
                <a:solidFill>
                  <a:srgbClr val="00627A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printCommaSeparated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(</a:t>
            </a:r>
            <a:r>
              <a:rPr b="1" lang="en" sz="1300">
                <a:solidFill>
                  <a:srgbClr val="007E8A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T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[] arr) {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</a:t>
            </a:r>
            <a:r>
              <a:rPr b="1" lang="en" sz="1300">
                <a:solidFill>
                  <a:srgbClr val="0033B3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if 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(arr != </a:t>
            </a:r>
            <a:r>
              <a:rPr b="1" lang="en" sz="1300">
                <a:solidFill>
                  <a:srgbClr val="0033B3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null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) {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    </a:t>
            </a:r>
            <a:r>
              <a:rPr b="1" lang="en" sz="1300"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System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.</a:t>
            </a:r>
            <a:r>
              <a:rPr b="1" lang="en" sz="1300">
                <a:solidFill>
                  <a:srgbClr val="871094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out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.print(</a:t>
            </a:r>
            <a:r>
              <a:rPr b="1" lang="en" sz="1300"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Arrays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.toString(arr));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}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}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033B3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265" name="Google Shape;265;p41"/>
          <p:cNvSpPr txBox="1"/>
          <p:nvPr/>
        </p:nvSpPr>
        <p:spPr>
          <a:xfrm>
            <a:off x="4553575" y="393600"/>
            <a:ext cx="4351500" cy="42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[[[Ljava.lang.String;@e9e54c2, null, [[Ljava.lang.String;@65ab7765]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This occurs due to the nested-ness of our problem.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This is actually pretty annoying to resolve - an exercise for the brave amongst you is to fix it without using the library solution.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Better Code Example 2 - </a:t>
            </a:r>
            <a:r>
              <a:rPr lang="en" strike="sngStrike"/>
              <a:t>Cheat</a:t>
            </a:r>
            <a:r>
              <a:rPr lang="en"/>
              <a:t> Don’t reinvent the wheel, again</a:t>
            </a:r>
            <a:endParaRPr/>
          </a:p>
        </p:txBody>
      </p:sp>
      <p:sp>
        <p:nvSpPr>
          <p:cNvPr id="271" name="Google Shape;271;p42"/>
          <p:cNvSpPr txBox="1"/>
          <p:nvPr>
            <p:ph idx="1" type="body"/>
          </p:nvPr>
        </p:nvSpPr>
        <p:spPr>
          <a:xfrm>
            <a:off x="106075" y="393600"/>
            <a:ext cx="4447500" cy="4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33B3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static 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&lt;</a:t>
            </a:r>
            <a:r>
              <a:rPr b="1" lang="en" sz="1300">
                <a:solidFill>
                  <a:srgbClr val="007E8A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T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&gt; </a:t>
            </a:r>
            <a:r>
              <a:rPr b="1" lang="en" sz="1300">
                <a:solidFill>
                  <a:srgbClr val="0033B3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void </a:t>
            </a:r>
            <a:r>
              <a:rPr b="1" lang="en" sz="1300">
                <a:solidFill>
                  <a:srgbClr val="00627A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printArray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(</a:t>
            </a:r>
            <a:r>
              <a:rPr b="1" lang="en" sz="1300">
                <a:solidFill>
                  <a:srgbClr val="007E8A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T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[] arr) {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</a:t>
            </a:r>
            <a:r>
              <a:rPr b="1" lang="en" sz="1300"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System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.</a:t>
            </a:r>
            <a:r>
              <a:rPr b="1" lang="en" sz="1300">
                <a:solidFill>
                  <a:srgbClr val="871094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out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.print(</a:t>
            </a:r>
            <a:r>
              <a:rPr b="1" lang="en" sz="1300"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Arrays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.deepToString(arr));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}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033B3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272" name="Google Shape;272;p42"/>
          <p:cNvSpPr txBox="1"/>
          <p:nvPr/>
        </p:nvSpPr>
        <p:spPr>
          <a:xfrm>
            <a:off x="4553575" y="393600"/>
            <a:ext cx="4351500" cy="42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[[[1, 2, 3], [4, 5, 6], [7, 8, 9]], null, [[10, 11, 12], [13, 14, 15], [16, 17, 18]]]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Yes, we have that </a:t>
            </a:r>
            <a:r>
              <a:rPr b="1" lang="en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rPr>
              <a:t>null</a:t>
            </a: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there, but it’s totally a feature, not a bug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This now works for any amount of nested arrays. And any (non-primitive) type of array!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3"/>
          <p:cNvSpPr txBox="1"/>
          <p:nvPr>
            <p:ph idx="1" type="body"/>
          </p:nvPr>
        </p:nvSpPr>
        <p:spPr>
          <a:xfrm>
            <a:off x="107050" y="402200"/>
            <a:ext cx="8520600" cy="441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Refactoring is hard.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No immediate clear gains to be had - it’s all investment in the future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more stuff gets built on top of your bad code, the worse the problem becomes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/>
              <a:t>It’s hard to tell what will break, and more stuff will break the longer you wait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Code cleanly from the start!</a:t>
            </a:r>
            <a:endParaRPr/>
          </a:p>
        </p:txBody>
      </p:sp>
      <p:sp>
        <p:nvSpPr>
          <p:cNvPr id="278" name="Google Shape;278;p4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Writing Clean Code, Summary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4"/>
          <p:cNvSpPr txBox="1"/>
          <p:nvPr>
            <p:ph idx="1" type="body"/>
          </p:nvPr>
        </p:nvSpPr>
        <p:spPr>
          <a:xfrm>
            <a:off x="107050" y="402200"/>
            <a:ext cx="8520600" cy="441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 a complete list!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Add and commit before and after a refactor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Understand what your code needs to do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Understand who or what needs to access your code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Avoid unnecessarily complex ways of doing things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Use descriptive method and variable names, and document your code well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Use the tools the language offers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Separate logic into simpler methods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Code generically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Don’t repeat yourself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Don’t reinvent the wheel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Google and StackOverflow are your friend</a:t>
            </a:r>
            <a:endParaRPr sz="1600"/>
          </a:p>
        </p:txBody>
      </p:sp>
      <p:sp>
        <p:nvSpPr>
          <p:cNvPr id="284" name="Google Shape;284;p4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Writing Clean Code, Guidelines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Bonus: Fast Inverse Square Root (with original comments)</a:t>
            </a:r>
            <a:endParaRPr/>
          </a:p>
        </p:txBody>
      </p:sp>
      <p:sp>
        <p:nvSpPr>
          <p:cNvPr id="290" name="Google Shape;290;p45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B00040"/>
                </a:solidFill>
                <a:latin typeface="Inconsolata"/>
                <a:ea typeface="Inconsolata"/>
                <a:cs typeface="Inconsolata"/>
                <a:sym typeface="Inconsolata"/>
              </a:rPr>
              <a:t>float</a:t>
            </a:r>
            <a:r>
              <a:rPr b="1" lang="en" sz="1400">
                <a:solidFill>
                  <a:srgbClr val="BBBBBB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b="1" lang="en" sz="1400">
                <a:solidFill>
                  <a:srgbClr val="0000FF"/>
                </a:solidFill>
                <a:latin typeface="Inconsolata"/>
                <a:ea typeface="Inconsolata"/>
                <a:cs typeface="Inconsolata"/>
                <a:sym typeface="Inconsolata"/>
              </a:rPr>
              <a:t>q_rsqrt</a:t>
            </a:r>
            <a:r>
              <a:rPr b="1" lang="en" sz="1400">
                <a:latin typeface="Inconsolata"/>
                <a:ea typeface="Inconsolata"/>
                <a:cs typeface="Inconsolata"/>
                <a:sym typeface="Inconsolata"/>
              </a:rPr>
              <a:t>(</a:t>
            </a:r>
            <a:r>
              <a:rPr b="1" lang="en" sz="1400">
                <a:solidFill>
                  <a:srgbClr val="B00040"/>
                </a:solidFill>
                <a:latin typeface="Inconsolata"/>
                <a:ea typeface="Inconsolata"/>
                <a:cs typeface="Inconsolata"/>
                <a:sym typeface="Inconsolata"/>
              </a:rPr>
              <a:t>float</a:t>
            </a:r>
            <a:r>
              <a:rPr b="1" lang="en" sz="1400">
                <a:solidFill>
                  <a:srgbClr val="BBBBBB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b="1" lang="en" sz="1400">
                <a:latin typeface="Inconsolata"/>
                <a:ea typeface="Inconsolata"/>
                <a:cs typeface="Inconsolata"/>
                <a:sym typeface="Inconsolata"/>
              </a:rPr>
              <a:t>number)</a:t>
            </a:r>
            <a:endParaRPr b="1" sz="1400"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400">
                <a:latin typeface="Inconsolata"/>
                <a:ea typeface="Inconsolata"/>
                <a:cs typeface="Inconsolata"/>
                <a:sym typeface="Inconsolata"/>
              </a:rPr>
              <a:t>{</a:t>
            </a:r>
            <a:endParaRPr b="1" sz="1400"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BBBBBB"/>
                </a:solidFill>
                <a:latin typeface="Inconsolata"/>
                <a:ea typeface="Inconsolata"/>
                <a:cs typeface="Inconsolata"/>
                <a:sym typeface="Inconsolata"/>
              </a:rPr>
              <a:t>  </a:t>
            </a:r>
            <a:r>
              <a:rPr b="1" lang="en" sz="1400">
                <a:solidFill>
                  <a:srgbClr val="B00040"/>
                </a:solidFill>
                <a:latin typeface="Inconsolata"/>
                <a:ea typeface="Inconsolata"/>
                <a:cs typeface="Inconsolata"/>
                <a:sym typeface="Inconsolata"/>
              </a:rPr>
              <a:t>long</a:t>
            </a:r>
            <a:r>
              <a:rPr b="1" lang="en" sz="1400">
                <a:solidFill>
                  <a:srgbClr val="BBBBBB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b="1" lang="en" sz="1400">
                <a:latin typeface="Inconsolata"/>
                <a:ea typeface="Inconsolata"/>
                <a:cs typeface="Inconsolata"/>
                <a:sym typeface="Inconsolata"/>
              </a:rPr>
              <a:t>i;</a:t>
            </a:r>
            <a:endParaRPr b="1" sz="1400"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BBBBBB"/>
                </a:solidFill>
                <a:latin typeface="Inconsolata"/>
                <a:ea typeface="Inconsolata"/>
                <a:cs typeface="Inconsolata"/>
                <a:sym typeface="Inconsolata"/>
              </a:rPr>
              <a:t>  </a:t>
            </a:r>
            <a:r>
              <a:rPr b="1" lang="en" sz="1400">
                <a:solidFill>
                  <a:srgbClr val="B00040"/>
                </a:solidFill>
                <a:latin typeface="Inconsolata"/>
                <a:ea typeface="Inconsolata"/>
                <a:cs typeface="Inconsolata"/>
                <a:sym typeface="Inconsolata"/>
              </a:rPr>
              <a:t>float</a:t>
            </a:r>
            <a:r>
              <a:rPr b="1" lang="en" sz="1400">
                <a:solidFill>
                  <a:srgbClr val="BBBBBB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b="1" lang="en" sz="1400">
                <a:latin typeface="Inconsolata"/>
                <a:ea typeface="Inconsolata"/>
                <a:cs typeface="Inconsolata"/>
                <a:sym typeface="Inconsolata"/>
              </a:rPr>
              <a:t>x2,</a:t>
            </a:r>
            <a:r>
              <a:rPr b="1" lang="en" sz="1400">
                <a:solidFill>
                  <a:srgbClr val="BBBBBB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b="1" lang="en" sz="1400">
                <a:latin typeface="Inconsolata"/>
                <a:ea typeface="Inconsolata"/>
                <a:cs typeface="Inconsolata"/>
                <a:sym typeface="Inconsolata"/>
              </a:rPr>
              <a:t>y;</a:t>
            </a:r>
            <a:endParaRPr b="1" sz="1400"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BBBBBB"/>
                </a:solidFill>
                <a:latin typeface="Inconsolata"/>
                <a:ea typeface="Inconsolata"/>
                <a:cs typeface="Inconsolata"/>
                <a:sym typeface="Inconsolata"/>
              </a:rPr>
              <a:t>  </a:t>
            </a:r>
            <a:r>
              <a:rPr b="1" lang="en" sz="1400">
                <a:solidFill>
                  <a:srgbClr val="008000"/>
                </a:solidFill>
                <a:latin typeface="Inconsolata"/>
                <a:ea typeface="Inconsolata"/>
                <a:cs typeface="Inconsolata"/>
                <a:sym typeface="Inconsolata"/>
              </a:rPr>
              <a:t>const</a:t>
            </a:r>
            <a:r>
              <a:rPr b="1" lang="en" sz="1400">
                <a:solidFill>
                  <a:srgbClr val="BBBBBB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b="1" lang="en" sz="1400">
                <a:solidFill>
                  <a:srgbClr val="B00040"/>
                </a:solidFill>
                <a:latin typeface="Inconsolata"/>
                <a:ea typeface="Inconsolata"/>
                <a:cs typeface="Inconsolata"/>
                <a:sym typeface="Inconsolata"/>
              </a:rPr>
              <a:t>float</a:t>
            </a:r>
            <a:r>
              <a:rPr b="1" lang="en" sz="1400">
                <a:solidFill>
                  <a:srgbClr val="BBBBBB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b="1" lang="en" sz="1400">
                <a:latin typeface="Inconsolata"/>
                <a:ea typeface="Inconsolata"/>
                <a:cs typeface="Inconsolata"/>
                <a:sym typeface="Inconsolata"/>
              </a:rPr>
              <a:t>threehalfs</a:t>
            </a:r>
            <a:r>
              <a:rPr b="1" lang="en" sz="1400">
                <a:solidFill>
                  <a:srgbClr val="BBBBBB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b="1" lang="en" sz="14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=</a:t>
            </a:r>
            <a:r>
              <a:rPr b="1" lang="en" sz="1400">
                <a:solidFill>
                  <a:srgbClr val="BBBBBB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b="1" lang="en" sz="14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1.5F</a:t>
            </a:r>
            <a:r>
              <a:rPr b="1" lang="en" sz="1400">
                <a:latin typeface="Inconsolata"/>
                <a:ea typeface="Inconsolata"/>
                <a:cs typeface="Inconsolata"/>
                <a:sym typeface="Inconsolata"/>
              </a:rPr>
              <a:t>;</a:t>
            </a:r>
            <a:endParaRPr b="1" sz="1400"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BBBBBB"/>
                </a:solidFill>
                <a:latin typeface="Inconsolata"/>
                <a:ea typeface="Inconsolata"/>
                <a:cs typeface="Inconsolata"/>
                <a:sym typeface="Inconsolata"/>
              </a:rPr>
              <a:t>  </a:t>
            </a:r>
            <a:r>
              <a:rPr b="1" lang="en" sz="1400">
                <a:latin typeface="Inconsolata"/>
                <a:ea typeface="Inconsolata"/>
                <a:cs typeface="Inconsolata"/>
                <a:sym typeface="Inconsolata"/>
              </a:rPr>
              <a:t>x2</a:t>
            </a:r>
            <a:r>
              <a:rPr b="1" lang="en" sz="1400">
                <a:solidFill>
                  <a:srgbClr val="BBBBBB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b="1" lang="en" sz="14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=</a:t>
            </a:r>
            <a:r>
              <a:rPr b="1" lang="en" sz="1400">
                <a:solidFill>
                  <a:srgbClr val="BBBBBB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b="1" lang="en" sz="1400">
                <a:latin typeface="Inconsolata"/>
                <a:ea typeface="Inconsolata"/>
                <a:cs typeface="Inconsolata"/>
                <a:sym typeface="Inconsolata"/>
              </a:rPr>
              <a:t>number</a:t>
            </a:r>
            <a:r>
              <a:rPr b="1" lang="en" sz="1400">
                <a:solidFill>
                  <a:srgbClr val="BBBBBB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b="1" lang="en" sz="14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*</a:t>
            </a:r>
            <a:r>
              <a:rPr b="1" lang="en" sz="1400">
                <a:solidFill>
                  <a:srgbClr val="BBBBBB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b="1" lang="en" sz="14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0.5F</a:t>
            </a:r>
            <a:r>
              <a:rPr b="1" lang="en" sz="1400">
                <a:latin typeface="Inconsolata"/>
                <a:ea typeface="Inconsolata"/>
                <a:cs typeface="Inconsolata"/>
                <a:sym typeface="Inconsolata"/>
              </a:rPr>
              <a:t>;</a:t>
            </a:r>
            <a:endParaRPr b="1" sz="1400"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BBBBBB"/>
                </a:solidFill>
                <a:latin typeface="Inconsolata"/>
                <a:ea typeface="Inconsolata"/>
                <a:cs typeface="Inconsolata"/>
                <a:sym typeface="Inconsolata"/>
              </a:rPr>
              <a:t>  </a:t>
            </a:r>
            <a:r>
              <a:rPr b="1" lang="en" sz="1400">
                <a:latin typeface="Inconsolata"/>
                <a:ea typeface="Inconsolata"/>
                <a:cs typeface="Inconsolata"/>
                <a:sym typeface="Inconsolata"/>
              </a:rPr>
              <a:t>y</a:t>
            </a:r>
            <a:r>
              <a:rPr b="1" lang="en" sz="1400">
                <a:solidFill>
                  <a:srgbClr val="BBBBBB"/>
                </a:solidFill>
                <a:latin typeface="Inconsolata"/>
                <a:ea typeface="Inconsolata"/>
                <a:cs typeface="Inconsolata"/>
                <a:sym typeface="Inconsolata"/>
              </a:rPr>
              <a:t>  </a:t>
            </a:r>
            <a:r>
              <a:rPr b="1" lang="en" sz="14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=</a:t>
            </a:r>
            <a:r>
              <a:rPr b="1" lang="en" sz="1400">
                <a:solidFill>
                  <a:srgbClr val="BBBBBB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b="1" lang="en" sz="1400">
                <a:latin typeface="Inconsolata"/>
                <a:ea typeface="Inconsolata"/>
                <a:cs typeface="Inconsolata"/>
                <a:sym typeface="Inconsolata"/>
              </a:rPr>
              <a:t>number;</a:t>
            </a:r>
            <a:endParaRPr b="1" sz="1400"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BBBBBB"/>
                </a:solidFill>
                <a:latin typeface="Inconsolata"/>
                <a:ea typeface="Inconsolata"/>
                <a:cs typeface="Inconsolata"/>
                <a:sym typeface="Inconsolata"/>
              </a:rPr>
              <a:t>  </a:t>
            </a:r>
            <a:r>
              <a:rPr b="1" lang="en" sz="1400">
                <a:latin typeface="Inconsolata"/>
                <a:ea typeface="Inconsolata"/>
                <a:cs typeface="Inconsolata"/>
                <a:sym typeface="Inconsolata"/>
              </a:rPr>
              <a:t>i</a:t>
            </a:r>
            <a:r>
              <a:rPr b="1" lang="en" sz="1400">
                <a:solidFill>
                  <a:srgbClr val="BBBBBB"/>
                </a:solidFill>
                <a:latin typeface="Inconsolata"/>
                <a:ea typeface="Inconsolata"/>
                <a:cs typeface="Inconsolata"/>
                <a:sym typeface="Inconsolata"/>
              </a:rPr>
              <a:t>  </a:t>
            </a:r>
            <a:r>
              <a:rPr b="1" lang="en" sz="14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=</a:t>
            </a:r>
            <a:r>
              <a:rPr b="1" lang="en" sz="1400">
                <a:solidFill>
                  <a:srgbClr val="BBBBBB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b="1" lang="en" sz="14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*</a:t>
            </a:r>
            <a:r>
              <a:rPr b="1" lang="en" sz="1400">
                <a:solidFill>
                  <a:srgbClr val="BBBBBB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b="1" lang="en" sz="1400">
                <a:latin typeface="Inconsolata"/>
                <a:ea typeface="Inconsolata"/>
                <a:cs typeface="Inconsolata"/>
                <a:sym typeface="Inconsolata"/>
              </a:rPr>
              <a:t>(</a:t>
            </a:r>
            <a:r>
              <a:rPr b="1" lang="en" sz="1400">
                <a:solidFill>
                  <a:srgbClr val="BBBBBB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b="1" lang="en" sz="1400">
                <a:solidFill>
                  <a:srgbClr val="B00040"/>
                </a:solidFill>
                <a:latin typeface="Inconsolata"/>
                <a:ea typeface="Inconsolata"/>
                <a:cs typeface="Inconsolata"/>
                <a:sym typeface="Inconsolata"/>
              </a:rPr>
              <a:t>long</a:t>
            </a:r>
            <a:r>
              <a:rPr b="1" lang="en" sz="1400">
                <a:solidFill>
                  <a:srgbClr val="BBBBBB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b="1" lang="en" sz="14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*</a:t>
            </a:r>
            <a:r>
              <a:rPr b="1" lang="en" sz="1400">
                <a:solidFill>
                  <a:srgbClr val="BBBBBB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b="1" lang="en" sz="1400">
                <a:latin typeface="Inconsolata"/>
                <a:ea typeface="Inconsolata"/>
                <a:cs typeface="Inconsolata"/>
                <a:sym typeface="Inconsolata"/>
              </a:rPr>
              <a:t>)</a:t>
            </a:r>
            <a:r>
              <a:rPr b="1" lang="en" sz="1400">
                <a:solidFill>
                  <a:srgbClr val="BBBBBB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b="1" lang="en" sz="14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&amp;</a:t>
            </a:r>
            <a:r>
              <a:rPr b="1" lang="en" sz="1400">
                <a:latin typeface="Inconsolata"/>
                <a:ea typeface="Inconsolata"/>
                <a:cs typeface="Inconsolata"/>
                <a:sym typeface="Inconsolata"/>
              </a:rPr>
              <a:t>y;</a:t>
            </a:r>
            <a:r>
              <a:rPr b="1" lang="en" sz="1400">
                <a:solidFill>
                  <a:srgbClr val="BBBBBB"/>
                </a:solidFill>
                <a:latin typeface="Inconsolata"/>
                <a:ea typeface="Inconsolata"/>
                <a:cs typeface="Inconsolata"/>
                <a:sym typeface="Inconsolata"/>
              </a:rPr>
              <a:t>                       </a:t>
            </a:r>
            <a:r>
              <a:rPr b="1" i="1" lang="en" sz="1400">
                <a:solidFill>
                  <a:srgbClr val="3D7B7B"/>
                </a:solidFill>
                <a:latin typeface="Inconsolata"/>
                <a:ea typeface="Inconsolata"/>
                <a:cs typeface="Inconsolata"/>
                <a:sym typeface="Inconsolata"/>
              </a:rPr>
              <a:t>// evil floating point bit level hacking</a:t>
            </a:r>
            <a:endParaRPr b="1" sz="1400"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BBBBBB"/>
                </a:solidFill>
                <a:latin typeface="Inconsolata"/>
                <a:ea typeface="Inconsolata"/>
                <a:cs typeface="Inconsolata"/>
                <a:sym typeface="Inconsolata"/>
              </a:rPr>
              <a:t>  </a:t>
            </a:r>
            <a:r>
              <a:rPr b="1" lang="en" sz="1400">
                <a:latin typeface="Inconsolata"/>
                <a:ea typeface="Inconsolata"/>
                <a:cs typeface="Inconsolata"/>
                <a:sym typeface="Inconsolata"/>
              </a:rPr>
              <a:t>i</a:t>
            </a:r>
            <a:r>
              <a:rPr b="1" lang="en" sz="1400">
                <a:solidFill>
                  <a:srgbClr val="BBBBBB"/>
                </a:solidFill>
                <a:latin typeface="Inconsolata"/>
                <a:ea typeface="Inconsolata"/>
                <a:cs typeface="Inconsolata"/>
                <a:sym typeface="Inconsolata"/>
              </a:rPr>
              <a:t>  </a:t>
            </a:r>
            <a:r>
              <a:rPr b="1" lang="en" sz="14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=</a:t>
            </a:r>
            <a:r>
              <a:rPr b="1" lang="en" sz="1400">
                <a:solidFill>
                  <a:srgbClr val="BBBBBB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b="1" lang="en" sz="14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0x5f3759df</a:t>
            </a:r>
            <a:r>
              <a:rPr b="1" lang="en" sz="1400">
                <a:solidFill>
                  <a:srgbClr val="BBBBBB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b="1" lang="en" sz="14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-</a:t>
            </a:r>
            <a:r>
              <a:rPr b="1" lang="en" sz="1400">
                <a:solidFill>
                  <a:srgbClr val="BBBBBB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b="1" lang="en" sz="1400">
                <a:latin typeface="Inconsolata"/>
                <a:ea typeface="Inconsolata"/>
                <a:cs typeface="Inconsolata"/>
                <a:sym typeface="Inconsolata"/>
              </a:rPr>
              <a:t>(</a:t>
            </a:r>
            <a:r>
              <a:rPr b="1" lang="en" sz="1400">
                <a:solidFill>
                  <a:srgbClr val="BBBBBB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b="1" lang="en" sz="1400">
                <a:latin typeface="Inconsolata"/>
                <a:ea typeface="Inconsolata"/>
                <a:cs typeface="Inconsolata"/>
                <a:sym typeface="Inconsolata"/>
              </a:rPr>
              <a:t>i</a:t>
            </a:r>
            <a:r>
              <a:rPr b="1" lang="en" sz="1400">
                <a:solidFill>
                  <a:srgbClr val="BBBBBB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b="1" lang="en" sz="14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&gt;&gt;</a:t>
            </a:r>
            <a:r>
              <a:rPr b="1" lang="en" sz="1400">
                <a:solidFill>
                  <a:srgbClr val="BBBBBB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b="1" lang="en" sz="14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1</a:t>
            </a:r>
            <a:r>
              <a:rPr b="1" lang="en" sz="1400">
                <a:solidFill>
                  <a:srgbClr val="BBBBBB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b="1" lang="en" sz="1400">
                <a:latin typeface="Inconsolata"/>
                <a:ea typeface="Inconsolata"/>
                <a:cs typeface="Inconsolata"/>
                <a:sym typeface="Inconsolata"/>
              </a:rPr>
              <a:t>);</a:t>
            </a:r>
            <a:r>
              <a:rPr b="1" lang="en" sz="1400">
                <a:solidFill>
                  <a:srgbClr val="BBBBBB"/>
                </a:solidFill>
                <a:latin typeface="Inconsolata"/>
                <a:ea typeface="Inconsolata"/>
                <a:cs typeface="Inconsolata"/>
                <a:sym typeface="Inconsolata"/>
              </a:rPr>
              <a:t>               </a:t>
            </a:r>
            <a:r>
              <a:rPr b="1" i="1" lang="en" sz="1400">
                <a:solidFill>
                  <a:srgbClr val="3D7B7B"/>
                </a:solidFill>
                <a:latin typeface="Inconsolata"/>
                <a:ea typeface="Inconsolata"/>
                <a:cs typeface="Inconsolata"/>
                <a:sym typeface="Inconsolata"/>
              </a:rPr>
              <a:t>// what the fuck?</a:t>
            </a:r>
            <a:endParaRPr b="1" sz="1400"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BBBBBB"/>
                </a:solidFill>
                <a:latin typeface="Inconsolata"/>
                <a:ea typeface="Inconsolata"/>
                <a:cs typeface="Inconsolata"/>
                <a:sym typeface="Inconsolata"/>
              </a:rPr>
              <a:t>  </a:t>
            </a:r>
            <a:r>
              <a:rPr b="1" lang="en" sz="1400">
                <a:latin typeface="Inconsolata"/>
                <a:ea typeface="Inconsolata"/>
                <a:cs typeface="Inconsolata"/>
                <a:sym typeface="Inconsolata"/>
              </a:rPr>
              <a:t>y</a:t>
            </a:r>
            <a:r>
              <a:rPr b="1" lang="en" sz="1400">
                <a:solidFill>
                  <a:srgbClr val="BBBBBB"/>
                </a:solidFill>
                <a:latin typeface="Inconsolata"/>
                <a:ea typeface="Inconsolata"/>
                <a:cs typeface="Inconsolata"/>
                <a:sym typeface="Inconsolata"/>
              </a:rPr>
              <a:t>  </a:t>
            </a:r>
            <a:r>
              <a:rPr b="1" lang="en" sz="14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=</a:t>
            </a:r>
            <a:r>
              <a:rPr b="1" lang="en" sz="1400">
                <a:solidFill>
                  <a:srgbClr val="BBBBBB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b="1" lang="en" sz="14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*</a:t>
            </a:r>
            <a:r>
              <a:rPr b="1" lang="en" sz="1400">
                <a:solidFill>
                  <a:srgbClr val="BBBBBB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b="1" lang="en" sz="1400">
                <a:latin typeface="Inconsolata"/>
                <a:ea typeface="Inconsolata"/>
                <a:cs typeface="Inconsolata"/>
                <a:sym typeface="Inconsolata"/>
              </a:rPr>
              <a:t>(</a:t>
            </a:r>
            <a:r>
              <a:rPr b="1" lang="en" sz="1400">
                <a:solidFill>
                  <a:srgbClr val="BBBBBB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b="1" lang="en" sz="1400">
                <a:solidFill>
                  <a:srgbClr val="B00040"/>
                </a:solidFill>
                <a:latin typeface="Inconsolata"/>
                <a:ea typeface="Inconsolata"/>
                <a:cs typeface="Inconsolata"/>
                <a:sym typeface="Inconsolata"/>
              </a:rPr>
              <a:t>float</a:t>
            </a:r>
            <a:r>
              <a:rPr b="1" lang="en" sz="1400">
                <a:solidFill>
                  <a:srgbClr val="BBBBBB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b="1" lang="en" sz="14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*</a:t>
            </a:r>
            <a:r>
              <a:rPr b="1" lang="en" sz="1400">
                <a:solidFill>
                  <a:srgbClr val="BBBBBB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b="1" lang="en" sz="1400">
                <a:latin typeface="Inconsolata"/>
                <a:ea typeface="Inconsolata"/>
                <a:cs typeface="Inconsolata"/>
                <a:sym typeface="Inconsolata"/>
              </a:rPr>
              <a:t>)</a:t>
            </a:r>
            <a:r>
              <a:rPr b="1" lang="en" sz="1400">
                <a:solidFill>
                  <a:srgbClr val="BBBBBB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b="1" lang="en" sz="14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&amp;</a:t>
            </a:r>
            <a:r>
              <a:rPr b="1" lang="en" sz="1400">
                <a:latin typeface="Inconsolata"/>
                <a:ea typeface="Inconsolata"/>
                <a:cs typeface="Inconsolata"/>
                <a:sym typeface="Inconsolata"/>
              </a:rPr>
              <a:t>i;</a:t>
            </a:r>
            <a:endParaRPr b="1" sz="1400"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BBBBBB"/>
                </a:solidFill>
                <a:latin typeface="Inconsolata"/>
                <a:ea typeface="Inconsolata"/>
                <a:cs typeface="Inconsolata"/>
                <a:sym typeface="Inconsolata"/>
              </a:rPr>
              <a:t>  </a:t>
            </a:r>
            <a:r>
              <a:rPr b="1" lang="en" sz="1400">
                <a:latin typeface="Inconsolata"/>
                <a:ea typeface="Inconsolata"/>
                <a:cs typeface="Inconsolata"/>
                <a:sym typeface="Inconsolata"/>
              </a:rPr>
              <a:t>y</a:t>
            </a:r>
            <a:r>
              <a:rPr b="1" lang="en" sz="1400">
                <a:solidFill>
                  <a:srgbClr val="BBBBBB"/>
                </a:solidFill>
                <a:latin typeface="Inconsolata"/>
                <a:ea typeface="Inconsolata"/>
                <a:cs typeface="Inconsolata"/>
                <a:sym typeface="Inconsolata"/>
              </a:rPr>
              <a:t>  </a:t>
            </a:r>
            <a:r>
              <a:rPr b="1" lang="en" sz="14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=</a:t>
            </a:r>
            <a:r>
              <a:rPr b="1" lang="en" sz="1400">
                <a:solidFill>
                  <a:srgbClr val="BBBBBB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b="1" lang="en" sz="1400">
                <a:latin typeface="Inconsolata"/>
                <a:ea typeface="Inconsolata"/>
                <a:cs typeface="Inconsolata"/>
                <a:sym typeface="Inconsolata"/>
              </a:rPr>
              <a:t>y</a:t>
            </a:r>
            <a:r>
              <a:rPr b="1" lang="en" sz="1400">
                <a:solidFill>
                  <a:srgbClr val="BBBBBB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b="1" lang="en" sz="14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*</a:t>
            </a:r>
            <a:r>
              <a:rPr b="1" lang="en" sz="1400">
                <a:solidFill>
                  <a:srgbClr val="BBBBBB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b="1" lang="en" sz="1400">
                <a:latin typeface="Inconsolata"/>
                <a:ea typeface="Inconsolata"/>
                <a:cs typeface="Inconsolata"/>
                <a:sym typeface="Inconsolata"/>
              </a:rPr>
              <a:t>(</a:t>
            </a:r>
            <a:r>
              <a:rPr b="1" lang="en" sz="1400">
                <a:solidFill>
                  <a:srgbClr val="BBBBBB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b="1" lang="en" sz="1400">
                <a:latin typeface="Inconsolata"/>
                <a:ea typeface="Inconsolata"/>
                <a:cs typeface="Inconsolata"/>
                <a:sym typeface="Inconsolata"/>
              </a:rPr>
              <a:t>threehalfs</a:t>
            </a:r>
            <a:r>
              <a:rPr b="1" lang="en" sz="1400">
                <a:solidFill>
                  <a:srgbClr val="BBBBBB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b="1" lang="en" sz="14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-</a:t>
            </a:r>
            <a:r>
              <a:rPr b="1" lang="en" sz="1400">
                <a:solidFill>
                  <a:srgbClr val="BBBBBB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b="1" lang="en" sz="1400">
                <a:latin typeface="Inconsolata"/>
                <a:ea typeface="Inconsolata"/>
                <a:cs typeface="Inconsolata"/>
                <a:sym typeface="Inconsolata"/>
              </a:rPr>
              <a:t>(</a:t>
            </a:r>
            <a:r>
              <a:rPr b="1" lang="en" sz="1400">
                <a:solidFill>
                  <a:srgbClr val="BBBBBB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b="1" lang="en" sz="1400">
                <a:latin typeface="Inconsolata"/>
                <a:ea typeface="Inconsolata"/>
                <a:cs typeface="Inconsolata"/>
                <a:sym typeface="Inconsolata"/>
              </a:rPr>
              <a:t>x2</a:t>
            </a:r>
            <a:r>
              <a:rPr b="1" lang="en" sz="1400">
                <a:solidFill>
                  <a:srgbClr val="BBBBBB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b="1" lang="en" sz="14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*</a:t>
            </a:r>
            <a:r>
              <a:rPr b="1" lang="en" sz="1400">
                <a:solidFill>
                  <a:srgbClr val="BBBBBB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b="1" lang="en" sz="1400">
                <a:latin typeface="Inconsolata"/>
                <a:ea typeface="Inconsolata"/>
                <a:cs typeface="Inconsolata"/>
                <a:sym typeface="Inconsolata"/>
              </a:rPr>
              <a:t>y</a:t>
            </a:r>
            <a:r>
              <a:rPr b="1" lang="en" sz="1400">
                <a:solidFill>
                  <a:srgbClr val="BBBBBB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b="1" lang="en" sz="14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*</a:t>
            </a:r>
            <a:r>
              <a:rPr b="1" lang="en" sz="1400">
                <a:solidFill>
                  <a:srgbClr val="BBBBBB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b="1" lang="en" sz="1400">
                <a:latin typeface="Inconsolata"/>
                <a:ea typeface="Inconsolata"/>
                <a:cs typeface="Inconsolata"/>
                <a:sym typeface="Inconsolata"/>
              </a:rPr>
              <a:t>y</a:t>
            </a:r>
            <a:r>
              <a:rPr b="1" lang="en" sz="1400">
                <a:solidFill>
                  <a:srgbClr val="BBBBBB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b="1" lang="en" sz="1400">
                <a:latin typeface="Inconsolata"/>
                <a:ea typeface="Inconsolata"/>
                <a:cs typeface="Inconsolata"/>
                <a:sym typeface="Inconsolata"/>
              </a:rPr>
              <a:t>)</a:t>
            </a:r>
            <a:r>
              <a:rPr b="1" lang="en" sz="1400">
                <a:solidFill>
                  <a:srgbClr val="BBBBBB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b="1" lang="en" sz="1400">
                <a:latin typeface="Inconsolata"/>
                <a:ea typeface="Inconsolata"/>
                <a:cs typeface="Inconsolata"/>
                <a:sym typeface="Inconsolata"/>
              </a:rPr>
              <a:t>);</a:t>
            </a:r>
            <a:r>
              <a:rPr b="1" lang="en" sz="1400">
                <a:solidFill>
                  <a:srgbClr val="BBBBBB"/>
                </a:solidFill>
                <a:latin typeface="Inconsolata"/>
                <a:ea typeface="Inconsolata"/>
                <a:cs typeface="Inconsolata"/>
                <a:sym typeface="Inconsolata"/>
              </a:rPr>
              <a:t>   </a:t>
            </a:r>
            <a:r>
              <a:rPr b="1" i="1" lang="en" sz="1400">
                <a:solidFill>
                  <a:srgbClr val="3D7B7B"/>
                </a:solidFill>
                <a:latin typeface="Inconsolata"/>
                <a:ea typeface="Inconsolata"/>
                <a:cs typeface="Inconsolata"/>
                <a:sym typeface="Inconsolata"/>
              </a:rPr>
              <a:t>// 1st iteration</a:t>
            </a:r>
            <a:endParaRPr b="1" sz="1400"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BBBBBB"/>
                </a:solidFill>
                <a:latin typeface="Inconsolata"/>
                <a:ea typeface="Inconsolata"/>
                <a:cs typeface="Inconsolata"/>
                <a:sym typeface="Inconsolata"/>
              </a:rPr>
              <a:t>  </a:t>
            </a:r>
            <a:r>
              <a:rPr b="1" i="1" lang="en" sz="1400">
                <a:solidFill>
                  <a:srgbClr val="3D7B7B"/>
                </a:solidFill>
                <a:latin typeface="Inconsolata"/>
                <a:ea typeface="Inconsolata"/>
                <a:cs typeface="Inconsolata"/>
                <a:sym typeface="Inconsolata"/>
              </a:rPr>
              <a:t>// y  = y * ( threehalfs - ( x2 * y * y ) );   // 2nd iteration, this can be removed</a:t>
            </a:r>
            <a:endParaRPr b="1" sz="1400"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BBBBBB"/>
                </a:solidFill>
                <a:latin typeface="Inconsolata"/>
                <a:ea typeface="Inconsolata"/>
                <a:cs typeface="Inconsolata"/>
                <a:sym typeface="Inconsolata"/>
              </a:rPr>
              <a:t>  </a:t>
            </a:r>
            <a:r>
              <a:rPr b="1" lang="en" sz="1400">
                <a:solidFill>
                  <a:srgbClr val="008000"/>
                </a:solidFill>
                <a:latin typeface="Inconsolata"/>
                <a:ea typeface="Inconsolata"/>
                <a:cs typeface="Inconsolata"/>
                <a:sym typeface="Inconsolata"/>
              </a:rPr>
              <a:t>return</a:t>
            </a:r>
            <a:r>
              <a:rPr b="1" lang="en" sz="1400">
                <a:solidFill>
                  <a:srgbClr val="BBBBBB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b="1" lang="en" sz="1400">
                <a:latin typeface="Inconsolata"/>
                <a:ea typeface="Inconsolata"/>
                <a:cs typeface="Inconsolata"/>
                <a:sym typeface="Inconsolata"/>
              </a:rPr>
              <a:t>y;</a:t>
            </a:r>
            <a:endParaRPr b="1" sz="1400"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marR="1397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latin typeface="Inconsolata"/>
                <a:ea typeface="Inconsolata"/>
                <a:cs typeface="Inconsolata"/>
                <a:sym typeface="Inconsolata"/>
              </a:rPr>
              <a:t>}</a:t>
            </a:r>
            <a:endParaRPr b="1" sz="1400"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291" name="Google Shape;291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3250" y="519100"/>
            <a:ext cx="3048000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 minute stretch break! </a:t>
            </a:r>
            <a:r>
              <a:rPr lang="en"/>
              <a:t>🙆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7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Background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Problem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Writing Clean Code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Build Your Own World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Documentation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Q &amp; A</a:t>
            </a:r>
            <a:endParaRPr/>
          </a:p>
        </p:txBody>
      </p:sp>
      <p:sp>
        <p:nvSpPr>
          <p:cNvPr id="302" name="Google Shape;302;p47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31, CS61B, Fall 2023</a:t>
            </a:r>
            <a:endParaRPr/>
          </a:p>
        </p:txBody>
      </p:sp>
      <p:sp>
        <p:nvSpPr>
          <p:cNvPr id="303" name="Google Shape;303;p47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 Your Own World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 Your Own World</a:t>
            </a:r>
            <a:endParaRPr/>
          </a:p>
        </p:txBody>
      </p:sp>
      <p:sp>
        <p:nvSpPr>
          <p:cNvPr id="309" name="Google Shape;309;p48"/>
          <p:cNvSpPr txBox="1"/>
          <p:nvPr>
            <p:ph idx="1" type="body"/>
          </p:nvPr>
        </p:nvSpPr>
        <p:spPr>
          <a:xfrm>
            <a:off x="107050" y="402200"/>
            <a:ext cx="8520600" cy="36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Beyond 61A &amp; previous 61B assignments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Project 3 opens the door to more complex and creative coding 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🚪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✨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Teamwork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Intentionally a partner project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Focus on clean code and clear documentation for successful collaboration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It isn't good enough to write code that works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It isn’t good enough to write code quickly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You need to write code that other people can use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 Your Own World</a:t>
            </a:r>
            <a:endParaRPr/>
          </a:p>
        </p:txBody>
      </p:sp>
      <p:sp>
        <p:nvSpPr>
          <p:cNvPr id="315" name="Google Shape;315;p49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Project 3, you’ll be building a system in two phases: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World Generation </a:t>
            </a:r>
            <a:r>
              <a:rPr lang="en"/>
              <a:t>🌎 →</a:t>
            </a:r>
            <a:r>
              <a:rPr lang="en"/>
              <a:t> u</a:t>
            </a:r>
            <a:r>
              <a:rPr lang="en"/>
              <a:t>se a random seed to create a unique 2D world  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Interactivity </a:t>
            </a:r>
            <a:r>
              <a:rPr lang="en"/>
              <a:t>🕺</a:t>
            </a:r>
            <a:r>
              <a:rPr lang="en"/>
              <a:t>→ t</a:t>
            </a:r>
            <a:r>
              <a:rPr lang="en"/>
              <a:t>he ability for the avatar to move around in the world</a:t>
            </a:r>
            <a:endParaRPr/>
          </a:p>
        </p:txBody>
      </p:sp>
      <p:pic>
        <p:nvPicPr>
          <p:cNvPr id="316" name="Google Shape;316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2225" y="1756550"/>
            <a:ext cx="6979551" cy="291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BYOW Strategic vs. Tactical Programming</a:t>
            </a:r>
            <a:endParaRPr/>
          </a:p>
        </p:txBody>
      </p:sp>
      <p:sp>
        <p:nvSpPr>
          <p:cNvPr id="322" name="Google Shape;322;p50"/>
          <p:cNvSpPr txBox="1"/>
          <p:nvPr>
            <p:ph idx="1" type="body"/>
          </p:nvPr>
        </p:nvSpPr>
        <p:spPr>
          <a:xfrm>
            <a:off x="107050" y="402200"/>
            <a:ext cx="8520600" cy="483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Tactical Programming </a:t>
            </a:r>
            <a:r>
              <a:rPr lang="en"/>
              <a:t>focuses on immediate solutions</a:t>
            </a:r>
            <a:endParaRPr b="1"/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Strategic Programming </a:t>
            </a:r>
            <a:r>
              <a:rPr lang="en"/>
              <a:t>plans ahead for future changes and scalability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Project 3 has two phases and code will be edited over many weeks 🗓️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Strategic programming simplifies the transition from phase 1 → phase 2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Now we are going to look at a few examples of tactical approaches to the project, and potential strategic fixes!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2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2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2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5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BYOW </a:t>
            </a:r>
            <a:r>
              <a:rPr lang="en">
                <a:solidFill>
                  <a:schemeClr val="accent3"/>
                </a:solidFill>
              </a:rPr>
              <a:t>Tactical Approach Example 1</a:t>
            </a:r>
            <a:endParaRPr/>
          </a:p>
        </p:txBody>
      </p:sp>
      <p:sp>
        <p:nvSpPr>
          <p:cNvPr id="328" name="Google Shape;328;p51"/>
          <p:cNvSpPr txBox="1"/>
          <p:nvPr>
            <p:ph idx="1" type="body"/>
          </p:nvPr>
        </p:nvSpPr>
        <p:spPr>
          <a:xfrm>
            <a:off x="119275" y="461525"/>
            <a:ext cx="4434300" cy="44973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033B3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public void 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setTheme(String theme) {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</a:t>
            </a:r>
            <a:r>
              <a:rPr b="1" lang="en" sz="1200">
                <a:solidFill>
                  <a:srgbClr val="0033B3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if 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(theme.equals(</a:t>
            </a:r>
            <a:r>
              <a:rPr b="1" lang="en" sz="1200">
                <a:solidFill>
                  <a:srgbClr val="067D17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"barbie"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)) {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    setBackground(</a:t>
            </a:r>
            <a:r>
              <a:rPr b="1" lang="en" sz="1200">
                <a:solidFill>
                  <a:srgbClr val="067D17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"barbieBackground.jpg"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);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80808"/>
                </a:solidFill>
                <a:highlight>
                  <a:schemeClr val="lt1"/>
                </a:highlight>
                <a:latin typeface="Inconsolata"/>
                <a:ea typeface="Inconsolata"/>
                <a:cs typeface="Inconsolata"/>
                <a:sym typeface="Inconsolata"/>
              </a:rPr>
              <a:t>       </a:t>
            </a:r>
            <a:r>
              <a:rPr b="1" lang="en" sz="1200">
                <a:solidFill>
                  <a:srgbClr val="080808"/>
                </a:solidFill>
                <a:highlight>
                  <a:schemeClr val="lt1"/>
                </a:highlight>
                <a:latin typeface="Inconsolata"/>
                <a:ea typeface="Inconsolata"/>
                <a:cs typeface="Inconsolata"/>
                <a:sym typeface="Inconsolata"/>
              </a:rPr>
              <a:t>setAvatar(</a:t>
            </a:r>
            <a:r>
              <a:rPr b="1" lang="en" sz="1200">
                <a:solidFill>
                  <a:srgbClr val="067D17"/>
                </a:solidFill>
                <a:highlight>
                  <a:schemeClr val="lt1"/>
                </a:highlight>
                <a:latin typeface="Inconsolata"/>
                <a:ea typeface="Inconsolata"/>
                <a:cs typeface="Inconsolata"/>
                <a:sym typeface="Inconsolata"/>
              </a:rPr>
              <a:t>"barbieAvatar.png"</a:t>
            </a:r>
            <a:r>
              <a:rPr b="1" lang="en" sz="1200">
                <a:solidFill>
                  <a:srgbClr val="080808"/>
                </a:solidFill>
                <a:highlight>
                  <a:schemeClr val="lt1"/>
                </a:highlight>
                <a:latin typeface="Inconsolata"/>
                <a:ea typeface="Inconsolata"/>
                <a:cs typeface="Inconsolata"/>
                <a:sym typeface="Inconsolata"/>
              </a:rPr>
              <a:t>);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    setMusic(</a:t>
            </a:r>
            <a:r>
              <a:rPr b="1" lang="en" sz="1200">
                <a:solidFill>
                  <a:srgbClr val="067D17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"barbieTheme.mp3"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);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} </a:t>
            </a:r>
            <a:endParaRPr b="1" sz="1200">
              <a:solidFill>
                <a:srgbClr val="0033B3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033B3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if 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(theme.equals(</a:t>
            </a:r>
            <a:r>
              <a:rPr b="1" lang="en" sz="1200">
                <a:solidFill>
                  <a:srgbClr val="067D17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"ken"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)) {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    </a:t>
            </a:r>
            <a:r>
              <a:rPr b="1" lang="en" sz="1200">
                <a:solidFill>
                  <a:srgbClr val="080808"/>
                </a:solidFill>
                <a:highlight>
                  <a:schemeClr val="lt1"/>
                </a:highlight>
                <a:latin typeface="Inconsolata"/>
                <a:ea typeface="Inconsolata"/>
                <a:cs typeface="Inconsolata"/>
                <a:sym typeface="Inconsolata"/>
              </a:rPr>
              <a:t>setBackground(</a:t>
            </a:r>
            <a:r>
              <a:rPr b="1" lang="en" sz="1200">
                <a:solidFill>
                  <a:srgbClr val="067D17"/>
                </a:solidFill>
                <a:highlight>
                  <a:schemeClr val="lt1"/>
                </a:highlight>
                <a:latin typeface="Inconsolata"/>
                <a:ea typeface="Inconsolata"/>
                <a:cs typeface="Inconsolata"/>
                <a:sym typeface="Inconsolata"/>
              </a:rPr>
              <a:t>"kenBackground.jpg"</a:t>
            </a:r>
            <a:r>
              <a:rPr b="1" lang="en" sz="1200">
                <a:solidFill>
                  <a:srgbClr val="080808"/>
                </a:solidFill>
                <a:highlight>
                  <a:schemeClr val="lt1"/>
                </a:highlight>
                <a:latin typeface="Inconsolata"/>
                <a:ea typeface="Inconsolata"/>
                <a:cs typeface="Inconsolata"/>
                <a:sym typeface="Inconsolata"/>
              </a:rPr>
              <a:t>);</a:t>
            </a:r>
            <a:endParaRPr b="1" sz="1200">
              <a:solidFill>
                <a:srgbClr val="080808"/>
              </a:solidFill>
              <a:highlight>
                <a:schemeClr val="lt1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80808"/>
                </a:solidFill>
                <a:highlight>
                  <a:schemeClr val="lt1"/>
                </a:highlight>
                <a:latin typeface="Inconsolata"/>
                <a:ea typeface="Inconsolata"/>
                <a:cs typeface="Inconsolata"/>
                <a:sym typeface="Inconsolata"/>
              </a:rPr>
              <a:t>       setAvatar(</a:t>
            </a:r>
            <a:r>
              <a:rPr b="1" lang="en" sz="1200">
                <a:solidFill>
                  <a:srgbClr val="067D17"/>
                </a:solidFill>
                <a:highlight>
                  <a:schemeClr val="lt1"/>
                </a:highlight>
                <a:latin typeface="Inconsolata"/>
                <a:ea typeface="Inconsolata"/>
                <a:cs typeface="Inconsolata"/>
                <a:sym typeface="Inconsolata"/>
              </a:rPr>
              <a:t>"kenAvatar.png"</a:t>
            </a:r>
            <a:r>
              <a:rPr b="1" lang="en" sz="1200">
                <a:solidFill>
                  <a:srgbClr val="080808"/>
                </a:solidFill>
                <a:highlight>
                  <a:schemeClr val="lt1"/>
                </a:highlight>
                <a:latin typeface="Inconsolata"/>
                <a:ea typeface="Inconsolata"/>
                <a:cs typeface="Inconsolata"/>
                <a:sym typeface="Inconsolata"/>
              </a:rPr>
              <a:t>);</a:t>
            </a:r>
            <a:endParaRPr b="1" sz="1200">
              <a:solidFill>
                <a:srgbClr val="080808"/>
              </a:solidFill>
              <a:highlight>
                <a:schemeClr val="lt1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80808"/>
                </a:solidFill>
                <a:highlight>
                  <a:schemeClr val="lt1"/>
                </a:highlight>
                <a:latin typeface="Inconsolata"/>
                <a:ea typeface="Inconsolata"/>
                <a:cs typeface="Inconsolata"/>
                <a:sym typeface="Inconsolata"/>
              </a:rPr>
              <a:t>       setMusic(</a:t>
            </a:r>
            <a:r>
              <a:rPr b="1" lang="en" sz="1200">
                <a:solidFill>
                  <a:srgbClr val="067D17"/>
                </a:solidFill>
                <a:highlight>
                  <a:schemeClr val="lt1"/>
                </a:highlight>
                <a:latin typeface="Inconsolata"/>
                <a:ea typeface="Inconsolata"/>
                <a:cs typeface="Inconsolata"/>
                <a:sym typeface="Inconsolata"/>
              </a:rPr>
              <a:t>"kenTheme.mp3"</a:t>
            </a:r>
            <a:r>
              <a:rPr b="1" lang="en" sz="1200">
                <a:solidFill>
                  <a:srgbClr val="080808"/>
                </a:solidFill>
                <a:highlight>
                  <a:schemeClr val="lt1"/>
                </a:highlight>
                <a:latin typeface="Inconsolata"/>
                <a:ea typeface="Inconsolata"/>
                <a:cs typeface="Inconsolata"/>
                <a:sym typeface="Inconsolata"/>
              </a:rPr>
              <a:t>);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80808"/>
                </a:solidFill>
                <a:highlight>
                  <a:schemeClr val="lt1"/>
                </a:highlight>
                <a:latin typeface="Inconsolata"/>
                <a:ea typeface="Inconsolata"/>
                <a:cs typeface="Inconsolata"/>
                <a:sym typeface="Inconsolata"/>
              </a:rPr>
              <a:t>   </a:t>
            </a:r>
            <a:r>
              <a:rPr b="1" lang="en" sz="1200">
                <a:solidFill>
                  <a:srgbClr val="080808"/>
                </a:solidFill>
                <a:highlight>
                  <a:schemeClr val="lt1"/>
                </a:highlight>
                <a:latin typeface="Inconsolata"/>
                <a:ea typeface="Inconsolata"/>
                <a:cs typeface="Inconsolata"/>
                <a:sym typeface="Inconsolata"/>
              </a:rPr>
              <a:t>} 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</a:t>
            </a:r>
            <a:r>
              <a:rPr b="1" lang="en" sz="1200">
                <a:solidFill>
                  <a:srgbClr val="0033B3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if (</a:t>
            </a:r>
            <a:r>
              <a:rPr b="1" lang="en" sz="1200">
                <a:solidFill>
                  <a:srgbClr val="080808"/>
                </a:solidFill>
                <a:highlight>
                  <a:schemeClr val="lt1"/>
                </a:highlight>
                <a:latin typeface="Inconsolata"/>
                <a:ea typeface="Inconsolata"/>
                <a:cs typeface="Inconsolata"/>
                <a:sym typeface="Inconsolata"/>
              </a:rPr>
              <a:t>theme.equals(</a:t>
            </a:r>
            <a:r>
              <a:rPr b="1" lang="en" sz="1200">
                <a:solidFill>
                  <a:srgbClr val="067D17"/>
                </a:solidFill>
                <a:highlight>
                  <a:schemeClr val="lt1"/>
                </a:highlight>
                <a:latin typeface="Inconsolata"/>
                <a:ea typeface="Inconsolata"/>
                <a:cs typeface="Inconsolata"/>
                <a:sym typeface="Inconsolata"/>
              </a:rPr>
              <a:t>"oppenheimer"</a:t>
            </a:r>
            <a:r>
              <a:rPr b="1" lang="en" sz="1200">
                <a:solidFill>
                  <a:srgbClr val="080808"/>
                </a:solidFill>
                <a:highlight>
                  <a:schemeClr val="lt1"/>
                </a:highlight>
                <a:latin typeface="Inconsolata"/>
                <a:ea typeface="Inconsolata"/>
                <a:cs typeface="Inconsolata"/>
                <a:sym typeface="Inconsolata"/>
              </a:rPr>
              <a:t>))</a:t>
            </a:r>
            <a:r>
              <a:rPr b="1" lang="en" sz="1200">
                <a:solidFill>
                  <a:srgbClr val="0033B3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{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    </a:t>
            </a:r>
            <a:r>
              <a:rPr b="1" lang="en" sz="1200">
                <a:solidFill>
                  <a:srgbClr val="080808"/>
                </a:solidFill>
                <a:highlight>
                  <a:schemeClr val="lt1"/>
                </a:highlight>
                <a:latin typeface="Inconsolata"/>
                <a:ea typeface="Inconsolata"/>
                <a:cs typeface="Inconsolata"/>
                <a:sym typeface="Inconsolata"/>
              </a:rPr>
              <a:t>setBackground(</a:t>
            </a:r>
            <a:r>
              <a:rPr b="1" lang="en" sz="1200">
                <a:solidFill>
                  <a:srgbClr val="067D17"/>
                </a:solidFill>
                <a:highlight>
                  <a:schemeClr val="lt1"/>
                </a:highlight>
                <a:latin typeface="Inconsolata"/>
                <a:ea typeface="Inconsolata"/>
                <a:cs typeface="Inconsolata"/>
                <a:sym typeface="Inconsolata"/>
              </a:rPr>
              <a:t>"oppenheimerBackground.jpg"</a:t>
            </a:r>
            <a:r>
              <a:rPr b="1" lang="en" sz="1200">
                <a:solidFill>
                  <a:srgbClr val="080808"/>
                </a:solidFill>
                <a:highlight>
                  <a:schemeClr val="lt1"/>
                </a:highlight>
                <a:latin typeface="Inconsolata"/>
                <a:ea typeface="Inconsolata"/>
                <a:cs typeface="Inconsolata"/>
                <a:sym typeface="Inconsolata"/>
              </a:rPr>
              <a:t>);</a:t>
            </a:r>
            <a:endParaRPr b="1" sz="1200">
              <a:solidFill>
                <a:srgbClr val="080808"/>
              </a:solidFill>
              <a:highlight>
                <a:schemeClr val="lt1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80808"/>
                </a:solidFill>
                <a:highlight>
                  <a:schemeClr val="lt1"/>
                </a:highlight>
                <a:latin typeface="Inconsolata"/>
                <a:ea typeface="Inconsolata"/>
                <a:cs typeface="Inconsolata"/>
                <a:sym typeface="Inconsolata"/>
              </a:rPr>
              <a:t>       setAvatar(</a:t>
            </a:r>
            <a:r>
              <a:rPr b="1" lang="en" sz="1200">
                <a:solidFill>
                  <a:srgbClr val="067D17"/>
                </a:solidFill>
                <a:highlight>
                  <a:schemeClr val="lt1"/>
                </a:highlight>
                <a:latin typeface="Inconsolata"/>
                <a:ea typeface="Inconsolata"/>
                <a:cs typeface="Inconsolata"/>
                <a:sym typeface="Inconsolata"/>
              </a:rPr>
              <a:t>"oppenheimerAvatar.png"</a:t>
            </a:r>
            <a:r>
              <a:rPr b="1" lang="en" sz="1200">
                <a:solidFill>
                  <a:srgbClr val="080808"/>
                </a:solidFill>
                <a:highlight>
                  <a:schemeClr val="lt1"/>
                </a:highlight>
                <a:latin typeface="Inconsolata"/>
                <a:ea typeface="Inconsolata"/>
                <a:cs typeface="Inconsolata"/>
                <a:sym typeface="Inconsolata"/>
              </a:rPr>
              <a:t>);</a:t>
            </a:r>
            <a:endParaRPr b="1" sz="1200">
              <a:solidFill>
                <a:srgbClr val="080808"/>
              </a:solidFill>
              <a:highlight>
                <a:schemeClr val="lt1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80808"/>
                </a:solidFill>
                <a:highlight>
                  <a:schemeClr val="lt1"/>
                </a:highlight>
                <a:latin typeface="Inconsolata"/>
                <a:ea typeface="Inconsolata"/>
                <a:cs typeface="Inconsolata"/>
                <a:sym typeface="Inconsolata"/>
              </a:rPr>
              <a:t>       setMusic(</a:t>
            </a:r>
            <a:r>
              <a:rPr b="1" lang="en" sz="1200">
                <a:solidFill>
                  <a:srgbClr val="067D17"/>
                </a:solidFill>
                <a:highlight>
                  <a:schemeClr val="lt1"/>
                </a:highlight>
                <a:latin typeface="Inconsolata"/>
                <a:ea typeface="Inconsolata"/>
                <a:cs typeface="Inconsolata"/>
                <a:sym typeface="Inconsolata"/>
              </a:rPr>
              <a:t>"oppenheimerTheme.mp3"</a:t>
            </a:r>
            <a:r>
              <a:rPr b="1" lang="en" sz="1200">
                <a:solidFill>
                  <a:srgbClr val="080808"/>
                </a:solidFill>
                <a:highlight>
                  <a:schemeClr val="lt1"/>
                </a:highlight>
                <a:latin typeface="Inconsolata"/>
                <a:ea typeface="Inconsolata"/>
                <a:cs typeface="Inconsolata"/>
                <a:sym typeface="Inconsolata"/>
              </a:rPr>
              <a:t>);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}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}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</p:txBody>
      </p:sp>
      <p:pic>
        <p:nvPicPr>
          <p:cNvPr id="329" name="Google Shape;329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1450" y="588225"/>
            <a:ext cx="3819474" cy="1339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0801" y="1996750"/>
            <a:ext cx="3840783" cy="133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30800" y="3430900"/>
            <a:ext cx="3840773" cy="1378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BYOW Tactical Approach Example 1</a:t>
            </a:r>
            <a:endParaRPr/>
          </a:p>
        </p:txBody>
      </p:sp>
      <p:sp>
        <p:nvSpPr>
          <p:cNvPr id="337" name="Google Shape;337;p52"/>
          <p:cNvSpPr txBox="1"/>
          <p:nvPr/>
        </p:nvSpPr>
        <p:spPr>
          <a:xfrm>
            <a:off x="4553575" y="498300"/>
            <a:ext cx="4351500" cy="42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What happens when I want to add 10 new themes? 🤔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Super tedious copy-paste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Unorganized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What happens is we want themes to have different text fonts as well? 🤔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Manually copy-paste into each if statement </a:t>
            </a:r>
            <a:r>
              <a:rPr b="1" lang="en" sz="18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rPr>
              <a:t>setFont(...)</a:t>
            </a:r>
            <a:endParaRPr b="1" sz="1800">
              <a:solidFill>
                <a:schemeClr val="dk1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338" name="Google Shape;338;p52"/>
          <p:cNvSpPr txBox="1"/>
          <p:nvPr>
            <p:ph idx="1" type="body"/>
          </p:nvPr>
        </p:nvSpPr>
        <p:spPr>
          <a:xfrm>
            <a:off x="119275" y="461525"/>
            <a:ext cx="4434300" cy="44973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033B3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public void 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setTheme(String theme) {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</a:t>
            </a:r>
            <a:r>
              <a:rPr b="1" lang="en" sz="1200">
                <a:solidFill>
                  <a:srgbClr val="0033B3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if 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(theme.equals(</a:t>
            </a:r>
            <a:r>
              <a:rPr b="1" lang="en" sz="1200">
                <a:solidFill>
                  <a:srgbClr val="067D17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"barbie"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)) {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    setBackground(</a:t>
            </a:r>
            <a:r>
              <a:rPr b="1" lang="en" sz="1200">
                <a:solidFill>
                  <a:srgbClr val="067D17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"barbieBackground.jpg"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);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80808"/>
                </a:solidFill>
                <a:highlight>
                  <a:schemeClr val="lt1"/>
                </a:highlight>
                <a:latin typeface="Inconsolata"/>
                <a:ea typeface="Inconsolata"/>
                <a:cs typeface="Inconsolata"/>
                <a:sym typeface="Inconsolata"/>
              </a:rPr>
              <a:t>       setAvatar(</a:t>
            </a:r>
            <a:r>
              <a:rPr b="1" lang="en" sz="1200">
                <a:solidFill>
                  <a:srgbClr val="067D17"/>
                </a:solidFill>
                <a:highlight>
                  <a:schemeClr val="lt1"/>
                </a:highlight>
                <a:latin typeface="Inconsolata"/>
                <a:ea typeface="Inconsolata"/>
                <a:cs typeface="Inconsolata"/>
                <a:sym typeface="Inconsolata"/>
              </a:rPr>
              <a:t>"barbieAvatar.png"</a:t>
            </a:r>
            <a:r>
              <a:rPr b="1" lang="en" sz="1200">
                <a:solidFill>
                  <a:srgbClr val="080808"/>
                </a:solidFill>
                <a:highlight>
                  <a:schemeClr val="lt1"/>
                </a:highlight>
                <a:latin typeface="Inconsolata"/>
                <a:ea typeface="Inconsolata"/>
                <a:cs typeface="Inconsolata"/>
                <a:sym typeface="Inconsolata"/>
              </a:rPr>
              <a:t>);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    setMusic(</a:t>
            </a:r>
            <a:r>
              <a:rPr b="1" lang="en" sz="1200">
                <a:solidFill>
                  <a:srgbClr val="067D17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"barbieTheme.mp3"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);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} </a:t>
            </a:r>
            <a:endParaRPr b="1" sz="1200">
              <a:solidFill>
                <a:srgbClr val="0033B3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033B3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if 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(theme.equals(</a:t>
            </a:r>
            <a:r>
              <a:rPr b="1" lang="en" sz="1200">
                <a:solidFill>
                  <a:srgbClr val="067D17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"ken"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)) {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    </a:t>
            </a:r>
            <a:r>
              <a:rPr b="1" lang="en" sz="1200">
                <a:solidFill>
                  <a:srgbClr val="080808"/>
                </a:solidFill>
                <a:highlight>
                  <a:schemeClr val="lt1"/>
                </a:highlight>
                <a:latin typeface="Inconsolata"/>
                <a:ea typeface="Inconsolata"/>
                <a:cs typeface="Inconsolata"/>
                <a:sym typeface="Inconsolata"/>
              </a:rPr>
              <a:t>setBackground(</a:t>
            </a:r>
            <a:r>
              <a:rPr b="1" lang="en" sz="1200">
                <a:solidFill>
                  <a:srgbClr val="067D17"/>
                </a:solidFill>
                <a:highlight>
                  <a:schemeClr val="lt1"/>
                </a:highlight>
                <a:latin typeface="Inconsolata"/>
                <a:ea typeface="Inconsolata"/>
                <a:cs typeface="Inconsolata"/>
                <a:sym typeface="Inconsolata"/>
              </a:rPr>
              <a:t>"kenBackground.jpg"</a:t>
            </a:r>
            <a:r>
              <a:rPr b="1" lang="en" sz="1200">
                <a:solidFill>
                  <a:srgbClr val="080808"/>
                </a:solidFill>
                <a:highlight>
                  <a:schemeClr val="lt1"/>
                </a:highlight>
                <a:latin typeface="Inconsolata"/>
                <a:ea typeface="Inconsolata"/>
                <a:cs typeface="Inconsolata"/>
                <a:sym typeface="Inconsolata"/>
              </a:rPr>
              <a:t>);</a:t>
            </a:r>
            <a:endParaRPr b="1" sz="1200">
              <a:solidFill>
                <a:srgbClr val="080808"/>
              </a:solidFill>
              <a:highlight>
                <a:schemeClr val="lt1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80808"/>
                </a:solidFill>
                <a:highlight>
                  <a:schemeClr val="lt1"/>
                </a:highlight>
                <a:latin typeface="Inconsolata"/>
                <a:ea typeface="Inconsolata"/>
                <a:cs typeface="Inconsolata"/>
                <a:sym typeface="Inconsolata"/>
              </a:rPr>
              <a:t>       setAvatar(</a:t>
            </a:r>
            <a:r>
              <a:rPr b="1" lang="en" sz="1200">
                <a:solidFill>
                  <a:srgbClr val="067D17"/>
                </a:solidFill>
                <a:highlight>
                  <a:schemeClr val="lt1"/>
                </a:highlight>
                <a:latin typeface="Inconsolata"/>
                <a:ea typeface="Inconsolata"/>
                <a:cs typeface="Inconsolata"/>
                <a:sym typeface="Inconsolata"/>
              </a:rPr>
              <a:t>"kenAvatar.png"</a:t>
            </a:r>
            <a:r>
              <a:rPr b="1" lang="en" sz="1200">
                <a:solidFill>
                  <a:srgbClr val="080808"/>
                </a:solidFill>
                <a:highlight>
                  <a:schemeClr val="lt1"/>
                </a:highlight>
                <a:latin typeface="Inconsolata"/>
                <a:ea typeface="Inconsolata"/>
                <a:cs typeface="Inconsolata"/>
                <a:sym typeface="Inconsolata"/>
              </a:rPr>
              <a:t>);</a:t>
            </a:r>
            <a:endParaRPr b="1" sz="1200">
              <a:solidFill>
                <a:srgbClr val="080808"/>
              </a:solidFill>
              <a:highlight>
                <a:schemeClr val="lt1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80808"/>
                </a:solidFill>
                <a:highlight>
                  <a:schemeClr val="lt1"/>
                </a:highlight>
                <a:latin typeface="Inconsolata"/>
                <a:ea typeface="Inconsolata"/>
                <a:cs typeface="Inconsolata"/>
                <a:sym typeface="Inconsolata"/>
              </a:rPr>
              <a:t>       setMusic(</a:t>
            </a:r>
            <a:r>
              <a:rPr b="1" lang="en" sz="1200">
                <a:solidFill>
                  <a:srgbClr val="067D17"/>
                </a:solidFill>
                <a:highlight>
                  <a:schemeClr val="lt1"/>
                </a:highlight>
                <a:latin typeface="Inconsolata"/>
                <a:ea typeface="Inconsolata"/>
                <a:cs typeface="Inconsolata"/>
                <a:sym typeface="Inconsolata"/>
              </a:rPr>
              <a:t>"kenTheme.mp3"</a:t>
            </a:r>
            <a:r>
              <a:rPr b="1" lang="en" sz="1200">
                <a:solidFill>
                  <a:srgbClr val="080808"/>
                </a:solidFill>
                <a:highlight>
                  <a:schemeClr val="lt1"/>
                </a:highlight>
                <a:latin typeface="Inconsolata"/>
                <a:ea typeface="Inconsolata"/>
                <a:cs typeface="Inconsolata"/>
                <a:sym typeface="Inconsolata"/>
              </a:rPr>
              <a:t>);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80808"/>
                </a:solidFill>
                <a:highlight>
                  <a:schemeClr val="lt1"/>
                </a:highlight>
                <a:latin typeface="Inconsolata"/>
                <a:ea typeface="Inconsolata"/>
                <a:cs typeface="Inconsolata"/>
                <a:sym typeface="Inconsolata"/>
              </a:rPr>
              <a:t>   } 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</a:t>
            </a:r>
            <a:r>
              <a:rPr b="1" lang="en" sz="1200">
                <a:solidFill>
                  <a:srgbClr val="0033B3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if (</a:t>
            </a:r>
            <a:r>
              <a:rPr b="1" lang="en" sz="1200">
                <a:solidFill>
                  <a:srgbClr val="080808"/>
                </a:solidFill>
                <a:highlight>
                  <a:schemeClr val="lt1"/>
                </a:highlight>
                <a:latin typeface="Inconsolata"/>
                <a:ea typeface="Inconsolata"/>
                <a:cs typeface="Inconsolata"/>
                <a:sym typeface="Inconsolata"/>
              </a:rPr>
              <a:t>theme.equals(</a:t>
            </a:r>
            <a:r>
              <a:rPr b="1" lang="en" sz="1200">
                <a:solidFill>
                  <a:srgbClr val="067D17"/>
                </a:solidFill>
                <a:highlight>
                  <a:schemeClr val="lt1"/>
                </a:highlight>
                <a:latin typeface="Inconsolata"/>
                <a:ea typeface="Inconsolata"/>
                <a:cs typeface="Inconsolata"/>
                <a:sym typeface="Inconsolata"/>
              </a:rPr>
              <a:t>"oppenheimer"</a:t>
            </a:r>
            <a:r>
              <a:rPr b="1" lang="en" sz="1200">
                <a:solidFill>
                  <a:srgbClr val="080808"/>
                </a:solidFill>
                <a:highlight>
                  <a:schemeClr val="lt1"/>
                </a:highlight>
                <a:latin typeface="Inconsolata"/>
                <a:ea typeface="Inconsolata"/>
                <a:cs typeface="Inconsolata"/>
                <a:sym typeface="Inconsolata"/>
              </a:rPr>
              <a:t>))</a:t>
            </a:r>
            <a:r>
              <a:rPr b="1" lang="en" sz="1200">
                <a:solidFill>
                  <a:srgbClr val="0033B3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{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    </a:t>
            </a:r>
            <a:r>
              <a:rPr b="1" lang="en" sz="1200">
                <a:solidFill>
                  <a:srgbClr val="080808"/>
                </a:solidFill>
                <a:highlight>
                  <a:schemeClr val="lt1"/>
                </a:highlight>
                <a:latin typeface="Inconsolata"/>
                <a:ea typeface="Inconsolata"/>
                <a:cs typeface="Inconsolata"/>
                <a:sym typeface="Inconsolata"/>
              </a:rPr>
              <a:t>setBackground(</a:t>
            </a:r>
            <a:r>
              <a:rPr b="1" lang="en" sz="1200">
                <a:solidFill>
                  <a:srgbClr val="067D17"/>
                </a:solidFill>
                <a:highlight>
                  <a:schemeClr val="lt1"/>
                </a:highlight>
                <a:latin typeface="Inconsolata"/>
                <a:ea typeface="Inconsolata"/>
                <a:cs typeface="Inconsolata"/>
                <a:sym typeface="Inconsolata"/>
              </a:rPr>
              <a:t>"oppenheimerBackground.jpg"</a:t>
            </a:r>
            <a:r>
              <a:rPr b="1" lang="en" sz="1200">
                <a:solidFill>
                  <a:srgbClr val="080808"/>
                </a:solidFill>
                <a:highlight>
                  <a:schemeClr val="lt1"/>
                </a:highlight>
                <a:latin typeface="Inconsolata"/>
                <a:ea typeface="Inconsolata"/>
                <a:cs typeface="Inconsolata"/>
                <a:sym typeface="Inconsolata"/>
              </a:rPr>
              <a:t>);</a:t>
            </a:r>
            <a:endParaRPr b="1" sz="1200">
              <a:solidFill>
                <a:srgbClr val="080808"/>
              </a:solidFill>
              <a:highlight>
                <a:schemeClr val="lt1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80808"/>
                </a:solidFill>
                <a:highlight>
                  <a:schemeClr val="lt1"/>
                </a:highlight>
                <a:latin typeface="Inconsolata"/>
                <a:ea typeface="Inconsolata"/>
                <a:cs typeface="Inconsolata"/>
                <a:sym typeface="Inconsolata"/>
              </a:rPr>
              <a:t>       setAvatar(</a:t>
            </a:r>
            <a:r>
              <a:rPr b="1" lang="en" sz="1200">
                <a:solidFill>
                  <a:srgbClr val="067D17"/>
                </a:solidFill>
                <a:highlight>
                  <a:schemeClr val="lt1"/>
                </a:highlight>
                <a:latin typeface="Inconsolata"/>
                <a:ea typeface="Inconsolata"/>
                <a:cs typeface="Inconsolata"/>
                <a:sym typeface="Inconsolata"/>
              </a:rPr>
              <a:t>"oppenheimerAvatar.png"</a:t>
            </a:r>
            <a:r>
              <a:rPr b="1" lang="en" sz="1200">
                <a:solidFill>
                  <a:srgbClr val="080808"/>
                </a:solidFill>
                <a:highlight>
                  <a:schemeClr val="lt1"/>
                </a:highlight>
                <a:latin typeface="Inconsolata"/>
                <a:ea typeface="Inconsolata"/>
                <a:cs typeface="Inconsolata"/>
                <a:sym typeface="Inconsolata"/>
              </a:rPr>
              <a:t>);</a:t>
            </a:r>
            <a:endParaRPr b="1" sz="1200">
              <a:solidFill>
                <a:srgbClr val="080808"/>
              </a:solidFill>
              <a:highlight>
                <a:schemeClr val="lt1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80808"/>
                </a:solidFill>
                <a:highlight>
                  <a:schemeClr val="lt1"/>
                </a:highlight>
                <a:latin typeface="Inconsolata"/>
                <a:ea typeface="Inconsolata"/>
                <a:cs typeface="Inconsolata"/>
                <a:sym typeface="Inconsolata"/>
              </a:rPr>
              <a:t>       setMusic(</a:t>
            </a:r>
            <a:r>
              <a:rPr b="1" lang="en" sz="1200">
                <a:solidFill>
                  <a:srgbClr val="067D17"/>
                </a:solidFill>
                <a:highlight>
                  <a:schemeClr val="lt1"/>
                </a:highlight>
                <a:latin typeface="Inconsolata"/>
                <a:ea typeface="Inconsolata"/>
                <a:cs typeface="Inconsolata"/>
                <a:sym typeface="Inconsolata"/>
              </a:rPr>
              <a:t>"oppenheimerTheme.mp3"</a:t>
            </a:r>
            <a:r>
              <a:rPr b="1" lang="en" sz="1200">
                <a:solidFill>
                  <a:srgbClr val="080808"/>
                </a:solidFill>
                <a:highlight>
                  <a:schemeClr val="lt1"/>
                </a:highlight>
                <a:latin typeface="Inconsolata"/>
                <a:ea typeface="Inconsolata"/>
                <a:cs typeface="Inconsolata"/>
                <a:sym typeface="Inconsolata"/>
              </a:rPr>
              <a:t>);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}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}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BYOW Strategic Approach Example 1</a:t>
            </a:r>
            <a:endParaRPr/>
          </a:p>
        </p:txBody>
      </p:sp>
      <p:sp>
        <p:nvSpPr>
          <p:cNvPr id="344" name="Google Shape;344;p53"/>
          <p:cNvSpPr txBox="1"/>
          <p:nvPr>
            <p:ph idx="1" type="body"/>
          </p:nvPr>
        </p:nvSpPr>
        <p:spPr>
          <a:xfrm>
            <a:off x="119275" y="498300"/>
            <a:ext cx="4434300" cy="44109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rgbClr val="0033B3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public void 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setTheme(Theme theme) {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theme.applySettings();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}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rgbClr val="0033B3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public interface 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Theme {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</a:t>
            </a:r>
            <a:r>
              <a:rPr b="1" lang="en" sz="1300">
                <a:solidFill>
                  <a:srgbClr val="0033B3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void 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applySettings();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}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rgbClr val="0033B3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public class 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BarbieTheme </a:t>
            </a:r>
            <a:r>
              <a:rPr b="1" lang="en" sz="1300">
                <a:solidFill>
                  <a:srgbClr val="0033B3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implements 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Theme {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</a:t>
            </a:r>
            <a:r>
              <a:rPr b="1" lang="en" sz="1300">
                <a:solidFill>
                  <a:srgbClr val="0033B3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public void </a:t>
            </a: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applySettings() {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  </a:t>
            </a:r>
            <a:r>
              <a:rPr b="1" lang="en" sz="1300">
                <a:solidFill>
                  <a:srgbClr val="080808"/>
                </a:solidFill>
                <a:highlight>
                  <a:schemeClr val="lt1"/>
                </a:highlight>
                <a:latin typeface="Inconsolata"/>
                <a:ea typeface="Inconsolata"/>
                <a:cs typeface="Inconsolata"/>
                <a:sym typeface="Inconsolata"/>
              </a:rPr>
              <a:t>  setBackground(</a:t>
            </a:r>
            <a:r>
              <a:rPr b="1" lang="en" sz="1300">
                <a:solidFill>
                  <a:srgbClr val="067D17"/>
                </a:solidFill>
                <a:highlight>
                  <a:schemeClr val="lt1"/>
                </a:highlight>
                <a:latin typeface="Inconsolata"/>
                <a:ea typeface="Inconsolata"/>
                <a:cs typeface="Inconsolata"/>
                <a:sym typeface="Inconsolata"/>
              </a:rPr>
              <a:t>"barbieBackground.jpg"</a:t>
            </a:r>
            <a:r>
              <a:rPr b="1" lang="en" sz="1300">
                <a:solidFill>
                  <a:srgbClr val="080808"/>
                </a:solidFill>
                <a:highlight>
                  <a:schemeClr val="lt1"/>
                </a:highlight>
                <a:latin typeface="Inconsolata"/>
                <a:ea typeface="Inconsolata"/>
                <a:cs typeface="Inconsolata"/>
                <a:sym typeface="Inconsolata"/>
              </a:rPr>
              <a:t>);</a:t>
            </a:r>
            <a:endParaRPr b="1" sz="1300">
              <a:solidFill>
                <a:srgbClr val="080808"/>
              </a:solidFill>
              <a:highlight>
                <a:schemeClr val="lt1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rgbClr val="080808"/>
                </a:solidFill>
                <a:highlight>
                  <a:schemeClr val="lt1"/>
                </a:highlight>
                <a:latin typeface="Inconsolata"/>
                <a:ea typeface="Inconsolata"/>
                <a:cs typeface="Inconsolata"/>
                <a:sym typeface="Inconsolata"/>
              </a:rPr>
              <a:t>       setAvatar(</a:t>
            </a:r>
            <a:r>
              <a:rPr b="1" lang="en" sz="1300">
                <a:solidFill>
                  <a:srgbClr val="067D17"/>
                </a:solidFill>
                <a:highlight>
                  <a:schemeClr val="lt1"/>
                </a:highlight>
                <a:latin typeface="Inconsolata"/>
                <a:ea typeface="Inconsolata"/>
                <a:cs typeface="Inconsolata"/>
                <a:sym typeface="Inconsolata"/>
              </a:rPr>
              <a:t>"barbieAvatar.png"</a:t>
            </a:r>
            <a:r>
              <a:rPr b="1" lang="en" sz="1300">
                <a:solidFill>
                  <a:srgbClr val="080808"/>
                </a:solidFill>
                <a:highlight>
                  <a:schemeClr val="lt1"/>
                </a:highlight>
                <a:latin typeface="Inconsolata"/>
                <a:ea typeface="Inconsolata"/>
                <a:cs typeface="Inconsolata"/>
                <a:sym typeface="Inconsolata"/>
              </a:rPr>
              <a:t>);</a:t>
            </a:r>
            <a:endParaRPr b="1" sz="1300">
              <a:solidFill>
                <a:srgbClr val="080808"/>
              </a:solidFill>
              <a:highlight>
                <a:schemeClr val="lt1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rgbClr val="080808"/>
                </a:solidFill>
                <a:highlight>
                  <a:schemeClr val="lt1"/>
                </a:highlight>
                <a:latin typeface="Inconsolata"/>
                <a:ea typeface="Inconsolata"/>
                <a:cs typeface="Inconsolata"/>
                <a:sym typeface="Inconsolata"/>
              </a:rPr>
              <a:t>       setMusic(</a:t>
            </a:r>
            <a:r>
              <a:rPr b="1" lang="en" sz="1300">
                <a:solidFill>
                  <a:srgbClr val="067D17"/>
                </a:solidFill>
                <a:highlight>
                  <a:schemeClr val="lt1"/>
                </a:highlight>
                <a:latin typeface="Inconsolata"/>
                <a:ea typeface="Inconsolata"/>
                <a:cs typeface="Inconsolata"/>
                <a:sym typeface="Inconsolata"/>
              </a:rPr>
              <a:t>"barbieTheme.mp3"</a:t>
            </a:r>
            <a:r>
              <a:rPr b="1" lang="en" sz="1300">
                <a:solidFill>
                  <a:srgbClr val="080808"/>
                </a:solidFill>
                <a:highlight>
                  <a:schemeClr val="lt1"/>
                </a:highlight>
                <a:latin typeface="Inconsolata"/>
                <a:ea typeface="Inconsolata"/>
                <a:cs typeface="Inconsolata"/>
                <a:sym typeface="Inconsolata"/>
              </a:rPr>
              <a:t>);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}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}</a:t>
            </a:r>
            <a:endParaRPr b="1" sz="13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ED864A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345" name="Google Shape;345;p53"/>
          <p:cNvSpPr txBox="1"/>
          <p:nvPr/>
        </p:nvSpPr>
        <p:spPr>
          <a:xfrm>
            <a:off x="4553575" y="498300"/>
            <a:ext cx="4351500" cy="42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 could design the method to accept a </a:t>
            </a:r>
            <a:r>
              <a:rPr b="1" lang="en" sz="18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rPr>
              <a:t>Theme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object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Easier to add new themes 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Organization improved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Requires more initial design and implementation effort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BYOW Tactical Approach Example 2</a:t>
            </a:r>
            <a:endParaRPr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54"/>
          <p:cNvSpPr txBox="1"/>
          <p:nvPr>
            <p:ph idx="1" type="body"/>
          </p:nvPr>
        </p:nvSpPr>
        <p:spPr>
          <a:xfrm>
            <a:off x="107050" y="402200"/>
            <a:ext cx="8520600" cy="65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is complex about this code? </a:t>
            </a:r>
            <a:r>
              <a:rPr lang="en"/>
              <a:t>🤔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54"/>
          <p:cNvSpPr txBox="1"/>
          <p:nvPr/>
        </p:nvSpPr>
        <p:spPr>
          <a:xfrm>
            <a:off x="951450" y="916950"/>
            <a:ext cx="6617700" cy="396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033B3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if 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(move.equals(</a:t>
            </a:r>
            <a:r>
              <a:rPr b="1" lang="en" sz="1200">
                <a:solidFill>
                  <a:srgbClr val="067D17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"a"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)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       &amp;&amp; !world[player.xxcenter - </a:t>
            </a:r>
            <a:r>
              <a:rPr b="1" lang="en" sz="1200">
                <a:solidFill>
                  <a:srgbClr val="1750EB"/>
                </a:solidFill>
                <a:latin typeface="Inconsolata"/>
                <a:ea typeface="Inconsolata"/>
                <a:cs typeface="Inconsolata"/>
                <a:sym typeface="Inconsolata"/>
              </a:rPr>
              <a:t>1</a:t>
            </a:r>
            <a:r>
              <a:rPr b="1" lang="en" sz="12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][player.ycenter].equals(Tileset.WALL)) {</a:t>
            </a:r>
            <a:endParaRPr b="1" sz="120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player.xxcenter -= </a:t>
            </a:r>
            <a:r>
              <a:rPr b="1" lang="en" sz="1200">
                <a:solidFill>
                  <a:srgbClr val="1750EB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1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;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world[player.xxcenter][player.ycenter] </a:t>
            </a:r>
            <a:r>
              <a:rPr b="1" lang="en" sz="12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= Tileset.PLAYER;</a:t>
            </a:r>
            <a:endParaRPr b="1" sz="120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   world[player.xxcenter + </a:t>
            </a:r>
            <a:r>
              <a:rPr b="1" lang="en" sz="1200">
                <a:solidFill>
                  <a:srgbClr val="1750EB"/>
                </a:solidFill>
                <a:latin typeface="Inconsolata"/>
                <a:ea typeface="Inconsolata"/>
                <a:cs typeface="Inconsolata"/>
                <a:sym typeface="Inconsolata"/>
              </a:rPr>
              <a:t>1</a:t>
            </a:r>
            <a:r>
              <a:rPr b="1" lang="en" sz="12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][player.ycenter] = Tileset.FLOOR;</a:t>
            </a:r>
            <a:endParaRPr b="1" sz="120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   steps += </a:t>
            </a:r>
            <a:r>
              <a:rPr b="1" lang="en" sz="1200">
                <a:solidFill>
                  <a:srgbClr val="1750EB"/>
                </a:solidFill>
                <a:latin typeface="Inconsolata"/>
                <a:ea typeface="Inconsolata"/>
                <a:cs typeface="Inconsolata"/>
                <a:sym typeface="Inconsolata"/>
              </a:rPr>
              <a:t>1</a:t>
            </a:r>
            <a:r>
              <a:rPr b="1" lang="en" sz="12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;</a:t>
            </a:r>
            <a:endParaRPr b="1" sz="120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}</a:t>
            </a:r>
            <a:endParaRPr b="1" sz="120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033B3"/>
                </a:solidFill>
                <a:latin typeface="Inconsolata"/>
                <a:ea typeface="Inconsolata"/>
                <a:cs typeface="Inconsolata"/>
                <a:sym typeface="Inconsolata"/>
              </a:rPr>
              <a:t>if </a:t>
            </a:r>
            <a:r>
              <a:rPr b="1" lang="en" sz="12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(move.equals(</a:t>
            </a:r>
            <a:r>
              <a:rPr b="1" lang="en" sz="1200">
                <a:solidFill>
                  <a:srgbClr val="067D17"/>
                </a:solidFill>
                <a:latin typeface="Inconsolata"/>
                <a:ea typeface="Inconsolata"/>
                <a:cs typeface="Inconsolata"/>
                <a:sym typeface="Inconsolata"/>
              </a:rPr>
              <a:t>"s"</a:t>
            </a:r>
            <a:r>
              <a:rPr b="1" lang="en" sz="1200">
                <a:solidFill>
                  <a:srgbClr val="080808"/>
                </a:solidFill>
                <a:latin typeface="Inconsolata"/>
                <a:ea typeface="Inconsolata"/>
                <a:cs typeface="Inconsolata"/>
                <a:sym typeface="Inconsolata"/>
              </a:rPr>
              <a:t>)</a:t>
            </a:r>
            <a:endParaRPr b="1" sz="1200">
              <a:solidFill>
                <a:srgbClr val="080808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    &amp;&amp; !world[player.xxcenter][player.ycenter - </a:t>
            </a:r>
            <a:r>
              <a:rPr b="1" lang="en" sz="1200">
                <a:solidFill>
                  <a:srgbClr val="1750EB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1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].equals(Tileset.WALL)) {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player.ycenter -= </a:t>
            </a:r>
            <a:r>
              <a:rPr b="1" lang="en" sz="1200">
                <a:solidFill>
                  <a:srgbClr val="1750EB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1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;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world[player.xxcenter][player.ycenter] = Tileset.PLAYER;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world[player.xxcenter][player.ycenter + </a:t>
            </a:r>
            <a:r>
              <a:rPr b="1" lang="en" sz="1200">
                <a:solidFill>
                  <a:srgbClr val="1750EB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1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] = Tileset.FLOOR;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steps += </a:t>
            </a:r>
            <a:r>
              <a:rPr b="1" lang="en" sz="1200">
                <a:solidFill>
                  <a:srgbClr val="1750EB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1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;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}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033B3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if 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(move.equals(</a:t>
            </a:r>
            <a:r>
              <a:rPr b="1" lang="en" sz="1200">
                <a:solidFill>
                  <a:srgbClr val="067D17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"d"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)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    &amp;&amp; !world[player.xxcenter + </a:t>
            </a:r>
            <a:r>
              <a:rPr b="1" lang="en" sz="1200">
                <a:solidFill>
                  <a:srgbClr val="1750EB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1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][player.ycenter].equals(Tileset.WALL)) {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player.xxcenter += </a:t>
            </a:r>
            <a:r>
              <a:rPr b="1" lang="en" sz="1200">
                <a:solidFill>
                  <a:srgbClr val="1750EB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1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;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world[player.xxcenter][player.ycenter] = Tileset.PLAYER;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world[player.xxcenter - </a:t>
            </a:r>
            <a:r>
              <a:rPr b="1" lang="en" sz="1200">
                <a:solidFill>
                  <a:srgbClr val="1750EB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1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][player.ycenter] = Tileset.FLOOR;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steps += </a:t>
            </a:r>
            <a:r>
              <a:rPr b="1" lang="en" sz="1200">
                <a:solidFill>
                  <a:srgbClr val="1750EB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1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;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}</a:t>
            </a:r>
            <a:endParaRPr b="1">
              <a:solidFill>
                <a:srgbClr val="ED864A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BYOW Tactical Approach Example 2</a:t>
            </a:r>
            <a:endParaRPr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55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Repeated code and calculations for movement 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55"/>
          <p:cNvSpPr txBox="1"/>
          <p:nvPr/>
        </p:nvSpPr>
        <p:spPr>
          <a:xfrm>
            <a:off x="1263150" y="982375"/>
            <a:ext cx="6617700" cy="39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033B3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if 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(move.equals(</a:t>
            </a:r>
            <a:r>
              <a:rPr b="1" lang="en" sz="1200">
                <a:solidFill>
                  <a:srgbClr val="067D17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"a"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)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    &amp;&amp; !world[player.xxcenter - </a:t>
            </a:r>
            <a:r>
              <a:rPr b="1" lang="en" sz="1200">
                <a:solidFill>
                  <a:srgbClr val="1750EB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1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][player.ycenter].equals(Tileset.WALL)) {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player.xxcenter -= </a:t>
            </a:r>
            <a:r>
              <a:rPr b="1" lang="en" sz="1200">
                <a:solidFill>
                  <a:srgbClr val="1750EB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1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;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</a:t>
            </a:r>
            <a:r>
              <a:rPr b="1" lang="en" sz="1200">
                <a:solidFill>
                  <a:srgbClr val="080808"/>
                </a:solidFill>
                <a:highlight>
                  <a:srgbClr val="9AD4FF"/>
                </a:highlight>
                <a:latin typeface="Inconsolata"/>
                <a:ea typeface="Inconsolata"/>
                <a:cs typeface="Inconsolata"/>
                <a:sym typeface="Inconsolata"/>
              </a:rPr>
              <a:t>world[player.xxcenter][player.ycenter] = Tileset.PLAYER;</a:t>
            </a:r>
            <a:endParaRPr b="1" sz="1200">
              <a:solidFill>
                <a:srgbClr val="080808"/>
              </a:solidFill>
              <a:highlight>
                <a:srgbClr val="9AD4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9AD4FF"/>
                </a:highlight>
                <a:latin typeface="Inconsolata"/>
                <a:ea typeface="Inconsolata"/>
                <a:cs typeface="Inconsolata"/>
                <a:sym typeface="Inconsolata"/>
              </a:rPr>
              <a:t>   world[player.xxcenter + </a:t>
            </a:r>
            <a:r>
              <a:rPr b="1" lang="en" sz="1200">
                <a:solidFill>
                  <a:srgbClr val="1750EB"/>
                </a:solidFill>
                <a:highlight>
                  <a:srgbClr val="9AD4FF"/>
                </a:highlight>
                <a:latin typeface="Inconsolata"/>
                <a:ea typeface="Inconsolata"/>
                <a:cs typeface="Inconsolata"/>
                <a:sym typeface="Inconsolata"/>
              </a:rPr>
              <a:t>1</a:t>
            </a:r>
            <a:r>
              <a:rPr b="1" lang="en" sz="1200">
                <a:solidFill>
                  <a:srgbClr val="080808"/>
                </a:solidFill>
                <a:highlight>
                  <a:srgbClr val="9AD4FF"/>
                </a:highlight>
                <a:latin typeface="Inconsolata"/>
                <a:ea typeface="Inconsolata"/>
                <a:cs typeface="Inconsolata"/>
                <a:sym typeface="Inconsolata"/>
              </a:rPr>
              <a:t>][player.ycenter] = Tileset.FLOOR;</a:t>
            </a:r>
            <a:endParaRPr b="1" sz="1200">
              <a:solidFill>
                <a:srgbClr val="080808"/>
              </a:solidFill>
              <a:highlight>
                <a:srgbClr val="9AD4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9AD4FF"/>
                </a:highlight>
                <a:latin typeface="Inconsolata"/>
                <a:ea typeface="Inconsolata"/>
                <a:cs typeface="Inconsolata"/>
                <a:sym typeface="Inconsolata"/>
              </a:rPr>
              <a:t>   steps += </a:t>
            </a:r>
            <a:r>
              <a:rPr b="1" lang="en" sz="1200">
                <a:solidFill>
                  <a:srgbClr val="1750EB"/>
                </a:solidFill>
                <a:highlight>
                  <a:srgbClr val="9AD4FF"/>
                </a:highlight>
                <a:latin typeface="Inconsolata"/>
                <a:ea typeface="Inconsolata"/>
                <a:cs typeface="Inconsolata"/>
                <a:sym typeface="Inconsolata"/>
              </a:rPr>
              <a:t>1</a:t>
            </a:r>
            <a:r>
              <a:rPr b="1" lang="en" sz="1200">
                <a:solidFill>
                  <a:srgbClr val="080808"/>
                </a:solidFill>
                <a:highlight>
                  <a:srgbClr val="9AD4FF"/>
                </a:highlight>
                <a:latin typeface="Inconsolata"/>
                <a:ea typeface="Inconsolata"/>
                <a:cs typeface="Inconsolata"/>
                <a:sym typeface="Inconsolata"/>
              </a:rPr>
              <a:t>;</a:t>
            </a:r>
            <a:endParaRPr b="1" sz="1200">
              <a:solidFill>
                <a:srgbClr val="080808"/>
              </a:solidFill>
              <a:highlight>
                <a:srgbClr val="9AD4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}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033B3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if 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(move.equals(</a:t>
            </a:r>
            <a:r>
              <a:rPr b="1" lang="en" sz="1200">
                <a:solidFill>
                  <a:srgbClr val="067D17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"s"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)</a:t>
            </a:r>
            <a:endParaRPr b="1" sz="1200">
              <a:solidFill>
                <a:srgbClr val="080808"/>
              </a:solidFill>
              <a:highlight>
                <a:srgbClr val="9AD4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    &amp;&amp; !world[player.xxcenter][player.ycenter - </a:t>
            </a:r>
            <a:r>
              <a:rPr b="1" lang="en" sz="1200">
                <a:solidFill>
                  <a:srgbClr val="1750EB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1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].equals(Tileset.WALL)) {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player.ycenter -= </a:t>
            </a:r>
            <a:r>
              <a:rPr b="1" lang="en" sz="1200">
                <a:solidFill>
                  <a:srgbClr val="1750EB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1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;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</a:t>
            </a:r>
            <a:r>
              <a:rPr b="1" lang="en" sz="1200">
                <a:solidFill>
                  <a:srgbClr val="080808"/>
                </a:solidFill>
                <a:highlight>
                  <a:srgbClr val="9AD4FF"/>
                </a:highlight>
                <a:latin typeface="Inconsolata"/>
                <a:ea typeface="Inconsolata"/>
                <a:cs typeface="Inconsolata"/>
                <a:sym typeface="Inconsolata"/>
              </a:rPr>
              <a:t>world[player.xxcenter][player.ycenter] = Tileset.PLAYER;</a:t>
            </a:r>
            <a:endParaRPr b="1" sz="1200">
              <a:solidFill>
                <a:srgbClr val="080808"/>
              </a:solidFill>
              <a:highlight>
                <a:srgbClr val="9AD4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9AD4FF"/>
                </a:highlight>
                <a:latin typeface="Inconsolata"/>
                <a:ea typeface="Inconsolata"/>
                <a:cs typeface="Inconsolata"/>
                <a:sym typeface="Inconsolata"/>
              </a:rPr>
              <a:t>   world[player.xxcenter][player.ycenter + </a:t>
            </a:r>
            <a:r>
              <a:rPr b="1" lang="en" sz="1200">
                <a:solidFill>
                  <a:srgbClr val="1750EB"/>
                </a:solidFill>
                <a:highlight>
                  <a:srgbClr val="9AD4FF"/>
                </a:highlight>
                <a:latin typeface="Inconsolata"/>
                <a:ea typeface="Inconsolata"/>
                <a:cs typeface="Inconsolata"/>
                <a:sym typeface="Inconsolata"/>
              </a:rPr>
              <a:t>1</a:t>
            </a:r>
            <a:r>
              <a:rPr b="1" lang="en" sz="1200">
                <a:solidFill>
                  <a:srgbClr val="080808"/>
                </a:solidFill>
                <a:highlight>
                  <a:srgbClr val="9AD4FF"/>
                </a:highlight>
                <a:latin typeface="Inconsolata"/>
                <a:ea typeface="Inconsolata"/>
                <a:cs typeface="Inconsolata"/>
                <a:sym typeface="Inconsolata"/>
              </a:rPr>
              <a:t>] = Tileset.FLOOR;</a:t>
            </a:r>
            <a:endParaRPr b="1" sz="1200">
              <a:solidFill>
                <a:srgbClr val="080808"/>
              </a:solidFill>
              <a:highlight>
                <a:srgbClr val="9AD4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9AD4FF"/>
                </a:highlight>
                <a:latin typeface="Inconsolata"/>
                <a:ea typeface="Inconsolata"/>
                <a:cs typeface="Inconsolata"/>
                <a:sym typeface="Inconsolata"/>
              </a:rPr>
              <a:t>   steps += </a:t>
            </a:r>
            <a:r>
              <a:rPr b="1" lang="en" sz="1200">
                <a:solidFill>
                  <a:srgbClr val="1750EB"/>
                </a:solidFill>
                <a:highlight>
                  <a:srgbClr val="9AD4FF"/>
                </a:highlight>
                <a:latin typeface="Inconsolata"/>
                <a:ea typeface="Inconsolata"/>
                <a:cs typeface="Inconsolata"/>
                <a:sym typeface="Inconsolata"/>
              </a:rPr>
              <a:t>1</a:t>
            </a:r>
            <a:r>
              <a:rPr b="1" lang="en" sz="1200">
                <a:solidFill>
                  <a:srgbClr val="080808"/>
                </a:solidFill>
                <a:highlight>
                  <a:srgbClr val="9AD4FF"/>
                </a:highlight>
                <a:latin typeface="Inconsolata"/>
                <a:ea typeface="Inconsolata"/>
                <a:cs typeface="Inconsolata"/>
                <a:sym typeface="Inconsolata"/>
              </a:rPr>
              <a:t>;</a:t>
            </a:r>
            <a:endParaRPr b="1" sz="1200">
              <a:solidFill>
                <a:srgbClr val="080808"/>
              </a:solidFill>
              <a:highlight>
                <a:srgbClr val="9AD4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}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033B3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if 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(move.equals(</a:t>
            </a:r>
            <a:r>
              <a:rPr b="1" lang="en" sz="1200">
                <a:solidFill>
                  <a:srgbClr val="067D17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"d"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)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    &amp;&amp; !world[player.xxcenter + </a:t>
            </a:r>
            <a:r>
              <a:rPr b="1" lang="en" sz="1200">
                <a:solidFill>
                  <a:srgbClr val="1750EB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1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][player.ycenter].equals(Tileset.WALL)) {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player.xxcenter += </a:t>
            </a:r>
            <a:r>
              <a:rPr b="1" lang="en" sz="1200">
                <a:solidFill>
                  <a:srgbClr val="1750EB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1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;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</a:t>
            </a:r>
            <a:r>
              <a:rPr b="1" lang="en" sz="1200">
                <a:solidFill>
                  <a:srgbClr val="080808"/>
                </a:solidFill>
                <a:highlight>
                  <a:srgbClr val="9AD4FF"/>
                </a:highlight>
                <a:latin typeface="Inconsolata"/>
                <a:ea typeface="Inconsolata"/>
                <a:cs typeface="Inconsolata"/>
                <a:sym typeface="Inconsolata"/>
              </a:rPr>
              <a:t>world[player.xxcenter][player.ycenter] = Tileset.PLAYER;</a:t>
            </a:r>
            <a:endParaRPr b="1" sz="1200">
              <a:solidFill>
                <a:srgbClr val="080808"/>
              </a:solidFill>
              <a:highlight>
                <a:srgbClr val="9AD4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9AD4FF"/>
                </a:highlight>
                <a:latin typeface="Inconsolata"/>
                <a:ea typeface="Inconsolata"/>
                <a:cs typeface="Inconsolata"/>
                <a:sym typeface="Inconsolata"/>
              </a:rPr>
              <a:t>   world[player.xxcenter - </a:t>
            </a:r>
            <a:r>
              <a:rPr b="1" lang="en" sz="1200">
                <a:solidFill>
                  <a:srgbClr val="1750EB"/>
                </a:solidFill>
                <a:highlight>
                  <a:srgbClr val="9AD4FF"/>
                </a:highlight>
                <a:latin typeface="Inconsolata"/>
                <a:ea typeface="Inconsolata"/>
                <a:cs typeface="Inconsolata"/>
                <a:sym typeface="Inconsolata"/>
              </a:rPr>
              <a:t>1</a:t>
            </a:r>
            <a:r>
              <a:rPr b="1" lang="en" sz="1200">
                <a:solidFill>
                  <a:srgbClr val="080808"/>
                </a:solidFill>
                <a:highlight>
                  <a:srgbClr val="9AD4FF"/>
                </a:highlight>
                <a:latin typeface="Inconsolata"/>
                <a:ea typeface="Inconsolata"/>
                <a:cs typeface="Inconsolata"/>
                <a:sym typeface="Inconsolata"/>
              </a:rPr>
              <a:t>][player.ycenter] = Tileset.FLOOR;</a:t>
            </a:r>
            <a:endParaRPr b="1" sz="1200">
              <a:solidFill>
                <a:srgbClr val="080808"/>
              </a:solidFill>
              <a:highlight>
                <a:srgbClr val="9AD4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9AD4FF"/>
                </a:highlight>
                <a:latin typeface="Inconsolata"/>
                <a:ea typeface="Inconsolata"/>
                <a:cs typeface="Inconsolata"/>
                <a:sym typeface="Inconsolata"/>
              </a:rPr>
              <a:t>   steps += </a:t>
            </a:r>
            <a:r>
              <a:rPr b="1" lang="en" sz="1200">
                <a:solidFill>
                  <a:srgbClr val="1750EB"/>
                </a:solidFill>
                <a:highlight>
                  <a:srgbClr val="9AD4FF"/>
                </a:highlight>
                <a:latin typeface="Inconsolata"/>
                <a:ea typeface="Inconsolata"/>
                <a:cs typeface="Inconsolata"/>
                <a:sym typeface="Inconsolata"/>
              </a:rPr>
              <a:t>1</a:t>
            </a:r>
            <a:r>
              <a:rPr b="1" lang="en" sz="1200">
                <a:solidFill>
                  <a:srgbClr val="080808"/>
                </a:solidFill>
                <a:highlight>
                  <a:srgbClr val="9AD4FF"/>
                </a:highlight>
                <a:latin typeface="Inconsolata"/>
                <a:ea typeface="Inconsolata"/>
                <a:cs typeface="Inconsolata"/>
                <a:sym typeface="Inconsolata"/>
              </a:rPr>
              <a:t>;</a:t>
            </a:r>
            <a:endParaRPr b="1" sz="1200">
              <a:solidFill>
                <a:srgbClr val="080808"/>
              </a:solidFill>
              <a:highlight>
                <a:srgbClr val="9AD4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}</a:t>
            </a:r>
            <a:endParaRPr b="1">
              <a:solidFill>
                <a:srgbClr val="ED864A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ED864A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BYOW Tactical Approach Example 2</a:t>
            </a:r>
            <a:endParaRPr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56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Variable naming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56"/>
          <p:cNvSpPr txBox="1"/>
          <p:nvPr/>
        </p:nvSpPr>
        <p:spPr>
          <a:xfrm>
            <a:off x="1263150" y="982375"/>
            <a:ext cx="6617700" cy="39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33B3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if 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(</a:t>
            </a:r>
            <a:r>
              <a:rPr b="1" lang="en" sz="1200">
                <a:solidFill>
                  <a:srgbClr val="080808"/>
                </a:solidFill>
                <a:highlight>
                  <a:srgbClr val="9AD4FF"/>
                </a:highlight>
                <a:latin typeface="Inconsolata"/>
                <a:ea typeface="Inconsolata"/>
                <a:cs typeface="Inconsolata"/>
                <a:sym typeface="Inconsolata"/>
              </a:rPr>
              <a:t>move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.equals(</a:t>
            </a:r>
            <a:r>
              <a:rPr b="1" lang="en" sz="1200">
                <a:solidFill>
                  <a:srgbClr val="067D17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"a"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)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    &amp;&amp; !world[player.</a:t>
            </a:r>
            <a:r>
              <a:rPr b="1" lang="en" sz="1200">
                <a:solidFill>
                  <a:srgbClr val="080808"/>
                </a:solidFill>
                <a:highlight>
                  <a:srgbClr val="9AD4FF"/>
                </a:highlight>
                <a:latin typeface="Inconsolata"/>
                <a:ea typeface="Inconsolata"/>
                <a:cs typeface="Inconsolata"/>
                <a:sym typeface="Inconsolata"/>
              </a:rPr>
              <a:t>xxcenter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- </a:t>
            </a:r>
            <a:r>
              <a:rPr b="1" lang="en" sz="1200">
                <a:solidFill>
                  <a:srgbClr val="1750EB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1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][player.</a:t>
            </a:r>
            <a:r>
              <a:rPr b="1" lang="en" sz="1200">
                <a:solidFill>
                  <a:srgbClr val="080808"/>
                </a:solidFill>
                <a:highlight>
                  <a:srgbClr val="9AD4FF"/>
                </a:highlight>
                <a:latin typeface="Inconsolata"/>
                <a:ea typeface="Inconsolata"/>
                <a:cs typeface="Inconsolata"/>
                <a:sym typeface="Inconsolata"/>
              </a:rPr>
              <a:t>ycenter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].equals(Tileset.WALL)) {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player.</a:t>
            </a:r>
            <a:r>
              <a:rPr b="1" lang="en" sz="1200">
                <a:solidFill>
                  <a:srgbClr val="080808"/>
                </a:solidFill>
                <a:highlight>
                  <a:srgbClr val="9AD4FF"/>
                </a:highlight>
                <a:latin typeface="Inconsolata"/>
                <a:ea typeface="Inconsolata"/>
                <a:cs typeface="Inconsolata"/>
                <a:sym typeface="Inconsolata"/>
              </a:rPr>
              <a:t>xxcenter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-= </a:t>
            </a:r>
            <a:r>
              <a:rPr b="1" lang="en" sz="1200">
                <a:solidFill>
                  <a:srgbClr val="1750EB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1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;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world[player.</a:t>
            </a:r>
            <a:r>
              <a:rPr b="1" lang="en" sz="1200">
                <a:solidFill>
                  <a:srgbClr val="080808"/>
                </a:solidFill>
                <a:highlight>
                  <a:srgbClr val="9AD4FF"/>
                </a:highlight>
                <a:latin typeface="Inconsolata"/>
                <a:ea typeface="Inconsolata"/>
                <a:cs typeface="Inconsolata"/>
                <a:sym typeface="Inconsolata"/>
              </a:rPr>
              <a:t>xxcenter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][player.</a:t>
            </a:r>
            <a:r>
              <a:rPr b="1" lang="en" sz="1200">
                <a:solidFill>
                  <a:srgbClr val="080808"/>
                </a:solidFill>
                <a:highlight>
                  <a:srgbClr val="9AD4FF"/>
                </a:highlight>
                <a:latin typeface="Inconsolata"/>
                <a:ea typeface="Inconsolata"/>
                <a:cs typeface="Inconsolata"/>
                <a:sym typeface="Inconsolata"/>
              </a:rPr>
              <a:t>ycenter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] = Tileset.PLAYER;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world[player.</a:t>
            </a:r>
            <a:r>
              <a:rPr b="1" lang="en" sz="1200">
                <a:solidFill>
                  <a:srgbClr val="080808"/>
                </a:solidFill>
                <a:highlight>
                  <a:srgbClr val="9AD4FF"/>
                </a:highlight>
                <a:latin typeface="Inconsolata"/>
                <a:ea typeface="Inconsolata"/>
                <a:cs typeface="Inconsolata"/>
                <a:sym typeface="Inconsolata"/>
              </a:rPr>
              <a:t>xxcenter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+ </a:t>
            </a:r>
            <a:r>
              <a:rPr b="1" lang="en" sz="1200">
                <a:solidFill>
                  <a:srgbClr val="1750EB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1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][player.</a:t>
            </a:r>
            <a:r>
              <a:rPr b="1" lang="en" sz="1200">
                <a:solidFill>
                  <a:srgbClr val="080808"/>
                </a:solidFill>
                <a:highlight>
                  <a:srgbClr val="9AD4FF"/>
                </a:highlight>
                <a:latin typeface="Inconsolata"/>
                <a:ea typeface="Inconsolata"/>
                <a:cs typeface="Inconsolata"/>
                <a:sym typeface="Inconsolata"/>
              </a:rPr>
              <a:t>ycenter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] = Tileset.FLOOR;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</a:t>
            </a:r>
            <a:r>
              <a:rPr b="1" lang="en" sz="1200">
                <a:solidFill>
                  <a:srgbClr val="080808"/>
                </a:solidFill>
                <a:highlight>
                  <a:srgbClr val="9AD4FF"/>
                </a:highlight>
                <a:latin typeface="Inconsolata"/>
                <a:ea typeface="Inconsolata"/>
                <a:cs typeface="Inconsolata"/>
                <a:sym typeface="Inconsolata"/>
              </a:rPr>
              <a:t>steps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+= </a:t>
            </a:r>
            <a:r>
              <a:rPr b="1" lang="en" sz="1200">
                <a:solidFill>
                  <a:srgbClr val="1750EB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1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;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}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33B3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if 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(move.equals(</a:t>
            </a:r>
            <a:r>
              <a:rPr b="1" lang="en" sz="1200">
                <a:solidFill>
                  <a:srgbClr val="067D17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"s"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)</a:t>
            </a:r>
            <a:endParaRPr b="1" sz="1200">
              <a:solidFill>
                <a:srgbClr val="080808"/>
              </a:solidFill>
              <a:highlight>
                <a:srgbClr val="9AD4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    &amp;&amp; !world[player.xxcenter][player.ycenter - </a:t>
            </a:r>
            <a:r>
              <a:rPr b="1" lang="en" sz="1200">
                <a:solidFill>
                  <a:srgbClr val="1750EB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1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].equals(Tileset.WALL)) {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player.ycenter -= </a:t>
            </a:r>
            <a:r>
              <a:rPr b="1" lang="en" sz="1200">
                <a:solidFill>
                  <a:srgbClr val="1750EB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1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;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world[player.xxcenter][player.ycenter] = Tileset.PLAYER;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world[player.xxcenter][player.ycenter + </a:t>
            </a:r>
            <a:r>
              <a:rPr b="1" lang="en" sz="1200">
                <a:solidFill>
                  <a:srgbClr val="1750EB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1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] = Tileset.FLOOR;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steps += </a:t>
            </a:r>
            <a:r>
              <a:rPr b="1" lang="en" sz="1200">
                <a:solidFill>
                  <a:srgbClr val="1750EB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1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;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}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33B3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if 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(move.equals(</a:t>
            </a:r>
            <a:r>
              <a:rPr b="1" lang="en" sz="1200">
                <a:solidFill>
                  <a:srgbClr val="067D17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"d"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)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    &amp;&amp; !world[player.xxcenter + </a:t>
            </a:r>
            <a:r>
              <a:rPr b="1" lang="en" sz="1200">
                <a:solidFill>
                  <a:srgbClr val="1750EB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1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][player.ycenter].equals(Tileset.WALL)) {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player.xxcenter += </a:t>
            </a:r>
            <a:r>
              <a:rPr b="1" lang="en" sz="1200">
                <a:solidFill>
                  <a:srgbClr val="1750EB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1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;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world[player.xxcenter][player.ycenter] = Tileset.PLAYER;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world[player.xxcenter - </a:t>
            </a:r>
            <a:r>
              <a:rPr b="1" lang="en" sz="1200">
                <a:solidFill>
                  <a:srgbClr val="1750EB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1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][player.ycenter] = Tileset.FLOOR;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steps += </a:t>
            </a:r>
            <a:r>
              <a:rPr b="1" lang="en" sz="1200">
                <a:solidFill>
                  <a:srgbClr val="1750EB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1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;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}</a:t>
            </a:r>
            <a:endParaRPr b="1">
              <a:solidFill>
                <a:srgbClr val="ED864A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ED864A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BYOW Tactical Approach Example 2</a:t>
            </a:r>
            <a:endParaRPr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57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Hard-coded obstacles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57"/>
          <p:cNvSpPr txBox="1"/>
          <p:nvPr/>
        </p:nvSpPr>
        <p:spPr>
          <a:xfrm>
            <a:off x="1263150" y="982375"/>
            <a:ext cx="6617700" cy="39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33B3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if 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(move.equals(</a:t>
            </a:r>
            <a:r>
              <a:rPr b="1" lang="en" sz="1200">
                <a:solidFill>
                  <a:srgbClr val="067D17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"a"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)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    &amp;&amp; !world[player.xxcenter - </a:t>
            </a:r>
            <a:r>
              <a:rPr b="1" lang="en" sz="1200">
                <a:solidFill>
                  <a:srgbClr val="1750EB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1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][player.ycenter].equals(</a:t>
            </a:r>
            <a:r>
              <a:rPr b="1" lang="en" sz="1200">
                <a:solidFill>
                  <a:srgbClr val="080808"/>
                </a:solidFill>
                <a:highlight>
                  <a:srgbClr val="9AD4FF"/>
                </a:highlight>
                <a:latin typeface="Inconsolata"/>
                <a:ea typeface="Inconsolata"/>
                <a:cs typeface="Inconsolata"/>
                <a:sym typeface="Inconsolata"/>
              </a:rPr>
              <a:t>Tileset.WALL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)) {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player.xxcenter -= </a:t>
            </a:r>
            <a:r>
              <a:rPr b="1" lang="en" sz="1200">
                <a:solidFill>
                  <a:srgbClr val="1750EB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1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;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world[player.xxcenter][player.ycenter] = Tileset.PLAYER;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world[player.xxcenter + </a:t>
            </a:r>
            <a:r>
              <a:rPr b="1" lang="en" sz="1200">
                <a:solidFill>
                  <a:srgbClr val="1750EB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1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][player.ycenter] = Tileset.FLOOR;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steps += </a:t>
            </a:r>
            <a:r>
              <a:rPr b="1" lang="en" sz="1200">
                <a:solidFill>
                  <a:srgbClr val="1750EB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1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;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}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33B3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if 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(move.equals(</a:t>
            </a:r>
            <a:r>
              <a:rPr b="1" lang="en" sz="1200">
                <a:solidFill>
                  <a:srgbClr val="067D17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"s"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)</a:t>
            </a:r>
            <a:endParaRPr b="1" sz="1200">
              <a:solidFill>
                <a:srgbClr val="080808"/>
              </a:solidFill>
              <a:highlight>
                <a:srgbClr val="9AD4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    &amp;&amp; !world[player.xxcenter][player.ycenter - </a:t>
            </a:r>
            <a:r>
              <a:rPr b="1" lang="en" sz="1200">
                <a:solidFill>
                  <a:srgbClr val="1750EB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1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].equals(</a:t>
            </a:r>
            <a:r>
              <a:rPr b="1" lang="en" sz="1200">
                <a:solidFill>
                  <a:srgbClr val="080808"/>
                </a:solidFill>
                <a:highlight>
                  <a:srgbClr val="9AD4FF"/>
                </a:highlight>
                <a:latin typeface="Inconsolata"/>
                <a:ea typeface="Inconsolata"/>
                <a:cs typeface="Inconsolata"/>
                <a:sym typeface="Inconsolata"/>
              </a:rPr>
              <a:t>Tileset.WALL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)) {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player.ycenter -= </a:t>
            </a:r>
            <a:r>
              <a:rPr b="1" lang="en" sz="1200">
                <a:solidFill>
                  <a:srgbClr val="1750EB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1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;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world[player.xxcenter][player.ycenter] = Tileset.PLAYER;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world[player.xxcenter][player.ycenter + </a:t>
            </a:r>
            <a:r>
              <a:rPr b="1" lang="en" sz="1200">
                <a:solidFill>
                  <a:srgbClr val="1750EB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1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] = Tileset.FLOOR;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steps += </a:t>
            </a:r>
            <a:r>
              <a:rPr b="1" lang="en" sz="1200">
                <a:solidFill>
                  <a:srgbClr val="1750EB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1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;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}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33B3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if 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(move.equals(</a:t>
            </a:r>
            <a:r>
              <a:rPr b="1" lang="en" sz="1200">
                <a:solidFill>
                  <a:srgbClr val="067D17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"d"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)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    &amp;&amp; !world[player.xxcenter + </a:t>
            </a:r>
            <a:r>
              <a:rPr b="1" lang="en" sz="1200">
                <a:solidFill>
                  <a:srgbClr val="1750EB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1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][player.ycenter].equals(</a:t>
            </a:r>
            <a:r>
              <a:rPr b="1" lang="en" sz="1200">
                <a:solidFill>
                  <a:srgbClr val="080808"/>
                </a:solidFill>
                <a:highlight>
                  <a:srgbClr val="9AD4FF"/>
                </a:highlight>
                <a:latin typeface="Inconsolata"/>
                <a:ea typeface="Inconsolata"/>
                <a:cs typeface="Inconsolata"/>
                <a:sym typeface="Inconsolata"/>
              </a:rPr>
              <a:t>Tileset.WALL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)) {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player.xxcenter += </a:t>
            </a:r>
            <a:r>
              <a:rPr b="1" lang="en" sz="1200">
                <a:solidFill>
                  <a:srgbClr val="1750EB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1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;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world[player.xxcenter][player.ycenter] = Tileset.PLAYER;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world[player.xxcenter - </a:t>
            </a:r>
            <a:r>
              <a:rPr b="1" lang="en" sz="1200">
                <a:solidFill>
                  <a:srgbClr val="1750EB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1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][player.ycenter] = Tileset.FLOOR;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   steps += </a:t>
            </a:r>
            <a:r>
              <a:rPr b="1" lang="en" sz="1200">
                <a:solidFill>
                  <a:srgbClr val="1750EB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1</a:t>
            </a: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;</a:t>
            </a:r>
            <a:endParaRPr b="1" sz="12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}</a:t>
            </a:r>
            <a:endParaRPr b="1">
              <a:solidFill>
                <a:srgbClr val="ED864A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ED864A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pic>
        <p:nvPicPr>
          <p:cNvPr id="374" name="Google Shape;374;p57"/>
          <p:cNvPicPr preferRelativeResize="0"/>
          <p:nvPr/>
        </p:nvPicPr>
        <p:blipFill rotWithShape="1">
          <a:blip r:embed="rId3">
            <a:alphaModFix/>
          </a:blip>
          <a:srcRect b="57314" l="41269" r="57479" t="40203"/>
          <a:stretch/>
        </p:blipFill>
        <p:spPr>
          <a:xfrm>
            <a:off x="7007250" y="667500"/>
            <a:ext cx="452549" cy="374949"/>
          </a:xfrm>
          <a:prstGeom prst="rect">
            <a:avLst/>
          </a:prstGeom>
          <a:noFill/>
          <a:ln cap="flat" cmpd="sng" w="28575">
            <a:solidFill>
              <a:srgbClr val="9AD4FF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375" name="Google Shape;375;p57"/>
          <p:cNvCxnSpPr/>
          <p:nvPr/>
        </p:nvCxnSpPr>
        <p:spPr>
          <a:xfrm flipH="1" rot="10800000">
            <a:off x="6480738" y="1063750"/>
            <a:ext cx="526500" cy="218100"/>
          </a:xfrm>
          <a:prstGeom prst="straightConnector1">
            <a:avLst/>
          </a:prstGeom>
          <a:noFill/>
          <a:ln cap="flat" cmpd="sng" w="28575">
            <a:solidFill>
              <a:srgbClr val="9AD4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BYOW Strategic Approach Example 2</a:t>
            </a:r>
            <a:r>
              <a:rPr lang="en"/>
              <a:t> and BYOW Suggestions</a:t>
            </a:r>
            <a:endParaRPr/>
          </a:p>
        </p:txBody>
      </p:sp>
      <p:sp>
        <p:nvSpPr>
          <p:cNvPr id="381" name="Google Shape;381;p58"/>
          <p:cNvSpPr txBox="1"/>
          <p:nvPr>
            <p:ph idx="1" type="body"/>
          </p:nvPr>
        </p:nvSpPr>
        <p:spPr>
          <a:xfrm>
            <a:off x="107050" y="402200"/>
            <a:ext cx="8520600" cy="45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Code </a:t>
            </a:r>
            <a:r>
              <a:rPr lang="en" sz="1700"/>
              <a:t>Reusability 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♻️</a:t>
            </a:r>
            <a:endParaRPr sz="2100"/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Craft helper classes and methods for recurring tasks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Abstraction 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🫣</a:t>
            </a:r>
            <a:endParaRPr sz="1700"/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Minimize the amount of </a:t>
            </a:r>
            <a:r>
              <a:rPr b="1" lang="en" sz="1700">
                <a:latin typeface="Inconsolata"/>
                <a:ea typeface="Inconsolata"/>
                <a:cs typeface="Inconsolata"/>
                <a:sym typeface="Inconsolata"/>
              </a:rPr>
              <a:t>public</a:t>
            </a:r>
            <a:r>
              <a:rPr lang="en" sz="1700"/>
              <a:t> things</a:t>
            </a:r>
            <a:endParaRPr sz="1700"/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Once you make a public method, it's there for good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Code Organization</a:t>
            </a:r>
            <a:endParaRPr sz="1700"/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Arrange your code by what it does, not the order things happen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Embrace the Style Checker 🧘‍♀️</a:t>
            </a:r>
            <a:endParaRPr sz="1700"/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Similarly, in industry/academia, you will encounter types of guidelines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Forward-Thinking Code Planning</a:t>
            </a:r>
            <a:endParaRPr sz="1700"/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Prioritize long-term strategic approaches over quick fixes</a:t>
            </a:r>
            <a:endParaRPr sz="1700"/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Plan before your code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8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8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8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8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8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8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81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81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9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Background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Problem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Writing Clean Code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Build Your Own World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Documentation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Q &amp; A</a:t>
            </a:r>
            <a:endParaRPr/>
          </a:p>
        </p:txBody>
      </p:sp>
      <p:sp>
        <p:nvSpPr>
          <p:cNvPr id="387" name="Google Shape;387;p59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31, CS61B, Fall 2023</a:t>
            </a:r>
            <a:endParaRPr/>
          </a:p>
        </p:txBody>
      </p:sp>
      <p:sp>
        <p:nvSpPr>
          <p:cNvPr id="388" name="Google Shape;388;p59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Documentation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6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Documentation Intro</a:t>
            </a:r>
            <a:endParaRPr/>
          </a:p>
        </p:txBody>
      </p:sp>
      <p:sp>
        <p:nvSpPr>
          <p:cNvPr id="394" name="Google Shape;394;p60"/>
          <p:cNvSpPr txBox="1"/>
          <p:nvPr>
            <p:ph idx="1" type="body"/>
          </p:nvPr>
        </p:nvSpPr>
        <p:spPr>
          <a:xfrm>
            <a:off x="107050" y="402200"/>
            <a:ext cx="8520600" cy="43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Documentation</a:t>
            </a:r>
            <a:r>
              <a:rPr lang="en"/>
              <a:t> in technology refers to various written materials that accompany software or systems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covers a broad spectrum, including: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Code Comments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API Documentation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User Manuals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Design Specifications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Test Documents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We'll </a:t>
            </a:r>
            <a:r>
              <a:rPr lang="en"/>
              <a:t>concentrate on practical documentation strategies that you can directly apply to your projects today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6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Documentation?</a:t>
            </a:r>
            <a:endParaRPr/>
          </a:p>
        </p:txBody>
      </p:sp>
      <p:sp>
        <p:nvSpPr>
          <p:cNvPr id="400" name="Google Shape;400;p61"/>
          <p:cNvSpPr txBox="1"/>
          <p:nvPr>
            <p:ph idx="1" type="body"/>
          </p:nvPr>
        </p:nvSpPr>
        <p:spPr>
          <a:xfrm>
            <a:off x="107050" y="402200"/>
            <a:ext cx="8520600" cy="44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"We don't have enough time!"</a:t>
            </a:r>
            <a:r>
              <a:rPr lang="en"/>
              <a:t> 🥱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Quick documentation now avoids longer explanations later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"No-one would read it anyway!"</a:t>
            </a:r>
            <a:r>
              <a:rPr lang="en"/>
              <a:t> 🤓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 highly doubt it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Project 3, your partner will benefit from reading it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Integrated documentation encourages use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"The code should be self-documenting!"👩‍💻</a:t>
            </a:r>
            <a:endParaRPr b="1"/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Would you rather read 100 lines of someone’s code or a short summary?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Documentation explains “why” and “context,” not just “how”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6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Documentation </a:t>
            </a:r>
            <a:r>
              <a:rPr lang="en">
                <a:solidFill>
                  <a:schemeClr val="accent3"/>
                </a:solidFill>
              </a:rPr>
              <a:t>Example 1</a:t>
            </a:r>
            <a:endParaRPr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62"/>
          <p:cNvSpPr txBox="1"/>
          <p:nvPr>
            <p:ph idx="1" type="body"/>
          </p:nvPr>
        </p:nvSpPr>
        <p:spPr>
          <a:xfrm>
            <a:off x="107050" y="402200"/>
            <a:ext cx="8520600" cy="42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can we improve about this documentation? 🤔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I’m confused – are we moving trees or the player? How do we pick? 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😭</a:t>
            </a:r>
            <a:r>
              <a:rPr lang="en"/>
              <a:t> 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Why are we including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java.util.Random</a:t>
            </a:r>
            <a:r>
              <a:rPr lang="en"/>
              <a:t>?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are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x</a:t>
            </a:r>
            <a:r>
              <a:rPr lang="en"/>
              <a:t> and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y</a:t>
            </a:r>
            <a:r>
              <a:rPr lang="en"/>
              <a:t>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62"/>
          <p:cNvSpPr txBox="1"/>
          <p:nvPr/>
        </p:nvSpPr>
        <p:spPr>
          <a:xfrm>
            <a:off x="735000" y="982375"/>
            <a:ext cx="7599300" cy="2117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600">
                <a:solidFill>
                  <a:srgbClr val="8C8C8C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/**</a:t>
            </a:r>
            <a:endParaRPr b="1" i="1" sz="1600">
              <a:solidFill>
                <a:srgbClr val="8C8C8C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600">
                <a:solidFill>
                  <a:srgbClr val="8C8C8C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* Changes location of the trees in the world</a:t>
            </a:r>
            <a:endParaRPr b="1" i="1" sz="1600">
              <a:solidFill>
                <a:srgbClr val="8C8C8C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600">
                <a:solidFill>
                  <a:srgbClr val="8C8C8C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* We use java.util.Random.</a:t>
            </a:r>
            <a:endParaRPr b="1" i="1" sz="1600">
              <a:solidFill>
                <a:srgbClr val="8C8C8C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600">
                <a:solidFill>
                  <a:srgbClr val="8C8C8C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*/</a:t>
            </a:r>
            <a:endParaRPr b="1" i="1" sz="1600">
              <a:solidFill>
                <a:srgbClr val="8C8C8C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0033B3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public boolean </a:t>
            </a:r>
            <a:r>
              <a:rPr b="1" lang="en" sz="16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movePlayer(</a:t>
            </a:r>
            <a:r>
              <a:rPr b="1" lang="en" sz="1600">
                <a:solidFill>
                  <a:srgbClr val="0033B3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int </a:t>
            </a:r>
            <a:r>
              <a:rPr b="1" lang="en" sz="16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x, </a:t>
            </a:r>
            <a:r>
              <a:rPr b="1" lang="en" sz="1600">
                <a:solidFill>
                  <a:srgbClr val="0033B3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int </a:t>
            </a:r>
            <a:r>
              <a:rPr b="1" lang="en" sz="16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y) {...}</a:t>
            </a:r>
            <a:endParaRPr b="1" sz="16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600">
              <a:solidFill>
                <a:srgbClr val="499936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6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Documentation Example 1</a:t>
            </a:r>
            <a:endParaRPr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63"/>
          <p:cNvSpPr txBox="1"/>
          <p:nvPr/>
        </p:nvSpPr>
        <p:spPr>
          <a:xfrm>
            <a:off x="772350" y="857800"/>
            <a:ext cx="7599300" cy="349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600">
                <a:solidFill>
                  <a:srgbClr val="8C8C8C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/**</a:t>
            </a:r>
            <a:endParaRPr b="1" i="1" sz="1600">
              <a:solidFill>
                <a:srgbClr val="8C8C8C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600">
                <a:solidFill>
                  <a:srgbClr val="8C8C8C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* Moves the player to a specified location within the game world.</a:t>
            </a:r>
            <a:endParaRPr b="1" i="1" sz="1600">
              <a:solidFill>
                <a:srgbClr val="8C8C8C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600">
                <a:solidFill>
                  <a:srgbClr val="8C8C8C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* Validates the destination and checks for bounds.</a:t>
            </a:r>
            <a:endParaRPr b="1" i="1" sz="1600">
              <a:solidFill>
                <a:srgbClr val="8C8C8C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600">
                <a:solidFill>
                  <a:srgbClr val="8C8C8C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*</a:t>
            </a:r>
            <a:endParaRPr b="1" i="1" sz="1600">
              <a:solidFill>
                <a:srgbClr val="8C8C8C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600">
                <a:solidFill>
                  <a:srgbClr val="8C8C8C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* @param x The x-coordinate of the destination (horizontal position).</a:t>
            </a:r>
            <a:endParaRPr b="1" i="1" sz="1600">
              <a:solidFill>
                <a:srgbClr val="8C8C8C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600">
                <a:solidFill>
                  <a:srgbClr val="8C8C8C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* @param y The y-coordinate of the destination (vertical position).</a:t>
            </a:r>
            <a:endParaRPr b="1" i="1" sz="1600">
              <a:solidFill>
                <a:srgbClr val="8C8C8C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600">
                <a:solidFill>
                  <a:srgbClr val="8C8C8C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* @return 'true' if the move is successful, 'false' otherwise.</a:t>
            </a:r>
            <a:endParaRPr b="1" i="1" sz="1600">
              <a:solidFill>
                <a:srgbClr val="8C8C8C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600">
                <a:solidFill>
                  <a:srgbClr val="8C8C8C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* @throws OutOfBoundsException if coordinates are outside the world.</a:t>
            </a:r>
            <a:endParaRPr b="1" i="1" sz="1600">
              <a:solidFill>
                <a:srgbClr val="8C8C8C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600">
                <a:solidFill>
                  <a:srgbClr val="8C8C8C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* @usage To move the player to (5, 10), call movePlayer(5, 10).</a:t>
            </a:r>
            <a:endParaRPr b="1" i="1" sz="1600">
              <a:solidFill>
                <a:srgbClr val="8C8C8C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600">
                <a:solidFill>
                  <a:srgbClr val="8C8C8C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*/</a:t>
            </a:r>
            <a:endParaRPr b="1" i="1" sz="1600">
              <a:solidFill>
                <a:srgbClr val="8C8C8C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0033B3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public boolean </a:t>
            </a:r>
            <a:r>
              <a:rPr b="1" lang="en" sz="16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movePlayer(</a:t>
            </a:r>
            <a:r>
              <a:rPr b="1" lang="en" sz="1600">
                <a:solidFill>
                  <a:srgbClr val="0033B3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int </a:t>
            </a:r>
            <a:r>
              <a:rPr b="1" lang="en" sz="16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x, </a:t>
            </a:r>
            <a:r>
              <a:rPr b="1" lang="en" sz="1600">
                <a:solidFill>
                  <a:srgbClr val="0033B3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int </a:t>
            </a:r>
            <a:r>
              <a:rPr b="1" lang="en" sz="16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y) {...}</a:t>
            </a:r>
            <a:endParaRPr b="1" sz="16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600">
              <a:solidFill>
                <a:srgbClr val="499936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6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Documentation Example 2</a:t>
            </a:r>
            <a:endParaRPr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64"/>
          <p:cNvSpPr txBox="1"/>
          <p:nvPr>
            <p:ph idx="1" type="body"/>
          </p:nvPr>
        </p:nvSpPr>
        <p:spPr>
          <a:xfrm>
            <a:off x="107050" y="402200"/>
            <a:ext cx="8520600" cy="404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can we improve about this documentation? 🤔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Um obviously… 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🙄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 am not learning anything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64"/>
          <p:cNvSpPr txBox="1"/>
          <p:nvPr/>
        </p:nvSpPr>
        <p:spPr>
          <a:xfrm>
            <a:off x="772350" y="1017200"/>
            <a:ext cx="7599300" cy="2186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600">
                <a:solidFill>
                  <a:srgbClr val="8C8C8C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/**</a:t>
            </a:r>
            <a:endParaRPr b="1" i="1" sz="1600">
              <a:solidFill>
                <a:srgbClr val="8C8C8C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600">
                <a:solidFill>
                  <a:srgbClr val="8C8C8C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* WorldTheme class</a:t>
            </a:r>
            <a:endParaRPr b="1" i="1" sz="1600">
              <a:solidFill>
                <a:srgbClr val="8C8C8C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600">
                <a:solidFill>
                  <a:srgbClr val="8C8C8C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* It represents a WorldTheme.</a:t>
            </a:r>
            <a:endParaRPr b="1" i="1" sz="1600">
              <a:solidFill>
                <a:srgbClr val="8C8C8C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600">
                <a:solidFill>
                  <a:srgbClr val="8C8C8C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*/</a:t>
            </a:r>
            <a:endParaRPr b="1" i="1" sz="1600">
              <a:solidFill>
                <a:srgbClr val="8C8C8C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0033B3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public class </a:t>
            </a:r>
            <a:r>
              <a:rPr b="1" lang="en" sz="16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WorldTheme {...}</a:t>
            </a:r>
            <a:endParaRPr b="1" sz="16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600">
              <a:solidFill>
                <a:srgbClr val="499936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6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Documentation Example 2</a:t>
            </a:r>
            <a:endParaRPr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65"/>
          <p:cNvSpPr txBox="1"/>
          <p:nvPr/>
        </p:nvSpPr>
        <p:spPr>
          <a:xfrm>
            <a:off x="772350" y="857800"/>
            <a:ext cx="7599300" cy="3149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600">
                <a:solidFill>
                  <a:srgbClr val="8C8C8C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/**</a:t>
            </a:r>
            <a:endParaRPr b="1" i="1" sz="1600">
              <a:solidFill>
                <a:srgbClr val="8C8C8C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600">
                <a:solidFill>
                  <a:srgbClr val="8C8C8C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* Manages game world themes (e.g., environment, color)</a:t>
            </a:r>
            <a:endParaRPr b="1" i="1" sz="1600">
              <a:solidFill>
                <a:srgbClr val="8C8C8C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600">
                <a:solidFill>
                  <a:srgbClr val="8C8C8C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* Provides methods for switching themes during gameplay.</a:t>
            </a:r>
            <a:endParaRPr b="1" i="1" sz="1600">
              <a:solidFill>
                <a:srgbClr val="8C8C8C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600">
                <a:solidFill>
                  <a:srgbClr val="8C8C8C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*</a:t>
            </a:r>
            <a:endParaRPr b="1" i="1" sz="1600">
              <a:solidFill>
                <a:srgbClr val="8C8C8C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600">
                <a:solidFill>
                  <a:srgbClr val="8C8C8C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* @author Stella Kaval</a:t>
            </a:r>
            <a:endParaRPr b="1" i="1" sz="1600">
              <a:solidFill>
                <a:srgbClr val="8C8C8C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600">
                <a:solidFill>
                  <a:srgbClr val="8C8C8C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* @version 1.0.0</a:t>
            </a:r>
            <a:endParaRPr b="1" i="1" sz="1600">
              <a:solidFill>
                <a:srgbClr val="8C8C8C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600">
                <a:solidFill>
                  <a:srgbClr val="8C8C8C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* @since 2023-11-03</a:t>
            </a:r>
            <a:endParaRPr b="1" i="1" sz="1600">
              <a:solidFill>
                <a:srgbClr val="8C8C8C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600">
                <a:solidFill>
                  <a:srgbClr val="8C8C8C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*/</a:t>
            </a:r>
            <a:endParaRPr b="1" i="1" sz="1600">
              <a:solidFill>
                <a:srgbClr val="8C8C8C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0033B3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public class </a:t>
            </a:r>
            <a:r>
              <a:rPr b="1" lang="en" sz="1600">
                <a:solidFill>
                  <a:srgbClr val="080808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WorldTheme {...}</a:t>
            </a:r>
            <a:endParaRPr b="1" sz="1600">
              <a:solidFill>
                <a:srgbClr val="080808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600">
              <a:solidFill>
                <a:srgbClr val="499936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6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432" name="Google Shape;432;p66"/>
          <p:cNvSpPr txBox="1"/>
          <p:nvPr>
            <p:ph idx="1" type="body"/>
          </p:nvPr>
        </p:nvSpPr>
        <p:spPr>
          <a:xfrm>
            <a:off x="107050" y="402200"/>
            <a:ext cx="8520600" cy="44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Bad documentation can impact productivity in three main areas: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Searchability 🔎</a:t>
            </a:r>
            <a:endParaRPr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Time lost in deciphering and navigating code </a:t>
            </a:r>
            <a:endParaRPr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Might end up rewriting the same code multiple times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Collaboration 👥</a:t>
            </a:r>
            <a:endParaRPr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You and a partner will be writing code that both of you should understand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Onboarding 🛫</a:t>
            </a:r>
            <a:endParaRPr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Everyone’s implementations are different</a:t>
            </a:r>
            <a:endParaRPr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In office hours, you will be onboarding course staff to your project</a:t>
            </a:r>
            <a:endParaRPr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Industry example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6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Recommendation</a:t>
            </a:r>
            <a:r>
              <a:rPr lang="en"/>
              <a:t> for BYOW</a:t>
            </a:r>
            <a:endParaRPr/>
          </a:p>
        </p:txBody>
      </p:sp>
      <p:sp>
        <p:nvSpPr>
          <p:cNvPr id="438" name="Google Shape;438;p67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Project 3 is very open-ended</a:t>
            </a:r>
            <a:r>
              <a:rPr lang="en"/>
              <a:t> 😯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Pro tip:</a:t>
            </a:r>
            <a:r>
              <a:rPr lang="en"/>
              <a:t> make a design document before writing a single line of code</a:t>
            </a:r>
            <a:endParaRPr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Create a plan for every feature of your BYOW program</a:t>
            </a:r>
            <a:endParaRPr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An iterative process – update as you go</a:t>
            </a:r>
            <a:endParaRPr/>
          </a:p>
        </p:txBody>
      </p:sp>
      <p:sp>
        <p:nvSpPr>
          <p:cNvPr id="439" name="Google Shape;439;p67"/>
          <p:cNvSpPr txBox="1"/>
          <p:nvPr/>
        </p:nvSpPr>
        <p:spPr>
          <a:xfrm>
            <a:off x="3619050" y="4683500"/>
            <a:ext cx="1905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proj3 folder → README.md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40" name="Google Shape;440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2050" y="2307325"/>
            <a:ext cx="4939899" cy="2334874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68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Background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Problem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Writing Clean Code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Build Your Own World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Documentation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Q &amp; A</a:t>
            </a:r>
            <a:endParaRPr/>
          </a:p>
        </p:txBody>
      </p:sp>
      <p:sp>
        <p:nvSpPr>
          <p:cNvPr id="446" name="Google Shape;446;p68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31, CS61B, Fall 2023</a:t>
            </a:r>
            <a:endParaRPr/>
          </a:p>
        </p:txBody>
      </p:sp>
      <p:sp>
        <p:nvSpPr>
          <p:cNvPr id="447" name="Google Shape;447;p68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 &amp; 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ecture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C9DAF8"/>
      </a:lt2>
      <a:accent1>
        <a:srgbClr val="FCE5CD"/>
      </a:accent1>
      <a:accent2>
        <a:srgbClr val="CC4125"/>
      </a:accent2>
      <a:accent3>
        <a:srgbClr val="0B5394"/>
      </a:accent3>
      <a:accent4>
        <a:srgbClr val="BF9000"/>
      </a:accent4>
      <a:accent5>
        <a:srgbClr val="6AA84F"/>
      </a:accent5>
      <a:accent6>
        <a:srgbClr val="D9D9D9"/>
      </a:accent6>
      <a:hlink>
        <a:srgbClr val="4A86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