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9144000" cy="5143500" type="screen16x9"/>
  <p:notesSz cx="6858000" cy="9144000"/>
  <p:embeddedFontLst>
    <p:embeddedFont>
      <p:font typeface="Consolas" panose="020B0609020204030204" pitchFamily="49" charset="0"/>
      <p:regular r:id="rId67"/>
      <p:bold r:id="rId68"/>
      <p:italic r:id="rId69"/>
      <p:boldItalic r:id="rId70"/>
    </p:embeddedFont>
    <p:embeddedFont>
      <p:font typeface="Roboto" panose="02000000000000000000" pitchFamily="2" charset="0"/>
      <p:regular r:id="rId71"/>
      <p:bold r:id="rId72"/>
      <p:italic r:id="rId73"/>
      <p:boldItalic r:id="rId74"/>
    </p:embeddedFont>
    <p:embeddedFont>
      <p:font typeface="Roboto Light" panose="02000000000000000000" pitchFamily="2" charset="0"/>
      <p:regular r:id="rId75"/>
      <p:bold r:id="rId76"/>
      <p:italic r:id="rId77"/>
      <p:boldItalic r:id="rId78"/>
    </p:embeddedFont>
    <p:embeddedFont>
      <p:font typeface="Roboto Medium" panose="02000000000000000000" pitchFamily="2"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9DA46A-B2CD-47DD-98B5-D3AAC6A04B5E}">
  <a:tblStyle styleId="{EC9DA46A-B2CD-47DD-98B5-D3AAC6A04B5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48"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font" Target="fonts/font14.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font" Target="fonts/font15.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presentation/d/1CfnLS3FSXV8X2sXPTravZGXeBUUkcFQv7Uf2iGWGUf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39d0c7562c_0_16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39d0c7562c_0_1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Older slides versions with numbered vertices (instead of lettered vertices), if you want to follow along with the web videos: </a:t>
            </a:r>
            <a:r>
              <a:rPr lang="en" u="sng">
                <a:solidFill>
                  <a:schemeClr val="hlink"/>
                </a:solidFill>
                <a:hlinkClick r:id="rId3"/>
              </a:rPr>
              <a:t>DAG SPT demo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39d0c7562c_0_15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39d0c7562c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39d0c7562c_0_1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39d0c7562c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39d0c7562c_0_16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39d0c7562c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39d0c7562c_0_180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39d0c7562c_0_1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39d0c7562c_0_17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39d0c7562c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39d0c7562c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39d0c7562c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680cad2009_0_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680cad2009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2680cad2009_0_17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2680cad2009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39d0c7562c_0_5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239d0c7562c_0_5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239d0c7562c_0_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239d0c7562c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239d0c7562c_0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239d0c7562c_0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39d0c7562c_0_66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239d0c7562c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239d0c7562c_0_66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239d0c7562c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239d0c7562c_0_69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239d0c7562c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239d0c7562c_0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239d0c7562c_0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39d0c7562c_0_7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239d0c7562c_0_7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39d0c7562c_0_196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239d0c7562c_0_19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39d0c7562c_0_78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239d0c7562c_0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39d0c7562c_0_81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239d0c7562c_0_8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39d0c7562c_0_84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239d0c7562c_0_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FA23: An older version of this slide (before the FA23 live lecture) incorrectly wrote "vertex 2," when it should say "vertex C". (We changed the vertex labels from numbers to letters, but forgot to update the text of the slide.)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39d0c7562c_0_88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239d0c7562c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FA23: An older version of this slide (before the FA23 live lecture) incorrectly wrote "vertex 2", "relaxation on 4", and "distance to 5", when it should say "vertex C", "relaxation on E", and "distance to F". (We changed the vertex labels from numbers to letters, but forgot to update the text of the slide.)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39d0c7562c_0_9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239d0c7562c_0_9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FA23: An older version of this slide (before the FA23 live lecture) incorrectly wrote "vertex 2", "relaxation on 4", and "distance to 5", when it should say "vertex C", "relaxation on E", and "distance to F". (We changed the vertex labels from numbers to letters, but forgot to update the text of the slide.)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39d0c7562c_0_95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239d0c7562c_0_9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39d0c7562c_0_98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8" name="Google Shape;958;g239d0c7562c_0_9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39d0c7562c_0_102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239d0c7562c_0_10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FA23: An older version of this slide (before the FA23 live lecture) incorrectly wrote "031245", when it should say "ADBCEF". (We changed the vertex labels from numbers to letters, but forgot to update the text of the slide.)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39d0c7562c_0_108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239d0c7562c_0_10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39d0c7562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239d0c7562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39d0c7562c_1_3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239d0c7562c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239d0c7562c_1_7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5" name="Google Shape;1155;g239d0c7562c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239d0c7562c_1_11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0" name="Google Shape;1200;g239d0c7562c_1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239d0c7562c_1_15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239d0c7562c_1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239d0c7562c_1_19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8" name="Google Shape;1278;g239d0c7562c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3"/>
        <p:cNvGrpSpPr/>
        <p:nvPr/>
      </p:nvGrpSpPr>
      <p:grpSpPr>
        <a:xfrm>
          <a:off x="0" y="0"/>
          <a:ext cx="0" cy="0"/>
          <a:chOff x="0" y="0"/>
          <a:chExt cx="0" cy="0"/>
        </a:xfrm>
      </p:grpSpPr>
      <p:sp>
        <p:nvSpPr>
          <p:cNvPr id="1314" name="Google Shape;1314;g239d0c7562c_1_22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5" name="Google Shape;1315;g239d0c7562c_1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g239d0c7562c_1_26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6" name="Google Shape;1356;g239d0c7562c_1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g239d0c7562c_1_30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3" name="Google Shape;1393;g239d0c7562c_1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g239d0c7562c_1_34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6" name="Google Shape;1436;g239d0c7562c_1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1"/>
        <p:cNvGrpSpPr/>
        <p:nvPr/>
      </p:nvGrpSpPr>
      <p:grpSpPr>
        <a:xfrm>
          <a:off x="0" y="0"/>
          <a:ext cx="0" cy="0"/>
          <a:chOff x="0" y="0"/>
          <a:chExt cx="0" cy="0"/>
        </a:xfrm>
      </p:grpSpPr>
      <p:sp>
        <p:nvSpPr>
          <p:cNvPr id="1472" name="Google Shape;1472;g239d0c7562c_1_38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3" name="Google Shape;1473;g239d0c7562c_1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2"/>
        <p:cNvGrpSpPr/>
        <p:nvPr/>
      </p:nvGrpSpPr>
      <p:grpSpPr>
        <a:xfrm>
          <a:off x="0" y="0"/>
          <a:ext cx="0" cy="0"/>
          <a:chOff x="0" y="0"/>
          <a:chExt cx="0" cy="0"/>
        </a:xfrm>
      </p:grpSpPr>
      <p:sp>
        <p:nvSpPr>
          <p:cNvPr id="1513" name="Google Shape;1513;g239d0c7562c_1_42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4" name="Google Shape;1514;g239d0c7562c_1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239d0c7562c_0_110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239d0c7562c_0_1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8"/>
        <p:cNvGrpSpPr/>
        <p:nvPr/>
      </p:nvGrpSpPr>
      <p:grpSpPr>
        <a:xfrm>
          <a:off x="0" y="0"/>
          <a:ext cx="0" cy="0"/>
          <a:chOff x="0" y="0"/>
          <a:chExt cx="0" cy="0"/>
        </a:xfrm>
      </p:grpSpPr>
      <p:sp>
        <p:nvSpPr>
          <p:cNvPr id="1579" name="Google Shape;1579;g239d0c7562c_0_1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0" name="Google Shape;1580;g239d0c7562c_0_1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5"/>
        <p:cNvGrpSpPr/>
        <p:nvPr/>
      </p:nvGrpSpPr>
      <p:grpSpPr>
        <a:xfrm>
          <a:off x="0" y="0"/>
          <a:ext cx="0" cy="0"/>
          <a:chOff x="0" y="0"/>
          <a:chExt cx="0" cy="0"/>
        </a:xfrm>
      </p:grpSpPr>
      <p:sp>
        <p:nvSpPr>
          <p:cNvPr id="1586" name="Google Shape;1586;g239d0c7562c_0_197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7" name="Google Shape;1587;g239d0c7562c_0_19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2"/>
        <p:cNvGrpSpPr/>
        <p:nvPr/>
      </p:nvGrpSpPr>
      <p:grpSpPr>
        <a:xfrm>
          <a:off x="0" y="0"/>
          <a:ext cx="0" cy="0"/>
          <a:chOff x="0" y="0"/>
          <a:chExt cx="0" cy="0"/>
        </a:xfrm>
      </p:grpSpPr>
      <p:sp>
        <p:nvSpPr>
          <p:cNvPr id="1593" name="Google Shape;1593;g239d0c7562c_0_114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4" name="Google Shape;1594;g239d0c7562c_0_1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g239d0c7562c_0_1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39d0c7562c_0_1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g239d0c7562c_0_122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8" name="Google Shape;1678;g239d0c7562c_0_1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g239d0c7562c_0_126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4" name="Google Shape;1714;g239d0c7562c_0_1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FA23: An older version of this slide (before the FA23 live lecture) incorrectly showed the distance to B (magenta number) as -1, when it should be -6.</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8"/>
        <p:cNvGrpSpPr/>
        <p:nvPr/>
      </p:nvGrpSpPr>
      <p:grpSpPr>
        <a:xfrm>
          <a:off x="0" y="0"/>
          <a:ext cx="0" cy="0"/>
          <a:chOff x="0" y="0"/>
          <a:chExt cx="0" cy="0"/>
        </a:xfrm>
      </p:grpSpPr>
      <p:sp>
        <p:nvSpPr>
          <p:cNvPr id="1749" name="Google Shape;1749;g239d0c7562c_0_129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0" name="Google Shape;1750;g239d0c7562c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FA23: An older version of this slide (before the FA23 live lecture) incorrectly showed the distance to B (magenta number) as 1, when it should be 6.</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2"/>
        <p:cNvGrpSpPr/>
        <p:nvPr/>
      </p:nvGrpSpPr>
      <p:grpSpPr>
        <a:xfrm>
          <a:off x="0" y="0"/>
          <a:ext cx="0" cy="0"/>
          <a:chOff x="0" y="0"/>
          <a:chExt cx="0" cy="0"/>
        </a:xfrm>
      </p:grpSpPr>
      <p:sp>
        <p:nvSpPr>
          <p:cNvPr id="1773" name="Google Shape;1773;g239d0c7562c_0_132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4" name="Google Shape;1774;g239d0c7562c_0_1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8"/>
        <p:cNvGrpSpPr/>
        <p:nvPr/>
      </p:nvGrpSpPr>
      <p:grpSpPr>
        <a:xfrm>
          <a:off x="0" y="0"/>
          <a:ext cx="0" cy="0"/>
          <a:chOff x="0" y="0"/>
          <a:chExt cx="0" cy="0"/>
        </a:xfrm>
      </p:grpSpPr>
      <p:sp>
        <p:nvSpPr>
          <p:cNvPr id="1779" name="Google Shape;1779;g239d0c7562c_0_132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0" name="Google Shape;1780;g239d0c7562c_0_1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p:cNvGrpSpPr/>
        <p:nvPr/>
      </p:nvGrpSpPr>
      <p:grpSpPr>
        <a:xfrm>
          <a:off x="0" y="0"/>
          <a:ext cx="0" cy="0"/>
          <a:chOff x="0" y="0"/>
          <a:chExt cx="0" cy="0"/>
        </a:xfrm>
      </p:grpSpPr>
      <p:sp>
        <p:nvSpPr>
          <p:cNvPr id="1785" name="Google Shape;1785;g239d0c7562c_0_1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6" name="Google Shape;1786;g239d0c7562c_0_1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0"/>
        <p:cNvGrpSpPr/>
        <p:nvPr/>
      </p:nvGrpSpPr>
      <p:grpSpPr>
        <a:xfrm>
          <a:off x="0" y="0"/>
          <a:ext cx="0" cy="0"/>
          <a:chOff x="0" y="0"/>
          <a:chExt cx="0" cy="0"/>
        </a:xfrm>
      </p:grpSpPr>
      <p:sp>
        <p:nvSpPr>
          <p:cNvPr id="1791" name="Google Shape;1791;g239d0c7562c_0_197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2" name="Google Shape;1792;g239d0c7562c_0_1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7"/>
        <p:cNvGrpSpPr/>
        <p:nvPr/>
      </p:nvGrpSpPr>
      <p:grpSpPr>
        <a:xfrm>
          <a:off x="0" y="0"/>
          <a:ext cx="0" cy="0"/>
          <a:chOff x="0" y="0"/>
          <a:chExt cx="0" cy="0"/>
        </a:xfrm>
      </p:grpSpPr>
      <p:sp>
        <p:nvSpPr>
          <p:cNvPr id="1798" name="Google Shape;1798;g239d0c7562c_0_13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9" name="Google Shape;1799;g239d0c7562c_0_1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g239d0c7562c_0_136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4" name="Google Shape;1824;g239d0c7562c_0_1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7"/>
        <p:cNvGrpSpPr/>
        <p:nvPr/>
      </p:nvGrpSpPr>
      <p:grpSpPr>
        <a:xfrm>
          <a:off x="0" y="0"/>
          <a:ext cx="0" cy="0"/>
          <a:chOff x="0" y="0"/>
          <a:chExt cx="0" cy="0"/>
        </a:xfrm>
      </p:grpSpPr>
      <p:sp>
        <p:nvSpPr>
          <p:cNvPr id="1848" name="Google Shape;1848;g239d0c7562c_0_138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9" name="Google Shape;1849;g239d0c7562c_0_1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3"/>
        <p:cNvGrpSpPr/>
        <p:nvPr/>
      </p:nvGrpSpPr>
      <p:grpSpPr>
        <a:xfrm>
          <a:off x="0" y="0"/>
          <a:ext cx="0" cy="0"/>
          <a:chOff x="0" y="0"/>
          <a:chExt cx="0" cy="0"/>
        </a:xfrm>
      </p:grpSpPr>
      <p:sp>
        <p:nvSpPr>
          <p:cNvPr id="1854" name="Google Shape;1854;g239d0c7562c_0_139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5" name="Google Shape;1855;g239d0c7562c_0_1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g25d1151011e_2_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25d1151011e_2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6"/>
        <p:cNvGrpSpPr/>
        <p:nvPr/>
      </p:nvGrpSpPr>
      <p:grpSpPr>
        <a:xfrm>
          <a:off x="0" y="0"/>
          <a:ext cx="0" cy="0"/>
          <a:chOff x="0" y="0"/>
          <a:chExt cx="0" cy="0"/>
        </a:xfrm>
      </p:grpSpPr>
      <p:sp>
        <p:nvSpPr>
          <p:cNvPr id="1867" name="Google Shape;1867;g239d0c7562c_0_140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8" name="Google Shape;1868;g239d0c7562c_0_1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g239d0c7562c_0_140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239d0c7562c_0_1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g239d0c7562c_0_141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4" name="Google Shape;1884;g239d0c7562c_0_1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1"/>
        <p:cNvGrpSpPr/>
        <p:nvPr/>
      </p:nvGrpSpPr>
      <p:grpSpPr>
        <a:xfrm>
          <a:off x="0" y="0"/>
          <a:ext cx="0" cy="0"/>
          <a:chOff x="0" y="0"/>
          <a:chExt cx="0" cy="0"/>
        </a:xfrm>
      </p:grpSpPr>
      <p:sp>
        <p:nvSpPr>
          <p:cNvPr id="1922" name="Google Shape;1922;g239d0c7562c_0_145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3" name="Google Shape;1923;g239d0c7562c_0_1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g239d0c7562c_0_149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2" name="Google Shape;1962;g239d0c7562c_0_1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9"/>
        <p:cNvGrpSpPr/>
        <p:nvPr/>
      </p:nvGrpSpPr>
      <p:grpSpPr>
        <a:xfrm>
          <a:off x="0" y="0"/>
          <a:ext cx="0" cy="0"/>
          <a:chOff x="0" y="0"/>
          <a:chExt cx="0" cy="0"/>
        </a:xfrm>
      </p:grpSpPr>
      <p:sp>
        <p:nvSpPr>
          <p:cNvPr id="2000" name="Google Shape;2000;g239d0c7562c_0_157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1" name="Google Shape;2001;g239d0c7562c_0_1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5"/>
        <p:cNvGrpSpPr/>
        <p:nvPr/>
      </p:nvGrpSpPr>
      <p:grpSpPr>
        <a:xfrm>
          <a:off x="0" y="0"/>
          <a:ext cx="0" cy="0"/>
          <a:chOff x="0" y="0"/>
          <a:chExt cx="0" cy="0"/>
        </a:xfrm>
      </p:grpSpPr>
      <p:sp>
        <p:nvSpPr>
          <p:cNvPr id="2026" name="Google Shape;2026;g239d0c7562c_0_159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7" name="Google Shape;2027;g239d0c7562c_0_1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1"/>
        <p:cNvGrpSpPr/>
        <p:nvPr/>
      </p:nvGrpSpPr>
      <p:grpSpPr>
        <a:xfrm>
          <a:off x="0" y="0"/>
          <a:ext cx="0" cy="0"/>
          <a:chOff x="0" y="0"/>
          <a:chExt cx="0" cy="0"/>
        </a:xfrm>
      </p:grpSpPr>
      <p:sp>
        <p:nvSpPr>
          <p:cNvPr id="2032" name="Google Shape;2032;g239d0c7562c_0_160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3" name="Google Shape;2033;g239d0c7562c_0_1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Slip to 4 minute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2" name="Google Shape;12;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9" name="Google Shape;29;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0" name="Google Shape;30;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4" name="Google Shape;3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6" name="Google Shape;36;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7" name="Google Shape;37;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8" name="Google Shape;38;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2" name="Google Shape;42;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3" name="Google Shape;43;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4" name="Google Shape;44;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5" name="Google Shape;45;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1" name="Google Shape;51;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2" name="Google Shape;52;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3" name="Google Shape;53;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0" name="Google Shape;60;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61" name="Google Shape;61;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2" name="Google Shape;62;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3" name="Google Shape;63;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9" name="Google Shape;69;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70" name="Google Shape;70;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1" name="Google Shape;71;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2" name="Google Shape;72;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8" name="Google Shape;7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80" name="Google Shape;80;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3" name="Google Shape;8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7" name="Google Shape;8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1" name="Google Shape;91;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2" name="Google Shape;9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15"/>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97" name="Google Shape;97;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
        <p:cNvGrpSpPr/>
        <p:nvPr/>
      </p:nvGrpSpPr>
      <p:grpSpPr>
        <a:xfrm>
          <a:off x="0" y="0"/>
          <a:ext cx="0" cy="0"/>
          <a:chOff x="0" y="0"/>
          <a:chExt cx="0" cy="0"/>
        </a:xfrm>
      </p:grpSpPr>
      <p:sp>
        <p:nvSpPr>
          <p:cNvPr id="99" name="Google Shape;9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00"/>
        <p:cNvGrpSpPr/>
        <p:nvPr/>
      </p:nvGrpSpPr>
      <p:grpSpPr>
        <a:xfrm>
          <a:off x="0" y="0"/>
          <a:ext cx="0" cy="0"/>
          <a:chOff x="0" y="0"/>
          <a:chExt cx="0" cy="0"/>
        </a:xfrm>
      </p:grpSpPr>
      <p:sp>
        <p:nvSpPr>
          <p:cNvPr id="101" name="Google Shape;10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8" name="Google Shape;108;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9" name="Google Shape;109;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3" name="Google Shape;113;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4" name="Google Shape;114;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5" name="Google Shape;11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0" name="Google Shape;120;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1" name="Google Shape;121;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6" name="Google Shape;126;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7" name="Google Shape;127;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8" name="Google Shape;128;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9" name="Google Shape;129;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3" name="Google Shape;13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7" name="Google Shape;137;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8" name="Google Shape;138;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9" name="Google Shape;139;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4">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presentation/d/1mr841rMgVAffqi-TfL--gZPmEjAM5rpBW7MzrmJPuaU/edit#slide=id.g25f3bf5f9c7_0_1020"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docs.google.com/presentation/d/1UHAU4IgEPYO3AJKYANd8XN8VDw5KZlt86HMLm9mJyyY/edit#slide=id.g50bd245468_0_1100" TargetMode="External"/><Relationship Id="rId5" Type="http://schemas.openxmlformats.org/officeDocument/2006/relationships/hyperlink" Target="https://docs.google.com/presentation/d/1UHAU4IgEPYO3AJKYANd8XN8VDw5KZlt86HMLm9mJyyY/edit#slide=id.g50bd245468_0_1223" TargetMode="External"/><Relationship Id="rId4" Type="http://schemas.openxmlformats.org/officeDocument/2006/relationships/hyperlink" Target="https://docs.google.com/presentation/d/1mHaFA7w9G-wsEPLu-HSpqjm3EYAhDbhrXdcWUJdn4N8/edit#slide=id.g239d0124e83_0_0"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presentation/d/102XAttadgxd3dW78_ymTpA2mK4xT5pPDz6DDShafJUg/edit#slide=id.g25f5241fa9b_0_1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docs.google.com/presentation/d/102XAttadgxd3dW78_ymTpA2mK4xT5pPDz6DDShafJUg/edit#slide=id.g25f5241fa9b_0_1437" TargetMode="External"/><Relationship Id="rId4" Type="http://schemas.openxmlformats.org/officeDocument/2006/relationships/hyperlink" Target="https://docs.google.com/presentation/d/102XAttadgxd3dW78_ymTpA2mK4xT5pPDz6DDShafJUg/edit#slide=id.g25f5241fa9b_0_545"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hyperlink" Target="https://algs4.cs.princeton.edu/44sp/AcyclicSP.java" TargetMode="External"/><Relationship Id="rId4" Type="http://schemas.openxmlformats.org/officeDocument/2006/relationships/slide" Target="slide2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hyperlink" Target="https://en.wikipedia.org/wiki/Mathematical_maturity"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hyperlink" Target="https://algs4.cs.princeton.edu/44sp/AcyclicSP.java" TargetMode="External"/><Relationship Id="rId4" Type="http://schemas.openxmlformats.org/officeDocument/2006/relationships/slide" Target="slide2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hyperlink" Target="https://en.wikipedia.org/wiki/Polynomial-time_reduction"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hyperlink" Target="http://www.youtube.com/watch?v=9vpqilhW9uI" TargetMode="External"/><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5" name="Google Shape;145;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marL="0" lvl="0" indent="0" algn="l" rtl="0">
              <a:spcBef>
                <a:spcPts val="600"/>
              </a:spcBef>
              <a:spcAft>
                <a:spcPts val="0"/>
              </a:spcAft>
              <a:buNone/>
            </a:pPr>
            <a:r>
              <a:rPr lang="en" sz="1600">
                <a:latin typeface="Roboto Light"/>
                <a:ea typeface="Roboto Light"/>
                <a:cs typeface="Roboto Light"/>
                <a:sym typeface="Roboto Light"/>
              </a:rPr>
              <a:t>Slides credit: Josh Hug</a:t>
            </a:r>
            <a:endParaRPr sz="1600">
              <a:solidFill>
                <a:srgbClr val="000000"/>
              </a:solidFill>
              <a:latin typeface="Roboto Light"/>
              <a:ea typeface="Roboto Light"/>
              <a:cs typeface="Roboto Light"/>
              <a:sym typeface="Roboto Light"/>
            </a:endParaRPr>
          </a:p>
        </p:txBody>
      </p:sp>
      <p:sp>
        <p:nvSpPr>
          <p:cNvPr id="146" name="Google Shape;146;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Directed Acyclic Graphs</a:t>
            </a:r>
            <a:endParaRPr sz="3600">
              <a:solidFill>
                <a:srgbClr val="0B5394"/>
              </a:solidFill>
              <a:latin typeface="Roboto Medium"/>
              <a:ea typeface="Roboto Medium"/>
              <a:cs typeface="Roboto Medium"/>
              <a:sym typeface="Roboto Medium"/>
            </a:endParaRPr>
          </a:p>
        </p:txBody>
      </p:sp>
      <p:sp>
        <p:nvSpPr>
          <p:cNvPr id="147" name="Google Shape;147;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28 (Graphs 5)</a:t>
            </a:r>
            <a:endParaRPr sz="1200">
              <a:solidFill>
                <a:srgbClr val="BF9000"/>
              </a:solidFill>
              <a:latin typeface="Roboto Medium"/>
              <a:ea typeface="Roboto Medium"/>
              <a:cs typeface="Roboto Medium"/>
              <a:sym typeface="Roboto Medium"/>
            </a:endParaRPr>
          </a:p>
        </p:txBody>
      </p:sp>
      <p:sp>
        <p:nvSpPr>
          <p:cNvPr id="148" name="Google Shape;148;p24"/>
          <p:cNvSpPr/>
          <p:nvPr/>
        </p:nvSpPr>
        <p:spPr>
          <a:xfrm>
            <a:off x="5707327"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4"/>
          <p:cNvSpPr/>
          <p:nvPr/>
        </p:nvSpPr>
        <p:spPr>
          <a:xfrm>
            <a:off x="7017211"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4"/>
          <p:cNvSpPr/>
          <p:nvPr/>
        </p:nvSpPr>
        <p:spPr>
          <a:xfrm>
            <a:off x="3742532"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4"/>
          <p:cNvSpPr/>
          <p:nvPr/>
        </p:nvSpPr>
        <p:spPr>
          <a:xfrm>
            <a:off x="6362275"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4"/>
          <p:cNvSpPr/>
          <p:nvPr/>
        </p:nvSpPr>
        <p:spPr>
          <a:xfrm>
            <a:off x="7672147"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4"/>
          <p:cNvSpPr/>
          <p:nvPr/>
        </p:nvSpPr>
        <p:spPr>
          <a:xfrm>
            <a:off x="4397468"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4"/>
          <p:cNvSpPr/>
          <p:nvPr/>
        </p:nvSpPr>
        <p:spPr>
          <a:xfrm>
            <a:off x="5052404"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4"/>
          <p:cNvSpPr/>
          <p:nvPr/>
        </p:nvSpPr>
        <p:spPr>
          <a:xfrm>
            <a:off x="8382157" y="13684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6" name="Google Shape;156;p24"/>
          <p:cNvCxnSpPr>
            <a:stCxn id="150" idx="3"/>
            <a:endCxn id="153" idx="1"/>
          </p:cNvCxnSpPr>
          <p:nvPr/>
        </p:nvCxnSpPr>
        <p:spPr>
          <a:xfrm>
            <a:off x="4059932" y="1494900"/>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157" name="Google Shape;157;p24"/>
          <p:cNvCxnSpPr>
            <a:stCxn id="150" idx="0"/>
            <a:endCxn id="151" idx="0"/>
          </p:cNvCxnSpPr>
          <p:nvPr/>
        </p:nvCxnSpPr>
        <p:spPr>
          <a:xfrm rot="-5400000" flipH="1">
            <a:off x="5210732" y="58950"/>
            <a:ext cx="600" cy="26196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158" name="Google Shape;158;p24"/>
          <p:cNvCxnSpPr>
            <a:stCxn id="153" idx="3"/>
            <a:endCxn id="154" idx="1"/>
          </p:cNvCxnSpPr>
          <p:nvPr/>
        </p:nvCxnSpPr>
        <p:spPr>
          <a:xfrm>
            <a:off x="4714868" y="1494900"/>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159" name="Google Shape;159;p24"/>
          <p:cNvCxnSpPr>
            <a:stCxn id="153" idx="2"/>
            <a:endCxn id="152" idx="2"/>
          </p:cNvCxnSpPr>
          <p:nvPr/>
        </p:nvCxnSpPr>
        <p:spPr>
          <a:xfrm rot="-5400000" flipH="1">
            <a:off x="6193268" y="-15750"/>
            <a:ext cx="600" cy="3274800"/>
          </a:xfrm>
          <a:prstGeom prst="curvedConnector3">
            <a:avLst>
              <a:gd name="adj1" fmla="val 82562500"/>
            </a:avLst>
          </a:prstGeom>
          <a:noFill/>
          <a:ln w="19050" cap="flat" cmpd="sng">
            <a:solidFill>
              <a:schemeClr val="dk2"/>
            </a:solidFill>
            <a:prstDash val="solid"/>
            <a:round/>
            <a:headEnd type="none" w="med" len="med"/>
            <a:tailEnd type="triangle" w="med" len="med"/>
          </a:ln>
        </p:spPr>
      </p:cxnSp>
      <p:cxnSp>
        <p:nvCxnSpPr>
          <p:cNvPr id="160" name="Google Shape;160;p24"/>
          <p:cNvCxnSpPr>
            <a:stCxn id="148" idx="3"/>
            <a:endCxn id="151" idx="1"/>
          </p:cNvCxnSpPr>
          <p:nvPr/>
        </p:nvCxnSpPr>
        <p:spPr>
          <a:xfrm>
            <a:off x="6024727" y="1494900"/>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161" name="Google Shape;161;p24"/>
          <p:cNvCxnSpPr>
            <a:stCxn id="148" idx="2"/>
            <a:endCxn id="149" idx="2"/>
          </p:cNvCxnSpPr>
          <p:nvPr/>
        </p:nvCxnSpPr>
        <p:spPr>
          <a:xfrm rot="-5400000" flipH="1">
            <a:off x="6520627" y="966750"/>
            <a:ext cx="600" cy="13098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162" name="Google Shape;162;p24"/>
          <p:cNvCxnSpPr>
            <a:stCxn id="149" idx="3"/>
            <a:endCxn id="152" idx="1"/>
          </p:cNvCxnSpPr>
          <p:nvPr/>
        </p:nvCxnSpPr>
        <p:spPr>
          <a:xfrm>
            <a:off x="7334611" y="1494900"/>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163" name="Google Shape;163;p24"/>
          <p:cNvCxnSpPr>
            <a:stCxn id="151" idx="0"/>
            <a:endCxn id="152" idx="0"/>
          </p:cNvCxnSpPr>
          <p:nvPr/>
        </p:nvCxnSpPr>
        <p:spPr>
          <a:xfrm rot="-5400000" flipH="1">
            <a:off x="7175575" y="713850"/>
            <a:ext cx="600" cy="13098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164" name="Google Shape;164;p24"/>
          <p:cNvCxnSpPr>
            <a:stCxn id="152" idx="3"/>
            <a:endCxn id="155" idx="1"/>
          </p:cNvCxnSpPr>
          <p:nvPr/>
        </p:nvCxnSpPr>
        <p:spPr>
          <a:xfrm>
            <a:off x="7989547" y="1494900"/>
            <a:ext cx="392700" cy="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Goals of Today</a:t>
            </a:r>
            <a:endParaRPr/>
          </a:p>
        </p:txBody>
      </p:sp>
      <p:sp>
        <p:nvSpPr>
          <p:cNvPr id="170" name="Google Shape;170;p2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Today, to practice our problem solving skills, we’ll work through some very challenging A-level problems using the tools we’ve already learned about.</a:t>
            </a:r>
            <a:endParaRPr/>
          </a:p>
          <a:p>
            <a:pPr marL="0" lvl="0" indent="0" algn="l" rtl="0">
              <a:spcBef>
                <a:spcPts val="600"/>
              </a:spcBef>
              <a:spcAft>
                <a:spcPts val="0"/>
              </a:spcAft>
              <a:buNone/>
            </a:pPr>
            <a:endParaRPr/>
          </a:p>
          <a:p>
            <a:pPr marL="0" lvl="0" indent="0" algn="l" rtl="0">
              <a:spcBef>
                <a:spcPts val="600"/>
              </a:spcBef>
              <a:spcAft>
                <a:spcPts val="0"/>
              </a:spcAft>
              <a:buNone/>
            </a:pPr>
            <a:r>
              <a:rPr lang="en"/>
              <a:t>Will focus on graphs, but the ideas today are more general.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Problems So Far</a:t>
            </a:r>
            <a:endParaRPr/>
          </a:p>
        </p:txBody>
      </p:sp>
      <p:graphicFrame>
        <p:nvGraphicFramePr>
          <p:cNvPr id="176" name="Google Shape;176;p26"/>
          <p:cNvGraphicFramePr/>
          <p:nvPr/>
        </p:nvGraphicFramePr>
        <p:xfrm>
          <a:off x="592488" y="688161"/>
          <a:ext cx="3000000" cy="3000000"/>
        </p:xfrm>
        <a:graphic>
          <a:graphicData uri="http://schemas.openxmlformats.org/drawingml/2006/table">
            <a:tbl>
              <a:tblPr>
                <a:noFill/>
                <a:tableStyleId>{EC9DA46A-B2CD-47DD-98B5-D3AAC6A04B5E}</a:tableStyleId>
              </a:tblPr>
              <a:tblGrid>
                <a:gridCol w="1457800">
                  <a:extLst>
                    <a:ext uri="{9D8B030D-6E8A-4147-A177-3AD203B41FA5}">
                      <a16:colId xmlns:a16="http://schemas.microsoft.com/office/drawing/2014/main" val="20000"/>
                    </a:ext>
                  </a:extLst>
                </a:gridCol>
                <a:gridCol w="2762325">
                  <a:extLst>
                    <a:ext uri="{9D8B030D-6E8A-4147-A177-3AD203B41FA5}">
                      <a16:colId xmlns:a16="http://schemas.microsoft.com/office/drawing/2014/main" val="20001"/>
                    </a:ext>
                  </a:extLst>
                </a:gridCol>
                <a:gridCol w="2082725">
                  <a:extLst>
                    <a:ext uri="{9D8B030D-6E8A-4147-A177-3AD203B41FA5}">
                      <a16:colId xmlns:a16="http://schemas.microsoft.com/office/drawing/2014/main" val="20002"/>
                    </a:ext>
                  </a:extLst>
                </a:gridCol>
                <a:gridCol w="1906475">
                  <a:extLst>
                    <a:ext uri="{9D8B030D-6E8A-4147-A177-3AD203B41FA5}">
                      <a16:colId xmlns:a16="http://schemas.microsoft.com/office/drawing/2014/main" val="20003"/>
                    </a:ext>
                  </a:extLst>
                </a:gridCol>
              </a:tblGrid>
              <a:tr h="426375">
                <a:tc>
                  <a:txBody>
                    <a:bodyPr/>
                    <a:lstStyle/>
                    <a:p>
                      <a:pPr marL="0" lvl="0" indent="0" algn="l" rtl="0">
                        <a:spcBef>
                          <a:spcPts val="0"/>
                        </a:spcBef>
                        <a:spcAft>
                          <a:spcPts val="0"/>
                        </a:spcAft>
                        <a:buNone/>
                      </a:pPr>
                      <a:r>
                        <a:rPr lang="en">
                          <a:latin typeface="Roboto"/>
                          <a:ea typeface="Roboto"/>
                          <a:cs typeface="Roboto"/>
                          <a:sym typeface="Roboto"/>
                        </a:rPr>
                        <a:t>Problem</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Problem Description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Solution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Efficiency</a:t>
                      </a:r>
                      <a:endParaRPr>
                        <a:latin typeface="Roboto"/>
                        <a:ea typeface="Roboto"/>
                        <a:cs typeface="Roboto"/>
                        <a:sym typeface="Roboto"/>
                      </a:endParaRPr>
                    </a:p>
                  </a:txBody>
                  <a:tcPr marL="91425" marR="91425" marT="91425" marB="91425"/>
                </a:tc>
                <a:extLst>
                  <a:ext uri="{0D108BD9-81ED-4DB2-BD59-A6C34878D82A}">
                    <a16:rowId xmlns:a16="http://schemas.microsoft.com/office/drawing/2014/main" val="10000"/>
                  </a:ext>
                </a:extLst>
              </a:tr>
              <a:tr h="647800">
                <a:tc>
                  <a:txBody>
                    <a:bodyPr/>
                    <a:lstStyle/>
                    <a:p>
                      <a:pPr marL="0" lvl="0" indent="0" algn="l" rtl="0">
                        <a:spcBef>
                          <a:spcPts val="0"/>
                        </a:spcBef>
                        <a:spcAft>
                          <a:spcPts val="0"/>
                        </a:spcAft>
                        <a:buNone/>
                      </a:pPr>
                      <a:r>
                        <a:rPr lang="en">
                          <a:latin typeface="Roboto"/>
                          <a:ea typeface="Roboto"/>
                          <a:cs typeface="Roboto"/>
                          <a:sym typeface="Roboto"/>
                        </a:rPr>
                        <a:t>paths</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Find a path from s to every reachable vertex.</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DepthFirstPaths.java</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3"/>
                        </a:rPr>
                        <a:t>Demo</a:t>
                      </a:r>
                      <a:endParaRPr>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a:latin typeface="Roboto"/>
                          <a:ea typeface="Roboto"/>
                          <a:cs typeface="Roboto"/>
                          <a:sym typeface="Roboto"/>
                        </a:rPr>
                        <a:t>O(V+E) time</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Θ(V) space</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1"/>
                  </a:ext>
                </a:extLst>
              </a:tr>
              <a:tr h="647800">
                <a:tc>
                  <a:txBody>
                    <a:bodyPr/>
                    <a:lstStyle/>
                    <a:p>
                      <a:pPr marL="0" lvl="0" indent="0" algn="l" rtl="0">
                        <a:spcBef>
                          <a:spcPts val="0"/>
                        </a:spcBef>
                        <a:spcAft>
                          <a:spcPts val="0"/>
                        </a:spcAft>
                        <a:buNone/>
                      </a:pPr>
                      <a:r>
                        <a:rPr lang="en">
                          <a:latin typeface="Roboto"/>
                          <a:ea typeface="Roboto"/>
                          <a:cs typeface="Roboto"/>
                          <a:sym typeface="Roboto"/>
                        </a:rPr>
                        <a:t>shortest paths</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Find the shortest path from s to every reachable vertex.</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BreadthFirstPaths.java</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4"/>
                        </a:rPr>
                        <a:t>Demo</a:t>
                      </a:r>
                      <a:endParaRPr>
                        <a:solidFill>
                          <a:schemeClr val="dk1"/>
                        </a:solidFill>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O(V+E) time</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Θ(V) space</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721300">
                <a:tc>
                  <a:txBody>
                    <a:bodyPr/>
                    <a:lstStyle/>
                    <a:p>
                      <a:pPr marL="0" lvl="0" indent="0" algn="l" rtl="0">
                        <a:spcBef>
                          <a:spcPts val="0"/>
                        </a:spcBef>
                        <a:spcAft>
                          <a:spcPts val="0"/>
                        </a:spcAft>
                        <a:buNone/>
                      </a:pPr>
                      <a:r>
                        <a:rPr lang="en">
                          <a:latin typeface="Roboto"/>
                          <a:ea typeface="Roboto"/>
                          <a:cs typeface="Roboto"/>
                          <a:sym typeface="Roboto"/>
                        </a:rPr>
                        <a:t>shortest weighted paths</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Find the shortest path, considering weights, from s to every reachable vertex.</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DijkstrasSP.java</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5"/>
                        </a:rPr>
                        <a:t>Demo</a:t>
                      </a:r>
                      <a:endParaRPr>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O(E log V) time</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Θ(V) space</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r h="873325">
                <a:tc>
                  <a:txBody>
                    <a:bodyPr/>
                    <a:lstStyle/>
                    <a:p>
                      <a:pPr marL="0" lvl="0" indent="0" algn="l" rtl="0">
                        <a:spcBef>
                          <a:spcPts val="0"/>
                        </a:spcBef>
                        <a:spcAft>
                          <a:spcPts val="0"/>
                        </a:spcAft>
                        <a:buNone/>
                      </a:pPr>
                      <a:r>
                        <a:rPr lang="en">
                          <a:latin typeface="Roboto"/>
                          <a:ea typeface="Roboto"/>
                          <a:cs typeface="Roboto"/>
                          <a:sym typeface="Roboto"/>
                        </a:rPr>
                        <a:t>shortest weighted path</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Find the shortest path, consider weights, from s to some target vertex</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A*: Same as Dijkstra’s but with h(v, goal) added to priority of each vertex.</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6"/>
                        </a:rPr>
                        <a:t>Demo</a:t>
                      </a:r>
                      <a:endParaRPr>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Time depends on heuristic.</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Θ(V) space</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Problems So Far</a:t>
            </a:r>
            <a:endParaRPr/>
          </a:p>
        </p:txBody>
      </p:sp>
      <p:graphicFrame>
        <p:nvGraphicFramePr>
          <p:cNvPr id="182" name="Google Shape;182;p27"/>
          <p:cNvGraphicFramePr/>
          <p:nvPr/>
        </p:nvGraphicFramePr>
        <p:xfrm>
          <a:off x="592488" y="688161"/>
          <a:ext cx="3000000" cy="3000000"/>
        </p:xfrm>
        <a:graphic>
          <a:graphicData uri="http://schemas.openxmlformats.org/drawingml/2006/table">
            <a:tbl>
              <a:tblPr>
                <a:noFill/>
                <a:tableStyleId>{EC9DA46A-B2CD-47DD-98B5-D3AAC6A04B5E}</a:tableStyleId>
              </a:tblPr>
              <a:tblGrid>
                <a:gridCol w="1457800">
                  <a:extLst>
                    <a:ext uri="{9D8B030D-6E8A-4147-A177-3AD203B41FA5}">
                      <a16:colId xmlns:a16="http://schemas.microsoft.com/office/drawing/2014/main" val="20000"/>
                    </a:ext>
                  </a:extLst>
                </a:gridCol>
                <a:gridCol w="2762325">
                  <a:extLst>
                    <a:ext uri="{9D8B030D-6E8A-4147-A177-3AD203B41FA5}">
                      <a16:colId xmlns:a16="http://schemas.microsoft.com/office/drawing/2014/main" val="20001"/>
                    </a:ext>
                  </a:extLst>
                </a:gridCol>
                <a:gridCol w="2082725">
                  <a:extLst>
                    <a:ext uri="{9D8B030D-6E8A-4147-A177-3AD203B41FA5}">
                      <a16:colId xmlns:a16="http://schemas.microsoft.com/office/drawing/2014/main" val="20002"/>
                    </a:ext>
                  </a:extLst>
                </a:gridCol>
                <a:gridCol w="1906475">
                  <a:extLst>
                    <a:ext uri="{9D8B030D-6E8A-4147-A177-3AD203B41FA5}">
                      <a16:colId xmlns:a16="http://schemas.microsoft.com/office/drawing/2014/main" val="20003"/>
                    </a:ext>
                  </a:extLst>
                </a:gridCol>
              </a:tblGrid>
              <a:tr h="426375">
                <a:tc>
                  <a:txBody>
                    <a:bodyPr/>
                    <a:lstStyle/>
                    <a:p>
                      <a:pPr marL="0" lvl="0" indent="0" algn="l" rtl="0">
                        <a:spcBef>
                          <a:spcPts val="0"/>
                        </a:spcBef>
                        <a:spcAft>
                          <a:spcPts val="0"/>
                        </a:spcAft>
                        <a:buNone/>
                      </a:pPr>
                      <a:r>
                        <a:rPr lang="en">
                          <a:latin typeface="Roboto"/>
                          <a:ea typeface="Roboto"/>
                          <a:cs typeface="Roboto"/>
                          <a:sym typeface="Roboto"/>
                        </a:rPr>
                        <a:t>Problem</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Problem Description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Solution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Efficiency</a:t>
                      </a:r>
                      <a:endParaRPr>
                        <a:latin typeface="Roboto"/>
                        <a:ea typeface="Roboto"/>
                        <a:cs typeface="Roboto"/>
                        <a:sym typeface="Roboto"/>
                      </a:endParaRPr>
                    </a:p>
                  </a:txBody>
                  <a:tcPr marL="91425" marR="91425" marT="91425" marB="91425"/>
                </a:tc>
                <a:extLst>
                  <a:ext uri="{0D108BD9-81ED-4DB2-BD59-A6C34878D82A}">
                    <a16:rowId xmlns:a16="http://schemas.microsoft.com/office/drawing/2014/main" val="10000"/>
                  </a:ext>
                </a:extLst>
              </a:tr>
              <a:tr h="647800">
                <a:tc>
                  <a:txBody>
                    <a:bodyPr/>
                    <a:lstStyle/>
                    <a:p>
                      <a:pPr marL="0" lvl="0" indent="0" algn="l" rtl="0">
                        <a:spcBef>
                          <a:spcPts val="0"/>
                        </a:spcBef>
                        <a:spcAft>
                          <a:spcPts val="0"/>
                        </a:spcAft>
                        <a:buNone/>
                      </a:pPr>
                      <a:r>
                        <a:rPr lang="en">
                          <a:latin typeface="Roboto"/>
                          <a:ea typeface="Roboto"/>
                          <a:cs typeface="Roboto"/>
                          <a:sym typeface="Roboto"/>
                        </a:rPr>
                        <a:t>minimum spanning tree</a:t>
                      </a:r>
                      <a:endParaRPr>
                        <a:latin typeface="Roboto"/>
                        <a:ea typeface="Roboto"/>
                        <a:cs typeface="Roboto"/>
                        <a:sym typeface="Roboto"/>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a:ea typeface="Roboto"/>
                          <a:cs typeface="Roboto"/>
                          <a:sym typeface="Roboto"/>
                        </a:rPr>
                        <a:t>Find a minimum spanning tree.</a:t>
                      </a:r>
                      <a:endParaRPr>
                        <a:latin typeface="Roboto"/>
                        <a:ea typeface="Roboto"/>
                        <a:cs typeface="Roboto"/>
                        <a:sym typeface="Roboto"/>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LazyPrimMST.java</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3"/>
                        </a:rPr>
                        <a:t>Demo</a:t>
                      </a:r>
                      <a:endParaRPr>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
                          <a:latin typeface="Roboto"/>
                          <a:ea typeface="Roboto"/>
                          <a:cs typeface="Roboto"/>
                          <a:sym typeface="Roboto"/>
                        </a:rPr>
                        <a:t>O(???) time</a:t>
                      </a:r>
                      <a:endParaRPr>
                        <a:latin typeface="Roboto"/>
                        <a:ea typeface="Roboto"/>
                        <a:cs typeface="Roboto"/>
                        <a:sym typeface="Roboto"/>
                      </a:endParaRPr>
                    </a:p>
                    <a:p>
                      <a:pPr marL="0" lvl="0" indent="0" algn="ctr" rtl="0">
                        <a:spcBef>
                          <a:spcPts val="0"/>
                        </a:spcBef>
                        <a:spcAft>
                          <a:spcPts val="0"/>
                        </a:spcAft>
                        <a:buNone/>
                      </a:pPr>
                      <a:r>
                        <a:rPr lang="en">
                          <a:latin typeface="Roboto"/>
                          <a:ea typeface="Roboto"/>
                          <a:cs typeface="Roboto"/>
                          <a:sym typeface="Roboto"/>
                        </a:rPr>
                        <a:t>Θ(???) space</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1"/>
                  </a:ext>
                </a:extLst>
              </a:tr>
              <a:tr h="647800">
                <a:tc>
                  <a:txBody>
                    <a:bodyPr/>
                    <a:lstStyle/>
                    <a:p>
                      <a:pPr marL="0" lvl="0" indent="0" algn="l" rtl="0">
                        <a:spcBef>
                          <a:spcPts val="0"/>
                        </a:spcBef>
                        <a:spcAft>
                          <a:spcPts val="0"/>
                        </a:spcAft>
                        <a:buNone/>
                      </a:pPr>
                      <a:r>
                        <a:rPr lang="en">
                          <a:latin typeface="Roboto"/>
                          <a:ea typeface="Roboto"/>
                          <a:cs typeface="Roboto"/>
                          <a:sym typeface="Roboto"/>
                        </a:rPr>
                        <a:t>minimum spanning tree</a:t>
                      </a:r>
                      <a:endParaRPr>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a:ea typeface="Roboto"/>
                          <a:cs typeface="Roboto"/>
                          <a:sym typeface="Roboto"/>
                        </a:rPr>
                        <a:t>Find a minimum spanning tree.</a:t>
                      </a:r>
                      <a:endParaRPr>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a:ea typeface="Roboto"/>
                          <a:cs typeface="Roboto"/>
                          <a:sym typeface="Roboto"/>
                        </a:rPr>
                        <a:t>PrimMST.java</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4"/>
                        </a:rPr>
                        <a:t>Demo</a:t>
                      </a:r>
                      <a:endParaRPr>
                        <a:solidFill>
                          <a:schemeClr val="dk1"/>
                        </a:solidFill>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O(E log V) time</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Θ(V) space</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721300">
                <a:tc>
                  <a:txBody>
                    <a:bodyPr/>
                    <a:lstStyle/>
                    <a:p>
                      <a:pPr marL="0" lvl="0" indent="0" algn="l" rtl="0">
                        <a:spcBef>
                          <a:spcPts val="0"/>
                        </a:spcBef>
                        <a:spcAft>
                          <a:spcPts val="0"/>
                        </a:spcAft>
                        <a:buNone/>
                      </a:pPr>
                      <a:r>
                        <a:rPr lang="en">
                          <a:latin typeface="Roboto"/>
                          <a:ea typeface="Roboto"/>
                          <a:cs typeface="Roboto"/>
                          <a:sym typeface="Roboto"/>
                        </a:rPr>
                        <a:t>minimum spanning tree</a:t>
                      </a:r>
                      <a:endParaRPr>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a:ea typeface="Roboto"/>
                          <a:cs typeface="Roboto"/>
                          <a:sym typeface="Roboto"/>
                        </a:rPr>
                        <a:t>Find a minimum spanning tree.</a:t>
                      </a:r>
                      <a:endParaRPr>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a:ea typeface="Roboto"/>
                          <a:cs typeface="Roboto"/>
                          <a:sym typeface="Roboto"/>
                        </a:rPr>
                        <a:t>KruskalMST.java</a:t>
                      </a:r>
                      <a:endParaRPr>
                        <a:latin typeface="Roboto"/>
                        <a:ea typeface="Roboto"/>
                        <a:cs typeface="Roboto"/>
                        <a:sym typeface="Roboto"/>
                      </a:endParaRPr>
                    </a:p>
                    <a:p>
                      <a:pPr marL="0" lvl="0" indent="0" algn="l" rtl="0">
                        <a:spcBef>
                          <a:spcPts val="0"/>
                        </a:spcBef>
                        <a:spcAft>
                          <a:spcPts val="0"/>
                        </a:spcAft>
                        <a:buNone/>
                      </a:pPr>
                      <a:r>
                        <a:rPr lang="en" u="sng">
                          <a:solidFill>
                            <a:schemeClr val="hlink"/>
                          </a:solidFill>
                          <a:latin typeface="Roboto"/>
                          <a:ea typeface="Roboto"/>
                          <a:cs typeface="Roboto"/>
                          <a:sym typeface="Roboto"/>
                          <a:hlinkClick r:id="rId5"/>
                        </a:rPr>
                        <a:t>Demo</a:t>
                      </a:r>
                      <a:endParaRPr>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O(E log E) time</a:t>
                      </a:r>
                      <a:endParaRPr>
                        <a:solidFill>
                          <a:schemeClr val="dk1"/>
                        </a:solidFill>
                        <a:latin typeface="Roboto"/>
                        <a:ea typeface="Roboto"/>
                        <a:cs typeface="Roboto"/>
                        <a:sym typeface="Roboto"/>
                      </a:endParaRPr>
                    </a:p>
                    <a:p>
                      <a:pPr marL="0" lvl="0" indent="0" algn="ctr" rtl="0">
                        <a:spcBef>
                          <a:spcPts val="0"/>
                        </a:spcBef>
                        <a:spcAft>
                          <a:spcPts val="0"/>
                        </a:spcAft>
                        <a:buNone/>
                      </a:pPr>
                      <a:r>
                        <a:rPr lang="en">
                          <a:solidFill>
                            <a:schemeClr val="dk1"/>
                          </a:solidFill>
                          <a:latin typeface="Roboto"/>
                          <a:ea typeface="Roboto"/>
                          <a:cs typeface="Roboto"/>
                          <a:sym typeface="Roboto"/>
                        </a:rPr>
                        <a:t>Θ(E) space</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28, CS61B, Fall 2023</a:t>
            </a:r>
            <a:endParaRPr/>
          </a:p>
        </p:txBody>
      </p:sp>
      <p:sp>
        <p:nvSpPr>
          <p:cNvPr id="188" name="Google Shape;188;p2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Topological Sorting</a:t>
            </a:r>
            <a:endParaRPr/>
          </a:p>
          <a:p>
            <a:pPr marL="0" lvl="0" indent="0" algn="l" rtl="0">
              <a:spcBef>
                <a:spcPts val="600"/>
              </a:spcBef>
              <a:spcAft>
                <a:spcPts val="0"/>
              </a:spcAft>
              <a:buClr>
                <a:schemeClr val="dk1"/>
              </a:buClr>
              <a:buSzPts val="1100"/>
              <a:buFont typeface="Arial"/>
              <a:buNone/>
            </a:pPr>
            <a:r>
              <a:rPr lang="en"/>
              <a:t>Shortest Paths on DAGs</a:t>
            </a:r>
            <a:endParaRPr/>
          </a:p>
          <a:p>
            <a:pPr marL="0" lvl="0" indent="0" algn="l" rtl="0">
              <a:spcBef>
                <a:spcPts val="600"/>
              </a:spcBef>
              <a:spcAft>
                <a:spcPts val="0"/>
              </a:spcAft>
              <a:buClr>
                <a:schemeClr val="dk1"/>
              </a:buClr>
              <a:buSzPts val="1100"/>
              <a:buFont typeface="Arial"/>
              <a:buNone/>
            </a:pPr>
            <a:r>
              <a:rPr lang="en"/>
              <a:t>Longest Paths</a:t>
            </a:r>
            <a:endParaRPr/>
          </a:p>
          <a:p>
            <a:pPr marL="0" lvl="0" indent="0" algn="l" rtl="0">
              <a:spcBef>
                <a:spcPts val="600"/>
              </a:spcBef>
              <a:spcAft>
                <a:spcPts val="0"/>
              </a:spcAft>
              <a:buClr>
                <a:schemeClr val="dk1"/>
              </a:buClr>
              <a:buSzPts val="1100"/>
              <a:buFont typeface="Arial"/>
              <a:buNone/>
            </a:pPr>
            <a:r>
              <a:rPr lang="en">
                <a:solidFill>
                  <a:srgbClr val="B7B7B7"/>
                </a:solidFill>
              </a:rPr>
              <a:t>Reductions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Definition</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Reduction to 3SAT (Optional CS170 Preview)</a:t>
            </a:r>
            <a:endParaRPr/>
          </a:p>
        </p:txBody>
      </p:sp>
      <p:sp>
        <p:nvSpPr>
          <p:cNvPr id="189" name="Google Shape;189;p2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Topological Sorting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93"/>
        <p:cNvGrpSpPr/>
        <p:nvPr/>
      </p:nvGrpSpPr>
      <p:grpSpPr>
        <a:xfrm>
          <a:off x="0" y="0"/>
          <a:ext cx="0" cy="0"/>
          <a:chOff x="0" y="0"/>
          <a:chExt cx="0" cy="0"/>
        </a:xfrm>
      </p:grpSpPr>
      <p:sp>
        <p:nvSpPr>
          <p:cNvPr id="194" name="Google Shape;194;p2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Topological Sort</a:t>
            </a:r>
            <a:endParaRPr/>
          </a:p>
        </p:txBody>
      </p:sp>
      <p:sp>
        <p:nvSpPr>
          <p:cNvPr id="195" name="Google Shape;195;p29"/>
          <p:cNvSpPr txBox="1">
            <a:spLocks noGrp="1"/>
          </p:cNvSpPr>
          <p:nvPr>
            <p:ph type="body" idx="1"/>
          </p:nvPr>
        </p:nvSpPr>
        <p:spPr>
          <a:xfrm>
            <a:off x="243000" y="2629050"/>
            <a:ext cx="8443800" cy="1700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have tasks A through H, where an arrow from v to w indicates that v must happen before w.</a:t>
            </a:r>
            <a:endParaRPr/>
          </a:p>
          <a:p>
            <a:pPr marL="457200" lvl="0" indent="-342900" algn="l" rtl="0">
              <a:spcBef>
                <a:spcPts val="600"/>
              </a:spcBef>
              <a:spcAft>
                <a:spcPts val="0"/>
              </a:spcAft>
              <a:buSzPts val="1800"/>
              <a:buChar char="●"/>
            </a:pPr>
            <a:r>
              <a:rPr lang="en"/>
              <a:t>What algorithm do we use to find a valid ordering for these tasks?</a:t>
            </a:r>
            <a:endParaRPr/>
          </a:p>
          <a:p>
            <a:pPr marL="457200" lvl="0" indent="-342900" algn="l" rtl="0">
              <a:spcBef>
                <a:spcPts val="0"/>
              </a:spcBef>
              <a:spcAft>
                <a:spcPts val="0"/>
              </a:spcAft>
              <a:buSzPts val="1800"/>
              <a:buChar char="●"/>
            </a:pPr>
            <a:r>
              <a:rPr lang="en"/>
              <a:t>Valid orderings include: [A, C, B, D, F, E, H, G], [C, A, D, F, B, E, G, H], …</a:t>
            </a:r>
            <a:endParaRPr/>
          </a:p>
        </p:txBody>
      </p:sp>
      <p:grpSp>
        <p:nvGrpSpPr>
          <p:cNvPr id="196" name="Google Shape;196;p29"/>
          <p:cNvGrpSpPr/>
          <p:nvPr/>
        </p:nvGrpSpPr>
        <p:grpSpPr>
          <a:xfrm>
            <a:off x="3071707" y="733900"/>
            <a:ext cx="2419775" cy="1945738"/>
            <a:chOff x="756020" y="683300"/>
            <a:chExt cx="2419775" cy="1945738"/>
          </a:xfrm>
        </p:grpSpPr>
        <p:sp>
          <p:nvSpPr>
            <p:cNvPr id="197" name="Google Shape;197;p29"/>
            <p:cNvSpPr/>
            <p:nvPr/>
          </p:nvSpPr>
          <p:spPr>
            <a:xfrm>
              <a:off x="932470" y="19381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98" name="Google Shape;198;p29"/>
            <p:cNvSpPr/>
            <p:nvPr/>
          </p:nvSpPr>
          <p:spPr>
            <a:xfrm>
              <a:off x="1806370" y="68330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99" name="Google Shape;199;p29"/>
            <p:cNvSpPr/>
            <p:nvPr/>
          </p:nvSpPr>
          <p:spPr>
            <a:xfrm>
              <a:off x="178137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200" name="Google Shape;200;p29"/>
            <p:cNvSpPr/>
            <p:nvPr/>
          </p:nvSpPr>
          <p:spPr>
            <a:xfrm>
              <a:off x="1868645" y="18655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201" name="Google Shape;201;p29"/>
            <p:cNvSpPr/>
            <p:nvPr/>
          </p:nvSpPr>
          <p:spPr>
            <a:xfrm>
              <a:off x="2446495" y="118418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202" name="Google Shape;202;p29"/>
            <p:cNvSpPr/>
            <p:nvPr/>
          </p:nvSpPr>
          <p:spPr>
            <a:xfrm>
              <a:off x="2858395" y="18412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203" name="Google Shape;203;p29"/>
            <p:cNvSpPr/>
            <p:nvPr/>
          </p:nvSpPr>
          <p:spPr>
            <a:xfrm>
              <a:off x="1944845" y="23761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204" name="Google Shape;204;p29"/>
            <p:cNvCxnSpPr>
              <a:stCxn id="205" idx="2"/>
              <a:endCxn id="197" idx="0"/>
            </p:cNvCxnSpPr>
            <p:nvPr/>
          </p:nvCxnSpPr>
          <p:spPr>
            <a:xfrm>
              <a:off x="914720" y="1507375"/>
              <a:ext cx="176400" cy="430800"/>
            </a:xfrm>
            <a:prstGeom prst="straightConnector1">
              <a:avLst/>
            </a:prstGeom>
            <a:noFill/>
            <a:ln w="19050" cap="flat" cmpd="sng">
              <a:solidFill>
                <a:schemeClr val="dk2"/>
              </a:solidFill>
              <a:prstDash val="solid"/>
              <a:round/>
              <a:headEnd type="none" w="med" len="med"/>
              <a:tailEnd type="triangle" w="med" len="med"/>
            </a:ln>
          </p:spPr>
        </p:cxnSp>
        <p:cxnSp>
          <p:nvCxnSpPr>
            <p:cNvPr id="206" name="Google Shape;206;p29"/>
            <p:cNvCxnSpPr>
              <a:stCxn id="205" idx="3"/>
              <a:endCxn id="199" idx="1"/>
            </p:cNvCxnSpPr>
            <p:nvPr/>
          </p:nvCxnSpPr>
          <p:spPr>
            <a:xfrm>
              <a:off x="1073420" y="1380925"/>
              <a:ext cx="708000" cy="0"/>
            </a:xfrm>
            <a:prstGeom prst="straightConnector1">
              <a:avLst/>
            </a:prstGeom>
            <a:noFill/>
            <a:ln w="19050" cap="flat" cmpd="sng">
              <a:solidFill>
                <a:schemeClr val="dk2"/>
              </a:solidFill>
              <a:prstDash val="solid"/>
              <a:round/>
              <a:headEnd type="none" w="med" len="med"/>
              <a:tailEnd type="triangle" w="med" len="med"/>
            </a:ln>
          </p:spPr>
        </p:cxnSp>
        <p:cxnSp>
          <p:nvCxnSpPr>
            <p:cNvPr id="207" name="Google Shape;207;p29"/>
            <p:cNvCxnSpPr>
              <a:stCxn id="198" idx="2"/>
              <a:endCxn id="199" idx="0"/>
            </p:cNvCxnSpPr>
            <p:nvPr/>
          </p:nvCxnSpPr>
          <p:spPr>
            <a:xfrm flipH="1">
              <a:off x="1940170" y="936200"/>
              <a:ext cx="24900" cy="318300"/>
            </a:xfrm>
            <a:prstGeom prst="straightConnector1">
              <a:avLst/>
            </a:prstGeom>
            <a:noFill/>
            <a:ln w="19050" cap="flat" cmpd="sng">
              <a:solidFill>
                <a:schemeClr val="dk2"/>
              </a:solidFill>
              <a:prstDash val="solid"/>
              <a:round/>
              <a:headEnd type="none" w="med" len="med"/>
              <a:tailEnd type="triangle" w="med" len="med"/>
            </a:ln>
          </p:spPr>
        </p:cxnSp>
        <p:cxnSp>
          <p:nvCxnSpPr>
            <p:cNvPr id="208" name="Google Shape;208;p29"/>
            <p:cNvCxnSpPr>
              <a:stCxn id="198" idx="3"/>
              <a:endCxn id="201" idx="0"/>
            </p:cNvCxnSpPr>
            <p:nvPr/>
          </p:nvCxnSpPr>
          <p:spPr>
            <a:xfrm>
              <a:off x="2123770" y="809750"/>
              <a:ext cx="481500" cy="374400"/>
            </a:xfrm>
            <a:prstGeom prst="straightConnector1">
              <a:avLst/>
            </a:prstGeom>
            <a:noFill/>
            <a:ln w="19050" cap="flat" cmpd="sng">
              <a:solidFill>
                <a:schemeClr val="dk2"/>
              </a:solidFill>
              <a:prstDash val="solid"/>
              <a:round/>
              <a:headEnd type="none" w="med" len="med"/>
              <a:tailEnd type="triangle" w="med" len="med"/>
            </a:ln>
          </p:spPr>
        </p:cxnSp>
        <p:cxnSp>
          <p:nvCxnSpPr>
            <p:cNvPr id="209" name="Google Shape;209;p29"/>
            <p:cNvCxnSpPr>
              <a:stCxn id="201" idx="2"/>
              <a:endCxn id="202" idx="0"/>
            </p:cNvCxnSpPr>
            <p:nvPr/>
          </p:nvCxnSpPr>
          <p:spPr>
            <a:xfrm>
              <a:off x="2605195" y="1437088"/>
              <a:ext cx="411900" cy="404100"/>
            </a:xfrm>
            <a:prstGeom prst="straightConnector1">
              <a:avLst/>
            </a:prstGeom>
            <a:noFill/>
            <a:ln w="19050" cap="flat" cmpd="sng">
              <a:solidFill>
                <a:schemeClr val="dk2"/>
              </a:solidFill>
              <a:prstDash val="solid"/>
              <a:round/>
              <a:headEnd type="none" w="med" len="med"/>
              <a:tailEnd type="triangle" w="med" len="med"/>
            </a:ln>
          </p:spPr>
        </p:cxnSp>
        <p:cxnSp>
          <p:nvCxnSpPr>
            <p:cNvPr id="210" name="Google Shape;210;p29"/>
            <p:cNvCxnSpPr>
              <a:stCxn id="201" idx="2"/>
              <a:endCxn id="200" idx="3"/>
            </p:cNvCxnSpPr>
            <p:nvPr/>
          </p:nvCxnSpPr>
          <p:spPr>
            <a:xfrm flipH="1">
              <a:off x="2186095" y="1437088"/>
              <a:ext cx="419100" cy="555000"/>
            </a:xfrm>
            <a:prstGeom prst="straightConnector1">
              <a:avLst/>
            </a:prstGeom>
            <a:noFill/>
            <a:ln w="19050" cap="flat" cmpd="sng">
              <a:solidFill>
                <a:schemeClr val="dk2"/>
              </a:solidFill>
              <a:prstDash val="solid"/>
              <a:round/>
              <a:headEnd type="none" w="med" len="med"/>
              <a:tailEnd type="triangle" w="med" len="med"/>
            </a:ln>
          </p:spPr>
        </p:cxnSp>
        <p:cxnSp>
          <p:nvCxnSpPr>
            <p:cNvPr id="211" name="Google Shape;211;p29"/>
            <p:cNvCxnSpPr>
              <a:stCxn id="199" idx="2"/>
              <a:endCxn id="200" idx="0"/>
            </p:cNvCxnSpPr>
            <p:nvPr/>
          </p:nvCxnSpPr>
          <p:spPr>
            <a:xfrm>
              <a:off x="1940070" y="1507375"/>
              <a:ext cx="87300" cy="358200"/>
            </a:xfrm>
            <a:prstGeom prst="straightConnector1">
              <a:avLst/>
            </a:prstGeom>
            <a:noFill/>
            <a:ln w="19050" cap="flat" cmpd="sng">
              <a:solidFill>
                <a:schemeClr val="dk2"/>
              </a:solidFill>
              <a:prstDash val="solid"/>
              <a:round/>
              <a:headEnd type="none" w="med" len="med"/>
              <a:tailEnd type="triangle" w="med" len="med"/>
            </a:ln>
          </p:spPr>
        </p:cxnSp>
        <p:cxnSp>
          <p:nvCxnSpPr>
            <p:cNvPr id="212" name="Google Shape;212;p29"/>
            <p:cNvCxnSpPr>
              <a:stCxn id="197" idx="3"/>
              <a:endCxn id="200" idx="1"/>
            </p:cNvCxnSpPr>
            <p:nvPr/>
          </p:nvCxnSpPr>
          <p:spPr>
            <a:xfrm rot="10800000" flipH="1">
              <a:off x="1249870" y="1992025"/>
              <a:ext cx="618900" cy="72600"/>
            </a:xfrm>
            <a:prstGeom prst="straightConnector1">
              <a:avLst/>
            </a:prstGeom>
            <a:noFill/>
            <a:ln w="19050" cap="flat" cmpd="sng">
              <a:solidFill>
                <a:schemeClr val="dk2"/>
              </a:solidFill>
              <a:prstDash val="solid"/>
              <a:round/>
              <a:headEnd type="none" w="med" len="med"/>
              <a:tailEnd type="triangle" w="med" len="med"/>
            </a:ln>
          </p:spPr>
        </p:cxnSp>
        <p:cxnSp>
          <p:nvCxnSpPr>
            <p:cNvPr id="213" name="Google Shape;213;p29"/>
            <p:cNvCxnSpPr>
              <a:stCxn id="200" idx="2"/>
              <a:endCxn id="203" idx="0"/>
            </p:cNvCxnSpPr>
            <p:nvPr/>
          </p:nvCxnSpPr>
          <p:spPr>
            <a:xfrm>
              <a:off x="2027345" y="2118463"/>
              <a:ext cx="76200" cy="257700"/>
            </a:xfrm>
            <a:prstGeom prst="straightConnector1">
              <a:avLst/>
            </a:prstGeom>
            <a:noFill/>
            <a:ln w="19050" cap="flat" cmpd="sng">
              <a:solidFill>
                <a:schemeClr val="dk2"/>
              </a:solidFill>
              <a:prstDash val="solid"/>
              <a:round/>
              <a:headEnd type="none" w="med" len="med"/>
              <a:tailEnd type="triangle" w="med" len="med"/>
            </a:ln>
          </p:spPr>
        </p:cxnSp>
        <p:sp>
          <p:nvSpPr>
            <p:cNvPr id="205" name="Google Shape;205;p29"/>
            <p:cNvSpPr/>
            <p:nvPr/>
          </p:nvSpPr>
          <p:spPr>
            <a:xfrm>
              <a:off x="75602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Solution (Spoiler Alert)</a:t>
            </a:r>
            <a:endParaRPr/>
          </a:p>
        </p:txBody>
      </p:sp>
      <p:sp>
        <p:nvSpPr>
          <p:cNvPr id="219" name="Google Shape;219;p30"/>
          <p:cNvSpPr txBox="1">
            <a:spLocks noGrp="1"/>
          </p:cNvSpPr>
          <p:nvPr>
            <p:ph type="body" idx="1"/>
          </p:nvPr>
        </p:nvSpPr>
        <p:spPr>
          <a:xfrm>
            <a:off x="243000" y="2825750"/>
            <a:ext cx="8443800" cy="1884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Perform a </a:t>
            </a:r>
            <a:r>
              <a:rPr lang="en" b="1" dirty="0">
                <a:solidFill>
                  <a:srgbClr val="FF0000"/>
                </a:solidFill>
              </a:rPr>
              <a:t>DFS traversal </a:t>
            </a:r>
            <a:r>
              <a:rPr lang="en" dirty="0"/>
              <a:t>from every vertex with indegree 0, NOT clearing markings in between traversals.</a:t>
            </a:r>
            <a:endParaRPr dirty="0"/>
          </a:p>
          <a:p>
            <a:pPr marL="457200" lvl="0" indent="-342900" algn="l" rtl="0">
              <a:spcBef>
                <a:spcPts val="600"/>
              </a:spcBef>
              <a:spcAft>
                <a:spcPts val="0"/>
              </a:spcAft>
              <a:buSzPts val="1800"/>
              <a:buChar char="●"/>
            </a:pPr>
            <a:r>
              <a:rPr lang="en" dirty="0"/>
              <a:t>Record </a:t>
            </a:r>
            <a:r>
              <a:rPr lang="en" b="1" dirty="0">
                <a:solidFill>
                  <a:srgbClr val="FF0000"/>
                </a:solidFill>
              </a:rPr>
              <a:t>DFS postorder </a:t>
            </a:r>
            <a:r>
              <a:rPr lang="en" dirty="0"/>
              <a:t>in a list.</a:t>
            </a:r>
            <a:endParaRPr dirty="0"/>
          </a:p>
          <a:p>
            <a:pPr marL="457200" lvl="0" indent="-342900" algn="l" rtl="0">
              <a:spcBef>
                <a:spcPts val="0"/>
              </a:spcBef>
              <a:spcAft>
                <a:spcPts val="0"/>
              </a:spcAft>
              <a:buSzPts val="1800"/>
              <a:buChar char="●"/>
            </a:pPr>
            <a:r>
              <a:rPr lang="en" dirty="0"/>
              <a:t>Topological ordering is given by the reverse of that list (reverse postorder).</a:t>
            </a:r>
            <a:endParaRPr dirty="0"/>
          </a:p>
        </p:txBody>
      </p:sp>
      <p:grpSp>
        <p:nvGrpSpPr>
          <p:cNvPr id="220" name="Google Shape;220;p30"/>
          <p:cNvGrpSpPr/>
          <p:nvPr/>
        </p:nvGrpSpPr>
        <p:grpSpPr>
          <a:xfrm>
            <a:off x="3071707" y="733900"/>
            <a:ext cx="2419775" cy="1945738"/>
            <a:chOff x="756020" y="683300"/>
            <a:chExt cx="2419775" cy="1945738"/>
          </a:xfrm>
        </p:grpSpPr>
        <p:sp>
          <p:nvSpPr>
            <p:cNvPr id="221" name="Google Shape;221;p30"/>
            <p:cNvSpPr/>
            <p:nvPr/>
          </p:nvSpPr>
          <p:spPr>
            <a:xfrm>
              <a:off x="932470" y="19381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22" name="Google Shape;222;p30"/>
            <p:cNvSpPr/>
            <p:nvPr/>
          </p:nvSpPr>
          <p:spPr>
            <a:xfrm>
              <a:off x="1806370" y="68330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23" name="Google Shape;223;p30"/>
            <p:cNvSpPr/>
            <p:nvPr/>
          </p:nvSpPr>
          <p:spPr>
            <a:xfrm>
              <a:off x="178137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224" name="Google Shape;224;p30"/>
            <p:cNvSpPr/>
            <p:nvPr/>
          </p:nvSpPr>
          <p:spPr>
            <a:xfrm>
              <a:off x="1868645" y="18655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225" name="Google Shape;225;p30"/>
            <p:cNvSpPr/>
            <p:nvPr/>
          </p:nvSpPr>
          <p:spPr>
            <a:xfrm>
              <a:off x="2446495" y="118418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226" name="Google Shape;226;p30"/>
            <p:cNvSpPr/>
            <p:nvPr/>
          </p:nvSpPr>
          <p:spPr>
            <a:xfrm>
              <a:off x="2858395" y="18412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227" name="Google Shape;227;p30"/>
            <p:cNvSpPr/>
            <p:nvPr/>
          </p:nvSpPr>
          <p:spPr>
            <a:xfrm>
              <a:off x="1944845" y="23761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228" name="Google Shape;228;p30"/>
            <p:cNvCxnSpPr>
              <a:stCxn id="229" idx="2"/>
              <a:endCxn id="221" idx="0"/>
            </p:cNvCxnSpPr>
            <p:nvPr/>
          </p:nvCxnSpPr>
          <p:spPr>
            <a:xfrm>
              <a:off x="914720" y="1507375"/>
              <a:ext cx="176400" cy="430800"/>
            </a:xfrm>
            <a:prstGeom prst="straightConnector1">
              <a:avLst/>
            </a:prstGeom>
            <a:noFill/>
            <a:ln w="19050" cap="flat" cmpd="sng">
              <a:solidFill>
                <a:schemeClr val="dk2"/>
              </a:solidFill>
              <a:prstDash val="solid"/>
              <a:round/>
              <a:headEnd type="none" w="med" len="med"/>
              <a:tailEnd type="triangle" w="med" len="med"/>
            </a:ln>
          </p:spPr>
        </p:cxnSp>
        <p:cxnSp>
          <p:nvCxnSpPr>
            <p:cNvPr id="230" name="Google Shape;230;p30"/>
            <p:cNvCxnSpPr>
              <a:stCxn id="229" idx="3"/>
              <a:endCxn id="223" idx="1"/>
            </p:cNvCxnSpPr>
            <p:nvPr/>
          </p:nvCxnSpPr>
          <p:spPr>
            <a:xfrm>
              <a:off x="1073420" y="1380925"/>
              <a:ext cx="708000" cy="0"/>
            </a:xfrm>
            <a:prstGeom prst="straightConnector1">
              <a:avLst/>
            </a:prstGeom>
            <a:noFill/>
            <a:ln w="19050" cap="flat" cmpd="sng">
              <a:solidFill>
                <a:schemeClr val="dk2"/>
              </a:solidFill>
              <a:prstDash val="solid"/>
              <a:round/>
              <a:headEnd type="none" w="med" len="med"/>
              <a:tailEnd type="triangle" w="med" len="med"/>
            </a:ln>
          </p:spPr>
        </p:cxnSp>
        <p:cxnSp>
          <p:nvCxnSpPr>
            <p:cNvPr id="231" name="Google Shape;231;p30"/>
            <p:cNvCxnSpPr>
              <a:stCxn id="222" idx="2"/>
              <a:endCxn id="223" idx="0"/>
            </p:cNvCxnSpPr>
            <p:nvPr/>
          </p:nvCxnSpPr>
          <p:spPr>
            <a:xfrm flipH="1">
              <a:off x="1940170" y="936200"/>
              <a:ext cx="24900" cy="318300"/>
            </a:xfrm>
            <a:prstGeom prst="straightConnector1">
              <a:avLst/>
            </a:prstGeom>
            <a:noFill/>
            <a:ln w="19050" cap="flat" cmpd="sng">
              <a:solidFill>
                <a:schemeClr val="dk2"/>
              </a:solidFill>
              <a:prstDash val="solid"/>
              <a:round/>
              <a:headEnd type="none" w="med" len="med"/>
              <a:tailEnd type="triangle" w="med" len="med"/>
            </a:ln>
          </p:spPr>
        </p:cxnSp>
        <p:cxnSp>
          <p:nvCxnSpPr>
            <p:cNvPr id="232" name="Google Shape;232;p30"/>
            <p:cNvCxnSpPr>
              <a:stCxn id="222" idx="3"/>
              <a:endCxn id="225" idx="0"/>
            </p:cNvCxnSpPr>
            <p:nvPr/>
          </p:nvCxnSpPr>
          <p:spPr>
            <a:xfrm>
              <a:off x="2123770" y="809750"/>
              <a:ext cx="481500" cy="374400"/>
            </a:xfrm>
            <a:prstGeom prst="straightConnector1">
              <a:avLst/>
            </a:prstGeom>
            <a:noFill/>
            <a:ln w="19050" cap="flat" cmpd="sng">
              <a:solidFill>
                <a:schemeClr val="dk2"/>
              </a:solidFill>
              <a:prstDash val="solid"/>
              <a:round/>
              <a:headEnd type="none" w="med" len="med"/>
              <a:tailEnd type="triangle" w="med" len="med"/>
            </a:ln>
          </p:spPr>
        </p:cxnSp>
        <p:cxnSp>
          <p:nvCxnSpPr>
            <p:cNvPr id="233" name="Google Shape;233;p30"/>
            <p:cNvCxnSpPr>
              <a:stCxn id="225" idx="2"/>
              <a:endCxn id="226" idx="0"/>
            </p:cNvCxnSpPr>
            <p:nvPr/>
          </p:nvCxnSpPr>
          <p:spPr>
            <a:xfrm>
              <a:off x="2605195" y="1437088"/>
              <a:ext cx="411900" cy="404100"/>
            </a:xfrm>
            <a:prstGeom prst="straightConnector1">
              <a:avLst/>
            </a:prstGeom>
            <a:noFill/>
            <a:ln w="19050" cap="flat" cmpd="sng">
              <a:solidFill>
                <a:schemeClr val="dk2"/>
              </a:solidFill>
              <a:prstDash val="solid"/>
              <a:round/>
              <a:headEnd type="none" w="med" len="med"/>
              <a:tailEnd type="triangle" w="med" len="med"/>
            </a:ln>
          </p:spPr>
        </p:cxnSp>
        <p:cxnSp>
          <p:nvCxnSpPr>
            <p:cNvPr id="234" name="Google Shape;234;p30"/>
            <p:cNvCxnSpPr>
              <a:stCxn id="225" idx="2"/>
              <a:endCxn id="224" idx="3"/>
            </p:cNvCxnSpPr>
            <p:nvPr/>
          </p:nvCxnSpPr>
          <p:spPr>
            <a:xfrm flipH="1">
              <a:off x="2186095" y="1437088"/>
              <a:ext cx="419100" cy="555000"/>
            </a:xfrm>
            <a:prstGeom prst="straightConnector1">
              <a:avLst/>
            </a:prstGeom>
            <a:noFill/>
            <a:ln w="19050" cap="flat" cmpd="sng">
              <a:solidFill>
                <a:schemeClr val="dk2"/>
              </a:solidFill>
              <a:prstDash val="solid"/>
              <a:round/>
              <a:headEnd type="none" w="med" len="med"/>
              <a:tailEnd type="triangle" w="med" len="med"/>
            </a:ln>
          </p:spPr>
        </p:cxnSp>
        <p:cxnSp>
          <p:nvCxnSpPr>
            <p:cNvPr id="235" name="Google Shape;235;p30"/>
            <p:cNvCxnSpPr>
              <a:stCxn id="223" idx="2"/>
              <a:endCxn id="224" idx="0"/>
            </p:cNvCxnSpPr>
            <p:nvPr/>
          </p:nvCxnSpPr>
          <p:spPr>
            <a:xfrm>
              <a:off x="1940070" y="1507375"/>
              <a:ext cx="87300" cy="358200"/>
            </a:xfrm>
            <a:prstGeom prst="straightConnector1">
              <a:avLst/>
            </a:prstGeom>
            <a:noFill/>
            <a:ln w="19050" cap="flat" cmpd="sng">
              <a:solidFill>
                <a:schemeClr val="dk2"/>
              </a:solidFill>
              <a:prstDash val="solid"/>
              <a:round/>
              <a:headEnd type="none" w="med" len="med"/>
              <a:tailEnd type="triangle" w="med" len="med"/>
            </a:ln>
          </p:spPr>
        </p:cxnSp>
        <p:cxnSp>
          <p:nvCxnSpPr>
            <p:cNvPr id="236" name="Google Shape;236;p30"/>
            <p:cNvCxnSpPr>
              <a:stCxn id="221" idx="3"/>
              <a:endCxn id="224" idx="1"/>
            </p:cNvCxnSpPr>
            <p:nvPr/>
          </p:nvCxnSpPr>
          <p:spPr>
            <a:xfrm rot="10800000" flipH="1">
              <a:off x="1249870" y="1992025"/>
              <a:ext cx="618900" cy="72600"/>
            </a:xfrm>
            <a:prstGeom prst="straightConnector1">
              <a:avLst/>
            </a:prstGeom>
            <a:noFill/>
            <a:ln w="19050" cap="flat" cmpd="sng">
              <a:solidFill>
                <a:schemeClr val="dk2"/>
              </a:solidFill>
              <a:prstDash val="solid"/>
              <a:round/>
              <a:headEnd type="none" w="med" len="med"/>
              <a:tailEnd type="triangle" w="med" len="med"/>
            </a:ln>
          </p:spPr>
        </p:cxnSp>
        <p:cxnSp>
          <p:nvCxnSpPr>
            <p:cNvPr id="237" name="Google Shape;237;p30"/>
            <p:cNvCxnSpPr>
              <a:stCxn id="224" idx="2"/>
              <a:endCxn id="227" idx="0"/>
            </p:cNvCxnSpPr>
            <p:nvPr/>
          </p:nvCxnSpPr>
          <p:spPr>
            <a:xfrm>
              <a:off x="2027345" y="2118463"/>
              <a:ext cx="76200" cy="257700"/>
            </a:xfrm>
            <a:prstGeom prst="straightConnector1">
              <a:avLst/>
            </a:prstGeom>
            <a:noFill/>
            <a:ln w="19050" cap="flat" cmpd="sng">
              <a:solidFill>
                <a:schemeClr val="dk2"/>
              </a:solidFill>
              <a:prstDash val="solid"/>
              <a:round/>
              <a:headEnd type="none" w="med" len="med"/>
              <a:tailEnd type="triangle" w="med" len="med"/>
            </a:ln>
          </p:spPr>
        </p:cxnSp>
        <p:sp>
          <p:nvSpPr>
            <p:cNvPr id="229" name="Google Shape;229;p30"/>
            <p:cNvSpPr/>
            <p:nvPr/>
          </p:nvSpPr>
          <p:spPr>
            <a:xfrm>
              <a:off x="75602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grpSp>
      <p:sp>
        <p:nvSpPr>
          <p:cNvPr id="2" name="TextBox 1">
            <a:extLst>
              <a:ext uri="{FF2B5EF4-FFF2-40B4-BE49-F238E27FC236}">
                <a16:creationId xmlns:a16="http://schemas.microsoft.com/office/drawing/2014/main" id="{9E80A378-DA5F-6D89-2238-8B0788E1324A}"/>
              </a:ext>
            </a:extLst>
          </p:cNvPr>
          <p:cNvSpPr txBox="1"/>
          <p:nvPr/>
        </p:nvSpPr>
        <p:spPr>
          <a:xfrm>
            <a:off x="4011205" y="3412538"/>
            <a:ext cx="4384649" cy="523220"/>
          </a:xfrm>
          <a:prstGeom prst="rect">
            <a:avLst/>
          </a:prstGeom>
          <a:noFill/>
        </p:spPr>
        <p:txBody>
          <a:bodyPr wrap="square" rtlCol="0">
            <a:spAutoFit/>
          </a:bodyPr>
          <a:lstStyle/>
          <a:p>
            <a:r>
              <a:rPr lang="en-US" altLang="zh-CN" b="1" dirty="0">
                <a:solidFill>
                  <a:srgbClr val="00B0F0"/>
                </a:solidFill>
              </a:rPr>
              <a:t>When we pass the same node twice, then we push that node in our queue</a:t>
            </a:r>
            <a:endParaRPr lang="zh-CN" altLang="en-US" b="1" dirty="0">
              <a:solidFill>
                <a:srgbClr val="00B0F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Topological Sort (Demo 1/2)</a:t>
            </a:r>
            <a:endParaRPr/>
          </a:p>
        </p:txBody>
      </p:sp>
      <p:grpSp>
        <p:nvGrpSpPr>
          <p:cNvPr id="243" name="Google Shape;243;p31"/>
          <p:cNvGrpSpPr/>
          <p:nvPr/>
        </p:nvGrpSpPr>
        <p:grpSpPr>
          <a:xfrm>
            <a:off x="208375" y="454711"/>
            <a:ext cx="2017486" cy="2332439"/>
            <a:chOff x="208375" y="454711"/>
            <a:chExt cx="2017486" cy="2332439"/>
          </a:xfrm>
        </p:grpSpPr>
        <p:sp>
          <p:nvSpPr>
            <p:cNvPr id="244" name="Google Shape;244;p31"/>
            <p:cNvSpPr/>
            <p:nvPr/>
          </p:nvSpPr>
          <p:spPr>
            <a:xfrm>
              <a:off x="247226" y="96912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45" name="Google Shape;245;p31"/>
            <p:cNvSpPr/>
            <p:nvPr/>
          </p:nvSpPr>
          <p:spPr>
            <a:xfrm>
              <a:off x="402615" y="1584874"/>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46" name="Google Shape;246;p31"/>
            <p:cNvSpPr/>
            <p:nvPr/>
          </p:nvSpPr>
          <p:spPr>
            <a:xfrm>
              <a:off x="1172206" y="45471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47" name="Google Shape;247;p31"/>
            <p:cNvSpPr/>
            <p:nvPr/>
          </p:nvSpPr>
          <p:spPr>
            <a:xfrm>
              <a:off x="1150190" y="96912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248" name="Google Shape;248;p31"/>
            <p:cNvSpPr/>
            <p:nvPr/>
          </p:nvSpPr>
          <p:spPr>
            <a:xfrm>
              <a:off x="1227048" y="151947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249" name="Google Shape;249;p31"/>
            <p:cNvSpPr/>
            <p:nvPr/>
          </p:nvSpPr>
          <p:spPr>
            <a:xfrm>
              <a:off x="1583525" y="90581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250" name="Google Shape;250;p31"/>
            <p:cNvSpPr/>
            <p:nvPr/>
          </p:nvSpPr>
          <p:spPr>
            <a:xfrm>
              <a:off x="1946261" y="149759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251" name="Google Shape;251;p31"/>
            <p:cNvSpPr/>
            <p:nvPr/>
          </p:nvSpPr>
          <p:spPr>
            <a:xfrm>
              <a:off x="1294152" y="197931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252" name="Google Shape;252;p31"/>
            <p:cNvCxnSpPr>
              <a:stCxn id="244" idx="2"/>
              <a:endCxn id="245" idx="0"/>
            </p:cNvCxnSpPr>
            <p:nvPr/>
          </p:nvCxnSpPr>
          <p:spPr>
            <a:xfrm>
              <a:off x="387026" y="1196822"/>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53" name="Google Shape;253;p31"/>
            <p:cNvCxnSpPr>
              <a:stCxn id="244" idx="3"/>
              <a:endCxn id="247" idx="1"/>
            </p:cNvCxnSpPr>
            <p:nvPr/>
          </p:nvCxnSpPr>
          <p:spPr>
            <a:xfrm>
              <a:off x="526826" y="1082972"/>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54" name="Google Shape;254;p31"/>
            <p:cNvCxnSpPr>
              <a:stCxn id="246" idx="2"/>
              <a:endCxn id="247" idx="0"/>
            </p:cNvCxnSpPr>
            <p:nvPr/>
          </p:nvCxnSpPr>
          <p:spPr>
            <a:xfrm flipH="1">
              <a:off x="1290106" y="682411"/>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55" name="Google Shape;255;p31"/>
            <p:cNvCxnSpPr>
              <a:stCxn id="246" idx="3"/>
              <a:endCxn id="249" idx="0"/>
            </p:cNvCxnSpPr>
            <p:nvPr/>
          </p:nvCxnSpPr>
          <p:spPr>
            <a:xfrm>
              <a:off x="1451806" y="568561"/>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56" name="Google Shape;256;p31"/>
            <p:cNvCxnSpPr>
              <a:stCxn id="249" idx="2"/>
              <a:endCxn id="250" idx="0"/>
            </p:cNvCxnSpPr>
            <p:nvPr/>
          </p:nvCxnSpPr>
          <p:spPr>
            <a:xfrm>
              <a:off x="1723325" y="1133519"/>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57" name="Google Shape;257;p31"/>
            <p:cNvCxnSpPr>
              <a:stCxn id="249" idx="2"/>
              <a:endCxn id="248" idx="3"/>
            </p:cNvCxnSpPr>
            <p:nvPr/>
          </p:nvCxnSpPr>
          <p:spPr>
            <a:xfrm flipH="1">
              <a:off x="1506725" y="1133519"/>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58" name="Google Shape;258;p31"/>
            <p:cNvCxnSpPr>
              <a:stCxn id="247" idx="2"/>
              <a:endCxn id="248" idx="0"/>
            </p:cNvCxnSpPr>
            <p:nvPr/>
          </p:nvCxnSpPr>
          <p:spPr>
            <a:xfrm>
              <a:off x="1289990" y="1196822"/>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59" name="Google Shape;259;p31"/>
            <p:cNvCxnSpPr>
              <a:stCxn id="245" idx="3"/>
              <a:endCxn id="248" idx="1"/>
            </p:cNvCxnSpPr>
            <p:nvPr/>
          </p:nvCxnSpPr>
          <p:spPr>
            <a:xfrm rot="10800000" flipH="1">
              <a:off x="682215" y="1633324"/>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260" name="Google Shape;260;p31"/>
            <p:cNvCxnSpPr>
              <a:stCxn id="248" idx="2"/>
              <a:endCxn id="251" idx="0"/>
            </p:cNvCxnSpPr>
            <p:nvPr/>
          </p:nvCxnSpPr>
          <p:spPr>
            <a:xfrm>
              <a:off x="1366848" y="1747178"/>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261" name="Google Shape;261;p31"/>
            <p:cNvSpPr txBox="1"/>
            <p:nvPr/>
          </p:nvSpPr>
          <p:spPr>
            <a:xfrm>
              <a:off x="247225" y="2178150"/>
              <a:ext cx="19785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Postorder: []</a:t>
              </a:r>
              <a:endParaRPr>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Call stack: </a:t>
              </a:r>
              <a:r>
                <a:rPr lang="en">
                  <a:latin typeface="Roboto"/>
                  <a:ea typeface="Roboto"/>
                  <a:cs typeface="Roboto"/>
                  <a:sym typeface="Roboto"/>
                </a:rPr>
                <a:t>A</a:t>
              </a:r>
              <a:endParaRPr>
                <a:latin typeface="Roboto"/>
                <a:ea typeface="Roboto"/>
                <a:cs typeface="Roboto"/>
                <a:sym typeface="Roboto"/>
              </a:endParaRPr>
            </a:p>
          </p:txBody>
        </p:sp>
        <p:sp>
          <p:nvSpPr>
            <p:cNvPr id="262" name="Google Shape;262;p31"/>
            <p:cNvSpPr txBox="1"/>
            <p:nvPr/>
          </p:nvSpPr>
          <p:spPr>
            <a:xfrm>
              <a:off x="208375" y="686450"/>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263" name="Google Shape;263;p31"/>
          <p:cNvGrpSpPr/>
          <p:nvPr/>
        </p:nvGrpSpPr>
        <p:grpSpPr>
          <a:xfrm>
            <a:off x="2385539" y="454698"/>
            <a:ext cx="2003411" cy="2377452"/>
            <a:chOff x="2385539" y="454698"/>
            <a:chExt cx="2003411" cy="2377452"/>
          </a:xfrm>
        </p:grpSpPr>
        <p:sp>
          <p:nvSpPr>
            <p:cNvPr id="264" name="Google Shape;264;p31"/>
            <p:cNvSpPr/>
            <p:nvPr/>
          </p:nvSpPr>
          <p:spPr>
            <a:xfrm>
              <a:off x="2385539"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65" name="Google Shape;265;p31"/>
            <p:cNvSpPr/>
            <p:nvPr/>
          </p:nvSpPr>
          <p:spPr>
            <a:xfrm>
              <a:off x="2540928" y="15848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66" name="Google Shape;266;p31"/>
            <p:cNvSpPr/>
            <p:nvPr/>
          </p:nvSpPr>
          <p:spPr>
            <a:xfrm>
              <a:off x="3310519" y="4546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67" name="Google Shape;267;p31"/>
            <p:cNvSpPr/>
            <p:nvPr/>
          </p:nvSpPr>
          <p:spPr>
            <a:xfrm>
              <a:off x="3288503" y="9691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268" name="Google Shape;268;p31"/>
            <p:cNvSpPr/>
            <p:nvPr/>
          </p:nvSpPr>
          <p:spPr>
            <a:xfrm>
              <a:off x="3365361" y="1519466"/>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269" name="Google Shape;269;p31"/>
            <p:cNvSpPr/>
            <p:nvPr/>
          </p:nvSpPr>
          <p:spPr>
            <a:xfrm>
              <a:off x="3721839" y="9058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270" name="Google Shape;270;p31"/>
            <p:cNvSpPr/>
            <p:nvPr/>
          </p:nvSpPr>
          <p:spPr>
            <a:xfrm>
              <a:off x="4084574" y="14975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271" name="Google Shape;271;p31"/>
            <p:cNvSpPr/>
            <p:nvPr/>
          </p:nvSpPr>
          <p:spPr>
            <a:xfrm>
              <a:off x="3432466" y="197929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272" name="Google Shape;272;p31"/>
            <p:cNvCxnSpPr>
              <a:stCxn id="264" idx="2"/>
              <a:endCxn id="265" idx="0"/>
            </p:cNvCxnSpPr>
            <p:nvPr/>
          </p:nvCxnSpPr>
          <p:spPr>
            <a:xfrm>
              <a:off x="2525339" y="11968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73" name="Google Shape;273;p31"/>
            <p:cNvCxnSpPr>
              <a:stCxn id="264" idx="3"/>
              <a:endCxn id="267" idx="1"/>
            </p:cNvCxnSpPr>
            <p:nvPr/>
          </p:nvCxnSpPr>
          <p:spPr>
            <a:xfrm>
              <a:off x="2665139" y="10829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74" name="Google Shape;274;p31"/>
            <p:cNvCxnSpPr>
              <a:stCxn id="266" idx="2"/>
              <a:endCxn id="267" idx="0"/>
            </p:cNvCxnSpPr>
            <p:nvPr/>
          </p:nvCxnSpPr>
          <p:spPr>
            <a:xfrm flipH="1">
              <a:off x="3428419" y="6823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75" name="Google Shape;275;p31"/>
            <p:cNvCxnSpPr>
              <a:stCxn id="266" idx="3"/>
              <a:endCxn id="269" idx="0"/>
            </p:cNvCxnSpPr>
            <p:nvPr/>
          </p:nvCxnSpPr>
          <p:spPr>
            <a:xfrm>
              <a:off x="3590119" y="5685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76" name="Google Shape;276;p31"/>
            <p:cNvCxnSpPr>
              <a:stCxn id="269" idx="2"/>
              <a:endCxn id="270" idx="0"/>
            </p:cNvCxnSpPr>
            <p:nvPr/>
          </p:nvCxnSpPr>
          <p:spPr>
            <a:xfrm>
              <a:off x="3861639" y="11335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77" name="Google Shape;277;p31"/>
            <p:cNvCxnSpPr>
              <a:stCxn id="269" idx="2"/>
              <a:endCxn id="268" idx="3"/>
            </p:cNvCxnSpPr>
            <p:nvPr/>
          </p:nvCxnSpPr>
          <p:spPr>
            <a:xfrm flipH="1">
              <a:off x="3645039" y="11335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78" name="Google Shape;278;p31"/>
            <p:cNvCxnSpPr>
              <a:stCxn id="267" idx="2"/>
              <a:endCxn id="268" idx="0"/>
            </p:cNvCxnSpPr>
            <p:nvPr/>
          </p:nvCxnSpPr>
          <p:spPr>
            <a:xfrm>
              <a:off x="3428303" y="11968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79" name="Google Shape;279;p31"/>
            <p:cNvCxnSpPr>
              <a:stCxn id="265" idx="3"/>
              <a:endCxn id="268" idx="1"/>
            </p:cNvCxnSpPr>
            <p:nvPr/>
          </p:nvCxnSpPr>
          <p:spPr>
            <a:xfrm rot="10800000" flipH="1">
              <a:off x="2820528" y="16333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280" name="Google Shape;280;p31"/>
            <p:cNvCxnSpPr>
              <a:stCxn id="268" idx="2"/>
              <a:endCxn id="271" idx="0"/>
            </p:cNvCxnSpPr>
            <p:nvPr/>
          </p:nvCxnSpPr>
          <p:spPr>
            <a:xfrm>
              <a:off x="3505161" y="17471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281" name="Google Shape;281;p31"/>
            <p:cNvSpPr txBox="1"/>
            <p:nvPr/>
          </p:nvSpPr>
          <p:spPr>
            <a:xfrm>
              <a:off x="2385550" y="2178150"/>
              <a:ext cx="2003400" cy="65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A→B</a:t>
              </a:r>
              <a:endParaRPr>
                <a:latin typeface="Roboto"/>
                <a:ea typeface="Roboto"/>
                <a:cs typeface="Roboto"/>
                <a:sym typeface="Roboto"/>
              </a:endParaRPr>
            </a:p>
          </p:txBody>
        </p:sp>
        <p:sp>
          <p:nvSpPr>
            <p:cNvPr id="282" name="Google Shape;282;p31"/>
            <p:cNvSpPr txBox="1"/>
            <p:nvPr/>
          </p:nvSpPr>
          <p:spPr>
            <a:xfrm>
              <a:off x="2390936" y="1360086"/>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283" name="Google Shape;283;p31"/>
          <p:cNvGrpSpPr/>
          <p:nvPr/>
        </p:nvGrpSpPr>
        <p:grpSpPr>
          <a:xfrm>
            <a:off x="4587089" y="454698"/>
            <a:ext cx="1978635" cy="2332452"/>
            <a:chOff x="4587089" y="454698"/>
            <a:chExt cx="1978635" cy="2332452"/>
          </a:xfrm>
        </p:grpSpPr>
        <p:sp>
          <p:nvSpPr>
            <p:cNvPr id="284" name="Google Shape;284;p31"/>
            <p:cNvSpPr/>
            <p:nvPr/>
          </p:nvSpPr>
          <p:spPr>
            <a:xfrm>
              <a:off x="4587089"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285" name="Google Shape;285;p31"/>
            <p:cNvSpPr/>
            <p:nvPr/>
          </p:nvSpPr>
          <p:spPr>
            <a:xfrm>
              <a:off x="4742478" y="15848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286" name="Google Shape;286;p31"/>
            <p:cNvSpPr/>
            <p:nvPr/>
          </p:nvSpPr>
          <p:spPr>
            <a:xfrm>
              <a:off x="5512069" y="4546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287" name="Google Shape;287;p31"/>
            <p:cNvSpPr/>
            <p:nvPr/>
          </p:nvSpPr>
          <p:spPr>
            <a:xfrm>
              <a:off x="5490053" y="9691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288" name="Google Shape;288;p31"/>
            <p:cNvSpPr/>
            <p:nvPr/>
          </p:nvSpPr>
          <p:spPr>
            <a:xfrm>
              <a:off x="5566911" y="15194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289" name="Google Shape;289;p31"/>
            <p:cNvSpPr/>
            <p:nvPr/>
          </p:nvSpPr>
          <p:spPr>
            <a:xfrm>
              <a:off x="5923389" y="9058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290" name="Google Shape;290;p31"/>
            <p:cNvSpPr/>
            <p:nvPr/>
          </p:nvSpPr>
          <p:spPr>
            <a:xfrm>
              <a:off x="6286124" y="14975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291" name="Google Shape;291;p31"/>
            <p:cNvSpPr/>
            <p:nvPr/>
          </p:nvSpPr>
          <p:spPr>
            <a:xfrm>
              <a:off x="5634016" y="197929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292" name="Google Shape;292;p31"/>
            <p:cNvCxnSpPr>
              <a:stCxn id="284" idx="2"/>
              <a:endCxn id="285" idx="0"/>
            </p:cNvCxnSpPr>
            <p:nvPr/>
          </p:nvCxnSpPr>
          <p:spPr>
            <a:xfrm>
              <a:off x="4726889" y="11968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93" name="Google Shape;293;p31"/>
            <p:cNvCxnSpPr>
              <a:stCxn id="284" idx="3"/>
              <a:endCxn id="287" idx="1"/>
            </p:cNvCxnSpPr>
            <p:nvPr/>
          </p:nvCxnSpPr>
          <p:spPr>
            <a:xfrm>
              <a:off x="4866689" y="10829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94" name="Google Shape;294;p31"/>
            <p:cNvCxnSpPr>
              <a:stCxn id="286" idx="2"/>
              <a:endCxn id="287" idx="0"/>
            </p:cNvCxnSpPr>
            <p:nvPr/>
          </p:nvCxnSpPr>
          <p:spPr>
            <a:xfrm flipH="1">
              <a:off x="5629969" y="6823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95" name="Google Shape;295;p31"/>
            <p:cNvCxnSpPr>
              <a:stCxn id="286" idx="3"/>
              <a:endCxn id="289" idx="0"/>
            </p:cNvCxnSpPr>
            <p:nvPr/>
          </p:nvCxnSpPr>
          <p:spPr>
            <a:xfrm>
              <a:off x="5791669" y="5685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96" name="Google Shape;296;p31"/>
            <p:cNvCxnSpPr>
              <a:stCxn id="289" idx="2"/>
              <a:endCxn id="290" idx="0"/>
            </p:cNvCxnSpPr>
            <p:nvPr/>
          </p:nvCxnSpPr>
          <p:spPr>
            <a:xfrm>
              <a:off x="6063189" y="11335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97" name="Google Shape;297;p31"/>
            <p:cNvCxnSpPr>
              <a:stCxn id="289" idx="2"/>
              <a:endCxn id="288" idx="3"/>
            </p:cNvCxnSpPr>
            <p:nvPr/>
          </p:nvCxnSpPr>
          <p:spPr>
            <a:xfrm flipH="1">
              <a:off x="5846589" y="11335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98" name="Google Shape;298;p31"/>
            <p:cNvCxnSpPr>
              <a:stCxn id="287" idx="2"/>
              <a:endCxn id="288" idx="0"/>
            </p:cNvCxnSpPr>
            <p:nvPr/>
          </p:nvCxnSpPr>
          <p:spPr>
            <a:xfrm>
              <a:off x="5629853" y="11968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99" name="Google Shape;299;p31"/>
            <p:cNvCxnSpPr>
              <a:stCxn id="285" idx="3"/>
              <a:endCxn id="288" idx="1"/>
            </p:cNvCxnSpPr>
            <p:nvPr/>
          </p:nvCxnSpPr>
          <p:spPr>
            <a:xfrm rot="10800000" flipH="1">
              <a:off x="5022078" y="16333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00" name="Google Shape;300;p31"/>
            <p:cNvCxnSpPr>
              <a:stCxn id="288" idx="2"/>
              <a:endCxn id="291" idx="0"/>
            </p:cNvCxnSpPr>
            <p:nvPr/>
          </p:nvCxnSpPr>
          <p:spPr>
            <a:xfrm>
              <a:off x="5706711" y="17471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01" name="Google Shape;301;p31"/>
            <p:cNvSpPr txBox="1"/>
            <p:nvPr/>
          </p:nvSpPr>
          <p:spPr>
            <a:xfrm>
              <a:off x="4587100" y="2178150"/>
              <a:ext cx="19785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A→B→E</a:t>
              </a:r>
              <a:endParaRPr>
                <a:latin typeface="Roboto"/>
                <a:ea typeface="Roboto"/>
                <a:cs typeface="Roboto"/>
                <a:sym typeface="Roboto"/>
              </a:endParaRPr>
            </a:p>
          </p:txBody>
        </p:sp>
        <p:sp>
          <p:nvSpPr>
            <p:cNvPr id="302" name="Google Shape;302;p31"/>
            <p:cNvSpPr txBox="1"/>
            <p:nvPr/>
          </p:nvSpPr>
          <p:spPr>
            <a:xfrm>
              <a:off x="5410788" y="1318986"/>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303" name="Google Shape;303;p31"/>
          <p:cNvGrpSpPr/>
          <p:nvPr/>
        </p:nvGrpSpPr>
        <p:grpSpPr>
          <a:xfrm>
            <a:off x="6929139" y="454698"/>
            <a:ext cx="2126411" cy="2332452"/>
            <a:chOff x="6929139" y="454698"/>
            <a:chExt cx="2126411" cy="2332452"/>
          </a:xfrm>
        </p:grpSpPr>
        <p:sp>
          <p:nvSpPr>
            <p:cNvPr id="304" name="Google Shape;304;p31"/>
            <p:cNvSpPr/>
            <p:nvPr/>
          </p:nvSpPr>
          <p:spPr>
            <a:xfrm>
              <a:off x="6929139"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05" name="Google Shape;305;p31"/>
            <p:cNvSpPr/>
            <p:nvPr/>
          </p:nvSpPr>
          <p:spPr>
            <a:xfrm>
              <a:off x="7084528" y="15848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06" name="Google Shape;306;p31"/>
            <p:cNvSpPr/>
            <p:nvPr/>
          </p:nvSpPr>
          <p:spPr>
            <a:xfrm>
              <a:off x="7854120" y="4546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07" name="Google Shape;307;p31"/>
            <p:cNvSpPr/>
            <p:nvPr/>
          </p:nvSpPr>
          <p:spPr>
            <a:xfrm>
              <a:off x="7832103" y="9691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308" name="Google Shape;308;p31"/>
            <p:cNvSpPr/>
            <p:nvPr/>
          </p:nvSpPr>
          <p:spPr>
            <a:xfrm>
              <a:off x="7908961" y="15194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309" name="Google Shape;309;p31"/>
            <p:cNvSpPr/>
            <p:nvPr/>
          </p:nvSpPr>
          <p:spPr>
            <a:xfrm>
              <a:off x="8265439" y="9058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310" name="Google Shape;310;p31"/>
            <p:cNvSpPr/>
            <p:nvPr/>
          </p:nvSpPr>
          <p:spPr>
            <a:xfrm>
              <a:off x="8628174" y="14975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311" name="Google Shape;311;p31"/>
            <p:cNvSpPr/>
            <p:nvPr/>
          </p:nvSpPr>
          <p:spPr>
            <a:xfrm>
              <a:off x="7976066" y="19792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312" name="Google Shape;312;p31"/>
            <p:cNvCxnSpPr>
              <a:stCxn id="304" idx="2"/>
              <a:endCxn id="305" idx="0"/>
            </p:cNvCxnSpPr>
            <p:nvPr/>
          </p:nvCxnSpPr>
          <p:spPr>
            <a:xfrm>
              <a:off x="7068939" y="11968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13" name="Google Shape;313;p31"/>
            <p:cNvCxnSpPr>
              <a:stCxn id="304" idx="3"/>
              <a:endCxn id="307" idx="1"/>
            </p:cNvCxnSpPr>
            <p:nvPr/>
          </p:nvCxnSpPr>
          <p:spPr>
            <a:xfrm>
              <a:off x="7208739" y="10829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14" name="Google Shape;314;p31"/>
            <p:cNvCxnSpPr>
              <a:stCxn id="306" idx="2"/>
              <a:endCxn id="307" idx="0"/>
            </p:cNvCxnSpPr>
            <p:nvPr/>
          </p:nvCxnSpPr>
          <p:spPr>
            <a:xfrm flipH="1">
              <a:off x="7972020" y="6823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15" name="Google Shape;315;p31"/>
            <p:cNvCxnSpPr>
              <a:stCxn id="306" idx="3"/>
              <a:endCxn id="309" idx="0"/>
            </p:cNvCxnSpPr>
            <p:nvPr/>
          </p:nvCxnSpPr>
          <p:spPr>
            <a:xfrm>
              <a:off x="8133720" y="5685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16" name="Google Shape;316;p31"/>
            <p:cNvCxnSpPr>
              <a:stCxn id="309" idx="2"/>
              <a:endCxn id="310" idx="0"/>
            </p:cNvCxnSpPr>
            <p:nvPr/>
          </p:nvCxnSpPr>
          <p:spPr>
            <a:xfrm>
              <a:off x="8405239" y="11335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17" name="Google Shape;317;p31"/>
            <p:cNvCxnSpPr>
              <a:stCxn id="309" idx="2"/>
              <a:endCxn id="308" idx="3"/>
            </p:cNvCxnSpPr>
            <p:nvPr/>
          </p:nvCxnSpPr>
          <p:spPr>
            <a:xfrm flipH="1">
              <a:off x="8188639" y="11335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18" name="Google Shape;318;p31"/>
            <p:cNvCxnSpPr>
              <a:stCxn id="307" idx="2"/>
              <a:endCxn id="308" idx="0"/>
            </p:cNvCxnSpPr>
            <p:nvPr/>
          </p:nvCxnSpPr>
          <p:spPr>
            <a:xfrm>
              <a:off x="7971903" y="11968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19" name="Google Shape;319;p31"/>
            <p:cNvCxnSpPr>
              <a:stCxn id="305" idx="3"/>
              <a:endCxn id="308" idx="1"/>
            </p:cNvCxnSpPr>
            <p:nvPr/>
          </p:nvCxnSpPr>
          <p:spPr>
            <a:xfrm rot="10800000" flipH="1">
              <a:off x="7364128" y="16333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20" name="Google Shape;320;p31"/>
            <p:cNvCxnSpPr>
              <a:stCxn id="308" idx="2"/>
              <a:endCxn id="311" idx="0"/>
            </p:cNvCxnSpPr>
            <p:nvPr/>
          </p:nvCxnSpPr>
          <p:spPr>
            <a:xfrm>
              <a:off x="8048761" y="17471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21" name="Google Shape;321;p31"/>
            <p:cNvSpPr txBox="1"/>
            <p:nvPr/>
          </p:nvSpPr>
          <p:spPr>
            <a:xfrm>
              <a:off x="6929150" y="2178150"/>
              <a:ext cx="21264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[H]</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A→B→E→H</a:t>
              </a:r>
              <a:endParaRPr>
                <a:latin typeface="Roboto"/>
                <a:ea typeface="Roboto"/>
                <a:cs typeface="Roboto"/>
                <a:sym typeface="Roboto"/>
              </a:endParaRPr>
            </a:p>
          </p:txBody>
        </p:sp>
        <p:sp>
          <p:nvSpPr>
            <p:cNvPr id="322" name="Google Shape;322;p31"/>
            <p:cNvSpPr txBox="1"/>
            <p:nvPr/>
          </p:nvSpPr>
          <p:spPr>
            <a:xfrm>
              <a:off x="7849188" y="1744042"/>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323" name="Google Shape;323;p31"/>
          <p:cNvGrpSpPr/>
          <p:nvPr/>
        </p:nvGrpSpPr>
        <p:grpSpPr>
          <a:xfrm>
            <a:off x="226852" y="2770063"/>
            <a:ext cx="1998898" cy="2352693"/>
            <a:chOff x="226852" y="2770063"/>
            <a:chExt cx="1998898" cy="2352693"/>
          </a:xfrm>
        </p:grpSpPr>
        <p:sp>
          <p:nvSpPr>
            <p:cNvPr id="324" name="Google Shape;324;p31"/>
            <p:cNvSpPr/>
            <p:nvPr/>
          </p:nvSpPr>
          <p:spPr>
            <a:xfrm>
              <a:off x="226852" y="328447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25" name="Google Shape;325;p31"/>
            <p:cNvSpPr/>
            <p:nvPr/>
          </p:nvSpPr>
          <p:spPr>
            <a:xfrm>
              <a:off x="382241" y="390022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26" name="Google Shape;326;p31"/>
            <p:cNvSpPr/>
            <p:nvPr/>
          </p:nvSpPr>
          <p:spPr>
            <a:xfrm>
              <a:off x="1151832" y="277006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27" name="Google Shape;327;p31"/>
            <p:cNvSpPr/>
            <p:nvPr/>
          </p:nvSpPr>
          <p:spPr>
            <a:xfrm>
              <a:off x="1129816" y="3284474"/>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328" name="Google Shape;328;p31"/>
            <p:cNvSpPr/>
            <p:nvPr/>
          </p:nvSpPr>
          <p:spPr>
            <a:xfrm>
              <a:off x="1206674" y="383483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329" name="Google Shape;329;p31"/>
            <p:cNvSpPr/>
            <p:nvPr/>
          </p:nvSpPr>
          <p:spPr>
            <a:xfrm>
              <a:off x="1563151" y="322117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330" name="Google Shape;330;p31"/>
            <p:cNvSpPr/>
            <p:nvPr/>
          </p:nvSpPr>
          <p:spPr>
            <a:xfrm>
              <a:off x="1925887" y="3812945"/>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331" name="Google Shape;331;p31"/>
            <p:cNvSpPr/>
            <p:nvPr/>
          </p:nvSpPr>
          <p:spPr>
            <a:xfrm>
              <a:off x="1273778" y="429466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332" name="Google Shape;332;p31"/>
            <p:cNvCxnSpPr>
              <a:stCxn id="324" idx="2"/>
              <a:endCxn id="325" idx="0"/>
            </p:cNvCxnSpPr>
            <p:nvPr/>
          </p:nvCxnSpPr>
          <p:spPr>
            <a:xfrm>
              <a:off x="366652" y="3512174"/>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33" name="Google Shape;333;p31"/>
            <p:cNvCxnSpPr>
              <a:stCxn id="324" idx="3"/>
              <a:endCxn id="327" idx="1"/>
            </p:cNvCxnSpPr>
            <p:nvPr/>
          </p:nvCxnSpPr>
          <p:spPr>
            <a:xfrm>
              <a:off x="506452" y="3398324"/>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34" name="Google Shape;334;p31"/>
            <p:cNvCxnSpPr>
              <a:stCxn id="326" idx="2"/>
              <a:endCxn id="327" idx="0"/>
            </p:cNvCxnSpPr>
            <p:nvPr/>
          </p:nvCxnSpPr>
          <p:spPr>
            <a:xfrm flipH="1">
              <a:off x="1269732" y="2997763"/>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35" name="Google Shape;335;p31"/>
            <p:cNvCxnSpPr>
              <a:stCxn id="326" idx="3"/>
              <a:endCxn id="329" idx="0"/>
            </p:cNvCxnSpPr>
            <p:nvPr/>
          </p:nvCxnSpPr>
          <p:spPr>
            <a:xfrm>
              <a:off x="1431432" y="2883913"/>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36" name="Google Shape;336;p31"/>
            <p:cNvCxnSpPr>
              <a:stCxn id="329" idx="2"/>
              <a:endCxn id="330" idx="0"/>
            </p:cNvCxnSpPr>
            <p:nvPr/>
          </p:nvCxnSpPr>
          <p:spPr>
            <a:xfrm>
              <a:off x="1702951" y="3448872"/>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37" name="Google Shape;337;p31"/>
            <p:cNvCxnSpPr>
              <a:stCxn id="329" idx="2"/>
              <a:endCxn id="328" idx="3"/>
            </p:cNvCxnSpPr>
            <p:nvPr/>
          </p:nvCxnSpPr>
          <p:spPr>
            <a:xfrm flipH="1">
              <a:off x="1486351" y="3448872"/>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38" name="Google Shape;338;p31"/>
            <p:cNvCxnSpPr>
              <a:stCxn id="327" idx="2"/>
              <a:endCxn id="328" idx="0"/>
            </p:cNvCxnSpPr>
            <p:nvPr/>
          </p:nvCxnSpPr>
          <p:spPr>
            <a:xfrm>
              <a:off x="1269616" y="3512174"/>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39" name="Google Shape;339;p31"/>
            <p:cNvCxnSpPr>
              <a:stCxn id="325" idx="3"/>
              <a:endCxn id="328" idx="1"/>
            </p:cNvCxnSpPr>
            <p:nvPr/>
          </p:nvCxnSpPr>
          <p:spPr>
            <a:xfrm rot="10800000" flipH="1">
              <a:off x="661841" y="3948677"/>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40" name="Google Shape;340;p31"/>
            <p:cNvCxnSpPr>
              <a:stCxn id="328" idx="2"/>
              <a:endCxn id="331" idx="0"/>
            </p:cNvCxnSpPr>
            <p:nvPr/>
          </p:nvCxnSpPr>
          <p:spPr>
            <a:xfrm>
              <a:off x="1346474" y="4062531"/>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41" name="Google Shape;341;p31"/>
            <p:cNvSpPr txBox="1"/>
            <p:nvPr/>
          </p:nvSpPr>
          <p:spPr>
            <a:xfrm>
              <a:off x="506450" y="4513756"/>
              <a:ext cx="17193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Postorder: [H, E]</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A→B→E</a:t>
              </a:r>
              <a:endParaRPr>
                <a:latin typeface="Roboto"/>
                <a:ea typeface="Roboto"/>
                <a:cs typeface="Roboto"/>
                <a:sym typeface="Roboto"/>
              </a:endParaRPr>
            </a:p>
          </p:txBody>
        </p:sp>
        <p:sp>
          <p:nvSpPr>
            <p:cNvPr id="342" name="Google Shape;342;p31"/>
            <p:cNvSpPr txBox="1"/>
            <p:nvPr/>
          </p:nvSpPr>
          <p:spPr>
            <a:xfrm>
              <a:off x="1065825" y="3608548"/>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343" name="Google Shape;343;p31"/>
          <p:cNvGrpSpPr/>
          <p:nvPr/>
        </p:nvGrpSpPr>
        <p:grpSpPr>
          <a:xfrm>
            <a:off x="2467427" y="2792763"/>
            <a:ext cx="2009773" cy="2329887"/>
            <a:chOff x="2467427" y="2792763"/>
            <a:chExt cx="2009773" cy="2329887"/>
          </a:xfrm>
        </p:grpSpPr>
        <p:sp>
          <p:nvSpPr>
            <p:cNvPr id="344" name="Google Shape;344;p31"/>
            <p:cNvSpPr/>
            <p:nvPr/>
          </p:nvSpPr>
          <p:spPr>
            <a:xfrm>
              <a:off x="2467427" y="330717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45" name="Google Shape;345;p31"/>
            <p:cNvSpPr/>
            <p:nvPr/>
          </p:nvSpPr>
          <p:spPr>
            <a:xfrm>
              <a:off x="2622816" y="392292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46" name="Google Shape;346;p31"/>
            <p:cNvSpPr/>
            <p:nvPr/>
          </p:nvSpPr>
          <p:spPr>
            <a:xfrm>
              <a:off x="3392407" y="279276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47" name="Google Shape;347;p31"/>
            <p:cNvSpPr/>
            <p:nvPr/>
          </p:nvSpPr>
          <p:spPr>
            <a:xfrm>
              <a:off x="3370391" y="3307174"/>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348" name="Google Shape;348;p31"/>
            <p:cNvSpPr/>
            <p:nvPr/>
          </p:nvSpPr>
          <p:spPr>
            <a:xfrm>
              <a:off x="3447248" y="385753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349" name="Google Shape;349;p31"/>
            <p:cNvSpPr/>
            <p:nvPr/>
          </p:nvSpPr>
          <p:spPr>
            <a:xfrm>
              <a:off x="3803726" y="324387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350" name="Google Shape;350;p31"/>
            <p:cNvSpPr/>
            <p:nvPr/>
          </p:nvSpPr>
          <p:spPr>
            <a:xfrm>
              <a:off x="4166462" y="3835645"/>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351" name="Google Shape;351;p31"/>
            <p:cNvSpPr/>
            <p:nvPr/>
          </p:nvSpPr>
          <p:spPr>
            <a:xfrm>
              <a:off x="3514354" y="431736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352" name="Google Shape;352;p31"/>
            <p:cNvCxnSpPr>
              <a:stCxn id="344" idx="2"/>
              <a:endCxn id="345" idx="0"/>
            </p:cNvCxnSpPr>
            <p:nvPr/>
          </p:nvCxnSpPr>
          <p:spPr>
            <a:xfrm>
              <a:off x="2607227" y="3534874"/>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53" name="Google Shape;353;p31"/>
            <p:cNvCxnSpPr>
              <a:stCxn id="344" idx="3"/>
              <a:endCxn id="347" idx="1"/>
            </p:cNvCxnSpPr>
            <p:nvPr/>
          </p:nvCxnSpPr>
          <p:spPr>
            <a:xfrm>
              <a:off x="2747027" y="3421024"/>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54" name="Google Shape;354;p31"/>
            <p:cNvCxnSpPr>
              <a:stCxn id="346" idx="2"/>
              <a:endCxn id="347" idx="0"/>
            </p:cNvCxnSpPr>
            <p:nvPr/>
          </p:nvCxnSpPr>
          <p:spPr>
            <a:xfrm flipH="1">
              <a:off x="3510307" y="3020463"/>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55" name="Google Shape;355;p31"/>
            <p:cNvCxnSpPr>
              <a:stCxn id="346" idx="3"/>
              <a:endCxn id="349" idx="0"/>
            </p:cNvCxnSpPr>
            <p:nvPr/>
          </p:nvCxnSpPr>
          <p:spPr>
            <a:xfrm>
              <a:off x="3672007" y="2906613"/>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56" name="Google Shape;356;p31"/>
            <p:cNvCxnSpPr>
              <a:stCxn id="349" idx="2"/>
              <a:endCxn id="350" idx="0"/>
            </p:cNvCxnSpPr>
            <p:nvPr/>
          </p:nvCxnSpPr>
          <p:spPr>
            <a:xfrm>
              <a:off x="3943526" y="3471572"/>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57" name="Google Shape;357;p31"/>
            <p:cNvCxnSpPr>
              <a:stCxn id="349" idx="2"/>
              <a:endCxn id="348" idx="3"/>
            </p:cNvCxnSpPr>
            <p:nvPr/>
          </p:nvCxnSpPr>
          <p:spPr>
            <a:xfrm flipH="1">
              <a:off x="3726926" y="3471572"/>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58" name="Google Shape;358;p31"/>
            <p:cNvCxnSpPr>
              <a:stCxn id="347" idx="2"/>
              <a:endCxn id="348" idx="0"/>
            </p:cNvCxnSpPr>
            <p:nvPr/>
          </p:nvCxnSpPr>
          <p:spPr>
            <a:xfrm>
              <a:off x="3510191" y="3534874"/>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59" name="Google Shape;359;p31"/>
            <p:cNvCxnSpPr>
              <a:stCxn id="345" idx="3"/>
              <a:endCxn id="348" idx="1"/>
            </p:cNvCxnSpPr>
            <p:nvPr/>
          </p:nvCxnSpPr>
          <p:spPr>
            <a:xfrm rot="10800000" flipH="1">
              <a:off x="2902416" y="3971377"/>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60" name="Google Shape;360;p31"/>
            <p:cNvCxnSpPr>
              <a:stCxn id="348" idx="2"/>
              <a:endCxn id="351" idx="0"/>
            </p:cNvCxnSpPr>
            <p:nvPr/>
          </p:nvCxnSpPr>
          <p:spPr>
            <a:xfrm>
              <a:off x="3587048" y="4085231"/>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61" name="Google Shape;361;p31"/>
            <p:cNvSpPr txBox="1"/>
            <p:nvPr/>
          </p:nvSpPr>
          <p:spPr>
            <a:xfrm>
              <a:off x="2473800" y="4536450"/>
              <a:ext cx="2003400" cy="58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Postorder: [H, E, B]</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A→B</a:t>
              </a:r>
              <a:endParaRPr>
                <a:latin typeface="Roboto"/>
                <a:ea typeface="Roboto"/>
                <a:cs typeface="Roboto"/>
                <a:sym typeface="Roboto"/>
              </a:endParaRPr>
            </a:p>
          </p:txBody>
        </p:sp>
        <p:sp>
          <p:nvSpPr>
            <p:cNvPr id="362" name="Google Shape;362;p31"/>
            <p:cNvSpPr txBox="1"/>
            <p:nvPr/>
          </p:nvSpPr>
          <p:spPr>
            <a:xfrm>
              <a:off x="2473811" y="3707679"/>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363" name="Google Shape;363;p31"/>
          <p:cNvGrpSpPr/>
          <p:nvPr/>
        </p:nvGrpSpPr>
        <p:grpSpPr>
          <a:xfrm>
            <a:off x="4587111" y="2785843"/>
            <a:ext cx="2072339" cy="2322957"/>
            <a:chOff x="4587111" y="2785843"/>
            <a:chExt cx="2072339" cy="2322957"/>
          </a:xfrm>
        </p:grpSpPr>
        <p:sp>
          <p:nvSpPr>
            <p:cNvPr id="364" name="Google Shape;364;p31"/>
            <p:cNvSpPr/>
            <p:nvPr/>
          </p:nvSpPr>
          <p:spPr>
            <a:xfrm>
              <a:off x="4668427" y="330025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65" name="Google Shape;365;p31"/>
            <p:cNvSpPr/>
            <p:nvPr/>
          </p:nvSpPr>
          <p:spPr>
            <a:xfrm>
              <a:off x="4823816" y="391600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66" name="Google Shape;366;p31"/>
            <p:cNvSpPr/>
            <p:nvPr/>
          </p:nvSpPr>
          <p:spPr>
            <a:xfrm>
              <a:off x="5593407" y="278584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67" name="Google Shape;367;p31"/>
            <p:cNvSpPr/>
            <p:nvPr/>
          </p:nvSpPr>
          <p:spPr>
            <a:xfrm>
              <a:off x="5571391" y="3300254"/>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368" name="Google Shape;368;p31"/>
            <p:cNvSpPr/>
            <p:nvPr/>
          </p:nvSpPr>
          <p:spPr>
            <a:xfrm>
              <a:off x="5648248" y="385061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369" name="Google Shape;369;p31"/>
            <p:cNvSpPr/>
            <p:nvPr/>
          </p:nvSpPr>
          <p:spPr>
            <a:xfrm>
              <a:off x="6004726" y="323695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370" name="Google Shape;370;p31"/>
            <p:cNvSpPr/>
            <p:nvPr/>
          </p:nvSpPr>
          <p:spPr>
            <a:xfrm>
              <a:off x="6367462" y="3828726"/>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371" name="Google Shape;371;p31"/>
            <p:cNvSpPr/>
            <p:nvPr/>
          </p:nvSpPr>
          <p:spPr>
            <a:xfrm>
              <a:off x="5715354" y="431044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372" name="Google Shape;372;p31"/>
            <p:cNvCxnSpPr>
              <a:stCxn id="364" idx="2"/>
              <a:endCxn id="365" idx="0"/>
            </p:cNvCxnSpPr>
            <p:nvPr/>
          </p:nvCxnSpPr>
          <p:spPr>
            <a:xfrm>
              <a:off x="4808227" y="3527954"/>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73" name="Google Shape;373;p31"/>
            <p:cNvCxnSpPr>
              <a:stCxn id="364" idx="3"/>
              <a:endCxn id="367" idx="1"/>
            </p:cNvCxnSpPr>
            <p:nvPr/>
          </p:nvCxnSpPr>
          <p:spPr>
            <a:xfrm>
              <a:off x="4948027" y="3414104"/>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74" name="Google Shape;374;p31"/>
            <p:cNvCxnSpPr>
              <a:stCxn id="366" idx="2"/>
              <a:endCxn id="367" idx="0"/>
            </p:cNvCxnSpPr>
            <p:nvPr/>
          </p:nvCxnSpPr>
          <p:spPr>
            <a:xfrm flipH="1">
              <a:off x="5711307" y="3013543"/>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75" name="Google Shape;375;p31"/>
            <p:cNvCxnSpPr>
              <a:stCxn id="366" idx="3"/>
              <a:endCxn id="369" idx="0"/>
            </p:cNvCxnSpPr>
            <p:nvPr/>
          </p:nvCxnSpPr>
          <p:spPr>
            <a:xfrm>
              <a:off x="5873007" y="2899693"/>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76" name="Google Shape;376;p31"/>
            <p:cNvCxnSpPr>
              <a:stCxn id="369" idx="2"/>
              <a:endCxn id="370" idx="0"/>
            </p:cNvCxnSpPr>
            <p:nvPr/>
          </p:nvCxnSpPr>
          <p:spPr>
            <a:xfrm>
              <a:off x="6144526" y="3464652"/>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77" name="Google Shape;377;p31"/>
            <p:cNvCxnSpPr>
              <a:stCxn id="369" idx="2"/>
              <a:endCxn id="368" idx="3"/>
            </p:cNvCxnSpPr>
            <p:nvPr/>
          </p:nvCxnSpPr>
          <p:spPr>
            <a:xfrm flipH="1">
              <a:off x="5927926" y="3464652"/>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78" name="Google Shape;378;p31"/>
            <p:cNvCxnSpPr>
              <a:stCxn id="367" idx="2"/>
              <a:endCxn id="368" idx="0"/>
            </p:cNvCxnSpPr>
            <p:nvPr/>
          </p:nvCxnSpPr>
          <p:spPr>
            <a:xfrm>
              <a:off x="5711191" y="3527954"/>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79" name="Google Shape;379;p31"/>
            <p:cNvCxnSpPr>
              <a:stCxn id="365" idx="3"/>
              <a:endCxn id="368" idx="1"/>
            </p:cNvCxnSpPr>
            <p:nvPr/>
          </p:nvCxnSpPr>
          <p:spPr>
            <a:xfrm rot="10800000" flipH="1">
              <a:off x="5103416" y="3964457"/>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80" name="Google Shape;380;p31"/>
            <p:cNvCxnSpPr>
              <a:stCxn id="368" idx="2"/>
              <a:endCxn id="371" idx="0"/>
            </p:cNvCxnSpPr>
            <p:nvPr/>
          </p:nvCxnSpPr>
          <p:spPr>
            <a:xfrm>
              <a:off x="5788048" y="4078311"/>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81" name="Google Shape;381;p31"/>
            <p:cNvSpPr txBox="1"/>
            <p:nvPr/>
          </p:nvSpPr>
          <p:spPr>
            <a:xfrm>
              <a:off x="4587111" y="3072945"/>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382" name="Google Shape;382;p31"/>
            <p:cNvSpPr txBox="1"/>
            <p:nvPr/>
          </p:nvSpPr>
          <p:spPr>
            <a:xfrm>
              <a:off x="4656050" y="4522600"/>
              <a:ext cx="2003400" cy="58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Postorder: [H, E, B]</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a:t>
              </a:r>
              <a:endParaRPr>
                <a:latin typeface="Roboto"/>
                <a:ea typeface="Roboto"/>
                <a:cs typeface="Roboto"/>
                <a:sym typeface="Roboto"/>
              </a:endParaRPr>
            </a:p>
          </p:txBody>
        </p:sp>
      </p:grpSp>
      <p:grpSp>
        <p:nvGrpSpPr>
          <p:cNvPr id="383" name="Google Shape;383;p31"/>
          <p:cNvGrpSpPr/>
          <p:nvPr/>
        </p:nvGrpSpPr>
        <p:grpSpPr>
          <a:xfrm>
            <a:off x="7052675" y="2782374"/>
            <a:ext cx="2003400" cy="2322951"/>
            <a:chOff x="7052675" y="2782374"/>
            <a:chExt cx="2003400" cy="2322951"/>
          </a:xfrm>
        </p:grpSpPr>
        <p:sp>
          <p:nvSpPr>
            <p:cNvPr id="384" name="Google Shape;384;p31"/>
            <p:cNvSpPr/>
            <p:nvPr/>
          </p:nvSpPr>
          <p:spPr>
            <a:xfrm>
              <a:off x="7065052" y="329678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385" name="Google Shape;385;p31"/>
            <p:cNvSpPr/>
            <p:nvPr/>
          </p:nvSpPr>
          <p:spPr>
            <a:xfrm>
              <a:off x="7220441" y="391253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86" name="Google Shape;386;p31"/>
            <p:cNvSpPr/>
            <p:nvPr/>
          </p:nvSpPr>
          <p:spPr>
            <a:xfrm>
              <a:off x="7990032" y="2782374"/>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387" name="Google Shape;387;p31"/>
            <p:cNvSpPr/>
            <p:nvPr/>
          </p:nvSpPr>
          <p:spPr>
            <a:xfrm>
              <a:off x="7968016" y="329678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388" name="Google Shape;388;p31"/>
            <p:cNvSpPr/>
            <p:nvPr/>
          </p:nvSpPr>
          <p:spPr>
            <a:xfrm>
              <a:off x="8044873" y="384714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389" name="Google Shape;389;p31"/>
            <p:cNvSpPr/>
            <p:nvPr/>
          </p:nvSpPr>
          <p:spPr>
            <a:xfrm>
              <a:off x="8401351" y="323348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390" name="Google Shape;390;p31"/>
            <p:cNvSpPr/>
            <p:nvPr/>
          </p:nvSpPr>
          <p:spPr>
            <a:xfrm>
              <a:off x="8764087" y="3825256"/>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391" name="Google Shape;391;p31"/>
            <p:cNvSpPr/>
            <p:nvPr/>
          </p:nvSpPr>
          <p:spPr>
            <a:xfrm>
              <a:off x="8111979" y="4306975"/>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392" name="Google Shape;392;p31"/>
            <p:cNvCxnSpPr>
              <a:stCxn id="384" idx="2"/>
              <a:endCxn id="385" idx="0"/>
            </p:cNvCxnSpPr>
            <p:nvPr/>
          </p:nvCxnSpPr>
          <p:spPr>
            <a:xfrm>
              <a:off x="7204852" y="3524484"/>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93" name="Google Shape;393;p31"/>
            <p:cNvCxnSpPr>
              <a:stCxn id="384" idx="3"/>
              <a:endCxn id="387" idx="1"/>
            </p:cNvCxnSpPr>
            <p:nvPr/>
          </p:nvCxnSpPr>
          <p:spPr>
            <a:xfrm>
              <a:off x="7344652" y="3410634"/>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94" name="Google Shape;394;p31"/>
            <p:cNvCxnSpPr>
              <a:stCxn id="386" idx="2"/>
              <a:endCxn id="387" idx="0"/>
            </p:cNvCxnSpPr>
            <p:nvPr/>
          </p:nvCxnSpPr>
          <p:spPr>
            <a:xfrm flipH="1">
              <a:off x="8107932" y="3010074"/>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95" name="Google Shape;395;p31"/>
            <p:cNvCxnSpPr>
              <a:stCxn id="386" idx="3"/>
              <a:endCxn id="389" idx="0"/>
            </p:cNvCxnSpPr>
            <p:nvPr/>
          </p:nvCxnSpPr>
          <p:spPr>
            <a:xfrm>
              <a:off x="8269632" y="2896224"/>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96" name="Google Shape;396;p31"/>
            <p:cNvCxnSpPr>
              <a:stCxn id="389" idx="2"/>
              <a:endCxn id="390" idx="0"/>
            </p:cNvCxnSpPr>
            <p:nvPr/>
          </p:nvCxnSpPr>
          <p:spPr>
            <a:xfrm>
              <a:off x="8541151" y="3461182"/>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97" name="Google Shape;397;p31"/>
            <p:cNvCxnSpPr>
              <a:stCxn id="389" idx="2"/>
              <a:endCxn id="388" idx="3"/>
            </p:cNvCxnSpPr>
            <p:nvPr/>
          </p:nvCxnSpPr>
          <p:spPr>
            <a:xfrm flipH="1">
              <a:off x="8324551" y="3461182"/>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98" name="Google Shape;398;p31"/>
            <p:cNvCxnSpPr>
              <a:stCxn id="387" idx="2"/>
              <a:endCxn id="388" idx="0"/>
            </p:cNvCxnSpPr>
            <p:nvPr/>
          </p:nvCxnSpPr>
          <p:spPr>
            <a:xfrm>
              <a:off x="8107816" y="3524484"/>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99" name="Google Shape;399;p31"/>
            <p:cNvCxnSpPr>
              <a:stCxn id="385" idx="3"/>
              <a:endCxn id="388" idx="1"/>
            </p:cNvCxnSpPr>
            <p:nvPr/>
          </p:nvCxnSpPr>
          <p:spPr>
            <a:xfrm rot="10800000" flipH="1">
              <a:off x="7500041" y="3960988"/>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00" name="Google Shape;400;p31"/>
            <p:cNvCxnSpPr>
              <a:stCxn id="388" idx="2"/>
              <a:endCxn id="391" idx="0"/>
            </p:cNvCxnSpPr>
            <p:nvPr/>
          </p:nvCxnSpPr>
          <p:spPr>
            <a:xfrm>
              <a:off x="8184673" y="4074841"/>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01" name="Google Shape;401;p31"/>
            <p:cNvSpPr txBox="1"/>
            <p:nvPr/>
          </p:nvSpPr>
          <p:spPr>
            <a:xfrm>
              <a:off x="7839630" y="3068484"/>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402" name="Google Shape;402;p31"/>
            <p:cNvSpPr txBox="1"/>
            <p:nvPr/>
          </p:nvSpPr>
          <p:spPr>
            <a:xfrm>
              <a:off x="7052675" y="4519125"/>
              <a:ext cx="2003400" cy="58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highlight>
                    <a:srgbClr val="FFFFFF"/>
                  </a:highlight>
                  <a:latin typeface="Roboto"/>
                  <a:ea typeface="Roboto"/>
                  <a:cs typeface="Roboto"/>
                  <a:sym typeface="Roboto"/>
                </a:rPr>
                <a:t>Postorder: [H, E, B, D]</a:t>
              </a:r>
              <a:endParaRPr>
                <a:highlight>
                  <a:srgbClr val="FFFFFF"/>
                </a:highlight>
                <a:latin typeface="Roboto"/>
                <a:ea typeface="Roboto"/>
                <a:cs typeface="Roboto"/>
                <a:sym typeface="Roboto"/>
              </a:endParaRPr>
            </a:p>
            <a:p>
              <a:pPr marL="0" lvl="0" indent="0" algn="l" rtl="0">
                <a:spcBef>
                  <a:spcPts val="0"/>
                </a:spcBef>
                <a:spcAft>
                  <a:spcPts val="0"/>
                </a:spcAft>
                <a:buNone/>
              </a:pPr>
              <a:r>
                <a:rPr lang="en">
                  <a:highlight>
                    <a:srgbClr val="FFFFFF"/>
                  </a:highlight>
                  <a:latin typeface="Roboto"/>
                  <a:ea typeface="Roboto"/>
                  <a:cs typeface="Roboto"/>
                  <a:sym typeface="Roboto"/>
                </a:rPr>
                <a:t>Call stack: A→D</a:t>
              </a:r>
              <a:endParaRPr>
                <a:highlight>
                  <a:srgbClr val="FFFFFF"/>
                </a:highlight>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Topological Sort (Demo 2/2)</a:t>
            </a:r>
            <a:endParaRPr/>
          </a:p>
        </p:txBody>
      </p:sp>
      <p:grpSp>
        <p:nvGrpSpPr>
          <p:cNvPr id="408" name="Google Shape;408;p32"/>
          <p:cNvGrpSpPr/>
          <p:nvPr/>
        </p:nvGrpSpPr>
        <p:grpSpPr>
          <a:xfrm>
            <a:off x="211300" y="454711"/>
            <a:ext cx="2014561" cy="2375939"/>
            <a:chOff x="211300" y="454711"/>
            <a:chExt cx="2014561" cy="2375939"/>
          </a:xfrm>
        </p:grpSpPr>
        <p:sp>
          <p:nvSpPr>
            <p:cNvPr id="409" name="Google Shape;409;p32"/>
            <p:cNvSpPr/>
            <p:nvPr/>
          </p:nvSpPr>
          <p:spPr>
            <a:xfrm>
              <a:off x="247226" y="96912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10" name="Google Shape;410;p32"/>
            <p:cNvSpPr/>
            <p:nvPr/>
          </p:nvSpPr>
          <p:spPr>
            <a:xfrm>
              <a:off x="402615" y="158487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11" name="Google Shape;411;p32"/>
            <p:cNvSpPr/>
            <p:nvPr/>
          </p:nvSpPr>
          <p:spPr>
            <a:xfrm>
              <a:off x="1172206" y="45471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12" name="Google Shape;412;p32"/>
            <p:cNvSpPr/>
            <p:nvPr/>
          </p:nvSpPr>
          <p:spPr>
            <a:xfrm>
              <a:off x="1150190" y="96912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413" name="Google Shape;413;p32"/>
            <p:cNvSpPr/>
            <p:nvPr/>
          </p:nvSpPr>
          <p:spPr>
            <a:xfrm>
              <a:off x="1227048" y="151947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414" name="Google Shape;414;p32"/>
            <p:cNvSpPr/>
            <p:nvPr/>
          </p:nvSpPr>
          <p:spPr>
            <a:xfrm>
              <a:off x="1583525" y="90581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415" name="Google Shape;415;p32"/>
            <p:cNvSpPr/>
            <p:nvPr/>
          </p:nvSpPr>
          <p:spPr>
            <a:xfrm>
              <a:off x="1946261" y="149759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416" name="Google Shape;416;p32"/>
            <p:cNvSpPr/>
            <p:nvPr/>
          </p:nvSpPr>
          <p:spPr>
            <a:xfrm>
              <a:off x="1294152" y="197931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417" name="Google Shape;417;p32"/>
            <p:cNvCxnSpPr>
              <a:stCxn id="409" idx="2"/>
              <a:endCxn id="410" idx="0"/>
            </p:cNvCxnSpPr>
            <p:nvPr/>
          </p:nvCxnSpPr>
          <p:spPr>
            <a:xfrm>
              <a:off x="387026" y="1196822"/>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18" name="Google Shape;418;p32"/>
            <p:cNvCxnSpPr>
              <a:stCxn id="409" idx="3"/>
              <a:endCxn id="412" idx="1"/>
            </p:cNvCxnSpPr>
            <p:nvPr/>
          </p:nvCxnSpPr>
          <p:spPr>
            <a:xfrm>
              <a:off x="526826" y="1082972"/>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19" name="Google Shape;419;p32"/>
            <p:cNvCxnSpPr>
              <a:stCxn id="411" idx="2"/>
              <a:endCxn id="412" idx="0"/>
            </p:cNvCxnSpPr>
            <p:nvPr/>
          </p:nvCxnSpPr>
          <p:spPr>
            <a:xfrm flipH="1">
              <a:off x="1290106" y="682411"/>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20" name="Google Shape;420;p32"/>
            <p:cNvCxnSpPr>
              <a:stCxn id="411" idx="3"/>
              <a:endCxn id="414" idx="0"/>
            </p:cNvCxnSpPr>
            <p:nvPr/>
          </p:nvCxnSpPr>
          <p:spPr>
            <a:xfrm>
              <a:off x="1451806" y="568561"/>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21" name="Google Shape;421;p32"/>
            <p:cNvCxnSpPr>
              <a:stCxn id="414" idx="2"/>
              <a:endCxn id="415" idx="0"/>
            </p:cNvCxnSpPr>
            <p:nvPr/>
          </p:nvCxnSpPr>
          <p:spPr>
            <a:xfrm>
              <a:off x="1723325" y="1133519"/>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22" name="Google Shape;422;p32"/>
            <p:cNvCxnSpPr>
              <a:stCxn id="414" idx="2"/>
              <a:endCxn id="413" idx="3"/>
            </p:cNvCxnSpPr>
            <p:nvPr/>
          </p:nvCxnSpPr>
          <p:spPr>
            <a:xfrm flipH="1">
              <a:off x="1506725" y="1133519"/>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23" name="Google Shape;423;p32"/>
            <p:cNvCxnSpPr>
              <a:stCxn id="412" idx="2"/>
              <a:endCxn id="413" idx="0"/>
            </p:cNvCxnSpPr>
            <p:nvPr/>
          </p:nvCxnSpPr>
          <p:spPr>
            <a:xfrm>
              <a:off x="1289990" y="1196822"/>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24" name="Google Shape;424;p32"/>
            <p:cNvCxnSpPr>
              <a:stCxn id="410" idx="3"/>
              <a:endCxn id="413" idx="1"/>
            </p:cNvCxnSpPr>
            <p:nvPr/>
          </p:nvCxnSpPr>
          <p:spPr>
            <a:xfrm rot="10800000" flipH="1">
              <a:off x="682215" y="1633324"/>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25" name="Google Shape;425;p32"/>
            <p:cNvCxnSpPr>
              <a:stCxn id="413" idx="2"/>
              <a:endCxn id="416" idx="0"/>
            </p:cNvCxnSpPr>
            <p:nvPr/>
          </p:nvCxnSpPr>
          <p:spPr>
            <a:xfrm>
              <a:off x="1366848" y="1747178"/>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26" name="Google Shape;426;p32"/>
            <p:cNvSpPr txBox="1"/>
            <p:nvPr/>
          </p:nvSpPr>
          <p:spPr>
            <a:xfrm>
              <a:off x="211300" y="2254350"/>
              <a:ext cx="2010000" cy="5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Postorder: [H, E, B, D]</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A→D</a:t>
              </a:r>
              <a:endParaRPr>
                <a:latin typeface="Roboto"/>
                <a:ea typeface="Roboto"/>
                <a:cs typeface="Roboto"/>
                <a:sym typeface="Roboto"/>
              </a:endParaRPr>
            </a:p>
          </p:txBody>
        </p:sp>
        <p:sp>
          <p:nvSpPr>
            <p:cNvPr id="427" name="Google Shape;427;p32"/>
            <p:cNvSpPr txBox="1"/>
            <p:nvPr/>
          </p:nvSpPr>
          <p:spPr>
            <a:xfrm>
              <a:off x="1065838" y="742439"/>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428" name="Google Shape;428;p32"/>
          <p:cNvGrpSpPr/>
          <p:nvPr/>
        </p:nvGrpSpPr>
        <p:grpSpPr>
          <a:xfrm>
            <a:off x="2423075" y="454698"/>
            <a:ext cx="2145575" cy="2367252"/>
            <a:chOff x="2423075" y="454698"/>
            <a:chExt cx="2145575" cy="2367252"/>
          </a:xfrm>
        </p:grpSpPr>
        <p:sp>
          <p:nvSpPr>
            <p:cNvPr id="429" name="Google Shape;429;p32"/>
            <p:cNvSpPr/>
            <p:nvPr/>
          </p:nvSpPr>
          <p:spPr>
            <a:xfrm>
              <a:off x="2537939"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30" name="Google Shape;430;p32"/>
            <p:cNvSpPr/>
            <p:nvPr/>
          </p:nvSpPr>
          <p:spPr>
            <a:xfrm>
              <a:off x="2693328" y="15848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31" name="Google Shape;431;p32"/>
            <p:cNvSpPr/>
            <p:nvPr/>
          </p:nvSpPr>
          <p:spPr>
            <a:xfrm>
              <a:off x="3462919" y="4546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32" name="Google Shape;432;p32"/>
            <p:cNvSpPr/>
            <p:nvPr/>
          </p:nvSpPr>
          <p:spPr>
            <a:xfrm>
              <a:off x="3440903"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433" name="Google Shape;433;p32"/>
            <p:cNvSpPr/>
            <p:nvPr/>
          </p:nvSpPr>
          <p:spPr>
            <a:xfrm>
              <a:off x="3517761" y="15194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434" name="Google Shape;434;p32"/>
            <p:cNvSpPr/>
            <p:nvPr/>
          </p:nvSpPr>
          <p:spPr>
            <a:xfrm>
              <a:off x="3874239" y="9058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435" name="Google Shape;435;p32"/>
            <p:cNvSpPr/>
            <p:nvPr/>
          </p:nvSpPr>
          <p:spPr>
            <a:xfrm>
              <a:off x="4236974" y="14975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436" name="Google Shape;436;p32"/>
            <p:cNvSpPr/>
            <p:nvPr/>
          </p:nvSpPr>
          <p:spPr>
            <a:xfrm>
              <a:off x="3584866" y="19792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437" name="Google Shape;437;p32"/>
            <p:cNvCxnSpPr>
              <a:stCxn id="429" idx="2"/>
              <a:endCxn id="430" idx="0"/>
            </p:cNvCxnSpPr>
            <p:nvPr/>
          </p:nvCxnSpPr>
          <p:spPr>
            <a:xfrm>
              <a:off x="2677739" y="11968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38" name="Google Shape;438;p32"/>
            <p:cNvCxnSpPr>
              <a:stCxn id="429" idx="3"/>
              <a:endCxn id="432" idx="1"/>
            </p:cNvCxnSpPr>
            <p:nvPr/>
          </p:nvCxnSpPr>
          <p:spPr>
            <a:xfrm>
              <a:off x="2817539" y="10829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39" name="Google Shape;439;p32"/>
            <p:cNvCxnSpPr>
              <a:stCxn id="431" idx="2"/>
              <a:endCxn id="432" idx="0"/>
            </p:cNvCxnSpPr>
            <p:nvPr/>
          </p:nvCxnSpPr>
          <p:spPr>
            <a:xfrm flipH="1">
              <a:off x="3580819" y="6823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40" name="Google Shape;440;p32"/>
            <p:cNvCxnSpPr>
              <a:stCxn id="431" idx="3"/>
              <a:endCxn id="434" idx="0"/>
            </p:cNvCxnSpPr>
            <p:nvPr/>
          </p:nvCxnSpPr>
          <p:spPr>
            <a:xfrm>
              <a:off x="3742519" y="5685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41" name="Google Shape;441;p32"/>
            <p:cNvCxnSpPr>
              <a:stCxn id="434" idx="2"/>
              <a:endCxn id="435" idx="0"/>
            </p:cNvCxnSpPr>
            <p:nvPr/>
          </p:nvCxnSpPr>
          <p:spPr>
            <a:xfrm>
              <a:off x="4014039" y="11335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42" name="Google Shape;442;p32"/>
            <p:cNvCxnSpPr>
              <a:stCxn id="434" idx="2"/>
              <a:endCxn id="433" idx="3"/>
            </p:cNvCxnSpPr>
            <p:nvPr/>
          </p:nvCxnSpPr>
          <p:spPr>
            <a:xfrm flipH="1">
              <a:off x="3797439" y="11335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43" name="Google Shape;443;p32"/>
            <p:cNvCxnSpPr>
              <a:stCxn id="432" idx="2"/>
              <a:endCxn id="433" idx="0"/>
            </p:cNvCxnSpPr>
            <p:nvPr/>
          </p:nvCxnSpPr>
          <p:spPr>
            <a:xfrm>
              <a:off x="3580703" y="11968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44" name="Google Shape;444;p32"/>
            <p:cNvCxnSpPr>
              <a:stCxn id="430" idx="3"/>
              <a:endCxn id="433" idx="1"/>
            </p:cNvCxnSpPr>
            <p:nvPr/>
          </p:nvCxnSpPr>
          <p:spPr>
            <a:xfrm rot="10800000" flipH="1">
              <a:off x="2972928" y="16333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45" name="Google Shape;445;p32"/>
            <p:cNvCxnSpPr>
              <a:stCxn id="433" idx="2"/>
              <a:endCxn id="436" idx="0"/>
            </p:cNvCxnSpPr>
            <p:nvPr/>
          </p:nvCxnSpPr>
          <p:spPr>
            <a:xfrm>
              <a:off x="3657561" y="17471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46" name="Google Shape;446;p32"/>
            <p:cNvSpPr txBox="1"/>
            <p:nvPr/>
          </p:nvSpPr>
          <p:spPr>
            <a:xfrm>
              <a:off x="2506450" y="2254350"/>
              <a:ext cx="2062200" cy="56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[H, E, B, D, A]</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A</a:t>
              </a:r>
              <a:endParaRPr>
                <a:latin typeface="Roboto"/>
                <a:ea typeface="Roboto"/>
                <a:cs typeface="Roboto"/>
                <a:sym typeface="Roboto"/>
              </a:endParaRPr>
            </a:p>
          </p:txBody>
        </p:sp>
        <p:sp>
          <p:nvSpPr>
            <p:cNvPr id="447" name="Google Shape;447;p32"/>
            <p:cNvSpPr txBox="1"/>
            <p:nvPr/>
          </p:nvSpPr>
          <p:spPr>
            <a:xfrm>
              <a:off x="2423075" y="731447"/>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448" name="Google Shape;448;p32"/>
          <p:cNvGrpSpPr/>
          <p:nvPr/>
        </p:nvGrpSpPr>
        <p:grpSpPr>
          <a:xfrm>
            <a:off x="4748825" y="412944"/>
            <a:ext cx="2062200" cy="2417706"/>
            <a:chOff x="4748825" y="412944"/>
            <a:chExt cx="2062200" cy="2417706"/>
          </a:xfrm>
        </p:grpSpPr>
        <p:sp>
          <p:nvSpPr>
            <p:cNvPr id="449" name="Google Shape;449;p32"/>
            <p:cNvSpPr/>
            <p:nvPr/>
          </p:nvSpPr>
          <p:spPr>
            <a:xfrm>
              <a:off x="4781839"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50" name="Google Shape;450;p32"/>
            <p:cNvSpPr/>
            <p:nvPr/>
          </p:nvSpPr>
          <p:spPr>
            <a:xfrm>
              <a:off x="4937228" y="15848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51" name="Google Shape;451;p32"/>
            <p:cNvSpPr/>
            <p:nvPr/>
          </p:nvSpPr>
          <p:spPr>
            <a:xfrm>
              <a:off x="5706819" y="4546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52" name="Google Shape;452;p32"/>
            <p:cNvSpPr/>
            <p:nvPr/>
          </p:nvSpPr>
          <p:spPr>
            <a:xfrm>
              <a:off x="5684803" y="9691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453" name="Google Shape;453;p32"/>
            <p:cNvSpPr/>
            <p:nvPr/>
          </p:nvSpPr>
          <p:spPr>
            <a:xfrm>
              <a:off x="5761661" y="15194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454" name="Google Shape;454;p32"/>
            <p:cNvSpPr/>
            <p:nvPr/>
          </p:nvSpPr>
          <p:spPr>
            <a:xfrm>
              <a:off x="6118139" y="9058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455" name="Google Shape;455;p32"/>
            <p:cNvSpPr/>
            <p:nvPr/>
          </p:nvSpPr>
          <p:spPr>
            <a:xfrm>
              <a:off x="6480874" y="14975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456" name="Google Shape;456;p32"/>
            <p:cNvSpPr/>
            <p:nvPr/>
          </p:nvSpPr>
          <p:spPr>
            <a:xfrm>
              <a:off x="5828766" y="19792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457" name="Google Shape;457;p32"/>
            <p:cNvCxnSpPr>
              <a:stCxn id="449" idx="2"/>
              <a:endCxn id="450" idx="0"/>
            </p:cNvCxnSpPr>
            <p:nvPr/>
          </p:nvCxnSpPr>
          <p:spPr>
            <a:xfrm>
              <a:off x="4921639" y="11968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58" name="Google Shape;458;p32"/>
            <p:cNvCxnSpPr>
              <a:stCxn id="449" idx="3"/>
              <a:endCxn id="452" idx="1"/>
            </p:cNvCxnSpPr>
            <p:nvPr/>
          </p:nvCxnSpPr>
          <p:spPr>
            <a:xfrm>
              <a:off x="5061439" y="10829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59" name="Google Shape;459;p32"/>
            <p:cNvCxnSpPr>
              <a:stCxn id="451" idx="2"/>
              <a:endCxn id="452" idx="0"/>
            </p:cNvCxnSpPr>
            <p:nvPr/>
          </p:nvCxnSpPr>
          <p:spPr>
            <a:xfrm flipH="1">
              <a:off x="5824719" y="6823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60" name="Google Shape;460;p32"/>
            <p:cNvCxnSpPr>
              <a:stCxn id="451" idx="3"/>
              <a:endCxn id="454" idx="0"/>
            </p:cNvCxnSpPr>
            <p:nvPr/>
          </p:nvCxnSpPr>
          <p:spPr>
            <a:xfrm>
              <a:off x="5986419" y="5685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61" name="Google Shape;461;p32"/>
            <p:cNvCxnSpPr>
              <a:stCxn id="454" idx="2"/>
              <a:endCxn id="455" idx="0"/>
            </p:cNvCxnSpPr>
            <p:nvPr/>
          </p:nvCxnSpPr>
          <p:spPr>
            <a:xfrm>
              <a:off x="6257939" y="11335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62" name="Google Shape;462;p32"/>
            <p:cNvCxnSpPr>
              <a:stCxn id="454" idx="2"/>
              <a:endCxn id="453" idx="3"/>
            </p:cNvCxnSpPr>
            <p:nvPr/>
          </p:nvCxnSpPr>
          <p:spPr>
            <a:xfrm flipH="1">
              <a:off x="6041339" y="11335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63" name="Google Shape;463;p32"/>
            <p:cNvCxnSpPr>
              <a:stCxn id="452" idx="2"/>
              <a:endCxn id="453" idx="0"/>
            </p:cNvCxnSpPr>
            <p:nvPr/>
          </p:nvCxnSpPr>
          <p:spPr>
            <a:xfrm>
              <a:off x="5824603" y="11968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64" name="Google Shape;464;p32"/>
            <p:cNvCxnSpPr>
              <a:stCxn id="450" idx="3"/>
              <a:endCxn id="453" idx="1"/>
            </p:cNvCxnSpPr>
            <p:nvPr/>
          </p:nvCxnSpPr>
          <p:spPr>
            <a:xfrm rot="10800000" flipH="1">
              <a:off x="5216828" y="16333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65" name="Google Shape;465;p32"/>
            <p:cNvCxnSpPr>
              <a:stCxn id="453" idx="2"/>
              <a:endCxn id="456" idx="0"/>
            </p:cNvCxnSpPr>
            <p:nvPr/>
          </p:nvCxnSpPr>
          <p:spPr>
            <a:xfrm>
              <a:off x="5901461" y="17471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66" name="Google Shape;466;p32"/>
            <p:cNvSpPr txBox="1"/>
            <p:nvPr/>
          </p:nvSpPr>
          <p:spPr>
            <a:xfrm>
              <a:off x="4748825" y="2254350"/>
              <a:ext cx="2062200" cy="5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[H, E, B, D, A]</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C</a:t>
              </a:r>
              <a:endParaRPr>
                <a:latin typeface="Roboto"/>
                <a:ea typeface="Roboto"/>
                <a:cs typeface="Roboto"/>
                <a:sym typeface="Roboto"/>
              </a:endParaRPr>
            </a:p>
          </p:txBody>
        </p:sp>
        <p:sp>
          <p:nvSpPr>
            <p:cNvPr id="467" name="Google Shape;467;p32"/>
            <p:cNvSpPr txBox="1"/>
            <p:nvPr/>
          </p:nvSpPr>
          <p:spPr>
            <a:xfrm>
              <a:off x="5481994" y="412944"/>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grpSp>
      <p:grpSp>
        <p:nvGrpSpPr>
          <p:cNvPr id="468" name="Google Shape;468;p32"/>
          <p:cNvGrpSpPr/>
          <p:nvPr/>
        </p:nvGrpSpPr>
        <p:grpSpPr>
          <a:xfrm>
            <a:off x="6991200" y="435398"/>
            <a:ext cx="2028600" cy="2375952"/>
            <a:chOff x="6991200" y="435398"/>
            <a:chExt cx="2028600" cy="2375952"/>
          </a:xfrm>
        </p:grpSpPr>
        <p:sp>
          <p:nvSpPr>
            <p:cNvPr id="469" name="Google Shape;469;p32"/>
            <p:cNvSpPr txBox="1"/>
            <p:nvPr/>
          </p:nvSpPr>
          <p:spPr>
            <a:xfrm>
              <a:off x="8570820" y="819558"/>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470" name="Google Shape;470;p32"/>
            <p:cNvSpPr/>
            <p:nvPr/>
          </p:nvSpPr>
          <p:spPr>
            <a:xfrm>
              <a:off x="7009764" y="9498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71" name="Google Shape;471;p32"/>
            <p:cNvSpPr/>
            <p:nvPr/>
          </p:nvSpPr>
          <p:spPr>
            <a:xfrm>
              <a:off x="7165153" y="15655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72" name="Google Shape;472;p32"/>
            <p:cNvSpPr/>
            <p:nvPr/>
          </p:nvSpPr>
          <p:spPr>
            <a:xfrm>
              <a:off x="7934744" y="4353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73" name="Google Shape;473;p32"/>
            <p:cNvSpPr/>
            <p:nvPr/>
          </p:nvSpPr>
          <p:spPr>
            <a:xfrm>
              <a:off x="7912728" y="9498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474" name="Google Shape;474;p32"/>
            <p:cNvSpPr/>
            <p:nvPr/>
          </p:nvSpPr>
          <p:spPr>
            <a:xfrm>
              <a:off x="7989586" y="15001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475" name="Google Shape;475;p32"/>
            <p:cNvSpPr/>
            <p:nvPr/>
          </p:nvSpPr>
          <p:spPr>
            <a:xfrm>
              <a:off x="8346064" y="88650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476" name="Google Shape;476;p32"/>
            <p:cNvSpPr/>
            <p:nvPr/>
          </p:nvSpPr>
          <p:spPr>
            <a:xfrm>
              <a:off x="8708799" y="14782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477" name="Google Shape;477;p32"/>
            <p:cNvSpPr/>
            <p:nvPr/>
          </p:nvSpPr>
          <p:spPr>
            <a:xfrm>
              <a:off x="8056691" y="19599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478" name="Google Shape;478;p32"/>
            <p:cNvCxnSpPr>
              <a:stCxn id="470" idx="2"/>
              <a:endCxn id="471" idx="0"/>
            </p:cNvCxnSpPr>
            <p:nvPr/>
          </p:nvCxnSpPr>
          <p:spPr>
            <a:xfrm>
              <a:off x="7149564" y="11775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79" name="Google Shape;479;p32"/>
            <p:cNvCxnSpPr>
              <a:stCxn id="470" idx="3"/>
              <a:endCxn id="473" idx="1"/>
            </p:cNvCxnSpPr>
            <p:nvPr/>
          </p:nvCxnSpPr>
          <p:spPr>
            <a:xfrm>
              <a:off x="7289364" y="10636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80" name="Google Shape;480;p32"/>
            <p:cNvCxnSpPr>
              <a:stCxn id="472" idx="2"/>
              <a:endCxn id="473" idx="0"/>
            </p:cNvCxnSpPr>
            <p:nvPr/>
          </p:nvCxnSpPr>
          <p:spPr>
            <a:xfrm flipH="1">
              <a:off x="8052644" y="6630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81" name="Google Shape;481;p32"/>
            <p:cNvCxnSpPr>
              <a:stCxn id="472" idx="3"/>
              <a:endCxn id="475" idx="0"/>
            </p:cNvCxnSpPr>
            <p:nvPr/>
          </p:nvCxnSpPr>
          <p:spPr>
            <a:xfrm>
              <a:off x="8214344" y="5492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82" name="Google Shape;482;p32"/>
            <p:cNvCxnSpPr>
              <a:stCxn id="475" idx="2"/>
              <a:endCxn id="476" idx="0"/>
            </p:cNvCxnSpPr>
            <p:nvPr/>
          </p:nvCxnSpPr>
          <p:spPr>
            <a:xfrm>
              <a:off x="8485864" y="11142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83" name="Google Shape;483;p32"/>
            <p:cNvCxnSpPr>
              <a:stCxn id="475" idx="2"/>
              <a:endCxn id="474" idx="3"/>
            </p:cNvCxnSpPr>
            <p:nvPr/>
          </p:nvCxnSpPr>
          <p:spPr>
            <a:xfrm flipH="1">
              <a:off x="8269264" y="11142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84" name="Google Shape;484;p32"/>
            <p:cNvCxnSpPr>
              <a:stCxn id="473" idx="2"/>
              <a:endCxn id="474" idx="0"/>
            </p:cNvCxnSpPr>
            <p:nvPr/>
          </p:nvCxnSpPr>
          <p:spPr>
            <a:xfrm>
              <a:off x="8052528" y="11775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85" name="Google Shape;485;p32"/>
            <p:cNvCxnSpPr>
              <a:stCxn id="471" idx="3"/>
              <a:endCxn id="474" idx="1"/>
            </p:cNvCxnSpPr>
            <p:nvPr/>
          </p:nvCxnSpPr>
          <p:spPr>
            <a:xfrm rot="10800000" flipH="1">
              <a:off x="7444753" y="16140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86" name="Google Shape;486;p32"/>
            <p:cNvCxnSpPr>
              <a:stCxn id="474" idx="2"/>
              <a:endCxn id="477" idx="0"/>
            </p:cNvCxnSpPr>
            <p:nvPr/>
          </p:nvCxnSpPr>
          <p:spPr>
            <a:xfrm>
              <a:off x="8129386" y="17278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87" name="Google Shape;487;p32"/>
            <p:cNvSpPr txBox="1"/>
            <p:nvPr/>
          </p:nvSpPr>
          <p:spPr>
            <a:xfrm>
              <a:off x="6991200" y="2235050"/>
              <a:ext cx="2028600" cy="5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[H, E, B, D, A]</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C→F</a:t>
              </a:r>
              <a:endParaRPr>
                <a:latin typeface="Roboto"/>
                <a:ea typeface="Roboto"/>
                <a:cs typeface="Roboto"/>
                <a:sym typeface="Roboto"/>
              </a:endParaRPr>
            </a:p>
          </p:txBody>
        </p:sp>
      </p:grpSp>
      <p:grpSp>
        <p:nvGrpSpPr>
          <p:cNvPr id="488" name="Google Shape;488;p32"/>
          <p:cNvGrpSpPr/>
          <p:nvPr/>
        </p:nvGrpSpPr>
        <p:grpSpPr>
          <a:xfrm>
            <a:off x="452489" y="2824962"/>
            <a:ext cx="2330111" cy="2291068"/>
            <a:chOff x="452489" y="2824962"/>
            <a:chExt cx="2330111" cy="2291068"/>
          </a:xfrm>
        </p:grpSpPr>
        <p:sp>
          <p:nvSpPr>
            <p:cNvPr id="489" name="Google Shape;489;p32"/>
            <p:cNvSpPr txBox="1"/>
            <p:nvPr/>
          </p:nvSpPr>
          <p:spPr>
            <a:xfrm>
              <a:off x="2371947" y="3841645"/>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490" name="Google Shape;490;p32"/>
            <p:cNvSpPr/>
            <p:nvPr/>
          </p:nvSpPr>
          <p:spPr>
            <a:xfrm>
              <a:off x="452489" y="3339373"/>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491" name="Google Shape;491;p32"/>
            <p:cNvSpPr/>
            <p:nvPr/>
          </p:nvSpPr>
          <p:spPr>
            <a:xfrm>
              <a:off x="607878" y="395512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92" name="Google Shape;492;p32"/>
            <p:cNvSpPr/>
            <p:nvPr/>
          </p:nvSpPr>
          <p:spPr>
            <a:xfrm>
              <a:off x="1377469" y="28249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493" name="Google Shape;493;p32"/>
            <p:cNvSpPr/>
            <p:nvPr/>
          </p:nvSpPr>
          <p:spPr>
            <a:xfrm>
              <a:off x="1355453" y="3339373"/>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494" name="Google Shape;494;p32"/>
            <p:cNvSpPr/>
            <p:nvPr/>
          </p:nvSpPr>
          <p:spPr>
            <a:xfrm>
              <a:off x="1432311" y="3889730"/>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495" name="Google Shape;495;p32"/>
            <p:cNvSpPr/>
            <p:nvPr/>
          </p:nvSpPr>
          <p:spPr>
            <a:xfrm>
              <a:off x="1788789" y="327607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496" name="Google Shape;496;p32"/>
            <p:cNvSpPr/>
            <p:nvPr/>
          </p:nvSpPr>
          <p:spPr>
            <a:xfrm>
              <a:off x="2151524" y="3867845"/>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497" name="Google Shape;497;p32"/>
            <p:cNvSpPr/>
            <p:nvPr/>
          </p:nvSpPr>
          <p:spPr>
            <a:xfrm>
              <a:off x="1499416" y="4349563"/>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498" name="Google Shape;498;p32"/>
            <p:cNvCxnSpPr>
              <a:stCxn id="490" idx="2"/>
              <a:endCxn id="491" idx="0"/>
            </p:cNvCxnSpPr>
            <p:nvPr/>
          </p:nvCxnSpPr>
          <p:spPr>
            <a:xfrm>
              <a:off x="592289" y="3567073"/>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99" name="Google Shape;499;p32"/>
            <p:cNvCxnSpPr>
              <a:stCxn id="490" idx="3"/>
              <a:endCxn id="493" idx="1"/>
            </p:cNvCxnSpPr>
            <p:nvPr/>
          </p:nvCxnSpPr>
          <p:spPr>
            <a:xfrm>
              <a:off x="732089" y="3453223"/>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500" name="Google Shape;500;p32"/>
            <p:cNvCxnSpPr>
              <a:stCxn id="492" idx="2"/>
              <a:endCxn id="493" idx="0"/>
            </p:cNvCxnSpPr>
            <p:nvPr/>
          </p:nvCxnSpPr>
          <p:spPr>
            <a:xfrm flipH="1">
              <a:off x="1495369" y="3052662"/>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501" name="Google Shape;501;p32"/>
            <p:cNvCxnSpPr>
              <a:stCxn id="492" idx="3"/>
              <a:endCxn id="495" idx="0"/>
            </p:cNvCxnSpPr>
            <p:nvPr/>
          </p:nvCxnSpPr>
          <p:spPr>
            <a:xfrm>
              <a:off x="1657069" y="2938812"/>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502" name="Google Shape;502;p32"/>
            <p:cNvCxnSpPr>
              <a:stCxn id="495" idx="2"/>
              <a:endCxn id="496" idx="0"/>
            </p:cNvCxnSpPr>
            <p:nvPr/>
          </p:nvCxnSpPr>
          <p:spPr>
            <a:xfrm>
              <a:off x="1928589" y="3503771"/>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503" name="Google Shape;503;p32"/>
            <p:cNvCxnSpPr>
              <a:stCxn id="495" idx="2"/>
              <a:endCxn id="494" idx="3"/>
            </p:cNvCxnSpPr>
            <p:nvPr/>
          </p:nvCxnSpPr>
          <p:spPr>
            <a:xfrm flipH="1">
              <a:off x="1711989" y="3503771"/>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504" name="Google Shape;504;p32"/>
            <p:cNvCxnSpPr>
              <a:stCxn id="493" idx="2"/>
              <a:endCxn id="494" idx="0"/>
            </p:cNvCxnSpPr>
            <p:nvPr/>
          </p:nvCxnSpPr>
          <p:spPr>
            <a:xfrm>
              <a:off x="1495253" y="3567073"/>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505" name="Google Shape;505;p32"/>
            <p:cNvCxnSpPr>
              <a:stCxn id="491" idx="3"/>
              <a:endCxn id="494" idx="1"/>
            </p:cNvCxnSpPr>
            <p:nvPr/>
          </p:nvCxnSpPr>
          <p:spPr>
            <a:xfrm rot="10800000" flipH="1">
              <a:off x="887478" y="4003576"/>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506" name="Google Shape;506;p32"/>
            <p:cNvCxnSpPr>
              <a:stCxn id="494" idx="2"/>
              <a:endCxn id="497" idx="0"/>
            </p:cNvCxnSpPr>
            <p:nvPr/>
          </p:nvCxnSpPr>
          <p:spPr>
            <a:xfrm>
              <a:off x="1572111" y="4117430"/>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507" name="Google Shape;507;p32"/>
            <p:cNvSpPr txBox="1"/>
            <p:nvPr/>
          </p:nvSpPr>
          <p:spPr>
            <a:xfrm>
              <a:off x="452500" y="4548430"/>
              <a:ext cx="2330100" cy="56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[H, E, B, D, A, G]</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C→F→G</a:t>
              </a:r>
              <a:endParaRPr>
                <a:latin typeface="Roboto"/>
                <a:ea typeface="Roboto"/>
                <a:cs typeface="Roboto"/>
                <a:sym typeface="Roboto"/>
              </a:endParaRPr>
            </a:p>
          </p:txBody>
        </p:sp>
      </p:grpSp>
      <p:grpSp>
        <p:nvGrpSpPr>
          <p:cNvPr id="508" name="Google Shape;508;p32"/>
          <p:cNvGrpSpPr/>
          <p:nvPr/>
        </p:nvGrpSpPr>
        <p:grpSpPr>
          <a:xfrm>
            <a:off x="3309820" y="2813948"/>
            <a:ext cx="2496605" cy="2291052"/>
            <a:chOff x="3309820" y="2813948"/>
            <a:chExt cx="2496605" cy="2291052"/>
          </a:xfrm>
        </p:grpSpPr>
        <p:sp>
          <p:nvSpPr>
            <p:cNvPr id="509" name="Google Shape;509;p32"/>
            <p:cNvSpPr txBox="1"/>
            <p:nvPr/>
          </p:nvSpPr>
          <p:spPr>
            <a:xfrm>
              <a:off x="4883911" y="3236773"/>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510" name="Google Shape;510;p32"/>
            <p:cNvSpPr/>
            <p:nvPr/>
          </p:nvSpPr>
          <p:spPr>
            <a:xfrm>
              <a:off x="3309820" y="332835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11" name="Google Shape;511;p32"/>
            <p:cNvSpPr/>
            <p:nvPr/>
          </p:nvSpPr>
          <p:spPr>
            <a:xfrm>
              <a:off x="3465209" y="394411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12" name="Google Shape;512;p32"/>
            <p:cNvSpPr/>
            <p:nvPr/>
          </p:nvSpPr>
          <p:spPr>
            <a:xfrm>
              <a:off x="4234800" y="281394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13" name="Google Shape;513;p32"/>
            <p:cNvSpPr/>
            <p:nvPr/>
          </p:nvSpPr>
          <p:spPr>
            <a:xfrm>
              <a:off x="4212783" y="332835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514" name="Google Shape;514;p32"/>
            <p:cNvSpPr/>
            <p:nvPr/>
          </p:nvSpPr>
          <p:spPr>
            <a:xfrm>
              <a:off x="4289641" y="387871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515" name="Google Shape;515;p32"/>
            <p:cNvSpPr/>
            <p:nvPr/>
          </p:nvSpPr>
          <p:spPr>
            <a:xfrm>
              <a:off x="4646119" y="326505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516" name="Google Shape;516;p32"/>
            <p:cNvSpPr/>
            <p:nvPr/>
          </p:nvSpPr>
          <p:spPr>
            <a:xfrm>
              <a:off x="5008855" y="385683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517" name="Google Shape;517;p32"/>
            <p:cNvSpPr/>
            <p:nvPr/>
          </p:nvSpPr>
          <p:spPr>
            <a:xfrm>
              <a:off x="4356746" y="433854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518" name="Google Shape;518;p32"/>
            <p:cNvCxnSpPr>
              <a:stCxn id="510" idx="2"/>
              <a:endCxn id="511" idx="0"/>
            </p:cNvCxnSpPr>
            <p:nvPr/>
          </p:nvCxnSpPr>
          <p:spPr>
            <a:xfrm>
              <a:off x="3449620" y="355605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519" name="Google Shape;519;p32"/>
            <p:cNvCxnSpPr>
              <a:stCxn id="510" idx="3"/>
              <a:endCxn id="513" idx="1"/>
            </p:cNvCxnSpPr>
            <p:nvPr/>
          </p:nvCxnSpPr>
          <p:spPr>
            <a:xfrm>
              <a:off x="3589420" y="344220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520" name="Google Shape;520;p32"/>
            <p:cNvCxnSpPr>
              <a:stCxn id="512" idx="2"/>
              <a:endCxn id="513" idx="0"/>
            </p:cNvCxnSpPr>
            <p:nvPr/>
          </p:nvCxnSpPr>
          <p:spPr>
            <a:xfrm flipH="1">
              <a:off x="4352700" y="304164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521" name="Google Shape;521;p32"/>
            <p:cNvCxnSpPr>
              <a:stCxn id="512" idx="3"/>
              <a:endCxn id="515" idx="0"/>
            </p:cNvCxnSpPr>
            <p:nvPr/>
          </p:nvCxnSpPr>
          <p:spPr>
            <a:xfrm>
              <a:off x="4514400" y="292779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522" name="Google Shape;522;p32"/>
            <p:cNvCxnSpPr>
              <a:stCxn id="515" idx="2"/>
              <a:endCxn id="516" idx="0"/>
            </p:cNvCxnSpPr>
            <p:nvPr/>
          </p:nvCxnSpPr>
          <p:spPr>
            <a:xfrm>
              <a:off x="4785919" y="349275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523" name="Google Shape;523;p32"/>
            <p:cNvCxnSpPr>
              <a:stCxn id="515" idx="2"/>
              <a:endCxn id="514" idx="3"/>
            </p:cNvCxnSpPr>
            <p:nvPr/>
          </p:nvCxnSpPr>
          <p:spPr>
            <a:xfrm flipH="1">
              <a:off x="4569319" y="349275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524" name="Google Shape;524;p32"/>
            <p:cNvCxnSpPr>
              <a:stCxn id="513" idx="2"/>
              <a:endCxn id="514" idx="0"/>
            </p:cNvCxnSpPr>
            <p:nvPr/>
          </p:nvCxnSpPr>
          <p:spPr>
            <a:xfrm>
              <a:off x="4352583" y="355605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525" name="Google Shape;525;p32"/>
            <p:cNvCxnSpPr>
              <a:stCxn id="511" idx="3"/>
              <a:endCxn id="514" idx="1"/>
            </p:cNvCxnSpPr>
            <p:nvPr/>
          </p:nvCxnSpPr>
          <p:spPr>
            <a:xfrm rot="10800000" flipH="1">
              <a:off x="3744809" y="399256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526" name="Google Shape;526;p32"/>
            <p:cNvCxnSpPr>
              <a:stCxn id="514" idx="2"/>
              <a:endCxn id="517" idx="0"/>
            </p:cNvCxnSpPr>
            <p:nvPr/>
          </p:nvCxnSpPr>
          <p:spPr>
            <a:xfrm>
              <a:off x="4429441" y="410641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527" name="Google Shape;527;p32"/>
            <p:cNvSpPr txBox="1"/>
            <p:nvPr/>
          </p:nvSpPr>
          <p:spPr>
            <a:xfrm>
              <a:off x="3309825" y="4537400"/>
              <a:ext cx="2496600" cy="56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a:ea typeface="Roboto"/>
                  <a:cs typeface="Roboto"/>
                  <a:sym typeface="Roboto"/>
                </a:rPr>
                <a:t>Postorder</a:t>
              </a:r>
              <a:r>
                <a:rPr lang="en">
                  <a:latin typeface="Roboto"/>
                  <a:ea typeface="Roboto"/>
                  <a:cs typeface="Roboto"/>
                  <a:sym typeface="Roboto"/>
                </a:rPr>
                <a:t>: [H, E, B, D, A, G, F]</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Call stack: C→F</a:t>
              </a:r>
              <a:endParaRPr>
                <a:latin typeface="Roboto"/>
                <a:ea typeface="Roboto"/>
                <a:cs typeface="Roboto"/>
                <a:sym typeface="Roboto"/>
              </a:endParaRPr>
            </a:p>
          </p:txBody>
        </p:sp>
      </p:grpSp>
      <p:grpSp>
        <p:nvGrpSpPr>
          <p:cNvPr id="528" name="Google Shape;528;p32"/>
          <p:cNvGrpSpPr/>
          <p:nvPr/>
        </p:nvGrpSpPr>
        <p:grpSpPr>
          <a:xfrm>
            <a:off x="6355025" y="2775348"/>
            <a:ext cx="2711700" cy="2335127"/>
            <a:chOff x="6355025" y="2775348"/>
            <a:chExt cx="2711700" cy="2335127"/>
          </a:xfrm>
        </p:grpSpPr>
        <p:sp>
          <p:nvSpPr>
            <p:cNvPr id="529" name="Google Shape;529;p32"/>
            <p:cNvSpPr txBox="1"/>
            <p:nvPr/>
          </p:nvSpPr>
          <p:spPr>
            <a:xfrm>
              <a:off x="7634686" y="2775348"/>
              <a:ext cx="341400" cy="1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530" name="Google Shape;530;p32"/>
            <p:cNvSpPr/>
            <p:nvPr/>
          </p:nvSpPr>
          <p:spPr>
            <a:xfrm>
              <a:off x="6479114" y="333382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31" name="Google Shape;531;p32"/>
            <p:cNvSpPr/>
            <p:nvPr/>
          </p:nvSpPr>
          <p:spPr>
            <a:xfrm>
              <a:off x="6634503" y="394958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32" name="Google Shape;532;p32"/>
            <p:cNvSpPr/>
            <p:nvPr/>
          </p:nvSpPr>
          <p:spPr>
            <a:xfrm>
              <a:off x="7404094" y="281941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33" name="Google Shape;533;p32"/>
            <p:cNvSpPr/>
            <p:nvPr/>
          </p:nvSpPr>
          <p:spPr>
            <a:xfrm>
              <a:off x="7382078" y="333382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534" name="Google Shape;534;p32"/>
            <p:cNvSpPr/>
            <p:nvPr/>
          </p:nvSpPr>
          <p:spPr>
            <a:xfrm>
              <a:off x="7458936" y="3884185"/>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535" name="Google Shape;535;p32"/>
            <p:cNvSpPr/>
            <p:nvPr/>
          </p:nvSpPr>
          <p:spPr>
            <a:xfrm>
              <a:off x="7815414" y="327052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536" name="Google Shape;536;p32"/>
            <p:cNvSpPr/>
            <p:nvPr/>
          </p:nvSpPr>
          <p:spPr>
            <a:xfrm>
              <a:off x="8178149" y="3862300"/>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537" name="Google Shape;537;p32"/>
            <p:cNvSpPr/>
            <p:nvPr/>
          </p:nvSpPr>
          <p:spPr>
            <a:xfrm>
              <a:off x="7526041" y="434401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538" name="Google Shape;538;p32"/>
            <p:cNvCxnSpPr>
              <a:stCxn id="530" idx="2"/>
              <a:endCxn id="531" idx="0"/>
            </p:cNvCxnSpPr>
            <p:nvPr/>
          </p:nvCxnSpPr>
          <p:spPr>
            <a:xfrm>
              <a:off x="6618914" y="356152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539" name="Google Shape;539;p32"/>
            <p:cNvCxnSpPr>
              <a:stCxn id="530" idx="3"/>
              <a:endCxn id="533" idx="1"/>
            </p:cNvCxnSpPr>
            <p:nvPr/>
          </p:nvCxnSpPr>
          <p:spPr>
            <a:xfrm>
              <a:off x="6758714" y="344767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540" name="Google Shape;540;p32"/>
            <p:cNvCxnSpPr>
              <a:stCxn id="532" idx="2"/>
              <a:endCxn id="533" idx="0"/>
            </p:cNvCxnSpPr>
            <p:nvPr/>
          </p:nvCxnSpPr>
          <p:spPr>
            <a:xfrm flipH="1">
              <a:off x="7521994" y="304711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541" name="Google Shape;541;p32"/>
            <p:cNvCxnSpPr>
              <a:stCxn id="532" idx="3"/>
              <a:endCxn id="535" idx="0"/>
            </p:cNvCxnSpPr>
            <p:nvPr/>
          </p:nvCxnSpPr>
          <p:spPr>
            <a:xfrm>
              <a:off x="7683694" y="293326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542" name="Google Shape;542;p32"/>
            <p:cNvCxnSpPr>
              <a:stCxn id="535" idx="2"/>
              <a:endCxn id="536" idx="0"/>
            </p:cNvCxnSpPr>
            <p:nvPr/>
          </p:nvCxnSpPr>
          <p:spPr>
            <a:xfrm>
              <a:off x="7955214" y="3498226"/>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543" name="Google Shape;543;p32"/>
            <p:cNvCxnSpPr>
              <a:stCxn id="535" idx="2"/>
              <a:endCxn id="534" idx="3"/>
            </p:cNvCxnSpPr>
            <p:nvPr/>
          </p:nvCxnSpPr>
          <p:spPr>
            <a:xfrm flipH="1">
              <a:off x="7738614" y="3498226"/>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544" name="Google Shape;544;p32"/>
            <p:cNvCxnSpPr>
              <a:stCxn id="533" idx="2"/>
              <a:endCxn id="534" idx="0"/>
            </p:cNvCxnSpPr>
            <p:nvPr/>
          </p:nvCxnSpPr>
          <p:spPr>
            <a:xfrm>
              <a:off x="7521878" y="356152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545" name="Google Shape;545;p32"/>
            <p:cNvCxnSpPr>
              <a:stCxn id="531" idx="3"/>
              <a:endCxn id="534" idx="1"/>
            </p:cNvCxnSpPr>
            <p:nvPr/>
          </p:nvCxnSpPr>
          <p:spPr>
            <a:xfrm rot="10800000" flipH="1">
              <a:off x="6914103" y="3998031"/>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546" name="Google Shape;546;p32"/>
            <p:cNvCxnSpPr>
              <a:stCxn id="534" idx="2"/>
              <a:endCxn id="537" idx="0"/>
            </p:cNvCxnSpPr>
            <p:nvPr/>
          </p:nvCxnSpPr>
          <p:spPr>
            <a:xfrm>
              <a:off x="7598736" y="4111885"/>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547" name="Google Shape;547;p32"/>
            <p:cNvSpPr txBox="1"/>
            <p:nvPr/>
          </p:nvSpPr>
          <p:spPr>
            <a:xfrm>
              <a:off x="6355025" y="4542875"/>
              <a:ext cx="2711700" cy="56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highlight>
                    <a:srgbClr val="FFFFFF"/>
                  </a:highlight>
                  <a:latin typeface="Roboto"/>
                  <a:ea typeface="Roboto"/>
                  <a:cs typeface="Roboto"/>
                  <a:sym typeface="Roboto"/>
                </a:rPr>
                <a:t>Postorder</a:t>
              </a:r>
              <a:r>
                <a:rPr lang="en">
                  <a:highlight>
                    <a:srgbClr val="FFFFFF"/>
                  </a:highlight>
                  <a:latin typeface="Roboto"/>
                  <a:ea typeface="Roboto"/>
                  <a:cs typeface="Roboto"/>
                  <a:sym typeface="Roboto"/>
                </a:rPr>
                <a:t>: [H, E, B, D, A, G, F, C]</a:t>
              </a:r>
              <a:endParaRPr>
                <a:highlight>
                  <a:srgbClr val="FFFFFF"/>
                </a:highlight>
                <a:latin typeface="Roboto"/>
                <a:ea typeface="Roboto"/>
                <a:cs typeface="Roboto"/>
                <a:sym typeface="Roboto"/>
              </a:endParaRPr>
            </a:p>
            <a:p>
              <a:pPr marL="0" lvl="0" indent="0" algn="l" rtl="0">
                <a:spcBef>
                  <a:spcPts val="0"/>
                </a:spcBef>
                <a:spcAft>
                  <a:spcPts val="0"/>
                </a:spcAft>
                <a:buNone/>
              </a:pPr>
              <a:r>
                <a:rPr lang="en">
                  <a:highlight>
                    <a:srgbClr val="FFFFFF"/>
                  </a:highlight>
                  <a:latin typeface="Roboto"/>
                  <a:ea typeface="Roboto"/>
                  <a:cs typeface="Roboto"/>
                  <a:sym typeface="Roboto"/>
                </a:rPr>
                <a:t>Call stack: C</a:t>
              </a:r>
              <a:endParaRPr>
                <a:highlight>
                  <a:srgbClr val="FFFFFF"/>
                </a:highlight>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3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Solution (Spoiler Alert)</a:t>
            </a:r>
            <a:endParaRPr/>
          </a:p>
        </p:txBody>
      </p:sp>
      <p:sp>
        <p:nvSpPr>
          <p:cNvPr id="553" name="Google Shape;553;p33"/>
          <p:cNvSpPr txBox="1">
            <a:spLocks noGrp="1"/>
          </p:cNvSpPr>
          <p:nvPr>
            <p:ph type="body" idx="1"/>
          </p:nvPr>
        </p:nvSpPr>
        <p:spPr>
          <a:xfrm>
            <a:off x="243000" y="2825750"/>
            <a:ext cx="8443800" cy="1884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Perform a DFS traversal from every vertex with indegree 0, NOT clearing markings in between traversals.</a:t>
            </a:r>
            <a:endParaRPr dirty="0"/>
          </a:p>
          <a:p>
            <a:pPr marL="457200" lvl="0" indent="-342900" algn="l" rtl="0">
              <a:spcBef>
                <a:spcPts val="600"/>
              </a:spcBef>
              <a:spcAft>
                <a:spcPts val="0"/>
              </a:spcAft>
              <a:buSzPts val="1800"/>
              <a:buChar char="●"/>
            </a:pPr>
            <a:r>
              <a:rPr lang="en" dirty="0"/>
              <a:t>Record DFS postorder in a list: [H, E, B, D, A, G, F, C]</a:t>
            </a:r>
            <a:endParaRPr dirty="0"/>
          </a:p>
          <a:p>
            <a:pPr marL="457200" lvl="0" indent="-342900" algn="l" rtl="0">
              <a:spcBef>
                <a:spcPts val="0"/>
              </a:spcBef>
              <a:spcAft>
                <a:spcPts val="0"/>
              </a:spcAft>
              <a:buSzPts val="1800"/>
              <a:buChar char="●"/>
            </a:pPr>
            <a:r>
              <a:rPr lang="en" u="sng" dirty="0"/>
              <a:t>Topological ordering is given by the reverse of that list (reverse postorder):</a:t>
            </a:r>
            <a:endParaRPr u="sng" dirty="0"/>
          </a:p>
          <a:p>
            <a:pPr marL="914400" lvl="1" indent="-342900" algn="l" rtl="0">
              <a:spcBef>
                <a:spcPts val="0"/>
              </a:spcBef>
              <a:spcAft>
                <a:spcPts val="0"/>
              </a:spcAft>
              <a:buSzPts val="1800"/>
              <a:buChar char="○"/>
            </a:pPr>
            <a:r>
              <a:rPr lang="en" u="sng" dirty="0"/>
              <a:t>[C, F, G, A, D, B, E, H]</a:t>
            </a:r>
            <a:endParaRPr u="sng" dirty="0"/>
          </a:p>
        </p:txBody>
      </p:sp>
      <p:grpSp>
        <p:nvGrpSpPr>
          <p:cNvPr id="554" name="Google Shape;554;p33"/>
          <p:cNvGrpSpPr/>
          <p:nvPr/>
        </p:nvGrpSpPr>
        <p:grpSpPr>
          <a:xfrm>
            <a:off x="3071707" y="733900"/>
            <a:ext cx="2419775" cy="1945738"/>
            <a:chOff x="756020" y="683300"/>
            <a:chExt cx="2419775" cy="1945738"/>
          </a:xfrm>
        </p:grpSpPr>
        <p:sp>
          <p:nvSpPr>
            <p:cNvPr id="555" name="Google Shape;555;p33"/>
            <p:cNvSpPr/>
            <p:nvPr/>
          </p:nvSpPr>
          <p:spPr>
            <a:xfrm>
              <a:off x="932470" y="19381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56" name="Google Shape;556;p33"/>
            <p:cNvSpPr/>
            <p:nvPr/>
          </p:nvSpPr>
          <p:spPr>
            <a:xfrm>
              <a:off x="1806370" y="68330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57" name="Google Shape;557;p33"/>
            <p:cNvSpPr/>
            <p:nvPr/>
          </p:nvSpPr>
          <p:spPr>
            <a:xfrm>
              <a:off x="178137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558" name="Google Shape;558;p33"/>
            <p:cNvSpPr/>
            <p:nvPr/>
          </p:nvSpPr>
          <p:spPr>
            <a:xfrm>
              <a:off x="1868645" y="18655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559" name="Google Shape;559;p33"/>
            <p:cNvSpPr/>
            <p:nvPr/>
          </p:nvSpPr>
          <p:spPr>
            <a:xfrm>
              <a:off x="2446495" y="118418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560" name="Google Shape;560;p33"/>
            <p:cNvSpPr/>
            <p:nvPr/>
          </p:nvSpPr>
          <p:spPr>
            <a:xfrm>
              <a:off x="2858395" y="18412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561" name="Google Shape;561;p33"/>
            <p:cNvSpPr/>
            <p:nvPr/>
          </p:nvSpPr>
          <p:spPr>
            <a:xfrm>
              <a:off x="1944845" y="23761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562" name="Google Shape;562;p33"/>
            <p:cNvCxnSpPr>
              <a:stCxn id="563" idx="2"/>
              <a:endCxn id="555" idx="0"/>
            </p:cNvCxnSpPr>
            <p:nvPr/>
          </p:nvCxnSpPr>
          <p:spPr>
            <a:xfrm>
              <a:off x="914720" y="1507375"/>
              <a:ext cx="176400" cy="430800"/>
            </a:xfrm>
            <a:prstGeom prst="straightConnector1">
              <a:avLst/>
            </a:prstGeom>
            <a:noFill/>
            <a:ln w="19050" cap="flat" cmpd="sng">
              <a:solidFill>
                <a:schemeClr val="dk2"/>
              </a:solidFill>
              <a:prstDash val="solid"/>
              <a:round/>
              <a:headEnd type="none" w="med" len="med"/>
              <a:tailEnd type="triangle" w="med" len="med"/>
            </a:ln>
          </p:spPr>
        </p:cxnSp>
        <p:cxnSp>
          <p:nvCxnSpPr>
            <p:cNvPr id="564" name="Google Shape;564;p33"/>
            <p:cNvCxnSpPr>
              <a:stCxn id="563" idx="3"/>
              <a:endCxn id="557" idx="1"/>
            </p:cNvCxnSpPr>
            <p:nvPr/>
          </p:nvCxnSpPr>
          <p:spPr>
            <a:xfrm>
              <a:off x="1073420" y="1380925"/>
              <a:ext cx="708000" cy="0"/>
            </a:xfrm>
            <a:prstGeom prst="straightConnector1">
              <a:avLst/>
            </a:prstGeom>
            <a:noFill/>
            <a:ln w="19050" cap="flat" cmpd="sng">
              <a:solidFill>
                <a:schemeClr val="dk2"/>
              </a:solidFill>
              <a:prstDash val="solid"/>
              <a:round/>
              <a:headEnd type="none" w="med" len="med"/>
              <a:tailEnd type="triangle" w="med" len="med"/>
            </a:ln>
          </p:spPr>
        </p:cxnSp>
        <p:cxnSp>
          <p:nvCxnSpPr>
            <p:cNvPr id="565" name="Google Shape;565;p33"/>
            <p:cNvCxnSpPr>
              <a:stCxn id="556" idx="2"/>
              <a:endCxn id="557" idx="0"/>
            </p:cNvCxnSpPr>
            <p:nvPr/>
          </p:nvCxnSpPr>
          <p:spPr>
            <a:xfrm flipH="1">
              <a:off x="1940170" y="936200"/>
              <a:ext cx="24900" cy="318300"/>
            </a:xfrm>
            <a:prstGeom prst="straightConnector1">
              <a:avLst/>
            </a:prstGeom>
            <a:noFill/>
            <a:ln w="19050" cap="flat" cmpd="sng">
              <a:solidFill>
                <a:schemeClr val="dk2"/>
              </a:solidFill>
              <a:prstDash val="solid"/>
              <a:round/>
              <a:headEnd type="none" w="med" len="med"/>
              <a:tailEnd type="triangle" w="med" len="med"/>
            </a:ln>
          </p:spPr>
        </p:cxnSp>
        <p:cxnSp>
          <p:nvCxnSpPr>
            <p:cNvPr id="566" name="Google Shape;566;p33"/>
            <p:cNvCxnSpPr>
              <a:stCxn id="556" idx="3"/>
              <a:endCxn id="559" idx="0"/>
            </p:cNvCxnSpPr>
            <p:nvPr/>
          </p:nvCxnSpPr>
          <p:spPr>
            <a:xfrm>
              <a:off x="2123770" y="809750"/>
              <a:ext cx="481500" cy="374400"/>
            </a:xfrm>
            <a:prstGeom prst="straightConnector1">
              <a:avLst/>
            </a:prstGeom>
            <a:noFill/>
            <a:ln w="19050" cap="flat" cmpd="sng">
              <a:solidFill>
                <a:schemeClr val="dk2"/>
              </a:solidFill>
              <a:prstDash val="solid"/>
              <a:round/>
              <a:headEnd type="none" w="med" len="med"/>
              <a:tailEnd type="triangle" w="med" len="med"/>
            </a:ln>
          </p:spPr>
        </p:cxnSp>
        <p:cxnSp>
          <p:nvCxnSpPr>
            <p:cNvPr id="567" name="Google Shape;567;p33"/>
            <p:cNvCxnSpPr>
              <a:stCxn id="559" idx="2"/>
              <a:endCxn id="560" idx="0"/>
            </p:cNvCxnSpPr>
            <p:nvPr/>
          </p:nvCxnSpPr>
          <p:spPr>
            <a:xfrm>
              <a:off x="2605195" y="1437088"/>
              <a:ext cx="411900" cy="404100"/>
            </a:xfrm>
            <a:prstGeom prst="straightConnector1">
              <a:avLst/>
            </a:prstGeom>
            <a:noFill/>
            <a:ln w="19050" cap="flat" cmpd="sng">
              <a:solidFill>
                <a:schemeClr val="dk2"/>
              </a:solidFill>
              <a:prstDash val="solid"/>
              <a:round/>
              <a:headEnd type="none" w="med" len="med"/>
              <a:tailEnd type="triangle" w="med" len="med"/>
            </a:ln>
          </p:spPr>
        </p:cxnSp>
        <p:cxnSp>
          <p:nvCxnSpPr>
            <p:cNvPr id="568" name="Google Shape;568;p33"/>
            <p:cNvCxnSpPr>
              <a:stCxn id="559" idx="2"/>
              <a:endCxn id="558" idx="3"/>
            </p:cNvCxnSpPr>
            <p:nvPr/>
          </p:nvCxnSpPr>
          <p:spPr>
            <a:xfrm flipH="1">
              <a:off x="2186095" y="1437088"/>
              <a:ext cx="419100" cy="555000"/>
            </a:xfrm>
            <a:prstGeom prst="straightConnector1">
              <a:avLst/>
            </a:prstGeom>
            <a:noFill/>
            <a:ln w="19050" cap="flat" cmpd="sng">
              <a:solidFill>
                <a:schemeClr val="dk2"/>
              </a:solidFill>
              <a:prstDash val="solid"/>
              <a:round/>
              <a:headEnd type="none" w="med" len="med"/>
              <a:tailEnd type="triangle" w="med" len="med"/>
            </a:ln>
          </p:spPr>
        </p:cxnSp>
        <p:cxnSp>
          <p:nvCxnSpPr>
            <p:cNvPr id="569" name="Google Shape;569;p33"/>
            <p:cNvCxnSpPr>
              <a:stCxn id="557" idx="2"/>
              <a:endCxn id="558" idx="0"/>
            </p:cNvCxnSpPr>
            <p:nvPr/>
          </p:nvCxnSpPr>
          <p:spPr>
            <a:xfrm>
              <a:off x="1940070" y="1507375"/>
              <a:ext cx="87300" cy="358200"/>
            </a:xfrm>
            <a:prstGeom prst="straightConnector1">
              <a:avLst/>
            </a:prstGeom>
            <a:noFill/>
            <a:ln w="19050" cap="flat" cmpd="sng">
              <a:solidFill>
                <a:schemeClr val="dk2"/>
              </a:solidFill>
              <a:prstDash val="solid"/>
              <a:round/>
              <a:headEnd type="none" w="med" len="med"/>
              <a:tailEnd type="triangle" w="med" len="med"/>
            </a:ln>
          </p:spPr>
        </p:cxnSp>
        <p:cxnSp>
          <p:nvCxnSpPr>
            <p:cNvPr id="570" name="Google Shape;570;p33"/>
            <p:cNvCxnSpPr>
              <a:stCxn id="555" idx="3"/>
              <a:endCxn id="558" idx="1"/>
            </p:cNvCxnSpPr>
            <p:nvPr/>
          </p:nvCxnSpPr>
          <p:spPr>
            <a:xfrm rot="10800000" flipH="1">
              <a:off x="1249870" y="1992025"/>
              <a:ext cx="618900" cy="72600"/>
            </a:xfrm>
            <a:prstGeom prst="straightConnector1">
              <a:avLst/>
            </a:prstGeom>
            <a:noFill/>
            <a:ln w="19050" cap="flat" cmpd="sng">
              <a:solidFill>
                <a:schemeClr val="dk2"/>
              </a:solidFill>
              <a:prstDash val="solid"/>
              <a:round/>
              <a:headEnd type="none" w="med" len="med"/>
              <a:tailEnd type="triangle" w="med" len="med"/>
            </a:ln>
          </p:spPr>
        </p:cxnSp>
        <p:cxnSp>
          <p:nvCxnSpPr>
            <p:cNvPr id="571" name="Google Shape;571;p33"/>
            <p:cNvCxnSpPr>
              <a:stCxn id="558" idx="2"/>
              <a:endCxn id="561" idx="0"/>
            </p:cNvCxnSpPr>
            <p:nvPr/>
          </p:nvCxnSpPr>
          <p:spPr>
            <a:xfrm>
              <a:off x="2027345" y="2118463"/>
              <a:ext cx="76200" cy="257700"/>
            </a:xfrm>
            <a:prstGeom prst="straightConnector1">
              <a:avLst/>
            </a:prstGeom>
            <a:noFill/>
            <a:ln w="19050" cap="flat" cmpd="sng">
              <a:solidFill>
                <a:schemeClr val="dk2"/>
              </a:solidFill>
              <a:prstDash val="solid"/>
              <a:round/>
              <a:headEnd type="none" w="med" len="med"/>
              <a:tailEnd type="triangle" w="med" len="med"/>
            </a:ln>
          </p:spPr>
        </p:cxnSp>
        <p:sp>
          <p:nvSpPr>
            <p:cNvPr id="563" name="Google Shape;563;p33"/>
            <p:cNvSpPr/>
            <p:nvPr/>
          </p:nvSpPr>
          <p:spPr>
            <a:xfrm>
              <a:off x="75602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3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Topological Sort</a:t>
            </a:r>
            <a:endParaRPr/>
          </a:p>
        </p:txBody>
      </p:sp>
      <p:sp>
        <p:nvSpPr>
          <p:cNvPr id="577" name="Google Shape;577;p34"/>
          <p:cNvSpPr txBox="1">
            <a:spLocks noGrp="1"/>
          </p:cNvSpPr>
          <p:nvPr>
            <p:ph type="body" idx="1"/>
          </p:nvPr>
        </p:nvSpPr>
        <p:spPr>
          <a:xfrm>
            <a:off x="243000" y="3557500"/>
            <a:ext cx="8597400" cy="1152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The reason it’s called topological sort: Can think of this process as sorting our nodes so they appear in an order consistent with edges, e.g. [C, F, G, A, D, B, E, H]</a:t>
            </a:r>
            <a:endParaRPr dirty="0"/>
          </a:p>
          <a:p>
            <a:pPr marL="457200" lvl="0" indent="-342900" algn="l" rtl="0">
              <a:spcBef>
                <a:spcPts val="600"/>
              </a:spcBef>
              <a:spcAft>
                <a:spcPts val="0"/>
              </a:spcAft>
              <a:buSzPts val="1800"/>
              <a:buChar char="●"/>
            </a:pPr>
            <a:r>
              <a:rPr lang="en" dirty="0"/>
              <a:t>When nodes are </a:t>
            </a:r>
            <a:r>
              <a:rPr lang="en" b="1" dirty="0">
                <a:solidFill>
                  <a:srgbClr val="00B0F0"/>
                </a:solidFill>
              </a:rPr>
              <a:t>sorted</a:t>
            </a:r>
            <a:r>
              <a:rPr lang="en" dirty="0"/>
              <a:t> in diagram, arrows </a:t>
            </a:r>
            <a:r>
              <a:rPr lang="en" b="1" dirty="0">
                <a:solidFill>
                  <a:srgbClr val="00B0F0"/>
                </a:solidFill>
              </a:rPr>
              <a:t>all point rightwards.</a:t>
            </a:r>
            <a:endParaRPr b="1" dirty="0">
              <a:solidFill>
                <a:srgbClr val="00B0F0"/>
              </a:solidFill>
            </a:endParaRPr>
          </a:p>
        </p:txBody>
      </p:sp>
      <p:sp>
        <p:nvSpPr>
          <p:cNvPr id="578" name="Google Shape;578;p34"/>
          <p:cNvSpPr/>
          <p:nvPr/>
        </p:nvSpPr>
        <p:spPr>
          <a:xfrm>
            <a:off x="5983702"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79" name="Google Shape;579;p34"/>
          <p:cNvSpPr/>
          <p:nvPr/>
        </p:nvSpPr>
        <p:spPr>
          <a:xfrm>
            <a:off x="7293586"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80" name="Google Shape;580;p34"/>
          <p:cNvSpPr/>
          <p:nvPr/>
        </p:nvSpPr>
        <p:spPr>
          <a:xfrm>
            <a:off x="4018907"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81" name="Google Shape;581;p34"/>
          <p:cNvSpPr/>
          <p:nvPr/>
        </p:nvSpPr>
        <p:spPr>
          <a:xfrm>
            <a:off x="6638650"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582" name="Google Shape;582;p34"/>
          <p:cNvSpPr/>
          <p:nvPr/>
        </p:nvSpPr>
        <p:spPr>
          <a:xfrm>
            <a:off x="7948522"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583" name="Google Shape;583;p34"/>
          <p:cNvSpPr/>
          <p:nvPr/>
        </p:nvSpPr>
        <p:spPr>
          <a:xfrm>
            <a:off x="4673843"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584" name="Google Shape;584;p34"/>
          <p:cNvSpPr/>
          <p:nvPr/>
        </p:nvSpPr>
        <p:spPr>
          <a:xfrm>
            <a:off x="5328779"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585" name="Google Shape;585;p34"/>
          <p:cNvSpPr/>
          <p:nvPr/>
        </p:nvSpPr>
        <p:spPr>
          <a:xfrm>
            <a:off x="8658532" y="203582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586" name="Google Shape;586;p34"/>
          <p:cNvCxnSpPr>
            <a:stCxn id="580" idx="3"/>
            <a:endCxn id="583" idx="1"/>
          </p:cNvCxnSpPr>
          <p:nvPr/>
        </p:nvCxnSpPr>
        <p:spPr>
          <a:xfrm>
            <a:off x="4336307" y="2162275"/>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587" name="Google Shape;587;p34"/>
          <p:cNvCxnSpPr>
            <a:stCxn id="580" idx="0"/>
            <a:endCxn id="581" idx="0"/>
          </p:cNvCxnSpPr>
          <p:nvPr/>
        </p:nvCxnSpPr>
        <p:spPr>
          <a:xfrm rot="-5400000" flipH="1">
            <a:off x="5487107" y="726325"/>
            <a:ext cx="600" cy="26196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588" name="Google Shape;588;p34"/>
          <p:cNvCxnSpPr>
            <a:stCxn id="583" idx="3"/>
            <a:endCxn id="584" idx="1"/>
          </p:cNvCxnSpPr>
          <p:nvPr/>
        </p:nvCxnSpPr>
        <p:spPr>
          <a:xfrm>
            <a:off x="4991243" y="2162275"/>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589" name="Google Shape;589;p34"/>
          <p:cNvCxnSpPr>
            <a:stCxn id="583" idx="2"/>
            <a:endCxn id="582" idx="2"/>
          </p:cNvCxnSpPr>
          <p:nvPr/>
        </p:nvCxnSpPr>
        <p:spPr>
          <a:xfrm rot="-5400000" flipH="1">
            <a:off x="6469643" y="651625"/>
            <a:ext cx="600" cy="3274800"/>
          </a:xfrm>
          <a:prstGeom prst="curvedConnector3">
            <a:avLst>
              <a:gd name="adj1" fmla="val 68279167"/>
            </a:avLst>
          </a:prstGeom>
          <a:noFill/>
          <a:ln w="19050" cap="flat" cmpd="sng">
            <a:solidFill>
              <a:schemeClr val="dk2"/>
            </a:solidFill>
            <a:prstDash val="solid"/>
            <a:round/>
            <a:headEnd type="none" w="med" len="med"/>
            <a:tailEnd type="triangle" w="med" len="med"/>
          </a:ln>
        </p:spPr>
      </p:cxnSp>
      <p:cxnSp>
        <p:nvCxnSpPr>
          <p:cNvPr id="590" name="Google Shape;590;p34"/>
          <p:cNvCxnSpPr>
            <a:stCxn id="578" idx="3"/>
            <a:endCxn id="581" idx="1"/>
          </p:cNvCxnSpPr>
          <p:nvPr/>
        </p:nvCxnSpPr>
        <p:spPr>
          <a:xfrm>
            <a:off x="6301102" y="2162275"/>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591" name="Google Shape;591;p34"/>
          <p:cNvCxnSpPr>
            <a:stCxn id="578" idx="2"/>
            <a:endCxn id="579" idx="2"/>
          </p:cNvCxnSpPr>
          <p:nvPr/>
        </p:nvCxnSpPr>
        <p:spPr>
          <a:xfrm rot="-5400000" flipH="1">
            <a:off x="6797002" y="1634125"/>
            <a:ext cx="600" cy="13098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592" name="Google Shape;592;p34"/>
          <p:cNvCxnSpPr>
            <a:stCxn id="579" idx="3"/>
            <a:endCxn id="582" idx="1"/>
          </p:cNvCxnSpPr>
          <p:nvPr/>
        </p:nvCxnSpPr>
        <p:spPr>
          <a:xfrm>
            <a:off x="7610986" y="2162275"/>
            <a:ext cx="337500" cy="0"/>
          </a:xfrm>
          <a:prstGeom prst="straightConnector1">
            <a:avLst/>
          </a:prstGeom>
          <a:noFill/>
          <a:ln w="19050" cap="flat" cmpd="sng">
            <a:solidFill>
              <a:schemeClr val="dk2"/>
            </a:solidFill>
            <a:prstDash val="solid"/>
            <a:round/>
            <a:headEnd type="none" w="med" len="med"/>
            <a:tailEnd type="triangle" w="med" len="med"/>
          </a:ln>
        </p:spPr>
      </p:cxnSp>
      <p:cxnSp>
        <p:nvCxnSpPr>
          <p:cNvPr id="593" name="Google Shape;593;p34"/>
          <p:cNvCxnSpPr>
            <a:stCxn id="581" idx="0"/>
            <a:endCxn id="582" idx="0"/>
          </p:cNvCxnSpPr>
          <p:nvPr/>
        </p:nvCxnSpPr>
        <p:spPr>
          <a:xfrm rot="-5400000" flipH="1">
            <a:off x="7451950" y="1381225"/>
            <a:ext cx="600" cy="13098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594" name="Google Shape;594;p34"/>
          <p:cNvCxnSpPr>
            <a:stCxn id="582" idx="3"/>
            <a:endCxn id="585" idx="1"/>
          </p:cNvCxnSpPr>
          <p:nvPr/>
        </p:nvCxnSpPr>
        <p:spPr>
          <a:xfrm>
            <a:off x="8265922" y="2162275"/>
            <a:ext cx="392700" cy="0"/>
          </a:xfrm>
          <a:prstGeom prst="straightConnector1">
            <a:avLst/>
          </a:prstGeom>
          <a:noFill/>
          <a:ln w="19050" cap="flat" cmpd="sng">
            <a:solidFill>
              <a:schemeClr val="dk2"/>
            </a:solidFill>
            <a:prstDash val="solid"/>
            <a:round/>
            <a:headEnd type="none" w="med" len="med"/>
            <a:tailEnd type="triangle" w="med" len="med"/>
          </a:ln>
        </p:spPr>
      </p:cxnSp>
      <p:sp>
        <p:nvSpPr>
          <p:cNvPr id="595" name="Google Shape;595;p34"/>
          <p:cNvSpPr/>
          <p:nvPr/>
        </p:nvSpPr>
        <p:spPr>
          <a:xfrm>
            <a:off x="826907" y="15738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596" name="Google Shape;596;p34"/>
          <p:cNvSpPr/>
          <p:nvPr/>
        </p:nvSpPr>
        <p:spPr>
          <a:xfrm>
            <a:off x="1003357" y="22575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97" name="Google Shape;597;p34"/>
          <p:cNvSpPr/>
          <p:nvPr/>
        </p:nvSpPr>
        <p:spPr>
          <a:xfrm>
            <a:off x="1877257" y="10026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598" name="Google Shape;598;p34"/>
          <p:cNvSpPr/>
          <p:nvPr/>
        </p:nvSpPr>
        <p:spPr>
          <a:xfrm>
            <a:off x="1852257" y="157385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599" name="Google Shape;599;p34"/>
          <p:cNvSpPr/>
          <p:nvPr/>
        </p:nvSpPr>
        <p:spPr>
          <a:xfrm>
            <a:off x="1939532" y="21849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sp>
        <p:nvSpPr>
          <p:cNvPr id="600" name="Google Shape;600;p34"/>
          <p:cNvSpPr/>
          <p:nvPr/>
        </p:nvSpPr>
        <p:spPr>
          <a:xfrm>
            <a:off x="2517382" y="15035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601" name="Google Shape;601;p34"/>
          <p:cNvSpPr/>
          <p:nvPr/>
        </p:nvSpPr>
        <p:spPr>
          <a:xfrm>
            <a:off x="2929282" y="21606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602" name="Google Shape;602;p34"/>
          <p:cNvSpPr/>
          <p:nvPr/>
        </p:nvSpPr>
        <p:spPr>
          <a:xfrm>
            <a:off x="2015732" y="269551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603" name="Google Shape;603;p34"/>
          <p:cNvCxnSpPr>
            <a:stCxn id="595" idx="2"/>
            <a:endCxn id="596" idx="0"/>
          </p:cNvCxnSpPr>
          <p:nvPr/>
        </p:nvCxnSpPr>
        <p:spPr>
          <a:xfrm>
            <a:off x="985607" y="1826750"/>
            <a:ext cx="176400" cy="430800"/>
          </a:xfrm>
          <a:prstGeom prst="straightConnector1">
            <a:avLst/>
          </a:prstGeom>
          <a:noFill/>
          <a:ln w="19050" cap="flat" cmpd="sng">
            <a:solidFill>
              <a:schemeClr val="dk2"/>
            </a:solidFill>
            <a:prstDash val="solid"/>
            <a:round/>
            <a:headEnd type="none" w="med" len="med"/>
            <a:tailEnd type="triangle" w="med" len="med"/>
          </a:ln>
        </p:spPr>
      </p:cxnSp>
      <p:cxnSp>
        <p:nvCxnSpPr>
          <p:cNvPr id="604" name="Google Shape;604;p34"/>
          <p:cNvCxnSpPr>
            <a:stCxn id="595" idx="3"/>
            <a:endCxn id="598" idx="1"/>
          </p:cNvCxnSpPr>
          <p:nvPr/>
        </p:nvCxnSpPr>
        <p:spPr>
          <a:xfrm>
            <a:off x="1144307" y="1700300"/>
            <a:ext cx="708000" cy="0"/>
          </a:xfrm>
          <a:prstGeom prst="straightConnector1">
            <a:avLst/>
          </a:prstGeom>
          <a:noFill/>
          <a:ln w="19050" cap="flat" cmpd="sng">
            <a:solidFill>
              <a:schemeClr val="dk2"/>
            </a:solidFill>
            <a:prstDash val="solid"/>
            <a:round/>
            <a:headEnd type="none" w="med" len="med"/>
            <a:tailEnd type="triangle" w="med" len="med"/>
          </a:ln>
        </p:spPr>
      </p:cxnSp>
      <p:cxnSp>
        <p:nvCxnSpPr>
          <p:cNvPr id="605" name="Google Shape;605;p34"/>
          <p:cNvCxnSpPr>
            <a:stCxn id="597" idx="2"/>
            <a:endCxn id="598" idx="0"/>
          </p:cNvCxnSpPr>
          <p:nvPr/>
        </p:nvCxnSpPr>
        <p:spPr>
          <a:xfrm flipH="1">
            <a:off x="2011057" y="1255575"/>
            <a:ext cx="24900" cy="318300"/>
          </a:xfrm>
          <a:prstGeom prst="straightConnector1">
            <a:avLst/>
          </a:prstGeom>
          <a:noFill/>
          <a:ln w="19050" cap="flat" cmpd="sng">
            <a:solidFill>
              <a:schemeClr val="dk2"/>
            </a:solidFill>
            <a:prstDash val="solid"/>
            <a:round/>
            <a:headEnd type="none" w="med" len="med"/>
            <a:tailEnd type="triangle" w="med" len="med"/>
          </a:ln>
        </p:spPr>
      </p:cxnSp>
      <p:cxnSp>
        <p:nvCxnSpPr>
          <p:cNvPr id="606" name="Google Shape;606;p34"/>
          <p:cNvCxnSpPr>
            <a:stCxn id="597" idx="3"/>
            <a:endCxn id="600" idx="0"/>
          </p:cNvCxnSpPr>
          <p:nvPr/>
        </p:nvCxnSpPr>
        <p:spPr>
          <a:xfrm>
            <a:off x="2194657" y="1129125"/>
            <a:ext cx="481500" cy="374400"/>
          </a:xfrm>
          <a:prstGeom prst="straightConnector1">
            <a:avLst/>
          </a:prstGeom>
          <a:noFill/>
          <a:ln w="19050" cap="flat" cmpd="sng">
            <a:solidFill>
              <a:schemeClr val="dk2"/>
            </a:solidFill>
            <a:prstDash val="solid"/>
            <a:round/>
            <a:headEnd type="none" w="med" len="med"/>
            <a:tailEnd type="triangle" w="med" len="med"/>
          </a:ln>
        </p:spPr>
      </p:cxnSp>
      <p:cxnSp>
        <p:nvCxnSpPr>
          <p:cNvPr id="607" name="Google Shape;607;p34"/>
          <p:cNvCxnSpPr>
            <a:stCxn id="600" idx="2"/>
            <a:endCxn id="601" idx="0"/>
          </p:cNvCxnSpPr>
          <p:nvPr/>
        </p:nvCxnSpPr>
        <p:spPr>
          <a:xfrm>
            <a:off x="2676082" y="1756463"/>
            <a:ext cx="411900" cy="404100"/>
          </a:xfrm>
          <a:prstGeom prst="straightConnector1">
            <a:avLst/>
          </a:prstGeom>
          <a:noFill/>
          <a:ln w="19050" cap="flat" cmpd="sng">
            <a:solidFill>
              <a:schemeClr val="dk2"/>
            </a:solidFill>
            <a:prstDash val="solid"/>
            <a:round/>
            <a:headEnd type="none" w="med" len="med"/>
            <a:tailEnd type="triangle" w="med" len="med"/>
          </a:ln>
        </p:spPr>
      </p:cxnSp>
      <p:cxnSp>
        <p:nvCxnSpPr>
          <p:cNvPr id="608" name="Google Shape;608;p34"/>
          <p:cNvCxnSpPr>
            <a:stCxn id="600" idx="2"/>
            <a:endCxn id="599" idx="3"/>
          </p:cNvCxnSpPr>
          <p:nvPr/>
        </p:nvCxnSpPr>
        <p:spPr>
          <a:xfrm flipH="1">
            <a:off x="2256982" y="1756463"/>
            <a:ext cx="419100" cy="555000"/>
          </a:xfrm>
          <a:prstGeom prst="straightConnector1">
            <a:avLst/>
          </a:prstGeom>
          <a:noFill/>
          <a:ln w="19050" cap="flat" cmpd="sng">
            <a:solidFill>
              <a:schemeClr val="dk2"/>
            </a:solidFill>
            <a:prstDash val="solid"/>
            <a:round/>
            <a:headEnd type="none" w="med" len="med"/>
            <a:tailEnd type="triangle" w="med" len="med"/>
          </a:ln>
        </p:spPr>
      </p:cxnSp>
      <p:cxnSp>
        <p:nvCxnSpPr>
          <p:cNvPr id="609" name="Google Shape;609;p34"/>
          <p:cNvCxnSpPr>
            <a:stCxn id="598" idx="2"/>
            <a:endCxn id="599" idx="0"/>
          </p:cNvCxnSpPr>
          <p:nvPr/>
        </p:nvCxnSpPr>
        <p:spPr>
          <a:xfrm>
            <a:off x="2010957" y="1826750"/>
            <a:ext cx="87300" cy="358200"/>
          </a:xfrm>
          <a:prstGeom prst="straightConnector1">
            <a:avLst/>
          </a:prstGeom>
          <a:noFill/>
          <a:ln w="19050" cap="flat" cmpd="sng">
            <a:solidFill>
              <a:schemeClr val="dk2"/>
            </a:solidFill>
            <a:prstDash val="solid"/>
            <a:round/>
            <a:headEnd type="none" w="med" len="med"/>
            <a:tailEnd type="triangle" w="med" len="med"/>
          </a:ln>
        </p:spPr>
      </p:cxnSp>
      <p:cxnSp>
        <p:nvCxnSpPr>
          <p:cNvPr id="610" name="Google Shape;610;p34"/>
          <p:cNvCxnSpPr>
            <a:stCxn id="596" idx="3"/>
            <a:endCxn id="599" idx="1"/>
          </p:cNvCxnSpPr>
          <p:nvPr/>
        </p:nvCxnSpPr>
        <p:spPr>
          <a:xfrm rot="10800000" flipH="1">
            <a:off x="1320757" y="2311400"/>
            <a:ext cx="618900" cy="72600"/>
          </a:xfrm>
          <a:prstGeom prst="straightConnector1">
            <a:avLst/>
          </a:prstGeom>
          <a:noFill/>
          <a:ln w="19050" cap="flat" cmpd="sng">
            <a:solidFill>
              <a:schemeClr val="dk2"/>
            </a:solidFill>
            <a:prstDash val="solid"/>
            <a:round/>
            <a:headEnd type="none" w="med" len="med"/>
            <a:tailEnd type="triangle" w="med" len="med"/>
          </a:ln>
        </p:spPr>
      </p:cxnSp>
      <p:cxnSp>
        <p:nvCxnSpPr>
          <p:cNvPr id="611" name="Google Shape;611;p34"/>
          <p:cNvCxnSpPr>
            <a:stCxn id="599" idx="2"/>
            <a:endCxn id="602" idx="0"/>
          </p:cNvCxnSpPr>
          <p:nvPr/>
        </p:nvCxnSpPr>
        <p:spPr>
          <a:xfrm>
            <a:off x="2098232" y="2437838"/>
            <a:ext cx="76200" cy="2577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3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Depth First Search</a:t>
            </a:r>
            <a:endParaRPr/>
          </a:p>
        </p:txBody>
      </p:sp>
      <p:sp>
        <p:nvSpPr>
          <p:cNvPr id="617" name="Google Shape;617;p3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Be aware, that when people say “Depth First Search”, they sometimes mean with </a:t>
            </a:r>
            <a:r>
              <a:rPr lang="en" dirty="0">
                <a:solidFill>
                  <a:srgbClr val="FF0000"/>
                </a:solidFill>
              </a:rPr>
              <a:t>restarts</a:t>
            </a:r>
            <a:r>
              <a:rPr lang="en" dirty="0"/>
              <a:t>, and they sometimes mean without.</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For example, when we did DepthFirstPaths for reachability, we did not restart.</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For Topological Sort, we </a:t>
            </a:r>
            <a:r>
              <a:rPr lang="en" dirty="0">
                <a:solidFill>
                  <a:srgbClr val="FF0000"/>
                </a:solidFill>
              </a:rPr>
              <a:t>restarted </a:t>
            </a:r>
            <a:r>
              <a:rPr lang="en" dirty="0"/>
              <a:t>from every vertex with </a:t>
            </a:r>
            <a:r>
              <a:rPr lang="en" dirty="0">
                <a:solidFill>
                  <a:srgbClr val="FF0000"/>
                </a:solidFill>
              </a:rPr>
              <a:t>indegree 0.  (</a:t>
            </a:r>
            <a:r>
              <a:rPr lang="zh-CN" altLang="en-US" dirty="0">
                <a:solidFill>
                  <a:srgbClr val="FF0000"/>
                </a:solidFill>
              </a:rPr>
              <a:t>入度为</a:t>
            </a:r>
            <a:r>
              <a:rPr lang="en-US" altLang="zh-CN" dirty="0">
                <a:solidFill>
                  <a:srgbClr val="FF0000"/>
                </a:solidFill>
              </a:rPr>
              <a:t>0)</a:t>
            </a:r>
            <a:endParaRPr dirty="0">
              <a:solidFill>
                <a:srgbClr val="FF0000"/>
              </a:solidFill>
            </a:endParaRPr>
          </a:p>
          <a:p>
            <a:pPr marL="0" lvl="0" indent="0" algn="l" rtl="0">
              <a:spcBef>
                <a:spcPts val="600"/>
              </a:spcBef>
              <a:spcAft>
                <a:spcPts val="0"/>
              </a:spcAft>
              <a:buNone/>
            </a:pPr>
            <a:endParaRPr dirty="0"/>
          </a:p>
          <a:p>
            <a:pPr marL="0" lvl="0" indent="0" algn="l" rtl="0">
              <a:spcBef>
                <a:spcPts val="600"/>
              </a:spcBef>
              <a:spcAft>
                <a:spcPts val="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3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a:t>
            </a:r>
            <a:endParaRPr/>
          </a:p>
        </p:txBody>
      </p:sp>
      <p:sp>
        <p:nvSpPr>
          <p:cNvPr id="623" name="Google Shape;623;p3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the runtime to find all vertices of indegree 0?</a:t>
            </a:r>
            <a:endParaRPr/>
          </a:p>
          <a:p>
            <a:pPr marL="457200" lvl="0" indent="-342900" algn="l" rtl="0">
              <a:spcBef>
                <a:spcPts val="600"/>
              </a:spcBef>
              <a:spcAft>
                <a:spcPts val="0"/>
              </a:spcAft>
              <a:buSzPts val="1800"/>
              <a:buChar char="●"/>
            </a:pPr>
            <a:r>
              <a:rPr lang="en"/>
              <a:t>Interesting thing I did not tell you: You don’t have to.</a:t>
            </a:r>
            <a:endParaRPr/>
          </a:p>
          <a:p>
            <a:pPr marL="0" lvl="0" indent="0" algn="l" rtl="0">
              <a:spcBef>
                <a:spcPts val="600"/>
              </a:spcBef>
              <a:spcAft>
                <a:spcPts val="0"/>
              </a:spcAft>
              <a:buNone/>
            </a:pPr>
            <a:endParaRPr/>
          </a:p>
          <a:p>
            <a:pPr marL="0" lvl="0" indent="0" algn="l" rtl="0">
              <a:spcBef>
                <a:spcPts val="600"/>
              </a:spcBef>
              <a:spcAft>
                <a:spcPts val="0"/>
              </a:spcAft>
              <a:buNone/>
            </a:pPr>
            <a:r>
              <a:rPr lang="en"/>
              <a:t>Another better topological sort algorithm:</a:t>
            </a:r>
            <a:endParaRPr/>
          </a:p>
          <a:p>
            <a:pPr marL="457200" lvl="0" indent="-342900" algn="l" rtl="0">
              <a:spcBef>
                <a:spcPts val="600"/>
              </a:spcBef>
              <a:spcAft>
                <a:spcPts val="0"/>
              </a:spcAft>
              <a:buSzPts val="1800"/>
              <a:buChar char="●"/>
            </a:pPr>
            <a:r>
              <a:rPr lang="en"/>
              <a:t>Run DFS from an arbitrary vertex.</a:t>
            </a:r>
            <a:endParaRPr/>
          </a:p>
          <a:p>
            <a:pPr marL="457200" lvl="0" indent="-342900" algn="l" rtl="0">
              <a:spcBef>
                <a:spcPts val="600"/>
              </a:spcBef>
              <a:spcAft>
                <a:spcPts val="0"/>
              </a:spcAft>
              <a:buSzPts val="1800"/>
              <a:buChar char="●"/>
            </a:pPr>
            <a:r>
              <a:rPr lang="en"/>
              <a:t>If not all marked, pick an unmarked vertex and do it again.</a:t>
            </a:r>
            <a:endParaRPr/>
          </a:p>
          <a:p>
            <a:pPr marL="457200" lvl="0" indent="-342900" algn="l" rtl="0">
              <a:spcBef>
                <a:spcPts val="600"/>
              </a:spcBef>
              <a:spcAft>
                <a:spcPts val="0"/>
              </a:spcAft>
              <a:buSzPts val="1800"/>
              <a:buChar char="●"/>
            </a:pPr>
            <a:r>
              <a:rPr lang="en"/>
              <a:t>Repeat until done.</a:t>
            </a: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627"/>
        <p:cNvGrpSpPr/>
        <p:nvPr/>
      </p:nvGrpSpPr>
      <p:grpSpPr>
        <a:xfrm>
          <a:off x="0" y="0"/>
          <a:ext cx="0" cy="0"/>
          <a:chOff x="0" y="0"/>
          <a:chExt cx="0" cy="0"/>
        </a:xfrm>
      </p:grpSpPr>
      <p:sp>
        <p:nvSpPr>
          <p:cNvPr id="628" name="Google Shape;628;p3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 a topological ordering for the graph below (a.k.a. topological sort).</a:t>
            </a:r>
            <a:endParaRPr/>
          </a:p>
        </p:txBody>
      </p:sp>
      <p:sp>
        <p:nvSpPr>
          <p:cNvPr id="629" name="Google Shape;629;p3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Test Your Understanding</a:t>
            </a:r>
            <a:endParaRPr/>
          </a:p>
        </p:txBody>
      </p:sp>
      <p:grpSp>
        <p:nvGrpSpPr>
          <p:cNvPr id="630" name="Google Shape;630;p37"/>
          <p:cNvGrpSpPr/>
          <p:nvPr/>
        </p:nvGrpSpPr>
        <p:grpSpPr>
          <a:xfrm>
            <a:off x="1789005" y="1937325"/>
            <a:ext cx="5565975" cy="1879300"/>
            <a:chOff x="1789005" y="1937325"/>
            <a:chExt cx="5565975" cy="1879300"/>
          </a:xfrm>
        </p:grpSpPr>
        <p:sp>
          <p:nvSpPr>
            <p:cNvPr id="631" name="Google Shape;631;p37"/>
            <p:cNvSpPr/>
            <p:nvPr/>
          </p:nvSpPr>
          <p:spPr>
            <a:xfrm>
              <a:off x="3699119" y="1957601"/>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632" name="Google Shape;632;p37"/>
            <p:cNvSpPr/>
            <p:nvPr/>
          </p:nvSpPr>
          <p:spPr>
            <a:xfrm>
              <a:off x="3699119" y="35121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633" name="Google Shape;633;p37"/>
            <p:cNvSpPr/>
            <p:nvPr/>
          </p:nvSpPr>
          <p:spPr>
            <a:xfrm>
              <a:off x="5333400" y="19474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634" name="Google Shape;634;p37"/>
            <p:cNvSpPr/>
            <p:nvPr/>
          </p:nvSpPr>
          <p:spPr>
            <a:xfrm>
              <a:off x="5343494" y="351212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635" name="Google Shape;635;p37"/>
            <p:cNvSpPr/>
            <p:nvPr/>
          </p:nvSpPr>
          <p:spPr>
            <a:xfrm>
              <a:off x="6967680" y="2734863"/>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636" name="Google Shape;636;p37"/>
            <p:cNvCxnSpPr>
              <a:stCxn id="631" idx="2"/>
              <a:endCxn id="632" idx="0"/>
            </p:cNvCxnSpPr>
            <p:nvPr/>
          </p:nvCxnSpPr>
          <p:spPr>
            <a:xfrm>
              <a:off x="3892769" y="2262101"/>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637" name="Google Shape;637;p37"/>
            <p:cNvCxnSpPr>
              <a:stCxn id="633" idx="2"/>
              <a:endCxn id="634" idx="0"/>
            </p:cNvCxnSpPr>
            <p:nvPr/>
          </p:nvCxnSpPr>
          <p:spPr>
            <a:xfrm>
              <a:off x="5527050" y="2251925"/>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638" name="Google Shape;638;p37"/>
            <p:cNvSpPr/>
            <p:nvPr/>
          </p:nvSpPr>
          <p:spPr>
            <a:xfrm>
              <a:off x="2064838" y="2734863"/>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639" name="Google Shape;639;p37"/>
            <p:cNvCxnSpPr>
              <a:stCxn id="638" idx="3"/>
              <a:endCxn id="631" idx="1"/>
            </p:cNvCxnSpPr>
            <p:nvPr/>
          </p:nvCxnSpPr>
          <p:spPr>
            <a:xfrm rot="10800000" flipH="1">
              <a:off x="2452138" y="2109813"/>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640" name="Google Shape;640;p37"/>
            <p:cNvSpPr txBox="1"/>
            <p:nvPr/>
          </p:nvSpPr>
          <p:spPr>
            <a:xfrm>
              <a:off x="1789005" y="2524628"/>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641" name="Google Shape;641;p37"/>
            <p:cNvCxnSpPr>
              <a:stCxn id="638" idx="3"/>
              <a:endCxn id="632" idx="1"/>
            </p:cNvCxnSpPr>
            <p:nvPr/>
          </p:nvCxnSpPr>
          <p:spPr>
            <a:xfrm>
              <a:off x="2452138" y="2887113"/>
              <a:ext cx="1247100" cy="777300"/>
            </a:xfrm>
            <a:prstGeom prst="straightConnector1">
              <a:avLst/>
            </a:prstGeom>
            <a:noFill/>
            <a:ln w="19050" cap="flat" cmpd="sng">
              <a:solidFill>
                <a:srgbClr val="666666"/>
              </a:solidFill>
              <a:prstDash val="solid"/>
              <a:round/>
              <a:headEnd type="none" w="med" len="med"/>
              <a:tailEnd type="triangle" w="med" len="med"/>
            </a:ln>
          </p:spPr>
        </p:cxnSp>
        <p:cxnSp>
          <p:nvCxnSpPr>
            <p:cNvPr id="642" name="Google Shape;642;p37"/>
            <p:cNvCxnSpPr>
              <a:stCxn id="634" idx="3"/>
              <a:endCxn id="635" idx="1"/>
            </p:cNvCxnSpPr>
            <p:nvPr/>
          </p:nvCxnSpPr>
          <p:spPr>
            <a:xfrm rot="10800000" flipH="1">
              <a:off x="5730794" y="2887070"/>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643" name="Google Shape;643;p37"/>
            <p:cNvCxnSpPr>
              <a:stCxn id="631" idx="3"/>
              <a:endCxn id="633" idx="1"/>
            </p:cNvCxnSpPr>
            <p:nvPr/>
          </p:nvCxnSpPr>
          <p:spPr>
            <a:xfrm rot="10800000" flipH="1">
              <a:off x="4086419" y="2099651"/>
              <a:ext cx="1247100" cy="10200"/>
            </a:xfrm>
            <a:prstGeom prst="straightConnector1">
              <a:avLst/>
            </a:prstGeom>
            <a:noFill/>
            <a:ln w="19050" cap="flat" cmpd="sng">
              <a:solidFill>
                <a:srgbClr val="666666"/>
              </a:solidFill>
              <a:prstDash val="solid"/>
              <a:round/>
              <a:headEnd type="none" w="med" len="med"/>
              <a:tailEnd type="triangle" w="med" len="med"/>
            </a:ln>
          </p:spPr>
        </p:cxnSp>
        <p:sp>
          <p:nvSpPr>
            <p:cNvPr id="644" name="Google Shape;644;p37"/>
            <p:cNvSpPr/>
            <p:nvPr/>
          </p:nvSpPr>
          <p:spPr>
            <a:xfrm>
              <a:off x="3754841" y="2690643"/>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645" name="Google Shape;645;p37"/>
            <p:cNvCxnSpPr>
              <a:stCxn id="635" idx="1"/>
              <a:endCxn id="633" idx="3"/>
            </p:cNvCxnSpPr>
            <p:nvPr/>
          </p:nvCxnSpPr>
          <p:spPr>
            <a:xfrm rot="10800000">
              <a:off x="5720580" y="2099613"/>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646" name="Google Shape;646;p37"/>
            <p:cNvSpPr/>
            <p:nvPr/>
          </p:nvSpPr>
          <p:spPr>
            <a:xfrm>
              <a:off x="2955079" y="2313793"/>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647" name="Google Shape;647;p37"/>
            <p:cNvSpPr/>
            <p:nvPr/>
          </p:nvSpPr>
          <p:spPr>
            <a:xfrm>
              <a:off x="2917746" y="3124606"/>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648" name="Google Shape;648;p37"/>
            <p:cNvSpPr/>
            <p:nvPr/>
          </p:nvSpPr>
          <p:spPr>
            <a:xfrm>
              <a:off x="6220121" y="2311845"/>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649" name="Google Shape;649;p37"/>
            <p:cNvSpPr/>
            <p:nvPr/>
          </p:nvSpPr>
          <p:spPr>
            <a:xfrm>
              <a:off x="4604785" y="1937325"/>
              <a:ext cx="3174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650" name="Google Shape;650;p37"/>
            <p:cNvSpPr/>
            <p:nvPr/>
          </p:nvSpPr>
          <p:spPr>
            <a:xfrm>
              <a:off x="6213553" y="3144190"/>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651" name="Google Shape;651;p37"/>
            <p:cNvCxnSpPr>
              <a:stCxn id="634" idx="1"/>
              <a:endCxn id="632" idx="3"/>
            </p:cNvCxnSpPr>
            <p:nvPr/>
          </p:nvCxnSpPr>
          <p:spPr>
            <a:xfrm rot="10800000">
              <a:off x="4086494" y="3664370"/>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652" name="Google Shape;652;p37"/>
            <p:cNvSpPr/>
            <p:nvPr/>
          </p:nvSpPr>
          <p:spPr>
            <a:xfrm>
              <a:off x="5375897" y="2708107"/>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653" name="Google Shape;653;p37"/>
            <p:cNvSpPr/>
            <p:nvPr/>
          </p:nvSpPr>
          <p:spPr>
            <a:xfrm>
              <a:off x="4551170" y="3537916"/>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7"/>
        <p:cNvGrpSpPr/>
        <p:nvPr/>
      </p:nvGrpSpPr>
      <p:grpSpPr>
        <a:xfrm>
          <a:off x="0" y="0"/>
          <a:ext cx="0" cy="0"/>
          <a:chOff x="0" y="0"/>
          <a:chExt cx="0" cy="0"/>
        </a:xfrm>
      </p:grpSpPr>
      <p:sp>
        <p:nvSpPr>
          <p:cNvPr id="658" name="Google Shape;658;p3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 a topological ordering for the graph below (a.k.a. topological sort)</a:t>
            </a:r>
            <a:endParaRPr/>
          </a:p>
          <a:p>
            <a:pPr marL="457200" lvl="0" indent="-342900" algn="l" rtl="0">
              <a:spcBef>
                <a:spcPts val="600"/>
              </a:spcBef>
              <a:spcAft>
                <a:spcPts val="0"/>
              </a:spcAft>
              <a:buSzPts val="1800"/>
              <a:buChar char="●"/>
            </a:pPr>
            <a:r>
              <a:rPr lang="en"/>
              <a:t>A, D, B, C, E, F (because DFS postorder was FECBDA)</a:t>
            </a:r>
            <a:endParaRPr/>
          </a:p>
        </p:txBody>
      </p:sp>
      <p:grpSp>
        <p:nvGrpSpPr>
          <p:cNvPr id="659" name="Google Shape;659;p38"/>
          <p:cNvGrpSpPr/>
          <p:nvPr/>
        </p:nvGrpSpPr>
        <p:grpSpPr>
          <a:xfrm>
            <a:off x="1789005" y="1403925"/>
            <a:ext cx="5565975" cy="1879300"/>
            <a:chOff x="1789005" y="1937325"/>
            <a:chExt cx="5565975" cy="1879300"/>
          </a:xfrm>
        </p:grpSpPr>
        <p:sp>
          <p:nvSpPr>
            <p:cNvPr id="660" name="Google Shape;660;p38"/>
            <p:cNvSpPr/>
            <p:nvPr/>
          </p:nvSpPr>
          <p:spPr>
            <a:xfrm>
              <a:off x="3699119" y="1957601"/>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661" name="Google Shape;661;p38"/>
            <p:cNvSpPr/>
            <p:nvPr/>
          </p:nvSpPr>
          <p:spPr>
            <a:xfrm>
              <a:off x="3699119" y="35121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662" name="Google Shape;662;p38"/>
            <p:cNvSpPr/>
            <p:nvPr/>
          </p:nvSpPr>
          <p:spPr>
            <a:xfrm>
              <a:off x="5333400" y="19474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663" name="Google Shape;663;p38"/>
            <p:cNvSpPr/>
            <p:nvPr/>
          </p:nvSpPr>
          <p:spPr>
            <a:xfrm>
              <a:off x="5343494" y="351212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664" name="Google Shape;664;p38"/>
            <p:cNvSpPr/>
            <p:nvPr/>
          </p:nvSpPr>
          <p:spPr>
            <a:xfrm>
              <a:off x="6967680" y="2734863"/>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665" name="Google Shape;665;p38"/>
            <p:cNvCxnSpPr>
              <a:stCxn id="660" idx="2"/>
              <a:endCxn id="661" idx="0"/>
            </p:cNvCxnSpPr>
            <p:nvPr/>
          </p:nvCxnSpPr>
          <p:spPr>
            <a:xfrm>
              <a:off x="3892769" y="2262101"/>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666" name="Google Shape;666;p38"/>
            <p:cNvCxnSpPr>
              <a:stCxn id="662" idx="2"/>
              <a:endCxn id="663" idx="0"/>
            </p:cNvCxnSpPr>
            <p:nvPr/>
          </p:nvCxnSpPr>
          <p:spPr>
            <a:xfrm>
              <a:off x="5527050" y="2251925"/>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667" name="Google Shape;667;p38"/>
            <p:cNvSpPr/>
            <p:nvPr/>
          </p:nvSpPr>
          <p:spPr>
            <a:xfrm>
              <a:off x="2064838" y="2734863"/>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668" name="Google Shape;668;p38"/>
            <p:cNvCxnSpPr>
              <a:stCxn id="667" idx="3"/>
              <a:endCxn id="660" idx="1"/>
            </p:cNvCxnSpPr>
            <p:nvPr/>
          </p:nvCxnSpPr>
          <p:spPr>
            <a:xfrm rot="10800000" flipH="1">
              <a:off x="2452138" y="2109813"/>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669" name="Google Shape;669;p38"/>
            <p:cNvSpPr txBox="1"/>
            <p:nvPr/>
          </p:nvSpPr>
          <p:spPr>
            <a:xfrm>
              <a:off x="1789005" y="2524628"/>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670" name="Google Shape;670;p38"/>
            <p:cNvCxnSpPr>
              <a:stCxn id="667" idx="3"/>
              <a:endCxn id="661" idx="1"/>
            </p:cNvCxnSpPr>
            <p:nvPr/>
          </p:nvCxnSpPr>
          <p:spPr>
            <a:xfrm>
              <a:off x="2452138" y="2887113"/>
              <a:ext cx="1247100" cy="777300"/>
            </a:xfrm>
            <a:prstGeom prst="straightConnector1">
              <a:avLst/>
            </a:prstGeom>
            <a:noFill/>
            <a:ln w="19050" cap="flat" cmpd="sng">
              <a:solidFill>
                <a:srgbClr val="666666"/>
              </a:solidFill>
              <a:prstDash val="solid"/>
              <a:round/>
              <a:headEnd type="none" w="med" len="med"/>
              <a:tailEnd type="triangle" w="med" len="med"/>
            </a:ln>
          </p:spPr>
        </p:cxnSp>
        <p:cxnSp>
          <p:nvCxnSpPr>
            <p:cNvPr id="671" name="Google Shape;671;p38"/>
            <p:cNvCxnSpPr>
              <a:stCxn id="663" idx="3"/>
              <a:endCxn id="664" idx="1"/>
            </p:cNvCxnSpPr>
            <p:nvPr/>
          </p:nvCxnSpPr>
          <p:spPr>
            <a:xfrm rot="10800000" flipH="1">
              <a:off x="5730794" y="2887070"/>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672" name="Google Shape;672;p38"/>
            <p:cNvCxnSpPr>
              <a:stCxn id="660" idx="3"/>
              <a:endCxn id="662" idx="1"/>
            </p:cNvCxnSpPr>
            <p:nvPr/>
          </p:nvCxnSpPr>
          <p:spPr>
            <a:xfrm rot="10800000" flipH="1">
              <a:off x="4086419" y="2099651"/>
              <a:ext cx="1247100" cy="10200"/>
            </a:xfrm>
            <a:prstGeom prst="straightConnector1">
              <a:avLst/>
            </a:prstGeom>
            <a:noFill/>
            <a:ln w="19050" cap="flat" cmpd="sng">
              <a:solidFill>
                <a:srgbClr val="666666"/>
              </a:solidFill>
              <a:prstDash val="solid"/>
              <a:round/>
              <a:headEnd type="none" w="med" len="med"/>
              <a:tailEnd type="triangle" w="med" len="med"/>
            </a:ln>
          </p:spPr>
        </p:cxnSp>
        <p:sp>
          <p:nvSpPr>
            <p:cNvPr id="673" name="Google Shape;673;p38"/>
            <p:cNvSpPr/>
            <p:nvPr/>
          </p:nvSpPr>
          <p:spPr>
            <a:xfrm>
              <a:off x="3754841" y="2690643"/>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674" name="Google Shape;674;p38"/>
            <p:cNvCxnSpPr>
              <a:stCxn id="664" idx="1"/>
              <a:endCxn id="662" idx="3"/>
            </p:cNvCxnSpPr>
            <p:nvPr/>
          </p:nvCxnSpPr>
          <p:spPr>
            <a:xfrm rot="10800000">
              <a:off x="5720580" y="2099613"/>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675" name="Google Shape;675;p38"/>
            <p:cNvSpPr/>
            <p:nvPr/>
          </p:nvSpPr>
          <p:spPr>
            <a:xfrm>
              <a:off x="2955079" y="2313793"/>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676" name="Google Shape;676;p38"/>
            <p:cNvSpPr/>
            <p:nvPr/>
          </p:nvSpPr>
          <p:spPr>
            <a:xfrm>
              <a:off x="2917746" y="3124606"/>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677" name="Google Shape;677;p38"/>
            <p:cNvSpPr/>
            <p:nvPr/>
          </p:nvSpPr>
          <p:spPr>
            <a:xfrm>
              <a:off x="6220121" y="2311845"/>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678" name="Google Shape;678;p38"/>
            <p:cNvSpPr/>
            <p:nvPr/>
          </p:nvSpPr>
          <p:spPr>
            <a:xfrm>
              <a:off x="4604785" y="1937325"/>
              <a:ext cx="3174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679" name="Google Shape;679;p38"/>
            <p:cNvSpPr/>
            <p:nvPr/>
          </p:nvSpPr>
          <p:spPr>
            <a:xfrm>
              <a:off x="6213553" y="3144190"/>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680" name="Google Shape;680;p38"/>
            <p:cNvCxnSpPr>
              <a:stCxn id="663" idx="1"/>
              <a:endCxn id="661" idx="3"/>
            </p:cNvCxnSpPr>
            <p:nvPr/>
          </p:nvCxnSpPr>
          <p:spPr>
            <a:xfrm rot="10800000">
              <a:off x="4086494" y="3664370"/>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681" name="Google Shape;681;p38"/>
            <p:cNvSpPr/>
            <p:nvPr/>
          </p:nvSpPr>
          <p:spPr>
            <a:xfrm>
              <a:off x="5375897" y="2708107"/>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682" name="Google Shape;682;p38"/>
            <p:cNvSpPr/>
            <p:nvPr/>
          </p:nvSpPr>
          <p:spPr>
            <a:xfrm>
              <a:off x="4551170" y="3537916"/>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grpSp>
      <p:sp>
        <p:nvSpPr>
          <p:cNvPr id="683" name="Google Shape;683;p3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Test Your Understanding</a:t>
            </a:r>
            <a:endParaRPr/>
          </a:p>
        </p:txBody>
      </p:sp>
      <p:sp>
        <p:nvSpPr>
          <p:cNvPr id="684" name="Google Shape;684;p38"/>
          <p:cNvSpPr/>
          <p:nvPr/>
        </p:nvSpPr>
        <p:spPr>
          <a:xfrm>
            <a:off x="3658735"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685" name="Google Shape;685;p38"/>
          <p:cNvSpPr/>
          <p:nvPr/>
        </p:nvSpPr>
        <p:spPr>
          <a:xfrm>
            <a:off x="2495286"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686" name="Google Shape;686;p38"/>
          <p:cNvSpPr/>
          <p:nvPr/>
        </p:nvSpPr>
        <p:spPr>
          <a:xfrm>
            <a:off x="4822183"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687" name="Google Shape;687;p38"/>
          <p:cNvSpPr/>
          <p:nvPr/>
        </p:nvSpPr>
        <p:spPr>
          <a:xfrm>
            <a:off x="5985632"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688" name="Google Shape;688;p38"/>
          <p:cNvSpPr/>
          <p:nvPr/>
        </p:nvSpPr>
        <p:spPr>
          <a:xfrm>
            <a:off x="7149080"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689" name="Google Shape;689;p38"/>
          <p:cNvCxnSpPr>
            <a:stCxn id="684" idx="1"/>
            <a:endCxn id="685" idx="3"/>
          </p:cNvCxnSpPr>
          <p:nvPr/>
        </p:nvCxnSpPr>
        <p:spPr>
          <a:xfrm rot="10800000">
            <a:off x="2882635" y="4322275"/>
            <a:ext cx="776100" cy="0"/>
          </a:xfrm>
          <a:prstGeom prst="straightConnector1">
            <a:avLst/>
          </a:prstGeom>
          <a:noFill/>
          <a:ln w="19050" cap="flat" cmpd="sng">
            <a:solidFill>
              <a:srgbClr val="666666"/>
            </a:solidFill>
            <a:prstDash val="solid"/>
            <a:round/>
            <a:headEnd type="triangle" w="med" len="med"/>
            <a:tailEnd type="none" w="med" len="med"/>
          </a:ln>
        </p:spPr>
      </p:cxnSp>
      <p:sp>
        <p:nvSpPr>
          <p:cNvPr id="690" name="Google Shape;690;p38"/>
          <p:cNvSpPr/>
          <p:nvPr/>
        </p:nvSpPr>
        <p:spPr>
          <a:xfrm>
            <a:off x="1331838"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sp>
        <p:nvSpPr>
          <p:cNvPr id="691" name="Google Shape;691;p38"/>
          <p:cNvSpPr txBox="1"/>
          <p:nvPr/>
        </p:nvSpPr>
        <p:spPr>
          <a:xfrm>
            <a:off x="1020005" y="424115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692" name="Google Shape;692;p38"/>
          <p:cNvCxnSpPr>
            <a:stCxn id="690" idx="3"/>
            <a:endCxn id="685" idx="1"/>
          </p:cNvCxnSpPr>
          <p:nvPr/>
        </p:nvCxnSpPr>
        <p:spPr>
          <a:xfrm>
            <a:off x="1719138" y="4322275"/>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693" name="Google Shape;693;p38"/>
          <p:cNvCxnSpPr>
            <a:stCxn id="687" idx="3"/>
            <a:endCxn id="688" idx="1"/>
          </p:cNvCxnSpPr>
          <p:nvPr/>
        </p:nvCxnSpPr>
        <p:spPr>
          <a:xfrm>
            <a:off x="6372932" y="4322275"/>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694" name="Google Shape;694;p38"/>
          <p:cNvCxnSpPr>
            <a:stCxn id="684" idx="3"/>
            <a:endCxn id="686" idx="1"/>
          </p:cNvCxnSpPr>
          <p:nvPr/>
        </p:nvCxnSpPr>
        <p:spPr>
          <a:xfrm>
            <a:off x="4046035" y="4322275"/>
            <a:ext cx="776100" cy="0"/>
          </a:xfrm>
          <a:prstGeom prst="straightConnector1">
            <a:avLst/>
          </a:prstGeom>
          <a:noFill/>
          <a:ln w="19050" cap="flat" cmpd="sng">
            <a:solidFill>
              <a:srgbClr val="666666"/>
            </a:solidFill>
            <a:prstDash val="solid"/>
            <a:round/>
            <a:headEnd type="none" w="med" len="med"/>
            <a:tailEnd type="triangle" w="med" len="med"/>
          </a:ln>
        </p:spPr>
      </p:cxnSp>
      <p:sp>
        <p:nvSpPr>
          <p:cNvPr id="695" name="Google Shape;695;p38"/>
          <p:cNvSpPr/>
          <p:nvPr/>
        </p:nvSpPr>
        <p:spPr>
          <a:xfrm>
            <a:off x="3071546" y="419581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sp>
        <p:nvSpPr>
          <p:cNvPr id="696" name="Google Shape;696;p38"/>
          <p:cNvSpPr/>
          <p:nvPr/>
        </p:nvSpPr>
        <p:spPr>
          <a:xfrm>
            <a:off x="1929860" y="419583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697" name="Google Shape;697;p38"/>
          <p:cNvSpPr/>
          <p:nvPr/>
        </p:nvSpPr>
        <p:spPr>
          <a:xfrm>
            <a:off x="4249498" y="4187105"/>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698" name="Google Shape;698;p38"/>
          <p:cNvSpPr/>
          <p:nvPr/>
        </p:nvSpPr>
        <p:spPr>
          <a:xfrm>
            <a:off x="6594553" y="418661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699" name="Google Shape;699;p38"/>
          <p:cNvCxnSpPr>
            <a:stCxn id="686" idx="3"/>
            <a:endCxn id="687" idx="1"/>
          </p:cNvCxnSpPr>
          <p:nvPr/>
        </p:nvCxnSpPr>
        <p:spPr>
          <a:xfrm>
            <a:off x="5209483" y="4322275"/>
            <a:ext cx="776100" cy="0"/>
          </a:xfrm>
          <a:prstGeom prst="straightConnector1">
            <a:avLst/>
          </a:prstGeom>
          <a:noFill/>
          <a:ln w="19050" cap="flat" cmpd="sng">
            <a:solidFill>
              <a:srgbClr val="666666"/>
            </a:solidFill>
            <a:prstDash val="solid"/>
            <a:round/>
            <a:headEnd type="none" w="med" len="med"/>
            <a:tailEnd type="triangle" w="med" len="med"/>
          </a:ln>
        </p:spPr>
      </p:cxnSp>
      <p:sp>
        <p:nvSpPr>
          <p:cNvPr id="700" name="Google Shape;700;p38"/>
          <p:cNvSpPr/>
          <p:nvPr/>
        </p:nvSpPr>
        <p:spPr>
          <a:xfrm>
            <a:off x="5401809" y="419016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701" name="Google Shape;701;p38"/>
          <p:cNvCxnSpPr>
            <a:stCxn id="690" idx="2"/>
            <a:endCxn id="684" idx="2"/>
          </p:cNvCxnSpPr>
          <p:nvPr/>
        </p:nvCxnSpPr>
        <p:spPr>
          <a:xfrm rot="-5400000" flipH="1">
            <a:off x="2688588" y="3311425"/>
            <a:ext cx="600" cy="2326800"/>
          </a:xfrm>
          <a:prstGeom prst="curvedConnector3">
            <a:avLst>
              <a:gd name="adj1" fmla="val 70470768"/>
            </a:avLst>
          </a:prstGeom>
          <a:noFill/>
          <a:ln w="19050" cap="flat" cmpd="sng">
            <a:solidFill>
              <a:schemeClr val="dk2"/>
            </a:solidFill>
            <a:prstDash val="solid"/>
            <a:round/>
            <a:headEnd type="none" w="med" len="med"/>
            <a:tailEnd type="triangle" w="med" len="med"/>
          </a:ln>
        </p:spPr>
      </p:cxnSp>
      <p:sp>
        <p:nvSpPr>
          <p:cNvPr id="702" name="Google Shape;702;p38"/>
          <p:cNvSpPr/>
          <p:nvPr/>
        </p:nvSpPr>
        <p:spPr>
          <a:xfrm>
            <a:off x="2523578" y="47441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cxnSp>
        <p:nvCxnSpPr>
          <p:cNvPr id="703" name="Google Shape;703;p38"/>
          <p:cNvCxnSpPr>
            <a:stCxn id="685" idx="0"/>
            <a:endCxn id="687" idx="0"/>
          </p:cNvCxnSpPr>
          <p:nvPr/>
        </p:nvCxnSpPr>
        <p:spPr>
          <a:xfrm rot="-5400000" flipH="1">
            <a:off x="4433736" y="2425225"/>
            <a:ext cx="600" cy="3490200"/>
          </a:xfrm>
          <a:prstGeom prst="curvedConnector3">
            <a:avLst>
              <a:gd name="adj1" fmla="val -70962565"/>
            </a:avLst>
          </a:prstGeom>
          <a:noFill/>
          <a:ln w="19050" cap="flat" cmpd="sng">
            <a:solidFill>
              <a:schemeClr val="dk2"/>
            </a:solidFill>
            <a:prstDash val="solid"/>
            <a:round/>
            <a:headEnd type="none" w="med" len="med"/>
            <a:tailEnd type="triangle" w="med" len="med"/>
          </a:ln>
        </p:spPr>
      </p:cxnSp>
      <p:sp>
        <p:nvSpPr>
          <p:cNvPr id="704" name="Google Shape;704;p38"/>
          <p:cNvSpPr/>
          <p:nvPr/>
        </p:nvSpPr>
        <p:spPr>
          <a:xfrm>
            <a:off x="4281745" y="360870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cxnSp>
        <p:nvCxnSpPr>
          <p:cNvPr id="705" name="Google Shape;705;p38"/>
          <p:cNvCxnSpPr>
            <a:stCxn id="686" idx="2"/>
            <a:endCxn id="688" idx="2"/>
          </p:cNvCxnSpPr>
          <p:nvPr/>
        </p:nvCxnSpPr>
        <p:spPr>
          <a:xfrm rot="-5400000" flipH="1">
            <a:off x="6178933" y="3311425"/>
            <a:ext cx="600" cy="2326800"/>
          </a:xfrm>
          <a:prstGeom prst="curvedConnector3">
            <a:avLst>
              <a:gd name="adj1" fmla="val 70470768"/>
            </a:avLst>
          </a:prstGeom>
          <a:noFill/>
          <a:ln w="19050" cap="flat" cmpd="sng">
            <a:solidFill>
              <a:schemeClr val="dk2"/>
            </a:solidFill>
            <a:prstDash val="solid"/>
            <a:round/>
            <a:headEnd type="none" w="med" len="med"/>
            <a:tailEnd type="triangle" w="med" len="med"/>
          </a:ln>
        </p:spPr>
      </p:cxnSp>
      <p:sp>
        <p:nvSpPr>
          <p:cNvPr id="706" name="Google Shape;706;p38"/>
          <p:cNvSpPr/>
          <p:nvPr/>
        </p:nvSpPr>
        <p:spPr>
          <a:xfrm>
            <a:off x="6011541" y="477005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707" name="Google Shape;707;p38"/>
          <p:cNvSpPr txBox="1"/>
          <p:nvPr/>
        </p:nvSpPr>
        <p:spPr>
          <a:xfrm>
            <a:off x="6901250" y="2818525"/>
            <a:ext cx="1993800" cy="103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Recall that we can think of topological sort as an ordering of “tasks”.</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3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Directed Acyclic Graphs</a:t>
            </a:r>
            <a:endParaRPr/>
          </a:p>
        </p:txBody>
      </p:sp>
      <p:sp>
        <p:nvSpPr>
          <p:cNvPr id="713" name="Google Shape;713;p3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dirty="0">
                <a:solidFill>
                  <a:srgbClr val="FF0000"/>
                </a:solidFill>
              </a:rPr>
              <a:t>A topological sort only exists if the graph is a directed acyclic graph (DAG).</a:t>
            </a:r>
            <a:endParaRPr b="1" dirty="0">
              <a:solidFill>
                <a:srgbClr val="FF0000"/>
              </a:solidFill>
            </a:endParaRPr>
          </a:p>
          <a:p>
            <a:pPr marL="457200" lvl="0" indent="-342900" algn="l" rtl="0">
              <a:spcBef>
                <a:spcPts val="600"/>
              </a:spcBef>
              <a:spcAft>
                <a:spcPts val="0"/>
              </a:spcAft>
              <a:buSzPts val="1800"/>
              <a:buChar char="●"/>
            </a:pPr>
            <a:r>
              <a:rPr lang="en" dirty="0"/>
              <a:t>For the graph below, there is NO possible ordering where all arrows are respected.</a:t>
            </a: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DAGs appear in many real world applications, and there are many graph algorithms that only work on DAGs.</a:t>
            </a:r>
            <a:endParaRPr dirty="0"/>
          </a:p>
          <a:p>
            <a:pPr marL="0" lvl="0" indent="0" algn="l" rtl="0">
              <a:spcBef>
                <a:spcPts val="600"/>
              </a:spcBef>
              <a:spcAft>
                <a:spcPts val="0"/>
              </a:spcAft>
              <a:buNone/>
            </a:pPr>
            <a:endParaRPr dirty="0"/>
          </a:p>
        </p:txBody>
      </p:sp>
      <p:grpSp>
        <p:nvGrpSpPr>
          <p:cNvPr id="714" name="Google Shape;714;p39"/>
          <p:cNvGrpSpPr/>
          <p:nvPr/>
        </p:nvGrpSpPr>
        <p:grpSpPr>
          <a:xfrm>
            <a:off x="3121257" y="1933275"/>
            <a:ext cx="2419775" cy="1945738"/>
            <a:chOff x="756020" y="683300"/>
            <a:chExt cx="2419775" cy="1945738"/>
          </a:xfrm>
        </p:grpSpPr>
        <p:sp>
          <p:nvSpPr>
            <p:cNvPr id="715" name="Google Shape;715;p39"/>
            <p:cNvSpPr/>
            <p:nvPr/>
          </p:nvSpPr>
          <p:spPr>
            <a:xfrm>
              <a:off x="75602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716" name="Google Shape;716;p39"/>
            <p:cNvSpPr/>
            <p:nvPr/>
          </p:nvSpPr>
          <p:spPr>
            <a:xfrm>
              <a:off x="932470" y="19381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717" name="Google Shape;717;p39"/>
            <p:cNvSpPr/>
            <p:nvPr/>
          </p:nvSpPr>
          <p:spPr>
            <a:xfrm>
              <a:off x="1806370" y="68330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718" name="Google Shape;718;p39"/>
            <p:cNvSpPr/>
            <p:nvPr/>
          </p:nvSpPr>
          <p:spPr>
            <a:xfrm>
              <a:off x="178137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719" name="Google Shape;719;p39"/>
            <p:cNvSpPr/>
            <p:nvPr/>
          </p:nvSpPr>
          <p:spPr>
            <a:xfrm>
              <a:off x="1868645" y="18655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720" name="Google Shape;720;p39"/>
            <p:cNvSpPr/>
            <p:nvPr/>
          </p:nvSpPr>
          <p:spPr>
            <a:xfrm>
              <a:off x="2446495" y="118418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sp>
          <p:nvSpPr>
            <p:cNvPr id="721" name="Google Shape;721;p39"/>
            <p:cNvSpPr/>
            <p:nvPr/>
          </p:nvSpPr>
          <p:spPr>
            <a:xfrm>
              <a:off x="2858395" y="18412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sp>
          <p:nvSpPr>
            <p:cNvPr id="722" name="Google Shape;722;p39"/>
            <p:cNvSpPr/>
            <p:nvPr/>
          </p:nvSpPr>
          <p:spPr>
            <a:xfrm>
              <a:off x="1944845" y="23761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a:t>
              </a:r>
              <a:endParaRPr>
                <a:latin typeface="Roboto"/>
                <a:ea typeface="Roboto"/>
                <a:cs typeface="Roboto"/>
                <a:sym typeface="Roboto"/>
              </a:endParaRPr>
            </a:p>
          </p:txBody>
        </p:sp>
        <p:cxnSp>
          <p:nvCxnSpPr>
            <p:cNvPr id="723" name="Google Shape;723;p39"/>
            <p:cNvCxnSpPr>
              <a:stCxn id="715" idx="2"/>
              <a:endCxn id="716" idx="0"/>
            </p:cNvCxnSpPr>
            <p:nvPr/>
          </p:nvCxnSpPr>
          <p:spPr>
            <a:xfrm>
              <a:off x="914720" y="1507375"/>
              <a:ext cx="176400" cy="430800"/>
            </a:xfrm>
            <a:prstGeom prst="straightConnector1">
              <a:avLst/>
            </a:prstGeom>
            <a:noFill/>
            <a:ln w="19050" cap="flat" cmpd="sng">
              <a:solidFill>
                <a:schemeClr val="dk2"/>
              </a:solidFill>
              <a:prstDash val="solid"/>
              <a:round/>
              <a:headEnd type="none" w="med" len="med"/>
              <a:tailEnd type="triangle" w="med" len="med"/>
            </a:ln>
          </p:spPr>
        </p:cxnSp>
        <p:cxnSp>
          <p:nvCxnSpPr>
            <p:cNvPr id="724" name="Google Shape;724;p39"/>
            <p:cNvCxnSpPr>
              <a:stCxn id="715" idx="3"/>
              <a:endCxn id="718" idx="1"/>
            </p:cNvCxnSpPr>
            <p:nvPr/>
          </p:nvCxnSpPr>
          <p:spPr>
            <a:xfrm>
              <a:off x="1073420" y="1380925"/>
              <a:ext cx="708000" cy="0"/>
            </a:xfrm>
            <a:prstGeom prst="straightConnector1">
              <a:avLst/>
            </a:prstGeom>
            <a:noFill/>
            <a:ln w="19050" cap="flat" cmpd="sng">
              <a:solidFill>
                <a:schemeClr val="dk2"/>
              </a:solidFill>
              <a:prstDash val="solid"/>
              <a:round/>
              <a:headEnd type="none" w="med" len="med"/>
              <a:tailEnd type="triangle" w="med" len="med"/>
            </a:ln>
          </p:spPr>
        </p:cxnSp>
        <p:cxnSp>
          <p:nvCxnSpPr>
            <p:cNvPr id="725" name="Google Shape;725;p39"/>
            <p:cNvCxnSpPr>
              <a:stCxn id="717" idx="2"/>
              <a:endCxn id="718" idx="0"/>
            </p:cNvCxnSpPr>
            <p:nvPr/>
          </p:nvCxnSpPr>
          <p:spPr>
            <a:xfrm flipH="1">
              <a:off x="1940170" y="936200"/>
              <a:ext cx="24900" cy="318300"/>
            </a:xfrm>
            <a:prstGeom prst="straightConnector1">
              <a:avLst/>
            </a:prstGeom>
            <a:noFill/>
            <a:ln w="19050" cap="flat" cmpd="sng">
              <a:solidFill>
                <a:schemeClr val="dk2"/>
              </a:solidFill>
              <a:prstDash val="solid"/>
              <a:round/>
              <a:headEnd type="none" w="med" len="med"/>
              <a:tailEnd type="triangle" w="med" len="med"/>
            </a:ln>
          </p:spPr>
        </p:cxnSp>
        <p:cxnSp>
          <p:nvCxnSpPr>
            <p:cNvPr id="726" name="Google Shape;726;p39"/>
            <p:cNvCxnSpPr>
              <a:stCxn id="717" idx="3"/>
              <a:endCxn id="720" idx="0"/>
            </p:cNvCxnSpPr>
            <p:nvPr/>
          </p:nvCxnSpPr>
          <p:spPr>
            <a:xfrm>
              <a:off x="2123770" y="809750"/>
              <a:ext cx="481500" cy="374400"/>
            </a:xfrm>
            <a:prstGeom prst="straightConnector1">
              <a:avLst/>
            </a:prstGeom>
            <a:noFill/>
            <a:ln w="19050" cap="flat" cmpd="sng">
              <a:solidFill>
                <a:schemeClr val="dk2"/>
              </a:solidFill>
              <a:prstDash val="solid"/>
              <a:round/>
              <a:headEnd type="none" w="med" len="med"/>
              <a:tailEnd type="triangle" w="med" len="med"/>
            </a:ln>
          </p:spPr>
        </p:cxnSp>
        <p:cxnSp>
          <p:nvCxnSpPr>
            <p:cNvPr id="727" name="Google Shape;727;p39"/>
            <p:cNvCxnSpPr>
              <a:stCxn id="720" idx="2"/>
              <a:endCxn id="721" idx="0"/>
            </p:cNvCxnSpPr>
            <p:nvPr/>
          </p:nvCxnSpPr>
          <p:spPr>
            <a:xfrm>
              <a:off x="2605195" y="1437088"/>
              <a:ext cx="411900" cy="404100"/>
            </a:xfrm>
            <a:prstGeom prst="straightConnector1">
              <a:avLst/>
            </a:prstGeom>
            <a:noFill/>
            <a:ln w="19050" cap="flat" cmpd="sng">
              <a:solidFill>
                <a:schemeClr val="dk2"/>
              </a:solidFill>
              <a:prstDash val="solid"/>
              <a:round/>
              <a:headEnd type="none" w="med" len="med"/>
              <a:tailEnd type="triangle" w="med" len="med"/>
            </a:ln>
          </p:spPr>
        </p:cxnSp>
        <p:cxnSp>
          <p:nvCxnSpPr>
            <p:cNvPr id="728" name="Google Shape;728;p39"/>
            <p:cNvCxnSpPr>
              <a:stCxn id="720" idx="2"/>
              <a:endCxn id="719" idx="3"/>
            </p:cNvCxnSpPr>
            <p:nvPr/>
          </p:nvCxnSpPr>
          <p:spPr>
            <a:xfrm flipH="1">
              <a:off x="2186095" y="1437088"/>
              <a:ext cx="419100" cy="555000"/>
            </a:xfrm>
            <a:prstGeom prst="straightConnector1">
              <a:avLst/>
            </a:prstGeom>
            <a:noFill/>
            <a:ln w="19050" cap="flat" cmpd="sng">
              <a:solidFill>
                <a:schemeClr val="dk2"/>
              </a:solidFill>
              <a:prstDash val="solid"/>
              <a:round/>
              <a:headEnd type="none" w="med" len="med"/>
              <a:tailEnd type="triangle" w="med" len="med"/>
            </a:ln>
          </p:spPr>
        </p:cxnSp>
        <p:cxnSp>
          <p:nvCxnSpPr>
            <p:cNvPr id="729" name="Google Shape;729;p39"/>
            <p:cNvCxnSpPr>
              <a:stCxn id="718" idx="2"/>
              <a:endCxn id="719" idx="0"/>
            </p:cNvCxnSpPr>
            <p:nvPr/>
          </p:nvCxnSpPr>
          <p:spPr>
            <a:xfrm>
              <a:off x="1940070" y="1507375"/>
              <a:ext cx="87300" cy="358200"/>
            </a:xfrm>
            <a:prstGeom prst="straightConnector1">
              <a:avLst/>
            </a:prstGeom>
            <a:noFill/>
            <a:ln w="19050" cap="flat" cmpd="sng">
              <a:solidFill>
                <a:schemeClr val="dk2"/>
              </a:solidFill>
              <a:prstDash val="solid"/>
              <a:round/>
              <a:headEnd type="none" w="med" len="med"/>
              <a:tailEnd type="triangle" w="med" len="med"/>
            </a:ln>
          </p:spPr>
        </p:cxnSp>
        <p:cxnSp>
          <p:nvCxnSpPr>
            <p:cNvPr id="730" name="Google Shape;730;p39"/>
            <p:cNvCxnSpPr>
              <a:stCxn id="716" idx="3"/>
              <a:endCxn id="719" idx="1"/>
            </p:cNvCxnSpPr>
            <p:nvPr/>
          </p:nvCxnSpPr>
          <p:spPr>
            <a:xfrm rot="10800000" flipH="1">
              <a:off x="1249870" y="1992025"/>
              <a:ext cx="618900" cy="72600"/>
            </a:xfrm>
            <a:prstGeom prst="straightConnector1">
              <a:avLst/>
            </a:prstGeom>
            <a:noFill/>
            <a:ln w="19050" cap="flat" cmpd="sng">
              <a:solidFill>
                <a:schemeClr val="dk2"/>
              </a:solidFill>
              <a:prstDash val="solid"/>
              <a:round/>
              <a:headEnd type="none" w="med" len="med"/>
              <a:tailEnd type="triangle" w="med" len="med"/>
            </a:ln>
          </p:spPr>
        </p:cxnSp>
        <p:cxnSp>
          <p:nvCxnSpPr>
            <p:cNvPr id="731" name="Google Shape;731;p39"/>
            <p:cNvCxnSpPr>
              <a:stCxn id="719" idx="2"/>
              <a:endCxn id="722" idx="0"/>
            </p:cNvCxnSpPr>
            <p:nvPr/>
          </p:nvCxnSpPr>
          <p:spPr>
            <a:xfrm>
              <a:off x="2027345" y="2118463"/>
              <a:ext cx="76200" cy="257700"/>
            </a:xfrm>
            <a:prstGeom prst="straightConnector1">
              <a:avLst/>
            </a:prstGeom>
            <a:noFill/>
            <a:ln w="19050" cap="flat" cmpd="sng">
              <a:solidFill>
                <a:schemeClr val="dk2"/>
              </a:solidFill>
              <a:prstDash val="solid"/>
              <a:round/>
              <a:headEnd type="none" w="med" len="med"/>
              <a:tailEnd type="triangle" w="med" len="med"/>
            </a:ln>
          </p:spPr>
        </p:cxnSp>
      </p:grpSp>
      <p:cxnSp>
        <p:nvCxnSpPr>
          <p:cNvPr id="732" name="Google Shape;732;p39"/>
          <p:cNvCxnSpPr>
            <a:stCxn id="722" idx="1"/>
            <a:endCxn id="715" idx="1"/>
          </p:cNvCxnSpPr>
          <p:nvPr/>
        </p:nvCxnSpPr>
        <p:spPr>
          <a:xfrm rot="10800000">
            <a:off x="3121182" y="2630863"/>
            <a:ext cx="1188900" cy="1121700"/>
          </a:xfrm>
          <a:prstGeom prst="curvedConnector3">
            <a:avLst>
              <a:gd name="adj1" fmla="val 120023"/>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4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Problems</a:t>
            </a:r>
            <a:endParaRPr/>
          </a:p>
        </p:txBody>
      </p:sp>
      <p:graphicFrame>
        <p:nvGraphicFramePr>
          <p:cNvPr id="738" name="Google Shape;738;p40"/>
          <p:cNvGraphicFramePr/>
          <p:nvPr/>
        </p:nvGraphicFramePr>
        <p:xfrm>
          <a:off x="592488" y="688161"/>
          <a:ext cx="8209325" cy="1074175"/>
        </p:xfrm>
        <a:graphic>
          <a:graphicData uri="http://schemas.openxmlformats.org/drawingml/2006/table">
            <a:tbl>
              <a:tblPr>
                <a:noFill/>
                <a:tableStyleId>{EC9DA46A-B2CD-47DD-98B5-D3AAC6A04B5E}</a:tableStyleId>
              </a:tblPr>
              <a:tblGrid>
                <a:gridCol w="1457800">
                  <a:extLst>
                    <a:ext uri="{9D8B030D-6E8A-4147-A177-3AD203B41FA5}">
                      <a16:colId xmlns:a16="http://schemas.microsoft.com/office/drawing/2014/main" val="20000"/>
                    </a:ext>
                  </a:extLst>
                </a:gridCol>
                <a:gridCol w="2762325">
                  <a:extLst>
                    <a:ext uri="{9D8B030D-6E8A-4147-A177-3AD203B41FA5}">
                      <a16:colId xmlns:a16="http://schemas.microsoft.com/office/drawing/2014/main" val="20001"/>
                    </a:ext>
                  </a:extLst>
                </a:gridCol>
                <a:gridCol w="2082725">
                  <a:extLst>
                    <a:ext uri="{9D8B030D-6E8A-4147-A177-3AD203B41FA5}">
                      <a16:colId xmlns:a16="http://schemas.microsoft.com/office/drawing/2014/main" val="20002"/>
                    </a:ext>
                  </a:extLst>
                </a:gridCol>
                <a:gridCol w="1906475">
                  <a:extLst>
                    <a:ext uri="{9D8B030D-6E8A-4147-A177-3AD203B41FA5}">
                      <a16:colId xmlns:a16="http://schemas.microsoft.com/office/drawing/2014/main" val="20003"/>
                    </a:ext>
                  </a:extLst>
                </a:gridCol>
              </a:tblGrid>
              <a:tr h="426375">
                <a:tc>
                  <a:txBody>
                    <a:bodyPr/>
                    <a:lstStyle/>
                    <a:p>
                      <a:pPr marL="0" lvl="0" indent="0" algn="l" rtl="0">
                        <a:spcBef>
                          <a:spcPts val="0"/>
                        </a:spcBef>
                        <a:spcAft>
                          <a:spcPts val="0"/>
                        </a:spcAft>
                        <a:buNone/>
                      </a:pPr>
                      <a:r>
                        <a:rPr lang="en" dirty="0"/>
                        <a:t>Problem</a:t>
                      </a:r>
                      <a:endParaRPr dirty="0"/>
                    </a:p>
                  </a:txBody>
                  <a:tcPr marL="91425" marR="91425" marT="91425" marB="91425"/>
                </a:tc>
                <a:tc>
                  <a:txBody>
                    <a:bodyPr/>
                    <a:lstStyle/>
                    <a:p>
                      <a:pPr marL="0" lvl="0" indent="0" algn="l" rtl="0">
                        <a:spcBef>
                          <a:spcPts val="0"/>
                        </a:spcBef>
                        <a:spcAft>
                          <a:spcPts val="0"/>
                        </a:spcAft>
                        <a:buNone/>
                      </a:pPr>
                      <a:r>
                        <a:rPr lang="en" dirty="0"/>
                        <a:t>Problem Description</a:t>
                      </a:r>
                      <a:endParaRPr dirty="0"/>
                    </a:p>
                  </a:txBody>
                  <a:tcPr marL="91425" marR="91425" marT="91425" marB="91425"/>
                </a:tc>
                <a:tc>
                  <a:txBody>
                    <a:bodyPr/>
                    <a:lstStyle/>
                    <a:p>
                      <a:pPr marL="0" lvl="0" indent="0" algn="l" rtl="0">
                        <a:spcBef>
                          <a:spcPts val="0"/>
                        </a:spcBef>
                        <a:spcAft>
                          <a:spcPts val="0"/>
                        </a:spcAft>
                        <a:buNone/>
                      </a:pPr>
                      <a:r>
                        <a:rPr lang="en"/>
                        <a:t>Solution</a:t>
                      </a:r>
                      <a:endParaRPr/>
                    </a:p>
                  </a:txBody>
                  <a:tcPr marL="91425" marR="91425" marT="91425" marB="91425"/>
                </a:tc>
                <a:tc>
                  <a:txBody>
                    <a:bodyPr/>
                    <a:lstStyle/>
                    <a:p>
                      <a:pPr marL="0" lvl="0" indent="0" algn="l" rtl="0">
                        <a:spcBef>
                          <a:spcPts val="0"/>
                        </a:spcBef>
                        <a:spcAft>
                          <a:spcPts val="0"/>
                        </a:spcAft>
                        <a:buNone/>
                      </a:pPr>
                      <a:r>
                        <a:rPr lang="en"/>
                        <a:t>Efficiency</a:t>
                      </a:r>
                      <a:endParaRPr/>
                    </a:p>
                  </a:txBody>
                  <a:tcPr marL="91425" marR="91425" marT="91425" marB="91425"/>
                </a:tc>
                <a:extLst>
                  <a:ext uri="{0D108BD9-81ED-4DB2-BD59-A6C34878D82A}">
                    <a16:rowId xmlns:a16="http://schemas.microsoft.com/office/drawing/2014/main" val="10000"/>
                  </a:ext>
                </a:extLst>
              </a:tr>
              <a:tr h="647800">
                <a:tc>
                  <a:txBody>
                    <a:bodyPr/>
                    <a:lstStyle/>
                    <a:p>
                      <a:pPr marL="0" lvl="0" indent="0" algn="l" rtl="0">
                        <a:spcBef>
                          <a:spcPts val="0"/>
                        </a:spcBef>
                        <a:spcAft>
                          <a:spcPts val="0"/>
                        </a:spcAft>
                        <a:buNone/>
                      </a:pPr>
                      <a:r>
                        <a:rPr lang="en"/>
                        <a:t>topological sort</a:t>
                      </a:r>
                      <a:endParaRPr/>
                    </a:p>
                  </a:txBody>
                  <a:tcPr marL="91425" marR="91425" marT="91425" marB="91425"/>
                </a:tc>
                <a:tc>
                  <a:txBody>
                    <a:bodyPr/>
                    <a:lstStyle/>
                    <a:p>
                      <a:pPr marL="0" lvl="0" indent="0" algn="l" rtl="0">
                        <a:spcBef>
                          <a:spcPts val="0"/>
                        </a:spcBef>
                        <a:spcAft>
                          <a:spcPts val="0"/>
                        </a:spcAft>
                        <a:buNone/>
                      </a:pPr>
                      <a:r>
                        <a:rPr lang="en" dirty="0"/>
                        <a:t>Find an ordering of vertices that respects edges of our DAG.</a:t>
                      </a:r>
                      <a:endParaRPr dirty="0"/>
                    </a:p>
                  </a:txBody>
                  <a:tcPr marL="91425" marR="91425" marT="91425" marB="91425"/>
                </a:tc>
                <a:tc>
                  <a:txBody>
                    <a:bodyPr/>
                    <a:lstStyle/>
                    <a:p>
                      <a:pPr marL="0" lvl="0" indent="0" algn="l" rtl="0">
                        <a:spcBef>
                          <a:spcPts val="0"/>
                        </a:spcBef>
                        <a:spcAft>
                          <a:spcPts val="0"/>
                        </a:spcAft>
                        <a:buNone/>
                      </a:pPr>
                      <a:r>
                        <a:rPr lang="en" u="sng" dirty="0">
                          <a:solidFill>
                            <a:schemeClr val="hlink"/>
                          </a:solidFill>
                          <a:hlinkClick r:id="rId3" action="ppaction://hlinksldjump"/>
                        </a:rPr>
                        <a:t>Demo</a:t>
                      </a:r>
                      <a:endParaRPr dirty="0"/>
                    </a:p>
                    <a:p>
                      <a:pPr marL="0" lvl="0" indent="0" algn="l" rtl="0">
                        <a:spcBef>
                          <a:spcPts val="0"/>
                        </a:spcBef>
                        <a:spcAft>
                          <a:spcPts val="0"/>
                        </a:spcAft>
                        <a:buNone/>
                      </a:pPr>
                      <a:r>
                        <a:rPr lang="en" dirty="0"/>
                        <a:t>Topological.java</a:t>
                      </a:r>
                      <a:endParaRPr dirty="0"/>
                    </a:p>
                  </a:txBody>
                  <a:tcPr marL="91425" marR="91425" marT="91425" marB="91425"/>
                </a:tc>
                <a:tc>
                  <a:txBody>
                    <a:bodyPr/>
                    <a:lstStyle/>
                    <a:p>
                      <a:pPr marL="0" lvl="0" indent="0" algn="ctr" rtl="0">
                        <a:spcBef>
                          <a:spcPts val="0"/>
                        </a:spcBef>
                        <a:spcAft>
                          <a:spcPts val="0"/>
                        </a:spcAft>
                        <a:buNone/>
                      </a:pPr>
                      <a:r>
                        <a:rPr lang="en" dirty="0"/>
                        <a:t>O(V+E) time</a:t>
                      </a:r>
                      <a:endParaRPr dirty="0"/>
                    </a:p>
                    <a:p>
                      <a:pPr marL="0" lvl="0" indent="0" algn="ctr" rtl="0">
                        <a:spcBef>
                          <a:spcPts val="0"/>
                        </a:spcBef>
                        <a:spcAft>
                          <a:spcPts val="0"/>
                        </a:spcAft>
                        <a:buNone/>
                      </a:pPr>
                      <a:r>
                        <a:rPr lang="en" dirty="0"/>
                        <a:t>Θ(V) space</a:t>
                      </a:r>
                      <a:endParaRPr dirty="0"/>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4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28, CS61B, Fall 2023</a:t>
            </a:r>
            <a:endParaRPr/>
          </a:p>
        </p:txBody>
      </p:sp>
      <p:sp>
        <p:nvSpPr>
          <p:cNvPr id="744" name="Google Shape;744;p41"/>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Topological Sorting</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Shortest Paths on DAGs</a:t>
            </a:r>
            <a:endParaRPr/>
          </a:p>
          <a:p>
            <a:pPr marL="0" lvl="0" indent="0" algn="l" rtl="0">
              <a:spcBef>
                <a:spcPts val="600"/>
              </a:spcBef>
              <a:spcAft>
                <a:spcPts val="0"/>
              </a:spcAft>
              <a:buNone/>
            </a:pPr>
            <a:r>
              <a:rPr lang="en"/>
              <a:t>Longest Paths</a:t>
            </a:r>
            <a:endParaRPr/>
          </a:p>
          <a:p>
            <a:pPr marL="0" lvl="0" indent="0" algn="l" rtl="0">
              <a:spcBef>
                <a:spcPts val="600"/>
              </a:spcBef>
              <a:spcAft>
                <a:spcPts val="0"/>
              </a:spcAft>
              <a:buClr>
                <a:schemeClr val="dk1"/>
              </a:buClr>
              <a:buSzPts val="1100"/>
              <a:buFont typeface="Arial"/>
              <a:buNone/>
            </a:pPr>
            <a:r>
              <a:rPr lang="en">
                <a:solidFill>
                  <a:srgbClr val="B7B7B7"/>
                </a:solidFill>
              </a:rPr>
              <a:t>Reductions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Definition</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Reduction to 3SAT (Optional CS170 Preview)</a:t>
            </a:r>
            <a:endParaRPr/>
          </a:p>
        </p:txBody>
      </p:sp>
      <p:sp>
        <p:nvSpPr>
          <p:cNvPr id="745" name="Google Shape;745;p4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Shortest Paths on DAGs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749"/>
        <p:cNvGrpSpPr/>
        <p:nvPr/>
      </p:nvGrpSpPr>
      <p:grpSpPr>
        <a:xfrm>
          <a:off x="0" y="0"/>
          <a:ext cx="0" cy="0"/>
          <a:chOff x="0" y="0"/>
          <a:chExt cx="0" cy="0"/>
        </a:xfrm>
      </p:grpSpPr>
      <p:sp>
        <p:nvSpPr>
          <p:cNvPr id="750" name="Google Shape;750;p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Shortest Paths Warmup</a:t>
            </a:r>
            <a:endParaRPr/>
          </a:p>
        </p:txBody>
      </p:sp>
      <p:sp>
        <p:nvSpPr>
          <p:cNvPr id="751" name="Google Shape;751;p4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the shortest paths tree for the graph below, using s as the source?                   In what order will Dijkstra’s algorithm visit the vertices?</a:t>
            </a:r>
            <a:endParaRPr/>
          </a:p>
        </p:txBody>
      </p:sp>
      <p:sp>
        <p:nvSpPr>
          <p:cNvPr id="752" name="Google Shape;752;p42"/>
          <p:cNvSpPr txBox="1"/>
          <p:nvPr/>
        </p:nvSpPr>
        <p:spPr>
          <a:xfrm>
            <a:off x="155475" y="4625275"/>
            <a:ext cx="8229600" cy="34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Graph from Algorithms, by Vazirani/Papadimitriou </a:t>
            </a:r>
            <a:endParaRPr/>
          </a:p>
        </p:txBody>
      </p:sp>
      <p:grpSp>
        <p:nvGrpSpPr>
          <p:cNvPr id="753" name="Google Shape;753;p42"/>
          <p:cNvGrpSpPr/>
          <p:nvPr/>
        </p:nvGrpSpPr>
        <p:grpSpPr>
          <a:xfrm>
            <a:off x="1789005" y="1937325"/>
            <a:ext cx="5565975" cy="1879300"/>
            <a:chOff x="1789005" y="1937325"/>
            <a:chExt cx="5565975" cy="1879300"/>
          </a:xfrm>
        </p:grpSpPr>
        <p:sp>
          <p:nvSpPr>
            <p:cNvPr id="754" name="Google Shape;754;p42"/>
            <p:cNvSpPr/>
            <p:nvPr/>
          </p:nvSpPr>
          <p:spPr>
            <a:xfrm>
              <a:off x="3699119" y="1957601"/>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755" name="Google Shape;755;p42"/>
            <p:cNvSpPr/>
            <p:nvPr/>
          </p:nvSpPr>
          <p:spPr>
            <a:xfrm>
              <a:off x="3699119" y="35121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756" name="Google Shape;756;p42"/>
            <p:cNvSpPr/>
            <p:nvPr/>
          </p:nvSpPr>
          <p:spPr>
            <a:xfrm>
              <a:off x="5333400" y="19474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757" name="Google Shape;757;p42"/>
            <p:cNvSpPr/>
            <p:nvPr/>
          </p:nvSpPr>
          <p:spPr>
            <a:xfrm>
              <a:off x="5343494" y="351212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758" name="Google Shape;758;p42"/>
            <p:cNvSpPr/>
            <p:nvPr/>
          </p:nvSpPr>
          <p:spPr>
            <a:xfrm>
              <a:off x="6967680" y="2734863"/>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759" name="Google Shape;759;p42"/>
            <p:cNvCxnSpPr>
              <a:stCxn id="754" idx="2"/>
              <a:endCxn id="755" idx="0"/>
            </p:cNvCxnSpPr>
            <p:nvPr/>
          </p:nvCxnSpPr>
          <p:spPr>
            <a:xfrm>
              <a:off x="3892769" y="2262101"/>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760" name="Google Shape;760;p42"/>
            <p:cNvCxnSpPr>
              <a:stCxn id="756" idx="2"/>
              <a:endCxn id="757" idx="0"/>
            </p:cNvCxnSpPr>
            <p:nvPr/>
          </p:nvCxnSpPr>
          <p:spPr>
            <a:xfrm>
              <a:off x="5527050" y="2251925"/>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761" name="Google Shape;761;p42"/>
            <p:cNvSpPr/>
            <p:nvPr/>
          </p:nvSpPr>
          <p:spPr>
            <a:xfrm>
              <a:off x="2064838" y="2734863"/>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762" name="Google Shape;762;p42"/>
            <p:cNvCxnSpPr>
              <a:stCxn id="761" idx="3"/>
              <a:endCxn id="754" idx="1"/>
            </p:cNvCxnSpPr>
            <p:nvPr/>
          </p:nvCxnSpPr>
          <p:spPr>
            <a:xfrm rot="10800000" flipH="1">
              <a:off x="2452138" y="2109813"/>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763" name="Google Shape;763;p42"/>
            <p:cNvSpPr txBox="1"/>
            <p:nvPr/>
          </p:nvSpPr>
          <p:spPr>
            <a:xfrm>
              <a:off x="1789005" y="2524628"/>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764" name="Google Shape;764;p42"/>
            <p:cNvCxnSpPr>
              <a:stCxn id="761" idx="3"/>
              <a:endCxn id="755" idx="1"/>
            </p:cNvCxnSpPr>
            <p:nvPr/>
          </p:nvCxnSpPr>
          <p:spPr>
            <a:xfrm>
              <a:off x="2452138" y="2887113"/>
              <a:ext cx="1247100" cy="777300"/>
            </a:xfrm>
            <a:prstGeom prst="straightConnector1">
              <a:avLst/>
            </a:prstGeom>
            <a:noFill/>
            <a:ln w="19050" cap="flat" cmpd="sng">
              <a:solidFill>
                <a:srgbClr val="666666"/>
              </a:solidFill>
              <a:prstDash val="solid"/>
              <a:round/>
              <a:headEnd type="none" w="med" len="med"/>
              <a:tailEnd type="triangle" w="med" len="med"/>
            </a:ln>
          </p:spPr>
        </p:cxnSp>
        <p:cxnSp>
          <p:nvCxnSpPr>
            <p:cNvPr id="765" name="Google Shape;765;p42"/>
            <p:cNvCxnSpPr>
              <a:stCxn id="757" idx="3"/>
              <a:endCxn id="758" idx="1"/>
            </p:cNvCxnSpPr>
            <p:nvPr/>
          </p:nvCxnSpPr>
          <p:spPr>
            <a:xfrm rot="10800000" flipH="1">
              <a:off x="5730794" y="2887070"/>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766" name="Google Shape;766;p42"/>
            <p:cNvCxnSpPr>
              <a:stCxn id="754" idx="3"/>
              <a:endCxn id="756" idx="1"/>
            </p:cNvCxnSpPr>
            <p:nvPr/>
          </p:nvCxnSpPr>
          <p:spPr>
            <a:xfrm rot="10800000" flipH="1">
              <a:off x="4086419" y="2099651"/>
              <a:ext cx="1247100" cy="10200"/>
            </a:xfrm>
            <a:prstGeom prst="straightConnector1">
              <a:avLst/>
            </a:prstGeom>
            <a:noFill/>
            <a:ln w="19050" cap="flat" cmpd="sng">
              <a:solidFill>
                <a:srgbClr val="666666"/>
              </a:solidFill>
              <a:prstDash val="solid"/>
              <a:round/>
              <a:headEnd type="none" w="med" len="med"/>
              <a:tailEnd type="triangle" w="med" len="med"/>
            </a:ln>
          </p:spPr>
        </p:cxnSp>
        <p:sp>
          <p:nvSpPr>
            <p:cNvPr id="767" name="Google Shape;767;p42"/>
            <p:cNvSpPr/>
            <p:nvPr/>
          </p:nvSpPr>
          <p:spPr>
            <a:xfrm>
              <a:off x="3754841" y="2690643"/>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768" name="Google Shape;768;p42"/>
            <p:cNvCxnSpPr>
              <a:stCxn id="758" idx="1"/>
              <a:endCxn id="756" idx="3"/>
            </p:cNvCxnSpPr>
            <p:nvPr/>
          </p:nvCxnSpPr>
          <p:spPr>
            <a:xfrm rot="10800000">
              <a:off x="5720580" y="2099613"/>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769" name="Google Shape;769;p42"/>
            <p:cNvSpPr/>
            <p:nvPr/>
          </p:nvSpPr>
          <p:spPr>
            <a:xfrm>
              <a:off x="2955079" y="2313793"/>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770" name="Google Shape;770;p42"/>
            <p:cNvSpPr/>
            <p:nvPr/>
          </p:nvSpPr>
          <p:spPr>
            <a:xfrm>
              <a:off x="2917746" y="3124606"/>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771" name="Google Shape;771;p42"/>
            <p:cNvSpPr/>
            <p:nvPr/>
          </p:nvSpPr>
          <p:spPr>
            <a:xfrm>
              <a:off x="6220121" y="2311845"/>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772" name="Google Shape;772;p42"/>
            <p:cNvSpPr/>
            <p:nvPr/>
          </p:nvSpPr>
          <p:spPr>
            <a:xfrm>
              <a:off x="4604785" y="1937325"/>
              <a:ext cx="3174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773" name="Google Shape;773;p42"/>
            <p:cNvSpPr/>
            <p:nvPr/>
          </p:nvSpPr>
          <p:spPr>
            <a:xfrm>
              <a:off x="6213553" y="3144190"/>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774" name="Google Shape;774;p42"/>
            <p:cNvCxnSpPr>
              <a:stCxn id="757" idx="1"/>
              <a:endCxn id="755" idx="3"/>
            </p:cNvCxnSpPr>
            <p:nvPr/>
          </p:nvCxnSpPr>
          <p:spPr>
            <a:xfrm rot="10800000">
              <a:off x="4086494" y="3664370"/>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775" name="Google Shape;775;p42"/>
            <p:cNvSpPr/>
            <p:nvPr/>
          </p:nvSpPr>
          <p:spPr>
            <a:xfrm>
              <a:off x="5375897" y="2708107"/>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776" name="Google Shape;776;p42"/>
            <p:cNvSpPr/>
            <p:nvPr/>
          </p:nvSpPr>
          <p:spPr>
            <a:xfrm>
              <a:off x="4551170" y="3537916"/>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0"/>
        <p:cNvGrpSpPr/>
        <p:nvPr/>
      </p:nvGrpSpPr>
      <p:grpSpPr>
        <a:xfrm>
          <a:off x="0" y="0"/>
          <a:ext cx="0" cy="0"/>
          <a:chOff x="0" y="0"/>
          <a:chExt cx="0" cy="0"/>
        </a:xfrm>
      </p:grpSpPr>
      <p:sp>
        <p:nvSpPr>
          <p:cNvPr id="781" name="Google Shape;781;p4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Shortest Paths Warmup</a:t>
            </a:r>
            <a:endParaRPr/>
          </a:p>
        </p:txBody>
      </p:sp>
      <p:sp>
        <p:nvSpPr>
          <p:cNvPr id="782" name="Google Shape;782;p4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the shortest paths tree for the graph below, using s as the source?                  In what order will Dijkstra’s algorithm visit the vertices?</a:t>
            </a:r>
            <a:endParaRPr/>
          </a:p>
          <a:p>
            <a:pPr marL="457200" lvl="0" indent="-342900" algn="l" rtl="0">
              <a:spcBef>
                <a:spcPts val="600"/>
              </a:spcBef>
              <a:spcAft>
                <a:spcPts val="0"/>
              </a:spcAft>
              <a:buSzPts val="1800"/>
              <a:buChar char="●"/>
            </a:pPr>
            <a:r>
              <a:rPr lang="en"/>
              <a:t>A, B, D, E, F, C</a:t>
            </a:r>
            <a:endParaRPr/>
          </a:p>
        </p:txBody>
      </p:sp>
      <p:grpSp>
        <p:nvGrpSpPr>
          <p:cNvPr id="783" name="Google Shape;783;p43"/>
          <p:cNvGrpSpPr/>
          <p:nvPr/>
        </p:nvGrpSpPr>
        <p:grpSpPr>
          <a:xfrm>
            <a:off x="1789005" y="1947425"/>
            <a:ext cx="5565975" cy="1869199"/>
            <a:chOff x="1289193" y="2128800"/>
            <a:chExt cx="5565975" cy="1869199"/>
          </a:xfrm>
        </p:grpSpPr>
        <p:sp>
          <p:nvSpPr>
            <p:cNvPr id="784" name="Google Shape;784;p43"/>
            <p:cNvSpPr/>
            <p:nvPr/>
          </p:nvSpPr>
          <p:spPr>
            <a:xfrm>
              <a:off x="3199306" y="21389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785" name="Google Shape;785;p43"/>
            <p:cNvSpPr/>
            <p:nvPr/>
          </p:nvSpPr>
          <p:spPr>
            <a:xfrm>
              <a:off x="3199306" y="36935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786" name="Google Shape;786;p43"/>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787" name="Google Shape;787;p43"/>
            <p:cNvSpPr/>
            <p:nvPr/>
          </p:nvSpPr>
          <p:spPr>
            <a:xfrm>
              <a:off x="4843681" y="36934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788" name="Google Shape;788;p43"/>
            <p:cNvSpPr/>
            <p:nvPr/>
          </p:nvSpPr>
          <p:spPr>
            <a:xfrm>
              <a:off x="6467868"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789" name="Google Shape;789;p43"/>
            <p:cNvCxnSpPr>
              <a:stCxn id="784" idx="2"/>
              <a:endCxn id="785"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790" name="Google Shape;790;p43"/>
            <p:cNvCxnSpPr>
              <a:stCxn id="786" idx="2"/>
              <a:endCxn id="787" idx="0"/>
            </p:cNvCxnSpPr>
            <p:nvPr/>
          </p:nvCxnSpPr>
          <p:spPr>
            <a:xfrm>
              <a:off x="5027237" y="2433300"/>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791" name="Google Shape;791;p43"/>
            <p:cNvSpPr/>
            <p:nvPr/>
          </p:nvSpPr>
          <p:spPr>
            <a:xfrm>
              <a:off x="1565025"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792" name="Google Shape;792;p43"/>
            <p:cNvCxnSpPr>
              <a:stCxn id="791" idx="3"/>
              <a:endCxn id="784" idx="1"/>
            </p:cNvCxnSpPr>
            <p:nvPr/>
          </p:nvCxnSpPr>
          <p:spPr>
            <a:xfrm rot="10800000" flipH="1">
              <a:off x="1952325" y="2291188"/>
              <a:ext cx="1247100" cy="777300"/>
            </a:xfrm>
            <a:prstGeom prst="straightConnector1">
              <a:avLst/>
            </a:prstGeom>
            <a:noFill/>
            <a:ln w="38100" cap="flat" cmpd="sng">
              <a:solidFill>
                <a:srgbClr val="000000"/>
              </a:solidFill>
              <a:prstDash val="solid"/>
              <a:round/>
              <a:headEnd type="none" w="med" len="med"/>
              <a:tailEnd type="triangle" w="med" len="med"/>
            </a:ln>
          </p:spPr>
        </p:cxnSp>
        <p:sp>
          <p:nvSpPr>
            <p:cNvPr id="793" name="Google Shape;793;p43"/>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794" name="Google Shape;794;p43"/>
            <p:cNvCxnSpPr>
              <a:stCxn id="791" idx="3"/>
              <a:endCxn id="785" idx="1"/>
            </p:cNvCxnSpPr>
            <p:nvPr/>
          </p:nvCxnSpPr>
          <p:spPr>
            <a:xfrm>
              <a:off x="1952325" y="30684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795" name="Google Shape;795;p43"/>
            <p:cNvCxnSpPr>
              <a:stCxn id="787" idx="3"/>
              <a:endCxn id="788" idx="1"/>
            </p:cNvCxnSpPr>
            <p:nvPr/>
          </p:nvCxnSpPr>
          <p:spPr>
            <a:xfrm rot="10800000" flipH="1">
              <a:off x="5230981" y="3068445"/>
              <a:ext cx="1236900" cy="777300"/>
            </a:xfrm>
            <a:prstGeom prst="straightConnector1">
              <a:avLst/>
            </a:prstGeom>
            <a:noFill/>
            <a:ln w="38100" cap="flat" cmpd="sng">
              <a:solidFill>
                <a:srgbClr val="000000"/>
              </a:solidFill>
              <a:prstDash val="solid"/>
              <a:round/>
              <a:headEnd type="none" w="med" len="med"/>
              <a:tailEnd type="triangle" w="med" len="med"/>
            </a:ln>
          </p:spPr>
        </p:cxnSp>
        <p:cxnSp>
          <p:nvCxnSpPr>
            <p:cNvPr id="796" name="Google Shape;796;p43"/>
            <p:cNvCxnSpPr>
              <a:stCxn id="784" idx="3"/>
              <a:endCxn id="786" idx="1"/>
            </p:cNvCxnSpPr>
            <p:nvPr/>
          </p:nvCxnSpPr>
          <p:spPr>
            <a:xfrm rot="10800000" flipH="1">
              <a:off x="3586606" y="2281026"/>
              <a:ext cx="1247100" cy="10200"/>
            </a:xfrm>
            <a:prstGeom prst="straightConnector1">
              <a:avLst/>
            </a:prstGeom>
            <a:noFill/>
            <a:ln w="38100" cap="flat" cmpd="sng">
              <a:solidFill>
                <a:srgbClr val="000000"/>
              </a:solidFill>
              <a:prstDash val="solid"/>
              <a:round/>
              <a:headEnd type="none" w="med" len="med"/>
              <a:tailEnd type="triangle" w="med" len="med"/>
            </a:ln>
          </p:spPr>
        </p:cxnSp>
        <p:sp>
          <p:nvSpPr>
            <p:cNvPr id="797" name="Google Shape;797;p43"/>
            <p:cNvSpPr/>
            <p:nvPr/>
          </p:nvSpPr>
          <p:spPr>
            <a:xfrm>
              <a:off x="3255028" y="287201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798" name="Google Shape;798;p43"/>
            <p:cNvCxnSpPr>
              <a:stCxn id="788" idx="1"/>
              <a:endCxn id="786" idx="3"/>
            </p:cNvCxnSpPr>
            <p:nvPr/>
          </p:nvCxnSpPr>
          <p:spPr>
            <a:xfrm rot="10800000">
              <a:off x="5220768" y="2280988"/>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799" name="Google Shape;799;p43"/>
            <p:cNvSpPr/>
            <p:nvPr/>
          </p:nvSpPr>
          <p:spPr>
            <a:xfrm>
              <a:off x="2455266" y="249516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00" name="Google Shape;800;p43"/>
            <p:cNvSpPr/>
            <p:nvPr/>
          </p:nvSpPr>
          <p:spPr>
            <a:xfrm>
              <a:off x="2417934" y="330598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801" name="Google Shape;801;p43"/>
            <p:cNvSpPr/>
            <p:nvPr/>
          </p:nvSpPr>
          <p:spPr>
            <a:xfrm>
              <a:off x="5720308" y="249322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802" name="Google Shape;802;p43"/>
            <p:cNvSpPr/>
            <p:nvPr/>
          </p:nvSpPr>
          <p:spPr>
            <a:xfrm>
              <a:off x="5713741" y="332556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803" name="Google Shape;803;p43"/>
            <p:cNvCxnSpPr>
              <a:stCxn id="787" idx="1"/>
              <a:endCxn id="785" idx="3"/>
            </p:cNvCxnSpPr>
            <p:nvPr/>
          </p:nvCxnSpPr>
          <p:spPr>
            <a:xfrm rot="10800000">
              <a:off x="3586681" y="3845745"/>
              <a:ext cx="1257000" cy="0"/>
            </a:xfrm>
            <a:prstGeom prst="straightConnector1">
              <a:avLst/>
            </a:prstGeom>
            <a:noFill/>
            <a:ln w="38100" cap="flat" cmpd="sng">
              <a:solidFill>
                <a:srgbClr val="000000"/>
              </a:solidFill>
              <a:prstDash val="solid"/>
              <a:round/>
              <a:headEnd type="triangle" w="med" len="med"/>
              <a:tailEnd type="none" w="med" len="med"/>
            </a:ln>
          </p:spPr>
        </p:cxnSp>
        <p:sp>
          <p:nvSpPr>
            <p:cNvPr id="804" name="Google Shape;804;p43"/>
            <p:cNvSpPr/>
            <p:nvPr/>
          </p:nvSpPr>
          <p:spPr>
            <a:xfrm>
              <a:off x="4876084" y="288948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05" name="Google Shape;805;p43"/>
            <p:cNvSpPr/>
            <p:nvPr/>
          </p:nvSpPr>
          <p:spPr>
            <a:xfrm>
              <a:off x="4051357" y="371929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grpSp>
      <p:sp>
        <p:nvSpPr>
          <p:cNvPr id="806" name="Google Shape;806;p43"/>
          <p:cNvSpPr txBox="1"/>
          <p:nvPr/>
        </p:nvSpPr>
        <p:spPr>
          <a:xfrm>
            <a:off x="3743067" y="15863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807" name="Google Shape;807;p43"/>
          <p:cNvSpPr txBox="1"/>
          <p:nvPr/>
        </p:nvSpPr>
        <p:spPr>
          <a:xfrm>
            <a:off x="3743067" y="37404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a:t>
            </a:r>
            <a:endParaRPr sz="1800">
              <a:solidFill>
                <a:srgbClr val="FF43F0"/>
              </a:solidFill>
              <a:latin typeface="Roboto"/>
              <a:ea typeface="Roboto"/>
              <a:cs typeface="Roboto"/>
              <a:sym typeface="Roboto"/>
            </a:endParaRPr>
          </a:p>
        </p:txBody>
      </p:sp>
      <p:sp>
        <p:nvSpPr>
          <p:cNvPr id="808" name="Google Shape;808;p43"/>
          <p:cNvSpPr txBox="1"/>
          <p:nvPr/>
        </p:nvSpPr>
        <p:spPr>
          <a:xfrm>
            <a:off x="5352302" y="3740422"/>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5</a:t>
            </a:r>
            <a:endParaRPr sz="1800">
              <a:solidFill>
                <a:srgbClr val="FF43F0"/>
              </a:solidFill>
              <a:latin typeface="Roboto"/>
              <a:ea typeface="Roboto"/>
              <a:cs typeface="Roboto"/>
              <a:sym typeface="Roboto"/>
            </a:endParaRPr>
          </a:p>
        </p:txBody>
      </p:sp>
      <p:sp>
        <p:nvSpPr>
          <p:cNvPr id="809" name="Google Shape;809;p43"/>
          <p:cNvSpPr txBox="1"/>
          <p:nvPr/>
        </p:nvSpPr>
        <p:spPr>
          <a:xfrm>
            <a:off x="5352302" y="15882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7</a:t>
            </a:r>
            <a:endParaRPr sz="1800">
              <a:solidFill>
                <a:srgbClr val="FF43F0"/>
              </a:solidFill>
              <a:latin typeface="Roboto"/>
              <a:ea typeface="Roboto"/>
              <a:cs typeface="Roboto"/>
              <a:sym typeface="Roboto"/>
            </a:endParaRPr>
          </a:p>
        </p:txBody>
      </p:sp>
      <p:sp>
        <p:nvSpPr>
          <p:cNvPr id="810" name="Google Shape;810;p43"/>
          <p:cNvSpPr txBox="1"/>
          <p:nvPr/>
        </p:nvSpPr>
        <p:spPr>
          <a:xfrm>
            <a:off x="7011077" y="23828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6</a:t>
            </a:r>
            <a:endParaRPr sz="1800">
              <a:solidFill>
                <a:srgbClr val="FF43F0"/>
              </a:solidFill>
              <a:latin typeface="Roboto"/>
              <a:ea typeface="Roboto"/>
              <a:cs typeface="Roboto"/>
              <a:sym typeface="Roboto"/>
            </a:endParaRPr>
          </a:p>
        </p:txBody>
      </p:sp>
      <p:sp>
        <p:nvSpPr>
          <p:cNvPr id="811" name="Google Shape;811;p43"/>
          <p:cNvSpPr/>
          <p:nvPr/>
        </p:nvSpPr>
        <p:spPr>
          <a:xfrm>
            <a:off x="4534975" y="1937325"/>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5"/>
        <p:cNvGrpSpPr/>
        <p:nvPr/>
      </p:nvGrpSpPr>
      <p:grpSpPr>
        <a:xfrm>
          <a:off x="0" y="0"/>
          <a:ext cx="0" cy="0"/>
          <a:chOff x="0" y="0"/>
          <a:chExt cx="0" cy="0"/>
        </a:xfrm>
      </p:grpSpPr>
      <p:sp>
        <p:nvSpPr>
          <p:cNvPr id="816" name="Google Shape;816;p4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Shortest Paths Warmup</a:t>
            </a:r>
            <a:endParaRPr/>
          </a:p>
        </p:txBody>
      </p:sp>
      <p:sp>
        <p:nvSpPr>
          <p:cNvPr id="817" name="Google Shape;817;p4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If we allow negative edges, Dijkstra’s algorithm can fail.</a:t>
            </a:r>
            <a:endParaRPr/>
          </a:p>
          <a:p>
            <a:pPr marL="457200" lvl="0" indent="-342900" algn="l" rtl="0">
              <a:spcBef>
                <a:spcPts val="600"/>
              </a:spcBef>
              <a:spcAft>
                <a:spcPts val="0"/>
              </a:spcAft>
              <a:buSzPts val="1800"/>
              <a:buChar char="●"/>
            </a:pPr>
            <a:r>
              <a:rPr lang="en"/>
              <a:t>For example, below we see Dijkstra’s just before vertex C is visited.</a:t>
            </a:r>
            <a:endParaRPr/>
          </a:p>
        </p:txBody>
      </p:sp>
      <p:grpSp>
        <p:nvGrpSpPr>
          <p:cNvPr id="818" name="Google Shape;818;p44"/>
          <p:cNvGrpSpPr/>
          <p:nvPr/>
        </p:nvGrpSpPr>
        <p:grpSpPr>
          <a:xfrm>
            <a:off x="1789005" y="1937325"/>
            <a:ext cx="5565975" cy="1879300"/>
            <a:chOff x="1289193" y="2118700"/>
            <a:chExt cx="5565975" cy="1879300"/>
          </a:xfrm>
        </p:grpSpPr>
        <p:sp>
          <p:nvSpPr>
            <p:cNvPr id="819" name="Google Shape;819;p44"/>
            <p:cNvSpPr/>
            <p:nvPr/>
          </p:nvSpPr>
          <p:spPr>
            <a:xfrm>
              <a:off x="3199306" y="2138976"/>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820" name="Google Shape;820;p44"/>
            <p:cNvSpPr/>
            <p:nvPr/>
          </p:nvSpPr>
          <p:spPr>
            <a:xfrm>
              <a:off x="3199306" y="369350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821" name="Google Shape;821;p44"/>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822" name="Google Shape;822;p44"/>
            <p:cNvSpPr/>
            <p:nvPr/>
          </p:nvSpPr>
          <p:spPr>
            <a:xfrm>
              <a:off x="4843681" y="3693495"/>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823" name="Google Shape;823;p44"/>
            <p:cNvSpPr/>
            <p:nvPr/>
          </p:nvSpPr>
          <p:spPr>
            <a:xfrm>
              <a:off x="6467868" y="2916238"/>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824" name="Google Shape;824;p44"/>
            <p:cNvCxnSpPr>
              <a:stCxn id="819" idx="2"/>
              <a:endCxn id="820"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825" name="Google Shape;825;p44"/>
            <p:cNvCxnSpPr>
              <a:stCxn id="821" idx="2"/>
              <a:endCxn id="822" idx="0"/>
            </p:cNvCxnSpPr>
            <p:nvPr/>
          </p:nvCxnSpPr>
          <p:spPr>
            <a:xfrm>
              <a:off x="5027237" y="2433300"/>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826" name="Google Shape;826;p44"/>
            <p:cNvSpPr/>
            <p:nvPr/>
          </p:nvSpPr>
          <p:spPr>
            <a:xfrm>
              <a:off x="1565025" y="2916238"/>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827" name="Google Shape;827;p44"/>
            <p:cNvCxnSpPr>
              <a:stCxn id="826" idx="3"/>
              <a:endCxn id="819" idx="1"/>
            </p:cNvCxnSpPr>
            <p:nvPr/>
          </p:nvCxnSpPr>
          <p:spPr>
            <a:xfrm rot="10800000" flipH="1">
              <a:off x="1952325" y="2291188"/>
              <a:ext cx="1247100" cy="777300"/>
            </a:xfrm>
            <a:prstGeom prst="straightConnector1">
              <a:avLst/>
            </a:prstGeom>
            <a:noFill/>
            <a:ln w="38100" cap="flat" cmpd="sng">
              <a:solidFill>
                <a:srgbClr val="000000"/>
              </a:solidFill>
              <a:prstDash val="solid"/>
              <a:round/>
              <a:headEnd type="none" w="med" len="med"/>
              <a:tailEnd type="triangle" w="med" len="med"/>
            </a:ln>
          </p:spPr>
        </p:cxnSp>
        <p:sp>
          <p:nvSpPr>
            <p:cNvPr id="828" name="Google Shape;828;p44"/>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829" name="Google Shape;829;p44"/>
            <p:cNvCxnSpPr>
              <a:stCxn id="826" idx="3"/>
              <a:endCxn id="820" idx="1"/>
            </p:cNvCxnSpPr>
            <p:nvPr/>
          </p:nvCxnSpPr>
          <p:spPr>
            <a:xfrm>
              <a:off x="1952325" y="30684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830" name="Google Shape;830;p44"/>
            <p:cNvCxnSpPr>
              <a:stCxn id="822" idx="3"/>
              <a:endCxn id="823" idx="1"/>
            </p:cNvCxnSpPr>
            <p:nvPr/>
          </p:nvCxnSpPr>
          <p:spPr>
            <a:xfrm rot="10800000" flipH="1">
              <a:off x="5230981" y="3068445"/>
              <a:ext cx="1236900" cy="777300"/>
            </a:xfrm>
            <a:prstGeom prst="straightConnector1">
              <a:avLst/>
            </a:prstGeom>
            <a:noFill/>
            <a:ln w="38100" cap="flat" cmpd="sng">
              <a:solidFill>
                <a:srgbClr val="000000"/>
              </a:solidFill>
              <a:prstDash val="solid"/>
              <a:round/>
              <a:headEnd type="none" w="med" len="med"/>
              <a:tailEnd type="triangle" w="med" len="med"/>
            </a:ln>
          </p:spPr>
        </p:cxnSp>
        <p:cxnSp>
          <p:nvCxnSpPr>
            <p:cNvPr id="831" name="Google Shape;831;p44"/>
            <p:cNvCxnSpPr>
              <a:stCxn id="819" idx="3"/>
              <a:endCxn id="821" idx="1"/>
            </p:cNvCxnSpPr>
            <p:nvPr/>
          </p:nvCxnSpPr>
          <p:spPr>
            <a:xfrm rot="10800000" flipH="1">
              <a:off x="3586606" y="2281026"/>
              <a:ext cx="1247100" cy="10200"/>
            </a:xfrm>
            <a:prstGeom prst="straightConnector1">
              <a:avLst/>
            </a:prstGeom>
            <a:noFill/>
            <a:ln w="38100" cap="flat" cmpd="sng">
              <a:solidFill>
                <a:srgbClr val="000000"/>
              </a:solidFill>
              <a:prstDash val="solid"/>
              <a:round/>
              <a:headEnd type="none" w="med" len="med"/>
              <a:tailEnd type="triangle" w="med" len="med"/>
            </a:ln>
          </p:spPr>
        </p:cxnSp>
        <p:sp>
          <p:nvSpPr>
            <p:cNvPr id="832" name="Google Shape;832;p44"/>
            <p:cNvSpPr/>
            <p:nvPr/>
          </p:nvSpPr>
          <p:spPr>
            <a:xfrm>
              <a:off x="3147233" y="2872025"/>
              <a:ext cx="4911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25</a:t>
              </a:r>
              <a:endParaRPr sz="1800">
                <a:latin typeface="Roboto"/>
                <a:ea typeface="Roboto"/>
                <a:cs typeface="Roboto"/>
                <a:sym typeface="Roboto"/>
              </a:endParaRPr>
            </a:p>
          </p:txBody>
        </p:sp>
        <p:cxnSp>
          <p:nvCxnSpPr>
            <p:cNvPr id="833" name="Google Shape;833;p44"/>
            <p:cNvCxnSpPr>
              <a:stCxn id="823" idx="1"/>
              <a:endCxn id="821" idx="3"/>
            </p:cNvCxnSpPr>
            <p:nvPr/>
          </p:nvCxnSpPr>
          <p:spPr>
            <a:xfrm rot="10800000">
              <a:off x="5220768" y="2280988"/>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834" name="Google Shape;834;p44"/>
            <p:cNvSpPr/>
            <p:nvPr/>
          </p:nvSpPr>
          <p:spPr>
            <a:xfrm>
              <a:off x="2455266" y="249516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35" name="Google Shape;835;p44"/>
            <p:cNvSpPr/>
            <p:nvPr/>
          </p:nvSpPr>
          <p:spPr>
            <a:xfrm>
              <a:off x="2417934" y="330598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36" name="Google Shape;836;p44"/>
            <p:cNvSpPr/>
            <p:nvPr/>
          </p:nvSpPr>
          <p:spPr>
            <a:xfrm>
              <a:off x="5567911" y="2493225"/>
              <a:ext cx="747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37" name="Google Shape;837;p44"/>
            <p:cNvSpPr/>
            <p:nvPr/>
          </p:nvSpPr>
          <p:spPr>
            <a:xfrm>
              <a:off x="4035163" y="2118700"/>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838" name="Google Shape;838;p44"/>
            <p:cNvSpPr/>
            <p:nvPr/>
          </p:nvSpPr>
          <p:spPr>
            <a:xfrm>
              <a:off x="5713741" y="332556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839" name="Google Shape;839;p44"/>
            <p:cNvCxnSpPr>
              <a:stCxn id="822" idx="1"/>
              <a:endCxn id="820" idx="3"/>
            </p:cNvCxnSpPr>
            <p:nvPr/>
          </p:nvCxnSpPr>
          <p:spPr>
            <a:xfrm rot="10800000">
              <a:off x="3586681" y="3845745"/>
              <a:ext cx="1257000" cy="0"/>
            </a:xfrm>
            <a:prstGeom prst="straightConnector1">
              <a:avLst/>
            </a:prstGeom>
            <a:noFill/>
            <a:ln w="38100" cap="flat" cmpd="sng">
              <a:solidFill>
                <a:srgbClr val="000000"/>
              </a:solidFill>
              <a:prstDash val="solid"/>
              <a:round/>
              <a:headEnd type="triangle" w="med" len="med"/>
              <a:tailEnd type="none" w="med" len="med"/>
            </a:ln>
          </p:spPr>
        </p:cxnSp>
        <p:sp>
          <p:nvSpPr>
            <p:cNvPr id="840" name="Google Shape;840;p44"/>
            <p:cNvSpPr/>
            <p:nvPr/>
          </p:nvSpPr>
          <p:spPr>
            <a:xfrm>
              <a:off x="4799887" y="2889475"/>
              <a:ext cx="5820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sp>
          <p:nvSpPr>
            <p:cNvPr id="841" name="Google Shape;841;p44"/>
            <p:cNvSpPr/>
            <p:nvPr/>
          </p:nvSpPr>
          <p:spPr>
            <a:xfrm>
              <a:off x="4051357" y="371929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grpSp>
      <p:sp>
        <p:nvSpPr>
          <p:cNvPr id="842" name="Google Shape;842;p44"/>
          <p:cNvSpPr txBox="1"/>
          <p:nvPr/>
        </p:nvSpPr>
        <p:spPr>
          <a:xfrm>
            <a:off x="3743067" y="15863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843" name="Google Shape;843;p44"/>
          <p:cNvSpPr txBox="1"/>
          <p:nvPr/>
        </p:nvSpPr>
        <p:spPr>
          <a:xfrm>
            <a:off x="3743067" y="37404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844" name="Google Shape;844;p44"/>
          <p:cNvSpPr txBox="1"/>
          <p:nvPr/>
        </p:nvSpPr>
        <p:spPr>
          <a:xfrm>
            <a:off x="5352302" y="3740422"/>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a:t>
            </a:r>
            <a:endParaRPr sz="1800">
              <a:solidFill>
                <a:srgbClr val="FF43F0"/>
              </a:solidFill>
              <a:latin typeface="Roboto"/>
              <a:ea typeface="Roboto"/>
              <a:cs typeface="Roboto"/>
              <a:sym typeface="Roboto"/>
            </a:endParaRPr>
          </a:p>
        </p:txBody>
      </p:sp>
      <p:sp>
        <p:nvSpPr>
          <p:cNvPr id="845" name="Google Shape;845;p44"/>
          <p:cNvSpPr txBox="1"/>
          <p:nvPr/>
        </p:nvSpPr>
        <p:spPr>
          <a:xfrm>
            <a:off x="5352302" y="15882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7</a:t>
            </a:r>
            <a:endParaRPr sz="1800">
              <a:solidFill>
                <a:srgbClr val="FF43F0"/>
              </a:solidFill>
              <a:latin typeface="Roboto"/>
              <a:ea typeface="Roboto"/>
              <a:cs typeface="Roboto"/>
              <a:sym typeface="Roboto"/>
            </a:endParaRPr>
          </a:p>
        </p:txBody>
      </p:sp>
      <p:sp>
        <p:nvSpPr>
          <p:cNvPr id="846" name="Google Shape;846;p44"/>
          <p:cNvSpPr txBox="1"/>
          <p:nvPr/>
        </p:nvSpPr>
        <p:spPr>
          <a:xfrm>
            <a:off x="7011077" y="23828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3</a:t>
            </a:r>
            <a:endParaRPr sz="1800">
              <a:solidFill>
                <a:srgbClr val="FF43F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0"/>
        <p:cNvGrpSpPr/>
        <p:nvPr/>
      </p:nvGrpSpPr>
      <p:grpSpPr>
        <a:xfrm>
          <a:off x="0" y="0"/>
          <a:ext cx="0" cy="0"/>
          <a:chOff x="0" y="0"/>
          <a:chExt cx="0" cy="0"/>
        </a:xfrm>
      </p:grpSpPr>
      <p:sp>
        <p:nvSpPr>
          <p:cNvPr id="851" name="Google Shape;851;p4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Shortest Paths Warmup</a:t>
            </a:r>
            <a:endParaRPr/>
          </a:p>
        </p:txBody>
      </p:sp>
      <p:sp>
        <p:nvSpPr>
          <p:cNvPr id="852" name="Google Shape;852;p4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If we allow negative edges, Dijkstra’s algorithm can fail.</a:t>
            </a:r>
            <a:endParaRPr/>
          </a:p>
          <a:p>
            <a:pPr marL="457200" lvl="0" indent="-342900" algn="l" rtl="0">
              <a:spcBef>
                <a:spcPts val="600"/>
              </a:spcBef>
              <a:spcAft>
                <a:spcPts val="0"/>
              </a:spcAft>
              <a:buSzPts val="1800"/>
              <a:buChar char="●"/>
            </a:pPr>
            <a:r>
              <a:rPr lang="en"/>
              <a:t>For example, below we see Dijkstra’s just before vertex C is visited.</a:t>
            </a:r>
            <a:endParaRPr/>
          </a:p>
          <a:p>
            <a:pPr marL="457200" lvl="0" indent="-342900" algn="l" rtl="0">
              <a:spcBef>
                <a:spcPts val="600"/>
              </a:spcBef>
              <a:spcAft>
                <a:spcPts val="0"/>
              </a:spcAft>
              <a:buSzPts val="1800"/>
              <a:buChar char="●"/>
            </a:pPr>
            <a:r>
              <a:rPr lang="en"/>
              <a:t>Relaxation on E succeeds, but distance to F will never be updated.</a:t>
            </a:r>
            <a:endParaRPr/>
          </a:p>
        </p:txBody>
      </p:sp>
      <p:grpSp>
        <p:nvGrpSpPr>
          <p:cNvPr id="853" name="Google Shape;853;p45"/>
          <p:cNvGrpSpPr/>
          <p:nvPr/>
        </p:nvGrpSpPr>
        <p:grpSpPr>
          <a:xfrm>
            <a:off x="1789005" y="1937325"/>
            <a:ext cx="5565975" cy="1879300"/>
            <a:chOff x="1289193" y="2118700"/>
            <a:chExt cx="5565975" cy="1879300"/>
          </a:xfrm>
        </p:grpSpPr>
        <p:sp>
          <p:nvSpPr>
            <p:cNvPr id="854" name="Google Shape;854;p45"/>
            <p:cNvSpPr/>
            <p:nvPr/>
          </p:nvSpPr>
          <p:spPr>
            <a:xfrm>
              <a:off x="3199306" y="2138976"/>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855" name="Google Shape;855;p45"/>
            <p:cNvSpPr/>
            <p:nvPr/>
          </p:nvSpPr>
          <p:spPr>
            <a:xfrm>
              <a:off x="3199306" y="369350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856" name="Google Shape;856;p45"/>
            <p:cNvSpPr/>
            <p:nvPr/>
          </p:nvSpPr>
          <p:spPr>
            <a:xfrm>
              <a:off x="4833587" y="212880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857" name="Google Shape;857;p45"/>
            <p:cNvSpPr/>
            <p:nvPr/>
          </p:nvSpPr>
          <p:spPr>
            <a:xfrm>
              <a:off x="4843681" y="3693495"/>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858" name="Google Shape;858;p45"/>
            <p:cNvSpPr/>
            <p:nvPr/>
          </p:nvSpPr>
          <p:spPr>
            <a:xfrm>
              <a:off x="6467868" y="2916238"/>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859" name="Google Shape;859;p45"/>
            <p:cNvCxnSpPr>
              <a:stCxn id="854" idx="2"/>
              <a:endCxn id="855"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860" name="Google Shape;860;p45"/>
            <p:cNvCxnSpPr>
              <a:stCxn id="856" idx="2"/>
              <a:endCxn id="857" idx="0"/>
            </p:cNvCxnSpPr>
            <p:nvPr/>
          </p:nvCxnSpPr>
          <p:spPr>
            <a:xfrm>
              <a:off x="5027237" y="2433300"/>
              <a:ext cx="10200" cy="1260300"/>
            </a:xfrm>
            <a:prstGeom prst="straightConnector1">
              <a:avLst/>
            </a:prstGeom>
            <a:noFill/>
            <a:ln w="38100" cap="flat" cmpd="sng">
              <a:solidFill>
                <a:srgbClr val="FF00FF"/>
              </a:solidFill>
              <a:prstDash val="solid"/>
              <a:round/>
              <a:headEnd type="none" w="med" len="med"/>
              <a:tailEnd type="triangle" w="med" len="med"/>
            </a:ln>
          </p:spPr>
        </p:cxnSp>
        <p:sp>
          <p:nvSpPr>
            <p:cNvPr id="861" name="Google Shape;861;p45"/>
            <p:cNvSpPr/>
            <p:nvPr/>
          </p:nvSpPr>
          <p:spPr>
            <a:xfrm>
              <a:off x="1565025" y="2916238"/>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862" name="Google Shape;862;p45"/>
            <p:cNvCxnSpPr>
              <a:stCxn id="861" idx="3"/>
              <a:endCxn id="854" idx="1"/>
            </p:cNvCxnSpPr>
            <p:nvPr/>
          </p:nvCxnSpPr>
          <p:spPr>
            <a:xfrm rot="10800000" flipH="1">
              <a:off x="1952325" y="2291188"/>
              <a:ext cx="1247100" cy="777300"/>
            </a:xfrm>
            <a:prstGeom prst="straightConnector1">
              <a:avLst/>
            </a:prstGeom>
            <a:noFill/>
            <a:ln w="38100" cap="flat" cmpd="sng">
              <a:solidFill>
                <a:srgbClr val="000000"/>
              </a:solidFill>
              <a:prstDash val="solid"/>
              <a:round/>
              <a:headEnd type="none" w="med" len="med"/>
              <a:tailEnd type="triangle" w="med" len="med"/>
            </a:ln>
          </p:spPr>
        </p:cxnSp>
        <p:sp>
          <p:nvSpPr>
            <p:cNvPr id="863" name="Google Shape;863;p45"/>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864" name="Google Shape;864;p45"/>
            <p:cNvCxnSpPr>
              <a:stCxn id="861" idx="3"/>
              <a:endCxn id="855" idx="1"/>
            </p:cNvCxnSpPr>
            <p:nvPr/>
          </p:nvCxnSpPr>
          <p:spPr>
            <a:xfrm>
              <a:off x="1952325" y="30684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865" name="Google Shape;865;p45"/>
            <p:cNvCxnSpPr>
              <a:stCxn id="857" idx="3"/>
              <a:endCxn id="858" idx="1"/>
            </p:cNvCxnSpPr>
            <p:nvPr/>
          </p:nvCxnSpPr>
          <p:spPr>
            <a:xfrm rot="10800000" flipH="1">
              <a:off x="5230981" y="3068445"/>
              <a:ext cx="1236900" cy="777300"/>
            </a:xfrm>
            <a:prstGeom prst="straightConnector1">
              <a:avLst/>
            </a:prstGeom>
            <a:noFill/>
            <a:ln w="38100" cap="flat" cmpd="sng">
              <a:solidFill>
                <a:srgbClr val="000000"/>
              </a:solidFill>
              <a:prstDash val="solid"/>
              <a:round/>
              <a:headEnd type="none" w="med" len="med"/>
              <a:tailEnd type="triangle" w="med" len="med"/>
            </a:ln>
          </p:spPr>
        </p:cxnSp>
        <p:cxnSp>
          <p:nvCxnSpPr>
            <p:cNvPr id="866" name="Google Shape;866;p45"/>
            <p:cNvCxnSpPr>
              <a:stCxn id="854" idx="3"/>
              <a:endCxn id="856" idx="1"/>
            </p:cNvCxnSpPr>
            <p:nvPr/>
          </p:nvCxnSpPr>
          <p:spPr>
            <a:xfrm rot="10800000" flipH="1">
              <a:off x="3586606" y="2281026"/>
              <a:ext cx="1247100" cy="10200"/>
            </a:xfrm>
            <a:prstGeom prst="straightConnector1">
              <a:avLst/>
            </a:prstGeom>
            <a:noFill/>
            <a:ln w="38100" cap="flat" cmpd="sng">
              <a:solidFill>
                <a:srgbClr val="000000"/>
              </a:solidFill>
              <a:prstDash val="solid"/>
              <a:round/>
              <a:headEnd type="none" w="med" len="med"/>
              <a:tailEnd type="triangle" w="med" len="med"/>
            </a:ln>
          </p:spPr>
        </p:cxnSp>
        <p:sp>
          <p:nvSpPr>
            <p:cNvPr id="867" name="Google Shape;867;p45"/>
            <p:cNvSpPr/>
            <p:nvPr/>
          </p:nvSpPr>
          <p:spPr>
            <a:xfrm>
              <a:off x="3147233" y="2872025"/>
              <a:ext cx="4911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25</a:t>
              </a:r>
              <a:endParaRPr sz="1800">
                <a:latin typeface="Roboto"/>
                <a:ea typeface="Roboto"/>
                <a:cs typeface="Roboto"/>
                <a:sym typeface="Roboto"/>
              </a:endParaRPr>
            </a:p>
          </p:txBody>
        </p:sp>
        <p:cxnSp>
          <p:nvCxnSpPr>
            <p:cNvPr id="868" name="Google Shape;868;p45"/>
            <p:cNvCxnSpPr>
              <a:stCxn id="858" idx="1"/>
              <a:endCxn id="856" idx="3"/>
            </p:cNvCxnSpPr>
            <p:nvPr/>
          </p:nvCxnSpPr>
          <p:spPr>
            <a:xfrm rot="10800000">
              <a:off x="5220768" y="2280988"/>
              <a:ext cx="1247100" cy="787500"/>
            </a:xfrm>
            <a:prstGeom prst="straightConnector1">
              <a:avLst/>
            </a:prstGeom>
            <a:noFill/>
            <a:ln w="38100" cap="flat" cmpd="sng">
              <a:solidFill>
                <a:srgbClr val="FF00FF"/>
              </a:solidFill>
              <a:prstDash val="solid"/>
              <a:round/>
              <a:headEnd type="triangle" w="med" len="med"/>
              <a:tailEnd type="none" w="med" len="med"/>
            </a:ln>
          </p:spPr>
        </p:cxnSp>
        <p:sp>
          <p:nvSpPr>
            <p:cNvPr id="869" name="Google Shape;869;p45"/>
            <p:cNvSpPr/>
            <p:nvPr/>
          </p:nvSpPr>
          <p:spPr>
            <a:xfrm>
              <a:off x="2455266" y="249516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70" name="Google Shape;870;p45"/>
            <p:cNvSpPr/>
            <p:nvPr/>
          </p:nvSpPr>
          <p:spPr>
            <a:xfrm>
              <a:off x="2417934" y="330598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71" name="Google Shape;871;p45"/>
            <p:cNvSpPr/>
            <p:nvPr/>
          </p:nvSpPr>
          <p:spPr>
            <a:xfrm>
              <a:off x="5567911" y="2493225"/>
              <a:ext cx="747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872" name="Google Shape;872;p45"/>
            <p:cNvSpPr/>
            <p:nvPr/>
          </p:nvSpPr>
          <p:spPr>
            <a:xfrm>
              <a:off x="4035163" y="2118700"/>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873" name="Google Shape;873;p45"/>
            <p:cNvSpPr/>
            <p:nvPr/>
          </p:nvSpPr>
          <p:spPr>
            <a:xfrm>
              <a:off x="5713741" y="332556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874" name="Google Shape;874;p45"/>
            <p:cNvCxnSpPr>
              <a:stCxn id="857" idx="1"/>
              <a:endCxn id="855" idx="3"/>
            </p:cNvCxnSpPr>
            <p:nvPr/>
          </p:nvCxnSpPr>
          <p:spPr>
            <a:xfrm rot="10800000">
              <a:off x="3586681" y="3845745"/>
              <a:ext cx="1257000" cy="0"/>
            </a:xfrm>
            <a:prstGeom prst="straightConnector1">
              <a:avLst/>
            </a:prstGeom>
            <a:noFill/>
            <a:ln w="38100" cap="flat" cmpd="sng">
              <a:solidFill>
                <a:srgbClr val="000000"/>
              </a:solidFill>
              <a:prstDash val="solid"/>
              <a:round/>
              <a:headEnd type="triangle" w="med" len="med"/>
              <a:tailEnd type="none" w="med" len="med"/>
            </a:ln>
          </p:spPr>
        </p:cxnSp>
        <p:sp>
          <p:nvSpPr>
            <p:cNvPr id="875" name="Google Shape;875;p45"/>
            <p:cNvSpPr/>
            <p:nvPr/>
          </p:nvSpPr>
          <p:spPr>
            <a:xfrm>
              <a:off x="4799887" y="2889475"/>
              <a:ext cx="5820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sp>
          <p:nvSpPr>
            <p:cNvPr id="876" name="Google Shape;876;p45"/>
            <p:cNvSpPr/>
            <p:nvPr/>
          </p:nvSpPr>
          <p:spPr>
            <a:xfrm>
              <a:off x="4051357" y="371929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grpSp>
      <p:sp>
        <p:nvSpPr>
          <p:cNvPr id="877" name="Google Shape;877;p45"/>
          <p:cNvSpPr txBox="1"/>
          <p:nvPr/>
        </p:nvSpPr>
        <p:spPr>
          <a:xfrm>
            <a:off x="3743067" y="15863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878" name="Google Shape;878;p45"/>
          <p:cNvSpPr txBox="1"/>
          <p:nvPr/>
        </p:nvSpPr>
        <p:spPr>
          <a:xfrm>
            <a:off x="3743067" y="37404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879" name="Google Shape;879;p45"/>
          <p:cNvSpPr txBox="1"/>
          <p:nvPr/>
        </p:nvSpPr>
        <p:spPr>
          <a:xfrm>
            <a:off x="5352302" y="3740422"/>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a:t>
            </a:r>
            <a:endParaRPr sz="1800">
              <a:solidFill>
                <a:srgbClr val="FF43F0"/>
              </a:solidFill>
              <a:latin typeface="Roboto"/>
              <a:ea typeface="Roboto"/>
              <a:cs typeface="Roboto"/>
              <a:sym typeface="Roboto"/>
            </a:endParaRPr>
          </a:p>
        </p:txBody>
      </p:sp>
      <p:sp>
        <p:nvSpPr>
          <p:cNvPr id="880" name="Google Shape;880;p45"/>
          <p:cNvSpPr txBox="1"/>
          <p:nvPr/>
        </p:nvSpPr>
        <p:spPr>
          <a:xfrm>
            <a:off x="5352302" y="15882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7</a:t>
            </a:r>
            <a:endParaRPr sz="1800">
              <a:solidFill>
                <a:srgbClr val="FF43F0"/>
              </a:solidFill>
              <a:latin typeface="Roboto"/>
              <a:ea typeface="Roboto"/>
              <a:cs typeface="Roboto"/>
              <a:sym typeface="Roboto"/>
            </a:endParaRPr>
          </a:p>
        </p:txBody>
      </p:sp>
      <p:sp>
        <p:nvSpPr>
          <p:cNvPr id="881" name="Google Shape;881;p45"/>
          <p:cNvSpPr txBox="1"/>
          <p:nvPr/>
        </p:nvSpPr>
        <p:spPr>
          <a:xfrm>
            <a:off x="7011077" y="23828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3</a:t>
            </a:r>
            <a:endParaRPr sz="1800">
              <a:solidFill>
                <a:srgbClr val="FF43F0"/>
              </a:solidFill>
              <a:latin typeface="Roboto"/>
              <a:ea typeface="Roboto"/>
              <a:cs typeface="Roboto"/>
              <a:sym typeface="Roboto"/>
            </a:endParaRPr>
          </a:p>
        </p:txBody>
      </p:sp>
      <p:cxnSp>
        <p:nvCxnSpPr>
          <p:cNvPr id="882" name="Google Shape;882;p45"/>
          <p:cNvCxnSpPr/>
          <p:nvPr/>
        </p:nvCxnSpPr>
        <p:spPr>
          <a:xfrm>
            <a:off x="5411958" y="3919550"/>
            <a:ext cx="197400" cy="129000"/>
          </a:xfrm>
          <a:prstGeom prst="straightConnector1">
            <a:avLst/>
          </a:prstGeom>
          <a:noFill/>
          <a:ln w="19050" cap="flat" cmpd="sng">
            <a:solidFill>
              <a:schemeClr val="dk2"/>
            </a:solidFill>
            <a:prstDash val="solid"/>
            <a:round/>
            <a:headEnd type="none" w="med" len="med"/>
            <a:tailEnd type="none" w="med" len="med"/>
          </a:ln>
        </p:spPr>
      </p:cxnSp>
      <p:sp>
        <p:nvSpPr>
          <p:cNvPr id="883" name="Google Shape;883;p45"/>
          <p:cNvSpPr txBox="1"/>
          <p:nvPr/>
        </p:nvSpPr>
        <p:spPr>
          <a:xfrm>
            <a:off x="5585210" y="4056850"/>
            <a:ext cx="7080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-13</a:t>
            </a:r>
            <a:endParaRPr sz="1800">
              <a:solidFill>
                <a:srgbClr val="FF43F0"/>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7"/>
        <p:cNvGrpSpPr/>
        <p:nvPr/>
      </p:nvGrpSpPr>
      <p:grpSpPr>
        <a:xfrm>
          <a:off x="0" y="0"/>
          <a:ext cx="0" cy="0"/>
          <a:chOff x="0" y="0"/>
          <a:chExt cx="0" cy="0"/>
        </a:xfrm>
      </p:grpSpPr>
      <p:sp>
        <p:nvSpPr>
          <p:cNvPr id="888" name="Google Shape;888;p4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Shortest Paths Warmup</a:t>
            </a:r>
            <a:endParaRPr/>
          </a:p>
        </p:txBody>
      </p:sp>
      <p:sp>
        <p:nvSpPr>
          <p:cNvPr id="889" name="Google Shape;889;p4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If we allow negative edges, Dijkstra’s algorithm can fail.</a:t>
            </a:r>
            <a:endParaRPr/>
          </a:p>
          <a:p>
            <a:pPr marL="457200" lvl="0" indent="-342900" algn="l" rtl="0">
              <a:spcBef>
                <a:spcPts val="600"/>
              </a:spcBef>
              <a:spcAft>
                <a:spcPts val="0"/>
              </a:spcAft>
              <a:buSzPts val="1800"/>
              <a:buChar char="●"/>
            </a:pPr>
            <a:r>
              <a:rPr lang="en"/>
              <a:t>For example, below we see Dijkstra’s just before vertex C is visited.</a:t>
            </a:r>
            <a:endParaRPr/>
          </a:p>
          <a:p>
            <a:pPr marL="457200" lvl="0" indent="-342900" algn="l" rtl="0">
              <a:spcBef>
                <a:spcPts val="600"/>
              </a:spcBef>
              <a:spcAft>
                <a:spcPts val="0"/>
              </a:spcAft>
              <a:buSzPts val="1800"/>
              <a:buChar char="●"/>
            </a:pPr>
            <a:r>
              <a:rPr lang="en"/>
              <a:t>Relaxation on E succeeds, but distance to F will never be updated.</a:t>
            </a:r>
            <a:endParaRPr/>
          </a:p>
        </p:txBody>
      </p:sp>
      <p:grpSp>
        <p:nvGrpSpPr>
          <p:cNvPr id="890" name="Google Shape;890;p46"/>
          <p:cNvGrpSpPr/>
          <p:nvPr/>
        </p:nvGrpSpPr>
        <p:grpSpPr>
          <a:xfrm>
            <a:off x="1789005" y="1937325"/>
            <a:ext cx="5565975" cy="1879300"/>
            <a:chOff x="1289193" y="2118700"/>
            <a:chExt cx="5565975" cy="1879300"/>
          </a:xfrm>
        </p:grpSpPr>
        <p:sp>
          <p:nvSpPr>
            <p:cNvPr id="891" name="Google Shape;891;p46"/>
            <p:cNvSpPr/>
            <p:nvPr/>
          </p:nvSpPr>
          <p:spPr>
            <a:xfrm>
              <a:off x="3199306" y="2138976"/>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892" name="Google Shape;892;p46"/>
            <p:cNvSpPr/>
            <p:nvPr/>
          </p:nvSpPr>
          <p:spPr>
            <a:xfrm>
              <a:off x="3199306" y="369350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893" name="Google Shape;893;p46"/>
            <p:cNvSpPr/>
            <p:nvPr/>
          </p:nvSpPr>
          <p:spPr>
            <a:xfrm>
              <a:off x="4833587" y="212880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894" name="Google Shape;894;p46"/>
            <p:cNvSpPr/>
            <p:nvPr/>
          </p:nvSpPr>
          <p:spPr>
            <a:xfrm>
              <a:off x="4843681" y="3693495"/>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895" name="Google Shape;895;p46"/>
            <p:cNvSpPr/>
            <p:nvPr/>
          </p:nvSpPr>
          <p:spPr>
            <a:xfrm>
              <a:off x="6467868" y="2916238"/>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896" name="Google Shape;896;p46"/>
            <p:cNvCxnSpPr>
              <a:stCxn id="891" idx="2"/>
              <a:endCxn id="892"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897" name="Google Shape;897;p46"/>
            <p:cNvCxnSpPr>
              <a:stCxn id="893" idx="2"/>
              <a:endCxn id="894" idx="0"/>
            </p:cNvCxnSpPr>
            <p:nvPr/>
          </p:nvCxnSpPr>
          <p:spPr>
            <a:xfrm>
              <a:off x="5027237" y="2433300"/>
              <a:ext cx="10200" cy="1260300"/>
            </a:xfrm>
            <a:prstGeom prst="straightConnector1">
              <a:avLst/>
            </a:prstGeom>
            <a:noFill/>
            <a:ln w="38100" cap="flat" cmpd="sng">
              <a:solidFill>
                <a:srgbClr val="000000"/>
              </a:solidFill>
              <a:prstDash val="solid"/>
              <a:round/>
              <a:headEnd type="none" w="med" len="med"/>
              <a:tailEnd type="triangle" w="med" len="med"/>
            </a:ln>
          </p:spPr>
        </p:cxnSp>
        <p:sp>
          <p:nvSpPr>
            <p:cNvPr id="898" name="Google Shape;898;p46"/>
            <p:cNvSpPr/>
            <p:nvPr/>
          </p:nvSpPr>
          <p:spPr>
            <a:xfrm>
              <a:off x="1565025" y="2916238"/>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899" name="Google Shape;899;p46"/>
            <p:cNvCxnSpPr>
              <a:stCxn id="898" idx="3"/>
              <a:endCxn id="891" idx="1"/>
            </p:cNvCxnSpPr>
            <p:nvPr/>
          </p:nvCxnSpPr>
          <p:spPr>
            <a:xfrm rot="10800000" flipH="1">
              <a:off x="1952325" y="2291188"/>
              <a:ext cx="1247100" cy="777300"/>
            </a:xfrm>
            <a:prstGeom prst="straightConnector1">
              <a:avLst/>
            </a:prstGeom>
            <a:noFill/>
            <a:ln w="38100" cap="flat" cmpd="sng">
              <a:solidFill>
                <a:srgbClr val="000000"/>
              </a:solidFill>
              <a:prstDash val="solid"/>
              <a:round/>
              <a:headEnd type="none" w="med" len="med"/>
              <a:tailEnd type="triangle" w="med" len="med"/>
            </a:ln>
          </p:spPr>
        </p:cxnSp>
        <p:sp>
          <p:nvSpPr>
            <p:cNvPr id="900" name="Google Shape;900;p46"/>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901" name="Google Shape;901;p46"/>
            <p:cNvCxnSpPr>
              <a:stCxn id="898" idx="3"/>
              <a:endCxn id="892" idx="1"/>
            </p:cNvCxnSpPr>
            <p:nvPr/>
          </p:nvCxnSpPr>
          <p:spPr>
            <a:xfrm>
              <a:off x="1952325" y="30684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902" name="Google Shape;902;p46"/>
            <p:cNvCxnSpPr>
              <a:stCxn id="894" idx="3"/>
              <a:endCxn id="895" idx="1"/>
            </p:cNvCxnSpPr>
            <p:nvPr/>
          </p:nvCxnSpPr>
          <p:spPr>
            <a:xfrm rot="10800000" flipH="1">
              <a:off x="5230981" y="3068445"/>
              <a:ext cx="1236900" cy="777300"/>
            </a:xfrm>
            <a:prstGeom prst="straightConnector1">
              <a:avLst/>
            </a:prstGeom>
            <a:noFill/>
            <a:ln w="38100" cap="flat" cmpd="sng">
              <a:solidFill>
                <a:srgbClr val="000000"/>
              </a:solidFill>
              <a:prstDash val="solid"/>
              <a:round/>
              <a:headEnd type="none" w="med" len="med"/>
              <a:tailEnd type="triangle" w="med" len="med"/>
            </a:ln>
          </p:spPr>
        </p:cxnSp>
        <p:cxnSp>
          <p:nvCxnSpPr>
            <p:cNvPr id="903" name="Google Shape;903;p46"/>
            <p:cNvCxnSpPr>
              <a:stCxn id="891" idx="3"/>
              <a:endCxn id="893" idx="1"/>
            </p:cNvCxnSpPr>
            <p:nvPr/>
          </p:nvCxnSpPr>
          <p:spPr>
            <a:xfrm rot="10800000" flipH="1">
              <a:off x="3586606" y="2281026"/>
              <a:ext cx="1247100" cy="10200"/>
            </a:xfrm>
            <a:prstGeom prst="straightConnector1">
              <a:avLst/>
            </a:prstGeom>
            <a:noFill/>
            <a:ln w="38100" cap="flat" cmpd="sng">
              <a:solidFill>
                <a:srgbClr val="000000"/>
              </a:solidFill>
              <a:prstDash val="solid"/>
              <a:round/>
              <a:headEnd type="none" w="med" len="med"/>
              <a:tailEnd type="triangle" w="med" len="med"/>
            </a:ln>
          </p:spPr>
        </p:cxnSp>
        <p:sp>
          <p:nvSpPr>
            <p:cNvPr id="904" name="Google Shape;904;p46"/>
            <p:cNvSpPr/>
            <p:nvPr/>
          </p:nvSpPr>
          <p:spPr>
            <a:xfrm>
              <a:off x="3147233" y="2872025"/>
              <a:ext cx="4911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25</a:t>
              </a:r>
              <a:endParaRPr sz="1800">
                <a:latin typeface="Roboto"/>
                <a:ea typeface="Roboto"/>
                <a:cs typeface="Roboto"/>
                <a:sym typeface="Roboto"/>
              </a:endParaRPr>
            </a:p>
          </p:txBody>
        </p:sp>
        <p:cxnSp>
          <p:nvCxnSpPr>
            <p:cNvPr id="905" name="Google Shape;905;p46"/>
            <p:cNvCxnSpPr>
              <a:stCxn id="895" idx="1"/>
              <a:endCxn id="893" idx="3"/>
            </p:cNvCxnSpPr>
            <p:nvPr/>
          </p:nvCxnSpPr>
          <p:spPr>
            <a:xfrm rot="10800000">
              <a:off x="5220768" y="2280988"/>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906" name="Google Shape;906;p46"/>
            <p:cNvSpPr/>
            <p:nvPr/>
          </p:nvSpPr>
          <p:spPr>
            <a:xfrm>
              <a:off x="2455266" y="249516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07" name="Google Shape;907;p46"/>
            <p:cNvSpPr/>
            <p:nvPr/>
          </p:nvSpPr>
          <p:spPr>
            <a:xfrm>
              <a:off x="2417934" y="330598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08" name="Google Shape;908;p46"/>
            <p:cNvSpPr/>
            <p:nvPr/>
          </p:nvSpPr>
          <p:spPr>
            <a:xfrm>
              <a:off x="5567911" y="2493225"/>
              <a:ext cx="747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09" name="Google Shape;909;p46"/>
            <p:cNvSpPr/>
            <p:nvPr/>
          </p:nvSpPr>
          <p:spPr>
            <a:xfrm>
              <a:off x="4035163" y="2118700"/>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910" name="Google Shape;910;p46"/>
            <p:cNvSpPr/>
            <p:nvPr/>
          </p:nvSpPr>
          <p:spPr>
            <a:xfrm>
              <a:off x="5713741" y="332556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911" name="Google Shape;911;p46"/>
            <p:cNvCxnSpPr>
              <a:stCxn id="894" idx="1"/>
              <a:endCxn id="892" idx="3"/>
            </p:cNvCxnSpPr>
            <p:nvPr/>
          </p:nvCxnSpPr>
          <p:spPr>
            <a:xfrm rot="10800000">
              <a:off x="3586681" y="3845745"/>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912" name="Google Shape;912;p46"/>
            <p:cNvSpPr/>
            <p:nvPr/>
          </p:nvSpPr>
          <p:spPr>
            <a:xfrm>
              <a:off x="4799887" y="2889475"/>
              <a:ext cx="5820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sp>
          <p:nvSpPr>
            <p:cNvPr id="913" name="Google Shape;913;p46"/>
            <p:cNvSpPr/>
            <p:nvPr/>
          </p:nvSpPr>
          <p:spPr>
            <a:xfrm>
              <a:off x="4051357" y="371929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grpSp>
      <p:sp>
        <p:nvSpPr>
          <p:cNvPr id="914" name="Google Shape;914;p46"/>
          <p:cNvSpPr txBox="1"/>
          <p:nvPr/>
        </p:nvSpPr>
        <p:spPr>
          <a:xfrm>
            <a:off x="3743067" y="15863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915" name="Google Shape;915;p46"/>
          <p:cNvSpPr txBox="1"/>
          <p:nvPr/>
        </p:nvSpPr>
        <p:spPr>
          <a:xfrm>
            <a:off x="3743067" y="37404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a:t>
            </a:r>
            <a:endParaRPr sz="1800">
              <a:solidFill>
                <a:srgbClr val="FF43F0"/>
              </a:solidFill>
              <a:latin typeface="Roboto"/>
              <a:ea typeface="Roboto"/>
              <a:cs typeface="Roboto"/>
              <a:sym typeface="Roboto"/>
            </a:endParaRPr>
          </a:p>
        </p:txBody>
      </p:sp>
      <p:sp>
        <p:nvSpPr>
          <p:cNvPr id="916" name="Google Shape;916;p46"/>
          <p:cNvSpPr txBox="1"/>
          <p:nvPr/>
        </p:nvSpPr>
        <p:spPr>
          <a:xfrm>
            <a:off x="5352302" y="15882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7</a:t>
            </a:r>
            <a:endParaRPr sz="1800">
              <a:solidFill>
                <a:srgbClr val="FF43F0"/>
              </a:solidFill>
              <a:latin typeface="Roboto"/>
              <a:ea typeface="Roboto"/>
              <a:cs typeface="Roboto"/>
              <a:sym typeface="Roboto"/>
            </a:endParaRPr>
          </a:p>
        </p:txBody>
      </p:sp>
      <p:sp>
        <p:nvSpPr>
          <p:cNvPr id="917" name="Google Shape;917;p46"/>
          <p:cNvSpPr txBox="1"/>
          <p:nvPr/>
        </p:nvSpPr>
        <p:spPr>
          <a:xfrm>
            <a:off x="7011077" y="23828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3</a:t>
            </a:r>
            <a:endParaRPr sz="1800">
              <a:solidFill>
                <a:srgbClr val="FF43F0"/>
              </a:solidFill>
              <a:latin typeface="Roboto"/>
              <a:ea typeface="Roboto"/>
              <a:cs typeface="Roboto"/>
              <a:sym typeface="Roboto"/>
            </a:endParaRPr>
          </a:p>
        </p:txBody>
      </p:sp>
      <p:sp>
        <p:nvSpPr>
          <p:cNvPr id="918" name="Google Shape;918;p46"/>
          <p:cNvSpPr txBox="1"/>
          <p:nvPr/>
        </p:nvSpPr>
        <p:spPr>
          <a:xfrm>
            <a:off x="5302744" y="3755291"/>
            <a:ext cx="7080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-13</a:t>
            </a:r>
            <a:endParaRPr sz="1800">
              <a:solidFill>
                <a:srgbClr val="FF43F0"/>
              </a:solidFill>
              <a:latin typeface="Roboto"/>
              <a:ea typeface="Roboto"/>
              <a:cs typeface="Roboto"/>
              <a:sym typeface="Roboto"/>
            </a:endParaRPr>
          </a:p>
        </p:txBody>
      </p:sp>
      <p:sp>
        <p:nvSpPr>
          <p:cNvPr id="919" name="Google Shape;919;p46"/>
          <p:cNvSpPr txBox="1"/>
          <p:nvPr/>
        </p:nvSpPr>
        <p:spPr>
          <a:xfrm>
            <a:off x="7512100" y="1967225"/>
            <a:ext cx="1446900" cy="33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distTo is wrong!</a:t>
            </a:r>
            <a:endParaRPr>
              <a:latin typeface="Roboto"/>
              <a:ea typeface="Roboto"/>
              <a:cs typeface="Roboto"/>
              <a:sym typeface="Roboto"/>
            </a:endParaRPr>
          </a:p>
        </p:txBody>
      </p:sp>
      <p:cxnSp>
        <p:nvCxnSpPr>
          <p:cNvPr id="920" name="Google Shape;920;p46"/>
          <p:cNvCxnSpPr/>
          <p:nvPr/>
        </p:nvCxnSpPr>
        <p:spPr>
          <a:xfrm flipH="1">
            <a:off x="7323875" y="2348775"/>
            <a:ext cx="356700" cy="178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924"/>
        <p:cNvGrpSpPr/>
        <p:nvPr/>
      </p:nvGrpSpPr>
      <p:grpSpPr>
        <a:xfrm>
          <a:off x="0" y="0"/>
          <a:ext cx="0" cy="0"/>
          <a:chOff x="0" y="0"/>
          <a:chExt cx="0" cy="0"/>
        </a:xfrm>
      </p:grpSpPr>
      <p:sp>
        <p:nvSpPr>
          <p:cNvPr id="925" name="Google Shape;925;p4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Challenge</a:t>
            </a:r>
            <a:endParaRPr/>
          </a:p>
        </p:txBody>
      </p:sp>
      <p:sp>
        <p:nvSpPr>
          <p:cNvPr id="926" name="Google Shape;926;p4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Try to come up with an algorithm for shortest paths on a DAG that works even if there are negative edges.</a:t>
            </a:r>
            <a:endParaRPr/>
          </a:p>
          <a:p>
            <a:pPr marL="457200" lvl="0" indent="-342900" algn="l" rtl="0">
              <a:spcBef>
                <a:spcPts val="600"/>
              </a:spcBef>
              <a:spcAft>
                <a:spcPts val="0"/>
              </a:spcAft>
              <a:buSzPts val="1800"/>
              <a:buChar char="●"/>
            </a:pPr>
            <a:r>
              <a:rPr lang="en"/>
              <a:t>Hint: You should still use the “relax” operation as a basic building block.</a:t>
            </a:r>
            <a:endParaRPr/>
          </a:p>
        </p:txBody>
      </p:sp>
      <p:grpSp>
        <p:nvGrpSpPr>
          <p:cNvPr id="927" name="Google Shape;927;p47"/>
          <p:cNvGrpSpPr/>
          <p:nvPr/>
        </p:nvGrpSpPr>
        <p:grpSpPr>
          <a:xfrm>
            <a:off x="1789005" y="1937325"/>
            <a:ext cx="5565975" cy="1879300"/>
            <a:chOff x="1289193" y="2118700"/>
            <a:chExt cx="5565975" cy="1879300"/>
          </a:xfrm>
        </p:grpSpPr>
        <p:sp>
          <p:nvSpPr>
            <p:cNvPr id="928" name="Google Shape;928;p47"/>
            <p:cNvSpPr/>
            <p:nvPr/>
          </p:nvSpPr>
          <p:spPr>
            <a:xfrm>
              <a:off x="3199306" y="21389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929" name="Google Shape;929;p47"/>
            <p:cNvSpPr/>
            <p:nvPr/>
          </p:nvSpPr>
          <p:spPr>
            <a:xfrm>
              <a:off x="3199306" y="36935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930" name="Google Shape;930;p47"/>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931" name="Google Shape;931;p47"/>
            <p:cNvSpPr/>
            <p:nvPr/>
          </p:nvSpPr>
          <p:spPr>
            <a:xfrm>
              <a:off x="4843681" y="36934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932" name="Google Shape;932;p47"/>
            <p:cNvSpPr/>
            <p:nvPr/>
          </p:nvSpPr>
          <p:spPr>
            <a:xfrm>
              <a:off x="6467868"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933" name="Google Shape;933;p47"/>
            <p:cNvCxnSpPr>
              <a:stCxn id="928" idx="2"/>
              <a:endCxn id="929"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934" name="Google Shape;934;p47"/>
            <p:cNvCxnSpPr>
              <a:stCxn id="930" idx="2"/>
              <a:endCxn id="931" idx="0"/>
            </p:cNvCxnSpPr>
            <p:nvPr/>
          </p:nvCxnSpPr>
          <p:spPr>
            <a:xfrm>
              <a:off x="5027237" y="2433300"/>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935" name="Google Shape;935;p47"/>
            <p:cNvSpPr/>
            <p:nvPr/>
          </p:nvSpPr>
          <p:spPr>
            <a:xfrm>
              <a:off x="1565025"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936" name="Google Shape;936;p47"/>
            <p:cNvCxnSpPr>
              <a:stCxn id="935" idx="3"/>
              <a:endCxn id="928" idx="1"/>
            </p:cNvCxnSpPr>
            <p:nvPr/>
          </p:nvCxnSpPr>
          <p:spPr>
            <a:xfrm rot="10800000" flipH="1">
              <a:off x="1952325" y="2291188"/>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937" name="Google Shape;937;p47"/>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938" name="Google Shape;938;p47"/>
            <p:cNvCxnSpPr>
              <a:stCxn id="935" idx="3"/>
              <a:endCxn id="929" idx="1"/>
            </p:cNvCxnSpPr>
            <p:nvPr/>
          </p:nvCxnSpPr>
          <p:spPr>
            <a:xfrm>
              <a:off x="1952325" y="3068488"/>
              <a:ext cx="1247100" cy="777300"/>
            </a:xfrm>
            <a:prstGeom prst="straightConnector1">
              <a:avLst/>
            </a:prstGeom>
            <a:noFill/>
            <a:ln w="19050" cap="flat" cmpd="sng">
              <a:solidFill>
                <a:srgbClr val="666666"/>
              </a:solidFill>
              <a:prstDash val="solid"/>
              <a:round/>
              <a:headEnd type="none" w="med" len="med"/>
              <a:tailEnd type="triangle" w="med" len="med"/>
            </a:ln>
          </p:spPr>
        </p:cxnSp>
        <p:cxnSp>
          <p:nvCxnSpPr>
            <p:cNvPr id="939" name="Google Shape;939;p47"/>
            <p:cNvCxnSpPr>
              <a:stCxn id="931" idx="3"/>
              <a:endCxn id="932" idx="1"/>
            </p:cNvCxnSpPr>
            <p:nvPr/>
          </p:nvCxnSpPr>
          <p:spPr>
            <a:xfrm rot="10800000" flipH="1">
              <a:off x="5230981" y="3068445"/>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940" name="Google Shape;940;p47"/>
            <p:cNvCxnSpPr>
              <a:stCxn id="928" idx="3"/>
              <a:endCxn id="930" idx="1"/>
            </p:cNvCxnSpPr>
            <p:nvPr/>
          </p:nvCxnSpPr>
          <p:spPr>
            <a:xfrm rot="10800000" flipH="1">
              <a:off x="3586606" y="2281026"/>
              <a:ext cx="1247100" cy="10200"/>
            </a:xfrm>
            <a:prstGeom prst="straightConnector1">
              <a:avLst/>
            </a:prstGeom>
            <a:noFill/>
            <a:ln w="19050" cap="flat" cmpd="sng">
              <a:solidFill>
                <a:srgbClr val="666666"/>
              </a:solidFill>
              <a:prstDash val="solid"/>
              <a:round/>
              <a:headEnd type="none" w="med" len="med"/>
              <a:tailEnd type="triangle" w="med" len="med"/>
            </a:ln>
          </p:spPr>
        </p:cxnSp>
        <p:sp>
          <p:nvSpPr>
            <p:cNvPr id="941" name="Google Shape;941;p47"/>
            <p:cNvSpPr/>
            <p:nvPr/>
          </p:nvSpPr>
          <p:spPr>
            <a:xfrm>
              <a:off x="3147233" y="2872025"/>
              <a:ext cx="4911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25</a:t>
              </a:r>
              <a:endParaRPr sz="1800">
                <a:highlight>
                  <a:srgbClr val="C9DAF8"/>
                </a:highlight>
                <a:latin typeface="Roboto"/>
                <a:ea typeface="Roboto"/>
                <a:cs typeface="Roboto"/>
                <a:sym typeface="Roboto"/>
              </a:endParaRPr>
            </a:p>
          </p:txBody>
        </p:sp>
        <p:cxnSp>
          <p:nvCxnSpPr>
            <p:cNvPr id="942" name="Google Shape;942;p47"/>
            <p:cNvCxnSpPr>
              <a:stCxn id="932" idx="1"/>
              <a:endCxn id="930" idx="3"/>
            </p:cNvCxnSpPr>
            <p:nvPr/>
          </p:nvCxnSpPr>
          <p:spPr>
            <a:xfrm rot="10800000">
              <a:off x="5220768" y="2280988"/>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943" name="Google Shape;943;p47"/>
            <p:cNvSpPr/>
            <p:nvPr/>
          </p:nvSpPr>
          <p:spPr>
            <a:xfrm>
              <a:off x="2455266" y="2495168"/>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1</a:t>
              </a:r>
              <a:endParaRPr sz="1800">
                <a:highlight>
                  <a:srgbClr val="C9DAF8"/>
                </a:highlight>
                <a:latin typeface="Roboto"/>
                <a:ea typeface="Roboto"/>
                <a:cs typeface="Roboto"/>
                <a:sym typeface="Roboto"/>
              </a:endParaRPr>
            </a:p>
          </p:txBody>
        </p:sp>
        <p:sp>
          <p:nvSpPr>
            <p:cNvPr id="944" name="Google Shape;944;p47"/>
            <p:cNvSpPr/>
            <p:nvPr/>
          </p:nvSpPr>
          <p:spPr>
            <a:xfrm>
              <a:off x="2417934" y="3305981"/>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1</a:t>
              </a:r>
              <a:endParaRPr sz="1800">
                <a:highlight>
                  <a:srgbClr val="C9DAF8"/>
                </a:highlight>
                <a:latin typeface="Roboto"/>
                <a:ea typeface="Roboto"/>
                <a:cs typeface="Roboto"/>
                <a:sym typeface="Roboto"/>
              </a:endParaRPr>
            </a:p>
          </p:txBody>
        </p:sp>
        <p:sp>
          <p:nvSpPr>
            <p:cNvPr id="945" name="Google Shape;945;p47"/>
            <p:cNvSpPr/>
            <p:nvPr/>
          </p:nvSpPr>
          <p:spPr>
            <a:xfrm>
              <a:off x="5567911" y="2493225"/>
              <a:ext cx="7476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1</a:t>
              </a:r>
              <a:endParaRPr sz="1800">
                <a:highlight>
                  <a:srgbClr val="C9DAF8"/>
                </a:highlight>
                <a:latin typeface="Roboto"/>
                <a:ea typeface="Roboto"/>
                <a:cs typeface="Roboto"/>
                <a:sym typeface="Roboto"/>
              </a:endParaRPr>
            </a:p>
          </p:txBody>
        </p:sp>
        <p:sp>
          <p:nvSpPr>
            <p:cNvPr id="946" name="Google Shape;946;p47"/>
            <p:cNvSpPr/>
            <p:nvPr/>
          </p:nvSpPr>
          <p:spPr>
            <a:xfrm>
              <a:off x="4035163" y="2118700"/>
              <a:ext cx="3873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6</a:t>
              </a:r>
              <a:endParaRPr sz="1800">
                <a:highlight>
                  <a:srgbClr val="C9DAF8"/>
                </a:highlight>
                <a:latin typeface="Roboto"/>
                <a:ea typeface="Roboto"/>
                <a:cs typeface="Roboto"/>
                <a:sym typeface="Roboto"/>
              </a:endParaRPr>
            </a:p>
          </p:txBody>
        </p:sp>
        <p:sp>
          <p:nvSpPr>
            <p:cNvPr id="947" name="Google Shape;947;p47"/>
            <p:cNvSpPr/>
            <p:nvPr/>
          </p:nvSpPr>
          <p:spPr>
            <a:xfrm>
              <a:off x="5713741" y="3325565"/>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1</a:t>
              </a:r>
              <a:endParaRPr sz="1800">
                <a:highlight>
                  <a:srgbClr val="C9DAF8"/>
                </a:highlight>
                <a:latin typeface="Roboto"/>
                <a:ea typeface="Roboto"/>
                <a:cs typeface="Roboto"/>
                <a:sym typeface="Roboto"/>
              </a:endParaRPr>
            </a:p>
          </p:txBody>
        </p:sp>
        <p:cxnSp>
          <p:nvCxnSpPr>
            <p:cNvPr id="948" name="Google Shape;948;p47"/>
            <p:cNvCxnSpPr>
              <a:stCxn id="931" idx="1"/>
              <a:endCxn id="929" idx="3"/>
            </p:cNvCxnSpPr>
            <p:nvPr/>
          </p:nvCxnSpPr>
          <p:spPr>
            <a:xfrm rot="10800000">
              <a:off x="3586681" y="3845745"/>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949" name="Google Shape;949;p47"/>
            <p:cNvSpPr/>
            <p:nvPr/>
          </p:nvSpPr>
          <p:spPr>
            <a:xfrm>
              <a:off x="4799887" y="2889475"/>
              <a:ext cx="5820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-20</a:t>
              </a:r>
              <a:endParaRPr sz="1800">
                <a:highlight>
                  <a:srgbClr val="C9DAF8"/>
                </a:highlight>
                <a:latin typeface="Roboto"/>
                <a:ea typeface="Roboto"/>
                <a:cs typeface="Roboto"/>
                <a:sym typeface="Roboto"/>
              </a:endParaRPr>
            </a:p>
          </p:txBody>
        </p:sp>
        <p:sp>
          <p:nvSpPr>
            <p:cNvPr id="950" name="Google Shape;950;p47"/>
            <p:cNvSpPr/>
            <p:nvPr/>
          </p:nvSpPr>
          <p:spPr>
            <a:xfrm>
              <a:off x="4051357" y="3719291"/>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highlight>
                    <a:srgbClr val="C9DAF8"/>
                  </a:highlight>
                  <a:latin typeface="Roboto"/>
                  <a:ea typeface="Roboto"/>
                  <a:cs typeface="Roboto"/>
                  <a:sym typeface="Roboto"/>
                </a:rPr>
                <a:t>1</a:t>
              </a:r>
              <a:endParaRPr sz="1800">
                <a:highlight>
                  <a:srgbClr val="C9DAF8"/>
                </a:highlight>
                <a:latin typeface="Roboto"/>
                <a:ea typeface="Roboto"/>
                <a:cs typeface="Roboto"/>
                <a:sym typeface="Roboto"/>
              </a:endParaRPr>
            </a:p>
          </p:txBody>
        </p:sp>
      </p:grpSp>
      <p:sp>
        <p:nvSpPr>
          <p:cNvPr id="951" name="Google Shape;951;p47"/>
          <p:cNvSpPr txBox="1"/>
          <p:nvPr/>
        </p:nvSpPr>
        <p:spPr>
          <a:xfrm>
            <a:off x="3743067" y="15863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52" name="Google Shape;952;p47"/>
          <p:cNvSpPr txBox="1"/>
          <p:nvPr/>
        </p:nvSpPr>
        <p:spPr>
          <a:xfrm>
            <a:off x="3743067" y="37404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53" name="Google Shape;953;p47"/>
          <p:cNvSpPr txBox="1"/>
          <p:nvPr/>
        </p:nvSpPr>
        <p:spPr>
          <a:xfrm>
            <a:off x="5352302" y="3740422"/>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54" name="Google Shape;954;p47"/>
          <p:cNvSpPr txBox="1"/>
          <p:nvPr/>
        </p:nvSpPr>
        <p:spPr>
          <a:xfrm>
            <a:off x="5352302" y="15882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55" name="Google Shape;955;p47"/>
          <p:cNvSpPr txBox="1"/>
          <p:nvPr/>
        </p:nvSpPr>
        <p:spPr>
          <a:xfrm>
            <a:off x="7011077" y="23828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9"/>
        <p:cNvGrpSpPr/>
        <p:nvPr/>
      </p:nvGrpSpPr>
      <p:grpSpPr>
        <a:xfrm>
          <a:off x="0" y="0"/>
          <a:ext cx="0" cy="0"/>
          <a:chOff x="0" y="0"/>
          <a:chExt cx="0" cy="0"/>
        </a:xfrm>
      </p:grpSpPr>
      <p:sp>
        <p:nvSpPr>
          <p:cNvPr id="960" name="Google Shape;960;p4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Challenge</a:t>
            </a:r>
            <a:endParaRPr/>
          </a:p>
        </p:txBody>
      </p:sp>
      <p:sp>
        <p:nvSpPr>
          <p:cNvPr id="961" name="Google Shape;961;p4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Try to come up with an algorithm for shortest paths on a DAG that works even if there are negative edges.</a:t>
            </a:r>
            <a:endParaRPr/>
          </a:p>
          <a:p>
            <a:pPr marL="457200" lvl="0" indent="-342900" algn="l" rtl="0">
              <a:spcBef>
                <a:spcPts val="600"/>
              </a:spcBef>
              <a:spcAft>
                <a:spcPts val="0"/>
              </a:spcAft>
              <a:buSzPts val="1800"/>
              <a:buChar char="●"/>
            </a:pPr>
            <a:r>
              <a:rPr lang="en"/>
              <a:t>Hint: You should still use the “relax” operation as a basic building block.</a:t>
            </a:r>
            <a:endParaRPr/>
          </a:p>
        </p:txBody>
      </p:sp>
      <p:sp>
        <p:nvSpPr>
          <p:cNvPr id="962" name="Google Shape;962;p48"/>
          <p:cNvSpPr txBox="1">
            <a:spLocks noGrp="1"/>
          </p:cNvSpPr>
          <p:nvPr>
            <p:ph type="body" idx="1"/>
          </p:nvPr>
        </p:nvSpPr>
        <p:spPr>
          <a:xfrm>
            <a:off x="243000" y="3914924"/>
            <a:ext cx="8778000" cy="114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One simple idea: Visit vertices in topological order.</a:t>
            </a:r>
            <a:endParaRPr/>
          </a:p>
          <a:p>
            <a:pPr marL="457200" lvl="0" indent="-342900" algn="l" rtl="0">
              <a:spcBef>
                <a:spcPts val="600"/>
              </a:spcBef>
              <a:spcAft>
                <a:spcPts val="0"/>
              </a:spcAft>
              <a:buSzPts val="1800"/>
              <a:buChar char="●"/>
            </a:pPr>
            <a:r>
              <a:rPr lang="en"/>
              <a:t>On each visit, relax all outgoing edges.</a:t>
            </a:r>
            <a:endParaRPr/>
          </a:p>
          <a:p>
            <a:pPr marL="457200" lvl="0" indent="-342900" algn="l" rtl="0">
              <a:spcBef>
                <a:spcPts val="600"/>
              </a:spcBef>
              <a:spcAft>
                <a:spcPts val="0"/>
              </a:spcAft>
              <a:buSzPts val="1800"/>
              <a:buChar char="●"/>
            </a:pPr>
            <a:r>
              <a:rPr lang="en"/>
              <a:t>Each vertex is visited only when all possible info about it has been used!</a:t>
            </a:r>
            <a:endParaRPr/>
          </a:p>
        </p:txBody>
      </p:sp>
      <p:grpSp>
        <p:nvGrpSpPr>
          <p:cNvPr id="963" name="Google Shape;963;p48"/>
          <p:cNvGrpSpPr/>
          <p:nvPr/>
        </p:nvGrpSpPr>
        <p:grpSpPr>
          <a:xfrm>
            <a:off x="1789005" y="1937325"/>
            <a:ext cx="5565975" cy="1879300"/>
            <a:chOff x="1289193" y="2118700"/>
            <a:chExt cx="5565975" cy="1879300"/>
          </a:xfrm>
        </p:grpSpPr>
        <p:sp>
          <p:nvSpPr>
            <p:cNvPr id="964" name="Google Shape;964;p48"/>
            <p:cNvSpPr/>
            <p:nvPr/>
          </p:nvSpPr>
          <p:spPr>
            <a:xfrm>
              <a:off x="3199306" y="21389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965" name="Google Shape;965;p48"/>
            <p:cNvSpPr/>
            <p:nvPr/>
          </p:nvSpPr>
          <p:spPr>
            <a:xfrm>
              <a:off x="3199306" y="36935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966" name="Google Shape;966;p48"/>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967" name="Google Shape;967;p48"/>
            <p:cNvSpPr/>
            <p:nvPr/>
          </p:nvSpPr>
          <p:spPr>
            <a:xfrm>
              <a:off x="4843681" y="36934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968" name="Google Shape;968;p48"/>
            <p:cNvSpPr/>
            <p:nvPr/>
          </p:nvSpPr>
          <p:spPr>
            <a:xfrm>
              <a:off x="6467868"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969" name="Google Shape;969;p48"/>
            <p:cNvCxnSpPr>
              <a:stCxn id="964" idx="2"/>
              <a:endCxn id="965"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970" name="Google Shape;970;p48"/>
            <p:cNvCxnSpPr>
              <a:stCxn id="966" idx="2"/>
              <a:endCxn id="967" idx="0"/>
            </p:cNvCxnSpPr>
            <p:nvPr/>
          </p:nvCxnSpPr>
          <p:spPr>
            <a:xfrm>
              <a:off x="5027237" y="2433300"/>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971" name="Google Shape;971;p48"/>
            <p:cNvSpPr/>
            <p:nvPr/>
          </p:nvSpPr>
          <p:spPr>
            <a:xfrm>
              <a:off x="1565025"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972" name="Google Shape;972;p48"/>
            <p:cNvCxnSpPr>
              <a:stCxn id="971" idx="3"/>
              <a:endCxn id="964" idx="1"/>
            </p:cNvCxnSpPr>
            <p:nvPr/>
          </p:nvCxnSpPr>
          <p:spPr>
            <a:xfrm rot="10800000" flipH="1">
              <a:off x="1952325" y="2291188"/>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973" name="Google Shape;973;p48"/>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974" name="Google Shape;974;p48"/>
            <p:cNvCxnSpPr>
              <a:stCxn id="971" idx="3"/>
              <a:endCxn id="965" idx="1"/>
            </p:cNvCxnSpPr>
            <p:nvPr/>
          </p:nvCxnSpPr>
          <p:spPr>
            <a:xfrm>
              <a:off x="1952325" y="3068488"/>
              <a:ext cx="1247100" cy="777300"/>
            </a:xfrm>
            <a:prstGeom prst="straightConnector1">
              <a:avLst/>
            </a:prstGeom>
            <a:noFill/>
            <a:ln w="19050" cap="flat" cmpd="sng">
              <a:solidFill>
                <a:srgbClr val="666666"/>
              </a:solidFill>
              <a:prstDash val="solid"/>
              <a:round/>
              <a:headEnd type="none" w="med" len="med"/>
              <a:tailEnd type="triangle" w="med" len="med"/>
            </a:ln>
          </p:spPr>
        </p:cxnSp>
        <p:cxnSp>
          <p:nvCxnSpPr>
            <p:cNvPr id="975" name="Google Shape;975;p48"/>
            <p:cNvCxnSpPr>
              <a:stCxn id="967" idx="3"/>
              <a:endCxn id="968" idx="1"/>
            </p:cNvCxnSpPr>
            <p:nvPr/>
          </p:nvCxnSpPr>
          <p:spPr>
            <a:xfrm rot="10800000" flipH="1">
              <a:off x="5230981" y="3068445"/>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976" name="Google Shape;976;p48"/>
            <p:cNvCxnSpPr>
              <a:stCxn id="964" idx="3"/>
              <a:endCxn id="966" idx="1"/>
            </p:cNvCxnSpPr>
            <p:nvPr/>
          </p:nvCxnSpPr>
          <p:spPr>
            <a:xfrm rot="10800000" flipH="1">
              <a:off x="3586606" y="2281026"/>
              <a:ext cx="1247100" cy="10200"/>
            </a:xfrm>
            <a:prstGeom prst="straightConnector1">
              <a:avLst/>
            </a:prstGeom>
            <a:noFill/>
            <a:ln w="19050" cap="flat" cmpd="sng">
              <a:solidFill>
                <a:srgbClr val="666666"/>
              </a:solidFill>
              <a:prstDash val="solid"/>
              <a:round/>
              <a:headEnd type="none" w="med" len="med"/>
              <a:tailEnd type="triangle" w="med" len="med"/>
            </a:ln>
          </p:spPr>
        </p:cxnSp>
        <p:sp>
          <p:nvSpPr>
            <p:cNvPr id="977" name="Google Shape;977;p48"/>
            <p:cNvSpPr/>
            <p:nvPr/>
          </p:nvSpPr>
          <p:spPr>
            <a:xfrm>
              <a:off x="3147233" y="2872025"/>
              <a:ext cx="4911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25</a:t>
              </a:r>
              <a:endParaRPr sz="1800">
                <a:latin typeface="Roboto"/>
                <a:ea typeface="Roboto"/>
                <a:cs typeface="Roboto"/>
                <a:sym typeface="Roboto"/>
              </a:endParaRPr>
            </a:p>
          </p:txBody>
        </p:sp>
        <p:cxnSp>
          <p:nvCxnSpPr>
            <p:cNvPr id="978" name="Google Shape;978;p48"/>
            <p:cNvCxnSpPr>
              <a:stCxn id="968" idx="1"/>
              <a:endCxn id="966" idx="3"/>
            </p:cNvCxnSpPr>
            <p:nvPr/>
          </p:nvCxnSpPr>
          <p:spPr>
            <a:xfrm rot="10800000">
              <a:off x="5220768" y="2280988"/>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979" name="Google Shape;979;p48"/>
            <p:cNvSpPr/>
            <p:nvPr/>
          </p:nvSpPr>
          <p:spPr>
            <a:xfrm>
              <a:off x="2455266" y="2495168"/>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80" name="Google Shape;980;p48"/>
            <p:cNvSpPr/>
            <p:nvPr/>
          </p:nvSpPr>
          <p:spPr>
            <a:xfrm>
              <a:off x="2417934" y="3305981"/>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81" name="Google Shape;981;p48"/>
            <p:cNvSpPr/>
            <p:nvPr/>
          </p:nvSpPr>
          <p:spPr>
            <a:xfrm>
              <a:off x="5567911" y="2493225"/>
              <a:ext cx="7476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982" name="Google Shape;982;p48"/>
            <p:cNvSpPr/>
            <p:nvPr/>
          </p:nvSpPr>
          <p:spPr>
            <a:xfrm>
              <a:off x="4035163" y="2118700"/>
              <a:ext cx="3873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983" name="Google Shape;983;p48"/>
            <p:cNvSpPr/>
            <p:nvPr/>
          </p:nvSpPr>
          <p:spPr>
            <a:xfrm>
              <a:off x="5713741" y="3325565"/>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984" name="Google Shape;984;p48"/>
            <p:cNvCxnSpPr>
              <a:stCxn id="967" idx="1"/>
              <a:endCxn id="965" idx="3"/>
            </p:cNvCxnSpPr>
            <p:nvPr/>
          </p:nvCxnSpPr>
          <p:spPr>
            <a:xfrm rot="10800000">
              <a:off x="3586681" y="3845745"/>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985" name="Google Shape;985;p48"/>
            <p:cNvSpPr/>
            <p:nvPr/>
          </p:nvSpPr>
          <p:spPr>
            <a:xfrm>
              <a:off x="4799887" y="2889475"/>
              <a:ext cx="5820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sp>
          <p:nvSpPr>
            <p:cNvPr id="986" name="Google Shape;986;p48"/>
            <p:cNvSpPr/>
            <p:nvPr/>
          </p:nvSpPr>
          <p:spPr>
            <a:xfrm>
              <a:off x="4051357" y="3719291"/>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grpSp>
      <p:sp>
        <p:nvSpPr>
          <p:cNvPr id="987" name="Google Shape;987;p48"/>
          <p:cNvSpPr txBox="1"/>
          <p:nvPr/>
        </p:nvSpPr>
        <p:spPr>
          <a:xfrm>
            <a:off x="3743067" y="15863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88" name="Google Shape;988;p48"/>
          <p:cNvSpPr txBox="1"/>
          <p:nvPr/>
        </p:nvSpPr>
        <p:spPr>
          <a:xfrm>
            <a:off x="3743067" y="37404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89" name="Google Shape;989;p48"/>
          <p:cNvSpPr txBox="1"/>
          <p:nvPr/>
        </p:nvSpPr>
        <p:spPr>
          <a:xfrm>
            <a:off x="5352302" y="3740422"/>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90" name="Google Shape;990;p48"/>
          <p:cNvSpPr txBox="1"/>
          <p:nvPr/>
        </p:nvSpPr>
        <p:spPr>
          <a:xfrm>
            <a:off x="5352302" y="15882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991" name="Google Shape;991;p48"/>
          <p:cNvSpPr txBox="1"/>
          <p:nvPr/>
        </p:nvSpPr>
        <p:spPr>
          <a:xfrm>
            <a:off x="7011077" y="23828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5"/>
        <p:cNvGrpSpPr/>
        <p:nvPr/>
      </p:nvGrpSpPr>
      <p:grpSpPr>
        <a:xfrm>
          <a:off x="0" y="0"/>
          <a:ext cx="0" cy="0"/>
          <a:chOff x="0" y="0"/>
          <a:chExt cx="0" cy="0"/>
        </a:xfrm>
      </p:grpSpPr>
      <p:sp>
        <p:nvSpPr>
          <p:cNvPr id="996" name="Google Shape;996;p4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DAG SPT Algorithm: Relax in Topological Order</a:t>
            </a:r>
            <a:endParaRPr/>
          </a:p>
        </p:txBody>
      </p:sp>
      <p:sp>
        <p:nvSpPr>
          <p:cNvPr id="997" name="Google Shape;997;p49"/>
          <p:cNvSpPr txBox="1">
            <a:spLocks noGrp="1"/>
          </p:cNvSpPr>
          <p:nvPr>
            <p:ph type="body" idx="1"/>
          </p:nvPr>
        </p:nvSpPr>
        <p:spPr>
          <a:xfrm>
            <a:off x="107050" y="402200"/>
            <a:ext cx="8520600" cy="650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First: We have to find a topological order, e.g. ADBCEF. Runtime is O(V + E).</a:t>
            </a:r>
            <a:endParaRPr/>
          </a:p>
        </p:txBody>
      </p:sp>
      <p:sp>
        <p:nvSpPr>
          <p:cNvPr id="998" name="Google Shape;998;p49"/>
          <p:cNvSpPr/>
          <p:nvPr/>
        </p:nvSpPr>
        <p:spPr>
          <a:xfrm>
            <a:off x="3933055"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999" name="Google Shape;999;p49"/>
          <p:cNvSpPr/>
          <p:nvPr/>
        </p:nvSpPr>
        <p:spPr>
          <a:xfrm>
            <a:off x="2708646"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000" name="Google Shape;1000;p49"/>
          <p:cNvSpPr/>
          <p:nvPr/>
        </p:nvSpPr>
        <p:spPr>
          <a:xfrm>
            <a:off x="5157463"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001" name="Google Shape;1001;p49"/>
          <p:cNvSpPr/>
          <p:nvPr/>
        </p:nvSpPr>
        <p:spPr>
          <a:xfrm>
            <a:off x="6381872"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002" name="Google Shape;1002;p49"/>
          <p:cNvSpPr/>
          <p:nvPr/>
        </p:nvSpPr>
        <p:spPr>
          <a:xfrm>
            <a:off x="7606280"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003" name="Google Shape;1003;p49"/>
          <p:cNvCxnSpPr>
            <a:stCxn id="998" idx="1"/>
            <a:endCxn id="999" idx="3"/>
          </p:cNvCxnSpPr>
          <p:nvPr/>
        </p:nvCxnSpPr>
        <p:spPr>
          <a:xfrm rot="10800000">
            <a:off x="3096055" y="4322275"/>
            <a:ext cx="837000" cy="0"/>
          </a:xfrm>
          <a:prstGeom prst="straightConnector1">
            <a:avLst/>
          </a:prstGeom>
          <a:noFill/>
          <a:ln w="19050" cap="flat" cmpd="sng">
            <a:solidFill>
              <a:srgbClr val="666666"/>
            </a:solidFill>
            <a:prstDash val="solid"/>
            <a:round/>
            <a:headEnd type="triangle" w="med" len="med"/>
            <a:tailEnd type="none" w="med" len="med"/>
          </a:ln>
        </p:spPr>
      </p:cxnSp>
      <p:sp>
        <p:nvSpPr>
          <p:cNvPr id="1004" name="Google Shape;1004;p49"/>
          <p:cNvSpPr/>
          <p:nvPr/>
        </p:nvSpPr>
        <p:spPr>
          <a:xfrm>
            <a:off x="1484238"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sp>
        <p:nvSpPr>
          <p:cNvPr id="1005" name="Google Shape;1005;p49"/>
          <p:cNvSpPr txBox="1"/>
          <p:nvPr/>
        </p:nvSpPr>
        <p:spPr>
          <a:xfrm>
            <a:off x="1248605" y="424115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006" name="Google Shape;1006;p49"/>
          <p:cNvCxnSpPr>
            <a:stCxn id="1004" idx="3"/>
            <a:endCxn id="999" idx="1"/>
          </p:cNvCxnSpPr>
          <p:nvPr/>
        </p:nvCxnSpPr>
        <p:spPr>
          <a:xfrm>
            <a:off x="1871538" y="4322275"/>
            <a:ext cx="837000" cy="0"/>
          </a:xfrm>
          <a:prstGeom prst="straightConnector1">
            <a:avLst/>
          </a:prstGeom>
          <a:noFill/>
          <a:ln w="19050" cap="flat" cmpd="sng">
            <a:solidFill>
              <a:srgbClr val="666666"/>
            </a:solidFill>
            <a:prstDash val="solid"/>
            <a:round/>
            <a:headEnd type="none" w="med" len="med"/>
            <a:tailEnd type="triangle" w="med" len="med"/>
          </a:ln>
        </p:spPr>
      </p:cxnSp>
      <p:cxnSp>
        <p:nvCxnSpPr>
          <p:cNvPr id="1007" name="Google Shape;1007;p49"/>
          <p:cNvCxnSpPr>
            <a:stCxn id="1001" idx="3"/>
            <a:endCxn id="1002" idx="1"/>
          </p:cNvCxnSpPr>
          <p:nvPr/>
        </p:nvCxnSpPr>
        <p:spPr>
          <a:xfrm>
            <a:off x="6769172" y="4322275"/>
            <a:ext cx="837000" cy="0"/>
          </a:xfrm>
          <a:prstGeom prst="straightConnector1">
            <a:avLst/>
          </a:prstGeom>
          <a:noFill/>
          <a:ln w="19050" cap="flat" cmpd="sng">
            <a:solidFill>
              <a:srgbClr val="666666"/>
            </a:solidFill>
            <a:prstDash val="solid"/>
            <a:round/>
            <a:headEnd type="none" w="med" len="med"/>
            <a:tailEnd type="triangle" w="med" len="med"/>
          </a:ln>
        </p:spPr>
      </p:cxnSp>
      <p:cxnSp>
        <p:nvCxnSpPr>
          <p:cNvPr id="1008" name="Google Shape;1008;p49"/>
          <p:cNvCxnSpPr>
            <a:stCxn id="998" idx="3"/>
            <a:endCxn id="1000" idx="1"/>
          </p:cNvCxnSpPr>
          <p:nvPr/>
        </p:nvCxnSpPr>
        <p:spPr>
          <a:xfrm>
            <a:off x="4320355" y="4322275"/>
            <a:ext cx="837000" cy="0"/>
          </a:xfrm>
          <a:prstGeom prst="straightConnector1">
            <a:avLst/>
          </a:prstGeom>
          <a:noFill/>
          <a:ln w="19050" cap="flat" cmpd="sng">
            <a:solidFill>
              <a:srgbClr val="666666"/>
            </a:solidFill>
            <a:prstDash val="solid"/>
            <a:round/>
            <a:headEnd type="none" w="med" len="med"/>
            <a:tailEnd type="triangle" w="med" len="med"/>
          </a:ln>
        </p:spPr>
      </p:cxnSp>
      <p:sp>
        <p:nvSpPr>
          <p:cNvPr id="1009" name="Google Shape;1009;p49"/>
          <p:cNvSpPr/>
          <p:nvPr/>
        </p:nvSpPr>
        <p:spPr>
          <a:xfrm>
            <a:off x="3376346" y="41809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10" name="Google Shape;1010;p49"/>
          <p:cNvSpPr/>
          <p:nvPr/>
        </p:nvSpPr>
        <p:spPr>
          <a:xfrm>
            <a:off x="2111991" y="419583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11" name="Google Shape;1011;p49"/>
          <p:cNvSpPr/>
          <p:nvPr/>
        </p:nvSpPr>
        <p:spPr>
          <a:xfrm>
            <a:off x="4554298" y="4187105"/>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1012" name="Google Shape;1012;p49"/>
          <p:cNvSpPr/>
          <p:nvPr/>
        </p:nvSpPr>
        <p:spPr>
          <a:xfrm>
            <a:off x="7051753" y="418661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13" name="Google Shape;1013;p49"/>
          <p:cNvCxnSpPr>
            <a:stCxn id="1000" idx="3"/>
            <a:endCxn id="1001" idx="1"/>
          </p:cNvCxnSpPr>
          <p:nvPr/>
        </p:nvCxnSpPr>
        <p:spPr>
          <a:xfrm>
            <a:off x="5544763" y="4322275"/>
            <a:ext cx="837000" cy="0"/>
          </a:xfrm>
          <a:prstGeom prst="straightConnector1">
            <a:avLst/>
          </a:prstGeom>
          <a:noFill/>
          <a:ln w="19050" cap="flat" cmpd="sng">
            <a:solidFill>
              <a:srgbClr val="666666"/>
            </a:solidFill>
            <a:prstDash val="solid"/>
            <a:round/>
            <a:headEnd type="none" w="med" len="med"/>
            <a:tailEnd type="triangle" w="med" len="med"/>
          </a:ln>
        </p:spPr>
      </p:cxnSp>
      <p:sp>
        <p:nvSpPr>
          <p:cNvPr id="1014" name="Google Shape;1014;p49"/>
          <p:cNvSpPr/>
          <p:nvPr/>
        </p:nvSpPr>
        <p:spPr>
          <a:xfrm>
            <a:off x="5635348" y="4165399"/>
            <a:ext cx="5487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cxnSp>
        <p:nvCxnSpPr>
          <p:cNvPr id="1015" name="Google Shape;1015;p49"/>
          <p:cNvCxnSpPr>
            <a:stCxn id="1004" idx="2"/>
            <a:endCxn id="998" idx="2"/>
          </p:cNvCxnSpPr>
          <p:nvPr/>
        </p:nvCxnSpPr>
        <p:spPr>
          <a:xfrm rot="-5400000" flipH="1">
            <a:off x="2902038" y="3250375"/>
            <a:ext cx="600" cy="24489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16" name="Google Shape;1016;p49"/>
          <p:cNvSpPr/>
          <p:nvPr/>
        </p:nvSpPr>
        <p:spPr>
          <a:xfrm>
            <a:off x="2828378" y="47441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17" name="Google Shape;1017;p49"/>
          <p:cNvCxnSpPr>
            <a:stCxn id="999" idx="0"/>
            <a:endCxn id="1001" idx="0"/>
          </p:cNvCxnSpPr>
          <p:nvPr/>
        </p:nvCxnSpPr>
        <p:spPr>
          <a:xfrm rot="-5400000" flipH="1">
            <a:off x="4738596" y="2333725"/>
            <a:ext cx="600" cy="36732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18" name="Google Shape;1018;p49"/>
          <p:cNvSpPr/>
          <p:nvPr/>
        </p:nvSpPr>
        <p:spPr>
          <a:xfrm>
            <a:off x="4586545" y="360870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19" name="Google Shape;1019;p49"/>
          <p:cNvCxnSpPr>
            <a:stCxn id="1000" idx="2"/>
            <a:endCxn id="1002" idx="2"/>
          </p:cNvCxnSpPr>
          <p:nvPr/>
        </p:nvCxnSpPr>
        <p:spPr>
          <a:xfrm rot="-5400000" flipH="1">
            <a:off x="6575263" y="3250375"/>
            <a:ext cx="600" cy="24489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20" name="Google Shape;1020;p49"/>
          <p:cNvSpPr/>
          <p:nvPr/>
        </p:nvSpPr>
        <p:spPr>
          <a:xfrm>
            <a:off x="6316341" y="477005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grpSp>
        <p:nvGrpSpPr>
          <p:cNvPr id="1021" name="Google Shape;1021;p49"/>
          <p:cNvGrpSpPr/>
          <p:nvPr/>
        </p:nvGrpSpPr>
        <p:grpSpPr>
          <a:xfrm>
            <a:off x="1789005" y="1327725"/>
            <a:ext cx="5565975" cy="1879300"/>
            <a:chOff x="1289193" y="2118700"/>
            <a:chExt cx="5565975" cy="1879300"/>
          </a:xfrm>
        </p:grpSpPr>
        <p:sp>
          <p:nvSpPr>
            <p:cNvPr id="1022" name="Google Shape;1022;p49"/>
            <p:cNvSpPr/>
            <p:nvPr/>
          </p:nvSpPr>
          <p:spPr>
            <a:xfrm>
              <a:off x="3199306" y="21389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023" name="Google Shape;1023;p49"/>
            <p:cNvSpPr/>
            <p:nvPr/>
          </p:nvSpPr>
          <p:spPr>
            <a:xfrm>
              <a:off x="3199306" y="36935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024" name="Google Shape;1024;p49"/>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025" name="Google Shape;1025;p49"/>
            <p:cNvSpPr/>
            <p:nvPr/>
          </p:nvSpPr>
          <p:spPr>
            <a:xfrm>
              <a:off x="4843681" y="36934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026" name="Google Shape;1026;p49"/>
            <p:cNvSpPr/>
            <p:nvPr/>
          </p:nvSpPr>
          <p:spPr>
            <a:xfrm>
              <a:off x="6467868"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027" name="Google Shape;1027;p49"/>
            <p:cNvCxnSpPr>
              <a:stCxn id="1022" idx="2"/>
              <a:endCxn id="1023" idx="0"/>
            </p:cNvCxnSpPr>
            <p:nvPr/>
          </p:nvCxnSpPr>
          <p:spPr>
            <a:xfrm>
              <a:off x="3392956" y="2443476"/>
              <a:ext cx="0" cy="1250100"/>
            </a:xfrm>
            <a:prstGeom prst="straightConnector1">
              <a:avLst/>
            </a:prstGeom>
            <a:noFill/>
            <a:ln w="19050" cap="flat" cmpd="sng">
              <a:solidFill>
                <a:srgbClr val="666666"/>
              </a:solidFill>
              <a:prstDash val="solid"/>
              <a:round/>
              <a:headEnd type="triangle" w="med" len="med"/>
              <a:tailEnd type="none" w="med" len="med"/>
            </a:ln>
          </p:spPr>
        </p:cxnSp>
        <p:cxnSp>
          <p:nvCxnSpPr>
            <p:cNvPr id="1028" name="Google Shape;1028;p49"/>
            <p:cNvCxnSpPr>
              <a:stCxn id="1024" idx="2"/>
              <a:endCxn id="1025" idx="0"/>
            </p:cNvCxnSpPr>
            <p:nvPr/>
          </p:nvCxnSpPr>
          <p:spPr>
            <a:xfrm>
              <a:off x="5027237" y="2433300"/>
              <a:ext cx="10200" cy="1260300"/>
            </a:xfrm>
            <a:prstGeom prst="straightConnector1">
              <a:avLst/>
            </a:prstGeom>
            <a:noFill/>
            <a:ln w="19050" cap="flat" cmpd="sng">
              <a:solidFill>
                <a:srgbClr val="666666"/>
              </a:solidFill>
              <a:prstDash val="solid"/>
              <a:round/>
              <a:headEnd type="none" w="med" len="med"/>
              <a:tailEnd type="triangle" w="med" len="med"/>
            </a:ln>
          </p:spPr>
        </p:cxnSp>
        <p:sp>
          <p:nvSpPr>
            <p:cNvPr id="1029" name="Google Shape;1029;p49"/>
            <p:cNvSpPr/>
            <p:nvPr/>
          </p:nvSpPr>
          <p:spPr>
            <a:xfrm>
              <a:off x="1565025"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1030" name="Google Shape;1030;p49"/>
            <p:cNvCxnSpPr>
              <a:stCxn id="1029" idx="3"/>
              <a:endCxn id="1022" idx="1"/>
            </p:cNvCxnSpPr>
            <p:nvPr/>
          </p:nvCxnSpPr>
          <p:spPr>
            <a:xfrm rot="10800000" flipH="1">
              <a:off x="1952325" y="2291188"/>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1031" name="Google Shape;1031;p49"/>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032" name="Google Shape;1032;p49"/>
            <p:cNvCxnSpPr>
              <a:stCxn id="1029" idx="3"/>
              <a:endCxn id="1023" idx="1"/>
            </p:cNvCxnSpPr>
            <p:nvPr/>
          </p:nvCxnSpPr>
          <p:spPr>
            <a:xfrm>
              <a:off x="1952325" y="3068488"/>
              <a:ext cx="1247100" cy="777300"/>
            </a:xfrm>
            <a:prstGeom prst="straightConnector1">
              <a:avLst/>
            </a:prstGeom>
            <a:noFill/>
            <a:ln w="19050" cap="flat" cmpd="sng">
              <a:solidFill>
                <a:srgbClr val="666666"/>
              </a:solidFill>
              <a:prstDash val="solid"/>
              <a:round/>
              <a:headEnd type="none" w="med" len="med"/>
              <a:tailEnd type="triangle" w="med" len="med"/>
            </a:ln>
          </p:spPr>
        </p:cxnSp>
        <p:cxnSp>
          <p:nvCxnSpPr>
            <p:cNvPr id="1033" name="Google Shape;1033;p49"/>
            <p:cNvCxnSpPr>
              <a:stCxn id="1025" idx="3"/>
              <a:endCxn id="1026" idx="1"/>
            </p:cNvCxnSpPr>
            <p:nvPr/>
          </p:nvCxnSpPr>
          <p:spPr>
            <a:xfrm rot="10800000" flipH="1">
              <a:off x="5230981" y="3068445"/>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1034" name="Google Shape;1034;p49"/>
            <p:cNvCxnSpPr>
              <a:stCxn id="1022" idx="3"/>
              <a:endCxn id="1024" idx="1"/>
            </p:cNvCxnSpPr>
            <p:nvPr/>
          </p:nvCxnSpPr>
          <p:spPr>
            <a:xfrm rot="10800000" flipH="1">
              <a:off x="3586606" y="2281026"/>
              <a:ext cx="1247100" cy="10200"/>
            </a:xfrm>
            <a:prstGeom prst="straightConnector1">
              <a:avLst/>
            </a:prstGeom>
            <a:noFill/>
            <a:ln w="19050" cap="flat" cmpd="sng">
              <a:solidFill>
                <a:srgbClr val="666666"/>
              </a:solidFill>
              <a:prstDash val="solid"/>
              <a:round/>
              <a:headEnd type="none" w="med" len="med"/>
              <a:tailEnd type="triangle" w="med" len="med"/>
            </a:ln>
          </p:spPr>
        </p:cxnSp>
        <p:sp>
          <p:nvSpPr>
            <p:cNvPr id="1035" name="Google Shape;1035;p49"/>
            <p:cNvSpPr/>
            <p:nvPr/>
          </p:nvSpPr>
          <p:spPr>
            <a:xfrm>
              <a:off x="3147233" y="2872025"/>
              <a:ext cx="4911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25</a:t>
              </a:r>
              <a:endParaRPr sz="1800">
                <a:latin typeface="Roboto"/>
                <a:ea typeface="Roboto"/>
                <a:cs typeface="Roboto"/>
                <a:sym typeface="Roboto"/>
              </a:endParaRPr>
            </a:p>
          </p:txBody>
        </p:sp>
        <p:cxnSp>
          <p:nvCxnSpPr>
            <p:cNvPr id="1036" name="Google Shape;1036;p49"/>
            <p:cNvCxnSpPr>
              <a:stCxn id="1026" idx="1"/>
              <a:endCxn id="1024" idx="3"/>
            </p:cNvCxnSpPr>
            <p:nvPr/>
          </p:nvCxnSpPr>
          <p:spPr>
            <a:xfrm rot="10800000">
              <a:off x="5220768" y="2280988"/>
              <a:ext cx="1247100" cy="787500"/>
            </a:xfrm>
            <a:prstGeom prst="straightConnector1">
              <a:avLst/>
            </a:prstGeom>
            <a:noFill/>
            <a:ln w="19050" cap="flat" cmpd="sng">
              <a:solidFill>
                <a:srgbClr val="666666"/>
              </a:solidFill>
              <a:prstDash val="solid"/>
              <a:round/>
              <a:headEnd type="triangle" w="med" len="med"/>
              <a:tailEnd type="none" w="med" len="med"/>
            </a:ln>
          </p:spPr>
        </p:cxnSp>
        <p:sp>
          <p:nvSpPr>
            <p:cNvPr id="1037" name="Google Shape;1037;p49"/>
            <p:cNvSpPr/>
            <p:nvPr/>
          </p:nvSpPr>
          <p:spPr>
            <a:xfrm>
              <a:off x="2455266" y="2495168"/>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38" name="Google Shape;1038;p49"/>
            <p:cNvSpPr/>
            <p:nvPr/>
          </p:nvSpPr>
          <p:spPr>
            <a:xfrm>
              <a:off x="2417934" y="3305981"/>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39" name="Google Shape;1039;p49"/>
            <p:cNvSpPr/>
            <p:nvPr/>
          </p:nvSpPr>
          <p:spPr>
            <a:xfrm>
              <a:off x="5567911" y="2493225"/>
              <a:ext cx="7476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40" name="Google Shape;1040;p49"/>
            <p:cNvSpPr/>
            <p:nvPr/>
          </p:nvSpPr>
          <p:spPr>
            <a:xfrm>
              <a:off x="4035163" y="2118700"/>
              <a:ext cx="3873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1041" name="Google Shape;1041;p49"/>
            <p:cNvSpPr/>
            <p:nvPr/>
          </p:nvSpPr>
          <p:spPr>
            <a:xfrm>
              <a:off x="5713741" y="3325565"/>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42" name="Google Shape;1042;p49"/>
            <p:cNvCxnSpPr>
              <a:stCxn id="1025" idx="1"/>
              <a:endCxn id="1023" idx="3"/>
            </p:cNvCxnSpPr>
            <p:nvPr/>
          </p:nvCxnSpPr>
          <p:spPr>
            <a:xfrm rot="10800000">
              <a:off x="3586681" y="3845745"/>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1043" name="Google Shape;1043;p49"/>
            <p:cNvSpPr/>
            <p:nvPr/>
          </p:nvSpPr>
          <p:spPr>
            <a:xfrm>
              <a:off x="4799887" y="2889475"/>
              <a:ext cx="5820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sp>
          <p:nvSpPr>
            <p:cNvPr id="1044" name="Google Shape;1044;p49"/>
            <p:cNvSpPr/>
            <p:nvPr/>
          </p:nvSpPr>
          <p:spPr>
            <a:xfrm>
              <a:off x="4051357" y="3719291"/>
              <a:ext cx="252900" cy="252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grpSp>
      <p:sp>
        <p:nvSpPr>
          <p:cNvPr id="1045" name="Google Shape;1045;p49"/>
          <p:cNvSpPr txBox="1"/>
          <p:nvPr/>
        </p:nvSpPr>
        <p:spPr>
          <a:xfrm>
            <a:off x="3743067" y="9767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1046" name="Google Shape;1046;p49"/>
          <p:cNvSpPr txBox="1"/>
          <p:nvPr/>
        </p:nvSpPr>
        <p:spPr>
          <a:xfrm>
            <a:off x="3743067" y="31308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1047" name="Google Shape;1047;p49"/>
          <p:cNvSpPr txBox="1"/>
          <p:nvPr/>
        </p:nvSpPr>
        <p:spPr>
          <a:xfrm>
            <a:off x="5352302" y="3130822"/>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1048" name="Google Shape;1048;p49"/>
          <p:cNvSpPr txBox="1"/>
          <p:nvPr/>
        </p:nvSpPr>
        <p:spPr>
          <a:xfrm>
            <a:off x="5352302" y="97862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
        <p:nvSpPr>
          <p:cNvPr id="1049" name="Google Shape;1049;p49"/>
          <p:cNvSpPr txBox="1"/>
          <p:nvPr/>
        </p:nvSpPr>
        <p:spPr>
          <a:xfrm>
            <a:off x="7011077" y="177321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FF43F0"/>
                </a:solidFill>
                <a:latin typeface="Roboto"/>
                <a:ea typeface="Roboto"/>
                <a:cs typeface="Roboto"/>
                <a:sym typeface="Roboto"/>
              </a:rPr>
              <a:t>∞</a:t>
            </a:r>
            <a:endParaRPr sz="1800">
              <a:solidFill>
                <a:srgbClr val="FF43F0"/>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3"/>
        <p:cNvGrpSpPr/>
        <p:nvPr/>
      </p:nvGrpSpPr>
      <p:grpSpPr>
        <a:xfrm>
          <a:off x="0" y="0"/>
          <a:ext cx="0" cy="0"/>
          <a:chOff x="0" y="0"/>
          <a:chExt cx="0" cy="0"/>
        </a:xfrm>
      </p:grpSpPr>
      <p:sp>
        <p:nvSpPr>
          <p:cNvPr id="1054" name="Google Shape;1054;p5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DAG SPT Algorithm: Relax in Topological Order</a:t>
            </a:r>
            <a:endParaRPr/>
          </a:p>
        </p:txBody>
      </p:sp>
      <p:sp>
        <p:nvSpPr>
          <p:cNvPr id="1055" name="Google Shape;1055;p5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Second: We have to visit all the vertices in topological order, relaxing all edges as we go. Let’s see a demo.</a:t>
            </a:r>
            <a:endParaRPr/>
          </a:p>
        </p:txBody>
      </p:sp>
      <p:sp>
        <p:nvSpPr>
          <p:cNvPr id="1056" name="Google Shape;1056;p50"/>
          <p:cNvSpPr/>
          <p:nvPr/>
        </p:nvSpPr>
        <p:spPr>
          <a:xfrm>
            <a:off x="3933055"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057" name="Google Shape;1057;p50"/>
          <p:cNvSpPr/>
          <p:nvPr/>
        </p:nvSpPr>
        <p:spPr>
          <a:xfrm>
            <a:off x="2708646"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058" name="Google Shape;1058;p50"/>
          <p:cNvSpPr/>
          <p:nvPr/>
        </p:nvSpPr>
        <p:spPr>
          <a:xfrm>
            <a:off x="5157463"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059" name="Google Shape;1059;p50"/>
          <p:cNvSpPr/>
          <p:nvPr/>
        </p:nvSpPr>
        <p:spPr>
          <a:xfrm>
            <a:off x="6381872"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060" name="Google Shape;1060;p50"/>
          <p:cNvSpPr/>
          <p:nvPr/>
        </p:nvSpPr>
        <p:spPr>
          <a:xfrm>
            <a:off x="7606280"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061" name="Google Shape;1061;p50"/>
          <p:cNvCxnSpPr>
            <a:stCxn id="1056" idx="1"/>
            <a:endCxn id="1057" idx="3"/>
          </p:cNvCxnSpPr>
          <p:nvPr/>
        </p:nvCxnSpPr>
        <p:spPr>
          <a:xfrm rot="10800000">
            <a:off x="3096055" y="4322275"/>
            <a:ext cx="837000" cy="0"/>
          </a:xfrm>
          <a:prstGeom prst="straightConnector1">
            <a:avLst/>
          </a:prstGeom>
          <a:noFill/>
          <a:ln w="19050" cap="flat" cmpd="sng">
            <a:solidFill>
              <a:srgbClr val="666666"/>
            </a:solidFill>
            <a:prstDash val="solid"/>
            <a:round/>
            <a:headEnd type="triangle" w="med" len="med"/>
            <a:tailEnd type="none" w="med" len="med"/>
          </a:ln>
        </p:spPr>
      </p:cxnSp>
      <p:sp>
        <p:nvSpPr>
          <p:cNvPr id="1062" name="Google Shape;1062;p50"/>
          <p:cNvSpPr/>
          <p:nvPr/>
        </p:nvSpPr>
        <p:spPr>
          <a:xfrm>
            <a:off x="1484238"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sp>
        <p:nvSpPr>
          <p:cNvPr id="1063" name="Google Shape;1063;p50"/>
          <p:cNvSpPr txBox="1"/>
          <p:nvPr/>
        </p:nvSpPr>
        <p:spPr>
          <a:xfrm>
            <a:off x="1248605" y="424115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064" name="Google Shape;1064;p50"/>
          <p:cNvCxnSpPr>
            <a:stCxn id="1062" idx="3"/>
            <a:endCxn id="1057" idx="1"/>
          </p:cNvCxnSpPr>
          <p:nvPr/>
        </p:nvCxnSpPr>
        <p:spPr>
          <a:xfrm>
            <a:off x="1871538" y="4322275"/>
            <a:ext cx="837000" cy="0"/>
          </a:xfrm>
          <a:prstGeom prst="straightConnector1">
            <a:avLst/>
          </a:prstGeom>
          <a:noFill/>
          <a:ln w="19050" cap="flat" cmpd="sng">
            <a:solidFill>
              <a:srgbClr val="666666"/>
            </a:solidFill>
            <a:prstDash val="solid"/>
            <a:round/>
            <a:headEnd type="none" w="med" len="med"/>
            <a:tailEnd type="triangle" w="med" len="med"/>
          </a:ln>
        </p:spPr>
      </p:cxnSp>
      <p:cxnSp>
        <p:nvCxnSpPr>
          <p:cNvPr id="1065" name="Google Shape;1065;p50"/>
          <p:cNvCxnSpPr>
            <a:stCxn id="1059" idx="3"/>
            <a:endCxn id="1060" idx="1"/>
          </p:cNvCxnSpPr>
          <p:nvPr/>
        </p:nvCxnSpPr>
        <p:spPr>
          <a:xfrm>
            <a:off x="6769172" y="4322275"/>
            <a:ext cx="837000" cy="0"/>
          </a:xfrm>
          <a:prstGeom prst="straightConnector1">
            <a:avLst/>
          </a:prstGeom>
          <a:noFill/>
          <a:ln w="19050" cap="flat" cmpd="sng">
            <a:solidFill>
              <a:srgbClr val="666666"/>
            </a:solidFill>
            <a:prstDash val="solid"/>
            <a:round/>
            <a:headEnd type="none" w="med" len="med"/>
            <a:tailEnd type="triangle" w="med" len="med"/>
          </a:ln>
        </p:spPr>
      </p:cxnSp>
      <p:cxnSp>
        <p:nvCxnSpPr>
          <p:cNvPr id="1066" name="Google Shape;1066;p50"/>
          <p:cNvCxnSpPr>
            <a:stCxn id="1056" idx="3"/>
            <a:endCxn id="1058" idx="1"/>
          </p:cNvCxnSpPr>
          <p:nvPr/>
        </p:nvCxnSpPr>
        <p:spPr>
          <a:xfrm>
            <a:off x="4320355" y="4322275"/>
            <a:ext cx="837000" cy="0"/>
          </a:xfrm>
          <a:prstGeom prst="straightConnector1">
            <a:avLst/>
          </a:prstGeom>
          <a:noFill/>
          <a:ln w="19050" cap="flat" cmpd="sng">
            <a:solidFill>
              <a:srgbClr val="666666"/>
            </a:solidFill>
            <a:prstDash val="solid"/>
            <a:round/>
            <a:headEnd type="none" w="med" len="med"/>
            <a:tailEnd type="triangle" w="med" len="med"/>
          </a:ln>
        </p:spPr>
      </p:cxnSp>
      <p:sp>
        <p:nvSpPr>
          <p:cNvPr id="1067" name="Google Shape;1067;p50"/>
          <p:cNvSpPr/>
          <p:nvPr/>
        </p:nvSpPr>
        <p:spPr>
          <a:xfrm>
            <a:off x="3376346" y="41809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68" name="Google Shape;1068;p50"/>
          <p:cNvSpPr/>
          <p:nvPr/>
        </p:nvSpPr>
        <p:spPr>
          <a:xfrm>
            <a:off x="2111991" y="419583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069" name="Google Shape;1069;p50"/>
          <p:cNvSpPr/>
          <p:nvPr/>
        </p:nvSpPr>
        <p:spPr>
          <a:xfrm>
            <a:off x="4554298" y="4187105"/>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1070" name="Google Shape;1070;p50"/>
          <p:cNvSpPr/>
          <p:nvPr/>
        </p:nvSpPr>
        <p:spPr>
          <a:xfrm>
            <a:off x="7051753" y="418661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71" name="Google Shape;1071;p50"/>
          <p:cNvCxnSpPr>
            <a:stCxn id="1058" idx="3"/>
            <a:endCxn id="1059" idx="1"/>
          </p:cNvCxnSpPr>
          <p:nvPr/>
        </p:nvCxnSpPr>
        <p:spPr>
          <a:xfrm>
            <a:off x="5544763" y="4322275"/>
            <a:ext cx="837000" cy="0"/>
          </a:xfrm>
          <a:prstGeom prst="straightConnector1">
            <a:avLst/>
          </a:prstGeom>
          <a:noFill/>
          <a:ln w="19050" cap="flat" cmpd="sng">
            <a:solidFill>
              <a:srgbClr val="666666"/>
            </a:solidFill>
            <a:prstDash val="solid"/>
            <a:round/>
            <a:headEnd type="none" w="med" len="med"/>
            <a:tailEnd type="triangle" w="med" len="med"/>
          </a:ln>
        </p:spPr>
      </p:cxnSp>
      <p:sp>
        <p:nvSpPr>
          <p:cNvPr id="1072" name="Google Shape;1072;p50"/>
          <p:cNvSpPr/>
          <p:nvPr/>
        </p:nvSpPr>
        <p:spPr>
          <a:xfrm>
            <a:off x="5635348" y="4165399"/>
            <a:ext cx="5487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cxnSp>
        <p:nvCxnSpPr>
          <p:cNvPr id="1073" name="Google Shape;1073;p50"/>
          <p:cNvCxnSpPr>
            <a:stCxn id="1062" idx="2"/>
            <a:endCxn id="1056" idx="2"/>
          </p:cNvCxnSpPr>
          <p:nvPr/>
        </p:nvCxnSpPr>
        <p:spPr>
          <a:xfrm rot="-5400000" flipH="1">
            <a:off x="2902038" y="3250375"/>
            <a:ext cx="600" cy="24489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74" name="Google Shape;1074;p50"/>
          <p:cNvSpPr/>
          <p:nvPr/>
        </p:nvSpPr>
        <p:spPr>
          <a:xfrm>
            <a:off x="2828378" y="47441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75" name="Google Shape;1075;p50"/>
          <p:cNvCxnSpPr>
            <a:stCxn id="1057" idx="0"/>
            <a:endCxn id="1059" idx="0"/>
          </p:cNvCxnSpPr>
          <p:nvPr/>
        </p:nvCxnSpPr>
        <p:spPr>
          <a:xfrm rot="-5400000" flipH="1">
            <a:off x="4738596" y="2333725"/>
            <a:ext cx="600" cy="36732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76" name="Google Shape;1076;p50"/>
          <p:cNvSpPr/>
          <p:nvPr/>
        </p:nvSpPr>
        <p:spPr>
          <a:xfrm>
            <a:off x="4586545" y="360870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077" name="Google Shape;1077;p50"/>
          <p:cNvCxnSpPr>
            <a:stCxn id="1058" idx="2"/>
            <a:endCxn id="1060" idx="2"/>
          </p:cNvCxnSpPr>
          <p:nvPr/>
        </p:nvCxnSpPr>
        <p:spPr>
          <a:xfrm rot="-5400000" flipH="1">
            <a:off x="6575263" y="3250375"/>
            <a:ext cx="600" cy="24489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078" name="Google Shape;1078;p50"/>
          <p:cNvSpPr/>
          <p:nvPr/>
        </p:nvSpPr>
        <p:spPr>
          <a:xfrm>
            <a:off x="6316341" y="477005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5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DAG SPT Algorithm</a:t>
            </a:r>
            <a:endParaRPr dirty="0"/>
          </a:p>
        </p:txBody>
      </p:sp>
      <p:sp>
        <p:nvSpPr>
          <p:cNvPr id="1084" name="Google Shape;1084;p5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Visit vertices in topological order.</a:t>
            </a:r>
            <a:endParaRPr dirty="0"/>
          </a:p>
          <a:p>
            <a:pPr marL="457200" lvl="0" indent="-342900" algn="l" rtl="0">
              <a:spcBef>
                <a:spcPts val="600"/>
              </a:spcBef>
              <a:spcAft>
                <a:spcPts val="0"/>
              </a:spcAft>
              <a:buSzPts val="1800"/>
              <a:buChar char="●"/>
            </a:pPr>
            <a:r>
              <a:rPr lang="en" dirty="0"/>
              <a:t>When we visit a vertex: relax all of its going edges.</a:t>
            </a:r>
            <a:endParaRPr dirty="0"/>
          </a:p>
        </p:txBody>
      </p:sp>
      <p:sp>
        <p:nvSpPr>
          <p:cNvPr id="1085" name="Google Shape;1085;p51"/>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086" name="Google Shape;1086;p51"/>
          <p:cNvSpPr/>
          <p:nvPr/>
        </p:nvSpPr>
        <p:spPr>
          <a:xfrm>
            <a:off x="5170835"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087" name="Google Shape;1087;p51"/>
          <p:cNvSpPr/>
          <p:nvPr/>
        </p:nvSpPr>
        <p:spPr>
          <a:xfrm>
            <a:off x="4007386"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088" name="Google Shape;1088;p51"/>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089" name="Google Shape;1089;p51"/>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090" name="Google Shape;1090;p51"/>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091" name="Google Shape;1091;p51"/>
          <p:cNvCxnSpPr>
            <a:stCxn id="1086" idx="1"/>
            <a:endCxn id="1087"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092" name="Google Shape;1092;p51"/>
          <p:cNvSpPr/>
          <p:nvPr/>
        </p:nvSpPr>
        <p:spPr>
          <a:xfrm>
            <a:off x="2843938"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093" name="Google Shape;1093;p51"/>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094" name="Google Shape;1094;p51"/>
          <p:cNvCxnSpPr>
            <a:stCxn id="1092" idx="3"/>
            <a:endCxn id="1087"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095" name="Google Shape;1095;p51"/>
          <p:cNvCxnSpPr>
            <a:stCxn id="1089" idx="3"/>
            <a:endCxn id="1090"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096" name="Google Shape;1096;p51"/>
          <p:cNvCxnSpPr>
            <a:stCxn id="1086" idx="3"/>
            <a:endCxn id="1088"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097" name="Google Shape;1097;p51"/>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098" name="Google Shape;1098;p51"/>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099" name="Google Shape;1099;p51"/>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100" name="Google Shape;1100;p51"/>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01" name="Google Shape;1101;p51"/>
          <p:cNvCxnSpPr>
            <a:stCxn id="1088" idx="3"/>
            <a:endCxn id="1089"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102" name="Google Shape;1102;p51"/>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103" name="Google Shape;1103;p51"/>
          <p:cNvCxnSpPr>
            <a:stCxn id="1092" idx="2"/>
            <a:endCxn id="1086"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104" name="Google Shape;1104;p51"/>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05" name="Google Shape;1105;p51"/>
          <p:cNvCxnSpPr>
            <a:stCxn id="1087" idx="0"/>
            <a:endCxn id="1089"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106" name="Google Shape;1106;p51"/>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07" name="Google Shape;1107;p51"/>
          <p:cNvCxnSpPr>
            <a:stCxn id="1088" idx="2"/>
            <a:endCxn id="1090"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108" name="Google Shape;1108;p51"/>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09" name="Google Shape;1109;p51"/>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 D, B, C, E, F]</a:t>
            </a:r>
            <a:endParaRPr sz="1600">
              <a:latin typeface="Consolas"/>
              <a:ea typeface="Consolas"/>
              <a:cs typeface="Consolas"/>
              <a:sym typeface="Consolas"/>
            </a:endParaRPr>
          </a:p>
        </p:txBody>
      </p:sp>
      <p:sp>
        <p:nvSpPr>
          <p:cNvPr id="1110" name="Google Shape;1110;p51"/>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111" name="Google Shape;1111;p51"/>
          <p:cNvSpPr txBox="1"/>
          <p:nvPr/>
        </p:nvSpPr>
        <p:spPr>
          <a:xfrm>
            <a:off x="3833564"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12" name="Google Shape;1112;p51"/>
          <p:cNvSpPr txBox="1"/>
          <p:nvPr/>
        </p:nvSpPr>
        <p:spPr>
          <a:xfrm>
            <a:off x="5192209"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13" name="Google Shape;1113;p51"/>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14" name="Google Shape;1114;p51"/>
          <p:cNvSpPr txBox="1"/>
          <p:nvPr/>
        </p:nvSpPr>
        <p:spPr>
          <a:xfrm>
            <a:off x="7658056" y="232223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15" name="Google Shape;1115;p51"/>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2" name="TextBox 1">
            <a:extLst>
              <a:ext uri="{FF2B5EF4-FFF2-40B4-BE49-F238E27FC236}">
                <a16:creationId xmlns:a16="http://schemas.microsoft.com/office/drawing/2014/main" id="{3D6176C4-82BB-743A-94D9-4ED8688592B8}"/>
              </a:ext>
            </a:extLst>
          </p:cNvPr>
          <p:cNvSpPr txBox="1"/>
          <p:nvPr/>
        </p:nvSpPr>
        <p:spPr>
          <a:xfrm>
            <a:off x="1960688" y="54210"/>
            <a:ext cx="4804520" cy="307777"/>
          </a:xfrm>
          <a:prstGeom prst="rect">
            <a:avLst/>
          </a:prstGeom>
          <a:noFill/>
        </p:spPr>
        <p:txBody>
          <a:bodyPr wrap="none" rtlCol="0">
            <a:spAutoFit/>
          </a:bodyPr>
          <a:lstStyle/>
          <a:p>
            <a:r>
              <a:rPr lang="en-US" altLang="zh-CN" b="1" dirty="0">
                <a:solidFill>
                  <a:srgbClr val="00B0F0"/>
                </a:solidFill>
              </a:rPr>
              <a:t>Directed acyclic graph spanning topological algorithm</a:t>
            </a:r>
            <a:endParaRPr lang="zh-CN" altLang="en-US" b="1" dirty="0">
              <a:solidFill>
                <a:srgbClr val="00B0F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5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121" name="Google Shape;1121;p5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122" name="Google Shape;1122;p52"/>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123" name="Google Shape;1123;p52"/>
          <p:cNvSpPr/>
          <p:nvPr/>
        </p:nvSpPr>
        <p:spPr>
          <a:xfrm>
            <a:off x="5170835"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124" name="Google Shape;1124;p52"/>
          <p:cNvSpPr/>
          <p:nvPr/>
        </p:nvSpPr>
        <p:spPr>
          <a:xfrm>
            <a:off x="4007386"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125" name="Google Shape;1125;p52"/>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126" name="Google Shape;1126;p52"/>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127" name="Google Shape;1127;p52"/>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128" name="Google Shape;1128;p52"/>
          <p:cNvCxnSpPr>
            <a:stCxn id="1123" idx="1"/>
            <a:endCxn id="1124"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129" name="Google Shape;1129;p52"/>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130" name="Google Shape;1130;p52"/>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131" name="Google Shape;1131;p52"/>
          <p:cNvCxnSpPr>
            <a:stCxn id="1129" idx="3"/>
            <a:endCxn id="1124" idx="1"/>
          </p:cNvCxnSpPr>
          <p:nvPr/>
        </p:nvCxnSpPr>
        <p:spPr>
          <a:xfrm>
            <a:off x="3231238" y="2842500"/>
            <a:ext cx="776100" cy="0"/>
          </a:xfrm>
          <a:prstGeom prst="straightConnector1">
            <a:avLst/>
          </a:prstGeom>
          <a:noFill/>
          <a:ln w="38100" cap="flat" cmpd="sng">
            <a:solidFill>
              <a:srgbClr val="FF00FF"/>
            </a:solidFill>
            <a:prstDash val="solid"/>
            <a:round/>
            <a:headEnd type="none" w="med" len="med"/>
            <a:tailEnd type="triangle" w="med" len="med"/>
          </a:ln>
        </p:spPr>
      </p:cxnSp>
      <p:cxnSp>
        <p:nvCxnSpPr>
          <p:cNvPr id="1132" name="Google Shape;1132;p52"/>
          <p:cNvCxnSpPr>
            <a:stCxn id="1126" idx="3"/>
            <a:endCxn id="1127"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133" name="Google Shape;1133;p52"/>
          <p:cNvCxnSpPr>
            <a:stCxn id="1123" idx="3"/>
            <a:endCxn id="1125"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134" name="Google Shape;1134;p52"/>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35" name="Google Shape;1135;p52"/>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36" name="Google Shape;1136;p52"/>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137" name="Google Shape;1137;p52"/>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38" name="Google Shape;1138;p52"/>
          <p:cNvCxnSpPr>
            <a:stCxn id="1125" idx="3"/>
            <a:endCxn id="1126"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139" name="Google Shape;1139;p52"/>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140" name="Google Shape;1140;p52"/>
          <p:cNvCxnSpPr>
            <a:stCxn id="1129" idx="2"/>
            <a:endCxn id="1123" idx="2"/>
          </p:cNvCxnSpPr>
          <p:nvPr/>
        </p:nvCxnSpPr>
        <p:spPr>
          <a:xfrm rot="-5400000" flipH="1">
            <a:off x="4200688" y="1831650"/>
            <a:ext cx="600" cy="2326800"/>
          </a:xfrm>
          <a:prstGeom prst="curvedConnector3">
            <a:avLst>
              <a:gd name="adj1" fmla="val 39687500"/>
            </a:avLst>
          </a:prstGeom>
          <a:noFill/>
          <a:ln w="38100" cap="flat" cmpd="sng">
            <a:solidFill>
              <a:srgbClr val="FF00FF"/>
            </a:solidFill>
            <a:prstDash val="solid"/>
            <a:round/>
            <a:headEnd type="none" w="med" len="med"/>
            <a:tailEnd type="triangle" w="med" len="med"/>
          </a:ln>
        </p:spPr>
      </p:cxnSp>
      <p:sp>
        <p:nvSpPr>
          <p:cNvPr id="1141" name="Google Shape;1141;p52"/>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42" name="Google Shape;1142;p52"/>
          <p:cNvCxnSpPr>
            <a:stCxn id="1124" idx="0"/>
            <a:endCxn id="1126"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143" name="Google Shape;1143;p52"/>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44" name="Google Shape;1144;p52"/>
          <p:cNvCxnSpPr>
            <a:stCxn id="1125" idx="2"/>
            <a:endCxn id="1127"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145" name="Google Shape;1145;p52"/>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46" name="Google Shape;1146;p52"/>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147" name="Google Shape;1147;p52"/>
          <p:cNvSpPr txBox="1"/>
          <p:nvPr/>
        </p:nvSpPr>
        <p:spPr>
          <a:xfrm>
            <a:off x="3833564"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48" name="Google Shape;1148;p52"/>
          <p:cNvSpPr txBox="1"/>
          <p:nvPr/>
        </p:nvSpPr>
        <p:spPr>
          <a:xfrm>
            <a:off x="5192209"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49" name="Google Shape;1149;p52"/>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50" name="Google Shape;1150;p52"/>
          <p:cNvSpPr txBox="1"/>
          <p:nvPr/>
        </p:nvSpPr>
        <p:spPr>
          <a:xfrm>
            <a:off x="7658056" y="232223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51" name="Google Shape;1151;p52"/>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52" name="Google Shape;1152;p52"/>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a:latin typeface="Consolas"/>
                <a:ea typeface="Consolas"/>
                <a:cs typeface="Consolas"/>
                <a:sym typeface="Consolas"/>
              </a:rPr>
              <a:t>D, B, C, E, F]</a:t>
            </a:r>
            <a:endParaRPr sz="1600">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p5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158" name="Google Shape;1158;p5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159" name="Google Shape;1159;p53"/>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160" name="Google Shape;1160;p53"/>
          <p:cNvSpPr/>
          <p:nvPr/>
        </p:nvSpPr>
        <p:spPr>
          <a:xfrm>
            <a:off x="5170835"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161" name="Google Shape;1161;p53"/>
          <p:cNvSpPr/>
          <p:nvPr/>
        </p:nvSpPr>
        <p:spPr>
          <a:xfrm>
            <a:off x="4007386"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162" name="Google Shape;1162;p53"/>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163" name="Google Shape;1163;p53"/>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164" name="Google Shape;1164;p53"/>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165" name="Google Shape;1165;p53"/>
          <p:cNvCxnSpPr>
            <a:stCxn id="1160" idx="1"/>
            <a:endCxn id="1161"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166" name="Google Shape;1166;p53"/>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167" name="Google Shape;1167;p53"/>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168" name="Google Shape;1168;p53"/>
          <p:cNvCxnSpPr>
            <a:stCxn id="1166" idx="3"/>
            <a:endCxn id="1161" idx="1"/>
          </p:cNvCxnSpPr>
          <p:nvPr/>
        </p:nvCxnSpPr>
        <p:spPr>
          <a:xfrm>
            <a:off x="3231238" y="2842500"/>
            <a:ext cx="776100" cy="0"/>
          </a:xfrm>
          <a:prstGeom prst="straightConnector1">
            <a:avLst/>
          </a:prstGeom>
          <a:noFill/>
          <a:ln w="38100" cap="flat" cmpd="sng">
            <a:solidFill>
              <a:srgbClr val="FF00FF"/>
            </a:solidFill>
            <a:prstDash val="solid"/>
            <a:round/>
            <a:headEnd type="none" w="med" len="med"/>
            <a:tailEnd type="triangle" w="med" len="med"/>
          </a:ln>
        </p:spPr>
      </p:cxnSp>
      <p:cxnSp>
        <p:nvCxnSpPr>
          <p:cNvPr id="1169" name="Google Shape;1169;p53"/>
          <p:cNvCxnSpPr>
            <a:stCxn id="1163" idx="3"/>
            <a:endCxn id="1164"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170" name="Google Shape;1170;p53"/>
          <p:cNvCxnSpPr>
            <a:stCxn id="1160" idx="3"/>
            <a:endCxn id="1162"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171" name="Google Shape;1171;p53"/>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72" name="Google Shape;1172;p53"/>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73" name="Google Shape;1173;p53"/>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174" name="Google Shape;1174;p53"/>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75" name="Google Shape;1175;p53"/>
          <p:cNvCxnSpPr>
            <a:stCxn id="1162" idx="3"/>
            <a:endCxn id="1163"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176" name="Google Shape;1176;p53"/>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177" name="Google Shape;1177;p53"/>
          <p:cNvCxnSpPr>
            <a:stCxn id="1166" idx="2"/>
            <a:endCxn id="1160" idx="2"/>
          </p:cNvCxnSpPr>
          <p:nvPr/>
        </p:nvCxnSpPr>
        <p:spPr>
          <a:xfrm rot="-5400000" flipH="1">
            <a:off x="4200688" y="1831650"/>
            <a:ext cx="600" cy="2326800"/>
          </a:xfrm>
          <a:prstGeom prst="curvedConnector3">
            <a:avLst>
              <a:gd name="adj1" fmla="val 39687500"/>
            </a:avLst>
          </a:prstGeom>
          <a:noFill/>
          <a:ln w="38100" cap="flat" cmpd="sng">
            <a:solidFill>
              <a:srgbClr val="FF00FF"/>
            </a:solidFill>
            <a:prstDash val="solid"/>
            <a:round/>
            <a:headEnd type="none" w="med" len="med"/>
            <a:tailEnd type="triangle" w="med" len="med"/>
          </a:ln>
        </p:spPr>
      </p:cxnSp>
      <p:sp>
        <p:nvSpPr>
          <p:cNvPr id="1178" name="Google Shape;1178;p53"/>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79" name="Google Shape;1179;p53"/>
          <p:cNvCxnSpPr>
            <a:stCxn id="1161" idx="0"/>
            <a:endCxn id="1163"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180" name="Google Shape;1180;p53"/>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181" name="Google Shape;1181;p53"/>
          <p:cNvCxnSpPr>
            <a:stCxn id="1162" idx="2"/>
            <a:endCxn id="1164"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182" name="Google Shape;1182;p53"/>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183" name="Google Shape;1183;p53"/>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184" name="Google Shape;1184;p53"/>
          <p:cNvSpPr txBox="1"/>
          <p:nvPr/>
        </p:nvSpPr>
        <p:spPr>
          <a:xfrm>
            <a:off x="3833564"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85" name="Google Shape;1185;p53"/>
          <p:cNvSpPr txBox="1"/>
          <p:nvPr/>
        </p:nvSpPr>
        <p:spPr>
          <a:xfrm>
            <a:off x="5192209"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86" name="Google Shape;1186;p53"/>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87" name="Google Shape;1187;p53"/>
          <p:cNvSpPr txBox="1"/>
          <p:nvPr/>
        </p:nvSpPr>
        <p:spPr>
          <a:xfrm>
            <a:off x="7658056" y="232223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88" name="Google Shape;1188;p53"/>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189" name="Google Shape;1189;p53"/>
          <p:cNvSpPr txBox="1"/>
          <p:nvPr/>
        </p:nvSpPr>
        <p:spPr>
          <a:xfrm>
            <a:off x="3768787" y="214202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190" name="Google Shape;1190;p53"/>
          <p:cNvSpPr txBox="1"/>
          <p:nvPr/>
        </p:nvSpPr>
        <p:spPr>
          <a:xfrm>
            <a:off x="5013892" y="215416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cxnSp>
        <p:nvCxnSpPr>
          <p:cNvPr id="1191" name="Google Shape;1191;p53"/>
          <p:cNvCxnSpPr/>
          <p:nvPr/>
        </p:nvCxnSpPr>
        <p:spPr>
          <a:xfrm>
            <a:off x="5271524" y="2500286"/>
            <a:ext cx="188400" cy="158700"/>
          </a:xfrm>
          <a:prstGeom prst="straightConnector1">
            <a:avLst/>
          </a:prstGeom>
          <a:noFill/>
          <a:ln w="19050" cap="flat" cmpd="sng">
            <a:solidFill>
              <a:schemeClr val="dk2"/>
            </a:solidFill>
            <a:prstDash val="solid"/>
            <a:round/>
            <a:headEnd type="none" w="med" len="med"/>
            <a:tailEnd type="none" w="med" len="med"/>
          </a:ln>
        </p:spPr>
      </p:cxnSp>
      <p:cxnSp>
        <p:nvCxnSpPr>
          <p:cNvPr id="1192" name="Google Shape;1192;p53"/>
          <p:cNvCxnSpPr/>
          <p:nvPr/>
        </p:nvCxnSpPr>
        <p:spPr>
          <a:xfrm>
            <a:off x="3888503" y="2488865"/>
            <a:ext cx="188400" cy="158700"/>
          </a:xfrm>
          <a:prstGeom prst="straightConnector1">
            <a:avLst/>
          </a:prstGeom>
          <a:noFill/>
          <a:ln w="19050" cap="flat" cmpd="sng">
            <a:solidFill>
              <a:schemeClr val="dk2"/>
            </a:solidFill>
            <a:prstDash val="solid"/>
            <a:round/>
            <a:headEnd type="none" w="med" len="med"/>
            <a:tailEnd type="none" w="med" len="med"/>
          </a:ln>
        </p:spPr>
      </p:cxnSp>
      <p:sp>
        <p:nvSpPr>
          <p:cNvPr id="1193" name="Google Shape;1193;p53"/>
          <p:cNvSpPr/>
          <p:nvPr/>
        </p:nvSpPr>
        <p:spPr>
          <a:xfrm>
            <a:off x="966745" y="2434050"/>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3"/>
          <p:cNvSpPr/>
          <p:nvPr/>
        </p:nvSpPr>
        <p:spPr>
          <a:xfrm>
            <a:off x="1747466" y="2434050"/>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3"/>
          <p:cNvSpPr/>
          <p:nvPr/>
        </p:nvSpPr>
        <p:spPr>
          <a:xfrm>
            <a:off x="966745" y="2926641"/>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53"/>
          <p:cNvSpPr/>
          <p:nvPr/>
        </p:nvSpPr>
        <p:spPr>
          <a:xfrm>
            <a:off x="1747466" y="2926641"/>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3"/>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a:latin typeface="Consolas"/>
                <a:ea typeface="Consolas"/>
                <a:cs typeface="Consolas"/>
                <a:sym typeface="Consolas"/>
              </a:rPr>
              <a:t>D, B, C, E, F]</a:t>
            </a:r>
            <a:endParaRPr sz="1600">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p5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203" name="Google Shape;1203;p5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204" name="Google Shape;1204;p54"/>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205" name="Google Shape;1205;p54"/>
          <p:cNvSpPr/>
          <p:nvPr/>
        </p:nvSpPr>
        <p:spPr>
          <a:xfrm>
            <a:off x="5170835"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206" name="Google Shape;1206;p54"/>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207" name="Google Shape;1207;p54"/>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208" name="Google Shape;1208;p54"/>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209" name="Google Shape;1209;p54"/>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210" name="Google Shape;1210;p54"/>
          <p:cNvCxnSpPr>
            <a:stCxn id="1205" idx="1"/>
            <a:endCxn id="1206" idx="3"/>
          </p:cNvCxnSpPr>
          <p:nvPr/>
        </p:nvCxnSpPr>
        <p:spPr>
          <a:xfrm rot="10800000">
            <a:off x="4394735" y="2842500"/>
            <a:ext cx="776100" cy="0"/>
          </a:xfrm>
          <a:prstGeom prst="straightConnector1">
            <a:avLst/>
          </a:prstGeom>
          <a:noFill/>
          <a:ln w="38100" cap="flat" cmpd="sng">
            <a:solidFill>
              <a:srgbClr val="FF43F0"/>
            </a:solidFill>
            <a:prstDash val="solid"/>
            <a:round/>
            <a:headEnd type="triangle" w="med" len="med"/>
            <a:tailEnd type="none" w="med" len="med"/>
          </a:ln>
        </p:spPr>
      </p:cxnSp>
      <p:sp>
        <p:nvSpPr>
          <p:cNvPr id="1211" name="Google Shape;1211;p54"/>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212" name="Google Shape;1212;p54"/>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213" name="Google Shape;1213;p54"/>
          <p:cNvCxnSpPr>
            <a:stCxn id="1211" idx="3"/>
            <a:endCxn id="1206"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214" name="Google Shape;1214;p54"/>
          <p:cNvCxnSpPr>
            <a:stCxn id="1208" idx="3"/>
            <a:endCxn id="1209"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215" name="Google Shape;1215;p54"/>
          <p:cNvCxnSpPr>
            <a:stCxn id="1205" idx="3"/>
            <a:endCxn id="1207"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216" name="Google Shape;1216;p54"/>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17" name="Google Shape;1217;p54"/>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18" name="Google Shape;1218;p54"/>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219" name="Google Shape;1219;p54"/>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20" name="Google Shape;1220;p54"/>
          <p:cNvCxnSpPr>
            <a:stCxn id="1207" idx="3"/>
            <a:endCxn id="1208"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221" name="Google Shape;1221;p54"/>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222" name="Google Shape;1222;p54"/>
          <p:cNvCxnSpPr>
            <a:stCxn id="1211" idx="2"/>
            <a:endCxn id="1205"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223" name="Google Shape;1223;p54"/>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24" name="Google Shape;1224;p54"/>
          <p:cNvCxnSpPr>
            <a:stCxn id="1206" idx="0"/>
            <a:endCxn id="1208" idx="0"/>
          </p:cNvCxnSpPr>
          <p:nvPr/>
        </p:nvCxnSpPr>
        <p:spPr>
          <a:xfrm rot="-5400000" flipH="1">
            <a:off x="5945836" y="945450"/>
            <a:ext cx="600" cy="3490200"/>
          </a:xfrm>
          <a:prstGeom prst="curvedConnector3">
            <a:avLst>
              <a:gd name="adj1" fmla="val -98566732"/>
            </a:avLst>
          </a:prstGeom>
          <a:noFill/>
          <a:ln w="38100" cap="flat" cmpd="sng">
            <a:solidFill>
              <a:srgbClr val="FF43F0"/>
            </a:solidFill>
            <a:prstDash val="solid"/>
            <a:round/>
            <a:headEnd type="none" w="med" len="med"/>
            <a:tailEnd type="triangle" w="med" len="med"/>
          </a:ln>
        </p:spPr>
      </p:cxnSp>
      <p:sp>
        <p:nvSpPr>
          <p:cNvPr id="1225" name="Google Shape;1225;p54"/>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26" name="Google Shape;1226;p54"/>
          <p:cNvCxnSpPr>
            <a:stCxn id="1207" idx="2"/>
            <a:endCxn id="1209"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227" name="Google Shape;1227;p54"/>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28" name="Google Shape;1228;p54"/>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229" name="Google Shape;1229;p54"/>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230" name="Google Shape;1230;p54"/>
          <p:cNvSpPr txBox="1"/>
          <p:nvPr/>
        </p:nvSpPr>
        <p:spPr>
          <a:xfrm>
            <a:off x="7658056" y="232223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231" name="Google Shape;1231;p54"/>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232" name="Google Shape;1232;p54"/>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233" name="Google Shape;1233;p54"/>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234" name="Google Shape;1234;p54"/>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B, C, E, F]</a:t>
            </a:r>
            <a:endParaRPr sz="1600">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5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240" name="Google Shape;1240;p5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241" name="Google Shape;1241;p55"/>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2      D</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242" name="Google Shape;1242;p55"/>
          <p:cNvSpPr/>
          <p:nvPr/>
        </p:nvSpPr>
        <p:spPr>
          <a:xfrm>
            <a:off x="5170835"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243" name="Google Shape;1243;p55"/>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244" name="Google Shape;1244;p55"/>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245" name="Google Shape;1245;p55"/>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246" name="Google Shape;1246;p55"/>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247" name="Google Shape;1247;p55"/>
          <p:cNvCxnSpPr>
            <a:stCxn id="1242" idx="1"/>
            <a:endCxn id="1243" idx="3"/>
          </p:cNvCxnSpPr>
          <p:nvPr/>
        </p:nvCxnSpPr>
        <p:spPr>
          <a:xfrm rot="10800000">
            <a:off x="4394735" y="2842500"/>
            <a:ext cx="776100" cy="0"/>
          </a:xfrm>
          <a:prstGeom prst="straightConnector1">
            <a:avLst/>
          </a:prstGeom>
          <a:noFill/>
          <a:ln w="38100" cap="flat" cmpd="sng">
            <a:solidFill>
              <a:srgbClr val="FF43F0"/>
            </a:solidFill>
            <a:prstDash val="solid"/>
            <a:round/>
            <a:headEnd type="triangle" w="med" len="med"/>
            <a:tailEnd type="none" w="med" len="med"/>
          </a:ln>
        </p:spPr>
      </p:cxnSp>
      <p:sp>
        <p:nvSpPr>
          <p:cNvPr id="1248" name="Google Shape;1248;p55"/>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249" name="Google Shape;1249;p55"/>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250" name="Google Shape;1250;p55"/>
          <p:cNvCxnSpPr>
            <a:stCxn id="1248" idx="3"/>
            <a:endCxn id="1243"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251" name="Google Shape;1251;p55"/>
          <p:cNvCxnSpPr>
            <a:stCxn id="1245" idx="3"/>
            <a:endCxn id="1246"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252" name="Google Shape;1252;p55"/>
          <p:cNvCxnSpPr>
            <a:stCxn id="1242" idx="3"/>
            <a:endCxn id="1244"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253" name="Google Shape;1253;p55"/>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54" name="Google Shape;1254;p55"/>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55" name="Google Shape;1255;p55"/>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256" name="Google Shape;1256;p55"/>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57" name="Google Shape;1257;p55"/>
          <p:cNvCxnSpPr>
            <a:stCxn id="1244" idx="3"/>
            <a:endCxn id="1245"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258" name="Google Shape;1258;p55"/>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259" name="Google Shape;1259;p55"/>
          <p:cNvCxnSpPr>
            <a:stCxn id="1248" idx="2"/>
            <a:endCxn id="1242"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260" name="Google Shape;1260;p55"/>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61" name="Google Shape;1261;p55"/>
          <p:cNvCxnSpPr>
            <a:stCxn id="1243" idx="0"/>
            <a:endCxn id="1245" idx="0"/>
          </p:cNvCxnSpPr>
          <p:nvPr/>
        </p:nvCxnSpPr>
        <p:spPr>
          <a:xfrm rot="-5400000" flipH="1">
            <a:off x="5945836" y="945450"/>
            <a:ext cx="600" cy="3490200"/>
          </a:xfrm>
          <a:prstGeom prst="curvedConnector3">
            <a:avLst>
              <a:gd name="adj1" fmla="val -98566732"/>
            </a:avLst>
          </a:prstGeom>
          <a:noFill/>
          <a:ln w="38100" cap="flat" cmpd="sng">
            <a:solidFill>
              <a:srgbClr val="FF43F0"/>
            </a:solidFill>
            <a:prstDash val="solid"/>
            <a:round/>
            <a:headEnd type="none" w="med" len="med"/>
            <a:tailEnd type="triangle" w="med" len="med"/>
          </a:ln>
        </p:spPr>
      </p:cxnSp>
      <p:sp>
        <p:nvSpPr>
          <p:cNvPr id="1262" name="Google Shape;1262;p55"/>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63" name="Google Shape;1263;p55"/>
          <p:cNvCxnSpPr>
            <a:stCxn id="1244" idx="2"/>
            <a:endCxn id="1246"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264" name="Google Shape;1264;p55"/>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65" name="Google Shape;1265;p55"/>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266" name="Google Shape;1266;p55"/>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267" name="Google Shape;1267;p55"/>
          <p:cNvSpPr txBox="1"/>
          <p:nvPr/>
        </p:nvSpPr>
        <p:spPr>
          <a:xfrm>
            <a:off x="7658056" y="232223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268" name="Google Shape;1268;p55"/>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269" name="Google Shape;1269;p55"/>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270" name="Google Shape;1270;p55"/>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cxnSp>
        <p:nvCxnSpPr>
          <p:cNvPr id="1271" name="Google Shape;1271;p55"/>
          <p:cNvCxnSpPr/>
          <p:nvPr/>
        </p:nvCxnSpPr>
        <p:spPr>
          <a:xfrm>
            <a:off x="7722553" y="2475543"/>
            <a:ext cx="188400" cy="158700"/>
          </a:xfrm>
          <a:prstGeom prst="straightConnector1">
            <a:avLst/>
          </a:prstGeom>
          <a:noFill/>
          <a:ln w="19050" cap="flat" cmpd="sng">
            <a:solidFill>
              <a:schemeClr val="dk2"/>
            </a:solidFill>
            <a:prstDash val="solid"/>
            <a:round/>
            <a:headEnd type="none" w="med" len="med"/>
            <a:tailEnd type="none" w="med" len="med"/>
          </a:ln>
        </p:spPr>
      </p:cxnSp>
      <p:sp>
        <p:nvSpPr>
          <p:cNvPr id="1272" name="Google Shape;1272;p55"/>
          <p:cNvSpPr txBox="1"/>
          <p:nvPr/>
        </p:nvSpPr>
        <p:spPr>
          <a:xfrm>
            <a:off x="7822356" y="211504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2</a:t>
            </a:r>
            <a:endParaRPr sz="1800">
              <a:solidFill>
                <a:srgbClr val="FF43F0"/>
              </a:solidFill>
            </a:endParaRPr>
          </a:p>
        </p:txBody>
      </p:sp>
      <p:sp>
        <p:nvSpPr>
          <p:cNvPr id="1273" name="Google Shape;1273;p55"/>
          <p:cNvSpPr/>
          <p:nvPr/>
        </p:nvSpPr>
        <p:spPr>
          <a:xfrm>
            <a:off x="966745" y="3172456"/>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55"/>
          <p:cNvSpPr/>
          <p:nvPr/>
        </p:nvSpPr>
        <p:spPr>
          <a:xfrm>
            <a:off x="1747466" y="3172456"/>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5"/>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B, C, E, F]</a:t>
            </a:r>
            <a:endParaRPr sz="1600">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5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281" name="Google Shape;1281;p5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282" name="Google Shape;1282;p56"/>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2      D</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283" name="Google Shape;1283;p56"/>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284" name="Google Shape;1284;p56"/>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285" name="Google Shape;1285;p56"/>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286" name="Google Shape;1286;p56"/>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287" name="Google Shape;1287;p56"/>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288" name="Google Shape;1288;p56"/>
          <p:cNvCxnSpPr>
            <a:stCxn id="1283" idx="1"/>
            <a:endCxn id="1284"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289" name="Google Shape;1289;p56"/>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290" name="Google Shape;1290;p56"/>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291" name="Google Shape;1291;p56"/>
          <p:cNvCxnSpPr>
            <a:stCxn id="1289" idx="3"/>
            <a:endCxn id="1284"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292" name="Google Shape;1292;p56"/>
          <p:cNvCxnSpPr>
            <a:stCxn id="1286" idx="3"/>
            <a:endCxn id="1287"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293" name="Google Shape;1293;p56"/>
          <p:cNvCxnSpPr>
            <a:stCxn id="1283" idx="3"/>
            <a:endCxn id="1285" idx="1"/>
          </p:cNvCxnSpPr>
          <p:nvPr/>
        </p:nvCxnSpPr>
        <p:spPr>
          <a:xfrm>
            <a:off x="5558135" y="2842500"/>
            <a:ext cx="776100" cy="0"/>
          </a:xfrm>
          <a:prstGeom prst="straightConnector1">
            <a:avLst/>
          </a:prstGeom>
          <a:noFill/>
          <a:ln w="38100" cap="flat" cmpd="sng">
            <a:solidFill>
              <a:srgbClr val="FF43F0"/>
            </a:solidFill>
            <a:prstDash val="solid"/>
            <a:round/>
            <a:headEnd type="none" w="med" len="med"/>
            <a:tailEnd type="triangle" w="med" len="med"/>
          </a:ln>
        </p:spPr>
      </p:cxnSp>
      <p:sp>
        <p:nvSpPr>
          <p:cNvPr id="1294" name="Google Shape;1294;p56"/>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95" name="Google Shape;1295;p56"/>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296" name="Google Shape;1296;p56"/>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297" name="Google Shape;1297;p56"/>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298" name="Google Shape;1298;p56"/>
          <p:cNvCxnSpPr>
            <a:stCxn id="1285" idx="3"/>
            <a:endCxn id="1286"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299" name="Google Shape;1299;p56"/>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300" name="Google Shape;1300;p56"/>
          <p:cNvCxnSpPr>
            <a:stCxn id="1289" idx="2"/>
            <a:endCxn id="1283"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301" name="Google Shape;1301;p56"/>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02" name="Google Shape;1302;p56"/>
          <p:cNvCxnSpPr>
            <a:stCxn id="1284" idx="0"/>
            <a:endCxn id="1286"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303" name="Google Shape;1303;p56"/>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04" name="Google Shape;1304;p56"/>
          <p:cNvCxnSpPr>
            <a:stCxn id="1285" idx="2"/>
            <a:endCxn id="1287"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305" name="Google Shape;1305;p56"/>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06" name="Google Shape;1306;p56"/>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307" name="Google Shape;1307;p56"/>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308" name="Google Shape;1308;p56"/>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309" name="Google Shape;1309;p56"/>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310" name="Google Shape;1310;p56"/>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311" name="Google Shape;1311;p56"/>
          <p:cNvSpPr txBox="1"/>
          <p:nvPr/>
        </p:nvSpPr>
        <p:spPr>
          <a:xfrm>
            <a:off x="7746156" y="234364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2</a:t>
            </a:r>
            <a:endParaRPr sz="1800">
              <a:solidFill>
                <a:srgbClr val="FF43F0"/>
              </a:solidFill>
            </a:endParaRPr>
          </a:p>
        </p:txBody>
      </p:sp>
      <p:sp>
        <p:nvSpPr>
          <p:cNvPr id="1312" name="Google Shape;1312;p56"/>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C, E, F]</a:t>
            </a:r>
            <a:endParaRPr sz="1600">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16"/>
        <p:cNvGrpSpPr/>
        <p:nvPr/>
      </p:nvGrpSpPr>
      <p:grpSpPr>
        <a:xfrm>
          <a:off x="0" y="0"/>
          <a:ext cx="0" cy="0"/>
          <a:chOff x="0" y="0"/>
          <a:chExt cx="0" cy="0"/>
        </a:xfrm>
      </p:grpSpPr>
      <p:sp>
        <p:nvSpPr>
          <p:cNvPr id="1317" name="Google Shape;1317;p5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318" name="Google Shape;1318;p5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319" name="Google Shape;1319;p57"/>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7      B</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2      D</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320" name="Google Shape;1320;p57"/>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321" name="Google Shape;1321;p57"/>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322" name="Google Shape;1322;p57"/>
          <p:cNvSpPr/>
          <p:nvPr/>
        </p:nvSpPr>
        <p:spPr>
          <a:xfrm>
            <a:off x="6334283"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323" name="Google Shape;1323;p57"/>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324" name="Google Shape;1324;p57"/>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325" name="Google Shape;1325;p57"/>
          <p:cNvCxnSpPr>
            <a:stCxn id="1320" idx="1"/>
            <a:endCxn id="1321"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326" name="Google Shape;1326;p57"/>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327" name="Google Shape;1327;p57"/>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328" name="Google Shape;1328;p57"/>
          <p:cNvCxnSpPr>
            <a:stCxn id="1326" idx="3"/>
            <a:endCxn id="1321"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329" name="Google Shape;1329;p57"/>
          <p:cNvCxnSpPr>
            <a:stCxn id="1323" idx="3"/>
            <a:endCxn id="1324"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330" name="Google Shape;1330;p57"/>
          <p:cNvCxnSpPr>
            <a:stCxn id="1320" idx="3"/>
            <a:endCxn id="1322" idx="1"/>
          </p:cNvCxnSpPr>
          <p:nvPr/>
        </p:nvCxnSpPr>
        <p:spPr>
          <a:xfrm>
            <a:off x="5558135" y="2842500"/>
            <a:ext cx="776100" cy="0"/>
          </a:xfrm>
          <a:prstGeom prst="straightConnector1">
            <a:avLst/>
          </a:prstGeom>
          <a:noFill/>
          <a:ln w="38100" cap="flat" cmpd="sng">
            <a:solidFill>
              <a:srgbClr val="FF43F0"/>
            </a:solidFill>
            <a:prstDash val="solid"/>
            <a:round/>
            <a:headEnd type="none" w="med" len="med"/>
            <a:tailEnd type="triangle" w="med" len="med"/>
          </a:ln>
        </p:spPr>
      </p:cxnSp>
      <p:sp>
        <p:nvSpPr>
          <p:cNvPr id="1331" name="Google Shape;1331;p57"/>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32" name="Google Shape;1332;p57"/>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33" name="Google Shape;1333;p57"/>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334" name="Google Shape;1334;p57"/>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35" name="Google Shape;1335;p57"/>
          <p:cNvCxnSpPr>
            <a:stCxn id="1322" idx="3"/>
            <a:endCxn id="1323"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336" name="Google Shape;1336;p57"/>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337" name="Google Shape;1337;p57"/>
          <p:cNvCxnSpPr>
            <a:stCxn id="1326" idx="2"/>
            <a:endCxn id="1320"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338" name="Google Shape;1338;p57"/>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39" name="Google Shape;1339;p57"/>
          <p:cNvCxnSpPr>
            <a:stCxn id="1321" idx="0"/>
            <a:endCxn id="1323"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340" name="Google Shape;1340;p57"/>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41" name="Google Shape;1341;p57"/>
          <p:cNvCxnSpPr>
            <a:stCxn id="1322" idx="2"/>
            <a:endCxn id="1324"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342" name="Google Shape;1342;p57"/>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43" name="Google Shape;1343;p57"/>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344" name="Google Shape;1344;p57"/>
          <p:cNvSpPr txBox="1"/>
          <p:nvPr/>
        </p:nvSpPr>
        <p:spPr>
          <a:xfrm>
            <a:off x="6374076" y="233672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345" name="Google Shape;1345;p57"/>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346" name="Google Shape;1346;p57"/>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347" name="Google Shape;1347;p57"/>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cxnSp>
        <p:nvCxnSpPr>
          <p:cNvPr id="1348" name="Google Shape;1348;p57"/>
          <p:cNvCxnSpPr/>
          <p:nvPr/>
        </p:nvCxnSpPr>
        <p:spPr>
          <a:xfrm>
            <a:off x="6445329" y="2475543"/>
            <a:ext cx="188400" cy="158700"/>
          </a:xfrm>
          <a:prstGeom prst="straightConnector1">
            <a:avLst/>
          </a:prstGeom>
          <a:noFill/>
          <a:ln w="19050" cap="flat" cmpd="sng">
            <a:solidFill>
              <a:schemeClr val="dk2"/>
            </a:solidFill>
            <a:prstDash val="solid"/>
            <a:round/>
            <a:headEnd type="none" w="med" len="med"/>
            <a:tailEnd type="none" w="med" len="med"/>
          </a:ln>
        </p:spPr>
      </p:cxnSp>
      <p:sp>
        <p:nvSpPr>
          <p:cNvPr id="1349" name="Google Shape;1349;p57"/>
          <p:cNvSpPr txBox="1"/>
          <p:nvPr/>
        </p:nvSpPr>
        <p:spPr>
          <a:xfrm>
            <a:off x="6579562" y="2226636"/>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7</a:t>
            </a:r>
            <a:endParaRPr sz="1800">
              <a:solidFill>
                <a:srgbClr val="FF43F0"/>
              </a:solidFill>
            </a:endParaRPr>
          </a:p>
        </p:txBody>
      </p:sp>
      <p:sp>
        <p:nvSpPr>
          <p:cNvPr id="1350" name="Google Shape;1350;p57"/>
          <p:cNvSpPr/>
          <p:nvPr/>
        </p:nvSpPr>
        <p:spPr>
          <a:xfrm>
            <a:off x="978542" y="2679865"/>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7"/>
          <p:cNvSpPr/>
          <p:nvPr/>
        </p:nvSpPr>
        <p:spPr>
          <a:xfrm>
            <a:off x="1759264" y="2679865"/>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7"/>
          <p:cNvSpPr txBox="1"/>
          <p:nvPr/>
        </p:nvSpPr>
        <p:spPr>
          <a:xfrm>
            <a:off x="7746156" y="234364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2</a:t>
            </a:r>
            <a:endParaRPr sz="1800">
              <a:solidFill>
                <a:srgbClr val="FF43F0"/>
              </a:solidFill>
            </a:endParaRPr>
          </a:p>
        </p:txBody>
      </p:sp>
      <p:sp>
        <p:nvSpPr>
          <p:cNvPr id="1353" name="Google Shape;1353;p57"/>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C, E, F]</a:t>
            </a:r>
            <a:endParaRPr sz="16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sp>
        <p:nvSpPr>
          <p:cNvPr id="1358" name="Google Shape;1358;p5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359" name="Google Shape;1359;p5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360" name="Google Shape;1360;p58"/>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7      B</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2      D</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361" name="Google Shape;1361;p58"/>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362" name="Google Shape;1362;p58"/>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363" name="Google Shape;1363;p58"/>
          <p:cNvSpPr/>
          <p:nvPr/>
        </p:nvSpPr>
        <p:spPr>
          <a:xfrm>
            <a:off x="6334283"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364" name="Google Shape;1364;p58"/>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365" name="Google Shape;1365;p58"/>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366" name="Google Shape;1366;p58"/>
          <p:cNvCxnSpPr>
            <a:stCxn id="1361" idx="1"/>
            <a:endCxn id="1362"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367" name="Google Shape;1367;p58"/>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368" name="Google Shape;1368;p58"/>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369" name="Google Shape;1369;p58"/>
          <p:cNvCxnSpPr>
            <a:stCxn id="1367" idx="3"/>
            <a:endCxn id="1362"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370" name="Google Shape;1370;p58"/>
          <p:cNvCxnSpPr>
            <a:stCxn id="1364" idx="3"/>
            <a:endCxn id="1365"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371" name="Google Shape;1371;p58"/>
          <p:cNvCxnSpPr>
            <a:stCxn id="1361" idx="3"/>
            <a:endCxn id="1363"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372" name="Google Shape;1372;p58"/>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73" name="Google Shape;1373;p58"/>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74" name="Google Shape;1374;p58"/>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375" name="Google Shape;1375;p58"/>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76" name="Google Shape;1376;p58"/>
          <p:cNvCxnSpPr>
            <a:stCxn id="1363" idx="3"/>
            <a:endCxn id="1364" idx="1"/>
          </p:cNvCxnSpPr>
          <p:nvPr/>
        </p:nvCxnSpPr>
        <p:spPr>
          <a:xfrm>
            <a:off x="6721583" y="2842500"/>
            <a:ext cx="776100" cy="0"/>
          </a:xfrm>
          <a:prstGeom prst="straightConnector1">
            <a:avLst/>
          </a:prstGeom>
          <a:noFill/>
          <a:ln w="38100" cap="flat" cmpd="sng">
            <a:solidFill>
              <a:srgbClr val="FF00FF"/>
            </a:solidFill>
            <a:prstDash val="solid"/>
            <a:round/>
            <a:headEnd type="none" w="med" len="med"/>
            <a:tailEnd type="triangle" w="med" len="med"/>
          </a:ln>
        </p:spPr>
      </p:cxnSp>
      <p:sp>
        <p:nvSpPr>
          <p:cNvPr id="1377" name="Google Shape;1377;p58"/>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378" name="Google Shape;1378;p58"/>
          <p:cNvCxnSpPr>
            <a:stCxn id="1367" idx="2"/>
            <a:endCxn id="1361"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379" name="Google Shape;1379;p58"/>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80" name="Google Shape;1380;p58"/>
          <p:cNvCxnSpPr>
            <a:stCxn id="1362" idx="0"/>
            <a:endCxn id="1364"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381" name="Google Shape;1381;p58"/>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382" name="Google Shape;1382;p58"/>
          <p:cNvCxnSpPr>
            <a:stCxn id="1363" idx="2"/>
            <a:endCxn id="1365" idx="2"/>
          </p:cNvCxnSpPr>
          <p:nvPr/>
        </p:nvCxnSpPr>
        <p:spPr>
          <a:xfrm rot="-5400000" flipH="1">
            <a:off x="7691033" y="1831650"/>
            <a:ext cx="600" cy="2326800"/>
          </a:xfrm>
          <a:prstGeom prst="curvedConnector3">
            <a:avLst>
              <a:gd name="adj1" fmla="val 39687500"/>
            </a:avLst>
          </a:prstGeom>
          <a:noFill/>
          <a:ln w="38100" cap="flat" cmpd="sng">
            <a:solidFill>
              <a:srgbClr val="FF43F0"/>
            </a:solidFill>
            <a:prstDash val="solid"/>
            <a:round/>
            <a:headEnd type="none" w="med" len="med"/>
            <a:tailEnd type="triangle" w="med" len="med"/>
          </a:ln>
        </p:spPr>
      </p:cxnSp>
      <p:sp>
        <p:nvSpPr>
          <p:cNvPr id="1383" name="Google Shape;1383;p58"/>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384" name="Google Shape;1384;p58"/>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385" name="Google Shape;1385;p58"/>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386" name="Google Shape;1386;p58"/>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387" name="Google Shape;1387;p58"/>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388" name="Google Shape;1388;p58"/>
          <p:cNvSpPr txBox="1"/>
          <p:nvPr/>
        </p:nvSpPr>
        <p:spPr>
          <a:xfrm>
            <a:off x="6362759" y="232643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7</a:t>
            </a:r>
            <a:endParaRPr sz="1800">
              <a:solidFill>
                <a:srgbClr val="FF43F0"/>
              </a:solidFill>
            </a:endParaRPr>
          </a:p>
        </p:txBody>
      </p:sp>
      <p:sp>
        <p:nvSpPr>
          <p:cNvPr id="1389" name="Google Shape;1389;p58"/>
          <p:cNvSpPr txBox="1"/>
          <p:nvPr/>
        </p:nvSpPr>
        <p:spPr>
          <a:xfrm>
            <a:off x="7746156" y="234364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2</a:t>
            </a:r>
            <a:endParaRPr sz="1800">
              <a:solidFill>
                <a:srgbClr val="FF43F0"/>
              </a:solidFill>
            </a:endParaRPr>
          </a:p>
        </p:txBody>
      </p:sp>
      <p:sp>
        <p:nvSpPr>
          <p:cNvPr id="1390" name="Google Shape;1390;p58"/>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C</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E, F]</a:t>
            </a:r>
            <a:endParaRPr sz="1600">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5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396" name="Google Shape;1396;p5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397" name="Google Shape;1397;p59"/>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7      B</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-13      C</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398" name="Google Shape;1398;p59"/>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399" name="Google Shape;1399;p59"/>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400" name="Google Shape;1400;p59"/>
          <p:cNvSpPr/>
          <p:nvPr/>
        </p:nvSpPr>
        <p:spPr>
          <a:xfrm>
            <a:off x="6334283"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401" name="Google Shape;1401;p59"/>
          <p:cNvSpPr/>
          <p:nvPr/>
        </p:nvSpPr>
        <p:spPr>
          <a:xfrm>
            <a:off x="7497732"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402" name="Google Shape;1402;p59"/>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403" name="Google Shape;1403;p59"/>
          <p:cNvCxnSpPr>
            <a:stCxn id="1398" idx="1"/>
            <a:endCxn id="1399"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404" name="Google Shape;1404;p59"/>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405" name="Google Shape;1405;p59"/>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406" name="Google Shape;1406;p59"/>
          <p:cNvCxnSpPr>
            <a:stCxn id="1404" idx="3"/>
            <a:endCxn id="1399"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407" name="Google Shape;1407;p59"/>
          <p:cNvCxnSpPr>
            <a:stCxn id="1401" idx="3"/>
            <a:endCxn id="1402" idx="1"/>
          </p:cNvCxnSpPr>
          <p:nvPr/>
        </p:nvCxnSpPr>
        <p:spPr>
          <a:xfrm>
            <a:off x="7885032"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408" name="Google Shape;1408;p59"/>
          <p:cNvCxnSpPr>
            <a:stCxn id="1398" idx="3"/>
            <a:endCxn id="1400"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409" name="Google Shape;1409;p59"/>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10" name="Google Shape;1410;p59"/>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11" name="Google Shape;1411;p59"/>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412" name="Google Shape;1412;p59"/>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13" name="Google Shape;1413;p59"/>
          <p:cNvCxnSpPr>
            <a:stCxn id="1400" idx="3"/>
            <a:endCxn id="1401" idx="1"/>
          </p:cNvCxnSpPr>
          <p:nvPr/>
        </p:nvCxnSpPr>
        <p:spPr>
          <a:xfrm>
            <a:off x="6721583" y="2842500"/>
            <a:ext cx="776100" cy="0"/>
          </a:xfrm>
          <a:prstGeom prst="straightConnector1">
            <a:avLst/>
          </a:prstGeom>
          <a:noFill/>
          <a:ln w="38100" cap="flat" cmpd="sng">
            <a:solidFill>
              <a:srgbClr val="FF00FF"/>
            </a:solidFill>
            <a:prstDash val="solid"/>
            <a:round/>
            <a:headEnd type="none" w="med" len="med"/>
            <a:tailEnd type="triangle" w="med" len="med"/>
          </a:ln>
        </p:spPr>
      </p:cxnSp>
      <p:sp>
        <p:nvSpPr>
          <p:cNvPr id="1414" name="Google Shape;1414;p59"/>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415" name="Google Shape;1415;p59"/>
          <p:cNvCxnSpPr>
            <a:stCxn id="1404" idx="2"/>
            <a:endCxn id="1398"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416" name="Google Shape;1416;p59"/>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17" name="Google Shape;1417;p59"/>
          <p:cNvCxnSpPr>
            <a:stCxn id="1399" idx="0"/>
            <a:endCxn id="1401"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418" name="Google Shape;1418;p59"/>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19" name="Google Shape;1419;p59"/>
          <p:cNvCxnSpPr>
            <a:stCxn id="1400" idx="2"/>
            <a:endCxn id="1402" idx="2"/>
          </p:cNvCxnSpPr>
          <p:nvPr/>
        </p:nvCxnSpPr>
        <p:spPr>
          <a:xfrm rot="-5400000" flipH="1">
            <a:off x="7691033" y="1831650"/>
            <a:ext cx="600" cy="2326800"/>
          </a:xfrm>
          <a:prstGeom prst="curvedConnector3">
            <a:avLst>
              <a:gd name="adj1" fmla="val 39687500"/>
            </a:avLst>
          </a:prstGeom>
          <a:noFill/>
          <a:ln w="38100" cap="flat" cmpd="sng">
            <a:solidFill>
              <a:srgbClr val="FF43F0"/>
            </a:solidFill>
            <a:prstDash val="solid"/>
            <a:round/>
            <a:headEnd type="none" w="med" len="med"/>
            <a:tailEnd type="triangle" w="med" len="med"/>
          </a:ln>
        </p:spPr>
      </p:cxnSp>
      <p:sp>
        <p:nvSpPr>
          <p:cNvPr id="1420" name="Google Shape;1420;p59"/>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21" name="Google Shape;1421;p59"/>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422" name="Google Shape;1422;p59"/>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423" name="Google Shape;1423;p59"/>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424" name="Google Shape;1424;p59"/>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425" name="Google Shape;1425;p59"/>
          <p:cNvSpPr txBox="1"/>
          <p:nvPr/>
        </p:nvSpPr>
        <p:spPr>
          <a:xfrm>
            <a:off x="6362759" y="232643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7</a:t>
            </a:r>
            <a:endParaRPr sz="1800">
              <a:solidFill>
                <a:srgbClr val="FF43F0"/>
              </a:solidFill>
            </a:endParaRPr>
          </a:p>
        </p:txBody>
      </p:sp>
      <p:sp>
        <p:nvSpPr>
          <p:cNvPr id="1426" name="Google Shape;1426;p59"/>
          <p:cNvSpPr txBox="1"/>
          <p:nvPr/>
        </p:nvSpPr>
        <p:spPr>
          <a:xfrm>
            <a:off x="7746156" y="2343645"/>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2</a:t>
            </a:r>
            <a:endParaRPr sz="1800">
              <a:solidFill>
                <a:srgbClr val="FF43F0"/>
              </a:solidFill>
            </a:endParaRPr>
          </a:p>
        </p:txBody>
      </p:sp>
      <p:cxnSp>
        <p:nvCxnSpPr>
          <p:cNvPr id="1427" name="Google Shape;1427;p59"/>
          <p:cNvCxnSpPr/>
          <p:nvPr/>
        </p:nvCxnSpPr>
        <p:spPr>
          <a:xfrm>
            <a:off x="7804428" y="2430256"/>
            <a:ext cx="188400" cy="158700"/>
          </a:xfrm>
          <a:prstGeom prst="straightConnector1">
            <a:avLst/>
          </a:prstGeom>
          <a:noFill/>
          <a:ln w="19050" cap="flat" cmpd="sng">
            <a:solidFill>
              <a:schemeClr val="dk2"/>
            </a:solidFill>
            <a:prstDash val="solid"/>
            <a:round/>
            <a:headEnd type="none" w="med" len="med"/>
            <a:tailEnd type="none" w="med" len="med"/>
          </a:ln>
        </p:spPr>
      </p:cxnSp>
      <p:sp>
        <p:nvSpPr>
          <p:cNvPr id="1428" name="Google Shape;1428;p59"/>
          <p:cNvSpPr txBox="1"/>
          <p:nvPr/>
        </p:nvSpPr>
        <p:spPr>
          <a:xfrm>
            <a:off x="7857279" y="2007396"/>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-13</a:t>
            </a:r>
            <a:endParaRPr sz="1800">
              <a:solidFill>
                <a:srgbClr val="FF43F0"/>
              </a:solidFill>
            </a:endParaRPr>
          </a:p>
        </p:txBody>
      </p:sp>
      <p:sp>
        <p:nvSpPr>
          <p:cNvPr id="1429" name="Google Shape;1429;p59"/>
          <p:cNvSpPr/>
          <p:nvPr/>
        </p:nvSpPr>
        <p:spPr>
          <a:xfrm>
            <a:off x="782925" y="3186600"/>
            <a:ext cx="4731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9"/>
          <p:cNvSpPr/>
          <p:nvPr/>
        </p:nvSpPr>
        <p:spPr>
          <a:xfrm>
            <a:off x="1759264" y="3186602"/>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1" name="Google Shape;1431;p59"/>
          <p:cNvCxnSpPr/>
          <p:nvPr/>
        </p:nvCxnSpPr>
        <p:spPr>
          <a:xfrm>
            <a:off x="8771398" y="2438133"/>
            <a:ext cx="188400" cy="158700"/>
          </a:xfrm>
          <a:prstGeom prst="straightConnector1">
            <a:avLst/>
          </a:prstGeom>
          <a:noFill/>
          <a:ln w="19050" cap="flat" cmpd="sng">
            <a:solidFill>
              <a:schemeClr val="dk2"/>
            </a:solidFill>
            <a:prstDash val="solid"/>
            <a:round/>
            <a:headEnd type="none" w="med" len="med"/>
            <a:tailEnd type="none" w="med" len="med"/>
          </a:ln>
        </p:spPr>
      </p:cxnSp>
      <p:sp>
        <p:nvSpPr>
          <p:cNvPr id="1432" name="Google Shape;1432;p59"/>
          <p:cNvSpPr txBox="1"/>
          <p:nvPr/>
        </p:nvSpPr>
        <p:spPr>
          <a:xfrm>
            <a:off x="8695479" y="2007396"/>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8</a:t>
            </a:r>
            <a:endParaRPr sz="1800">
              <a:solidFill>
                <a:srgbClr val="FF43F0"/>
              </a:solidFill>
            </a:endParaRPr>
          </a:p>
        </p:txBody>
      </p:sp>
      <p:sp>
        <p:nvSpPr>
          <p:cNvPr id="1433" name="Google Shape;1433;p59"/>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C</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E, F]</a:t>
            </a:r>
            <a:endParaRPr sz="1600">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7"/>
        <p:cNvGrpSpPr/>
        <p:nvPr/>
      </p:nvGrpSpPr>
      <p:grpSpPr>
        <a:xfrm>
          <a:off x="0" y="0"/>
          <a:ext cx="0" cy="0"/>
          <a:chOff x="0" y="0"/>
          <a:chExt cx="0" cy="0"/>
        </a:xfrm>
      </p:grpSpPr>
      <p:sp>
        <p:nvSpPr>
          <p:cNvPr id="1438" name="Google Shape;1438;p6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439" name="Google Shape;1439;p6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440" name="Google Shape;1440;p60"/>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7      B</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-13      C</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      -</a:t>
            </a:r>
            <a:endParaRPr sz="1600">
              <a:latin typeface="Consolas"/>
              <a:ea typeface="Consolas"/>
              <a:cs typeface="Consolas"/>
              <a:sym typeface="Consolas"/>
            </a:endParaRPr>
          </a:p>
        </p:txBody>
      </p:sp>
      <p:sp>
        <p:nvSpPr>
          <p:cNvPr id="1441" name="Google Shape;1441;p60"/>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442" name="Google Shape;1442;p60"/>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443" name="Google Shape;1443;p60"/>
          <p:cNvSpPr/>
          <p:nvPr/>
        </p:nvSpPr>
        <p:spPr>
          <a:xfrm>
            <a:off x="6334283"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444" name="Google Shape;1444;p60"/>
          <p:cNvSpPr/>
          <p:nvPr/>
        </p:nvSpPr>
        <p:spPr>
          <a:xfrm>
            <a:off x="7497732"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445" name="Google Shape;1445;p60"/>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446" name="Google Shape;1446;p60"/>
          <p:cNvCxnSpPr>
            <a:stCxn id="1441" idx="1"/>
            <a:endCxn id="1442"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447" name="Google Shape;1447;p60"/>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448" name="Google Shape;1448;p60"/>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449" name="Google Shape;1449;p60"/>
          <p:cNvCxnSpPr>
            <a:stCxn id="1447" idx="3"/>
            <a:endCxn id="1442"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450" name="Google Shape;1450;p60"/>
          <p:cNvCxnSpPr>
            <a:stCxn id="1444" idx="3"/>
            <a:endCxn id="1445" idx="1"/>
          </p:cNvCxnSpPr>
          <p:nvPr/>
        </p:nvCxnSpPr>
        <p:spPr>
          <a:xfrm>
            <a:off x="7885032" y="2842500"/>
            <a:ext cx="776100" cy="0"/>
          </a:xfrm>
          <a:prstGeom prst="straightConnector1">
            <a:avLst/>
          </a:prstGeom>
          <a:noFill/>
          <a:ln w="38100" cap="flat" cmpd="sng">
            <a:solidFill>
              <a:srgbClr val="FF43F0"/>
            </a:solidFill>
            <a:prstDash val="solid"/>
            <a:round/>
            <a:headEnd type="none" w="med" len="med"/>
            <a:tailEnd type="triangle" w="med" len="med"/>
          </a:ln>
        </p:spPr>
      </p:cxnSp>
      <p:cxnSp>
        <p:nvCxnSpPr>
          <p:cNvPr id="1451" name="Google Shape;1451;p60"/>
          <p:cNvCxnSpPr>
            <a:stCxn id="1441" idx="3"/>
            <a:endCxn id="1443"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452" name="Google Shape;1452;p60"/>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53" name="Google Shape;1453;p60"/>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54" name="Google Shape;1454;p60"/>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455" name="Google Shape;1455;p60"/>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56" name="Google Shape;1456;p60"/>
          <p:cNvCxnSpPr>
            <a:stCxn id="1443" idx="3"/>
            <a:endCxn id="1444"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457" name="Google Shape;1457;p60"/>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458" name="Google Shape;1458;p60"/>
          <p:cNvCxnSpPr>
            <a:stCxn id="1447" idx="2"/>
            <a:endCxn id="1441"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459" name="Google Shape;1459;p60"/>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60" name="Google Shape;1460;p60"/>
          <p:cNvCxnSpPr>
            <a:stCxn id="1442" idx="0"/>
            <a:endCxn id="1444"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461" name="Google Shape;1461;p60"/>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62" name="Google Shape;1462;p60"/>
          <p:cNvCxnSpPr>
            <a:stCxn id="1443" idx="2"/>
            <a:endCxn id="1445"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463" name="Google Shape;1463;p60"/>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64" name="Google Shape;1464;p60"/>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465" name="Google Shape;1465;p60"/>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466" name="Google Shape;1466;p60"/>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467" name="Google Shape;1467;p60"/>
          <p:cNvSpPr txBox="1"/>
          <p:nvPr/>
        </p:nvSpPr>
        <p:spPr>
          <a:xfrm>
            <a:off x="6362759" y="232643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7</a:t>
            </a:r>
            <a:endParaRPr sz="1800">
              <a:solidFill>
                <a:srgbClr val="FF43F0"/>
              </a:solidFill>
            </a:endParaRPr>
          </a:p>
        </p:txBody>
      </p:sp>
      <p:sp>
        <p:nvSpPr>
          <p:cNvPr id="1468" name="Google Shape;1468;p60"/>
          <p:cNvSpPr txBox="1"/>
          <p:nvPr/>
        </p:nvSpPr>
        <p:spPr>
          <a:xfrm>
            <a:off x="7653455" y="2333889"/>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-13</a:t>
            </a:r>
            <a:endParaRPr sz="1800">
              <a:solidFill>
                <a:srgbClr val="FF43F0"/>
              </a:solidFill>
            </a:endParaRPr>
          </a:p>
        </p:txBody>
      </p:sp>
      <p:sp>
        <p:nvSpPr>
          <p:cNvPr id="1469" name="Google Shape;1469;p60"/>
          <p:cNvSpPr txBox="1"/>
          <p:nvPr/>
        </p:nvSpPr>
        <p:spPr>
          <a:xfrm>
            <a:off x="8771679" y="2312196"/>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8</a:t>
            </a:r>
            <a:endParaRPr sz="1800">
              <a:solidFill>
                <a:srgbClr val="FF43F0"/>
              </a:solidFill>
            </a:endParaRPr>
          </a:p>
        </p:txBody>
      </p:sp>
      <p:sp>
        <p:nvSpPr>
          <p:cNvPr id="1470" name="Google Shape;1470;p60"/>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C</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E</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F]</a:t>
            </a:r>
            <a:endParaRPr sz="1600">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74"/>
        <p:cNvGrpSpPr/>
        <p:nvPr/>
      </p:nvGrpSpPr>
      <p:grpSpPr>
        <a:xfrm>
          <a:off x="0" y="0"/>
          <a:ext cx="0" cy="0"/>
          <a:chOff x="0" y="0"/>
          <a:chExt cx="0" cy="0"/>
        </a:xfrm>
      </p:grpSpPr>
      <p:sp>
        <p:nvSpPr>
          <p:cNvPr id="1475" name="Google Shape;1475;p6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476" name="Google Shape;1476;p6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477" name="Google Shape;1477;p61"/>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7      B</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-13      C</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-12      E</a:t>
            </a:r>
            <a:endParaRPr sz="1600">
              <a:latin typeface="Consolas"/>
              <a:ea typeface="Consolas"/>
              <a:cs typeface="Consolas"/>
              <a:sym typeface="Consolas"/>
            </a:endParaRPr>
          </a:p>
        </p:txBody>
      </p:sp>
      <p:sp>
        <p:nvSpPr>
          <p:cNvPr id="1478" name="Google Shape;1478;p61"/>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479" name="Google Shape;1479;p61"/>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480" name="Google Shape;1480;p61"/>
          <p:cNvSpPr/>
          <p:nvPr/>
        </p:nvSpPr>
        <p:spPr>
          <a:xfrm>
            <a:off x="6334283"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481" name="Google Shape;1481;p61"/>
          <p:cNvSpPr/>
          <p:nvPr/>
        </p:nvSpPr>
        <p:spPr>
          <a:xfrm>
            <a:off x="7497732"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482" name="Google Shape;1482;p61"/>
          <p:cNvSpPr/>
          <p:nvPr/>
        </p:nvSpPr>
        <p:spPr>
          <a:xfrm>
            <a:off x="8661180" y="269025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483" name="Google Shape;1483;p61"/>
          <p:cNvCxnSpPr>
            <a:stCxn id="1478" idx="1"/>
            <a:endCxn id="1479"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484" name="Google Shape;1484;p61"/>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485" name="Google Shape;1485;p61"/>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486" name="Google Shape;1486;p61"/>
          <p:cNvCxnSpPr>
            <a:stCxn id="1484" idx="3"/>
            <a:endCxn id="1479"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487" name="Google Shape;1487;p61"/>
          <p:cNvCxnSpPr>
            <a:stCxn id="1481" idx="3"/>
            <a:endCxn id="1482" idx="1"/>
          </p:cNvCxnSpPr>
          <p:nvPr/>
        </p:nvCxnSpPr>
        <p:spPr>
          <a:xfrm>
            <a:off x="7885032" y="2842500"/>
            <a:ext cx="776100" cy="0"/>
          </a:xfrm>
          <a:prstGeom prst="straightConnector1">
            <a:avLst/>
          </a:prstGeom>
          <a:noFill/>
          <a:ln w="38100" cap="flat" cmpd="sng">
            <a:solidFill>
              <a:srgbClr val="FF43F0"/>
            </a:solidFill>
            <a:prstDash val="solid"/>
            <a:round/>
            <a:headEnd type="none" w="med" len="med"/>
            <a:tailEnd type="triangle" w="med" len="med"/>
          </a:ln>
        </p:spPr>
      </p:cxnSp>
      <p:cxnSp>
        <p:nvCxnSpPr>
          <p:cNvPr id="1488" name="Google Shape;1488;p61"/>
          <p:cNvCxnSpPr>
            <a:stCxn id="1478" idx="3"/>
            <a:endCxn id="1480"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489" name="Google Shape;1489;p61"/>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90" name="Google Shape;1490;p61"/>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491" name="Google Shape;1491;p61"/>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492" name="Google Shape;1492;p61"/>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93" name="Google Shape;1493;p61"/>
          <p:cNvCxnSpPr>
            <a:stCxn id="1480" idx="3"/>
            <a:endCxn id="1481"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494" name="Google Shape;1494;p61"/>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495" name="Google Shape;1495;p61"/>
          <p:cNvCxnSpPr>
            <a:stCxn id="1484" idx="2"/>
            <a:endCxn id="1478"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496" name="Google Shape;1496;p61"/>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97" name="Google Shape;1497;p61"/>
          <p:cNvCxnSpPr>
            <a:stCxn id="1479" idx="0"/>
            <a:endCxn id="1481"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498" name="Google Shape;1498;p61"/>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499" name="Google Shape;1499;p61"/>
          <p:cNvCxnSpPr>
            <a:stCxn id="1480" idx="2"/>
            <a:endCxn id="1482"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500" name="Google Shape;1500;p61"/>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501" name="Google Shape;1501;p61"/>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502" name="Google Shape;1502;p61"/>
          <p:cNvSpPr txBox="1"/>
          <p:nvPr/>
        </p:nvSpPr>
        <p:spPr>
          <a:xfrm>
            <a:off x="8685988" y="2284899"/>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43F0"/>
                </a:solidFill>
              </a:rPr>
              <a:t>∞</a:t>
            </a:r>
            <a:endParaRPr sz="1800" b="1">
              <a:solidFill>
                <a:srgbClr val="FF43F0"/>
              </a:solidFill>
            </a:endParaRPr>
          </a:p>
        </p:txBody>
      </p:sp>
      <p:sp>
        <p:nvSpPr>
          <p:cNvPr id="1503" name="Google Shape;1503;p61"/>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504" name="Google Shape;1504;p61"/>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505" name="Google Shape;1505;p61"/>
          <p:cNvSpPr txBox="1"/>
          <p:nvPr/>
        </p:nvSpPr>
        <p:spPr>
          <a:xfrm>
            <a:off x="6362759" y="232643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7</a:t>
            </a:r>
            <a:endParaRPr sz="1800">
              <a:solidFill>
                <a:srgbClr val="FF43F0"/>
              </a:solidFill>
            </a:endParaRPr>
          </a:p>
        </p:txBody>
      </p:sp>
      <p:sp>
        <p:nvSpPr>
          <p:cNvPr id="1506" name="Google Shape;1506;p61"/>
          <p:cNvSpPr txBox="1"/>
          <p:nvPr/>
        </p:nvSpPr>
        <p:spPr>
          <a:xfrm>
            <a:off x="7653455" y="2333889"/>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-13</a:t>
            </a:r>
            <a:endParaRPr sz="1800">
              <a:solidFill>
                <a:srgbClr val="FF43F0"/>
              </a:solidFill>
            </a:endParaRPr>
          </a:p>
        </p:txBody>
      </p:sp>
      <p:cxnSp>
        <p:nvCxnSpPr>
          <p:cNvPr id="1507" name="Google Shape;1507;p61"/>
          <p:cNvCxnSpPr/>
          <p:nvPr/>
        </p:nvCxnSpPr>
        <p:spPr>
          <a:xfrm>
            <a:off x="8743604" y="2430256"/>
            <a:ext cx="188400" cy="158700"/>
          </a:xfrm>
          <a:prstGeom prst="straightConnector1">
            <a:avLst/>
          </a:prstGeom>
          <a:noFill/>
          <a:ln w="19050" cap="flat" cmpd="sng">
            <a:solidFill>
              <a:schemeClr val="dk2"/>
            </a:solidFill>
            <a:prstDash val="solid"/>
            <a:round/>
            <a:headEnd type="none" w="med" len="med"/>
            <a:tailEnd type="none" w="med" len="med"/>
          </a:ln>
        </p:spPr>
      </p:cxnSp>
      <p:sp>
        <p:nvSpPr>
          <p:cNvPr id="1508" name="Google Shape;1508;p61"/>
          <p:cNvSpPr txBox="1"/>
          <p:nvPr/>
        </p:nvSpPr>
        <p:spPr>
          <a:xfrm>
            <a:off x="8504530" y="2040323"/>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-12</a:t>
            </a:r>
            <a:endParaRPr sz="1800">
              <a:solidFill>
                <a:srgbClr val="FF43F0"/>
              </a:solidFill>
            </a:endParaRPr>
          </a:p>
        </p:txBody>
      </p:sp>
      <p:sp>
        <p:nvSpPr>
          <p:cNvPr id="1509" name="Google Shape;1509;p61"/>
          <p:cNvSpPr/>
          <p:nvPr/>
        </p:nvSpPr>
        <p:spPr>
          <a:xfrm>
            <a:off x="782925" y="3430066"/>
            <a:ext cx="4731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61"/>
          <p:cNvSpPr/>
          <p:nvPr/>
        </p:nvSpPr>
        <p:spPr>
          <a:xfrm>
            <a:off x="1759264" y="3430068"/>
            <a:ext cx="277500" cy="280800"/>
          </a:xfrm>
          <a:prstGeom prst="ellipse">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61"/>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C</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E</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F]</a:t>
            </a:r>
            <a:endParaRPr sz="1600">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Google Shape;1516;p6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SPT Algorithm</a:t>
            </a:r>
            <a:endParaRPr/>
          </a:p>
        </p:txBody>
      </p:sp>
      <p:sp>
        <p:nvSpPr>
          <p:cNvPr id="1517" name="Google Shape;1517;p6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Visit vertices in topological order.</a:t>
            </a:r>
            <a:endParaRPr/>
          </a:p>
          <a:p>
            <a:pPr marL="457200" lvl="0" indent="-342900" algn="l" rtl="0">
              <a:spcBef>
                <a:spcPts val="600"/>
              </a:spcBef>
              <a:spcAft>
                <a:spcPts val="0"/>
              </a:spcAft>
              <a:buSzPts val="1800"/>
              <a:buChar char="●"/>
            </a:pPr>
            <a:r>
              <a:rPr lang="en"/>
              <a:t>When we visit a vertex: relax all of its going edges.</a:t>
            </a:r>
            <a:endParaRPr/>
          </a:p>
        </p:txBody>
      </p:sp>
      <p:sp>
        <p:nvSpPr>
          <p:cNvPr id="1518" name="Google Shape;1518;p62"/>
          <p:cNvSpPr txBox="1"/>
          <p:nvPr/>
        </p:nvSpPr>
        <p:spPr>
          <a:xfrm>
            <a:off x="176300" y="1864750"/>
            <a:ext cx="2376000" cy="21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    distTo  edgeTo</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A      0      -</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B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C      7      B</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D      1      A</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E    -13      C</a:t>
            </a:r>
            <a:endParaRPr sz="1600">
              <a:latin typeface="Consolas"/>
              <a:ea typeface="Consolas"/>
              <a:cs typeface="Consolas"/>
              <a:sym typeface="Consolas"/>
            </a:endParaRPr>
          </a:p>
          <a:p>
            <a:pPr marL="0" lvl="0" indent="0" algn="l" rtl="0">
              <a:spcBef>
                <a:spcPts val="0"/>
              </a:spcBef>
              <a:spcAft>
                <a:spcPts val="0"/>
              </a:spcAft>
              <a:buNone/>
            </a:pPr>
            <a:r>
              <a:rPr lang="en" sz="1600">
                <a:latin typeface="Consolas"/>
                <a:ea typeface="Consolas"/>
                <a:cs typeface="Consolas"/>
                <a:sym typeface="Consolas"/>
              </a:rPr>
              <a:t>F    -12      E</a:t>
            </a:r>
            <a:endParaRPr sz="1600">
              <a:latin typeface="Consolas"/>
              <a:ea typeface="Consolas"/>
              <a:cs typeface="Consolas"/>
              <a:sym typeface="Consolas"/>
            </a:endParaRPr>
          </a:p>
        </p:txBody>
      </p:sp>
      <p:sp>
        <p:nvSpPr>
          <p:cNvPr id="1519" name="Google Shape;1519;p62"/>
          <p:cNvSpPr/>
          <p:nvPr/>
        </p:nvSpPr>
        <p:spPr>
          <a:xfrm>
            <a:off x="5170835"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B</a:t>
            </a:r>
            <a:endParaRPr sz="1700"/>
          </a:p>
        </p:txBody>
      </p:sp>
      <p:sp>
        <p:nvSpPr>
          <p:cNvPr id="1520" name="Google Shape;1520;p62"/>
          <p:cNvSpPr/>
          <p:nvPr/>
        </p:nvSpPr>
        <p:spPr>
          <a:xfrm>
            <a:off x="4007386"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D</a:t>
            </a:r>
            <a:endParaRPr sz="1700"/>
          </a:p>
        </p:txBody>
      </p:sp>
      <p:sp>
        <p:nvSpPr>
          <p:cNvPr id="1521" name="Google Shape;1521;p62"/>
          <p:cNvSpPr/>
          <p:nvPr/>
        </p:nvSpPr>
        <p:spPr>
          <a:xfrm>
            <a:off x="6334283"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C</a:t>
            </a:r>
            <a:endParaRPr sz="1700"/>
          </a:p>
        </p:txBody>
      </p:sp>
      <p:sp>
        <p:nvSpPr>
          <p:cNvPr id="1522" name="Google Shape;1522;p62"/>
          <p:cNvSpPr/>
          <p:nvPr/>
        </p:nvSpPr>
        <p:spPr>
          <a:xfrm>
            <a:off x="7497732"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E</a:t>
            </a:r>
            <a:endParaRPr sz="1700"/>
          </a:p>
        </p:txBody>
      </p:sp>
      <p:sp>
        <p:nvSpPr>
          <p:cNvPr id="1523" name="Google Shape;1523;p62"/>
          <p:cNvSpPr/>
          <p:nvPr/>
        </p:nvSpPr>
        <p:spPr>
          <a:xfrm>
            <a:off x="8661180"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F</a:t>
            </a:r>
            <a:endParaRPr sz="1700"/>
          </a:p>
        </p:txBody>
      </p:sp>
      <p:cxnSp>
        <p:nvCxnSpPr>
          <p:cNvPr id="1524" name="Google Shape;1524;p62"/>
          <p:cNvCxnSpPr>
            <a:stCxn id="1519" idx="1"/>
            <a:endCxn id="1520" idx="3"/>
          </p:cNvCxnSpPr>
          <p:nvPr/>
        </p:nvCxnSpPr>
        <p:spPr>
          <a:xfrm rot="10800000">
            <a:off x="4394735" y="2842500"/>
            <a:ext cx="776100" cy="0"/>
          </a:xfrm>
          <a:prstGeom prst="straightConnector1">
            <a:avLst/>
          </a:prstGeom>
          <a:noFill/>
          <a:ln w="19050" cap="flat" cmpd="sng">
            <a:solidFill>
              <a:srgbClr val="666666"/>
            </a:solidFill>
            <a:prstDash val="solid"/>
            <a:round/>
            <a:headEnd type="triangle" w="med" len="med"/>
            <a:tailEnd type="none" w="med" len="med"/>
          </a:ln>
        </p:spPr>
      </p:cxnSp>
      <p:sp>
        <p:nvSpPr>
          <p:cNvPr id="1525" name="Google Shape;1525;p62"/>
          <p:cNvSpPr/>
          <p:nvPr/>
        </p:nvSpPr>
        <p:spPr>
          <a:xfrm>
            <a:off x="2843938" y="2690250"/>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t>A</a:t>
            </a:r>
            <a:endParaRPr sz="1700"/>
          </a:p>
        </p:txBody>
      </p:sp>
      <p:sp>
        <p:nvSpPr>
          <p:cNvPr id="1526" name="Google Shape;1526;p62"/>
          <p:cNvSpPr txBox="1"/>
          <p:nvPr/>
        </p:nvSpPr>
        <p:spPr>
          <a:xfrm>
            <a:off x="2496308" y="2605907"/>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a:t>
            </a:r>
            <a:endParaRPr/>
          </a:p>
        </p:txBody>
      </p:sp>
      <p:cxnSp>
        <p:nvCxnSpPr>
          <p:cNvPr id="1527" name="Google Shape;1527;p62"/>
          <p:cNvCxnSpPr>
            <a:stCxn id="1525" idx="3"/>
            <a:endCxn id="1520" idx="1"/>
          </p:cNvCxnSpPr>
          <p:nvPr/>
        </p:nvCxnSpPr>
        <p:spPr>
          <a:xfrm>
            <a:off x="3231238" y="2842500"/>
            <a:ext cx="776100" cy="0"/>
          </a:xfrm>
          <a:prstGeom prst="straightConnector1">
            <a:avLst/>
          </a:prstGeom>
          <a:noFill/>
          <a:ln w="19050" cap="flat" cmpd="sng">
            <a:solidFill>
              <a:srgbClr val="666666"/>
            </a:solidFill>
            <a:prstDash val="solid"/>
            <a:round/>
            <a:headEnd type="none" w="med" len="med"/>
            <a:tailEnd type="triangle" w="med" len="med"/>
          </a:ln>
        </p:spPr>
      </p:cxnSp>
      <p:cxnSp>
        <p:nvCxnSpPr>
          <p:cNvPr id="1528" name="Google Shape;1528;p62"/>
          <p:cNvCxnSpPr>
            <a:stCxn id="1522" idx="3"/>
            <a:endCxn id="1523" idx="1"/>
          </p:cNvCxnSpPr>
          <p:nvPr/>
        </p:nvCxnSpPr>
        <p:spPr>
          <a:xfrm>
            <a:off x="7885032" y="2842500"/>
            <a:ext cx="776100" cy="0"/>
          </a:xfrm>
          <a:prstGeom prst="straightConnector1">
            <a:avLst/>
          </a:prstGeom>
          <a:noFill/>
          <a:ln w="38100" cap="flat" cmpd="sng">
            <a:solidFill>
              <a:srgbClr val="FF43F0"/>
            </a:solidFill>
            <a:prstDash val="solid"/>
            <a:round/>
            <a:headEnd type="none" w="med" len="med"/>
            <a:tailEnd type="triangle" w="med" len="med"/>
          </a:ln>
        </p:spPr>
      </p:cxnSp>
      <p:cxnSp>
        <p:nvCxnSpPr>
          <p:cNvPr id="1529" name="Google Shape;1529;p62"/>
          <p:cNvCxnSpPr>
            <a:stCxn id="1519" idx="3"/>
            <a:endCxn id="1521" idx="1"/>
          </p:cNvCxnSpPr>
          <p:nvPr/>
        </p:nvCxnSpPr>
        <p:spPr>
          <a:xfrm>
            <a:off x="5558135"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530" name="Google Shape;1530;p62"/>
          <p:cNvSpPr/>
          <p:nvPr/>
        </p:nvSpPr>
        <p:spPr>
          <a:xfrm>
            <a:off x="4583646" y="27160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531" name="Google Shape;1531;p62"/>
          <p:cNvSpPr/>
          <p:nvPr/>
        </p:nvSpPr>
        <p:spPr>
          <a:xfrm>
            <a:off x="3441960" y="271605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532" name="Google Shape;1532;p62"/>
          <p:cNvSpPr/>
          <p:nvPr/>
        </p:nvSpPr>
        <p:spPr>
          <a:xfrm>
            <a:off x="5761598" y="2707330"/>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6</a:t>
            </a:r>
            <a:endParaRPr sz="1800"/>
          </a:p>
        </p:txBody>
      </p:sp>
      <p:sp>
        <p:nvSpPr>
          <p:cNvPr id="1533" name="Google Shape;1533;p62"/>
          <p:cNvSpPr/>
          <p:nvPr/>
        </p:nvSpPr>
        <p:spPr>
          <a:xfrm>
            <a:off x="8106653" y="2706838"/>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534" name="Google Shape;1534;p62"/>
          <p:cNvCxnSpPr>
            <a:stCxn id="1521" idx="3"/>
            <a:endCxn id="1522" idx="1"/>
          </p:cNvCxnSpPr>
          <p:nvPr/>
        </p:nvCxnSpPr>
        <p:spPr>
          <a:xfrm>
            <a:off x="6721583" y="2842500"/>
            <a:ext cx="776100" cy="0"/>
          </a:xfrm>
          <a:prstGeom prst="straightConnector1">
            <a:avLst/>
          </a:prstGeom>
          <a:noFill/>
          <a:ln w="19050" cap="flat" cmpd="sng">
            <a:solidFill>
              <a:srgbClr val="666666"/>
            </a:solidFill>
            <a:prstDash val="solid"/>
            <a:round/>
            <a:headEnd type="none" w="med" len="med"/>
            <a:tailEnd type="triangle" w="med" len="med"/>
          </a:ln>
        </p:spPr>
      </p:cxnSp>
      <p:sp>
        <p:nvSpPr>
          <p:cNvPr id="1535" name="Google Shape;1535;p62"/>
          <p:cNvSpPr/>
          <p:nvPr/>
        </p:nvSpPr>
        <p:spPr>
          <a:xfrm>
            <a:off x="6803500" y="2710400"/>
            <a:ext cx="5136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-20</a:t>
            </a:r>
            <a:endParaRPr sz="1800"/>
          </a:p>
        </p:txBody>
      </p:sp>
      <p:cxnSp>
        <p:nvCxnSpPr>
          <p:cNvPr id="1536" name="Google Shape;1536;p62"/>
          <p:cNvCxnSpPr>
            <a:stCxn id="1525" idx="2"/>
            <a:endCxn id="1519" idx="2"/>
          </p:cNvCxnSpPr>
          <p:nvPr/>
        </p:nvCxnSpPr>
        <p:spPr>
          <a:xfrm rot="-5400000" flipH="1">
            <a:off x="4200688"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537" name="Google Shape;1537;p62"/>
          <p:cNvSpPr/>
          <p:nvPr/>
        </p:nvSpPr>
        <p:spPr>
          <a:xfrm>
            <a:off x="4035678" y="3264377"/>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538" name="Google Shape;1538;p62"/>
          <p:cNvCxnSpPr>
            <a:stCxn id="1520" idx="0"/>
            <a:endCxn id="1522" idx="0"/>
          </p:cNvCxnSpPr>
          <p:nvPr/>
        </p:nvCxnSpPr>
        <p:spPr>
          <a:xfrm rot="-5400000" flipH="1">
            <a:off x="5945836" y="945450"/>
            <a:ext cx="600" cy="3490200"/>
          </a:xfrm>
          <a:prstGeom prst="curvedConnector3">
            <a:avLst>
              <a:gd name="adj1" fmla="val -98566732"/>
            </a:avLst>
          </a:prstGeom>
          <a:noFill/>
          <a:ln w="19050" cap="flat" cmpd="sng">
            <a:solidFill>
              <a:srgbClr val="666666"/>
            </a:solidFill>
            <a:prstDash val="solid"/>
            <a:round/>
            <a:headEnd type="none" w="med" len="med"/>
            <a:tailEnd type="triangle" w="med" len="med"/>
          </a:ln>
        </p:spPr>
      </p:cxnSp>
      <p:sp>
        <p:nvSpPr>
          <p:cNvPr id="1539" name="Google Shape;1539;p62"/>
          <p:cNvSpPr/>
          <p:nvPr/>
        </p:nvSpPr>
        <p:spPr>
          <a:xfrm>
            <a:off x="5793845" y="1976529"/>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cxnSp>
        <p:nvCxnSpPr>
          <p:cNvPr id="1540" name="Google Shape;1540;p62"/>
          <p:cNvCxnSpPr>
            <a:stCxn id="1521" idx="2"/>
            <a:endCxn id="1523" idx="2"/>
          </p:cNvCxnSpPr>
          <p:nvPr/>
        </p:nvCxnSpPr>
        <p:spPr>
          <a:xfrm rot="-5400000" flipH="1">
            <a:off x="7691033" y="1831650"/>
            <a:ext cx="600" cy="2326800"/>
          </a:xfrm>
          <a:prstGeom prst="curvedConnector3">
            <a:avLst>
              <a:gd name="adj1" fmla="val 39687500"/>
            </a:avLst>
          </a:prstGeom>
          <a:noFill/>
          <a:ln w="19050" cap="flat" cmpd="sng">
            <a:solidFill>
              <a:srgbClr val="666666"/>
            </a:solidFill>
            <a:prstDash val="solid"/>
            <a:round/>
            <a:headEnd type="none" w="med" len="med"/>
            <a:tailEnd type="triangle" w="med" len="med"/>
          </a:ln>
        </p:spPr>
      </p:cxnSp>
      <p:sp>
        <p:nvSpPr>
          <p:cNvPr id="1541" name="Google Shape;1541;p62"/>
          <p:cNvSpPr/>
          <p:nvPr/>
        </p:nvSpPr>
        <p:spPr>
          <a:xfrm>
            <a:off x="7523641" y="329028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1</a:t>
            </a:r>
            <a:endParaRPr sz="1800"/>
          </a:p>
        </p:txBody>
      </p:sp>
      <p:sp>
        <p:nvSpPr>
          <p:cNvPr id="1542" name="Google Shape;1542;p62"/>
          <p:cNvSpPr txBox="1"/>
          <p:nvPr/>
        </p:nvSpPr>
        <p:spPr>
          <a:xfrm>
            <a:off x="2880375" y="232075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600">
              <a:solidFill>
                <a:srgbClr val="FF43F0"/>
              </a:solidFill>
            </a:endParaRPr>
          </a:p>
        </p:txBody>
      </p:sp>
      <p:sp>
        <p:nvSpPr>
          <p:cNvPr id="1543" name="Google Shape;1543;p62"/>
          <p:cNvSpPr txBox="1"/>
          <p:nvPr/>
        </p:nvSpPr>
        <p:spPr>
          <a:xfrm>
            <a:off x="3921187" y="232982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544" name="Google Shape;1544;p62"/>
          <p:cNvSpPr txBox="1"/>
          <p:nvPr/>
        </p:nvSpPr>
        <p:spPr>
          <a:xfrm>
            <a:off x="5207101" y="2330161"/>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a:t>
            </a:r>
            <a:endParaRPr sz="1800">
              <a:solidFill>
                <a:srgbClr val="FF43F0"/>
              </a:solidFill>
            </a:endParaRPr>
          </a:p>
        </p:txBody>
      </p:sp>
      <p:sp>
        <p:nvSpPr>
          <p:cNvPr id="1545" name="Google Shape;1545;p62"/>
          <p:cNvSpPr txBox="1"/>
          <p:nvPr/>
        </p:nvSpPr>
        <p:spPr>
          <a:xfrm>
            <a:off x="6362759" y="2326430"/>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7</a:t>
            </a:r>
            <a:endParaRPr sz="1800">
              <a:solidFill>
                <a:srgbClr val="FF43F0"/>
              </a:solidFill>
            </a:endParaRPr>
          </a:p>
        </p:txBody>
      </p:sp>
      <p:sp>
        <p:nvSpPr>
          <p:cNvPr id="1546" name="Google Shape;1546;p62"/>
          <p:cNvSpPr txBox="1"/>
          <p:nvPr/>
        </p:nvSpPr>
        <p:spPr>
          <a:xfrm>
            <a:off x="7653455" y="2333889"/>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-13</a:t>
            </a:r>
            <a:endParaRPr sz="1800">
              <a:solidFill>
                <a:srgbClr val="FF43F0"/>
              </a:solidFill>
            </a:endParaRPr>
          </a:p>
        </p:txBody>
      </p:sp>
      <p:sp>
        <p:nvSpPr>
          <p:cNvPr id="1547" name="Google Shape;1547;p62"/>
          <p:cNvSpPr txBox="1"/>
          <p:nvPr/>
        </p:nvSpPr>
        <p:spPr>
          <a:xfrm>
            <a:off x="8504530" y="2333341"/>
            <a:ext cx="6111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-12</a:t>
            </a:r>
            <a:endParaRPr sz="1800">
              <a:solidFill>
                <a:srgbClr val="FF43F0"/>
              </a:solidFill>
            </a:endParaRPr>
          </a:p>
        </p:txBody>
      </p:sp>
      <p:sp>
        <p:nvSpPr>
          <p:cNvPr id="1548" name="Google Shape;1548;p62"/>
          <p:cNvSpPr txBox="1"/>
          <p:nvPr/>
        </p:nvSpPr>
        <p:spPr>
          <a:xfrm>
            <a:off x="1645500" y="4545600"/>
            <a:ext cx="6330000" cy="4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Fringe: [</a:t>
            </a:r>
            <a:r>
              <a:rPr lang="en" sz="1600" strike="sngStrike">
                <a:solidFill>
                  <a:srgbClr val="999999"/>
                </a:solidFill>
                <a:latin typeface="Consolas"/>
                <a:ea typeface="Consolas"/>
                <a:cs typeface="Consolas"/>
                <a:sym typeface="Consolas"/>
              </a:rPr>
              <a:t>A</a:t>
            </a:r>
            <a:r>
              <a:rPr lang="en" sz="1600">
                <a:solidFill>
                  <a:srgbClr val="999999"/>
                </a:solidFill>
                <a:latin typeface="Consolas"/>
                <a:ea typeface="Consolas"/>
                <a:cs typeface="Consolas"/>
                <a:sym typeface="Consolas"/>
              </a:rPr>
              <a:t>, </a:t>
            </a:r>
            <a:r>
              <a:rPr lang="en" sz="1600" strike="sngStrike">
                <a:solidFill>
                  <a:srgbClr val="999999"/>
                </a:solidFill>
                <a:latin typeface="Consolas"/>
                <a:ea typeface="Consolas"/>
                <a:cs typeface="Consolas"/>
                <a:sym typeface="Consolas"/>
              </a:rPr>
              <a:t>D</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B</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C</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E</a:t>
            </a:r>
            <a:r>
              <a:rPr lang="en" sz="1600">
                <a:solidFill>
                  <a:srgbClr val="999999"/>
                </a:solidFill>
                <a:latin typeface="Consolas"/>
                <a:ea typeface="Consolas"/>
                <a:cs typeface="Consolas"/>
                <a:sym typeface="Consolas"/>
              </a:rPr>
              <a:t>,</a:t>
            </a:r>
            <a:r>
              <a:rPr lang="en" sz="1600">
                <a:latin typeface="Consolas"/>
                <a:ea typeface="Consolas"/>
                <a:cs typeface="Consolas"/>
                <a:sym typeface="Consolas"/>
              </a:rPr>
              <a:t> </a:t>
            </a:r>
            <a:r>
              <a:rPr lang="en" sz="1600" strike="sngStrike">
                <a:solidFill>
                  <a:srgbClr val="999999"/>
                </a:solidFill>
                <a:latin typeface="Consolas"/>
                <a:ea typeface="Consolas"/>
                <a:cs typeface="Consolas"/>
                <a:sym typeface="Consolas"/>
              </a:rPr>
              <a:t>F</a:t>
            </a:r>
            <a:r>
              <a:rPr lang="en" sz="1600">
                <a:latin typeface="Consolas"/>
                <a:ea typeface="Consolas"/>
                <a:cs typeface="Consolas"/>
                <a:sym typeface="Consolas"/>
              </a:rPr>
              <a:t>]</a:t>
            </a:r>
            <a:endParaRPr sz="1600">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2"/>
        <p:cNvGrpSpPr/>
        <p:nvPr/>
      </p:nvGrpSpPr>
      <p:grpSpPr>
        <a:xfrm>
          <a:off x="0" y="0"/>
          <a:ext cx="0" cy="0"/>
          <a:chOff x="0" y="0"/>
          <a:chExt cx="0" cy="0"/>
        </a:xfrm>
      </p:grpSpPr>
      <p:sp>
        <p:nvSpPr>
          <p:cNvPr id="1553" name="Google Shape;1553;p6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DAG SPT Algorithm: Relax in Topological Order</a:t>
            </a:r>
            <a:endParaRPr/>
          </a:p>
        </p:txBody>
      </p:sp>
      <p:sp>
        <p:nvSpPr>
          <p:cNvPr id="1554" name="Google Shape;1554;p6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Second: We have to visit all the vertices in topological order, relaxing all edges as we go.</a:t>
            </a:r>
            <a:endParaRPr/>
          </a:p>
          <a:p>
            <a:pPr marL="457200" lvl="0" indent="-342900" algn="l" rtl="0">
              <a:spcBef>
                <a:spcPts val="600"/>
              </a:spcBef>
              <a:spcAft>
                <a:spcPts val="0"/>
              </a:spcAft>
              <a:buSzPts val="1800"/>
              <a:buChar char="●"/>
            </a:pPr>
            <a:r>
              <a:rPr lang="en"/>
              <a:t>Runtime for step 2 is also O(V + E).</a:t>
            </a:r>
            <a:endParaRPr/>
          </a:p>
          <a:p>
            <a:pPr marL="0" lvl="0" indent="0" algn="l" rtl="0">
              <a:spcBef>
                <a:spcPts val="600"/>
              </a:spcBef>
              <a:spcAft>
                <a:spcPts val="0"/>
              </a:spcAft>
              <a:buNone/>
            </a:pPr>
            <a:endParaRPr/>
          </a:p>
          <a:p>
            <a:pPr marL="0" lvl="0" indent="0" algn="l" rtl="0">
              <a:spcBef>
                <a:spcPts val="600"/>
              </a:spcBef>
              <a:spcAft>
                <a:spcPts val="0"/>
              </a:spcAft>
              <a:buNone/>
            </a:pPr>
            <a:r>
              <a:rPr lang="en" sz="1200"/>
              <a:t>Occasional question: why isn’t it O(V*E)? We’re relaxing all edges from each vertex.</a:t>
            </a:r>
            <a:endParaRPr sz="1200"/>
          </a:p>
          <a:p>
            <a:pPr marL="457200" lvl="0" indent="-304800" algn="l" rtl="0">
              <a:spcBef>
                <a:spcPts val="600"/>
              </a:spcBef>
              <a:spcAft>
                <a:spcPts val="0"/>
              </a:spcAft>
              <a:buSzPts val="1200"/>
              <a:buChar char="●"/>
            </a:pPr>
            <a:r>
              <a:rPr lang="en" sz="1200"/>
              <a:t>Keep in mind that E is the </a:t>
            </a:r>
            <a:r>
              <a:rPr lang="en" sz="1200" i="1"/>
              <a:t>total</a:t>
            </a:r>
            <a:r>
              <a:rPr lang="en" sz="1200"/>
              <a:t> number of edges in the entire graph, not the number of edges per vertex.</a:t>
            </a:r>
            <a:br>
              <a:rPr lang="en" sz="1200"/>
            </a:br>
            <a:r>
              <a:rPr lang="en" sz="1200"/>
              <a:t>Example: for the graph below, E = 8.</a:t>
            </a:r>
            <a:endParaRPr sz="1200"/>
          </a:p>
        </p:txBody>
      </p:sp>
      <p:sp>
        <p:nvSpPr>
          <p:cNvPr id="1555" name="Google Shape;1555;p63"/>
          <p:cNvSpPr/>
          <p:nvPr/>
        </p:nvSpPr>
        <p:spPr>
          <a:xfrm>
            <a:off x="3933055"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556" name="Google Shape;1556;p63"/>
          <p:cNvSpPr/>
          <p:nvPr/>
        </p:nvSpPr>
        <p:spPr>
          <a:xfrm>
            <a:off x="2708646"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557" name="Google Shape;1557;p63"/>
          <p:cNvSpPr/>
          <p:nvPr/>
        </p:nvSpPr>
        <p:spPr>
          <a:xfrm>
            <a:off x="5157463"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558" name="Google Shape;1558;p63"/>
          <p:cNvSpPr/>
          <p:nvPr/>
        </p:nvSpPr>
        <p:spPr>
          <a:xfrm>
            <a:off x="6381872"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559" name="Google Shape;1559;p63"/>
          <p:cNvSpPr/>
          <p:nvPr/>
        </p:nvSpPr>
        <p:spPr>
          <a:xfrm>
            <a:off x="7606280"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560" name="Google Shape;1560;p63"/>
          <p:cNvCxnSpPr>
            <a:stCxn id="1555" idx="1"/>
            <a:endCxn id="1556" idx="3"/>
          </p:cNvCxnSpPr>
          <p:nvPr/>
        </p:nvCxnSpPr>
        <p:spPr>
          <a:xfrm rot="10800000">
            <a:off x="3096055" y="4322275"/>
            <a:ext cx="837000" cy="0"/>
          </a:xfrm>
          <a:prstGeom prst="straightConnector1">
            <a:avLst/>
          </a:prstGeom>
          <a:noFill/>
          <a:ln w="19050" cap="flat" cmpd="sng">
            <a:solidFill>
              <a:srgbClr val="666666"/>
            </a:solidFill>
            <a:prstDash val="solid"/>
            <a:round/>
            <a:headEnd type="triangle" w="med" len="med"/>
            <a:tailEnd type="none" w="med" len="med"/>
          </a:ln>
        </p:spPr>
      </p:cxnSp>
      <p:sp>
        <p:nvSpPr>
          <p:cNvPr id="1561" name="Google Shape;1561;p63"/>
          <p:cNvSpPr/>
          <p:nvPr/>
        </p:nvSpPr>
        <p:spPr>
          <a:xfrm>
            <a:off x="1484238" y="41700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sp>
        <p:nvSpPr>
          <p:cNvPr id="1562" name="Google Shape;1562;p63"/>
          <p:cNvSpPr txBox="1"/>
          <p:nvPr/>
        </p:nvSpPr>
        <p:spPr>
          <a:xfrm>
            <a:off x="1248605" y="424115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563" name="Google Shape;1563;p63"/>
          <p:cNvCxnSpPr>
            <a:stCxn id="1561" idx="3"/>
            <a:endCxn id="1556" idx="1"/>
          </p:cNvCxnSpPr>
          <p:nvPr/>
        </p:nvCxnSpPr>
        <p:spPr>
          <a:xfrm>
            <a:off x="1871538" y="4322275"/>
            <a:ext cx="837000" cy="0"/>
          </a:xfrm>
          <a:prstGeom prst="straightConnector1">
            <a:avLst/>
          </a:prstGeom>
          <a:noFill/>
          <a:ln w="19050" cap="flat" cmpd="sng">
            <a:solidFill>
              <a:srgbClr val="666666"/>
            </a:solidFill>
            <a:prstDash val="solid"/>
            <a:round/>
            <a:headEnd type="none" w="med" len="med"/>
            <a:tailEnd type="triangle" w="med" len="med"/>
          </a:ln>
        </p:spPr>
      </p:cxnSp>
      <p:cxnSp>
        <p:nvCxnSpPr>
          <p:cNvPr id="1564" name="Google Shape;1564;p63"/>
          <p:cNvCxnSpPr>
            <a:stCxn id="1558" idx="3"/>
            <a:endCxn id="1559" idx="1"/>
          </p:cNvCxnSpPr>
          <p:nvPr/>
        </p:nvCxnSpPr>
        <p:spPr>
          <a:xfrm>
            <a:off x="6769172" y="4322275"/>
            <a:ext cx="837000" cy="0"/>
          </a:xfrm>
          <a:prstGeom prst="straightConnector1">
            <a:avLst/>
          </a:prstGeom>
          <a:noFill/>
          <a:ln w="19050" cap="flat" cmpd="sng">
            <a:solidFill>
              <a:srgbClr val="666666"/>
            </a:solidFill>
            <a:prstDash val="solid"/>
            <a:round/>
            <a:headEnd type="none" w="med" len="med"/>
            <a:tailEnd type="triangle" w="med" len="med"/>
          </a:ln>
        </p:spPr>
      </p:cxnSp>
      <p:cxnSp>
        <p:nvCxnSpPr>
          <p:cNvPr id="1565" name="Google Shape;1565;p63"/>
          <p:cNvCxnSpPr>
            <a:stCxn id="1555" idx="3"/>
            <a:endCxn id="1557" idx="1"/>
          </p:cNvCxnSpPr>
          <p:nvPr/>
        </p:nvCxnSpPr>
        <p:spPr>
          <a:xfrm>
            <a:off x="4320355" y="4322275"/>
            <a:ext cx="837000" cy="0"/>
          </a:xfrm>
          <a:prstGeom prst="straightConnector1">
            <a:avLst/>
          </a:prstGeom>
          <a:noFill/>
          <a:ln w="19050" cap="flat" cmpd="sng">
            <a:solidFill>
              <a:srgbClr val="666666"/>
            </a:solidFill>
            <a:prstDash val="solid"/>
            <a:round/>
            <a:headEnd type="none" w="med" len="med"/>
            <a:tailEnd type="triangle" w="med" len="med"/>
          </a:ln>
        </p:spPr>
      </p:cxnSp>
      <p:sp>
        <p:nvSpPr>
          <p:cNvPr id="1566" name="Google Shape;1566;p63"/>
          <p:cNvSpPr/>
          <p:nvPr/>
        </p:nvSpPr>
        <p:spPr>
          <a:xfrm>
            <a:off x="3376346" y="41809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567" name="Google Shape;1567;p63"/>
          <p:cNvSpPr/>
          <p:nvPr/>
        </p:nvSpPr>
        <p:spPr>
          <a:xfrm>
            <a:off x="2111991" y="419583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568" name="Google Shape;1568;p63"/>
          <p:cNvSpPr/>
          <p:nvPr/>
        </p:nvSpPr>
        <p:spPr>
          <a:xfrm>
            <a:off x="4554298" y="4187105"/>
            <a:ext cx="3174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1569" name="Google Shape;1569;p63"/>
          <p:cNvSpPr/>
          <p:nvPr/>
        </p:nvSpPr>
        <p:spPr>
          <a:xfrm>
            <a:off x="7051753" y="418661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570" name="Google Shape;1570;p63"/>
          <p:cNvCxnSpPr>
            <a:stCxn id="1557" idx="3"/>
            <a:endCxn id="1558" idx="1"/>
          </p:cNvCxnSpPr>
          <p:nvPr/>
        </p:nvCxnSpPr>
        <p:spPr>
          <a:xfrm>
            <a:off x="5544763" y="4322275"/>
            <a:ext cx="837000" cy="0"/>
          </a:xfrm>
          <a:prstGeom prst="straightConnector1">
            <a:avLst/>
          </a:prstGeom>
          <a:noFill/>
          <a:ln w="19050" cap="flat" cmpd="sng">
            <a:solidFill>
              <a:srgbClr val="666666"/>
            </a:solidFill>
            <a:prstDash val="solid"/>
            <a:round/>
            <a:headEnd type="none" w="med" len="med"/>
            <a:tailEnd type="triangle" w="med" len="med"/>
          </a:ln>
        </p:spPr>
      </p:cxnSp>
      <p:sp>
        <p:nvSpPr>
          <p:cNvPr id="1571" name="Google Shape;1571;p63"/>
          <p:cNvSpPr/>
          <p:nvPr/>
        </p:nvSpPr>
        <p:spPr>
          <a:xfrm>
            <a:off x="5635348" y="4165399"/>
            <a:ext cx="5487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-20</a:t>
            </a:r>
            <a:endParaRPr sz="1800">
              <a:latin typeface="Roboto"/>
              <a:ea typeface="Roboto"/>
              <a:cs typeface="Roboto"/>
              <a:sym typeface="Roboto"/>
            </a:endParaRPr>
          </a:p>
        </p:txBody>
      </p:sp>
      <p:cxnSp>
        <p:nvCxnSpPr>
          <p:cNvPr id="1572" name="Google Shape;1572;p63"/>
          <p:cNvCxnSpPr>
            <a:stCxn id="1561" idx="2"/>
            <a:endCxn id="1555" idx="2"/>
          </p:cNvCxnSpPr>
          <p:nvPr/>
        </p:nvCxnSpPr>
        <p:spPr>
          <a:xfrm rot="-5400000" flipH="1">
            <a:off x="2902038" y="3250375"/>
            <a:ext cx="600" cy="24489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573" name="Google Shape;1573;p63"/>
          <p:cNvSpPr/>
          <p:nvPr/>
        </p:nvSpPr>
        <p:spPr>
          <a:xfrm>
            <a:off x="2828378" y="4744152"/>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574" name="Google Shape;1574;p63"/>
          <p:cNvCxnSpPr>
            <a:stCxn id="1556" idx="0"/>
            <a:endCxn id="1558" idx="0"/>
          </p:cNvCxnSpPr>
          <p:nvPr/>
        </p:nvCxnSpPr>
        <p:spPr>
          <a:xfrm rot="-5400000" flipH="1">
            <a:off x="4738596" y="2333725"/>
            <a:ext cx="600" cy="36732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575" name="Google Shape;1575;p63"/>
          <p:cNvSpPr/>
          <p:nvPr/>
        </p:nvSpPr>
        <p:spPr>
          <a:xfrm>
            <a:off x="4586545" y="360870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576" name="Google Shape;1576;p63"/>
          <p:cNvCxnSpPr>
            <a:stCxn id="1557" idx="2"/>
            <a:endCxn id="1559" idx="2"/>
          </p:cNvCxnSpPr>
          <p:nvPr/>
        </p:nvCxnSpPr>
        <p:spPr>
          <a:xfrm rot="-5400000" flipH="1">
            <a:off x="6575263" y="3250375"/>
            <a:ext cx="600" cy="2448900"/>
          </a:xfrm>
          <a:prstGeom prst="curvedConnector3">
            <a:avLst>
              <a:gd name="adj1" fmla="val 39687500"/>
            </a:avLst>
          </a:prstGeom>
          <a:noFill/>
          <a:ln w="19050" cap="flat" cmpd="sng">
            <a:solidFill>
              <a:schemeClr val="dk2"/>
            </a:solidFill>
            <a:prstDash val="solid"/>
            <a:round/>
            <a:headEnd type="none" w="med" len="med"/>
            <a:tailEnd type="triangle" w="med" len="med"/>
          </a:ln>
        </p:spPr>
      </p:cxnSp>
      <p:sp>
        <p:nvSpPr>
          <p:cNvPr id="1577" name="Google Shape;1577;p63"/>
          <p:cNvSpPr/>
          <p:nvPr/>
        </p:nvSpPr>
        <p:spPr>
          <a:xfrm>
            <a:off x="6316341" y="477005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p6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Problems</a:t>
            </a:r>
            <a:endParaRPr/>
          </a:p>
        </p:txBody>
      </p:sp>
      <p:graphicFrame>
        <p:nvGraphicFramePr>
          <p:cNvPr id="1583" name="Google Shape;1583;p64"/>
          <p:cNvGraphicFramePr/>
          <p:nvPr/>
        </p:nvGraphicFramePr>
        <p:xfrm>
          <a:off x="592488" y="688161"/>
          <a:ext cx="8209325" cy="1721975"/>
        </p:xfrm>
        <a:graphic>
          <a:graphicData uri="http://schemas.openxmlformats.org/drawingml/2006/table">
            <a:tbl>
              <a:tblPr>
                <a:noFill/>
                <a:tableStyleId>{EC9DA46A-B2CD-47DD-98B5-D3AAC6A04B5E}</a:tableStyleId>
              </a:tblPr>
              <a:tblGrid>
                <a:gridCol w="1457800">
                  <a:extLst>
                    <a:ext uri="{9D8B030D-6E8A-4147-A177-3AD203B41FA5}">
                      <a16:colId xmlns:a16="http://schemas.microsoft.com/office/drawing/2014/main" val="20000"/>
                    </a:ext>
                  </a:extLst>
                </a:gridCol>
                <a:gridCol w="2762325">
                  <a:extLst>
                    <a:ext uri="{9D8B030D-6E8A-4147-A177-3AD203B41FA5}">
                      <a16:colId xmlns:a16="http://schemas.microsoft.com/office/drawing/2014/main" val="20001"/>
                    </a:ext>
                  </a:extLst>
                </a:gridCol>
                <a:gridCol w="2082725">
                  <a:extLst>
                    <a:ext uri="{9D8B030D-6E8A-4147-A177-3AD203B41FA5}">
                      <a16:colId xmlns:a16="http://schemas.microsoft.com/office/drawing/2014/main" val="20002"/>
                    </a:ext>
                  </a:extLst>
                </a:gridCol>
                <a:gridCol w="1906475">
                  <a:extLst>
                    <a:ext uri="{9D8B030D-6E8A-4147-A177-3AD203B41FA5}">
                      <a16:colId xmlns:a16="http://schemas.microsoft.com/office/drawing/2014/main" val="20003"/>
                    </a:ext>
                  </a:extLst>
                </a:gridCol>
              </a:tblGrid>
              <a:tr h="426375">
                <a:tc>
                  <a:txBody>
                    <a:bodyPr/>
                    <a:lstStyle/>
                    <a:p>
                      <a:pPr marL="0" lvl="0" indent="0" algn="l" rtl="0">
                        <a:spcBef>
                          <a:spcPts val="0"/>
                        </a:spcBef>
                        <a:spcAft>
                          <a:spcPts val="0"/>
                        </a:spcAft>
                        <a:buNone/>
                      </a:pPr>
                      <a:r>
                        <a:rPr lang="en"/>
                        <a:t>Problem</a:t>
                      </a:r>
                      <a:endParaRPr/>
                    </a:p>
                  </a:txBody>
                  <a:tcPr marL="91425" marR="91425" marT="91425" marB="91425"/>
                </a:tc>
                <a:tc>
                  <a:txBody>
                    <a:bodyPr/>
                    <a:lstStyle/>
                    <a:p>
                      <a:pPr marL="0" lvl="0" indent="0" algn="l" rtl="0">
                        <a:spcBef>
                          <a:spcPts val="0"/>
                        </a:spcBef>
                        <a:spcAft>
                          <a:spcPts val="0"/>
                        </a:spcAft>
                        <a:buNone/>
                      </a:pPr>
                      <a:r>
                        <a:rPr lang="en"/>
                        <a:t>Problem Description</a:t>
                      </a:r>
                      <a:endParaRPr/>
                    </a:p>
                  </a:txBody>
                  <a:tcPr marL="91425" marR="91425" marT="91425" marB="91425"/>
                </a:tc>
                <a:tc>
                  <a:txBody>
                    <a:bodyPr/>
                    <a:lstStyle/>
                    <a:p>
                      <a:pPr marL="0" lvl="0" indent="0" algn="l" rtl="0">
                        <a:spcBef>
                          <a:spcPts val="0"/>
                        </a:spcBef>
                        <a:spcAft>
                          <a:spcPts val="0"/>
                        </a:spcAft>
                        <a:buNone/>
                      </a:pPr>
                      <a:r>
                        <a:rPr lang="en"/>
                        <a:t>Solution</a:t>
                      </a:r>
                      <a:endParaRPr/>
                    </a:p>
                  </a:txBody>
                  <a:tcPr marL="91425" marR="91425" marT="91425" marB="91425"/>
                </a:tc>
                <a:tc>
                  <a:txBody>
                    <a:bodyPr/>
                    <a:lstStyle/>
                    <a:p>
                      <a:pPr marL="0" lvl="0" indent="0" algn="l" rtl="0">
                        <a:spcBef>
                          <a:spcPts val="0"/>
                        </a:spcBef>
                        <a:spcAft>
                          <a:spcPts val="0"/>
                        </a:spcAft>
                        <a:buNone/>
                      </a:pPr>
                      <a:r>
                        <a:rPr lang="en"/>
                        <a:t>Efficiency</a:t>
                      </a:r>
                      <a:endParaRPr/>
                    </a:p>
                  </a:txBody>
                  <a:tcPr marL="91425" marR="91425" marT="91425" marB="91425"/>
                </a:tc>
                <a:extLst>
                  <a:ext uri="{0D108BD9-81ED-4DB2-BD59-A6C34878D82A}">
                    <a16:rowId xmlns:a16="http://schemas.microsoft.com/office/drawing/2014/main" val="10000"/>
                  </a:ext>
                </a:extLst>
              </a:tr>
              <a:tr h="647800">
                <a:tc>
                  <a:txBody>
                    <a:bodyPr/>
                    <a:lstStyle/>
                    <a:p>
                      <a:pPr marL="0" lvl="0" indent="0" algn="l" rtl="0">
                        <a:spcBef>
                          <a:spcPts val="0"/>
                        </a:spcBef>
                        <a:spcAft>
                          <a:spcPts val="0"/>
                        </a:spcAft>
                        <a:buNone/>
                      </a:pPr>
                      <a:r>
                        <a:rPr lang="en"/>
                        <a:t>topological sort</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Find an ordering of vertices that respects edges of our DAG.</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u="sng">
                          <a:solidFill>
                            <a:schemeClr val="hlink"/>
                          </a:solidFill>
                          <a:hlinkClick r:id="rId3" action="ppaction://hlinksldjump"/>
                        </a:rPr>
                        <a:t>Demo</a:t>
                      </a:r>
                      <a:endParaRPr/>
                    </a:p>
                    <a:p>
                      <a:pPr marL="0" lvl="0" indent="0" algn="l" rtl="0">
                        <a:spcBef>
                          <a:spcPts val="0"/>
                        </a:spcBef>
                        <a:spcAft>
                          <a:spcPts val="0"/>
                        </a:spcAft>
                        <a:buNone/>
                      </a:pPr>
                      <a:r>
                        <a:rPr lang="en"/>
                        <a:t>Code: Topological.java</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O(V+E) time</a:t>
                      </a:r>
                      <a:endParaRPr/>
                    </a:p>
                    <a:p>
                      <a:pPr marL="0" lvl="0" indent="0" algn="ctr" rtl="0">
                        <a:spcBef>
                          <a:spcPts val="0"/>
                        </a:spcBef>
                        <a:spcAft>
                          <a:spcPts val="0"/>
                        </a:spcAft>
                        <a:buNone/>
                      </a:pPr>
                      <a:r>
                        <a:rPr lang="en"/>
                        <a:t>Θ(V) space</a:t>
                      </a:r>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47800">
                <a:tc>
                  <a:txBody>
                    <a:bodyPr/>
                    <a:lstStyle/>
                    <a:p>
                      <a:pPr marL="0" lvl="0" indent="0" algn="l" rtl="0">
                        <a:spcBef>
                          <a:spcPts val="0"/>
                        </a:spcBef>
                        <a:spcAft>
                          <a:spcPts val="0"/>
                        </a:spcAft>
                        <a:buNone/>
                      </a:pPr>
                      <a:r>
                        <a:rPr lang="en"/>
                        <a:t>DAG shortest paths</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Find a shortest paths tree on a DAG.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u="sng">
                          <a:solidFill>
                            <a:schemeClr val="hlink"/>
                          </a:solidFill>
                          <a:hlinkClick r:id="rId4" action="ppaction://hlinksldjump"/>
                        </a:rPr>
                        <a:t>Demo</a:t>
                      </a:r>
                      <a:endParaRPr/>
                    </a:p>
                    <a:p>
                      <a:pPr marL="0" lvl="0" indent="0" algn="l" rtl="0">
                        <a:spcBef>
                          <a:spcPts val="0"/>
                        </a:spcBef>
                        <a:spcAft>
                          <a:spcPts val="0"/>
                        </a:spcAft>
                        <a:buNone/>
                      </a:pPr>
                      <a:r>
                        <a:rPr lang="en"/>
                        <a:t>Code: </a:t>
                      </a:r>
                      <a:r>
                        <a:rPr lang="en" u="sng">
                          <a:solidFill>
                            <a:schemeClr val="hlink"/>
                          </a:solidFill>
                          <a:hlinkClick r:id="rId5"/>
                        </a:rPr>
                        <a:t>AcyclicSP.java</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a:solidFill>
                            <a:schemeClr val="dk1"/>
                          </a:solidFill>
                        </a:rPr>
                        <a:t>O(V+E) time</a:t>
                      </a:r>
                      <a:endParaRPr>
                        <a:solidFill>
                          <a:schemeClr val="dk1"/>
                        </a:solidFill>
                      </a:endParaRPr>
                    </a:p>
                    <a:p>
                      <a:pPr marL="0" lvl="0" indent="0" algn="ctr" rtl="0">
                        <a:spcBef>
                          <a:spcPts val="0"/>
                        </a:spcBef>
                        <a:spcAft>
                          <a:spcPts val="0"/>
                        </a:spcAft>
                        <a:buClr>
                          <a:schemeClr val="dk1"/>
                        </a:buClr>
                        <a:buSzPts val="1100"/>
                        <a:buFont typeface="Arial"/>
                        <a:buNone/>
                      </a:pPr>
                      <a:r>
                        <a:rPr lang="en">
                          <a:solidFill>
                            <a:schemeClr val="dk1"/>
                          </a:solidFill>
                        </a:rPr>
                        <a:t>Θ(V) space</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584" name="Google Shape;1584;p64"/>
          <p:cNvSpPr txBox="1">
            <a:spLocks noGrp="1"/>
          </p:cNvSpPr>
          <p:nvPr>
            <p:ph type="body" idx="1"/>
          </p:nvPr>
        </p:nvSpPr>
        <p:spPr>
          <a:xfrm>
            <a:off x="243000" y="2548625"/>
            <a:ext cx="8778000" cy="154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Note: The DAG shortest paths solution uses the topological sort solution as a subroutine.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88"/>
        <p:cNvGrpSpPr/>
        <p:nvPr/>
      </p:nvGrpSpPr>
      <p:grpSpPr>
        <a:xfrm>
          <a:off x="0" y="0"/>
          <a:ext cx="0" cy="0"/>
          <a:chOff x="0" y="0"/>
          <a:chExt cx="0" cy="0"/>
        </a:xfrm>
      </p:grpSpPr>
      <p:sp>
        <p:nvSpPr>
          <p:cNvPr id="1589" name="Google Shape;1589;p6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28, CS61B, Fall 2023</a:t>
            </a:r>
            <a:endParaRPr/>
          </a:p>
        </p:txBody>
      </p:sp>
      <p:sp>
        <p:nvSpPr>
          <p:cNvPr id="1590" name="Google Shape;1590;p6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Topological Sorting</a:t>
            </a:r>
            <a:endParaRPr/>
          </a:p>
          <a:p>
            <a:pPr marL="0" lvl="0" indent="0" algn="l" rtl="0">
              <a:spcBef>
                <a:spcPts val="600"/>
              </a:spcBef>
              <a:spcAft>
                <a:spcPts val="0"/>
              </a:spcAft>
              <a:buNone/>
            </a:pPr>
            <a:r>
              <a:rPr lang="en"/>
              <a:t>Shortest Paths on DAGs</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Longest Paths</a:t>
            </a:r>
            <a:endParaRPr/>
          </a:p>
          <a:p>
            <a:pPr marL="0" lvl="0" indent="0" algn="l" rtl="0">
              <a:spcBef>
                <a:spcPts val="600"/>
              </a:spcBef>
              <a:spcAft>
                <a:spcPts val="0"/>
              </a:spcAft>
              <a:buClr>
                <a:schemeClr val="dk1"/>
              </a:buClr>
              <a:buSzPts val="1100"/>
              <a:buFont typeface="Arial"/>
              <a:buNone/>
            </a:pPr>
            <a:r>
              <a:rPr lang="en">
                <a:solidFill>
                  <a:srgbClr val="B7B7B7"/>
                </a:solidFill>
              </a:rPr>
              <a:t>Reductions</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Definition</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Reduction to 3SAT (Optional CS170 Preview)</a:t>
            </a:r>
            <a:endParaRPr/>
          </a:p>
        </p:txBody>
      </p:sp>
      <p:sp>
        <p:nvSpPr>
          <p:cNvPr id="1591" name="Google Shape;1591;p6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100"/>
              <a:buFont typeface="Arial"/>
              <a:buNone/>
            </a:pPr>
            <a:r>
              <a:rPr lang="en"/>
              <a:t>Longest Paths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95"/>
        <p:cNvGrpSpPr/>
        <p:nvPr/>
      </p:nvGrpSpPr>
      <p:grpSpPr>
        <a:xfrm>
          <a:off x="0" y="0"/>
          <a:ext cx="0" cy="0"/>
          <a:chOff x="0" y="0"/>
          <a:chExt cx="0" cy="0"/>
        </a:xfrm>
      </p:grpSpPr>
      <p:sp>
        <p:nvSpPr>
          <p:cNvPr id="1596" name="Google Shape;1596;p6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Longest Paths Problem</a:t>
            </a:r>
            <a:endParaRPr/>
          </a:p>
        </p:txBody>
      </p:sp>
      <p:sp>
        <p:nvSpPr>
          <p:cNvPr id="1597" name="Google Shape;1597;p6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Consider the problem of finding the longest path tree (LPT) from s to every other vertex. The path must be simple (no cycles!).</a:t>
            </a:r>
            <a:endParaRPr/>
          </a:p>
        </p:txBody>
      </p:sp>
      <p:sp>
        <p:nvSpPr>
          <p:cNvPr id="1598" name="Google Shape;1598;p66"/>
          <p:cNvSpPr/>
          <p:nvPr/>
        </p:nvSpPr>
        <p:spPr>
          <a:xfrm>
            <a:off x="5033890" y="2216701"/>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599" name="Google Shape;1599;p66"/>
          <p:cNvSpPr/>
          <p:nvPr/>
        </p:nvSpPr>
        <p:spPr>
          <a:xfrm>
            <a:off x="4983537" y="37712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600" name="Google Shape;1600;p66"/>
          <p:cNvSpPr/>
          <p:nvPr/>
        </p:nvSpPr>
        <p:spPr>
          <a:xfrm>
            <a:off x="6917491" y="1536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601" name="Google Shape;1601;p66"/>
          <p:cNvSpPr/>
          <p:nvPr/>
        </p:nvSpPr>
        <p:spPr>
          <a:xfrm>
            <a:off x="6844294" y="299397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602" name="Google Shape;1602;p66"/>
          <p:cNvSpPr/>
          <p:nvPr/>
        </p:nvSpPr>
        <p:spPr>
          <a:xfrm>
            <a:off x="7111066" y="405206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sp>
        <p:nvSpPr>
          <p:cNvPr id="1603" name="Google Shape;1603;p66"/>
          <p:cNvSpPr/>
          <p:nvPr/>
        </p:nvSpPr>
        <p:spPr>
          <a:xfrm>
            <a:off x="8434680" y="2762769"/>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G</a:t>
            </a:r>
            <a:endParaRPr sz="1700">
              <a:latin typeface="Roboto"/>
              <a:ea typeface="Roboto"/>
              <a:cs typeface="Roboto"/>
              <a:sym typeface="Roboto"/>
            </a:endParaRPr>
          </a:p>
        </p:txBody>
      </p:sp>
      <p:cxnSp>
        <p:nvCxnSpPr>
          <p:cNvPr id="1604" name="Google Shape;1604;p66"/>
          <p:cNvCxnSpPr>
            <a:stCxn id="1598" idx="2"/>
            <a:endCxn id="1599" idx="0"/>
          </p:cNvCxnSpPr>
          <p:nvPr/>
        </p:nvCxnSpPr>
        <p:spPr>
          <a:xfrm flipH="1">
            <a:off x="5177140" y="2521201"/>
            <a:ext cx="50400" cy="1250100"/>
          </a:xfrm>
          <a:prstGeom prst="straightConnector1">
            <a:avLst/>
          </a:prstGeom>
          <a:noFill/>
          <a:ln w="19050" cap="flat" cmpd="sng">
            <a:solidFill>
              <a:srgbClr val="666666"/>
            </a:solidFill>
            <a:prstDash val="solid"/>
            <a:round/>
            <a:headEnd type="none" w="med" len="med"/>
            <a:tailEnd type="triangle" w="med" len="med"/>
          </a:ln>
        </p:spPr>
      </p:cxnSp>
      <p:cxnSp>
        <p:nvCxnSpPr>
          <p:cNvPr id="1605" name="Google Shape;1605;p66"/>
          <p:cNvCxnSpPr>
            <a:stCxn id="1598" idx="3"/>
            <a:endCxn id="1601" idx="1"/>
          </p:cNvCxnSpPr>
          <p:nvPr/>
        </p:nvCxnSpPr>
        <p:spPr>
          <a:xfrm>
            <a:off x="5421190" y="2368951"/>
            <a:ext cx="1423200" cy="777300"/>
          </a:xfrm>
          <a:prstGeom prst="straightConnector1">
            <a:avLst/>
          </a:prstGeom>
          <a:noFill/>
          <a:ln w="19050" cap="flat" cmpd="sng">
            <a:solidFill>
              <a:srgbClr val="666666"/>
            </a:solidFill>
            <a:prstDash val="solid"/>
            <a:round/>
            <a:headEnd type="none" w="med" len="med"/>
            <a:tailEnd type="triangle" w="med" len="med"/>
          </a:ln>
        </p:spPr>
      </p:cxnSp>
      <p:cxnSp>
        <p:nvCxnSpPr>
          <p:cNvPr id="1606" name="Google Shape;1606;p66"/>
          <p:cNvCxnSpPr>
            <a:stCxn id="1600" idx="2"/>
            <a:endCxn id="1601" idx="0"/>
          </p:cNvCxnSpPr>
          <p:nvPr/>
        </p:nvCxnSpPr>
        <p:spPr>
          <a:xfrm flipH="1">
            <a:off x="7037941" y="1841300"/>
            <a:ext cx="73200" cy="1152600"/>
          </a:xfrm>
          <a:prstGeom prst="straightConnector1">
            <a:avLst/>
          </a:prstGeom>
          <a:noFill/>
          <a:ln w="19050" cap="flat" cmpd="sng">
            <a:solidFill>
              <a:srgbClr val="666666"/>
            </a:solidFill>
            <a:prstDash val="solid"/>
            <a:round/>
            <a:headEnd type="none" w="med" len="med"/>
            <a:tailEnd type="triangle" w="med" len="med"/>
          </a:ln>
        </p:spPr>
      </p:cxnSp>
      <p:cxnSp>
        <p:nvCxnSpPr>
          <p:cNvPr id="1607" name="Google Shape;1607;p66"/>
          <p:cNvCxnSpPr>
            <a:stCxn id="1603" idx="2"/>
            <a:endCxn id="1602" idx="3"/>
          </p:cNvCxnSpPr>
          <p:nvPr/>
        </p:nvCxnSpPr>
        <p:spPr>
          <a:xfrm flipH="1">
            <a:off x="7498230" y="3067269"/>
            <a:ext cx="1130100" cy="1137000"/>
          </a:xfrm>
          <a:prstGeom prst="straightConnector1">
            <a:avLst/>
          </a:prstGeom>
          <a:noFill/>
          <a:ln w="19050" cap="flat" cmpd="sng">
            <a:solidFill>
              <a:srgbClr val="666666"/>
            </a:solidFill>
            <a:prstDash val="solid"/>
            <a:round/>
            <a:headEnd type="none" w="med" len="med"/>
            <a:tailEnd type="triangle" w="med" len="med"/>
          </a:ln>
        </p:spPr>
      </p:cxnSp>
      <p:cxnSp>
        <p:nvCxnSpPr>
          <p:cNvPr id="1608" name="Google Shape;1608;p66"/>
          <p:cNvCxnSpPr>
            <a:stCxn id="1601" idx="2"/>
            <a:endCxn id="1602" idx="0"/>
          </p:cNvCxnSpPr>
          <p:nvPr/>
        </p:nvCxnSpPr>
        <p:spPr>
          <a:xfrm>
            <a:off x="7037944" y="3298470"/>
            <a:ext cx="266700" cy="753600"/>
          </a:xfrm>
          <a:prstGeom prst="straightConnector1">
            <a:avLst/>
          </a:prstGeom>
          <a:noFill/>
          <a:ln w="19050" cap="flat" cmpd="sng">
            <a:solidFill>
              <a:srgbClr val="666666"/>
            </a:solidFill>
            <a:prstDash val="solid"/>
            <a:round/>
            <a:headEnd type="none" w="med" len="med"/>
            <a:tailEnd type="triangle" w="med" len="med"/>
          </a:ln>
        </p:spPr>
      </p:cxnSp>
      <p:cxnSp>
        <p:nvCxnSpPr>
          <p:cNvPr id="1609" name="Google Shape;1609;p66"/>
          <p:cNvCxnSpPr>
            <a:stCxn id="1599" idx="3"/>
            <a:endCxn id="1602" idx="1"/>
          </p:cNvCxnSpPr>
          <p:nvPr/>
        </p:nvCxnSpPr>
        <p:spPr>
          <a:xfrm>
            <a:off x="5370837" y="3923475"/>
            <a:ext cx="1740300" cy="280800"/>
          </a:xfrm>
          <a:prstGeom prst="straightConnector1">
            <a:avLst/>
          </a:prstGeom>
          <a:noFill/>
          <a:ln w="19050" cap="flat" cmpd="sng">
            <a:solidFill>
              <a:srgbClr val="666666"/>
            </a:solidFill>
            <a:prstDash val="solid"/>
            <a:round/>
            <a:headEnd type="none" w="med" len="med"/>
            <a:tailEnd type="triangle" w="med" len="med"/>
          </a:ln>
        </p:spPr>
      </p:cxnSp>
      <p:sp>
        <p:nvSpPr>
          <p:cNvPr id="1610" name="Google Shape;1610;p66"/>
          <p:cNvSpPr/>
          <p:nvPr/>
        </p:nvSpPr>
        <p:spPr>
          <a:xfrm>
            <a:off x="3443625" y="3110789"/>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1611" name="Google Shape;1611;p66"/>
          <p:cNvCxnSpPr>
            <a:stCxn id="1610" idx="3"/>
            <a:endCxn id="1598" idx="1"/>
          </p:cNvCxnSpPr>
          <p:nvPr/>
        </p:nvCxnSpPr>
        <p:spPr>
          <a:xfrm rot="10800000" flipH="1">
            <a:off x="3830925" y="2369039"/>
            <a:ext cx="1203000" cy="894000"/>
          </a:xfrm>
          <a:prstGeom prst="straightConnector1">
            <a:avLst/>
          </a:prstGeom>
          <a:noFill/>
          <a:ln w="19050" cap="flat" cmpd="sng">
            <a:solidFill>
              <a:srgbClr val="666666"/>
            </a:solidFill>
            <a:prstDash val="solid"/>
            <a:round/>
            <a:headEnd type="none" w="med" len="med"/>
            <a:tailEnd type="triangle" w="med" len="med"/>
          </a:ln>
        </p:spPr>
      </p:cxnSp>
      <p:sp>
        <p:nvSpPr>
          <p:cNvPr id="1612" name="Google Shape;1612;p66"/>
          <p:cNvSpPr txBox="1"/>
          <p:nvPr/>
        </p:nvSpPr>
        <p:spPr>
          <a:xfrm>
            <a:off x="3167793" y="30493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613" name="Google Shape;1613;p66"/>
          <p:cNvCxnSpPr>
            <a:stCxn id="1610" idx="3"/>
            <a:endCxn id="1599" idx="1"/>
          </p:cNvCxnSpPr>
          <p:nvPr/>
        </p:nvCxnSpPr>
        <p:spPr>
          <a:xfrm>
            <a:off x="3830925" y="3263039"/>
            <a:ext cx="1152600" cy="660300"/>
          </a:xfrm>
          <a:prstGeom prst="straightConnector1">
            <a:avLst/>
          </a:prstGeom>
          <a:noFill/>
          <a:ln w="19050" cap="flat" cmpd="sng">
            <a:solidFill>
              <a:srgbClr val="666666"/>
            </a:solidFill>
            <a:prstDash val="solid"/>
            <a:round/>
            <a:headEnd type="none" w="med" len="med"/>
            <a:tailEnd type="triangle" w="med" len="med"/>
          </a:ln>
        </p:spPr>
      </p:cxnSp>
      <p:cxnSp>
        <p:nvCxnSpPr>
          <p:cNvPr id="1614" name="Google Shape;1614;p66"/>
          <p:cNvCxnSpPr>
            <a:stCxn id="1601" idx="3"/>
            <a:endCxn id="1603" idx="1"/>
          </p:cNvCxnSpPr>
          <p:nvPr/>
        </p:nvCxnSpPr>
        <p:spPr>
          <a:xfrm rot="10800000" flipH="1">
            <a:off x="7231594" y="2914920"/>
            <a:ext cx="1203000" cy="231300"/>
          </a:xfrm>
          <a:prstGeom prst="straightConnector1">
            <a:avLst/>
          </a:prstGeom>
          <a:noFill/>
          <a:ln w="19050" cap="flat" cmpd="sng">
            <a:solidFill>
              <a:srgbClr val="666666"/>
            </a:solidFill>
            <a:prstDash val="solid"/>
            <a:round/>
            <a:headEnd type="none" w="med" len="med"/>
            <a:tailEnd type="triangle" w="med" len="med"/>
          </a:ln>
        </p:spPr>
      </p:cxnSp>
      <p:cxnSp>
        <p:nvCxnSpPr>
          <p:cNvPr id="1615" name="Google Shape;1615;p66"/>
          <p:cNvCxnSpPr>
            <a:stCxn id="1598" idx="3"/>
            <a:endCxn id="1600" idx="1"/>
          </p:cNvCxnSpPr>
          <p:nvPr/>
        </p:nvCxnSpPr>
        <p:spPr>
          <a:xfrm rot="10800000" flipH="1">
            <a:off x="5421190" y="1689151"/>
            <a:ext cx="1496400" cy="679800"/>
          </a:xfrm>
          <a:prstGeom prst="straightConnector1">
            <a:avLst/>
          </a:prstGeom>
          <a:noFill/>
          <a:ln w="19050" cap="flat" cmpd="sng">
            <a:solidFill>
              <a:srgbClr val="666666"/>
            </a:solidFill>
            <a:prstDash val="solid"/>
            <a:round/>
            <a:headEnd type="none" w="med" len="med"/>
            <a:tailEnd type="triangle" w="med" len="med"/>
          </a:ln>
        </p:spPr>
      </p:cxnSp>
      <p:sp>
        <p:nvSpPr>
          <p:cNvPr id="1616" name="Google Shape;1616;p66"/>
          <p:cNvSpPr/>
          <p:nvPr/>
        </p:nvSpPr>
        <p:spPr>
          <a:xfrm>
            <a:off x="5065790" y="29497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cxnSp>
        <p:nvCxnSpPr>
          <p:cNvPr id="1617" name="Google Shape;1617;p66"/>
          <p:cNvCxnSpPr>
            <a:stCxn id="1603" idx="0"/>
            <a:endCxn id="1600" idx="3"/>
          </p:cNvCxnSpPr>
          <p:nvPr/>
        </p:nvCxnSpPr>
        <p:spPr>
          <a:xfrm rot="10800000">
            <a:off x="7304730" y="1689069"/>
            <a:ext cx="1323600" cy="1073700"/>
          </a:xfrm>
          <a:prstGeom prst="straightConnector1">
            <a:avLst/>
          </a:prstGeom>
          <a:noFill/>
          <a:ln w="19050" cap="flat" cmpd="sng">
            <a:solidFill>
              <a:srgbClr val="666666"/>
            </a:solidFill>
            <a:prstDash val="solid"/>
            <a:round/>
            <a:headEnd type="none" w="med" len="med"/>
            <a:tailEnd type="triangle" w="med" len="med"/>
          </a:ln>
        </p:spPr>
      </p:cxnSp>
      <p:sp>
        <p:nvSpPr>
          <p:cNvPr id="1618" name="Google Shape;1618;p66"/>
          <p:cNvSpPr/>
          <p:nvPr/>
        </p:nvSpPr>
        <p:spPr>
          <a:xfrm>
            <a:off x="4294998" y="270056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619" name="Google Shape;1619;p66"/>
          <p:cNvSpPr/>
          <p:nvPr/>
        </p:nvSpPr>
        <p:spPr>
          <a:xfrm>
            <a:off x="4218798" y="340772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20" name="Google Shape;1620;p66"/>
          <p:cNvSpPr/>
          <p:nvPr/>
        </p:nvSpPr>
        <p:spPr>
          <a:xfrm>
            <a:off x="6056000" y="3921475"/>
            <a:ext cx="549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15</a:t>
            </a:r>
            <a:endParaRPr sz="1800">
              <a:latin typeface="Roboto"/>
              <a:ea typeface="Roboto"/>
              <a:cs typeface="Roboto"/>
              <a:sym typeface="Roboto"/>
            </a:endParaRPr>
          </a:p>
        </p:txBody>
      </p:sp>
      <p:sp>
        <p:nvSpPr>
          <p:cNvPr id="1621" name="Google Shape;1621;p66"/>
          <p:cNvSpPr/>
          <p:nvPr/>
        </p:nvSpPr>
        <p:spPr>
          <a:xfrm>
            <a:off x="6006302" y="263999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622" name="Google Shape;1622;p66"/>
          <p:cNvSpPr/>
          <p:nvPr/>
        </p:nvSpPr>
        <p:spPr>
          <a:xfrm>
            <a:off x="6984714" y="225165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623" name="Google Shape;1623;p66"/>
          <p:cNvSpPr/>
          <p:nvPr/>
        </p:nvSpPr>
        <p:spPr>
          <a:xfrm>
            <a:off x="5966017" y="1891633"/>
            <a:ext cx="549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11</a:t>
            </a:r>
            <a:endParaRPr sz="1800">
              <a:latin typeface="Roboto"/>
              <a:ea typeface="Roboto"/>
              <a:cs typeface="Roboto"/>
              <a:sym typeface="Roboto"/>
            </a:endParaRPr>
          </a:p>
        </p:txBody>
      </p:sp>
      <p:sp>
        <p:nvSpPr>
          <p:cNvPr id="1624" name="Google Shape;1624;p66"/>
          <p:cNvSpPr/>
          <p:nvPr/>
        </p:nvSpPr>
        <p:spPr>
          <a:xfrm>
            <a:off x="7706689" y="290411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sp>
        <p:nvSpPr>
          <p:cNvPr id="1625" name="Google Shape;1625;p66"/>
          <p:cNvSpPr/>
          <p:nvPr/>
        </p:nvSpPr>
        <p:spPr>
          <a:xfrm>
            <a:off x="7968747" y="349398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26" name="Google Shape;1626;p66"/>
          <p:cNvSpPr/>
          <p:nvPr/>
        </p:nvSpPr>
        <p:spPr>
          <a:xfrm>
            <a:off x="7840072" y="211624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27" name="Google Shape;1627;p66"/>
          <p:cNvSpPr/>
          <p:nvPr/>
        </p:nvSpPr>
        <p:spPr>
          <a:xfrm>
            <a:off x="7001553" y="348451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1628" name="Google Shape;1628;p66"/>
          <p:cNvCxnSpPr/>
          <p:nvPr/>
        </p:nvCxnSpPr>
        <p:spPr>
          <a:xfrm flipH="1">
            <a:off x="5370694" y="3146220"/>
            <a:ext cx="1473600" cy="777300"/>
          </a:xfrm>
          <a:prstGeom prst="straightConnector1">
            <a:avLst/>
          </a:prstGeom>
          <a:noFill/>
          <a:ln w="19050" cap="flat" cmpd="sng">
            <a:solidFill>
              <a:srgbClr val="666666"/>
            </a:solidFill>
            <a:prstDash val="solid"/>
            <a:round/>
            <a:headEnd type="none" w="med" len="med"/>
            <a:tailEnd type="triangle" w="med" len="med"/>
          </a:ln>
        </p:spPr>
      </p:cxnSp>
      <p:sp>
        <p:nvSpPr>
          <p:cNvPr id="1629" name="Google Shape;1629;p66"/>
          <p:cNvSpPr/>
          <p:nvPr/>
        </p:nvSpPr>
        <p:spPr>
          <a:xfrm>
            <a:off x="5988090" y="339849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67"/>
          <p:cNvSpPr txBox="1"/>
          <p:nvPr/>
        </p:nvSpPr>
        <p:spPr>
          <a:xfrm>
            <a:off x="-21675" y="4129875"/>
            <a:ext cx="9144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Two potentially interesting exercises after lecture:</a:t>
            </a:r>
            <a:endParaRPr>
              <a:latin typeface="Roboto"/>
              <a:ea typeface="Roboto"/>
              <a:cs typeface="Roboto"/>
              <a:sym typeface="Roboto"/>
            </a:endParaRPr>
          </a:p>
          <a:p>
            <a:pPr marL="457200" lvl="0" indent="-317500" algn="l" rtl="0">
              <a:spcBef>
                <a:spcPts val="0"/>
              </a:spcBef>
              <a:spcAft>
                <a:spcPts val="0"/>
              </a:spcAft>
              <a:buSzPts val="1400"/>
              <a:buFont typeface="Roboto"/>
              <a:buChar char="●"/>
            </a:pPr>
            <a:r>
              <a:rPr lang="en">
                <a:solidFill>
                  <a:schemeClr val="dk1"/>
                </a:solidFill>
                <a:latin typeface="Roboto"/>
                <a:ea typeface="Roboto"/>
                <a:cs typeface="Roboto"/>
                <a:sym typeface="Roboto"/>
              </a:rPr>
              <a:t>Find an example where the obvious algorithm (Dijkstra’s but pick the biggest edge first) fails.</a:t>
            </a:r>
            <a:endParaRPr>
              <a:latin typeface="Roboto"/>
              <a:ea typeface="Roboto"/>
              <a:cs typeface="Roboto"/>
              <a:sym typeface="Roboto"/>
            </a:endParaRPr>
          </a:p>
          <a:p>
            <a:pPr marL="457200" lvl="0" indent="-317500" algn="l" rtl="0">
              <a:spcBef>
                <a:spcPts val="0"/>
              </a:spcBef>
              <a:spcAft>
                <a:spcPts val="0"/>
              </a:spcAft>
              <a:buSzPts val="1400"/>
              <a:buFont typeface="Roboto"/>
              <a:buChar char="●"/>
            </a:pPr>
            <a:r>
              <a:rPr lang="en">
                <a:latin typeface="Roboto"/>
                <a:ea typeface="Roboto"/>
                <a:cs typeface="Roboto"/>
                <a:sym typeface="Roboto"/>
              </a:rPr>
              <a:t>Figure out: Is the longest path to every other vertex always a tree (i.e. does an LPT exist for all graphs)?</a:t>
            </a:r>
            <a:endParaRPr>
              <a:latin typeface="Roboto"/>
              <a:ea typeface="Roboto"/>
              <a:cs typeface="Roboto"/>
              <a:sym typeface="Roboto"/>
            </a:endParaRPr>
          </a:p>
        </p:txBody>
      </p:sp>
      <p:sp>
        <p:nvSpPr>
          <p:cNvPr id="1635" name="Google Shape;1635;p6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Longest Paths Problem</a:t>
            </a:r>
            <a:endParaRPr/>
          </a:p>
        </p:txBody>
      </p:sp>
      <p:sp>
        <p:nvSpPr>
          <p:cNvPr id="1636" name="Google Shape;1636;p6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Consider the problem of finding the longest path tree (LPT) from s to every other vertex. The path must be simple (no cycles!).</a:t>
            </a:r>
            <a:endParaRPr/>
          </a:p>
        </p:txBody>
      </p:sp>
      <p:sp>
        <p:nvSpPr>
          <p:cNvPr id="1637" name="Google Shape;1637;p67"/>
          <p:cNvSpPr/>
          <p:nvPr/>
        </p:nvSpPr>
        <p:spPr>
          <a:xfrm>
            <a:off x="5033890" y="2216701"/>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638" name="Google Shape;1638;p67"/>
          <p:cNvSpPr/>
          <p:nvPr/>
        </p:nvSpPr>
        <p:spPr>
          <a:xfrm>
            <a:off x="4983537" y="377122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639" name="Google Shape;1639;p67"/>
          <p:cNvSpPr/>
          <p:nvPr/>
        </p:nvSpPr>
        <p:spPr>
          <a:xfrm>
            <a:off x="6917491" y="1536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640" name="Google Shape;1640;p67"/>
          <p:cNvSpPr/>
          <p:nvPr/>
        </p:nvSpPr>
        <p:spPr>
          <a:xfrm>
            <a:off x="6844294" y="299397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641" name="Google Shape;1641;p67"/>
          <p:cNvSpPr/>
          <p:nvPr/>
        </p:nvSpPr>
        <p:spPr>
          <a:xfrm>
            <a:off x="7111066" y="405206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sp>
        <p:nvSpPr>
          <p:cNvPr id="1642" name="Google Shape;1642;p67"/>
          <p:cNvSpPr/>
          <p:nvPr/>
        </p:nvSpPr>
        <p:spPr>
          <a:xfrm>
            <a:off x="8434680" y="2762769"/>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G</a:t>
            </a:r>
            <a:endParaRPr sz="1700">
              <a:latin typeface="Roboto"/>
              <a:ea typeface="Roboto"/>
              <a:cs typeface="Roboto"/>
              <a:sym typeface="Roboto"/>
            </a:endParaRPr>
          </a:p>
        </p:txBody>
      </p:sp>
      <p:cxnSp>
        <p:nvCxnSpPr>
          <p:cNvPr id="1643" name="Google Shape;1643;p67"/>
          <p:cNvCxnSpPr>
            <a:stCxn id="1637" idx="2"/>
            <a:endCxn id="1638" idx="0"/>
          </p:cNvCxnSpPr>
          <p:nvPr/>
        </p:nvCxnSpPr>
        <p:spPr>
          <a:xfrm flipH="1">
            <a:off x="5177140" y="2521201"/>
            <a:ext cx="50400" cy="1250100"/>
          </a:xfrm>
          <a:prstGeom prst="straightConnector1">
            <a:avLst/>
          </a:prstGeom>
          <a:noFill/>
          <a:ln w="38100" cap="flat" cmpd="sng">
            <a:solidFill>
              <a:srgbClr val="000000"/>
            </a:solidFill>
            <a:prstDash val="solid"/>
            <a:round/>
            <a:headEnd type="none" w="med" len="med"/>
            <a:tailEnd type="triangle" w="med" len="med"/>
          </a:ln>
        </p:spPr>
      </p:cxnSp>
      <p:cxnSp>
        <p:nvCxnSpPr>
          <p:cNvPr id="1644" name="Google Shape;1644;p67"/>
          <p:cNvCxnSpPr>
            <a:stCxn id="1637" idx="3"/>
            <a:endCxn id="1640" idx="1"/>
          </p:cNvCxnSpPr>
          <p:nvPr/>
        </p:nvCxnSpPr>
        <p:spPr>
          <a:xfrm>
            <a:off x="5421190" y="2368951"/>
            <a:ext cx="1423200" cy="777300"/>
          </a:xfrm>
          <a:prstGeom prst="straightConnector1">
            <a:avLst/>
          </a:prstGeom>
          <a:noFill/>
          <a:ln w="19050" cap="flat" cmpd="sng">
            <a:solidFill>
              <a:srgbClr val="666666"/>
            </a:solidFill>
            <a:prstDash val="solid"/>
            <a:round/>
            <a:headEnd type="none" w="med" len="med"/>
            <a:tailEnd type="triangle" w="med" len="med"/>
          </a:ln>
        </p:spPr>
      </p:cxnSp>
      <p:cxnSp>
        <p:nvCxnSpPr>
          <p:cNvPr id="1645" name="Google Shape;1645;p67"/>
          <p:cNvCxnSpPr>
            <a:stCxn id="1639" idx="2"/>
            <a:endCxn id="1640" idx="0"/>
          </p:cNvCxnSpPr>
          <p:nvPr/>
        </p:nvCxnSpPr>
        <p:spPr>
          <a:xfrm flipH="1">
            <a:off x="7037941" y="1841300"/>
            <a:ext cx="73200" cy="1152600"/>
          </a:xfrm>
          <a:prstGeom prst="straightConnector1">
            <a:avLst/>
          </a:prstGeom>
          <a:noFill/>
          <a:ln w="38100" cap="flat" cmpd="sng">
            <a:solidFill>
              <a:srgbClr val="000000"/>
            </a:solidFill>
            <a:prstDash val="solid"/>
            <a:round/>
            <a:headEnd type="none" w="med" len="med"/>
            <a:tailEnd type="triangle" w="med" len="med"/>
          </a:ln>
        </p:spPr>
      </p:cxnSp>
      <p:cxnSp>
        <p:nvCxnSpPr>
          <p:cNvPr id="1646" name="Google Shape;1646;p67"/>
          <p:cNvCxnSpPr>
            <a:stCxn id="1642" idx="2"/>
            <a:endCxn id="1641" idx="3"/>
          </p:cNvCxnSpPr>
          <p:nvPr/>
        </p:nvCxnSpPr>
        <p:spPr>
          <a:xfrm flipH="1">
            <a:off x="7498230" y="3067269"/>
            <a:ext cx="1130100" cy="1137000"/>
          </a:xfrm>
          <a:prstGeom prst="straightConnector1">
            <a:avLst/>
          </a:prstGeom>
          <a:noFill/>
          <a:ln w="19050" cap="flat" cmpd="sng">
            <a:solidFill>
              <a:srgbClr val="666666"/>
            </a:solidFill>
            <a:prstDash val="solid"/>
            <a:round/>
            <a:headEnd type="none" w="med" len="med"/>
            <a:tailEnd type="triangle" w="med" len="med"/>
          </a:ln>
        </p:spPr>
      </p:cxnSp>
      <p:cxnSp>
        <p:nvCxnSpPr>
          <p:cNvPr id="1647" name="Google Shape;1647;p67"/>
          <p:cNvCxnSpPr>
            <a:stCxn id="1640" idx="2"/>
            <a:endCxn id="1641" idx="0"/>
          </p:cNvCxnSpPr>
          <p:nvPr/>
        </p:nvCxnSpPr>
        <p:spPr>
          <a:xfrm>
            <a:off x="7037944" y="3298470"/>
            <a:ext cx="266700" cy="753600"/>
          </a:xfrm>
          <a:prstGeom prst="straightConnector1">
            <a:avLst/>
          </a:prstGeom>
          <a:noFill/>
          <a:ln w="19050" cap="flat" cmpd="sng">
            <a:solidFill>
              <a:srgbClr val="666666"/>
            </a:solidFill>
            <a:prstDash val="solid"/>
            <a:round/>
            <a:headEnd type="none" w="med" len="med"/>
            <a:tailEnd type="triangle" w="med" len="med"/>
          </a:ln>
        </p:spPr>
      </p:cxnSp>
      <p:cxnSp>
        <p:nvCxnSpPr>
          <p:cNvPr id="1648" name="Google Shape;1648;p67"/>
          <p:cNvCxnSpPr>
            <a:stCxn id="1638" idx="3"/>
            <a:endCxn id="1641" idx="1"/>
          </p:cNvCxnSpPr>
          <p:nvPr/>
        </p:nvCxnSpPr>
        <p:spPr>
          <a:xfrm>
            <a:off x="5370837" y="3923475"/>
            <a:ext cx="1740300" cy="280800"/>
          </a:xfrm>
          <a:prstGeom prst="straightConnector1">
            <a:avLst/>
          </a:prstGeom>
          <a:noFill/>
          <a:ln w="38100" cap="flat" cmpd="sng">
            <a:solidFill>
              <a:srgbClr val="000000"/>
            </a:solidFill>
            <a:prstDash val="solid"/>
            <a:round/>
            <a:headEnd type="none" w="med" len="med"/>
            <a:tailEnd type="triangle" w="med" len="med"/>
          </a:ln>
        </p:spPr>
      </p:cxnSp>
      <p:sp>
        <p:nvSpPr>
          <p:cNvPr id="1649" name="Google Shape;1649;p67"/>
          <p:cNvSpPr/>
          <p:nvPr/>
        </p:nvSpPr>
        <p:spPr>
          <a:xfrm>
            <a:off x="3443625" y="3110789"/>
            <a:ext cx="387300" cy="3045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1650" name="Google Shape;1650;p67"/>
          <p:cNvCxnSpPr>
            <a:stCxn id="1649" idx="3"/>
            <a:endCxn id="1637" idx="1"/>
          </p:cNvCxnSpPr>
          <p:nvPr/>
        </p:nvCxnSpPr>
        <p:spPr>
          <a:xfrm rot="10800000" flipH="1">
            <a:off x="3830925" y="2369039"/>
            <a:ext cx="1203000" cy="894000"/>
          </a:xfrm>
          <a:prstGeom prst="straightConnector1">
            <a:avLst/>
          </a:prstGeom>
          <a:noFill/>
          <a:ln w="38100" cap="flat" cmpd="sng">
            <a:solidFill>
              <a:srgbClr val="000000"/>
            </a:solidFill>
            <a:prstDash val="solid"/>
            <a:round/>
            <a:headEnd type="none" w="med" len="med"/>
            <a:tailEnd type="triangle" w="med" len="med"/>
          </a:ln>
        </p:spPr>
      </p:cxnSp>
      <p:sp>
        <p:nvSpPr>
          <p:cNvPr id="1651" name="Google Shape;1651;p67"/>
          <p:cNvSpPr txBox="1"/>
          <p:nvPr/>
        </p:nvSpPr>
        <p:spPr>
          <a:xfrm>
            <a:off x="3167793" y="30493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652" name="Google Shape;1652;p67"/>
          <p:cNvCxnSpPr>
            <a:stCxn id="1649" idx="3"/>
            <a:endCxn id="1638" idx="1"/>
          </p:cNvCxnSpPr>
          <p:nvPr/>
        </p:nvCxnSpPr>
        <p:spPr>
          <a:xfrm>
            <a:off x="3830925" y="3263039"/>
            <a:ext cx="1152600" cy="660300"/>
          </a:xfrm>
          <a:prstGeom prst="straightConnector1">
            <a:avLst/>
          </a:prstGeom>
          <a:noFill/>
          <a:ln w="19050" cap="flat" cmpd="sng">
            <a:solidFill>
              <a:srgbClr val="666666"/>
            </a:solidFill>
            <a:prstDash val="solid"/>
            <a:round/>
            <a:headEnd type="none" w="med" len="med"/>
            <a:tailEnd type="triangle" w="med" len="med"/>
          </a:ln>
        </p:spPr>
      </p:cxnSp>
      <p:cxnSp>
        <p:nvCxnSpPr>
          <p:cNvPr id="1653" name="Google Shape;1653;p67"/>
          <p:cNvCxnSpPr>
            <a:stCxn id="1640" idx="3"/>
            <a:endCxn id="1642" idx="1"/>
          </p:cNvCxnSpPr>
          <p:nvPr/>
        </p:nvCxnSpPr>
        <p:spPr>
          <a:xfrm rot="10800000" flipH="1">
            <a:off x="7231594" y="2914920"/>
            <a:ext cx="1203000" cy="231300"/>
          </a:xfrm>
          <a:prstGeom prst="straightConnector1">
            <a:avLst/>
          </a:prstGeom>
          <a:noFill/>
          <a:ln w="38100" cap="flat" cmpd="sng">
            <a:solidFill>
              <a:srgbClr val="000000"/>
            </a:solidFill>
            <a:prstDash val="solid"/>
            <a:round/>
            <a:headEnd type="none" w="med" len="med"/>
            <a:tailEnd type="triangle" w="med" len="med"/>
          </a:ln>
        </p:spPr>
      </p:cxnSp>
      <p:cxnSp>
        <p:nvCxnSpPr>
          <p:cNvPr id="1654" name="Google Shape;1654;p67"/>
          <p:cNvCxnSpPr>
            <a:stCxn id="1637" idx="3"/>
            <a:endCxn id="1639" idx="1"/>
          </p:cNvCxnSpPr>
          <p:nvPr/>
        </p:nvCxnSpPr>
        <p:spPr>
          <a:xfrm rot="10800000" flipH="1">
            <a:off x="5421190" y="1689151"/>
            <a:ext cx="1496400" cy="679800"/>
          </a:xfrm>
          <a:prstGeom prst="straightConnector1">
            <a:avLst/>
          </a:prstGeom>
          <a:noFill/>
          <a:ln w="38100" cap="flat" cmpd="sng">
            <a:solidFill>
              <a:srgbClr val="000000"/>
            </a:solidFill>
            <a:prstDash val="solid"/>
            <a:round/>
            <a:headEnd type="none" w="med" len="med"/>
            <a:tailEnd type="triangle" w="med" len="med"/>
          </a:ln>
        </p:spPr>
      </p:cxnSp>
      <p:sp>
        <p:nvSpPr>
          <p:cNvPr id="1655" name="Google Shape;1655;p67"/>
          <p:cNvSpPr/>
          <p:nvPr/>
        </p:nvSpPr>
        <p:spPr>
          <a:xfrm>
            <a:off x="5065790" y="2949743"/>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cxnSp>
        <p:nvCxnSpPr>
          <p:cNvPr id="1656" name="Google Shape;1656;p67"/>
          <p:cNvCxnSpPr>
            <a:stCxn id="1642" idx="0"/>
            <a:endCxn id="1639" idx="3"/>
          </p:cNvCxnSpPr>
          <p:nvPr/>
        </p:nvCxnSpPr>
        <p:spPr>
          <a:xfrm rot="10800000">
            <a:off x="7304730" y="1689069"/>
            <a:ext cx="1323600" cy="1073700"/>
          </a:xfrm>
          <a:prstGeom prst="straightConnector1">
            <a:avLst/>
          </a:prstGeom>
          <a:noFill/>
          <a:ln w="19050" cap="flat" cmpd="sng">
            <a:solidFill>
              <a:srgbClr val="666666"/>
            </a:solidFill>
            <a:prstDash val="solid"/>
            <a:round/>
            <a:headEnd type="none" w="med" len="med"/>
            <a:tailEnd type="triangle" w="med" len="med"/>
          </a:ln>
        </p:spPr>
      </p:cxnSp>
      <p:sp>
        <p:nvSpPr>
          <p:cNvPr id="1657" name="Google Shape;1657;p67"/>
          <p:cNvSpPr/>
          <p:nvPr/>
        </p:nvSpPr>
        <p:spPr>
          <a:xfrm>
            <a:off x="4294998" y="2700560"/>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658" name="Google Shape;1658;p67"/>
          <p:cNvSpPr/>
          <p:nvPr/>
        </p:nvSpPr>
        <p:spPr>
          <a:xfrm>
            <a:off x="4218798" y="340772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59" name="Google Shape;1659;p67"/>
          <p:cNvSpPr/>
          <p:nvPr/>
        </p:nvSpPr>
        <p:spPr>
          <a:xfrm>
            <a:off x="6056000" y="3921475"/>
            <a:ext cx="549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15</a:t>
            </a:r>
            <a:endParaRPr sz="1800">
              <a:latin typeface="Roboto"/>
              <a:ea typeface="Roboto"/>
              <a:cs typeface="Roboto"/>
              <a:sym typeface="Roboto"/>
            </a:endParaRPr>
          </a:p>
        </p:txBody>
      </p:sp>
      <p:sp>
        <p:nvSpPr>
          <p:cNvPr id="1660" name="Google Shape;1660;p67"/>
          <p:cNvSpPr/>
          <p:nvPr/>
        </p:nvSpPr>
        <p:spPr>
          <a:xfrm>
            <a:off x="6006302" y="263999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661" name="Google Shape;1661;p67"/>
          <p:cNvSpPr/>
          <p:nvPr/>
        </p:nvSpPr>
        <p:spPr>
          <a:xfrm>
            <a:off x="6984714" y="225165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662" name="Google Shape;1662;p67"/>
          <p:cNvSpPr/>
          <p:nvPr/>
        </p:nvSpPr>
        <p:spPr>
          <a:xfrm>
            <a:off x="5966017" y="1891633"/>
            <a:ext cx="549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11</a:t>
            </a:r>
            <a:endParaRPr sz="1800">
              <a:latin typeface="Roboto"/>
              <a:ea typeface="Roboto"/>
              <a:cs typeface="Roboto"/>
              <a:sym typeface="Roboto"/>
            </a:endParaRPr>
          </a:p>
        </p:txBody>
      </p:sp>
      <p:sp>
        <p:nvSpPr>
          <p:cNvPr id="1663" name="Google Shape;1663;p67"/>
          <p:cNvSpPr/>
          <p:nvPr/>
        </p:nvSpPr>
        <p:spPr>
          <a:xfrm>
            <a:off x="7706689" y="290411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sp>
        <p:nvSpPr>
          <p:cNvPr id="1664" name="Google Shape;1664;p67"/>
          <p:cNvSpPr/>
          <p:nvPr/>
        </p:nvSpPr>
        <p:spPr>
          <a:xfrm>
            <a:off x="7968747" y="3493981"/>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65" name="Google Shape;1665;p67"/>
          <p:cNvSpPr/>
          <p:nvPr/>
        </p:nvSpPr>
        <p:spPr>
          <a:xfrm>
            <a:off x="7840072" y="2116244"/>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66" name="Google Shape;1666;p67"/>
          <p:cNvSpPr/>
          <p:nvPr/>
        </p:nvSpPr>
        <p:spPr>
          <a:xfrm>
            <a:off x="7001553" y="3484516"/>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1667" name="Google Shape;1667;p67"/>
          <p:cNvCxnSpPr/>
          <p:nvPr/>
        </p:nvCxnSpPr>
        <p:spPr>
          <a:xfrm flipH="1">
            <a:off x="5370694" y="3146220"/>
            <a:ext cx="1473600" cy="777300"/>
          </a:xfrm>
          <a:prstGeom prst="straightConnector1">
            <a:avLst/>
          </a:prstGeom>
          <a:noFill/>
          <a:ln w="19050" cap="flat" cmpd="sng">
            <a:solidFill>
              <a:srgbClr val="666666"/>
            </a:solidFill>
            <a:prstDash val="solid"/>
            <a:round/>
            <a:headEnd type="none" w="med" len="med"/>
            <a:tailEnd type="triangle" w="med" len="med"/>
          </a:ln>
        </p:spPr>
      </p:cxnSp>
      <p:sp>
        <p:nvSpPr>
          <p:cNvPr id="1668" name="Google Shape;1668;p67"/>
          <p:cNvSpPr/>
          <p:nvPr/>
        </p:nvSpPr>
        <p:spPr>
          <a:xfrm>
            <a:off x="5988090" y="3398495"/>
            <a:ext cx="2529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69" name="Google Shape;1669;p67"/>
          <p:cNvSpPr txBox="1"/>
          <p:nvPr/>
        </p:nvSpPr>
        <p:spPr>
          <a:xfrm>
            <a:off x="5052827" y="1873913"/>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a:t>
            </a:r>
            <a:endParaRPr sz="1800">
              <a:solidFill>
                <a:srgbClr val="FF43F0"/>
              </a:solidFill>
              <a:latin typeface="Roboto"/>
              <a:ea typeface="Roboto"/>
              <a:cs typeface="Roboto"/>
              <a:sym typeface="Roboto"/>
            </a:endParaRPr>
          </a:p>
        </p:txBody>
      </p:sp>
      <p:sp>
        <p:nvSpPr>
          <p:cNvPr id="1670" name="Google Shape;1670;p67"/>
          <p:cNvSpPr txBox="1"/>
          <p:nvPr/>
        </p:nvSpPr>
        <p:spPr>
          <a:xfrm>
            <a:off x="6681553" y="1739259"/>
            <a:ext cx="4812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13</a:t>
            </a:r>
            <a:endParaRPr sz="1800">
              <a:solidFill>
                <a:srgbClr val="FF43F0"/>
              </a:solidFill>
              <a:latin typeface="Roboto"/>
              <a:ea typeface="Roboto"/>
              <a:cs typeface="Roboto"/>
              <a:sym typeface="Roboto"/>
            </a:endParaRPr>
          </a:p>
        </p:txBody>
      </p:sp>
      <p:sp>
        <p:nvSpPr>
          <p:cNvPr id="1671" name="Google Shape;1671;p67"/>
          <p:cNvSpPr txBox="1"/>
          <p:nvPr/>
        </p:nvSpPr>
        <p:spPr>
          <a:xfrm>
            <a:off x="5199892" y="3430667"/>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7</a:t>
            </a:r>
            <a:endParaRPr sz="1800">
              <a:solidFill>
                <a:srgbClr val="FF43F0"/>
              </a:solidFill>
              <a:latin typeface="Roboto"/>
              <a:ea typeface="Roboto"/>
              <a:cs typeface="Roboto"/>
              <a:sym typeface="Roboto"/>
            </a:endParaRPr>
          </a:p>
        </p:txBody>
      </p:sp>
      <p:sp>
        <p:nvSpPr>
          <p:cNvPr id="1672" name="Google Shape;1672;p67"/>
          <p:cNvSpPr txBox="1"/>
          <p:nvPr/>
        </p:nvSpPr>
        <p:spPr>
          <a:xfrm>
            <a:off x="7067777" y="2653225"/>
            <a:ext cx="5499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15</a:t>
            </a:r>
            <a:endParaRPr sz="1800">
              <a:solidFill>
                <a:srgbClr val="FF43F0"/>
              </a:solidFill>
              <a:latin typeface="Roboto"/>
              <a:ea typeface="Roboto"/>
              <a:cs typeface="Roboto"/>
              <a:sym typeface="Roboto"/>
            </a:endParaRPr>
          </a:p>
        </p:txBody>
      </p:sp>
      <p:sp>
        <p:nvSpPr>
          <p:cNvPr id="1673" name="Google Shape;1673;p67"/>
          <p:cNvSpPr txBox="1"/>
          <p:nvPr/>
        </p:nvSpPr>
        <p:spPr>
          <a:xfrm>
            <a:off x="7291045" y="3707465"/>
            <a:ext cx="4812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22</a:t>
            </a:r>
            <a:endParaRPr sz="1800">
              <a:solidFill>
                <a:srgbClr val="FF43F0"/>
              </a:solidFill>
              <a:latin typeface="Roboto"/>
              <a:ea typeface="Roboto"/>
              <a:cs typeface="Roboto"/>
              <a:sym typeface="Roboto"/>
            </a:endParaRPr>
          </a:p>
        </p:txBody>
      </p:sp>
      <p:sp>
        <p:nvSpPr>
          <p:cNvPr id="1674" name="Google Shape;1674;p67"/>
          <p:cNvSpPr txBox="1"/>
          <p:nvPr/>
        </p:nvSpPr>
        <p:spPr>
          <a:xfrm>
            <a:off x="8557074" y="2420224"/>
            <a:ext cx="5010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20</a:t>
            </a:r>
            <a:endParaRPr sz="1800">
              <a:solidFill>
                <a:srgbClr val="FF43F0"/>
              </a:solidFill>
              <a:latin typeface="Roboto"/>
              <a:ea typeface="Roboto"/>
              <a:cs typeface="Roboto"/>
              <a:sym typeface="Roboto"/>
            </a:endParaRPr>
          </a:p>
        </p:txBody>
      </p:sp>
      <p:sp>
        <p:nvSpPr>
          <p:cNvPr id="1675" name="Google Shape;1675;p67"/>
          <p:cNvSpPr txBox="1">
            <a:spLocks noGrp="1"/>
          </p:cNvSpPr>
          <p:nvPr>
            <p:ph type="body" idx="1"/>
          </p:nvPr>
        </p:nvSpPr>
        <p:spPr>
          <a:xfrm>
            <a:off x="109125" y="1354850"/>
            <a:ext cx="3009300" cy="2657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Some surprising facts:</a:t>
            </a:r>
            <a:endParaRPr dirty="0"/>
          </a:p>
          <a:p>
            <a:pPr marL="457200" marR="0" lvl="0" indent="-355600" algn="l" rtl="0">
              <a:lnSpc>
                <a:spcPct val="100000"/>
              </a:lnSpc>
              <a:spcBef>
                <a:spcPts val="600"/>
              </a:spcBef>
              <a:spcAft>
                <a:spcPts val="0"/>
              </a:spcAft>
              <a:buClr>
                <a:schemeClr val="dk1"/>
              </a:buClr>
              <a:buSzPts val="2000"/>
              <a:buFont typeface="Calibri"/>
              <a:buChar char="●"/>
            </a:pPr>
            <a:r>
              <a:rPr lang="en" dirty="0"/>
              <a:t>Best known algorithm is exponential (extremely bad).</a:t>
            </a:r>
            <a:endParaRPr dirty="0"/>
          </a:p>
          <a:p>
            <a:pPr marL="457200" lvl="0" indent="-342900" algn="l" rtl="0">
              <a:spcBef>
                <a:spcPts val="600"/>
              </a:spcBef>
              <a:spcAft>
                <a:spcPts val="0"/>
              </a:spcAft>
              <a:buSzPts val="1800"/>
              <a:buChar char="●"/>
            </a:pPr>
            <a:r>
              <a:rPr lang="en" b="1" dirty="0">
                <a:solidFill>
                  <a:srgbClr val="FF0000"/>
                </a:solidFill>
              </a:rPr>
              <a:t>Perhaps the most important unsolved problem in mathematics.</a:t>
            </a:r>
            <a:endParaRPr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679"/>
        <p:cNvGrpSpPr/>
        <p:nvPr/>
      </p:nvGrpSpPr>
      <p:grpSpPr>
        <a:xfrm>
          <a:off x="0" y="0"/>
          <a:ext cx="0" cy="0"/>
          <a:chOff x="0" y="0"/>
          <a:chExt cx="0" cy="0"/>
        </a:xfrm>
      </p:grpSpPr>
      <p:sp>
        <p:nvSpPr>
          <p:cNvPr id="1680" name="Google Shape;1680;p6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Longest Paths Problem on DAGs</a:t>
            </a:r>
            <a:endParaRPr/>
          </a:p>
        </p:txBody>
      </p:sp>
      <p:sp>
        <p:nvSpPr>
          <p:cNvPr id="1681" name="Google Shape;1681;p68"/>
          <p:cNvSpPr txBox="1">
            <a:spLocks noGrp="1"/>
          </p:cNvSpPr>
          <p:nvPr>
            <p:ph type="body" idx="1"/>
          </p:nvPr>
        </p:nvSpPr>
        <p:spPr>
          <a:xfrm>
            <a:off x="107050" y="402200"/>
            <a:ext cx="8520600" cy="1626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Difficult challenge for you.</a:t>
            </a:r>
            <a:endParaRPr/>
          </a:p>
          <a:p>
            <a:pPr marL="457200" lvl="0" indent="-342900" algn="l" rtl="0">
              <a:spcBef>
                <a:spcPts val="600"/>
              </a:spcBef>
              <a:spcAft>
                <a:spcPts val="0"/>
              </a:spcAft>
              <a:buSzPts val="1800"/>
              <a:buChar char="●"/>
            </a:pPr>
            <a:r>
              <a:rPr lang="en"/>
              <a:t>Solve the LPT problem on a directed acyclic graph.</a:t>
            </a:r>
            <a:endParaRPr/>
          </a:p>
          <a:p>
            <a:pPr marL="457200" lvl="0" indent="-342900" algn="l" rtl="0">
              <a:spcBef>
                <a:spcPts val="600"/>
              </a:spcBef>
              <a:spcAft>
                <a:spcPts val="0"/>
              </a:spcAft>
              <a:buSzPts val="1800"/>
              <a:buChar char="●"/>
            </a:pPr>
            <a:r>
              <a:rPr lang="en"/>
              <a:t>Algorithm must be O(E + V) runtime.</a:t>
            </a:r>
            <a:endParaRPr/>
          </a:p>
        </p:txBody>
      </p:sp>
      <p:grpSp>
        <p:nvGrpSpPr>
          <p:cNvPr id="1682" name="Google Shape;1682;p68"/>
          <p:cNvGrpSpPr/>
          <p:nvPr/>
        </p:nvGrpSpPr>
        <p:grpSpPr>
          <a:xfrm>
            <a:off x="1789005" y="2603100"/>
            <a:ext cx="5565975" cy="1879300"/>
            <a:chOff x="1289193" y="2118700"/>
            <a:chExt cx="5565975" cy="1879300"/>
          </a:xfrm>
        </p:grpSpPr>
        <p:sp>
          <p:nvSpPr>
            <p:cNvPr id="1683" name="Google Shape;1683;p68"/>
            <p:cNvSpPr/>
            <p:nvPr/>
          </p:nvSpPr>
          <p:spPr>
            <a:xfrm>
              <a:off x="3199306" y="21389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684" name="Google Shape;1684;p68"/>
            <p:cNvSpPr/>
            <p:nvPr/>
          </p:nvSpPr>
          <p:spPr>
            <a:xfrm>
              <a:off x="3199306" y="36935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685" name="Google Shape;1685;p68"/>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686" name="Google Shape;1686;p68"/>
            <p:cNvSpPr/>
            <p:nvPr/>
          </p:nvSpPr>
          <p:spPr>
            <a:xfrm>
              <a:off x="4843681" y="36934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687" name="Google Shape;1687;p68"/>
            <p:cNvSpPr/>
            <p:nvPr/>
          </p:nvSpPr>
          <p:spPr>
            <a:xfrm>
              <a:off x="6467868"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688" name="Google Shape;1688;p68"/>
            <p:cNvCxnSpPr>
              <a:stCxn id="1683" idx="2"/>
              <a:endCxn id="1684" idx="0"/>
            </p:cNvCxnSpPr>
            <p:nvPr/>
          </p:nvCxnSpPr>
          <p:spPr>
            <a:xfrm>
              <a:off x="3392956" y="2443476"/>
              <a:ext cx="0" cy="1250100"/>
            </a:xfrm>
            <a:prstGeom prst="straightConnector1">
              <a:avLst/>
            </a:prstGeom>
            <a:noFill/>
            <a:ln w="38100" cap="flat" cmpd="sng">
              <a:solidFill>
                <a:srgbClr val="000000"/>
              </a:solidFill>
              <a:prstDash val="solid"/>
              <a:round/>
              <a:headEnd type="triangle" w="med" len="med"/>
              <a:tailEnd type="none" w="med" len="med"/>
            </a:ln>
          </p:spPr>
        </p:cxnSp>
        <p:cxnSp>
          <p:nvCxnSpPr>
            <p:cNvPr id="1689" name="Google Shape;1689;p68"/>
            <p:cNvCxnSpPr>
              <a:stCxn id="1685" idx="2"/>
              <a:endCxn id="1686" idx="0"/>
            </p:cNvCxnSpPr>
            <p:nvPr/>
          </p:nvCxnSpPr>
          <p:spPr>
            <a:xfrm>
              <a:off x="5027237" y="2433300"/>
              <a:ext cx="10200" cy="1260300"/>
            </a:xfrm>
            <a:prstGeom prst="straightConnector1">
              <a:avLst/>
            </a:prstGeom>
            <a:noFill/>
            <a:ln w="38100" cap="flat" cmpd="sng">
              <a:solidFill>
                <a:srgbClr val="000000"/>
              </a:solidFill>
              <a:prstDash val="solid"/>
              <a:round/>
              <a:headEnd type="none" w="med" len="med"/>
              <a:tailEnd type="triangle" w="med" len="med"/>
            </a:ln>
          </p:spPr>
        </p:cxnSp>
        <p:sp>
          <p:nvSpPr>
            <p:cNvPr id="1690" name="Google Shape;1690;p68"/>
            <p:cNvSpPr/>
            <p:nvPr/>
          </p:nvSpPr>
          <p:spPr>
            <a:xfrm>
              <a:off x="1565025"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1691" name="Google Shape;1691;p68"/>
            <p:cNvCxnSpPr>
              <a:stCxn id="1690" idx="3"/>
              <a:endCxn id="1683" idx="1"/>
            </p:cNvCxnSpPr>
            <p:nvPr/>
          </p:nvCxnSpPr>
          <p:spPr>
            <a:xfrm rot="10800000" flipH="1">
              <a:off x="1952325" y="2291188"/>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1692" name="Google Shape;1692;p68"/>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693" name="Google Shape;1693;p68"/>
            <p:cNvCxnSpPr>
              <a:stCxn id="1690" idx="3"/>
              <a:endCxn id="1684" idx="1"/>
            </p:cNvCxnSpPr>
            <p:nvPr/>
          </p:nvCxnSpPr>
          <p:spPr>
            <a:xfrm>
              <a:off x="1952325" y="30684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1694" name="Google Shape;1694;p68"/>
            <p:cNvCxnSpPr>
              <a:stCxn id="1686" idx="3"/>
              <a:endCxn id="1687" idx="1"/>
            </p:cNvCxnSpPr>
            <p:nvPr/>
          </p:nvCxnSpPr>
          <p:spPr>
            <a:xfrm rot="10800000" flipH="1">
              <a:off x="5230981" y="3068445"/>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1695" name="Google Shape;1695;p68"/>
            <p:cNvCxnSpPr>
              <a:stCxn id="1683" idx="3"/>
              <a:endCxn id="1685" idx="1"/>
            </p:cNvCxnSpPr>
            <p:nvPr/>
          </p:nvCxnSpPr>
          <p:spPr>
            <a:xfrm rot="10800000" flipH="1">
              <a:off x="3586606" y="2281026"/>
              <a:ext cx="1247100" cy="10200"/>
            </a:xfrm>
            <a:prstGeom prst="straightConnector1">
              <a:avLst/>
            </a:prstGeom>
            <a:noFill/>
            <a:ln w="38100" cap="flat" cmpd="sng">
              <a:solidFill>
                <a:srgbClr val="000000"/>
              </a:solidFill>
              <a:prstDash val="solid"/>
              <a:round/>
              <a:headEnd type="none" w="med" len="med"/>
              <a:tailEnd type="triangle" w="med" len="med"/>
            </a:ln>
          </p:spPr>
        </p:cxnSp>
        <p:sp>
          <p:nvSpPr>
            <p:cNvPr id="1696" name="Google Shape;1696;p68"/>
            <p:cNvSpPr/>
            <p:nvPr/>
          </p:nvSpPr>
          <p:spPr>
            <a:xfrm>
              <a:off x="3255028" y="2872018"/>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1697" name="Google Shape;1697;p68"/>
            <p:cNvCxnSpPr>
              <a:stCxn id="1687" idx="1"/>
              <a:endCxn id="1685" idx="3"/>
            </p:cNvCxnSpPr>
            <p:nvPr/>
          </p:nvCxnSpPr>
          <p:spPr>
            <a:xfrm rot="10800000">
              <a:off x="5220768" y="2280988"/>
              <a:ext cx="1247100" cy="787500"/>
            </a:xfrm>
            <a:prstGeom prst="straightConnector1">
              <a:avLst/>
            </a:prstGeom>
            <a:noFill/>
            <a:ln w="38100" cap="flat" cmpd="sng">
              <a:solidFill>
                <a:srgbClr val="000000"/>
              </a:solidFill>
              <a:prstDash val="solid"/>
              <a:round/>
              <a:headEnd type="triangle" w="med" len="med"/>
              <a:tailEnd type="none" w="med" len="med"/>
            </a:ln>
          </p:spPr>
        </p:cxnSp>
        <p:sp>
          <p:nvSpPr>
            <p:cNvPr id="1698" name="Google Shape;1698;p68"/>
            <p:cNvSpPr/>
            <p:nvPr/>
          </p:nvSpPr>
          <p:spPr>
            <a:xfrm>
              <a:off x="2455266" y="2495168"/>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699" name="Google Shape;1699;p68"/>
            <p:cNvSpPr/>
            <p:nvPr/>
          </p:nvSpPr>
          <p:spPr>
            <a:xfrm>
              <a:off x="2417934" y="3305981"/>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700" name="Google Shape;1700;p68"/>
            <p:cNvSpPr/>
            <p:nvPr/>
          </p:nvSpPr>
          <p:spPr>
            <a:xfrm>
              <a:off x="5720308" y="2493220"/>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701" name="Google Shape;1701;p68"/>
            <p:cNvSpPr/>
            <p:nvPr/>
          </p:nvSpPr>
          <p:spPr>
            <a:xfrm>
              <a:off x="4104972" y="2118700"/>
              <a:ext cx="3174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1702" name="Google Shape;1702;p68"/>
            <p:cNvSpPr/>
            <p:nvPr/>
          </p:nvSpPr>
          <p:spPr>
            <a:xfrm>
              <a:off x="5713741" y="3325565"/>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703" name="Google Shape;1703;p68"/>
            <p:cNvCxnSpPr>
              <a:stCxn id="1686" idx="1"/>
              <a:endCxn id="1684" idx="3"/>
            </p:cNvCxnSpPr>
            <p:nvPr/>
          </p:nvCxnSpPr>
          <p:spPr>
            <a:xfrm rot="10800000">
              <a:off x="3586681" y="3845745"/>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1704" name="Google Shape;1704;p68"/>
            <p:cNvSpPr/>
            <p:nvPr/>
          </p:nvSpPr>
          <p:spPr>
            <a:xfrm>
              <a:off x="4876084" y="2889482"/>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705" name="Google Shape;1705;p68"/>
            <p:cNvSpPr/>
            <p:nvPr/>
          </p:nvSpPr>
          <p:spPr>
            <a:xfrm>
              <a:off x="4051357" y="3719291"/>
              <a:ext cx="252900" cy="252900"/>
            </a:xfrm>
            <a:prstGeom prst="rect">
              <a:avLst/>
            </a:prstGeom>
            <a:solidFill>
              <a:srgbClr val="C9DAF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grpSp>
      <p:sp>
        <p:nvSpPr>
          <p:cNvPr id="1706" name="Google Shape;1706;p68"/>
          <p:cNvSpPr txBox="1"/>
          <p:nvPr/>
        </p:nvSpPr>
        <p:spPr>
          <a:xfrm>
            <a:off x="3743067" y="2272148"/>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6</a:t>
            </a:r>
            <a:endParaRPr sz="1800">
              <a:solidFill>
                <a:srgbClr val="FF43F0"/>
              </a:solidFill>
            </a:endParaRPr>
          </a:p>
        </p:txBody>
      </p:sp>
      <p:sp>
        <p:nvSpPr>
          <p:cNvPr id="1707" name="Google Shape;1707;p68"/>
          <p:cNvSpPr txBox="1"/>
          <p:nvPr/>
        </p:nvSpPr>
        <p:spPr>
          <a:xfrm>
            <a:off x="3743067" y="4371716"/>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2</a:t>
            </a:r>
            <a:endParaRPr sz="1800">
              <a:solidFill>
                <a:srgbClr val="FF43F0"/>
              </a:solidFill>
            </a:endParaRPr>
          </a:p>
        </p:txBody>
      </p:sp>
      <p:sp>
        <p:nvSpPr>
          <p:cNvPr id="1708" name="Google Shape;1708;p68"/>
          <p:cNvSpPr txBox="1"/>
          <p:nvPr/>
        </p:nvSpPr>
        <p:spPr>
          <a:xfrm>
            <a:off x="5332478" y="2254204"/>
            <a:ext cx="4947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12</a:t>
            </a:r>
            <a:endParaRPr sz="1800">
              <a:solidFill>
                <a:srgbClr val="FF43F0"/>
              </a:solidFill>
            </a:endParaRPr>
          </a:p>
        </p:txBody>
      </p:sp>
      <p:sp>
        <p:nvSpPr>
          <p:cNvPr id="1709" name="Google Shape;1709;p68"/>
          <p:cNvSpPr txBox="1"/>
          <p:nvPr/>
        </p:nvSpPr>
        <p:spPr>
          <a:xfrm>
            <a:off x="6986298" y="3038894"/>
            <a:ext cx="4662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14</a:t>
            </a:r>
            <a:endParaRPr sz="1800">
              <a:solidFill>
                <a:srgbClr val="FF43F0"/>
              </a:solidFill>
            </a:endParaRPr>
          </a:p>
        </p:txBody>
      </p:sp>
      <p:sp>
        <p:nvSpPr>
          <p:cNvPr id="1710" name="Google Shape;1710;p68"/>
          <p:cNvSpPr txBox="1"/>
          <p:nvPr/>
        </p:nvSpPr>
        <p:spPr>
          <a:xfrm>
            <a:off x="5378944" y="4379756"/>
            <a:ext cx="7080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13</a:t>
            </a:r>
            <a:endParaRPr sz="1800">
              <a:solidFill>
                <a:srgbClr val="FF43F0"/>
              </a:solidFill>
            </a:endParaRPr>
          </a:p>
        </p:txBody>
      </p:sp>
      <p:sp>
        <p:nvSpPr>
          <p:cNvPr id="1711" name="Google Shape;1711;p68"/>
          <p:cNvSpPr txBox="1"/>
          <p:nvPr/>
        </p:nvSpPr>
        <p:spPr>
          <a:xfrm>
            <a:off x="2057092" y="3034046"/>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rPr>
              <a:t>0</a:t>
            </a:r>
            <a:endParaRPr sz="1800">
              <a:solidFill>
                <a:srgbClr val="FF43F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15"/>
        <p:cNvGrpSpPr/>
        <p:nvPr/>
      </p:nvGrpSpPr>
      <p:grpSpPr>
        <a:xfrm>
          <a:off x="0" y="0"/>
          <a:ext cx="0" cy="0"/>
          <a:chOff x="0" y="0"/>
          <a:chExt cx="0" cy="0"/>
        </a:xfrm>
      </p:grpSpPr>
      <p:sp>
        <p:nvSpPr>
          <p:cNvPr id="1716" name="Google Shape;1716;p6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Longest Paths Problem on DAGs</a:t>
            </a:r>
            <a:endParaRPr/>
          </a:p>
        </p:txBody>
      </p:sp>
      <p:sp>
        <p:nvSpPr>
          <p:cNvPr id="1717" name="Google Shape;1717;p69"/>
          <p:cNvSpPr txBox="1">
            <a:spLocks noGrp="1"/>
          </p:cNvSpPr>
          <p:nvPr>
            <p:ph type="body" idx="1"/>
          </p:nvPr>
        </p:nvSpPr>
        <p:spPr>
          <a:xfrm>
            <a:off x="107050" y="402200"/>
            <a:ext cx="8520600" cy="1826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DAG LPT solution for graph G:</a:t>
            </a:r>
            <a:endParaRPr/>
          </a:p>
          <a:p>
            <a:pPr marL="457200" lvl="0" indent="-342900" algn="l" rtl="0">
              <a:spcBef>
                <a:spcPts val="600"/>
              </a:spcBef>
              <a:spcAft>
                <a:spcPts val="0"/>
              </a:spcAft>
              <a:buSzPts val="1800"/>
              <a:buChar char="●"/>
            </a:pPr>
            <a:r>
              <a:rPr lang="en"/>
              <a:t>Form a new copy of the graph G’ with signs of all edge weights flipped.</a:t>
            </a:r>
            <a:endParaRPr/>
          </a:p>
          <a:p>
            <a:pPr marL="457200" lvl="0" indent="-342900" algn="l" rtl="0">
              <a:spcBef>
                <a:spcPts val="600"/>
              </a:spcBef>
              <a:spcAft>
                <a:spcPts val="0"/>
              </a:spcAft>
              <a:buSzPts val="1800"/>
              <a:buChar char="●"/>
            </a:pPr>
            <a:r>
              <a:rPr lang="en"/>
              <a:t>Run DAGSPT on G’ yielding result X.</a:t>
            </a:r>
            <a:endParaRPr/>
          </a:p>
          <a:p>
            <a:pPr marL="457200" lvl="0" indent="-342900" algn="l" rtl="0">
              <a:spcBef>
                <a:spcPts val="600"/>
              </a:spcBef>
              <a:spcAft>
                <a:spcPts val="0"/>
              </a:spcAft>
              <a:buSzPts val="1800"/>
              <a:buChar char="●"/>
            </a:pPr>
            <a:r>
              <a:rPr lang="en"/>
              <a:t>Flip signs of all values in X.distTo. X.edgeTo is already correct. </a:t>
            </a:r>
            <a:endParaRPr/>
          </a:p>
        </p:txBody>
      </p:sp>
      <p:grpSp>
        <p:nvGrpSpPr>
          <p:cNvPr id="1718" name="Google Shape;1718;p69"/>
          <p:cNvGrpSpPr/>
          <p:nvPr/>
        </p:nvGrpSpPr>
        <p:grpSpPr>
          <a:xfrm>
            <a:off x="1789005" y="2603100"/>
            <a:ext cx="5565975" cy="1879300"/>
            <a:chOff x="1289193" y="2118700"/>
            <a:chExt cx="5565975" cy="1879300"/>
          </a:xfrm>
        </p:grpSpPr>
        <p:sp>
          <p:nvSpPr>
            <p:cNvPr id="1719" name="Google Shape;1719;p69"/>
            <p:cNvSpPr/>
            <p:nvPr/>
          </p:nvSpPr>
          <p:spPr>
            <a:xfrm>
              <a:off x="3199306" y="21389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720" name="Google Shape;1720;p69"/>
            <p:cNvSpPr/>
            <p:nvPr/>
          </p:nvSpPr>
          <p:spPr>
            <a:xfrm>
              <a:off x="3199306" y="36935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721" name="Google Shape;1721;p69"/>
            <p:cNvSpPr/>
            <p:nvPr/>
          </p:nvSpPr>
          <p:spPr>
            <a:xfrm>
              <a:off x="4833587" y="21288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722" name="Google Shape;1722;p69"/>
            <p:cNvSpPr/>
            <p:nvPr/>
          </p:nvSpPr>
          <p:spPr>
            <a:xfrm>
              <a:off x="4843681" y="36934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723" name="Google Shape;1723;p69"/>
            <p:cNvSpPr/>
            <p:nvPr/>
          </p:nvSpPr>
          <p:spPr>
            <a:xfrm>
              <a:off x="6467868"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724" name="Google Shape;1724;p69"/>
            <p:cNvCxnSpPr>
              <a:stCxn id="1719" idx="2"/>
              <a:endCxn id="1720" idx="0"/>
            </p:cNvCxnSpPr>
            <p:nvPr/>
          </p:nvCxnSpPr>
          <p:spPr>
            <a:xfrm>
              <a:off x="3392956" y="2443476"/>
              <a:ext cx="0" cy="1250100"/>
            </a:xfrm>
            <a:prstGeom prst="straightConnector1">
              <a:avLst/>
            </a:prstGeom>
            <a:noFill/>
            <a:ln w="38100" cap="flat" cmpd="sng">
              <a:solidFill>
                <a:srgbClr val="000000"/>
              </a:solidFill>
              <a:prstDash val="solid"/>
              <a:round/>
              <a:headEnd type="triangle" w="med" len="med"/>
              <a:tailEnd type="none" w="med" len="med"/>
            </a:ln>
          </p:spPr>
        </p:cxnSp>
        <p:cxnSp>
          <p:nvCxnSpPr>
            <p:cNvPr id="1725" name="Google Shape;1725;p69"/>
            <p:cNvCxnSpPr>
              <a:stCxn id="1721" idx="2"/>
              <a:endCxn id="1722" idx="0"/>
            </p:cNvCxnSpPr>
            <p:nvPr/>
          </p:nvCxnSpPr>
          <p:spPr>
            <a:xfrm>
              <a:off x="5027237" y="2433300"/>
              <a:ext cx="10200" cy="1260300"/>
            </a:xfrm>
            <a:prstGeom prst="straightConnector1">
              <a:avLst/>
            </a:prstGeom>
            <a:noFill/>
            <a:ln w="38100" cap="flat" cmpd="sng">
              <a:solidFill>
                <a:srgbClr val="000000"/>
              </a:solidFill>
              <a:prstDash val="solid"/>
              <a:round/>
              <a:headEnd type="none" w="med" len="med"/>
              <a:tailEnd type="triangle" w="med" len="med"/>
            </a:ln>
          </p:spPr>
        </p:cxnSp>
        <p:sp>
          <p:nvSpPr>
            <p:cNvPr id="1726" name="Google Shape;1726;p69"/>
            <p:cNvSpPr/>
            <p:nvPr/>
          </p:nvSpPr>
          <p:spPr>
            <a:xfrm>
              <a:off x="1565025" y="29162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cxnSp>
          <p:nvCxnSpPr>
            <p:cNvPr id="1727" name="Google Shape;1727;p69"/>
            <p:cNvCxnSpPr>
              <a:stCxn id="1726" idx="3"/>
              <a:endCxn id="1719" idx="1"/>
            </p:cNvCxnSpPr>
            <p:nvPr/>
          </p:nvCxnSpPr>
          <p:spPr>
            <a:xfrm rot="10800000" flipH="1">
              <a:off x="1952325" y="2291188"/>
              <a:ext cx="1247100" cy="777300"/>
            </a:xfrm>
            <a:prstGeom prst="straightConnector1">
              <a:avLst/>
            </a:prstGeom>
            <a:noFill/>
            <a:ln w="19050" cap="flat" cmpd="sng">
              <a:solidFill>
                <a:srgbClr val="666666"/>
              </a:solidFill>
              <a:prstDash val="solid"/>
              <a:round/>
              <a:headEnd type="none" w="med" len="med"/>
              <a:tailEnd type="triangle" w="med" len="med"/>
            </a:ln>
          </p:spPr>
        </p:cxnSp>
        <p:sp>
          <p:nvSpPr>
            <p:cNvPr id="1728" name="Google Shape;1728;p69"/>
            <p:cNvSpPr txBox="1"/>
            <p:nvPr/>
          </p:nvSpPr>
          <p:spPr>
            <a:xfrm>
              <a:off x="1289193" y="27060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729" name="Google Shape;1729;p69"/>
            <p:cNvCxnSpPr>
              <a:stCxn id="1726" idx="3"/>
              <a:endCxn id="1720" idx="1"/>
            </p:cNvCxnSpPr>
            <p:nvPr/>
          </p:nvCxnSpPr>
          <p:spPr>
            <a:xfrm>
              <a:off x="1952325" y="30684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1730" name="Google Shape;1730;p69"/>
            <p:cNvCxnSpPr>
              <a:stCxn id="1722" idx="3"/>
              <a:endCxn id="1723" idx="1"/>
            </p:cNvCxnSpPr>
            <p:nvPr/>
          </p:nvCxnSpPr>
          <p:spPr>
            <a:xfrm rot="10800000" flipH="1">
              <a:off x="5230981" y="3068445"/>
              <a:ext cx="1236900" cy="777300"/>
            </a:xfrm>
            <a:prstGeom prst="straightConnector1">
              <a:avLst/>
            </a:prstGeom>
            <a:noFill/>
            <a:ln w="19050" cap="flat" cmpd="sng">
              <a:solidFill>
                <a:srgbClr val="666666"/>
              </a:solidFill>
              <a:prstDash val="solid"/>
              <a:round/>
              <a:headEnd type="none" w="med" len="med"/>
              <a:tailEnd type="triangle" w="med" len="med"/>
            </a:ln>
          </p:spPr>
        </p:cxnSp>
        <p:cxnSp>
          <p:nvCxnSpPr>
            <p:cNvPr id="1731" name="Google Shape;1731;p69"/>
            <p:cNvCxnSpPr>
              <a:stCxn id="1719" idx="3"/>
              <a:endCxn id="1721" idx="1"/>
            </p:cNvCxnSpPr>
            <p:nvPr/>
          </p:nvCxnSpPr>
          <p:spPr>
            <a:xfrm rot="10800000" flipH="1">
              <a:off x="3586606" y="2281026"/>
              <a:ext cx="1247100" cy="10200"/>
            </a:xfrm>
            <a:prstGeom prst="straightConnector1">
              <a:avLst/>
            </a:prstGeom>
            <a:noFill/>
            <a:ln w="38100" cap="flat" cmpd="sng">
              <a:solidFill>
                <a:srgbClr val="000000"/>
              </a:solidFill>
              <a:prstDash val="solid"/>
              <a:round/>
              <a:headEnd type="none" w="med" len="med"/>
              <a:tailEnd type="triangle" w="med" len="med"/>
            </a:ln>
          </p:spPr>
        </p:cxnSp>
        <p:sp>
          <p:nvSpPr>
            <p:cNvPr id="1732" name="Google Shape;1732;p69"/>
            <p:cNvSpPr/>
            <p:nvPr/>
          </p:nvSpPr>
          <p:spPr>
            <a:xfrm>
              <a:off x="3255043" y="2872025"/>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cxnSp>
          <p:nvCxnSpPr>
            <p:cNvPr id="1733" name="Google Shape;1733;p69"/>
            <p:cNvCxnSpPr>
              <a:stCxn id="1723" idx="1"/>
              <a:endCxn id="1721" idx="3"/>
            </p:cNvCxnSpPr>
            <p:nvPr/>
          </p:nvCxnSpPr>
          <p:spPr>
            <a:xfrm rot="10800000">
              <a:off x="5220768" y="2280988"/>
              <a:ext cx="1247100" cy="787500"/>
            </a:xfrm>
            <a:prstGeom prst="straightConnector1">
              <a:avLst/>
            </a:prstGeom>
            <a:noFill/>
            <a:ln w="38100" cap="flat" cmpd="sng">
              <a:solidFill>
                <a:srgbClr val="000000"/>
              </a:solidFill>
              <a:prstDash val="solid"/>
              <a:round/>
              <a:headEnd type="triangle" w="med" len="med"/>
              <a:tailEnd type="none" w="med" len="med"/>
            </a:ln>
          </p:spPr>
        </p:cxnSp>
        <p:sp>
          <p:nvSpPr>
            <p:cNvPr id="1734" name="Google Shape;1734;p69"/>
            <p:cNvSpPr/>
            <p:nvPr/>
          </p:nvSpPr>
          <p:spPr>
            <a:xfrm>
              <a:off x="2455260" y="2495175"/>
              <a:ext cx="444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735" name="Google Shape;1735;p69"/>
            <p:cNvSpPr/>
            <p:nvPr/>
          </p:nvSpPr>
          <p:spPr>
            <a:xfrm>
              <a:off x="2417941" y="3305975"/>
              <a:ext cx="4815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736" name="Google Shape;1736;p69"/>
            <p:cNvSpPr/>
            <p:nvPr/>
          </p:nvSpPr>
          <p:spPr>
            <a:xfrm>
              <a:off x="5720315" y="2493225"/>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737" name="Google Shape;1737;p69"/>
            <p:cNvSpPr/>
            <p:nvPr/>
          </p:nvSpPr>
          <p:spPr>
            <a:xfrm>
              <a:off x="4104960" y="2118700"/>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-6</a:t>
              </a:r>
              <a:endParaRPr sz="1800">
                <a:latin typeface="Roboto"/>
                <a:ea typeface="Roboto"/>
                <a:cs typeface="Roboto"/>
                <a:sym typeface="Roboto"/>
              </a:endParaRPr>
            </a:p>
          </p:txBody>
        </p:sp>
        <p:sp>
          <p:nvSpPr>
            <p:cNvPr id="1738" name="Google Shape;1738;p69"/>
            <p:cNvSpPr/>
            <p:nvPr/>
          </p:nvSpPr>
          <p:spPr>
            <a:xfrm>
              <a:off x="5713735" y="3325575"/>
              <a:ext cx="4392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cxnSp>
          <p:nvCxnSpPr>
            <p:cNvPr id="1739" name="Google Shape;1739;p69"/>
            <p:cNvCxnSpPr>
              <a:stCxn id="1722" idx="1"/>
              <a:endCxn id="1720" idx="3"/>
            </p:cNvCxnSpPr>
            <p:nvPr/>
          </p:nvCxnSpPr>
          <p:spPr>
            <a:xfrm rot="10800000">
              <a:off x="3586681" y="3845745"/>
              <a:ext cx="1257000" cy="0"/>
            </a:xfrm>
            <a:prstGeom prst="straightConnector1">
              <a:avLst/>
            </a:prstGeom>
            <a:noFill/>
            <a:ln w="19050" cap="flat" cmpd="sng">
              <a:solidFill>
                <a:srgbClr val="666666"/>
              </a:solidFill>
              <a:prstDash val="solid"/>
              <a:round/>
              <a:headEnd type="triangle" w="med" len="med"/>
              <a:tailEnd type="none" w="med" len="med"/>
            </a:ln>
          </p:spPr>
        </p:cxnSp>
        <p:sp>
          <p:nvSpPr>
            <p:cNvPr id="1740" name="Google Shape;1740;p69"/>
            <p:cNvSpPr/>
            <p:nvPr/>
          </p:nvSpPr>
          <p:spPr>
            <a:xfrm>
              <a:off x="4876090" y="2889475"/>
              <a:ext cx="4815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741" name="Google Shape;1741;p69"/>
            <p:cNvSpPr/>
            <p:nvPr/>
          </p:nvSpPr>
          <p:spPr>
            <a:xfrm>
              <a:off x="4051365" y="3719300"/>
              <a:ext cx="387300" cy="252900"/>
            </a:xfrm>
            <a:prstGeom prst="rect">
              <a:avLst/>
            </a:prstGeom>
            <a:solidFill>
              <a:srgbClr val="FFFFFF"/>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grpSp>
      <p:sp>
        <p:nvSpPr>
          <p:cNvPr id="1742" name="Google Shape;1742;p69"/>
          <p:cNvSpPr txBox="1"/>
          <p:nvPr/>
        </p:nvSpPr>
        <p:spPr>
          <a:xfrm>
            <a:off x="3743078" y="2272150"/>
            <a:ext cx="4392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-6</a:t>
            </a:r>
            <a:endParaRPr sz="1800">
              <a:solidFill>
                <a:srgbClr val="FF43F0"/>
              </a:solidFill>
              <a:latin typeface="Roboto"/>
              <a:ea typeface="Roboto"/>
              <a:cs typeface="Roboto"/>
              <a:sym typeface="Roboto"/>
            </a:endParaRPr>
          </a:p>
        </p:txBody>
      </p:sp>
      <p:sp>
        <p:nvSpPr>
          <p:cNvPr id="1743" name="Google Shape;1743;p69"/>
          <p:cNvSpPr txBox="1"/>
          <p:nvPr/>
        </p:nvSpPr>
        <p:spPr>
          <a:xfrm>
            <a:off x="3743082" y="4371725"/>
            <a:ext cx="5778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a:t>
            </a:r>
            <a:endParaRPr sz="1800">
              <a:solidFill>
                <a:srgbClr val="FF43F0"/>
              </a:solidFill>
              <a:latin typeface="Roboto"/>
              <a:ea typeface="Roboto"/>
              <a:cs typeface="Roboto"/>
              <a:sym typeface="Roboto"/>
            </a:endParaRPr>
          </a:p>
        </p:txBody>
      </p:sp>
      <p:sp>
        <p:nvSpPr>
          <p:cNvPr id="1744" name="Google Shape;1744;p69"/>
          <p:cNvSpPr txBox="1"/>
          <p:nvPr/>
        </p:nvSpPr>
        <p:spPr>
          <a:xfrm>
            <a:off x="5332472" y="2254200"/>
            <a:ext cx="9159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-12</a:t>
            </a:r>
            <a:endParaRPr sz="1800">
              <a:solidFill>
                <a:srgbClr val="FF43F0"/>
              </a:solidFill>
              <a:latin typeface="Roboto"/>
              <a:ea typeface="Roboto"/>
              <a:cs typeface="Roboto"/>
              <a:sym typeface="Roboto"/>
            </a:endParaRPr>
          </a:p>
        </p:txBody>
      </p:sp>
      <p:sp>
        <p:nvSpPr>
          <p:cNvPr id="1745" name="Google Shape;1745;p69"/>
          <p:cNvSpPr txBox="1"/>
          <p:nvPr/>
        </p:nvSpPr>
        <p:spPr>
          <a:xfrm>
            <a:off x="6986301" y="3038900"/>
            <a:ext cx="7935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-14</a:t>
            </a:r>
            <a:endParaRPr sz="1800">
              <a:solidFill>
                <a:srgbClr val="FF43F0"/>
              </a:solidFill>
              <a:latin typeface="Roboto"/>
              <a:ea typeface="Roboto"/>
              <a:cs typeface="Roboto"/>
              <a:sym typeface="Roboto"/>
            </a:endParaRPr>
          </a:p>
        </p:txBody>
      </p:sp>
      <p:sp>
        <p:nvSpPr>
          <p:cNvPr id="1746" name="Google Shape;1746;p69"/>
          <p:cNvSpPr txBox="1"/>
          <p:nvPr/>
        </p:nvSpPr>
        <p:spPr>
          <a:xfrm>
            <a:off x="5378944" y="4379756"/>
            <a:ext cx="7080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-13</a:t>
            </a:r>
            <a:endParaRPr sz="1800">
              <a:solidFill>
                <a:srgbClr val="FF43F0"/>
              </a:solidFill>
              <a:latin typeface="Roboto"/>
              <a:ea typeface="Roboto"/>
              <a:cs typeface="Roboto"/>
              <a:sym typeface="Roboto"/>
            </a:endParaRPr>
          </a:p>
        </p:txBody>
      </p:sp>
      <p:sp>
        <p:nvSpPr>
          <p:cNvPr id="1747" name="Google Shape;1747;p69"/>
          <p:cNvSpPr txBox="1"/>
          <p:nvPr/>
        </p:nvSpPr>
        <p:spPr>
          <a:xfrm>
            <a:off x="2057092" y="3034046"/>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0</a:t>
            </a:r>
            <a:endParaRPr sz="1800">
              <a:solidFill>
                <a:srgbClr val="FF43F0"/>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51"/>
        <p:cNvGrpSpPr/>
        <p:nvPr/>
      </p:nvGrpSpPr>
      <p:grpSpPr>
        <a:xfrm>
          <a:off x="0" y="0"/>
          <a:ext cx="0" cy="0"/>
          <a:chOff x="0" y="0"/>
          <a:chExt cx="0" cy="0"/>
        </a:xfrm>
      </p:grpSpPr>
      <p:sp>
        <p:nvSpPr>
          <p:cNvPr id="1752" name="Google Shape;1752;p7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Longest Paths Problem on DAGs</a:t>
            </a:r>
            <a:endParaRPr/>
          </a:p>
        </p:txBody>
      </p:sp>
      <p:sp>
        <p:nvSpPr>
          <p:cNvPr id="1753" name="Google Shape;1753;p70"/>
          <p:cNvSpPr txBox="1">
            <a:spLocks noGrp="1"/>
          </p:cNvSpPr>
          <p:nvPr>
            <p:ph type="body" idx="1"/>
          </p:nvPr>
        </p:nvSpPr>
        <p:spPr>
          <a:xfrm>
            <a:off x="107050" y="402200"/>
            <a:ext cx="8520600" cy="1851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DAG LPT solution for graph G:</a:t>
            </a:r>
            <a:endParaRPr/>
          </a:p>
          <a:p>
            <a:pPr marL="457200" lvl="0" indent="-342900" algn="l" rtl="0">
              <a:spcBef>
                <a:spcPts val="600"/>
              </a:spcBef>
              <a:spcAft>
                <a:spcPts val="0"/>
              </a:spcAft>
              <a:buSzPts val="1800"/>
              <a:buChar char="●"/>
            </a:pPr>
            <a:r>
              <a:rPr lang="en"/>
              <a:t>Form a new copy of the graph G’ with signs of all edge weights flipped.</a:t>
            </a:r>
            <a:endParaRPr/>
          </a:p>
          <a:p>
            <a:pPr marL="457200" lvl="0" indent="-342900" algn="l" rtl="0">
              <a:spcBef>
                <a:spcPts val="600"/>
              </a:spcBef>
              <a:spcAft>
                <a:spcPts val="0"/>
              </a:spcAft>
              <a:buSzPts val="1800"/>
              <a:buChar char="●"/>
            </a:pPr>
            <a:r>
              <a:rPr lang="en"/>
              <a:t>Run DAGSPT on G’ yielding result X.</a:t>
            </a:r>
            <a:endParaRPr/>
          </a:p>
          <a:p>
            <a:pPr marL="457200" lvl="0" indent="-342900" algn="l" rtl="0">
              <a:spcBef>
                <a:spcPts val="600"/>
              </a:spcBef>
              <a:spcAft>
                <a:spcPts val="0"/>
              </a:spcAft>
              <a:buSzPts val="1800"/>
              <a:buChar char="●"/>
            </a:pPr>
            <a:r>
              <a:rPr lang="en"/>
              <a:t>Flip signs of all values in X.distTo. X.edgeTo is already correct. </a:t>
            </a:r>
            <a:endParaRPr/>
          </a:p>
        </p:txBody>
      </p:sp>
      <p:sp>
        <p:nvSpPr>
          <p:cNvPr id="1754" name="Google Shape;1754;p70"/>
          <p:cNvSpPr/>
          <p:nvPr/>
        </p:nvSpPr>
        <p:spPr>
          <a:xfrm>
            <a:off x="3699119" y="2623376"/>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B</a:t>
            </a:r>
            <a:endParaRPr sz="1700">
              <a:latin typeface="Roboto"/>
              <a:ea typeface="Roboto"/>
              <a:cs typeface="Roboto"/>
              <a:sym typeface="Roboto"/>
            </a:endParaRPr>
          </a:p>
        </p:txBody>
      </p:sp>
      <p:sp>
        <p:nvSpPr>
          <p:cNvPr id="1755" name="Google Shape;1755;p70"/>
          <p:cNvSpPr/>
          <p:nvPr/>
        </p:nvSpPr>
        <p:spPr>
          <a:xfrm>
            <a:off x="3699119" y="41779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D</a:t>
            </a:r>
            <a:endParaRPr sz="1700">
              <a:latin typeface="Roboto"/>
              <a:ea typeface="Roboto"/>
              <a:cs typeface="Roboto"/>
              <a:sym typeface="Roboto"/>
            </a:endParaRPr>
          </a:p>
        </p:txBody>
      </p:sp>
      <p:sp>
        <p:nvSpPr>
          <p:cNvPr id="1756" name="Google Shape;1756;p70"/>
          <p:cNvSpPr/>
          <p:nvPr/>
        </p:nvSpPr>
        <p:spPr>
          <a:xfrm>
            <a:off x="5333400" y="2613200"/>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C</a:t>
            </a:r>
            <a:endParaRPr sz="1700">
              <a:latin typeface="Roboto"/>
              <a:ea typeface="Roboto"/>
              <a:cs typeface="Roboto"/>
              <a:sym typeface="Roboto"/>
            </a:endParaRPr>
          </a:p>
        </p:txBody>
      </p:sp>
      <p:sp>
        <p:nvSpPr>
          <p:cNvPr id="1757" name="Google Shape;1757;p70"/>
          <p:cNvSpPr/>
          <p:nvPr/>
        </p:nvSpPr>
        <p:spPr>
          <a:xfrm>
            <a:off x="5343494" y="4177895"/>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E</a:t>
            </a:r>
            <a:endParaRPr sz="1700">
              <a:latin typeface="Roboto"/>
              <a:ea typeface="Roboto"/>
              <a:cs typeface="Roboto"/>
              <a:sym typeface="Roboto"/>
            </a:endParaRPr>
          </a:p>
        </p:txBody>
      </p:sp>
      <p:sp>
        <p:nvSpPr>
          <p:cNvPr id="1758" name="Google Shape;1758;p70"/>
          <p:cNvSpPr/>
          <p:nvPr/>
        </p:nvSpPr>
        <p:spPr>
          <a:xfrm>
            <a:off x="6967680" y="34006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F</a:t>
            </a:r>
            <a:endParaRPr sz="1700">
              <a:latin typeface="Roboto"/>
              <a:ea typeface="Roboto"/>
              <a:cs typeface="Roboto"/>
              <a:sym typeface="Roboto"/>
            </a:endParaRPr>
          </a:p>
        </p:txBody>
      </p:sp>
      <p:cxnSp>
        <p:nvCxnSpPr>
          <p:cNvPr id="1759" name="Google Shape;1759;p70"/>
          <p:cNvCxnSpPr>
            <a:stCxn id="1754" idx="2"/>
            <a:endCxn id="1755" idx="0"/>
          </p:cNvCxnSpPr>
          <p:nvPr/>
        </p:nvCxnSpPr>
        <p:spPr>
          <a:xfrm>
            <a:off x="3892769" y="2927876"/>
            <a:ext cx="0" cy="1250100"/>
          </a:xfrm>
          <a:prstGeom prst="straightConnector1">
            <a:avLst/>
          </a:prstGeom>
          <a:noFill/>
          <a:ln w="38100" cap="flat" cmpd="sng">
            <a:solidFill>
              <a:srgbClr val="000000"/>
            </a:solidFill>
            <a:prstDash val="solid"/>
            <a:round/>
            <a:headEnd type="triangle" w="med" len="med"/>
            <a:tailEnd type="none" w="med" len="med"/>
          </a:ln>
        </p:spPr>
      </p:cxnSp>
      <p:cxnSp>
        <p:nvCxnSpPr>
          <p:cNvPr id="1760" name="Google Shape;1760;p70"/>
          <p:cNvCxnSpPr>
            <a:stCxn id="1756" idx="2"/>
            <a:endCxn id="1757" idx="0"/>
          </p:cNvCxnSpPr>
          <p:nvPr/>
        </p:nvCxnSpPr>
        <p:spPr>
          <a:xfrm>
            <a:off x="5527050" y="2917700"/>
            <a:ext cx="10200" cy="1260300"/>
          </a:xfrm>
          <a:prstGeom prst="straightConnector1">
            <a:avLst/>
          </a:prstGeom>
          <a:noFill/>
          <a:ln w="38100" cap="flat" cmpd="sng">
            <a:solidFill>
              <a:srgbClr val="000000"/>
            </a:solidFill>
            <a:prstDash val="solid"/>
            <a:round/>
            <a:headEnd type="none" w="med" len="med"/>
            <a:tailEnd type="triangle" w="med" len="med"/>
          </a:ln>
        </p:spPr>
      </p:cxnSp>
      <p:sp>
        <p:nvSpPr>
          <p:cNvPr id="1761" name="Google Shape;1761;p70"/>
          <p:cNvSpPr/>
          <p:nvPr/>
        </p:nvSpPr>
        <p:spPr>
          <a:xfrm>
            <a:off x="2064838" y="3400638"/>
            <a:ext cx="387300" cy="3045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Roboto"/>
                <a:ea typeface="Roboto"/>
                <a:cs typeface="Roboto"/>
                <a:sym typeface="Roboto"/>
              </a:rPr>
              <a:t>A</a:t>
            </a:r>
            <a:endParaRPr sz="1700">
              <a:latin typeface="Roboto"/>
              <a:ea typeface="Roboto"/>
              <a:cs typeface="Roboto"/>
              <a:sym typeface="Roboto"/>
            </a:endParaRPr>
          </a:p>
        </p:txBody>
      </p:sp>
      <p:sp>
        <p:nvSpPr>
          <p:cNvPr id="1762" name="Google Shape;1762;p70"/>
          <p:cNvSpPr txBox="1"/>
          <p:nvPr/>
        </p:nvSpPr>
        <p:spPr>
          <a:xfrm>
            <a:off x="1789005" y="3190403"/>
            <a:ext cx="317400" cy="32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a:t>
            </a:r>
            <a:endParaRPr>
              <a:latin typeface="Roboto"/>
              <a:ea typeface="Roboto"/>
              <a:cs typeface="Roboto"/>
              <a:sym typeface="Roboto"/>
            </a:endParaRPr>
          </a:p>
        </p:txBody>
      </p:sp>
      <p:cxnSp>
        <p:nvCxnSpPr>
          <p:cNvPr id="1763" name="Google Shape;1763;p70"/>
          <p:cNvCxnSpPr>
            <a:stCxn id="1761" idx="3"/>
            <a:endCxn id="1755" idx="1"/>
          </p:cNvCxnSpPr>
          <p:nvPr/>
        </p:nvCxnSpPr>
        <p:spPr>
          <a:xfrm>
            <a:off x="2452138" y="3552888"/>
            <a:ext cx="1247100" cy="777300"/>
          </a:xfrm>
          <a:prstGeom prst="straightConnector1">
            <a:avLst/>
          </a:prstGeom>
          <a:noFill/>
          <a:ln w="38100" cap="flat" cmpd="sng">
            <a:solidFill>
              <a:srgbClr val="000000"/>
            </a:solidFill>
            <a:prstDash val="solid"/>
            <a:round/>
            <a:headEnd type="none" w="med" len="med"/>
            <a:tailEnd type="triangle" w="med" len="med"/>
          </a:ln>
        </p:spPr>
      </p:cxnSp>
      <p:cxnSp>
        <p:nvCxnSpPr>
          <p:cNvPr id="1764" name="Google Shape;1764;p70"/>
          <p:cNvCxnSpPr>
            <a:stCxn id="1754" idx="3"/>
            <a:endCxn id="1756" idx="1"/>
          </p:cNvCxnSpPr>
          <p:nvPr/>
        </p:nvCxnSpPr>
        <p:spPr>
          <a:xfrm rot="10800000" flipH="1">
            <a:off x="4086419" y="2765426"/>
            <a:ext cx="1247100" cy="10200"/>
          </a:xfrm>
          <a:prstGeom prst="straightConnector1">
            <a:avLst/>
          </a:prstGeom>
          <a:noFill/>
          <a:ln w="38100" cap="flat" cmpd="sng">
            <a:solidFill>
              <a:srgbClr val="000000"/>
            </a:solidFill>
            <a:prstDash val="solid"/>
            <a:round/>
            <a:headEnd type="none" w="med" len="med"/>
            <a:tailEnd type="triangle" w="med" len="med"/>
          </a:ln>
        </p:spPr>
      </p:cxnSp>
      <p:cxnSp>
        <p:nvCxnSpPr>
          <p:cNvPr id="1765" name="Google Shape;1765;p70"/>
          <p:cNvCxnSpPr>
            <a:stCxn id="1758" idx="1"/>
            <a:endCxn id="1756" idx="3"/>
          </p:cNvCxnSpPr>
          <p:nvPr/>
        </p:nvCxnSpPr>
        <p:spPr>
          <a:xfrm rot="10800000">
            <a:off x="5720580" y="2765388"/>
            <a:ext cx="1247100" cy="787500"/>
          </a:xfrm>
          <a:prstGeom prst="straightConnector1">
            <a:avLst/>
          </a:prstGeom>
          <a:noFill/>
          <a:ln w="38100" cap="flat" cmpd="sng">
            <a:solidFill>
              <a:srgbClr val="000000"/>
            </a:solidFill>
            <a:prstDash val="solid"/>
            <a:round/>
            <a:headEnd type="triangle" w="med" len="med"/>
            <a:tailEnd type="none" w="med" len="med"/>
          </a:ln>
        </p:spPr>
      </p:cxnSp>
      <p:sp>
        <p:nvSpPr>
          <p:cNvPr id="1766" name="Google Shape;1766;p70"/>
          <p:cNvSpPr txBox="1"/>
          <p:nvPr/>
        </p:nvSpPr>
        <p:spPr>
          <a:xfrm>
            <a:off x="3743078" y="2272150"/>
            <a:ext cx="4392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6</a:t>
            </a:r>
            <a:endParaRPr sz="1800">
              <a:solidFill>
                <a:srgbClr val="FF43F0"/>
              </a:solidFill>
              <a:latin typeface="Roboto"/>
              <a:ea typeface="Roboto"/>
              <a:cs typeface="Roboto"/>
              <a:sym typeface="Roboto"/>
            </a:endParaRPr>
          </a:p>
        </p:txBody>
      </p:sp>
      <p:sp>
        <p:nvSpPr>
          <p:cNvPr id="1767" name="Google Shape;1767;p70"/>
          <p:cNvSpPr txBox="1"/>
          <p:nvPr/>
        </p:nvSpPr>
        <p:spPr>
          <a:xfrm>
            <a:off x="3743082" y="4371725"/>
            <a:ext cx="5778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2</a:t>
            </a:r>
            <a:endParaRPr sz="1800">
              <a:solidFill>
                <a:srgbClr val="FF43F0"/>
              </a:solidFill>
              <a:latin typeface="Roboto"/>
              <a:ea typeface="Roboto"/>
              <a:cs typeface="Roboto"/>
              <a:sym typeface="Roboto"/>
            </a:endParaRPr>
          </a:p>
        </p:txBody>
      </p:sp>
      <p:sp>
        <p:nvSpPr>
          <p:cNvPr id="1768" name="Google Shape;1768;p70"/>
          <p:cNvSpPr txBox="1"/>
          <p:nvPr/>
        </p:nvSpPr>
        <p:spPr>
          <a:xfrm>
            <a:off x="5332472" y="2254200"/>
            <a:ext cx="9159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12</a:t>
            </a:r>
            <a:endParaRPr sz="1800">
              <a:solidFill>
                <a:srgbClr val="FF43F0"/>
              </a:solidFill>
              <a:latin typeface="Roboto"/>
              <a:ea typeface="Roboto"/>
              <a:cs typeface="Roboto"/>
              <a:sym typeface="Roboto"/>
            </a:endParaRPr>
          </a:p>
        </p:txBody>
      </p:sp>
      <p:sp>
        <p:nvSpPr>
          <p:cNvPr id="1769" name="Google Shape;1769;p70"/>
          <p:cNvSpPr txBox="1"/>
          <p:nvPr/>
        </p:nvSpPr>
        <p:spPr>
          <a:xfrm>
            <a:off x="6986301" y="3038900"/>
            <a:ext cx="7935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14</a:t>
            </a:r>
            <a:endParaRPr sz="1800">
              <a:solidFill>
                <a:srgbClr val="FF43F0"/>
              </a:solidFill>
              <a:latin typeface="Roboto"/>
              <a:ea typeface="Roboto"/>
              <a:cs typeface="Roboto"/>
              <a:sym typeface="Roboto"/>
            </a:endParaRPr>
          </a:p>
        </p:txBody>
      </p:sp>
      <p:sp>
        <p:nvSpPr>
          <p:cNvPr id="1770" name="Google Shape;1770;p70"/>
          <p:cNvSpPr txBox="1"/>
          <p:nvPr/>
        </p:nvSpPr>
        <p:spPr>
          <a:xfrm>
            <a:off x="5378944" y="4379756"/>
            <a:ext cx="7080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13</a:t>
            </a:r>
            <a:endParaRPr sz="1800">
              <a:solidFill>
                <a:srgbClr val="FF43F0"/>
              </a:solidFill>
              <a:latin typeface="Roboto"/>
              <a:ea typeface="Roboto"/>
              <a:cs typeface="Roboto"/>
              <a:sym typeface="Roboto"/>
            </a:endParaRPr>
          </a:p>
        </p:txBody>
      </p:sp>
      <p:sp>
        <p:nvSpPr>
          <p:cNvPr id="1771" name="Google Shape;1771;p70"/>
          <p:cNvSpPr txBox="1"/>
          <p:nvPr/>
        </p:nvSpPr>
        <p:spPr>
          <a:xfrm>
            <a:off x="2057092" y="3034046"/>
            <a:ext cx="317400" cy="3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43F0"/>
                </a:solidFill>
                <a:latin typeface="Roboto"/>
                <a:ea typeface="Roboto"/>
                <a:cs typeface="Roboto"/>
                <a:sym typeface="Roboto"/>
              </a:rPr>
              <a:t>0</a:t>
            </a:r>
            <a:endParaRPr sz="1800">
              <a:solidFill>
                <a:srgbClr val="FF43F0"/>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75"/>
        <p:cNvGrpSpPr/>
        <p:nvPr/>
      </p:nvGrpSpPr>
      <p:grpSpPr>
        <a:xfrm>
          <a:off x="0" y="0"/>
          <a:ext cx="0" cy="0"/>
          <a:chOff x="0" y="0"/>
          <a:chExt cx="0" cy="0"/>
        </a:xfrm>
      </p:grpSpPr>
      <p:sp>
        <p:nvSpPr>
          <p:cNvPr id="1776" name="Google Shape;1776;p7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Note on “Mathematical Maturity”</a:t>
            </a:r>
            <a:endParaRPr/>
          </a:p>
        </p:txBody>
      </p:sp>
      <p:sp>
        <p:nvSpPr>
          <p:cNvPr id="1777" name="Google Shape;1777;p7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dirty="0"/>
              <a:t>If you have a very high degree of so-called “</a:t>
            </a:r>
            <a:r>
              <a:rPr lang="en" u="sng" dirty="0">
                <a:solidFill>
                  <a:schemeClr val="hlink"/>
                </a:solidFill>
                <a:hlinkClick r:id="rId3"/>
              </a:rPr>
              <a:t>mathematical maturity</a:t>
            </a:r>
            <a:r>
              <a:rPr lang="en" dirty="0"/>
              <a:t>”, this algorithm should seem plainly correct.</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There’s no real need to prove anything or show demos.</a:t>
            </a:r>
            <a:endParaRPr dirty="0"/>
          </a:p>
          <a:p>
            <a:pPr marL="457200" lvl="0" indent="-342900" algn="l" rtl="0">
              <a:spcBef>
                <a:spcPts val="600"/>
              </a:spcBef>
              <a:spcAft>
                <a:spcPts val="0"/>
              </a:spcAft>
              <a:buSzPts val="1800"/>
              <a:buChar char="●"/>
            </a:pPr>
            <a:r>
              <a:rPr lang="en" dirty="0"/>
              <a:t>We know DAG SPT works on graphs with negative edge weights.</a:t>
            </a:r>
            <a:endParaRPr dirty="0"/>
          </a:p>
          <a:p>
            <a:pPr marL="457200" lvl="0" indent="-342900" algn="l" rtl="0">
              <a:spcBef>
                <a:spcPts val="600"/>
              </a:spcBef>
              <a:spcAft>
                <a:spcPts val="0"/>
              </a:spcAft>
              <a:buSzPts val="1800"/>
              <a:buChar char="●"/>
            </a:pPr>
            <a:r>
              <a:rPr lang="en" dirty="0"/>
              <a:t>We also know that -(-a + -b + -c + -d) = a + b + c + d.</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Part of what you’re learning in your intense technical education here at Berkeley is mathematical maturity. Hasn’t been a major focus in 61B, but will be in other courses like 16A, 16B, 70, 170, ...</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81"/>
        <p:cNvGrpSpPr/>
        <p:nvPr/>
      </p:nvGrpSpPr>
      <p:grpSpPr>
        <a:xfrm>
          <a:off x="0" y="0"/>
          <a:ext cx="0" cy="0"/>
          <a:chOff x="0" y="0"/>
          <a:chExt cx="0" cy="0"/>
        </a:xfrm>
      </p:grpSpPr>
      <p:sp>
        <p:nvSpPr>
          <p:cNvPr id="1782" name="Google Shape;1782;p7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Highly Recommended Exercise For Later</a:t>
            </a:r>
            <a:endParaRPr/>
          </a:p>
        </p:txBody>
      </p:sp>
      <p:sp>
        <p:nvSpPr>
          <p:cNvPr id="1783" name="Google Shape;1783;p7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Play around with the longest paths problem and convince yourself that it is actually very hard.</a:t>
            </a:r>
            <a:endParaRPr/>
          </a:p>
          <a:p>
            <a:pPr marL="457200" lvl="0" indent="-342900" algn="l" rtl="0">
              <a:spcBef>
                <a:spcPts val="600"/>
              </a:spcBef>
              <a:spcAft>
                <a:spcPts val="0"/>
              </a:spcAft>
              <a:buSzPts val="1800"/>
              <a:buChar char="●"/>
            </a:pPr>
            <a:r>
              <a:rPr lang="en"/>
              <a:t>Try to develop an intuition for why it is hard. Even better if you try to put it into english.</a:t>
            </a:r>
            <a:endParaRPr/>
          </a:p>
          <a:p>
            <a:pPr marL="457200" lvl="0" indent="-342900" algn="l" rtl="0">
              <a:spcBef>
                <a:spcPts val="600"/>
              </a:spcBef>
              <a:spcAft>
                <a:spcPts val="0"/>
              </a:spcAft>
              <a:buSzPts val="1800"/>
              <a:buChar char="●"/>
            </a:pPr>
            <a:r>
              <a:rPr lang="en"/>
              <a:t>Try searching the internet for “why longest paths hard” or similar if you’re having trouble really pinning down what’s so hard about it.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87"/>
        <p:cNvGrpSpPr/>
        <p:nvPr/>
      </p:nvGrpSpPr>
      <p:grpSpPr>
        <a:xfrm>
          <a:off x="0" y="0"/>
          <a:ext cx="0" cy="0"/>
          <a:chOff x="0" y="0"/>
          <a:chExt cx="0" cy="0"/>
        </a:xfrm>
      </p:grpSpPr>
      <p:sp>
        <p:nvSpPr>
          <p:cNvPr id="1788" name="Google Shape;1788;p7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Problems</a:t>
            </a:r>
            <a:endParaRPr/>
          </a:p>
        </p:txBody>
      </p:sp>
      <p:graphicFrame>
        <p:nvGraphicFramePr>
          <p:cNvPr id="1789" name="Google Shape;1789;p73"/>
          <p:cNvGraphicFramePr/>
          <p:nvPr/>
        </p:nvGraphicFramePr>
        <p:xfrm>
          <a:off x="592488" y="688161"/>
          <a:ext cx="8209325" cy="3017575"/>
        </p:xfrm>
        <a:graphic>
          <a:graphicData uri="http://schemas.openxmlformats.org/drawingml/2006/table">
            <a:tbl>
              <a:tblPr>
                <a:noFill/>
                <a:tableStyleId>{EC9DA46A-B2CD-47DD-98B5-D3AAC6A04B5E}</a:tableStyleId>
              </a:tblPr>
              <a:tblGrid>
                <a:gridCol w="1457800">
                  <a:extLst>
                    <a:ext uri="{9D8B030D-6E8A-4147-A177-3AD203B41FA5}">
                      <a16:colId xmlns:a16="http://schemas.microsoft.com/office/drawing/2014/main" val="20000"/>
                    </a:ext>
                  </a:extLst>
                </a:gridCol>
                <a:gridCol w="2762325">
                  <a:extLst>
                    <a:ext uri="{9D8B030D-6E8A-4147-A177-3AD203B41FA5}">
                      <a16:colId xmlns:a16="http://schemas.microsoft.com/office/drawing/2014/main" val="20001"/>
                    </a:ext>
                  </a:extLst>
                </a:gridCol>
                <a:gridCol w="2082725">
                  <a:extLst>
                    <a:ext uri="{9D8B030D-6E8A-4147-A177-3AD203B41FA5}">
                      <a16:colId xmlns:a16="http://schemas.microsoft.com/office/drawing/2014/main" val="20002"/>
                    </a:ext>
                  </a:extLst>
                </a:gridCol>
                <a:gridCol w="1906475">
                  <a:extLst>
                    <a:ext uri="{9D8B030D-6E8A-4147-A177-3AD203B41FA5}">
                      <a16:colId xmlns:a16="http://schemas.microsoft.com/office/drawing/2014/main" val="20003"/>
                    </a:ext>
                  </a:extLst>
                </a:gridCol>
              </a:tblGrid>
              <a:tr h="426375">
                <a:tc>
                  <a:txBody>
                    <a:bodyPr/>
                    <a:lstStyle/>
                    <a:p>
                      <a:pPr marL="0" lvl="0" indent="0" algn="l" rtl="0">
                        <a:spcBef>
                          <a:spcPts val="0"/>
                        </a:spcBef>
                        <a:spcAft>
                          <a:spcPts val="0"/>
                        </a:spcAft>
                        <a:buNone/>
                      </a:pPr>
                      <a:r>
                        <a:rPr lang="en"/>
                        <a:t>Problem</a:t>
                      </a:r>
                      <a:endParaRPr/>
                    </a:p>
                  </a:txBody>
                  <a:tcPr marL="91425" marR="91425" marT="91425" marB="91425"/>
                </a:tc>
                <a:tc>
                  <a:txBody>
                    <a:bodyPr/>
                    <a:lstStyle/>
                    <a:p>
                      <a:pPr marL="0" lvl="0" indent="0" algn="l" rtl="0">
                        <a:spcBef>
                          <a:spcPts val="0"/>
                        </a:spcBef>
                        <a:spcAft>
                          <a:spcPts val="0"/>
                        </a:spcAft>
                        <a:buNone/>
                      </a:pPr>
                      <a:r>
                        <a:rPr lang="en"/>
                        <a:t>Problem Description</a:t>
                      </a:r>
                      <a:endParaRPr/>
                    </a:p>
                  </a:txBody>
                  <a:tcPr marL="91425" marR="91425" marT="91425" marB="91425"/>
                </a:tc>
                <a:tc>
                  <a:txBody>
                    <a:bodyPr/>
                    <a:lstStyle/>
                    <a:p>
                      <a:pPr marL="0" lvl="0" indent="0" algn="l" rtl="0">
                        <a:spcBef>
                          <a:spcPts val="0"/>
                        </a:spcBef>
                        <a:spcAft>
                          <a:spcPts val="0"/>
                        </a:spcAft>
                        <a:buNone/>
                      </a:pPr>
                      <a:r>
                        <a:rPr lang="en"/>
                        <a:t>Solution</a:t>
                      </a:r>
                      <a:endParaRPr/>
                    </a:p>
                  </a:txBody>
                  <a:tcPr marL="91425" marR="91425" marT="91425" marB="91425"/>
                </a:tc>
                <a:tc>
                  <a:txBody>
                    <a:bodyPr/>
                    <a:lstStyle/>
                    <a:p>
                      <a:pPr marL="0" lvl="0" indent="0" algn="l" rtl="0">
                        <a:spcBef>
                          <a:spcPts val="0"/>
                        </a:spcBef>
                        <a:spcAft>
                          <a:spcPts val="0"/>
                        </a:spcAft>
                        <a:buNone/>
                      </a:pPr>
                      <a:r>
                        <a:rPr lang="en"/>
                        <a:t>Efficiency</a:t>
                      </a:r>
                      <a:endParaRPr/>
                    </a:p>
                  </a:txBody>
                  <a:tcPr marL="91425" marR="91425" marT="91425" marB="91425"/>
                </a:tc>
                <a:extLst>
                  <a:ext uri="{0D108BD9-81ED-4DB2-BD59-A6C34878D82A}">
                    <a16:rowId xmlns:a16="http://schemas.microsoft.com/office/drawing/2014/main" val="10000"/>
                  </a:ext>
                </a:extLst>
              </a:tr>
              <a:tr h="647800">
                <a:tc>
                  <a:txBody>
                    <a:bodyPr/>
                    <a:lstStyle/>
                    <a:p>
                      <a:pPr marL="0" lvl="0" indent="0" algn="l" rtl="0">
                        <a:spcBef>
                          <a:spcPts val="0"/>
                        </a:spcBef>
                        <a:spcAft>
                          <a:spcPts val="0"/>
                        </a:spcAft>
                        <a:buNone/>
                      </a:pPr>
                      <a:r>
                        <a:rPr lang="en"/>
                        <a:t>topological sort</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Find an ordering of vertices that respects edges of our DAG.</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u="sng">
                          <a:solidFill>
                            <a:schemeClr val="hlink"/>
                          </a:solidFill>
                          <a:hlinkClick r:id="rId3" action="ppaction://hlinksldjump"/>
                        </a:rPr>
                        <a:t>Demo</a:t>
                      </a:r>
                      <a:endParaRPr/>
                    </a:p>
                    <a:p>
                      <a:pPr marL="0" lvl="0" indent="0" algn="l" rtl="0">
                        <a:spcBef>
                          <a:spcPts val="0"/>
                        </a:spcBef>
                        <a:spcAft>
                          <a:spcPts val="0"/>
                        </a:spcAft>
                        <a:buNone/>
                      </a:pPr>
                      <a:r>
                        <a:rPr lang="en"/>
                        <a:t>Code: Topological.java</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O(V+E) time</a:t>
                      </a:r>
                      <a:endParaRPr/>
                    </a:p>
                    <a:p>
                      <a:pPr marL="0" lvl="0" indent="0" algn="ctr" rtl="0">
                        <a:spcBef>
                          <a:spcPts val="0"/>
                        </a:spcBef>
                        <a:spcAft>
                          <a:spcPts val="0"/>
                        </a:spcAft>
                        <a:buNone/>
                      </a:pPr>
                      <a:r>
                        <a:rPr lang="en"/>
                        <a:t>Θ(V) space</a:t>
                      </a:r>
                      <a:endParaRPr/>
                    </a:p>
                  </a:txBody>
                  <a:tcPr marL="91425" marR="91425" marT="91425" marB="91425" anchor="ctr">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47800">
                <a:tc>
                  <a:txBody>
                    <a:bodyPr/>
                    <a:lstStyle/>
                    <a:p>
                      <a:pPr marL="0" lvl="0" indent="0" algn="l" rtl="0">
                        <a:spcBef>
                          <a:spcPts val="0"/>
                        </a:spcBef>
                        <a:spcAft>
                          <a:spcPts val="0"/>
                        </a:spcAft>
                        <a:buNone/>
                      </a:pPr>
                      <a:r>
                        <a:rPr lang="en"/>
                        <a:t>DAG shortest paths</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Find a shortest paths tree on a DAG.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u="sng">
                          <a:solidFill>
                            <a:schemeClr val="hlink"/>
                          </a:solidFill>
                          <a:hlinkClick r:id="rId4" action="ppaction://hlinksldjump"/>
                        </a:rPr>
                        <a:t>Demo</a:t>
                      </a:r>
                      <a:endParaRPr/>
                    </a:p>
                    <a:p>
                      <a:pPr marL="0" lvl="0" indent="0" algn="l" rtl="0">
                        <a:spcBef>
                          <a:spcPts val="0"/>
                        </a:spcBef>
                        <a:spcAft>
                          <a:spcPts val="0"/>
                        </a:spcAft>
                        <a:buNone/>
                      </a:pPr>
                      <a:r>
                        <a:rPr lang="en"/>
                        <a:t>Code: </a:t>
                      </a:r>
                      <a:r>
                        <a:rPr lang="en" u="sng">
                          <a:solidFill>
                            <a:schemeClr val="hlink"/>
                          </a:solidFill>
                          <a:hlinkClick r:id="rId5"/>
                        </a:rPr>
                        <a:t>AcyclicSP.java</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rPr>
                        <a:t>O(V+E) time</a:t>
                      </a:r>
                      <a:endParaRPr>
                        <a:solidFill>
                          <a:schemeClr val="dk1"/>
                        </a:solidFill>
                      </a:endParaRPr>
                    </a:p>
                    <a:p>
                      <a:pPr marL="0" lvl="0" indent="0" algn="ctr" rtl="0">
                        <a:spcBef>
                          <a:spcPts val="0"/>
                        </a:spcBef>
                        <a:spcAft>
                          <a:spcPts val="0"/>
                        </a:spcAft>
                        <a:buNone/>
                      </a:pPr>
                      <a:r>
                        <a:rPr lang="en">
                          <a:solidFill>
                            <a:schemeClr val="dk1"/>
                          </a:solidFill>
                        </a:rPr>
                        <a:t>Θ(V) space</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47800">
                <a:tc>
                  <a:txBody>
                    <a:bodyPr/>
                    <a:lstStyle/>
                    <a:p>
                      <a:pPr marL="0" lvl="0" indent="0" algn="l" rtl="0">
                        <a:spcBef>
                          <a:spcPts val="0"/>
                        </a:spcBef>
                        <a:spcAft>
                          <a:spcPts val="0"/>
                        </a:spcAft>
                        <a:buNone/>
                      </a:pPr>
                      <a:r>
                        <a:rPr lang="en"/>
                        <a:t>longest paths</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Find a longest paths tree on a graph.</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No known efficient solution.</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rPr>
                        <a:t>O(???) time</a:t>
                      </a:r>
                      <a:endParaRPr>
                        <a:solidFill>
                          <a:schemeClr val="dk1"/>
                        </a:solidFill>
                      </a:endParaRPr>
                    </a:p>
                    <a:p>
                      <a:pPr marL="0" lvl="0" indent="0" algn="ctr" rtl="0">
                        <a:spcBef>
                          <a:spcPts val="0"/>
                        </a:spcBef>
                        <a:spcAft>
                          <a:spcPts val="0"/>
                        </a:spcAft>
                        <a:buNone/>
                      </a:pPr>
                      <a:r>
                        <a:rPr lang="en">
                          <a:solidFill>
                            <a:schemeClr val="dk1"/>
                          </a:solidFill>
                        </a:rPr>
                        <a:t>O(???) space</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47800">
                <a:tc>
                  <a:txBody>
                    <a:bodyPr/>
                    <a:lstStyle/>
                    <a:p>
                      <a:pPr marL="0" lvl="0" indent="0" algn="l" rtl="0">
                        <a:spcBef>
                          <a:spcPts val="0"/>
                        </a:spcBef>
                        <a:spcAft>
                          <a:spcPts val="0"/>
                        </a:spcAft>
                        <a:buNone/>
                      </a:pPr>
                      <a:r>
                        <a:rPr lang="en"/>
                        <a:t>DAG longest paths</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Find a longest paths tree on a DAG.</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Flip signs, run DAG SPT, flip signs again.</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a:solidFill>
                            <a:schemeClr val="dk1"/>
                          </a:solidFill>
                        </a:rPr>
                        <a:t>O(V+E) time</a:t>
                      </a:r>
                      <a:endParaRPr>
                        <a:solidFill>
                          <a:schemeClr val="dk1"/>
                        </a:solidFill>
                      </a:endParaRPr>
                    </a:p>
                    <a:p>
                      <a:pPr marL="0" lvl="0" indent="0" algn="ctr" rtl="0">
                        <a:spcBef>
                          <a:spcPts val="0"/>
                        </a:spcBef>
                        <a:spcAft>
                          <a:spcPts val="0"/>
                        </a:spcAft>
                        <a:buNone/>
                      </a:pPr>
                      <a:r>
                        <a:rPr lang="en">
                          <a:solidFill>
                            <a:schemeClr val="dk1"/>
                          </a:solidFill>
                        </a:rPr>
                        <a:t>Θ(V) space</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93"/>
        <p:cNvGrpSpPr/>
        <p:nvPr/>
      </p:nvGrpSpPr>
      <p:grpSpPr>
        <a:xfrm>
          <a:off x="0" y="0"/>
          <a:ext cx="0" cy="0"/>
          <a:chOff x="0" y="0"/>
          <a:chExt cx="0" cy="0"/>
        </a:xfrm>
      </p:grpSpPr>
      <p:sp>
        <p:nvSpPr>
          <p:cNvPr id="1794" name="Google Shape;1794;p74"/>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28, CS61B, Fall 2023</a:t>
            </a:r>
            <a:endParaRPr/>
          </a:p>
        </p:txBody>
      </p:sp>
      <p:sp>
        <p:nvSpPr>
          <p:cNvPr id="1795" name="Google Shape;1795;p74"/>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Topological Sorting</a:t>
            </a:r>
            <a:endParaRPr/>
          </a:p>
          <a:p>
            <a:pPr marL="0" lvl="0" indent="0" algn="l" rtl="0">
              <a:spcBef>
                <a:spcPts val="600"/>
              </a:spcBef>
              <a:spcAft>
                <a:spcPts val="0"/>
              </a:spcAft>
              <a:buNone/>
            </a:pPr>
            <a:r>
              <a:rPr lang="en"/>
              <a:t>Shortest Paths on DAGs</a:t>
            </a:r>
            <a:endParaRPr/>
          </a:p>
          <a:p>
            <a:pPr marL="0" lvl="0" indent="0" algn="l" rtl="0">
              <a:spcBef>
                <a:spcPts val="600"/>
              </a:spcBef>
              <a:spcAft>
                <a:spcPts val="0"/>
              </a:spcAft>
              <a:buNone/>
            </a:pPr>
            <a:r>
              <a:rPr lang="en"/>
              <a:t>Longest Paths</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b="1">
                <a:solidFill>
                  <a:schemeClr val="accent3"/>
                </a:solidFill>
                <a:latin typeface="Roboto"/>
                <a:ea typeface="Roboto"/>
                <a:cs typeface="Roboto"/>
                <a:sym typeface="Roboto"/>
              </a:rPr>
              <a:t>Reductions</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Definition</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Reduction to 3SAT (Optional CS170 Preview)</a:t>
            </a:r>
            <a:endParaRPr b="1">
              <a:solidFill>
                <a:schemeClr val="accent3"/>
              </a:solidFill>
              <a:latin typeface="Roboto"/>
              <a:ea typeface="Roboto"/>
              <a:cs typeface="Roboto"/>
              <a:sym typeface="Roboto"/>
            </a:endParaRPr>
          </a:p>
        </p:txBody>
      </p:sp>
      <p:sp>
        <p:nvSpPr>
          <p:cNvPr id="1796" name="Google Shape;1796;p74"/>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Reductions: Definition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00"/>
        <p:cNvGrpSpPr/>
        <p:nvPr/>
      </p:nvGrpSpPr>
      <p:grpSpPr>
        <a:xfrm>
          <a:off x="0" y="0"/>
          <a:ext cx="0" cy="0"/>
          <a:chOff x="0" y="0"/>
          <a:chExt cx="0" cy="0"/>
        </a:xfrm>
      </p:grpSpPr>
      <p:sp>
        <p:nvSpPr>
          <p:cNvPr id="1801" name="Google Shape;1801;p7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DAG Longest Paths</a:t>
            </a:r>
            <a:endParaRPr/>
          </a:p>
        </p:txBody>
      </p:sp>
      <p:sp>
        <p:nvSpPr>
          <p:cNvPr id="1802" name="Google Shape;1802;p7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problem solving we just used probably felt a little different than usual:</a:t>
            </a:r>
            <a:endParaRPr/>
          </a:p>
          <a:p>
            <a:pPr marL="457200" lvl="0" indent="-342900" algn="l" rtl="0">
              <a:spcBef>
                <a:spcPts val="600"/>
              </a:spcBef>
              <a:spcAft>
                <a:spcPts val="0"/>
              </a:spcAft>
              <a:buSzPts val="1800"/>
              <a:buChar char="●"/>
            </a:pPr>
            <a:r>
              <a:rPr lang="en"/>
              <a:t>Given a graph G, we created a new graph G’ and fed it to a related (but different) algorithm, and then interpreted the result.</a:t>
            </a:r>
            <a:endParaRPr/>
          </a:p>
        </p:txBody>
      </p:sp>
      <p:pic>
        <p:nvPicPr>
          <p:cNvPr id="1803" name="Google Shape;1803;p75"/>
          <p:cNvPicPr preferRelativeResize="0"/>
          <p:nvPr/>
        </p:nvPicPr>
        <p:blipFill>
          <a:blip r:embed="rId3">
            <a:alphaModFix/>
          </a:blip>
          <a:stretch>
            <a:fillRect/>
          </a:stretch>
        </p:blipFill>
        <p:spPr>
          <a:xfrm>
            <a:off x="375300" y="2462605"/>
            <a:ext cx="1374074" cy="517375"/>
          </a:xfrm>
          <a:prstGeom prst="rect">
            <a:avLst/>
          </a:prstGeom>
          <a:noFill/>
          <a:ln w="9525" cap="flat" cmpd="sng">
            <a:solidFill>
              <a:srgbClr val="000000"/>
            </a:solidFill>
            <a:prstDash val="solid"/>
            <a:round/>
            <a:headEnd type="none" w="sm" len="sm"/>
            <a:tailEnd type="none" w="sm" len="sm"/>
          </a:ln>
        </p:spPr>
      </p:pic>
      <p:sp>
        <p:nvSpPr>
          <p:cNvPr id="1804" name="Google Shape;1804;p75"/>
          <p:cNvSpPr txBox="1"/>
          <p:nvPr/>
        </p:nvSpPr>
        <p:spPr>
          <a:xfrm>
            <a:off x="310850" y="2130625"/>
            <a:ext cx="6738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a:t>
            </a:r>
            <a:endParaRPr/>
          </a:p>
        </p:txBody>
      </p:sp>
      <p:sp>
        <p:nvSpPr>
          <p:cNvPr id="1805" name="Google Shape;1805;p75"/>
          <p:cNvSpPr/>
          <p:nvPr/>
        </p:nvSpPr>
        <p:spPr>
          <a:xfrm>
            <a:off x="1952350" y="2078650"/>
            <a:ext cx="4826400" cy="24999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75"/>
          <p:cNvSpPr txBox="1"/>
          <p:nvPr/>
        </p:nvSpPr>
        <p:spPr>
          <a:xfrm>
            <a:off x="1876150" y="1751681"/>
            <a:ext cx="11199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DAG-LPT</a:t>
            </a:r>
            <a:endParaRPr/>
          </a:p>
        </p:txBody>
      </p:sp>
      <p:sp>
        <p:nvSpPr>
          <p:cNvPr id="1807" name="Google Shape;1807;p75"/>
          <p:cNvSpPr/>
          <p:nvPr/>
        </p:nvSpPr>
        <p:spPr>
          <a:xfrm>
            <a:off x="2279400" y="2556738"/>
            <a:ext cx="1095000" cy="329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Preprocess</a:t>
            </a:r>
            <a:endParaRPr/>
          </a:p>
        </p:txBody>
      </p:sp>
      <p:cxnSp>
        <p:nvCxnSpPr>
          <p:cNvPr id="1808" name="Google Shape;1808;p75"/>
          <p:cNvCxnSpPr>
            <a:stCxn id="1803" idx="3"/>
            <a:endCxn id="1807" idx="1"/>
          </p:cNvCxnSpPr>
          <p:nvPr/>
        </p:nvCxnSpPr>
        <p:spPr>
          <a:xfrm>
            <a:off x="1749374" y="2721293"/>
            <a:ext cx="530100" cy="0"/>
          </a:xfrm>
          <a:prstGeom prst="straightConnector1">
            <a:avLst/>
          </a:prstGeom>
          <a:noFill/>
          <a:ln w="9525" cap="flat" cmpd="sng">
            <a:solidFill>
              <a:schemeClr val="dk2"/>
            </a:solidFill>
            <a:prstDash val="solid"/>
            <a:round/>
            <a:headEnd type="none" w="med" len="med"/>
            <a:tailEnd type="triangle" w="med" len="med"/>
          </a:ln>
        </p:spPr>
      </p:cxnSp>
      <p:pic>
        <p:nvPicPr>
          <p:cNvPr id="1809" name="Google Shape;1809;p75"/>
          <p:cNvPicPr preferRelativeResize="0"/>
          <p:nvPr/>
        </p:nvPicPr>
        <p:blipFill>
          <a:blip r:embed="rId4">
            <a:alphaModFix/>
          </a:blip>
          <a:stretch>
            <a:fillRect/>
          </a:stretch>
        </p:blipFill>
        <p:spPr>
          <a:xfrm>
            <a:off x="3635825" y="2437235"/>
            <a:ext cx="1435160" cy="561075"/>
          </a:xfrm>
          <a:prstGeom prst="rect">
            <a:avLst/>
          </a:prstGeom>
          <a:noFill/>
          <a:ln w="9525" cap="flat" cmpd="sng">
            <a:solidFill>
              <a:srgbClr val="000000"/>
            </a:solidFill>
            <a:prstDash val="solid"/>
            <a:round/>
            <a:headEnd type="none" w="sm" len="sm"/>
            <a:tailEnd type="none" w="sm" len="sm"/>
          </a:ln>
        </p:spPr>
      </p:pic>
      <p:cxnSp>
        <p:nvCxnSpPr>
          <p:cNvPr id="1810" name="Google Shape;1810;p75"/>
          <p:cNvCxnSpPr>
            <a:stCxn id="1807" idx="3"/>
            <a:endCxn id="1809" idx="1"/>
          </p:cNvCxnSpPr>
          <p:nvPr/>
        </p:nvCxnSpPr>
        <p:spPr>
          <a:xfrm rot="10800000" flipH="1">
            <a:off x="3374400" y="2717688"/>
            <a:ext cx="261300" cy="3600"/>
          </a:xfrm>
          <a:prstGeom prst="straightConnector1">
            <a:avLst/>
          </a:prstGeom>
          <a:noFill/>
          <a:ln w="9525" cap="flat" cmpd="sng">
            <a:solidFill>
              <a:schemeClr val="dk2"/>
            </a:solidFill>
            <a:prstDash val="solid"/>
            <a:round/>
            <a:headEnd type="none" w="med" len="med"/>
            <a:tailEnd type="triangle" w="med" len="med"/>
          </a:ln>
        </p:spPr>
      </p:cxnSp>
      <p:sp>
        <p:nvSpPr>
          <p:cNvPr id="1811" name="Google Shape;1811;p75"/>
          <p:cNvSpPr/>
          <p:nvPr/>
        </p:nvSpPr>
        <p:spPr>
          <a:xfrm>
            <a:off x="5408603" y="2508970"/>
            <a:ext cx="1196700" cy="416100"/>
          </a:xfrm>
          <a:prstGeom prst="rect">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DAG-SPT</a:t>
            </a:r>
            <a:endParaRPr/>
          </a:p>
        </p:txBody>
      </p:sp>
      <p:cxnSp>
        <p:nvCxnSpPr>
          <p:cNvPr id="1812" name="Google Shape;1812;p75"/>
          <p:cNvCxnSpPr>
            <a:stCxn id="1809" idx="3"/>
            <a:endCxn id="1811" idx="1"/>
          </p:cNvCxnSpPr>
          <p:nvPr/>
        </p:nvCxnSpPr>
        <p:spPr>
          <a:xfrm rot="10800000" flipH="1">
            <a:off x="5070985" y="2716873"/>
            <a:ext cx="337500" cy="900"/>
          </a:xfrm>
          <a:prstGeom prst="straightConnector1">
            <a:avLst/>
          </a:prstGeom>
          <a:noFill/>
          <a:ln w="9525" cap="flat" cmpd="sng">
            <a:solidFill>
              <a:schemeClr val="dk2"/>
            </a:solidFill>
            <a:prstDash val="solid"/>
            <a:round/>
            <a:headEnd type="none" w="med" len="med"/>
            <a:tailEnd type="triangle" w="med" len="med"/>
          </a:ln>
        </p:spPr>
      </p:cxnSp>
      <p:sp>
        <p:nvSpPr>
          <p:cNvPr id="1813" name="Google Shape;1813;p75"/>
          <p:cNvSpPr txBox="1"/>
          <p:nvPr/>
        </p:nvSpPr>
        <p:spPr>
          <a:xfrm>
            <a:off x="3635825" y="2105900"/>
            <a:ext cx="6738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a:t>
            </a:r>
            <a:endParaRPr/>
          </a:p>
        </p:txBody>
      </p:sp>
      <p:cxnSp>
        <p:nvCxnSpPr>
          <p:cNvPr id="1814" name="Google Shape;1814;p75"/>
          <p:cNvCxnSpPr>
            <a:stCxn id="1811" idx="2"/>
            <a:endCxn id="1815" idx="0"/>
          </p:cNvCxnSpPr>
          <p:nvPr/>
        </p:nvCxnSpPr>
        <p:spPr>
          <a:xfrm rot="5400000">
            <a:off x="4244453" y="1848970"/>
            <a:ext cx="686400" cy="2838600"/>
          </a:xfrm>
          <a:prstGeom prst="curvedConnector3">
            <a:avLst>
              <a:gd name="adj1" fmla="val 50010"/>
            </a:avLst>
          </a:prstGeom>
          <a:noFill/>
          <a:ln w="9525" cap="flat" cmpd="sng">
            <a:solidFill>
              <a:schemeClr val="dk2"/>
            </a:solidFill>
            <a:prstDash val="solid"/>
            <a:round/>
            <a:headEnd type="none" w="med" len="med"/>
            <a:tailEnd type="triangle" w="med" len="med"/>
          </a:ln>
        </p:spPr>
      </p:cxnSp>
      <p:sp>
        <p:nvSpPr>
          <p:cNvPr id="1816" name="Google Shape;1816;p75"/>
          <p:cNvSpPr txBox="1"/>
          <p:nvPr/>
        </p:nvSpPr>
        <p:spPr>
          <a:xfrm>
            <a:off x="2307850" y="3294975"/>
            <a:ext cx="10665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SPT of G’</a:t>
            </a:r>
            <a:endParaRPr/>
          </a:p>
        </p:txBody>
      </p:sp>
      <p:sp>
        <p:nvSpPr>
          <p:cNvPr id="1817" name="Google Shape;1817;p75"/>
          <p:cNvSpPr/>
          <p:nvPr/>
        </p:nvSpPr>
        <p:spPr>
          <a:xfrm>
            <a:off x="4847000" y="3795200"/>
            <a:ext cx="1196700" cy="329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Postprocess</a:t>
            </a:r>
            <a:endParaRPr/>
          </a:p>
        </p:txBody>
      </p:sp>
      <p:cxnSp>
        <p:nvCxnSpPr>
          <p:cNvPr id="1818" name="Google Shape;1818;p75"/>
          <p:cNvCxnSpPr>
            <a:stCxn id="1815" idx="3"/>
            <a:endCxn id="1817" idx="1"/>
          </p:cNvCxnSpPr>
          <p:nvPr/>
        </p:nvCxnSpPr>
        <p:spPr>
          <a:xfrm>
            <a:off x="3987294" y="3959752"/>
            <a:ext cx="859800" cy="0"/>
          </a:xfrm>
          <a:prstGeom prst="straightConnector1">
            <a:avLst/>
          </a:prstGeom>
          <a:noFill/>
          <a:ln w="9525" cap="flat" cmpd="sng">
            <a:solidFill>
              <a:schemeClr val="dk2"/>
            </a:solidFill>
            <a:prstDash val="solid"/>
            <a:round/>
            <a:headEnd type="none" w="med" len="med"/>
            <a:tailEnd type="triangle" w="med" len="med"/>
          </a:ln>
        </p:spPr>
      </p:cxnSp>
      <p:cxnSp>
        <p:nvCxnSpPr>
          <p:cNvPr id="1819" name="Google Shape;1819;p75"/>
          <p:cNvCxnSpPr>
            <a:stCxn id="1817" idx="3"/>
            <a:endCxn id="1820" idx="1"/>
          </p:cNvCxnSpPr>
          <p:nvPr/>
        </p:nvCxnSpPr>
        <p:spPr>
          <a:xfrm>
            <a:off x="6043700" y="3959750"/>
            <a:ext cx="1131600" cy="0"/>
          </a:xfrm>
          <a:prstGeom prst="straightConnector1">
            <a:avLst/>
          </a:prstGeom>
          <a:noFill/>
          <a:ln w="9525" cap="flat" cmpd="sng">
            <a:solidFill>
              <a:schemeClr val="dk2"/>
            </a:solidFill>
            <a:prstDash val="solid"/>
            <a:round/>
            <a:headEnd type="none" w="med" len="med"/>
            <a:tailEnd type="triangle" w="med" len="med"/>
          </a:ln>
        </p:spPr>
      </p:cxnSp>
      <p:sp>
        <p:nvSpPr>
          <p:cNvPr id="1821" name="Google Shape;1821;p75"/>
          <p:cNvSpPr txBox="1"/>
          <p:nvPr/>
        </p:nvSpPr>
        <p:spPr>
          <a:xfrm>
            <a:off x="7129299" y="3280349"/>
            <a:ext cx="10665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LPT of G</a:t>
            </a:r>
            <a:endParaRPr/>
          </a:p>
        </p:txBody>
      </p:sp>
      <p:pic>
        <p:nvPicPr>
          <p:cNvPr id="1815" name="Google Shape;1815;p75"/>
          <p:cNvPicPr preferRelativeResize="0"/>
          <p:nvPr/>
        </p:nvPicPr>
        <p:blipFill>
          <a:blip r:embed="rId5">
            <a:alphaModFix/>
          </a:blip>
          <a:stretch>
            <a:fillRect/>
          </a:stretch>
        </p:blipFill>
        <p:spPr>
          <a:xfrm>
            <a:off x="2349498" y="3611602"/>
            <a:ext cx="1637796" cy="696300"/>
          </a:xfrm>
          <a:prstGeom prst="rect">
            <a:avLst/>
          </a:prstGeom>
          <a:noFill/>
          <a:ln w="9525" cap="flat" cmpd="sng">
            <a:solidFill>
              <a:srgbClr val="000000"/>
            </a:solidFill>
            <a:prstDash val="solid"/>
            <a:round/>
            <a:headEnd type="none" w="sm" len="sm"/>
            <a:tailEnd type="none" w="sm" len="sm"/>
          </a:ln>
        </p:spPr>
      </p:pic>
      <p:pic>
        <p:nvPicPr>
          <p:cNvPr id="1820" name="Google Shape;1820;p75"/>
          <p:cNvPicPr preferRelativeResize="0"/>
          <p:nvPr/>
        </p:nvPicPr>
        <p:blipFill>
          <a:blip r:embed="rId6">
            <a:alphaModFix/>
          </a:blip>
          <a:stretch>
            <a:fillRect/>
          </a:stretch>
        </p:blipFill>
        <p:spPr>
          <a:xfrm>
            <a:off x="7175425" y="3604300"/>
            <a:ext cx="1637800" cy="71088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sp>
        <p:nvSpPr>
          <p:cNvPr id="1826" name="Google Shape;1826;p7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Reduction</a:t>
            </a:r>
            <a:endParaRPr/>
          </a:p>
        </p:txBody>
      </p:sp>
      <p:sp>
        <p:nvSpPr>
          <p:cNvPr id="1827" name="Google Shape;1827;p7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This process is known as </a:t>
            </a:r>
            <a:r>
              <a:rPr lang="en" b="1"/>
              <a:t>reduction</a:t>
            </a:r>
            <a:r>
              <a:rPr lang="en"/>
              <a:t>. </a:t>
            </a:r>
            <a:endParaRPr/>
          </a:p>
          <a:p>
            <a:pPr marL="457200" lvl="0" indent="-342900" algn="l" rtl="0">
              <a:spcBef>
                <a:spcPts val="600"/>
              </a:spcBef>
              <a:spcAft>
                <a:spcPts val="0"/>
              </a:spcAft>
              <a:buSzPts val="1800"/>
              <a:buChar char="●"/>
            </a:pPr>
            <a:r>
              <a:rPr lang="en"/>
              <a:t>Since DAG-SPT can be used to solve DAG-LPT, we say that “DAG-LPT reduces to DAG-SPT”. </a:t>
            </a:r>
            <a:endParaRPr/>
          </a:p>
        </p:txBody>
      </p:sp>
      <p:pic>
        <p:nvPicPr>
          <p:cNvPr id="1828" name="Google Shape;1828;p76"/>
          <p:cNvPicPr preferRelativeResize="0"/>
          <p:nvPr/>
        </p:nvPicPr>
        <p:blipFill>
          <a:blip r:embed="rId3">
            <a:alphaModFix/>
          </a:blip>
          <a:stretch>
            <a:fillRect/>
          </a:stretch>
        </p:blipFill>
        <p:spPr>
          <a:xfrm>
            <a:off x="375300" y="2462605"/>
            <a:ext cx="1374074" cy="517375"/>
          </a:xfrm>
          <a:prstGeom prst="rect">
            <a:avLst/>
          </a:prstGeom>
          <a:noFill/>
          <a:ln w="9525" cap="flat" cmpd="sng">
            <a:solidFill>
              <a:srgbClr val="000000"/>
            </a:solidFill>
            <a:prstDash val="solid"/>
            <a:round/>
            <a:headEnd type="none" w="sm" len="sm"/>
            <a:tailEnd type="none" w="sm" len="sm"/>
          </a:ln>
        </p:spPr>
      </p:pic>
      <p:sp>
        <p:nvSpPr>
          <p:cNvPr id="1829" name="Google Shape;1829;p76"/>
          <p:cNvSpPr txBox="1"/>
          <p:nvPr/>
        </p:nvSpPr>
        <p:spPr>
          <a:xfrm>
            <a:off x="310850" y="2130625"/>
            <a:ext cx="6738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a:t>
            </a:r>
            <a:endParaRPr/>
          </a:p>
        </p:txBody>
      </p:sp>
      <p:sp>
        <p:nvSpPr>
          <p:cNvPr id="1830" name="Google Shape;1830;p76"/>
          <p:cNvSpPr/>
          <p:nvPr/>
        </p:nvSpPr>
        <p:spPr>
          <a:xfrm>
            <a:off x="1952350" y="2078650"/>
            <a:ext cx="4826400" cy="24999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76"/>
          <p:cNvSpPr txBox="1"/>
          <p:nvPr/>
        </p:nvSpPr>
        <p:spPr>
          <a:xfrm>
            <a:off x="1876150" y="1751681"/>
            <a:ext cx="11199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DAG-LPT</a:t>
            </a:r>
            <a:endParaRPr/>
          </a:p>
        </p:txBody>
      </p:sp>
      <p:sp>
        <p:nvSpPr>
          <p:cNvPr id="1832" name="Google Shape;1832;p76"/>
          <p:cNvSpPr/>
          <p:nvPr/>
        </p:nvSpPr>
        <p:spPr>
          <a:xfrm>
            <a:off x="2279400" y="2556738"/>
            <a:ext cx="1095000" cy="329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Preprocess</a:t>
            </a:r>
            <a:endParaRPr/>
          </a:p>
        </p:txBody>
      </p:sp>
      <p:cxnSp>
        <p:nvCxnSpPr>
          <p:cNvPr id="1833" name="Google Shape;1833;p76"/>
          <p:cNvCxnSpPr>
            <a:stCxn id="1828" idx="3"/>
            <a:endCxn id="1832" idx="1"/>
          </p:cNvCxnSpPr>
          <p:nvPr/>
        </p:nvCxnSpPr>
        <p:spPr>
          <a:xfrm>
            <a:off x="1749374" y="2721293"/>
            <a:ext cx="530100" cy="0"/>
          </a:xfrm>
          <a:prstGeom prst="straightConnector1">
            <a:avLst/>
          </a:prstGeom>
          <a:noFill/>
          <a:ln w="9525" cap="flat" cmpd="sng">
            <a:solidFill>
              <a:schemeClr val="dk2"/>
            </a:solidFill>
            <a:prstDash val="solid"/>
            <a:round/>
            <a:headEnd type="none" w="med" len="med"/>
            <a:tailEnd type="triangle" w="med" len="med"/>
          </a:ln>
        </p:spPr>
      </p:cxnSp>
      <p:pic>
        <p:nvPicPr>
          <p:cNvPr id="1834" name="Google Shape;1834;p76"/>
          <p:cNvPicPr preferRelativeResize="0"/>
          <p:nvPr/>
        </p:nvPicPr>
        <p:blipFill>
          <a:blip r:embed="rId4">
            <a:alphaModFix/>
          </a:blip>
          <a:stretch>
            <a:fillRect/>
          </a:stretch>
        </p:blipFill>
        <p:spPr>
          <a:xfrm>
            <a:off x="3635825" y="2437235"/>
            <a:ext cx="1435160" cy="561075"/>
          </a:xfrm>
          <a:prstGeom prst="rect">
            <a:avLst/>
          </a:prstGeom>
          <a:noFill/>
          <a:ln w="9525" cap="flat" cmpd="sng">
            <a:solidFill>
              <a:srgbClr val="000000"/>
            </a:solidFill>
            <a:prstDash val="solid"/>
            <a:round/>
            <a:headEnd type="none" w="sm" len="sm"/>
            <a:tailEnd type="none" w="sm" len="sm"/>
          </a:ln>
        </p:spPr>
      </p:pic>
      <p:cxnSp>
        <p:nvCxnSpPr>
          <p:cNvPr id="1835" name="Google Shape;1835;p76"/>
          <p:cNvCxnSpPr>
            <a:stCxn id="1832" idx="3"/>
            <a:endCxn id="1834" idx="1"/>
          </p:cNvCxnSpPr>
          <p:nvPr/>
        </p:nvCxnSpPr>
        <p:spPr>
          <a:xfrm rot="10800000" flipH="1">
            <a:off x="3374400" y="2717688"/>
            <a:ext cx="261300" cy="3600"/>
          </a:xfrm>
          <a:prstGeom prst="straightConnector1">
            <a:avLst/>
          </a:prstGeom>
          <a:noFill/>
          <a:ln w="9525" cap="flat" cmpd="sng">
            <a:solidFill>
              <a:schemeClr val="dk2"/>
            </a:solidFill>
            <a:prstDash val="solid"/>
            <a:round/>
            <a:headEnd type="none" w="med" len="med"/>
            <a:tailEnd type="triangle" w="med" len="med"/>
          </a:ln>
        </p:spPr>
      </p:cxnSp>
      <p:sp>
        <p:nvSpPr>
          <p:cNvPr id="1836" name="Google Shape;1836;p76"/>
          <p:cNvSpPr/>
          <p:nvPr/>
        </p:nvSpPr>
        <p:spPr>
          <a:xfrm>
            <a:off x="5408603" y="2508970"/>
            <a:ext cx="1196700" cy="416100"/>
          </a:xfrm>
          <a:prstGeom prst="rect">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DAG-SPT</a:t>
            </a:r>
            <a:endParaRPr/>
          </a:p>
        </p:txBody>
      </p:sp>
      <p:cxnSp>
        <p:nvCxnSpPr>
          <p:cNvPr id="1837" name="Google Shape;1837;p76"/>
          <p:cNvCxnSpPr>
            <a:stCxn id="1834" idx="3"/>
            <a:endCxn id="1836" idx="1"/>
          </p:cNvCxnSpPr>
          <p:nvPr/>
        </p:nvCxnSpPr>
        <p:spPr>
          <a:xfrm rot="10800000" flipH="1">
            <a:off x="5070985" y="2716873"/>
            <a:ext cx="337500" cy="900"/>
          </a:xfrm>
          <a:prstGeom prst="straightConnector1">
            <a:avLst/>
          </a:prstGeom>
          <a:noFill/>
          <a:ln w="9525" cap="flat" cmpd="sng">
            <a:solidFill>
              <a:schemeClr val="dk2"/>
            </a:solidFill>
            <a:prstDash val="solid"/>
            <a:round/>
            <a:headEnd type="none" w="med" len="med"/>
            <a:tailEnd type="triangle" w="med" len="med"/>
          </a:ln>
        </p:spPr>
      </p:cxnSp>
      <p:sp>
        <p:nvSpPr>
          <p:cNvPr id="1838" name="Google Shape;1838;p76"/>
          <p:cNvSpPr txBox="1"/>
          <p:nvPr/>
        </p:nvSpPr>
        <p:spPr>
          <a:xfrm>
            <a:off x="3635825" y="2105900"/>
            <a:ext cx="6738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a:t>
            </a:r>
            <a:endParaRPr/>
          </a:p>
        </p:txBody>
      </p:sp>
      <p:cxnSp>
        <p:nvCxnSpPr>
          <p:cNvPr id="1839" name="Google Shape;1839;p76"/>
          <p:cNvCxnSpPr>
            <a:stCxn id="1836" idx="2"/>
            <a:endCxn id="1840" idx="0"/>
          </p:cNvCxnSpPr>
          <p:nvPr/>
        </p:nvCxnSpPr>
        <p:spPr>
          <a:xfrm rot="5400000">
            <a:off x="4244453" y="1848970"/>
            <a:ext cx="686400" cy="2838600"/>
          </a:xfrm>
          <a:prstGeom prst="curvedConnector3">
            <a:avLst>
              <a:gd name="adj1" fmla="val 50010"/>
            </a:avLst>
          </a:prstGeom>
          <a:noFill/>
          <a:ln w="9525" cap="flat" cmpd="sng">
            <a:solidFill>
              <a:schemeClr val="dk2"/>
            </a:solidFill>
            <a:prstDash val="solid"/>
            <a:round/>
            <a:headEnd type="none" w="med" len="med"/>
            <a:tailEnd type="triangle" w="med" len="med"/>
          </a:ln>
        </p:spPr>
      </p:cxnSp>
      <p:sp>
        <p:nvSpPr>
          <p:cNvPr id="1841" name="Google Shape;1841;p76"/>
          <p:cNvSpPr txBox="1"/>
          <p:nvPr/>
        </p:nvSpPr>
        <p:spPr>
          <a:xfrm>
            <a:off x="2307850" y="3294975"/>
            <a:ext cx="10665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SPT of G’</a:t>
            </a:r>
            <a:endParaRPr/>
          </a:p>
        </p:txBody>
      </p:sp>
      <p:sp>
        <p:nvSpPr>
          <p:cNvPr id="1842" name="Google Shape;1842;p76"/>
          <p:cNvSpPr/>
          <p:nvPr/>
        </p:nvSpPr>
        <p:spPr>
          <a:xfrm>
            <a:off x="4847000" y="3795200"/>
            <a:ext cx="1196700" cy="329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Postprocess</a:t>
            </a:r>
            <a:endParaRPr/>
          </a:p>
        </p:txBody>
      </p:sp>
      <p:cxnSp>
        <p:nvCxnSpPr>
          <p:cNvPr id="1843" name="Google Shape;1843;p76"/>
          <p:cNvCxnSpPr>
            <a:stCxn id="1840" idx="3"/>
            <a:endCxn id="1842" idx="1"/>
          </p:cNvCxnSpPr>
          <p:nvPr/>
        </p:nvCxnSpPr>
        <p:spPr>
          <a:xfrm>
            <a:off x="3987294" y="3959752"/>
            <a:ext cx="859800" cy="0"/>
          </a:xfrm>
          <a:prstGeom prst="straightConnector1">
            <a:avLst/>
          </a:prstGeom>
          <a:noFill/>
          <a:ln w="9525" cap="flat" cmpd="sng">
            <a:solidFill>
              <a:schemeClr val="dk2"/>
            </a:solidFill>
            <a:prstDash val="solid"/>
            <a:round/>
            <a:headEnd type="none" w="med" len="med"/>
            <a:tailEnd type="triangle" w="med" len="med"/>
          </a:ln>
        </p:spPr>
      </p:cxnSp>
      <p:cxnSp>
        <p:nvCxnSpPr>
          <p:cNvPr id="1844" name="Google Shape;1844;p76"/>
          <p:cNvCxnSpPr>
            <a:stCxn id="1842" idx="3"/>
            <a:endCxn id="1845" idx="1"/>
          </p:cNvCxnSpPr>
          <p:nvPr/>
        </p:nvCxnSpPr>
        <p:spPr>
          <a:xfrm>
            <a:off x="6043700" y="3959750"/>
            <a:ext cx="1131600" cy="0"/>
          </a:xfrm>
          <a:prstGeom prst="straightConnector1">
            <a:avLst/>
          </a:prstGeom>
          <a:noFill/>
          <a:ln w="9525" cap="flat" cmpd="sng">
            <a:solidFill>
              <a:schemeClr val="dk2"/>
            </a:solidFill>
            <a:prstDash val="solid"/>
            <a:round/>
            <a:headEnd type="none" w="med" len="med"/>
            <a:tailEnd type="triangle" w="med" len="med"/>
          </a:ln>
        </p:spPr>
      </p:cxnSp>
      <p:sp>
        <p:nvSpPr>
          <p:cNvPr id="1846" name="Google Shape;1846;p76"/>
          <p:cNvSpPr txBox="1"/>
          <p:nvPr/>
        </p:nvSpPr>
        <p:spPr>
          <a:xfrm>
            <a:off x="7129299" y="3280349"/>
            <a:ext cx="10665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LPT of G</a:t>
            </a:r>
            <a:endParaRPr/>
          </a:p>
        </p:txBody>
      </p:sp>
      <p:pic>
        <p:nvPicPr>
          <p:cNvPr id="1840" name="Google Shape;1840;p76"/>
          <p:cNvPicPr preferRelativeResize="0"/>
          <p:nvPr/>
        </p:nvPicPr>
        <p:blipFill>
          <a:blip r:embed="rId5">
            <a:alphaModFix/>
          </a:blip>
          <a:stretch>
            <a:fillRect/>
          </a:stretch>
        </p:blipFill>
        <p:spPr>
          <a:xfrm>
            <a:off x="2349498" y="3611602"/>
            <a:ext cx="1637796" cy="696300"/>
          </a:xfrm>
          <a:prstGeom prst="rect">
            <a:avLst/>
          </a:prstGeom>
          <a:noFill/>
          <a:ln w="9525" cap="flat" cmpd="sng">
            <a:solidFill>
              <a:srgbClr val="000000"/>
            </a:solidFill>
            <a:prstDash val="solid"/>
            <a:round/>
            <a:headEnd type="none" w="sm" len="sm"/>
            <a:tailEnd type="none" w="sm" len="sm"/>
          </a:ln>
        </p:spPr>
      </p:pic>
      <p:pic>
        <p:nvPicPr>
          <p:cNvPr id="1845" name="Google Shape;1845;p76"/>
          <p:cNvPicPr preferRelativeResize="0"/>
          <p:nvPr/>
        </p:nvPicPr>
        <p:blipFill>
          <a:blip r:embed="rId6">
            <a:alphaModFix/>
          </a:blip>
          <a:stretch>
            <a:fillRect/>
          </a:stretch>
        </p:blipFill>
        <p:spPr>
          <a:xfrm>
            <a:off x="7175425" y="3604300"/>
            <a:ext cx="1637800" cy="71088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50"/>
        <p:cNvGrpSpPr/>
        <p:nvPr/>
      </p:nvGrpSpPr>
      <p:grpSpPr>
        <a:xfrm>
          <a:off x="0" y="0"/>
          <a:ext cx="0" cy="0"/>
          <a:chOff x="0" y="0"/>
          <a:chExt cx="0" cy="0"/>
        </a:xfrm>
      </p:grpSpPr>
      <p:sp>
        <p:nvSpPr>
          <p:cNvPr id="1851" name="Google Shape;1851;p7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Reduction Analogy</a:t>
            </a:r>
            <a:endParaRPr/>
          </a:p>
        </p:txBody>
      </p:sp>
      <p:sp>
        <p:nvSpPr>
          <p:cNvPr id="1852" name="Google Shape;1852;p7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This process is known as reduction. </a:t>
            </a:r>
            <a:endParaRPr/>
          </a:p>
          <a:p>
            <a:pPr marL="457200" lvl="0" indent="-342900" algn="l" rtl="0">
              <a:spcBef>
                <a:spcPts val="600"/>
              </a:spcBef>
              <a:spcAft>
                <a:spcPts val="0"/>
              </a:spcAft>
              <a:buSzPts val="1800"/>
              <a:buChar char="●"/>
            </a:pPr>
            <a:r>
              <a:rPr lang="en"/>
              <a:t>Since DAG-SPT can be used to solve DAG-LPT, we say that “DAG-LPT reduces to DAG-SPT”. </a:t>
            </a:r>
            <a:endParaRPr/>
          </a:p>
          <a:p>
            <a:pPr marL="0" lvl="0" indent="0" algn="l" rtl="0">
              <a:spcBef>
                <a:spcPts val="600"/>
              </a:spcBef>
              <a:spcAft>
                <a:spcPts val="0"/>
              </a:spcAft>
              <a:buNone/>
            </a:pPr>
            <a:endParaRPr/>
          </a:p>
          <a:p>
            <a:pPr marL="0" lvl="0" indent="0" algn="l" rtl="0">
              <a:spcBef>
                <a:spcPts val="600"/>
              </a:spcBef>
              <a:spcAft>
                <a:spcPts val="0"/>
              </a:spcAft>
              <a:buNone/>
            </a:pPr>
            <a:r>
              <a:rPr lang="en"/>
              <a:t>As a real-world analog, suppose we want to climb a hill. There are many ways to do this:</a:t>
            </a:r>
            <a:endParaRPr/>
          </a:p>
          <a:p>
            <a:pPr marL="457200" lvl="0" indent="-342900" algn="l" rtl="0">
              <a:spcBef>
                <a:spcPts val="600"/>
              </a:spcBef>
              <a:spcAft>
                <a:spcPts val="0"/>
              </a:spcAft>
              <a:buSzPts val="1800"/>
              <a:buChar char="●"/>
            </a:pPr>
            <a:r>
              <a:rPr lang="en"/>
              <a:t>“Climbing a hill” reduces to “riding a ski lift.”</a:t>
            </a:r>
            <a:endParaRPr/>
          </a:p>
          <a:p>
            <a:pPr marL="457200" lvl="0" indent="-342900" algn="l" rtl="0">
              <a:spcBef>
                <a:spcPts val="600"/>
              </a:spcBef>
              <a:spcAft>
                <a:spcPts val="0"/>
              </a:spcAft>
              <a:buSzPts val="1800"/>
              <a:buChar char="●"/>
            </a:pPr>
            <a:r>
              <a:rPr lang="en"/>
              <a:t>“Climbing a hill” reduces to “being shot out of a cannon.”</a:t>
            </a:r>
            <a:endParaRPr/>
          </a:p>
          <a:p>
            <a:pPr marL="457200" lvl="0" indent="-342900" algn="l" rtl="0">
              <a:spcBef>
                <a:spcPts val="600"/>
              </a:spcBef>
              <a:spcAft>
                <a:spcPts val="0"/>
              </a:spcAft>
              <a:buSzPts val="1800"/>
              <a:buChar char="●"/>
            </a:pPr>
            <a:r>
              <a:rPr lang="en"/>
              <a:t>“Climbing a hill” reduces to “riding a bike up the hill.”</a:t>
            </a:r>
            <a:endParaRPr/>
          </a:p>
          <a:p>
            <a:pPr marL="457200" lvl="0" indent="0" algn="l" rtl="0">
              <a:spcBef>
                <a:spcPts val="600"/>
              </a:spcBef>
              <a:spcAft>
                <a:spcPts val="0"/>
              </a:spcAft>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56"/>
        <p:cNvGrpSpPr/>
        <p:nvPr/>
      </p:nvGrpSpPr>
      <p:grpSpPr>
        <a:xfrm>
          <a:off x="0" y="0"/>
          <a:ext cx="0" cy="0"/>
          <a:chOff x="0" y="0"/>
          <a:chExt cx="0" cy="0"/>
        </a:xfrm>
      </p:grpSpPr>
      <p:sp>
        <p:nvSpPr>
          <p:cNvPr id="1857" name="Google Shape;1857;p7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Reduction Definition (Informal)</a:t>
            </a:r>
            <a:endParaRPr/>
          </a:p>
        </p:txBody>
      </p:sp>
      <p:sp>
        <p:nvSpPr>
          <p:cNvPr id="1858" name="Google Shape;1858;p78"/>
          <p:cNvSpPr txBox="1">
            <a:spLocks noGrp="1"/>
          </p:cNvSpPr>
          <p:nvPr>
            <p:ph type="body" idx="1"/>
          </p:nvPr>
        </p:nvSpPr>
        <p:spPr>
          <a:xfrm>
            <a:off x="107050" y="402200"/>
            <a:ext cx="8520600" cy="4512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This process is known as reduction. </a:t>
            </a:r>
            <a:endParaRPr/>
          </a:p>
          <a:p>
            <a:pPr marL="457200" lvl="0" indent="-342900" algn="l" rtl="0">
              <a:spcBef>
                <a:spcPts val="600"/>
              </a:spcBef>
              <a:spcAft>
                <a:spcPts val="0"/>
              </a:spcAft>
              <a:buSzPts val="1800"/>
              <a:buChar char="●"/>
            </a:pPr>
            <a:r>
              <a:rPr lang="en"/>
              <a:t>Since DAG-SPT can be used to DAG-LPT, we say that “DAG-LPT reduces to DAG-SPT”. </a:t>
            </a:r>
            <a:endParaRPr/>
          </a:p>
          <a:p>
            <a:pPr marL="0" lvl="0" indent="0" algn="l" rtl="0">
              <a:spcBef>
                <a:spcPts val="600"/>
              </a:spcBef>
              <a:spcAft>
                <a:spcPts val="0"/>
              </a:spcAft>
              <a:buNone/>
            </a:pPr>
            <a:endParaRPr/>
          </a:p>
          <a:p>
            <a:pPr marL="0" lvl="0" indent="0" algn="l" rtl="0">
              <a:spcBef>
                <a:spcPts val="600"/>
              </a:spcBef>
              <a:spcAft>
                <a:spcPts val="0"/>
              </a:spcAft>
              <a:buNone/>
            </a:pPr>
            <a:r>
              <a:rPr lang="en"/>
              <a:t>Algorithms by Dasgupta, Papadimitriou, and Vazirani defines a reduction informally as follows:</a:t>
            </a:r>
            <a:endParaRPr/>
          </a:p>
          <a:p>
            <a:pPr marL="457200" lvl="0" indent="-342900" algn="l" rtl="0">
              <a:spcBef>
                <a:spcPts val="600"/>
              </a:spcBef>
              <a:spcAft>
                <a:spcPts val="0"/>
              </a:spcAft>
              <a:buSzPts val="1800"/>
              <a:buChar char="●"/>
            </a:pPr>
            <a:r>
              <a:rPr lang="en"/>
              <a:t>“If any subroutine for task Q can be used to solve P, we say P reduces to Q.”</a:t>
            </a:r>
            <a:endParaRPr/>
          </a:p>
          <a:p>
            <a:pPr marL="0" lvl="0" indent="0" algn="l" rtl="0">
              <a:spcBef>
                <a:spcPts val="600"/>
              </a:spcBef>
              <a:spcAft>
                <a:spcPts val="0"/>
              </a:spcAft>
              <a:buNone/>
            </a:pPr>
            <a:endParaRPr/>
          </a:p>
          <a:p>
            <a:pPr marL="0" lvl="0" indent="0" algn="l" rtl="0">
              <a:spcBef>
                <a:spcPts val="600"/>
              </a:spcBef>
              <a:spcAft>
                <a:spcPts val="0"/>
              </a:spcAft>
              <a:buNone/>
            </a:pPr>
            <a:r>
              <a:rPr lang="en"/>
              <a:t>Can also define the idea formally, but </a:t>
            </a:r>
            <a:r>
              <a:rPr lang="en" b="1"/>
              <a:t>way </a:t>
            </a:r>
            <a:r>
              <a:rPr lang="en"/>
              <a:t>beyond the scope of our class.</a:t>
            </a:r>
            <a:endParaRPr/>
          </a:p>
          <a:p>
            <a:pPr marL="457200" lvl="0" indent="-342900" algn="l" rtl="0">
              <a:spcBef>
                <a:spcPts val="600"/>
              </a:spcBef>
              <a:spcAft>
                <a:spcPts val="0"/>
              </a:spcAft>
              <a:buSzPts val="1800"/>
              <a:buChar char="●"/>
            </a:pPr>
            <a:r>
              <a:rPr lang="en"/>
              <a:t>If you’re curious, you can read more about </a:t>
            </a:r>
            <a:r>
              <a:rPr lang="en" u="sng">
                <a:solidFill>
                  <a:schemeClr val="hlink"/>
                </a:solidFill>
                <a:hlinkClick r:id="rId3"/>
              </a:rPr>
              <a:t>Karp and Cook reductions</a:t>
            </a:r>
            <a:r>
              <a:rPr lang="en"/>
              <a:t>.</a:t>
            </a:r>
            <a:endParaRPr/>
          </a:p>
          <a:p>
            <a:pPr marL="0" lvl="0" indent="0" algn="l" rtl="0">
              <a:spcBef>
                <a:spcPts val="600"/>
              </a:spcBef>
              <a:spcAft>
                <a:spcPts val="0"/>
              </a:spcAft>
              <a:buNone/>
            </a:pPr>
            <a:endParaRPr/>
          </a:p>
          <a:p>
            <a:pPr marL="0" lvl="0" indent="0" algn="l" rtl="0">
              <a:spcBef>
                <a:spcPts val="600"/>
              </a:spcBef>
              <a:spcAft>
                <a:spcPts val="0"/>
              </a:spcAft>
              <a:buNone/>
            </a:pPr>
            <a:r>
              <a:rPr lang="en"/>
              <a:t>Reduction is more than sign flipping. Let’s see a richer example of a reduction.</a:t>
            </a:r>
            <a:br>
              <a:rPr lang="en"/>
            </a:b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862"/>
        <p:cNvGrpSpPr/>
        <p:nvPr/>
      </p:nvGrpSpPr>
      <p:grpSpPr>
        <a:xfrm>
          <a:off x="0" y="0"/>
          <a:ext cx="0" cy="0"/>
          <a:chOff x="0" y="0"/>
          <a:chExt cx="0" cy="0"/>
        </a:xfrm>
      </p:grpSpPr>
      <p:sp>
        <p:nvSpPr>
          <p:cNvPr id="1863" name="Google Shape;1863;p7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28, CS61B, Fall 2023</a:t>
            </a:r>
            <a:endParaRPr/>
          </a:p>
        </p:txBody>
      </p:sp>
      <p:sp>
        <p:nvSpPr>
          <p:cNvPr id="1864" name="Google Shape;1864;p7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Topological Sorting</a:t>
            </a:r>
            <a:endParaRPr/>
          </a:p>
          <a:p>
            <a:pPr marL="0" lvl="0" indent="0" algn="l" rtl="0">
              <a:spcBef>
                <a:spcPts val="600"/>
              </a:spcBef>
              <a:spcAft>
                <a:spcPts val="0"/>
              </a:spcAft>
              <a:buNone/>
            </a:pPr>
            <a:r>
              <a:rPr lang="en"/>
              <a:t>Shortest Paths on DAGs</a:t>
            </a:r>
            <a:endParaRPr/>
          </a:p>
          <a:p>
            <a:pPr marL="0" lvl="0" indent="0" algn="l" rtl="0">
              <a:spcBef>
                <a:spcPts val="600"/>
              </a:spcBef>
              <a:spcAft>
                <a:spcPts val="0"/>
              </a:spcAft>
              <a:buNone/>
            </a:pPr>
            <a:r>
              <a:rPr lang="en"/>
              <a:t>Longest Paths</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b="1">
                <a:solidFill>
                  <a:schemeClr val="accent3"/>
                </a:solidFill>
                <a:latin typeface="Roboto"/>
                <a:ea typeface="Roboto"/>
                <a:cs typeface="Roboto"/>
                <a:sym typeface="Roboto"/>
              </a:rPr>
              <a:t>Reductions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CCCCCC"/>
              </a:buClr>
              <a:buSzPts val="1800"/>
              <a:buChar char="•"/>
            </a:pPr>
            <a:r>
              <a:rPr lang="en">
                <a:solidFill>
                  <a:srgbClr val="CCCCCC"/>
                </a:solidFill>
              </a:rPr>
              <a:t>Definition</a:t>
            </a:r>
            <a:endParaRPr>
              <a:solidFill>
                <a:srgbClr val="CCCCCC"/>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Reduction to 3SAT (Optional CS170 Preview)</a:t>
            </a:r>
            <a:endParaRPr b="1">
              <a:solidFill>
                <a:schemeClr val="accent3"/>
              </a:solidFill>
              <a:latin typeface="Roboto"/>
              <a:ea typeface="Roboto"/>
              <a:cs typeface="Roboto"/>
              <a:sym typeface="Roboto"/>
            </a:endParaRPr>
          </a:p>
        </p:txBody>
      </p:sp>
      <p:sp>
        <p:nvSpPr>
          <p:cNvPr id="1865" name="Google Shape;1865;p7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Reductions: Definition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69"/>
        <p:cNvGrpSpPr/>
        <p:nvPr/>
      </p:nvGrpSpPr>
      <p:grpSpPr>
        <a:xfrm>
          <a:off x="0" y="0"/>
          <a:ext cx="0" cy="0"/>
          <a:chOff x="0" y="0"/>
          <a:chExt cx="0" cy="0"/>
        </a:xfrm>
      </p:grpSpPr>
      <p:sp>
        <p:nvSpPr>
          <p:cNvPr id="1870" name="Google Shape;1870;p8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Independent Set Problem</a:t>
            </a:r>
            <a:endParaRPr/>
          </a:p>
        </p:txBody>
      </p:sp>
      <p:sp>
        <p:nvSpPr>
          <p:cNvPr id="1871" name="Google Shape;1871;p8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An independent set is a set of vertices in which no two vertices are adjacent.</a:t>
            </a:r>
            <a:endParaRPr/>
          </a:p>
          <a:p>
            <a:pPr marL="0" lvl="0" indent="0" algn="l" rtl="0">
              <a:spcBef>
                <a:spcPts val="600"/>
              </a:spcBef>
              <a:spcAft>
                <a:spcPts val="0"/>
              </a:spcAft>
              <a:buNone/>
            </a:pPr>
            <a:endParaRPr/>
          </a:p>
          <a:p>
            <a:pPr marL="0" lvl="0" indent="0" algn="l" rtl="0">
              <a:spcBef>
                <a:spcPts val="600"/>
              </a:spcBef>
              <a:spcAft>
                <a:spcPts val="0"/>
              </a:spcAft>
              <a:buNone/>
            </a:pPr>
            <a:r>
              <a:rPr lang="en"/>
              <a:t>The Independent-set Problem:</a:t>
            </a:r>
            <a:endParaRPr/>
          </a:p>
          <a:p>
            <a:pPr marL="457200" lvl="0" indent="-342900" algn="l" rtl="0">
              <a:spcBef>
                <a:spcPts val="600"/>
              </a:spcBef>
              <a:spcAft>
                <a:spcPts val="0"/>
              </a:spcAft>
              <a:buSzPts val="1800"/>
              <a:buChar char="●"/>
            </a:pPr>
            <a:r>
              <a:rPr lang="en"/>
              <a:t>Does there exist an independent set of size k?</a:t>
            </a:r>
            <a:endParaRPr/>
          </a:p>
          <a:p>
            <a:pPr marL="457200" lvl="0" indent="-342900" algn="l" rtl="0">
              <a:spcBef>
                <a:spcPts val="0"/>
              </a:spcBef>
              <a:spcAft>
                <a:spcPts val="0"/>
              </a:spcAft>
              <a:buSzPts val="1800"/>
              <a:buChar char="●"/>
            </a:pPr>
            <a:r>
              <a:rPr lang="en"/>
              <a:t>i.e. color k vertices red, such that none touch.</a:t>
            </a:r>
            <a:endParaRPr/>
          </a:p>
          <a:p>
            <a:pPr marL="0" lvl="0" indent="0" algn="l" rtl="0">
              <a:spcBef>
                <a:spcPts val="600"/>
              </a:spcBef>
              <a:spcAft>
                <a:spcPts val="0"/>
              </a:spcAft>
              <a:buNone/>
            </a:pPr>
            <a:endParaRPr/>
          </a:p>
          <a:p>
            <a:pPr marL="0" lvl="0" indent="0" algn="l" rtl="0">
              <a:spcBef>
                <a:spcPts val="600"/>
              </a:spcBef>
              <a:spcAft>
                <a:spcPts val="0"/>
              </a:spcAft>
              <a:buNone/>
            </a:pPr>
            <a:r>
              <a:rPr lang="en"/>
              <a:t>Example for the graph on the right and k = 9</a:t>
            </a:r>
            <a:endParaRPr/>
          </a:p>
          <a:p>
            <a:pPr marL="457200" lvl="0" indent="-342900" algn="l" rtl="0">
              <a:spcBef>
                <a:spcPts val="600"/>
              </a:spcBef>
              <a:spcAft>
                <a:spcPts val="0"/>
              </a:spcAft>
              <a:buSzPts val="1800"/>
              <a:buChar char="●"/>
            </a:pPr>
            <a:r>
              <a:rPr lang="en"/>
              <a:t>For this particular graph, N=24.</a:t>
            </a:r>
            <a:endParaRPr/>
          </a:p>
        </p:txBody>
      </p:sp>
      <p:pic>
        <p:nvPicPr>
          <p:cNvPr id="1872" name="Google Shape;1872;p80"/>
          <p:cNvPicPr preferRelativeResize="0"/>
          <p:nvPr/>
        </p:nvPicPr>
        <p:blipFill>
          <a:blip r:embed="rId3">
            <a:alphaModFix/>
          </a:blip>
          <a:stretch>
            <a:fillRect/>
          </a:stretch>
        </p:blipFill>
        <p:spPr>
          <a:xfrm>
            <a:off x="5307866" y="1056673"/>
            <a:ext cx="3790950" cy="37909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81"/>
          <p:cNvSpPr txBox="1"/>
          <p:nvPr/>
        </p:nvSpPr>
        <p:spPr>
          <a:xfrm>
            <a:off x="242000" y="1981200"/>
            <a:ext cx="8894100" cy="17559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Example: (x1 || x2 || !x3) &amp;&amp; (x1 || !x1 || x1) &amp;&amp; (x2 || x3 || x4)</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Solution: x1 = true, x2 = true, x3 = true, x4 = false</a:t>
            </a:r>
            <a:endParaRPr sz="1800">
              <a:solidFill>
                <a:schemeClr val="dk1"/>
              </a:solidFill>
              <a:latin typeface="Roboto"/>
              <a:ea typeface="Roboto"/>
              <a:cs typeface="Roboto"/>
              <a:sym typeface="Roboto"/>
            </a:endParaRPr>
          </a:p>
        </p:txBody>
      </p:sp>
      <p:sp>
        <p:nvSpPr>
          <p:cNvPr id="1878" name="Google Shape;1878;p8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3SAT Problem</a:t>
            </a:r>
            <a:endParaRPr/>
          </a:p>
        </p:txBody>
      </p:sp>
      <p:sp>
        <p:nvSpPr>
          <p:cNvPr id="1879" name="Google Shape;1879;p81"/>
          <p:cNvSpPr txBox="1">
            <a:spLocks noGrp="1"/>
          </p:cNvSpPr>
          <p:nvPr>
            <p:ph type="body" idx="1"/>
          </p:nvPr>
        </p:nvSpPr>
        <p:spPr>
          <a:xfrm>
            <a:off x="90600" y="404100"/>
            <a:ext cx="8443800" cy="117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3SAT: Given a boolean formula, does there exist a truth value for boolean variables that obeys a set of 3-variable disjunctive constraints?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1880" name="Google Shape;1880;p81"/>
          <p:cNvSpPr/>
          <p:nvPr/>
        </p:nvSpPr>
        <p:spPr>
          <a:xfrm rot="5400000">
            <a:off x="1868850" y="1394450"/>
            <a:ext cx="294600" cy="1406700"/>
          </a:xfrm>
          <a:prstGeom prst="lef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81"/>
          <p:cNvSpPr txBox="1"/>
          <p:nvPr/>
        </p:nvSpPr>
        <p:spPr>
          <a:xfrm>
            <a:off x="2053025" y="1753750"/>
            <a:ext cx="32682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3 variable disjunctive constraint</a:t>
            </a:r>
            <a:br>
              <a:rPr lang="en"/>
            </a:b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6" name="Google Shape;1886;p8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3SAT Reduces to Independent Set </a:t>
            </a:r>
            <a:endParaRPr/>
          </a:p>
        </p:txBody>
      </p:sp>
      <p:sp>
        <p:nvSpPr>
          <p:cNvPr id="1887" name="Google Shape;1887;p8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Proposition: 3SAT reduces to Independent-set.</a:t>
            </a:r>
            <a:endParaRPr/>
          </a:p>
          <a:p>
            <a:pPr marL="0" lvl="0" indent="0" algn="l" rtl="0">
              <a:spcBef>
                <a:spcPts val="600"/>
              </a:spcBef>
              <a:spcAft>
                <a:spcPts val="0"/>
              </a:spcAft>
              <a:buNone/>
            </a:pPr>
            <a:endParaRPr/>
          </a:p>
          <a:p>
            <a:pPr marL="0" lvl="0" indent="0" algn="l" rtl="0">
              <a:spcBef>
                <a:spcPts val="600"/>
              </a:spcBef>
              <a:spcAft>
                <a:spcPts val="0"/>
              </a:spcAft>
              <a:buNone/>
            </a:pPr>
            <a:r>
              <a:rPr lang="en"/>
              <a:t>Proof. Given an instance ϕ of 3-SAT, create an instance G of Independent-set:</a:t>
            </a:r>
            <a:endParaRPr/>
          </a:p>
          <a:p>
            <a:pPr marL="457200" lvl="0" indent="-342900" algn="l" rtl="0">
              <a:spcBef>
                <a:spcPts val="600"/>
              </a:spcBef>
              <a:spcAft>
                <a:spcPts val="0"/>
              </a:spcAft>
              <a:buSzPts val="1800"/>
              <a:buChar char="●"/>
            </a:pPr>
            <a:r>
              <a:rPr lang="en"/>
              <a:t>For each clause in ϕ, create 3 vertices in a triangle.</a:t>
            </a:r>
            <a:endParaRPr/>
          </a:p>
          <a:p>
            <a:pPr marL="457200" lvl="0" indent="-342900" algn="l" rtl="0">
              <a:spcBef>
                <a:spcPts val="0"/>
              </a:spcBef>
              <a:spcAft>
                <a:spcPts val="0"/>
              </a:spcAft>
              <a:buSzPts val="1800"/>
              <a:buChar char="●"/>
            </a:pPr>
            <a:r>
              <a:rPr lang="en"/>
              <a:t>Add an edge between each literal and its negation (can’t both be true in 3SAT means can’t be in same set in Independent-set)</a:t>
            </a:r>
            <a:endParaRPr/>
          </a:p>
          <a:p>
            <a:pPr marL="0" lvl="0" indent="0" algn="l" rtl="0">
              <a:spcBef>
                <a:spcPts val="600"/>
              </a:spcBef>
              <a:spcAft>
                <a:spcPts val="0"/>
              </a:spcAft>
              <a:buNone/>
            </a:pPr>
            <a:endParaRPr/>
          </a:p>
        </p:txBody>
      </p:sp>
      <p:sp>
        <p:nvSpPr>
          <p:cNvPr id="1888" name="Google Shape;1888;p82"/>
          <p:cNvSpPr txBox="1"/>
          <p:nvPr/>
        </p:nvSpPr>
        <p:spPr>
          <a:xfrm>
            <a:off x="1127100" y="4456200"/>
            <a:ext cx="7407300" cy="76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Φ  =  (x1 or x2 or x3) and  (! x1 or ! x2 or x4) and (! x1 or x3 or ! x4) and (x1 or x3 or x4)</a:t>
            </a:r>
            <a:endParaRPr/>
          </a:p>
        </p:txBody>
      </p:sp>
      <p:sp>
        <p:nvSpPr>
          <p:cNvPr id="1889" name="Google Shape;1889;p82"/>
          <p:cNvSpPr/>
          <p:nvPr/>
        </p:nvSpPr>
        <p:spPr>
          <a:xfrm>
            <a:off x="243000"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x2</a:t>
            </a:r>
            <a:endParaRPr/>
          </a:p>
        </p:txBody>
      </p:sp>
      <p:sp>
        <p:nvSpPr>
          <p:cNvPr id="1890" name="Google Shape;1890;p82"/>
          <p:cNvSpPr/>
          <p:nvPr/>
        </p:nvSpPr>
        <p:spPr>
          <a:xfrm>
            <a:off x="863010" y="33730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x1</a:t>
            </a:r>
            <a:endParaRPr/>
          </a:p>
        </p:txBody>
      </p:sp>
      <p:sp>
        <p:nvSpPr>
          <p:cNvPr id="1891" name="Google Shape;1891;p82"/>
          <p:cNvSpPr/>
          <p:nvPr/>
        </p:nvSpPr>
        <p:spPr>
          <a:xfrm>
            <a:off x="1412404"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892" name="Google Shape;1892;p82"/>
          <p:cNvSpPr/>
          <p:nvPr/>
        </p:nvSpPr>
        <p:spPr>
          <a:xfrm>
            <a:off x="2581807"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x2</a:t>
            </a:r>
            <a:endParaRPr/>
          </a:p>
        </p:txBody>
      </p:sp>
      <p:sp>
        <p:nvSpPr>
          <p:cNvPr id="1893" name="Google Shape;1893;p82"/>
          <p:cNvSpPr/>
          <p:nvPr/>
        </p:nvSpPr>
        <p:spPr>
          <a:xfrm>
            <a:off x="3751211"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x4</a:t>
            </a:r>
            <a:endParaRPr/>
          </a:p>
        </p:txBody>
      </p:sp>
      <p:sp>
        <p:nvSpPr>
          <p:cNvPr id="1894" name="Google Shape;1894;p82"/>
          <p:cNvSpPr/>
          <p:nvPr/>
        </p:nvSpPr>
        <p:spPr>
          <a:xfrm>
            <a:off x="3201557" y="33730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x1</a:t>
            </a:r>
            <a:endParaRPr/>
          </a:p>
        </p:txBody>
      </p:sp>
      <p:sp>
        <p:nvSpPr>
          <p:cNvPr id="1895" name="Google Shape;1895;p82"/>
          <p:cNvSpPr/>
          <p:nvPr/>
        </p:nvSpPr>
        <p:spPr>
          <a:xfrm>
            <a:off x="4852526" y="4090175"/>
            <a:ext cx="5493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 x4</a:t>
            </a:r>
            <a:endParaRPr/>
          </a:p>
        </p:txBody>
      </p:sp>
      <p:sp>
        <p:nvSpPr>
          <p:cNvPr id="1896" name="Google Shape;1896;p82"/>
          <p:cNvSpPr/>
          <p:nvPr/>
        </p:nvSpPr>
        <p:spPr>
          <a:xfrm>
            <a:off x="6090018"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897" name="Google Shape;1897;p82"/>
          <p:cNvSpPr/>
          <p:nvPr/>
        </p:nvSpPr>
        <p:spPr>
          <a:xfrm>
            <a:off x="5540103" y="33730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x1</a:t>
            </a:r>
            <a:endParaRPr/>
          </a:p>
        </p:txBody>
      </p:sp>
      <p:sp>
        <p:nvSpPr>
          <p:cNvPr id="1898" name="Google Shape;1898;p82"/>
          <p:cNvSpPr/>
          <p:nvPr/>
        </p:nvSpPr>
        <p:spPr>
          <a:xfrm>
            <a:off x="7259421"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899" name="Google Shape;1899;p82"/>
          <p:cNvSpPr/>
          <p:nvPr/>
        </p:nvSpPr>
        <p:spPr>
          <a:xfrm>
            <a:off x="7878649" y="33730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x1</a:t>
            </a:r>
            <a:endParaRPr/>
          </a:p>
        </p:txBody>
      </p:sp>
      <p:sp>
        <p:nvSpPr>
          <p:cNvPr id="1900" name="Google Shape;1900;p82"/>
          <p:cNvSpPr/>
          <p:nvPr/>
        </p:nvSpPr>
        <p:spPr>
          <a:xfrm>
            <a:off x="8428825" y="4090175"/>
            <a:ext cx="481200" cy="367500"/>
          </a:xfrm>
          <a:prstGeom prst="rect">
            <a:avLst/>
          </a:prstGeom>
          <a:solidFill>
            <a:srgbClr val="D9D2E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x4</a:t>
            </a:r>
            <a:endParaRPr/>
          </a:p>
        </p:txBody>
      </p:sp>
      <p:cxnSp>
        <p:nvCxnSpPr>
          <p:cNvPr id="1901" name="Google Shape;1901;p82"/>
          <p:cNvCxnSpPr>
            <a:stCxn id="1890" idx="2"/>
            <a:endCxn id="1889" idx="0"/>
          </p:cNvCxnSpPr>
          <p:nvPr/>
        </p:nvCxnSpPr>
        <p:spPr>
          <a:xfrm flipH="1">
            <a:off x="483510" y="3740575"/>
            <a:ext cx="620100" cy="349500"/>
          </a:xfrm>
          <a:prstGeom prst="straightConnector1">
            <a:avLst/>
          </a:prstGeom>
          <a:noFill/>
          <a:ln w="19050" cap="flat" cmpd="sng">
            <a:solidFill>
              <a:schemeClr val="dk2"/>
            </a:solidFill>
            <a:prstDash val="solid"/>
            <a:round/>
            <a:headEnd type="none" w="med" len="med"/>
            <a:tailEnd type="none" w="med" len="med"/>
          </a:ln>
        </p:spPr>
      </p:cxnSp>
      <p:cxnSp>
        <p:nvCxnSpPr>
          <p:cNvPr id="1902" name="Google Shape;1902;p82"/>
          <p:cNvCxnSpPr>
            <a:stCxn id="1891" idx="0"/>
            <a:endCxn id="1890" idx="2"/>
          </p:cNvCxnSpPr>
          <p:nvPr/>
        </p:nvCxnSpPr>
        <p:spPr>
          <a:xfrm rot="10800000">
            <a:off x="1103704" y="3740675"/>
            <a:ext cx="549300" cy="349500"/>
          </a:xfrm>
          <a:prstGeom prst="straightConnector1">
            <a:avLst/>
          </a:prstGeom>
          <a:noFill/>
          <a:ln w="19050" cap="flat" cmpd="sng">
            <a:solidFill>
              <a:schemeClr val="dk2"/>
            </a:solidFill>
            <a:prstDash val="solid"/>
            <a:round/>
            <a:headEnd type="none" w="med" len="med"/>
            <a:tailEnd type="none" w="med" len="med"/>
          </a:ln>
        </p:spPr>
      </p:cxnSp>
      <p:cxnSp>
        <p:nvCxnSpPr>
          <p:cNvPr id="1903" name="Google Shape;1903;p82"/>
          <p:cNvCxnSpPr>
            <a:stCxn id="1889" idx="3"/>
            <a:endCxn id="1891" idx="1"/>
          </p:cNvCxnSpPr>
          <p:nvPr/>
        </p:nvCxnSpPr>
        <p:spPr>
          <a:xfrm>
            <a:off x="724200" y="4273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04" name="Google Shape;1904;p82"/>
          <p:cNvCxnSpPr>
            <a:stCxn id="1894" idx="2"/>
            <a:endCxn id="1892" idx="0"/>
          </p:cNvCxnSpPr>
          <p:nvPr/>
        </p:nvCxnSpPr>
        <p:spPr>
          <a:xfrm flipH="1">
            <a:off x="2822357" y="3740575"/>
            <a:ext cx="619800" cy="349500"/>
          </a:xfrm>
          <a:prstGeom prst="straightConnector1">
            <a:avLst/>
          </a:prstGeom>
          <a:noFill/>
          <a:ln w="19050" cap="flat" cmpd="sng">
            <a:solidFill>
              <a:schemeClr val="dk2"/>
            </a:solidFill>
            <a:prstDash val="solid"/>
            <a:round/>
            <a:headEnd type="none" w="med" len="med"/>
            <a:tailEnd type="none" w="med" len="med"/>
          </a:ln>
        </p:spPr>
      </p:cxnSp>
      <p:cxnSp>
        <p:nvCxnSpPr>
          <p:cNvPr id="1905" name="Google Shape;1905;p82"/>
          <p:cNvCxnSpPr>
            <a:stCxn id="1892" idx="3"/>
            <a:endCxn id="1893" idx="1"/>
          </p:cNvCxnSpPr>
          <p:nvPr/>
        </p:nvCxnSpPr>
        <p:spPr>
          <a:xfrm>
            <a:off x="3063007" y="4273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06" name="Google Shape;1906;p82"/>
          <p:cNvCxnSpPr>
            <a:stCxn id="1893" idx="0"/>
            <a:endCxn id="1894" idx="2"/>
          </p:cNvCxnSpPr>
          <p:nvPr/>
        </p:nvCxnSpPr>
        <p:spPr>
          <a:xfrm rot="10800000">
            <a:off x="3442211" y="3740675"/>
            <a:ext cx="549600" cy="349500"/>
          </a:xfrm>
          <a:prstGeom prst="straightConnector1">
            <a:avLst/>
          </a:prstGeom>
          <a:noFill/>
          <a:ln w="19050" cap="flat" cmpd="sng">
            <a:solidFill>
              <a:schemeClr val="dk2"/>
            </a:solidFill>
            <a:prstDash val="solid"/>
            <a:round/>
            <a:headEnd type="none" w="med" len="med"/>
            <a:tailEnd type="none" w="med" len="med"/>
          </a:ln>
        </p:spPr>
      </p:cxnSp>
      <p:cxnSp>
        <p:nvCxnSpPr>
          <p:cNvPr id="1907" name="Google Shape;1907;p82"/>
          <p:cNvCxnSpPr>
            <a:stCxn id="1895" idx="0"/>
            <a:endCxn id="1897" idx="2"/>
          </p:cNvCxnSpPr>
          <p:nvPr/>
        </p:nvCxnSpPr>
        <p:spPr>
          <a:xfrm rot="10800000" flipH="1">
            <a:off x="5127176" y="3740675"/>
            <a:ext cx="653400" cy="349500"/>
          </a:xfrm>
          <a:prstGeom prst="straightConnector1">
            <a:avLst/>
          </a:prstGeom>
          <a:noFill/>
          <a:ln w="19050" cap="flat" cmpd="sng">
            <a:solidFill>
              <a:schemeClr val="dk2"/>
            </a:solidFill>
            <a:prstDash val="solid"/>
            <a:round/>
            <a:headEnd type="none" w="med" len="med"/>
            <a:tailEnd type="none" w="med" len="med"/>
          </a:ln>
        </p:spPr>
      </p:cxnSp>
      <p:cxnSp>
        <p:nvCxnSpPr>
          <p:cNvPr id="1908" name="Google Shape;1908;p82"/>
          <p:cNvCxnSpPr>
            <a:stCxn id="1896" idx="0"/>
            <a:endCxn id="1897" idx="2"/>
          </p:cNvCxnSpPr>
          <p:nvPr/>
        </p:nvCxnSpPr>
        <p:spPr>
          <a:xfrm rot="10800000">
            <a:off x="5780718" y="3740675"/>
            <a:ext cx="549900" cy="349500"/>
          </a:xfrm>
          <a:prstGeom prst="straightConnector1">
            <a:avLst/>
          </a:prstGeom>
          <a:noFill/>
          <a:ln w="19050" cap="flat" cmpd="sng">
            <a:solidFill>
              <a:schemeClr val="dk2"/>
            </a:solidFill>
            <a:prstDash val="solid"/>
            <a:round/>
            <a:headEnd type="none" w="med" len="med"/>
            <a:tailEnd type="none" w="med" len="med"/>
          </a:ln>
        </p:spPr>
      </p:cxnSp>
      <p:cxnSp>
        <p:nvCxnSpPr>
          <p:cNvPr id="1909" name="Google Shape;1909;p82"/>
          <p:cNvCxnSpPr>
            <a:stCxn id="1896" idx="1"/>
            <a:endCxn id="1895" idx="3"/>
          </p:cNvCxnSpPr>
          <p:nvPr/>
        </p:nvCxnSpPr>
        <p:spPr>
          <a:xfrm rot="10800000">
            <a:off x="5401818" y="4273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10" name="Google Shape;1910;p82"/>
          <p:cNvCxnSpPr>
            <a:stCxn id="1898" idx="0"/>
            <a:endCxn id="1899" idx="2"/>
          </p:cNvCxnSpPr>
          <p:nvPr/>
        </p:nvCxnSpPr>
        <p:spPr>
          <a:xfrm rot="10800000" flipH="1">
            <a:off x="7500021" y="3740675"/>
            <a:ext cx="619200" cy="349500"/>
          </a:xfrm>
          <a:prstGeom prst="straightConnector1">
            <a:avLst/>
          </a:prstGeom>
          <a:noFill/>
          <a:ln w="19050" cap="flat" cmpd="sng">
            <a:solidFill>
              <a:schemeClr val="dk2"/>
            </a:solidFill>
            <a:prstDash val="solid"/>
            <a:round/>
            <a:headEnd type="none" w="med" len="med"/>
            <a:tailEnd type="none" w="med" len="med"/>
          </a:ln>
        </p:spPr>
      </p:cxnSp>
      <p:cxnSp>
        <p:nvCxnSpPr>
          <p:cNvPr id="1911" name="Google Shape;1911;p82"/>
          <p:cNvCxnSpPr>
            <a:stCxn id="1900" idx="0"/>
            <a:endCxn id="1899" idx="2"/>
          </p:cNvCxnSpPr>
          <p:nvPr/>
        </p:nvCxnSpPr>
        <p:spPr>
          <a:xfrm rot="10800000">
            <a:off x="8119225" y="3740675"/>
            <a:ext cx="550200" cy="349500"/>
          </a:xfrm>
          <a:prstGeom prst="straightConnector1">
            <a:avLst/>
          </a:prstGeom>
          <a:noFill/>
          <a:ln w="19050" cap="flat" cmpd="sng">
            <a:solidFill>
              <a:schemeClr val="dk2"/>
            </a:solidFill>
            <a:prstDash val="solid"/>
            <a:round/>
            <a:headEnd type="none" w="med" len="med"/>
            <a:tailEnd type="none" w="med" len="med"/>
          </a:ln>
        </p:spPr>
      </p:cxnSp>
      <p:cxnSp>
        <p:nvCxnSpPr>
          <p:cNvPr id="1912" name="Google Shape;1912;p82"/>
          <p:cNvCxnSpPr>
            <a:endCxn id="1898" idx="3"/>
          </p:cNvCxnSpPr>
          <p:nvPr/>
        </p:nvCxnSpPr>
        <p:spPr>
          <a:xfrm rot="10800000">
            <a:off x="7740621" y="4273925"/>
            <a:ext cx="677100" cy="0"/>
          </a:xfrm>
          <a:prstGeom prst="straightConnector1">
            <a:avLst/>
          </a:prstGeom>
          <a:noFill/>
          <a:ln w="19050" cap="flat" cmpd="sng">
            <a:solidFill>
              <a:schemeClr val="dk2"/>
            </a:solidFill>
            <a:prstDash val="solid"/>
            <a:round/>
            <a:headEnd type="none" w="med" len="med"/>
            <a:tailEnd type="none" w="med" len="med"/>
          </a:ln>
        </p:spPr>
      </p:cxnSp>
      <p:cxnSp>
        <p:nvCxnSpPr>
          <p:cNvPr id="1913" name="Google Shape;1913;p82"/>
          <p:cNvCxnSpPr>
            <a:stCxn id="1890" idx="3"/>
            <a:endCxn id="1894" idx="1"/>
          </p:cNvCxnSpPr>
          <p:nvPr/>
        </p:nvCxnSpPr>
        <p:spPr>
          <a:xfrm>
            <a:off x="1344210" y="3556825"/>
            <a:ext cx="1857300" cy="0"/>
          </a:xfrm>
          <a:prstGeom prst="straightConnector1">
            <a:avLst/>
          </a:prstGeom>
          <a:noFill/>
          <a:ln w="19050" cap="flat" cmpd="sng">
            <a:solidFill>
              <a:schemeClr val="dk2"/>
            </a:solidFill>
            <a:prstDash val="solid"/>
            <a:round/>
            <a:headEnd type="none" w="med" len="med"/>
            <a:tailEnd type="none" w="med" len="med"/>
          </a:ln>
        </p:spPr>
      </p:cxnSp>
      <p:cxnSp>
        <p:nvCxnSpPr>
          <p:cNvPr id="1914" name="Google Shape;1914;p82"/>
          <p:cNvCxnSpPr>
            <a:stCxn id="1897" idx="3"/>
            <a:endCxn id="1899" idx="1"/>
          </p:cNvCxnSpPr>
          <p:nvPr/>
        </p:nvCxnSpPr>
        <p:spPr>
          <a:xfrm>
            <a:off x="6021303" y="3556825"/>
            <a:ext cx="1857300" cy="0"/>
          </a:xfrm>
          <a:prstGeom prst="straightConnector1">
            <a:avLst/>
          </a:prstGeom>
          <a:noFill/>
          <a:ln w="19050" cap="flat" cmpd="sng">
            <a:solidFill>
              <a:schemeClr val="dk2"/>
            </a:solidFill>
            <a:prstDash val="solid"/>
            <a:round/>
            <a:headEnd type="none" w="med" len="med"/>
            <a:tailEnd type="none" w="med" len="med"/>
          </a:ln>
        </p:spPr>
      </p:cxnSp>
      <p:cxnSp>
        <p:nvCxnSpPr>
          <p:cNvPr id="1915" name="Google Shape;1915;p82"/>
          <p:cNvCxnSpPr>
            <a:stCxn id="1894" idx="0"/>
            <a:endCxn id="1899" idx="0"/>
          </p:cNvCxnSpPr>
          <p:nvPr/>
        </p:nvCxnSpPr>
        <p:spPr>
          <a:xfrm rot="-5400000" flipH="1">
            <a:off x="5780357" y="1034875"/>
            <a:ext cx="600" cy="46770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16" name="Google Shape;1916;p82"/>
          <p:cNvCxnSpPr>
            <a:stCxn id="1897" idx="0"/>
            <a:endCxn id="1890" idx="0"/>
          </p:cNvCxnSpPr>
          <p:nvPr/>
        </p:nvCxnSpPr>
        <p:spPr>
          <a:xfrm rot="5400000">
            <a:off x="3441903" y="1034875"/>
            <a:ext cx="600" cy="46770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17" name="Google Shape;1917;p82"/>
          <p:cNvCxnSpPr>
            <a:stCxn id="1889" idx="2"/>
            <a:endCxn id="1892" idx="2"/>
          </p:cNvCxnSpPr>
          <p:nvPr/>
        </p:nvCxnSpPr>
        <p:spPr>
          <a:xfrm rot="-5400000" flipH="1">
            <a:off x="1652700" y="3288575"/>
            <a:ext cx="600" cy="23388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18" name="Google Shape;1918;p82"/>
          <p:cNvCxnSpPr>
            <a:stCxn id="1895" idx="2"/>
            <a:endCxn id="1900" idx="2"/>
          </p:cNvCxnSpPr>
          <p:nvPr/>
        </p:nvCxnSpPr>
        <p:spPr>
          <a:xfrm rot="-5400000" flipH="1">
            <a:off x="6897926" y="2686925"/>
            <a:ext cx="600" cy="3542100"/>
          </a:xfrm>
          <a:prstGeom prst="curvedConnector3">
            <a:avLst>
              <a:gd name="adj1" fmla="val 39687500"/>
            </a:avLst>
          </a:prstGeom>
          <a:noFill/>
          <a:ln w="19050" cap="flat" cmpd="sng">
            <a:solidFill>
              <a:schemeClr val="dk2"/>
            </a:solidFill>
            <a:prstDash val="solid"/>
            <a:round/>
            <a:headEnd type="none" w="med" len="med"/>
            <a:tailEnd type="none" w="med" len="med"/>
          </a:ln>
        </p:spPr>
      </p:cxnSp>
      <p:sp>
        <p:nvSpPr>
          <p:cNvPr id="1919" name="Google Shape;1919;p82"/>
          <p:cNvSpPr txBox="1"/>
          <p:nvPr/>
        </p:nvSpPr>
        <p:spPr>
          <a:xfrm>
            <a:off x="5973950" y="2763450"/>
            <a:ext cx="2853000" cy="23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k = number of variables = 4</a:t>
            </a:r>
            <a:endParaRPr/>
          </a:p>
        </p:txBody>
      </p:sp>
      <p:cxnSp>
        <p:nvCxnSpPr>
          <p:cNvPr id="1920" name="Google Shape;1920;p82"/>
          <p:cNvCxnSpPr>
            <a:stCxn id="1893" idx="2"/>
            <a:endCxn id="1895" idx="2"/>
          </p:cNvCxnSpPr>
          <p:nvPr/>
        </p:nvCxnSpPr>
        <p:spPr>
          <a:xfrm rot="-5400000" flipH="1">
            <a:off x="4559261" y="3890225"/>
            <a:ext cx="600" cy="1135500"/>
          </a:xfrm>
          <a:prstGeom prst="curvedConnector3">
            <a:avLst>
              <a:gd name="adj1" fmla="val 39687500"/>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924"/>
        <p:cNvGrpSpPr/>
        <p:nvPr/>
      </p:nvGrpSpPr>
      <p:grpSpPr>
        <a:xfrm>
          <a:off x="0" y="0"/>
          <a:ext cx="0" cy="0"/>
          <a:chOff x="0" y="0"/>
          <a:chExt cx="0" cy="0"/>
        </a:xfrm>
      </p:grpSpPr>
      <p:sp>
        <p:nvSpPr>
          <p:cNvPr id="1925" name="Google Shape;1925;p8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3SAT Reduces to Independent Set</a:t>
            </a:r>
            <a:endParaRPr/>
          </a:p>
        </p:txBody>
      </p:sp>
      <p:sp>
        <p:nvSpPr>
          <p:cNvPr id="1926" name="Google Shape;1926;p8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Find an independent set of size k = 4. Use this set to generate a solution to the 3SAT problem.</a:t>
            </a:r>
            <a:endParaRPr/>
          </a:p>
          <a:p>
            <a:pPr marL="457200" lvl="0" indent="-342900" algn="l" rtl="0">
              <a:spcBef>
                <a:spcPts val="600"/>
              </a:spcBef>
              <a:spcAft>
                <a:spcPts val="0"/>
              </a:spcAft>
              <a:buSzPts val="1800"/>
              <a:buChar char="●"/>
            </a:pPr>
            <a:r>
              <a:rPr lang="en"/>
              <a:t>Reminder: An independent set of size 4 is a set of 4 (red) vertices that do not touch.</a:t>
            </a:r>
            <a:endParaRPr/>
          </a:p>
        </p:txBody>
      </p:sp>
      <p:sp>
        <p:nvSpPr>
          <p:cNvPr id="1927" name="Google Shape;1927;p83"/>
          <p:cNvSpPr txBox="1"/>
          <p:nvPr/>
        </p:nvSpPr>
        <p:spPr>
          <a:xfrm>
            <a:off x="1127100" y="3694200"/>
            <a:ext cx="7407300" cy="76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Φ  =  (x1 or x2 or x3) and  (! x1 or ! x2 or x4) and (! x1 or x3 or ! x4) and (x1 or x3 or x4)</a:t>
            </a:r>
            <a:endParaRPr/>
          </a:p>
        </p:txBody>
      </p:sp>
      <p:sp>
        <p:nvSpPr>
          <p:cNvPr id="1928" name="Google Shape;1928;p83"/>
          <p:cNvSpPr/>
          <p:nvPr/>
        </p:nvSpPr>
        <p:spPr>
          <a:xfrm>
            <a:off x="243000"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x2</a:t>
            </a:r>
            <a:endParaRPr/>
          </a:p>
        </p:txBody>
      </p:sp>
      <p:sp>
        <p:nvSpPr>
          <p:cNvPr id="1929" name="Google Shape;1929;p83"/>
          <p:cNvSpPr/>
          <p:nvPr/>
        </p:nvSpPr>
        <p:spPr>
          <a:xfrm>
            <a:off x="863010"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x1</a:t>
            </a:r>
            <a:endParaRPr/>
          </a:p>
        </p:txBody>
      </p:sp>
      <p:sp>
        <p:nvSpPr>
          <p:cNvPr id="1930" name="Google Shape;1930;p83"/>
          <p:cNvSpPr/>
          <p:nvPr/>
        </p:nvSpPr>
        <p:spPr>
          <a:xfrm>
            <a:off x="1412404"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931" name="Google Shape;1931;p83"/>
          <p:cNvSpPr/>
          <p:nvPr/>
        </p:nvSpPr>
        <p:spPr>
          <a:xfrm>
            <a:off x="2581807"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x2</a:t>
            </a:r>
            <a:endParaRPr/>
          </a:p>
        </p:txBody>
      </p:sp>
      <p:sp>
        <p:nvSpPr>
          <p:cNvPr id="1932" name="Google Shape;1932;p83"/>
          <p:cNvSpPr/>
          <p:nvPr/>
        </p:nvSpPr>
        <p:spPr>
          <a:xfrm>
            <a:off x="3751211"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x4</a:t>
            </a:r>
            <a:endParaRPr/>
          </a:p>
        </p:txBody>
      </p:sp>
      <p:sp>
        <p:nvSpPr>
          <p:cNvPr id="1933" name="Google Shape;1933;p83"/>
          <p:cNvSpPr/>
          <p:nvPr/>
        </p:nvSpPr>
        <p:spPr>
          <a:xfrm>
            <a:off x="3201557"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x1</a:t>
            </a:r>
            <a:endParaRPr/>
          </a:p>
        </p:txBody>
      </p:sp>
      <p:sp>
        <p:nvSpPr>
          <p:cNvPr id="1934" name="Google Shape;1934;p83"/>
          <p:cNvSpPr/>
          <p:nvPr/>
        </p:nvSpPr>
        <p:spPr>
          <a:xfrm>
            <a:off x="4852526" y="3328175"/>
            <a:ext cx="5493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 x4</a:t>
            </a:r>
            <a:endParaRPr/>
          </a:p>
        </p:txBody>
      </p:sp>
      <p:sp>
        <p:nvSpPr>
          <p:cNvPr id="1935" name="Google Shape;1935;p83"/>
          <p:cNvSpPr/>
          <p:nvPr/>
        </p:nvSpPr>
        <p:spPr>
          <a:xfrm>
            <a:off x="6090018"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936" name="Google Shape;1936;p83"/>
          <p:cNvSpPr/>
          <p:nvPr/>
        </p:nvSpPr>
        <p:spPr>
          <a:xfrm>
            <a:off x="5540103"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x1</a:t>
            </a:r>
            <a:endParaRPr/>
          </a:p>
        </p:txBody>
      </p:sp>
      <p:sp>
        <p:nvSpPr>
          <p:cNvPr id="1937" name="Google Shape;1937;p83"/>
          <p:cNvSpPr/>
          <p:nvPr/>
        </p:nvSpPr>
        <p:spPr>
          <a:xfrm>
            <a:off x="7259421"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938" name="Google Shape;1938;p83"/>
          <p:cNvSpPr/>
          <p:nvPr/>
        </p:nvSpPr>
        <p:spPr>
          <a:xfrm>
            <a:off x="7878649"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x1</a:t>
            </a:r>
            <a:endParaRPr/>
          </a:p>
        </p:txBody>
      </p:sp>
      <p:sp>
        <p:nvSpPr>
          <p:cNvPr id="1939" name="Google Shape;1939;p83"/>
          <p:cNvSpPr/>
          <p:nvPr/>
        </p:nvSpPr>
        <p:spPr>
          <a:xfrm>
            <a:off x="8428825"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x4</a:t>
            </a:r>
            <a:endParaRPr/>
          </a:p>
        </p:txBody>
      </p:sp>
      <p:cxnSp>
        <p:nvCxnSpPr>
          <p:cNvPr id="1940" name="Google Shape;1940;p83"/>
          <p:cNvCxnSpPr>
            <a:stCxn id="1929" idx="2"/>
            <a:endCxn id="1928" idx="0"/>
          </p:cNvCxnSpPr>
          <p:nvPr/>
        </p:nvCxnSpPr>
        <p:spPr>
          <a:xfrm flipH="1">
            <a:off x="483510" y="2978575"/>
            <a:ext cx="620100" cy="349500"/>
          </a:xfrm>
          <a:prstGeom prst="straightConnector1">
            <a:avLst/>
          </a:prstGeom>
          <a:noFill/>
          <a:ln w="19050" cap="flat" cmpd="sng">
            <a:solidFill>
              <a:schemeClr val="dk2"/>
            </a:solidFill>
            <a:prstDash val="solid"/>
            <a:round/>
            <a:headEnd type="none" w="med" len="med"/>
            <a:tailEnd type="none" w="med" len="med"/>
          </a:ln>
        </p:spPr>
      </p:cxnSp>
      <p:cxnSp>
        <p:nvCxnSpPr>
          <p:cNvPr id="1941" name="Google Shape;1941;p83"/>
          <p:cNvCxnSpPr>
            <a:stCxn id="1930" idx="0"/>
            <a:endCxn id="1929" idx="2"/>
          </p:cNvCxnSpPr>
          <p:nvPr/>
        </p:nvCxnSpPr>
        <p:spPr>
          <a:xfrm rot="10800000">
            <a:off x="1103704" y="2978675"/>
            <a:ext cx="549300" cy="349500"/>
          </a:xfrm>
          <a:prstGeom prst="straightConnector1">
            <a:avLst/>
          </a:prstGeom>
          <a:noFill/>
          <a:ln w="19050" cap="flat" cmpd="sng">
            <a:solidFill>
              <a:schemeClr val="dk2"/>
            </a:solidFill>
            <a:prstDash val="solid"/>
            <a:round/>
            <a:headEnd type="none" w="med" len="med"/>
            <a:tailEnd type="none" w="med" len="med"/>
          </a:ln>
        </p:spPr>
      </p:cxnSp>
      <p:cxnSp>
        <p:nvCxnSpPr>
          <p:cNvPr id="1942" name="Google Shape;1942;p83"/>
          <p:cNvCxnSpPr>
            <a:stCxn id="1928" idx="3"/>
            <a:endCxn id="1930" idx="1"/>
          </p:cNvCxnSpPr>
          <p:nvPr/>
        </p:nvCxnSpPr>
        <p:spPr>
          <a:xfrm>
            <a:off x="724200" y="3511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43" name="Google Shape;1943;p83"/>
          <p:cNvCxnSpPr>
            <a:stCxn id="1933" idx="2"/>
            <a:endCxn id="1931" idx="0"/>
          </p:cNvCxnSpPr>
          <p:nvPr/>
        </p:nvCxnSpPr>
        <p:spPr>
          <a:xfrm flipH="1">
            <a:off x="2822357" y="2978575"/>
            <a:ext cx="619800" cy="349500"/>
          </a:xfrm>
          <a:prstGeom prst="straightConnector1">
            <a:avLst/>
          </a:prstGeom>
          <a:noFill/>
          <a:ln w="19050" cap="flat" cmpd="sng">
            <a:solidFill>
              <a:schemeClr val="dk2"/>
            </a:solidFill>
            <a:prstDash val="solid"/>
            <a:round/>
            <a:headEnd type="none" w="med" len="med"/>
            <a:tailEnd type="none" w="med" len="med"/>
          </a:ln>
        </p:spPr>
      </p:cxnSp>
      <p:cxnSp>
        <p:nvCxnSpPr>
          <p:cNvPr id="1944" name="Google Shape;1944;p83"/>
          <p:cNvCxnSpPr>
            <a:stCxn id="1931" idx="3"/>
            <a:endCxn id="1932" idx="1"/>
          </p:cNvCxnSpPr>
          <p:nvPr/>
        </p:nvCxnSpPr>
        <p:spPr>
          <a:xfrm>
            <a:off x="3063007" y="3511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45" name="Google Shape;1945;p83"/>
          <p:cNvCxnSpPr>
            <a:stCxn id="1932" idx="0"/>
            <a:endCxn id="1933" idx="2"/>
          </p:cNvCxnSpPr>
          <p:nvPr/>
        </p:nvCxnSpPr>
        <p:spPr>
          <a:xfrm rot="10800000">
            <a:off x="3442211" y="2978675"/>
            <a:ext cx="549600" cy="349500"/>
          </a:xfrm>
          <a:prstGeom prst="straightConnector1">
            <a:avLst/>
          </a:prstGeom>
          <a:noFill/>
          <a:ln w="19050" cap="flat" cmpd="sng">
            <a:solidFill>
              <a:schemeClr val="dk2"/>
            </a:solidFill>
            <a:prstDash val="solid"/>
            <a:round/>
            <a:headEnd type="none" w="med" len="med"/>
            <a:tailEnd type="none" w="med" len="med"/>
          </a:ln>
        </p:spPr>
      </p:cxnSp>
      <p:cxnSp>
        <p:nvCxnSpPr>
          <p:cNvPr id="1946" name="Google Shape;1946;p83"/>
          <p:cNvCxnSpPr>
            <a:stCxn id="1934" idx="0"/>
            <a:endCxn id="1936" idx="2"/>
          </p:cNvCxnSpPr>
          <p:nvPr/>
        </p:nvCxnSpPr>
        <p:spPr>
          <a:xfrm rot="10800000" flipH="1">
            <a:off x="5127176" y="2978675"/>
            <a:ext cx="653400" cy="349500"/>
          </a:xfrm>
          <a:prstGeom prst="straightConnector1">
            <a:avLst/>
          </a:prstGeom>
          <a:noFill/>
          <a:ln w="19050" cap="flat" cmpd="sng">
            <a:solidFill>
              <a:schemeClr val="dk2"/>
            </a:solidFill>
            <a:prstDash val="solid"/>
            <a:round/>
            <a:headEnd type="none" w="med" len="med"/>
            <a:tailEnd type="none" w="med" len="med"/>
          </a:ln>
        </p:spPr>
      </p:cxnSp>
      <p:cxnSp>
        <p:nvCxnSpPr>
          <p:cNvPr id="1947" name="Google Shape;1947;p83"/>
          <p:cNvCxnSpPr>
            <a:stCxn id="1935" idx="0"/>
            <a:endCxn id="1936" idx="2"/>
          </p:cNvCxnSpPr>
          <p:nvPr/>
        </p:nvCxnSpPr>
        <p:spPr>
          <a:xfrm rot="10800000">
            <a:off x="5780718" y="2978675"/>
            <a:ext cx="549900" cy="349500"/>
          </a:xfrm>
          <a:prstGeom prst="straightConnector1">
            <a:avLst/>
          </a:prstGeom>
          <a:noFill/>
          <a:ln w="19050" cap="flat" cmpd="sng">
            <a:solidFill>
              <a:schemeClr val="dk2"/>
            </a:solidFill>
            <a:prstDash val="solid"/>
            <a:round/>
            <a:headEnd type="none" w="med" len="med"/>
            <a:tailEnd type="none" w="med" len="med"/>
          </a:ln>
        </p:spPr>
      </p:cxnSp>
      <p:cxnSp>
        <p:nvCxnSpPr>
          <p:cNvPr id="1948" name="Google Shape;1948;p83"/>
          <p:cNvCxnSpPr>
            <a:stCxn id="1935" idx="1"/>
            <a:endCxn id="1934" idx="3"/>
          </p:cNvCxnSpPr>
          <p:nvPr/>
        </p:nvCxnSpPr>
        <p:spPr>
          <a:xfrm rot="10800000">
            <a:off x="5401818" y="3511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49" name="Google Shape;1949;p83"/>
          <p:cNvCxnSpPr>
            <a:stCxn id="1937" idx="0"/>
            <a:endCxn id="1938" idx="2"/>
          </p:cNvCxnSpPr>
          <p:nvPr/>
        </p:nvCxnSpPr>
        <p:spPr>
          <a:xfrm rot="10800000" flipH="1">
            <a:off x="7500021" y="2978675"/>
            <a:ext cx="619200" cy="349500"/>
          </a:xfrm>
          <a:prstGeom prst="straightConnector1">
            <a:avLst/>
          </a:prstGeom>
          <a:noFill/>
          <a:ln w="19050" cap="flat" cmpd="sng">
            <a:solidFill>
              <a:schemeClr val="dk2"/>
            </a:solidFill>
            <a:prstDash val="solid"/>
            <a:round/>
            <a:headEnd type="none" w="med" len="med"/>
            <a:tailEnd type="none" w="med" len="med"/>
          </a:ln>
        </p:spPr>
      </p:cxnSp>
      <p:cxnSp>
        <p:nvCxnSpPr>
          <p:cNvPr id="1950" name="Google Shape;1950;p83"/>
          <p:cNvCxnSpPr>
            <a:stCxn id="1939" idx="0"/>
            <a:endCxn id="1938" idx="2"/>
          </p:cNvCxnSpPr>
          <p:nvPr/>
        </p:nvCxnSpPr>
        <p:spPr>
          <a:xfrm rot="10800000">
            <a:off x="8119225" y="2978675"/>
            <a:ext cx="550200" cy="349500"/>
          </a:xfrm>
          <a:prstGeom prst="straightConnector1">
            <a:avLst/>
          </a:prstGeom>
          <a:noFill/>
          <a:ln w="19050" cap="flat" cmpd="sng">
            <a:solidFill>
              <a:schemeClr val="dk2"/>
            </a:solidFill>
            <a:prstDash val="solid"/>
            <a:round/>
            <a:headEnd type="none" w="med" len="med"/>
            <a:tailEnd type="none" w="med" len="med"/>
          </a:ln>
        </p:spPr>
      </p:cxnSp>
      <p:cxnSp>
        <p:nvCxnSpPr>
          <p:cNvPr id="1951" name="Google Shape;1951;p83"/>
          <p:cNvCxnSpPr>
            <a:endCxn id="1937" idx="3"/>
          </p:cNvCxnSpPr>
          <p:nvPr/>
        </p:nvCxnSpPr>
        <p:spPr>
          <a:xfrm rot="10800000">
            <a:off x="7740621" y="3511925"/>
            <a:ext cx="677100" cy="0"/>
          </a:xfrm>
          <a:prstGeom prst="straightConnector1">
            <a:avLst/>
          </a:prstGeom>
          <a:noFill/>
          <a:ln w="19050" cap="flat" cmpd="sng">
            <a:solidFill>
              <a:schemeClr val="dk2"/>
            </a:solidFill>
            <a:prstDash val="solid"/>
            <a:round/>
            <a:headEnd type="none" w="med" len="med"/>
            <a:tailEnd type="none" w="med" len="med"/>
          </a:ln>
        </p:spPr>
      </p:cxnSp>
      <p:cxnSp>
        <p:nvCxnSpPr>
          <p:cNvPr id="1952" name="Google Shape;1952;p83"/>
          <p:cNvCxnSpPr>
            <a:stCxn id="1929" idx="3"/>
            <a:endCxn id="1933" idx="1"/>
          </p:cNvCxnSpPr>
          <p:nvPr/>
        </p:nvCxnSpPr>
        <p:spPr>
          <a:xfrm>
            <a:off x="1344210" y="2794825"/>
            <a:ext cx="1857300" cy="0"/>
          </a:xfrm>
          <a:prstGeom prst="straightConnector1">
            <a:avLst/>
          </a:prstGeom>
          <a:noFill/>
          <a:ln w="19050" cap="flat" cmpd="sng">
            <a:solidFill>
              <a:schemeClr val="dk2"/>
            </a:solidFill>
            <a:prstDash val="solid"/>
            <a:round/>
            <a:headEnd type="none" w="med" len="med"/>
            <a:tailEnd type="none" w="med" len="med"/>
          </a:ln>
        </p:spPr>
      </p:cxnSp>
      <p:cxnSp>
        <p:nvCxnSpPr>
          <p:cNvPr id="1953" name="Google Shape;1953;p83"/>
          <p:cNvCxnSpPr>
            <a:stCxn id="1936" idx="3"/>
            <a:endCxn id="1938" idx="1"/>
          </p:cNvCxnSpPr>
          <p:nvPr/>
        </p:nvCxnSpPr>
        <p:spPr>
          <a:xfrm>
            <a:off x="6021303" y="2794825"/>
            <a:ext cx="1857300" cy="0"/>
          </a:xfrm>
          <a:prstGeom prst="straightConnector1">
            <a:avLst/>
          </a:prstGeom>
          <a:noFill/>
          <a:ln w="19050" cap="flat" cmpd="sng">
            <a:solidFill>
              <a:schemeClr val="dk2"/>
            </a:solidFill>
            <a:prstDash val="solid"/>
            <a:round/>
            <a:headEnd type="none" w="med" len="med"/>
            <a:tailEnd type="none" w="med" len="med"/>
          </a:ln>
        </p:spPr>
      </p:cxnSp>
      <p:cxnSp>
        <p:nvCxnSpPr>
          <p:cNvPr id="1954" name="Google Shape;1954;p83"/>
          <p:cNvCxnSpPr>
            <a:stCxn id="1933" idx="0"/>
            <a:endCxn id="1938" idx="0"/>
          </p:cNvCxnSpPr>
          <p:nvPr/>
        </p:nvCxnSpPr>
        <p:spPr>
          <a:xfrm rot="-5400000" flipH="1">
            <a:off x="5780357" y="272875"/>
            <a:ext cx="600" cy="46770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55" name="Google Shape;1955;p83"/>
          <p:cNvCxnSpPr>
            <a:stCxn id="1936" idx="0"/>
            <a:endCxn id="1929" idx="0"/>
          </p:cNvCxnSpPr>
          <p:nvPr/>
        </p:nvCxnSpPr>
        <p:spPr>
          <a:xfrm rot="5400000">
            <a:off x="3441903" y="272875"/>
            <a:ext cx="600" cy="46770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56" name="Google Shape;1956;p83"/>
          <p:cNvCxnSpPr>
            <a:stCxn id="1928" idx="2"/>
            <a:endCxn id="1931" idx="2"/>
          </p:cNvCxnSpPr>
          <p:nvPr/>
        </p:nvCxnSpPr>
        <p:spPr>
          <a:xfrm rot="-5400000" flipH="1">
            <a:off x="1652700" y="2526575"/>
            <a:ext cx="600" cy="23388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57" name="Google Shape;1957;p83"/>
          <p:cNvCxnSpPr>
            <a:stCxn id="1934" idx="2"/>
            <a:endCxn id="1939" idx="2"/>
          </p:cNvCxnSpPr>
          <p:nvPr/>
        </p:nvCxnSpPr>
        <p:spPr>
          <a:xfrm rot="-5400000" flipH="1">
            <a:off x="6897926" y="1924925"/>
            <a:ext cx="600" cy="3542100"/>
          </a:xfrm>
          <a:prstGeom prst="curvedConnector3">
            <a:avLst>
              <a:gd name="adj1" fmla="val 39687500"/>
            </a:avLst>
          </a:prstGeom>
          <a:noFill/>
          <a:ln w="19050" cap="flat" cmpd="sng">
            <a:solidFill>
              <a:schemeClr val="dk2"/>
            </a:solidFill>
            <a:prstDash val="solid"/>
            <a:round/>
            <a:headEnd type="none" w="med" len="med"/>
            <a:tailEnd type="none" w="med" len="med"/>
          </a:ln>
        </p:spPr>
      </p:cxnSp>
      <p:sp>
        <p:nvSpPr>
          <p:cNvPr id="1958" name="Google Shape;1958;p83"/>
          <p:cNvSpPr txBox="1"/>
          <p:nvPr/>
        </p:nvSpPr>
        <p:spPr>
          <a:xfrm>
            <a:off x="5973950" y="2001450"/>
            <a:ext cx="2853000" cy="23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k = number of variables = 4</a:t>
            </a:r>
            <a:endParaRPr/>
          </a:p>
        </p:txBody>
      </p:sp>
      <p:cxnSp>
        <p:nvCxnSpPr>
          <p:cNvPr id="1959" name="Google Shape;1959;p83"/>
          <p:cNvCxnSpPr>
            <a:stCxn id="1932" idx="2"/>
            <a:endCxn id="1934" idx="2"/>
          </p:cNvCxnSpPr>
          <p:nvPr/>
        </p:nvCxnSpPr>
        <p:spPr>
          <a:xfrm rot="-5400000" flipH="1">
            <a:off x="4559261" y="3128225"/>
            <a:ext cx="600" cy="1135500"/>
          </a:xfrm>
          <a:prstGeom prst="curvedConnector3">
            <a:avLst>
              <a:gd name="adj1" fmla="val 39687500"/>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63"/>
        <p:cNvGrpSpPr/>
        <p:nvPr/>
      </p:nvGrpSpPr>
      <p:grpSpPr>
        <a:xfrm>
          <a:off x="0" y="0"/>
          <a:ext cx="0" cy="0"/>
          <a:chOff x="0" y="0"/>
          <a:chExt cx="0" cy="0"/>
        </a:xfrm>
      </p:grpSpPr>
      <p:sp>
        <p:nvSpPr>
          <p:cNvPr id="1964" name="Google Shape;1964;p8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3SAT Reduces to Independent Set</a:t>
            </a:r>
            <a:endParaRPr/>
          </a:p>
        </p:txBody>
      </p:sp>
      <p:sp>
        <p:nvSpPr>
          <p:cNvPr id="1965" name="Google Shape;1965;p8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Find an independent set of size k = 4. Use this set to generate a solution to the 3SAT problem.</a:t>
            </a:r>
            <a:endParaRPr/>
          </a:p>
          <a:p>
            <a:pPr marL="457200" lvl="0" indent="-342900" algn="l" rtl="0">
              <a:spcBef>
                <a:spcPts val="600"/>
              </a:spcBef>
              <a:spcAft>
                <a:spcPts val="0"/>
              </a:spcAft>
              <a:buSzPts val="1800"/>
              <a:buChar char="●"/>
            </a:pPr>
            <a:r>
              <a:rPr lang="en"/>
              <a:t>Reminder: An independent set of size 4 is a set of 4 (red) vertices that do not touch.</a:t>
            </a:r>
            <a:endParaRPr/>
          </a:p>
        </p:txBody>
      </p:sp>
      <p:sp>
        <p:nvSpPr>
          <p:cNvPr id="1966" name="Google Shape;1966;p84"/>
          <p:cNvSpPr txBox="1"/>
          <p:nvPr/>
        </p:nvSpPr>
        <p:spPr>
          <a:xfrm>
            <a:off x="1127100" y="3694200"/>
            <a:ext cx="7407300" cy="76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Φ  =  (x1 or x2 or x3) and  (! x1 or ! x2 or x4) and (! x1 or x3 or ! x4) and (x1 or x3 or x4)</a:t>
            </a:r>
            <a:endParaRPr/>
          </a:p>
        </p:txBody>
      </p:sp>
      <p:sp>
        <p:nvSpPr>
          <p:cNvPr id="1967" name="Google Shape;1967;p84"/>
          <p:cNvSpPr/>
          <p:nvPr/>
        </p:nvSpPr>
        <p:spPr>
          <a:xfrm>
            <a:off x="243000"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x2</a:t>
            </a:r>
            <a:endParaRPr/>
          </a:p>
        </p:txBody>
      </p:sp>
      <p:sp>
        <p:nvSpPr>
          <p:cNvPr id="1968" name="Google Shape;1968;p84"/>
          <p:cNvSpPr/>
          <p:nvPr/>
        </p:nvSpPr>
        <p:spPr>
          <a:xfrm>
            <a:off x="863010" y="2611075"/>
            <a:ext cx="481200" cy="3675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x1</a:t>
            </a:r>
            <a:endParaRPr/>
          </a:p>
        </p:txBody>
      </p:sp>
      <p:sp>
        <p:nvSpPr>
          <p:cNvPr id="1969" name="Google Shape;1969;p84"/>
          <p:cNvSpPr/>
          <p:nvPr/>
        </p:nvSpPr>
        <p:spPr>
          <a:xfrm>
            <a:off x="1412404"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970" name="Google Shape;1970;p84"/>
          <p:cNvSpPr/>
          <p:nvPr/>
        </p:nvSpPr>
        <p:spPr>
          <a:xfrm>
            <a:off x="2581807" y="3328175"/>
            <a:ext cx="481200" cy="3675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x2</a:t>
            </a:r>
            <a:endParaRPr/>
          </a:p>
        </p:txBody>
      </p:sp>
      <p:sp>
        <p:nvSpPr>
          <p:cNvPr id="1971" name="Google Shape;1971;p84"/>
          <p:cNvSpPr/>
          <p:nvPr/>
        </p:nvSpPr>
        <p:spPr>
          <a:xfrm>
            <a:off x="3751211"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x4</a:t>
            </a:r>
            <a:endParaRPr/>
          </a:p>
        </p:txBody>
      </p:sp>
      <p:sp>
        <p:nvSpPr>
          <p:cNvPr id="1972" name="Google Shape;1972;p84"/>
          <p:cNvSpPr/>
          <p:nvPr/>
        </p:nvSpPr>
        <p:spPr>
          <a:xfrm>
            <a:off x="3201557"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x1</a:t>
            </a:r>
            <a:endParaRPr/>
          </a:p>
        </p:txBody>
      </p:sp>
      <p:sp>
        <p:nvSpPr>
          <p:cNvPr id="1973" name="Google Shape;1973;p84"/>
          <p:cNvSpPr/>
          <p:nvPr/>
        </p:nvSpPr>
        <p:spPr>
          <a:xfrm>
            <a:off x="4852526" y="3328175"/>
            <a:ext cx="5493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 x4</a:t>
            </a:r>
            <a:endParaRPr/>
          </a:p>
        </p:txBody>
      </p:sp>
      <p:sp>
        <p:nvSpPr>
          <p:cNvPr id="1974" name="Google Shape;1974;p84"/>
          <p:cNvSpPr/>
          <p:nvPr/>
        </p:nvSpPr>
        <p:spPr>
          <a:xfrm>
            <a:off x="6090018" y="3328175"/>
            <a:ext cx="481200" cy="3675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975" name="Google Shape;1975;p84"/>
          <p:cNvSpPr/>
          <p:nvPr/>
        </p:nvSpPr>
        <p:spPr>
          <a:xfrm>
            <a:off x="5540103"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x1</a:t>
            </a:r>
            <a:endParaRPr/>
          </a:p>
        </p:txBody>
      </p:sp>
      <p:sp>
        <p:nvSpPr>
          <p:cNvPr id="1976" name="Google Shape;1976;p84"/>
          <p:cNvSpPr/>
          <p:nvPr/>
        </p:nvSpPr>
        <p:spPr>
          <a:xfrm>
            <a:off x="7259421" y="3328175"/>
            <a:ext cx="481200" cy="3675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x3</a:t>
            </a:r>
            <a:endParaRPr/>
          </a:p>
        </p:txBody>
      </p:sp>
      <p:sp>
        <p:nvSpPr>
          <p:cNvPr id="1977" name="Google Shape;1977;p84"/>
          <p:cNvSpPr/>
          <p:nvPr/>
        </p:nvSpPr>
        <p:spPr>
          <a:xfrm>
            <a:off x="7878649" y="26110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x1</a:t>
            </a:r>
            <a:endParaRPr/>
          </a:p>
        </p:txBody>
      </p:sp>
      <p:sp>
        <p:nvSpPr>
          <p:cNvPr id="1978" name="Google Shape;1978;p84"/>
          <p:cNvSpPr/>
          <p:nvPr/>
        </p:nvSpPr>
        <p:spPr>
          <a:xfrm>
            <a:off x="8428825" y="3328175"/>
            <a:ext cx="481200" cy="3675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x4</a:t>
            </a:r>
            <a:endParaRPr/>
          </a:p>
        </p:txBody>
      </p:sp>
      <p:cxnSp>
        <p:nvCxnSpPr>
          <p:cNvPr id="1979" name="Google Shape;1979;p84"/>
          <p:cNvCxnSpPr>
            <a:stCxn id="1968" idx="2"/>
            <a:endCxn id="1967" idx="0"/>
          </p:cNvCxnSpPr>
          <p:nvPr/>
        </p:nvCxnSpPr>
        <p:spPr>
          <a:xfrm flipH="1">
            <a:off x="483510" y="2978575"/>
            <a:ext cx="620100" cy="349500"/>
          </a:xfrm>
          <a:prstGeom prst="straightConnector1">
            <a:avLst/>
          </a:prstGeom>
          <a:noFill/>
          <a:ln w="19050" cap="flat" cmpd="sng">
            <a:solidFill>
              <a:schemeClr val="dk2"/>
            </a:solidFill>
            <a:prstDash val="solid"/>
            <a:round/>
            <a:headEnd type="none" w="med" len="med"/>
            <a:tailEnd type="none" w="med" len="med"/>
          </a:ln>
        </p:spPr>
      </p:cxnSp>
      <p:cxnSp>
        <p:nvCxnSpPr>
          <p:cNvPr id="1980" name="Google Shape;1980;p84"/>
          <p:cNvCxnSpPr>
            <a:stCxn id="1969" idx="0"/>
            <a:endCxn id="1968" idx="2"/>
          </p:cNvCxnSpPr>
          <p:nvPr/>
        </p:nvCxnSpPr>
        <p:spPr>
          <a:xfrm rot="10800000">
            <a:off x="1103704" y="2978675"/>
            <a:ext cx="549300" cy="349500"/>
          </a:xfrm>
          <a:prstGeom prst="straightConnector1">
            <a:avLst/>
          </a:prstGeom>
          <a:noFill/>
          <a:ln w="19050" cap="flat" cmpd="sng">
            <a:solidFill>
              <a:schemeClr val="dk2"/>
            </a:solidFill>
            <a:prstDash val="solid"/>
            <a:round/>
            <a:headEnd type="none" w="med" len="med"/>
            <a:tailEnd type="none" w="med" len="med"/>
          </a:ln>
        </p:spPr>
      </p:cxnSp>
      <p:cxnSp>
        <p:nvCxnSpPr>
          <p:cNvPr id="1981" name="Google Shape;1981;p84"/>
          <p:cNvCxnSpPr>
            <a:stCxn id="1967" idx="3"/>
            <a:endCxn id="1969" idx="1"/>
          </p:cNvCxnSpPr>
          <p:nvPr/>
        </p:nvCxnSpPr>
        <p:spPr>
          <a:xfrm>
            <a:off x="724200" y="3511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82" name="Google Shape;1982;p84"/>
          <p:cNvCxnSpPr>
            <a:stCxn id="1972" idx="2"/>
            <a:endCxn id="1970" idx="0"/>
          </p:cNvCxnSpPr>
          <p:nvPr/>
        </p:nvCxnSpPr>
        <p:spPr>
          <a:xfrm flipH="1">
            <a:off x="2822357" y="2978575"/>
            <a:ext cx="619800" cy="349500"/>
          </a:xfrm>
          <a:prstGeom prst="straightConnector1">
            <a:avLst/>
          </a:prstGeom>
          <a:noFill/>
          <a:ln w="19050" cap="flat" cmpd="sng">
            <a:solidFill>
              <a:schemeClr val="dk2"/>
            </a:solidFill>
            <a:prstDash val="solid"/>
            <a:round/>
            <a:headEnd type="none" w="med" len="med"/>
            <a:tailEnd type="none" w="med" len="med"/>
          </a:ln>
        </p:spPr>
      </p:cxnSp>
      <p:cxnSp>
        <p:nvCxnSpPr>
          <p:cNvPr id="1983" name="Google Shape;1983;p84"/>
          <p:cNvCxnSpPr>
            <a:stCxn id="1970" idx="3"/>
            <a:endCxn id="1971" idx="1"/>
          </p:cNvCxnSpPr>
          <p:nvPr/>
        </p:nvCxnSpPr>
        <p:spPr>
          <a:xfrm>
            <a:off x="3063007" y="3511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84" name="Google Shape;1984;p84"/>
          <p:cNvCxnSpPr>
            <a:stCxn id="1971" idx="0"/>
            <a:endCxn id="1972" idx="2"/>
          </p:cNvCxnSpPr>
          <p:nvPr/>
        </p:nvCxnSpPr>
        <p:spPr>
          <a:xfrm rot="10800000">
            <a:off x="3442211" y="2978675"/>
            <a:ext cx="549600" cy="349500"/>
          </a:xfrm>
          <a:prstGeom prst="straightConnector1">
            <a:avLst/>
          </a:prstGeom>
          <a:noFill/>
          <a:ln w="19050" cap="flat" cmpd="sng">
            <a:solidFill>
              <a:schemeClr val="dk2"/>
            </a:solidFill>
            <a:prstDash val="solid"/>
            <a:round/>
            <a:headEnd type="none" w="med" len="med"/>
            <a:tailEnd type="none" w="med" len="med"/>
          </a:ln>
        </p:spPr>
      </p:cxnSp>
      <p:cxnSp>
        <p:nvCxnSpPr>
          <p:cNvPr id="1985" name="Google Shape;1985;p84"/>
          <p:cNvCxnSpPr>
            <a:stCxn id="1973" idx="0"/>
            <a:endCxn id="1975" idx="2"/>
          </p:cNvCxnSpPr>
          <p:nvPr/>
        </p:nvCxnSpPr>
        <p:spPr>
          <a:xfrm rot="10800000" flipH="1">
            <a:off x="5127176" y="2978675"/>
            <a:ext cx="653400" cy="349500"/>
          </a:xfrm>
          <a:prstGeom prst="straightConnector1">
            <a:avLst/>
          </a:prstGeom>
          <a:noFill/>
          <a:ln w="19050" cap="flat" cmpd="sng">
            <a:solidFill>
              <a:schemeClr val="dk2"/>
            </a:solidFill>
            <a:prstDash val="solid"/>
            <a:round/>
            <a:headEnd type="none" w="med" len="med"/>
            <a:tailEnd type="none" w="med" len="med"/>
          </a:ln>
        </p:spPr>
      </p:cxnSp>
      <p:cxnSp>
        <p:nvCxnSpPr>
          <p:cNvPr id="1986" name="Google Shape;1986;p84"/>
          <p:cNvCxnSpPr>
            <a:stCxn id="1974" idx="0"/>
            <a:endCxn id="1975" idx="2"/>
          </p:cNvCxnSpPr>
          <p:nvPr/>
        </p:nvCxnSpPr>
        <p:spPr>
          <a:xfrm rot="10800000">
            <a:off x="5780718" y="2978675"/>
            <a:ext cx="549900" cy="349500"/>
          </a:xfrm>
          <a:prstGeom prst="straightConnector1">
            <a:avLst/>
          </a:prstGeom>
          <a:noFill/>
          <a:ln w="19050" cap="flat" cmpd="sng">
            <a:solidFill>
              <a:schemeClr val="dk2"/>
            </a:solidFill>
            <a:prstDash val="solid"/>
            <a:round/>
            <a:headEnd type="none" w="med" len="med"/>
            <a:tailEnd type="none" w="med" len="med"/>
          </a:ln>
        </p:spPr>
      </p:cxnSp>
      <p:cxnSp>
        <p:nvCxnSpPr>
          <p:cNvPr id="1987" name="Google Shape;1987;p84"/>
          <p:cNvCxnSpPr>
            <a:stCxn id="1974" idx="1"/>
            <a:endCxn id="1973" idx="3"/>
          </p:cNvCxnSpPr>
          <p:nvPr/>
        </p:nvCxnSpPr>
        <p:spPr>
          <a:xfrm rot="10800000">
            <a:off x="5401818" y="3511925"/>
            <a:ext cx="688200" cy="0"/>
          </a:xfrm>
          <a:prstGeom prst="straightConnector1">
            <a:avLst/>
          </a:prstGeom>
          <a:noFill/>
          <a:ln w="19050" cap="flat" cmpd="sng">
            <a:solidFill>
              <a:schemeClr val="dk2"/>
            </a:solidFill>
            <a:prstDash val="solid"/>
            <a:round/>
            <a:headEnd type="none" w="med" len="med"/>
            <a:tailEnd type="none" w="med" len="med"/>
          </a:ln>
        </p:spPr>
      </p:cxnSp>
      <p:cxnSp>
        <p:nvCxnSpPr>
          <p:cNvPr id="1988" name="Google Shape;1988;p84"/>
          <p:cNvCxnSpPr>
            <a:stCxn id="1976" idx="0"/>
            <a:endCxn id="1977" idx="2"/>
          </p:cNvCxnSpPr>
          <p:nvPr/>
        </p:nvCxnSpPr>
        <p:spPr>
          <a:xfrm rot="10800000" flipH="1">
            <a:off x="7500021" y="2978675"/>
            <a:ext cx="619200" cy="349500"/>
          </a:xfrm>
          <a:prstGeom prst="straightConnector1">
            <a:avLst/>
          </a:prstGeom>
          <a:noFill/>
          <a:ln w="19050" cap="flat" cmpd="sng">
            <a:solidFill>
              <a:schemeClr val="dk2"/>
            </a:solidFill>
            <a:prstDash val="solid"/>
            <a:round/>
            <a:headEnd type="none" w="med" len="med"/>
            <a:tailEnd type="none" w="med" len="med"/>
          </a:ln>
        </p:spPr>
      </p:cxnSp>
      <p:cxnSp>
        <p:nvCxnSpPr>
          <p:cNvPr id="1989" name="Google Shape;1989;p84"/>
          <p:cNvCxnSpPr>
            <a:stCxn id="1978" idx="0"/>
            <a:endCxn id="1977" idx="2"/>
          </p:cNvCxnSpPr>
          <p:nvPr/>
        </p:nvCxnSpPr>
        <p:spPr>
          <a:xfrm rot="10800000">
            <a:off x="8119225" y="2978675"/>
            <a:ext cx="550200" cy="349500"/>
          </a:xfrm>
          <a:prstGeom prst="straightConnector1">
            <a:avLst/>
          </a:prstGeom>
          <a:noFill/>
          <a:ln w="19050" cap="flat" cmpd="sng">
            <a:solidFill>
              <a:schemeClr val="dk2"/>
            </a:solidFill>
            <a:prstDash val="solid"/>
            <a:round/>
            <a:headEnd type="none" w="med" len="med"/>
            <a:tailEnd type="none" w="med" len="med"/>
          </a:ln>
        </p:spPr>
      </p:cxnSp>
      <p:cxnSp>
        <p:nvCxnSpPr>
          <p:cNvPr id="1990" name="Google Shape;1990;p84"/>
          <p:cNvCxnSpPr>
            <a:endCxn id="1976" idx="3"/>
          </p:cNvCxnSpPr>
          <p:nvPr/>
        </p:nvCxnSpPr>
        <p:spPr>
          <a:xfrm rot="10800000">
            <a:off x="7740621" y="3511925"/>
            <a:ext cx="677100" cy="0"/>
          </a:xfrm>
          <a:prstGeom prst="straightConnector1">
            <a:avLst/>
          </a:prstGeom>
          <a:noFill/>
          <a:ln w="19050" cap="flat" cmpd="sng">
            <a:solidFill>
              <a:schemeClr val="dk2"/>
            </a:solidFill>
            <a:prstDash val="solid"/>
            <a:round/>
            <a:headEnd type="none" w="med" len="med"/>
            <a:tailEnd type="none" w="med" len="med"/>
          </a:ln>
        </p:spPr>
      </p:cxnSp>
      <p:cxnSp>
        <p:nvCxnSpPr>
          <p:cNvPr id="1991" name="Google Shape;1991;p84"/>
          <p:cNvCxnSpPr>
            <a:stCxn id="1968" idx="3"/>
            <a:endCxn id="1972" idx="1"/>
          </p:cNvCxnSpPr>
          <p:nvPr/>
        </p:nvCxnSpPr>
        <p:spPr>
          <a:xfrm>
            <a:off x="1344210" y="2794825"/>
            <a:ext cx="1857300" cy="0"/>
          </a:xfrm>
          <a:prstGeom prst="straightConnector1">
            <a:avLst/>
          </a:prstGeom>
          <a:noFill/>
          <a:ln w="19050" cap="flat" cmpd="sng">
            <a:solidFill>
              <a:schemeClr val="dk2"/>
            </a:solidFill>
            <a:prstDash val="solid"/>
            <a:round/>
            <a:headEnd type="none" w="med" len="med"/>
            <a:tailEnd type="none" w="med" len="med"/>
          </a:ln>
        </p:spPr>
      </p:cxnSp>
      <p:cxnSp>
        <p:nvCxnSpPr>
          <p:cNvPr id="1992" name="Google Shape;1992;p84"/>
          <p:cNvCxnSpPr>
            <a:stCxn id="1975" idx="3"/>
            <a:endCxn id="1977" idx="1"/>
          </p:cNvCxnSpPr>
          <p:nvPr/>
        </p:nvCxnSpPr>
        <p:spPr>
          <a:xfrm>
            <a:off x="6021303" y="2794825"/>
            <a:ext cx="1857300" cy="0"/>
          </a:xfrm>
          <a:prstGeom prst="straightConnector1">
            <a:avLst/>
          </a:prstGeom>
          <a:noFill/>
          <a:ln w="19050" cap="flat" cmpd="sng">
            <a:solidFill>
              <a:schemeClr val="dk2"/>
            </a:solidFill>
            <a:prstDash val="solid"/>
            <a:round/>
            <a:headEnd type="none" w="med" len="med"/>
            <a:tailEnd type="none" w="med" len="med"/>
          </a:ln>
        </p:spPr>
      </p:cxnSp>
      <p:cxnSp>
        <p:nvCxnSpPr>
          <p:cNvPr id="1993" name="Google Shape;1993;p84"/>
          <p:cNvCxnSpPr>
            <a:stCxn id="1972" idx="0"/>
            <a:endCxn id="1977" idx="0"/>
          </p:cNvCxnSpPr>
          <p:nvPr/>
        </p:nvCxnSpPr>
        <p:spPr>
          <a:xfrm rot="-5400000" flipH="1">
            <a:off x="5780357" y="272875"/>
            <a:ext cx="600" cy="46770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94" name="Google Shape;1994;p84"/>
          <p:cNvCxnSpPr>
            <a:stCxn id="1975" idx="0"/>
            <a:endCxn id="1968" idx="0"/>
          </p:cNvCxnSpPr>
          <p:nvPr/>
        </p:nvCxnSpPr>
        <p:spPr>
          <a:xfrm rot="5400000">
            <a:off x="3441903" y="272875"/>
            <a:ext cx="600" cy="46770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95" name="Google Shape;1995;p84"/>
          <p:cNvCxnSpPr>
            <a:stCxn id="1967" idx="2"/>
            <a:endCxn id="1970" idx="2"/>
          </p:cNvCxnSpPr>
          <p:nvPr/>
        </p:nvCxnSpPr>
        <p:spPr>
          <a:xfrm rot="-5400000" flipH="1">
            <a:off x="1652700" y="2526575"/>
            <a:ext cx="600" cy="2338800"/>
          </a:xfrm>
          <a:prstGeom prst="curvedConnector3">
            <a:avLst>
              <a:gd name="adj1" fmla="val 39687500"/>
            </a:avLst>
          </a:prstGeom>
          <a:noFill/>
          <a:ln w="19050" cap="flat" cmpd="sng">
            <a:solidFill>
              <a:schemeClr val="dk2"/>
            </a:solidFill>
            <a:prstDash val="solid"/>
            <a:round/>
            <a:headEnd type="none" w="med" len="med"/>
            <a:tailEnd type="none" w="med" len="med"/>
          </a:ln>
        </p:spPr>
      </p:cxnSp>
      <p:cxnSp>
        <p:nvCxnSpPr>
          <p:cNvPr id="1996" name="Google Shape;1996;p84"/>
          <p:cNvCxnSpPr>
            <a:stCxn id="1973" idx="2"/>
            <a:endCxn id="1978" idx="2"/>
          </p:cNvCxnSpPr>
          <p:nvPr/>
        </p:nvCxnSpPr>
        <p:spPr>
          <a:xfrm rot="-5400000" flipH="1">
            <a:off x="6897926" y="1924925"/>
            <a:ext cx="600" cy="3542100"/>
          </a:xfrm>
          <a:prstGeom prst="curvedConnector3">
            <a:avLst>
              <a:gd name="adj1" fmla="val 39687500"/>
            </a:avLst>
          </a:prstGeom>
          <a:noFill/>
          <a:ln w="19050" cap="flat" cmpd="sng">
            <a:solidFill>
              <a:schemeClr val="dk2"/>
            </a:solidFill>
            <a:prstDash val="solid"/>
            <a:round/>
            <a:headEnd type="none" w="med" len="med"/>
            <a:tailEnd type="none" w="med" len="med"/>
          </a:ln>
        </p:spPr>
      </p:cxnSp>
      <p:sp>
        <p:nvSpPr>
          <p:cNvPr id="1997" name="Google Shape;1997;p84"/>
          <p:cNvSpPr txBox="1"/>
          <p:nvPr/>
        </p:nvSpPr>
        <p:spPr>
          <a:xfrm>
            <a:off x="5973950" y="2001450"/>
            <a:ext cx="2853000" cy="23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k = number of variables = 4</a:t>
            </a:r>
            <a:endParaRPr/>
          </a:p>
        </p:txBody>
      </p:sp>
      <p:cxnSp>
        <p:nvCxnSpPr>
          <p:cNvPr id="1998" name="Google Shape;1998;p84"/>
          <p:cNvCxnSpPr>
            <a:stCxn id="1971" idx="2"/>
            <a:endCxn id="1973" idx="2"/>
          </p:cNvCxnSpPr>
          <p:nvPr/>
        </p:nvCxnSpPr>
        <p:spPr>
          <a:xfrm rot="-5400000" flipH="1">
            <a:off x="4559261" y="3128225"/>
            <a:ext cx="600" cy="1135500"/>
          </a:xfrm>
          <a:prstGeom prst="curvedConnector3">
            <a:avLst>
              <a:gd name="adj1" fmla="val 39687500"/>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02"/>
        <p:cNvGrpSpPr/>
        <p:nvPr/>
      </p:nvGrpSpPr>
      <p:grpSpPr>
        <a:xfrm>
          <a:off x="0" y="0"/>
          <a:ext cx="0" cy="0"/>
          <a:chOff x="0" y="0"/>
          <a:chExt cx="0" cy="0"/>
        </a:xfrm>
      </p:grpSpPr>
      <p:sp>
        <p:nvSpPr>
          <p:cNvPr id="2003" name="Google Shape;2003;p8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Reduction</a:t>
            </a:r>
            <a:endParaRPr/>
          </a:p>
        </p:txBody>
      </p:sp>
      <p:sp>
        <p:nvSpPr>
          <p:cNvPr id="2004" name="Google Shape;2004;p85"/>
          <p:cNvSpPr txBox="1">
            <a:spLocks noGrp="1"/>
          </p:cNvSpPr>
          <p:nvPr>
            <p:ph type="body" idx="1"/>
          </p:nvPr>
        </p:nvSpPr>
        <p:spPr>
          <a:xfrm>
            <a:off x="90600" y="404100"/>
            <a:ext cx="88746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Since IND-SET can be used to solve 3SAT, we say that “3SAT reduces to IND-SET”. </a:t>
            </a:r>
            <a:endParaRPr/>
          </a:p>
          <a:p>
            <a:pPr marL="457200" lvl="0" indent="-342900" algn="l" rtl="0">
              <a:spcBef>
                <a:spcPts val="600"/>
              </a:spcBef>
              <a:spcAft>
                <a:spcPts val="0"/>
              </a:spcAft>
              <a:buSzPts val="1800"/>
              <a:buChar char="●"/>
            </a:pPr>
            <a:r>
              <a:rPr lang="en"/>
              <a:t>Note: 3SAT is not a graph problem!</a:t>
            </a:r>
            <a:endParaRPr/>
          </a:p>
          <a:p>
            <a:pPr marL="457200" lvl="0" indent="-342900" algn="l" rtl="0">
              <a:spcBef>
                <a:spcPts val="600"/>
              </a:spcBef>
              <a:spcAft>
                <a:spcPts val="0"/>
              </a:spcAft>
              <a:buSzPts val="1800"/>
              <a:buChar char="●"/>
            </a:pPr>
            <a:r>
              <a:rPr lang="en"/>
              <a:t>Note: Reductions don’t always involve creating graphs.</a:t>
            </a:r>
            <a:endParaRPr/>
          </a:p>
          <a:p>
            <a:pPr marL="457200" lvl="0" indent="0" algn="l" rtl="0">
              <a:spcBef>
                <a:spcPts val="600"/>
              </a:spcBef>
              <a:spcAft>
                <a:spcPts val="0"/>
              </a:spcAft>
              <a:buNone/>
            </a:pPr>
            <a:endParaRPr/>
          </a:p>
        </p:txBody>
      </p:sp>
      <p:sp>
        <p:nvSpPr>
          <p:cNvPr id="2005" name="Google Shape;2005;p85"/>
          <p:cNvSpPr txBox="1"/>
          <p:nvPr/>
        </p:nvSpPr>
        <p:spPr>
          <a:xfrm>
            <a:off x="310850" y="2130625"/>
            <a:ext cx="6738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6" name="Google Shape;2006;p85"/>
          <p:cNvSpPr/>
          <p:nvPr/>
        </p:nvSpPr>
        <p:spPr>
          <a:xfrm>
            <a:off x="1952350" y="2078650"/>
            <a:ext cx="5173200" cy="24999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85"/>
          <p:cNvSpPr txBox="1"/>
          <p:nvPr/>
        </p:nvSpPr>
        <p:spPr>
          <a:xfrm>
            <a:off x="1876150" y="1751681"/>
            <a:ext cx="11199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3SAT</a:t>
            </a:r>
            <a:endParaRPr/>
          </a:p>
        </p:txBody>
      </p:sp>
      <p:sp>
        <p:nvSpPr>
          <p:cNvPr id="2008" name="Google Shape;2008;p85"/>
          <p:cNvSpPr/>
          <p:nvPr/>
        </p:nvSpPr>
        <p:spPr>
          <a:xfrm>
            <a:off x="2279400" y="2556738"/>
            <a:ext cx="1095000" cy="329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Preprocess</a:t>
            </a:r>
            <a:endParaRPr/>
          </a:p>
        </p:txBody>
      </p:sp>
      <p:cxnSp>
        <p:nvCxnSpPr>
          <p:cNvPr id="2009" name="Google Shape;2009;p85"/>
          <p:cNvCxnSpPr>
            <a:stCxn id="2010" idx="3"/>
            <a:endCxn id="2008" idx="1"/>
          </p:cNvCxnSpPr>
          <p:nvPr/>
        </p:nvCxnSpPr>
        <p:spPr>
          <a:xfrm>
            <a:off x="1710724" y="2719925"/>
            <a:ext cx="568800" cy="1500"/>
          </a:xfrm>
          <a:prstGeom prst="straightConnector1">
            <a:avLst/>
          </a:prstGeom>
          <a:noFill/>
          <a:ln w="9525" cap="flat" cmpd="sng">
            <a:solidFill>
              <a:schemeClr val="dk2"/>
            </a:solidFill>
            <a:prstDash val="solid"/>
            <a:round/>
            <a:headEnd type="none" w="med" len="med"/>
            <a:tailEnd type="triangle" w="med" len="med"/>
          </a:ln>
        </p:spPr>
      </p:cxnSp>
      <p:cxnSp>
        <p:nvCxnSpPr>
          <p:cNvPr id="2011" name="Google Shape;2011;p85"/>
          <p:cNvCxnSpPr>
            <a:stCxn id="2008" idx="3"/>
            <a:endCxn id="2012" idx="1"/>
          </p:cNvCxnSpPr>
          <p:nvPr/>
        </p:nvCxnSpPr>
        <p:spPr>
          <a:xfrm rot="10800000" flipH="1">
            <a:off x="3374400" y="2718588"/>
            <a:ext cx="261300" cy="2700"/>
          </a:xfrm>
          <a:prstGeom prst="straightConnector1">
            <a:avLst/>
          </a:prstGeom>
          <a:noFill/>
          <a:ln w="9525" cap="flat" cmpd="sng">
            <a:solidFill>
              <a:schemeClr val="dk2"/>
            </a:solidFill>
            <a:prstDash val="solid"/>
            <a:round/>
            <a:headEnd type="none" w="med" len="med"/>
            <a:tailEnd type="triangle" w="med" len="med"/>
          </a:ln>
        </p:spPr>
      </p:cxnSp>
      <p:sp>
        <p:nvSpPr>
          <p:cNvPr id="2013" name="Google Shape;2013;p85"/>
          <p:cNvSpPr/>
          <p:nvPr/>
        </p:nvSpPr>
        <p:spPr>
          <a:xfrm>
            <a:off x="5789603" y="2508970"/>
            <a:ext cx="1196700" cy="416100"/>
          </a:xfrm>
          <a:prstGeom prst="rect">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IND-SET</a:t>
            </a:r>
            <a:endParaRPr/>
          </a:p>
        </p:txBody>
      </p:sp>
      <p:cxnSp>
        <p:nvCxnSpPr>
          <p:cNvPr id="2014" name="Google Shape;2014;p85"/>
          <p:cNvCxnSpPr>
            <a:stCxn id="2012" idx="3"/>
            <a:endCxn id="2013" idx="1"/>
          </p:cNvCxnSpPr>
          <p:nvPr/>
        </p:nvCxnSpPr>
        <p:spPr>
          <a:xfrm rot="10800000" flipH="1">
            <a:off x="5546275" y="2717117"/>
            <a:ext cx="243300" cy="1500"/>
          </a:xfrm>
          <a:prstGeom prst="straightConnector1">
            <a:avLst/>
          </a:prstGeom>
          <a:noFill/>
          <a:ln w="9525" cap="flat" cmpd="sng">
            <a:solidFill>
              <a:schemeClr val="dk2"/>
            </a:solidFill>
            <a:prstDash val="solid"/>
            <a:round/>
            <a:headEnd type="none" w="med" len="med"/>
            <a:tailEnd type="triangle" w="med" len="med"/>
          </a:ln>
        </p:spPr>
      </p:cxnSp>
      <p:sp>
        <p:nvSpPr>
          <p:cNvPr id="2015" name="Google Shape;2015;p85"/>
          <p:cNvSpPr txBox="1"/>
          <p:nvPr/>
        </p:nvSpPr>
        <p:spPr>
          <a:xfrm>
            <a:off x="3635825" y="2105900"/>
            <a:ext cx="6738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a:t>
            </a:r>
            <a:endParaRPr/>
          </a:p>
        </p:txBody>
      </p:sp>
      <p:cxnSp>
        <p:nvCxnSpPr>
          <p:cNvPr id="2016" name="Google Shape;2016;p85"/>
          <p:cNvCxnSpPr>
            <a:stCxn id="2013" idx="2"/>
            <a:endCxn id="2017" idx="0"/>
          </p:cNvCxnSpPr>
          <p:nvPr/>
        </p:nvCxnSpPr>
        <p:spPr>
          <a:xfrm rot="5400000">
            <a:off x="4354703" y="1722820"/>
            <a:ext cx="831000" cy="3235500"/>
          </a:xfrm>
          <a:prstGeom prst="curvedConnector3">
            <a:avLst>
              <a:gd name="adj1" fmla="val 49995"/>
            </a:avLst>
          </a:prstGeom>
          <a:noFill/>
          <a:ln w="9525" cap="flat" cmpd="sng">
            <a:solidFill>
              <a:schemeClr val="dk2"/>
            </a:solidFill>
            <a:prstDash val="solid"/>
            <a:round/>
            <a:headEnd type="none" w="med" len="med"/>
            <a:tailEnd type="triangle" w="med" len="med"/>
          </a:ln>
        </p:spPr>
      </p:cxnSp>
      <p:sp>
        <p:nvSpPr>
          <p:cNvPr id="2018" name="Google Shape;2018;p85"/>
          <p:cNvSpPr txBox="1"/>
          <p:nvPr/>
        </p:nvSpPr>
        <p:spPr>
          <a:xfrm>
            <a:off x="2155450" y="4056975"/>
            <a:ext cx="14862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IND-SET for G</a:t>
            </a:r>
            <a:endParaRPr/>
          </a:p>
        </p:txBody>
      </p:sp>
      <p:sp>
        <p:nvSpPr>
          <p:cNvPr id="2019" name="Google Shape;2019;p85"/>
          <p:cNvSpPr/>
          <p:nvPr/>
        </p:nvSpPr>
        <p:spPr>
          <a:xfrm>
            <a:off x="4847000" y="3775379"/>
            <a:ext cx="1196700" cy="329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Postprocess</a:t>
            </a:r>
            <a:endParaRPr/>
          </a:p>
        </p:txBody>
      </p:sp>
      <p:cxnSp>
        <p:nvCxnSpPr>
          <p:cNvPr id="2020" name="Google Shape;2020;p85"/>
          <p:cNvCxnSpPr>
            <a:stCxn id="2017" idx="3"/>
            <a:endCxn id="2019" idx="1"/>
          </p:cNvCxnSpPr>
          <p:nvPr/>
        </p:nvCxnSpPr>
        <p:spPr>
          <a:xfrm>
            <a:off x="4107649" y="3939742"/>
            <a:ext cx="739500" cy="300"/>
          </a:xfrm>
          <a:prstGeom prst="straightConnector1">
            <a:avLst/>
          </a:prstGeom>
          <a:noFill/>
          <a:ln w="9525" cap="flat" cmpd="sng">
            <a:solidFill>
              <a:schemeClr val="dk2"/>
            </a:solidFill>
            <a:prstDash val="solid"/>
            <a:round/>
            <a:headEnd type="none" w="med" len="med"/>
            <a:tailEnd type="triangle" w="med" len="med"/>
          </a:ln>
        </p:spPr>
      </p:cxnSp>
      <p:cxnSp>
        <p:nvCxnSpPr>
          <p:cNvPr id="2021" name="Google Shape;2021;p85"/>
          <p:cNvCxnSpPr>
            <a:stCxn id="2019" idx="3"/>
          </p:cNvCxnSpPr>
          <p:nvPr/>
        </p:nvCxnSpPr>
        <p:spPr>
          <a:xfrm>
            <a:off x="6043700" y="3939929"/>
            <a:ext cx="1493100" cy="0"/>
          </a:xfrm>
          <a:prstGeom prst="straightConnector1">
            <a:avLst/>
          </a:prstGeom>
          <a:noFill/>
          <a:ln w="9525" cap="flat" cmpd="sng">
            <a:solidFill>
              <a:schemeClr val="dk2"/>
            </a:solidFill>
            <a:prstDash val="solid"/>
            <a:round/>
            <a:headEnd type="none" w="med" len="med"/>
            <a:tailEnd type="triangle" w="med" len="med"/>
          </a:ln>
        </p:spPr>
      </p:cxnSp>
      <p:sp>
        <p:nvSpPr>
          <p:cNvPr id="2022" name="Google Shape;2022;p85"/>
          <p:cNvSpPr txBox="1"/>
          <p:nvPr/>
        </p:nvSpPr>
        <p:spPr>
          <a:xfrm>
            <a:off x="7387310" y="3177261"/>
            <a:ext cx="1730400" cy="53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Assignment so </a:t>
            </a:r>
            <a:endParaRPr/>
          </a:p>
          <a:p>
            <a:pPr marL="0" lvl="0" indent="0" algn="l" rtl="0">
              <a:spcBef>
                <a:spcPts val="0"/>
              </a:spcBef>
              <a:spcAft>
                <a:spcPts val="0"/>
              </a:spcAft>
              <a:buNone/>
            </a:pPr>
            <a:r>
              <a:rPr lang="en"/>
              <a:t>that Φ gives true.</a:t>
            </a:r>
            <a:endParaRPr/>
          </a:p>
        </p:txBody>
      </p:sp>
      <p:pic>
        <p:nvPicPr>
          <p:cNvPr id="2010" name="Google Shape;2010;p85"/>
          <p:cNvPicPr preferRelativeResize="0"/>
          <p:nvPr/>
        </p:nvPicPr>
        <p:blipFill>
          <a:blip r:embed="rId3">
            <a:alphaModFix/>
          </a:blip>
          <a:stretch>
            <a:fillRect/>
          </a:stretch>
        </p:blipFill>
        <p:spPr>
          <a:xfrm>
            <a:off x="413948" y="2416500"/>
            <a:ext cx="1296775" cy="606850"/>
          </a:xfrm>
          <a:prstGeom prst="rect">
            <a:avLst/>
          </a:prstGeom>
          <a:noFill/>
          <a:ln w="9525" cap="flat" cmpd="sng">
            <a:solidFill>
              <a:srgbClr val="000000"/>
            </a:solidFill>
            <a:prstDash val="solid"/>
            <a:round/>
            <a:headEnd type="none" w="sm" len="sm"/>
            <a:tailEnd type="none" w="sm" len="sm"/>
          </a:ln>
        </p:spPr>
      </p:pic>
      <p:sp>
        <p:nvSpPr>
          <p:cNvPr id="2023" name="Google Shape;2023;p85"/>
          <p:cNvSpPr txBox="1"/>
          <p:nvPr/>
        </p:nvSpPr>
        <p:spPr>
          <a:xfrm>
            <a:off x="366134" y="2106604"/>
            <a:ext cx="362400" cy="3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Φ</a:t>
            </a:r>
            <a:endParaRPr/>
          </a:p>
        </p:txBody>
      </p:sp>
      <p:pic>
        <p:nvPicPr>
          <p:cNvPr id="2012" name="Google Shape;2012;p85"/>
          <p:cNvPicPr preferRelativeResize="0"/>
          <p:nvPr/>
        </p:nvPicPr>
        <p:blipFill>
          <a:blip r:embed="rId4">
            <a:alphaModFix/>
          </a:blip>
          <a:stretch>
            <a:fillRect/>
          </a:stretch>
        </p:blipFill>
        <p:spPr>
          <a:xfrm>
            <a:off x="3635825" y="2523286"/>
            <a:ext cx="1910450" cy="390662"/>
          </a:xfrm>
          <a:prstGeom prst="rect">
            <a:avLst/>
          </a:prstGeom>
          <a:noFill/>
          <a:ln w="9525" cap="flat" cmpd="sng">
            <a:solidFill>
              <a:srgbClr val="000000"/>
            </a:solidFill>
            <a:prstDash val="solid"/>
            <a:round/>
            <a:headEnd type="none" w="sm" len="sm"/>
            <a:tailEnd type="none" w="sm" len="sm"/>
          </a:ln>
        </p:spPr>
      </p:pic>
      <p:pic>
        <p:nvPicPr>
          <p:cNvPr id="2017" name="Google Shape;2017;p85"/>
          <p:cNvPicPr preferRelativeResize="0"/>
          <p:nvPr/>
        </p:nvPicPr>
        <p:blipFill>
          <a:blip r:embed="rId5">
            <a:alphaModFix/>
          </a:blip>
          <a:stretch>
            <a:fillRect/>
          </a:stretch>
        </p:blipFill>
        <p:spPr>
          <a:xfrm>
            <a:off x="2197200" y="3755988"/>
            <a:ext cx="1910449" cy="367508"/>
          </a:xfrm>
          <a:prstGeom prst="rect">
            <a:avLst/>
          </a:prstGeom>
          <a:noFill/>
          <a:ln w="9525" cap="flat" cmpd="sng">
            <a:solidFill>
              <a:srgbClr val="000000"/>
            </a:solidFill>
            <a:prstDash val="solid"/>
            <a:round/>
            <a:headEnd type="none" w="sm" len="sm"/>
            <a:tailEnd type="none" w="sm" len="sm"/>
          </a:ln>
        </p:spPr>
      </p:pic>
      <p:sp>
        <p:nvSpPr>
          <p:cNvPr id="2024" name="Google Shape;2024;p85"/>
          <p:cNvSpPr txBox="1"/>
          <p:nvPr/>
        </p:nvSpPr>
        <p:spPr>
          <a:xfrm>
            <a:off x="7546780" y="3736201"/>
            <a:ext cx="1218900" cy="999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x1: true</a:t>
            </a:r>
            <a:endParaRPr/>
          </a:p>
          <a:p>
            <a:pPr marL="0" lvl="0" indent="0" algn="l" rtl="0">
              <a:spcBef>
                <a:spcPts val="0"/>
              </a:spcBef>
              <a:spcAft>
                <a:spcPts val="0"/>
              </a:spcAft>
              <a:buNone/>
            </a:pPr>
            <a:r>
              <a:rPr lang="en"/>
              <a:t>x2: false</a:t>
            </a:r>
            <a:endParaRPr/>
          </a:p>
          <a:p>
            <a:pPr marL="0" lvl="0" indent="0" algn="l" rtl="0">
              <a:spcBef>
                <a:spcPts val="0"/>
              </a:spcBef>
              <a:spcAft>
                <a:spcPts val="0"/>
              </a:spcAft>
              <a:buNone/>
            </a:pPr>
            <a:r>
              <a:rPr lang="en"/>
              <a:t>x3: false</a:t>
            </a:r>
            <a:endParaRPr/>
          </a:p>
          <a:p>
            <a:pPr marL="0" lvl="0" indent="0" algn="l" rtl="0">
              <a:spcBef>
                <a:spcPts val="0"/>
              </a:spcBef>
              <a:spcAft>
                <a:spcPts val="0"/>
              </a:spcAft>
              <a:buNone/>
            </a:pPr>
            <a:r>
              <a:rPr lang="en"/>
              <a:t>x4: true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28"/>
        <p:cNvGrpSpPr/>
        <p:nvPr/>
      </p:nvGrpSpPr>
      <p:grpSpPr>
        <a:xfrm>
          <a:off x="0" y="0"/>
          <a:ext cx="0" cy="0"/>
          <a:chOff x="0" y="0"/>
          <a:chExt cx="0" cy="0"/>
        </a:xfrm>
      </p:grpSpPr>
      <p:sp>
        <p:nvSpPr>
          <p:cNvPr id="2029" name="Google Shape;2029;p8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Reductions and Decomposition</a:t>
            </a:r>
            <a:endParaRPr/>
          </a:p>
        </p:txBody>
      </p:sp>
      <p:sp>
        <p:nvSpPr>
          <p:cNvPr id="2030" name="Google Shape;2030;p86"/>
          <p:cNvSpPr txBox="1">
            <a:spLocks noGrp="1"/>
          </p:cNvSpPr>
          <p:nvPr>
            <p:ph type="body" idx="1"/>
          </p:nvPr>
        </p:nvSpPr>
        <p:spPr>
          <a:xfrm>
            <a:off x="90600" y="404100"/>
            <a:ext cx="86169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Arguably, we’ve been doing something like a reduction all throughout the course.</a:t>
            </a:r>
            <a:endParaRPr/>
          </a:p>
          <a:p>
            <a:pPr marL="0" lvl="0" indent="0" algn="l" rtl="0">
              <a:spcBef>
                <a:spcPts val="600"/>
              </a:spcBef>
              <a:spcAft>
                <a:spcPts val="0"/>
              </a:spcAft>
              <a:buNone/>
            </a:pPr>
            <a:endParaRPr/>
          </a:p>
          <a:p>
            <a:pPr marL="0" lvl="0" indent="0" algn="l" rtl="0">
              <a:spcBef>
                <a:spcPts val="600"/>
              </a:spcBef>
              <a:spcAft>
                <a:spcPts val="0"/>
              </a:spcAft>
              <a:buNone/>
            </a:pPr>
            <a:r>
              <a:rPr lang="en"/>
              <a:t>These examples aren’t reductions exactly.</a:t>
            </a:r>
            <a:endParaRPr/>
          </a:p>
          <a:p>
            <a:pPr marL="457200" lvl="0" indent="-342900" algn="l" rtl="0">
              <a:spcBef>
                <a:spcPts val="600"/>
              </a:spcBef>
              <a:spcAft>
                <a:spcPts val="0"/>
              </a:spcAft>
              <a:buSzPts val="1800"/>
              <a:buChar char="●"/>
            </a:pPr>
            <a:r>
              <a:rPr lang="en"/>
              <a:t>We aren’t just calling a subroutine.</a:t>
            </a:r>
            <a:endParaRPr/>
          </a:p>
          <a:p>
            <a:pPr marL="457200" lvl="0" indent="-342900" algn="l" rtl="0">
              <a:spcBef>
                <a:spcPts val="600"/>
              </a:spcBef>
              <a:spcAft>
                <a:spcPts val="0"/>
              </a:spcAft>
              <a:buSzPts val="1800"/>
              <a:buChar char="●"/>
            </a:pPr>
            <a:r>
              <a:rPr lang="en"/>
              <a:t>A better term would be decomposition: Taking a complex task and breaking it into smaller parts. This is the heart of computer science.</a:t>
            </a:r>
            <a:endParaRPr/>
          </a:p>
          <a:p>
            <a:pPr marL="914400" lvl="1" indent="-342900" algn="l" rtl="0">
              <a:spcBef>
                <a:spcPts val="600"/>
              </a:spcBef>
              <a:spcAft>
                <a:spcPts val="0"/>
              </a:spcAft>
              <a:buSzPts val="1800"/>
              <a:buChar char="○"/>
            </a:pPr>
            <a:r>
              <a:rPr lang="en"/>
              <a:t>Using appropriate abstractions makes problem solving vastly easier.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34"/>
        <p:cNvGrpSpPr/>
        <p:nvPr/>
      </p:nvGrpSpPr>
      <p:grpSpPr>
        <a:xfrm>
          <a:off x="0" y="0"/>
          <a:ext cx="0" cy="0"/>
          <a:chOff x="0" y="0"/>
          <a:chExt cx="0" cy="0"/>
        </a:xfrm>
      </p:grpSpPr>
      <p:sp>
        <p:nvSpPr>
          <p:cNvPr id="2035" name="Google Shape;2035;p8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Generational Changes in the Human Mind</a:t>
            </a:r>
            <a:endParaRPr/>
          </a:p>
        </p:txBody>
      </p:sp>
      <p:pic>
        <p:nvPicPr>
          <p:cNvPr id="2036" name="Google Shape;2036;p87" descr="In 1900, only 3% of Americans practiced professions that were deemed &quot;cognitively demanding.&quot; Today, 35% of us do, and we have all learned to be flexible in the way that we think about problems. In this fascinating and fast-paced spin through the cognitive history of the 20th century, moral philosopher James Flynn makes the case that changes in the way we think have had surprising (and not always positive) consequences.&#10;&#10;TEDTalks is a daily video podcast of the best talks and performances from the TED Conference, where the world's leading thinkers and doers give the talk of their lives in 18 minutes (or less). Look for talks on Technology, Entertainment and Design -- plus science, business, global issues, the arts and much more.&#10;Find closed captions and translated subtitles in many languages at http://www.ted.com/translate&#10;&#10;Follow TED news on Twitter: http://www.twitter.com/tednews&#10;Like TED on Facebook: https://www.facebook.com/TED&#10;&#10;Subscribe to our channel: http://www.youtube.com/user/TEDtalksDirector" title="Why our IQ levels are higher than our grandparents' | James Flynn">
            <a:hlinkClick r:id="rId3"/>
          </p:cNvPr>
          <p:cNvPicPr preferRelativeResize="0"/>
          <p:nvPr/>
        </p:nvPicPr>
        <p:blipFill>
          <a:blip r:embed="rId4">
            <a:alphaModFix/>
          </a:blip>
          <a:stretch>
            <a:fillRect/>
          </a:stretch>
        </p:blipFill>
        <p:spPr>
          <a:xfrm>
            <a:off x="2286000" y="1010151"/>
            <a:ext cx="4572000" cy="3429000"/>
          </a:xfrm>
          <a:prstGeom prst="rect">
            <a:avLst/>
          </a:prstGeom>
          <a:noFill/>
          <a:ln>
            <a:noFill/>
          </a:ln>
        </p:spPr>
      </p:pic>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5201</Words>
  <Application>Microsoft Office PowerPoint</Application>
  <PresentationFormat>On-screen Show (16:9)</PresentationFormat>
  <Paragraphs>1376</Paragraphs>
  <Slides>64</Slides>
  <Notes>64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Calibri</vt:lpstr>
      <vt:lpstr>Arial</vt:lpstr>
      <vt:lpstr>Roboto Medium</vt:lpstr>
      <vt:lpstr>Roboto Light</vt:lpstr>
      <vt:lpstr>Consolas</vt:lpstr>
      <vt:lpstr>Roboto</vt:lpstr>
      <vt:lpstr>Simple Lecture</vt:lpstr>
      <vt:lpstr>PowerPoint Presentation</vt:lpstr>
      <vt:lpstr>Goals of Today</vt:lpstr>
      <vt:lpstr>Graph Problems So Far</vt:lpstr>
      <vt:lpstr>Graph Problems So Far</vt:lpstr>
      <vt:lpstr>Topological Sorting</vt:lpstr>
      <vt:lpstr>Topological Sort</vt:lpstr>
      <vt:lpstr>Solution (Spoiler Alert)</vt:lpstr>
      <vt:lpstr>Topological Sort (Demo 1/2)</vt:lpstr>
      <vt:lpstr>Topological Sort (Demo 2/2)</vt:lpstr>
      <vt:lpstr>Solution (Spoiler Alert)</vt:lpstr>
      <vt:lpstr>Topological Sort</vt:lpstr>
      <vt:lpstr>Depth First Search</vt:lpstr>
      <vt:lpstr>Question</vt:lpstr>
      <vt:lpstr>Test Your Understanding</vt:lpstr>
      <vt:lpstr>Test Your Understanding</vt:lpstr>
      <vt:lpstr>Directed Acyclic Graphs</vt:lpstr>
      <vt:lpstr>Graph Problems</vt:lpstr>
      <vt:lpstr>Shortest Paths on DAGs</vt:lpstr>
      <vt:lpstr>Shortest Paths Warmup</vt:lpstr>
      <vt:lpstr>Shortest Paths Warmup</vt:lpstr>
      <vt:lpstr>Shortest Paths Warmup</vt:lpstr>
      <vt:lpstr>Shortest Paths Warmup</vt:lpstr>
      <vt:lpstr>Shortest Paths Warmup</vt:lpstr>
      <vt:lpstr>Challenge</vt:lpstr>
      <vt:lpstr>Challenge</vt:lpstr>
      <vt:lpstr>The DAG SPT Algorithm: Relax in Topological Order</vt:lpstr>
      <vt:lpstr>The DAG SPT Algorithm: Relax in Topological Order</vt:lpstr>
      <vt:lpstr>DAG SPT Algorithm</vt:lpstr>
      <vt:lpstr>DAG SPT Algorithm</vt:lpstr>
      <vt:lpstr>DAG SPT Algorithm</vt:lpstr>
      <vt:lpstr>DAG SPT Algorithm</vt:lpstr>
      <vt:lpstr>DAG SPT Algorithm</vt:lpstr>
      <vt:lpstr>DAG SPT Algorithm</vt:lpstr>
      <vt:lpstr>DAG SPT Algorithm</vt:lpstr>
      <vt:lpstr>DAG SPT Algorithm</vt:lpstr>
      <vt:lpstr>DAG SPT Algorithm</vt:lpstr>
      <vt:lpstr>DAG SPT Algorithm</vt:lpstr>
      <vt:lpstr>DAG SPT Algorithm</vt:lpstr>
      <vt:lpstr>DAG SPT Algorithm</vt:lpstr>
      <vt:lpstr>The DAG SPT Algorithm: Relax in Topological Order</vt:lpstr>
      <vt:lpstr>Graph Problems</vt:lpstr>
      <vt:lpstr>Longest Paths</vt:lpstr>
      <vt:lpstr>The Longest Paths Problem</vt:lpstr>
      <vt:lpstr>The Longest Paths Problem</vt:lpstr>
      <vt:lpstr>The Longest Paths Problem on DAGs</vt:lpstr>
      <vt:lpstr>The Longest Paths Problem on DAGs</vt:lpstr>
      <vt:lpstr>The Longest Paths Problem on DAGs</vt:lpstr>
      <vt:lpstr>A Note on “Mathematical Maturity”</vt:lpstr>
      <vt:lpstr>Highly Recommended Exercise For Later</vt:lpstr>
      <vt:lpstr>Graph Problems</vt:lpstr>
      <vt:lpstr>Reductions: Definition</vt:lpstr>
      <vt:lpstr>DAG Longest Paths</vt:lpstr>
      <vt:lpstr>Reduction</vt:lpstr>
      <vt:lpstr>Reduction Analogy</vt:lpstr>
      <vt:lpstr>Reduction Definition (Informal)</vt:lpstr>
      <vt:lpstr>Reductions: Definition</vt:lpstr>
      <vt:lpstr>The Independent Set Problem</vt:lpstr>
      <vt:lpstr>The 3SAT Problem</vt:lpstr>
      <vt:lpstr>3SAT Reduces to Independent Set </vt:lpstr>
      <vt:lpstr>3SAT Reduces to Independent Set</vt:lpstr>
      <vt:lpstr>3SAT Reduces to Independent Set</vt:lpstr>
      <vt:lpstr>Reduction</vt:lpstr>
      <vt:lpstr>Reductions and Decomposition</vt:lpstr>
      <vt:lpstr>Generational Changes in the Human Mind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Vader Darth</cp:lastModifiedBy>
  <cp:revision>3</cp:revision>
  <dcterms:modified xsi:type="dcterms:W3CDTF">2025-08-07T11:53:48Z</dcterms:modified>
</cp:coreProperties>
</file>