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13"/>
      <p:bold r:id="rId114"/>
      <p:italic r:id="rId115"/>
      <p:boldItalic r:id="rId116"/>
    </p:embeddedFont>
    <p:embeddedFont>
      <p:font typeface="Roboto" panose="02000000000000000000" pitchFamily="2" charset="0"/>
      <p:regular r:id="rId117"/>
      <p:bold r:id="rId118"/>
      <p:italic r:id="rId119"/>
      <p:boldItalic r:id="rId120"/>
    </p:embeddedFont>
    <p:embeddedFont>
      <p:font typeface="Roboto Light" panose="02000000000000000000" pitchFamily="2" charset="0"/>
      <p:regular r:id="rId121"/>
      <p:bold r:id="rId122"/>
      <p:italic r:id="rId123"/>
      <p:boldItalic r:id="rId124"/>
    </p:embeddedFont>
    <p:embeddedFont>
      <p:font typeface="Roboto Medium" panose="02000000000000000000" pitchFamily="2" charset="0"/>
      <p:regular r:id="rId125"/>
      <p:bold r:id="rId126"/>
      <p:italic r:id="rId127"/>
      <p:boldItalic r:id="rId1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B6D51D-E2A9-432E-A73F-2B4FE37DDF82}">
  <a:tblStyle styleId="{B9B6D51D-E2A9-432E-A73F-2B4FE37DDF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DF269E-DB82-4AAB-963F-7E19A2480E1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12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font" Target="fonts/font5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font" Target="fonts/font11.fntdata"/><Relationship Id="rId128" Type="http://schemas.openxmlformats.org/officeDocument/2006/relationships/font" Target="fonts/font16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font" Target="fonts/font1.fntdata"/><Relationship Id="rId118" Type="http://schemas.openxmlformats.org/officeDocument/2006/relationships/font" Target="fonts/font6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font" Target="fonts/font12.fntdata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2.fntdata"/><Relationship Id="rId119" Type="http://schemas.openxmlformats.org/officeDocument/2006/relationships/font" Target="fonts/font7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8.fntdata"/><Relationship Id="rId125" Type="http://schemas.openxmlformats.org/officeDocument/2006/relationships/font" Target="fonts/font1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3.fntdata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font" Target="fonts/font9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iamidade.gov/fire/library/hotlines/2011-december_files/tree-fire.jpg" TargetMode="External"/><Relationship Id="rId3" Type="http://schemas.openxmlformats.org/officeDocument/2006/relationships/hyperlink" Target="https://docs.google.com/presentation/d/1ILecDfqGbGg676xEmp4djysXv2nPNKOZ8FcqjlnR9fE" TargetMode="External"/><Relationship Id="rId7" Type="http://schemas.openxmlformats.org/officeDocument/2006/relationships/hyperlink" Target="https://docs.google.com/presentation/d/1KpNiR7aLIEG9sm7HgX29nvf3yLD8_vdQEPa0ktQfuYc/edit?usp=shar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ocs.google.com/presentation/d/1RhRSYs9Jbc335P24p7vR-6PLXZUl-1EmeDtqieL9ad8/edit?usp=sharing" TargetMode="External"/><Relationship Id="rId5" Type="http://schemas.openxmlformats.org/officeDocument/2006/relationships/hyperlink" Target="https://docs.google.com/presentation/d/1GPizbySYMsUhnXSXKvbqV4UhPCvrt750MiqPPgU-eCY/edit#slide=id.g9a60b2f52_0_0" TargetMode="External"/><Relationship Id="rId4" Type="http://schemas.openxmlformats.org/officeDocument/2006/relationships/hyperlink" Target="https://docs.google.com/presentation/d/1NFLbVeCuhhaZAM1z3s9zIYGGnhT4M4PWwAc-TLmCJjc/edit#slide=id.g9a60b2f52_0_0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XpFsVsC-UkDtTHQZagg977oXNIcVs6EMHn52iA0en3I5aCA/viewform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ccrc.ca/ci/ta01_archlevel.html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c0wZIcQtMCWnBPcl42Vm-rDyirdLm-mhN6WY2oS0F4uRLLXg/viewform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NFLbVeCuhhaZAM1z3s9zIYGGnhT4M4PWwAc-TLmCJjc/edit#slide=id.g9a60b2f52_0_0" TargetMode="External"/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CMTccvfaTQ&amp;list=PL8FaHk7qbOD7SvlWei_-neNmgmXzJG2ad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GPizbySYMsUhnXSXKvbqV4UhPCvrt750MiqPPgU-eCY/edit#slide=id.g9a60b2f52_0_0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RhRSYs9Jbc335P24p7vR-6PLXZUl-1EmeDtqieL9ad8/edit?usp=sharing" TargetMode="External"/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presentation/d/1KpNiR7aLIEG9sm7HgX29nvf3yLD8_vdQEPa0ktQfuYc/edit?usp=sharing" TargetMode="External"/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e4ffc69c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e4ffc69c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For Fall 2023, I've updated all graphs in this lecture so that the nodes are letters (ABCD...), not numbers (0123...), because I think the demos are easier to follow this way.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Overall lecture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Prim's conceptual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Prim's optimized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6"/>
              </a:rPr>
              <a:t>Kruskal's basic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7"/>
              </a:rPr>
              <a:t>Kruskal's optimized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citation: </a:t>
            </a:r>
            <a:r>
              <a:rPr lang="en" u="sng">
                <a:solidFill>
                  <a:schemeClr val="hlink"/>
                </a:solidFill>
                <a:hlinkClick r:id="rId8"/>
              </a:rPr>
              <a:t>http://www.miamidade.gov/fire/library/hotlines/2011-december_files/tree-fire.jpg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e4ffc69c9_0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e4ffc69c9_0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5b829717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5b829717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5b829717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5b829717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2988acc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12988acc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1e4ffc69c9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1e4ffc69c9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5347e2c8f_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5347e2c8f_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347e2c8f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5347e2c8f_2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5347e2c8f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5347e2c8f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https://docs.google.com/forms/d/e/1FAIpQLScXpFsVsC-UkDtTHQZagg977oXNIcVs6EMHn52iA0en3I5aCA/viewform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772f8a8e2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772f8a8e2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http://www.bccrc.ca/ci/ta01_archlevel.html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1e4ffc69c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1e4ffc69c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85b829717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85b829717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85b829717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85b829717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772f8a8e2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772f8a8e2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8dda9da1a73768a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8dda9da1a73768a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85b82971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85b82971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8dda9da1a73768a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8dda9da1a73768a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5347e2c8f_2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5347e2c8f_2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SPLIT INTO TWO PROBLEMS: What is the MST? And is there a node for which it is the SPT?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a4472a1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a4472a1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772f8a8e2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772f8a8e2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21e4ffc69c9_0_3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21e4ffc69c9_0_3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5347e2c8f_2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5347e2c8f_2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Suppose it were suboptimal.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5347e2c8f_2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5347e2c8f_2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https://docs.google.com/forms/d/e/1FAIpQLSc0wZIcQtMCWnBPcl42Vm-rDyirdLm-mhN6WY2oS0F4uRLLXg/viewform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5347e2c8f_2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5347e2c8f_2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5347e2c8f_2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5347e2c8f_2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5347e2c8f_2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5347e2c8f_2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21e4ffc69c9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21e4ffc69c9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5f5241fa9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5f5241fa9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Prim's conceptual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5f5241fa9b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5f5241fa9b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25f5241fa9b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25f5241fa9b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5f5241fa9b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5f5241fa9b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5f5241fa9b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25f5241fa9b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5f5241fa9b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5f5241fa9b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The version of this slide on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web videos</a:t>
            </a:r>
            <a:r>
              <a:rPr lang="en"/>
              <a:t> has the edge between 2 and 5 (with weight 15) in the wrong color.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5f5241fa9b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5f5241fa9b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5f5241fa9b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5f5241fa9b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5f5241fa9b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5f5241fa9b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5f5241fa9b_0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5f5241fa9b_0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25f5241fa9b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25f5241fa9b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5f5241fa9b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5f5241fa9b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g25f5241fa9b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9" name="Google Shape;1249;g25f5241fa9b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772f8a8e2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772f8a8e2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21e4ffc69c9_0_3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21e4ffc69c9_0_3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6a4472a1b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6a4472a1b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5f5241fa9b_0_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5f5241fa9b_0_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Prim's optimized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25f5241fa9b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25f5241fa9b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25f5241fa9b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4" name="Google Shape;1434;g25f5241fa9b_0_6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25f5241fa9b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25f5241fa9b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25f5241fa9b_0_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25f5241fa9b_0_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g25f5241fa9b_0_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0" name="Google Shape;1580;g25f5241fa9b_0_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5f5241fa9b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5f5241fa9b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25f5241fa9b_0_8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25f5241fa9b_0_8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5f5241fa9b_0_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5f5241fa9b_0_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g25f5241fa9b_0_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6" name="Google Shape;1766;g25f5241fa9b_0_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5f5241fa9b_0_10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5f5241fa9b_0_10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25f5241fa9b_0_1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25f5241fa9b_0_1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g25f5241fa9b_0_1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9" name="Google Shape;1909;g25f5241fa9b_0_1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g25f5241fa9b_0_1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2" name="Google Shape;1952;g25f5241fa9b_0_1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5f5241fa9b_0_1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5f5241fa9b_0_1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25f5241fa9b_0_1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25f5241fa9b_0_1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25f5241fa9b_0_1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25f5241fa9b_0_1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25f5241fa9b_0_1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25f5241fa9b_0_1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9" name="Google Shape;2169;g25f5241fa9b_0_1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0" name="Google Shape;2170;g25f5241fa9b_0_1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21e4ffc69c9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21e4ffc69c9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772f8a8e2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772f8a8e2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" name="Google Shape;2222;g772f8a8e2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3" name="Google Shape;2223;g772f8a8e2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g772f8a8e2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0" name="Google Shape;2230;g772f8a8e2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772f8a8e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772f8a8e2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g85b829717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7" name="Google Shape;2257;g85b829717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4" name="Google Shape;2264;g36aa282842_23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5" name="Google Shape;2265;g36aa282842_23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21e4ffc69c9_0_3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21e4ffc69c9_0_3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25f5241fa9b_0_1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25f5241fa9b_0_1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Kruskal's basic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g25f5241fa9b_0_1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9" name="Google Shape;2319;g25f5241fa9b_0_14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25f5241fa9b_0_1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25f5241fa9b_0_1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25f5241fa9b_0_1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25f5241fa9b_0_1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25f5241fa9b_0_1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25f5241fa9b_0_1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g25f5241fa9b_0_1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5" name="Google Shape;2485;g25f5241fa9b_0_1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g25f5241fa9b_0_1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7" name="Google Shape;2527;g25f5241fa9b_0_1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g25f5241fa9b_0_17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8" name="Google Shape;2568;g25f5241fa9b_0_17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25f5241fa9b_0_1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25f5241fa9b_0_1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0" name="Google Shape;2650;g25f5241fa9b_0_18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1" name="Google Shape;2651;g25f5241fa9b_0_18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g25f5241fa9b_0_18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3" name="Google Shape;2693;g25f5241fa9b_0_18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g25f5241fa9b_0_18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4" name="Google Shape;2734;g25f5241fa9b_0_18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g25f5241fa9b_0_19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6" name="Google Shape;2776;g25f5241fa9b_0_19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g25f5241fa9b_0_1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7" name="Google Shape;2817;g25f5241fa9b_0_19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25f5241fa9b_0_2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25f5241fa9b_0_20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g21e4ffc69c9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0" name="Google Shape;2900;g21e4ffc69c9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Google Shape;2906;g21e4ffc69c9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7" name="Google Shape;2907;g21e4ffc69c9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g25f5241fa9b_0_20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4" name="Google Shape;2914;g25f5241fa9b_0_20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Note: For Fall 2023, I've updated all graphs in this lecture so that the nodes are letters (ABCD...), not numbers (0123...), because I think the demos are easier to follow this way.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web videos still show graphs where the nodes are numbers. If you'd like a version of these slides where the nodes are numbers, refer back to the Spring 2023 slides: </a:t>
            </a:r>
            <a:r>
              <a:rPr lang="en" u="sng">
                <a:solidFill>
                  <a:schemeClr val="hlink"/>
                </a:solidFill>
                <a:hlinkClick r:id="rId3"/>
              </a:rPr>
              <a:t>Kruskal's optimized</a:t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g25f5241fa9b_0_2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5" name="Google Shape;2955;g25f5241fa9b_0_2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25f5241fa9b_0_2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8" name="Google Shape;2998;g25f5241fa9b_0_2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2" name="Google Shape;3042;g25f5241fa9b_0_2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3" name="Google Shape;3043;g25f5241fa9b_0_2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25f5241fa9b_0_2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25f5241fa9b_0_2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g25f5241fa9b_0_2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1" name="Google Shape;3131;g25f5241fa9b_0_2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3" name="Google Shape;3173;g25f5241fa9b_0_2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4" name="Google Shape;3174;g25f5241fa9b_0_2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g25f5241fa9b_0_2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9" name="Google Shape;3219;g25f5241fa9b_0_2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1" name="Google Shape;3261;g25f5241fa9b_0_2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2" name="Google Shape;3262;g25f5241fa9b_0_2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" name="Google Shape;3306;g25f5241fa9b_0_2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7" name="Google Shape;3307;g25f5241fa9b_0_2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" name="Google Shape;3349;g25f5241fa9b_0_2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0" name="Google Shape;3350;g25f5241fa9b_0_2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4" name="Google Shape;3394;g25f5241fa9b_0_2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5" name="Google Shape;3395;g25f5241fa9b_0_2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g25f5241fa9b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8" name="Google Shape;3438;g25f5241fa9b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0" name="Google Shape;3480;g25f5241fa9b_0_2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1" name="Google Shape;3481;g25f5241fa9b_0_2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25f5241fa9b_0_2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25f5241fa9b_0_2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9" name="Google Shape;3569;g21e4ffc69c9_0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0" name="Google Shape;3570;g21e4ffc69c9_0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6" name="Google Shape;3576;g772f8a8e2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7" name="Google Shape;3577;g772f8a8e2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3" name="Google Shape;3583;g21e4ffc69c9_0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4" name="Google Shape;3584;g21e4ffc69c9_0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0" name="Google Shape;3590;g772f8a8e2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1" name="Google Shape;3591;g772f8a8e2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772f8a8e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8" name="Google Shape;3598;g772f8a8e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g772f8a8e2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7" name="Google Shape;3607;g772f8a8e2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3" name="Google Shape;3613;g21e4ffc69c9_0_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4" name="Google Shape;3614;g21e4ffc69c9_0_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1" name="Google Shape;3621;g772f8a8e2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7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2" name="Google Shape;3622;g772f8a8e2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SECTION_TITLE_AND_DESCRIPTION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Google Shape;30;p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right">
  <p:cSld name="SECTION_TITLE_AND_DESCRIPTION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ubTitle" idx="1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mo slide left">
  <p:cSld name="SECTION_TITLE_AND_DESCRIPTION_2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">
  <p:cSld name="SECTION_TITLE_AND_DESCRIPTION_2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1">
  <p:cSld name="SECTION_TITLE_AND_DESCRIPTION_2_1_1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ide Puzzle Solution">
  <p:cSld name="SECTION_TITLE_AND_DESCRIPTION_2_1_1_1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1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sz="2500"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2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Google Shape;80;p11"/>
          <p:cNvSpPr txBox="1">
            <a:spLocks noGrp="1"/>
          </p:cNvSpPr>
          <p:nvPr>
            <p:ph type="body" idx="2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_3">
  <p:cSld name="SECTION_TITLE_AND_DESCRIPTION_3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2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BLANK_1">
    <p:bg>
      <p:bgPr>
        <a:solidFill>
          <a:schemeClr val="dk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lude">
  <p:cSld name="SECTION_TITLE_AND_DESCRIPTION_1_3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" name="Google Shape;109;p1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SECTION_TITLE_AND_DESCRIPTION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left">
  <p:cSld name="SECTION_TITLE_AND_DESCRIPTION_1_1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left, Heading">
  <p:cSld name="SECTION_TITLE_AND_DESCRIPTION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body" idx="2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3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on right">
  <p:cSld name="SECTION_TITLE_AND_DESCRIPTION_1_2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>
            <a:spLocks noGrp="1"/>
          </p:cNvSpPr>
          <p:nvPr>
            <p:ph type="body" idx="1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body" idx="2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 rtl="0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ckermann_function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dspace.mit.edu/bitstream/handle/1721.1/16727/43551593-MIT.pdf;sequence=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://www.ics.uci.edu/~eppstein/gina/mst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0K-QvOHfOE&amp;list=PL8FaHk7qbOD7SvlWei_-neNmgmXzJG2a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ZCMTccvfaTQ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youtube.com/watch?v=vmWSnkBVvQ0" TargetMode="External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etLdLoEbKQ&amp;list=PL8FaHk7qbOD7SvlWei_-neNmgmXzJG2ad" TargetMode="Externa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nimum_spanning_tree#Optimal_algorithm" TargetMode="Externa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Minimum Spanning Trees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25 (Graphs 4)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5814" y="316525"/>
            <a:ext cx="3647062" cy="242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Graph Problem Warmup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Warm-up Problem</a:t>
            </a:r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undirected graph, determine if it contains any cycles.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use any data structure or algorithm from the course so far.</a:t>
            </a:r>
            <a:endParaRPr/>
          </a:p>
        </p:txBody>
      </p:sp>
      <p:sp>
        <p:nvSpPr>
          <p:cNvPr id="162" name="Google Shape;162;p26"/>
          <p:cNvSpPr/>
          <p:nvPr/>
        </p:nvSpPr>
        <p:spPr>
          <a:xfrm>
            <a:off x="6045090" y="177592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6045112" y="257175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7027031" y="226724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6"/>
          <p:cNvSpPr/>
          <p:nvPr/>
        </p:nvSpPr>
        <p:spPr>
          <a:xfrm>
            <a:off x="7414316" y="316874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6"/>
          <p:cNvSpPr/>
          <p:nvPr/>
        </p:nvSpPr>
        <p:spPr>
          <a:xfrm>
            <a:off x="8322430" y="209775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6"/>
          <p:cNvCxnSpPr>
            <a:stCxn id="167" idx="2"/>
            <a:endCxn id="166" idx="3"/>
          </p:cNvCxnSpPr>
          <p:nvPr/>
        </p:nvCxnSpPr>
        <p:spPr>
          <a:xfrm flipH="1">
            <a:off x="7801480" y="2402256"/>
            <a:ext cx="714600" cy="91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6"/>
          <p:cNvCxnSpPr>
            <a:stCxn id="165" idx="2"/>
            <a:endCxn id="166" idx="0"/>
          </p:cNvCxnSpPr>
          <p:nvPr/>
        </p:nvCxnSpPr>
        <p:spPr>
          <a:xfrm>
            <a:off x="7220681" y="2571745"/>
            <a:ext cx="387300" cy="59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6"/>
          <p:cNvSpPr/>
          <p:nvPr/>
        </p:nvSpPr>
        <p:spPr>
          <a:xfrm>
            <a:off x="5103025" y="22205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" name="Google Shape;171;p26"/>
          <p:cNvCxnSpPr>
            <a:stCxn id="170" idx="3"/>
            <a:endCxn id="162" idx="1"/>
          </p:cNvCxnSpPr>
          <p:nvPr/>
        </p:nvCxnSpPr>
        <p:spPr>
          <a:xfrm rot="10800000" flipH="1">
            <a:off x="5490325" y="1928239"/>
            <a:ext cx="554700" cy="444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26"/>
          <p:cNvCxnSpPr>
            <a:stCxn id="170" idx="3"/>
            <a:endCxn id="163" idx="1"/>
          </p:cNvCxnSpPr>
          <p:nvPr/>
        </p:nvCxnSpPr>
        <p:spPr>
          <a:xfrm>
            <a:off x="5490325" y="2372839"/>
            <a:ext cx="554700" cy="351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26"/>
          <p:cNvCxnSpPr>
            <a:stCxn id="165" idx="3"/>
            <a:endCxn id="167" idx="1"/>
          </p:cNvCxnSpPr>
          <p:nvPr/>
        </p:nvCxnSpPr>
        <p:spPr>
          <a:xfrm rot="10800000" flipH="1">
            <a:off x="7414331" y="2249995"/>
            <a:ext cx="908100" cy="16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6"/>
          <p:cNvCxnSpPr>
            <a:stCxn id="162" idx="3"/>
            <a:endCxn id="164" idx="1"/>
          </p:cNvCxnSpPr>
          <p:nvPr/>
        </p:nvCxnSpPr>
        <p:spPr>
          <a:xfrm rot="10800000" flipH="1">
            <a:off x="6432390" y="1689076"/>
            <a:ext cx="485100" cy="239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6"/>
          <p:cNvCxnSpPr>
            <a:stCxn id="167" idx="0"/>
            <a:endCxn id="164" idx="3"/>
          </p:cNvCxnSpPr>
          <p:nvPr/>
        </p:nvCxnSpPr>
        <p:spPr>
          <a:xfrm rot="10800000">
            <a:off x="7304680" y="1689156"/>
            <a:ext cx="1211400" cy="40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Warm-up Problem</a:t>
            </a: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undirected graph, determine if it contains any cycles.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use any data structure or algorithm from the course so far.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1: Do DFS from 0 (arbitrary vertex).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going until you see a marked vertex.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Potential danger: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 looks back at 0 and sees marked.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Solution: Just don’t count the node you came from.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Worst case runtime: O(V + E) -- do study guide problems to reinforce this.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some cleverness, can give a tighter bound of O(V) (the number of edges we check is at most V, so O(V+E) = O(V))</a:t>
            </a:r>
            <a:endParaRPr/>
          </a:p>
        </p:txBody>
      </p:sp>
      <p:sp>
        <p:nvSpPr>
          <p:cNvPr id="182" name="Google Shape;182;p27"/>
          <p:cNvSpPr/>
          <p:nvPr/>
        </p:nvSpPr>
        <p:spPr>
          <a:xfrm>
            <a:off x="6045090" y="177592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6045112" y="257175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7027031" y="226724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7414316" y="316874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8322430" y="209775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" name="Google Shape;188;p27"/>
          <p:cNvCxnSpPr>
            <a:stCxn id="187" idx="2"/>
            <a:endCxn id="186" idx="3"/>
          </p:cNvCxnSpPr>
          <p:nvPr/>
        </p:nvCxnSpPr>
        <p:spPr>
          <a:xfrm flipH="1">
            <a:off x="7801480" y="2402256"/>
            <a:ext cx="714600" cy="91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7"/>
          <p:cNvCxnSpPr>
            <a:stCxn id="185" idx="2"/>
            <a:endCxn id="186" idx="0"/>
          </p:cNvCxnSpPr>
          <p:nvPr/>
        </p:nvCxnSpPr>
        <p:spPr>
          <a:xfrm>
            <a:off x="7220681" y="2571745"/>
            <a:ext cx="387300" cy="59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7"/>
          <p:cNvSpPr/>
          <p:nvPr/>
        </p:nvSpPr>
        <p:spPr>
          <a:xfrm>
            <a:off x="5103025" y="22205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" name="Google Shape;191;p27"/>
          <p:cNvCxnSpPr>
            <a:stCxn id="190" idx="3"/>
            <a:endCxn id="182" idx="1"/>
          </p:cNvCxnSpPr>
          <p:nvPr/>
        </p:nvCxnSpPr>
        <p:spPr>
          <a:xfrm rot="10800000" flipH="1">
            <a:off x="5490325" y="1928239"/>
            <a:ext cx="554700" cy="444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" name="Google Shape;192;p27"/>
          <p:cNvCxnSpPr>
            <a:stCxn id="190" idx="3"/>
            <a:endCxn id="183" idx="1"/>
          </p:cNvCxnSpPr>
          <p:nvPr/>
        </p:nvCxnSpPr>
        <p:spPr>
          <a:xfrm>
            <a:off x="5490325" y="2372839"/>
            <a:ext cx="554700" cy="351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7"/>
          <p:cNvCxnSpPr>
            <a:stCxn id="185" idx="3"/>
            <a:endCxn id="187" idx="1"/>
          </p:cNvCxnSpPr>
          <p:nvPr/>
        </p:nvCxnSpPr>
        <p:spPr>
          <a:xfrm rot="10800000" flipH="1">
            <a:off x="7414331" y="2249995"/>
            <a:ext cx="908100" cy="16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" name="Google Shape;194;p27"/>
          <p:cNvCxnSpPr>
            <a:stCxn id="182" idx="3"/>
            <a:endCxn id="184" idx="1"/>
          </p:cNvCxnSpPr>
          <p:nvPr/>
        </p:nvCxnSpPr>
        <p:spPr>
          <a:xfrm rot="10800000" flipH="1">
            <a:off x="6432390" y="1689076"/>
            <a:ext cx="485100" cy="239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7"/>
          <p:cNvCxnSpPr>
            <a:stCxn id="187" idx="0"/>
            <a:endCxn id="184" idx="3"/>
          </p:cNvCxnSpPr>
          <p:nvPr/>
        </p:nvCxnSpPr>
        <p:spPr>
          <a:xfrm rot="10800000">
            <a:off x="7304680" y="1689156"/>
            <a:ext cx="1211400" cy="40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Warm-up Problem</a:t>
            </a:r>
            <a:endParaRPr/>
          </a:p>
        </p:txBody>
      </p:sp>
      <p:sp>
        <p:nvSpPr>
          <p:cNvPr id="201" name="Google Shape;201;p2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undirected graph, determine if it contains any cycles.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use any data structure or algorithm from the course so far.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2: Use a WeightedQuickUnionUF object.</a:t>
            </a:r>
            <a:endParaRPr/>
          </a:p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n"/>
              <a:t>For each edge, check if the two vertices are connected.</a:t>
            </a:r>
            <a:endParaRPr/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not, union them.</a:t>
            </a:r>
            <a:endParaRPr/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so, there is a cycle.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Worst case runtime: O(V + E α(V)) if we have path compression.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Here α(V) is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inverse Ackermann function</a:t>
            </a:r>
            <a:r>
              <a:rPr lang="en"/>
              <a:t> from Disjoint Sets.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similar reasoning from before, we can reduce to O(V α(V))</a:t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6045090" y="177592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6045112" y="257175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7027031" y="226724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7414316" y="316874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8322430" y="209775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" name="Google Shape;208;p28"/>
          <p:cNvCxnSpPr>
            <a:stCxn id="207" idx="2"/>
            <a:endCxn id="206" idx="3"/>
          </p:cNvCxnSpPr>
          <p:nvPr/>
        </p:nvCxnSpPr>
        <p:spPr>
          <a:xfrm flipH="1">
            <a:off x="7801480" y="2402256"/>
            <a:ext cx="714600" cy="91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28"/>
          <p:cNvCxnSpPr>
            <a:stCxn id="205" idx="2"/>
            <a:endCxn id="206" idx="0"/>
          </p:cNvCxnSpPr>
          <p:nvPr/>
        </p:nvCxnSpPr>
        <p:spPr>
          <a:xfrm>
            <a:off x="7220681" y="2571745"/>
            <a:ext cx="387300" cy="59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" name="Google Shape;210;p28"/>
          <p:cNvSpPr/>
          <p:nvPr/>
        </p:nvSpPr>
        <p:spPr>
          <a:xfrm>
            <a:off x="5103025" y="22205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" name="Google Shape;211;p28"/>
          <p:cNvCxnSpPr>
            <a:stCxn id="210" idx="3"/>
            <a:endCxn id="202" idx="1"/>
          </p:cNvCxnSpPr>
          <p:nvPr/>
        </p:nvCxnSpPr>
        <p:spPr>
          <a:xfrm rot="10800000" flipH="1">
            <a:off x="5490325" y="1928239"/>
            <a:ext cx="554700" cy="444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>
            <a:stCxn id="210" idx="3"/>
            <a:endCxn id="203" idx="1"/>
          </p:cNvCxnSpPr>
          <p:nvPr/>
        </p:nvCxnSpPr>
        <p:spPr>
          <a:xfrm>
            <a:off x="5490325" y="2372839"/>
            <a:ext cx="554700" cy="351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>
            <a:stCxn id="205" idx="3"/>
            <a:endCxn id="207" idx="1"/>
          </p:cNvCxnSpPr>
          <p:nvPr/>
        </p:nvCxnSpPr>
        <p:spPr>
          <a:xfrm rot="10800000" flipH="1">
            <a:off x="7414331" y="2249995"/>
            <a:ext cx="908100" cy="1695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>
            <a:stCxn id="202" idx="3"/>
            <a:endCxn id="204" idx="1"/>
          </p:cNvCxnSpPr>
          <p:nvPr/>
        </p:nvCxnSpPr>
        <p:spPr>
          <a:xfrm rot="10800000" flipH="1">
            <a:off x="6432390" y="1689076"/>
            <a:ext cx="485100" cy="239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8"/>
          <p:cNvCxnSpPr>
            <a:stCxn id="207" idx="0"/>
            <a:endCxn id="204" idx="3"/>
          </p:cNvCxnSpPr>
          <p:nvPr/>
        </p:nvCxnSpPr>
        <p:spPr>
          <a:xfrm rot="10800000">
            <a:off x="7304680" y="1689156"/>
            <a:ext cx="1211400" cy="408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221" name="Google Shape;221;p29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Minimum Spanning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Intro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222" name="Google Shape;222;p29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Minimum Spanning Trees Intro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Trees</a:t>
            </a:r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an </a:t>
            </a:r>
            <a:r>
              <a:rPr lang="en" b="1"/>
              <a:t>undirected</a:t>
            </a:r>
            <a:r>
              <a:rPr lang="en"/>
              <a:t> graph, a </a:t>
            </a:r>
            <a:r>
              <a:rPr lang="en" b="1" i="1"/>
              <a:t>spanning tree </a:t>
            </a:r>
            <a:r>
              <a:rPr lang="en"/>
              <a:t>T is a subgraph of G, where T: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connected.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acyclic.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Includes all of the vertices.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Spanning tree is the black edges and vertices.</a:t>
            </a:r>
            <a:endParaRPr/>
          </a:p>
        </p:txBody>
      </p:sp>
      <p:sp>
        <p:nvSpPr>
          <p:cNvPr id="229" name="Google Shape;229;p30"/>
          <p:cNvSpPr txBox="1"/>
          <p:nvPr/>
        </p:nvSpPr>
        <p:spPr>
          <a:xfrm>
            <a:off x="50871" y="3733800"/>
            <a:ext cx="9144000" cy="14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800" b="1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minimum spanning tree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 spanning tree of minimum total weight.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Network of power lines that connect a bunch of buildings.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3950" y="1273152"/>
            <a:ext cx="3270525" cy="259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/>
          <p:nvPr/>
        </p:nvSpPr>
        <p:spPr>
          <a:xfrm>
            <a:off x="2333525" y="877675"/>
            <a:ext cx="207300" cy="6309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2601452" y="877675"/>
            <a:ext cx="19620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These two properties make it a tree.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33" name="Google Shape;233;p30"/>
          <p:cNvSpPr txBox="1"/>
          <p:nvPr/>
        </p:nvSpPr>
        <p:spPr>
          <a:xfrm>
            <a:off x="3789410" y="1397485"/>
            <a:ext cx="21552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This makes it spanning.</a:t>
            </a:r>
            <a:endParaRPr>
              <a:solidFill>
                <a:srgbClr val="BE0712"/>
              </a:solidFill>
            </a:endParaRPr>
          </a:p>
        </p:txBody>
      </p:sp>
      <p:sp>
        <p:nvSpPr>
          <p:cNvPr id="234" name="Google Shape;234;p30"/>
          <p:cNvSpPr/>
          <p:nvPr/>
        </p:nvSpPr>
        <p:spPr>
          <a:xfrm>
            <a:off x="3599800" y="1480746"/>
            <a:ext cx="207300" cy="2451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Trees</a:t>
            </a:r>
            <a:endParaRPr/>
          </a:p>
        </p:txBody>
      </p:sp>
      <p:sp>
        <p:nvSpPr>
          <p:cNvPr id="240" name="Google Shape;240;p31"/>
          <p:cNvSpPr/>
          <p:nvPr/>
        </p:nvSpPr>
        <p:spPr>
          <a:xfrm>
            <a:off x="166788" y="11031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1197638" y="7170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2880713" y="78961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31"/>
          <p:cNvSpPr/>
          <p:nvPr/>
        </p:nvSpPr>
        <p:spPr>
          <a:xfrm>
            <a:off x="2494613" y="233588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31"/>
          <p:cNvSpPr/>
          <p:nvPr/>
        </p:nvSpPr>
        <p:spPr>
          <a:xfrm>
            <a:off x="916713" y="233718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3429113" y="173923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1"/>
          <p:cNvSpPr/>
          <p:nvPr/>
        </p:nvSpPr>
        <p:spPr>
          <a:xfrm>
            <a:off x="1742038" y="14892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7" name="Google Shape;247;p31"/>
          <p:cNvCxnSpPr>
            <a:stCxn id="240" idx="2"/>
            <a:endCxn id="244" idx="1"/>
          </p:cNvCxnSpPr>
          <p:nvPr/>
        </p:nvCxnSpPr>
        <p:spPr>
          <a:xfrm>
            <a:off x="359838" y="1489263"/>
            <a:ext cx="556800" cy="104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31"/>
          <p:cNvCxnSpPr>
            <a:stCxn id="240" idx="0"/>
            <a:endCxn id="241" idx="1"/>
          </p:cNvCxnSpPr>
          <p:nvPr/>
        </p:nvCxnSpPr>
        <p:spPr>
          <a:xfrm rot="10800000" flipH="1">
            <a:off x="359838" y="910263"/>
            <a:ext cx="837900" cy="19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>
            <a:stCxn id="241" idx="3"/>
            <a:endCxn id="242" idx="1"/>
          </p:cNvCxnSpPr>
          <p:nvPr/>
        </p:nvCxnSpPr>
        <p:spPr>
          <a:xfrm>
            <a:off x="1583738" y="910113"/>
            <a:ext cx="1296900" cy="72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>
            <a:stCxn id="242" idx="3"/>
            <a:endCxn id="245" idx="0"/>
          </p:cNvCxnSpPr>
          <p:nvPr/>
        </p:nvCxnSpPr>
        <p:spPr>
          <a:xfrm>
            <a:off x="3266813" y="982663"/>
            <a:ext cx="355200" cy="75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>
            <a:stCxn id="245" idx="2"/>
            <a:endCxn id="243" idx="3"/>
          </p:cNvCxnSpPr>
          <p:nvPr/>
        </p:nvCxnSpPr>
        <p:spPr>
          <a:xfrm flipH="1">
            <a:off x="2880863" y="2125338"/>
            <a:ext cx="741300" cy="403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31"/>
          <p:cNvCxnSpPr>
            <a:stCxn id="244" idx="3"/>
            <a:endCxn id="246" idx="1"/>
          </p:cNvCxnSpPr>
          <p:nvPr/>
        </p:nvCxnSpPr>
        <p:spPr>
          <a:xfrm rot="10800000" flipH="1">
            <a:off x="1302813" y="1682438"/>
            <a:ext cx="439200" cy="8478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31"/>
          <p:cNvCxnSpPr>
            <a:stCxn id="246" idx="3"/>
            <a:endCxn id="243" idx="1"/>
          </p:cNvCxnSpPr>
          <p:nvPr/>
        </p:nvCxnSpPr>
        <p:spPr>
          <a:xfrm>
            <a:off x="2128138" y="1682313"/>
            <a:ext cx="366600" cy="846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31"/>
          <p:cNvCxnSpPr>
            <a:stCxn id="244" idx="3"/>
            <a:endCxn id="243" idx="1"/>
          </p:cNvCxnSpPr>
          <p:nvPr/>
        </p:nvCxnSpPr>
        <p:spPr>
          <a:xfrm rot="10800000" flipH="1">
            <a:off x="1302813" y="2529038"/>
            <a:ext cx="1191900" cy="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1"/>
          <p:cNvCxnSpPr>
            <a:stCxn id="241" idx="2"/>
            <a:endCxn id="246" idx="0"/>
          </p:cNvCxnSpPr>
          <p:nvPr/>
        </p:nvCxnSpPr>
        <p:spPr>
          <a:xfrm>
            <a:off x="1390688" y="1103163"/>
            <a:ext cx="544500" cy="386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1"/>
          <p:cNvCxnSpPr>
            <a:stCxn id="246" idx="0"/>
            <a:endCxn id="242" idx="2"/>
          </p:cNvCxnSpPr>
          <p:nvPr/>
        </p:nvCxnSpPr>
        <p:spPr>
          <a:xfrm rot="10800000" flipH="1">
            <a:off x="1935088" y="1175763"/>
            <a:ext cx="1138800" cy="313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1"/>
          <p:cNvCxnSpPr>
            <a:stCxn id="246" idx="3"/>
            <a:endCxn id="245" idx="1"/>
          </p:cNvCxnSpPr>
          <p:nvPr/>
        </p:nvCxnSpPr>
        <p:spPr>
          <a:xfrm>
            <a:off x="2128138" y="1682313"/>
            <a:ext cx="1301100" cy="249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" name="Google Shape;258;p31"/>
          <p:cNvSpPr/>
          <p:nvPr/>
        </p:nvSpPr>
        <p:spPr>
          <a:xfrm>
            <a:off x="4871213" y="11140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1"/>
          <p:cNvSpPr/>
          <p:nvPr/>
        </p:nvSpPr>
        <p:spPr>
          <a:xfrm>
            <a:off x="5902063" y="7279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7585138" y="80050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31"/>
          <p:cNvSpPr/>
          <p:nvPr/>
        </p:nvSpPr>
        <p:spPr>
          <a:xfrm>
            <a:off x="7199038" y="234677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1"/>
          <p:cNvSpPr/>
          <p:nvPr/>
        </p:nvSpPr>
        <p:spPr>
          <a:xfrm>
            <a:off x="5621138" y="234807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31"/>
          <p:cNvSpPr/>
          <p:nvPr/>
        </p:nvSpPr>
        <p:spPr>
          <a:xfrm>
            <a:off x="8133538" y="175012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1"/>
          <p:cNvSpPr/>
          <p:nvPr/>
        </p:nvSpPr>
        <p:spPr>
          <a:xfrm>
            <a:off x="6446463" y="15001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5" name="Google Shape;265;p31"/>
          <p:cNvCxnSpPr>
            <a:stCxn id="258" idx="2"/>
            <a:endCxn id="262" idx="1"/>
          </p:cNvCxnSpPr>
          <p:nvPr/>
        </p:nvCxnSpPr>
        <p:spPr>
          <a:xfrm>
            <a:off x="5064263" y="1500150"/>
            <a:ext cx="556800" cy="104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" name="Google Shape;266;p31"/>
          <p:cNvCxnSpPr>
            <a:stCxn id="258" idx="0"/>
            <a:endCxn id="259" idx="1"/>
          </p:cNvCxnSpPr>
          <p:nvPr/>
        </p:nvCxnSpPr>
        <p:spPr>
          <a:xfrm rot="10800000" flipH="1">
            <a:off x="5064263" y="921150"/>
            <a:ext cx="837900" cy="19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1"/>
          <p:cNvCxnSpPr>
            <a:stCxn id="259" idx="3"/>
            <a:endCxn id="260" idx="1"/>
          </p:cNvCxnSpPr>
          <p:nvPr/>
        </p:nvCxnSpPr>
        <p:spPr>
          <a:xfrm>
            <a:off x="6288163" y="921000"/>
            <a:ext cx="1296900" cy="72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8" name="Google Shape;268;p31"/>
          <p:cNvCxnSpPr>
            <a:stCxn id="260" idx="3"/>
            <a:endCxn id="263" idx="0"/>
          </p:cNvCxnSpPr>
          <p:nvPr/>
        </p:nvCxnSpPr>
        <p:spPr>
          <a:xfrm>
            <a:off x="7971238" y="993550"/>
            <a:ext cx="355200" cy="7566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1"/>
          <p:cNvCxnSpPr>
            <a:stCxn id="263" idx="2"/>
            <a:endCxn id="261" idx="3"/>
          </p:cNvCxnSpPr>
          <p:nvPr/>
        </p:nvCxnSpPr>
        <p:spPr>
          <a:xfrm flipH="1">
            <a:off x="7585288" y="2136225"/>
            <a:ext cx="741300" cy="4035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" name="Google Shape;270;p31"/>
          <p:cNvCxnSpPr>
            <a:stCxn id="262" idx="3"/>
            <a:endCxn id="264" idx="1"/>
          </p:cNvCxnSpPr>
          <p:nvPr/>
        </p:nvCxnSpPr>
        <p:spPr>
          <a:xfrm rot="10800000" flipH="1">
            <a:off x="6007238" y="1693325"/>
            <a:ext cx="439200" cy="847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" name="Google Shape;271;p31"/>
          <p:cNvCxnSpPr>
            <a:stCxn id="264" idx="3"/>
            <a:endCxn id="261" idx="1"/>
          </p:cNvCxnSpPr>
          <p:nvPr/>
        </p:nvCxnSpPr>
        <p:spPr>
          <a:xfrm>
            <a:off x="6832563" y="1693200"/>
            <a:ext cx="366600" cy="84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2" name="Google Shape;272;p31"/>
          <p:cNvCxnSpPr>
            <a:stCxn id="262" idx="3"/>
            <a:endCxn id="261" idx="1"/>
          </p:cNvCxnSpPr>
          <p:nvPr/>
        </p:nvCxnSpPr>
        <p:spPr>
          <a:xfrm rot="10800000" flipH="1">
            <a:off x="6007238" y="2539925"/>
            <a:ext cx="1191900" cy="12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1"/>
          <p:cNvCxnSpPr>
            <a:stCxn id="259" idx="2"/>
            <a:endCxn id="264" idx="0"/>
          </p:cNvCxnSpPr>
          <p:nvPr/>
        </p:nvCxnSpPr>
        <p:spPr>
          <a:xfrm>
            <a:off x="6095113" y="1114050"/>
            <a:ext cx="544500" cy="386100"/>
          </a:xfrm>
          <a:prstGeom prst="straightConnector1">
            <a:avLst/>
          </a:prstGeom>
          <a:noFill/>
          <a:ln w="19050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" name="Google Shape;274;p31"/>
          <p:cNvCxnSpPr>
            <a:stCxn id="264" idx="0"/>
            <a:endCxn id="260" idx="2"/>
          </p:cNvCxnSpPr>
          <p:nvPr/>
        </p:nvCxnSpPr>
        <p:spPr>
          <a:xfrm rot="10800000" flipH="1">
            <a:off x="6639513" y="1186650"/>
            <a:ext cx="1138800" cy="313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" name="Google Shape;275;p31"/>
          <p:cNvCxnSpPr>
            <a:stCxn id="264" idx="3"/>
            <a:endCxn id="263" idx="1"/>
          </p:cNvCxnSpPr>
          <p:nvPr/>
        </p:nvCxnSpPr>
        <p:spPr>
          <a:xfrm>
            <a:off x="6832563" y="1693200"/>
            <a:ext cx="1301100" cy="249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are Spanning Trees? yellkey.com/TODO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81" name="Google Shape;281;p32"/>
          <p:cNvSpPr/>
          <p:nvPr/>
        </p:nvSpPr>
        <p:spPr>
          <a:xfrm>
            <a:off x="166788" y="11031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32"/>
          <p:cNvSpPr/>
          <p:nvPr/>
        </p:nvSpPr>
        <p:spPr>
          <a:xfrm>
            <a:off x="1197638" y="7170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2"/>
          <p:cNvSpPr/>
          <p:nvPr/>
        </p:nvSpPr>
        <p:spPr>
          <a:xfrm>
            <a:off x="2880713" y="78961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32"/>
          <p:cNvSpPr/>
          <p:nvPr/>
        </p:nvSpPr>
        <p:spPr>
          <a:xfrm>
            <a:off x="2494613" y="233588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2"/>
          <p:cNvSpPr/>
          <p:nvPr/>
        </p:nvSpPr>
        <p:spPr>
          <a:xfrm>
            <a:off x="916713" y="233718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32"/>
          <p:cNvSpPr/>
          <p:nvPr/>
        </p:nvSpPr>
        <p:spPr>
          <a:xfrm>
            <a:off x="3429113" y="173923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2"/>
          <p:cNvSpPr/>
          <p:nvPr/>
        </p:nvSpPr>
        <p:spPr>
          <a:xfrm>
            <a:off x="1742038" y="14892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8" name="Google Shape;288;p32"/>
          <p:cNvCxnSpPr>
            <a:stCxn id="281" idx="2"/>
            <a:endCxn id="285" idx="1"/>
          </p:cNvCxnSpPr>
          <p:nvPr/>
        </p:nvCxnSpPr>
        <p:spPr>
          <a:xfrm>
            <a:off x="359838" y="1489263"/>
            <a:ext cx="556800" cy="104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2"/>
          <p:cNvCxnSpPr>
            <a:stCxn id="281" idx="0"/>
            <a:endCxn id="282" idx="1"/>
          </p:cNvCxnSpPr>
          <p:nvPr/>
        </p:nvCxnSpPr>
        <p:spPr>
          <a:xfrm rot="10800000" flipH="1">
            <a:off x="359838" y="910263"/>
            <a:ext cx="837900" cy="19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2"/>
          <p:cNvCxnSpPr>
            <a:stCxn id="282" idx="3"/>
            <a:endCxn id="283" idx="1"/>
          </p:cNvCxnSpPr>
          <p:nvPr/>
        </p:nvCxnSpPr>
        <p:spPr>
          <a:xfrm>
            <a:off x="1583738" y="910113"/>
            <a:ext cx="1296900" cy="72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2"/>
          <p:cNvCxnSpPr>
            <a:stCxn id="283" idx="3"/>
            <a:endCxn id="286" idx="0"/>
          </p:cNvCxnSpPr>
          <p:nvPr/>
        </p:nvCxnSpPr>
        <p:spPr>
          <a:xfrm>
            <a:off x="3266813" y="982663"/>
            <a:ext cx="355200" cy="75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32"/>
          <p:cNvCxnSpPr>
            <a:stCxn id="286" idx="2"/>
            <a:endCxn id="284" idx="3"/>
          </p:cNvCxnSpPr>
          <p:nvPr/>
        </p:nvCxnSpPr>
        <p:spPr>
          <a:xfrm flipH="1">
            <a:off x="2880863" y="2125338"/>
            <a:ext cx="741300" cy="4035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2"/>
          <p:cNvCxnSpPr>
            <a:stCxn id="285" idx="3"/>
            <a:endCxn id="287" idx="1"/>
          </p:cNvCxnSpPr>
          <p:nvPr/>
        </p:nvCxnSpPr>
        <p:spPr>
          <a:xfrm rot="10800000" flipH="1">
            <a:off x="1302813" y="1682438"/>
            <a:ext cx="439200" cy="8478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2"/>
          <p:cNvCxnSpPr>
            <a:stCxn id="287" idx="3"/>
            <a:endCxn id="284" idx="1"/>
          </p:cNvCxnSpPr>
          <p:nvPr/>
        </p:nvCxnSpPr>
        <p:spPr>
          <a:xfrm>
            <a:off x="2128138" y="1682313"/>
            <a:ext cx="366600" cy="846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2"/>
          <p:cNvCxnSpPr>
            <a:stCxn id="285" idx="3"/>
            <a:endCxn id="284" idx="1"/>
          </p:cNvCxnSpPr>
          <p:nvPr/>
        </p:nvCxnSpPr>
        <p:spPr>
          <a:xfrm rot="10800000" flipH="1">
            <a:off x="1302813" y="2529038"/>
            <a:ext cx="1191900" cy="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2"/>
          <p:cNvCxnSpPr>
            <a:stCxn id="282" idx="2"/>
            <a:endCxn id="287" idx="0"/>
          </p:cNvCxnSpPr>
          <p:nvPr/>
        </p:nvCxnSpPr>
        <p:spPr>
          <a:xfrm>
            <a:off x="1390688" y="1103163"/>
            <a:ext cx="544500" cy="3861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2"/>
          <p:cNvCxnSpPr>
            <a:stCxn id="287" idx="0"/>
            <a:endCxn id="283" idx="2"/>
          </p:cNvCxnSpPr>
          <p:nvPr/>
        </p:nvCxnSpPr>
        <p:spPr>
          <a:xfrm rot="10800000" flipH="1">
            <a:off x="1935088" y="1175763"/>
            <a:ext cx="1138800" cy="313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8" name="Google Shape;298;p32"/>
          <p:cNvCxnSpPr>
            <a:stCxn id="287" idx="3"/>
            <a:endCxn id="286" idx="1"/>
          </p:cNvCxnSpPr>
          <p:nvPr/>
        </p:nvCxnSpPr>
        <p:spPr>
          <a:xfrm>
            <a:off x="2128138" y="1682313"/>
            <a:ext cx="1301100" cy="2499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" name="Google Shape;299;p32"/>
          <p:cNvSpPr/>
          <p:nvPr/>
        </p:nvSpPr>
        <p:spPr>
          <a:xfrm>
            <a:off x="4871213" y="11140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2"/>
          <p:cNvSpPr/>
          <p:nvPr/>
        </p:nvSpPr>
        <p:spPr>
          <a:xfrm>
            <a:off x="5902063" y="7279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2"/>
          <p:cNvSpPr/>
          <p:nvPr/>
        </p:nvSpPr>
        <p:spPr>
          <a:xfrm>
            <a:off x="7585138" y="80050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32"/>
          <p:cNvSpPr/>
          <p:nvPr/>
        </p:nvSpPr>
        <p:spPr>
          <a:xfrm>
            <a:off x="7199038" y="234677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2"/>
          <p:cNvSpPr/>
          <p:nvPr/>
        </p:nvSpPr>
        <p:spPr>
          <a:xfrm>
            <a:off x="5621138" y="234807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8133538" y="1750125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32"/>
          <p:cNvSpPr/>
          <p:nvPr/>
        </p:nvSpPr>
        <p:spPr>
          <a:xfrm>
            <a:off x="6446463" y="1500150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6" name="Google Shape;306;p32"/>
          <p:cNvCxnSpPr>
            <a:stCxn id="299" idx="2"/>
            <a:endCxn id="303" idx="1"/>
          </p:cNvCxnSpPr>
          <p:nvPr/>
        </p:nvCxnSpPr>
        <p:spPr>
          <a:xfrm>
            <a:off x="5064263" y="1500150"/>
            <a:ext cx="556800" cy="104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32"/>
          <p:cNvCxnSpPr>
            <a:stCxn id="299" idx="0"/>
            <a:endCxn id="300" idx="1"/>
          </p:cNvCxnSpPr>
          <p:nvPr/>
        </p:nvCxnSpPr>
        <p:spPr>
          <a:xfrm rot="10800000" flipH="1">
            <a:off x="5064263" y="921150"/>
            <a:ext cx="837900" cy="192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32"/>
          <p:cNvCxnSpPr>
            <a:stCxn id="300" idx="3"/>
            <a:endCxn id="301" idx="1"/>
          </p:cNvCxnSpPr>
          <p:nvPr/>
        </p:nvCxnSpPr>
        <p:spPr>
          <a:xfrm>
            <a:off x="6288163" y="921000"/>
            <a:ext cx="1296900" cy="72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2"/>
          <p:cNvCxnSpPr>
            <a:stCxn id="301" idx="3"/>
            <a:endCxn id="304" idx="0"/>
          </p:cNvCxnSpPr>
          <p:nvPr/>
        </p:nvCxnSpPr>
        <p:spPr>
          <a:xfrm>
            <a:off x="7971238" y="993550"/>
            <a:ext cx="355200" cy="756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2"/>
          <p:cNvCxnSpPr>
            <a:stCxn id="304" idx="2"/>
            <a:endCxn id="302" idx="3"/>
          </p:cNvCxnSpPr>
          <p:nvPr/>
        </p:nvCxnSpPr>
        <p:spPr>
          <a:xfrm flipH="1">
            <a:off x="7585288" y="2136225"/>
            <a:ext cx="741300" cy="4035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32"/>
          <p:cNvCxnSpPr>
            <a:stCxn id="303" idx="3"/>
            <a:endCxn id="305" idx="1"/>
          </p:cNvCxnSpPr>
          <p:nvPr/>
        </p:nvCxnSpPr>
        <p:spPr>
          <a:xfrm rot="10800000" flipH="1">
            <a:off x="6007238" y="1693325"/>
            <a:ext cx="439200" cy="847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2" name="Google Shape;312;p32"/>
          <p:cNvCxnSpPr>
            <a:stCxn id="305" idx="3"/>
            <a:endCxn id="302" idx="1"/>
          </p:cNvCxnSpPr>
          <p:nvPr/>
        </p:nvCxnSpPr>
        <p:spPr>
          <a:xfrm>
            <a:off x="6832563" y="1693200"/>
            <a:ext cx="366600" cy="84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2"/>
          <p:cNvCxnSpPr>
            <a:stCxn id="303" idx="3"/>
            <a:endCxn id="302" idx="1"/>
          </p:cNvCxnSpPr>
          <p:nvPr/>
        </p:nvCxnSpPr>
        <p:spPr>
          <a:xfrm rot="10800000" flipH="1">
            <a:off x="6007238" y="2539925"/>
            <a:ext cx="1191900" cy="12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2"/>
          <p:cNvCxnSpPr>
            <a:stCxn id="300" idx="2"/>
            <a:endCxn id="305" idx="0"/>
          </p:cNvCxnSpPr>
          <p:nvPr/>
        </p:nvCxnSpPr>
        <p:spPr>
          <a:xfrm>
            <a:off x="6095113" y="1114050"/>
            <a:ext cx="544500" cy="386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" name="Google Shape;315;p32"/>
          <p:cNvCxnSpPr>
            <a:stCxn id="305" idx="0"/>
            <a:endCxn id="301" idx="2"/>
          </p:cNvCxnSpPr>
          <p:nvPr/>
        </p:nvCxnSpPr>
        <p:spPr>
          <a:xfrm rot="10800000" flipH="1">
            <a:off x="6639513" y="1186650"/>
            <a:ext cx="1138800" cy="3135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6" name="Google Shape;316;p32"/>
          <p:cNvCxnSpPr>
            <a:stCxn id="305" idx="3"/>
            <a:endCxn id="304" idx="1"/>
          </p:cNvCxnSpPr>
          <p:nvPr/>
        </p:nvCxnSpPr>
        <p:spPr>
          <a:xfrm>
            <a:off x="6832563" y="1693200"/>
            <a:ext cx="1301100" cy="249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7" name="Google Shape;317;p32"/>
          <p:cNvSpPr/>
          <p:nvPr/>
        </p:nvSpPr>
        <p:spPr>
          <a:xfrm>
            <a:off x="2558438" y="333663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2"/>
          <p:cNvSpPr/>
          <p:nvPr/>
        </p:nvSpPr>
        <p:spPr>
          <a:xfrm>
            <a:off x="3589288" y="295053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2"/>
          <p:cNvSpPr/>
          <p:nvPr/>
        </p:nvSpPr>
        <p:spPr>
          <a:xfrm>
            <a:off x="5272363" y="302308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32"/>
          <p:cNvSpPr/>
          <p:nvPr/>
        </p:nvSpPr>
        <p:spPr>
          <a:xfrm>
            <a:off x="4886263" y="45693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32"/>
          <p:cNvSpPr/>
          <p:nvPr/>
        </p:nvSpPr>
        <p:spPr>
          <a:xfrm>
            <a:off x="3308363" y="457066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>
            <a:off x="5820763" y="3972713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>
            <a:off x="4133688" y="3722738"/>
            <a:ext cx="386100" cy="3861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4" name="Google Shape;324;p32"/>
          <p:cNvCxnSpPr>
            <a:stCxn id="317" idx="2"/>
            <a:endCxn id="321" idx="1"/>
          </p:cNvCxnSpPr>
          <p:nvPr/>
        </p:nvCxnSpPr>
        <p:spPr>
          <a:xfrm>
            <a:off x="2751488" y="3722738"/>
            <a:ext cx="556800" cy="1041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2"/>
          <p:cNvCxnSpPr>
            <a:stCxn id="317" idx="0"/>
            <a:endCxn id="318" idx="1"/>
          </p:cNvCxnSpPr>
          <p:nvPr/>
        </p:nvCxnSpPr>
        <p:spPr>
          <a:xfrm rot="10800000" flipH="1">
            <a:off x="2751488" y="3143738"/>
            <a:ext cx="837900" cy="1929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2"/>
          <p:cNvCxnSpPr>
            <a:stCxn id="318" idx="3"/>
            <a:endCxn id="319" idx="1"/>
          </p:cNvCxnSpPr>
          <p:nvPr/>
        </p:nvCxnSpPr>
        <p:spPr>
          <a:xfrm>
            <a:off x="3975388" y="3143588"/>
            <a:ext cx="1296900" cy="72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2"/>
          <p:cNvCxnSpPr>
            <a:stCxn id="319" idx="3"/>
            <a:endCxn id="322" idx="0"/>
          </p:cNvCxnSpPr>
          <p:nvPr/>
        </p:nvCxnSpPr>
        <p:spPr>
          <a:xfrm>
            <a:off x="5658463" y="3216138"/>
            <a:ext cx="355200" cy="75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" name="Google Shape;328;p32"/>
          <p:cNvCxnSpPr>
            <a:stCxn id="322" idx="2"/>
            <a:endCxn id="320" idx="3"/>
          </p:cNvCxnSpPr>
          <p:nvPr/>
        </p:nvCxnSpPr>
        <p:spPr>
          <a:xfrm flipH="1">
            <a:off x="5272513" y="4358813"/>
            <a:ext cx="741300" cy="4035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9" name="Google Shape;329;p32"/>
          <p:cNvCxnSpPr>
            <a:stCxn id="321" idx="3"/>
            <a:endCxn id="323" idx="1"/>
          </p:cNvCxnSpPr>
          <p:nvPr/>
        </p:nvCxnSpPr>
        <p:spPr>
          <a:xfrm rot="10800000" flipH="1">
            <a:off x="3694463" y="3915913"/>
            <a:ext cx="439200" cy="847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2"/>
          <p:cNvCxnSpPr>
            <a:stCxn id="323" idx="3"/>
            <a:endCxn id="320" idx="1"/>
          </p:cNvCxnSpPr>
          <p:nvPr/>
        </p:nvCxnSpPr>
        <p:spPr>
          <a:xfrm>
            <a:off x="4519788" y="3915788"/>
            <a:ext cx="366600" cy="8466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32"/>
          <p:cNvCxnSpPr>
            <a:stCxn id="321" idx="3"/>
            <a:endCxn id="320" idx="1"/>
          </p:cNvCxnSpPr>
          <p:nvPr/>
        </p:nvCxnSpPr>
        <p:spPr>
          <a:xfrm rot="10800000" flipH="1">
            <a:off x="3694463" y="4762513"/>
            <a:ext cx="1191900" cy="12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32"/>
          <p:cNvCxnSpPr>
            <a:stCxn id="318" idx="2"/>
            <a:endCxn id="323" idx="0"/>
          </p:cNvCxnSpPr>
          <p:nvPr/>
        </p:nvCxnSpPr>
        <p:spPr>
          <a:xfrm>
            <a:off x="3782338" y="3336638"/>
            <a:ext cx="544500" cy="386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3" name="Google Shape;333;p32"/>
          <p:cNvCxnSpPr>
            <a:stCxn id="323" idx="0"/>
            <a:endCxn id="319" idx="2"/>
          </p:cNvCxnSpPr>
          <p:nvPr/>
        </p:nvCxnSpPr>
        <p:spPr>
          <a:xfrm rot="10800000" flipH="1">
            <a:off x="4326738" y="3409238"/>
            <a:ext cx="1138800" cy="313500"/>
          </a:xfrm>
          <a:prstGeom prst="straightConnector1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4" name="Google Shape;334;p32"/>
          <p:cNvCxnSpPr>
            <a:stCxn id="323" idx="3"/>
            <a:endCxn id="322" idx="1"/>
          </p:cNvCxnSpPr>
          <p:nvPr/>
        </p:nvCxnSpPr>
        <p:spPr>
          <a:xfrm>
            <a:off x="4519788" y="3915788"/>
            <a:ext cx="1301100" cy="249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5" name="Google Shape;335;p32"/>
          <p:cNvSpPr txBox="1"/>
          <p:nvPr/>
        </p:nvSpPr>
        <p:spPr>
          <a:xfrm>
            <a:off x="137650" y="584975"/>
            <a:ext cx="3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32"/>
          <p:cNvSpPr txBox="1"/>
          <p:nvPr/>
        </p:nvSpPr>
        <p:spPr>
          <a:xfrm>
            <a:off x="4871225" y="553725"/>
            <a:ext cx="3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32"/>
          <p:cNvSpPr txBox="1"/>
          <p:nvPr/>
        </p:nvSpPr>
        <p:spPr>
          <a:xfrm>
            <a:off x="2585650" y="4530550"/>
            <a:ext cx="38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 Applications</a:t>
            </a:r>
            <a:endParaRPr/>
          </a:p>
        </p:txBody>
      </p:sp>
      <p:sp>
        <p:nvSpPr>
          <p:cNvPr id="343" name="Google Shape;343;p3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Left: Old school handwriting recognition (</a:t>
            </a:r>
            <a:r>
              <a:rPr lang="en" u="sng">
                <a:solidFill>
                  <a:schemeClr val="hlink"/>
                </a:solidFill>
                <a:hlinkClick r:id="rId3"/>
              </a:rPr>
              <a:t>link</a:t>
            </a:r>
            <a:r>
              <a:rPr lang="en"/>
              <a:t>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Right: Medical imaging (e.g. arrangement of nuclei in cancer cells)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 more, see: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http://www.ics.uci.edu/~eppstein/gina/mst.html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4" name="Google Shape;34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25" y="1933775"/>
            <a:ext cx="3814826" cy="295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3000" y="2344725"/>
            <a:ext cx="4185724" cy="21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1"/>
          </p:nvPr>
        </p:nvSpPr>
        <p:spPr>
          <a:xfrm>
            <a:off x="256975" y="402199"/>
            <a:ext cx="3999900" cy="122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slides are covered in the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web videos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but we won't cover them live.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Minimum Spanning Trees vs. Shortest Paths Trees</a:t>
            </a:r>
            <a:endParaRPr/>
          </a:p>
        </p:txBody>
      </p:sp>
      <p:sp>
        <p:nvSpPr>
          <p:cNvPr id="353" name="Google Shape;353;p34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Graph Problem Warmup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C9DAF8"/>
        </a:solidFill>
        <a:effectLst/>
      </p:bgPr>
    </p:bg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</a:t>
            </a:r>
            <a:endParaRPr/>
          </a:p>
        </p:txBody>
      </p:sp>
      <p:sp>
        <p:nvSpPr>
          <p:cNvPr id="359" name="Google Shape;359;p3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MST for the graph. </a:t>
            </a:r>
            <a:endParaRPr/>
          </a:p>
        </p:txBody>
      </p:sp>
      <p:sp>
        <p:nvSpPr>
          <p:cNvPr id="360" name="Google Shape;360;p35"/>
          <p:cNvSpPr/>
          <p:nvPr/>
        </p:nvSpPr>
        <p:spPr>
          <a:xfrm>
            <a:off x="5583060" y="19569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8494535" y="21091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2" name="Google Shape;362;p35"/>
          <p:cNvCxnSpPr>
            <a:stCxn id="360" idx="3"/>
          </p:cNvCxnSpPr>
          <p:nvPr/>
        </p:nvCxnSpPr>
        <p:spPr>
          <a:xfrm>
            <a:off x="5970360" y="2109182"/>
            <a:ext cx="1452000" cy="5844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35"/>
          <p:cNvSpPr/>
          <p:nvPr/>
        </p:nvSpPr>
        <p:spPr>
          <a:xfrm>
            <a:off x="3768425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" name="Google Shape;364;p35"/>
          <p:cNvCxnSpPr>
            <a:stCxn id="363" idx="3"/>
            <a:endCxn id="360" idx="1"/>
          </p:cNvCxnSpPr>
          <p:nvPr/>
        </p:nvCxnSpPr>
        <p:spPr>
          <a:xfrm rot="10800000" flipH="1">
            <a:off x="4155725" y="2109151"/>
            <a:ext cx="1427400" cy="701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35"/>
          <p:cNvSpPr txBox="1"/>
          <p:nvPr/>
        </p:nvSpPr>
        <p:spPr>
          <a:xfrm>
            <a:off x="3492593" y="2560934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366" name="Google Shape;366;p35"/>
          <p:cNvCxnSpPr>
            <a:stCxn id="363" idx="3"/>
            <a:endCxn id="367" idx="1"/>
          </p:cNvCxnSpPr>
          <p:nvPr/>
        </p:nvCxnSpPr>
        <p:spPr>
          <a:xfrm>
            <a:off x="4155725" y="2810251"/>
            <a:ext cx="32421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8" name="Google Shape;368;p35"/>
          <p:cNvSpPr/>
          <p:nvPr/>
        </p:nvSpPr>
        <p:spPr>
          <a:xfrm>
            <a:off x="4752377" y="2268570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9" name="Google Shape;369;p35"/>
          <p:cNvSpPr/>
          <p:nvPr/>
        </p:nvSpPr>
        <p:spPr>
          <a:xfrm>
            <a:off x="5650286" y="2683800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70" name="Google Shape;370;p35"/>
          <p:cNvSpPr/>
          <p:nvPr/>
        </p:nvSpPr>
        <p:spPr>
          <a:xfrm>
            <a:off x="6483502" y="2237733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371" name="Google Shape;371;p35"/>
          <p:cNvCxnSpPr>
            <a:stCxn id="367" idx="3"/>
            <a:endCxn id="361" idx="2"/>
          </p:cNvCxnSpPr>
          <p:nvPr/>
        </p:nvCxnSpPr>
        <p:spPr>
          <a:xfrm rot="10800000" flipH="1">
            <a:off x="7784994" y="2413651"/>
            <a:ext cx="903300" cy="396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2" name="Google Shape;372;p35"/>
          <p:cNvSpPr/>
          <p:nvPr/>
        </p:nvSpPr>
        <p:spPr>
          <a:xfrm>
            <a:off x="8075215" y="2485495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67" name="Google Shape;367;p35"/>
          <p:cNvSpPr/>
          <p:nvPr/>
        </p:nvSpPr>
        <p:spPr>
          <a:xfrm>
            <a:off x="7397694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</a:t>
            </a:r>
            <a:endParaRPr/>
          </a:p>
        </p:txBody>
      </p:sp>
      <p:sp>
        <p:nvSpPr>
          <p:cNvPr id="378" name="Google Shape;378;p3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Find the MST for the graph. </a:t>
            </a:r>
            <a:endParaRPr/>
          </a:p>
        </p:txBody>
      </p:sp>
      <p:sp>
        <p:nvSpPr>
          <p:cNvPr id="379" name="Google Shape;379;p36"/>
          <p:cNvSpPr/>
          <p:nvPr/>
        </p:nvSpPr>
        <p:spPr>
          <a:xfrm>
            <a:off x="5583060" y="19569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36"/>
          <p:cNvSpPr/>
          <p:nvPr/>
        </p:nvSpPr>
        <p:spPr>
          <a:xfrm>
            <a:off x="8494535" y="21091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1" name="Google Shape;381;p36"/>
          <p:cNvCxnSpPr>
            <a:stCxn id="379" idx="3"/>
          </p:cNvCxnSpPr>
          <p:nvPr/>
        </p:nvCxnSpPr>
        <p:spPr>
          <a:xfrm>
            <a:off x="5970360" y="2109182"/>
            <a:ext cx="1452000" cy="5844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2" name="Google Shape;382;p36"/>
          <p:cNvSpPr/>
          <p:nvPr/>
        </p:nvSpPr>
        <p:spPr>
          <a:xfrm>
            <a:off x="3768425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3" name="Google Shape;383;p36"/>
          <p:cNvCxnSpPr>
            <a:stCxn id="382" idx="3"/>
            <a:endCxn id="379" idx="1"/>
          </p:cNvCxnSpPr>
          <p:nvPr/>
        </p:nvCxnSpPr>
        <p:spPr>
          <a:xfrm rot="10800000" flipH="1">
            <a:off x="4155725" y="2109151"/>
            <a:ext cx="1427400" cy="701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4" name="Google Shape;384;p36"/>
          <p:cNvSpPr txBox="1"/>
          <p:nvPr/>
        </p:nvSpPr>
        <p:spPr>
          <a:xfrm>
            <a:off x="3492593" y="2560934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385" name="Google Shape;385;p36"/>
          <p:cNvCxnSpPr>
            <a:stCxn id="382" idx="3"/>
            <a:endCxn id="386" idx="1"/>
          </p:cNvCxnSpPr>
          <p:nvPr/>
        </p:nvCxnSpPr>
        <p:spPr>
          <a:xfrm>
            <a:off x="4155725" y="2810251"/>
            <a:ext cx="32421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7" name="Google Shape;387;p36"/>
          <p:cNvSpPr/>
          <p:nvPr/>
        </p:nvSpPr>
        <p:spPr>
          <a:xfrm>
            <a:off x="4752377" y="226857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8" name="Google Shape;388;p36"/>
          <p:cNvSpPr/>
          <p:nvPr/>
        </p:nvSpPr>
        <p:spPr>
          <a:xfrm>
            <a:off x="5650286" y="26838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89" name="Google Shape;389;p36"/>
          <p:cNvSpPr/>
          <p:nvPr/>
        </p:nvSpPr>
        <p:spPr>
          <a:xfrm>
            <a:off x="6483502" y="223773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390" name="Google Shape;390;p36"/>
          <p:cNvCxnSpPr>
            <a:stCxn id="386" idx="3"/>
            <a:endCxn id="380" idx="2"/>
          </p:cNvCxnSpPr>
          <p:nvPr/>
        </p:nvCxnSpPr>
        <p:spPr>
          <a:xfrm rot="10800000" flipH="1">
            <a:off x="7784994" y="2413651"/>
            <a:ext cx="903300" cy="3966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Google Shape;391;p36"/>
          <p:cNvSpPr/>
          <p:nvPr/>
        </p:nvSpPr>
        <p:spPr>
          <a:xfrm>
            <a:off x="8075215" y="2485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86" name="Google Shape;386;p36"/>
          <p:cNvSpPr/>
          <p:nvPr/>
        </p:nvSpPr>
        <p:spPr>
          <a:xfrm>
            <a:off x="7397694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9D2E9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 vs. SPT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397" name="Google Shape;397;p3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MST for this graph also a shortest paths tree? If so, using which node as the starting node for this SPT?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No SPT is an MST.</a:t>
            </a: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5583060" y="19569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7"/>
          <p:cNvSpPr/>
          <p:nvPr/>
        </p:nvSpPr>
        <p:spPr>
          <a:xfrm>
            <a:off x="8494535" y="21091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" name="Google Shape;400;p37"/>
          <p:cNvCxnSpPr>
            <a:stCxn id="398" idx="3"/>
          </p:cNvCxnSpPr>
          <p:nvPr/>
        </p:nvCxnSpPr>
        <p:spPr>
          <a:xfrm>
            <a:off x="5970360" y="2109182"/>
            <a:ext cx="1452000" cy="5844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7"/>
          <p:cNvSpPr/>
          <p:nvPr/>
        </p:nvSpPr>
        <p:spPr>
          <a:xfrm>
            <a:off x="3768425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" name="Google Shape;402;p37"/>
          <p:cNvCxnSpPr>
            <a:stCxn id="401" idx="3"/>
            <a:endCxn id="398" idx="1"/>
          </p:cNvCxnSpPr>
          <p:nvPr/>
        </p:nvCxnSpPr>
        <p:spPr>
          <a:xfrm rot="10800000" flipH="1">
            <a:off x="4155725" y="2109151"/>
            <a:ext cx="1427400" cy="701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3" name="Google Shape;403;p37"/>
          <p:cNvSpPr txBox="1"/>
          <p:nvPr/>
        </p:nvSpPr>
        <p:spPr>
          <a:xfrm>
            <a:off x="3492593" y="2560934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404" name="Google Shape;404;p37"/>
          <p:cNvCxnSpPr>
            <a:stCxn id="401" idx="3"/>
            <a:endCxn id="405" idx="1"/>
          </p:cNvCxnSpPr>
          <p:nvPr/>
        </p:nvCxnSpPr>
        <p:spPr>
          <a:xfrm>
            <a:off x="4155725" y="2810251"/>
            <a:ext cx="32421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6" name="Google Shape;406;p37"/>
          <p:cNvSpPr/>
          <p:nvPr/>
        </p:nvSpPr>
        <p:spPr>
          <a:xfrm>
            <a:off x="4752377" y="2268570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07" name="Google Shape;407;p37"/>
          <p:cNvSpPr/>
          <p:nvPr/>
        </p:nvSpPr>
        <p:spPr>
          <a:xfrm>
            <a:off x="5650286" y="2683800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08" name="Google Shape;408;p37"/>
          <p:cNvSpPr/>
          <p:nvPr/>
        </p:nvSpPr>
        <p:spPr>
          <a:xfrm>
            <a:off x="6483502" y="223773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409" name="Google Shape;409;p37"/>
          <p:cNvCxnSpPr>
            <a:stCxn id="405" idx="3"/>
            <a:endCxn id="399" idx="2"/>
          </p:cNvCxnSpPr>
          <p:nvPr/>
        </p:nvCxnSpPr>
        <p:spPr>
          <a:xfrm rot="10800000" flipH="1">
            <a:off x="7784994" y="2413651"/>
            <a:ext cx="903300" cy="3966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0" name="Google Shape;410;p37"/>
          <p:cNvSpPr/>
          <p:nvPr/>
        </p:nvSpPr>
        <p:spPr>
          <a:xfrm>
            <a:off x="8075215" y="2485495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05" name="Google Shape;405;p37"/>
          <p:cNvSpPr/>
          <p:nvPr/>
        </p:nvSpPr>
        <p:spPr>
          <a:xfrm>
            <a:off x="7397694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 vs. SPT</a:t>
            </a:r>
            <a:endParaRPr/>
          </a:p>
        </p:txBody>
      </p:sp>
      <p:sp>
        <p:nvSpPr>
          <p:cNvPr id="416" name="Google Shape;416;p3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MST for this graph also a shortest paths tree? If so, using which node as the starting node for this SPT?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B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No SPT is an MST.</a:t>
            </a:r>
            <a:endParaRPr/>
          </a:p>
        </p:txBody>
      </p:sp>
      <p:sp>
        <p:nvSpPr>
          <p:cNvPr id="417" name="Google Shape;417;p38"/>
          <p:cNvSpPr/>
          <p:nvPr/>
        </p:nvSpPr>
        <p:spPr>
          <a:xfrm>
            <a:off x="5583060" y="19569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8494535" y="21091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" name="Google Shape;419;p38"/>
          <p:cNvCxnSpPr>
            <a:stCxn id="417" idx="3"/>
          </p:cNvCxnSpPr>
          <p:nvPr/>
        </p:nvCxnSpPr>
        <p:spPr>
          <a:xfrm>
            <a:off x="5970360" y="2109182"/>
            <a:ext cx="1452000" cy="5844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0" name="Google Shape;420;p38"/>
          <p:cNvSpPr/>
          <p:nvPr/>
        </p:nvSpPr>
        <p:spPr>
          <a:xfrm>
            <a:off x="3768425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" name="Google Shape;421;p38"/>
          <p:cNvCxnSpPr>
            <a:stCxn id="420" idx="3"/>
            <a:endCxn id="417" idx="1"/>
          </p:cNvCxnSpPr>
          <p:nvPr/>
        </p:nvCxnSpPr>
        <p:spPr>
          <a:xfrm rot="10800000" flipH="1">
            <a:off x="4155725" y="2109151"/>
            <a:ext cx="1427400" cy="701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38"/>
          <p:cNvCxnSpPr>
            <a:stCxn id="420" idx="3"/>
            <a:endCxn id="423" idx="1"/>
          </p:cNvCxnSpPr>
          <p:nvPr/>
        </p:nvCxnSpPr>
        <p:spPr>
          <a:xfrm>
            <a:off x="4155725" y="2810251"/>
            <a:ext cx="32421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38"/>
          <p:cNvSpPr/>
          <p:nvPr/>
        </p:nvSpPr>
        <p:spPr>
          <a:xfrm>
            <a:off x="4752377" y="226857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25" name="Google Shape;425;p38"/>
          <p:cNvSpPr/>
          <p:nvPr/>
        </p:nvSpPr>
        <p:spPr>
          <a:xfrm>
            <a:off x="5650286" y="26838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26" name="Google Shape;426;p38"/>
          <p:cNvSpPr/>
          <p:nvPr/>
        </p:nvSpPr>
        <p:spPr>
          <a:xfrm>
            <a:off x="6483502" y="223773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427" name="Google Shape;427;p38"/>
          <p:cNvCxnSpPr>
            <a:stCxn id="423" idx="3"/>
            <a:endCxn id="418" idx="2"/>
          </p:cNvCxnSpPr>
          <p:nvPr/>
        </p:nvCxnSpPr>
        <p:spPr>
          <a:xfrm rot="10800000" flipH="1">
            <a:off x="7784994" y="2413651"/>
            <a:ext cx="903300" cy="3966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8" name="Google Shape;428;p38"/>
          <p:cNvSpPr/>
          <p:nvPr/>
        </p:nvSpPr>
        <p:spPr>
          <a:xfrm>
            <a:off x="8075215" y="2485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23" name="Google Shape;423;p38"/>
          <p:cNvSpPr/>
          <p:nvPr/>
        </p:nvSpPr>
        <p:spPr>
          <a:xfrm>
            <a:off x="7397694" y="26580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8"/>
          <p:cNvSpPr txBox="1"/>
          <p:nvPr/>
        </p:nvSpPr>
        <p:spPr>
          <a:xfrm>
            <a:off x="7311725" y="3031325"/>
            <a:ext cx="1947900" cy="10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 = D</a:t>
            </a:r>
            <a:endParaRPr sz="2000"/>
          </a:p>
        </p:txBody>
      </p:sp>
      <p:sp>
        <p:nvSpPr>
          <p:cNvPr id="430" name="Google Shape;430;p38"/>
          <p:cNvSpPr txBox="1"/>
          <p:nvPr/>
        </p:nvSpPr>
        <p:spPr>
          <a:xfrm>
            <a:off x="4543900" y="3310075"/>
            <a:ext cx="2289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Doesn’t work for s = D!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 vs. SPT, http://yellkey.com</a:t>
            </a:r>
            <a:r>
              <a:rPr lang="en">
                <a:solidFill>
                  <a:srgbClr val="38761D"/>
                </a:solidFill>
              </a:rPr>
              <a:t>/approach</a:t>
            </a:r>
            <a:endParaRPr/>
          </a:p>
        </p:txBody>
      </p:sp>
      <p:sp>
        <p:nvSpPr>
          <p:cNvPr id="436" name="Google Shape;436;p3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the MST for this graph also a shortest paths tree? If so, using which node as the starting node for this SPT?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A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 b="1"/>
              <a:t>B</a:t>
            </a:r>
            <a:endParaRPr b="1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C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No SPT is an MST.</a:t>
            </a:r>
            <a:endParaRPr/>
          </a:p>
        </p:txBody>
      </p:sp>
      <p:sp>
        <p:nvSpPr>
          <p:cNvPr id="437" name="Google Shape;437;p39"/>
          <p:cNvSpPr/>
          <p:nvPr/>
        </p:nvSpPr>
        <p:spPr>
          <a:xfrm>
            <a:off x="5583060" y="13473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39"/>
          <p:cNvSpPr/>
          <p:nvPr/>
        </p:nvSpPr>
        <p:spPr>
          <a:xfrm>
            <a:off x="8494535" y="14995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" name="Google Shape;439;p39"/>
          <p:cNvCxnSpPr>
            <a:stCxn id="437" idx="3"/>
          </p:cNvCxnSpPr>
          <p:nvPr/>
        </p:nvCxnSpPr>
        <p:spPr>
          <a:xfrm>
            <a:off x="5970360" y="1499582"/>
            <a:ext cx="1452000" cy="5844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39"/>
          <p:cNvSpPr/>
          <p:nvPr/>
        </p:nvSpPr>
        <p:spPr>
          <a:xfrm>
            <a:off x="3768425" y="20484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9"/>
          <p:cNvCxnSpPr>
            <a:stCxn id="440" idx="3"/>
            <a:endCxn id="437" idx="1"/>
          </p:cNvCxnSpPr>
          <p:nvPr/>
        </p:nvCxnSpPr>
        <p:spPr>
          <a:xfrm rot="10800000" flipH="1">
            <a:off x="4155725" y="1499551"/>
            <a:ext cx="1427400" cy="701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2" name="Google Shape;442;p39"/>
          <p:cNvSpPr txBox="1"/>
          <p:nvPr/>
        </p:nvSpPr>
        <p:spPr>
          <a:xfrm>
            <a:off x="3492593" y="1951334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443" name="Google Shape;443;p39"/>
          <p:cNvCxnSpPr>
            <a:stCxn id="440" idx="3"/>
            <a:endCxn id="444" idx="1"/>
          </p:cNvCxnSpPr>
          <p:nvPr/>
        </p:nvCxnSpPr>
        <p:spPr>
          <a:xfrm>
            <a:off x="4155725" y="2200651"/>
            <a:ext cx="32421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5" name="Google Shape;445;p39"/>
          <p:cNvSpPr/>
          <p:nvPr/>
        </p:nvSpPr>
        <p:spPr>
          <a:xfrm>
            <a:off x="4752377" y="165897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46" name="Google Shape;446;p39"/>
          <p:cNvSpPr/>
          <p:nvPr/>
        </p:nvSpPr>
        <p:spPr>
          <a:xfrm>
            <a:off x="5650286" y="20742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47" name="Google Shape;447;p39"/>
          <p:cNvSpPr/>
          <p:nvPr/>
        </p:nvSpPr>
        <p:spPr>
          <a:xfrm>
            <a:off x="6483502" y="162813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448" name="Google Shape;448;p39"/>
          <p:cNvCxnSpPr>
            <a:stCxn id="444" idx="3"/>
            <a:endCxn id="438" idx="2"/>
          </p:cNvCxnSpPr>
          <p:nvPr/>
        </p:nvCxnSpPr>
        <p:spPr>
          <a:xfrm rot="10800000" flipH="1">
            <a:off x="7784994" y="1804051"/>
            <a:ext cx="903300" cy="3966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9" name="Google Shape;449;p39"/>
          <p:cNvSpPr/>
          <p:nvPr/>
        </p:nvSpPr>
        <p:spPr>
          <a:xfrm>
            <a:off x="8075215" y="18758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44" name="Google Shape;444;p39"/>
          <p:cNvSpPr/>
          <p:nvPr/>
        </p:nvSpPr>
        <p:spPr>
          <a:xfrm>
            <a:off x="7397694" y="20484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9"/>
          <p:cNvSpPr txBox="1"/>
          <p:nvPr/>
        </p:nvSpPr>
        <p:spPr>
          <a:xfrm>
            <a:off x="2739725" y="1445100"/>
            <a:ext cx="14160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from A</a:t>
            </a:r>
            <a:endParaRPr/>
          </a:p>
        </p:txBody>
      </p:sp>
      <p:sp>
        <p:nvSpPr>
          <p:cNvPr id="451" name="Google Shape;451;p39"/>
          <p:cNvSpPr/>
          <p:nvPr/>
        </p:nvSpPr>
        <p:spPr>
          <a:xfrm>
            <a:off x="5583060" y="24903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8494535" y="26425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" name="Google Shape;453;p39"/>
          <p:cNvCxnSpPr>
            <a:stCxn id="451" idx="3"/>
          </p:cNvCxnSpPr>
          <p:nvPr/>
        </p:nvCxnSpPr>
        <p:spPr>
          <a:xfrm>
            <a:off x="5970360" y="2642582"/>
            <a:ext cx="1452000" cy="5844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4" name="Google Shape;454;p39"/>
          <p:cNvSpPr/>
          <p:nvPr/>
        </p:nvSpPr>
        <p:spPr>
          <a:xfrm>
            <a:off x="3768425" y="31914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39"/>
          <p:cNvCxnSpPr>
            <a:stCxn id="454" idx="3"/>
            <a:endCxn id="451" idx="1"/>
          </p:cNvCxnSpPr>
          <p:nvPr/>
        </p:nvCxnSpPr>
        <p:spPr>
          <a:xfrm rot="10800000" flipH="1">
            <a:off x="4155725" y="2642551"/>
            <a:ext cx="1427400" cy="7011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39"/>
          <p:cNvCxnSpPr>
            <a:stCxn id="454" idx="3"/>
            <a:endCxn id="457" idx="1"/>
          </p:cNvCxnSpPr>
          <p:nvPr/>
        </p:nvCxnSpPr>
        <p:spPr>
          <a:xfrm>
            <a:off x="4155725" y="3343651"/>
            <a:ext cx="3242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8" name="Google Shape;458;p39"/>
          <p:cNvSpPr/>
          <p:nvPr/>
        </p:nvSpPr>
        <p:spPr>
          <a:xfrm>
            <a:off x="4752377" y="280197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59" name="Google Shape;459;p39"/>
          <p:cNvSpPr/>
          <p:nvPr/>
        </p:nvSpPr>
        <p:spPr>
          <a:xfrm>
            <a:off x="5650286" y="32172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60" name="Google Shape;460;p39"/>
          <p:cNvSpPr/>
          <p:nvPr/>
        </p:nvSpPr>
        <p:spPr>
          <a:xfrm>
            <a:off x="6483502" y="277113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461" name="Google Shape;461;p39"/>
          <p:cNvCxnSpPr>
            <a:stCxn id="457" idx="3"/>
            <a:endCxn id="452" idx="2"/>
          </p:cNvCxnSpPr>
          <p:nvPr/>
        </p:nvCxnSpPr>
        <p:spPr>
          <a:xfrm rot="10800000" flipH="1">
            <a:off x="7784994" y="2947051"/>
            <a:ext cx="903300" cy="3966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2" name="Google Shape;462;p39"/>
          <p:cNvSpPr/>
          <p:nvPr/>
        </p:nvSpPr>
        <p:spPr>
          <a:xfrm>
            <a:off x="8075215" y="30188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57" name="Google Shape;457;p39"/>
          <p:cNvSpPr/>
          <p:nvPr/>
        </p:nvSpPr>
        <p:spPr>
          <a:xfrm>
            <a:off x="7397694" y="31914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39"/>
          <p:cNvSpPr txBox="1"/>
          <p:nvPr/>
        </p:nvSpPr>
        <p:spPr>
          <a:xfrm>
            <a:off x="2739725" y="2588100"/>
            <a:ext cx="14160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from B,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</a:t>
            </a:r>
            <a:endParaRPr/>
          </a:p>
        </p:txBody>
      </p:sp>
      <p:sp>
        <p:nvSpPr>
          <p:cNvPr id="464" name="Google Shape;464;p39"/>
          <p:cNvSpPr/>
          <p:nvPr/>
        </p:nvSpPr>
        <p:spPr>
          <a:xfrm>
            <a:off x="5583060" y="3785732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8494535" y="393795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6" name="Google Shape;466;p39"/>
          <p:cNvCxnSpPr>
            <a:stCxn id="464" idx="3"/>
          </p:cNvCxnSpPr>
          <p:nvPr/>
        </p:nvCxnSpPr>
        <p:spPr>
          <a:xfrm>
            <a:off x="5970360" y="3937982"/>
            <a:ext cx="1452000" cy="5844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7" name="Google Shape;467;p39"/>
          <p:cNvSpPr/>
          <p:nvPr/>
        </p:nvSpPr>
        <p:spPr>
          <a:xfrm>
            <a:off x="3768425" y="44868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39"/>
          <p:cNvCxnSpPr>
            <a:stCxn id="467" idx="3"/>
            <a:endCxn id="464" idx="1"/>
          </p:cNvCxnSpPr>
          <p:nvPr/>
        </p:nvCxnSpPr>
        <p:spPr>
          <a:xfrm rot="10800000" flipH="1">
            <a:off x="4155725" y="3937951"/>
            <a:ext cx="1427400" cy="701100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p39"/>
          <p:cNvSpPr txBox="1"/>
          <p:nvPr/>
        </p:nvSpPr>
        <p:spPr>
          <a:xfrm>
            <a:off x="3492593" y="4389734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470" name="Google Shape;470;p39"/>
          <p:cNvCxnSpPr>
            <a:stCxn id="467" idx="3"/>
            <a:endCxn id="471" idx="1"/>
          </p:cNvCxnSpPr>
          <p:nvPr/>
        </p:nvCxnSpPr>
        <p:spPr>
          <a:xfrm>
            <a:off x="4155725" y="4639051"/>
            <a:ext cx="3242100" cy="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2" name="Google Shape;472;p39"/>
          <p:cNvSpPr/>
          <p:nvPr/>
        </p:nvSpPr>
        <p:spPr>
          <a:xfrm>
            <a:off x="4752377" y="409737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73" name="Google Shape;473;p39"/>
          <p:cNvSpPr/>
          <p:nvPr/>
        </p:nvSpPr>
        <p:spPr>
          <a:xfrm>
            <a:off x="5650286" y="45126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474" name="Google Shape;474;p39"/>
          <p:cNvSpPr/>
          <p:nvPr/>
        </p:nvSpPr>
        <p:spPr>
          <a:xfrm>
            <a:off x="6483502" y="406653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cxnSp>
        <p:nvCxnSpPr>
          <p:cNvPr id="475" name="Google Shape;475;p39"/>
          <p:cNvCxnSpPr>
            <a:stCxn id="471" idx="3"/>
            <a:endCxn id="465" idx="2"/>
          </p:cNvCxnSpPr>
          <p:nvPr/>
        </p:nvCxnSpPr>
        <p:spPr>
          <a:xfrm rot="10800000" flipH="1">
            <a:off x="7784994" y="4242451"/>
            <a:ext cx="903300" cy="396600"/>
          </a:xfrm>
          <a:prstGeom prst="straightConnector1">
            <a:avLst/>
          </a:prstGeom>
          <a:noFill/>
          <a:ln w="762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9"/>
          <p:cNvSpPr/>
          <p:nvPr/>
        </p:nvSpPr>
        <p:spPr>
          <a:xfrm>
            <a:off x="8075215" y="43142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471" name="Google Shape;471;p39"/>
          <p:cNvSpPr/>
          <p:nvPr/>
        </p:nvSpPr>
        <p:spPr>
          <a:xfrm>
            <a:off x="7397694" y="44868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9"/>
          <p:cNvSpPr txBox="1"/>
          <p:nvPr/>
        </p:nvSpPr>
        <p:spPr>
          <a:xfrm>
            <a:off x="2739725" y="3883500"/>
            <a:ext cx="14160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from 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SPT from D</a:t>
            </a:r>
            <a:endParaRPr/>
          </a:p>
        </p:txBody>
      </p:sp>
      <p:sp>
        <p:nvSpPr>
          <p:cNvPr id="478" name="Google Shape;478;p39"/>
          <p:cNvSpPr txBox="1"/>
          <p:nvPr/>
        </p:nvSpPr>
        <p:spPr>
          <a:xfrm>
            <a:off x="5265643" y="2258859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79" name="Google Shape;479;p39"/>
          <p:cNvSpPr txBox="1"/>
          <p:nvPr/>
        </p:nvSpPr>
        <p:spPr>
          <a:xfrm>
            <a:off x="7444975" y="4187099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480" name="Google Shape;480;p39"/>
          <p:cNvSpPr txBox="1"/>
          <p:nvPr/>
        </p:nvSpPr>
        <p:spPr>
          <a:xfrm>
            <a:off x="8529475" y="3630299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MST vs. SPT, http://yellkey.com</a:t>
            </a:r>
            <a:r>
              <a:rPr lang="en">
                <a:solidFill>
                  <a:srgbClr val="38761D"/>
                </a:solidFill>
              </a:rPr>
              <a:t>/approach</a:t>
            </a:r>
            <a:endParaRPr/>
          </a:p>
        </p:txBody>
      </p:sp>
      <p:sp>
        <p:nvSpPr>
          <p:cNvPr id="486" name="Google Shape;486;p40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shortest paths tree depends on the start vertex: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Because it tells you how to get from a source to EVERYTHING.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There is no source for a MST.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Nonetheless, the MST sometimes happens to be an SPT for a specific vertex.</a:t>
            </a:r>
            <a:br>
              <a:rPr lang="en"/>
            </a:b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D9D2E9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492" name="Google Shape;492;p41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valid MST for the graph below.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 B level question: Is there a node whose SPT is also the MST?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Yes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No</a:t>
            </a:r>
            <a:endParaRPr/>
          </a:p>
        </p:txBody>
      </p:sp>
      <p:sp>
        <p:nvSpPr>
          <p:cNvPr id="493" name="Google Shape;493;p41"/>
          <p:cNvSpPr/>
          <p:nvPr/>
        </p:nvSpPr>
        <p:spPr>
          <a:xfrm>
            <a:off x="4348700" y="2454925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94" name="Google Shape;494;p41"/>
          <p:cNvCxnSpPr>
            <a:stCxn id="495" idx="3"/>
            <a:endCxn id="493" idx="1"/>
          </p:cNvCxnSpPr>
          <p:nvPr/>
        </p:nvCxnSpPr>
        <p:spPr>
          <a:xfrm>
            <a:off x="3434593" y="2409808"/>
            <a:ext cx="9141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41"/>
          <p:cNvCxnSpPr>
            <a:stCxn id="497" idx="3"/>
            <a:endCxn id="493" idx="1"/>
          </p:cNvCxnSpPr>
          <p:nvPr/>
        </p:nvCxnSpPr>
        <p:spPr>
          <a:xfrm rot="10800000" flipH="1">
            <a:off x="3434593" y="2613731"/>
            <a:ext cx="9141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8" name="Google Shape;498;p41"/>
          <p:cNvSpPr/>
          <p:nvPr/>
        </p:nvSpPr>
        <p:spPr>
          <a:xfrm>
            <a:off x="56319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41"/>
          <p:cNvSpPr/>
          <p:nvPr/>
        </p:nvSpPr>
        <p:spPr>
          <a:xfrm>
            <a:off x="65596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41"/>
          <p:cNvSpPr/>
          <p:nvPr/>
        </p:nvSpPr>
        <p:spPr>
          <a:xfrm>
            <a:off x="74873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41"/>
          <p:cNvSpPr/>
          <p:nvPr/>
        </p:nvSpPr>
        <p:spPr>
          <a:xfrm>
            <a:off x="84150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41"/>
          <p:cNvSpPr/>
          <p:nvPr/>
        </p:nvSpPr>
        <p:spPr>
          <a:xfrm>
            <a:off x="56319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41"/>
          <p:cNvSpPr/>
          <p:nvPr/>
        </p:nvSpPr>
        <p:spPr>
          <a:xfrm>
            <a:off x="65596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41"/>
          <p:cNvSpPr/>
          <p:nvPr/>
        </p:nvSpPr>
        <p:spPr>
          <a:xfrm>
            <a:off x="74873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41"/>
          <p:cNvSpPr/>
          <p:nvPr/>
        </p:nvSpPr>
        <p:spPr>
          <a:xfrm>
            <a:off x="84150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6" name="Google Shape;506;p41"/>
          <p:cNvCxnSpPr>
            <a:stCxn id="498" idx="3"/>
            <a:endCxn id="499" idx="1"/>
          </p:cNvCxnSpPr>
          <p:nvPr/>
        </p:nvCxnSpPr>
        <p:spPr>
          <a:xfrm>
            <a:off x="5988325" y="2397096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7" name="Google Shape;507;p41"/>
          <p:cNvCxnSpPr>
            <a:stCxn id="499" idx="3"/>
            <a:endCxn id="500" idx="1"/>
          </p:cNvCxnSpPr>
          <p:nvPr/>
        </p:nvCxnSpPr>
        <p:spPr>
          <a:xfrm>
            <a:off x="6916025" y="2397096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8" name="Google Shape;508;p41"/>
          <p:cNvCxnSpPr>
            <a:stCxn id="502" idx="3"/>
            <a:endCxn id="503" idx="1"/>
          </p:cNvCxnSpPr>
          <p:nvPr/>
        </p:nvCxnSpPr>
        <p:spPr>
          <a:xfrm>
            <a:off x="5988325" y="2804719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9" name="Google Shape;509;p41"/>
          <p:cNvCxnSpPr>
            <a:stCxn id="503" idx="3"/>
            <a:endCxn id="504" idx="1"/>
          </p:cNvCxnSpPr>
          <p:nvPr/>
        </p:nvCxnSpPr>
        <p:spPr>
          <a:xfrm>
            <a:off x="6916025" y="2804719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0" name="Google Shape;510;p41"/>
          <p:cNvCxnSpPr/>
          <p:nvPr/>
        </p:nvCxnSpPr>
        <p:spPr>
          <a:xfrm>
            <a:off x="8173925" y="2346225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1" name="Google Shape;511;p41"/>
          <p:cNvCxnSpPr>
            <a:stCxn id="500" idx="3"/>
            <a:endCxn id="501" idx="1"/>
          </p:cNvCxnSpPr>
          <p:nvPr/>
        </p:nvCxnSpPr>
        <p:spPr>
          <a:xfrm>
            <a:off x="7843725" y="2397096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41"/>
          <p:cNvCxnSpPr>
            <a:stCxn id="504" idx="3"/>
            <a:endCxn id="505" idx="1"/>
          </p:cNvCxnSpPr>
          <p:nvPr/>
        </p:nvCxnSpPr>
        <p:spPr>
          <a:xfrm>
            <a:off x="7843725" y="2804719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3" name="Google Shape;513;p41"/>
          <p:cNvCxnSpPr>
            <a:stCxn id="501" idx="2"/>
            <a:endCxn id="505" idx="0"/>
          </p:cNvCxnSpPr>
          <p:nvPr/>
        </p:nvCxnSpPr>
        <p:spPr>
          <a:xfrm>
            <a:off x="8593225" y="2555796"/>
            <a:ext cx="0" cy="9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4" name="Google Shape;514;p41"/>
          <p:cNvCxnSpPr>
            <a:stCxn id="493" idx="3"/>
            <a:endCxn id="498" idx="1"/>
          </p:cNvCxnSpPr>
          <p:nvPr/>
        </p:nvCxnSpPr>
        <p:spPr>
          <a:xfrm rot="10800000" flipH="1">
            <a:off x="4705100" y="2397025"/>
            <a:ext cx="926700" cy="21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5" name="Google Shape;515;p41"/>
          <p:cNvCxnSpPr>
            <a:stCxn id="493" idx="3"/>
            <a:endCxn id="502" idx="1"/>
          </p:cNvCxnSpPr>
          <p:nvPr/>
        </p:nvCxnSpPr>
        <p:spPr>
          <a:xfrm>
            <a:off x="4705100" y="2613625"/>
            <a:ext cx="926700" cy="191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6" name="Google Shape;516;p41"/>
          <p:cNvSpPr/>
          <p:nvPr/>
        </p:nvSpPr>
        <p:spPr>
          <a:xfrm>
            <a:off x="2950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41"/>
          <p:cNvSpPr/>
          <p:nvPr/>
        </p:nvSpPr>
        <p:spPr>
          <a:xfrm>
            <a:off x="12227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41"/>
          <p:cNvSpPr/>
          <p:nvPr/>
        </p:nvSpPr>
        <p:spPr>
          <a:xfrm>
            <a:off x="21504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1"/>
          <p:cNvSpPr/>
          <p:nvPr/>
        </p:nvSpPr>
        <p:spPr>
          <a:xfrm>
            <a:off x="30781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41"/>
          <p:cNvSpPr/>
          <p:nvPr/>
        </p:nvSpPr>
        <p:spPr>
          <a:xfrm>
            <a:off x="2950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41"/>
          <p:cNvSpPr/>
          <p:nvPr/>
        </p:nvSpPr>
        <p:spPr>
          <a:xfrm>
            <a:off x="12227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41"/>
          <p:cNvSpPr/>
          <p:nvPr/>
        </p:nvSpPr>
        <p:spPr>
          <a:xfrm>
            <a:off x="21504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41"/>
          <p:cNvSpPr/>
          <p:nvPr/>
        </p:nvSpPr>
        <p:spPr>
          <a:xfrm>
            <a:off x="30781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22" name="Google Shape;522;p41"/>
          <p:cNvCxnSpPr>
            <a:stCxn id="516" idx="3"/>
            <a:endCxn id="517" idx="1"/>
          </p:cNvCxnSpPr>
          <p:nvPr/>
        </p:nvCxnSpPr>
        <p:spPr>
          <a:xfrm>
            <a:off x="651493" y="2409808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3" name="Google Shape;523;p41"/>
          <p:cNvCxnSpPr>
            <a:stCxn id="517" idx="3"/>
            <a:endCxn id="518" idx="1"/>
          </p:cNvCxnSpPr>
          <p:nvPr/>
        </p:nvCxnSpPr>
        <p:spPr>
          <a:xfrm>
            <a:off x="1579193" y="2409808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41"/>
          <p:cNvCxnSpPr>
            <a:stCxn id="519" idx="3"/>
            <a:endCxn id="520" idx="1"/>
          </p:cNvCxnSpPr>
          <p:nvPr/>
        </p:nvCxnSpPr>
        <p:spPr>
          <a:xfrm>
            <a:off x="651493" y="2817431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41"/>
          <p:cNvCxnSpPr>
            <a:stCxn id="520" idx="3"/>
            <a:endCxn id="521" idx="1"/>
          </p:cNvCxnSpPr>
          <p:nvPr/>
        </p:nvCxnSpPr>
        <p:spPr>
          <a:xfrm>
            <a:off x="1579193" y="2817431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41"/>
          <p:cNvCxnSpPr/>
          <p:nvPr/>
        </p:nvCxnSpPr>
        <p:spPr>
          <a:xfrm>
            <a:off x="2837093" y="2358938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41"/>
          <p:cNvCxnSpPr>
            <a:stCxn id="518" idx="3"/>
            <a:endCxn id="495" idx="1"/>
          </p:cNvCxnSpPr>
          <p:nvPr/>
        </p:nvCxnSpPr>
        <p:spPr>
          <a:xfrm>
            <a:off x="2506893" y="2409808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41"/>
          <p:cNvCxnSpPr>
            <a:stCxn id="521" idx="3"/>
            <a:endCxn id="497" idx="1"/>
          </p:cNvCxnSpPr>
          <p:nvPr/>
        </p:nvCxnSpPr>
        <p:spPr>
          <a:xfrm>
            <a:off x="2506893" y="2817431"/>
            <a:ext cx="571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41"/>
          <p:cNvCxnSpPr>
            <a:stCxn id="516" idx="2"/>
            <a:endCxn id="519" idx="0"/>
          </p:cNvCxnSpPr>
          <p:nvPr/>
        </p:nvCxnSpPr>
        <p:spPr>
          <a:xfrm>
            <a:off x="473293" y="2568508"/>
            <a:ext cx="0" cy="9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p41"/>
          <p:cNvSpPr/>
          <p:nvPr/>
        </p:nvSpPr>
        <p:spPr>
          <a:xfrm>
            <a:off x="3669086" y="2609124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31" name="Google Shape;531;p41"/>
          <p:cNvSpPr/>
          <p:nvPr/>
        </p:nvSpPr>
        <p:spPr>
          <a:xfrm>
            <a:off x="3669086" y="2346611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32" name="Google Shape;532;p41"/>
          <p:cNvSpPr/>
          <p:nvPr/>
        </p:nvSpPr>
        <p:spPr>
          <a:xfrm>
            <a:off x="5128190" y="2609124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33" name="Google Shape;533;p41"/>
          <p:cNvSpPr/>
          <p:nvPr/>
        </p:nvSpPr>
        <p:spPr>
          <a:xfrm>
            <a:off x="5128190" y="2346611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34" name="Google Shape;534;p41"/>
          <p:cNvSpPr/>
          <p:nvPr/>
        </p:nvSpPr>
        <p:spPr>
          <a:xfrm>
            <a:off x="2666090" y="2690974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35" name="Google Shape;535;p41"/>
          <p:cNvSpPr/>
          <p:nvPr/>
        </p:nvSpPr>
        <p:spPr>
          <a:xfrm>
            <a:off x="2666090" y="225638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36" name="Google Shape;536;p41"/>
          <p:cNvSpPr/>
          <p:nvPr/>
        </p:nvSpPr>
        <p:spPr>
          <a:xfrm>
            <a:off x="1740386" y="2278992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37" name="Google Shape;537;p41"/>
          <p:cNvSpPr/>
          <p:nvPr/>
        </p:nvSpPr>
        <p:spPr>
          <a:xfrm>
            <a:off x="1740386" y="271358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38" name="Google Shape;538;p41"/>
          <p:cNvSpPr/>
          <p:nvPr/>
        </p:nvSpPr>
        <p:spPr>
          <a:xfrm>
            <a:off x="825986" y="2278992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39" name="Google Shape;539;p41"/>
          <p:cNvSpPr/>
          <p:nvPr/>
        </p:nvSpPr>
        <p:spPr>
          <a:xfrm>
            <a:off x="825986" y="271358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0" name="Google Shape;540;p41"/>
          <p:cNvSpPr/>
          <p:nvPr/>
        </p:nvSpPr>
        <p:spPr>
          <a:xfrm>
            <a:off x="6147536" y="2239309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1" name="Google Shape;541;p41"/>
          <p:cNvSpPr/>
          <p:nvPr/>
        </p:nvSpPr>
        <p:spPr>
          <a:xfrm>
            <a:off x="6147536" y="2673900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2" name="Google Shape;542;p41"/>
          <p:cNvSpPr/>
          <p:nvPr/>
        </p:nvSpPr>
        <p:spPr>
          <a:xfrm>
            <a:off x="7061936" y="225061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3" name="Google Shape;543;p41"/>
          <p:cNvSpPr/>
          <p:nvPr/>
        </p:nvSpPr>
        <p:spPr>
          <a:xfrm>
            <a:off x="7061936" y="2685204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4" name="Google Shape;544;p41"/>
          <p:cNvSpPr/>
          <p:nvPr/>
        </p:nvSpPr>
        <p:spPr>
          <a:xfrm>
            <a:off x="7987640" y="2242239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5" name="Google Shape;545;p41"/>
          <p:cNvSpPr/>
          <p:nvPr/>
        </p:nvSpPr>
        <p:spPr>
          <a:xfrm>
            <a:off x="7987640" y="2676831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46" name="Google Shape;546;p41"/>
          <p:cNvSpPr/>
          <p:nvPr/>
        </p:nvSpPr>
        <p:spPr>
          <a:xfrm>
            <a:off x="-12214" y="2484983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547" name="Google Shape;547;p41"/>
          <p:cNvSpPr/>
          <p:nvPr/>
        </p:nvSpPr>
        <p:spPr>
          <a:xfrm>
            <a:off x="8813136" y="2474508"/>
            <a:ext cx="252900" cy="252900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D9D2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</a:t>
            </a:r>
            <a:endParaRPr/>
          </a:p>
        </p:txBody>
      </p:sp>
      <p:sp>
        <p:nvSpPr>
          <p:cNvPr id="553" name="Google Shape;553;p4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valid MST for the graph below.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 node whose SPT is also the MST? [see next slide]</a:t>
            </a:r>
            <a:endParaRPr/>
          </a:p>
        </p:txBody>
      </p:sp>
      <p:sp>
        <p:nvSpPr>
          <p:cNvPr id="554" name="Google Shape;554;p42"/>
          <p:cNvSpPr/>
          <p:nvPr/>
        </p:nvSpPr>
        <p:spPr>
          <a:xfrm>
            <a:off x="4348700" y="2454925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55" name="Google Shape;555;p42"/>
          <p:cNvCxnSpPr>
            <a:stCxn id="556" idx="3"/>
            <a:endCxn id="554" idx="1"/>
          </p:cNvCxnSpPr>
          <p:nvPr/>
        </p:nvCxnSpPr>
        <p:spPr>
          <a:xfrm>
            <a:off x="3434593" y="2409808"/>
            <a:ext cx="914100" cy="20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2"/>
          <p:cNvCxnSpPr>
            <a:stCxn id="558" idx="3"/>
            <a:endCxn id="554" idx="1"/>
          </p:cNvCxnSpPr>
          <p:nvPr/>
        </p:nvCxnSpPr>
        <p:spPr>
          <a:xfrm rot="10800000" flipH="1">
            <a:off x="3434593" y="2613731"/>
            <a:ext cx="9141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9" name="Google Shape;559;p42"/>
          <p:cNvSpPr/>
          <p:nvPr/>
        </p:nvSpPr>
        <p:spPr>
          <a:xfrm>
            <a:off x="56319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42"/>
          <p:cNvSpPr/>
          <p:nvPr/>
        </p:nvSpPr>
        <p:spPr>
          <a:xfrm>
            <a:off x="65596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42"/>
          <p:cNvSpPr/>
          <p:nvPr/>
        </p:nvSpPr>
        <p:spPr>
          <a:xfrm>
            <a:off x="74873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42"/>
          <p:cNvSpPr/>
          <p:nvPr/>
        </p:nvSpPr>
        <p:spPr>
          <a:xfrm>
            <a:off x="84150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42"/>
          <p:cNvSpPr/>
          <p:nvPr/>
        </p:nvSpPr>
        <p:spPr>
          <a:xfrm>
            <a:off x="56319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42"/>
          <p:cNvSpPr/>
          <p:nvPr/>
        </p:nvSpPr>
        <p:spPr>
          <a:xfrm>
            <a:off x="65596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42"/>
          <p:cNvSpPr/>
          <p:nvPr/>
        </p:nvSpPr>
        <p:spPr>
          <a:xfrm>
            <a:off x="74873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42"/>
          <p:cNvSpPr/>
          <p:nvPr/>
        </p:nvSpPr>
        <p:spPr>
          <a:xfrm>
            <a:off x="84150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67" name="Google Shape;567;p42"/>
          <p:cNvCxnSpPr>
            <a:stCxn id="559" idx="3"/>
            <a:endCxn id="560" idx="1"/>
          </p:cNvCxnSpPr>
          <p:nvPr/>
        </p:nvCxnSpPr>
        <p:spPr>
          <a:xfrm>
            <a:off x="59883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8" name="Google Shape;568;p42"/>
          <p:cNvCxnSpPr>
            <a:stCxn id="560" idx="3"/>
            <a:endCxn id="561" idx="1"/>
          </p:cNvCxnSpPr>
          <p:nvPr/>
        </p:nvCxnSpPr>
        <p:spPr>
          <a:xfrm>
            <a:off x="69160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9" name="Google Shape;569;p42"/>
          <p:cNvCxnSpPr>
            <a:stCxn id="563" idx="3"/>
            <a:endCxn id="564" idx="1"/>
          </p:cNvCxnSpPr>
          <p:nvPr/>
        </p:nvCxnSpPr>
        <p:spPr>
          <a:xfrm>
            <a:off x="59883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0" name="Google Shape;570;p42"/>
          <p:cNvCxnSpPr>
            <a:stCxn id="564" idx="3"/>
            <a:endCxn id="565" idx="1"/>
          </p:cNvCxnSpPr>
          <p:nvPr/>
        </p:nvCxnSpPr>
        <p:spPr>
          <a:xfrm>
            <a:off x="69160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42"/>
          <p:cNvCxnSpPr/>
          <p:nvPr/>
        </p:nvCxnSpPr>
        <p:spPr>
          <a:xfrm>
            <a:off x="8173925" y="2346225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42"/>
          <p:cNvCxnSpPr>
            <a:stCxn id="561" idx="3"/>
            <a:endCxn id="562" idx="1"/>
          </p:cNvCxnSpPr>
          <p:nvPr/>
        </p:nvCxnSpPr>
        <p:spPr>
          <a:xfrm>
            <a:off x="78437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3" name="Google Shape;573;p42"/>
          <p:cNvCxnSpPr>
            <a:stCxn id="565" idx="3"/>
            <a:endCxn id="566" idx="1"/>
          </p:cNvCxnSpPr>
          <p:nvPr/>
        </p:nvCxnSpPr>
        <p:spPr>
          <a:xfrm>
            <a:off x="78437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4" name="Google Shape;574;p42"/>
          <p:cNvCxnSpPr>
            <a:stCxn id="562" idx="2"/>
            <a:endCxn id="566" idx="0"/>
          </p:cNvCxnSpPr>
          <p:nvPr/>
        </p:nvCxnSpPr>
        <p:spPr>
          <a:xfrm>
            <a:off x="8593225" y="2555796"/>
            <a:ext cx="0" cy="9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5" name="Google Shape;575;p42"/>
          <p:cNvCxnSpPr>
            <a:stCxn id="554" idx="3"/>
            <a:endCxn id="559" idx="1"/>
          </p:cNvCxnSpPr>
          <p:nvPr/>
        </p:nvCxnSpPr>
        <p:spPr>
          <a:xfrm rot="10800000" flipH="1">
            <a:off x="4705100" y="2397025"/>
            <a:ext cx="926700" cy="21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6" name="Google Shape;576;p42"/>
          <p:cNvCxnSpPr>
            <a:stCxn id="554" idx="3"/>
            <a:endCxn id="563" idx="1"/>
          </p:cNvCxnSpPr>
          <p:nvPr/>
        </p:nvCxnSpPr>
        <p:spPr>
          <a:xfrm>
            <a:off x="4705100" y="2613625"/>
            <a:ext cx="926700" cy="191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7" name="Google Shape;577;p42"/>
          <p:cNvSpPr/>
          <p:nvPr/>
        </p:nvSpPr>
        <p:spPr>
          <a:xfrm>
            <a:off x="2950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42"/>
          <p:cNvSpPr/>
          <p:nvPr/>
        </p:nvSpPr>
        <p:spPr>
          <a:xfrm>
            <a:off x="12227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42"/>
          <p:cNvSpPr/>
          <p:nvPr/>
        </p:nvSpPr>
        <p:spPr>
          <a:xfrm>
            <a:off x="21504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42"/>
          <p:cNvSpPr/>
          <p:nvPr/>
        </p:nvSpPr>
        <p:spPr>
          <a:xfrm>
            <a:off x="30781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2"/>
          <p:cNvSpPr/>
          <p:nvPr/>
        </p:nvSpPr>
        <p:spPr>
          <a:xfrm>
            <a:off x="2950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42"/>
          <p:cNvSpPr/>
          <p:nvPr/>
        </p:nvSpPr>
        <p:spPr>
          <a:xfrm>
            <a:off x="12227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42"/>
          <p:cNvSpPr/>
          <p:nvPr/>
        </p:nvSpPr>
        <p:spPr>
          <a:xfrm>
            <a:off x="21504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30781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83" name="Google Shape;583;p42"/>
          <p:cNvCxnSpPr>
            <a:stCxn id="577" idx="3"/>
            <a:endCxn id="578" idx="1"/>
          </p:cNvCxnSpPr>
          <p:nvPr/>
        </p:nvCxnSpPr>
        <p:spPr>
          <a:xfrm>
            <a:off x="6514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42"/>
          <p:cNvCxnSpPr>
            <a:stCxn id="578" idx="3"/>
            <a:endCxn id="579" idx="1"/>
          </p:cNvCxnSpPr>
          <p:nvPr/>
        </p:nvCxnSpPr>
        <p:spPr>
          <a:xfrm>
            <a:off x="15791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42"/>
          <p:cNvCxnSpPr>
            <a:stCxn id="580" idx="3"/>
            <a:endCxn id="581" idx="1"/>
          </p:cNvCxnSpPr>
          <p:nvPr/>
        </p:nvCxnSpPr>
        <p:spPr>
          <a:xfrm>
            <a:off x="6514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42"/>
          <p:cNvCxnSpPr>
            <a:stCxn id="581" idx="3"/>
            <a:endCxn id="582" idx="1"/>
          </p:cNvCxnSpPr>
          <p:nvPr/>
        </p:nvCxnSpPr>
        <p:spPr>
          <a:xfrm>
            <a:off x="15791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7" name="Google Shape;587;p42"/>
          <p:cNvCxnSpPr/>
          <p:nvPr/>
        </p:nvCxnSpPr>
        <p:spPr>
          <a:xfrm>
            <a:off x="2837093" y="2358938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8" name="Google Shape;588;p42"/>
          <p:cNvCxnSpPr>
            <a:stCxn id="579" idx="3"/>
            <a:endCxn id="556" idx="1"/>
          </p:cNvCxnSpPr>
          <p:nvPr/>
        </p:nvCxnSpPr>
        <p:spPr>
          <a:xfrm>
            <a:off x="25068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9" name="Google Shape;589;p42"/>
          <p:cNvCxnSpPr>
            <a:stCxn id="582" idx="3"/>
            <a:endCxn id="558" idx="1"/>
          </p:cNvCxnSpPr>
          <p:nvPr/>
        </p:nvCxnSpPr>
        <p:spPr>
          <a:xfrm>
            <a:off x="25068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42"/>
          <p:cNvCxnSpPr>
            <a:stCxn id="577" idx="2"/>
            <a:endCxn id="580" idx="0"/>
          </p:cNvCxnSpPr>
          <p:nvPr/>
        </p:nvCxnSpPr>
        <p:spPr>
          <a:xfrm>
            <a:off x="473293" y="2568508"/>
            <a:ext cx="0" cy="9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1" name="Google Shape;591;p42"/>
          <p:cNvSpPr/>
          <p:nvPr/>
        </p:nvSpPr>
        <p:spPr>
          <a:xfrm>
            <a:off x="3669086" y="26091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92" name="Google Shape;592;p42"/>
          <p:cNvSpPr/>
          <p:nvPr/>
        </p:nvSpPr>
        <p:spPr>
          <a:xfrm>
            <a:off x="3669086" y="23466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93" name="Google Shape;593;p42"/>
          <p:cNvSpPr/>
          <p:nvPr/>
        </p:nvSpPr>
        <p:spPr>
          <a:xfrm>
            <a:off x="5128190" y="26091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94" name="Google Shape;594;p42"/>
          <p:cNvSpPr/>
          <p:nvPr/>
        </p:nvSpPr>
        <p:spPr>
          <a:xfrm>
            <a:off x="5128190" y="23466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595" name="Google Shape;595;p42"/>
          <p:cNvSpPr/>
          <p:nvPr/>
        </p:nvSpPr>
        <p:spPr>
          <a:xfrm>
            <a:off x="2666090" y="269097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96" name="Google Shape;596;p42"/>
          <p:cNvSpPr/>
          <p:nvPr/>
        </p:nvSpPr>
        <p:spPr>
          <a:xfrm>
            <a:off x="2666090" y="22563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97" name="Google Shape;597;p42"/>
          <p:cNvSpPr/>
          <p:nvPr/>
        </p:nvSpPr>
        <p:spPr>
          <a:xfrm>
            <a:off x="1740386" y="22789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98" name="Google Shape;598;p42"/>
          <p:cNvSpPr/>
          <p:nvPr/>
        </p:nvSpPr>
        <p:spPr>
          <a:xfrm>
            <a:off x="1740386" y="27135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599" name="Google Shape;599;p42"/>
          <p:cNvSpPr/>
          <p:nvPr/>
        </p:nvSpPr>
        <p:spPr>
          <a:xfrm>
            <a:off x="825986" y="22789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0" name="Google Shape;600;p42"/>
          <p:cNvSpPr/>
          <p:nvPr/>
        </p:nvSpPr>
        <p:spPr>
          <a:xfrm>
            <a:off x="825986" y="27135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1" name="Google Shape;601;p42"/>
          <p:cNvSpPr/>
          <p:nvPr/>
        </p:nvSpPr>
        <p:spPr>
          <a:xfrm>
            <a:off x="6147536" y="223930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2" name="Google Shape;602;p42"/>
          <p:cNvSpPr/>
          <p:nvPr/>
        </p:nvSpPr>
        <p:spPr>
          <a:xfrm>
            <a:off x="6147536" y="26739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3" name="Google Shape;603;p42"/>
          <p:cNvSpPr/>
          <p:nvPr/>
        </p:nvSpPr>
        <p:spPr>
          <a:xfrm>
            <a:off x="7061936" y="225061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4" name="Google Shape;604;p42"/>
          <p:cNvSpPr/>
          <p:nvPr/>
        </p:nvSpPr>
        <p:spPr>
          <a:xfrm>
            <a:off x="7061936" y="268520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5" name="Google Shape;605;p42"/>
          <p:cNvSpPr/>
          <p:nvPr/>
        </p:nvSpPr>
        <p:spPr>
          <a:xfrm>
            <a:off x="7987640" y="224223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6" name="Google Shape;606;p42"/>
          <p:cNvSpPr/>
          <p:nvPr/>
        </p:nvSpPr>
        <p:spPr>
          <a:xfrm>
            <a:off x="7987640" y="267683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07" name="Google Shape;607;p42"/>
          <p:cNvSpPr/>
          <p:nvPr/>
        </p:nvSpPr>
        <p:spPr>
          <a:xfrm>
            <a:off x="-12214" y="24849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608" name="Google Shape;608;p42"/>
          <p:cNvSpPr/>
          <p:nvPr/>
        </p:nvSpPr>
        <p:spPr>
          <a:xfrm>
            <a:off x="8813136" y="2474508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Spanning Tree</a:t>
            </a:r>
            <a:endParaRPr/>
          </a:p>
        </p:txBody>
      </p:sp>
      <p:sp>
        <p:nvSpPr>
          <p:cNvPr id="614" name="Google Shape;614;p43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 a valid MST for the graph below.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 there a node whose SPT is also the MST?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No! </a:t>
            </a:r>
            <a:r>
              <a:rPr lang="en"/>
              <a:t>Minimum spanning tree must include only 2 of the 2 weight edges, but the SPT always includes at least 3 of the 2 weight edges.</a:t>
            </a:r>
            <a:endParaRPr/>
          </a:p>
        </p:txBody>
      </p:sp>
      <p:sp>
        <p:nvSpPr>
          <p:cNvPr id="615" name="Google Shape;615;p43"/>
          <p:cNvSpPr/>
          <p:nvPr/>
        </p:nvSpPr>
        <p:spPr>
          <a:xfrm>
            <a:off x="4348700" y="2454925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6" name="Google Shape;616;p43"/>
          <p:cNvCxnSpPr>
            <a:stCxn id="617" idx="3"/>
            <a:endCxn id="615" idx="1"/>
          </p:cNvCxnSpPr>
          <p:nvPr/>
        </p:nvCxnSpPr>
        <p:spPr>
          <a:xfrm>
            <a:off x="3434593" y="2409808"/>
            <a:ext cx="914100" cy="20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8" name="Google Shape;618;p43"/>
          <p:cNvCxnSpPr>
            <a:stCxn id="619" idx="3"/>
            <a:endCxn id="615" idx="1"/>
          </p:cNvCxnSpPr>
          <p:nvPr/>
        </p:nvCxnSpPr>
        <p:spPr>
          <a:xfrm rot="10800000" flipH="1">
            <a:off x="3434593" y="2613731"/>
            <a:ext cx="9141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0" name="Google Shape;620;p43"/>
          <p:cNvSpPr/>
          <p:nvPr/>
        </p:nvSpPr>
        <p:spPr>
          <a:xfrm>
            <a:off x="56319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43"/>
          <p:cNvSpPr/>
          <p:nvPr/>
        </p:nvSpPr>
        <p:spPr>
          <a:xfrm>
            <a:off x="65596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43"/>
          <p:cNvSpPr/>
          <p:nvPr/>
        </p:nvSpPr>
        <p:spPr>
          <a:xfrm>
            <a:off x="74873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3"/>
          <p:cNvSpPr/>
          <p:nvPr/>
        </p:nvSpPr>
        <p:spPr>
          <a:xfrm>
            <a:off x="8415025" y="22383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43"/>
          <p:cNvSpPr/>
          <p:nvPr/>
        </p:nvSpPr>
        <p:spPr>
          <a:xfrm>
            <a:off x="56319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3"/>
          <p:cNvSpPr/>
          <p:nvPr/>
        </p:nvSpPr>
        <p:spPr>
          <a:xfrm>
            <a:off x="65596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43"/>
          <p:cNvSpPr/>
          <p:nvPr/>
        </p:nvSpPr>
        <p:spPr>
          <a:xfrm>
            <a:off x="74873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43"/>
          <p:cNvSpPr/>
          <p:nvPr/>
        </p:nvSpPr>
        <p:spPr>
          <a:xfrm>
            <a:off x="8415025" y="26460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28" name="Google Shape;628;p43"/>
          <p:cNvCxnSpPr>
            <a:stCxn id="620" idx="3"/>
            <a:endCxn id="621" idx="1"/>
          </p:cNvCxnSpPr>
          <p:nvPr/>
        </p:nvCxnSpPr>
        <p:spPr>
          <a:xfrm>
            <a:off x="59883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9" name="Google Shape;629;p43"/>
          <p:cNvCxnSpPr>
            <a:stCxn id="621" idx="3"/>
            <a:endCxn id="622" idx="1"/>
          </p:cNvCxnSpPr>
          <p:nvPr/>
        </p:nvCxnSpPr>
        <p:spPr>
          <a:xfrm>
            <a:off x="69160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0" name="Google Shape;630;p43"/>
          <p:cNvCxnSpPr>
            <a:stCxn id="624" idx="3"/>
            <a:endCxn id="625" idx="1"/>
          </p:cNvCxnSpPr>
          <p:nvPr/>
        </p:nvCxnSpPr>
        <p:spPr>
          <a:xfrm>
            <a:off x="59883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1" name="Google Shape;631;p43"/>
          <p:cNvCxnSpPr>
            <a:stCxn id="625" idx="3"/>
            <a:endCxn id="626" idx="1"/>
          </p:cNvCxnSpPr>
          <p:nvPr/>
        </p:nvCxnSpPr>
        <p:spPr>
          <a:xfrm>
            <a:off x="69160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2" name="Google Shape;632;p43"/>
          <p:cNvCxnSpPr/>
          <p:nvPr/>
        </p:nvCxnSpPr>
        <p:spPr>
          <a:xfrm>
            <a:off x="8173925" y="2346225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3" name="Google Shape;633;p43"/>
          <p:cNvCxnSpPr>
            <a:stCxn id="622" idx="3"/>
            <a:endCxn id="623" idx="1"/>
          </p:cNvCxnSpPr>
          <p:nvPr/>
        </p:nvCxnSpPr>
        <p:spPr>
          <a:xfrm>
            <a:off x="7843725" y="23970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4" name="Google Shape;634;p43"/>
          <p:cNvCxnSpPr>
            <a:stCxn id="626" idx="3"/>
            <a:endCxn id="627" idx="1"/>
          </p:cNvCxnSpPr>
          <p:nvPr/>
        </p:nvCxnSpPr>
        <p:spPr>
          <a:xfrm>
            <a:off x="7843725" y="28047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5" name="Google Shape;635;p43"/>
          <p:cNvCxnSpPr>
            <a:stCxn id="623" idx="2"/>
            <a:endCxn id="627" idx="0"/>
          </p:cNvCxnSpPr>
          <p:nvPr/>
        </p:nvCxnSpPr>
        <p:spPr>
          <a:xfrm>
            <a:off x="8593225" y="2555796"/>
            <a:ext cx="0" cy="9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43"/>
          <p:cNvCxnSpPr>
            <a:stCxn id="615" idx="3"/>
            <a:endCxn id="620" idx="1"/>
          </p:cNvCxnSpPr>
          <p:nvPr/>
        </p:nvCxnSpPr>
        <p:spPr>
          <a:xfrm rot="10800000" flipH="1">
            <a:off x="4705100" y="2397025"/>
            <a:ext cx="926700" cy="216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7" name="Google Shape;637;p43"/>
          <p:cNvCxnSpPr>
            <a:stCxn id="615" idx="3"/>
            <a:endCxn id="624" idx="1"/>
          </p:cNvCxnSpPr>
          <p:nvPr/>
        </p:nvCxnSpPr>
        <p:spPr>
          <a:xfrm>
            <a:off x="4705100" y="2613625"/>
            <a:ext cx="926700" cy="191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8" name="Google Shape;638;p43"/>
          <p:cNvSpPr/>
          <p:nvPr/>
        </p:nvSpPr>
        <p:spPr>
          <a:xfrm>
            <a:off x="2950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3"/>
          <p:cNvSpPr/>
          <p:nvPr/>
        </p:nvSpPr>
        <p:spPr>
          <a:xfrm>
            <a:off x="12227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3"/>
          <p:cNvSpPr/>
          <p:nvPr/>
        </p:nvSpPr>
        <p:spPr>
          <a:xfrm>
            <a:off x="21504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43"/>
          <p:cNvSpPr/>
          <p:nvPr/>
        </p:nvSpPr>
        <p:spPr>
          <a:xfrm>
            <a:off x="3078193" y="22511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3"/>
          <p:cNvSpPr/>
          <p:nvPr/>
        </p:nvSpPr>
        <p:spPr>
          <a:xfrm>
            <a:off x="2950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3"/>
          <p:cNvSpPr/>
          <p:nvPr/>
        </p:nvSpPr>
        <p:spPr>
          <a:xfrm>
            <a:off x="12227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3"/>
          <p:cNvSpPr/>
          <p:nvPr/>
        </p:nvSpPr>
        <p:spPr>
          <a:xfrm>
            <a:off x="21504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43"/>
          <p:cNvSpPr/>
          <p:nvPr/>
        </p:nvSpPr>
        <p:spPr>
          <a:xfrm>
            <a:off x="3078193" y="26587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4" name="Google Shape;644;p43"/>
          <p:cNvCxnSpPr>
            <a:stCxn id="638" idx="3"/>
            <a:endCxn id="639" idx="1"/>
          </p:cNvCxnSpPr>
          <p:nvPr/>
        </p:nvCxnSpPr>
        <p:spPr>
          <a:xfrm>
            <a:off x="6514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43"/>
          <p:cNvCxnSpPr>
            <a:stCxn id="639" idx="3"/>
            <a:endCxn id="640" idx="1"/>
          </p:cNvCxnSpPr>
          <p:nvPr/>
        </p:nvCxnSpPr>
        <p:spPr>
          <a:xfrm>
            <a:off x="15791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6" name="Google Shape;646;p43"/>
          <p:cNvCxnSpPr>
            <a:stCxn id="641" idx="3"/>
            <a:endCxn id="642" idx="1"/>
          </p:cNvCxnSpPr>
          <p:nvPr/>
        </p:nvCxnSpPr>
        <p:spPr>
          <a:xfrm>
            <a:off x="6514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43"/>
          <p:cNvCxnSpPr>
            <a:stCxn id="642" idx="3"/>
            <a:endCxn id="643" idx="1"/>
          </p:cNvCxnSpPr>
          <p:nvPr/>
        </p:nvCxnSpPr>
        <p:spPr>
          <a:xfrm>
            <a:off x="15791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8" name="Google Shape;648;p43"/>
          <p:cNvCxnSpPr/>
          <p:nvPr/>
        </p:nvCxnSpPr>
        <p:spPr>
          <a:xfrm>
            <a:off x="2837093" y="2358938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9" name="Google Shape;649;p43"/>
          <p:cNvCxnSpPr>
            <a:stCxn id="640" idx="3"/>
            <a:endCxn id="617" idx="1"/>
          </p:cNvCxnSpPr>
          <p:nvPr/>
        </p:nvCxnSpPr>
        <p:spPr>
          <a:xfrm>
            <a:off x="2506893" y="24098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43"/>
          <p:cNvCxnSpPr>
            <a:stCxn id="643" idx="3"/>
            <a:endCxn id="619" idx="1"/>
          </p:cNvCxnSpPr>
          <p:nvPr/>
        </p:nvCxnSpPr>
        <p:spPr>
          <a:xfrm>
            <a:off x="2506893" y="28174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43"/>
          <p:cNvCxnSpPr>
            <a:stCxn id="638" idx="2"/>
            <a:endCxn id="641" idx="0"/>
          </p:cNvCxnSpPr>
          <p:nvPr/>
        </p:nvCxnSpPr>
        <p:spPr>
          <a:xfrm>
            <a:off x="473293" y="2568508"/>
            <a:ext cx="0" cy="9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43"/>
          <p:cNvSpPr/>
          <p:nvPr/>
        </p:nvSpPr>
        <p:spPr>
          <a:xfrm>
            <a:off x="3669086" y="26091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53" name="Google Shape;653;p43"/>
          <p:cNvSpPr/>
          <p:nvPr/>
        </p:nvSpPr>
        <p:spPr>
          <a:xfrm>
            <a:off x="3669086" y="23466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54" name="Google Shape;654;p43"/>
          <p:cNvSpPr/>
          <p:nvPr/>
        </p:nvSpPr>
        <p:spPr>
          <a:xfrm>
            <a:off x="5128190" y="26091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55" name="Google Shape;655;p43"/>
          <p:cNvSpPr/>
          <p:nvPr/>
        </p:nvSpPr>
        <p:spPr>
          <a:xfrm>
            <a:off x="5128190" y="23466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656" name="Google Shape;656;p43"/>
          <p:cNvSpPr/>
          <p:nvPr/>
        </p:nvSpPr>
        <p:spPr>
          <a:xfrm>
            <a:off x="2666090" y="269097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57" name="Google Shape;657;p43"/>
          <p:cNvSpPr/>
          <p:nvPr/>
        </p:nvSpPr>
        <p:spPr>
          <a:xfrm>
            <a:off x="2666090" y="22563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58" name="Google Shape;658;p43"/>
          <p:cNvSpPr/>
          <p:nvPr/>
        </p:nvSpPr>
        <p:spPr>
          <a:xfrm>
            <a:off x="1740386" y="22789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59" name="Google Shape;659;p43"/>
          <p:cNvSpPr/>
          <p:nvPr/>
        </p:nvSpPr>
        <p:spPr>
          <a:xfrm>
            <a:off x="1740386" y="27135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0" name="Google Shape;660;p43"/>
          <p:cNvSpPr/>
          <p:nvPr/>
        </p:nvSpPr>
        <p:spPr>
          <a:xfrm>
            <a:off x="825986" y="22789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1" name="Google Shape;661;p43"/>
          <p:cNvSpPr/>
          <p:nvPr/>
        </p:nvSpPr>
        <p:spPr>
          <a:xfrm>
            <a:off x="825986" y="27135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2" name="Google Shape;662;p43"/>
          <p:cNvSpPr/>
          <p:nvPr/>
        </p:nvSpPr>
        <p:spPr>
          <a:xfrm>
            <a:off x="6147536" y="223930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3" name="Google Shape;663;p43"/>
          <p:cNvSpPr/>
          <p:nvPr/>
        </p:nvSpPr>
        <p:spPr>
          <a:xfrm>
            <a:off x="6147536" y="26739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4" name="Google Shape;664;p43"/>
          <p:cNvSpPr/>
          <p:nvPr/>
        </p:nvSpPr>
        <p:spPr>
          <a:xfrm>
            <a:off x="7061936" y="225061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5" name="Google Shape;665;p43"/>
          <p:cNvSpPr/>
          <p:nvPr/>
        </p:nvSpPr>
        <p:spPr>
          <a:xfrm>
            <a:off x="7061936" y="268520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6" name="Google Shape;666;p43"/>
          <p:cNvSpPr/>
          <p:nvPr/>
        </p:nvSpPr>
        <p:spPr>
          <a:xfrm>
            <a:off x="7987640" y="224223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7" name="Google Shape;667;p43"/>
          <p:cNvSpPr/>
          <p:nvPr/>
        </p:nvSpPr>
        <p:spPr>
          <a:xfrm>
            <a:off x="7987640" y="267683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668" name="Google Shape;668;p43"/>
          <p:cNvSpPr/>
          <p:nvPr/>
        </p:nvSpPr>
        <p:spPr>
          <a:xfrm>
            <a:off x="-12214" y="24849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669" name="Google Shape;669;p43"/>
          <p:cNvSpPr/>
          <p:nvPr/>
        </p:nvSpPr>
        <p:spPr>
          <a:xfrm>
            <a:off x="8813136" y="2474508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670" name="Google Shape;670;p43"/>
          <p:cNvSpPr/>
          <p:nvPr/>
        </p:nvSpPr>
        <p:spPr>
          <a:xfrm>
            <a:off x="4379623" y="4055125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71" name="Google Shape;671;p43"/>
          <p:cNvCxnSpPr>
            <a:stCxn id="672" idx="3"/>
            <a:endCxn id="670" idx="1"/>
          </p:cNvCxnSpPr>
          <p:nvPr/>
        </p:nvCxnSpPr>
        <p:spPr>
          <a:xfrm>
            <a:off x="3465515" y="4010008"/>
            <a:ext cx="914100" cy="20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3" name="Google Shape;673;p43"/>
          <p:cNvCxnSpPr>
            <a:stCxn id="674" idx="3"/>
            <a:endCxn id="670" idx="1"/>
          </p:cNvCxnSpPr>
          <p:nvPr/>
        </p:nvCxnSpPr>
        <p:spPr>
          <a:xfrm rot="10800000" flipH="1">
            <a:off x="3465515" y="4213931"/>
            <a:ext cx="914100" cy="20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5" name="Google Shape;675;p43"/>
          <p:cNvSpPr/>
          <p:nvPr/>
        </p:nvSpPr>
        <p:spPr>
          <a:xfrm>
            <a:off x="5662848" y="38385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43"/>
          <p:cNvSpPr/>
          <p:nvPr/>
        </p:nvSpPr>
        <p:spPr>
          <a:xfrm>
            <a:off x="6590548" y="38385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3"/>
          <p:cNvSpPr/>
          <p:nvPr/>
        </p:nvSpPr>
        <p:spPr>
          <a:xfrm>
            <a:off x="7518248" y="38385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3"/>
          <p:cNvSpPr/>
          <p:nvPr/>
        </p:nvSpPr>
        <p:spPr>
          <a:xfrm>
            <a:off x="8445948" y="3838596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3"/>
          <p:cNvSpPr/>
          <p:nvPr/>
        </p:nvSpPr>
        <p:spPr>
          <a:xfrm>
            <a:off x="5662848" y="42462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3"/>
          <p:cNvSpPr/>
          <p:nvPr/>
        </p:nvSpPr>
        <p:spPr>
          <a:xfrm>
            <a:off x="6590548" y="42462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3"/>
          <p:cNvSpPr/>
          <p:nvPr/>
        </p:nvSpPr>
        <p:spPr>
          <a:xfrm>
            <a:off x="7518248" y="42462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43"/>
          <p:cNvSpPr/>
          <p:nvPr/>
        </p:nvSpPr>
        <p:spPr>
          <a:xfrm>
            <a:off x="8445948" y="4246219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3" name="Google Shape;683;p43"/>
          <p:cNvCxnSpPr>
            <a:stCxn id="675" idx="3"/>
            <a:endCxn id="676" idx="1"/>
          </p:cNvCxnSpPr>
          <p:nvPr/>
        </p:nvCxnSpPr>
        <p:spPr>
          <a:xfrm>
            <a:off x="6019248" y="39972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4" name="Google Shape;684;p43"/>
          <p:cNvCxnSpPr>
            <a:stCxn id="676" idx="3"/>
            <a:endCxn id="677" idx="1"/>
          </p:cNvCxnSpPr>
          <p:nvPr/>
        </p:nvCxnSpPr>
        <p:spPr>
          <a:xfrm>
            <a:off x="6946948" y="39972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5" name="Google Shape;685;p43"/>
          <p:cNvCxnSpPr>
            <a:stCxn id="679" idx="3"/>
            <a:endCxn id="680" idx="1"/>
          </p:cNvCxnSpPr>
          <p:nvPr/>
        </p:nvCxnSpPr>
        <p:spPr>
          <a:xfrm>
            <a:off x="6019248" y="44049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6" name="Google Shape;686;p43"/>
          <p:cNvCxnSpPr>
            <a:stCxn id="680" idx="3"/>
            <a:endCxn id="681" idx="1"/>
          </p:cNvCxnSpPr>
          <p:nvPr/>
        </p:nvCxnSpPr>
        <p:spPr>
          <a:xfrm>
            <a:off x="6946948" y="44049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7" name="Google Shape;687;p43"/>
          <p:cNvCxnSpPr/>
          <p:nvPr/>
        </p:nvCxnSpPr>
        <p:spPr>
          <a:xfrm>
            <a:off x="8204848" y="3946425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8" name="Google Shape;688;p43"/>
          <p:cNvCxnSpPr>
            <a:stCxn id="677" idx="3"/>
            <a:endCxn id="678" idx="1"/>
          </p:cNvCxnSpPr>
          <p:nvPr/>
        </p:nvCxnSpPr>
        <p:spPr>
          <a:xfrm>
            <a:off x="7874648" y="3997296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43"/>
          <p:cNvCxnSpPr>
            <a:stCxn id="681" idx="3"/>
            <a:endCxn id="682" idx="1"/>
          </p:cNvCxnSpPr>
          <p:nvPr/>
        </p:nvCxnSpPr>
        <p:spPr>
          <a:xfrm>
            <a:off x="7874648" y="4404919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0" name="Google Shape;690;p43"/>
          <p:cNvCxnSpPr>
            <a:stCxn id="678" idx="2"/>
            <a:endCxn id="682" idx="0"/>
          </p:cNvCxnSpPr>
          <p:nvPr/>
        </p:nvCxnSpPr>
        <p:spPr>
          <a:xfrm>
            <a:off x="8624148" y="4155996"/>
            <a:ext cx="0" cy="9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1" name="Google Shape;691;p43"/>
          <p:cNvCxnSpPr>
            <a:stCxn id="670" idx="3"/>
            <a:endCxn id="675" idx="1"/>
          </p:cNvCxnSpPr>
          <p:nvPr/>
        </p:nvCxnSpPr>
        <p:spPr>
          <a:xfrm rot="10800000" flipH="1">
            <a:off x="4736023" y="3997225"/>
            <a:ext cx="926700" cy="216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3"/>
          <p:cNvCxnSpPr>
            <a:stCxn id="670" idx="3"/>
            <a:endCxn id="679" idx="1"/>
          </p:cNvCxnSpPr>
          <p:nvPr/>
        </p:nvCxnSpPr>
        <p:spPr>
          <a:xfrm>
            <a:off x="4736023" y="4213825"/>
            <a:ext cx="926700" cy="191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3" name="Google Shape;693;p43"/>
          <p:cNvSpPr/>
          <p:nvPr/>
        </p:nvSpPr>
        <p:spPr>
          <a:xfrm>
            <a:off x="326016" y="38513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43"/>
          <p:cNvSpPr/>
          <p:nvPr/>
        </p:nvSpPr>
        <p:spPr>
          <a:xfrm>
            <a:off x="1253716" y="38513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3"/>
          <p:cNvSpPr/>
          <p:nvPr/>
        </p:nvSpPr>
        <p:spPr>
          <a:xfrm>
            <a:off x="2181415" y="38513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43"/>
          <p:cNvSpPr/>
          <p:nvPr/>
        </p:nvSpPr>
        <p:spPr>
          <a:xfrm>
            <a:off x="3109115" y="3851308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43"/>
          <p:cNvSpPr/>
          <p:nvPr/>
        </p:nvSpPr>
        <p:spPr>
          <a:xfrm>
            <a:off x="326016" y="4258931"/>
            <a:ext cx="356400" cy="317400"/>
          </a:xfrm>
          <a:prstGeom prst="rect">
            <a:avLst/>
          </a:prstGeom>
          <a:solidFill>
            <a:srgbClr val="FF00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43"/>
          <p:cNvSpPr/>
          <p:nvPr/>
        </p:nvSpPr>
        <p:spPr>
          <a:xfrm>
            <a:off x="1253716" y="42589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43"/>
          <p:cNvSpPr/>
          <p:nvPr/>
        </p:nvSpPr>
        <p:spPr>
          <a:xfrm>
            <a:off x="2181415" y="42589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43"/>
          <p:cNvSpPr/>
          <p:nvPr/>
        </p:nvSpPr>
        <p:spPr>
          <a:xfrm>
            <a:off x="3109115" y="4258931"/>
            <a:ext cx="356400" cy="3174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99" name="Google Shape;699;p43"/>
          <p:cNvCxnSpPr>
            <a:stCxn id="693" idx="3"/>
            <a:endCxn id="694" idx="1"/>
          </p:cNvCxnSpPr>
          <p:nvPr/>
        </p:nvCxnSpPr>
        <p:spPr>
          <a:xfrm>
            <a:off x="682415" y="40100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43"/>
          <p:cNvCxnSpPr>
            <a:stCxn id="694" idx="3"/>
            <a:endCxn id="695" idx="1"/>
          </p:cNvCxnSpPr>
          <p:nvPr/>
        </p:nvCxnSpPr>
        <p:spPr>
          <a:xfrm>
            <a:off x="1610116" y="40100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p43"/>
          <p:cNvCxnSpPr>
            <a:stCxn id="696" idx="3"/>
            <a:endCxn id="697" idx="1"/>
          </p:cNvCxnSpPr>
          <p:nvPr/>
        </p:nvCxnSpPr>
        <p:spPr>
          <a:xfrm>
            <a:off x="682415" y="44176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2" name="Google Shape;702;p43"/>
          <p:cNvCxnSpPr>
            <a:stCxn id="697" idx="3"/>
            <a:endCxn id="698" idx="1"/>
          </p:cNvCxnSpPr>
          <p:nvPr/>
        </p:nvCxnSpPr>
        <p:spPr>
          <a:xfrm>
            <a:off x="1610116" y="44176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3" name="Google Shape;703;p43"/>
          <p:cNvCxnSpPr/>
          <p:nvPr/>
        </p:nvCxnSpPr>
        <p:spPr>
          <a:xfrm>
            <a:off x="2868015" y="3959138"/>
            <a:ext cx="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4" name="Google Shape;704;p43"/>
          <p:cNvCxnSpPr>
            <a:stCxn id="695" idx="3"/>
            <a:endCxn id="672" idx="1"/>
          </p:cNvCxnSpPr>
          <p:nvPr/>
        </p:nvCxnSpPr>
        <p:spPr>
          <a:xfrm>
            <a:off x="2537815" y="4010008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5" name="Google Shape;705;p43"/>
          <p:cNvCxnSpPr>
            <a:stCxn id="698" idx="3"/>
            <a:endCxn id="674" idx="1"/>
          </p:cNvCxnSpPr>
          <p:nvPr/>
        </p:nvCxnSpPr>
        <p:spPr>
          <a:xfrm>
            <a:off x="2537815" y="4417631"/>
            <a:ext cx="5712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" name="Google Shape;706;p43"/>
          <p:cNvCxnSpPr>
            <a:stCxn id="693" idx="2"/>
            <a:endCxn id="696" idx="0"/>
          </p:cNvCxnSpPr>
          <p:nvPr/>
        </p:nvCxnSpPr>
        <p:spPr>
          <a:xfrm>
            <a:off x="504216" y="4168708"/>
            <a:ext cx="0" cy="9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7" name="Google Shape;707;p43"/>
          <p:cNvSpPr/>
          <p:nvPr/>
        </p:nvSpPr>
        <p:spPr>
          <a:xfrm>
            <a:off x="3700009" y="42093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708" name="Google Shape;708;p43"/>
          <p:cNvSpPr/>
          <p:nvPr/>
        </p:nvSpPr>
        <p:spPr>
          <a:xfrm>
            <a:off x="3700009" y="39468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709" name="Google Shape;709;p43"/>
          <p:cNvSpPr/>
          <p:nvPr/>
        </p:nvSpPr>
        <p:spPr>
          <a:xfrm>
            <a:off x="5159113" y="420932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710" name="Google Shape;710;p43"/>
          <p:cNvSpPr/>
          <p:nvPr/>
        </p:nvSpPr>
        <p:spPr>
          <a:xfrm>
            <a:off x="5159113" y="394681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711" name="Google Shape;711;p43"/>
          <p:cNvSpPr/>
          <p:nvPr/>
        </p:nvSpPr>
        <p:spPr>
          <a:xfrm>
            <a:off x="2697013" y="429117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2" name="Google Shape;712;p43"/>
          <p:cNvSpPr/>
          <p:nvPr/>
        </p:nvSpPr>
        <p:spPr>
          <a:xfrm>
            <a:off x="2697013" y="38565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3" name="Google Shape;713;p43"/>
          <p:cNvSpPr/>
          <p:nvPr/>
        </p:nvSpPr>
        <p:spPr>
          <a:xfrm>
            <a:off x="1771309" y="38791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4" name="Google Shape;714;p43"/>
          <p:cNvSpPr/>
          <p:nvPr/>
        </p:nvSpPr>
        <p:spPr>
          <a:xfrm>
            <a:off x="1771309" y="43137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5" name="Google Shape;715;p43"/>
          <p:cNvSpPr/>
          <p:nvPr/>
        </p:nvSpPr>
        <p:spPr>
          <a:xfrm>
            <a:off x="856909" y="3879192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6" name="Google Shape;716;p43"/>
          <p:cNvSpPr/>
          <p:nvPr/>
        </p:nvSpPr>
        <p:spPr>
          <a:xfrm>
            <a:off x="856909" y="43137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7" name="Google Shape;717;p43"/>
          <p:cNvSpPr/>
          <p:nvPr/>
        </p:nvSpPr>
        <p:spPr>
          <a:xfrm>
            <a:off x="6178459" y="383950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8" name="Google Shape;718;p43"/>
          <p:cNvSpPr/>
          <p:nvPr/>
        </p:nvSpPr>
        <p:spPr>
          <a:xfrm>
            <a:off x="6178459" y="427410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19" name="Google Shape;719;p43"/>
          <p:cNvSpPr/>
          <p:nvPr/>
        </p:nvSpPr>
        <p:spPr>
          <a:xfrm>
            <a:off x="7092859" y="385081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20" name="Google Shape;720;p43"/>
          <p:cNvSpPr/>
          <p:nvPr/>
        </p:nvSpPr>
        <p:spPr>
          <a:xfrm>
            <a:off x="7092859" y="428540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21" name="Google Shape;721;p43"/>
          <p:cNvSpPr/>
          <p:nvPr/>
        </p:nvSpPr>
        <p:spPr>
          <a:xfrm>
            <a:off x="8018563" y="3842439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22" name="Google Shape;722;p43"/>
          <p:cNvSpPr/>
          <p:nvPr/>
        </p:nvSpPr>
        <p:spPr>
          <a:xfrm>
            <a:off x="8018563" y="427703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723" name="Google Shape;723;p43"/>
          <p:cNvSpPr/>
          <p:nvPr/>
        </p:nvSpPr>
        <p:spPr>
          <a:xfrm>
            <a:off x="18709" y="408518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724" name="Google Shape;724;p43"/>
          <p:cNvSpPr/>
          <p:nvPr/>
        </p:nvSpPr>
        <p:spPr>
          <a:xfrm>
            <a:off x="8844059" y="4074708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0</a:t>
            </a:r>
            <a:endParaRPr sz="1800"/>
          </a:p>
        </p:txBody>
      </p:sp>
      <p:sp>
        <p:nvSpPr>
          <p:cNvPr id="725" name="Google Shape;725;p43"/>
          <p:cNvSpPr txBox="1"/>
          <p:nvPr/>
        </p:nvSpPr>
        <p:spPr>
          <a:xfrm>
            <a:off x="103075" y="3391200"/>
            <a:ext cx="3504600" cy="6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SPT from bottom left vertex: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4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731" name="Google Shape;731;p44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Minimum Spanning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The Cut Property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732" name="Google Shape;732;p44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Cut Property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Useful Tool for Finding the MST: Cut Property</a:t>
            </a:r>
            <a:endParaRPr/>
          </a:p>
        </p:txBody>
      </p:sp>
      <p:sp>
        <p:nvSpPr>
          <p:cNvPr id="738" name="Google Shape;738;p45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lang="en" b="1" i="1"/>
              <a:t>cut</a:t>
            </a:r>
            <a:r>
              <a:rPr lang="en"/>
              <a:t> is an assignment of a graph’s nodes to two non-empty sets.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lang="en" b="1" i="1"/>
              <a:t>crossing edge </a:t>
            </a:r>
            <a:r>
              <a:rPr lang="en"/>
              <a:t>is an edge which connects a node from one set to a node from the other set.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i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b="1" i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i="1"/>
              <a:t>Cut property:</a:t>
            </a:r>
            <a:r>
              <a:rPr lang="en"/>
              <a:t> Given any cut, minimum weight crossing edge is in the MST.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rest of today, we’ll assume edge weights are unique.</a:t>
            </a:r>
            <a:endParaRPr/>
          </a:p>
        </p:txBody>
      </p:sp>
      <p:pic>
        <p:nvPicPr>
          <p:cNvPr id="739" name="Google Shape;73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850" y="1147508"/>
            <a:ext cx="4126049" cy="314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2E9"/>
        </a:solidFill>
        <a:effectLst/>
      </p:bgPr>
    </p:bg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 Property in Action: http://yellkey.com</a:t>
            </a:r>
            <a:r>
              <a:rPr lang="en">
                <a:solidFill>
                  <a:srgbClr val="38761D"/>
                </a:solidFill>
              </a:rPr>
              <a:t>/TODO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745" name="Google Shape;745;p4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edge is the minimum weight edge crossing the cut {2, 3, 5, 6}?</a:t>
            </a:r>
            <a:endParaRPr/>
          </a:p>
        </p:txBody>
      </p:sp>
      <p:sp>
        <p:nvSpPr>
          <p:cNvPr id="746" name="Google Shape;746;p46"/>
          <p:cNvSpPr txBox="1"/>
          <p:nvPr/>
        </p:nvSpPr>
        <p:spPr>
          <a:xfrm>
            <a:off x="7654125" y="1462850"/>
            <a:ext cx="1322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0-7  0.16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2-3  0.17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1-7  0.19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0-2  0.26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5-7  0.28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1-3  0.29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1-5  0.32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2-7  0.34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4-5  0.35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1-2  0.36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4-7  0.37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0-4  0.38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6-2  0.40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3-6  0.52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6-0  0.58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6-4  0.93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7" name="Google Shape;7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725" y="1615063"/>
            <a:ext cx="481012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 Property in Action</a:t>
            </a:r>
            <a:endParaRPr/>
          </a:p>
        </p:txBody>
      </p:sp>
      <p:sp>
        <p:nvSpPr>
          <p:cNvPr id="753" name="Google Shape;753;p4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Which edge is the minimum weight edge crossing the cut {2, 3, 5, 6}?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0-2. Must be part of the MST!</a:t>
            </a:r>
            <a:endParaRPr/>
          </a:p>
        </p:txBody>
      </p:sp>
      <p:sp>
        <p:nvSpPr>
          <p:cNvPr id="754" name="Google Shape;754;p47"/>
          <p:cNvSpPr txBox="1"/>
          <p:nvPr/>
        </p:nvSpPr>
        <p:spPr>
          <a:xfrm>
            <a:off x="7654125" y="1462850"/>
            <a:ext cx="13227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0-7  0.16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2-3  0.17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1-7  0.19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Consolas"/>
                <a:ea typeface="Consolas"/>
                <a:cs typeface="Consolas"/>
                <a:sym typeface="Consolas"/>
              </a:rPr>
              <a:t>0-2  0.26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5-7  0.28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1-3  0.29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1-5  0.32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2-7  0.34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4-5  0.35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1-2  0.36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4-7  0.37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0-4  0.38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6-2  0.40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3-6  0.52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6-0  0.58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6-4  0.93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55" name="Google Shape;75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725" y="1615063"/>
            <a:ext cx="4810125" cy="2543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6" name="Google Shape;756;p47"/>
          <p:cNvCxnSpPr/>
          <p:nvPr/>
        </p:nvCxnSpPr>
        <p:spPr>
          <a:xfrm rot="10800000" flipH="1">
            <a:off x="3662675" y="2950550"/>
            <a:ext cx="839400" cy="3306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Cut Property Proof</a:t>
            </a:r>
            <a:endParaRPr/>
          </a:p>
        </p:txBody>
      </p:sp>
      <p:sp>
        <p:nvSpPr>
          <p:cNvPr id="762" name="Google Shape;762;p48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that the minimum crossing edge </a:t>
            </a:r>
            <a:r>
              <a:rPr lang="en" i="1"/>
              <a:t>e</a:t>
            </a:r>
            <a:r>
              <a:rPr lang="en"/>
              <a:t> were not in the MST.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</a:t>
            </a:r>
            <a:r>
              <a:rPr lang="en" i="1"/>
              <a:t>e</a:t>
            </a:r>
            <a:r>
              <a:rPr lang="en"/>
              <a:t> to the MST creates a cycle.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other edge </a:t>
            </a:r>
            <a:r>
              <a:rPr lang="en" i="1"/>
              <a:t>f</a:t>
            </a:r>
            <a:r>
              <a:rPr lang="en"/>
              <a:t> must also be a crossing edge.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Removing f and adding e is a lower weight spanning tree.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Contradiction! </a:t>
            </a:r>
            <a:endParaRPr/>
          </a:p>
        </p:txBody>
      </p:sp>
      <p:pic>
        <p:nvPicPr>
          <p:cNvPr id="763" name="Google Shape;7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550" y="2263550"/>
            <a:ext cx="53721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MST Finding Algorithm</a:t>
            </a:r>
            <a:endParaRPr/>
          </a:p>
        </p:txBody>
      </p:sp>
      <p:sp>
        <p:nvSpPr>
          <p:cNvPr id="769" name="Google Shape;769;p4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Start with no edges in the MST.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a cut that has no crossing edges in the MST.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smallest crossing edge to the MST.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should work, but we need some way of finding a cut with no crossing edges!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isn’t a very good idea.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775" name="Google Shape;775;p50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Prim’s Algorithm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Basic Prim's (Demo)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776" name="Google Shape;776;p5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Prim's (Demo)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5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782" name="Google Shape;782;p51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  <p:sp>
        <p:nvSpPr>
          <p:cNvPr id="783" name="Google Shape;783;p5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5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5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7" name="Google Shape;787;p5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5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9" name="Google Shape;789;p51"/>
          <p:cNvCxnSpPr>
            <a:stCxn id="783" idx="2"/>
            <a:endCxn id="78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0" name="Google Shape;790;p51"/>
          <p:cNvCxnSpPr>
            <a:stCxn id="783" idx="3"/>
            <a:endCxn id="78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1" name="Google Shape;791;p51"/>
          <p:cNvCxnSpPr>
            <a:stCxn id="785" idx="2"/>
            <a:endCxn id="78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2" name="Google Shape;792;p51"/>
          <p:cNvCxnSpPr>
            <a:stCxn id="788" idx="2"/>
            <a:endCxn id="78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51"/>
          <p:cNvCxnSpPr>
            <a:stCxn id="786" idx="2"/>
            <a:endCxn id="78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51"/>
          <p:cNvCxnSpPr>
            <a:stCxn id="784" idx="3"/>
            <a:endCxn id="78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5" name="Google Shape;795;p5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6" name="Google Shape;796;p51"/>
          <p:cNvCxnSpPr>
            <a:stCxn id="795" idx="3"/>
            <a:endCxn id="78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5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798" name="Google Shape;798;p5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51"/>
          <p:cNvCxnSpPr>
            <a:stCxn id="795" idx="3"/>
            <a:endCxn id="78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0" name="Google Shape;800;p51"/>
          <p:cNvCxnSpPr>
            <a:stCxn id="786" idx="3"/>
            <a:endCxn id="78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1" name="Google Shape;801;p51"/>
          <p:cNvCxnSpPr>
            <a:stCxn id="783" idx="3"/>
            <a:endCxn id="78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2" name="Google Shape;802;p5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803" name="Google Shape;803;p51"/>
          <p:cNvCxnSpPr>
            <a:stCxn id="788" idx="0"/>
            <a:endCxn id="78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4" name="Google Shape;804;p5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05" name="Google Shape;805;p5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06" name="Google Shape;806;p5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807" name="Google Shape;807;p5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08" name="Google Shape;808;p5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09" name="Google Shape;809;p5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810" name="Google Shape;810;p5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11" name="Google Shape;811;p5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12" name="Google Shape;812;p5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13" name="Google Shape;813;p5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814" name="Google Shape;814;p51"/>
          <p:cNvCxnSpPr>
            <a:stCxn id="786" idx="1"/>
            <a:endCxn id="78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5" name="Google Shape;815;p5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821" name="Google Shape;821;p5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5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5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4" name="Google Shape;824;p5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5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7" name="Google Shape;827;p52"/>
          <p:cNvCxnSpPr>
            <a:stCxn id="821" idx="2"/>
            <a:endCxn id="82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8" name="Google Shape;828;p52"/>
          <p:cNvCxnSpPr>
            <a:stCxn id="821" idx="3"/>
            <a:endCxn id="82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52"/>
          <p:cNvCxnSpPr>
            <a:stCxn id="823" idx="2"/>
            <a:endCxn id="82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0" name="Google Shape;830;p52"/>
          <p:cNvCxnSpPr>
            <a:stCxn id="826" idx="2"/>
            <a:endCxn id="82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1" name="Google Shape;831;p52"/>
          <p:cNvCxnSpPr>
            <a:stCxn id="824" idx="2"/>
            <a:endCxn id="82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2" name="Google Shape;832;p52"/>
          <p:cNvCxnSpPr>
            <a:stCxn id="822" idx="3"/>
            <a:endCxn id="82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3" name="Google Shape;833;p5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52"/>
          <p:cNvCxnSpPr>
            <a:stCxn id="833" idx="3"/>
            <a:endCxn id="82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5" name="Google Shape;835;p5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836" name="Google Shape;836;p5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7" name="Google Shape;837;p52"/>
          <p:cNvCxnSpPr>
            <a:stCxn id="833" idx="3"/>
            <a:endCxn id="82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8" name="Google Shape;838;p52"/>
          <p:cNvCxnSpPr>
            <a:stCxn id="824" idx="3"/>
            <a:endCxn id="82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9" name="Google Shape;839;p52"/>
          <p:cNvCxnSpPr>
            <a:stCxn id="821" idx="3"/>
            <a:endCxn id="82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0" name="Google Shape;840;p5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841" name="Google Shape;841;p52"/>
          <p:cNvCxnSpPr>
            <a:stCxn id="826" idx="0"/>
            <a:endCxn id="82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2" name="Google Shape;842;p5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43" name="Google Shape;843;p5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44" name="Google Shape;844;p5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845" name="Google Shape;845;p5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46" name="Google Shape;846;p5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47" name="Google Shape;847;p5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848" name="Google Shape;848;p5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49" name="Google Shape;849;p5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50" name="Google Shape;850;p5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51" name="Google Shape;851;p5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852" name="Google Shape;852;p52"/>
          <p:cNvCxnSpPr>
            <a:stCxn id="824" idx="1"/>
            <a:endCxn id="82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3" name="Google Shape;853;p5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54" name="Google Shape;854;p52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000000"/>
                </a:solidFill>
              </a:rPr>
              <a:t>Start from some arbitrary start node.</a:t>
            </a:r>
            <a:endParaRPr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dirty="0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25990-6033-EDDD-EB09-99ED43B534C0}"/>
              </a:ext>
            </a:extLst>
          </p:cNvPr>
          <p:cNvSpPr txBox="1"/>
          <p:nvPr/>
        </p:nvSpPr>
        <p:spPr>
          <a:xfrm>
            <a:off x="1638434" y="3732400"/>
            <a:ext cx="316945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Using the ‘cut’ conclusion.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On the left hand, is a set.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On the right hand, is another set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And we just choose the shortest edge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To bound each side, and that’s it!!!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6E3481-DAB3-7C0B-5A84-D51A4B7BEC70}"/>
              </a:ext>
            </a:extLst>
          </p:cNvPr>
          <p:cNvSpPr txBox="1"/>
          <p:nvPr/>
        </p:nvSpPr>
        <p:spPr>
          <a:xfrm>
            <a:off x="5091196" y="4407040"/>
            <a:ext cx="30294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It’s a kind of like </a:t>
            </a:r>
            <a:r>
              <a:rPr lang="en-US" altLang="zh-CN" b="1" dirty="0">
                <a:solidFill>
                  <a:srgbClr val="00B0F0"/>
                </a:solidFill>
              </a:rPr>
              <a:t>Greedy Algorithm</a:t>
            </a:r>
          </a:p>
          <a:p>
            <a:r>
              <a:rPr lang="en-US" altLang="zh-CN" b="1" dirty="0">
                <a:solidFill>
                  <a:srgbClr val="00B0F0"/>
                </a:solidFill>
              </a:rPr>
              <a:t>Each time we only choose the smallest edge.</a:t>
            </a:r>
            <a:endParaRPr lang="zh-CN" altLang="en-US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860" name="Google Shape;860;p5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5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2" name="Google Shape;862;p5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3" name="Google Shape;863;p5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5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6" name="Google Shape;866;p53"/>
          <p:cNvCxnSpPr>
            <a:stCxn id="860" idx="2"/>
            <a:endCxn id="86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7" name="Google Shape;867;p53"/>
          <p:cNvCxnSpPr>
            <a:stCxn id="860" idx="3"/>
            <a:endCxn id="86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8" name="Google Shape;868;p53"/>
          <p:cNvCxnSpPr>
            <a:stCxn id="862" idx="2"/>
            <a:endCxn id="86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9" name="Google Shape;869;p53"/>
          <p:cNvCxnSpPr>
            <a:stCxn id="865" idx="2"/>
            <a:endCxn id="86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0" name="Google Shape;870;p53"/>
          <p:cNvCxnSpPr>
            <a:stCxn id="863" idx="2"/>
            <a:endCxn id="86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1" name="Google Shape;871;p53"/>
          <p:cNvCxnSpPr>
            <a:stCxn id="861" idx="3"/>
            <a:endCxn id="86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2" name="Google Shape;872;p5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3" name="Google Shape;873;p53"/>
          <p:cNvCxnSpPr>
            <a:stCxn id="872" idx="3"/>
            <a:endCxn id="86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4" name="Google Shape;874;p5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875" name="Google Shape;875;p5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6" name="Google Shape;876;p53"/>
          <p:cNvCxnSpPr>
            <a:stCxn id="872" idx="3"/>
            <a:endCxn id="86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7" name="Google Shape;877;p53"/>
          <p:cNvCxnSpPr>
            <a:stCxn id="863" idx="3"/>
            <a:endCxn id="86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53"/>
          <p:cNvCxnSpPr>
            <a:stCxn id="860" idx="3"/>
            <a:endCxn id="86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9" name="Google Shape;879;p5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880" name="Google Shape;880;p53"/>
          <p:cNvCxnSpPr>
            <a:stCxn id="865" idx="0"/>
            <a:endCxn id="86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1" name="Google Shape;881;p5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82" name="Google Shape;882;p5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83" name="Google Shape;883;p5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884" name="Google Shape;884;p5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85" name="Google Shape;885;p5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886" name="Google Shape;886;p5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887" name="Google Shape;887;p5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888" name="Google Shape;888;p5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89" name="Google Shape;889;p5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90" name="Google Shape;890;p5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891" name="Google Shape;891;p53"/>
          <p:cNvCxnSpPr>
            <a:stCxn id="863" idx="1"/>
            <a:endCxn id="86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2" name="Google Shape;892;p5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893" name="Google Shape;893;p53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899" name="Google Shape;899;p5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0" name="Google Shape;900;p5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5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5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4" name="Google Shape;904;p5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5" name="Google Shape;905;p54"/>
          <p:cNvCxnSpPr>
            <a:stCxn id="899" idx="2"/>
            <a:endCxn id="900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6" name="Google Shape;906;p54"/>
          <p:cNvCxnSpPr>
            <a:stCxn id="899" idx="3"/>
            <a:endCxn id="902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7" name="Google Shape;907;p54"/>
          <p:cNvCxnSpPr>
            <a:stCxn id="901" idx="2"/>
            <a:endCxn id="902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8" name="Google Shape;908;p54"/>
          <p:cNvCxnSpPr>
            <a:stCxn id="904" idx="2"/>
            <a:endCxn id="903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54"/>
          <p:cNvCxnSpPr>
            <a:stCxn id="902" idx="2"/>
            <a:endCxn id="903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54"/>
          <p:cNvCxnSpPr>
            <a:stCxn id="900" idx="3"/>
            <a:endCxn id="903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5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2" name="Google Shape;912;p54"/>
          <p:cNvCxnSpPr>
            <a:stCxn id="911" idx="3"/>
            <a:endCxn id="899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3" name="Google Shape;913;p5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14" name="Google Shape;914;p54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5" name="Google Shape;915;p54"/>
          <p:cNvCxnSpPr>
            <a:stCxn id="911" idx="3"/>
            <a:endCxn id="900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54"/>
          <p:cNvCxnSpPr>
            <a:stCxn id="902" idx="3"/>
            <a:endCxn id="904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54"/>
          <p:cNvCxnSpPr>
            <a:stCxn id="899" idx="3"/>
            <a:endCxn id="901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8" name="Google Shape;918;p5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919" name="Google Shape;919;p54"/>
          <p:cNvCxnSpPr>
            <a:stCxn id="904" idx="0"/>
            <a:endCxn id="901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0" name="Google Shape;920;p5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921" name="Google Shape;921;p5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22" name="Google Shape;922;p5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923" name="Google Shape;923;p5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924" name="Google Shape;924;p5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925" name="Google Shape;925;p5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926" name="Google Shape;926;p5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927" name="Google Shape;927;p5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28" name="Google Shape;928;p5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29" name="Google Shape;929;p5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930" name="Google Shape;930;p54"/>
          <p:cNvCxnSpPr>
            <a:stCxn id="902" idx="1"/>
            <a:endCxn id="90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1" name="Google Shape;931;p5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32" name="Google Shape;932;p54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938" name="Google Shape;938;p5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5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5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5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5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3" name="Google Shape;943;p5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55"/>
          <p:cNvCxnSpPr>
            <a:stCxn id="938" idx="2"/>
            <a:endCxn id="93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5" name="Google Shape;945;p55"/>
          <p:cNvCxnSpPr>
            <a:stCxn id="938" idx="3"/>
            <a:endCxn id="94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6" name="Google Shape;946;p55"/>
          <p:cNvCxnSpPr>
            <a:stCxn id="940" idx="2"/>
            <a:endCxn id="94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7" name="Google Shape;947;p55"/>
          <p:cNvCxnSpPr>
            <a:stCxn id="943" idx="2"/>
            <a:endCxn id="94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55"/>
          <p:cNvCxnSpPr>
            <a:stCxn id="941" idx="2"/>
            <a:endCxn id="94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55"/>
          <p:cNvCxnSpPr>
            <a:stCxn id="939" idx="3"/>
            <a:endCxn id="94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0" name="Google Shape;950;p5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55"/>
          <p:cNvCxnSpPr>
            <a:stCxn id="950" idx="3"/>
            <a:endCxn id="93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2" name="Google Shape;952;p5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53" name="Google Shape;953;p55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4" name="Google Shape;954;p55"/>
          <p:cNvCxnSpPr>
            <a:stCxn id="950" idx="3"/>
            <a:endCxn id="93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5" name="Google Shape;955;p55"/>
          <p:cNvCxnSpPr>
            <a:stCxn id="941" idx="3"/>
            <a:endCxn id="94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6" name="Google Shape;956;p55"/>
          <p:cNvCxnSpPr>
            <a:stCxn id="938" idx="3"/>
            <a:endCxn id="94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7" name="Google Shape;957;p5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958" name="Google Shape;958;p55"/>
          <p:cNvCxnSpPr>
            <a:stCxn id="943" idx="0"/>
            <a:endCxn id="94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9" name="Google Shape;959;p5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960" name="Google Shape;960;p5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61" name="Google Shape;961;p5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962" name="Google Shape;962;p5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963" name="Google Shape;963;p55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964" name="Google Shape;964;p5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965" name="Google Shape;965;p5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966" name="Google Shape;966;p5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67" name="Google Shape;967;p5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68" name="Google Shape;968;p5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969" name="Google Shape;969;p55"/>
          <p:cNvCxnSpPr>
            <a:stCxn id="941" idx="1"/>
            <a:endCxn id="93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0" name="Google Shape;970;p5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971" name="Google Shape;971;p55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977" name="Google Shape;977;p5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8" name="Google Shape;978;p5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9" name="Google Shape;979;p5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0" name="Google Shape;980;p5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1" name="Google Shape;981;p5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2" name="Google Shape;982;p5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56"/>
          <p:cNvCxnSpPr>
            <a:stCxn id="977" idx="2"/>
            <a:endCxn id="97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4" name="Google Shape;984;p56"/>
          <p:cNvCxnSpPr>
            <a:stCxn id="977" idx="3"/>
            <a:endCxn id="98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5" name="Google Shape;985;p56"/>
          <p:cNvCxnSpPr>
            <a:stCxn id="979" idx="2"/>
            <a:endCxn id="98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6" name="Google Shape;986;p56"/>
          <p:cNvCxnSpPr>
            <a:stCxn id="982" idx="2"/>
            <a:endCxn id="98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7" name="Google Shape;987;p56"/>
          <p:cNvCxnSpPr>
            <a:stCxn id="980" idx="2"/>
            <a:endCxn id="98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8" name="Google Shape;988;p56"/>
          <p:cNvCxnSpPr>
            <a:stCxn id="978" idx="3"/>
            <a:endCxn id="98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9" name="Google Shape;989;p5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56"/>
          <p:cNvCxnSpPr>
            <a:stCxn id="989" idx="3"/>
            <a:endCxn id="97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1" name="Google Shape;991;p5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992" name="Google Shape;992;p56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93" name="Google Shape;993;p56"/>
          <p:cNvCxnSpPr>
            <a:stCxn id="989" idx="3"/>
            <a:endCxn id="97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56"/>
          <p:cNvCxnSpPr>
            <a:stCxn id="980" idx="3"/>
            <a:endCxn id="98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56"/>
          <p:cNvCxnSpPr>
            <a:stCxn id="977" idx="3"/>
            <a:endCxn id="97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6" name="Google Shape;996;p5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997" name="Google Shape;997;p56"/>
          <p:cNvCxnSpPr>
            <a:stCxn id="982" idx="0"/>
            <a:endCxn id="97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8" name="Google Shape;998;p5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999" name="Google Shape;999;p5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00" name="Google Shape;1000;p5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001" name="Google Shape;1001;p5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02" name="Google Shape;1002;p56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03" name="Google Shape;1003;p5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004" name="Google Shape;1004;p5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05" name="Google Shape;1005;p5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06" name="Google Shape;1006;p5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07" name="Google Shape;1007;p5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008" name="Google Shape;1008;p56"/>
          <p:cNvCxnSpPr>
            <a:stCxn id="980" idx="1"/>
            <a:endCxn id="97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9" name="Google Shape;1009;p5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10" name="Google Shape;1010;p56"/>
          <p:cNvSpPr txBox="1"/>
          <p:nvPr/>
        </p:nvSpPr>
        <p:spPr>
          <a:xfrm>
            <a:off x="336625" y="4127975"/>
            <a:ext cx="34236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Which edge is added next?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6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017" name="Google Shape;1017;p5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8" name="Google Shape;1018;p5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5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5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1" name="Google Shape;1021;p5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2" name="Google Shape;1022;p5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3" name="Google Shape;1023;p57"/>
          <p:cNvCxnSpPr>
            <a:stCxn id="1017" idx="2"/>
            <a:endCxn id="101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4" name="Google Shape;1024;p57"/>
          <p:cNvCxnSpPr>
            <a:stCxn id="1017" idx="3"/>
            <a:endCxn id="102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57"/>
          <p:cNvCxnSpPr>
            <a:stCxn id="1019" idx="2"/>
            <a:endCxn id="102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57"/>
          <p:cNvCxnSpPr>
            <a:stCxn id="1022" idx="2"/>
            <a:endCxn id="102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7" name="Google Shape;1027;p57"/>
          <p:cNvCxnSpPr>
            <a:stCxn id="1020" idx="2"/>
            <a:endCxn id="102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8" name="Google Shape;1028;p57"/>
          <p:cNvCxnSpPr>
            <a:stCxn id="1018" idx="3"/>
            <a:endCxn id="102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9" name="Google Shape;1029;p5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0" name="Google Shape;1030;p57"/>
          <p:cNvCxnSpPr>
            <a:stCxn id="1029" idx="3"/>
            <a:endCxn id="101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1" name="Google Shape;1031;p5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32" name="Google Shape;1032;p57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3" name="Google Shape;1033;p57"/>
          <p:cNvCxnSpPr>
            <a:stCxn id="1029" idx="3"/>
            <a:endCxn id="101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4" name="Google Shape;1034;p57"/>
          <p:cNvCxnSpPr>
            <a:stCxn id="1020" idx="3"/>
            <a:endCxn id="102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5" name="Google Shape;1035;p57"/>
          <p:cNvCxnSpPr>
            <a:stCxn id="1017" idx="3"/>
            <a:endCxn id="101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6" name="Google Shape;1036;p5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037" name="Google Shape;1037;p57"/>
          <p:cNvCxnSpPr>
            <a:stCxn id="1022" idx="0"/>
            <a:endCxn id="101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8" name="Google Shape;1038;p5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39" name="Google Shape;1039;p5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40" name="Google Shape;1040;p5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041" name="Google Shape;1041;p5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42" name="Google Shape;1042;p57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43" name="Google Shape;1043;p5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044" name="Google Shape;1044;p5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45" name="Google Shape;1045;p5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46" name="Google Shape;1046;p5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47" name="Google Shape;1047;p5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048" name="Google Shape;1048;p57"/>
          <p:cNvCxnSpPr>
            <a:stCxn id="1020" idx="1"/>
            <a:endCxn id="101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9" name="Google Shape;1049;p5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50" name="Google Shape;1050;p57"/>
          <p:cNvSpPr txBox="1"/>
          <p:nvPr/>
        </p:nvSpPr>
        <p:spPr>
          <a:xfrm>
            <a:off x="336625" y="4127975"/>
            <a:ext cx="77565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Which edge is added next?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Either A-B or D-E are guaranteed to work (see exercises for proof)!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Note: They are not both guaranteed to be in the MST.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1" name="Google Shape;1051;p57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057" name="Google Shape;1057;p5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9" name="Google Shape;1059;p5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0" name="Google Shape;1060;p5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5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2" name="Google Shape;1062;p5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3" name="Google Shape;1063;p58"/>
          <p:cNvCxnSpPr>
            <a:stCxn id="1057" idx="2"/>
            <a:endCxn id="105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4" name="Google Shape;1064;p58"/>
          <p:cNvCxnSpPr>
            <a:stCxn id="1057" idx="3"/>
            <a:endCxn id="106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5" name="Google Shape;1065;p58"/>
          <p:cNvCxnSpPr>
            <a:stCxn id="1059" idx="2"/>
            <a:endCxn id="106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6" name="Google Shape;1066;p58"/>
          <p:cNvCxnSpPr>
            <a:stCxn id="1062" idx="2"/>
            <a:endCxn id="106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7" name="Google Shape;1067;p58"/>
          <p:cNvCxnSpPr>
            <a:stCxn id="1060" idx="2"/>
            <a:endCxn id="106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8" name="Google Shape;1068;p58"/>
          <p:cNvCxnSpPr>
            <a:stCxn id="1058" idx="3"/>
            <a:endCxn id="106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9" name="Google Shape;1069;p5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0" name="Google Shape;1070;p58"/>
          <p:cNvCxnSpPr>
            <a:stCxn id="1069" idx="3"/>
            <a:endCxn id="105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1" name="Google Shape;1071;p5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072" name="Google Shape;1072;p58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73" name="Google Shape;1073;p58"/>
          <p:cNvCxnSpPr>
            <a:stCxn id="1069" idx="3"/>
            <a:endCxn id="105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4" name="Google Shape;1074;p58"/>
          <p:cNvCxnSpPr>
            <a:stCxn id="1060" idx="3"/>
            <a:endCxn id="106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75" name="Google Shape;1075;p58"/>
          <p:cNvCxnSpPr>
            <a:stCxn id="1057" idx="3"/>
            <a:endCxn id="105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6" name="Google Shape;1076;p5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077" name="Google Shape;1077;p58"/>
          <p:cNvCxnSpPr>
            <a:stCxn id="1062" idx="0"/>
            <a:endCxn id="105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8" name="Google Shape;1078;p5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79" name="Google Shape;1079;p5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80" name="Google Shape;1080;p5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081" name="Google Shape;1081;p5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82" name="Google Shape;1082;p58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083" name="Google Shape;1083;p5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084" name="Google Shape;1084;p5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085" name="Google Shape;1085;p5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86" name="Google Shape;1086;p5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87" name="Google Shape;1087;p5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088" name="Google Shape;1088;p58"/>
          <p:cNvCxnSpPr>
            <a:stCxn id="1060" idx="1"/>
            <a:endCxn id="105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9" name="Google Shape;1089;p5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090" name="Google Shape;1090;p58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399E2-48E5-FFCB-D99B-0B739AC454D2}"/>
              </a:ext>
            </a:extLst>
          </p:cNvPr>
          <p:cNvSpPr txBox="1"/>
          <p:nvPr/>
        </p:nvSpPr>
        <p:spPr>
          <a:xfrm>
            <a:off x="1644596" y="3534175"/>
            <a:ext cx="29274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</a:rPr>
              <a:t>So here comes the problem :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Each time there are </a:t>
            </a:r>
            <a:r>
              <a:rPr lang="en-US" altLang="zh-CN" b="1" dirty="0">
                <a:solidFill>
                  <a:srgbClr val="00B0F0"/>
                </a:solidFill>
              </a:rPr>
              <a:t>too many </a:t>
            </a:r>
          </a:p>
          <a:p>
            <a:r>
              <a:rPr lang="en-US" altLang="zh-CN" b="1" dirty="0">
                <a:solidFill>
                  <a:srgbClr val="00B0F0"/>
                </a:solidFill>
              </a:rPr>
              <a:t>edges</a:t>
            </a:r>
            <a:r>
              <a:rPr lang="en-US" altLang="zh-CN" dirty="0">
                <a:solidFill>
                  <a:srgbClr val="00B0F0"/>
                </a:solidFill>
              </a:rPr>
              <a:t> we need to decide 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weather to add it to our tree or not,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which can definitely </a:t>
            </a:r>
            <a:r>
              <a:rPr lang="en-US" altLang="zh-CN" b="1" dirty="0">
                <a:solidFill>
                  <a:srgbClr val="00B0F0"/>
                </a:solidFill>
              </a:rPr>
              <a:t>slow down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our algorithm.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096" name="Google Shape;1096;p5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5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8" name="Google Shape;1098;p5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9" name="Google Shape;1099;p5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0" name="Google Shape;1100;p5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1" name="Google Shape;1101;p5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2" name="Google Shape;1102;p59"/>
          <p:cNvCxnSpPr>
            <a:stCxn id="1096" idx="2"/>
            <a:endCxn id="1097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3" name="Google Shape;1103;p59"/>
          <p:cNvCxnSpPr>
            <a:stCxn id="1096" idx="3"/>
            <a:endCxn id="1099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4" name="Google Shape;1104;p59"/>
          <p:cNvCxnSpPr>
            <a:stCxn id="1098" idx="2"/>
            <a:endCxn id="1099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5" name="Google Shape;1105;p59"/>
          <p:cNvCxnSpPr>
            <a:stCxn id="1101" idx="2"/>
            <a:endCxn id="1100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6" name="Google Shape;1106;p59"/>
          <p:cNvCxnSpPr>
            <a:stCxn id="1099" idx="2"/>
            <a:endCxn id="1100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59"/>
          <p:cNvCxnSpPr>
            <a:stCxn id="1097" idx="3"/>
            <a:endCxn id="1100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8" name="Google Shape;1108;p5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9" name="Google Shape;1109;p59"/>
          <p:cNvCxnSpPr>
            <a:stCxn id="1108" idx="3"/>
            <a:endCxn id="1096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0" name="Google Shape;1110;p5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11" name="Google Shape;1111;p59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12" name="Google Shape;1112;p59"/>
          <p:cNvCxnSpPr>
            <a:stCxn id="1108" idx="3"/>
            <a:endCxn id="1097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3" name="Google Shape;1113;p59"/>
          <p:cNvCxnSpPr>
            <a:stCxn id="1099" idx="3"/>
            <a:endCxn id="1101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4" name="Google Shape;1114;p59"/>
          <p:cNvCxnSpPr>
            <a:stCxn id="1096" idx="3"/>
            <a:endCxn id="1098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5" name="Google Shape;1115;p5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116" name="Google Shape;1116;p59"/>
          <p:cNvCxnSpPr>
            <a:stCxn id="1101" idx="0"/>
            <a:endCxn id="1098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7" name="Google Shape;1117;p5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118" name="Google Shape;1118;p5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19" name="Google Shape;1119;p5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120" name="Google Shape;1120;p5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121" name="Google Shape;1121;p59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122" name="Google Shape;1122;p5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123" name="Google Shape;1123;p5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124" name="Google Shape;1124;p5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25" name="Google Shape;1125;p5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26" name="Google Shape;1126;p5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127" name="Google Shape;1127;p59"/>
          <p:cNvCxnSpPr>
            <a:stCxn id="1099" idx="1"/>
            <a:endCxn id="109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8" name="Google Shape;1128;p5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29" name="Google Shape;1129;p59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135" name="Google Shape;1135;p6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6" name="Google Shape;1136;p6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7" name="Google Shape;1137;p6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6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6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6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60"/>
          <p:cNvCxnSpPr>
            <a:stCxn id="1135" idx="2"/>
            <a:endCxn id="113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2" name="Google Shape;1142;p60"/>
          <p:cNvCxnSpPr>
            <a:stCxn id="1135" idx="3"/>
            <a:endCxn id="113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60"/>
          <p:cNvCxnSpPr>
            <a:stCxn id="1137" idx="2"/>
            <a:endCxn id="113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4" name="Google Shape;1144;p60"/>
          <p:cNvCxnSpPr>
            <a:stCxn id="1140" idx="2"/>
            <a:endCxn id="113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5" name="Google Shape;1145;p60"/>
          <p:cNvCxnSpPr>
            <a:stCxn id="1138" idx="2"/>
            <a:endCxn id="113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60"/>
          <p:cNvCxnSpPr>
            <a:stCxn id="1136" idx="3"/>
            <a:endCxn id="113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6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8" name="Google Shape;1148;p60"/>
          <p:cNvCxnSpPr>
            <a:stCxn id="1147" idx="3"/>
            <a:endCxn id="113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9" name="Google Shape;1149;p6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50" name="Google Shape;1150;p60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51" name="Google Shape;1151;p60"/>
          <p:cNvCxnSpPr>
            <a:stCxn id="1147" idx="3"/>
            <a:endCxn id="113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2" name="Google Shape;1152;p60"/>
          <p:cNvCxnSpPr>
            <a:stCxn id="1138" idx="3"/>
            <a:endCxn id="114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3" name="Google Shape;1153;p60"/>
          <p:cNvCxnSpPr>
            <a:stCxn id="1135" idx="3"/>
            <a:endCxn id="113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4" name="Google Shape;1154;p6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155" name="Google Shape;1155;p60"/>
          <p:cNvCxnSpPr>
            <a:stCxn id="1140" idx="0"/>
            <a:endCxn id="113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6" name="Google Shape;1156;p6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157" name="Google Shape;1157;p6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58" name="Google Shape;1158;p6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159" name="Google Shape;1159;p6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160" name="Google Shape;1160;p60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161" name="Google Shape;1161;p6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162" name="Google Shape;1162;p6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163" name="Google Shape;1163;p6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64" name="Google Shape;1164;p6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65" name="Google Shape;1165;p6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166" name="Google Shape;1166;p60"/>
          <p:cNvCxnSpPr>
            <a:stCxn id="1138" idx="1"/>
            <a:endCxn id="113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7" name="Google Shape;1167;p6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68" name="Google Shape;1168;p60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6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174" name="Google Shape;1174;p6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6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6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7" name="Google Shape;1177;p6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8" name="Google Shape;1178;p6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9" name="Google Shape;1179;p6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0" name="Google Shape;1180;p61"/>
          <p:cNvCxnSpPr>
            <a:stCxn id="1174" idx="2"/>
            <a:endCxn id="117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1" name="Google Shape;1181;p61"/>
          <p:cNvCxnSpPr>
            <a:stCxn id="1174" idx="3"/>
            <a:endCxn id="117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2" name="Google Shape;1182;p61"/>
          <p:cNvCxnSpPr>
            <a:stCxn id="1176" idx="2"/>
            <a:endCxn id="117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3" name="Google Shape;1183;p61"/>
          <p:cNvCxnSpPr>
            <a:stCxn id="1179" idx="2"/>
            <a:endCxn id="117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4" name="Google Shape;1184;p61"/>
          <p:cNvCxnSpPr>
            <a:stCxn id="1177" idx="2"/>
            <a:endCxn id="117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5" name="Google Shape;1185;p61"/>
          <p:cNvCxnSpPr>
            <a:stCxn id="1175" idx="3"/>
            <a:endCxn id="117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6" name="Google Shape;1186;p6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7" name="Google Shape;1187;p61"/>
          <p:cNvCxnSpPr>
            <a:stCxn id="1186" idx="3"/>
            <a:endCxn id="117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8" name="Google Shape;1188;p6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189" name="Google Shape;1189;p6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G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90" name="Google Shape;1190;p61"/>
          <p:cNvCxnSpPr>
            <a:stCxn id="1186" idx="3"/>
            <a:endCxn id="117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1" name="Google Shape;1191;p61"/>
          <p:cNvCxnSpPr>
            <a:stCxn id="1177" idx="3"/>
            <a:endCxn id="117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2" name="Google Shape;1192;p61"/>
          <p:cNvCxnSpPr>
            <a:stCxn id="1174" idx="3"/>
            <a:endCxn id="117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3" name="Google Shape;1193;p6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194" name="Google Shape;1194;p61"/>
          <p:cNvCxnSpPr>
            <a:stCxn id="1179" idx="0"/>
            <a:endCxn id="117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5" name="Google Shape;1195;p6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196" name="Google Shape;1196;p6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197" name="Google Shape;1197;p6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198" name="Google Shape;1198;p6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199" name="Google Shape;1199;p6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200" name="Google Shape;1200;p6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201" name="Google Shape;1201;p6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202" name="Google Shape;1202;p6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03" name="Google Shape;1203;p6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04" name="Google Shape;1204;p6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205" name="Google Shape;1205;p61"/>
          <p:cNvCxnSpPr>
            <a:stCxn id="1177" idx="1"/>
            <a:endCxn id="117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6" name="Google Shape;1206;p6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07" name="Google Shape;1207;p61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6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  <p:sp>
        <p:nvSpPr>
          <p:cNvPr id="1213" name="Google Shape;1213;p6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4" name="Google Shape;1214;p6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5" name="Google Shape;1215;p6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6" name="Google Shape;1216;p6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7" name="Google Shape;1217;p6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6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9" name="Google Shape;1219;p62"/>
          <p:cNvCxnSpPr>
            <a:stCxn id="1213" idx="2"/>
            <a:endCxn id="121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0" name="Google Shape;1220;p62"/>
          <p:cNvCxnSpPr>
            <a:stCxn id="1213" idx="3"/>
            <a:endCxn id="121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1" name="Google Shape;1221;p62"/>
          <p:cNvCxnSpPr>
            <a:stCxn id="1215" idx="2"/>
            <a:endCxn id="121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2" name="Google Shape;1222;p62"/>
          <p:cNvCxnSpPr>
            <a:stCxn id="1218" idx="2"/>
            <a:endCxn id="121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62"/>
          <p:cNvCxnSpPr>
            <a:stCxn id="1216" idx="2"/>
            <a:endCxn id="121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4" name="Google Shape;1224;p62"/>
          <p:cNvCxnSpPr>
            <a:stCxn id="1214" idx="3"/>
            <a:endCxn id="121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5" name="Google Shape;1225;p6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6" name="Google Shape;1226;p62"/>
          <p:cNvCxnSpPr>
            <a:stCxn id="1225" idx="3"/>
            <a:endCxn id="121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7" name="Google Shape;1227;p6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28" name="Google Shape;1228;p6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G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29" name="Google Shape;1229;p62"/>
          <p:cNvCxnSpPr>
            <a:stCxn id="1225" idx="3"/>
            <a:endCxn id="121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62"/>
          <p:cNvCxnSpPr>
            <a:stCxn id="1216" idx="3"/>
            <a:endCxn id="121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1" name="Google Shape;1231;p62"/>
          <p:cNvCxnSpPr>
            <a:stCxn id="1213" idx="3"/>
            <a:endCxn id="121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2" name="Google Shape;1232;p6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233" name="Google Shape;1233;p62"/>
          <p:cNvCxnSpPr>
            <a:stCxn id="1218" idx="0"/>
            <a:endCxn id="121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4" name="Google Shape;1234;p6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235" name="Google Shape;1235;p6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36" name="Google Shape;1236;p6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237" name="Google Shape;1237;p6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238" name="Google Shape;1238;p6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239" name="Google Shape;1239;p6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240" name="Google Shape;1240;p6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241" name="Google Shape;1241;p6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42" name="Google Shape;1242;p6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43" name="Google Shape;1243;p6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244" name="Google Shape;1244;p62"/>
          <p:cNvCxnSpPr>
            <a:stCxn id="1216" idx="1"/>
            <a:endCxn id="121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5" name="Google Shape;1245;p6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46" name="Google Shape;1246;p62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6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2" name="Google Shape;1252;p6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3" name="Google Shape;1253;p6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4" name="Google Shape;1254;p6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6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6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7" name="Google Shape;1257;p63"/>
          <p:cNvCxnSpPr>
            <a:stCxn id="1251" idx="2"/>
            <a:endCxn id="125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8" name="Google Shape;1258;p63"/>
          <p:cNvCxnSpPr>
            <a:stCxn id="1251" idx="3"/>
            <a:endCxn id="125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9" name="Google Shape;1259;p63"/>
          <p:cNvCxnSpPr>
            <a:stCxn id="1253" idx="2"/>
            <a:endCxn id="125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0" name="Google Shape;1260;p63"/>
          <p:cNvCxnSpPr>
            <a:stCxn id="1256" idx="2"/>
            <a:endCxn id="125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1" name="Google Shape;1261;p63"/>
          <p:cNvCxnSpPr>
            <a:stCxn id="1254" idx="2"/>
            <a:endCxn id="125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63"/>
          <p:cNvCxnSpPr>
            <a:stCxn id="1252" idx="3"/>
            <a:endCxn id="125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3" name="Google Shape;1263;p6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4" name="Google Shape;1264;p63"/>
          <p:cNvCxnSpPr>
            <a:stCxn id="1263" idx="3"/>
            <a:endCxn id="125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5" name="Google Shape;1265;p6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266" name="Google Shape;1266;p6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A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E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C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G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67" name="Google Shape;1267;p63"/>
          <p:cNvCxnSpPr>
            <a:stCxn id="1263" idx="3"/>
            <a:endCxn id="125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8" name="Google Shape;1268;p63"/>
          <p:cNvCxnSpPr>
            <a:stCxn id="1254" idx="3"/>
            <a:endCxn id="125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9" name="Google Shape;1269;p63"/>
          <p:cNvCxnSpPr>
            <a:stCxn id="1251" idx="3"/>
            <a:endCxn id="125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0" name="Google Shape;1270;p6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271" name="Google Shape;1271;p63"/>
          <p:cNvCxnSpPr>
            <a:stCxn id="1256" idx="0"/>
            <a:endCxn id="125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2" name="Google Shape;1272;p6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273" name="Google Shape;1273;p6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74" name="Google Shape;1274;p6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275" name="Google Shape;1275;p6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276" name="Google Shape;1276;p6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277" name="Google Shape;1277;p6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278" name="Google Shape;1278;p6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279" name="Google Shape;1279;p6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80" name="Google Shape;1280;p6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81" name="Google Shape;1281;p6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282" name="Google Shape;1282;p63"/>
          <p:cNvCxnSpPr>
            <a:stCxn id="1254" idx="1"/>
            <a:endCxn id="125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3" name="Google Shape;1283;p6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284" name="Google Shape;1284;p63"/>
          <p:cNvSpPr txBox="1">
            <a:spLocks noGrp="1"/>
          </p:cNvSpPr>
          <p:nvPr>
            <p:ph type="body" idx="1"/>
          </p:nvPr>
        </p:nvSpPr>
        <p:spPr>
          <a:xfrm>
            <a:off x="107050" y="401393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Start from some arbitrary start node.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Add shortest edge (mark black) that has one node inside the MST under construction. Repeat until V-1 edges.</a:t>
            </a:r>
            <a:endParaRPr/>
          </a:p>
        </p:txBody>
      </p:sp>
      <p:sp>
        <p:nvSpPr>
          <p:cNvPr id="1285" name="Google Shape;1285;p6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 (Conceptual)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Algorithm </a:t>
            </a:r>
            <a:endParaRPr/>
          </a:p>
        </p:txBody>
      </p:sp>
      <p:sp>
        <p:nvSpPr>
          <p:cNvPr id="1291" name="Google Shape;1291;p64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42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Start from some arbitrary start node.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>
                <a:solidFill>
                  <a:srgbClr val="FF0000"/>
                </a:solidFill>
              </a:rPr>
              <a:t>Repeatedly add shortest edge </a:t>
            </a:r>
            <a:r>
              <a:rPr lang="en" dirty="0"/>
              <a:t>(mark black) that has one node inside the MST under construction.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Repeat until V-1 edges.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By using </a:t>
            </a:r>
            <a:r>
              <a:rPr lang="en-US" dirty="0">
                <a:solidFill>
                  <a:srgbClr val="FF0000"/>
                </a:solidFill>
              </a:rPr>
              <a:t>‘ cut property’ </a:t>
            </a:r>
            <a:r>
              <a:rPr lang="en-US" dirty="0"/>
              <a:t>over and over again</a:t>
            </a: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Why does Prim’s work? </a:t>
            </a:r>
            <a:r>
              <a:rPr lang="en" dirty="0">
                <a:solidFill>
                  <a:srgbClr val="FF0000"/>
                </a:solidFill>
              </a:rPr>
              <a:t>Special case of generic algorithm</a:t>
            </a:r>
            <a:r>
              <a:rPr lang="en" dirty="0"/>
              <a:t>.</a:t>
            </a:r>
            <a:endParaRPr dirty="0"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Suppose we add edge e = v-&gt;w.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Side 1 of cut is all vertices connected to start, side 2 is all the others.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 crossing edge is black (all connected edges on side 1).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 crossing edge has lower weight (consider in increasing order).</a:t>
            </a:r>
            <a:endParaRPr dirty="0"/>
          </a:p>
        </p:txBody>
      </p:sp>
      <p:pic>
        <p:nvPicPr>
          <p:cNvPr id="1292" name="Google Shape;1292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150" y="1322641"/>
            <a:ext cx="2590800" cy="21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65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1298" name="Google Shape;1298;p65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Prim’s Algorithm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Optimized Prim's (Demo)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1299" name="Google Shape;1299;p65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Optimized Prim's (Demo)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6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Algorithm Implementation </a:t>
            </a:r>
            <a:endParaRPr/>
          </a:p>
        </p:txBody>
      </p:sp>
      <p:sp>
        <p:nvSpPr>
          <p:cNvPr id="1305" name="Google Shape;1305;p66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natural implementation of the conceptual version of Prim’s algorithm is highly inefficient.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Iterating over all purple edges shown is unnecessary and slow.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use some cleverness and a PQ to speed things up.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Realistic Implementation Demo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Very similar to Dijkstra’s!</a:t>
            </a:r>
            <a:endParaRPr/>
          </a:p>
        </p:txBody>
      </p:sp>
      <p:sp>
        <p:nvSpPr>
          <p:cNvPr id="1306" name="Google Shape;1306;p66"/>
          <p:cNvSpPr/>
          <p:nvPr/>
        </p:nvSpPr>
        <p:spPr>
          <a:xfrm>
            <a:off x="5186290" y="27501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7" name="Google Shape;1307;p66"/>
          <p:cNvSpPr/>
          <p:nvPr/>
        </p:nvSpPr>
        <p:spPr>
          <a:xfrm>
            <a:off x="5135937" y="43046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66"/>
          <p:cNvSpPr/>
          <p:nvPr/>
        </p:nvSpPr>
        <p:spPr>
          <a:xfrm>
            <a:off x="7069891" y="20702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9" name="Google Shape;1309;p66"/>
          <p:cNvSpPr/>
          <p:nvPr/>
        </p:nvSpPr>
        <p:spPr>
          <a:xfrm>
            <a:off x="6996694" y="35273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66"/>
          <p:cNvSpPr/>
          <p:nvPr/>
        </p:nvSpPr>
        <p:spPr>
          <a:xfrm>
            <a:off x="7263466" y="45854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66"/>
          <p:cNvSpPr/>
          <p:nvPr/>
        </p:nvSpPr>
        <p:spPr>
          <a:xfrm>
            <a:off x="8587080" y="32961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2" name="Google Shape;1312;p66"/>
          <p:cNvCxnSpPr>
            <a:stCxn id="1306" idx="2"/>
            <a:endCxn id="1307" idx="0"/>
          </p:cNvCxnSpPr>
          <p:nvPr/>
        </p:nvCxnSpPr>
        <p:spPr>
          <a:xfrm flipH="1">
            <a:off x="5329540" y="30546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3" name="Google Shape;1313;p66"/>
          <p:cNvCxnSpPr>
            <a:stCxn id="1306" idx="3"/>
            <a:endCxn id="1309" idx="1"/>
          </p:cNvCxnSpPr>
          <p:nvPr/>
        </p:nvCxnSpPr>
        <p:spPr>
          <a:xfrm>
            <a:off x="5573590" y="29023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4" name="Google Shape;1314;p66"/>
          <p:cNvCxnSpPr>
            <a:stCxn id="1308" idx="2"/>
            <a:endCxn id="1309" idx="0"/>
          </p:cNvCxnSpPr>
          <p:nvPr/>
        </p:nvCxnSpPr>
        <p:spPr>
          <a:xfrm flipH="1">
            <a:off x="7190341" y="23747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5" name="Google Shape;1315;p66"/>
          <p:cNvCxnSpPr>
            <a:stCxn id="1311" idx="2"/>
            <a:endCxn id="1310" idx="3"/>
          </p:cNvCxnSpPr>
          <p:nvPr/>
        </p:nvCxnSpPr>
        <p:spPr>
          <a:xfrm flipH="1">
            <a:off x="7650630" y="36006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6" name="Google Shape;1316;p66"/>
          <p:cNvCxnSpPr>
            <a:stCxn id="1309" idx="2"/>
            <a:endCxn id="1310" idx="0"/>
          </p:cNvCxnSpPr>
          <p:nvPr/>
        </p:nvCxnSpPr>
        <p:spPr>
          <a:xfrm>
            <a:off x="7190344" y="38318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7" name="Google Shape;1317;p66"/>
          <p:cNvCxnSpPr>
            <a:stCxn id="1307" idx="3"/>
            <a:endCxn id="1310" idx="1"/>
          </p:cNvCxnSpPr>
          <p:nvPr/>
        </p:nvCxnSpPr>
        <p:spPr>
          <a:xfrm>
            <a:off x="5523237" y="44568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8" name="Google Shape;1318;p66"/>
          <p:cNvSpPr/>
          <p:nvPr/>
        </p:nvSpPr>
        <p:spPr>
          <a:xfrm>
            <a:off x="3596025" y="36441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9" name="Google Shape;1319;p66"/>
          <p:cNvCxnSpPr>
            <a:stCxn id="1318" idx="3"/>
            <a:endCxn id="1306" idx="1"/>
          </p:cNvCxnSpPr>
          <p:nvPr/>
        </p:nvCxnSpPr>
        <p:spPr>
          <a:xfrm rot="10800000" flipH="1">
            <a:off x="3983325" y="29024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0" name="Google Shape;1320;p66"/>
          <p:cNvSpPr txBox="1"/>
          <p:nvPr/>
        </p:nvSpPr>
        <p:spPr>
          <a:xfrm>
            <a:off x="3320193" y="35827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cxnSp>
        <p:nvCxnSpPr>
          <p:cNvPr id="1321" name="Google Shape;1321;p66"/>
          <p:cNvCxnSpPr>
            <a:stCxn id="1318" idx="3"/>
            <a:endCxn id="1307" idx="1"/>
          </p:cNvCxnSpPr>
          <p:nvPr/>
        </p:nvCxnSpPr>
        <p:spPr>
          <a:xfrm>
            <a:off x="3983325" y="37964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2" name="Google Shape;1322;p66"/>
          <p:cNvCxnSpPr>
            <a:stCxn id="1309" idx="3"/>
            <a:endCxn id="1311" idx="1"/>
          </p:cNvCxnSpPr>
          <p:nvPr/>
        </p:nvCxnSpPr>
        <p:spPr>
          <a:xfrm rot="10800000" flipH="1">
            <a:off x="7383994" y="34483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3" name="Google Shape;1323;p66"/>
          <p:cNvCxnSpPr>
            <a:stCxn id="1306" idx="3"/>
            <a:endCxn id="1308" idx="1"/>
          </p:cNvCxnSpPr>
          <p:nvPr/>
        </p:nvCxnSpPr>
        <p:spPr>
          <a:xfrm rot="10800000" flipH="1">
            <a:off x="5573590" y="2222551"/>
            <a:ext cx="1496400" cy="6798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4" name="Google Shape;1324;p66"/>
          <p:cNvSpPr/>
          <p:nvPr/>
        </p:nvSpPr>
        <p:spPr>
          <a:xfrm>
            <a:off x="5218190" y="34831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325" name="Google Shape;1325;p66"/>
          <p:cNvCxnSpPr>
            <a:stCxn id="1311" idx="0"/>
            <a:endCxn id="1308" idx="3"/>
          </p:cNvCxnSpPr>
          <p:nvPr/>
        </p:nvCxnSpPr>
        <p:spPr>
          <a:xfrm rot="10800000">
            <a:off x="7457130" y="22224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43F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6" name="Google Shape;1326;p66"/>
          <p:cNvSpPr/>
          <p:nvPr/>
        </p:nvSpPr>
        <p:spPr>
          <a:xfrm>
            <a:off x="4447398" y="32339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327" name="Google Shape;1327;p66"/>
          <p:cNvSpPr/>
          <p:nvPr/>
        </p:nvSpPr>
        <p:spPr>
          <a:xfrm>
            <a:off x="4371198" y="39411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28" name="Google Shape;1328;p66"/>
          <p:cNvSpPr/>
          <p:nvPr/>
        </p:nvSpPr>
        <p:spPr>
          <a:xfrm>
            <a:off x="6208400" y="44548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329" name="Google Shape;1329;p66"/>
          <p:cNvSpPr/>
          <p:nvPr/>
        </p:nvSpPr>
        <p:spPr>
          <a:xfrm>
            <a:off x="6158702" y="31733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330" name="Google Shape;1330;p66"/>
          <p:cNvSpPr/>
          <p:nvPr/>
        </p:nvSpPr>
        <p:spPr>
          <a:xfrm>
            <a:off x="7137114" y="27850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331" name="Google Shape;1331;p66"/>
          <p:cNvSpPr/>
          <p:nvPr/>
        </p:nvSpPr>
        <p:spPr>
          <a:xfrm>
            <a:off x="6118417" y="24250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332" name="Google Shape;1332;p66"/>
          <p:cNvSpPr/>
          <p:nvPr/>
        </p:nvSpPr>
        <p:spPr>
          <a:xfrm>
            <a:off x="7859089" y="3437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333" name="Google Shape;1333;p66"/>
          <p:cNvSpPr/>
          <p:nvPr/>
        </p:nvSpPr>
        <p:spPr>
          <a:xfrm>
            <a:off x="8121147" y="40273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34" name="Google Shape;1334;p66"/>
          <p:cNvSpPr/>
          <p:nvPr/>
        </p:nvSpPr>
        <p:spPr>
          <a:xfrm>
            <a:off x="7992472" y="26496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35" name="Google Shape;1335;p66"/>
          <p:cNvSpPr/>
          <p:nvPr/>
        </p:nvSpPr>
        <p:spPr>
          <a:xfrm>
            <a:off x="7153953" y="40179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336" name="Google Shape;1336;p66"/>
          <p:cNvCxnSpPr>
            <a:stCxn id="1309" idx="1"/>
            <a:endCxn id="1307" idx="3"/>
          </p:cNvCxnSpPr>
          <p:nvPr/>
        </p:nvCxnSpPr>
        <p:spPr>
          <a:xfrm flipH="1">
            <a:off x="5523094" y="36796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66"/>
          <p:cNvSpPr/>
          <p:nvPr/>
        </p:nvSpPr>
        <p:spPr>
          <a:xfrm>
            <a:off x="6140490" y="39318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6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343" name="Google Shape;1343;p67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  <p:sp>
        <p:nvSpPr>
          <p:cNvPr id="1344" name="Google Shape;1344;p6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5" name="Google Shape;1345;p6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6" name="Google Shape;1346;p6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7" name="Google Shape;1347;p6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8" name="Google Shape;1348;p6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9" name="Google Shape;1349;p6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0" name="Google Shape;1350;p67"/>
          <p:cNvCxnSpPr>
            <a:stCxn id="1344" idx="2"/>
            <a:endCxn id="134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1" name="Google Shape;1351;p67"/>
          <p:cNvCxnSpPr>
            <a:stCxn id="1344" idx="3"/>
            <a:endCxn id="134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2" name="Google Shape;1352;p67"/>
          <p:cNvCxnSpPr>
            <a:stCxn id="1346" idx="2"/>
            <a:endCxn id="134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3" name="Google Shape;1353;p67"/>
          <p:cNvCxnSpPr>
            <a:stCxn id="1349" idx="2"/>
            <a:endCxn id="134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4" name="Google Shape;1354;p67"/>
          <p:cNvCxnSpPr>
            <a:stCxn id="1347" idx="2"/>
            <a:endCxn id="134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5" name="Google Shape;1355;p67"/>
          <p:cNvCxnSpPr>
            <a:stCxn id="1345" idx="3"/>
            <a:endCxn id="134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6" name="Google Shape;1356;p6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7" name="Google Shape;1357;p67"/>
          <p:cNvCxnSpPr>
            <a:stCxn id="1356" idx="3"/>
            <a:endCxn id="134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8" name="Google Shape;1358;p6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359" name="Google Shape;1359;p67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60" name="Google Shape;1360;p67"/>
          <p:cNvCxnSpPr>
            <a:stCxn id="1356" idx="3"/>
            <a:endCxn id="134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67"/>
          <p:cNvCxnSpPr>
            <a:stCxn id="1347" idx="3"/>
            <a:endCxn id="134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2" name="Google Shape;1362;p67"/>
          <p:cNvCxnSpPr>
            <a:stCxn id="1344" idx="3"/>
            <a:endCxn id="134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3" name="Google Shape;1363;p6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364" name="Google Shape;1364;p67"/>
          <p:cNvCxnSpPr>
            <a:stCxn id="1349" idx="0"/>
            <a:endCxn id="134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5" name="Google Shape;1365;p6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366" name="Google Shape;1366;p6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67" name="Google Shape;1367;p6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368" name="Google Shape;1368;p6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369" name="Google Shape;1369;p67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370" name="Google Shape;1370;p6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371" name="Google Shape;1371;p6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372" name="Google Shape;1372;p6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73" name="Google Shape;1373;p6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374" name="Google Shape;1374;p67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[(A: 0), (B: ∞), (C: ∞),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5" name="Google Shape;1375;p6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376" name="Google Shape;1376;p67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377" name="Google Shape;1377;p67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43F0"/>
                </a:solidFill>
              </a:rPr>
              <a:t>∞</a:t>
            </a:r>
            <a:endParaRPr sz="1800" b="1">
              <a:solidFill>
                <a:srgbClr val="FF43F0"/>
              </a:solidFill>
            </a:endParaRPr>
          </a:p>
        </p:txBody>
      </p:sp>
      <p:sp>
        <p:nvSpPr>
          <p:cNvPr id="1378" name="Google Shape;1378;p67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379" name="Google Shape;1379;p67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380" name="Google Shape;1380;p67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381" name="Google Shape;1381;p67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382" name="Google Shape;1382;p67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383" name="Google Shape;1383;p67"/>
          <p:cNvCxnSpPr>
            <a:stCxn id="1347" idx="1"/>
            <a:endCxn id="134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4" name="Google Shape;1384;p6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6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390" name="Google Shape;1390;p6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1" name="Google Shape;1391;p6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2" name="Google Shape;1392;p6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3" name="Google Shape;1393;p6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6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6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6" name="Google Shape;1396;p68"/>
          <p:cNvCxnSpPr>
            <a:stCxn id="1390" idx="2"/>
            <a:endCxn id="139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7" name="Google Shape;1397;p68"/>
          <p:cNvCxnSpPr>
            <a:stCxn id="1390" idx="3"/>
            <a:endCxn id="139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8" name="Google Shape;1398;p68"/>
          <p:cNvCxnSpPr>
            <a:stCxn id="1392" idx="2"/>
            <a:endCxn id="139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9" name="Google Shape;1399;p68"/>
          <p:cNvCxnSpPr>
            <a:stCxn id="1395" idx="2"/>
            <a:endCxn id="139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68"/>
          <p:cNvCxnSpPr>
            <a:stCxn id="1393" idx="2"/>
            <a:endCxn id="139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1" name="Google Shape;1401;p68"/>
          <p:cNvCxnSpPr>
            <a:stCxn id="1391" idx="3"/>
            <a:endCxn id="139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2" name="Google Shape;1402;p6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3" name="Google Shape;1403;p68"/>
          <p:cNvCxnSpPr>
            <a:stCxn id="1402" idx="3"/>
            <a:endCxn id="139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4" name="Google Shape;1404;p6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405" name="Google Shape;1405;p68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       0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06" name="Google Shape;1406;p68"/>
          <p:cNvCxnSpPr>
            <a:stCxn id="1402" idx="3"/>
            <a:endCxn id="139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7" name="Google Shape;1407;p68"/>
          <p:cNvCxnSpPr>
            <a:stCxn id="1393" idx="3"/>
            <a:endCxn id="139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8" name="Google Shape;1408;p68"/>
          <p:cNvCxnSpPr>
            <a:stCxn id="1390" idx="3"/>
            <a:endCxn id="139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9" name="Google Shape;1409;p6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410" name="Google Shape;1410;p68"/>
          <p:cNvCxnSpPr>
            <a:stCxn id="1395" idx="0"/>
            <a:endCxn id="139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" name="Google Shape;1411;p6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412" name="Google Shape;1412;p6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13" name="Google Shape;1413;p6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414" name="Google Shape;1414;p6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415" name="Google Shape;1415;p68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416" name="Google Shape;1416;p6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417" name="Google Shape;1417;p6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418" name="Google Shape;1418;p6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19" name="Google Shape;1419;p6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20" name="Google Shape;1420;p6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421" name="Google Shape;1421;p68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0</a:t>
            </a:r>
            <a:endParaRPr sz="1600">
              <a:solidFill>
                <a:srgbClr val="FF43F0"/>
              </a:solidFill>
            </a:endParaRPr>
          </a:p>
        </p:txBody>
      </p:sp>
      <p:sp>
        <p:nvSpPr>
          <p:cNvPr id="1422" name="Google Shape;1422;p68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43F0"/>
                </a:solidFill>
              </a:rPr>
              <a:t>∞</a:t>
            </a:r>
            <a:endParaRPr sz="1800" b="1">
              <a:solidFill>
                <a:srgbClr val="FF43F0"/>
              </a:solidFill>
            </a:endParaRPr>
          </a:p>
        </p:txBody>
      </p:sp>
      <p:sp>
        <p:nvSpPr>
          <p:cNvPr id="1423" name="Google Shape;1423;p68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24" name="Google Shape;1424;p68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25" name="Google Shape;1425;p68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26" name="Google Shape;1426;p68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27" name="Google Shape;1427;p68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428" name="Google Shape;1428;p68"/>
          <p:cNvCxnSpPr>
            <a:stCxn id="1393" idx="1"/>
            <a:endCxn id="139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9" name="Google Shape;1429;p6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30" name="Google Shape;1430;p68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(B: ∞), (C: ∞), (D: ∞), (E: ∞), (F: ∞), (G: ∞)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p68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437" name="Google Shape;1437;p6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6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9" name="Google Shape;1439;p6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0" name="Google Shape;1440;p6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1" name="Google Shape;1441;p6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6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3" name="Google Shape;1443;p69"/>
          <p:cNvCxnSpPr>
            <a:stCxn id="1437" idx="2"/>
            <a:endCxn id="143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4" name="Google Shape;1444;p69"/>
          <p:cNvCxnSpPr>
            <a:stCxn id="1437" idx="3"/>
            <a:endCxn id="144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5" name="Google Shape;1445;p69"/>
          <p:cNvCxnSpPr>
            <a:stCxn id="1439" idx="2"/>
            <a:endCxn id="144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6" name="Google Shape;1446;p69"/>
          <p:cNvCxnSpPr>
            <a:stCxn id="1442" idx="2"/>
            <a:endCxn id="144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7" name="Google Shape;1447;p69"/>
          <p:cNvCxnSpPr>
            <a:stCxn id="1440" idx="2"/>
            <a:endCxn id="144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8" name="Google Shape;1448;p69"/>
          <p:cNvCxnSpPr>
            <a:stCxn id="1438" idx="3"/>
            <a:endCxn id="144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9" name="Google Shape;1449;p6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0" name="Google Shape;1450;p69"/>
          <p:cNvCxnSpPr>
            <a:stCxn id="1449" idx="3"/>
            <a:endCxn id="143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1" name="Google Shape;1451;p6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452" name="Google Shape;1452;p69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453" name="Google Shape;1453;p69"/>
          <p:cNvCxnSpPr>
            <a:stCxn id="1449" idx="3"/>
            <a:endCxn id="143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4" name="Google Shape;1454;p69"/>
          <p:cNvCxnSpPr>
            <a:stCxn id="1440" idx="3"/>
            <a:endCxn id="144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5" name="Google Shape;1455;p69"/>
          <p:cNvCxnSpPr>
            <a:stCxn id="1437" idx="3"/>
            <a:endCxn id="143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6" name="Google Shape;1456;p6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457" name="Google Shape;1457;p69"/>
          <p:cNvCxnSpPr>
            <a:stCxn id="1442" idx="0"/>
            <a:endCxn id="143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8" name="Google Shape;1458;p6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459" name="Google Shape;1459;p6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60" name="Google Shape;1460;p6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461" name="Google Shape;1461;p6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462" name="Google Shape;1462;p69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463" name="Google Shape;1463;p6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464" name="Google Shape;1464;p6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465" name="Google Shape;1465;p6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66" name="Google Shape;1466;p6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467" name="Google Shape;1467;p69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[(C: 1), (B: 2),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68" name="Google Shape;1468;p6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469" name="Google Shape;1469;p69"/>
          <p:cNvSpPr txBox="1"/>
          <p:nvPr/>
        </p:nvSpPr>
        <p:spPr>
          <a:xfrm>
            <a:off x="3478554" y="276500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43F0"/>
              </a:solidFill>
            </a:endParaRPr>
          </a:p>
        </p:txBody>
      </p:sp>
      <p:sp>
        <p:nvSpPr>
          <p:cNvPr id="1470" name="Google Shape;1470;p69"/>
          <p:cNvSpPr txBox="1"/>
          <p:nvPr/>
        </p:nvSpPr>
        <p:spPr>
          <a:xfrm>
            <a:off x="5052827" y="18937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43F0"/>
                </a:solidFill>
              </a:rPr>
              <a:t>∞</a:t>
            </a:r>
            <a:endParaRPr sz="1800" b="1">
              <a:solidFill>
                <a:srgbClr val="FF43F0"/>
              </a:solidFill>
            </a:endParaRPr>
          </a:p>
        </p:txBody>
      </p:sp>
      <p:sp>
        <p:nvSpPr>
          <p:cNvPr id="1471" name="Google Shape;1471;p69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72" name="Google Shape;1472;p69"/>
          <p:cNvSpPr txBox="1"/>
          <p:nvPr/>
        </p:nvSpPr>
        <p:spPr>
          <a:xfrm>
            <a:off x="5199892" y="34306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73" name="Google Shape;1473;p69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74" name="Google Shape;1474;p69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75" name="Google Shape;1475;p69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476" name="Google Shape;1476;p69"/>
          <p:cNvCxnSpPr>
            <a:stCxn id="1440" idx="1"/>
            <a:endCxn id="143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7" name="Google Shape;1477;p6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cxnSp>
        <p:nvCxnSpPr>
          <p:cNvPr id="1478" name="Google Shape;1478;p69"/>
          <p:cNvCxnSpPr/>
          <p:nvPr/>
        </p:nvCxnSpPr>
        <p:spPr>
          <a:xfrm>
            <a:off x="5143500" y="2041550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9" name="Google Shape;1479;p69"/>
          <p:cNvCxnSpPr/>
          <p:nvPr/>
        </p:nvCxnSpPr>
        <p:spPr>
          <a:xfrm>
            <a:off x="5256811" y="3576246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0" name="Google Shape;1480;p69"/>
          <p:cNvSpPr/>
          <p:nvPr/>
        </p:nvSpPr>
        <p:spPr>
          <a:xfrm>
            <a:off x="2170371" y="2418150"/>
            <a:ext cx="2775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69"/>
          <p:cNvSpPr/>
          <p:nvPr/>
        </p:nvSpPr>
        <p:spPr>
          <a:xfrm>
            <a:off x="1179771" y="2418150"/>
            <a:ext cx="2775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69"/>
          <p:cNvSpPr/>
          <p:nvPr/>
        </p:nvSpPr>
        <p:spPr>
          <a:xfrm>
            <a:off x="2344339" y="4647975"/>
            <a:ext cx="15597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69"/>
          <p:cNvSpPr txBox="1"/>
          <p:nvPr/>
        </p:nvSpPr>
        <p:spPr>
          <a:xfrm>
            <a:off x="5318692" y="177316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84" name="Google Shape;1484;p69"/>
          <p:cNvSpPr txBox="1"/>
          <p:nvPr/>
        </p:nvSpPr>
        <p:spPr>
          <a:xfrm>
            <a:off x="5499292" y="3263042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485" name="Google Shape;1485;p69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7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491" name="Google Shape;1491;p7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2" name="Google Shape;1492;p7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7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4" name="Google Shape;1494;p7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7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7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7" name="Google Shape;1497;p70"/>
          <p:cNvCxnSpPr>
            <a:stCxn id="1491" idx="2"/>
            <a:endCxn id="149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8" name="Google Shape;1498;p70"/>
          <p:cNvCxnSpPr>
            <a:stCxn id="1491" idx="3"/>
            <a:endCxn id="149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9" name="Google Shape;1499;p70"/>
          <p:cNvCxnSpPr>
            <a:stCxn id="1493" idx="2"/>
            <a:endCxn id="149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0" name="Google Shape;1500;p70"/>
          <p:cNvCxnSpPr>
            <a:stCxn id="1496" idx="2"/>
            <a:endCxn id="149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1" name="Google Shape;1501;p70"/>
          <p:cNvCxnSpPr>
            <a:stCxn id="1494" idx="2"/>
            <a:endCxn id="149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2" name="Google Shape;1502;p70"/>
          <p:cNvCxnSpPr>
            <a:stCxn id="1492" idx="3"/>
            <a:endCxn id="149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3" name="Google Shape;1503;p7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4" name="Google Shape;1504;p70"/>
          <p:cNvCxnSpPr>
            <a:stCxn id="1503" idx="3"/>
            <a:endCxn id="149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505" name="Google Shape;1505;p7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06" name="Google Shape;1506;p70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0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        1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07" name="Google Shape;1507;p70"/>
          <p:cNvCxnSpPr>
            <a:stCxn id="1503" idx="3"/>
            <a:endCxn id="149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08" name="Google Shape;1508;p70"/>
          <p:cNvCxnSpPr>
            <a:stCxn id="1494" idx="3"/>
            <a:endCxn id="149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9" name="Google Shape;1509;p70"/>
          <p:cNvCxnSpPr>
            <a:stCxn id="1491" idx="3"/>
            <a:endCxn id="149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0" name="Google Shape;1510;p7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511" name="Google Shape;1511;p70"/>
          <p:cNvCxnSpPr>
            <a:stCxn id="1496" idx="0"/>
            <a:endCxn id="149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2" name="Google Shape;1512;p7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513" name="Google Shape;1513;p7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14" name="Google Shape;1514;p7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515" name="Google Shape;1515;p7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516" name="Google Shape;1516;p70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517" name="Google Shape;1517;p7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518" name="Google Shape;1518;p7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519" name="Google Shape;1519;p7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20" name="Google Shape;1520;p7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21" name="Google Shape;1521;p70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[(C: 1), (B: 2), (D: ∞), (E: ∞), (F: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2" name="Google Shape;1522;p7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523" name="Google Shape;1523;p70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24" name="Google Shape;1524;p70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25" name="Google Shape;1525;p70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26" name="Google Shape;1526;p70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527" name="Google Shape;1527;p70"/>
          <p:cNvCxnSpPr>
            <a:stCxn id="1494" idx="1"/>
            <a:endCxn id="149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8" name="Google Shape;1528;p7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29" name="Google Shape;1529;p70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30" name="Google Shape;1530;p70"/>
          <p:cNvSpPr txBox="1"/>
          <p:nvPr/>
        </p:nvSpPr>
        <p:spPr>
          <a:xfrm>
            <a:off x="5118292" y="3361851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31" name="Google Shape;1531;p70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7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537" name="Google Shape;1537;p7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8" name="Google Shape;1538;p7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7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7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1" name="Google Shape;1541;p7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7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3" name="Google Shape;1543;p71"/>
          <p:cNvCxnSpPr>
            <a:stCxn id="1537" idx="2"/>
            <a:endCxn id="153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4" name="Google Shape;1544;p71"/>
          <p:cNvCxnSpPr>
            <a:stCxn id="1537" idx="3"/>
            <a:endCxn id="154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5" name="Google Shape;1545;p71"/>
          <p:cNvCxnSpPr>
            <a:stCxn id="1539" idx="2"/>
            <a:endCxn id="154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6" name="Google Shape;1546;p71"/>
          <p:cNvCxnSpPr>
            <a:stCxn id="1542" idx="2"/>
            <a:endCxn id="154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7" name="Google Shape;1547;p71"/>
          <p:cNvCxnSpPr>
            <a:stCxn id="1540" idx="2"/>
            <a:endCxn id="154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8" name="Google Shape;1548;p71"/>
          <p:cNvCxnSpPr>
            <a:stCxn id="1538" idx="3"/>
            <a:endCxn id="154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9" name="Google Shape;1549;p7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0" name="Google Shape;1550;p71"/>
          <p:cNvCxnSpPr>
            <a:stCxn id="1549" idx="3"/>
            <a:endCxn id="153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551" name="Google Shape;1551;p7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52" name="Google Shape;1552;p7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53" name="Google Shape;1553;p71"/>
          <p:cNvCxnSpPr>
            <a:stCxn id="1549" idx="3"/>
            <a:endCxn id="153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4" name="Google Shape;1554;p71"/>
          <p:cNvCxnSpPr>
            <a:stCxn id="1540" idx="3"/>
            <a:endCxn id="154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5" name="Google Shape;1555;p71"/>
          <p:cNvCxnSpPr>
            <a:stCxn id="1537" idx="3"/>
            <a:endCxn id="153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6" name="Google Shape;1556;p7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557" name="Google Shape;1557;p71"/>
          <p:cNvCxnSpPr>
            <a:stCxn id="1542" idx="0"/>
            <a:endCxn id="153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8" name="Google Shape;1558;p7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559" name="Google Shape;1559;p7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60" name="Google Shape;1560;p7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561" name="Google Shape;1561;p7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562" name="Google Shape;1562;p7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563" name="Google Shape;1563;p7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564" name="Google Shape;1564;p7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565" name="Google Shape;1565;p7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66" name="Google Shape;1566;p7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67" name="Google Shape;1567;p71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(B: 2), (D: ∞), (E: ∞), (F: ∞), (G: ∞)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8" name="Google Shape;1568;p7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569" name="Google Shape;1569;p71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70" name="Google Shape;1570;p71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71" name="Google Shape;1571;p71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72" name="Google Shape;1572;p71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573" name="Google Shape;1573;p71"/>
          <p:cNvCxnSpPr>
            <a:stCxn id="1540" idx="1"/>
            <a:endCxn id="153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4" name="Google Shape;1574;p7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575" name="Google Shape;1575;p71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576" name="Google Shape;1576;p71"/>
          <p:cNvSpPr txBox="1"/>
          <p:nvPr/>
        </p:nvSpPr>
        <p:spPr>
          <a:xfrm>
            <a:off x="153625" y="3985958"/>
            <a:ext cx="53763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Vertex removal in this implementation of Prim’s is equivalent to edge addition in the conceptual version of Prim’s.</a:t>
            </a:r>
            <a:endParaRPr/>
          </a:p>
        </p:txBody>
      </p:sp>
      <p:sp>
        <p:nvSpPr>
          <p:cNvPr id="1577" name="Google Shape;1577;p71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7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583" name="Google Shape;1583;p7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4" name="Google Shape;1584;p7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5" name="Google Shape;1585;p7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6" name="Google Shape;1586;p7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7" name="Google Shape;1587;p7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8" name="Google Shape;1588;p7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9" name="Google Shape;1589;p72"/>
          <p:cNvCxnSpPr>
            <a:stCxn id="1583" idx="2"/>
            <a:endCxn id="158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0" name="Google Shape;1590;p72"/>
          <p:cNvCxnSpPr>
            <a:stCxn id="1583" idx="3"/>
            <a:endCxn id="158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1" name="Google Shape;1591;p72"/>
          <p:cNvCxnSpPr>
            <a:stCxn id="1585" idx="2"/>
            <a:endCxn id="158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2" name="Google Shape;1592;p72"/>
          <p:cNvCxnSpPr>
            <a:stCxn id="1588" idx="2"/>
            <a:endCxn id="158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3" name="Google Shape;1593;p72"/>
          <p:cNvCxnSpPr>
            <a:stCxn id="1586" idx="2"/>
            <a:endCxn id="158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4" name="Google Shape;1594;p72"/>
          <p:cNvCxnSpPr>
            <a:stCxn id="1584" idx="3"/>
            <a:endCxn id="158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5" name="Google Shape;1595;p7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6" name="Google Shape;1596;p72"/>
          <p:cNvCxnSpPr>
            <a:stCxn id="1595" idx="3"/>
            <a:endCxn id="158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597" name="Google Shape;1597;p7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598" name="Google Shape;1598;p7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1 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15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99" name="Google Shape;1599;p72"/>
          <p:cNvCxnSpPr>
            <a:stCxn id="1595" idx="3"/>
            <a:endCxn id="158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0" name="Google Shape;1600;p72"/>
          <p:cNvCxnSpPr>
            <a:stCxn id="1586" idx="3"/>
            <a:endCxn id="158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1" name="Google Shape;1601;p72"/>
          <p:cNvCxnSpPr>
            <a:stCxn id="1583" idx="3"/>
            <a:endCxn id="158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2" name="Google Shape;1602;p7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603" name="Google Shape;1603;p72"/>
          <p:cNvCxnSpPr>
            <a:stCxn id="1588" idx="0"/>
            <a:endCxn id="158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4" name="Google Shape;1604;p7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605" name="Google Shape;1605;p7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06" name="Google Shape;1606;p7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607" name="Google Shape;1607;p7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608" name="Google Shape;1608;p7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609" name="Google Shape;1609;p7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610" name="Google Shape;1610;p7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611" name="Google Shape;1611;p7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12" name="Google Shape;1612;p7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13" name="Google Shape;1613;p72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(E: 1),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(B: 2), (F: 15)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(D: ∞), (G: ∞)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14" name="Google Shape;1614;p7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615" name="Google Shape;1615;p72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16" name="Google Shape;1616;p72"/>
          <p:cNvSpPr txBox="1"/>
          <p:nvPr/>
        </p:nvSpPr>
        <p:spPr>
          <a:xfrm>
            <a:off x="7067773" y="265323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17" name="Google Shape;1617;p72"/>
          <p:cNvSpPr txBox="1"/>
          <p:nvPr/>
        </p:nvSpPr>
        <p:spPr>
          <a:xfrm>
            <a:off x="7291060" y="37173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18" name="Google Shape;1618;p72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19" name="Google Shape;1619;p72"/>
          <p:cNvCxnSpPr>
            <a:stCxn id="1586" idx="1"/>
            <a:endCxn id="158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0" name="Google Shape;1620;p7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21" name="Google Shape;1621;p72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22" name="Google Shape;1622;p72"/>
          <p:cNvCxnSpPr/>
          <p:nvPr/>
        </p:nvCxnSpPr>
        <p:spPr>
          <a:xfrm>
            <a:off x="7132275" y="2799025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3" name="Google Shape;1623;p72"/>
          <p:cNvSpPr txBox="1"/>
          <p:nvPr/>
        </p:nvSpPr>
        <p:spPr>
          <a:xfrm>
            <a:off x="7250238" y="253167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24" name="Google Shape;1624;p72"/>
          <p:cNvCxnSpPr/>
          <p:nvPr/>
        </p:nvCxnSpPr>
        <p:spPr>
          <a:xfrm>
            <a:off x="7360875" y="3865825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5" name="Google Shape;1625;p72"/>
          <p:cNvSpPr txBox="1"/>
          <p:nvPr/>
        </p:nvSpPr>
        <p:spPr>
          <a:xfrm>
            <a:off x="7402627" y="35222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26" name="Google Shape;1626;p72"/>
          <p:cNvSpPr/>
          <p:nvPr/>
        </p:nvSpPr>
        <p:spPr>
          <a:xfrm>
            <a:off x="1165854" y="3191454"/>
            <a:ext cx="3873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7" name="Google Shape;1627;p72"/>
          <p:cNvSpPr/>
          <p:nvPr/>
        </p:nvSpPr>
        <p:spPr>
          <a:xfrm>
            <a:off x="2159066" y="3180150"/>
            <a:ext cx="2775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72"/>
          <p:cNvSpPr/>
          <p:nvPr/>
        </p:nvSpPr>
        <p:spPr>
          <a:xfrm>
            <a:off x="2344339" y="4647975"/>
            <a:ext cx="15597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72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7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635" name="Google Shape;1635;p7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6" name="Google Shape;1636;p7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7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8" name="Google Shape;1638;p7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9" name="Google Shape;1639;p7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0" name="Google Shape;1640;p7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1" name="Google Shape;1641;p73"/>
          <p:cNvCxnSpPr>
            <a:stCxn id="1635" idx="2"/>
            <a:endCxn id="163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2" name="Google Shape;1642;p73"/>
          <p:cNvCxnSpPr>
            <a:stCxn id="1635" idx="3"/>
            <a:endCxn id="163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3" name="Google Shape;1643;p73"/>
          <p:cNvCxnSpPr>
            <a:stCxn id="1637" idx="2"/>
            <a:endCxn id="163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4" name="Google Shape;1644;p73"/>
          <p:cNvCxnSpPr>
            <a:stCxn id="1640" idx="2"/>
            <a:endCxn id="163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5" name="Google Shape;1645;p73"/>
          <p:cNvCxnSpPr>
            <a:stCxn id="1638" idx="2"/>
            <a:endCxn id="163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6" name="Google Shape;1646;p73"/>
          <p:cNvCxnSpPr>
            <a:stCxn id="1636" idx="3"/>
            <a:endCxn id="163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47" name="Google Shape;1647;p7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8" name="Google Shape;1648;p73"/>
          <p:cNvCxnSpPr>
            <a:stCxn id="1647" idx="3"/>
            <a:endCxn id="163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49" name="Google Shape;1649;p7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650" name="Google Shape;1650;p7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1 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15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51" name="Google Shape;1651;p73"/>
          <p:cNvCxnSpPr>
            <a:stCxn id="1647" idx="3"/>
            <a:endCxn id="163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2" name="Google Shape;1652;p73"/>
          <p:cNvCxnSpPr>
            <a:stCxn id="1638" idx="3"/>
            <a:endCxn id="164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3" name="Google Shape;1653;p73"/>
          <p:cNvCxnSpPr>
            <a:stCxn id="1635" idx="3"/>
            <a:endCxn id="163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4" name="Google Shape;1654;p7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655" name="Google Shape;1655;p73"/>
          <p:cNvCxnSpPr>
            <a:stCxn id="1640" idx="0"/>
            <a:endCxn id="163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6" name="Google Shape;1656;p7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657" name="Google Shape;1657;p7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58" name="Google Shape;1658;p7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659" name="Google Shape;1659;p7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660" name="Google Shape;1660;p7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661" name="Google Shape;1661;p7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662" name="Google Shape;1662;p7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663" name="Google Shape;1663;p7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64" name="Google Shape;1664;p7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65" name="Google Shape;1665;p73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[(E: 1), (B: 2), (F: 15), (D: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6" name="Google Shape;1666;p7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667" name="Google Shape;1667;p73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68" name="Google Shape;1668;p73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669" name="Google Shape;1669;p73"/>
          <p:cNvCxnSpPr>
            <a:stCxn id="1638" idx="1"/>
            <a:endCxn id="163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70" name="Google Shape;1670;p7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671" name="Google Shape;1671;p73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72" name="Google Shape;1672;p73"/>
          <p:cNvSpPr txBox="1"/>
          <p:nvPr/>
        </p:nvSpPr>
        <p:spPr>
          <a:xfrm>
            <a:off x="7097838" y="260787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73" name="Google Shape;1673;p73"/>
          <p:cNvSpPr txBox="1"/>
          <p:nvPr/>
        </p:nvSpPr>
        <p:spPr>
          <a:xfrm>
            <a:off x="7250227" y="36746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674" name="Google Shape;1674;p73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7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680" name="Google Shape;1680;p7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7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2" name="Google Shape;1682;p7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3" name="Google Shape;1683;p7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7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5" name="Google Shape;1685;p7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6" name="Google Shape;1686;p74"/>
          <p:cNvCxnSpPr>
            <a:stCxn id="1680" idx="2"/>
            <a:endCxn id="168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7" name="Google Shape;1687;p74"/>
          <p:cNvCxnSpPr>
            <a:stCxn id="1680" idx="3"/>
            <a:endCxn id="168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8" name="Google Shape;1688;p74"/>
          <p:cNvCxnSpPr>
            <a:stCxn id="1682" idx="2"/>
            <a:endCxn id="168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9" name="Google Shape;1689;p74"/>
          <p:cNvCxnSpPr>
            <a:stCxn id="1685" idx="2"/>
            <a:endCxn id="168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0" name="Google Shape;1690;p74"/>
          <p:cNvCxnSpPr>
            <a:stCxn id="1683" idx="2"/>
            <a:endCxn id="168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1" name="Google Shape;1691;p74"/>
          <p:cNvCxnSpPr>
            <a:stCxn id="1681" idx="3"/>
            <a:endCxn id="168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2" name="Google Shape;1692;p7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74"/>
          <p:cNvCxnSpPr>
            <a:stCxn id="1692" idx="3"/>
            <a:endCxn id="168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94" name="Google Shape;1694;p7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695" name="Google Shape;1695;p74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        1 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15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696" name="Google Shape;1696;p74"/>
          <p:cNvCxnSpPr>
            <a:stCxn id="1692" idx="3"/>
            <a:endCxn id="168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7" name="Google Shape;1697;p74"/>
          <p:cNvCxnSpPr>
            <a:stCxn id="1683" idx="3"/>
            <a:endCxn id="168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8" name="Google Shape;1698;p74"/>
          <p:cNvCxnSpPr>
            <a:stCxn id="1680" idx="3"/>
            <a:endCxn id="168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9" name="Google Shape;1699;p7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700" name="Google Shape;1700;p74"/>
          <p:cNvCxnSpPr>
            <a:stCxn id="1685" idx="0"/>
            <a:endCxn id="168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1" name="Google Shape;1701;p7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02" name="Google Shape;1702;p7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03" name="Google Shape;1703;p7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704" name="Google Shape;1704;p7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05" name="Google Shape;1705;p7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06" name="Google Shape;1706;p7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707" name="Google Shape;1707;p7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08" name="Google Shape;1708;p7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09" name="Google Shape;1709;p7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10" name="Google Shape;1710;p74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[(E: 1), (B: 2), (F: 15), (D: ∞), (G: ∞)]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1" name="Google Shape;1711;p7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712" name="Google Shape;1712;p74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13" name="Google Shape;1713;p74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714" name="Google Shape;1714;p74"/>
          <p:cNvCxnSpPr>
            <a:stCxn id="1683" idx="1"/>
            <a:endCxn id="168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15" name="Google Shape;1715;p7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C9DAF8"/>
          </a:solidFill>
          <a:ln w="19050" cap="flat" cmpd="sng">
            <a:solidFill>
              <a:srgbClr val="C9DA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16" name="Google Shape;1716;p74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17" name="Google Shape;1717;p74"/>
          <p:cNvSpPr txBox="1"/>
          <p:nvPr/>
        </p:nvSpPr>
        <p:spPr>
          <a:xfrm>
            <a:off x="7097838" y="2607873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18" name="Google Shape;1718;p74"/>
          <p:cNvSpPr txBox="1"/>
          <p:nvPr/>
        </p:nvSpPr>
        <p:spPr>
          <a:xfrm>
            <a:off x="7250227" y="36746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19" name="Google Shape;1719;p7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Repeat: Remove (closest) vertex v from PQ, and relax all edges pointing from v.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distTo, edgeTo, and fringe after next relaxation.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725" name="Google Shape;1725;p7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6" name="Google Shape;1726;p7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7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7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7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7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1" name="Google Shape;1731;p75"/>
          <p:cNvCxnSpPr>
            <a:stCxn id="1725" idx="2"/>
            <a:endCxn id="172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2" name="Google Shape;1732;p75"/>
          <p:cNvCxnSpPr>
            <a:stCxn id="1725" idx="3"/>
            <a:endCxn id="172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3" name="Google Shape;1733;p75"/>
          <p:cNvCxnSpPr>
            <a:stCxn id="1727" idx="2"/>
            <a:endCxn id="172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4" name="Google Shape;1734;p75"/>
          <p:cNvCxnSpPr>
            <a:stCxn id="1730" idx="2"/>
            <a:endCxn id="172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5" name="Google Shape;1735;p75"/>
          <p:cNvCxnSpPr>
            <a:stCxn id="1728" idx="2"/>
            <a:endCxn id="172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6" name="Google Shape;1736;p75"/>
          <p:cNvCxnSpPr>
            <a:stCxn id="1726" idx="3"/>
            <a:endCxn id="172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37" name="Google Shape;1737;p7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8" name="Google Shape;1738;p75"/>
          <p:cNvCxnSpPr>
            <a:stCxn id="1737" idx="3"/>
            <a:endCxn id="172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39" name="Google Shape;1739;p7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740" name="Google Shape;1740;p75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15       C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∞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41" name="Google Shape;1741;p75"/>
          <p:cNvCxnSpPr>
            <a:stCxn id="1737" idx="3"/>
            <a:endCxn id="172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2" name="Google Shape;1742;p75"/>
          <p:cNvCxnSpPr>
            <a:stCxn id="1728" idx="3"/>
            <a:endCxn id="173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3" name="Google Shape;1743;p75"/>
          <p:cNvCxnSpPr>
            <a:stCxn id="1725" idx="3"/>
            <a:endCxn id="172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4" name="Google Shape;1744;p7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745" name="Google Shape;1745;p75"/>
          <p:cNvCxnSpPr>
            <a:stCxn id="1730" idx="0"/>
            <a:endCxn id="172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6" name="Google Shape;1746;p7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47" name="Google Shape;1747;p7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48" name="Google Shape;1748;p7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749" name="Google Shape;1749;p7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50" name="Google Shape;1750;p75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51" name="Google Shape;1751;p7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752" name="Google Shape;1752;p7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53" name="Google Shape;1753;p7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54" name="Google Shape;1754;p7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55" name="Google Shape;1755;p75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(B: 2), (F: 15), (D: ∞), (G: ∞)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6" name="Google Shape;1756;p7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757" name="Google Shape;1757;p75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58" name="Google Shape;1758;p75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759" name="Google Shape;1759;p75"/>
          <p:cNvCxnSpPr>
            <a:stCxn id="1728" idx="1"/>
            <a:endCxn id="172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0" name="Google Shape;1760;p7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61" name="Google Shape;1761;p75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62" name="Google Shape;1762;p75"/>
          <p:cNvSpPr txBox="1"/>
          <p:nvPr/>
        </p:nvSpPr>
        <p:spPr>
          <a:xfrm>
            <a:off x="7250227" y="36746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15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763" name="Google Shape;1763;p7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769" name="Google Shape;1769;p7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0" name="Google Shape;1770;p7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1" name="Google Shape;1771;p7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2" name="Google Shape;1772;p7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7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7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5" name="Google Shape;1775;p76"/>
          <p:cNvCxnSpPr>
            <a:stCxn id="1769" idx="2"/>
            <a:endCxn id="1770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6" name="Google Shape;1776;p76"/>
          <p:cNvCxnSpPr>
            <a:stCxn id="1769" idx="3"/>
            <a:endCxn id="1772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7" name="Google Shape;1777;p76"/>
          <p:cNvCxnSpPr>
            <a:stCxn id="1771" idx="2"/>
            <a:endCxn id="1772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8" name="Google Shape;1778;p76"/>
          <p:cNvCxnSpPr>
            <a:stCxn id="1774" idx="2"/>
            <a:endCxn id="1773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9" name="Google Shape;1779;p76"/>
          <p:cNvCxnSpPr>
            <a:stCxn id="1772" idx="2"/>
            <a:endCxn id="1773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0" name="Google Shape;1780;p76"/>
          <p:cNvCxnSpPr>
            <a:stCxn id="1770" idx="3"/>
            <a:endCxn id="1773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81" name="Google Shape;1781;p7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76"/>
          <p:cNvCxnSpPr>
            <a:stCxn id="1781" idx="3"/>
            <a:endCxn id="1769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783" name="Google Shape;1783;p7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784" name="Google Shape;1784;p76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2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3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85" name="Google Shape;1785;p76"/>
          <p:cNvCxnSpPr>
            <a:stCxn id="1781" idx="3"/>
            <a:endCxn id="1770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6" name="Google Shape;1786;p76"/>
          <p:cNvCxnSpPr>
            <a:stCxn id="1772" idx="3"/>
            <a:endCxn id="1774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7" name="Google Shape;1787;p76"/>
          <p:cNvCxnSpPr>
            <a:stCxn id="1769" idx="3"/>
            <a:endCxn id="1771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8" name="Google Shape;1788;p7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789" name="Google Shape;1789;p76"/>
          <p:cNvCxnSpPr>
            <a:stCxn id="1774" idx="0"/>
            <a:endCxn id="1771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0" name="Google Shape;1790;p7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91" name="Google Shape;1791;p7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92" name="Google Shape;1792;p7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793" name="Google Shape;1793;p7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94" name="Google Shape;1794;p76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795" name="Google Shape;1795;p7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796" name="Google Shape;1796;p7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797" name="Google Shape;1797;p7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98" name="Google Shape;1798;p7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799" name="Google Shape;1799;p76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[(B: 2), (D: 2), 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(G: 3), 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0" name="Google Shape;1800;p7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sp>
        <p:nvSpPr>
          <p:cNvPr id="1801" name="Google Shape;1801;p76"/>
          <p:cNvSpPr txBox="1"/>
          <p:nvPr/>
        </p:nvSpPr>
        <p:spPr>
          <a:xfrm>
            <a:off x="6804222" y="1714483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02" name="Google Shape;1802;p76"/>
          <p:cNvSpPr txBox="1"/>
          <p:nvPr/>
        </p:nvSpPr>
        <p:spPr>
          <a:xfrm>
            <a:off x="8552135" y="2445004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∞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803" name="Google Shape;1803;p76"/>
          <p:cNvCxnSpPr>
            <a:stCxn id="1772" idx="1"/>
            <a:endCxn id="177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4" name="Google Shape;1804;p7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05" name="Google Shape;1805;p76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06" name="Google Shape;1806;p76"/>
          <p:cNvSpPr txBox="1"/>
          <p:nvPr/>
        </p:nvSpPr>
        <p:spPr>
          <a:xfrm>
            <a:off x="7250227" y="3674675"/>
            <a:ext cx="4812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15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1807" name="Google Shape;1807;p76"/>
          <p:cNvCxnSpPr/>
          <p:nvPr/>
        </p:nvCxnSpPr>
        <p:spPr>
          <a:xfrm>
            <a:off x="6872693" y="1864947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8" name="Google Shape;1808;p76"/>
          <p:cNvCxnSpPr/>
          <p:nvPr/>
        </p:nvCxnSpPr>
        <p:spPr>
          <a:xfrm>
            <a:off x="8616618" y="2607872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9" name="Google Shape;1809;p76"/>
          <p:cNvCxnSpPr/>
          <p:nvPr/>
        </p:nvCxnSpPr>
        <p:spPr>
          <a:xfrm>
            <a:off x="7396618" y="3841438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0" name="Google Shape;1810;p76"/>
          <p:cNvSpPr txBox="1"/>
          <p:nvPr/>
        </p:nvSpPr>
        <p:spPr>
          <a:xfrm>
            <a:off x="6663467" y="182584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11" name="Google Shape;1811;p76"/>
          <p:cNvSpPr txBox="1"/>
          <p:nvPr/>
        </p:nvSpPr>
        <p:spPr>
          <a:xfrm>
            <a:off x="8552117" y="22428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12" name="Google Shape;1812;p76"/>
          <p:cNvSpPr txBox="1"/>
          <p:nvPr/>
        </p:nvSpPr>
        <p:spPr>
          <a:xfrm>
            <a:off x="7344942" y="34469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13" name="Google Shape;1813;p76"/>
          <p:cNvSpPr/>
          <p:nvPr/>
        </p:nvSpPr>
        <p:spPr>
          <a:xfrm>
            <a:off x="3202514" y="4647975"/>
            <a:ext cx="2472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4" name="Google Shape;1814;p76"/>
          <p:cNvSpPr/>
          <p:nvPr/>
        </p:nvSpPr>
        <p:spPr>
          <a:xfrm>
            <a:off x="2159066" y="3408750"/>
            <a:ext cx="2775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76"/>
          <p:cNvSpPr/>
          <p:nvPr/>
        </p:nvSpPr>
        <p:spPr>
          <a:xfrm>
            <a:off x="1179771" y="3439732"/>
            <a:ext cx="277500" cy="5253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76"/>
          <p:cNvSpPr/>
          <p:nvPr/>
        </p:nvSpPr>
        <p:spPr>
          <a:xfrm>
            <a:off x="2158440" y="2930892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76"/>
          <p:cNvSpPr/>
          <p:nvPr/>
        </p:nvSpPr>
        <p:spPr>
          <a:xfrm>
            <a:off x="1171259" y="2930892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8" name="Google Shape;1818;p76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7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824" name="Google Shape;1824;p7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7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7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7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8" name="Google Shape;1828;p7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7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0" name="Google Shape;1830;p77"/>
          <p:cNvCxnSpPr>
            <a:stCxn id="1824" idx="2"/>
            <a:endCxn id="182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1" name="Google Shape;1831;p77"/>
          <p:cNvCxnSpPr>
            <a:stCxn id="1824" idx="3"/>
            <a:endCxn id="182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2" name="Google Shape;1832;p77"/>
          <p:cNvCxnSpPr>
            <a:stCxn id="1826" idx="2"/>
            <a:endCxn id="182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33" name="Google Shape;1833;p77"/>
          <p:cNvCxnSpPr>
            <a:stCxn id="1829" idx="2"/>
            <a:endCxn id="182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4" name="Google Shape;1834;p77"/>
          <p:cNvCxnSpPr>
            <a:stCxn id="1827" idx="2"/>
            <a:endCxn id="182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35" name="Google Shape;1835;p77"/>
          <p:cNvCxnSpPr>
            <a:stCxn id="1825" idx="3"/>
            <a:endCxn id="182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6" name="Google Shape;1836;p7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7" name="Google Shape;1837;p77"/>
          <p:cNvCxnSpPr>
            <a:stCxn id="1836" idx="3"/>
            <a:endCxn id="182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838" name="Google Shape;1838;p7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39" name="Google Shape;1839;p77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        2        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2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3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40" name="Google Shape;1840;p77"/>
          <p:cNvCxnSpPr>
            <a:stCxn id="1836" idx="3"/>
            <a:endCxn id="182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1" name="Google Shape;1841;p77"/>
          <p:cNvCxnSpPr>
            <a:stCxn id="1827" idx="3"/>
            <a:endCxn id="182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42" name="Google Shape;1842;p77"/>
          <p:cNvCxnSpPr>
            <a:stCxn id="1824" idx="3"/>
            <a:endCxn id="182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3" name="Google Shape;1843;p7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844" name="Google Shape;1844;p77"/>
          <p:cNvCxnSpPr>
            <a:stCxn id="1829" idx="0"/>
            <a:endCxn id="182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5" name="Google Shape;1845;p7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846" name="Google Shape;1846;p7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47" name="Google Shape;1847;p7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848" name="Google Shape;1848;p7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849" name="Google Shape;1849;p77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850" name="Google Shape;1850;p7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851" name="Google Shape;1851;p7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852" name="Google Shape;1852;p7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53" name="Google Shape;1853;p7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54" name="Google Shape;1854;p77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[(B: 2), (D: 2), (G: 3),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55" name="Google Shape;1855;p7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856" name="Google Shape;1856;p77"/>
          <p:cNvCxnSpPr>
            <a:stCxn id="1827" idx="1"/>
            <a:endCxn id="182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57" name="Google Shape;1857;p7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58" name="Google Shape;1858;p77"/>
          <p:cNvSpPr txBox="1"/>
          <p:nvPr/>
        </p:nvSpPr>
        <p:spPr>
          <a:xfrm>
            <a:off x="5082067" y="1856979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59" name="Google Shape;1859;p77"/>
          <p:cNvSpPr txBox="1"/>
          <p:nvPr/>
        </p:nvSpPr>
        <p:spPr>
          <a:xfrm>
            <a:off x="6739667" y="174964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60" name="Google Shape;1860;p77"/>
          <p:cNvSpPr txBox="1"/>
          <p:nvPr/>
        </p:nvSpPr>
        <p:spPr>
          <a:xfrm>
            <a:off x="8552117" y="23952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61" name="Google Shape;1861;p77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862" name="Google Shape;1862;p77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7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868" name="Google Shape;1868;p7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7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0" name="Google Shape;1870;p7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1" name="Google Shape;1871;p7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2" name="Google Shape;1872;p7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3" name="Google Shape;1873;p7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4" name="Google Shape;1874;p78"/>
          <p:cNvCxnSpPr>
            <a:stCxn id="1868" idx="2"/>
            <a:endCxn id="186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5" name="Google Shape;1875;p78"/>
          <p:cNvCxnSpPr>
            <a:stCxn id="1868" idx="3"/>
            <a:endCxn id="187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6" name="Google Shape;1876;p78"/>
          <p:cNvCxnSpPr>
            <a:stCxn id="1870" idx="2"/>
            <a:endCxn id="187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77" name="Google Shape;1877;p78"/>
          <p:cNvCxnSpPr>
            <a:stCxn id="1873" idx="2"/>
            <a:endCxn id="187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8" name="Google Shape;1878;p78"/>
          <p:cNvCxnSpPr>
            <a:stCxn id="1871" idx="2"/>
            <a:endCxn id="187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79" name="Google Shape;1879;p78"/>
          <p:cNvCxnSpPr>
            <a:stCxn id="1869" idx="3"/>
            <a:endCxn id="187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0" name="Google Shape;1880;p7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1" name="Google Shape;1881;p78"/>
          <p:cNvCxnSpPr>
            <a:stCxn id="1880" idx="3"/>
            <a:endCxn id="186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2" name="Google Shape;1882;p7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883" name="Google Shape;1883;p78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2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3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884" name="Google Shape;1884;p78"/>
          <p:cNvCxnSpPr>
            <a:stCxn id="1880" idx="3"/>
            <a:endCxn id="186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5" name="Google Shape;1885;p78"/>
          <p:cNvCxnSpPr>
            <a:stCxn id="1871" idx="3"/>
            <a:endCxn id="187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86" name="Google Shape;1886;p78"/>
          <p:cNvCxnSpPr>
            <a:stCxn id="1868" idx="3"/>
            <a:endCxn id="187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7" name="Google Shape;1887;p7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888" name="Google Shape;1888;p78"/>
          <p:cNvCxnSpPr>
            <a:stCxn id="1873" idx="0"/>
            <a:endCxn id="187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9" name="Google Shape;1889;p7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890" name="Google Shape;1890;p7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91" name="Google Shape;1891;p7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892" name="Google Shape;1892;p7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893" name="Google Shape;1893;p78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894" name="Google Shape;1894;p7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895" name="Google Shape;1895;p7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896" name="Google Shape;1896;p7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97" name="Google Shape;1897;p7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898" name="Google Shape;1898;p78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[(D: 2), (G: 3),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9" name="Google Shape;1899;p7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900" name="Google Shape;1900;p78"/>
          <p:cNvCxnSpPr>
            <a:stCxn id="1871" idx="1"/>
            <a:endCxn id="186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1" name="Google Shape;1901;p7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02" name="Google Shape;1902;p78"/>
          <p:cNvSpPr txBox="1"/>
          <p:nvPr/>
        </p:nvSpPr>
        <p:spPr>
          <a:xfrm>
            <a:off x="6739667" y="174964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03" name="Google Shape;1903;p78"/>
          <p:cNvSpPr txBox="1"/>
          <p:nvPr/>
        </p:nvSpPr>
        <p:spPr>
          <a:xfrm>
            <a:off x="8552117" y="23952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04" name="Google Shape;1904;p78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05" name="Google Shape;1905;p78"/>
          <p:cNvSpPr txBox="1"/>
          <p:nvPr/>
        </p:nvSpPr>
        <p:spPr>
          <a:xfrm>
            <a:off x="5926708" y="4307342"/>
            <a:ext cx="273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need to consider edges with weight 5 and 3 since other side is already marked!</a:t>
            </a:r>
            <a:endParaRPr/>
          </a:p>
        </p:txBody>
      </p:sp>
      <p:sp>
        <p:nvSpPr>
          <p:cNvPr id="1906" name="Google Shape;1906;p78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7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912" name="Google Shape;1912;p7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3" name="Google Shape;1913;p7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4" name="Google Shape;1914;p7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5" name="Google Shape;1915;p7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6" name="Google Shape;1916;p7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7" name="Google Shape;1917;p7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8" name="Google Shape;1918;p79"/>
          <p:cNvCxnSpPr>
            <a:stCxn id="1912" idx="2"/>
            <a:endCxn id="191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9" name="Google Shape;1919;p79"/>
          <p:cNvCxnSpPr>
            <a:stCxn id="1912" idx="3"/>
            <a:endCxn id="191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0" name="Google Shape;1920;p79"/>
          <p:cNvCxnSpPr>
            <a:stCxn id="1914" idx="2"/>
            <a:endCxn id="191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21" name="Google Shape;1921;p79"/>
          <p:cNvCxnSpPr>
            <a:stCxn id="1917" idx="2"/>
            <a:endCxn id="191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2" name="Google Shape;1922;p79"/>
          <p:cNvCxnSpPr>
            <a:stCxn id="1915" idx="2"/>
            <a:endCxn id="191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23" name="Google Shape;1923;p79"/>
          <p:cNvCxnSpPr>
            <a:stCxn id="1913" idx="3"/>
            <a:endCxn id="191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4" name="Google Shape;1924;p7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5" name="Google Shape;1925;p79"/>
          <p:cNvCxnSpPr>
            <a:stCxn id="1924" idx="3"/>
            <a:endCxn id="1912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6" name="Google Shape;1926;p7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927" name="Google Shape;1927;p79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        2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3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28" name="Google Shape;1928;p79"/>
          <p:cNvCxnSpPr>
            <a:stCxn id="1924" idx="3"/>
            <a:endCxn id="191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9" name="Google Shape;1929;p79"/>
          <p:cNvCxnSpPr>
            <a:stCxn id="1915" idx="3"/>
            <a:endCxn id="1917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79"/>
          <p:cNvCxnSpPr>
            <a:stCxn id="1912" idx="3"/>
            <a:endCxn id="1914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1" name="Google Shape;1931;p7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932" name="Google Shape;1932;p79"/>
          <p:cNvCxnSpPr>
            <a:stCxn id="1917" idx="0"/>
            <a:endCxn id="191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3" name="Google Shape;1933;p7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934" name="Google Shape;1934;p7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35" name="Google Shape;1935;p7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936" name="Google Shape;1936;p7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937" name="Google Shape;1937;p79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938" name="Google Shape;1938;p7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939" name="Google Shape;1939;p7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940" name="Google Shape;1940;p7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41" name="Google Shape;1941;p7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42" name="Google Shape;1942;p79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[(D: 2), (G: 3),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43" name="Google Shape;1943;p7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944" name="Google Shape;1944;p79"/>
          <p:cNvCxnSpPr>
            <a:stCxn id="1915" idx="1"/>
            <a:endCxn id="191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5" name="Google Shape;1945;p7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46" name="Google Shape;1946;p79"/>
          <p:cNvSpPr txBox="1"/>
          <p:nvPr/>
        </p:nvSpPr>
        <p:spPr>
          <a:xfrm>
            <a:off x="6739667" y="1749647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2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47" name="Google Shape;1947;p79"/>
          <p:cNvSpPr txBox="1"/>
          <p:nvPr/>
        </p:nvSpPr>
        <p:spPr>
          <a:xfrm>
            <a:off x="8552117" y="23952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48" name="Google Shape;1948;p79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49" name="Google Shape;1949;p79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p8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955" name="Google Shape;1955;p8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6" name="Google Shape;1956;p8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7" name="Google Shape;1957;p8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8" name="Google Shape;1958;p8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9" name="Google Shape;1959;p8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0" name="Google Shape;1960;p8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1" name="Google Shape;1961;p80"/>
          <p:cNvCxnSpPr>
            <a:stCxn id="1955" idx="2"/>
            <a:endCxn id="195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80"/>
          <p:cNvCxnSpPr>
            <a:stCxn id="1955" idx="3"/>
            <a:endCxn id="195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3" name="Google Shape;1963;p80"/>
          <p:cNvCxnSpPr>
            <a:stCxn id="1957" idx="2"/>
            <a:endCxn id="195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80"/>
          <p:cNvCxnSpPr>
            <a:stCxn id="1960" idx="2"/>
            <a:endCxn id="195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5" name="Google Shape;1965;p80"/>
          <p:cNvCxnSpPr>
            <a:stCxn id="1958" idx="2"/>
            <a:endCxn id="195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66" name="Google Shape;1966;p80"/>
          <p:cNvCxnSpPr>
            <a:stCxn id="1956" idx="3"/>
            <a:endCxn id="195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7" name="Google Shape;1967;p8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8" name="Google Shape;1968;p80"/>
          <p:cNvCxnSpPr>
            <a:stCxn id="1967" idx="3"/>
            <a:endCxn id="195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9" name="Google Shape;1969;p8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1970" name="Google Shape;1970;p80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3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971" name="Google Shape;1971;p80"/>
          <p:cNvCxnSpPr>
            <a:stCxn id="1967" idx="3"/>
            <a:endCxn id="195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2" name="Google Shape;1972;p80"/>
          <p:cNvCxnSpPr>
            <a:stCxn id="1958" idx="3"/>
            <a:endCxn id="196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973" name="Google Shape;1973;p80"/>
          <p:cNvCxnSpPr>
            <a:stCxn id="1955" idx="3"/>
            <a:endCxn id="195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4" name="Google Shape;1974;p8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1975" name="Google Shape;1975;p80"/>
          <p:cNvCxnSpPr>
            <a:stCxn id="1960" idx="0"/>
            <a:endCxn id="195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6" name="Google Shape;1976;p8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977" name="Google Shape;1977;p8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78" name="Google Shape;1978;p8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1979" name="Google Shape;1979;p8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980" name="Google Shape;1980;p80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1981" name="Google Shape;1981;p8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1982" name="Google Shape;1982;p8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1983" name="Google Shape;1983;p8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84" name="Google Shape;1984;p8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85" name="Google Shape;1985;p80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[(G: 3),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86" name="Google Shape;1986;p8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1987" name="Google Shape;1987;p80"/>
          <p:cNvCxnSpPr>
            <a:stCxn id="1958" idx="1"/>
            <a:endCxn id="195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88" name="Google Shape;1988;p8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1989" name="Google Shape;1989;p80"/>
          <p:cNvSpPr txBox="1"/>
          <p:nvPr/>
        </p:nvSpPr>
        <p:spPr>
          <a:xfrm>
            <a:off x="8552117" y="23952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90" name="Google Shape;1990;p80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1991" name="Google Shape;1991;p80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8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1997" name="Google Shape;1997;p8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8" name="Google Shape;1998;p8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9" name="Google Shape;1999;p8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0" name="Google Shape;2000;p8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1" name="Google Shape;2001;p8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2" name="Google Shape;2002;p8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3" name="Google Shape;2003;p81"/>
          <p:cNvCxnSpPr>
            <a:stCxn id="1997" idx="2"/>
            <a:endCxn id="199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4" name="Google Shape;2004;p81"/>
          <p:cNvCxnSpPr>
            <a:stCxn id="1997" idx="3"/>
            <a:endCxn id="200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5" name="Google Shape;2005;p81"/>
          <p:cNvCxnSpPr>
            <a:stCxn id="1999" idx="2"/>
            <a:endCxn id="200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6" name="Google Shape;2006;p81"/>
          <p:cNvCxnSpPr>
            <a:stCxn id="2002" idx="2"/>
            <a:endCxn id="200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7" name="Google Shape;2007;p81"/>
          <p:cNvCxnSpPr>
            <a:stCxn id="2000" idx="2"/>
            <a:endCxn id="200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008" name="Google Shape;2008;p81"/>
          <p:cNvCxnSpPr>
            <a:stCxn id="1998" idx="3"/>
            <a:endCxn id="200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9" name="Google Shape;2009;p8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0" name="Google Shape;2010;p81"/>
          <p:cNvCxnSpPr>
            <a:stCxn id="2009" idx="3"/>
            <a:endCxn id="199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1" name="Google Shape;2011;p8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012" name="Google Shape;2012;p81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13" name="Google Shape;2013;p81"/>
          <p:cNvCxnSpPr>
            <a:stCxn id="2009" idx="3"/>
            <a:endCxn id="199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4" name="Google Shape;2014;p81"/>
          <p:cNvCxnSpPr>
            <a:stCxn id="2000" idx="3"/>
            <a:endCxn id="200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015" name="Google Shape;2015;p81"/>
          <p:cNvCxnSpPr>
            <a:stCxn id="1997" idx="3"/>
            <a:endCxn id="199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6" name="Google Shape;2016;p8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017" name="Google Shape;2017;p81"/>
          <p:cNvCxnSpPr>
            <a:stCxn id="2002" idx="0"/>
            <a:endCxn id="199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8" name="Google Shape;2018;p8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019" name="Google Shape;2019;p8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20" name="Google Shape;2020;p8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021" name="Google Shape;2021;p8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022" name="Google Shape;2022;p81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023" name="Google Shape;2023;p8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024" name="Google Shape;2024;p8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025" name="Google Shape;2025;p8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26" name="Google Shape;2026;p8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27" name="Google Shape;2027;p81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[(G: 1),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8" name="Google Shape;2028;p8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029" name="Google Shape;2029;p81"/>
          <p:cNvCxnSpPr>
            <a:stCxn id="2000" idx="1"/>
            <a:endCxn id="199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0" name="Google Shape;2030;p8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31" name="Google Shape;2031;p81"/>
          <p:cNvSpPr txBox="1"/>
          <p:nvPr/>
        </p:nvSpPr>
        <p:spPr>
          <a:xfrm>
            <a:off x="8552117" y="2395235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3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032" name="Google Shape;2032;p81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033" name="Google Shape;2033;p81"/>
          <p:cNvCxnSpPr/>
          <p:nvPr/>
        </p:nvCxnSpPr>
        <p:spPr>
          <a:xfrm>
            <a:off x="8605313" y="2562654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4" name="Google Shape;2034;p81"/>
          <p:cNvSpPr txBox="1"/>
          <p:nvPr/>
        </p:nvSpPr>
        <p:spPr>
          <a:xfrm>
            <a:off x="8801142" y="22167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035" name="Google Shape;2035;p81"/>
          <p:cNvSpPr/>
          <p:nvPr/>
        </p:nvSpPr>
        <p:spPr>
          <a:xfrm>
            <a:off x="2147135" y="3670283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6" name="Google Shape;2036;p81"/>
          <p:cNvSpPr/>
          <p:nvPr/>
        </p:nvSpPr>
        <p:spPr>
          <a:xfrm>
            <a:off x="1179632" y="3670283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p81"/>
          <p:cNvSpPr/>
          <p:nvPr/>
        </p:nvSpPr>
        <p:spPr>
          <a:xfrm>
            <a:off x="2365974" y="4647975"/>
            <a:ext cx="6330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8" name="Google Shape;2038;p81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8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2044" name="Google Shape;2044;p8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5" name="Google Shape;2045;p8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8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7" name="Google Shape;2047;p8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8" name="Google Shape;2048;p8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9" name="Google Shape;2049;p8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0" name="Google Shape;2050;p82"/>
          <p:cNvCxnSpPr>
            <a:stCxn id="2044" idx="2"/>
            <a:endCxn id="204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1" name="Google Shape;2051;p82"/>
          <p:cNvCxnSpPr>
            <a:stCxn id="2044" idx="3"/>
            <a:endCxn id="204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2" name="Google Shape;2052;p82"/>
          <p:cNvCxnSpPr>
            <a:stCxn id="2046" idx="2"/>
            <a:endCxn id="204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3" name="Google Shape;2053;p82"/>
          <p:cNvCxnSpPr>
            <a:stCxn id="2049" idx="2"/>
            <a:endCxn id="204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4" name="Google Shape;2054;p82"/>
          <p:cNvCxnSpPr>
            <a:stCxn id="2047" idx="2"/>
            <a:endCxn id="204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055" name="Google Shape;2055;p82"/>
          <p:cNvCxnSpPr>
            <a:stCxn id="2045" idx="3"/>
            <a:endCxn id="204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6" name="Google Shape;2056;p8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7" name="Google Shape;2057;p82"/>
          <p:cNvCxnSpPr>
            <a:stCxn id="2056" idx="3"/>
            <a:endCxn id="204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8" name="Google Shape;2058;p8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059" name="Google Shape;2059;p82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4        E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        1        D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60" name="Google Shape;2060;p82"/>
          <p:cNvCxnSpPr>
            <a:stCxn id="2056" idx="3"/>
            <a:endCxn id="204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1" name="Google Shape;2061;p82"/>
          <p:cNvCxnSpPr>
            <a:stCxn id="2047" idx="3"/>
            <a:endCxn id="204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2" name="Google Shape;2062;p82"/>
          <p:cNvCxnSpPr>
            <a:stCxn id="2044" idx="3"/>
            <a:endCxn id="204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3" name="Google Shape;2063;p8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064" name="Google Shape;2064;p82"/>
          <p:cNvCxnSpPr>
            <a:stCxn id="2049" idx="0"/>
            <a:endCxn id="204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65" name="Google Shape;2065;p8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066" name="Google Shape;2066;p8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67" name="Google Shape;2067;p8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068" name="Google Shape;2068;p8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069" name="Google Shape;2069;p82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070" name="Google Shape;2070;p8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071" name="Google Shape;2071;p8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072" name="Google Shape;2072;p8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73" name="Google Shape;2073;p8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74" name="Google Shape;2074;p82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[(G: 1), (F: 4)]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5" name="Google Shape;2075;p8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076" name="Google Shape;2076;p82"/>
          <p:cNvCxnSpPr>
            <a:stCxn id="2047" idx="1"/>
            <a:endCxn id="204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7" name="Google Shape;2077;p8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078" name="Google Shape;2078;p82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079" name="Google Shape;2079;p82"/>
          <p:cNvSpPr txBox="1"/>
          <p:nvPr/>
        </p:nvSpPr>
        <p:spPr>
          <a:xfrm>
            <a:off x="8695417" y="2419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080" name="Google Shape;2080;p82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8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2086" name="Google Shape;2086;p8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7" name="Google Shape;2087;p8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8" name="Google Shape;2088;p8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9" name="Google Shape;2089;p8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0" name="Google Shape;2090;p8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1" name="Google Shape;2091;p8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2" name="Google Shape;2092;p83"/>
          <p:cNvCxnSpPr>
            <a:stCxn id="2086" idx="2"/>
            <a:endCxn id="2087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3" name="Google Shape;2093;p83"/>
          <p:cNvCxnSpPr>
            <a:stCxn id="2086" idx="3"/>
            <a:endCxn id="2089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4" name="Google Shape;2094;p83"/>
          <p:cNvCxnSpPr>
            <a:stCxn id="2088" idx="2"/>
            <a:endCxn id="2089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5" name="Google Shape;2095;p83"/>
          <p:cNvCxnSpPr>
            <a:stCxn id="2091" idx="2"/>
            <a:endCxn id="2090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6" name="Google Shape;2096;p83"/>
          <p:cNvCxnSpPr>
            <a:stCxn id="2089" idx="2"/>
            <a:endCxn id="2090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097" name="Google Shape;2097;p83"/>
          <p:cNvCxnSpPr>
            <a:stCxn id="2087" idx="3"/>
            <a:endCxn id="2090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8" name="Google Shape;2098;p8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9" name="Google Shape;2099;p83"/>
          <p:cNvCxnSpPr>
            <a:stCxn id="2098" idx="3"/>
            <a:endCxn id="2086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0" name="Google Shape;2100;p8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101" name="Google Shape;2101;p83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        G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G                 D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02" name="Google Shape;2102;p83"/>
          <p:cNvCxnSpPr>
            <a:stCxn id="2098" idx="3"/>
            <a:endCxn id="2087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3" name="Google Shape;2103;p83"/>
          <p:cNvCxnSpPr>
            <a:stCxn id="2089" idx="3"/>
            <a:endCxn id="2091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4" name="Google Shape;2104;p83"/>
          <p:cNvCxnSpPr>
            <a:stCxn id="2086" idx="3"/>
            <a:endCxn id="2088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8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106" name="Google Shape;2106;p83"/>
          <p:cNvCxnSpPr>
            <a:stCxn id="2091" idx="0"/>
            <a:endCxn id="2088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7" name="Google Shape;2107;p8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08" name="Google Shape;2108;p8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09" name="Google Shape;2109;p8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110" name="Google Shape;2110;p8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111" name="Google Shape;2111;p83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12" name="Google Shape;2112;p8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113" name="Google Shape;2113;p8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114" name="Google Shape;2114;p8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15" name="Google Shape;2115;p8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16" name="Google Shape;2116;p83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[(F: 1)]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17" name="Google Shape;2117;p8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118" name="Google Shape;2118;p83"/>
          <p:cNvCxnSpPr>
            <a:stCxn id="2089" idx="1"/>
            <a:endCxn id="208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9" name="Google Shape;2119;p8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20" name="Google Shape;2120;p83"/>
          <p:cNvSpPr txBox="1"/>
          <p:nvPr/>
        </p:nvSpPr>
        <p:spPr>
          <a:xfrm>
            <a:off x="7344942" y="367551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4</a:t>
            </a:r>
            <a:endParaRPr sz="1800">
              <a:solidFill>
                <a:srgbClr val="FF43F0"/>
              </a:solidFill>
            </a:endParaRPr>
          </a:p>
        </p:txBody>
      </p:sp>
      <p:cxnSp>
        <p:nvCxnSpPr>
          <p:cNvPr id="2121" name="Google Shape;2121;p83"/>
          <p:cNvCxnSpPr/>
          <p:nvPr/>
        </p:nvCxnSpPr>
        <p:spPr>
          <a:xfrm>
            <a:off x="7397418" y="3827072"/>
            <a:ext cx="188400" cy="158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2" name="Google Shape;2122;p83"/>
          <p:cNvSpPr txBox="1"/>
          <p:nvPr/>
        </p:nvSpPr>
        <p:spPr>
          <a:xfrm>
            <a:off x="7498217" y="4021980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123" name="Google Shape;2123;p83"/>
          <p:cNvSpPr/>
          <p:nvPr/>
        </p:nvSpPr>
        <p:spPr>
          <a:xfrm>
            <a:off x="1168328" y="3433309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4" name="Google Shape;2124;p83"/>
          <p:cNvSpPr/>
          <p:nvPr/>
        </p:nvSpPr>
        <p:spPr>
          <a:xfrm>
            <a:off x="2169744" y="3433309"/>
            <a:ext cx="277500" cy="280800"/>
          </a:xfrm>
          <a:prstGeom prst="ellipse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5" name="Google Shape;2125;p83"/>
          <p:cNvSpPr/>
          <p:nvPr/>
        </p:nvSpPr>
        <p:spPr>
          <a:xfrm>
            <a:off x="2322033" y="4647975"/>
            <a:ext cx="6882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6" name="Google Shape;2126;p83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8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2132" name="Google Shape;2132;p8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3" name="Google Shape;2133;p8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4" name="Google Shape;2134;p8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5" name="Google Shape;2135;p8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6" name="Google Shape;2136;p8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7" name="Google Shape;2137;p8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8" name="Google Shape;2138;p84"/>
          <p:cNvCxnSpPr>
            <a:stCxn id="2132" idx="2"/>
            <a:endCxn id="213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9" name="Google Shape;2139;p84"/>
          <p:cNvCxnSpPr>
            <a:stCxn id="2132" idx="3"/>
            <a:endCxn id="213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0" name="Google Shape;2140;p84"/>
          <p:cNvCxnSpPr>
            <a:stCxn id="2134" idx="2"/>
            <a:endCxn id="213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1" name="Google Shape;2141;p84"/>
          <p:cNvCxnSpPr>
            <a:stCxn id="2137" idx="2"/>
            <a:endCxn id="213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142" name="Google Shape;2142;p84"/>
          <p:cNvCxnSpPr>
            <a:stCxn id="2135" idx="2"/>
            <a:endCxn id="213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3" name="Google Shape;2143;p84"/>
          <p:cNvCxnSpPr>
            <a:stCxn id="2133" idx="3"/>
            <a:endCxn id="213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4" name="Google Shape;2144;p8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5" name="Google Shape;2145;p84"/>
          <p:cNvCxnSpPr>
            <a:stCxn id="2144" idx="3"/>
            <a:endCxn id="2132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6" name="Google Shape;2146;p8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147" name="Google Shape;2147;p84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        1        G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G                 D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48" name="Google Shape;2148;p84"/>
          <p:cNvCxnSpPr>
            <a:stCxn id="2144" idx="3"/>
            <a:endCxn id="213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9" name="Google Shape;2149;p84"/>
          <p:cNvCxnSpPr>
            <a:stCxn id="2135" idx="3"/>
            <a:endCxn id="2137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0" name="Google Shape;2150;p84"/>
          <p:cNvCxnSpPr>
            <a:stCxn id="2132" idx="3"/>
            <a:endCxn id="2134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1" name="Google Shape;2151;p8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152" name="Google Shape;2152;p84"/>
          <p:cNvCxnSpPr>
            <a:stCxn id="2137" idx="0"/>
            <a:endCxn id="213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3" name="Google Shape;2153;p8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54" name="Google Shape;2154;p8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55" name="Google Shape;2155;p8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156" name="Google Shape;2156;p8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157" name="Google Shape;2157;p84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58" name="Google Shape;2158;p8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159" name="Google Shape;2159;p8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160" name="Google Shape;2160;p8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61" name="Google Shape;2161;p8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62" name="Google Shape;2162;p84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[(F: 1)]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3" name="Google Shape;2163;p8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164" name="Google Shape;2164;p84"/>
          <p:cNvCxnSpPr>
            <a:stCxn id="2135" idx="1"/>
            <a:endCxn id="213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5" name="Google Shape;2165;p8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66" name="Google Shape;2166;p84"/>
          <p:cNvSpPr txBox="1"/>
          <p:nvPr/>
        </p:nvSpPr>
        <p:spPr>
          <a:xfrm>
            <a:off x="7291067" y="3693668"/>
            <a:ext cx="317400" cy="3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43F0"/>
                </a:solidFill>
              </a:rPr>
              <a:t>1</a:t>
            </a:r>
            <a:endParaRPr sz="1800">
              <a:solidFill>
                <a:srgbClr val="FF43F0"/>
              </a:solidFill>
            </a:endParaRPr>
          </a:p>
        </p:txBody>
      </p:sp>
      <p:sp>
        <p:nvSpPr>
          <p:cNvPr id="2167" name="Google Shape;2167;p8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2" name="Google Shape;2172;p8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Demo</a:t>
            </a:r>
            <a:endParaRPr/>
          </a:p>
        </p:txBody>
      </p:sp>
      <p:sp>
        <p:nvSpPr>
          <p:cNvPr id="2173" name="Google Shape;2173;p8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4" name="Google Shape;2174;p8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5" name="Google Shape;2175;p8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6" name="Google Shape;2176;p8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7" name="Google Shape;2177;p8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8" name="Google Shape;2178;p8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9" name="Google Shape;2179;p85"/>
          <p:cNvCxnSpPr>
            <a:stCxn id="2173" idx="2"/>
            <a:endCxn id="217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0" name="Google Shape;2180;p85"/>
          <p:cNvCxnSpPr>
            <a:stCxn id="2173" idx="3"/>
            <a:endCxn id="217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1" name="Google Shape;2181;p85"/>
          <p:cNvCxnSpPr>
            <a:stCxn id="2175" idx="2"/>
            <a:endCxn id="217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2" name="Google Shape;2182;p85"/>
          <p:cNvCxnSpPr>
            <a:stCxn id="2178" idx="2"/>
            <a:endCxn id="217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3" name="Google Shape;2183;p85"/>
          <p:cNvCxnSpPr>
            <a:stCxn id="2176" idx="2"/>
            <a:endCxn id="217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4" name="Google Shape;2184;p85"/>
          <p:cNvCxnSpPr>
            <a:stCxn id="2174" idx="3"/>
            <a:endCxn id="217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5" name="Google Shape;2185;p8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6" name="Google Shape;2186;p85"/>
          <p:cNvCxnSpPr>
            <a:stCxn id="2185" idx="3"/>
            <a:endCxn id="217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7" name="Google Shape;2187;p8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188" name="Google Shape;2188;p85"/>
          <p:cNvSpPr txBox="1"/>
          <p:nvPr/>
        </p:nvSpPr>
        <p:spPr>
          <a:xfrm>
            <a:off x="176300" y="1864750"/>
            <a:ext cx="3267300" cy="21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Node  distTo    edgeTo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-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B                 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A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D                 E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E                 C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F                 G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Consolas"/>
                <a:ea typeface="Consolas"/>
                <a:cs typeface="Consolas"/>
                <a:sym typeface="Consolas"/>
              </a:rPr>
              <a:t>G                 D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89" name="Google Shape;2189;p85"/>
          <p:cNvCxnSpPr>
            <a:stCxn id="2185" idx="3"/>
            <a:endCxn id="217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0" name="Google Shape;2190;p85"/>
          <p:cNvCxnSpPr>
            <a:stCxn id="2176" idx="3"/>
            <a:endCxn id="217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1" name="Google Shape;2191;p85"/>
          <p:cNvCxnSpPr>
            <a:stCxn id="2173" idx="3"/>
            <a:endCxn id="217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2" name="Google Shape;2192;p8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193" name="Google Shape;2193;p85"/>
          <p:cNvCxnSpPr>
            <a:stCxn id="2178" idx="0"/>
            <a:endCxn id="217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4" name="Google Shape;2194;p8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95" name="Google Shape;2195;p8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196" name="Google Shape;2196;p8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197" name="Google Shape;2197;p8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198" name="Google Shape;2198;p85"/>
          <p:cNvSpPr/>
          <p:nvPr/>
        </p:nvSpPr>
        <p:spPr>
          <a:xfrm>
            <a:off x="69085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199" name="Google Shape;2199;p8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200" name="Google Shape;2200;p8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201" name="Google Shape;2201;p8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202" name="Google Shape;2202;p8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203" name="Google Shape;2203;p85"/>
          <p:cNvSpPr txBox="1"/>
          <p:nvPr/>
        </p:nvSpPr>
        <p:spPr>
          <a:xfrm>
            <a:off x="1264500" y="4545600"/>
            <a:ext cx="77694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04" name="Google Shape;2204;p8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205" name="Google Shape;2205;p85"/>
          <p:cNvCxnSpPr>
            <a:stCxn id="2176" idx="1"/>
            <a:endCxn id="217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6" name="Google Shape;2206;p8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207" name="Google Shape;2207;p8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vertices into fringe PQ, storing vertices in order of distance from tree.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(closest) vertex v from PQ, and relax all edges pointing from v.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8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2213" name="Google Shape;2213;p86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Prim’s Algorithm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Prim’s Algorithm Code and Runtime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2214" name="Google Shape;2214;p8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Algorithm Code and Runtime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8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vs. Dijkstra’s</a:t>
            </a:r>
            <a:endParaRPr/>
          </a:p>
        </p:txBody>
      </p:sp>
      <p:sp>
        <p:nvSpPr>
          <p:cNvPr id="2220" name="Google Shape;2220;p87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and Dijkstra’s algorithms are exactly the same, except Dijkstra’s considers “distance from the source”, and Prim’s considers “distance from the tree.”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Visit order: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Dijkstra’s algorithm visits vertices in order of distance from the source.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Prim’s algorithm visits vertices in order of distance from the MST under construction.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Relaxation: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Relaxation in Dijkstra’s considers an edge better based on distance to source.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Relaxation in Prim’s considers an edge better based on distance to tree.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8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vs. Dijkstra’s (visual)</a:t>
            </a:r>
            <a:endParaRPr/>
          </a:p>
        </p:txBody>
      </p:sp>
      <p:pic>
        <p:nvPicPr>
          <p:cNvPr id="2226" name="Google Shape;2226;p88" title="vid6 prims conceptuall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750" y="591800"/>
            <a:ext cx="7168500" cy="40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7" name="Google Shape;2227;p88"/>
          <p:cNvSpPr txBox="1">
            <a:spLocks noGrp="1"/>
          </p:cNvSpPr>
          <p:nvPr>
            <p:ph type="body" idx="1"/>
          </p:nvPr>
        </p:nvSpPr>
        <p:spPr>
          <a:xfrm>
            <a:off x="2286000" y="4684750"/>
            <a:ext cx="45720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Demos courtesy of Kevin Wayne, Princeton University</a:t>
            </a:r>
            <a:endParaRPr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89"/>
          <p:cNvSpPr txBox="1"/>
          <p:nvPr/>
        </p:nvSpPr>
        <p:spPr>
          <a:xfrm>
            <a:off x="167250" y="754525"/>
            <a:ext cx="6205200" cy="43446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PrimMST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public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PrimMST(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EdgeWeightedGraph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edgeTo =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[G.V()];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distTo =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[G.V()];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marked =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[G.V()];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fringe =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SpecialPQ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&gt;(G.V());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distTo[s] = 0.0;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setDistancesToInfinityExceptS(s);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insertAllVertices(fringe);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i="1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 Get vertices in order of distance from tree. */</a:t>
            </a:r>
            <a:endParaRPr sz="1500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(!fringe.isEmpty())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fringe.delMin();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scan(G, v);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 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33" name="Google Shape;2233;p8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Implementation (Pseudocode, 1/2)</a:t>
            </a:r>
            <a:endParaRPr/>
          </a:p>
        </p:txBody>
      </p:sp>
      <p:cxnSp>
        <p:nvCxnSpPr>
          <p:cNvPr id="2234" name="Google Shape;2234;p89"/>
          <p:cNvCxnSpPr/>
          <p:nvPr/>
        </p:nvCxnSpPr>
        <p:spPr>
          <a:xfrm rot="10800000">
            <a:off x="3693625" y="3037425"/>
            <a:ext cx="28575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5" name="Google Shape;2235;p89"/>
          <p:cNvSpPr txBox="1"/>
          <p:nvPr/>
        </p:nvSpPr>
        <p:spPr>
          <a:xfrm>
            <a:off x="6580300" y="2602446"/>
            <a:ext cx="22797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Fringe is ordered by distTo tree. Must be a specialPQ like Dijkstra’s.</a:t>
            </a:r>
            <a:endParaRPr/>
          </a:p>
        </p:txBody>
      </p:sp>
      <p:cxnSp>
        <p:nvCxnSpPr>
          <p:cNvPr id="2236" name="Google Shape;2236;p89"/>
          <p:cNvCxnSpPr/>
          <p:nvPr/>
        </p:nvCxnSpPr>
        <p:spPr>
          <a:xfrm rot="10800000">
            <a:off x="3460875" y="3950517"/>
            <a:ext cx="30585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7" name="Google Shape;2237;p89"/>
          <p:cNvSpPr txBox="1"/>
          <p:nvPr/>
        </p:nvSpPr>
        <p:spPr>
          <a:xfrm>
            <a:off x="6591600" y="3541794"/>
            <a:ext cx="2279700" cy="5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vertex closest to tree that is unvisited.</a:t>
            </a:r>
            <a:endParaRPr/>
          </a:p>
        </p:txBody>
      </p:sp>
      <p:cxnSp>
        <p:nvCxnSpPr>
          <p:cNvPr id="2238" name="Google Shape;2238;p89"/>
          <p:cNvCxnSpPr/>
          <p:nvPr/>
        </p:nvCxnSpPr>
        <p:spPr>
          <a:xfrm rot="10800000">
            <a:off x="2069150" y="4185075"/>
            <a:ext cx="44661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39" name="Google Shape;2239;p89"/>
          <p:cNvSpPr txBox="1"/>
          <p:nvPr/>
        </p:nvSpPr>
        <p:spPr>
          <a:xfrm>
            <a:off x="6580300" y="4005638"/>
            <a:ext cx="2279700" cy="7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Scan means to consider all of a vertices outgoing edges.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90"/>
          <p:cNvSpPr txBox="1"/>
          <p:nvPr/>
        </p:nvSpPr>
        <p:spPr>
          <a:xfrm>
            <a:off x="351375" y="1878600"/>
            <a:ext cx="5109600" cy="3116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scan(EdgeWeightedGraph G,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marked[v] =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(Edge e : G.adj(v))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= e.other(v);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(marked[w]) {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endParaRPr sz="1500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(e.weight() &lt; distTo[w])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distTo[w] = e.weight();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edgeTo[w] = 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pq.decreasePriority(w, distTo[w]);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highlight>
                <a:srgbClr val="EFEFEF"/>
              </a:highlight>
            </a:endParaRPr>
          </a:p>
        </p:txBody>
      </p:sp>
      <p:sp>
        <p:nvSpPr>
          <p:cNvPr id="2245" name="Google Shape;2245;p9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Implementation (Pseudocode, 2/2)</a:t>
            </a:r>
            <a:endParaRPr/>
          </a:p>
        </p:txBody>
      </p:sp>
      <p:sp>
        <p:nvSpPr>
          <p:cNvPr id="2246" name="Google Shape;2246;p90"/>
          <p:cNvSpPr txBox="1"/>
          <p:nvPr/>
        </p:nvSpPr>
        <p:spPr>
          <a:xfrm>
            <a:off x="4752007" y="1018091"/>
            <a:ext cx="3894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invariant, fringe must be ordered by current best known distance from tree.</a:t>
            </a:r>
            <a:endParaRPr/>
          </a:p>
        </p:txBody>
      </p:sp>
      <p:cxnSp>
        <p:nvCxnSpPr>
          <p:cNvPr id="2247" name="Google Shape;2247;p90"/>
          <p:cNvCxnSpPr/>
          <p:nvPr/>
        </p:nvCxnSpPr>
        <p:spPr>
          <a:xfrm rot="10800000">
            <a:off x="3868200" y="3013959"/>
            <a:ext cx="19713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48" name="Google Shape;2248;p90"/>
          <p:cNvCxnSpPr/>
          <p:nvPr/>
        </p:nvCxnSpPr>
        <p:spPr>
          <a:xfrm rot="10800000">
            <a:off x="3984505" y="3242559"/>
            <a:ext cx="18663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49" name="Google Shape;2249;p90"/>
          <p:cNvSpPr txBox="1"/>
          <p:nvPr/>
        </p:nvSpPr>
        <p:spPr>
          <a:xfrm>
            <a:off x="5991325" y="2821550"/>
            <a:ext cx="31527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Already in MST, so go to next edge.</a:t>
            </a:r>
            <a:endParaRPr/>
          </a:p>
        </p:txBody>
      </p:sp>
      <p:sp>
        <p:nvSpPr>
          <p:cNvPr id="2250" name="Google Shape;2250;p90"/>
          <p:cNvSpPr txBox="1"/>
          <p:nvPr/>
        </p:nvSpPr>
        <p:spPr>
          <a:xfrm>
            <a:off x="5991325" y="3061439"/>
            <a:ext cx="31527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path to a particular vertex found, so update current best known for that vertex.</a:t>
            </a:r>
            <a:endParaRPr/>
          </a:p>
        </p:txBody>
      </p:sp>
      <p:cxnSp>
        <p:nvCxnSpPr>
          <p:cNvPr id="2251" name="Google Shape;2251;p90"/>
          <p:cNvCxnSpPr/>
          <p:nvPr/>
        </p:nvCxnSpPr>
        <p:spPr>
          <a:xfrm rot="10800000">
            <a:off x="2545400" y="2339700"/>
            <a:ext cx="33054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52" name="Google Shape;2252;p90"/>
          <p:cNvSpPr txBox="1"/>
          <p:nvPr/>
        </p:nvSpPr>
        <p:spPr>
          <a:xfrm>
            <a:off x="5991325" y="2135451"/>
            <a:ext cx="31527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Vertex is closest, so add to MST.</a:t>
            </a:r>
            <a:endParaRPr/>
          </a:p>
        </p:txBody>
      </p:sp>
      <p:sp>
        <p:nvSpPr>
          <p:cNvPr id="2253" name="Google Shape;2253;p90"/>
          <p:cNvSpPr txBox="1"/>
          <p:nvPr/>
        </p:nvSpPr>
        <p:spPr>
          <a:xfrm>
            <a:off x="337600" y="775683"/>
            <a:ext cx="3753000" cy="106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(!fringe.isEmpty())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fringe.delMin();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scan(G, v);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endParaRPr>
              <a:highlight>
                <a:srgbClr val="EFEFEF"/>
              </a:highlight>
            </a:endParaRPr>
          </a:p>
        </p:txBody>
      </p:sp>
      <p:cxnSp>
        <p:nvCxnSpPr>
          <p:cNvPr id="2254" name="Google Shape;2254;p90"/>
          <p:cNvCxnSpPr/>
          <p:nvPr/>
        </p:nvCxnSpPr>
        <p:spPr>
          <a:xfrm rot="10800000">
            <a:off x="3651225" y="1222200"/>
            <a:ext cx="10584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2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" name="Google Shape;2259;p9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Runtime</a:t>
            </a:r>
            <a:endParaRPr/>
          </a:p>
        </p:txBody>
      </p:sp>
      <p:sp>
        <p:nvSpPr>
          <p:cNvPr id="2260" name="Google Shape;2260;p91"/>
          <p:cNvSpPr txBox="1"/>
          <p:nvPr/>
        </p:nvSpPr>
        <p:spPr>
          <a:xfrm>
            <a:off x="5821953" y="592125"/>
            <a:ext cx="3285900" cy="2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What is the runtime of Prim’s algorithm?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Assume all PQ operations take O(log(V)) time.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Give your answer in Big O notation.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91"/>
          <p:cNvSpPr txBox="1"/>
          <p:nvPr/>
        </p:nvSpPr>
        <p:spPr>
          <a:xfrm>
            <a:off x="351375" y="1878600"/>
            <a:ext cx="5109600" cy="31167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scan(EdgeWeightedGraph G,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marked[v] = true;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(Edge e : G.adj(v))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= e.other(v);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(marked[w]) {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 } </a:t>
            </a:r>
            <a:endParaRPr sz="1500" i="1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(e.weight() &lt; distTo[w])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distTo[w] = e.weight();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edgeTo[w] = e;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pq.decreasePriority(w, distTo[w]);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highlight>
                <a:srgbClr val="EFEFEF"/>
              </a:highlight>
            </a:endParaRPr>
          </a:p>
        </p:txBody>
      </p:sp>
      <p:sp>
        <p:nvSpPr>
          <p:cNvPr id="2262" name="Google Shape;2262;p91"/>
          <p:cNvSpPr txBox="1"/>
          <p:nvPr/>
        </p:nvSpPr>
        <p:spPr>
          <a:xfrm>
            <a:off x="337600" y="775683"/>
            <a:ext cx="3753000" cy="10602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while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(!fringe.isEmpty()) {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5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fringe.delMin();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scan(G, v);</a:t>
            </a:r>
            <a:endParaRPr sz="15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} </a:t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9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Algorithm Runtime</a:t>
            </a:r>
            <a:endParaRPr/>
          </a:p>
        </p:txBody>
      </p:sp>
      <p:sp>
        <p:nvSpPr>
          <p:cNvPr id="2268" name="Google Shape;2268;p92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operation count, assuming binary heap based PQ: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Insertion: V, each costing O(log V)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Delete-min: V, each costing O(log V) time.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Decrease priority: O(E), each costing O(log V) time.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Operation not discussed in lecture, but it was in lab 10.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Overall runtime: O(V*log(V) + V*log(V) + E*log(V)). 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Assuming E &gt; V, this is just O(E log V) (Same as Dijkstra's).</a:t>
            </a:r>
            <a:endParaRPr/>
          </a:p>
        </p:txBody>
      </p:sp>
      <p:graphicFrame>
        <p:nvGraphicFramePr>
          <p:cNvPr id="2269" name="Google Shape;2269;p92"/>
          <p:cNvGraphicFramePr/>
          <p:nvPr/>
        </p:nvGraphicFramePr>
        <p:xfrm>
          <a:off x="1302600" y="350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{B9B6D51D-E2A9-432E-A73F-2B4FE37DDF82}</a:tableStyleId>
              </a:tblPr>
              <a:tblGrid>
                <a:gridCol w="187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8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# Operations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 per operation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cost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PQ add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 log V)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PQ delMin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 log V)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PQ decreasePriority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V)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93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2275" name="Google Shape;2275;p93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Kruskal’s Algorithm: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Basic Kruskal’s (Demo)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2276" name="Google Shape;2276;p93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Kruskal’s (Demo)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9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282" name="Google Shape;2282;p9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3" name="Google Shape;2283;p9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4" name="Google Shape;2284;p9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5" name="Google Shape;2285;p9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6" name="Google Shape;2286;p9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7" name="Google Shape;2287;p9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8" name="Google Shape;2288;p9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9" name="Google Shape;2289;p94"/>
          <p:cNvCxnSpPr>
            <a:stCxn id="2283" idx="2"/>
            <a:endCxn id="228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0" name="Google Shape;2290;p94"/>
          <p:cNvCxnSpPr>
            <a:stCxn id="2283" idx="3"/>
            <a:endCxn id="228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1" name="Google Shape;2291;p94"/>
          <p:cNvCxnSpPr>
            <a:stCxn id="2285" idx="2"/>
            <a:endCxn id="228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2" name="Google Shape;2292;p94"/>
          <p:cNvCxnSpPr>
            <a:stCxn id="2288" idx="2"/>
            <a:endCxn id="228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3" name="Google Shape;2293;p94"/>
          <p:cNvCxnSpPr>
            <a:stCxn id="2286" idx="2"/>
            <a:endCxn id="228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4" name="Google Shape;2294;p94"/>
          <p:cNvCxnSpPr>
            <a:stCxn id="2284" idx="3"/>
            <a:endCxn id="228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5" name="Google Shape;2295;p9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6" name="Google Shape;2296;p94"/>
          <p:cNvCxnSpPr>
            <a:stCxn id="2295" idx="3"/>
            <a:endCxn id="228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7" name="Google Shape;2297;p9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298" name="Google Shape;2298;p94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299" name="Google Shape;2299;p94"/>
          <p:cNvCxnSpPr>
            <a:stCxn id="2295" idx="3"/>
            <a:endCxn id="228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0" name="Google Shape;2300;p94"/>
          <p:cNvCxnSpPr>
            <a:stCxn id="2286" idx="3"/>
            <a:endCxn id="228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1" name="Google Shape;2301;p94"/>
          <p:cNvCxnSpPr>
            <a:stCxn id="2283" idx="3"/>
            <a:endCxn id="228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2" name="Google Shape;2302;p9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303" name="Google Shape;2303;p94"/>
          <p:cNvCxnSpPr>
            <a:stCxn id="2288" idx="0"/>
            <a:endCxn id="228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4" name="Google Shape;2304;p9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305" name="Google Shape;2305;p9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06" name="Google Shape;2306;p9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307" name="Google Shape;2307;p9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08" name="Google Shape;2308;p94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09" name="Google Shape;2309;p9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310" name="Google Shape;2310;p9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11" name="Google Shape;2311;p9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12" name="Google Shape;2312;p9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13" name="Google Shape;2313;p94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14" name="Google Shape;2314;p9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315" name="Google Shape;2315;p94"/>
          <p:cNvCxnSpPr>
            <a:stCxn id="2286" idx="1"/>
            <a:endCxn id="228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6" name="Google Shape;2316;p9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9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322" name="Google Shape;2322;p9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3" name="Google Shape;2323;p9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4" name="Google Shape;2324;p9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5" name="Google Shape;2325;p9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9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7" name="Google Shape;2327;p9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28" name="Google Shape;2328;p95"/>
          <p:cNvCxnSpPr>
            <a:stCxn id="2322" idx="2"/>
            <a:endCxn id="232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9" name="Google Shape;2329;p95"/>
          <p:cNvCxnSpPr>
            <a:stCxn id="2322" idx="3"/>
            <a:endCxn id="232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0" name="Google Shape;2330;p95"/>
          <p:cNvCxnSpPr>
            <a:stCxn id="2324" idx="2"/>
            <a:endCxn id="232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1" name="Google Shape;2331;p95"/>
          <p:cNvCxnSpPr>
            <a:stCxn id="2327" idx="2"/>
            <a:endCxn id="232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2" name="Google Shape;2332;p95"/>
          <p:cNvCxnSpPr>
            <a:stCxn id="2325" idx="2"/>
            <a:endCxn id="232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3" name="Google Shape;2333;p95"/>
          <p:cNvCxnSpPr>
            <a:stCxn id="2323" idx="3"/>
            <a:endCxn id="232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4" name="Google Shape;2334;p9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5" name="Google Shape;2335;p95"/>
          <p:cNvCxnSpPr>
            <a:stCxn id="2334" idx="3"/>
            <a:endCxn id="2322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6" name="Google Shape;2336;p9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337" name="Google Shape;2337;p95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38" name="Google Shape;2338;p95"/>
          <p:cNvCxnSpPr>
            <a:stCxn id="2334" idx="3"/>
            <a:endCxn id="232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9" name="Google Shape;2339;p95"/>
          <p:cNvCxnSpPr>
            <a:stCxn id="2325" idx="3"/>
            <a:endCxn id="2327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0" name="Google Shape;2340;p95"/>
          <p:cNvCxnSpPr>
            <a:stCxn id="2322" idx="3"/>
            <a:endCxn id="2324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1" name="Google Shape;2341;p9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342" name="Google Shape;2342;p95"/>
          <p:cNvCxnSpPr>
            <a:stCxn id="2327" idx="0"/>
            <a:endCxn id="232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3" name="Google Shape;2343;p9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344" name="Google Shape;2344;p9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45" name="Google Shape;2345;p9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346" name="Google Shape;2346;p9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47" name="Google Shape;2347;p95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48" name="Google Shape;2348;p9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349" name="Google Shape;2349;p9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50" name="Google Shape;2350;p9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51" name="Google Shape;2351;p9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52" name="Google Shape;2352;p95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3" name="Google Shape;2353;p9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354" name="Google Shape;2354;p95"/>
          <p:cNvCxnSpPr>
            <a:stCxn id="2325" idx="1"/>
            <a:endCxn id="232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5" name="Google Shape;2355;p9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56" name="Google Shape;2356;p95"/>
          <p:cNvSpPr txBox="1"/>
          <p:nvPr/>
        </p:nvSpPr>
        <p:spPr>
          <a:xfrm>
            <a:off x="2112250" y="3778175"/>
            <a:ext cx="7440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357" name="Google Shape;2357;p95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358" name="Google Shape;2358;p9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364" name="Google Shape;2364;p9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5" name="Google Shape;2365;p9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6" name="Google Shape;2366;p9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7" name="Google Shape;2367;p9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8" name="Google Shape;2368;p9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9" name="Google Shape;2369;p9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0" name="Google Shape;2370;p96"/>
          <p:cNvCxnSpPr>
            <a:stCxn id="2364" idx="2"/>
            <a:endCxn id="236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1" name="Google Shape;2371;p96"/>
          <p:cNvCxnSpPr>
            <a:stCxn id="2364" idx="3"/>
            <a:endCxn id="236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2" name="Google Shape;2372;p96"/>
          <p:cNvCxnSpPr>
            <a:stCxn id="2366" idx="2"/>
            <a:endCxn id="236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3" name="Google Shape;2373;p96"/>
          <p:cNvCxnSpPr>
            <a:stCxn id="2369" idx="2"/>
            <a:endCxn id="236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4" name="Google Shape;2374;p96"/>
          <p:cNvCxnSpPr>
            <a:stCxn id="2367" idx="2"/>
            <a:endCxn id="236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75" name="Google Shape;2375;p96"/>
          <p:cNvCxnSpPr>
            <a:stCxn id="2365" idx="3"/>
            <a:endCxn id="236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6" name="Google Shape;2376;p9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7" name="Google Shape;2377;p96"/>
          <p:cNvCxnSpPr>
            <a:stCxn id="2376" idx="3"/>
            <a:endCxn id="236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8" name="Google Shape;2378;p9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379" name="Google Shape;2379;p96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380" name="Google Shape;2380;p96"/>
          <p:cNvCxnSpPr>
            <a:stCxn id="2376" idx="3"/>
            <a:endCxn id="236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1" name="Google Shape;2381;p96"/>
          <p:cNvCxnSpPr>
            <a:stCxn id="2367" idx="3"/>
            <a:endCxn id="236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2" name="Google Shape;2382;p96"/>
          <p:cNvCxnSpPr>
            <a:stCxn id="2364" idx="3"/>
            <a:endCxn id="236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3" name="Google Shape;2383;p9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384" name="Google Shape;2384;p96"/>
          <p:cNvCxnSpPr>
            <a:stCxn id="2369" idx="0"/>
            <a:endCxn id="236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5" name="Google Shape;2385;p9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386" name="Google Shape;2386;p9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87" name="Google Shape;2387;p9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388" name="Google Shape;2388;p9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89" name="Google Shape;2389;p96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90" name="Google Shape;2390;p9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391" name="Google Shape;2391;p9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392" name="Google Shape;2392;p9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93" name="Google Shape;2393;p9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94" name="Google Shape;2394;p96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95" name="Google Shape;2395;p9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396" name="Google Shape;2396;p96"/>
          <p:cNvCxnSpPr>
            <a:stCxn id="2367" idx="1"/>
            <a:endCxn id="236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7" name="Google Shape;2397;p9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398" name="Google Shape;2398;p96"/>
          <p:cNvSpPr txBox="1"/>
          <p:nvPr/>
        </p:nvSpPr>
        <p:spPr>
          <a:xfrm>
            <a:off x="2112250" y="3778175"/>
            <a:ext cx="11301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399" name="Google Shape;2399;p96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9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405" name="Google Shape;2405;p9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6" name="Google Shape;2406;p9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7" name="Google Shape;2407;p9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8" name="Google Shape;2408;p9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9" name="Google Shape;2409;p9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0" name="Google Shape;2410;p9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1" name="Google Shape;2411;p97"/>
          <p:cNvCxnSpPr>
            <a:stCxn id="2405" idx="2"/>
            <a:endCxn id="240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2" name="Google Shape;2412;p97"/>
          <p:cNvCxnSpPr>
            <a:stCxn id="2405" idx="3"/>
            <a:endCxn id="240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3" name="Google Shape;2413;p97"/>
          <p:cNvCxnSpPr>
            <a:stCxn id="2407" idx="2"/>
            <a:endCxn id="240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4" name="Google Shape;2414;p97"/>
          <p:cNvCxnSpPr>
            <a:stCxn id="2410" idx="2"/>
            <a:endCxn id="240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5" name="Google Shape;2415;p97"/>
          <p:cNvCxnSpPr>
            <a:stCxn id="2408" idx="2"/>
            <a:endCxn id="240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6" name="Google Shape;2416;p97"/>
          <p:cNvCxnSpPr>
            <a:stCxn id="2406" idx="3"/>
            <a:endCxn id="240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7" name="Google Shape;2417;p9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18" name="Google Shape;2418;p97"/>
          <p:cNvCxnSpPr>
            <a:stCxn id="2417" idx="3"/>
            <a:endCxn id="240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9" name="Google Shape;2419;p9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420" name="Google Shape;2420;p97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21" name="Google Shape;2421;p97"/>
          <p:cNvCxnSpPr>
            <a:stCxn id="2417" idx="3"/>
            <a:endCxn id="240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2" name="Google Shape;2422;p97"/>
          <p:cNvCxnSpPr>
            <a:stCxn id="2408" idx="3"/>
            <a:endCxn id="241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3" name="Google Shape;2423;p97"/>
          <p:cNvCxnSpPr>
            <a:stCxn id="2405" idx="3"/>
            <a:endCxn id="240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4" name="Google Shape;2424;p9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425" name="Google Shape;2425;p97"/>
          <p:cNvCxnSpPr>
            <a:stCxn id="2410" idx="0"/>
            <a:endCxn id="240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6" name="Google Shape;2426;p9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427" name="Google Shape;2427;p9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28" name="Google Shape;2428;p9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429" name="Google Shape;2429;p9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30" name="Google Shape;2430;p97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31" name="Google Shape;2431;p9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432" name="Google Shape;2432;p9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33" name="Google Shape;2433;p9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34" name="Google Shape;2434;p9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35" name="Google Shape;2435;p97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36" name="Google Shape;2436;p9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437" name="Google Shape;2437;p97"/>
          <p:cNvCxnSpPr>
            <a:stCxn id="2408" idx="1"/>
            <a:endCxn id="240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38" name="Google Shape;2438;p9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39" name="Google Shape;2439;p97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440" name="Google Shape;2440;p97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441" name="Google Shape;2441;p97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6" name="Google Shape;2446;p9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447" name="Google Shape;2447;p9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8" name="Google Shape;2448;p9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9" name="Google Shape;2449;p9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0" name="Google Shape;2450;p9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1" name="Google Shape;2451;p9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2" name="Google Shape;2452;p9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3" name="Google Shape;2453;p98"/>
          <p:cNvCxnSpPr>
            <a:stCxn id="2447" idx="2"/>
            <a:endCxn id="244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4" name="Google Shape;2454;p98"/>
          <p:cNvCxnSpPr>
            <a:stCxn id="2447" idx="3"/>
            <a:endCxn id="245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5" name="Google Shape;2455;p98"/>
          <p:cNvCxnSpPr>
            <a:stCxn id="2449" idx="2"/>
            <a:endCxn id="245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6" name="Google Shape;2456;p98"/>
          <p:cNvCxnSpPr>
            <a:stCxn id="2452" idx="2"/>
            <a:endCxn id="245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7" name="Google Shape;2457;p98"/>
          <p:cNvCxnSpPr>
            <a:stCxn id="2450" idx="2"/>
            <a:endCxn id="245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58" name="Google Shape;2458;p98"/>
          <p:cNvCxnSpPr>
            <a:stCxn id="2448" idx="3"/>
            <a:endCxn id="245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59" name="Google Shape;2459;p9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0" name="Google Shape;2460;p98"/>
          <p:cNvCxnSpPr>
            <a:stCxn id="2459" idx="3"/>
            <a:endCxn id="244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1" name="Google Shape;2461;p9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462" name="Google Shape;2462;p98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63" name="Google Shape;2463;p98"/>
          <p:cNvCxnSpPr>
            <a:stCxn id="2459" idx="3"/>
            <a:endCxn id="244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4" name="Google Shape;2464;p98"/>
          <p:cNvCxnSpPr>
            <a:stCxn id="2450" idx="3"/>
            <a:endCxn id="245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5" name="Google Shape;2465;p98"/>
          <p:cNvCxnSpPr>
            <a:stCxn id="2447" idx="3"/>
            <a:endCxn id="244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6" name="Google Shape;2466;p9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467" name="Google Shape;2467;p98"/>
          <p:cNvCxnSpPr>
            <a:stCxn id="2452" idx="0"/>
            <a:endCxn id="244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8" name="Google Shape;2468;p9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469" name="Google Shape;2469;p9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70" name="Google Shape;2470;p9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471" name="Google Shape;2471;p9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72" name="Google Shape;2472;p98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73" name="Google Shape;2473;p9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474" name="Google Shape;2474;p9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475" name="Google Shape;2475;p9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76" name="Google Shape;2476;p9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77" name="Google Shape;2477;p98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8" name="Google Shape;2478;p9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479" name="Google Shape;2479;p98"/>
          <p:cNvCxnSpPr>
            <a:stCxn id="2450" idx="1"/>
            <a:endCxn id="244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0" name="Google Shape;2480;p9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481" name="Google Shape;2481;p98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482" name="Google Shape;2482;p98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p9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488" name="Google Shape;2488;p9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9" name="Google Shape;2489;p9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0" name="Google Shape;2490;p9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1" name="Google Shape;2491;p9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9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3" name="Google Shape;2493;p9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4" name="Google Shape;2494;p99"/>
          <p:cNvCxnSpPr>
            <a:stCxn id="2488" idx="2"/>
            <a:endCxn id="248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5" name="Google Shape;2495;p99"/>
          <p:cNvCxnSpPr>
            <a:stCxn id="2488" idx="3"/>
            <a:endCxn id="249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6" name="Google Shape;2496;p99"/>
          <p:cNvCxnSpPr>
            <a:stCxn id="2490" idx="2"/>
            <a:endCxn id="249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7" name="Google Shape;2497;p99"/>
          <p:cNvCxnSpPr>
            <a:stCxn id="2493" idx="2"/>
            <a:endCxn id="249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8" name="Google Shape;2498;p99"/>
          <p:cNvCxnSpPr>
            <a:stCxn id="2491" idx="2"/>
            <a:endCxn id="249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9" name="Google Shape;2499;p99"/>
          <p:cNvCxnSpPr>
            <a:stCxn id="2489" idx="3"/>
            <a:endCxn id="249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0" name="Google Shape;2500;p9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1" name="Google Shape;2501;p99"/>
          <p:cNvCxnSpPr>
            <a:stCxn id="2500" idx="3"/>
            <a:endCxn id="248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2" name="Google Shape;2502;p9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503" name="Google Shape;2503;p99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04" name="Google Shape;2504;p99"/>
          <p:cNvCxnSpPr>
            <a:stCxn id="2500" idx="3"/>
            <a:endCxn id="248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5" name="Google Shape;2505;p99"/>
          <p:cNvCxnSpPr>
            <a:stCxn id="2491" idx="3"/>
            <a:endCxn id="249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6" name="Google Shape;2506;p99"/>
          <p:cNvCxnSpPr>
            <a:stCxn id="2488" idx="3"/>
            <a:endCxn id="249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7" name="Google Shape;2507;p9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508" name="Google Shape;2508;p99"/>
          <p:cNvCxnSpPr>
            <a:stCxn id="2493" idx="0"/>
            <a:endCxn id="249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9" name="Google Shape;2509;p9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510" name="Google Shape;2510;p9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11" name="Google Shape;2511;p9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512" name="Google Shape;2512;p9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13" name="Google Shape;2513;p99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14" name="Google Shape;2514;p9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515" name="Google Shape;2515;p9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16" name="Google Shape;2516;p9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17" name="Google Shape;2517;p9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18" name="Google Shape;2518;p99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19" name="Google Shape;2519;p9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520" name="Google Shape;2520;p99"/>
          <p:cNvCxnSpPr>
            <a:stCxn id="2491" idx="1"/>
            <a:endCxn id="248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21" name="Google Shape;2521;p9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22" name="Google Shape;2522;p99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523" name="Google Shape;2523;p99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524" name="Google Shape;2524;p99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10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530" name="Google Shape;2530;p10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1" name="Google Shape;2531;p10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2" name="Google Shape;2532;p10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3" name="Google Shape;2533;p10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4" name="Google Shape;2534;p10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5" name="Google Shape;2535;p10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6" name="Google Shape;2536;p100"/>
          <p:cNvCxnSpPr>
            <a:stCxn id="2530" idx="2"/>
            <a:endCxn id="253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7" name="Google Shape;2537;p100"/>
          <p:cNvCxnSpPr>
            <a:stCxn id="2530" idx="3"/>
            <a:endCxn id="253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8" name="Google Shape;2538;p100"/>
          <p:cNvCxnSpPr>
            <a:stCxn id="2532" idx="2"/>
            <a:endCxn id="253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9" name="Google Shape;2539;p100"/>
          <p:cNvCxnSpPr>
            <a:stCxn id="2535" idx="2"/>
            <a:endCxn id="253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0" name="Google Shape;2540;p100"/>
          <p:cNvCxnSpPr>
            <a:stCxn id="2533" idx="2"/>
            <a:endCxn id="253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1" name="Google Shape;2541;p100"/>
          <p:cNvCxnSpPr>
            <a:stCxn id="2531" idx="3"/>
            <a:endCxn id="253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2" name="Google Shape;2542;p10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3" name="Google Shape;2543;p100"/>
          <p:cNvCxnSpPr>
            <a:stCxn id="2542" idx="3"/>
            <a:endCxn id="253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4" name="Google Shape;2544;p10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545" name="Google Shape;2545;p100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46" name="Google Shape;2546;p100"/>
          <p:cNvCxnSpPr>
            <a:stCxn id="2542" idx="3"/>
            <a:endCxn id="253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7" name="Google Shape;2547;p100"/>
          <p:cNvCxnSpPr>
            <a:stCxn id="2533" idx="3"/>
            <a:endCxn id="253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8" name="Google Shape;2548;p100"/>
          <p:cNvCxnSpPr>
            <a:stCxn id="2530" idx="3"/>
            <a:endCxn id="253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9" name="Google Shape;2549;p10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550" name="Google Shape;2550;p100"/>
          <p:cNvCxnSpPr>
            <a:stCxn id="2535" idx="0"/>
            <a:endCxn id="253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51" name="Google Shape;2551;p10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552" name="Google Shape;2552;p10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53" name="Google Shape;2553;p10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554" name="Google Shape;2554;p10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55" name="Google Shape;2555;p100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56" name="Google Shape;2556;p10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557" name="Google Shape;2557;p10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58" name="Google Shape;2558;p10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59" name="Google Shape;2559;p10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60" name="Google Shape;2560;p100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561" name="Google Shape;2561;p10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562" name="Google Shape;2562;p100"/>
          <p:cNvCxnSpPr>
            <a:stCxn id="2533" idx="1"/>
            <a:endCxn id="253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3" name="Google Shape;2563;p10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64" name="Google Shape;2564;p100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565" name="Google Shape;2565;p100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571" name="Google Shape;2571;p10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2" name="Google Shape;2572;p10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3" name="Google Shape;2573;p10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4" name="Google Shape;2574;p10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5" name="Google Shape;2575;p10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6" name="Google Shape;2576;p10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7" name="Google Shape;2577;p101"/>
          <p:cNvCxnSpPr>
            <a:stCxn id="2571" idx="2"/>
            <a:endCxn id="257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8" name="Google Shape;2578;p101"/>
          <p:cNvCxnSpPr>
            <a:stCxn id="2571" idx="3"/>
            <a:endCxn id="257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9" name="Google Shape;2579;p101"/>
          <p:cNvCxnSpPr>
            <a:stCxn id="2573" idx="2"/>
            <a:endCxn id="257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0" name="Google Shape;2580;p101"/>
          <p:cNvCxnSpPr>
            <a:stCxn id="2576" idx="2"/>
            <a:endCxn id="257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1" name="Google Shape;2581;p101"/>
          <p:cNvCxnSpPr>
            <a:stCxn id="2574" idx="2"/>
            <a:endCxn id="257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2" name="Google Shape;2582;p101"/>
          <p:cNvCxnSpPr>
            <a:stCxn id="2572" idx="3"/>
            <a:endCxn id="257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3" name="Google Shape;2583;p10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4" name="Google Shape;2584;p101"/>
          <p:cNvCxnSpPr>
            <a:stCxn id="2583" idx="3"/>
            <a:endCxn id="257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85" name="Google Shape;2585;p10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586" name="Google Shape;2586;p101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587" name="Google Shape;2587;p101"/>
          <p:cNvCxnSpPr>
            <a:stCxn id="2583" idx="3"/>
            <a:endCxn id="257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8" name="Google Shape;2588;p101"/>
          <p:cNvCxnSpPr>
            <a:stCxn id="2574" idx="3"/>
            <a:endCxn id="257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9" name="Google Shape;2589;p101"/>
          <p:cNvCxnSpPr>
            <a:stCxn id="2571" idx="3"/>
            <a:endCxn id="257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0" name="Google Shape;2590;p10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591" name="Google Shape;2591;p101"/>
          <p:cNvCxnSpPr>
            <a:stCxn id="2576" idx="0"/>
            <a:endCxn id="257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92" name="Google Shape;2592;p10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593" name="Google Shape;2593;p10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594" name="Google Shape;2594;p10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595" name="Google Shape;2595;p10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96" name="Google Shape;2596;p101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97" name="Google Shape;2597;p10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598" name="Google Shape;2598;p10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599" name="Google Shape;2599;p10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00" name="Google Shape;2600;p10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01" name="Google Shape;2601;p101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2" name="Google Shape;2602;p10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603" name="Google Shape;2603;p101"/>
          <p:cNvCxnSpPr>
            <a:stCxn id="2574" idx="1"/>
            <a:endCxn id="257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04" name="Google Shape;2604;p10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05" name="Google Shape;2605;p101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606" name="Google Shape;2606;p101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607" name="Google Shape;2607;p101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10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613" name="Google Shape;2613;p10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4" name="Google Shape;2614;p10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10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6" name="Google Shape;2616;p10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7" name="Google Shape;2617;p10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8" name="Google Shape;2618;p10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19" name="Google Shape;2619;p102"/>
          <p:cNvCxnSpPr>
            <a:stCxn id="2613" idx="2"/>
            <a:endCxn id="261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0" name="Google Shape;2620;p102"/>
          <p:cNvCxnSpPr>
            <a:stCxn id="2613" idx="3"/>
            <a:endCxn id="261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1" name="Google Shape;2621;p102"/>
          <p:cNvCxnSpPr>
            <a:stCxn id="2615" idx="2"/>
            <a:endCxn id="261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2" name="Google Shape;2622;p102"/>
          <p:cNvCxnSpPr>
            <a:stCxn id="2618" idx="2"/>
            <a:endCxn id="261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3" name="Google Shape;2623;p102"/>
          <p:cNvCxnSpPr>
            <a:stCxn id="2616" idx="2"/>
            <a:endCxn id="261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24" name="Google Shape;2624;p102"/>
          <p:cNvCxnSpPr>
            <a:stCxn id="2614" idx="3"/>
            <a:endCxn id="261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5" name="Google Shape;2625;p10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26" name="Google Shape;2626;p102"/>
          <p:cNvCxnSpPr>
            <a:stCxn id="2625" idx="3"/>
            <a:endCxn id="261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27" name="Google Shape;2627;p10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628" name="Google Shape;2628;p102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29" name="Google Shape;2629;p102"/>
          <p:cNvCxnSpPr>
            <a:stCxn id="2625" idx="3"/>
            <a:endCxn id="261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0" name="Google Shape;2630;p102"/>
          <p:cNvCxnSpPr>
            <a:stCxn id="2616" idx="3"/>
            <a:endCxn id="261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31" name="Google Shape;2631;p102"/>
          <p:cNvCxnSpPr>
            <a:stCxn id="2613" idx="3"/>
            <a:endCxn id="261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2" name="Google Shape;2632;p10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633" name="Google Shape;2633;p102"/>
          <p:cNvCxnSpPr>
            <a:stCxn id="2618" idx="0"/>
            <a:endCxn id="261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34" name="Google Shape;2634;p10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35" name="Google Shape;2635;p10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36" name="Google Shape;2636;p10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637" name="Google Shape;2637;p10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38" name="Google Shape;2638;p102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39" name="Google Shape;2639;p10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640" name="Google Shape;2640;p10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41" name="Google Shape;2641;p10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42" name="Google Shape;2642;p10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43" name="Google Shape;2643;p102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44" name="Google Shape;2644;p10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645" name="Google Shape;2645;p102"/>
          <p:cNvCxnSpPr>
            <a:stCxn id="2616" idx="1"/>
            <a:endCxn id="261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6" name="Google Shape;2646;p10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47" name="Google Shape;2647;p102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648" name="Google Shape;2648;p102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" name="Google Shape;2653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654" name="Google Shape;2654;p10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5" name="Google Shape;2655;p10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6" name="Google Shape;2656;p10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7" name="Google Shape;2657;p10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8" name="Google Shape;2658;p10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9" name="Google Shape;2659;p10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0" name="Google Shape;2660;p103"/>
          <p:cNvCxnSpPr>
            <a:stCxn id="2654" idx="2"/>
            <a:endCxn id="265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1" name="Google Shape;2661;p103"/>
          <p:cNvCxnSpPr>
            <a:stCxn id="2654" idx="3"/>
            <a:endCxn id="265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2" name="Google Shape;2662;p103"/>
          <p:cNvCxnSpPr>
            <a:stCxn id="2656" idx="2"/>
            <a:endCxn id="265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3" name="Google Shape;2663;p103"/>
          <p:cNvCxnSpPr>
            <a:stCxn id="2659" idx="2"/>
            <a:endCxn id="265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4" name="Google Shape;2664;p103"/>
          <p:cNvCxnSpPr>
            <a:stCxn id="2657" idx="2"/>
            <a:endCxn id="265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5" name="Google Shape;2665;p103"/>
          <p:cNvCxnSpPr>
            <a:stCxn id="2655" idx="3"/>
            <a:endCxn id="265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6" name="Google Shape;2666;p10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7" name="Google Shape;2667;p103"/>
          <p:cNvCxnSpPr>
            <a:stCxn id="2666" idx="3"/>
            <a:endCxn id="265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8" name="Google Shape;2668;p10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669" name="Google Shape;2669;p103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70" name="Google Shape;2670;p103"/>
          <p:cNvCxnSpPr>
            <a:stCxn id="2666" idx="3"/>
            <a:endCxn id="265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1" name="Google Shape;2671;p103"/>
          <p:cNvCxnSpPr>
            <a:stCxn id="2657" idx="3"/>
            <a:endCxn id="265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2" name="Google Shape;2672;p103"/>
          <p:cNvCxnSpPr>
            <a:stCxn id="2654" idx="3"/>
            <a:endCxn id="265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3" name="Google Shape;2673;p10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674" name="Google Shape;2674;p103"/>
          <p:cNvCxnSpPr>
            <a:stCxn id="2659" idx="0"/>
            <a:endCxn id="265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5" name="Google Shape;2675;p10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676" name="Google Shape;2676;p10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77" name="Google Shape;2677;p10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678" name="Google Shape;2678;p10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79" name="Google Shape;2679;p103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80" name="Google Shape;2680;p10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681" name="Google Shape;2681;p10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682" name="Google Shape;2682;p10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3" name="Google Shape;2683;p10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4" name="Google Shape;2684;p103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5" name="Google Shape;2685;p10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686" name="Google Shape;2686;p103"/>
          <p:cNvCxnSpPr>
            <a:stCxn id="2657" idx="1"/>
            <a:endCxn id="265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7" name="Google Shape;2687;p10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688" name="Google Shape;2688;p103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689" name="Google Shape;2689;p103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690" name="Google Shape;2690;p103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p10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696" name="Google Shape;2696;p10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7" name="Google Shape;2697;p10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8" name="Google Shape;2698;p10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9" name="Google Shape;2699;p10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0" name="Google Shape;2700;p10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1" name="Google Shape;2701;p10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2" name="Google Shape;2702;p104"/>
          <p:cNvCxnSpPr>
            <a:stCxn id="2696" idx="2"/>
            <a:endCxn id="2697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3" name="Google Shape;2703;p104"/>
          <p:cNvCxnSpPr>
            <a:stCxn id="2696" idx="3"/>
            <a:endCxn id="2699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4" name="Google Shape;2704;p104"/>
          <p:cNvCxnSpPr>
            <a:stCxn id="2698" idx="2"/>
            <a:endCxn id="2699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5" name="Google Shape;2705;p104"/>
          <p:cNvCxnSpPr>
            <a:stCxn id="2701" idx="2"/>
            <a:endCxn id="2700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6" name="Google Shape;2706;p104"/>
          <p:cNvCxnSpPr>
            <a:stCxn id="2699" idx="2"/>
            <a:endCxn id="2700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07" name="Google Shape;2707;p104"/>
          <p:cNvCxnSpPr>
            <a:stCxn id="2697" idx="3"/>
            <a:endCxn id="2700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8" name="Google Shape;2708;p10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9" name="Google Shape;2709;p104"/>
          <p:cNvCxnSpPr>
            <a:stCxn id="2708" idx="3"/>
            <a:endCxn id="2696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0" name="Google Shape;2710;p10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711" name="Google Shape;2711;p104"/>
          <p:cNvSpPr txBox="1"/>
          <p:nvPr/>
        </p:nvSpPr>
        <p:spPr>
          <a:xfrm>
            <a:off x="176275" y="4646100"/>
            <a:ext cx="592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12" name="Google Shape;2712;p104"/>
          <p:cNvCxnSpPr>
            <a:stCxn id="2708" idx="3"/>
            <a:endCxn id="2697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3" name="Google Shape;2713;p104"/>
          <p:cNvCxnSpPr>
            <a:stCxn id="2699" idx="3"/>
            <a:endCxn id="2701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14" name="Google Shape;2714;p104"/>
          <p:cNvCxnSpPr>
            <a:stCxn id="2696" idx="3"/>
            <a:endCxn id="2698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5" name="Google Shape;2715;p10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716" name="Google Shape;2716;p104"/>
          <p:cNvCxnSpPr>
            <a:stCxn id="2701" idx="0"/>
            <a:endCxn id="2698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17" name="Google Shape;2717;p10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18" name="Google Shape;2718;p10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19" name="Google Shape;2719;p10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720" name="Google Shape;2720;p10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21" name="Google Shape;2721;p104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22" name="Google Shape;2722;p10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723" name="Google Shape;2723;p10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24" name="Google Shape;2724;p10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25" name="Google Shape;2725;p10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26" name="Google Shape;2726;p104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7" name="Google Shape;2727;p10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728" name="Google Shape;2728;p104"/>
          <p:cNvCxnSpPr>
            <a:stCxn id="2699" idx="1"/>
            <a:endCxn id="269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9" name="Google Shape;2729;p10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30" name="Google Shape;2730;p104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</a:t>
            </a:r>
            <a:endParaRPr/>
          </a:p>
        </p:txBody>
      </p:sp>
      <p:sp>
        <p:nvSpPr>
          <p:cNvPr id="2731" name="Google Shape;2731;p10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6" name="Google Shape;2736;p10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737" name="Google Shape;2737;p10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8" name="Google Shape;2738;p10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9" name="Google Shape;2739;p10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0" name="Google Shape;2740;p10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1" name="Google Shape;2741;p10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2" name="Google Shape;2742;p10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43" name="Google Shape;2743;p105"/>
          <p:cNvCxnSpPr>
            <a:stCxn id="2737" idx="2"/>
            <a:endCxn id="273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4" name="Google Shape;2744;p105"/>
          <p:cNvCxnSpPr>
            <a:stCxn id="2737" idx="3"/>
            <a:endCxn id="274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5" name="Google Shape;2745;p105"/>
          <p:cNvCxnSpPr>
            <a:stCxn id="2739" idx="2"/>
            <a:endCxn id="274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6" name="Google Shape;2746;p105"/>
          <p:cNvCxnSpPr>
            <a:stCxn id="2742" idx="2"/>
            <a:endCxn id="274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7" name="Google Shape;2747;p105"/>
          <p:cNvCxnSpPr>
            <a:stCxn id="2740" idx="2"/>
            <a:endCxn id="274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48" name="Google Shape;2748;p105"/>
          <p:cNvCxnSpPr>
            <a:stCxn id="2738" idx="3"/>
            <a:endCxn id="274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49" name="Google Shape;2749;p10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0" name="Google Shape;2750;p105"/>
          <p:cNvCxnSpPr>
            <a:stCxn id="2749" idx="3"/>
            <a:endCxn id="273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1" name="Google Shape;2751;p10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752" name="Google Shape;2752;p105"/>
          <p:cNvSpPr txBox="1"/>
          <p:nvPr/>
        </p:nvSpPr>
        <p:spPr>
          <a:xfrm>
            <a:off x="176275" y="4646100"/>
            <a:ext cx="592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53" name="Google Shape;2753;p105"/>
          <p:cNvCxnSpPr>
            <a:stCxn id="2749" idx="3"/>
            <a:endCxn id="273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4" name="Google Shape;2754;p105"/>
          <p:cNvCxnSpPr>
            <a:stCxn id="2740" idx="3"/>
            <a:endCxn id="274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55" name="Google Shape;2755;p105"/>
          <p:cNvCxnSpPr>
            <a:stCxn id="2737" idx="3"/>
            <a:endCxn id="273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6" name="Google Shape;2756;p10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757" name="Google Shape;2757;p105"/>
          <p:cNvCxnSpPr>
            <a:stCxn id="2742" idx="0"/>
            <a:endCxn id="273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58" name="Google Shape;2758;p10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759" name="Google Shape;2759;p10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60" name="Google Shape;2760;p10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761" name="Google Shape;2761;p10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62" name="Google Shape;2762;p105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63" name="Google Shape;2763;p10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764" name="Google Shape;2764;p10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765" name="Google Shape;2765;p10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66" name="Google Shape;2766;p10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67" name="Google Shape;2767;p105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8" name="Google Shape;2768;p10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769" name="Google Shape;2769;p105"/>
          <p:cNvCxnSpPr>
            <a:stCxn id="2740" idx="1"/>
            <a:endCxn id="273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0" name="Google Shape;2770;p10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771" name="Google Shape;2771;p105"/>
          <p:cNvSpPr txBox="1"/>
          <p:nvPr/>
        </p:nvSpPr>
        <p:spPr>
          <a:xfrm>
            <a:off x="2112250" y="3778175"/>
            <a:ext cx="1372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772" name="Google Shape;2772;p105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773" name="Google Shape;2773;p10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8" name="Google Shape;2778;p10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779" name="Google Shape;2779;p10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0" name="Google Shape;2780;p10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1" name="Google Shape;2781;p10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2" name="Google Shape;2782;p10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3" name="Google Shape;2783;p10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4" name="Google Shape;2784;p10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5" name="Google Shape;2785;p106"/>
          <p:cNvCxnSpPr>
            <a:stCxn id="2779" idx="2"/>
            <a:endCxn id="2780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6" name="Google Shape;2786;p106"/>
          <p:cNvCxnSpPr>
            <a:stCxn id="2779" idx="3"/>
            <a:endCxn id="2782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7" name="Google Shape;2787;p106"/>
          <p:cNvCxnSpPr>
            <a:stCxn id="2781" idx="2"/>
            <a:endCxn id="2782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8" name="Google Shape;2788;p106"/>
          <p:cNvCxnSpPr>
            <a:stCxn id="2784" idx="2"/>
            <a:endCxn id="2783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9" name="Google Shape;2789;p106"/>
          <p:cNvCxnSpPr>
            <a:stCxn id="2782" idx="2"/>
            <a:endCxn id="2783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0" name="Google Shape;2790;p106"/>
          <p:cNvCxnSpPr>
            <a:stCxn id="2780" idx="3"/>
            <a:endCxn id="2783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1" name="Google Shape;2791;p10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2" name="Google Shape;2792;p106"/>
          <p:cNvCxnSpPr>
            <a:stCxn id="2791" idx="3"/>
            <a:endCxn id="2779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3" name="Google Shape;2793;p10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794" name="Google Shape;2794;p106"/>
          <p:cNvSpPr txBox="1"/>
          <p:nvPr/>
        </p:nvSpPr>
        <p:spPr>
          <a:xfrm>
            <a:off x="176275" y="4646100"/>
            <a:ext cx="592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795" name="Google Shape;2795;p106"/>
          <p:cNvCxnSpPr>
            <a:stCxn id="2791" idx="3"/>
            <a:endCxn id="2780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6" name="Google Shape;2796;p106"/>
          <p:cNvCxnSpPr>
            <a:stCxn id="2782" idx="3"/>
            <a:endCxn id="2784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97" name="Google Shape;2797;p106"/>
          <p:cNvCxnSpPr>
            <a:stCxn id="2779" idx="3"/>
            <a:endCxn id="2781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8" name="Google Shape;2798;p10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799" name="Google Shape;2799;p106"/>
          <p:cNvCxnSpPr>
            <a:stCxn id="2784" idx="0"/>
            <a:endCxn id="2781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00" name="Google Shape;2800;p10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01" name="Google Shape;2801;p10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02" name="Google Shape;2802;p10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803" name="Google Shape;2803;p10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04" name="Google Shape;2804;p106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05" name="Google Shape;2805;p10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806" name="Google Shape;2806;p10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07" name="Google Shape;2807;p10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08" name="Google Shape;2808;p10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09" name="Google Shape;2809;p106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10" name="Google Shape;2810;p10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811" name="Google Shape;2811;p106"/>
          <p:cNvCxnSpPr>
            <a:stCxn id="2782" idx="1"/>
            <a:endCxn id="278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12" name="Google Shape;2812;p10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13" name="Google Shape;2813;p106"/>
          <p:cNvSpPr txBox="1"/>
          <p:nvPr/>
        </p:nvSpPr>
        <p:spPr>
          <a:xfrm>
            <a:off x="2112250" y="3778175"/>
            <a:ext cx="2043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Yes. Reject!</a:t>
            </a:r>
            <a:endParaRPr/>
          </a:p>
        </p:txBody>
      </p:sp>
      <p:sp>
        <p:nvSpPr>
          <p:cNvPr id="2814" name="Google Shape;2814;p106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p10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820" name="Google Shape;2820;p10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1" name="Google Shape;2821;p10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2" name="Google Shape;2822;p10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3" name="Google Shape;2823;p10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4" name="Google Shape;2824;p10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5" name="Google Shape;2825;p10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26" name="Google Shape;2826;p107"/>
          <p:cNvCxnSpPr>
            <a:stCxn id="2820" idx="2"/>
            <a:endCxn id="282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7" name="Google Shape;2827;p107"/>
          <p:cNvCxnSpPr>
            <a:stCxn id="2820" idx="3"/>
            <a:endCxn id="282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8" name="Google Shape;2828;p107"/>
          <p:cNvCxnSpPr>
            <a:stCxn id="2822" idx="2"/>
            <a:endCxn id="282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9" name="Google Shape;2829;p107"/>
          <p:cNvCxnSpPr>
            <a:stCxn id="2825" idx="2"/>
            <a:endCxn id="282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0" name="Google Shape;2830;p107"/>
          <p:cNvCxnSpPr>
            <a:stCxn id="2823" idx="2"/>
            <a:endCxn id="282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1" name="Google Shape;2831;p107"/>
          <p:cNvCxnSpPr>
            <a:stCxn id="2821" idx="3"/>
            <a:endCxn id="282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2" name="Google Shape;2832;p10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3" name="Google Shape;2833;p107"/>
          <p:cNvCxnSpPr>
            <a:stCxn id="2832" idx="3"/>
            <a:endCxn id="282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4" name="Google Shape;2834;p10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835" name="Google Shape;2835;p107"/>
          <p:cNvSpPr txBox="1"/>
          <p:nvPr/>
        </p:nvSpPr>
        <p:spPr>
          <a:xfrm>
            <a:off x="176275" y="4646100"/>
            <a:ext cx="592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36" name="Google Shape;2836;p107"/>
          <p:cNvCxnSpPr>
            <a:stCxn id="2832" idx="3"/>
            <a:endCxn id="282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7" name="Google Shape;2837;p107"/>
          <p:cNvCxnSpPr>
            <a:stCxn id="2823" idx="3"/>
            <a:endCxn id="282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8" name="Google Shape;2838;p107"/>
          <p:cNvCxnSpPr>
            <a:stCxn id="2820" idx="3"/>
            <a:endCxn id="282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39" name="Google Shape;2839;p10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840" name="Google Shape;2840;p107"/>
          <p:cNvCxnSpPr>
            <a:stCxn id="2825" idx="0"/>
            <a:endCxn id="282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41" name="Google Shape;2841;p10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42" name="Google Shape;2842;p10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43" name="Google Shape;2843;p10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844" name="Google Shape;2844;p10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45" name="Google Shape;2845;p107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46" name="Google Shape;2846;p10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847" name="Google Shape;2847;p10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48" name="Google Shape;2848;p10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49" name="Google Shape;2849;p10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50" name="Google Shape;2850;p107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F00FF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>
              <a:solidFill>
                <a:srgbClr val="FF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51" name="Google Shape;2851;p10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852" name="Google Shape;2852;p107"/>
          <p:cNvCxnSpPr>
            <a:stCxn id="2823" idx="1"/>
            <a:endCxn id="282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3" name="Google Shape;2853;p10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54" name="Google Shape;2854;p107"/>
          <p:cNvSpPr txBox="1"/>
          <p:nvPr/>
        </p:nvSpPr>
        <p:spPr>
          <a:xfrm>
            <a:off x="2112250" y="3778175"/>
            <a:ext cx="2043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</a:t>
            </a:r>
            <a:endParaRPr/>
          </a:p>
        </p:txBody>
      </p:sp>
      <p:sp>
        <p:nvSpPr>
          <p:cNvPr id="2855" name="Google Shape;2855;p107"/>
          <p:cNvSpPr txBox="1"/>
          <p:nvPr/>
        </p:nvSpPr>
        <p:spPr>
          <a:xfrm>
            <a:off x="5953875" y="4371700"/>
            <a:ext cx="28095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and green colorings for vertices show cut being implicitly utilized by Kruskal’s algorithm.</a:t>
            </a:r>
            <a:endParaRPr/>
          </a:p>
        </p:txBody>
      </p:sp>
      <p:sp>
        <p:nvSpPr>
          <p:cNvPr id="2856" name="Google Shape;2856;p107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10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862" name="Google Shape;2862;p10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3" name="Google Shape;2863;p10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4" name="Google Shape;2864;p10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5" name="Google Shape;2865;p10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6" name="Google Shape;2866;p10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7" name="Google Shape;2867;p10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68" name="Google Shape;2868;p108"/>
          <p:cNvCxnSpPr>
            <a:stCxn id="2862" idx="2"/>
            <a:endCxn id="286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9" name="Google Shape;2869;p108"/>
          <p:cNvCxnSpPr>
            <a:stCxn id="2862" idx="3"/>
            <a:endCxn id="286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0" name="Google Shape;2870;p108"/>
          <p:cNvCxnSpPr>
            <a:stCxn id="2864" idx="2"/>
            <a:endCxn id="286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1" name="Google Shape;2871;p108"/>
          <p:cNvCxnSpPr>
            <a:stCxn id="2867" idx="2"/>
            <a:endCxn id="286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2" name="Google Shape;2872;p108"/>
          <p:cNvCxnSpPr>
            <a:stCxn id="2865" idx="2"/>
            <a:endCxn id="286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3" name="Google Shape;2873;p108"/>
          <p:cNvCxnSpPr>
            <a:stCxn id="2863" idx="3"/>
            <a:endCxn id="286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4" name="Google Shape;2874;p10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5" name="Google Shape;2875;p108"/>
          <p:cNvCxnSpPr>
            <a:stCxn id="2874" idx="3"/>
            <a:endCxn id="2862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6" name="Google Shape;2876;p10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877" name="Google Shape;2877;p108"/>
          <p:cNvSpPr txBox="1"/>
          <p:nvPr/>
        </p:nvSpPr>
        <p:spPr>
          <a:xfrm>
            <a:off x="176275" y="4646100"/>
            <a:ext cx="592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A-B, D-E]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878" name="Google Shape;2878;p108"/>
          <p:cNvCxnSpPr>
            <a:stCxn id="2874" idx="3"/>
            <a:endCxn id="286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9" name="Google Shape;2879;p108"/>
          <p:cNvCxnSpPr>
            <a:stCxn id="2865" idx="3"/>
            <a:endCxn id="2867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0" name="Google Shape;2880;p108"/>
          <p:cNvCxnSpPr>
            <a:stCxn id="2862" idx="3"/>
            <a:endCxn id="2864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1" name="Google Shape;2881;p10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882" name="Google Shape;2882;p108"/>
          <p:cNvCxnSpPr>
            <a:stCxn id="2867" idx="0"/>
            <a:endCxn id="286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83" name="Google Shape;2883;p10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884" name="Google Shape;2884;p10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85" name="Google Shape;2885;p10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886" name="Google Shape;2886;p10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87" name="Google Shape;2887;p108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88" name="Google Shape;2888;p10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889" name="Google Shape;2889;p10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890" name="Google Shape;2890;p10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91" name="Google Shape;2891;p10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92" name="Google Shape;2892;p108"/>
          <p:cNvSpPr txBox="1"/>
          <p:nvPr/>
        </p:nvSpPr>
        <p:spPr>
          <a:xfrm>
            <a:off x="242950" y="1384400"/>
            <a:ext cx="3200700" cy="32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A-C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C-E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F-G    1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A-B    2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E-B    3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D-E    3</a:t>
            </a:r>
            <a:endParaRPr sz="1600" strike="sng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G-E    3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E-F    4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B-C    5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B-D    11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C-F    15</a:t>
            </a:r>
            <a:endParaRPr sz="1600" strike="sngStrike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93" name="Google Shape;2893;p10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894" name="Google Shape;2894;p108"/>
          <p:cNvCxnSpPr>
            <a:stCxn id="2865" idx="1"/>
            <a:endCxn id="286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5" name="Google Shape;2895;p10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896" name="Google Shape;2896;p108"/>
          <p:cNvSpPr txBox="1"/>
          <p:nvPr/>
        </p:nvSpPr>
        <p:spPr>
          <a:xfrm>
            <a:off x="2112250" y="3778175"/>
            <a:ext cx="23595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Cycle? No.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V-1 edges, so we’re done!</a:t>
            </a:r>
            <a:endParaRPr/>
          </a:p>
        </p:txBody>
      </p:sp>
      <p:sp>
        <p:nvSpPr>
          <p:cNvPr id="2897" name="Google Shape;2897;p108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Consider edges in order of increasing weight. Add to MST unless a cycle is created.</a:t>
            </a:r>
            <a:br>
              <a:rPr lang="en"/>
            </a:b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2" name="Google Shape;2902;p10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Algorithm</a:t>
            </a:r>
            <a:endParaRPr/>
          </a:p>
        </p:txBody>
      </p:sp>
      <p:sp>
        <p:nvSpPr>
          <p:cNvPr id="2903" name="Google Shape;2903;p109"/>
          <p:cNvSpPr txBox="1">
            <a:spLocks noGrp="1"/>
          </p:cNvSpPr>
          <p:nvPr>
            <p:ph type="body" idx="1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Initially mark all edges gray.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edges in increasing order of weight.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edge to MST (mark black) unless doing so creates a cycle.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Repeat until V-1 edges.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Why does Kruskal’s work? Special case of generic MST algorithm.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Suppose we add edge e = v-&gt;w.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Side 1 of cut is all vertices connected to v, side 2 is everything else.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crossing edge is black (since we don’t allow cycles).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crossing edge has lower weight (consider in increasing order).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04" name="Google Shape;290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2579" y="835896"/>
            <a:ext cx="29051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Google Shape;2909;p110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2910" name="Google Shape;2910;p110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Kruskal’s Algorithm: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Optimized Kruskal’s (Demo)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2911" name="Google Shape;2911;p110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Optimized Kruskal’s (Demo)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p1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917" name="Google Shape;2917;p111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  <p:sp>
        <p:nvSpPr>
          <p:cNvPr id="2918" name="Google Shape;2918;p11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9" name="Google Shape;2919;p11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0" name="Google Shape;2920;p11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1" name="Google Shape;2921;p11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2" name="Google Shape;2922;p11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3" name="Google Shape;2923;p11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24" name="Google Shape;2924;p111"/>
          <p:cNvCxnSpPr>
            <a:stCxn id="2918" idx="2"/>
            <a:endCxn id="291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5" name="Google Shape;2925;p111"/>
          <p:cNvCxnSpPr>
            <a:stCxn id="2918" idx="3"/>
            <a:endCxn id="292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6" name="Google Shape;2926;p111"/>
          <p:cNvCxnSpPr>
            <a:stCxn id="2920" idx="2"/>
            <a:endCxn id="292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7" name="Google Shape;2927;p111"/>
          <p:cNvCxnSpPr>
            <a:stCxn id="2923" idx="2"/>
            <a:endCxn id="292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8" name="Google Shape;2928;p111"/>
          <p:cNvCxnSpPr>
            <a:stCxn id="2921" idx="2"/>
            <a:endCxn id="292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9" name="Google Shape;2929;p111"/>
          <p:cNvCxnSpPr>
            <a:stCxn id="2919" idx="3"/>
            <a:endCxn id="292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0" name="Google Shape;2930;p11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31" name="Google Shape;2931;p111"/>
          <p:cNvCxnSpPr>
            <a:stCxn id="2930" idx="3"/>
            <a:endCxn id="291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2" name="Google Shape;2932;p11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933" name="Google Shape;2933;p111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34" name="Google Shape;2934;p111"/>
          <p:cNvCxnSpPr>
            <a:stCxn id="2930" idx="3"/>
            <a:endCxn id="291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5" name="Google Shape;2935;p111"/>
          <p:cNvCxnSpPr>
            <a:stCxn id="2921" idx="3"/>
            <a:endCxn id="292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6" name="Google Shape;2936;p111"/>
          <p:cNvCxnSpPr>
            <a:stCxn id="2918" idx="3"/>
            <a:endCxn id="292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7" name="Google Shape;2937;p11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938" name="Google Shape;2938;p111"/>
          <p:cNvCxnSpPr>
            <a:stCxn id="2923" idx="0"/>
            <a:endCxn id="292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9" name="Google Shape;2939;p11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40" name="Google Shape;2940;p11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41" name="Google Shape;2941;p11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942" name="Google Shape;2942;p11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43" name="Google Shape;2943;p111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44" name="Google Shape;2944;p11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945" name="Google Shape;2945;p11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46" name="Google Shape;2946;p11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47" name="Google Shape;2947;p11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48" name="Google Shape;2948;p111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Fringe: (A-C: 1), (C-E: 1),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(D-G: 1), (F-G: 1),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9" name="Google Shape;2949;p11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950" name="Google Shape;2950;p111"/>
          <p:cNvCxnSpPr>
            <a:stCxn id="2921" idx="1"/>
            <a:endCxn id="291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1" name="Google Shape;2951;p11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52" name="Google Shape;2952;p111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1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2958" name="Google Shape;2958;p11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9" name="Google Shape;2959;p11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0" name="Google Shape;2960;p11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1" name="Google Shape;2961;p11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2" name="Google Shape;2962;p11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3" name="Google Shape;2963;p11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64" name="Google Shape;2964;p112"/>
          <p:cNvCxnSpPr>
            <a:stCxn id="2958" idx="2"/>
            <a:endCxn id="295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5" name="Google Shape;2965;p112"/>
          <p:cNvCxnSpPr>
            <a:stCxn id="2958" idx="3"/>
            <a:endCxn id="296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6" name="Google Shape;2966;p112"/>
          <p:cNvCxnSpPr>
            <a:stCxn id="2960" idx="2"/>
            <a:endCxn id="296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7" name="Google Shape;2967;p112"/>
          <p:cNvCxnSpPr>
            <a:stCxn id="2963" idx="2"/>
            <a:endCxn id="296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8" name="Google Shape;2968;p112"/>
          <p:cNvCxnSpPr>
            <a:stCxn id="2961" idx="2"/>
            <a:endCxn id="296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9" name="Google Shape;2969;p112"/>
          <p:cNvCxnSpPr>
            <a:stCxn id="2959" idx="3"/>
            <a:endCxn id="296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0" name="Google Shape;2970;p11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1" name="Google Shape;2971;p112"/>
          <p:cNvCxnSpPr>
            <a:stCxn id="2970" idx="3"/>
            <a:endCxn id="295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2" name="Google Shape;2972;p11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2973" name="Google Shape;2973;p112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74" name="Google Shape;2974;p112"/>
          <p:cNvCxnSpPr>
            <a:stCxn id="2970" idx="3"/>
            <a:endCxn id="295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5" name="Google Shape;2975;p112"/>
          <p:cNvCxnSpPr>
            <a:stCxn id="2961" idx="3"/>
            <a:endCxn id="296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6" name="Google Shape;2976;p112"/>
          <p:cNvCxnSpPr>
            <a:stCxn id="2958" idx="3"/>
            <a:endCxn id="296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7" name="Google Shape;2977;p11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2978" name="Google Shape;2978;p112"/>
          <p:cNvCxnSpPr>
            <a:stCxn id="2963" idx="0"/>
            <a:endCxn id="296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9" name="Google Shape;2979;p11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2980" name="Google Shape;2980;p11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81" name="Google Shape;2981;p11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2982" name="Google Shape;2982;p11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83" name="Google Shape;2983;p112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84" name="Google Shape;2984;p11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2985" name="Google Shape;2985;p11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2986" name="Google Shape;2986;p11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87" name="Google Shape;2987;p11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88" name="Google Shape;2988;p112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(C-E: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(D-G: 1),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9" name="Google Shape;2989;p11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2990" name="Google Shape;2990;p112"/>
          <p:cNvCxnSpPr>
            <a:stCxn id="2961" idx="1"/>
            <a:endCxn id="295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91" name="Google Shape;2991;p11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2992" name="Google Shape;2992;p112"/>
          <p:cNvSpPr txBox="1"/>
          <p:nvPr/>
        </p:nvSpPr>
        <p:spPr>
          <a:xfrm>
            <a:off x="893050" y="3778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isConnected(A, C)</a:t>
            </a:r>
            <a:endParaRPr/>
          </a:p>
        </p:txBody>
      </p:sp>
      <p:sp>
        <p:nvSpPr>
          <p:cNvPr id="2993" name="Google Shape;2993;p112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4" name="Google Shape;2994;p112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A-C</a:t>
            </a:r>
            <a:endParaRPr/>
          </a:p>
        </p:txBody>
      </p:sp>
      <p:sp>
        <p:nvSpPr>
          <p:cNvPr id="2995" name="Google Shape;2995;p112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" name="Google Shape;3000;p1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001" name="Google Shape;3001;p11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2" name="Google Shape;3002;p11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3" name="Google Shape;3003;p11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4" name="Google Shape;3004;p11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5" name="Google Shape;3005;p11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6" name="Google Shape;3006;p11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7" name="Google Shape;3007;p113"/>
          <p:cNvCxnSpPr>
            <a:stCxn id="3001" idx="2"/>
            <a:endCxn id="300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8" name="Google Shape;3008;p113"/>
          <p:cNvCxnSpPr>
            <a:stCxn id="3001" idx="3"/>
            <a:endCxn id="300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9" name="Google Shape;3009;p113"/>
          <p:cNvCxnSpPr>
            <a:stCxn id="3003" idx="2"/>
            <a:endCxn id="300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0" name="Google Shape;3010;p113"/>
          <p:cNvCxnSpPr>
            <a:stCxn id="3006" idx="2"/>
            <a:endCxn id="300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1" name="Google Shape;3011;p113"/>
          <p:cNvCxnSpPr>
            <a:stCxn id="3004" idx="2"/>
            <a:endCxn id="300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2" name="Google Shape;3012;p113"/>
          <p:cNvCxnSpPr>
            <a:stCxn id="3002" idx="3"/>
            <a:endCxn id="300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3" name="Google Shape;3013;p11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14" name="Google Shape;3014;p113"/>
          <p:cNvCxnSpPr>
            <a:stCxn id="3013" idx="3"/>
            <a:endCxn id="300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5" name="Google Shape;3015;p11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016" name="Google Shape;3016;p113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17" name="Google Shape;3017;p113"/>
          <p:cNvCxnSpPr>
            <a:stCxn id="3013" idx="3"/>
            <a:endCxn id="300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8" name="Google Shape;3018;p113"/>
          <p:cNvCxnSpPr>
            <a:stCxn id="3004" idx="3"/>
            <a:endCxn id="300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9" name="Google Shape;3019;p113"/>
          <p:cNvCxnSpPr>
            <a:stCxn id="3001" idx="3"/>
            <a:endCxn id="300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0" name="Google Shape;3020;p11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021" name="Google Shape;3021;p113"/>
          <p:cNvCxnSpPr>
            <a:stCxn id="3006" idx="0"/>
            <a:endCxn id="300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2" name="Google Shape;3022;p11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23" name="Google Shape;3023;p11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24" name="Google Shape;3024;p11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025" name="Google Shape;3025;p11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26" name="Google Shape;3026;p113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27" name="Google Shape;3027;p11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028" name="Google Shape;3028;p11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29" name="Google Shape;3029;p11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30" name="Google Shape;3030;p11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31" name="Google Shape;3031;p113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(C-E: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(D-G: 1),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2" name="Google Shape;3032;p11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033" name="Google Shape;3033;p113"/>
          <p:cNvCxnSpPr>
            <a:stCxn id="3004" idx="1"/>
            <a:endCxn id="300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4" name="Google Shape;3034;p11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35" name="Google Shape;3035;p113"/>
          <p:cNvSpPr txBox="1"/>
          <p:nvPr/>
        </p:nvSpPr>
        <p:spPr>
          <a:xfrm>
            <a:off x="893050" y="3778175"/>
            <a:ext cx="28821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 union(A, C). add(A-C).</a:t>
            </a:r>
            <a:endParaRPr/>
          </a:p>
        </p:txBody>
      </p:sp>
      <p:sp>
        <p:nvSpPr>
          <p:cNvPr id="3036" name="Google Shape;3036;p113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37" name="Google Shape;3037;p113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A-C</a:t>
            </a:r>
            <a:endParaRPr/>
          </a:p>
        </p:txBody>
      </p:sp>
      <p:sp>
        <p:nvSpPr>
          <p:cNvPr id="3038" name="Google Shape;3038;p113"/>
          <p:cNvSpPr/>
          <p:nvPr/>
        </p:nvSpPr>
        <p:spPr>
          <a:xfrm>
            <a:off x="919750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9" name="Google Shape;3039;p113"/>
          <p:cNvSpPr/>
          <p:nvPr/>
        </p:nvSpPr>
        <p:spPr>
          <a:xfrm>
            <a:off x="919750" y="4742867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0" name="Google Shape;3040;p113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5" name="Google Shape;3045;p1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046" name="Google Shape;3046;p11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7" name="Google Shape;3047;p11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8" name="Google Shape;3048;p11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9" name="Google Shape;3049;p11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0" name="Google Shape;3050;p11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1" name="Google Shape;3051;p11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2" name="Google Shape;3052;p114"/>
          <p:cNvCxnSpPr>
            <a:stCxn id="3046" idx="2"/>
            <a:endCxn id="3047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3" name="Google Shape;3053;p114"/>
          <p:cNvCxnSpPr>
            <a:stCxn id="3046" idx="3"/>
            <a:endCxn id="3049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4" name="Google Shape;3054;p114"/>
          <p:cNvCxnSpPr>
            <a:stCxn id="3048" idx="2"/>
            <a:endCxn id="3049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5" name="Google Shape;3055;p114"/>
          <p:cNvCxnSpPr>
            <a:stCxn id="3051" idx="2"/>
            <a:endCxn id="3050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6" name="Google Shape;3056;p114"/>
          <p:cNvCxnSpPr>
            <a:stCxn id="3049" idx="2"/>
            <a:endCxn id="3050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7" name="Google Shape;3057;p114"/>
          <p:cNvCxnSpPr>
            <a:stCxn id="3047" idx="3"/>
            <a:endCxn id="3050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8" name="Google Shape;3058;p11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9" name="Google Shape;3059;p114"/>
          <p:cNvCxnSpPr>
            <a:stCxn id="3058" idx="3"/>
            <a:endCxn id="3046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0" name="Google Shape;3060;p11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061" name="Google Shape;3061;p114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62" name="Google Shape;3062;p114"/>
          <p:cNvCxnSpPr>
            <a:stCxn id="3058" idx="3"/>
            <a:endCxn id="3047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3" name="Google Shape;3063;p114"/>
          <p:cNvCxnSpPr>
            <a:stCxn id="3049" idx="3"/>
            <a:endCxn id="3051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4" name="Google Shape;3064;p114"/>
          <p:cNvCxnSpPr>
            <a:stCxn id="3046" idx="3"/>
            <a:endCxn id="3048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5" name="Google Shape;3065;p11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066" name="Google Shape;3066;p114"/>
          <p:cNvCxnSpPr>
            <a:stCxn id="3051" idx="0"/>
            <a:endCxn id="3048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67" name="Google Shape;3067;p11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068" name="Google Shape;3068;p11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69" name="Google Shape;3069;p11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070" name="Google Shape;3070;p11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71" name="Google Shape;3071;p114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72" name="Google Shape;3072;p11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073" name="Google Shape;3073;p11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074" name="Google Shape;3074;p11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75" name="Google Shape;3075;p11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76" name="Google Shape;3076;p114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(D-G: 1),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7" name="Google Shape;3077;p11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078" name="Google Shape;3078;p114"/>
          <p:cNvCxnSpPr>
            <a:stCxn id="3049" idx="1"/>
            <a:endCxn id="3047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79" name="Google Shape;3079;p11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080" name="Google Shape;3080;p114"/>
          <p:cNvSpPr txBox="1"/>
          <p:nvPr/>
        </p:nvSpPr>
        <p:spPr>
          <a:xfrm>
            <a:off x="893050" y="3778175"/>
            <a:ext cx="2274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isConnected(C, E)</a:t>
            </a:r>
            <a:endParaRPr/>
          </a:p>
        </p:txBody>
      </p:sp>
      <p:sp>
        <p:nvSpPr>
          <p:cNvPr id="3081" name="Google Shape;3081;p114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[A-C]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82" name="Google Shape;3082;p114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C-E</a:t>
            </a:r>
            <a:endParaRPr/>
          </a:p>
        </p:txBody>
      </p:sp>
      <p:sp>
        <p:nvSpPr>
          <p:cNvPr id="3083" name="Google Shape;3083;p11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1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089" name="Google Shape;3089;p11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0" name="Google Shape;3090;p11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1" name="Google Shape;3091;p11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2" name="Google Shape;3092;p11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11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4" name="Google Shape;3094;p11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5" name="Google Shape;3095;p115"/>
          <p:cNvCxnSpPr>
            <a:stCxn id="3089" idx="2"/>
            <a:endCxn id="3090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6" name="Google Shape;3096;p115"/>
          <p:cNvCxnSpPr>
            <a:stCxn id="3089" idx="3"/>
            <a:endCxn id="3092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7" name="Google Shape;3097;p115"/>
          <p:cNvCxnSpPr>
            <a:stCxn id="3091" idx="2"/>
            <a:endCxn id="3092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8" name="Google Shape;3098;p115"/>
          <p:cNvCxnSpPr>
            <a:stCxn id="3094" idx="2"/>
            <a:endCxn id="3093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9" name="Google Shape;3099;p115"/>
          <p:cNvCxnSpPr>
            <a:stCxn id="3092" idx="2"/>
            <a:endCxn id="3093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0" name="Google Shape;3100;p115"/>
          <p:cNvCxnSpPr>
            <a:stCxn id="3090" idx="3"/>
            <a:endCxn id="3093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1" name="Google Shape;3101;p11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2" name="Google Shape;3102;p115"/>
          <p:cNvCxnSpPr>
            <a:stCxn id="3101" idx="3"/>
            <a:endCxn id="3089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3" name="Google Shape;3103;p11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04" name="Google Shape;3104;p115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05" name="Google Shape;3105;p115"/>
          <p:cNvCxnSpPr>
            <a:stCxn id="3101" idx="3"/>
            <a:endCxn id="3090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6" name="Google Shape;3106;p115"/>
          <p:cNvCxnSpPr>
            <a:stCxn id="3092" idx="3"/>
            <a:endCxn id="3094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7" name="Google Shape;3107;p115"/>
          <p:cNvCxnSpPr>
            <a:stCxn id="3089" idx="3"/>
            <a:endCxn id="3091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08" name="Google Shape;3108;p11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109" name="Google Shape;3109;p115"/>
          <p:cNvCxnSpPr>
            <a:stCxn id="3094" idx="0"/>
            <a:endCxn id="3091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10" name="Google Shape;3110;p11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11" name="Google Shape;3111;p11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12" name="Google Shape;3112;p11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113" name="Google Shape;3113;p11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14" name="Google Shape;3114;p115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15" name="Google Shape;3115;p11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116" name="Google Shape;3116;p11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17" name="Google Shape;3117;p11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18" name="Google Shape;3118;p11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19" name="Google Shape;3119;p115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(D-G: 1),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0" name="Google Shape;3120;p11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121" name="Google Shape;3121;p115"/>
          <p:cNvCxnSpPr>
            <a:stCxn id="3092" idx="1"/>
            <a:endCxn id="3090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2" name="Google Shape;3122;p11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23" name="Google Shape;3123;p115"/>
          <p:cNvSpPr txBox="1"/>
          <p:nvPr/>
        </p:nvSpPr>
        <p:spPr>
          <a:xfrm>
            <a:off x="893050" y="3778175"/>
            <a:ext cx="2937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 union(C, E). add(C-E)</a:t>
            </a:r>
            <a:endParaRPr/>
          </a:p>
        </p:txBody>
      </p:sp>
      <p:sp>
        <p:nvSpPr>
          <p:cNvPr id="3124" name="Google Shape;3124;p115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[A-C-E]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25" name="Google Shape;3125;p115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C-E</a:t>
            </a:r>
            <a:endParaRPr/>
          </a:p>
        </p:txBody>
      </p:sp>
      <p:sp>
        <p:nvSpPr>
          <p:cNvPr id="3126" name="Google Shape;3126;p115"/>
          <p:cNvSpPr/>
          <p:nvPr/>
        </p:nvSpPr>
        <p:spPr>
          <a:xfrm>
            <a:off x="1148350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7" name="Google Shape;3127;p115"/>
          <p:cNvSpPr/>
          <p:nvPr/>
        </p:nvSpPr>
        <p:spPr>
          <a:xfrm>
            <a:off x="1474317" y="4737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8" name="Google Shape;3128;p11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1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134" name="Google Shape;3134;p116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5" name="Google Shape;3135;p116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6" name="Google Shape;3136;p116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7" name="Google Shape;3137;p116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8" name="Google Shape;3138;p116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9" name="Google Shape;3139;p116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0" name="Google Shape;3140;p116"/>
          <p:cNvCxnSpPr>
            <a:stCxn id="3134" idx="2"/>
            <a:endCxn id="313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1" name="Google Shape;3141;p116"/>
          <p:cNvCxnSpPr>
            <a:stCxn id="3134" idx="3"/>
            <a:endCxn id="313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2" name="Google Shape;3142;p116"/>
          <p:cNvCxnSpPr>
            <a:stCxn id="3136" idx="2"/>
            <a:endCxn id="313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3" name="Google Shape;3143;p116"/>
          <p:cNvCxnSpPr>
            <a:stCxn id="3139" idx="2"/>
            <a:endCxn id="313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4" name="Google Shape;3144;p116"/>
          <p:cNvCxnSpPr>
            <a:stCxn id="3137" idx="2"/>
            <a:endCxn id="313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" name="Google Shape;3145;p116"/>
          <p:cNvCxnSpPr>
            <a:stCxn id="3135" idx="3"/>
            <a:endCxn id="313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6" name="Google Shape;3146;p116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7" name="Google Shape;3147;p116"/>
          <p:cNvCxnSpPr>
            <a:stCxn id="3146" idx="3"/>
            <a:endCxn id="313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8" name="Google Shape;3148;p116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49" name="Google Shape;3149;p116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50" name="Google Shape;3150;p116"/>
          <p:cNvCxnSpPr>
            <a:stCxn id="3146" idx="3"/>
            <a:endCxn id="313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1" name="Google Shape;3151;p116"/>
          <p:cNvCxnSpPr>
            <a:stCxn id="3137" idx="3"/>
            <a:endCxn id="313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52" name="Google Shape;3152;p116"/>
          <p:cNvCxnSpPr>
            <a:stCxn id="3134" idx="3"/>
            <a:endCxn id="313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3" name="Google Shape;3153;p116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154" name="Google Shape;3154;p116"/>
          <p:cNvCxnSpPr>
            <a:stCxn id="3139" idx="0"/>
            <a:endCxn id="313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55" name="Google Shape;3155;p116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56" name="Google Shape;3156;p116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57" name="Google Shape;3157;p116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158" name="Google Shape;3158;p116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59" name="Google Shape;3159;p116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60" name="Google Shape;3160;p116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161" name="Google Shape;3161;p116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162" name="Google Shape;3162;p116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63" name="Google Shape;3163;p116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64" name="Google Shape;3164;p116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5" name="Google Shape;3165;p116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166" name="Google Shape;3166;p116"/>
          <p:cNvCxnSpPr>
            <a:stCxn id="3137" idx="1"/>
            <a:endCxn id="313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67" name="Google Shape;3167;p116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168" name="Google Shape;3168;p116"/>
          <p:cNvSpPr txBox="1"/>
          <p:nvPr/>
        </p:nvSpPr>
        <p:spPr>
          <a:xfrm>
            <a:off x="893050" y="3778175"/>
            <a:ext cx="2467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isConnected(D, G)</a:t>
            </a:r>
            <a:endParaRPr/>
          </a:p>
        </p:txBody>
      </p:sp>
      <p:sp>
        <p:nvSpPr>
          <p:cNvPr id="3169" name="Google Shape;3169;p116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[A-C-E]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0" name="Google Shape;3170;p116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D-G</a:t>
            </a:r>
            <a:endParaRPr/>
          </a:p>
        </p:txBody>
      </p:sp>
      <p:sp>
        <p:nvSpPr>
          <p:cNvPr id="3171" name="Google Shape;3171;p116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" name="Google Shape;3176;p11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177" name="Google Shape;3177;p117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8" name="Google Shape;3178;p117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9" name="Google Shape;3179;p117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0" name="Google Shape;3180;p117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1" name="Google Shape;3181;p117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2" name="Google Shape;3182;p117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3" name="Google Shape;3183;p117"/>
          <p:cNvCxnSpPr>
            <a:stCxn id="3177" idx="2"/>
            <a:endCxn id="317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4" name="Google Shape;3184;p117"/>
          <p:cNvCxnSpPr>
            <a:stCxn id="3177" idx="3"/>
            <a:endCxn id="318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5" name="Google Shape;3185;p117"/>
          <p:cNvCxnSpPr>
            <a:stCxn id="3179" idx="2"/>
            <a:endCxn id="318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6" name="Google Shape;3186;p117"/>
          <p:cNvCxnSpPr>
            <a:stCxn id="3182" idx="2"/>
            <a:endCxn id="318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7" name="Google Shape;3187;p117"/>
          <p:cNvCxnSpPr>
            <a:stCxn id="3180" idx="2"/>
            <a:endCxn id="318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8" name="Google Shape;3188;p117"/>
          <p:cNvCxnSpPr>
            <a:stCxn id="3178" idx="3"/>
            <a:endCxn id="318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89" name="Google Shape;3189;p117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0" name="Google Shape;3190;p117"/>
          <p:cNvCxnSpPr>
            <a:stCxn id="3189" idx="3"/>
            <a:endCxn id="317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1" name="Google Shape;3191;p117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192" name="Google Shape;3192;p117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MST: [A-C, 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93" name="Google Shape;3193;p117"/>
          <p:cNvCxnSpPr>
            <a:stCxn id="3189" idx="3"/>
            <a:endCxn id="317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4" name="Google Shape;3194;p117"/>
          <p:cNvCxnSpPr>
            <a:stCxn id="3180" idx="3"/>
            <a:endCxn id="318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5" name="Google Shape;3195;p117"/>
          <p:cNvCxnSpPr>
            <a:stCxn id="3177" idx="3"/>
            <a:endCxn id="317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6" name="Google Shape;3196;p117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197" name="Google Shape;3197;p117"/>
          <p:cNvCxnSpPr>
            <a:stCxn id="3182" idx="0"/>
            <a:endCxn id="317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8" name="Google Shape;3198;p117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199" name="Google Shape;3199;p117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0" name="Google Shape;3200;p117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201" name="Google Shape;3201;p117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02" name="Google Shape;3202;p117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03" name="Google Shape;3203;p117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204" name="Google Shape;3204;p117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05" name="Google Shape;3205;p117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6" name="Google Shape;3206;p117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07" name="Google Shape;3207;p117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(F-G: 1),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08" name="Google Shape;3208;p117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209" name="Google Shape;3209;p117"/>
          <p:cNvCxnSpPr>
            <a:stCxn id="3180" idx="1"/>
            <a:endCxn id="317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0" name="Google Shape;3210;p117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11" name="Google Shape;3211;p117"/>
          <p:cNvSpPr txBox="1"/>
          <p:nvPr/>
        </p:nvSpPr>
        <p:spPr>
          <a:xfrm>
            <a:off x="893050" y="3778175"/>
            <a:ext cx="3104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Cycle? No. union(D, G). add(D-G).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2" name="Google Shape;3212;p117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WQU: [A-C-E,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13" name="Google Shape;3213;p117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D-G</a:t>
            </a:r>
            <a:endParaRPr/>
          </a:p>
        </p:txBody>
      </p:sp>
      <p:sp>
        <p:nvSpPr>
          <p:cNvPr id="3214" name="Google Shape;3214;p117"/>
          <p:cNvSpPr/>
          <p:nvPr/>
        </p:nvSpPr>
        <p:spPr>
          <a:xfrm>
            <a:off x="1697625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5" name="Google Shape;3215;p117"/>
          <p:cNvSpPr/>
          <p:nvPr/>
        </p:nvSpPr>
        <p:spPr>
          <a:xfrm>
            <a:off x="2036292" y="4740750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6" name="Google Shape;3216;p117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1" name="Google Shape;3221;p1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222" name="Google Shape;3222;p118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3" name="Google Shape;3223;p118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4" name="Google Shape;3224;p118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5" name="Google Shape;3225;p118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6" name="Google Shape;3226;p118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7" name="Google Shape;3227;p118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8" name="Google Shape;3228;p118"/>
          <p:cNvCxnSpPr>
            <a:stCxn id="3222" idx="2"/>
            <a:endCxn id="3223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29" name="Google Shape;3229;p118"/>
          <p:cNvCxnSpPr>
            <a:stCxn id="3222" idx="3"/>
            <a:endCxn id="3225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0" name="Google Shape;3230;p118"/>
          <p:cNvCxnSpPr>
            <a:stCxn id="3224" idx="2"/>
            <a:endCxn id="3225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1" name="Google Shape;3231;p118"/>
          <p:cNvCxnSpPr>
            <a:stCxn id="3227" idx="2"/>
            <a:endCxn id="3226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2" name="Google Shape;3232;p118"/>
          <p:cNvCxnSpPr>
            <a:stCxn id="3225" idx="2"/>
            <a:endCxn id="3226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3" name="Google Shape;3233;p118"/>
          <p:cNvCxnSpPr>
            <a:stCxn id="3223" idx="3"/>
            <a:endCxn id="3226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4" name="Google Shape;3234;p118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5" name="Google Shape;3235;p118"/>
          <p:cNvCxnSpPr>
            <a:stCxn id="3234" idx="3"/>
            <a:endCxn id="3222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36" name="Google Shape;3236;p118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237" name="Google Shape;3237;p118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38" name="Google Shape;3238;p118"/>
          <p:cNvCxnSpPr>
            <a:stCxn id="3234" idx="3"/>
            <a:endCxn id="3223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9" name="Google Shape;3239;p118"/>
          <p:cNvCxnSpPr>
            <a:stCxn id="3225" idx="3"/>
            <a:endCxn id="3227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0" name="Google Shape;3240;p118"/>
          <p:cNvCxnSpPr>
            <a:stCxn id="3222" idx="3"/>
            <a:endCxn id="3224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1" name="Google Shape;3241;p118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242" name="Google Shape;3242;p118"/>
          <p:cNvCxnSpPr>
            <a:stCxn id="3227" idx="0"/>
            <a:endCxn id="3224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3" name="Google Shape;3243;p118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44" name="Google Shape;3244;p118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45" name="Google Shape;3245;p118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246" name="Google Shape;3246;p118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47" name="Google Shape;3247;p118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48" name="Google Shape;3248;p118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249" name="Google Shape;3249;p118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50" name="Google Shape;3250;p118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51" name="Google Shape;3251;p118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52" name="Google Shape;3252;p118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3" name="Google Shape;3253;p118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254" name="Google Shape;3254;p118"/>
          <p:cNvCxnSpPr>
            <a:stCxn id="3225" idx="1"/>
            <a:endCxn id="3223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5" name="Google Shape;3255;p118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56" name="Google Shape;3256;p118"/>
          <p:cNvSpPr txBox="1"/>
          <p:nvPr/>
        </p:nvSpPr>
        <p:spPr>
          <a:xfrm>
            <a:off x="893050" y="3778175"/>
            <a:ext cx="2350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isConnected(F, G)</a:t>
            </a:r>
            <a:endParaRPr/>
          </a:p>
        </p:txBody>
      </p:sp>
      <p:sp>
        <p:nvSpPr>
          <p:cNvPr id="3257" name="Google Shape;3257;p118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[A-C-E, D-G]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58" name="Google Shape;3258;p118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F-G</a:t>
            </a:r>
            <a:endParaRPr/>
          </a:p>
        </p:txBody>
      </p:sp>
      <p:sp>
        <p:nvSpPr>
          <p:cNvPr id="3259" name="Google Shape;3259;p118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4" name="Google Shape;3264;p1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265" name="Google Shape;3265;p119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6" name="Google Shape;3266;p119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7" name="Google Shape;3267;p119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8" name="Google Shape;3268;p119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9" name="Google Shape;3269;p119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0" name="Google Shape;3270;p119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1" name="Google Shape;3271;p119"/>
          <p:cNvCxnSpPr>
            <a:stCxn id="3265" idx="2"/>
            <a:endCxn id="3266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2" name="Google Shape;3272;p119"/>
          <p:cNvCxnSpPr>
            <a:stCxn id="3265" idx="3"/>
            <a:endCxn id="3268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3" name="Google Shape;3273;p119"/>
          <p:cNvCxnSpPr>
            <a:stCxn id="3267" idx="2"/>
            <a:endCxn id="3268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4" name="Google Shape;3274;p119"/>
          <p:cNvCxnSpPr>
            <a:stCxn id="3270" idx="2"/>
            <a:endCxn id="3269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5" name="Google Shape;3275;p119"/>
          <p:cNvCxnSpPr>
            <a:stCxn id="3268" idx="2"/>
            <a:endCxn id="3269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6" name="Google Shape;3276;p119"/>
          <p:cNvCxnSpPr>
            <a:stCxn id="3266" idx="3"/>
            <a:endCxn id="3269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7" name="Google Shape;3277;p119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8" name="Google Shape;3278;p119"/>
          <p:cNvCxnSpPr>
            <a:stCxn id="3277" idx="3"/>
            <a:endCxn id="3265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79" name="Google Shape;3279;p119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280" name="Google Shape;3280;p119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81" name="Google Shape;3281;p119"/>
          <p:cNvCxnSpPr>
            <a:stCxn id="3277" idx="3"/>
            <a:endCxn id="3266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2" name="Google Shape;3282;p119"/>
          <p:cNvCxnSpPr>
            <a:stCxn id="3268" idx="3"/>
            <a:endCxn id="3270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83" name="Google Shape;3283;p119"/>
          <p:cNvCxnSpPr>
            <a:stCxn id="3265" idx="3"/>
            <a:endCxn id="3267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4" name="Google Shape;3284;p119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285" name="Google Shape;3285;p119"/>
          <p:cNvCxnSpPr>
            <a:stCxn id="3270" idx="0"/>
            <a:endCxn id="3267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6" name="Google Shape;3286;p119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287" name="Google Shape;3287;p119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88" name="Google Shape;3288;p119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289" name="Google Shape;3289;p119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90" name="Google Shape;3290;p119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91" name="Google Shape;3291;p119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292" name="Google Shape;3292;p119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293" name="Google Shape;3293;p119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94" name="Google Shape;3294;p119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95" name="Google Shape;3295;p119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(A-B: 2),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6" name="Google Shape;3296;p119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297" name="Google Shape;3297;p119"/>
          <p:cNvCxnSpPr>
            <a:stCxn id="3268" idx="1"/>
            <a:endCxn id="3266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98" name="Google Shape;3298;p119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299" name="Google Shape;3299;p119"/>
          <p:cNvSpPr txBox="1"/>
          <p:nvPr/>
        </p:nvSpPr>
        <p:spPr>
          <a:xfrm>
            <a:off x="893050" y="3778175"/>
            <a:ext cx="2976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Cycle? No. union(F, G). add(F-G).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0" name="Google Shape;3300;p119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1" name="Google Shape;3301;p119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F-G</a:t>
            </a:r>
            <a:endParaRPr/>
          </a:p>
        </p:txBody>
      </p:sp>
      <p:sp>
        <p:nvSpPr>
          <p:cNvPr id="3302" name="Google Shape;3302;p119"/>
          <p:cNvSpPr/>
          <p:nvPr/>
        </p:nvSpPr>
        <p:spPr>
          <a:xfrm>
            <a:off x="1931517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3" name="Google Shape;3303;p119"/>
          <p:cNvSpPr/>
          <p:nvPr/>
        </p:nvSpPr>
        <p:spPr>
          <a:xfrm>
            <a:off x="2596150" y="4753450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4" name="Google Shape;3304;p119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12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310" name="Google Shape;3310;p120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1" name="Google Shape;3311;p120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2" name="Google Shape;3312;p120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3" name="Google Shape;3313;p120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4" name="Google Shape;3314;p120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5" name="Google Shape;3315;p120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6" name="Google Shape;3316;p120"/>
          <p:cNvCxnSpPr>
            <a:stCxn id="3310" idx="2"/>
            <a:endCxn id="3311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7" name="Google Shape;3317;p120"/>
          <p:cNvCxnSpPr>
            <a:stCxn id="3310" idx="3"/>
            <a:endCxn id="3313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8" name="Google Shape;3318;p120"/>
          <p:cNvCxnSpPr>
            <a:stCxn id="3312" idx="2"/>
            <a:endCxn id="3313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9" name="Google Shape;3319;p120"/>
          <p:cNvCxnSpPr>
            <a:stCxn id="3315" idx="2"/>
            <a:endCxn id="3314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0" name="Google Shape;3320;p120"/>
          <p:cNvCxnSpPr>
            <a:stCxn id="3313" idx="2"/>
            <a:endCxn id="3314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1" name="Google Shape;3321;p120"/>
          <p:cNvCxnSpPr>
            <a:stCxn id="3311" idx="3"/>
            <a:endCxn id="3314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2" name="Google Shape;3322;p120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3" name="Google Shape;3323;p120"/>
          <p:cNvCxnSpPr>
            <a:stCxn id="3322" idx="3"/>
            <a:endCxn id="3310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4" name="Google Shape;3324;p120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325" name="Google Shape;3325;p120"/>
          <p:cNvSpPr txBox="1"/>
          <p:nvPr/>
        </p:nvSpPr>
        <p:spPr>
          <a:xfrm>
            <a:off x="176275" y="4646100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26" name="Google Shape;3326;p120"/>
          <p:cNvCxnSpPr>
            <a:stCxn id="3322" idx="3"/>
            <a:endCxn id="3311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7" name="Google Shape;3327;p120"/>
          <p:cNvCxnSpPr>
            <a:stCxn id="3313" idx="3"/>
            <a:endCxn id="3315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8" name="Google Shape;3328;p120"/>
          <p:cNvCxnSpPr>
            <a:stCxn id="3310" idx="3"/>
            <a:endCxn id="3312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9" name="Google Shape;3329;p120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330" name="Google Shape;3330;p120"/>
          <p:cNvCxnSpPr>
            <a:stCxn id="3315" idx="0"/>
            <a:endCxn id="3312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1" name="Google Shape;3331;p120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32" name="Google Shape;3332;p120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33" name="Google Shape;3333;p120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334" name="Google Shape;3334;p120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35" name="Google Shape;3335;p120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36" name="Google Shape;3336;p120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337" name="Google Shape;3337;p120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38" name="Google Shape;3338;p120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39" name="Google Shape;3339;p120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40" name="Google Shape;3340;p120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1" name="Google Shape;3341;p120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342" name="Google Shape;3342;p120"/>
          <p:cNvCxnSpPr>
            <a:stCxn id="3313" idx="1"/>
            <a:endCxn id="3311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3" name="Google Shape;3343;p120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44" name="Google Shape;3344;p120"/>
          <p:cNvSpPr txBox="1"/>
          <p:nvPr/>
        </p:nvSpPr>
        <p:spPr>
          <a:xfrm>
            <a:off x="893050" y="3778175"/>
            <a:ext cx="23190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isConnected(A, B)</a:t>
            </a:r>
            <a:endParaRPr/>
          </a:p>
        </p:txBody>
      </p:sp>
      <p:sp>
        <p:nvSpPr>
          <p:cNvPr id="3345" name="Google Shape;3345;p120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6" name="Google Shape;3346;p120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A-B</a:t>
            </a:r>
            <a:endParaRPr/>
          </a:p>
        </p:txBody>
      </p:sp>
      <p:sp>
        <p:nvSpPr>
          <p:cNvPr id="3347" name="Google Shape;3347;p120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2" name="Google Shape;3352;p1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353" name="Google Shape;3353;p121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4" name="Google Shape;3354;p121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5" name="Google Shape;3355;p121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6" name="Google Shape;3356;p121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7" name="Google Shape;3357;p121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8" name="Google Shape;3358;p121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9" name="Google Shape;3359;p121"/>
          <p:cNvCxnSpPr>
            <a:stCxn id="3353" idx="2"/>
            <a:endCxn id="3354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0" name="Google Shape;3360;p121"/>
          <p:cNvCxnSpPr>
            <a:stCxn id="3353" idx="3"/>
            <a:endCxn id="3356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1" name="Google Shape;3361;p121"/>
          <p:cNvCxnSpPr>
            <a:stCxn id="3355" idx="2"/>
            <a:endCxn id="3356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2" name="Google Shape;3362;p121"/>
          <p:cNvCxnSpPr>
            <a:stCxn id="3358" idx="2"/>
            <a:endCxn id="3357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3" name="Google Shape;3363;p121"/>
          <p:cNvCxnSpPr>
            <a:stCxn id="3356" idx="2"/>
            <a:endCxn id="3357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64" name="Google Shape;3364;p121"/>
          <p:cNvCxnSpPr>
            <a:stCxn id="3354" idx="3"/>
            <a:endCxn id="3357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65" name="Google Shape;3365;p121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6" name="Google Shape;3366;p121"/>
          <p:cNvCxnSpPr>
            <a:stCxn id="3365" idx="3"/>
            <a:endCxn id="3353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67" name="Google Shape;3367;p121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368" name="Google Shape;3368;p121"/>
          <p:cNvSpPr txBox="1"/>
          <p:nvPr/>
        </p:nvSpPr>
        <p:spPr>
          <a:xfrm>
            <a:off x="176275" y="4646100"/>
            <a:ext cx="3746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69" name="Google Shape;3369;p121"/>
          <p:cNvCxnSpPr>
            <a:stCxn id="3365" idx="3"/>
            <a:endCxn id="3354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0" name="Google Shape;3370;p121"/>
          <p:cNvCxnSpPr>
            <a:stCxn id="3356" idx="3"/>
            <a:endCxn id="3358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71" name="Google Shape;3371;p121"/>
          <p:cNvCxnSpPr>
            <a:stCxn id="3353" idx="3"/>
            <a:endCxn id="3355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2" name="Google Shape;3372;p121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373" name="Google Shape;3373;p121"/>
          <p:cNvCxnSpPr>
            <a:stCxn id="3358" idx="0"/>
            <a:endCxn id="3355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74" name="Google Shape;3374;p121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375" name="Google Shape;3375;p121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76" name="Google Shape;3376;p121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377" name="Google Shape;3377;p121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78" name="Google Shape;3378;p121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79" name="Google Shape;3379;p121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380" name="Google Shape;3380;p121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381" name="Google Shape;3381;p121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82" name="Google Shape;3382;p121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83" name="Google Shape;3383;p121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(E-B: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4" name="Google Shape;3384;p121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385" name="Google Shape;3385;p121"/>
          <p:cNvCxnSpPr>
            <a:stCxn id="3356" idx="1"/>
            <a:endCxn id="3354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86" name="Google Shape;3386;p121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387" name="Google Shape;3387;p121"/>
          <p:cNvSpPr txBox="1"/>
          <p:nvPr/>
        </p:nvSpPr>
        <p:spPr>
          <a:xfrm>
            <a:off x="893050" y="3778175"/>
            <a:ext cx="3090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Cycle? No. union(A, B). add(A-B)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8" name="Google Shape;3388;p121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[A-C-E-B,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9" name="Google Shape;3389;p121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A-B</a:t>
            </a:r>
            <a:endParaRPr/>
          </a:p>
        </p:txBody>
      </p:sp>
      <p:sp>
        <p:nvSpPr>
          <p:cNvPr id="3390" name="Google Shape;3390;p121"/>
          <p:cNvSpPr/>
          <p:nvPr/>
        </p:nvSpPr>
        <p:spPr>
          <a:xfrm>
            <a:off x="1361075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1" name="Google Shape;3391;p121"/>
          <p:cNvSpPr/>
          <p:nvPr/>
        </p:nvSpPr>
        <p:spPr>
          <a:xfrm>
            <a:off x="3154008" y="4747300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2" name="Google Shape;3392;p121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7" name="Google Shape;3397;p1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398" name="Google Shape;3398;p122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9" name="Google Shape;3399;p122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0" name="Google Shape;3400;p122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1" name="Google Shape;3401;p122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2" name="Google Shape;3402;p122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3" name="Google Shape;3403;p122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4" name="Google Shape;3404;p122"/>
          <p:cNvCxnSpPr>
            <a:stCxn id="3398" idx="2"/>
            <a:endCxn id="3399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5" name="Google Shape;3405;p122"/>
          <p:cNvCxnSpPr>
            <a:stCxn id="3398" idx="3"/>
            <a:endCxn id="3401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6" name="Google Shape;3406;p122"/>
          <p:cNvCxnSpPr>
            <a:stCxn id="3400" idx="2"/>
            <a:endCxn id="3401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7" name="Google Shape;3407;p122"/>
          <p:cNvCxnSpPr>
            <a:stCxn id="3403" idx="2"/>
            <a:endCxn id="3402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8" name="Google Shape;3408;p122"/>
          <p:cNvCxnSpPr>
            <a:stCxn id="3401" idx="2"/>
            <a:endCxn id="3402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9" name="Google Shape;3409;p122"/>
          <p:cNvCxnSpPr>
            <a:stCxn id="3399" idx="3"/>
            <a:endCxn id="3402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0" name="Google Shape;3410;p122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1" name="Google Shape;3411;p122"/>
          <p:cNvCxnSpPr>
            <a:stCxn id="3410" idx="3"/>
            <a:endCxn id="3398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2" name="Google Shape;3412;p122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413" name="Google Shape;3413;p122"/>
          <p:cNvSpPr txBox="1"/>
          <p:nvPr/>
        </p:nvSpPr>
        <p:spPr>
          <a:xfrm>
            <a:off x="176275" y="4646100"/>
            <a:ext cx="4889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14" name="Google Shape;3414;p122"/>
          <p:cNvCxnSpPr>
            <a:stCxn id="3410" idx="3"/>
            <a:endCxn id="3399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5" name="Google Shape;3415;p122"/>
          <p:cNvCxnSpPr>
            <a:stCxn id="3401" idx="3"/>
            <a:endCxn id="3403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16" name="Google Shape;3416;p122"/>
          <p:cNvCxnSpPr>
            <a:stCxn id="3398" idx="3"/>
            <a:endCxn id="3400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7" name="Google Shape;3417;p122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418" name="Google Shape;3418;p122"/>
          <p:cNvCxnSpPr>
            <a:stCxn id="3403" idx="0"/>
            <a:endCxn id="3400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9" name="Google Shape;3419;p122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420" name="Google Shape;3420;p122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21" name="Google Shape;3421;p122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422" name="Google Shape;3422;p122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23" name="Google Shape;3423;p122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24" name="Google Shape;3424;p122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425" name="Google Shape;3425;p122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26" name="Google Shape;3426;p122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27" name="Google Shape;3427;p122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28" name="Google Shape;3428;p122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(E-B: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9" name="Google Shape;3429;p122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430" name="Google Shape;3430;p122"/>
          <p:cNvCxnSpPr>
            <a:stCxn id="3401" idx="1"/>
            <a:endCxn id="3399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1" name="Google Shape;3431;p122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32" name="Google Shape;3432;p122"/>
          <p:cNvSpPr txBox="1"/>
          <p:nvPr/>
        </p:nvSpPr>
        <p:spPr>
          <a:xfrm>
            <a:off x="893050" y="3778175"/>
            <a:ext cx="25920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isConnected(E, B)</a:t>
            </a:r>
            <a:endParaRPr/>
          </a:p>
        </p:txBody>
      </p:sp>
      <p:sp>
        <p:nvSpPr>
          <p:cNvPr id="3433" name="Google Shape;3433;p122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[A-C-E-B,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4" name="Google Shape;3434;p122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E-B</a:t>
            </a:r>
            <a:endParaRPr/>
          </a:p>
        </p:txBody>
      </p:sp>
      <p:sp>
        <p:nvSpPr>
          <p:cNvPr id="3435" name="Google Shape;3435;p122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p1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441" name="Google Shape;3441;p123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2" name="Google Shape;3442;p123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3" name="Google Shape;3443;p123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4" name="Google Shape;3444;p123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5" name="Google Shape;3445;p123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6" name="Google Shape;3446;p123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47" name="Google Shape;3447;p123"/>
          <p:cNvCxnSpPr>
            <a:stCxn id="3441" idx="2"/>
            <a:endCxn id="3442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8" name="Google Shape;3448;p123"/>
          <p:cNvCxnSpPr>
            <a:stCxn id="3441" idx="3"/>
            <a:endCxn id="3444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9" name="Google Shape;3449;p123"/>
          <p:cNvCxnSpPr>
            <a:stCxn id="3443" idx="2"/>
            <a:endCxn id="3444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0" name="Google Shape;3450;p123"/>
          <p:cNvCxnSpPr>
            <a:stCxn id="3446" idx="2"/>
            <a:endCxn id="3445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1" name="Google Shape;3451;p123"/>
          <p:cNvCxnSpPr>
            <a:stCxn id="3444" idx="2"/>
            <a:endCxn id="3445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2" name="Google Shape;3452;p123"/>
          <p:cNvCxnSpPr>
            <a:stCxn id="3442" idx="3"/>
            <a:endCxn id="3445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3" name="Google Shape;3453;p123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4" name="Google Shape;3454;p123"/>
          <p:cNvCxnSpPr>
            <a:stCxn id="3453" idx="3"/>
            <a:endCxn id="3441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5" name="Google Shape;3455;p123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456" name="Google Shape;3456;p123"/>
          <p:cNvSpPr txBox="1"/>
          <p:nvPr/>
        </p:nvSpPr>
        <p:spPr>
          <a:xfrm>
            <a:off x="176275" y="4646100"/>
            <a:ext cx="3814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57" name="Google Shape;3457;p123"/>
          <p:cNvCxnSpPr>
            <a:stCxn id="3453" idx="3"/>
            <a:endCxn id="3442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8" name="Google Shape;3458;p123"/>
          <p:cNvCxnSpPr>
            <a:stCxn id="3444" idx="3"/>
            <a:endCxn id="3446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59" name="Google Shape;3459;p123"/>
          <p:cNvCxnSpPr>
            <a:stCxn id="3441" idx="3"/>
            <a:endCxn id="3443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0" name="Google Shape;3460;p123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461" name="Google Shape;3461;p123"/>
          <p:cNvCxnSpPr>
            <a:stCxn id="3446" idx="0"/>
            <a:endCxn id="3443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62" name="Google Shape;3462;p123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463" name="Google Shape;3463;p123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64" name="Google Shape;3464;p123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465" name="Google Shape;3465;p123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66" name="Google Shape;3466;p123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67" name="Google Shape;3467;p123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468" name="Google Shape;3468;p123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469" name="Google Shape;3469;p123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70" name="Google Shape;3470;p123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71" name="Google Shape;3471;p123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(E-B: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(D-E: 3),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2" name="Google Shape;3472;p123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473" name="Google Shape;3473;p123"/>
          <p:cNvCxnSpPr>
            <a:stCxn id="3444" idx="1"/>
            <a:endCxn id="3442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4" name="Google Shape;3474;p123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475" name="Google Shape;3475;p123"/>
          <p:cNvSpPr txBox="1"/>
          <p:nvPr/>
        </p:nvSpPr>
        <p:spPr>
          <a:xfrm>
            <a:off x="893050" y="3778175"/>
            <a:ext cx="22980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Yes. Do nothing.</a:t>
            </a:r>
            <a:endParaRPr/>
          </a:p>
        </p:txBody>
      </p:sp>
      <p:sp>
        <p:nvSpPr>
          <p:cNvPr id="3476" name="Google Shape;3476;p123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[A-C-E-B,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7" name="Google Shape;3477;p123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E-B</a:t>
            </a:r>
            <a:endParaRPr/>
          </a:p>
        </p:txBody>
      </p:sp>
      <p:sp>
        <p:nvSpPr>
          <p:cNvPr id="3478" name="Google Shape;3478;p123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p1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484" name="Google Shape;3484;p124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5" name="Google Shape;3485;p124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6" name="Google Shape;3486;p124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7" name="Google Shape;3487;p124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8" name="Google Shape;3488;p124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9" name="Google Shape;3489;p124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0" name="Google Shape;3490;p124"/>
          <p:cNvCxnSpPr>
            <a:stCxn id="3484" idx="2"/>
            <a:endCxn id="3485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1" name="Google Shape;3491;p124"/>
          <p:cNvCxnSpPr>
            <a:stCxn id="3484" idx="3"/>
            <a:endCxn id="3487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2" name="Google Shape;3492;p124"/>
          <p:cNvCxnSpPr>
            <a:stCxn id="3486" idx="2"/>
            <a:endCxn id="3487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FF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3" name="Google Shape;3493;p124"/>
          <p:cNvCxnSpPr>
            <a:stCxn id="3489" idx="2"/>
            <a:endCxn id="3488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4" name="Google Shape;3494;p124"/>
          <p:cNvCxnSpPr>
            <a:stCxn id="3487" idx="2"/>
            <a:endCxn id="3488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5" name="Google Shape;3495;p124"/>
          <p:cNvCxnSpPr>
            <a:stCxn id="3485" idx="3"/>
            <a:endCxn id="3488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6" name="Google Shape;3496;p124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7" name="Google Shape;3497;p124"/>
          <p:cNvCxnSpPr>
            <a:stCxn id="3496" idx="3"/>
            <a:endCxn id="3484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8" name="Google Shape;3498;p124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499" name="Google Shape;3499;p124"/>
          <p:cNvSpPr txBox="1"/>
          <p:nvPr/>
        </p:nvSpPr>
        <p:spPr>
          <a:xfrm>
            <a:off x="176275" y="4646100"/>
            <a:ext cx="38142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00" name="Google Shape;3500;p124"/>
          <p:cNvCxnSpPr>
            <a:stCxn id="3496" idx="3"/>
            <a:endCxn id="3485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1" name="Google Shape;3501;p124"/>
          <p:cNvCxnSpPr>
            <a:stCxn id="3487" idx="3"/>
            <a:endCxn id="3489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2" name="Google Shape;3502;p124"/>
          <p:cNvCxnSpPr>
            <a:stCxn id="3484" idx="3"/>
            <a:endCxn id="3486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3" name="Google Shape;3503;p124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504" name="Google Shape;3504;p124"/>
          <p:cNvCxnSpPr>
            <a:stCxn id="3489" idx="0"/>
            <a:endCxn id="3486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5" name="Google Shape;3505;p124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506" name="Google Shape;3506;p124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07" name="Google Shape;3507;p124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508" name="Google Shape;3508;p124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09" name="Google Shape;3509;p124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10" name="Google Shape;3510;p124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511" name="Google Shape;3511;p124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12" name="Google Shape;3512;p124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13" name="Google Shape;3513;p124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14" name="Google Shape;3514;p124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(E-B: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(D-E: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15" name="Google Shape;3515;p124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516" name="Google Shape;3516;p124"/>
          <p:cNvCxnSpPr>
            <a:stCxn id="3487" idx="1"/>
            <a:endCxn id="3485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17" name="Google Shape;3517;p124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18" name="Google Shape;3518;p124"/>
          <p:cNvSpPr txBox="1"/>
          <p:nvPr/>
        </p:nvSpPr>
        <p:spPr>
          <a:xfrm>
            <a:off x="893050" y="3778175"/>
            <a:ext cx="27456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isConnected(D, E)</a:t>
            </a:r>
            <a:endParaRPr/>
          </a:p>
        </p:txBody>
      </p:sp>
      <p:sp>
        <p:nvSpPr>
          <p:cNvPr id="3519" name="Google Shape;3519;p124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[A-C-E-B, 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0" name="Google Shape;3520;p124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D-E</a:t>
            </a:r>
            <a:endParaRPr/>
          </a:p>
        </p:txBody>
      </p:sp>
      <p:sp>
        <p:nvSpPr>
          <p:cNvPr id="3521" name="Google Shape;3521;p124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6" name="Google Shape;3526;p1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Demo</a:t>
            </a:r>
            <a:endParaRPr/>
          </a:p>
        </p:txBody>
      </p:sp>
      <p:sp>
        <p:nvSpPr>
          <p:cNvPr id="3527" name="Google Shape;3527;p125"/>
          <p:cNvSpPr/>
          <p:nvPr/>
        </p:nvSpPr>
        <p:spPr>
          <a:xfrm>
            <a:off x="5033890" y="2216701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B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8" name="Google Shape;3528;p125"/>
          <p:cNvSpPr/>
          <p:nvPr/>
        </p:nvSpPr>
        <p:spPr>
          <a:xfrm>
            <a:off x="4983537" y="3771225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C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9" name="Google Shape;3529;p125"/>
          <p:cNvSpPr/>
          <p:nvPr/>
        </p:nvSpPr>
        <p:spPr>
          <a:xfrm>
            <a:off x="6917491" y="153680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D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0" name="Google Shape;3530;p125"/>
          <p:cNvSpPr/>
          <p:nvPr/>
        </p:nvSpPr>
        <p:spPr>
          <a:xfrm>
            <a:off x="6844294" y="2993970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E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1" name="Google Shape;3531;p125"/>
          <p:cNvSpPr/>
          <p:nvPr/>
        </p:nvSpPr>
        <p:spPr>
          <a:xfrm>
            <a:off x="7111066" y="4052066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F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2" name="Google Shape;3532;p125"/>
          <p:cNvSpPr/>
          <p:nvPr/>
        </p:nvSpPr>
        <p:spPr>
          <a:xfrm>
            <a:off x="8434680" y="276276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G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33" name="Google Shape;3533;p125"/>
          <p:cNvCxnSpPr>
            <a:stCxn id="3527" idx="2"/>
            <a:endCxn id="3528" idx="0"/>
          </p:cNvCxnSpPr>
          <p:nvPr/>
        </p:nvCxnSpPr>
        <p:spPr>
          <a:xfrm flipH="1">
            <a:off x="5177140" y="2521201"/>
            <a:ext cx="50400" cy="1250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4" name="Google Shape;3534;p125"/>
          <p:cNvCxnSpPr>
            <a:stCxn id="3527" idx="3"/>
            <a:endCxn id="3530" idx="1"/>
          </p:cNvCxnSpPr>
          <p:nvPr/>
        </p:nvCxnSpPr>
        <p:spPr>
          <a:xfrm>
            <a:off x="5421190" y="2368951"/>
            <a:ext cx="1423200" cy="777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5" name="Google Shape;3535;p125"/>
          <p:cNvCxnSpPr>
            <a:stCxn id="3529" idx="2"/>
            <a:endCxn id="3530" idx="0"/>
          </p:cNvCxnSpPr>
          <p:nvPr/>
        </p:nvCxnSpPr>
        <p:spPr>
          <a:xfrm flipH="1">
            <a:off x="7037941" y="1841300"/>
            <a:ext cx="73200" cy="1152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6" name="Google Shape;3536;p125"/>
          <p:cNvCxnSpPr>
            <a:stCxn id="3532" idx="2"/>
            <a:endCxn id="3531" idx="3"/>
          </p:cNvCxnSpPr>
          <p:nvPr/>
        </p:nvCxnSpPr>
        <p:spPr>
          <a:xfrm flipH="1">
            <a:off x="7498230" y="3067269"/>
            <a:ext cx="1130100" cy="1137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7" name="Google Shape;3537;p125"/>
          <p:cNvCxnSpPr>
            <a:stCxn id="3530" idx="2"/>
            <a:endCxn id="3531" idx="0"/>
          </p:cNvCxnSpPr>
          <p:nvPr/>
        </p:nvCxnSpPr>
        <p:spPr>
          <a:xfrm>
            <a:off x="7037944" y="3298470"/>
            <a:ext cx="266700" cy="7536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38" name="Google Shape;3538;p125"/>
          <p:cNvCxnSpPr>
            <a:stCxn id="3528" idx="3"/>
            <a:endCxn id="3531" idx="1"/>
          </p:cNvCxnSpPr>
          <p:nvPr/>
        </p:nvCxnSpPr>
        <p:spPr>
          <a:xfrm>
            <a:off x="5370837" y="3923475"/>
            <a:ext cx="1740300" cy="280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39" name="Google Shape;3539;p125"/>
          <p:cNvSpPr/>
          <p:nvPr/>
        </p:nvSpPr>
        <p:spPr>
          <a:xfrm>
            <a:off x="3443625" y="3110789"/>
            <a:ext cx="387300" cy="304500"/>
          </a:xfrm>
          <a:prstGeom prst="rect">
            <a:avLst/>
          </a:prstGeom>
          <a:solidFill>
            <a:srgbClr val="B6D7A8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Roboto"/>
                <a:ea typeface="Roboto"/>
                <a:cs typeface="Roboto"/>
                <a:sym typeface="Roboto"/>
              </a:rPr>
              <a:t>A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40" name="Google Shape;3540;p125"/>
          <p:cNvCxnSpPr>
            <a:stCxn id="3539" idx="3"/>
            <a:endCxn id="3527" idx="1"/>
          </p:cNvCxnSpPr>
          <p:nvPr/>
        </p:nvCxnSpPr>
        <p:spPr>
          <a:xfrm rot="10800000" flipH="1">
            <a:off x="3830925" y="2369039"/>
            <a:ext cx="1203000" cy="894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41" name="Google Shape;3541;p125"/>
          <p:cNvSpPr txBox="1"/>
          <p:nvPr/>
        </p:nvSpPr>
        <p:spPr>
          <a:xfrm>
            <a:off x="3167793" y="3049303"/>
            <a:ext cx="317400" cy="3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endParaRPr/>
          </a:p>
        </p:txBody>
      </p:sp>
      <p:sp>
        <p:nvSpPr>
          <p:cNvPr id="3542" name="Google Shape;3542;p125"/>
          <p:cNvSpPr txBox="1"/>
          <p:nvPr/>
        </p:nvSpPr>
        <p:spPr>
          <a:xfrm>
            <a:off x="176275" y="4646100"/>
            <a:ext cx="45150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MST: [A-C, C-E, D-G, F-G, A-B, D-E]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43" name="Google Shape;3543;p125"/>
          <p:cNvCxnSpPr>
            <a:stCxn id="3539" idx="3"/>
            <a:endCxn id="3528" idx="1"/>
          </p:cNvCxnSpPr>
          <p:nvPr/>
        </p:nvCxnSpPr>
        <p:spPr>
          <a:xfrm>
            <a:off x="3830925" y="3263039"/>
            <a:ext cx="1152600" cy="660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4" name="Google Shape;3544;p125"/>
          <p:cNvCxnSpPr>
            <a:stCxn id="3530" idx="3"/>
            <a:endCxn id="3532" idx="1"/>
          </p:cNvCxnSpPr>
          <p:nvPr/>
        </p:nvCxnSpPr>
        <p:spPr>
          <a:xfrm rot="10800000" flipH="1">
            <a:off x="7231594" y="2914920"/>
            <a:ext cx="1203000" cy="23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45" name="Google Shape;3545;p125"/>
          <p:cNvCxnSpPr>
            <a:stCxn id="3527" idx="3"/>
            <a:endCxn id="3529" idx="1"/>
          </p:cNvCxnSpPr>
          <p:nvPr/>
        </p:nvCxnSpPr>
        <p:spPr>
          <a:xfrm rot="10800000" flipH="1">
            <a:off x="5421190" y="1689151"/>
            <a:ext cx="1496400" cy="6798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46" name="Google Shape;3546;p125"/>
          <p:cNvSpPr/>
          <p:nvPr/>
        </p:nvSpPr>
        <p:spPr>
          <a:xfrm>
            <a:off x="5065790" y="2949743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</a:t>
            </a:r>
            <a:endParaRPr sz="1800"/>
          </a:p>
        </p:txBody>
      </p:sp>
      <p:cxnSp>
        <p:nvCxnSpPr>
          <p:cNvPr id="3547" name="Google Shape;3547;p125"/>
          <p:cNvCxnSpPr>
            <a:stCxn id="3532" idx="0"/>
            <a:endCxn id="3529" idx="3"/>
          </p:cNvCxnSpPr>
          <p:nvPr/>
        </p:nvCxnSpPr>
        <p:spPr>
          <a:xfrm rot="10800000">
            <a:off x="7304730" y="1689069"/>
            <a:ext cx="1323600" cy="10737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48" name="Google Shape;3548;p125"/>
          <p:cNvSpPr/>
          <p:nvPr/>
        </p:nvSpPr>
        <p:spPr>
          <a:xfrm>
            <a:off x="4294998" y="2700560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2</a:t>
            </a:r>
            <a:endParaRPr sz="1800"/>
          </a:p>
        </p:txBody>
      </p:sp>
      <p:sp>
        <p:nvSpPr>
          <p:cNvPr id="3549" name="Google Shape;3549;p125"/>
          <p:cNvSpPr/>
          <p:nvPr/>
        </p:nvSpPr>
        <p:spPr>
          <a:xfrm>
            <a:off x="4218798" y="340772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50" name="Google Shape;3550;p125"/>
          <p:cNvSpPr/>
          <p:nvPr/>
        </p:nvSpPr>
        <p:spPr>
          <a:xfrm>
            <a:off x="6056000" y="3921475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15</a:t>
            </a:r>
            <a:endParaRPr sz="1800"/>
          </a:p>
        </p:txBody>
      </p:sp>
      <p:sp>
        <p:nvSpPr>
          <p:cNvPr id="3551" name="Google Shape;3551;p125"/>
          <p:cNvSpPr/>
          <p:nvPr/>
        </p:nvSpPr>
        <p:spPr>
          <a:xfrm>
            <a:off x="6006302" y="263999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52" name="Google Shape;3552;p125"/>
          <p:cNvSpPr/>
          <p:nvPr/>
        </p:nvSpPr>
        <p:spPr>
          <a:xfrm>
            <a:off x="6984714" y="225165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53" name="Google Shape;3553;p125"/>
          <p:cNvSpPr/>
          <p:nvPr/>
        </p:nvSpPr>
        <p:spPr>
          <a:xfrm>
            <a:off x="5966017" y="1891633"/>
            <a:ext cx="549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11</a:t>
            </a:r>
            <a:endParaRPr sz="1800"/>
          </a:p>
        </p:txBody>
      </p:sp>
      <p:sp>
        <p:nvSpPr>
          <p:cNvPr id="3554" name="Google Shape;3554;p125"/>
          <p:cNvSpPr/>
          <p:nvPr/>
        </p:nvSpPr>
        <p:spPr>
          <a:xfrm>
            <a:off x="7706689" y="29041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</a:t>
            </a:r>
            <a:endParaRPr sz="1800"/>
          </a:p>
        </p:txBody>
      </p:sp>
      <p:sp>
        <p:nvSpPr>
          <p:cNvPr id="3555" name="Google Shape;3555;p125"/>
          <p:cNvSpPr/>
          <p:nvPr/>
        </p:nvSpPr>
        <p:spPr>
          <a:xfrm>
            <a:off x="7968747" y="3493981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56" name="Google Shape;3556;p125"/>
          <p:cNvSpPr/>
          <p:nvPr/>
        </p:nvSpPr>
        <p:spPr>
          <a:xfrm>
            <a:off x="7840072" y="2116244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57" name="Google Shape;3557;p125"/>
          <p:cNvSpPr txBox="1"/>
          <p:nvPr/>
        </p:nvSpPr>
        <p:spPr>
          <a:xfrm>
            <a:off x="242950" y="1536800"/>
            <a:ext cx="3200700" cy="2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Fringe: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(A-C: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(C-E: 1),</a:t>
            </a:r>
            <a:endParaRPr sz="1600" strike="sngStrike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(F-G: 1)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(A-B: 2)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(E-B: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6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strike="sng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(D-E: 3)</a:t>
            </a:r>
            <a:r>
              <a:rPr lang="en" sz="16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(G-E: 3),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(E-F: 4), (B-C: 5),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(B-D: 11), (C-F: 15)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58" name="Google Shape;3558;p125"/>
          <p:cNvSpPr/>
          <p:nvPr/>
        </p:nvSpPr>
        <p:spPr>
          <a:xfrm>
            <a:off x="7001553" y="3484516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4</a:t>
            </a:r>
            <a:endParaRPr sz="1800"/>
          </a:p>
        </p:txBody>
      </p:sp>
      <p:cxnSp>
        <p:nvCxnSpPr>
          <p:cNvPr id="3559" name="Google Shape;3559;p125"/>
          <p:cNvCxnSpPr>
            <a:stCxn id="3530" idx="1"/>
            <a:endCxn id="3528" idx="3"/>
          </p:cNvCxnSpPr>
          <p:nvPr/>
        </p:nvCxnSpPr>
        <p:spPr>
          <a:xfrm flipH="1">
            <a:off x="5370694" y="3146220"/>
            <a:ext cx="1473600" cy="777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60" name="Google Shape;3560;p125"/>
          <p:cNvSpPr/>
          <p:nvPr/>
        </p:nvSpPr>
        <p:spPr>
          <a:xfrm>
            <a:off x="5988090" y="3398495"/>
            <a:ext cx="252900" cy="2529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</a:t>
            </a:r>
            <a:endParaRPr sz="1800"/>
          </a:p>
        </p:txBody>
      </p:sp>
      <p:sp>
        <p:nvSpPr>
          <p:cNvPr id="3561" name="Google Shape;3561;p125"/>
          <p:cNvSpPr txBox="1"/>
          <p:nvPr/>
        </p:nvSpPr>
        <p:spPr>
          <a:xfrm>
            <a:off x="893050" y="3778175"/>
            <a:ext cx="32007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Cycle? No. union(D, E). add(D-E).</a:t>
            </a:r>
            <a:endParaRPr/>
          </a:p>
        </p:txBody>
      </p:sp>
      <p:sp>
        <p:nvSpPr>
          <p:cNvPr id="3562" name="Google Shape;3562;p125"/>
          <p:cNvSpPr txBox="1"/>
          <p:nvPr/>
        </p:nvSpPr>
        <p:spPr>
          <a:xfrm>
            <a:off x="5347550" y="4569550"/>
            <a:ext cx="1966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V-1 edges, so done.</a:t>
            </a:r>
            <a:endParaRPr/>
          </a:p>
        </p:txBody>
      </p:sp>
      <p:sp>
        <p:nvSpPr>
          <p:cNvPr id="3563" name="Google Shape;3563;p125"/>
          <p:cNvSpPr txBox="1"/>
          <p:nvPr/>
        </p:nvSpPr>
        <p:spPr>
          <a:xfrm>
            <a:off x="176275" y="4254793"/>
            <a:ext cx="32673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WQU: [A-C-E-B-D-G-F]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4" name="Google Shape;3564;p125"/>
          <p:cNvSpPr txBox="1"/>
          <p:nvPr/>
        </p:nvSpPr>
        <p:spPr>
          <a:xfrm>
            <a:off x="294025" y="3397175"/>
            <a:ext cx="22749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 edge: D-E</a:t>
            </a:r>
            <a:endParaRPr/>
          </a:p>
        </p:txBody>
      </p:sp>
      <p:sp>
        <p:nvSpPr>
          <p:cNvPr id="3565" name="Google Shape;3565;p125"/>
          <p:cNvSpPr/>
          <p:nvPr/>
        </p:nvSpPr>
        <p:spPr>
          <a:xfrm>
            <a:off x="1594967" y="4356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6" name="Google Shape;3566;p125"/>
          <p:cNvSpPr/>
          <p:nvPr/>
        </p:nvSpPr>
        <p:spPr>
          <a:xfrm>
            <a:off x="3707400" y="4737575"/>
            <a:ext cx="387300" cy="252900"/>
          </a:xfrm>
          <a:prstGeom prst="rect">
            <a:avLst/>
          </a:prstGeom>
          <a:noFill/>
          <a:ln w="19050" cap="flat" cmpd="sng">
            <a:solidFill>
              <a:srgbClr val="FF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7" name="Google Shape;3567;p125"/>
          <p:cNvSpPr txBox="1">
            <a:spLocks noGrp="1"/>
          </p:cNvSpPr>
          <p:nvPr>
            <p:ph type="body" idx="1"/>
          </p:nvPr>
        </p:nvSpPr>
        <p:spPr>
          <a:xfrm>
            <a:off x="90600" y="404100"/>
            <a:ext cx="8901000" cy="8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all edges into PQ.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Repeat: Remove smallest weight edge. Add to MST if no cycle created.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2" name="Google Shape;3572;p126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3573" name="Google Shape;3573;p126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Kruskal’s Algorithm: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Kruskal's vs. Prim's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  <p:sp>
        <p:nvSpPr>
          <p:cNvPr id="3574" name="Google Shape;3574;p126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Kruskal's vs. Prim's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9" name="Google Shape;3579;p1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Prim’s vs. Kruskal’s (visual)</a:t>
            </a:r>
            <a:endParaRPr/>
          </a:p>
        </p:txBody>
      </p:sp>
      <p:sp>
        <p:nvSpPr>
          <p:cNvPr id="3580" name="Google Shape;3580;p127"/>
          <p:cNvSpPr txBox="1">
            <a:spLocks noGrp="1"/>
          </p:cNvSpPr>
          <p:nvPr>
            <p:ph type="body" idx="1"/>
          </p:nvPr>
        </p:nvSpPr>
        <p:spPr>
          <a:xfrm>
            <a:off x="2286000" y="4684750"/>
            <a:ext cx="4572000" cy="34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Demos courtesy of Kevin Wayne, Princeton University</a:t>
            </a:r>
            <a:endParaRPr sz="1400"/>
          </a:p>
        </p:txBody>
      </p:sp>
      <p:pic>
        <p:nvPicPr>
          <p:cNvPr id="3581" name="Google Shape;3581;p127" title="vid10 kruskals vs prim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7750" y="591800"/>
            <a:ext cx="7168500" cy="4032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6" name="Google Shape;3586;p128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3587" name="Google Shape;3587;p128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Kruskal’s Algorithm: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lang="en" b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Kruskal's Algorithm Code and Runtime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8" name="Google Shape;3588;p128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Kruskal's Algorithm Code and Runtime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AF8"/>
        </a:solidFill>
        <a:effectLst/>
      </p:bgPr>
    </p:bg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1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Implementation (Pseudocode)</a:t>
            </a:r>
            <a:endParaRPr/>
          </a:p>
        </p:txBody>
      </p:sp>
      <p:sp>
        <p:nvSpPr>
          <p:cNvPr id="3594" name="Google Shape;3594;p129"/>
          <p:cNvSpPr txBox="1"/>
          <p:nvPr/>
        </p:nvSpPr>
        <p:spPr>
          <a:xfrm>
            <a:off x="243000" y="766100"/>
            <a:ext cx="5546100" cy="41751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KruskalMST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private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 mst =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ArrayList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KruskalMST(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EdgeWeightedGraph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G)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MinPQ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&lt;Edge&gt; pq =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MinPQ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&gt;();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 : G.edges())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pq.insert(e);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WeightedQuickUnionPC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uf =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 new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WeightedQuickUnionPC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(G.V());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(!pq.isEmpty() &amp;&amp; mst.size() &lt; G.V() - 1)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Edge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 = pq.delMin();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v = e.from();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w = e.to();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n" b="1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(!uf.connected(v, w)) {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uf.union(v, w);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mst.add(e); 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 } } }</a:t>
            </a:r>
            <a:endParaRPr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EFEFEF"/>
              </a:highlight>
            </a:endParaRPr>
          </a:p>
        </p:txBody>
      </p:sp>
      <p:sp>
        <p:nvSpPr>
          <p:cNvPr id="3595" name="Google Shape;3595;p129"/>
          <p:cNvSpPr txBox="1"/>
          <p:nvPr/>
        </p:nvSpPr>
        <p:spPr>
          <a:xfrm>
            <a:off x="5821953" y="592125"/>
            <a:ext cx="3285900" cy="25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What is the runtime of Kruskal’s algorithm?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Assume all PQ operations take O(log(V)) time.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Assume all WQU operations take O(log* V) time.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n" sz="2000">
                <a:latin typeface="Calibri"/>
                <a:ea typeface="Calibri"/>
                <a:cs typeface="Calibri"/>
                <a:sym typeface="Calibri"/>
              </a:rPr>
              <a:t>Give your answer in Big O notation.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1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Kruskal’s Runtime</a:t>
            </a:r>
            <a:endParaRPr/>
          </a:p>
        </p:txBody>
      </p:sp>
      <p:sp>
        <p:nvSpPr>
          <p:cNvPr id="3601" name="Google Shape;3601;p130"/>
          <p:cNvSpPr txBox="1">
            <a:spLocks noGrp="1"/>
          </p:cNvSpPr>
          <p:nvPr>
            <p:ph type="body" idx="1"/>
          </p:nvPr>
        </p:nvSpPr>
        <p:spPr>
          <a:xfrm>
            <a:off x="107050" y="402200"/>
            <a:ext cx="8520600" cy="43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 on previous slide is O(E log E).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Note 1: If we use a pre-sorted list of edges (instead of a PQ), then we can simply iterate through the list in O(E) time, so overall runtime is O(E + V log* V + E log* V) = O(E log* V).</a:t>
            </a:r>
            <a:endParaRPr sz="140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/>
              <a:t>Note 2: E &lt; V</a:t>
            </a:r>
            <a:r>
              <a:rPr lang="en" sz="1400" baseline="30000"/>
              <a:t>2</a:t>
            </a:r>
            <a:r>
              <a:rPr lang="en" sz="1400"/>
              <a:t>, so log E &lt; log V</a:t>
            </a:r>
            <a:r>
              <a:rPr lang="en" sz="1400" baseline="30000"/>
              <a:t>2</a:t>
            </a:r>
            <a:r>
              <a:rPr lang="en" sz="1400"/>
              <a:t> = 2 log V, so O(E log E) = O(E log V). So while Kruskal's algorithm will be slower than Prim's algorithm for a worst-case unsorted set of edges, it won't be asymptotically slower.</a:t>
            </a:r>
            <a:endParaRPr sz="1400"/>
          </a:p>
        </p:txBody>
      </p:sp>
      <p:graphicFrame>
        <p:nvGraphicFramePr>
          <p:cNvPr id="3602" name="Google Shape;3602;p130"/>
          <p:cNvGraphicFramePr/>
          <p:nvPr/>
        </p:nvGraphicFramePr>
        <p:xfrm>
          <a:off x="952500" y="141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{B9B6D51D-E2A9-432E-A73F-2B4FE37DDF82}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Operation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 of Times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per Operation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Total Time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Insert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 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E)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Delete minimum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 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E)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O(log*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O(V log* V)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isConnected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O(log*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log* V)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603" name="Google Shape;3603;p130"/>
          <p:cNvCxnSpPr/>
          <p:nvPr/>
        </p:nvCxnSpPr>
        <p:spPr>
          <a:xfrm flipH="1">
            <a:off x="7374775" y="1307775"/>
            <a:ext cx="613500" cy="566400"/>
          </a:xfrm>
          <a:prstGeom prst="straightConnector1">
            <a:avLst/>
          </a:prstGeom>
          <a:noFill/>
          <a:ln w="9525" cap="flat" cmpd="sng">
            <a:solidFill>
              <a:srgbClr val="BE071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04" name="Google Shape;3604;p130"/>
          <p:cNvSpPr txBox="1"/>
          <p:nvPr/>
        </p:nvSpPr>
        <p:spPr>
          <a:xfrm>
            <a:off x="5962025" y="549150"/>
            <a:ext cx="3166200" cy="7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Fun fact: In HeapSort lecture, we will discuss how do this step in O(E) time using “bottom-up heapification”.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1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Shortest Paths and MST Algorithms Summary</a:t>
            </a:r>
            <a:endParaRPr/>
          </a:p>
        </p:txBody>
      </p:sp>
      <p:sp>
        <p:nvSpPr>
          <p:cNvPr id="3610" name="Google Shape;3610;p131"/>
          <p:cNvSpPr txBox="1">
            <a:spLocks noGrp="1"/>
          </p:cNvSpPr>
          <p:nvPr>
            <p:ph type="body" idx="1"/>
          </p:nvPr>
        </p:nvSpPr>
        <p:spPr>
          <a:xfrm>
            <a:off x="243000" y="3707850"/>
            <a:ext cx="8443800" cy="10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Question: Can we do better than O(E log V)? See bonus slides.</a:t>
            </a:r>
            <a:endParaRPr/>
          </a:p>
        </p:txBody>
      </p:sp>
      <p:graphicFrame>
        <p:nvGraphicFramePr>
          <p:cNvPr id="3611" name="Google Shape;3611;p131"/>
          <p:cNvGraphicFramePr/>
          <p:nvPr/>
        </p:nvGraphicFramePr>
        <p:xfrm>
          <a:off x="890700" y="97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{B9B6D51D-E2A9-432E-A73F-2B4FE37DDF82}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Problem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Runtime (if E &gt;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Notes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Shortest Paths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Dijkstra’s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Fails for negative weight edges.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Prim’s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Analogous to Dijkstra’s.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Kruskal’s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 E)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WQUPC.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MST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Kruskal’s with pre-sorted edges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O(E log* V)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Uses WQUPC.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6" name="Google Shape;3616;p132"/>
          <p:cNvSpPr txBox="1">
            <a:spLocks noGrp="1"/>
          </p:cNvSpPr>
          <p:nvPr>
            <p:ph type="body" idx="1"/>
          </p:nvPr>
        </p:nvSpPr>
        <p:spPr>
          <a:xfrm>
            <a:off x="256975" y="368599"/>
            <a:ext cx="3999900" cy="128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These slides are covered in the </a:t>
            </a:r>
            <a:r>
              <a:rPr lang="en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web videos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but we won't cover them live.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7" name="Google Shape;3617;p132"/>
          <p:cNvSpPr txBox="1">
            <a:spLocks noGrp="1"/>
          </p:cNvSpPr>
          <p:nvPr>
            <p:ph type="subTitle" idx="2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25, CS61B, Fall 2023</a:t>
            </a:r>
            <a:endParaRPr/>
          </a:p>
        </p:txBody>
      </p:sp>
      <p:sp>
        <p:nvSpPr>
          <p:cNvPr id="3618" name="Google Shape;3618;p132"/>
          <p:cNvSpPr txBox="1">
            <a:spLocks noGrp="1"/>
          </p:cNvSpPr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Extra: MST Algorithm History</a:t>
            </a:r>
            <a:endParaRPr/>
          </a:p>
        </p:txBody>
      </p:sp>
      <p:sp>
        <p:nvSpPr>
          <p:cNvPr id="3619" name="Google Shape;3619;p132"/>
          <p:cNvSpPr txBox="1">
            <a:spLocks noGrp="1"/>
          </p:cNvSpPr>
          <p:nvPr>
            <p:ph type="body" idx="1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Graph Problem Warmup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Minimum Spanning Trees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The Cut Property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Prim’s Algorithm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Prim's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Prim’s Algorithm Code and Runtime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Kruskal’s Algorithm:</a:t>
            </a:r>
            <a:endParaRPr/>
          </a:p>
          <a:p>
            <a:pPr marL="457200" lvl="0" indent="-342900" algn="l" rtl="0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Basic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Optimized Kruskal’s (Demo)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vs. Prim's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Kruskal's Algorithm Code and Runtime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1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170 Spoiler: State of the Art Compare-Based MST Algorithms</a:t>
            </a:r>
            <a:endParaRPr/>
          </a:p>
        </p:txBody>
      </p:sp>
      <p:graphicFrame>
        <p:nvGraphicFramePr>
          <p:cNvPr id="3625" name="Google Shape;3625;p133"/>
          <p:cNvGraphicFramePr/>
          <p:nvPr/>
        </p:nvGraphicFramePr>
        <p:xfrm>
          <a:off x="723900" y="87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{BCDF269E-DB82-4AAB-963F-7E19A2480E10}</a:tableStyleId>
              </a:tblPr>
              <a:tblGrid>
                <a:gridCol w="260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year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worst case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discovered by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1975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 log log V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Yao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1984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 log* V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Fredman-Tarjan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1986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 log (log* V)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Gabow-Galil-Spencer-Tarjan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1997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 </a:t>
                      </a:r>
                      <a:r>
                        <a:rPr lang="en" sz="1600" i="1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α(V) log α(V)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Chazelle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2000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 </a:t>
                      </a:r>
                      <a:r>
                        <a:rPr lang="en" sz="1600" i="1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α(V)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Chazelle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2002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optimal (</a:t>
                      </a:r>
                      <a:r>
                        <a:rPr lang="en" sz="1600" i="1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link</a:t>
                      </a: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600" i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Pettie-Ramachandran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6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i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???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26" name="Google Shape;3626;p133"/>
          <p:cNvSpPr txBox="1"/>
          <p:nvPr/>
        </p:nvSpPr>
        <p:spPr>
          <a:xfrm>
            <a:off x="254300" y="4704750"/>
            <a:ext cx="5027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(Slide Courtesy of Kevin Wayne, Princeton University)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10539</Words>
  <Application>Microsoft Office PowerPoint</Application>
  <PresentationFormat>On-screen Show (16:9)</PresentationFormat>
  <Paragraphs>2945</Paragraphs>
  <Slides>110</Slides>
  <Notes>110</Notes>
  <HiddenSlides>10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7" baseType="lpstr">
      <vt:lpstr>Roboto Medium</vt:lpstr>
      <vt:lpstr>Consolas</vt:lpstr>
      <vt:lpstr>Arial</vt:lpstr>
      <vt:lpstr>Calibri</vt:lpstr>
      <vt:lpstr>Roboto Light</vt:lpstr>
      <vt:lpstr>Roboto</vt:lpstr>
      <vt:lpstr>Simple Lecture</vt:lpstr>
      <vt:lpstr>Minimum Spanning Trees</vt:lpstr>
      <vt:lpstr>Graph Problem Warmup</vt:lpstr>
      <vt:lpstr>Warm-up Problem</vt:lpstr>
      <vt:lpstr>Warm-up Problem</vt:lpstr>
      <vt:lpstr>Warm-up Problem</vt:lpstr>
      <vt:lpstr>Minimum Spanning Trees Intro</vt:lpstr>
      <vt:lpstr>Spanning Trees</vt:lpstr>
      <vt:lpstr>Spanning Trees</vt:lpstr>
      <vt:lpstr>Which are Spanning Trees? yellkey.com/TODO</vt:lpstr>
      <vt:lpstr>MST Applications</vt:lpstr>
      <vt:lpstr>Extra: Minimum Spanning Trees vs. Shortest Paths Trees</vt:lpstr>
      <vt:lpstr>MST</vt:lpstr>
      <vt:lpstr>MST</vt:lpstr>
      <vt:lpstr>MST vs. SPT</vt:lpstr>
      <vt:lpstr>MST vs. SPT</vt:lpstr>
      <vt:lpstr>MST vs. SPT, http://yellkey.com/approach</vt:lpstr>
      <vt:lpstr>MST vs. SPT, http://yellkey.com/approach</vt:lpstr>
      <vt:lpstr>Spanning Tree</vt:lpstr>
      <vt:lpstr>Spanning Tree</vt:lpstr>
      <vt:lpstr>Spanning Tree</vt:lpstr>
      <vt:lpstr>The Cut Property</vt:lpstr>
      <vt:lpstr>A Useful Tool for Finding the MST: Cut Property</vt:lpstr>
      <vt:lpstr>Cut Property in Action: http://yellkey.com/TODO</vt:lpstr>
      <vt:lpstr>Cut Property in Action</vt:lpstr>
      <vt:lpstr>Cut Property Proof</vt:lpstr>
      <vt:lpstr>Generic MST Finding Algorithm</vt:lpstr>
      <vt:lpstr>Basic Prim's (Demo)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Demo (Conceptual)</vt:lpstr>
      <vt:lpstr>Prim’s Algorithm </vt:lpstr>
      <vt:lpstr>Optimized Prim's (Demo)</vt:lpstr>
      <vt:lpstr>Prim’s Algorithm Implementation 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Demo</vt:lpstr>
      <vt:lpstr>Prim’s Algorithm Code and Runtime</vt:lpstr>
      <vt:lpstr>Prim’s vs. Dijkstra’s</vt:lpstr>
      <vt:lpstr>Prim’s vs. Dijkstra’s (visual)</vt:lpstr>
      <vt:lpstr>Prim’s Implementation (Pseudocode, 1/2)</vt:lpstr>
      <vt:lpstr>Prim’s Implementation (Pseudocode, 2/2)</vt:lpstr>
      <vt:lpstr>Prim’s Runtime</vt:lpstr>
      <vt:lpstr>Prim’s Algorithm Runtime</vt:lpstr>
      <vt:lpstr>Basic Kruskal’s (Demo)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Algorithm</vt:lpstr>
      <vt:lpstr>Optimized Kruskal’s (Demo)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Kruskal’s Demo</vt:lpstr>
      <vt:lpstr>Kruskal's vs. Prim's</vt:lpstr>
      <vt:lpstr>Prim’s vs. Kruskal’s (visual)</vt:lpstr>
      <vt:lpstr>Kruskal's Algorithm Code and Runtime</vt:lpstr>
      <vt:lpstr>Kruskal’s Implementation (Pseudocode)</vt:lpstr>
      <vt:lpstr>Kruskal’s Runtime</vt:lpstr>
      <vt:lpstr>Shortest Paths and MST Algorithms Summary</vt:lpstr>
      <vt:lpstr>Extra: MST Algorithm History</vt:lpstr>
      <vt:lpstr>170 Spoiler: State of the Art Compare-Based MST Algorithms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Vader Darth</cp:lastModifiedBy>
  <cp:revision>3</cp:revision>
  <dcterms:modified xsi:type="dcterms:W3CDTF">2025-07-30T06:55:28Z</dcterms:modified>
</cp:coreProperties>
</file>