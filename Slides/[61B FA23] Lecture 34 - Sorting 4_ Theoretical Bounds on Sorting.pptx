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0" r:id="rId1"/>
  </p:sldMasterIdLst>
  <p:notesMasterIdLst>
    <p:notesMasterId r:id="rId7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Lst>
  <p:sldSz cx="9144000" cy="5143500" type="screen16x9"/>
  <p:notesSz cx="6858000" cy="9144000"/>
  <p:embeddedFontLst>
    <p:embeddedFont>
      <p:font typeface="Roboto" panose="02000000000000000000" pitchFamily="2" charset="0"/>
      <p:regular r:id="rId79"/>
      <p:bold r:id="rId80"/>
      <p:italic r:id="rId81"/>
      <p:boldItalic r:id="rId82"/>
    </p:embeddedFont>
    <p:embeddedFont>
      <p:font typeface="Roboto Light" panose="02000000000000000000" pitchFamily="2" charset="0"/>
      <p:regular r:id="rId83"/>
      <p:bold r:id="rId84"/>
      <p:italic r:id="rId85"/>
      <p:boldItalic r:id="rId86"/>
    </p:embeddedFont>
    <p:embeddedFont>
      <p:font typeface="Roboto Medium" panose="02000000000000000000" pitchFamily="2" charset="0"/>
      <p:regular r:id="rId87"/>
      <p:bold r:id="rId88"/>
      <p:italic r:id="rId89"/>
      <p:boldItalic r:id="rId9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022CFBB-189D-4486-843A-8D9017E49761}">
  <a:tblStyle styleId="{C022CFBB-189D-4486-843A-8D9017E49761}" styleName="Table_0">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20" d="100"/>
          <a:sy n="120" d="100"/>
        </p:scale>
        <p:origin x="91" y="2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font" Target="fonts/font6.fntdata"/><Relationship Id="rId89" Type="http://schemas.openxmlformats.org/officeDocument/2006/relationships/font" Target="fonts/font11.fntdata"/><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font" Target="fonts/font1.fntdata"/><Relationship Id="rId5" Type="http://schemas.openxmlformats.org/officeDocument/2006/relationships/slide" Target="slides/slide4.xml"/><Relationship Id="rId90" Type="http://schemas.openxmlformats.org/officeDocument/2006/relationships/font" Target="fonts/font12.fntdata"/><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font" Target="fonts/font2.fntdata"/><Relationship Id="rId85" Type="http://schemas.openxmlformats.org/officeDocument/2006/relationships/font" Target="fonts/font7.fntdata"/><Relationship Id="rId93"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font" Target="fonts/font5.fntdata"/><Relationship Id="rId88" Type="http://schemas.openxmlformats.org/officeDocument/2006/relationships/font" Target="fonts/font10.fntdata"/><Relationship Id="rId9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notesMaster" Target="notesMasters/notesMaster1.xml"/><Relationship Id="rId81" Type="http://schemas.openxmlformats.org/officeDocument/2006/relationships/font" Target="fonts/font3.fntdata"/><Relationship Id="rId86" Type="http://schemas.openxmlformats.org/officeDocument/2006/relationships/font" Target="fonts/font8.fntdata"/><Relationship Id="rId9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viewProps" Target="view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font" Target="fonts/font9.fntdata"/><Relationship Id="rId61" Type="http://schemas.openxmlformats.org/officeDocument/2006/relationships/slide" Target="slides/slide60.xml"/><Relationship Id="rId82" Type="http://schemas.openxmlformats.org/officeDocument/2006/relationships/font" Target="fonts/font4.fntdata"/><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www.angelfire.com/blog/ronz/Articles/999SortingNetworksReferen.html" TargetMode="External"/><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3" Type="http://schemas.openxmlformats.org/officeDocument/2006/relationships/hyperlink" Target="https://docs.google.com/forms/d/e/1FAIpQLSc7OfRNg4Vj8G3h4tuA6VL30gnD8gjWbThyRjiDWmAR2B8f1g/viewform" TargetMode="External"/><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3" Type="http://schemas.openxmlformats.org/officeDocument/2006/relationships/hyperlink" Target="http://www.clker.com/cliparts/6/9/3/2/1197122947130754155jean_victor_balin_Cubes.svg.hi.png" TargetMode="External"/><Relationship Id="rId7" Type="http://schemas.openxmlformats.org/officeDocument/2006/relationships/hyperlink" Target="http://animalia-life.com/dogs.html" TargetMode="External"/><Relationship Id="rId2" Type="http://schemas.openxmlformats.org/officeDocument/2006/relationships/slide" Target="../slides/slide46.xml"/><Relationship Id="rId1" Type="http://schemas.openxmlformats.org/officeDocument/2006/relationships/notesMaster" Target="../notesMasters/notesMaster1.xml"/><Relationship Id="rId6" Type="http://schemas.openxmlformats.org/officeDocument/2006/relationships/hyperlink" Target="http://animalia-life.com/cat.html" TargetMode="External"/><Relationship Id="rId5" Type="http://schemas.openxmlformats.org/officeDocument/2006/relationships/hyperlink" Target="http://assets.nydailynews.com/polopoly_fs/1.1245686!/img/httpImage/image.jpg_gen/derivatives/article_970/afp-cute-puppy.jpg" TargetMode="External"/><Relationship Id="rId4" Type="http://schemas.openxmlformats.org/officeDocument/2006/relationships/hyperlink" Target="http://www.clipartbest.com/cliparts/94T/bAe/94TbAejig.png" TargetMode="External"/></Relationships>
</file>

<file path=ppt/notesSlides/_rels/notesSlide47.xml.rels><?xml version="1.0" encoding="UTF-8" standalone="yes"?>
<Relationships xmlns="http://schemas.openxmlformats.org/package/2006/relationships"><Relationship Id="rId3" Type="http://schemas.openxmlformats.org/officeDocument/2006/relationships/hyperlink" Target="https://docs.google.com/forms/d/e/1FAIpQLSfwjP1UTp38YwotowMSNR169vrEFAPzckl_v83omPc2tf_9KQ/viewform" TargetMode="External"/><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g22e11717095_0_2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2" name="Google Shape;142;g22e11717095_0_2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u="sng">
                <a:solidFill>
                  <a:schemeClr val="hlink"/>
                </a:solidFill>
                <a:hlinkClick r:id="rId3"/>
              </a:rPr>
              <a:t>http://www.angelfire.com/blog/ronz/Articles/999SortingNetworksReferen.html</a:t>
            </a:r>
            <a:r>
              <a:rPr lang="en"/>
              <a:t>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22e11717095_0_140: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22e11717095_0_1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12b7767647_0_29: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 name="Google Shape;158;g12b7767647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12b7767647_0_333: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 name="Google Shape;168;g12b7767647_0_3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299dddd6748_0_11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4" name="Google Shape;174;g299dddd6748_0_11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299dddd6748_0_1105: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 name="Google Shape;180;g299dddd6748_0_11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g22e11717095_0_172: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6" name="Google Shape;186;g22e11717095_0_1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12b7767647_0_71: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3" name="Google Shape;193;g12b7767647_0_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g12b7767647_0_222: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9" name="Google Shape;199;g12b7767647_0_2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g12b7767647_0_185: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5" name="Google Shape;205;g12b7767647_0_1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12b7767647_0_198: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 name="Google Shape;211;g12b7767647_0_1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1d7ce38570_0_43: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9" name="Google Shape;219;g1d7ce38570_0_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g1d7ce38570_0_76: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5" name="Google Shape;225;g1d7ce38570_0_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g1d7ce38570_0_59: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2" name="Google Shape;232;g1d7ce38570_0_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u="sng">
                <a:solidFill>
                  <a:schemeClr val="hlink"/>
                </a:solidFill>
                <a:hlinkClick r:id="rId3"/>
              </a:rPr>
              <a:t>https://docs.google.com/forms/d/e/1FAIpQLSc7OfRNg4Vj8G3h4tuA6VL30gnD8gjWbThyRjiDWmAR2B8f1g/viewform</a:t>
            </a:r>
            <a:r>
              <a:rPr lang="en"/>
              <a:t>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g1d7ce38570_0_64: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8" name="Google Shape;238;g1d7ce38570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g1d7ce38570_0_27: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1" name="Google Shape;251;g1d7ce38570_0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g22e11717095_0_178: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7" name="Google Shape;257;g22e11717095_0_1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g3890bee631_0_0: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4" name="Google Shape;264;g3890bee63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g465b5392c_36: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0" name="Google Shape;270;g465b5392c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g465e07215_0129: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6" name="Google Shape;286;g465e07215_01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g1d7ce38570_0_94: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1d7ce38570_0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g22e11717095_0_184: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3" name="Google Shape;313;g22e11717095_0_1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
        <p:cNvGrpSpPr/>
        <p:nvPr/>
      </p:nvGrpSpPr>
      <p:grpSpPr>
        <a:xfrm>
          <a:off x="0" y="0"/>
          <a:ext cx="0" cy="0"/>
          <a:chOff x="0" y="0"/>
          <a:chExt cx="0" cy="0"/>
        </a:xfrm>
      </p:grpSpPr>
      <p:sp>
        <p:nvSpPr>
          <p:cNvPr id="319" name="Google Shape;319;g29818a7d3f5_0_0: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0" name="Google Shape;320;g29818a7d3f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g260692eea24_0_10: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6" name="Google Shape;336;g260692eea24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
        <p:cNvGrpSpPr/>
        <p:nvPr/>
      </p:nvGrpSpPr>
      <p:grpSpPr>
        <a:xfrm>
          <a:off x="0" y="0"/>
          <a:ext cx="0" cy="0"/>
          <a:chOff x="0" y="0"/>
          <a:chExt cx="0" cy="0"/>
        </a:xfrm>
      </p:grpSpPr>
      <p:sp>
        <p:nvSpPr>
          <p:cNvPr id="351" name="Google Shape;351;g260692eea24_0_25: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2" name="Google Shape;352;g260692eea24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0"/>
        <p:cNvGrpSpPr/>
        <p:nvPr/>
      </p:nvGrpSpPr>
      <p:grpSpPr>
        <a:xfrm>
          <a:off x="0" y="0"/>
          <a:ext cx="0" cy="0"/>
          <a:chOff x="0" y="0"/>
          <a:chExt cx="0" cy="0"/>
        </a:xfrm>
      </p:grpSpPr>
      <p:sp>
        <p:nvSpPr>
          <p:cNvPr id="361" name="Google Shape;361;g260692eea24_0_40: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2" name="Google Shape;362;g260692eea24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p:cNvGrpSpPr/>
        <p:nvPr/>
      </p:nvGrpSpPr>
      <p:grpSpPr>
        <a:xfrm>
          <a:off x="0" y="0"/>
          <a:ext cx="0" cy="0"/>
          <a:chOff x="0" y="0"/>
          <a:chExt cx="0" cy="0"/>
        </a:xfrm>
      </p:grpSpPr>
      <p:sp>
        <p:nvSpPr>
          <p:cNvPr id="371" name="Google Shape;371;g260692eea24_0_49: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2" name="Google Shape;372;g260692eea24_0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Google Shape;381;g260692eea24_0_58: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2" name="Google Shape;382;g260692eea24_0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4"/>
        <p:cNvGrpSpPr/>
        <p:nvPr/>
      </p:nvGrpSpPr>
      <p:grpSpPr>
        <a:xfrm>
          <a:off x="0" y="0"/>
          <a:ext cx="0" cy="0"/>
          <a:chOff x="0" y="0"/>
          <a:chExt cx="0" cy="0"/>
        </a:xfrm>
      </p:grpSpPr>
      <p:sp>
        <p:nvSpPr>
          <p:cNvPr id="415" name="Google Shape;415;g299dddd6748_0_49: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6" name="Google Shape;416;g299dddd6748_0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2"/>
        <p:cNvGrpSpPr/>
        <p:nvPr/>
      </p:nvGrpSpPr>
      <p:grpSpPr>
        <a:xfrm>
          <a:off x="0" y="0"/>
          <a:ext cx="0" cy="0"/>
          <a:chOff x="0" y="0"/>
          <a:chExt cx="0" cy="0"/>
        </a:xfrm>
      </p:grpSpPr>
      <p:sp>
        <p:nvSpPr>
          <p:cNvPr id="503" name="Google Shape;503;g299dddd6748_0_735: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4" name="Google Shape;504;g299dddd6748_0_7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6"/>
        <p:cNvGrpSpPr/>
        <p:nvPr/>
      </p:nvGrpSpPr>
      <p:grpSpPr>
        <a:xfrm>
          <a:off x="0" y="0"/>
          <a:ext cx="0" cy="0"/>
          <a:chOff x="0" y="0"/>
          <a:chExt cx="0" cy="0"/>
        </a:xfrm>
      </p:grpSpPr>
      <p:sp>
        <p:nvSpPr>
          <p:cNvPr id="537" name="Google Shape;537;g299dddd6748_0_163: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8" name="Google Shape;538;g299dddd6748_0_1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7"/>
        <p:cNvGrpSpPr/>
        <p:nvPr/>
      </p:nvGrpSpPr>
      <p:grpSpPr>
        <a:xfrm>
          <a:off x="0" y="0"/>
          <a:ext cx="0" cy="0"/>
          <a:chOff x="0" y="0"/>
          <a:chExt cx="0" cy="0"/>
        </a:xfrm>
      </p:grpSpPr>
      <p:sp>
        <p:nvSpPr>
          <p:cNvPr id="778" name="Google Shape;778;g299dddd6748_0_486: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9" name="Google Shape;779;g299dddd6748_0_4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3"/>
        <p:cNvGrpSpPr/>
        <p:nvPr/>
      </p:nvGrpSpPr>
      <p:grpSpPr>
        <a:xfrm>
          <a:off x="0" y="0"/>
          <a:ext cx="0" cy="0"/>
          <a:chOff x="0" y="0"/>
          <a:chExt cx="0" cy="0"/>
        </a:xfrm>
      </p:grpSpPr>
      <p:sp>
        <p:nvSpPr>
          <p:cNvPr id="794" name="Google Shape;794;g299dddd6748_0_33: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5" name="Google Shape;795;g299dddd6748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0"/>
        <p:cNvGrpSpPr/>
        <p:nvPr/>
      </p:nvGrpSpPr>
      <p:grpSpPr>
        <a:xfrm>
          <a:off x="0" y="0"/>
          <a:ext cx="0" cy="0"/>
          <a:chOff x="0" y="0"/>
          <a:chExt cx="0" cy="0"/>
        </a:xfrm>
      </p:grpSpPr>
      <p:sp>
        <p:nvSpPr>
          <p:cNvPr id="811" name="Google Shape;811;g299dddd6748_0_0: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2" name="Google Shape;812;g299dddd6748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4"/>
        <p:cNvGrpSpPr/>
        <p:nvPr/>
      </p:nvGrpSpPr>
      <p:grpSpPr>
        <a:xfrm>
          <a:off x="0" y="0"/>
          <a:ext cx="0" cy="0"/>
          <a:chOff x="0" y="0"/>
          <a:chExt cx="0" cy="0"/>
        </a:xfrm>
      </p:grpSpPr>
      <p:sp>
        <p:nvSpPr>
          <p:cNvPr id="845" name="Google Shape;845;g299dddd6748_0_768: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6" name="Google Shape;846;g299dddd6748_0_7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8"/>
        <p:cNvGrpSpPr/>
        <p:nvPr/>
      </p:nvGrpSpPr>
      <p:grpSpPr>
        <a:xfrm>
          <a:off x="0" y="0"/>
          <a:ext cx="0" cy="0"/>
          <a:chOff x="0" y="0"/>
          <a:chExt cx="0" cy="0"/>
        </a:xfrm>
      </p:grpSpPr>
      <p:sp>
        <p:nvSpPr>
          <p:cNvPr id="879" name="Google Shape;879;g299dddd6748_0_801: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0" name="Google Shape;880;g299dddd6748_0_8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5"/>
        <p:cNvGrpSpPr/>
        <p:nvPr/>
      </p:nvGrpSpPr>
      <p:grpSpPr>
        <a:xfrm>
          <a:off x="0" y="0"/>
          <a:ext cx="0" cy="0"/>
          <a:chOff x="0" y="0"/>
          <a:chExt cx="0" cy="0"/>
        </a:xfrm>
      </p:grpSpPr>
      <p:sp>
        <p:nvSpPr>
          <p:cNvPr id="906" name="Google Shape;906;g299dddd6748_0_854: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7" name="Google Shape;907;g299dddd6748_0_8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2"/>
        <p:cNvGrpSpPr/>
        <p:nvPr/>
      </p:nvGrpSpPr>
      <p:grpSpPr>
        <a:xfrm>
          <a:off x="0" y="0"/>
          <a:ext cx="0" cy="0"/>
          <a:chOff x="0" y="0"/>
          <a:chExt cx="0" cy="0"/>
        </a:xfrm>
      </p:grpSpPr>
      <p:sp>
        <p:nvSpPr>
          <p:cNvPr id="923" name="Google Shape;923;g299dddd6748_0_870: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4" name="Google Shape;924;g299dddd6748_0_8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3"/>
        <p:cNvGrpSpPr/>
        <p:nvPr/>
      </p:nvGrpSpPr>
      <p:grpSpPr>
        <a:xfrm>
          <a:off x="0" y="0"/>
          <a:ext cx="0" cy="0"/>
          <a:chOff x="0" y="0"/>
          <a:chExt cx="0" cy="0"/>
        </a:xfrm>
      </p:grpSpPr>
      <p:sp>
        <p:nvSpPr>
          <p:cNvPr id="944" name="Google Shape;944;g299dddd6748_0_911: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5" name="Google Shape;945;g299dddd6748_0_9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4"/>
        <p:cNvGrpSpPr/>
        <p:nvPr/>
      </p:nvGrpSpPr>
      <p:grpSpPr>
        <a:xfrm>
          <a:off x="0" y="0"/>
          <a:ext cx="0" cy="0"/>
          <a:chOff x="0" y="0"/>
          <a:chExt cx="0" cy="0"/>
        </a:xfrm>
      </p:grpSpPr>
      <p:sp>
        <p:nvSpPr>
          <p:cNvPr id="975" name="Google Shape;975;g299dddd6748_0_955: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6" name="Google Shape;976;g299dddd6748_0_9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5"/>
        <p:cNvGrpSpPr/>
        <p:nvPr/>
      </p:nvGrpSpPr>
      <p:grpSpPr>
        <a:xfrm>
          <a:off x="0" y="0"/>
          <a:ext cx="0" cy="0"/>
          <a:chOff x="0" y="0"/>
          <a:chExt cx="0" cy="0"/>
        </a:xfrm>
      </p:grpSpPr>
      <p:sp>
        <p:nvSpPr>
          <p:cNvPr id="1006" name="Google Shape;1006;g299dddd6748_0_985: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7" name="Google Shape;1007;g299dddd6748_0_9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6"/>
        <p:cNvGrpSpPr/>
        <p:nvPr/>
      </p:nvGrpSpPr>
      <p:grpSpPr>
        <a:xfrm>
          <a:off x="0" y="0"/>
          <a:ext cx="0" cy="0"/>
          <a:chOff x="0" y="0"/>
          <a:chExt cx="0" cy="0"/>
        </a:xfrm>
      </p:grpSpPr>
      <p:sp>
        <p:nvSpPr>
          <p:cNvPr id="1037" name="Google Shape;1037;g299dddd6748_0_1015: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8" name="Google Shape;1038;g299dddd6748_0_10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9"/>
        <p:cNvGrpSpPr/>
        <p:nvPr/>
      </p:nvGrpSpPr>
      <p:grpSpPr>
        <a:xfrm>
          <a:off x="0" y="0"/>
          <a:ext cx="0" cy="0"/>
          <a:chOff x="0" y="0"/>
          <a:chExt cx="0" cy="0"/>
        </a:xfrm>
      </p:grpSpPr>
      <p:sp>
        <p:nvSpPr>
          <p:cNvPr id="1070" name="Google Shape;1070;g299dddd6748_0_891: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1" name="Google Shape;1071;g299dddd6748_0_8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0"/>
        <p:cNvGrpSpPr/>
        <p:nvPr/>
      </p:nvGrpSpPr>
      <p:grpSpPr>
        <a:xfrm>
          <a:off x="0" y="0"/>
          <a:ext cx="0" cy="0"/>
          <a:chOff x="0" y="0"/>
          <a:chExt cx="0" cy="0"/>
        </a:xfrm>
      </p:grpSpPr>
      <p:sp>
        <p:nvSpPr>
          <p:cNvPr id="1091" name="Google Shape;1091;g299dddd6748_0_1072: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2" name="Google Shape;1092;g299dddd6748_0_10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1"/>
        <p:cNvGrpSpPr/>
        <p:nvPr/>
      </p:nvGrpSpPr>
      <p:grpSpPr>
        <a:xfrm>
          <a:off x="0" y="0"/>
          <a:ext cx="0" cy="0"/>
          <a:chOff x="0" y="0"/>
          <a:chExt cx="0" cy="0"/>
        </a:xfrm>
      </p:grpSpPr>
      <p:sp>
        <p:nvSpPr>
          <p:cNvPr id="1122" name="Google Shape;1122;g299dddd6748_0_1146: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3" name="Google Shape;1123;g299dddd6748_0_11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8"/>
        <p:cNvGrpSpPr/>
        <p:nvPr/>
      </p:nvGrpSpPr>
      <p:grpSpPr>
        <a:xfrm>
          <a:off x="0" y="0"/>
          <a:ext cx="0" cy="0"/>
          <a:chOff x="0" y="0"/>
          <a:chExt cx="0" cy="0"/>
        </a:xfrm>
      </p:grpSpPr>
      <p:sp>
        <p:nvSpPr>
          <p:cNvPr id="1129" name="Google Shape;1129;g2fc129f8d_0_140: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0" name="Google Shape;1130;g2fc129f8d_0_1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Cubes: </a:t>
            </a:r>
            <a:r>
              <a:rPr lang="en" u="sng">
                <a:solidFill>
                  <a:schemeClr val="hlink"/>
                </a:solidFill>
                <a:hlinkClick r:id="rId3"/>
              </a:rPr>
              <a:t>http://www.clker.com/cliparts/6/9/3/2/1197122947130754155jean_victor_balin_Cubes.svg.hi.png</a:t>
            </a:r>
            <a:r>
              <a:rPr lang="en"/>
              <a:t> </a:t>
            </a:r>
            <a:endParaRPr/>
          </a:p>
          <a:p>
            <a:pPr marL="0" lvl="0" indent="0" algn="l" rtl="0">
              <a:spcBef>
                <a:spcPts val="0"/>
              </a:spcBef>
              <a:spcAft>
                <a:spcPts val="0"/>
              </a:spcAft>
              <a:buClr>
                <a:schemeClr val="dk1"/>
              </a:buClr>
              <a:buSzPts val="1100"/>
              <a:buFont typeface="Arial"/>
              <a:buNone/>
            </a:pPr>
            <a:r>
              <a:rPr lang="en"/>
              <a:t>Scale: </a:t>
            </a:r>
            <a:r>
              <a:rPr lang="en" u="sng">
                <a:solidFill>
                  <a:schemeClr val="hlink"/>
                </a:solidFill>
                <a:hlinkClick r:id="rId4"/>
              </a:rPr>
              <a:t>http://www.clipartbest.com/cliparts/94T/bAe/94TbAejig.png</a:t>
            </a:r>
            <a:r>
              <a:rPr lang="en"/>
              <a:t> </a:t>
            </a:r>
            <a:endParaRPr/>
          </a:p>
          <a:p>
            <a:pPr marL="0" lvl="0" indent="0" algn="l" rtl="0">
              <a:spcBef>
                <a:spcPts val="0"/>
              </a:spcBef>
              <a:spcAft>
                <a:spcPts val="0"/>
              </a:spcAft>
              <a:buClr>
                <a:schemeClr val="dk1"/>
              </a:buClr>
              <a:buSzPts val="1100"/>
              <a:buFont typeface="Arial"/>
              <a:buNone/>
            </a:pPr>
            <a:r>
              <a:rPr lang="en"/>
              <a:t>Puppy:</a:t>
            </a:r>
            <a:r>
              <a:rPr lang="en" u="sng">
                <a:solidFill>
                  <a:schemeClr val="hlink"/>
                </a:solidFill>
                <a:hlinkClick r:id="rId5"/>
              </a:rPr>
              <a:t>http://assets.nydailynews.com/polopoly_fs/1.1245686!/img/httpImage/image.jpg_gen/derivatives/article_970/afp-cute-puppy.jpg</a:t>
            </a:r>
            <a:r>
              <a:rPr lang="en"/>
              <a:t> </a:t>
            </a:r>
            <a:endParaRPr/>
          </a:p>
          <a:p>
            <a:pPr marL="0" lvl="0" indent="0" algn="l" rtl="0">
              <a:spcBef>
                <a:spcPts val="0"/>
              </a:spcBef>
              <a:spcAft>
                <a:spcPts val="0"/>
              </a:spcAft>
              <a:buClr>
                <a:schemeClr val="dk1"/>
              </a:buClr>
              <a:buSzPts val="1100"/>
              <a:buFont typeface="Arial"/>
              <a:buNone/>
            </a:pPr>
            <a:r>
              <a:rPr lang="en"/>
              <a:t>Cat: </a:t>
            </a:r>
            <a:r>
              <a:rPr lang="en" u="sng">
                <a:solidFill>
                  <a:schemeClr val="hlink"/>
                </a:solidFill>
                <a:hlinkClick r:id="rId6"/>
              </a:rPr>
              <a:t>http://animalia-life.com/cat.html</a:t>
            </a:r>
            <a:r>
              <a:rPr lang="en"/>
              <a:t> </a:t>
            </a:r>
            <a:endParaRPr/>
          </a:p>
          <a:p>
            <a:pPr marL="0" lvl="0" indent="0" algn="l" rtl="0">
              <a:spcBef>
                <a:spcPts val="0"/>
              </a:spcBef>
              <a:spcAft>
                <a:spcPts val="0"/>
              </a:spcAft>
              <a:buNone/>
            </a:pPr>
            <a:r>
              <a:rPr lang="en"/>
              <a:t>Dog: </a:t>
            </a:r>
            <a:r>
              <a:rPr lang="en" u="sng">
                <a:solidFill>
                  <a:schemeClr val="hlink"/>
                </a:solidFill>
                <a:hlinkClick r:id="rId7"/>
              </a:rPr>
              <a:t>http://animalia-life.com/dogs.html</a:t>
            </a:r>
            <a:r>
              <a:rPr lang="en"/>
              <a:t>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9"/>
        <p:cNvGrpSpPr/>
        <p:nvPr/>
      </p:nvGrpSpPr>
      <p:grpSpPr>
        <a:xfrm>
          <a:off x="0" y="0"/>
          <a:ext cx="0" cy="0"/>
          <a:chOff x="0" y="0"/>
          <a:chExt cx="0" cy="0"/>
        </a:xfrm>
      </p:grpSpPr>
      <p:sp>
        <p:nvSpPr>
          <p:cNvPr id="1140" name="Google Shape;1140;g769a55e71_0_84: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1" name="Google Shape;1141;g769a55e71_0_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u="sng">
                <a:solidFill>
                  <a:schemeClr val="hlink"/>
                </a:solidFill>
                <a:hlinkClick r:id="rId3"/>
              </a:rPr>
              <a:t>https://docs.google.com/forms/d/e/1FAIpQLSfwjP1UTp38YwotowMSNR169vrEFAPzckl_v83omPc2tf_9KQ/viewform</a:t>
            </a:r>
            <a:r>
              <a:rPr lang="en"/>
              <a:t>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5"/>
        <p:cNvGrpSpPr/>
        <p:nvPr/>
      </p:nvGrpSpPr>
      <p:grpSpPr>
        <a:xfrm>
          <a:off x="0" y="0"/>
          <a:ext cx="0" cy="0"/>
          <a:chOff x="0" y="0"/>
          <a:chExt cx="0" cy="0"/>
        </a:xfrm>
      </p:grpSpPr>
      <p:sp>
        <p:nvSpPr>
          <p:cNvPr id="1146" name="Google Shape;1146;g769a55e71_0_131: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7" name="Google Shape;1147;g769a55e71_0_1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1"/>
        <p:cNvGrpSpPr/>
        <p:nvPr/>
      </p:nvGrpSpPr>
      <p:grpSpPr>
        <a:xfrm>
          <a:off x="0" y="0"/>
          <a:ext cx="0" cy="0"/>
          <a:chOff x="0" y="0"/>
          <a:chExt cx="0" cy="0"/>
        </a:xfrm>
      </p:grpSpPr>
      <p:sp>
        <p:nvSpPr>
          <p:cNvPr id="1152" name="Google Shape;1152;g769a55e71_0_32: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3" name="Google Shape;1153;g769a55e71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8"/>
        <p:cNvGrpSpPr/>
        <p:nvPr/>
      </p:nvGrpSpPr>
      <p:grpSpPr>
        <a:xfrm>
          <a:off x="0" y="0"/>
          <a:ext cx="0" cy="0"/>
          <a:chOff x="0" y="0"/>
          <a:chExt cx="0" cy="0"/>
        </a:xfrm>
      </p:grpSpPr>
      <p:sp>
        <p:nvSpPr>
          <p:cNvPr id="1199" name="Google Shape;1199;g12b7767647_0_377: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0" name="Google Shape;1200;g12b7767647_0_3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4"/>
        <p:cNvGrpSpPr/>
        <p:nvPr/>
      </p:nvGrpSpPr>
      <p:grpSpPr>
        <a:xfrm>
          <a:off x="0" y="0"/>
          <a:ext cx="0" cy="0"/>
          <a:chOff x="0" y="0"/>
          <a:chExt cx="0" cy="0"/>
        </a:xfrm>
      </p:grpSpPr>
      <p:sp>
        <p:nvSpPr>
          <p:cNvPr id="1205" name="Google Shape;1205;g12b7767647_0_382: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6" name="Google Shape;1206;g12b7767647_0_3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0"/>
        <p:cNvGrpSpPr/>
        <p:nvPr/>
      </p:nvGrpSpPr>
      <p:grpSpPr>
        <a:xfrm>
          <a:off x="0" y="0"/>
          <a:ext cx="0" cy="0"/>
          <a:chOff x="0" y="0"/>
          <a:chExt cx="0" cy="0"/>
        </a:xfrm>
      </p:grpSpPr>
      <p:sp>
        <p:nvSpPr>
          <p:cNvPr id="1211" name="Google Shape;1211;g769a55e71_0_5: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2" name="Google Shape;1212;g769a55e71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6"/>
        <p:cNvGrpSpPr/>
        <p:nvPr/>
      </p:nvGrpSpPr>
      <p:grpSpPr>
        <a:xfrm>
          <a:off x="0" y="0"/>
          <a:ext cx="0" cy="0"/>
          <a:chOff x="0" y="0"/>
          <a:chExt cx="0" cy="0"/>
        </a:xfrm>
      </p:grpSpPr>
      <p:sp>
        <p:nvSpPr>
          <p:cNvPr id="1217" name="Google Shape;1217;g299dddd6748_0_1140: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8" name="Google Shape;1218;g299dddd6748_0_11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2"/>
        <p:cNvGrpSpPr/>
        <p:nvPr/>
      </p:nvGrpSpPr>
      <p:grpSpPr>
        <a:xfrm>
          <a:off x="0" y="0"/>
          <a:ext cx="0" cy="0"/>
          <a:chOff x="0" y="0"/>
          <a:chExt cx="0" cy="0"/>
        </a:xfrm>
      </p:grpSpPr>
      <p:sp>
        <p:nvSpPr>
          <p:cNvPr id="1223" name="Google Shape;1223;g2fc129f8d_0_338: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4" name="Google Shape;1224;g2fc129f8d_0_3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9"/>
        <p:cNvGrpSpPr/>
        <p:nvPr/>
      </p:nvGrpSpPr>
      <p:grpSpPr>
        <a:xfrm>
          <a:off x="0" y="0"/>
          <a:ext cx="0" cy="0"/>
          <a:chOff x="0" y="0"/>
          <a:chExt cx="0" cy="0"/>
        </a:xfrm>
      </p:grpSpPr>
      <p:sp>
        <p:nvSpPr>
          <p:cNvPr id="1230" name="Google Shape;1230;g22e11717095_0_196: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1" name="Google Shape;1231;g22e11717095_0_1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6"/>
        <p:cNvGrpSpPr/>
        <p:nvPr/>
      </p:nvGrpSpPr>
      <p:grpSpPr>
        <a:xfrm>
          <a:off x="0" y="0"/>
          <a:ext cx="0" cy="0"/>
          <a:chOff x="0" y="0"/>
          <a:chExt cx="0" cy="0"/>
        </a:xfrm>
      </p:grpSpPr>
      <p:sp>
        <p:nvSpPr>
          <p:cNvPr id="1237" name="Google Shape;1237;g12b7767647_0_403: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8" name="Google Shape;1238;g12b7767647_0_4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1"/>
        <p:cNvGrpSpPr/>
        <p:nvPr/>
      </p:nvGrpSpPr>
      <p:grpSpPr>
        <a:xfrm>
          <a:off x="0" y="0"/>
          <a:ext cx="0" cy="0"/>
          <a:chOff x="0" y="0"/>
          <a:chExt cx="0" cy="0"/>
        </a:xfrm>
      </p:grpSpPr>
      <p:sp>
        <p:nvSpPr>
          <p:cNvPr id="1252" name="Google Shape;1252;g12b7767647_0_423: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3" name="Google Shape;1253;g12b7767647_0_4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0"/>
        <p:cNvGrpSpPr/>
        <p:nvPr/>
      </p:nvGrpSpPr>
      <p:grpSpPr>
        <a:xfrm>
          <a:off x="0" y="0"/>
          <a:ext cx="0" cy="0"/>
          <a:chOff x="0" y="0"/>
          <a:chExt cx="0" cy="0"/>
        </a:xfrm>
      </p:grpSpPr>
      <p:sp>
        <p:nvSpPr>
          <p:cNvPr id="1261" name="Google Shape;1261;g12b7767647_0_123: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2" name="Google Shape;1262;g12b7767647_0_1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4"/>
        <p:cNvGrpSpPr/>
        <p:nvPr/>
      </p:nvGrpSpPr>
      <p:grpSpPr>
        <a:xfrm>
          <a:off x="0" y="0"/>
          <a:ext cx="0" cy="0"/>
          <a:chOff x="0" y="0"/>
          <a:chExt cx="0" cy="0"/>
        </a:xfrm>
      </p:grpSpPr>
      <p:sp>
        <p:nvSpPr>
          <p:cNvPr id="1275" name="Google Shape;1275;g12b7767647_0_172: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6" name="Google Shape;1276;g12b7767647_0_1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8"/>
        <p:cNvGrpSpPr/>
        <p:nvPr/>
      </p:nvGrpSpPr>
      <p:grpSpPr>
        <a:xfrm>
          <a:off x="0" y="0"/>
          <a:ext cx="0" cy="0"/>
          <a:chOff x="0" y="0"/>
          <a:chExt cx="0" cy="0"/>
        </a:xfrm>
      </p:grpSpPr>
      <p:sp>
        <p:nvSpPr>
          <p:cNvPr id="1289" name="Google Shape;1289;g2fc129f8d_0_78: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0" name="Google Shape;1290;g2fc129f8d_0_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5"/>
        <p:cNvGrpSpPr/>
        <p:nvPr/>
      </p:nvGrpSpPr>
      <p:grpSpPr>
        <a:xfrm>
          <a:off x="0" y="0"/>
          <a:ext cx="0" cy="0"/>
          <a:chOff x="0" y="0"/>
          <a:chExt cx="0" cy="0"/>
        </a:xfrm>
      </p:grpSpPr>
      <p:sp>
        <p:nvSpPr>
          <p:cNvPr id="1296" name="Google Shape;1296;g12b7767647_0_343: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7" name="Google Shape;1297;g12b7767647_0_3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1"/>
        <p:cNvGrpSpPr/>
        <p:nvPr/>
      </p:nvGrpSpPr>
      <p:grpSpPr>
        <a:xfrm>
          <a:off x="0" y="0"/>
          <a:ext cx="0" cy="0"/>
          <a:chOff x="0" y="0"/>
          <a:chExt cx="0" cy="0"/>
        </a:xfrm>
      </p:grpSpPr>
      <p:sp>
        <p:nvSpPr>
          <p:cNvPr id="1302" name="Google Shape;1302;g22e11717095_0_202: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3" name="Google Shape;1303;g22e11717095_0_2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8"/>
        <p:cNvGrpSpPr/>
        <p:nvPr/>
      </p:nvGrpSpPr>
      <p:grpSpPr>
        <a:xfrm>
          <a:off x="0" y="0"/>
          <a:ext cx="0" cy="0"/>
          <a:chOff x="0" y="0"/>
          <a:chExt cx="0" cy="0"/>
        </a:xfrm>
      </p:grpSpPr>
      <p:sp>
        <p:nvSpPr>
          <p:cNvPr id="1309" name="Google Shape;1309;g5679cbc1d0_0_60: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0" name="Google Shape;1310;g5679cbc1d0_0_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4"/>
        <p:cNvGrpSpPr/>
        <p:nvPr/>
      </p:nvGrpSpPr>
      <p:grpSpPr>
        <a:xfrm>
          <a:off x="0" y="0"/>
          <a:ext cx="0" cy="0"/>
          <a:chOff x="0" y="0"/>
          <a:chExt cx="0" cy="0"/>
        </a:xfrm>
      </p:grpSpPr>
      <p:sp>
        <p:nvSpPr>
          <p:cNvPr id="1315" name="Google Shape;1315;g25f6b67fe8e_0_14: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6" name="Google Shape;1316;g25f6b67fe8e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1"/>
        <p:cNvGrpSpPr/>
        <p:nvPr/>
      </p:nvGrpSpPr>
      <p:grpSpPr>
        <a:xfrm>
          <a:off x="0" y="0"/>
          <a:ext cx="0" cy="0"/>
          <a:chOff x="0" y="0"/>
          <a:chExt cx="0" cy="0"/>
        </a:xfrm>
      </p:grpSpPr>
      <p:sp>
        <p:nvSpPr>
          <p:cNvPr id="1322" name="Google Shape;1322;g12b7767647_0_243: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3" name="Google Shape;1323;g12b7767647_0_2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7"/>
        <p:cNvGrpSpPr/>
        <p:nvPr/>
      </p:nvGrpSpPr>
      <p:grpSpPr>
        <a:xfrm>
          <a:off x="0" y="0"/>
          <a:ext cx="0" cy="0"/>
          <a:chOff x="0" y="0"/>
          <a:chExt cx="0" cy="0"/>
        </a:xfrm>
      </p:grpSpPr>
      <p:sp>
        <p:nvSpPr>
          <p:cNvPr id="1328" name="Google Shape;1328;g12b7767647_0_248: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9" name="Google Shape;1329;g12b7767647_0_2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4"/>
        <p:cNvGrpSpPr/>
        <p:nvPr/>
      </p:nvGrpSpPr>
      <p:grpSpPr>
        <a:xfrm>
          <a:off x="0" y="0"/>
          <a:ext cx="0" cy="0"/>
          <a:chOff x="0" y="0"/>
          <a:chExt cx="0" cy="0"/>
        </a:xfrm>
      </p:grpSpPr>
      <p:sp>
        <p:nvSpPr>
          <p:cNvPr id="1335" name="Google Shape;1335;g12b7767647_0_254: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6" name="Google Shape;1336;g12b7767647_0_2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1"/>
        <p:cNvGrpSpPr/>
        <p:nvPr/>
      </p:nvGrpSpPr>
      <p:grpSpPr>
        <a:xfrm>
          <a:off x="0" y="0"/>
          <a:ext cx="0" cy="0"/>
          <a:chOff x="0" y="0"/>
          <a:chExt cx="0" cy="0"/>
        </a:xfrm>
      </p:grpSpPr>
      <p:sp>
        <p:nvSpPr>
          <p:cNvPr id="1342" name="Google Shape;1342;g12b7767647_0_260: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43" name="Google Shape;1343;g12b7767647_0_2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8"/>
        <p:cNvGrpSpPr/>
        <p:nvPr/>
      </p:nvGrpSpPr>
      <p:grpSpPr>
        <a:xfrm>
          <a:off x="0" y="0"/>
          <a:ext cx="0" cy="0"/>
          <a:chOff x="0" y="0"/>
          <a:chExt cx="0" cy="0"/>
        </a:xfrm>
      </p:grpSpPr>
      <p:sp>
        <p:nvSpPr>
          <p:cNvPr id="1349" name="Google Shape;1349;g12b7767647_0_266: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50" name="Google Shape;1350;g12b7767647_0_2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6"/>
        <p:cNvGrpSpPr/>
        <p:nvPr/>
      </p:nvGrpSpPr>
      <p:grpSpPr>
        <a:xfrm>
          <a:off x="0" y="0"/>
          <a:ext cx="0" cy="0"/>
          <a:chOff x="0" y="0"/>
          <a:chExt cx="0" cy="0"/>
        </a:xfrm>
      </p:grpSpPr>
      <p:sp>
        <p:nvSpPr>
          <p:cNvPr id="1357" name="Google Shape;1357;g12b7767647_0_273: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58" name="Google Shape;1358;g12b7767647_0_2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2"/>
        <p:cNvGrpSpPr/>
        <p:nvPr/>
      </p:nvGrpSpPr>
      <p:grpSpPr>
        <a:xfrm>
          <a:off x="0" y="0"/>
          <a:ext cx="0" cy="0"/>
          <a:chOff x="0" y="0"/>
          <a:chExt cx="0" cy="0"/>
        </a:xfrm>
      </p:grpSpPr>
      <p:sp>
        <p:nvSpPr>
          <p:cNvPr id="1363" name="Google Shape;1363;g12b7767647_0_278: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4" name="Google Shape;1364;g12b7767647_0_2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9"/>
        <p:cNvGrpSpPr/>
        <p:nvPr/>
      </p:nvGrpSpPr>
      <p:grpSpPr>
        <a:xfrm>
          <a:off x="0" y="0"/>
          <a:ext cx="0" cy="0"/>
          <a:chOff x="0" y="0"/>
          <a:chExt cx="0" cy="0"/>
        </a:xfrm>
      </p:grpSpPr>
      <p:sp>
        <p:nvSpPr>
          <p:cNvPr id="1370" name="Google Shape;1370;g12b7767647_0_284: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71" name="Google Shape;1371;g12b7767647_0_2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6"/>
        <p:cNvGrpSpPr/>
        <p:nvPr/>
      </p:nvGrpSpPr>
      <p:grpSpPr>
        <a:xfrm>
          <a:off x="0" y="0"/>
          <a:ext cx="0" cy="0"/>
          <a:chOff x="0" y="0"/>
          <a:chExt cx="0" cy="0"/>
        </a:xfrm>
      </p:grpSpPr>
      <p:sp>
        <p:nvSpPr>
          <p:cNvPr id="1377" name="Google Shape;1377;g12b7767647_0_290: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78" name="Google Shape;1378;g12b7767647_0_2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3"/>
        <p:cNvGrpSpPr/>
        <p:nvPr/>
      </p:nvGrpSpPr>
      <p:grpSpPr>
        <a:xfrm>
          <a:off x="0" y="0"/>
          <a:ext cx="0" cy="0"/>
          <a:chOff x="0" y="0"/>
          <a:chExt cx="0" cy="0"/>
        </a:xfrm>
      </p:grpSpPr>
      <p:sp>
        <p:nvSpPr>
          <p:cNvPr id="1384" name="Google Shape;1384;g12b7767647_0_296: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5" name="Google Shape;1385;g12b7767647_0_2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0"/>
        <p:cNvGrpSpPr/>
        <p:nvPr/>
      </p:nvGrpSpPr>
      <p:grpSpPr>
        <a:xfrm>
          <a:off x="0" y="0"/>
          <a:ext cx="0" cy="0"/>
          <a:chOff x="0" y="0"/>
          <a:chExt cx="0" cy="0"/>
        </a:xfrm>
      </p:grpSpPr>
      <p:sp>
        <p:nvSpPr>
          <p:cNvPr id="1391" name="Google Shape;1391;g12b7767647_0_302: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92" name="Google Shape;1392;g12b7767647_0_3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7"/>
        <p:cNvGrpSpPr/>
        <p:nvPr/>
      </p:nvGrpSpPr>
      <p:grpSpPr>
        <a:xfrm>
          <a:off x="0" y="0"/>
          <a:ext cx="0" cy="0"/>
          <a:chOff x="0" y="0"/>
          <a:chExt cx="0" cy="0"/>
        </a:xfrm>
      </p:grpSpPr>
      <p:sp>
        <p:nvSpPr>
          <p:cNvPr id="1398" name="Google Shape;1398;g12b7767647_0_308: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99" name="Google Shape;1399;g12b7767647_0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0"/>
        <p:cNvGrpSpPr/>
        <p:nvPr/>
      </p:nvGrpSpPr>
      <p:grpSpPr>
        <a:xfrm>
          <a:off x="0" y="0"/>
          <a:ext cx="0" cy="0"/>
          <a:chOff x="0" y="0"/>
          <a:chExt cx="0" cy="0"/>
        </a:xfrm>
      </p:grpSpPr>
      <p:sp>
        <p:nvSpPr>
          <p:cNvPr id="11" name="Google Shape;11;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rtl="0">
              <a:spcBef>
                <a:spcPts val="0"/>
              </a:spcBef>
              <a:spcAft>
                <a:spcPts val="0"/>
              </a:spcAft>
              <a:buSzPts val="4400"/>
              <a:buNone/>
              <a:defRPr sz="4400"/>
            </a:lvl1pPr>
            <a:lvl2pPr lvl="1" rtl="0">
              <a:spcBef>
                <a:spcPts val="0"/>
              </a:spcBef>
              <a:spcAft>
                <a:spcPts val="0"/>
              </a:spcAft>
              <a:buSzPts val="4400"/>
              <a:buNone/>
              <a:defRPr sz="4400"/>
            </a:lvl2pPr>
            <a:lvl3pPr lvl="2" rtl="0">
              <a:spcBef>
                <a:spcPts val="0"/>
              </a:spcBef>
              <a:spcAft>
                <a:spcPts val="0"/>
              </a:spcAft>
              <a:buSzPts val="4400"/>
              <a:buNone/>
              <a:defRPr sz="4400"/>
            </a:lvl3pPr>
            <a:lvl4pPr lvl="3" rtl="0">
              <a:spcBef>
                <a:spcPts val="0"/>
              </a:spcBef>
              <a:spcAft>
                <a:spcPts val="0"/>
              </a:spcAft>
              <a:buSzPts val="4400"/>
              <a:buNone/>
              <a:defRPr sz="4400"/>
            </a:lvl4pPr>
            <a:lvl5pPr lvl="4" rtl="0">
              <a:spcBef>
                <a:spcPts val="0"/>
              </a:spcBef>
              <a:spcAft>
                <a:spcPts val="0"/>
              </a:spcAft>
              <a:buSzPts val="4400"/>
              <a:buNone/>
              <a:defRPr sz="4400"/>
            </a:lvl5pPr>
            <a:lvl6pPr lvl="5" rtl="0">
              <a:spcBef>
                <a:spcPts val="0"/>
              </a:spcBef>
              <a:spcAft>
                <a:spcPts val="0"/>
              </a:spcAft>
              <a:buSzPts val="4400"/>
              <a:buNone/>
              <a:defRPr sz="4400"/>
            </a:lvl6pPr>
            <a:lvl7pPr lvl="6" rtl="0">
              <a:spcBef>
                <a:spcPts val="0"/>
              </a:spcBef>
              <a:spcAft>
                <a:spcPts val="0"/>
              </a:spcAft>
              <a:buSzPts val="4400"/>
              <a:buNone/>
              <a:defRPr sz="4400"/>
            </a:lvl7pPr>
            <a:lvl8pPr lvl="7" rtl="0">
              <a:spcBef>
                <a:spcPts val="0"/>
              </a:spcBef>
              <a:spcAft>
                <a:spcPts val="0"/>
              </a:spcAft>
              <a:buSzPts val="4400"/>
              <a:buNone/>
              <a:defRPr sz="4400"/>
            </a:lvl8pPr>
            <a:lvl9pPr lvl="8" rtl="0">
              <a:spcBef>
                <a:spcPts val="0"/>
              </a:spcBef>
              <a:spcAft>
                <a:spcPts val="0"/>
              </a:spcAft>
              <a:buSzPts val="4400"/>
              <a:buNone/>
              <a:defRPr sz="4400"/>
            </a:lvl9pPr>
          </a:lstStyle>
          <a:p>
            <a:endParaRPr/>
          </a:p>
        </p:txBody>
      </p:sp>
      <p:sp>
        <p:nvSpPr>
          <p:cNvPr id="12" name="Google Shape;12;p2"/>
          <p:cNvSpPr txBox="1">
            <a:spLocks noGrp="1"/>
          </p:cNvSpPr>
          <p:nvPr>
            <p:ph type="subTitle" idx="1"/>
          </p:nvPr>
        </p:nvSpPr>
        <p:spPr>
          <a:xfrm>
            <a:off x="311700" y="2834125"/>
            <a:ext cx="8520600" cy="1536300"/>
          </a:xfrm>
          <a:prstGeom prst="rect">
            <a:avLst/>
          </a:prstGeom>
        </p:spPr>
        <p:txBody>
          <a:bodyPr spcFirstLastPara="1" wrap="square" lIns="91425" tIns="91425" rIns="91425" bIns="91425" anchor="t" anchorCtr="0">
            <a:noAutofit/>
          </a:bodyPr>
          <a:lstStyle>
            <a:lvl1pPr lvl="0"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1pPr>
            <a:lvl2pPr lvl="1"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2pPr>
            <a:lvl3pPr lvl="2"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3pPr>
            <a:lvl4pPr lvl="3"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4pPr>
            <a:lvl5pPr lvl="4"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5pPr>
            <a:lvl6pPr lvl="5"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6pPr>
            <a:lvl7pPr lvl="6"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7pPr>
            <a:lvl8pPr lvl="7"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8pPr>
            <a:lvl9pPr lvl="8"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9pPr>
          </a:lstStyle>
          <a:p>
            <a:endParaRPr/>
          </a:p>
        </p:txBody>
      </p:sp>
      <p:sp>
        <p:nvSpPr>
          <p:cNvPr id="13" name="Google Shape;13;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4"/>
        <p:cNvGrpSpPr/>
        <p:nvPr/>
      </p:nvGrpSpPr>
      <p:grpSpPr>
        <a:xfrm>
          <a:off x="0" y="0"/>
          <a:ext cx="0" cy="0"/>
          <a:chOff x="0" y="0"/>
          <a:chExt cx="0" cy="0"/>
        </a:xfrm>
      </p:grpSpPr>
      <p:sp>
        <p:nvSpPr>
          <p:cNvPr id="15" name="Google Shape;15;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6" name="Google Shape;16;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17" name="Google Shape;17;p3"/>
          <p:cNvSpPr txBox="1">
            <a:spLocks noGrp="1"/>
          </p:cNvSpPr>
          <p:nvPr>
            <p:ph type="subTitle" idx="1"/>
          </p:nvPr>
        </p:nvSpPr>
        <p:spPr>
          <a:xfrm>
            <a:off x="311700" y="2834125"/>
            <a:ext cx="8520600" cy="1536300"/>
          </a:xfrm>
          <a:prstGeom prst="rect">
            <a:avLst/>
          </a:prstGeom>
        </p:spPr>
        <p:txBody>
          <a:bodyPr spcFirstLastPara="1" wrap="square" lIns="91425" tIns="91425" rIns="91425" bIns="91425" anchor="t" anchorCtr="0">
            <a:noAutofit/>
          </a:bodyPr>
          <a:lstStyle>
            <a:lvl1pPr lvl="0"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1pPr>
            <a:lvl2pPr lvl="1"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2pPr>
            <a:lvl3pPr lvl="2"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3pPr>
            <a:lvl4pPr lvl="3"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4pPr>
            <a:lvl5pPr lvl="4"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5pPr>
            <a:lvl6pPr lvl="5"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6pPr>
            <a:lvl7pPr lvl="6"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7pPr>
            <a:lvl8pPr lvl="7"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8pPr>
            <a:lvl9pPr lvl="8"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8"/>
        <p:cNvGrpSpPr/>
        <p:nvPr/>
      </p:nvGrpSpPr>
      <p:grpSpPr>
        <a:xfrm>
          <a:off x="0" y="0"/>
          <a:ext cx="0" cy="0"/>
          <a:chOff x="0" y="0"/>
          <a:chExt cx="0" cy="0"/>
        </a:xfrm>
      </p:grpSpPr>
      <p:sp>
        <p:nvSpPr>
          <p:cNvPr id="19" name="Google Shape;19;p4"/>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b="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0" name="Google Shape;20;p4"/>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Char char="●"/>
              <a:defRPr/>
            </a:lvl1pPr>
            <a:lvl2pPr marL="914400" lvl="1" indent="-342900" rtl="0">
              <a:spcBef>
                <a:spcPts val="600"/>
              </a:spcBef>
              <a:spcAft>
                <a:spcPts val="0"/>
              </a:spcAft>
              <a:buSzPts val="1800"/>
              <a:buChar char="○"/>
              <a:defRPr/>
            </a:lvl2pPr>
            <a:lvl3pPr marL="1371600" lvl="2" indent="-342900" rtl="0">
              <a:spcBef>
                <a:spcPts val="600"/>
              </a:spcBef>
              <a:spcAft>
                <a:spcPts val="0"/>
              </a:spcAft>
              <a:buSzPts val="1800"/>
              <a:buChar char="■"/>
              <a:defRPr/>
            </a:lvl3pPr>
            <a:lvl4pPr marL="1828800" lvl="3" indent="-342900" rtl="0">
              <a:spcBef>
                <a:spcPts val="600"/>
              </a:spcBef>
              <a:spcAft>
                <a:spcPts val="0"/>
              </a:spcAft>
              <a:buSzPts val="1800"/>
              <a:buChar char="●"/>
              <a:defRPr/>
            </a:lvl4pPr>
            <a:lvl5pPr marL="2286000" lvl="4" indent="-342900" rtl="0">
              <a:spcBef>
                <a:spcPts val="600"/>
              </a:spcBef>
              <a:spcAft>
                <a:spcPts val="0"/>
              </a:spcAft>
              <a:buSzPts val="1800"/>
              <a:buChar char="○"/>
              <a:defRPr/>
            </a:lvl5pPr>
            <a:lvl6pPr marL="2743200" lvl="5" indent="-342900" rtl="0">
              <a:spcBef>
                <a:spcPts val="600"/>
              </a:spcBef>
              <a:spcAft>
                <a:spcPts val="0"/>
              </a:spcAft>
              <a:buSzPts val="1800"/>
              <a:buChar char="■"/>
              <a:defRPr/>
            </a:lvl6pPr>
            <a:lvl7pPr marL="3200400" lvl="6" indent="-342900" rtl="0">
              <a:spcBef>
                <a:spcPts val="600"/>
              </a:spcBef>
              <a:spcAft>
                <a:spcPts val="0"/>
              </a:spcAft>
              <a:buSzPts val="1800"/>
              <a:buChar char="●"/>
              <a:defRPr/>
            </a:lvl7pPr>
            <a:lvl8pPr marL="3657600" lvl="7" indent="-342900" rtl="0">
              <a:spcBef>
                <a:spcPts val="600"/>
              </a:spcBef>
              <a:spcAft>
                <a:spcPts val="0"/>
              </a:spcAft>
              <a:buSzPts val="1800"/>
              <a:buChar char="○"/>
              <a:defRPr/>
            </a:lvl8pPr>
            <a:lvl9pPr marL="4114800" lvl="8" indent="-342900" rtl="0">
              <a:spcBef>
                <a:spcPts val="600"/>
              </a:spcBef>
              <a:spcAft>
                <a:spcPts val="0"/>
              </a:spcAft>
              <a:buSzPts val="1800"/>
              <a:buChar char="■"/>
              <a:defRPr/>
            </a:lvl9pPr>
          </a:lstStyle>
          <a:p>
            <a:endParaRPr/>
          </a:p>
        </p:txBody>
      </p:sp>
      <p:sp>
        <p:nvSpPr>
          <p:cNvPr id="21" name="Google Shape;21;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cxnSp>
        <p:nvCxnSpPr>
          <p:cNvPr id="22" name="Google Shape;22;p4"/>
          <p:cNvCxnSpPr/>
          <p:nvPr/>
        </p:nvCxnSpPr>
        <p:spPr>
          <a:xfrm>
            <a:off x="95431" y="402210"/>
            <a:ext cx="8909700" cy="0"/>
          </a:xfrm>
          <a:prstGeom prst="straightConnector1">
            <a:avLst/>
          </a:prstGeom>
          <a:noFill/>
          <a:ln w="19050" cap="flat" cmpd="sng">
            <a:solidFill>
              <a:srgbClr val="BF9000"/>
            </a:solidFill>
            <a:prstDash val="solid"/>
            <a:round/>
            <a:headEnd type="none" w="med" len="med"/>
            <a:tailEnd type="none" w="med" len="med"/>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Roadmap">
  <p:cSld name="SECTION_TITLE_AND_DESCRIPTION_1">
    <p:spTree>
      <p:nvGrpSpPr>
        <p:cNvPr id="1" name="Shape 23"/>
        <p:cNvGrpSpPr/>
        <p:nvPr/>
      </p:nvGrpSpPr>
      <p:grpSpPr>
        <a:xfrm>
          <a:off x="0" y="0"/>
          <a:ext cx="0" cy="0"/>
          <a:chOff x="0" y="0"/>
          <a:chExt cx="0" cy="0"/>
        </a:xfrm>
      </p:grpSpPr>
      <p:sp>
        <p:nvSpPr>
          <p:cNvPr id="24" name="Google Shape;24;p5"/>
          <p:cNvSpPr/>
          <p:nvPr/>
        </p:nvSpPr>
        <p:spPr>
          <a:xfrm>
            <a:off x="0" y="-125"/>
            <a:ext cx="4572000" cy="5143500"/>
          </a:xfrm>
          <a:prstGeom prst="rect">
            <a:avLst/>
          </a:prstGeom>
          <a:solidFill>
            <a:srgbClr val="CFE2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26" name="Google Shape;26;p5"/>
          <p:cNvSpPr txBox="1">
            <a:spLocks noGrp="1"/>
          </p:cNvSpPr>
          <p:nvPr>
            <p:ph type="body" idx="1"/>
          </p:nvPr>
        </p:nvSpPr>
        <p:spPr>
          <a:xfrm>
            <a:off x="4812375" y="402198"/>
            <a:ext cx="3999900" cy="4260900"/>
          </a:xfrm>
          <a:prstGeom prst="rect">
            <a:avLst/>
          </a:prstGeom>
        </p:spPr>
        <p:txBody>
          <a:bodyPr spcFirstLastPara="1" wrap="square" lIns="91425" tIns="91425" rIns="91425" bIns="91425" anchor="ctr" anchorCtr="0">
            <a:noAutofit/>
          </a:bodyPr>
          <a:lstStyle>
            <a:lvl1pPr marL="457200" lvl="0" indent="-3429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1pPr>
            <a:lvl2pPr marL="914400" lvl="1" indent="-3429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2pPr>
            <a:lvl3pPr marL="1371600" lvl="2" indent="-3429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3pPr>
            <a:lvl4pPr marL="1828800" lvl="3" indent="-3429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4pPr>
            <a:lvl5pPr marL="2286000" lvl="4" indent="-3429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5pPr>
            <a:lvl6pPr marL="2743200" lvl="5" indent="-3429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6pPr>
            <a:lvl7pPr marL="3200400" lvl="6" indent="-3429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7pPr>
            <a:lvl8pPr marL="3657600" lvl="7" indent="-3429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8pPr>
            <a:lvl9pPr marL="4114800" lvl="8" indent="-3429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9pPr>
          </a:lstStyle>
          <a:p>
            <a:endParaRPr/>
          </a:p>
        </p:txBody>
      </p:sp>
      <p:pic>
        <p:nvPicPr>
          <p:cNvPr id="27" name="Google Shape;27;p5"/>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28" name="Google Shape;28;p5"/>
          <p:cNvSpPr txBox="1">
            <a:spLocks noGrp="1"/>
          </p:cNvSpPr>
          <p:nvPr>
            <p:ph type="title"/>
          </p:nvPr>
        </p:nvSpPr>
        <p:spPr>
          <a:xfrm>
            <a:off x="177925" y="2003300"/>
            <a:ext cx="4038000" cy="2037900"/>
          </a:xfrm>
          <a:prstGeom prst="rect">
            <a:avLst/>
          </a:prstGeom>
        </p:spPr>
        <p:txBody>
          <a:bodyPr spcFirstLastPara="1" wrap="square" lIns="91425" tIns="91425" rIns="91425" bIns="91425" anchor="b" anchorCtr="0">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cxnSp>
        <p:nvCxnSpPr>
          <p:cNvPr id="29" name="Google Shape;29;p5"/>
          <p:cNvCxnSpPr/>
          <p:nvPr/>
        </p:nvCxnSpPr>
        <p:spPr>
          <a:xfrm>
            <a:off x="266975" y="4049175"/>
            <a:ext cx="4038000" cy="0"/>
          </a:xfrm>
          <a:prstGeom prst="straightConnector1">
            <a:avLst/>
          </a:prstGeom>
          <a:noFill/>
          <a:ln w="19050" cap="flat" cmpd="sng">
            <a:solidFill>
              <a:srgbClr val="BF9000"/>
            </a:solidFill>
            <a:prstDash val="solid"/>
            <a:round/>
            <a:headEnd type="none" w="med" len="med"/>
            <a:tailEnd type="none" w="med" len="med"/>
          </a:ln>
        </p:spPr>
      </p:cxnSp>
      <p:sp>
        <p:nvSpPr>
          <p:cNvPr id="30" name="Google Shape;30;p5"/>
          <p:cNvSpPr txBox="1">
            <a:spLocks noGrp="1"/>
          </p:cNvSpPr>
          <p:nvPr>
            <p:ph type="subTitle" idx="2"/>
          </p:nvPr>
        </p:nvSpPr>
        <p:spPr>
          <a:xfrm>
            <a:off x="177925" y="4068000"/>
            <a:ext cx="4158000" cy="393600"/>
          </a:xfrm>
          <a:prstGeom prst="rect">
            <a:avLst/>
          </a:prstGeom>
        </p:spPr>
        <p:txBody>
          <a:bodyPr spcFirstLastPara="1" wrap="square" lIns="91425" tIns="91425" rIns="91425" bIns="91425" anchor="ctr" anchorCtr="0">
            <a:noAutofit/>
          </a:bodyPr>
          <a:lstStyle>
            <a:lvl1pPr lvl="0" rtl="0">
              <a:lnSpc>
                <a:spcPct val="100000"/>
              </a:lnSpc>
              <a:spcBef>
                <a:spcPts val="600"/>
              </a:spcBef>
              <a:spcAft>
                <a:spcPts val="0"/>
              </a:spcAft>
              <a:buSzPts val="1800"/>
              <a:buNone/>
              <a:defRPr/>
            </a:lvl1pPr>
            <a:lvl2pPr lvl="1" rtl="0">
              <a:lnSpc>
                <a:spcPct val="100000"/>
              </a:lnSpc>
              <a:spcBef>
                <a:spcPts val="600"/>
              </a:spcBef>
              <a:spcAft>
                <a:spcPts val="0"/>
              </a:spcAft>
              <a:buSzPts val="2100"/>
              <a:buNone/>
              <a:defRPr sz="2100"/>
            </a:lvl2pPr>
            <a:lvl3pPr lvl="2" rtl="0">
              <a:lnSpc>
                <a:spcPct val="100000"/>
              </a:lnSpc>
              <a:spcBef>
                <a:spcPts val="600"/>
              </a:spcBef>
              <a:spcAft>
                <a:spcPts val="0"/>
              </a:spcAft>
              <a:buSzPts val="2100"/>
              <a:buNone/>
              <a:defRPr sz="2100"/>
            </a:lvl3pPr>
            <a:lvl4pPr lvl="3" rtl="0">
              <a:lnSpc>
                <a:spcPct val="100000"/>
              </a:lnSpc>
              <a:spcBef>
                <a:spcPts val="600"/>
              </a:spcBef>
              <a:spcAft>
                <a:spcPts val="0"/>
              </a:spcAft>
              <a:buSzPts val="2100"/>
              <a:buNone/>
              <a:defRPr sz="2100"/>
            </a:lvl4pPr>
            <a:lvl5pPr lvl="4" rtl="0">
              <a:lnSpc>
                <a:spcPct val="100000"/>
              </a:lnSpc>
              <a:spcBef>
                <a:spcPts val="600"/>
              </a:spcBef>
              <a:spcAft>
                <a:spcPts val="0"/>
              </a:spcAft>
              <a:buSzPts val="2100"/>
              <a:buNone/>
              <a:defRPr sz="2100"/>
            </a:lvl5pPr>
            <a:lvl6pPr lvl="5" rtl="0">
              <a:lnSpc>
                <a:spcPct val="100000"/>
              </a:lnSpc>
              <a:spcBef>
                <a:spcPts val="600"/>
              </a:spcBef>
              <a:spcAft>
                <a:spcPts val="0"/>
              </a:spcAft>
              <a:buSzPts val="2100"/>
              <a:buNone/>
              <a:defRPr sz="2100"/>
            </a:lvl6pPr>
            <a:lvl7pPr lvl="6" rtl="0">
              <a:lnSpc>
                <a:spcPct val="100000"/>
              </a:lnSpc>
              <a:spcBef>
                <a:spcPts val="600"/>
              </a:spcBef>
              <a:spcAft>
                <a:spcPts val="0"/>
              </a:spcAft>
              <a:buSzPts val="2100"/>
              <a:buNone/>
              <a:defRPr sz="2100"/>
            </a:lvl7pPr>
            <a:lvl8pPr lvl="7" rtl="0">
              <a:lnSpc>
                <a:spcPct val="100000"/>
              </a:lnSpc>
              <a:spcBef>
                <a:spcPts val="600"/>
              </a:spcBef>
              <a:spcAft>
                <a:spcPts val="0"/>
              </a:spcAft>
              <a:buSzPts val="2100"/>
              <a:buNone/>
              <a:defRPr sz="2100"/>
            </a:lvl8pPr>
            <a:lvl9pPr lvl="8" rtl="0">
              <a:lnSpc>
                <a:spcPct val="100000"/>
              </a:lnSpc>
              <a:spcBef>
                <a:spcPts val="600"/>
              </a:spcBef>
              <a:spcAft>
                <a:spcPts val="0"/>
              </a:spcAft>
              <a:buSzPts val="2100"/>
              <a:buNone/>
              <a:defRPr sz="2100"/>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Demo slide right">
  <p:cSld name="SECTION_TITLE_AND_DESCRIPTION_2">
    <p:spTree>
      <p:nvGrpSpPr>
        <p:cNvPr id="1" name="Shape 31"/>
        <p:cNvGrpSpPr/>
        <p:nvPr/>
      </p:nvGrpSpPr>
      <p:grpSpPr>
        <a:xfrm>
          <a:off x="0" y="0"/>
          <a:ext cx="0" cy="0"/>
          <a:chOff x="0" y="0"/>
          <a:chExt cx="0" cy="0"/>
        </a:xfrm>
      </p:grpSpPr>
      <p:sp>
        <p:nvSpPr>
          <p:cNvPr id="32" name="Google Shape;32;p6"/>
          <p:cNvSpPr/>
          <p:nvPr/>
        </p:nvSpPr>
        <p:spPr>
          <a:xfrm>
            <a:off x="4572000" y="-125"/>
            <a:ext cx="4572000" cy="5143500"/>
          </a:xfrm>
          <a:prstGeom prst="rect">
            <a:avLst/>
          </a:prstGeom>
          <a:solidFill>
            <a:srgbClr val="CFE2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6"/>
          <p:cNvSpPr txBox="1">
            <a:spLocks noGrp="1"/>
          </p:cNvSpPr>
          <p:nvPr>
            <p:ph type="subTitle" idx="1"/>
          </p:nvPr>
        </p:nvSpPr>
        <p:spPr>
          <a:xfrm>
            <a:off x="4835400" y="4198275"/>
            <a:ext cx="4045200" cy="465000"/>
          </a:xfrm>
          <a:prstGeom prst="rect">
            <a:avLst/>
          </a:prstGeom>
        </p:spPr>
        <p:txBody>
          <a:bodyPr spcFirstLastPara="1" wrap="square" lIns="91425" tIns="91425" rIns="91425" bIns="91425" anchor="t" anchorCtr="0">
            <a:noAutofit/>
          </a:bodyPr>
          <a:lstStyle>
            <a:lvl1pPr lvl="0" algn="r" rtl="0">
              <a:lnSpc>
                <a:spcPct val="100000"/>
              </a:lnSpc>
              <a:spcBef>
                <a:spcPts val="600"/>
              </a:spcBef>
              <a:spcAft>
                <a:spcPts val="0"/>
              </a:spcAft>
              <a:buSzPts val="1800"/>
              <a:buNone/>
              <a:defRPr/>
            </a:lvl1pPr>
            <a:lvl2pPr lvl="1" algn="ctr" rtl="0">
              <a:lnSpc>
                <a:spcPct val="100000"/>
              </a:lnSpc>
              <a:spcBef>
                <a:spcPts val="600"/>
              </a:spcBef>
              <a:spcAft>
                <a:spcPts val="0"/>
              </a:spcAft>
              <a:buSzPts val="2100"/>
              <a:buNone/>
              <a:defRPr sz="2100"/>
            </a:lvl2pPr>
            <a:lvl3pPr lvl="2" algn="ctr" rtl="0">
              <a:lnSpc>
                <a:spcPct val="100000"/>
              </a:lnSpc>
              <a:spcBef>
                <a:spcPts val="600"/>
              </a:spcBef>
              <a:spcAft>
                <a:spcPts val="0"/>
              </a:spcAft>
              <a:buSzPts val="2100"/>
              <a:buNone/>
              <a:defRPr sz="2100"/>
            </a:lvl3pPr>
            <a:lvl4pPr lvl="3" algn="ctr" rtl="0">
              <a:lnSpc>
                <a:spcPct val="100000"/>
              </a:lnSpc>
              <a:spcBef>
                <a:spcPts val="600"/>
              </a:spcBef>
              <a:spcAft>
                <a:spcPts val="0"/>
              </a:spcAft>
              <a:buSzPts val="2100"/>
              <a:buNone/>
              <a:defRPr sz="2100"/>
            </a:lvl4pPr>
            <a:lvl5pPr lvl="4" algn="ctr" rtl="0">
              <a:lnSpc>
                <a:spcPct val="100000"/>
              </a:lnSpc>
              <a:spcBef>
                <a:spcPts val="600"/>
              </a:spcBef>
              <a:spcAft>
                <a:spcPts val="0"/>
              </a:spcAft>
              <a:buSzPts val="2100"/>
              <a:buNone/>
              <a:defRPr sz="2100"/>
            </a:lvl5pPr>
            <a:lvl6pPr lvl="5" algn="ctr" rtl="0">
              <a:lnSpc>
                <a:spcPct val="100000"/>
              </a:lnSpc>
              <a:spcBef>
                <a:spcPts val="600"/>
              </a:spcBef>
              <a:spcAft>
                <a:spcPts val="0"/>
              </a:spcAft>
              <a:buSzPts val="2100"/>
              <a:buNone/>
              <a:defRPr sz="2100"/>
            </a:lvl6pPr>
            <a:lvl7pPr lvl="6" algn="ctr" rtl="0">
              <a:lnSpc>
                <a:spcPct val="100000"/>
              </a:lnSpc>
              <a:spcBef>
                <a:spcPts val="600"/>
              </a:spcBef>
              <a:spcAft>
                <a:spcPts val="0"/>
              </a:spcAft>
              <a:buSzPts val="2100"/>
              <a:buNone/>
              <a:defRPr sz="2100"/>
            </a:lvl7pPr>
            <a:lvl8pPr lvl="7" algn="ctr" rtl="0">
              <a:lnSpc>
                <a:spcPct val="100000"/>
              </a:lnSpc>
              <a:spcBef>
                <a:spcPts val="600"/>
              </a:spcBef>
              <a:spcAft>
                <a:spcPts val="0"/>
              </a:spcAft>
              <a:buSzPts val="2100"/>
              <a:buNone/>
              <a:defRPr sz="2100"/>
            </a:lvl8pPr>
            <a:lvl9pPr lvl="8" algn="ctr" rtl="0">
              <a:lnSpc>
                <a:spcPct val="100000"/>
              </a:lnSpc>
              <a:spcBef>
                <a:spcPts val="600"/>
              </a:spcBef>
              <a:spcAft>
                <a:spcPts val="0"/>
              </a:spcAft>
              <a:buSzPts val="2100"/>
              <a:buNone/>
              <a:defRPr sz="2100"/>
            </a:lvl9pPr>
          </a:lstStyle>
          <a:p>
            <a:endParaRPr/>
          </a:p>
        </p:txBody>
      </p:sp>
      <p:sp>
        <p:nvSpPr>
          <p:cNvPr id="34" name="Google Shape;34;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35" name="Google Shape;35;p6"/>
          <p:cNvSpPr txBox="1"/>
          <p:nvPr/>
        </p:nvSpPr>
        <p:spPr>
          <a:xfrm>
            <a:off x="6365900" y="3724875"/>
            <a:ext cx="2591100" cy="5694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en" sz="2500" b="1">
                <a:solidFill>
                  <a:schemeClr val="accent3"/>
                </a:solidFill>
                <a:latin typeface="Roboto"/>
                <a:ea typeface="Roboto"/>
                <a:cs typeface="Roboto"/>
                <a:sym typeface="Roboto"/>
              </a:rPr>
              <a:t>Demo Slides</a:t>
            </a:r>
            <a:endParaRPr sz="2500" b="1">
              <a:solidFill>
                <a:schemeClr val="accent3"/>
              </a:solidFill>
              <a:latin typeface="Roboto"/>
              <a:ea typeface="Roboto"/>
              <a:cs typeface="Roboto"/>
              <a:sym typeface="Roboto"/>
            </a:endParaRPr>
          </a:p>
        </p:txBody>
      </p:sp>
      <p:sp>
        <p:nvSpPr>
          <p:cNvPr id="36" name="Google Shape;36;p6"/>
          <p:cNvSpPr txBox="1">
            <a:spLocks noGrp="1"/>
          </p:cNvSpPr>
          <p:nvPr>
            <p:ph type="body" idx="2"/>
          </p:nvPr>
        </p:nvSpPr>
        <p:spPr>
          <a:xfrm>
            <a:off x="95425" y="402200"/>
            <a:ext cx="4302300" cy="42612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Font typeface="Roboto Light"/>
              <a:buChar char="•"/>
              <a:defRPr>
                <a:latin typeface="Roboto Light"/>
                <a:ea typeface="Roboto Light"/>
                <a:cs typeface="Roboto Light"/>
                <a:sym typeface="Roboto Light"/>
              </a:defRPr>
            </a:lvl1pPr>
            <a:lvl2pPr marL="914400" lvl="1" indent="-342900" rtl="0">
              <a:spcBef>
                <a:spcPts val="600"/>
              </a:spcBef>
              <a:spcAft>
                <a:spcPts val="0"/>
              </a:spcAft>
              <a:buSzPts val="1800"/>
              <a:buFont typeface="Roboto Light"/>
              <a:buChar char="•"/>
              <a:defRPr>
                <a:latin typeface="Roboto Light"/>
                <a:ea typeface="Roboto Light"/>
                <a:cs typeface="Roboto Light"/>
                <a:sym typeface="Roboto Light"/>
              </a:defRPr>
            </a:lvl2pPr>
            <a:lvl3pPr marL="1371600" lvl="2" indent="-342900" rtl="0">
              <a:spcBef>
                <a:spcPts val="600"/>
              </a:spcBef>
              <a:spcAft>
                <a:spcPts val="0"/>
              </a:spcAft>
              <a:buSzPts val="1800"/>
              <a:buFont typeface="Roboto Light"/>
              <a:buChar char="•"/>
              <a:defRPr>
                <a:latin typeface="Roboto Light"/>
                <a:ea typeface="Roboto Light"/>
                <a:cs typeface="Roboto Light"/>
                <a:sym typeface="Roboto Light"/>
              </a:defRPr>
            </a:lvl3pPr>
            <a:lvl4pPr marL="1828800" lvl="3" indent="-342900" rtl="0">
              <a:spcBef>
                <a:spcPts val="600"/>
              </a:spcBef>
              <a:spcAft>
                <a:spcPts val="0"/>
              </a:spcAft>
              <a:buSzPts val="1800"/>
              <a:buFont typeface="Roboto Light"/>
              <a:buChar char="•"/>
              <a:defRPr>
                <a:latin typeface="Roboto Light"/>
                <a:ea typeface="Roboto Light"/>
                <a:cs typeface="Roboto Light"/>
                <a:sym typeface="Roboto Light"/>
              </a:defRPr>
            </a:lvl4pPr>
            <a:lvl5pPr marL="2286000" lvl="4" indent="-342900" rtl="0">
              <a:spcBef>
                <a:spcPts val="600"/>
              </a:spcBef>
              <a:spcAft>
                <a:spcPts val="0"/>
              </a:spcAft>
              <a:buSzPts val="1800"/>
              <a:buFont typeface="Roboto Light"/>
              <a:buChar char="•"/>
              <a:defRPr>
                <a:latin typeface="Roboto Light"/>
                <a:ea typeface="Roboto Light"/>
                <a:cs typeface="Roboto Light"/>
                <a:sym typeface="Roboto Light"/>
              </a:defRPr>
            </a:lvl5pPr>
            <a:lvl6pPr marL="2743200" lvl="5" indent="-342900" rtl="0">
              <a:spcBef>
                <a:spcPts val="600"/>
              </a:spcBef>
              <a:spcAft>
                <a:spcPts val="0"/>
              </a:spcAft>
              <a:buSzPts val="1800"/>
              <a:buFont typeface="Roboto Light"/>
              <a:buChar char="•"/>
              <a:defRPr>
                <a:latin typeface="Roboto Light"/>
                <a:ea typeface="Roboto Light"/>
                <a:cs typeface="Roboto Light"/>
                <a:sym typeface="Roboto Light"/>
              </a:defRPr>
            </a:lvl6pPr>
            <a:lvl7pPr marL="3200400" lvl="6" indent="-342900" rtl="0">
              <a:spcBef>
                <a:spcPts val="600"/>
              </a:spcBef>
              <a:spcAft>
                <a:spcPts val="0"/>
              </a:spcAft>
              <a:buSzPts val="1800"/>
              <a:buFont typeface="Roboto Light"/>
              <a:buChar char="•"/>
              <a:defRPr>
                <a:latin typeface="Roboto Light"/>
                <a:ea typeface="Roboto Light"/>
                <a:cs typeface="Roboto Light"/>
                <a:sym typeface="Roboto Light"/>
              </a:defRPr>
            </a:lvl7pPr>
            <a:lvl8pPr marL="3657600" lvl="7" indent="-342900" rtl="0">
              <a:spcBef>
                <a:spcPts val="600"/>
              </a:spcBef>
              <a:spcAft>
                <a:spcPts val="0"/>
              </a:spcAft>
              <a:buSzPts val="1800"/>
              <a:buFont typeface="Roboto Light"/>
              <a:buChar char="•"/>
              <a:defRPr>
                <a:latin typeface="Roboto Light"/>
                <a:ea typeface="Roboto Light"/>
                <a:cs typeface="Roboto Light"/>
                <a:sym typeface="Roboto Light"/>
              </a:defRPr>
            </a:lvl8pPr>
            <a:lvl9pPr marL="4114800" lvl="8" indent="-342900" rtl="0">
              <a:spcBef>
                <a:spcPts val="600"/>
              </a:spcBef>
              <a:spcAft>
                <a:spcPts val="0"/>
              </a:spcAft>
              <a:buSzPts val="1800"/>
              <a:buFont typeface="Roboto Light"/>
              <a:buChar char="•"/>
              <a:defRPr>
                <a:latin typeface="Roboto Light"/>
                <a:ea typeface="Roboto Light"/>
                <a:cs typeface="Roboto Light"/>
                <a:sym typeface="Roboto Light"/>
              </a:defRPr>
            </a:lvl9pPr>
          </a:lstStyle>
          <a:p>
            <a:endParaRPr/>
          </a:p>
        </p:txBody>
      </p:sp>
      <p:sp>
        <p:nvSpPr>
          <p:cNvPr id="37" name="Google Shape;37;p6"/>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cxnSp>
        <p:nvCxnSpPr>
          <p:cNvPr id="38" name="Google Shape;38;p6"/>
          <p:cNvCxnSpPr/>
          <p:nvPr/>
        </p:nvCxnSpPr>
        <p:spPr>
          <a:xfrm>
            <a:off x="95431" y="402210"/>
            <a:ext cx="4352100" cy="0"/>
          </a:xfrm>
          <a:prstGeom prst="straightConnector1">
            <a:avLst/>
          </a:prstGeom>
          <a:noFill/>
          <a:ln w="19050" cap="flat" cmpd="sng">
            <a:solidFill>
              <a:srgbClr val="BF9000"/>
            </a:solidFill>
            <a:prstDash val="solid"/>
            <a:round/>
            <a:headEnd type="none" w="med" len="med"/>
            <a:tailEnd type="none" w="med" len="med"/>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Demo slide left">
  <p:cSld name="SECTION_TITLE_AND_DESCRIPTION_2_1">
    <p:spTree>
      <p:nvGrpSpPr>
        <p:cNvPr id="1" name="Shape 39"/>
        <p:cNvGrpSpPr/>
        <p:nvPr/>
      </p:nvGrpSpPr>
      <p:grpSpPr>
        <a:xfrm>
          <a:off x="0" y="0"/>
          <a:ext cx="0" cy="0"/>
          <a:chOff x="0" y="0"/>
          <a:chExt cx="0" cy="0"/>
        </a:xfrm>
      </p:grpSpPr>
      <p:sp>
        <p:nvSpPr>
          <p:cNvPr id="40" name="Google Shape;40;p7"/>
          <p:cNvSpPr/>
          <p:nvPr/>
        </p:nvSpPr>
        <p:spPr>
          <a:xfrm>
            <a:off x="0" y="-125"/>
            <a:ext cx="4572000" cy="5143500"/>
          </a:xfrm>
          <a:prstGeom prst="rect">
            <a:avLst/>
          </a:prstGeom>
          <a:solidFill>
            <a:srgbClr val="FDF6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7"/>
          <p:cNvSpPr txBox="1">
            <a:spLocks noGrp="1"/>
          </p:cNvSpPr>
          <p:nvPr>
            <p:ph type="subTitle" idx="1"/>
          </p:nvPr>
        </p:nvSpPr>
        <p:spPr>
          <a:xfrm>
            <a:off x="225450" y="3943400"/>
            <a:ext cx="4045200" cy="465000"/>
          </a:xfrm>
          <a:prstGeom prst="rect">
            <a:avLst/>
          </a:prstGeom>
        </p:spPr>
        <p:txBody>
          <a:bodyPr spcFirstLastPara="1" wrap="square" lIns="91425" tIns="91425" rIns="91425" bIns="91425" anchor="t" anchorCtr="0">
            <a:noAutofit/>
          </a:bodyPr>
          <a:lstStyle>
            <a:lvl1pPr lvl="0" rtl="0">
              <a:lnSpc>
                <a:spcPct val="100000"/>
              </a:lnSpc>
              <a:spcBef>
                <a:spcPts val="600"/>
              </a:spcBef>
              <a:spcAft>
                <a:spcPts val="0"/>
              </a:spcAft>
              <a:buSzPts val="1800"/>
              <a:buNone/>
              <a:defRPr/>
            </a:lvl1pPr>
            <a:lvl2pPr lvl="1" algn="ctr" rtl="0">
              <a:lnSpc>
                <a:spcPct val="100000"/>
              </a:lnSpc>
              <a:spcBef>
                <a:spcPts val="600"/>
              </a:spcBef>
              <a:spcAft>
                <a:spcPts val="0"/>
              </a:spcAft>
              <a:buSzPts val="2100"/>
              <a:buNone/>
              <a:defRPr sz="2100"/>
            </a:lvl2pPr>
            <a:lvl3pPr lvl="2" algn="ctr" rtl="0">
              <a:lnSpc>
                <a:spcPct val="100000"/>
              </a:lnSpc>
              <a:spcBef>
                <a:spcPts val="600"/>
              </a:spcBef>
              <a:spcAft>
                <a:spcPts val="0"/>
              </a:spcAft>
              <a:buSzPts val="2100"/>
              <a:buNone/>
              <a:defRPr sz="2100"/>
            </a:lvl3pPr>
            <a:lvl4pPr lvl="3" algn="ctr" rtl="0">
              <a:lnSpc>
                <a:spcPct val="100000"/>
              </a:lnSpc>
              <a:spcBef>
                <a:spcPts val="600"/>
              </a:spcBef>
              <a:spcAft>
                <a:spcPts val="0"/>
              </a:spcAft>
              <a:buSzPts val="2100"/>
              <a:buNone/>
              <a:defRPr sz="2100"/>
            </a:lvl4pPr>
            <a:lvl5pPr lvl="4" algn="ctr" rtl="0">
              <a:lnSpc>
                <a:spcPct val="100000"/>
              </a:lnSpc>
              <a:spcBef>
                <a:spcPts val="600"/>
              </a:spcBef>
              <a:spcAft>
                <a:spcPts val="0"/>
              </a:spcAft>
              <a:buSzPts val="2100"/>
              <a:buNone/>
              <a:defRPr sz="2100"/>
            </a:lvl5pPr>
            <a:lvl6pPr lvl="5" algn="ctr" rtl="0">
              <a:lnSpc>
                <a:spcPct val="100000"/>
              </a:lnSpc>
              <a:spcBef>
                <a:spcPts val="600"/>
              </a:spcBef>
              <a:spcAft>
                <a:spcPts val="0"/>
              </a:spcAft>
              <a:buSzPts val="2100"/>
              <a:buNone/>
              <a:defRPr sz="2100"/>
            </a:lvl6pPr>
            <a:lvl7pPr lvl="6" algn="ctr" rtl="0">
              <a:lnSpc>
                <a:spcPct val="100000"/>
              </a:lnSpc>
              <a:spcBef>
                <a:spcPts val="600"/>
              </a:spcBef>
              <a:spcAft>
                <a:spcPts val="0"/>
              </a:spcAft>
              <a:buSzPts val="2100"/>
              <a:buNone/>
              <a:defRPr sz="2100"/>
            </a:lvl7pPr>
            <a:lvl8pPr lvl="7" algn="ctr" rtl="0">
              <a:lnSpc>
                <a:spcPct val="100000"/>
              </a:lnSpc>
              <a:spcBef>
                <a:spcPts val="600"/>
              </a:spcBef>
              <a:spcAft>
                <a:spcPts val="0"/>
              </a:spcAft>
              <a:buSzPts val="2100"/>
              <a:buNone/>
              <a:defRPr sz="2100"/>
            </a:lvl8pPr>
            <a:lvl9pPr lvl="8" algn="ctr" rtl="0">
              <a:lnSpc>
                <a:spcPct val="100000"/>
              </a:lnSpc>
              <a:spcBef>
                <a:spcPts val="600"/>
              </a:spcBef>
              <a:spcAft>
                <a:spcPts val="0"/>
              </a:spcAft>
              <a:buSzPts val="2100"/>
              <a:buNone/>
              <a:defRPr sz="2100"/>
            </a:lvl9pPr>
          </a:lstStyle>
          <a:p>
            <a:endParaRPr/>
          </a:p>
        </p:txBody>
      </p:sp>
      <p:sp>
        <p:nvSpPr>
          <p:cNvPr id="42" name="Google Shape;42;p7"/>
          <p:cNvSpPr txBox="1"/>
          <p:nvPr/>
        </p:nvSpPr>
        <p:spPr>
          <a:xfrm>
            <a:off x="208440" y="3420075"/>
            <a:ext cx="4121700" cy="569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500" b="1">
                <a:solidFill>
                  <a:schemeClr val="accent3"/>
                </a:solidFill>
                <a:latin typeface="Roboto"/>
                <a:ea typeface="Roboto"/>
                <a:cs typeface="Roboto"/>
                <a:sym typeface="Roboto"/>
              </a:rPr>
              <a:t>Demo Slides</a:t>
            </a:r>
            <a:endParaRPr sz="2500" b="1">
              <a:solidFill>
                <a:schemeClr val="accent3"/>
              </a:solidFill>
              <a:latin typeface="Roboto"/>
              <a:ea typeface="Roboto"/>
              <a:cs typeface="Roboto"/>
              <a:sym typeface="Roboto"/>
            </a:endParaRPr>
          </a:p>
        </p:txBody>
      </p:sp>
      <p:sp>
        <p:nvSpPr>
          <p:cNvPr id="43" name="Google Shape;43;p7"/>
          <p:cNvSpPr txBox="1">
            <a:spLocks noGrp="1"/>
          </p:cNvSpPr>
          <p:nvPr>
            <p:ph type="body" idx="2"/>
          </p:nvPr>
        </p:nvSpPr>
        <p:spPr>
          <a:xfrm>
            <a:off x="4667425" y="402200"/>
            <a:ext cx="4302300" cy="42612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Font typeface="Roboto Light"/>
              <a:buChar char="•"/>
              <a:defRPr>
                <a:latin typeface="Roboto Light"/>
                <a:ea typeface="Roboto Light"/>
                <a:cs typeface="Roboto Light"/>
                <a:sym typeface="Roboto Light"/>
              </a:defRPr>
            </a:lvl1pPr>
            <a:lvl2pPr marL="914400" lvl="1" indent="-342900" rtl="0">
              <a:spcBef>
                <a:spcPts val="600"/>
              </a:spcBef>
              <a:spcAft>
                <a:spcPts val="0"/>
              </a:spcAft>
              <a:buSzPts val="1800"/>
              <a:buFont typeface="Roboto Light"/>
              <a:buChar char="•"/>
              <a:defRPr>
                <a:latin typeface="Roboto Light"/>
                <a:ea typeface="Roboto Light"/>
                <a:cs typeface="Roboto Light"/>
                <a:sym typeface="Roboto Light"/>
              </a:defRPr>
            </a:lvl2pPr>
            <a:lvl3pPr marL="1371600" lvl="2" indent="-342900" rtl="0">
              <a:spcBef>
                <a:spcPts val="600"/>
              </a:spcBef>
              <a:spcAft>
                <a:spcPts val="0"/>
              </a:spcAft>
              <a:buSzPts val="1800"/>
              <a:buFont typeface="Roboto Light"/>
              <a:buChar char="•"/>
              <a:defRPr>
                <a:latin typeface="Roboto Light"/>
                <a:ea typeface="Roboto Light"/>
                <a:cs typeface="Roboto Light"/>
                <a:sym typeface="Roboto Light"/>
              </a:defRPr>
            </a:lvl3pPr>
            <a:lvl4pPr marL="1828800" lvl="3" indent="-342900" rtl="0">
              <a:spcBef>
                <a:spcPts val="600"/>
              </a:spcBef>
              <a:spcAft>
                <a:spcPts val="0"/>
              </a:spcAft>
              <a:buSzPts val="1800"/>
              <a:buFont typeface="Roboto Light"/>
              <a:buChar char="•"/>
              <a:defRPr>
                <a:latin typeface="Roboto Light"/>
                <a:ea typeface="Roboto Light"/>
                <a:cs typeface="Roboto Light"/>
                <a:sym typeface="Roboto Light"/>
              </a:defRPr>
            </a:lvl4pPr>
            <a:lvl5pPr marL="2286000" lvl="4" indent="-342900" rtl="0">
              <a:spcBef>
                <a:spcPts val="600"/>
              </a:spcBef>
              <a:spcAft>
                <a:spcPts val="0"/>
              </a:spcAft>
              <a:buSzPts val="1800"/>
              <a:buFont typeface="Roboto Light"/>
              <a:buChar char="•"/>
              <a:defRPr>
                <a:latin typeface="Roboto Light"/>
                <a:ea typeface="Roboto Light"/>
                <a:cs typeface="Roboto Light"/>
                <a:sym typeface="Roboto Light"/>
              </a:defRPr>
            </a:lvl5pPr>
            <a:lvl6pPr marL="2743200" lvl="5" indent="-342900" rtl="0">
              <a:spcBef>
                <a:spcPts val="600"/>
              </a:spcBef>
              <a:spcAft>
                <a:spcPts val="0"/>
              </a:spcAft>
              <a:buSzPts val="1800"/>
              <a:buFont typeface="Roboto Light"/>
              <a:buChar char="•"/>
              <a:defRPr>
                <a:latin typeface="Roboto Light"/>
                <a:ea typeface="Roboto Light"/>
                <a:cs typeface="Roboto Light"/>
                <a:sym typeface="Roboto Light"/>
              </a:defRPr>
            </a:lvl6pPr>
            <a:lvl7pPr marL="3200400" lvl="6" indent="-342900" rtl="0">
              <a:spcBef>
                <a:spcPts val="600"/>
              </a:spcBef>
              <a:spcAft>
                <a:spcPts val="0"/>
              </a:spcAft>
              <a:buSzPts val="1800"/>
              <a:buFont typeface="Roboto Light"/>
              <a:buChar char="•"/>
              <a:defRPr>
                <a:latin typeface="Roboto Light"/>
                <a:ea typeface="Roboto Light"/>
                <a:cs typeface="Roboto Light"/>
                <a:sym typeface="Roboto Light"/>
              </a:defRPr>
            </a:lvl7pPr>
            <a:lvl8pPr marL="3657600" lvl="7" indent="-342900" rtl="0">
              <a:spcBef>
                <a:spcPts val="600"/>
              </a:spcBef>
              <a:spcAft>
                <a:spcPts val="0"/>
              </a:spcAft>
              <a:buSzPts val="1800"/>
              <a:buFont typeface="Roboto Light"/>
              <a:buChar char="•"/>
              <a:defRPr>
                <a:latin typeface="Roboto Light"/>
                <a:ea typeface="Roboto Light"/>
                <a:cs typeface="Roboto Light"/>
                <a:sym typeface="Roboto Light"/>
              </a:defRPr>
            </a:lvl8pPr>
            <a:lvl9pPr marL="4114800" lvl="8" indent="-342900" rtl="0">
              <a:spcBef>
                <a:spcPts val="600"/>
              </a:spcBef>
              <a:spcAft>
                <a:spcPts val="0"/>
              </a:spcAft>
              <a:buSzPts val="1800"/>
              <a:buFont typeface="Roboto Light"/>
              <a:buChar char="•"/>
              <a:defRPr>
                <a:latin typeface="Roboto Light"/>
                <a:ea typeface="Roboto Light"/>
                <a:cs typeface="Roboto Light"/>
                <a:sym typeface="Roboto Light"/>
              </a:defRPr>
            </a:lvl9pPr>
          </a:lstStyle>
          <a:p>
            <a:endParaRPr/>
          </a:p>
        </p:txBody>
      </p:sp>
      <p:sp>
        <p:nvSpPr>
          <p:cNvPr id="44" name="Google Shape;44;p7"/>
          <p:cNvSpPr txBox="1">
            <a:spLocks noGrp="1"/>
          </p:cNvSpPr>
          <p:nvPr>
            <p:ph type="title"/>
          </p:nvPr>
        </p:nvSpPr>
        <p:spPr>
          <a:xfrm>
            <a:off x="4572000" y="0"/>
            <a:ext cx="4572000" cy="3936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cxnSp>
        <p:nvCxnSpPr>
          <p:cNvPr id="45" name="Google Shape;45;p7"/>
          <p:cNvCxnSpPr/>
          <p:nvPr/>
        </p:nvCxnSpPr>
        <p:spPr>
          <a:xfrm>
            <a:off x="4667431" y="402210"/>
            <a:ext cx="4352100" cy="0"/>
          </a:xfrm>
          <a:prstGeom prst="straightConnector1">
            <a:avLst/>
          </a:prstGeom>
          <a:noFill/>
          <a:ln w="19050" cap="flat" cmpd="sng">
            <a:solidFill>
              <a:srgbClr val="BF9000"/>
            </a:solidFill>
            <a:prstDash val="solid"/>
            <a:round/>
            <a:headEnd type="none" w="med" len="med"/>
            <a:tailEnd type="none" w="med" len="med"/>
          </a:ln>
        </p:spPr>
      </p:cxnSp>
      <p:pic>
        <p:nvPicPr>
          <p:cNvPr id="46" name="Google Shape;46;p7"/>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47" name="Google Shape;47;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Wide Puzzle">
  <p:cSld name="SECTION_TITLE_AND_DESCRIPTION_2_1_1">
    <p:spTree>
      <p:nvGrpSpPr>
        <p:cNvPr id="1" name="Shape 48"/>
        <p:cNvGrpSpPr/>
        <p:nvPr/>
      </p:nvGrpSpPr>
      <p:grpSpPr>
        <a:xfrm>
          <a:off x="0" y="0"/>
          <a:ext cx="0" cy="0"/>
          <a:chOff x="0" y="0"/>
          <a:chExt cx="0" cy="0"/>
        </a:xfrm>
      </p:grpSpPr>
      <p:sp>
        <p:nvSpPr>
          <p:cNvPr id="49" name="Google Shape;49;p8"/>
          <p:cNvSpPr/>
          <p:nvPr/>
        </p:nvSpPr>
        <p:spPr>
          <a:xfrm>
            <a:off x="0" y="-125"/>
            <a:ext cx="2776500" cy="5143500"/>
          </a:xfrm>
          <a:prstGeom prst="rect">
            <a:avLst/>
          </a:prstGeom>
          <a:solidFill>
            <a:srgbClr val="FDF6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8"/>
          <p:cNvSpPr txBox="1">
            <a:spLocks noGrp="1"/>
          </p:cNvSpPr>
          <p:nvPr>
            <p:ph type="subTitle" idx="1"/>
          </p:nvPr>
        </p:nvSpPr>
        <p:spPr>
          <a:xfrm>
            <a:off x="225450" y="3943400"/>
            <a:ext cx="2450400" cy="719700"/>
          </a:xfrm>
          <a:prstGeom prst="rect">
            <a:avLst/>
          </a:prstGeom>
        </p:spPr>
        <p:txBody>
          <a:bodyPr spcFirstLastPara="1" wrap="square" lIns="91425" tIns="91425" rIns="91425" bIns="91425" anchor="t" anchorCtr="0">
            <a:noAutofit/>
          </a:bodyPr>
          <a:lstStyle>
            <a:lvl1pPr lvl="0" rtl="0">
              <a:lnSpc>
                <a:spcPct val="100000"/>
              </a:lnSpc>
              <a:spcBef>
                <a:spcPts val="600"/>
              </a:spcBef>
              <a:spcAft>
                <a:spcPts val="0"/>
              </a:spcAft>
              <a:buSzPts val="1800"/>
              <a:buNone/>
              <a:defRPr/>
            </a:lvl1pPr>
            <a:lvl2pPr lvl="1" algn="ctr" rtl="0">
              <a:lnSpc>
                <a:spcPct val="100000"/>
              </a:lnSpc>
              <a:spcBef>
                <a:spcPts val="600"/>
              </a:spcBef>
              <a:spcAft>
                <a:spcPts val="0"/>
              </a:spcAft>
              <a:buSzPts val="2100"/>
              <a:buNone/>
              <a:defRPr sz="2100"/>
            </a:lvl2pPr>
            <a:lvl3pPr lvl="2" algn="ctr" rtl="0">
              <a:lnSpc>
                <a:spcPct val="100000"/>
              </a:lnSpc>
              <a:spcBef>
                <a:spcPts val="600"/>
              </a:spcBef>
              <a:spcAft>
                <a:spcPts val="0"/>
              </a:spcAft>
              <a:buSzPts val="2100"/>
              <a:buNone/>
              <a:defRPr sz="2100"/>
            </a:lvl3pPr>
            <a:lvl4pPr lvl="3" algn="ctr" rtl="0">
              <a:lnSpc>
                <a:spcPct val="100000"/>
              </a:lnSpc>
              <a:spcBef>
                <a:spcPts val="600"/>
              </a:spcBef>
              <a:spcAft>
                <a:spcPts val="0"/>
              </a:spcAft>
              <a:buSzPts val="2100"/>
              <a:buNone/>
              <a:defRPr sz="2100"/>
            </a:lvl4pPr>
            <a:lvl5pPr lvl="4" algn="ctr" rtl="0">
              <a:lnSpc>
                <a:spcPct val="100000"/>
              </a:lnSpc>
              <a:spcBef>
                <a:spcPts val="600"/>
              </a:spcBef>
              <a:spcAft>
                <a:spcPts val="0"/>
              </a:spcAft>
              <a:buSzPts val="2100"/>
              <a:buNone/>
              <a:defRPr sz="2100"/>
            </a:lvl5pPr>
            <a:lvl6pPr lvl="5" algn="ctr" rtl="0">
              <a:lnSpc>
                <a:spcPct val="100000"/>
              </a:lnSpc>
              <a:spcBef>
                <a:spcPts val="600"/>
              </a:spcBef>
              <a:spcAft>
                <a:spcPts val="0"/>
              </a:spcAft>
              <a:buSzPts val="2100"/>
              <a:buNone/>
              <a:defRPr sz="2100"/>
            </a:lvl6pPr>
            <a:lvl7pPr lvl="6" algn="ctr" rtl="0">
              <a:lnSpc>
                <a:spcPct val="100000"/>
              </a:lnSpc>
              <a:spcBef>
                <a:spcPts val="600"/>
              </a:spcBef>
              <a:spcAft>
                <a:spcPts val="0"/>
              </a:spcAft>
              <a:buSzPts val="2100"/>
              <a:buNone/>
              <a:defRPr sz="2100"/>
            </a:lvl7pPr>
            <a:lvl8pPr lvl="7" algn="ctr" rtl="0">
              <a:lnSpc>
                <a:spcPct val="100000"/>
              </a:lnSpc>
              <a:spcBef>
                <a:spcPts val="600"/>
              </a:spcBef>
              <a:spcAft>
                <a:spcPts val="0"/>
              </a:spcAft>
              <a:buSzPts val="2100"/>
              <a:buNone/>
              <a:defRPr sz="2100"/>
            </a:lvl8pPr>
            <a:lvl9pPr lvl="8" algn="ctr" rtl="0">
              <a:lnSpc>
                <a:spcPct val="100000"/>
              </a:lnSpc>
              <a:spcBef>
                <a:spcPts val="600"/>
              </a:spcBef>
              <a:spcAft>
                <a:spcPts val="0"/>
              </a:spcAft>
              <a:buSzPts val="2100"/>
              <a:buNone/>
              <a:defRPr sz="2100"/>
            </a:lvl9pPr>
          </a:lstStyle>
          <a:p>
            <a:endParaRPr/>
          </a:p>
        </p:txBody>
      </p:sp>
      <p:sp>
        <p:nvSpPr>
          <p:cNvPr id="51" name="Google Shape;51;p8"/>
          <p:cNvSpPr txBox="1">
            <a:spLocks noGrp="1"/>
          </p:cNvSpPr>
          <p:nvPr>
            <p:ph type="body" idx="2"/>
          </p:nvPr>
        </p:nvSpPr>
        <p:spPr>
          <a:xfrm>
            <a:off x="2937350" y="402200"/>
            <a:ext cx="6032400" cy="42612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Font typeface="Roboto Light"/>
              <a:buChar char="•"/>
              <a:defRPr>
                <a:latin typeface="Roboto Light"/>
                <a:ea typeface="Roboto Light"/>
                <a:cs typeface="Roboto Light"/>
                <a:sym typeface="Roboto Light"/>
              </a:defRPr>
            </a:lvl1pPr>
            <a:lvl2pPr marL="914400" lvl="1" indent="-342900" rtl="0">
              <a:spcBef>
                <a:spcPts val="600"/>
              </a:spcBef>
              <a:spcAft>
                <a:spcPts val="0"/>
              </a:spcAft>
              <a:buSzPts val="1800"/>
              <a:buFont typeface="Roboto Light"/>
              <a:buChar char="•"/>
              <a:defRPr>
                <a:latin typeface="Roboto Light"/>
                <a:ea typeface="Roboto Light"/>
                <a:cs typeface="Roboto Light"/>
                <a:sym typeface="Roboto Light"/>
              </a:defRPr>
            </a:lvl2pPr>
            <a:lvl3pPr marL="1371600" lvl="2" indent="-342900" rtl="0">
              <a:spcBef>
                <a:spcPts val="600"/>
              </a:spcBef>
              <a:spcAft>
                <a:spcPts val="0"/>
              </a:spcAft>
              <a:buSzPts val="1800"/>
              <a:buFont typeface="Roboto Light"/>
              <a:buChar char="•"/>
              <a:defRPr>
                <a:latin typeface="Roboto Light"/>
                <a:ea typeface="Roboto Light"/>
                <a:cs typeface="Roboto Light"/>
                <a:sym typeface="Roboto Light"/>
              </a:defRPr>
            </a:lvl3pPr>
            <a:lvl4pPr marL="1828800" lvl="3" indent="-342900" rtl="0">
              <a:spcBef>
                <a:spcPts val="600"/>
              </a:spcBef>
              <a:spcAft>
                <a:spcPts val="0"/>
              </a:spcAft>
              <a:buSzPts val="1800"/>
              <a:buFont typeface="Roboto Light"/>
              <a:buChar char="•"/>
              <a:defRPr>
                <a:latin typeface="Roboto Light"/>
                <a:ea typeface="Roboto Light"/>
                <a:cs typeface="Roboto Light"/>
                <a:sym typeface="Roboto Light"/>
              </a:defRPr>
            </a:lvl4pPr>
            <a:lvl5pPr marL="2286000" lvl="4" indent="-342900" rtl="0">
              <a:spcBef>
                <a:spcPts val="600"/>
              </a:spcBef>
              <a:spcAft>
                <a:spcPts val="0"/>
              </a:spcAft>
              <a:buSzPts val="1800"/>
              <a:buFont typeface="Roboto Light"/>
              <a:buChar char="•"/>
              <a:defRPr>
                <a:latin typeface="Roboto Light"/>
                <a:ea typeface="Roboto Light"/>
                <a:cs typeface="Roboto Light"/>
                <a:sym typeface="Roboto Light"/>
              </a:defRPr>
            </a:lvl5pPr>
            <a:lvl6pPr marL="2743200" lvl="5" indent="-342900" rtl="0">
              <a:spcBef>
                <a:spcPts val="600"/>
              </a:spcBef>
              <a:spcAft>
                <a:spcPts val="0"/>
              </a:spcAft>
              <a:buSzPts val="1800"/>
              <a:buFont typeface="Roboto Light"/>
              <a:buChar char="•"/>
              <a:defRPr>
                <a:latin typeface="Roboto Light"/>
                <a:ea typeface="Roboto Light"/>
                <a:cs typeface="Roboto Light"/>
                <a:sym typeface="Roboto Light"/>
              </a:defRPr>
            </a:lvl6pPr>
            <a:lvl7pPr marL="3200400" lvl="6" indent="-342900" rtl="0">
              <a:spcBef>
                <a:spcPts val="600"/>
              </a:spcBef>
              <a:spcAft>
                <a:spcPts val="0"/>
              </a:spcAft>
              <a:buSzPts val="1800"/>
              <a:buFont typeface="Roboto Light"/>
              <a:buChar char="•"/>
              <a:defRPr>
                <a:latin typeface="Roboto Light"/>
                <a:ea typeface="Roboto Light"/>
                <a:cs typeface="Roboto Light"/>
                <a:sym typeface="Roboto Light"/>
              </a:defRPr>
            </a:lvl7pPr>
            <a:lvl8pPr marL="3657600" lvl="7" indent="-342900" rtl="0">
              <a:spcBef>
                <a:spcPts val="600"/>
              </a:spcBef>
              <a:spcAft>
                <a:spcPts val="0"/>
              </a:spcAft>
              <a:buSzPts val="1800"/>
              <a:buFont typeface="Roboto Light"/>
              <a:buChar char="•"/>
              <a:defRPr>
                <a:latin typeface="Roboto Light"/>
                <a:ea typeface="Roboto Light"/>
                <a:cs typeface="Roboto Light"/>
                <a:sym typeface="Roboto Light"/>
              </a:defRPr>
            </a:lvl8pPr>
            <a:lvl9pPr marL="4114800" lvl="8" indent="-342900" rtl="0">
              <a:spcBef>
                <a:spcPts val="600"/>
              </a:spcBef>
              <a:spcAft>
                <a:spcPts val="0"/>
              </a:spcAft>
              <a:buSzPts val="1800"/>
              <a:buFont typeface="Roboto Light"/>
              <a:buChar char="•"/>
              <a:defRPr>
                <a:latin typeface="Roboto Light"/>
                <a:ea typeface="Roboto Light"/>
                <a:cs typeface="Roboto Light"/>
                <a:sym typeface="Roboto Light"/>
              </a:defRPr>
            </a:lvl9pPr>
          </a:lstStyle>
          <a:p>
            <a:endParaRPr/>
          </a:p>
        </p:txBody>
      </p:sp>
      <p:sp>
        <p:nvSpPr>
          <p:cNvPr id="52" name="Google Shape;52;p8"/>
          <p:cNvSpPr txBox="1">
            <a:spLocks noGrp="1"/>
          </p:cNvSpPr>
          <p:nvPr>
            <p:ph type="title"/>
          </p:nvPr>
        </p:nvSpPr>
        <p:spPr>
          <a:xfrm>
            <a:off x="2776500" y="0"/>
            <a:ext cx="6367500" cy="3936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cxnSp>
        <p:nvCxnSpPr>
          <p:cNvPr id="53" name="Google Shape;53;p8"/>
          <p:cNvCxnSpPr/>
          <p:nvPr/>
        </p:nvCxnSpPr>
        <p:spPr>
          <a:xfrm>
            <a:off x="2937350" y="402200"/>
            <a:ext cx="6082200" cy="0"/>
          </a:xfrm>
          <a:prstGeom prst="straightConnector1">
            <a:avLst/>
          </a:prstGeom>
          <a:noFill/>
          <a:ln w="19050" cap="flat" cmpd="sng">
            <a:solidFill>
              <a:srgbClr val="BF9000"/>
            </a:solidFill>
            <a:prstDash val="solid"/>
            <a:round/>
            <a:headEnd type="none" w="med" len="med"/>
            <a:tailEnd type="none" w="med" len="med"/>
          </a:ln>
        </p:spPr>
      </p:cxnSp>
      <p:pic>
        <p:nvPicPr>
          <p:cNvPr id="54" name="Google Shape;54;p8"/>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55" name="Google Shape;55;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56" name="Google Shape;56;p8"/>
          <p:cNvSpPr txBox="1"/>
          <p:nvPr/>
        </p:nvSpPr>
        <p:spPr>
          <a:xfrm>
            <a:off x="208440" y="3420075"/>
            <a:ext cx="4121700" cy="569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500" b="1">
                <a:solidFill>
                  <a:schemeClr val="accent3"/>
                </a:solidFill>
                <a:latin typeface="Roboto"/>
                <a:ea typeface="Roboto"/>
                <a:cs typeface="Roboto"/>
                <a:sym typeface="Roboto"/>
              </a:rPr>
              <a:t>Demo</a:t>
            </a:r>
            <a:endParaRPr sz="2500" b="1">
              <a:solidFill>
                <a:schemeClr val="accent3"/>
              </a:solidFill>
              <a:latin typeface="Roboto"/>
              <a:ea typeface="Roboto"/>
              <a:cs typeface="Roboto"/>
              <a:sym typeface="Roboto"/>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Wide Puzzle 1">
  <p:cSld name="SECTION_TITLE_AND_DESCRIPTION_2_1_1_2">
    <p:spTree>
      <p:nvGrpSpPr>
        <p:cNvPr id="1" name="Shape 57"/>
        <p:cNvGrpSpPr/>
        <p:nvPr/>
      </p:nvGrpSpPr>
      <p:grpSpPr>
        <a:xfrm>
          <a:off x="0" y="0"/>
          <a:ext cx="0" cy="0"/>
          <a:chOff x="0" y="0"/>
          <a:chExt cx="0" cy="0"/>
        </a:xfrm>
      </p:grpSpPr>
      <p:sp>
        <p:nvSpPr>
          <p:cNvPr id="58" name="Google Shape;58;p9"/>
          <p:cNvSpPr/>
          <p:nvPr/>
        </p:nvSpPr>
        <p:spPr>
          <a:xfrm>
            <a:off x="0" y="-125"/>
            <a:ext cx="2776500" cy="5143500"/>
          </a:xfrm>
          <a:prstGeom prst="rect">
            <a:avLst/>
          </a:prstGeom>
          <a:solidFill>
            <a:srgbClr val="FDF6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9"/>
          <p:cNvSpPr txBox="1">
            <a:spLocks noGrp="1"/>
          </p:cNvSpPr>
          <p:nvPr>
            <p:ph type="subTitle" idx="1"/>
          </p:nvPr>
        </p:nvSpPr>
        <p:spPr>
          <a:xfrm>
            <a:off x="225450" y="3943400"/>
            <a:ext cx="2450400" cy="719700"/>
          </a:xfrm>
          <a:prstGeom prst="rect">
            <a:avLst/>
          </a:prstGeom>
        </p:spPr>
        <p:txBody>
          <a:bodyPr spcFirstLastPara="1" wrap="square" lIns="91425" tIns="91425" rIns="91425" bIns="91425" anchor="t" anchorCtr="0">
            <a:noAutofit/>
          </a:bodyPr>
          <a:lstStyle>
            <a:lvl1pPr lvl="0" rtl="0">
              <a:lnSpc>
                <a:spcPct val="100000"/>
              </a:lnSpc>
              <a:spcBef>
                <a:spcPts val="600"/>
              </a:spcBef>
              <a:spcAft>
                <a:spcPts val="0"/>
              </a:spcAft>
              <a:buSzPts val="1800"/>
              <a:buNone/>
              <a:defRPr/>
            </a:lvl1pPr>
            <a:lvl2pPr lvl="1" algn="ctr" rtl="0">
              <a:lnSpc>
                <a:spcPct val="100000"/>
              </a:lnSpc>
              <a:spcBef>
                <a:spcPts val="600"/>
              </a:spcBef>
              <a:spcAft>
                <a:spcPts val="0"/>
              </a:spcAft>
              <a:buSzPts val="2100"/>
              <a:buNone/>
              <a:defRPr sz="2100"/>
            </a:lvl2pPr>
            <a:lvl3pPr lvl="2" algn="ctr" rtl="0">
              <a:lnSpc>
                <a:spcPct val="100000"/>
              </a:lnSpc>
              <a:spcBef>
                <a:spcPts val="600"/>
              </a:spcBef>
              <a:spcAft>
                <a:spcPts val="0"/>
              </a:spcAft>
              <a:buSzPts val="2100"/>
              <a:buNone/>
              <a:defRPr sz="2100"/>
            </a:lvl3pPr>
            <a:lvl4pPr lvl="3" algn="ctr" rtl="0">
              <a:lnSpc>
                <a:spcPct val="100000"/>
              </a:lnSpc>
              <a:spcBef>
                <a:spcPts val="600"/>
              </a:spcBef>
              <a:spcAft>
                <a:spcPts val="0"/>
              </a:spcAft>
              <a:buSzPts val="2100"/>
              <a:buNone/>
              <a:defRPr sz="2100"/>
            </a:lvl4pPr>
            <a:lvl5pPr lvl="4" algn="ctr" rtl="0">
              <a:lnSpc>
                <a:spcPct val="100000"/>
              </a:lnSpc>
              <a:spcBef>
                <a:spcPts val="600"/>
              </a:spcBef>
              <a:spcAft>
                <a:spcPts val="0"/>
              </a:spcAft>
              <a:buSzPts val="2100"/>
              <a:buNone/>
              <a:defRPr sz="2100"/>
            </a:lvl5pPr>
            <a:lvl6pPr lvl="5" algn="ctr" rtl="0">
              <a:lnSpc>
                <a:spcPct val="100000"/>
              </a:lnSpc>
              <a:spcBef>
                <a:spcPts val="600"/>
              </a:spcBef>
              <a:spcAft>
                <a:spcPts val="0"/>
              </a:spcAft>
              <a:buSzPts val="2100"/>
              <a:buNone/>
              <a:defRPr sz="2100"/>
            </a:lvl6pPr>
            <a:lvl7pPr lvl="6" algn="ctr" rtl="0">
              <a:lnSpc>
                <a:spcPct val="100000"/>
              </a:lnSpc>
              <a:spcBef>
                <a:spcPts val="600"/>
              </a:spcBef>
              <a:spcAft>
                <a:spcPts val="0"/>
              </a:spcAft>
              <a:buSzPts val="2100"/>
              <a:buNone/>
              <a:defRPr sz="2100"/>
            </a:lvl7pPr>
            <a:lvl8pPr lvl="7" algn="ctr" rtl="0">
              <a:lnSpc>
                <a:spcPct val="100000"/>
              </a:lnSpc>
              <a:spcBef>
                <a:spcPts val="600"/>
              </a:spcBef>
              <a:spcAft>
                <a:spcPts val="0"/>
              </a:spcAft>
              <a:buSzPts val="2100"/>
              <a:buNone/>
              <a:defRPr sz="2100"/>
            </a:lvl8pPr>
            <a:lvl9pPr lvl="8" algn="ctr" rtl="0">
              <a:lnSpc>
                <a:spcPct val="100000"/>
              </a:lnSpc>
              <a:spcBef>
                <a:spcPts val="600"/>
              </a:spcBef>
              <a:spcAft>
                <a:spcPts val="0"/>
              </a:spcAft>
              <a:buSzPts val="2100"/>
              <a:buNone/>
              <a:defRPr sz="2100"/>
            </a:lvl9pPr>
          </a:lstStyle>
          <a:p>
            <a:endParaRPr/>
          </a:p>
        </p:txBody>
      </p:sp>
      <p:sp>
        <p:nvSpPr>
          <p:cNvPr id="60" name="Google Shape;60;p9"/>
          <p:cNvSpPr txBox="1"/>
          <p:nvPr/>
        </p:nvSpPr>
        <p:spPr>
          <a:xfrm>
            <a:off x="208445" y="3420075"/>
            <a:ext cx="1873800" cy="569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500" b="1">
                <a:solidFill>
                  <a:schemeClr val="accent3"/>
                </a:solidFill>
                <a:latin typeface="Roboto"/>
                <a:ea typeface="Roboto"/>
                <a:cs typeface="Roboto"/>
                <a:sym typeface="Roboto"/>
              </a:rPr>
              <a:t>Compare</a:t>
            </a:r>
            <a:endParaRPr sz="2500" b="1">
              <a:solidFill>
                <a:schemeClr val="accent3"/>
              </a:solidFill>
              <a:latin typeface="Roboto"/>
              <a:ea typeface="Roboto"/>
              <a:cs typeface="Roboto"/>
              <a:sym typeface="Roboto"/>
            </a:endParaRPr>
          </a:p>
        </p:txBody>
      </p:sp>
      <p:sp>
        <p:nvSpPr>
          <p:cNvPr id="61" name="Google Shape;61;p9"/>
          <p:cNvSpPr txBox="1">
            <a:spLocks noGrp="1"/>
          </p:cNvSpPr>
          <p:nvPr>
            <p:ph type="body" idx="2"/>
          </p:nvPr>
        </p:nvSpPr>
        <p:spPr>
          <a:xfrm>
            <a:off x="2937350" y="402200"/>
            <a:ext cx="6032400" cy="42612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Font typeface="Roboto Light"/>
              <a:buChar char="•"/>
              <a:defRPr>
                <a:latin typeface="Roboto Light"/>
                <a:ea typeface="Roboto Light"/>
                <a:cs typeface="Roboto Light"/>
                <a:sym typeface="Roboto Light"/>
              </a:defRPr>
            </a:lvl1pPr>
            <a:lvl2pPr marL="914400" lvl="1" indent="-342900" rtl="0">
              <a:spcBef>
                <a:spcPts val="600"/>
              </a:spcBef>
              <a:spcAft>
                <a:spcPts val="0"/>
              </a:spcAft>
              <a:buSzPts val="1800"/>
              <a:buFont typeface="Roboto Light"/>
              <a:buChar char="•"/>
              <a:defRPr>
                <a:latin typeface="Roboto Light"/>
                <a:ea typeface="Roboto Light"/>
                <a:cs typeface="Roboto Light"/>
                <a:sym typeface="Roboto Light"/>
              </a:defRPr>
            </a:lvl2pPr>
            <a:lvl3pPr marL="1371600" lvl="2" indent="-342900" rtl="0">
              <a:spcBef>
                <a:spcPts val="600"/>
              </a:spcBef>
              <a:spcAft>
                <a:spcPts val="0"/>
              </a:spcAft>
              <a:buSzPts val="1800"/>
              <a:buFont typeface="Roboto Light"/>
              <a:buChar char="•"/>
              <a:defRPr>
                <a:latin typeface="Roboto Light"/>
                <a:ea typeface="Roboto Light"/>
                <a:cs typeface="Roboto Light"/>
                <a:sym typeface="Roboto Light"/>
              </a:defRPr>
            </a:lvl3pPr>
            <a:lvl4pPr marL="1828800" lvl="3" indent="-342900" rtl="0">
              <a:spcBef>
                <a:spcPts val="600"/>
              </a:spcBef>
              <a:spcAft>
                <a:spcPts val="0"/>
              </a:spcAft>
              <a:buSzPts val="1800"/>
              <a:buFont typeface="Roboto Light"/>
              <a:buChar char="•"/>
              <a:defRPr>
                <a:latin typeface="Roboto Light"/>
                <a:ea typeface="Roboto Light"/>
                <a:cs typeface="Roboto Light"/>
                <a:sym typeface="Roboto Light"/>
              </a:defRPr>
            </a:lvl4pPr>
            <a:lvl5pPr marL="2286000" lvl="4" indent="-342900" rtl="0">
              <a:spcBef>
                <a:spcPts val="600"/>
              </a:spcBef>
              <a:spcAft>
                <a:spcPts val="0"/>
              </a:spcAft>
              <a:buSzPts val="1800"/>
              <a:buFont typeface="Roboto Light"/>
              <a:buChar char="•"/>
              <a:defRPr>
                <a:latin typeface="Roboto Light"/>
                <a:ea typeface="Roboto Light"/>
                <a:cs typeface="Roboto Light"/>
                <a:sym typeface="Roboto Light"/>
              </a:defRPr>
            </a:lvl5pPr>
            <a:lvl6pPr marL="2743200" lvl="5" indent="-342900" rtl="0">
              <a:spcBef>
                <a:spcPts val="600"/>
              </a:spcBef>
              <a:spcAft>
                <a:spcPts val="0"/>
              </a:spcAft>
              <a:buSzPts val="1800"/>
              <a:buFont typeface="Roboto Light"/>
              <a:buChar char="•"/>
              <a:defRPr>
                <a:latin typeface="Roboto Light"/>
                <a:ea typeface="Roboto Light"/>
                <a:cs typeface="Roboto Light"/>
                <a:sym typeface="Roboto Light"/>
              </a:defRPr>
            </a:lvl6pPr>
            <a:lvl7pPr marL="3200400" lvl="6" indent="-342900" rtl="0">
              <a:spcBef>
                <a:spcPts val="600"/>
              </a:spcBef>
              <a:spcAft>
                <a:spcPts val="0"/>
              </a:spcAft>
              <a:buSzPts val="1800"/>
              <a:buFont typeface="Roboto Light"/>
              <a:buChar char="•"/>
              <a:defRPr>
                <a:latin typeface="Roboto Light"/>
                <a:ea typeface="Roboto Light"/>
                <a:cs typeface="Roboto Light"/>
                <a:sym typeface="Roboto Light"/>
              </a:defRPr>
            </a:lvl7pPr>
            <a:lvl8pPr marL="3657600" lvl="7" indent="-342900" rtl="0">
              <a:spcBef>
                <a:spcPts val="600"/>
              </a:spcBef>
              <a:spcAft>
                <a:spcPts val="0"/>
              </a:spcAft>
              <a:buSzPts val="1800"/>
              <a:buFont typeface="Roboto Light"/>
              <a:buChar char="•"/>
              <a:defRPr>
                <a:latin typeface="Roboto Light"/>
                <a:ea typeface="Roboto Light"/>
                <a:cs typeface="Roboto Light"/>
                <a:sym typeface="Roboto Light"/>
              </a:defRPr>
            </a:lvl8pPr>
            <a:lvl9pPr marL="4114800" lvl="8" indent="-342900" rtl="0">
              <a:spcBef>
                <a:spcPts val="600"/>
              </a:spcBef>
              <a:spcAft>
                <a:spcPts val="0"/>
              </a:spcAft>
              <a:buSzPts val="1800"/>
              <a:buFont typeface="Roboto Light"/>
              <a:buChar char="•"/>
              <a:defRPr>
                <a:latin typeface="Roboto Light"/>
                <a:ea typeface="Roboto Light"/>
                <a:cs typeface="Roboto Light"/>
                <a:sym typeface="Roboto Light"/>
              </a:defRPr>
            </a:lvl9pPr>
          </a:lstStyle>
          <a:p>
            <a:endParaRPr/>
          </a:p>
        </p:txBody>
      </p:sp>
      <p:sp>
        <p:nvSpPr>
          <p:cNvPr id="62" name="Google Shape;62;p9"/>
          <p:cNvSpPr txBox="1">
            <a:spLocks noGrp="1"/>
          </p:cNvSpPr>
          <p:nvPr>
            <p:ph type="title"/>
          </p:nvPr>
        </p:nvSpPr>
        <p:spPr>
          <a:xfrm>
            <a:off x="2776500" y="0"/>
            <a:ext cx="6367500" cy="3936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cxnSp>
        <p:nvCxnSpPr>
          <p:cNvPr id="63" name="Google Shape;63;p9"/>
          <p:cNvCxnSpPr/>
          <p:nvPr/>
        </p:nvCxnSpPr>
        <p:spPr>
          <a:xfrm>
            <a:off x="2937350" y="402200"/>
            <a:ext cx="6082200" cy="0"/>
          </a:xfrm>
          <a:prstGeom prst="straightConnector1">
            <a:avLst/>
          </a:prstGeom>
          <a:noFill/>
          <a:ln w="19050" cap="flat" cmpd="sng">
            <a:solidFill>
              <a:srgbClr val="BF9000"/>
            </a:solidFill>
            <a:prstDash val="solid"/>
            <a:round/>
            <a:headEnd type="none" w="med" len="med"/>
            <a:tailEnd type="none" w="med" len="med"/>
          </a:ln>
        </p:spPr>
      </p:cxnSp>
      <p:pic>
        <p:nvPicPr>
          <p:cNvPr id="64" name="Google Shape;64;p9"/>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65" name="Google Shape;65;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Wide Puzzle Solution">
  <p:cSld name="SECTION_TITLE_AND_DESCRIPTION_2_1_1_1">
    <p:spTree>
      <p:nvGrpSpPr>
        <p:cNvPr id="1" name="Shape 66"/>
        <p:cNvGrpSpPr/>
        <p:nvPr/>
      </p:nvGrpSpPr>
      <p:grpSpPr>
        <a:xfrm>
          <a:off x="0" y="0"/>
          <a:ext cx="0" cy="0"/>
          <a:chOff x="0" y="0"/>
          <a:chExt cx="0" cy="0"/>
        </a:xfrm>
      </p:grpSpPr>
      <p:sp>
        <p:nvSpPr>
          <p:cNvPr id="67" name="Google Shape;67;p10"/>
          <p:cNvSpPr/>
          <p:nvPr/>
        </p:nvSpPr>
        <p:spPr>
          <a:xfrm>
            <a:off x="0" y="-125"/>
            <a:ext cx="2776500" cy="5143500"/>
          </a:xfrm>
          <a:prstGeom prst="rect">
            <a:avLst/>
          </a:pr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10"/>
          <p:cNvSpPr txBox="1">
            <a:spLocks noGrp="1"/>
          </p:cNvSpPr>
          <p:nvPr>
            <p:ph type="subTitle" idx="1"/>
          </p:nvPr>
        </p:nvSpPr>
        <p:spPr>
          <a:xfrm>
            <a:off x="225450" y="3943400"/>
            <a:ext cx="2450400" cy="719700"/>
          </a:xfrm>
          <a:prstGeom prst="rect">
            <a:avLst/>
          </a:prstGeom>
        </p:spPr>
        <p:txBody>
          <a:bodyPr spcFirstLastPara="1" wrap="square" lIns="91425" tIns="91425" rIns="91425" bIns="91425" anchor="t" anchorCtr="0">
            <a:noAutofit/>
          </a:bodyPr>
          <a:lstStyle>
            <a:lvl1pPr lvl="0" rtl="0">
              <a:lnSpc>
                <a:spcPct val="100000"/>
              </a:lnSpc>
              <a:spcBef>
                <a:spcPts val="600"/>
              </a:spcBef>
              <a:spcAft>
                <a:spcPts val="0"/>
              </a:spcAft>
              <a:buSzPts val="1800"/>
              <a:buNone/>
              <a:defRPr/>
            </a:lvl1pPr>
            <a:lvl2pPr lvl="1" algn="ctr" rtl="0">
              <a:lnSpc>
                <a:spcPct val="100000"/>
              </a:lnSpc>
              <a:spcBef>
                <a:spcPts val="600"/>
              </a:spcBef>
              <a:spcAft>
                <a:spcPts val="0"/>
              </a:spcAft>
              <a:buSzPts val="2100"/>
              <a:buNone/>
              <a:defRPr sz="2100"/>
            </a:lvl2pPr>
            <a:lvl3pPr lvl="2" algn="ctr" rtl="0">
              <a:lnSpc>
                <a:spcPct val="100000"/>
              </a:lnSpc>
              <a:spcBef>
                <a:spcPts val="600"/>
              </a:spcBef>
              <a:spcAft>
                <a:spcPts val="0"/>
              </a:spcAft>
              <a:buSzPts val="2100"/>
              <a:buNone/>
              <a:defRPr sz="2100"/>
            </a:lvl3pPr>
            <a:lvl4pPr lvl="3" algn="ctr" rtl="0">
              <a:lnSpc>
                <a:spcPct val="100000"/>
              </a:lnSpc>
              <a:spcBef>
                <a:spcPts val="600"/>
              </a:spcBef>
              <a:spcAft>
                <a:spcPts val="0"/>
              </a:spcAft>
              <a:buSzPts val="2100"/>
              <a:buNone/>
              <a:defRPr sz="2100"/>
            </a:lvl4pPr>
            <a:lvl5pPr lvl="4" algn="ctr" rtl="0">
              <a:lnSpc>
                <a:spcPct val="100000"/>
              </a:lnSpc>
              <a:spcBef>
                <a:spcPts val="600"/>
              </a:spcBef>
              <a:spcAft>
                <a:spcPts val="0"/>
              </a:spcAft>
              <a:buSzPts val="2100"/>
              <a:buNone/>
              <a:defRPr sz="2100"/>
            </a:lvl5pPr>
            <a:lvl6pPr lvl="5" algn="ctr" rtl="0">
              <a:lnSpc>
                <a:spcPct val="100000"/>
              </a:lnSpc>
              <a:spcBef>
                <a:spcPts val="600"/>
              </a:spcBef>
              <a:spcAft>
                <a:spcPts val="0"/>
              </a:spcAft>
              <a:buSzPts val="2100"/>
              <a:buNone/>
              <a:defRPr sz="2100"/>
            </a:lvl6pPr>
            <a:lvl7pPr lvl="6" algn="ctr" rtl="0">
              <a:lnSpc>
                <a:spcPct val="100000"/>
              </a:lnSpc>
              <a:spcBef>
                <a:spcPts val="600"/>
              </a:spcBef>
              <a:spcAft>
                <a:spcPts val="0"/>
              </a:spcAft>
              <a:buSzPts val="2100"/>
              <a:buNone/>
              <a:defRPr sz="2100"/>
            </a:lvl7pPr>
            <a:lvl8pPr lvl="7" algn="ctr" rtl="0">
              <a:lnSpc>
                <a:spcPct val="100000"/>
              </a:lnSpc>
              <a:spcBef>
                <a:spcPts val="600"/>
              </a:spcBef>
              <a:spcAft>
                <a:spcPts val="0"/>
              </a:spcAft>
              <a:buSzPts val="2100"/>
              <a:buNone/>
              <a:defRPr sz="2100"/>
            </a:lvl8pPr>
            <a:lvl9pPr lvl="8" algn="ctr" rtl="0">
              <a:lnSpc>
                <a:spcPct val="100000"/>
              </a:lnSpc>
              <a:spcBef>
                <a:spcPts val="600"/>
              </a:spcBef>
              <a:spcAft>
                <a:spcPts val="0"/>
              </a:spcAft>
              <a:buSzPts val="2100"/>
              <a:buNone/>
              <a:defRPr sz="2100"/>
            </a:lvl9pPr>
          </a:lstStyle>
          <a:p>
            <a:endParaRPr/>
          </a:p>
        </p:txBody>
      </p:sp>
      <p:sp>
        <p:nvSpPr>
          <p:cNvPr id="69" name="Google Shape;69;p10"/>
          <p:cNvSpPr txBox="1"/>
          <p:nvPr/>
        </p:nvSpPr>
        <p:spPr>
          <a:xfrm>
            <a:off x="208445" y="3420075"/>
            <a:ext cx="1873800" cy="569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500" b="1">
                <a:solidFill>
                  <a:schemeClr val="accent3"/>
                </a:solidFill>
                <a:latin typeface="Roboto"/>
                <a:ea typeface="Roboto"/>
                <a:cs typeface="Roboto"/>
                <a:sym typeface="Roboto"/>
              </a:rPr>
              <a:t>Solution</a:t>
            </a:r>
            <a:endParaRPr sz="2500" b="1">
              <a:solidFill>
                <a:schemeClr val="accent3"/>
              </a:solidFill>
              <a:latin typeface="Roboto"/>
              <a:ea typeface="Roboto"/>
              <a:cs typeface="Roboto"/>
              <a:sym typeface="Roboto"/>
            </a:endParaRPr>
          </a:p>
        </p:txBody>
      </p:sp>
      <p:sp>
        <p:nvSpPr>
          <p:cNvPr id="70" name="Google Shape;70;p10"/>
          <p:cNvSpPr txBox="1">
            <a:spLocks noGrp="1"/>
          </p:cNvSpPr>
          <p:nvPr>
            <p:ph type="body" idx="2"/>
          </p:nvPr>
        </p:nvSpPr>
        <p:spPr>
          <a:xfrm>
            <a:off x="2937350" y="402200"/>
            <a:ext cx="6032400" cy="42612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Font typeface="Roboto Light"/>
              <a:buChar char="•"/>
              <a:defRPr>
                <a:latin typeface="Roboto Light"/>
                <a:ea typeface="Roboto Light"/>
                <a:cs typeface="Roboto Light"/>
                <a:sym typeface="Roboto Light"/>
              </a:defRPr>
            </a:lvl1pPr>
            <a:lvl2pPr marL="914400" lvl="1" indent="-342900" rtl="0">
              <a:spcBef>
                <a:spcPts val="600"/>
              </a:spcBef>
              <a:spcAft>
                <a:spcPts val="0"/>
              </a:spcAft>
              <a:buSzPts val="1800"/>
              <a:buFont typeface="Roboto Light"/>
              <a:buChar char="•"/>
              <a:defRPr>
                <a:latin typeface="Roboto Light"/>
                <a:ea typeface="Roboto Light"/>
                <a:cs typeface="Roboto Light"/>
                <a:sym typeface="Roboto Light"/>
              </a:defRPr>
            </a:lvl2pPr>
            <a:lvl3pPr marL="1371600" lvl="2" indent="-342900" rtl="0">
              <a:spcBef>
                <a:spcPts val="600"/>
              </a:spcBef>
              <a:spcAft>
                <a:spcPts val="0"/>
              </a:spcAft>
              <a:buSzPts val="1800"/>
              <a:buFont typeface="Roboto Light"/>
              <a:buChar char="•"/>
              <a:defRPr>
                <a:latin typeface="Roboto Light"/>
                <a:ea typeface="Roboto Light"/>
                <a:cs typeface="Roboto Light"/>
                <a:sym typeface="Roboto Light"/>
              </a:defRPr>
            </a:lvl3pPr>
            <a:lvl4pPr marL="1828800" lvl="3" indent="-342900" rtl="0">
              <a:spcBef>
                <a:spcPts val="600"/>
              </a:spcBef>
              <a:spcAft>
                <a:spcPts val="0"/>
              </a:spcAft>
              <a:buSzPts val="1800"/>
              <a:buFont typeface="Roboto Light"/>
              <a:buChar char="•"/>
              <a:defRPr>
                <a:latin typeface="Roboto Light"/>
                <a:ea typeface="Roboto Light"/>
                <a:cs typeface="Roboto Light"/>
                <a:sym typeface="Roboto Light"/>
              </a:defRPr>
            </a:lvl4pPr>
            <a:lvl5pPr marL="2286000" lvl="4" indent="-342900" rtl="0">
              <a:spcBef>
                <a:spcPts val="600"/>
              </a:spcBef>
              <a:spcAft>
                <a:spcPts val="0"/>
              </a:spcAft>
              <a:buSzPts val="1800"/>
              <a:buFont typeface="Roboto Light"/>
              <a:buChar char="•"/>
              <a:defRPr>
                <a:latin typeface="Roboto Light"/>
                <a:ea typeface="Roboto Light"/>
                <a:cs typeface="Roboto Light"/>
                <a:sym typeface="Roboto Light"/>
              </a:defRPr>
            </a:lvl5pPr>
            <a:lvl6pPr marL="2743200" lvl="5" indent="-342900" rtl="0">
              <a:spcBef>
                <a:spcPts val="600"/>
              </a:spcBef>
              <a:spcAft>
                <a:spcPts val="0"/>
              </a:spcAft>
              <a:buSzPts val="1800"/>
              <a:buFont typeface="Roboto Light"/>
              <a:buChar char="•"/>
              <a:defRPr>
                <a:latin typeface="Roboto Light"/>
                <a:ea typeface="Roboto Light"/>
                <a:cs typeface="Roboto Light"/>
                <a:sym typeface="Roboto Light"/>
              </a:defRPr>
            </a:lvl6pPr>
            <a:lvl7pPr marL="3200400" lvl="6" indent="-342900" rtl="0">
              <a:spcBef>
                <a:spcPts val="600"/>
              </a:spcBef>
              <a:spcAft>
                <a:spcPts val="0"/>
              </a:spcAft>
              <a:buSzPts val="1800"/>
              <a:buFont typeface="Roboto Light"/>
              <a:buChar char="•"/>
              <a:defRPr>
                <a:latin typeface="Roboto Light"/>
                <a:ea typeface="Roboto Light"/>
                <a:cs typeface="Roboto Light"/>
                <a:sym typeface="Roboto Light"/>
              </a:defRPr>
            </a:lvl7pPr>
            <a:lvl8pPr marL="3657600" lvl="7" indent="-342900" rtl="0">
              <a:spcBef>
                <a:spcPts val="600"/>
              </a:spcBef>
              <a:spcAft>
                <a:spcPts val="0"/>
              </a:spcAft>
              <a:buSzPts val="1800"/>
              <a:buFont typeface="Roboto Light"/>
              <a:buChar char="•"/>
              <a:defRPr>
                <a:latin typeface="Roboto Light"/>
                <a:ea typeface="Roboto Light"/>
                <a:cs typeface="Roboto Light"/>
                <a:sym typeface="Roboto Light"/>
              </a:defRPr>
            </a:lvl8pPr>
            <a:lvl9pPr marL="4114800" lvl="8" indent="-342900" rtl="0">
              <a:spcBef>
                <a:spcPts val="600"/>
              </a:spcBef>
              <a:spcAft>
                <a:spcPts val="0"/>
              </a:spcAft>
              <a:buSzPts val="1800"/>
              <a:buFont typeface="Roboto Light"/>
              <a:buChar char="•"/>
              <a:defRPr>
                <a:latin typeface="Roboto Light"/>
                <a:ea typeface="Roboto Light"/>
                <a:cs typeface="Roboto Light"/>
                <a:sym typeface="Roboto Light"/>
              </a:defRPr>
            </a:lvl9pPr>
          </a:lstStyle>
          <a:p>
            <a:endParaRPr/>
          </a:p>
        </p:txBody>
      </p:sp>
      <p:sp>
        <p:nvSpPr>
          <p:cNvPr id="71" name="Google Shape;71;p10"/>
          <p:cNvSpPr txBox="1">
            <a:spLocks noGrp="1"/>
          </p:cNvSpPr>
          <p:nvPr>
            <p:ph type="title"/>
          </p:nvPr>
        </p:nvSpPr>
        <p:spPr>
          <a:xfrm>
            <a:off x="2776500" y="0"/>
            <a:ext cx="6367500" cy="3936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cxnSp>
        <p:nvCxnSpPr>
          <p:cNvPr id="72" name="Google Shape;72;p10"/>
          <p:cNvCxnSpPr/>
          <p:nvPr/>
        </p:nvCxnSpPr>
        <p:spPr>
          <a:xfrm>
            <a:off x="2937350" y="402200"/>
            <a:ext cx="6082200" cy="0"/>
          </a:xfrm>
          <a:prstGeom prst="straightConnector1">
            <a:avLst/>
          </a:prstGeom>
          <a:noFill/>
          <a:ln w="19050" cap="flat" cmpd="sng">
            <a:solidFill>
              <a:srgbClr val="BF9000"/>
            </a:solidFill>
            <a:prstDash val="solid"/>
            <a:round/>
            <a:headEnd type="none" w="med" len="med"/>
            <a:tailEnd type="none" w="med" len="med"/>
          </a:ln>
        </p:spPr>
      </p:cxnSp>
      <p:pic>
        <p:nvPicPr>
          <p:cNvPr id="73" name="Google Shape;73;p10"/>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74" name="Google Shape;74;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75"/>
        <p:cNvGrpSpPr/>
        <p:nvPr/>
      </p:nvGrpSpPr>
      <p:grpSpPr>
        <a:xfrm>
          <a:off x="0" y="0"/>
          <a:ext cx="0" cy="0"/>
          <a:chOff x="0" y="0"/>
          <a:chExt cx="0" cy="0"/>
        </a:xfrm>
      </p:grpSpPr>
      <p:sp>
        <p:nvSpPr>
          <p:cNvPr id="76" name="Google Shape;76;p11"/>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77" name="Google Shape;77;p11"/>
          <p:cNvSpPr txBox="1">
            <a:spLocks noGrp="1"/>
          </p:cNvSpPr>
          <p:nvPr>
            <p:ph type="body" idx="1"/>
          </p:nvPr>
        </p:nvSpPr>
        <p:spPr>
          <a:xfrm>
            <a:off x="4812381" y="402206"/>
            <a:ext cx="3999900" cy="34164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Font typeface="Roboto Light"/>
              <a:buChar char="•"/>
              <a:defRPr>
                <a:latin typeface="Roboto Light"/>
                <a:ea typeface="Roboto Light"/>
                <a:cs typeface="Roboto Light"/>
                <a:sym typeface="Roboto Light"/>
              </a:defRPr>
            </a:lvl1pPr>
            <a:lvl2pPr marL="914400" lvl="1" indent="-342900" rtl="0">
              <a:spcBef>
                <a:spcPts val="600"/>
              </a:spcBef>
              <a:spcAft>
                <a:spcPts val="0"/>
              </a:spcAft>
              <a:buSzPts val="1800"/>
              <a:buFont typeface="Roboto Light"/>
              <a:buChar char="•"/>
              <a:defRPr>
                <a:latin typeface="Roboto Light"/>
                <a:ea typeface="Roboto Light"/>
                <a:cs typeface="Roboto Light"/>
                <a:sym typeface="Roboto Light"/>
              </a:defRPr>
            </a:lvl2pPr>
            <a:lvl3pPr marL="1371600" lvl="2" indent="-342900" rtl="0">
              <a:spcBef>
                <a:spcPts val="600"/>
              </a:spcBef>
              <a:spcAft>
                <a:spcPts val="0"/>
              </a:spcAft>
              <a:buSzPts val="1800"/>
              <a:buFont typeface="Roboto Light"/>
              <a:buChar char="•"/>
              <a:defRPr>
                <a:latin typeface="Roboto Light"/>
                <a:ea typeface="Roboto Light"/>
                <a:cs typeface="Roboto Light"/>
                <a:sym typeface="Roboto Light"/>
              </a:defRPr>
            </a:lvl3pPr>
            <a:lvl4pPr marL="1828800" lvl="3" indent="-342900" rtl="0">
              <a:spcBef>
                <a:spcPts val="600"/>
              </a:spcBef>
              <a:spcAft>
                <a:spcPts val="0"/>
              </a:spcAft>
              <a:buSzPts val="1800"/>
              <a:buFont typeface="Roboto Light"/>
              <a:buChar char="•"/>
              <a:defRPr>
                <a:latin typeface="Roboto Light"/>
                <a:ea typeface="Roboto Light"/>
                <a:cs typeface="Roboto Light"/>
                <a:sym typeface="Roboto Light"/>
              </a:defRPr>
            </a:lvl4pPr>
            <a:lvl5pPr marL="2286000" lvl="4" indent="-342900" rtl="0">
              <a:spcBef>
                <a:spcPts val="600"/>
              </a:spcBef>
              <a:spcAft>
                <a:spcPts val="0"/>
              </a:spcAft>
              <a:buSzPts val="1800"/>
              <a:buFont typeface="Roboto Light"/>
              <a:buChar char="•"/>
              <a:defRPr>
                <a:latin typeface="Roboto Light"/>
                <a:ea typeface="Roboto Light"/>
                <a:cs typeface="Roboto Light"/>
                <a:sym typeface="Roboto Light"/>
              </a:defRPr>
            </a:lvl5pPr>
            <a:lvl6pPr marL="2743200" lvl="5" indent="-342900" rtl="0">
              <a:spcBef>
                <a:spcPts val="600"/>
              </a:spcBef>
              <a:spcAft>
                <a:spcPts val="0"/>
              </a:spcAft>
              <a:buSzPts val="1800"/>
              <a:buFont typeface="Roboto Light"/>
              <a:buChar char="•"/>
              <a:defRPr>
                <a:latin typeface="Roboto Light"/>
                <a:ea typeface="Roboto Light"/>
                <a:cs typeface="Roboto Light"/>
                <a:sym typeface="Roboto Light"/>
              </a:defRPr>
            </a:lvl6pPr>
            <a:lvl7pPr marL="3200400" lvl="6" indent="-342900" rtl="0">
              <a:spcBef>
                <a:spcPts val="600"/>
              </a:spcBef>
              <a:spcAft>
                <a:spcPts val="0"/>
              </a:spcAft>
              <a:buSzPts val="1800"/>
              <a:buFont typeface="Roboto Light"/>
              <a:buChar char="•"/>
              <a:defRPr>
                <a:latin typeface="Roboto Light"/>
                <a:ea typeface="Roboto Light"/>
                <a:cs typeface="Roboto Light"/>
                <a:sym typeface="Roboto Light"/>
              </a:defRPr>
            </a:lvl7pPr>
            <a:lvl8pPr marL="3657600" lvl="7" indent="-342900" rtl="0">
              <a:spcBef>
                <a:spcPts val="600"/>
              </a:spcBef>
              <a:spcAft>
                <a:spcPts val="0"/>
              </a:spcAft>
              <a:buSzPts val="1800"/>
              <a:buFont typeface="Roboto Light"/>
              <a:buChar char="•"/>
              <a:defRPr>
                <a:latin typeface="Roboto Light"/>
                <a:ea typeface="Roboto Light"/>
                <a:cs typeface="Roboto Light"/>
                <a:sym typeface="Roboto Light"/>
              </a:defRPr>
            </a:lvl8pPr>
            <a:lvl9pPr marL="4114800" lvl="8" indent="-342900" rtl="0">
              <a:spcBef>
                <a:spcPts val="600"/>
              </a:spcBef>
              <a:spcAft>
                <a:spcPts val="0"/>
              </a:spcAft>
              <a:buSzPts val="1800"/>
              <a:buFont typeface="Roboto Light"/>
              <a:buChar char="•"/>
              <a:defRPr>
                <a:latin typeface="Roboto Light"/>
                <a:ea typeface="Roboto Light"/>
                <a:cs typeface="Roboto Light"/>
                <a:sym typeface="Roboto Light"/>
              </a:defRPr>
            </a:lvl9pPr>
          </a:lstStyle>
          <a:p>
            <a:endParaRPr/>
          </a:p>
        </p:txBody>
      </p:sp>
      <p:sp>
        <p:nvSpPr>
          <p:cNvPr id="78" name="Google Shape;78;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cxnSp>
        <p:nvCxnSpPr>
          <p:cNvPr id="79" name="Google Shape;79;p11"/>
          <p:cNvCxnSpPr/>
          <p:nvPr/>
        </p:nvCxnSpPr>
        <p:spPr>
          <a:xfrm>
            <a:off x="95431" y="402210"/>
            <a:ext cx="8909700" cy="0"/>
          </a:xfrm>
          <a:prstGeom prst="straightConnector1">
            <a:avLst/>
          </a:prstGeom>
          <a:noFill/>
          <a:ln w="19050" cap="flat" cmpd="sng">
            <a:solidFill>
              <a:srgbClr val="BF9000"/>
            </a:solidFill>
            <a:prstDash val="solid"/>
            <a:round/>
            <a:headEnd type="none" w="med" len="med"/>
            <a:tailEnd type="none" w="med" len="med"/>
          </a:ln>
        </p:spPr>
      </p:cxnSp>
      <p:sp>
        <p:nvSpPr>
          <p:cNvPr id="80" name="Google Shape;80;p11"/>
          <p:cNvSpPr txBox="1">
            <a:spLocks noGrp="1"/>
          </p:cNvSpPr>
          <p:nvPr>
            <p:ph type="body" idx="2"/>
          </p:nvPr>
        </p:nvSpPr>
        <p:spPr>
          <a:xfrm>
            <a:off x="95431" y="402206"/>
            <a:ext cx="3999900" cy="34164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Font typeface="Roboto Light"/>
              <a:buChar char="•"/>
              <a:defRPr>
                <a:latin typeface="Roboto Light"/>
                <a:ea typeface="Roboto Light"/>
                <a:cs typeface="Roboto Light"/>
                <a:sym typeface="Roboto Light"/>
              </a:defRPr>
            </a:lvl1pPr>
            <a:lvl2pPr marL="914400" lvl="1" indent="-342900" rtl="0">
              <a:spcBef>
                <a:spcPts val="600"/>
              </a:spcBef>
              <a:spcAft>
                <a:spcPts val="0"/>
              </a:spcAft>
              <a:buSzPts val="1800"/>
              <a:buFont typeface="Roboto Light"/>
              <a:buChar char="•"/>
              <a:defRPr>
                <a:latin typeface="Roboto Light"/>
                <a:ea typeface="Roboto Light"/>
                <a:cs typeface="Roboto Light"/>
                <a:sym typeface="Roboto Light"/>
              </a:defRPr>
            </a:lvl2pPr>
            <a:lvl3pPr marL="1371600" lvl="2" indent="-342900" rtl="0">
              <a:spcBef>
                <a:spcPts val="600"/>
              </a:spcBef>
              <a:spcAft>
                <a:spcPts val="0"/>
              </a:spcAft>
              <a:buSzPts val="1800"/>
              <a:buFont typeface="Roboto Light"/>
              <a:buChar char="•"/>
              <a:defRPr>
                <a:latin typeface="Roboto Light"/>
                <a:ea typeface="Roboto Light"/>
                <a:cs typeface="Roboto Light"/>
                <a:sym typeface="Roboto Light"/>
              </a:defRPr>
            </a:lvl3pPr>
            <a:lvl4pPr marL="1828800" lvl="3" indent="-342900" rtl="0">
              <a:spcBef>
                <a:spcPts val="600"/>
              </a:spcBef>
              <a:spcAft>
                <a:spcPts val="0"/>
              </a:spcAft>
              <a:buSzPts val="1800"/>
              <a:buFont typeface="Roboto Light"/>
              <a:buChar char="•"/>
              <a:defRPr>
                <a:latin typeface="Roboto Light"/>
                <a:ea typeface="Roboto Light"/>
                <a:cs typeface="Roboto Light"/>
                <a:sym typeface="Roboto Light"/>
              </a:defRPr>
            </a:lvl4pPr>
            <a:lvl5pPr marL="2286000" lvl="4" indent="-342900" rtl="0">
              <a:spcBef>
                <a:spcPts val="600"/>
              </a:spcBef>
              <a:spcAft>
                <a:spcPts val="0"/>
              </a:spcAft>
              <a:buSzPts val="1800"/>
              <a:buFont typeface="Roboto Light"/>
              <a:buChar char="•"/>
              <a:defRPr>
                <a:latin typeface="Roboto Light"/>
                <a:ea typeface="Roboto Light"/>
                <a:cs typeface="Roboto Light"/>
                <a:sym typeface="Roboto Light"/>
              </a:defRPr>
            </a:lvl5pPr>
            <a:lvl6pPr marL="2743200" lvl="5" indent="-342900" rtl="0">
              <a:spcBef>
                <a:spcPts val="600"/>
              </a:spcBef>
              <a:spcAft>
                <a:spcPts val="0"/>
              </a:spcAft>
              <a:buSzPts val="1800"/>
              <a:buFont typeface="Roboto Light"/>
              <a:buChar char="•"/>
              <a:defRPr>
                <a:latin typeface="Roboto Light"/>
                <a:ea typeface="Roboto Light"/>
                <a:cs typeface="Roboto Light"/>
                <a:sym typeface="Roboto Light"/>
              </a:defRPr>
            </a:lvl6pPr>
            <a:lvl7pPr marL="3200400" lvl="6" indent="-342900" rtl="0">
              <a:spcBef>
                <a:spcPts val="600"/>
              </a:spcBef>
              <a:spcAft>
                <a:spcPts val="0"/>
              </a:spcAft>
              <a:buSzPts val="1800"/>
              <a:buFont typeface="Roboto Light"/>
              <a:buChar char="•"/>
              <a:defRPr>
                <a:latin typeface="Roboto Light"/>
                <a:ea typeface="Roboto Light"/>
                <a:cs typeface="Roboto Light"/>
                <a:sym typeface="Roboto Light"/>
              </a:defRPr>
            </a:lvl7pPr>
            <a:lvl8pPr marL="3657600" lvl="7" indent="-342900" rtl="0">
              <a:spcBef>
                <a:spcPts val="600"/>
              </a:spcBef>
              <a:spcAft>
                <a:spcPts val="0"/>
              </a:spcAft>
              <a:buSzPts val="1800"/>
              <a:buFont typeface="Roboto Light"/>
              <a:buChar char="•"/>
              <a:defRPr>
                <a:latin typeface="Roboto Light"/>
                <a:ea typeface="Roboto Light"/>
                <a:cs typeface="Roboto Light"/>
                <a:sym typeface="Roboto Light"/>
              </a:defRPr>
            </a:lvl8pPr>
            <a:lvl9pPr marL="4114800" lvl="8" indent="-342900" rtl="0">
              <a:spcBef>
                <a:spcPts val="600"/>
              </a:spcBef>
              <a:spcAft>
                <a:spcPts val="0"/>
              </a:spcAft>
              <a:buSzPts val="1800"/>
              <a:buFont typeface="Roboto Light"/>
              <a:buChar char="•"/>
              <a:defRPr>
                <a:latin typeface="Roboto Light"/>
                <a:ea typeface="Roboto Light"/>
                <a:cs typeface="Roboto Light"/>
                <a:sym typeface="Roboto Light"/>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81"/>
        <p:cNvGrpSpPr/>
        <p:nvPr/>
      </p:nvGrpSpPr>
      <p:grpSpPr>
        <a:xfrm>
          <a:off x="0" y="0"/>
          <a:ext cx="0" cy="0"/>
          <a:chOff x="0" y="0"/>
          <a:chExt cx="0" cy="0"/>
        </a:xfrm>
      </p:grpSpPr>
      <p:sp>
        <p:nvSpPr>
          <p:cNvPr id="82" name="Google Shape;82;p12"/>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83" name="Google Shape;83;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cxnSp>
        <p:nvCxnSpPr>
          <p:cNvPr id="84" name="Google Shape;84;p12"/>
          <p:cNvCxnSpPr/>
          <p:nvPr/>
        </p:nvCxnSpPr>
        <p:spPr>
          <a:xfrm>
            <a:off x="95431" y="402210"/>
            <a:ext cx="8909700" cy="0"/>
          </a:xfrm>
          <a:prstGeom prst="straightConnector1">
            <a:avLst/>
          </a:prstGeom>
          <a:noFill/>
          <a:ln w="19050" cap="flat" cmpd="sng">
            <a:solidFill>
              <a:srgbClr val="BF9000"/>
            </a:solidFill>
            <a:prstDash val="solid"/>
            <a:round/>
            <a:headEnd type="none" w="med" len="med"/>
            <a:tailEnd type="none" w="med" len="med"/>
          </a:ln>
        </p:spPr>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85"/>
        <p:cNvGrpSpPr/>
        <p:nvPr/>
      </p:nvGrpSpPr>
      <p:grpSpPr>
        <a:xfrm>
          <a:off x="0" y="0"/>
          <a:ext cx="0" cy="0"/>
          <a:chOff x="0" y="0"/>
          <a:chExt cx="0" cy="0"/>
        </a:xfrm>
      </p:grpSpPr>
      <p:sp>
        <p:nvSpPr>
          <p:cNvPr id="86" name="Google Shape;86;p13"/>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sp>
        <p:nvSpPr>
          <p:cNvPr id="87" name="Google Shape;87;p1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_TITLE_AND_DESCRIPTION_3">
  <p:cSld name="SECTION_TITLE_AND_DESCRIPTION_3">
    <p:spTree>
      <p:nvGrpSpPr>
        <p:cNvPr id="1" name="Shape 88"/>
        <p:cNvGrpSpPr/>
        <p:nvPr/>
      </p:nvGrpSpPr>
      <p:grpSpPr>
        <a:xfrm>
          <a:off x="0" y="0"/>
          <a:ext cx="0" cy="0"/>
          <a:chOff x="0" y="0"/>
          <a:chExt cx="0" cy="0"/>
        </a:xfrm>
      </p:grpSpPr>
      <p:sp>
        <p:nvSpPr>
          <p:cNvPr id="89" name="Google Shape;89;p14"/>
          <p:cNvSpPr/>
          <p:nvPr/>
        </p:nvSpPr>
        <p:spPr>
          <a:xfrm>
            <a:off x="4572000" y="-125"/>
            <a:ext cx="4572000" cy="5143500"/>
          </a:xfrm>
          <a:prstGeom prst="rect">
            <a:avLst/>
          </a:prstGeom>
          <a:solidFill>
            <a:srgbClr val="CFE2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14"/>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600"/>
              <a:buNone/>
              <a:defRPr/>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91" name="Google Shape;91;p14"/>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rtl="0">
              <a:lnSpc>
                <a:spcPct val="100000"/>
              </a:lnSpc>
              <a:spcBef>
                <a:spcPts val="600"/>
              </a:spcBef>
              <a:spcAft>
                <a:spcPts val="0"/>
              </a:spcAft>
              <a:buSzPts val="1800"/>
              <a:buNone/>
              <a:defRPr/>
            </a:lvl1pPr>
            <a:lvl2pPr lvl="1" algn="ctr" rtl="0">
              <a:lnSpc>
                <a:spcPct val="100000"/>
              </a:lnSpc>
              <a:spcBef>
                <a:spcPts val="600"/>
              </a:spcBef>
              <a:spcAft>
                <a:spcPts val="0"/>
              </a:spcAft>
              <a:buSzPts val="2100"/>
              <a:buNone/>
              <a:defRPr sz="2100"/>
            </a:lvl2pPr>
            <a:lvl3pPr lvl="2" algn="ctr" rtl="0">
              <a:lnSpc>
                <a:spcPct val="100000"/>
              </a:lnSpc>
              <a:spcBef>
                <a:spcPts val="600"/>
              </a:spcBef>
              <a:spcAft>
                <a:spcPts val="0"/>
              </a:spcAft>
              <a:buSzPts val="2100"/>
              <a:buNone/>
              <a:defRPr sz="2100"/>
            </a:lvl3pPr>
            <a:lvl4pPr lvl="3" algn="ctr" rtl="0">
              <a:lnSpc>
                <a:spcPct val="100000"/>
              </a:lnSpc>
              <a:spcBef>
                <a:spcPts val="600"/>
              </a:spcBef>
              <a:spcAft>
                <a:spcPts val="0"/>
              </a:spcAft>
              <a:buSzPts val="2100"/>
              <a:buNone/>
              <a:defRPr sz="2100"/>
            </a:lvl4pPr>
            <a:lvl5pPr lvl="4" algn="ctr" rtl="0">
              <a:lnSpc>
                <a:spcPct val="100000"/>
              </a:lnSpc>
              <a:spcBef>
                <a:spcPts val="600"/>
              </a:spcBef>
              <a:spcAft>
                <a:spcPts val="0"/>
              </a:spcAft>
              <a:buSzPts val="2100"/>
              <a:buNone/>
              <a:defRPr sz="2100"/>
            </a:lvl5pPr>
            <a:lvl6pPr lvl="5" algn="ctr" rtl="0">
              <a:lnSpc>
                <a:spcPct val="100000"/>
              </a:lnSpc>
              <a:spcBef>
                <a:spcPts val="600"/>
              </a:spcBef>
              <a:spcAft>
                <a:spcPts val="0"/>
              </a:spcAft>
              <a:buSzPts val="2100"/>
              <a:buNone/>
              <a:defRPr sz="2100"/>
            </a:lvl6pPr>
            <a:lvl7pPr lvl="6" algn="ctr" rtl="0">
              <a:lnSpc>
                <a:spcPct val="100000"/>
              </a:lnSpc>
              <a:spcBef>
                <a:spcPts val="600"/>
              </a:spcBef>
              <a:spcAft>
                <a:spcPts val="0"/>
              </a:spcAft>
              <a:buSzPts val="2100"/>
              <a:buNone/>
              <a:defRPr sz="2100"/>
            </a:lvl7pPr>
            <a:lvl8pPr lvl="7" algn="ctr" rtl="0">
              <a:lnSpc>
                <a:spcPct val="100000"/>
              </a:lnSpc>
              <a:spcBef>
                <a:spcPts val="600"/>
              </a:spcBef>
              <a:spcAft>
                <a:spcPts val="0"/>
              </a:spcAft>
              <a:buSzPts val="2100"/>
              <a:buNone/>
              <a:defRPr sz="2100"/>
            </a:lvl8pPr>
            <a:lvl9pPr lvl="8" algn="ctr" rtl="0">
              <a:lnSpc>
                <a:spcPct val="100000"/>
              </a:lnSpc>
              <a:spcBef>
                <a:spcPts val="600"/>
              </a:spcBef>
              <a:spcAft>
                <a:spcPts val="0"/>
              </a:spcAft>
              <a:buSzPts val="2100"/>
              <a:buNone/>
              <a:defRPr sz="2100"/>
            </a:lvl9pPr>
          </a:lstStyle>
          <a:p>
            <a:endParaRPr/>
          </a:p>
        </p:txBody>
      </p:sp>
      <p:sp>
        <p:nvSpPr>
          <p:cNvPr id="92" name="Google Shape;92;p1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93" name="Google Shape;93;p14"/>
          <p:cNvSpPr txBox="1">
            <a:spLocks noGrp="1"/>
          </p:cNvSpPr>
          <p:nvPr>
            <p:ph type="body" idx="2"/>
          </p:nvPr>
        </p:nvSpPr>
        <p:spPr>
          <a:xfrm>
            <a:off x="4812381" y="402206"/>
            <a:ext cx="3999900" cy="34164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Font typeface="Roboto Light"/>
              <a:buChar char="•"/>
              <a:defRPr>
                <a:latin typeface="Roboto Light"/>
                <a:ea typeface="Roboto Light"/>
                <a:cs typeface="Roboto Light"/>
                <a:sym typeface="Roboto Light"/>
              </a:defRPr>
            </a:lvl1pPr>
            <a:lvl2pPr marL="914400" lvl="1" indent="-342900" rtl="0">
              <a:spcBef>
                <a:spcPts val="600"/>
              </a:spcBef>
              <a:spcAft>
                <a:spcPts val="0"/>
              </a:spcAft>
              <a:buSzPts val="1800"/>
              <a:buFont typeface="Roboto Light"/>
              <a:buChar char="•"/>
              <a:defRPr>
                <a:latin typeface="Roboto Light"/>
                <a:ea typeface="Roboto Light"/>
                <a:cs typeface="Roboto Light"/>
                <a:sym typeface="Roboto Light"/>
              </a:defRPr>
            </a:lvl2pPr>
            <a:lvl3pPr marL="1371600" lvl="2" indent="-342900" rtl="0">
              <a:spcBef>
                <a:spcPts val="600"/>
              </a:spcBef>
              <a:spcAft>
                <a:spcPts val="0"/>
              </a:spcAft>
              <a:buSzPts val="1800"/>
              <a:buFont typeface="Roboto Light"/>
              <a:buChar char="•"/>
              <a:defRPr>
                <a:latin typeface="Roboto Light"/>
                <a:ea typeface="Roboto Light"/>
                <a:cs typeface="Roboto Light"/>
                <a:sym typeface="Roboto Light"/>
              </a:defRPr>
            </a:lvl3pPr>
            <a:lvl4pPr marL="1828800" lvl="3" indent="-342900" rtl="0">
              <a:spcBef>
                <a:spcPts val="600"/>
              </a:spcBef>
              <a:spcAft>
                <a:spcPts val="0"/>
              </a:spcAft>
              <a:buSzPts val="1800"/>
              <a:buFont typeface="Roboto Light"/>
              <a:buChar char="•"/>
              <a:defRPr>
                <a:latin typeface="Roboto Light"/>
                <a:ea typeface="Roboto Light"/>
                <a:cs typeface="Roboto Light"/>
                <a:sym typeface="Roboto Light"/>
              </a:defRPr>
            </a:lvl4pPr>
            <a:lvl5pPr marL="2286000" lvl="4" indent="-342900" rtl="0">
              <a:spcBef>
                <a:spcPts val="600"/>
              </a:spcBef>
              <a:spcAft>
                <a:spcPts val="0"/>
              </a:spcAft>
              <a:buSzPts val="1800"/>
              <a:buFont typeface="Roboto Light"/>
              <a:buChar char="•"/>
              <a:defRPr>
                <a:latin typeface="Roboto Light"/>
                <a:ea typeface="Roboto Light"/>
                <a:cs typeface="Roboto Light"/>
                <a:sym typeface="Roboto Light"/>
              </a:defRPr>
            </a:lvl5pPr>
            <a:lvl6pPr marL="2743200" lvl="5" indent="-342900" rtl="0">
              <a:spcBef>
                <a:spcPts val="600"/>
              </a:spcBef>
              <a:spcAft>
                <a:spcPts val="0"/>
              </a:spcAft>
              <a:buSzPts val="1800"/>
              <a:buFont typeface="Roboto Light"/>
              <a:buChar char="•"/>
              <a:defRPr>
                <a:latin typeface="Roboto Light"/>
                <a:ea typeface="Roboto Light"/>
                <a:cs typeface="Roboto Light"/>
                <a:sym typeface="Roboto Light"/>
              </a:defRPr>
            </a:lvl6pPr>
            <a:lvl7pPr marL="3200400" lvl="6" indent="-342900" rtl="0">
              <a:spcBef>
                <a:spcPts val="600"/>
              </a:spcBef>
              <a:spcAft>
                <a:spcPts val="0"/>
              </a:spcAft>
              <a:buSzPts val="1800"/>
              <a:buFont typeface="Roboto Light"/>
              <a:buChar char="•"/>
              <a:defRPr>
                <a:latin typeface="Roboto Light"/>
                <a:ea typeface="Roboto Light"/>
                <a:cs typeface="Roboto Light"/>
                <a:sym typeface="Roboto Light"/>
              </a:defRPr>
            </a:lvl7pPr>
            <a:lvl8pPr marL="3657600" lvl="7" indent="-342900" rtl="0">
              <a:spcBef>
                <a:spcPts val="600"/>
              </a:spcBef>
              <a:spcAft>
                <a:spcPts val="0"/>
              </a:spcAft>
              <a:buSzPts val="1800"/>
              <a:buFont typeface="Roboto Light"/>
              <a:buChar char="•"/>
              <a:defRPr>
                <a:latin typeface="Roboto Light"/>
                <a:ea typeface="Roboto Light"/>
                <a:cs typeface="Roboto Light"/>
                <a:sym typeface="Roboto Light"/>
              </a:defRPr>
            </a:lvl8pPr>
            <a:lvl9pPr marL="4114800" lvl="8" indent="-342900" rtl="0">
              <a:spcBef>
                <a:spcPts val="600"/>
              </a:spcBef>
              <a:spcAft>
                <a:spcPts val="0"/>
              </a:spcAft>
              <a:buSzPts val="1800"/>
              <a:buFont typeface="Roboto Light"/>
              <a:buChar char="•"/>
              <a:defRPr>
                <a:latin typeface="Roboto Light"/>
                <a:ea typeface="Roboto Light"/>
                <a:cs typeface="Roboto Light"/>
                <a:sym typeface="Roboto Light"/>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94"/>
        <p:cNvGrpSpPr/>
        <p:nvPr/>
      </p:nvGrpSpPr>
      <p:grpSpPr>
        <a:xfrm>
          <a:off x="0" y="0"/>
          <a:ext cx="0" cy="0"/>
          <a:chOff x="0" y="0"/>
          <a:chExt cx="0" cy="0"/>
        </a:xfrm>
      </p:grpSpPr>
      <p:sp>
        <p:nvSpPr>
          <p:cNvPr id="95" name="Google Shape;95;p1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96" name="Google Shape;96;p15"/>
          <p:cNvSpPr txBox="1">
            <a:spLocks noGrp="1"/>
          </p:cNvSpPr>
          <p:nvPr>
            <p:ph type="title"/>
          </p:nvPr>
        </p:nvSpPr>
        <p:spPr>
          <a:xfrm>
            <a:off x="95425" y="4382350"/>
            <a:ext cx="84252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cxnSp>
        <p:nvCxnSpPr>
          <p:cNvPr id="97" name="Google Shape;97;p15"/>
          <p:cNvCxnSpPr/>
          <p:nvPr/>
        </p:nvCxnSpPr>
        <p:spPr>
          <a:xfrm>
            <a:off x="168250" y="4288400"/>
            <a:ext cx="8757000" cy="0"/>
          </a:xfrm>
          <a:prstGeom prst="straightConnector1">
            <a:avLst/>
          </a:prstGeom>
          <a:noFill/>
          <a:ln w="19050" cap="flat" cmpd="sng">
            <a:solidFill>
              <a:srgbClr val="BF9000"/>
            </a:solidFill>
            <a:prstDash val="solid"/>
            <a:round/>
            <a:headEnd type="none" w="med" len="med"/>
            <a:tailEnd type="none" w="med" len="med"/>
          </a:ln>
        </p:spPr>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8"/>
        <p:cNvGrpSpPr/>
        <p:nvPr/>
      </p:nvGrpSpPr>
      <p:grpSpPr>
        <a:xfrm>
          <a:off x="0" y="0"/>
          <a:ext cx="0" cy="0"/>
          <a:chOff x="0" y="0"/>
          <a:chExt cx="0" cy="0"/>
        </a:xfrm>
      </p:grpSpPr>
      <p:sp>
        <p:nvSpPr>
          <p:cNvPr id="99" name="Google Shape;99;p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Blank dark">
  <p:cSld name="BLANK_1">
    <p:bg>
      <p:bgPr>
        <a:solidFill>
          <a:schemeClr val="dk1"/>
        </a:solidFill>
        <a:effectLst/>
      </p:bgPr>
    </p:bg>
    <p:spTree>
      <p:nvGrpSpPr>
        <p:cNvPr id="1" name="Shape 100"/>
        <p:cNvGrpSpPr/>
        <p:nvPr/>
      </p:nvGrpSpPr>
      <p:grpSpPr>
        <a:xfrm>
          <a:off x="0" y="0"/>
          <a:ext cx="0" cy="0"/>
          <a:chOff x="0" y="0"/>
          <a:chExt cx="0" cy="0"/>
        </a:xfrm>
      </p:grpSpPr>
      <p:sp>
        <p:nvSpPr>
          <p:cNvPr id="101" name="Google Shape;101;p1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Interlude">
  <p:cSld name="SECTION_TITLE_AND_DESCRIPTION_1_3">
    <p:spTree>
      <p:nvGrpSpPr>
        <p:cNvPr id="1" name="Shape 102"/>
        <p:cNvGrpSpPr/>
        <p:nvPr/>
      </p:nvGrpSpPr>
      <p:grpSpPr>
        <a:xfrm>
          <a:off x="0" y="0"/>
          <a:ext cx="0" cy="0"/>
          <a:chOff x="0" y="0"/>
          <a:chExt cx="0" cy="0"/>
        </a:xfrm>
      </p:grpSpPr>
      <p:sp>
        <p:nvSpPr>
          <p:cNvPr id="103" name="Google Shape;103;p18"/>
          <p:cNvSpPr/>
          <p:nvPr/>
        </p:nvSpPr>
        <p:spPr>
          <a:xfrm>
            <a:off x="0" y="-125"/>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1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105" name="Google Shape;105;p18"/>
          <p:cNvSpPr txBox="1">
            <a:spLocks noGrp="1"/>
          </p:cNvSpPr>
          <p:nvPr>
            <p:ph type="body" idx="1"/>
          </p:nvPr>
        </p:nvSpPr>
        <p:spPr>
          <a:xfrm>
            <a:off x="4812375" y="402198"/>
            <a:ext cx="3999900" cy="4260900"/>
          </a:xfrm>
          <a:prstGeom prst="rect">
            <a:avLst/>
          </a:prstGeom>
        </p:spPr>
        <p:txBody>
          <a:bodyPr spcFirstLastPara="1" wrap="square" lIns="91425" tIns="91425" rIns="91425" bIns="91425" anchor="ctr" anchorCtr="0">
            <a:noAutofit/>
          </a:bodyPr>
          <a:lstStyle>
            <a:lvl1pPr marL="457200" lvl="0" indent="-342900" rtl="0">
              <a:spcBef>
                <a:spcPts val="600"/>
              </a:spcBef>
              <a:spcAft>
                <a:spcPts val="0"/>
              </a:spcAft>
              <a:buSzPts val="1800"/>
              <a:buFont typeface="Roboto Light"/>
              <a:buChar char="•"/>
              <a:defRPr>
                <a:latin typeface="Roboto Light"/>
                <a:ea typeface="Roboto Light"/>
                <a:cs typeface="Roboto Light"/>
                <a:sym typeface="Roboto Light"/>
              </a:defRPr>
            </a:lvl1pPr>
            <a:lvl2pPr marL="914400" lvl="1" indent="-342900" rtl="0">
              <a:spcBef>
                <a:spcPts val="600"/>
              </a:spcBef>
              <a:spcAft>
                <a:spcPts val="0"/>
              </a:spcAft>
              <a:buSzPts val="1800"/>
              <a:buFont typeface="Roboto Light"/>
              <a:buChar char="•"/>
              <a:defRPr>
                <a:latin typeface="Roboto Light"/>
                <a:ea typeface="Roboto Light"/>
                <a:cs typeface="Roboto Light"/>
                <a:sym typeface="Roboto Light"/>
              </a:defRPr>
            </a:lvl2pPr>
            <a:lvl3pPr marL="1371600" lvl="2" indent="-342900" rtl="0">
              <a:spcBef>
                <a:spcPts val="600"/>
              </a:spcBef>
              <a:spcAft>
                <a:spcPts val="0"/>
              </a:spcAft>
              <a:buSzPts val="1800"/>
              <a:buFont typeface="Roboto Light"/>
              <a:buChar char="•"/>
              <a:defRPr>
                <a:latin typeface="Roboto Light"/>
                <a:ea typeface="Roboto Light"/>
                <a:cs typeface="Roboto Light"/>
                <a:sym typeface="Roboto Light"/>
              </a:defRPr>
            </a:lvl3pPr>
            <a:lvl4pPr marL="1828800" lvl="3" indent="-342900" rtl="0">
              <a:spcBef>
                <a:spcPts val="600"/>
              </a:spcBef>
              <a:spcAft>
                <a:spcPts val="0"/>
              </a:spcAft>
              <a:buSzPts val="1800"/>
              <a:buFont typeface="Roboto Light"/>
              <a:buChar char="•"/>
              <a:defRPr>
                <a:latin typeface="Roboto Light"/>
                <a:ea typeface="Roboto Light"/>
                <a:cs typeface="Roboto Light"/>
                <a:sym typeface="Roboto Light"/>
              </a:defRPr>
            </a:lvl4pPr>
            <a:lvl5pPr marL="2286000" lvl="4" indent="-342900" rtl="0">
              <a:spcBef>
                <a:spcPts val="600"/>
              </a:spcBef>
              <a:spcAft>
                <a:spcPts val="0"/>
              </a:spcAft>
              <a:buSzPts val="1800"/>
              <a:buFont typeface="Roboto Light"/>
              <a:buChar char="•"/>
              <a:defRPr>
                <a:latin typeface="Roboto Light"/>
                <a:ea typeface="Roboto Light"/>
                <a:cs typeface="Roboto Light"/>
                <a:sym typeface="Roboto Light"/>
              </a:defRPr>
            </a:lvl5pPr>
            <a:lvl6pPr marL="2743200" lvl="5" indent="-342900" rtl="0">
              <a:spcBef>
                <a:spcPts val="600"/>
              </a:spcBef>
              <a:spcAft>
                <a:spcPts val="0"/>
              </a:spcAft>
              <a:buSzPts val="1800"/>
              <a:buFont typeface="Roboto Light"/>
              <a:buChar char="•"/>
              <a:defRPr>
                <a:latin typeface="Roboto Light"/>
                <a:ea typeface="Roboto Light"/>
                <a:cs typeface="Roboto Light"/>
                <a:sym typeface="Roboto Light"/>
              </a:defRPr>
            </a:lvl6pPr>
            <a:lvl7pPr marL="3200400" lvl="6" indent="-342900" rtl="0">
              <a:spcBef>
                <a:spcPts val="600"/>
              </a:spcBef>
              <a:spcAft>
                <a:spcPts val="0"/>
              </a:spcAft>
              <a:buSzPts val="1800"/>
              <a:buFont typeface="Roboto Light"/>
              <a:buChar char="•"/>
              <a:defRPr>
                <a:latin typeface="Roboto Light"/>
                <a:ea typeface="Roboto Light"/>
                <a:cs typeface="Roboto Light"/>
                <a:sym typeface="Roboto Light"/>
              </a:defRPr>
            </a:lvl7pPr>
            <a:lvl8pPr marL="3657600" lvl="7" indent="-342900" rtl="0">
              <a:spcBef>
                <a:spcPts val="600"/>
              </a:spcBef>
              <a:spcAft>
                <a:spcPts val="0"/>
              </a:spcAft>
              <a:buSzPts val="1800"/>
              <a:buFont typeface="Roboto Light"/>
              <a:buChar char="•"/>
              <a:defRPr>
                <a:latin typeface="Roboto Light"/>
                <a:ea typeface="Roboto Light"/>
                <a:cs typeface="Roboto Light"/>
                <a:sym typeface="Roboto Light"/>
              </a:defRPr>
            </a:lvl8pPr>
            <a:lvl9pPr marL="4114800" lvl="8" indent="-342900" rtl="0">
              <a:spcBef>
                <a:spcPts val="600"/>
              </a:spcBef>
              <a:spcAft>
                <a:spcPts val="0"/>
              </a:spcAft>
              <a:buSzPts val="1800"/>
              <a:buFont typeface="Roboto Light"/>
              <a:buChar char="•"/>
              <a:defRPr>
                <a:latin typeface="Roboto Light"/>
                <a:ea typeface="Roboto Light"/>
                <a:cs typeface="Roboto Light"/>
                <a:sym typeface="Roboto Light"/>
              </a:defRPr>
            </a:lvl9pPr>
          </a:lstStyle>
          <a:p>
            <a:endParaRPr/>
          </a:p>
        </p:txBody>
      </p:sp>
      <p:pic>
        <p:nvPicPr>
          <p:cNvPr id="106" name="Google Shape;106;p18"/>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107" name="Google Shape;107;p18"/>
          <p:cNvSpPr txBox="1">
            <a:spLocks noGrp="1"/>
          </p:cNvSpPr>
          <p:nvPr>
            <p:ph type="title"/>
          </p:nvPr>
        </p:nvSpPr>
        <p:spPr>
          <a:xfrm>
            <a:off x="177925" y="2003300"/>
            <a:ext cx="4038000" cy="20379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lt1"/>
              </a:buClr>
              <a:buSzPts val="3600"/>
              <a:buNone/>
              <a:defRPr sz="3600">
                <a:solidFill>
                  <a:schemeClr val="lt1"/>
                </a:solidFill>
              </a:defRPr>
            </a:lvl1pPr>
            <a:lvl2pPr lvl="1" rtl="0">
              <a:spcBef>
                <a:spcPts val="0"/>
              </a:spcBef>
              <a:spcAft>
                <a:spcPts val="0"/>
              </a:spcAft>
              <a:buClr>
                <a:schemeClr val="lt1"/>
              </a:buClr>
              <a:buSzPts val="3600"/>
              <a:buNone/>
              <a:defRPr sz="3600">
                <a:solidFill>
                  <a:schemeClr val="lt1"/>
                </a:solidFill>
              </a:defRPr>
            </a:lvl2pPr>
            <a:lvl3pPr lvl="2" rtl="0">
              <a:spcBef>
                <a:spcPts val="0"/>
              </a:spcBef>
              <a:spcAft>
                <a:spcPts val="0"/>
              </a:spcAft>
              <a:buClr>
                <a:schemeClr val="lt1"/>
              </a:buClr>
              <a:buSzPts val="3600"/>
              <a:buNone/>
              <a:defRPr sz="3600">
                <a:solidFill>
                  <a:schemeClr val="lt1"/>
                </a:solidFill>
              </a:defRPr>
            </a:lvl3pPr>
            <a:lvl4pPr lvl="3" rtl="0">
              <a:spcBef>
                <a:spcPts val="0"/>
              </a:spcBef>
              <a:spcAft>
                <a:spcPts val="0"/>
              </a:spcAft>
              <a:buClr>
                <a:schemeClr val="lt1"/>
              </a:buClr>
              <a:buSzPts val="3600"/>
              <a:buNone/>
              <a:defRPr sz="3600">
                <a:solidFill>
                  <a:schemeClr val="lt1"/>
                </a:solidFill>
              </a:defRPr>
            </a:lvl4pPr>
            <a:lvl5pPr lvl="4" rtl="0">
              <a:spcBef>
                <a:spcPts val="0"/>
              </a:spcBef>
              <a:spcAft>
                <a:spcPts val="0"/>
              </a:spcAft>
              <a:buClr>
                <a:schemeClr val="lt1"/>
              </a:buClr>
              <a:buSzPts val="3600"/>
              <a:buNone/>
              <a:defRPr sz="3600">
                <a:solidFill>
                  <a:schemeClr val="lt1"/>
                </a:solidFill>
              </a:defRPr>
            </a:lvl5pPr>
            <a:lvl6pPr lvl="5" rtl="0">
              <a:spcBef>
                <a:spcPts val="0"/>
              </a:spcBef>
              <a:spcAft>
                <a:spcPts val="0"/>
              </a:spcAft>
              <a:buClr>
                <a:schemeClr val="lt1"/>
              </a:buClr>
              <a:buSzPts val="3600"/>
              <a:buNone/>
              <a:defRPr sz="3600">
                <a:solidFill>
                  <a:schemeClr val="lt1"/>
                </a:solidFill>
              </a:defRPr>
            </a:lvl6pPr>
            <a:lvl7pPr lvl="6" rtl="0">
              <a:spcBef>
                <a:spcPts val="0"/>
              </a:spcBef>
              <a:spcAft>
                <a:spcPts val="0"/>
              </a:spcAft>
              <a:buClr>
                <a:schemeClr val="lt1"/>
              </a:buClr>
              <a:buSzPts val="3600"/>
              <a:buNone/>
              <a:defRPr sz="3600">
                <a:solidFill>
                  <a:schemeClr val="lt1"/>
                </a:solidFill>
              </a:defRPr>
            </a:lvl7pPr>
            <a:lvl8pPr lvl="7" rtl="0">
              <a:spcBef>
                <a:spcPts val="0"/>
              </a:spcBef>
              <a:spcAft>
                <a:spcPts val="0"/>
              </a:spcAft>
              <a:buClr>
                <a:schemeClr val="lt1"/>
              </a:buClr>
              <a:buSzPts val="3600"/>
              <a:buNone/>
              <a:defRPr sz="3600">
                <a:solidFill>
                  <a:schemeClr val="lt1"/>
                </a:solidFill>
              </a:defRPr>
            </a:lvl8pPr>
            <a:lvl9pPr lvl="8" rtl="0">
              <a:spcBef>
                <a:spcPts val="0"/>
              </a:spcBef>
              <a:spcAft>
                <a:spcPts val="0"/>
              </a:spcAft>
              <a:buClr>
                <a:schemeClr val="lt1"/>
              </a:buClr>
              <a:buSzPts val="3600"/>
              <a:buNone/>
              <a:defRPr sz="3600">
                <a:solidFill>
                  <a:schemeClr val="lt1"/>
                </a:solidFill>
              </a:defRPr>
            </a:lvl9pPr>
          </a:lstStyle>
          <a:p>
            <a:endParaRPr/>
          </a:p>
        </p:txBody>
      </p:sp>
      <p:cxnSp>
        <p:nvCxnSpPr>
          <p:cNvPr id="108" name="Google Shape;108;p18"/>
          <p:cNvCxnSpPr/>
          <p:nvPr/>
        </p:nvCxnSpPr>
        <p:spPr>
          <a:xfrm>
            <a:off x="266975" y="4049175"/>
            <a:ext cx="4038000" cy="0"/>
          </a:xfrm>
          <a:prstGeom prst="straightConnector1">
            <a:avLst/>
          </a:prstGeom>
          <a:noFill/>
          <a:ln w="19050" cap="flat" cmpd="sng">
            <a:solidFill>
              <a:srgbClr val="BF9000"/>
            </a:solidFill>
            <a:prstDash val="solid"/>
            <a:round/>
            <a:headEnd type="none" w="med" len="med"/>
            <a:tailEnd type="none" w="med" len="med"/>
          </a:ln>
        </p:spPr>
      </p:cxnSp>
      <p:sp>
        <p:nvSpPr>
          <p:cNvPr id="109" name="Google Shape;109;p18"/>
          <p:cNvSpPr txBox="1">
            <a:spLocks noGrp="1"/>
          </p:cNvSpPr>
          <p:nvPr>
            <p:ph type="subTitle" idx="2"/>
          </p:nvPr>
        </p:nvSpPr>
        <p:spPr>
          <a:xfrm>
            <a:off x="177925" y="4068000"/>
            <a:ext cx="4158000" cy="393600"/>
          </a:xfrm>
          <a:prstGeom prst="rect">
            <a:avLst/>
          </a:prstGeom>
        </p:spPr>
        <p:txBody>
          <a:bodyPr spcFirstLastPara="1" wrap="square" lIns="91425" tIns="91425" rIns="91425" bIns="91425" anchor="ctr" anchorCtr="0">
            <a:noAutofit/>
          </a:bodyPr>
          <a:lstStyle>
            <a:lvl1pPr lvl="0" rtl="0">
              <a:lnSpc>
                <a:spcPct val="100000"/>
              </a:lnSpc>
              <a:spcBef>
                <a:spcPts val="600"/>
              </a:spcBef>
              <a:spcAft>
                <a:spcPts val="0"/>
              </a:spcAft>
              <a:buClr>
                <a:schemeClr val="lt1"/>
              </a:buClr>
              <a:buSzPts val="1800"/>
              <a:buNone/>
              <a:defRPr>
                <a:solidFill>
                  <a:schemeClr val="lt1"/>
                </a:solidFill>
              </a:defRPr>
            </a:lvl1pPr>
            <a:lvl2pPr lvl="1" rtl="0">
              <a:lnSpc>
                <a:spcPct val="100000"/>
              </a:lnSpc>
              <a:spcBef>
                <a:spcPts val="600"/>
              </a:spcBef>
              <a:spcAft>
                <a:spcPts val="0"/>
              </a:spcAft>
              <a:buClr>
                <a:schemeClr val="lt1"/>
              </a:buClr>
              <a:buSzPts val="2100"/>
              <a:buNone/>
              <a:defRPr sz="2100">
                <a:solidFill>
                  <a:schemeClr val="lt1"/>
                </a:solidFill>
              </a:defRPr>
            </a:lvl2pPr>
            <a:lvl3pPr lvl="2" rtl="0">
              <a:lnSpc>
                <a:spcPct val="100000"/>
              </a:lnSpc>
              <a:spcBef>
                <a:spcPts val="600"/>
              </a:spcBef>
              <a:spcAft>
                <a:spcPts val="0"/>
              </a:spcAft>
              <a:buClr>
                <a:schemeClr val="lt1"/>
              </a:buClr>
              <a:buSzPts val="2100"/>
              <a:buNone/>
              <a:defRPr sz="2100">
                <a:solidFill>
                  <a:schemeClr val="lt1"/>
                </a:solidFill>
              </a:defRPr>
            </a:lvl3pPr>
            <a:lvl4pPr lvl="3" rtl="0">
              <a:lnSpc>
                <a:spcPct val="100000"/>
              </a:lnSpc>
              <a:spcBef>
                <a:spcPts val="600"/>
              </a:spcBef>
              <a:spcAft>
                <a:spcPts val="0"/>
              </a:spcAft>
              <a:buClr>
                <a:schemeClr val="lt1"/>
              </a:buClr>
              <a:buSzPts val="2100"/>
              <a:buNone/>
              <a:defRPr sz="2100">
                <a:solidFill>
                  <a:schemeClr val="lt1"/>
                </a:solidFill>
              </a:defRPr>
            </a:lvl4pPr>
            <a:lvl5pPr lvl="4" rtl="0">
              <a:lnSpc>
                <a:spcPct val="100000"/>
              </a:lnSpc>
              <a:spcBef>
                <a:spcPts val="600"/>
              </a:spcBef>
              <a:spcAft>
                <a:spcPts val="0"/>
              </a:spcAft>
              <a:buClr>
                <a:schemeClr val="lt1"/>
              </a:buClr>
              <a:buSzPts val="2100"/>
              <a:buNone/>
              <a:defRPr sz="2100">
                <a:solidFill>
                  <a:schemeClr val="lt1"/>
                </a:solidFill>
              </a:defRPr>
            </a:lvl5pPr>
            <a:lvl6pPr lvl="5" rtl="0">
              <a:lnSpc>
                <a:spcPct val="100000"/>
              </a:lnSpc>
              <a:spcBef>
                <a:spcPts val="600"/>
              </a:spcBef>
              <a:spcAft>
                <a:spcPts val="0"/>
              </a:spcAft>
              <a:buClr>
                <a:schemeClr val="lt1"/>
              </a:buClr>
              <a:buSzPts val="2100"/>
              <a:buNone/>
              <a:defRPr sz="2100">
                <a:solidFill>
                  <a:schemeClr val="lt1"/>
                </a:solidFill>
              </a:defRPr>
            </a:lvl6pPr>
            <a:lvl7pPr lvl="6" rtl="0">
              <a:lnSpc>
                <a:spcPct val="100000"/>
              </a:lnSpc>
              <a:spcBef>
                <a:spcPts val="600"/>
              </a:spcBef>
              <a:spcAft>
                <a:spcPts val="0"/>
              </a:spcAft>
              <a:buClr>
                <a:schemeClr val="lt1"/>
              </a:buClr>
              <a:buSzPts val="2100"/>
              <a:buNone/>
              <a:defRPr sz="2100">
                <a:solidFill>
                  <a:schemeClr val="lt1"/>
                </a:solidFill>
              </a:defRPr>
            </a:lvl7pPr>
            <a:lvl8pPr lvl="7" rtl="0">
              <a:lnSpc>
                <a:spcPct val="100000"/>
              </a:lnSpc>
              <a:spcBef>
                <a:spcPts val="600"/>
              </a:spcBef>
              <a:spcAft>
                <a:spcPts val="0"/>
              </a:spcAft>
              <a:buClr>
                <a:schemeClr val="lt1"/>
              </a:buClr>
              <a:buSzPts val="2100"/>
              <a:buNone/>
              <a:defRPr sz="2100">
                <a:solidFill>
                  <a:schemeClr val="lt1"/>
                </a:solidFill>
              </a:defRPr>
            </a:lvl8pPr>
            <a:lvl9pPr lvl="8" rtl="0">
              <a:lnSpc>
                <a:spcPct val="100000"/>
              </a:lnSpc>
              <a:spcBef>
                <a:spcPts val="600"/>
              </a:spcBef>
              <a:spcAft>
                <a:spcPts val="0"/>
              </a:spcAft>
              <a:buClr>
                <a:schemeClr val="lt1"/>
              </a:buClr>
              <a:buSzPts val="2100"/>
              <a:buNone/>
              <a:defRPr sz="2100">
                <a:solidFill>
                  <a:schemeClr val="lt1"/>
                </a:solidFill>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Section title and description 1">
  <p:cSld name="SECTION_TITLE_AND_DESCRIPTION_1_1">
    <p:spTree>
      <p:nvGrpSpPr>
        <p:cNvPr id="1" name="Shape 110"/>
        <p:cNvGrpSpPr/>
        <p:nvPr/>
      </p:nvGrpSpPr>
      <p:grpSpPr>
        <a:xfrm>
          <a:off x="0" y="0"/>
          <a:ext cx="0" cy="0"/>
          <a:chOff x="0" y="0"/>
          <a:chExt cx="0" cy="0"/>
        </a:xfrm>
      </p:grpSpPr>
      <p:sp>
        <p:nvSpPr>
          <p:cNvPr id="111" name="Google Shape;111;p19"/>
          <p:cNvSpPr/>
          <p:nvPr/>
        </p:nvSpPr>
        <p:spPr>
          <a:xfrm>
            <a:off x="4572000" y="-125"/>
            <a:ext cx="4572000" cy="5143500"/>
          </a:xfrm>
          <a:prstGeom prst="rect">
            <a:avLst/>
          </a:prstGeom>
          <a:solidFill>
            <a:srgbClr val="CFE2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1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600"/>
              <a:buNone/>
              <a:defRPr/>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113" name="Google Shape;113;p1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rtl="0">
              <a:lnSpc>
                <a:spcPct val="100000"/>
              </a:lnSpc>
              <a:spcBef>
                <a:spcPts val="600"/>
              </a:spcBef>
              <a:spcAft>
                <a:spcPts val="0"/>
              </a:spcAft>
              <a:buSzPts val="1800"/>
              <a:buNone/>
              <a:defRPr/>
            </a:lvl1pPr>
            <a:lvl2pPr lvl="1" algn="ctr" rtl="0">
              <a:lnSpc>
                <a:spcPct val="100000"/>
              </a:lnSpc>
              <a:spcBef>
                <a:spcPts val="600"/>
              </a:spcBef>
              <a:spcAft>
                <a:spcPts val="0"/>
              </a:spcAft>
              <a:buSzPts val="2100"/>
              <a:buNone/>
              <a:defRPr sz="2100"/>
            </a:lvl2pPr>
            <a:lvl3pPr lvl="2" algn="ctr" rtl="0">
              <a:lnSpc>
                <a:spcPct val="100000"/>
              </a:lnSpc>
              <a:spcBef>
                <a:spcPts val="600"/>
              </a:spcBef>
              <a:spcAft>
                <a:spcPts val="0"/>
              </a:spcAft>
              <a:buSzPts val="2100"/>
              <a:buNone/>
              <a:defRPr sz="2100"/>
            </a:lvl3pPr>
            <a:lvl4pPr lvl="3" algn="ctr" rtl="0">
              <a:lnSpc>
                <a:spcPct val="100000"/>
              </a:lnSpc>
              <a:spcBef>
                <a:spcPts val="600"/>
              </a:spcBef>
              <a:spcAft>
                <a:spcPts val="0"/>
              </a:spcAft>
              <a:buSzPts val="2100"/>
              <a:buNone/>
              <a:defRPr sz="2100"/>
            </a:lvl4pPr>
            <a:lvl5pPr lvl="4" algn="ctr" rtl="0">
              <a:lnSpc>
                <a:spcPct val="100000"/>
              </a:lnSpc>
              <a:spcBef>
                <a:spcPts val="600"/>
              </a:spcBef>
              <a:spcAft>
                <a:spcPts val="0"/>
              </a:spcAft>
              <a:buSzPts val="2100"/>
              <a:buNone/>
              <a:defRPr sz="2100"/>
            </a:lvl5pPr>
            <a:lvl6pPr lvl="5" algn="ctr" rtl="0">
              <a:lnSpc>
                <a:spcPct val="100000"/>
              </a:lnSpc>
              <a:spcBef>
                <a:spcPts val="600"/>
              </a:spcBef>
              <a:spcAft>
                <a:spcPts val="0"/>
              </a:spcAft>
              <a:buSzPts val="2100"/>
              <a:buNone/>
              <a:defRPr sz="2100"/>
            </a:lvl6pPr>
            <a:lvl7pPr lvl="6" algn="ctr" rtl="0">
              <a:lnSpc>
                <a:spcPct val="100000"/>
              </a:lnSpc>
              <a:spcBef>
                <a:spcPts val="600"/>
              </a:spcBef>
              <a:spcAft>
                <a:spcPts val="0"/>
              </a:spcAft>
              <a:buSzPts val="2100"/>
              <a:buNone/>
              <a:defRPr sz="2100"/>
            </a:lvl7pPr>
            <a:lvl8pPr lvl="7" algn="ctr" rtl="0">
              <a:lnSpc>
                <a:spcPct val="100000"/>
              </a:lnSpc>
              <a:spcBef>
                <a:spcPts val="600"/>
              </a:spcBef>
              <a:spcAft>
                <a:spcPts val="0"/>
              </a:spcAft>
              <a:buSzPts val="2100"/>
              <a:buNone/>
              <a:defRPr sz="2100"/>
            </a:lvl8pPr>
            <a:lvl9pPr lvl="8" algn="ctr" rtl="0">
              <a:lnSpc>
                <a:spcPct val="100000"/>
              </a:lnSpc>
              <a:spcBef>
                <a:spcPts val="600"/>
              </a:spcBef>
              <a:spcAft>
                <a:spcPts val="0"/>
              </a:spcAft>
              <a:buSzPts val="2100"/>
              <a:buNone/>
              <a:defRPr sz="2100"/>
            </a:lvl9pPr>
          </a:lstStyle>
          <a:p>
            <a:endParaRPr/>
          </a:p>
        </p:txBody>
      </p:sp>
      <p:sp>
        <p:nvSpPr>
          <p:cNvPr id="114" name="Google Shape;114;p1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42900" rtl="0">
              <a:spcBef>
                <a:spcPts val="600"/>
              </a:spcBef>
              <a:spcAft>
                <a:spcPts val="0"/>
              </a:spcAft>
              <a:buSzPts val="1800"/>
              <a:buChar char="•"/>
              <a:defRPr/>
            </a:lvl1pPr>
            <a:lvl2pPr marL="914400" lvl="1" indent="-342900" rtl="0">
              <a:spcBef>
                <a:spcPts val="600"/>
              </a:spcBef>
              <a:spcAft>
                <a:spcPts val="0"/>
              </a:spcAft>
              <a:buSzPts val="1800"/>
              <a:buChar char="•"/>
              <a:defRPr/>
            </a:lvl2pPr>
            <a:lvl3pPr marL="1371600" lvl="2" indent="-342900" rtl="0">
              <a:spcBef>
                <a:spcPts val="600"/>
              </a:spcBef>
              <a:spcAft>
                <a:spcPts val="0"/>
              </a:spcAft>
              <a:buSzPts val="1800"/>
              <a:buChar char="•"/>
              <a:defRPr/>
            </a:lvl3pPr>
            <a:lvl4pPr marL="1828800" lvl="3" indent="-342900" rtl="0">
              <a:spcBef>
                <a:spcPts val="600"/>
              </a:spcBef>
              <a:spcAft>
                <a:spcPts val="0"/>
              </a:spcAft>
              <a:buSzPts val="1800"/>
              <a:buChar char="•"/>
              <a:defRPr/>
            </a:lvl4pPr>
            <a:lvl5pPr marL="2286000" lvl="4" indent="-342900" rtl="0">
              <a:spcBef>
                <a:spcPts val="600"/>
              </a:spcBef>
              <a:spcAft>
                <a:spcPts val="0"/>
              </a:spcAft>
              <a:buSzPts val="1800"/>
              <a:buChar char="•"/>
              <a:defRPr/>
            </a:lvl5pPr>
            <a:lvl6pPr marL="2743200" lvl="5" indent="-342900" rtl="0">
              <a:spcBef>
                <a:spcPts val="600"/>
              </a:spcBef>
              <a:spcAft>
                <a:spcPts val="0"/>
              </a:spcAft>
              <a:buSzPts val="1800"/>
              <a:buChar char="•"/>
              <a:defRPr/>
            </a:lvl6pPr>
            <a:lvl7pPr marL="3200400" lvl="6" indent="-342900" rtl="0">
              <a:spcBef>
                <a:spcPts val="600"/>
              </a:spcBef>
              <a:spcAft>
                <a:spcPts val="0"/>
              </a:spcAft>
              <a:buSzPts val="1800"/>
              <a:buChar char="•"/>
              <a:defRPr/>
            </a:lvl7pPr>
            <a:lvl8pPr marL="3657600" lvl="7" indent="-342900" rtl="0">
              <a:spcBef>
                <a:spcPts val="600"/>
              </a:spcBef>
              <a:spcAft>
                <a:spcPts val="0"/>
              </a:spcAft>
              <a:buSzPts val="1800"/>
              <a:buChar char="•"/>
              <a:defRPr/>
            </a:lvl8pPr>
            <a:lvl9pPr marL="4114800" lvl="8" indent="-342900" rtl="0">
              <a:spcBef>
                <a:spcPts val="600"/>
              </a:spcBef>
              <a:spcAft>
                <a:spcPts val="0"/>
              </a:spcAft>
              <a:buSzPts val="1800"/>
              <a:buChar char="•"/>
              <a:defRPr/>
            </a:lvl9pPr>
          </a:lstStyle>
          <a:p>
            <a:endParaRPr/>
          </a:p>
        </p:txBody>
      </p:sp>
      <p:sp>
        <p:nvSpPr>
          <p:cNvPr id="115" name="Google Shape;115;p1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de on left">
  <p:cSld name="SECTION_TITLE_AND_DESCRIPTION_1_1_1">
    <p:spTree>
      <p:nvGrpSpPr>
        <p:cNvPr id="1" name="Shape 116"/>
        <p:cNvGrpSpPr/>
        <p:nvPr/>
      </p:nvGrpSpPr>
      <p:grpSpPr>
        <a:xfrm>
          <a:off x="0" y="0"/>
          <a:ext cx="0" cy="0"/>
          <a:chOff x="0" y="0"/>
          <a:chExt cx="0" cy="0"/>
        </a:xfrm>
      </p:grpSpPr>
      <p:sp>
        <p:nvSpPr>
          <p:cNvPr id="117" name="Google Shape;117;p20"/>
          <p:cNvSpPr/>
          <p:nvPr/>
        </p:nvSpPr>
        <p:spPr>
          <a:xfrm>
            <a:off x="0" y="6"/>
            <a:ext cx="4572000" cy="5143500"/>
          </a:xfrm>
          <a:prstGeom prst="rect">
            <a:avLst/>
          </a:prstGeom>
          <a:solidFill>
            <a:srgbClr val="FDF6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2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119" name="Google Shape;119;p20"/>
          <p:cNvSpPr txBox="1">
            <a:spLocks noGrp="1"/>
          </p:cNvSpPr>
          <p:nvPr>
            <p:ph type="body" idx="1"/>
          </p:nvPr>
        </p:nvSpPr>
        <p:spPr>
          <a:xfrm>
            <a:off x="4882900" y="1152150"/>
            <a:ext cx="3950100" cy="34200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Char char="•"/>
              <a:defRPr/>
            </a:lvl1pPr>
            <a:lvl2pPr marL="914400" lvl="1" indent="-342900" rtl="0">
              <a:spcBef>
                <a:spcPts val="600"/>
              </a:spcBef>
              <a:spcAft>
                <a:spcPts val="0"/>
              </a:spcAft>
              <a:buSzPts val="1800"/>
              <a:buChar char="•"/>
              <a:defRPr/>
            </a:lvl2pPr>
            <a:lvl3pPr marL="1371600" lvl="2" indent="-342900" rtl="0">
              <a:spcBef>
                <a:spcPts val="600"/>
              </a:spcBef>
              <a:spcAft>
                <a:spcPts val="0"/>
              </a:spcAft>
              <a:buSzPts val="1800"/>
              <a:buChar char="•"/>
              <a:defRPr/>
            </a:lvl3pPr>
            <a:lvl4pPr marL="1828800" lvl="3" indent="-342900" rtl="0">
              <a:spcBef>
                <a:spcPts val="600"/>
              </a:spcBef>
              <a:spcAft>
                <a:spcPts val="0"/>
              </a:spcAft>
              <a:buSzPts val="1800"/>
              <a:buChar char="•"/>
              <a:defRPr/>
            </a:lvl4pPr>
            <a:lvl5pPr marL="2286000" lvl="4" indent="-342900" rtl="0">
              <a:spcBef>
                <a:spcPts val="600"/>
              </a:spcBef>
              <a:spcAft>
                <a:spcPts val="0"/>
              </a:spcAft>
              <a:buSzPts val="1800"/>
              <a:buChar char="•"/>
              <a:defRPr/>
            </a:lvl5pPr>
            <a:lvl6pPr marL="2743200" lvl="5" indent="-342900" rtl="0">
              <a:spcBef>
                <a:spcPts val="600"/>
              </a:spcBef>
              <a:spcAft>
                <a:spcPts val="0"/>
              </a:spcAft>
              <a:buSzPts val="1800"/>
              <a:buChar char="•"/>
              <a:defRPr/>
            </a:lvl6pPr>
            <a:lvl7pPr marL="3200400" lvl="6" indent="-342900" rtl="0">
              <a:spcBef>
                <a:spcPts val="600"/>
              </a:spcBef>
              <a:spcAft>
                <a:spcPts val="0"/>
              </a:spcAft>
              <a:buSzPts val="1800"/>
              <a:buChar char="•"/>
              <a:defRPr/>
            </a:lvl7pPr>
            <a:lvl8pPr marL="3657600" lvl="7" indent="-342900" rtl="0">
              <a:spcBef>
                <a:spcPts val="600"/>
              </a:spcBef>
              <a:spcAft>
                <a:spcPts val="0"/>
              </a:spcAft>
              <a:buSzPts val="1800"/>
              <a:buChar char="•"/>
              <a:defRPr/>
            </a:lvl8pPr>
            <a:lvl9pPr marL="4114800" lvl="8" indent="-342900" rtl="0">
              <a:spcBef>
                <a:spcPts val="600"/>
              </a:spcBef>
              <a:spcAft>
                <a:spcPts val="0"/>
              </a:spcAft>
              <a:buSzPts val="1800"/>
              <a:buChar char="•"/>
              <a:defRPr/>
            </a:lvl9pPr>
          </a:lstStyle>
          <a:p>
            <a:endParaRPr/>
          </a:p>
        </p:txBody>
      </p:sp>
      <p:sp>
        <p:nvSpPr>
          <p:cNvPr id="120" name="Google Shape;120;p20"/>
          <p:cNvSpPr txBox="1">
            <a:spLocks noGrp="1"/>
          </p:cNvSpPr>
          <p:nvPr>
            <p:ph type="body" idx="2"/>
          </p:nvPr>
        </p:nvSpPr>
        <p:spPr>
          <a:xfrm>
            <a:off x="310900" y="448050"/>
            <a:ext cx="3950100" cy="41241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Char char="•"/>
              <a:defRPr/>
            </a:lvl1pPr>
            <a:lvl2pPr marL="914400" lvl="1" indent="-342900" rtl="0">
              <a:spcBef>
                <a:spcPts val="600"/>
              </a:spcBef>
              <a:spcAft>
                <a:spcPts val="0"/>
              </a:spcAft>
              <a:buSzPts val="1800"/>
              <a:buChar char="•"/>
              <a:defRPr/>
            </a:lvl2pPr>
            <a:lvl3pPr marL="1371600" lvl="2" indent="-342900" rtl="0">
              <a:spcBef>
                <a:spcPts val="600"/>
              </a:spcBef>
              <a:spcAft>
                <a:spcPts val="0"/>
              </a:spcAft>
              <a:buSzPts val="1800"/>
              <a:buChar char="•"/>
              <a:defRPr/>
            </a:lvl3pPr>
            <a:lvl4pPr marL="1828800" lvl="3" indent="-342900" rtl="0">
              <a:spcBef>
                <a:spcPts val="600"/>
              </a:spcBef>
              <a:spcAft>
                <a:spcPts val="0"/>
              </a:spcAft>
              <a:buSzPts val="1800"/>
              <a:buChar char="•"/>
              <a:defRPr/>
            </a:lvl4pPr>
            <a:lvl5pPr marL="2286000" lvl="4" indent="-342900" rtl="0">
              <a:spcBef>
                <a:spcPts val="600"/>
              </a:spcBef>
              <a:spcAft>
                <a:spcPts val="0"/>
              </a:spcAft>
              <a:buSzPts val="1800"/>
              <a:buChar char="•"/>
              <a:defRPr/>
            </a:lvl5pPr>
            <a:lvl6pPr marL="2743200" lvl="5" indent="-342900" rtl="0">
              <a:spcBef>
                <a:spcPts val="600"/>
              </a:spcBef>
              <a:spcAft>
                <a:spcPts val="0"/>
              </a:spcAft>
              <a:buSzPts val="1800"/>
              <a:buChar char="•"/>
              <a:defRPr/>
            </a:lvl6pPr>
            <a:lvl7pPr marL="3200400" lvl="6" indent="-342900" rtl="0">
              <a:spcBef>
                <a:spcPts val="600"/>
              </a:spcBef>
              <a:spcAft>
                <a:spcPts val="0"/>
              </a:spcAft>
              <a:buSzPts val="1800"/>
              <a:buChar char="•"/>
              <a:defRPr/>
            </a:lvl7pPr>
            <a:lvl8pPr marL="3657600" lvl="7" indent="-342900" rtl="0">
              <a:spcBef>
                <a:spcPts val="600"/>
              </a:spcBef>
              <a:spcAft>
                <a:spcPts val="0"/>
              </a:spcAft>
              <a:buSzPts val="1800"/>
              <a:buChar char="•"/>
              <a:defRPr/>
            </a:lvl8pPr>
            <a:lvl9pPr marL="4114800" lvl="8" indent="-342900" rtl="0">
              <a:spcBef>
                <a:spcPts val="600"/>
              </a:spcBef>
              <a:spcAft>
                <a:spcPts val="0"/>
              </a:spcAft>
              <a:buSzPts val="1800"/>
              <a:buChar char="•"/>
              <a:defRPr/>
            </a:lvl9pPr>
          </a:lstStyle>
          <a:p>
            <a:endParaRPr/>
          </a:p>
        </p:txBody>
      </p:sp>
      <p:sp>
        <p:nvSpPr>
          <p:cNvPr id="121" name="Google Shape;121;p20"/>
          <p:cNvSpPr txBox="1">
            <a:spLocks noGrp="1"/>
          </p:cNvSpPr>
          <p:nvPr>
            <p:ph type="title"/>
          </p:nvPr>
        </p:nvSpPr>
        <p:spPr>
          <a:xfrm>
            <a:off x="4882900" y="445025"/>
            <a:ext cx="39501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pic>
        <p:nvPicPr>
          <p:cNvPr id="122" name="Google Shape;122;p20"/>
          <p:cNvPicPr preferRelativeResize="0"/>
          <p:nvPr/>
        </p:nvPicPr>
        <p:blipFill>
          <a:blip r:embed="rId2">
            <a:alphaModFix/>
          </a:blip>
          <a:stretch>
            <a:fillRect/>
          </a:stretch>
        </p:blipFill>
        <p:spPr>
          <a:xfrm>
            <a:off x="0" y="4983478"/>
            <a:ext cx="457200" cy="160022"/>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ode left, Heading">
  <p:cSld name="SECTION_TITLE_AND_DESCRIPTION_1_1_1_1">
    <p:spTree>
      <p:nvGrpSpPr>
        <p:cNvPr id="1" name="Shape 123"/>
        <p:cNvGrpSpPr/>
        <p:nvPr/>
      </p:nvGrpSpPr>
      <p:grpSpPr>
        <a:xfrm>
          <a:off x="0" y="0"/>
          <a:ext cx="0" cy="0"/>
          <a:chOff x="0" y="0"/>
          <a:chExt cx="0" cy="0"/>
        </a:xfrm>
      </p:grpSpPr>
      <p:sp>
        <p:nvSpPr>
          <p:cNvPr id="124" name="Google Shape;124;p21"/>
          <p:cNvSpPr/>
          <p:nvPr/>
        </p:nvSpPr>
        <p:spPr>
          <a:xfrm>
            <a:off x="0" y="6"/>
            <a:ext cx="4572000" cy="5143500"/>
          </a:xfrm>
          <a:prstGeom prst="rect">
            <a:avLst/>
          </a:prstGeom>
          <a:solidFill>
            <a:srgbClr val="FDF6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2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126" name="Google Shape;126;p21"/>
          <p:cNvSpPr txBox="1">
            <a:spLocks noGrp="1"/>
          </p:cNvSpPr>
          <p:nvPr>
            <p:ph type="body" idx="1"/>
          </p:nvPr>
        </p:nvSpPr>
        <p:spPr>
          <a:xfrm>
            <a:off x="4882900" y="1152150"/>
            <a:ext cx="3950100" cy="34200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Char char="•"/>
              <a:defRPr/>
            </a:lvl1pPr>
            <a:lvl2pPr marL="914400" lvl="1" indent="-342900" rtl="0">
              <a:spcBef>
                <a:spcPts val="600"/>
              </a:spcBef>
              <a:spcAft>
                <a:spcPts val="0"/>
              </a:spcAft>
              <a:buSzPts val="1800"/>
              <a:buChar char="•"/>
              <a:defRPr/>
            </a:lvl2pPr>
            <a:lvl3pPr marL="1371600" lvl="2" indent="-342900" rtl="0">
              <a:spcBef>
                <a:spcPts val="600"/>
              </a:spcBef>
              <a:spcAft>
                <a:spcPts val="0"/>
              </a:spcAft>
              <a:buSzPts val="1800"/>
              <a:buChar char="•"/>
              <a:defRPr/>
            </a:lvl3pPr>
            <a:lvl4pPr marL="1828800" lvl="3" indent="-342900" rtl="0">
              <a:spcBef>
                <a:spcPts val="600"/>
              </a:spcBef>
              <a:spcAft>
                <a:spcPts val="0"/>
              </a:spcAft>
              <a:buSzPts val="1800"/>
              <a:buChar char="•"/>
              <a:defRPr/>
            </a:lvl4pPr>
            <a:lvl5pPr marL="2286000" lvl="4" indent="-342900" rtl="0">
              <a:spcBef>
                <a:spcPts val="600"/>
              </a:spcBef>
              <a:spcAft>
                <a:spcPts val="0"/>
              </a:spcAft>
              <a:buSzPts val="1800"/>
              <a:buChar char="•"/>
              <a:defRPr/>
            </a:lvl5pPr>
            <a:lvl6pPr marL="2743200" lvl="5" indent="-342900" rtl="0">
              <a:spcBef>
                <a:spcPts val="600"/>
              </a:spcBef>
              <a:spcAft>
                <a:spcPts val="0"/>
              </a:spcAft>
              <a:buSzPts val="1800"/>
              <a:buChar char="•"/>
              <a:defRPr/>
            </a:lvl6pPr>
            <a:lvl7pPr marL="3200400" lvl="6" indent="-342900" rtl="0">
              <a:spcBef>
                <a:spcPts val="600"/>
              </a:spcBef>
              <a:spcAft>
                <a:spcPts val="0"/>
              </a:spcAft>
              <a:buSzPts val="1800"/>
              <a:buChar char="•"/>
              <a:defRPr/>
            </a:lvl7pPr>
            <a:lvl8pPr marL="3657600" lvl="7" indent="-342900" rtl="0">
              <a:spcBef>
                <a:spcPts val="600"/>
              </a:spcBef>
              <a:spcAft>
                <a:spcPts val="0"/>
              </a:spcAft>
              <a:buSzPts val="1800"/>
              <a:buChar char="•"/>
              <a:defRPr/>
            </a:lvl8pPr>
            <a:lvl9pPr marL="4114800" lvl="8" indent="-342900" rtl="0">
              <a:spcBef>
                <a:spcPts val="600"/>
              </a:spcBef>
              <a:spcAft>
                <a:spcPts val="0"/>
              </a:spcAft>
              <a:buSzPts val="1800"/>
              <a:buChar char="•"/>
              <a:defRPr/>
            </a:lvl9pPr>
          </a:lstStyle>
          <a:p>
            <a:endParaRPr/>
          </a:p>
        </p:txBody>
      </p:sp>
      <p:sp>
        <p:nvSpPr>
          <p:cNvPr id="127" name="Google Shape;127;p21"/>
          <p:cNvSpPr txBox="1">
            <a:spLocks noGrp="1"/>
          </p:cNvSpPr>
          <p:nvPr>
            <p:ph type="body" idx="2"/>
          </p:nvPr>
        </p:nvSpPr>
        <p:spPr>
          <a:xfrm>
            <a:off x="310900" y="448050"/>
            <a:ext cx="3950100" cy="41241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Char char="•"/>
              <a:defRPr/>
            </a:lvl1pPr>
            <a:lvl2pPr marL="914400" lvl="1" indent="-342900" rtl="0">
              <a:spcBef>
                <a:spcPts val="600"/>
              </a:spcBef>
              <a:spcAft>
                <a:spcPts val="0"/>
              </a:spcAft>
              <a:buSzPts val="1800"/>
              <a:buChar char="•"/>
              <a:defRPr/>
            </a:lvl2pPr>
            <a:lvl3pPr marL="1371600" lvl="2" indent="-342900" rtl="0">
              <a:spcBef>
                <a:spcPts val="600"/>
              </a:spcBef>
              <a:spcAft>
                <a:spcPts val="0"/>
              </a:spcAft>
              <a:buSzPts val="1800"/>
              <a:buChar char="•"/>
              <a:defRPr/>
            </a:lvl3pPr>
            <a:lvl4pPr marL="1828800" lvl="3" indent="-342900" rtl="0">
              <a:spcBef>
                <a:spcPts val="600"/>
              </a:spcBef>
              <a:spcAft>
                <a:spcPts val="0"/>
              </a:spcAft>
              <a:buSzPts val="1800"/>
              <a:buChar char="•"/>
              <a:defRPr/>
            </a:lvl4pPr>
            <a:lvl5pPr marL="2286000" lvl="4" indent="-342900" rtl="0">
              <a:spcBef>
                <a:spcPts val="600"/>
              </a:spcBef>
              <a:spcAft>
                <a:spcPts val="0"/>
              </a:spcAft>
              <a:buSzPts val="1800"/>
              <a:buChar char="•"/>
              <a:defRPr/>
            </a:lvl5pPr>
            <a:lvl6pPr marL="2743200" lvl="5" indent="-342900" rtl="0">
              <a:spcBef>
                <a:spcPts val="600"/>
              </a:spcBef>
              <a:spcAft>
                <a:spcPts val="0"/>
              </a:spcAft>
              <a:buSzPts val="1800"/>
              <a:buChar char="•"/>
              <a:defRPr/>
            </a:lvl6pPr>
            <a:lvl7pPr marL="3200400" lvl="6" indent="-342900" rtl="0">
              <a:spcBef>
                <a:spcPts val="600"/>
              </a:spcBef>
              <a:spcAft>
                <a:spcPts val="0"/>
              </a:spcAft>
              <a:buSzPts val="1800"/>
              <a:buChar char="•"/>
              <a:defRPr/>
            </a:lvl7pPr>
            <a:lvl8pPr marL="3657600" lvl="7" indent="-342900" rtl="0">
              <a:spcBef>
                <a:spcPts val="600"/>
              </a:spcBef>
              <a:spcAft>
                <a:spcPts val="0"/>
              </a:spcAft>
              <a:buSzPts val="1800"/>
              <a:buChar char="•"/>
              <a:defRPr/>
            </a:lvl8pPr>
            <a:lvl9pPr marL="4114800" lvl="8" indent="-342900" rtl="0">
              <a:spcBef>
                <a:spcPts val="600"/>
              </a:spcBef>
              <a:spcAft>
                <a:spcPts val="0"/>
              </a:spcAft>
              <a:buSzPts val="1800"/>
              <a:buChar char="•"/>
              <a:defRPr/>
            </a:lvl9pPr>
          </a:lstStyle>
          <a:p>
            <a:endParaRPr/>
          </a:p>
        </p:txBody>
      </p:sp>
      <p:sp>
        <p:nvSpPr>
          <p:cNvPr id="128" name="Google Shape;128;p21"/>
          <p:cNvSpPr txBox="1">
            <a:spLocks noGrp="1"/>
          </p:cNvSpPr>
          <p:nvPr>
            <p:ph type="subTitle" idx="3"/>
          </p:nvPr>
        </p:nvSpPr>
        <p:spPr>
          <a:xfrm>
            <a:off x="225450" y="3943400"/>
            <a:ext cx="4045200" cy="465000"/>
          </a:xfrm>
          <a:prstGeom prst="rect">
            <a:avLst/>
          </a:prstGeom>
        </p:spPr>
        <p:txBody>
          <a:bodyPr spcFirstLastPara="1" wrap="square" lIns="91425" tIns="91425" rIns="91425" bIns="91425" anchor="t" anchorCtr="0">
            <a:noAutofit/>
          </a:bodyPr>
          <a:lstStyle>
            <a:lvl1pPr lvl="0" rtl="0">
              <a:lnSpc>
                <a:spcPct val="100000"/>
              </a:lnSpc>
              <a:spcBef>
                <a:spcPts val="600"/>
              </a:spcBef>
              <a:spcAft>
                <a:spcPts val="0"/>
              </a:spcAft>
              <a:buSzPts val="1800"/>
              <a:buNone/>
              <a:defRPr/>
            </a:lvl1pPr>
            <a:lvl2pPr lvl="1" algn="ctr" rtl="0">
              <a:lnSpc>
                <a:spcPct val="100000"/>
              </a:lnSpc>
              <a:spcBef>
                <a:spcPts val="600"/>
              </a:spcBef>
              <a:spcAft>
                <a:spcPts val="0"/>
              </a:spcAft>
              <a:buSzPts val="2100"/>
              <a:buNone/>
              <a:defRPr sz="2100"/>
            </a:lvl2pPr>
            <a:lvl3pPr lvl="2" algn="ctr" rtl="0">
              <a:lnSpc>
                <a:spcPct val="100000"/>
              </a:lnSpc>
              <a:spcBef>
                <a:spcPts val="600"/>
              </a:spcBef>
              <a:spcAft>
                <a:spcPts val="0"/>
              </a:spcAft>
              <a:buSzPts val="2100"/>
              <a:buNone/>
              <a:defRPr sz="2100"/>
            </a:lvl3pPr>
            <a:lvl4pPr lvl="3" algn="ctr" rtl="0">
              <a:lnSpc>
                <a:spcPct val="100000"/>
              </a:lnSpc>
              <a:spcBef>
                <a:spcPts val="600"/>
              </a:spcBef>
              <a:spcAft>
                <a:spcPts val="0"/>
              </a:spcAft>
              <a:buSzPts val="2100"/>
              <a:buNone/>
              <a:defRPr sz="2100"/>
            </a:lvl4pPr>
            <a:lvl5pPr lvl="4" algn="ctr" rtl="0">
              <a:lnSpc>
                <a:spcPct val="100000"/>
              </a:lnSpc>
              <a:spcBef>
                <a:spcPts val="600"/>
              </a:spcBef>
              <a:spcAft>
                <a:spcPts val="0"/>
              </a:spcAft>
              <a:buSzPts val="2100"/>
              <a:buNone/>
              <a:defRPr sz="2100"/>
            </a:lvl5pPr>
            <a:lvl6pPr lvl="5" algn="ctr" rtl="0">
              <a:lnSpc>
                <a:spcPct val="100000"/>
              </a:lnSpc>
              <a:spcBef>
                <a:spcPts val="600"/>
              </a:spcBef>
              <a:spcAft>
                <a:spcPts val="0"/>
              </a:spcAft>
              <a:buSzPts val="2100"/>
              <a:buNone/>
              <a:defRPr sz="2100"/>
            </a:lvl6pPr>
            <a:lvl7pPr lvl="6" algn="ctr" rtl="0">
              <a:lnSpc>
                <a:spcPct val="100000"/>
              </a:lnSpc>
              <a:spcBef>
                <a:spcPts val="600"/>
              </a:spcBef>
              <a:spcAft>
                <a:spcPts val="0"/>
              </a:spcAft>
              <a:buSzPts val="2100"/>
              <a:buNone/>
              <a:defRPr sz="2100"/>
            </a:lvl7pPr>
            <a:lvl8pPr lvl="7" algn="ctr" rtl="0">
              <a:lnSpc>
                <a:spcPct val="100000"/>
              </a:lnSpc>
              <a:spcBef>
                <a:spcPts val="600"/>
              </a:spcBef>
              <a:spcAft>
                <a:spcPts val="0"/>
              </a:spcAft>
              <a:buSzPts val="2100"/>
              <a:buNone/>
              <a:defRPr sz="2100"/>
            </a:lvl8pPr>
            <a:lvl9pPr lvl="8" algn="ctr" rtl="0">
              <a:lnSpc>
                <a:spcPct val="100000"/>
              </a:lnSpc>
              <a:spcBef>
                <a:spcPts val="600"/>
              </a:spcBef>
              <a:spcAft>
                <a:spcPts val="0"/>
              </a:spcAft>
              <a:buSzPts val="2100"/>
              <a:buNone/>
              <a:defRPr sz="2100"/>
            </a:lvl9pPr>
          </a:lstStyle>
          <a:p>
            <a:endParaRPr/>
          </a:p>
        </p:txBody>
      </p:sp>
      <p:sp>
        <p:nvSpPr>
          <p:cNvPr id="129" name="Google Shape;129;p21"/>
          <p:cNvSpPr txBox="1">
            <a:spLocks noGrp="1"/>
          </p:cNvSpPr>
          <p:nvPr>
            <p:ph type="title"/>
          </p:nvPr>
        </p:nvSpPr>
        <p:spPr>
          <a:xfrm>
            <a:off x="208450" y="3418425"/>
            <a:ext cx="3950100" cy="5727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sz="2500"/>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a:endParaRPr/>
          </a:p>
        </p:txBody>
      </p:sp>
      <p:pic>
        <p:nvPicPr>
          <p:cNvPr id="130" name="Google Shape;130;p21"/>
          <p:cNvPicPr preferRelativeResize="0"/>
          <p:nvPr/>
        </p:nvPicPr>
        <p:blipFill>
          <a:blip r:embed="rId2">
            <a:alphaModFix/>
          </a:blip>
          <a:stretch>
            <a:fillRect/>
          </a:stretch>
        </p:blipFill>
        <p:spPr>
          <a:xfrm>
            <a:off x="0" y="4983478"/>
            <a:ext cx="457200" cy="160022"/>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Section header 1">
  <p:cSld name="SECTION_HEADER_1">
    <p:spTree>
      <p:nvGrpSpPr>
        <p:cNvPr id="1" name="Shape 131"/>
        <p:cNvGrpSpPr/>
        <p:nvPr/>
      </p:nvGrpSpPr>
      <p:grpSpPr>
        <a:xfrm>
          <a:off x="0" y="0"/>
          <a:ext cx="0" cy="0"/>
          <a:chOff x="0" y="0"/>
          <a:chExt cx="0" cy="0"/>
        </a:xfrm>
      </p:grpSpPr>
      <p:sp>
        <p:nvSpPr>
          <p:cNvPr id="132" name="Google Shape;132;p22"/>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33" name="Google Shape;133;p2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Code on right">
  <p:cSld name="SECTION_TITLE_AND_DESCRIPTION_1_2">
    <p:spTree>
      <p:nvGrpSpPr>
        <p:cNvPr id="1" name="Shape 134"/>
        <p:cNvGrpSpPr/>
        <p:nvPr/>
      </p:nvGrpSpPr>
      <p:grpSpPr>
        <a:xfrm>
          <a:off x="0" y="0"/>
          <a:ext cx="0" cy="0"/>
          <a:chOff x="0" y="0"/>
          <a:chExt cx="0" cy="0"/>
        </a:xfrm>
      </p:grpSpPr>
      <p:sp>
        <p:nvSpPr>
          <p:cNvPr id="135" name="Google Shape;135;p23"/>
          <p:cNvSpPr/>
          <p:nvPr/>
        </p:nvSpPr>
        <p:spPr>
          <a:xfrm>
            <a:off x="4572000" y="-125"/>
            <a:ext cx="4572000" cy="5143500"/>
          </a:xfrm>
          <a:prstGeom prst="rect">
            <a:avLst/>
          </a:prstGeom>
          <a:solidFill>
            <a:srgbClr val="FDF6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2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137" name="Google Shape;137;p23"/>
          <p:cNvSpPr txBox="1">
            <a:spLocks noGrp="1"/>
          </p:cNvSpPr>
          <p:nvPr>
            <p:ph type="body" idx="1"/>
          </p:nvPr>
        </p:nvSpPr>
        <p:spPr>
          <a:xfrm>
            <a:off x="311700" y="1152150"/>
            <a:ext cx="3950100" cy="34200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Char char="•"/>
              <a:defRPr/>
            </a:lvl1pPr>
            <a:lvl2pPr marL="914400" lvl="1" indent="-342900" rtl="0">
              <a:spcBef>
                <a:spcPts val="600"/>
              </a:spcBef>
              <a:spcAft>
                <a:spcPts val="0"/>
              </a:spcAft>
              <a:buSzPts val="1800"/>
              <a:buChar char="•"/>
              <a:defRPr/>
            </a:lvl2pPr>
            <a:lvl3pPr marL="1371600" lvl="2" indent="-342900" rtl="0">
              <a:spcBef>
                <a:spcPts val="600"/>
              </a:spcBef>
              <a:spcAft>
                <a:spcPts val="0"/>
              </a:spcAft>
              <a:buSzPts val="1800"/>
              <a:buChar char="•"/>
              <a:defRPr/>
            </a:lvl3pPr>
            <a:lvl4pPr marL="1828800" lvl="3" indent="-342900" rtl="0">
              <a:spcBef>
                <a:spcPts val="600"/>
              </a:spcBef>
              <a:spcAft>
                <a:spcPts val="0"/>
              </a:spcAft>
              <a:buSzPts val="1800"/>
              <a:buChar char="•"/>
              <a:defRPr/>
            </a:lvl4pPr>
            <a:lvl5pPr marL="2286000" lvl="4" indent="-342900" rtl="0">
              <a:spcBef>
                <a:spcPts val="600"/>
              </a:spcBef>
              <a:spcAft>
                <a:spcPts val="0"/>
              </a:spcAft>
              <a:buSzPts val="1800"/>
              <a:buChar char="•"/>
              <a:defRPr/>
            </a:lvl5pPr>
            <a:lvl6pPr marL="2743200" lvl="5" indent="-342900" rtl="0">
              <a:spcBef>
                <a:spcPts val="600"/>
              </a:spcBef>
              <a:spcAft>
                <a:spcPts val="0"/>
              </a:spcAft>
              <a:buSzPts val="1800"/>
              <a:buChar char="•"/>
              <a:defRPr/>
            </a:lvl6pPr>
            <a:lvl7pPr marL="3200400" lvl="6" indent="-342900" rtl="0">
              <a:spcBef>
                <a:spcPts val="600"/>
              </a:spcBef>
              <a:spcAft>
                <a:spcPts val="0"/>
              </a:spcAft>
              <a:buSzPts val="1800"/>
              <a:buChar char="•"/>
              <a:defRPr/>
            </a:lvl7pPr>
            <a:lvl8pPr marL="3657600" lvl="7" indent="-342900" rtl="0">
              <a:spcBef>
                <a:spcPts val="600"/>
              </a:spcBef>
              <a:spcAft>
                <a:spcPts val="0"/>
              </a:spcAft>
              <a:buSzPts val="1800"/>
              <a:buChar char="•"/>
              <a:defRPr/>
            </a:lvl8pPr>
            <a:lvl9pPr marL="4114800" lvl="8" indent="-342900" rtl="0">
              <a:spcBef>
                <a:spcPts val="600"/>
              </a:spcBef>
              <a:spcAft>
                <a:spcPts val="0"/>
              </a:spcAft>
              <a:buSzPts val="1800"/>
              <a:buChar char="•"/>
              <a:defRPr/>
            </a:lvl9pPr>
          </a:lstStyle>
          <a:p>
            <a:endParaRPr/>
          </a:p>
        </p:txBody>
      </p:sp>
      <p:sp>
        <p:nvSpPr>
          <p:cNvPr id="138" name="Google Shape;138;p23"/>
          <p:cNvSpPr txBox="1">
            <a:spLocks noGrp="1"/>
          </p:cNvSpPr>
          <p:nvPr>
            <p:ph type="body" idx="2"/>
          </p:nvPr>
        </p:nvSpPr>
        <p:spPr>
          <a:xfrm>
            <a:off x="4882900" y="448050"/>
            <a:ext cx="3950100" cy="41241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Char char="•"/>
              <a:defRPr/>
            </a:lvl1pPr>
            <a:lvl2pPr marL="914400" lvl="1" indent="-342900" rtl="0">
              <a:spcBef>
                <a:spcPts val="600"/>
              </a:spcBef>
              <a:spcAft>
                <a:spcPts val="0"/>
              </a:spcAft>
              <a:buSzPts val="1800"/>
              <a:buChar char="•"/>
              <a:defRPr/>
            </a:lvl2pPr>
            <a:lvl3pPr marL="1371600" lvl="2" indent="-342900" rtl="0">
              <a:spcBef>
                <a:spcPts val="600"/>
              </a:spcBef>
              <a:spcAft>
                <a:spcPts val="0"/>
              </a:spcAft>
              <a:buSzPts val="1800"/>
              <a:buChar char="•"/>
              <a:defRPr/>
            </a:lvl3pPr>
            <a:lvl4pPr marL="1828800" lvl="3" indent="-342900" rtl="0">
              <a:spcBef>
                <a:spcPts val="600"/>
              </a:spcBef>
              <a:spcAft>
                <a:spcPts val="0"/>
              </a:spcAft>
              <a:buSzPts val="1800"/>
              <a:buChar char="•"/>
              <a:defRPr/>
            </a:lvl4pPr>
            <a:lvl5pPr marL="2286000" lvl="4" indent="-342900" rtl="0">
              <a:spcBef>
                <a:spcPts val="600"/>
              </a:spcBef>
              <a:spcAft>
                <a:spcPts val="0"/>
              </a:spcAft>
              <a:buSzPts val="1800"/>
              <a:buChar char="•"/>
              <a:defRPr/>
            </a:lvl5pPr>
            <a:lvl6pPr marL="2743200" lvl="5" indent="-342900" rtl="0">
              <a:spcBef>
                <a:spcPts val="600"/>
              </a:spcBef>
              <a:spcAft>
                <a:spcPts val="0"/>
              </a:spcAft>
              <a:buSzPts val="1800"/>
              <a:buChar char="•"/>
              <a:defRPr/>
            </a:lvl6pPr>
            <a:lvl7pPr marL="3200400" lvl="6" indent="-342900" rtl="0">
              <a:spcBef>
                <a:spcPts val="600"/>
              </a:spcBef>
              <a:spcAft>
                <a:spcPts val="0"/>
              </a:spcAft>
              <a:buSzPts val="1800"/>
              <a:buChar char="•"/>
              <a:defRPr/>
            </a:lvl7pPr>
            <a:lvl8pPr marL="3657600" lvl="7" indent="-342900" rtl="0">
              <a:spcBef>
                <a:spcPts val="600"/>
              </a:spcBef>
              <a:spcAft>
                <a:spcPts val="0"/>
              </a:spcAft>
              <a:buSzPts val="1800"/>
              <a:buChar char="•"/>
              <a:defRPr/>
            </a:lvl8pPr>
            <a:lvl9pPr marL="4114800" lvl="8" indent="-342900" rtl="0">
              <a:spcBef>
                <a:spcPts val="600"/>
              </a:spcBef>
              <a:spcAft>
                <a:spcPts val="0"/>
              </a:spcAft>
              <a:buSzPts val="1800"/>
              <a:buChar char="•"/>
              <a:defRPr/>
            </a:lvl9pPr>
          </a:lstStyle>
          <a:p>
            <a:endParaRPr/>
          </a:p>
        </p:txBody>
      </p:sp>
      <p:sp>
        <p:nvSpPr>
          <p:cNvPr id="139" name="Google Shape;139;p23"/>
          <p:cNvSpPr txBox="1">
            <a:spLocks noGrp="1"/>
          </p:cNvSpPr>
          <p:nvPr>
            <p:ph type="title"/>
          </p:nvPr>
        </p:nvSpPr>
        <p:spPr>
          <a:xfrm>
            <a:off x="311700" y="445025"/>
            <a:ext cx="39501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0" y="0"/>
            <a:ext cx="8520600" cy="3936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rgbClr val="0B5394"/>
              </a:buClr>
              <a:buSzPts val="1600"/>
              <a:buFont typeface="Roboto Medium"/>
              <a:buNone/>
              <a:defRPr sz="1600">
                <a:solidFill>
                  <a:srgbClr val="0B5394"/>
                </a:solidFill>
                <a:latin typeface="Roboto Medium"/>
                <a:ea typeface="Roboto Medium"/>
                <a:cs typeface="Roboto Medium"/>
                <a:sym typeface="Roboto Medium"/>
              </a:defRPr>
            </a:lvl1pPr>
            <a:lvl2pPr lvl="1"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2pPr>
            <a:lvl3pPr lvl="2"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3pPr>
            <a:lvl4pPr lvl="3"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4pPr>
            <a:lvl5pPr lvl="4"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5pPr>
            <a:lvl6pPr lvl="5"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6pPr>
            <a:lvl7pPr lvl="6"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7pPr>
            <a:lvl8pPr lvl="7"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8pPr>
            <a:lvl9pPr lvl="8"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9pPr>
          </a:lstStyle>
          <a:p>
            <a:endParaRPr/>
          </a:p>
        </p:txBody>
      </p:sp>
      <p:sp>
        <p:nvSpPr>
          <p:cNvPr id="7" name="Google Shape;7;p1"/>
          <p:cNvSpPr txBox="1">
            <a:spLocks noGrp="1"/>
          </p:cNvSpPr>
          <p:nvPr>
            <p:ph type="body" idx="1"/>
          </p:nvPr>
        </p:nvSpPr>
        <p:spPr>
          <a:xfrm>
            <a:off x="311700" y="572700"/>
            <a:ext cx="8520600" cy="3416400"/>
          </a:xfrm>
          <a:prstGeom prst="rect">
            <a:avLst/>
          </a:prstGeom>
          <a:noFill/>
          <a:ln>
            <a:noFill/>
          </a:ln>
        </p:spPr>
        <p:txBody>
          <a:bodyPr spcFirstLastPara="1" wrap="square" lIns="91425" tIns="91425" rIns="91425" bIns="91425" anchor="t" anchorCtr="0">
            <a:noAutofit/>
          </a:bodyPr>
          <a:lstStyle>
            <a:lvl1pPr marL="457200" lvl="0" indent="-342900" rtl="0">
              <a:lnSpc>
                <a:spcPct val="100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1pPr>
            <a:lvl2pPr marL="914400" lvl="1" indent="-342900" rtl="0">
              <a:lnSpc>
                <a:spcPct val="100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2pPr>
            <a:lvl3pPr marL="1371600" lvl="2" indent="-342900" rtl="0">
              <a:lnSpc>
                <a:spcPct val="100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3pPr>
            <a:lvl4pPr marL="1828800" lvl="3" indent="-342900" rtl="0">
              <a:lnSpc>
                <a:spcPct val="100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4pPr>
            <a:lvl5pPr marL="2286000" lvl="4" indent="-342900" rtl="0">
              <a:lnSpc>
                <a:spcPct val="100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5pPr>
            <a:lvl6pPr marL="2743200" lvl="5" indent="-342900" rtl="0">
              <a:lnSpc>
                <a:spcPct val="100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6pPr>
            <a:lvl7pPr marL="3200400" lvl="6" indent="-342900" rtl="0">
              <a:lnSpc>
                <a:spcPct val="100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7pPr>
            <a:lvl8pPr marL="3657600" lvl="7" indent="-342900" rtl="0">
              <a:lnSpc>
                <a:spcPct val="100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8pPr>
            <a:lvl9pPr marL="4114800" lvl="8" indent="-342900" rtl="0">
              <a:lnSpc>
                <a:spcPct val="100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rtl="0">
              <a:buNone/>
              <a:defRPr sz="1000">
                <a:solidFill>
                  <a:schemeClr val="dk1"/>
                </a:solidFill>
                <a:latin typeface="Roboto"/>
                <a:ea typeface="Roboto"/>
                <a:cs typeface="Roboto"/>
                <a:sym typeface="Roboto"/>
              </a:defRPr>
            </a:lvl1pPr>
            <a:lvl2pPr lvl="1" algn="r" rtl="0">
              <a:buNone/>
              <a:defRPr sz="1000">
                <a:solidFill>
                  <a:schemeClr val="dk1"/>
                </a:solidFill>
                <a:latin typeface="Roboto"/>
                <a:ea typeface="Roboto"/>
                <a:cs typeface="Roboto"/>
                <a:sym typeface="Roboto"/>
              </a:defRPr>
            </a:lvl2pPr>
            <a:lvl3pPr lvl="2" algn="r" rtl="0">
              <a:buNone/>
              <a:defRPr sz="1000">
                <a:solidFill>
                  <a:schemeClr val="dk1"/>
                </a:solidFill>
                <a:latin typeface="Roboto"/>
                <a:ea typeface="Roboto"/>
                <a:cs typeface="Roboto"/>
                <a:sym typeface="Roboto"/>
              </a:defRPr>
            </a:lvl3pPr>
            <a:lvl4pPr lvl="3" algn="r" rtl="0">
              <a:buNone/>
              <a:defRPr sz="1000">
                <a:solidFill>
                  <a:schemeClr val="dk1"/>
                </a:solidFill>
                <a:latin typeface="Roboto"/>
                <a:ea typeface="Roboto"/>
                <a:cs typeface="Roboto"/>
                <a:sym typeface="Roboto"/>
              </a:defRPr>
            </a:lvl4pPr>
            <a:lvl5pPr lvl="4" algn="r" rtl="0">
              <a:buNone/>
              <a:defRPr sz="1000">
                <a:solidFill>
                  <a:schemeClr val="dk1"/>
                </a:solidFill>
                <a:latin typeface="Roboto"/>
                <a:ea typeface="Roboto"/>
                <a:cs typeface="Roboto"/>
                <a:sym typeface="Roboto"/>
              </a:defRPr>
            </a:lvl5pPr>
            <a:lvl6pPr lvl="5" algn="r" rtl="0">
              <a:buNone/>
              <a:defRPr sz="1000">
                <a:solidFill>
                  <a:schemeClr val="dk1"/>
                </a:solidFill>
                <a:latin typeface="Roboto"/>
                <a:ea typeface="Roboto"/>
                <a:cs typeface="Roboto"/>
                <a:sym typeface="Roboto"/>
              </a:defRPr>
            </a:lvl6pPr>
            <a:lvl7pPr lvl="6" algn="r" rtl="0">
              <a:buNone/>
              <a:defRPr sz="1000">
                <a:solidFill>
                  <a:schemeClr val="dk1"/>
                </a:solidFill>
                <a:latin typeface="Roboto"/>
                <a:ea typeface="Roboto"/>
                <a:cs typeface="Roboto"/>
                <a:sym typeface="Roboto"/>
              </a:defRPr>
            </a:lvl7pPr>
            <a:lvl8pPr lvl="7" algn="r" rtl="0">
              <a:buNone/>
              <a:defRPr sz="1000">
                <a:solidFill>
                  <a:schemeClr val="dk1"/>
                </a:solidFill>
                <a:latin typeface="Roboto"/>
                <a:ea typeface="Roboto"/>
                <a:cs typeface="Roboto"/>
                <a:sym typeface="Roboto"/>
              </a:defRPr>
            </a:lvl8pPr>
            <a:lvl9pPr lvl="8" algn="r" rtl="0">
              <a:buNone/>
              <a:defRPr sz="1000">
                <a:solidFill>
                  <a:schemeClr val="dk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pic>
        <p:nvPicPr>
          <p:cNvPr id="9" name="Google Shape;9;p1"/>
          <p:cNvPicPr preferRelativeResize="0"/>
          <p:nvPr/>
        </p:nvPicPr>
        <p:blipFill>
          <a:blip r:embed="rId24">
            <a:alphaModFix/>
          </a:blip>
          <a:stretch>
            <a:fillRect/>
          </a:stretch>
        </p:blipFill>
        <p:spPr>
          <a:xfrm>
            <a:off x="0" y="4983478"/>
            <a:ext cx="457200" cy="160022"/>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4.png"/><Relationship Id="rId2" Type="http://schemas.openxmlformats.org/officeDocument/2006/relationships/notesSlide" Target="../notesSlides/notesSlide46.xml"/><Relationship Id="rId1" Type="http://schemas.openxmlformats.org/officeDocument/2006/relationships/slideLayout" Target="../slideLayouts/slideLayout3.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3" Type="http://schemas.openxmlformats.org/officeDocument/2006/relationships/hyperlink" Target="http://oeis.org/A036604" TargetMode="External"/><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8" Type="http://schemas.openxmlformats.org/officeDocument/2006/relationships/hyperlink" Target="https://www.youtube.com/watch?v=kPRA0W1kECg&amp;t=1m54s" TargetMode="External"/><Relationship Id="rId3" Type="http://schemas.openxmlformats.org/officeDocument/2006/relationships/hyperlink" Target="https://www.youtube.com/watch?v=kPRA0W1kECg" TargetMode="External"/><Relationship Id="rId7" Type="http://schemas.openxmlformats.org/officeDocument/2006/relationships/hyperlink" Target="https://www.youtube.com/watch?v=kPRA0W1kECg&amp;t=1m28s" TargetMode="External"/><Relationship Id="rId2" Type="http://schemas.openxmlformats.org/officeDocument/2006/relationships/notesSlide" Target="../notesSlides/notesSlide63.xml"/><Relationship Id="rId1" Type="http://schemas.openxmlformats.org/officeDocument/2006/relationships/slideLayout" Target="../slideLayouts/slideLayout3.xml"/><Relationship Id="rId6" Type="http://schemas.openxmlformats.org/officeDocument/2006/relationships/hyperlink" Target="https://www.youtube.com/watch?v=kPRA0W1kECg&amp;t=1m05s" TargetMode="External"/><Relationship Id="rId11" Type="http://schemas.openxmlformats.org/officeDocument/2006/relationships/hyperlink" Target="https://www.youtube.com/watch?v=8MsTNqK3o_w" TargetMode="External"/><Relationship Id="rId5" Type="http://schemas.openxmlformats.org/officeDocument/2006/relationships/hyperlink" Target="https://www.youtube.com/watch?v=kPRA0W1kECg&amp;t=0m38s" TargetMode="External"/><Relationship Id="rId10" Type="http://schemas.openxmlformats.org/officeDocument/2006/relationships/hyperlink" Target="https://www.youtube.com/watch?v=kPRA0W1kECg&amp;t=3m37s" TargetMode="External"/><Relationship Id="rId4" Type="http://schemas.openxmlformats.org/officeDocument/2006/relationships/hyperlink" Target="https://www.youtube.com/watch?v=kPRA0W1kECg&amp;t=0m9s" TargetMode="External"/><Relationship Id="rId9" Type="http://schemas.openxmlformats.org/officeDocument/2006/relationships/hyperlink" Target="https://www.youtube.com/watch?v=kPRA0W1kECg&amp;t=2m10s" TargetMode="Externa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6.xml"/><Relationship Id="rId1" Type="http://schemas.openxmlformats.org/officeDocument/2006/relationships/slideLayout" Target="../slideLayouts/slideLayout3.xml"/><Relationship Id="rId4" Type="http://schemas.openxmlformats.org/officeDocument/2006/relationships/image" Target="../media/image10.png"/></Relationships>
</file>

<file path=ppt/slides/_rels/slide6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7.xml"/><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8.xml"/><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9.xml"/><Relationship Id="rId1" Type="http://schemas.openxmlformats.org/officeDocument/2006/relationships/slideLayout" Target="../slideLayouts/slideLayout3.xml"/><Relationship Id="rId4" Type="http://schemas.openxmlformats.org/officeDocument/2006/relationships/image" Target="../media/image14.png"/></Relationships>
</file>

<file path=ppt/slides/_rels/slide7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0.xml"/><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1.xml"/><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2.xml"/><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3.xml"/><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4.xml"/><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5.xml"/><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4"/>
          <p:cNvSpPr txBox="1">
            <a:spLocks noGrp="1"/>
          </p:cNvSpPr>
          <p:nvPr>
            <p:ph type="ctrTitle"/>
          </p:nvPr>
        </p:nvSpPr>
        <p:spPr>
          <a:xfrm>
            <a:off x="311700" y="1658975"/>
            <a:ext cx="8709600" cy="2052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3600">
                <a:solidFill>
                  <a:schemeClr val="accent3"/>
                </a:solidFill>
              </a:rPr>
              <a:t>Theoretical Bounds on Sorting</a:t>
            </a:r>
            <a:endParaRPr sz="3600">
              <a:solidFill>
                <a:schemeClr val="accent3"/>
              </a:solidFill>
            </a:endParaRPr>
          </a:p>
        </p:txBody>
      </p:sp>
      <p:sp>
        <p:nvSpPr>
          <p:cNvPr id="145" name="Google Shape;145;p24"/>
          <p:cNvSpPr txBox="1"/>
          <p:nvPr/>
        </p:nvSpPr>
        <p:spPr>
          <a:xfrm>
            <a:off x="345775" y="2740300"/>
            <a:ext cx="2762700" cy="282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rgbClr val="BF9000"/>
                </a:solidFill>
                <a:latin typeface="Roboto Medium"/>
                <a:ea typeface="Roboto Medium"/>
                <a:cs typeface="Roboto Medium"/>
                <a:sym typeface="Roboto Medium"/>
              </a:rPr>
              <a:t>Lecture 34 (Sorting 4)</a:t>
            </a:r>
            <a:endParaRPr sz="1200">
              <a:solidFill>
                <a:srgbClr val="BF9000"/>
              </a:solidFill>
              <a:latin typeface="Roboto Medium"/>
              <a:ea typeface="Roboto Medium"/>
              <a:cs typeface="Roboto Medium"/>
              <a:sym typeface="Roboto Medium"/>
            </a:endParaRPr>
          </a:p>
        </p:txBody>
      </p:sp>
      <p:sp>
        <p:nvSpPr>
          <p:cNvPr id="146" name="Google Shape;146;p2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a:t>
            </a:fld>
            <a:endParaRPr/>
          </a:p>
        </p:txBody>
      </p:sp>
      <p:sp>
        <p:nvSpPr>
          <p:cNvPr id="147" name="Google Shape;147;p24"/>
          <p:cNvSpPr txBox="1"/>
          <p:nvPr/>
        </p:nvSpPr>
        <p:spPr>
          <a:xfrm>
            <a:off x="311700" y="3854350"/>
            <a:ext cx="8520600" cy="658500"/>
          </a:xfrm>
          <a:prstGeom prst="rect">
            <a:avLst/>
          </a:prstGeom>
          <a:noFill/>
          <a:ln>
            <a:noFill/>
          </a:ln>
        </p:spPr>
        <p:txBody>
          <a:bodyPr spcFirstLastPara="1" wrap="square" lIns="91425" tIns="91425" rIns="91425" bIns="91425" anchor="t" anchorCtr="0">
            <a:noAutofit/>
          </a:bodyPr>
          <a:lstStyle/>
          <a:p>
            <a:pPr marL="0" lvl="0" indent="0" algn="l" rtl="0">
              <a:spcBef>
                <a:spcPts val="600"/>
              </a:spcBef>
              <a:spcAft>
                <a:spcPts val="0"/>
              </a:spcAft>
              <a:buNone/>
            </a:pPr>
            <a:r>
              <a:rPr lang="en" sz="1600">
                <a:latin typeface="Roboto Medium"/>
                <a:ea typeface="Roboto Medium"/>
                <a:cs typeface="Roboto Medium"/>
                <a:sym typeface="Roboto Medium"/>
              </a:rPr>
              <a:t>CS61B, Fall</a:t>
            </a:r>
            <a:r>
              <a:rPr lang="en" sz="1600">
                <a:solidFill>
                  <a:srgbClr val="000000"/>
                </a:solidFill>
                <a:latin typeface="Roboto Medium"/>
                <a:ea typeface="Roboto Medium"/>
                <a:cs typeface="Roboto Medium"/>
                <a:sym typeface="Roboto Medium"/>
              </a:rPr>
              <a:t> 202</a:t>
            </a:r>
            <a:r>
              <a:rPr lang="en" sz="1600">
                <a:latin typeface="Roboto Medium"/>
                <a:ea typeface="Roboto Medium"/>
                <a:cs typeface="Roboto Medium"/>
                <a:sym typeface="Roboto Medium"/>
              </a:rPr>
              <a:t>3</a:t>
            </a:r>
            <a:r>
              <a:rPr lang="en" sz="1600">
                <a:solidFill>
                  <a:srgbClr val="000000"/>
                </a:solidFill>
                <a:latin typeface="Roboto Medium"/>
                <a:ea typeface="Roboto Medium"/>
                <a:cs typeface="Roboto Medium"/>
                <a:sym typeface="Roboto Medium"/>
              </a:rPr>
              <a:t> @ UC Berkeley</a:t>
            </a:r>
            <a:endParaRPr sz="1600">
              <a:solidFill>
                <a:srgbClr val="000000"/>
              </a:solidFill>
              <a:latin typeface="Roboto Medium"/>
              <a:ea typeface="Roboto Medium"/>
              <a:cs typeface="Roboto Medium"/>
              <a:sym typeface="Roboto Medium"/>
            </a:endParaRPr>
          </a:p>
          <a:p>
            <a:pPr marL="0" lvl="0" indent="0" algn="l" rtl="0">
              <a:spcBef>
                <a:spcPts val="600"/>
              </a:spcBef>
              <a:spcAft>
                <a:spcPts val="0"/>
              </a:spcAft>
              <a:buNone/>
            </a:pPr>
            <a:r>
              <a:rPr lang="en" sz="1600">
                <a:latin typeface="Roboto Light"/>
                <a:ea typeface="Roboto Light"/>
                <a:cs typeface="Roboto Light"/>
                <a:sym typeface="Roboto Light"/>
              </a:rPr>
              <a:t>Slides credit: </a:t>
            </a:r>
            <a:r>
              <a:rPr lang="en" sz="1600">
                <a:solidFill>
                  <a:srgbClr val="000000"/>
                </a:solidFill>
                <a:latin typeface="Roboto Light"/>
                <a:ea typeface="Roboto Light"/>
                <a:cs typeface="Roboto Light"/>
                <a:sym typeface="Roboto Light"/>
              </a:rPr>
              <a:t>Josh Hug</a:t>
            </a:r>
            <a:endParaRPr sz="1600">
              <a:solidFill>
                <a:srgbClr val="000000"/>
              </a:solidFill>
              <a:latin typeface="Roboto Light"/>
              <a:ea typeface="Roboto Light"/>
              <a:cs typeface="Roboto Light"/>
              <a:sym typeface="Roboto Light"/>
            </a:endParaRPr>
          </a:p>
        </p:txBody>
      </p:sp>
      <p:pic>
        <p:nvPicPr>
          <p:cNvPr id="148" name="Google Shape;148;p24"/>
          <p:cNvPicPr preferRelativeResize="0"/>
          <p:nvPr/>
        </p:nvPicPr>
        <p:blipFill>
          <a:blip r:embed="rId3">
            <a:alphaModFix/>
          </a:blip>
          <a:stretch>
            <a:fillRect/>
          </a:stretch>
        </p:blipFill>
        <p:spPr>
          <a:xfrm>
            <a:off x="3765514" y="605500"/>
            <a:ext cx="5208361" cy="23529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25"/>
          <p:cNvSpPr txBox="1">
            <a:spLocks noGrp="1"/>
          </p:cNvSpPr>
          <p:nvPr>
            <p:ph type="subTitle" idx="2"/>
          </p:nvPr>
        </p:nvSpPr>
        <p:spPr>
          <a:xfrm>
            <a:off x="177925" y="4068000"/>
            <a:ext cx="4158000" cy="393600"/>
          </a:xfrm>
          <a:prstGeom prst="rect">
            <a:avLst/>
          </a:prstGeom>
        </p:spPr>
        <p:txBody>
          <a:bodyPr spcFirstLastPara="1" wrap="square" lIns="91425" tIns="91425" rIns="91425" bIns="91425" anchor="ctr" anchorCtr="0">
            <a:noAutofit/>
          </a:bodyPr>
          <a:lstStyle/>
          <a:p>
            <a:pPr marL="0" lvl="0" indent="0" algn="l" rtl="0">
              <a:spcBef>
                <a:spcPts val="600"/>
              </a:spcBef>
              <a:spcAft>
                <a:spcPts val="0"/>
              </a:spcAft>
              <a:buNone/>
            </a:pPr>
            <a:r>
              <a:rPr lang="en"/>
              <a:t>Lecture 34, CS61B, Fall 2023</a:t>
            </a:r>
            <a:endParaRPr/>
          </a:p>
        </p:txBody>
      </p:sp>
      <p:sp>
        <p:nvSpPr>
          <p:cNvPr id="154" name="Google Shape;154;p25"/>
          <p:cNvSpPr txBox="1">
            <a:spLocks noGrp="1"/>
          </p:cNvSpPr>
          <p:nvPr>
            <p:ph type="body" idx="1"/>
          </p:nvPr>
        </p:nvSpPr>
        <p:spPr>
          <a:xfrm>
            <a:off x="4812375" y="402198"/>
            <a:ext cx="3999900" cy="4260900"/>
          </a:xfrm>
          <a:prstGeom prst="rect">
            <a:avLst/>
          </a:prstGeom>
        </p:spPr>
        <p:txBody>
          <a:bodyPr spcFirstLastPara="1" wrap="square" lIns="91425" tIns="91425" rIns="91425" bIns="91425" anchor="ctr" anchorCtr="0">
            <a:noAutofit/>
          </a:bodyPr>
          <a:lstStyle/>
          <a:p>
            <a:pPr marL="0" lvl="0" indent="0" algn="l" rtl="0">
              <a:spcBef>
                <a:spcPts val="600"/>
              </a:spcBef>
              <a:spcAft>
                <a:spcPts val="0"/>
              </a:spcAft>
              <a:buClr>
                <a:schemeClr val="dk1"/>
              </a:buClr>
              <a:buSzPts val="1100"/>
              <a:buFont typeface="Arial"/>
              <a:buNone/>
            </a:pPr>
            <a:r>
              <a:rPr lang="en" b="1">
                <a:solidFill>
                  <a:schemeClr val="accent3"/>
                </a:solidFill>
                <a:latin typeface="Roboto"/>
                <a:ea typeface="Roboto"/>
                <a:cs typeface="Roboto"/>
                <a:sym typeface="Roboto"/>
              </a:rPr>
              <a:t>Goal: How Hard is Sorting?</a:t>
            </a:r>
            <a:endParaRPr b="1">
              <a:solidFill>
                <a:schemeClr val="accent3"/>
              </a:solidFill>
              <a:latin typeface="Roboto"/>
              <a:ea typeface="Roboto"/>
              <a:cs typeface="Roboto"/>
              <a:sym typeface="Roboto"/>
            </a:endParaRPr>
          </a:p>
          <a:p>
            <a:pPr marL="0" lvl="0" indent="0" algn="l" rtl="0">
              <a:spcBef>
                <a:spcPts val="600"/>
              </a:spcBef>
              <a:spcAft>
                <a:spcPts val="0"/>
              </a:spcAft>
              <a:buClr>
                <a:schemeClr val="dk1"/>
              </a:buClr>
              <a:buSzPts val="1100"/>
              <a:buFont typeface="Arial"/>
              <a:buNone/>
            </a:pPr>
            <a:r>
              <a:rPr lang="en"/>
              <a:t>Math Problem Warmup</a:t>
            </a:r>
            <a:endParaRPr/>
          </a:p>
          <a:p>
            <a:pPr marL="0" lvl="0" indent="0" algn="l" rtl="0">
              <a:spcBef>
                <a:spcPts val="600"/>
              </a:spcBef>
              <a:spcAft>
                <a:spcPts val="0"/>
              </a:spcAft>
              <a:buClr>
                <a:schemeClr val="dk1"/>
              </a:buClr>
              <a:buSzPts val="1100"/>
              <a:buFont typeface="Arial"/>
              <a:buNone/>
            </a:pPr>
            <a:r>
              <a:rPr lang="en"/>
              <a:t>Theoretical Bounds on Sorting</a:t>
            </a:r>
            <a:endParaRPr/>
          </a:p>
          <a:p>
            <a:pPr marL="457200" lvl="0" indent="-342900" algn="l" rtl="0">
              <a:spcBef>
                <a:spcPts val="600"/>
              </a:spcBef>
              <a:spcAft>
                <a:spcPts val="0"/>
              </a:spcAft>
              <a:buSzPts val="1800"/>
              <a:buChar char="•"/>
            </a:pPr>
            <a:r>
              <a:rPr lang="en"/>
              <a:t>Simple Bounds for TUCS (the ultimate comparison sort)</a:t>
            </a:r>
            <a:endParaRPr/>
          </a:p>
          <a:p>
            <a:pPr marL="457200" lvl="0" indent="-342900" algn="l" rtl="0">
              <a:spcBef>
                <a:spcPts val="0"/>
              </a:spcBef>
              <a:spcAft>
                <a:spcPts val="0"/>
              </a:spcAft>
              <a:buSzPts val="1800"/>
              <a:buChar char="•"/>
            </a:pPr>
            <a:r>
              <a:rPr lang="en"/>
              <a:t>Coin Puzzles</a:t>
            </a:r>
            <a:endParaRPr/>
          </a:p>
          <a:p>
            <a:pPr marL="457200" lvl="0" indent="-342900" algn="l" rtl="0">
              <a:spcBef>
                <a:spcPts val="0"/>
              </a:spcBef>
              <a:spcAft>
                <a:spcPts val="0"/>
              </a:spcAft>
              <a:buSzPts val="1800"/>
              <a:buChar char="•"/>
            </a:pPr>
            <a:r>
              <a:rPr lang="en"/>
              <a:t>Puppy Cat Dog</a:t>
            </a:r>
            <a:endParaRPr/>
          </a:p>
          <a:p>
            <a:pPr marL="457200" lvl="0" indent="-342900" algn="l" rtl="0">
              <a:spcBef>
                <a:spcPts val="0"/>
              </a:spcBef>
              <a:spcAft>
                <a:spcPts val="0"/>
              </a:spcAft>
              <a:buSzPts val="1800"/>
              <a:buChar char="•"/>
            </a:pPr>
            <a:r>
              <a:rPr lang="en"/>
              <a:t>The Sorting Lower Bound</a:t>
            </a:r>
            <a:endParaRPr/>
          </a:p>
          <a:p>
            <a:pPr marL="0" lvl="0" indent="0" algn="l" rtl="0">
              <a:spcBef>
                <a:spcPts val="600"/>
              </a:spcBef>
              <a:spcAft>
                <a:spcPts val="0"/>
              </a:spcAft>
              <a:buClr>
                <a:schemeClr val="dk1"/>
              </a:buClr>
              <a:buSzPts val="1100"/>
              <a:buFont typeface="Arial"/>
              <a:buNone/>
            </a:pPr>
            <a:r>
              <a:rPr lang="en"/>
              <a:t>Sounds of Sorting</a:t>
            </a:r>
            <a:endParaRPr/>
          </a:p>
        </p:txBody>
      </p:sp>
      <p:sp>
        <p:nvSpPr>
          <p:cNvPr id="155" name="Google Shape;155;p25"/>
          <p:cNvSpPr txBox="1">
            <a:spLocks noGrp="1"/>
          </p:cNvSpPr>
          <p:nvPr>
            <p:ph type="title"/>
          </p:nvPr>
        </p:nvSpPr>
        <p:spPr>
          <a:xfrm>
            <a:off x="177925" y="2003300"/>
            <a:ext cx="4038000" cy="2037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Clr>
                <a:schemeClr val="dk1"/>
              </a:buClr>
              <a:buSzPts val="1100"/>
              <a:buFont typeface="Arial"/>
              <a:buNone/>
            </a:pPr>
            <a:r>
              <a:rPr lang="en"/>
              <a:t>Goal: How Hard is Sorting?</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26"/>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Sorts Summary</a:t>
            </a:r>
            <a:endParaRPr/>
          </a:p>
        </p:txBody>
      </p:sp>
      <p:graphicFrame>
        <p:nvGraphicFramePr>
          <p:cNvPr id="161" name="Google Shape;161;p26"/>
          <p:cNvGraphicFramePr/>
          <p:nvPr/>
        </p:nvGraphicFramePr>
        <p:xfrm>
          <a:off x="810464" y="808414"/>
          <a:ext cx="3000000" cy="3000000"/>
        </p:xfrm>
        <a:graphic>
          <a:graphicData uri="http://schemas.openxmlformats.org/drawingml/2006/table">
            <a:tbl>
              <a:tblPr>
                <a:noFill/>
                <a:tableStyleId>{C022CFBB-189D-4486-843A-8D9017E49761}</a:tableStyleId>
              </a:tblPr>
              <a:tblGrid>
                <a:gridCol w="1740050">
                  <a:extLst>
                    <a:ext uri="{9D8B030D-6E8A-4147-A177-3AD203B41FA5}">
                      <a16:colId xmlns:a16="http://schemas.microsoft.com/office/drawing/2014/main" val="20000"/>
                    </a:ext>
                  </a:extLst>
                </a:gridCol>
                <a:gridCol w="906625">
                  <a:extLst>
                    <a:ext uri="{9D8B030D-6E8A-4147-A177-3AD203B41FA5}">
                      <a16:colId xmlns:a16="http://schemas.microsoft.com/office/drawing/2014/main" val="20001"/>
                    </a:ext>
                  </a:extLst>
                </a:gridCol>
                <a:gridCol w="1813075">
                  <a:extLst>
                    <a:ext uri="{9D8B030D-6E8A-4147-A177-3AD203B41FA5}">
                      <a16:colId xmlns:a16="http://schemas.microsoft.com/office/drawing/2014/main" val="20002"/>
                    </a:ext>
                  </a:extLst>
                </a:gridCol>
                <a:gridCol w="1769800">
                  <a:extLst>
                    <a:ext uri="{9D8B030D-6E8A-4147-A177-3AD203B41FA5}">
                      <a16:colId xmlns:a16="http://schemas.microsoft.com/office/drawing/2014/main" val="20003"/>
                    </a:ext>
                  </a:extLst>
                </a:gridCol>
                <a:gridCol w="1448350">
                  <a:extLst>
                    <a:ext uri="{9D8B030D-6E8A-4147-A177-3AD203B41FA5}">
                      <a16:colId xmlns:a16="http://schemas.microsoft.com/office/drawing/2014/main" val="20004"/>
                    </a:ext>
                  </a:extLst>
                </a:gridCol>
              </a:tblGrid>
              <a:tr h="396200">
                <a:tc>
                  <a:txBody>
                    <a:bodyPr/>
                    <a:lstStyle/>
                    <a:p>
                      <a:pPr marL="0" lvl="0" indent="0" algn="l" rtl="0">
                        <a:spcBef>
                          <a:spcPts val="0"/>
                        </a:spcBef>
                        <a:spcAft>
                          <a:spcPts val="0"/>
                        </a:spcAft>
                        <a:buNone/>
                      </a:pPr>
                      <a:endParaRPr sz="1200">
                        <a:latin typeface="Roboto"/>
                        <a:ea typeface="Roboto"/>
                        <a:cs typeface="Roboto"/>
                        <a:sym typeface="Roboto"/>
                      </a:endParaRPr>
                    </a:p>
                  </a:txBody>
                  <a:tcPr marL="91425" marR="91425" marT="91425" marB="91425"/>
                </a:tc>
                <a:tc>
                  <a:txBody>
                    <a:bodyPr/>
                    <a:lstStyle/>
                    <a:p>
                      <a:pPr marL="0" lvl="0" indent="0" algn="l" rtl="0">
                        <a:spcBef>
                          <a:spcPts val="0"/>
                        </a:spcBef>
                        <a:spcAft>
                          <a:spcPts val="0"/>
                        </a:spcAft>
                        <a:buNone/>
                      </a:pPr>
                      <a:r>
                        <a:rPr lang="en" sz="1200">
                          <a:latin typeface="Roboto"/>
                          <a:ea typeface="Roboto"/>
                          <a:cs typeface="Roboto"/>
                          <a:sym typeface="Roboto"/>
                        </a:rPr>
                        <a:t>Memory</a:t>
                      </a:r>
                      <a:endParaRPr sz="1200">
                        <a:latin typeface="Roboto"/>
                        <a:ea typeface="Roboto"/>
                        <a:cs typeface="Roboto"/>
                        <a:sym typeface="Roboto"/>
                      </a:endParaRPr>
                    </a:p>
                  </a:txBody>
                  <a:tcPr marL="91425" marR="91425" marT="91425" marB="91425"/>
                </a:tc>
                <a:tc>
                  <a:txBody>
                    <a:bodyPr/>
                    <a:lstStyle/>
                    <a:p>
                      <a:pPr marL="0" lvl="0" indent="0" algn="l" rtl="0">
                        <a:spcBef>
                          <a:spcPts val="0"/>
                        </a:spcBef>
                        <a:spcAft>
                          <a:spcPts val="0"/>
                        </a:spcAft>
                        <a:buNone/>
                      </a:pPr>
                      <a:r>
                        <a:rPr lang="en" sz="1200">
                          <a:latin typeface="Roboto"/>
                          <a:ea typeface="Roboto"/>
                          <a:cs typeface="Roboto"/>
                          <a:sym typeface="Roboto"/>
                        </a:rPr>
                        <a:t># Compares</a:t>
                      </a:r>
                      <a:endParaRPr sz="1200">
                        <a:latin typeface="Roboto"/>
                        <a:ea typeface="Roboto"/>
                        <a:cs typeface="Roboto"/>
                        <a:sym typeface="Roboto"/>
                      </a:endParaRPr>
                    </a:p>
                  </a:txBody>
                  <a:tcPr marL="91425" marR="91425" marT="91425" marB="91425"/>
                </a:tc>
                <a:tc>
                  <a:txBody>
                    <a:bodyPr/>
                    <a:lstStyle/>
                    <a:p>
                      <a:pPr marL="0" lvl="0" indent="0" algn="l" rtl="0">
                        <a:spcBef>
                          <a:spcPts val="0"/>
                        </a:spcBef>
                        <a:spcAft>
                          <a:spcPts val="0"/>
                        </a:spcAft>
                        <a:buNone/>
                      </a:pPr>
                      <a:r>
                        <a:rPr lang="en" sz="1200">
                          <a:latin typeface="Roboto"/>
                          <a:ea typeface="Roboto"/>
                          <a:cs typeface="Roboto"/>
                          <a:sym typeface="Roboto"/>
                        </a:rPr>
                        <a:t>Notes</a:t>
                      </a:r>
                      <a:endParaRPr sz="1200">
                        <a:latin typeface="Roboto"/>
                        <a:ea typeface="Roboto"/>
                        <a:cs typeface="Roboto"/>
                        <a:sym typeface="Roboto"/>
                      </a:endParaRPr>
                    </a:p>
                  </a:txBody>
                  <a:tcPr marL="91425" marR="91425" marT="91425" marB="91425"/>
                </a:tc>
                <a:tc>
                  <a:txBody>
                    <a:bodyPr/>
                    <a:lstStyle/>
                    <a:p>
                      <a:pPr marL="0" lvl="0" indent="0" algn="l" rtl="0">
                        <a:spcBef>
                          <a:spcPts val="0"/>
                        </a:spcBef>
                        <a:spcAft>
                          <a:spcPts val="0"/>
                        </a:spcAft>
                        <a:buNone/>
                      </a:pPr>
                      <a:r>
                        <a:rPr lang="en" sz="1200">
                          <a:latin typeface="Roboto"/>
                          <a:ea typeface="Roboto"/>
                          <a:cs typeface="Roboto"/>
                          <a:sym typeface="Roboto"/>
                        </a:rPr>
                        <a:t>Stable?</a:t>
                      </a:r>
                      <a:endParaRPr sz="1200">
                        <a:latin typeface="Roboto"/>
                        <a:ea typeface="Roboto"/>
                        <a:cs typeface="Roboto"/>
                        <a:sym typeface="Roboto"/>
                      </a:endParaRPr>
                    </a:p>
                  </a:txBody>
                  <a:tcPr marL="91425" marR="91425" marT="91425" marB="91425"/>
                </a:tc>
                <a:extLst>
                  <a:ext uri="{0D108BD9-81ED-4DB2-BD59-A6C34878D82A}">
                    <a16:rowId xmlns:a16="http://schemas.microsoft.com/office/drawing/2014/main" val="10000"/>
                  </a:ext>
                </a:extLst>
              </a:tr>
              <a:tr h="396200">
                <a:tc>
                  <a:txBody>
                    <a:bodyPr/>
                    <a:lstStyle/>
                    <a:p>
                      <a:pPr marL="0" lvl="0" indent="0" algn="l" rtl="0">
                        <a:spcBef>
                          <a:spcPts val="0"/>
                        </a:spcBef>
                        <a:spcAft>
                          <a:spcPts val="0"/>
                        </a:spcAft>
                        <a:buNone/>
                      </a:pPr>
                      <a:r>
                        <a:rPr lang="en" sz="1200">
                          <a:latin typeface="Roboto"/>
                          <a:ea typeface="Roboto"/>
                          <a:cs typeface="Roboto"/>
                          <a:sym typeface="Roboto"/>
                        </a:rPr>
                        <a:t>Heapsort</a:t>
                      </a:r>
                      <a:endParaRPr sz="1200">
                        <a:latin typeface="Roboto"/>
                        <a:ea typeface="Roboto"/>
                        <a:cs typeface="Roboto"/>
                        <a:sym typeface="Roboto"/>
                      </a:endParaRPr>
                    </a:p>
                  </a:txBody>
                  <a:tcPr marL="91425" marR="91425" marT="91425" marB="91425"/>
                </a:tc>
                <a:tc>
                  <a:txBody>
                    <a:bodyPr/>
                    <a:lstStyle/>
                    <a:p>
                      <a:pPr marL="0" lvl="0" indent="0" algn="l" rtl="0">
                        <a:spcBef>
                          <a:spcPts val="0"/>
                        </a:spcBef>
                        <a:spcAft>
                          <a:spcPts val="0"/>
                        </a:spcAft>
                        <a:buNone/>
                      </a:pPr>
                      <a:r>
                        <a:rPr lang="en" sz="1200">
                          <a:solidFill>
                            <a:schemeClr val="dk1"/>
                          </a:solidFill>
                          <a:latin typeface="Roboto"/>
                          <a:ea typeface="Roboto"/>
                          <a:cs typeface="Roboto"/>
                          <a:sym typeface="Roboto"/>
                        </a:rPr>
                        <a:t>Θ(1)</a:t>
                      </a:r>
                      <a:endParaRPr sz="1200">
                        <a:latin typeface="Roboto"/>
                        <a:ea typeface="Roboto"/>
                        <a:cs typeface="Roboto"/>
                        <a:sym typeface="Roboto"/>
                      </a:endParaRPr>
                    </a:p>
                  </a:txBody>
                  <a:tcPr marL="91425" marR="91425" marT="91425" marB="91425"/>
                </a:tc>
                <a:tc>
                  <a:txBody>
                    <a:bodyPr/>
                    <a:lstStyle/>
                    <a:p>
                      <a:pPr marL="0" lvl="0" indent="0" algn="l" rtl="0">
                        <a:spcBef>
                          <a:spcPts val="0"/>
                        </a:spcBef>
                        <a:spcAft>
                          <a:spcPts val="0"/>
                        </a:spcAft>
                        <a:buNone/>
                      </a:pPr>
                      <a:r>
                        <a:rPr lang="en" sz="1200">
                          <a:solidFill>
                            <a:schemeClr val="dk1"/>
                          </a:solidFill>
                          <a:latin typeface="Roboto"/>
                          <a:ea typeface="Roboto"/>
                          <a:cs typeface="Roboto"/>
                          <a:sym typeface="Roboto"/>
                        </a:rPr>
                        <a:t>Θ(N log N)</a:t>
                      </a:r>
                      <a:endParaRPr sz="1200">
                        <a:latin typeface="Roboto"/>
                        <a:ea typeface="Roboto"/>
                        <a:cs typeface="Roboto"/>
                        <a:sym typeface="Roboto"/>
                      </a:endParaRPr>
                    </a:p>
                  </a:txBody>
                  <a:tcPr marL="91425" marR="91425" marT="91425" marB="91425"/>
                </a:tc>
                <a:tc>
                  <a:txBody>
                    <a:bodyPr/>
                    <a:lstStyle/>
                    <a:p>
                      <a:pPr marL="0" lvl="0" indent="0" algn="l" rtl="0">
                        <a:spcBef>
                          <a:spcPts val="0"/>
                        </a:spcBef>
                        <a:spcAft>
                          <a:spcPts val="0"/>
                        </a:spcAft>
                        <a:buNone/>
                      </a:pPr>
                      <a:r>
                        <a:rPr lang="en" sz="1200">
                          <a:solidFill>
                            <a:schemeClr val="dk1"/>
                          </a:solidFill>
                          <a:latin typeface="Roboto"/>
                          <a:ea typeface="Roboto"/>
                          <a:cs typeface="Roboto"/>
                          <a:sym typeface="Roboto"/>
                        </a:rPr>
                        <a:t>Bad caching (61C)</a:t>
                      </a:r>
                      <a:endParaRPr sz="1200">
                        <a:latin typeface="Roboto"/>
                        <a:ea typeface="Roboto"/>
                        <a:cs typeface="Roboto"/>
                        <a:sym typeface="Roboto"/>
                      </a:endParaRPr>
                    </a:p>
                  </a:txBody>
                  <a:tcPr marL="91425" marR="91425" marT="91425" marB="91425"/>
                </a:tc>
                <a:tc>
                  <a:txBody>
                    <a:bodyPr/>
                    <a:lstStyle/>
                    <a:p>
                      <a:pPr marL="0" lvl="0" indent="0" algn="l" rtl="0">
                        <a:spcBef>
                          <a:spcPts val="0"/>
                        </a:spcBef>
                        <a:spcAft>
                          <a:spcPts val="0"/>
                        </a:spcAft>
                        <a:buNone/>
                      </a:pPr>
                      <a:r>
                        <a:rPr lang="en" sz="1200">
                          <a:solidFill>
                            <a:schemeClr val="dk1"/>
                          </a:solidFill>
                          <a:latin typeface="Roboto"/>
                          <a:ea typeface="Roboto"/>
                          <a:cs typeface="Roboto"/>
                          <a:sym typeface="Roboto"/>
                        </a:rPr>
                        <a:t>No</a:t>
                      </a:r>
                      <a:endParaRPr sz="1200">
                        <a:solidFill>
                          <a:schemeClr val="dk1"/>
                        </a:solidFill>
                        <a:latin typeface="Roboto"/>
                        <a:ea typeface="Roboto"/>
                        <a:cs typeface="Roboto"/>
                        <a:sym typeface="Roboto"/>
                      </a:endParaRPr>
                    </a:p>
                  </a:txBody>
                  <a:tcPr marL="91425" marR="91425" marT="91425" marB="91425"/>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en" sz="1200">
                          <a:latin typeface="Roboto"/>
                          <a:ea typeface="Roboto"/>
                          <a:cs typeface="Roboto"/>
                          <a:sym typeface="Roboto"/>
                        </a:rPr>
                        <a:t>Insertion</a:t>
                      </a:r>
                      <a:endParaRPr sz="1200">
                        <a:latin typeface="Roboto"/>
                        <a:ea typeface="Roboto"/>
                        <a:cs typeface="Roboto"/>
                        <a:sym typeface="Roboto"/>
                      </a:endParaRPr>
                    </a:p>
                  </a:txBody>
                  <a:tcPr marL="91425" marR="91425" marT="91425" marB="91425"/>
                </a:tc>
                <a:tc>
                  <a:txBody>
                    <a:bodyPr/>
                    <a:lstStyle/>
                    <a:p>
                      <a:pPr marL="0" lvl="0" indent="0" algn="l" rtl="0">
                        <a:spcBef>
                          <a:spcPts val="0"/>
                        </a:spcBef>
                        <a:spcAft>
                          <a:spcPts val="0"/>
                        </a:spcAft>
                        <a:buNone/>
                      </a:pPr>
                      <a:r>
                        <a:rPr lang="en" sz="1200">
                          <a:solidFill>
                            <a:schemeClr val="dk1"/>
                          </a:solidFill>
                          <a:latin typeface="Roboto"/>
                          <a:ea typeface="Roboto"/>
                          <a:cs typeface="Roboto"/>
                          <a:sym typeface="Roboto"/>
                        </a:rPr>
                        <a:t>Θ(1)</a:t>
                      </a:r>
                      <a:endParaRPr sz="1200">
                        <a:latin typeface="Roboto"/>
                        <a:ea typeface="Roboto"/>
                        <a:cs typeface="Roboto"/>
                        <a:sym typeface="Roboto"/>
                      </a:endParaRPr>
                    </a:p>
                  </a:txBody>
                  <a:tcPr marL="91425" marR="91425" marT="91425" marB="91425"/>
                </a:tc>
                <a:tc>
                  <a:txBody>
                    <a:bodyPr/>
                    <a:lstStyle/>
                    <a:p>
                      <a:pPr marL="0" lvl="0" indent="0" algn="l" rtl="0">
                        <a:spcBef>
                          <a:spcPts val="0"/>
                        </a:spcBef>
                        <a:spcAft>
                          <a:spcPts val="0"/>
                        </a:spcAft>
                        <a:buNone/>
                      </a:pPr>
                      <a:r>
                        <a:rPr lang="en" sz="1200">
                          <a:solidFill>
                            <a:schemeClr val="dk1"/>
                          </a:solidFill>
                          <a:latin typeface="Roboto"/>
                          <a:ea typeface="Roboto"/>
                          <a:cs typeface="Roboto"/>
                          <a:sym typeface="Roboto"/>
                        </a:rPr>
                        <a:t>Θ(N</a:t>
                      </a:r>
                      <a:r>
                        <a:rPr lang="en" sz="1200" baseline="30000">
                          <a:solidFill>
                            <a:schemeClr val="dk1"/>
                          </a:solidFill>
                          <a:latin typeface="Roboto"/>
                          <a:ea typeface="Roboto"/>
                          <a:cs typeface="Roboto"/>
                          <a:sym typeface="Roboto"/>
                        </a:rPr>
                        <a:t>2</a:t>
                      </a:r>
                      <a:r>
                        <a:rPr lang="en" sz="1200">
                          <a:solidFill>
                            <a:schemeClr val="dk1"/>
                          </a:solidFill>
                          <a:latin typeface="Roboto"/>
                          <a:ea typeface="Roboto"/>
                          <a:cs typeface="Roboto"/>
                          <a:sym typeface="Roboto"/>
                        </a:rPr>
                        <a:t>)</a:t>
                      </a:r>
                      <a:endParaRPr sz="1200">
                        <a:latin typeface="Roboto"/>
                        <a:ea typeface="Roboto"/>
                        <a:cs typeface="Roboto"/>
                        <a:sym typeface="Roboto"/>
                      </a:endParaRPr>
                    </a:p>
                  </a:txBody>
                  <a:tcPr marL="91425" marR="91425" marT="91425" marB="91425"/>
                </a:tc>
                <a:tc>
                  <a:txBody>
                    <a:bodyPr/>
                    <a:lstStyle/>
                    <a:p>
                      <a:pPr marL="0" lvl="0" indent="0" algn="l" rtl="0">
                        <a:spcBef>
                          <a:spcPts val="0"/>
                        </a:spcBef>
                        <a:spcAft>
                          <a:spcPts val="0"/>
                        </a:spcAft>
                        <a:buNone/>
                      </a:pPr>
                      <a:r>
                        <a:rPr lang="en" sz="1200">
                          <a:solidFill>
                            <a:schemeClr val="dk1"/>
                          </a:solidFill>
                          <a:latin typeface="Roboto"/>
                          <a:ea typeface="Roboto"/>
                          <a:cs typeface="Roboto"/>
                          <a:sym typeface="Roboto"/>
                        </a:rPr>
                        <a:t>Best for almost sorted and N &lt; 15</a:t>
                      </a:r>
                      <a:endParaRPr sz="1200">
                        <a:latin typeface="Roboto"/>
                        <a:ea typeface="Roboto"/>
                        <a:cs typeface="Roboto"/>
                        <a:sym typeface="Roboto"/>
                      </a:endParaRPr>
                    </a:p>
                  </a:txBody>
                  <a:tcPr marL="91425" marR="91425" marT="91425" marB="91425"/>
                </a:tc>
                <a:tc>
                  <a:txBody>
                    <a:bodyPr/>
                    <a:lstStyle/>
                    <a:p>
                      <a:pPr marL="0" lvl="0" indent="0" algn="l" rtl="0">
                        <a:spcBef>
                          <a:spcPts val="0"/>
                        </a:spcBef>
                        <a:spcAft>
                          <a:spcPts val="0"/>
                        </a:spcAft>
                        <a:buNone/>
                      </a:pPr>
                      <a:r>
                        <a:rPr lang="en" sz="1200">
                          <a:solidFill>
                            <a:schemeClr val="dk1"/>
                          </a:solidFill>
                          <a:latin typeface="Roboto"/>
                          <a:ea typeface="Roboto"/>
                          <a:cs typeface="Roboto"/>
                          <a:sym typeface="Roboto"/>
                        </a:rPr>
                        <a:t>Yes</a:t>
                      </a:r>
                      <a:endParaRPr sz="1200">
                        <a:solidFill>
                          <a:schemeClr val="dk1"/>
                        </a:solidFill>
                        <a:latin typeface="Roboto"/>
                        <a:ea typeface="Roboto"/>
                        <a:cs typeface="Roboto"/>
                        <a:sym typeface="Roboto"/>
                      </a:endParaRPr>
                    </a:p>
                  </a:txBody>
                  <a:tcPr marL="91425" marR="91425" marT="91425" marB="91425"/>
                </a:tc>
                <a:extLst>
                  <a:ext uri="{0D108BD9-81ED-4DB2-BD59-A6C34878D82A}">
                    <a16:rowId xmlns:a16="http://schemas.microsoft.com/office/drawing/2014/main" val="10002"/>
                  </a:ext>
                </a:extLst>
              </a:tr>
              <a:tr h="396200">
                <a:tc>
                  <a:txBody>
                    <a:bodyPr/>
                    <a:lstStyle/>
                    <a:p>
                      <a:pPr marL="0" lvl="0" indent="0" algn="l" rtl="0">
                        <a:spcBef>
                          <a:spcPts val="0"/>
                        </a:spcBef>
                        <a:spcAft>
                          <a:spcPts val="0"/>
                        </a:spcAft>
                        <a:buNone/>
                      </a:pPr>
                      <a:r>
                        <a:rPr lang="en" sz="1200">
                          <a:latin typeface="Roboto"/>
                          <a:ea typeface="Roboto"/>
                          <a:cs typeface="Roboto"/>
                          <a:sym typeface="Roboto"/>
                        </a:rPr>
                        <a:t>Mergesort</a:t>
                      </a:r>
                      <a:endParaRPr sz="1200">
                        <a:latin typeface="Roboto"/>
                        <a:ea typeface="Roboto"/>
                        <a:cs typeface="Roboto"/>
                        <a:sym typeface="Roboto"/>
                      </a:endParaRPr>
                    </a:p>
                  </a:txBody>
                  <a:tcPr marL="91425" marR="91425" marT="91425" marB="91425"/>
                </a:tc>
                <a:tc>
                  <a:txBody>
                    <a:bodyPr/>
                    <a:lstStyle/>
                    <a:p>
                      <a:pPr marL="0" lvl="0" indent="0" algn="l" rtl="0">
                        <a:spcBef>
                          <a:spcPts val="0"/>
                        </a:spcBef>
                        <a:spcAft>
                          <a:spcPts val="0"/>
                        </a:spcAft>
                        <a:buNone/>
                      </a:pPr>
                      <a:r>
                        <a:rPr lang="en" sz="1200">
                          <a:solidFill>
                            <a:schemeClr val="dk1"/>
                          </a:solidFill>
                          <a:latin typeface="Roboto"/>
                          <a:ea typeface="Roboto"/>
                          <a:cs typeface="Roboto"/>
                          <a:sym typeface="Roboto"/>
                        </a:rPr>
                        <a:t>Θ(N)</a:t>
                      </a:r>
                      <a:endParaRPr sz="1200">
                        <a:latin typeface="Roboto"/>
                        <a:ea typeface="Roboto"/>
                        <a:cs typeface="Roboto"/>
                        <a:sym typeface="Roboto"/>
                      </a:endParaRPr>
                    </a:p>
                  </a:txBody>
                  <a:tcPr marL="91425" marR="91425" marT="91425" marB="91425"/>
                </a:tc>
                <a:tc>
                  <a:txBody>
                    <a:bodyPr/>
                    <a:lstStyle/>
                    <a:p>
                      <a:pPr marL="0" lvl="0" indent="0" algn="l" rtl="0">
                        <a:spcBef>
                          <a:spcPts val="0"/>
                        </a:spcBef>
                        <a:spcAft>
                          <a:spcPts val="0"/>
                        </a:spcAft>
                        <a:buNone/>
                      </a:pPr>
                      <a:r>
                        <a:rPr lang="en" sz="1200">
                          <a:solidFill>
                            <a:schemeClr val="dk1"/>
                          </a:solidFill>
                          <a:latin typeface="Roboto"/>
                          <a:ea typeface="Roboto"/>
                          <a:cs typeface="Roboto"/>
                          <a:sym typeface="Roboto"/>
                        </a:rPr>
                        <a:t>Θ(N log N)</a:t>
                      </a:r>
                      <a:endParaRPr sz="1200">
                        <a:latin typeface="Roboto"/>
                        <a:ea typeface="Roboto"/>
                        <a:cs typeface="Roboto"/>
                        <a:sym typeface="Roboto"/>
                      </a:endParaRPr>
                    </a:p>
                  </a:txBody>
                  <a:tcPr marL="91425" marR="91425" marT="91425" marB="91425"/>
                </a:tc>
                <a:tc>
                  <a:txBody>
                    <a:bodyPr/>
                    <a:lstStyle/>
                    <a:p>
                      <a:pPr marL="0" lvl="0" indent="0" algn="l" rtl="0">
                        <a:spcBef>
                          <a:spcPts val="0"/>
                        </a:spcBef>
                        <a:spcAft>
                          <a:spcPts val="0"/>
                        </a:spcAft>
                        <a:buNone/>
                      </a:pPr>
                      <a:r>
                        <a:rPr lang="en" sz="1200">
                          <a:latin typeface="Roboto"/>
                          <a:ea typeface="Roboto"/>
                          <a:cs typeface="Roboto"/>
                          <a:sym typeface="Roboto"/>
                        </a:rPr>
                        <a:t>Fastest stable sort</a:t>
                      </a:r>
                      <a:endParaRPr sz="1200">
                        <a:latin typeface="Roboto"/>
                        <a:ea typeface="Roboto"/>
                        <a:cs typeface="Roboto"/>
                        <a:sym typeface="Roboto"/>
                      </a:endParaRPr>
                    </a:p>
                  </a:txBody>
                  <a:tcPr marL="91425" marR="91425" marT="91425" marB="91425"/>
                </a:tc>
                <a:tc>
                  <a:txBody>
                    <a:bodyPr/>
                    <a:lstStyle/>
                    <a:p>
                      <a:pPr marL="0" lvl="0" indent="0" algn="l" rtl="0">
                        <a:spcBef>
                          <a:spcPts val="0"/>
                        </a:spcBef>
                        <a:spcAft>
                          <a:spcPts val="0"/>
                        </a:spcAft>
                        <a:buNone/>
                      </a:pPr>
                      <a:r>
                        <a:rPr lang="en" sz="1200">
                          <a:latin typeface="Roboto"/>
                          <a:ea typeface="Roboto"/>
                          <a:cs typeface="Roboto"/>
                          <a:sym typeface="Roboto"/>
                        </a:rPr>
                        <a:t>Yes</a:t>
                      </a:r>
                      <a:endParaRPr sz="1200">
                        <a:latin typeface="Roboto"/>
                        <a:ea typeface="Roboto"/>
                        <a:cs typeface="Roboto"/>
                        <a:sym typeface="Roboto"/>
                      </a:endParaRPr>
                    </a:p>
                  </a:txBody>
                  <a:tcPr marL="91425" marR="91425" marT="91425" marB="91425"/>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r>
                        <a:rPr lang="en" sz="1200">
                          <a:latin typeface="Roboto"/>
                          <a:ea typeface="Roboto"/>
                          <a:cs typeface="Roboto"/>
                          <a:sym typeface="Roboto"/>
                        </a:rPr>
                        <a:t>Quicksort LTHS</a:t>
                      </a:r>
                      <a:endParaRPr sz="1200">
                        <a:latin typeface="Roboto"/>
                        <a:ea typeface="Roboto"/>
                        <a:cs typeface="Roboto"/>
                        <a:sym typeface="Roboto"/>
                      </a:endParaRPr>
                    </a:p>
                  </a:txBody>
                  <a:tcPr marL="91425" marR="91425" marT="91425" marB="91425"/>
                </a:tc>
                <a:tc>
                  <a:txBody>
                    <a:bodyPr/>
                    <a:lstStyle/>
                    <a:p>
                      <a:pPr marL="0" lvl="0" indent="0" algn="l" rtl="0">
                        <a:spcBef>
                          <a:spcPts val="0"/>
                        </a:spcBef>
                        <a:spcAft>
                          <a:spcPts val="0"/>
                        </a:spcAft>
                        <a:buNone/>
                      </a:pPr>
                      <a:r>
                        <a:rPr lang="en" sz="1200">
                          <a:solidFill>
                            <a:schemeClr val="dk1"/>
                          </a:solidFill>
                          <a:latin typeface="Roboto"/>
                          <a:ea typeface="Roboto"/>
                          <a:cs typeface="Roboto"/>
                          <a:sym typeface="Roboto"/>
                        </a:rPr>
                        <a:t>Θ(log N)</a:t>
                      </a:r>
                      <a:endParaRPr sz="1200">
                        <a:latin typeface="Roboto"/>
                        <a:ea typeface="Roboto"/>
                        <a:cs typeface="Roboto"/>
                        <a:sym typeface="Roboto"/>
                      </a:endParaRPr>
                    </a:p>
                  </a:txBody>
                  <a:tcPr marL="91425" marR="91425" marT="91425" marB="91425"/>
                </a:tc>
                <a:tc>
                  <a:txBody>
                    <a:bodyPr/>
                    <a:lstStyle/>
                    <a:p>
                      <a:pPr marL="0" lvl="0" indent="0" algn="l" rtl="0">
                        <a:spcBef>
                          <a:spcPts val="0"/>
                        </a:spcBef>
                        <a:spcAft>
                          <a:spcPts val="0"/>
                        </a:spcAft>
                        <a:buNone/>
                      </a:pPr>
                      <a:r>
                        <a:rPr lang="en" sz="1200">
                          <a:solidFill>
                            <a:schemeClr val="dk1"/>
                          </a:solidFill>
                          <a:latin typeface="Roboto"/>
                          <a:ea typeface="Roboto"/>
                          <a:cs typeface="Roboto"/>
                          <a:sym typeface="Roboto"/>
                        </a:rPr>
                        <a:t>Θ(N log N) expected</a:t>
                      </a:r>
                      <a:endParaRPr sz="1200">
                        <a:latin typeface="Roboto"/>
                        <a:ea typeface="Roboto"/>
                        <a:cs typeface="Roboto"/>
                        <a:sym typeface="Roboto"/>
                      </a:endParaRPr>
                    </a:p>
                  </a:txBody>
                  <a:tcPr marL="91425" marR="91425" marT="91425" marB="91425"/>
                </a:tc>
                <a:tc>
                  <a:txBody>
                    <a:bodyPr/>
                    <a:lstStyle/>
                    <a:p>
                      <a:pPr marL="0" lvl="0" indent="0" algn="l" rtl="0">
                        <a:spcBef>
                          <a:spcPts val="0"/>
                        </a:spcBef>
                        <a:spcAft>
                          <a:spcPts val="0"/>
                        </a:spcAft>
                        <a:buNone/>
                      </a:pPr>
                      <a:r>
                        <a:rPr lang="en" sz="1200">
                          <a:solidFill>
                            <a:schemeClr val="dk1"/>
                          </a:solidFill>
                          <a:latin typeface="Roboto"/>
                          <a:ea typeface="Roboto"/>
                          <a:cs typeface="Roboto"/>
                          <a:sym typeface="Roboto"/>
                        </a:rPr>
                        <a:t>Fastest sort</a:t>
                      </a:r>
                      <a:endParaRPr sz="1200">
                        <a:latin typeface="Roboto"/>
                        <a:ea typeface="Roboto"/>
                        <a:cs typeface="Roboto"/>
                        <a:sym typeface="Roboto"/>
                      </a:endParaRPr>
                    </a:p>
                  </a:txBody>
                  <a:tcPr marL="91425" marR="91425" marT="91425" marB="91425"/>
                </a:tc>
                <a:tc>
                  <a:txBody>
                    <a:bodyPr/>
                    <a:lstStyle/>
                    <a:p>
                      <a:pPr marL="0" lvl="0" indent="0" algn="l" rtl="0">
                        <a:spcBef>
                          <a:spcPts val="0"/>
                        </a:spcBef>
                        <a:spcAft>
                          <a:spcPts val="0"/>
                        </a:spcAft>
                        <a:buNone/>
                      </a:pPr>
                      <a:r>
                        <a:rPr lang="en" sz="1200">
                          <a:solidFill>
                            <a:schemeClr val="dk1"/>
                          </a:solidFill>
                          <a:latin typeface="Roboto"/>
                          <a:ea typeface="Roboto"/>
                          <a:cs typeface="Roboto"/>
                          <a:sym typeface="Roboto"/>
                        </a:rPr>
                        <a:t>No</a:t>
                      </a:r>
                      <a:endParaRPr sz="1200">
                        <a:solidFill>
                          <a:schemeClr val="dk1"/>
                        </a:solidFill>
                        <a:latin typeface="Roboto"/>
                        <a:ea typeface="Roboto"/>
                        <a:cs typeface="Roboto"/>
                        <a:sym typeface="Roboto"/>
                      </a:endParaRPr>
                    </a:p>
                  </a:txBody>
                  <a:tcPr marL="91425" marR="91425" marT="91425" marB="91425"/>
                </a:tc>
                <a:extLst>
                  <a:ext uri="{0D108BD9-81ED-4DB2-BD59-A6C34878D82A}">
                    <a16:rowId xmlns:a16="http://schemas.microsoft.com/office/drawing/2014/main" val="10004"/>
                  </a:ext>
                </a:extLst>
              </a:tr>
            </a:tbl>
          </a:graphicData>
        </a:graphic>
      </p:graphicFrame>
      <p:cxnSp>
        <p:nvCxnSpPr>
          <p:cNvPr id="162" name="Google Shape;162;p26"/>
          <p:cNvCxnSpPr/>
          <p:nvPr/>
        </p:nvCxnSpPr>
        <p:spPr>
          <a:xfrm rot="10800000" flipH="1">
            <a:off x="6651925" y="2936675"/>
            <a:ext cx="531600" cy="482100"/>
          </a:xfrm>
          <a:prstGeom prst="straightConnector1">
            <a:avLst/>
          </a:prstGeom>
          <a:noFill/>
          <a:ln w="19050" cap="flat" cmpd="sng">
            <a:solidFill>
              <a:srgbClr val="E06666"/>
            </a:solidFill>
            <a:prstDash val="solid"/>
            <a:round/>
            <a:headEnd type="none" w="med" len="med"/>
            <a:tailEnd type="triangle" w="med" len="med"/>
          </a:ln>
        </p:spPr>
      </p:cxnSp>
      <p:sp>
        <p:nvSpPr>
          <p:cNvPr id="163" name="Google Shape;163;p26"/>
          <p:cNvSpPr txBox="1"/>
          <p:nvPr/>
        </p:nvSpPr>
        <p:spPr>
          <a:xfrm>
            <a:off x="3842625" y="3400350"/>
            <a:ext cx="4280400" cy="1249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BE0712"/>
                </a:solidFill>
              </a:rPr>
              <a:t>You can create a stable Quicksort. However, using unstable partitioning schemes (like Hoare partitioning) and using randomness to avoid bad pivots tend to yield better runtimes. </a:t>
            </a:r>
            <a:endParaRPr>
              <a:solidFill>
                <a:srgbClr val="BE0712"/>
              </a:solidFill>
            </a:endParaRPr>
          </a:p>
        </p:txBody>
      </p:sp>
      <p:cxnSp>
        <p:nvCxnSpPr>
          <p:cNvPr id="164" name="Google Shape;164;p26"/>
          <p:cNvCxnSpPr/>
          <p:nvPr/>
        </p:nvCxnSpPr>
        <p:spPr>
          <a:xfrm rot="10800000" flipH="1">
            <a:off x="2340150" y="2960937"/>
            <a:ext cx="531600" cy="482100"/>
          </a:xfrm>
          <a:prstGeom prst="straightConnector1">
            <a:avLst/>
          </a:prstGeom>
          <a:noFill/>
          <a:ln w="19050" cap="flat" cmpd="sng">
            <a:solidFill>
              <a:srgbClr val="E06666"/>
            </a:solidFill>
            <a:prstDash val="solid"/>
            <a:round/>
            <a:headEnd type="none" w="med" len="med"/>
            <a:tailEnd type="triangle" w="med" len="med"/>
          </a:ln>
        </p:spPr>
      </p:cxnSp>
      <p:sp>
        <p:nvSpPr>
          <p:cNvPr id="165" name="Google Shape;165;p26"/>
          <p:cNvSpPr txBox="1"/>
          <p:nvPr/>
        </p:nvSpPr>
        <p:spPr>
          <a:xfrm>
            <a:off x="166800" y="3400350"/>
            <a:ext cx="2705100" cy="1389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BE0712"/>
                </a:solidFill>
              </a:rPr>
              <a:t>This is due to the cost of tracking recursive calls by the computer, and is also an “expected” amount. The difference between log N and constant memory is trivial.</a:t>
            </a:r>
            <a:endParaRPr>
              <a:solidFill>
                <a:srgbClr val="BE071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27"/>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Sorting</a:t>
            </a:r>
            <a:endParaRPr/>
          </a:p>
        </p:txBody>
      </p:sp>
      <p:sp>
        <p:nvSpPr>
          <p:cNvPr id="171" name="Google Shape;171;p27"/>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Sorting is a foundational problem.</a:t>
            </a:r>
            <a:endParaRPr/>
          </a:p>
          <a:p>
            <a:pPr marL="457200" lvl="0" indent="-342900" algn="l" rtl="0">
              <a:spcBef>
                <a:spcPts val="600"/>
              </a:spcBef>
              <a:spcAft>
                <a:spcPts val="0"/>
              </a:spcAft>
              <a:buSzPts val="1800"/>
              <a:buChar char="●"/>
            </a:pPr>
            <a:r>
              <a:rPr lang="en"/>
              <a:t>Obviously useful for putting things in order.</a:t>
            </a:r>
            <a:endParaRPr/>
          </a:p>
          <a:p>
            <a:pPr marL="457200" lvl="0" indent="-342900" algn="l" rtl="0">
              <a:spcBef>
                <a:spcPts val="0"/>
              </a:spcBef>
              <a:spcAft>
                <a:spcPts val="0"/>
              </a:spcAft>
              <a:buSzPts val="1800"/>
              <a:buChar char="●"/>
            </a:pPr>
            <a:r>
              <a:rPr lang="en"/>
              <a:t>But can also be used to solve other tasks, sometimes in non-trivial ways.</a:t>
            </a:r>
            <a:endParaRPr/>
          </a:p>
          <a:p>
            <a:pPr marL="914400" lvl="1" indent="-342900" algn="l" rtl="0">
              <a:spcBef>
                <a:spcPts val="0"/>
              </a:spcBef>
              <a:spcAft>
                <a:spcPts val="0"/>
              </a:spcAft>
              <a:buSzPts val="1800"/>
              <a:buChar char="○"/>
            </a:pPr>
            <a:r>
              <a:rPr lang="en"/>
              <a:t>Sorting improves duplicate finding from a naive N</a:t>
            </a:r>
            <a:r>
              <a:rPr lang="en" baseline="30000"/>
              <a:t>2</a:t>
            </a:r>
            <a:r>
              <a:rPr lang="en"/>
              <a:t> to N log N.</a:t>
            </a:r>
            <a:endParaRPr/>
          </a:p>
          <a:p>
            <a:pPr marL="914400" lvl="1" indent="-342900" algn="l" rtl="0">
              <a:spcBef>
                <a:spcPts val="0"/>
              </a:spcBef>
              <a:spcAft>
                <a:spcPts val="0"/>
              </a:spcAft>
              <a:buSzPts val="1800"/>
              <a:buChar char="○"/>
            </a:pPr>
            <a:r>
              <a:rPr lang="en"/>
              <a:t>Sorting improves 3SUM from a naive N</a:t>
            </a:r>
            <a:r>
              <a:rPr lang="en" baseline="30000"/>
              <a:t>3</a:t>
            </a:r>
            <a:r>
              <a:rPr lang="en"/>
              <a:t> to N</a:t>
            </a:r>
            <a:r>
              <a:rPr lang="en" baseline="30000"/>
              <a:t>2</a:t>
            </a:r>
            <a:r>
              <a:rPr lang="en"/>
              <a:t>.</a:t>
            </a:r>
            <a:endParaRPr/>
          </a:p>
          <a:p>
            <a:pPr marL="457200" lvl="0" indent="-342900" algn="l" rtl="0">
              <a:spcBef>
                <a:spcPts val="0"/>
              </a:spcBef>
              <a:spcAft>
                <a:spcPts val="0"/>
              </a:spcAft>
              <a:buSzPts val="1800"/>
              <a:buChar char="●"/>
            </a:pPr>
            <a:r>
              <a:rPr lang="en"/>
              <a:t>There are many ways to sort an array, each with its own interesting tradeoffs and algorithmic features.</a:t>
            </a:r>
            <a:endParaRPr/>
          </a:p>
          <a:p>
            <a:pPr marL="0" lvl="0" indent="0" algn="l" rtl="0">
              <a:spcBef>
                <a:spcPts val="600"/>
              </a:spcBef>
              <a:spcAft>
                <a:spcPts val="0"/>
              </a:spcAft>
              <a:buNone/>
            </a:pPr>
            <a:endParaRPr/>
          </a:p>
          <a:p>
            <a:pPr marL="0" lvl="0" indent="0" algn="l" rtl="0">
              <a:spcBef>
                <a:spcPts val="600"/>
              </a:spcBef>
              <a:spcAft>
                <a:spcPts val="0"/>
              </a:spcAft>
              <a:buNone/>
            </a:pPr>
            <a:r>
              <a:rPr lang="en"/>
              <a:t>Today we’ll discuss the fundamental nature of the sorting problem itself: How hard is it to sort?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28"/>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Comparison Sorts (Your Answer)</a:t>
            </a:r>
            <a:endParaRPr/>
          </a:p>
        </p:txBody>
      </p:sp>
      <p:sp>
        <p:nvSpPr>
          <p:cNvPr id="177" name="Google Shape;177;p28"/>
          <p:cNvSpPr txBox="1">
            <a:spLocks noGrp="1"/>
          </p:cNvSpPr>
          <p:nvPr>
            <p:ph type="body" idx="1"/>
          </p:nvPr>
        </p:nvSpPr>
        <p:spPr>
          <a:xfrm>
            <a:off x="107044" y="402200"/>
            <a:ext cx="8520600" cy="3416400"/>
          </a:xfrm>
          <a:prstGeom prst="rect">
            <a:avLst/>
          </a:prstGeom>
          <a:ln w="9525" cap="flat" cmpd="sng">
            <a:solidFill>
              <a:srgbClr val="0000FF"/>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600"/>
              </a:spcBef>
              <a:spcAft>
                <a:spcPts val="0"/>
              </a:spcAft>
              <a:buNone/>
            </a:pPr>
            <a:r>
              <a:rPr lang="en" dirty="0"/>
              <a:t>For today, we'll only consider comparison sorts, which sort a list of items using only two operations:</a:t>
            </a:r>
            <a:endParaRPr dirty="0"/>
          </a:p>
          <a:p>
            <a:pPr marL="457200" lvl="0" indent="-342900" algn="l" rtl="0">
              <a:spcBef>
                <a:spcPts val="600"/>
              </a:spcBef>
              <a:spcAft>
                <a:spcPts val="0"/>
              </a:spcAft>
              <a:buSzPts val="1800"/>
              <a:buChar char="●"/>
            </a:pPr>
            <a:r>
              <a:rPr lang="en" dirty="0"/>
              <a:t>compareTo, which compares two items and says which one is greater</a:t>
            </a:r>
            <a:endParaRPr dirty="0"/>
          </a:p>
          <a:p>
            <a:pPr marL="457200" lvl="0" indent="-342900" algn="l" rtl="0">
              <a:spcBef>
                <a:spcPts val="0"/>
              </a:spcBef>
              <a:spcAft>
                <a:spcPts val="0"/>
              </a:spcAft>
              <a:buSzPts val="1800"/>
              <a:buChar char="●"/>
            </a:pPr>
            <a:r>
              <a:rPr lang="en" dirty="0"/>
              <a:t>swap, which swaps the indices of two items in the array</a:t>
            </a:r>
            <a:endParaRPr dirty="0"/>
          </a:p>
          <a:p>
            <a:pPr marL="0" lvl="0" indent="0" algn="l" rtl="0">
              <a:spcBef>
                <a:spcPts val="600"/>
              </a:spcBef>
              <a:spcAft>
                <a:spcPts val="0"/>
              </a:spcAft>
              <a:buNone/>
            </a:pPr>
            <a:r>
              <a:rPr lang="en" dirty="0"/>
              <a:t>This allows our sorting algorithm to work on any Comparable object</a:t>
            </a:r>
            <a:endParaRPr dirty="0"/>
          </a:p>
          <a:p>
            <a:pPr marL="0" lvl="0" indent="0" algn="l" rtl="0">
              <a:spcBef>
                <a:spcPts val="600"/>
              </a:spcBef>
              <a:spcAft>
                <a:spcPts val="0"/>
              </a:spcAft>
              <a:buNone/>
            </a:pPr>
            <a:r>
              <a:rPr lang="en" dirty="0"/>
              <a:t>Examples of comparison sorts:</a:t>
            </a:r>
            <a:endParaRPr lang="en" dirty="0">
              <a:highlight>
                <a:srgbClr val="0000FF"/>
              </a:highlight>
            </a:endParaRPr>
          </a:p>
          <a:p>
            <a:pPr marL="0" lvl="0" indent="0" algn="l" rtl="0">
              <a:spcBef>
                <a:spcPts val="600"/>
              </a:spcBef>
              <a:spcAft>
                <a:spcPts val="0"/>
              </a:spcAft>
              <a:buNone/>
            </a:pPr>
            <a:r>
              <a:rPr lang="en" dirty="0">
                <a:highlight>
                  <a:srgbClr val="FFFFFF"/>
                </a:highlight>
              </a:rPr>
              <a:t>Insertion sort, Mergesort, Selection sort, Bubblesort, </a:t>
            </a:r>
            <a:endParaRPr dirty="0">
              <a:highlight>
                <a:srgbClr val="FFFFFF"/>
              </a:highlight>
            </a:endParaRPr>
          </a:p>
          <a:p>
            <a:pPr marL="0" lvl="0" indent="0" algn="l" rtl="0">
              <a:spcBef>
                <a:spcPts val="600"/>
              </a:spcBef>
              <a:spcAft>
                <a:spcPts val="0"/>
              </a:spcAft>
              <a:buNone/>
            </a:pPr>
            <a:r>
              <a:rPr lang="en" dirty="0">
                <a:highlight>
                  <a:schemeClr val="lt1"/>
                </a:highlight>
              </a:rPr>
              <a:t>Examples of non-comparison sorts: </a:t>
            </a:r>
          </a:p>
          <a:p>
            <a:pPr marL="0" lvl="0" indent="0" algn="l" rtl="0">
              <a:spcBef>
                <a:spcPts val="600"/>
              </a:spcBef>
              <a:spcAft>
                <a:spcPts val="0"/>
              </a:spcAft>
              <a:buNone/>
            </a:pPr>
            <a:r>
              <a:rPr lang="en" dirty="0">
                <a:highlight>
                  <a:schemeClr val="lt1"/>
                </a:highlight>
              </a:rPr>
              <a:t>Stalin sort, BOGO sort, Sleep sort, Counting sort, Radix sort</a:t>
            </a:r>
            <a:endParaRPr dirty="0">
              <a:highlight>
                <a:srgbClr val="00FFFF"/>
              </a:highligh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29"/>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Comparison Sorts (My Answer)</a:t>
            </a:r>
            <a:endParaRPr/>
          </a:p>
        </p:txBody>
      </p:sp>
      <p:sp>
        <p:nvSpPr>
          <p:cNvPr id="183" name="Google Shape;183;p29"/>
          <p:cNvSpPr txBox="1">
            <a:spLocks noGrp="1"/>
          </p:cNvSpPr>
          <p:nvPr>
            <p:ph type="body" idx="1"/>
          </p:nvPr>
        </p:nvSpPr>
        <p:spPr>
          <a:xfrm>
            <a:off x="107044" y="402200"/>
            <a:ext cx="8520600" cy="3416400"/>
          </a:xfrm>
          <a:prstGeom prst="rect">
            <a:avLst/>
          </a:prstGeom>
          <a:ln w="9525" cap="flat" cmpd="sng">
            <a:solidFill>
              <a:srgbClr val="0000FF"/>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600"/>
              </a:spcBef>
              <a:spcAft>
                <a:spcPts val="0"/>
              </a:spcAft>
              <a:buNone/>
            </a:pPr>
            <a:r>
              <a:rPr lang="en"/>
              <a:t>For today, we'll only consider comparison sorts, which sort a list of items using only two operations:</a:t>
            </a:r>
            <a:endParaRPr/>
          </a:p>
          <a:p>
            <a:pPr marL="457200" lvl="0" indent="-342900" algn="l" rtl="0">
              <a:spcBef>
                <a:spcPts val="600"/>
              </a:spcBef>
              <a:spcAft>
                <a:spcPts val="0"/>
              </a:spcAft>
              <a:buSzPts val="1800"/>
              <a:buChar char="●"/>
            </a:pPr>
            <a:r>
              <a:rPr lang="en"/>
              <a:t>compareTo, which compares two items and says which one is greater</a:t>
            </a:r>
            <a:endParaRPr/>
          </a:p>
          <a:p>
            <a:pPr marL="457200" lvl="0" indent="-342900" algn="l" rtl="0">
              <a:spcBef>
                <a:spcPts val="0"/>
              </a:spcBef>
              <a:spcAft>
                <a:spcPts val="0"/>
              </a:spcAft>
              <a:buSzPts val="1800"/>
              <a:buChar char="●"/>
            </a:pPr>
            <a:r>
              <a:rPr lang="en"/>
              <a:t>swap, which swaps the indices of two items in the array</a:t>
            </a:r>
            <a:endParaRPr/>
          </a:p>
          <a:p>
            <a:pPr marL="0" lvl="0" indent="0" algn="l" rtl="0">
              <a:spcBef>
                <a:spcPts val="600"/>
              </a:spcBef>
              <a:spcAft>
                <a:spcPts val="0"/>
              </a:spcAft>
              <a:buNone/>
            </a:pPr>
            <a:r>
              <a:rPr lang="en"/>
              <a:t>This allows our sorting algorithm to work on any Comparable object</a:t>
            </a:r>
            <a:endParaRPr/>
          </a:p>
          <a:p>
            <a:pPr marL="0" lvl="0" indent="0" algn="l" rtl="0">
              <a:spcBef>
                <a:spcPts val="600"/>
              </a:spcBef>
              <a:spcAft>
                <a:spcPts val="0"/>
              </a:spcAft>
              <a:buNone/>
            </a:pPr>
            <a:r>
              <a:rPr lang="en"/>
              <a:t>Examples of comparison sorts (ones highlighted in blue haven't been covered yet): Heapsort, Mergesort, Quicksort, Insertion Sort, Selection Sort, </a:t>
            </a:r>
            <a:r>
              <a:rPr lang="en">
                <a:highlight>
                  <a:srgbClr val="00FFFF"/>
                </a:highlight>
              </a:rPr>
              <a:t>Bubble Sort</a:t>
            </a:r>
            <a:r>
              <a:rPr lang="en">
                <a:highlight>
                  <a:srgbClr val="0000FF"/>
                </a:highlight>
              </a:rPr>
              <a:t> </a:t>
            </a:r>
            <a:endParaRPr>
              <a:highlight>
                <a:srgbClr val="0000FF"/>
              </a:highlight>
            </a:endParaRPr>
          </a:p>
          <a:p>
            <a:pPr marL="0" lvl="0" indent="0" algn="l" rtl="0">
              <a:spcBef>
                <a:spcPts val="600"/>
              </a:spcBef>
              <a:spcAft>
                <a:spcPts val="0"/>
              </a:spcAft>
              <a:buNone/>
            </a:pPr>
            <a:r>
              <a:rPr lang="en">
                <a:highlight>
                  <a:schemeClr val="lt1"/>
                </a:highlight>
              </a:rPr>
              <a:t>Examples of non-comparison sorts: </a:t>
            </a:r>
            <a:r>
              <a:rPr lang="en">
                <a:highlight>
                  <a:srgbClr val="00FFFF"/>
                </a:highlight>
              </a:rPr>
              <a:t>Radix Sort, Sleepsort, Gravity Sort, BOGOsort</a:t>
            </a:r>
            <a:endParaRPr>
              <a:highlight>
                <a:srgbClr val="00FFFF"/>
              </a:highligh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30"/>
          <p:cNvSpPr txBox="1">
            <a:spLocks noGrp="1"/>
          </p:cNvSpPr>
          <p:nvPr>
            <p:ph type="subTitle" idx="2"/>
          </p:nvPr>
        </p:nvSpPr>
        <p:spPr>
          <a:xfrm>
            <a:off x="177925" y="4068000"/>
            <a:ext cx="4158000" cy="393600"/>
          </a:xfrm>
          <a:prstGeom prst="rect">
            <a:avLst/>
          </a:prstGeom>
        </p:spPr>
        <p:txBody>
          <a:bodyPr spcFirstLastPara="1" wrap="square" lIns="91425" tIns="91425" rIns="91425" bIns="91425" anchor="ctr" anchorCtr="0">
            <a:noAutofit/>
          </a:bodyPr>
          <a:lstStyle/>
          <a:p>
            <a:pPr marL="0" lvl="0" indent="0" algn="l" rtl="0">
              <a:spcBef>
                <a:spcPts val="600"/>
              </a:spcBef>
              <a:spcAft>
                <a:spcPts val="0"/>
              </a:spcAft>
              <a:buNone/>
            </a:pPr>
            <a:r>
              <a:rPr lang="en"/>
              <a:t>Lecture 34, CS61B, Fall 2023</a:t>
            </a:r>
            <a:endParaRPr/>
          </a:p>
        </p:txBody>
      </p:sp>
      <p:sp>
        <p:nvSpPr>
          <p:cNvPr id="189" name="Google Shape;189;p30"/>
          <p:cNvSpPr txBox="1">
            <a:spLocks noGrp="1"/>
          </p:cNvSpPr>
          <p:nvPr>
            <p:ph type="body" idx="1"/>
          </p:nvPr>
        </p:nvSpPr>
        <p:spPr>
          <a:xfrm>
            <a:off x="4812375" y="402198"/>
            <a:ext cx="3999900" cy="4260900"/>
          </a:xfrm>
          <a:prstGeom prst="rect">
            <a:avLst/>
          </a:prstGeom>
        </p:spPr>
        <p:txBody>
          <a:bodyPr spcFirstLastPara="1" wrap="square" lIns="91425" tIns="91425" rIns="91425" bIns="91425" anchor="ctr" anchorCtr="0">
            <a:noAutofit/>
          </a:bodyPr>
          <a:lstStyle/>
          <a:p>
            <a:pPr marL="0" lvl="0" indent="0" algn="l" rtl="0">
              <a:spcBef>
                <a:spcPts val="600"/>
              </a:spcBef>
              <a:spcAft>
                <a:spcPts val="0"/>
              </a:spcAft>
              <a:buClr>
                <a:schemeClr val="dk1"/>
              </a:buClr>
              <a:buSzPts val="1100"/>
              <a:buFont typeface="Arial"/>
              <a:buNone/>
            </a:pPr>
            <a:r>
              <a:rPr lang="en"/>
              <a:t>Goal: How Hard is Sorting?</a:t>
            </a:r>
            <a:endParaRPr/>
          </a:p>
          <a:p>
            <a:pPr marL="0" lvl="0" indent="0" algn="l" rtl="0">
              <a:spcBef>
                <a:spcPts val="600"/>
              </a:spcBef>
              <a:spcAft>
                <a:spcPts val="0"/>
              </a:spcAft>
              <a:buClr>
                <a:schemeClr val="dk1"/>
              </a:buClr>
              <a:buSzPts val="1100"/>
              <a:buFont typeface="Arial"/>
              <a:buNone/>
            </a:pPr>
            <a:r>
              <a:rPr lang="en" b="1">
                <a:solidFill>
                  <a:schemeClr val="accent3"/>
                </a:solidFill>
                <a:latin typeface="Roboto"/>
                <a:ea typeface="Roboto"/>
                <a:cs typeface="Roboto"/>
                <a:sym typeface="Roboto"/>
              </a:rPr>
              <a:t>Math Problem Warmup</a:t>
            </a:r>
            <a:endParaRPr b="1">
              <a:solidFill>
                <a:schemeClr val="accent3"/>
              </a:solidFill>
              <a:latin typeface="Roboto"/>
              <a:ea typeface="Roboto"/>
              <a:cs typeface="Roboto"/>
              <a:sym typeface="Roboto"/>
            </a:endParaRPr>
          </a:p>
          <a:p>
            <a:pPr marL="0" lvl="0" indent="0" algn="l" rtl="0">
              <a:spcBef>
                <a:spcPts val="600"/>
              </a:spcBef>
              <a:spcAft>
                <a:spcPts val="0"/>
              </a:spcAft>
              <a:buClr>
                <a:schemeClr val="dk1"/>
              </a:buClr>
              <a:buSzPts val="1100"/>
              <a:buFont typeface="Arial"/>
              <a:buNone/>
            </a:pPr>
            <a:r>
              <a:rPr lang="en"/>
              <a:t>Theoretical Bounds on Sorting</a:t>
            </a:r>
            <a:endParaRPr/>
          </a:p>
          <a:p>
            <a:pPr marL="457200" lvl="0" indent="-342900" algn="l" rtl="0">
              <a:spcBef>
                <a:spcPts val="600"/>
              </a:spcBef>
              <a:spcAft>
                <a:spcPts val="0"/>
              </a:spcAft>
              <a:buSzPts val="1800"/>
              <a:buChar char="•"/>
            </a:pPr>
            <a:r>
              <a:rPr lang="en"/>
              <a:t>Simple Bounds for TUCS (the ultimate comparison sort)</a:t>
            </a:r>
            <a:endParaRPr/>
          </a:p>
          <a:p>
            <a:pPr marL="457200" lvl="0" indent="-342900" algn="l" rtl="0">
              <a:spcBef>
                <a:spcPts val="0"/>
              </a:spcBef>
              <a:spcAft>
                <a:spcPts val="0"/>
              </a:spcAft>
              <a:buSzPts val="1800"/>
              <a:buChar char="•"/>
            </a:pPr>
            <a:r>
              <a:rPr lang="en"/>
              <a:t>Coin Puzzles</a:t>
            </a:r>
            <a:endParaRPr/>
          </a:p>
          <a:p>
            <a:pPr marL="457200" lvl="0" indent="-342900" algn="l" rtl="0">
              <a:spcBef>
                <a:spcPts val="0"/>
              </a:spcBef>
              <a:spcAft>
                <a:spcPts val="0"/>
              </a:spcAft>
              <a:buSzPts val="1800"/>
              <a:buChar char="•"/>
            </a:pPr>
            <a:r>
              <a:rPr lang="en"/>
              <a:t>Puppy Cat Dog</a:t>
            </a:r>
            <a:endParaRPr/>
          </a:p>
          <a:p>
            <a:pPr marL="457200" lvl="0" indent="-342900" algn="l" rtl="0">
              <a:spcBef>
                <a:spcPts val="0"/>
              </a:spcBef>
              <a:spcAft>
                <a:spcPts val="0"/>
              </a:spcAft>
              <a:buSzPts val="1800"/>
              <a:buChar char="•"/>
            </a:pPr>
            <a:r>
              <a:rPr lang="en"/>
              <a:t>The Sorting Lower Bound</a:t>
            </a:r>
            <a:endParaRPr/>
          </a:p>
          <a:p>
            <a:pPr marL="0" lvl="0" indent="0" algn="l" rtl="0">
              <a:spcBef>
                <a:spcPts val="600"/>
              </a:spcBef>
              <a:spcAft>
                <a:spcPts val="0"/>
              </a:spcAft>
              <a:buClr>
                <a:schemeClr val="dk1"/>
              </a:buClr>
              <a:buSzPts val="1100"/>
              <a:buFont typeface="Arial"/>
              <a:buNone/>
            </a:pPr>
            <a:r>
              <a:rPr lang="en"/>
              <a:t>Sounds of Sorting</a:t>
            </a:r>
            <a:endParaRPr/>
          </a:p>
        </p:txBody>
      </p:sp>
      <p:sp>
        <p:nvSpPr>
          <p:cNvPr id="190" name="Google Shape;190;p30"/>
          <p:cNvSpPr txBox="1">
            <a:spLocks noGrp="1"/>
          </p:cNvSpPr>
          <p:nvPr>
            <p:ph type="title"/>
          </p:nvPr>
        </p:nvSpPr>
        <p:spPr>
          <a:xfrm>
            <a:off x="177925" y="2003300"/>
            <a:ext cx="4038000" cy="2037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Clr>
                <a:schemeClr val="dk1"/>
              </a:buClr>
              <a:buSzPts val="1100"/>
              <a:buFont typeface="Arial"/>
              <a:buNone/>
            </a:pPr>
            <a:r>
              <a:rPr lang="en"/>
              <a:t>Math Problem Warmup</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C9DAF8"/>
        </a:solidFill>
        <a:effectLst/>
      </p:bgPr>
    </p:bg>
    <p:spTree>
      <p:nvGrpSpPr>
        <p:cNvPr id="1" name="Shape 194"/>
        <p:cNvGrpSpPr/>
        <p:nvPr/>
      </p:nvGrpSpPr>
      <p:grpSpPr>
        <a:xfrm>
          <a:off x="0" y="0"/>
          <a:ext cx="0" cy="0"/>
          <a:chOff x="0" y="0"/>
          <a:chExt cx="0" cy="0"/>
        </a:xfrm>
      </p:grpSpPr>
      <p:sp>
        <p:nvSpPr>
          <p:cNvPr id="195" name="Google Shape;195;p31"/>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 Math Problem out of Nowhere</a:t>
            </a:r>
            <a:endParaRPr/>
          </a:p>
        </p:txBody>
      </p:sp>
      <p:sp>
        <p:nvSpPr>
          <p:cNvPr id="196" name="Google Shape;196;p31"/>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Consider the functions N! and (N/2)</a:t>
            </a:r>
            <a:r>
              <a:rPr lang="en" baseline="30000"/>
              <a:t>N/2</a:t>
            </a:r>
            <a:endParaRPr baseline="30000"/>
          </a:p>
          <a:p>
            <a:pPr marL="0" lvl="0" indent="0" algn="l" rtl="0">
              <a:spcBef>
                <a:spcPts val="600"/>
              </a:spcBef>
              <a:spcAft>
                <a:spcPts val="0"/>
              </a:spcAft>
              <a:buNone/>
            </a:pPr>
            <a:endParaRPr baseline="30000"/>
          </a:p>
          <a:p>
            <a:pPr marL="0" lvl="0" indent="0" algn="l" rtl="0">
              <a:spcBef>
                <a:spcPts val="600"/>
              </a:spcBef>
              <a:spcAft>
                <a:spcPts val="0"/>
              </a:spcAft>
              <a:buNone/>
            </a:pPr>
            <a:r>
              <a:rPr lang="en"/>
              <a:t>Is N! ∈ Ω((N/2)</a:t>
            </a:r>
            <a:r>
              <a:rPr lang="en" baseline="30000"/>
              <a:t>N/2</a:t>
            </a:r>
            <a:r>
              <a:rPr lang="en"/>
              <a:t>)? Prove your answer.</a:t>
            </a:r>
            <a:endParaRPr/>
          </a:p>
          <a:p>
            <a:pPr marL="457200" lvl="0" indent="-342900" algn="l" rtl="0">
              <a:spcBef>
                <a:spcPts val="600"/>
              </a:spcBef>
              <a:spcAft>
                <a:spcPts val="0"/>
              </a:spcAft>
              <a:buSzPts val="1800"/>
              <a:buChar char="●"/>
            </a:pPr>
            <a:r>
              <a:rPr lang="en"/>
              <a:t>Recall that ∈ Ω can be informally be interpreted to mean ≥</a:t>
            </a:r>
            <a:endParaRPr/>
          </a:p>
          <a:p>
            <a:pPr marL="457200" lvl="0" indent="-342900" algn="l" rtl="0">
              <a:spcBef>
                <a:spcPts val="0"/>
              </a:spcBef>
              <a:spcAft>
                <a:spcPts val="0"/>
              </a:spcAft>
              <a:buSzPts val="1800"/>
              <a:buChar char="●"/>
            </a:pPr>
            <a:r>
              <a:rPr lang="en"/>
              <a:t>In other words, does factorial grow at least as quickly as (N/2)</a:t>
            </a:r>
            <a:r>
              <a:rPr lang="en" baseline="30000"/>
              <a:t>N/2</a:t>
            </a:r>
            <a:r>
              <a:rPr lang="en"/>
              <a:t>?</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00"/>
        <p:cNvGrpSpPr/>
        <p:nvPr/>
      </p:nvGrpSpPr>
      <p:grpSpPr>
        <a:xfrm>
          <a:off x="0" y="0"/>
          <a:ext cx="0" cy="0"/>
          <a:chOff x="0" y="0"/>
          <a:chExt cx="0" cy="0"/>
        </a:xfrm>
      </p:grpSpPr>
      <p:sp>
        <p:nvSpPr>
          <p:cNvPr id="201" name="Google Shape;201;p32"/>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 Math Problem out of Nowhere</a:t>
            </a:r>
            <a:endParaRPr/>
          </a:p>
        </p:txBody>
      </p:sp>
      <p:sp>
        <p:nvSpPr>
          <p:cNvPr id="202" name="Google Shape;202;p32"/>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Consider the functions N! and (N/2)</a:t>
            </a:r>
            <a:r>
              <a:rPr lang="en" baseline="30000"/>
              <a:t>N/2</a:t>
            </a:r>
            <a:endParaRPr baseline="30000"/>
          </a:p>
          <a:p>
            <a:pPr marL="0" lvl="0" indent="0" algn="l" rtl="0">
              <a:spcBef>
                <a:spcPts val="600"/>
              </a:spcBef>
              <a:spcAft>
                <a:spcPts val="0"/>
              </a:spcAft>
              <a:buNone/>
            </a:pPr>
            <a:endParaRPr baseline="30000"/>
          </a:p>
          <a:p>
            <a:pPr marL="0" lvl="0" indent="0" algn="l" rtl="0">
              <a:spcBef>
                <a:spcPts val="600"/>
              </a:spcBef>
              <a:spcAft>
                <a:spcPts val="0"/>
              </a:spcAft>
              <a:buClr>
                <a:schemeClr val="dk1"/>
              </a:buClr>
              <a:buSzPts val="1100"/>
              <a:buFont typeface="Arial"/>
              <a:buNone/>
            </a:pPr>
            <a:r>
              <a:rPr lang="en"/>
              <a:t>Is N! ∈ Ω((N/2)</a:t>
            </a:r>
            <a:r>
              <a:rPr lang="en" baseline="30000"/>
              <a:t>N/2</a:t>
            </a:r>
            <a:r>
              <a:rPr lang="en"/>
              <a:t>)? Prove your answer.</a:t>
            </a:r>
            <a:endParaRPr baseline="30000"/>
          </a:p>
          <a:p>
            <a:pPr marL="0" lvl="0" indent="0" algn="l" rtl="0">
              <a:spcBef>
                <a:spcPts val="600"/>
              </a:spcBef>
              <a:spcAft>
                <a:spcPts val="0"/>
              </a:spcAft>
              <a:buNone/>
            </a:pPr>
            <a:endParaRPr baseline="30000"/>
          </a:p>
          <a:p>
            <a:pPr marL="0" lvl="0" indent="0" algn="l" rtl="0">
              <a:spcBef>
                <a:spcPts val="600"/>
              </a:spcBef>
              <a:spcAft>
                <a:spcPts val="0"/>
              </a:spcAft>
              <a:buNone/>
            </a:pPr>
            <a:r>
              <a:rPr lang="en"/>
              <a:t>10!</a:t>
            </a:r>
            <a:endParaRPr/>
          </a:p>
          <a:p>
            <a:pPr marL="457200" lvl="0" indent="-342900" algn="l" rtl="0">
              <a:spcBef>
                <a:spcPts val="600"/>
              </a:spcBef>
              <a:spcAft>
                <a:spcPts val="0"/>
              </a:spcAft>
              <a:buSzPts val="1800"/>
              <a:buChar char="●"/>
            </a:pPr>
            <a:r>
              <a:rPr lang="en" b="1"/>
              <a:t>10 * 9 * 8 * 7 * 6</a:t>
            </a:r>
            <a:r>
              <a:rPr lang="en"/>
              <a:t> * … * 1</a:t>
            </a:r>
            <a:endParaRPr/>
          </a:p>
          <a:p>
            <a:pPr marL="0" lvl="0" indent="0" algn="l" rtl="0">
              <a:spcBef>
                <a:spcPts val="600"/>
              </a:spcBef>
              <a:spcAft>
                <a:spcPts val="0"/>
              </a:spcAft>
              <a:buNone/>
            </a:pPr>
            <a:endParaRPr/>
          </a:p>
          <a:p>
            <a:pPr marL="0" lvl="0" indent="0" algn="l" rtl="0">
              <a:spcBef>
                <a:spcPts val="600"/>
              </a:spcBef>
              <a:spcAft>
                <a:spcPts val="0"/>
              </a:spcAft>
              <a:buNone/>
            </a:pPr>
            <a:r>
              <a:rPr lang="en"/>
              <a:t>5</a:t>
            </a:r>
            <a:r>
              <a:rPr lang="en" baseline="30000"/>
              <a:t>5</a:t>
            </a:r>
            <a:endParaRPr baseline="30000"/>
          </a:p>
          <a:p>
            <a:pPr marL="457200" lvl="0" indent="-342900" algn="l" rtl="0">
              <a:spcBef>
                <a:spcPts val="600"/>
              </a:spcBef>
              <a:spcAft>
                <a:spcPts val="0"/>
              </a:spcAft>
              <a:buSzPts val="1800"/>
              <a:buChar char="●"/>
            </a:pPr>
            <a:r>
              <a:rPr lang="en" b="1"/>
              <a:t>5 * 5 * 5 * 5 * 5</a:t>
            </a:r>
            <a:endParaRPr b="1"/>
          </a:p>
          <a:p>
            <a:pPr marL="0" lvl="0" indent="0" algn="l" rtl="0">
              <a:spcBef>
                <a:spcPts val="600"/>
              </a:spcBef>
              <a:spcAft>
                <a:spcPts val="0"/>
              </a:spcAft>
              <a:buNone/>
            </a:pPr>
            <a:endParaRPr baseline="30000"/>
          </a:p>
          <a:p>
            <a:pPr marL="0" lvl="0" indent="0" algn="l" rtl="0">
              <a:spcBef>
                <a:spcPts val="600"/>
              </a:spcBef>
              <a:spcAft>
                <a:spcPts val="0"/>
              </a:spcAft>
              <a:buNone/>
            </a:pPr>
            <a:r>
              <a:rPr lang="en"/>
              <a:t>N! &gt; (N/2)</a:t>
            </a:r>
            <a:r>
              <a:rPr lang="en" baseline="30000"/>
              <a:t>N/2</a:t>
            </a:r>
            <a:r>
              <a:rPr lang="en"/>
              <a:t>, for large N, therefore N! ∈ Ω((N/2)</a:t>
            </a:r>
            <a:r>
              <a:rPr lang="en" baseline="30000"/>
              <a:t>N/2</a:t>
            </a:r>
            <a:r>
              <a:rPr lang="en"/>
              <a:t>)</a:t>
            </a:r>
            <a:endParaRPr baseline="30000"/>
          </a:p>
          <a:p>
            <a:pPr marL="0" lvl="0" indent="0" algn="l" rtl="0">
              <a:spcBef>
                <a:spcPts val="600"/>
              </a:spcBef>
              <a:spcAft>
                <a:spcPts val="0"/>
              </a:spcAft>
              <a:buNone/>
            </a:pP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C9DAF8"/>
        </a:solidFill>
        <a:effectLst/>
      </p:bgPr>
    </p:bg>
    <p:spTree>
      <p:nvGrpSpPr>
        <p:cNvPr id="1" name="Shape 206"/>
        <p:cNvGrpSpPr/>
        <p:nvPr/>
      </p:nvGrpSpPr>
      <p:grpSpPr>
        <a:xfrm>
          <a:off x="0" y="0"/>
          <a:ext cx="0" cy="0"/>
          <a:chOff x="0" y="0"/>
          <a:chExt cx="0" cy="0"/>
        </a:xfrm>
      </p:grpSpPr>
      <p:sp>
        <p:nvSpPr>
          <p:cNvPr id="207" name="Google Shape;207;p33"/>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Another Math Problem</a:t>
            </a:r>
            <a:endParaRPr/>
          </a:p>
        </p:txBody>
      </p:sp>
      <p:sp>
        <p:nvSpPr>
          <p:cNvPr id="208" name="Google Shape;208;p33"/>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Given: N! &gt; (N/2)</a:t>
            </a:r>
            <a:r>
              <a:rPr lang="en" baseline="30000"/>
              <a:t>N/2</a:t>
            </a:r>
            <a:r>
              <a:rPr lang="en"/>
              <a:t>, which we used to prove our answer to the previous problem.</a:t>
            </a:r>
            <a:endParaRPr/>
          </a:p>
          <a:p>
            <a:pPr marL="0" lvl="0" indent="0" algn="l" rtl="0">
              <a:spcBef>
                <a:spcPts val="600"/>
              </a:spcBef>
              <a:spcAft>
                <a:spcPts val="0"/>
              </a:spcAft>
              <a:buNone/>
            </a:pPr>
            <a:endParaRPr/>
          </a:p>
          <a:p>
            <a:pPr marL="0" lvl="0" indent="0" algn="l" rtl="0">
              <a:spcBef>
                <a:spcPts val="600"/>
              </a:spcBef>
              <a:spcAft>
                <a:spcPts val="0"/>
              </a:spcAft>
              <a:buNone/>
            </a:pPr>
            <a:r>
              <a:rPr lang="en"/>
              <a:t>Show that log(N!) ∈ Ω(N log N).</a:t>
            </a:r>
            <a:endParaRPr/>
          </a:p>
          <a:p>
            <a:pPr marL="457200" lvl="0" indent="-342900" algn="l" rtl="0">
              <a:spcBef>
                <a:spcPts val="600"/>
              </a:spcBef>
              <a:spcAft>
                <a:spcPts val="0"/>
              </a:spcAft>
              <a:buSzPts val="1800"/>
              <a:buChar char="●"/>
            </a:pPr>
            <a:r>
              <a:rPr lang="en"/>
              <a:t>Recall: log means an unspecified base.</a:t>
            </a:r>
            <a:endParaRPr/>
          </a:p>
          <a:p>
            <a:pPr marL="457200" lvl="0" indent="-342900" algn="l" rtl="0">
              <a:spcBef>
                <a:spcPts val="0"/>
              </a:spcBef>
              <a:spcAft>
                <a:spcPts val="0"/>
              </a:spcAft>
              <a:buSzPts val="1800"/>
              <a:buChar char="●"/>
            </a:pPr>
            <a:r>
              <a:rPr lang="en"/>
              <a:t>Remember your log rules:</a:t>
            </a:r>
            <a:endParaRPr/>
          </a:p>
          <a:p>
            <a:pPr marL="914400" lvl="1" indent="-342900" algn="l" rtl="0">
              <a:spcBef>
                <a:spcPts val="0"/>
              </a:spcBef>
              <a:spcAft>
                <a:spcPts val="0"/>
              </a:spcAft>
              <a:buSzPts val="1800"/>
              <a:buChar char="○"/>
            </a:pPr>
            <a:r>
              <a:rPr lang="en"/>
              <a:t>log(A</a:t>
            </a:r>
            <a:r>
              <a:rPr lang="en" baseline="30000"/>
              <a:t>B</a:t>
            </a:r>
            <a:r>
              <a:rPr lang="en"/>
              <a:t>) = B * log(A)</a:t>
            </a:r>
            <a:endParaRPr/>
          </a:p>
          <a:p>
            <a:pPr marL="914400" lvl="1" indent="-342900" algn="l" rtl="0">
              <a:spcBef>
                <a:spcPts val="0"/>
              </a:spcBef>
              <a:spcAft>
                <a:spcPts val="0"/>
              </a:spcAft>
              <a:buSzPts val="1800"/>
              <a:buChar char="○"/>
            </a:pPr>
            <a:r>
              <a:rPr lang="en"/>
              <a:t>log(A*B) = log(A) + log(B)</a:t>
            </a:r>
            <a:endParaRPr/>
          </a:p>
          <a:p>
            <a:pPr marL="914400" lvl="1" indent="-342900" algn="l" rtl="0">
              <a:spcBef>
                <a:spcPts val="0"/>
              </a:spcBef>
              <a:spcAft>
                <a:spcPts val="0"/>
              </a:spcAft>
              <a:buSzPts val="1800"/>
              <a:buChar char="○"/>
            </a:pPr>
            <a:r>
              <a:rPr lang="en"/>
              <a:t>log</a:t>
            </a:r>
            <a:r>
              <a:rPr lang="en" baseline="-25000"/>
              <a:t>A</a:t>
            </a:r>
            <a:r>
              <a:rPr lang="en"/>
              <a:t>(B) = log(B)/log(A)</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12"/>
        <p:cNvGrpSpPr/>
        <p:nvPr/>
      </p:nvGrpSpPr>
      <p:grpSpPr>
        <a:xfrm>
          <a:off x="0" y="0"/>
          <a:ext cx="0" cy="0"/>
          <a:chOff x="0" y="0"/>
          <a:chExt cx="0" cy="0"/>
        </a:xfrm>
      </p:grpSpPr>
      <p:sp>
        <p:nvSpPr>
          <p:cNvPr id="213" name="Google Shape;213;p34"/>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Another Math Problem</a:t>
            </a:r>
            <a:endParaRPr/>
          </a:p>
        </p:txBody>
      </p:sp>
      <p:sp>
        <p:nvSpPr>
          <p:cNvPr id="214" name="Google Shape;214;p34"/>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Clr>
                <a:schemeClr val="dk1"/>
              </a:buClr>
              <a:buSzPts val="1100"/>
              <a:buFont typeface="Arial"/>
              <a:buNone/>
            </a:pPr>
            <a:r>
              <a:rPr lang="en"/>
              <a:t>Given that N! &gt; (N/2)</a:t>
            </a:r>
            <a:r>
              <a:rPr lang="en" baseline="30000"/>
              <a:t>N/2</a:t>
            </a:r>
            <a:endParaRPr/>
          </a:p>
          <a:p>
            <a:pPr marL="0" lvl="0" indent="0" algn="l" rtl="0">
              <a:spcBef>
                <a:spcPts val="600"/>
              </a:spcBef>
              <a:spcAft>
                <a:spcPts val="0"/>
              </a:spcAft>
              <a:buClr>
                <a:schemeClr val="dk1"/>
              </a:buClr>
              <a:buSzPts val="1100"/>
              <a:buFont typeface="Arial"/>
              <a:buNone/>
            </a:pPr>
            <a:endParaRPr/>
          </a:p>
          <a:p>
            <a:pPr marL="0" lvl="0" indent="0" algn="l" rtl="0">
              <a:spcBef>
                <a:spcPts val="600"/>
              </a:spcBef>
              <a:spcAft>
                <a:spcPts val="0"/>
              </a:spcAft>
              <a:buClr>
                <a:schemeClr val="dk1"/>
              </a:buClr>
              <a:buSzPts val="1100"/>
              <a:buFont typeface="Arial"/>
              <a:buNone/>
            </a:pPr>
            <a:r>
              <a:rPr lang="en"/>
              <a:t>Show that log(N!) ∈ Ω(N log N).</a:t>
            </a:r>
            <a:endParaRPr/>
          </a:p>
          <a:p>
            <a:pPr marL="0" lvl="0" indent="0" algn="l" rtl="0">
              <a:spcBef>
                <a:spcPts val="600"/>
              </a:spcBef>
              <a:spcAft>
                <a:spcPts val="0"/>
              </a:spcAft>
              <a:buClr>
                <a:schemeClr val="dk1"/>
              </a:buClr>
              <a:buSzPts val="1100"/>
              <a:buFont typeface="Arial"/>
              <a:buNone/>
            </a:pPr>
            <a:endParaRPr/>
          </a:p>
          <a:p>
            <a:pPr marL="0" lvl="0" indent="0" algn="l" rtl="0">
              <a:spcBef>
                <a:spcPts val="600"/>
              </a:spcBef>
              <a:spcAft>
                <a:spcPts val="0"/>
              </a:spcAft>
              <a:buNone/>
            </a:pPr>
            <a:endParaRPr/>
          </a:p>
        </p:txBody>
      </p:sp>
      <p:sp>
        <p:nvSpPr>
          <p:cNvPr id="215" name="Google Shape;215;p34"/>
          <p:cNvSpPr txBox="1"/>
          <p:nvPr/>
        </p:nvSpPr>
        <p:spPr>
          <a:xfrm>
            <a:off x="249925" y="2131975"/>
            <a:ext cx="8229600" cy="2939400"/>
          </a:xfrm>
          <a:prstGeom prst="rect">
            <a:avLst/>
          </a:prstGeom>
          <a:noFill/>
          <a:ln>
            <a:noFill/>
          </a:ln>
        </p:spPr>
        <p:txBody>
          <a:bodyPr spcFirstLastPara="1" wrap="square" lIns="91425" tIns="91425" rIns="91425" bIns="91425" anchor="t" anchorCtr="0">
            <a:noAutofit/>
          </a:bodyPr>
          <a:lstStyle/>
          <a:p>
            <a:pPr marL="0" lvl="0" indent="0" algn="l" rtl="0">
              <a:spcBef>
                <a:spcPts val="600"/>
              </a:spcBef>
              <a:spcAft>
                <a:spcPts val="0"/>
              </a:spcAft>
              <a:buNone/>
            </a:pPr>
            <a:r>
              <a:rPr lang="en" sz="1800">
                <a:solidFill>
                  <a:schemeClr val="dk1"/>
                </a:solidFill>
                <a:latin typeface="Roboto"/>
                <a:ea typeface="Roboto"/>
                <a:cs typeface="Roboto"/>
                <a:sym typeface="Roboto"/>
              </a:rPr>
              <a:t>We have that N! &gt; (N/2)</a:t>
            </a:r>
            <a:r>
              <a:rPr lang="en" sz="1800" baseline="30000">
                <a:solidFill>
                  <a:schemeClr val="dk1"/>
                </a:solidFill>
                <a:latin typeface="Roboto"/>
                <a:ea typeface="Roboto"/>
                <a:cs typeface="Roboto"/>
                <a:sym typeface="Roboto"/>
              </a:rPr>
              <a:t>N/2</a:t>
            </a:r>
            <a:endParaRPr sz="1800" baseline="30000">
              <a:solidFill>
                <a:schemeClr val="dk1"/>
              </a:solidFill>
              <a:latin typeface="Roboto"/>
              <a:ea typeface="Roboto"/>
              <a:cs typeface="Roboto"/>
              <a:sym typeface="Roboto"/>
            </a:endParaRPr>
          </a:p>
          <a:p>
            <a:pPr marL="457200" lvl="0" indent="-342900" algn="l" rtl="0">
              <a:spcBef>
                <a:spcPts val="600"/>
              </a:spcBef>
              <a:spcAft>
                <a:spcPts val="0"/>
              </a:spcAft>
              <a:buClr>
                <a:schemeClr val="dk1"/>
              </a:buClr>
              <a:buSzPts val="1800"/>
              <a:buFont typeface="Roboto"/>
              <a:buChar char="●"/>
            </a:pPr>
            <a:r>
              <a:rPr lang="en" sz="1800">
                <a:solidFill>
                  <a:schemeClr val="dk1"/>
                </a:solidFill>
                <a:latin typeface="Roboto"/>
                <a:ea typeface="Roboto"/>
                <a:cs typeface="Roboto"/>
                <a:sym typeface="Roboto"/>
              </a:rPr>
              <a:t>Taking the log of both sides, we have that log(N!) &gt; log((N/2)</a:t>
            </a:r>
            <a:r>
              <a:rPr lang="en" sz="1800" baseline="30000">
                <a:solidFill>
                  <a:schemeClr val="dk1"/>
                </a:solidFill>
                <a:latin typeface="Roboto"/>
                <a:ea typeface="Roboto"/>
                <a:cs typeface="Roboto"/>
                <a:sym typeface="Roboto"/>
              </a:rPr>
              <a:t>N/2</a:t>
            </a:r>
            <a:r>
              <a:rPr lang="en" sz="1800">
                <a:solidFill>
                  <a:schemeClr val="dk1"/>
                </a:solidFill>
                <a:latin typeface="Roboto"/>
                <a:ea typeface="Roboto"/>
                <a:cs typeface="Roboto"/>
                <a:sym typeface="Roboto"/>
              </a:rPr>
              <a:t>).</a:t>
            </a:r>
            <a:endParaRPr sz="1800">
              <a:solidFill>
                <a:schemeClr val="dk1"/>
              </a:solidFill>
              <a:latin typeface="Roboto"/>
              <a:ea typeface="Roboto"/>
              <a:cs typeface="Roboto"/>
              <a:sym typeface="Roboto"/>
            </a:endParaRPr>
          </a:p>
          <a:p>
            <a:pPr marL="457200" lvl="0" indent="-342900" algn="l" rtl="0">
              <a:spcBef>
                <a:spcPts val="0"/>
              </a:spcBef>
              <a:spcAft>
                <a:spcPts val="0"/>
              </a:spcAft>
              <a:buClr>
                <a:schemeClr val="dk1"/>
              </a:buClr>
              <a:buSzPts val="1800"/>
              <a:buFont typeface="Roboto"/>
              <a:buChar char="●"/>
            </a:pPr>
            <a:r>
              <a:rPr lang="en" sz="1800">
                <a:solidFill>
                  <a:schemeClr val="dk1"/>
                </a:solidFill>
                <a:latin typeface="Roboto"/>
                <a:ea typeface="Roboto"/>
                <a:cs typeface="Roboto"/>
                <a:sym typeface="Roboto"/>
              </a:rPr>
              <a:t>Bringing down the exponent we have that log(N!) &gt; N/2 log(N/2).</a:t>
            </a:r>
            <a:endParaRPr sz="1800">
              <a:solidFill>
                <a:schemeClr val="dk1"/>
              </a:solidFill>
              <a:latin typeface="Roboto"/>
              <a:ea typeface="Roboto"/>
              <a:cs typeface="Roboto"/>
              <a:sym typeface="Roboto"/>
            </a:endParaRPr>
          </a:p>
          <a:p>
            <a:pPr marL="457200" lvl="0" indent="-342900" algn="l" rtl="0">
              <a:spcBef>
                <a:spcPts val="0"/>
              </a:spcBef>
              <a:spcAft>
                <a:spcPts val="0"/>
              </a:spcAft>
              <a:buClr>
                <a:schemeClr val="dk1"/>
              </a:buClr>
              <a:buSzPts val="1800"/>
              <a:buFont typeface="Roboto"/>
              <a:buChar char="●"/>
            </a:pPr>
            <a:r>
              <a:rPr lang="en" sz="1800">
                <a:solidFill>
                  <a:schemeClr val="dk1"/>
                </a:solidFill>
                <a:latin typeface="Roboto"/>
                <a:ea typeface="Roboto"/>
                <a:cs typeface="Roboto"/>
                <a:sym typeface="Roboto"/>
              </a:rPr>
              <a:t>Using log rules we have that log(N!) &gt; N/2 (log(N) - log(2))</a:t>
            </a:r>
            <a:endParaRPr sz="1800">
              <a:solidFill>
                <a:schemeClr val="dk1"/>
              </a:solidFill>
              <a:latin typeface="Roboto"/>
              <a:ea typeface="Roboto"/>
              <a:cs typeface="Roboto"/>
              <a:sym typeface="Roboto"/>
            </a:endParaRPr>
          </a:p>
          <a:p>
            <a:pPr marL="457200" lvl="0" indent="-342900" algn="l" rtl="0">
              <a:spcBef>
                <a:spcPts val="0"/>
              </a:spcBef>
              <a:spcAft>
                <a:spcPts val="0"/>
              </a:spcAft>
              <a:buClr>
                <a:schemeClr val="dk1"/>
              </a:buClr>
              <a:buSzPts val="1800"/>
              <a:buFont typeface="Roboto"/>
              <a:buChar char="●"/>
            </a:pPr>
            <a:r>
              <a:rPr lang="en" sz="1800">
                <a:solidFill>
                  <a:schemeClr val="dk1"/>
                </a:solidFill>
                <a:latin typeface="Roboto"/>
                <a:ea typeface="Roboto"/>
                <a:cs typeface="Roboto"/>
                <a:sym typeface="Roboto"/>
              </a:rPr>
              <a:t>Discarding the unnecessary constants, we have log(N!) ∈ Ω(N log (N/2)).</a:t>
            </a:r>
            <a:endParaRPr sz="1800">
              <a:solidFill>
                <a:schemeClr val="dk1"/>
              </a:solidFill>
              <a:latin typeface="Roboto"/>
              <a:ea typeface="Roboto"/>
              <a:cs typeface="Roboto"/>
              <a:sym typeface="Roboto"/>
            </a:endParaRPr>
          </a:p>
          <a:p>
            <a:pPr marL="457200" lvl="0" indent="-342900" algn="l" rtl="0">
              <a:spcBef>
                <a:spcPts val="0"/>
              </a:spcBef>
              <a:spcAft>
                <a:spcPts val="0"/>
              </a:spcAft>
              <a:buClr>
                <a:schemeClr val="dk1"/>
              </a:buClr>
              <a:buSzPts val="1800"/>
              <a:buFont typeface="Roboto"/>
              <a:buChar char="●"/>
            </a:pPr>
            <a:r>
              <a:rPr lang="en" sz="1800">
                <a:solidFill>
                  <a:schemeClr val="dk1"/>
                </a:solidFill>
                <a:latin typeface="Roboto"/>
                <a:ea typeface="Roboto"/>
                <a:cs typeface="Roboto"/>
                <a:sym typeface="Roboto"/>
              </a:rPr>
              <a:t>From there, we have that log(N!) ∈ Ω(N log N).</a:t>
            </a:r>
            <a:endParaRPr sz="1800">
              <a:solidFill>
                <a:schemeClr val="dk1"/>
              </a:solidFill>
              <a:latin typeface="Roboto"/>
              <a:ea typeface="Roboto"/>
              <a:cs typeface="Roboto"/>
              <a:sym typeface="Roboto"/>
            </a:endParaRPr>
          </a:p>
        </p:txBody>
      </p:sp>
      <p:sp>
        <p:nvSpPr>
          <p:cNvPr id="216" name="Google Shape;216;p34"/>
          <p:cNvSpPr txBox="1"/>
          <p:nvPr/>
        </p:nvSpPr>
        <p:spPr>
          <a:xfrm>
            <a:off x="226374" y="4399975"/>
            <a:ext cx="8834100" cy="595200"/>
          </a:xfrm>
          <a:prstGeom prst="rect">
            <a:avLst/>
          </a:prstGeom>
          <a:noFill/>
          <a:ln>
            <a:noFill/>
          </a:ln>
        </p:spPr>
        <p:txBody>
          <a:bodyPr spcFirstLastPara="1" wrap="square" lIns="91425" tIns="91425" rIns="91425" bIns="91425" anchor="t" anchorCtr="0">
            <a:noAutofit/>
          </a:bodyPr>
          <a:lstStyle/>
          <a:p>
            <a:pPr marL="0" lvl="0" indent="0" algn="l" rtl="0">
              <a:spcBef>
                <a:spcPts val="600"/>
              </a:spcBef>
              <a:spcAft>
                <a:spcPts val="0"/>
              </a:spcAft>
              <a:buNone/>
            </a:pPr>
            <a:r>
              <a:rPr lang="en" sz="1800">
                <a:solidFill>
                  <a:schemeClr val="dk1"/>
                </a:solidFill>
                <a:latin typeface="Roboto"/>
                <a:ea typeface="Roboto"/>
                <a:cs typeface="Roboto"/>
                <a:sym typeface="Roboto"/>
              </a:rPr>
              <a:t>In other words, log(N!) grows at least as quickly as N log N.</a:t>
            </a:r>
            <a:endParaRPr sz="1800">
              <a:solidFill>
                <a:schemeClr val="dk1"/>
              </a:solidFill>
              <a:latin typeface="Roboto"/>
              <a:ea typeface="Roboto"/>
              <a:cs typeface="Roboto"/>
              <a:sym typeface="Robo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5">
                                            <p:txEl>
                                              <p:pRg st="0" end="0"/>
                                            </p:txEl>
                                          </p:spTgt>
                                        </p:tgtEl>
                                        <p:attrNameLst>
                                          <p:attrName>style.visibility</p:attrName>
                                        </p:attrNameLst>
                                      </p:cBhvr>
                                      <p:to>
                                        <p:strVal val="visible"/>
                                      </p:to>
                                    </p:set>
                                    <p:animEffect transition="in" filter="fade">
                                      <p:cBhvr>
                                        <p:cTn id="7" dur="1"/>
                                        <p:tgtEl>
                                          <p:spTgt spid="21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5">
                                            <p:txEl>
                                              <p:pRg st="1" end="1"/>
                                            </p:txEl>
                                          </p:spTgt>
                                        </p:tgtEl>
                                        <p:attrNameLst>
                                          <p:attrName>style.visibility</p:attrName>
                                        </p:attrNameLst>
                                      </p:cBhvr>
                                      <p:to>
                                        <p:strVal val="visible"/>
                                      </p:to>
                                    </p:set>
                                    <p:animEffect transition="in" filter="fade">
                                      <p:cBhvr>
                                        <p:cTn id="12" dur="1"/>
                                        <p:tgtEl>
                                          <p:spTgt spid="21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15">
                                            <p:txEl>
                                              <p:pRg st="2" end="2"/>
                                            </p:txEl>
                                          </p:spTgt>
                                        </p:tgtEl>
                                        <p:attrNameLst>
                                          <p:attrName>style.visibility</p:attrName>
                                        </p:attrNameLst>
                                      </p:cBhvr>
                                      <p:to>
                                        <p:strVal val="visible"/>
                                      </p:to>
                                    </p:set>
                                    <p:animEffect transition="in" filter="fade">
                                      <p:cBhvr>
                                        <p:cTn id="17" dur="1"/>
                                        <p:tgtEl>
                                          <p:spTgt spid="21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15">
                                            <p:txEl>
                                              <p:pRg st="3" end="3"/>
                                            </p:txEl>
                                          </p:spTgt>
                                        </p:tgtEl>
                                        <p:attrNameLst>
                                          <p:attrName>style.visibility</p:attrName>
                                        </p:attrNameLst>
                                      </p:cBhvr>
                                      <p:to>
                                        <p:strVal val="visible"/>
                                      </p:to>
                                    </p:set>
                                    <p:animEffect transition="in" filter="fade">
                                      <p:cBhvr>
                                        <p:cTn id="22" dur="1"/>
                                        <p:tgtEl>
                                          <p:spTgt spid="21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15">
                                            <p:txEl>
                                              <p:pRg st="4" end="4"/>
                                            </p:txEl>
                                          </p:spTgt>
                                        </p:tgtEl>
                                        <p:attrNameLst>
                                          <p:attrName>style.visibility</p:attrName>
                                        </p:attrNameLst>
                                      </p:cBhvr>
                                      <p:to>
                                        <p:strVal val="visible"/>
                                      </p:to>
                                    </p:set>
                                    <p:animEffect transition="in" filter="fade">
                                      <p:cBhvr>
                                        <p:cTn id="27" dur="1"/>
                                        <p:tgtEl>
                                          <p:spTgt spid="21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15">
                                            <p:txEl>
                                              <p:pRg st="5" end="5"/>
                                            </p:txEl>
                                          </p:spTgt>
                                        </p:tgtEl>
                                        <p:attrNameLst>
                                          <p:attrName>style.visibility</p:attrName>
                                        </p:attrNameLst>
                                      </p:cBhvr>
                                      <p:to>
                                        <p:strVal val="visible"/>
                                      </p:to>
                                    </p:set>
                                    <p:animEffect transition="in" filter="fade">
                                      <p:cBhvr>
                                        <p:cTn id="32" dur="1"/>
                                        <p:tgtEl>
                                          <p:spTgt spid="21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16">
                                            <p:txEl>
                                              <p:pRg st="0" end="0"/>
                                            </p:txEl>
                                          </p:spTgt>
                                        </p:tgtEl>
                                        <p:attrNameLst>
                                          <p:attrName>style.visibility</p:attrName>
                                        </p:attrNameLst>
                                      </p:cBhvr>
                                      <p:to>
                                        <p:strVal val="visible"/>
                                      </p:to>
                                    </p:set>
                                    <p:animEffect transition="in" filter="fade">
                                      <p:cBhvr>
                                        <p:cTn id="37" dur="1"/>
                                        <p:tgtEl>
                                          <p:spTgt spid="21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C9DAF8"/>
        </a:solidFill>
        <a:effectLst/>
      </p:bgPr>
    </p:bg>
    <p:spTree>
      <p:nvGrpSpPr>
        <p:cNvPr id="1" name="Shape 220"/>
        <p:cNvGrpSpPr/>
        <p:nvPr/>
      </p:nvGrpSpPr>
      <p:grpSpPr>
        <a:xfrm>
          <a:off x="0" y="0"/>
          <a:ext cx="0" cy="0"/>
          <a:chOff x="0" y="0"/>
          <a:chExt cx="0" cy="0"/>
        </a:xfrm>
      </p:grpSpPr>
      <p:sp>
        <p:nvSpPr>
          <p:cNvPr id="221" name="Google Shape;221;p35"/>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Last Math Problem</a:t>
            </a:r>
            <a:endParaRPr/>
          </a:p>
        </p:txBody>
      </p:sp>
      <p:sp>
        <p:nvSpPr>
          <p:cNvPr id="222" name="Google Shape;222;p35"/>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In the previous problem, we showed that log(N!) ∈ Ω(N log N).</a:t>
            </a:r>
            <a:endParaRPr/>
          </a:p>
          <a:p>
            <a:pPr marL="0" lvl="0" indent="0" algn="l" rtl="0">
              <a:spcBef>
                <a:spcPts val="600"/>
              </a:spcBef>
              <a:spcAft>
                <a:spcPts val="0"/>
              </a:spcAft>
              <a:buNone/>
            </a:pPr>
            <a:endParaRPr/>
          </a:p>
          <a:p>
            <a:pPr marL="0" lvl="0" indent="0" algn="l" rtl="0">
              <a:spcBef>
                <a:spcPts val="600"/>
              </a:spcBef>
              <a:spcAft>
                <a:spcPts val="0"/>
              </a:spcAft>
              <a:buNone/>
            </a:pPr>
            <a:r>
              <a:rPr lang="en"/>
              <a:t>Now show that N log N ∈ Ω(log(N!)).</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26"/>
        <p:cNvGrpSpPr/>
        <p:nvPr/>
      </p:nvGrpSpPr>
      <p:grpSpPr>
        <a:xfrm>
          <a:off x="0" y="0"/>
          <a:ext cx="0" cy="0"/>
          <a:chOff x="0" y="0"/>
          <a:chExt cx="0" cy="0"/>
        </a:xfrm>
      </p:grpSpPr>
      <p:sp>
        <p:nvSpPr>
          <p:cNvPr id="227" name="Google Shape;227;p36"/>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Last Math Problem</a:t>
            </a:r>
            <a:endParaRPr/>
          </a:p>
        </p:txBody>
      </p:sp>
      <p:sp>
        <p:nvSpPr>
          <p:cNvPr id="228" name="Google Shape;228;p36"/>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Show that N log N ∈ Ω(log(N!))</a:t>
            </a:r>
            <a:endParaRPr/>
          </a:p>
        </p:txBody>
      </p:sp>
      <p:sp>
        <p:nvSpPr>
          <p:cNvPr id="229" name="Google Shape;229;p36"/>
          <p:cNvSpPr txBox="1"/>
          <p:nvPr/>
        </p:nvSpPr>
        <p:spPr>
          <a:xfrm>
            <a:off x="239589" y="1295400"/>
            <a:ext cx="8539500" cy="3000000"/>
          </a:xfrm>
          <a:prstGeom prst="rect">
            <a:avLst/>
          </a:prstGeom>
          <a:noFill/>
          <a:ln>
            <a:noFill/>
          </a:ln>
        </p:spPr>
        <p:txBody>
          <a:bodyPr spcFirstLastPara="1" wrap="square" lIns="91425" tIns="91425" rIns="91425" bIns="91425" anchor="t" anchorCtr="0">
            <a:noAutofit/>
          </a:bodyPr>
          <a:lstStyle/>
          <a:p>
            <a:pPr marL="0" lvl="0" indent="0" algn="l" rtl="0">
              <a:spcBef>
                <a:spcPts val="600"/>
              </a:spcBef>
              <a:spcAft>
                <a:spcPts val="0"/>
              </a:spcAft>
              <a:buNone/>
            </a:pPr>
            <a:r>
              <a:rPr lang="en" sz="1800">
                <a:solidFill>
                  <a:schemeClr val="dk1"/>
                </a:solidFill>
                <a:latin typeface="Roboto"/>
                <a:ea typeface="Roboto"/>
                <a:cs typeface="Roboto"/>
                <a:sym typeface="Roboto"/>
              </a:rPr>
              <a:t>Proof:</a:t>
            </a:r>
            <a:endParaRPr sz="1800">
              <a:solidFill>
                <a:schemeClr val="dk1"/>
              </a:solidFill>
              <a:latin typeface="Roboto"/>
              <a:ea typeface="Roboto"/>
              <a:cs typeface="Roboto"/>
              <a:sym typeface="Roboto"/>
            </a:endParaRPr>
          </a:p>
          <a:p>
            <a:pPr marL="457200" lvl="0" indent="-342900" algn="l" rtl="0">
              <a:spcBef>
                <a:spcPts val="600"/>
              </a:spcBef>
              <a:spcAft>
                <a:spcPts val="0"/>
              </a:spcAft>
              <a:buClr>
                <a:schemeClr val="dk1"/>
              </a:buClr>
              <a:buSzPts val="1800"/>
              <a:buFont typeface="Roboto"/>
              <a:buChar char="●"/>
            </a:pPr>
            <a:r>
              <a:rPr lang="en" sz="1800">
                <a:solidFill>
                  <a:schemeClr val="dk1"/>
                </a:solidFill>
                <a:latin typeface="Roboto"/>
                <a:ea typeface="Roboto"/>
                <a:cs typeface="Roboto"/>
                <a:sym typeface="Roboto"/>
              </a:rPr>
              <a:t>log(N!) = log(N) + log(N-1) + log(N-2) + …. + log(1)</a:t>
            </a:r>
            <a:endParaRPr sz="1800">
              <a:solidFill>
                <a:schemeClr val="dk1"/>
              </a:solidFill>
              <a:latin typeface="Roboto"/>
              <a:ea typeface="Roboto"/>
              <a:cs typeface="Roboto"/>
              <a:sym typeface="Roboto"/>
            </a:endParaRPr>
          </a:p>
          <a:p>
            <a:pPr marL="457200" lvl="0" indent="-342900" algn="l" rtl="0">
              <a:spcBef>
                <a:spcPts val="0"/>
              </a:spcBef>
              <a:spcAft>
                <a:spcPts val="0"/>
              </a:spcAft>
              <a:buClr>
                <a:schemeClr val="dk1"/>
              </a:buClr>
              <a:buSzPts val="1800"/>
              <a:buFont typeface="Roboto"/>
              <a:buChar char="●"/>
            </a:pPr>
            <a:r>
              <a:rPr lang="en" sz="1800">
                <a:solidFill>
                  <a:schemeClr val="dk1"/>
                </a:solidFill>
                <a:latin typeface="Roboto"/>
                <a:ea typeface="Roboto"/>
                <a:cs typeface="Roboto"/>
                <a:sym typeface="Roboto"/>
              </a:rPr>
              <a:t>N log N = log(N) + log(N) + log(N) + … log(N)</a:t>
            </a:r>
            <a:endParaRPr sz="1800">
              <a:solidFill>
                <a:schemeClr val="dk1"/>
              </a:solidFill>
              <a:latin typeface="Roboto"/>
              <a:ea typeface="Roboto"/>
              <a:cs typeface="Roboto"/>
              <a:sym typeface="Roboto"/>
            </a:endParaRPr>
          </a:p>
          <a:p>
            <a:pPr marL="457200" lvl="0" indent="-342900" algn="l" rtl="0">
              <a:spcBef>
                <a:spcPts val="0"/>
              </a:spcBef>
              <a:spcAft>
                <a:spcPts val="0"/>
              </a:spcAft>
              <a:buClr>
                <a:schemeClr val="dk1"/>
              </a:buClr>
              <a:buSzPts val="1800"/>
              <a:buFont typeface="Roboto"/>
              <a:buChar char="●"/>
            </a:pPr>
            <a:r>
              <a:rPr lang="en" sz="1800">
                <a:solidFill>
                  <a:schemeClr val="dk1"/>
                </a:solidFill>
                <a:latin typeface="Roboto"/>
                <a:ea typeface="Roboto"/>
                <a:cs typeface="Roboto"/>
                <a:sym typeface="Roboto"/>
              </a:rPr>
              <a:t>Therefore N log N ∈ Ω(log(N!))</a:t>
            </a:r>
            <a:endParaRPr sz="1200">
              <a:latin typeface="Roboto"/>
              <a:ea typeface="Roboto"/>
              <a:cs typeface="Roboto"/>
              <a:sym typeface="Robo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9">
                                            <p:txEl>
                                              <p:pRg st="0" end="0"/>
                                            </p:txEl>
                                          </p:spTgt>
                                        </p:tgtEl>
                                        <p:attrNameLst>
                                          <p:attrName>style.visibility</p:attrName>
                                        </p:attrNameLst>
                                      </p:cBhvr>
                                      <p:to>
                                        <p:strVal val="visible"/>
                                      </p:to>
                                    </p:set>
                                    <p:animEffect transition="in" filter="fade">
                                      <p:cBhvr>
                                        <p:cTn id="7" dur="1"/>
                                        <p:tgtEl>
                                          <p:spTgt spid="22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29">
                                            <p:txEl>
                                              <p:pRg st="1" end="1"/>
                                            </p:txEl>
                                          </p:spTgt>
                                        </p:tgtEl>
                                        <p:attrNameLst>
                                          <p:attrName>style.visibility</p:attrName>
                                        </p:attrNameLst>
                                      </p:cBhvr>
                                      <p:to>
                                        <p:strVal val="visible"/>
                                      </p:to>
                                    </p:set>
                                    <p:animEffect transition="in" filter="fade">
                                      <p:cBhvr>
                                        <p:cTn id="12" dur="1"/>
                                        <p:tgtEl>
                                          <p:spTgt spid="22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29">
                                            <p:txEl>
                                              <p:pRg st="2" end="2"/>
                                            </p:txEl>
                                          </p:spTgt>
                                        </p:tgtEl>
                                        <p:attrNameLst>
                                          <p:attrName>style.visibility</p:attrName>
                                        </p:attrNameLst>
                                      </p:cBhvr>
                                      <p:to>
                                        <p:strVal val="visible"/>
                                      </p:to>
                                    </p:set>
                                    <p:animEffect transition="in" filter="fade">
                                      <p:cBhvr>
                                        <p:cTn id="17" dur="1"/>
                                        <p:tgtEl>
                                          <p:spTgt spid="22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29">
                                            <p:txEl>
                                              <p:pRg st="3" end="3"/>
                                            </p:txEl>
                                          </p:spTgt>
                                        </p:tgtEl>
                                        <p:attrNameLst>
                                          <p:attrName>style.visibility</p:attrName>
                                        </p:attrNameLst>
                                      </p:cBhvr>
                                      <p:to>
                                        <p:strVal val="visible"/>
                                      </p:to>
                                    </p:set>
                                    <p:animEffect transition="in" filter="fade">
                                      <p:cBhvr>
                                        <p:cTn id="22" dur="1"/>
                                        <p:tgtEl>
                                          <p:spTgt spid="22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D9D2E9"/>
        </a:solidFill>
        <a:effectLst/>
      </p:bgPr>
    </p:bg>
    <p:spTree>
      <p:nvGrpSpPr>
        <p:cNvPr id="1" name="Shape 233"/>
        <p:cNvGrpSpPr/>
        <p:nvPr/>
      </p:nvGrpSpPr>
      <p:grpSpPr>
        <a:xfrm>
          <a:off x="0" y="0"/>
          <a:ext cx="0" cy="0"/>
          <a:chOff x="0" y="0"/>
          <a:chExt cx="0" cy="0"/>
        </a:xfrm>
      </p:grpSpPr>
      <p:sp>
        <p:nvSpPr>
          <p:cNvPr id="234" name="Google Shape;234;p37"/>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Omega and Theta: yellkey.com</a:t>
            </a:r>
            <a:r>
              <a:rPr lang="en">
                <a:solidFill>
                  <a:srgbClr val="38761D"/>
                </a:solidFill>
              </a:rPr>
              <a:t>/general</a:t>
            </a:r>
            <a:endParaRPr>
              <a:solidFill>
                <a:srgbClr val="38761D"/>
              </a:solidFill>
            </a:endParaRPr>
          </a:p>
        </p:txBody>
      </p:sp>
      <p:sp>
        <p:nvSpPr>
          <p:cNvPr id="235" name="Google Shape;235;p37"/>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Given:</a:t>
            </a:r>
            <a:endParaRPr/>
          </a:p>
          <a:p>
            <a:pPr marL="457200" lvl="0" indent="-342900" algn="l" rtl="0">
              <a:spcBef>
                <a:spcPts val="600"/>
              </a:spcBef>
              <a:spcAft>
                <a:spcPts val="0"/>
              </a:spcAft>
              <a:buSzPts val="1800"/>
              <a:buChar char="●"/>
            </a:pPr>
            <a:r>
              <a:rPr lang="en"/>
              <a:t>N log N ∈ Ω(log(N!))</a:t>
            </a:r>
            <a:endParaRPr/>
          </a:p>
          <a:p>
            <a:pPr marL="457200" lvl="0" indent="-342900" algn="l" rtl="0">
              <a:spcBef>
                <a:spcPts val="600"/>
              </a:spcBef>
              <a:spcAft>
                <a:spcPts val="0"/>
              </a:spcAft>
              <a:buSzPts val="1800"/>
              <a:buChar char="●"/>
            </a:pPr>
            <a:r>
              <a:rPr lang="en"/>
              <a:t>log(N!) ∈ Ω(N log N)</a:t>
            </a:r>
            <a:endParaRPr/>
          </a:p>
          <a:p>
            <a:pPr marL="0" lvl="0" indent="0" algn="l" rtl="0">
              <a:spcBef>
                <a:spcPts val="600"/>
              </a:spcBef>
              <a:spcAft>
                <a:spcPts val="0"/>
              </a:spcAft>
              <a:buNone/>
            </a:pPr>
            <a:endParaRPr/>
          </a:p>
          <a:p>
            <a:pPr marL="0" lvl="0" indent="0" algn="l" rtl="0">
              <a:spcBef>
                <a:spcPts val="600"/>
              </a:spcBef>
              <a:spcAft>
                <a:spcPts val="0"/>
              </a:spcAft>
              <a:buNone/>
            </a:pPr>
            <a:r>
              <a:rPr lang="en"/>
              <a:t>Which of the following can we say?</a:t>
            </a:r>
            <a:endParaRPr/>
          </a:p>
          <a:p>
            <a:pPr marL="457200" lvl="0" indent="-342900" algn="l" rtl="0">
              <a:spcBef>
                <a:spcPts val="600"/>
              </a:spcBef>
              <a:spcAft>
                <a:spcPts val="0"/>
              </a:spcAft>
              <a:buSzPts val="1800"/>
              <a:buAutoNum type="alphaUcPeriod"/>
            </a:pPr>
            <a:r>
              <a:rPr lang="en"/>
              <a:t>N log N ∈ Θ(log N!)</a:t>
            </a:r>
            <a:endParaRPr/>
          </a:p>
          <a:p>
            <a:pPr marL="457200" lvl="0" indent="-342900" algn="l" rtl="0">
              <a:spcBef>
                <a:spcPts val="0"/>
              </a:spcBef>
              <a:spcAft>
                <a:spcPts val="0"/>
              </a:spcAft>
              <a:buSzPts val="1800"/>
              <a:buAutoNum type="alphaUcPeriod"/>
            </a:pPr>
            <a:r>
              <a:rPr lang="en"/>
              <a:t>log N! ∈ Θ(N log N)</a:t>
            </a:r>
            <a:endParaRPr/>
          </a:p>
          <a:p>
            <a:pPr marL="457200" lvl="0" indent="-342900" algn="l" rtl="0">
              <a:spcBef>
                <a:spcPts val="0"/>
              </a:spcBef>
              <a:spcAft>
                <a:spcPts val="0"/>
              </a:spcAft>
              <a:buSzPts val="1800"/>
              <a:buAutoNum type="alphaUcPeriod"/>
            </a:pPr>
            <a:r>
              <a:rPr lang="en"/>
              <a:t>Both A and B</a:t>
            </a:r>
            <a:endParaRPr/>
          </a:p>
          <a:p>
            <a:pPr marL="457200" lvl="0" indent="-342900" algn="l" rtl="0">
              <a:spcBef>
                <a:spcPts val="0"/>
              </a:spcBef>
              <a:spcAft>
                <a:spcPts val="0"/>
              </a:spcAft>
              <a:buSzPts val="1800"/>
              <a:buAutoNum type="alphaUcPeriod"/>
            </a:pPr>
            <a:r>
              <a:rPr lang="en"/>
              <a:t>Neither</a:t>
            </a:r>
            <a:endParaRPr/>
          </a:p>
          <a:p>
            <a:pPr marL="0" lvl="0" indent="0" algn="l" rtl="0">
              <a:spcBef>
                <a:spcPts val="600"/>
              </a:spcBef>
              <a:spcAft>
                <a:spcPts val="0"/>
              </a:spcAft>
              <a:buNone/>
            </a:pP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39"/>
        <p:cNvGrpSpPr/>
        <p:nvPr/>
      </p:nvGrpSpPr>
      <p:grpSpPr>
        <a:xfrm>
          <a:off x="0" y="0"/>
          <a:ext cx="0" cy="0"/>
          <a:chOff x="0" y="0"/>
          <a:chExt cx="0" cy="0"/>
        </a:xfrm>
      </p:grpSpPr>
      <p:sp>
        <p:nvSpPr>
          <p:cNvPr id="240" name="Google Shape;240;p38"/>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Omega and Theta</a:t>
            </a:r>
            <a:endParaRPr/>
          </a:p>
        </p:txBody>
      </p:sp>
      <p:sp>
        <p:nvSpPr>
          <p:cNvPr id="241" name="Google Shape;241;p38"/>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Given:</a:t>
            </a:r>
            <a:endParaRPr/>
          </a:p>
          <a:p>
            <a:pPr marL="457200" lvl="0" indent="-342900" algn="l" rtl="0">
              <a:spcBef>
                <a:spcPts val="600"/>
              </a:spcBef>
              <a:spcAft>
                <a:spcPts val="0"/>
              </a:spcAft>
              <a:buSzPts val="1800"/>
              <a:buChar char="●"/>
            </a:pPr>
            <a:r>
              <a:rPr lang="en"/>
              <a:t>N log N ∈ Ω(log(N!))</a:t>
            </a:r>
            <a:endParaRPr/>
          </a:p>
          <a:p>
            <a:pPr marL="457200" lvl="0" indent="-342900" algn="l" rtl="0">
              <a:spcBef>
                <a:spcPts val="600"/>
              </a:spcBef>
              <a:spcAft>
                <a:spcPts val="0"/>
              </a:spcAft>
              <a:buSzPts val="1800"/>
              <a:buChar char="●"/>
            </a:pPr>
            <a:r>
              <a:rPr lang="en"/>
              <a:t>log(N!) ∈ Ω(N log N)</a:t>
            </a:r>
            <a:endParaRPr/>
          </a:p>
          <a:p>
            <a:pPr marL="0" lvl="0" indent="0" algn="l" rtl="0">
              <a:spcBef>
                <a:spcPts val="600"/>
              </a:spcBef>
              <a:spcAft>
                <a:spcPts val="0"/>
              </a:spcAft>
              <a:buNone/>
            </a:pPr>
            <a:endParaRPr/>
          </a:p>
          <a:p>
            <a:pPr marL="0" lvl="0" indent="0" algn="l" rtl="0">
              <a:spcBef>
                <a:spcPts val="600"/>
              </a:spcBef>
              <a:spcAft>
                <a:spcPts val="0"/>
              </a:spcAft>
              <a:buNone/>
            </a:pPr>
            <a:r>
              <a:rPr lang="en"/>
              <a:t>Which of the following can we say?</a:t>
            </a:r>
            <a:endParaRPr/>
          </a:p>
          <a:p>
            <a:pPr marL="457200" lvl="0" indent="-342900" algn="l" rtl="0">
              <a:spcBef>
                <a:spcPts val="600"/>
              </a:spcBef>
              <a:spcAft>
                <a:spcPts val="0"/>
              </a:spcAft>
              <a:buSzPts val="1800"/>
              <a:buAutoNum type="alphaUcPeriod"/>
            </a:pPr>
            <a:r>
              <a:rPr lang="en"/>
              <a:t>N log N ∈ Θ(log N!)</a:t>
            </a:r>
            <a:endParaRPr/>
          </a:p>
          <a:p>
            <a:pPr marL="457200" lvl="0" indent="-342900" algn="l" rtl="0">
              <a:spcBef>
                <a:spcPts val="0"/>
              </a:spcBef>
              <a:spcAft>
                <a:spcPts val="0"/>
              </a:spcAft>
              <a:buSzPts val="1800"/>
              <a:buAutoNum type="alphaUcPeriod"/>
            </a:pPr>
            <a:r>
              <a:rPr lang="en"/>
              <a:t>log N! ∈ Θ(N log N)</a:t>
            </a:r>
            <a:endParaRPr/>
          </a:p>
          <a:p>
            <a:pPr marL="457200" lvl="0" indent="-342900" algn="l" rtl="0">
              <a:spcBef>
                <a:spcPts val="0"/>
              </a:spcBef>
              <a:spcAft>
                <a:spcPts val="0"/>
              </a:spcAft>
              <a:buSzPts val="1800"/>
              <a:buAutoNum type="alphaUcPeriod"/>
            </a:pPr>
            <a:r>
              <a:rPr lang="en" b="1"/>
              <a:t>Both A and B</a:t>
            </a:r>
            <a:endParaRPr b="1"/>
          </a:p>
          <a:p>
            <a:pPr marL="457200" lvl="0" indent="-342900" algn="l" rtl="0">
              <a:spcBef>
                <a:spcPts val="0"/>
              </a:spcBef>
              <a:spcAft>
                <a:spcPts val="0"/>
              </a:spcAft>
              <a:buSzPts val="1800"/>
              <a:buAutoNum type="alphaUcPeriod"/>
            </a:pPr>
            <a:r>
              <a:rPr lang="en"/>
              <a:t>Neither</a:t>
            </a:r>
            <a:endParaRPr/>
          </a:p>
          <a:p>
            <a:pPr marL="0" lvl="0" indent="0" algn="l" rtl="0">
              <a:spcBef>
                <a:spcPts val="600"/>
              </a:spcBef>
              <a:spcAft>
                <a:spcPts val="0"/>
              </a:spcAft>
              <a:buNone/>
            </a:pPr>
            <a:endParaRPr/>
          </a:p>
        </p:txBody>
      </p:sp>
      <p:cxnSp>
        <p:nvCxnSpPr>
          <p:cNvPr id="242" name="Google Shape;242;p38"/>
          <p:cNvCxnSpPr/>
          <p:nvPr/>
        </p:nvCxnSpPr>
        <p:spPr>
          <a:xfrm flipH="1">
            <a:off x="3043950" y="1008150"/>
            <a:ext cx="830400" cy="248100"/>
          </a:xfrm>
          <a:prstGeom prst="straightConnector1">
            <a:avLst/>
          </a:prstGeom>
          <a:noFill/>
          <a:ln w="9525" cap="flat" cmpd="sng">
            <a:solidFill>
              <a:srgbClr val="BE0712"/>
            </a:solidFill>
            <a:prstDash val="solid"/>
            <a:round/>
            <a:headEnd type="none" w="med" len="med"/>
            <a:tailEnd type="triangle" w="med" len="med"/>
          </a:ln>
        </p:spPr>
      </p:cxnSp>
      <p:sp>
        <p:nvSpPr>
          <p:cNvPr id="243" name="Google Shape;243;p38"/>
          <p:cNvSpPr txBox="1"/>
          <p:nvPr/>
        </p:nvSpPr>
        <p:spPr>
          <a:xfrm>
            <a:off x="3874350" y="736150"/>
            <a:ext cx="2475300" cy="367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BE0712"/>
                </a:solidFill>
                <a:latin typeface="Roboto"/>
                <a:ea typeface="Roboto"/>
                <a:cs typeface="Roboto"/>
                <a:sym typeface="Roboto"/>
              </a:rPr>
              <a:t>Informally: N log N ≥ log(N!)</a:t>
            </a:r>
            <a:endParaRPr>
              <a:solidFill>
                <a:srgbClr val="BE0712"/>
              </a:solidFill>
              <a:latin typeface="Roboto"/>
              <a:ea typeface="Roboto"/>
              <a:cs typeface="Roboto"/>
              <a:sym typeface="Roboto"/>
            </a:endParaRPr>
          </a:p>
        </p:txBody>
      </p:sp>
      <p:cxnSp>
        <p:nvCxnSpPr>
          <p:cNvPr id="244" name="Google Shape;244;p38"/>
          <p:cNvCxnSpPr/>
          <p:nvPr/>
        </p:nvCxnSpPr>
        <p:spPr>
          <a:xfrm rot="10800000">
            <a:off x="2948175" y="1549325"/>
            <a:ext cx="840300" cy="165000"/>
          </a:xfrm>
          <a:prstGeom prst="straightConnector1">
            <a:avLst/>
          </a:prstGeom>
          <a:noFill/>
          <a:ln w="9525" cap="flat" cmpd="sng">
            <a:solidFill>
              <a:srgbClr val="BE0712"/>
            </a:solidFill>
            <a:prstDash val="solid"/>
            <a:round/>
            <a:headEnd type="none" w="med" len="med"/>
            <a:tailEnd type="triangle" w="med" len="med"/>
          </a:ln>
        </p:spPr>
      </p:cxnSp>
      <p:sp>
        <p:nvSpPr>
          <p:cNvPr id="245" name="Google Shape;245;p38"/>
          <p:cNvSpPr txBox="1"/>
          <p:nvPr/>
        </p:nvSpPr>
        <p:spPr>
          <a:xfrm>
            <a:off x="3736300" y="2675850"/>
            <a:ext cx="2563500" cy="367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BE0712"/>
                </a:solidFill>
                <a:latin typeface="Roboto"/>
                <a:ea typeface="Roboto"/>
                <a:cs typeface="Roboto"/>
                <a:sym typeface="Roboto"/>
              </a:rPr>
              <a:t>Informally: N log N = log(N!)</a:t>
            </a:r>
            <a:endParaRPr>
              <a:solidFill>
                <a:srgbClr val="BE0712"/>
              </a:solidFill>
              <a:latin typeface="Roboto"/>
              <a:ea typeface="Roboto"/>
              <a:cs typeface="Roboto"/>
              <a:sym typeface="Roboto"/>
            </a:endParaRPr>
          </a:p>
        </p:txBody>
      </p:sp>
      <p:sp>
        <p:nvSpPr>
          <p:cNvPr id="246" name="Google Shape;246;p38"/>
          <p:cNvSpPr txBox="1"/>
          <p:nvPr/>
        </p:nvSpPr>
        <p:spPr>
          <a:xfrm>
            <a:off x="3830250" y="1549325"/>
            <a:ext cx="2563500" cy="367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BE0712"/>
                </a:solidFill>
                <a:latin typeface="Roboto"/>
                <a:ea typeface="Roboto"/>
                <a:cs typeface="Roboto"/>
                <a:sym typeface="Roboto"/>
              </a:rPr>
              <a:t>Informally: log(N!) ≥  N log N</a:t>
            </a:r>
            <a:endParaRPr>
              <a:solidFill>
                <a:srgbClr val="BE0712"/>
              </a:solidFill>
              <a:latin typeface="Roboto"/>
              <a:ea typeface="Roboto"/>
              <a:cs typeface="Roboto"/>
              <a:sym typeface="Roboto"/>
            </a:endParaRPr>
          </a:p>
        </p:txBody>
      </p:sp>
      <p:cxnSp>
        <p:nvCxnSpPr>
          <p:cNvPr id="247" name="Google Shape;247;p38"/>
          <p:cNvCxnSpPr>
            <a:stCxn id="245" idx="1"/>
          </p:cNvCxnSpPr>
          <p:nvPr/>
        </p:nvCxnSpPr>
        <p:spPr>
          <a:xfrm rot="10800000">
            <a:off x="2948200" y="2675700"/>
            <a:ext cx="788100" cy="183900"/>
          </a:xfrm>
          <a:prstGeom prst="straightConnector1">
            <a:avLst/>
          </a:prstGeom>
          <a:noFill/>
          <a:ln w="9525" cap="flat" cmpd="sng">
            <a:solidFill>
              <a:srgbClr val="BE0712"/>
            </a:solidFill>
            <a:prstDash val="solid"/>
            <a:round/>
            <a:headEnd type="none" w="med" len="med"/>
            <a:tailEnd type="triangle" w="med" len="med"/>
          </a:ln>
        </p:spPr>
      </p:cxnSp>
      <p:cxnSp>
        <p:nvCxnSpPr>
          <p:cNvPr id="248" name="Google Shape;248;p38"/>
          <p:cNvCxnSpPr>
            <a:stCxn id="245" idx="1"/>
          </p:cNvCxnSpPr>
          <p:nvPr/>
        </p:nvCxnSpPr>
        <p:spPr>
          <a:xfrm flipH="1">
            <a:off x="2967700" y="2859600"/>
            <a:ext cx="768600" cy="143100"/>
          </a:xfrm>
          <a:prstGeom prst="straightConnector1">
            <a:avLst/>
          </a:prstGeom>
          <a:noFill/>
          <a:ln w="9525" cap="flat" cmpd="sng">
            <a:solidFill>
              <a:srgbClr val="BE0712"/>
            </a:solidFill>
            <a:prstDash val="solid"/>
            <a:round/>
            <a:headEnd type="none" w="med" len="med"/>
            <a:tailEnd type="triangle" w="med" len="med"/>
          </a:ln>
        </p:spPr>
      </p:cxn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52"/>
        <p:cNvGrpSpPr/>
        <p:nvPr/>
      </p:nvGrpSpPr>
      <p:grpSpPr>
        <a:xfrm>
          <a:off x="0" y="0"/>
          <a:ext cx="0" cy="0"/>
          <a:chOff x="0" y="0"/>
          <a:chExt cx="0" cy="0"/>
        </a:xfrm>
      </p:grpSpPr>
      <p:sp>
        <p:nvSpPr>
          <p:cNvPr id="253" name="Google Shape;253;p39"/>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Summary</a:t>
            </a:r>
            <a:endParaRPr/>
          </a:p>
        </p:txBody>
      </p:sp>
      <p:sp>
        <p:nvSpPr>
          <p:cNvPr id="254" name="Google Shape;254;p39"/>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Clr>
                <a:schemeClr val="dk1"/>
              </a:buClr>
              <a:buSzPts val="1100"/>
              <a:buFont typeface="Arial"/>
              <a:buNone/>
            </a:pPr>
            <a:r>
              <a:rPr lang="en"/>
              <a:t>We’ve shown that log(N!) ∈ Θ(N log N).</a:t>
            </a:r>
            <a:endParaRPr/>
          </a:p>
          <a:p>
            <a:pPr marL="457200" lvl="0" indent="-342900" algn="l" rtl="0">
              <a:spcBef>
                <a:spcPts val="600"/>
              </a:spcBef>
              <a:spcAft>
                <a:spcPts val="0"/>
              </a:spcAft>
              <a:buSzPts val="1800"/>
              <a:buChar char="●"/>
            </a:pPr>
            <a:r>
              <a:rPr lang="en"/>
              <a:t>In other words, these two functions grow at the same rate asymptotically. </a:t>
            </a:r>
            <a:endParaRPr/>
          </a:p>
          <a:p>
            <a:pPr marL="0" lvl="0" indent="0" algn="l" rtl="0">
              <a:spcBef>
                <a:spcPts val="600"/>
              </a:spcBef>
              <a:spcAft>
                <a:spcPts val="0"/>
              </a:spcAft>
              <a:buClr>
                <a:schemeClr val="dk1"/>
              </a:buClr>
              <a:buSzPts val="1100"/>
              <a:buFont typeface="Arial"/>
              <a:buNone/>
            </a:pPr>
            <a:endParaRPr/>
          </a:p>
          <a:p>
            <a:pPr marL="0" lvl="0" indent="0" algn="l" rtl="0">
              <a:spcBef>
                <a:spcPts val="600"/>
              </a:spcBef>
              <a:spcAft>
                <a:spcPts val="0"/>
              </a:spcAft>
              <a:buNone/>
            </a:pPr>
            <a:r>
              <a:rPr lang="en"/>
              <a:t>As for why we did this, we will see in a little while...</a:t>
            </a:r>
            <a:endParaRPr/>
          </a:p>
          <a:p>
            <a:pPr marL="0" lvl="0" indent="0" algn="l" rtl="0">
              <a:spcBef>
                <a:spcPts val="600"/>
              </a:spcBef>
              <a:spcAft>
                <a:spcPts val="0"/>
              </a:spcAft>
              <a:buNone/>
            </a:pP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p40"/>
          <p:cNvSpPr txBox="1">
            <a:spLocks noGrp="1"/>
          </p:cNvSpPr>
          <p:nvPr>
            <p:ph type="subTitle" idx="2"/>
          </p:nvPr>
        </p:nvSpPr>
        <p:spPr>
          <a:xfrm>
            <a:off x="177925" y="4068000"/>
            <a:ext cx="4158000" cy="393600"/>
          </a:xfrm>
          <a:prstGeom prst="rect">
            <a:avLst/>
          </a:prstGeom>
        </p:spPr>
        <p:txBody>
          <a:bodyPr spcFirstLastPara="1" wrap="square" lIns="91425" tIns="91425" rIns="91425" bIns="91425" anchor="ctr" anchorCtr="0">
            <a:noAutofit/>
          </a:bodyPr>
          <a:lstStyle/>
          <a:p>
            <a:pPr marL="0" lvl="0" indent="0" algn="l" rtl="0">
              <a:spcBef>
                <a:spcPts val="600"/>
              </a:spcBef>
              <a:spcAft>
                <a:spcPts val="0"/>
              </a:spcAft>
              <a:buNone/>
            </a:pPr>
            <a:r>
              <a:rPr lang="en"/>
              <a:t>Lecture 34, CS61B, Fall 2023</a:t>
            </a:r>
            <a:endParaRPr/>
          </a:p>
        </p:txBody>
      </p:sp>
      <p:sp>
        <p:nvSpPr>
          <p:cNvPr id="260" name="Google Shape;260;p40"/>
          <p:cNvSpPr txBox="1">
            <a:spLocks noGrp="1"/>
          </p:cNvSpPr>
          <p:nvPr>
            <p:ph type="body" idx="1"/>
          </p:nvPr>
        </p:nvSpPr>
        <p:spPr>
          <a:xfrm>
            <a:off x="4812375" y="402198"/>
            <a:ext cx="3999900" cy="4260900"/>
          </a:xfrm>
          <a:prstGeom prst="rect">
            <a:avLst/>
          </a:prstGeom>
        </p:spPr>
        <p:txBody>
          <a:bodyPr spcFirstLastPara="1" wrap="square" lIns="91425" tIns="91425" rIns="91425" bIns="91425" anchor="ctr" anchorCtr="0">
            <a:noAutofit/>
          </a:bodyPr>
          <a:lstStyle/>
          <a:p>
            <a:pPr marL="0" lvl="0" indent="0" algn="l" rtl="0">
              <a:spcBef>
                <a:spcPts val="600"/>
              </a:spcBef>
              <a:spcAft>
                <a:spcPts val="0"/>
              </a:spcAft>
              <a:buClr>
                <a:schemeClr val="dk1"/>
              </a:buClr>
              <a:buSzPts val="1100"/>
              <a:buFont typeface="Arial"/>
              <a:buNone/>
            </a:pPr>
            <a:r>
              <a:rPr lang="en"/>
              <a:t>Goal: How Hard is Sorting?</a:t>
            </a:r>
            <a:endParaRPr/>
          </a:p>
          <a:p>
            <a:pPr marL="0" lvl="0" indent="0" algn="l" rtl="0">
              <a:spcBef>
                <a:spcPts val="600"/>
              </a:spcBef>
              <a:spcAft>
                <a:spcPts val="0"/>
              </a:spcAft>
              <a:buClr>
                <a:schemeClr val="dk1"/>
              </a:buClr>
              <a:buSzPts val="1100"/>
              <a:buFont typeface="Arial"/>
              <a:buNone/>
            </a:pPr>
            <a:r>
              <a:rPr lang="en"/>
              <a:t>Math Problem Warmup</a:t>
            </a:r>
            <a:endParaRPr/>
          </a:p>
          <a:p>
            <a:pPr marL="0" lvl="0" indent="0" algn="l" rtl="0">
              <a:spcBef>
                <a:spcPts val="600"/>
              </a:spcBef>
              <a:spcAft>
                <a:spcPts val="0"/>
              </a:spcAft>
              <a:buClr>
                <a:schemeClr val="dk1"/>
              </a:buClr>
              <a:buSzPts val="1100"/>
              <a:buFont typeface="Arial"/>
              <a:buNone/>
            </a:pPr>
            <a:r>
              <a:rPr lang="en" b="1">
                <a:solidFill>
                  <a:schemeClr val="accent3"/>
                </a:solidFill>
                <a:latin typeface="Roboto"/>
                <a:ea typeface="Roboto"/>
                <a:cs typeface="Roboto"/>
                <a:sym typeface="Roboto"/>
              </a:rPr>
              <a:t>Theoretical Bounds on Sorting</a:t>
            </a:r>
            <a:endParaRPr b="1">
              <a:solidFill>
                <a:schemeClr val="accent3"/>
              </a:solidFill>
              <a:latin typeface="Roboto"/>
              <a:ea typeface="Roboto"/>
              <a:cs typeface="Roboto"/>
              <a:sym typeface="Roboto"/>
            </a:endParaRPr>
          </a:p>
          <a:p>
            <a:pPr marL="457200" lvl="0" indent="-342900" algn="l" rtl="0">
              <a:spcBef>
                <a:spcPts val="600"/>
              </a:spcBef>
              <a:spcAft>
                <a:spcPts val="0"/>
              </a:spcAft>
              <a:buClr>
                <a:schemeClr val="accent3"/>
              </a:buClr>
              <a:buSzPts val="1800"/>
              <a:buFont typeface="Roboto"/>
              <a:buChar char="•"/>
            </a:pPr>
            <a:r>
              <a:rPr lang="en" b="1">
                <a:solidFill>
                  <a:schemeClr val="accent3"/>
                </a:solidFill>
                <a:latin typeface="Roboto"/>
                <a:ea typeface="Roboto"/>
                <a:cs typeface="Roboto"/>
                <a:sym typeface="Roboto"/>
              </a:rPr>
              <a:t>Simple Bounds for TUCS (the ultimate comparison sort)</a:t>
            </a:r>
            <a:endParaRPr b="1">
              <a:solidFill>
                <a:schemeClr val="accent3"/>
              </a:solidFill>
              <a:latin typeface="Roboto"/>
              <a:ea typeface="Roboto"/>
              <a:cs typeface="Roboto"/>
              <a:sym typeface="Roboto"/>
            </a:endParaRPr>
          </a:p>
          <a:p>
            <a:pPr marL="457200" lvl="0" indent="-342900" algn="l" rtl="0">
              <a:spcBef>
                <a:spcPts val="0"/>
              </a:spcBef>
              <a:spcAft>
                <a:spcPts val="0"/>
              </a:spcAft>
              <a:buSzPts val="1800"/>
              <a:buChar char="•"/>
            </a:pPr>
            <a:r>
              <a:rPr lang="en"/>
              <a:t>Coin Puzzles</a:t>
            </a:r>
            <a:endParaRPr/>
          </a:p>
          <a:p>
            <a:pPr marL="457200" lvl="0" indent="-342900" algn="l" rtl="0">
              <a:spcBef>
                <a:spcPts val="0"/>
              </a:spcBef>
              <a:spcAft>
                <a:spcPts val="0"/>
              </a:spcAft>
              <a:buSzPts val="1800"/>
              <a:buChar char="•"/>
            </a:pPr>
            <a:r>
              <a:rPr lang="en"/>
              <a:t>Puppy Cat Dog</a:t>
            </a:r>
            <a:endParaRPr/>
          </a:p>
          <a:p>
            <a:pPr marL="457200" lvl="0" indent="-342900" algn="l" rtl="0">
              <a:spcBef>
                <a:spcPts val="0"/>
              </a:spcBef>
              <a:spcAft>
                <a:spcPts val="0"/>
              </a:spcAft>
              <a:buSzPts val="1800"/>
              <a:buChar char="•"/>
            </a:pPr>
            <a:r>
              <a:rPr lang="en"/>
              <a:t>The Sorting Lower Bound</a:t>
            </a:r>
            <a:endParaRPr/>
          </a:p>
          <a:p>
            <a:pPr marL="0" lvl="0" indent="0" algn="l" rtl="0">
              <a:spcBef>
                <a:spcPts val="600"/>
              </a:spcBef>
              <a:spcAft>
                <a:spcPts val="0"/>
              </a:spcAft>
              <a:buClr>
                <a:schemeClr val="dk1"/>
              </a:buClr>
              <a:buSzPts val="1100"/>
              <a:buFont typeface="Arial"/>
              <a:buNone/>
            </a:pPr>
            <a:r>
              <a:rPr lang="en"/>
              <a:t>Sounds of Sorting</a:t>
            </a:r>
            <a:endParaRPr/>
          </a:p>
        </p:txBody>
      </p:sp>
      <p:sp>
        <p:nvSpPr>
          <p:cNvPr id="261" name="Google Shape;261;p40"/>
          <p:cNvSpPr txBox="1">
            <a:spLocks noGrp="1"/>
          </p:cNvSpPr>
          <p:nvPr>
            <p:ph type="title"/>
          </p:nvPr>
        </p:nvSpPr>
        <p:spPr>
          <a:xfrm>
            <a:off x="177925" y="2003300"/>
            <a:ext cx="4038000" cy="2037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Clr>
                <a:schemeClr val="dk1"/>
              </a:buClr>
              <a:buSzPts val="1100"/>
              <a:buFont typeface="Arial"/>
              <a:buNone/>
            </a:pPr>
            <a:r>
              <a:rPr lang="en"/>
              <a:t>Simple Bounds for TUCS (the ultimate comparison sort)</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C9DAF8"/>
        </a:solidFill>
        <a:effectLst/>
      </p:bgPr>
    </p:bg>
    <p:spTree>
      <p:nvGrpSpPr>
        <p:cNvPr id="1" name="Shape 265"/>
        <p:cNvGrpSpPr/>
        <p:nvPr/>
      </p:nvGrpSpPr>
      <p:grpSpPr>
        <a:xfrm>
          <a:off x="0" y="0"/>
          <a:ext cx="0" cy="0"/>
          <a:chOff x="0" y="0"/>
          <a:chExt cx="0" cy="0"/>
        </a:xfrm>
      </p:grpSpPr>
      <p:sp>
        <p:nvSpPr>
          <p:cNvPr id="266" name="Google Shape;266;p41"/>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Sorting</a:t>
            </a:r>
            <a:endParaRPr/>
          </a:p>
        </p:txBody>
      </p:sp>
      <p:sp>
        <p:nvSpPr>
          <p:cNvPr id="267" name="Google Shape;267;p41"/>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We have shown several sorts to require Θ(N log N) worst case time.</a:t>
            </a:r>
            <a:endParaRPr/>
          </a:p>
          <a:p>
            <a:pPr marL="457200" lvl="0" indent="-342900" algn="l" rtl="0">
              <a:spcBef>
                <a:spcPts val="600"/>
              </a:spcBef>
              <a:spcAft>
                <a:spcPts val="0"/>
              </a:spcAft>
              <a:buSzPts val="1800"/>
              <a:buChar char="●"/>
            </a:pPr>
            <a:r>
              <a:rPr lang="en"/>
              <a:t>Can we build a better sorting algorithm?</a:t>
            </a:r>
            <a:endParaRPr/>
          </a:p>
          <a:p>
            <a:pPr marL="0" lvl="0" indent="0" algn="l" rtl="0">
              <a:spcBef>
                <a:spcPts val="600"/>
              </a:spcBef>
              <a:spcAft>
                <a:spcPts val="0"/>
              </a:spcAft>
              <a:buNone/>
            </a:pPr>
            <a:endParaRPr/>
          </a:p>
          <a:p>
            <a:pPr marL="0" lvl="0" indent="0" algn="l" rtl="0">
              <a:spcBef>
                <a:spcPts val="600"/>
              </a:spcBef>
              <a:spcAft>
                <a:spcPts val="0"/>
              </a:spcAft>
              <a:buNone/>
            </a:pPr>
            <a:r>
              <a:rPr lang="en"/>
              <a:t>Let the ultimate comparison sort (TUCS) be the asymptotically fastest possible comparison sorting algorithm, possibly yet to be discovered, and let R(N) be its worst case runtime.</a:t>
            </a:r>
            <a:endParaRPr/>
          </a:p>
          <a:p>
            <a:pPr marL="0" lvl="0" indent="0" algn="l" rtl="0">
              <a:spcBef>
                <a:spcPts val="600"/>
              </a:spcBef>
              <a:spcAft>
                <a:spcPts val="0"/>
              </a:spcAft>
              <a:buNone/>
            </a:pPr>
            <a:endParaRPr/>
          </a:p>
          <a:p>
            <a:pPr marL="0" lvl="0" indent="0" algn="l" rtl="0">
              <a:spcBef>
                <a:spcPts val="600"/>
              </a:spcBef>
              <a:spcAft>
                <a:spcPts val="0"/>
              </a:spcAft>
              <a:buNone/>
            </a:pPr>
            <a:r>
              <a:rPr lang="en"/>
              <a:t>Give the best Ω and O bounds you can for R(N).</a:t>
            </a:r>
            <a:endParaRPr/>
          </a:p>
          <a:p>
            <a:pPr marL="0" lvl="0" indent="0" algn="l" rtl="0">
              <a:spcBef>
                <a:spcPts val="600"/>
              </a:spcBef>
              <a:spcAft>
                <a:spcPts val="0"/>
              </a:spcAft>
              <a:buNone/>
            </a:pPr>
            <a:endParaRPr/>
          </a:p>
          <a:p>
            <a:pPr marL="0" lvl="0" indent="0" algn="l" rtl="0">
              <a:spcBef>
                <a:spcPts val="600"/>
              </a:spcBef>
              <a:spcAft>
                <a:spcPts val="0"/>
              </a:spcAft>
              <a:buNone/>
            </a:pPr>
            <a:r>
              <a:rPr lang="en"/>
              <a:t>It might seem strange to give Ω and O bounds for an algorithm whose details are completely unknown, but you can, I promise!</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67">
                                            <p:txEl>
                                              <p:pRg st="0" end="0"/>
                                            </p:txEl>
                                          </p:spTgt>
                                        </p:tgtEl>
                                        <p:attrNameLst>
                                          <p:attrName>style.visibility</p:attrName>
                                        </p:attrNameLst>
                                      </p:cBhvr>
                                      <p:to>
                                        <p:strVal val="visible"/>
                                      </p:to>
                                    </p:set>
                                    <p:animEffect transition="in" filter="fade">
                                      <p:cBhvr>
                                        <p:cTn id="7" dur="1"/>
                                        <p:tgtEl>
                                          <p:spTgt spid="26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67">
                                            <p:txEl>
                                              <p:pRg st="1" end="1"/>
                                            </p:txEl>
                                          </p:spTgt>
                                        </p:tgtEl>
                                        <p:attrNameLst>
                                          <p:attrName>style.visibility</p:attrName>
                                        </p:attrNameLst>
                                      </p:cBhvr>
                                      <p:to>
                                        <p:strVal val="visible"/>
                                      </p:to>
                                    </p:set>
                                    <p:animEffect transition="in" filter="fade">
                                      <p:cBhvr>
                                        <p:cTn id="12" dur="1"/>
                                        <p:tgtEl>
                                          <p:spTgt spid="26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67">
                                            <p:txEl>
                                              <p:pRg st="2" end="2"/>
                                            </p:txEl>
                                          </p:spTgt>
                                        </p:tgtEl>
                                        <p:attrNameLst>
                                          <p:attrName>style.visibility</p:attrName>
                                        </p:attrNameLst>
                                      </p:cBhvr>
                                      <p:to>
                                        <p:strVal val="visible"/>
                                      </p:to>
                                    </p:set>
                                    <p:animEffect transition="in" filter="fade">
                                      <p:cBhvr>
                                        <p:cTn id="17" dur="1"/>
                                        <p:tgtEl>
                                          <p:spTgt spid="26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67">
                                            <p:txEl>
                                              <p:pRg st="3" end="3"/>
                                            </p:txEl>
                                          </p:spTgt>
                                        </p:tgtEl>
                                        <p:attrNameLst>
                                          <p:attrName>style.visibility</p:attrName>
                                        </p:attrNameLst>
                                      </p:cBhvr>
                                      <p:to>
                                        <p:strVal val="visible"/>
                                      </p:to>
                                    </p:set>
                                    <p:animEffect transition="in" filter="fade">
                                      <p:cBhvr>
                                        <p:cTn id="22" dur="1"/>
                                        <p:tgtEl>
                                          <p:spTgt spid="26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67">
                                            <p:txEl>
                                              <p:pRg st="4" end="4"/>
                                            </p:txEl>
                                          </p:spTgt>
                                        </p:tgtEl>
                                        <p:attrNameLst>
                                          <p:attrName>style.visibility</p:attrName>
                                        </p:attrNameLst>
                                      </p:cBhvr>
                                      <p:to>
                                        <p:strVal val="visible"/>
                                      </p:to>
                                    </p:set>
                                    <p:animEffect transition="in" filter="fade">
                                      <p:cBhvr>
                                        <p:cTn id="27" dur="1"/>
                                        <p:tgtEl>
                                          <p:spTgt spid="26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67">
                                            <p:txEl>
                                              <p:pRg st="5" end="5"/>
                                            </p:txEl>
                                          </p:spTgt>
                                        </p:tgtEl>
                                        <p:attrNameLst>
                                          <p:attrName>style.visibility</p:attrName>
                                        </p:attrNameLst>
                                      </p:cBhvr>
                                      <p:to>
                                        <p:strVal val="visible"/>
                                      </p:to>
                                    </p:set>
                                    <p:animEffect transition="in" filter="fade">
                                      <p:cBhvr>
                                        <p:cTn id="32" dur="1"/>
                                        <p:tgtEl>
                                          <p:spTgt spid="267">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67">
                                            <p:txEl>
                                              <p:pRg st="6" end="6"/>
                                            </p:txEl>
                                          </p:spTgt>
                                        </p:tgtEl>
                                        <p:attrNameLst>
                                          <p:attrName>style.visibility</p:attrName>
                                        </p:attrNameLst>
                                      </p:cBhvr>
                                      <p:to>
                                        <p:strVal val="visible"/>
                                      </p:to>
                                    </p:set>
                                    <p:animEffect transition="in" filter="fade">
                                      <p:cBhvr>
                                        <p:cTn id="37" dur="1"/>
                                        <p:tgtEl>
                                          <p:spTgt spid="267">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67">
                                            <p:txEl>
                                              <p:pRg st="7" end="7"/>
                                            </p:txEl>
                                          </p:spTgt>
                                        </p:tgtEl>
                                        <p:attrNameLst>
                                          <p:attrName>style.visibility</p:attrName>
                                        </p:attrNameLst>
                                      </p:cBhvr>
                                      <p:to>
                                        <p:strVal val="visible"/>
                                      </p:to>
                                    </p:set>
                                    <p:animEffect transition="in" filter="fade">
                                      <p:cBhvr>
                                        <p:cTn id="42" dur="1"/>
                                        <p:tgtEl>
                                          <p:spTgt spid="26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p42"/>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Sorting</a:t>
            </a:r>
            <a:endParaRPr/>
          </a:p>
        </p:txBody>
      </p:sp>
      <p:sp>
        <p:nvSpPr>
          <p:cNvPr id="273" name="Google Shape;273;p42"/>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We have shown several sorts to require Θ(N log N) worst case time.</a:t>
            </a:r>
            <a:endParaRPr/>
          </a:p>
          <a:p>
            <a:pPr marL="457200" lvl="0" indent="-342900" algn="l" rtl="0">
              <a:spcBef>
                <a:spcPts val="600"/>
              </a:spcBef>
              <a:spcAft>
                <a:spcPts val="0"/>
              </a:spcAft>
              <a:buSzPts val="1800"/>
              <a:buChar char="●"/>
            </a:pPr>
            <a:r>
              <a:rPr lang="en"/>
              <a:t>Can we build a better sorting algorithm?</a:t>
            </a:r>
            <a:endParaRPr/>
          </a:p>
          <a:p>
            <a:pPr marL="0" lvl="0" indent="0" algn="l" rtl="0">
              <a:spcBef>
                <a:spcPts val="600"/>
              </a:spcBef>
              <a:spcAft>
                <a:spcPts val="0"/>
              </a:spcAft>
              <a:buNone/>
            </a:pPr>
            <a:endParaRPr/>
          </a:p>
          <a:p>
            <a:pPr marL="0" lvl="0" indent="0" algn="l" rtl="0">
              <a:spcBef>
                <a:spcPts val="600"/>
              </a:spcBef>
              <a:spcAft>
                <a:spcPts val="0"/>
              </a:spcAft>
              <a:buNone/>
            </a:pPr>
            <a:r>
              <a:rPr lang="en"/>
              <a:t>Let the ultimate comparison sort (TUCS) be the asymptotically fastest possible comparison sorting algorithm, possibly yet to be discovered, and let R(N) be its worst case runtime.</a:t>
            </a:r>
            <a:endParaRPr/>
          </a:p>
        </p:txBody>
      </p:sp>
      <p:sp>
        <p:nvSpPr>
          <p:cNvPr id="274" name="Google Shape;274;p42"/>
          <p:cNvSpPr txBox="1"/>
          <p:nvPr/>
        </p:nvSpPr>
        <p:spPr>
          <a:xfrm>
            <a:off x="245150" y="3534075"/>
            <a:ext cx="6911700" cy="1496100"/>
          </a:xfrm>
          <a:prstGeom prst="rect">
            <a:avLst/>
          </a:prstGeom>
          <a:noFill/>
          <a:ln>
            <a:noFill/>
          </a:ln>
        </p:spPr>
        <p:txBody>
          <a:bodyPr spcFirstLastPara="1" wrap="square" lIns="91425" tIns="91425" rIns="91425" bIns="91425" anchor="t" anchorCtr="0">
            <a:noAutofit/>
          </a:bodyPr>
          <a:lstStyle/>
          <a:p>
            <a:pPr marL="457200" lvl="0" indent="-342900" algn="l" rtl="0">
              <a:spcBef>
                <a:spcPts val="0"/>
              </a:spcBef>
              <a:spcAft>
                <a:spcPts val="0"/>
              </a:spcAft>
              <a:buClr>
                <a:schemeClr val="dk1"/>
              </a:buClr>
              <a:buSzPts val="1800"/>
              <a:buFont typeface="Roboto"/>
              <a:buChar char="●"/>
            </a:pPr>
            <a:r>
              <a:rPr lang="en" sz="1800">
                <a:solidFill>
                  <a:schemeClr val="dk1"/>
                </a:solidFill>
                <a:latin typeface="Roboto"/>
                <a:ea typeface="Roboto"/>
                <a:cs typeface="Roboto"/>
                <a:sym typeface="Roboto"/>
              </a:rPr>
              <a:t>Worst case run-time of TUCS, R(N) is Ω(1). </a:t>
            </a:r>
            <a:endParaRPr sz="1800">
              <a:solidFill>
                <a:schemeClr val="dk1"/>
              </a:solidFill>
              <a:latin typeface="Roboto"/>
              <a:ea typeface="Roboto"/>
              <a:cs typeface="Roboto"/>
              <a:sym typeface="Roboto"/>
            </a:endParaRPr>
          </a:p>
          <a:p>
            <a:pPr marL="914400" lvl="1" indent="-342900" algn="l" rtl="0">
              <a:spcBef>
                <a:spcPts val="0"/>
              </a:spcBef>
              <a:spcAft>
                <a:spcPts val="0"/>
              </a:spcAft>
              <a:buClr>
                <a:schemeClr val="dk1"/>
              </a:buClr>
              <a:buSzPts val="1800"/>
              <a:buFont typeface="Roboto"/>
              <a:buChar char="○"/>
            </a:pPr>
            <a:r>
              <a:rPr lang="en" sz="1800">
                <a:solidFill>
                  <a:schemeClr val="dk1"/>
                </a:solidFill>
                <a:latin typeface="Roboto"/>
                <a:ea typeface="Roboto"/>
                <a:cs typeface="Roboto"/>
                <a:sym typeface="Roboto"/>
              </a:rPr>
              <a:t>Obvious: Problem doesn’t get easier with N.</a:t>
            </a:r>
            <a:endParaRPr sz="1800">
              <a:solidFill>
                <a:schemeClr val="dk1"/>
              </a:solidFill>
              <a:latin typeface="Roboto"/>
              <a:ea typeface="Roboto"/>
              <a:cs typeface="Roboto"/>
              <a:sym typeface="Roboto"/>
            </a:endParaRPr>
          </a:p>
          <a:p>
            <a:pPr marL="914400" lvl="1" indent="-342900" algn="l" rtl="0">
              <a:spcBef>
                <a:spcPts val="0"/>
              </a:spcBef>
              <a:spcAft>
                <a:spcPts val="0"/>
              </a:spcAft>
              <a:buClr>
                <a:schemeClr val="dk1"/>
              </a:buClr>
              <a:buSzPts val="1800"/>
              <a:buFont typeface="Roboto"/>
              <a:buChar char="○"/>
            </a:pPr>
            <a:r>
              <a:rPr lang="en" sz="1800">
                <a:solidFill>
                  <a:schemeClr val="dk1"/>
                </a:solidFill>
                <a:latin typeface="Roboto"/>
                <a:ea typeface="Roboto"/>
                <a:cs typeface="Roboto"/>
                <a:sym typeface="Roboto"/>
              </a:rPr>
              <a:t>Can we make a stronger statement than Ω(1)?</a:t>
            </a:r>
            <a:endParaRPr sz="1800">
              <a:solidFill>
                <a:schemeClr val="dk1"/>
              </a:solidFill>
              <a:latin typeface="Roboto"/>
              <a:ea typeface="Roboto"/>
              <a:cs typeface="Roboto"/>
              <a:sym typeface="Roboto"/>
            </a:endParaRPr>
          </a:p>
        </p:txBody>
      </p:sp>
      <p:grpSp>
        <p:nvGrpSpPr>
          <p:cNvPr id="275" name="Google Shape;275;p42"/>
          <p:cNvGrpSpPr/>
          <p:nvPr/>
        </p:nvGrpSpPr>
        <p:grpSpPr>
          <a:xfrm>
            <a:off x="7245425" y="2571975"/>
            <a:ext cx="1372500" cy="1693800"/>
            <a:chOff x="7245425" y="2571975"/>
            <a:chExt cx="1372500" cy="1693800"/>
          </a:xfrm>
        </p:grpSpPr>
        <p:sp>
          <p:nvSpPr>
            <p:cNvPr id="276" name="Google Shape;276;p42"/>
            <p:cNvSpPr/>
            <p:nvPr/>
          </p:nvSpPr>
          <p:spPr>
            <a:xfrm>
              <a:off x="7245425" y="2571975"/>
              <a:ext cx="1372500" cy="1693800"/>
            </a:xfrm>
            <a:prstGeom prst="rect">
              <a:avLst/>
            </a:prstGeom>
            <a:solidFill>
              <a:srgbClr val="C9DAF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77" name="Google Shape;277;p42"/>
            <p:cNvCxnSpPr/>
            <p:nvPr/>
          </p:nvCxnSpPr>
          <p:spPr>
            <a:xfrm>
              <a:off x="7628697" y="3008743"/>
              <a:ext cx="606000" cy="0"/>
            </a:xfrm>
            <a:prstGeom prst="straightConnector1">
              <a:avLst/>
            </a:prstGeom>
            <a:noFill/>
            <a:ln w="28575" cap="flat" cmpd="sng">
              <a:solidFill>
                <a:srgbClr val="BE0712"/>
              </a:solidFill>
              <a:prstDash val="solid"/>
              <a:round/>
              <a:headEnd type="none" w="med" len="med"/>
              <a:tailEnd type="none" w="med" len="med"/>
            </a:ln>
          </p:spPr>
        </p:cxnSp>
        <p:cxnSp>
          <p:nvCxnSpPr>
            <p:cNvPr id="278" name="Google Shape;278;p42"/>
            <p:cNvCxnSpPr/>
            <p:nvPr/>
          </p:nvCxnSpPr>
          <p:spPr>
            <a:xfrm>
              <a:off x="7950150" y="3017075"/>
              <a:ext cx="0" cy="865800"/>
            </a:xfrm>
            <a:prstGeom prst="straightConnector1">
              <a:avLst/>
            </a:prstGeom>
            <a:noFill/>
            <a:ln w="28575" cap="flat" cmpd="sng">
              <a:solidFill>
                <a:srgbClr val="BE0712"/>
              </a:solidFill>
              <a:prstDash val="solid"/>
              <a:round/>
              <a:headEnd type="none" w="med" len="med"/>
              <a:tailEnd type="none" w="med" len="med"/>
            </a:ln>
          </p:spPr>
        </p:cxnSp>
        <p:cxnSp>
          <p:nvCxnSpPr>
            <p:cNvPr id="279" name="Google Shape;279;p42"/>
            <p:cNvCxnSpPr/>
            <p:nvPr/>
          </p:nvCxnSpPr>
          <p:spPr>
            <a:xfrm>
              <a:off x="7634797" y="3874218"/>
              <a:ext cx="606000" cy="0"/>
            </a:xfrm>
            <a:prstGeom prst="straightConnector1">
              <a:avLst/>
            </a:prstGeom>
            <a:noFill/>
            <a:ln w="28575" cap="flat" cmpd="sng">
              <a:solidFill>
                <a:srgbClr val="BE0712"/>
              </a:solidFill>
              <a:prstDash val="solid"/>
              <a:round/>
              <a:headEnd type="none" w="med" len="med"/>
              <a:tailEnd type="none" w="med" len="med"/>
            </a:ln>
          </p:spPr>
        </p:cxnSp>
      </p:grpSp>
      <p:sp>
        <p:nvSpPr>
          <p:cNvPr id="280" name="Google Shape;280;p42"/>
          <p:cNvSpPr txBox="1"/>
          <p:nvPr/>
        </p:nvSpPr>
        <p:spPr>
          <a:xfrm>
            <a:off x="7342313" y="2522278"/>
            <a:ext cx="1239600" cy="552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600">
                <a:solidFill>
                  <a:srgbClr val="BE0712"/>
                </a:solidFill>
                <a:latin typeface="Roboto"/>
                <a:ea typeface="Roboto"/>
                <a:cs typeface="Roboto"/>
                <a:sym typeface="Roboto"/>
              </a:rPr>
              <a:t>O(N log N)</a:t>
            </a:r>
            <a:endParaRPr sz="1600">
              <a:solidFill>
                <a:srgbClr val="BE0712"/>
              </a:solidFill>
              <a:latin typeface="Roboto"/>
              <a:ea typeface="Roboto"/>
              <a:cs typeface="Roboto"/>
              <a:sym typeface="Roboto"/>
            </a:endParaRPr>
          </a:p>
        </p:txBody>
      </p:sp>
      <p:sp>
        <p:nvSpPr>
          <p:cNvPr id="281" name="Google Shape;281;p42"/>
          <p:cNvSpPr txBox="1"/>
          <p:nvPr/>
        </p:nvSpPr>
        <p:spPr>
          <a:xfrm>
            <a:off x="7671901" y="3773175"/>
            <a:ext cx="909900" cy="552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600">
                <a:solidFill>
                  <a:srgbClr val="BE0712"/>
                </a:solidFill>
                <a:latin typeface="Roboto"/>
                <a:ea typeface="Roboto"/>
                <a:cs typeface="Roboto"/>
                <a:sym typeface="Roboto"/>
              </a:rPr>
              <a:t>Ω(1)</a:t>
            </a:r>
            <a:endParaRPr sz="1600">
              <a:solidFill>
                <a:srgbClr val="BE0712"/>
              </a:solidFill>
              <a:latin typeface="Roboto"/>
              <a:ea typeface="Roboto"/>
              <a:cs typeface="Roboto"/>
              <a:sym typeface="Roboto"/>
            </a:endParaRPr>
          </a:p>
        </p:txBody>
      </p:sp>
      <p:sp>
        <p:nvSpPr>
          <p:cNvPr id="282" name="Google Shape;282;p42"/>
          <p:cNvSpPr txBox="1"/>
          <p:nvPr/>
        </p:nvSpPr>
        <p:spPr>
          <a:xfrm>
            <a:off x="7150400" y="4202700"/>
            <a:ext cx="1589100" cy="570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latin typeface="Roboto"/>
                <a:ea typeface="Roboto"/>
                <a:cs typeface="Roboto"/>
                <a:sym typeface="Roboto"/>
              </a:rPr>
              <a:t>TUCS Worst</a:t>
            </a:r>
            <a:endParaRPr>
              <a:latin typeface="Roboto"/>
              <a:ea typeface="Roboto"/>
              <a:cs typeface="Roboto"/>
              <a:sym typeface="Roboto"/>
            </a:endParaRPr>
          </a:p>
          <a:p>
            <a:pPr marL="0" lvl="0" indent="0" algn="l" rtl="0">
              <a:spcBef>
                <a:spcPts val="0"/>
              </a:spcBef>
              <a:spcAft>
                <a:spcPts val="0"/>
              </a:spcAft>
              <a:buNone/>
            </a:pPr>
            <a:r>
              <a:rPr lang="en">
                <a:latin typeface="Roboto"/>
                <a:ea typeface="Roboto"/>
                <a:cs typeface="Roboto"/>
                <a:sym typeface="Roboto"/>
              </a:rPr>
              <a:t> Case Θ </a:t>
            </a:r>
            <a:r>
              <a:rPr lang="en">
                <a:solidFill>
                  <a:schemeClr val="dk1"/>
                </a:solidFill>
                <a:latin typeface="Roboto"/>
                <a:ea typeface="Roboto"/>
                <a:cs typeface="Roboto"/>
                <a:sym typeface="Roboto"/>
              </a:rPr>
              <a:t>Runtime</a:t>
            </a:r>
            <a:r>
              <a:rPr lang="en">
                <a:latin typeface="Roboto"/>
                <a:ea typeface="Roboto"/>
                <a:cs typeface="Roboto"/>
                <a:sym typeface="Roboto"/>
              </a:rPr>
              <a:t> </a:t>
            </a:r>
            <a:endParaRPr>
              <a:latin typeface="Roboto"/>
              <a:ea typeface="Roboto"/>
              <a:cs typeface="Roboto"/>
              <a:sym typeface="Roboto"/>
            </a:endParaRPr>
          </a:p>
        </p:txBody>
      </p:sp>
      <p:sp>
        <p:nvSpPr>
          <p:cNvPr id="283" name="Google Shape;283;p42"/>
          <p:cNvSpPr txBox="1"/>
          <p:nvPr/>
        </p:nvSpPr>
        <p:spPr>
          <a:xfrm>
            <a:off x="256276" y="2703393"/>
            <a:ext cx="7150500" cy="821400"/>
          </a:xfrm>
          <a:prstGeom prst="rect">
            <a:avLst/>
          </a:prstGeom>
          <a:noFill/>
          <a:ln>
            <a:noFill/>
          </a:ln>
        </p:spPr>
        <p:txBody>
          <a:bodyPr spcFirstLastPara="1" wrap="square" lIns="91425" tIns="91425" rIns="91425" bIns="91425" anchor="ctr" anchorCtr="0">
            <a:noAutofit/>
          </a:bodyPr>
          <a:lstStyle/>
          <a:p>
            <a:pPr marL="457200" lvl="0" indent="-342900" algn="l" rtl="0">
              <a:spcBef>
                <a:spcPts val="600"/>
              </a:spcBef>
              <a:spcAft>
                <a:spcPts val="0"/>
              </a:spcAft>
              <a:buClr>
                <a:schemeClr val="dk1"/>
              </a:buClr>
              <a:buSzPts val="1800"/>
              <a:buFont typeface="Roboto"/>
              <a:buChar char="●"/>
            </a:pPr>
            <a:r>
              <a:rPr lang="en" sz="1800">
                <a:solidFill>
                  <a:schemeClr val="dk1"/>
                </a:solidFill>
                <a:latin typeface="Roboto"/>
                <a:ea typeface="Roboto"/>
                <a:cs typeface="Roboto"/>
                <a:sym typeface="Roboto"/>
              </a:rPr>
              <a:t>Worst case run-time of TUCS, R(N) is O(N log N). </a:t>
            </a:r>
            <a:endParaRPr sz="1800">
              <a:solidFill>
                <a:schemeClr val="dk1"/>
              </a:solidFill>
              <a:latin typeface="Roboto"/>
              <a:ea typeface="Roboto"/>
              <a:cs typeface="Roboto"/>
              <a:sym typeface="Roboto"/>
            </a:endParaRPr>
          </a:p>
          <a:p>
            <a:pPr marL="914400" lvl="1" indent="-342900" algn="l" rtl="0">
              <a:spcBef>
                <a:spcPts val="0"/>
              </a:spcBef>
              <a:spcAft>
                <a:spcPts val="0"/>
              </a:spcAft>
              <a:buClr>
                <a:schemeClr val="dk1"/>
              </a:buClr>
              <a:buSzPts val="1800"/>
              <a:buFont typeface="Roboto"/>
              <a:buChar char="○"/>
            </a:pPr>
            <a:r>
              <a:rPr lang="en" sz="1800">
                <a:solidFill>
                  <a:schemeClr val="dk1"/>
                </a:solidFill>
                <a:latin typeface="Roboto"/>
                <a:ea typeface="Roboto"/>
                <a:cs typeface="Roboto"/>
                <a:sym typeface="Roboto"/>
              </a:rPr>
              <a:t>Obvious: Mergesort is Θ(N log N) so R(N) can’t be worse!</a:t>
            </a:r>
            <a:endParaRPr sz="1800">
              <a:solidFill>
                <a:schemeClr val="dk1"/>
              </a:solidFill>
              <a:latin typeface="Roboto"/>
              <a:ea typeface="Roboto"/>
              <a:cs typeface="Roboto"/>
              <a:sym typeface="Robo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83"/>
                                        </p:tgtEl>
                                        <p:attrNameLst>
                                          <p:attrName>style.visibility</p:attrName>
                                        </p:attrNameLst>
                                      </p:cBhvr>
                                      <p:to>
                                        <p:strVal val="visible"/>
                                      </p:to>
                                    </p:set>
                                    <p:animEffect transition="in" filter="fade">
                                      <p:cBhvr>
                                        <p:cTn id="7" dur="1"/>
                                        <p:tgtEl>
                                          <p:spTgt spid="28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75"/>
                                        </p:tgtEl>
                                        <p:attrNameLst>
                                          <p:attrName>style.visibility</p:attrName>
                                        </p:attrNameLst>
                                      </p:cBhvr>
                                      <p:to>
                                        <p:strVal val="visible"/>
                                      </p:to>
                                    </p:set>
                                    <p:animEffect transition="in" filter="fade">
                                      <p:cBhvr>
                                        <p:cTn id="12" dur="1000"/>
                                        <p:tgtEl>
                                          <p:spTgt spid="275"/>
                                        </p:tgtEl>
                                      </p:cBhvr>
                                    </p:animEffect>
                                  </p:childTnLst>
                                </p:cTn>
                              </p:par>
                              <p:par>
                                <p:cTn id="13" presetID="10" presetClass="entr" presetSubtype="0" fill="hold" nodeType="withEffect">
                                  <p:stCondLst>
                                    <p:cond delay="0"/>
                                  </p:stCondLst>
                                  <p:childTnLst>
                                    <p:set>
                                      <p:cBhvr>
                                        <p:cTn id="14" dur="1" fill="hold">
                                          <p:stCondLst>
                                            <p:cond delay="0"/>
                                          </p:stCondLst>
                                        </p:cTn>
                                        <p:tgtEl>
                                          <p:spTgt spid="282"/>
                                        </p:tgtEl>
                                        <p:attrNameLst>
                                          <p:attrName>style.visibility</p:attrName>
                                        </p:attrNameLst>
                                      </p:cBhvr>
                                      <p:to>
                                        <p:strVal val="visible"/>
                                      </p:to>
                                    </p:set>
                                    <p:animEffect transition="in" filter="fade">
                                      <p:cBhvr>
                                        <p:cTn id="15" dur="1000"/>
                                        <p:tgtEl>
                                          <p:spTgt spid="282"/>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280"/>
                                        </p:tgtEl>
                                        <p:attrNameLst>
                                          <p:attrName>style.visibility</p:attrName>
                                        </p:attrNameLst>
                                      </p:cBhvr>
                                      <p:to>
                                        <p:strVal val="visible"/>
                                      </p:to>
                                    </p:set>
                                    <p:animEffect transition="in" filter="fade">
                                      <p:cBhvr>
                                        <p:cTn id="20" dur="1000"/>
                                        <p:tgtEl>
                                          <p:spTgt spid="280"/>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274">
                                            <p:txEl>
                                              <p:pRg st="0" end="0"/>
                                            </p:txEl>
                                          </p:spTgt>
                                        </p:tgtEl>
                                        <p:attrNameLst>
                                          <p:attrName>style.visibility</p:attrName>
                                        </p:attrNameLst>
                                      </p:cBhvr>
                                      <p:to>
                                        <p:strVal val="visible"/>
                                      </p:to>
                                    </p:set>
                                    <p:animEffect transition="in" filter="fade">
                                      <p:cBhvr>
                                        <p:cTn id="25" dur="1"/>
                                        <p:tgtEl>
                                          <p:spTgt spid="274">
                                            <p:txEl>
                                              <p:pRg st="0" end="0"/>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274">
                                            <p:txEl>
                                              <p:pRg st="1" end="1"/>
                                            </p:txEl>
                                          </p:spTgt>
                                        </p:tgtEl>
                                        <p:attrNameLst>
                                          <p:attrName>style.visibility</p:attrName>
                                        </p:attrNameLst>
                                      </p:cBhvr>
                                      <p:to>
                                        <p:strVal val="visible"/>
                                      </p:to>
                                    </p:set>
                                    <p:animEffect transition="in" filter="fade">
                                      <p:cBhvr>
                                        <p:cTn id="30" dur="1"/>
                                        <p:tgtEl>
                                          <p:spTgt spid="274">
                                            <p:txEl>
                                              <p:pRg st="1" end="1"/>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274">
                                            <p:txEl>
                                              <p:pRg st="2" end="2"/>
                                            </p:txEl>
                                          </p:spTgt>
                                        </p:tgtEl>
                                        <p:attrNameLst>
                                          <p:attrName>style.visibility</p:attrName>
                                        </p:attrNameLst>
                                      </p:cBhvr>
                                      <p:to>
                                        <p:strVal val="visible"/>
                                      </p:to>
                                    </p:set>
                                    <p:animEffect transition="in" filter="fade">
                                      <p:cBhvr>
                                        <p:cTn id="35" dur="1"/>
                                        <p:tgtEl>
                                          <p:spTgt spid="274">
                                            <p:txEl>
                                              <p:pRg st="2" end="2"/>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281"/>
                                        </p:tgtEl>
                                        <p:attrNameLst>
                                          <p:attrName>style.visibility</p:attrName>
                                        </p:attrNameLst>
                                      </p:cBhvr>
                                      <p:to>
                                        <p:strVal val="visible"/>
                                      </p:to>
                                    </p:set>
                                    <p:animEffect transition="in" filter="fade">
                                      <p:cBhvr>
                                        <p:cTn id="40" dur="1000"/>
                                        <p:tgtEl>
                                          <p:spTgt spid="2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87"/>
        <p:cNvGrpSpPr/>
        <p:nvPr/>
      </p:nvGrpSpPr>
      <p:grpSpPr>
        <a:xfrm>
          <a:off x="0" y="0"/>
          <a:ext cx="0" cy="0"/>
          <a:chOff x="0" y="0"/>
          <a:chExt cx="0" cy="0"/>
        </a:xfrm>
      </p:grpSpPr>
      <p:sp>
        <p:nvSpPr>
          <p:cNvPr id="288" name="Google Shape;288;p43"/>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Sorting</a:t>
            </a:r>
            <a:endParaRPr/>
          </a:p>
        </p:txBody>
      </p:sp>
      <p:sp>
        <p:nvSpPr>
          <p:cNvPr id="289" name="Google Shape;289;p43"/>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Let TUCS be the asymptotically fastest possible comparison sorting algorithm, possibly yet to be discovered.</a:t>
            </a:r>
            <a:endParaRPr/>
          </a:p>
          <a:p>
            <a:pPr marL="457200" lvl="0" indent="-342900" algn="l" rtl="0">
              <a:spcBef>
                <a:spcPts val="600"/>
              </a:spcBef>
              <a:spcAft>
                <a:spcPts val="0"/>
              </a:spcAft>
              <a:buSzPts val="1800"/>
              <a:buChar char="●"/>
            </a:pPr>
            <a:r>
              <a:rPr lang="en"/>
              <a:t>Worst case run-time of TUCS, R(N) is O(N log N). Why?</a:t>
            </a:r>
            <a:endParaRPr/>
          </a:p>
          <a:p>
            <a:pPr marL="457200" lvl="0" indent="-342900" algn="l" rtl="0">
              <a:spcBef>
                <a:spcPts val="0"/>
              </a:spcBef>
              <a:spcAft>
                <a:spcPts val="0"/>
              </a:spcAft>
              <a:buSzPts val="1800"/>
              <a:buChar char="●"/>
            </a:pPr>
            <a:r>
              <a:rPr lang="en"/>
              <a:t>Worst case run-time of TUCS, R(N) is also Ω(N).</a:t>
            </a:r>
            <a:endParaRPr/>
          </a:p>
          <a:p>
            <a:pPr marL="914400" lvl="1" indent="-342900" algn="l" rtl="0">
              <a:spcBef>
                <a:spcPts val="0"/>
              </a:spcBef>
              <a:spcAft>
                <a:spcPts val="0"/>
              </a:spcAft>
              <a:buSzPts val="1800"/>
              <a:buChar char="○"/>
            </a:pPr>
            <a:r>
              <a:rPr lang="en"/>
              <a:t>Have to at least look at every item.</a:t>
            </a:r>
            <a:endParaRPr/>
          </a:p>
        </p:txBody>
      </p:sp>
      <p:sp>
        <p:nvSpPr>
          <p:cNvPr id="290" name="Google Shape;290;p43"/>
          <p:cNvSpPr/>
          <p:nvPr/>
        </p:nvSpPr>
        <p:spPr>
          <a:xfrm>
            <a:off x="7245425" y="1505175"/>
            <a:ext cx="1372500" cy="1693800"/>
          </a:xfrm>
          <a:prstGeom prst="rect">
            <a:avLst/>
          </a:prstGeom>
          <a:solidFill>
            <a:srgbClr val="C9DAF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91" name="Google Shape;291;p43"/>
          <p:cNvCxnSpPr/>
          <p:nvPr/>
        </p:nvCxnSpPr>
        <p:spPr>
          <a:xfrm>
            <a:off x="7628697" y="1941943"/>
            <a:ext cx="606000" cy="0"/>
          </a:xfrm>
          <a:prstGeom prst="straightConnector1">
            <a:avLst/>
          </a:prstGeom>
          <a:noFill/>
          <a:ln w="28575" cap="flat" cmpd="sng">
            <a:solidFill>
              <a:srgbClr val="BE0712"/>
            </a:solidFill>
            <a:prstDash val="solid"/>
            <a:round/>
            <a:headEnd type="none" w="med" len="med"/>
            <a:tailEnd type="none" w="med" len="med"/>
          </a:ln>
        </p:spPr>
      </p:cxnSp>
      <p:cxnSp>
        <p:nvCxnSpPr>
          <p:cNvPr id="292" name="Google Shape;292;p43"/>
          <p:cNvCxnSpPr/>
          <p:nvPr/>
        </p:nvCxnSpPr>
        <p:spPr>
          <a:xfrm>
            <a:off x="7950150" y="1950275"/>
            <a:ext cx="0" cy="865800"/>
          </a:xfrm>
          <a:prstGeom prst="straightConnector1">
            <a:avLst/>
          </a:prstGeom>
          <a:noFill/>
          <a:ln w="28575" cap="flat" cmpd="sng">
            <a:solidFill>
              <a:srgbClr val="BE0712"/>
            </a:solidFill>
            <a:prstDash val="solid"/>
            <a:round/>
            <a:headEnd type="none" w="med" len="med"/>
            <a:tailEnd type="none" w="med" len="med"/>
          </a:ln>
        </p:spPr>
      </p:cxnSp>
      <p:cxnSp>
        <p:nvCxnSpPr>
          <p:cNvPr id="293" name="Google Shape;293;p43"/>
          <p:cNvCxnSpPr/>
          <p:nvPr/>
        </p:nvCxnSpPr>
        <p:spPr>
          <a:xfrm>
            <a:off x="7634797" y="2807418"/>
            <a:ext cx="606000" cy="0"/>
          </a:xfrm>
          <a:prstGeom prst="straightConnector1">
            <a:avLst/>
          </a:prstGeom>
          <a:noFill/>
          <a:ln w="28575" cap="flat" cmpd="sng">
            <a:solidFill>
              <a:srgbClr val="BE0712"/>
            </a:solidFill>
            <a:prstDash val="solid"/>
            <a:round/>
            <a:headEnd type="none" w="med" len="med"/>
            <a:tailEnd type="none" w="med" len="med"/>
          </a:ln>
        </p:spPr>
      </p:cxnSp>
      <p:sp>
        <p:nvSpPr>
          <p:cNvPr id="294" name="Google Shape;294;p43"/>
          <p:cNvSpPr txBox="1"/>
          <p:nvPr/>
        </p:nvSpPr>
        <p:spPr>
          <a:xfrm>
            <a:off x="7342313" y="1455478"/>
            <a:ext cx="1239600" cy="552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600">
                <a:solidFill>
                  <a:srgbClr val="BE0712"/>
                </a:solidFill>
                <a:latin typeface="Roboto"/>
                <a:ea typeface="Roboto"/>
                <a:cs typeface="Roboto"/>
                <a:sym typeface="Roboto"/>
              </a:rPr>
              <a:t>O(N log N)</a:t>
            </a:r>
            <a:endParaRPr sz="1600">
              <a:solidFill>
                <a:srgbClr val="BE0712"/>
              </a:solidFill>
              <a:latin typeface="Roboto"/>
              <a:ea typeface="Roboto"/>
              <a:cs typeface="Roboto"/>
              <a:sym typeface="Roboto"/>
            </a:endParaRPr>
          </a:p>
        </p:txBody>
      </p:sp>
      <p:sp>
        <p:nvSpPr>
          <p:cNvPr id="295" name="Google Shape;295;p43"/>
          <p:cNvSpPr txBox="1"/>
          <p:nvPr/>
        </p:nvSpPr>
        <p:spPr>
          <a:xfrm>
            <a:off x="7671901" y="2706375"/>
            <a:ext cx="724500" cy="552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600">
                <a:solidFill>
                  <a:srgbClr val="BE0712"/>
                </a:solidFill>
                <a:latin typeface="Roboto"/>
                <a:ea typeface="Roboto"/>
                <a:cs typeface="Roboto"/>
                <a:sym typeface="Roboto"/>
              </a:rPr>
              <a:t>Ω(N)</a:t>
            </a:r>
            <a:endParaRPr sz="1600">
              <a:solidFill>
                <a:srgbClr val="BE0712"/>
              </a:solidFill>
              <a:latin typeface="Roboto"/>
              <a:ea typeface="Roboto"/>
              <a:cs typeface="Roboto"/>
              <a:sym typeface="Roboto"/>
            </a:endParaRPr>
          </a:p>
        </p:txBody>
      </p:sp>
      <p:sp>
        <p:nvSpPr>
          <p:cNvPr id="296" name="Google Shape;296;p43"/>
          <p:cNvSpPr txBox="1"/>
          <p:nvPr/>
        </p:nvSpPr>
        <p:spPr>
          <a:xfrm>
            <a:off x="7150400" y="3135900"/>
            <a:ext cx="1589100" cy="570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latin typeface="Roboto"/>
                <a:ea typeface="Roboto"/>
                <a:cs typeface="Roboto"/>
                <a:sym typeface="Roboto"/>
              </a:rPr>
              <a:t>TUCS Worst</a:t>
            </a:r>
            <a:endParaRPr>
              <a:latin typeface="Roboto"/>
              <a:ea typeface="Roboto"/>
              <a:cs typeface="Roboto"/>
              <a:sym typeface="Roboto"/>
            </a:endParaRPr>
          </a:p>
          <a:p>
            <a:pPr marL="0" lvl="0" indent="0" algn="l" rtl="0">
              <a:spcBef>
                <a:spcPts val="0"/>
              </a:spcBef>
              <a:spcAft>
                <a:spcPts val="0"/>
              </a:spcAft>
              <a:buNone/>
            </a:pPr>
            <a:r>
              <a:rPr lang="en">
                <a:latin typeface="Roboto"/>
                <a:ea typeface="Roboto"/>
                <a:cs typeface="Roboto"/>
                <a:sym typeface="Roboto"/>
              </a:rPr>
              <a:t> Case Θ </a:t>
            </a:r>
            <a:r>
              <a:rPr lang="en">
                <a:solidFill>
                  <a:schemeClr val="dk1"/>
                </a:solidFill>
                <a:latin typeface="Roboto"/>
                <a:ea typeface="Roboto"/>
                <a:cs typeface="Roboto"/>
                <a:sym typeface="Roboto"/>
              </a:rPr>
              <a:t>Runtime</a:t>
            </a:r>
            <a:r>
              <a:rPr lang="en">
                <a:latin typeface="Roboto"/>
                <a:ea typeface="Roboto"/>
                <a:cs typeface="Roboto"/>
                <a:sym typeface="Roboto"/>
              </a:rPr>
              <a:t> </a:t>
            </a:r>
            <a:endParaRPr>
              <a:latin typeface="Roboto"/>
              <a:ea typeface="Roboto"/>
              <a:cs typeface="Roboto"/>
              <a:sym typeface="Roboto"/>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p44"/>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Sorting</a:t>
            </a:r>
            <a:endParaRPr/>
          </a:p>
        </p:txBody>
      </p:sp>
      <p:sp>
        <p:nvSpPr>
          <p:cNvPr id="302" name="Google Shape;302;p44"/>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Clr>
                <a:srgbClr val="000000"/>
              </a:buClr>
              <a:buSzPts val="1100"/>
              <a:buFont typeface="Arial"/>
              <a:buNone/>
            </a:pPr>
            <a:r>
              <a:rPr lang="en"/>
              <a:t>We know that TUCS “lives” between N and N log N.</a:t>
            </a:r>
            <a:endParaRPr/>
          </a:p>
          <a:p>
            <a:pPr marL="457200" lvl="0" indent="-355600" algn="l" rtl="0">
              <a:spcBef>
                <a:spcPts val="600"/>
              </a:spcBef>
              <a:spcAft>
                <a:spcPts val="0"/>
              </a:spcAft>
              <a:buSzPts val="2000"/>
              <a:buChar char="●"/>
            </a:pPr>
            <a:r>
              <a:rPr lang="en"/>
              <a:t>Worst case asymptotic runtime of TUCS is between Θ(N) and Θ(N log N).</a:t>
            </a:r>
            <a:endParaRPr/>
          </a:p>
        </p:txBody>
      </p:sp>
      <p:sp>
        <p:nvSpPr>
          <p:cNvPr id="303" name="Google Shape;303;p44"/>
          <p:cNvSpPr/>
          <p:nvPr/>
        </p:nvSpPr>
        <p:spPr>
          <a:xfrm>
            <a:off x="7559768" y="1505175"/>
            <a:ext cx="1372500" cy="1693800"/>
          </a:xfrm>
          <a:prstGeom prst="rect">
            <a:avLst/>
          </a:prstGeom>
          <a:solidFill>
            <a:srgbClr val="C9DAF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04" name="Google Shape;304;p44"/>
          <p:cNvCxnSpPr/>
          <p:nvPr/>
        </p:nvCxnSpPr>
        <p:spPr>
          <a:xfrm>
            <a:off x="7933497" y="1941943"/>
            <a:ext cx="606000" cy="0"/>
          </a:xfrm>
          <a:prstGeom prst="straightConnector1">
            <a:avLst/>
          </a:prstGeom>
          <a:noFill/>
          <a:ln w="28575" cap="flat" cmpd="sng">
            <a:solidFill>
              <a:srgbClr val="BE0712"/>
            </a:solidFill>
            <a:prstDash val="solid"/>
            <a:round/>
            <a:headEnd type="none" w="med" len="med"/>
            <a:tailEnd type="none" w="med" len="med"/>
          </a:ln>
        </p:spPr>
      </p:cxnSp>
      <p:cxnSp>
        <p:nvCxnSpPr>
          <p:cNvPr id="305" name="Google Shape;305;p44"/>
          <p:cNvCxnSpPr/>
          <p:nvPr/>
        </p:nvCxnSpPr>
        <p:spPr>
          <a:xfrm>
            <a:off x="8264493" y="1950275"/>
            <a:ext cx="0" cy="865800"/>
          </a:xfrm>
          <a:prstGeom prst="straightConnector1">
            <a:avLst/>
          </a:prstGeom>
          <a:noFill/>
          <a:ln w="28575" cap="flat" cmpd="sng">
            <a:solidFill>
              <a:srgbClr val="BE0712"/>
            </a:solidFill>
            <a:prstDash val="solid"/>
            <a:round/>
            <a:headEnd type="none" w="med" len="med"/>
            <a:tailEnd type="none" w="med" len="med"/>
          </a:ln>
        </p:spPr>
      </p:cxnSp>
      <p:cxnSp>
        <p:nvCxnSpPr>
          <p:cNvPr id="306" name="Google Shape;306;p44"/>
          <p:cNvCxnSpPr/>
          <p:nvPr/>
        </p:nvCxnSpPr>
        <p:spPr>
          <a:xfrm>
            <a:off x="7949140" y="2807418"/>
            <a:ext cx="606000" cy="0"/>
          </a:xfrm>
          <a:prstGeom prst="straightConnector1">
            <a:avLst/>
          </a:prstGeom>
          <a:noFill/>
          <a:ln w="28575" cap="flat" cmpd="sng">
            <a:solidFill>
              <a:srgbClr val="BE0712"/>
            </a:solidFill>
            <a:prstDash val="solid"/>
            <a:round/>
            <a:headEnd type="none" w="med" len="med"/>
            <a:tailEnd type="none" w="med" len="med"/>
          </a:ln>
        </p:spPr>
      </p:cxnSp>
      <p:sp>
        <p:nvSpPr>
          <p:cNvPr id="307" name="Google Shape;307;p44"/>
          <p:cNvSpPr txBox="1"/>
          <p:nvPr/>
        </p:nvSpPr>
        <p:spPr>
          <a:xfrm>
            <a:off x="7656655" y="1455478"/>
            <a:ext cx="1239600" cy="552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600">
                <a:solidFill>
                  <a:srgbClr val="BE0712"/>
                </a:solidFill>
                <a:latin typeface="Roboto"/>
                <a:ea typeface="Roboto"/>
                <a:cs typeface="Roboto"/>
                <a:sym typeface="Roboto"/>
              </a:rPr>
              <a:t>O(N log N)</a:t>
            </a:r>
            <a:endParaRPr sz="1600">
              <a:solidFill>
                <a:srgbClr val="BE0712"/>
              </a:solidFill>
              <a:latin typeface="Roboto"/>
              <a:ea typeface="Roboto"/>
              <a:cs typeface="Roboto"/>
              <a:sym typeface="Roboto"/>
            </a:endParaRPr>
          </a:p>
        </p:txBody>
      </p:sp>
      <p:sp>
        <p:nvSpPr>
          <p:cNvPr id="308" name="Google Shape;308;p44"/>
          <p:cNvSpPr txBox="1"/>
          <p:nvPr/>
        </p:nvSpPr>
        <p:spPr>
          <a:xfrm>
            <a:off x="7986243" y="2706375"/>
            <a:ext cx="724500" cy="552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600">
                <a:solidFill>
                  <a:srgbClr val="BE0712"/>
                </a:solidFill>
                <a:latin typeface="Roboto"/>
                <a:ea typeface="Roboto"/>
                <a:cs typeface="Roboto"/>
                <a:sym typeface="Roboto"/>
              </a:rPr>
              <a:t>Ω(N)</a:t>
            </a:r>
            <a:endParaRPr sz="1600">
              <a:solidFill>
                <a:srgbClr val="BE0712"/>
              </a:solidFill>
              <a:latin typeface="Roboto"/>
              <a:ea typeface="Roboto"/>
              <a:cs typeface="Roboto"/>
              <a:sym typeface="Roboto"/>
            </a:endParaRPr>
          </a:p>
        </p:txBody>
      </p:sp>
      <p:sp>
        <p:nvSpPr>
          <p:cNvPr id="309" name="Google Shape;309;p44"/>
          <p:cNvSpPr txBox="1"/>
          <p:nvPr/>
        </p:nvSpPr>
        <p:spPr>
          <a:xfrm>
            <a:off x="7464743" y="3135900"/>
            <a:ext cx="1589100" cy="570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latin typeface="Roboto"/>
                <a:ea typeface="Roboto"/>
                <a:cs typeface="Roboto"/>
                <a:sym typeface="Roboto"/>
              </a:rPr>
              <a:t>TUCS Worst</a:t>
            </a:r>
            <a:endParaRPr>
              <a:latin typeface="Roboto"/>
              <a:ea typeface="Roboto"/>
              <a:cs typeface="Roboto"/>
              <a:sym typeface="Roboto"/>
            </a:endParaRPr>
          </a:p>
          <a:p>
            <a:pPr marL="0" lvl="0" indent="0" algn="l" rtl="0">
              <a:spcBef>
                <a:spcPts val="0"/>
              </a:spcBef>
              <a:spcAft>
                <a:spcPts val="0"/>
              </a:spcAft>
              <a:buNone/>
            </a:pPr>
            <a:r>
              <a:rPr lang="en">
                <a:latin typeface="Roboto"/>
                <a:ea typeface="Roboto"/>
                <a:cs typeface="Roboto"/>
                <a:sym typeface="Roboto"/>
              </a:rPr>
              <a:t> Case Θ </a:t>
            </a:r>
            <a:r>
              <a:rPr lang="en">
                <a:solidFill>
                  <a:schemeClr val="dk1"/>
                </a:solidFill>
                <a:latin typeface="Roboto"/>
                <a:ea typeface="Roboto"/>
                <a:cs typeface="Roboto"/>
                <a:sym typeface="Roboto"/>
              </a:rPr>
              <a:t>Runtime</a:t>
            </a:r>
            <a:r>
              <a:rPr lang="en">
                <a:latin typeface="Roboto"/>
                <a:ea typeface="Roboto"/>
                <a:cs typeface="Roboto"/>
                <a:sym typeface="Roboto"/>
              </a:rPr>
              <a:t> </a:t>
            </a:r>
            <a:endParaRPr>
              <a:latin typeface="Roboto"/>
              <a:ea typeface="Roboto"/>
              <a:cs typeface="Roboto"/>
              <a:sym typeface="Roboto"/>
            </a:endParaRPr>
          </a:p>
        </p:txBody>
      </p:sp>
      <p:sp>
        <p:nvSpPr>
          <p:cNvPr id="310" name="Google Shape;310;p44"/>
          <p:cNvSpPr txBox="1"/>
          <p:nvPr/>
        </p:nvSpPr>
        <p:spPr>
          <a:xfrm>
            <a:off x="244903" y="999114"/>
            <a:ext cx="7464900" cy="3000000"/>
          </a:xfrm>
          <a:prstGeom prst="rect">
            <a:avLst/>
          </a:prstGeom>
          <a:noFill/>
          <a:ln>
            <a:noFill/>
          </a:ln>
        </p:spPr>
        <p:txBody>
          <a:bodyPr spcFirstLastPara="1" wrap="square" lIns="91425" tIns="91425" rIns="91425" bIns="91425" anchor="ctr" anchorCtr="0">
            <a:noAutofit/>
          </a:bodyPr>
          <a:lstStyle/>
          <a:p>
            <a:pPr marL="457200" lvl="0" indent="-342900" algn="l" rtl="0">
              <a:spcBef>
                <a:spcPts val="600"/>
              </a:spcBef>
              <a:spcAft>
                <a:spcPts val="0"/>
              </a:spcAft>
              <a:buClr>
                <a:schemeClr val="dk1"/>
              </a:buClr>
              <a:buSzPts val="1800"/>
              <a:buFont typeface="Roboto"/>
              <a:buChar char="●"/>
            </a:pPr>
            <a:r>
              <a:rPr lang="en" sz="1800">
                <a:solidFill>
                  <a:schemeClr val="dk1"/>
                </a:solidFill>
                <a:latin typeface="Roboto"/>
                <a:ea typeface="Roboto"/>
                <a:cs typeface="Roboto"/>
                <a:sym typeface="Roboto"/>
              </a:rPr>
              <a:t>Can we make an even stronger statement on the lower bound?</a:t>
            </a:r>
            <a:endParaRPr sz="1800">
              <a:solidFill>
                <a:schemeClr val="dk1"/>
              </a:solidFill>
              <a:latin typeface="Roboto"/>
              <a:ea typeface="Roboto"/>
              <a:cs typeface="Roboto"/>
              <a:sym typeface="Roboto"/>
            </a:endParaRPr>
          </a:p>
          <a:p>
            <a:pPr marL="914400" lvl="1" indent="-342900" algn="l" rtl="0">
              <a:spcBef>
                <a:spcPts val="0"/>
              </a:spcBef>
              <a:spcAft>
                <a:spcPts val="0"/>
              </a:spcAft>
              <a:buClr>
                <a:schemeClr val="dk1"/>
              </a:buClr>
              <a:buSzPts val="1800"/>
              <a:buFont typeface="Roboto"/>
              <a:buChar char="○"/>
            </a:pPr>
            <a:r>
              <a:rPr lang="en" sz="1800">
                <a:solidFill>
                  <a:schemeClr val="dk1"/>
                </a:solidFill>
                <a:latin typeface="Roboto"/>
                <a:ea typeface="Roboto"/>
                <a:cs typeface="Roboto"/>
                <a:sym typeface="Roboto"/>
              </a:rPr>
              <a:t>With a clever argument, yes (as we’ll see soon see).</a:t>
            </a:r>
            <a:endParaRPr sz="1800">
              <a:solidFill>
                <a:schemeClr val="dk1"/>
              </a:solidFill>
              <a:latin typeface="Roboto"/>
              <a:ea typeface="Roboto"/>
              <a:cs typeface="Roboto"/>
              <a:sym typeface="Roboto"/>
            </a:endParaRPr>
          </a:p>
          <a:p>
            <a:pPr marL="1371600" lvl="2" indent="-342900" algn="l" rtl="0">
              <a:spcBef>
                <a:spcPts val="0"/>
              </a:spcBef>
              <a:spcAft>
                <a:spcPts val="0"/>
              </a:spcAft>
              <a:buClr>
                <a:schemeClr val="dk1"/>
              </a:buClr>
              <a:buSzPts val="1800"/>
              <a:buFont typeface="Roboto"/>
              <a:buChar char="■"/>
            </a:pPr>
            <a:r>
              <a:rPr lang="en" sz="1600">
                <a:solidFill>
                  <a:schemeClr val="dk1"/>
                </a:solidFill>
                <a:latin typeface="Roboto"/>
                <a:ea typeface="Roboto"/>
                <a:cs typeface="Roboto"/>
                <a:sym typeface="Roboto"/>
              </a:rPr>
              <a:t>Spoiler alert: It will turn out to be Ω(N log N)</a:t>
            </a:r>
            <a:endParaRPr sz="1600">
              <a:solidFill>
                <a:schemeClr val="dk1"/>
              </a:solidFill>
              <a:latin typeface="Roboto"/>
              <a:ea typeface="Roboto"/>
              <a:cs typeface="Roboto"/>
              <a:sym typeface="Roboto"/>
            </a:endParaRPr>
          </a:p>
          <a:p>
            <a:pPr marL="914400" lvl="1" indent="-355600" algn="l" rtl="0">
              <a:spcBef>
                <a:spcPts val="0"/>
              </a:spcBef>
              <a:spcAft>
                <a:spcPts val="0"/>
              </a:spcAft>
              <a:buClr>
                <a:schemeClr val="dk1"/>
              </a:buClr>
              <a:buSzPts val="2000"/>
              <a:buFont typeface="Roboto"/>
              <a:buChar char="○"/>
            </a:pPr>
            <a:r>
              <a:rPr lang="en" sz="1800">
                <a:solidFill>
                  <a:schemeClr val="dk1"/>
                </a:solidFill>
                <a:latin typeface="Roboto"/>
                <a:ea typeface="Roboto"/>
                <a:cs typeface="Roboto"/>
                <a:sym typeface="Roboto"/>
              </a:rPr>
              <a:t>This lower bound means that across the infinite space of all possible ideas that any human might ever have for sorting using sequential comparisons, NONE has a worst case runtime that is better than Θ(N log N).</a:t>
            </a:r>
            <a:endParaRPr sz="1200">
              <a:latin typeface="Roboto"/>
              <a:ea typeface="Roboto"/>
              <a:cs typeface="Roboto"/>
              <a:sym typeface="Roboto"/>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45"/>
          <p:cNvSpPr txBox="1">
            <a:spLocks noGrp="1"/>
          </p:cNvSpPr>
          <p:nvPr>
            <p:ph type="subTitle" idx="2"/>
          </p:nvPr>
        </p:nvSpPr>
        <p:spPr>
          <a:xfrm>
            <a:off x="177925" y="4068000"/>
            <a:ext cx="4158000" cy="393600"/>
          </a:xfrm>
          <a:prstGeom prst="rect">
            <a:avLst/>
          </a:prstGeom>
        </p:spPr>
        <p:txBody>
          <a:bodyPr spcFirstLastPara="1" wrap="square" lIns="91425" tIns="91425" rIns="91425" bIns="91425" anchor="ctr" anchorCtr="0">
            <a:noAutofit/>
          </a:bodyPr>
          <a:lstStyle/>
          <a:p>
            <a:pPr marL="0" lvl="0" indent="0" algn="l" rtl="0">
              <a:spcBef>
                <a:spcPts val="600"/>
              </a:spcBef>
              <a:spcAft>
                <a:spcPts val="0"/>
              </a:spcAft>
              <a:buNone/>
            </a:pPr>
            <a:r>
              <a:rPr lang="en"/>
              <a:t>Lecture 34, CS61B, Fall 2023</a:t>
            </a:r>
            <a:endParaRPr/>
          </a:p>
        </p:txBody>
      </p:sp>
      <p:sp>
        <p:nvSpPr>
          <p:cNvPr id="316" name="Google Shape;316;p45"/>
          <p:cNvSpPr txBox="1">
            <a:spLocks noGrp="1"/>
          </p:cNvSpPr>
          <p:nvPr>
            <p:ph type="body" idx="1"/>
          </p:nvPr>
        </p:nvSpPr>
        <p:spPr>
          <a:xfrm>
            <a:off x="4812375" y="402198"/>
            <a:ext cx="3999900" cy="4260900"/>
          </a:xfrm>
          <a:prstGeom prst="rect">
            <a:avLst/>
          </a:prstGeom>
        </p:spPr>
        <p:txBody>
          <a:bodyPr spcFirstLastPara="1" wrap="square" lIns="91425" tIns="91425" rIns="91425" bIns="91425" anchor="ctr" anchorCtr="0">
            <a:noAutofit/>
          </a:bodyPr>
          <a:lstStyle/>
          <a:p>
            <a:pPr marL="0" lvl="0" indent="0" algn="l" rtl="0">
              <a:spcBef>
                <a:spcPts val="600"/>
              </a:spcBef>
              <a:spcAft>
                <a:spcPts val="0"/>
              </a:spcAft>
              <a:buClr>
                <a:schemeClr val="dk1"/>
              </a:buClr>
              <a:buSzPts val="1100"/>
              <a:buFont typeface="Arial"/>
              <a:buNone/>
            </a:pPr>
            <a:r>
              <a:rPr lang="en"/>
              <a:t>Goal: How Hard is Sorting?</a:t>
            </a:r>
            <a:endParaRPr/>
          </a:p>
          <a:p>
            <a:pPr marL="0" lvl="0" indent="0" algn="l" rtl="0">
              <a:spcBef>
                <a:spcPts val="600"/>
              </a:spcBef>
              <a:spcAft>
                <a:spcPts val="0"/>
              </a:spcAft>
              <a:buClr>
                <a:schemeClr val="dk1"/>
              </a:buClr>
              <a:buSzPts val="1100"/>
              <a:buFont typeface="Arial"/>
              <a:buNone/>
            </a:pPr>
            <a:r>
              <a:rPr lang="en"/>
              <a:t>Math Problem Warmup</a:t>
            </a:r>
            <a:endParaRPr/>
          </a:p>
          <a:p>
            <a:pPr marL="0" lvl="0" indent="0" algn="l" rtl="0">
              <a:spcBef>
                <a:spcPts val="600"/>
              </a:spcBef>
              <a:spcAft>
                <a:spcPts val="0"/>
              </a:spcAft>
              <a:buClr>
                <a:schemeClr val="dk1"/>
              </a:buClr>
              <a:buSzPts val="1100"/>
              <a:buFont typeface="Arial"/>
              <a:buNone/>
            </a:pPr>
            <a:r>
              <a:rPr lang="en" b="1">
                <a:solidFill>
                  <a:schemeClr val="accent3"/>
                </a:solidFill>
                <a:latin typeface="Roboto"/>
                <a:ea typeface="Roboto"/>
                <a:cs typeface="Roboto"/>
                <a:sym typeface="Roboto"/>
              </a:rPr>
              <a:t>Theoretical Bounds on Sorting</a:t>
            </a:r>
            <a:endParaRPr b="1">
              <a:solidFill>
                <a:schemeClr val="accent3"/>
              </a:solidFill>
              <a:latin typeface="Roboto"/>
              <a:ea typeface="Roboto"/>
              <a:cs typeface="Roboto"/>
              <a:sym typeface="Roboto"/>
            </a:endParaRPr>
          </a:p>
          <a:p>
            <a:pPr marL="457200" lvl="0" indent="-342900" algn="l" rtl="0">
              <a:spcBef>
                <a:spcPts val="600"/>
              </a:spcBef>
              <a:spcAft>
                <a:spcPts val="0"/>
              </a:spcAft>
              <a:buSzPts val="1800"/>
              <a:buChar char="•"/>
            </a:pPr>
            <a:r>
              <a:rPr lang="en"/>
              <a:t>Simple Bounds for TUCS (the ultimate comparison sort)</a:t>
            </a:r>
            <a:endParaRPr/>
          </a:p>
          <a:p>
            <a:pPr marL="457200" lvl="0" indent="-342900" algn="l" rtl="0">
              <a:spcBef>
                <a:spcPts val="0"/>
              </a:spcBef>
              <a:spcAft>
                <a:spcPts val="0"/>
              </a:spcAft>
              <a:buClr>
                <a:schemeClr val="accent3"/>
              </a:buClr>
              <a:buSzPts val="1800"/>
              <a:buFont typeface="Roboto"/>
              <a:buChar char="•"/>
            </a:pPr>
            <a:r>
              <a:rPr lang="en" b="1">
                <a:solidFill>
                  <a:schemeClr val="accent3"/>
                </a:solidFill>
                <a:latin typeface="Roboto"/>
                <a:ea typeface="Roboto"/>
                <a:cs typeface="Roboto"/>
                <a:sym typeface="Roboto"/>
              </a:rPr>
              <a:t>Coin Puzzles</a:t>
            </a:r>
            <a:endParaRPr b="1">
              <a:solidFill>
                <a:schemeClr val="accent3"/>
              </a:solidFill>
              <a:latin typeface="Roboto"/>
              <a:ea typeface="Roboto"/>
              <a:cs typeface="Roboto"/>
              <a:sym typeface="Roboto"/>
            </a:endParaRPr>
          </a:p>
          <a:p>
            <a:pPr marL="457200" lvl="0" indent="-342900" algn="l" rtl="0">
              <a:spcBef>
                <a:spcPts val="0"/>
              </a:spcBef>
              <a:spcAft>
                <a:spcPts val="0"/>
              </a:spcAft>
              <a:buSzPts val="1800"/>
              <a:buChar char="•"/>
            </a:pPr>
            <a:r>
              <a:rPr lang="en"/>
              <a:t>Puppy Cat Dog</a:t>
            </a:r>
            <a:endParaRPr/>
          </a:p>
          <a:p>
            <a:pPr marL="457200" lvl="0" indent="-342900" algn="l" rtl="0">
              <a:spcBef>
                <a:spcPts val="0"/>
              </a:spcBef>
              <a:spcAft>
                <a:spcPts val="0"/>
              </a:spcAft>
              <a:buSzPts val="1800"/>
              <a:buChar char="•"/>
            </a:pPr>
            <a:r>
              <a:rPr lang="en"/>
              <a:t>The Sorting Lower Bound</a:t>
            </a:r>
            <a:endParaRPr/>
          </a:p>
          <a:p>
            <a:pPr marL="0" lvl="0" indent="0" algn="l" rtl="0">
              <a:spcBef>
                <a:spcPts val="600"/>
              </a:spcBef>
              <a:spcAft>
                <a:spcPts val="0"/>
              </a:spcAft>
              <a:buClr>
                <a:schemeClr val="dk1"/>
              </a:buClr>
              <a:buSzPts val="1100"/>
              <a:buFont typeface="Arial"/>
              <a:buNone/>
            </a:pPr>
            <a:r>
              <a:rPr lang="en"/>
              <a:t>Sounds of Sorting</a:t>
            </a:r>
            <a:endParaRPr/>
          </a:p>
        </p:txBody>
      </p:sp>
      <p:sp>
        <p:nvSpPr>
          <p:cNvPr id="317" name="Google Shape;317;p45"/>
          <p:cNvSpPr txBox="1">
            <a:spLocks noGrp="1"/>
          </p:cNvSpPr>
          <p:nvPr>
            <p:ph type="title"/>
          </p:nvPr>
        </p:nvSpPr>
        <p:spPr>
          <a:xfrm>
            <a:off x="177925" y="2003300"/>
            <a:ext cx="4038000" cy="2037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Clr>
                <a:schemeClr val="dk1"/>
              </a:buClr>
              <a:buSzPts val="1100"/>
              <a:buFont typeface="Arial"/>
              <a:buNone/>
            </a:pPr>
            <a:r>
              <a:rPr lang="en"/>
              <a:t>Coin Puzzles</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21"/>
        <p:cNvGrpSpPr/>
        <p:nvPr/>
      </p:nvGrpSpPr>
      <p:grpSpPr>
        <a:xfrm>
          <a:off x="0" y="0"/>
          <a:ext cx="0" cy="0"/>
          <a:chOff x="0" y="0"/>
          <a:chExt cx="0" cy="0"/>
        </a:xfrm>
      </p:grpSpPr>
      <p:sp>
        <p:nvSpPr>
          <p:cNvPr id="322" name="Google Shape;322;p46"/>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9 Coins</a:t>
            </a:r>
            <a:endParaRPr/>
          </a:p>
        </p:txBody>
      </p:sp>
      <p:sp>
        <p:nvSpPr>
          <p:cNvPr id="323" name="Google Shape;323;p46"/>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Suppose we have nine coins that are all identical in appearance and weight. However, one of them is a counterfeit coin, and weighs slightly more than the other 8.</a:t>
            </a:r>
            <a:endParaRPr/>
          </a:p>
          <a:p>
            <a:pPr marL="0" lvl="0" indent="0" algn="l" rtl="0">
              <a:spcBef>
                <a:spcPts val="600"/>
              </a:spcBef>
              <a:spcAft>
                <a:spcPts val="0"/>
              </a:spcAft>
              <a:buNone/>
            </a:pPr>
            <a:r>
              <a:rPr lang="en"/>
              <a:t>We have a scale that can be used to compare two sets of coins at a time, but we can only use it twice. How can we determine the counterfeit coin?</a:t>
            </a:r>
            <a:endParaRPr/>
          </a:p>
        </p:txBody>
      </p:sp>
      <p:pic>
        <p:nvPicPr>
          <p:cNvPr id="324" name="Google Shape;324;p46"/>
          <p:cNvPicPr preferRelativeResize="0"/>
          <p:nvPr/>
        </p:nvPicPr>
        <p:blipFill>
          <a:blip r:embed="rId3">
            <a:alphaModFix/>
          </a:blip>
          <a:stretch>
            <a:fillRect/>
          </a:stretch>
        </p:blipFill>
        <p:spPr>
          <a:xfrm>
            <a:off x="7081474" y="3143674"/>
            <a:ext cx="2051075" cy="1774176"/>
          </a:xfrm>
          <a:prstGeom prst="rect">
            <a:avLst/>
          </a:prstGeom>
          <a:noFill/>
          <a:ln>
            <a:noFill/>
          </a:ln>
        </p:spPr>
      </p:pic>
      <p:sp>
        <p:nvSpPr>
          <p:cNvPr id="325" name="Google Shape;325;p46"/>
          <p:cNvSpPr/>
          <p:nvPr/>
        </p:nvSpPr>
        <p:spPr>
          <a:xfrm>
            <a:off x="479825" y="3334400"/>
            <a:ext cx="484200" cy="484200"/>
          </a:xfrm>
          <a:prstGeom prst="ellipse">
            <a:avLst/>
          </a:prstGeom>
          <a:solidFill>
            <a:srgbClr val="FFFF00"/>
          </a:solidFill>
          <a:ln w="1143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1</a:t>
            </a:r>
            <a:endParaRPr>
              <a:latin typeface="Roboto"/>
              <a:ea typeface="Roboto"/>
              <a:cs typeface="Roboto"/>
              <a:sym typeface="Roboto"/>
            </a:endParaRPr>
          </a:p>
        </p:txBody>
      </p:sp>
      <p:sp>
        <p:nvSpPr>
          <p:cNvPr id="326" name="Google Shape;326;p46"/>
          <p:cNvSpPr/>
          <p:nvPr/>
        </p:nvSpPr>
        <p:spPr>
          <a:xfrm>
            <a:off x="1117225" y="3334400"/>
            <a:ext cx="484200" cy="484200"/>
          </a:xfrm>
          <a:prstGeom prst="ellipse">
            <a:avLst/>
          </a:prstGeom>
          <a:solidFill>
            <a:srgbClr val="FFFF00"/>
          </a:solidFill>
          <a:ln w="1143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2</a:t>
            </a:r>
            <a:endParaRPr>
              <a:latin typeface="Roboto"/>
              <a:ea typeface="Roboto"/>
              <a:cs typeface="Roboto"/>
              <a:sym typeface="Roboto"/>
            </a:endParaRPr>
          </a:p>
        </p:txBody>
      </p:sp>
      <p:sp>
        <p:nvSpPr>
          <p:cNvPr id="327" name="Google Shape;327;p46"/>
          <p:cNvSpPr/>
          <p:nvPr/>
        </p:nvSpPr>
        <p:spPr>
          <a:xfrm>
            <a:off x="1754625" y="3334400"/>
            <a:ext cx="484200" cy="484200"/>
          </a:xfrm>
          <a:prstGeom prst="ellipse">
            <a:avLst/>
          </a:prstGeom>
          <a:solidFill>
            <a:srgbClr val="FFFF00"/>
          </a:solidFill>
          <a:ln w="1143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3</a:t>
            </a:r>
            <a:endParaRPr>
              <a:latin typeface="Roboto"/>
              <a:ea typeface="Roboto"/>
              <a:cs typeface="Roboto"/>
              <a:sym typeface="Roboto"/>
            </a:endParaRPr>
          </a:p>
        </p:txBody>
      </p:sp>
      <p:sp>
        <p:nvSpPr>
          <p:cNvPr id="328" name="Google Shape;328;p46"/>
          <p:cNvSpPr/>
          <p:nvPr/>
        </p:nvSpPr>
        <p:spPr>
          <a:xfrm>
            <a:off x="2383200" y="3334400"/>
            <a:ext cx="484200" cy="484200"/>
          </a:xfrm>
          <a:prstGeom prst="ellipse">
            <a:avLst/>
          </a:prstGeom>
          <a:solidFill>
            <a:srgbClr val="FFFF00"/>
          </a:solidFill>
          <a:ln w="1143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4</a:t>
            </a:r>
            <a:endParaRPr>
              <a:latin typeface="Roboto"/>
              <a:ea typeface="Roboto"/>
              <a:cs typeface="Roboto"/>
              <a:sym typeface="Roboto"/>
            </a:endParaRPr>
          </a:p>
        </p:txBody>
      </p:sp>
      <p:sp>
        <p:nvSpPr>
          <p:cNvPr id="329" name="Google Shape;329;p46"/>
          <p:cNvSpPr/>
          <p:nvPr/>
        </p:nvSpPr>
        <p:spPr>
          <a:xfrm>
            <a:off x="3020600" y="3334400"/>
            <a:ext cx="484200" cy="484200"/>
          </a:xfrm>
          <a:prstGeom prst="ellipse">
            <a:avLst/>
          </a:prstGeom>
          <a:solidFill>
            <a:srgbClr val="FFFF00"/>
          </a:solidFill>
          <a:ln w="1143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5</a:t>
            </a:r>
            <a:endParaRPr>
              <a:latin typeface="Roboto"/>
              <a:ea typeface="Roboto"/>
              <a:cs typeface="Roboto"/>
              <a:sym typeface="Roboto"/>
            </a:endParaRPr>
          </a:p>
        </p:txBody>
      </p:sp>
      <p:sp>
        <p:nvSpPr>
          <p:cNvPr id="330" name="Google Shape;330;p46"/>
          <p:cNvSpPr/>
          <p:nvPr/>
        </p:nvSpPr>
        <p:spPr>
          <a:xfrm>
            <a:off x="3658000" y="3334400"/>
            <a:ext cx="484200" cy="484200"/>
          </a:xfrm>
          <a:prstGeom prst="ellipse">
            <a:avLst/>
          </a:prstGeom>
          <a:solidFill>
            <a:srgbClr val="FFFF00"/>
          </a:solidFill>
          <a:ln w="1143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6</a:t>
            </a:r>
            <a:endParaRPr>
              <a:latin typeface="Roboto"/>
              <a:ea typeface="Roboto"/>
              <a:cs typeface="Roboto"/>
              <a:sym typeface="Roboto"/>
            </a:endParaRPr>
          </a:p>
        </p:txBody>
      </p:sp>
      <p:sp>
        <p:nvSpPr>
          <p:cNvPr id="331" name="Google Shape;331;p46"/>
          <p:cNvSpPr/>
          <p:nvPr/>
        </p:nvSpPr>
        <p:spPr>
          <a:xfrm>
            <a:off x="4286575" y="3334400"/>
            <a:ext cx="484200" cy="484200"/>
          </a:xfrm>
          <a:prstGeom prst="ellipse">
            <a:avLst/>
          </a:prstGeom>
          <a:solidFill>
            <a:srgbClr val="FFFF00"/>
          </a:solidFill>
          <a:ln w="1143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7</a:t>
            </a:r>
            <a:endParaRPr>
              <a:latin typeface="Roboto"/>
              <a:ea typeface="Roboto"/>
              <a:cs typeface="Roboto"/>
              <a:sym typeface="Roboto"/>
            </a:endParaRPr>
          </a:p>
        </p:txBody>
      </p:sp>
      <p:sp>
        <p:nvSpPr>
          <p:cNvPr id="332" name="Google Shape;332;p46"/>
          <p:cNvSpPr/>
          <p:nvPr/>
        </p:nvSpPr>
        <p:spPr>
          <a:xfrm>
            <a:off x="4923975" y="3334400"/>
            <a:ext cx="484200" cy="484200"/>
          </a:xfrm>
          <a:prstGeom prst="ellipse">
            <a:avLst/>
          </a:prstGeom>
          <a:solidFill>
            <a:srgbClr val="FFFF00"/>
          </a:solidFill>
          <a:ln w="1143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8</a:t>
            </a:r>
            <a:endParaRPr>
              <a:latin typeface="Roboto"/>
              <a:ea typeface="Roboto"/>
              <a:cs typeface="Roboto"/>
              <a:sym typeface="Roboto"/>
            </a:endParaRPr>
          </a:p>
        </p:txBody>
      </p:sp>
      <p:sp>
        <p:nvSpPr>
          <p:cNvPr id="333" name="Google Shape;333;p46"/>
          <p:cNvSpPr/>
          <p:nvPr/>
        </p:nvSpPr>
        <p:spPr>
          <a:xfrm>
            <a:off x="5561375" y="3334400"/>
            <a:ext cx="484200" cy="484200"/>
          </a:xfrm>
          <a:prstGeom prst="ellipse">
            <a:avLst/>
          </a:prstGeom>
          <a:solidFill>
            <a:srgbClr val="FFFF00"/>
          </a:solidFill>
          <a:ln w="1143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9</a:t>
            </a:r>
            <a:endParaRPr>
              <a:latin typeface="Roboto"/>
              <a:ea typeface="Roboto"/>
              <a:cs typeface="Roboto"/>
              <a:sym typeface="Roboto"/>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sp>
        <p:nvSpPr>
          <p:cNvPr id="338" name="Google Shape;338;p47"/>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9 Coins: Step 1</a:t>
            </a:r>
            <a:endParaRPr/>
          </a:p>
        </p:txBody>
      </p:sp>
      <p:sp>
        <p:nvSpPr>
          <p:cNvPr id="339" name="Google Shape;339;p47"/>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Many solutions, but here's the classic one:</a:t>
            </a:r>
            <a:endParaRPr/>
          </a:p>
          <a:p>
            <a:pPr marL="0" lvl="0" indent="0" algn="l" rtl="0">
              <a:spcBef>
                <a:spcPts val="600"/>
              </a:spcBef>
              <a:spcAft>
                <a:spcPts val="0"/>
              </a:spcAft>
              <a:buNone/>
            </a:pPr>
            <a:r>
              <a:rPr lang="en"/>
              <a:t>Step 1: Compare coins 123 vs 456</a:t>
            </a:r>
            <a:endParaRPr/>
          </a:p>
          <a:p>
            <a:pPr marL="0" lvl="0" indent="0" algn="l" rtl="0">
              <a:spcBef>
                <a:spcPts val="600"/>
              </a:spcBef>
              <a:spcAft>
                <a:spcPts val="0"/>
              </a:spcAft>
              <a:buNone/>
            </a:pPr>
            <a:r>
              <a:rPr lang="en"/>
              <a:t>There are three cases: </a:t>
            </a:r>
            <a:endParaRPr/>
          </a:p>
          <a:p>
            <a:pPr marL="457200" lvl="0" indent="0" algn="l" rtl="0">
              <a:spcBef>
                <a:spcPts val="600"/>
              </a:spcBef>
              <a:spcAft>
                <a:spcPts val="0"/>
              </a:spcAft>
              <a:buNone/>
            </a:pPr>
            <a:r>
              <a:rPr lang="en"/>
              <a:t>     1: Left side heavier							     2: Right side heavier</a:t>
            </a:r>
            <a:endParaRPr/>
          </a:p>
          <a:p>
            <a:pPr marL="2743200" lvl="0" indent="457200" algn="l" rtl="0">
              <a:spcBef>
                <a:spcPts val="600"/>
              </a:spcBef>
              <a:spcAft>
                <a:spcPts val="0"/>
              </a:spcAft>
              <a:buNone/>
            </a:pPr>
            <a:endParaRPr/>
          </a:p>
          <a:p>
            <a:pPr marL="3200400" lvl="0" indent="0" algn="l" rtl="0">
              <a:spcBef>
                <a:spcPts val="600"/>
              </a:spcBef>
              <a:spcAft>
                <a:spcPts val="0"/>
              </a:spcAft>
              <a:buNone/>
            </a:pPr>
            <a:endParaRPr/>
          </a:p>
          <a:p>
            <a:pPr marL="3200400" lvl="0" indent="0" algn="l" rtl="0">
              <a:spcBef>
                <a:spcPts val="600"/>
              </a:spcBef>
              <a:spcAft>
                <a:spcPts val="0"/>
              </a:spcAft>
              <a:buNone/>
            </a:pPr>
            <a:endParaRPr/>
          </a:p>
          <a:p>
            <a:pPr marL="3200400" lvl="0" indent="0" algn="l" rtl="0">
              <a:spcBef>
                <a:spcPts val="600"/>
              </a:spcBef>
              <a:spcAft>
                <a:spcPts val="0"/>
              </a:spcAft>
              <a:buNone/>
            </a:pPr>
            <a:endParaRPr/>
          </a:p>
          <a:p>
            <a:pPr marL="3200400" lvl="0" indent="0" algn="l" rtl="0">
              <a:spcBef>
                <a:spcPts val="600"/>
              </a:spcBef>
              <a:spcAft>
                <a:spcPts val="0"/>
              </a:spcAft>
              <a:buNone/>
            </a:pPr>
            <a:endParaRPr/>
          </a:p>
          <a:p>
            <a:pPr marL="3200400" lvl="0" indent="0" algn="l" rtl="0">
              <a:spcBef>
                <a:spcPts val="600"/>
              </a:spcBef>
              <a:spcAft>
                <a:spcPts val="0"/>
              </a:spcAft>
              <a:buNone/>
            </a:pPr>
            <a:r>
              <a:rPr lang="en"/>
              <a:t>  3: The two are equal</a:t>
            </a:r>
            <a:endParaRPr/>
          </a:p>
        </p:txBody>
      </p:sp>
      <p:pic>
        <p:nvPicPr>
          <p:cNvPr id="340" name="Google Shape;340;p47"/>
          <p:cNvPicPr preferRelativeResize="0"/>
          <p:nvPr/>
        </p:nvPicPr>
        <p:blipFill>
          <a:blip r:embed="rId3">
            <a:alphaModFix/>
          </a:blip>
          <a:stretch>
            <a:fillRect/>
          </a:stretch>
        </p:blipFill>
        <p:spPr>
          <a:xfrm>
            <a:off x="3341812" y="1750624"/>
            <a:ext cx="2051075" cy="1774176"/>
          </a:xfrm>
          <a:prstGeom prst="rect">
            <a:avLst/>
          </a:prstGeom>
          <a:noFill/>
          <a:ln>
            <a:noFill/>
          </a:ln>
        </p:spPr>
      </p:pic>
      <p:sp>
        <p:nvSpPr>
          <p:cNvPr id="341" name="Google Shape;341;p47"/>
          <p:cNvSpPr/>
          <p:nvPr/>
        </p:nvSpPr>
        <p:spPr>
          <a:xfrm>
            <a:off x="984425" y="2395613"/>
            <a:ext cx="484200" cy="484200"/>
          </a:xfrm>
          <a:prstGeom prst="ellipse">
            <a:avLst/>
          </a:prstGeom>
          <a:solidFill>
            <a:srgbClr val="FFFF00"/>
          </a:solidFill>
          <a:ln w="1143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1</a:t>
            </a:r>
            <a:endParaRPr>
              <a:latin typeface="Roboto"/>
              <a:ea typeface="Roboto"/>
              <a:cs typeface="Roboto"/>
              <a:sym typeface="Roboto"/>
            </a:endParaRPr>
          </a:p>
        </p:txBody>
      </p:sp>
      <p:sp>
        <p:nvSpPr>
          <p:cNvPr id="342" name="Google Shape;342;p47"/>
          <p:cNvSpPr/>
          <p:nvPr/>
        </p:nvSpPr>
        <p:spPr>
          <a:xfrm>
            <a:off x="1621825" y="2395613"/>
            <a:ext cx="484200" cy="484200"/>
          </a:xfrm>
          <a:prstGeom prst="ellipse">
            <a:avLst/>
          </a:prstGeom>
          <a:solidFill>
            <a:srgbClr val="FFFF00"/>
          </a:solidFill>
          <a:ln w="1143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2</a:t>
            </a:r>
            <a:endParaRPr>
              <a:latin typeface="Roboto"/>
              <a:ea typeface="Roboto"/>
              <a:cs typeface="Roboto"/>
              <a:sym typeface="Roboto"/>
            </a:endParaRPr>
          </a:p>
        </p:txBody>
      </p:sp>
      <p:sp>
        <p:nvSpPr>
          <p:cNvPr id="343" name="Google Shape;343;p47"/>
          <p:cNvSpPr/>
          <p:nvPr/>
        </p:nvSpPr>
        <p:spPr>
          <a:xfrm>
            <a:off x="2259225" y="2395613"/>
            <a:ext cx="484200" cy="484200"/>
          </a:xfrm>
          <a:prstGeom prst="ellipse">
            <a:avLst/>
          </a:prstGeom>
          <a:solidFill>
            <a:srgbClr val="FFFF00"/>
          </a:solidFill>
          <a:ln w="1143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3</a:t>
            </a:r>
            <a:endParaRPr>
              <a:latin typeface="Roboto"/>
              <a:ea typeface="Roboto"/>
              <a:cs typeface="Roboto"/>
              <a:sym typeface="Roboto"/>
            </a:endParaRPr>
          </a:p>
        </p:txBody>
      </p:sp>
      <p:sp>
        <p:nvSpPr>
          <p:cNvPr id="344" name="Google Shape;344;p47"/>
          <p:cNvSpPr/>
          <p:nvPr/>
        </p:nvSpPr>
        <p:spPr>
          <a:xfrm>
            <a:off x="5991250" y="2395625"/>
            <a:ext cx="484200" cy="484200"/>
          </a:xfrm>
          <a:prstGeom prst="ellipse">
            <a:avLst/>
          </a:prstGeom>
          <a:solidFill>
            <a:srgbClr val="FFFF00"/>
          </a:solidFill>
          <a:ln w="1143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4</a:t>
            </a:r>
            <a:endParaRPr>
              <a:latin typeface="Roboto"/>
              <a:ea typeface="Roboto"/>
              <a:cs typeface="Roboto"/>
              <a:sym typeface="Roboto"/>
            </a:endParaRPr>
          </a:p>
        </p:txBody>
      </p:sp>
      <p:sp>
        <p:nvSpPr>
          <p:cNvPr id="345" name="Google Shape;345;p47"/>
          <p:cNvSpPr/>
          <p:nvPr/>
        </p:nvSpPr>
        <p:spPr>
          <a:xfrm>
            <a:off x="6628650" y="2395625"/>
            <a:ext cx="484200" cy="484200"/>
          </a:xfrm>
          <a:prstGeom prst="ellipse">
            <a:avLst/>
          </a:prstGeom>
          <a:solidFill>
            <a:srgbClr val="FFFF00"/>
          </a:solidFill>
          <a:ln w="1143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5</a:t>
            </a:r>
            <a:endParaRPr>
              <a:latin typeface="Roboto"/>
              <a:ea typeface="Roboto"/>
              <a:cs typeface="Roboto"/>
              <a:sym typeface="Roboto"/>
            </a:endParaRPr>
          </a:p>
        </p:txBody>
      </p:sp>
      <p:sp>
        <p:nvSpPr>
          <p:cNvPr id="346" name="Google Shape;346;p47"/>
          <p:cNvSpPr/>
          <p:nvPr/>
        </p:nvSpPr>
        <p:spPr>
          <a:xfrm>
            <a:off x="7266050" y="2395625"/>
            <a:ext cx="484200" cy="484200"/>
          </a:xfrm>
          <a:prstGeom prst="ellipse">
            <a:avLst/>
          </a:prstGeom>
          <a:solidFill>
            <a:srgbClr val="FFFF00"/>
          </a:solidFill>
          <a:ln w="1143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6</a:t>
            </a:r>
            <a:endParaRPr>
              <a:latin typeface="Roboto"/>
              <a:ea typeface="Roboto"/>
              <a:cs typeface="Roboto"/>
              <a:sym typeface="Roboto"/>
            </a:endParaRPr>
          </a:p>
        </p:txBody>
      </p:sp>
      <p:sp>
        <p:nvSpPr>
          <p:cNvPr id="347" name="Google Shape;347;p47"/>
          <p:cNvSpPr/>
          <p:nvPr/>
        </p:nvSpPr>
        <p:spPr>
          <a:xfrm>
            <a:off x="3692500" y="4432800"/>
            <a:ext cx="484200" cy="484200"/>
          </a:xfrm>
          <a:prstGeom prst="ellipse">
            <a:avLst/>
          </a:prstGeom>
          <a:solidFill>
            <a:srgbClr val="FFFF00"/>
          </a:solidFill>
          <a:ln w="1143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7</a:t>
            </a:r>
            <a:endParaRPr>
              <a:latin typeface="Roboto"/>
              <a:ea typeface="Roboto"/>
              <a:cs typeface="Roboto"/>
              <a:sym typeface="Roboto"/>
            </a:endParaRPr>
          </a:p>
        </p:txBody>
      </p:sp>
      <p:sp>
        <p:nvSpPr>
          <p:cNvPr id="348" name="Google Shape;348;p47"/>
          <p:cNvSpPr/>
          <p:nvPr/>
        </p:nvSpPr>
        <p:spPr>
          <a:xfrm>
            <a:off x="4329900" y="4432800"/>
            <a:ext cx="484200" cy="484200"/>
          </a:xfrm>
          <a:prstGeom prst="ellipse">
            <a:avLst/>
          </a:prstGeom>
          <a:solidFill>
            <a:srgbClr val="FFFF00"/>
          </a:solidFill>
          <a:ln w="1143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8</a:t>
            </a:r>
            <a:endParaRPr>
              <a:latin typeface="Roboto"/>
              <a:ea typeface="Roboto"/>
              <a:cs typeface="Roboto"/>
              <a:sym typeface="Roboto"/>
            </a:endParaRPr>
          </a:p>
        </p:txBody>
      </p:sp>
      <p:sp>
        <p:nvSpPr>
          <p:cNvPr id="349" name="Google Shape;349;p47"/>
          <p:cNvSpPr/>
          <p:nvPr/>
        </p:nvSpPr>
        <p:spPr>
          <a:xfrm>
            <a:off x="4967300" y="4432800"/>
            <a:ext cx="484200" cy="484200"/>
          </a:xfrm>
          <a:prstGeom prst="ellipse">
            <a:avLst/>
          </a:prstGeom>
          <a:solidFill>
            <a:srgbClr val="FFFF00"/>
          </a:solidFill>
          <a:ln w="1143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9</a:t>
            </a:r>
            <a:endParaRPr>
              <a:latin typeface="Roboto"/>
              <a:ea typeface="Roboto"/>
              <a:cs typeface="Roboto"/>
              <a:sym typeface="Roboto"/>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4CCCC"/>
        </a:solidFill>
        <a:effectLst/>
      </p:bgPr>
    </p:bg>
    <p:spTree>
      <p:nvGrpSpPr>
        <p:cNvPr id="1" name="Shape 353"/>
        <p:cNvGrpSpPr/>
        <p:nvPr/>
      </p:nvGrpSpPr>
      <p:grpSpPr>
        <a:xfrm>
          <a:off x="0" y="0"/>
          <a:ext cx="0" cy="0"/>
          <a:chOff x="0" y="0"/>
          <a:chExt cx="0" cy="0"/>
        </a:xfrm>
      </p:grpSpPr>
      <p:sp>
        <p:nvSpPr>
          <p:cNvPr id="354" name="Google Shape;354;p48"/>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9 Coins: Step 2 in Case 1</a:t>
            </a:r>
            <a:endParaRPr/>
          </a:p>
        </p:txBody>
      </p:sp>
      <p:sp>
        <p:nvSpPr>
          <p:cNvPr id="355" name="Google Shape;355;p48"/>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In case 1: The heavier coin is either 1, 2, or 3</a:t>
            </a:r>
            <a:endParaRPr/>
          </a:p>
          <a:p>
            <a:pPr marL="0" lvl="0" indent="0" algn="l" rtl="0">
              <a:spcBef>
                <a:spcPts val="600"/>
              </a:spcBef>
              <a:spcAft>
                <a:spcPts val="0"/>
              </a:spcAft>
              <a:buNone/>
            </a:pPr>
            <a:r>
              <a:rPr lang="en"/>
              <a:t>Step 2.1: Compare coins 1 vs 2</a:t>
            </a:r>
            <a:endParaRPr/>
          </a:p>
          <a:p>
            <a:pPr marL="0" lvl="0" indent="0" algn="l" rtl="0">
              <a:spcBef>
                <a:spcPts val="600"/>
              </a:spcBef>
              <a:spcAft>
                <a:spcPts val="0"/>
              </a:spcAft>
              <a:buNone/>
            </a:pPr>
            <a:r>
              <a:rPr lang="en"/>
              <a:t>There are three possibilities: </a:t>
            </a:r>
            <a:endParaRPr/>
          </a:p>
          <a:p>
            <a:pPr marL="457200" lvl="0" indent="0" algn="l" rtl="0">
              <a:spcBef>
                <a:spcPts val="600"/>
              </a:spcBef>
              <a:spcAft>
                <a:spcPts val="0"/>
              </a:spcAft>
              <a:buNone/>
            </a:pPr>
            <a:r>
              <a:rPr lang="en"/>
              <a:t>     1: Left side heavier							     2: Right side heavier</a:t>
            </a:r>
            <a:endParaRPr/>
          </a:p>
          <a:p>
            <a:pPr marL="0" lvl="0" indent="0" algn="l" rtl="0">
              <a:spcBef>
                <a:spcPts val="600"/>
              </a:spcBef>
              <a:spcAft>
                <a:spcPts val="0"/>
              </a:spcAft>
              <a:buNone/>
            </a:pPr>
            <a:r>
              <a:rPr lang="en"/>
              <a:t>	     Coin 1 is counterfeit						     Coin 2 is counterfeit</a:t>
            </a:r>
            <a:endParaRPr/>
          </a:p>
          <a:p>
            <a:pPr marL="3200400" lvl="0" indent="0" algn="l" rtl="0">
              <a:spcBef>
                <a:spcPts val="600"/>
              </a:spcBef>
              <a:spcAft>
                <a:spcPts val="0"/>
              </a:spcAft>
              <a:buNone/>
            </a:pPr>
            <a:endParaRPr/>
          </a:p>
          <a:p>
            <a:pPr marL="3200400" lvl="0" indent="0" algn="l" rtl="0">
              <a:spcBef>
                <a:spcPts val="600"/>
              </a:spcBef>
              <a:spcAft>
                <a:spcPts val="0"/>
              </a:spcAft>
              <a:buNone/>
            </a:pPr>
            <a:endParaRPr/>
          </a:p>
          <a:p>
            <a:pPr marL="3200400" lvl="0" indent="0" algn="l" rtl="0">
              <a:spcBef>
                <a:spcPts val="600"/>
              </a:spcBef>
              <a:spcAft>
                <a:spcPts val="0"/>
              </a:spcAft>
              <a:buNone/>
            </a:pPr>
            <a:endParaRPr/>
          </a:p>
          <a:p>
            <a:pPr marL="0" lvl="0" indent="0" algn="l" rtl="0">
              <a:spcBef>
                <a:spcPts val="600"/>
              </a:spcBef>
              <a:spcAft>
                <a:spcPts val="0"/>
              </a:spcAft>
              <a:buNone/>
            </a:pPr>
            <a:endParaRPr/>
          </a:p>
          <a:p>
            <a:pPr marL="3200400" lvl="0" indent="0" algn="l" rtl="0">
              <a:spcBef>
                <a:spcPts val="600"/>
              </a:spcBef>
              <a:spcAft>
                <a:spcPts val="0"/>
              </a:spcAft>
              <a:buNone/>
            </a:pPr>
            <a:r>
              <a:rPr lang="en"/>
              <a:t>  3: The two are equal</a:t>
            </a:r>
            <a:endParaRPr/>
          </a:p>
          <a:p>
            <a:pPr marL="3200400" lvl="0" indent="0" algn="l" rtl="0">
              <a:spcBef>
                <a:spcPts val="600"/>
              </a:spcBef>
              <a:spcAft>
                <a:spcPts val="0"/>
              </a:spcAft>
              <a:buNone/>
            </a:pPr>
            <a:r>
              <a:rPr lang="en"/>
              <a:t>  Coin 3 is counterfeit</a:t>
            </a:r>
            <a:endParaRPr/>
          </a:p>
        </p:txBody>
      </p:sp>
      <p:pic>
        <p:nvPicPr>
          <p:cNvPr id="356" name="Google Shape;356;p48"/>
          <p:cNvPicPr preferRelativeResize="0"/>
          <p:nvPr/>
        </p:nvPicPr>
        <p:blipFill>
          <a:blip r:embed="rId3">
            <a:alphaModFix/>
          </a:blip>
          <a:stretch>
            <a:fillRect/>
          </a:stretch>
        </p:blipFill>
        <p:spPr>
          <a:xfrm>
            <a:off x="3341812" y="1750624"/>
            <a:ext cx="2051075" cy="1774176"/>
          </a:xfrm>
          <a:prstGeom prst="rect">
            <a:avLst/>
          </a:prstGeom>
          <a:noFill/>
          <a:ln>
            <a:noFill/>
          </a:ln>
        </p:spPr>
      </p:pic>
      <p:sp>
        <p:nvSpPr>
          <p:cNvPr id="357" name="Google Shape;357;p48"/>
          <p:cNvSpPr/>
          <p:nvPr/>
        </p:nvSpPr>
        <p:spPr>
          <a:xfrm>
            <a:off x="1621825" y="2395613"/>
            <a:ext cx="484200" cy="484200"/>
          </a:xfrm>
          <a:prstGeom prst="ellipse">
            <a:avLst/>
          </a:prstGeom>
          <a:solidFill>
            <a:srgbClr val="FFFF00"/>
          </a:solidFill>
          <a:ln w="1143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1</a:t>
            </a:r>
            <a:endParaRPr>
              <a:latin typeface="Roboto"/>
              <a:ea typeface="Roboto"/>
              <a:cs typeface="Roboto"/>
              <a:sym typeface="Roboto"/>
            </a:endParaRPr>
          </a:p>
        </p:txBody>
      </p:sp>
      <p:sp>
        <p:nvSpPr>
          <p:cNvPr id="358" name="Google Shape;358;p48"/>
          <p:cNvSpPr/>
          <p:nvPr/>
        </p:nvSpPr>
        <p:spPr>
          <a:xfrm>
            <a:off x="6628650" y="2395625"/>
            <a:ext cx="484200" cy="484200"/>
          </a:xfrm>
          <a:prstGeom prst="ellipse">
            <a:avLst/>
          </a:prstGeom>
          <a:solidFill>
            <a:srgbClr val="FFFF00"/>
          </a:solidFill>
          <a:ln w="1143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2</a:t>
            </a:r>
            <a:endParaRPr>
              <a:latin typeface="Roboto"/>
              <a:ea typeface="Roboto"/>
              <a:cs typeface="Roboto"/>
              <a:sym typeface="Roboto"/>
            </a:endParaRPr>
          </a:p>
        </p:txBody>
      </p:sp>
      <p:sp>
        <p:nvSpPr>
          <p:cNvPr id="359" name="Google Shape;359;p48"/>
          <p:cNvSpPr/>
          <p:nvPr/>
        </p:nvSpPr>
        <p:spPr>
          <a:xfrm>
            <a:off x="4177500" y="4432800"/>
            <a:ext cx="484200" cy="484200"/>
          </a:xfrm>
          <a:prstGeom prst="ellipse">
            <a:avLst/>
          </a:prstGeom>
          <a:solidFill>
            <a:srgbClr val="FFFF00"/>
          </a:solidFill>
          <a:ln w="1143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3</a:t>
            </a:r>
            <a:endParaRPr>
              <a:latin typeface="Roboto"/>
              <a:ea typeface="Roboto"/>
              <a:cs typeface="Roboto"/>
              <a:sym typeface="Roboto"/>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CFE2F3"/>
        </a:solidFill>
        <a:effectLst/>
      </p:bgPr>
    </p:bg>
    <p:spTree>
      <p:nvGrpSpPr>
        <p:cNvPr id="1" name="Shape 363"/>
        <p:cNvGrpSpPr/>
        <p:nvPr/>
      </p:nvGrpSpPr>
      <p:grpSpPr>
        <a:xfrm>
          <a:off x="0" y="0"/>
          <a:ext cx="0" cy="0"/>
          <a:chOff x="0" y="0"/>
          <a:chExt cx="0" cy="0"/>
        </a:xfrm>
      </p:grpSpPr>
      <p:sp>
        <p:nvSpPr>
          <p:cNvPr id="364" name="Google Shape;364;p49"/>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9 Coins: Step 2 in Case 2</a:t>
            </a:r>
            <a:endParaRPr/>
          </a:p>
        </p:txBody>
      </p:sp>
      <p:sp>
        <p:nvSpPr>
          <p:cNvPr id="365" name="Google Shape;365;p49"/>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In case 2: The heavier coin is either 4, 5, or 6</a:t>
            </a:r>
            <a:endParaRPr/>
          </a:p>
          <a:p>
            <a:pPr marL="0" lvl="0" indent="0" algn="l" rtl="0">
              <a:spcBef>
                <a:spcPts val="600"/>
              </a:spcBef>
              <a:spcAft>
                <a:spcPts val="0"/>
              </a:spcAft>
              <a:buNone/>
            </a:pPr>
            <a:r>
              <a:rPr lang="en"/>
              <a:t>Step 2.2: Compare coins 4 vs 5</a:t>
            </a:r>
            <a:endParaRPr/>
          </a:p>
          <a:p>
            <a:pPr marL="0" lvl="0" indent="0" algn="l" rtl="0">
              <a:spcBef>
                <a:spcPts val="600"/>
              </a:spcBef>
              <a:spcAft>
                <a:spcPts val="0"/>
              </a:spcAft>
              <a:buNone/>
            </a:pPr>
            <a:r>
              <a:rPr lang="en"/>
              <a:t>There are three possibilities: </a:t>
            </a:r>
            <a:endParaRPr/>
          </a:p>
          <a:p>
            <a:pPr marL="457200" lvl="0" indent="0" algn="l" rtl="0">
              <a:spcBef>
                <a:spcPts val="600"/>
              </a:spcBef>
              <a:spcAft>
                <a:spcPts val="0"/>
              </a:spcAft>
              <a:buNone/>
            </a:pPr>
            <a:r>
              <a:rPr lang="en"/>
              <a:t>     1: Left side heavier							     2: Right side heavier</a:t>
            </a:r>
            <a:endParaRPr/>
          </a:p>
          <a:p>
            <a:pPr marL="0" lvl="0" indent="0" algn="l" rtl="0">
              <a:spcBef>
                <a:spcPts val="600"/>
              </a:spcBef>
              <a:spcAft>
                <a:spcPts val="0"/>
              </a:spcAft>
              <a:buNone/>
            </a:pPr>
            <a:r>
              <a:rPr lang="en"/>
              <a:t>	     Coin 4 is counterfeit						     Coin 5 is counterfeit</a:t>
            </a:r>
            <a:endParaRPr/>
          </a:p>
          <a:p>
            <a:pPr marL="3200400" lvl="0" indent="0" algn="l" rtl="0">
              <a:spcBef>
                <a:spcPts val="600"/>
              </a:spcBef>
              <a:spcAft>
                <a:spcPts val="0"/>
              </a:spcAft>
              <a:buNone/>
            </a:pPr>
            <a:endParaRPr/>
          </a:p>
          <a:p>
            <a:pPr marL="3200400" lvl="0" indent="0" algn="l" rtl="0">
              <a:spcBef>
                <a:spcPts val="600"/>
              </a:spcBef>
              <a:spcAft>
                <a:spcPts val="0"/>
              </a:spcAft>
              <a:buNone/>
            </a:pPr>
            <a:endParaRPr/>
          </a:p>
          <a:p>
            <a:pPr marL="3200400" lvl="0" indent="0" algn="l" rtl="0">
              <a:spcBef>
                <a:spcPts val="600"/>
              </a:spcBef>
              <a:spcAft>
                <a:spcPts val="0"/>
              </a:spcAft>
              <a:buNone/>
            </a:pPr>
            <a:endParaRPr/>
          </a:p>
          <a:p>
            <a:pPr marL="0" lvl="0" indent="0" algn="l" rtl="0">
              <a:spcBef>
                <a:spcPts val="600"/>
              </a:spcBef>
              <a:spcAft>
                <a:spcPts val="0"/>
              </a:spcAft>
              <a:buNone/>
            </a:pPr>
            <a:endParaRPr/>
          </a:p>
          <a:p>
            <a:pPr marL="3200400" lvl="0" indent="0" algn="l" rtl="0">
              <a:spcBef>
                <a:spcPts val="600"/>
              </a:spcBef>
              <a:spcAft>
                <a:spcPts val="0"/>
              </a:spcAft>
              <a:buNone/>
            </a:pPr>
            <a:r>
              <a:rPr lang="en"/>
              <a:t>  3: The two are equal</a:t>
            </a:r>
            <a:endParaRPr/>
          </a:p>
          <a:p>
            <a:pPr marL="3200400" lvl="0" indent="0" algn="l" rtl="0">
              <a:spcBef>
                <a:spcPts val="600"/>
              </a:spcBef>
              <a:spcAft>
                <a:spcPts val="0"/>
              </a:spcAft>
              <a:buNone/>
            </a:pPr>
            <a:r>
              <a:rPr lang="en"/>
              <a:t>  Coin 6 is counterfeit</a:t>
            </a:r>
            <a:endParaRPr/>
          </a:p>
        </p:txBody>
      </p:sp>
      <p:pic>
        <p:nvPicPr>
          <p:cNvPr id="366" name="Google Shape;366;p49"/>
          <p:cNvPicPr preferRelativeResize="0"/>
          <p:nvPr/>
        </p:nvPicPr>
        <p:blipFill>
          <a:blip r:embed="rId3">
            <a:alphaModFix/>
          </a:blip>
          <a:stretch>
            <a:fillRect/>
          </a:stretch>
        </p:blipFill>
        <p:spPr>
          <a:xfrm>
            <a:off x="3341812" y="1750624"/>
            <a:ext cx="2051075" cy="1774176"/>
          </a:xfrm>
          <a:prstGeom prst="rect">
            <a:avLst/>
          </a:prstGeom>
          <a:noFill/>
          <a:ln>
            <a:noFill/>
          </a:ln>
        </p:spPr>
      </p:pic>
      <p:sp>
        <p:nvSpPr>
          <p:cNvPr id="367" name="Google Shape;367;p49"/>
          <p:cNvSpPr/>
          <p:nvPr/>
        </p:nvSpPr>
        <p:spPr>
          <a:xfrm>
            <a:off x="1621825" y="2395613"/>
            <a:ext cx="484200" cy="484200"/>
          </a:xfrm>
          <a:prstGeom prst="ellipse">
            <a:avLst/>
          </a:prstGeom>
          <a:solidFill>
            <a:srgbClr val="FFFF00"/>
          </a:solidFill>
          <a:ln w="1143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4</a:t>
            </a:r>
            <a:endParaRPr>
              <a:latin typeface="Roboto"/>
              <a:ea typeface="Roboto"/>
              <a:cs typeface="Roboto"/>
              <a:sym typeface="Roboto"/>
            </a:endParaRPr>
          </a:p>
        </p:txBody>
      </p:sp>
      <p:sp>
        <p:nvSpPr>
          <p:cNvPr id="368" name="Google Shape;368;p49"/>
          <p:cNvSpPr/>
          <p:nvPr/>
        </p:nvSpPr>
        <p:spPr>
          <a:xfrm>
            <a:off x="6628650" y="2395625"/>
            <a:ext cx="484200" cy="484200"/>
          </a:xfrm>
          <a:prstGeom prst="ellipse">
            <a:avLst/>
          </a:prstGeom>
          <a:solidFill>
            <a:srgbClr val="FFFF00"/>
          </a:solidFill>
          <a:ln w="1143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5</a:t>
            </a:r>
            <a:endParaRPr>
              <a:latin typeface="Roboto"/>
              <a:ea typeface="Roboto"/>
              <a:cs typeface="Roboto"/>
              <a:sym typeface="Roboto"/>
            </a:endParaRPr>
          </a:p>
        </p:txBody>
      </p:sp>
      <p:sp>
        <p:nvSpPr>
          <p:cNvPr id="369" name="Google Shape;369;p49"/>
          <p:cNvSpPr/>
          <p:nvPr/>
        </p:nvSpPr>
        <p:spPr>
          <a:xfrm>
            <a:off x="4177500" y="4432800"/>
            <a:ext cx="484200" cy="484200"/>
          </a:xfrm>
          <a:prstGeom prst="ellipse">
            <a:avLst/>
          </a:prstGeom>
          <a:solidFill>
            <a:srgbClr val="FFFF00"/>
          </a:solidFill>
          <a:ln w="1143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6</a:t>
            </a:r>
            <a:endParaRPr>
              <a:latin typeface="Roboto"/>
              <a:ea typeface="Roboto"/>
              <a:cs typeface="Roboto"/>
              <a:sym typeface="Roboto"/>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CCCCCC"/>
        </a:solidFill>
        <a:effectLst/>
      </p:bgPr>
    </p:bg>
    <p:spTree>
      <p:nvGrpSpPr>
        <p:cNvPr id="1" name="Shape 373"/>
        <p:cNvGrpSpPr/>
        <p:nvPr/>
      </p:nvGrpSpPr>
      <p:grpSpPr>
        <a:xfrm>
          <a:off x="0" y="0"/>
          <a:ext cx="0" cy="0"/>
          <a:chOff x="0" y="0"/>
          <a:chExt cx="0" cy="0"/>
        </a:xfrm>
      </p:grpSpPr>
      <p:sp>
        <p:nvSpPr>
          <p:cNvPr id="374" name="Google Shape;374;p50"/>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9 Coins: Step 2 in Case 3</a:t>
            </a:r>
            <a:endParaRPr/>
          </a:p>
        </p:txBody>
      </p:sp>
      <p:sp>
        <p:nvSpPr>
          <p:cNvPr id="375" name="Google Shape;375;p50"/>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In case 3: The heavier coin is either 7, 8, or 9</a:t>
            </a:r>
            <a:endParaRPr/>
          </a:p>
          <a:p>
            <a:pPr marL="0" lvl="0" indent="0" algn="l" rtl="0">
              <a:spcBef>
                <a:spcPts val="600"/>
              </a:spcBef>
              <a:spcAft>
                <a:spcPts val="0"/>
              </a:spcAft>
              <a:buNone/>
            </a:pPr>
            <a:r>
              <a:rPr lang="en"/>
              <a:t>Step 2.3: Compare coins 7 vs 8</a:t>
            </a:r>
            <a:endParaRPr/>
          </a:p>
          <a:p>
            <a:pPr marL="0" lvl="0" indent="0" algn="l" rtl="0">
              <a:spcBef>
                <a:spcPts val="600"/>
              </a:spcBef>
              <a:spcAft>
                <a:spcPts val="0"/>
              </a:spcAft>
              <a:buNone/>
            </a:pPr>
            <a:r>
              <a:rPr lang="en"/>
              <a:t>There are three possibilities: </a:t>
            </a:r>
            <a:endParaRPr/>
          </a:p>
          <a:p>
            <a:pPr marL="457200" lvl="0" indent="0" algn="l" rtl="0">
              <a:spcBef>
                <a:spcPts val="600"/>
              </a:spcBef>
              <a:spcAft>
                <a:spcPts val="0"/>
              </a:spcAft>
              <a:buNone/>
            </a:pPr>
            <a:r>
              <a:rPr lang="en"/>
              <a:t>     1: Left side heavier							     2: Right side heavier</a:t>
            </a:r>
            <a:endParaRPr/>
          </a:p>
          <a:p>
            <a:pPr marL="0" lvl="0" indent="0" algn="l" rtl="0">
              <a:spcBef>
                <a:spcPts val="600"/>
              </a:spcBef>
              <a:spcAft>
                <a:spcPts val="0"/>
              </a:spcAft>
              <a:buNone/>
            </a:pPr>
            <a:r>
              <a:rPr lang="en"/>
              <a:t>	     Coin 7 is counterfeit						     Coin 8 is counterfeit</a:t>
            </a:r>
            <a:endParaRPr/>
          </a:p>
          <a:p>
            <a:pPr marL="3200400" lvl="0" indent="0" algn="l" rtl="0">
              <a:spcBef>
                <a:spcPts val="600"/>
              </a:spcBef>
              <a:spcAft>
                <a:spcPts val="0"/>
              </a:spcAft>
              <a:buNone/>
            </a:pPr>
            <a:endParaRPr/>
          </a:p>
          <a:p>
            <a:pPr marL="3200400" lvl="0" indent="0" algn="l" rtl="0">
              <a:spcBef>
                <a:spcPts val="600"/>
              </a:spcBef>
              <a:spcAft>
                <a:spcPts val="0"/>
              </a:spcAft>
              <a:buNone/>
            </a:pPr>
            <a:endParaRPr/>
          </a:p>
          <a:p>
            <a:pPr marL="3200400" lvl="0" indent="0" algn="l" rtl="0">
              <a:spcBef>
                <a:spcPts val="600"/>
              </a:spcBef>
              <a:spcAft>
                <a:spcPts val="0"/>
              </a:spcAft>
              <a:buNone/>
            </a:pPr>
            <a:endParaRPr/>
          </a:p>
          <a:p>
            <a:pPr marL="0" lvl="0" indent="0" algn="l" rtl="0">
              <a:spcBef>
                <a:spcPts val="600"/>
              </a:spcBef>
              <a:spcAft>
                <a:spcPts val="0"/>
              </a:spcAft>
              <a:buNone/>
            </a:pPr>
            <a:endParaRPr/>
          </a:p>
          <a:p>
            <a:pPr marL="3200400" lvl="0" indent="0" algn="l" rtl="0">
              <a:spcBef>
                <a:spcPts val="600"/>
              </a:spcBef>
              <a:spcAft>
                <a:spcPts val="0"/>
              </a:spcAft>
              <a:buNone/>
            </a:pPr>
            <a:r>
              <a:rPr lang="en"/>
              <a:t>  3: The two are equal</a:t>
            </a:r>
            <a:endParaRPr/>
          </a:p>
          <a:p>
            <a:pPr marL="3200400" lvl="0" indent="0" algn="l" rtl="0">
              <a:spcBef>
                <a:spcPts val="600"/>
              </a:spcBef>
              <a:spcAft>
                <a:spcPts val="0"/>
              </a:spcAft>
              <a:buNone/>
            </a:pPr>
            <a:r>
              <a:rPr lang="en"/>
              <a:t>  Coin 9 is counterfeit</a:t>
            </a:r>
            <a:endParaRPr/>
          </a:p>
        </p:txBody>
      </p:sp>
      <p:pic>
        <p:nvPicPr>
          <p:cNvPr id="376" name="Google Shape;376;p50"/>
          <p:cNvPicPr preferRelativeResize="0"/>
          <p:nvPr/>
        </p:nvPicPr>
        <p:blipFill>
          <a:blip r:embed="rId3">
            <a:alphaModFix/>
          </a:blip>
          <a:stretch>
            <a:fillRect/>
          </a:stretch>
        </p:blipFill>
        <p:spPr>
          <a:xfrm>
            <a:off x="3341812" y="1750624"/>
            <a:ext cx="2051075" cy="1774176"/>
          </a:xfrm>
          <a:prstGeom prst="rect">
            <a:avLst/>
          </a:prstGeom>
          <a:noFill/>
          <a:ln>
            <a:noFill/>
          </a:ln>
        </p:spPr>
      </p:pic>
      <p:sp>
        <p:nvSpPr>
          <p:cNvPr id="377" name="Google Shape;377;p50"/>
          <p:cNvSpPr/>
          <p:nvPr/>
        </p:nvSpPr>
        <p:spPr>
          <a:xfrm>
            <a:off x="1621825" y="2395613"/>
            <a:ext cx="484200" cy="484200"/>
          </a:xfrm>
          <a:prstGeom prst="ellipse">
            <a:avLst/>
          </a:prstGeom>
          <a:solidFill>
            <a:srgbClr val="FFFF00"/>
          </a:solidFill>
          <a:ln w="1143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7</a:t>
            </a:r>
            <a:endParaRPr>
              <a:latin typeface="Roboto"/>
              <a:ea typeface="Roboto"/>
              <a:cs typeface="Roboto"/>
              <a:sym typeface="Roboto"/>
            </a:endParaRPr>
          </a:p>
        </p:txBody>
      </p:sp>
      <p:sp>
        <p:nvSpPr>
          <p:cNvPr id="378" name="Google Shape;378;p50"/>
          <p:cNvSpPr/>
          <p:nvPr/>
        </p:nvSpPr>
        <p:spPr>
          <a:xfrm>
            <a:off x="6628650" y="2395625"/>
            <a:ext cx="484200" cy="484200"/>
          </a:xfrm>
          <a:prstGeom prst="ellipse">
            <a:avLst/>
          </a:prstGeom>
          <a:solidFill>
            <a:srgbClr val="FFFF00"/>
          </a:solidFill>
          <a:ln w="1143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8</a:t>
            </a:r>
            <a:endParaRPr>
              <a:latin typeface="Roboto"/>
              <a:ea typeface="Roboto"/>
              <a:cs typeface="Roboto"/>
              <a:sym typeface="Roboto"/>
            </a:endParaRPr>
          </a:p>
        </p:txBody>
      </p:sp>
      <p:sp>
        <p:nvSpPr>
          <p:cNvPr id="379" name="Google Shape;379;p50"/>
          <p:cNvSpPr/>
          <p:nvPr/>
        </p:nvSpPr>
        <p:spPr>
          <a:xfrm>
            <a:off x="4177500" y="4432800"/>
            <a:ext cx="484200" cy="484200"/>
          </a:xfrm>
          <a:prstGeom prst="ellipse">
            <a:avLst/>
          </a:prstGeom>
          <a:solidFill>
            <a:srgbClr val="FFFF00"/>
          </a:solidFill>
          <a:ln w="1143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9</a:t>
            </a:r>
            <a:endParaRPr>
              <a:latin typeface="Roboto"/>
              <a:ea typeface="Roboto"/>
              <a:cs typeface="Roboto"/>
              <a:sym typeface="Roboto"/>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83"/>
        <p:cNvGrpSpPr/>
        <p:nvPr/>
      </p:nvGrpSpPr>
      <p:grpSpPr>
        <a:xfrm>
          <a:off x="0" y="0"/>
          <a:ext cx="0" cy="0"/>
          <a:chOff x="0" y="0"/>
          <a:chExt cx="0" cy="0"/>
        </a:xfrm>
      </p:grpSpPr>
      <p:sp>
        <p:nvSpPr>
          <p:cNvPr id="384" name="Google Shape;384;p51"/>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9 Coins: Decision Tree</a:t>
            </a:r>
            <a:endParaRPr/>
          </a:p>
        </p:txBody>
      </p:sp>
      <p:sp>
        <p:nvSpPr>
          <p:cNvPr id="385" name="Google Shape;385;p51"/>
          <p:cNvSpPr txBox="1">
            <a:spLocks noGrp="1"/>
          </p:cNvSpPr>
          <p:nvPr>
            <p:ph type="body" idx="1"/>
          </p:nvPr>
        </p:nvSpPr>
        <p:spPr>
          <a:xfrm>
            <a:off x="107050" y="402200"/>
            <a:ext cx="8520600" cy="557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The full decision tree for 9 coins:</a:t>
            </a:r>
            <a:endParaRPr/>
          </a:p>
        </p:txBody>
      </p:sp>
      <p:sp>
        <p:nvSpPr>
          <p:cNvPr id="386" name="Google Shape;386;p51"/>
          <p:cNvSpPr/>
          <p:nvPr/>
        </p:nvSpPr>
        <p:spPr>
          <a:xfrm>
            <a:off x="3649350" y="759075"/>
            <a:ext cx="1221900" cy="5103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123 vs 456?</a:t>
            </a:r>
            <a:endParaRPr/>
          </a:p>
        </p:txBody>
      </p:sp>
      <p:sp>
        <p:nvSpPr>
          <p:cNvPr id="387" name="Google Shape;387;p51"/>
          <p:cNvSpPr/>
          <p:nvPr/>
        </p:nvSpPr>
        <p:spPr>
          <a:xfrm>
            <a:off x="1620500" y="2008300"/>
            <a:ext cx="809100" cy="593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1 vs 2?</a:t>
            </a:r>
            <a:endParaRPr/>
          </a:p>
        </p:txBody>
      </p:sp>
      <p:sp>
        <p:nvSpPr>
          <p:cNvPr id="388" name="Google Shape;388;p51"/>
          <p:cNvSpPr/>
          <p:nvPr/>
        </p:nvSpPr>
        <p:spPr>
          <a:xfrm>
            <a:off x="3855750" y="2008300"/>
            <a:ext cx="809100" cy="593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7 vs 8?</a:t>
            </a:r>
            <a:endParaRPr/>
          </a:p>
        </p:txBody>
      </p:sp>
      <p:sp>
        <p:nvSpPr>
          <p:cNvPr id="389" name="Google Shape;389;p51"/>
          <p:cNvSpPr/>
          <p:nvPr/>
        </p:nvSpPr>
        <p:spPr>
          <a:xfrm>
            <a:off x="6091000" y="2008300"/>
            <a:ext cx="809100" cy="593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4 vs 5?</a:t>
            </a:r>
            <a:endParaRPr/>
          </a:p>
        </p:txBody>
      </p:sp>
      <p:cxnSp>
        <p:nvCxnSpPr>
          <p:cNvPr id="390" name="Google Shape;390;p51"/>
          <p:cNvCxnSpPr>
            <a:stCxn id="386" idx="2"/>
            <a:endCxn id="387" idx="0"/>
          </p:cNvCxnSpPr>
          <p:nvPr/>
        </p:nvCxnSpPr>
        <p:spPr>
          <a:xfrm flipH="1">
            <a:off x="2025000" y="1269375"/>
            <a:ext cx="2235300" cy="738900"/>
          </a:xfrm>
          <a:prstGeom prst="straightConnector1">
            <a:avLst/>
          </a:prstGeom>
          <a:noFill/>
          <a:ln w="38100" cap="flat" cmpd="sng">
            <a:solidFill>
              <a:srgbClr val="FF0000"/>
            </a:solidFill>
            <a:prstDash val="solid"/>
            <a:round/>
            <a:headEnd type="none" w="med" len="med"/>
            <a:tailEnd type="none" w="med" len="med"/>
          </a:ln>
        </p:spPr>
      </p:cxnSp>
      <p:cxnSp>
        <p:nvCxnSpPr>
          <p:cNvPr id="391" name="Google Shape;391;p51"/>
          <p:cNvCxnSpPr>
            <a:stCxn id="386" idx="2"/>
            <a:endCxn id="388" idx="0"/>
          </p:cNvCxnSpPr>
          <p:nvPr/>
        </p:nvCxnSpPr>
        <p:spPr>
          <a:xfrm>
            <a:off x="4260300" y="1269375"/>
            <a:ext cx="0" cy="738900"/>
          </a:xfrm>
          <a:prstGeom prst="straightConnector1">
            <a:avLst/>
          </a:prstGeom>
          <a:noFill/>
          <a:ln w="38100" cap="flat" cmpd="sng">
            <a:solidFill>
              <a:schemeClr val="dk2"/>
            </a:solidFill>
            <a:prstDash val="solid"/>
            <a:round/>
            <a:headEnd type="none" w="med" len="med"/>
            <a:tailEnd type="none" w="med" len="med"/>
          </a:ln>
        </p:spPr>
      </p:cxnSp>
      <p:cxnSp>
        <p:nvCxnSpPr>
          <p:cNvPr id="392" name="Google Shape;392;p51"/>
          <p:cNvCxnSpPr>
            <a:stCxn id="386" idx="2"/>
            <a:endCxn id="389" idx="0"/>
          </p:cNvCxnSpPr>
          <p:nvPr/>
        </p:nvCxnSpPr>
        <p:spPr>
          <a:xfrm>
            <a:off x="4260300" y="1269375"/>
            <a:ext cx="2235300" cy="738900"/>
          </a:xfrm>
          <a:prstGeom prst="straightConnector1">
            <a:avLst/>
          </a:prstGeom>
          <a:noFill/>
          <a:ln w="38100" cap="flat" cmpd="sng">
            <a:solidFill>
              <a:srgbClr val="0000FF"/>
            </a:solidFill>
            <a:prstDash val="solid"/>
            <a:round/>
            <a:headEnd type="none" w="med" len="med"/>
            <a:tailEnd type="none" w="med" len="med"/>
          </a:ln>
        </p:spPr>
      </p:cxnSp>
      <p:sp>
        <p:nvSpPr>
          <p:cNvPr id="393" name="Google Shape;393;p51"/>
          <p:cNvSpPr txBox="1"/>
          <p:nvPr/>
        </p:nvSpPr>
        <p:spPr>
          <a:xfrm>
            <a:off x="2342075" y="1521063"/>
            <a:ext cx="629100" cy="235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&gt;</a:t>
            </a:r>
            <a:endParaRPr/>
          </a:p>
        </p:txBody>
      </p:sp>
      <p:sp>
        <p:nvSpPr>
          <p:cNvPr id="394" name="Google Shape;394;p51"/>
          <p:cNvSpPr txBox="1"/>
          <p:nvPr/>
        </p:nvSpPr>
        <p:spPr>
          <a:xfrm>
            <a:off x="3945750" y="1521088"/>
            <a:ext cx="629100" cy="235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a:t>
            </a:r>
            <a:endParaRPr/>
          </a:p>
        </p:txBody>
      </p:sp>
      <p:sp>
        <p:nvSpPr>
          <p:cNvPr id="395" name="Google Shape;395;p51"/>
          <p:cNvSpPr txBox="1"/>
          <p:nvPr/>
        </p:nvSpPr>
        <p:spPr>
          <a:xfrm>
            <a:off x="5718650" y="1521063"/>
            <a:ext cx="629100" cy="235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&lt;</a:t>
            </a:r>
            <a:endParaRPr/>
          </a:p>
        </p:txBody>
      </p:sp>
      <p:sp>
        <p:nvSpPr>
          <p:cNvPr id="396" name="Google Shape;396;p51"/>
          <p:cNvSpPr/>
          <p:nvPr/>
        </p:nvSpPr>
        <p:spPr>
          <a:xfrm>
            <a:off x="710150" y="3941550"/>
            <a:ext cx="732900" cy="510300"/>
          </a:xfrm>
          <a:prstGeom prst="roundRect">
            <a:avLst>
              <a:gd name="adj" fmla="val 16667"/>
            </a:avLst>
          </a:prstGeom>
          <a:solidFill>
            <a:srgbClr val="A4C2F4"/>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1 fake</a:t>
            </a:r>
            <a:endParaRPr/>
          </a:p>
        </p:txBody>
      </p:sp>
      <p:sp>
        <p:nvSpPr>
          <p:cNvPr id="397" name="Google Shape;397;p51"/>
          <p:cNvSpPr/>
          <p:nvPr/>
        </p:nvSpPr>
        <p:spPr>
          <a:xfrm>
            <a:off x="2607050" y="3941550"/>
            <a:ext cx="732900" cy="510300"/>
          </a:xfrm>
          <a:prstGeom prst="roundRect">
            <a:avLst>
              <a:gd name="adj" fmla="val 16667"/>
            </a:avLst>
          </a:prstGeom>
          <a:solidFill>
            <a:srgbClr val="A4C2F4"/>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2 fake</a:t>
            </a:r>
            <a:endParaRPr/>
          </a:p>
        </p:txBody>
      </p:sp>
      <p:sp>
        <p:nvSpPr>
          <p:cNvPr id="398" name="Google Shape;398;p51"/>
          <p:cNvSpPr/>
          <p:nvPr/>
        </p:nvSpPr>
        <p:spPr>
          <a:xfrm>
            <a:off x="1658600" y="3941550"/>
            <a:ext cx="732900" cy="510300"/>
          </a:xfrm>
          <a:prstGeom prst="roundRect">
            <a:avLst>
              <a:gd name="adj" fmla="val 16667"/>
            </a:avLst>
          </a:prstGeom>
          <a:solidFill>
            <a:srgbClr val="A4C2F4"/>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3 fake</a:t>
            </a:r>
            <a:endParaRPr/>
          </a:p>
        </p:txBody>
      </p:sp>
      <p:sp>
        <p:nvSpPr>
          <p:cNvPr id="399" name="Google Shape;399;p51"/>
          <p:cNvSpPr/>
          <p:nvPr/>
        </p:nvSpPr>
        <p:spPr>
          <a:xfrm>
            <a:off x="2945400" y="3233325"/>
            <a:ext cx="732900" cy="510300"/>
          </a:xfrm>
          <a:prstGeom prst="roundRect">
            <a:avLst>
              <a:gd name="adj" fmla="val 16667"/>
            </a:avLst>
          </a:prstGeom>
          <a:solidFill>
            <a:srgbClr val="A4C2F4"/>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7 fake</a:t>
            </a:r>
            <a:endParaRPr/>
          </a:p>
        </p:txBody>
      </p:sp>
      <p:sp>
        <p:nvSpPr>
          <p:cNvPr id="400" name="Google Shape;400;p51"/>
          <p:cNvSpPr/>
          <p:nvPr/>
        </p:nvSpPr>
        <p:spPr>
          <a:xfrm>
            <a:off x="4842300" y="3233325"/>
            <a:ext cx="732900" cy="510300"/>
          </a:xfrm>
          <a:prstGeom prst="roundRect">
            <a:avLst>
              <a:gd name="adj" fmla="val 16667"/>
            </a:avLst>
          </a:prstGeom>
          <a:solidFill>
            <a:srgbClr val="A4C2F4"/>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8 fake</a:t>
            </a:r>
            <a:endParaRPr/>
          </a:p>
        </p:txBody>
      </p:sp>
      <p:sp>
        <p:nvSpPr>
          <p:cNvPr id="401" name="Google Shape;401;p51"/>
          <p:cNvSpPr/>
          <p:nvPr/>
        </p:nvSpPr>
        <p:spPr>
          <a:xfrm>
            <a:off x="3893850" y="3233325"/>
            <a:ext cx="732900" cy="510300"/>
          </a:xfrm>
          <a:prstGeom prst="roundRect">
            <a:avLst>
              <a:gd name="adj" fmla="val 16667"/>
            </a:avLst>
          </a:prstGeom>
          <a:solidFill>
            <a:srgbClr val="A4C2F4"/>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9 fake</a:t>
            </a:r>
            <a:endParaRPr/>
          </a:p>
        </p:txBody>
      </p:sp>
      <p:sp>
        <p:nvSpPr>
          <p:cNvPr id="402" name="Google Shape;402;p51"/>
          <p:cNvSpPr/>
          <p:nvPr/>
        </p:nvSpPr>
        <p:spPr>
          <a:xfrm>
            <a:off x="5180650" y="3941550"/>
            <a:ext cx="732900" cy="510300"/>
          </a:xfrm>
          <a:prstGeom prst="roundRect">
            <a:avLst>
              <a:gd name="adj" fmla="val 16667"/>
            </a:avLst>
          </a:prstGeom>
          <a:solidFill>
            <a:srgbClr val="A4C2F4"/>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4 fake</a:t>
            </a:r>
            <a:endParaRPr/>
          </a:p>
        </p:txBody>
      </p:sp>
      <p:sp>
        <p:nvSpPr>
          <p:cNvPr id="403" name="Google Shape;403;p51"/>
          <p:cNvSpPr/>
          <p:nvPr/>
        </p:nvSpPr>
        <p:spPr>
          <a:xfrm>
            <a:off x="7077550" y="3941550"/>
            <a:ext cx="732900" cy="510300"/>
          </a:xfrm>
          <a:prstGeom prst="roundRect">
            <a:avLst>
              <a:gd name="adj" fmla="val 16667"/>
            </a:avLst>
          </a:prstGeom>
          <a:solidFill>
            <a:srgbClr val="A4C2F4"/>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5 fake</a:t>
            </a:r>
            <a:endParaRPr/>
          </a:p>
        </p:txBody>
      </p:sp>
      <p:sp>
        <p:nvSpPr>
          <p:cNvPr id="404" name="Google Shape;404;p51"/>
          <p:cNvSpPr/>
          <p:nvPr/>
        </p:nvSpPr>
        <p:spPr>
          <a:xfrm>
            <a:off x="6129100" y="3941550"/>
            <a:ext cx="732900" cy="510300"/>
          </a:xfrm>
          <a:prstGeom prst="roundRect">
            <a:avLst>
              <a:gd name="adj" fmla="val 16667"/>
            </a:avLst>
          </a:prstGeom>
          <a:solidFill>
            <a:srgbClr val="A4C2F4"/>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6 fake</a:t>
            </a:r>
            <a:endParaRPr/>
          </a:p>
        </p:txBody>
      </p:sp>
      <p:cxnSp>
        <p:nvCxnSpPr>
          <p:cNvPr id="405" name="Google Shape;405;p51"/>
          <p:cNvCxnSpPr>
            <a:stCxn id="387" idx="2"/>
            <a:endCxn id="396" idx="0"/>
          </p:cNvCxnSpPr>
          <p:nvPr/>
        </p:nvCxnSpPr>
        <p:spPr>
          <a:xfrm flipH="1">
            <a:off x="1076450" y="2602000"/>
            <a:ext cx="948600" cy="1339500"/>
          </a:xfrm>
          <a:prstGeom prst="straightConnector1">
            <a:avLst/>
          </a:prstGeom>
          <a:noFill/>
          <a:ln w="38100" cap="flat" cmpd="sng">
            <a:solidFill>
              <a:srgbClr val="FF0000"/>
            </a:solidFill>
            <a:prstDash val="solid"/>
            <a:round/>
            <a:headEnd type="none" w="med" len="med"/>
            <a:tailEnd type="none" w="med" len="med"/>
          </a:ln>
        </p:spPr>
      </p:cxnSp>
      <p:cxnSp>
        <p:nvCxnSpPr>
          <p:cNvPr id="406" name="Google Shape;406;p51"/>
          <p:cNvCxnSpPr>
            <a:stCxn id="387" idx="2"/>
            <a:endCxn id="398" idx="0"/>
          </p:cNvCxnSpPr>
          <p:nvPr/>
        </p:nvCxnSpPr>
        <p:spPr>
          <a:xfrm>
            <a:off x="2025050" y="2602000"/>
            <a:ext cx="0" cy="1339500"/>
          </a:xfrm>
          <a:prstGeom prst="straightConnector1">
            <a:avLst/>
          </a:prstGeom>
          <a:noFill/>
          <a:ln w="38100" cap="flat" cmpd="sng">
            <a:solidFill>
              <a:schemeClr val="dk2"/>
            </a:solidFill>
            <a:prstDash val="solid"/>
            <a:round/>
            <a:headEnd type="none" w="med" len="med"/>
            <a:tailEnd type="none" w="med" len="med"/>
          </a:ln>
        </p:spPr>
      </p:cxnSp>
      <p:cxnSp>
        <p:nvCxnSpPr>
          <p:cNvPr id="407" name="Google Shape;407;p51"/>
          <p:cNvCxnSpPr>
            <a:stCxn id="387" idx="2"/>
            <a:endCxn id="397" idx="0"/>
          </p:cNvCxnSpPr>
          <p:nvPr/>
        </p:nvCxnSpPr>
        <p:spPr>
          <a:xfrm>
            <a:off x="2025050" y="2602000"/>
            <a:ext cx="948600" cy="1339500"/>
          </a:xfrm>
          <a:prstGeom prst="straightConnector1">
            <a:avLst/>
          </a:prstGeom>
          <a:noFill/>
          <a:ln w="38100" cap="flat" cmpd="sng">
            <a:solidFill>
              <a:srgbClr val="0000FF"/>
            </a:solidFill>
            <a:prstDash val="solid"/>
            <a:round/>
            <a:headEnd type="none" w="med" len="med"/>
            <a:tailEnd type="none" w="med" len="med"/>
          </a:ln>
        </p:spPr>
      </p:cxnSp>
      <p:cxnSp>
        <p:nvCxnSpPr>
          <p:cNvPr id="408" name="Google Shape;408;p51"/>
          <p:cNvCxnSpPr>
            <a:stCxn id="389" idx="2"/>
            <a:endCxn id="402" idx="0"/>
          </p:cNvCxnSpPr>
          <p:nvPr/>
        </p:nvCxnSpPr>
        <p:spPr>
          <a:xfrm flipH="1">
            <a:off x="5546950" y="2602000"/>
            <a:ext cx="948600" cy="1339500"/>
          </a:xfrm>
          <a:prstGeom prst="straightConnector1">
            <a:avLst/>
          </a:prstGeom>
          <a:noFill/>
          <a:ln w="38100" cap="flat" cmpd="sng">
            <a:solidFill>
              <a:srgbClr val="FF0000"/>
            </a:solidFill>
            <a:prstDash val="solid"/>
            <a:round/>
            <a:headEnd type="none" w="med" len="med"/>
            <a:tailEnd type="none" w="med" len="med"/>
          </a:ln>
        </p:spPr>
      </p:cxnSp>
      <p:cxnSp>
        <p:nvCxnSpPr>
          <p:cNvPr id="409" name="Google Shape;409;p51"/>
          <p:cNvCxnSpPr>
            <a:stCxn id="389" idx="2"/>
            <a:endCxn id="404" idx="0"/>
          </p:cNvCxnSpPr>
          <p:nvPr/>
        </p:nvCxnSpPr>
        <p:spPr>
          <a:xfrm>
            <a:off x="6495550" y="2602000"/>
            <a:ext cx="0" cy="1339500"/>
          </a:xfrm>
          <a:prstGeom prst="straightConnector1">
            <a:avLst/>
          </a:prstGeom>
          <a:noFill/>
          <a:ln w="38100" cap="flat" cmpd="sng">
            <a:solidFill>
              <a:schemeClr val="dk2"/>
            </a:solidFill>
            <a:prstDash val="solid"/>
            <a:round/>
            <a:headEnd type="none" w="med" len="med"/>
            <a:tailEnd type="none" w="med" len="med"/>
          </a:ln>
        </p:spPr>
      </p:cxnSp>
      <p:cxnSp>
        <p:nvCxnSpPr>
          <p:cNvPr id="410" name="Google Shape;410;p51"/>
          <p:cNvCxnSpPr>
            <a:stCxn id="389" idx="2"/>
            <a:endCxn id="403" idx="0"/>
          </p:cNvCxnSpPr>
          <p:nvPr/>
        </p:nvCxnSpPr>
        <p:spPr>
          <a:xfrm>
            <a:off x="6495550" y="2602000"/>
            <a:ext cx="948600" cy="1339500"/>
          </a:xfrm>
          <a:prstGeom prst="straightConnector1">
            <a:avLst/>
          </a:prstGeom>
          <a:noFill/>
          <a:ln w="38100" cap="flat" cmpd="sng">
            <a:solidFill>
              <a:srgbClr val="0000FF"/>
            </a:solidFill>
            <a:prstDash val="solid"/>
            <a:round/>
            <a:headEnd type="none" w="med" len="med"/>
            <a:tailEnd type="none" w="med" len="med"/>
          </a:ln>
        </p:spPr>
      </p:cxnSp>
      <p:cxnSp>
        <p:nvCxnSpPr>
          <p:cNvPr id="411" name="Google Shape;411;p51"/>
          <p:cNvCxnSpPr>
            <a:stCxn id="388" idx="2"/>
            <a:endCxn id="399" idx="0"/>
          </p:cNvCxnSpPr>
          <p:nvPr/>
        </p:nvCxnSpPr>
        <p:spPr>
          <a:xfrm flipH="1">
            <a:off x="3311700" y="2602000"/>
            <a:ext cx="948600" cy="631200"/>
          </a:xfrm>
          <a:prstGeom prst="straightConnector1">
            <a:avLst/>
          </a:prstGeom>
          <a:noFill/>
          <a:ln w="38100" cap="flat" cmpd="sng">
            <a:solidFill>
              <a:srgbClr val="FF0000"/>
            </a:solidFill>
            <a:prstDash val="solid"/>
            <a:round/>
            <a:headEnd type="none" w="med" len="med"/>
            <a:tailEnd type="none" w="med" len="med"/>
          </a:ln>
        </p:spPr>
      </p:cxnSp>
      <p:cxnSp>
        <p:nvCxnSpPr>
          <p:cNvPr id="412" name="Google Shape;412;p51"/>
          <p:cNvCxnSpPr>
            <a:stCxn id="388" idx="2"/>
            <a:endCxn id="401" idx="0"/>
          </p:cNvCxnSpPr>
          <p:nvPr/>
        </p:nvCxnSpPr>
        <p:spPr>
          <a:xfrm>
            <a:off x="4260300" y="2602000"/>
            <a:ext cx="0" cy="631200"/>
          </a:xfrm>
          <a:prstGeom prst="straightConnector1">
            <a:avLst/>
          </a:prstGeom>
          <a:noFill/>
          <a:ln w="38100" cap="flat" cmpd="sng">
            <a:solidFill>
              <a:schemeClr val="dk2"/>
            </a:solidFill>
            <a:prstDash val="solid"/>
            <a:round/>
            <a:headEnd type="none" w="med" len="med"/>
            <a:tailEnd type="none" w="med" len="med"/>
          </a:ln>
        </p:spPr>
      </p:cxnSp>
      <p:cxnSp>
        <p:nvCxnSpPr>
          <p:cNvPr id="413" name="Google Shape;413;p51"/>
          <p:cNvCxnSpPr>
            <a:stCxn id="388" idx="2"/>
            <a:endCxn id="400" idx="0"/>
          </p:cNvCxnSpPr>
          <p:nvPr/>
        </p:nvCxnSpPr>
        <p:spPr>
          <a:xfrm>
            <a:off x="4260300" y="2602000"/>
            <a:ext cx="948600" cy="631200"/>
          </a:xfrm>
          <a:prstGeom prst="straightConnector1">
            <a:avLst/>
          </a:prstGeom>
          <a:noFill/>
          <a:ln w="38100" cap="flat" cmpd="sng">
            <a:solidFill>
              <a:srgbClr val="0000FF"/>
            </a:solidFill>
            <a:prstDash val="solid"/>
            <a:round/>
            <a:headEnd type="none" w="med" len="med"/>
            <a:tailEnd type="non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87"/>
                                        </p:tgtEl>
                                        <p:attrNameLst>
                                          <p:attrName>style.visibility</p:attrName>
                                        </p:attrNameLst>
                                      </p:cBhvr>
                                      <p:to>
                                        <p:strVal val="visible"/>
                                      </p:to>
                                    </p:set>
                                    <p:animEffect transition="in" filter="fade">
                                      <p:cBhvr>
                                        <p:cTn id="7" dur="1000"/>
                                        <p:tgtEl>
                                          <p:spTgt spid="3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17"/>
        <p:cNvGrpSpPr/>
        <p:nvPr/>
      </p:nvGrpSpPr>
      <p:grpSpPr>
        <a:xfrm>
          <a:off x="0" y="0"/>
          <a:ext cx="0" cy="0"/>
          <a:chOff x="0" y="0"/>
          <a:chExt cx="0" cy="0"/>
        </a:xfrm>
      </p:grpSpPr>
      <p:sp>
        <p:nvSpPr>
          <p:cNvPr id="418" name="Google Shape;418;p52"/>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9 Coins: Validation</a:t>
            </a:r>
            <a:endParaRPr/>
          </a:p>
        </p:txBody>
      </p:sp>
      <p:sp>
        <p:nvSpPr>
          <p:cNvPr id="419" name="Google Shape;419;p52"/>
          <p:cNvSpPr txBox="1">
            <a:spLocks noGrp="1"/>
          </p:cNvSpPr>
          <p:nvPr>
            <p:ph type="body" idx="1"/>
          </p:nvPr>
        </p:nvSpPr>
        <p:spPr>
          <a:xfrm>
            <a:off x="107050" y="402200"/>
            <a:ext cx="8520600" cy="11772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To verify that our scheme works, let's check every single case.</a:t>
            </a:r>
            <a:endParaRPr/>
          </a:p>
          <a:p>
            <a:pPr marL="0" lvl="0" indent="0" algn="l" rtl="0">
              <a:spcBef>
                <a:spcPts val="600"/>
              </a:spcBef>
              <a:spcAft>
                <a:spcPts val="0"/>
              </a:spcAft>
              <a:buNone/>
            </a:pPr>
            <a:r>
              <a:rPr lang="en"/>
              <a:t>There are nine "universes" that we could start in (1 is counterfeit, 2 is counterfeit, etc.). We can verify that in each universe, we yield the correct result</a:t>
            </a:r>
            <a:endParaRPr/>
          </a:p>
        </p:txBody>
      </p:sp>
      <p:pic>
        <p:nvPicPr>
          <p:cNvPr id="420" name="Google Shape;420;p52"/>
          <p:cNvPicPr preferRelativeResize="0"/>
          <p:nvPr/>
        </p:nvPicPr>
        <p:blipFill>
          <a:blip r:embed="rId3">
            <a:alphaModFix/>
          </a:blip>
          <a:stretch>
            <a:fillRect/>
          </a:stretch>
        </p:blipFill>
        <p:spPr>
          <a:xfrm>
            <a:off x="7081474" y="3143674"/>
            <a:ext cx="2051075" cy="1774176"/>
          </a:xfrm>
          <a:prstGeom prst="rect">
            <a:avLst/>
          </a:prstGeom>
          <a:noFill/>
          <a:ln>
            <a:noFill/>
          </a:ln>
        </p:spPr>
      </p:pic>
      <p:sp>
        <p:nvSpPr>
          <p:cNvPr id="421" name="Google Shape;421;p52"/>
          <p:cNvSpPr/>
          <p:nvPr/>
        </p:nvSpPr>
        <p:spPr>
          <a:xfrm>
            <a:off x="1415800" y="1579400"/>
            <a:ext cx="257400" cy="257400"/>
          </a:xfrm>
          <a:prstGeom prst="ellipse">
            <a:avLst/>
          </a:prstGeom>
          <a:solidFill>
            <a:srgbClr val="FF0000"/>
          </a:solidFill>
          <a:ln w="38100" cap="flat" cmpd="sng">
            <a:solidFill>
              <a:srgbClr val="FF00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600">
                <a:latin typeface="Roboto"/>
                <a:ea typeface="Roboto"/>
                <a:cs typeface="Roboto"/>
                <a:sym typeface="Roboto"/>
              </a:rPr>
              <a:t>1</a:t>
            </a:r>
            <a:endParaRPr sz="600">
              <a:latin typeface="Roboto"/>
              <a:ea typeface="Roboto"/>
              <a:cs typeface="Roboto"/>
              <a:sym typeface="Roboto"/>
            </a:endParaRPr>
          </a:p>
        </p:txBody>
      </p:sp>
      <p:sp>
        <p:nvSpPr>
          <p:cNvPr id="422" name="Google Shape;422;p52"/>
          <p:cNvSpPr/>
          <p:nvPr/>
        </p:nvSpPr>
        <p:spPr>
          <a:xfrm>
            <a:off x="1754595" y="1579400"/>
            <a:ext cx="257400" cy="257400"/>
          </a:xfrm>
          <a:prstGeom prst="ellipse">
            <a:avLst/>
          </a:prstGeom>
          <a:solidFill>
            <a:srgbClr val="FFFF00"/>
          </a:solidFill>
          <a:ln w="381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600">
                <a:latin typeface="Roboto"/>
                <a:ea typeface="Roboto"/>
                <a:cs typeface="Roboto"/>
                <a:sym typeface="Roboto"/>
              </a:rPr>
              <a:t>2</a:t>
            </a:r>
            <a:endParaRPr sz="600">
              <a:latin typeface="Roboto"/>
              <a:ea typeface="Roboto"/>
              <a:cs typeface="Roboto"/>
              <a:sym typeface="Roboto"/>
            </a:endParaRPr>
          </a:p>
        </p:txBody>
      </p:sp>
      <p:sp>
        <p:nvSpPr>
          <p:cNvPr id="423" name="Google Shape;423;p52"/>
          <p:cNvSpPr/>
          <p:nvPr/>
        </p:nvSpPr>
        <p:spPr>
          <a:xfrm>
            <a:off x="2093390" y="1579400"/>
            <a:ext cx="257400" cy="257400"/>
          </a:xfrm>
          <a:prstGeom prst="ellipse">
            <a:avLst/>
          </a:prstGeom>
          <a:solidFill>
            <a:srgbClr val="FFFF00"/>
          </a:solidFill>
          <a:ln w="381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600">
                <a:latin typeface="Roboto"/>
                <a:ea typeface="Roboto"/>
                <a:cs typeface="Roboto"/>
                <a:sym typeface="Roboto"/>
              </a:rPr>
              <a:t>3</a:t>
            </a:r>
            <a:endParaRPr sz="600">
              <a:latin typeface="Roboto"/>
              <a:ea typeface="Roboto"/>
              <a:cs typeface="Roboto"/>
              <a:sym typeface="Roboto"/>
            </a:endParaRPr>
          </a:p>
        </p:txBody>
      </p:sp>
      <p:sp>
        <p:nvSpPr>
          <p:cNvPr id="424" name="Google Shape;424;p52"/>
          <p:cNvSpPr/>
          <p:nvPr/>
        </p:nvSpPr>
        <p:spPr>
          <a:xfrm>
            <a:off x="1415800" y="1918181"/>
            <a:ext cx="257400" cy="257400"/>
          </a:xfrm>
          <a:prstGeom prst="ellipse">
            <a:avLst/>
          </a:prstGeom>
          <a:solidFill>
            <a:srgbClr val="FFFF00"/>
          </a:solidFill>
          <a:ln w="381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600">
                <a:latin typeface="Roboto"/>
                <a:ea typeface="Roboto"/>
                <a:cs typeface="Roboto"/>
                <a:sym typeface="Roboto"/>
              </a:rPr>
              <a:t>4</a:t>
            </a:r>
            <a:endParaRPr sz="600">
              <a:latin typeface="Roboto"/>
              <a:ea typeface="Roboto"/>
              <a:cs typeface="Roboto"/>
              <a:sym typeface="Roboto"/>
            </a:endParaRPr>
          </a:p>
        </p:txBody>
      </p:sp>
      <p:sp>
        <p:nvSpPr>
          <p:cNvPr id="425" name="Google Shape;425;p52"/>
          <p:cNvSpPr/>
          <p:nvPr/>
        </p:nvSpPr>
        <p:spPr>
          <a:xfrm>
            <a:off x="1754595" y="1918181"/>
            <a:ext cx="257400" cy="257400"/>
          </a:xfrm>
          <a:prstGeom prst="ellipse">
            <a:avLst/>
          </a:prstGeom>
          <a:solidFill>
            <a:srgbClr val="FFFF00"/>
          </a:solidFill>
          <a:ln w="381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600">
                <a:latin typeface="Roboto"/>
                <a:ea typeface="Roboto"/>
                <a:cs typeface="Roboto"/>
                <a:sym typeface="Roboto"/>
              </a:rPr>
              <a:t>5</a:t>
            </a:r>
            <a:endParaRPr sz="600">
              <a:latin typeface="Roboto"/>
              <a:ea typeface="Roboto"/>
              <a:cs typeface="Roboto"/>
              <a:sym typeface="Roboto"/>
            </a:endParaRPr>
          </a:p>
        </p:txBody>
      </p:sp>
      <p:sp>
        <p:nvSpPr>
          <p:cNvPr id="426" name="Google Shape;426;p52"/>
          <p:cNvSpPr/>
          <p:nvPr/>
        </p:nvSpPr>
        <p:spPr>
          <a:xfrm>
            <a:off x="2093390" y="1918181"/>
            <a:ext cx="257400" cy="257400"/>
          </a:xfrm>
          <a:prstGeom prst="ellipse">
            <a:avLst/>
          </a:prstGeom>
          <a:solidFill>
            <a:srgbClr val="FFFF00"/>
          </a:solidFill>
          <a:ln w="381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600">
                <a:latin typeface="Roboto"/>
                <a:ea typeface="Roboto"/>
                <a:cs typeface="Roboto"/>
                <a:sym typeface="Roboto"/>
              </a:rPr>
              <a:t>6</a:t>
            </a:r>
            <a:endParaRPr sz="600">
              <a:latin typeface="Roboto"/>
              <a:ea typeface="Roboto"/>
              <a:cs typeface="Roboto"/>
              <a:sym typeface="Roboto"/>
            </a:endParaRPr>
          </a:p>
        </p:txBody>
      </p:sp>
      <p:sp>
        <p:nvSpPr>
          <p:cNvPr id="427" name="Google Shape;427;p52"/>
          <p:cNvSpPr/>
          <p:nvPr/>
        </p:nvSpPr>
        <p:spPr>
          <a:xfrm>
            <a:off x="1415800" y="2256963"/>
            <a:ext cx="257400" cy="257400"/>
          </a:xfrm>
          <a:prstGeom prst="ellipse">
            <a:avLst/>
          </a:prstGeom>
          <a:solidFill>
            <a:srgbClr val="FFFF00"/>
          </a:solidFill>
          <a:ln w="381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600">
                <a:latin typeface="Roboto"/>
                <a:ea typeface="Roboto"/>
                <a:cs typeface="Roboto"/>
                <a:sym typeface="Roboto"/>
              </a:rPr>
              <a:t>7</a:t>
            </a:r>
            <a:endParaRPr sz="600">
              <a:latin typeface="Roboto"/>
              <a:ea typeface="Roboto"/>
              <a:cs typeface="Roboto"/>
              <a:sym typeface="Roboto"/>
            </a:endParaRPr>
          </a:p>
        </p:txBody>
      </p:sp>
      <p:sp>
        <p:nvSpPr>
          <p:cNvPr id="428" name="Google Shape;428;p52"/>
          <p:cNvSpPr/>
          <p:nvPr/>
        </p:nvSpPr>
        <p:spPr>
          <a:xfrm>
            <a:off x="1754595" y="2256963"/>
            <a:ext cx="257400" cy="257400"/>
          </a:xfrm>
          <a:prstGeom prst="ellipse">
            <a:avLst/>
          </a:prstGeom>
          <a:solidFill>
            <a:srgbClr val="FFFF00"/>
          </a:solidFill>
          <a:ln w="381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600">
                <a:latin typeface="Roboto"/>
                <a:ea typeface="Roboto"/>
                <a:cs typeface="Roboto"/>
                <a:sym typeface="Roboto"/>
              </a:rPr>
              <a:t>8</a:t>
            </a:r>
            <a:endParaRPr sz="600">
              <a:latin typeface="Roboto"/>
              <a:ea typeface="Roboto"/>
              <a:cs typeface="Roboto"/>
              <a:sym typeface="Roboto"/>
            </a:endParaRPr>
          </a:p>
        </p:txBody>
      </p:sp>
      <p:sp>
        <p:nvSpPr>
          <p:cNvPr id="429" name="Google Shape;429;p52"/>
          <p:cNvSpPr/>
          <p:nvPr/>
        </p:nvSpPr>
        <p:spPr>
          <a:xfrm>
            <a:off x="2093390" y="2256963"/>
            <a:ext cx="257400" cy="257400"/>
          </a:xfrm>
          <a:prstGeom prst="ellipse">
            <a:avLst/>
          </a:prstGeom>
          <a:solidFill>
            <a:srgbClr val="FFFF00"/>
          </a:solidFill>
          <a:ln w="381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600">
                <a:latin typeface="Roboto"/>
                <a:ea typeface="Roboto"/>
                <a:cs typeface="Roboto"/>
                <a:sym typeface="Roboto"/>
              </a:rPr>
              <a:t>9</a:t>
            </a:r>
            <a:endParaRPr sz="600">
              <a:latin typeface="Roboto"/>
              <a:ea typeface="Roboto"/>
              <a:cs typeface="Roboto"/>
              <a:sym typeface="Roboto"/>
            </a:endParaRPr>
          </a:p>
        </p:txBody>
      </p:sp>
      <p:sp>
        <p:nvSpPr>
          <p:cNvPr id="430" name="Google Shape;430;p52"/>
          <p:cNvSpPr/>
          <p:nvPr/>
        </p:nvSpPr>
        <p:spPr>
          <a:xfrm>
            <a:off x="2808597" y="1579400"/>
            <a:ext cx="257400" cy="257400"/>
          </a:xfrm>
          <a:prstGeom prst="ellipse">
            <a:avLst/>
          </a:prstGeom>
          <a:solidFill>
            <a:srgbClr val="FFFF00"/>
          </a:solidFill>
          <a:ln w="381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600">
                <a:latin typeface="Roboto"/>
                <a:ea typeface="Roboto"/>
                <a:cs typeface="Roboto"/>
                <a:sym typeface="Roboto"/>
              </a:rPr>
              <a:t>1</a:t>
            </a:r>
            <a:endParaRPr sz="600">
              <a:latin typeface="Roboto"/>
              <a:ea typeface="Roboto"/>
              <a:cs typeface="Roboto"/>
              <a:sym typeface="Roboto"/>
            </a:endParaRPr>
          </a:p>
        </p:txBody>
      </p:sp>
      <p:sp>
        <p:nvSpPr>
          <p:cNvPr id="431" name="Google Shape;431;p52"/>
          <p:cNvSpPr/>
          <p:nvPr/>
        </p:nvSpPr>
        <p:spPr>
          <a:xfrm>
            <a:off x="3147392" y="1579400"/>
            <a:ext cx="257400" cy="257400"/>
          </a:xfrm>
          <a:prstGeom prst="ellipse">
            <a:avLst/>
          </a:prstGeom>
          <a:solidFill>
            <a:srgbClr val="FF0000"/>
          </a:solidFill>
          <a:ln w="38100" cap="flat" cmpd="sng">
            <a:solidFill>
              <a:srgbClr val="FF00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600">
                <a:latin typeface="Roboto"/>
                <a:ea typeface="Roboto"/>
                <a:cs typeface="Roboto"/>
                <a:sym typeface="Roboto"/>
              </a:rPr>
              <a:t>2</a:t>
            </a:r>
            <a:endParaRPr sz="600">
              <a:latin typeface="Roboto"/>
              <a:ea typeface="Roboto"/>
              <a:cs typeface="Roboto"/>
              <a:sym typeface="Roboto"/>
            </a:endParaRPr>
          </a:p>
        </p:txBody>
      </p:sp>
      <p:sp>
        <p:nvSpPr>
          <p:cNvPr id="432" name="Google Shape;432;p52"/>
          <p:cNvSpPr/>
          <p:nvPr/>
        </p:nvSpPr>
        <p:spPr>
          <a:xfrm>
            <a:off x="3486188" y="1579400"/>
            <a:ext cx="257400" cy="257400"/>
          </a:xfrm>
          <a:prstGeom prst="ellipse">
            <a:avLst/>
          </a:prstGeom>
          <a:solidFill>
            <a:srgbClr val="FFFF00"/>
          </a:solidFill>
          <a:ln w="381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600">
                <a:latin typeface="Roboto"/>
                <a:ea typeface="Roboto"/>
                <a:cs typeface="Roboto"/>
                <a:sym typeface="Roboto"/>
              </a:rPr>
              <a:t>3</a:t>
            </a:r>
            <a:endParaRPr sz="600">
              <a:latin typeface="Roboto"/>
              <a:ea typeface="Roboto"/>
              <a:cs typeface="Roboto"/>
              <a:sym typeface="Roboto"/>
            </a:endParaRPr>
          </a:p>
        </p:txBody>
      </p:sp>
      <p:sp>
        <p:nvSpPr>
          <p:cNvPr id="433" name="Google Shape;433;p52"/>
          <p:cNvSpPr/>
          <p:nvPr/>
        </p:nvSpPr>
        <p:spPr>
          <a:xfrm>
            <a:off x="2808597" y="1918181"/>
            <a:ext cx="257400" cy="257400"/>
          </a:xfrm>
          <a:prstGeom prst="ellipse">
            <a:avLst/>
          </a:prstGeom>
          <a:solidFill>
            <a:srgbClr val="FFFF00"/>
          </a:solidFill>
          <a:ln w="381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600">
                <a:latin typeface="Roboto"/>
                <a:ea typeface="Roboto"/>
                <a:cs typeface="Roboto"/>
                <a:sym typeface="Roboto"/>
              </a:rPr>
              <a:t>4</a:t>
            </a:r>
            <a:endParaRPr sz="600">
              <a:latin typeface="Roboto"/>
              <a:ea typeface="Roboto"/>
              <a:cs typeface="Roboto"/>
              <a:sym typeface="Roboto"/>
            </a:endParaRPr>
          </a:p>
        </p:txBody>
      </p:sp>
      <p:sp>
        <p:nvSpPr>
          <p:cNvPr id="434" name="Google Shape;434;p52"/>
          <p:cNvSpPr/>
          <p:nvPr/>
        </p:nvSpPr>
        <p:spPr>
          <a:xfrm>
            <a:off x="3147392" y="1918181"/>
            <a:ext cx="257400" cy="257400"/>
          </a:xfrm>
          <a:prstGeom prst="ellipse">
            <a:avLst/>
          </a:prstGeom>
          <a:solidFill>
            <a:srgbClr val="FFFF00"/>
          </a:solidFill>
          <a:ln w="381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600">
                <a:latin typeface="Roboto"/>
                <a:ea typeface="Roboto"/>
                <a:cs typeface="Roboto"/>
                <a:sym typeface="Roboto"/>
              </a:rPr>
              <a:t>5</a:t>
            </a:r>
            <a:endParaRPr sz="600">
              <a:latin typeface="Roboto"/>
              <a:ea typeface="Roboto"/>
              <a:cs typeface="Roboto"/>
              <a:sym typeface="Roboto"/>
            </a:endParaRPr>
          </a:p>
        </p:txBody>
      </p:sp>
      <p:sp>
        <p:nvSpPr>
          <p:cNvPr id="435" name="Google Shape;435;p52"/>
          <p:cNvSpPr/>
          <p:nvPr/>
        </p:nvSpPr>
        <p:spPr>
          <a:xfrm>
            <a:off x="3486188" y="1918181"/>
            <a:ext cx="257400" cy="257400"/>
          </a:xfrm>
          <a:prstGeom prst="ellipse">
            <a:avLst/>
          </a:prstGeom>
          <a:solidFill>
            <a:srgbClr val="FFFF00"/>
          </a:solidFill>
          <a:ln w="381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600">
                <a:latin typeface="Roboto"/>
                <a:ea typeface="Roboto"/>
                <a:cs typeface="Roboto"/>
                <a:sym typeface="Roboto"/>
              </a:rPr>
              <a:t>6</a:t>
            </a:r>
            <a:endParaRPr sz="600">
              <a:latin typeface="Roboto"/>
              <a:ea typeface="Roboto"/>
              <a:cs typeface="Roboto"/>
              <a:sym typeface="Roboto"/>
            </a:endParaRPr>
          </a:p>
        </p:txBody>
      </p:sp>
      <p:sp>
        <p:nvSpPr>
          <p:cNvPr id="436" name="Google Shape;436;p52"/>
          <p:cNvSpPr/>
          <p:nvPr/>
        </p:nvSpPr>
        <p:spPr>
          <a:xfrm>
            <a:off x="2808597" y="2256963"/>
            <a:ext cx="257400" cy="257400"/>
          </a:xfrm>
          <a:prstGeom prst="ellipse">
            <a:avLst/>
          </a:prstGeom>
          <a:solidFill>
            <a:srgbClr val="FFFF00"/>
          </a:solidFill>
          <a:ln w="381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600">
                <a:latin typeface="Roboto"/>
                <a:ea typeface="Roboto"/>
                <a:cs typeface="Roboto"/>
                <a:sym typeface="Roboto"/>
              </a:rPr>
              <a:t>7</a:t>
            </a:r>
            <a:endParaRPr sz="600">
              <a:latin typeface="Roboto"/>
              <a:ea typeface="Roboto"/>
              <a:cs typeface="Roboto"/>
              <a:sym typeface="Roboto"/>
            </a:endParaRPr>
          </a:p>
        </p:txBody>
      </p:sp>
      <p:sp>
        <p:nvSpPr>
          <p:cNvPr id="437" name="Google Shape;437;p52"/>
          <p:cNvSpPr/>
          <p:nvPr/>
        </p:nvSpPr>
        <p:spPr>
          <a:xfrm>
            <a:off x="3147392" y="2256963"/>
            <a:ext cx="257400" cy="257400"/>
          </a:xfrm>
          <a:prstGeom prst="ellipse">
            <a:avLst/>
          </a:prstGeom>
          <a:solidFill>
            <a:srgbClr val="FFFF00"/>
          </a:solidFill>
          <a:ln w="381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600">
                <a:latin typeface="Roboto"/>
                <a:ea typeface="Roboto"/>
                <a:cs typeface="Roboto"/>
                <a:sym typeface="Roboto"/>
              </a:rPr>
              <a:t>8</a:t>
            </a:r>
            <a:endParaRPr sz="600">
              <a:latin typeface="Roboto"/>
              <a:ea typeface="Roboto"/>
              <a:cs typeface="Roboto"/>
              <a:sym typeface="Roboto"/>
            </a:endParaRPr>
          </a:p>
        </p:txBody>
      </p:sp>
      <p:sp>
        <p:nvSpPr>
          <p:cNvPr id="438" name="Google Shape;438;p52"/>
          <p:cNvSpPr/>
          <p:nvPr/>
        </p:nvSpPr>
        <p:spPr>
          <a:xfrm>
            <a:off x="3486188" y="2256963"/>
            <a:ext cx="257400" cy="257400"/>
          </a:xfrm>
          <a:prstGeom prst="ellipse">
            <a:avLst/>
          </a:prstGeom>
          <a:solidFill>
            <a:srgbClr val="FFFF00"/>
          </a:solidFill>
          <a:ln w="381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600">
                <a:latin typeface="Roboto"/>
                <a:ea typeface="Roboto"/>
                <a:cs typeface="Roboto"/>
                <a:sym typeface="Roboto"/>
              </a:rPr>
              <a:t>9</a:t>
            </a:r>
            <a:endParaRPr sz="600">
              <a:latin typeface="Roboto"/>
              <a:ea typeface="Roboto"/>
              <a:cs typeface="Roboto"/>
              <a:sym typeface="Roboto"/>
            </a:endParaRPr>
          </a:p>
        </p:txBody>
      </p:sp>
      <p:sp>
        <p:nvSpPr>
          <p:cNvPr id="439" name="Google Shape;439;p52"/>
          <p:cNvSpPr/>
          <p:nvPr/>
        </p:nvSpPr>
        <p:spPr>
          <a:xfrm>
            <a:off x="4201395" y="1579400"/>
            <a:ext cx="257400" cy="257400"/>
          </a:xfrm>
          <a:prstGeom prst="ellipse">
            <a:avLst/>
          </a:prstGeom>
          <a:solidFill>
            <a:srgbClr val="FFFF00"/>
          </a:solidFill>
          <a:ln w="381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600">
                <a:latin typeface="Roboto"/>
                <a:ea typeface="Roboto"/>
                <a:cs typeface="Roboto"/>
                <a:sym typeface="Roboto"/>
              </a:rPr>
              <a:t>1</a:t>
            </a:r>
            <a:endParaRPr sz="600">
              <a:latin typeface="Roboto"/>
              <a:ea typeface="Roboto"/>
              <a:cs typeface="Roboto"/>
              <a:sym typeface="Roboto"/>
            </a:endParaRPr>
          </a:p>
        </p:txBody>
      </p:sp>
      <p:sp>
        <p:nvSpPr>
          <p:cNvPr id="440" name="Google Shape;440;p52"/>
          <p:cNvSpPr/>
          <p:nvPr/>
        </p:nvSpPr>
        <p:spPr>
          <a:xfrm>
            <a:off x="4540190" y="1579400"/>
            <a:ext cx="257400" cy="257400"/>
          </a:xfrm>
          <a:prstGeom prst="ellipse">
            <a:avLst/>
          </a:prstGeom>
          <a:solidFill>
            <a:srgbClr val="FFFF00"/>
          </a:solidFill>
          <a:ln w="381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600">
                <a:latin typeface="Roboto"/>
                <a:ea typeface="Roboto"/>
                <a:cs typeface="Roboto"/>
                <a:sym typeface="Roboto"/>
              </a:rPr>
              <a:t>2</a:t>
            </a:r>
            <a:endParaRPr sz="600">
              <a:latin typeface="Roboto"/>
              <a:ea typeface="Roboto"/>
              <a:cs typeface="Roboto"/>
              <a:sym typeface="Roboto"/>
            </a:endParaRPr>
          </a:p>
        </p:txBody>
      </p:sp>
      <p:sp>
        <p:nvSpPr>
          <p:cNvPr id="441" name="Google Shape;441;p52"/>
          <p:cNvSpPr/>
          <p:nvPr/>
        </p:nvSpPr>
        <p:spPr>
          <a:xfrm>
            <a:off x="4878985" y="1579400"/>
            <a:ext cx="257400" cy="257400"/>
          </a:xfrm>
          <a:prstGeom prst="ellipse">
            <a:avLst/>
          </a:prstGeom>
          <a:solidFill>
            <a:srgbClr val="FF0000"/>
          </a:solidFill>
          <a:ln w="38100" cap="flat" cmpd="sng">
            <a:solidFill>
              <a:srgbClr val="FF00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600">
                <a:latin typeface="Roboto"/>
                <a:ea typeface="Roboto"/>
                <a:cs typeface="Roboto"/>
                <a:sym typeface="Roboto"/>
              </a:rPr>
              <a:t>3</a:t>
            </a:r>
            <a:endParaRPr sz="600">
              <a:latin typeface="Roboto"/>
              <a:ea typeface="Roboto"/>
              <a:cs typeface="Roboto"/>
              <a:sym typeface="Roboto"/>
            </a:endParaRPr>
          </a:p>
        </p:txBody>
      </p:sp>
      <p:sp>
        <p:nvSpPr>
          <p:cNvPr id="442" name="Google Shape;442;p52"/>
          <p:cNvSpPr/>
          <p:nvPr/>
        </p:nvSpPr>
        <p:spPr>
          <a:xfrm>
            <a:off x="4201395" y="1918181"/>
            <a:ext cx="257400" cy="257400"/>
          </a:xfrm>
          <a:prstGeom prst="ellipse">
            <a:avLst/>
          </a:prstGeom>
          <a:solidFill>
            <a:srgbClr val="FFFF00"/>
          </a:solidFill>
          <a:ln w="381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600">
                <a:latin typeface="Roboto"/>
                <a:ea typeface="Roboto"/>
                <a:cs typeface="Roboto"/>
                <a:sym typeface="Roboto"/>
              </a:rPr>
              <a:t>4</a:t>
            </a:r>
            <a:endParaRPr sz="600">
              <a:latin typeface="Roboto"/>
              <a:ea typeface="Roboto"/>
              <a:cs typeface="Roboto"/>
              <a:sym typeface="Roboto"/>
            </a:endParaRPr>
          </a:p>
        </p:txBody>
      </p:sp>
      <p:sp>
        <p:nvSpPr>
          <p:cNvPr id="443" name="Google Shape;443;p52"/>
          <p:cNvSpPr/>
          <p:nvPr/>
        </p:nvSpPr>
        <p:spPr>
          <a:xfrm>
            <a:off x="4540190" y="1918181"/>
            <a:ext cx="257400" cy="257400"/>
          </a:xfrm>
          <a:prstGeom prst="ellipse">
            <a:avLst/>
          </a:prstGeom>
          <a:solidFill>
            <a:srgbClr val="FFFF00"/>
          </a:solidFill>
          <a:ln w="381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600">
                <a:latin typeface="Roboto"/>
                <a:ea typeface="Roboto"/>
                <a:cs typeface="Roboto"/>
                <a:sym typeface="Roboto"/>
              </a:rPr>
              <a:t>5</a:t>
            </a:r>
            <a:endParaRPr sz="600">
              <a:latin typeface="Roboto"/>
              <a:ea typeface="Roboto"/>
              <a:cs typeface="Roboto"/>
              <a:sym typeface="Roboto"/>
            </a:endParaRPr>
          </a:p>
        </p:txBody>
      </p:sp>
      <p:sp>
        <p:nvSpPr>
          <p:cNvPr id="444" name="Google Shape;444;p52"/>
          <p:cNvSpPr/>
          <p:nvPr/>
        </p:nvSpPr>
        <p:spPr>
          <a:xfrm>
            <a:off x="4878985" y="1918181"/>
            <a:ext cx="257400" cy="257400"/>
          </a:xfrm>
          <a:prstGeom prst="ellipse">
            <a:avLst/>
          </a:prstGeom>
          <a:solidFill>
            <a:srgbClr val="FFFF00"/>
          </a:solidFill>
          <a:ln w="381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600">
                <a:latin typeface="Roboto"/>
                <a:ea typeface="Roboto"/>
                <a:cs typeface="Roboto"/>
                <a:sym typeface="Roboto"/>
              </a:rPr>
              <a:t>6</a:t>
            </a:r>
            <a:endParaRPr sz="600">
              <a:latin typeface="Roboto"/>
              <a:ea typeface="Roboto"/>
              <a:cs typeface="Roboto"/>
              <a:sym typeface="Roboto"/>
            </a:endParaRPr>
          </a:p>
        </p:txBody>
      </p:sp>
      <p:sp>
        <p:nvSpPr>
          <p:cNvPr id="445" name="Google Shape;445;p52"/>
          <p:cNvSpPr/>
          <p:nvPr/>
        </p:nvSpPr>
        <p:spPr>
          <a:xfrm>
            <a:off x="4201395" y="2256963"/>
            <a:ext cx="257400" cy="257400"/>
          </a:xfrm>
          <a:prstGeom prst="ellipse">
            <a:avLst/>
          </a:prstGeom>
          <a:solidFill>
            <a:srgbClr val="FFFF00"/>
          </a:solidFill>
          <a:ln w="381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600">
                <a:latin typeface="Roboto"/>
                <a:ea typeface="Roboto"/>
                <a:cs typeface="Roboto"/>
                <a:sym typeface="Roboto"/>
              </a:rPr>
              <a:t>7</a:t>
            </a:r>
            <a:endParaRPr sz="600">
              <a:latin typeface="Roboto"/>
              <a:ea typeface="Roboto"/>
              <a:cs typeface="Roboto"/>
              <a:sym typeface="Roboto"/>
            </a:endParaRPr>
          </a:p>
        </p:txBody>
      </p:sp>
      <p:sp>
        <p:nvSpPr>
          <p:cNvPr id="446" name="Google Shape;446;p52"/>
          <p:cNvSpPr/>
          <p:nvPr/>
        </p:nvSpPr>
        <p:spPr>
          <a:xfrm>
            <a:off x="4540190" y="2256963"/>
            <a:ext cx="257400" cy="257400"/>
          </a:xfrm>
          <a:prstGeom prst="ellipse">
            <a:avLst/>
          </a:prstGeom>
          <a:solidFill>
            <a:srgbClr val="FFFF00"/>
          </a:solidFill>
          <a:ln w="381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600">
                <a:latin typeface="Roboto"/>
                <a:ea typeface="Roboto"/>
                <a:cs typeface="Roboto"/>
                <a:sym typeface="Roboto"/>
              </a:rPr>
              <a:t>8</a:t>
            </a:r>
            <a:endParaRPr sz="600">
              <a:latin typeface="Roboto"/>
              <a:ea typeface="Roboto"/>
              <a:cs typeface="Roboto"/>
              <a:sym typeface="Roboto"/>
            </a:endParaRPr>
          </a:p>
        </p:txBody>
      </p:sp>
      <p:sp>
        <p:nvSpPr>
          <p:cNvPr id="447" name="Google Shape;447;p52"/>
          <p:cNvSpPr/>
          <p:nvPr/>
        </p:nvSpPr>
        <p:spPr>
          <a:xfrm>
            <a:off x="4878985" y="2256963"/>
            <a:ext cx="257400" cy="257400"/>
          </a:xfrm>
          <a:prstGeom prst="ellipse">
            <a:avLst/>
          </a:prstGeom>
          <a:solidFill>
            <a:srgbClr val="FFFF00"/>
          </a:solidFill>
          <a:ln w="381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600">
                <a:latin typeface="Roboto"/>
                <a:ea typeface="Roboto"/>
                <a:cs typeface="Roboto"/>
                <a:sym typeface="Roboto"/>
              </a:rPr>
              <a:t>9</a:t>
            </a:r>
            <a:endParaRPr sz="600">
              <a:latin typeface="Roboto"/>
              <a:ea typeface="Roboto"/>
              <a:cs typeface="Roboto"/>
              <a:sym typeface="Roboto"/>
            </a:endParaRPr>
          </a:p>
        </p:txBody>
      </p:sp>
      <p:sp>
        <p:nvSpPr>
          <p:cNvPr id="448" name="Google Shape;448;p52"/>
          <p:cNvSpPr/>
          <p:nvPr/>
        </p:nvSpPr>
        <p:spPr>
          <a:xfrm>
            <a:off x="1415800" y="2788686"/>
            <a:ext cx="257400" cy="257400"/>
          </a:xfrm>
          <a:prstGeom prst="ellipse">
            <a:avLst/>
          </a:prstGeom>
          <a:solidFill>
            <a:srgbClr val="FFFF00"/>
          </a:solidFill>
          <a:ln w="381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600">
                <a:latin typeface="Roboto"/>
                <a:ea typeface="Roboto"/>
                <a:cs typeface="Roboto"/>
                <a:sym typeface="Roboto"/>
              </a:rPr>
              <a:t>1</a:t>
            </a:r>
            <a:endParaRPr sz="600">
              <a:latin typeface="Roboto"/>
              <a:ea typeface="Roboto"/>
              <a:cs typeface="Roboto"/>
              <a:sym typeface="Roboto"/>
            </a:endParaRPr>
          </a:p>
        </p:txBody>
      </p:sp>
      <p:sp>
        <p:nvSpPr>
          <p:cNvPr id="449" name="Google Shape;449;p52"/>
          <p:cNvSpPr/>
          <p:nvPr/>
        </p:nvSpPr>
        <p:spPr>
          <a:xfrm>
            <a:off x="1754595" y="2788686"/>
            <a:ext cx="257400" cy="257400"/>
          </a:xfrm>
          <a:prstGeom prst="ellipse">
            <a:avLst/>
          </a:prstGeom>
          <a:solidFill>
            <a:srgbClr val="FFFF00"/>
          </a:solidFill>
          <a:ln w="381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600">
                <a:latin typeface="Roboto"/>
                <a:ea typeface="Roboto"/>
                <a:cs typeface="Roboto"/>
                <a:sym typeface="Roboto"/>
              </a:rPr>
              <a:t>2</a:t>
            </a:r>
            <a:endParaRPr sz="600">
              <a:latin typeface="Roboto"/>
              <a:ea typeface="Roboto"/>
              <a:cs typeface="Roboto"/>
              <a:sym typeface="Roboto"/>
            </a:endParaRPr>
          </a:p>
        </p:txBody>
      </p:sp>
      <p:sp>
        <p:nvSpPr>
          <p:cNvPr id="450" name="Google Shape;450;p52"/>
          <p:cNvSpPr/>
          <p:nvPr/>
        </p:nvSpPr>
        <p:spPr>
          <a:xfrm>
            <a:off x="2093390" y="2788686"/>
            <a:ext cx="257400" cy="257400"/>
          </a:xfrm>
          <a:prstGeom prst="ellipse">
            <a:avLst/>
          </a:prstGeom>
          <a:solidFill>
            <a:srgbClr val="FFFF00"/>
          </a:solidFill>
          <a:ln w="381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600">
                <a:latin typeface="Roboto"/>
                <a:ea typeface="Roboto"/>
                <a:cs typeface="Roboto"/>
                <a:sym typeface="Roboto"/>
              </a:rPr>
              <a:t>3</a:t>
            </a:r>
            <a:endParaRPr sz="600">
              <a:latin typeface="Roboto"/>
              <a:ea typeface="Roboto"/>
              <a:cs typeface="Roboto"/>
              <a:sym typeface="Roboto"/>
            </a:endParaRPr>
          </a:p>
        </p:txBody>
      </p:sp>
      <p:sp>
        <p:nvSpPr>
          <p:cNvPr id="451" name="Google Shape;451;p52"/>
          <p:cNvSpPr/>
          <p:nvPr/>
        </p:nvSpPr>
        <p:spPr>
          <a:xfrm>
            <a:off x="1415800" y="3127467"/>
            <a:ext cx="257400" cy="257400"/>
          </a:xfrm>
          <a:prstGeom prst="ellipse">
            <a:avLst/>
          </a:prstGeom>
          <a:solidFill>
            <a:srgbClr val="FF0000"/>
          </a:solidFill>
          <a:ln w="38100" cap="flat" cmpd="sng">
            <a:solidFill>
              <a:srgbClr val="FF00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600">
                <a:latin typeface="Roboto"/>
                <a:ea typeface="Roboto"/>
                <a:cs typeface="Roboto"/>
                <a:sym typeface="Roboto"/>
              </a:rPr>
              <a:t>4</a:t>
            </a:r>
            <a:endParaRPr sz="600">
              <a:latin typeface="Roboto"/>
              <a:ea typeface="Roboto"/>
              <a:cs typeface="Roboto"/>
              <a:sym typeface="Roboto"/>
            </a:endParaRPr>
          </a:p>
        </p:txBody>
      </p:sp>
      <p:sp>
        <p:nvSpPr>
          <p:cNvPr id="452" name="Google Shape;452;p52"/>
          <p:cNvSpPr/>
          <p:nvPr/>
        </p:nvSpPr>
        <p:spPr>
          <a:xfrm>
            <a:off x="1754595" y="3127467"/>
            <a:ext cx="257400" cy="257400"/>
          </a:xfrm>
          <a:prstGeom prst="ellipse">
            <a:avLst/>
          </a:prstGeom>
          <a:solidFill>
            <a:srgbClr val="FFFF00"/>
          </a:solidFill>
          <a:ln w="381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600">
                <a:latin typeface="Roboto"/>
                <a:ea typeface="Roboto"/>
                <a:cs typeface="Roboto"/>
                <a:sym typeface="Roboto"/>
              </a:rPr>
              <a:t>5</a:t>
            </a:r>
            <a:endParaRPr sz="600">
              <a:latin typeface="Roboto"/>
              <a:ea typeface="Roboto"/>
              <a:cs typeface="Roboto"/>
              <a:sym typeface="Roboto"/>
            </a:endParaRPr>
          </a:p>
        </p:txBody>
      </p:sp>
      <p:sp>
        <p:nvSpPr>
          <p:cNvPr id="453" name="Google Shape;453;p52"/>
          <p:cNvSpPr/>
          <p:nvPr/>
        </p:nvSpPr>
        <p:spPr>
          <a:xfrm>
            <a:off x="2093390" y="3127467"/>
            <a:ext cx="257400" cy="257400"/>
          </a:xfrm>
          <a:prstGeom prst="ellipse">
            <a:avLst/>
          </a:prstGeom>
          <a:solidFill>
            <a:srgbClr val="FFFF00"/>
          </a:solidFill>
          <a:ln w="381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600">
                <a:latin typeface="Roboto"/>
                <a:ea typeface="Roboto"/>
                <a:cs typeface="Roboto"/>
                <a:sym typeface="Roboto"/>
              </a:rPr>
              <a:t>6</a:t>
            </a:r>
            <a:endParaRPr sz="600">
              <a:latin typeface="Roboto"/>
              <a:ea typeface="Roboto"/>
              <a:cs typeface="Roboto"/>
              <a:sym typeface="Roboto"/>
            </a:endParaRPr>
          </a:p>
        </p:txBody>
      </p:sp>
      <p:sp>
        <p:nvSpPr>
          <p:cNvPr id="454" name="Google Shape;454;p52"/>
          <p:cNvSpPr/>
          <p:nvPr/>
        </p:nvSpPr>
        <p:spPr>
          <a:xfrm>
            <a:off x="1415800" y="3466249"/>
            <a:ext cx="257400" cy="257400"/>
          </a:xfrm>
          <a:prstGeom prst="ellipse">
            <a:avLst/>
          </a:prstGeom>
          <a:solidFill>
            <a:srgbClr val="FFFF00"/>
          </a:solidFill>
          <a:ln w="381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600">
                <a:latin typeface="Roboto"/>
                <a:ea typeface="Roboto"/>
                <a:cs typeface="Roboto"/>
                <a:sym typeface="Roboto"/>
              </a:rPr>
              <a:t>7</a:t>
            </a:r>
            <a:endParaRPr sz="600">
              <a:latin typeface="Roboto"/>
              <a:ea typeface="Roboto"/>
              <a:cs typeface="Roboto"/>
              <a:sym typeface="Roboto"/>
            </a:endParaRPr>
          </a:p>
        </p:txBody>
      </p:sp>
      <p:sp>
        <p:nvSpPr>
          <p:cNvPr id="455" name="Google Shape;455;p52"/>
          <p:cNvSpPr/>
          <p:nvPr/>
        </p:nvSpPr>
        <p:spPr>
          <a:xfrm>
            <a:off x="1754595" y="3466249"/>
            <a:ext cx="257400" cy="257400"/>
          </a:xfrm>
          <a:prstGeom prst="ellipse">
            <a:avLst/>
          </a:prstGeom>
          <a:solidFill>
            <a:srgbClr val="FFFF00"/>
          </a:solidFill>
          <a:ln w="381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600">
                <a:latin typeface="Roboto"/>
                <a:ea typeface="Roboto"/>
                <a:cs typeface="Roboto"/>
                <a:sym typeface="Roboto"/>
              </a:rPr>
              <a:t>8</a:t>
            </a:r>
            <a:endParaRPr sz="600">
              <a:latin typeface="Roboto"/>
              <a:ea typeface="Roboto"/>
              <a:cs typeface="Roboto"/>
              <a:sym typeface="Roboto"/>
            </a:endParaRPr>
          </a:p>
        </p:txBody>
      </p:sp>
      <p:sp>
        <p:nvSpPr>
          <p:cNvPr id="456" name="Google Shape;456;p52"/>
          <p:cNvSpPr/>
          <p:nvPr/>
        </p:nvSpPr>
        <p:spPr>
          <a:xfrm>
            <a:off x="2093390" y="3466249"/>
            <a:ext cx="257400" cy="257400"/>
          </a:xfrm>
          <a:prstGeom prst="ellipse">
            <a:avLst/>
          </a:prstGeom>
          <a:solidFill>
            <a:srgbClr val="FFFF00"/>
          </a:solidFill>
          <a:ln w="381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600">
                <a:latin typeface="Roboto"/>
                <a:ea typeface="Roboto"/>
                <a:cs typeface="Roboto"/>
                <a:sym typeface="Roboto"/>
              </a:rPr>
              <a:t>9</a:t>
            </a:r>
            <a:endParaRPr sz="600">
              <a:latin typeface="Roboto"/>
              <a:ea typeface="Roboto"/>
              <a:cs typeface="Roboto"/>
              <a:sym typeface="Roboto"/>
            </a:endParaRPr>
          </a:p>
        </p:txBody>
      </p:sp>
      <p:sp>
        <p:nvSpPr>
          <p:cNvPr id="457" name="Google Shape;457;p52"/>
          <p:cNvSpPr/>
          <p:nvPr/>
        </p:nvSpPr>
        <p:spPr>
          <a:xfrm>
            <a:off x="2808597" y="2788686"/>
            <a:ext cx="257400" cy="257400"/>
          </a:xfrm>
          <a:prstGeom prst="ellipse">
            <a:avLst/>
          </a:prstGeom>
          <a:solidFill>
            <a:srgbClr val="FFFF00"/>
          </a:solidFill>
          <a:ln w="381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600">
                <a:latin typeface="Roboto"/>
                <a:ea typeface="Roboto"/>
                <a:cs typeface="Roboto"/>
                <a:sym typeface="Roboto"/>
              </a:rPr>
              <a:t>1</a:t>
            </a:r>
            <a:endParaRPr sz="600">
              <a:latin typeface="Roboto"/>
              <a:ea typeface="Roboto"/>
              <a:cs typeface="Roboto"/>
              <a:sym typeface="Roboto"/>
            </a:endParaRPr>
          </a:p>
        </p:txBody>
      </p:sp>
      <p:sp>
        <p:nvSpPr>
          <p:cNvPr id="458" name="Google Shape;458;p52"/>
          <p:cNvSpPr/>
          <p:nvPr/>
        </p:nvSpPr>
        <p:spPr>
          <a:xfrm>
            <a:off x="3147392" y="2788686"/>
            <a:ext cx="257400" cy="257400"/>
          </a:xfrm>
          <a:prstGeom prst="ellipse">
            <a:avLst/>
          </a:prstGeom>
          <a:solidFill>
            <a:srgbClr val="FFFF00"/>
          </a:solidFill>
          <a:ln w="381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600">
                <a:latin typeface="Roboto"/>
                <a:ea typeface="Roboto"/>
                <a:cs typeface="Roboto"/>
                <a:sym typeface="Roboto"/>
              </a:rPr>
              <a:t>2</a:t>
            </a:r>
            <a:endParaRPr sz="600">
              <a:latin typeface="Roboto"/>
              <a:ea typeface="Roboto"/>
              <a:cs typeface="Roboto"/>
              <a:sym typeface="Roboto"/>
            </a:endParaRPr>
          </a:p>
        </p:txBody>
      </p:sp>
      <p:sp>
        <p:nvSpPr>
          <p:cNvPr id="459" name="Google Shape;459;p52"/>
          <p:cNvSpPr/>
          <p:nvPr/>
        </p:nvSpPr>
        <p:spPr>
          <a:xfrm>
            <a:off x="3486188" y="2788686"/>
            <a:ext cx="257400" cy="257400"/>
          </a:xfrm>
          <a:prstGeom prst="ellipse">
            <a:avLst/>
          </a:prstGeom>
          <a:solidFill>
            <a:srgbClr val="FFFF00"/>
          </a:solidFill>
          <a:ln w="381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600">
                <a:latin typeface="Roboto"/>
                <a:ea typeface="Roboto"/>
                <a:cs typeface="Roboto"/>
                <a:sym typeface="Roboto"/>
              </a:rPr>
              <a:t>3</a:t>
            </a:r>
            <a:endParaRPr sz="600">
              <a:latin typeface="Roboto"/>
              <a:ea typeface="Roboto"/>
              <a:cs typeface="Roboto"/>
              <a:sym typeface="Roboto"/>
            </a:endParaRPr>
          </a:p>
        </p:txBody>
      </p:sp>
      <p:sp>
        <p:nvSpPr>
          <p:cNvPr id="460" name="Google Shape;460;p52"/>
          <p:cNvSpPr/>
          <p:nvPr/>
        </p:nvSpPr>
        <p:spPr>
          <a:xfrm>
            <a:off x="2808597" y="3127467"/>
            <a:ext cx="257400" cy="257400"/>
          </a:xfrm>
          <a:prstGeom prst="ellipse">
            <a:avLst/>
          </a:prstGeom>
          <a:solidFill>
            <a:srgbClr val="FFFF00"/>
          </a:solidFill>
          <a:ln w="381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600">
                <a:latin typeface="Roboto"/>
                <a:ea typeface="Roboto"/>
                <a:cs typeface="Roboto"/>
                <a:sym typeface="Roboto"/>
              </a:rPr>
              <a:t>4</a:t>
            </a:r>
            <a:endParaRPr sz="600">
              <a:latin typeface="Roboto"/>
              <a:ea typeface="Roboto"/>
              <a:cs typeface="Roboto"/>
              <a:sym typeface="Roboto"/>
            </a:endParaRPr>
          </a:p>
        </p:txBody>
      </p:sp>
      <p:sp>
        <p:nvSpPr>
          <p:cNvPr id="461" name="Google Shape;461;p52"/>
          <p:cNvSpPr/>
          <p:nvPr/>
        </p:nvSpPr>
        <p:spPr>
          <a:xfrm>
            <a:off x="3147392" y="3127467"/>
            <a:ext cx="257400" cy="257400"/>
          </a:xfrm>
          <a:prstGeom prst="ellipse">
            <a:avLst/>
          </a:prstGeom>
          <a:solidFill>
            <a:srgbClr val="FF0000"/>
          </a:solidFill>
          <a:ln w="38100" cap="flat" cmpd="sng">
            <a:solidFill>
              <a:srgbClr val="FF00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600">
                <a:latin typeface="Roboto"/>
                <a:ea typeface="Roboto"/>
                <a:cs typeface="Roboto"/>
                <a:sym typeface="Roboto"/>
              </a:rPr>
              <a:t>5</a:t>
            </a:r>
            <a:endParaRPr sz="600">
              <a:latin typeface="Roboto"/>
              <a:ea typeface="Roboto"/>
              <a:cs typeface="Roboto"/>
              <a:sym typeface="Roboto"/>
            </a:endParaRPr>
          </a:p>
        </p:txBody>
      </p:sp>
      <p:sp>
        <p:nvSpPr>
          <p:cNvPr id="462" name="Google Shape;462;p52"/>
          <p:cNvSpPr/>
          <p:nvPr/>
        </p:nvSpPr>
        <p:spPr>
          <a:xfrm>
            <a:off x="3486188" y="3127467"/>
            <a:ext cx="257400" cy="257400"/>
          </a:xfrm>
          <a:prstGeom prst="ellipse">
            <a:avLst/>
          </a:prstGeom>
          <a:solidFill>
            <a:srgbClr val="FFFF00"/>
          </a:solidFill>
          <a:ln w="381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600">
                <a:latin typeface="Roboto"/>
                <a:ea typeface="Roboto"/>
                <a:cs typeface="Roboto"/>
                <a:sym typeface="Roboto"/>
              </a:rPr>
              <a:t>6</a:t>
            </a:r>
            <a:endParaRPr sz="600">
              <a:latin typeface="Roboto"/>
              <a:ea typeface="Roboto"/>
              <a:cs typeface="Roboto"/>
              <a:sym typeface="Roboto"/>
            </a:endParaRPr>
          </a:p>
        </p:txBody>
      </p:sp>
      <p:sp>
        <p:nvSpPr>
          <p:cNvPr id="463" name="Google Shape;463;p52"/>
          <p:cNvSpPr/>
          <p:nvPr/>
        </p:nvSpPr>
        <p:spPr>
          <a:xfrm>
            <a:off x="2808597" y="3466249"/>
            <a:ext cx="257400" cy="257400"/>
          </a:xfrm>
          <a:prstGeom prst="ellipse">
            <a:avLst/>
          </a:prstGeom>
          <a:solidFill>
            <a:srgbClr val="FFFF00"/>
          </a:solidFill>
          <a:ln w="381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600">
                <a:latin typeface="Roboto"/>
                <a:ea typeface="Roboto"/>
                <a:cs typeface="Roboto"/>
                <a:sym typeface="Roboto"/>
              </a:rPr>
              <a:t>7</a:t>
            </a:r>
            <a:endParaRPr sz="600">
              <a:latin typeface="Roboto"/>
              <a:ea typeface="Roboto"/>
              <a:cs typeface="Roboto"/>
              <a:sym typeface="Roboto"/>
            </a:endParaRPr>
          </a:p>
        </p:txBody>
      </p:sp>
      <p:sp>
        <p:nvSpPr>
          <p:cNvPr id="464" name="Google Shape;464;p52"/>
          <p:cNvSpPr/>
          <p:nvPr/>
        </p:nvSpPr>
        <p:spPr>
          <a:xfrm>
            <a:off x="3147392" y="3466249"/>
            <a:ext cx="257400" cy="257400"/>
          </a:xfrm>
          <a:prstGeom prst="ellipse">
            <a:avLst/>
          </a:prstGeom>
          <a:solidFill>
            <a:srgbClr val="FFFF00"/>
          </a:solidFill>
          <a:ln w="381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600">
                <a:latin typeface="Roboto"/>
                <a:ea typeface="Roboto"/>
                <a:cs typeface="Roboto"/>
                <a:sym typeface="Roboto"/>
              </a:rPr>
              <a:t>8</a:t>
            </a:r>
            <a:endParaRPr sz="600">
              <a:latin typeface="Roboto"/>
              <a:ea typeface="Roboto"/>
              <a:cs typeface="Roboto"/>
              <a:sym typeface="Roboto"/>
            </a:endParaRPr>
          </a:p>
        </p:txBody>
      </p:sp>
      <p:sp>
        <p:nvSpPr>
          <p:cNvPr id="465" name="Google Shape;465;p52"/>
          <p:cNvSpPr/>
          <p:nvPr/>
        </p:nvSpPr>
        <p:spPr>
          <a:xfrm>
            <a:off x="3486188" y="3466249"/>
            <a:ext cx="257400" cy="257400"/>
          </a:xfrm>
          <a:prstGeom prst="ellipse">
            <a:avLst/>
          </a:prstGeom>
          <a:solidFill>
            <a:srgbClr val="FFFF00"/>
          </a:solidFill>
          <a:ln w="381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600">
                <a:latin typeface="Roboto"/>
                <a:ea typeface="Roboto"/>
                <a:cs typeface="Roboto"/>
                <a:sym typeface="Roboto"/>
              </a:rPr>
              <a:t>9</a:t>
            </a:r>
            <a:endParaRPr sz="600">
              <a:latin typeface="Roboto"/>
              <a:ea typeface="Roboto"/>
              <a:cs typeface="Roboto"/>
              <a:sym typeface="Roboto"/>
            </a:endParaRPr>
          </a:p>
        </p:txBody>
      </p:sp>
      <p:sp>
        <p:nvSpPr>
          <p:cNvPr id="466" name="Google Shape;466;p52"/>
          <p:cNvSpPr/>
          <p:nvPr/>
        </p:nvSpPr>
        <p:spPr>
          <a:xfrm>
            <a:off x="4201395" y="2788686"/>
            <a:ext cx="257400" cy="257400"/>
          </a:xfrm>
          <a:prstGeom prst="ellipse">
            <a:avLst/>
          </a:prstGeom>
          <a:solidFill>
            <a:srgbClr val="FFFF00"/>
          </a:solidFill>
          <a:ln w="381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600">
                <a:latin typeface="Roboto"/>
                <a:ea typeface="Roboto"/>
                <a:cs typeface="Roboto"/>
                <a:sym typeface="Roboto"/>
              </a:rPr>
              <a:t>1</a:t>
            </a:r>
            <a:endParaRPr sz="600">
              <a:latin typeface="Roboto"/>
              <a:ea typeface="Roboto"/>
              <a:cs typeface="Roboto"/>
              <a:sym typeface="Roboto"/>
            </a:endParaRPr>
          </a:p>
        </p:txBody>
      </p:sp>
      <p:sp>
        <p:nvSpPr>
          <p:cNvPr id="467" name="Google Shape;467;p52"/>
          <p:cNvSpPr/>
          <p:nvPr/>
        </p:nvSpPr>
        <p:spPr>
          <a:xfrm>
            <a:off x="4540190" y="2788686"/>
            <a:ext cx="257400" cy="257400"/>
          </a:xfrm>
          <a:prstGeom prst="ellipse">
            <a:avLst/>
          </a:prstGeom>
          <a:solidFill>
            <a:srgbClr val="FFFF00"/>
          </a:solidFill>
          <a:ln w="381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600">
                <a:latin typeface="Roboto"/>
                <a:ea typeface="Roboto"/>
                <a:cs typeface="Roboto"/>
                <a:sym typeface="Roboto"/>
              </a:rPr>
              <a:t>2</a:t>
            </a:r>
            <a:endParaRPr sz="600">
              <a:latin typeface="Roboto"/>
              <a:ea typeface="Roboto"/>
              <a:cs typeface="Roboto"/>
              <a:sym typeface="Roboto"/>
            </a:endParaRPr>
          </a:p>
        </p:txBody>
      </p:sp>
      <p:sp>
        <p:nvSpPr>
          <p:cNvPr id="468" name="Google Shape;468;p52"/>
          <p:cNvSpPr/>
          <p:nvPr/>
        </p:nvSpPr>
        <p:spPr>
          <a:xfrm>
            <a:off x="4878985" y="2788686"/>
            <a:ext cx="257400" cy="257400"/>
          </a:xfrm>
          <a:prstGeom prst="ellipse">
            <a:avLst/>
          </a:prstGeom>
          <a:solidFill>
            <a:srgbClr val="FFFF00"/>
          </a:solidFill>
          <a:ln w="381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600">
                <a:latin typeface="Roboto"/>
                <a:ea typeface="Roboto"/>
                <a:cs typeface="Roboto"/>
                <a:sym typeface="Roboto"/>
              </a:rPr>
              <a:t>3</a:t>
            </a:r>
            <a:endParaRPr sz="600">
              <a:latin typeface="Roboto"/>
              <a:ea typeface="Roboto"/>
              <a:cs typeface="Roboto"/>
              <a:sym typeface="Roboto"/>
            </a:endParaRPr>
          </a:p>
        </p:txBody>
      </p:sp>
      <p:sp>
        <p:nvSpPr>
          <p:cNvPr id="469" name="Google Shape;469;p52"/>
          <p:cNvSpPr/>
          <p:nvPr/>
        </p:nvSpPr>
        <p:spPr>
          <a:xfrm>
            <a:off x="4201395" y="3127467"/>
            <a:ext cx="257400" cy="257400"/>
          </a:xfrm>
          <a:prstGeom prst="ellipse">
            <a:avLst/>
          </a:prstGeom>
          <a:solidFill>
            <a:srgbClr val="FFFF00"/>
          </a:solidFill>
          <a:ln w="381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600">
                <a:latin typeface="Roboto"/>
                <a:ea typeface="Roboto"/>
                <a:cs typeface="Roboto"/>
                <a:sym typeface="Roboto"/>
              </a:rPr>
              <a:t>4</a:t>
            </a:r>
            <a:endParaRPr sz="600">
              <a:latin typeface="Roboto"/>
              <a:ea typeface="Roboto"/>
              <a:cs typeface="Roboto"/>
              <a:sym typeface="Roboto"/>
            </a:endParaRPr>
          </a:p>
        </p:txBody>
      </p:sp>
      <p:sp>
        <p:nvSpPr>
          <p:cNvPr id="470" name="Google Shape;470;p52"/>
          <p:cNvSpPr/>
          <p:nvPr/>
        </p:nvSpPr>
        <p:spPr>
          <a:xfrm>
            <a:off x="4540190" y="3127467"/>
            <a:ext cx="257400" cy="257400"/>
          </a:xfrm>
          <a:prstGeom prst="ellipse">
            <a:avLst/>
          </a:prstGeom>
          <a:solidFill>
            <a:srgbClr val="FFFF00"/>
          </a:solidFill>
          <a:ln w="381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600">
                <a:latin typeface="Roboto"/>
                <a:ea typeface="Roboto"/>
                <a:cs typeface="Roboto"/>
                <a:sym typeface="Roboto"/>
              </a:rPr>
              <a:t>5</a:t>
            </a:r>
            <a:endParaRPr sz="600">
              <a:latin typeface="Roboto"/>
              <a:ea typeface="Roboto"/>
              <a:cs typeface="Roboto"/>
              <a:sym typeface="Roboto"/>
            </a:endParaRPr>
          </a:p>
        </p:txBody>
      </p:sp>
      <p:sp>
        <p:nvSpPr>
          <p:cNvPr id="471" name="Google Shape;471;p52"/>
          <p:cNvSpPr/>
          <p:nvPr/>
        </p:nvSpPr>
        <p:spPr>
          <a:xfrm>
            <a:off x="4878985" y="3127467"/>
            <a:ext cx="257400" cy="257400"/>
          </a:xfrm>
          <a:prstGeom prst="ellipse">
            <a:avLst/>
          </a:prstGeom>
          <a:solidFill>
            <a:srgbClr val="FF0000"/>
          </a:solidFill>
          <a:ln w="38100" cap="flat" cmpd="sng">
            <a:solidFill>
              <a:srgbClr val="FF00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600">
                <a:latin typeface="Roboto"/>
                <a:ea typeface="Roboto"/>
                <a:cs typeface="Roboto"/>
                <a:sym typeface="Roboto"/>
              </a:rPr>
              <a:t>6</a:t>
            </a:r>
            <a:endParaRPr sz="600">
              <a:latin typeface="Roboto"/>
              <a:ea typeface="Roboto"/>
              <a:cs typeface="Roboto"/>
              <a:sym typeface="Roboto"/>
            </a:endParaRPr>
          </a:p>
        </p:txBody>
      </p:sp>
      <p:sp>
        <p:nvSpPr>
          <p:cNvPr id="472" name="Google Shape;472;p52"/>
          <p:cNvSpPr/>
          <p:nvPr/>
        </p:nvSpPr>
        <p:spPr>
          <a:xfrm>
            <a:off x="4201395" y="3466249"/>
            <a:ext cx="257400" cy="257400"/>
          </a:xfrm>
          <a:prstGeom prst="ellipse">
            <a:avLst/>
          </a:prstGeom>
          <a:solidFill>
            <a:srgbClr val="FFFF00"/>
          </a:solidFill>
          <a:ln w="381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600">
                <a:latin typeface="Roboto"/>
                <a:ea typeface="Roboto"/>
                <a:cs typeface="Roboto"/>
                <a:sym typeface="Roboto"/>
              </a:rPr>
              <a:t>7</a:t>
            </a:r>
            <a:endParaRPr sz="600">
              <a:latin typeface="Roboto"/>
              <a:ea typeface="Roboto"/>
              <a:cs typeface="Roboto"/>
              <a:sym typeface="Roboto"/>
            </a:endParaRPr>
          </a:p>
        </p:txBody>
      </p:sp>
      <p:sp>
        <p:nvSpPr>
          <p:cNvPr id="473" name="Google Shape;473;p52"/>
          <p:cNvSpPr/>
          <p:nvPr/>
        </p:nvSpPr>
        <p:spPr>
          <a:xfrm>
            <a:off x="4540190" y="3466249"/>
            <a:ext cx="257400" cy="257400"/>
          </a:xfrm>
          <a:prstGeom prst="ellipse">
            <a:avLst/>
          </a:prstGeom>
          <a:solidFill>
            <a:srgbClr val="FFFF00"/>
          </a:solidFill>
          <a:ln w="381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600">
                <a:latin typeface="Roboto"/>
                <a:ea typeface="Roboto"/>
                <a:cs typeface="Roboto"/>
                <a:sym typeface="Roboto"/>
              </a:rPr>
              <a:t>8</a:t>
            </a:r>
            <a:endParaRPr sz="600">
              <a:latin typeface="Roboto"/>
              <a:ea typeface="Roboto"/>
              <a:cs typeface="Roboto"/>
              <a:sym typeface="Roboto"/>
            </a:endParaRPr>
          </a:p>
        </p:txBody>
      </p:sp>
      <p:sp>
        <p:nvSpPr>
          <p:cNvPr id="474" name="Google Shape;474;p52"/>
          <p:cNvSpPr/>
          <p:nvPr/>
        </p:nvSpPr>
        <p:spPr>
          <a:xfrm>
            <a:off x="4878985" y="3466249"/>
            <a:ext cx="257400" cy="257400"/>
          </a:xfrm>
          <a:prstGeom prst="ellipse">
            <a:avLst/>
          </a:prstGeom>
          <a:solidFill>
            <a:srgbClr val="FFFF00"/>
          </a:solidFill>
          <a:ln w="381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600">
                <a:latin typeface="Roboto"/>
                <a:ea typeface="Roboto"/>
                <a:cs typeface="Roboto"/>
                <a:sym typeface="Roboto"/>
              </a:rPr>
              <a:t>9</a:t>
            </a:r>
            <a:endParaRPr sz="600">
              <a:latin typeface="Roboto"/>
              <a:ea typeface="Roboto"/>
              <a:cs typeface="Roboto"/>
              <a:sym typeface="Roboto"/>
            </a:endParaRPr>
          </a:p>
        </p:txBody>
      </p:sp>
      <p:sp>
        <p:nvSpPr>
          <p:cNvPr id="475" name="Google Shape;475;p52"/>
          <p:cNvSpPr/>
          <p:nvPr/>
        </p:nvSpPr>
        <p:spPr>
          <a:xfrm>
            <a:off x="1415800" y="3997972"/>
            <a:ext cx="257400" cy="257400"/>
          </a:xfrm>
          <a:prstGeom prst="ellipse">
            <a:avLst/>
          </a:prstGeom>
          <a:solidFill>
            <a:srgbClr val="FFFF00"/>
          </a:solidFill>
          <a:ln w="381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600">
                <a:latin typeface="Roboto"/>
                <a:ea typeface="Roboto"/>
                <a:cs typeface="Roboto"/>
                <a:sym typeface="Roboto"/>
              </a:rPr>
              <a:t>1</a:t>
            </a:r>
            <a:endParaRPr sz="600">
              <a:latin typeface="Roboto"/>
              <a:ea typeface="Roboto"/>
              <a:cs typeface="Roboto"/>
              <a:sym typeface="Roboto"/>
            </a:endParaRPr>
          </a:p>
        </p:txBody>
      </p:sp>
      <p:sp>
        <p:nvSpPr>
          <p:cNvPr id="476" name="Google Shape;476;p52"/>
          <p:cNvSpPr/>
          <p:nvPr/>
        </p:nvSpPr>
        <p:spPr>
          <a:xfrm>
            <a:off x="1754595" y="3997972"/>
            <a:ext cx="257400" cy="257400"/>
          </a:xfrm>
          <a:prstGeom prst="ellipse">
            <a:avLst/>
          </a:prstGeom>
          <a:solidFill>
            <a:srgbClr val="FFFF00"/>
          </a:solidFill>
          <a:ln w="381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600">
                <a:latin typeface="Roboto"/>
                <a:ea typeface="Roboto"/>
                <a:cs typeface="Roboto"/>
                <a:sym typeface="Roboto"/>
              </a:rPr>
              <a:t>2</a:t>
            </a:r>
            <a:endParaRPr sz="600">
              <a:latin typeface="Roboto"/>
              <a:ea typeface="Roboto"/>
              <a:cs typeface="Roboto"/>
              <a:sym typeface="Roboto"/>
            </a:endParaRPr>
          </a:p>
        </p:txBody>
      </p:sp>
      <p:sp>
        <p:nvSpPr>
          <p:cNvPr id="477" name="Google Shape;477;p52"/>
          <p:cNvSpPr/>
          <p:nvPr/>
        </p:nvSpPr>
        <p:spPr>
          <a:xfrm>
            <a:off x="2093390" y="3997972"/>
            <a:ext cx="257400" cy="257400"/>
          </a:xfrm>
          <a:prstGeom prst="ellipse">
            <a:avLst/>
          </a:prstGeom>
          <a:solidFill>
            <a:srgbClr val="FFFF00"/>
          </a:solidFill>
          <a:ln w="381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600">
                <a:latin typeface="Roboto"/>
                <a:ea typeface="Roboto"/>
                <a:cs typeface="Roboto"/>
                <a:sym typeface="Roboto"/>
              </a:rPr>
              <a:t>3</a:t>
            </a:r>
            <a:endParaRPr sz="600">
              <a:latin typeface="Roboto"/>
              <a:ea typeface="Roboto"/>
              <a:cs typeface="Roboto"/>
              <a:sym typeface="Roboto"/>
            </a:endParaRPr>
          </a:p>
        </p:txBody>
      </p:sp>
      <p:sp>
        <p:nvSpPr>
          <p:cNvPr id="478" name="Google Shape;478;p52"/>
          <p:cNvSpPr/>
          <p:nvPr/>
        </p:nvSpPr>
        <p:spPr>
          <a:xfrm>
            <a:off x="1415800" y="4336754"/>
            <a:ext cx="257400" cy="257400"/>
          </a:xfrm>
          <a:prstGeom prst="ellipse">
            <a:avLst/>
          </a:prstGeom>
          <a:solidFill>
            <a:srgbClr val="FFFF00"/>
          </a:solidFill>
          <a:ln w="381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600">
                <a:latin typeface="Roboto"/>
                <a:ea typeface="Roboto"/>
                <a:cs typeface="Roboto"/>
                <a:sym typeface="Roboto"/>
              </a:rPr>
              <a:t>4</a:t>
            </a:r>
            <a:endParaRPr sz="600">
              <a:latin typeface="Roboto"/>
              <a:ea typeface="Roboto"/>
              <a:cs typeface="Roboto"/>
              <a:sym typeface="Roboto"/>
            </a:endParaRPr>
          </a:p>
        </p:txBody>
      </p:sp>
      <p:sp>
        <p:nvSpPr>
          <p:cNvPr id="479" name="Google Shape;479;p52"/>
          <p:cNvSpPr/>
          <p:nvPr/>
        </p:nvSpPr>
        <p:spPr>
          <a:xfrm>
            <a:off x="1754595" y="4336754"/>
            <a:ext cx="257400" cy="257400"/>
          </a:xfrm>
          <a:prstGeom prst="ellipse">
            <a:avLst/>
          </a:prstGeom>
          <a:solidFill>
            <a:srgbClr val="FFFF00"/>
          </a:solidFill>
          <a:ln w="381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600">
                <a:latin typeface="Roboto"/>
                <a:ea typeface="Roboto"/>
                <a:cs typeface="Roboto"/>
                <a:sym typeface="Roboto"/>
              </a:rPr>
              <a:t>5</a:t>
            </a:r>
            <a:endParaRPr sz="600">
              <a:latin typeface="Roboto"/>
              <a:ea typeface="Roboto"/>
              <a:cs typeface="Roboto"/>
              <a:sym typeface="Roboto"/>
            </a:endParaRPr>
          </a:p>
        </p:txBody>
      </p:sp>
      <p:sp>
        <p:nvSpPr>
          <p:cNvPr id="480" name="Google Shape;480;p52"/>
          <p:cNvSpPr/>
          <p:nvPr/>
        </p:nvSpPr>
        <p:spPr>
          <a:xfrm>
            <a:off x="2093390" y="4336754"/>
            <a:ext cx="257400" cy="257400"/>
          </a:xfrm>
          <a:prstGeom prst="ellipse">
            <a:avLst/>
          </a:prstGeom>
          <a:solidFill>
            <a:srgbClr val="FFFF00"/>
          </a:solidFill>
          <a:ln w="381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600">
                <a:latin typeface="Roboto"/>
                <a:ea typeface="Roboto"/>
                <a:cs typeface="Roboto"/>
                <a:sym typeface="Roboto"/>
              </a:rPr>
              <a:t>6</a:t>
            </a:r>
            <a:endParaRPr sz="600">
              <a:latin typeface="Roboto"/>
              <a:ea typeface="Roboto"/>
              <a:cs typeface="Roboto"/>
              <a:sym typeface="Roboto"/>
            </a:endParaRPr>
          </a:p>
        </p:txBody>
      </p:sp>
      <p:sp>
        <p:nvSpPr>
          <p:cNvPr id="481" name="Google Shape;481;p52"/>
          <p:cNvSpPr/>
          <p:nvPr/>
        </p:nvSpPr>
        <p:spPr>
          <a:xfrm>
            <a:off x="1415800" y="4675535"/>
            <a:ext cx="257400" cy="257400"/>
          </a:xfrm>
          <a:prstGeom prst="ellipse">
            <a:avLst/>
          </a:prstGeom>
          <a:solidFill>
            <a:srgbClr val="FF0000"/>
          </a:solidFill>
          <a:ln w="38100" cap="flat" cmpd="sng">
            <a:solidFill>
              <a:srgbClr val="FF00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600">
                <a:latin typeface="Roboto"/>
                <a:ea typeface="Roboto"/>
                <a:cs typeface="Roboto"/>
                <a:sym typeface="Roboto"/>
              </a:rPr>
              <a:t>7</a:t>
            </a:r>
            <a:endParaRPr sz="600">
              <a:latin typeface="Roboto"/>
              <a:ea typeface="Roboto"/>
              <a:cs typeface="Roboto"/>
              <a:sym typeface="Roboto"/>
            </a:endParaRPr>
          </a:p>
        </p:txBody>
      </p:sp>
      <p:sp>
        <p:nvSpPr>
          <p:cNvPr id="482" name="Google Shape;482;p52"/>
          <p:cNvSpPr/>
          <p:nvPr/>
        </p:nvSpPr>
        <p:spPr>
          <a:xfrm>
            <a:off x="1754595" y="4675535"/>
            <a:ext cx="257400" cy="257400"/>
          </a:xfrm>
          <a:prstGeom prst="ellipse">
            <a:avLst/>
          </a:prstGeom>
          <a:solidFill>
            <a:srgbClr val="FFFF00"/>
          </a:solidFill>
          <a:ln w="381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600">
                <a:latin typeface="Roboto"/>
                <a:ea typeface="Roboto"/>
                <a:cs typeface="Roboto"/>
                <a:sym typeface="Roboto"/>
              </a:rPr>
              <a:t>8</a:t>
            </a:r>
            <a:endParaRPr sz="600">
              <a:latin typeface="Roboto"/>
              <a:ea typeface="Roboto"/>
              <a:cs typeface="Roboto"/>
              <a:sym typeface="Roboto"/>
            </a:endParaRPr>
          </a:p>
        </p:txBody>
      </p:sp>
      <p:sp>
        <p:nvSpPr>
          <p:cNvPr id="483" name="Google Shape;483;p52"/>
          <p:cNvSpPr/>
          <p:nvPr/>
        </p:nvSpPr>
        <p:spPr>
          <a:xfrm>
            <a:off x="2093390" y="4675535"/>
            <a:ext cx="257400" cy="257400"/>
          </a:xfrm>
          <a:prstGeom prst="ellipse">
            <a:avLst/>
          </a:prstGeom>
          <a:solidFill>
            <a:srgbClr val="FFFF00"/>
          </a:solidFill>
          <a:ln w="381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600">
                <a:latin typeface="Roboto"/>
                <a:ea typeface="Roboto"/>
                <a:cs typeface="Roboto"/>
                <a:sym typeface="Roboto"/>
              </a:rPr>
              <a:t>9</a:t>
            </a:r>
            <a:endParaRPr sz="600">
              <a:latin typeface="Roboto"/>
              <a:ea typeface="Roboto"/>
              <a:cs typeface="Roboto"/>
              <a:sym typeface="Roboto"/>
            </a:endParaRPr>
          </a:p>
        </p:txBody>
      </p:sp>
      <p:sp>
        <p:nvSpPr>
          <p:cNvPr id="484" name="Google Shape;484;p52"/>
          <p:cNvSpPr/>
          <p:nvPr/>
        </p:nvSpPr>
        <p:spPr>
          <a:xfrm>
            <a:off x="2808597" y="3997972"/>
            <a:ext cx="257400" cy="257400"/>
          </a:xfrm>
          <a:prstGeom prst="ellipse">
            <a:avLst/>
          </a:prstGeom>
          <a:solidFill>
            <a:srgbClr val="FFFF00"/>
          </a:solidFill>
          <a:ln w="381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600">
                <a:latin typeface="Roboto"/>
                <a:ea typeface="Roboto"/>
                <a:cs typeface="Roboto"/>
                <a:sym typeface="Roboto"/>
              </a:rPr>
              <a:t>1</a:t>
            </a:r>
            <a:endParaRPr sz="600">
              <a:latin typeface="Roboto"/>
              <a:ea typeface="Roboto"/>
              <a:cs typeface="Roboto"/>
              <a:sym typeface="Roboto"/>
            </a:endParaRPr>
          </a:p>
        </p:txBody>
      </p:sp>
      <p:sp>
        <p:nvSpPr>
          <p:cNvPr id="485" name="Google Shape;485;p52"/>
          <p:cNvSpPr/>
          <p:nvPr/>
        </p:nvSpPr>
        <p:spPr>
          <a:xfrm>
            <a:off x="3147392" y="3997972"/>
            <a:ext cx="257400" cy="257400"/>
          </a:xfrm>
          <a:prstGeom prst="ellipse">
            <a:avLst/>
          </a:prstGeom>
          <a:solidFill>
            <a:srgbClr val="FFFF00"/>
          </a:solidFill>
          <a:ln w="381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600">
                <a:latin typeface="Roboto"/>
                <a:ea typeface="Roboto"/>
                <a:cs typeface="Roboto"/>
                <a:sym typeface="Roboto"/>
              </a:rPr>
              <a:t>2</a:t>
            </a:r>
            <a:endParaRPr sz="600">
              <a:latin typeface="Roboto"/>
              <a:ea typeface="Roboto"/>
              <a:cs typeface="Roboto"/>
              <a:sym typeface="Roboto"/>
            </a:endParaRPr>
          </a:p>
        </p:txBody>
      </p:sp>
      <p:sp>
        <p:nvSpPr>
          <p:cNvPr id="486" name="Google Shape;486;p52"/>
          <p:cNvSpPr/>
          <p:nvPr/>
        </p:nvSpPr>
        <p:spPr>
          <a:xfrm>
            <a:off x="3486188" y="3997972"/>
            <a:ext cx="257400" cy="257400"/>
          </a:xfrm>
          <a:prstGeom prst="ellipse">
            <a:avLst/>
          </a:prstGeom>
          <a:solidFill>
            <a:srgbClr val="FFFF00"/>
          </a:solidFill>
          <a:ln w="381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600">
                <a:latin typeface="Roboto"/>
                <a:ea typeface="Roboto"/>
                <a:cs typeface="Roboto"/>
                <a:sym typeface="Roboto"/>
              </a:rPr>
              <a:t>3</a:t>
            </a:r>
            <a:endParaRPr sz="600">
              <a:latin typeface="Roboto"/>
              <a:ea typeface="Roboto"/>
              <a:cs typeface="Roboto"/>
              <a:sym typeface="Roboto"/>
            </a:endParaRPr>
          </a:p>
        </p:txBody>
      </p:sp>
      <p:sp>
        <p:nvSpPr>
          <p:cNvPr id="487" name="Google Shape;487;p52"/>
          <p:cNvSpPr/>
          <p:nvPr/>
        </p:nvSpPr>
        <p:spPr>
          <a:xfrm>
            <a:off x="2808597" y="4336754"/>
            <a:ext cx="257400" cy="257400"/>
          </a:xfrm>
          <a:prstGeom prst="ellipse">
            <a:avLst/>
          </a:prstGeom>
          <a:solidFill>
            <a:srgbClr val="FFFF00"/>
          </a:solidFill>
          <a:ln w="381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600">
                <a:latin typeface="Roboto"/>
                <a:ea typeface="Roboto"/>
                <a:cs typeface="Roboto"/>
                <a:sym typeface="Roboto"/>
              </a:rPr>
              <a:t>4</a:t>
            </a:r>
            <a:endParaRPr sz="600">
              <a:latin typeface="Roboto"/>
              <a:ea typeface="Roboto"/>
              <a:cs typeface="Roboto"/>
              <a:sym typeface="Roboto"/>
            </a:endParaRPr>
          </a:p>
        </p:txBody>
      </p:sp>
      <p:sp>
        <p:nvSpPr>
          <p:cNvPr id="488" name="Google Shape;488;p52"/>
          <p:cNvSpPr/>
          <p:nvPr/>
        </p:nvSpPr>
        <p:spPr>
          <a:xfrm>
            <a:off x="3147392" y="4336754"/>
            <a:ext cx="257400" cy="257400"/>
          </a:xfrm>
          <a:prstGeom prst="ellipse">
            <a:avLst/>
          </a:prstGeom>
          <a:solidFill>
            <a:srgbClr val="FFFF00"/>
          </a:solidFill>
          <a:ln w="381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600">
                <a:latin typeface="Roboto"/>
                <a:ea typeface="Roboto"/>
                <a:cs typeface="Roboto"/>
                <a:sym typeface="Roboto"/>
              </a:rPr>
              <a:t>5</a:t>
            </a:r>
            <a:endParaRPr sz="600">
              <a:latin typeface="Roboto"/>
              <a:ea typeface="Roboto"/>
              <a:cs typeface="Roboto"/>
              <a:sym typeface="Roboto"/>
            </a:endParaRPr>
          </a:p>
        </p:txBody>
      </p:sp>
      <p:sp>
        <p:nvSpPr>
          <p:cNvPr id="489" name="Google Shape;489;p52"/>
          <p:cNvSpPr/>
          <p:nvPr/>
        </p:nvSpPr>
        <p:spPr>
          <a:xfrm>
            <a:off x="3486188" y="4336754"/>
            <a:ext cx="257400" cy="257400"/>
          </a:xfrm>
          <a:prstGeom prst="ellipse">
            <a:avLst/>
          </a:prstGeom>
          <a:solidFill>
            <a:srgbClr val="FFFF00"/>
          </a:solidFill>
          <a:ln w="381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600">
                <a:latin typeface="Roboto"/>
                <a:ea typeface="Roboto"/>
                <a:cs typeface="Roboto"/>
                <a:sym typeface="Roboto"/>
              </a:rPr>
              <a:t>6</a:t>
            </a:r>
            <a:endParaRPr sz="600">
              <a:latin typeface="Roboto"/>
              <a:ea typeface="Roboto"/>
              <a:cs typeface="Roboto"/>
              <a:sym typeface="Roboto"/>
            </a:endParaRPr>
          </a:p>
        </p:txBody>
      </p:sp>
      <p:sp>
        <p:nvSpPr>
          <p:cNvPr id="490" name="Google Shape;490;p52"/>
          <p:cNvSpPr/>
          <p:nvPr/>
        </p:nvSpPr>
        <p:spPr>
          <a:xfrm>
            <a:off x="2808597" y="4675535"/>
            <a:ext cx="257400" cy="257400"/>
          </a:xfrm>
          <a:prstGeom prst="ellipse">
            <a:avLst/>
          </a:prstGeom>
          <a:solidFill>
            <a:srgbClr val="FFFF00"/>
          </a:solidFill>
          <a:ln w="381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600">
                <a:latin typeface="Roboto"/>
                <a:ea typeface="Roboto"/>
                <a:cs typeface="Roboto"/>
                <a:sym typeface="Roboto"/>
              </a:rPr>
              <a:t>7</a:t>
            </a:r>
            <a:endParaRPr sz="600">
              <a:latin typeface="Roboto"/>
              <a:ea typeface="Roboto"/>
              <a:cs typeface="Roboto"/>
              <a:sym typeface="Roboto"/>
            </a:endParaRPr>
          </a:p>
        </p:txBody>
      </p:sp>
      <p:sp>
        <p:nvSpPr>
          <p:cNvPr id="491" name="Google Shape;491;p52"/>
          <p:cNvSpPr/>
          <p:nvPr/>
        </p:nvSpPr>
        <p:spPr>
          <a:xfrm>
            <a:off x="3147392" y="4675535"/>
            <a:ext cx="257400" cy="257400"/>
          </a:xfrm>
          <a:prstGeom prst="ellipse">
            <a:avLst/>
          </a:prstGeom>
          <a:solidFill>
            <a:srgbClr val="FF0000"/>
          </a:solidFill>
          <a:ln w="38100" cap="flat" cmpd="sng">
            <a:solidFill>
              <a:srgbClr val="FF00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600">
                <a:latin typeface="Roboto"/>
                <a:ea typeface="Roboto"/>
                <a:cs typeface="Roboto"/>
                <a:sym typeface="Roboto"/>
              </a:rPr>
              <a:t>8</a:t>
            </a:r>
            <a:endParaRPr sz="600">
              <a:latin typeface="Roboto"/>
              <a:ea typeface="Roboto"/>
              <a:cs typeface="Roboto"/>
              <a:sym typeface="Roboto"/>
            </a:endParaRPr>
          </a:p>
        </p:txBody>
      </p:sp>
      <p:sp>
        <p:nvSpPr>
          <p:cNvPr id="492" name="Google Shape;492;p52"/>
          <p:cNvSpPr/>
          <p:nvPr/>
        </p:nvSpPr>
        <p:spPr>
          <a:xfrm>
            <a:off x="3486188" y="4675535"/>
            <a:ext cx="257400" cy="257400"/>
          </a:xfrm>
          <a:prstGeom prst="ellipse">
            <a:avLst/>
          </a:prstGeom>
          <a:solidFill>
            <a:srgbClr val="FFFF00"/>
          </a:solidFill>
          <a:ln w="381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600">
                <a:latin typeface="Roboto"/>
                <a:ea typeface="Roboto"/>
                <a:cs typeface="Roboto"/>
                <a:sym typeface="Roboto"/>
              </a:rPr>
              <a:t>9</a:t>
            </a:r>
            <a:endParaRPr sz="600">
              <a:latin typeface="Roboto"/>
              <a:ea typeface="Roboto"/>
              <a:cs typeface="Roboto"/>
              <a:sym typeface="Roboto"/>
            </a:endParaRPr>
          </a:p>
        </p:txBody>
      </p:sp>
      <p:sp>
        <p:nvSpPr>
          <p:cNvPr id="493" name="Google Shape;493;p52"/>
          <p:cNvSpPr/>
          <p:nvPr/>
        </p:nvSpPr>
        <p:spPr>
          <a:xfrm>
            <a:off x="4201395" y="3997972"/>
            <a:ext cx="257400" cy="257400"/>
          </a:xfrm>
          <a:prstGeom prst="ellipse">
            <a:avLst/>
          </a:prstGeom>
          <a:solidFill>
            <a:srgbClr val="FFFF00"/>
          </a:solidFill>
          <a:ln w="381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600">
                <a:latin typeface="Roboto"/>
                <a:ea typeface="Roboto"/>
                <a:cs typeface="Roboto"/>
                <a:sym typeface="Roboto"/>
              </a:rPr>
              <a:t>1</a:t>
            </a:r>
            <a:endParaRPr sz="600">
              <a:latin typeface="Roboto"/>
              <a:ea typeface="Roboto"/>
              <a:cs typeface="Roboto"/>
              <a:sym typeface="Roboto"/>
            </a:endParaRPr>
          </a:p>
        </p:txBody>
      </p:sp>
      <p:sp>
        <p:nvSpPr>
          <p:cNvPr id="494" name="Google Shape;494;p52"/>
          <p:cNvSpPr/>
          <p:nvPr/>
        </p:nvSpPr>
        <p:spPr>
          <a:xfrm>
            <a:off x="4540190" y="3997972"/>
            <a:ext cx="257400" cy="257400"/>
          </a:xfrm>
          <a:prstGeom prst="ellipse">
            <a:avLst/>
          </a:prstGeom>
          <a:solidFill>
            <a:srgbClr val="FFFF00"/>
          </a:solidFill>
          <a:ln w="381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600">
                <a:latin typeface="Roboto"/>
                <a:ea typeface="Roboto"/>
                <a:cs typeface="Roboto"/>
                <a:sym typeface="Roboto"/>
              </a:rPr>
              <a:t>2</a:t>
            </a:r>
            <a:endParaRPr sz="600">
              <a:latin typeface="Roboto"/>
              <a:ea typeface="Roboto"/>
              <a:cs typeface="Roboto"/>
              <a:sym typeface="Roboto"/>
            </a:endParaRPr>
          </a:p>
        </p:txBody>
      </p:sp>
      <p:sp>
        <p:nvSpPr>
          <p:cNvPr id="495" name="Google Shape;495;p52"/>
          <p:cNvSpPr/>
          <p:nvPr/>
        </p:nvSpPr>
        <p:spPr>
          <a:xfrm>
            <a:off x="4878985" y="3997972"/>
            <a:ext cx="257400" cy="257400"/>
          </a:xfrm>
          <a:prstGeom prst="ellipse">
            <a:avLst/>
          </a:prstGeom>
          <a:solidFill>
            <a:srgbClr val="FFFF00"/>
          </a:solidFill>
          <a:ln w="381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600">
                <a:latin typeface="Roboto"/>
                <a:ea typeface="Roboto"/>
                <a:cs typeface="Roboto"/>
                <a:sym typeface="Roboto"/>
              </a:rPr>
              <a:t>3</a:t>
            </a:r>
            <a:endParaRPr sz="600">
              <a:latin typeface="Roboto"/>
              <a:ea typeface="Roboto"/>
              <a:cs typeface="Roboto"/>
              <a:sym typeface="Roboto"/>
            </a:endParaRPr>
          </a:p>
        </p:txBody>
      </p:sp>
      <p:sp>
        <p:nvSpPr>
          <p:cNvPr id="496" name="Google Shape;496;p52"/>
          <p:cNvSpPr/>
          <p:nvPr/>
        </p:nvSpPr>
        <p:spPr>
          <a:xfrm>
            <a:off x="4201395" y="4336754"/>
            <a:ext cx="257400" cy="257400"/>
          </a:xfrm>
          <a:prstGeom prst="ellipse">
            <a:avLst/>
          </a:prstGeom>
          <a:solidFill>
            <a:srgbClr val="FFFF00"/>
          </a:solidFill>
          <a:ln w="381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600">
                <a:latin typeface="Roboto"/>
                <a:ea typeface="Roboto"/>
                <a:cs typeface="Roboto"/>
                <a:sym typeface="Roboto"/>
              </a:rPr>
              <a:t>4</a:t>
            </a:r>
            <a:endParaRPr sz="600">
              <a:latin typeface="Roboto"/>
              <a:ea typeface="Roboto"/>
              <a:cs typeface="Roboto"/>
              <a:sym typeface="Roboto"/>
            </a:endParaRPr>
          </a:p>
        </p:txBody>
      </p:sp>
      <p:sp>
        <p:nvSpPr>
          <p:cNvPr id="497" name="Google Shape;497;p52"/>
          <p:cNvSpPr/>
          <p:nvPr/>
        </p:nvSpPr>
        <p:spPr>
          <a:xfrm>
            <a:off x="4540190" y="4336754"/>
            <a:ext cx="257400" cy="257400"/>
          </a:xfrm>
          <a:prstGeom prst="ellipse">
            <a:avLst/>
          </a:prstGeom>
          <a:solidFill>
            <a:srgbClr val="FFFF00"/>
          </a:solidFill>
          <a:ln w="381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600">
                <a:latin typeface="Roboto"/>
                <a:ea typeface="Roboto"/>
                <a:cs typeface="Roboto"/>
                <a:sym typeface="Roboto"/>
              </a:rPr>
              <a:t>5</a:t>
            </a:r>
            <a:endParaRPr sz="600">
              <a:latin typeface="Roboto"/>
              <a:ea typeface="Roboto"/>
              <a:cs typeface="Roboto"/>
              <a:sym typeface="Roboto"/>
            </a:endParaRPr>
          </a:p>
        </p:txBody>
      </p:sp>
      <p:sp>
        <p:nvSpPr>
          <p:cNvPr id="498" name="Google Shape;498;p52"/>
          <p:cNvSpPr/>
          <p:nvPr/>
        </p:nvSpPr>
        <p:spPr>
          <a:xfrm>
            <a:off x="4878985" y="4336754"/>
            <a:ext cx="257400" cy="257400"/>
          </a:xfrm>
          <a:prstGeom prst="ellipse">
            <a:avLst/>
          </a:prstGeom>
          <a:solidFill>
            <a:srgbClr val="FFFF00"/>
          </a:solidFill>
          <a:ln w="381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600">
                <a:latin typeface="Roboto"/>
                <a:ea typeface="Roboto"/>
                <a:cs typeface="Roboto"/>
                <a:sym typeface="Roboto"/>
              </a:rPr>
              <a:t>6</a:t>
            </a:r>
            <a:endParaRPr sz="600">
              <a:latin typeface="Roboto"/>
              <a:ea typeface="Roboto"/>
              <a:cs typeface="Roboto"/>
              <a:sym typeface="Roboto"/>
            </a:endParaRPr>
          </a:p>
        </p:txBody>
      </p:sp>
      <p:sp>
        <p:nvSpPr>
          <p:cNvPr id="499" name="Google Shape;499;p52"/>
          <p:cNvSpPr/>
          <p:nvPr/>
        </p:nvSpPr>
        <p:spPr>
          <a:xfrm>
            <a:off x="4201395" y="4675535"/>
            <a:ext cx="257400" cy="257400"/>
          </a:xfrm>
          <a:prstGeom prst="ellipse">
            <a:avLst/>
          </a:prstGeom>
          <a:solidFill>
            <a:srgbClr val="FFFF00"/>
          </a:solidFill>
          <a:ln w="381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600">
                <a:latin typeface="Roboto"/>
                <a:ea typeface="Roboto"/>
                <a:cs typeface="Roboto"/>
                <a:sym typeface="Roboto"/>
              </a:rPr>
              <a:t>7</a:t>
            </a:r>
            <a:endParaRPr sz="600">
              <a:latin typeface="Roboto"/>
              <a:ea typeface="Roboto"/>
              <a:cs typeface="Roboto"/>
              <a:sym typeface="Roboto"/>
            </a:endParaRPr>
          </a:p>
        </p:txBody>
      </p:sp>
      <p:sp>
        <p:nvSpPr>
          <p:cNvPr id="500" name="Google Shape;500;p52"/>
          <p:cNvSpPr/>
          <p:nvPr/>
        </p:nvSpPr>
        <p:spPr>
          <a:xfrm>
            <a:off x="4540190" y="4675535"/>
            <a:ext cx="257400" cy="257400"/>
          </a:xfrm>
          <a:prstGeom prst="ellipse">
            <a:avLst/>
          </a:prstGeom>
          <a:solidFill>
            <a:srgbClr val="FFFF00"/>
          </a:solidFill>
          <a:ln w="381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600">
                <a:latin typeface="Roboto"/>
                <a:ea typeface="Roboto"/>
                <a:cs typeface="Roboto"/>
                <a:sym typeface="Roboto"/>
              </a:rPr>
              <a:t>8</a:t>
            </a:r>
            <a:endParaRPr sz="600">
              <a:latin typeface="Roboto"/>
              <a:ea typeface="Roboto"/>
              <a:cs typeface="Roboto"/>
              <a:sym typeface="Roboto"/>
            </a:endParaRPr>
          </a:p>
        </p:txBody>
      </p:sp>
      <p:sp>
        <p:nvSpPr>
          <p:cNvPr id="501" name="Google Shape;501;p52"/>
          <p:cNvSpPr/>
          <p:nvPr/>
        </p:nvSpPr>
        <p:spPr>
          <a:xfrm>
            <a:off x="4878985" y="4675535"/>
            <a:ext cx="257400" cy="257400"/>
          </a:xfrm>
          <a:prstGeom prst="ellipse">
            <a:avLst/>
          </a:prstGeom>
          <a:solidFill>
            <a:srgbClr val="FF0000"/>
          </a:solidFill>
          <a:ln w="38100" cap="flat" cmpd="sng">
            <a:solidFill>
              <a:srgbClr val="FF00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600">
                <a:latin typeface="Roboto"/>
                <a:ea typeface="Roboto"/>
                <a:cs typeface="Roboto"/>
                <a:sym typeface="Roboto"/>
              </a:rPr>
              <a:t>9</a:t>
            </a:r>
            <a:endParaRPr sz="600">
              <a:latin typeface="Roboto"/>
              <a:ea typeface="Roboto"/>
              <a:cs typeface="Roboto"/>
              <a:sym typeface="Roboto"/>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sp>
        <p:nvSpPr>
          <p:cNvPr id="506" name="Google Shape;506;p53"/>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9 Coins: Decision Tree in Universe 1</a:t>
            </a:r>
            <a:endParaRPr/>
          </a:p>
        </p:txBody>
      </p:sp>
      <p:sp>
        <p:nvSpPr>
          <p:cNvPr id="507" name="Google Shape;507;p53"/>
          <p:cNvSpPr txBox="1">
            <a:spLocks noGrp="1"/>
          </p:cNvSpPr>
          <p:nvPr>
            <p:ph type="body" idx="1"/>
          </p:nvPr>
        </p:nvSpPr>
        <p:spPr>
          <a:xfrm>
            <a:off x="107050" y="322450"/>
            <a:ext cx="8520600" cy="557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The full decision tree in Universe 1:</a:t>
            </a:r>
            <a:endParaRPr/>
          </a:p>
        </p:txBody>
      </p:sp>
      <p:sp>
        <p:nvSpPr>
          <p:cNvPr id="508" name="Google Shape;508;p53"/>
          <p:cNvSpPr/>
          <p:nvPr/>
        </p:nvSpPr>
        <p:spPr>
          <a:xfrm>
            <a:off x="3649350" y="759075"/>
            <a:ext cx="1221900" cy="510300"/>
          </a:xfrm>
          <a:prstGeom prst="rect">
            <a:avLst/>
          </a:prstGeom>
          <a:solidFill>
            <a:srgbClr val="FF0000"/>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123 vs 456?</a:t>
            </a:r>
            <a:endParaRPr/>
          </a:p>
        </p:txBody>
      </p:sp>
      <p:sp>
        <p:nvSpPr>
          <p:cNvPr id="509" name="Google Shape;509;p53"/>
          <p:cNvSpPr/>
          <p:nvPr/>
        </p:nvSpPr>
        <p:spPr>
          <a:xfrm>
            <a:off x="1620500" y="2008300"/>
            <a:ext cx="809100" cy="593700"/>
          </a:xfrm>
          <a:prstGeom prst="rect">
            <a:avLst/>
          </a:prstGeom>
          <a:solidFill>
            <a:srgbClr val="FF0000"/>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1 vs 2?</a:t>
            </a:r>
            <a:endParaRPr/>
          </a:p>
        </p:txBody>
      </p:sp>
      <p:sp>
        <p:nvSpPr>
          <p:cNvPr id="510" name="Google Shape;510;p53"/>
          <p:cNvSpPr/>
          <p:nvPr/>
        </p:nvSpPr>
        <p:spPr>
          <a:xfrm>
            <a:off x="3855750" y="2008300"/>
            <a:ext cx="809100" cy="593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7 vs 8?</a:t>
            </a:r>
            <a:endParaRPr/>
          </a:p>
        </p:txBody>
      </p:sp>
      <p:sp>
        <p:nvSpPr>
          <p:cNvPr id="511" name="Google Shape;511;p53"/>
          <p:cNvSpPr/>
          <p:nvPr/>
        </p:nvSpPr>
        <p:spPr>
          <a:xfrm>
            <a:off x="6091000" y="2008300"/>
            <a:ext cx="809100" cy="593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4 vs 5?</a:t>
            </a:r>
            <a:endParaRPr/>
          </a:p>
        </p:txBody>
      </p:sp>
      <p:cxnSp>
        <p:nvCxnSpPr>
          <p:cNvPr id="512" name="Google Shape;512;p53"/>
          <p:cNvCxnSpPr>
            <a:stCxn id="508" idx="2"/>
            <a:endCxn id="509" idx="0"/>
          </p:cNvCxnSpPr>
          <p:nvPr/>
        </p:nvCxnSpPr>
        <p:spPr>
          <a:xfrm flipH="1">
            <a:off x="2025000" y="1269375"/>
            <a:ext cx="2235300" cy="738900"/>
          </a:xfrm>
          <a:prstGeom prst="straightConnector1">
            <a:avLst/>
          </a:prstGeom>
          <a:noFill/>
          <a:ln w="38100" cap="flat" cmpd="sng">
            <a:solidFill>
              <a:srgbClr val="FF0000"/>
            </a:solidFill>
            <a:prstDash val="solid"/>
            <a:round/>
            <a:headEnd type="none" w="med" len="med"/>
            <a:tailEnd type="none" w="med" len="med"/>
          </a:ln>
        </p:spPr>
      </p:cxnSp>
      <p:cxnSp>
        <p:nvCxnSpPr>
          <p:cNvPr id="513" name="Google Shape;513;p53"/>
          <p:cNvCxnSpPr>
            <a:stCxn id="508" idx="2"/>
            <a:endCxn id="510" idx="0"/>
          </p:cNvCxnSpPr>
          <p:nvPr/>
        </p:nvCxnSpPr>
        <p:spPr>
          <a:xfrm>
            <a:off x="4260300" y="1269375"/>
            <a:ext cx="0" cy="738900"/>
          </a:xfrm>
          <a:prstGeom prst="straightConnector1">
            <a:avLst/>
          </a:prstGeom>
          <a:noFill/>
          <a:ln w="38100" cap="flat" cmpd="sng">
            <a:solidFill>
              <a:schemeClr val="dk2"/>
            </a:solidFill>
            <a:prstDash val="solid"/>
            <a:round/>
            <a:headEnd type="none" w="med" len="med"/>
            <a:tailEnd type="none" w="med" len="med"/>
          </a:ln>
        </p:spPr>
      </p:cxnSp>
      <p:cxnSp>
        <p:nvCxnSpPr>
          <p:cNvPr id="514" name="Google Shape;514;p53"/>
          <p:cNvCxnSpPr>
            <a:stCxn id="508" idx="2"/>
            <a:endCxn id="511" idx="0"/>
          </p:cNvCxnSpPr>
          <p:nvPr/>
        </p:nvCxnSpPr>
        <p:spPr>
          <a:xfrm>
            <a:off x="4260300" y="1269375"/>
            <a:ext cx="2235300" cy="738900"/>
          </a:xfrm>
          <a:prstGeom prst="straightConnector1">
            <a:avLst/>
          </a:prstGeom>
          <a:noFill/>
          <a:ln w="38100" cap="flat" cmpd="sng">
            <a:solidFill>
              <a:srgbClr val="0000FF"/>
            </a:solidFill>
            <a:prstDash val="solid"/>
            <a:round/>
            <a:headEnd type="none" w="med" len="med"/>
            <a:tailEnd type="none" w="med" len="med"/>
          </a:ln>
        </p:spPr>
      </p:cxnSp>
      <p:sp>
        <p:nvSpPr>
          <p:cNvPr id="515" name="Google Shape;515;p53"/>
          <p:cNvSpPr txBox="1"/>
          <p:nvPr/>
        </p:nvSpPr>
        <p:spPr>
          <a:xfrm>
            <a:off x="2342075" y="1521063"/>
            <a:ext cx="629100" cy="235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&gt;</a:t>
            </a:r>
            <a:endParaRPr/>
          </a:p>
        </p:txBody>
      </p:sp>
      <p:sp>
        <p:nvSpPr>
          <p:cNvPr id="516" name="Google Shape;516;p53"/>
          <p:cNvSpPr txBox="1"/>
          <p:nvPr/>
        </p:nvSpPr>
        <p:spPr>
          <a:xfrm>
            <a:off x="3945750" y="1521088"/>
            <a:ext cx="629100" cy="235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a:t>
            </a:r>
            <a:endParaRPr/>
          </a:p>
        </p:txBody>
      </p:sp>
      <p:sp>
        <p:nvSpPr>
          <p:cNvPr id="517" name="Google Shape;517;p53"/>
          <p:cNvSpPr txBox="1"/>
          <p:nvPr/>
        </p:nvSpPr>
        <p:spPr>
          <a:xfrm>
            <a:off x="5718650" y="1521063"/>
            <a:ext cx="629100" cy="235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&lt;</a:t>
            </a:r>
            <a:endParaRPr/>
          </a:p>
        </p:txBody>
      </p:sp>
      <p:sp>
        <p:nvSpPr>
          <p:cNvPr id="518" name="Google Shape;518;p53"/>
          <p:cNvSpPr/>
          <p:nvPr/>
        </p:nvSpPr>
        <p:spPr>
          <a:xfrm>
            <a:off x="710150" y="3941550"/>
            <a:ext cx="732900" cy="510300"/>
          </a:xfrm>
          <a:prstGeom prst="roundRect">
            <a:avLst>
              <a:gd name="adj" fmla="val 16667"/>
            </a:avLst>
          </a:prstGeom>
          <a:solidFill>
            <a:srgbClr val="FF0000"/>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1 fake</a:t>
            </a:r>
            <a:endParaRPr/>
          </a:p>
        </p:txBody>
      </p:sp>
      <p:sp>
        <p:nvSpPr>
          <p:cNvPr id="519" name="Google Shape;519;p53"/>
          <p:cNvSpPr/>
          <p:nvPr/>
        </p:nvSpPr>
        <p:spPr>
          <a:xfrm>
            <a:off x="2607050" y="3941550"/>
            <a:ext cx="732900" cy="510300"/>
          </a:xfrm>
          <a:prstGeom prst="roundRect">
            <a:avLst>
              <a:gd name="adj" fmla="val 16667"/>
            </a:avLst>
          </a:prstGeom>
          <a:solidFill>
            <a:srgbClr val="A4C2F4"/>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2 fake</a:t>
            </a:r>
            <a:endParaRPr/>
          </a:p>
        </p:txBody>
      </p:sp>
      <p:sp>
        <p:nvSpPr>
          <p:cNvPr id="520" name="Google Shape;520;p53"/>
          <p:cNvSpPr/>
          <p:nvPr/>
        </p:nvSpPr>
        <p:spPr>
          <a:xfrm>
            <a:off x="1658600" y="3941550"/>
            <a:ext cx="732900" cy="510300"/>
          </a:xfrm>
          <a:prstGeom prst="roundRect">
            <a:avLst>
              <a:gd name="adj" fmla="val 16667"/>
            </a:avLst>
          </a:prstGeom>
          <a:solidFill>
            <a:srgbClr val="A4C2F4"/>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3 fake</a:t>
            </a:r>
            <a:endParaRPr/>
          </a:p>
        </p:txBody>
      </p:sp>
      <p:sp>
        <p:nvSpPr>
          <p:cNvPr id="521" name="Google Shape;521;p53"/>
          <p:cNvSpPr/>
          <p:nvPr/>
        </p:nvSpPr>
        <p:spPr>
          <a:xfrm>
            <a:off x="2945400" y="3233325"/>
            <a:ext cx="732900" cy="510300"/>
          </a:xfrm>
          <a:prstGeom prst="roundRect">
            <a:avLst>
              <a:gd name="adj" fmla="val 16667"/>
            </a:avLst>
          </a:prstGeom>
          <a:solidFill>
            <a:srgbClr val="A4C2F4"/>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7 fake</a:t>
            </a:r>
            <a:endParaRPr/>
          </a:p>
        </p:txBody>
      </p:sp>
      <p:sp>
        <p:nvSpPr>
          <p:cNvPr id="522" name="Google Shape;522;p53"/>
          <p:cNvSpPr/>
          <p:nvPr/>
        </p:nvSpPr>
        <p:spPr>
          <a:xfrm>
            <a:off x="4842300" y="3233325"/>
            <a:ext cx="732900" cy="510300"/>
          </a:xfrm>
          <a:prstGeom prst="roundRect">
            <a:avLst>
              <a:gd name="adj" fmla="val 16667"/>
            </a:avLst>
          </a:prstGeom>
          <a:solidFill>
            <a:srgbClr val="A4C2F4"/>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8 fake</a:t>
            </a:r>
            <a:endParaRPr/>
          </a:p>
        </p:txBody>
      </p:sp>
      <p:sp>
        <p:nvSpPr>
          <p:cNvPr id="523" name="Google Shape;523;p53"/>
          <p:cNvSpPr/>
          <p:nvPr/>
        </p:nvSpPr>
        <p:spPr>
          <a:xfrm>
            <a:off x="3893850" y="3233325"/>
            <a:ext cx="732900" cy="510300"/>
          </a:xfrm>
          <a:prstGeom prst="roundRect">
            <a:avLst>
              <a:gd name="adj" fmla="val 16667"/>
            </a:avLst>
          </a:prstGeom>
          <a:solidFill>
            <a:srgbClr val="A4C2F4"/>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9 fake</a:t>
            </a:r>
            <a:endParaRPr/>
          </a:p>
        </p:txBody>
      </p:sp>
      <p:sp>
        <p:nvSpPr>
          <p:cNvPr id="524" name="Google Shape;524;p53"/>
          <p:cNvSpPr/>
          <p:nvPr/>
        </p:nvSpPr>
        <p:spPr>
          <a:xfrm>
            <a:off x="5180650" y="3941550"/>
            <a:ext cx="732900" cy="510300"/>
          </a:xfrm>
          <a:prstGeom prst="roundRect">
            <a:avLst>
              <a:gd name="adj" fmla="val 16667"/>
            </a:avLst>
          </a:prstGeom>
          <a:solidFill>
            <a:srgbClr val="A4C2F4"/>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4 fake</a:t>
            </a:r>
            <a:endParaRPr/>
          </a:p>
        </p:txBody>
      </p:sp>
      <p:sp>
        <p:nvSpPr>
          <p:cNvPr id="525" name="Google Shape;525;p53"/>
          <p:cNvSpPr/>
          <p:nvPr/>
        </p:nvSpPr>
        <p:spPr>
          <a:xfrm>
            <a:off x="7077550" y="3941550"/>
            <a:ext cx="732900" cy="510300"/>
          </a:xfrm>
          <a:prstGeom prst="roundRect">
            <a:avLst>
              <a:gd name="adj" fmla="val 16667"/>
            </a:avLst>
          </a:prstGeom>
          <a:solidFill>
            <a:srgbClr val="A4C2F4"/>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5 fake</a:t>
            </a:r>
            <a:endParaRPr/>
          </a:p>
        </p:txBody>
      </p:sp>
      <p:sp>
        <p:nvSpPr>
          <p:cNvPr id="526" name="Google Shape;526;p53"/>
          <p:cNvSpPr/>
          <p:nvPr/>
        </p:nvSpPr>
        <p:spPr>
          <a:xfrm>
            <a:off x="6129100" y="3941550"/>
            <a:ext cx="732900" cy="510300"/>
          </a:xfrm>
          <a:prstGeom prst="roundRect">
            <a:avLst>
              <a:gd name="adj" fmla="val 16667"/>
            </a:avLst>
          </a:prstGeom>
          <a:solidFill>
            <a:srgbClr val="A4C2F4"/>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6 fake</a:t>
            </a:r>
            <a:endParaRPr/>
          </a:p>
        </p:txBody>
      </p:sp>
      <p:cxnSp>
        <p:nvCxnSpPr>
          <p:cNvPr id="527" name="Google Shape;527;p53"/>
          <p:cNvCxnSpPr>
            <a:stCxn id="509" idx="2"/>
            <a:endCxn id="518" idx="0"/>
          </p:cNvCxnSpPr>
          <p:nvPr/>
        </p:nvCxnSpPr>
        <p:spPr>
          <a:xfrm flipH="1">
            <a:off x="1076450" y="2602000"/>
            <a:ext cx="948600" cy="1339500"/>
          </a:xfrm>
          <a:prstGeom prst="straightConnector1">
            <a:avLst/>
          </a:prstGeom>
          <a:noFill/>
          <a:ln w="38100" cap="flat" cmpd="sng">
            <a:solidFill>
              <a:srgbClr val="FF0000"/>
            </a:solidFill>
            <a:prstDash val="solid"/>
            <a:round/>
            <a:headEnd type="none" w="med" len="med"/>
            <a:tailEnd type="none" w="med" len="med"/>
          </a:ln>
        </p:spPr>
      </p:cxnSp>
      <p:cxnSp>
        <p:nvCxnSpPr>
          <p:cNvPr id="528" name="Google Shape;528;p53"/>
          <p:cNvCxnSpPr>
            <a:stCxn id="509" idx="2"/>
            <a:endCxn id="520" idx="0"/>
          </p:cNvCxnSpPr>
          <p:nvPr/>
        </p:nvCxnSpPr>
        <p:spPr>
          <a:xfrm>
            <a:off x="2025050" y="2602000"/>
            <a:ext cx="0" cy="1339500"/>
          </a:xfrm>
          <a:prstGeom prst="straightConnector1">
            <a:avLst/>
          </a:prstGeom>
          <a:noFill/>
          <a:ln w="38100" cap="flat" cmpd="sng">
            <a:solidFill>
              <a:schemeClr val="dk2"/>
            </a:solidFill>
            <a:prstDash val="solid"/>
            <a:round/>
            <a:headEnd type="none" w="med" len="med"/>
            <a:tailEnd type="none" w="med" len="med"/>
          </a:ln>
        </p:spPr>
      </p:cxnSp>
      <p:cxnSp>
        <p:nvCxnSpPr>
          <p:cNvPr id="529" name="Google Shape;529;p53"/>
          <p:cNvCxnSpPr>
            <a:stCxn id="509" idx="2"/>
            <a:endCxn id="519" idx="0"/>
          </p:cNvCxnSpPr>
          <p:nvPr/>
        </p:nvCxnSpPr>
        <p:spPr>
          <a:xfrm>
            <a:off x="2025050" y="2602000"/>
            <a:ext cx="948600" cy="1339500"/>
          </a:xfrm>
          <a:prstGeom prst="straightConnector1">
            <a:avLst/>
          </a:prstGeom>
          <a:noFill/>
          <a:ln w="38100" cap="flat" cmpd="sng">
            <a:solidFill>
              <a:srgbClr val="0000FF"/>
            </a:solidFill>
            <a:prstDash val="solid"/>
            <a:round/>
            <a:headEnd type="none" w="med" len="med"/>
            <a:tailEnd type="none" w="med" len="med"/>
          </a:ln>
        </p:spPr>
      </p:cxnSp>
      <p:cxnSp>
        <p:nvCxnSpPr>
          <p:cNvPr id="530" name="Google Shape;530;p53"/>
          <p:cNvCxnSpPr>
            <a:stCxn id="511" idx="2"/>
            <a:endCxn id="524" idx="0"/>
          </p:cNvCxnSpPr>
          <p:nvPr/>
        </p:nvCxnSpPr>
        <p:spPr>
          <a:xfrm flipH="1">
            <a:off x="5546950" y="2602000"/>
            <a:ext cx="948600" cy="1339500"/>
          </a:xfrm>
          <a:prstGeom prst="straightConnector1">
            <a:avLst/>
          </a:prstGeom>
          <a:noFill/>
          <a:ln w="38100" cap="flat" cmpd="sng">
            <a:solidFill>
              <a:srgbClr val="FF0000"/>
            </a:solidFill>
            <a:prstDash val="solid"/>
            <a:round/>
            <a:headEnd type="none" w="med" len="med"/>
            <a:tailEnd type="none" w="med" len="med"/>
          </a:ln>
        </p:spPr>
      </p:cxnSp>
      <p:cxnSp>
        <p:nvCxnSpPr>
          <p:cNvPr id="531" name="Google Shape;531;p53"/>
          <p:cNvCxnSpPr>
            <a:stCxn id="511" idx="2"/>
            <a:endCxn id="526" idx="0"/>
          </p:cNvCxnSpPr>
          <p:nvPr/>
        </p:nvCxnSpPr>
        <p:spPr>
          <a:xfrm>
            <a:off x="6495550" y="2602000"/>
            <a:ext cx="0" cy="1339500"/>
          </a:xfrm>
          <a:prstGeom prst="straightConnector1">
            <a:avLst/>
          </a:prstGeom>
          <a:noFill/>
          <a:ln w="38100" cap="flat" cmpd="sng">
            <a:solidFill>
              <a:schemeClr val="dk2"/>
            </a:solidFill>
            <a:prstDash val="solid"/>
            <a:round/>
            <a:headEnd type="none" w="med" len="med"/>
            <a:tailEnd type="none" w="med" len="med"/>
          </a:ln>
        </p:spPr>
      </p:cxnSp>
      <p:cxnSp>
        <p:nvCxnSpPr>
          <p:cNvPr id="532" name="Google Shape;532;p53"/>
          <p:cNvCxnSpPr>
            <a:stCxn id="511" idx="2"/>
            <a:endCxn id="525" idx="0"/>
          </p:cNvCxnSpPr>
          <p:nvPr/>
        </p:nvCxnSpPr>
        <p:spPr>
          <a:xfrm>
            <a:off x="6495550" y="2602000"/>
            <a:ext cx="948600" cy="1339500"/>
          </a:xfrm>
          <a:prstGeom prst="straightConnector1">
            <a:avLst/>
          </a:prstGeom>
          <a:noFill/>
          <a:ln w="38100" cap="flat" cmpd="sng">
            <a:solidFill>
              <a:srgbClr val="0000FF"/>
            </a:solidFill>
            <a:prstDash val="solid"/>
            <a:round/>
            <a:headEnd type="none" w="med" len="med"/>
            <a:tailEnd type="none" w="med" len="med"/>
          </a:ln>
        </p:spPr>
      </p:cxnSp>
      <p:cxnSp>
        <p:nvCxnSpPr>
          <p:cNvPr id="533" name="Google Shape;533;p53"/>
          <p:cNvCxnSpPr>
            <a:stCxn id="510" idx="2"/>
            <a:endCxn id="521" idx="0"/>
          </p:cNvCxnSpPr>
          <p:nvPr/>
        </p:nvCxnSpPr>
        <p:spPr>
          <a:xfrm flipH="1">
            <a:off x="3311700" y="2602000"/>
            <a:ext cx="948600" cy="631200"/>
          </a:xfrm>
          <a:prstGeom prst="straightConnector1">
            <a:avLst/>
          </a:prstGeom>
          <a:noFill/>
          <a:ln w="38100" cap="flat" cmpd="sng">
            <a:solidFill>
              <a:srgbClr val="FF0000"/>
            </a:solidFill>
            <a:prstDash val="solid"/>
            <a:round/>
            <a:headEnd type="none" w="med" len="med"/>
            <a:tailEnd type="none" w="med" len="med"/>
          </a:ln>
        </p:spPr>
      </p:cxnSp>
      <p:cxnSp>
        <p:nvCxnSpPr>
          <p:cNvPr id="534" name="Google Shape;534;p53"/>
          <p:cNvCxnSpPr>
            <a:stCxn id="510" idx="2"/>
            <a:endCxn id="523" idx="0"/>
          </p:cNvCxnSpPr>
          <p:nvPr/>
        </p:nvCxnSpPr>
        <p:spPr>
          <a:xfrm>
            <a:off x="4260300" y="2602000"/>
            <a:ext cx="0" cy="631200"/>
          </a:xfrm>
          <a:prstGeom prst="straightConnector1">
            <a:avLst/>
          </a:prstGeom>
          <a:noFill/>
          <a:ln w="38100" cap="flat" cmpd="sng">
            <a:solidFill>
              <a:schemeClr val="dk2"/>
            </a:solidFill>
            <a:prstDash val="solid"/>
            <a:round/>
            <a:headEnd type="none" w="med" len="med"/>
            <a:tailEnd type="none" w="med" len="med"/>
          </a:ln>
        </p:spPr>
      </p:cxnSp>
      <p:cxnSp>
        <p:nvCxnSpPr>
          <p:cNvPr id="535" name="Google Shape;535;p53"/>
          <p:cNvCxnSpPr>
            <a:stCxn id="510" idx="2"/>
            <a:endCxn id="522" idx="0"/>
          </p:cNvCxnSpPr>
          <p:nvPr/>
        </p:nvCxnSpPr>
        <p:spPr>
          <a:xfrm>
            <a:off x="4260300" y="2602000"/>
            <a:ext cx="948600" cy="631200"/>
          </a:xfrm>
          <a:prstGeom prst="straightConnector1">
            <a:avLst/>
          </a:prstGeom>
          <a:noFill/>
          <a:ln w="38100" cap="flat" cmpd="sng">
            <a:solidFill>
              <a:srgbClr val="0000FF"/>
            </a:solidFill>
            <a:prstDash val="solid"/>
            <a:round/>
            <a:headEnd type="none" w="med" len="med"/>
            <a:tailEnd type="non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09"/>
                                        </p:tgtEl>
                                        <p:attrNameLst>
                                          <p:attrName>style.visibility</p:attrName>
                                        </p:attrNameLst>
                                      </p:cBhvr>
                                      <p:to>
                                        <p:strVal val="visible"/>
                                      </p:to>
                                    </p:set>
                                    <p:animEffect transition="in" filter="fade">
                                      <p:cBhvr>
                                        <p:cTn id="7" dur="1000"/>
                                        <p:tgtEl>
                                          <p:spTgt spid="5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539"/>
        <p:cNvGrpSpPr/>
        <p:nvPr/>
      </p:nvGrpSpPr>
      <p:grpSpPr>
        <a:xfrm>
          <a:off x="0" y="0"/>
          <a:ext cx="0" cy="0"/>
          <a:chOff x="0" y="0"/>
          <a:chExt cx="0" cy="0"/>
        </a:xfrm>
      </p:grpSpPr>
      <p:sp>
        <p:nvSpPr>
          <p:cNvPr id="540" name="Google Shape;540;p54"/>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9 Coins: Validation</a:t>
            </a:r>
            <a:endParaRPr/>
          </a:p>
        </p:txBody>
      </p:sp>
      <p:sp>
        <p:nvSpPr>
          <p:cNvPr id="541" name="Google Shape;541;p54"/>
          <p:cNvSpPr txBox="1">
            <a:spLocks noGrp="1"/>
          </p:cNvSpPr>
          <p:nvPr>
            <p:ph type="body" idx="1"/>
          </p:nvPr>
        </p:nvSpPr>
        <p:spPr>
          <a:xfrm>
            <a:off x="107050" y="402200"/>
            <a:ext cx="8520600" cy="11772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To verify that our scheme works, let's check every single case.</a:t>
            </a:r>
            <a:endParaRPr/>
          </a:p>
          <a:p>
            <a:pPr marL="0" lvl="0" indent="0" algn="l" rtl="0">
              <a:spcBef>
                <a:spcPts val="600"/>
              </a:spcBef>
              <a:spcAft>
                <a:spcPts val="0"/>
              </a:spcAft>
              <a:buNone/>
            </a:pPr>
            <a:r>
              <a:rPr lang="en"/>
              <a:t>There are nine "universes" that we could start in (1 is counterfeit, 2 is counterfeit, etc.). We can verify that in each universe, we yield the correct result</a:t>
            </a:r>
            <a:endParaRPr/>
          </a:p>
        </p:txBody>
      </p:sp>
      <p:pic>
        <p:nvPicPr>
          <p:cNvPr id="542" name="Google Shape;542;p54"/>
          <p:cNvPicPr preferRelativeResize="0"/>
          <p:nvPr/>
        </p:nvPicPr>
        <p:blipFill>
          <a:blip r:embed="rId3">
            <a:alphaModFix/>
          </a:blip>
          <a:stretch>
            <a:fillRect/>
          </a:stretch>
        </p:blipFill>
        <p:spPr>
          <a:xfrm>
            <a:off x="7081474" y="3143674"/>
            <a:ext cx="2051075" cy="1774176"/>
          </a:xfrm>
          <a:prstGeom prst="rect">
            <a:avLst/>
          </a:prstGeom>
          <a:noFill/>
          <a:ln>
            <a:noFill/>
          </a:ln>
        </p:spPr>
      </p:pic>
      <p:grpSp>
        <p:nvGrpSpPr>
          <p:cNvPr id="543" name="Google Shape;543;p54"/>
          <p:cNvGrpSpPr/>
          <p:nvPr/>
        </p:nvGrpSpPr>
        <p:grpSpPr>
          <a:xfrm>
            <a:off x="231675" y="1622000"/>
            <a:ext cx="1730502" cy="900207"/>
            <a:chOff x="231675" y="1622000"/>
            <a:chExt cx="1730502" cy="900207"/>
          </a:xfrm>
        </p:grpSpPr>
        <p:sp>
          <p:nvSpPr>
            <p:cNvPr id="544" name="Google Shape;544;p54"/>
            <p:cNvSpPr/>
            <p:nvPr/>
          </p:nvSpPr>
          <p:spPr>
            <a:xfrm>
              <a:off x="948081" y="1622000"/>
              <a:ext cx="297900" cy="124500"/>
            </a:xfrm>
            <a:prstGeom prst="rect">
              <a:avLst/>
            </a:prstGeom>
            <a:solidFill>
              <a:srgbClr val="FF0000"/>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00"/>
            </a:p>
          </p:txBody>
        </p:sp>
        <p:sp>
          <p:nvSpPr>
            <p:cNvPr id="545" name="Google Shape;545;p54"/>
            <p:cNvSpPr/>
            <p:nvPr/>
          </p:nvSpPr>
          <p:spPr>
            <a:xfrm>
              <a:off x="453565" y="1926490"/>
              <a:ext cx="197100" cy="144600"/>
            </a:xfrm>
            <a:prstGeom prst="rect">
              <a:avLst/>
            </a:prstGeom>
            <a:solidFill>
              <a:srgbClr val="FF0000"/>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00"/>
            </a:p>
          </p:txBody>
        </p:sp>
        <p:sp>
          <p:nvSpPr>
            <p:cNvPr id="546" name="Google Shape;546;p54"/>
            <p:cNvSpPr/>
            <p:nvPr/>
          </p:nvSpPr>
          <p:spPr>
            <a:xfrm>
              <a:off x="998390" y="1926490"/>
              <a:ext cx="197100" cy="1446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00"/>
            </a:p>
          </p:txBody>
        </p:sp>
        <p:sp>
          <p:nvSpPr>
            <p:cNvPr id="547" name="Google Shape;547;p54"/>
            <p:cNvSpPr/>
            <p:nvPr/>
          </p:nvSpPr>
          <p:spPr>
            <a:xfrm>
              <a:off x="1543214" y="1926490"/>
              <a:ext cx="197100" cy="1446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00"/>
            </a:p>
          </p:txBody>
        </p:sp>
        <p:cxnSp>
          <p:nvCxnSpPr>
            <p:cNvPr id="548" name="Google Shape;548;p54"/>
            <p:cNvCxnSpPr>
              <a:stCxn id="544" idx="2"/>
              <a:endCxn id="545" idx="0"/>
            </p:cNvCxnSpPr>
            <p:nvPr/>
          </p:nvCxnSpPr>
          <p:spPr>
            <a:xfrm flipH="1">
              <a:off x="552231" y="1746500"/>
              <a:ext cx="544800" cy="180000"/>
            </a:xfrm>
            <a:prstGeom prst="straightConnector1">
              <a:avLst/>
            </a:prstGeom>
            <a:noFill/>
            <a:ln w="19050" cap="flat" cmpd="sng">
              <a:solidFill>
                <a:srgbClr val="FF0000"/>
              </a:solidFill>
              <a:prstDash val="solid"/>
              <a:round/>
              <a:headEnd type="none" w="med" len="med"/>
              <a:tailEnd type="none" w="med" len="med"/>
            </a:ln>
          </p:spPr>
        </p:cxnSp>
        <p:cxnSp>
          <p:nvCxnSpPr>
            <p:cNvPr id="549" name="Google Shape;549;p54"/>
            <p:cNvCxnSpPr>
              <a:stCxn id="544" idx="2"/>
              <a:endCxn id="546" idx="0"/>
            </p:cNvCxnSpPr>
            <p:nvPr/>
          </p:nvCxnSpPr>
          <p:spPr>
            <a:xfrm>
              <a:off x="1097031" y="1746500"/>
              <a:ext cx="0" cy="180000"/>
            </a:xfrm>
            <a:prstGeom prst="straightConnector1">
              <a:avLst/>
            </a:prstGeom>
            <a:noFill/>
            <a:ln w="19050" cap="flat" cmpd="sng">
              <a:solidFill>
                <a:schemeClr val="dk2"/>
              </a:solidFill>
              <a:prstDash val="solid"/>
              <a:round/>
              <a:headEnd type="none" w="med" len="med"/>
              <a:tailEnd type="none" w="med" len="med"/>
            </a:ln>
          </p:spPr>
        </p:cxnSp>
        <p:cxnSp>
          <p:nvCxnSpPr>
            <p:cNvPr id="550" name="Google Shape;550;p54"/>
            <p:cNvCxnSpPr>
              <a:stCxn id="544" idx="2"/>
              <a:endCxn id="547" idx="0"/>
            </p:cNvCxnSpPr>
            <p:nvPr/>
          </p:nvCxnSpPr>
          <p:spPr>
            <a:xfrm>
              <a:off x="1097031" y="1746500"/>
              <a:ext cx="544800" cy="180000"/>
            </a:xfrm>
            <a:prstGeom prst="straightConnector1">
              <a:avLst/>
            </a:prstGeom>
            <a:noFill/>
            <a:ln w="19050" cap="flat" cmpd="sng">
              <a:solidFill>
                <a:srgbClr val="0000FF"/>
              </a:solidFill>
              <a:prstDash val="solid"/>
              <a:round/>
              <a:headEnd type="none" w="med" len="med"/>
              <a:tailEnd type="none" w="med" len="med"/>
            </a:ln>
          </p:spPr>
        </p:cxnSp>
        <p:sp>
          <p:nvSpPr>
            <p:cNvPr id="551" name="Google Shape;551;p54"/>
            <p:cNvSpPr/>
            <p:nvPr/>
          </p:nvSpPr>
          <p:spPr>
            <a:xfrm>
              <a:off x="231675" y="2397707"/>
              <a:ext cx="178500" cy="124500"/>
            </a:xfrm>
            <a:prstGeom prst="roundRect">
              <a:avLst>
                <a:gd name="adj" fmla="val 16667"/>
              </a:avLst>
            </a:prstGeom>
            <a:solidFill>
              <a:srgbClr val="FF0000"/>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00"/>
            </a:p>
          </p:txBody>
        </p:sp>
        <p:sp>
          <p:nvSpPr>
            <p:cNvPr id="552" name="Google Shape;552;p54"/>
            <p:cNvSpPr/>
            <p:nvPr/>
          </p:nvSpPr>
          <p:spPr>
            <a:xfrm>
              <a:off x="694029" y="2397707"/>
              <a:ext cx="178500" cy="124500"/>
            </a:xfrm>
            <a:prstGeom prst="roundRect">
              <a:avLst>
                <a:gd name="adj" fmla="val 16667"/>
              </a:avLst>
            </a:prstGeom>
            <a:solidFill>
              <a:srgbClr val="A4C2F4"/>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00"/>
            </a:p>
          </p:txBody>
        </p:sp>
        <p:sp>
          <p:nvSpPr>
            <p:cNvPr id="553" name="Google Shape;553;p54"/>
            <p:cNvSpPr/>
            <p:nvPr/>
          </p:nvSpPr>
          <p:spPr>
            <a:xfrm>
              <a:off x="462852" y="2397707"/>
              <a:ext cx="178500" cy="124500"/>
            </a:xfrm>
            <a:prstGeom prst="roundRect">
              <a:avLst>
                <a:gd name="adj" fmla="val 16667"/>
              </a:avLst>
            </a:prstGeom>
            <a:solidFill>
              <a:srgbClr val="A4C2F4"/>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00"/>
            </a:p>
          </p:txBody>
        </p:sp>
        <p:sp>
          <p:nvSpPr>
            <p:cNvPr id="554" name="Google Shape;554;p54"/>
            <p:cNvSpPr/>
            <p:nvPr/>
          </p:nvSpPr>
          <p:spPr>
            <a:xfrm>
              <a:off x="776499" y="2225082"/>
              <a:ext cx="178500" cy="124500"/>
            </a:xfrm>
            <a:prstGeom prst="roundRect">
              <a:avLst>
                <a:gd name="adj" fmla="val 16667"/>
              </a:avLst>
            </a:prstGeom>
            <a:solidFill>
              <a:srgbClr val="A4C2F4"/>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00"/>
            </a:p>
          </p:txBody>
        </p:sp>
        <p:sp>
          <p:nvSpPr>
            <p:cNvPr id="555" name="Google Shape;555;p54"/>
            <p:cNvSpPr/>
            <p:nvPr/>
          </p:nvSpPr>
          <p:spPr>
            <a:xfrm>
              <a:off x="1238853" y="2225082"/>
              <a:ext cx="178500" cy="124500"/>
            </a:xfrm>
            <a:prstGeom prst="roundRect">
              <a:avLst>
                <a:gd name="adj" fmla="val 16667"/>
              </a:avLst>
            </a:prstGeom>
            <a:solidFill>
              <a:srgbClr val="A4C2F4"/>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00"/>
            </a:p>
          </p:txBody>
        </p:sp>
        <p:sp>
          <p:nvSpPr>
            <p:cNvPr id="556" name="Google Shape;556;p54"/>
            <p:cNvSpPr/>
            <p:nvPr/>
          </p:nvSpPr>
          <p:spPr>
            <a:xfrm>
              <a:off x="1007676" y="2225082"/>
              <a:ext cx="178500" cy="124500"/>
            </a:xfrm>
            <a:prstGeom prst="roundRect">
              <a:avLst>
                <a:gd name="adj" fmla="val 16667"/>
              </a:avLst>
            </a:prstGeom>
            <a:solidFill>
              <a:srgbClr val="A4C2F4"/>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00"/>
            </a:p>
          </p:txBody>
        </p:sp>
        <p:sp>
          <p:nvSpPr>
            <p:cNvPr id="557" name="Google Shape;557;p54"/>
            <p:cNvSpPr/>
            <p:nvPr/>
          </p:nvSpPr>
          <p:spPr>
            <a:xfrm>
              <a:off x="1321323" y="2397707"/>
              <a:ext cx="178500" cy="124500"/>
            </a:xfrm>
            <a:prstGeom prst="roundRect">
              <a:avLst>
                <a:gd name="adj" fmla="val 16667"/>
              </a:avLst>
            </a:prstGeom>
            <a:solidFill>
              <a:srgbClr val="A4C2F4"/>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00"/>
            </a:p>
          </p:txBody>
        </p:sp>
        <p:sp>
          <p:nvSpPr>
            <p:cNvPr id="558" name="Google Shape;558;p54"/>
            <p:cNvSpPr/>
            <p:nvPr/>
          </p:nvSpPr>
          <p:spPr>
            <a:xfrm>
              <a:off x="1783677" y="2397707"/>
              <a:ext cx="178500" cy="124500"/>
            </a:xfrm>
            <a:prstGeom prst="roundRect">
              <a:avLst>
                <a:gd name="adj" fmla="val 16667"/>
              </a:avLst>
            </a:prstGeom>
            <a:solidFill>
              <a:srgbClr val="A4C2F4"/>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00"/>
            </a:p>
          </p:txBody>
        </p:sp>
        <p:sp>
          <p:nvSpPr>
            <p:cNvPr id="559" name="Google Shape;559;p54"/>
            <p:cNvSpPr/>
            <p:nvPr/>
          </p:nvSpPr>
          <p:spPr>
            <a:xfrm>
              <a:off x="1552500" y="2397707"/>
              <a:ext cx="178500" cy="124500"/>
            </a:xfrm>
            <a:prstGeom prst="roundRect">
              <a:avLst>
                <a:gd name="adj" fmla="val 16667"/>
              </a:avLst>
            </a:prstGeom>
            <a:solidFill>
              <a:srgbClr val="A4C2F4"/>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00"/>
            </a:p>
          </p:txBody>
        </p:sp>
        <p:cxnSp>
          <p:nvCxnSpPr>
            <p:cNvPr id="560" name="Google Shape;560;p54"/>
            <p:cNvCxnSpPr>
              <a:stCxn id="545" idx="2"/>
              <a:endCxn id="551" idx="0"/>
            </p:cNvCxnSpPr>
            <p:nvPr/>
          </p:nvCxnSpPr>
          <p:spPr>
            <a:xfrm flipH="1">
              <a:off x="320815" y="2071090"/>
              <a:ext cx="231300" cy="326700"/>
            </a:xfrm>
            <a:prstGeom prst="straightConnector1">
              <a:avLst/>
            </a:prstGeom>
            <a:noFill/>
            <a:ln w="19050" cap="flat" cmpd="sng">
              <a:solidFill>
                <a:srgbClr val="FF0000"/>
              </a:solidFill>
              <a:prstDash val="solid"/>
              <a:round/>
              <a:headEnd type="none" w="med" len="med"/>
              <a:tailEnd type="none" w="med" len="med"/>
            </a:ln>
          </p:spPr>
        </p:cxnSp>
        <p:cxnSp>
          <p:nvCxnSpPr>
            <p:cNvPr id="561" name="Google Shape;561;p54"/>
            <p:cNvCxnSpPr>
              <a:stCxn id="545" idx="2"/>
              <a:endCxn id="553" idx="0"/>
            </p:cNvCxnSpPr>
            <p:nvPr/>
          </p:nvCxnSpPr>
          <p:spPr>
            <a:xfrm>
              <a:off x="552115" y="2071090"/>
              <a:ext cx="0" cy="326700"/>
            </a:xfrm>
            <a:prstGeom prst="straightConnector1">
              <a:avLst/>
            </a:prstGeom>
            <a:noFill/>
            <a:ln w="19050" cap="flat" cmpd="sng">
              <a:solidFill>
                <a:schemeClr val="dk2"/>
              </a:solidFill>
              <a:prstDash val="solid"/>
              <a:round/>
              <a:headEnd type="none" w="med" len="med"/>
              <a:tailEnd type="none" w="med" len="med"/>
            </a:ln>
          </p:spPr>
        </p:cxnSp>
        <p:cxnSp>
          <p:nvCxnSpPr>
            <p:cNvPr id="562" name="Google Shape;562;p54"/>
            <p:cNvCxnSpPr>
              <a:stCxn id="545" idx="2"/>
              <a:endCxn id="552" idx="0"/>
            </p:cNvCxnSpPr>
            <p:nvPr/>
          </p:nvCxnSpPr>
          <p:spPr>
            <a:xfrm>
              <a:off x="552115" y="2071090"/>
              <a:ext cx="231300" cy="326700"/>
            </a:xfrm>
            <a:prstGeom prst="straightConnector1">
              <a:avLst/>
            </a:prstGeom>
            <a:noFill/>
            <a:ln w="19050" cap="flat" cmpd="sng">
              <a:solidFill>
                <a:srgbClr val="0000FF"/>
              </a:solidFill>
              <a:prstDash val="solid"/>
              <a:round/>
              <a:headEnd type="none" w="med" len="med"/>
              <a:tailEnd type="none" w="med" len="med"/>
            </a:ln>
          </p:spPr>
        </p:cxnSp>
        <p:cxnSp>
          <p:nvCxnSpPr>
            <p:cNvPr id="563" name="Google Shape;563;p54"/>
            <p:cNvCxnSpPr>
              <a:stCxn id="547" idx="2"/>
              <a:endCxn id="557" idx="0"/>
            </p:cNvCxnSpPr>
            <p:nvPr/>
          </p:nvCxnSpPr>
          <p:spPr>
            <a:xfrm flipH="1">
              <a:off x="1410464" y="2071090"/>
              <a:ext cx="231300" cy="326700"/>
            </a:xfrm>
            <a:prstGeom prst="straightConnector1">
              <a:avLst/>
            </a:prstGeom>
            <a:noFill/>
            <a:ln w="19050" cap="flat" cmpd="sng">
              <a:solidFill>
                <a:srgbClr val="FF0000"/>
              </a:solidFill>
              <a:prstDash val="solid"/>
              <a:round/>
              <a:headEnd type="none" w="med" len="med"/>
              <a:tailEnd type="none" w="med" len="med"/>
            </a:ln>
          </p:spPr>
        </p:cxnSp>
        <p:cxnSp>
          <p:nvCxnSpPr>
            <p:cNvPr id="564" name="Google Shape;564;p54"/>
            <p:cNvCxnSpPr>
              <a:stCxn id="547" idx="2"/>
              <a:endCxn id="559" idx="0"/>
            </p:cNvCxnSpPr>
            <p:nvPr/>
          </p:nvCxnSpPr>
          <p:spPr>
            <a:xfrm>
              <a:off x="1641764" y="2071090"/>
              <a:ext cx="0" cy="326700"/>
            </a:xfrm>
            <a:prstGeom prst="straightConnector1">
              <a:avLst/>
            </a:prstGeom>
            <a:noFill/>
            <a:ln w="19050" cap="flat" cmpd="sng">
              <a:solidFill>
                <a:schemeClr val="dk2"/>
              </a:solidFill>
              <a:prstDash val="solid"/>
              <a:round/>
              <a:headEnd type="none" w="med" len="med"/>
              <a:tailEnd type="none" w="med" len="med"/>
            </a:ln>
          </p:spPr>
        </p:cxnSp>
        <p:cxnSp>
          <p:nvCxnSpPr>
            <p:cNvPr id="565" name="Google Shape;565;p54"/>
            <p:cNvCxnSpPr>
              <a:stCxn id="547" idx="2"/>
              <a:endCxn id="558" idx="0"/>
            </p:cNvCxnSpPr>
            <p:nvPr/>
          </p:nvCxnSpPr>
          <p:spPr>
            <a:xfrm>
              <a:off x="1641764" y="2071090"/>
              <a:ext cx="231300" cy="326700"/>
            </a:xfrm>
            <a:prstGeom prst="straightConnector1">
              <a:avLst/>
            </a:prstGeom>
            <a:noFill/>
            <a:ln w="19050" cap="flat" cmpd="sng">
              <a:solidFill>
                <a:srgbClr val="0000FF"/>
              </a:solidFill>
              <a:prstDash val="solid"/>
              <a:round/>
              <a:headEnd type="none" w="med" len="med"/>
              <a:tailEnd type="none" w="med" len="med"/>
            </a:ln>
          </p:spPr>
        </p:cxnSp>
        <p:cxnSp>
          <p:nvCxnSpPr>
            <p:cNvPr id="566" name="Google Shape;566;p54"/>
            <p:cNvCxnSpPr>
              <a:stCxn id="546" idx="2"/>
              <a:endCxn id="554" idx="0"/>
            </p:cNvCxnSpPr>
            <p:nvPr/>
          </p:nvCxnSpPr>
          <p:spPr>
            <a:xfrm flipH="1">
              <a:off x="865640" y="2071090"/>
              <a:ext cx="231300" cy="153900"/>
            </a:xfrm>
            <a:prstGeom prst="straightConnector1">
              <a:avLst/>
            </a:prstGeom>
            <a:noFill/>
            <a:ln w="19050" cap="flat" cmpd="sng">
              <a:solidFill>
                <a:srgbClr val="FF0000"/>
              </a:solidFill>
              <a:prstDash val="solid"/>
              <a:round/>
              <a:headEnd type="none" w="med" len="med"/>
              <a:tailEnd type="none" w="med" len="med"/>
            </a:ln>
          </p:spPr>
        </p:cxnSp>
        <p:cxnSp>
          <p:nvCxnSpPr>
            <p:cNvPr id="567" name="Google Shape;567;p54"/>
            <p:cNvCxnSpPr>
              <a:stCxn id="546" idx="2"/>
              <a:endCxn id="556" idx="0"/>
            </p:cNvCxnSpPr>
            <p:nvPr/>
          </p:nvCxnSpPr>
          <p:spPr>
            <a:xfrm>
              <a:off x="1096940" y="2071090"/>
              <a:ext cx="0" cy="153900"/>
            </a:xfrm>
            <a:prstGeom prst="straightConnector1">
              <a:avLst/>
            </a:prstGeom>
            <a:noFill/>
            <a:ln w="19050" cap="flat" cmpd="sng">
              <a:solidFill>
                <a:schemeClr val="dk2"/>
              </a:solidFill>
              <a:prstDash val="solid"/>
              <a:round/>
              <a:headEnd type="none" w="med" len="med"/>
              <a:tailEnd type="none" w="med" len="med"/>
            </a:ln>
          </p:spPr>
        </p:cxnSp>
        <p:cxnSp>
          <p:nvCxnSpPr>
            <p:cNvPr id="568" name="Google Shape;568;p54"/>
            <p:cNvCxnSpPr>
              <a:stCxn id="546" idx="2"/>
              <a:endCxn id="555" idx="0"/>
            </p:cNvCxnSpPr>
            <p:nvPr/>
          </p:nvCxnSpPr>
          <p:spPr>
            <a:xfrm>
              <a:off x="1096940" y="2071090"/>
              <a:ext cx="231300" cy="153900"/>
            </a:xfrm>
            <a:prstGeom prst="straightConnector1">
              <a:avLst/>
            </a:prstGeom>
            <a:noFill/>
            <a:ln w="19050" cap="flat" cmpd="sng">
              <a:solidFill>
                <a:srgbClr val="0000FF"/>
              </a:solidFill>
              <a:prstDash val="solid"/>
              <a:round/>
              <a:headEnd type="none" w="med" len="med"/>
              <a:tailEnd type="none" w="med" len="med"/>
            </a:ln>
          </p:spPr>
        </p:cxnSp>
      </p:grpSp>
      <p:grpSp>
        <p:nvGrpSpPr>
          <p:cNvPr id="569" name="Google Shape;569;p54"/>
          <p:cNvGrpSpPr/>
          <p:nvPr/>
        </p:nvGrpSpPr>
        <p:grpSpPr>
          <a:xfrm>
            <a:off x="2225275" y="1622000"/>
            <a:ext cx="1730502" cy="900207"/>
            <a:chOff x="231675" y="1622000"/>
            <a:chExt cx="1730502" cy="900207"/>
          </a:xfrm>
        </p:grpSpPr>
        <p:sp>
          <p:nvSpPr>
            <p:cNvPr id="570" name="Google Shape;570;p54"/>
            <p:cNvSpPr/>
            <p:nvPr/>
          </p:nvSpPr>
          <p:spPr>
            <a:xfrm>
              <a:off x="948081" y="1622000"/>
              <a:ext cx="297900" cy="124500"/>
            </a:xfrm>
            <a:prstGeom prst="rect">
              <a:avLst/>
            </a:prstGeom>
            <a:solidFill>
              <a:srgbClr val="FF0000"/>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00"/>
            </a:p>
          </p:txBody>
        </p:sp>
        <p:sp>
          <p:nvSpPr>
            <p:cNvPr id="571" name="Google Shape;571;p54"/>
            <p:cNvSpPr/>
            <p:nvPr/>
          </p:nvSpPr>
          <p:spPr>
            <a:xfrm>
              <a:off x="453565" y="1926490"/>
              <a:ext cx="197100" cy="144600"/>
            </a:xfrm>
            <a:prstGeom prst="rect">
              <a:avLst/>
            </a:prstGeom>
            <a:solidFill>
              <a:srgbClr val="FF0000"/>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00"/>
            </a:p>
          </p:txBody>
        </p:sp>
        <p:sp>
          <p:nvSpPr>
            <p:cNvPr id="572" name="Google Shape;572;p54"/>
            <p:cNvSpPr/>
            <p:nvPr/>
          </p:nvSpPr>
          <p:spPr>
            <a:xfrm>
              <a:off x="998390" y="1926490"/>
              <a:ext cx="197100" cy="1446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00"/>
            </a:p>
          </p:txBody>
        </p:sp>
        <p:sp>
          <p:nvSpPr>
            <p:cNvPr id="573" name="Google Shape;573;p54"/>
            <p:cNvSpPr/>
            <p:nvPr/>
          </p:nvSpPr>
          <p:spPr>
            <a:xfrm>
              <a:off x="1543214" y="1926490"/>
              <a:ext cx="197100" cy="1446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00"/>
            </a:p>
          </p:txBody>
        </p:sp>
        <p:cxnSp>
          <p:nvCxnSpPr>
            <p:cNvPr id="574" name="Google Shape;574;p54"/>
            <p:cNvCxnSpPr>
              <a:stCxn id="570" idx="2"/>
              <a:endCxn id="571" idx="0"/>
            </p:cNvCxnSpPr>
            <p:nvPr/>
          </p:nvCxnSpPr>
          <p:spPr>
            <a:xfrm flipH="1">
              <a:off x="552231" y="1746500"/>
              <a:ext cx="544800" cy="180000"/>
            </a:xfrm>
            <a:prstGeom prst="straightConnector1">
              <a:avLst/>
            </a:prstGeom>
            <a:noFill/>
            <a:ln w="19050" cap="flat" cmpd="sng">
              <a:solidFill>
                <a:srgbClr val="FF0000"/>
              </a:solidFill>
              <a:prstDash val="solid"/>
              <a:round/>
              <a:headEnd type="none" w="med" len="med"/>
              <a:tailEnd type="none" w="med" len="med"/>
            </a:ln>
          </p:spPr>
        </p:cxnSp>
        <p:cxnSp>
          <p:nvCxnSpPr>
            <p:cNvPr id="575" name="Google Shape;575;p54"/>
            <p:cNvCxnSpPr>
              <a:stCxn id="570" idx="2"/>
              <a:endCxn id="572" idx="0"/>
            </p:cNvCxnSpPr>
            <p:nvPr/>
          </p:nvCxnSpPr>
          <p:spPr>
            <a:xfrm>
              <a:off x="1097031" y="1746500"/>
              <a:ext cx="0" cy="180000"/>
            </a:xfrm>
            <a:prstGeom prst="straightConnector1">
              <a:avLst/>
            </a:prstGeom>
            <a:noFill/>
            <a:ln w="19050" cap="flat" cmpd="sng">
              <a:solidFill>
                <a:schemeClr val="dk2"/>
              </a:solidFill>
              <a:prstDash val="solid"/>
              <a:round/>
              <a:headEnd type="none" w="med" len="med"/>
              <a:tailEnd type="none" w="med" len="med"/>
            </a:ln>
          </p:spPr>
        </p:cxnSp>
        <p:cxnSp>
          <p:nvCxnSpPr>
            <p:cNvPr id="576" name="Google Shape;576;p54"/>
            <p:cNvCxnSpPr>
              <a:stCxn id="570" idx="2"/>
              <a:endCxn id="573" idx="0"/>
            </p:cNvCxnSpPr>
            <p:nvPr/>
          </p:nvCxnSpPr>
          <p:spPr>
            <a:xfrm>
              <a:off x="1097031" y="1746500"/>
              <a:ext cx="544800" cy="180000"/>
            </a:xfrm>
            <a:prstGeom prst="straightConnector1">
              <a:avLst/>
            </a:prstGeom>
            <a:noFill/>
            <a:ln w="19050" cap="flat" cmpd="sng">
              <a:solidFill>
                <a:srgbClr val="0000FF"/>
              </a:solidFill>
              <a:prstDash val="solid"/>
              <a:round/>
              <a:headEnd type="none" w="med" len="med"/>
              <a:tailEnd type="none" w="med" len="med"/>
            </a:ln>
          </p:spPr>
        </p:cxnSp>
        <p:sp>
          <p:nvSpPr>
            <p:cNvPr id="577" name="Google Shape;577;p54"/>
            <p:cNvSpPr/>
            <p:nvPr/>
          </p:nvSpPr>
          <p:spPr>
            <a:xfrm>
              <a:off x="231675" y="2397707"/>
              <a:ext cx="178500" cy="124500"/>
            </a:xfrm>
            <a:prstGeom prst="roundRect">
              <a:avLst>
                <a:gd name="adj" fmla="val 16667"/>
              </a:avLst>
            </a:prstGeom>
            <a:solidFill>
              <a:srgbClr val="A4C2F4"/>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00"/>
            </a:p>
          </p:txBody>
        </p:sp>
        <p:sp>
          <p:nvSpPr>
            <p:cNvPr id="578" name="Google Shape;578;p54"/>
            <p:cNvSpPr/>
            <p:nvPr/>
          </p:nvSpPr>
          <p:spPr>
            <a:xfrm>
              <a:off x="694029" y="2397707"/>
              <a:ext cx="178500" cy="124500"/>
            </a:xfrm>
            <a:prstGeom prst="roundRect">
              <a:avLst>
                <a:gd name="adj" fmla="val 16667"/>
              </a:avLst>
            </a:prstGeom>
            <a:solidFill>
              <a:srgbClr val="FF0000"/>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00"/>
            </a:p>
          </p:txBody>
        </p:sp>
        <p:sp>
          <p:nvSpPr>
            <p:cNvPr id="579" name="Google Shape;579;p54"/>
            <p:cNvSpPr/>
            <p:nvPr/>
          </p:nvSpPr>
          <p:spPr>
            <a:xfrm>
              <a:off x="462852" y="2397707"/>
              <a:ext cx="178500" cy="124500"/>
            </a:xfrm>
            <a:prstGeom prst="roundRect">
              <a:avLst>
                <a:gd name="adj" fmla="val 16667"/>
              </a:avLst>
            </a:prstGeom>
            <a:solidFill>
              <a:srgbClr val="A4C2F4"/>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00"/>
            </a:p>
          </p:txBody>
        </p:sp>
        <p:sp>
          <p:nvSpPr>
            <p:cNvPr id="580" name="Google Shape;580;p54"/>
            <p:cNvSpPr/>
            <p:nvPr/>
          </p:nvSpPr>
          <p:spPr>
            <a:xfrm>
              <a:off x="776499" y="2225082"/>
              <a:ext cx="178500" cy="124500"/>
            </a:xfrm>
            <a:prstGeom prst="roundRect">
              <a:avLst>
                <a:gd name="adj" fmla="val 16667"/>
              </a:avLst>
            </a:prstGeom>
            <a:solidFill>
              <a:srgbClr val="A4C2F4"/>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00"/>
            </a:p>
          </p:txBody>
        </p:sp>
        <p:sp>
          <p:nvSpPr>
            <p:cNvPr id="581" name="Google Shape;581;p54"/>
            <p:cNvSpPr/>
            <p:nvPr/>
          </p:nvSpPr>
          <p:spPr>
            <a:xfrm>
              <a:off x="1238853" y="2225082"/>
              <a:ext cx="178500" cy="124500"/>
            </a:xfrm>
            <a:prstGeom prst="roundRect">
              <a:avLst>
                <a:gd name="adj" fmla="val 16667"/>
              </a:avLst>
            </a:prstGeom>
            <a:solidFill>
              <a:srgbClr val="A4C2F4"/>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00"/>
            </a:p>
          </p:txBody>
        </p:sp>
        <p:sp>
          <p:nvSpPr>
            <p:cNvPr id="582" name="Google Shape;582;p54"/>
            <p:cNvSpPr/>
            <p:nvPr/>
          </p:nvSpPr>
          <p:spPr>
            <a:xfrm>
              <a:off x="1007676" y="2225082"/>
              <a:ext cx="178500" cy="124500"/>
            </a:xfrm>
            <a:prstGeom prst="roundRect">
              <a:avLst>
                <a:gd name="adj" fmla="val 16667"/>
              </a:avLst>
            </a:prstGeom>
            <a:solidFill>
              <a:srgbClr val="A4C2F4"/>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00"/>
            </a:p>
          </p:txBody>
        </p:sp>
        <p:sp>
          <p:nvSpPr>
            <p:cNvPr id="583" name="Google Shape;583;p54"/>
            <p:cNvSpPr/>
            <p:nvPr/>
          </p:nvSpPr>
          <p:spPr>
            <a:xfrm>
              <a:off x="1321323" y="2397707"/>
              <a:ext cx="178500" cy="124500"/>
            </a:xfrm>
            <a:prstGeom prst="roundRect">
              <a:avLst>
                <a:gd name="adj" fmla="val 16667"/>
              </a:avLst>
            </a:prstGeom>
            <a:solidFill>
              <a:srgbClr val="A4C2F4"/>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00"/>
            </a:p>
          </p:txBody>
        </p:sp>
        <p:sp>
          <p:nvSpPr>
            <p:cNvPr id="584" name="Google Shape;584;p54"/>
            <p:cNvSpPr/>
            <p:nvPr/>
          </p:nvSpPr>
          <p:spPr>
            <a:xfrm>
              <a:off x="1783677" y="2397707"/>
              <a:ext cx="178500" cy="124500"/>
            </a:xfrm>
            <a:prstGeom prst="roundRect">
              <a:avLst>
                <a:gd name="adj" fmla="val 16667"/>
              </a:avLst>
            </a:prstGeom>
            <a:solidFill>
              <a:srgbClr val="A4C2F4"/>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00"/>
            </a:p>
          </p:txBody>
        </p:sp>
        <p:sp>
          <p:nvSpPr>
            <p:cNvPr id="585" name="Google Shape;585;p54"/>
            <p:cNvSpPr/>
            <p:nvPr/>
          </p:nvSpPr>
          <p:spPr>
            <a:xfrm>
              <a:off x="1552500" y="2397707"/>
              <a:ext cx="178500" cy="124500"/>
            </a:xfrm>
            <a:prstGeom prst="roundRect">
              <a:avLst>
                <a:gd name="adj" fmla="val 16667"/>
              </a:avLst>
            </a:prstGeom>
            <a:solidFill>
              <a:srgbClr val="A4C2F4"/>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00"/>
            </a:p>
          </p:txBody>
        </p:sp>
        <p:cxnSp>
          <p:nvCxnSpPr>
            <p:cNvPr id="586" name="Google Shape;586;p54"/>
            <p:cNvCxnSpPr>
              <a:stCxn id="571" idx="2"/>
              <a:endCxn id="577" idx="0"/>
            </p:cNvCxnSpPr>
            <p:nvPr/>
          </p:nvCxnSpPr>
          <p:spPr>
            <a:xfrm flipH="1">
              <a:off x="320815" y="2071090"/>
              <a:ext cx="231300" cy="326700"/>
            </a:xfrm>
            <a:prstGeom prst="straightConnector1">
              <a:avLst/>
            </a:prstGeom>
            <a:noFill/>
            <a:ln w="19050" cap="flat" cmpd="sng">
              <a:solidFill>
                <a:srgbClr val="FF0000"/>
              </a:solidFill>
              <a:prstDash val="solid"/>
              <a:round/>
              <a:headEnd type="none" w="med" len="med"/>
              <a:tailEnd type="none" w="med" len="med"/>
            </a:ln>
          </p:spPr>
        </p:cxnSp>
        <p:cxnSp>
          <p:nvCxnSpPr>
            <p:cNvPr id="587" name="Google Shape;587;p54"/>
            <p:cNvCxnSpPr>
              <a:stCxn id="571" idx="2"/>
              <a:endCxn id="579" idx="0"/>
            </p:cNvCxnSpPr>
            <p:nvPr/>
          </p:nvCxnSpPr>
          <p:spPr>
            <a:xfrm>
              <a:off x="552115" y="2071090"/>
              <a:ext cx="0" cy="326700"/>
            </a:xfrm>
            <a:prstGeom prst="straightConnector1">
              <a:avLst/>
            </a:prstGeom>
            <a:noFill/>
            <a:ln w="19050" cap="flat" cmpd="sng">
              <a:solidFill>
                <a:schemeClr val="dk2"/>
              </a:solidFill>
              <a:prstDash val="solid"/>
              <a:round/>
              <a:headEnd type="none" w="med" len="med"/>
              <a:tailEnd type="none" w="med" len="med"/>
            </a:ln>
          </p:spPr>
        </p:cxnSp>
        <p:cxnSp>
          <p:nvCxnSpPr>
            <p:cNvPr id="588" name="Google Shape;588;p54"/>
            <p:cNvCxnSpPr>
              <a:stCxn id="571" idx="2"/>
              <a:endCxn id="578" idx="0"/>
            </p:cNvCxnSpPr>
            <p:nvPr/>
          </p:nvCxnSpPr>
          <p:spPr>
            <a:xfrm>
              <a:off x="552115" y="2071090"/>
              <a:ext cx="231300" cy="326700"/>
            </a:xfrm>
            <a:prstGeom prst="straightConnector1">
              <a:avLst/>
            </a:prstGeom>
            <a:noFill/>
            <a:ln w="19050" cap="flat" cmpd="sng">
              <a:solidFill>
                <a:srgbClr val="0000FF"/>
              </a:solidFill>
              <a:prstDash val="solid"/>
              <a:round/>
              <a:headEnd type="none" w="med" len="med"/>
              <a:tailEnd type="none" w="med" len="med"/>
            </a:ln>
          </p:spPr>
        </p:cxnSp>
        <p:cxnSp>
          <p:nvCxnSpPr>
            <p:cNvPr id="589" name="Google Shape;589;p54"/>
            <p:cNvCxnSpPr>
              <a:stCxn id="573" idx="2"/>
              <a:endCxn id="583" idx="0"/>
            </p:cNvCxnSpPr>
            <p:nvPr/>
          </p:nvCxnSpPr>
          <p:spPr>
            <a:xfrm flipH="1">
              <a:off x="1410464" y="2071090"/>
              <a:ext cx="231300" cy="326700"/>
            </a:xfrm>
            <a:prstGeom prst="straightConnector1">
              <a:avLst/>
            </a:prstGeom>
            <a:noFill/>
            <a:ln w="19050" cap="flat" cmpd="sng">
              <a:solidFill>
                <a:srgbClr val="FF0000"/>
              </a:solidFill>
              <a:prstDash val="solid"/>
              <a:round/>
              <a:headEnd type="none" w="med" len="med"/>
              <a:tailEnd type="none" w="med" len="med"/>
            </a:ln>
          </p:spPr>
        </p:cxnSp>
        <p:cxnSp>
          <p:nvCxnSpPr>
            <p:cNvPr id="590" name="Google Shape;590;p54"/>
            <p:cNvCxnSpPr>
              <a:stCxn id="573" idx="2"/>
              <a:endCxn id="585" idx="0"/>
            </p:cNvCxnSpPr>
            <p:nvPr/>
          </p:nvCxnSpPr>
          <p:spPr>
            <a:xfrm>
              <a:off x="1641764" y="2071090"/>
              <a:ext cx="0" cy="326700"/>
            </a:xfrm>
            <a:prstGeom prst="straightConnector1">
              <a:avLst/>
            </a:prstGeom>
            <a:noFill/>
            <a:ln w="19050" cap="flat" cmpd="sng">
              <a:solidFill>
                <a:schemeClr val="dk2"/>
              </a:solidFill>
              <a:prstDash val="solid"/>
              <a:round/>
              <a:headEnd type="none" w="med" len="med"/>
              <a:tailEnd type="none" w="med" len="med"/>
            </a:ln>
          </p:spPr>
        </p:cxnSp>
        <p:cxnSp>
          <p:nvCxnSpPr>
            <p:cNvPr id="591" name="Google Shape;591;p54"/>
            <p:cNvCxnSpPr>
              <a:stCxn id="573" idx="2"/>
              <a:endCxn id="584" idx="0"/>
            </p:cNvCxnSpPr>
            <p:nvPr/>
          </p:nvCxnSpPr>
          <p:spPr>
            <a:xfrm>
              <a:off x="1641764" y="2071090"/>
              <a:ext cx="231300" cy="326700"/>
            </a:xfrm>
            <a:prstGeom prst="straightConnector1">
              <a:avLst/>
            </a:prstGeom>
            <a:noFill/>
            <a:ln w="19050" cap="flat" cmpd="sng">
              <a:solidFill>
                <a:srgbClr val="0000FF"/>
              </a:solidFill>
              <a:prstDash val="solid"/>
              <a:round/>
              <a:headEnd type="none" w="med" len="med"/>
              <a:tailEnd type="none" w="med" len="med"/>
            </a:ln>
          </p:spPr>
        </p:cxnSp>
        <p:cxnSp>
          <p:nvCxnSpPr>
            <p:cNvPr id="592" name="Google Shape;592;p54"/>
            <p:cNvCxnSpPr>
              <a:stCxn id="572" idx="2"/>
              <a:endCxn id="580" idx="0"/>
            </p:cNvCxnSpPr>
            <p:nvPr/>
          </p:nvCxnSpPr>
          <p:spPr>
            <a:xfrm flipH="1">
              <a:off x="865640" y="2071090"/>
              <a:ext cx="231300" cy="153900"/>
            </a:xfrm>
            <a:prstGeom prst="straightConnector1">
              <a:avLst/>
            </a:prstGeom>
            <a:noFill/>
            <a:ln w="19050" cap="flat" cmpd="sng">
              <a:solidFill>
                <a:srgbClr val="FF0000"/>
              </a:solidFill>
              <a:prstDash val="solid"/>
              <a:round/>
              <a:headEnd type="none" w="med" len="med"/>
              <a:tailEnd type="none" w="med" len="med"/>
            </a:ln>
          </p:spPr>
        </p:cxnSp>
        <p:cxnSp>
          <p:nvCxnSpPr>
            <p:cNvPr id="593" name="Google Shape;593;p54"/>
            <p:cNvCxnSpPr>
              <a:stCxn id="572" idx="2"/>
              <a:endCxn id="582" idx="0"/>
            </p:cNvCxnSpPr>
            <p:nvPr/>
          </p:nvCxnSpPr>
          <p:spPr>
            <a:xfrm>
              <a:off x="1096940" y="2071090"/>
              <a:ext cx="0" cy="153900"/>
            </a:xfrm>
            <a:prstGeom prst="straightConnector1">
              <a:avLst/>
            </a:prstGeom>
            <a:noFill/>
            <a:ln w="19050" cap="flat" cmpd="sng">
              <a:solidFill>
                <a:schemeClr val="dk2"/>
              </a:solidFill>
              <a:prstDash val="solid"/>
              <a:round/>
              <a:headEnd type="none" w="med" len="med"/>
              <a:tailEnd type="none" w="med" len="med"/>
            </a:ln>
          </p:spPr>
        </p:cxnSp>
        <p:cxnSp>
          <p:nvCxnSpPr>
            <p:cNvPr id="594" name="Google Shape;594;p54"/>
            <p:cNvCxnSpPr>
              <a:stCxn id="572" idx="2"/>
              <a:endCxn id="581" idx="0"/>
            </p:cNvCxnSpPr>
            <p:nvPr/>
          </p:nvCxnSpPr>
          <p:spPr>
            <a:xfrm>
              <a:off x="1096940" y="2071090"/>
              <a:ext cx="231300" cy="153900"/>
            </a:xfrm>
            <a:prstGeom prst="straightConnector1">
              <a:avLst/>
            </a:prstGeom>
            <a:noFill/>
            <a:ln w="19050" cap="flat" cmpd="sng">
              <a:solidFill>
                <a:srgbClr val="0000FF"/>
              </a:solidFill>
              <a:prstDash val="solid"/>
              <a:round/>
              <a:headEnd type="none" w="med" len="med"/>
              <a:tailEnd type="none" w="med" len="med"/>
            </a:ln>
          </p:spPr>
        </p:cxnSp>
      </p:grpSp>
      <p:grpSp>
        <p:nvGrpSpPr>
          <p:cNvPr id="595" name="Google Shape;595;p54"/>
          <p:cNvGrpSpPr/>
          <p:nvPr/>
        </p:nvGrpSpPr>
        <p:grpSpPr>
          <a:xfrm>
            <a:off x="4218875" y="1622000"/>
            <a:ext cx="1730502" cy="900207"/>
            <a:chOff x="231675" y="1622000"/>
            <a:chExt cx="1730502" cy="900207"/>
          </a:xfrm>
        </p:grpSpPr>
        <p:sp>
          <p:nvSpPr>
            <p:cNvPr id="596" name="Google Shape;596;p54"/>
            <p:cNvSpPr/>
            <p:nvPr/>
          </p:nvSpPr>
          <p:spPr>
            <a:xfrm>
              <a:off x="948081" y="1622000"/>
              <a:ext cx="297900" cy="124500"/>
            </a:xfrm>
            <a:prstGeom prst="rect">
              <a:avLst/>
            </a:prstGeom>
            <a:solidFill>
              <a:srgbClr val="FF0000"/>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00"/>
            </a:p>
          </p:txBody>
        </p:sp>
        <p:sp>
          <p:nvSpPr>
            <p:cNvPr id="597" name="Google Shape;597;p54"/>
            <p:cNvSpPr/>
            <p:nvPr/>
          </p:nvSpPr>
          <p:spPr>
            <a:xfrm>
              <a:off x="453565" y="1926490"/>
              <a:ext cx="197100" cy="144600"/>
            </a:xfrm>
            <a:prstGeom prst="rect">
              <a:avLst/>
            </a:prstGeom>
            <a:solidFill>
              <a:srgbClr val="FF0000"/>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00"/>
            </a:p>
          </p:txBody>
        </p:sp>
        <p:sp>
          <p:nvSpPr>
            <p:cNvPr id="598" name="Google Shape;598;p54"/>
            <p:cNvSpPr/>
            <p:nvPr/>
          </p:nvSpPr>
          <p:spPr>
            <a:xfrm>
              <a:off x="998390" y="1926490"/>
              <a:ext cx="197100" cy="1446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00"/>
            </a:p>
          </p:txBody>
        </p:sp>
        <p:sp>
          <p:nvSpPr>
            <p:cNvPr id="599" name="Google Shape;599;p54"/>
            <p:cNvSpPr/>
            <p:nvPr/>
          </p:nvSpPr>
          <p:spPr>
            <a:xfrm>
              <a:off x="1543214" y="1926490"/>
              <a:ext cx="197100" cy="1446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00"/>
            </a:p>
          </p:txBody>
        </p:sp>
        <p:cxnSp>
          <p:nvCxnSpPr>
            <p:cNvPr id="600" name="Google Shape;600;p54"/>
            <p:cNvCxnSpPr>
              <a:stCxn id="596" idx="2"/>
              <a:endCxn id="597" idx="0"/>
            </p:cNvCxnSpPr>
            <p:nvPr/>
          </p:nvCxnSpPr>
          <p:spPr>
            <a:xfrm flipH="1">
              <a:off x="552231" y="1746500"/>
              <a:ext cx="544800" cy="180000"/>
            </a:xfrm>
            <a:prstGeom prst="straightConnector1">
              <a:avLst/>
            </a:prstGeom>
            <a:noFill/>
            <a:ln w="19050" cap="flat" cmpd="sng">
              <a:solidFill>
                <a:srgbClr val="FF0000"/>
              </a:solidFill>
              <a:prstDash val="solid"/>
              <a:round/>
              <a:headEnd type="none" w="med" len="med"/>
              <a:tailEnd type="none" w="med" len="med"/>
            </a:ln>
          </p:spPr>
        </p:cxnSp>
        <p:cxnSp>
          <p:nvCxnSpPr>
            <p:cNvPr id="601" name="Google Shape;601;p54"/>
            <p:cNvCxnSpPr>
              <a:stCxn id="596" idx="2"/>
              <a:endCxn id="598" idx="0"/>
            </p:cNvCxnSpPr>
            <p:nvPr/>
          </p:nvCxnSpPr>
          <p:spPr>
            <a:xfrm>
              <a:off x="1097031" y="1746500"/>
              <a:ext cx="0" cy="180000"/>
            </a:xfrm>
            <a:prstGeom prst="straightConnector1">
              <a:avLst/>
            </a:prstGeom>
            <a:noFill/>
            <a:ln w="19050" cap="flat" cmpd="sng">
              <a:solidFill>
                <a:schemeClr val="dk2"/>
              </a:solidFill>
              <a:prstDash val="solid"/>
              <a:round/>
              <a:headEnd type="none" w="med" len="med"/>
              <a:tailEnd type="none" w="med" len="med"/>
            </a:ln>
          </p:spPr>
        </p:cxnSp>
        <p:cxnSp>
          <p:nvCxnSpPr>
            <p:cNvPr id="602" name="Google Shape;602;p54"/>
            <p:cNvCxnSpPr>
              <a:stCxn id="596" idx="2"/>
              <a:endCxn id="599" idx="0"/>
            </p:cNvCxnSpPr>
            <p:nvPr/>
          </p:nvCxnSpPr>
          <p:spPr>
            <a:xfrm>
              <a:off x="1097031" y="1746500"/>
              <a:ext cx="544800" cy="180000"/>
            </a:xfrm>
            <a:prstGeom prst="straightConnector1">
              <a:avLst/>
            </a:prstGeom>
            <a:noFill/>
            <a:ln w="19050" cap="flat" cmpd="sng">
              <a:solidFill>
                <a:srgbClr val="0000FF"/>
              </a:solidFill>
              <a:prstDash val="solid"/>
              <a:round/>
              <a:headEnd type="none" w="med" len="med"/>
              <a:tailEnd type="none" w="med" len="med"/>
            </a:ln>
          </p:spPr>
        </p:cxnSp>
        <p:sp>
          <p:nvSpPr>
            <p:cNvPr id="603" name="Google Shape;603;p54"/>
            <p:cNvSpPr/>
            <p:nvPr/>
          </p:nvSpPr>
          <p:spPr>
            <a:xfrm>
              <a:off x="231675" y="2397707"/>
              <a:ext cx="178500" cy="124500"/>
            </a:xfrm>
            <a:prstGeom prst="roundRect">
              <a:avLst>
                <a:gd name="adj" fmla="val 16667"/>
              </a:avLst>
            </a:prstGeom>
            <a:solidFill>
              <a:srgbClr val="A4C2F4"/>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00"/>
            </a:p>
          </p:txBody>
        </p:sp>
        <p:sp>
          <p:nvSpPr>
            <p:cNvPr id="604" name="Google Shape;604;p54"/>
            <p:cNvSpPr/>
            <p:nvPr/>
          </p:nvSpPr>
          <p:spPr>
            <a:xfrm>
              <a:off x="694029" y="2397707"/>
              <a:ext cx="178500" cy="124500"/>
            </a:xfrm>
            <a:prstGeom prst="roundRect">
              <a:avLst>
                <a:gd name="adj" fmla="val 16667"/>
              </a:avLst>
            </a:prstGeom>
            <a:solidFill>
              <a:srgbClr val="A4C2F4"/>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00"/>
            </a:p>
          </p:txBody>
        </p:sp>
        <p:sp>
          <p:nvSpPr>
            <p:cNvPr id="605" name="Google Shape;605;p54"/>
            <p:cNvSpPr/>
            <p:nvPr/>
          </p:nvSpPr>
          <p:spPr>
            <a:xfrm>
              <a:off x="462852" y="2397707"/>
              <a:ext cx="178500" cy="124500"/>
            </a:xfrm>
            <a:prstGeom prst="roundRect">
              <a:avLst>
                <a:gd name="adj" fmla="val 16667"/>
              </a:avLst>
            </a:prstGeom>
            <a:solidFill>
              <a:srgbClr val="FF0000"/>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00"/>
            </a:p>
          </p:txBody>
        </p:sp>
        <p:sp>
          <p:nvSpPr>
            <p:cNvPr id="606" name="Google Shape;606;p54"/>
            <p:cNvSpPr/>
            <p:nvPr/>
          </p:nvSpPr>
          <p:spPr>
            <a:xfrm>
              <a:off x="776499" y="2225082"/>
              <a:ext cx="178500" cy="124500"/>
            </a:xfrm>
            <a:prstGeom prst="roundRect">
              <a:avLst>
                <a:gd name="adj" fmla="val 16667"/>
              </a:avLst>
            </a:prstGeom>
            <a:solidFill>
              <a:srgbClr val="A4C2F4"/>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00"/>
            </a:p>
          </p:txBody>
        </p:sp>
        <p:sp>
          <p:nvSpPr>
            <p:cNvPr id="607" name="Google Shape;607;p54"/>
            <p:cNvSpPr/>
            <p:nvPr/>
          </p:nvSpPr>
          <p:spPr>
            <a:xfrm>
              <a:off x="1238853" y="2225082"/>
              <a:ext cx="178500" cy="124500"/>
            </a:xfrm>
            <a:prstGeom prst="roundRect">
              <a:avLst>
                <a:gd name="adj" fmla="val 16667"/>
              </a:avLst>
            </a:prstGeom>
            <a:solidFill>
              <a:srgbClr val="A4C2F4"/>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00"/>
            </a:p>
          </p:txBody>
        </p:sp>
        <p:sp>
          <p:nvSpPr>
            <p:cNvPr id="608" name="Google Shape;608;p54"/>
            <p:cNvSpPr/>
            <p:nvPr/>
          </p:nvSpPr>
          <p:spPr>
            <a:xfrm>
              <a:off x="1007676" y="2225082"/>
              <a:ext cx="178500" cy="124500"/>
            </a:xfrm>
            <a:prstGeom prst="roundRect">
              <a:avLst>
                <a:gd name="adj" fmla="val 16667"/>
              </a:avLst>
            </a:prstGeom>
            <a:solidFill>
              <a:srgbClr val="A4C2F4"/>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00"/>
            </a:p>
          </p:txBody>
        </p:sp>
        <p:sp>
          <p:nvSpPr>
            <p:cNvPr id="609" name="Google Shape;609;p54"/>
            <p:cNvSpPr/>
            <p:nvPr/>
          </p:nvSpPr>
          <p:spPr>
            <a:xfrm>
              <a:off x="1321323" y="2397707"/>
              <a:ext cx="178500" cy="124500"/>
            </a:xfrm>
            <a:prstGeom prst="roundRect">
              <a:avLst>
                <a:gd name="adj" fmla="val 16667"/>
              </a:avLst>
            </a:prstGeom>
            <a:solidFill>
              <a:srgbClr val="A4C2F4"/>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00"/>
            </a:p>
          </p:txBody>
        </p:sp>
        <p:sp>
          <p:nvSpPr>
            <p:cNvPr id="610" name="Google Shape;610;p54"/>
            <p:cNvSpPr/>
            <p:nvPr/>
          </p:nvSpPr>
          <p:spPr>
            <a:xfrm>
              <a:off x="1783677" y="2397707"/>
              <a:ext cx="178500" cy="124500"/>
            </a:xfrm>
            <a:prstGeom prst="roundRect">
              <a:avLst>
                <a:gd name="adj" fmla="val 16667"/>
              </a:avLst>
            </a:prstGeom>
            <a:solidFill>
              <a:srgbClr val="A4C2F4"/>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00"/>
            </a:p>
          </p:txBody>
        </p:sp>
        <p:sp>
          <p:nvSpPr>
            <p:cNvPr id="611" name="Google Shape;611;p54"/>
            <p:cNvSpPr/>
            <p:nvPr/>
          </p:nvSpPr>
          <p:spPr>
            <a:xfrm>
              <a:off x="1552500" y="2397707"/>
              <a:ext cx="178500" cy="124500"/>
            </a:xfrm>
            <a:prstGeom prst="roundRect">
              <a:avLst>
                <a:gd name="adj" fmla="val 16667"/>
              </a:avLst>
            </a:prstGeom>
            <a:solidFill>
              <a:srgbClr val="A4C2F4"/>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00"/>
            </a:p>
          </p:txBody>
        </p:sp>
        <p:cxnSp>
          <p:nvCxnSpPr>
            <p:cNvPr id="612" name="Google Shape;612;p54"/>
            <p:cNvCxnSpPr>
              <a:stCxn id="597" idx="2"/>
              <a:endCxn id="603" idx="0"/>
            </p:cNvCxnSpPr>
            <p:nvPr/>
          </p:nvCxnSpPr>
          <p:spPr>
            <a:xfrm flipH="1">
              <a:off x="320815" y="2071090"/>
              <a:ext cx="231300" cy="326700"/>
            </a:xfrm>
            <a:prstGeom prst="straightConnector1">
              <a:avLst/>
            </a:prstGeom>
            <a:noFill/>
            <a:ln w="19050" cap="flat" cmpd="sng">
              <a:solidFill>
                <a:srgbClr val="FF0000"/>
              </a:solidFill>
              <a:prstDash val="solid"/>
              <a:round/>
              <a:headEnd type="none" w="med" len="med"/>
              <a:tailEnd type="none" w="med" len="med"/>
            </a:ln>
          </p:spPr>
        </p:cxnSp>
        <p:cxnSp>
          <p:nvCxnSpPr>
            <p:cNvPr id="613" name="Google Shape;613;p54"/>
            <p:cNvCxnSpPr>
              <a:stCxn id="597" idx="2"/>
              <a:endCxn id="605" idx="0"/>
            </p:cNvCxnSpPr>
            <p:nvPr/>
          </p:nvCxnSpPr>
          <p:spPr>
            <a:xfrm>
              <a:off x="552115" y="2071090"/>
              <a:ext cx="0" cy="326700"/>
            </a:xfrm>
            <a:prstGeom prst="straightConnector1">
              <a:avLst/>
            </a:prstGeom>
            <a:noFill/>
            <a:ln w="19050" cap="flat" cmpd="sng">
              <a:solidFill>
                <a:schemeClr val="dk2"/>
              </a:solidFill>
              <a:prstDash val="solid"/>
              <a:round/>
              <a:headEnd type="none" w="med" len="med"/>
              <a:tailEnd type="none" w="med" len="med"/>
            </a:ln>
          </p:spPr>
        </p:cxnSp>
        <p:cxnSp>
          <p:nvCxnSpPr>
            <p:cNvPr id="614" name="Google Shape;614;p54"/>
            <p:cNvCxnSpPr>
              <a:stCxn id="597" idx="2"/>
              <a:endCxn id="604" idx="0"/>
            </p:cNvCxnSpPr>
            <p:nvPr/>
          </p:nvCxnSpPr>
          <p:spPr>
            <a:xfrm>
              <a:off x="552115" y="2071090"/>
              <a:ext cx="231300" cy="326700"/>
            </a:xfrm>
            <a:prstGeom prst="straightConnector1">
              <a:avLst/>
            </a:prstGeom>
            <a:noFill/>
            <a:ln w="19050" cap="flat" cmpd="sng">
              <a:solidFill>
                <a:srgbClr val="0000FF"/>
              </a:solidFill>
              <a:prstDash val="solid"/>
              <a:round/>
              <a:headEnd type="none" w="med" len="med"/>
              <a:tailEnd type="none" w="med" len="med"/>
            </a:ln>
          </p:spPr>
        </p:cxnSp>
        <p:cxnSp>
          <p:nvCxnSpPr>
            <p:cNvPr id="615" name="Google Shape;615;p54"/>
            <p:cNvCxnSpPr>
              <a:stCxn id="599" idx="2"/>
              <a:endCxn id="609" idx="0"/>
            </p:cNvCxnSpPr>
            <p:nvPr/>
          </p:nvCxnSpPr>
          <p:spPr>
            <a:xfrm flipH="1">
              <a:off x="1410464" y="2071090"/>
              <a:ext cx="231300" cy="326700"/>
            </a:xfrm>
            <a:prstGeom prst="straightConnector1">
              <a:avLst/>
            </a:prstGeom>
            <a:noFill/>
            <a:ln w="19050" cap="flat" cmpd="sng">
              <a:solidFill>
                <a:srgbClr val="FF0000"/>
              </a:solidFill>
              <a:prstDash val="solid"/>
              <a:round/>
              <a:headEnd type="none" w="med" len="med"/>
              <a:tailEnd type="none" w="med" len="med"/>
            </a:ln>
          </p:spPr>
        </p:cxnSp>
        <p:cxnSp>
          <p:nvCxnSpPr>
            <p:cNvPr id="616" name="Google Shape;616;p54"/>
            <p:cNvCxnSpPr>
              <a:stCxn id="599" idx="2"/>
              <a:endCxn id="611" idx="0"/>
            </p:cNvCxnSpPr>
            <p:nvPr/>
          </p:nvCxnSpPr>
          <p:spPr>
            <a:xfrm>
              <a:off x="1641764" y="2071090"/>
              <a:ext cx="0" cy="326700"/>
            </a:xfrm>
            <a:prstGeom prst="straightConnector1">
              <a:avLst/>
            </a:prstGeom>
            <a:noFill/>
            <a:ln w="19050" cap="flat" cmpd="sng">
              <a:solidFill>
                <a:schemeClr val="dk2"/>
              </a:solidFill>
              <a:prstDash val="solid"/>
              <a:round/>
              <a:headEnd type="none" w="med" len="med"/>
              <a:tailEnd type="none" w="med" len="med"/>
            </a:ln>
          </p:spPr>
        </p:cxnSp>
        <p:cxnSp>
          <p:nvCxnSpPr>
            <p:cNvPr id="617" name="Google Shape;617;p54"/>
            <p:cNvCxnSpPr>
              <a:stCxn id="599" idx="2"/>
              <a:endCxn id="610" idx="0"/>
            </p:cNvCxnSpPr>
            <p:nvPr/>
          </p:nvCxnSpPr>
          <p:spPr>
            <a:xfrm>
              <a:off x="1641764" y="2071090"/>
              <a:ext cx="231300" cy="326700"/>
            </a:xfrm>
            <a:prstGeom prst="straightConnector1">
              <a:avLst/>
            </a:prstGeom>
            <a:noFill/>
            <a:ln w="19050" cap="flat" cmpd="sng">
              <a:solidFill>
                <a:srgbClr val="0000FF"/>
              </a:solidFill>
              <a:prstDash val="solid"/>
              <a:round/>
              <a:headEnd type="none" w="med" len="med"/>
              <a:tailEnd type="none" w="med" len="med"/>
            </a:ln>
          </p:spPr>
        </p:cxnSp>
        <p:cxnSp>
          <p:nvCxnSpPr>
            <p:cNvPr id="618" name="Google Shape;618;p54"/>
            <p:cNvCxnSpPr>
              <a:stCxn id="598" idx="2"/>
              <a:endCxn id="606" idx="0"/>
            </p:cNvCxnSpPr>
            <p:nvPr/>
          </p:nvCxnSpPr>
          <p:spPr>
            <a:xfrm flipH="1">
              <a:off x="865640" y="2071090"/>
              <a:ext cx="231300" cy="153900"/>
            </a:xfrm>
            <a:prstGeom prst="straightConnector1">
              <a:avLst/>
            </a:prstGeom>
            <a:noFill/>
            <a:ln w="19050" cap="flat" cmpd="sng">
              <a:solidFill>
                <a:srgbClr val="FF0000"/>
              </a:solidFill>
              <a:prstDash val="solid"/>
              <a:round/>
              <a:headEnd type="none" w="med" len="med"/>
              <a:tailEnd type="none" w="med" len="med"/>
            </a:ln>
          </p:spPr>
        </p:cxnSp>
        <p:cxnSp>
          <p:nvCxnSpPr>
            <p:cNvPr id="619" name="Google Shape;619;p54"/>
            <p:cNvCxnSpPr>
              <a:stCxn id="598" idx="2"/>
              <a:endCxn id="608" idx="0"/>
            </p:cNvCxnSpPr>
            <p:nvPr/>
          </p:nvCxnSpPr>
          <p:spPr>
            <a:xfrm>
              <a:off x="1096940" y="2071090"/>
              <a:ext cx="0" cy="153900"/>
            </a:xfrm>
            <a:prstGeom prst="straightConnector1">
              <a:avLst/>
            </a:prstGeom>
            <a:noFill/>
            <a:ln w="19050" cap="flat" cmpd="sng">
              <a:solidFill>
                <a:schemeClr val="dk2"/>
              </a:solidFill>
              <a:prstDash val="solid"/>
              <a:round/>
              <a:headEnd type="none" w="med" len="med"/>
              <a:tailEnd type="none" w="med" len="med"/>
            </a:ln>
          </p:spPr>
        </p:cxnSp>
        <p:cxnSp>
          <p:nvCxnSpPr>
            <p:cNvPr id="620" name="Google Shape;620;p54"/>
            <p:cNvCxnSpPr>
              <a:stCxn id="598" idx="2"/>
              <a:endCxn id="607" idx="0"/>
            </p:cNvCxnSpPr>
            <p:nvPr/>
          </p:nvCxnSpPr>
          <p:spPr>
            <a:xfrm>
              <a:off x="1096940" y="2071090"/>
              <a:ext cx="231300" cy="153900"/>
            </a:xfrm>
            <a:prstGeom prst="straightConnector1">
              <a:avLst/>
            </a:prstGeom>
            <a:noFill/>
            <a:ln w="19050" cap="flat" cmpd="sng">
              <a:solidFill>
                <a:srgbClr val="0000FF"/>
              </a:solidFill>
              <a:prstDash val="solid"/>
              <a:round/>
              <a:headEnd type="none" w="med" len="med"/>
              <a:tailEnd type="none" w="med" len="med"/>
            </a:ln>
          </p:spPr>
        </p:cxnSp>
      </p:grpSp>
      <p:grpSp>
        <p:nvGrpSpPr>
          <p:cNvPr id="621" name="Google Shape;621;p54"/>
          <p:cNvGrpSpPr/>
          <p:nvPr/>
        </p:nvGrpSpPr>
        <p:grpSpPr>
          <a:xfrm>
            <a:off x="231675" y="2755250"/>
            <a:ext cx="1730502" cy="900207"/>
            <a:chOff x="231675" y="1622000"/>
            <a:chExt cx="1730502" cy="900207"/>
          </a:xfrm>
        </p:grpSpPr>
        <p:sp>
          <p:nvSpPr>
            <p:cNvPr id="622" name="Google Shape;622;p54"/>
            <p:cNvSpPr/>
            <p:nvPr/>
          </p:nvSpPr>
          <p:spPr>
            <a:xfrm>
              <a:off x="948081" y="1622000"/>
              <a:ext cx="297900" cy="124500"/>
            </a:xfrm>
            <a:prstGeom prst="rect">
              <a:avLst/>
            </a:prstGeom>
            <a:solidFill>
              <a:srgbClr val="FF0000"/>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00"/>
            </a:p>
          </p:txBody>
        </p:sp>
        <p:sp>
          <p:nvSpPr>
            <p:cNvPr id="623" name="Google Shape;623;p54"/>
            <p:cNvSpPr/>
            <p:nvPr/>
          </p:nvSpPr>
          <p:spPr>
            <a:xfrm>
              <a:off x="453565" y="1926490"/>
              <a:ext cx="197100" cy="1446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00"/>
            </a:p>
          </p:txBody>
        </p:sp>
        <p:sp>
          <p:nvSpPr>
            <p:cNvPr id="624" name="Google Shape;624;p54"/>
            <p:cNvSpPr/>
            <p:nvPr/>
          </p:nvSpPr>
          <p:spPr>
            <a:xfrm>
              <a:off x="998390" y="1926490"/>
              <a:ext cx="197100" cy="1446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00"/>
            </a:p>
          </p:txBody>
        </p:sp>
        <p:sp>
          <p:nvSpPr>
            <p:cNvPr id="625" name="Google Shape;625;p54"/>
            <p:cNvSpPr/>
            <p:nvPr/>
          </p:nvSpPr>
          <p:spPr>
            <a:xfrm>
              <a:off x="1543214" y="1926490"/>
              <a:ext cx="197100" cy="144600"/>
            </a:xfrm>
            <a:prstGeom prst="rect">
              <a:avLst/>
            </a:prstGeom>
            <a:solidFill>
              <a:srgbClr val="FF0000"/>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00"/>
            </a:p>
          </p:txBody>
        </p:sp>
        <p:cxnSp>
          <p:nvCxnSpPr>
            <p:cNvPr id="626" name="Google Shape;626;p54"/>
            <p:cNvCxnSpPr>
              <a:stCxn id="622" idx="2"/>
              <a:endCxn id="623" idx="0"/>
            </p:cNvCxnSpPr>
            <p:nvPr/>
          </p:nvCxnSpPr>
          <p:spPr>
            <a:xfrm flipH="1">
              <a:off x="552231" y="1746500"/>
              <a:ext cx="544800" cy="180000"/>
            </a:xfrm>
            <a:prstGeom prst="straightConnector1">
              <a:avLst/>
            </a:prstGeom>
            <a:noFill/>
            <a:ln w="19050" cap="flat" cmpd="sng">
              <a:solidFill>
                <a:srgbClr val="FF0000"/>
              </a:solidFill>
              <a:prstDash val="solid"/>
              <a:round/>
              <a:headEnd type="none" w="med" len="med"/>
              <a:tailEnd type="none" w="med" len="med"/>
            </a:ln>
          </p:spPr>
        </p:cxnSp>
        <p:cxnSp>
          <p:nvCxnSpPr>
            <p:cNvPr id="627" name="Google Shape;627;p54"/>
            <p:cNvCxnSpPr>
              <a:stCxn id="622" idx="2"/>
              <a:endCxn id="624" idx="0"/>
            </p:cNvCxnSpPr>
            <p:nvPr/>
          </p:nvCxnSpPr>
          <p:spPr>
            <a:xfrm>
              <a:off x="1097031" y="1746500"/>
              <a:ext cx="0" cy="180000"/>
            </a:xfrm>
            <a:prstGeom prst="straightConnector1">
              <a:avLst/>
            </a:prstGeom>
            <a:noFill/>
            <a:ln w="19050" cap="flat" cmpd="sng">
              <a:solidFill>
                <a:schemeClr val="dk2"/>
              </a:solidFill>
              <a:prstDash val="solid"/>
              <a:round/>
              <a:headEnd type="none" w="med" len="med"/>
              <a:tailEnd type="none" w="med" len="med"/>
            </a:ln>
          </p:spPr>
        </p:cxnSp>
        <p:cxnSp>
          <p:nvCxnSpPr>
            <p:cNvPr id="628" name="Google Shape;628;p54"/>
            <p:cNvCxnSpPr>
              <a:stCxn id="622" idx="2"/>
              <a:endCxn id="625" idx="0"/>
            </p:cNvCxnSpPr>
            <p:nvPr/>
          </p:nvCxnSpPr>
          <p:spPr>
            <a:xfrm>
              <a:off x="1097031" y="1746500"/>
              <a:ext cx="544800" cy="180000"/>
            </a:xfrm>
            <a:prstGeom prst="straightConnector1">
              <a:avLst/>
            </a:prstGeom>
            <a:noFill/>
            <a:ln w="19050" cap="flat" cmpd="sng">
              <a:solidFill>
                <a:srgbClr val="0000FF"/>
              </a:solidFill>
              <a:prstDash val="solid"/>
              <a:round/>
              <a:headEnd type="none" w="med" len="med"/>
              <a:tailEnd type="none" w="med" len="med"/>
            </a:ln>
          </p:spPr>
        </p:cxnSp>
        <p:sp>
          <p:nvSpPr>
            <p:cNvPr id="629" name="Google Shape;629;p54"/>
            <p:cNvSpPr/>
            <p:nvPr/>
          </p:nvSpPr>
          <p:spPr>
            <a:xfrm>
              <a:off x="231675" y="2397707"/>
              <a:ext cx="178500" cy="124500"/>
            </a:xfrm>
            <a:prstGeom prst="roundRect">
              <a:avLst>
                <a:gd name="adj" fmla="val 16667"/>
              </a:avLst>
            </a:prstGeom>
            <a:solidFill>
              <a:srgbClr val="A4C2F4"/>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00"/>
            </a:p>
          </p:txBody>
        </p:sp>
        <p:sp>
          <p:nvSpPr>
            <p:cNvPr id="630" name="Google Shape;630;p54"/>
            <p:cNvSpPr/>
            <p:nvPr/>
          </p:nvSpPr>
          <p:spPr>
            <a:xfrm>
              <a:off x="694029" y="2397707"/>
              <a:ext cx="178500" cy="124500"/>
            </a:xfrm>
            <a:prstGeom prst="roundRect">
              <a:avLst>
                <a:gd name="adj" fmla="val 16667"/>
              </a:avLst>
            </a:prstGeom>
            <a:solidFill>
              <a:srgbClr val="A4C2F4"/>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00"/>
            </a:p>
          </p:txBody>
        </p:sp>
        <p:sp>
          <p:nvSpPr>
            <p:cNvPr id="631" name="Google Shape;631;p54"/>
            <p:cNvSpPr/>
            <p:nvPr/>
          </p:nvSpPr>
          <p:spPr>
            <a:xfrm>
              <a:off x="462852" y="2397707"/>
              <a:ext cx="178500" cy="124500"/>
            </a:xfrm>
            <a:prstGeom prst="roundRect">
              <a:avLst>
                <a:gd name="adj" fmla="val 16667"/>
              </a:avLst>
            </a:prstGeom>
            <a:solidFill>
              <a:srgbClr val="A4C2F4"/>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00"/>
            </a:p>
          </p:txBody>
        </p:sp>
        <p:sp>
          <p:nvSpPr>
            <p:cNvPr id="632" name="Google Shape;632;p54"/>
            <p:cNvSpPr/>
            <p:nvPr/>
          </p:nvSpPr>
          <p:spPr>
            <a:xfrm>
              <a:off x="776499" y="2225082"/>
              <a:ext cx="178500" cy="124500"/>
            </a:xfrm>
            <a:prstGeom prst="roundRect">
              <a:avLst>
                <a:gd name="adj" fmla="val 16667"/>
              </a:avLst>
            </a:prstGeom>
            <a:solidFill>
              <a:srgbClr val="A4C2F4"/>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00"/>
            </a:p>
          </p:txBody>
        </p:sp>
        <p:sp>
          <p:nvSpPr>
            <p:cNvPr id="633" name="Google Shape;633;p54"/>
            <p:cNvSpPr/>
            <p:nvPr/>
          </p:nvSpPr>
          <p:spPr>
            <a:xfrm>
              <a:off x="1238853" y="2225082"/>
              <a:ext cx="178500" cy="124500"/>
            </a:xfrm>
            <a:prstGeom prst="roundRect">
              <a:avLst>
                <a:gd name="adj" fmla="val 16667"/>
              </a:avLst>
            </a:prstGeom>
            <a:solidFill>
              <a:srgbClr val="A4C2F4"/>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00"/>
            </a:p>
          </p:txBody>
        </p:sp>
        <p:sp>
          <p:nvSpPr>
            <p:cNvPr id="634" name="Google Shape;634;p54"/>
            <p:cNvSpPr/>
            <p:nvPr/>
          </p:nvSpPr>
          <p:spPr>
            <a:xfrm>
              <a:off x="1007676" y="2225082"/>
              <a:ext cx="178500" cy="124500"/>
            </a:xfrm>
            <a:prstGeom prst="roundRect">
              <a:avLst>
                <a:gd name="adj" fmla="val 16667"/>
              </a:avLst>
            </a:prstGeom>
            <a:solidFill>
              <a:srgbClr val="A4C2F4"/>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00"/>
            </a:p>
          </p:txBody>
        </p:sp>
        <p:sp>
          <p:nvSpPr>
            <p:cNvPr id="635" name="Google Shape;635;p54"/>
            <p:cNvSpPr/>
            <p:nvPr/>
          </p:nvSpPr>
          <p:spPr>
            <a:xfrm>
              <a:off x="1321323" y="2397707"/>
              <a:ext cx="178500" cy="124500"/>
            </a:xfrm>
            <a:prstGeom prst="roundRect">
              <a:avLst>
                <a:gd name="adj" fmla="val 16667"/>
              </a:avLst>
            </a:prstGeom>
            <a:solidFill>
              <a:srgbClr val="FF0000"/>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00"/>
            </a:p>
          </p:txBody>
        </p:sp>
        <p:sp>
          <p:nvSpPr>
            <p:cNvPr id="636" name="Google Shape;636;p54"/>
            <p:cNvSpPr/>
            <p:nvPr/>
          </p:nvSpPr>
          <p:spPr>
            <a:xfrm>
              <a:off x="1783677" y="2397707"/>
              <a:ext cx="178500" cy="124500"/>
            </a:xfrm>
            <a:prstGeom prst="roundRect">
              <a:avLst>
                <a:gd name="adj" fmla="val 16667"/>
              </a:avLst>
            </a:prstGeom>
            <a:solidFill>
              <a:srgbClr val="A4C2F4"/>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00"/>
            </a:p>
          </p:txBody>
        </p:sp>
        <p:sp>
          <p:nvSpPr>
            <p:cNvPr id="637" name="Google Shape;637;p54"/>
            <p:cNvSpPr/>
            <p:nvPr/>
          </p:nvSpPr>
          <p:spPr>
            <a:xfrm>
              <a:off x="1552500" y="2397707"/>
              <a:ext cx="178500" cy="124500"/>
            </a:xfrm>
            <a:prstGeom prst="roundRect">
              <a:avLst>
                <a:gd name="adj" fmla="val 16667"/>
              </a:avLst>
            </a:prstGeom>
            <a:solidFill>
              <a:srgbClr val="A4C2F4"/>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00"/>
            </a:p>
          </p:txBody>
        </p:sp>
        <p:cxnSp>
          <p:nvCxnSpPr>
            <p:cNvPr id="638" name="Google Shape;638;p54"/>
            <p:cNvCxnSpPr>
              <a:stCxn id="623" idx="2"/>
              <a:endCxn id="629" idx="0"/>
            </p:cNvCxnSpPr>
            <p:nvPr/>
          </p:nvCxnSpPr>
          <p:spPr>
            <a:xfrm flipH="1">
              <a:off x="320815" y="2071090"/>
              <a:ext cx="231300" cy="326700"/>
            </a:xfrm>
            <a:prstGeom prst="straightConnector1">
              <a:avLst/>
            </a:prstGeom>
            <a:noFill/>
            <a:ln w="19050" cap="flat" cmpd="sng">
              <a:solidFill>
                <a:srgbClr val="FF0000"/>
              </a:solidFill>
              <a:prstDash val="solid"/>
              <a:round/>
              <a:headEnd type="none" w="med" len="med"/>
              <a:tailEnd type="none" w="med" len="med"/>
            </a:ln>
          </p:spPr>
        </p:cxnSp>
        <p:cxnSp>
          <p:nvCxnSpPr>
            <p:cNvPr id="639" name="Google Shape;639;p54"/>
            <p:cNvCxnSpPr>
              <a:stCxn id="623" idx="2"/>
              <a:endCxn id="631" idx="0"/>
            </p:cNvCxnSpPr>
            <p:nvPr/>
          </p:nvCxnSpPr>
          <p:spPr>
            <a:xfrm>
              <a:off x="552115" y="2071090"/>
              <a:ext cx="0" cy="326700"/>
            </a:xfrm>
            <a:prstGeom prst="straightConnector1">
              <a:avLst/>
            </a:prstGeom>
            <a:noFill/>
            <a:ln w="19050" cap="flat" cmpd="sng">
              <a:solidFill>
                <a:schemeClr val="dk2"/>
              </a:solidFill>
              <a:prstDash val="solid"/>
              <a:round/>
              <a:headEnd type="none" w="med" len="med"/>
              <a:tailEnd type="none" w="med" len="med"/>
            </a:ln>
          </p:spPr>
        </p:cxnSp>
        <p:cxnSp>
          <p:nvCxnSpPr>
            <p:cNvPr id="640" name="Google Shape;640;p54"/>
            <p:cNvCxnSpPr>
              <a:stCxn id="623" idx="2"/>
              <a:endCxn id="630" idx="0"/>
            </p:cNvCxnSpPr>
            <p:nvPr/>
          </p:nvCxnSpPr>
          <p:spPr>
            <a:xfrm>
              <a:off x="552115" y="2071090"/>
              <a:ext cx="231300" cy="326700"/>
            </a:xfrm>
            <a:prstGeom prst="straightConnector1">
              <a:avLst/>
            </a:prstGeom>
            <a:noFill/>
            <a:ln w="19050" cap="flat" cmpd="sng">
              <a:solidFill>
                <a:srgbClr val="0000FF"/>
              </a:solidFill>
              <a:prstDash val="solid"/>
              <a:round/>
              <a:headEnd type="none" w="med" len="med"/>
              <a:tailEnd type="none" w="med" len="med"/>
            </a:ln>
          </p:spPr>
        </p:cxnSp>
        <p:cxnSp>
          <p:nvCxnSpPr>
            <p:cNvPr id="641" name="Google Shape;641;p54"/>
            <p:cNvCxnSpPr>
              <a:stCxn id="625" idx="2"/>
              <a:endCxn id="635" idx="0"/>
            </p:cNvCxnSpPr>
            <p:nvPr/>
          </p:nvCxnSpPr>
          <p:spPr>
            <a:xfrm flipH="1">
              <a:off x="1410464" y="2071090"/>
              <a:ext cx="231300" cy="326700"/>
            </a:xfrm>
            <a:prstGeom prst="straightConnector1">
              <a:avLst/>
            </a:prstGeom>
            <a:noFill/>
            <a:ln w="19050" cap="flat" cmpd="sng">
              <a:solidFill>
                <a:srgbClr val="FF0000"/>
              </a:solidFill>
              <a:prstDash val="solid"/>
              <a:round/>
              <a:headEnd type="none" w="med" len="med"/>
              <a:tailEnd type="none" w="med" len="med"/>
            </a:ln>
          </p:spPr>
        </p:cxnSp>
        <p:cxnSp>
          <p:nvCxnSpPr>
            <p:cNvPr id="642" name="Google Shape;642;p54"/>
            <p:cNvCxnSpPr>
              <a:stCxn id="625" idx="2"/>
              <a:endCxn id="637" idx="0"/>
            </p:cNvCxnSpPr>
            <p:nvPr/>
          </p:nvCxnSpPr>
          <p:spPr>
            <a:xfrm>
              <a:off x="1641764" y="2071090"/>
              <a:ext cx="0" cy="326700"/>
            </a:xfrm>
            <a:prstGeom prst="straightConnector1">
              <a:avLst/>
            </a:prstGeom>
            <a:noFill/>
            <a:ln w="19050" cap="flat" cmpd="sng">
              <a:solidFill>
                <a:schemeClr val="dk2"/>
              </a:solidFill>
              <a:prstDash val="solid"/>
              <a:round/>
              <a:headEnd type="none" w="med" len="med"/>
              <a:tailEnd type="none" w="med" len="med"/>
            </a:ln>
          </p:spPr>
        </p:cxnSp>
        <p:cxnSp>
          <p:nvCxnSpPr>
            <p:cNvPr id="643" name="Google Shape;643;p54"/>
            <p:cNvCxnSpPr>
              <a:stCxn id="625" idx="2"/>
              <a:endCxn id="636" idx="0"/>
            </p:cNvCxnSpPr>
            <p:nvPr/>
          </p:nvCxnSpPr>
          <p:spPr>
            <a:xfrm>
              <a:off x="1641764" y="2071090"/>
              <a:ext cx="231300" cy="326700"/>
            </a:xfrm>
            <a:prstGeom prst="straightConnector1">
              <a:avLst/>
            </a:prstGeom>
            <a:noFill/>
            <a:ln w="19050" cap="flat" cmpd="sng">
              <a:solidFill>
                <a:srgbClr val="0000FF"/>
              </a:solidFill>
              <a:prstDash val="solid"/>
              <a:round/>
              <a:headEnd type="none" w="med" len="med"/>
              <a:tailEnd type="none" w="med" len="med"/>
            </a:ln>
          </p:spPr>
        </p:cxnSp>
        <p:cxnSp>
          <p:nvCxnSpPr>
            <p:cNvPr id="644" name="Google Shape;644;p54"/>
            <p:cNvCxnSpPr>
              <a:stCxn id="624" idx="2"/>
              <a:endCxn id="632" idx="0"/>
            </p:cNvCxnSpPr>
            <p:nvPr/>
          </p:nvCxnSpPr>
          <p:spPr>
            <a:xfrm flipH="1">
              <a:off x="865640" y="2071090"/>
              <a:ext cx="231300" cy="153900"/>
            </a:xfrm>
            <a:prstGeom prst="straightConnector1">
              <a:avLst/>
            </a:prstGeom>
            <a:noFill/>
            <a:ln w="19050" cap="flat" cmpd="sng">
              <a:solidFill>
                <a:srgbClr val="FF0000"/>
              </a:solidFill>
              <a:prstDash val="solid"/>
              <a:round/>
              <a:headEnd type="none" w="med" len="med"/>
              <a:tailEnd type="none" w="med" len="med"/>
            </a:ln>
          </p:spPr>
        </p:cxnSp>
        <p:cxnSp>
          <p:nvCxnSpPr>
            <p:cNvPr id="645" name="Google Shape;645;p54"/>
            <p:cNvCxnSpPr>
              <a:stCxn id="624" idx="2"/>
              <a:endCxn id="634" idx="0"/>
            </p:cNvCxnSpPr>
            <p:nvPr/>
          </p:nvCxnSpPr>
          <p:spPr>
            <a:xfrm>
              <a:off x="1096940" y="2071090"/>
              <a:ext cx="0" cy="153900"/>
            </a:xfrm>
            <a:prstGeom prst="straightConnector1">
              <a:avLst/>
            </a:prstGeom>
            <a:noFill/>
            <a:ln w="19050" cap="flat" cmpd="sng">
              <a:solidFill>
                <a:schemeClr val="dk2"/>
              </a:solidFill>
              <a:prstDash val="solid"/>
              <a:round/>
              <a:headEnd type="none" w="med" len="med"/>
              <a:tailEnd type="none" w="med" len="med"/>
            </a:ln>
          </p:spPr>
        </p:cxnSp>
        <p:cxnSp>
          <p:nvCxnSpPr>
            <p:cNvPr id="646" name="Google Shape;646;p54"/>
            <p:cNvCxnSpPr>
              <a:stCxn id="624" idx="2"/>
              <a:endCxn id="633" idx="0"/>
            </p:cNvCxnSpPr>
            <p:nvPr/>
          </p:nvCxnSpPr>
          <p:spPr>
            <a:xfrm>
              <a:off x="1096940" y="2071090"/>
              <a:ext cx="231300" cy="153900"/>
            </a:xfrm>
            <a:prstGeom prst="straightConnector1">
              <a:avLst/>
            </a:prstGeom>
            <a:noFill/>
            <a:ln w="19050" cap="flat" cmpd="sng">
              <a:solidFill>
                <a:srgbClr val="0000FF"/>
              </a:solidFill>
              <a:prstDash val="solid"/>
              <a:round/>
              <a:headEnd type="none" w="med" len="med"/>
              <a:tailEnd type="none" w="med" len="med"/>
            </a:ln>
          </p:spPr>
        </p:cxnSp>
      </p:grpSp>
      <p:grpSp>
        <p:nvGrpSpPr>
          <p:cNvPr id="647" name="Google Shape;647;p54"/>
          <p:cNvGrpSpPr/>
          <p:nvPr/>
        </p:nvGrpSpPr>
        <p:grpSpPr>
          <a:xfrm>
            <a:off x="2225275" y="2755250"/>
            <a:ext cx="1730502" cy="900207"/>
            <a:chOff x="231675" y="1622000"/>
            <a:chExt cx="1730502" cy="900207"/>
          </a:xfrm>
        </p:grpSpPr>
        <p:sp>
          <p:nvSpPr>
            <p:cNvPr id="648" name="Google Shape;648;p54"/>
            <p:cNvSpPr/>
            <p:nvPr/>
          </p:nvSpPr>
          <p:spPr>
            <a:xfrm>
              <a:off x="948081" y="1622000"/>
              <a:ext cx="297900" cy="124500"/>
            </a:xfrm>
            <a:prstGeom prst="rect">
              <a:avLst/>
            </a:prstGeom>
            <a:solidFill>
              <a:srgbClr val="FF0000"/>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00"/>
            </a:p>
          </p:txBody>
        </p:sp>
        <p:sp>
          <p:nvSpPr>
            <p:cNvPr id="649" name="Google Shape;649;p54"/>
            <p:cNvSpPr/>
            <p:nvPr/>
          </p:nvSpPr>
          <p:spPr>
            <a:xfrm>
              <a:off x="453565" y="1926490"/>
              <a:ext cx="197100" cy="1446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00"/>
            </a:p>
          </p:txBody>
        </p:sp>
        <p:sp>
          <p:nvSpPr>
            <p:cNvPr id="650" name="Google Shape;650;p54"/>
            <p:cNvSpPr/>
            <p:nvPr/>
          </p:nvSpPr>
          <p:spPr>
            <a:xfrm>
              <a:off x="998390" y="1926490"/>
              <a:ext cx="197100" cy="1446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00"/>
            </a:p>
          </p:txBody>
        </p:sp>
        <p:sp>
          <p:nvSpPr>
            <p:cNvPr id="651" name="Google Shape;651;p54"/>
            <p:cNvSpPr/>
            <p:nvPr/>
          </p:nvSpPr>
          <p:spPr>
            <a:xfrm>
              <a:off x="1543214" y="1926490"/>
              <a:ext cx="197100" cy="144600"/>
            </a:xfrm>
            <a:prstGeom prst="rect">
              <a:avLst/>
            </a:prstGeom>
            <a:solidFill>
              <a:srgbClr val="FF0000"/>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00"/>
            </a:p>
          </p:txBody>
        </p:sp>
        <p:cxnSp>
          <p:nvCxnSpPr>
            <p:cNvPr id="652" name="Google Shape;652;p54"/>
            <p:cNvCxnSpPr>
              <a:stCxn id="648" idx="2"/>
              <a:endCxn id="649" idx="0"/>
            </p:cNvCxnSpPr>
            <p:nvPr/>
          </p:nvCxnSpPr>
          <p:spPr>
            <a:xfrm flipH="1">
              <a:off x="552231" y="1746500"/>
              <a:ext cx="544800" cy="180000"/>
            </a:xfrm>
            <a:prstGeom prst="straightConnector1">
              <a:avLst/>
            </a:prstGeom>
            <a:noFill/>
            <a:ln w="19050" cap="flat" cmpd="sng">
              <a:solidFill>
                <a:srgbClr val="FF0000"/>
              </a:solidFill>
              <a:prstDash val="solid"/>
              <a:round/>
              <a:headEnd type="none" w="med" len="med"/>
              <a:tailEnd type="none" w="med" len="med"/>
            </a:ln>
          </p:spPr>
        </p:cxnSp>
        <p:cxnSp>
          <p:nvCxnSpPr>
            <p:cNvPr id="653" name="Google Shape;653;p54"/>
            <p:cNvCxnSpPr>
              <a:stCxn id="648" idx="2"/>
              <a:endCxn id="650" idx="0"/>
            </p:cNvCxnSpPr>
            <p:nvPr/>
          </p:nvCxnSpPr>
          <p:spPr>
            <a:xfrm>
              <a:off x="1097031" y="1746500"/>
              <a:ext cx="0" cy="180000"/>
            </a:xfrm>
            <a:prstGeom prst="straightConnector1">
              <a:avLst/>
            </a:prstGeom>
            <a:noFill/>
            <a:ln w="19050" cap="flat" cmpd="sng">
              <a:solidFill>
                <a:schemeClr val="dk2"/>
              </a:solidFill>
              <a:prstDash val="solid"/>
              <a:round/>
              <a:headEnd type="none" w="med" len="med"/>
              <a:tailEnd type="none" w="med" len="med"/>
            </a:ln>
          </p:spPr>
        </p:cxnSp>
        <p:cxnSp>
          <p:nvCxnSpPr>
            <p:cNvPr id="654" name="Google Shape;654;p54"/>
            <p:cNvCxnSpPr>
              <a:stCxn id="648" idx="2"/>
              <a:endCxn id="651" idx="0"/>
            </p:cNvCxnSpPr>
            <p:nvPr/>
          </p:nvCxnSpPr>
          <p:spPr>
            <a:xfrm>
              <a:off x="1097031" y="1746500"/>
              <a:ext cx="544800" cy="180000"/>
            </a:xfrm>
            <a:prstGeom prst="straightConnector1">
              <a:avLst/>
            </a:prstGeom>
            <a:noFill/>
            <a:ln w="19050" cap="flat" cmpd="sng">
              <a:solidFill>
                <a:srgbClr val="0000FF"/>
              </a:solidFill>
              <a:prstDash val="solid"/>
              <a:round/>
              <a:headEnd type="none" w="med" len="med"/>
              <a:tailEnd type="none" w="med" len="med"/>
            </a:ln>
          </p:spPr>
        </p:cxnSp>
        <p:sp>
          <p:nvSpPr>
            <p:cNvPr id="655" name="Google Shape;655;p54"/>
            <p:cNvSpPr/>
            <p:nvPr/>
          </p:nvSpPr>
          <p:spPr>
            <a:xfrm>
              <a:off x="231675" y="2397707"/>
              <a:ext cx="178500" cy="124500"/>
            </a:xfrm>
            <a:prstGeom prst="roundRect">
              <a:avLst>
                <a:gd name="adj" fmla="val 16667"/>
              </a:avLst>
            </a:prstGeom>
            <a:solidFill>
              <a:srgbClr val="A4C2F4"/>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00"/>
            </a:p>
          </p:txBody>
        </p:sp>
        <p:sp>
          <p:nvSpPr>
            <p:cNvPr id="656" name="Google Shape;656;p54"/>
            <p:cNvSpPr/>
            <p:nvPr/>
          </p:nvSpPr>
          <p:spPr>
            <a:xfrm>
              <a:off x="694029" y="2397707"/>
              <a:ext cx="178500" cy="124500"/>
            </a:xfrm>
            <a:prstGeom prst="roundRect">
              <a:avLst>
                <a:gd name="adj" fmla="val 16667"/>
              </a:avLst>
            </a:prstGeom>
            <a:solidFill>
              <a:srgbClr val="A4C2F4"/>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00"/>
            </a:p>
          </p:txBody>
        </p:sp>
        <p:sp>
          <p:nvSpPr>
            <p:cNvPr id="657" name="Google Shape;657;p54"/>
            <p:cNvSpPr/>
            <p:nvPr/>
          </p:nvSpPr>
          <p:spPr>
            <a:xfrm>
              <a:off x="462852" y="2397707"/>
              <a:ext cx="178500" cy="124500"/>
            </a:xfrm>
            <a:prstGeom prst="roundRect">
              <a:avLst>
                <a:gd name="adj" fmla="val 16667"/>
              </a:avLst>
            </a:prstGeom>
            <a:solidFill>
              <a:srgbClr val="A4C2F4"/>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00"/>
            </a:p>
          </p:txBody>
        </p:sp>
        <p:sp>
          <p:nvSpPr>
            <p:cNvPr id="658" name="Google Shape;658;p54"/>
            <p:cNvSpPr/>
            <p:nvPr/>
          </p:nvSpPr>
          <p:spPr>
            <a:xfrm>
              <a:off x="776499" y="2225082"/>
              <a:ext cx="178500" cy="124500"/>
            </a:xfrm>
            <a:prstGeom prst="roundRect">
              <a:avLst>
                <a:gd name="adj" fmla="val 16667"/>
              </a:avLst>
            </a:prstGeom>
            <a:solidFill>
              <a:srgbClr val="A4C2F4"/>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00"/>
            </a:p>
          </p:txBody>
        </p:sp>
        <p:sp>
          <p:nvSpPr>
            <p:cNvPr id="659" name="Google Shape;659;p54"/>
            <p:cNvSpPr/>
            <p:nvPr/>
          </p:nvSpPr>
          <p:spPr>
            <a:xfrm>
              <a:off x="1238853" y="2225082"/>
              <a:ext cx="178500" cy="124500"/>
            </a:xfrm>
            <a:prstGeom prst="roundRect">
              <a:avLst>
                <a:gd name="adj" fmla="val 16667"/>
              </a:avLst>
            </a:prstGeom>
            <a:solidFill>
              <a:srgbClr val="A4C2F4"/>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00"/>
            </a:p>
          </p:txBody>
        </p:sp>
        <p:sp>
          <p:nvSpPr>
            <p:cNvPr id="660" name="Google Shape;660;p54"/>
            <p:cNvSpPr/>
            <p:nvPr/>
          </p:nvSpPr>
          <p:spPr>
            <a:xfrm>
              <a:off x="1007676" y="2225082"/>
              <a:ext cx="178500" cy="124500"/>
            </a:xfrm>
            <a:prstGeom prst="roundRect">
              <a:avLst>
                <a:gd name="adj" fmla="val 16667"/>
              </a:avLst>
            </a:prstGeom>
            <a:solidFill>
              <a:srgbClr val="A4C2F4"/>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00"/>
            </a:p>
          </p:txBody>
        </p:sp>
        <p:sp>
          <p:nvSpPr>
            <p:cNvPr id="661" name="Google Shape;661;p54"/>
            <p:cNvSpPr/>
            <p:nvPr/>
          </p:nvSpPr>
          <p:spPr>
            <a:xfrm>
              <a:off x="1321323" y="2397707"/>
              <a:ext cx="178500" cy="124500"/>
            </a:xfrm>
            <a:prstGeom prst="roundRect">
              <a:avLst>
                <a:gd name="adj" fmla="val 16667"/>
              </a:avLst>
            </a:prstGeom>
            <a:solidFill>
              <a:srgbClr val="A4C2F4"/>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00"/>
            </a:p>
          </p:txBody>
        </p:sp>
        <p:sp>
          <p:nvSpPr>
            <p:cNvPr id="662" name="Google Shape;662;p54"/>
            <p:cNvSpPr/>
            <p:nvPr/>
          </p:nvSpPr>
          <p:spPr>
            <a:xfrm>
              <a:off x="1783677" y="2397707"/>
              <a:ext cx="178500" cy="124500"/>
            </a:xfrm>
            <a:prstGeom prst="roundRect">
              <a:avLst>
                <a:gd name="adj" fmla="val 16667"/>
              </a:avLst>
            </a:prstGeom>
            <a:solidFill>
              <a:srgbClr val="FF0000"/>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00"/>
            </a:p>
          </p:txBody>
        </p:sp>
        <p:sp>
          <p:nvSpPr>
            <p:cNvPr id="663" name="Google Shape;663;p54"/>
            <p:cNvSpPr/>
            <p:nvPr/>
          </p:nvSpPr>
          <p:spPr>
            <a:xfrm>
              <a:off x="1552500" y="2397707"/>
              <a:ext cx="178500" cy="124500"/>
            </a:xfrm>
            <a:prstGeom prst="roundRect">
              <a:avLst>
                <a:gd name="adj" fmla="val 16667"/>
              </a:avLst>
            </a:prstGeom>
            <a:solidFill>
              <a:srgbClr val="A4C2F4"/>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00"/>
            </a:p>
          </p:txBody>
        </p:sp>
        <p:cxnSp>
          <p:nvCxnSpPr>
            <p:cNvPr id="664" name="Google Shape;664;p54"/>
            <p:cNvCxnSpPr>
              <a:stCxn id="649" idx="2"/>
              <a:endCxn id="655" idx="0"/>
            </p:cNvCxnSpPr>
            <p:nvPr/>
          </p:nvCxnSpPr>
          <p:spPr>
            <a:xfrm flipH="1">
              <a:off x="320815" y="2071090"/>
              <a:ext cx="231300" cy="326700"/>
            </a:xfrm>
            <a:prstGeom prst="straightConnector1">
              <a:avLst/>
            </a:prstGeom>
            <a:noFill/>
            <a:ln w="19050" cap="flat" cmpd="sng">
              <a:solidFill>
                <a:srgbClr val="FF0000"/>
              </a:solidFill>
              <a:prstDash val="solid"/>
              <a:round/>
              <a:headEnd type="none" w="med" len="med"/>
              <a:tailEnd type="none" w="med" len="med"/>
            </a:ln>
          </p:spPr>
        </p:cxnSp>
        <p:cxnSp>
          <p:nvCxnSpPr>
            <p:cNvPr id="665" name="Google Shape;665;p54"/>
            <p:cNvCxnSpPr>
              <a:stCxn id="649" idx="2"/>
              <a:endCxn id="657" idx="0"/>
            </p:cNvCxnSpPr>
            <p:nvPr/>
          </p:nvCxnSpPr>
          <p:spPr>
            <a:xfrm>
              <a:off x="552115" y="2071090"/>
              <a:ext cx="0" cy="326700"/>
            </a:xfrm>
            <a:prstGeom prst="straightConnector1">
              <a:avLst/>
            </a:prstGeom>
            <a:noFill/>
            <a:ln w="19050" cap="flat" cmpd="sng">
              <a:solidFill>
                <a:schemeClr val="dk2"/>
              </a:solidFill>
              <a:prstDash val="solid"/>
              <a:round/>
              <a:headEnd type="none" w="med" len="med"/>
              <a:tailEnd type="none" w="med" len="med"/>
            </a:ln>
          </p:spPr>
        </p:cxnSp>
        <p:cxnSp>
          <p:nvCxnSpPr>
            <p:cNvPr id="666" name="Google Shape;666;p54"/>
            <p:cNvCxnSpPr>
              <a:stCxn id="649" idx="2"/>
              <a:endCxn id="656" idx="0"/>
            </p:cNvCxnSpPr>
            <p:nvPr/>
          </p:nvCxnSpPr>
          <p:spPr>
            <a:xfrm>
              <a:off x="552115" y="2071090"/>
              <a:ext cx="231300" cy="326700"/>
            </a:xfrm>
            <a:prstGeom prst="straightConnector1">
              <a:avLst/>
            </a:prstGeom>
            <a:noFill/>
            <a:ln w="19050" cap="flat" cmpd="sng">
              <a:solidFill>
                <a:srgbClr val="0000FF"/>
              </a:solidFill>
              <a:prstDash val="solid"/>
              <a:round/>
              <a:headEnd type="none" w="med" len="med"/>
              <a:tailEnd type="none" w="med" len="med"/>
            </a:ln>
          </p:spPr>
        </p:cxnSp>
        <p:cxnSp>
          <p:nvCxnSpPr>
            <p:cNvPr id="667" name="Google Shape;667;p54"/>
            <p:cNvCxnSpPr>
              <a:stCxn id="651" idx="2"/>
              <a:endCxn id="661" idx="0"/>
            </p:cNvCxnSpPr>
            <p:nvPr/>
          </p:nvCxnSpPr>
          <p:spPr>
            <a:xfrm flipH="1">
              <a:off x="1410464" y="2071090"/>
              <a:ext cx="231300" cy="326700"/>
            </a:xfrm>
            <a:prstGeom prst="straightConnector1">
              <a:avLst/>
            </a:prstGeom>
            <a:noFill/>
            <a:ln w="19050" cap="flat" cmpd="sng">
              <a:solidFill>
                <a:srgbClr val="FF0000"/>
              </a:solidFill>
              <a:prstDash val="solid"/>
              <a:round/>
              <a:headEnd type="none" w="med" len="med"/>
              <a:tailEnd type="none" w="med" len="med"/>
            </a:ln>
          </p:spPr>
        </p:cxnSp>
        <p:cxnSp>
          <p:nvCxnSpPr>
            <p:cNvPr id="668" name="Google Shape;668;p54"/>
            <p:cNvCxnSpPr>
              <a:stCxn id="651" idx="2"/>
              <a:endCxn id="663" idx="0"/>
            </p:cNvCxnSpPr>
            <p:nvPr/>
          </p:nvCxnSpPr>
          <p:spPr>
            <a:xfrm>
              <a:off x="1641764" y="2071090"/>
              <a:ext cx="0" cy="326700"/>
            </a:xfrm>
            <a:prstGeom prst="straightConnector1">
              <a:avLst/>
            </a:prstGeom>
            <a:noFill/>
            <a:ln w="19050" cap="flat" cmpd="sng">
              <a:solidFill>
                <a:schemeClr val="dk2"/>
              </a:solidFill>
              <a:prstDash val="solid"/>
              <a:round/>
              <a:headEnd type="none" w="med" len="med"/>
              <a:tailEnd type="none" w="med" len="med"/>
            </a:ln>
          </p:spPr>
        </p:cxnSp>
        <p:cxnSp>
          <p:nvCxnSpPr>
            <p:cNvPr id="669" name="Google Shape;669;p54"/>
            <p:cNvCxnSpPr>
              <a:stCxn id="651" idx="2"/>
              <a:endCxn id="662" idx="0"/>
            </p:cNvCxnSpPr>
            <p:nvPr/>
          </p:nvCxnSpPr>
          <p:spPr>
            <a:xfrm>
              <a:off x="1641764" y="2071090"/>
              <a:ext cx="231300" cy="326700"/>
            </a:xfrm>
            <a:prstGeom prst="straightConnector1">
              <a:avLst/>
            </a:prstGeom>
            <a:noFill/>
            <a:ln w="19050" cap="flat" cmpd="sng">
              <a:solidFill>
                <a:srgbClr val="0000FF"/>
              </a:solidFill>
              <a:prstDash val="solid"/>
              <a:round/>
              <a:headEnd type="none" w="med" len="med"/>
              <a:tailEnd type="none" w="med" len="med"/>
            </a:ln>
          </p:spPr>
        </p:cxnSp>
        <p:cxnSp>
          <p:nvCxnSpPr>
            <p:cNvPr id="670" name="Google Shape;670;p54"/>
            <p:cNvCxnSpPr>
              <a:stCxn id="650" idx="2"/>
              <a:endCxn id="658" idx="0"/>
            </p:cNvCxnSpPr>
            <p:nvPr/>
          </p:nvCxnSpPr>
          <p:spPr>
            <a:xfrm flipH="1">
              <a:off x="865640" y="2071090"/>
              <a:ext cx="231300" cy="153900"/>
            </a:xfrm>
            <a:prstGeom prst="straightConnector1">
              <a:avLst/>
            </a:prstGeom>
            <a:noFill/>
            <a:ln w="19050" cap="flat" cmpd="sng">
              <a:solidFill>
                <a:srgbClr val="FF0000"/>
              </a:solidFill>
              <a:prstDash val="solid"/>
              <a:round/>
              <a:headEnd type="none" w="med" len="med"/>
              <a:tailEnd type="none" w="med" len="med"/>
            </a:ln>
          </p:spPr>
        </p:cxnSp>
        <p:cxnSp>
          <p:nvCxnSpPr>
            <p:cNvPr id="671" name="Google Shape;671;p54"/>
            <p:cNvCxnSpPr>
              <a:stCxn id="650" idx="2"/>
              <a:endCxn id="660" idx="0"/>
            </p:cNvCxnSpPr>
            <p:nvPr/>
          </p:nvCxnSpPr>
          <p:spPr>
            <a:xfrm>
              <a:off x="1096940" y="2071090"/>
              <a:ext cx="0" cy="153900"/>
            </a:xfrm>
            <a:prstGeom prst="straightConnector1">
              <a:avLst/>
            </a:prstGeom>
            <a:noFill/>
            <a:ln w="19050" cap="flat" cmpd="sng">
              <a:solidFill>
                <a:schemeClr val="dk2"/>
              </a:solidFill>
              <a:prstDash val="solid"/>
              <a:round/>
              <a:headEnd type="none" w="med" len="med"/>
              <a:tailEnd type="none" w="med" len="med"/>
            </a:ln>
          </p:spPr>
        </p:cxnSp>
        <p:cxnSp>
          <p:nvCxnSpPr>
            <p:cNvPr id="672" name="Google Shape;672;p54"/>
            <p:cNvCxnSpPr>
              <a:stCxn id="650" idx="2"/>
              <a:endCxn id="659" idx="0"/>
            </p:cNvCxnSpPr>
            <p:nvPr/>
          </p:nvCxnSpPr>
          <p:spPr>
            <a:xfrm>
              <a:off x="1096940" y="2071090"/>
              <a:ext cx="231300" cy="153900"/>
            </a:xfrm>
            <a:prstGeom prst="straightConnector1">
              <a:avLst/>
            </a:prstGeom>
            <a:noFill/>
            <a:ln w="19050" cap="flat" cmpd="sng">
              <a:solidFill>
                <a:srgbClr val="0000FF"/>
              </a:solidFill>
              <a:prstDash val="solid"/>
              <a:round/>
              <a:headEnd type="none" w="med" len="med"/>
              <a:tailEnd type="none" w="med" len="med"/>
            </a:ln>
          </p:spPr>
        </p:cxnSp>
      </p:grpSp>
      <p:grpSp>
        <p:nvGrpSpPr>
          <p:cNvPr id="673" name="Google Shape;673;p54"/>
          <p:cNvGrpSpPr/>
          <p:nvPr/>
        </p:nvGrpSpPr>
        <p:grpSpPr>
          <a:xfrm>
            <a:off x="4218875" y="2755250"/>
            <a:ext cx="1730502" cy="900207"/>
            <a:chOff x="231675" y="1622000"/>
            <a:chExt cx="1730502" cy="900207"/>
          </a:xfrm>
        </p:grpSpPr>
        <p:sp>
          <p:nvSpPr>
            <p:cNvPr id="674" name="Google Shape;674;p54"/>
            <p:cNvSpPr/>
            <p:nvPr/>
          </p:nvSpPr>
          <p:spPr>
            <a:xfrm>
              <a:off x="948081" y="1622000"/>
              <a:ext cx="297900" cy="124500"/>
            </a:xfrm>
            <a:prstGeom prst="rect">
              <a:avLst/>
            </a:prstGeom>
            <a:solidFill>
              <a:srgbClr val="FF0000"/>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00"/>
            </a:p>
          </p:txBody>
        </p:sp>
        <p:sp>
          <p:nvSpPr>
            <p:cNvPr id="675" name="Google Shape;675;p54"/>
            <p:cNvSpPr/>
            <p:nvPr/>
          </p:nvSpPr>
          <p:spPr>
            <a:xfrm>
              <a:off x="453565" y="1926490"/>
              <a:ext cx="197100" cy="1446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00"/>
            </a:p>
          </p:txBody>
        </p:sp>
        <p:sp>
          <p:nvSpPr>
            <p:cNvPr id="676" name="Google Shape;676;p54"/>
            <p:cNvSpPr/>
            <p:nvPr/>
          </p:nvSpPr>
          <p:spPr>
            <a:xfrm>
              <a:off x="998390" y="1926490"/>
              <a:ext cx="197100" cy="1446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00"/>
            </a:p>
          </p:txBody>
        </p:sp>
        <p:sp>
          <p:nvSpPr>
            <p:cNvPr id="677" name="Google Shape;677;p54"/>
            <p:cNvSpPr/>
            <p:nvPr/>
          </p:nvSpPr>
          <p:spPr>
            <a:xfrm>
              <a:off x="1543214" y="1926490"/>
              <a:ext cx="197100" cy="144600"/>
            </a:xfrm>
            <a:prstGeom prst="rect">
              <a:avLst/>
            </a:prstGeom>
            <a:solidFill>
              <a:srgbClr val="FF0000"/>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00"/>
            </a:p>
          </p:txBody>
        </p:sp>
        <p:cxnSp>
          <p:nvCxnSpPr>
            <p:cNvPr id="678" name="Google Shape;678;p54"/>
            <p:cNvCxnSpPr>
              <a:stCxn id="674" idx="2"/>
              <a:endCxn id="675" idx="0"/>
            </p:cNvCxnSpPr>
            <p:nvPr/>
          </p:nvCxnSpPr>
          <p:spPr>
            <a:xfrm flipH="1">
              <a:off x="552231" y="1746500"/>
              <a:ext cx="544800" cy="180000"/>
            </a:xfrm>
            <a:prstGeom prst="straightConnector1">
              <a:avLst/>
            </a:prstGeom>
            <a:noFill/>
            <a:ln w="19050" cap="flat" cmpd="sng">
              <a:solidFill>
                <a:srgbClr val="FF0000"/>
              </a:solidFill>
              <a:prstDash val="solid"/>
              <a:round/>
              <a:headEnd type="none" w="med" len="med"/>
              <a:tailEnd type="none" w="med" len="med"/>
            </a:ln>
          </p:spPr>
        </p:cxnSp>
        <p:cxnSp>
          <p:nvCxnSpPr>
            <p:cNvPr id="679" name="Google Shape;679;p54"/>
            <p:cNvCxnSpPr>
              <a:stCxn id="674" idx="2"/>
              <a:endCxn id="676" idx="0"/>
            </p:cNvCxnSpPr>
            <p:nvPr/>
          </p:nvCxnSpPr>
          <p:spPr>
            <a:xfrm>
              <a:off x="1097031" y="1746500"/>
              <a:ext cx="0" cy="180000"/>
            </a:xfrm>
            <a:prstGeom prst="straightConnector1">
              <a:avLst/>
            </a:prstGeom>
            <a:noFill/>
            <a:ln w="19050" cap="flat" cmpd="sng">
              <a:solidFill>
                <a:schemeClr val="dk2"/>
              </a:solidFill>
              <a:prstDash val="solid"/>
              <a:round/>
              <a:headEnd type="none" w="med" len="med"/>
              <a:tailEnd type="none" w="med" len="med"/>
            </a:ln>
          </p:spPr>
        </p:cxnSp>
        <p:cxnSp>
          <p:nvCxnSpPr>
            <p:cNvPr id="680" name="Google Shape;680;p54"/>
            <p:cNvCxnSpPr>
              <a:stCxn id="674" idx="2"/>
              <a:endCxn id="677" idx="0"/>
            </p:cNvCxnSpPr>
            <p:nvPr/>
          </p:nvCxnSpPr>
          <p:spPr>
            <a:xfrm>
              <a:off x="1097031" y="1746500"/>
              <a:ext cx="544800" cy="180000"/>
            </a:xfrm>
            <a:prstGeom prst="straightConnector1">
              <a:avLst/>
            </a:prstGeom>
            <a:noFill/>
            <a:ln w="19050" cap="flat" cmpd="sng">
              <a:solidFill>
                <a:srgbClr val="0000FF"/>
              </a:solidFill>
              <a:prstDash val="solid"/>
              <a:round/>
              <a:headEnd type="none" w="med" len="med"/>
              <a:tailEnd type="none" w="med" len="med"/>
            </a:ln>
          </p:spPr>
        </p:cxnSp>
        <p:sp>
          <p:nvSpPr>
            <p:cNvPr id="681" name="Google Shape;681;p54"/>
            <p:cNvSpPr/>
            <p:nvPr/>
          </p:nvSpPr>
          <p:spPr>
            <a:xfrm>
              <a:off x="231675" y="2397707"/>
              <a:ext cx="178500" cy="124500"/>
            </a:xfrm>
            <a:prstGeom prst="roundRect">
              <a:avLst>
                <a:gd name="adj" fmla="val 16667"/>
              </a:avLst>
            </a:prstGeom>
            <a:solidFill>
              <a:srgbClr val="A4C2F4"/>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00"/>
            </a:p>
          </p:txBody>
        </p:sp>
        <p:sp>
          <p:nvSpPr>
            <p:cNvPr id="682" name="Google Shape;682;p54"/>
            <p:cNvSpPr/>
            <p:nvPr/>
          </p:nvSpPr>
          <p:spPr>
            <a:xfrm>
              <a:off x="694029" y="2397707"/>
              <a:ext cx="178500" cy="124500"/>
            </a:xfrm>
            <a:prstGeom prst="roundRect">
              <a:avLst>
                <a:gd name="adj" fmla="val 16667"/>
              </a:avLst>
            </a:prstGeom>
            <a:solidFill>
              <a:srgbClr val="A4C2F4"/>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00"/>
            </a:p>
          </p:txBody>
        </p:sp>
        <p:sp>
          <p:nvSpPr>
            <p:cNvPr id="683" name="Google Shape;683;p54"/>
            <p:cNvSpPr/>
            <p:nvPr/>
          </p:nvSpPr>
          <p:spPr>
            <a:xfrm>
              <a:off x="462852" y="2397707"/>
              <a:ext cx="178500" cy="124500"/>
            </a:xfrm>
            <a:prstGeom prst="roundRect">
              <a:avLst>
                <a:gd name="adj" fmla="val 16667"/>
              </a:avLst>
            </a:prstGeom>
            <a:solidFill>
              <a:srgbClr val="A4C2F4"/>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00"/>
            </a:p>
          </p:txBody>
        </p:sp>
        <p:sp>
          <p:nvSpPr>
            <p:cNvPr id="684" name="Google Shape;684;p54"/>
            <p:cNvSpPr/>
            <p:nvPr/>
          </p:nvSpPr>
          <p:spPr>
            <a:xfrm>
              <a:off x="776499" y="2225082"/>
              <a:ext cx="178500" cy="124500"/>
            </a:xfrm>
            <a:prstGeom prst="roundRect">
              <a:avLst>
                <a:gd name="adj" fmla="val 16667"/>
              </a:avLst>
            </a:prstGeom>
            <a:solidFill>
              <a:srgbClr val="A4C2F4"/>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00"/>
            </a:p>
          </p:txBody>
        </p:sp>
        <p:sp>
          <p:nvSpPr>
            <p:cNvPr id="685" name="Google Shape;685;p54"/>
            <p:cNvSpPr/>
            <p:nvPr/>
          </p:nvSpPr>
          <p:spPr>
            <a:xfrm>
              <a:off x="1238853" y="2225082"/>
              <a:ext cx="178500" cy="124500"/>
            </a:xfrm>
            <a:prstGeom prst="roundRect">
              <a:avLst>
                <a:gd name="adj" fmla="val 16667"/>
              </a:avLst>
            </a:prstGeom>
            <a:solidFill>
              <a:srgbClr val="A4C2F4"/>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00"/>
            </a:p>
          </p:txBody>
        </p:sp>
        <p:sp>
          <p:nvSpPr>
            <p:cNvPr id="686" name="Google Shape;686;p54"/>
            <p:cNvSpPr/>
            <p:nvPr/>
          </p:nvSpPr>
          <p:spPr>
            <a:xfrm>
              <a:off x="1007676" y="2225082"/>
              <a:ext cx="178500" cy="124500"/>
            </a:xfrm>
            <a:prstGeom prst="roundRect">
              <a:avLst>
                <a:gd name="adj" fmla="val 16667"/>
              </a:avLst>
            </a:prstGeom>
            <a:solidFill>
              <a:srgbClr val="A4C2F4"/>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00"/>
            </a:p>
          </p:txBody>
        </p:sp>
        <p:sp>
          <p:nvSpPr>
            <p:cNvPr id="687" name="Google Shape;687;p54"/>
            <p:cNvSpPr/>
            <p:nvPr/>
          </p:nvSpPr>
          <p:spPr>
            <a:xfrm>
              <a:off x="1321323" y="2397707"/>
              <a:ext cx="178500" cy="124500"/>
            </a:xfrm>
            <a:prstGeom prst="roundRect">
              <a:avLst>
                <a:gd name="adj" fmla="val 16667"/>
              </a:avLst>
            </a:prstGeom>
            <a:solidFill>
              <a:srgbClr val="A4C2F4"/>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00"/>
            </a:p>
          </p:txBody>
        </p:sp>
        <p:sp>
          <p:nvSpPr>
            <p:cNvPr id="688" name="Google Shape;688;p54"/>
            <p:cNvSpPr/>
            <p:nvPr/>
          </p:nvSpPr>
          <p:spPr>
            <a:xfrm>
              <a:off x="1783677" y="2397707"/>
              <a:ext cx="178500" cy="124500"/>
            </a:xfrm>
            <a:prstGeom prst="roundRect">
              <a:avLst>
                <a:gd name="adj" fmla="val 16667"/>
              </a:avLst>
            </a:prstGeom>
            <a:solidFill>
              <a:srgbClr val="A4C2F4"/>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00"/>
            </a:p>
          </p:txBody>
        </p:sp>
        <p:sp>
          <p:nvSpPr>
            <p:cNvPr id="689" name="Google Shape;689;p54"/>
            <p:cNvSpPr/>
            <p:nvPr/>
          </p:nvSpPr>
          <p:spPr>
            <a:xfrm>
              <a:off x="1552500" y="2397707"/>
              <a:ext cx="178500" cy="124500"/>
            </a:xfrm>
            <a:prstGeom prst="roundRect">
              <a:avLst>
                <a:gd name="adj" fmla="val 16667"/>
              </a:avLst>
            </a:prstGeom>
            <a:solidFill>
              <a:srgbClr val="FF0000"/>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00"/>
            </a:p>
          </p:txBody>
        </p:sp>
        <p:cxnSp>
          <p:nvCxnSpPr>
            <p:cNvPr id="690" name="Google Shape;690;p54"/>
            <p:cNvCxnSpPr>
              <a:stCxn id="675" idx="2"/>
              <a:endCxn id="681" idx="0"/>
            </p:cNvCxnSpPr>
            <p:nvPr/>
          </p:nvCxnSpPr>
          <p:spPr>
            <a:xfrm flipH="1">
              <a:off x="320815" y="2071090"/>
              <a:ext cx="231300" cy="326700"/>
            </a:xfrm>
            <a:prstGeom prst="straightConnector1">
              <a:avLst/>
            </a:prstGeom>
            <a:noFill/>
            <a:ln w="19050" cap="flat" cmpd="sng">
              <a:solidFill>
                <a:srgbClr val="FF0000"/>
              </a:solidFill>
              <a:prstDash val="solid"/>
              <a:round/>
              <a:headEnd type="none" w="med" len="med"/>
              <a:tailEnd type="none" w="med" len="med"/>
            </a:ln>
          </p:spPr>
        </p:cxnSp>
        <p:cxnSp>
          <p:nvCxnSpPr>
            <p:cNvPr id="691" name="Google Shape;691;p54"/>
            <p:cNvCxnSpPr>
              <a:stCxn id="675" idx="2"/>
              <a:endCxn id="683" idx="0"/>
            </p:cNvCxnSpPr>
            <p:nvPr/>
          </p:nvCxnSpPr>
          <p:spPr>
            <a:xfrm>
              <a:off x="552115" y="2071090"/>
              <a:ext cx="0" cy="326700"/>
            </a:xfrm>
            <a:prstGeom prst="straightConnector1">
              <a:avLst/>
            </a:prstGeom>
            <a:noFill/>
            <a:ln w="19050" cap="flat" cmpd="sng">
              <a:solidFill>
                <a:schemeClr val="dk2"/>
              </a:solidFill>
              <a:prstDash val="solid"/>
              <a:round/>
              <a:headEnd type="none" w="med" len="med"/>
              <a:tailEnd type="none" w="med" len="med"/>
            </a:ln>
          </p:spPr>
        </p:cxnSp>
        <p:cxnSp>
          <p:nvCxnSpPr>
            <p:cNvPr id="692" name="Google Shape;692;p54"/>
            <p:cNvCxnSpPr>
              <a:stCxn id="675" idx="2"/>
              <a:endCxn id="682" idx="0"/>
            </p:cNvCxnSpPr>
            <p:nvPr/>
          </p:nvCxnSpPr>
          <p:spPr>
            <a:xfrm>
              <a:off x="552115" y="2071090"/>
              <a:ext cx="231300" cy="326700"/>
            </a:xfrm>
            <a:prstGeom prst="straightConnector1">
              <a:avLst/>
            </a:prstGeom>
            <a:noFill/>
            <a:ln w="19050" cap="flat" cmpd="sng">
              <a:solidFill>
                <a:srgbClr val="0000FF"/>
              </a:solidFill>
              <a:prstDash val="solid"/>
              <a:round/>
              <a:headEnd type="none" w="med" len="med"/>
              <a:tailEnd type="none" w="med" len="med"/>
            </a:ln>
          </p:spPr>
        </p:cxnSp>
        <p:cxnSp>
          <p:nvCxnSpPr>
            <p:cNvPr id="693" name="Google Shape;693;p54"/>
            <p:cNvCxnSpPr>
              <a:stCxn id="677" idx="2"/>
              <a:endCxn id="687" idx="0"/>
            </p:cNvCxnSpPr>
            <p:nvPr/>
          </p:nvCxnSpPr>
          <p:spPr>
            <a:xfrm flipH="1">
              <a:off x="1410464" y="2071090"/>
              <a:ext cx="231300" cy="326700"/>
            </a:xfrm>
            <a:prstGeom prst="straightConnector1">
              <a:avLst/>
            </a:prstGeom>
            <a:noFill/>
            <a:ln w="19050" cap="flat" cmpd="sng">
              <a:solidFill>
                <a:srgbClr val="FF0000"/>
              </a:solidFill>
              <a:prstDash val="solid"/>
              <a:round/>
              <a:headEnd type="none" w="med" len="med"/>
              <a:tailEnd type="none" w="med" len="med"/>
            </a:ln>
          </p:spPr>
        </p:cxnSp>
        <p:cxnSp>
          <p:nvCxnSpPr>
            <p:cNvPr id="694" name="Google Shape;694;p54"/>
            <p:cNvCxnSpPr>
              <a:stCxn id="677" idx="2"/>
              <a:endCxn id="689" idx="0"/>
            </p:cNvCxnSpPr>
            <p:nvPr/>
          </p:nvCxnSpPr>
          <p:spPr>
            <a:xfrm>
              <a:off x="1641764" y="2071090"/>
              <a:ext cx="0" cy="326700"/>
            </a:xfrm>
            <a:prstGeom prst="straightConnector1">
              <a:avLst/>
            </a:prstGeom>
            <a:noFill/>
            <a:ln w="19050" cap="flat" cmpd="sng">
              <a:solidFill>
                <a:schemeClr val="dk2"/>
              </a:solidFill>
              <a:prstDash val="solid"/>
              <a:round/>
              <a:headEnd type="none" w="med" len="med"/>
              <a:tailEnd type="none" w="med" len="med"/>
            </a:ln>
          </p:spPr>
        </p:cxnSp>
        <p:cxnSp>
          <p:nvCxnSpPr>
            <p:cNvPr id="695" name="Google Shape;695;p54"/>
            <p:cNvCxnSpPr>
              <a:stCxn id="677" idx="2"/>
              <a:endCxn id="688" idx="0"/>
            </p:cNvCxnSpPr>
            <p:nvPr/>
          </p:nvCxnSpPr>
          <p:spPr>
            <a:xfrm>
              <a:off x="1641764" y="2071090"/>
              <a:ext cx="231300" cy="326700"/>
            </a:xfrm>
            <a:prstGeom prst="straightConnector1">
              <a:avLst/>
            </a:prstGeom>
            <a:noFill/>
            <a:ln w="19050" cap="flat" cmpd="sng">
              <a:solidFill>
                <a:srgbClr val="0000FF"/>
              </a:solidFill>
              <a:prstDash val="solid"/>
              <a:round/>
              <a:headEnd type="none" w="med" len="med"/>
              <a:tailEnd type="none" w="med" len="med"/>
            </a:ln>
          </p:spPr>
        </p:cxnSp>
        <p:cxnSp>
          <p:nvCxnSpPr>
            <p:cNvPr id="696" name="Google Shape;696;p54"/>
            <p:cNvCxnSpPr>
              <a:stCxn id="676" idx="2"/>
              <a:endCxn id="684" idx="0"/>
            </p:cNvCxnSpPr>
            <p:nvPr/>
          </p:nvCxnSpPr>
          <p:spPr>
            <a:xfrm flipH="1">
              <a:off x="865640" y="2071090"/>
              <a:ext cx="231300" cy="153900"/>
            </a:xfrm>
            <a:prstGeom prst="straightConnector1">
              <a:avLst/>
            </a:prstGeom>
            <a:noFill/>
            <a:ln w="19050" cap="flat" cmpd="sng">
              <a:solidFill>
                <a:srgbClr val="FF0000"/>
              </a:solidFill>
              <a:prstDash val="solid"/>
              <a:round/>
              <a:headEnd type="none" w="med" len="med"/>
              <a:tailEnd type="none" w="med" len="med"/>
            </a:ln>
          </p:spPr>
        </p:cxnSp>
        <p:cxnSp>
          <p:nvCxnSpPr>
            <p:cNvPr id="697" name="Google Shape;697;p54"/>
            <p:cNvCxnSpPr>
              <a:stCxn id="676" idx="2"/>
              <a:endCxn id="686" idx="0"/>
            </p:cNvCxnSpPr>
            <p:nvPr/>
          </p:nvCxnSpPr>
          <p:spPr>
            <a:xfrm>
              <a:off x="1096940" y="2071090"/>
              <a:ext cx="0" cy="153900"/>
            </a:xfrm>
            <a:prstGeom prst="straightConnector1">
              <a:avLst/>
            </a:prstGeom>
            <a:noFill/>
            <a:ln w="19050" cap="flat" cmpd="sng">
              <a:solidFill>
                <a:schemeClr val="dk2"/>
              </a:solidFill>
              <a:prstDash val="solid"/>
              <a:round/>
              <a:headEnd type="none" w="med" len="med"/>
              <a:tailEnd type="none" w="med" len="med"/>
            </a:ln>
          </p:spPr>
        </p:cxnSp>
        <p:cxnSp>
          <p:nvCxnSpPr>
            <p:cNvPr id="698" name="Google Shape;698;p54"/>
            <p:cNvCxnSpPr>
              <a:stCxn id="676" idx="2"/>
              <a:endCxn id="685" idx="0"/>
            </p:cNvCxnSpPr>
            <p:nvPr/>
          </p:nvCxnSpPr>
          <p:spPr>
            <a:xfrm>
              <a:off x="1096940" y="2071090"/>
              <a:ext cx="231300" cy="153900"/>
            </a:xfrm>
            <a:prstGeom prst="straightConnector1">
              <a:avLst/>
            </a:prstGeom>
            <a:noFill/>
            <a:ln w="19050" cap="flat" cmpd="sng">
              <a:solidFill>
                <a:srgbClr val="0000FF"/>
              </a:solidFill>
              <a:prstDash val="solid"/>
              <a:round/>
              <a:headEnd type="none" w="med" len="med"/>
              <a:tailEnd type="none" w="med" len="med"/>
            </a:ln>
          </p:spPr>
        </p:cxnSp>
      </p:grpSp>
      <p:grpSp>
        <p:nvGrpSpPr>
          <p:cNvPr id="699" name="Google Shape;699;p54"/>
          <p:cNvGrpSpPr/>
          <p:nvPr/>
        </p:nvGrpSpPr>
        <p:grpSpPr>
          <a:xfrm>
            <a:off x="231675" y="3888500"/>
            <a:ext cx="1730502" cy="900207"/>
            <a:chOff x="231675" y="1622000"/>
            <a:chExt cx="1730502" cy="900207"/>
          </a:xfrm>
        </p:grpSpPr>
        <p:sp>
          <p:nvSpPr>
            <p:cNvPr id="700" name="Google Shape;700;p54"/>
            <p:cNvSpPr/>
            <p:nvPr/>
          </p:nvSpPr>
          <p:spPr>
            <a:xfrm>
              <a:off x="948081" y="1622000"/>
              <a:ext cx="297900" cy="124500"/>
            </a:xfrm>
            <a:prstGeom prst="rect">
              <a:avLst/>
            </a:prstGeom>
            <a:solidFill>
              <a:srgbClr val="FF0000"/>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00"/>
            </a:p>
          </p:txBody>
        </p:sp>
        <p:sp>
          <p:nvSpPr>
            <p:cNvPr id="701" name="Google Shape;701;p54"/>
            <p:cNvSpPr/>
            <p:nvPr/>
          </p:nvSpPr>
          <p:spPr>
            <a:xfrm>
              <a:off x="453565" y="1926490"/>
              <a:ext cx="197100" cy="1446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00"/>
            </a:p>
          </p:txBody>
        </p:sp>
        <p:sp>
          <p:nvSpPr>
            <p:cNvPr id="702" name="Google Shape;702;p54"/>
            <p:cNvSpPr/>
            <p:nvPr/>
          </p:nvSpPr>
          <p:spPr>
            <a:xfrm>
              <a:off x="998390" y="1926490"/>
              <a:ext cx="197100" cy="144600"/>
            </a:xfrm>
            <a:prstGeom prst="rect">
              <a:avLst/>
            </a:prstGeom>
            <a:solidFill>
              <a:srgbClr val="FF0000"/>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00"/>
            </a:p>
          </p:txBody>
        </p:sp>
        <p:sp>
          <p:nvSpPr>
            <p:cNvPr id="703" name="Google Shape;703;p54"/>
            <p:cNvSpPr/>
            <p:nvPr/>
          </p:nvSpPr>
          <p:spPr>
            <a:xfrm>
              <a:off x="1543214" y="1926490"/>
              <a:ext cx="197100" cy="1446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00"/>
            </a:p>
          </p:txBody>
        </p:sp>
        <p:cxnSp>
          <p:nvCxnSpPr>
            <p:cNvPr id="704" name="Google Shape;704;p54"/>
            <p:cNvCxnSpPr>
              <a:stCxn id="700" idx="2"/>
              <a:endCxn id="701" idx="0"/>
            </p:cNvCxnSpPr>
            <p:nvPr/>
          </p:nvCxnSpPr>
          <p:spPr>
            <a:xfrm flipH="1">
              <a:off x="552231" y="1746500"/>
              <a:ext cx="544800" cy="180000"/>
            </a:xfrm>
            <a:prstGeom prst="straightConnector1">
              <a:avLst/>
            </a:prstGeom>
            <a:noFill/>
            <a:ln w="19050" cap="flat" cmpd="sng">
              <a:solidFill>
                <a:srgbClr val="FF0000"/>
              </a:solidFill>
              <a:prstDash val="solid"/>
              <a:round/>
              <a:headEnd type="none" w="med" len="med"/>
              <a:tailEnd type="none" w="med" len="med"/>
            </a:ln>
          </p:spPr>
        </p:cxnSp>
        <p:cxnSp>
          <p:nvCxnSpPr>
            <p:cNvPr id="705" name="Google Shape;705;p54"/>
            <p:cNvCxnSpPr>
              <a:stCxn id="700" idx="2"/>
              <a:endCxn id="702" idx="0"/>
            </p:cNvCxnSpPr>
            <p:nvPr/>
          </p:nvCxnSpPr>
          <p:spPr>
            <a:xfrm>
              <a:off x="1097031" y="1746500"/>
              <a:ext cx="0" cy="180000"/>
            </a:xfrm>
            <a:prstGeom prst="straightConnector1">
              <a:avLst/>
            </a:prstGeom>
            <a:noFill/>
            <a:ln w="19050" cap="flat" cmpd="sng">
              <a:solidFill>
                <a:schemeClr val="dk2"/>
              </a:solidFill>
              <a:prstDash val="solid"/>
              <a:round/>
              <a:headEnd type="none" w="med" len="med"/>
              <a:tailEnd type="none" w="med" len="med"/>
            </a:ln>
          </p:spPr>
        </p:cxnSp>
        <p:cxnSp>
          <p:nvCxnSpPr>
            <p:cNvPr id="706" name="Google Shape;706;p54"/>
            <p:cNvCxnSpPr>
              <a:stCxn id="700" idx="2"/>
              <a:endCxn id="703" idx="0"/>
            </p:cNvCxnSpPr>
            <p:nvPr/>
          </p:nvCxnSpPr>
          <p:spPr>
            <a:xfrm>
              <a:off x="1097031" y="1746500"/>
              <a:ext cx="544800" cy="180000"/>
            </a:xfrm>
            <a:prstGeom prst="straightConnector1">
              <a:avLst/>
            </a:prstGeom>
            <a:noFill/>
            <a:ln w="19050" cap="flat" cmpd="sng">
              <a:solidFill>
                <a:srgbClr val="0000FF"/>
              </a:solidFill>
              <a:prstDash val="solid"/>
              <a:round/>
              <a:headEnd type="none" w="med" len="med"/>
              <a:tailEnd type="none" w="med" len="med"/>
            </a:ln>
          </p:spPr>
        </p:cxnSp>
        <p:sp>
          <p:nvSpPr>
            <p:cNvPr id="707" name="Google Shape;707;p54"/>
            <p:cNvSpPr/>
            <p:nvPr/>
          </p:nvSpPr>
          <p:spPr>
            <a:xfrm>
              <a:off x="231675" y="2397707"/>
              <a:ext cx="178500" cy="124500"/>
            </a:xfrm>
            <a:prstGeom prst="roundRect">
              <a:avLst>
                <a:gd name="adj" fmla="val 16667"/>
              </a:avLst>
            </a:prstGeom>
            <a:solidFill>
              <a:srgbClr val="A4C2F4"/>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00"/>
            </a:p>
          </p:txBody>
        </p:sp>
        <p:sp>
          <p:nvSpPr>
            <p:cNvPr id="708" name="Google Shape;708;p54"/>
            <p:cNvSpPr/>
            <p:nvPr/>
          </p:nvSpPr>
          <p:spPr>
            <a:xfrm>
              <a:off x="694029" y="2397707"/>
              <a:ext cx="178500" cy="124500"/>
            </a:xfrm>
            <a:prstGeom prst="roundRect">
              <a:avLst>
                <a:gd name="adj" fmla="val 16667"/>
              </a:avLst>
            </a:prstGeom>
            <a:solidFill>
              <a:srgbClr val="A4C2F4"/>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00"/>
            </a:p>
          </p:txBody>
        </p:sp>
        <p:sp>
          <p:nvSpPr>
            <p:cNvPr id="709" name="Google Shape;709;p54"/>
            <p:cNvSpPr/>
            <p:nvPr/>
          </p:nvSpPr>
          <p:spPr>
            <a:xfrm>
              <a:off x="462852" y="2397707"/>
              <a:ext cx="178500" cy="124500"/>
            </a:xfrm>
            <a:prstGeom prst="roundRect">
              <a:avLst>
                <a:gd name="adj" fmla="val 16667"/>
              </a:avLst>
            </a:prstGeom>
            <a:solidFill>
              <a:srgbClr val="A4C2F4"/>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00"/>
            </a:p>
          </p:txBody>
        </p:sp>
        <p:sp>
          <p:nvSpPr>
            <p:cNvPr id="710" name="Google Shape;710;p54"/>
            <p:cNvSpPr/>
            <p:nvPr/>
          </p:nvSpPr>
          <p:spPr>
            <a:xfrm>
              <a:off x="776499" y="2225082"/>
              <a:ext cx="178500" cy="124500"/>
            </a:xfrm>
            <a:prstGeom prst="roundRect">
              <a:avLst>
                <a:gd name="adj" fmla="val 16667"/>
              </a:avLst>
            </a:prstGeom>
            <a:solidFill>
              <a:srgbClr val="FF0000"/>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00"/>
            </a:p>
          </p:txBody>
        </p:sp>
        <p:sp>
          <p:nvSpPr>
            <p:cNvPr id="711" name="Google Shape;711;p54"/>
            <p:cNvSpPr/>
            <p:nvPr/>
          </p:nvSpPr>
          <p:spPr>
            <a:xfrm>
              <a:off x="1238853" y="2225082"/>
              <a:ext cx="178500" cy="124500"/>
            </a:xfrm>
            <a:prstGeom prst="roundRect">
              <a:avLst>
                <a:gd name="adj" fmla="val 16667"/>
              </a:avLst>
            </a:prstGeom>
            <a:solidFill>
              <a:srgbClr val="A4C2F4"/>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00"/>
            </a:p>
          </p:txBody>
        </p:sp>
        <p:sp>
          <p:nvSpPr>
            <p:cNvPr id="712" name="Google Shape;712;p54"/>
            <p:cNvSpPr/>
            <p:nvPr/>
          </p:nvSpPr>
          <p:spPr>
            <a:xfrm>
              <a:off x="1007676" y="2225082"/>
              <a:ext cx="178500" cy="124500"/>
            </a:xfrm>
            <a:prstGeom prst="roundRect">
              <a:avLst>
                <a:gd name="adj" fmla="val 16667"/>
              </a:avLst>
            </a:prstGeom>
            <a:solidFill>
              <a:srgbClr val="A4C2F4"/>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00"/>
            </a:p>
          </p:txBody>
        </p:sp>
        <p:sp>
          <p:nvSpPr>
            <p:cNvPr id="713" name="Google Shape;713;p54"/>
            <p:cNvSpPr/>
            <p:nvPr/>
          </p:nvSpPr>
          <p:spPr>
            <a:xfrm>
              <a:off x="1321323" y="2397707"/>
              <a:ext cx="178500" cy="124500"/>
            </a:xfrm>
            <a:prstGeom prst="roundRect">
              <a:avLst>
                <a:gd name="adj" fmla="val 16667"/>
              </a:avLst>
            </a:prstGeom>
            <a:solidFill>
              <a:srgbClr val="A4C2F4"/>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00"/>
            </a:p>
          </p:txBody>
        </p:sp>
        <p:sp>
          <p:nvSpPr>
            <p:cNvPr id="714" name="Google Shape;714;p54"/>
            <p:cNvSpPr/>
            <p:nvPr/>
          </p:nvSpPr>
          <p:spPr>
            <a:xfrm>
              <a:off x="1783677" y="2397707"/>
              <a:ext cx="178500" cy="124500"/>
            </a:xfrm>
            <a:prstGeom prst="roundRect">
              <a:avLst>
                <a:gd name="adj" fmla="val 16667"/>
              </a:avLst>
            </a:prstGeom>
            <a:solidFill>
              <a:srgbClr val="A4C2F4"/>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00"/>
            </a:p>
          </p:txBody>
        </p:sp>
        <p:sp>
          <p:nvSpPr>
            <p:cNvPr id="715" name="Google Shape;715;p54"/>
            <p:cNvSpPr/>
            <p:nvPr/>
          </p:nvSpPr>
          <p:spPr>
            <a:xfrm>
              <a:off x="1552500" y="2397707"/>
              <a:ext cx="178500" cy="124500"/>
            </a:xfrm>
            <a:prstGeom prst="roundRect">
              <a:avLst>
                <a:gd name="adj" fmla="val 16667"/>
              </a:avLst>
            </a:prstGeom>
            <a:solidFill>
              <a:srgbClr val="A4C2F4"/>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00"/>
            </a:p>
          </p:txBody>
        </p:sp>
        <p:cxnSp>
          <p:nvCxnSpPr>
            <p:cNvPr id="716" name="Google Shape;716;p54"/>
            <p:cNvCxnSpPr>
              <a:stCxn id="701" idx="2"/>
              <a:endCxn id="707" idx="0"/>
            </p:cNvCxnSpPr>
            <p:nvPr/>
          </p:nvCxnSpPr>
          <p:spPr>
            <a:xfrm flipH="1">
              <a:off x="320815" y="2071090"/>
              <a:ext cx="231300" cy="326700"/>
            </a:xfrm>
            <a:prstGeom prst="straightConnector1">
              <a:avLst/>
            </a:prstGeom>
            <a:noFill/>
            <a:ln w="19050" cap="flat" cmpd="sng">
              <a:solidFill>
                <a:srgbClr val="FF0000"/>
              </a:solidFill>
              <a:prstDash val="solid"/>
              <a:round/>
              <a:headEnd type="none" w="med" len="med"/>
              <a:tailEnd type="none" w="med" len="med"/>
            </a:ln>
          </p:spPr>
        </p:cxnSp>
        <p:cxnSp>
          <p:nvCxnSpPr>
            <p:cNvPr id="717" name="Google Shape;717;p54"/>
            <p:cNvCxnSpPr>
              <a:stCxn id="701" idx="2"/>
              <a:endCxn id="709" idx="0"/>
            </p:cNvCxnSpPr>
            <p:nvPr/>
          </p:nvCxnSpPr>
          <p:spPr>
            <a:xfrm>
              <a:off x="552115" y="2071090"/>
              <a:ext cx="0" cy="326700"/>
            </a:xfrm>
            <a:prstGeom prst="straightConnector1">
              <a:avLst/>
            </a:prstGeom>
            <a:noFill/>
            <a:ln w="19050" cap="flat" cmpd="sng">
              <a:solidFill>
                <a:schemeClr val="dk2"/>
              </a:solidFill>
              <a:prstDash val="solid"/>
              <a:round/>
              <a:headEnd type="none" w="med" len="med"/>
              <a:tailEnd type="none" w="med" len="med"/>
            </a:ln>
          </p:spPr>
        </p:cxnSp>
        <p:cxnSp>
          <p:nvCxnSpPr>
            <p:cNvPr id="718" name="Google Shape;718;p54"/>
            <p:cNvCxnSpPr>
              <a:stCxn id="701" idx="2"/>
              <a:endCxn id="708" idx="0"/>
            </p:cNvCxnSpPr>
            <p:nvPr/>
          </p:nvCxnSpPr>
          <p:spPr>
            <a:xfrm>
              <a:off x="552115" y="2071090"/>
              <a:ext cx="231300" cy="326700"/>
            </a:xfrm>
            <a:prstGeom prst="straightConnector1">
              <a:avLst/>
            </a:prstGeom>
            <a:noFill/>
            <a:ln w="19050" cap="flat" cmpd="sng">
              <a:solidFill>
                <a:srgbClr val="0000FF"/>
              </a:solidFill>
              <a:prstDash val="solid"/>
              <a:round/>
              <a:headEnd type="none" w="med" len="med"/>
              <a:tailEnd type="none" w="med" len="med"/>
            </a:ln>
          </p:spPr>
        </p:cxnSp>
        <p:cxnSp>
          <p:nvCxnSpPr>
            <p:cNvPr id="719" name="Google Shape;719;p54"/>
            <p:cNvCxnSpPr>
              <a:stCxn id="703" idx="2"/>
              <a:endCxn id="713" idx="0"/>
            </p:cNvCxnSpPr>
            <p:nvPr/>
          </p:nvCxnSpPr>
          <p:spPr>
            <a:xfrm flipH="1">
              <a:off x="1410464" y="2071090"/>
              <a:ext cx="231300" cy="326700"/>
            </a:xfrm>
            <a:prstGeom prst="straightConnector1">
              <a:avLst/>
            </a:prstGeom>
            <a:noFill/>
            <a:ln w="19050" cap="flat" cmpd="sng">
              <a:solidFill>
                <a:srgbClr val="FF0000"/>
              </a:solidFill>
              <a:prstDash val="solid"/>
              <a:round/>
              <a:headEnd type="none" w="med" len="med"/>
              <a:tailEnd type="none" w="med" len="med"/>
            </a:ln>
          </p:spPr>
        </p:cxnSp>
        <p:cxnSp>
          <p:nvCxnSpPr>
            <p:cNvPr id="720" name="Google Shape;720;p54"/>
            <p:cNvCxnSpPr>
              <a:stCxn id="703" idx="2"/>
              <a:endCxn id="715" idx="0"/>
            </p:cNvCxnSpPr>
            <p:nvPr/>
          </p:nvCxnSpPr>
          <p:spPr>
            <a:xfrm>
              <a:off x="1641764" y="2071090"/>
              <a:ext cx="0" cy="326700"/>
            </a:xfrm>
            <a:prstGeom prst="straightConnector1">
              <a:avLst/>
            </a:prstGeom>
            <a:noFill/>
            <a:ln w="19050" cap="flat" cmpd="sng">
              <a:solidFill>
                <a:schemeClr val="dk2"/>
              </a:solidFill>
              <a:prstDash val="solid"/>
              <a:round/>
              <a:headEnd type="none" w="med" len="med"/>
              <a:tailEnd type="none" w="med" len="med"/>
            </a:ln>
          </p:spPr>
        </p:cxnSp>
        <p:cxnSp>
          <p:nvCxnSpPr>
            <p:cNvPr id="721" name="Google Shape;721;p54"/>
            <p:cNvCxnSpPr>
              <a:stCxn id="703" idx="2"/>
              <a:endCxn id="714" idx="0"/>
            </p:cNvCxnSpPr>
            <p:nvPr/>
          </p:nvCxnSpPr>
          <p:spPr>
            <a:xfrm>
              <a:off x="1641764" y="2071090"/>
              <a:ext cx="231300" cy="326700"/>
            </a:xfrm>
            <a:prstGeom prst="straightConnector1">
              <a:avLst/>
            </a:prstGeom>
            <a:noFill/>
            <a:ln w="19050" cap="flat" cmpd="sng">
              <a:solidFill>
                <a:srgbClr val="0000FF"/>
              </a:solidFill>
              <a:prstDash val="solid"/>
              <a:round/>
              <a:headEnd type="none" w="med" len="med"/>
              <a:tailEnd type="none" w="med" len="med"/>
            </a:ln>
          </p:spPr>
        </p:cxnSp>
        <p:cxnSp>
          <p:nvCxnSpPr>
            <p:cNvPr id="722" name="Google Shape;722;p54"/>
            <p:cNvCxnSpPr>
              <a:stCxn id="702" idx="2"/>
              <a:endCxn id="710" idx="0"/>
            </p:cNvCxnSpPr>
            <p:nvPr/>
          </p:nvCxnSpPr>
          <p:spPr>
            <a:xfrm flipH="1">
              <a:off x="865640" y="2071090"/>
              <a:ext cx="231300" cy="153900"/>
            </a:xfrm>
            <a:prstGeom prst="straightConnector1">
              <a:avLst/>
            </a:prstGeom>
            <a:noFill/>
            <a:ln w="19050" cap="flat" cmpd="sng">
              <a:solidFill>
                <a:srgbClr val="FF0000"/>
              </a:solidFill>
              <a:prstDash val="solid"/>
              <a:round/>
              <a:headEnd type="none" w="med" len="med"/>
              <a:tailEnd type="none" w="med" len="med"/>
            </a:ln>
          </p:spPr>
        </p:cxnSp>
        <p:cxnSp>
          <p:nvCxnSpPr>
            <p:cNvPr id="723" name="Google Shape;723;p54"/>
            <p:cNvCxnSpPr>
              <a:stCxn id="702" idx="2"/>
              <a:endCxn id="712" idx="0"/>
            </p:cNvCxnSpPr>
            <p:nvPr/>
          </p:nvCxnSpPr>
          <p:spPr>
            <a:xfrm>
              <a:off x="1096940" y="2071090"/>
              <a:ext cx="0" cy="153900"/>
            </a:xfrm>
            <a:prstGeom prst="straightConnector1">
              <a:avLst/>
            </a:prstGeom>
            <a:noFill/>
            <a:ln w="19050" cap="flat" cmpd="sng">
              <a:solidFill>
                <a:schemeClr val="dk2"/>
              </a:solidFill>
              <a:prstDash val="solid"/>
              <a:round/>
              <a:headEnd type="none" w="med" len="med"/>
              <a:tailEnd type="none" w="med" len="med"/>
            </a:ln>
          </p:spPr>
        </p:cxnSp>
        <p:cxnSp>
          <p:nvCxnSpPr>
            <p:cNvPr id="724" name="Google Shape;724;p54"/>
            <p:cNvCxnSpPr>
              <a:stCxn id="702" idx="2"/>
              <a:endCxn id="711" idx="0"/>
            </p:cNvCxnSpPr>
            <p:nvPr/>
          </p:nvCxnSpPr>
          <p:spPr>
            <a:xfrm>
              <a:off x="1096940" y="2071090"/>
              <a:ext cx="231300" cy="153900"/>
            </a:xfrm>
            <a:prstGeom prst="straightConnector1">
              <a:avLst/>
            </a:prstGeom>
            <a:noFill/>
            <a:ln w="19050" cap="flat" cmpd="sng">
              <a:solidFill>
                <a:srgbClr val="0000FF"/>
              </a:solidFill>
              <a:prstDash val="solid"/>
              <a:round/>
              <a:headEnd type="none" w="med" len="med"/>
              <a:tailEnd type="none" w="med" len="med"/>
            </a:ln>
          </p:spPr>
        </p:cxnSp>
      </p:grpSp>
      <p:grpSp>
        <p:nvGrpSpPr>
          <p:cNvPr id="725" name="Google Shape;725;p54"/>
          <p:cNvGrpSpPr/>
          <p:nvPr/>
        </p:nvGrpSpPr>
        <p:grpSpPr>
          <a:xfrm>
            <a:off x="2225275" y="3888500"/>
            <a:ext cx="1730502" cy="900207"/>
            <a:chOff x="231675" y="1622000"/>
            <a:chExt cx="1730502" cy="900207"/>
          </a:xfrm>
        </p:grpSpPr>
        <p:sp>
          <p:nvSpPr>
            <p:cNvPr id="726" name="Google Shape;726;p54"/>
            <p:cNvSpPr/>
            <p:nvPr/>
          </p:nvSpPr>
          <p:spPr>
            <a:xfrm>
              <a:off x="948081" y="1622000"/>
              <a:ext cx="297900" cy="124500"/>
            </a:xfrm>
            <a:prstGeom prst="rect">
              <a:avLst/>
            </a:prstGeom>
            <a:solidFill>
              <a:srgbClr val="FF0000"/>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00"/>
            </a:p>
          </p:txBody>
        </p:sp>
        <p:sp>
          <p:nvSpPr>
            <p:cNvPr id="727" name="Google Shape;727;p54"/>
            <p:cNvSpPr/>
            <p:nvPr/>
          </p:nvSpPr>
          <p:spPr>
            <a:xfrm>
              <a:off x="453565" y="1926490"/>
              <a:ext cx="197100" cy="1446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00"/>
            </a:p>
          </p:txBody>
        </p:sp>
        <p:sp>
          <p:nvSpPr>
            <p:cNvPr id="728" name="Google Shape;728;p54"/>
            <p:cNvSpPr/>
            <p:nvPr/>
          </p:nvSpPr>
          <p:spPr>
            <a:xfrm>
              <a:off x="998390" y="1926490"/>
              <a:ext cx="197100" cy="144600"/>
            </a:xfrm>
            <a:prstGeom prst="rect">
              <a:avLst/>
            </a:prstGeom>
            <a:solidFill>
              <a:srgbClr val="FF0000"/>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00"/>
            </a:p>
          </p:txBody>
        </p:sp>
        <p:sp>
          <p:nvSpPr>
            <p:cNvPr id="729" name="Google Shape;729;p54"/>
            <p:cNvSpPr/>
            <p:nvPr/>
          </p:nvSpPr>
          <p:spPr>
            <a:xfrm>
              <a:off x="1543214" y="1926490"/>
              <a:ext cx="197100" cy="1446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00"/>
            </a:p>
          </p:txBody>
        </p:sp>
        <p:cxnSp>
          <p:nvCxnSpPr>
            <p:cNvPr id="730" name="Google Shape;730;p54"/>
            <p:cNvCxnSpPr>
              <a:stCxn id="726" idx="2"/>
              <a:endCxn id="727" idx="0"/>
            </p:cNvCxnSpPr>
            <p:nvPr/>
          </p:nvCxnSpPr>
          <p:spPr>
            <a:xfrm flipH="1">
              <a:off x="552231" y="1746500"/>
              <a:ext cx="544800" cy="180000"/>
            </a:xfrm>
            <a:prstGeom prst="straightConnector1">
              <a:avLst/>
            </a:prstGeom>
            <a:noFill/>
            <a:ln w="19050" cap="flat" cmpd="sng">
              <a:solidFill>
                <a:srgbClr val="FF0000"/>
              </a:solidFill>
              <a:prstDash val="solid"/>
              <a:round/>
              <a:headEnd type="none" w="med" len="med"/>
              <a:tailEnd type="none" w="med" len="med"/>
            </a:ln>
          </p:spPr>
        </p:cxnSp>
        <p:cxnSp>
          <p:nvCxnSpPr>
            <p:cNvPr id="731" name="Google Shape;731;p54"/>
            <p:cNvCxnSpPr>
              <a:stCxn id="726" idx="2"/>
              <a:endCxn id="728" idx="0"/>
            </p:cNvCxnSpPr>
            <p:nvPr/>
          </p:nvCxnSpPr>
          <p:spPr>
            <a:xfrm>
              <a:off x="1097031" y="1746500"/>
              <a:ext cx="0" cy="180000"/>
            </a:xfrm>
            <a:prstGeom prst="straightConnector1">
              <a:avLst/>
            </a:prstGeom>
            <a:noFill/>
            <a:ln w="19050" cap="flat" cmpd="sng">
              <a:solidFill>
                <a:schemeClr val="dk2"/>
              </a:solidFill>
              <a:prstDash val="solid"/>
              <a:round/>
              <a:headEnd type="none" w="med" len="med"/>
              <a:tailEnd type="none" w="med" len="med"/>
            </a:ln>
          </p:spPr>
        </p:cxnSp>
        <p:cxnSp>
          <p:nvCxnSpPr>
            <p:cNvPr id="732" name="Google Shape;732;p54"/>
            <p:cNvCxnSpPr>
              <a:stCxn id="726" idx="2"/>
              <a:endCxn id="729" idx="0"/>
            </p:cNvCxnSpPr>
            <p:nvPr/>
          </p:nvCxnSpPr>
          <p:spPr>
            <a:xfrm>
              <a:off x="1097031" y="1746500"/>
              <a:ext cx="544800" cy="180000"/>
            </a:xfrm>
            <a:prstGeom prst="straightConnector1">
              <a:avLst/>
            </a:prstGeom>
            <a:noFill/>
            <a:ln w="19050" cap="flat" cmpd="sng">
              <a:solidFill>
                <a:srgbClr val="0000FF"/>
              </a:solidFill>
              <a:prstDash val="solid"/>
              <a:round/>
              <a:headEnd type="none" w="med" len="med"/>
              <a:tailEnd type="none" w="med" len="med"/>
            </a:ln>
          </p:spPr>
        </p:cxnSp>
        <p:sp>
          <p:nvSpPr>
            <p:cNvPr id="733" name="Google Shape;733;p54"/>
            <p:cNvSpPr/>
            <p:nvPr/>
          </p:nvSpPr>
          <p:spPr>
            <a:xfrm>
              <a:off x="231675" y="2397707"/>
              <a:ext cx="178500" cy="124500"/>
            </a:xfrm>
            <a:prstGeom prst="roundRect">
              <a:avLst>
                <a:gd name="adj" fmla="val 16667"/>
              </a:avLst>
            </a:prstGeom>
            <a:solidFill>
              <a:srgbClr val="A4C2F4"/>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00"/>
            </a:p>
          </p:txBody>
        </p:sp>
        <p:sp>
          <p:nvSpPr>
            <p:cNvPr id="734" name="Google Shape;734;p54"/>
            <p:cNvSpPr/>
            <p:nvPr/>
          </p:nvSpPr>
          <p:spPr>
            <a:xfrm>
              <a:off x="694029" y="2397707"/>
              <a:ext cx="178500" cy="124500"/>
            </a:xfrm>
            <a:prstGeom prst="roundRect">
              <a:avLst>
                <a:gd name="adj" fmla="val 16667"/>
              </a:avLst>
            </a:prstGeom>
            <a:solidFill>
              <a:srgbClr val="A4C2F4"/>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00"/>
            </a:p>
          </p:txBody>
        </p:sp>
        <p:sp>
          <p:nvSpPr>
            <p:cNvPr id="735" name="Google Shape;735;p54"/>
            <p:cNvSpPr/>
            <p:nvPr/>
          </p:nvSpPr>
          <p:spPr>
            <a:xfrm>
              <a:off x="462852" y="2397707"/>
              <a:ext cx="178500" cy="124500"/>
            </a:xfrm>
            <a:prstGeom prst="roundRect">
              <a:avLst>
                <a:gd name="adj" fmla="val 16667"/>
              </a:avLst>
            </a:prstGeom>
            <a:solidFill>
              <a:srgbClr val="A4C2F4"/>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00"/>
            </a:p>
          </p:txBody>
        </p:sp>
        <p:sp>
          <p:nvSpPr>
            <p:cNvPr id="736" name="Google Shape;736;p54"/>
            <p:cNvSpPr/>
            <p:nvPr/>
          </p:nvSpPr>
          <p:spPr>
            <a:xfrm>
              <a:off x="776499" y="2225082"/>
              <a:ext cx="178500" cy="124500"/>
            </a:xfrm>
            <a:prstGeom prst="roundRect">
              <a:avLst>
                <a:gd name="adj" fmla="val 16667"/>
              </a:avLst>
            </a:prstGeom>
            <a:solidFill>
              <a:srgbClr val="A4C2F4"/>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00"/>
            </a:p>
          </p:txBody>
        </p:sp>
        <p:sp>
          <p:nvSpPr>
            <p:cNvPr id="737" name="Google Shape;737;p54"/>
            <p:cNvSpPr/>
            <p:nvPr/>
          </p:nvSpPr>
          <p:spPr>
            <a:xfrm>
              <a:off x="1238853" y="2225082"/>
              <a:ext cx="178500" cy="124500"/>
            </a:xfrm>
            <a:prstGeom prst="roundRect">
              <a:avLst>
                <a:gd name="adj" fmla="val 16667"/>
              </a:avLst>
            </a:prstGeom>
            <a:solidFill>
              <a:srgbClr val="FF0000"/>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00"/>
            </a:p>
          </p:txBody>
        </p:sp>
        <p:sp>
          <p:nvSpPr>
            <p:cNvPr id="738" name="Google Shape;738;p54"/>
            <p:cNvSpPr/>
            <p:nvPr/>
          </p:nvSpPr>
          <p:spPr>
            <a:xfrm>
              <a:off x="1007676" y="2225082"/>
              <a:ext cx="178500" cy="124500"/>
            </a:xfrm>
            <a:prstGeom prst="roundRect">
              <a:avLst>
                <a:gd name="adj" fmla="val 16667"/>
              </a:avLst>
            </a:prstGeom>
            <a:solidFill>
              <a:srgbClr val="A4C2F4"/>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00"/>
            </a:p>
          </p:txBody>
        </p:sp>
        <p:sp>
          <p:nvSpPr>
            <p:cNvPr id="739" name="Google Shape;739;p54"/>
            <p:cNvSpPr/>
            <p:nvPr/>
          </p:nvSpPr>
          <p:spPr>
            <a:xfrm>
              <a:off x="1321323" y="2397707"/>
              <a:ext cx="178500" cy="124500"/>
            </a:xfrm>
            <a:prstGeom prst="roundRect">
              <a:avLst>
                <a:gd name="adj" fmla="val 16667"/>
              </a:avLst>
            </a:prstGeom>
            <a:solidFill>
              <a:srgbClr val="A4C2F4"/>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00"/>
            </a:p>
          </p:txBody>
        </p:sp>
        <p:sp>
          <p:nvSpPr>
            <p:cNvPr id="740" name="Google Shape;740;p54"/>
            <p:cNvSpPr/>
            <p:nvPr/>
          </p:nvSpPr>
          <p:spPr>
            <a:xfrm>
              <a:off x="1783677" y="2397707"/>
              <a:ext cx="178500" cy="124500"/>
            </a:xfrm>
            <a:prstGeom prst="roundRect">
              <a:avLst>
                <a:gd name="adj" fmla="val 16667"/>
              </a:avLst>
            </a:prstGeom>
            <a:solidFill>
              <a:srgbClr val="A4C2F4"/>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00"/>
            </a:p>
          </p:txBody>
        </p:sp>
        <p:sp>
          <p:nvSpPr>
            <p:cNvPr id="741" name="Google Shape;741;p54"/>
            <p:cNvSpPr/>
            <p:nvPr/>
          </p:nvSpPr>
          <p:spPr>
            <a:xfrm>
              <a:off x="1552500" y="2397707"/>
              <a:ext cx="178500" cy="124500"/>
            </a:xfrm>
            <a:prstGeom prst="roundRect">
              <a:avLst>
                <a:gd name="adj" fmla="val 16667"/>
              </a:avLst>
            </a:prstGeom>
            <a:solidFill>
              <a:srgbClr val="A4C2F4"/>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00"/>
            </a:p>
          </p:txBody>
        </p:sp>
        <p:cxnSp>
          <p:nvCxnSpPr>
            <p:cNvPr id="742" name="Google Shape;742;p54"/>
            <p:cNvCxnSpPr>
              <a:stCxn id="727" idx="2"/>
              <a:endCxn id="733" idx="0"/>
            </p:cNvCxnSpPr>
            <p:nvPr/>
          </p:nvCxnSpPr>
          <p:spPr>
            <a:xfrm flipH="1">
              <a:off x="320815" y="2071090"/>
              <a:ext cx="231300" cy="326700"/>
            </a:xfrm>
            <a:prstGeom prst="straightConnector1">
              <a:avLst/>
            </a:prstGeom>
            <a:noFill/>
            <a:ln w="19050" cap="flat" cmpd="sng">
              <a:solidFill>
                <a:srgbClr val="FF0000"/>
              </a:solidFill>
              <a:prstDash val="solid"/>
              <a:round/>
              <a:headEnd type="none" w="med" len="med"/>
              <a:tailEnd type="none" w="med" len="med"/>
            </a:ln>
          </p:spPr>
        </p:cxnSp>
        <p:cxnSp>
          <p:nvCxnSpPr>
            <p:cNvPr id="743" name="Google Shape;743;p54"/>
            <p:cNvCxnSpPr>
              <a:stCxn id="727" idx="2"/>
              <a:endCxn id="735" idx="0"/>
            </p:cNvCxnSpPr>
            <p:nvPr/>
          </p:nvCxnSpPr>
          <p:spPr>
            <a:xfrm>
              <a:off x="552115" y="2071090"/>
              <a:ext cx="0" cy="326700"/>
            </a:xfrm>
            <a:prstGeom prst="straightConnector1">
              <a:avLst/>
            </a:prstGeom>
            <a:noFill/>
            <a:ln w="19050" cap="flat" cmpd="sng">
              <a:solidFill>
                <a:schemeClr val="dk2"/>
              </a:solidFill>
              <a:prstDash val="solid"/>
              <a:round/>
              <a:headEnd type="none" w="med" len="med"/>
              <a:tailEnd type="none" w="med" len="med"/>
            </a:ln>
          </p:spPr>
        </p:cxnSp>
        <p:cxnSp>
          <p:nvCxnSpPr>
            <p:cNvPr id="744" name="Google Shape;744;p54"/>
            <p:cNvCxnSpPr>
              <a:stCxn id="727" idx="2"/>
              <a:endCxn id="734" idx="0"/>
            </p:cNvCxnSpPr>
            <p:nvPr/>
          </p:nvCxnSpPr>
          <p:spPr>
            <a:xfrm>
              <a:off x="552115" y="2071090"/>
              <a:ext cx="231300" cy="326700"/>
            </a:xfrm>
            <a:prstGeom prst="straightConnector1">
              <a:avLst/>
            </a:prstGeom>
            <a:noFill/>
            <a:ln w="19050" cap="flat" cmpd="sng">
              <a:solidFill>
                <a:srgbClr val="0000FF"/>
              </a:solidFill>
              <a:prstDash val="solid"/>
              <a:round/>
              <a:headEnd type="none" w="med" len="med"/>
              <a:tailEnd type="none" w="med" len="med"/>
            </a:ln>
          </p:spPr>
        </p:cxnSp>
        <p:cxnSp>
          <p:nvCxnSpPr>
            <p:cNvPr id="745" name="Google Shape;745;p54"/>
            <p:cNvCxnSpPr>
              <a:stCxn id="729" idx="2"/>
              <a:endCxn id="739" idx="0"/>
            </p:cNvCxnSpPr>
            <p:nvPr/>
          </p:nvCxnSpPr>
          <p:spPr>
            <a:xfrm flipH="1">
              <a:off x="1410464" y="2071090"/>
              <a:ext cx="231300" cy="326700"/>
            </a:xfrm>
            <a:prstGeom prst="straightConnector1">
              <a:avLst/>
            </a:prstGeom>
            <a:noFill/>
            <a:ln w="19050" cap="flat" cmpd="sng">
              <a:solidFill>
                <a:srgbClr val="FF0000"/>
              </a:solidFill>
              <a:prstDash val="solid"/>
              <a:round/>
              <a:headEnd type="none" w="med" len="med"/>
              <a:tailEnd type="none" w="med" len="med"/>
            </a:ln>
          </p:spPr>
        </p:cxnSp>
        <p:cxnSp>
          <p:nvCxnSpPr>
            <p:cNvPr id="746" name="Google Shape;746;p54"/>
            <p:cNvCxnSpPr>
              <a:stCxn id="729" idx="2"/>
              <a:endCxn id="741" idx="0"/>
            </p:cNvCxnSpPr>
            <p:nvPr/>
          </p:nvCxnSpPr>
          <p:spPr>
            <a:xfrm>
              <a:off x="1641764" y="2071090"/>
              <a:ext cx="0" cy="326700"/>
            </a:xfrm>
            <a:prstGeom prst="straightConnector1">
              <a:avLst/>
            </a:prstGeom>
            <a:noFill/>
            <a:ln w="19050" cap="flat" cmpd="sng">
              <a:solidFill>
                <a:schemeClr val="dk2"/>
              </a:solidFill>
              <a:prstDash val="solid"/>
              <a:round/>
              <a:headEnd type="none" w="med" len="med"/>
              <a:tailEnd type="none" w="med" len="med"/>
            </a:ln>
          </p:spPr>
        </p:cxnSp>
        <p:cxnSp>
          <p:nvCxnSpPr>
            <p:cNvPr id="747" name="Google Shape;747;p54"/>
            <p:cNvCxnSpPr>
              <a:stCxn id="729" idx="2"/>
              <a:endCxn id="740" idx="0"/>
            </p:cNvCxnSpPr>
            <p:nvPr/>
          </p:nvCxnSpPr>
          <p:spPr>
            <a:xfrm>
              <a:off x="1641764" y="2071090"/>
              <a:ext cx="231300" cy="326700"/>
            </a:xfrm>
            <a:prstGeom prst="straightConnector1">
              <a:avLst/>
            </a:prstGeom>
            <a:noFill/>
            <a:ln w="19050" cap="flat" cmpd="sng">
              <a:solidFill>
                <a:srgbClr val="0000FF"/>
              </a:solidFill>
              <a:prstDash val="solid"/>
              <a:round/>
              <a:headEnd type="none" w="med" len="med"/>
              <a:tailEnd type="none" w="med" len="med"/>
            </a:ln>
          </p:spPr>
        </p:cxnSp>
        <p:cxnSp>
          <p:nvCxnSpPr>
            <p:cNvPr id="748" name="Google Shape;748;p54"/>
            <p:cNvCxnSpPr>
              <a:stCxn id="728" idx="2"/>
              <a:endCxn id="736" idx="0"/>
            </p:cNvCxnSpPr>
            <p:nvPr/>
          </p:nvCxnSpPr>
          <p:spPr>
            <a:xfrm flipH="1">
              <a:off x="865640" y="2071090"/>
              <a:ext cx="231300" cy="153900"/>
            </a:xfrm>
            <a:prstGeom prst="straightConnector1">
              <a:avLst/>
            </a:prstGeom>
            <a:noFill/>
            <a:ln w="19050" cap="flat" cmpd="sng">
              <a:solidFill>
                <a:srgbClr val="FF0000"/>
              </a:solidFill>
              <a:prstDash val="solid"/>
              <a:round/>
              <a:headEnd type="none" w="med" len="med"/>
              <a:tailEnd type="none" w="med" len="med"/>
            </a:ln>
          </p:spPr>
        </p:cxnSp>
        <p:cxnSp>
          <p:nvCxnSpPr>
            <p:cNvPr id="749" name="Google Shape;749;p54"/>
            <p:cNvCxnSpPr>
              <a:stCxn id="728" idx="2"/>
              <a:endCxn id="738" idx="0"/>
            </p:cNvCxnSpPr>
            <p:nvPr/>
          </p:nvCxnSpPr>
          <p:spPr>
            <a:xfrm>
              <a:off x="1096940" y="2071090"/>
              <a:ext cx="0" cy="153900"/>
            </a:xfrm>
            <a:prstGeom prst="straightConnector1">
              <a:avLst/>
            </a:prstGeom>
            <a:noFill/>
            <a:ln w="19050" cap="flat" cmpd="sng">
              <a:solidFill>
                <a:schemeClr val="dk2"/>
              </a:solidFill>
              <a:prstDash val="solid"/>
              <a:round/>
              <a:headEnd type="none" w="med" len="med"/>
              <a:tailEnd type="none" w="med" len="med"/>
            </a:ln>
          </p:spPr>
        </p:cxnSp>
        <p:cxnSp>
          <p:nvCxnSpPr>
            <p:cNvPr id="750" name="Google Shape;750;p54"/>
            <p:cNvCxnSpPr>
              <a:stCxn id="728" idx="2"/>
              <a:endCxn id="737" idx="0"/>
            </p:cNvCxnSpPr>
            <p:nvPr/>
          </p:nvCxnSpPr>
          <p:spPr>
            <a:xfrm>
              <a:off x="1096940" y="2071090"/>
              <a:ext cx="231300" cy="153900"/>
            </a:xfrm>
            <a:prstGeom prst="straightConnector1">
              <a:avLst/>
            </a:prstGeom>
            <a:noFill/>
            <a:ln w="19050" cap="flat" cmpd="sng">
              <a:solidFill>
                <a:srgbClr val="0000FF"/>
              </a:solidFill>
              <a:prstDash val="solid"/>
              <a:round/>
              <a:headEnd type="none" w="med" len="med"/>
              <a:tailEnd type="none" w="med" len="med"/>
            </a:ln>
          </p:spPr>
        </p:cxnSp>
      </p:grpSp>
      <p:grpSp>
        <p:nvGrpSpPr>
          <p:cNvPr id="751" name="Google Shape;751;p54"/>
          <p:cNvGrpSpPr/>
          <p:nvPr/>
        </p:nvGrpSpPr>
        <p:grpSpPr>
          <a:xfrm>
            <a:off x="4218875" y="3888500"/>
            <a:ext cx="1730502" cy="900207"/>
            <a:chOff x="231675" y="1622000"/>
            <a:chExt cx="1730502" cy="900207"/>
          </a:xfrm>
        </p:grpSpPr>
        <p:sp>
          <p:nvSpPr>
            <p:cNvPr id="752" name="Google Shape;752;p54"/>
            <p:cNvSpPr/>
            <p:nvPr/>
          </p:nvSpPr>
          <p:spPr>
            <a:xfrm>
              <a:off x="948081" y="1622000"/>
              <a:ext cx="297900" cy="124500"/>
            </a:xfrm>
            <a:prstGeom prst="rect">
              <a:avLst/>
            </a:prstGeom>
            <a:solidFill>
              <a:srgbClr val="FF0000"/>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00"/>
            </a:p>
          </p:txBody>
        </p:sp>
        <p:sp>
          <p:nvSpPr>
            <p:cNvPr id="753" name="Google Shape;753;p54"/>
            <p:cNvSpPr/>
            <p:nvPr/>
          </p:nvSpPr>
          <p:spPr>
            <a:xfrm>
              <a:off x="453565" y="1926490"/>
              <a:ext cx="197100" cy="1446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00"/>
            </a:p>
          </p:txBody>
        </p:sp>
        <p:sp>
          <p:nvSpPr>
            <p:cNvPr id="754" name="Google Shape;754;p54"/>
            <p:cNvSpPr/>
            <p:nvPr/>
          </p:nvSpPr>
          <p:spPr>
            <a:xfrm>
              <a:off x="998390" y="1926490"/>
              <a:ext cx="197100" cy="144600"/>
            </a:xfrm>
            <a:prstGeom prst="rect">
              <a:avLst/>
            </a:prstGeom>
            <a:solidFill>
              <a:srgbClr val="FF0000"/>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00"/>
            </a:p>
          </p:txBody>
        </p:sp>
        <p:sp>
          <p:nvSpPr>
            <p:cNvPr id="755" name="Google Shape;755;p54"/>
            <p:cNvSpPr/>
            <p:nvPr/>
          </p:nvSpPr>
          <p:spPr>
            <a:xfrm>
              <a:off x="1543214" y="1926490"/>
              <a:ext cx="197100" cy="1446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00"/>
            </a:p>
          </p:txBody>
        </p:sp>
        <p:cxnSp>
          <p:nvCxnSpPr>
            <p:cNvPr id="756" name="Google Shape;756;p54"/>
            <p:cNvCxnSpPr>
              <a:stCxn id="752" idx="2"/>
              <a:endCxn id="753" idx="0"/>
            </p:cNvCxnSpPr>
            <p:nvPr/>
          </p:nvCxnSpPr>
          <p:spPr>
            <a:xfrm flipH="1">
              <a:off x="552231" y="1746500"/>
              <a:ext cx="544800" cy="180000"/>
            </a:xfrm>
            <a:prstGeom prst="straightConnector1">
              <a:avLst/>
            </a:prstGeom>
            <a:noFill/>
            <a:ln w="19050" cap="flat" cmpd="sng">
              <a:solidFill>
                <a:srgbClr val="FF0000"/>
              </a:solidFill>
              <a:prstDash val="solid"/>
              <a:round/>
              <a:headEnd type="none" w="med" len="med"/>
              <a:tailEnd type="none" w="med" len="med"/>
            </a:ln>
          </p:spPr>
        </p:cxnSp>
        <p:cxnSp>
          <p:nvCxnSpPr>
            <p:cNvPr id="757" name="Google Shape;757;p54"/>
            <p:cNvCxnSpPr>
              <a:stCxn id="752" idx="2"/>
              <a:endCxn id="754" idx="0"/>
            </p:cNvCxnSpPr>
            <p:nvPr/>
          </p:nvCxnSpPr>
          <p:spPr>
            <a:xfrm>
              <a:off x="1097031" y="1746500"/>
              <a:ext cx="0" cy="180000"/>
            </a:xfrm>
            <a:prstGeom prst="straightConnector1">
              <a:avLst/>
            </a:prstGeom>
            <a:noFill/>
            <a:ln w="19050" cap="flat" cmpd="sng">
              <a:solidFill>
                <a:schemeClr val="dk2"/>
              </a:solidFill>
              <a:prstDash val="solid"/>
              <a:round/>
              <a:headEnd type="none" w="med" len="med"/>
              <a:tailEnd type="none" w="med" len="med"/>
            </a:ln>
          </p:spPr>
        </p:cxnSp>
        <p:cxnSp>
          <p:nvCxnSpPr>
            <p:cNvPr id="758" name="Google Shape;758;p54"/>
            <p:cNvCxnSpPr>
              <a:stCxn id="752" idx="2"/>
              <a:endCxn id="755" idx="0"/>
            </p:cNvCxnSpPr>
            <p:nvPr/>
          </p:nvCxnSpPr>
          <p:spPr>
            <a:xfrm>
              <a:off x="1097031" y="1746500"/>
              <a:ext cx="544800" cy="180000"/>
            </a:xfrm>
            <a:prstGeom prst="straightConnector1">
              <a:avLst/>
            </a:prstGeom>
            <a:noFill/>
            <a:ln w="19050" cap="flat" cmpd="sng">
              <a:solidFill>
                <a:srgbClr val="0000FF"/>
              </a:solidFill>
              <a:prstDash val="solid"/>
              <a:round/>
              <a:headEnd type="none" w="med" len="med"/>
              <a:tailEnd type="none" w="med" len="med"/>
            </a:ln>
          </p:spPr>
        </p:cxnSp>
        <p:sp>
          <p:nvSpPr>
            <p:cNvPr id="759" name="Google Shape;759;p54"/>
            <p:cNvSpPr/>
            <p:nvPr/>
          </p:nvSpPr>
          <p:spPr>
            <a:xfrm>
              <a:off x="231675" y="2397707"/>
              <a:ext cx="178500" cy="124500"/>
            </a:xfrm>
            <a:prstGeom prst="roundRect">
              <a:avLst>
                <a:gd name="adj" fmla="val 16667"/>
              </a:avLst>
            </a:prstGeom>
            <a:solidFill>
              <a:srgbClr val="A4C2F4"/>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00"/>
            </a:p>
          </p:txBody>
        </p:sp>
        <p:sp>
          <p:nvSpPr>
            <p:cNvPr id="760" name="Google Shape;760;p54"/>
            <p:cNvSpPr/>
            <p:nvPr/>
          </p:nvSpPr>
          <p:spPr>
            <a:xfrm>
              <a:off x="694029" y="2397707"/>
              <a:ext cx="178500" cy="124500"/>
            </a:xfrm>
            <a:prstGeom prst="roundRect">
              <a:avLst>
                <a:gd name="adj" fmla="val 16667"/>
              </a:avLst>
            </a:prstGeom>
            <a:solidFill>
              <a:srgbClr val="A4C2F4"/>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00"/>
            </a:p>
          </p:txBody>
        </p:sp>
        <p:sp>
          <p:nvSpPr>
            <p:cNvPr id="761" name="Google Shape;761;p54"/>
            <p:cNvSpPr/>
            <p:nvPr/>
          </p:nvSpPr>
          <p:spPr>
            <a:xfrm>
              <a:off x="462852" y="2397707"/>
              <a:ext cx="178500" cy="124500"/>
            </a:xfrm>
            <a:prstGeom prst="roundRect">
              <a:avLst>
                <a:gd name="adj" fmla="val 16667"/>
              </a:avLst>
            </a:prstGeom>
            <a:solidFill>
              <a:srgbClr val="A4C2F4"/>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00"/>
            </a:p>
          </p:txBody>
        </p:sp>
        <p:sp>
          <p:nvSpPr>
            <p:cNvPr id="762" name="Google Shape;762;p54"/>
            <p:cNvSpPr/>
            <p:nvPr/>
          </p:nvSpPr>
          <p:spPr>
            <a:xfrm>
              <a:off x="776499" y="2225082"/>
              <a:ext cx="178500" cy="124500"/>
            </a:xfrm>
            <a:prstGeom prst="roundRect">
              <a:avLst>
                <a:gd name="adj" fmla="val 16667"/>
              </a:avLst>
            </a:prstGeom>
            <a:solidFill>
              <a:srgbClr val="A4C2F4"/>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00"/>
            </a:p>
          </p:txBody>
        </p:sp>
        <p:sp>
          <p:nvSpPr>
            <p:cNvPr id="763" name="Google Shape;763;p54"/>
            <p:cNvSpPr/>
            <p:nvPr/>
          </p:nvSpPr>
          <p:spPr>
            <a:xfrm>
              <a:off x="1238853" y="2225082"/>
              <a:ext cx="178500" cy="124500"/>
            </a:xfrm>
            <a:prstGeom prst="roundRect">
              <a:avLst>
                <a:gd name="adj" fmla="val 16667"/>
              </a:avLst>
            </a:prstGeom>
            <a:solidFill>
              <a:srgbClr val="A4C2F4"/>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00"/>
            </a:p>
          </p:txBody>
        </p:sp>
        <p:sp>
          <p:nvSpPr>
            <p:cNvPr id="764" name="Google Shape;764;p54"/>
            <p:cNvSpPr/>
            <p:nvPr/>
          </p:nvSpPr>
          <p:spPr>
            <a:xfrm>
              <a:off x="1007676" y="2225082"/>
              <a:ext cx="178500" cy="124500"/>
            </a:xfrm>
            <a:prstGeom prst="roundRect">
              <a:avLst>
                <a:gd name="adj" fmla="val 16667"/>
              </a:avLst>
            </a:prstGeom>
            <a:solidFill>
              <a:srgbClr val="FF0000"/>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00"/>
            </a:p>
          </p:txBody>
        </p:sp>
        <p:sp>
          <p:nvSpPr>
            <p:cNvPr id="765" name="Google Shape;765;p54"/>
            <p:cNvSpPr/>
            <p:nvPr/>
          </p:nvSpPr>
          <p:spPr>
            <a:xfrm>
              <a:off x="1321323" y="2397707"/>
              <a:ext cx="178500" cy="124500"/>
            </a:xfrm>
            <a:prstGeom prst="roundRect">
              <a:avLst>
                <a:gd name="adj" fmla="val 16667"/>
              </a:avLst>
            </a:prstGeom>
            <a:solidFill>
              <a:srgbClr val="A4C2F4"/>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00"/>
            </a:p>
          </p:txBody>
        </p:sp>
        <p:sp>
          <p:nvSpPr>
            <p:cNvPr id="766" name="Google Shape;766;p54"/>
            <p:cNvSpPr/>
            <p:nvPr/>
          </p:nvSpPr>
          <p:spPr>
            <a:xfrm>
              <a:off x="1783677" y="2397707"/>
              <a:ext cx="178500" cy="124500"/>
            </a:xfrm>
            <a:prstGeom prst="roundRect">
              <a:avLst>
                <a:gd name="adj" fmla="val 16667"/>
              </a:avLst>
            </a:prstGeom>
            <a:solidFill>
              <a:srgbClr val="A4C2F4"/>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00"/>
            </a:p>
          </p:txBody>
        </p:sp>
        <p:sp>
          <p:nvSpPr>
            <p:cNvPr id="767" name="Google Shape;767;p54"/>
            <p:cNvSpPr/>
            <p:nvPr/>
          </p:nvSpPr>
          <p:spPr>
            <a:xfrm>
              <a:off x="1552500" y="2397707"/>
              <a:ext cx="178500" cy="124500"/>
            </a:xfrm>
            <a:prstGeom prst="roundRect">
              <a:avLst>
                <a:gd name="adj" fmla="val 16667"/>
              </a:avLst>
            </a:prstGeom>
            <a:solidFill>
              <a:srgbClr val="A4C2F4"/>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00"/>
            </a:p>
          </p:txBody>
        </p:sp>
        <p:cxnSp>
          <p:nvCxnSpPr>
            <p:cNvPr id="768" name="Google Shape;768;p54"/>
            <p:cNvCxnSpPr>
              <a:stCxn id="753" idx="2"/>
              <a:endCxn id="759" idx="0"/>
            </p:cNvCxnSpPr>
            <p:nvPr/>
          </p:nvCxnSpPr>
          <p:spPr>
            <a:xfrm flipH="1">
              <a:off x="320815" y="2071090"/>
              <a:ext cx="231300" cy="326700"/>
            </a:xfrm>
            <a:prstGeom prst="straightConnector1">
              <a:avLst/>
            </a:prstGeom>
            <a:noFill/>
            <a:ln w="19050" cap="flat" cmpd="sng">
              <a:solidFill>
                <a:srgbClr val="FF0000"/>
              </a:solidFill>
              <a:prstDash val="solid"/>
              <a:round/>
              <a:headEnd type="none" w="med" len="med"/>
              <a:tailEnd type="none" w="med" len="med"/>
            </a:ln>
          </p:spPr>
        </p:cxnSp>
        <p:cxnSp>
          <p:nvCxnSpPr>
            <p:cNvPr id="769" name="Google Shape;769;p54"/>
            <p:cNvCxnSpPr>
              <a:stCxn id="753" idx="2"/>
              <a:endCxn id="761" idx="0"/>
            </p:cNvCxnSpPr>
            <p:nvPr/>
          </p:nvCxnSpPr>
          <p:spPr>
            <a:xfrm>
              <a:off x="552115" y="2071090"/>
              <a:ext cx="0" cy="326700"/>
            </a:xfrm>
            <a:prstGeom prst="straightConnector1">
              <a:avLst/>
            </a:prstGeom>
            <a:noFill/>
            <a:ln w="19050" cap="flat" cmpd="sng">
              <a:solidFill>
                <a:schemeClr val="dk2"/>
              </a:solidFill>
              <a:prstDash val="solid"/>
              <a:round/>
              <a:headEnd type="none" w="med" len="med"/>
              <a:tailEnd type="none" w="med" len="med"/>
            </a:ln>
          </p:spPr>
        </p:cxnSp>
        <p:cxnSp>
          <p:nvCxnSpPr>
            <p:cNvPr id="770" name="Google Shape;770;p54"/>
            <p:cNvCxnSpPr>
              <a:stCxn id="753" idx="2"/>
              <a:endCxn id="760" idx="0"/>
            </p:cNvCxnSpPr>
            <p:nvPr/>
          </p:nvCxnSpPr>
          <p:spPr>
            <a:xfrm>
              <a:off x="552115" y="2071090"/>
              <a:ext cx="231300" cy="326700"/>
            </a:xfrm>
            <a:prstGeom prst="straightConnector1">
              <a:avLst/>
            </a:prstGeom>
            <a:noFill/>
            <a:ln w="19050" cap="flat" cmpd="sng">
              <a:solidFill>
                <a:srgbClr val="0000FF"/>
              </a:solidFill>
              <a:prstDash val="solid"/>
              <a:round/>
              <a:headEnd type="none" w="med" len="med"/>
              <a:tailEnd type="none" w="med" len="med"/>
            </a:ln>
          </p:spPr>
        </p:cxnSp>
        <p:cxnSp>
          <p:nvCxnSpPr>
            <p:cNvPr id="771" name="Google Shape;771;p54"/>
            <p:cNvCxnSpPr>
              <a:stCxn id="755" idx="2"/>
              <a:endCxn id="765" idx="0"/>
            </p:cNvCxnSpPr>
            <p:nvPr/>
          </p:nvCxnSpPr>
          <p:spPr>
            <a:xfrm flipH="1">
              <a:off x="1410464" y="2071090"/>
              <a:ext cx="231300" cy="326700"/>
            </a:xfrm>
            <a:prstGeom prst="straightConnector1">
              <a:avLst/>
            </a:prstGeom>
            <a:noFill/>
            <a:ln w="19050" cap="flat" cmpd="sng">
              <a:solidFill>
                <a:srgbClr val="FF0000"/>
              </a:solidFill>
              <a:prstDash val="solid"/>
              <a:round/>
              <a:headEnd type="none" w="med" len="med"/>
              <a:tailEnd type="none" w="med" len="med"/>
            </a:ln>
          </p:spPr>
        </p:cxnSp>
        <p:cxnSp>
          <p:nvCxnSpPr>
            <p:cNvPr id="772" name="Google Shape;772;p54"/>
            <p:cNvCxnSpPr>
              <a:stCxn id="755" idx="2"/>
              <a:endCxn id="767" idx="0"/>
            </p:cNvCxnSpPr>
            <p:nvPr/>
          </p:nvCxnSpPr>
          <p:spPr>
            <a:xfrm>
              <a:off x="1641764" y="2071090"/>
              <a:ext cx="0" cy="326700"/>
            </a:xfrm>
            <a:prstGeom prst="straightConnector1">
              <a:avLst/>
            </a:prstGeom>
            <a:noFill/>
            <a:ln w="19050" cap="flat" cmpd="sng">
              <a:solidFill>
                <a:schemeClr val="dk2"/>
              </a:solidFill>
              <a:prstDash val="solid"/>
              <a:round/>
              <a:headEnd type="none" w="med" len="med"/>
              <a:tailEnd type="none" w="med" len="med"/>
            </a:ln>
          </p:spPr>
        </p:cxnSp>
        <p:cxnSp>
          <p:nvCxnSpPr>
            <p:cNvPr id="773" name="Google Shape;773;p54"/>
            <p:cNvCxnSpPr>
              <a:stCxn id="755" idx="2"/>
              <a:endCxn id="766" idx="0"/>
            </p:cNvCxnSpPr>
            <p:nvPr/>
          </p:nvCxnSpPr>
          <p:spPr>
            <a:xfrm>
              <a:off x="1641764" y="2071090"/>
              <a:ext cx="231300" cy="326700"/>
            </a:xfrm>
            <a:prstGeom prst="straightConnector1">
              <a:avLst/>
            </a:prstGeom>
            <a:noFill/>
            <a:ln w="19050" cap="flat" cmpd="sng">
              <a:solidFill>
                <a:srgbClr val="0000FF"/>
              </a:solidFill>
              <a:prstDash val="solid"/>
              <a:round/>
              <a:headEnd type="none" w="med" len="med"/>
              <a:tailEnd type="none" w="med" len="med"/>
            </a:ln>
          </p:spPr>
        </p:cxnSp>
        <p:cxnSp>
          <p:nvCxnSpPr>
            <p:cNvPr id="774" name="Google Shape;774;p54"/>
            <p:cNvCxnSpPr>
              <a:stCxn id="754" idx="2"/>
              <a:endCxn id="762" idx="0"/>
            </p:cNvCxnSpPr>
            <p:nvPr/>
          </p:nvCxnSpPr>
          <p:spPr>
            <a:xfrm flipH="1">
              <a:off x="865640" y="2071090"/>
              <a:ext cx="231300" cy="153900"/>
            </a:xfrm>
            <a:prstGeom prst="straightConnector1">
              <a:avLst/>
            </a:prstGeom>
            <a:noFill/>
            <a:ln w="19050" cap="flat" cmpd="sng">
              <a:solidFill>
                <a:srgbClr val="FF0000"/>
              </a:solidFill>
              <a:prstDash val="solid"/>
              <a:round/>
              <a:headEnd type="none" w="med" len="med"/>
              <a:tailEnd type="none" w="med" len="med"/>
            </a:ln>
          </p:spPr>
        </p:cxnSp>
        <p:cxnSp>
          <p:nvCxnSpPr>
            <p:cNvPr id="775" name="Google Shape;775;p54"/>
            <p:cNvCxnSpPr>
              <a:stCxn id="754" idx="2"/>
              <a:endCxn id="764" idx="0"/>
            </p:cNvCxnSpPr>
            <p:nvPr/>
          </p:nvCxnSpPr>
          <p:spPr>
            <a:xfrm>
              <a:off x="1096940" y="2071090"/>
              <a:ext cx="0" cy="153900"/>
            </a:xfrm>
            <a:prstGeom prst="straightConnector1">
              <a:avLst/>
            </a:prstGeom>
            <a:noFill/>
            <a:ln w="19050" cap="flat" cmpd="sng">
              <a:solidFill>
                <a:schemeClr val="dk2"/>
              </a:solidFill>
              <a:prstDash val="solid"/>
              <a:round/>
              <a:headEnd type="none" w="med" len="med"/>
              <a:tailEnd type="none" w="med" len="med"/>
            </a:ln>
          </p:spPr>
        </p:cxnSp>
        <p:cxnSp>
          <p:nvCxnSpPr>
            <p:cNvPr id="776" name="Google Shape;776;p54"/>
            <p:cNvCxnSpPr>
              <a:stCxn id="754" idx="2"/>
              <a:endCxn id="763" idx="0"/>
            </p:cNvCxnSpPr>
            <p:nvPr/>
          </p:nvCxnSpPr>
          <p:spPr>
            <a:xfrm>
              <a:off x="1096940" y="2071090"/>
              <a:ext cx="231300" cy="153900"/>
            </a:xfrm>
            <a:prstGeom prst="straightConnector1">
              <a:avLst/>
            </a:prstGeom>
            <a:noFill/>
            <a:ln w="19050" cap="flat" cmpd="sng">
              <a:solidFill>
                <a:srgbClr val="0000FF"/>
              </a:solidFill>
              <a:prstDash val="solid"/>
              <a:round/>
              <a:headEnd type="none" w="med" len="med"/>
              <a:tailEnd type="none" w="med" len="med"/>
            </a:ln>
          </p:spPr>
        </p:cxnSp>
      </p:gr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780"/>
        <p:cNvGrpSpPr/>
        <p:nvPr/>
      </p:nvGrpSpPr>
      <p:grpSpPr>
        <a:xfrm>
          <a:off x="0" y="0"/>
          <a:ext cx="0" cy="0"/>
          <a:chOff x="0" y="0"/>
          <a:chExt cx="0" cy="0"/>
        </a:xfrm>
      </p:grpSpPr>
      <p:sp>
        <p:nvSpPr>
          <p:cNvPr id="781" name="Google Shape;781;p55"/>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9 Coins: Validation</a:t>
            </a:r>
            <a:endParaRPr/>
          </a:p>
        </p:txBody>
      </p:sp>
      <p:sp>
        <p:nvSpPr>
          <p:cNvPr id="782" name="Google Shape;782;p55"/>
          <p:cNvSpPr txBox="1">
            <a:spLocks noGrp="1"/>
          </p:cNvSpPr>
          <p:nvPr>
            <p:ph type="body" idx="1"/>
          </p:nvPr>
        </p:nvSpPr>
        <p:spPr>
          <a:xfrm>
            <a:off x="107050" y="402200"/>
            <a:ext cx="8520600" cy="11772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To verify that our scheme works, let's check every single case.</a:t>
            </a:r>
            <a:endParaRPr/>
          </a:p>
          <a:p>
            <a:pPr marL="0" lvl="0" indent="0" algn="l" rtl="0">
              <a:spcBef>
                <a:spcPts val="600"/>
              </a:spcBef>
              <a:spcAft>
                <a:spcPts val="0"/>
              </a:spcAft>
              <a:buNone/>
            </a:pPr>
            <a:r>
              <a:rPr lang="en"/>
              <a:t>There are nine "universes" that we could start in (1 is counterfeit, 2 is counterfeit, etc.). We can verify that in each universe, we yield the correct result</a:t>
            </a:r>
            <a:endParaRPr/>
          </a:p>
        </p:txBody>
      </p:sp>
      <p:pic>
        <p:nvPicPr>
          <p:cNvPr id="783" name="Google Shape;783;p55"/>
          <p:cNvPicPr preferRelativeResize="0"/>
          <p:nvPr/>
        </p:nvPicPr>
        <p:blipFill>
          <a:blip r:embed="rId3">
            <a:alphaModFix/>
          </a:blip>
          <a:stretch>
            <a:fillRect/>
          </a:stretch>
        </p:blipFill>
        <p:spPr>
          <a:xfrm>
            <a:off x="7081474" y="3143674"/>
            <a:ext cx="2051075" cy="1774176"/>
          </a:xfrm>
          <a:prstGeom prst="rect">
            <a:avLst/>
          </a:prstGeom>
          <a:noFill/>
          <a:ln>
            <a:noFill/>
          </a:ln>
        </p:spPr>
      </p:pic>
      <p:sp>
        <p:nvSpPr>
          <p:cNvPr id="784" name="Google Shape;784;p55"/>
          <p:cNvSpPr/>
          <p:nvPr/>
        </p:nvSpPr>
        <p:spPr>
          <a:xfrm>
            <a:off x="518750" y="1916050"/>
            <a:ext cx="732900" cy="510300"/>
          </a:xfrm>
          <a:prstGeom prst="roundRect">
            <a:avLst>
              <a:gd name="adj" fmla="val 16667"/>
            </a:avLst>
          </a:prstGeom>
          <a:solidFill>
            <a:srgbClr val="A4C2F4"/>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1 fake</a:t>
            </a:r>
            <a:endParaRPr/>
          </a:p>
        </p:txBody>
      </p:sp>
      <p:sp>
        <p:nvSpPr>
          <p:cNvPr id="785" name="Google Shape;785;p55"/>
          <p:cNvSpPr/>
          <p:nvPr/>
        </p:nvSpPr>
        <p:spPr>
          <a:xfrm>
            <a:off x="2600075" y="1916050"/>
            <a:ext cx="732900" cy="510300"/>
          </a:xfrm>
          <a:prstGeom prst="roundRect">
            <a:avLst>
              <a:gd name="adj" fmla="val 16667"/>
            </a:avLst>
          </a:prstGeom>
          <a:solidFill>
            <a:srgbClr val="A4C2F4"/>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2 fake</a:t>
            </a:r>
            <a:endParaRPr/>
          </a:p>
        </p:txBody>
      </p:sp>
      <p:sp>
        <p:nvSpPr>
          <p:cNvPr id="786" name="Google Shape;786;p55"/>
          <p:cNvSpPr/>
          <p:nvPr/>
        </p:nvSpPr>
        <p:spPr>
          <a:xfrm>
            <a:off x="4681400" y="1916050"/>
            <a:ext cx="732900" cy="510300"/>
          </a:xfrm>
          <a:prstGeom prst="roundRect">
            <a:avLst>
              <a:gd name="adj" fmla="val 16667"/>
            </a:avLst>
          </a:prstGeom>
          <a:solidFill>
            <a:srgbClr val="A4C2F4"/>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3 fake</a:t>
            </a:r>
            <a:endParaRPr/>
          </a:p>
        </p:txBody>
      </p:sp>
      <p:sp>
        <p:nvSpPr>
          <p:cNvPr id="787" name="Google Shape;787;p55"/>
          <p:cNvSpPr/>
          <p:nvPr/>
        </p:nvSpPr>
        <p:spPr>
          <a:xfrm>
            <a:off x="518750" y="3016525"/>
            <a:ext cx="732900" cy="510300"/>
          </a:xfrm>
          <a:prstGeom prst="roundRect">
            <a:avLst>
              <a:gd name="adj" fmla="val 16667"/>
            </a:avLst>
          </a:prstGeom>
          <a:solidFill>
            <a:srgbClr val="A4C2F4"/>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4 fake</a:t>
            </a:r>
            <a:endParaRPr/>
          </a:p>
        </p:txBody>
      </p:sp>
      <p:sp>
        <p:nvSpPr>
          <p:cNvPr id="788" name="Google Shape;788;p55"/>
          <p:cNvSpPr/>
          <p:nvPr/>
        </p:nvSpPr>
        <p:spPr>
          <a:xfrm>
            <a:off x="2600075" y="3016525"/>
            <a:ext cx="732900" cy="510300"/>
          </a:xfrm>
          <a:prstGeom prst="roundRect">
            <a:avLst>
              <a:gd name="adj" fmla="val 16667"/>
            </a:avLst>
          </a:prstGeom>
          <a:solidFill>
            <a:srgbClr val="A4C2F4"/>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5 fake</a:t>
            </a:r>
            <a:endParaRPr/>
          </a:p>
        </p:txBody>
      </p:sp>
      <p:sp>
        <p:nvSpPr>
          <p:cNvPr id="789" name="Google Shape;789;p55"/>
          <p:cNvSpPr/>
          <p:nvPr/>
        </p:nvSpPr>
        <p:spPr>
          <a:xfrm>
            <a:off x="4681400" y="3016525"/>
            <a:ext cx="732900" cy="510300"/>
          </a:xfrm>
          <a:prstGeom prst="roundRect">
            <a:avLst>
              <a:gd name="adj" fmla="val 16667"/>
            </a:avLst>
          </a:prstGeom>
          <a:solidFill>
            <a:srgbClr val="A4C2F4"/>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6 fake</a:t>
            </a:r>
            <a:endParaRPr/>
          </a:p>
        </p:txBody>
      </p:sp>
      <p:sp>
        <p:nvSpPr>
          <p:cNvPr id="790" name="Google Shape;790;p55"/>
          <p:cNvSpPr/>
          <p:nvPr/>
        </p:nvSpPr>
        <p:spPr>
          <a:xfrm>
            <a:off x="518750" y="4117000"/>
            <a:ext cx="732900" cy="510300"/>
          </a:xfrm>
          <a:prstGeom prst="roundRect">
            <a:avLst>
              <a:gd name="adj" fmla="val 16667"/>
            </a:avLst>
          </a:prstGeom>
          <a:solidFill>
            <a:srgbClr val="A4C2F4"/>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7 fake</a:t>
            </a:r>
            <a:endParaRPr/>
          </a:p>
        </p:txBody>
      </p:sp>
      <p:sp>
        <p:nvSpPr>
          <p:cNvPr id="791" name="Google Shape;791;p55"/>
          <p:cNvSpPr/>
          <p:nvPr/>
        </p:nvSpPr>
        <p:spPr>
          <a:xfrm>
            <a:off x="2600075" y="4117000"/>
            <a:ext cx="732900" cy="510300"/>
          </a:xfrm>
          <a:prstGeom prst="roundRect">
            <a:avLst>
              <a:gd name="adj" fmla="val 16667"/>
            </a:avLst>
          </a:prstGeom>
          <a:solidFill>
            <a:srgbClr val="A4C2F4"/>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8 fake</a:t>
            </a:r>
            <a:endParaRPr/>
          </a:p>
        </p:txBody>
      </p:sp>
      <p:sp>
        <p:nvSpPr>
          <p:cNvPr id="792" name="Google Shape;792;p55"/>
          <p:cNvSpPr/>
          <p:nvPr/>
        </p:nvSpPr>
        <p:spPr>
          <a:xfrm>
            <a:off x="4681400" y="4117000"/>
            <a:ext cx="732900" cy="510300"/>
          </a:xfrm>
          <a:prstGeom prst="roundRect">
            <a:avLst>
              <a:gd name="adj" fmla="val 16667"/>
            </a:avLst>
          </a:prstGeom>
          <a:solidFill>
            <a:srgbClr val="A4C2F4"/>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9 fake</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796"/>
        <p:cNvGrpSpPr/>
        <p:nvPr/>
      </p:nvGrpSpPr>
      <p:grpSpPr>
        <a:xfrm>
          <a:off x="0" y="0"/>
          <a:ext cx="0" cy="0"/>
          <a:chOff x="0" y="0"/>
          <a:chExt cx="0" cy="0"/>
        </a:xfrm>
      </p:grpSpPr>
      <p:sp>
        <p:nvSpPr>
          <p:cNvPr id="797" name="Google Shape;797;p56"/>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10 Coins</a:t>
            </a:r>
            <a:endParaRPr/>
          </a:p>
        </p:txBody>
      </p:sp>
      <p:sp>
        <p:nvSpPr>
          <p:cNvPr id="798" name="Google Shape;798;p56"/>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With 9 coins, we can find the counterfeit coin in 2 weighings.</a:t>
            </a:r>
            <a:endParaRPr/>
          </a:p>
          <a:p>
            <a:pPr marL="0" lvl="0" indent="0" algn="l" rtl="0">
              <a:spcBef>
                <a:spcPts val="600"/>
              </a:spcBef>
              <a:spcAft>
                <a:spcPts val="0"/>
              </a:spcAft>
              <a:buNone/>
            </a:pPr>
            <a:r>
              <a:rPr lang="en"/>
              <a:t>Question: Can we do this with 10 coins?</a:t>
            </a:r>
            <a:endParaRPr/>
          </a:p>
        </p:txBody>
      </p:sp>
      <p:pic>
        <p:nvPicPr>
          <p:cNvPr id="799" name="Google Shape;799;p56"/>
          <p:cNvPicPr preferRelativeResize="0"/>
          <p:nvPr/>
        </p:nvPicPr>
        <p:blipFill>
          <a:blip r:embed="rId3">
            <a:alphaModFix/>
          </a:blip>
          <a:stretch>
            <a:fillRect/>
          </a:stretch>
        </p:blipFill>
        <p:spPr>
          <a:xfrm>
            <a:off x="7081474" y="3143674"/>
            <a:ext cx="2051075" cy="1774176"/>
          </a:xfrm>
          <a:prstGeom prst="rect">
            <a:avLst/>
          </a:prstGeom>
          <a:noFill/>
          <a:ln>
            <a:noFill/>
          </a:ln>
        </p:spPr>
      </p:pic>
      <p:sp>
        <p:nvSpPr>
          <p:cNvPr id="800" name="Google Shape;800;p56"/>
          <p:cNvSpPr/>
          <p:nvPr/>
        </p:nvSpPr>
        <p:spPr>
          <a:xfrm>
            <a:off x="479825" y="3334400"/>
            <a:ext cx="484200" cy="484200"/>
          </a:xfrm>
          <a:prstGeom prst="ellipse">
            <a:avLst/>
          </a:prstGeom>
          <a:solidFill>
            <a:srgbClr val="FFFF00"/>
          </a:solidFill>
          <a:ln w="1143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1</a:t>
            </a:r>
            <a:endParaRPr>
              <a:latin typeface="Roboto"/>
              <a:ea typeface="Roboto"/>
              <a:cs typeface="Roboto"/>
              <a:sym typeface="Roboto"/>
            </a:endParaRPr>
          </a:p>
        </p:txBody>
      </p:sp>
      <p:sp>
        <p:nvSpPr>
          <p:cNvPr id="801" name="Google Shape;801;p56"/>
          <p:cNvSpPr/>
          <p:nvPr/>
        </p:nvSpPr>
        <p:spPr>
          <a:xfrm>
            <a:off x="1117225" y="3334400"/>
            <a:ext cx="484200" cy="484200"/>
          </a:xfrm>
          <a:prstGeom prst="ellipse">
            <a:avLst/>
          </a:prstGeom>
          <a:solidFill>
            <a:srgbClr val="FFFF00"/>
          </a:solidFill>
          <a:ln w="1143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2</a:t>
            </a:r>
            <a:endParaRPr>
              <a:latin typeface="Roboto"/>
              <a:ea typeface="Roboto"/>
              <a:cs typeface="Roboto"/>
              <a:sym typeface="Roboto"/>
            </a:endParaRPr>
          </a:p>
        </p:txBody>
      </p:sp>
      <p:sp>
        <p:nvSpPr>
          <p:cNvPr id="802" name="Google Shape;802;p56"/>
          <p:cNvSpPr/>
          <p:nvPr/>
        </p:nvSpPr>
        <p:spPr>
          <a:xfrm>
            <a:off x="1754625" y="3334400"/>
            <a:ext cx="484200" cy="484200"/>
          </a:xfrm>
          <a:prstGeom prst="ellipse">
            <a:avLst/>
          </a:prstGeom>
          <a:solidFill>
            <a:srgbClr val="FFFF00"/>
          </a:solidFill>
          <a:ln w="1143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3</a:t>
            </a:r>
            <a:endParaRPr>
              <a:latin typeface="Roboto"/>
              <a:ea typeface="Roboto"/>
              <a:cs typeface="Roboto"/>
              <a:sym typeface="Roboto"/>
            </a:endParaRPr>
          </a:p>
        </p:txBody>
      </p:sp>
      <p:sp>
        <p:nvSpPr>
          <p:cNvPr id="803" name="Google Shape;803;p56"/>
          <p:cNvSpPr/>
          <p:nvPr/>
        </p:nvSpPr>
        <p:spPr>
          <a:xfrm>
            <a:off x="2383200" y="3334400"/>
            <a:ext cx="484200" cy="484200"/>
          </a:xfrm>
          <a:prstGeom prst="ellipse">
            <a:avLst/>
          </a:prstGeom>
          <a:solidFill>
            <a:srgbClr val="FFFF00"/>
          </a:solidFill>
          <a:ln w="1143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4</a:t>
            </a:r>
            <a:endParaRPr>
              <a:latin typeface="Roboto"/>
              <a:ea typeface="Roboto"/>
              <a:cs typeface="Roboto"/>
              <a:sym typeface="Roboto"/>
            </a:endParaRPr>
          </a:p>
        </p:txBody>
      </p:sp>
      <p:sp>
        <p:nvSpPr>
          <p:cNvPr id="804" name="Google Shape;804;p56"/>
          <p:cNvSpPr/>
          <p:nvPr/>
        </p:nvSpPr>
        <p:spPr>
          <a:xfrm>
            <a:off x="3020600" y="3334400"/>
            <a:ext cx="484200" cy="484200"/>
          </a:xfrm>
          <a:prstGeom prst="ellipse">
            <a:avLst/>
          </a:prstGeom>
          <a:solidFill>
            <a:srgbClr val="FFFF00"/>
          </a:solidFill>
          <a:ln w="1143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5</a:t>
            </a:r>
            <a:endParaRPr>
              <a:latin typeface="Roboto"/>
              <a:ea typeface="Roboto"/>
              <a:cs typeface="Roboto"/>
              <a:sym typeface="Roboto"/>
            </a:endParaRPr>
          </a:p>
        </p:txBody>
      </p:sp>
      <p:sp>
        <p:nvSpPr>
          <p:cNvPr id="805" name="Google Shape;805;p56"/>
          <p:cNvSpPr/>
          <p:nvPr/>
        </p:nvSpPr>
        <p:spPr>
          <a:xfrm>
            <a:off x="3658000" y="3334400"/>
            <a:ext cx="484200" cy="484200"/>
          </a:xfrm>
          <a:prstGeom prst="ellipse">
            <a:avLst/>
          </a:prstGeom>
          <a:solidFill>
            <a:srgbClr val="FFFF00"/>
          </a:solidFill>
          <a:ln w="1143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6</a:t>
            </a:r>
            <a:endParaRPr>
              <a:latin typeface="Roboto"/>
              <a:ea typeface="Roboto"/>
              <a:cs typeface="Roboto"/>
              <a:sym typeface="Roboto"/>
            </a:endParaRPr>
          </a:p>
        </p:txBody>
      </p:sp>
      <p:sp>
        <p:nvSpPr>
          <p:cNvPr id="806" name="Google Shape;806;p56"/>
          <p:cNvSpPr/>
          <p:nvPr/>
        </p:nvSpPr>
        <p:spPr>
          <a:xfrm>
            <a:off x="4286575" y="3334400"/>
            <a:ext cx="484200" cy="484200"/>
          </a:xfrm>
          <a:prstGeom prst="ellipse">
            <a:avLst/>
          </a:prstGeom>
          <a:solidFill>
            <a:srgbClr val="FFFF00"/>
          </a:solidFill>
          <a:ln w="1143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7</a:t>
            </a:r>
            <a:endParaRPr>
              <a:latin typeface="Roboto"/>
              <a:ea typeface="Roboto"/>
              <a:cs typeface="Roboto"/>
              <a:sym typeface="Roboto"/>
            </a:endParaRPr>
          </a:p>
        </p:txBody>
      </p:sp>
      <p:sp>
        <p:nvSpPr>
          <p:cNvPr id="807" name="Google Shape;807;p56"/>
          <p:cNvSpPr/>
          <p:nvPr/>
        </p:nvSpPr>
        <p:spPr>
          <a:xfrm>
            <a:off x="4923975" y="3334400"/>
            <a:ext cx="484200" cy="484200"/>
          </a:xfrm>
          <a:prstGeom prst="ellipse">
            <a:avLst/>
          </a:prstGeom>
          <a:solidFill>
            <a:srgbClr val="FFFF00"/>
          </a:solidFill>
          <a:ln w="1143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8</a:t>
            </a:r>
            <a:endParaRPr>
              <a:latin typeface="Roboto"/>
              <a:ea typeface="Roboto"/>
              <a:cs typeface="Roboto"/>
              <a:sym typeface="Roboto"/>
            </a:endParaRPr>
          </a:p>
        </p:txBody>
      </p:sp>
      <p:sp>
        <p:nvSpPr>
          <p:cNvPr id="808" name="Google Shape;808;p56"/>
          <p:cNvSpPr/>
          <p:nvPr/>
        </p:nvSpPr>
        <p:spPr>
          <a:xfrm>
            <a:off x="5561375" y="3334400"/>
            <a:ext cx="484200" cy="484200"/>
          </a:xfrm>
          <a:prstGeom prst="ellipse">
            <a:avLst/>
          </a:prstGeom>
          <a:solidFill>
            <a:srgbClr val="FFFF00"/>
          </a:solidFill>
          <a:ln w="1143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9</a:t>
            </a:r>
            <a:endParaRPr>
              <a:latin typeface="Roboto"/>
              <a:ea typeface="Roboto"/>
              <a:cs typeface="Roboto"/>
              <a:sym typeface="Roboto"/>
            </a:endParaRPr>
          </a:p>
        </p:txBody>
      </p:sp>
      <p:sp>
        <p:nvSpPr>
          <p:cNvPr id="809" name="Google Shape;809;p56"/>
          <p:cNvSpPr/>
          <p:nvPr/>
        </p:nvSpPr>
        <p:spPr>
          <a:xfrm>
            <a:off x="6198775" y="3334400"/>
            <a:ext cx="484200" cy="484200"/>
          </a:xfrm>
          <a:prstGeom prst="ellipse">
            <a:avLst/>
          </a:prstGeom>
          <a:solidFill>
            <a:srgbClr val="FFFF00"/>
          </a:solidFill>
          <a:ln w="1143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latin typeface="Roboto"/>
                <a:ea typeface="Roboto"/>
                <a:cs typeface="Roboto"/>
                <a:sym typeface="Roboto"/>
              </a:rPr>
              <a:t>10</a:t>
            </a:r>
            <a:endParaRPr sz="1100">
              <a:latin typeface="Roboto"/>
              <a:ea typeface="Roboto"/>
              <a:cs typeface="Roboto"/>
              <a:sym typeface="Roboto"/>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813"/>
        <p:cNvGrpSpPr/>
        <p:nvPr/>
      </p:nvGrpSpPr>
      <p:grpSpPr>
        <a:xfrm>
          <a:off x="0" y="0"/>
          <a:ext cx="0" cy="0"/>
          <a:chOff x="0" y="0"/>
          <a:chExt cx="0" cy="0"/>
        </a:xfrm>
      </p:grpSpPr>
      <p:sp>
        <p:nvSpPr>
          <p:cNvPr id="814" name="Google Shape;814;p57"/>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10 Coins: Proof of impossibility</a:t>
            </a:r>
            <a:endParaRPr/>
          </a:p>
        </p:txBody>
      </p:sp>
      <p:sp>
        <p:nvSpPr>
          <p:cNvPr id="815" name="Google Shape;815;p57"/>
          <p:cNvSpPr txBox="1">
            <a:spLocks noGrp="1"/>
          </p:cNvSpPr>
          <p:nvPr>
            <p:ph type="body" idx="1"/>
          </p:nvPr>
        </p:nvSpPr>
        <p:spPr>
          <a:xfrm>
            <a:off x="107050" y="402200"/>
            <a:ext cx="8520600" cy="557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No: With a two-layer decision tree, we have at most 9 leaves, but there are 10 possible universes.</a:t>
            </a:r>
            <a:endParaRPr/>
          </a:p>
        </p:txBody>
      </p:sp>
      <p:sp>
        <p:nvSpPr>
          <p:cNvPr id="816" name="Google Shape;816;p57"/>
          <p:cNvSpPr/>
          <p:nvPr/>
        </p:nvSpPr>
        <p:spPr>
          <a:xfrm>
            <a:off x="3649350" y="985200"/>
            <a:ext cx="1221900" cy="5103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 name="Google Shape;817;p57"/>
          <p:cNvSpPr/>
          <p:nvPr/>
        </p:nvSpPr>
        <p:spPr>
          <a:xfrm>
            <a:off x="1620500" y="2008300"/>
            <a:ext cx="809100" cy="593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 name="Google Shape;818;p57"/>
          <p:cNvSpPr/>
          <p:nvPr/>
        </p:nvSpPr>
        <p:spPr>
          <a:xfrm>
            <a:off x="3855750" y="2008300"/>
            <a:ext cx="809100" cy="593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819;p57"/>
          <p:cNvSpPr/>
          <p:nvPr/>
        </p:nvSpPr>
        <p:spPr>
          <a:xfrm>
            <a:off x="6091000" y="2008300"/>
            <a:ext cx="809100" cy="593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820" name="Google Shape;820;p57"/>
          <p:cNvCxnSpPr>
            <a:stCxn id="816" idx="2"/>
            <a:endCxn id="817" idx="0"/>
          </p:cNvCxnSpPr>
          <p:nvPr/>
        </p:nvCxnSpPr>
        <p:spPr>
          <a:xfrm flipH="1">
            <a:off x="2025000" y="1495500"/>
            <a:ext cx="2235300" cy="512700"/>
          </a:xfrm>
          <a:prstGeom prst="straightConnector1">
            <a:avLst/>
          </a:prstGeom>
          <a:noFill/>
          <a:ln w="38100" cap="flat" cmpd="sng">
            <a:solidFill>
              <a:srgbClr val="FF0000"/>
            </a:solidFill>
            <a:prstDash val="solid"/>
            <a:round/>
            <a:headEnd type="none" w="med" len="med"/>
            <a:tailEnd type="none" w="med" len="med"/>
          </a:ln>
        </p:spPr>
      </p:cxnSp>
      <p:cxnSp>
        <p:nvCxnSpPr>
          <p:cNvPr id="821" name="Google Shape;821;p57"/>
          <p:cNvCxnSpPr>
            <a:stCxn id="816" idx="2"/>
            <a:endCxn id="818" idx="0"/>
          </p:cNvCxnSpPr>
          <p:nvPr/>
        </p:nvCxnSpPr>
        <p:spPr>
          <a:xfrm>
            <a:off x="4260300" y="1495500"/>
            <a:ext cx="0" cy="512700"/>
          </a:xfrm>
          <a:prstGeom prst="straightConnector1">
            <a:avLst/>
          </a:prstGeom>
          <a:noFill/>
          <a:ln w="38100" cap="flat" cmpd="sng">
            <a:solidFill>
              <a:schemeClr val="dk2"/>
            </a:solidFill>
            <a:prstDash val="solid"/>
            <a:round/>
            <a:headEnd type="none" w="med" len="med"/>
            <a:tailEnd type="none" w="med" len="med"/>
          </a:ln>
        </p:spPr>
      </p:cxnSp>
      <p:cxnSp>
        <p:nvCxnSpPr>
          <p:cNvPr id="822" name="Google Shape;822;p57"/>
          <p:cNvCxnSpPr>
            <a:stCxn id="816" idx="2"/>
            <a:endCxn id="819" idx="0"/>
          </p:cNvCxnSpPr>
          <p:nvPr/>
        </p:nvCxnSpPr>
        <p:spPr>
          <a:xfrm>
            <a:off x="4260300" y="1495500"/>
            <a:ext cx="2235300" cy="512700"/>
          </a:xfrm>
          <a:prstGeom prst="straightConnector1">
            <a:avLst/>
          </a:prstGeom>
          <a:noFill/>
          <a:ln w="38100" cap="flat" cmpd="sng">
            <a:solidFill>
              <a:srgbClr val="0000FF"/>
            </a:solidFill>
            <a:prstDash val="solid"/>
            <a:round/>
            <a:headEnd type="none" w="med" len="med"/>
            <a:tailEnd type="none" w="med" len="med"/>
          </a:ln>
        </p:spPr>
      </p:cxnSp>
      <p:sp>
        <p:nvSpPr>
          <p:cNvPr id="823" name="Google Shape;823;p57"/>
          <p:cNvSpPr txBox="1"/>
          <p:nvPr/>
        </p:nvSpPr>
        <p:spPr>
          <a:xfrm>
            <a:off x="2342075" y="1521063"/>
            <a:ext cx="629100" cy="235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&gt;</a:t>
            </a:r>
            <a:endParaRPr/>
          </a:p>
        </p:txBody>
      </p:sp>
      <p:sp>
        <p:nvSpPr>
          <p:cNvPr id="824" name="Google Shape;824;p57"/>
          <p:cNvSpPr txBox="1"/>
          <p:nvPr/>
        </p:nvSpPr>
        <p:spPr>
          <a:xfrm>
            <a:off x="3945750" y="1521088"/>
            <a:ext cx="629100" cy="235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a:t>
            </a:r>
            <a:endParaRPr/>
          </a:p>
        </p:txBody>
      </p:sp>
      <p:sp>
        <p:nvSpPr>
          <p:cNvPr id="825" name="Google Shape;825;p57"/>
          <p:cNvSpPr txBox="1"/>
          <p:nvPr/>
        </p:nvSpPr>
        <p:spPr>
          <a:xfrm>
            <a:off x="5718650" y="1521063"/>
            <a:ext cx="629100" cy="235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&lt;</a:t>
            </a:r>
            <a:endParaRPr/>
          </a:p>
        </p:txBody>
      </p:sp>
      <p:sp>
        <p:nvSpPr>
          <p:cNvPr id="826" name="Google Shape;826;p57"/>
          <p:cNvSpPr/>
          <p:nvPr/>
        </p:nvSpPr>
        <p:spPr>
          <a:xfrm>
            <a:off x="710150" y="3941550"/>
            <a:ext cx="732900" cy="510300"/>
          </a:xfrm>
          <a:prstGeom prst="roundRect">
            <a:avLst>
              <a:gd name="adj" fmla="val 16667"/>
            </a:avLst>
          </a:prstGeom>
          <a:solidFill>
            <a:srgbClr val="A4C2F4"/>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27" name="Google Shape;827;p57"/>
          <p:cNvSpPr/>
          <p:nvPr/>
        </p:nvSpPr>
        <p:spPr>
          <a:xfrm>
            <a:off x="2607050" y="3941550"/>
            <a:ext cx="732900" cy="510300"/>
          </a:xfrm>
          <a:prstGeom prst="roundRect">
            <a:avLst>
              <a:gd name="adj" fmla="val 16667"/>
            </a:avLst>
          </a:prstGeom>
          <a:solidFill>
            <a:srgbClr val="A4C2F4"/>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28" name="Google Shape;828;p57"/>
          <p:cNvSpPr/>
          <p:nvPr/>
        </p:nvSpPr>
        <p:spPr>
          <a:xfrm>
            <a:off x="1658600" y="3941550"/>
            <a:ext cx="732900" cy="510300"/>
          </a:xfrm>
          <a:prstGeom prst="roundRect">
            <a:avLst>
              <a:gd name="adj" fmla="val 16667"/>
            </a:avLst>
          </a:prstGeom>
          <a:solidFill>
            <a:srgbClr val="A4C2F4"/>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29" name="Google Shape;829;p57"/>
          <p:cNvSpPr/>
          <p:nvPr/>
        </p:nvSpPr>
        <p:spPr>
          <a:xfrm>
            <a:off x="2945400" y="3233325"/>
            <a:ext cx="732900" cy="510300"/>
          </a:xfrm>
          <a:prstGeom prst="roundRect">
            <a:avLst>
              <a:gd name="adj" fmla="val 16667"/>
            </a:avLst>
          </a:prstGeom>
          <a:solidFill>
            <a:srgbClr val="A4C2F4"/>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30" name="Google Shape;830;p57"/>
          <p:cNvSpPr/>
          <p:nvPr/>
        </p:nvSpPr>
        <p:spPr>
          <a:xfrm>
            <a:off x="4842300" y="3233325"/>
            <a:ext cx="732900" cy="510300"/>
          </a:xfrm>
          <a:prstGeom prst="roundRect">
            <a:avLst>
              <a:gd name="adj" fmla="val 16667"/>
            </a:avLst>
          </a:prstGeom>
          <a:solidFill>
            <a:srgbClr val="A4C2F4"/>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31" name="Google Shape;831;p57"/>
          <p:cNvSpPr/>
          <p:nvPr/>
        </p:nvSpPr>
        <p:spPr>
          <a:xfrm>
            <a:off x="3893850" y="3233325"/>
            <a:ext cx="732900" cy="510300"/>
          </a:xfrm>
          <a:prstGeom prst="roundRect">
            <a:avLst>
              <a:gd name="adj" fmla="val 16667"/>
            </a:avLst>
          </a:prstGeom>
          <a:solidFill>
            <a:srgbClr val="A4C2F4"/>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32" name="Google Shape;832;p57"/>
          <p:cNvSpPr/>
          <p:nvPr/>
        </p:nvSpPr>
        <p:spPr>
          <a:xfrm>
            <a:off x="5180650" y="3941550"/>
            <a:ext cx="732900" cy="510300"/>
          </a:xfrm>
          <a:prstGeom prst="roundRect">
            <a:avLst>
              <a:gd name="adj" fmla="val 16667"/>
            </a:avLst>
          </a:prstGeom>
          <a:solidFill>
            <a:srgbClr val="A4C2F4"/>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33" name="Google Shape;833;p57"/>
          <p:cNvSpPr/>
          <p:nvPr/>
        </p:nvSpPr>
        <p:spPr>
          <a:xfrm>
            <a:off x="7077550" y="3941550"/>
            <a:ext cx="732900" cy="510300"/>
          </a:xfrm>
          <a:prstGeom prst="roundRect">
            <a:avLst>
              <a:gd name="adj" fmla="val 16667"/>
            </a:avLst>
          </a:prstGeom>
          <a:solidFill>
            <a:srgbClr val="A4C2F4"/>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34" name="Google Shape;834;p57"/>
          <p:cNvSpPr/>
          <p:nvPr/>
        </p:nvSpPr>
        <p:spPr>
          <a:xfrm>
            <a:off x="6129100" y="3941550"/>
            <a:ext cx="732900" cy="510300"/>
          </a:xfrm>
          <a:prstGeom prst="roundRect">
            <a:avLst>
              <a:gd name="adj" fmla="val 16667"/>
            </a:avLst>
          </a:prstGeom>
          <a:solidFill>
            <a:srgbClr val="A4C2F4"/>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835" name="Google Shape;835;p57"/>
          <p:cNvCxnSpPr>
            <a:stCxn id="817" idx="2"/>
            <a:endCxn id="826" idx="0"/>
          </p:cNvCxnSpPr>
          <p:nvPr/>
        </p:nvCxnSpPr>
        <p:spPr>
          <a:xfrm flipH="1">
            <a:off x="1076450" y="2602000"/>
            <a:ext cx="948600" cy="1339500"/>
          </a:xfrm>
          <a:prstGeom prst="straightConnector1">
            <a:avLst/>
          </a:prstGeom>
          <a:noFill/>
          <a:ln w="38100" cap="flat" cmpd="sng">
            <a:solidFill>
              <a:srgbClr val="FF0000"/>
            </a:solidFill>
            <a:prstDash val="solid"/>
            <a:round/>
            <a:headEnd type="none" w="med" len="med"/>
            <a:tailEnd type="none" w="med" len="med"/>
          </a:ln>
        </p:spPr>
      </p:cxnSp>
      <p:cxnSp>
        <p:nvCxnSpPr>
          <p:cNvPr id="836" name="Google Shape;836;p57"/>
          <p:cNvCxnSpPr>
            <a:stCxn id="817" idx="2"/>
            <a:endCxn id="828" idx="0"/>
          </p:cNvCxnSpPr>
          <p:nvPr/>
        </p:nvCxnSpPr>
        <p:spPr>
          <a:xfrm>
            <a:off x="2025050" y="2602000"/>
            <a:ext cx="0" cy="1339500"/>
          </a:xfrm>
          <a:prstGeom prst="straightConnector1">
            <a:avLst/>
          </a:prstGeom>
          <a:noFill/>
          <a:ln w="38100" cap="flat" cmpd="sng">
            <a:solidFill>
              <a:schemeClr val="dk2"/>
            </a:solidFill>
            <a:prstDash val="solid"/>
            <a:round/>
            <a:headEnd type="none" w="med" len="med"/>
            <a:tailEnd type="none" w="med" len="med"/>
          </a:ln>
        </p:spPr>
      </p:cxnSp>
      <p:cxnSp>
        <p:nvCxnSpPr>
          <p:cNvPr id="837" name="Google Shape;837;p57"/>
          <p:cNvCxnSpPr>
            <a:stCxn id="817" idx="2"/>
            <a:endCxn id="827" idx="0"/>
          </p:cNvCxnSpPr>
          <p:nvPr/>
        </p:nvCxnSpPr>
        <p:spPr>
          <a:xfrm>
            <a:off x="2025050" y="2602000"/>
            <a:ext cx="948600" cy="1339500"/>
          </a:xfrm>
          <a:prstGeom prst="straightConnector1">
            <a:avLst/>
          </a:prstGeom>
          <a:noFill/>
          <a:ln w="38100" cap="flat" cmpd="sng">
            <a:solidFill>
              <a:srgbClr val="0000FF"/>
            </a:solidFill>
            <a:prstDash val="solid"/>
            <a:round/>
            <a:headEnd type="none" w="med" len="med"/>
            <a:tailEnd type="none" w="med" len="med"/>
          </a:ln>
        </p:spPr>
      </p:cxnSp>
      <p:cxnSp>
        <p:nvCxnSpPr>
          <p:cNvPr id="838" name="Google Shape;838;p57"/>
          <p:cNvCxnSpPr>
            <a:stCxn id="819" idx="2"/>
            <a:endCxn id="832" idx="0"/>
          </p:cNvCxnSpPr>
          <p:nvPr/>
        </p:nvCxnSpPr>
        <p:spPr>
          <a:xfrm flipH="1">
            <a:off x="5546950" y="2602000"/>
            <a:ext cx="948600" cy="1339500"/>
          </a:xfrm>
          <a:prstGeom prst="straightConnector1">
            <a:avLst/>
          </a:prstGeom>
          <a:noFill/>
          <a:ln w="38100" cap="flat" cmpd="sng">
            <a:solidFill>
              <a:srgbClr val="FF0000"/>
            </a:solidFill>
            <a:prstDash val="solid"/>
            <a:round/>
            <a:headEnd type="none" w="med" len="med"/>
            <a:tailEnd type="none" w="med" len="med"/>
          </a:ln>
        </p:spPr>
      </p:cxnSp>
      <p:cxnSp>
        <p:nvCxnSpPr>
          <p:cNvPr id="839" name="Google Shape;839;p57"/>
          <p:cNvCxnSpPr>
            <a:stCxn id="819" idx="2"/>
            <a:endCxn id="834" idx="0"/>
          </p:cNvCxnSpPr>
          <p:nvPr/>
        </p:nvCxnSpPr>
        <p:spPr>
          <a:xfrm>
            <a:off x="6495550" y="2602000"/>
            <a:ext cx="0" cy="1339500"/>
          </a:xfrm>
          <a:prstGeom prst="straightConnector1">
            <a:avLst/>
          </a:prstGeom>
          <a:noFill/>
          <a:ln w="38100" cap="flat" cmpd="sng">
            <a:solidFill>
              <a:schemeClr val="dk2"/>
            </a:solidFill>
            <a:prstDash val="solid"/>
            <a:round/>
            <a:headEnd type="none" w="med" len="med"/>
            <a:tailEnd type="none" w="med" len="med"/>
          </a:ln>
        </p:spPr>
      </p:cxnSp>
      <p:cxnSp>
        <p:nvCxnSpPr>
          <p:cNvPr id="840" name="Google Shape;840;p57"/>
          <p:cNvCxnSpPr>
            <a:stCxn id="819" idx="2"/>
            <a:endCxn id="833" idx="0"/>
          </p:cNvCxnSpPr>
          <p:nvPr/>
        </p:nvCxnSpPr>
        <p:spPr>
          <a:xfrm>
            <a:off x="6495550" y="2602000"/>
            <a:ext cx="948600" cy="1339500"/>
          </a:xfrm>
          <a:prstGeom prst="straightConnector1">
            <a:avLst/>
          </a:prstGeom>
          <a:noFill/>
          <a:ln w="38100" cap="flat" cmpd="sng">
            <a:solidFill>
              <a:srgbClr val="0000FF"/>
            </a:solidFill>
            <a:prstDash val="solid"/>
            <a:round/>
            <a:headEnd type="none" w="med" len="med"/>
            <a:tailEnd type="none" w="med" len="med"/>
          </a:ln>
        </p:spPr>
      </p:cxnSp>
      <p:cxnSp>
        <p:nvCxnSpPr>
          <p:cNvPr id="841" name="Google Shape;841;p57"/>
          <p:cNvCxnSpPr>
            <a:stCxn id="818" idx="2"/>
            <a:endCxn id="829" idx="0"/>
          </p:cNvCxnSpPr>
          <p:nvPr/>
        </p:nvCxnSpPr>
        <p:spPr>
          <a:xfrm flipH="1">
            <a:off x="3311700" y="2602000"/>
            <a:ext cx="948600" cy="631200"/>
          </a:xfrm>
          <a:prstGeom prst="straightConnector1">
            <a:avLst/>
          </a:prstGeom>
          <a:noFill/>
          <a:ln w="38100" cap="flat" cmpd="sng">
            <a:solidFill>
              <a:srgbClr val="FF0000"/>
            </a:solidFill>
            <a:prstDash val="solid"/>
            <a:round/>
            <a:headEnd type="none" w="med" len="med"/>
            <a:tailEnd type="none" w="med" len="med"/>
          </a:ln>
        </p:spPr>
      </p:cxnSp>
      <p:cxnSp>
        <p:nvCxnSpPr>
          <p:cNvPr id="842" name="Google Shape;842;p57"/>
          <p:cNvCxnSpPr>
            <a:stCxn id="818" idx="2"/>
            <a:endCxn id="831" idx="0"/>
          </p:cNvCxnSpPr>
          <p:nvPr/>
        </p:nvCxnSpPr>
        <p:spPr>
          <a:xfrm>
            <a:off x="4260300" y="2602000"/>
            <a:ext cx="0" cy="631200"/>
          </a:xfrm>
          <a:prstGeom prst="straightConnector1">
            <a:avLst/>
          </a:prstGeom>
          <a:noFill/>
          <a:ln w="38100" cap="flat" cmpd="sng">
            <a:solidFill>
              <a:schemeClr val="dk2"/>
            </a:solidFill>
            <a:prstDash val="solid"/>
            <a:round/>
            <a:headEnd type="none" w="med" len="med"/>
            <a:tailEnd type="none" w="med" len="med"/>
          </a:ln>
        </p:spPr>
      </p:cxnSp>
      <p:cxnSp>
        <p:nvCxnSpPr>
          <p:cNvPr id="843" name="Google Shape;843;p57"/>
          <p:cNvCxnSpPr>
            <a:stCxn id="818" idx="2"/>
            <a:endCxn id="830" idx="0"/>
          </p:cNvCxnSpPr>
          <p:nvPr/>
        </p:nvCxnSpPr>
        <p:spPr>
          <a:xfrm>
            <a:off x="4260300" y="2602000"/>
            <a:ext cx="948600" cy="631200"/>
          </a:xfrm>
          <a:prstGeom prst="straightConnector1">
            <a:avLst/>
          </a:prstGeom>
          <a:noFill/>
          <a:ln w="38100" cap="flat" cmpd="sng">
            <a:solidFill>
              <a:srgbClr val="0000FF"/>
            </a:solidFill>
            <a:prstDash val="solid"/>
            <a:round/>
            <a:headEnd type="none" w="med" len="med"/>
            <a:tailEnd type="non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17"/>
                                        </p:tgtEl>
                                        <p:attrNameLst>
                                          <p:attrName>style.visibility</p:attrName>
                                        </p:attrNameLst>
                                      </p:cBhvr>
                                      <p:to>
                                        <p:strVal val="visible"/>
                                      </p:to>
                                    </p:set>
                                    <p:animEffect transition="in" filter="fade">
                                      <p:cBhvr>
                                        <p:cTn id="7" dur="1000"/>
                                        <p:tgtEl>
                                          <p:spTgt spid="8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847"/>
        <p:cNvGrpSpPr/>
        <p:nvPr/>
      </p:nvGrpSpPr>
      <p:grpSpPr>
        <a:xfrm>
          <a:off x="0" y="0"/>
          <a:ext cx="0" cy="0"/>
          <a:chOff x="0" y="0"/>
          <a:chExt cx="0" cy="0"/>
        </a:xfrm>
      </p:grpSpPr>
      <p:sp>
        <p:nvSpPr>
          <p:cNvPr id="848" name="Google Shape;848;p58"/>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10 Coins: Proof of impossibility</a:t>
            </a:r>
            <a:endParaRPr/>
          </a:p>
        </p:txBody>
      </p:sp>
      <p:sp>
        <p:nvSpPr>
          <p:cNvPr id="849" name="Google Shape;849;p58"/>
          <p:cNvSpPr txBox="1">
            <a:spLocks noGrp="1"/>
          </p:cNvSpPr>
          <p:nvPr>
            <p:ph type="body" idx="1"/>
          </p:nvPr>
        </p:nvSpPr>
        <p:spPr>
          <a:xfrm>
            <a:off x="107050" y="402200"/>
            <a:ext cx="8520600" cy="557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Therefore, at least one leaf must have two universes that lead there</a:t>
            </a:r>
            <a:endParaRPr/>
          </a:p>
        </p:txBody>
      </p:sp>
      <p:sp>
        <p:nvSpPr>
          <p:cNvPr id="850" name="Google Shape;850;p58"/>
          <p:cNvSpPr/>
          <p:nvPr/>
        </p:nvSpPr>
        <p:spPr>
          <a:xfrm>
            <a:off x="3649350" y="985200"/>
            <a:ext cx="1221900" cy="5103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 name="Google Shape;851;p58"/>
          <p:cNvSpPr/>
          <p:nvPr/>
        </p:nvSpPr>
        <p:spPr>
          <a:xfrm>
            <a:off x="1620500" y="2008300"/>
            <a:ext cx="809100" cy="593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58"/>
          <p:cNvSpPr/>
          <p:nvPr/>
        </p:nvSpPr>
        <p:spPr>
          <a:xfrm>
            <a:off x="3855750" y="2008300"/>
            <a:ext cx="809100" cy="593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58"/>
          <p:cNvSpPr/>
          <p:nvPr/>
        </p:nvSpPr>
        <p:spPr>
          <a:xfrm>
            <a:off x="6091000" y="2008300"/>
            <a:ext cx="809100" cy="593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854" name="Google Shape;854;p58"/>
          <p:cNvCxnSpPr>
            <a:stCxn id="850" idx="2"/>
            <a:endCxn id="851" idx="0"/>
          </p:cNvCxnSpPr>
          <p:nvPr/>
        </p:nvCxnSpPr>
        <p:spPr>
          <a:xfrm flipH="1">
            <a:off x="2025000" y="1495500"/>
            <a:ext cx="2235300" cy="512700"/>
          </a:xfrm>
          <a:prstGeom prst="straightConnector1">
            <a:avLst/>
          </a:prstGeom>
          <a:noFill/>
          <a:ln w="38100" cap="flat" cmpd="sng">
            <a:solidFill>
              <a:srgbClr val="FF0000"/>
            </a:solidFill>
            <a:prstDash val="solid"/>
            <a:round/>
            <a:headEnd type="none" w="med" len="med"/>
            <a:tailEnd type="none" w="med" len="med"/>
          </a:ln>
        </p:spPr>
      </p:cxnSp>
      <p:cxnSp>
        <p:nvCxnSpPr>
          <p:cNvPr id="855" name="Google Shape;855;p58"/>
          <p:cNvCxnSpPr>
            <a:stCxn id="850" idx="2"/>
            <a:endCxn id="852" idx="0"/>
          </p:cNvCxnSpPr>
          <p:nvPr/>
        </p:nvCxnSpPr>
        <p:spPr>
          <a:xfrm>
            <a:off x="4260300" y="1495500"/>
            <a:ext cx="0" cy="512700"/>
          </a:xfrm>
          <a:prstGeom prst="straightConnector1">
            <a:avLst/>
          </a:prstGeom>
          <a:noFill/>
          <a:ln w="38100" cap="flat" cmpd="sng">
            <a:solidFill>
              <a:schemeClr val="dk2"/>
            </a:solidFill>
            <a:prstDash val="solid"/>
            <a:round/>
            <a:headEnd type="none" w="med" len="med"/>
            <a:tailEnd type="none" w="med" len="med"/>
          </a:ln>
        </p:spPr>
      </p:cxnSp>
      <p:cxnSp>
        <p:nvCxnSpPr>
          <p:cNvPr id="856" name="Google Shape;856;p58"/>
          <p:cNvCxnSpPr>
            <a:stCxn id="850" idx="2"/>
            <a:endCxn id="853" idx="0"/>
          </p:cNvCxnSpPr>
          <p:nvPr/>
        </p:nvCxnSpPr>
        <p:spPr>
          <a:xfrm>
            <a:off x="4260300" y="1495500"/>
            <a:ext cx="2235300" cy="512700"/>
          </a:xfrm>
          <a:prstGeom prst="straightConnector1">
            <a:avLst/>
          </a:prstGeom>
          <a:noFill/>
          <a:ln w="38100" cap="flat" cmpd="sng">
            <a:solidFill>
              <a:srgbClr val="0000FF"/>
            </a:solidFill>
            <a:prstDash val="solid"/>
            <a:round/>
            <a:headEnd type="none" w="med" len="med"/>
            <a:tailEnd type="none" w="med" len="med"/>
          </a:ln>
        </p:spPr>
      </p:cxnSp>
      <p:sp>
        <p:nvSpPr>
          <p:cNvPr id="857" name="Google Shape;857;p58"/>
          <p:cNvSpPr txBox="1"/>
          <p:nvPr/>
        </p:nvSpPr>
        <p:spPr>
          <a:xfrm>
            <a:off x="2342075" y="1521063"/>
            <a:ext cx="629100" cy="235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&gt;</a:t>
            </a:r>
            <a:endParaRPr/>
          </a:p>
        </p:txBody>
      </p:sp>
      <p:sp>
        <p:nvSpPr>
          <p:cNvPr id="858" name="Google Shape;858;p58"/>
          <p:cNvSpPr txBox="1"/>
          <p:nvPr/>
        </p:nvSpPr>
        <p:spPr>
          <a:xfrm>
            <a:off x="3945750" y="1521088"/>
            <a:ext cx="629100" cy="235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a:t>
            </a:r>
            <a:endParaRPr/>
          </a:p>
        </p:txBody>
      </p:sp>
      <p:sp>
        <p:nvSpPr>
          <p:cNvPr id="859" name="Google Shape;859;p58"/>
          <p:cNvSpPr txBox="1"/>
          <p:nvPr/>
        </p:nvSpPr>
        <p:spPr>
          <a:xfrm>
            <a:off x="5718650" y="1521063"/>
            <a:ext cx="629100" cy="235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&lt;</a:t>
            </a:r>
            <a:endParaRPr/>
          </a:p>
        </p:txBody>
      </p:sp>
      <p:sp>
        <p:nvSpPr>
          <p:cNvPr id="860" name="Google Shape;860;p58"/>
          <p:cNvSpPr/>
          <p:nvPr/>
        </p:nvSpPr>
        <p:spPr>
          <a:xfrm>
            <a:off x="710150" y="3941550"/>
            <a:ext cx="732900" cy="510300"/>
          </a:xfrm>
          <a:prstGeom prst="roundRect">
            <a:avLst>
              <a:gd name="adj" fmla="val 16667"/>
            </a:avLst>
          </a:prstGeom>
          <a:solidFill>
            <a:srgbClr val="A4C2F4"/>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61" name="Google Shape;861;p58"/>
          <p:cNvSpPr/>
          <p:nvPr/>
        </p:nvSpPr>
        <p:spPr>
          <a:xfrm>
            <a:off x="2607050" y="3941550"/>
            <a:ext cx="732900" cy="510300"/>
          </a:xfrm>
          <a:prstGeom prst="roundRect">
            <a:avLst>
              <a:gd name="adj" fmla="val 16667"/>
            </a:avLst>
          </a:prstGeom>
          <a:solidFill>
            <a:srgbClr val="A4C2F4"/>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62" name="Google Shape;862;p58"/>
          <p:cNvSpPr/>
          <p:nvPr/>
        </p:nvSpPr>
        <p:spPr>
          <a:xfrm>
            <a:off x="1658600" y="3941550"/>
            <a:ext cx="732900" cy="510300"/>
          </a:xfrm>
          <a:prstGeom prst="roundRect">
            <a:avLst>
              <a:gd name="adj" fmla="val 16667"/>
            </a:avLst>
          </a:prstGeom>
          <a:solidFill>
            <a:srgbClr val="A4C2F4"/>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63" name="Google Shape;863;p58"/>
          <p:cNvSpPr/>
          <p:nvPr/>
        </p:nvSpPr>
        <p:spPr>
          <a:xfrm>
            <a:off x="2945400" y="3233325"/>
            <a:ext cx="732900" cy="510300"/>
          </a:xfrm>
          <a:prstGeom prst="roundRect">
            <a:avLst>
              <a:gd name="adj" fmla="val 16667"/>
            </a:avLst>
          </a:prstGeom>
          <a:solidFill>
            <a:srgbClr val="A4C2F4"/>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64" name="Google Shape;864;p58"/>
          <p:cNvSpPr/>
          <p:nvPr/>
        </p:nvSpPr>
        <p:spPr>
          <a:xfrm>
            <a:off x="4842300" y="3233325"/>
            <a:ext cx="732900" cy="510300"/>
          </a:xfrm>
          <a:prstGeom prst="roundRect">
            <a:avLst>
              <a:gd name="adj" fmla="val 16667"/>
            </a:avLst>
          </a:prstGeom>
          <a:solidFill>
            <a:srgbClr val="A4C2F4"/>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65" name="Google Shape;865;p58"/>
          <p:cNvSpPr/>
          <p:nvPr/>
        </p:nvSpPr>
        <p:spPr>
          <a:xfrm>
            <a:off x="3893850" y="3233325"/>
            <a:ext cx="732900" cy="510300"/>
          </a:xfrm>
          <a:prstGeom prst="roundRect">
            <a:avLst>
              <a:gd name="adj" fmla="val 16667"/>
            </a:avLst>
          </a:prstGeom>
          <a:solidFill>
            <a:srgbClr val="A4C2F4"/>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66" name="Google Shape;866;p58"/>
          <p:cNvSpPr/>
          <p:nvPr/>
        </p:nvSpPr>
        <p:spPr>
          <a:xfrm>
            <a:off x="5180650" y="3941550"/>
            <a:ext cx="732900" cy="510300"/>
          </a:xfrm>
          <a:prstGeom prst="roundRect">
            <a:avLst>
              <a:gd name="adj" fmla="val 16667"/>
            </a:avLst>
          </a:prstGeom>
          <a:solidFill>
            <a:srgbClr val="A4C2F4"/>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67" name="Google Shape;867;p58"/>
          <p:cNvSpPr/>
          <p:nvPr/>
        </p:nvSpPr>
        <p:spPr>
          <a:xfrm>
            <a:off x="7077550" y="3941550"/>
            <a:ext cx="732900" cy="510300"/>
          </a:xfrm>
          <a:prstGeom prst="roundRect">
            <a:avLst>
              <a:gd name="adj" fmla="val 16667"/>
            </a:avLst>
          </a:prstGeom>
          <a:solidFill>
            <a:srgbClr val="A4C2F4"/>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68" name="Google Shape;868;p58"/>
          <p:cNvSpPr/>
          <p:nvPr/>
        </p:nvSpPr>
        <p:spPr>
          <a:xfrm>
            <a:off x="6129100" y="3941550"/>
            <a:ext cx="732900" cy="510300"/>
          </a:xfrm>
          <a:prstGeom prst="roundRect">
            <a:avLst>
              <a:gd name="adj" fmla="val 16667"/>
            </a:avLst>
          </a:prstGeom>
          <a:solidFill>
            <a:srgbClr val="A4C2F4"/>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869" name="Google Shape;869;p58"/>
          <p:cNvCxnSpPr>
            <a:stCxn id="851" idx="2"/>
            <a:endCxn id="860" idx="0"/>
          </p:cNvCxnSpPr>
          <p:nvPr/>
        </p:nvCxnSpPr>
        <p:spPr>
          <a:xfrm flipH="1">
            <a:off x="1076450" y="2602000"/>
            <a:ext cx="948600" cy="1339500"/>
          </a:xfrm>
          <a:prstGeom prst="straightConnector1">
            <a:avLst/>
          </a:prstGeom>
          <a:noFill/>
          <a:ln w="38100" cap="flat" cmpd="sng">
            <a:solidFill>
              <a:srgbClr val="FF0000"/>
            </a:solidFill>
            <a:prstDash val="solid"/>
            <a:round/>
            <a:headEnd type="none" w="med" len="med"/>
            <a:tailEnd type="none" w="med" len="med"/>
          </a:ln>
        </p:spPr>
      </p:cxnSp>
      <p:cxnSp>
        <p:nvCxnSpPr>
          <p:cNvPr id="870" name="Google Shape;870;p58"/>
          <p:cNvCxnSpPr>
            <a:stCxn id="851" idx="2"/>
            <a:endCxn id="862" idx="0"/>
          </p:cNvCxnSpPr>
          <p:nvPr/>
        </p:nvCxnSpPr>
        <p:spPr>
          <a:xfrm>
            <a:off x="2025050" y="2602000"/>
            <a:ext cx="0" cy="1339500"/>
          </a:xfrm>
          <a:prstGeom prst="straightConnector1">
            <a:avLst/>
          </a:prstGeom>
          <a:noFill/>
          <a:ln w="38100" cap="flat" cmpd="sng">
            <a:solidFill>
              <a:schemeClr val="dk2"/>
            </a:solidFill>
            <a:prstDash val="solid"/>
            <a:round/>
            <a:headEnd type="none" w="med" len="med"/>
            <a:tailEnd type="none" w="med" len="med"/>
          </a:ln>
        </p:spPr>
      </p:cxnSp>
      <p:cxnSp>
        <p:nvCxnSpPr>
          <p:cNvPr id="871" name="Google Shape;871;p58"/>
          <p:cNvCxnSpPr>
            <a:stCxn id="851" idx="2"/>
            <a:endCxn id="861" idx="0"/>
          </p:cNvCxnSpPr>
          <p:nvPr/>
        </p:nvCxnSpPr>
        <p:spPr>
          <a:xfrm>
            <a:off x="2025050" y="2602000"/>
            <a:ext cx="948600" cy="1339500"/>
          </a:xfrm>
          <a:prstGeom prst="straightConnector1">
            <a:avLst/>
          </a:prstGeom>
          <a:noFill/>
          <a:ln w="38100" cap="flat" cmpd="sng">
            <a:solidFill>
              <a:srgbClr val="0000FF"/>
            </a:solidFill>
            <a:prstDash val="solid"/>
            <a:round/>
            <a:headEnd type="none" w="med" len="med"/>
            <a:tailEnd type="none" w="med" len="med"/>
          </a:ln>
        </p:spPr>
      </p:cxnSp>
      <p:cxnSp>
        <p:nvCxnSpPr>
          <p:cNvPr id="872" name="Google Shape;872;p58"/>
          <p:cNvCxnSpPr>
            <a:stCxn id="853" idx="2"/>
            <a:endCxn id="866" idx="0"/>
          </p:cNvCxnSpPr>
          <p:nvPr/>
        </p:nvCxnSpPr>
        <p:spPr>
          <a:xfrm flipH="1">
            <a:off x="5546950" y="2602000"/>
            <a:ext cx="948600" cy="1339500"/>
          </a:xfrm>
          <a:prstGeom prst="straightConnector1">
            <a:avLst/>
          </a:prstGeom>
          <a:noFill/>
          <a:ln w="38100" cap="flat" cmpd="sng">
            <a:solidFill>
              <a:srgbClr val="FF0000"/>
            </a:solidFill>
            <a:prstDash val="solid"/>
            <a:round/>
            <a:headEnd type="none" w="med" len="med"/>
            <a:tailEnd type="none" w="med" len="med"/>
          </a:ln>
        </p:spPr>
      </p:cxnSp>
      <p:cxnSp>
        <p:nvCxnSpPr>
          <p:cNvPr id="873" name="Google Shape;873;p58"/>
          <p:cNvCxnSpPr>
            <a:stCxn id="853" idx="2"/>
            <a:endCxn id="868" idx="0"/>
          </p:cNvCxnSpPr>
          <p:nvPr/>
        </p:nvCxnSpPr>
        <p:spPr>
          <a:xfrm>
            <a:off x="6495550" y="2602000"/>
            <a:ext cx="0" cy="1339500"/>
          </a:xfrm>
          <a:prstGeom prst="straightConnector1">
            <a:avLst/>
          </a:prstGeom>
          <a:noFill/>
          <a:ln w="38100" cap="flat" cmpd="sng">
            <a:solidFill>
              <a:schemeClr val="dk2"/>
            </a:solidFill>
            <a:prstDash val="solid"/>
            <a:round/>
            <a:headEnd type="none" w="med" len="med"/>
            <a:tailEnd type="none" w="med" len="med"/>
          </a:ln>
        </p:spPr>
      </p:cxnSp>
      <p:cxnSp>
        <p:nvCxnSpPr>
          <p:cNvPr id="874" name="Google Shape;874;p58"/>
          <p:cNvCxnSpPr>
            <a:stCxn id="853" idx="2"/>
            <a:endCxn id="867" idx="0"/>
          </p:cNvCxnSpPr>
          <p:nvPr/>
        </p:nvCxnSpPr>
        <p:spPr>
          <a:xfrm>
            <a:off x="6495550" y="2602000"/>
            <a:ext cx="948600" cy="1339500"/>
          </a:xfrm>
          <a:prstGeom prst="straightConnector1">
            <a:avLst/>
          </a:prstGeom>
          <a:noFill/>
          <a:ln w="38100" cap="flat" cmpd="sng">
            <a:solidFill>
              <a:srgbClr val="0000FF"/>
            </a:solidFill>
            <a:prstDash val="solid"/>
            <a:round/>
            <a:headEnd type="none" w="med" len="med"/>
            <a:tailEnd type="none" w="med" len="med"/>
          </a:ln>
        </p:spPr>
      </p:cxnSp>
      <p:cxnSp>
        <p:nvCxnSpPr>
          <p:cNvPr id="875" name="Google Shape;875;p58"/>
          <p:cNvCxnSpPr>
            <a:stCxn id="852" idx="2"/>
            <a:endCxn id="863" idx="0"/>
          </p:cNvCxnSpPr>
          <p:nvPr/>
        </p:nvCxnSpPr>
        <p:spPr>
          <a:xfrm flipH="1">
            <a:off x="3311700" y="2602000"/>
            <a:ext cx="948600" cy="631200"/>
          </a:xfrm>
          <a:prstGeom prst="straightConnector1">
            <a:avLst/>
          </a:prstGeom>
          <a:noFill/>
          <a:ln w="38100" cap="flat" cmpd="sng">
            <a:solidFill>
              <a:srgbClr val="FF0000"/>
            </a:solidFill>
            <a:prstDash val="solid"/>
            <a:round/>
            <a:headEnd type="none" w="med" len="med"/>
            <a:tailEnd type="none" w="med" len="med"/>
          </a:ln>
        </p:spPr>
      </p:cxnSp>
      <p:cxnSp>
        <p:nvCxnSpPr>
          <p:cNvPr id="876" name="Google Shape;876;p58"/>
          <p:cNvCxnSpPr>
            <a:stCxn id="852" idx="2"/>
            <a:endCxn id="865" idx="0"/>
          </p:cNvCxnSpPr>
          <p:nvPr/>
        </p:nvCxnSpPr>
        <p:spPr>
          <a:xfrm>
            <a:off x="4260300" y="2602000"/>
            <a:ext cx="0" cy="631200"/>
          </a:xfrm>
          <a:prstGeom prst="straightConnector1">
            <a:avLst/>
          </a:prstGeom>
          <a:noFill/>
          <a:ln w="38100" cap="flat" cmpd="sng">
            <a:solidFill>
              <a:schemeClr val="dk2"/>
            </a:solidFill>
            <a:prstDash val="solid"/>
            <a:round/>
            <a:headEnd type="none" w="med" len="med"/>
            <a:tailEnd type="none" w="med" len="med"/>
          </a:ln>
        </p:spPr>
      </p:cxnSp>
      <p:cxnSp>
        <p:nvCxnSpPr>
          <p:cNvPr id="877" name="Google Shape;877;p58"/>
          <p:cNvCxnSpPr>
            <a:stCxn id="852" idx="2"/>
            <a:endCxn id="864" idx="0"/>
          </p:cNvCxnSpPr>
          <p:nvPr/>
        </p:nvCxnSpPr>
        <p:spPr>
          <a:xfrm>
            <a:off x="4260300" y="2602000"/>
            <a:ext cx="948600" cy="631200"/>
          </a:xfrm>
          <a:prstGeom prst="straightConnector1">
            <a:avLst/>
          </a:prstGeom>
          <a:noFill/>
          <a:ln w="38100" cap="flat" cmpd="sng">
            <a:solidFill>
              <a:srgbClr val="0000FF"/>
            </a:solidFill>
            <a:prstDash val="solid"/>
            <a:round/>
            <a:headEnd type="none" w="med" len="med"/>
            <a:tailEnd type="non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51"/>
                                        </p:tgtEl>
                                        <p:attrNameLst>
                                          <p:attrName>style.visibility</p:attrName>
                                        </p:attrNameLst>
                                      </p:cBhvr>
                                      <p:to>
                                        <p:strVal val="visible"/>
                                      </p:to>
                                    </p:set>
                                    <p:animEffect transition="in" filter="fade">
                                      <p:cBhvr>
                                        <p:cTn id="7" dur="1000"/>
                                        <p:tgtEl>
                                          <p:spTgt spid="8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881"/>
        <p:cNvGrpSpPr/>
        <p:nvPr/>
      </p:nvGrpSpPr>
      <p:grpSpPr>
        <a:xfrm>
          <a:off x="0" y="0"/>
          <a:ext cx="0" cy="0"/>
          <a:chOff x="0" y="0"/>
          <a:chExt cx="0" cy="0"/>
        </a:xfrm>
      </p:grpSpPr>
      <p:sp>
        <p:nvSpPr>
          <p:cNvPr id="882" name="Google Shape;882;p59"/>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10 Coins: Proof of impossibility</a:t>
            </a:r>
            <a:endParaRPr/>
          </a:p>
        </p:txBody>
      </p:sp>
      <p:sp>
        <p:nvSpPr>
          <p:cNvPr id="883" name="Google Shape;883;p59"/>
          <p:cNvSpPr txBox="1">
            <a:spLocks noGrp="1"/>
          </p:cNvSpPr>
          <p:nvPr>
            <p:ph type="body" idx="1"/>
          </p:nvPr>
        </p:nvSpPr>
        <p:spPr>
          <a:xfrm>
            <a:off x="107050" y="402200"/>
            <a:ext cx="8520600" cy="557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In that leaf, regardless of the two universes that end up there, we'll be wrong in at least one of those universes. </a:t>
            </a:r>
            <a:endParaRPr/>
          </a:p>
          <a:p>
            <a:pPr marL="0" lvl="0" indent="0" algn="l" rtl="0">
              <a:spcBef>
                <a:spcPts val="600"/>
              </a:spcBef>
              <a:spcAft>
                <a:spcPts val="0"/>
              </a:spcAft>
              <a:buNone/>
            </a:pPr>
            <a:r>
              <a:rPr lang="en"/>
              <a:t>Therefore it is impossible to guarantee a determination on which of 10 coins is counterfeit with only 2 weighings.</a:t>
            </a:r>
            <a:endParaRPr/>
          </a:p>
        </p:txBody>
      </p:sp>
      <p:sp>
        <p:nvSpPr>
          <p:cNvPr id="884" name="Google Shape;884;p59"/>
          <p:cNvSpPr/>
          <p:nvPr/>
        </p:nvSpPr>
        <p:spPr>
          <a:xfrm>
            <a:off x="3398700" y="2685975"/>
            <a:ext cx="2346600" cy="1633800"/>
          </a:xfrm>
          <a:prstGeom prst="roundRect">
            <a:avLst>
              <a:gd name="adj" fmla="val 16667"/>
            </a:avLst>
          </a:prstGeom>
          <a:solidFill>
            <a:srgbClr val="A4C2F4"/>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3100"/>
              <a:t>6 Fake</a:t>
            </a:r>
            <a:endParaRPr sz="3100"/>
          </a:p>
        </p:txBody>
      </p:sp>
      <p:sp>
        <p:nvSpPr>
          <p:cNvPr id="885" name="Google Shape;885;p59"/>
          <p:cNvSpPr/>
          <p:nvPr/>
        </p:nvSpPr>
        <p:spPr>
          <a:xfrm>
            <a:off x="182625" y="2919588"/>
            <a:ext cx="484200" cy="484200"/>
          </a:xfrm>
          <a:prstGeom prst="ellipse">
            <a:avLst/>
          </a:prstGeom>
          <a:solidFill>
            <a:srgbClr val="FFFF00"/>
          </a:solidFill>
          <a:ln w="1143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1</a:t>
            </a:r>
            <a:endParaRPr>
              <a:latin typeface="Roboto"/>
              <a:ea typeface="Roboto"/>
              <a:cs typeface="Roboto"/>
              <a:sym typeface="Roboto"/>
            </a:endParaRPr>
          </a:p>
        </p:txBody>
      </p:sp>
      <p:sp>
        <p:nvSpPr>
          <p:cNvPr id="886" name="Google Shape;886;p59"/>
          <p:cNvSpPr/>
          <p:nvPr/>
        </p:nvSpPr>
        <p:spPr>
          <a:xfrm>
            <a:off x="820025" y="2919588"/>
            <a:ext cx="484200" cy="484200"/>
          </a:xfrm>
          <a:prstGeom prst="ellipse">
            <a:avLst/>
          </a:prstGeom>
          <a:solidFill>
            <a:srgbClr val="FFFF00"/>
          </a:solidFill>
          <a:ln w="1143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2</a:t>
            </a:r>
            <a:endParaRPr>
              <a:latin typeface="Roboto"/>
              <a:ea typeface="Roboto"/>
              <a:cs typeface="Roboto"/>
              <a:sym typeface="Roboto"/>
            </a:endParaRPr>
          </a:p>
        </p:txBody>
      </p:sp>
      <p:sp>
        <p:nvSpPr>
          <p:cNvPr id="887" name="Google Shape;887;p59"/>
          <p:cNvSpPr/>
          <p:nvPr/>
        </p:nvSpPr>
        <p:spPr>
          <a:xfrm>
            <a:off x="1457425" y="2919588"/>
            <a:ext cx="484200" cy="484200"/>
          </a:xfrm>
          <a:prstGeom prst="ellipse">
            <a:avLst/>
          </a:prstGeom>
          <a:solidFill>
            <a:srgbClr val="FFFF00"/>
          </a:solidFill>
          <a:ln w="1143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3</a:t>
            </a:r>
            <a:endParaRPr>
              <a:latin typeface="Roboto"/>
              <a:ea typeface="Roboto"/>
              <a:cs typeface="Roboto"/>
              <a:sym typeface="Roboto"/>
            </a:endParaRPr>
          </a:p>
        </p:txBody>
      </p:sp>
      <p:sp>
        <p:nvSpPr>
          <p:cNvPr id="888" name="Google Shape;888;p59"/>
          <p:cNvSpPr/>
          <p:nvPr/>
        </p:nvSpPr>
        <p:spPr>
          <a:xfrm>
            <a:off x="2086000" y="2919588"/>
            <a:ext cx="484200" cy="484200"/>
          </a:xfrm>
          <a:prstGeom prst="ellipse">
            <a:avLst/>
          </a:prstGeom>
          <a:solidFill>
            <a:srgbClr val="FFFF00"/>
          </a:solidFill>
          <a:ln w="1143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4</a:t>
            </a:r>
            <a:endParaRPr>
              <a:latin typeface="Roboto"/>
              <a:ea typeface="Roboto"/>
              <a:cs typeface="Roboto"/>
              <a:sym typeface="Roboto"/>
            </a:endParaRPr>
          </a:p>
        </p:txBody>
      </p:sp>
      <p:sp>
        <p:nvSpPr>
          <p:cNvPr id="889" name="Google Shape;889;p59"/>
          <p:cNvSpPr/>
          <p:nvPr/>
        </p:nvSpPr>
        <p:spPr>
          <a:xfrm>
            <a:off x="2723400" y="2919588"/>
            <a:ext cx="484200" cy="484200"/>
          </a:xfrm>
          <a:prstGeom prst="ellipse">
            <a:avLst/>
          </a:prstGeom>
          <a:solidFill>
            <a:srgbClr val="FFFF00"/>
          </a:solidFill>
          <a:ln w="1143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5</a:t>
            </a:r>
            <a:endParaRPr>
              <a:latin typeface="Roboto"/>
              <a:ea typeface="Roboto"/>
              <a:cs typeface="Roboto"/>
              <a:sym typeface="Roboto"/>
            </a:endParaRPr>
          </a:p>
        </p:txBody>
      </p:sp>
      <p:sp>
        <p:nvSpPr>
          <p:cNvPr id="890" name="Google Shape;890;p59"/>
          <p:cNvSpPr/>
          <p:nvPr/>
        </p:nvSpPr>
        <p:spPr>
          <a:xfrm>
            <a:off x="187038" y="3601950"/>
            <a:ext cx="484200" cy="484200"/>
          </a:xfrm>
          <a:prstGeom prst="ellipse">
            <a:avLst/>
          </a:prstGeom>
          <a:solidFill>
            <a:srgbClr val="FF0000"/>
          </a:solidFill>
          <a:ln w="114300" cap="flat" cmpd="sng">
            <a:solidFill>
              <a:srgbClr val="FF00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6</a:t>
            </a:r>
            <a:endParaRPr>
              <a:latin typeface="Roboto"/>
              <a:ea typeface="Roboto"/>
              <a:cs typeface="Roboto"/>
              <a:sym typeface="Roboto"/>
            </a:endParaRPr>
          </a:p>
        </p:txBody>
      </p:sp>
      <p:sp>
        <p:nvSpPr>
          <p:cNvPr id="891" name="Google Shape;891;p59"/>
          <p:cNvSpPr/>
          <p:nvPr/>
        </p:nvSpPr>
        <p:spPr>
          <a:xfrm>
            <a:off x="815613" y="3601950"/>
            <a:ext cx="484200" cy="484200"/>
          </a:xfrm>
          <a:prstGeom prst="ellipse">
            <a:avLst/>
          </a:prstGeom>
          <a:solidFill>
            <a:srgbClr val="FFFF00"/>
          </a:solidFill>
          <a:ln w="1143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7</a:t>
            </a:r>
            <a:endParaRPr>
              <a:latin typeface="Roboto"/>
              <a:ea typeface="Roboto"/>
              <a:cs typeface="Roboto"/>
              <a:sym typeface="Roboto"/>
            </a:endParaRPr>
          </a:p>
        </p:txBody>
      </p:sp>
      <p:sp>
        <p:nvSpPr>
          <p:cNvPr id="892" name="Google Shape;892;p59"/>
          <p:cNvSpPr/>
          <p:nvPr/>
        </p:nvSpPr>
        <p:spPr>
          <a:xfrm>
            <a:off x="1453013" y="3601950"/>
            <a:ext cx="484200" cy="484200"/>
          </a:xfrm>
          <a:prstGeom prst="ellipse">
            <a:avLst/>
          </a:prstGeom>
          <a:solidFill>
            <a:srgbClr val="FFFF00"/>
          </a:solidFill>
          <a:ln w="1143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8</a:t>
            </a:r>
            <a:endParaRPr>
              <a:latin typeface="Roboto"/>
              <a:ea typeface="Roboto"/>
              <a:cs typeface="Roboto"/>
              <a:sym typeface="Roboto"/>
            </a:endParaRPr>
          </a:p>
        </p:txBody>
      </p:sp>
      <p:sp>
        <p:nvSpPr>
          <p:cNvPr id="893" name="Google Shape;893;p59"/>
          <p:cNvSpPr/>
          <p:nvPr/>
        </p:nvSpPr>
        <p:spPr>
          <a:xfrm>
            <a:off x="2090413" y="3601950"/>
            <a:ext cx="484200" cy="484200"/>
          </a:xfrm>
          <a:prstGeom prst="ellipse">
            <a:avLst/>
          </a:prstGeom>
          <a:solidFill>
            <a:srgbClr val="FFFF00"/>
          </a:solidFill>
          <a:ln w="1143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9</a:t>
            </a:r>
            <a:endParaRPr>
              <a:latin typeface="Roboto"/>
              <a:ea typeface="Roboto"/>
              <a:cs typeface="Roboto"/>
              <a:sym typeface="Roboto"/>
            </a:endParaRPr>
          </a:p>
        </p:txBody>
      </p:sp>
      <p:sp>
        <p:nvSpPr>
          <p:cNvPr id="894" name="Google Shape;894;p59"/>
          <p:cNvSpPr/>
          <p:nvPr/>
        </p:nvSpPr>
        <p:spPr>
          <a:xfrm>
            <a:off x="2727813" y="3601950"/>
            <a:ext cx="484200" cy="484200"/>
          </a:xfrm>
          <a:prstGeom prst="ellipse">
            <a:avLst/>
          </a:prstGeom>
          <a:solidFill>
            <a:srgbClr val="FFFF00"/>
          </a:solidFill>
          <a:ln w="1143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latin typeface="Roboto"/>
                <a:ea typeface="Roboto"/>
                <a:cs typeface="Roboto"/>
                <a:sym typeface="Roboto"/>
              </a:rPr>
              <a:t>10</a:t>
            </a:r>
            <a:endParaRPr sz="1100">
              <a:latin typeface="Roboto"/>
              <a:ea typeface="Roboto"/>
              <a:cs typeface="Roboto"/>
              <a:sym typeface="Roboto"/>
            </a:endParaRPr>
          </a:p>
        </p:txBody>
      </p:sp>
      <p:sp>
        <p:nvSpPr>
          <p:cNvPr id="895" name="Google Shape;895;p59"/>
          <p:cNvSpPr/>
          <p:nvPr/>
        </p:nvSpPr>
        <p:spPr>
          <a:xfrm>
            <a:off x="5931975" y="2919613"/>
            <a:ext cx="484200" cy="484200"/>
          </a:xfrm>
          <a:prstGeom prst="ellipse">
            <a:avLst/>
          </a:prstGeom>
          <a:solidFill>
            <a:srgbClr val="FFFF00"/>
          </a:solidFill>
          <a:ln w="1143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1</a:t>
            </a:r>
            <a:endParaRPr>
              <a:latin typeface="Roboto"/>
              <a:ea typeface="Roboto"/>
              <a:cs typeface="Roboto"/>
              <a:sym typeface="Roboto"/>
            </a:endParaRPr>
          </a:p>
        </p:txBody>
      </p:sp>
      <p:sp>
        <p:nvSpPr>
          <p:cNvPr id="896" name="Google Shape;896;p59"/>
          <p:cNvSpPr/>
          <p:nvPr/>
        </p:nvSpPr>
        <p:spPr>
          <a:xfrm>
            <a:off x="6569375" y="2919613"/>
            <a:ext cx="484200" cy="484200"/>
          </a:xfrm>
          <a:prstGeom prst="ellipse">
            <a:avLst/>
          </a:prstGeom>
          <a:solidFill>
            <a:srgbClr val="FFFF00"/>
          </a:solidFill>
          <a:ln w="1143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2</a:t>
            </a:r>
            <a:endParaRPr>
              <a:latin typeface="Roboto"/>
              <a:ea typeface="Roboto"/>
              <a:cs typeface="Roboto"/>
              <a:sym typeface="Roboto"/>
            </a:endParaRPr>
          </a:p>
        </p:txBody>
      </p:sp>
      <p:sp>
        <p:nvSpPr>
          <p:cNvPr id="897" name="Google Shape;897;p59"/>
          <p:cNvSpPr/>
          <p:nvPr/>
        </p:nvSpPr>
        <p:spPr>
          <a:xfrm>
            <a:off x="7206775" y="2919613"/>
            <a:ext cx="484200" cy="484200"/>
          </a:xfrm>
          <a:prstGeom prst="ellipse">
            <a:avLst/>
          </a:prstGeom>
          <a:solidFill>
            <a:srgbClr val="FF0000"/>
          </a:solidFill>
          <a:ln w="114300" cap="flat" cmpd="sng">
            <a:solidFill>
              <a:srgbClr val="FF00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3</a:t>
            </a:r>
            <a:endParaRPr>
              <a:latin typeface="Roboto"/>
              <a:ea typeface="Roboto"/>
              <a:cs typeface="Roboto"/>
              <a:sym typeface="Roboto"/>
            </a:endParaRPr>
          </a:p>
        </p:txBody>
      </p:sp>
      <p:sp>
        <p:nvSpPr>
          <p:cNvPr id="898" name="Google Shape;898;p59"/>
          <p:cNvSpPr/>
          <p:nvPr/>
        </p:nvSpPr>
        <p:spPr>
          <a:xfrm>
            <a:off x="7835350" y="2919613"/>
            <a:ext cx="484200" cy="484200"/>
          </a:xfrm>
          <a:prstGeom prst="ellipse">
            <a:avLst/>
          </a:prstGeom>
          <a:solidFill>
            <a:srgbClr val="FFFF00"/>
          </a:solidFill>
          <a:ln w="1143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4</a:t>
            </a:r>
            <a:endParaRPr>
              <a:latin typeface="Roboto"/>
              <a:ea typeface="Roboto"/>
              <a:cs typeface="Roboto"/>
              <a:sym typeface="Roboto"/>
            </a:endParaRPr>
          </a:p>
        </p:txBody>
      </p:sp>
      <p:sp>
        <p:nvSpPr>
          <p:cNvPr id="899" name="Google Shape;899;p59"/>
          <p:cNvSpPr/>
          <p:nvPr/>
        </p:nvSpPr>
        <p:spPr>
          <a:xfrm>
            <a:off x="8472750" y="2919613"/>
            <a:ext cx="484200" cy="484200"/>
          </a:xfrm>
          <a:prstGeom prst="ellipse">
            <a:avLst/>
          </a:prstGeom>
          <a:solidFill>
            <a:srgbClr val="FFFF00"/>
          </a:solidFill>
          <a:ln w="1143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5</a:t>
            </a:r>
            <a:endParaRPr>
              <a:latin typeface="Roboto"/>
              <a:ea typeface="Roboto"/>
              <a:cs typeface="Roboto"/>
              <a:sym typeface="Roboto"/>
            </a:endParaRPr>
          </a:p>
        </p:txBody>
      </p:sp>
      <p:sp>
        <p:nvSpPr>
          <p:cNvPr id="900" name="Google Shape;900;p59"/>
          <p:cNvSpPr/>
          <p:nvPr/>
        </p:nvSpPr>
        <p:spPr>
          <a:xfrm>
            <a:off x="5936388" y="3601975"/>
            <a:ext cx="484200" cy="484200"/>
          </a:xfrm>
          <a:prstGeom prst="ellipse">
            <a:avLst/>
          </a:prstGeom>
          <a:solidFill>
            <a:srgbClr val="FFFF00"/>
          </a:solidFill>
          <a:ln w="1143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6</a:t>
            </a:r>
            <a:endParaRPr>
              <a:latin typeface="Roboto"/>
              <a:ea typeface="Roboto"/>
              <a:cs typeface="Roboto"/>
              <a:sym typeface="Roboto"/>
            </a:endParaRPr>
          </a:p>
        </p:txBody>
      </p:sp>
      <p:sp>
        <p:nvSpPr>
          <p:cNvPr id="901" name="Google Shape;901;p59"/>
          <p:cNvSpPr/>
          <p:nvPr/>
        </p:nvSpPr>
        <p:spPr>
          <a:xfrm>
            <a:off x="6564963" y="3601975"/>
            <a:ext cx="484200" cy="484200"/>
          </a:xfrm>
          <a:prstGeom prst="ellipse">
            <a:avLst/>
          </a:prstGeom>
          <a:solidFill>
            <a:srgbClr val="FFFF00"/>
          </a:solidFill>
          <a:ln w="1143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7</a:t>
            </a:r>
            <a:endParaRPr>
              <a:latin typeface="Roboto"/>
              <a:ea typeface="Roboto"/>
              <a:cs typeface="Roboto"/>
              <a:sym typeface="Roboto"/>
            </a:endParaRPr>
          </a:p>
        </p:txBody>
      </p:sp>
      <p:sp>
        <p:nvSpPr>
          <p:cNvPr id="902" name="Google Shape;902;p59"/>
          <p:cNvSpPr/>
          <p:nvPr/>
        </p:nvSpPr>
        <p:spPr>
          <a:xfrm>
            <a:off x="7202363" y="3601975"/>
            <a:ext cx="484200" cy="484200"/>
          </a:xfrm>
          <a:prstGeom prst="ellipse">
            <a:avLst/>
          </a:prstGeom>
          <a:solidFill>
            <a:srgbClr val="FFFF00"/>
          </a:solidFill>
          <a:ln w="1143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8</a:t>
            </a:r>
            <a:endParaRPr>
              <a:latin typeface="Roboto"/>
              <a:ea typeface="Roboto"/>
              <a:cs typeface="Roboto"/>
              <a:sym typeface="Roboto"/>
            </a:endParaRPr>
          </a:p>
        </p:txBody>
      </p:sp>
      <p:sp>
        <p:nvSpPr>
          <p:cNvPr id="903" name="Google Shape;903;p59"/>
          <p:cNvSpPr/>
          <p:nvPr/>
        </p:nvSpPr>
        <p:spPr>
          <a:xfrm>
            <a:off x="7839763" y="3601975"/>
            <a:ext cx="484200" cy="484200"/>
          </a:xfrm>
          <a:prstGeom prst="ellipse">
            <a:avLst/>
          </a:prstGeom>
          <a:solidFill>
            <a:srgbClr val="FFFF00"/>
          </a:solidFill>
          <a:ln w="1143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9</a:t>
            </a:r>
            <a:endParaRPr>
              <a:latin typeface="Roboto"/>
              <a:ea typeface="Roboto"/>
              <a:cs typeface="Roboto"/>
              <a:sym typeface="Roboto"/>
            </a:endParaRPr>
          </a:p>
        </p:txBody>
      </p:sp>
      <p:sp>
        <p:nvSpPr>
          <p:cNvPr id="904" name="Google Shape;904;p59"/>
          <p:cNvSpPr/>
          <p:nvPr/>
        </p:nvSpPr>
        <p:spPr>
          <a:xfrm>
            <a:off x="8477163" y="3601975"/>
            <a:ext cx="484200" cy="484200"/>
          </a:xfrm>
          <a:prstGeom prst="ellipse">
            <a:avLst/>
          </a:prstGeom>
          <a:solidFill>
            <a:srgbClr val="FFFF00"/>
          </a:solidFill>
          <a:ln w="1143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latin typeface="Roboto"/>
                <a:ea typeface="Roboto"/>
                <a:cs typeface="Roboto"/>
                <a:sym typeface="Roboto"/>
              </a:rPr>
              <a:t>10</a:t>
            </a:r>
            <a:endParaRPr sz="1100">
              <a:latin typeface="Roboto"/>
              <a:ea typeface="Roboto"/>
              <a:cs typeface="Roboto"/>
              <a:sym typeface="Roboto"/>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908"/>
        <p:cNvGrpSpPr/>
        <p:nvPr/>
      </p:nvGrpSpPr>
      <p:grpSpPr>
        <a:xfrm>
          <a:off x="0" y="0"/>
          <a:ext cx="0" cy="0"/>
          <a:chOff x="0" y="0"/>
          <a:chExt cx="0" cy="0"/>
        </a:xfrm>
      </p:grpSpPr>
      <p:sp>
        <p:nvSpPr>
          <p:cNvPr id="909" name="Google Shape;909;p60"/>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More Coins</a:t>
            </a:r>
            <a:endParaRPr/>
          </a:p>
        </p:txBody>
      </p:sp>
      <p:sp>
        <p:nvSpPr>
          <p:cNvPr id="910" name="Google Shape;910;p60"/>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Each weighing triples the number of cases we can manage. So with N weighings, we can have at most 3</a:t>
            </a:r>
            <a:r>
              <a:rPr lang="en" baseline="30000"/>
              <a:t>N</a:t>
            </a:r>
            <a:r>
              <a:rPr lang="en"/>
              <a:t> leaves in our decision tree. This means that if we have &gt;3</a:t>
            </a:r>
            <a:r>
              <a:rPr lang="en" baseline="30000"/>
              <a:t>N</a:t>
            </a:r>
            <a:r>
              <a:rPr lang="en"/>
              <a:t> coins, we have proven that no algorithm exists.</a:t>
            </a:r>
            <a:endParaRPr/>
          </a:p>
          <a:p>
            <a:pPr marL="0" lvl="0" indent="0" algn="l" rtl="0">
              <a:spcBef>
                <a:spcPts val="600"/>
              </a:spcBef>
              <a:spcAft>
                <a:spcPts val="0"/>
              </a:spcAft>
              <a:buNone/>
            </a:pPr>
            <a:r>
              <a:rPr lang="en"/>
              <a:t>Does the converse hold true?</a:t>
            </a:r>
            <a:endParaRPr/>
          </a:p>
          <a:p>
            <a:pPr marL="0" lvl="0" indent="0" algn="l" rtl="0">
              <a:spcBef>
                <a:spcPts val="600"/>
              </a:spcBef>
              <a:spcAft>
                <a:spcPts val="0"/>
              </a:spcAft>
              <a:buNone/>
            </a:pPr>
            <a:r>
              <a:rPr lang="en"/>
              <a:t>	If we have X &lt;= 3</a:t>
            </a:r>
            <a:r>
              <a:rPr lang="en" baseline="30000"/>
              <a:t>N</a:t>
            </a:r>
            <a:r>
              <a:rPr lang="en"/>
              <a:t> coins, does our proof guarantee an algorithm exist?</a:t>
            </a:r>
            <a:endParaRPr/>
          </a:p>
          <a:p>
            <a:pPr marL="0" lvl="0" indent="0" algn="l" rtl="0">
              <a:spcBef>
                <a:spcPts val="600"/>
              </a:spcBef>
              <a:spcAft>
                <a:spcPts val="0"/>
              </a:spcAft>
              <a:buNone/>
            </a:pPr>
            <a:r>
              <a:rPr lang="en"/>
              <a:t>In this case, we can find an algorithm for X coins as long as the condition holds, but this isn't necessarily true. Let's look at a slightly different version of this problem.</a:t>
            </a:r>
            <a:endParaRPr/>
          </a:p>
        </p:txBody>
      </p:sp>
      <p:pic>
        <p:nvPicPr>
          <p:cNvPr id="911" name="Google Shape;911;p60"/>
          <p:cNvPicPr preferRelativeResize="0"/>
          <p:nvPr/>
        </p:nvPicPr>
        <p:blipFill>
          <a:blip r:embed="rId3">
            <a:alphaModFix/>
          </a:blip>
          <a:stretch>
            <a:fillRect/>
          </a:stretch>
        </p:blipFill>
        <p:spPr>
          <a:xfrm>
            <a:off x="7081474" y="3143674"/>
            <a:ext cx="2051075" cy="1774176"/>
          </a:xfrm>
          <a:prstGeom prst="rect">
            <a:avLst/>
          </a:prstGeom>
          <a:noFill/>
          <a:ln>
            <a:noFill/>
          </a:ln>
        </p:spPr>
      </p:pic>
      <p:sp>
        <p:nvSpPr>
          <p:cNvPr id="912" name="Google Shape;912;p60"/>
          <p:cNvSpPr/>
          <p:nvPr/>
        </p:nvSpPr>
        <p:spPr>
          <a:xfrm>
            <a:off x="479825" y="3334400"/>
            <a:ext cx="484200" cy="484200"/>
          </a:xfrm>
          <a:prstGeom prst="ellipse">
            <a:avLst/>
          </a:prstGeom>
          <a:solidFill>
            <a:srgbClr val="FFFF00"/>
          </a:solidFill>
          <a:ln w="1143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1</a:t>
            </a:r>
            <a:endParaRPr>
              <a:latin typeface="Roboto"/>
              <a:ea typeface="Roboto"/>
              <a:cs typeface="Roboto"/>
              <a:sym typeface="Roboto"/>
            </a:endParaRPr>
          </a:p>
        </p:txBody>
      </p:sp>
      <p:sp>
        <p:nvSpPr>
          <p:cNvPr id="913" name="Google Shape;913;p60"/>
          <p:cNvSpPr/>
          <p:nvPr/>
        </p:nvSpPr>
        <p:spPr>
          <a:xfrm>
            <a:off x="1117225" y="3334400"/>
            <a:ext cx="484200" cy="484200"/>
          </a:xfrm>
          <a:prstGeom prst="ellipse">
            <a:avLst/>
          </a:prstGeom>
          <a:solidFill>
            <a:srgbClr val="FFFF00"/>
          </a:solidFill>
          <a:ln w="1143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2</a:t>
            </a:r>
            <a:endParaRPr>
              <a:latin typeface="Roboto"/>
              <a:ea typeface="Roboto"/>
              <a:cs typeface="Roboto"/>
              <a:sym typeface="Roboto"/>
            </a:endParaRPr>
          </a:p>
        </p:txBody>
      </p:sp>
      <p:sp>
        <p:nvSpPr>
          <p:cNvPr id="914" name="Google Shape;914;p60"/>
          <p:cNvSpPr/>
          <p:nvPr/>
        </p:nvSpPr>
        <p:spPr>
          <a:xfrm>
            <a:off x="1754625" y="3334400"/>
            <a:ext cx="484200" cy="484200"/>
          </a:xfrm>
          <a:prstGeom prst="ellipse">
            <a:avLst/>
          </a:prstGeom>
          <a:solidFill>
            <a:srgbClr val="FFFF00"/>
          </a:solidFill>
          <a:ln w="1143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3</a:t>
            </a:r>
            <a:endParaRPr>
              <a:latin typeface="Roboto"/>
              <a:ea typeface="Roboto"/>
              <a:cs typeface="Roboto"/>
              <a:sym typeface="Roboto"/>
            </a:endParaRPr>
          </a:p>
        </p:txBody>
      </p:sp>
      <p:sp>
        <p:nvSpPr>
          <p:cNvPr id="915" name="Google Shape;915;p60"/>
          <p:cNvSpPr/>
          <p:nvPr/>
        </p:nvSpPr>
        <p:spPr>
          <a:xfrm>
            <a:off x="2383200" y="3334400"/>
            <a:ext cx="484200" cy="484200"/>
          </a:xfrm>
          <a:prstGeom prst="ellipse">
            <a:avLst/>
          </a:prstGeom>
          <a:solidFill>
            <a:srgbClr val="FFFF00"/>
          </a:solidFill>
          <a:ln w="1143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4</a:t>
            </a:r>
            <a:endParaRPr>
              <a:latin typeface="Roboto"/>
              <a:ea typeface="Roboto"/>
              <a:cs typeface="Roboto"/>
              <a:sym typeface="Roboto"/>
            </a:endParaRPr>
          </a:p>
        </p:txBody>
      </p:sp>
      <p:sp>
        <p:nvSpPr>
          <p:cNvPr id="916" name="Google Shape;916;p60"/>
          <p:cNvSpPr/>
          <p:nvPr/>
        </p:nvSpPr>
        <p:spPr>
          <a:xfrm>
            <a:off x="3020600" y="3334400"/>
            <a:ext cx="484200" cy="484200"/>
          </a:xfrm>
          <a:prstGeom prst="ellipse">
            <a:avLst/>
          </a:prstGeom>
          <a:solidFill>
            <a:srgbClr val="FFFF00"/>
          </a:solidFill>
          <a:ln w="1143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5</a:t>
            </a:r>
            <a:endParaRPr>
              <a:latin typeface="Roboto"/>
              <a:ea typeface="Roboto"/>
              <a:cs typeface="Roboto"/>
              <a:sym typeface="Roboto"/>
            </a:endParaRPr>
          </a:p>
        </p:txBody>
      </p:sp>
      <p:sp>
        <p:nvSpPr>
          <p:cNvPr id="917" name="Google Shape;917;p60"/>
          <p:cNvSpPr/>
          <p:nvPr/>
        </p:nvSpPr>
        <p:spPr>
          <a:xfrm>
            <a:off x="3658000" y="3334400"/>
            <a:ext cx="484200" cy="484200"/>
          </a:xfrm>
          <a:prstGeom prst="ellipse">
            <a:avLst/>
          </a:prstGeom>
          <a:solidFill>
            <a:srgbClr val="FFFF00"/>
          </a:solidFill>
          <a:ln w="1143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6</a:t>
            </a:r>
            <a:endParaRPr>
              <a:latin typeface="Roboto"/>
              <a:ea typeface="Roboto"/>
              <a:cs typeface="Roboto"/>
              <a:sym typeface="Roboto"/>
            </a:endParaRPr>
          </a:p>
        </p:txBody>
      </p:sp>
      <p:sp>
        <p:nvSpPr>
          <p:cNvPr id="918" name="Google Shape;918;p60"/>
          <p:cNvSpPr/>
          <p:nvPr/>
        </p:nvSpPr>
        <p:spPr>
          <a:xfrm>
            <a:off x="4286575" y="3334400"/>
            <a:ext cx="484200" cy="484200"/>
          </a:xfrm>
          <a:prstGeom prst="ellipse">
            <a:avLst/>
          </a:prstGeom>
          <a:solidFill>
            <a:srgbClr val="FFFF00"/>
          </a:solidFill>
          <a:ln w="1143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a:t>
            </a:r>
            <a:endParaRPr>
              <a:latin typeface="Roboto"/>
              <a:ea typeface="Roboto"/>
              <a:cs typeface="Roboto"/>
              <a:sym typeface="Roboto"/>
            </a:endParaRPr>
          </a:p>
        </p:txBody>
      </p:sp>
      <p:sp>
        <p:nvSpPr>
          <p:cNvPr id="919" name="Google Shape;919;p60"/>
          <p:cNvSpPr/>
          <p:nvPr/>
        </p:nvSpPr>
        <p:spPr>
          <a:xfrm>
            <a:off x="4923975" y="3334400"/>
            <a:ext cx="484200" cy="484200"/>
          </a:xfrm>
          <a:prstGeom prst="ellipse">
            <a:avLst/>
          </a:prstGeom>
          <a:solidFill>
            <a:srgbClr val="FFFF00"/>
          </a:solidFill>
          <a:ln w="1143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a:t>
            </a:r>
            <a:endParaRPr>
              <a:latin typeface="Roboto"/>
              <a:ea typeface="Roboto"/>
              <a:cs typeface="Roboto"/>
              <a:sym typeface="Roboto"/>
            </a:endParaRPr>
          </a:p>
        </p:txBody>
      </p:sp>
      <p:sp>
        <p:nvSpPr>
          <p:cNvPr id="920" name="Google Shape;920;p60"/>
          <p:cNvSpPr/>
          <p:nvPr/>
        </p:nvSpPr>
        <p:spPr>
          <a:xfrm>
            <a:off x="5561375" y="3334400"/>
            <a:ext cx="484200" cy="484200"/>
          </a:xfrm>
          <a:prstGeom prst="ellipse">
            <a:avLst/>
          </a:prstGeom>
          <a:solidFill>
            <a:srgbClr val="FFFF00"/>
          </a:solidFill>
          <a:ln w="1143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a:t>
            </a:r>
            <a:endParaRPr>
              <a:latin typeface="Roboto"/>
              <a:ea typeface="Roboto"/>
              <a:cs typeface="Roboto"/>
              <a:sym typeface="Roboto"/>
            </a:endParaRPr>
          </a:p>
        </p:txBody>
      </p:sp>
      <p:sp>
        <p:nvSpPr>
          <p:cNvPr id="921" name="Google Shape;921;p60"/>
          <p:cNvSpPr/>
          <p:nvPr/>
        </p:nvSpPr>
        <p:spPr>
          <a:xfrm>
            <a:off x="6198775" y="3334400"/>
            <a:ext cx="484200" cy="484200"/>
          </a:xfrm>
          <a:prstGeom prst="ellipse">
            <a:avLst/>
          </a:prstGeom>
          <a:solidFill>
            <a:srgbClr val="FFFF00"/>
          </a:solidFill>
          <a:ln w="1143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latin typeface="Roboto"/>
                <a:ea typeface="Roboto"/>
                <a:cs typeface="Roboto"/>
                <a:sym typeface="Roboto"/>
              </a:rPr>
              <a:t>X</a:t>
            </a:r>
            <a:endParaRPr sz="1100">
              <a:latin typeface="Roboto"/>
              <a:ea typeface="Roboto"/>
              <a:cs typeface="Roboto"/>
              <a:sym typeface="Roboto"/>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D9D2E9"/>
        </a:solidFill>
        <a:effectLst/>
      </p:bgPr>
    </p:bg>
    <p:spTree>
      <p:nvGrpSpPr>
        <p:cNvPr id="1" name="Shape 925"/>
        <p:cNvGrpSpPr/>
        <p:nvPr/>
      </p:nvGrpSpPr>
      <p:grpSpPr>
        <a:xfrm>
          <a:off x="0" y="0"/>
          <a:ext cx="0" cy="0"/>
          <a:chOff x="0" y="0"/>
          <a:chExt cx="0" cy="0"/>
        </a:xfrm>
      </p:grpSpPr>
      <p:sp>
        <p:nvSpPr>
          <p:cNvPr id="926" name="Google Shape;926;p61"/>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12/13 Coins</a:t>
            </a:r>
            <a:r>
              <a:rPr lang="en">
                <a:solidFill>
                  <a:schemeClr val="accent3"/>
                </a:solidFill>
              </a:rPr>
              <a:t>: yellkey.com</a:t>
            </a:r>
            <a:r>
              <a:rPr lang="en">
                <a:solidFill>
                  <a:srgbClr val="38761D"/>
                </a:solidFill>
              </a:rPr>
              <a:t>/year</a:t>
            </a:r>
            <a:endParaRPr/>
          </a:p>
        </p:txBody>
      </p:sp>
      <p:sp>
        <p:nvSpPr>
          <p:cNvPr id="927" name="Google Shape;927;p61"/>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sz="1600"/>
              <a:t>This time, the counterfeit coin can either be slightly lighter, or slightly heavier than all the other coins. We want to know both which coin is counterfeit, and whether it was heavier, or lighter. This time, we can use the scale 3 times, so in theory, we can handle 27 universes. Which of the following are possible?</a:t>
            </a:r>
            <a:endParaRPr sz="1600"/>
          </a:p>
          <a:p>
            <a:pPr marL="457200" lvl="0" indent="-330200" algn="l" rtl="0">
              <a:spcBef>
                <a:spcPts val="600"/>
              </a:spcBef>
              <a:spcAft>
                <a:spcPts val="0"/>
              </a:spcAft>
              <a:buSzPts val="1600"/>
              <a:buAutoNum type="alphaUcPeriod"/>
            </a:pPr>
            <a:r>
              <a:rPr lang="en" sz="1600"/>
              <a:t>12 coins (24 universes)</a:t>
            </a:r>
            <a:endParaRPr sz="1600"/>
          </a:p>
          <a:p>
            <a:pPr marL="457200" lvl="0" indent="-330200" algn="l" rtl="0">
              <a:spcBef>
                <a:spcPts val="0"/>
              </a:spcBef>
              <a:spcAft>
                <a:spcPts val="0"/>
              </a:spcAft>
              <a:buSzPts val="1600"/>
              <a:buAutoNum type="alphaUcPeriod"/>
            </a:pPr>
            <a:r>
              <a:rPr lang="en" sz="1600"/>
              <a:t>12 coins if we have a 13th reference coin that is guaranteed to be real</a:t>
            </a:r>
            <a:endParaRPr sz="1600"/>
          </a:p>
          <a:p>
            <a:pPr marL="457200" lvl="0" indent="-330200" algn="l" rtl="0">
              <a:spcBef>
                <a:spcPts val="0"/>
              </a:spcBef>
              <a:spcAft>
                <a:spcPts val="0"/>
              </a:spcAft>
              <a:buSzPts val="1600"/>
              <a:buAutoNum type="alphaUcPeriod"/>
            </a:pPr>
            <a:r>
              <a:rPr lang="en" sz="1600"/>
              <a:t>12 coins if we don't care about whether the counterfeit is heavier or lighter</a:t>
            </a:r>
            <a:endParaRPr sz="1600"/>
          </a:p>
          <a:p>
            <a:pPr marL="457200" lvl="0" indent="-330200" algn="l" rtl="0">
              <a:spcBef>
                <a:spcPts val="0"/>
              </a:spcBef>
              <a:spcAft>
                <a:spcPts val="0"/>
              </a:spcAft>
              <a:buSzPts val="1600"/>
              <a:buAutoNum type="alphaUcPeriod"/>
            </a:pPr>
            <a:r>
              <a:rPr lang="en" sz="1600"/>
              <a:t>13 coins (26 universes)</a:t>
            </a:r>
            <a:endParaRPr sz="1600"/>
          </a:p>
          <a:p>
            <a:pPr marL="457200" lvl="0" indent="-330200" algn="l" rtl="0">
              <a:spcBef>
                <a:spcPts val="0"/>
              </a:spcBef>
              <a:spcAft>
                <a:spcPts val="0"/>
              </a:spcAft>
              <a:buSzPts val="1600"/>
              <a:buAutoNum type="alphaUcPeriod"/>
            </a:pPr>
            <a:r>
              <a:rPr lang="en" sz="1600"/>
              <a:t>13 coins if we have a 14th reference coin that is guaranteed to be real</a:t>
            </a:r>
            <a:endParaRPr sz="1600"/>
          </a:p>
          <a:p>
            <a:pPr marL="457200" lvl="0" indent="-330200" algn="l" rtl="0">
              <a:spcBef>
                <a:spcPts val="0"/>
              </a:spcBef>
              <a:spcAft>
                <a:spcPts val="0"/>
              </a:spcAft>
              <a:buSzPts val="1600"/>
              <a:buAutoNum type="alphaUcPeriod"/>
            </a:pPr>
            <a:r>
              <a:rPr lang="en" sz="1600"/>
              <a:t>13 coins if we don't care about whether the counterfeit is heavier or lighter</a:t>
            </a:r>
            <a:endParaRPr sz="1600"/>
          </a:p>
        </p:txBody>
      </p:sp>
      <p:pic>
        <p:nvPicPr>
          <p:cNvPr id="928" name="Google Shape;928;p61"/>
          <p:cNvPicPr preferRelativeResize="0"/>
          <p:nvPr/>
        </p:nvPicPr>
        <p:blipFill>
          <a:blip r:embed="rId3">
            <a:alphaModFix/>
          </a:blip>
          <a:stretch>
            <a:fillRect/>
          </a:stretch>
        </p:blipFill>
        <p:spPr>
          <a:xfrm>
            <a:off x="7081474" y="3143674"/>
            <a:ext cx="2051075" cy="1774176"/>
          </a:xfrm>
          <a:prstGeom prst="rect">
            <a:avLst/>
          </a:prstGeom>
          <a:noFill/>
          <a:ln>
            <a:noFill/>
          </a:ln>
        </p:spPr>
      </p:pic>
      <p:sp>
        <p:nvSpPr>
          <p:cNvPr id="929" name="Google Shape;929;p61"/>
          <p:cNvSpPr/>
          <p:nvPr/>
        </p:nvSpPr>
        <p:spPr>
          <a:xfrm>
            <a:off x="479825" y="3639200"/>
            <a:ext cx="484200" cy="484200"/>
          </a:xfrm>
          <a:prstGeom prst="ellipse">
            <a:avLst/>
          </a:prstGeom>
          <a:solidFill>
            <a:srgbClr val="FFFF00"/>
          </a:solidFill>
          <a:ln w="1143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1</a:t>
            </a:r>
            <a:endParaRPr>
              <a:latin typeface="Roboto"/>
              <a:ea typeface="Roboto"/>
              <a:cs typeface="Roboto"/>
              <a:sym typeface="Roboto"/>
            </a:endParaRPr>
          </a:p>
        </p:txBody>
      </p:sp>
      <p:sp>
        <p:nvSpPr>
          <p:cNvPr id="930" name="Google Shape;930;p61"/>
          <p:cNvSpPr/>
          <p:nvPr/>
        </p:nvSpPr>
        <p:spPr>
          <a:xfrm>
            <a:off x="1117225" y="3639200"/>
            <a:ext cx="484200" cy="484200"/>
          </a:xfrm>
          <a:prstGeom prst="ellipse">
            <a:avLst/>
          </a:prstGeom>
          <a:solidFill>
            <a:srgbClr val="FFFF00"/>
          </a:solidFill>
          <a:ln w="1143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2</a:t>
            </a:r>
            <a:endParaRPr>
              <a:latin typeface="Roboto"/>
              <a:ea typeface="Roboto"/>
              <a:cs typeface="Roboto"/>
              <a:sym typeface="Roboto"/>
            </a:endParaRPr>
          </a:p>
        </p:txBody>
      </p:sp>
      <p:sp>
        <p:nvSpPr>
          <p:cNvPr id="931" name="Google Shape;931;p61"/>
          <p:cNvSpPr/>
          <p:nvPr/>
        </p:nvSpPr>
        <p:spPr>
          <a:xfrm>
            <a:off x="1754625" y="3639200"/>
            <a:ext cx="484200" cy="484200"/>
          </a:xfrm>
          <a:prstGeom prst="ellipse">
            <a:avLst/>
          </a:prstGeom>
          <a:solidFill>
            <a:srgbClr val="FFFF00"/>
          </a:solidFill>
          <a:ln w="1143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3</a:t>
            </a:r>
            <a:endParaRPr>
              <a:latin typeface="Roboto"/>
              <a:ea typeface="Roboto"/>
              <a:cs typeface="Roboto"/>
              <a:sym typeface="Roboto"/>
            </a:endParaRPr>
          </a:p>
        </p:txBody>
      </p:sp>
      <p:sp>
        <p:nvSpPr>
          <p:cNvPr id="932" name="Google Shape;932;p61"/>
          <p:cNvSpPr/>
          <p:nvPr/>
        </p:nvSpPr>
        <p:spPr>
          <a:xfrm>
            <a:off x="2383200" y="3639200"/>
            <a:ext cx="484200" cy="484200"/>
          </a:xfrm>
          <a:prstGeom prst="ellipse">
            <a:avLst/>
          </a:prstGeom>
          <a:solidFill>
            <a:srgbClr val="FFFF00"/>
          </a:solidFill>
          <a:ln w="1143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4</a:t>
            </a:r>
            <a:endParaRPr>
              <a:latin typeface="Roboto"/>
              <a:ea typeface="Roboto"/>
              <a:cs typeface="Roboto"/>
              <a:sym typeface="Roboto"/>
            </a:endParaRPr>
          </a:p>
        </p:txBody>
      </p:sp>
      <p:sp>
        <p:nvSpPr>
          <p:cNvPr id="933" name="Google Shape;933;p61"/>
          <p:cNvSpPr/>
          <p:nvPr/>
        </p:nvSpPr>
        <p:spPr>
          <a:xfrm>
            <a:off x="3020600" y="3639200"/>
            <a:ext cx="484200" cy="484200"/>
          </a:xfrm>
          <a:prstGeom prst="ellipse">
            <a:avLst/>
          </a:prstGeom>
          <a:solidFill>
            <a:srgbClr val="FFFF00"/>
          </a:solidFill>
          <a:ln w="1143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5</a:t>
            </a:r>
            <a:endParaRPr>
              <a:latin typeface="Roboto"/>
              <a:ea typeface="Roboto"/>
              <a:cs typeface="Roboto"/>
              <a:sym typeface="Roboto"/>
            </a:endParaRPr>
          </a:p>
        </p:txBody>
      </p:sp>
      <p:sp>
        <p:nvSpPr>
          <p:cNvPr id="934" name="Google Shape;934;p61"/>
          <p:cNvSpPr/>
          <p:nvPr/>
        </p:nvSpPr>
        <p:spPr>
          <a:xfrm>
            <a:off x="3658000" y="3639200"/>
            <a:ext cx="484200" cy="484200"/>
          </a:xfrm>
          <a:prstGeom prst="ellipse">
            <a:avLst/>
          </a:prstGeom>
          <a:solidFill>
            <a:srgbClr val="FFFF00"/>
          </a:solidFill>
          <a:ln w="1143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6</a:t>
            </a:r>
            <a:endParaRPr>
              <a:latin typeface="Roboto"/>
              <a:ea typeface="Roboto"/>
              <a:cs typeface="Roboto"/>
              <a:sym typeface="Roboto"/>
            </a:endParaRPr>
          </a:p>
        </p:txBody>
      </p:sp>
      <p:sp>
        <p:nvSpPr>
          <p:cNvPr id="935" name="Google Shape;935;p61"/>
          <p:cNvSpPr/>
          <p:nvPr/>
        </p:nvSpPr>
        <p:spPr>
          <a:xfrm>
            <a:off x="4295400" y="3639200"/>
            <a:ext cx="484200" cy="484200"/>
          </a:xfrm>
          <a:prstGeom prst="ellipse">
            <a:avLst/>
          </a:prstGeom>
          <a:solidFill>
            <a:srgbClr val="FFFF00"/>
          </a:solidFill>
          <a:ln w="1143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7</a:t>
            </a:r>
            <a:endParaRPr>
              <a:latin typeface="Roboto"/>
              <a:ea typeface="Roboto"/>
              <a:cs typeface="Roboto"/>
              <a:sym typeface="Roboto"/>
            </a:endParaRPr>
          </a:p>
        </p:txBody>
      </p:sp>
      <p:sp>
        <p:nvSpPr>
          <p:cNvPr id="936" name="Google Shape;936;p61"/>
          <p:cNvSpPr/>
          <p:nvPr/>
        </p:nvSpPr>
        <p:spPr>
          <a:xfrm>
            <a:off x="479825" y="4293100"/>
            <a:ext cx="484200" cy="484200"/>
          </a:xfrm>
          <a:prstGeom prst="ellipse">
            <a:avLst/>
          </a:prstGeom>
          <a:solidFill>
            <a:srgbClr val="FFFF00"/>
          </a:solidFill>
          <a:ln w="1143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8</a:t>
            </a:r>
            <a:endParaRPr>
              <a:latin typeface="Roboto"/>
              <a:ea typeface="Roboto"/>
              <a:cs typeface="Roboto"/>
              <a:sym typeface="Roboto"/>
            </a:endParaRPr>
          </a:p>
        </p:txBody>
      </p:sp>
      <p:sp>
        <p:nvSpPr>
          <p:cNvPr id="937" name="Google Shape;937;p61"/>
          <p:cNvSpPr/>
          <p:nvPr/>
        </p:nvSpPr>
        <p:spPr>
          <a:xfrm>
            <a:off x="1117225" y="4293100"/>
            <a:ext cx="484200" cy="484200"/>
          </a:xfrm>
          <a:prstGeom prst="ellipse">
            <a:avLst/>
          </a:prstGeom>
          <a:solidFill>
            <a:srgbClr val="FFFF00"/>
          </a:solidFill>
          <a:ln w="1143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9</a:t>
            </a:r>
            <a:endParaRPr>
              <a:latin typeface="Roboto"/>
              <a:ea typeface="Roboto"/>
              <a:cs typeface="Roboto"/>
              <a:sym typeface="Roboto"/>
            </a:endParaRPr>
          </a:p>
        </p:txBody>
      </p:sp>
      <p:sp>
        <p:nvSpPr>
          <p:cNvPr id="938" name="Google Shape;938;p61"/>
          <p:cNvSpPr/>
          <p:nvPr/>
        </p:nvSpPr>
        <p:spPr>
          <a:xfrm>
            <a:off x="1754625" y="4293100"/>
            <a:ext cx="484200" cy="484200"/>
          </a:xfrm>
          <a:prstGeom prst="ellipse">
            <a:avLst/>
          </a:prstGeom>
          <a:solidFill>
            <a:srgbClr val="FFFF00"/>
          </a:solidFill>
          <a:ln w="1143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latin typeface="Roboto"/>
                <a:ea typeface="Roboto"/>
                <a:cs typeface="Roboto"/>
                <a:sym typeface="Roboto"/>
              </a:rPr>
              <a:t>A</a:t>
            </a:r>
            <a:endParaRPr sz="1100">
              <a:latin typeface="Roboto"/>
              <a:ea typeface="Roboto"/>
              <a:cs typeface="Roboto"/>
              <a:sym typeface="Roboto"/>
            </a:endParaRPr>
          </a:p>
        </p:txBody>
      </p:sp>
      <p:sp>
        <p:nvSpPr>
          <p:cNvPr id="939" name="Google Shape;939;p61"/>
          <p:cNvSpPr/>
          <p:nvPr/>
        </p:nvSpPr>
        <p:spPr>
          <a:xfrm>
            <a:off x="2383200" y="4293100"/>
            <a:ext cx="484200" cy="484200"/>
          </a:xfrm>
          <a:prstGeom prst="ellipse">
            <a:avLst/>
          </a:prstGeom>
          <a:solidFill>
            <a:srgbClr val="FFFF00"/>
          </a:solidFill>
          <a:ln w="1143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latin typeface="Roboto"/>
                <a:ea typeface="Roboto"/>
                <a:cs typeface="Roboto"/>
                <a:sym typeface="Roboto"/>
              </a:rPr>
              <a:t>B</a:t>
            </a:r>
            <a:endParaRPr sz="1100">
              <a:latin typeface="Roboto"/>
              <a:ea typeface="Roboto"/>
              <a:cs typeface="Roboto"/>
              <a:sym typeface="Roboto"/>
            </a:endParaRPr>
          </a:p>
        </p:txBody>
      </p:sp>
      <p:sp>
        <p:nvSpPr>
          <p:cNvPr id="940" name="Google Shape;940;p61"/>
          <p:cNvSpPr/>
          <p:nvPr/>
        </p:nvSpPr>
        <p:spPr>
          <a:xfrm>
            <a:off x="3020600" y="4293100"/>
            <a:ext cx="484200" cy="484200"/>
          </a:xfrm>
          <a:prstGeom prst="ellipse">
            <a:avLst/>
          </a:prstGeom>
          <a:solidFill>
            <a:srgbClr val="FFFF00"/>
          </a:solidFill>
          <a:ln w="1143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latin typeface="Roboto"/>
                <a:ea typeface="Roboto"/>
                <a:cs typeface="Roboto"/>
                <a:sym typeface="Roboto"/>
              </a:rPr>
              <a:t>C</a:t>
            </a:r>
            <a:endParaRPr sz="1100">
              <a:latin typeface="Roboto"/>
              <a:ea typeface="Roboto"/>
              <a:cs typeface="Roboto"/>
              <a:sym typeface="Roboto"/>
            </a:endParaRPr>
          </a:p>
        </p:txBody>
      </p:sp>
      <p:sp>
        <p:nvSpPr>
          <p:cNvPr id="941" name="Google Shape;941;p61"/>
          <p:cNvSpPr/>
          <p:nvPr/>
        </p:nvSpPr>
        <p:spPr>
          <a:xfrm>
            <a:off x="3658000" y="4293100"/>
            <a:ext cx="484200" cy="484200"/>
          </a:xfrm>
          <a:prstGeom prst="ellipse">
            <a:avLst/>
          </a:prstGeom>
          <a:solidFill>
            <a:srgbClr val="FFFF00"/>
          </a:solidFill>
          <a:ln w="1143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latin typeface="Roboto"/>
                <a:ea typeface="Roboto"/>
                <a:cs typeface="Roboto"/>
                <a:sym typeface="Roboto"/>
              </a:rPr>
              <a:t>D</a:t>
            </a:r>
            <a:endParaRPr sz="1100">
              <a:latin typeface="Roboto"/>
              <a:ea typeface="Roboto"/>
              <a:cs typeface="Roboto"/>
              <a:sym typeface="Roboto"/>
            </a:endParaRPr>
          </a:p>
        </p:txBody>
      </p:sp>
      <p:sp>
        <p:nvSpPr>
          <p:cNvPr id="942" name="Google Shape;942;p61"/>
          <p:cNvSpPr/>
          <p:nvPr/>
        </p:nvSpPr>
        <p:spPr>
          <a:xfrm>
            <a:off x="4295400" y="4293100"/>
            <a:ext cx="484200" cy="484200"/>
          </a:xfrm>
          <a:prstGeom prst="ellipse">
            <a:avLst/>
          </a:prstGeom>
          <a:solidFill>
            <a:srgbClr val="00FF00"/>
          </a:solidFill>
          <a:ln w="114300" cap="flat" cmpd="sng">
            <a:solidFill>
              <a:srgbClr val="00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latin typeface="Roboto"/>
                <a:ea typeface="Roboto"/>
                <a:cs typeface="Roboto"/>
                <a:sym typeface="Roboto"/>
              </a:rPr>
              <a:t>R</a:t>
            </a:r>
            <a:endParaRPr sz="1100">
              <a:latin typeface="Roboto"/>
              <a:ea typeface="Roboto"/>
              <a:cs typeface="Roboto"/>
              <a:sym typeface="Roboto"/>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946"/>
        <p:cNvGrpSpPr/>
        <p:nvPr/>
      </p:nvGrpSpPr>
      <p:grpSpPr>
        <a:xfrm>
          <a:off x="0" y="0"/>
          <a:ext cx="0" cy="0"/>
          <a:chOff x="0" y="0"/>
          <a:chExt cx="0" cy="0"/>
        </a:xfrm>
      </p:grpSpPr>
      <p:sp>
        <p:nvSpPr>
          <p:cNvPr id="947" name="Google Shape;947;p62"/>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12 Coins: Solution</a:t>
            </a:r>
            <a:endParaRPr/>
          </a:p>
        </p:txBody>
      </p:sp>
      <p:sp>
        <p:nvSpPr>
          <p:cNvPr id="948" name="Google Shape;948;p62"/>
          <p:cNvSpPr txBox="1">
            <a:spLocks noGrp="1"/>
          </p:cNvSpPr>
          <p:nvPr>
            <p:ph type="body" idx="1"/>
          </p:nvPr>
        </p:nvSpPr>
        <p:spPr>
          <a:xfrm>
            <a:off x="107050" y="402200"/>
            <a:ext cx="8520600" cy="557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For 12 coins, this is possible (and by extension the other 12-coin puzzles)</a:t>
            </a:r>
            <a:endParaRPr/>
          </a:p>
        </p:txBody>
      </p:sp>
      <p:sp>
        <p:nvSpPr>
          <p:cNvPr id="949" name="Google Shape;949;p62"/>
          <p:cNvSpPr/>
          <p:nvPr/>
        </p:nvSpPr>
        <p:spPr>
          <a:xfrm>
            <a:off x="3649350" y="2509200"/>
            <a:ext cx="1221900" cy="5103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300"/>
              <a:t>1234 vs 5678</a:t>
            </a:r>
            <a:endParaRPr sz="1300"/>
          </a:p>
        </p:txBody>
      </p:sp>
      <p:sp>
        <p:nvSpPr>
          <p:cNvPr id="950" name="Google Shape;950;p62"/>
          <p:cNvSpPr/>
          <p:nvPr/>
        </p:nvSpPr>
        <p:spPr>
          <a:xfrm>
            <a:off x="870200" y="3237250"/>
            <a:ext cx="1221900" cy="593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125 vs 346</a:t>
            </a:r>
            <a:endParaRPr/>
          </a:p>
        </p:txBody>
      </p:sp>
      <p:sp>
        <p:nvSpPr>
          <p:cNvPr id="951" name="Google Shape;951;p62"/>
          <p:cNvSpPr/>
          <p:nvPr/>
        </p:nvSpPr>
        <p:spPr>
          <a:xfrm>
            <a:off x="3649350" y="3237250"/>
            <a:ext cx="1221900" cy="593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9A vs 1B</a:t>
            </a:r>
            <a:endParaRPr/>
          </a:p>
        </p:txBody>
      </p:sp>
      <p:sp>
        <p:nvSpPr>
          <p:cNvPr id="952" name="Google Shape;952;p62"/>
          <p:cNvSpPr/>
          <p:nvPr/>
        </p:nvSpPr>
        <p:spPr>
          <a:xfrm>
            <a:off x="6428500" y="3237250"/>
            <a:ext cx="1221900" cy="593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156 vs 278</a:t>
            </a:r>
            <a:endParaRPr/>
          </a:p>
        </p:txBody>
      </p:sp>
      <p:cxnSp>
        <p:nvCxnSpPr>
          <p:cNvPr id="953" name="Google Shape;953;p62"/>
          <p:cNvCxnSpPr>
            <a:stCxn id="949" idx="2"/>
            <a:endCxn id="950" idx="0"/>
          </p:cNvCxnSpPr>
          <p:nvPr/>
        </p:nvCxnSpPr>
        <p:spPr>
          <a:xfrm flipH="1">
            <a:off x="1481100" y="3019500"/>
            <a:ext cx="2779200" cy="217800"/>
          </a:xfrm>
          <a:prstGeom prst="straightConnector1">
            <a:avLst/>
          </a:prstGeom>
          <a:noFill/>
          <a:ln w="38100" cap="flat" cmpd="sng">
            <a:solidFill>
              <a:srgbClr val="FF0000"/>
            </a:solidFill>
            <a:prstDash val="solid"/>
            <a:round/>
            <a:headEnd type="none" w="med" len="med"/>
            <a:tailEnd type="none" w="med" len="med"/>
          </a:ln>
        </p:spPr>
      </p:cxnSp>
      <p:cxnSp>
        <p:nvCxnSpPr>
          <p:cNvPr id="954" name="Google Shape;954;p62"/>
          <p:cNvCxnSpPr>
            <a:stCxn id="949" idx="2"/>
            <a:endCxn id="951" idx="0"/>
          </p:cNvCxnSpPr>
          <p:nvPr/>
        </p:nvCxnSpPr>
        <p:spPr>
          <a:xfrm>
            <a:off x="4260300" y="3019500"/>
            <a:ext cx="0" cy="217800"/>
          </a:xfrm>
          <a:prstGeom prst="straightConnector1">
            <a:avLst/>
          </a:prstGeom>
          <a:noFill/>
          <a:ln w="38100" cap="flat" cmpd="sng">
            <a:solidFill>
              <a:schemeClr val="dk2"/>
            </a:solidFill>
            <a:prstDash val="solid"/>
            <a:round/>
            <a:headEnd type="none" w="med" len="med"/>
            <a:tailEnd type="none" w="med" len="med"/>
          </a:ln>
        </p:spPr>
      </p:cxnSp>
      <p:cxnSp>
        <p:nvCxnSpPr>
          <p:cNvPr id="955" name="Google Shape;955;p62"/>
          <p:cNvCxnSpPr>
            <a:stCxn id="949" idx="2"/>
            <a:endCxn id="952" idx="0"/>
          </p:cNvCxnSpPr>
          <p:nvPr/>
        </p:nvCxnSpPr>
        <p:spPr>
          <a:xfrm>
            <a:off x="4260300" y="3019500"/>
            <a:ext cx="2779200" cy="217800"/>
          </a:xfrm>
          <a:prstGeom prst="straightConnector1">
            <a:avLst/>
          </a:prstGeom>
          <a:noFill/>
          <a:ln w="38100" cap="flat" cmpd="sng">
            <a:solidFill>
              <a:srgbClr val="0000FF"/>
            </a:solidFill>
            <a:prstDash val="solid"/>
            <a:round/>
            <a:headEnd type="none" w="med" len="med"/>
            <a:tailEnd type="none" w="med" len="med"/>
          </a:ln>
        </p:spPr>
      </p:cxnSp>
      <p:cxnSp>
        <p:nvCxnSpPr>
          <p:cNvPr id="956" name="Google Shape;956;p62"/>
          <p:cNvCxnSpPr>
            <a:stCxn id="950" idx="2"/>
            <a:endCxn id="957" idx="0"/>
          </p:cNvCxnSpPr>
          <p:nvPr/>
        </p:nvCxnSpPr>
        <p:spPr>
          <a:xfrm flipH="1">
            <a:off x="471650" y="3830950"/>
            <a:ext cx="1009500" cy="462300"/>
          </a:xfrm>
          <a:prstGeom prst="straightConnector1">
            <a:avLst/>
          </a:prstGeom>
          <a:noFill/>
          <a:ln w="38100" cap="flat" cmpd="sng">
            <a:solidFill>
              <a:srgbClr val="FF0000"/>
            </a:solidFill>
            <a:prstDash val="solid"/>
            <a:round/>
            <a:headEnd type="none" w="med" len="med"/>
            <a:tailEnd type="none" w="med" len="med"/>
          </a:ln>
        </p:spPr>
      </p:cxnSp>
      <p:cxnSp>
        <p:nvCxnSpPr>
          <p:cNvPr id="958" name="Google Shape;958;p62"/>
          <p:cNvCxnSpPr>
            <a:stCxn id="950" idx="2"/>
            <a:endCxn id="959" idx="0"/>
          </p:cNvCxnSpPr>
          <p:nvPr/>
        </p:nvCxnSpPr>
        <p:spPr>
          <a:xfrm>
            <a:off x="1481150" y="3830950"/>
            <a:ext cx="0" cy="462300"/>
          </a:xfrm>
          <a:prstGeom prst="straightConnector1">
            <a:avLst/>
          </a:prstGeom>
          <a:noFill/>
          <a:ln w="38100" cap="flat" cmpd="sng">
            <a:solidFill>
              <a:schemeClr val="dk2"/>
            </a:solidFill>
            <a:prstDash val="solid"/>
            <a:round/>
            <a:headEnd type="none" w="med" len="med"/>
            <a:tailEnd type="none" w="med" len="med"/>
          </a:ln>
        </p:spPr>
      </p:cxnSp>
      <p:cxnSp>
        <p:nvCxnSpPr>
          <p:cNvPr id="960" name="Google Shape;960;p62"/>
          <p:cNvCxnSpPr>
            <a:stCxn id="950" idx="2"/>
            <a:endCxn id="961" idx="0"/>
          </p:cNvCxnSpPr>
          <p:nvPr/>
        </p:nvCxnSpPr>
        <p:spPr>
          <a:xfrm>
            <a:off x="1481150" y="3830950"/>
            <a:ext cx="947100" cy="462300"/>
          </a:xfrm>
          <a:prstGeom prst="straightConnector1">
            <a:avLst/>
          </a:prstGeom>
          <a:noFill/>
          <a:ln w="38100" cap="flat" cmpd="sng">
            <a:solidFill>
              <a:srgbClr val="0000FF"/>
            </a:solidFill>
            <a:prstDash val="solid"/>
            <a:round/>
            <a:headEnd type="none" w="med" len="med"/>
            <a:tailEnd type="none" w="med" len="med"/>
          </a:ln>
        </p:spPr>
      </p:cxnSp>
      <p:cxnSp>
        <p:nvCxnSpPr>
          <p:cNvPr id="962" name="Google Shape;962;p62"/>
          <p:cNvCxnSpPr>
            <a:stCxn id="952" idx="2"/>
            <a:endCxn id="963" idx="0"/>
          </p:cNvCxnSpPr>
          <p:nvPr/>
        </p:nvCxnSpPr>
        <p:spPr>
          <a:xfrm flipH="1">
            <a:off x="6092350" y="3830950"/>
            <a:ext cx="947100" cy="462300"/>
          </a:xfrm>
          <a:prstGeom prst="straightConnector1">
            <a:avLst/>
          </a:prstGeom>
          <a:noFill/>
          <a:ln w="38100" cap="flat" cmpd="sng">
            <a:solidFill>
              <a:srgbClr val="FF0000"/>
            </a:solidFill>
            <a:prstDash val="solid"/>
            <a:round/>
            <a:headEnd type="none" w="med" len="med"/>
            <a:tailEnd type="none" w="med" len="med"/>
          </a:ln>
        </p:spPr>
      </p:cxnSp>
      <p:cxnSp>
        <p:nvCxnSpPr>
          <p:cNvPr id="964" name="Google Shape;964;p62"/>
          <p:cNvCxnSpPr>
            <a:stCxn id="952" idx="2"/>
            <a:endCxn id="965" idx="0"/>
          </p:cNvCxnSpPr>
          <p:nvPr/>
        </p:nvCxnSpPr>
        <p:spPr>
          <a:xfrm>
            <a:off x="7039450" y="3830950"/>
            <a:ext cx="0" cy="462300"/>
          </a:xfrm>
          <a:prstGeom prst="straightConnector1">
            <a:avLst/>
          </a:prstGeom>
          <a:noFill/>
          <a:ln w="38100" cap="flat" cmpd="sng">
            <a:solidFill>
              <a:schemeClr val="dk2"/>
            </a:solidFill>
            <a:prstDash val="solid"/>
            <a:round/>
            <a:headEnd type="none" w="med" len="med"/>
            <a:tailEnd type="none" w="med" len="med"/>
          </a:ln>
        </p:spPr>
      </p:cxnSp>
      <p:cxnSp>
        <p:nvCxnSpPr>
          <p:cNvPr id="966" name="Google Shape;966;p62"/>
          <p:cNvCxnSpPr>
            <a:stCxn id="952" idx="2"/>
            <a:endCxn id="967" idx="0"/>
          </p:cNvCxnSpPr>
          <p:nvPr/>
        </p:nvCxnSpPr>
        <p:spPr>
          <a:xfrm>
            <a:off x="7039450" y="3830950"/>
            <a:ext cx="1009500" cy="462300"/>
          </a:xfrm>
          <a:prstGeom prst="straightConnector1">
            <a:avLst/>
          </a:prstGeom>
          <a:noFill/>
          <a:ln w="38100" cap="flat" cmpd="sng">
            <a:solidFill>
              <a:srgbClr val="0000FF"/>
            </a:solidFill>
            <a:prstDash val="solid"/>
            <a:round/>
            <a:headEnd type="none" w="med" len="med"/>
            <a:tailEnd type="none" w="med" len="med"/>
          </a:ln>
        </p:spPr>
      </p:cxnSp>
      <p:cxnSp>
        <p:nvCxnSpPr>
          <p:cNvPr id="968" name="Google Shape;968;p62"/>
          <p:cNvCxnSpPr>
            <a:stCxn id="951" idx="2"/>
            <a:endCxn id="969" idx="0"/>
          </p:cNvCxnSpPr>
          <p:nvPr/>
        </p:nvCxnSpPr>
        <p:spPr>
          <a:xfrm flipH="1">
            <a:off x="3375300" y="3830950"/>
            <a:ext cx="885000" cy="462300"/>
          </a:xfrm>
          <a:prstGeom prst="straightConnector1">
            <a:avLst/>
          </a:prstGeom>
          <a:noFill/>
          <a:ln w="38100" cap="flat" cmpd="sng">
            <a:solidFill>
              <a:srgbClr val="FF0000"/>
            </a:solidFill>
            <a:prstDash val="solid"/>
            <a:round/>
            <a:headEnd type="none" w="med" len="med"/>
            <a:tailEnd type="none" w="med" len="med"/>
          </a:ln>
        </p:spPr>
      </p:cxnSp>
      <p:cxnSp>
        <p:nvCxnSpPr>
          <p:cNvPr id="970" name="Google Shape;970;p62"/>
          <p:cNvCxnSpPr>
            <a:stCxn id="951" idx="2"/>
            <a:endCxn id="971" idx="0"/>
          </p:cNvCxnSpPr>
          <p:nvPr/>
        </p:nvCxnSpPr>
        <p:spPr>
          <a:xfrm>
            <a:off x="4260300" y="3830950"/>
            <a:ext cx="0" cy="462300"/>
          </a:xfrm>
          <a:prstGeom prst="straightConnector1">
            <a:avLst/>
          </a:prstGeom>
          <a:noFill/>
          <a:ln w="38100" cap="flat" cmpd="sng">
            <a:solidFill>
              <a:schemeClr val="dk2"/>
            </a:solidFill>
            <a:prstDash val="solid"/>
            <a:round/>
            <a:headEnd type="none" w="med" len="med"/>
            <a:tailEnd type="none" w="med" len="med"/>
          </a:ln>
        </p:spPr>
      </p:cxnSp>
      <p:cxnSp>
        <p:nvCxnSpPr>
          <p:cNvPr id="972" name="Google Shape;972;p62"/>
          <p:cNvCxnSpPr>
            <a:stCxn id="951" idx="2"/>
            <a:endCxn id="973" idx="0"/>
          </p:cNvCxnSpPr>
          <p:nvPr/>
        </p:nvCxnSpPr>
        <p:spPr>
          <a:xfrm>
            <a:off x="4260300" y="3830950"/>
            <a:ext cx="885000" cy="462300"/>
          </a:xfrm>
          <a:prstGeom prst="straightConnector1">
            <a:avLst/>
          </a:prstGeom>
          <a:noFill/>
          <a:ln w="38100" cap="flat" cmpd="sng">
            <a:solidFill>
              <a:srgbClr val="0000FF"/>
            </a:solidFill>
            <a:prstDash val="solid"/>
            <a:round/>
            <a:headEnd type="none" w="med" len="med"/>
            <a:tailEnd type="none" w="med" len="med"/>
          </a:ln>
        </p:spPr>
      </p:cxnSp>
      <p:sp>
        <p:nvSpPr>
          <p:cNvPr id="957" name="Google Shape;957;p62"/>
          <p:cNvSpPr/>
          <p:nvPr/>
        </p:nvSpPr>
        <p:spPr>
          <a:xfrm>
            <a:off x="67175" y="4293250"/>
            <a:ext cx="809100" cy="593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1 vs 2</a:t>
            </a:r>
            <a:endParaRPr/>
          </a:p>
        </p:txBody>
      </p:sp>
      <p:sp>
        <p:nvSpPr>
          <p:cNvPr id="959" name="Google Shape;959;p62"/>
          <p:cNvSpPr/>
          <p:nvPr/>
        </p:nvSpPr>
        <p:spPr>
          <a:xfrm>
            <a:off x="1076600" y="4293250"/>
            <a:ext cx="809100" cy="593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1 vs 7</a:t>
            </a:r>
            <a:endParaRPr/>
          </a:p>
        </p:txBody>
      </p:sp>
      <p:sp>
        <p:nvSpPr>
          <p:cNvPr id="961" name="Google Shape;961;p62"/>
          <p:cNvSpPr/>
          <p:nvPr/>
        </p:nvSpPr>
        <p:spPr>
          <a:xfrm>
            <a:off x="2023750" y="4293250"/>
            <a:ext cx="809100" cy="593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3 vs 4</a:t>
            </a:r>
            <a:endParaRPr/>
          </a:p>
        </p:txBody>
      </p:sp>
      <p:sp>
        <p:nvSpPr>
          <p:cNvPr id="969" name="Google Shape;969;p62"/>
          <p:cNvSpPr/>
          <p:nvPr/>
        </p:nvSpPr>
        <p:spPr>
          <a:xfrm>
            <a:off x="2970888" y="4293250"/>
            <a:ext cx="809100" cy="593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9 vs A</a:t>
            </a:r>
            <a:endParaRPr/>
          </a:p>
        </p:txBody>
      </p:sp>
      <p:sp>
        <p:nvSpPr>
          <p:cNvPr id="971" name="Google Shape;971;p62"/>
          <p:cNvSpPr/>
          <p:nvPr/>
        </p:nvSpPr>
        <p:spPr>
          <a:xfrm>
            <a:off x="3855750" y="4293250"/>
            <a:ext cx="809100" cy="593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1 vs C</a:t>
            </a:r>
            <a:endParaRPr/>
          </a:p>
        </p:txBody>
      </p:sp>
      <p:sp>
        <p:nvSpPr>
          <p:cNvPr id="973" name="Google Shape;973;p62"/>
          <p:cNvSpPr/>
          <p:nvPr/>
        </p:nvSpPr>
        <p:spPr>
          <a:xfrm>
            <a:off x="4740613" y="4293250"/>
            <a:ext cx="809100" cy="593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9 vs A</a:t>
            </a:r>
            <a:endParaRPr/>
          </a:p>
        </p:txBody>
      </p:sp>
      <p:sp>
        <p:nvSpPr>
          <p:cNvPr id="963" name="Google Shape;963;p62"/>
          <p:cNvSpPr/>
          <p:nvPr/>
        </p:nvSpPr>
        <p:spPr>
          <a:xfrm>
            <a:off x="5687763" y="4293250"/>
            <a:ext cx="809100" cy="593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7 vs 8</a:t>
            </a:r>
            <a:endParaRPr/>
          </a:p>
        </p:txBody>
      </p:sp>
      <p:sp>
        <p:nvSpPr>
          <p:cNvPr id="965" name="Google Shape;965;p62"/>
          <p:cNvSpPr/>
          <p:nvPr/>
        </p:nvSpPr>
        <p:spPr>
          <a:xfrm>
            <a:off x="6634900" y="4293250"/>
            <a:ext cx="809100" cy="593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1 vs 3</a:t>
            </a:r>
            <a:endParaRPr/>
          </a:p>
        </p:txBody>
      </p:sp>
      <p:sp>
        <p:nvSpPr>
          <p:cNvPr id="967" name="Google Shape;967;p62"/>
          <p:cNvSpPr/>
          <p:nvPr/>
        </p:nvSpPr>
        <p:spPr>
          <a:xfrm>
            <a:off x="7644325" y="4293250"/>
            <a:ext cx="809100" cy="593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5 vs 6</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50"/>
                                        </p:tgtEl>
                                        <p:attrNameLst>
                                          <p:attrName>style.visibility</p:attrName>
                                        </p:attrNameLst>
                                      </p:cBhvr>
                                      <p:to>
                                        <p:strVal val="visible"/>
                                      </p:to>
                                    </p:set>
                                    <p:animEffect transition="in" filter="fade">
                                      <p:cBhvr>
                                        <p:cTn id="7" dur="1000"/>
                                        <p:tgtEl>
                                          <p:spTgt spid="9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977"/>
        <p:cNvGrpSpPr/>
        <p:nvPr/>
      </p:nvGrpSpPr>
      <p:grpSpPr>
        <a:xfrm>
          <a:off x="0" y="0"/>
          <a:ext cx="0" cy="0"/>
          <a:chOff x="0" y="0"/>
          <a:chExt cx="0" cy="0"/>
        </a:xfrm>
      </p:grpSpPr>
      <p:sp>
        <p:nvSpPr>
          <p:cNvPr id="978" name="Google Shape;978;p63"/>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13 Coins: Proof of Impossibility</a:t>
            </a:r>
            <a:endParaRPr/>
          </a:p>
        </p:txBody>
      </p:sp>
      <p:sp>
        <p:nvSpPr>
          <p:cNvPr id="979" name="Google Shape;979;p63"/>
          <p:cNvSpPr txBox="1">
            <a:spLocks noGrp="1"/>
          </p:cNvSpPr>
          <p:nvPr>
            <p:ph type="body" idx="1"/>
          </p:nvPr>
        </p:nvSpPr>
        <p:spPr>
          <a:xfrm>
            <a:off x="107050" y="402200"/>
            <a:ext cx="8520600" cy="557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For 13 coins, this is impossible. We do have 26 &lt; 27 universes, but we also need our first weighing to narrow down to 9 or fewer universes. Our first weighing needs to compare an equal number of coins, so we can check all possible weighings to show that no first weighing splits our 27 universes into groups 9 or smaller (the below is the closest we get)</a:t>
            </a:r>
            <a:endParaRPr/>
          </a:p>
        </p:txBody>
      </p:sp>
      <p:sp>
        <p:nvSpPr>
          <p:cNvPr id="980" name="Google Shape;980;p63"/>
          <p:cNvSpPr/>
          <p:nvPr/>
        </p:nvSpPr>
        <p:spPr>
          <a:xfrm>
            <a:off x="3649350" y="2509200"/>
            <a:ext cx="1221900" cy="5103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300"/>
              <a:t>1234 vs 5678</a:t>
            </a:r>
            <a:endParaRPr sz="1300"/>
          </a:p>
        </p:txBody>
      </p:sp>
      <p:sp>
        <p:nvSpPr>
          <p:cNvPr id="981" name="Google Shape;981;p63"/>
          <p:cNvSpPr/>
          <p:nvPr/>
        </p:nvSpPr>
        <p:spPr>
          <a:xfrm>
            <a:off x="870200" y="3237250"/>
            <a:ext cx="1221900" cy="593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8 universes</a:t>
            </a:r>
            <a:endParaRPr/>
          </a:p>
        </p:txBody>
      </p:sp>
      <p:sp>
        <p:nvSpPr>
          <p:cNvPr id="982" name="Google Shape;982;p63"/>
          <p:cNvSpPr/>
          <p:nvPr/>
        </p:nvSpPr>
        <p:spPr>
          <a:xfrm>
            <a:off x="3649350" y="3237250"/>
            <a:ext cx="1221900" cy="593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10 universes</a:t>
            </a:r>
            <a:endParaRPr/>
          </a:p>
        </p:txBody>
      </p:sp>
      <p:sp>
        <p:nvSpPr>
          <p:cNvPr id="983" name="Google Shape;983;p63"/>
          <p:cNvSpPr/>
          <p:nvPr/>
        </p:nvSpPr>
        <p:spPr>
          <a:xfrm>
            <a:off x="6428500" y="3237250"/>
            <a:ext cx="1221900" cy="593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8 universes</a:t>
            </a:r>
            <a:endParaRPr/>
          </a:p>
        </p:txBody>
      </p:sp>
      <p:cxnSp>
        <p:nvCxnSpPr>
          <p:cNvPr id="984" name="Google Shape;984;p63"/>
          <p:cNvCxnSpPr>
            <a:stCxn id="980" idx="2"/>
            <a:endCxn id="981" idx="0"/>
          </p:cNvCxnSpPr>
          <p:nvPr/>
        </p:nvCxnSpPr>
        <p:spPr>
          <a:xfrm flipH="1">
            <a:off x="1481100" y="3019500"/>
            <a:ext cx="2779200" cy="217800"/>
          </a:xfrm>
          <a:prstGeom prst="straightConnector1">
            <a:avLst/>
          </a:prstGeom>
          <a:noFill/>
          <a:ln w="38100" cap="flat" cmpd="sng">
            <a:solidFill>
              <a:srgbClr val="FF0000"/>
            </a:solidFill>
            <a:prstDash val="solid"/>
            <a:round/>
            <a:headEnd type="none" w="med" len="med"/>
            <a:tailEnd type="none" w="med" len="med"/>
          </a:ln>
        </p:spPr>
      </p:cxnSp>
      <p:cxnSp>
        <p:nvCxnSpPr>
          <p:cNvPr id="985" name="Google Shape;985;p63"/>
          <p:cNvCxnSpPr>
            <a:stCxn id="980" idx="2"/>
            <a:endCxn id="982" idx="0"/>
          </p:cNvCxnSpPr>
          <p:nvPr/>
        </p:nvCxnSpPr>
        <p:spPr>
          <a:xfrm>
            <a:off x="4260300" y="3019500"/>
            <a:ext cx="0" cy="217800"/>
          </a:xfrm>
          <a:prstGeom prst="straightConnector1">
            <a:avLst/>
          </a:prstGeom>
          <a:noFill/>
          <a:ln w="38100" cap="flat" cmpd="sng">
            <a:solidFill>
              <a:schemeClr val="dk2"/>
            </a:solidFill>
            <a:prstDash val="solid"/>
            <a:round/>
            <a:headEnd type="none" w="med" len="med"/>
            <a:tailEnd type="none" w="med" len="med"/>
          </a:ln>
        </p:spPr>
      </p:cxnSp>
      <p:cxnSp>
        <p:nvCxnSpPr>
          <p:cNvPr id="986" name="Google Shape;986;p63"/>
          <p:cNvCxnSpPr>
            <a:stCxn id="980" idx="2"/>
            <a:endCxn id="983" idx="0"/>
          </p:cNvCxnSpPr>
          <p:nvPr/>
        </p:nvCxnSpPr>
        <p:spPr>
          <a:xfrm>
            <a:off x="4260300" y="3019500"/>
            <a:ext cx="2779200" cy="217800"/>
          </a:xfrm>
          <a:prstGeom prst="straightConnector1">
            <a:avLst/>
          </a:prstGeom>
          <a:noFill/>
          <a:ln w="38100" cap="flat" cmpd="sng">
            <a:solidFill>
              <a:srgbClr val="0000FF"/>
            </a:solidFill>
            <a:prstDash val="solid"/>
            <a:round/>
            <a:headEnd type="none" w="med" len="med"/>
            <a:tailEnd type="none" w="med" len="med"/>
          </a:ln>
        </p:spPr>
      </p:cxnSp>
      <p:cxnSp>
        <p:nvCxnSpPr>
          <p:cNvPr id="987" name="Google Shape;987;p63"/>
          <p:cNvCxnSpPr>
            <a:stCxn id="981" idx="2"/>
            <a:endCxn id="988" idx="0"/>
          </p:cNvCxnSpPr>
          <p:nvPr/>
        </p:nvCxnSpPr>
        <p:spPr>
          <a:xfrm flipH="1">
            <a:off x="471650" y="3830950"/>
            <a:ext cx="1009500" cy="462300"/>
          </a:xfrm>
          <a:prstGeom prst="straightConnector1">
            <a:avLst/>
          </a:prstGeom>
          <a:noFill/>
          <a:ln w="38100" cap="flat" cmpd="sng">
            <a:solidFill>
              <a:srgbClr val="FF0000"/>
            </a:solidFill>
            <a:prstDash val="solid"/>
            <a:round/>
            <a:headEnd type="none" w="med" len="med"/>
            <a:tailEnd type="none" w="med" len="med"/>
          </a:ln>
        </p:spPr>
      </p:cxnSp>
      <p:cxnSp>
        <p:nvCxnSpPr>
          <p:cNvPr id="989" name="Google Shape;989;p63"/>
          <p:cNvCxnSpPr>
            <a:stCxn id="981" idx="2"/>
            <a:endCxn id="990" idx="0"/>
          </p:cNvCxnSpPr>
          <p:nvPr/>
        </p:nvCxnSpPr>
        <p:spPr>
          <a:xfrm>
            <a:off x="1481150" y="3830950"/>
            <a:ext cx="0" cy="462300"/>
          </a:xfrm>
          <a:prstGeom prst="straightConnector1">
            <a:avLst/>
          </a:prstGeom>
          <a:noFill/>
          <a:ln w="38100" cap="flat" cmpd="sng">
            <a:solidFill>
              <a:schemeClr val="dk2"/>
            </a:solidFill>
            <a:prstDash val="solid"/>
            <a:round/>
            <a:headEnd type="none" w="med" len="med"/>
            <a:tailEnd type="none" w="med" len="med"/>
          </a:ln>
        </p:spPr>
      </p:cxnSp>
      <p:cxnSp>
        <p:nvCxnSpPr>
          <p:cNvPr id="991" name="Google Shape;991;p63"/>
          <p:cNvCxnSpPr>
            <a:stCxn id="981" idx="2"/>
            <a:endCxn id="992" idx="0"/>
          </p:cNvCxnSpPr>
          <p:nvPr/>
        </p:nvCxnSpPr>
        <p:spPr>
          <a:xfrm>
            <a:off x="1481150" y="3830950"/>
            <a:ext cx="947100" cy="462300"/>
          </a:xfrm>
          <a:prstGeom prst="straightConnector1">
            <a:avLst/>
          </a:prstGeom>
          <a:noFill/>
          <a:ln w="38100" cap="flat" cmpd="sng">
            <a:solidFill>
              <a:srgbClr val="0000FF"/>
            </a:solidFill>
            <a:prstDash val="solid"/>
            <a:round/>
            <a:headEnd type="none" w="med" len="med"/>
            <a:tailEnd type="none" w="med" len="med"/>
          </a:ln>
        </p:spPr>
      </p:cxnSp>
      <p:cxnSp>
        <p:nvCxnSpPr>
          <p:cNvPr id="993" name="Google Shape;993;p63"/>
          <p:cNvCxnSpPr>
            <a:stCxn id="983" idx="2"/>
            <a:endCxn id="994" idx="0"/>
          </p:cNvCxnSpPr>
          <p:nvPr/>
        </p:nvCxnSpPr>
        <p:spPr>
          <a:xfrm flipH="1">
            <a:off x="6092350" y="3830950"/>
            <a:ext cx="947100" cy="462300"/>
          </a:xfrm>
          <a:prstGeom prst="straightConnector1">
            <a:avLst/>
          </a:prstGeom>
          <a:noFill/>
          <a:ln w="38100" cap="flat" cmpd="sng">
            <a:solidFill>
              <a:srgbClr val="FF0000"/>
            </a:solidFill>
            <a:prstDash val="solid"/>
            <a:round/>
            <a:headEnd type="none" w="med" len="med"/>
            <a:tailEnd type="none" w="med" len="med"/>
          </a:ln>
        </p:spPr>
      </p:cxnSp>
      <p:cxnSp>
        <p:nvCxnSpPr>
          <p:cNvPr id="995" name="Google Shape;995;p63"/>
          <p:cNvCxnSpPr>
            <a:stCxn id="983" idx="2"/>
            <a:endCxn id="996" idx="0"/>
          </p:cNvCxnSpPr>
          <p:nvPr/>
        </p:nvCxnSpPr>
        <p:spPr>
          <a:xfrm>
            <a:off x="7039450" y="3830950"/>
            <a:ext cx="0" cy="462300"/>
          </a:xfrm>
          <a:prstGeom prst="straightConnector1">
            <a:avLst/>
          </a:prstGeom>
          <a:noFill/>
          <a:ln w="38100" cap="flat" cmpd="sng">
            <a:solidFill>
              <a:schemeClr val="dk2"/>
            </a:solidFill>
            <a:prstDash val="solid"/>
            <a:round/>
            <a:headEnd type="none" w="med" len="med"/>
            <a:tailEnd type="none" w="med" len="med"/>
          </a:ln>
        </p:spPr>
      </p:cxnSp>
      <p:cxnSp>
        <p:nvCxnSpPr>
          <p:cNvPr id="997" name="Google Shape;997;p63"/>
          <p:cNvCxnSpPr>
            <a:stCxn id="983" idx="2"/>
            <a:endCxn id="998" idx="0"/>
          </p:cNvCxnSpPr>
          <p:nvPr/>
        </p:nvCxnSpPr>
        <p:spPr>
          <a:xfrm>
            <a:off x="7039450" y="3830950"/>
            <a:ext cx="1009500" cy="462300"/>
          </a:xfrm>
          <a:prstGeom prst="straightConnector1">
            <a:avLst/>
          </a:prstGeom>
          <a:noFill/>
          <a:ln w="38100" cap="flat" cmpd="sng">
            <a:solidFill>
              <a:srgbClr val="0000FF"/>
            </a:solidFill>
            <a:prstDash val="solid"/>
            <a:round/>
            <a:headEnd type="none" w="med" len="med"/>
            <a:tailEnd type="none" w="med" len="med"/>
          </a:ln>
        </p:spPr>
      </p:cxnSp>
      <p:cxnSp>
        <p:nvCxnSpPr>
          <p:cNvPr id="999" name="Google Shape;999;p63"/>
          <p:cNvCxnSpPr>
            <a:stCxn id="982" idx="2"/>
            <a:endCxn id="1000" idx="0"/>
          </p:cNvCxnSpPr>
          <p:nvPr/>
        </p:nvCxnSpPr>
        <p:spPr>
          <a:xfrm flipH="1">
            <a:off x="3375300" y="3830950"/>
            <a:ext cx="885000" cy="462300"/>
          </a:xfrm>
          <a:prstGeom prst="straightConnector1">
            <a:avLst/>
          </a:prstGeom>
          <a:noFill/>
          <a:ln w="38100" cap="flat" cmpd="sng">
            <a:solidFill>
              <a:srgbClr val="FF0000"/>
            </a:solidFill>
            <a:prstDash val="solid"/>
            <a:round/>
            <a:headEnd type="none" w="med" len="med"/>
            <a:tailEnd type="none" w="med" len="med"/>
          </a:ln>
        </p:spPr>
      </p:cxnSp>
      <p:cxnSp>
        <p:nvCxnSpPr>
          <p:cNvPr id="1001" name="Google Shape;1001;p63"/>
          <p:cNvCxnSpPr>
            <a:stCxn id="982" idx="2"/>
            <a:endCxn id="1002" idx="0"/>
          </p:cNvCxnSpPr>
          <p:nvPr/>
        </p:nvCxnSpPr>
        <p:spPr>
          <a:xfrm>
            <a:off x="4260300" y="3830950"/>
            <a:ext cx="0" cy="462300"/>
          </a:xfrm>
          <a:prstGeom prst="straightConnector1">
            <a:avLst/>
          </a:prstGeom>
          <a:noFill/>
          <a:ln w="38100" cap="flat" cmpd="sng">
            <a:solidFill>
              <a:schemeClr val="dk2"/>
            </a:solidFill>
            <a:prstDash val="solid"/>
            <a:round/>
            <a:headEnd type="none" w="med" len="med"/>
            <a:tailEnd type="none" w="med" len="med"/>
          </a:ln>
        </p:spPr>
      </p:cxnSp>
      <p:cxnSp>
        <p:nvCxnSpPr>
          <p:cNvPr id="1003" name="Google Shape;1003;p63"/>
          <p:cNvCxnSpPr>
            <a:stCxn id="982" idx="2"/>
            <a:endCxn id="1004" idx="0"/>
          </p:cNvCxnSpPr>
          <p:nvPr/>
        </p:nvCxnSpPr>
        <p:spPr>
          <a:xfrm>
            <a:off x="4260300" y="3830950"/>
            <a:ext cx="885000" cy="462300"/>
          </a:xfrm>
          <a:prstGeom prst="straightConnector1">
            <a:avLst/>
          </a:prstGeom>
          <a:noFill/>
          <a:ln w="38100" cap="flat" cmpd="sng">
            <a:solidFill>
              <a:srgbClr val="0000FF"/>
            </a:solidFill>
            <a:prstDash val="solid"/>
            <a:round/>
            <a:headEnd type="none" w="med" len="med"/>
            <a:tailEnd type="none" w="med" len="med"/>
          </a:ln>
        </p:spPr>
      </p:cxnSp>
      <p:sp>
        <p:nvSpPr>
          <p:cNvPr id="988" name="Google Shape;988;p63"/>
          <p:cNvSpPr/>
          <p:nvPr/>
        </p:nvSpPr>
        <p:spPr>
          <a:xfrm>
            <a:off x="67175" y="4293250"/>
            <a:ext cx="809100" cy="593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90" name="Google Shape;990;p63"/>
          <p:cNvSpPr/>
          <p:nvPr/>
        </p:nvSpPr>
        <p:spPr>
          <a:xfrm>
            <a:off x="1076600" y="4293250"/>
            <a:ext cx="809100" cy="593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92" name="Google Shape;992;p63"/>
          <p:cNvSpPr/>
          <p:nvPr/>
        </p:nvSpPr>
        <p:spPr>
          <a:xfrm>
            <a:off x="2023750" y="4293250"/>
            <a:ext cx="809100" cy="593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00" name="Google Shape;1000;p63"/>
          <p:cNvSpPr/>
          <p:nvPr/>
        </p:nvSpPr>
        <p:spPr>
          <a:xfrm>
            <a:off x="2970888" y="4293250"/>
            <a:ext cx="809100" cy="593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02" name="Google Shape;1002;p63"/>
          <p:cNvSpPr/>
          <p:nvPr/>
        </p:nvSpPr>
        <p:spPr>
          <a:xfrm>
            <a:off x="3855750" y="4293250"/>
            <a:ext cx="809100" cy="593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04" name="Google Shape;1004;p63"/>
          <p:cNvSpPr/>
          <p:nvPr/>
        </p:nvSpPr>
        <p:spPr>
          <a:xfrm>
            <a:off x="4740613" y="4293250"/>
            <a:ext cx="809100" cy="593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94" name="Google Shape;994;p63"/>
          <p:cNvSpPr/>
          <p:nvPr/>
        </p:nvSpPr>
        <p:spPr>
          <a:xfrm>
            <a:off x="5687763" y="4293250"/>
            <a:ext cx="809100" cy="593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96" name="Google Shape;996;p63"/>
          <p:cNvSpPr/>
          <p:nvPr/>
        </p:nvSpPr>
        <p:spPr>
          <a:xfrm>
            <a:off x="6634900" y="4293250"/>
            <a:ext cx="809100" cy="593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98" name="Google Shape;998;p63"/>
          <p:cNvSpPr/>
          <p:nvPr/>
        </p:nvSpPr>
        <p:spPr>
          <a:xfrm>
            <a:off x="7644325" y="4293250"/>
            <a:ext cx="809100" cy="593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81"/>
                                        </p:tgtEl>
                                        <p:attrNameLst>
                                          <p:attrName>style.visibility</p:attrName>
                                        </p:attrNameLst>
                                      </p:cBhvr>
                                      <p:to>
                                        <p:strVal val="visible"/>
                                      </p:to>
                                    </p:set>
                                    <p:animEffect transition="in" filter="fade">
                                      <p:cBhvr>
                                        <p:cTn id="7" dur="1000"/>
                                        <p:tgtEl>
                                          <p:spTgt spid="9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008"/>
        <p:cNvGrpSpPr/>
        <p:nvPr/>
      </p:nvGrpSpPr>
      <p:grpSpPr>
        <a:xfrm>
          <a:off x="0" y="0"/>
          <a:ext cx="0" cy="0"/>
          <a:chOff x="0" y="0"/>
          <a:chExt cx="0" cy="0"/>
        </a:xfrm>
      </p:grpSpPr>
      <p:sp>
        <p:nvSpPr>
          <p:cNvPr id="1009" name="Google Shape;1009;p64"/>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13 Coins with a Reference</a:t>
            </a:r>
            <a:endParaRPr/>
          </a:p>
        </p:txBody>
      </p:sp>
      <p:sp>
        <p:nvSpPr>
          <p:cNvPr id="1010" name="Google Shape;1010;p64"/>
          <p:cNvSpPr txBox="1">
            <a:spLocks noGrp="1"/>
          </p:cNvSpPr>
          <p:nvPr>
            <p:ph type="body" idx="1"/>
          </p:nvPr>
        </p:nvSpPr>
        <p:spPr>
          <a:xfrm>
            <a:off x="107050" y="402200"/>
            <a:ext cx="8520600" cy="557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For 13 coins with a reference, this is possible, because the reference lets us split into 9-8-9 universes.</a:t>
            </a:r>
            <a:endParaRPr/>
          </a:p>
        </p:txBody>
      </p:sp>
      <p:sp>
        <p:nvSpPr>
          <p:cNvPr id="1011" name="Google Shape;1011;p64"/>
          <p:cNvSpPr/>
          <p:nvPr/>
        </p:nvSpPr>
        <p:spPr>
          <a:xfrm>
            <a:off x="3566950" y="2509200"/>
            <a:ext cx="1386900" cy="5103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300"/>
              <a:t>12345 vs 6789R</a:t>
            </a:r>
            <a:endParaRPr sz="1300"/>
          </a:p>
        </p:txBody>
      </p:sp>
      <p:sp>
        <p:nvSpPr>
          <p:cNvPr id="1012" name="Google Shape;1012;p64"/>
          <p:cNvSpPr/>
          <p:nvPr/>
        </p:nvSpPr>
        <p:spPr>
          <a:xfrm>
            <a:off x="870200" y="3237250"/>
            <a:ext cx="1221900" cy="593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126 vs 347</a:t>
            </a:r>
            <a:endParaRPr/>
          </a:p>
        </p:txBody>
      </p:sp>
      <p:sp>
        <p:nvSpPr>
          <p:cNvPr id="1013" name="Google Shape;1013;p64"/>
          <p:cNvSpPr/>
          <p:nvPr/>
        </p:nvSpPr>
        <p:spPr>
          <a:xfrm>
            <a:off x="3649350" y="3237250"/>
            <a:ext cx="1221900" cy="593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Same as 12 coin</a:t>
            </a:r>
            <a:endParaRPr/>
          </a:p>
        </p:txBody>
      </p:sp>
      <p:sp>
        <p:nvSpPr>
          <p:cNvPr id="1014" name="Google Shape;1014;p64"/>
          <p:cNvSpPr/>
          <p:nvPr/>
        </p:nvSpPr>
        <p:spPr>
          <a:xfrm>
            <a:off x="6428500" y="3237250"/>
            <a:ext cx="1221900" cy="593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126 vs 347</a:t>
            </a:r>
            <a:endParaRPr/>
          </a:p>
        </p:txBody>
      </p:sp>
      <p:cxnSp>
        <p:nvCxnSpPr>
          <p:cNvPr id="1015" name="Google Shape;1015;p64"/>
          <p:cNvCxnSpPr>
            <a:stCxn id="1011" idx="2"/>
            <a:endCxn id="1012" idx="0"/>
          </p:cNvCxnSpPr>
          <p:nvPr/>
        </p:nvCxnSpPr>
        <p:spPr>
          <a:xfrm flipH="1">
            <a:off x="1481200" y="3019500"/>
            <a:ext cx="2779200" cy="217800"/>
          </a:xfrm>
          <a:prstGeom prst="straightConnector1">
            <a:avLst/>
          </a:prstGeom>
          <a:noFill/>
          <a:ln w="38100" cap="flat" cmpd="sng">
            <a:solidFill>
              <a:srgbClr val="FF0000"/>
            </a:solidFill>
            <a:prstDash val="solid"/>
            <a:round/>
            <a:headEnd type="none" w="med" len="med"/>
            <a:tailEnd type="none" w="med" len="med"/>
          </a:ln>
        </p:spPr>
      </p:cxnSp>
      <p:cxnSp>
        <p:nvCxnSpPr>
          <p:cNvPr id="1016" name="Google Shape;1016;p64"/>
          <p:cNvCxnSpPr>
            <a:stCxn id="1011" idx="2"/>
            <a:endCxn id="1013" idx="0"/>
          </p:cNvCxnSpPr>
          <p:nvPr/>
        </p:nvCxnSpPr>
        <p:spPr>
          <a:xfrm>
            <a:off x="4260400" y="3019500"/>
            <a:ext cx="0" cy="217800"/>
          </a:xfrm>
          <a:prstGeom prst="straightConnector1">
            <a:avLst/>
          </a:prstGeom>
          <a:noFill/>
          <a:ln w="38100" cap="flat" cmpd="sng">
            <a:solidFill>
              <a:schemeClr val="dk2"/>
            </a:solidFill>
            <a:prstDash val="solid"/>
            <a:round/>
            <a:headEnd type="none" w="med" len="med"/>
            <a:tailEnd type="none" w="med" len="med"/>
          </a:ln>
        </p:spPr>
      </p:cxnSp>
      <p:cxnSp>
        <p:nvCxnSpPr>
          <p:cNvPr id="1017" name="Google Shape;1017;p64"/>
          <p:cNvCxnSpPr>
            <a:stCxn id="1011" idx="2"/>
            <a:endCxn id="1014" idx="0"/>
          </p:cNvCxnSpPr>
          <p:nvPr/>
        </p:nvCxnSpPr>
        <p:spPr>
          <a:xfrm>
            <a:off x="4260400" y="3019500"/>
            <a:ext cx="2779200" cy="217800"/>
          </a:xfrm>
          <a:prstGeom prst="straightConnector1">
            <a:avLst/>
          </a:prstGeom>
          <a:noFill/>
          <a:ln w="38100" cap="flat" cmpd="sng">
            <a:solidFill>
              <a:srgbClr val="0000FF"/>
            </a:solidFill>
            <a:prstDash val="solid"/>
            <a:round/>
            <a:headEnd type="none" w="med" len="med"/>
            <a:tailEnd type="none" w="med" len="med"/>
          </a:ln>
        </p:spPr>
      </p:cxnSp>
      <p:cxnSp>
        <p:nvCxnSpPr>
          <p:cNvPr id="1018" name="Google Shape;1018;p64"/>
          <p:cNvCxnSpPr>
            <a:stCxn id="1012" idx="2"/>
            <a:endCxn id="1019" idx="0"/>
          </p:cNvCxnSpPr>
          <p:nvPr/>
        </p:nvCxnSpPr>
        <p:spPr>
          <a:xfrm flipH="1">
            <a:off x="471650" y="3830950"/>
            <a:ext cx="1009500" cy="462300"/>
          </a:xfrm>
          <a:prstGeom prst="straightConnector1">
            <a:avLst/>
          </a:prstGeom>
          <a:noFill/>
          <a:ln w="38100" cap="flat" cmpd="sng">
            <a:solidFill>
              <a:srgbClr val="FF0000"/>
            </a:solidFill>
            <a:prstDash val="solid"/>
            <a:round/>
            <a:headEnd type="none" w="med" len="med"/>
            <a:tailEnd type="none" w="med" len="med"/>
          </a:ln>
        </p:spPr>
      </p:cxnSp>
      <p:cxnSp>
        <p:nvCxnSpPr>
          <p:cNvPr id="1020" name="Google Shape;1020;p64"/>
          <p:cNvCxnSpPr>
            <a:stCxn id="1012" idx="2"/>
            <a:endCxn id="1021" idx="0"/>
          </p:cNvCxnSpPr>
          <p:nvPr/>
        </p:nvCxnSpPr>
        <p:spPr>
          <a:xfrm>
            <a:off x="1481150" y="3830950"/>
            <a:ext cx="0" cy="462300"/>
          </a:xfrm>
          <a:prstGeom prst="straightConnector1">
            <a:avLst/>
          </a:prstGeom>
          <a:noFill/>
          <a:ln w="38100" cap="flat" cmpd="sng">
            <a:solidFill>
              <a:schemeClr val="dk2"/>
            </a:solidFill>
            <a:prstDash val="solid"/>
            <a:round/>
            <a:headEnd type="none" w="med" len="med"/>
            <a:tailEnd type="none" w="med" len="med"/>
          </a:ln>
        </p:spPr>
      </p:cxnSp>
      <p:cxnSp>
        <p:nvCxnSpPr>
          <p:cNvPr id="1022" name="Google Shape;1022;p64"/>
          <p:cNvCxnSpPr>
            <a:stCxn id="1012" idx="2"/>
            <a:endCxn id="1023" idx="0"/>
          </p:cNvCxnSpPr>
          <p:nvPr/>
        </p:nvCxnSpPr>
        <p:spPr>
          <a:xfrm>
            <a:off x="1481150" y="3830950"/>
            <a:ext cx="947100" cy="462300"/>
          </a:xfrm>
          <a:prstGeom prst="straightConnector1">
            <a:avLst/>
          </a:prstGeom>
          <a:noFill/>
          <a:ln w="38100" cap="flat" cmpd="sng">
            <a:solidFill>
              <a:srgbClr val="0000FF"/>
            </a:solidFill>
            <a:prstDash val="solid"/>
            <a:round/>
            <a:headEnd type="none" w="med" len="med"/>
            <a:tailEnd type="none" w="med" len="med"/>
          </a:ln>
        </p:spPr>
      </p:cxnSp>
      <p:cxnSp>
        <p:nvCxnSpPr>
          <p:cNvPr id="1024" name="Google Shape;1024;p64"/>
          <p:cNvCxnSpPr>
            <a:stCxn id="1014" idx="2"/>
            <a:endCxn id="1025" idx="0"/>
          </p:cNvCxnSpPr>
          <p:nvPr/>
        </p:nvCxnSpPr>
        <p:spPr>
          <a:xfrm flipH="1">
            <a:off x="6092350" y="3830950"/>
            <a:ext cx="947100" cy="462300"/>
          </a:xfrm>
          <a:prstGeom prst="straightConnector1">
            <a:avLst/>
          </a:prstGeom>
          <a:noFill/>
          <a:ln w="38100" cap="flat" cmpd="sng">
            <a:solidFill>
              <a:srgbClr val="FF0000"/>
            </a:solidFill>
            <a:prstDash val="solid"/>
            <a:round/>
            <a:headEnd type="none" w="med" len="med"/>
            <a:tailEnd type="none" w="med" len="med"/>
          </a:ln>
        </p:spPr>
      </p:cxnSp>
      <p:cxnSp>
        <p:nvCxnSpPr>
          <p:cNvPr id="1026" name="Google Shape;1026;p64"/>
          <p:cNvCxnSpPr>
            <a:stCxn id="1014" idx="2"/>
            <a:endCxn id="1027" idx="0"/>
          </p:cNvCxnSpPr>
          <p:nvPr/>
        </p:nvCxnSpPr>
        <p:spPr>
          <a:xfrm>
            <a:off x="7039450" y="3830950"/>
            <a:ext cx="0" cy="462300"/>
          </a:xfrm>
          <a:prstGeom prst="straightConnector1">
            <a:avLst/>
          </a:prstGeom>
          <a:noFill/>
          <a:ln w="38100" cap="flat" cmpd="sng">
            <a:solidFill>
              <a:schemeClr val="dk2"/>
            </a:solidFill>
            <a:prstDash val="solid"/>
            <a:round/>
            <a:headEnd type="none" w="med" len="med"/>
            <a:tailEnd type="none" w="med" len="med"/>
          </a:ln>
        </p:spPr>
      </p:cxnSp>
      <p:cxnSp>
        <p:nvCxnSpPr>
          <p:cNvPr id="1028" name="Google Shape;1028;p64"/>
          <p:cNvCxnSpPr>
            <a:stCxn id="1014" idx="2"/>
            <a:endCxn id="1029" idx="0"/>
          </p:cNvCxnSpPr>
          <p:nvPr/>
        </p:nvCxnSpPr>
        <p:spPr>
          <a:xfrm>
            <a:off x="7039450" y="3830950"/>
            <a:ext cx="1009500" cy="462300"/>
          </a:xfrm>
          <a:prstGeom prst="straightConnector1">
            <a:avLst/>
          </a:prstGeom>
          <a:noFill/>
          <a:ln w="38100" cap="flat" cmpd="sng">
            <a:solidFill>
              <a:srgbClr val="0000FF"/>
            </a:solidFill>
            <a:prstDash val="solid"/>
            <a:round/>
            <a:headEnd type="none" w="med" len="med"/>
            <a:tailEnd type="none" w="med" len="med"/>
          </a:ln>
        </p:spPr>
      </p:cxnSp>
      <p:cxnSp>
        <p:nvCxnSpPr>
          <p:cNvPr id="1030" name="Google Shape;1030;p64"/>
          <p:cNvCxnSpPr>
            <a:stCxn id="1013" idx="2"/>
            <a:endCxn id="1031" idx="0"/>
          </p:cNvCxnSpPr>
          <p:nvPr/>
        </p:nvCxnSpPr>
        <p:spPr>
          <a:xfrm flipH="1">
            <a:off x="3375300" y="3830950"/>
            <a:ext cx="885000" cy="462300"/>
          </a:xfrm>
          <a:prstGeom prst="straightConnector1">
            <a:avLst/>
          </a:prstGeom>
          <a:noFill/>
          <a:ln w="38100" cap="flat" cmpd="sng">
            <a:solidFill>
              <a:srgbClr val="FF0000"/>
            </a:solidFill>
            <a:prstDash val="solid"/>
            <a:round/>
            <a:headEnd type="none" w="med" len="med"/>
            <a:tailEnd type="none" w="med" len="med"/>
          </a:ln>
        </p:spPr>
      </p:cxnSp>
      <p:cxnSp>
        <p:nvCxnSpPr>
          <p:cNvPr id="1032" name="Google Shape;1032;p64"/>
          <p:cNvCxnSpPr>
            <a:stCxn id="1013" idx="2"/>
            <a:endCxn id="1033" idx="0"/>
          </p:cNvCxnSpPr>
          <p:nvPr/>
        </p:nvCxnSpPr>
        <p:spPr>
          <a:xfrm>
            <a:off x="4260300" y="3830950"/>
            <a:ext cx="0" cy="462300"/>
          </a:xfrm>
          <a:prstGeom prst="straightConnector1">
            <a:avLst/>
          </a:prstGeom>
          <a:noFill/>
          <a:ln w="38100" cap="flat" cmpd="sng">
            <a:solidFill>
              <a:schemeClr val="dk2"/>
            </a:solidFill>
            <a:prstDash val="solid"/>
            <a:round/>
            <a:headEnd type="none" w="med" len="med"/>
            <a:tailEnd type="none" w="med" len="med"/>
          </a:ln>
        </p:spPr>
      </p:cxnSp>
      <p:cxnSp>
        <p:nvCxnSpPr>
          <p:cNvPr id="1034" name="Google Shape;1034;p64"/>
          <p:cNvCxnSpPr>
            <a:stCxn id="1013" idx="2"/>
            <a:endCxn id="1035" idx="0"/>
          </p:cNvCxnSpPr>
          <p:nvPr/>
        </p:nvCxnSpPr>
        <p:spPr>
          <a:xfrm>
            <a:off x="4260300" y="3830950"/>
            <a:ext cx="885000" cy="462300"/>
          </a:xfrm>
          <a:prstGeom prst="straightConnector1">
            <a:avLst/>
          </a:prstGeom>
          <a:noFill/>
          <a:ln w="38100" cap="flat" cmpd="sng">
            <a:solidFill>
              <a:srgbClr val="0000FF"/>
            </a:solidFill>
            <a:prstDash val="solid"/>
            <a:round/>
            <a:headEnd type="none" w="med" len="med"/>
            <a:tailEnd type="none" w="med" len="med"/>
          </a:ln>
        </p:spPr>
      </p:cxnSp>
      <p:sp>
        <p:nvSpPr>
          <p:cNvPr id="1019" name="Google Shape;1019;p64"/>
          <p:cNvSpPr/>
          <p:nvPr/>
        </p:nvSpPr>
        <p:spPr>
          <a:xfrm>
            <a:off x="67175" y="4293250"/>
            <a:ext cx="809100" cy="593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1 vs 2</a:t>
            </a:r>
            <a:endParaRPr/>
          </a:p>
        </p:txBody>
      </p:sp>
      <p:sp>
        <p:nvSpPr>
          <p:cNvPr id="1021" name="Google Shape;1021;p64"/>
          <p:cNvSpPr/>
          <p:nvPr/>
        </p:nvSpPr>
        <p:spPr>
          <a:xfrm>
            <a:off x="1076600" y="4293250"/>
            <a:ext cx="809100" cy="593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8 vs 9</a:t>
            </a:r>
            <a:endParaRPr/>
          </a:p>
        </p:txBody>
      </p:sp>
      <p:sp>
        <p:nvSpPr>
          <p:cNvPr id="1023" name="Google Shape;1023;p64"/>
          <p:cNvSpPr/>
          <p:nvPr/>
        </p:nvSpPr>
        <p:spPr>
          <a:xfrm>
            <a:off x="2023750" y="4293250"/>
            <a:ext cx="809100" cy="593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3 vs 4</a:t>
            </a:r>
            <a:endParaRPr/>
          </a:p>
        </p:txBody>
      </p:sp>
      <p:sp>
        <p:nvSpPr>
          <p:cNvPr id="1031" name="Google Shape;1031;p64"/>
          <p:cNvSpPr/>
          <p:nvPr/>
        </p:nvSpPr>
        <p:spPr>
          <a:xfrm>
            <a:off x="2970888" y="4293250"/>
            <a:ext cx="809100" cy="593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33" name="Google Shape;1033;p64"/>
          <p:cNvSpPr/>
          <p:nvPr/>
        </p:nvSpPr>
        <p:spPr>
          <a:xfrm>
            <a:off x="3855750" y="4293250"/>
            <a:ext cx="809100" cy="593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35" name="Google Shape;1035;p64"/>
          <p:cNvSpPr/>
          <p:nvPr/>
        </p:nvSpPr>
        <p:spPr>
          <a:xfrm>
            <a:off x="4740613" y="4293250"/>
            <a:ext cx="809100" cy="593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25" name="Google Shape;1025;p64"/>
          <p:cNvSpPr/>
          <p:nvPr/>
        </p:nvSpPr>
        <p:spPr>
          <a:xfrm>
            <a:off x="5687763" y="4293250"/>
            <a:ext cx="809100" cy="593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3 vs 4</a:t>
            </a:r>
            <a:endParaRPr/>
          </a:p>
        </p:txBody>
      </p:sp>
      <p:sp>
        <p:nvSpPr>
          <p:cNvPr id="1027" name="Google Shape;1027;p64"/>
          <p:cNvSpPr/>
          <p:nvPr/>
        </p:nvSpPr>
        <p:spPr>
          <a:xfrm>
            <a:off x="6634900" y="4293250"/>
            <a:ext cx="809100" cy="593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8 vs 9</a:t>
            </a:r>
            <a:endParaRPr/>
          </a:p>
        </p:txBody>
      </p:sp>
      <p:sp>
        <p:nvSpPr>
          <p:cNvPr id="1029" name="Google Shape;1029;p64"/>
          <p:cNvSpPr/>
          <p:nvPr/>
        </p:nvSpPr>
        <p:spPr>
          <a:xfrm>
            <a:off x="7644325" y="4293250"/>
            <a:ext cx="809100" cy="593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1 vs 2</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12"/>
                                        </p:tgtEl>
                                        <p:attrNameLst>
                                          <p:attrName>style.visibility</p:attrName>
                                        </p:attrNameLst>
                                      </p:cBhvr>
                                      <p:to>
                                        <p:strVal val="visible"/>
                                      </p:to>
                                    </p:set>
                                    <p:animEffect transition="in" filter="fade">
                                      <p:cBhvr>
                                        <p:cTn id="7" dur="1000"/>
                                        <p:tgtEl>
                                          <p:spTgt spid="10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039"/>
        <p:cNvGrpSpPr/>
        <p:nvPr/>
      </p:nvGrpSpPr>
      <p:grpSpPr>
        <a:xfrm>
          <a:off x="0" y="0"/>
          <a:ext cx="0" cy="0"/>
          <a:chOff x="0" y="0"/>
          <a:chExt cx="0" cy="0"/>
        </a:xfrm>
      </p:grpSpPr>
      <p:sp>
        <p:nvSpPr>
          <p:cNvPr id="1040" name="Google Shape;1040;p65"/>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13 Coins with only Identification</a:t>
            </a:r>
            <a:endParaRPr/>
          </a:p>
        </p:txBody>
      </p:sp>
      <p:sp>
        <p:nvSpPr>
          <p:cNvPr id="1041" name="Google Shape;1041;p65"/>
          <p:cNvSpPr txBox="1">
            <a:spLocks noGrp="1"/>
          </p:cNvSpPr>
          <p:nvPr>
            <p:ph type="body" idx="1"/>
          </p:nvPr>
        </p:nvSpPr>
        <p:spPr>
          <a:xfrm>
            <a:off x="107050" y="402200"/>
            <a:ext cx="8520600" cy="557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For 13 coins when we only care about identifying the counterfeit, it's possible using the solution we found for 12 coins. If we follow the decision tree, we find that two universes do end up at the same leaf.</a:t>
            </a:r>
            <a:endParaRPr/>
          </a:p>
          <a:p>
            <a:pPr marL="0" lvl="0" indent="0" algn="l" rtl="0">
              <a:spcBef>
                <a:spcPts val="600"/>
              </a:spcBef>
              <a:spcAft>
                <a:spcPts val="0"/>
              </a:spcAft>
              <a:buNone/>
            </a:pPr>
            <a:r>
              <a:rPr lang="en"/>
              <a:t>But because they both have the same return value, our algorithm still works.</a:t>
            </a:r>
            <a:endParaRPr/>
          </a:p>
          <a:p>
            <a:pPr marL="0" lvl="0" indent="0" algn="l" rtl="0">
              <a:spcBef>
                <a:spcPts val="600"/>
              </a:spcBef>
              <a:spcAft>
                <a:spcPts val="0"/>
              </a:spcAft>
              <a:buNone/>
            </a:pPr>
            <a:endParaRPr/>
          </a:p>
          <a:p>
            <a:pPr marL="0" lvl="0" indent="0" algn="l" rtl="0">
              <a:spcBef>
                <a:spcPts val="600"/>
              </a:spcBef>
              <a:spcAft>
                <a:spcPts val="0"/>
              </a:spcAft>
              <a:buNone/>
            </a:pPr>
            <a:r>
              <a:rPr lang="en"/>
              <a:t>Universe where D is heavy							     Universe where D is light</a:t>
            </a:r>
            <a:endParaRPr/>
          </a:p>
        </p:txBody>
      </p:sp>
      <p:sp>
        <p:nvSpPr>
          <p:cNvPr id="1042" name="Google Shape;1042;p65"/>
          <p:cNvSpPr/>
          <p:nvPr/>
        </p:nvSpPr>
        <p:spPr>
          <a:xfrm>
            <a:off x="3398700" y="2685975"/>
            <a:ext cx="2346600" cy="1633800"/>
          </a:xfrm>
          <a:prstGeom prst="roundRect">
            <a:avLst>
              <a:gd name="adj" fmla="val 16667"/>
            </a:avLst>
          </a:prstGeom>
          <a:solidFill>
            <a:srgbClr val="A4C2F4"/>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3100"/>
              <a:t>D Fake</a:t>
            </a:r>
            <a:endParaRPr sz="3100"/>
          </a:p>
        </p:txBody>
      </p:sp>
      <p:sp>
        <p:nvSpPr>
          <p:cNvPr id="1043" name="Google Shape;1043;p65"/>
          <p:cNvSpPr/>
          <p:nvPr/>
        </p:nvSpPr>
        <p:spPr>
          <a:xfrm>
            <a:off x="182625" y="2919588"/>
            <a:ext cx="484200" cy="484200"/>
          </a:xfrm>
          <a:prstGeom prst="ellipse">
            <a:avLst/>
          </a:prstGeom>
          <a:solidFill>
            <a:srgbClr val="FFFF00"/>
          </a:solidFill>
          <a:ln w="1143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1</a:t>
            </a:r>
            <a:endParaRPr>
              <a:latin typeface="Roboto"/>
              <a:ea typeface="Roboto"/>
              <a:cs typeface="Roboto"/>
              <a:sym typeface="Roboto"/>
            </a:endParaRPr>
          </a:p>
        </p:txBody>
      </p:sp>
      <p:sp>
        <p:nvSpPr>
          <p:cNvPr id="1044" name="Google Shape;1044;p65"/>
          <p:cNvSpPr/>
          <p:nvPr/>
        </p:nvSpPr>
        <p:spPr>
          <a:xfrm>
            <a:off x="820025" y="2919588"/>
            <a:ext cx="484200" cy="484200"/>
          </a:xfrm>
          <a:prstGeom prst="ellipse">
            <a:avLst/>
          </a:prstGeom>
          <a:solidFill>
            <a:srgbClr val="FFFF00"/>
          </a:solidFill>
          <a:ln w="1143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2</a:t>
            </a:r>
            <a:endParaRPr>
              <a:latin typeface="Roboto"/>
              <a:ea typeface="Roboto"/>
              <a:cs typeface="Roboto"/>
              <a:sym typeface="Roboto"/>
            </a:endParaRPr>
          </a:p>
        </p:txBody>
      </p:sp>
      <p:sp>
        <p:nvSpPr>
          <p:cNvPr id="1045" name="Google Shape;1045;p65"/>
          <p:cNvSpPr/>
          <p:nvPr/>
        </p:nvSpPr>
        <p:spPr>
          <a:xfrm>
            <a:off x="1457425" y="2919588"/>
            <a:ext cx="484200" cy="484200"/>
          </a:xfrm>
          <a:prstGeom prst="ellipse">
            <a:avLst/>
          </a:prstGeom>
          <a:solidFill>
            <a:srgbClr val="FFFF00"/>
          </a:solidFill>
          <a:ln w="1143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3</a:t>
            </a:r>
            <a:endParaRPr>
              <a:latin typeface="Roboto"/>
              <a:ea typeface="Roboto"/>
              <a:cs typeface="Roboto"/>
              <a:sym typeface="Roboto"/>
            </a:endParaRPr>
          </a:p>
        </p:txBody>
      </p:sp>
      <p:sp>
        <p:nvSpPr>
          <p:cNvPr id="1046" name="Google Shape;1046;p65"/>
          <p:cNvSpPr/>
          <p:nvPr/>
        </p:nvSpPr>
        <p:spPr>
          <a:xfrm>
            <a:off x="2086000" y="2919588"/>
            <a:ext cx="484200" cy="484200"/>
          </a:xfrm>
          <a:prstGeom prst="ellipse">
            <a:avLst/>
          </a:prstGeom>
          <a:solidFill>
            <a:srgbClr val="FFFF00"/>
          </a:solidFill>
          <a:ln w="1143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4</a:t>
            </a:r>
            <a:endParaRPr>
              <a:latin typeface="Roboto"/>
              <a:ea typeface="Roboto"/>
              <a:cs typeface="Roboto"/>
              <a:sym typeface="Roboto"/>
            </a:endParaRPr>
          </a:p>
        </p:txBody>
      </p:sp>
      <p:sp>
        <p:nvSpPr>
          <p:cNvPr id="1047" name="Google Shape;1047;p65"/>
          <p:cNvSpPr/>
          <p:nvPr/>
        </p:nvSpPr>
        <p:spPr>
          <a:xfrm>
            <a:off x="2723400" y="2919588"/>
            <a:ext cx="484200" cy="484200"/>
          </a:xfrm>
          <a:prstGeom prst="ellipse">
            <a:avLst/>
          </a:prstGeom>
          <a:solidFill>
            <a:srgbClr val="FFFF00"/>
          </a:solidFill>
          <a:ln w="1143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5</a:t>
            </a:r>
            <a:endParaRPr>
              <a:latin typeface="Roboto"/>
              <a:ea typeface="Roboto"/>
              <a:cs typeface="Roboto"/>
              <a:sym typeface="Roboto"/>
            </a:endParaRPr>
          </a:p>
        </p:txBody>
      </p:sp>
      <p:sp>
        <p:nvSpPr>
          <p:cNvPr id="1048" name="Google Shape;1048;p65"/>
          <p:cNvSpPr/>
          <p:nvPr/>
        </p:nvSpPr>
        <p:spPr>
          <a:xfrm>
            <a:off x="187038" y="3601950"/>
            <a:ext cx="484200" cy="484200"/>
          </a:xfrm>
          <a:prstGeom prst="ellipse">
            <a:avLst/>
          </a:prstGeom>
          <a:solidFill>
            <a:srgbClr val="FFFF00"/>
          </a:solidFill>
          <a:ln w="1143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6</a:t>
            </a:r>
            <a:endParaRPr>
              <a:latin typeface="Roboto"/>
              <a:ea typeface="Roboto"/>
              <a:cs typeface="Roboto"/>
              <a:sym typeface="Roboto"/>
            </a:endParaRPr>
          </a:p>
        </p:txBody>
      </p:sp>
      <p:sp>
        <p:nvSpPr>
          <p:cNvPr id="1049" name="Google Shape;1049;p65"/>
          <p:cNvSpPr/>
          <p:nvPr/>
        </p:nvSpPr>
        <p:spPr>
          <a:xfrm>
            <a:off x="815613" y="3601950"/>
            <a:ext cx="484200" cy="484200"/>
          </a:xfrm>
          <a:prstGeom prst="ellipse">
            <a:avLst/>
          </a:prstGeom>
          <a:solidFill>
            <a:srgbClr val="FFFF00"/>
          </a:solidFill>
          <a:ln w="1143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7</a:t>
            </a:r>
            <a:endParaRPr>
              <a:latin typeface="Roboto"/>
              <a:ea typeface="Roboto"/>
              <a:cs typeface="Roboto"/>
              <a:sym typeface="Roboto"/>
            </a:endParaRPr>
          </a:p>
        </p:txBody>
      </p:sp>
      <p:sp>
        <p:nvSpPr>
          <p:cNvPr id="1050" name="Google Shape;1050;p65"/>
          <p:cNvSpPr/>
          <p:nvPr/>
        </p:nvSpPr>
        <p:spPr>
          <a:xfrm>
            <a:off x="1453013" y="3601950"/>
            <a:ext cx="484200" cy="484200"/>
          </a:xfrm>
          <a:prstGeom prst="ellipse">
            <a:avLst/>
          </a:prstGeom>
          <a:solidFill>
            <a:srgbClr val="FFFF00"/>
          </a:solidFill>
          <a:ln w="1143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8</a:t>
            </a:r>
            <a:endParaRPr>
              <a:latin typeface="Roboto"/>
              <a:ea typeface="Roboto"/>
              <a:cs typeface="Roboto"/>
              <a:sym typeface="Roboto"/>
            </a:endParaRPr>
          </a:p>
        </p:txBody>
      </p:sp>
      <p:sp>
        <p:nvSpPr>
          <p:cNvPr id="1051" name="Google Shape;1051;p65"/>
          <p:cNvSpPr/>
          <p:nvPr/>
        </p:nvSpPr>
        <p:spPr>
          <a:xfrm>
            <a:off x="2090413" y="3601950"/>
            <a:ext cx="484200" cy="484200"/>
          </a:xfrm>
          <a:prstGeom prst="ellipse">
            <a:avLst/>
          </a:prstGeom>
          <a:solidFill>
            <a:srgbClr val="FFFF00"/>
          </a:solidFill>
          <a:ln w="1143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9</a:t>
            </a:r>
            <a:endParaRPr>
              <a:latin typeface="Roboto"/>
              <a:ea typeface="Roboto"/>
              <a:cs typeface="Roboto"/>
              <a:sym typeface="Roboto"/>
            </a:endParaRPr>
          </a:p>
        </p:txBody>
      </p:sp>
      <p:sp>
        <p:nvSpPr>
          <p:cNvPr id="1052" name="Google Shape;1052;p65"/>
          <p:cNvSpPr/>
          <p:nvPr/>
        </p:nvSpPr>
        <p:spPr>
          <a:xfrm>
            <a:off x="2727813" y="3601950"/>
            <a:ext cx="484200" cy="484200"/>
          </a:xfrm>
          <a:prstGeom prst="ellipse">
            <a:avLst/>
          </a:prstGeom>
          <a:solidFill>
            <a:srgbClr val="FFFF00"/>
          </a:solidFill>
          <a:ln w="1143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A</a:t>
            </a:r>
            <a:endParaRPr>
              <a:latin typeface="Roboto"/>
              <a:ea typeface="Roboto"/>
              <a:cs typeface="Roboto"/>
              <a:sym typeface="Roboto"/>
            </a:endParaRPr>
          </a:p>
        </p:txBody>
      </p:sp>
      <p:sp>
        <p:nvSpPr>
          <p:cNvPr id="1053" name="Google Shape;1053;p65"/>
          <p:cNvSpPr/>
          <p:nvPr/>
        </p:nvSpPr>
        <p:spPr>
          <a:xfrm>
            <a:off x="5931975" y="2919613"/>
            <a:ext cx="484200" cy="484200"/>
          </a:xfrm>
          <a:prstGeom prst="ellipse">
            <a:avLst/>
          </a:prstGeom>
          <a:solidFill>
            <a:srgbClr val="FFFF00"/>
          </a:solidFill>
          <a:ln w="1143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1</a:t>
            </a:r>
            <a:endParaRPr>
              <a:latin typeface="Roboto"/>
              <a:ea typeface="Roboto"/>
              <a:cs typeface="Roboto"/>
              <a:sym typeface="Roboto"/>
            </a:endParaRPr>
          </a:p>
        </p:txBody>
      </p:sp>
      <p:sp>
        <p:nvSpPr>
          <p:cNvPr id="1054" name="Google Shape;1054;p65"/>
          <p:cNvSpPr/>
          <p:nvPr/>
        </p:nvSpPr>
        <p:spPr>
          <a:xfrm>
            <a:off x="6569375" y="2919613"/>
            <a:ext cx="484200" cy="484200"/>
          </a:xfrm>
          <a:prstGeom prst="ellipse">
            <a:avLst/>
          </a:prstGeom>
          <a:solidFill>
            <a:srgbClr val="FFFF00"/>
          </a:solidFill>
          <a:ln w="1143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2</a:t>
            </a:r>
            <a:endParaRPr>
              <a:latin typeface="Roboto"/>
              <a:ea typeface="Roboto"/>
              <a:cs typeface="Roboto"/>
              <a:sym typeface="Roboto"/>
            </a:endParaRPr>
          </a:p>
        </p:txBody>
      </p:sp>
      <p:sp>
        <p:nvSpPr>
          <p:cNvPr id="1055" name="Google Shape;1055;p65"/>
          <p:cNvSpPr/>
          <p:nvPr/>
        </p:nvSpPr>
        <p:spPr>
          <a:xfrm>
            <a:off x="7206775" y="2919613"/>
            <a:ext cx="484200" cy="484200"/>
          </a:xfrm>
          <a:prstGeom prst="ellipse">
            <a:avLst/>
          </a:prstGeom>
          <a:solidFill>
            <a:srgbClr val="FFFF00"/>
          </a:solidFill>
          <a:ln w="1143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3</a:t>
            </a:r>
            <a:endParaRPr>
              <a:latin typeface="Roboto"/>
              <a:ea typeface="Roboto"/>
              <a:cs typeface="Roboto"/>
              <a:sym typeface="Roboto"/>
            </a:endParaRPr>
          </a:p>
        </p:txBody>
      </p:sp>
      <p:sp>
        <p:nvSpPr>
          <p:cNvPr id="1056" name="Google Shape;1056;p65"/>
          <p:cNvSpPr/>
          <p:nvPr/>
        </p:nvSpPr>
        <p:spPr>
          <a:xfrm>
            <a:off x="7835350" y="2919613"/>
            <a:ext cx="484200" cy="484200"/>
          </a:xfrm>
          <a:prstGeom prst="ellipse">
            <a:avLst/>
          </a:prstGeom>
          <a:solidFill>
            <a:srgbClr val="FFFF00"/>
          </a:solidFill>
          <a:ln w="1143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4</a:t>
            </a:r>
            <a:endParaRPr>
              <a:latin typeface="Roboto"/>
              <a:ea typeface="Roboto"/>
              <a:cs typeface="Roboto"/>
              <a:sym typeface="Roboto"/>
            </a:endParaRPr>
          </a:p>
        </p:txBody>
      </p:sp>
      <p:sp>
        <p:nvSpPr>
          <p:cNvPr id="1057" name="Google Shape;1057;p65"/>
          <p:cNvSpPr/>
          <p:nvPr/>
        </p:nvSpPr>
        <p:spPr>
          <a:xfrm>
            <a:off x="8472750" y="2919613"/>
            <a:ext cx="484200" cy="484200"/>
          </a:xfrm>
          <a:prstGeom prst="ellipse">
            <a:avLst/>
          </a:prstGeom>
          <a:solidFill>
            <a:srgbClr val="FFFF00"/>
          </a:solidFill>
          <a:ln w="1143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5</a:t>
            </a:r>
            <a:endParaRPr>
              <a:latin typeface="Roboto"/>
              <a:ea typeface="Roboto"/>
              <a:cs typeface="Roboto"/>
              <a:sym typeface="Roboto"/>
            </a:endParaRPr>
          </a:p>
        </p:txBody>
      </p:sp>
      <p:sp>
        <p:nvSpPr>
          <p:cNvPr id="1058" name="Google Shape;1058;p65"/>
          <p:cNvSpPr/>
          <p:nvPr/>
        </p:nvSpPr>
        <p:spPr>
          <a:xfrm>
            <a:off x="5936388" y="3601975"/>
            <a:ext cx="484200" cy="484200"/>
          </a:xfrm>
          <a:prstGeom prst="ellipse">
            <a:avLst/>
          </a:prstGeom>
          <a:solidFill>
            <a:srgbClr val="FFFF00"/>
          </a:solidFill>
          <a:ln w="1143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6</a:t>
            </a:r>
            <a:endParaRPr>
              <a:latin typeface="Roboto"/>
              <a:ea typeface="Roboto"/>
              <a:cs typeface="Roboto"/>
              <a:sym typeface="Roboto"/>
            </a:endParaRPr>
          </a:p>
        </p:txBody>
      </p:sp>
      <p:sp>
        <p:nvSpPr>
          <p:cNvPr id="1059" name="Google Shape;1059;p65"/>
          <p:cNvSpPr/>
          <p:nvPr/>
        </p:nvSpPr>
        <p:spPr>
          <a:xfrm>
            <a:off x="6564963" y="3601975"/>
            <a:ext cx="484200" cy="484200"/>
          </a:xfrm>
          <a:prstGeom prst="ellipse">
            <a:avLst/>
          </a:prstGeom>
          <a:solidFill>
            <a:srgbClr val="FFFF00"/>
          </a:solidFill>
          <a:ln w="1143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7</a:t>
            </a:r>
            <a:endParaRPr>
              <a:latin typeface="Roboto"/>
              <a:ea typeface="Roboto"/>
              <a:cs typeface="Roboto"/>
              <a:sym typeface="Roboto"/>
            </a:endParaRPr>
          </a:p>
        </p:txBody>
      </p:sp>
      <p:sp>
        <p:nvSpPr>
          <p:cNvPr id="1060" name="Google Shape;1060;p65"/>
          <p:cNvSpPr/>
          <p:nvPr/>
        </p:nvSpPr>
        <p:spPr>
          <a:xfrm>
            <a:off x="7202363" y="3601975"/>
            <a:ext cx="484200" cy="484200"/>
          </a:xfrm>
          <a:prstGeom prst="ellipse">
            <a:avLst/>
          </a:prstGeom>
          <a:solidFill>
            <a:srgbClr val="FFFF00"/>
          </a:solidFill>
          <a:ln w="1143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8</a:t>
            </a:r>
            <a:endParaRPr>
              <a:latin typeface="Roboto"/>
              <a:ea typeface="Roboto"/>
              <a:cs typeface="Roboto"/>
              <a:sym typeface="Roboto"/>
            </a:endParaRPr>
          </a:p>
        </p:txBody>
      </p:sp>
      <p:sp>
        <p:nvSpPr>
          <p:cNvPr id="1061" name="Google Shape;1061;p65"/>
          <p:cNvSpPr/>
          <p:nvPr/>
        </p:nvSpPr>
        <p:spPr>
          <a:xfrm>
            <a:off x="7839763" y="3601975"/>
            <a:ext cx="484200" cy="484200"/>
          </a:xfrm>
          <a:prstGeom prst="ellipse">
            <a:avLst/>
          </a:prstGeom>
          <a:solidFill>
            <a:srgbClr val="FFFF00"/>
          </a:solidFill>
          <a:ln w="1143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9</a:t>
            </a:r>
            <a:endParaRPr>
              <a:latin typeface="Roboto"/>
              <a:ea typeface="Roboto"/>
              <a:cs typeface="Roboto"/>
              <a:sym typeface="Roboto"/>
            </a:endParaRPr>
          </a:p>
        </p:txBody>
      </p:sp>
      <p:sp>
        <p:nvSpPr>
          <p:cNvPr id="1062" name="Google Shape;1062;p65"/>
          <p:cNvSpPr/>
          <p:nvPr/>
        </p:nvSpPr>
        <p:spPr>
          <a:xfrm>
            <a:off x="8477163" y="3601975"/>
            <a:ext cx="484200" cy="484200"/>
          </a:xfrm>
          <a:prstGeom prst="ellipse">
            <a:avLst/>
          </a:prstGeom>
          <a:solidFill>
            <a:srgbClr val="FFFF00"/>
          </a:solidFill>
          <a:ln w="1143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A</a:t>
            </a:r>
            <a:endParaRPr>
              <a:latin typeface="Roboto"/>
              <a:ea typeface="Roboto"/>
              <a:cs typeface="Roboto"/>
              <a:sym typeface="Roboto"/>
            </a:endParaRPr>
          </a:p>
        </p:txBody>
      </p:sp>
      <p:sp>
        <p:nvSpPr>
          <p:cNvPr id="1063" name="Google Shape;1063;p65"/>
          <p:cNvSpPr/>
          <p:nvPr/>
        </p:nvSpPr>
        <p:spPr>
          <a:xfrm>
            <a:off x="820013" y="4284300"/>
            <a:ext cx="484200" cy="484200"/>
          </a:xfrm>
          <a:prstGeom prst="ellipse">
            <a:avLst/>
          </a:prstGeom>
          <a:solidFill>
            <a:srgbClr val="FFFF00"/>
          </a:solidFill>
          <a:ln w="1143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B</a:t>
            </a:r>
            <a:endParaRPr>
              <a:latin typeface="Roboto"/>
              <a:ea typeface="Roboto"/>
              <a:cs typeface="Roboto"/>
              <a:sym typeface="Roboto"/>
            </a:endParaRPr>
          </a:p>
        </p:txBody>
      </p:sp>
      <p:sp>
        <p:nvSpPr>
          <p:cNvPr id="1064" name="Google Shape;1064;p65"/>
          <p:cNvSpPr/>
          <p:nvPr/>
        </p:nvSpPr>
        <p:spPr>
          <a:xfrm>
            <a:off x="1457413" y="4284300"/>
            <a:ext cx="484200" cy="484200"/>
          </a:xfrm>
          <a:prstGeom prst="ellipse">
            <a:avLst/>
          </a:prstGeom>
          <a:solidFill>
            <a:srgbClr val="FFFF00"/>
          </a:solidFill>
          <a:ln w="1143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C</a:t>
            </a:r>
            <a:endParaRPr>
              <a:latin typeface="Roboto"/>
              <a:ea typeface="Roboto"/>
              <a:cs typeface="Roboto"/>
              <a:sym typeface="Roboto"/>
            </a:endParaRPr>
          </a:p>
        </p:txBody>
      </p:sp>
      <p:sp>
        <p:nvSpPr>
          <p:cNvPr id="1065" name="Google Shape;1065;p65"/>
          <p:cNvSpPr/>
          <p:nvPr/>
        </p:nvSpPr>
        <p:spPr>
          <a:xfrm>
            <a:off x="2094813" y="4284300"/>
            <a:ext cx="484200" cy="484200"/>
          </a:xfrm>
          <a:prstGeom prst="ellipse">
            <a:avLst/>
          </a:prstGeom>
          <a:solidFill>
            <a:srgbClr val="FF0000"/>
          </a:solidFill>
          <a:ln w="114300" cap="flat" cmpd="sng">
            <a:solidFill>
              <a:srgbClr val="FF00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D</a:t>
            </a:r>
            <a:endParaRPr>
              <a:latin typeface="Roboto"/>
              <a:ea typeface="Roboto"/>
              <a:cs typeface="Roboto"/>
              <a:sym typeface="Roboto"/>
            </a:endParaRPr>
          </a:p>
        </p:txBody>
      </p:sp>
      <p:sp>
        <p:nvSpPr>
          <p:cNvPr id="1066" name="Google Shape;1066;p65"/>
          <p:cNvSpPr/>
          <p:nvPr/>
        </p:nvSpPr>
        <p:spPr>
          <a:xfrm>
            <a:off x="6564963" y="4284325"/>
            <a:ext cx="484200" cy="484200"/>
          </a:xfrm>
          <a:prstGeom prst="ellipse">
            <a:avLst/>
          </a:prstGeom>
          <a:solidFill>
            <a:srgbClr val="FFFF00"/>
          </a:solidFill>
          <a:ln w="1143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B</a:t>
            </a:r>
            <a:endParaRPr>
              <a:latin typeface="Roboto"/>
              <a:ea typeface="Roboto"/>
              <a:cs typeface="Roboto"/>
              <a:sym typeface="Roboto"/>
            </a:endParaRPr>
          </a:p>
        </p:txBody>
      </p:sp>
      <p:sp>
        <p:nvSpPr>
          <p:cNvPr id="1067" name="Google Shape;1067;p65"/>
          <p:cNvSpPr/>
          <p:nvPr/>
        </p:nvSpPr>
        <p:spPr>
          <a:xfrm>
            <a:off x="7202363" y="4284325"/>
            <a:ext cx="484200" cy="484200"/>
          </a:xfrm>
          <a:prstGeom prst="ellipse">
            <a:avLst/>
          </a:prstGeom>
          <a:solidFill>
            <a:srgbClr val="FFFF00"/>
          </a:solidFill>
          <a:ln w="1143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C</a:t>
            </a:r>
            <a:endParaRPr>
              <a:latin typeface="Roboto"/>
              <a:ea typeface="Roboto"/>
              <a:cs typeface="Roboto"/>
              <a:sym typeface="Roboto"/>
            </a:endParaRPr>
          </a:p>
        </p:txBody>
      </p:sp>
      <p:sp>
        <p:nvSpPr>
          <p:cNvPr id="1068" name="Google Shape;1068;p65"/>
          <p:cNvSpPr/>
          <p:nvPr/>
        </p:nvSpPr>
        <p:spPr>
          <a:xfrm>
            <a:off x="7839763" y="4284325"/>
            <a:ext cx="484200" cy="484200"/>
          </a:xfrm>
          <a:prstGeom prst="ellipse">
            <a:avLst/>
          </a:prstGeom>
          <a:solidFill>
            <a:srgbClr val="FF00FF"/>
          </a:solidFill>
          <a:ln w="11430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D</a:t>
            </a:r>
            <a:endParaRPr>
              <a:latin typeface="Roboto"/>
              <a:ea typeface="Roboto"/>
              <a:cs typeface="Roboto"/>
              <a:sym typeface="Roboto"/>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72"/>
        <p:cNvGrpSpPr/>
        <p:nvPr/>
      </p:nvGrpSpPr>
      <p:grpSpPr>
        <a:xfrm>
          <a:off x="0" y="0"/>
          <a:ext cx="0" cy="0"/>
          <a:chOff x="0" y="0"/>
          <a:chExt cx="0" cy="0"/>
        </a:xfrm>
      </p:grpSpPr>
      <p:sp>
        <p:nvSpPr>
          <p:cNvPr id="1073" name="Google Shape;1073;p66"/>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12/13 Coins</a:t>
            </a:r>
            <a:endParaRPr/>
          </a:p>
        </p:txBody>
      </p:sp>
      <p:sp>
        <p:nvSpPr>
          <p:cNvPr id="1074" name="Google Shape;1074;p66"/>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sz="1600"/>
              <a:t>Universe counting is a useful tool to find lower bounds of algorithms, but it has some caveats:</a:t>
            </a:r>
            <a:endParaRPr sz="1600"/>
          </a:p>
          <a:p>
            <a:pPr marL="457200" lvl="0" indent="-330200" algn="l" rtl="0">
              <a:spcBef>
                <a:spcPts val="600"/>
              </a:spcBef>
              <a:spcAft>
                <a:spcPts val="0"/>
              </a:spcAft>
              <a:buSzPts val="1600"/>
              <a:buChar char="●"/>
            </a:pPr>
            <a:r>
              <a:rPr lang="en" sz="1600"/>
              <a:t>You can't show that a solution does exist; only that a solution doesn't exist</a:t>
            </a:r>
            <a:endParaRPr sz="1600"/>
          </a:p>
          <a:p>
            <a:pPr marL="457200" lvl="0" indent="-330200" algn="l" rtl="0">
              <a:spcBef>
                <a:spcPts val="0"/>
              </a:spcBef>
              <a:spcAft>
                <a:spcPts val="0"/>
              </a:spcAft>
              <a:buSzPts val="1600"/>
              <a:buChar char="●"/>
            </a:pPr>
            <a:r>
              <a:rPr lang="en" sz="1600"/>
              <a:t>If multiple universes yield the same result, they only count as 1 universe</a:t>
            </a:r>
            <a:endParaRPr sz="1600"/>
          </a:p>
          <a:p>
            <a:pPr marL="457200" lvl="0" indent="-330200" algn="l" rtl="0">
              <a:spcBef>
                <a:spcPts val="0"/>
              </a:spcBef>
              <a:spcAft>
                <a:spcPts val="0"/>
              </a:spcAft>
              <a:buSzPts val="1600"/>
              <a:buAutoNum type="alphaUcPeriod"/>
            </a:pPr>
            <a:r>
              <a:rPr lang="en" sz="1600" b="1"/>
              <a:t>12 coins (24 universes)</a:t>
            </a:r>
            <a:endParaRPr sz="1600" b="1"/>
          </a:p>
          <a:p>
            <a:pPr marL="457200" lvl="0" indent="-330200" algn="l" rtl="0">
              <a:spcBef>
                <a:spcPts val="0"/>
              </a:spcBef>
              <a:spcAft>
                <a:spcPts val="0"/>
              </a:spcAft>
              <a:buSzPts val="1600"/>
              <a:buAutoNum type="alphaUcPeriod"/>
            </a:pPr>
            <a:r>
              <a:rPr lang="en" sz="1600" b="1"/>
              <a:t>12 coins if we have a 13th reference coin that is guaranteed to be real</a:t>
            </a:r>
            <a:endParaRPr sz="1600" b="1"/>
          </a:p>
          <a:p>
            <a:pPr marL="457200" lvl="0" indent="-330200" algn="l" rtl="0">
              <a:spcBef>
                <a:spcPts val="0"/>
              </a:spcBef>
              <a:spcAft>
                <a:spcPts val="0"/>
              </a:spcAft>
              <a:buSzPts val="1600"/>
              <a:buAutoNum type="alphaUcPeriod"/>
            </a:pPr>
            <a:r>
              <a:rPr lang="en" sz="1600" b="1"/>
              <a:t>12 coins if we don't care about whether the counterfeit is heavier or lighter</a:t>
            </a:r>
            <a:endParaRPr sz="1600" b="1"/>
          </a:p>
          <a:p>
            <a:pPr marL="457200" lvl="0" indent="-330200" algn="l" rtl="0">
              <a:spcBef>
                <a:spcPts val="0"/>
              </a:spcBef>
              <a:spcAft>
                <a:spcPts val="0"/>
              </a:spcAft>
              <a:buSzPts val="1600"/>
              <a:buAutoNum type="alphaUcPeriod"/>
            </a:pPr>
            <a:r>
              <a:rPr lang="en" sz="1600"/>
              <a:t>13 coins (26 universes)</a:t>
            </a:r>
            <a:endParaRPr sz="1600"/>
          </a:p>
          <a:p>
            <a:pPr marL="457200" lvl="0" indent="-330200" algn="l" rtl="0">
              <a:spcBef>
                <a:spcPts val="0"/>
              </a:spcBef>
              <a:spcAft>
                <a:spcPts val="0"/>
              </a:spcAft>
              <a:buSzPts val="1600"/>
              <a:buAutoNum type="alphaUcPeriod"/>
            </a:pPr>
            <a:r>
              <a:rPr lang="en" sz="1600" b="1"/>
              <a:t>13 coins if we have a 14th reference coin that is guaranteed to be real</a:t>
            </a:r>
            <a:endParaRPr sz="1600" b="1"/>
          </a:p>
          <a:p>
            <a:pPr marL="457200" lvl="0" indent="-330200" algn="l" rtl="0">
              <a:spcBef>
                <a:spcPts val="0"/>
              </a:spcBef>
              <a:spcAft>
                <a:spcPts val="0"/>
              </a:spcAft>
              <a:buSzPts val="1600"/>
              <a:buAutoNum type="alphaUcPeriod"/>
            </a:pPr>
            <a:r>
              <a:rPr lang="en" sz="1600" b="1"/>
              <a:t>13 coins if we don't care about whether the counterfeit is heavier or lighter</a:t>
            </a:r>
            <a:endParaRPr sz="1600" b="1"/>
          </a:p>
        </p:txBody>
      </p:sp>
      <p:pic>
        <p:nvPicPr>
          <p:cNvPr id="1075" name="Google Shape;1075;p66"/>
          <p:cNvPicPr preferRelativeResize="0"/>
          <p:nvPr/>
        </p:nvPicPr>
        <p:blipFill>
          <a:blip r:embed="rId3">
            <a:alphaModFix/>
          </a:blip>
          <a:stretch>
            <a:fillRect/>
          </a:stretch>
        </p:blipFill>
        <p:spPr>
          <a:xfrm>
            <a:off x="7081474" y="3143674"/>
            <a:ext cx="2051075" cy="1774176"/>
          </a:xfrm>
          <a:prstGeom prst="rect">
            <a:avLst/>
          </a:prstGeom>
          <a:noFill/>
          <a:ln>
            <a:noFill/>
          </a:ln>
        </p:spPr>
      </p:pic>
      <p:sp>
        <p:nvSpPr>
          <p:cNvPr id="1076" name="Google Shape;1076;p66"/>
          <p:cNvSpPr/>
          <p:nvPr/>
        </p:nvSpPr>
        <p:spPr>
          <a:xfrm>
            <a:off x="479825" y="3639200"/>
            <a:ext cx="484200" cy="484200"/>
          </a:xfrm>
          <a:prstGeom prst="ellipse">
            <a:avLst/>
          </a:prstGeom>
          <a:solidFill>
            <a:srgbClr val="FFFF00"/>
          </a:solidFill>
          <a:ln w="1143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1</a:t>
            </a:r>
            <a:endParaRPr>
              <a:latin typeface="Roboto"/>
              <a:ea typeface="Roboto"/>
              <a:cs typeface="Roboto"/>
              <a:sym typeface="Roboto"/>
            </a:endParaRPr>
          </a:p>
        </p:txBody>
      </p:sp>
      <p:sp>
        <p:nvSpPr>
          <p:cNvPr id="1077" name="Google Shape;1077;p66"/>
          <p:cNvSpPr/>
          <p:nvPr/>
        </p:nvSpPr>
        <p:spPr>
          <a:xfrm>
            <a:off x="1117225" y="3639200"/>
            <a:ext cx="484200" cy="484200"/>
          </a:xfrm>
          <a:prstGeom prst="ellipse">
            <a:avLst/>
          </a:prstGeom>
          <a:solidFill>
            <a:srgbClr val="FFFF00"/>
          </a:solidFill>
          <a:ln w="1143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2</a:t>
            </a:r>
            <a:endParaRPr>
              <a:latin typeface="Roboto"/>
              <a:ea typeface="Roboto"/>
              <a:cs typeface="Roboto"/>
              <a:sym typeface="Roboto"/>
            </a:endParaRPr>
          </a:p>
        </p:txBody>
      </p:sp>
      <p:sp>
        <p:nvSpPr>
          <p:cNvPr id="1078" name="Google Shape;1078;p66"/>
          <p:cNvSpPr/>
          <p:nvPr/>
        </p:nvSpPr>
        <p:spPr>
          <a:xfrm>
            <a:off x="1754625" y="3639200"/>
            <a:ext cx="484200" cy="484200"/>
          </a:xfrm>
          <a:prstGeom prst="ellipse">
            <a:avLst/>
          </a:prstGeom>
          <a:solidFill>
            <a:srgbClr val="FFFF00"/>
          </a:solidFill>
          <a:ln w="1143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3</a:t>
            </a:r>
            <a:endParaRPr>
              <a:latin typeface="Roboto"/>
              <a:ea typeface="Roboto"/>
              <a:cs typeface="Roboto"/>
              <a:sym typeface="Roboto"/>
            </a:endParaRPr>
          </a:p>
        </p:txBody>
      </p:sp>
      <p:sp>
        <p:nvSpPr>
          <p:cNvPr id="1079" name="Google Shape;1079;p66"/>
          <p:cNvSpPr/>
          <p:nvPr/>
        </p:nvSpPr>
        <p:spPr>
          <a:xfrm>
            <a:off x="2383200" y="3639200"/>
            <a:ext cx="484200" cy="484200"/>
          </a:xfrm>
          <a:prstGeom prst="ellipse">
            <a:avLst/>
          </a:prstGeom>
          <a:solidFill>
            <a:srgbClr val="FFFF00"/>
          </a:solidFill>
          <a:ln w="1143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4</a:t>
            </a:r>
            <a:endParaRPr>
              <a:latin typeface="Roboto"/>
              <a:ea typeface="Roboto"/>
              <a:cs typeface="Roboto"/>
              <a:sym typeface="Roboto"/>
            </a:endParaRPr>
          </a:p>
        </p:txBody>
      </p:sp>
      <p:sp>
        <p:nvSpPr>
          <p:cNvPr id="1080" name="Google Shape;1080;p66"/>
          <p:cNvSpPr/>
          <p:nvPr/>
        </p:nvSpPr>
        <p:spPr>
          <a:xfrm>
            <a:off x="3020600" y="3639200"/>
            <a:ext cx="484200" cy="484200"/>
          </a:xfrm>
          <a:prstGeom prst="ellipse">
            <a:avLst/>
          </a:prstGeom>
          <a:solidFill>
            <a:srgbClr val="FFFF00"/>
          </a:solidFill>
          <a:ln w="1143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5</a:t>
            </a:r>
            <a:endParaRPr>
              <a:latin typeface="Roboto"/>
              <a:ea typeface="Roboto"/>
              <a:cs typeface="Roboto"/>
              <a:sym typeface="Roboto"/>
            </a:endParaRPr>
          </a:p>
        </p:txBody>
      </p:sp>
      <p:sp>
        <p:nvSpPr>
          <p:cNvPr id="1081" name="Google Shape;1081;p66"/>
          <p:cNvSpPr/>
          <p:nvPr/>
        </p:nvSpPr>
        <p:spPr>
          <a:xfrm>
            <a:off x="3658000" y="3639200"/>
            <a:ext cx="484200" cy="484200"/>
          </a:xfrm>
          <a:prstGeom prst="ellipse">
            <a:avLst/>
          </a:prstGeom>
          <a:solidFill>
            <a:srgbClr val="FFFF00"/>
          </a:solidFill>
          <a:ln w="1143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6</a:t>
            </a:r>
            <a:endParaRPr>
              <a:latin typeface="Roboto"/>
              <a:ea typeface="Roboto"/>
              <a:cs typeface="Roboto"/>
              <a:sym typeface="Roboto"/>
            </a:endParaRPr>
          </a:p>
        </p:txBody>
      </p:sp>
      <p:sp>
        <p:nvSpPr>
          <p:cNvPr id="1082" name="Google Shape;1082;p66"/>
          <p:cNvSpPr/>
          <p:nvPr/>
        </p:nvSpPr>
        <p:spPr>
          <a:xfrm>
            <a:off x="4295400" y="3639200"/>
            <a:ext cx="484200" cy="484200"/>
          </a:xfrm>
          <a:prstGeom prst="ellipse">
            <a:avLst/>
          </a:prstGeom>
          <a:solidFill>
            <a:srgbClr val="FFFF00"/>
          </a:solidFill>
          <a:ln w="1143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7</a:t>
            </a:r>
            <a:endParaRPr>
              <a:latin typeface="Roboto"/>
              <a:ea typeface="Roboto"/>
              <a:cs typeface="Roboto"/>
              <a:sym typeface="Roboto"/>
            </a:endParaRPr>
          </a:p>
        </p:txBody>
      </p:sp>
      <p:sp>
        <p:nvSpPr>
          <p:cNvPr id="1083" name="Google Shape;1083;p66"/>
          <p:cNvSpPr/>
          <p:nvPr/>
        </p:nvSpPr>
        <p:spPr>
          <a:xfrm>
            <a:off x="479825" y="4293100"/>
            <a:ext cx="484200" cy="484200"/>
          </a:xfrm>
          <a:prstGeom prst="ellipse">
            <a:avLst/>
          </a:prstGeom>
          <a:solidFill>
            <a:srgbClr val="FFFF00"/>
          </a:solidFill>
          <a:ln w="1143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8</a:t>
            </a:r>
            <a:endParaRPr>
              <a:latin typeface="Roboto"/>
              <a:ea typeface="Roboto"/>
              <a:cs typeface="Roboto"/>
              <a:sym typeface="Roboto"/>
            </a:endParaRPr>
          </a:p>
        </p:txBody>
      </p:sp>
      <p:sp>
        <p:nvSpPr>
          <p:cNvPr id="1084" name="Google Shape;1084;p66"/>
          <p:cNvSpPr/>
          <p:nvPr/>
        </p:nvSpPr>
        <p:spPr>
          <a:xfrm>
            <a:off x="1117225" y="4293100"/>
            <a:ext cx="484200" cy="484200"/>
          </a:xfrm>
          <a:prstGeom prst="ellipse">
            <a:avLst/>
          </a:prstGeom>
          <a:solidFill>
            <a:srgbClr val="FFFF00"/>
          </a:solidFill>
          <a:ln w="1143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9</a:t>
            </a:r>
            <a:endParaRPr>
              <a:latin typeface="Roboto"/>
              <a:ea typeface="Roboto"/>
              <a:cs typeface="Roboto"/>
              <a:sym typeface="Roboto"/>
            </a:endParaRPr>
          </a:p>
        </p:txBody>
      </p:sp>
      <p:sp>
        <p:nvSpPr>
          <p:cNvPr id="1085" name="Google Shape;1085;p66"/>
          <p:cNvSpPr/>
          <p:nvPr/>
        </p:nvSpPr>
        <p:spPr>
          <a:xfrm>
            <a:off x="1754625" y="4293100"/>
            <a:ext cx="484200" cy="484200"/>
          </a:xfrm>
          <a:prstGeom prst="ellipse">
            <a:avLst/>
          </a:prstGeom>
          <a:solidFill>
            <a:srgbClr val="FFFF00"/>
          </a:solidFill>
          <a:ln w="1143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latin typeface="Roboto"/>
                <a:ea typeface="Roboto"/>
                <a:cs typeface="Roboto"/>
                <a:sym typeface="Roboto"/>
              </a:rPr>
              <a:t>10</a:t>
            </a:r>
            <a:endParaRPr sz="1100">
              <a:latin typeface="Roboto"/>
              <a:ea typeface="Roboto"/>
              <a:cs typeface="Roboto"/>
              <a:sym typeface="Roboto"/>
            </a:endParaRPr>
          </a:p>
        </p:txBody>
      </p:sp>
      <p:sp>
        <p:nvSpPr>
          <p:cNvPr id="1086" name="Google Shape;1086;p66"/>
          <p:cNvSpPr/>
          <p:nvPr/>
        </p:nvSpPr>
        <p:spPr>
          <a:xfrm>
            <a:off x="2383200" y="4293100"/>
            <a:ext cx="484200" cy="484200"/>
          </a:xfrm>
          <a:prstGeom prst="ellipse">
            <a:avLst/>
          </a:prstGeom>
          <a:solidFill>
            <a:srgbClr val="FFFF00"/>
          </a:solidFill>
          <a:ln w="1143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latin typeface="Roboto"/>
                <a:ea typeface="Roboto"/>
                <a:cs typeface="Roboto"/>
                <a:sym typeface="Roboto"/>
              </a:rPr>
              <a:t>11</a:t>
            </a:r>
            <a:endParaRPr sz="1100">
              <a:latin typeface="Roboto"/>
              <a:ea typeface="Roboto"/>
              <a:cs typeface="Roboto"/>
              <a:sym typeface="Roboto"/>
            </a:endParaRPr>
          </a:p>
        </p:txBody>
      </p:sp>
      <p:sp>
        <p:nvSpPr>
          <p:cNvPr id="1087" name="Google Shape;1087;p66"/>
          <p:cNvSpPr/>
          <p:nvPr/>
        </p:nvSpPr>
        <p:spPr>
          <a:xfrm>
            <a:off x="3020600" y="4293100"/>
            <a:ext cx="484200" cy="484200"/>
          </a:xfrm>
          <a:prstGeom prst="ellipse">
            <a:avLst/>
          </a:prstGeom>
          <a:solidFill>
            <a:srgbClr val="FFFF00"/>
          </a:solidFill>
          <a:ln w="1143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latin typeface="Roboto"/>
                <a:ea typeface="Roboto"/>
                <a:cs typeface="Roboto"/>
                <a:sym typeface="Roboto"/>
              </a:rPr>
              <a:t>12</a:t>
            </a:r>
            <a:endParaRPr sz="1100">
              <a:latin typeface="Roboto"/>
              <a:ea typeface="Roboto"/>
              <a:cs typeface="Roboto"/>
              <a:sym typeface="Roboto"/>
            </a:endParaRPr>
          </a:p>
        </p:txBody>
      </p:sp>
      <p:sp>
        <p:nvSpPr>
          <p:cNvPr id="1088" name="Google Shape;1088;p66"/>
          <p:cNvSpPr/>
          <p:nvPr/>
        </p:nvSpPr>
        <p:spPr>
          <a:xfrm>
            <a:off x="3658000" y="4293100"/>
            <a:ext cx="484200" cy="484200"/>
          </a:xfrm>
          <a:prstGeom prst="ellipse">
            <a:avLst/>
          </a:prstGeom>
          <a:solidFill>
            <a:srgbClr val="FFFF00"/>
          </a:solidFill>
          <a:ln w="1143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latin typeface="Roboto"/>
                <a:ea typeface="Roboto"/>
                <a:cs typeface="Roboto"/>
                <a:sym typeface="Roboto"/>
              </a:rPr>
              <a:t>13</a:t>
            </a:r>
            <a:endParaRPr sz="1100">
              <a:latin typeface="Roboto"/>
              <a:ea typeface="Roboto"/>
              <a:cs typeface="Roboto"/>
              <a:sym typeface="Roboto"/>
            </a:endParaRPr>
          </a:p>
        </p:txBody>
      </p:sp>
      <p:sp>
        <p:nvSpPr>
          <p:cNvPr id="1089" name="Google Shape;1089;p66"/>
          <p:cNvSpPr/>
          <p:nvPr/>
        </p:nvSpPr>
        <p:spPr>
          <a:xfrm>
            <a:off x="4295400" y="4293100"/>
            <a:ext cx="484200" cy="484200"/>
          </a:xfrm>
          <a:prstGeom prst="ellipse">
            <a:avLst/>
          </a:prstGeom>
          <a:solidFill>
            <a:srgbClr val="FFFF00"/>
          </a:solidFill>
          <a:ln w="1143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latin typeface="Roboto"/>
                <a:ea typeface="Roboto"/>
                <a:cs typeface="Roboto"/>
                <a:sym typeface="Roboto"/>
              </a:rPr>
              <a:t>R</a:t>
            </a:r>
            <a:endParaRPr sz="1100">
              <a:latin typeface="Roboto"/>
              <a:ea typeface="Roboto"/>
              <a:cs typeface="Roboto"/>
              <a:sym typeface="Roboto"/>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093"/>
        <p:cNvGrpSpPr/>
        <p:nvPr/>
      </p:nvGrpSpPr>
      <p:grpSpPr>
        <a:xfrm>
          <a:off x="0" y="0"/>
          <a:ext cx="0" cy="0"/>
          <a:chOff x="0" y="0"/>
          <a:chExt cx="0" cy="0"/>
        </a:xfrm>
      </p:grpSpPr>
      <p:sp>
        <p:nvSpPr>
          <p:cNvPr id="1094" name="Google Shape;1094;p67"/>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Universe Counting</a:t>
            </a:r>
            <a:endParaRPr/>
          </a:p>
        </p:txBody>
      </p:sp>
      <p:sp>
        <p:nvSpPr>
          <p:cNvPr id="1095" name="Google Shape;1095;p67"/>
          <p:cNvSpPr txBox="1">
            <a:spLocks noGrp="1"/>
          </p:cNvSpPr>
          <p:nvPr>
            <p:ph type="body" idx="1"/>
          </p:nvPr>
        </p:nvSpPr>
        <p:spPr>
          <a:xfrm>
            <a:off x="107050" y="402200"/>
            <a:ext cx="8520600" cy="557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sz="1600"/>
              <a:t>In general, any decision tree with K layers and a branching factor of R (3 in this case) has at most R</a:t>
            </a:r>
            <a:r>
              <a:rPr lang="en" sz="1600" baseline="30000"/>
              <a:t>K</a:t>
            </a:r>
            <a:r>
              <a:rPr lang="en" sz="1600"/>
              <a:t> leaves, so it can handle a problem with up to R</a:t>
            </a:r>
            <a:r>
              <a:rPr lang="en" sz="1600" baseline="30000"/>
              <a:t>K</a:t>
            </a:r>
            <a:r>
              <a:rPr lang="en" sz="1600"/>
              <a:t> universes.</a:t>
            </a:r>
            <a:endParaRPr sz="1600"/>
          </a:p>
          <a:p>
            <a:pPr marL="0" lvl="0" indent="0" algn="l" rtl="0">
              <a:spcBef>
                <a:spcPts val="600"/>
              </a:spcBef>
              <a:spcAft>
                <a:spcPts val="0"/>
              </a:spcAft>
              <a:buNone/>
            </a:pPr>
            <a:r>
              <a:rPr lang="en" sz="1600"/>
              <a:t>If we flip this around, that means that if we have a problem that has R</a:t>
            </a:r>
            <a:r>
              <a:rPr lang="en" sz="1600" baseline="30000"/>
              <a:t>K</a:t>
            </a:r>
            <a:r>
              <a:rPr lang="en" sz="1600"/>
              <a:t> universes, the decision tree must have at least K layers</a:t>
            </a:r>
            <a:endParaRPr sz="1600"/>
          </a:p>
          <a:p>
            <a:pPr marL="457200" lvl="0" indent="-330200" algn="l" rtl="0">
              <a:spcBef>
                <a:spcPts val="600"/>
              </a:spcBef>
              <a:spcAft>
                <a:spcPts val="0"/>
              </a:spcAft>
              <a:buSzPts val="1600"/>
              <a:buChar char="●"/>
            </a:pPr>
            <a:r>
              <a:rPr lang="en" sz="1600"/>
              <a:t>Or if we have a problem with K universes, the decision tree must have Ω(log K) layers</a:t>
            </a:r>
            <a:endParaRPr sz="1600"/>
          </a:p>
        </p:txBody>
      </p:sp>
      <p:sp>
        <p:nvSpPr>
          <p:cNvPr id="1096" name="Google Shape;1096;p67"/>
          <p:cNvSpPr/>
          <p:nvPr/>
        </p:nvSpPr>
        <p:spPr>
          <a:xfrm>
            <a:off x="3566950" y="2509200"/>
            <a:ext cx="1386900" cy="5103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1097" name="Google Shape;1097;p67"/>
          <p:cNvSpPr/>
          <p:nvPr/>
        </p:nvSpPr>
        <p:spPr>
          <a:xfrm>
            <a:off x="870200" y="3237250"/>
            <a:ext cx="1221900" cy="593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98" name="Google Shape;1098;p67"/>
          <p:cNvSpPr/>
          <p:nvPr/>
        </p:nvSpPr>
        <p:spPr>
          <a:xfrm>
            <a:off x="3649350" y="3237250"/>
            <a:ext cx="1221900" cy="593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99" name="Google Shape;1099;p67"/>
          <p:cNvSpPr/>
          <p:nvPr/>
        </p:nvSpPr>
        <p:spPr>
          <a:xfrm>
            <a:off x="6428500" y="3237250"/>
            <a:ext cx="1221900" cy="593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1100" name="Google Shape;1100;p67"/>
          <p:cNvCxnSpPr>
            <a:stCxn id="1096" idx="2"/>
            <a:endCxn id="1097" idx="0"/>
          </p:cNvCxnSpPr>
          <p:nvPr/>
        </p:nvCxnSpPr>
        <p:spPr>
          <a:xfrm flipH="1">
            <a:off x="1481200" y="3019500"/>
            <a:ext cx="2779200" cy="217800"/>
          </a:xfrm>
          <a:prstGeom prst="straightConnector1">
            <a:avLst/>
          </a:prstGeom>
          <a:noFill/>
          <a:ln w="38100" cap="flat" cmpd="sng">
            <a:solidFill>
              <a:srgbClr val="FF0000"/>
            </a:solidFill>
            <a:prstDash val="solid"/>
            <a:round/>
            <a:headEnd type="none" w="med" len="med"/>
            <a:tailEnd type="none" w="med" len="med"/>
          </a:ln>
        </p:spPr>
      </p:cxnSp>
      <p:cxnSp>
        <p:nvCxnSpPr>
          <p:cNvPr id="1101" name="Google Shape;1101;p67"/>
          <p:cNvCxnSpPr>
            <a:stCxn id="1096" idx="2"/>
            <a:endCxn id="1098" idx="0"/>
          </p:cNvCxnSpPr>
          <p:nvPr/>
        </p:nvCxnSpPr>
        <p:spPr>
          <a:xfrm>
            <a:off x="4260400" y="3019500"/>
            <a:ext cx="0" cy="217800"/>
          </a:xfrm>
          <a:prstGeom prst="straightConnector1">
            <a:avLst/>
          </a:prstGeom>
          <a:noFill/>
          <a:ln w="38100" cap="flat" cmpd="sng">
            <a:solidFill>
              <a:schemeClr val="dk2"/>
            </a:solidFill>
            <a:prstDash val="solid"/>
            <a:round/>
            <a:headEnd type="none" w="med" len="med"/>
            <a:tailEnd type="none" w="med" len="med"/>
          </a:ln>
        </p:spPr>
      </p:cxnSp>
      <p:cxnSp>
        <p:nvCxnSpPr>
          <p:cNvPr id="1102" name="Google Shape;1102;p67"/>
          <p:cNvCxnSpPr>
            <a:stCxn id="1096" idx="2"/>
            <a:endCxn id="1099" idx="0"/>
          </p:cNvCxnSpPr>
          <p:nvPr/>
        </p:nvCxnSpPr>
        <p:spPr>
          <a:xfrm>
            <a:off x="4260400" y="3019500"/>
            <a:ext cx="2779200" cy="217800"/>
          </a:xfrm>
          <a:prstGeom prst="straightConnector1">
            <a:avLst/>
          </a:prstGeom>
          <a:noFill/>
          <a:ln w="38100" cap="flat" cmpd="sng">
            <a:solidFill>
              <a:srgbClr val="0000FF"/>
            </a:solidFill>
            <a:prstDash val="solid"/>
            <a:round/>
            <a:headEnd type="none" w="med" len="med"/>
            <a:tailEnd type="none" w="med" len="med"/>
          </a:ln>
        </p:spPr>
      </p:cxnSp>
      <p:cxnSp>
        <p:nvCxnSpPr>
          <p:cNvPr id="1103" name="Google Shape;1103;p67"/>
          <p:cNvCxnSpPr>
            <a:stCxn id="1097" idx="2"/>
            <a:endCxn id="1104" idx="0"/>
          </p:cNvCxnSpPr>
          <p:nvPr/>
        </p:nvCxnSpPr>
        <p:spPr>
          <a:xfrm flipH="1">
            <a:off x="471650" y="3830950"/>
            <a:ext cx="1009500" cy="462300"/>
          </a:xfrm>
          <a:prstGeom prst="straightConnector1">
            <a:avLst/>
          </a:prstGeom>
          <a:noFill/>
          <a:ln w="38100" cap="flat" cmpd="sng">
            <a:solidFill>
              <a:srgbClr val="FF0000"/>
            </a:solidFill>
            <a:prstDash val="solid"/>
            <a:round/>
            <a:headEnd type="none" w="med" len="med"/>
            <a:tailEnd type="none" w="med" len="med"/>
          </a:ln>
        </p:spPr>
      </p:cxnSp>
      <p:cxnSp>
        <p:nvCxnSpPr>
          <p:cNvPr id="1105" name="Google Shape;1105;p67"/>
          <p:cNvCxnSpPr>
            <a:stCxn id="1097" idx="2"/>
            <a:endCxn id="1106" idx="0"/>
          </p:cNvCxnSpPr>
          <p:nvPr/>
        </p:nvCxnSpPr>
        <p:spPr>
          <a:xfrm>
            <a:off x="1481150" y="3830950"/>
            <a:ext cx="0" cy="462300"/>
          </a:xfrm>
          <a:prstGeom prst="straightConnector1">
            <a:avLst/>
          </a:prstGeom>
          <a:noFill/>
          <a:ln w="38100" cap="flat" cmpd="sng">
            <a:solidFill>
              <a:schemeClr val="dk2"/>
            </a:solidFill>
            <a:prstDash val="solid"/>
            <a:round/>
            <a:headEnd type="none" w="med" len="med"/>
            <a:tailEnd type="none" w="med" len="med"/>
          </a:ln>
        </p:spPr>
      </p:cxnSp>
      <p:cxnSp>
        <p:nvCxnSpPr>
          <p:cNvPr id="1107" name="Google Shape;1107;p67"/>
          <p:cNvCxnSpPr>
            <a:stCxn id="1097" idx="2"/>
            <a:endCxn id="1108" idx="0"/>
          </p:cNvCxnSpPr>
          <p:nvPr/>
        </p:nvCxnSpPr>
        <p:spPr>
          <a:xfrm>
            <a:off x="1481150" y="3830950"/>
            <a:ext cx="947100" cy="462300"/>
          </a:xfrm>
          <a:prstGeom prst="straightConnector1">
            <a:avLst/>
          </a:prstGeom>
          <a:noFill/>
          <a:ln w="38100" cap="flat" cmpd="sng">
            <a:solidFill>
              <a:srgbClr val="0000FF"/>
            </a:solidFill>
            <a:prstDash val="solid"/>
            <a:round/>
            <a:headEnd type="none" w="med" len="med"/>
            <a:tailEnd type="none" w="med" len="med"/>
          </a:ln>
        </p:spPr>
      </p:cxnSp>
      <p:cxnSp>
        <p:nvCxnSpPr>
          <p:cNvPr id="1109" name="Google Shape;1109;p67"/>
          <p:cNvCxnSpPr>
            <a:stCxn id="1099" idx="2"/>
            <a:endCxn id="1110" idx="0"/>
          </p:cNvCxnSpPr>
          <p:nvPr/>
        </p:nvCxnSpPr>
        <p:spPr>
          <a:xfrm flipH="1">
            <a:off x="6092350" y="3830950"/>
            <a:ext cx="947100" cy="462300"/>
          </a:xfrm>
          <a:prstGeom prst="straightConnector1">
            <a:avLst/>
          </a:prstGeom>
          <a:noFill/>
          <a:ln w="38100" cap="flat" cmpd="sng">
            <a:solidFill>
              <a:srgbClr val="FF0000"/>
            </a:solidFill>
            <a:prstDash val="solid"/>
            <a:round/>
            <a:headEnd type="none" w="med" len="med"/>
            <a:tailEnd type="none" w="med" len="med"/>
          </a:ln>
        </p:spPr>
      </p:cxnSp>
      <p:cxnSp>
        <p:nvCxnSpPr>
          <p:cNvPr id="1111" name="Google Shape;1111;p67"/>
          <p:cNvCxnSpPr>
            <a:stCxn id="1099" idx="2"/>
            <a:endCxn id="1112" idx="0"/>
          </p:cNvCxnSpPr>
          <p:nvPr/>
        </p:nvCxnSpPr>
        <p:spPr>
          <a:xfrm>
            <a:off x="7039450" y="3830950"/>
            <a:ext cx="0" cy="462300"/>
          </a:xfrm>
          <a:prstGeom prst="straightConnector1">
            <a:avLst/>
          </a:prstGeom>
          <a:noFill/>
          <a:ln w="38100" cap="flat" cmpd="sng">
            <a:solidFill>
              <a:schemeClr val="dk2"/>
            </a:solidFill>
            <a:prstDash val="solid"/>
            <a:round/>
            <a:headEnd type="none" w="med" len="med"/>
            <a:tailEnd type="none" w="med" len="med"/>
          </a:ln>
        </p:spPr>
      </p:cxnSp>
      <p:cxnSp>
        <p:nvCxnSpPr>
          <p:cNvPr id="1113" name="Google Shape;1113;p67"/>
          <p:cNvCxnSpPr>
            <a:stCxn id="1099" idx="2"/>
            <a:endCxn id="1114" idx="0"/>
          </p:cNvCxnSpPr>
          <p:nvPr/>
        </p:nvCxnSpPr>
        <p:spPr>
          <a:xfrm>
            <a:off x="7039450" y="3830950"/>
            <a:ext cx="1009500" cy="462300"/>
          </a:xfrm>
          <a:prstGeom prst="straightConnector1">
            <a:avLst/>
          </a:prstGeom>
          <a:noFill/>
          <a:ln w="38100" cap="flat" cmpd="sng">
            <a:solidFill>
              <a:srgbClr val="0000FF"/>
            </a:solidFill>
            <a:prstDash val="solid"/>
            <a:round/>
            <a:headEnd type="none" w="med" len="med"/>
            <a:tailEnd type="none" w="med" len="med"/>
          </a:ln>
        </p:spPr>
      </p:cxnSp>
      <p:cxnSp>
        <p:nvCxnSpPr>
          <p:cNvPr id="1115" name="Google Shape;1115;p67"/>
          <p:cNvCxnSpPr>
            <a:stCxn id="1098" idx="2"/>
            <a:endCxn id="1116" idx="0"/>
          </p:cNvCxnSpPr>
          <p:nvPr/>
        </p:nvCxnSpPr>
        <p:spPr>
          <a:xfrm flipH="1">
            <a:off x="3375300" y="3830950"/>
            <a:ext cx="885000" cy="462300"/>
          </a:xfrm>
          <a:prstGeom prst="straightConnector1">
            <a:avLst/>
          </a:prstGeom>
          <a:noFill/>
          <a:ln w="38100" cap="flat" cmpd="sng">
            <a:solidFill>
              <a:srgbClr val="FF0000"/>
            </a:solidFill>
            <a:prstDash val="solid"/>
            <a:round/>
            <a:headEnd type="none" w="med" len="med"/>
            <a:tailEnd type="none" w="med" len="med"/>
          </a:ln>
        </p:spPr>
      </p:cxnSp>
      <p:cxnSp>
        <p:nvCxnSpPr>
          <p:cNvPr id="1117" name="Google Shape;1117;p67"/>
          <p:cNvCxnSpPr>
            <a:stCxn id="1098" idx="2"/>
            <a:endCxn id="1118" idx="0"/>
          </p:cNvCxnSpPr>
          <p:nvPr/>
        </p:nvCxnSpPr>
        <p:spPr>
          <a:xfrm>
            <a:off x="4260300" y="3830950"/>
            <a:ext cx="0" cy="462300"/>
          </a:xfrm>
          <a:prstGeom prst="straightConnector1">
            <a:avLst/>
          </a:prstGeom>
          <a:noFill/>
          <a:ln w="38100" cap="flat" cmpd="sng">
            <a:solidFill>
              <a:schemeClr val="dk2"/>
            </a:solidFill>
            <a:prstDash val="solid"/>
            <a:round/>
            <a:headEnd type="none" w="med" len="med"/>
            <a:tailEnd type="none" w="med" len="med"/>
          </a:ln>
        </p:spPr>
      </p:cxnSp>
      <p:cxnSp>
        <p:nvCxnSpPr>
          <p:cNvPr id="1119" name="Google Shape;1119;p67"/>
          <p:cNvCxnSpPr>
            <a:stCxn id="1098" idx="2"/>
            <a:endCxn id="1120" idx="0"/>
          </p:cNvCxnSpPr>
          <p:nvPr/>
        </p:nvCxnSpPr>
        <p:spPr>
          <a:xfrm>
            <a:off x="4260300" y="3830950"/>
            <a:ext cx="885000" cy="462300"/>
          </a:xfrm>
          <a:prstGeom prst="straightConnector1">
            <a:avLst/>
          </a:prstGeom>
          <a:noFill/>
          <a:ln w="38100" cap="flat" cmpd="sng">
            <a:solidFill>
              <a:srgbClr val="0000FF"/>
            </a:solidFill>
            <a:prstDash val="solid"/>
            <a:round/>
            <a:headEnd type="none" w="med" len="med"/>
            <a:tailEnd type="none" w="med" len="med"/>
          </a:ln>
        </p:spPr>
      </p:cxnSp>
      <p:sp>
        <p:nvSpPr>
          <p:cNvPr id="1106" name="Google Shape;1106;p67"/>
          <p:cNvSpPr/>
          <p:nvPr/>
        </p:nvSpPr>
        <p:spPr>
          <a:xfrm>
            <a:off x="1076600" y="4293250"/>
            <a:ext cx="809100" cy="593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08" name="Google Shape;1108;p67"/>
          <p:cNvSpPr/>
          <p:nvPr/>
        </p:nvSpPr>
        <p:spPr>
          <a:xfrm>
            <a:off x="2023750" y="4293250"/>
            <a:ext cx="809100" cy="593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16" name="Google Shape;1116;p67"/>
          <p:cNvSpPr/>
          <p:nvPr/>
        </p:nvSpPr>
        <p:spPr>
          <a:xfrm>
            <a:off x="2970888" y="4293250"/>
            <a:ext cx="809100" cy="593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18" name="Google Shape;1118;p67"/>
          <p:cNvSpPr/>
          <p:nvPr/>
        </p:nvSpPr>
        <p:spPr>
          <a:xfrm>
            <a:off x="3855750" y="4293250"/>
            <a:ext cx="809100" cy="593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20" name="Google Shape;1120;p67"/>
          <p:cNvSpPr/>
          <p:nvPr/>
        </p:nvSpPr>
        <p:spPr>
          <a:xfrm>
            <a:off x="4740613" y="4293250"/>
            <a:ext cx="809100" cy="593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10" name="Google Shape;1110;p67"/>
          <p:cNvSpPr/>
          <p:nvPr/>
        </p:nvSpPr>
        <p:spPr>
          <a:xfrm>
            <a:off x="5687763" y="4293250"/>
            <a:ext cx="809100" cy="593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12" name="Google Shape;1112;p67"/>
          <p:cNvSpPr/>
          <p:nvPr/>
        </p:nvSpPr>
        <p:spPr>
          <a:xfrm>
            <a:off x="6634900" y="4293250"/>
            <a:ext cx="809100" cy="593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14" name="Google Shape;1114;p67"/>
          <p:cNvSpPr/>
          <p:nvPr/>
        </p:nvSpPr>
        <p:spPr>
          <a:xfrm>
            <a:off x="7644325" y="4293250"/>
            <a:ext cx="809100" cy="593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04" name="Google Shape;1104;p67"/>
          <p:cNvSpPr/>
          <p:nvPr/>
        </p:nvSpPr>
        <p:spPr>
          <a:xfrm>
            <a:off x="67175" y="4293250"/>
            <a:ext cx="809100" cy="593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124"/>
        <p:cNvGrpSpPr/>
        <p:nvPr/>
      </p:nvGrpSpPr>
      <p:grpSpPr>
        <a:xfrm>
          <a:off x="0" y="0"/>
          <a:ext cx="0" cy="0"/>
          <a:chOff x="0" y="0"/>
          <a:chExt cx="0" cy="0"/>
        </a:xfrm>
      </p:grpSpPr>
      <p:sp>
        <p:nvSpPr>
          <p:cNvPr id="1125" name="Google Shape;1125;p68"/>
          <p:cNvSpPr txBox="1">
            <a:spLocks noGrp="1"/>
          </p:cNvSpPr>
          <p:nvPr>
            <p:ph type="subTitle" idx="2"/>
          </p:nvPr>
        </p:nvSpPr>
        <p:spPr>
          <a:xfrm>
            <a:off x="177925" y="4068000"/>
            <a:ext cx="4158000" cy="393600"/>
          </a:xfrm>
          <a:prstGeom prst="rect">
            <a:avLst/>
          </a:prstGeom>
        </p:spPr>
        <p:txBody>
          <a:bodyPr spcFirstLastPara="1" wrap="square" lIns="91425" tIns="91425" rIns="91425" bIns="91425" anchor="ctr" anchorCtr="0">
            <a:noAutofit/>
          </a:bodyPr>
          <a:lstStyle/>
          <a:p>
            <a:pPr marL="0" lvl="0" indent="0" algn="l" rtl="0">
              <a:spcBef>
                <a:spcPts val="600"/>
              </a:spcBef>
              <a:spcAft>
                <a:spcPts val="0"/>
              </a:spcAft>
              <a:buNone/>
            </a:pPr>
            <a:r>
              <a:rPr lang="en"/>
              <a:t>Lecture 34, CS61B, Fall 2023</a:t>
            </a:r>
            <a:endParaRPr/>
          </a:p>
        </p:txBody>
      </p:sp>
      <p:sp>
        <p:nvSpPr>
          <p:cNvPr id="1126" name="Google Shape;1126;p68"/>
          <p:cNvSpPr txBox="1">
            <a:spLocks noGrp="1"/>
          </p:cNvSpPr>
          <p:nvPr>
            <p:ph type="body" idx="1"/>
          </p:nvPr>
        </p:nvSpPr>
        <p:spPr>
          <a:xfrm>
            <a:off x="4812375" y="402198"/>
            <a:ext cx="3999900" cy="4260900"/>
          </a:xfrm>
          <a:prstGeom prst="rect">
            <a:avLst/>
          </a:prstGeom>
        </p:spPr>
        <p:txBody>
          <a:bodyPr spcFirstLastPara="1" wrap="square" lIns="91425" tIns="91425" rIns="91425" bIns="91425" anchor="ctr" anchorCtr="0">
            <a:noAutofit/>
          </a:bodyPr>
          <a:lstStyle/>
          <a:p>
            <a:pPr marL="0" lvl="0" indent="0" algn="l" rtl="0">
              <a:spcBef>
                <a:spcPts val="600"/>
              </a:spcBef>
              <a:spcAft>
                <a:spcPts val="0"/>
              </a:spcAft>
              <a:buClr>
                <a:schemeClr val="dk1"/>
              </a:buClr>
              <a:buSzPts val="1100"/>
              <a:buFont typeface="Arial"/>
              <a:buNone/>
            </a:pPr>
            <a:r>
              <a:rPr lang="en"/>
              <a:t>Goal: How Hard is Sorting?</a:t>
            </a:r>
            <a:endParaRPr/>
          </a:p>
          <a:p>
            <a:pPr marL="0" lvl="0" indent="0" algn="l" rtl="0">
              <a:spcBef>
                <a:spcPts val="600"/>
              </a:spcBef>
              <a:spcAft>
                <a:spcPts val="0"/>
              </a:spcAft>
              <a:buClr>
                <a:schemeClr val="dk1"/>
              </a:buClr>
              <a:buSzPts val="1100"/>
              <a:buFont typeface="Arial"/>
              <a:buNone/>
            </a:pPr>
            <a:r>
              <a:rPr lang="en"/>
              <a:t>Math Problem Warmup</a:t>
            </a:r>
            <a:endParaRPr/>
          </a:p>
          <a:p>
            <a:pPr marL="0" lvl="0" indent="0" algn="l" rtl="0">
              <a:spcBef>
                <a:spcPts val="600"/>
              </a:spcBef>
              <a:spcAft>
                <a:spcPts val="0"/>
              </a:spcAft>
              <a:buClr>
                <a:schemeClr val="dk1"/>
              </a:buClr>
              <a:buSzPts val="1100"/>
              <a:buFont typeface="Arial"/>
              <a:buNone/>
            </a:pPr>
            <a:r>
              <a:rPr lang="en" b="1">
                <a:solidFill>
                  <a:schemeClr val="accent3"/>
                </a:solidFill>
                <a:latin typeface="Roboto"/>
                <a:ea typeface="Roboto"/>
                <a:cs typeface="Roboto"/>
                <a:sym typeface="Roboto"/>
              </a:rPr>
              <a:t>Theoretical Bounds on Sorting</a:t>
            </a:r>
            <a:endParaRPr b="1">
              <a:solidFill>
                <a:schemeClr val="accent3"/>
              </a:solidFill>
              <a:latin typeface="Roboto"/>
              <a:ea typeface="Roboto"/>
              <a:cs typeface="Roboto"/>
              <a:sym typeface="Roboto"/>
            </a:endParaRPr>
          </a:p>
          <a:p>
            <a:pPr marL="457200" lvl="0" indent="-342900" algn="l" rtl="0">
              <a:spcBef>
                <a:spcPts val="600"/>
              </a:spcBef>
              <a:spcAft>
                <a:spcPts val="0"/>
              </a:spcAft>
              <a:buSzPts val="1800"/>
              <a:buChar char="•"/>
            </a:pPr>
            <a:r>
              <a:rPr lang="en"/>
              <a:t>Simple Bounds for TUCS (the ultimate comparison sort)</a:t>
            </a:r>
            <a:endParaRPr/>
          </a:p>
          <a:p>
            <a:pPr marL="457200" lvl="0" indent="-342900" algn="l" rtl="0">
              <a:spcBef>
                <a:spcPts val="0"/>
              </a:spcBef>
              <a:spcAft>
                <a:spcPts val="0"/>
              </a:spcAft>
              <a:buClr>
                <a:srgbClr val="CCCCCC"/>
              </a:buClr>
              <a:buSzPts val="1800"/>
              <a:buChar char="•"/>
            </a:pPr>
            <a:r>
              <a:rPr lang="en">
                <a:solidFill>
                  <a:srgbClr val="CCCCCC"/>
                </a:solidFill>
              </a:rPr>
              <a:t>Coin Puzzles</a:t>
            </a:r>
            <a:endParaRPr>
              <a:solidFill>
                <a:srgbClr val="CCCCCC"/>
              </a:solidFill>
            </a:endParaRPr>
          </a:p>
          <a:p>
            <a:pPr marL="457200" lvl="0" indent="-342900" algn="l" rtl="0">
              <a:spcBef>
                <a:spcPts val="0"/>
              </a:spcBef>
              <a:spcAft>
                <a:spcPts val="0"/>
              </a:spcAft>
              <a:buClr>
                <a:schemeClr val="accent3"/>
              </a:buClr>
              <a:buSzPts val="1800"/>
              <a:buFont typeface="Roboto"/>
              <a:buChar char="•"/>
            </a:pPr>
            <a:r>
              <a:rPr lang="en" b="1">
                <a:solidFill>
                  <a:schemeClr val="accent3"/>
                </a:solidFill>
                <a:latin typeface="Roboto"/>
                <a:ea typeface="Roboto"/>
                <a:cs typeface="Roboto"/>
                <a:sym typeface="Roboto"/>
              </a:rPr>
              <a:t>Puppy Cat Dog</a:t>
            </a:r>
            <a:endParaRPr b="1">
              <a:solidFill>
                <a:schemeClr val="accent3"/>
              </a:solidFill>
              <a:latin typeface="Roboto"/>
              <a:ea typeface="Roboto"/>
              <a:cs typeface="Roboto"/>
              <a:sym typeface="Roboto"/>
            </a:endParaRPr>
          </a:p>
          <a:p>
            <a:pPr marL="457200" lvl="0" indent="-342900" algn="l" rtl="0">
              <a:spcBef>
                <a:spcPts val="0"/>
              </a:spcBef>
              <a:spcAft>
                <a:spcPts val="0"/>
              </a:spcAft>
              <a:buSzPts val="1800"/>
              <a:buChar char="•"/>
            </a:pPr>
            <a:r>
              <a:rPr lang="en"/>
              <a:t>The Sorting Lower Bound</a:t>
            </a:r>
            <a:endParaRPr/>
          </a:p>
          <a:p>
            <a:pPr marL="0" lvl="0" indent="0" algn="l" rtl="0">
              <a:spcBef>
                <a:spcPts val="600"/>
              </a:spcBef>
              <a:spcAft>
                <a:spcPts val="0"/>
              </a:spcAft>
              <a:buClr>
                <a:schemeClr val="dk1"/>
              </a:buClr>
              <a:buSzPts val="1100"/>
              <a:buFont typeface="Arial"/>
              <a:buNone/>
            </a:pPr>
            <a:r>
              <a:rPr lang="en"/>
              <a:t>Sounds of Sorting</a:t>
            </a:r>
            <a:endParaRPr/>
          </a:p>
        </p:txBody>
      </p:sp>
      <p:sp>
        <p:nvSpPr>
          <p:cNvPr id="1127" name="Google Shape;1127;p68"/>
          <p:cNvSpPr txBox="1">
            <a:spLocks noGrp="1"/>
          </p:cNvSpPr>
          <p:nvPr>
            <p:ph type="title"/>
          </p:nvPr>
        </p:nvSpPr>
        <p:spPr>
          <a:xfrm>
            <a:off x="177925" y="2003300"/>
            <a:ext cx="4038000" cy="2037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Clr>
                <a:schemeClr val="dk1"/>
              </a:buClr>
              <a:buSzPts val="1100"/>
              <a:buFont typeface="Arial"/>
              <a:buNone/>
            </a:pPr>
            <a:r>
              <a:rPr lang="en"/>
              <a:t>Puppy, Cat, Dog</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131"/>
        <p:cNvGrpSpPr/>
        <p:nvPr/>
      </p:nvGrpSpPr>
      <p:grpSpPr>
        <a:xfrm>
          <a:off x="0" y="0"/>
          <a:ext cx="0" cy="0"/>
          <a:chOff x="0" y="0"/>
          <a:chExt cx="0" cy="0"/>
        </a:xfrm>
      </p:grpSpPr>
      <p:sp>
        <p:nvSpPr>
          <p:cNvPr id="1132" name="Google Shape;1132;p69"/>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 Game of Puppy, Cat, Dog</a:t>
            </a:r>
            <a:endParaRPr/>
          </a:p>
        </p:txBody>
      </p:sp>
      <p:sp>
        <p:nvSpPr>
          <p:cNvPr id="1133" name="Google Shape;1133;p69"/>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Suppose we have a puppy, a cat, and a dog, each in an opaque soundproof box labeled A, B, and C. The puppy is lighter than the cat, and the cat is lighter than the dog. As before, we have a scale, and we want to minimize the number of times we use the scale (unlike before, we never get equality on this scale, because all the animals are different weights). Our goal is to write A, B, C in order of weight.</a:t>
            </a:r>
            <a:endParaRPr/>
          </a:p>
        </p:txBody>
      </p:sp>
      <p:pic>
        <p:nvPicPr>
          <p:cNvPr id="1134" name="Google Shape;1134;p69"/>
          <p:cNvPicPr preferRelativeResize="0"/>
          <p:nvPr/>
        </p:nvPicPr>
        <p:blipFill>
          <a:blip r:embed="rId3">
            <a:alphaModFix/>
          </a:blip>
          <a:stretch>
            <a:fillRect/>
          </a:stretch>
        </p:blipFill>
        <p:spPr>
          <a:xfrm>
            <a:off x="188824" y="3143050"/>
            <a:ext cx="2051074" cy="1668224"/>
          </a:xfrm>
          <a:prstGeom prst="rect">
            <a:avLst/>
          </a:prstGeom>
          <a:noFill/>
          <a:ln>
            <a:noFill/>
          </a:ln>
        </p:spPr>
      </p:pic>
      <p:pic>
        <p:nvPicPr>
          <p:cNvPr id="1135" name="Google Shape;1135;p69"/>
          <p:cNvPicPr preferRelativeResize="0"/>
          <p:nvPr/>
        </p:nvPicPr>
        <p:blipFill>
          <a:blip r:embed="rId4">
            <a:alphaModFix/>
          </a:blip>
          <a:stretch>
            <a:fillRect/>
          </a:stretch>
        </p:blipFill>
        <p:spPr>
          <a:xfrm>
            <a:off x="3061010" y="3855273"/>
            <a:ext cx="1717623" cy="1143000"/>
          </a:xfrm>
          <a:prstGeom prst="rect">
            <a:avLst/>
          </a:prstGeom>
          <a:noFill/>
          <a:ln>
            <a:noFill/>
          </a:ln>
        </p:spPr>
      </p:pic>
      <p:pic>
        <p:nvPicPr>
          <p:cNvPr id="1136" name="Google Shape;1136;p69"/>
          <p:cNvPicPr preferRelativeResize="0"/>
          <p:nvPr/>
        </p:nvPicPr>
        <p:blipFill>
          <a:blip r:embed="rId5">
            <a:alphaModFix/>
          </a:blip>
          <a:stretch>
            <a:fillRect/>
          </a:stretch>
        </p:blipFill>
        <p:spPr>
          <a:xfrm>
            <a:off x="2239900" y="4084875"/>
            <a:ext cx="856151" cy="856151"/>
          </a:xfrm>
          <a:prstGeom prst="rect">
            <a:avLst/>
          </a:prstGeom>
          <a:noFill/>
          <a:ln>
            <a:noFill/>
          </a:ln>
        </p:spPr>
      </p:pic>
      <p:pic>
        <p:nvPicPr>
          <p:cNvPr id="1137" name="Google Shape;1137;p69"/>
          <p:cNvPicPr preferRelativeResize="0"/>
          <p:nvPr/>
        </p:nvPicPr>
        <p:blipFill>
          <a:blip r:embed="rId6">
            <a:alphaModFix/>
          </a:blip>
          <a:stretch>
            <a:fillRect/>
          </a:stretch>
        </p:blipFill>
        <p:spPr>
          <a:xfrm>
            <a:off x="4545351" y="3429575"/>
            <a:ext cx="2145000" cy="1575925"/>
          </a:xfrm>
          <a:prstGeom prst="rect">
            <a:avLst/>
          </a:prstGeom>
          <a:noFill/>
          <a:ln>
            <a:noFill/>
          </a:ln>
        </p:spPr>
      </p:pic>
      <p:pic>
        <p:nvPicPr>
          <p:cNvPr id="1138" name="Google Shape;1138;p69"/>
          <p:cNvPicPr preferRelativeResize="0"/>
          <p:nvPr/>
        </p:nvPicPr>
        <p:blipFill>
          <a:blip r:embed="rId7">
            <a:alphaModFix/>
          </a:blip>
          <a:stretch>
            <a:fillRect/>
          </a:stretch>
        </p:blipFill>
        <p:spPr>
          <a:xfrm>
            <a:off x="7081474" y="3143674"/>
            <a:ext cx="2051075" cy="1774176"/>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D9D2E9"/>
        </a:solidFill>
        <a:effectLst/>
      </p:bgPr>
    </p:bg>
    <p:spTree>
      <p:nvGrpSpPr>
        <p:cNvPr id="1" name="Shape 1142"/>
        <p:cNvGrpSpPr/>
        <p:nvPr/>
      </p:nvGrpSpPr>
      <p:grpSpPr>
        <a:xfrm>
          <a:off x="0" y="0"/>
          <a:ext cx="0" cy="0"/>
          <a:chOff x="0" y="0"/>
          <a:chExt cx="0" cy="0"/>
        </a:xfrm>
      </p:grpSpPr>
      <p:sp>
        <p:nvSpPr>
          <p:cNvPr id="1143" name="Google Shape;1143;p70"/>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 Game of Puppy, Cat, Dog, yellkey.com</a:t>
            </a:r>
            <a:r>
              <a:rPr lang="en">
                <a:solidFill>
                  <a:srgbClr val="38761D"/>
                </a:solidFill>
              </a:rPr>
              <a:t>/mother</a:t>
            </a:r>
            <a:endParaRPr>
              <a:solidFill>
                <a:srgbClr val="38761D"/>
              </a:solidFill>
            </a:endParaRPr>
          </a:p>
        </p:txBody>
      </p:sp>
      <p:sp>
        <p:nvSpPr>
          <p:cNvPr id="1144" name="Google Shape;1144;p70"/>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What is our minimum decision tree height for the game of Puppy, Cat, Dog (according to our universe bound)?</a:t>
            </a:r>
            <a:endParaRPr/>
          </a:p>
          <a:p>
            <a:pPr marL="457200" lvl="0" indent="-342900" algn="l" rtl="0">
              <a:spcBef>
                <a:spcPts val="600"/>
              </a:spcBef>
              <a:spcAft>
                <a:spcPts val="0"/>
              </a:spcAft>
              <a:buSzPts val="1800"/>
              <a:buAutoNum type="alphaUcPeriod"/>
            </a:pPr>
            <a:r>
              <a:rPr lang="en"/>
              <a:t>3</a:t>
            </a:r>
            <a:endParaRPr/>
          </a:p>
          <a:p>
            <a:pPr marL="457200" lvl="0" indent="-342900" algn="l" rtl="0">
              <a:spcBef>
                <a:spcPts val="0"/>
              </a:spcBef>
              <a:spcAft>
                <a:spcPts val="0"/>
              </a:spcAft>
              <a:buSzPts val="1800"/>
              <a:buAutoNum type="alphaUcPeriod"/>
            </a:pPr>
            <a:r>
              <a:rPr lang="en"/>
              <a:t>4</a:t>
            </a:r>
            <a:endParaRPr/>
          </a:p>
          <a:p>
            <a:pPr marL="457200" lvl="0" indent="-342900" algn="l" rtl="0">
              <a:spcBef>
                <a:spcPts val="0"/>
              </a:spcBef>
              <a:spcAft>
                <a:spcPts val="0"/>
              </a:spcAft>
              <a:buSzPts val="1800"/>
              <a:buAutoNum type="alphaUcPeriod"/>
            </a:pPr>
            <a:r>
              <a:rPr lang="en"/>
              <a:t>5</a:t>
            </a:r>
            <a:endParaRPr/>
          </a:p>
          <a:p>
            <a:pPr marL="457200" lvl="0" indent="-342900" algn="l" rtl="0">
              <a:spcBef>
                <a:spcPts val="0"/>
              </a:spcBef>
              <a:spcAft>
                <a:spcPts val="0"/>
              </a:spcAft>
              <a:buSzPts val="1800"/>
              <a:buAutoNum type="alphaUcPeriod"/>
            </a:pPr>
            <a:r>
              <a:rPr lang="en"/>
              <a:t>6</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148"/>
        <p:cNvGrpSpPr/>
        <p:nvPr/>
      </p:nvGrpSpPr>
      <p:grpSpPr>
        <a:xfrm>
          <a:off x="0" y="0"/>
          <a:ext cx="0" cy="0"/>
          <a:chOff x="0" y="0"/>
          <a:chExt cx="0" cy="0"/>
        </a:xfrm>
      </p:grpSpPr>
      <p:sp>
        <p:nvSpPr>
          <p:cNvPr id="1149" name="Google Shape;1149;p71"/>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 Game of Puppy, Cat, Dog</a:t>
            </a:r>
            <a:endParaRPr/>
          </a:p>
        </p:txBody>
      </p:sp>
      <p:sp>
        <p:nvSpPr>
          <p:cNvPr id="1150" name="Google Shape;1150;p71"/>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What is our minimum decision tree height for the game of Puppy, Cat, Dog (according to our universe bound)?</a:t>
            </a:r>
            <a:endParaRPr/>
          </a:p>
          <a:p>
            <a:pPr marL="457200" lvl="0" indent="-342900" algn="l" rtl="0">
              <a:spcBef>
                <a:spcPts val="600"/>
              </a:spcBef>
              <a:spcAft>
                <a:spcPts val="0"/>
              </a:spcAft>
              <a:buSzPts val="1800"/>
              <a:buAutoNum type="alphaUcPeriod"/>
            </a:pPr>
            <a:r>
              <a:rPr lang="en" b="1"/>
              <a:t>3</a:t>
            </a:r>
            <a:endParaRPr b="1"/>
          </a:p>
          <a:p>
            <a:pPr marL="457200" lvl="0" indent="-342900" algn="l" rtl="0">
              <a:spcBef>
                <a:spcPts val="0"/>
              </a:spcBef>
              <a:spcAft>
                <a:spcPts val="0"/>
              </a:spcAft>
              <a:buSzPts val="1800"/>
              <a:buAutoNum type="alphaUcPeriod"/>
            </a:pPr>
            <a:r>
              <a:rPr lang="en"/>
              <a:t>4</a:t>
            </a:r>
            <a:endParaRPr/>
          </a:p>
          <a:p>
            <a:pPr marL="457200" lvl="0" indent="-342900" algn="l" rtl="0">
              <a:spcBef>
                <a:spcPts val="0"/>
              </a:spcBef>
              <a:spcAft>
                <a:spcPts val="0"/>
              </a:spcAft>
              <a:buSzPts val="1800"/>
              <a:buAutoNum type="alphaUcPeriod"/>
            </a:pPr>
            <a:r>
              <a:rPr lang="en"/>
              <a:t>5</a:t>
            </a:r>
            <a:endParaRPr/>
          </a:p>
          <a:p>
            <a:pPr marL="457200" lvl="0" indent="-342900" algn="l" rtl="0">
              <a:spcBef>
                <a:spcPts val="0"/>
              </a:spcBef>
              <a:spcAft>
                <a:spcPts val="0"/>
              </a:spcAft>
              <a:buSzPts val="1800"/>
              <a:buAutoNum type="alphaUcPeriod"/>
            </a:pPr>
            <a:r>
              <a:rPr lang="en"/>
              <a:t>6</a:t>
            </a:r>
            <a:endParaRPr/>
          </a:p>
          <a:p>
            <a:pPr marL="0" lvl="0" indent="0" algn="l" rtl="0">
              <a:spcBef>
                <a:spcPts val="600"/>
              </a:spcBef>
              <a:spcAft>
                <a:spcPts val="0"/>
              </a:spcAft>
              <a:buNone/>
            </a:pPr>
            <a:endParaRPr/>
          </a:p>
          <a:p>
            <a:pPr marL="0" lvl="0" indent="0" algn="l" rtl="0">
              <a:spcBef>
                <a:spcPts val="600"/>
              </a:spcBef>
              <a:spcAft>
                <a:spcPts val="0"/>
              </a:spcAft>
              <a:buNone/>
            </a:pPr>
            <a:r>
              <a:rPr lang="en"/>
              <a:t>Proof:</a:t>
            </a:r>
            <a:endParaRPr/>
          </a:p>
          <a:p>
            <a:pPr marL="457200" lvl="0" indent="-342900" algn="l" rtl="0">
              <a:spcBef>
                <a:spcPts val="600"/>
              </a:spcBef>
              <a:spcAft>
                <a:spcPts val="0"/>
              </a:spcAft>
              <a:buSzPts val="1800"/>
              <a:buChar char="●"/>
            </a:pPr>
            <a:r>
              <a:rPr lang="en"/>
              <a:t>If N=3, we have 3! = 6 different permutations of the animals, and each permutation yields a different answer. Therefore we have 6 universes</a:t>
            </a:r>
            <a:endParaRPr/>
          </a:p>
          <a:p>
            <a:pPr marL="457200" lvl="0" indent="-342900" algn="l" rtl="0">
              <a:spcBef>
                <a:spcPts val="0"/>
              </a:spcBef>
              <a:spcAft>
                <a:spcPts val="0"/>
              </a:spcAft>
              <a:buSzPts val="1800"/>
              <a:buChar char="●"/>
            </a:pPr>
            <a:r>
              <a:rPr lang="en"/>
              <a:t>So we need a binary tree with at least 6 leaves.</a:t>
            </a:r>
            <a:endParaRPr/>
          </a:p>
          <a:p>
            <a:pPr marL="914400" lvl="1" indent="-342900" algn="l" rtl="0">
              <a:spcBef>
                <a:spcPts val="0"/>
              </a:spcBef>
              <a:spcAft>
                <a:spcPts val="0"/>
              </a:spcAft>
              <a:buSzPts val="1800"/>
              <a:buChar char="○"/>
            </a:pPr>
            <a:r>
              <a:rPr lang="en"/>
              <a:t>How many levels minimum? 2</a:t>
            </a:r>
            <a:r>
              <a:rPr lang="en" baseline="30000"/>
              <a:t>2</a:t>
            </a:r>
            <a:r>
              <a:rPr lang="en"/>
              <a:t> = 4 is too small, and 2</a:t>
            </a:r>
            <a:r>
              <a:rPr lang="en" baseline="30000"/>
              <a:t>3</a:t>
            </a:r>
            <a:r>
              <a:rPr lang="en"/>
              <a:t>=8 is large enough, so we need at least 3 layers.</a:t>
            </a:r>
            <a:br>
              <a:rPr lang="en"/>
            </a:br>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154"/>
        <p:cNvGrpSpPr/>
        <p:nvPr/>
      </p:nvGrpSpPr>
      <p:grpSpPr>
        <a:xfrm>
          <a:off x="0" y="0"/>
          <a:ext cx="0" cy="0"/>
          <a:chOff x="0" y="0"/>
          <a:chExt cx="0" cy="0"/>
        </a:xfrm>
      </p:grpSpPr>
      <p:sp>
        <p:nvSpPr>
          <p:cNvPr id="1155" name="Google Shape;1155;p72"/>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Puppy, Cat, Dog - Decision Tree</a:t>
            </a:r>
            <a:endParaRPr/>
          </a:p>
        </p:txBody>
      </p:sp>
      <p:sp>
        <p:nvSpPr>
          <p:cNvPr id="1156" name="Google Shape;1156;p72"/>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The full decision tree for puppy, cat, dog:</a:t>
            </a:r>
            <a:endParaRPr/>
          </a:p>
        </p:txBody>
      </p:sp>
      <p:sp>
        <p:nvSpPr>
          <p:cNvPr id="1157" name="Google Shape;1157;p72"/>
          <p:cNvSpPr/>
          <p:nvPr/>
        </p:nvSpPr>
        <p:spPr>
          <a:xfrm>
            <a:off x="3718950" y="1325650"/>
            <a:ext cx="940200" cy="5103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Is a &lt; b?</a:t>
            </a:r>
            <a:endParaRPr/>
          </a:p>
        </p:txBody>
      </p:sp>
      <p:sp>
        <p:nvSpPr>
          <p:cNvPr id="1158" name="Google Shape;1158;p72"/>
          <p:cNvSpPr/>
          <p:nvPr/>
        </p:nvSpPr>
        <p:spPr>
          <a:xfrm>
            <a:off x="5527975" y="2332525"/>
            <a:ext cx="940200" cy="593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Is b &lt; c?</a:t>
            </a:r>
            <a:endParaRPr/>
          </a:p>
        </p:txBody>
      </p:sp>
      <p:grpSp>
        <p:nvGrpSpPr>
          <p:cNvPr id="1159" name="Google Shape;1159;p72"/>
          <p:cNvGrpSpPr/>
          <p:nvPr/>
        </p:nvGrpSpPr>
        <p:grpSpPr>
          <a:xfrm>
            <a:off x="2702550" y="1835950"/>
            <a:ext cx="3295500" cy="496500"/>
            <a:chOff x="2702550" y="1835950"/>
            <a:chExt cx="3295500" cy="496500"/>
          </a:xfrm>
        </p:grpSpPr>
        <p:cxnSp>
          <p:nvCxnSpPr>
            <p:cNvPr id="1160" name="Google Shape;1160;p72"/>
            <p:cNvCxnSpPr>
              <a:stCxn id="1157" idx="2"/>
              <a:endCxn id="1161" idx="0"/>
            </p:cNvCxnSpPr>
            <p:nvPr/>
          </p:nvCxnSpPr>
          <p:spPr>
            <a:xfrm flipH="1">
              <a:off x="2702550" y="1835950"/>
              <a:ext cx="1486500" cy="496500"/>
            </a:xfrm>
            <a:prstGeom prst="straightConnector1">
              <a:avLst/>
            </a:prstGeom>
            <a:noFill/>
            <a:ln w="19050" cap="flat" cmpd="sng">
              <a:solidFill>
                <a:schemeClr val="dk2"/>
              </a:solidFill>
              <a:prstDash val="solid"/>
              <a:round/>
              <a:headEnd type="none" w="med" len="med"/>
              <a:tailEnd type="none" w="med" len="med"/>
            </a:ln>
          </p:spPr>
        </p:cxnSp>
        <p:sp>
          <p:nvSpPr>
            <p:cNvPr id="1162" name="Google Shape;1162;p72"/>
            <p:cNvSpPr txBox="1"/>
            <p:nvPr/>
          </p:nvSpPr>
          <p:spPr>
            <a:xfrm>
              <a:off x="2951550" y="1835950"/>
              <a:ext cx="615000" cy="18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No</a:t>
              </a:r>
              <a:endParaRPr/>
            </a:p>
          </p:txBody>
        </p:sp>
        <p:cxnSp>
          <p:nvCxnSpPr>
            <p:cNvPr id="1163" name="Google Shape;1163;p72"/>
            <p:cNvCxnSpPr>
              <a:stCxn id="1157" idx="2"/>
              <a:endCxn id="1158" idx="0"/>
            </p:cNvCxnSpPr>
            <p:nvPr/>
          </p:nvCxnSpPr>
          <p:spPr>
            <a:xfrm>
              <a:off x="4189050" y="1835950"/>
              <a:ext cx="1809000" cy="496500"/>
            </a:xfrm>
            <a:prstGeom prst="straightConnector1">
              <a:avLst/>
            </a:prstGeom>
            <a:noFill/>
            <a:ln w="19050" cap="flat" cmpd="sng">
              <a:solidFill>
                <a:schemeClr val="dk2"/>
              </a:solidFill>
              <a:prstDash val="solid"/>
              <a:round/>
              <a:headEnd type="none" w="med" len="med"/>
              <a:tailEnd type="none" w="med" len="med"/>
            </a:ln>
          </p:spPr>
        </p:cxnSp>
        <p:sp>
          <p:nvSpPr>
            <p:cNvPr id="1164" name="Google Shape;1164;p72"/>
            <p:cNvSpPr txBox="1"/>
            <p:nvPr/>
          </p:nvSpPr>
          <p:spPr>
            <a:xfrm>
              <a:off x="5146975" y="1838500"/>
              <a:ext cx="615000" cy="18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Yes</a:t>
              </a:r>
              <a:endParaRPr/>
            </a:p>
          </p:txBody>
        </p:sp>
      </p:grpSp>
      <p:grpSp>
        <p:nvGrpSpPr>
          <p:cNvPr id="1165" name="Google Shape;1165;p72"/>
          <p:cNvGrpSpPr/>
          <p:nvPr/>
        </p:nvGrpSpPr>
        <p:grpSpPr>
          <a:xfrm>
            <a:off x="5998075" y="2916250"/>
            <a:ext cx="1593450" cy="499575"/>
            <a:chOff x="5998075" y="2916250"/>
            <a:chExt cx="1593450" cy="499575"/>
          </a:xfrm>
        </p:grpSpPr>
        <p:cxnSp>
          <p:nvCxnSpPr>
            <p:cNvPr id="1166" name="Google Shape;1166;p72"/>
            <p:cNvCxnSpPr>
              <a:stCxn id="1158" idx="2"/>
              <a:endCxn id="1167" idx="0"/>
            </p:cNvCxnSpPr>
            <p:nvPr/>
          </p:nvCxnSpPr>
          <p:spPr>
            <a:xfrm>
              <a:off x="5998075" y="2926225"/>
              <a:ext cx="819000" cy="489600"/>
            </a:xfrm>
            <a:prstGeom prst="straightConnector1">
              <a:avLst/>
            </a:prstGeom>
            <a:noFill/>
            <a:ln w="19050" cap="flat" cmpd="sng">
              <a:solidFill>
                <a:schemeClr val="dk2"/>
              </a:solidFill>
              <a:prstDash val="solid"/>
              <a:round/>
              <a:headEnd type="none" w="med" len="med"/>
              <a:tailEnd type="none" w="med" len="med"/>
            </a:ln>
          </p:spPr>
        </p:cxnSp>
        <p:sp>
          <p:nvSpPr>
            <p:cNvPr id="1168" name="Google Shape;1168;p72"/>
            <p:cNvSpPr txBox="1"/>
            <p:nvPr/>
          </p:nvSpPr>
          <p:spPr>
            <a:xfrm>
              <a:off x="6562225" y="2916250"/>
              <a:ext cx="1029300" cy="248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Yes</a:t>
              </a:r>
              <a:endParaRPr/>
            </a:p>
          </p:txBody>
        </p:sp>
      </p:grpSp>
      <p:grpSp>
        <p:nvGrpSpPr>
          <p:cNvPr id="1169" name="Google Shape;1169;p72"/>
          <p:cNvGrpSpPr/>
          <p:nvPr/>
        </p:nvGrpSpPr>
        <p:grpSpPr>
          <a:xfrm>
            <a:off x="5026500" y="2926225"/>
            <a:ext cx="971575" cy="476700"/>
            <a:chOff x="5026500" y="2926225"/>
            <a:chExt cx="971575" cy="476700"/>
          </a:xfrm>
        </p:grpSpPr>
        <p:cxnSp>
          <p:nvCxnSpPr>
            <p:cNvPr id="1170" name="Google Shape;1170;p72"/>
            <p:cNvCxnSpPr>
              <a:stCxn id="1158" idx="2"/>
            </p:cNvCxnSpPr>
            <p:nvPr/>
          </p:nvCxnSpPr>
          <p:spPr>
            <a:xfrm flipH="1">
              <a:off x="5211775" y="2926225"/>
              <a:ext cx="786300" cy="476700"/>
            </a:xfrm>
            <a:prstGeom prst="straightConnector1">
              <a:avLst/>
            </a:prstGeom>
            <a:noFill/>
            <a:ln w="19050" cap="flat" cmpd="sng">
              <a:solidFill>
                <a:schemeClr val="dk2"/>
              </a:solidFill>
              <a:prstDash val="solid"/>
              <a:round/>
              <a:headEnd type="none" w="med" len="med"/>
              <a:tailEnd type="none" w="med" len="med"/>
            </a:ln>
          </p:spPr>
        </p:cxnSp>
        <p:sp>
          <p:nvSpPr>
            <p:cNvPr id="1171" name="Google Shape;1171;p72"/>
            <p:cNvSpPr txBox="1"/>
            <p:nvPr/>
          </p:nvSpPr>
          <p:spPr>
            <a:xfrm>
              <a:off x="5026500" y="2942724"/>
              <a:ext cx="615000" cy="18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No</a:t>
              </a:r>
              <a:endParaRPr/>
            </a:p>
          </p:txBody>
        </p:sp>
      </p:grpSp>
      <p:sp>
        <p:nvSpPr>
          <p:cNvPr id="1172" name="Google Shape;1172;p72"/>
          <p:cNvSpPr/>
          <p:nvPr/>
        </p:nvSpPr>
        <p:spPr>
          <a:xfrm>
            <a:off x="4701300" y="3415900"/>
            <a:ext cx="940200" cy="593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Is a &lt; c?</a:t>
            </a:r>
            <a:endParaRPr/>
          </a:p>
        </p:txBody>
      </p:sp>
      <p:grpSp>
        <p:nvGrpSpPr>
          <p:cNvPr id="1173" name="Google Shape;1173;p72"/>
          <p:cNvGrpSpPr/>
          <p:nvPr/>
        </p:nvGrpSpPr>
        <p:grpSpPr>
          <a:xfrm>
            <a:off x="5171400" y="4009600"/>
            <a:ext cx="1019099" cy="999975"/>
            <a:chOff x="5171400" y="4009600"/>
            <a:chExt cx="1019099" cy="999975"/>
          </a:xfrm>
        </p:grpSpPr>
        <p:sp>
          <p:nvSpPr>
            <p:cNvPr id="1174" name="Google Shape;1174;p72"/>
            <p:cNvSpPr/>
            <p:nvPr/>
          </p:nvSpPr>
          <p:spPr>
            <a:xfrm>
              <a:off x="5265175" y="4499275"/>
              <a:ext cx="732900" cy="510300"/>
            </a:xfrm>
            <a:prstGeom prst="roundRect">
              <a:avLst>
                <a:gd name="adj" fmla="val 16667"/>
              </a:avLst>
            </a:prstGeom>
            <a:solidFill>
              <a:srgbClr val="A4C2F4"/>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a c b</a:t>
              </a:r>
              <a:endParaRPr/>
            </a:p>
          </p:txBody>
        </p:sp>
        <p:cxnSp>
          <p:nvCxnSpPr>
            <p:cNvPr id="1175" name="Google Shape;1175;p72"/>
            <p:cNvCxnSpPr>
              <a:stCxn id="1172" idx="2"/>
              <a:endCxn id="1174" idx="0"/>
            </p:cNvCxnSpPr>
            <p:nvPr/>
          </p:nvCxnSpPr>
          <p:spPr>
            <a:xfrm>
              <a:off x="5171400" y="4009600"/>
              <a:ext cx="460200" cy="489600"/>
            </a:xfrm>
            <a:prstGeom prst="straightConnector1">
              <a:avLst/>
            </a:prstGeom>
            <a:noFill/>
            <a:ln w="19050" cap="flat" cmpd="sng">
              <a:solidFill>
                <a:schemeClr val="dk2"/>
              </a:solidFill>
              <a:prstDash val="solid"/>
              <a:round/>
              <a:headEnd type="none" w="med" len="med"/>
              <a:tailEnd type="none" w="med" len="med"/>
            </a:ln>
          </p:spPr>
        </p:cxnSp>
        <p:sp>
          <p:nvSpPr>
            <p:cNvPr id="1176" name="Google Shape;1176;p72"/>
            <p:cNvSpPr txBox="1"/>
            <p:nvPr/>
          </p:nvSpPr>
          <p:spPr>
            <a:xfrm>
              <a:off x="5457599" y="4057224"/>
              <a:ext cx="732900" cy="201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Yes</a:t>
              </a:r>
              <a:endParaRPr/>
            </a:p>
          </p:txBody>
        </p:sp>
      </p:grpSp>
      <p:grpSp>
        <p:nvGrpSpPr>
          <p:cNvPr id="1177" name="Google Shape;1177;p72"/>
          <p:cNvGrpSpPr/>
          <p:nvPr/>
        </p:nvGrpSpPr>
        <p:grpSpPr>
          <a:xfrm>
            <a:off x="4293600" y="4007200"/>
            <a:ext cx="877800" cy="1002375"/>
            <a:chOff x="4293600" y="4007200"/>
            <a:chExt cx="877800" cy="1002375"/>
          </a:xfrm>
        </p:grpSpPr>
        <p:sp>
          <p:nvSpPr>
            <p:cNvPr id="1178" name="Google Shape;1178;p72"/>
            <p:cNvSpPr/>
            <p:nvPr/>
          </p:nvSpPr>
          <p:spPr>
            <a:xfrm>
              <a:off x="4293600" y="4499275"/>
              <a:ext cx="732900" cy="510300"/>
            </a:xfrm>
            <a:prstGeom prst="roundRect">
              <a:avLst>
                <a:gd name="adj" fmla="val 16667"/>
              </a:avLst>
            </a:prstGeom>
            <a:solidFill>
              <a:srgbClr val="A4C2F4"/>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c a b</a:t>
              </a:r>
              <a:endParaRPr/>
            </a:p>
          </p:txBody>
        </p:sp>
        <p:cxnSp>
          <p:nvCxnSpPr>
            <p:cNvPr id="1179" name="Google Shape;1179;p72"/>
            <p:cNvCxnSpPr>
              <a:stCxn id="1172" idx="2"/>
              <a:endCxn id="1178" idx="0"/>
            </p:cNvCxnSpPr>
            <p:nvPr/>
          </p:nvCxnSpPr>
          <p:spPr>
            <a:xfrm flipH="1">
              <a:off x="4659900" y="4009600"/>
              <a:ext cx="511500" cy="489600"/>
            </a:xfrm>
            <a:prstGeom prst="straightConnector1">
              <a:avLst/>
            </a:prstGeom>
            <a:noFill/>
            <a:ln w="19050" cap="flat" cmpd="sng">
              <a:solidFill>
                <a:schemeClr val="dk2"/>
              </a:solidFill>
              <a:prstDash val="solid"/>
              <a:round/>
              <a:headEnd type="none" w="med" len="med"/>
              <a:tailEnd type="none" w="med" len="med"/>
            </a:ln>
          </p:spPr>
        </p:cxnSp>
        <p:sp>
          <p:nvSpPr>
            <p:cNvPr id="1180" name="Google Shape;1180;p72"/>
            <p:cNvSpPr txBox="1"/>
            <p:nvPr/>
          </p:nvSpPr>
          <p:spPr>
            <a:xfrm>
              <a:off x="4473700" y="4007200"/>
              <a:ext cx="629100" cy="235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No</a:t>
              </a:r>
              <a:endParaRPr/>
            </a:p>
          </p:txBody>
        </p:sp>
      </p:grpSp>
      <p:grpSp>
        <p:nvGrpSpPr>
          <p:cNvPr id="1181" name="Google Shape;1181;p72"/>
          <p:cNvGrpSpPr/>
          <p:nvPr/>
        </p:nvGrpSpPr>
        <p:grpSpPr>
          <a:xfrm>
            <a:off x="1206975" y="2332525"/>
            <a:ext cx="2698600" cy="2677050"/>
            <a:chOff x="1206975" y="2332525"/>
            <a:chExt cx="2698600" cy="2677050"/>
          </a:xfrm>
        </p:grpSpPr>
        <p:sp>
          <p:nvSpPr>
            <p:cNvPr id="1161" name="Google Shape;1161;p72"/>
            <p:cNvSpPr/>
            <p:nvPr/>
          </p:nvSpPr>
          <p:spPr>
            <a:xfrm>
              <a:off x="2232475" y="2332525"/>
              <a:ext cx="940200" cy="593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Is a &lt; c?</a:t>
              </a:r>
              <a:endParaRPr/>
            </a:p>
          </p:txBody>
        </p:sp>
        <p:cxnSp>
          <p:nvCxnSpPr>
            <p:cNvPr id="1182" name="Google Shape;1182;p72"/>
            <p:cNvCxnSpPr>
              <a:stCxn id="1161" idx="2"/>
              <a:endCxn id="1183" idx="0"/>
            </p:cNvCxnSpPr>
            <p:nvPr/>
          </p:nvCxnSpPr>
          <p:spPr>
            <a:xfrm>
              <a:off x="2702575" y="2926225"/>
              <a:ext cx="836400" cy="531300"/>
            </a:xfrm>
            <a:prstGeom prst="straightConnector1">
              <a:avLst/>
            </a:prstGeom>
            <a:noFill/>
            <a:ln w="19050" cap="flat" cmpd="sng">
              <a:solidFill>
                <a:schemeClr val="dk2"/>
              </a:solidFill>
              <a:prstDash val="solid"/>
              <a:round/>
              <a:headEnd type="none" w="med" len="med"/>
              <a:tailEnd type="none" w="med" len="med"/>
            </a:ln>
          </p:spPr>
        </p:cxnSp>
        <p:sp>
          <p:nvSpPr>
            <p:cNvPr id="1184" name="Google Shape;1184;p72"/>
            <p:cNvSpPr/>
            <p:nvPr/>
          </p:nvSpPr>
          <p:spPr>
            <a:xfrm>
              <a:off x="1601700" y="3415900"/>
              <a:ext cx="940200" cy="593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Is b &lt; c?</a:t>
              </a:r>
              <a:endParaRPr/>
            </a:p>
          </p:txBody>
        </p:sp>
        <p:sp>
          <p:nvSpPr>
            <p:cNvPr id="1183" name="Google Shape;1183;p72"/>
            <p:cNvSpPr/>
            <p:nvPr/>
          </p:nvSpPr>
          <p:spPr>
            <a:xfrm>
              <a:off x="3172675" y="3457600"/>
              <a:ext cx="732900" cy="510300"/>
            </a:xfrm>
            <a:prstGeom prst="roundRect">
              <a:avLst>
                <a:gd name="adj" fmla="val 16667"/>
              </a:avLst>
            </a:prstGeom>
            <a:solidFill>
              <a:srgbClr val="A4C2F4"/>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b a c</a:t>
              </a:r>
              <a:endParaRPr/>
            </a:p>
          </p:txBody>
        </p:sp>
        <p:cxnSp>
          <p:nvCxnSpPr>
            <p:cNvPr id="1185" name="Google Shape;1185;p72"/>
            <p:cNvCxnSpPr>
              <a:stCxn id="1161" idx="2"/>
              <a:endCxn id="1184" idx="0"/>
            </p:cNvCxnSpPr>
            <p:nvPr/>
          </p:nvCxnSpPr>
          <p:spPr>
            <a:xfrm flipH="1">
              <a:off x="2071675" y="2926225"/>
              <a:ext cx="630900" cy="489600"/>
            </a:xfrm>
            <a:prstGeom prst="straightConnector1">
              <a:avLst/>
            </a:prstGeom>
            <a:noFill/>
            <a:ln w="19050" cap="flat" cmpd="sng">
              <a:solidFill>
                <a:schemeClr val="dk2"/>
              </a:solidFill>
              <a:prstDash val="solid"/>
              <a:round/>
              <a:headEnd type="none" w="med" len="med"/>
              <a:tailEnd type="none" w="med" len="med"/>
            </a:ln>
          </p:spPr>
        </p:cxnSp>
        <p:sp>
          <p:nvSpPr>
            <p:cNvPr id="1186" name="Google Shape;1186;p72"/>
            <p:cNvSpPr/>
            <p:nvPr/>
          </p:nvSpPr>
          <p:spPr>
            <a:xfrm>
              <a:off x="2232475" y="4499275"/>
              <a:ext cx="732900" cy="510300"/>
            </a:xfrm>
            <a:prstGeom prst="roundRect">
              <a:avLst>
                <a:gd name="adj" fmla="val 16667"/>
              </a:avLst>
            </a:prstGeom>
            <a:solidFill>
              <a:srgbClr val="A4C2F4"/>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b c a</a:t>
              </a:r>
              <a:endParaRPr/>
            </a:p>
          </p:txBody>
        </p:sp>
        <p:sp>
          <p:nvSpPr>
            <p:cNvPr id="1187" name="Google Shape;1187;p72"/>
            <p:cNvSpPr/>
            <p:nvPr/>
          </p:nvSpPr>
          <p:spPr>
            <a:xfrm>
              <a:off x="1206975" y="4499275"/>
              <a:ext cx="732900" cy="510300"/>
            </a:xfrm>
            <a:prstGeom prst="roundRect">
              <a:avLst>
                <a:gd name="adj" fmla="val 16667"/>
              </a:avLst>
            </a:prstGeom>
            <a:solidFill>
              <a:srgbClr val="A4C2F4"/>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c b a</a:t>
              </a:r>
              <a:endParaRPr/>
            </a:p>
          </p:txBody>
        </p:sp>
        <p:cxnSp>
          <p:nvCxnSpPr>
            <p:cNvPr id="1188" name="Google Shape;1188;p72"/>
            <p:cNvCxnSpPr>
              <a:stCxn id="1184" idx="2"/>
              <a:endCxn id="1187" idx="0"/>
            </p:cNvCxnSpPr>
            <p:nvPr/>
          </p:nvCxnSpPr>
          <p:spPr>
            <a:xfrm flipH="1">
              <a:off x="1573500" y="4009600"/>
              <a:ext cx="498300" cy="489600"/>
            </a:xfrm>
            <a:prstGeom prst="straightConnector1">
              <a:avLst/>
            </a:prstGeom>
            <a:noFill/>
            <a:ln w="19050" cap="flat" cmpd="sng">
              <a:solidFill>
                <a:schemeClr val="dk2"/>
              </a:solidFill>
              <a:prstDash val="solid"/>
              <a:round/>
              <a:headEnd type="none" w="med" len="med"/>
              <a:tailEnd type="none" w="med" len="med"/>
            </a:ln>
          </p:spPr>
        </p:cxnSp>
        <p:cxnSp>
          <p:nvCxnSpPr>
            <p:cNvPr id="1189" name="Google Shape;1189;p72"/>
            <p:cNvCxnSpPr>
              <a:stCxn id="1184" idx="2"/>
              <a:endCxn id="1186" idx="0"/>
            </p:cNvCxnSpPr>
            <p:nvPr/>
          </p:nvCxnSpPr>
          <p:spPr>
            <a:xfrm>
              <a:off x="2071800" y="4009600"/>
              <a:ext cx="527100" cy="489600"/>
            </a:xfrm>
            <a:prstGeom prst="straightConnector1">
              <a:avLst/>
            </a:prstGeom>
            <a:noFill/>
            <a:ln w="19050" cap="flat" cmpd="sng">
              <a:solidFill>
                <a:schemeClr val="dk2"/>
              </a:solidFill>
              <a:prstDash val="solid"/>
              <a:round/>
              <a:headEnd type="none" w="med" len="med"/>
              <a:tailEnd type="none" w="med" len="med"/>
            </a:ln>
          </p:spPr>
        </p:cxnSp>
        <p:sp>
          <p:nvSpPr>
            <p:cNvPr id="1190" name="Google Shape;1190;p72"/>
            <p:cNvSpPr txBox="1"/>
            <p:nvPr/>
          </p:nvSpPr>
          <p:spPr>
            <a:xfrm>
              <a:off x="3126400" y="2949800"/>
              <a:ext cx="498300" cy="27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Yes</a:t>
              </a:r>
              <a:endParaRPr/>
            </a:p>
          </p:txBody>
        </p:sp>
        <p:sp>
          <p:nvSpPr>
            <p:cNvPr id="1191" name="Google Shape;1191;p72"/>
            <p:cNvSpPr txBox="1"/>
            <p:nvPr/>
          </p:nvSpPr>
          <p:spPr>
            <a:xfrm>
              <a:off x="1939875" y="2949800"/>
              <a:ext cx="498300" cy="27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No</a:t>
              </a:r>
              <a:endParaRPr/>
            </a:p>
          </p:txBody>
        </p:sp>
        <p:sp>
          <p:nvSpPr>
            <p:cNvPr id="1192" name="Google Shape;1192;p72"/>
            <p:cNvSpPr txBox="1"/>
            <p:nvPr/>
          </p:nvSpPr>
          <p:spPr>
            <a:xfrm>
              <a:off x="1381788" y="4040838"/>
              <a:ext cx="498300" cy="27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No</a:t>
              </a:r>
              <a:endParaRPr/>
            </a:p>
          </p:txBody>
        </p:sp>
        <p:sp>
          <p:nvSpPr>
            <p:cNvPr id="1193" name="Google Shape;1193;p72"/>
            <p:cNvSpPr txBox="1"/>
            <p:nvPr/>
          </p:nvSpPr>
          <p:spPr>
            <a:xfrm>
              <a:off x="2339713" y="4040838"/>
              <a:ext cx="498300" cy="27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Yes</a:t>
              </a:r>
              <a:endParaRPr/>
            </a:p>
          </p:txBody>
        </p:sp>
      </p:grpSp>
      <p:grpSp>
        <p:nvGrpSpPr>
          <p:cNvPr id="1194" name="Google Shape;1194;p72"/>
          <p:cNvGrpSpPr/>
          <p:nvPr/>
        </p:nvGrpSpPr>
        <p:grpSpPr>
          <a:xfrm>
            <a:off x="6450525" y="3311200"/>
            <a:ext cx="2019075" cy="615000"/>
            <a:chOff x="6450525" y="3311200"/>
            <a:chExt cx="2019075" cy="615000"/>
          </a:xfrm>
        </p:grpSpPr>
        <p:sp>
          <p:nvSpPr>
            <p:cNvPr id="1167" name="Google Shape;1167;p72"/>
            <p:cNvSpPr/>
            <p:nvPr/>
          </p:nvSpPr>
          <p:spPr>
            <a:xfrm>
              <a:off x="6450525" y="3415900"/>
              <a:ext cx="732900" cy="510300"/>
            </a:xfrm>
            <a:prstGeom prst="roundRect">
              <a:avLst>
                <a:gd name="adj" fmla="val 16667"/>
              </a:avLst>
            </a:prstGeom>
            <a:solidFill>
              <a:srgbClr val="A4C2F4"/>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a b c</a:t>
              </a:r>
              <a:endParaRPr/>
            </a:p>
          </p:txBody>
        </p:sp>
        <p:sp>
          <p:nvSpPr>
            <p:cNvPr id="1195" name="Google Shape;1195;p72"/>
            <p:cNvSpPr txBox="1"/>
            <p:nvPr/>
          </p:nvSpPr>
          <p:spPr>
            <a:xfrm>
              <a:off x="7591800" y="3311200"/>
              <a:ext cx="877800" cy="51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a: puppy</a:t>
              </a:r>
              <a:endParaRPr/>
            </a:p>
            <a:p>
              <a:pPr marL="0" lvl="0" indent="0" algn="l" rtl="0">
                <a:spcBef>
                  <a:spcPts val="0"/>
                </a:spcBef>
                <a:spcAft>
                  <a:spcPts val="0"/>
                </a:spcAft>
                <a:buNone/>
              </a:pPr>
              <a:r>
                <a:rPr lang="en"/>
                <a:t>b: cat</a:t>
              </a:r>
              <a:endParaRPr/>
            </a:p>
            <a:p>
              <a:pPr marL="0" lvl="0" indent="0" algn="l" rtl="0">
                <a:spcBef>
                  <a:spcPts val="0"/>
                </a:spcBef>
                <a:spcAft>
                  <a:spcPts val="0"/>
                </a:spcAft>
                <a:buNone/>
              </a:pPr>
              <a:r>
                <a:rPr lang="en"/>
                <a:t>c: dog</a:t>
              </a:r>
              <a:endParaRPr/>
            </a:p>
          </p:txBody>
        </p:sp>
      </p:grpSp>
      <p:sp>
        <p:nvSpPr>
          <p:cNvPr id="1196" name="Google Shape;1196;p72"/>
          <p:cNvSpPr txBox="1"/>
          <p:nvPr/>
        </p:nvSpPr>
        <p:spPr>
          <a:xfrm>
            <a:off x="6190500" y="4346875"/>
            <a:ext cx="877800" cy="51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a: puppy</a:t>
            </a:r>
            <a:endParaRPr/>
          </a:p>
          <a:p>
            <a:pPr marL="0" lvl="0" indent="0" algn="l" rtl="0">
              <a:spcBef>
                <a:spcPts val="0"/>
              </a:spcBef>
              <a:spcAft>
                <a:spcPts val="0"/>
              </a:spcAft>
              <a:buNone/>
            </a:pPr>
            <a:r>
              <a:rPr lang="en"/>
              <a:t>c: cat</a:t>
            </a:r>
            <a:endParaRPr/>
          </a:p>
          <a:p>
            <a:pPr marL="0" lvl="0" indent="0" algn="l" rtl="0">
              <a:spcBef>
                <a:spcPts val="0"/>
              </a:spcBef>
              <a:spcAft>
                <a:spcPts val="0"/>
              </a:spcAft>
              <a:buNone/>
            </a:pPr>
            <a:r>
              <a:rPr lang="en"/>
              <a:t>b: dog</a:t>
            </a:r>
            <a:endParaRPr/>
          </a:p>
        </p:txBody>
      </p:sp>
      <p:sp>
        <p:nvSpPr>
          <p:cNvPr id="1197" name="Google Shape;1197;p72"/>
          <p:cNvSpPr txBox="1"/>
          <p:nvPr/>
        </p:nvSpPr>
        <p:spPr>
          <a:xfrm>
            <a:off x="3415800" y="4346875"/>
            <a:ext cx="877800" cy="51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c: puppy</a:t>
            </a:r>
            <a:endParaRPr/>
          </a:p>
          <a:p>
            <a:pPr marL="0" lvl="0" indent="0" algn="l" rtl="0">
              <a:spcBef>
                <a:spcPts val="0"/>
              </a:spcBef>
              <a:spcAft>
                <a:spcPts val="0"/>
              </a:spcAft>
              <a:buNone/>
            </a:pPr>
            <a:r>
              <a:rPr lang="en"/>
              <a:t>a: cat</a:t>
            </a:r>
            <a:endParaRPr/>
          </a:p>
          <a:p>
            <a:pPr marL="0" lvl="0" indent="0" algn="l" rtl="0">
              <a:spcBef>
                <a:spcPts val="0"/>
              </a:spcBef>
              <a:spcAft>
                <a:spcPts val="0"/>
              </a:spcAft>
              <a:buNone/>
            </a:pPr>
            <a:r>
              <a:rPr lang="en"/>
              <a:t>b: dog</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59"/>
                                        </p:tgtEl>
                                        <p:attrNameLst>
                                          <p:attrName>style.visibility</p:attrName>
                                        </p:attrNameLst>
                                      </p:cBhvr>
                                      <p:to>
                                        <p:strVal val="visible"/>
                                      </p:to>
                                    </p:set>
                                    <p:animEffect transition="in" filter="fade">
                                      <p:cBhvr>
                                        <p:cTn id="7" dur="1000"/>
                                        <p:tgtEl>
                                          <p:spTgt spid="115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58"/>
                                        </p:tgtEl>
                                        <p:attrNameLst>
                                          <p:attrName>style.visibility</p:attrName>
                                        </p:attrNameLst>
                                      </p:cBhvr>
                                      <p:to>
                                        <p:strVal val="visible"/>
                                      </p:to>
                                    </p:set>
                                    <p:animEffect transition="in" filter="fade">
                                      <p:cBhvr>
                                        <p:cTn id="12" dur="1000"/>
                                        <p:tgtEl>
                                          <p:spTgt spid="115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65"/>
                                        </p:tgtEl>
                                        <p:attrNameLst>
                                          <p:attrName>style.visibility</p:attrName>
                                        </p:attrNameLst>
                                      </p:cBhvr>
                                      <p:to>
                                        <p:strVal val="visible"/>
                                      </p:to>
                                    </p:set>
                                    <p:animEffect transition="in" filter="fade">
                                      <p:cBhvr>
                                        <p:cTn id="17" dur="1000"/>
                                        <p:tgtEl>
                                          <p:spTgt spid="116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194"/>
                                        </p:tgtEl>
                                        <p:attrNameLst>
                                          <p:attrName>style.visibility</p:attrName>
                                        </p:attrNameLst>
                                      </p:cBhvr>
                                      <p:to>
                                        <p:strVal val="visible"/>
                                      </p:to>
                                    </p:set>
                                    <p:animEffect transition="in" filter="fade">
                                      <p:cBhvr>
                                        <p:cTn id="22" dur="1000"/>
                                        <p:tgtEl>
                                          <p:spTgt spid="119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169"/>
                                        </p:tgtEl>
                                        <p:attrNameLst>
                                          <p:attrName>style.visibility</p:attrName>
                                        </p:attrNameLst>
                                      </p:cBhvr>
                                      <p:to>
                                        <p:strVal val="visible"/>
                                      </p:to>
                                    </p:set>
                                    <p:animEffect transition="in" filter="fade">
                                      <p:cBhvr>
                                        <p:cTn id="27" dur="1000"/>
                                        <p:tgtEl>
                                          <p:spTgt spid="1169"/>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172"/>
                                        </p:tgtEl>
                                        <p:attrNameLst>
                                          <p:attrName>style.visibility</p:attrName>
                                        </p:attrNameLst>
                                      </p:cBhvr>
                                      <p:to>
                                        <p:strVal val="visible"/>
                                      </p:to>
                                    </p:set>
                                    <p:animEffect transition="in" filter="fade">
                                      <p:cBhvr>
                                        <p:cTn id="32" dur="1000"/>
                                        <p:tgtEl>
                                          <p:spTgt spid="1172"/>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173"/>
                                        </p:tgtEl>
                                        <p:attrNameLst>
                                          <p:attrName>style.visibility</p:attrName>
                                        </p:attrNameLst>
                                      </p:cBhvr>
                                      <p:to>
                                        <p:strVal val="visible"/>
                                      </p:to>
                                    </p:set>
                                    <p:animEffect transition="in" filter="fade">
                                      <p:cBhvr>
                                        <p:cTn id="37" dur="1000"/>
                                        <p:tgtEl>
                                          <p:spTgt spid="1173"/>
                                        </p:tgtEl>
                                      </p:cBhvr>
                                    </p:animEffect>
                                  </p:childTnLst>
                                </p:cTn>
                              </p:par>
                              <p:par>
                                <p:cTn id="38" presetID="10" presetClass="entr" presetSubtype="0" fill="hold" nodeType="withEffect">
                                  <p:stCondLst>
                                    <p:cond delay="0"/>
                                  </p:stCondLst>
                                  <p:childTnLst>
                                    <p:set>
                                      <p:cBhvr>
                                        <p:cTn id="39" dur="1" fill="hold">
                                          <p:stCondLst>
                                            <p:cond delay="0"/>
                                          </p:stCondLst>
                                        </p:cTn>
                                        <p:tgtEl>
                                          <p:spTgt spid="1196"/>
                                        </p:tgtEl>
                                        <p:attrNameLst>
                                          <p:attrName>style.visibility</p:attrName>
                                        </p:attrNameLst>
                                      </p:cBhvr>
                                      <p:to>
                                        <p:strVal val="visible"/>
                                      </p:to>
                                    </p:set>
                                    <p:animEffect transition="in" filter="fade">
                                      <p:cBhvr>
                                        <p:cTn id="40" dur="1000"/>
                                        <p:tgtEl>
                                          <p:spTgt spid="1196"/>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177"/>
                                        </p:tgtEl>
                                        <p:attrNameLst>
                                          <p:attrName>style.visibility</p:attrName>
                                        </p:attrNameLst>
                                      </p:cBhvr>
                                      <p:to>
                                        <p:strVal val="visible"/>
                                      </p:to>
                                    </p:set>
                                    <p:animEffect transition="in" filter="fade">
                                      <p:cBhvr>
                                        <p:cTn id="45" dur="1000"/>
                                        <p:tgtEl>
                                          <p:spTgt spid="1177"/>
                                        </p:tgtEl>
                                      </p:cBhvr>
                                    </p:animEffect>
                                  </p:childTnLst>
                                </p:cTn>
                              </p:par>
                              <p:par>
                                <p:cTn id="46" presetID="10" presetClass="entr" presetSubtype="0" fill="hold" nodeType="withEffect">
                                  <p:stCondLst>
                                    <p:cond delay="0"/>
                                  </p:stCondLst>
                                  <p:childTnLst>
                                    <p:set>
                                      <p:cBhvr>
                                        <p:cTn id="47" dur="1" fill="hold">
                                          <p:stCondLst>
                                            <p:cond delay="0"/>
                                          </p:stCondLst>
                                        </p:cTn>
                                        <p:tgtEl>
                                          <p:spTgt spid="1197"/>
                                        </p:tgtEl>
                                        <p:attrNameLst>
                                          <p:attrName>style.visibility</p:attrName>
                                        </p:attrNameLst>
                                      </p:cBhvr>
                                      <p:to>
                                        <p:strVal val="visible"/>
                                      </p:to>
                                    </p:set>
                                    <p:animEffect transition="in" filter="fade">
                                      <p:cBhvr>
                                        <p:cTn id="48" dur="1000"/>
                                        <p:tgtEl>
                                          <p:spTgt spid="1197"/>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1181"/>
                                        </p:tgtEl>
                                        <p:attrNameLst>
                                          <p:attrName>style.visibility</p:attrName>
                                        </p:attrNameLst>
                                      </p:cBhvr>
                                      <p:to>
                                        <p:strVal val="visible"/>
                                      </p:to>
                                    </p:set>
                                    <p:animEffect transition="in" filter="fade">
                                      <p:cBhvr>
                                        <p:cTn id="53" dur="1000"/>
                                        <p:tgtEl>
                                          <p:spTgt spid="11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C9DAF8"/>
        </a:solidFill>
        <a:effectLst/>
      </p:bgPr>
    </p:bg>
    <p:spTree>
      <p:nvGrpSpPr>
        <p:cNvPr id="1" name="Shape 1201"/>
        <p:cNvGrpSpPr/>
        <p:nvPr/>
      </p:nvGrpSpPr>
      <p:grpSpPr>
        <a:xfrm>
          <a:off x="0" y="0"/>
          <a:ext cx="0" cy="0"/>
          <a:chOff x="0" y="0"/>
          <a:chExt cx="0" cy="0"/>
        </a:xfrm>
      </p:grpSpPr>
      <p:sp>
        <p:nvSpPr>
          <p:cNvPr id="1202" name="Google Shape;1202;p73"/>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Generalizing Puppy, Cat, Dog</a:t>
            </a:r>
            <a:endParaRPr/>
          </a:p>
        </p:txBody>
      </p:sp>
      <p:sp>
        <p:nvSpPr>
          <p:cNvPr id="1203" name="Google Shape;1203;p73"/>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How many questions would you need to ask to definitely solve the generalized “puppy, cat, dog” problem for N items?</a:t>
            </a:r>
            <a:endParaRPr/>
          </a:p>
          <a:p>
            <a:pPr marL="457200" lvl="0" indent="-342900" algn="l" rtl="0">
              <a:spcBef>
                <a:spcPts val="600"/>
              </a:spcBef>
              <a:spcAft>
                <a:spcPts val="0"/>
              </a:spcAft>
              <a:buSzPts val="1800"/>
              <a:buChar char="●"/>
            </a:pPr>
            <a:r>
              <a:rPr lang="en"/>
              <a:t>Give your answer in big Omega notation.</a:t>
            </a:r>
            <a:endParaRPr/>
          </a:p>
          <a:p>
            <a:pPr marL="0" lvl="0" indent="0" algn="l" rtl="0">
              <a:spcBef>
                <a:spcPts val="600"/>
              </a:spcBef>
              <a:spcAft>
                <a:spcPts val="0"/>
              </a:spcAft>
              <a:buNone/>
            </a:pPr>
            <a:br>
              <a:rPr lang="en"/>
            </a:br>
            <a:endParaRPr/>
          </a:p>
          <a:p>
            <a:pPr marL="0" lvl="0" indent="0" algn="l" rtl="0">
              <a:spcBef>
                <a:spcPts val="600"/>
              </a:spcBef>
              <a:spcAft>
                <a:spcPts val="0"/>
              </a:spcAft>
              <a:buNone/>
            </a:pPr>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207"/>
        <p:cNvGrpSpPr/>
        <p:nvPr/>
      </p:nvGrpSpPr>
      <p:grpSpPr>
        <a:xfrm>
          <a:off x="0" y="0"/>
          <a:ext cx="0" cy="0"/>
          <a:chOff x="0" y="0"/>
          <a:chExt cx="0" cy="0"/>
        </a:xfrm>
      </p:grpSpPr>
      <p:sp>
        <p:nvSpPr>
          <p:cNvPr id="1208" name="Google Shape;1208;p74"/>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Generalizing Puppy, Cat, Dog</a:t>
            </a:r>
            <a:endParaRPr/>
          </a:p>
        </p:txBody>
      </p:sp>
      <p:sp>
        <p:nvSpPr>
          <p:cNvPr id="1209" name="Google Shape;1209;p74"/>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How many questions would you need to ask to definitely solve the generalized “puppy, cat, dog” problem for N items?</a:t>
            </a:r>
            <a:endParaRPr/>
          </a:p>
          <a:p>
            <a:pPr marL="457200" lvl="0" indent="-342900" algn="l" rtl="0">
              <a:spcBef>
                <a:spcPts val="600"/>
              </a:spcBef>
              <a:spcAft>
                <a:spcPts val="0"/>
              </a:spcAft>
              <a:buSzPts val="1800"/>
              <a:buChar char="●"/>
            </a:pPr>
            <a:r>
              <a:rPr lang="en"/>
              <a:t>Give your answer in big Omega notation.</a:t>
            </a:r>
            <a:endParaRPr/>
          </a:p>
          <a:p>
            <a:pPr marL="0" lvl="0" indent="0" algn="l" rtl="0">
              <a:spcBef>
                <a:spcPts val="600"/>
              </a:spcBef>
              <a:spcAft>
                <a:spcPts val="0"/>
              </a:spcAft>
              <a:buNone/>
            </a:pPr>
            <a:endParaRPr/>
          </a:p>
          <a:p>
            <a:pPr marL="0" lvl="0" indent="0" algn="l" rtl="0">
              <a:spcBef>
                <a:spcPts val="600"/>
              </a:spcBef>
              <a:spcAft>
                <a:spcPts val="0"/>
              </a:spcAft>
              <a:buNone/>
            </a:pPr>
            <a:r>
              <a:rPr lang="en"/>
              <a:t>For N, we have the following argument:</a:t>
            </a:r>
            <a:endParaRPr/>
          </a:p>
          <a:p>
            <a:pPr marL="457200" lvl="0" indent="-342900" algn="l" rtl="0">
              <a:spcBef>
                <a:spcPts val="600"/>
              </a:spcBef>
              <a:spcAft>
                <a:spcPts val="0"/>
              </a:spcAft>
              <a:buSzPts val="1800"/>
              <a:buChar char="●"/>
            </a:pPr>
            <a:r>
              <a:rPr lang="en"/>
              <a:t>For N animals, we have N! universes.</a:t>
            </a:r>
            <a:endParaRPr/>
          </a:p>
          <a:p>
            <a:pPr marL="457200" lvl="0" indent="-342900" algn="l" rtl="0">
              <a:spcBef>
                <a:spcPts val="0"/>
              </a:spcBef>
              <a:spcAft>
                <a:spcPts val="0"/>
              </a:spcAft>
              <a:buSzPts val="1800"/>
              <a:buChar char="●"/>
            </a:pPr>
            <a:r>
              <a:rPr lang="en"/>
              <a:t>So we need at least ceiling(lg(N!)) levels, which is Ω(log(N!))</a:t>
            </a:r>
            <a:endParaRPr/>
          </a:p>
          <a:p>
            <a:pPr marL="914400" lvl="1" indent="-342900" algn="l" rtl="0">
              <a:spcBef>
                <a:spcPts val="0"/>
              </a:spcBef>
              <a:spcAft>
                <a:spcPts val="0"/>
              </a:spcAft>
              <a:buSzPts val="1800"/>
              <a:buChar char="○"/>
            </a:pPr>
            <a:r>
              <a:rPr lang="en"/>
              <a:t>Don't know for certain that we can attain that bound, so we can only say an Omega bound</a:t>
            </a:r>
            <a:endParaRPr/>
          </a:p>
          <a:p>
            <a:pPr marL="914400" lvl="1" indent="-342900" algn="l" rtl="0">
              <a:spcBef>
                <a:spcPts val="0"/>
              </a:spcBef>
              <a:spcAft>
                <a:spcPts val="0"/>
              </a:spcAft>
              <a:buSzPts val="1800"/>
              <a:buChar char="○"/>
            </a:pPr>
            <a:r>
              <a:rPr lang="en"/>
              <a:t>lg just means log</a:t>
            </a:r>
            <a:r>
              <a:rPr lang="en" baseline="-25000"/>
              <a:t>2</a:t>
            </a:r>
            <a:r>
              <a:rPr lang="en"/>
              <a:t>  (log base 2)</a:t>
            </a:r>
            <a:br>
              <a:rPr lang="en"/>
            </a:br>
            <a:endParaRPr/>
          </a:p>
          <a:p>
            <a:pPr marL="0" lvl="0" indent="0" algn="l" rtl="0">
              <a:spcBef>
                <a:spcPts val="600"/>
              </a:spcBef>
              <a:spcAft>
                <a:spcPts val="0"/>
              </a:spcAft>
              <a:buNone/>
            </a:pPr>
            <a:r>
              <a:rPr lang="en"/>
              <a:t>Answer: Ω(log(N!))</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1213"/>
        <p:cNvGrpSpPr/>
        <p:nvPr/>
      </p:nvGrpSpPr>
      <p:grpSpPr>
        <a:xfrm>
          <a:off x="0" y="0"/>
          <a:ext cx="0" cy="0"/>
          <a:chOff x="0" y="0"/>
          <a:chExt cx="0" cy="0"/>
        </a:xfrm>
      </p:grpSpPr>
      <p:sp>
        <p:nvSpPr>
          <p:cNvPr id="1214" name="Google Shape;1214;p75"/>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Generalizing Puppy, Cat, Dog</a:t>
            </a:r>
            <a:endParaRPr/>
          </a:p>
        </p:txBody>
      </p:sp>
      <p:sp>
        <p:nvSpPr>
          <p:cNvPr id="1215" name="Google Shape;1215;p75"/>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Finding an optimal decision tree for the generalized version of puppy, cat, dog (e.g. N=6: puppy, cat, dog, monkey, walrus, elephant) is an open problem in mathematics.</a:t>
            </a:r>
            <a:endParaRPr/>
          </a:p>
          <a:p>
            <a:pPr marL="457200" lvl="0" indent="-342900" algn="l" rtl="0">
              <a:spcBef>
                <a:spcPts val="600"/>
              </a:spcBef>
              <a:spcAft>
                <a:spcPts val="0"/>
              </a:spcAft>
              <a:buSzPts val="1800"/>
              <a:buChar char="●"/>
            </a:pPr>
            <a:r>
              <a:rPr lang="en"/>
              <a:t>(To my knowledge) Best known trees known for N=1 through 15 and N=22:</a:t>
            </a:r>
            <a:endParaRPr/>
          </a:p>
          <a:p>
            <a:pPr marL="914400" lvl="1" indent="-342900" algn="l" rtl="0">
              <a:spcBef>
                <a:spcPts val="0"/>
              </a:spcBef>
              <a:spcAft>
                <a:spcPts val="0"/>
              </a:spcAft>
              <a:buSzPts val="1800"/>
              <a:buChar char="○"/>
            </a:pPr>
            <a:r>
              <a:rPr lang="en"/>
              <a:t>For more, see: </a:t>
            </a:r>
            <a:r>
              <a:rPr lang="en" u="sng">
                <a:solidFill>
                  <a:schemeClr val="hlink"/>
                </a:solidFill>
                <a:hlinkClick r:id="rId3"/>
              </a:rPr>
              <a:t>http://oeis.org/A036604</a:t>
            </a:r>
            <a:endParaRPr/>
          </a:p>
          <a:p>
            <a:pPr marL="0" lvl="0" indent="0" algn="l" rtl="0">
              <a:spcBef>
                <a:spcPts val="600"/>
              </a:spcBef>
              <a:spcAft>
                <a:spcPts val="0"/>
              </a:spcAft>
              <a:buNone/>
            </a:pPr>
            <a:endParaRPr/>
          </a:p>
          <a:p>
            <a:pPr marL="0" lvl="0" indent="0" algn="l" rtl="0">
              <a:spcBef>
                <a:spcPts val="600"/>
              </a:spcBef>
              <a:spcAft>
                <a:spcPts val="0"/>
              </a:spcAft>
              <a:buNone/>
            </a:pPr>
            <a:r>
              <a:rPr lang="en"/>
              <a:t>Deriving a sequence of yes/no questions to identify puppy, cat, dog is hard. An alternate approach to solving the puppy, cat, dog problem:</a:t>
            </a:r>
            <a:endParaRPr/>
          </a:p>
          <a:p>
            <a:pPr marL="457200" lvl="0" indent="-342900" algn="l" rtl="0">
              <a:spcBef>
                <a:spcPts val="600"/>
              </a:spcBef>
              <a:spcAft>
                <a:spcPts val="0"/>
              </a:spcAft>
              <a:buSzPts val="1800"/>
              <a:buChar char="●"/>
            </a:pPr>
            <a:r>
              <a:rPr lang="en"/>
              <a:t>Use a sorting algorithm!</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1219"/>
        <p:cNvGrpSpPr/>
        <p:nvPr/>
      </p:nvGrpSpPr>
      <p:grpSpPr>
        <a:xfrm>
          <a:off x="0" y="0"/>
          <a:ext cx="0" cy="0"/>
          <a:chOff x="0" y="0"/>
          <a:chExt cx="0" cy="0"/>
        </a:xfrm>
      </p:grpSpPr>
      <p:sp>
        <p:nvSpPr>
          <p:cNvPr id="1220" name="Google Shape;1220;p76"/>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Reducing Puppy, Cat, Dog to Sorting</a:t>
            </a:r>
            <a:endParaRPr/>
          </a:p>
        </p:txBody>
      </p:sp>
      <p:sp>
        <p:nvSpPr>
          <p:cNvPr id="1221" name="Google Shape;1221;p76"/>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Arrange the boxes in a row from A to Z</a:t>
            </a:r>
            <a:endParaRPr/>
          </a:p>
          <a:p>
            <a:pPr marL="0" lvl="0" indent="0" algn="l" rtl="0">
              <a:spcBef>
                <a:spcPts val="600"/>
              </a:spcBef>
              <a:spcAft>
                <a:spcPts val="0"/>
              </a:spcAft>
              <a:buNone/>
            </a:pPr>
            <a:r>
              <a:rPr lang="en"/>
              <a:t>Create a class Box implements Comparable</a:t>
            </a:r>
            <a:endParaRPr/>
          </a:p>
          <a:p>
            <a:pPr marL="0" lvl="0" indent="0" algn="l" rtl="0">
              <a:spcBef>
                <a:spcPts val="600"/>
              </a:spcBef>
              <a:spcAft>
                <a:spcPts val="0"/>
              </a:spcAft>
              <a:buNone/>
            </a:pPr>
            <a:r>
              <a:rPr lang="en"/>
              <a:t>For the compareTo method:</a:t>
            </a:r>
            <a:endParaRPr/>
          </a:p>
          <a:p>
            <a:pPr marL="457200" lvl="0" indent="-342900" algn="l" rtl="0">
              <a:spcBef>
                <a:spcPts val="600"/>
              </a:spcBef>
              <a:spcAft>
                <a:spcPts val="0"/>
              </a:spcAft>
              <a:buSzPts val="1800"/>
              <a:buChar char="●"/>
            </a:pPr>
            <a:r>
              <a:rPr lang="en"/>
              <a:t>Use the scale to compare the given boxes and return the result</a:t>
            </a:r>
            <a:endParaRPr/>
          </a:p>
          <a:p>
            <a:pPr marL="0" lvl="0" indent="0" algn="l" rtl="0">
              <a:spcBef>
                <a:spcPts val="600"/>
              </a:spcBef>
              <a:spcAft>
                <a:spcPts val="0"/>
              </a:spcAft>
              <a:buNone/>
            </a:pPr>
            <a:r>
              <a:rPr lang="en"/>
              <a:t>For the swap method:</a:t>
            </a:r>
            <a:endParaRPr/>
          </a:p>
          <a:p>
            <a:pPr marL="457200" lvl="0" indent="-342900" algn="l" rtl="0">
              <a:spcBef>
                <a:spcPts val="600"/>
              </a:spcBef>
              <a:spcAft>
                <a:spcPts val="0"/>
              </a:spcAft>
              <a:buSzPts val="1800"/>
              <a:buChar char="●"/>
            </a:pPr>
            <a:r>
              <a:rPr lang="en"/>
              <a:t>Swap the two boxes</a:t>
            </a:r>
            <a:endParaRPr/>
          </a:p>
          <a:p>
            <a:pPr marL="0" lvl="0" indent="0" algn="l" rtl="0">
              <a:spcBef>
                <a:spcPts val="600"/>
              </a:spcBef>
              <a:spcAft>
                <a:spcPts val="0"/>
              </a:spcAft>
              <a:buNone/>
            </a:pPr>
            <a:r>
              <a:rPr lang="en"/>
              <a:t>Sort the array. This reorders the boxes from lightest to heaviest.</a:t>
            </a:r>
            <a:endParaRPr/>
          </a:p>
          <a:p>
            <a:pPr marL="0" lvl="0" indent="0" algn="l" rtl="0">
              <a:spcBef>
                <a:spcPts val="600"/>
              </a:spcBef>
              <a:spcAft>
                <a:spcPts val="0"/>
              </a:spcAft>
              <a:buNone/>
            </a:pPr>
            <a:r>
              <a:rPr lang="en"/>
              <a:t>Read out the letters on the boxes from lightest to heaviest</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1225"/>
        <p:cNvGrpSpPr/>
        <p:nvPr/>
      </p:nvGrpSpPr>
      <p:grpSpPr>
        <a:xfrm>
          <a:off x="0" y="0"/>
          <a:ext cx="0" cy="0"/>
          <a:chOff x="0" y="0"/>
          <a:chExt cx="0" cy="0"/>
        </a:xfrm>
      </p:grpSpPr>
      <p:sp>
        <p:nvSpPr>
          <p:cNvPr id="1226" name="Google Shape;1226;p77"/>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Sorting, Coins, Puppies, Cats, and Dogs</a:t>
            </a:r>
            <a:endParaRPr/>
          </a:p>
        </p:txBody>
      </p:sp>
      <p:sp>
        <p:nvSpPr>
          <p:cNvPr id="1227" name="Google Shape;1227;p77"/>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Why do we care about these coins and (no doubt adorable) critters?</a:t>
            </a:r>
            <a:endParaRPr/>
          </a:p>
          <a:p>
            <a:pPr marL="0" lvl="0" indent="0" algn="l" rtl="0">
              <a:spcBef>
                <a:spcPts val="600"/>
              </a:spcBef>
              <a:spcAft>
                <a:spcPts val="0"/>
              </a:spcAft>
              <a:buNone/>
            </a:pPr>
            <a:endParaRPr/>
          </a:p>
          <a:p>
            <a:pPr marL="0" lvl="0" indent="0" algn="l" rtl="0">
              <a:spcBef>
                <a:spcPts val="600"/>
              </a:spcBef>
              <a:spcAft>
                <a:spcPts val="0"/>
              </a:spcAft>
              <a:buNone/>
            </a:pPr>
            <a:r>
              <a:rPr lang="en"/>
              <a:t>A solution to the sorting problem also provides a solution to puppy, cat, dog.</a:t>
            </a:r>
            <a:endParaRPr/>
          </a:p>
          <a:p>
            <a:pPr marL="457200" lvl="0" indent="-342900" algn="l" rtl="0">
              <a:spcBef>
                <a:spcPts val="600"/>
              </a:spcBef>
              <a:spcAft>
                <a:spcPts val="0"/>
              </a:spcAft>
              <a:buSzPts val="1800"/>
              <a:buChar char="●"/>
            </a:pPr>
            <a:r>
              <a:rPr lang="en"/>
              <a:t>In other words, puppy, cat, dog </a:t>
            </a:r>
            <a:r>
              <a:rPr lang="en" b="1"/>
              <a:t>reduces</a:t>
            </a:r>
            <a:r>
              <a:rPr lang="en"/>
              <a:t> to sorting.</a:t>
            </a:r>
            <a:endParaRPr/>
          </a:p>
          <a:p>
            <a:pPr marL="457200" lvl="0" indent="-342900" algn="l" rtl="0">
              <a:spcBef>
                <a:spcPts val="0"/>
              </a:spcBef>
              <a:spcAft>
                <a:spcPts val="0"/>
              </a:spcAft>
              <a:buSzPts val="1800"/>
              <a:buChar char="●"/>
            </a:pPr>
            <a:r>
              <a:rPr lang="en"/>
              <a:t>Thus, any lower bound on difficulty of puppy, cat, dog must ALSO apply to sorting.</a:t>
            </a:r>
            <a:endParaRPr/>
          </a:p>
        </p:txBody>
      </p:sp>
      <p:sp>
        <p:nvSpPr>
          <p:cNvPr id="1228" name="Google Shape;1228;p77"/>
          <p:cNvSpPr txBox="1"/>
          <p:nvPr/>
        </p:nvSpPr>
        <p:spPr>
          <a:xfrm>
            <a:off x="244146" y="2712375"/>
            <a:ext cx="8443800" cy="2188500"/>
          </a:xfrm>
          <a:prstGeom prst="rect">
            <a:avLst/>
          </a:prstGeom>
          <a:noFill/>
          <a:ln>
            <a:noFill/>
          </a:ln>
        </p:spPr>
        <p:txBody>
          <a:bodyPr spcFirstLastPara="1" wrap="square" lIns="91425" tIns="91425" rIns="91425" bIns="91425" anchor="ctr" anchorCtr="0">
            <a:noAutofit/>
          </a:bodyPr>
          <a:lstStyle/>
          <a:p>
            <a:pPr marL="0" lvl="0" indent="0" algn="l" rtl="0">
              <a:spcBef>
                <a:spcPts val="600"/>
              </a:spcBef>
              <a:spcAft>
                <a:spcPts val="0"/>
              </a:spcAft>
              <a:buNone/>
            </a:pPr>
            <a:r>
              <a:rPr lang="en" sz="1800">
                <a:solidFill>
                  <a:schemeClr val="dk1"/>
                </a:solidFill>
                <a:latin typeface="Roboto"/>
                <a:ea typeface="Roboto"/>
                <a:cs typeface="Roboto"/>
                <a:sym typeface="Roboto"/>
              </a:rPr>
              <a:t>Physics analogy: Climbing a hill with your legs (CAHWYL) is one way to solve the problem of getting up a hill (GUAH).</a:t>
            </a:r>
            <a:endParaRPr sz="1800">
              <a:solidFill>
                <a:schemeClr val="dk1"/>
              </a:solidFill>
              <a:latin typeface="Roboto"/>
              <a:ea typeface="Roboto"/>
              <a:cs typeface="Roboto"/>
              <a:sym typeface="Roboto"/>
            </a:endParaRPr>
          </a:p>
          <a:p>
            <a:pPr marL="457200" lvl="0" indent="-342900" algn="l" rtl="0">
              <a:spcBef>
                <a:spcPts val="600"/>
              </a:spcBef>
              <a:spcAft>
                <a:spcPts val="0"/>
              </a:spcAft>
              <a:buClr>
                <a:schemeClr val="dk1"/>
              </a:buClr>
              <a:buSzPts val="1800"/>
              <a:buFont typeface="Roboto"/>
              <a:buChar char="●"/>
            </a:pPr>
            <a:r>
              <a:rPr lang="en" sz="1800">
                <a:solidFill>
                  <a:schemeClr val="dk1"/>
                </a:solidFill>
                <a:latin typeface="Roboto"/>
                <a:ea typeface="Roboto"/>
                <a:cs typeface="Roboto"/>
                <a:sym typeface="Roboto"/>
              </a:rPr>
              <a:t>Any lower bound on energy to GUAH must also apply to CAHWYL.</a:t>
            </a:r>
            <a:endParaRPr sz="1800">
              <a:solidFill>
                <a:schemeClr val="dk1"/>
              </a:solidFill>
              <a:latin typeface="Roboto"/>
              <a:ea typeface="Roboto"/>
              <a:cs typeface="Roboto"/>
              <a:sym typeface="Roboto"/>
            </a:endParaRPr>
          </a:p>
          <a:p>
            <a:pPr marL="457200" lvl="0" indent="-342900" algn="l" rtl="0">
              <a:spcBef>
                <a:spcPts val="0"/>
              </a:spcBef>
              <a:spcAft>
                <a:spcPts val="0"/>
              </a:spcAft>
              <a:buClr>
                <a:schemeClr val="dk1"/>
              </a:buClr>
              <a:buSzPts val="1800"/>
              <a:buFont typeface="Roboto"/>
              <a:buChar char="●"/>
            </a:pPr>
            <a:r>
              <a:rPr lang="en" sz="1800">
                <a:solidFill>
                  <a:schemeClr val="dk1"/>
                </a:solidFill>
                <a:latin typeface="Roboto"/>
                <a:ea typeface="Roboto"/>
                <a:cs typeface="Roboto"/>
                <a:sym typeface="Roboto"/>
              </a:rPr>
              <a:t>Example bound: Takes m*g*h energy to climb hill, so using legs to climb the hill takes at least m*g*h energy.</a:t>
            </a:r>
            <a:endParaRPr sz="1200">
              <a:latin typeface="Roboto"/>
              <a:ea typeface="Roboto"/>
              <a:cs typeface="Roboto"/>
              <a:sym typeface="Robo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28"/>
                                        </p:tgtEl>
                                        <p:attrNameLst>
                                          <p:attrName>style.visibility</p:attrName>
                                        </p:attrNameLst>
                                      </p:cBhvr>
                                      <p:to>
                                        <p:strVal val="visible"/>
                                      </p:to>
                                    </p:set>
                                    <p:animEffect transition="in" filter="fade">
                                      <p:cBhvr>
                                        <p:cTn id="7" dur="1000"/>
                                        <p:tgtEl>
                                          <p:spTgt spid="12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1232"/>
        <p:cNvGrpSpPr/>
        <p:nvPr/>
      </p:nvGrpSpPr>
      <p:grpSpPr>
        <a:xfrm>
          <a:off x="0" y="0"/>
          <a:ext cx="0" cy="0"/>
          <a:chOff x="0" y="0"/>
          <a:chExt cx="0" cy="0"/>
        </a:xfrm>
      </p:grpSpPr>
      <p:sp>
        <p:nvSpPr>
          <p:cNvPr id="1233" name="Google Shape;1233;p78"/>
          <p:cNvSpPr txBox="1">
            <a:spLocks noGrp="1"/>
          </p:cNvSpPr>
          <p:nvPr>
            <p:ph type="subTitle" idx="2"/>
          </p:nvPr>
        </p:nvSpPr>
        <p:spPr>
          <a:xfrm>
            <a:off x="177925" y="4068000"/>
            <a:ext cx="4158000" cy="393600"/>
          </a:xfrm>
          <a:prstGeom prst="rect">
            <a:avLst/>
          </a:prstGeom>
        </p:spPr>
        <p:txBody>
          <a:bodyPr spcFirstLastPara="1" wrap="square" lIns="91425" tIns="91425" rIns="91425" bIns="91425" anchor="ctr" anchorCtr="0">
            <a:noAutofit/>
          </a:bodyPr>
          <a:lstStyle/>
          <a:p>
            <a:pPr marL="0" lvl="0" indent="0" algn="l" rtl="0">
              <a:spcBef>
                <a:spcPts val="600"/>
              </a:spcBef>
              <a:spcAft>
                <a:spcPts val="0"/>
              </a:spcAft>
              <a:buNone/>
            </a:pPr>
            <a:r>
              <a:rPr lang="en"/>
              <a:t>Lecture 34, CS61B, Fall 2023</a:t>
            </a:r>
            <a:endParaRPr/>
          </a:p>
        </p:txBody>
      </p:sp>
      <p:sp>
        <p:nvSpPr>
          <p:cNvPr id="1234" name="Google Shape;1234;p78"/>
          <p:cNvSpPr txBox="1">
            <a:spLocks noGrp="1"/>
          </p:cNvSpPr>
          <p:nvPr>
            <p:ph type="body" idx="1"/>
          </p:nvPr>
        </p:nvSpPr>
        <p:spPr>
          <a:xfrm>
            <a:off x="4812375" y="402198"/>
            <a:ext cx="3999900" cy="4260900"/>
          </a:xfrm>
          <a:prstGeom prst="rect">
            <a:avLst/>
          </a:prstGeom>
        </p:spPr>
        <p:txBody>
          <a:bodyPr spcFirstLastPara="1" wrap="square" lIns="91425" tIns="91425" rIns="91425" bIns="91425" anchor="ctr" anchorCtr="0">
            <a:noAutofit/>
          </a:bodyPr>
          <a:lstStyle/>
          <a:p>
            <a:pPr marL="0" lvl="0" indent="0" algn="l" rtl="0">
              <a:spcBef>
                <a:spcPts val="600"/>
              </a:spcBef>
              <a:spcAft>
                <a:spcPts val="0"/>
              </a:spcAft>
              <a:buClr>
                <a:schemeClr val="dk1"/>
              </a:buClr>
              <a:buSzPts val="1100"/>
              <a:buFont typeface="Arial"/>
              <a:buNone/>
            </a:pPr>
            <a:r>
              <a:rPr lang="en"/>
              <a:t>Goal: How Hard is Sorting?</a:t>
            </a:r>
            <a:endParaRPr/>
          </a:p>
          <a:p>
            <a:pPr marL="0" lvl="0" indent="0" algn="l" rtl="0">
              <a:spcBef>
                <a:spcPts val="600"/>
              </a:spcBef>
              <a:spcAft>
                <a:spcPts val="0"/>
              </a:spcAft>
              <a:buClr>
                <a:schemeClr val="dk1"/>
              </a:buClr>
              <a:buSzPts val="1100"/>
              <a:buFont typeface="Arial"/>
              <a:buNone/>
            </a:pPr>
            <a:r>
              <a:rPr lang="en"/>
              <a:t>Math Problem Warmup</a:t>
            </a:r>
            <a:endParaRPr/>
          </a:p>
          <a:p>
            <a:pPr marL="0" lvl="0" indent="0" algn="l" rtl="0">
              <a:spcBef>
                <a:spcPts val="600"/>
              </a:spcBef>
              <a:spcAft>
                <a:spcPts val="0"/>
              </a:spcAft>
              <a:buClr>
                <a:schemeClr val="dk1"/>
              </a:buClr>
              <a:buSzPts val="1100"/>
              <a:buFont typeface="Arial"/>
              <a:buNone/>
            </a:pPr>
            <a:r>
              <a:rPr lang="en" b="1">
                <a:solidFill>
                  <a:schemeClr val="accent3"/>
                </a:solidFill>
                <a:latin typeface="Roboto"/>
                <a:ea typeface="Roboto"/>
                <a:cs typeface="Roboto"/>
                <a:sym typeface="Roboto"/>
              </a:rPr>
              <a:t>Theoretical Bounds on Sorting</a:t>
            </a:r>
            <a:endParaRPr b="1">
              <a:solidFill>
                <a:schemeClr val="accent3"/>
              </a:solidFill>
              <a:latin typeface="Roboto"/>
              <a:ea typeface="Roboto"/>
              <a:cs typeface="Roboto"/>
              <a:sym typeface="Roboto"/>
            </a:endParaRPr>
          </a:p>
          <a:p>
            <a:pPr marL="457200" lvl="0" indent="-342900" algn="l" rtl="0">
              <a:spcBef>
                <a:spcPts val="600"/>
              </a:spcBef>
              <a:spcAft>
                <a:spcPts val="0"/>
              </a:spcAft>
              <a:buSzPts val="1800"/>
              <a:buChar char="•"/>
            </a:pPr>
            <a:r>
              <a:rPr lang="en"/>
              <a:t>Simple Bounds for TUCS (the ultimate comparison sort)</a:t>
            </a:r>
            <a:endParaRPr/>
          </a:p>
          <a:p>
            <a:pPr marL="457200" lvl="0" indent="-342900" algn="l" rtl="0">
              <a:spcBef>
                <a:spcPts val="0"/>
              </a:spcBef>
              <a:spcAft>
                <a:spcPts val="0"/>
              </a:spcAft>
              <a:buSzPts val="1800"/>
              <a:buChar char="•"/>
            </a:pPr>
            <a:r>
              <a:rPr lang="en"/>
              <a:t>Coin Puzzles</a:t>
            </a:r>
            <a:endParaRPr/>
          </a:p>
          <a:p>
            <a:pPr marL="457200" lvl="0" indent="-342900" algn="l" rtl="0">
              <a:spcBef>
                <a:spcPts val="0"/>
              </a:spcBef>
              <a:spcAft>
                <a:spcPts val="0"/>
              </a:spcAft>
              <a:buSzPts val="1800"/>
              <a:buChar char="•"/>
            </a:pPr>
            <a:r>
              <a:rPr lang="en"/>
              <a:t>Puppy Cat Dog</a:t>
            </a:r>
            <a:endParaRPr/>
          </a:p>
          <a:p>
            <a:pPr marL="457200" lvl="0" indent="-342900" algn="l" rtl="0">
              <a:spcBef>
                <a:spcPts val="0"/>
              </a:spcBef>
              <a:spcAft>
                <a:spcPts val="0"/>
              </a:spcAft>
              <a:buClr>
                <a:schemeClr val="accent3"/>
              </a:buClr>
              <a:buSzPts val="1800"/>
              <a:buFont typeface="Roboto"/>
              <a:buChar char="•"/>
            </a:pPr>
            <a:r>
              <a:rPr lang="en" b="1">
                <a:solidFill>
                  <a:schemeClr val="accent3"/>
                </a:solidFill>
                <a:latin typeface="Roboto"/>
                <a:ea typeface="Roboto"/>
                <a:cs typeface="Roboto"/>
                <a:sym typeface="Roboto"/>
              </a:rPr>
              <a:t>The Sorting Lower Bound</a:t>
            </a:r>
            <a:endParaRPr b="1">
              <a:solidFill>
                <a:schemeClr val="accent3"/>
              </a:solidFill>
              <a:latin typeface="Roboto"/>
              <a:ea typeface="Roboto"/>
              <a:cs typeface="Roboto"/>
              <a:sym typeface="Roboto"/>
            </a:endParaRPr>
          </a:p>
          <a:p>
            <a:pPr marL="0" lvl="0" indent="0" algn="l" rtl="0">
              <a:spcBef>
                <a:spcPts val="600"/>
              </a:spcBef>
              <a:spcAft>
                <a:spcPts val="0"/>
              </a:spcAft>
              <a:buClr>
                <a:schemeClr val="dk1"/>
              </a:buClr>
              <a:buSzPts val="1100"/>
              <a:buFont typeface="Arial"/>
              <a:buNone/>
            </a:pPr>
            <a:r>
              <a:rPr lang="en"/>
              <a:t>Sounds of Sorting</a:t>
            </a:r>
            <a:endParaRPr/>
          </a:p>
        </p:txBody>
      </p:sp>
      <p:sp>
        <p:nvSpPr>
          <p:cNvPr id="1235" name="Google Shape;1235;p78"/>
          <p:cNvSpPr txBox="1">
            <a:spLocks noGrp="1"/>
          </p:cNvSpPr>
          <p:nvPr>
            <p:ph type="title"/>
          </p:nvPr>
        </p:nvSpPr>
        <p:spPr>
          <a:xfrm>
            <a:off x="177925" y="2003300"/>
            <a:ext cx="4038000" cy="2037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Clr>
                <a:schemeClr val="dk1"/>
              </a:buClr>
              <a:buSzPts val="1100"/>
              <a:buFont typeface="Arial"/>
              <a:buNone/>
            </a:pPr>
            <a:r>
              <a:rPr lang="en"/>
              <a:t>The Sorting Lower Bound</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1239"/>
        <p:cNvGrpSpPr/>
        <p:nvPr/>
      </p:nvGrpSpPr>
      <p:grpSpPr>
        <a:xfrm>
          <a:off x="0" y="0"/>
          <a:ext cx="0" cy="0"/>
          <a:chOff x="0" y="0"/>
          <a:chExt cx="0" cy="0"/>
        </a:xfrm>
      </p:grpSpPr>
      <p:sp>
        <p:nvSpPr>
          <p:cNvPr id="1240" name="Google Shape;1240;p79"/>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Sorting Lower Bound</a:t>
            </a:r>
            <a:endParaRPr/>
          </a:p>
        </p:txBody>
      </p:sp>
      <p:sp>
        <p:nvSpPr>
          <p:cNvPr id="1241" name="Google Shape;1241;p79"/>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We have a lower bound on puppy, cat, dog: namely that it takes Ω(log(N!)) comparisons to solve such a puzzle in the worst case.</a:t>
            </a:r>
            <a:endParaRPr/>
          </a:p>
          <a:p>
            <a:pPr marL="0" lvl="0" indent="0" algn="l" rtl="0">
              <a:spcBef>
                <a:spcPts val="600"/>
              </a:spcBef>
              <a:spcAft>
                <a:spcPts val="0"/>
              </a:spcAft>
              <a:buNone/>
            </a:pPr>
            <a:endParaRPr/>
          </a:p>
          <a:p>
            <a:pPr marL="0" lvl="0" indent="0" algn="l" rtl="0">
              <a:spcBef>
                <a:spcPts val="600"/>
              </a:spcBef>
              <a:spcAft>
                <a:spcPts val="0"/>
              </a:spcAft>
              <a:buNone/>
            </a:pPr>
            <a:r>
              <a:rPr lang="en"/>
              <a:t>Since sorting with comparisons can be used to solve puppy, cat, dog, then sorting also takes Ω(log(N!)) comparisons in the worst case.</a:t>
            </a:r>
            <a:endParaRPr/>
          </a:p>
        </p:txBody>
      </p:sp>
      <p:sp>
        <p:nvSpPr>
          <p:cNvPr id="1242" name="Google Shape;1242;p79"/>
          <p:cNvSpPr txBox="1">
            <a:spLocks noGrp="1"/>
          </p:cNvSpPr>
          <p:nvPr>
            <p:ph type="body" idx="1"/>
          </p:nvPr>
        </p:nvSpPr>
        <p:spPr>
          <a:xfrm>
            <a:off x="266350" y="2606350"/>
            <a:ext cx="7284000" cy="2213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Or in other words:</a:t>
            </a:r>
            <a:endParaRPr/>
          </a:p>
          <a:p>
            <a:pPr marL="457200" lvl="0" indent="-342900" algn="l" rtl="0">
              <a:spcBef>
                <a:spcPts val="600"/>
              </a:spcBef>
              <a:spcAft>
                <a:spcPts val="0"/>
              </a:spcAft>
              <a:buSzPts val="1800"/>
              <a:buChar char="●"/>
            </a:pPr>
            <a:r>
              <a:rPr lang="en"/>
              <a:t>Any sorting algorithm using comparisons, no matter how clever, must use at least k = lg(N!) compares to find the correct permutation. So even TUCS takes at least lg(N!) comparisons.</a:t>
            </a:r>
            <a:endParaRPr/>
          </a:p>
          <a:p>
            <a:pPr marL="457200" lvl="0" indent="-342900" algn="l" rtl="0">
              <a:spcBef>
                <a:spcPts val="0"/>
              </a:spcBef>
              <a:spcAft>
                <a:spcPts val="0"/>
              </a:spcAft>
              <a:buSzPts val="1800"/>
              <a:buChar char="●"/>
            </a:pPr>
            <a:r>
              <a:rPr lang="en"/>
              <a:t>lg(N!) is trivially Ω(log(N!)), so TUCS must take Ω(log(N!)) time.</a:t>
            </a:r>
            <a:endParaRPr/>
          </a:p>
          <a:p>
            <a:pPr marL="457200" lvl="0" indent="-342900" algn="l" rtl="0">
              <a:spcBef>
                <a:spcPts val="0"/>
              </a:spcBef>
              <a:spcAft>
                <a:spcPts val="0"/>
              </a:spcAft>
              <a:buSzPts val="1800"/>
              <a:buChar char="●"/>
            </a:pPr>
            <a:r>
              <a:rPr lang="en"/>
              <a:t>So, how does log(N!) compare to N log N?</a:t>
            </a:r>
            <a:endParaRPr/>
          </a:p>
        </p:txBody>
      </p:sp>
      <p:grpSp>
        <p:nvGrpSpPr>
          <p:cNvPr id="1243" name="Google Shape;1243;p79"/>
          <p:cNvGrpSpPr/>
          <p:nvPr/>
        </p:nvGrpSpPr>
        <p:grpSpPr>
          <a:xfrm>
            <a:off x="7702625" y="2674678"/>
            <a:ext cx="1387847" cy="1803497"/>
            <a:chOff x="7016825" y="1912678"/>
            <a:chExt cx="1387847" cy="1803497"/>
          </a:xfrm>
        </p:grpSpPr>
        <p:sp>
          <p:nvSpPr>
            <p:cNvPr id="1244" name="Google Shape;1244;p79"/>
            <p:cNvSpPr/>
            <p:nvPr/>
          </p:nvSpPr>
          <p:spPr>
            <a:xfrm>
              <a:off x="7016825" y="1962375"/>
              <a:ext cx="1372500" cy="1693800"/>
            </a:xfrm>
            <a:prstGeom prst="rect">
              <a:avLst/>
            </a:prstGeom>
            <a:solidFill>
              <a:srgbClr val="C9DAF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245" name="Google Shape;1245;p79"/>
            <p:cNvCxnSpPr/>
            <p:nvPr/>
          </p:nvCxnSpPr>
          <p:spPr>
            <a:xfrm>
              <a:off x="7400097" y="2399143"/>
              <a:ext cx="606000" cy="0"/>
            </a:xfrm>
            <a:prstGeom prst="straightConnector1">
              <a:avLst/>
            </a:prstGeom>
            <a:noFill/>
            <a:ln w="28575" cap="flat" cmpd="sng">
              <a:solidFill>
                <a:srgbClr val="BE0712"/>
              </a:solidFill>
              <a:prstDash val="solid"/>
              <a:round/>
              <a:headEnd type="none" w="med" len="med"/>
              <a:tailEnd type="none" w="med" len="med"/>
            </a:ln>
          </p:spPr>
        </p:cxnSp>
        <p:cxnSp>
          <p:nvCxnSpPr>
            <p:cNvPr id="1246" name="Google Shape;1246;p79"/>
            <p:cNvCxnSpPr/>
            <p:nvPr/>
          </p:nvCxnSpPr>
          <p:spPr>
            <a:xfrm>
              <a:off x="7721550" y="2407475"/>
              <a:ext cx="0" cy="865800"/>
            </a:xfrm>
            <a:prstGeom prst="straightConnector1">
              <a:avLst/>
            </a:prstGeom>
            <a:noFill/>
            <a:ln w="28575" cap="flat" cmpd="sng">
              <a:solidFill>
                <a:srgbClr val="BE0712"/>
              </a:solidFill>
              <a:prstDash val="solid"/>
              <a:round/>
              <a:headEnd type="none" w="med" len="med"/>
              <a:tailEnd type="none" w="med" len="med"/>
            </a:ln>
          </p:spPr>
        </p:cxnSp>
        <p:cxnSp>
          <p:nvCxnSpPr>
            <p:cNvPr id="1247" name="Google Shape;1247;p79"/>
            <p:cNvCxnSpPr/>
            <p:nvPr/>
          </p:nvCxnSpPr>
          <p:spPr>
            <a:xfrm>
              <a:off x="7406197" y="3264618"/>
              <a:ext cx="606000" cy="0"/>
            </a:xfrm>
            <a:prstGeom prst="straightConnector1">
              <a:avLst/>
            </a:prstGeom>
            <a:noFill/>
            <a:ln w="28575" cap="flat" cmpd="sng">
              <a:solidFill>
                <a:srgbClr val="BE0712"/>
              </a:solidFill>
              <a:prstDash val="solid"/>
              <a:round/>
              <a:headEnd type="none" w="med" len="med"/>
              <a:tailEnd type="none" w="med" len="med"/>
            </a:ln>
          </p:spPr>
        </p:cxnSp>
        <p:sp>
          <p:nvSpPr>
            <p:cNvPr id="1248" name="Google Shape;1248;p79"/>
            <p:cNvSpPr txBox="1"/>
            <p:nvPr/>
          </p:nvSpPr>
          <p:spPr>
            <a:xfrm>
              <a:off x="7113713" y="1912678"/>
              <a:ext cx="1239600" cy="552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600">
                  <a:solidFill>
                    <a:srgbClr val="BE0712"/>
                  </a:solidFill>
                  <a:latin typeface="Roboto"/>
                  <a:ea typeface="Roboto"/>
                  <a:cs typeface="Roboto"/>
                  <a:sym typeface="Roboto"/>
                </a:rPr>
                <a:t>O(N log N)</a:t>
              </a:r>
              <a:endParaRPr sz="1600">
                <a:solidFill>
                  <a:srgbClr val="BE0712"/>
                </a:solidFill>
                <a:latin typeface="Roboto"/>
                <a:ea typeface="Roboto"/>
                <a:cs typeface="Roboto"/>
                <a:sym typeface="Roboto"/>
              </a:endParaRPr>
            </a:p>
          </p:txBody>
        </p:sp>
        <p:sp>
          <p:nvSpPr>
            <p:cNvPr id="1249" name="Google Shape;1249;p79"/>
            <p:cNvSpPr txBox="1"/>
            <p:nvPr/>
          </p:nvSpPr>
          <p:spPr>
            <a:xfrm>
              <a:off x="7165072" y="3163575"/>
              <a:ext cx="1239600" cy="552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600">
                  <a:solidFill>
                    <a:srgbClr val="BE0712"/>
                  </a:solidFill>
                  <a:latin typeface="Roboto"/>
                  <a:ea typeface="Roboto"/>
                  <a:cs typeface="Roboto"/>
                  <a:sym typeface="Roboto"/>
                </a:rPr>
                <a:t>Ω(log(N!))</a:t>
              </a:r>
              <a:endParaRPr sz="1600">
                <a:solidFill>
                  <a:srgbClr val="BE0712"/>
                </a:solidFill>
                <a:latin typeface="Roboto"/>
                <a:ea typeface="Roboto"/>
                <a:cs typeface="Roboto"/>
                <a:sym typeface="Roboto"/>
              </a:endParaRPr>
            </a:p>
          </p:txBody>
        </p:sp>
      </p:grpSp>
      <p:sp>
        <p:nvSpPr>
          <p:cNvPr id="1250" name="Google Shape;1250;p79"/>
          <p:cNvSpPr txBox="1"/>
          <p:nvPr/>
        </p:nvSpPr>
        <p:spPr>
          <a:xfrm>
            <a:off x="7607600" y="4355100"/>
            <a:ext cx="1589100" cy="570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latin typeface="Roboto"/>
                <a:ea typeface="Roboto"/>
                <a:cs typeface="Roboto"/>
                <a:sym typeface="Roboto"/>
              </a:rPr>
              <a:t>TUCS Worst</a:t>
            </a:r>
            <a:endParaRPr>
              <a:latin typeface="Roboto"/>
              <a:ea typeface="Roboto"/>
              <a:cs typeface="Roboto"/>
              <a:sym typeface="Roboto"/>
            </a:endParaRPr>
          </a:p>
          <a:p>
            <a:pPr marL="0" lvl="0" indent="0" algn="l" rtl="0">
              <a:spcBef>
                <a:spcPts val="0"/>
              </a:spcBef>
              <a:spcAft>
                <a:spcPts val="0"/>
              </a:spcAft>
              <a:buNone/>
            </a:pPr>
            <a:r>
              <a:rPr lang="en">
                <a:latin typeface="Roboto"/>
                <a:ea typeface="Roboto"/>
                <a:cs typeface="Roboto"/>
                <a:sym typeface="Roboto"/>
              </a:rPr>
              <a:t> Case Θ </a:t>
            </a:r>
            <a:r>
              <a:rPr lang="en">
                <a:solidFill>
                  <a:schemeClr val="dk1"/>
                </a:solidFill>
                <a:latin typeface="Roboto"/>
                <a:ea typeface="Roboto"/>
                <a:cs typeface="Roboto"/>
                <a:sym typeface="Roboto"/>
              </a:rPr>
              <a:t>Runtime</a:t>
            </a:r>
            <a:r>
              <a:rPr lang="en">
                <a:latin typeface="Roboto"/>
                <a:ea typeface="Roboto"/>
                <a:cs typeface="Roboto"/>
                <a:sym typeface="Roboto"/>
              </a:rPr>
              <a:t> </a:t>
            </a:r>
            <a:endParaRPr>
              <a:latin typeface="Roboto"/>
              <a:ea typeface="Roboto"/>
              <a:cs typeface="Roboto"/>
              <a:sym typeface="Roboto"/>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254"/>
        <p:cNvGrpSpPr/>
        <p:nvPr/>
      </p:nvGrpSpPr>
      <p:grpSpPr>
        <a:xfrm>
          <a:off x="0" y="0"/>
          <a:ext cx="0" cy="0"/>
          <a:chOff x="0" y="0"/>
          <a:chExt cx="0" cy="0"/>
        </a:xfrm>
      </p:grpSpPr>
      <p:sp>
        <p:nvSpPr>
          <p:cNvPr id="1255" name="Google Shape;1255;p80"/>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Another Math Problem</a:t>
            </a:r>
            <a:endParaRPr/>
          </a:p>
        </p:txBody>
      </p:sp>
      <p:sp>
        <p:nvSpPr>
          <p:cNvPr id="1256" name="Google Shape;1256;p80"/>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Earlier, we showed that log(N!) ∈ Ω(N log N) using the proof below.</a:t>
            </a:r>
            <a:endParaRPr/>
          </a:p>
          <a:p>
            <a:pPr marL="457200" lvl="0" indent="-342900" algn="l" rtl="0">
              <a:spcBef>
                <a:spcPts val="600"/>
              </a:spcBef>
              <a:spcAft>
                <a:spcPts val="0"/>
              </a:spcAft>
              <a:buSzPts val="1800"/>
              <a:buChar char="●"/>
            </a:pPr>
            <a:r>
              <a:rPr lang="en"/>
              <a:t>In other words, log(N!) grows at least as quickly as N log N.</a:t>
            </a:r>
            <a:endParaRPr/>
          </a:p>
        </p:txBody>
      </p:sp>
      <p:sp>
        <p:nvSpPr>
          <p:cNvPr id="1257" name="Google Shape;1257;p80"/>
          <p:cNvSpPr txBox="1"/>
          <p:nvPr/>
        </p:nvSpPr>
        <p:spPr>
          <a:xfrm>
            <a:off x="258275" y="2131975"/>
            <a:ext cx="8229600" cy="2939400"/>
          </a:xfrm>
          <a:prstGeom prst="rect">
            <a:avLst/>
          </a:prstGeom>
          <a:noFill/>
          <a:ln>
            <a:noFill/>
          </a:ln>
        </p:spPr>
        <p:txBody>
          <a:bodyPr spcFirstLastPara="1" wrap="square" lIns="91425" tIns="91425" rIns="91425" bIns="91425" anchor="t" anchorCtr="0">
            <a:noAutofit/>
          </a:bodyPr>
          <a:lstStyle/>
          <a:p>
            <a:pPr marL="0" lvl="0" indent="0" algn="l" rtl="0">
              <a:spcBef>
                <a:spcPts val="600"/>
              </a:spcBef>
              <a:spcAft>
                <a:spcPts val="0"/>
              </a:spcAft>
              <a:buNone/>
            </a:pPr>
            <a:r>
              <a:rPr lang="en" sz="1800">
                <a:solidFill>
                  <a:schemeClr val="dk1"/>
                </a:solidFill>
                <a:latin typeface="Roboto"/>
                <a:ea typeface="Roboto"/>
                <a:cs typeface="Roboto"/>
                <a:sym typeface="Roboto"/>
              </a:rPr>
              <a:t>Proof from earlier that log(N!) ∈ Ω(N log N):</a:t>
            </a:r>
            <a:endParaRPr sz="1800">
              <a:solidFill>
                <a:schemeClr val="dk1"/>
              </a:solidFill>
              <a:latin typeface="Roboto"/>
              <a:ea typeface="Roboto"/>
              <a:cs typeface="Roboto"/>
              <a:sym typeface="Roboto"/>
            </a:endParaRPr>
          </a:p>
          <a:p>
            <a:pPr marL="457200" lvl="0" indent="-342900" algn="l" rtl="0">
              <a:spcBef>
                <a:spcPts val="600"/>
              </a:spcBef>
              <a:spcAft>
                <a:spcPts val="0"/>
              </a:spcAft>
              <a:buClr>
                <a:schemeClr val="dk1"/>
              </a:buClr>
              <a:buSzPts val="1800"/>
              <a:buFont typeface="Roboto"/>
              <a:buChar char="●"/>
            </a:pPr>
            <a:r>
              <a:rPr lang="en" sz="1800">
                <a:solidFill>
                  <a:schemeClr val="dk1"/>
                </a:solidFill>
                <a:latin typeface="Roboto"/>
                <a:ea typeface="Roboto"/>
                <a:cs typeface="Roboto"/>
                <a:sym typeface="Roboto"/>
              </a:rPr>
              <a:t>We know that N! ≥ (N/2)</a:t>
            </a:r>
            <a:r>
              <a:rPr lang="en" sz="1800" baseline="30000">
                <a:solidFill>
                  <a:schemeClr val="dk1"/>
                </a:solidFill>
                <a:latin typeface="Roboto"/>
                <a:ea typeface="Roboto"/>
                <a:cs typeface="Roboto"/>
                <a:sym typeface="Roboto"/>
              </a:rPr>
              <a:t>N/2</a:t>
            </a:r>
            <a:r>
              <a:rPr lang="en" sz="1800">
                <a:solidFill>
                  <a:schemeClr val="dk1"/>
                </a:solidFill>
                <a:latin typeface="Roboto"/>
                <a:ea typeface="Roboto"/>
                <a:cs typeface="Roboto"/>
                <a:sym typeface="Roboto"/>
              </a:rPr>
              <a:t>.</a:t>
            </a:r>
            <a:endParaRPr sz="1800" baseline="30000">
              <a:solidFill>
                <a:schemeClr val="dk1"/>
              </a:solidFill>
              <a:latin typeface="Roboto"/>
              <a:ea typeface="Roboto"/>
              <a:cs typeface="Roboto"/>
              <a:sym typeface="Roboto"/>
            </a:endParaRPr>
          </a:p>
          <a:p>
            <a:pPr marL="457200" lvl="0" indent="-342900" algn="l" rtl="0">
              <a:spcBef>
                <a:spcPts val="0"/>
              </a:spcBef>
              <a:spcAft>
                <a:spcPts val="0"/>
              </a:spcAft>
              <a:buClr>
                <a:schemeClr val="dk1"/>
              </a:buClr>
              <a:buSzPts val="1800"/>
              <a:buFont typeface="Roboto"/>
              <a:buChar char="●"/>
            </a:pPr>
            <a:r>
              <a:rPr lang="en" sz="1800">
                <a:solidFill>
                  <a:schemeClr val="dk1"/>
                </a:solidFill>
                <a:latin typeface="Roboto"/>
                <a:ea typeface="Roboto"/>
                <a:cs typeface="Roboto"/>
                <a:sym typeface="Roboto"/>
              </a:rPr>
              <a:t>Taking the log of both sides, we have that log(N!) ≥ log((N/2)</a:t>
            </a:r>
            <a:r>
              <a:rPr lang="en" sz="1800" baseline="30000">
                <a:solidFill>
                  <a:schemeClr val="dk1"/>
                </a:solidFill>
                <a:latin typeface="Roboto"/>
                <a:ea typeface="Roboto"/>
                <a:cs typeface="Roboto"/>
                <a:sym typeface="Roboto"/>
              </a:rPr>
              <a:t>N/2</a:t>
            </a:r>
            <a:r>
              <a:rPr lang="en" sz="1800">
                <a:solidFill>
                  <a:schemeClr val="dk1"/>
                </a:solidFill>
                <a:latin typeface="Roboto"/>
                <a:ea typeface="Roboto"/>
                <a:cs typeface="Roboto"/>
                <a:sym typeface="Roboto"/>
              </a:rPr>
              <a:t>).</a:t>
            </a:r>
            <a:endParaRPr sz="1800">
              <a:solidFill>
                <a:schemeClr val="dk1"/>
              </a:solidFill>
              <a:latin typeface="Roboto"/>
              <a:ea typeface="Roboto"/>
              <a:cs typeface="Roboto"/>
              <a:sym typeface="Roboto"/>
            </a:endParaRPr>
          </a:p>
          <a:p>
            <a:pPr marL="457200" lvl="0" indent="-342900" algn="l" rtl="0">
              <a:spcBef>
                <a:spcPts val="0"/>
              </a:spcBef>
              <a:spcAft>
                <a:spcPts val="0"/>
              </a:spcAft>
              <a:buClr>
                <a:schemeClr val="dk1"/>
              </a:buClr>
              <a:buSzPts val="1800"/>
              <a:buFont typeface="Roboto"/>
              <a:buChar char="●"/>
            </a:pPr>
            <a:r>
              <a:rPr lang="en" sz="1800">
                <a:solidFill>
                  <a:schemeClr val="dk1"/>
                </a:solidFill>
                <a:latin typeface="Roboto"/>
                <a:ea typeface="Roboto"/>
                <a:cs typeface="Roboto"/>
                <a:sym typeface="Roboto"/>
              </a:rPr>
              <a:t>Bringing down the exponent we have that log(N!) ≥ N/2 log(N/2).</a:t>
            </a:r>
            <a:endParaRPr sz="1800">
              <a:solidFill>
                <a:schemeClr val="dk1"/>
              </a:solidFill>
              <a:latin typeface="Roboto"/>
              <a:ea typeface="Roboto"/>
              <a:cs typeface="Roboto"/>
              <a:sym typeface="Roboto"/>
            </a:endParaRPr>
          </a:p>
          <a:p>
            <a:pPr marL="457200" lvl="0" indent="-342900" algn="l" rtl="0">
              <a:spcBef>
                <a:spcPts val="0"/>
              </a:spcBef>
              <a:spcAft>
                <a:spcPts val="0"/>
              </a:spcAft>
              <a:buClr>
                <a:schemeClr val="dk1"/>
              </a:buClr>
              <a:buSzPts val="1800"/>
              <a:buFont typeface="Roboto"/>
              <a:buChar char="●"/>
            </a:pPr>
            <a:r>
              <a:rPr lang="en" sz="1800">
                <a:solidFill>
                  <a:schemeClr val="dk1"/>
                </a:solidFill>
                <a:latin typeface="Roboto"/>
                <a:ea typeface="Roboto"/>
                <a:cs typeface="Roboto"/>
                <a:sym typeface="Roboto"/>
              </a:rPr>
              <a:t>Discarding unnecessary constants, we have log(N!) ∈ Ω(N log N)</a:t>
            </a:r>
            <a:endParaRPr sz="1800">
              <a:solidFill>
                <a:schemeClr val="dk1"/>
              </a:solidFill>
              <a:latin typeface="Roboto"/>
              <a:ea typeface="Roboto"/>
              <a:cs typeface="Roboto"/>
              <a:sym typeface="Roboto"/>
            </a:endParaRPr>
          </a:p>
        </p:txBody>
      </p:sp>
      <p:sp>
        <p:nvSpPr>
          <p:cNvPr id="1258" name="Google Shape;1258;p80"/>
          <p:cNvSpPr txBox="1"/>
          <p:nvPr/>
        </p:nvSpPr>
        <p:spPr>
          <a:xfrm>
            <a:off x="6885400" y="4019684"/>
            <a:ext cx="1989600" cy="81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BE0712"/>
                </a:solidFill>
              </a:rPr>
              <a:t>Recall that changing base is just multiplying by a constant.</a:t>
            </a:r>
            <a:endParaRPr>
              <a:solidFill>
                <a:srgbClr val="BE0712"/>
              </a:solidFill>
            </a:endParaRPr>
          </a:p>
        </p:txBody>
      </p:sp>
      <p:cxnSp>
        <p:nvCxnSpPr>
          <p:cNvPr id="1259" name="Google Shape;1259;p80"/>
          <p:cNvCxnSpPr>
            <a:stCxn id="1258" idx="1"/>
          </p:cNvCxnSpPr>
          <p:nvPr/>
        </p:nvCxnSpPr>
        <p:spPr>
          <a:xfrm rot="10800000">
            <a:off x="6183400" y="3967034"/>
            <a:ext cx="702000" cy="459000"/>
          </a:xfrm>
          <a:prstGeom prst="straightConnector1">
            <a:avLst/>
          </a:prstGeom>
          <a:noFill/>
          <a:ln w="9525" cap="flat" cmpd="sng">
            <a:solidFill>
              <a:srgbClr val="BE0712"/>
            </a:solidFill>
            <a:prstDash val="solid"/>
            <a:round/>
            <a:headEnd type="none" w="med" len="med"/>
            <a:tailEnd type="triangle" w="med" len="med"/>
          </a:ln>
        </p:spPr>
      </p:cxn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1263"/>
        <p:cNvGrpSpPr/>
        <p:nvPr/>
      </p:nvGrpSpPr>
      <p:grpSpPr>
        <a:xfrm>
          <a:off x="0" y="0"/>
          <a:ext cx="0" cy="0"/>
          <a:chOff x="0" y="0"/>
          <a:chExt cx="0" cy="0"/>
        </a:xfrm>
      </p:grpSpPr>
      <p:sp>
        <p:nvSpPr>
          <p:cNvPr id="1264" name="Google Shape;1264;p81"/>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 Sorting Lower Bound (Finally)</a:t>
            </a:r>
            <a:endParaRPr/>
          </a:p>
        </p:txBody>
      </p:sp>
      <p:sp>
        <p:nvSpPr>
          <p:cNvPr id="1265" name="Google Shape;1265;p81"/>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Since TUCS is Ω(lg N!) and lg N! is Ω(N log N), we have that </a:t>
            </a:r>
            <a:r>
              <a:rPr lang="en" b="1"/>
              <a:t>TUCS is Ω(N log N).</a:t>
            </a:r>
            <a:endParaRPr b="1"/>
          </a:p>
          <a:p>
            <a:pPr marL="0" lvl="0" indent="0" algn="l" rtl="0">
              <a:spcBef>
                <a:spcPts val="600"/>
              </a:spcBef>
              <a:spcAft>
                <a:spcPts val="0"/>
              </a:spcAft>
              <a:buNone/>
            </a:pPr>
            <a:endParaRPr/>
          </a:p>
          <a:p>
            <a:pPr marL="0" lvl="0" indent="0" algn="l" rtl="0">
              <a:spcBef>
                <a:spcPts val="600"/>
              </a:spcBef>
              <a:spcAft>
                <a:spcPts val="0"/>
              </a:spcAft>
              <a:buNone/>
            </a:pPr>
            <a:r>
              <a:rPr lang="en" b="1"/>
              <a:t>Any comparison based sort requires at least order N log N comparisons in its worst case.</a:t>
            </a:r>
            <a:endParaRPr/>
          </a:p>
          <a:p>
            <a:pPr marL="0" lvl="0" indent="0" algn="l" rtl="0">
              <a:spcBef>
                <a:spcPts val="600"/>
              </a:spcBef>
              <a:spcAft>
                <a:spcPts val="0"/>
              </a:spcAft>
              <a:buNone/>
            </a:pPr>
            <a:endParaRPr/>
          </a:p>
          <a:p>
            <a:pPr marL="0" lvl="0" indent="0" algn="l" rtl="0">
              <a:spcBef>
                <a:spcPts val="600"/>
              </a:spcBef>
              <a:spcAft>
                <a:spcPts val="0"/>
              </a:spcAft>
              <a:buNone/>
            </a:pPr>
            <a:endParaRPr/>
          </a:p>
          <a:p>
            <a:pPr marL="0" lvl="0" indent="0" algn="l" rtl="0">
              <a:spcBef>
                <a:spcPts val="600"/>
              </a:spcBef>
              <a:spcAft>
                <a:spcPts val="0"/>
              </a:spcAft>
              <a:buNone/>
            </a:pPr>
            <a:endParaRPr/>
          </a:p>
          <a:p>
            <a:pPr marL="0" lvl="0" indent="0" algn="l" rtl="0">
              <a:spcBef>
                <a:spcPts val="600"/>
              </a:spcBef>
              <a:spcAft>
                <a:spcPts val="0"/>
              </a:spcAft>
              <a:buNone/>
            </a:pPr>
            <a:endParaRPr/>
          </a:p>
        </p:txBody>
      </p:sp>
      <p:grpSp>
        <p:nvGrpSpPr>
          <p:cNvPr id="1266" name="Google Shape;1266;p81"/>
          <p:cNvGrpSpPr/>
          <p:nvPr/>
        </p:nvGrpSpPr>
        <p:grpSpPr>
          <a:xfrm>
            <a:off x="7702625" y="2674678"/>
            <a:ext cx="1387847" cy="1803497"/>
            <a:chOff x="7016825" y="1912678"/>
            <a:chExt cx="1387847" cy="1803497"/>
          </a:xfrm>
        </p:grpSpPr>
        <p:sp>
          <p:nvSpPr>
            <p:cNvPr id="1267" name="Google Shape;1267;p81"/>
            <p:cNvSpPr/>
            <p:nvPr/>
          </p:nvSpPr>
          <p:spPr>
            <a:xfrm>
              <a:off x="7016825" y="1962375"/>
              <a:ext cx="1372500" cy="1693800"/>
            </a:xfrm>
            <a:prstGeom prst="rect">
              <a:avLst/>
            </a:prstGeom>
            <a:solidFill>
              <a:srgbClr val="C9DAF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268" name="Google Shape;1268;p81"/>
            <p:cNvCxnSpPr/>
            <p:nvPr/>
          </p:nvCxnSpPr>
          <p:spPr>
            <a:xfrm>
              <a:off x="7400097" y="2399143"/>
              <a:ext cx="606000" cy="0"/>
            </a:xfrm>
            <a:prstGeom prst="straightConnector1">
              <a:avLst/>
            </a:prstGeom>
            <a:noFill/>
            <a:ln w="28575" cap="flat" cmpd="sng">
              <a:solidFill>
                <a:srgbClr val="BE0712"/>
              </a:solidFill>
              <a:prstDash val="solid"/>
              <a:round/>
              <a:headEnd type="none" w="med" len="med"/>
              <a:tailEnd type="none" w="med" len="med"/>
            </a:ln>
          </p:spPr>
        </p:cxnSp>
        <p:cxnSp>
          <p:nvCxnSpPr>
            <p:cNvPr id="1269" name="Google Shape;1269;p81"/>
            <p:cNvCxnSpPr/>
            <p:nvPr/>
          </p:nvCxnSpPr>
          <p:spPr>
            <a:xfrm>
              <a:off x="7721550" y="2407475"/>
              <a:ext cx="0" cy="865800"/>
            </a:xfrm>
            <a:prstGeom prst="straightConnector1">
              <a:avLst/>
            </a:prstGeom>
            <a:noFill/>
            <a:ln w="28575" cap="flat" cmpd="sng">
              <a:solidFill>
                <a:srgbClr val="BE0712"/>
              </a:solidFill>
              <a:prstDash val="solid"/>
              <a:round/>
              <a:headEnd type="none" w="med" len="med"/>
              <a:tailEnd type="none" w="med" len="med"/>
            </a:ln>
          </p:spPr>
        </p:cxnSp>
        <p:cxnSp>
          <p:nvCxnSpPr>
            <p:cNvPr id="1270" name="Google Shape;1270;p81"/>
            <p:cNvCxnSpPr/>
            <p:nvPr/>
          </p:nvCxnSpPr>
          <p:spPr>
            <a:xfrm>
              <a:off x="7406197" y="3264618"/>
              <a:ext cx="606000" cy="0"/>
            </a:xfrm>
            <a:prstGeom prst="straightConnector1">
              <a:avLst/>
            </a:prstGeom>
            <a:noFill/>
            <a:ln w="28575" cap="flat" cmpd="sng">
              <a:solidFill>
                <a:srgbClr val="BE0712"/>
              </a:solidFill>
              <a:prstDash val="solid"/>
              <a:round/>
              <a:headEnd type="none" w="med" len="med"/>
              <a:tailEnd type="none" w="med" len="med"/>
            </a:ln>
          </p:spPr>
        </p:cxnSp>
        <p:sp>
          <p:nvSpPr>
            <p:cNvPr id="1271" name="Google Shape;1271;p81"/>
            <p:cNvSpPr txBox="1"/>
            <p:nvPr/>
          </p:nvSpPr>
          <p:spPr>
            <a:xfrm>
              <a:off x="7113713" y="1912678"/>
              <a:ext cx="1239600" cy="552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600">
                  <a:solidFill>
                    <a:srgbClr val="BE0712"/>
                  </a:solidFill>
                  <a:latin typeface="Roboto"/>
                  <a:ea typeface="Roboto"/>
                  <a:cs typeface="Roboto"/>
                  <a:sym typeface="Roboto"/>
                </a:rPr>
                <a:t>O(N log N)</a:t>
              </a:r>
              <a:endParaRPr sz="1600">
                <a:solidFill>
                  <a:srgbClr val="BE0712"/>
                </a:solidFill>
                <a:latin typeface="Roboto"/>
                <a:ea typeface="Roboto"/>
                <a:cs typeface="Roboto"/>
                <a:sym typeface="Roboto"/>
              </a:endParaRPr>
            </a:p>
          </p:txBody>
        </p:sp>
        <p:sp>
          <p:nvSpPr>
            <p:cNvPr id="1272" name="Google Shape;1272;p81"/>
            <p:cNvSpPr txBox="1"/>
            <p:nvPr/>
          </p:nvSpPr>
          <p:spPr>
            <a:xfrm>
              <a:off x="7165072" y="3163575"/>
              <a:ext cx="1239600" cy="552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600">
                  <a:solidFill>
                    <a:srgbClr val="BE0712"/>
                  </a:solidFill>
                  <a:latin typeface="Roboto"/>
                  <a:ea typeface="Roboto"/>
                  <a:cs typeface="Roboto"/>
                  <a:sym typeface="Roboto"/>
                </a:rPr>
                <a:t>Ω(N log N)</a:t>
              </a:r>
              <a:endParaRPr sz="1600">
                <a:solidFill>
                  <a:srgbClr val="BE0712"/>
                </a:solidFill>
                <a:latin typeface="Roboto"/>
                <a:ea typeface="Roboto"/>
                <a:cs typeface="Roboto"/>
                <a:sym typeface="Roboto"/>
              </a:endParaRPr>
            </a:p>
          </p:txBody>
        </p:sp>
      </p:grpSp>
      <p:sp>
        <p:nvSpPr>
          <p:cNvPr id="1273" name="Google Shape;1273;p81"/>
          <p:cNvSpPr txBox="1"/>
          <p:nvPr/>
        </p:nvSpPr>
        <p:spPr>
          <a:xfrm>
            <a:off x="7607600" y="4355100"/>
            <a:ext cx="1589100" cy="570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latin typeface="Roboto"/>
                <a:ea typeface="Roboto"/>
                <a:cs typeface="Roboto"/>
                <a:sym typeface="Roboto"/>
              </a:rPr>
              <a:t>TUCS Worst</a:t>
            </a:r>
            <a:endParaRPr>
              <a:latin typeface="Roboto"/>
              <a:ea typeface="Roboto"/>
              <a:cs typeface="Roboto"/>
              <a:sym typeface="Roboto"/>
            </a:endParaRPr>
          </a:p>
          <a:p>
            <a:pPr marL="0" lvl="0" indent="0" algn="l" rtl="0">
              <a:spcBef>
                <a:spcPts val="0"/>
              </a:spcBef>
              <a:spcAft>
                <a:spcPts val="0"/>
              </a:spcAft>
              <a:buNone/>
            </a:pPr>
            <a:r>
              <a:rPr lang="en">
                <a:latin typeface="Roboto"/>
                <a:ea typeface="Roboto"/>
                <a:cs typeface="Roboto"/>
                <a:sym typeface="Roboto"/>
              </a:rPr>
              <a:t> Case Θ </a:t>
            </a:r>
            <a:r>
              <a:rPr lang="en">
                <a:solidFill>
                  <a:schemeClr val="dk1"/>
                </a:solidFill>
                <a:latin typeface="Roboto"/>
                <a:ea typeface="Roboto"/>
                <a:cs typeface="Roboto"/>
                <a:sym typeface="Roboto"/>
              </a:rPr>
              <a:t>Runtime</a:t>
            </a:r>
            <a:r>
              <a:rPr lang="en">
                <a:latin typeface="Roboto"/>
                <a:ea typeface="Roboto"/>
                <a:cs typeface="Roboto"/>
                <a:sym typeface="Roboto"/>
              </a:rPr>
              <a:t> </a:t>
            </a:r>
            <a:endParaRPr>
              <a:latin typeface="Roboto"/>
              <a:ea typeface="Roboto"/>
              <a:cs typeface="Roboto"/>
              <a:sym typeface="Roboto"/>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1277"/>
        <p:cNvGrpSpPr/>
        <p:nvPr/>
      </p:nvGrpSpPr>
      <p:grpSpPr>
        <a:xfrm>
          <a:off x="0" y="0"/>
          <a:ext cx="0" cy="0"/>
          <a:chOff x="0" y="0"/>
          <a:chExt cx="0" cy="0"/>
        </a:xfrm>
      </p:grpSpPr>
      <p:sp>
        <p:nvSpPr>
          <p:cNvPr id="1278" name="Google Shape;1278;p82"/>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 Sorting Lower Bound (Finally)</a:t>
            </a:r>
            <a:endParaRPr/>
          </a:p>
        </p:txBody>
      </p:sp>
      <p:sp>
        <p:nvSpPr>
          <p:cNvPr id="1279" name="Google Shape;1279;p82"/>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Since TUCS is Ω(lg N!) and lg N! is Ω(N log N), we have that </a:t>
            </a:r>
            <a:r>
              <a:rPr lang="en" b="1"/>
              <a:t>TUCS is Ω(N log N).</a:t>
            </a:r>
            <a:endParaRPr b="1"/>
          </a:p>
          <a:p>
            <a:pPr marL="0" lvl="0" indent="0" algn="l" rtl="0">
              <a:spcBef>
                <a:spcPts val="600"/>
              </a:spcBef>
              <a:spcAft>
                <a:spcPts val="0"/>
              </a:spcAft>
              <a:buNone/>
            </a:pPr>
            <a:endParaRPr/>
          </a:p>
          <a:p>
            <a:pPr marL="0" lvl="0" indent="0" algn="l" rtl="0">
              <a:spcBef>
                <a:spcPts val="600"/>
              </a:spcBef>
              <a:spcAft>
                <a:spcPts val="0"/>
              </a:spcAft>
              <a:buNone/>
            </a:pPr>
            <a:r>
              <a:rPr lang="en" b="1"/>
              <a:t>Any comparison based sort requires at least order N log N comparisons in its worst case.</a:t>
            </a:r>
            <a:endParaRPr b="1"/>
          </a:p>
          <a:p>
            <a:pPr marL="0" lvl="0" indent="0" algn="l" rtl="0">
              <a:spcBef>
                <a:spcPts val="600"/>
              </a:spcBef>
              <a:spcAft>
                <a:spcPts val="0"/>
              </a:spcAft>
              <a:buNone/>
            </a:pPr>
            <a:endParaRPr/>
          </a:p>
          <a:p>
            <a:pPr marL="0" lvl="0" indent="0" algn="l" rtl="0">
              <a:spcBef>
                <a:spcPts val="600"/>
              </a:spcBef>
              <a:spcAft>
                <a:spcPts val="0"/>
              </a:spcAft>
              <a:buNone/>
            </a:pPr>
            <a:r>
              <a:rPr lang="en"/>
              <a:t>Proof summary:</a:t>
            </a:r>
            <a:endParaRPr/>
          </a:p>
          <a:p>
            <a:pPr marL="457200" lvl="0" indent="-342900" algn="l" rtl="0">
              <a:spcBef>
                <a:spcPts val="600"/>
              </a:spcBef>
              <a:spcAft>
                <a:spcPts val="0"/>
              </a:spcAft>
              <a:buSzPts val="1800"/>
              <a:buChar char="●"/>
            </a:pPr>
            <a:r>
              <a:rPr lang="en"/>
              <a:t>Puppy, cat, dog is Ω(lg N!), i.e. requires lg N! comparisons.</a:t>
            </a:r>
            <a:endParaRPr/>
          </a:p>
          <a:p>
            <a:pPr marL="457200" lvl="0" indent="-342900" algn="l" rtl="0">
              <a:spcBef>
                <a:spcPts val="0"/>
              </a:spcBef>
              <a:spcAft>
                <a:spcPts val="0"/>
              </a:spcAft>
              <a:buSzPts val="1800"/>
              <a:buChar char="●"/>
            </a:pPr>
            <a:r>
              <a:rPr lang="en"/>
              <a:t>TUCS can solve puppy, cat, dog, and thus takes Ω(lg N!) compares.</a:t>
            </a:r>
            <a:endParaRPr/>
          </a:p>
          <a:p>
            <a:pPr marL="457200" lvl="0" indent="-342900" algn="l" rtl="0">
              <a:spcBef>
                <a:spcPts val="600"/>
              </a:spcBef>
              <a:spcAft>
                <a:spcPts val="0"/>
              </a:spcAft>
              <a:buSzPts val="1800"/>
              <a:buChar char="●"/>
            </a:pPr>
            <a:r>
              <a:rPr lang="en"/>
              <a:t>lg(N!) is Ω(N log N)</a:t>
            </a:r>
            <a:endParaRPr/>
          </a:p>
          <a:p>
            <a:pPr marL="914400" lvl="1" indent="-342900" algn="l" rtl="0">
              <a:spcBef>
                <a:spcPts val="0"/>
              </a:spcBef>
              <a:spcAft>
                <a:spcPts val="0"/>
              </a:spcAft>
              <a:buSzPts val="1800"/>
              <a:buChar char="○"/>
            </a:pPr>
            <a:r>
              <a:rPr lang="en"/>
              <a:t>This was because N! is Ω(N/2)</a:t>
            </a:r>
            <a:r>
              <a:rPr lang="en" baseline="30000"/>
              <a:t>N/2  </a:t>
            </a:r>
            <a:r>
              <a:rPr lang="en"/>
              <a:t> </a:t>
            </a:r>
            <a:endParaRPr/>
          </a:p>
          <a:p>
            <a:pPr marL="0" lvl="0" indent="0" algn="l" rtl="0">
              <a:spcBef>
                <a:spcPts val="600"/>
              </a:spcBef>
              <a:spcAft>
                <a:spcPts val="0"/>
              </a:spcAft>
              <a:buNone/>
            </a:pPr>
            <a:endParaRPr/>
          </a:p>
          <a:p>
            <a:pPr marL="0" lvl="0" indent="0" algn="l" rtl="0">
              <a:spcBef>
                <a:spcPts val="600"/>
              </a:spcBef>
              <a:spcAft>
                <a:spcPts val="0"/>
              </a:spcAft>
              <a:buNone/>
            </a:pPr>
            <a:r>
              <a:rPr lang="en"/>
              <a:t>Informally: TUCS ≥ puppy, cat, dog ≥ log N! ≥ N log N </a:t>
            </a:r>
            <a:endParaRPr/>
          </a:p>
        </p:txBody>
      </p:sp>
      <p:grpSp>
        <p:nvGrpSpPr>
          <p:cNvPr id="1280" name="Google Shape;1280;p82"/>
          <p:cNvGrpSpPr/>
          <p:nvPr/>
        </p:nvGrpSpPr>
        <p:grpSpPr>
          <a:xfrm>
            <a:off x="7702625" y="2674678"/>
            <a:ext cx="1387847" cy="1803497"/>
            <a:chOff x="7016825" y="1912678"/>
            <a:chExt cx="1387847" cy="1803497"/>
          </a:xfrm>
        </p:grpSpPr>
        <p:sp>
          <p:nvSpPr>
            <p:cNvPr id="1281" name="Google Shape;1281;p82"/>
            <p:cNvSpPr/>
            <p:nvPr/>
          </p:nvSpPr>
          <p:spPr>
            <a:xfrm>
              <a:off x="7016825" y="1962375"/>
              <a:ext cx="1372500" cy="1693800"/>
            </a:xfrm>
            <a:prstGeom prst="rect">
              <a:avLst/>
            </a:prstGeom>
            <a:solidFill>
              <a:srgbClr val="C9DAF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282" name="Google Shape;1282;p82"/>
            <p:cNvCxnSpPr/>
            <p:nvPr/>
          </p:nvCxnSpPr>
          <p:spPr>
            <a:xfrm>
              <a:off x="7400097" y="2399143"/>
              <a:ext cx="606000" cy="0"/>
            </a:xfrm>
            <a:prstGeom prst="straightConnector1">
              <a:avLst/>
            </a:prstGeom>
            <a:noFill/>
            <a:ln w="28575" cap="flat" cmpd="sng">
              <a:solidFill>
                <a:srgbClr val="BE0712"/>
              </a:solidFill>
              <a:prstDash val="solid"/>
              <a:round/>
              <a:headEnd type="none" w="med" len="med"/>
              <a:tailEnd type="none" w="med" len="med"/>
            </a:ln>
          </p:spPr>
        </p:cxnSp>
        <p:cxnSp>
          <p:nvCxnSpPr>
            <p:cNvPr id="1283" name="Google Shape;1283;p82"/>
            <p:cNvCxnSpPr/>
            <p:nvPr/>
          </p:nvCxnSpPr>
          <p:spPr>
            <a:xfrm>
              <a:off x="7721550" y="2407475"/>
              <a:ext cx="0" cy="865800"/>
            </a:xfrm>
            <a:prstGeom prst="straightConnector1">
              <a:avLst/>
            </a:prstGeom>
            <a:noFill/>
            <a:ln w="28575" cap="flat" cmpd="sng">
              <a:solidFill>
                <a:srgbClr val="BE0712"/>
              </a:solidFill>
              <a:prstDash val="solid"/>
              <a:round/>
              <a:headEnd type="none" w="med" len="med"/>
              <a:tailEnd type="none" w="med" len="med"/>
            </a:ln>
          </p:spPr>
        </p:cxnSp>
        <p:cxnSp>
          <p:nvCxnSpPr>
            <p:cNvPr id="1284" name="Google Shape;1284;p82"/>
            <p:cNvCxnSpPr/>
            <p:nvPr/>
          </p:nvCxnSpPr>
          <p:spPr>
            <a:xfrm>
              <a:off x="7406197" y="3264618"/>
              <a:ext cx="606000" cy="0"/>
            </a:xfrm>
            <a:prstGeom prst="straightConnector1">
              <a:avLst/>
            </a:prstGeom>
            <a:noFill/>
            <a:ln w="28575" cap="flat" cmpd="sng">
              <a:solidFill>
                <a:srgbClr val="BE0712"/>
              </a:solidFill>
              <a:prstDash val="solid"/>
              <a:round/>
              <a:headEnd type="none" w="med" len="med"/>
              <a:tailEnd type="none" w="med" len="med"/>
            </a:ln>
          </p:spPr>
        </p:cxnSp>
        <p:sp>
          <p:nvSpPr>
            <p:cNvPr id="1285" name="Google Shape;1285;p82"/>
            <p:cNvSpPr txBox="1"/>
            <p:nvPr/>
          </p:nvSpPr>
          <p:spPr>
            <a:xfrm>
              <a:off x="7113713" y="1912678"/>
              <a:ext cx="1239600" cy="552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600">
                  <a:solidFill>
                    <a:srgbClr val="BE0712"/>
                  </a:solidFill>
                  <a:latin typeface="Roboto"/>
                  <a:ea typeface="Roboto"/>
                  <a:cs typeface="Roboto"/>
                  <a:sym typeface="Roboto"/>
                </a:rPr>
                <a:t>O(N log N)</a:t>
              </a:r>
              <a:endParaRPr sz="1600">
                <a:solidFill>
                  <a:srgbClr val="BE0712"/>
                </a:solidFill>
                <a:latin typeface="Roboto"/>
                <a:ea typeface="Roboto"/>
                <a:cs typeface="Roboto"/>
                <a:sym typeface="Roboto"/>
              </a:endParaRPr>
            </a:p>
          </p:txBody>
        </p:sp>
        <p:sp>
          <p:nvSpPr>
            <p:cNvPr id="1286" name="Google Shape;1286;p82"/>
            <p:cNvSpPr txBox="1"/>
            <p:nvPr/>
          </p:nvSpPr>
          <p:spPr>
            <a:xfrm>
              <a:off x="7165072" y="3163575"/>
              <a:ext cx="1239600" cy="552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600">
                  <a:solidFill>
                    <a:srgbClr val="BE0712"/>
                  </a:solidFill>
                  <a:latin typeface="Roboto"/>
                  <a:ea typeface="Roboto"/>
                  <a:cs typeface="Roboto"/>
                  <a:sym typeface="Roboto"/>
                </a:rPr>
                <a:t>Ω(N log N)</a:t>
              </a:r>
              <a:endParaRPr sz="1600">
                <a:solidFill>
                  <a:srgbClr val="BE0712"/>
                </a:solidFill>
                <a:latin typeface="Roboto"/>
                <a:ea typeface="Roboto"/>
                <a:cs typeface="Roboto"/>
                <a:sym typeface="Roboto"/>
              </a:endParaRPr>
            </a:p>
          </p:txBody>
        </p:sp>
      </p:grpSp>
      <p:sp>
        <p:nvSpPr>
          <p:cNvPr id="1287" name="Google Shape;1287;p82"/>
          <p:cNvSpPr txBox="1"/>
          <p:nvPr/>
        </p:nvSpPr>
        <p:spPr>
          <a:xfrm>
            <a:off x="7607600" y="4355100"/>
            <a:ext cx="1589100" cy="570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latin typeface="Roboto"/>
                <a:ea typeface="Roboto"/>
                <a:cs typeface="Roboto"/>
                <a:sym typeface="Roboto"/>
              </a:rPr>
              <a:t>TUCS Worst</a:t>
            </a:r>
            <a:endParaRPr>
              <a:latin typeface="Roboto"/>
              <a:ea typeface="Roboto"/>
              <a:cs typeface="Roboto"/>
              <a:sym typeface="Roboto"/>
            </a:endParaRPr>
          </a:p>
          <a:p>
            <a:pPr marL="0" lvl="0" indent="0" algn="l" rtl="0">
              <a:spcBef>
                <a:spcPts val="0"/>
              </a:spcBef>
              <a:spcAft>
                <a:spcPts val="0"/>
              </a:spcAft>
              <a:buNone/>
            </a:pPr>
            <a:r>
              <a:rPr lang="en">
                <a:latin typeface="Roboto"/>
                <a:ea typeface="Roboto"/>
                <a:cs typeface="Roboto"/>
                <a:sym typeface="Roboto"/>
              </a:rPr>
              <a:t> Case Θ </a:t>
            </a:r>
            <a:r>
              <a:rPr lang="en">
                <a:solidFill>
                  <a:schemeClr val="dk1"/>
                </a:solidFill>
                <a:latin typeface="Roboto"/>
                <a:ea typeface="Roboto"/>
                <a:cs typeface="Roboto"/>
                <a:sym typeface="Roboto"/>
              </a:rPr>
              <a:t>Runtime</a:t>
            </a:r>
            <a:r>
              <a:rPr lang="en">
                <a:latin typeface="Roboto"/>
                <a:ea typeface="Roboto"/>
                <a:cs typeface="Roboto"/>
                <a:sym typeface="Roboto"/>
              </a:rPr>
              <a:t> </a:t>
            </a:r>
            <a:endParaRPr>
              <a:latin typeface="Roboto"/>
              <a:ea typeface="Roboto"/>
              <a:cs typeface="Roboto"/>
              <a:sym typeface="Roboto"/>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1291"/>
        <p:cNvGrpSpPr/>
        <p:nvPr/>
      </p:nvGrpSpPr>
      <p:grpSpPr>
        <a:xfrm>
          <a:off x="0" y="0"/>
          <a:ext cx="0" cy="0"/>
          <a:chOff x="0" y="0"/>
          <a:chExt cx="0" cy="0"/>
        </a:xfrm>
      </p:grpSpPr>
      <p:sp>
        <p:nvSpPr>
          <p:cNvPr id="1292" name="Google Shape;1292;p83"/>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Optimality</a:t>
            </a:r>
            <a:endParaRPr/>
          </a:p>
        </p:txBody>
      </p:sp>
      <p:sp>
        <p:nvSpPr>
          <p:cNvPr id="1293" name="Google Shape;1293;p83"/>
          <p:cNvSpPr txBox="1"/>
          <p:nvPr/>
        </p:nvSpPr>
        <p:spPr>
          <a:xfrm>
            <a:off x="236475" y="2924500"/>
            <a:ext cx="8421300" cy="1681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a:latin typeface="Calibri"/>
                <a:ea typeface="Calibri"/>
                <a:cs typeface="Calibri"/>
                <a:sym typeface="Calibri"/>
              </a:rPr>
              <a:t>The punchline:</a:t>
            </a:r>
            <a:endParaRPr sz="2000">
              <a:latin typeface="Calibri"/>
              <a:ea typeface="Calibri"/>
              <a:cs typeface="Calibri"/>
              <a:sym typeface="Calibri"/>
            </a:endParaRPr>
          </a:p>
          <a:p>
            <a:pPr marL="457200" lvl="0" indent="-355600" algn="l" rtl="0">
              <a:spcBef>
                <a:spcPts val="0"/>
              </a:spcBef>
              <a:spcAft>
                <a:spcPts val="0"/>
              </a:spcAft>
              <a:buSzPts val="2000"/>
              <a:buFont typeface="Calibri"/>
              <a:buChar char="●"/>
            </a:pPr>
            <a:r>
              <a:rPr lang="en" sz="2000">
                <a:latin typeface="Calibri"/>
                <a:ea typeface="Calibri"/>
                <a:cs typeface="Calibri"/>
                <a:sym typeface="Calibri"/>
              </a:rPr>
              <a:t>Our best sorts have achieved absolute asymptotic optimality.</a:t>
            </a:r>
            <a:endParaRPr sz="2000">
              <a:latin typeface="Calibri"/>
              <a:ea typeface="Calibri"/>
              <a:cs typeface="Calibri"/>
              <a:sym typeface="Calibri"/>
            </a:endParaRPr>
          </a:p>
          <a:p>
            <a:pPr marL="914400" lvl="1" indent="-355600" algn="l" rtl="0">
              <a:spcBef>
                <a:spcPts val="0"/>
              </a:spcBef>
              <a:spcAft>
                <a:spcPts val="0"/>
              </a:spcAft>
              <a:buSzPts val="2000"/>
              <a:buFont typeface="Calibri"/>
              <a:buChar char="○"/>
            </a:pPr>
            <a:r>
              <a:rPr lang="en" sz="2000">
                <a:latin typeface="Calibri"/>
                <a:ea typeface="Calibri"/>
                <a:cs typeface="Calibri"/>
                <a:sym typeface="Calibri"/>
              </a:rPr>
              <a:t>Mathematically impossible to sort using fewer comparisons.</a:t>
            </a:r>
            <a:endParaRPr sz="2000">
              <a:latin typeface="Calibri"/>
              <a:ea typeface="Calibri"/>
              <a:cs typeface="Calibri"/>
              <a:sym typeface="Calibri"/>
            </a:endParaRPr>
          </a:p>
          <a:p>
            <a:pPr marL="914400" lvl="1" indent="-355600" algn="l" rtl="0">
              <a:spcBef>
                <a:spcPts val="0"/>
              </a:spcBef>
              <a:spcAft>
                <a:spcPts val="0"/>
              </a:spcAft>
              <a:buSzPts val="2000"/>
              <a:buFont typeface="Calibri"/>
              <a:buChar char="○"/>
            </a:pPr>
            <a:r>
              <a:rPr lang="en" sz="2000">
                <a:latin typeface="Calibri"/>
                <a:ea typeface="Calibri"/>
                <a:cs typeface="Calibri"/>
                <a:sym typeface="Calibri"/>
              </a:rPr>
              <a:t>Note: Randomized quicksort is only probabilistically optimal, but the probability is extremely high for even modest N. Are you worried about quantum teleportation? Then don’t worry about Quicksort.</a:t>
            </a:r>
            <a:endParaRPr sz="2000">
              <a:latin typeface="Calibri"/>
              <a:ea typeface="Calibri"/>
              <a:cs typeface="Calibri"/>
              <a:sym typeface="Calibri"/>
            </a:endParaRPr>
          </a:p>
        </p:txBody>
      </p:sp>
      <p:graphicFrame>
        <p:nvGraphicFramePr>
          <p:cNvPr id="1294" name="Google Shape;1294;p83"/>
          <p:cNvGraphicFramePr/>
          <p:nvPr/>
        </p:nvGraphicFramePr>
        <p:xfrm>
          <a:off x="810464" y="808414"/>
          <a:ext cx="3000000" cy="3000000"/>
        </p:xfrm>
        <a:graphic>
          <a:graphicData uri="http://schemas.openxmlformats.org/drawingml/2006/table">
            <a:tbl>
              <a:tblPr>
                <a:noFill/>
                <a:tableStyleId>{C022CFBB-189D-4486-843A-8D9017E49761}</a:tableStyleId>
              </a:tblPr>
              <a:tblGrid>
                <a:gridCol w="1740050">
                  <a:extLst>
                    <a:ext uri="{9D8B030D-6E8A-4147-A177-3AD203B41FA5}">
                      <a16:colId xmlns:a16="http://schemas.microsoft.com/office/drawing/2014/main" val="20000"/>
                    </a:ext>
                  </a:extLst>
                </a:gridCol>
                <a:gridCol w="906625">
                  <a:extLst>
                    <a:ext uri="{9D8B030D-6E8A-4147-A177-3AD203B41FA5}">
                      <a16:colId xmlns:a16="http://schemas.microsoft.com/office/drawing/2014/main" val="20001"/>
                    </a:ext>
                  </a:extLst>
                </a:gridCol>
                <a:gridCol w="1813075">
                  <a:extLst>
                    <a:ext uri="{9D8B030D-6E8A-4147-A177-3AD203B41FA5}">
                      <a16:colId xmlns:a16="http://schemas.microsoft.com/office/drawing/2014/main" val="20002"/>
                    </a:ext>
                  </a:extLst>
                </a:gridCol>
                <a:gridCol w="1769800">
                  <a:extLst>
                    <a:ext uri="{9D8B030D-6E8A-4147-A177-3AD203B41FA5}">
                      <a16:colId xmlns:a16="http://schemas.microsoft.com/office/drawing/2014/main" val="20003"/>
                    </a:ext>
                  </a:extLst>
                </a:gridCol>
                <a:gridCol w="1448350">
                  <a:extLst>
                    <a:ext uri="{9D8B030D-6E8A-4147-A177-3AD203B41FA5}">
                      <a16:colId xmlns:a16="http://schemas.microsoft.com/office/drawing/2014/main" val="20004"/>
                    </a:ext>
                  </a:extLst>
                </a:gridCol>
              </a:tblGrid>
              <a:tr h="396200">
                <a:tc>
                  <a:txBody>
                    <a:bodyPr/>
                    <a:lstStyle/>
                    <a:p>
                      <a:pPr marL="0" lvl="0" indent="0" algn="l" rtl="0">
                        <a:spcBef>
                          <a:spcPts val="0"/>
                        </a:spcBef>
                        <a:spcAft>
                          <a:spcPts val="0"/>
                        </a:spcAft>
                        <a:buNone/>
                      </a:pPr>
                      <a:endParaRPr>
                        <a:latin typeface="Roboto"/>
                        <a:ea typeface="Roboto"/>
                        <a:cs typeface="Roboto"/>
                        <a:sym typeface="Roboto"/>
                      </a:endParaRPr>
                    </a:p>
                  </a:txBody>
                  <a:tcPr marL="91425" marR="91425" marT="91425" marB="91425"/>
                </a:tc>
                <a:tc>
                  <a:txBody>
                    <a:bodyPr/>
                    <a:lstStyle/>
                    <a:p>
                      <a:pPr marL="0" lvl="0" indent="0" algn="l" rtl="0">
                        <a:spcBef>
                          <a:spcPts val="0"/>
                        </a:spcBef>
                        <a:spcAft>
                          <a:spcPts val="0"/>
                        </a:spcAft>
                        <a:buNone/>
                      </a:pPr>
                      <a:r>
                        <a:rPr lang="en">
                          <a:latin typeface="Roboto"/>
                          <a:ea typeface="Roboto"/>
                          <a:cs typeface="Roboto"/>
                          <a:sym typeface="Roboto"/>
                        </a:rPr>
                        <a:t>Memory</a:t>
                      </a:r>
                      <a:endParaRPr>
                        <a:latin typeface="Roboto"/>
                        <a:ea typeface="Roboto"/>
                        <a:cs typeface="Roboto"/>
                        <a:sym typeface="Roboto"/>
                      </a:endParaRPr>
                    </a:p>
                  </a:txBody>
                  <a:tcPr marL="91425" marR="91425" marT="91425" marB="91425"/>
                </a:tc>
                <a:tc>
                  <a:txBody>
                    <a:bodyPr/>
                    <a:lstStyle/>
                    <a:p>
                      <a:pPr marL="0" lvl="0" indent="0" algn="l" rtl="0">
                        <a:spcBef>
                          <a:spcPts val="0"/>
                        </a:spcBef>
                        <a:spcAft>
                          <a:spcPts val="0"/>
                        </a:spcAft>
                        <a:buNone/>
                      </a:pPr>
                      <a:r>
                        <a:rPr lang="en">
                          <a:latin typeface="Roboto"/>
                          <a:ea typeface="Roboto"/>
                          <a:cs typeface="Roboto"/>
                          <a:sym typeface="Roboto"/>
                        </a:rPr>
                        <a:t># Compares</a:t>
                      </a:r>
                      <a:endParaRPr>
                        <a:latin typeface="Roboto"/>
                        <a:ea typeface="Roboto"/>
                        <a:cs typeface="Roboto"/>
                        <a:sym typeface="Roboto"/>
                      </a:endParaRPr>
                    </a:p>
                  </a:txBody>
                  <a:tcPr marL="91425" marR="91425" marT="91425" marB="91425"/>
                </a:tc>
                <a:tc>
                  <a:txBody>
                    <a:bodyPr/>
                    <a:lstStyle/>
                    <a:p>
                      <a:pPr marL="0" lvl="0" indent="0" algn="l" rtl="0">
                        <a:spcBef>
                          <a:spcPts val="0"/>
                        </a:spcBef>
                        <a:spcAft>
                          <a:spcPts val="0"/>
                        </a:spcAft>
                        <a:buNone/>
                      </a:pPr>
                      <a:r>
                        <a:rPr lang="en">
                          <a:latin typeface="Roboto"/>
                          <a:ea typeface="Roboto"/>
                          <a:cs typeface="Roboto"/>
                          <a:sym typeface="Roboto"/>
                        </a:rPr>
                        <a:t>Notes</a:t>
                      </a:r>
                      <a:endParaRPr>
                        <a:latin typeface="Roboto"/>
                        <a:ea typeface="Roboto"/>
                        <a:cs typeface="Roboto"/>
                        <a:sym typeface="Roboto"/>
                      </a:endParaRPr>
                    </a:p>
                  </a:txBody>
                  <a:tcPr marL="91425" marR="91425" marT="91425" marB="91425"/>
                </a:tc>
                <a:tc>
                  <a:txBody>
                    <a:bodyPr/>
                    <a:lstStyle/>
                    <a:p>
                      <a:pPr marL="0" lvl="0" indent="0" algn="l" rtl="0">
                        <a:spcBef>
                          <a:spcPts val="0"/>
                        </a:spcBef>
                        <a:spcAft>
                          <a:spcPts val="0"/>
                        </a:spcAft>
                        <a:buNone/>
                      </a:pPr>
                      <a:r>
                        <a:rPr lang="en">
                          <a:latin typeface="Roboto"/>
                          <a:ea typeface="Roboto"/>
                          <a:cs typeface="Roboto"/>
                          <a:sym typeface="Roboto"/>
                        </a:rPr>
                        <a:t>Stable?</a:t>
                      </a:r>
                      <a:endParaRPr>
                        <a:latin typeface="Roboto"/>
                        <a:ea typeface="Roboto"/>
                        <a:cs typeface="Roboto"/>
                        <a:sym typeface="Roboto"/>
                      </a:endParaRPr>
                    </a:p>
                  </a:txBody>
                  <a:tcPr marL="91425" marR="91425" marT="91425" marB="91425"/>
                </a:tc>
                <a:extLst>
                  <a:ext uri="{0D108BD9-81ED-4DB2-BD59-A6C34878D82A}">
                    <a16:rowId xmlns:a16="http://schemas.microsoft.com/office/drawing/2014/main" val="10000"/>
                  </a:ext>
                </a:extLst>
              </a:tr>
              <a:tr h="396200">
                <a:tc>
                  <a:txBody>
                    <a:bodyPr/>
                    <a:lstStyle/>
                    <a:p>
                      <a:pPr marL="0" lvl="0" indent="0" algn="l" rtl="0">
                        <a:spcBef>
                          <a:spcPts val="0"/>
                        </a:spcBef>
                        <a:spcAft>
                          <a:spcPts val="0"/>
                        </a:spcAft>
                        <a:buNone/>
                      </a:pPr>
                      <a:r>
                        <a:rPr lang="en">
                          <a:latin typeface="Roboto"/>
                          <a:ea typeface="Roboto"/>
                          <a:cs typeface="Roboto"/>
                          <a:sym typeface="Roboto"/>
                        </a:rPr>
                        <a:t>Heapsort</a:t>
                      </a:r>
                      <a:endParaRPr>
                        <a:latin typeface="Roboto"/>
                        <a:ea typeface="Roboto"/>
                        <a:cs typeface="Roboto"/>
                        <a:sym typeface="Roboto"/>
                      </a:endParaRPr>
                    </a:p>
                  </a:txBody>
                  <a:tcPr marL="91425" marR="91425" marT="91425" marB="91425"/>
                </a:tc>
                <a:tc>
                  <a:txBody>
                    <a:bodyPr/>
                    <a:lstStyle/>
                    <a:p>
                      <a:pPr marL="0" lvl="0" indent="0" algn="l" rtl="0">
                        <a:spcBef>
                          <a:spcPts val="0"/>
                        </a:spcBef>
                        <a:spcAft>
                          <a:spcPts val="0"/>
                        </a:spcAft>
                        <a:buNone/>
                      </a:pPr>
                      <a:r>
                        <a:rPr lang="en">
                          <a:solidFill>
                            <a:schemeClr val="dk1"/>
                          </a:solidFill>
                          <a:latin typeface="Roboto"/>
                          <a:ea typeface="Roboto"/>
                          <a:cs typeface="Roboto"/>
                          <a:sym typeface="Roboto"/>
                        </a:rPr>
                        <a:t>Θ(1)</a:t>
                      </a:r>
                      <a:endParaRPr>
                        <a:latin typeface="Roboto"/>
                        <a:ea typeface="Roboto"/>
                        <a:cs typeface="Roboto"/>
                        <a:sym typeface="Roboto"/>
                      </a:endParaRPr>
                    </a:p>
                  </a:txBody>
                  <a:tcPr marL="91425" marR="91425" marT="91425" marB="91425"/>
                </a:tc>
                <a:tc>
                  <a:txBody>
                    <a:bodyPr/>
                    <a:lstStyle/>
                    <a:p>
                      <a:pPr marL="0" lvl="0" indent="0" algn="l" rtl="0">
                        <a:spcBef>
                          <a:spcPts val="0"/>
                        </a:spcBef>
                        <a:spcAft>
                          <a:spcPts val="0"/>
                        </a:spcAft>
                        <a:buNone/>
                      </a:pPr>
                      <a:r>
                        <a:rPr lang="en">
                          <a:solidFill>
                            <a:schemeClr val="dk1"/>
                          </a:solidFill>
                          <a:latin typeface="Roboto"/>
                          <a:ea typeface="Roboto"/>
                          <a:cs typeface="Roboto"/>
                          <a:sym typeface="Roboto"/>
                        </a:rPr>
                        <a:t>Θ(N log N)</a:t>
                      </a:r>
                      <a:endParaRPr>
                        <a:latin typeface="Roboto"/>
                        <a:ea typeface="Roboto"/>
                        <a:cs typeface="Roboto"/>
                        <a:sym typeface="Roboto"/>
                      </a:endParaRPr>
                    </a:p>
                  </a:txBody>
                  <a:tcPr marL="91425" marR="91425" marT="91425" marB="91425">
                    <a:solidFill>
                      <a:srgbClr val="C9DAF8"/>
                    </a:solidFill>
                  </a:tcPr>
                </a:tc>
                <a:tc>
                  <a:txBody>
                    <a:bodyPr/>
                    <a:lstStyle/>
                    <a:p>
                      <a:pPr marL="0" lvl="0" indent="0" algn="l" rtl="0">
                        <a:spcBef>
                          <a:spcPts val="0"/>
                        </a:spcBef>
                        <a:spcAft>
                          <a:spcPts val="0"/>
                        </a:spcAft>
                        <a:buNone/>
                      </a:pPr>
                      <a:r>
                        <a:rPr lang="en">
                          <a:solidFill>
                            <a:schemeClr val="dk1"/>
                          </a:solidFill>
                          <a:latin typeface="Roboto"/>
                          <a:ea typeface="Roboto"/>
                          <a:cs typeface="Roboto"/>
                          <a:sym typeface="Roboto"/>
                        </a:rPr>
                        <a:t>Bad caching (61C)</a:t>
                      </a:r>
                      <a:endParaRPr>
                        <a:latin typeface="Roboto"/>
                        <a:ea typeface="Roboto"/>
                        <a:cs typeface="Roboto"/>
                        <a:sym typeface="Roboto"/>
                      </a:endParaRPr>
                    </a:p>
                  </a:txBody>
                  <a:tcPr marL="91425" marR="91425" marT="91425" marB="91425"/>
                </a:tc>
                <a:tc>
                  <a:txBody>
                    <a:bodyPr/>
                    <a:lstStyle/>
                    <a:p>
                      <a:pPr marL="0" lvl="0" indent="0" algn="l" rtl="0">
                        <a:spcBef>
                          <a:spcPts val="0"/>
                        </a:spcBef>
                        <a:spcAft>
                          <a:spcPts val="0"/>
                        </a:spcAft>
                        <a:buNone/>
                      </a:pPr>
                      <a:r>
                        <a:rPr lang="en">
                          <a:solidFill>
                            <a:schemeClr val="dk1"/>
                          </a:solidFill>
                          <a:latin typeface="Roboto"/>
                          <a:ea typeface="Roboto"/>
                          <a:cs typeface="Roboto"/>
                          <a:sym typeface="Roboto"/>
                        </a:rPr>
                        <a:t>No</a:t>
                      </a:r>
                      <a:endParaRPr>
                        <a:solidFill>
                          <a:schemeClr val="dk1"/>
                        </a:solidFill>
                        <a:latin typeface="Roboto"/>
                        <a:ea typeface="Roboto"/>
                        <a:cs typeface="Roboto"/>
                        <a:sym typeface="Roboto"/>
                      </a:endParaRPr>
                    </a:p>
                  </a:txBody>
                  <a:tcPr marL="91425" marR="91425" marT="91425" marB="91425"/>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en">
                          <a:latin typeface="Roboto"/>
                          <a:ea typeface="Roboto"/>
                          <a:cs typeface="Roboto"/>
                          <a:sym typeface="Roboto"/>
                        </a:rPr>
                        <a:t>Insertion</a:t>
                      </a:r>
                      <a:endParaRPr>
                        <a:latin typeface="Roboto"/>
                        <a:ea typeface="Roboto"/>
                        <a:cs typeface="Roboto"/>
                        <a:sym typeface="Roboto"/>
                      </a:endParaRPr>
                    </a:p>
                  </a:txBody>
                  <a:tcPr marL="91425" marR="91425" marT="91425" marB="91425"/>
                </a:tc>
                <a:tc>
                  <a:txBody>
                    <a:bodyPr/>
                    <a:lstStyle/>
                    <a:p>
                      <a:pPr marL="0" lvl="0" indent="0" algn="l" rtl="0">
                        <a:spcBef>
                          <a:spcPts val="0"/>
                        </a:spcBef>
                        <a:spcAft>
                          <a:spcPts val="0"/>
                        </a:spcAft>
                        <a:buNone/>
                      </a:pPr>
                      <a:r>
                        <a:rPr lang="en">
                          <a:solidFill>
                            <a:schemeClr val="dk1"/>
                          </a:solidFill>
                          <a:latin typeface="Roboto"/>
                          <a:ea typeface="Roboto"/>
                          <a:cs typeface="Roboto"/>
                          <a:sym typeface="Roboto"/>
                        </a:rPr>
                        <a:t>Θ(1)</a:t>
                      </a:r>
                      <a:endParaRPr>
                        <a:latin typeface="Roboto"/>
                        <a:ea typeface="Roboto"/>
                        <a:cs typeface="Roboto"/>
                        <a:sym typeface="Roboto"/>
                      </a:endParaRPr>
                    </a:p>
                  </a:txBody>
                  <a:tcPr marL="91425" marR="91425" marT="91425" marB="91425"/>
                </a:tc>
                <a:tc>
                  <a:txBody>
                    <a:bodyPr/>
                    <a:lstStyle/>
                    <a:p>
                      <a:pPr marL="0" lvl="0" indent="0" algn="l" rtl="0">
                        <a:spcBef>
                          <a:spcPts val="0"/>
                        </a:spcBef>
                        <a:spcAft>
                          <a:spcPts val="0"/>
                        </a:spcAft>
                        <a:buNone/>
                      </a:pPr>
                      <a:r>
                        <a:rPr lang="en">
                          <a:solidFill>
                            <a:schemeClr val="dk1"/>
                          </a:solidFill>
                          <a:latin typeface="Roboto"/>
                          <a:ea typeface="Roboto"/>
                          <a:cs typeface="Roboto"/>
                          <a:sym typeface="Roboto"/>
                        </a:rPr>
                        <a:t>Θ(N</a:t>
                      </a:r>
                      <a:r>
                        <a:rPr lang="en" baseline="30000">
                          <a:solidFill>
                            <a:schemeClr val="dk1"/>
                          </a:solidFill>
                          <a:latin typeface="Roboto"/>
                          <a:ea typeface="Roboto"/>
                          <a:cs typeface="Roboto"/>
                          <a:sym typeface="Roboto"/>
                        </a:rPr>
                        <a:t>2</a:t>
                      </a:r>
                      <a:r>
                        <a:rPr lang="en">
                          <a:solidFill>
                            <a:schemeClr val="dk1"/>
                          </a:solidFill>
                          <a:latin typeface="Roboto"/>
                          <a:ea typeface="Roboto"/>
                          <a:cs typeface="Roboto"/>
                          <a:sym typeface="Roboto"/>
                        </a:rPr>
                        <a:t>)</a:t>
                      </a:r>
                      <a:endParaRPr>
                        <a:latin typeface="Roboto"/>
                        <a:ea typeface="Roboto"/>
                        <a:cs typeface="Roboto"/>
                        <a:sym typeface="Roboto"/>
                      </a:endParaRPr>
                    </a:p>
                  </a:txBody>
                  <a:tcPr marL="91425" marR="91425" marT="91425" marB="91425"/>
                </a:tc>
                <a:tc>
                  <a:txBody>
                    <a:bodyPr/>
                    <a:lstStyle/>
                    <a:p>
                      <a:pPr marL="0" lvl="0" indent="0" algn="l" rtl="0">
                        <a:spcBef>
                          <a:spcPts val="0"/>
                        </a:spcBef>
                        <a:spcAft>
                          <a:spcPts val="0"/>
                        </a:spcAft>
                        <a:buNone/>
                      </a:pPr>
                      <a:r>
                        <a:rPr lang="en">
                          <a:solidFill>
                            <a:schemeClr val="dk1"/>
                          </a:solidFill>
                          <a:latin typeface="Roboto"/>
                          <a:ea typeface="Roboto"/>
                          <a:cs typeface="Roboto"/>
                          <a:sym typeface="Roboto"/>
                        </a:rPr>
                        <a:t>Best for almost sorted and N &lt; 15</a:t>
                      </a:r>
                      <a:endParaRPr>
                        <a:latin typeface="Roboto"/>
                        <a:ea typeface="Roboto"/>
                        <a:cs typeface="Roboto"/>
                        <a:sym typeface="Roboto"/>
                      </a:endParaRPr>
                    </a:p>
                  </a:txBody>
                  <a:tcPr marL="91425" marR="91425" marT="91425" marB="91425"/>
                </a:tc>
                <a:tc>
                  <a:txBody>
                    <a:bodyPr/>
                    <a:lstStyle/>
                    <a:p>
                      <a:pPr marL="0" lvl="0" indent="0" algn="l" rtl="0">
                        <a:spcBef>
                          <a:spcPts val="0"/>
                        </a:spcBef>
                        <a:spcAft>
                          <a:spcPts val="0"/>
                        </a:spcAft>
                        <a:buNone/>
                      </a:pPr>
                      <a:r>
                        <a:rPr lang="en">
                          <a:solidFill>
                            <a:schemeClr val="dk1"/>
                          </a:solidFill>
                          <a:latin typeface="Roboto"/>
                          <a:ea typeface="Roboto"/>
                          <a:cs typeface="Roboto"/>
                          <a:sym typeface="Roboto"/>
                        </a:rPr>
                        <a:t>Yes</a:t>
                      </a:r>
                      <a:endParaRPr>
                        <a:solidFill>
                          <a:schemeClr val="dk1"/>
                        </a:solidFill>
                        <a:latin typeface="Roboto"/>
                        <a:ea typeface="Roboto"/>
                        <a:cs typeface="Roboto"/>
                        <a:sym typeface="Roboto"/>
                      </a:endParaRPr>
                    </a:p>
                  </a:txBody>
                  <a:tcPr marL="91425" marR="91425" marT="91425" marB="91425"/>
                </a:tc>
                <a:extLst>
                  <a:ext uri="{0D108BD9-81ED-4DB2-BD59-A6C34878D82A}">
                    <a16:rowId xmlns:a16="http://schemas.microsoft.com/office/drawing/2014/main" val="10002"/>
                  </a:ext>
                </a:extLst>
              </a:tr>
              <a:tr h="396200">
                <a:tc>
                  <a:txBody>
                    <a:bodyPr/>
                    <a:lstStyle/>
                    <a:p>
                      <a:pPr marL="0" lvl="0" indent="0" algn="l" rtl="0">
                        <a:spcBef>
                          <a:spcPts val="0"/>
                        </a:spcBef>
                        <a:spcAft>
                          <a:spcPts val="0"/>
                        </a:spcAft>
                        <a:buNone/>
                      </a:pPr>
                      <a:r>
                        <a:rPr lang="en">
                          <a:latin typeface="Roboto"/>
                          <a:ea typeface="Roboto"/>
                          <a:cs typeface="Roboto"/>
                          <a:sym typeface="Roboto"/>
                        </a:rPr>
                        <a:t>Mergesort</a:t>
                      </a:r>
                      <a:endParaRPr>
                        <a:latin typeface="Roboto"/>
                        <a:ea typeface="Roboto"/>
                        <a:cs typeface="Roboto"/>
                        <a:sym typeface="Roboto"/>
                      </a:endParaRPr>
                    </a:p>
                  </a:txBody>
                  <a:tcPr marL="91425" marR="91425" marT="91425" marB="91425"/>
                </a:tc>
                <a:tc>
                  <a:txBody>
                    <a:bodyPr/>
                    <a:lstStyle/>
                    <a:p>
                      <a:pPr marL="0" lvl="0" indent="0" algn="l" rtl="0">
                        <a:spcBef>
                          <a:spcPts val="0"/>
                        </a:spcBef>
                        <a:spcAft>
                          <a:spcPts val="0"/>
                        </a:spcAft>
                        <a:buNone/>
                      </a:pPr>
                      <a:r>
                        <a:rPr lang="en">
                          <a:solidFill>
                            <a:schemeClr val="dk1"/>
                          </a:solidFill>
                          <a:latin typeface="Roboto"/>
                          <a:ea typeface="Roboto"/>
                          <a:cs typeface="Roboto"/>
                          <a:sym typeface="Roboto"/>
                        </a:rPr>
                        <a:t>Θ(N)</a:t>
                      </a:r>
                      <a:endParaRPr>
                        <a:latin typeface="Roboto"/>
                        <a:ea typeface="Roboto"/>
                        <a:cs typeface="Roboto"/>
                        <a:sym typeface="Roboto"/>
                      </a:endParaRPr>
                    </a:p>
                  </a:txBody>
                  <a:tcPr marL="91425" marR="91425" marT="91425" marB="91425"/>
                </a:tc>
                <a:tc>
                  <a:txBody>
                    <a:bodyPr/>
                    <a:lstStyle/>
                    <a:p>
                      <a:pPr marL="0" lvl="0" indent="0" algn="l" rtl="0">
                        <a:spcBef>
                          <a:spcPts val="0"/>
                        </a:spcBef>
                        <a:spcAft>
                          <a:spcPts val="0"/>
                        </a:spcAft>
                        <a:buNone/>
                      </a:pPr>
                      <a:r>
                        <a:rPr lang="en">
                          <a:solidFill>
                            <a:schemeClr val="dk1"/>
                          </a:solidFill>
                          <a:latin typeface="Roboto"/>
                          <a:ea typeface="Roboto"/>
                          <a:cs typeface="Roboto"/>
                          <a:sym typeface="Roboto"/>
                        </a:rPr>
                        <a:t>Θ(N log N)</a:t>
                      </a:r>
                      <a:endParaRPr>
                        <a:latin typeface="Roboto"/>
                        <a:ea typeface="Roboto"/>
                        <a:cs typeface="Roboto"/>
                        <a:sym typeface="Roboto"/>
                      </a:endParaRPr>
                    </a:p>
                  </a:txBody>
                  <a:tcPr marL="91425" marR="91425" marT="91425" marB="91425">
                    <a:solidFill>
                      <a:srgbClr val="C9DAF8"/>
                    </a:solidFill>
                  </a:tcPr>
                </a:tc>
                <a:tc>
                  <a:txBody>
                    <a:bodyPr/>
                    <a:lstStyle/>
                    <a:p>
                      <a:pPr marL="0" lvl="0" indent="0" algn="l" rtl="0">
                        <a:spcBef>
                          <a:spcPts val="0"/>
                        </a:spcBef>
                        <a:spcAft>
                          <a:spcPts val="0"/>
                        </a:spcAft>
                        <a:buNone/>
                      </a:pPr>
                      <a:r>
                        <a:rPr lang="en">
                          <a:latin typeface="Roboto"/>
                          <a:ea typeface="Roboto"/>
                          <a:cs typeface="Roboto"/>
                          <a:sym typeface="Roboto"/>
                        </a:rPr>
                        <a:t>Fastest stable sort</a:t>
                      </a:r>
                      <a:endParaRPr>
                        <a:latin typeface="Roboto"/>
                        <a:ea typeface="Roboto"/>
                        <a:cs typeface="Roboto"/>
                        <a:sym typeface="Roboto"/>
                      </a:endParaRPr>
                    </a:p>
                  </a:txBody>
                  <a:tcPr marL="91425" marR="91425" marT="91425" marB="91425"/>
                </a:tc>
                <a:tc>
                  <a:txBody>
                    <a:bodyPr/>
                    <a:lstStyle/>
                    <a:p>
                      <a:pPr marL="0" lvl="0" indent="0" algn="l" rtl="0">
                        <a:spcBef>
                          <a:spcPts val="0"/>
                        </a:spcBef>
                        <a:spcAft>
                          <a:spcPts val="0"/>
                        </a:spcAft>
                        <a:buNone/>
                      </a:pPr>
                      <a:r>
                        <a:rPr lang="en">
                          <a:latin typeface="Roboto"/>
                          <a:ea typeface="Roboto"/>
                          <a:cs typeface="Roboto"/>
                          <a:sym typeface="Roboto"/>
                        </a:rPr>
                        <a:t>Yes</a:t>
                      </a:r>
                      <a:endParaRPr>
                        <a:latin typeface="Roboto"/>
                        <a:ea typeface="Roboto"/>
                        <a:cs typeface="Roboto"/>
                        <a:sym typeface="Roboto"/>
                      </a:endParaRPr>
                    </a:p>
                  </a:txBody>
                  <a:tcPr marL="91425" marR="91425" marT="91425" marB="91425"/>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r>
                        <a:rPr lang="en">
                          <a:latin typeface="Roboto"/>
                          <a:ea typeface="Roboto"/>
                          <a:cs typeface="Roboto"/>
                          <a:sym typeface="Roboto"/>
                        </a:rPr>
                        <a:t>Quicksort LTHS</a:t>
                      </a:r>
                      <a:endParaRPr>
                        <a:latin typeface="Roboto"/>
                        <a:ea typeface="Roboto"/>
                        <a:cs typeface="Roboto"/>
                        <a:sym typeface="Roboto"/>
                      </a:endParaRPr>
                    </a:p>
                  </a:txBody>
                  <a:tcPr marL="91425" marR="91425" marT="91425" marB="91425"/>
                </a:tc>
                <a:tc>
                  <a:txBody>
                    <a:bodyPr/>
                    <a:lstStyle/>
                    <a:p>
                      <a:pPr marL="0" lvl="0" indent="0" algn="l" rtl="0">
                        <a:spcBef>
                          <a:spcPts val="0"/>
                        </a:spcBef>
                        <a:spcAft>
                          <a:spcPts val="0"/>
                        </a:spcAft>
                        <a:buNone/>
                      </a:pPr>
                      <a:r>
                        <a:rPr lang="en">
                          <a:solidFill>
                            <a:schemeClr val="dk1"/>
                          </a:solidFill>
                          <a:latin typeface="Roboto"/>
                          <a:ea typeface="Roboto"/>
                          <a:cs typeface="Roboto"/>
                          <a:sym typeface="Roboto"/>
                        </a:rPr>
                        <a:t>Θ(log N)</a:t>
                      </a:r>
                      <a:endParaRPr>
                        <a:latin typeface="Roboto"/>
                        <a:ea typeface="Roboto"/>
                        <a:cs typeface="Roboto"/>
                        <a:sym typeface="Roboto"/>
                      </a:endParaRPr>
                    </a:p>
                  </a:txBody>
                  <a:tcPr marL="91425" marR="91425" marT="91425" marB="91425"/>
                </a:tc>
                <a:tc>
                  <a:txBody>
                    <a:bodyPr/>
                    <a:lstStyle/>
                    <a:p>
                      <a:pPr marL="0" lvl="0" indent="0" algn="l" rtl="0">
                        <a:spcBef>
                          <a:spcPts val="0"/>
                        </a:spcBef>
                        <a:spcAft>
                          <a:spcPts val="0"/>
                        </a:spcAft>
                        <a:buNone/>
                      </a:pPr>
                      <a:r>
                        <a:rPr lang="en">
                          <a:solidFill>
                            <a:schemeClr val="dk1"/>
                          </a:solidFill>
                          <a:latin typeface="Roboto"/>
                          <a:ea typeface="Roboto"/>
                          <a:cs typeface="Roboto"/>
                          <a:sym typeface="Roboto"/>
                        </a:rPr>
                        <a:t>Θ(N log N) expected</a:t>
                      </a:r>
                      <a:endParaRPr>
                        <a:latin typeface="Roboto"/>
                        <a:ea typeface="Roboto"/>
                        <a:cs typeface="Roboto"/>
                        <a:sym typeface="Roboto"/>
                      </a:endParaRPr>
                    </a:p>
                  </a:txBody>
                  <a:tcPr marL="91425" marR="91425" marT="91425" marB="91425">
                    <a:solidFill>
                      <a:srgbClr val="C9DAF8"/>
                    </a:solidFill>
                  </a:tcPr>
                </a:tc>
                <a:tc>
                  <a:txBody>
                    <a:bodyPr/>
                    <a:lstStyle/>
                    <a:p>
                      <a:pPr marL="0" lvl="0" indent="0" algn="l" rtl="0">
                        <a:spcBef>
                          <a:spcPts val="0"/>
                        </a:spcBef>
                        <a:spcAft>
                          <a:spcPts val="0"/>
                        </a:spcAft>
                        <a:buNone/>
                      </a:pPr>
                      <a:r>
                        <a:rPr lang="en">
                          <a:solidFill>
                            <a:schemeClr val="dk1"/>
                          </a:solidFill>
                          <a:latin typeface="Roboto"/>
                          <a:ea typeface="Roboto"/>
                          <a:cs typeface="Roboto"/>
                          <a:sym typeface="Roboto"/>
                        </a:rPr>
                        <a:t>Fastest sort</a:t>
                      </a:r>
                      <a:endParaRPr>
                        <a:latin typeface="Roboto"/>
                        <a:ea typeface="Roboto"/>
                        <a:cs typeface="Roboto"/>
                        <a:sym typeface="Roboto"/>
                      </a:endParaRPr>
                    </a:p>
                  </a:txBody>
                  <a:tcPr marL="91425" marR="91425" marT="91425" marB="91425"/>
                </a:tc>
                <a:tc>
                  <a:txBody>
                    <a:bodyPr/>
                    <a:lstStyle/>
                    <a:p>
                      <a:pPr marL="0" lvl="0" indent="0" algn="l" rtl="0">
                        <a:spcBef>
                          <a:spcPts val="0"/>
                        </a:spcBef>
                        <a:spcAft>
                          <a:spcPts val="0"/>
                        </a:spcAft>
                        <a:buNone/>
                      </a:pPr>
                      <a:r>
                        <a:rPr lang="en">
                          <a:solidFill>
                            <a:schemeClr val="dk1"/>
                          </a:solidFill>
                          <a:latin typeface="Roboto"/>
                          <a:ea typeface="Roboto"/>
                          <a:cs typeface="Roboto"/>
                          <a:sym typeface="Roboto"/>
                        </a:rPr>
                        <a:t>No</a:t>
                      </a:r>
                      <a:endParaRPr>
                        <a:solidFill>
                          <a:schemeClr val="dk1"/>
                        </a:solidFill>
                        <a:latin typeface="Roboto"/>
                        <a:ea typeface="Roboto"/>
                        <a:cs typeface="Roboto"/>
                        <a:sym typeface="Roboto"/>
                      </a:endParaRPr>
                    </a:p>
                  </a:txBody>
                  <a:tcPr marL="91425" marR="91425" marT="91425" marB="91425"/>
                </a:tc>
                <a:extLst>
                  <a:ext uri="{0D108BD9-81ED-4DB2-BD59-A6C34878D82A}">
                    <a16:rowId xmlns:a16="http://schemas.microsoft.com/office/drawing/2014/main" val="10004"/>
                  </a:ext>
                </a:extLst>
              </a:tr>
            </a:tbl>
          </a:graphicData>
        </a:graphic>
      </p:graphicFrame>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1298"/>
        <p:cNvGrpSpPr/>
        <p:nvPr/>
      </p:nvGrpSpPr>
      <p:grpSpPr>
        <a:xfrm>
          <a:off x="0" y="0"/>
          <a:ext cx="0" cy="0"/>
          <a:chOff x="0" y="0"/>
          <a:chExt cx="0" cy="0"/>
        </a:xfrm>
      </p:grpSpPr>
      <p:sp>
        <p:nvSpPr>
          <p:cNvPr id="1299" name="Google Shape;1299;p84"/>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Next Time...</a:t>
            </a:r>
            <a:endParaRPr/>
          </a:p>
        </p:txBody>
      </p:sp>
      <p:sp>
        <p:nvSpPr>
          <p:cNvPr id="1300" name="Google Shape;1300;p84"/>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Today we proved that any sort that uses comparisons has runtime Ω(N log N). </a:t>
            </a:r>
            <a:endParaRPr/>
          </a:p>
          <a:p>
            <a:pPr marL="0" lvl="0" indent="0" algn="l" rtl="0">
              <a:spcBef>
                <a:spcPts val="0"/>
              </a:spcBef>
              <a:spcAft>
                <a:spcPts val="0"/>
              </a:spcAft>
              <a:buNone/>
            </a:pPr>
            <a:endParaRPr/>
          </a:p>
          <a:p>
            <a:pPr marL="0" lvl="0" indent="0" algn="l" rtl="0">
              <a:spcBef>
                <a:spcPts val="0"/>
              </a:spcBef>
              <a:spcAft>
                <a:spcPts val="0"/>
              </a:spcAft>
              <a:buNone/>
            </a:pPr>
            <a:r>
              <a:rPr lang="en"/>
              <a:t>Next time we’ll discuss how we can sort in Θ(N) time.</a:t>
            </a:r>
            <a:endParaRPr/>
          </a:p>
          <a:p>
            <a:pPr marL="457200" lvl="0" indent="-342900" algn="l" rtl="0">
              <a:spcBef>
                <a:spcPts val="0"/>
              </a:spcBef>
              <a:spcAft>
                <a:spcPts val="0"/>
              </a:spcAft>
              <a:buSzPts val="1800"/>
              <a:buChar char="●"/>
            </a:pPr>
            <a:r>
              <a:rPr lang="en"/>
              <a:t>Not impossible, just can’t be a comparison sort!</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1304"/>
        <p:cNvGrpSpPr/>
        <p:nvPr/>
      </p:nvGrpSpPr>
      <p:grpSpPr>
        <a:xfrm>
          <a:off x="0" y="0"/>
          <a:ext cx="0" cy="0"/>
          <a:chOff x="0" y="0"/>
          <a:chExt cx="0" cy="0"/>
        </a:xfrm>
      </p:grpSpPr>
      <p:sp>
        <p:nvSpPr>
          <p:cNvPr id="1305" name="Google Shape;1305;p85"/>
          <p:cNvSpPr txBox="1">
            <a:spLocks noGrp="1"/>
          </p:cNvSpPr>
          <p:nvPr>
            <p:ph type="subTitle" idx="2"/>
          </p:nvPr>
        </p:nvSpPr>
        <p:spPr>
          <a:xfrm>
            <a:off x="177925" y="4068000"/>
            <a:ext cx="4158000" cy="393600"/>
          </a:xfrm>
          <a:prstGeom prst="rect">
            <a:avLst/>
          </a:prstGeom>
        </p:spPr>
        <p:txBody>
          <a:bodyPr spcFirstLastPara="1" wrap="square" lIns="91425" tIns="91425" rIns="91425" bIns="91425" anchor="ctr" anchorCtr="0">
            <a:noAutofit/>
          </a:bodyPr>
          <a:lstStyle/>
          <a:p>
            <a:pPr marL="0" lvl="0" indent="0" algn="l" rtl="0">
              <a:spcBef>
                <a:spcPts val="600"/>
              </a:spcBef>
              <a:spcAft>
                <a:spcPts val="0"/>
              </a:spcAft>
              <a:buNone/>
            </a:pPr>
            <a:r>
              <a:rPr lang="en"/>
              <a:t>Lecture 34, CS61B, Fall 2023</a:t>
            </a:r>
            <a:endParaRPr/>
          </a:p>
        </p:txBody>
      </p:sp>
      <p:sp>
        <p:nvSpPr>
          <p:cNvPr id="1306" name="Google Shape;1306;p85"/>
          <p:cNvSpPr txBox="1">
            <a:spLocks noGrp="1"/>
          </p:cNvSpPr>
          <p:nvPr>
            <p:ph type="body" idx="1"/>
          </p:nvPr>
        </p:nvSpPr>
        <p:spPr>
          <a:xfrm>
            <a:off x="4812375" y="402198"/>
            <a:ext cx="3999900" cy="4260900"/>
          </a:xfrm>
          <a:prstGeom prst="rect">
            <a:avLst/>
          </a:prstGeom>
        </p:spPr>
        <p:txBody>
          <a:bodyPr spcFirstLastPara="1" wrap="square" lIns="91425" tIns="91425" rIns="91425" bIns="91425" anchor="ctr" anchorCtr="0">
            <a:noAutofit/>
          </a:bodyPr>
          <a:lstStyle/>
          <a:p>
            <a:pPr marL="0" lvl="0" indent="0" algn="l" rtl="0">
              <a:spcBef>
                <a:spcPts val="600"/>
              </a:spcBef>
              <a:spcAft>
                <a:spcPts val="0"/>
              </a:spcAft>
              <a:buClr>
                <a:schemeClr val="dk1"/>
              </a:buClr>
              <a:buSzPts val="1100"/>
              <a:buFont typeface="Arial"/>
              <a:buNone/>
            </a:pPr>
            <a:r>
              <a:rPr lang="en"/>
              <a:t>Goal: How Hard is Sorting?</a:t>
            </a:r>
            <a:endParaRPr/>
          </a:p>
          <a:p>
            <a:pPr marL="0" lvl="0" indent="0" algn="l" rtl="0">
              <a:spcBef>
                <a:spcPts val="600"/>
              </a:spcBef>
              <a:spcAft>
                <a:spcPts val="0"/>
              </a:spcAft>
              <a:buClr>
                <a:schemeClr val="dk1"/>
              </a:buClr>
              <a:buSzPts val="1100"/>
              <a:buFont typeface="Arial"/>
              <a:buNone/>
            </a:pPr>
            <a:r>
              <a:rPr lang="en"/>
              <a:t>Math Problem Warmup</a:t>
            </a:r>
            <a:endParaRPr/>
          </a:p>
          <a:p>
            <a:pPr marL="0" lvl="0" indent="0" algn="l" rtl="0">
              <a:spcBef>
                <a:spcPts val="600"/>
              </a:spcBef>
              <a:spcAft>
                <a:spcPts val="0"/>
              </a:spcAft>
              <a:buClr>
                <a:schemeClr val="dk1"/>
              </a:buClr>
              <a:buSzPts val="1100"/>
              <a:buFont typeface="Arial"/>
              <a:buNone/>
            </a:pPr>
            <a:r>
              <a:rPr lang="en"/>
              <a:t>Theoretical Bounds on Sorting</a:t>
            </a:r>
            <a:endParaRPr/>
          </a:p>
          <a:p>
            <a:pPr marL="457200" lvl="0" indent="-342900" algn="l" rtl="0">
              <a:spcBef>
                <a:spcPts val="600"/>
              </a:spcBef>
              <a:spcAft>
                <a:spcPts val="0"/>
              </a:spcAft>
              <a:buSzPts val="1800"/>
              <a:buChar char="•"/>
            </a:pPr>
            <a:r>
              <a:rPr lang="en"/>
              <a:t>Simple Bounds for TUCS (the ultimate comparison sort)</a:t>
            </a:r>
            <a:endParaRPr/>
          </a:p>
          <a:p>
            <a:pPr marL="457200" lvl="0" indent="-342900" algn="l" rtl="0">
              <a:spcBef>
                <a:spcPts val="0"/>
              </a:spcBef>
              <a:spcAft>
                <a:spcPts val="0"/>
              </a:spcAft>
              <a:buSzPts val="1800"/>
              <a:buChar char="•"/>
            </a:pPr>
            <a:r>
              <a:rPr lang="en"/>
              <a:t>Coin Puzzles</a:t>
            </a:r>
            <a:endParaRPr/>
          </a:p>
          <a:p>
            <a:pPr marL="457200" lvl="0" indent="-342900" algn="l" rtl="0">
              <a:spcBef>
                <a:spcPts val="0"/>
              </a:spcBef>
              <a:spcAft>
                <a:spcPts val="0"/>
              </a:spcAft>
              <a:buSzPts val="1800"/>
              <a:buChar char="•"/>
            </a:pPr>
            <a:r>
              <a:rPr lang="en"/>
              <a:t>Puppy Cat Dog</a:t>
            </a:r>
            <a:endParaRPr/>
          </a:p>
          <a:p>
            <a:pPr marL="457200" lvl="0" indent="-342900" algn="l" rtl="0">
              <a:spcBef>
                <a:spcPts val="0"/>
              </a:spcBef>
              <a:spcAft>
                <a:spcPts val="0"/>
              </a:spcAft>
              <a:buSzPts val="1800"/>
              <a:buChar char="•"/>
            </a:pPr>
            <a:r>
              <a:rPr lang="en"/>
              <a:t>The Sorting Lower Bound</a:t>
            </a:r>
            <a:endParaRPr/>
          </a:p>
          <a:p>
            <a:pPr marL="0" lvl="0" indent="0" algn="l" rtl="0">
              <a:spcBef>
                <a:spcPts val="600"/>
              </a:spcBef>
              <a:spcAft>
                <a:spcPts val="0"/>
              </a:spcAft>
              <a:buClr>
                <a:schemeClr val="dk1"/>
              </a:buClr>
              <a:buSzPts val="1100"/>
              <a:buFont typeface="Arial"/>
              <a:buNone/>
            </a:pPr>
            <a:r>
              <a:rPr lang="en" b="1">
                <a:solidFill>
                  <a:schemeClr val="accent3"/>
                </a:solidFill>
                <a:latin typeface="Roboto"/>
                <a:ea typeface="Roboto"/>
                <a:cs typeface="Roboto"/>
                <a:sym typeface="Roboto"/>
              </a:rPr>
              <a:t>Sounds of Sorting</a:t>
            </a:r>
            <a:endParaRPr b="1">
              <a:solidFill>
                <a:schemeClr val="accent3"/>
              </a:solidFill>
              <a:latin typeface="Roboto"/>
              <a:ea typeface="Roboto"/>
              <a:cs typeface="Roboto"/>
              <a:sym typeface="Roboto"/>
            </a:endParaRPr>
          </a:p>
        </p:txBody>
      </p:sp>
      <p:sp>
        <p:nvSpPr>
          <p:cNvPr id="1307" name="Google Shape;1307;p85"/>
          <p:cNvSpPr txBox="1">
            <a:spLocks noGrp="1"/>
          </p:cNvSpPr>
          <p:nvPr>
            <p:ph type="title"/>
          </p:nvPr>
        </p:nvSpPr>
        <p:spPr>
          <a:xfrm>
            <a:off x="177925" y="2003300"/>
            <a:ext cx="4038000" cy="2037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Clr>
                <a:schemeClr val="dk1"/>
              </a:buClr>
              <a:buSzPts val="1100"/>
              <a:buFont typeface="Arial"/>
              <a:buNone/>
            </a:pPr>
            <a:r>
              <a:rPr lang="en"/>
              <a:t>Sounds of Sorting</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1311"/>
        <p:cNvGrpSpPr/>
        <p:nvPr/>
      </p:nvGrpSpPr>
      <p:grpSpPr>
        <a:xfrm>
          <a:off x="0" y="0"/>
          <a:ext cx="0" cy="0"/>
          <a:chOff x="0" y="0"/>
          <a:chExt cx="0" cy="0"/>
        </a:xfrm>
      </p:grpSpPr>
      <p:sp>
        <p:nvSpPr>
          <p:cNvPr id="1312" name="Google Shape;1312;p86"/>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Sounds of Sorting Algorithms (of 125 items)</a:t>
            </a:r>
            <a:endParaRPr/>
          </a:p>
        </p:txBody>
      </p:sp>
      <p:sp>
        <p:nvSpPr>
          <p:cNvPr id="1313" name="Google Shape;1313;p86"/>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sz="1400"/>
              <a:t>Starts with selection sort: </a:t>
            </a:r>
            <a:r>
              <a:rPr lang="en" sz="1400" u="sng">
                <a:solidFill>
                  <a:schemeClr val="hlink"/>
                </a:solidFill>
                <a:hlinkClick r:id="rId3"/>
              </a:rPr>
              <a:t>https://www.youtube.com/watch?v=kPRA0W1kECg</a:t>
            </a:r>
            <a:endParaRPr sz="1400"/>
          </a:p>
          <a:p>
            <a:pPr marL="0" lvl="0" indent="0" algn="l" rtl="0">
              <a:spcBef>
                <a:spcPts val="600"/>
              </a:spcBef>
              <a:spcAft>
                <a:spcPts val="0"/>
              </a:spcAft>
              <a:buNone/>
            </a:pPr>
            <a:r>
              <a:rPr lang="en" sz="1400"/>
              <a:t>Insertion sort: </a:t>
            </a:r>
            <a:r>
              <a:rPr lang="en" sz="1400" u="sng">
                <a:solidFill>
                  <a:schemeClr val="hlink"/>
                </a:solidFill>
                <a:hlinkClick r:id="rId4"/>
              </a:rPr>
              <a:t>https://www.youtube.com/watch?v=kPRA0W1kECg&amp;t=0m9s</a:t>
            </a:r>
            <a:endParaRPr sz="1400"/>
          </a:p>
          <a:p>
            <a:pPr marL="0" lvl="0" indent="0" algn="l" rtl="0">
              <a:spcBef>
                <a:spcPts val="600"/>
              </a:spcBef>
              <a:spcAft>
                <a:spcPts val="0"/>
              </a:spcAft>
              <a:buNone/>
            </a:pPr>
            <a:r>
              <a:rPr lang="en" sz="1400"/>
              <a:t>Quicksort: </a:t>
            </a:r>
            <a:r>
              <a:rPr lang="en" sz="1400" u="sng">
                <a:solidFill>
                  <a:schemeClr val="hlink"/>
                </a:solidFill>
                <a:hlinkClick r:id="rId5"/>
              </a:rPr>
              <a:t>https://www.youtube.com/watch?v=kPRA0W1kECg&amp;t=0m38s</a:t>
            </a:r>
            <a:endParaRPr sz="1400"/>
          </a:p>
          <a:p>
            <a:pPr marL="0" lvl="0" indent="0" algn="l" rtl="0">
              <a:spcBef>
                <a:spcPts val="600"/>
              </a:spcBef>
              <a:spcAft>
                <a:spcPts val="0"/>
              </a:spcAft>
              <a:buNone/>
            </a:pPr>
            <a:r>
              <a:rPr lang="en" sz="1400"/>
              <a:t>Mergesort: </a:t>
            </a:r>
            <a:r>
              <a:rPr lang="en" sz="1400" u="sng">
                <a:solidFill>
                  <a:schemeClr val="hlink"/>
                </a:solidFill>
                <a:hlinkClick r:id="rId6"/>
              </a:rPr>
              <a:t>https://www.youtube.com/watch?v=kPRA0W1kECg&amp;t=1m05s</a:t>
            </a:r>
            <a:endParaRPr sz="1400"/>
          </a:p>
          <a:p>
            <a:pPr marL="0" lvl="0" indent="0" algn="l" rtl="0">
              <a:spcBef>
                <a:spcPts val="600"/>
              </a:spcBef>
              <a:spcAft>
                <a:spcPts val="0"/>
              </a:spcAft>
              <a:buNone/>
            </a:pPr>
            <a:r>
              <a:rPr lang="en" sz="1400"/>
              <a:t>Heapsort: </a:t>
            </a:r>
            <a:r>
              <a:rPr lang="en" sz="1400" u="sng">
                <a:solidFill>
                  <a:schemeClr val="hlink"/>
                </a:solidFill>
                <a:hlinkClick r:id="rId7"/>
              </a:rPr>
              <a:t>https://www.youtube.com/watch?v=kPRA0W1kECg&amp;t=1m28s</a:t>
            </a:r>
            <a:endParaRPr sz="1400"/>
          </a:p>
          <a:p>
            <a:pPr marL="0" lvl="0" indent="0" algn="l" rtl="0">
              <a:spcBef>
                <a:spcPts val="600"/>
              </a:spcBef>
              <a:spcAft>
                <a:spcPts val="0"/>
              </a:spcAft>
              <a:buNone/>
            </a:pPr>
            <a:r>
              <a:rPr lang="en" sz="1400"/>
              <a:t>LSD sort: </a:t>
            </a:r>
            <a:r>
              <a:rPr lang="en" sz="1400" u="sng">
                <a:solidFill>
                  <a:schemeClr val="hlink"/>
                </a:solidFill>
                <a:hlinkClick r:id="rId8"/>
              </a:rPr>
              <a:t>https://www.youtube.com/watch?v=kPRA0W1kECg&amp;t=1m54s</a:t>
            </a:r>
            <a:r>
              <a:rPr lang="en" sz="1400"/>
              <a:t> [coming in a future lecture]</a:t>
            </a:r>
            <a:endParaRPr sz="1400"/>
          </a:p>
          <a:p>
            <a:pPr marL="0" lvl="0" indent="0" algn="l" rtl="0">
              <a:spcBef>
                <a:spcPts val="600"/>
              </a:spcBef>
              <a:spcAft>
                <a:spcPts val="0"/>
              </a:spcAft>
              <a:buNone/>
            </a:pPr>
            <a:r>
              <a:rPr lang="en" sz="1400"/>
              <a:t>MSD sort: </a:t>
            </a:r>
            <a:r>
              <a:rPr lang="en" sz="1400" u="sng">
                <a:solidFill>
                  <a:schemeClr val="hlink"/>
                </a:solidFill>
                <a:hlinkClick r:id="rId9"/>
              </a:rPr>
              <a:t>https://www.youtube.com/watch?v=kPRA0W1kECg&amp;t=2m10s</a:t>
            </a:r>
            <a:r>
              <a:rPr lang="en" sz="1400"/>
              <a:t> [coming in a future lecture]</a:t>
            </a:r>
            <a:endParaRPr sz="1400"/>
          </a:p>
          <a:p>
            <a:pPr marL="0" lvl="0" indent="0" algn="l" rtl="0">
              <a:spcBef>
                <a:spcPts val="600"/>
              </a:spcBef>
              <a:spcAft>
                <a:spcPts val="0"/>
              </a:spcAft>
              <a:buNone/>
            </a:pPr>
            <a:r>
              <a:rPr lang="en" sz="1400"/>
              <a:t>Shell’s sort: </a:t>
            </a:r>
            <a:r>
              <a:rPr lang="en" sz="1400" u="sng">
                <a:solidFill>
                  <a:schemeClr val="hlink"/>
                </a:solidFill>
                <a:hlinkClick r:id="rId10"/>
              </a:rPr>
              <a:t>https://www.youtube.com/watch?v=kPRA0W1kECg&amp;t=3m37s</a:t>
            </a:r>
            <a:r>
              <a:rPr lang="en" sz="1400"/>
              <a:t> [bonus from an earlier lecture]</a:t>
            </a:r>
            <a:endParaRPr sz="1400"/>
          </a:p>
          <a:p>
            <a:pPr marL="0" lvl="0" indent="0" algn="l" rtl="0">
              <a:spcBef>
                <a:spcPts val="600"/>
              </a:spcBef>
              <a:spcAft>
                <a:spcPts val="0"/>
              </a:spcAft>
              <a:buNone/>
            </a:pPr>
            <a:r>
              <a:rPr lang="en" sz="1400"/>
              <a:t>One Hour of various sorts: </a:t>
            </a:r>
            <a:r>
              <a:rPr lang="en" sz="1400" u="sng">
                <a:solidFill>
                  <a:schemeClr val="hlink"/>
                </a:solidFill>
                <a:hlinkClick r:id="rId11"/>
              </a:rPr>
              <a:t>https://www.youtube.com/watch?v=8MsTNqK3o_w</a:t>
            </a:r>
            <a:r>
              <a:rPr lang="en" sz="1400"/>
              <a:t> </a:t>
            </a:r>
            <a:endParaRPr sz="1400"/>
          </a:p>
          <a:p>
            <a:pPr marL="0" lvl="0" indent="0" algn="l" rtl="0">
              <a:spcBef>
                <a:spcPts val="600"/>
              </a:spcBef>
              <a:spcAft>
                <a:spcPts val="0"/>
              </a:spcAft>
              <a:buNone/>
            </a:pPr>
            <a:r>
              <a:rPr lang="en" sz="1400"/>
              <a:t>Questions to ponder (later… after class): </a:t>
            </a:r>
            <a:endParaRPr sz="1400"/>
          </a:p>
          <a:p>
            <a:pPr marL="457200" lvl="0" indent="-317500" algn="l" rtl="0">
              <a:spcBef>
                <a:spcPts val="600"/>
              </a:spcBef>
              <a:spcAft>
                <a:spcPts val="0"/>
              </a:spcAft>
              <a:buSzPts val="1400"/>
              <a:buChar char="●"/>
            </a:pPr>
            <a:r>
              <a:rPr lang="en" sz="1400"/>
              <a:t>How many items for selection sort?</a:t>
            </a:r>
            <a:endParaRPr sz="1400"/>
          </a:p>
          <a:p>
            <a:pPr marL="457200" lvl="0" indent="-317500" algn="l" rtl="0">
              <a:spcBef>
                <a:spcPts val="0"/>
              </a:spcBef>
              <a:spcAft>
                <a:spcPts val="0"/>
              </a:spcAft>
              <a:buSzPts val="1400"/>
              <a:buChar char="●"/>
            </a:pPr>
            <a:r>
              <a:rPr lang="en" sz="1400"/>
              <a:t>Why does insertion sort take longer / more compares than selection sort?</a:t>
            </a:r>
            <a:endParaRPr sz="1400"/>
          </a:p>
          <a:p>
            <a:pPr marL="457200" lvl="0" indent="-317500" algn="l" rtl="0">
              <a:spcBef>
                <a:spcPts val="0"/>
              </a:spcBef>
              <a:spcAft>
                <a:spcPts val="0"/>
              </a:spcAft>
              <a:buSzPts val="1400"/>
              <a:buChar char="●"/>
            </a:pPr>
            <a:r>
              <a:rPr lang="en" sz="1400"/>
              <a:t>At what time stamp does the first partition complete for Quicksort?</a:t>
            </a:r>
            <a:endParaRPr sz="1400"/>
          </a:p>
          <a:p>
            <a:pPr marL="457200" lvl="0" indent="-317500" algn="l" rtl="0">
              <a:spcBef>
                <a:spcPts val="0"/>
              </a:spcBef>
              <a:spcAft>
                <a:spcPts val="0"/>
              </a:spcAft>
              <a:buSzPts val="1400"/>
              <a:buChar char="●"/>
            </a:pPr>
            <a:r>
              <a:rPr lang="en" sz="1400"/>
              <a:t>Could the size of the input to mergesort be a power of 2?</a:t>
            </a:r>
            <a:endParaRPr sz="1400"/>
          </a:p>
          <a:p>
            <a:pPr marL="457200" lvl="0" indent="-317500" algn="l" rtl="0">
              <a:spcBef>
                <a:spcPts val="0"/>
              </a:spcBef>
              <a:spcAft>
                <a:spcPts val="0"/>
              </a:spcAft>
              <a:buSzPts val="1400"/>
              <a:buChar char="●"/>
            </a:pPr>
            <a:r>
              <a:rPr lang="en" sz="1400"/>
              <a:t>What do the colors mean for heapsort?</a:t>
            </a:r>
            <a:endParaRPr sz="1400"/>
          </a:p>
          <a:p>
            <a:pPr marL="457200" lvl="0" indent="-317500" algn="l" rtl="0">
              <a:spcBef>
                <a:spcPts val="0"/>
              </a:spcBef>
              <a:spcAft>
                <a:spcPts val="0"/>
              </a:spcAft>
              <a:buSzPts val="1400"/>
              <a:buChar char="●"/>
            </a:pPr>
            <a:r>
              <a:rPr lang="en" sz="1400"/>
              <a:t>How many characters are in the alphabet used for the LSD sort problem? (after we learn about it)</a:t>
            </a:r>
            <a:endParaRPr sz="1400"/>
          </a:p>
          <a:p>
            <a:pPr marL="457200" lvl="0" indent="-317500" algn="l" rtl="0">
              <a:spcBef>
                <a:spcPts val="0"/>
              </a:spcBef>
              <a:spcAft>
                <a:spcPts val="0"/>
              </a:spcAft>
              <a:buSzPts val="1400"/>
              <a:buChar char="●"/>
            </a:pPr>
            <a:r>
              <a:rPr lang="en" sz="1400"/>
              <a:t>How many digits are in the keys used for the LSD sort problem? (after we learn about it)</a:t>
            </a:r>
            <a:endParaRPr sz="140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1317"/>
        <p:cNvGrpSpPr/>
        <p:nvPr/>
      </p:nvGrpSpPr>
      <p:grpSpPr>
        <a:xfrm>
          <a:off x="0" y="0"/>
          <a:ext cx="0" cy="0"/>
          <a:chOff x="0" y="0"/>
          <a:chExt cx="0" cy="0"/>
        </a:xfrm>
      </p:grpSpPr>
      <p:sp>
        <p:nvSpPr>
          <p:cNvPr id="1318" name="Google Shape;1318;p87"/>
          <p:cNvSpPr txBox="1">
            <a:spLocks noGrp="1"/>
          </p:cNvSpPr>
          <p:nvPr>
            <p:ph type="subTitle" idx="2"/>
          </p:nvPr>
        </p:nvSpPr>
        <p:spPr>
          <a:xfrm>
            <a:off x="177925" y="4068000"/>
            <a:ext cx="4158000" cy="393600"/>
          </a:xfrm>
          <a:prstGeom prst="rect">
            <a:avLst/>
          </a:prstGeom>
        </p:spPr>
        <p:txBody>
          <a:bodyPr spcFirstLastPara="1" wrap="square" lIns="91425" tIns="91425" rIns="91425" bIns="91425" anchor="ctr" anchorCtr="0">
            <a:noAutofit/>
          </a:bodyPr>
          <a:lstStyle/>
          <a:p>
            <a:pPr marL="0" lvl="0" indent="0" algn="l" rtl="0">
              <a:spcBef>
                <a:spcPts val="600"/>
              </a:spcBef>
              <a:spcAft>
                <a:spcPts val="0"/>
              </a:spcAft>
              <a:buNone/>
            </a:pPr>
            <a:r>
              <a:rPr lang="en"/>
              <a:t>Lecture 34, CS61B, Fall 2023</a:t>
            </a:r>
            <a:endParaRPr/>
          </a:p>
        </p:txBody>
      </p:sp>
      <p:sp>
        <p:nvSpPr>
          <p:cNvPr id="1319" name="Google Shape;1319;p87"/>
          <p:cNvSpPr txBox="1">
            <a:spLocks noGrp="1"/>
          </p:cNvSpPr>
          <p:nvPr>
            <p:ph type="body" idx="1"/>
          </p:nvPr>
        </p:nvSpPr>
        <p:spPr>
          <a:xfrm>
            <a:off x="4812375" y="402198"/>
            <a:ext cx="3999900" cy="4260900"/>
          </a:xfrm>
          <a:prstGeom prst="rect">
            <a:avLst/>
          </a:prstGeom>
        </p:spPr>
        <p:txBody>
          <a:bodyPr spcFirstLastPara="1" wrap="square" lIns="91425" tIns="91425" rIns="91425" bIns="91425" anchor="ctr" anchorCtr="0">
            <a:noAutofit/>
          </a:bodyPr>
          <a:lstStyle/>
          <a:p>
            <a:pPr marL="0" lvl="0" indent="0" algn="l" rtl="0">
              <a:spcBef>
                <a:spcPts val="600"/>
              </a:spcBef>
              <a:spcAft>
                <a:spcPts val="0"/>
              </a:spcAft>
              <a:buClr>
                <a:schemeClr val="dk1"/>
              </a:buClr>
              <a:buSzPts val="1100"/>
              <a:buFont typeface="Arial"/>
              <a:buNone/>
            </a:pPr>
            <a:r>
              <a:rPr lang="en"/>
              <a:t>Goal: How Hard is Sorting?</a:t>
            </a:r>
            <a:endParaRPr/>
          </a:p>
          <a:p>
            <a:pPr marL="0" lvl="0" indent="0" algn="l" rtl="0">
              <a:spcBef>
                <a:spcPts val="600"/>
              </a:spcBef>
              <a:spcAft>
                <a:spcPts val="0"/>
              </a:spcAft>
              <a:buClr>
                <a:schemeClr val="dk1"/>
              </a:buClr>
              <a:buSzPts val="1100"/>
              <a:buFont typeface="Arial"/>
              <a:buNone/>
            </a:pPr>
            <a:r>
              <a:rPr lang="en"/>
              <a:t>Math Problem Warmup</a:t>
            </a:r>
            <a:endParaRPr/>
          </a:p>
          <a:p>
            <a:pPr marL="0" lvl="0" indent="0" algn="l" rtl="0">
              <a:spcBef>
                <a:spcPts val="600"/>
              </a:spcBef>
              <a:spcAft>
                <a:spcPts val="0"/>
              </a:spcAft>
              <a:buClr>
                <a:schemeClr val="dk1"/>
              </a:buClr>
              <a:buSzPts val="1100"/>
              <a:buFont typeface="Arial"/>
              <a:buNone/>
            </a:pPr>
            <a:r>
              <a:rPr lang="en"/>
              <a:t>Theoretical Bounds on Sorting</a:t>
            </a:r>
            <a:endParaRPr/>
          </a:p>
          <a:p>
            <a:pPr marL="457200" lvl="0" indent="-342900" algn="l" rtl="0">
              <a:spcBef>
                <a:spcPts val="600"/>
              </a:spcBef>
              <a:spcAft>
                <a:spcPts val="0"/>
              </a:spcAft>
              <a:buSzPts val="1800"/>
              <a:buChar char="•"/>
            </a:pPr>
            <a:r>
              <a:rPr lang="en"/>
              <a:t>Simple Bounds for TUCS (the ultimate comparison sort)</a:t>
            </a:r>
            <a:endParaRPr/>
          </a:p>
          <a:p>
            <a:pPr marL="457200" lvl="0" indent="-342900" algn="l" rtl="0">
              <a:spcBef>
                <a:spcPts val="0"/>
              </a:spcBef>
              <a:spcAft>
                <a:spcPts val="0"/>
              </a:spcAft>
              <a:buSzPts val="1800"/>
              <a:buChar char="•"/>
            </a:pPr>
            <a:r>
              <a:rPr lang="en"/>
              <a:t>Puppy Cat Dog (N = 3, N = 4)</a:t>
            </a:r>
            <a:endParaRPr/>
          </a:p>
          <a:p>
            <a:pPr marL="457200" lvl="0" indent="-342900" algn="l" rtl="0">
              <a:spcBef>
                <a:spcPts val="0"/>
              </a:spcBef>
              <a:spcAft>
                <a:spcPts val="0"/>
              </a:spcAft>
              <a:buSzPts val="1800"/>
              <a:buChar char="•"/>
            </a:pPr>
            <a:r>
              <a:rPr lang="en"/>
              <a:t>Puppy Cat Dog for Any N</a:t>
            </a:r>
            <a:endParaRPr/>
          </a:p>
          <a:p>
            <a:pPr marL="457200" lvl="0" indent="-342900" algn="l" rtl="0">
              <a:spcBef>
                <a:spcPts val="0"/>
              </a:spcBef>
              <a:spcAft>
                <a:spcPts val="0"/>
              </a:spcAft>
              <a:buSzPts val="1800"/>
              <a:buChar char="•"/>
            </a:pPr>
            <a:r>
              <a:rPr lang="en"/>
              <a:t>The Sorting Lower Bound</a:t>
            </a:r>
            <a:endParaRPr/>
          </a:p>
          <a:p>
            <a:pPr marL="0" lvl="0" indent="0" algn="l" rtl="0">
              <a:spcBef>
                <a:spcPts val="600"/>
              </a:spcBef>
              <a:spcAft>
                <a:spcPts val="0"/>
              </a:spcAft>
              <a:buNone/>
            </a:pPr>
            <a:r>
              <a:rPr lang="en"/>
              <a:t>Sounds of Sorting</a:t>
            </a:r>
            <a:endParaRPr b="1">
              <a:solidFill>
                <a:schemeClr val="accent3"/>
              </a:solidFill>
              <a:latin typeface="Roboto"/>
              <a:ea typeface="Roboto"/>
              <a:cs typeface="Roboto"/>
              <a:sym typeface="Roboto"/>
            </a:endParaRPr>
          </a:p>
        </p:txBody>
      </p:sp>
      <p:sp>
        <p:nvSpPr>
          <p:cNvPr id="1320" name="Google Shape;1320;p87"/>
          <p:cNvSpPr txBox="1">
            <a:spLocks noGrp="1"/>
          </p:cNvSpPr>
          <p:nvPr>
            <p:ph type="title"/>
          </p:nvPr>
        </p:nvSpPr>
        <p:spPr>
          <a:xfrm>
            <a:off x="177925" y="2003300"/>
            <a:ext cx="4038000" cy="2037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Clr>
                <a:schemeClr val="dk1"/>
              </a:buClr>
              <a:buSzPts val="1100"/>
              <a:buFont typeface="Arial"/>
              <a:buNone/>
            </a:pPr>
            <a:r>
              <a:rPr lang="en"/>
              <a:t>Extra: Sorting Implementations</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1324"/>
        <p:cNvGrpSpPr/>
        <p:nvPr/>
      </p:nvGrpSpPr>
      <p:grpSpPr>
        <a:xfrm>
          <a:off x="0" y="0"/>
          <a:ext cx="0" cy="0"/>
          <a:chOff x="0" y="0"/>
          <a:chExt cx="0" cy="0"/>
        </a:xfrm>
      </p:grpSpPr>
      <p:sp>
        <p:nvSpPr>
          <p:cNvPr id="1325" name="Google Shape;1325;p88"/>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 Note on Implementations</a:t>
            </a:r>
            <a:endParaRPr/>
          </a:p>
        </p:txBody>
      </p:sp>
      <p:sp>
        <p:nvSpPr>
          <p:cNvPr id="1326" name="Google Shape;1326;p88"/>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Concrete implementations are nice for solidifying understanding. </a:t>
            </a:r>
            <a:endParaRPr/>
          </a:p>
          <a:p>
            <a:pPr marL="457200" lvl="0" indent="-342900" algn="l" rtl="0">
              <a:spcBef>
                <a:spcPts val="600"/>
              </a:spcBef>
              <a:spcAft>
                <a:spcPts val="0"/>
              </a:spcAft>
              <a:buSzPts val="1800"/>
              <a:buChar char="●"/>
            </a:pPr>
            <a:r>
              <a:rPr lang="en"/>
              <a:t>Implementing these yourself provides much deeper understanding than just reading my code.</a:t>
            </a:r>
            <a:endParaRPr/>
          </a:p>
          <a:p>
            <a:pPr marL="457200" lvl="0" indent="-342900" algn="l" rtl="0">
              <a:spcBef>
                <a:spcPts val="0"/>
              </a:spcBef>
              <a:spcAft>
                <a:spcPts val="0"/>
              </a:spcAft>
              <a:buSzPts val="1800"/>
              <a:buChar char="●"/>
            </a:pPr>
            <a:r>
              <a:rPr lang="en"/>
              <a:t>You are not responsible for the details of these specific implementations.</a:t>
            </a:r>
            <a:endParaRPr/>
          </a:p>
          <a:p>
            <a:pPr marL="457200" lvl="0" indent="-342900" algn="l" rtl="0">
              <a:spcBef>
                <a:spcPts val="0"/>
              </a:spcBef>
              <a:spcAft>
                <a:spcPts val="0"/>
              </a:spcAft>
              <a:buSzPts val="1800"/>
              <a:buChar char="●"/>
            </a:pPr>
            <a:r>
              <a:rPr lang="en"/>
              <a:t>Given enough time, you should be able to implement any of these sorts.</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1330"/>
        <p:cNvGrpSpPr/>
        <p:nvPr/>
      </p:nvGrpSpPr>
      <p:grpSpPr>
        <a:xfrm>
          <a:off x="0" y="0"/>
          <a:ext cx="0" cy="0"/>
          <a:chOff x="0" y="0"/>
          <a:chExt cx="0" cy="0"/>
        </a:xfrm>
      </p:grpSpPr>
      <p:sp>
        <p:nvSpPr>
          <p:cNvPr id="1331" name="Google Shape;1331;p89"/>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Utility Methods For Sorting</a:t>
            </a:r>
            <a:endParaRPr/>
          </a:p>
        </p:txBody>
      </p:sp>
      <p:pic>
        <p:nvPicPr>
          <p:cNvPr id="1332" name="Google Shape;1332;p89"/>
          <p:cNvPicPr preferRelativeResize="0"/>
          <p:nvPr/>
        </p:nvPicPr>
        <p:blipFill>
          <a:blip r:embed="rId3">
            <a:alphaModFix/>
          </a:blip>
          <a:stretch>
            <a:fillRect/>
          </a:stretch>
        </p:blipFill>
        <p:spPr>
          <a:xfrm>
            <a:off x="1257300" y="991175"/>
            <a:ext cx="6629400" cy="1047750"/>
          </a:xfrm>
          <a:prstGeom prst="rect">
            <a:avLst/>
          </a:prstGeom>
          <a:noFill/>
          <a:ln>
            <a:noFill/>
          </a:ln>
        </p:spPr>
      </p:pic>
      <p:pic>
        <p:nvPicPr>
          <p:cNvPr id="1333" name="Google Shape;1333;p89"/>
          <p:cNvPicPr preferRelativeResize="0"/>
          <p:nvPr/>
        </p:nvPicPr>
        <p:blipFill>
          <a:blip r:embed="rId4">
            <a:alphaModFix/>
          </a:blip>
          <a:stretch>
            <a:fillRect/>
          </a:stretch>
        </p:blipFill>
        <p:spPr>
          <a:xfrm>
            <a:off x="1238363" y="2510500"/>
            <a:ext cx="6086475" cy="1600200"/>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1337"/>
        <p:cNvGrpSpPr/>
        <p:nvPr/>
      </p:nvGrpSpPr>
      <p:grpSpPr>
        <a:xfrm>
          <a:off x="0" y="0"/>
          <a:ext cx="0" cy="0"/>
          <a:chOff x="0" y="0"/>
          <a:chExt cx="0" cy="0"/>
        </a:xfrm>
      </p:grpSpPr>
      <p:sp>
        <p:nvSpPr>
          <p:cNvPr id="1338" name="Google Shape;1338;p90"/>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Selection Sort</a:t>
            </a:r>
            <a:endParaRPr/>
          </a:p>
        </p:txBody>
      </p:sp>
      <p:pic>
        <p:nvPicPr>
          <p:cNvPr id="1339" name="Google Shape;1339;p90"/>
          <p:cNvPicPr preferRelativeResize="0"/>
          <p:nvPr/>
        </p:nvPicPr>
        <p:blipFill>
          <a:blip r:embed="rId3">
            <a:alphaModFix/>
          </a:blip>
          <a:stretch>
            <a:fillRect/>
          </a:stretch>
        </p:blipFill>
        <p:spPr>
          <a:xfrm>
            <a:off x="1423988" y="778400"/>
            <a:ext cx="6296025" cy="3676650"/>
          </a:xfrm>
          <a:prstGeom prst="rect">
            <a:avLst/>
          </a:prstGeom>
          <a:noFill/>
          <a:ln>
            <a:noFill/>
          </a:ln>
        </p:spPr>
      </p:pic>
      <p:sp>
        <p:nvSpPr>
          <p:cNvPr id="1340" name="Google Shape;1340;p90"/>
          <p:cNvSpPr txBox="1">
            <a:spLocks noGrp="1"/>
          </p:cNvSpPr>
          <p:nvPr>
            <p:ph type="body" idx="1"/>
          </p:nvPr>
        </p:nvSpPr>
        <p:spPr>
          <a:xfrm>
            <a:off x="243000" y="4273775"/>
            <a:ext cx="8443800" cy="6651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Key ideas: Among unfixed items, find minimum in Θ(N) time and swap to the front. Subproblem has size N-1. Total runtime is N + N-1 + … + 1 = Θ(N</a:t>
            </a:r>
            <a:r>
              <a:rPr lang="en" baseline="30000"/>
              <a:t>2</a:t>
            </a:r>
            <a:r>
              <a:rPr lang="en"/>
              <a:t>).</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1344"/>
        <p:cNvGrpSpPr/>
        <p:nvPr/>
      </p:nvGrpSpPr>
      <p:grpSpPr>
        <a:xfrm>
          <a:off x="0" y="0"/>
          <a:ext cx="0" cy="0"/>
          <a:chOff x="0" y="0"/>
          <a:chExt cx="0" cy="0"/>
        </a:xfrm>
      </p:grpSpPr>
      <p:sp>
        <p:nvSpPr>
          <p:cNvPr id="1345" name="Google Shape;1345;p91"/>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Insertion Sort</a:t>
            </a:r>
            <a:endParaRPr/>
          </a:p>
        </p:txBody>
      </p:sp>
      <p:pic>
        <p:nvPicPr>
          <p:cNvPr id="1346" name="Google Shape;1346;p91"/>
          <p:cNvPicPr preferRelativeResize="0"/>
          <p:nvPr/>
        </p:nvPicPr>
        <p:blipFill>
          <a:blip r:embed="rId3">
            <a:alphaModFix/>
          </a:blip>
          <a:stretch>
            <a:fillRect/>
          </a:stretch>
        </p:blipFill>
        <p:spPr>
          <a:xfrm>
            <a:off x="1214425" y="700275"/>
            <a:ext cx="6715125" cy="3705225"/>
          </a:xfrm>
          <a:prstGeom prst="rect">
            <a:avLst/>
          </a:prstGeom>
          <a:noFill/>
          <a:ln>
            <a:noFill/>
          </a:ln>
        </p:spPr>
      </p:pic>
      <p:sp>
        <p:nvSpPr>
          <p:cNvPr id="1347" name="Google Shape;1347;p91"/>
          <p:cNvSpPr txBox="1">
            <a:spLocks noGrp="1"/>
          </p:cNvSpPr>
          <p:nvPr>
            <p:ph type="body" idx="1"/>
          </p:nvPr>
        </p:nvSpPr>
        <p:spPr>
          <a:xfrm>
            <a:off x="243000" y="4273775"/>
            <a:ext cx="8443800" cy="6651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Key ideas: For each item (starting at leftmost), swap leftwards until in place. For item k, takes Θ(k) worst case time. Runtime is 1 + 2 + … + N = Θ(N</a:t>
            </a:r>
            <a:r>
              <a:rPr lang="en" baseline="30000"/>
              <a:t>2</a:t>
            </a:r>
            <a:r>
              <a:rPr lang="en"/>
              <a:t>).</a:t>
            </a:r>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351"/>
        <p:cNvGrpSpPr/>
        <p:nvPr/>
      </p:nvGrpSpPr>
      <p:grpSpPr>
        <a:xfrm>
          <a:off x="0" y="0"/>
          <a:ext cx="0" cy="0"/>
          <a:chOff x="0" y="0"/>
          <a:chExt cx="0" cy="0"/>
        </a:xfrm>
      </p:grpSpPr>
      <p:sp>
        <p:nvSpPr>
          <p:cNvPr id="1352" name="Google Shape;1352;p92"/>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Selection and Insertion Sort Runtimes (Code Analysis)</a:t>
            </a:r>
            <a:endParaRPr/>
          </a:p>
        </p:txBody>
      </p:sp>
      <p:sp>
        <p:nvSpPr>
          <p:cNvPr id="1353" name="Google Shape;1353;p92"/>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Selection sort: Runtime is independent of input, always Θ(N</a:t>
            </a:r>
            <a:r>
              <a:rPr lang="en" baseline="30000"/>
              <a:t>2</a:t>
            </a:r>
            <a:r>
              <a:rPr lang="en"/>
              <a:t>).</a:t>
            </a:r>
            <a:endParaRPr/>
          </a:p>
          <a:p>
            <a:pPr marL="457200" lvl="0" indent="-342900" algn="l" rtl="0">
              <a:spcBef>
                <a:spcPts val="600"/>
              </a:spcBef>
              <a:spcAft>
                <a:spcPts val="0"/>
              </a:spcAft>
              <a:buSzPts val="1800"/>
              <a:buChar char="●"/>
            </a:pPr>
            <a:r>
              <a:rPr lang="en"/>
              <a:t>~N</a:t>
            </a:r>
            <a:r>
              <a:rPr lang="en" baseline="30000"/>
              <a:t>2</a:t>
            </a:r>
            <a:r>
              <a:rPr lang="en"/>
              <a:t>/2 compares and ~N</a:t>
            </a:r>
            <a:r>
              <a:rPr lang="en" baseline="30000"/>
              <a:t>2</a:t>
            </a:r>
            <a:r>
              <a:rPr lang="en"/>
              <a:t>/2 exchanges. Θ(N</a:t>
            </a:r>
            <a:r>
              <a:rPr lang="en" baseline="30000"/>
              <a:t>2</a:t>
            </a:r>
            <a:r>
              <a:rPr lang="en"/>
              <a:t>) runtime.</a:t>
            </a:r>
            <a:endParaRPr/>
          </a:p>
          <a:p>
            <a:pPr marL="0" lvl="0" indent="0" algn="l" rtl="0">
              <a:spcBef>
                <a:spcPts val="600"/>
              </a:spcBef>
              <a:spcAft>
                <a:spcPts val="0"/>
              </a:spcAft>
              <a:buNone/>
            </a:pPr>
            <a:endParaRPr/>
          </a:p>
          <a:p>
            <a:pPr marL="0" lvl="0" indent="0" algn="l" rtl="0">
              <a:spcBef>
                <a:spcPts val="600"/>
              </a:spcBef>
              <a:spcAft>
                <a:spcPts val="0"/>
              </a:spcAft>
              <a:buNone/>
            </a:pPr>
            <a:r>
              <a:rPr lang="en"/>
              <a:t>Insertion sort: Runtime is strongly dependent on input. Ω(N), O(N</a:t>
            </a:r>
            <a:r>
              <a:rPr lang="en" baseline="30000"/>
              <a:t>2</a:t>
            </a:r>
            <a:r>
              <a:rPr lang="en"/>
              <a:t>)</a:t>
            </a:r>
            <a:endParaRPr/>
          </a:p>
          <a:p>
            <a:pPr marL="457200" lvl="0" indent="-342900" algn="l" rtl="0">
              <a:spcBef>
                <a:spcPts val="600"/>
              </a:spcBef>
              <a:spcAft>
                <a:spcPts val="0"/>
              </a:spcAft>
              <a:buSzPts val="1800"/>
              <a:buChar char="●"/>
            </a:pPr>
            <a:r>
              <a:rPr lang="en"/>
              <a:t>Best case (sorted): ~N compares, 0 exchanges: Θ(N)</a:t>
            </a:r>
            <a:endParaRPr/>
          </a:p>
          <a:p>
            <a:pPr marL="457200" lvl="0" indent="-342900" algn="l" rtl="0">
              <a:spcBef>
                <a:spcPts val="0"/>
              </a:spcBef>
              <a:spcAft>
                <a:spcPts val="0"/>
              </a:spcAft>
              <a:buSzPts val="1800"/>
              <a:buChar char="●"/>
            </a:pPr>
            <a:r>
              <a:rPr lang="en"/>
              <a:t>Worst case (reverse sorted): ~N</a:t>
            </a:r>
            <a:r>
              <a:rPr lang="en" baseline="30000"/>
              <a:t>2</a:t>
            </a:r>
            <a:r>
              <a:rPr lang="en"/>
              <a:t>/2 compares, ~N</a:t>
            </a:r>
            <a:r>
              <a:rPr lang="en" baseline="30000"/>
              <a:t>2</a:t>
            </a:r>
            <a:r>
              <a:rPr lang="en"/>
              <a:t>/2 exchanges: Θ(N</a:t>
            </a:r>
            <a:r>
              <a:rPr lang="en" baseline="30000"/>
              <a:t>2</a:t>
            </a:r>
            <a:r>
              <a:rPr lang="en"/>
              <a:t>)</a:t>
            </a:r>
            <a:endParaRPr/>
          </a:p>
        </p:txBody>
      </p:sp>
      <p:pic>
        <p:nvPicPr>
          <p:cNvPr id="1354" name="Google Shape;1354;p92"/>
          <p:cNvPicPr preferRelativeResize="0"/>
          <p:nvPr/>
        </p:nvPicPr>
        <p:blipFill>
          <a:blip r:embed="rId3">
            <a:alphaModFix/>
          </a:blip>
          <a:stretch>
            <a:fillRect/>
          </a:stretch>
        </p:blipFill>
        <p:spPr>
          <a:xfrm>
            <a:off x="243000" y="3048575"/>
            <a:ext cx="4019550" cy="1981200"/>
          </a:xfrm>
          <a:prstGeom prst="rect">
            <a:avLst/>
          </a:prstGeom>
          <a:noFill/>
          <a:ln>
            <a:noFill/>
          </a:ln>
        </p:spPr>
      </p:pic>
      <p:pic>
        <p:nvPicPr>
          <p:cNvPr id="1355" name="Google Shape;1355;p92"/>
          <p:cNvPicPr preferRelativeResize="0"/>
          <p:nvPr/>
        </p:nvPicPr>
        <p:blipFill>
          <a:blip r:embed="rId4">
            <a:alphaModFix/>
          </a:blip>
          <a:stretch>
            <a:fillRect/>
          </a:stretch>
        </p:blipFill>
        <p:spPr>
          <a:xfrm>
            <a:off x="4867275" y="3162875"/>
            <a:ext cx="3819525" cy="1752600"/>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1359"/>
        <p:cNvGrpSpPr/>
        <p:nvPr/>
      </p:nvGrpSpPr>
      <p:grpSpPr>
        <a:xfrm>
          <a:off x="0" y="0"/>
          <a:ext cx="0" cy="0"/>
          <a:chOff x="0" y="0"/>
          <a:chExt cx="0" cy="0"/>
        </a:xfrm>
      </p:grpSpPr>
      <p:sp>
        <p:nvSpPr>
          <p:cNvPr id="1360" name="Google Shape;1360;p93"/>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Mergesort (Merge Method)</a:t>
            </a:r>
            <a:endParaRPr/>
          </a:p>
        </p:txBody>
      </p:sp>
      <p:pic>
        <p:nvPicPr>
          <p:cNvPr id="1361" name="Google Shape;1361;p93"/>
          <p:cNvPicPr preferRelativeResize="0"/>
          <p:nvPr/>
        </p:nvPicPr>
        <p:blipFill>
          <a:blip r:embed="rId3">
            <a:alphaModFix/>
          </a:blip>
          <a:stretch>
            <a:fillRect/>
          </a:stretch>
        </p:blipFill>
        <p:spPr>
          <a:xfrm>
            <a:off x="709613" y="1123650"/>
            <a:ext cx="7724775" cy="3457575"/>
          </a:xfrm>
          <a:prstGeom prst="rect">
            <a:avLst/>
          </a:prstGeom>
          <a:noFill/>
          <a:ln>
            <a:noFill/>
          </a:ln>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1365"/>
        <p:cNvGrpSpPr/>
        <p:nvPr/>
      </p:nvGrpSpPr>
      <p:grpSpPr>
        <a:xfrm>
          <a:off x="0" y="0"/>
          <a:ext cx="0" cy="0"/>
          <a:chOff x="0" y="0"/>
          <a:chExt cx="0" cy="0"/>
        </a:xfrm>
      </p:grpSpPr>
      <p:sp>
        <p:nvSpPr>
          <p:cNvPr id="1366" name="Google Shape;1366;p94"/>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Mergesort</a:t>
            </a:r>
            <a:endParaRPr/>
          </a:p>
        </p:txBody>
      </p:sp>
      <p:pic>
        <p:nvPicPr>
          <p:cNvPr id="1367" name="Google Shape;1367;p94"/>
          <p:cNvPicPr preferRelativeResize="0"/>
          <p:nvPr/>
        </p:nvPicPr>
        <p:blipFill>
          <a:blip r:embed="rId3">
            <a:alphaModFix/>
          </a:blip>
          <a:stretch>
            <a:fillRect/>
          </a:stretch>
        </p:blipFill>
        <p:spPr>
          <a:xfrm>
            <a:off x="452550" y="709825"/>
            <a:ext cx="7658100" cy="2495550"/>
          </a:xfrm>
          <a:prstGeom prst="rect">
            <a:avLst/>
          </a:prstGeom>
          <a:noFill/>
          <a:ln>
            <a:noFill/>
          </a:ln>
        </p:spPr>
      </p:pic>
      <p:sp>
        <p:nvSpPr>
          <p:cNvPr id="1368" name="Google Shape;1368;p94"/>
          <p:cNvSpPr txBox="1">
            <a:spLocks noGrp="1"/>
          </p:cNvSpPr>
          <p:nvPr>
            <p:ph type="body" idx="1"/>
          </p:nvPr>
        </p:nvSpPr>
        <p:spPr>
          <a:xfrm>
            <a:off x="243000" y="3816575"/>
            <a:ext cx="8443800" cy="6651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Key ideas: Each merge costs Θ(N) time and Θ(N) space, and generates two subproblems of size N/2. At level L of the sort, there are 2</a:t>
            </a:r>
            <a:r>
              <a:rPr lang="en" baseline="30000"/>
              <a:t>L</a:t>
            </a:r>
            <a:r>
              <a:rPr lang="en"/>
              <a:t> subproblems of size N/2</a:t>
            </a:r>
            <a:r>
              <a:rPr lang="en" baseline="30000"/>
              <a:t>L</a:t>
            </a:r>
            <a:r>
              <a:rPr lang="en"/>
              <a:t>. Since L = Θ(log N), runtime is Θ(N log N).</a:t>
            </a:r>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rgbClr val="C9DAF8"/>
        </a:solidFill>
        <a:effectLst/>
      </p:bgPr>
    </p:bg>
    <p:spTree>
      <p:nvGrpSpPr>
        <p:cNvPr id="1" name="Shape 1372"/>
        <p:cNvGrpSpPr/>
        <p:nvPr/>
      </p:nvGrpSpPr>
      <p:grpSpPr>
        <a:xfrm>
          <a:off x="0" y="0"/>
          <a:ext cx="0" cy="0"/>
          <a:chOff x="0" y="0"/>
          <a:chExt cx="0" cy="0"/>
        </a:xfrm>
      </p:grpSpPr>
      <p:sp>
        <p:nvSpPr>
          <p:cNvPr id="1373" name="Google Shape;1373;p95"/>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Interview Question</a:t>
            </a:r>
            <a:endParaRPr/>
          </a:p>
        </p:txBody>
      </p:sp>
      <p:pic>
        <p:nvPicPr>
          <p:cNvPr id="1374" name="Google Shape;1374;p95"/>
          <p:cNvPicPr preferRelativeResize="0"/>
          <p:nvPr/>
        </p:nvPicPr>
        <p:blipFill>
          <a:blip r:embed="rId3">
            <a:alphaModFix/>
          </a:blip>
          <a:stretch>
            <a:fillRect/>
          </a:stretch>
        </p:blipFill>
        <p:spPr>
          <a:xfrm>
            <a:off x="452550" y="709825"/>
            <a:ext cx="7658100" cy="2495550"/>
          </a:xfrm>
          <a:prstGeom prst="rect">
            <a:avLst/>
          </a:prstGeom>
          <a:noFill/>
          <a:ln>
            <a:noFill/>
          </a:ln>
        </p:spPr>
      </p:pic>
      <p:sp>
        <p:nvSpPr>
          <p:cNvPr id="1375" name="Google Shape;1375;p95"/>
          <p:cNvSpPr txBox="1">
            <a:spLocks noGrp="1"/>
          </p:cNvSpPr>
          <p:nvPr>
            <p:ph type="body" idx="1"/>
          </p:nvPr>
        </p:nvSpPr>
        <p:spPr>
          <a:xfrm>
            <a:off x="243000" y="3206975"/>
            <a:ext cx="8443800" cy="18036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How can the above mergesort implementation be improved?</a:t>
            </a:r>
            <a:endParaRPr/>
          </a:p>
          <a:p>
            <a:pPr marL="457200" lvl="0" indent="-342900" algn="l" rtl="0">
              <a:spcBef>
                <a:spcPts val="600"/>
              </a:spcBef>
              <a:spcAft>
                <a:spcPts val="0"/>
              </a:spcAft>
              <a:buSzPts val="1800"/>
              <a:buChar char="●"/>
            </a:pPr>
            <a:r>
              <a:rPr lang="en"/>
              <a:t>Try and avoid making copies a and b, by adding parameters to the merge routine. merge(input, 0, 5, 6, 10);</a:t>
            </a:r>
            <a:endParaRPr/>
          </a:p>
          <a:p>
            <a:pPr marL="457200" lvl="0" indent="-342900" algn="l" rtl="0">
              <a:spcBef>
                <a:spcPts val="0"/>
              </a:spcBef>
              <a:spcAft>
                <a:spcPts val="0"/>
              </a:spcAft>
              <a:buSzPts val="1800"/>
              <a:buChar char="●"/>
            </a:pPr>
            <a:r>
              <a:rPr lang="en"/>
              <a:t>Use a diferent for small N: Like maybe insertion sort. Industrial strength mergesorts, use insertion sort for N &lt; 15.</a:t>
            </a:r>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379"/>
        <p:cNvGrpSpPr/>
        <p:nvPr/>
      </p:nvGrpSpPr>
      <p:grpSpPr>
        <a:xfrm>
          <a:off x="0" y="0"/>
          <a:ext cx="0" cy="0"/>
          <a:chOff x="0" y="0"/>
          <a:chExt cx="0" cy="0"/>
        </a:xfrm>
      </p:grpSpPr>
      <p:sp>
        <p:nvSpPr>
          <p:cNvPr id="1380" name="Google Shape;1380;p96"/>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Interview Question</a:t>
            </a:r>
            <a:endParaRPr/>
          </a:p>
        </p:txBody>
      </p:sp>
      <p:pic>
        <p:nvPicPr>
          <p:cNvPr id="1381" name="Google Shape;1381;p96"/>
          <p:cNvPicPr preferRelativeResize="0"/>
          <p:nvPr/>
        </p:nvPicPr>
        <p:blipFill>
          <a:blip r:embed="rId3">
            <a:alphaModFix/>
          </a:blip>
          <a:stretch>
            <a:fillRect/>
          </a:stretch>
        </p:blipFill>
        <p:spPr>
          <a:xfrm>
            <a:off x="452550" y="709825"/>
            <a:ext cx="7658100" cy="2495550"/>
          </a:xfrm>
          <a:prstGeom prst="rect">
            <a:avLst/>
          </a:prstGeom>
          <a:noFill/>
          <a:ln>
            <a:noFill/>
          </a:ln>
        </p:spPr>
      </p:pic>
      <p:sp>
        <p:nvSpPr>
          <p:cNvPr id="1382" name="Google Shape;1382;p96"/>
          <p:cNvSpPr txBox="1">
            <a:spLocks noGrp="1"/>
          </p:cNvSpPr>
          <p:nvPr>
            <p:ph type="body" idx="1"/>
          </p:nvPr>
        </p:nvSpPr>
        <p:spPr>
          <a:xfrm>
            <a:off x="243000" y="3206975"/>
            <a:ext cx="8443800" cy="6651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How can the above mergesort implementation be improved?</a:t>
            </a:r>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1386"/>
        <p:cNvGrpSpPr/>
        <p:nvPr/>
      </p:nvGrpSpPr>
      <p:grpSpPr>
        <a:xfrm>
          <a:off x="0" y="0"/>
          <a:ext cx="0" cy="0"/>
          <a:chOff x="0" y="0"/>
          <a:chExt cx="0" cy="0"/>
        </a:xfrm>
      </p:grpSpPr>
      <p:sp>
        <p:nvSpPr>
          <p:cNvPr id="1387" name="Google Shape;1387;p97"/>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Heapsort With Separate PQ</a:t>
            </a:r>
            <a:endParaRPr/>
          </a:p>
        </p:txBody>
      </p:sp>
      <p:sp>
        <p:nvSpPr>
          <p:cNvPr id="1388" name="Google Shape;1388;p97"/>
          <p:cNvSpPr txBox="1">
            <a:spLocks noGrp="1"/>
          </p:cNvSpPr>
          <p:nvPr>
            <p:ph type="body" idx="1"/>
          </p:nvPr>
        </p:nvSpPr>
        <p:spPr>
          <a:xfrm>
            <a:off x="243000" y="4022400"/>
            <a:ext cx="8443800" cy="6879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Key ideas: Create a max heap of all items [Θ(N log N)], then delete max N times [Θ(log N) per delete]. Requires Θ(N) space.</a:t>
            </a:r>
            <a:endParaRPr/>
          </a:p>
        </p:txBody>
      </p:sp>
      <p:pic>
        <p:nvPicPr>
          <p:cNvPr id="1389" name="Google Shape;1389;p97"/>
          <p:cNvPicPr preferRelativeResize="0"/>
          <p:nvPr/>
        </p:nvPicPr>
        <p:blipFill>
          <a:blip r:embed="rId3">
            <a:alphaModFix/>
          </a:blip>
          <a:stretch>
            <a:fillRect/>
          </a:stretch>
        </p:blipFill>
        <p:spPr>
          <a:xfrm>
            <a:off x="912075" y="714425"/>
            <a:ext cx="7105650" cy="3181350"/>
          </a:xfrm>
          <a:prstGeom prst="rect">
            <a:avLst/>
          </a:prstGeom>
          <a:noFill/>
          <a:ln>
            <a:noFill/>
          </a:ln>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1393"/>
        <p:cNvGrpSpPr/>
        <p:nvPr/>
      </p:nvGrpSpPr>
      <p:grpSpPr>
        <a:xfrm>
          <a:off x="0" y="0"/>
          <a:ext cx="0" cy="0"/>
          <a:chOff x="0" y="0"/>
          <a:chExt cx="0" cy="0"/>
        </a:xfrm>
      </p:grpSpPr>
      <p:sp>
        <p:nvSpPr>
          <p:cNvPr id="1394" name="Google Shape;1394;p98"/>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In-Place Heapsort (with root in position 0).</a:t>
            </a:r>
            <a:endParaRPr/>
          </a:p>
        </p:txBody>
      </p:sp>
      <p:pic>
        <p:nvPicPr>
          <p:cNvPr id="1395" name="Google Shape;1395;p98"/>
          <p:cNvPicPr preferRelativeResize="0"/>
          <p:nvPr/>
        </p:nvPicPr>
        <p:blipFill>
          <a:blip r:embed="rId3">
            <a:alphaModFix/>
          </a:blip>
          <a:stretch>
            <a:fillRect/>
          </a:stretch>
        </p:blipFill>
        <p:spPr>
          <a:xfrm>
            <a:off x="959700" y="662175"/>
            <a:ext cx="7010400" cy="3743325"/>
          </a:xfrm>
          <a:prstGeom prst="rect">
            <a:avLst/>
          </a:prstGeom>
          <a:noFill/>
          <a:ln>
            <a:noFill/>
          </a:ln>
        </p:spPr>
      </p:pic>
      <p:sp>
        <p:nvSpPr>
          <p:cNvPr id="1396" name="Google Shape;1396;p98"/>
          <p:cNvSpPr txBox="1">
            <a:spLocks noGrp="1"/>
          </p:cNvSpPr>
          <p:nvPr>
            <p:ph type="body" idx="1"/>
          </p:nvPr>
        </p:nvSpPr>
        <p:spPr>
          <a:xfrm>
            <a:off x="243000" y="4426175"/>
            <a:ext cx="8443800" cy="6651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Key ideas: Max-Heapfiy [Θ(N)], then delete max N times [Θ(log N) per delete]</a:t>
            </a:r>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1400"/>
        <p:cNvGrpSpPr/>
        <p:nvPr/>
      </p:nvGrpSpPr>
      <p:grpSpPr>
        <a:xfrm>
          <a:off x="0" y="0"/>
          <a:ext cx="0" cy="0"/>
          <a:chOff x="0" y="0"/>
          <a:chExt cx="0" cy="0"/>
        </a:xfrm>
      </p:grpSpPr>
      <p:sp>
        <p:nvSpPr>
          <p:cNvPr id="1401" name="Google Shape;1401;p99"/>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In-Place Heapsort Sink Operation (with root in position 0).</a:t>
            </a:r>
            <a:endParaRPr/>
          </a:p>
        </p:txBody>
      </p:sp>
      <p:pic>
        <p:nvPicPr>
          <p:cNvPr id="1402" name="Google Shape;1402;p99"/>
          <p:cNvPicPr preferRelativeResize="0"/>
          <p:nvPr/>
        </p:nvPicPr>
        <p:blipFill>
          <a:blip r:embed="rId3">
            <a:alphaModFix/>
          </a:blip>
          <a:stretch>
            <a:fillRect/>
          </a:stretch>
        </p:blipFill>
        <p:spPr>
          <a:xfrm>
            <a:off x="1319950" y="737975"/>
            <a:ext cx="6504099" cy="4256750"/>
          </a:xfrm>
          <a:prstGeom prst="rect">
            <a:avLst/>
          </a:prstGeom>
          <a:noFill/>
          <a:ln>
            <a:noFill/>
          </a:ln>
        </p:spPr>
      </p:pic>
    </p:spTree>
  </p:cSld>
  <p:clrMapOvr>
    <a:masterClrMapping/>
  </p:clrMapOvr>
</p:sld>
</file>

<file path=ppt/theme/theme1.xml><?xml version="1.0" encoding="utf-8"?>
<a:theme xmlns:a="http://schemas.openxmlformats.org/drawingml/2006/main" name="Simple Lecture">
  <a:themeElements>
    <a:clrScheme name="Simple Light">
      <a:dk1>
        <a:srgbClr val="000000"/>
      </a:dk1>
      <a:lt1>
        <a:srgbClr val="FFFFFF"/>
      </a:lt1>
      <a:dk2>
        <a:srgbClr val="666666"/>
      </a:dk2>
      <a:lt2>
        <a:srgbClr val="C9DAF8"/>
      </a:lt2>
      <a:accent1>
        <a:srgbClr val="FCE5CD"/>
      </a:accent1>
      <a:accent2>
        <a:srgbClr val="CC4125"/>
      </a:accent2>
      <a:accent3>
        <a:srgbClr val="0B5394"/>
      </a:accent3>
      <a:accent4>
        <a:srgbClr val="BF9000"/>
      </a:accent4>
      <a:accent5>
        <a:srgbClr val="6AA84F"/>
      </a:accent5>
      <a:accent6>
        <a:srgbClr val="D9D9D9"/>
      </a:accent6>
      <a:hlink>
        <a:srgbClr val="4A86E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6269</Words>
  <Application>Microsoft Office PowerPoint</Application>
  <PresentationFormat>On-screen Show (16:9)</PresentationFormat>
  <Paragraphs>873</Paragraphs>
  <Slides>76</Slides>
  <Notes>76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76</vt:i4>
      </vt:variant>
    </vt:vector>
  </HeadingPairs>
  <TitlesOfParts>
    <vt:vector size="82" baseType="lpstr">
      <vt:lpstr>Roboto Medium</vt:lpstr>
      <vt:lpstr>Calibri</vt:lpstr>
      <vt:lpstr>Arial</vt:lpstr>
      <vt:lpstr>Roboto Light</vt:lpstr>
      <vt:lpstr>Roboto</vt:lpstr>
      <vt:lpstr>Simple Lecture</vt:lpstr>
      <vt:lpstr>Theoretical Bounds on Sorting</vt:lpstr>
      <vt:lpstr>Goal: How Hard is Sorting?</vt:lpstr>
      <vt:lpstr>Sorts Summary</vt:lpstr>
      <vt:lpstr>Sorting</vt:lpstr>
      <vt:lpstr>Comparison Sorts (Your Answer)</vt:lpstr>
      <vt:lpstr>Comparison Sorts (My Answer)</vt:lpstr>
      <vt:lpstr>Math Problem Warmup</vt:lpstr>
      <vt:lpstr>A Math Problem out of Nowhere</vt:lpstr>
      <vt:lpstr>A Math Problem out of Nowhere</vt:lpstr>
      <vt:lpstr>Another Math Problem</vt:lpstr>
      <vt:lpstr>Another Math Problem</vt:lpstr>
      <vt:lpstr>Last Math Problem</vt:lpstr>
      <vt:lpstr>Last Math Problem</vt:lpstr>
      <vt:lpstr>Omega and Theta: yellkey.com/general</vt:lpstr>
      <vt:lpstr>Omega and Theta</vt:lpstr>
      <vt:lpstr>Summary</vt:lpstr>
      <vt:lpstr>Simple Bounds for TUCS (the ultimate comparison sort)</vt:lpstr>
      <vt:lpstr>Sorting</vt:lpstr>
      <vt:lpstr>Sorting</vt:lpstr>
      <vt:lpstr>Sorting</vt:lpstr>
      <vt:lpstr>Sorting</vt:lpstr>
      <vt:lpstr>Coin Puzzles</vt:lpstr>
      <vt:lpstr>9 Coins</vt:lpstr>
      <vt:lpstr>9 Coins: Step 1</vt:lpstr>
      <vt:lpstr>9 Coins: Step 2 in Case 1</vt:lpstr>
      <vt:lpstr>9 Coins: Step 2 in Case 2</vt:lpstr>
      <vt:lpstr>9 Coins: Step 2 in Case 3</vt:lpstr>
      <vt:lpstr>9 Coins: Decision Tree</vt:lpstr>
      <vt:lpstr>9 Coins: Validation</vt:lpstr>
      <vt:lpstr>9 Coins: Decision Tree in Universe 1</vt:lpstr>
      <vt:lpstr>9 Coins: Validation</vt:lpstr>
      <vt:lpstr>9 Coins: Validation</vt:lpstr>
      <vt:lpstr>10 Coins</vt:lpstr>
      <vt:lpstr>10 Coins: Proof of impossibility</vt:lpstr>
      <vt:lpstr>10 Coins: Proof of impossibility</vt:lpstr>
      <vt:lpstr>10 Coins: Proof of impossibility</vt:lpstr>
      <vt:lpstr>More Coins</vt:lpstr>
      <vt:lpstr>12/13 Coins: yellkey.com/year</vt:lpstr>
      <vt:lpstr>12 Coins: Solution</vt:lpstr>
      <vt:lpstr>13 Coins: Proof of Impossibility</vt:lpstr>
      <vt:lpstr>13 Coins with a Reference</vt:lpstr>
      <vt:lpstr>13 Coins with only Identification</vt:lpstr>
      <vt:lpstr>12/13 Coins</vt:lpstr>
      <vt:lpstr>Universe Counting</vt:lpstr>
      <vt:lpstr>Puppy, Cat, Dog</vt:lpstr>
      <vt:lpstr>The Game of Puppy, Cat, Dog</vt:lpstr>
      <vt:lpstr>The Game of Puppy, Cat, Dog, yellkey.com/mother</vt:lpstr>
      <vt:lpstr>The Game of Puppy, Cat, Dog</vt:lpstr>
      <vt:lpstr>Puppy, Cat, Dog - Decision Tree</vt:lpstr>
      <vt:lpstr>Generalizing Puppy, Cat, Dog</vt:lpstr>
      <vt:lpstr>Generalizing Puppy, Cat, Dog</vt:lpstr>
      <vt:lpstr>Generalizing Puppy, Cat, Dog</vt:lpstr>
      <vt:lpstr>Reducing Puppy, Cat, Dog to Sorting</vt:lpstr>
      <vt:lpstr>Sorting, Coins, Puppies, Cats, and Dogs</vt:lpstr>
      <vt:lpstr>The Sorting Lower Bound</vt:lpstr>
      <vt:lpstr>Sorting Lower Bound</vt:lpstr>
      <vt:lpstr>Another Math Problem</vt:lpstr>
      <vt:lpstr>The Sorting Lower Bound (Finally)</vt:lpstr>
      <vt:lpstr>The Sorting Lower Bound (Finally)</vt:lpstr>
      <vt:lpstr>Optimality</vt:lpstr>
      <vt:lpstr>Next Time...</vt:lpstr>
      <vt:lpstr>Sounds of Sorting</vt:lpstr>
      <vt:lpstr>Sounds of Sorting Algorithms (of 125 items)</vt:lpstr>
      <vt:lpstr>Extra: Sorting Implementations</vt:lpstr>
      <vt:lpstr>A Note on Implementations</vt:lpstr>
      <vt:lpstr>Utility Methods For Sorting</vt:lpstr>
      <vt:lpstr>Selection Sort</vt:lpstr>
      <vt:lpstr>Insertion Sort</vt:lpstr>
      <vt:lpstr>Selection and Insertion Sort Runtimes (Code Analysis)</vt:lpstr>
      <vt:lpstr>Mergesort (Merge Method)</vt:lpstr>
      <vt:lpstr>Mergesort</vt:lpstr>
      <vt:lpstr>Interview Question</vt:lpstr>
      <vt:lpstr>Interview Question</vt:lpstr>
      <vt:lpstr>Heapsort With Separate PQ</vt:lpstr>
      <vt:lpstr>In-Place Heapsort (with root in position 0).</vt:lpstr>
      <vt:lpstr>In-Place Heapsort Sink Operation (with root in position 0).</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Vader Darth</cp:lastModifiedBy>
  <cp:revision>1</cp:revision>
  <dcterms:modified xsi:type="dcterms:W3CDTF">2025-08-10T01:51:43Z</dcterms:modified>
</cp:coreProperties>
</file>