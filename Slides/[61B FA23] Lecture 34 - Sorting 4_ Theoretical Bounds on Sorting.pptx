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Lst>
  <p:sldSz cy="5143500" cx="9144000"/>
  <p:notesSz cx="6858000" cy="9144000"/>
  <p:embeddedFontLst>
    <p:embeddedFont>
      <p:font typeface="Roboto Medium"/>
      <p:regular r:id="rId82"/>
      <p:bold r:id="rId83"/>
      <p:italic r:id="rId84"/>
      <p:boldItalic r:id="rId85"/>
    </p:embeddedFont>
    <p:embeddedFont>
      <p:font typeface="Roboto"/>
      <p:regular r:id="rId86"/>
      <p:bold r:id="rId87"/>
      <p:italic r:id="rId88"/>
      <p:boldItalic r:id="rId89"/>
    </p:embeddedFont>
    <p:embeddedFont>
      <p:font typeface="Roboto Light"/>
      <p:regular r:id="rId90"/>
      <p:bold r:id="rId91"/>
      <p:italic r:id="rId92"/>
      <p:boldItalic r:id="rId9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022CFBB-189D-4486-843A-8D9017E49761}">
  <a:tblStyle styleId="{C022CFBB-189D-4486-843A-8D9017E49761}" styleName="Table_0">
    <a:wholeTbl>
      <a:tcTxStyle>
        <a:font>
          <a:latin typeface="Arial"/>
          <a:ea typeface="Arial"/>
          <a:cs typeface="Arial"/>
        </a:font>
        <a:srgbClr val="000000"/>
      </a:tcTxStyle>
      <a:tcStyle>
        <a:tcBdr>
          <a:left>
            <a:ln cap="flat" cmpd="sng" w="9525">
              <a:solidFill>
                <a:srgbClr val="000000"/>
              </a:solidFill>
              <a:prstDash val="solid"/>
              <a:round/>
              <a:headEnd len="sm" w="sm" type="none"/>
              <a:tailEnd len="sm" w="sm" type="none"/>
            </a:ln>
          </a:left>
          <a:right>
            <a:ln cap="flat" cmpd="sng" w="9525">
              <a:solidFill>
                <a:srgbClr val="000000"/>
              </a:solidFill>
              <a:prstDash val="solid"/>
              <a:round/>
              <a:headEnd len="sm" w="sm" type="none"/>
              <a:tailEnd len="sm" w="sm" type="none"/>
            </a:ln>
          </a:right>
          <a:top>
            <a:ln cap="flat" cmpd="sng" w="9525">
              <a:solidFill>
                <a:srgbClr val="000000"/>
              </a:solidFill>
              <a:prstDash val="solid"/>
              <a:round/>
              <a:headEnd len="sm" w="sm" type="none"/>
              <a:tailEnd len="sm" w="sm" type="none"/>
            </a:ln>
          </a:top>
          <a:bottom>
            <a:ln cap="flat" cmpd="sng" w="9525">
              <a:solidFill>
                <a:srgbClr val="000000"/>
              </a:solidFill>
              <a:prstDash val="solid"/>
              <a:round/>
              <a:headEnd len="sm" w="sm" type="none"/>
              <a:tailEnd len="sm" w="sm" type="none"/>
            </a:ln>
          </a:bottom>
          <a:insideH>
            <a:ln cap="flat" cmpd="sng" w="9525">
              <a:solidFill>
                <a:srgbClr val="000000"/>
              </a:solidFill>
              <a:prstDash val="solid"/>
              <a:round/>
              <a:headEnd len="sm" w="sm" type="none"/>
              <a:tailEnd len="sm" w="sm" type="none"/>
            </a:ln>
          </a:insideH>
          <a:insideV>
            <a:ln cap="flat" cmpd="sng" w="9525">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font" Target="fonts/RobotoMedium-italic.fntdata"/><Relationship Id="rId83" Type="http://schemas.openxmlformats.org/officeDocument/2006/relationships/font" Target="fonts/RobotoMedium-bold.fntdata"/><Relationship Id="rId42" Type="http://schemas.openxmlformats.org/officeDocument/2006/relationships/slide" Target="slides/slide37.xml"/><Relationship Id="rId86" Type="http://schemas.openxmlformats.org/officeDocument/2006/relationships/font" Target="fonts/Roboto-regular.fntdata"/><Relationship Id="rId41" Type="http://schemas.openxmlformats.org/officeDocument/2006/relationships/slide" Target="slides/slide36.xml"/><Relationship Id="rId85" Type="http://schemas.openxmlformats.org/officeDocument/2006/relationships/font" Target="fonts/RobotoMedium-boldItalic.fntdata"/><Relationship Id="rId44" Type="http://schemas.openxmlformats.org/officeDocument/2006/relationships/slide" Target="slides/slide39.xml"/><Relationship Id="rId88" Type="http://schemas.openxmlformats.org/officeDocument/2006/relationships/font" Target="fonts/Roboto-italic.fntdata"/><Relationship Id="rId43" Type="http://schemas.openxmlformats.org/officeDocument/2006/relationships/slide" Target="slides/slide38.xml"/><Relationship Id="rId87" Type="http://schemas.openxmlformats.org/officeDocument/2006/relationships/font" Target="fonts/Roboto-bold.fntdata"/><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font" Target="fonts/Roboto-boldItalic.fntdata"/><Relationship Id="rId80" Type="http://schemas.openxmlformats.org/officeDocument/2006/relationships/slide" Target="slides/slide75.xml"/><Relationship Id="rId82" Type="http://schemas.openxmlformats.org/officeDocument/2006/relationships/font" Target="fonts/RobotoMedium-regular.fntdata"/><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91" Type="http://schemas.openxmlformats.org/officeDocument/2006/relationships/font" Target="fonts/RobotoLight-bold.fntdata"/><Relationship Id="rId90" Type="http://schemas.openxmlformats.org/officeDocument/2006/relationships/font" Target="fonts/RobotoLight-regular.fntdata"/><Relationship Id="rId93" Type="http://schemas.openxmlformats.org/officeDocument/2006/relationships/font" Target="fonts/RobotoLight-boldItalic.fntdata"/><Relationship Id="rId92" Type="http://schemas.openxmlformats.org/officeDocument/2006/relationships/font" Target="fonts/RobotoLight-italic.fntdata"/><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www.angelfire.com/blog/ronz/Articles/999SortingNetworksReferen.html" TargetMode="Externa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google.com/forms/d/e/1FAIpQLSc7OfRNg4Vj8G3h4tuA6VL30gnD8gjWbThyRjiDWmAR2B8f1g/viewform"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www.clker.com/cliparts/6/9/3/2/1197122947130754155jean_victor_balin_Cubes.svg.hi.png" TargetMode="External"/><Relationship Id="rId3" Type="http://schemas.openxmlformats.org/officeDocument/2006/relationships/hyperlink" Target="http://www.clipartbest.com/cliparts/94T/bAe/94TbAejig.png" TargetMode="External"/><Relationship Id="rId4" Type="http://schemas.openxmlformats.org/officeDocument/2006/relationships/hyperlink" Target="http://assets.nydailynews.com/polopoly_fs/1.1245686!/img/httpImage/image.jpg_gen/derivatives/article_970/afp-cute-puppy.jpg" TargetMode="External"/><Relationship Id="rId5" Type="http://schemas.openxmlformats.org/officeDocument/2006/relationships/hyperlink" Target="http://animalia-life.com/cat.html" TargetMode="External"/><Relationship Id="rId6" Type="http://schemas.openxmlformats.org/officeDocument/2006/relationships/hyperlink" Target="http://animalia-life.com/dogs.html"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google.com/forms/d/e/1FAIpQLSfwjP1UTp38YwotowMSNR169vrEFAPzckl_v83omPc2tf_9KQ/viewform"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22e11717095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22e11717095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http://www.angelfire.com/blog/ronz/Articles/999SortingNetworksReferen.html</a:t>
            </a:r>
            <a:r>
              <a:rPr lang="en"/>
              <a:t>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22e11717095_0_14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22e11717095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12b7767647_0_2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12b7767647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12b7767647_0_33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12b7767647_0_3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299dddd6748_0_111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299dddd6748_0_1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299dddd6748_0_110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299dddd6748_0_1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22e11717095_0_17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22e11717095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12b7767647_0_7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12b7767647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12b7767647_0_22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12b7767647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12b7767647_0_18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12b7767647_0_1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12b7767647_0_19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12b7767647_0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1d7ce38570_0_4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1d7ce38570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1d7ce38570_0_7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1d7ce38570_0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1d7ce38570_0_5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1d7ce38570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https://docs.google.com/forms/d/e/1FAIpQLSc7OfRNg4Vj8G3h4tuA6VL30gnD8gjWbThyRjiDWmAR2B8f1g/viewform</a:t>
            </a:r>
            <a:r>
              <a:rPr lang="en"/>
              <a:t>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1d7ce38570_0_6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1d7ce38570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1d7ce38570_0_2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1d7ce38570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22e11717095_0_17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22e11717095_0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890bee631_0_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890bee63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465b5392c_3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g465b5392c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465e07215_012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465e07215_01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1d7ce38570_0_9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1d7ce38570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22e11717095_0_18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22e11717095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29818a7d3f5_0_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29818a7d3f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260692eea24_0_1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260692eea24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260692eea24_0_2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260692eea24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260692eea24_0_4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62" name="Google Shape;362;g260692eea24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260692eea24_0_4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72" name="Google Shape;372;g260692eea24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260692eea24_0_5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260692eea24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g299dddd6748_0_49: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16" name="Google Shape;416;g299dddd6748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g299dddd6748_0_73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04" name="Google Shape;504;g299dddd6748_0_7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299dddd6748_0_16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299dddd6748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299dddd6748_0_48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79" name="Google Shape;779;g299dddd6748_0_4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g299dddd6748_0_3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95" name="Google Shape;795;g299dddd6748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g299dddd6748_0_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12" name="Google Shape;812;g299dddd67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299dddd6748_0_76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299dddd6748_0_7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g299dddd6748_0_80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80" name="Google Shape;880;g299dddd6748_0_8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g299dddd6748_0_85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07" name="Google Shape;907;g299dddd6748_0_8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99dddd6748_0_87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99dddd6748_0_8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g299dddd6748_0_91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45" name="Google Shape;945;g299dddd6748_0_9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g299dddd6748_0_95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76" name="Google Shape;976;g299dddd6748_0_9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5" name="Shape 1005"/>
        <p:cNvGrpSpPr/>
        <p:nvPr/>
      </p:nvGrpSpPr>
      <p:grpSpPr>
        <a:xfrm>
          <a:off x="0" y="0"/>
          <a:ext cx="0" cy="0"/>
          <a:chOff x="0" y="0"/>
          <a:chExt cx="0" cy="0"/>
        </a:xfrm>
      </p:grpSpPr>
      <p:sp>
        <p:nvSpPr>
          <p:cNvPr id="1006" name="Google Shape;1006;g299dddd6748_0_98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07" name="Google Shape;1007;g299dddd6748_0_9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6" name="Shape 1036"/>
        <p:cNvGrpSpPr/>
        <p:nvPr/>
      </p:nvGrpSpPr>
      <p:grpSpPr>
        <a:xfrm>
          <a:off x="0" y="0"/>
          <a:ext cx="0" cy="0"/>
          <a:chOff x="0" y="0"/>
          <a:chExt cx="0" cy="0"/>
        </a:xfrm>
      </p:grpSpPr>
      <p:sp>
        <p:nvSpPr>
          <p:cNvPr id="1037" name="Google Shape;1037;g299dddd6748_0_101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38" name="Google Shape;1038;g299dddd6748_0_10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299dddd6748_0_89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71" name="Google Shape;1071;g299dddd6748_0_8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0" name="Shape 1090"/>
        <p:cNvGrpSpPr/>
        <p:nvPr/>
      </p:nvGrpSpPr>
      <p:grpSpPr>
        <a:xfrm>
          <a:off x="0" y="0"/>
          <a:ext cx="0" cy="0"/>
          <a:chOff x="0" y="0"/>
          <a:chExt cx="0" cy="0"/>
        </a:xfrm>
      </p:grpSpPr>
      <p:sp>
        <p:nvSpPr>
          <p:cNvPr id="1091" name="Google Shape;1091;g299dddd6748_0_107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092" name="Google Shape;1092;g299dddd6748_0_10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299dddd6748_0_114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299dddd6748_0_1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8" name="Shape 1128"/>
        <p:cNvGrpSpPr/>
        <p:nvPr/>
      </p:nvGrpSpPr>
      <p:grpSpPr>
        <a:xfrm>
          <a:off x="0" y="0"/>
          <a:ext cx="0" cy="0"/>
          <a:chOff x="0" y="0"/>
          <a:chExt cx="0" cy="0"/>
        </a:xfrm>
      </p:grpSpPr>
      <p:sp>
        <p:nvSpPr>
          <p:cNvPr id="1129" name="Google Shape;1129;g2fc129f8d_0_14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30" name="Google Shape;1130;g2fc129f8d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Cubes: </a:t>
            </a:r>
            <a:r>
              <a:rPr lang="en" u="sng">
                <a:solidFill>
                  <a:schemeClr val="hlink"/>
                </a:solidFill>
                <a:hlinkClick r:id="rId2"/>
              </a:rPr>
              <a:t>http://www.clker.com/cliparts/6/9/3/2/1197122947130754155jean_victor_balin_Cubes.svg.hi.png</a:t>
            </a:r>
            <a:r>
              <a:rPr lang="en"/>
              <a:t> </a:t>
            </a:r>
            <a:endParaRPr/>
          </a:p>
          <a:p>
            <a:pPr indent="0" lvl="0" marL="0" rtl="0" algn="l">
              <a:spcBef>
                <a:spcPts val="0"/>
              </a:spcBef>
              <a:spcAft>
                <a:spcPts val="0"/>
              </a:spcAft>
              <a:buClr>
                <a:schemeClr val="dk1"/>
              </a:buClr>
              <a:buSzPts val="1100"/>
              <a:buFont typeface="Arial"/>
              <a:buNone/>
            </a:pPr>
            <a:r>
              <a:rPr lang="en"/>
              <a:t>Scale: </a:t>
            </a:r>
            <a:r>
              <a:rPr lang="en" u="sng">
                <a:solidFill>
                  <a:schemeClr val="hlink"/>
                </a:solidFill>
                <a:hlinkClick r:id="rId3"/>
              </a:rPr>
              <a:t>http://www.clipartbest.com/cliparts/94T/bAe/94TbAejig.png</a:t>
            </a:r>
            <a:r>
              <a:rPr lang="en"/>
              <a:t> </a:t>
            </a:r>
            <a:endParaRPr/>
          </a:p>
          <a:p>
            <a:pPr indent="0" lvl="0" marL="0" rtl="0" algn="l">
              <a:spcBef>
                <a:spcPts val="0"/>
              </a:spcBef>
              <a:spcAft>
                <a:spcPts val="0"/>
              </a:spcAft>
              <a:buClr>
                <a:schemeClr val="dk1"/>
              </a:buClr>
              <a:buSzPts val="1100"/>
              <a:buFont typeface="Arial"/>
              <a:buNone/>
            </a:pPr>
            <a:r>
              <a:rPr lang="en"/>
              <a:t>Puppy:</a:t>
            </a:r>
            <a:r>
              <a:rPr lang="en" u="sng">
                <a:solidFill>
                  <a:schemeClr val="hlink"/>
                </a:solidFill>
                <a:hlinkClick r:id="rId4"/>
              </a:rPr>
              <a:t>http://assets.nydailynews.com/polopoly_fs/1.1245686!/img/httpImage/image.jpg_gen/derivatives/article_970/afp-cute-puppy.jpg</a:t>
            </a:r>
            <a:r>
              <a:rPr lang="en"/>
              <a:t> </a:t>
            </a:r>
            <a:endParaRPr/>
          </a:p>
          <a:p>
            <a:pPr indent="0" lvl="0" marL="0" rtl="0" algn="l">
              <a:spcBef>
                <a:spcPts val="0"/>
              </a:spcBef>
              <a:spcAft>
                <a:spcPts val="0"/>
              </a:spcAft>
              <a:buClr>
                <a:schemeClr val="dk1"/>
              </a:buClr>
              <a:buSzPts val="1100"/>
              <a:buFont typeface="Arial"/>
              <a:buNone/>
            </a:pPr>
            <a:r>
              <a:rPr lang="en"/>
              <a:t>Cat: </a:t>
            </a:r>
            <a:r>
              <a:rPr lang="en" u="sng">
                <a:solidFill>
                  <a:schemeClr val="hlink"/>
                </a:solidFill>
                <a:hlinkClick r:id="rId5"/>
              </a:rPr>
              <a:t>http://animalia-life.com/cat.html</a:t>
            </a:r>
            <a:r>
              <a:rPr lang="en"/>
              <a:t> </a:t>
            </a:r>
            <a:endParaRPr/>
          </a:p>
          <a:p>
            <a:pPr indent="0" lvl="0" marL="0" rtl="0" algn="l">
              <a:spcBef>
                <a:spcPts val="0"/>
              </a:spcBef>
              <a:spcAft>
                <a:spcPts val="0"/>
              </a:spcAft>
              <a:buNone/>
            </a:pPr>
            <a:r>
              <a:rPr lang="en"/>
              <a:t>Dog: </a:t>
            </a:r>
            <a:r>
              <a:rPr lang="en" u="sng">
                <a:solidFill>
                  <a:schemeClr val="hlink"/>
                </a:solidFill>
                <a:hlinkClick r:id="rId6"/>
              </a:rPr>
              <a:t>http://animalia-life.com/dogs.html</a:t>
            </a:r>
            <a:r>
              <a:rPr lang="en"/>
              <a:t>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769a55e71_0_8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769a55e71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https://docs.google.com/forms/d/e/1FAIpQLSfwjP1UTp38YwotowMSNR169vrEFAPzckl_v83omPc2tf_9KQ/viewform</a:t>
            </a:r>
            <a:r>
              <a:rPr lang="en"/>
              <a:t>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769a55e71_0_131: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47" name="Google Shape;1147;g769a55e71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1" name="Shape 1151"/>
        <p:cNvGrpSpPr/>
        <p:nvPr/>
      </p:nvGrpSpPr>
      <p:grpSpPr>
        <a:xfrm>
          <a:off x="0" y="0"/>
          <a:ext cx="0" cy="0"/>
          <a:chOff x="0" y="0"/>
          <a:chExt cx="0" cy="0"/>
        </a:xfrm>
      </p:grpSpPr>
      <p:sp>
        <p:nvSpPr>
          <p:cNvPr id="1152" name="Google Shape;1152;g769a55e71_0_3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53" name="Google Shape;1153;g769a55e71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g12b7767647_0_377: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00" name="Google Shape;1200;g12b7767647_0_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12b7767647_0_38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06" name="Google Shape;1206;g12b7767647_0_3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769a55e71_0_5: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769a55e71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g299dddd6748_0_114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18" name="Google Shape;1218;g299dddd6748_0_1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2" name="Shape 1222"/>
        <p:cNvGrpSpPr/>
        <p:nvPr/>
      </p:nvGrpSpPr>
      <p:grpSpPr>
        <a:xfrm>
          <a:off x="0" y="0"/>
          <a:ext cx="0" cy="0"/>
          <a:chOff x="0" y="0"/>
          <a:chExt cx="0" cy="0"/>
        </a:xfrm>
      </p:grpSpPr>
      <p:sp>
        <p:nvSpPr>
          <p:cNvPr id="1223" name="Google Shape;1223;g2fc129f8d_0_33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24" name="Google Shape;1224;g2fc129f8d_0_3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22e11717095_0_19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22e11717095_0_1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6" name="Shape 1236"/>
        <p:cNvGrpSpPr/>
        <p:nvPr/>
      </p:nvGrpSpPr>
      <p:grpSpPr>
        <a:xfrm>
          <a:off x="0" y="0"/>
          <a:ext cx="0" cy="0"/>
          <a:chOff x="0" y="0"/>
          <a:chExt cx="0" cy="0"/>
        </a:xfrm>
      </p:grpSpPr>
      <p:sp>
        <p:nvSpPr>
          <p:cNvPr id="1237" name="Google Shape;1237;g12b7767647_0_40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38" name="Google Shape;1238;g12b7767647_0_4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1" name="Shape 1251"/>
        <p:cNvGrpSpPr/>
        <p:nvPr/>
      </p:nvGrpSpPr>
      <p:grpSpPr>
        <a:xfrm>
          <a:off x="0" y="0"/>
          <a:ext cx="0" cy="0"/>
          <a:chOff x="0" y="0"/>
          <a:chExt cx="0" cy="0"/>
        </a:xfrm>
      </p:grpSpPr>
      <p:sp>
        <p:nvSpPr>
          <p:cNvPr id="1252" name="Google Shape;1252;g12b7767647_0_42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53" name="Google Shape;1253;g12b7767647_0_4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0" name="Shape 1260"/>
        <p:cNvGrpSpPr/>
        <p:nvPr/>
      </p:nvGrpSpPr>
      <p:grpSpPr>
        <a:xfrm>
          <a:off x="0" y="0"/>
          <a:ext cx="0" cy="0"/>
          <a:chOff x="0" y="0"/>
          <a:chExt cx="0" cy="0"/>
        </a:xfrm>
      </p:grpSpPr>
      <p:sp>
        <p:nvSpPr>
          <p:cNvPr id="1261" name="Google Shape;1261;g12b7767647_0_12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62" name="Google Shape;1262;g12b7767647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g12b7767647_0_17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76" name="Google Shape;1276;g12b7767647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8" name="Shape 1288"/>
        <p:cNvGrpSpPr/>
        <p:nvPr/>
      </p:nvGrpSpPr>
      <p:grpSpPr>
        <a:xfrm>
          <a:off x="0" y="0"/>
          <a:ext cx="0" cy="0"/>
          <a:chOff x="0" y="0"/>
          <a:chExt cx="0" cy="0"/>
        </a:xfrm>
      </p:grpSpPr>
      <p:sp>
        <p:nvSpPr>
          <p:cNvPr id="1289" name="Google Shape;1289;g2fc129f8d_0_7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90" name="Google Shape;1290;g2fc129f8d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12b7767647_0_34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97" name="Google Shape;1297;g12b7767647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1" name="Shape 1301"/>
        <p:cNvGrpSpPr/>
        <p:nvPr/>
      </p:nvGrpSpPr>
      <p:grpSpPr>
        <a:xfrm>
          <a:off x="0" y="0"/>
          <a:ext cx="0" cy="0"/>
          <a:chOff x="0" y="0"/>
          <a:chExt cx="0" cy="0"/>
        </a:xfrm>
      </p:grpSpPr>
      <p:sp>
        <p:nvSpPr>
          <p:cNvPr id="1302" name="Google Shape;1302;g22e11717095_0_20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03" name="Google Shape;1303;g22e11717095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8" name="Shape 1308"/>
        <p:cNvGrpSpPr/>
        <p:nvPr/>
      </p:nvGrpSpPr>
      <p:grpSpPr>
        <a:xfrm>
          <a:off x="0" y="0"/>
          <a:ext cx="0" cy="0"/>
          <a:chOff x="0" y="0"/>
          <a:chExt cx="0" cy="0"/>
        </a:xfrm>
      </p:grpSpPr>
      <p:sp>
        <p:nvSpPr>
          <p:cNvPr id="1309" name="Google Shape;1309;g5679cbc1d0_0_6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10" name="Google Shape;1310;g5679cbc1d0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4" name="Shape 1314"/>
        <p:cNvGrpSpPr/>
        <p:nvPr/>
      </p:nvGrpSpPr>
      <p:grpSpPr>
        <a:xfrm>
          <a:off x="0" y="0"/>
          <a:ext cx="0" cy="0"/>
          <a:chOff x="0" y="0"/>
          <a:chExt cx="0" cy="0"/>
        </a:xfrm>
      </p:grpSpPr>
      <p:sp>
        <p:nvSpPr>
          <p:cNvPr id="1315" name="Google Shape;1315;g25f6b67fe8e_0_1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16" name="Google Shape;1316;g25f6b67fe8e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1" name="Shape 1321"/>
        <p:cNvGrpSpPr/>
        <p:nvPr/>
      </p:nvGrpSpPr>
      <p:grpSpPr>
        <a:xfrm>
          <a:off x="0" y="0"/>
          <a:ext cx="0" cy="0"/>
          <a:chOff x="0" y="0"/>
          <a:chExt cx="0" cy="0"/>
        </a:xfrm>
      </p:grpSpPr>
      <p:sp>
        <p:nvSpPr>
          <p:cNvPr id="1322" name="Google Shape;1322;g12b7767647_0_24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23" name="Google Shape;1323;g12b7767647_0_2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g12b7767647_0_24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29" name="Google Shape;1329;g12b7767647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4" name="Shape 1334"/>
        <p:cNvGrpSpPr/>
        <p:nvPr/>
      </p:nvGrpSpPr>
      <p:grpSpPr>
        <a:xfrm>
          <a:off x="0" y="0"/>
          <a:ext cx="0" cy="0"/>
          <a:chOff x="0" y="0"/>
          <a:chExt cx="0" cy="0"/>
        </a:xfrm>
      </p:grpSpPr>
      <p:sp>
        <p:nvSpPr>
          <p:cNvPr id="1335" name="Google Shape;1335;g12b7767647_0_25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36" name="Google Shape;1336;g12b7767647_0_2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1" name="Shape 1341"/>
        <p:cNvGrpSpPr/>
        <p:nvPr/>
      </p:nvGrpSpPr>
      <p:grpSpPr>
        <a:xfrm>
          <a:off x="0" y="0"/>
          <a:ext cx="0" cy="0"/>
          <a:chOff x="0" y="0"/>
          <a:chExt cx="0" cy="0"/>
        </a:xfrm>
      </p:grpSpPr>
      <p:sp>
        <p:nvSpPr>
          <p:cNvPr id="1342" name="Google Shape;1342;g12b7767647_0_26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43" name="Google Shape;1343;g12b7767647_0_2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g12b7767647_0_26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50" name="Google Shape;1350;g12b7767647_0_2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g12b7767647_0_273: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58" name="Google Shape;1358;g12b7767647_0_2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2" name="Shape 1362"/>
        <p:cNvGrpSpPr/>
        <p:nvPr/>
      </p:nvGrpSpPr>
      <p:grpSpPr>
        <a:xfrm>
          <a:off x="0" y="0"/>
          <a:ext cx="0" cy="0"/>
          <a:chOff x="0" y="0"/>
          <a:chExt cx="0" cy="0"/>
        </a:xfrm>
      </p:grpSpPr>
      <p:sp>
        <p:nvSpPr>
          <p:cNvPr id="1363" name="Google Shape;1363;g12b7767647_0_27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64" name="Google Shape;1364;g12b7767647_0_2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9" name="Shape 1369"/>
        <p:cNvGrpSpPr/>
        <p:nvPr/>
      </p:nvGrpSpPr>
      <p:grpSpPr>
        <a:xfrm>
          <a:off x="0" y="0"/>
          <a:ext cx="0" cy="0"/>
          <a:chOff x="0" y="0"/>
          <a:chExt cx="0" cy="0"/>
        </a:xfrm>
      </p:grpSpPr>
      <p:sp>
        <p:nvSpPr>
          <p:cNvPr id="1370" name="Google Shape;1370;g12b7767647_0_284: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71" name="Google Shape;1371;g12b7767647_0_2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6" name="Shape 1376"/>
        <p:cNvGrpSpPr/>
        <p:nvPr/>
      </p:nvGrpSpPr>
      <p:grpSpPr>
        <a:xfrm>
          <a:off x="0" y="0"/>
          <a:ext cx="0" cy="0"/>
          <a:chOff x="0" y="0"/>
          <a:chExt cx="0" cy="0"/>
        </a:xfrm>
      </p:grpSpPr>
      <p:sp>
        <p:nvSpPr>
          <p:cNvPr id="1377" name="Google Shape;1377;g12b7767647_0_290: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78" name="Google Shape;1378;g12b7767647_0_2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3" name="Shape 1383"/>
        <p:cNvGrpSpPr/>
        <p:nvPr/>
      </p:nvGrpSpPr>
      <p:grpSpPr>
        <a:xfrm>
          <a:off x="0" y="0"/>
          <a:ext cx="0" cy="0"/>
          <a:chOff x="0" y="0"/>
          <a:chExt cx="0" cy="0"/>
        </a:xfrm>
      </p:grpSpPr>
      <p:sp>
        <p:nvSpPr>
          <p:cNvPr id="1384" name="Google Shape;1384;g12b7767647_0_296: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85" name="Google Shape;1385;g12b7767647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0" name="Shape 1390"/>
        <p:cNvGrpSpPr/>
        <p:nvPr/>
      </p:nvGrpSpPr>
      <p:grpSpPr>
        <a:xfrm>
          <a:off x="0" y="0"/>
          <a:ext cx="0" cy="0"/>
          <a:chOff x="0" y="0"/>
          <a:chExt cx="0" cy="0"/>
        </a:xfrm>
      </p:grpSpPr>
      <p:sp>
        <p:nvSpPr>
          <p:cNvPr id="1391" name="Google Shape;1391;g12b7767647_0_302: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92" name="Google Shape;1392;g12b7767647_0_3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7" name="Shape 1397"/>
        <p:cNvGrpSpPr/>
        <p:nvPr/>
      </p:nvGrpSpPr>
      <p:grpSpPr>
        <a:xfrm>
          <a:off x="0" y="0"/>
          <a:ext cx="0" cy="0"/>
          <a:chOff x="0" y="0"/>
          <a:chExt cx="0" cy="0"/>
        </a:xfrm>
      </p:grpSpPr>
      <p:sp>
        <p:nvSpPr>
          <p:cNvPr id="1398" name="Google Shape;1398;g12b7767647_0_308:notes"/>
          <p:cNvSpPr/>
          <p:nvPr>
            <p:ph idx="2" type="sldImg"/>
          </p:nvPr>
        </p:nvSpPr>
        <p:spPr>
          <a:xfrm>
            <a:off x="381187"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99" name="Google Shape;1399;g12b7767647_0_3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p:txBody>
      </p:sp>
      <p:sp>
        <p:nvSpPr>
          <p:cNvPr id="12" name="Google Shape;12;p2"/>
          <p:cNvSpPr txBox="1"/>
          <p:nvPr>
            <p:ph idx="1" type="subTitle"/>
          </p:nvPr>
        </p:nvSpPr>
        <p:spPr>
          <a:xfrm>
            <a:off x="311700" y="2834125"/>
            <a:ext cx="8520600" cy="15363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p:txBody>
      </p:sp>
      <p:sp>
        <p:nvSpPr>
          <p:cNvPr id="13" name="Google Shape;13;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 name="Shape 14"/>
        <p:cNvGrpSpPr/>
        <p:nvPr/>
      </p:nvGrpSpPr>
      <p:grpSpPr>
        <a:xfrm>
          <a:off x="0" y="0"/>
          <a:ext cx="0" cy="0"/>
          <a:chOff x="0" y="0"/>
          <a:chExt cx="0" cy="0"/>
        </a:xfrm>
      </p:grpSpPr>
      <p:sp>
        <p:nvSpPr>
          <p:cNvPr id="15" name="Google Shape;15;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6" name="Google Shape;16;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7" name="Google Shape;17;p3"/>
          <p:cNvSpPr txBox="1"/>
          <p:nvPr>
            <p:ph idx="1" type="subTitle"/>
          </p:nvPr>
        </p:nvSpPr>
        <p:spPr>
          <a:xfrm>
            <a:off x="311700" y="2834125"/>
            <a:ext cx="8520600" cy="15363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gn="ctr">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0" name="Google Shape;20;p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21" name="Google Shape;21;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22" name="Google Shape;22;p4"/>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oadmap">
  <p:cSld name="SECTION_TITLE_AND_DESCRIPTION_1">
    <p:spTree>
      <p:nvGrpSpPr>
        <p:cNvPr id="23" name="Shape 23"/>
        <p:cNvGrpSpPr/>
        <p:nvPr/>
      </p:nvGrpSpPr>
      <p:grpSpPr>
        <a:xfrm>
          <a:off x="0" y="0"/>
          <a:ext cx="0" cy="0"/>
          <a:chOff x="0" y="0"/>
          <a:chExt cx="0" cy="0"/>
        </a:xfrm>
      </p:grpSpPr>
      <p:sp>
        <p:nvSpPr>
          <p:cNvPr id="24" name="Google Shape;24;p5"/>
          <p:cNvSpPr/>
          <p:nvPr/>
        </p:nvSpPr>
        <p:spPr>
          <a:xfrm>
            <a:off x="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6" name="Google Shape;26;p5"/>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indent="-342900" lvl="1" marL="9144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indent="-342900" lvl="2" marL="13716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indent="-342900" lvl="3" marL="18288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indent="-342900" lvl="4" marL="22860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indent="-342900" lvl="5" marL="27432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indent="-342900" lvl="6" marL="32004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indent="-342900" lvl="7" marL="36576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indent="-342900" lvl="8" marL="41148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p:txBody>
      </p:sp>
      <p:pic>
        <p:nvPicPr>
          <p:cNvPr id="27" name="Google Shape;27;p5"/>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28" name="Google Shape;28;p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p:txBody>
      </p:sp>
      <p:cxnSp>
        <p:nvCxnSpPr>
          <p:cNvPr id="29" name="Google Shape;29;p5"/>
          <p:cNvCxnSpPr/>
          <p:nvPr/>
        </p:nvCxnSpPr>
        <p:spPr>
          <a:xfrm>
            <a:off x="266975" y="4049175"/>
            <a:ext cx="4038000" cy="0"/>
          </a:xfrm>
          <a:prstGeom prst="straightConnector1">
            <a:avLst/>
          </a:prstGeom>
          <a:noFill/>
          <a:ln cap="flat" cmpd="sng" w="19050">
            <a:solidFill>
              <a:srgbClr val="BF9000"/>
            </a:solidFill>
            <a:prstDash val="solid"/>
            <a:round/>
            <a:headEnd len="med" w="med" type="none"/>
            <a:tailEnd len="med" w="med" type="none"/>
          </a:ln>
        </p:spPr>
      </p:cxnSp>
      <p:sp>
        <p:nvSpPr>
          <p:cNvPr id="30" name="Google Shape;30;p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mo slide right">
  <p:cSld name="SECTION_TITLE_AND_DESCRIPTION_2">
    <p:spTree>
      <p:nvGrpSpPr>
        <p:cNvPr id="31" name="Shape 31"/>
        <p:cNvGrpSpPr/>
        <p:nvPr/>
      </p:nvGrpSpPr>
      <p:grpSpPr>
        <a:xfrm>
          <a:off x="0" y="0"/>
          <a:ext cx="0" cy="0"/>
          <a:chOff x="0" y="0"/>
          <a:chExt cx="0" cy="0"/>
        </a:xfrm>
      </p:grpSpPr>
      <p:sp>
        <p:nvSpPr>
          <p:cNvPr id="32" name="Google Shape;32;p6"/>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6"/>
          <p:cNvSpPr txBox="1"/>
          <p:nvPr>
            <p:ph idx="1" type="subTitle"/>
          </p:nvPr>
        </p:nvSpPr>
        <p:spPr>
          <a:xfrm>
            <a:off x="4835400" y="4198275"/>
            <a:ext cx="4045200" cy="465000"/>
          </a:xfrm>
          <a:prstGeom prst="rect">
            <a:avLst/>
          </a:prstGeom>
        </p:spPr>
        <p:txBody>
          <a:bodyPr anchorCtr="0" anchor="t" bIns="91425" lIns="91425" spcFirstLastPara="1" rIns="91425" wrap="square" tIns="91425">
            <a:noAutofit/>
          </a:bodyPr>
          <a:lstStyle>
            <a:lvl1pPr lvl="0" rtl="0" algn="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34" name="Google Shape;34;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35" name="Google Shape;35;p6"/>
          <p:cNvSpPr txBox="1"/>
          <p:nvPr/>
        </p:nvSpPr>
        <p:spPr>
          <a:xfrm>
            <a:off x="6365900" y="3724875"/>
            <a:ext cx="2591100" cy="5694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b="1" lang="en" sz="2500">
                <a:solidFill>
                  <a:schemeClr val="accent3"/>
                </a:solidFill>
                <a:latin typeface="Roboto"/>
                <a:ea typeface="Roboto"/>
                <a:cs typeface="Roboto"/>
                <a:sym typeface="Roboto"/>
              </a:rPr>
              <a:t>Demo Slides</a:t>
            </a:r>
            <a:endParaRPr b="1" sz="2500">
              <a:solidFill>
                <a:schemeClr val="accent3"/>
              </a:solidFill>
              <a:latin typeface="Roboto"/>
              <a:ea typeface="Roboto"/>
              <a:cs typeface="Roboto"/>
              <a:sym typeface="Roboto"/>
            </a:endParaRPr>
          </a:p>
        </p:txBody>
      </p:sp>
      <p:sp>
        <p:nvSpPr>
          <p:cNvPr id="36" name="Google Shape;36;p6"/>
          <p:cNvSpPr txBox="1"/>
          <p:nvPr>
            <p:ph idx="2" type="body"/>
          </p:nvPr>
        </p:nvSpPr>
        <p:spPr>
          <a:xfrm>
            <a:off x="95425" y="402200"/>
            <a:ext cx="43023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37" name="Google Shape;37;p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38" name="Google Shape;38;p6"/>
          <p:cNvCxnSpPr/>
          <p:nvPr/>
        </p:nvCxnSpPr>
        <p:spPr>
          <a:xfrm>
            <a:off x="95431" y="402210"/>
            <a:ext cx="43521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mo slide left">
  <p:cSld name="SECTION_TITLE_AND_DESCRIPTION_2_1">
    <p:spTree>
      <p:nvGrpSpPr>
        <p:cNvPr id="39" name="Shape 39"/>
        <p:cNvGrpSpPr/>
        <p:nvPr/>
      </p:nvGrpSpPr>
      <p:grpSpPr>
        <a:xfrm>
          <a:off x="0" y="0"/>
          <a:ext cx="0" cy="0"/>
          <a:chOff x="0" y="0"/>
          <a:chExt cx="0" cy="0"/>
        </a:xfrm>
      </p:grpSpPr>
      <p:sp>
        <p:nvSpPr>
          <p:cNvPr id="40" name="Google Shape;40;p7"/>
          <p:cNvSpPr/>
          <p:nvPr/>
        </p:nvSpPr>
        <p:spPr>
          <a:xfrm>
            <a:off x="0" y="-125"/>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7"/>
          <p:cNvSpPr txBox="1"/>
          <p:nvPr>
            <p:ph idx="1" type="subTitle"/>
          </p:nvPr>
        </p:nvSpPr>
        <p:spPr>
          <a:xfrm>
            <a:off x="225450" y="3943400"/>
            <a:ext cx="4045200" cy="4650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42" name="Google Shape;42;p7"/>
          <p:cNvSpPr txBox="1"/>
          <p:nvPr/>
        </p:nvSpPr>
        <p:spPr>
          <a:xfrm>
            <a:off x="208440" y="3420075"/>
            <a:ext cx="4121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Demo Slides</a:t>
            </a:r>
            <a:endParaRPr b="1" sz="2500">
              <a:solidFill>
                <a:schemeClr val="accent3"/>
              </a:solidFill>
              <a:latin typeface="Roboto"/>
              <a:ea typeface="Roboto"/>
              <a:cs typeface="Roboto"/>
              <a:sym typeface="Roboto"/>
            </a:endParaRPr>
          </a:p>
        </p:txBody>
      </p:sp>
      <p:sp>
        <p:nvSpPr>
          <p:cNvPr id="43" name="Google Shape;43;p7"/>
          <p:cNvSpPr txBox="1"/>
          <p:nvPr>
            <p:ph idx="2" type="body"/>
          </p:nvPr>
        </p:nvSpPr>
        <p:spPr>
          <a:xfrm>
            <a:off x="4667425" y="402200"/>
            <a:ext cx="43023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44" name="Google Shape;44;p7"/>
          <p:cNvSpPr txBox="1"/>
          <p:nvPr>
            <p:ph type="title"/>
          </p:nvPr>
        </p:nvSpPr>
        <p:spPr>
          <a:xfrm>
            <a:off x="4572000" y="0"/>
            <a:ext cx="45720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45" name="Google Shape;45;p7"/>
          <p:cNvCxnSpPr/>
          <p:nvPr/>
        </p:nvCxnSpPr>
        <p:spPr>
          <a:xfrm>
            <a:off x="4667431" y="402210"/>
            <a:ext cx="4352100" cy="0"/>
          </a:xfrm>
          <a:prstGeom prst="straightConnector1">
            <a:avLst/>
          </a:prstGeom>
          <a:noFill/>
          <a:ln cap="flat" cmpd="sng" w="19050">
            <a:solidFill>
              <a:srgbClr val="BF9000"/>
            </a:solidFill>
            <a:prstDash val="solid"/>
            <a:round/>
            <a:headEnd len="med" w="med" type="none"/>
            <a:tailEnd len="med" w="med" type="none"/>
          </a:ln>
        </p:spPr>
      </p:cxnSp>
      <p:pic>
        <p:nvPicPr>
          <p:cNvPr id="46" name="Google Shape;46;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7" name="Google Shape;47;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p:cSld name="SECTION_TITLE_AND_DESCRIPTION_2_1_1">
    <p:spTree>
      <p:nvGrpSpPr>
        <p:cNvPr id="48" name="Shape 48"/>
        <p:cNvGrpSpPr/>
        <p:nvPr/>
      </p:nvGrpSpPr>
      <p:grpSpPr>
        <a:xfrm>
          <a:off x="0" y="0"/>
          <a:ext cx="0" cy="0"/>
          <a:chOff x="0" y="0"/>
          <a:chExt cx="0" cy="0"/>
        </a:xfrm>
      </p:grpSpPr>
      <p:sp>
        <p:nvSpPr>
          <p:cNvPr id="49" name="Google Shape;49;p8"/>
          <p:cNvSpPr/>
          <p:nvPr/>
        </p:nvSpPr>
        <p:spPr>
          <a:xfrm>
            <a:off x="0" y="-125"/>
            <a:ext cx="27765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8"/>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51" name="Google Shape;51;p8"/>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52" name="Google Shape;52;p8"/>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53" name="Google Shape;53;p8"/>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54" name="Google Shape;54;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5" name="Google Shape;55;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56" name="Google Shape;56;p8"/>
          <p:cNvSpPr txBox="1"/>
          <p:nvPr/>
        </p:nvSpPr>
        <p:spPr>
          <a:xfrm>
            <a:off x="208440" y="3420075"/>
            <a:ext cx="4121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Demo</a:t>
            </a:r>
            <a:endParaRPr b="1" sz="2500">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1">
  <p:cSld name="SECTION_TITLE_AND_DESCRIPTION_2_1_1_2">
    <p:spTree>
      <p:nvGrpSpPr>
        <p:cNvPr id="57" name="Shape 57"/>
        <p:cNvGrpSpPr/>
        <p:nvPr/>
      </p:nvGrpSpPr>
      <p:grpSpPr>
        <a:xfrm>
          <a:off x="0" y="0"/>
          <a:ext cx="0" cy="0"/>
          <a:chOff x="0" y="0"/>
          <a:chExt cx="0" cy="0"/>
        </a:xfrm>
      </p:grpSpPr>
      <p:sp>
        <p:nvSpPr>
          <p:cNvPr id="58" name="Google Shape;58;p9"/>
          <p:cNvSpPr/>
          <p:nvPr/>
        </p:nvSpPr>
        <p:spPr>
          <a:xfrm>
            <a:off x="0" y="-125"/>
            <a:ext cx="27765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9"/>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60" name="Google Shape;60;p9"/>
          <p:cNvSpPr txBox="1"/>
          <p:nvPr/>
        </p:nvSpPr>
        <p:spPr>
          <a:xfrm>
            <a:off x="208445" y="3420075"/>
            <a:ext cx="18738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Compare</a:t>
            </a:r>
            <a:endParaRPr b="1" sz="2500">
              <a:solidFill>
                <a:schemeClr val="accent3"/>
              </a:solidFill>
              <a:latin typeface="Roboto"/>
              <a:ea typeface="Roboto"/>
              <a:cs typeface="Roboto"/>
              <a:sym typeface="Roboto"/>
            </a:endParaRPr>
          </a:p>
        </p:txBody>
      </p:sp>
      <p:sp>
        <p:nvSpPr>
          <p:cNvPr id="61" name="Google Shape;61;p9"/>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62" name="Google Shape;62;p9"/>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63" name="Google Shape;63;p9"/>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64" name="Google Shape;64;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5" name="Google Shape;65;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ide Puzzle Solution">
  <p:cSld name="SECTION_TITLE_AND_DESCRIPTION_2_1_1_1">
    <p:spTree>
      <p:nvGrpSpPr>
        <p:cNvPr id="66" name="Shape 66"/>
        <p:cNvGrpSpPr/>
        <p:nvPr/>
      </p:nvGrpSpPr>
      <p:grpSpPr>
        <a:xfrm>
          <a:off x="0" y="0"/>
          <a:ext cx="0" cy="0"/>
          <a:chOff x="0" y="0"/>
          <a:chExt cx="0" cy="0"/>
        </a:xfrm>
      </p:grpSpPr>
      <p:sp>
        <p:nvSpPr>
          <p:cNvPr id="67" name="Google Shape;67;p10"/>
          <p:cNvSpPr/>
          <p:nvPr/>
        </p:nvSpPr>
        <p:spPr>
          <a:xfrm>
            <a:off x="0" y="-125"/>
            <a:ext cx="2776500" cy="5143500"/>
          </a:xfrm>
          <a:prstGeom prst="rect">
            <a:avLst/>
          </a:prstGeom>
          <a:solidFill>
            <a:srgbClr val="F3F3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10"/>
          <p:cNvSpPr txBox="1"/>
          <p:nvPr>
            <p:ph idx="1" type="subTitle"/>
          </p:nvPr>
        </p:nvSpPr>
        <p:spPr>
          <a:xfrm>
            <a:off x="225450" y="3943400"/>
            <a:ext cx="2450400" cy="7197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69" name="Google Shape;69;p10"/>
          <p:cNvSpPr txBox="1"/>
          <p:nvPr/>
        </p:nvSpPr>
        <p:spPr>
          <a:xfrm>
            <a:off x="208445" y="3420075"/>
            <a:ext cx="18738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2500">
                <a:solidFill>
                  <a:schemeClr val="accent3"/>
                </a:solidFill>
                <a:latin typeface="Roboto"/>
                <a:ea typeface="Roboto"/>
                <a:cs typeface="Roboto"/>
                <a:sym typeface="Roboto"/>
              </a:rPr>
              <a:t>Solution</a:t>
            </a:r>
            <a:endParaRPr b="1" sz="2500">
              <a:solidFill>
                <a:schemeClr val="accent3"/>
              </a:solidFill>
              <a:latin typeface="Roboto"/>
              <a:ea typeface="Roboto"/>
              <a:cs typeface="Roboto"/>
              <a:sym typeface="Roboto"/>
            </a:endParaRPr>
          </a:p>
        </p:txBody>
      </p:sp>
      <p:sp>
        <p:nvSpPr>
          <p:cNvPr id="70" name="Google Shape;70;p10"/>
          <p:cNvSpPr txBox="1"/>
          <p:nvPr>
            <p:ph idx="2" type="body"/>
          </p:nvPr>
        </p:nvSpPr>
        <p:spPr>
          <a:xfrm>
            <a:off x="2937350" y="402200"/>
            <a:ext cx="6032400" cy="42612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71" name="Google Shape;71;p10"/>
          <p:cNvSpPr txBox="1"/>
          <p:nvPr>
            <p:ph type="title"/>
          </p:nvPr>
        </p:nvSpPr>
        <p:spPr>
          <a:xfrm>
            <a:off x="2776500" y="0"/>
            <a:ext cx="63675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cxnSp>
        <p:nvCxnSpPr>
          <p:cNvPr id="72" name="Google Shape;72;p10"/>
          <p:cNvCxnSpPr/>
          <p:nvPr/>
        </p:nvCxnSpPr>
        <p:spPr>
          <a:xfrm>
            <a:off x="2937350" y="402200"/>
            <a:ext cx="6082200" cy="0"/>
          </a:xfrm>
          <a:prstGeom prst="straightConnector1">
            <a:avLst/>
          </a:prstGeom>
          <a:noFill/>
          <a:ln cap="flat" cmpd="sng" w="19050">
            <a:solidFill>
              <a:srgbClr val="BF9000"/>
            </a:solidFill>
            <a:prstDash val="solid"/>
            <a:round/>
            <a:headEnd len="med" w="med" type="none"/>
            <a:tailEnd len="med" w="med" type="none"/>
          </a:ln>
        </p:spPr>
      </p:cxnSp>
      <p:pic>
        <p:nvPicPr>
          <p:cNvPr id="73" name="Google Shape;73;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4" name="Google Shape;74;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5" name="Shape 75"/>
        <p:cNvGrpSpPr/>
        <p:nvPr/>
      </p:nvGrpSpPr>
      <p:grpSpPr>
        <a:xfrm>
          <a:off x="0" y="0"/>
          <a:ext cx="0" cy="0"/>
          <a:chOff x="0" y="0"/>
          <a:chExt cx="0" cy="0"/>
        </a:xfrm>
      </p:grpSpPr>
      <p:sp>
        <p:nvSpPr>
          <p:cNvPr id="76" name="Google Shape;76;p1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7" name="Google Shape;77;p11"/>
          <p:cNvSpPr txBox="1"/>
          <p:nvPr>
            <p:ph idx="1" type="body"/>
          </p:nvPr>
        </p:nvSpPr>
        <p:spPr>
          <a:xfrm>
            <a:off x="481238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
        <p:nvSpPr>
          <p:cNvPr id="78" name="Google Shape;78;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79" name="Google Shape;79;p11"/>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
        <p:nvSpPr>
          <p:cNvPr id="80" name="Google Shape;80;p11"/>
          <p:cNvSpPr txBox="1"/>
          <p:nvPr>
            <p:ph idx="2" type="body"/>
          </p:nvPr>
        </p:nvSpPr>
        <p:spPr>
          <a:xfrm>
            <a:off x="9543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1" name="Shape 81"/>
        <p:cNvGrpSpPr/>
        <p:nvPr/>
      </p:nvGrpSpPr>
      <p:grpSpPr>
        <a:xfrm>
          <a:off x="0" y="0"/>
          <a:ext cx="0" cy="0"/>
          <a:chOff x="0" y="0"/>
          <a:chExt cx="0" cy="0"/>
        </a:xfrm>
      </p:grpSpPr>
      <p:sp>
        <p:nvSpPr>
          <p:cNvPr id="82" name="Google Shape;82;p1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3" name="Google Shape;83;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84" name="Google Shape;84;p12"/>
          <p:cNvCxnSpPr/>
          <p:nvPr/>
        </p:nvCxnSpPr>
        <p:spPr>
          <a:xfrm>
            <a:off x="95431" y="402210"/>
            <a:ext cx="89097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5" name="Shape 85"/>
        <p:cNvGrpSpPr/>
        <p:nvPr/>
      </p:nvGrpSpPr>
      <p:grpSpPr>
        <a:xfrm>
          <a:off x="0" y="0"/>
          <a:ext cx="0" cy="0"/>
          <a:chOff x="0" y="0"/>
          <a:chExt cx="0" cy="0"/>
        </a:xfrm>
      </p:grpSpPr>
      <p:sp>
        <p:nvSpPr>
          <p:cNvPr id="86" name="Google Shape;86;p13"/>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87" name="Google Shape;87;p1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TITLE_AND_DESCRIPTION_3">
  <p:cSld name="SECTION_TITLE_AND_DESCRIPTION_3">
    <p:spTree>
      <p:nvGrpSpPr>
        <p:cNvPr id="88" name="Shape 88"/>
        <p:cNvGrpSpPr/>
        <p:nvPr/>
      </p:nvGrpSpPr>
      <p:grpSpPr>
        <a:xfrm>
          <a:off x="0" y="0"/>
          <a:ext cx="0" cy="0"/>
          <a:chOff x="0" y="0"/>
          <a:chExt cx="0" cy="0"/>
        </a:xfrm>
      </p:grpSpPr>
      <p:sp>
        <p:nvSpPr>
          <p:cNvPr id="89" name="Google Shape;89;p14"/>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14"/>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600"/>
              <a:buNone/>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91" name="Google Shape;91;p14"/>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92" name="Google Shape;92;p1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93" name="Google Shape;93;p14"/>
          <p:cNvSpPr txBox="1"/>
          <p:nvPr>
            <p:ph idx="2" type="body"/>
          </p:nvPr>
        </p:nvSpPr>
        <p:spPr>
          <a:xfrm>
            <a:off x="4812381" y="402206"/>
            <a:ext cx="3999900" cy="34164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4" name="Shape 94"/>
        <p:cNvGrpSpPr/>
        <p:nvPr/>
      </p:nvGrpSpPr>
      <p:grpSpPr>
        <a:xfrm>
          <a:off x="0" y="0"/>
          <a:ext cx="0" cy="0"/>
          <a:chOff x="0" y="0"/>
          <a:chExt cx="0" cy="0"/>
        </a:xfrm>
      </p:grpSpPr>
      <p:sp>
        <p:nvSpPr>
          <p:cNvPr id="95" name="Google Shape;95;p1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96" name="Google Shape;96;p15"/>
          <p:cNvSpPr txBox="1"/>
          <p:nvPr>
            <p:ph type="title"/>
          </p:nvPr>
        </p:nvSpPr>
        <p:spPr>
          <a:xfrm>
            <a:off x="95425" y="4382350"/>
            <a:ext cx="84252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cxnSp>
        <p:nvCxnSpPr>
          <p:cNvPr id="97" name="Google Shape;97;p15"/>
          <p:cNvCxnSpPr/>
          <p:nvPr/>
        </p:nvCxnSpPr>
        <p:spPr>
          <a:xfrm>
            <a:off x="168250" y="4288400"/>
            <a:ext cx="8757000" cy="0"/>
          </a:xfrm>
          <a:prstGeom prst="straightConnector1">
            <a:avLst/>
          </a:prstGeom>
          <a:noFill/>
          <a:ln cap="flat" cmpd="sng" w="19050">
            <a:solidFill>
              <a:srgbClr val="BF9000"/>
            </a:solidFill>
            <a:prstDash val="solid"/>
            <a:round/>
            <a:headEnd len="med" w="med" type="none"/>
            <a:tailEnd len="med" w="med"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8" name="Shape 98"/>
        <p:cNvGrpSpPr/>
        <p:nvPr/>
      </p:nvGrpSpPr>
      <p:grpSpPr>
        <a:xfrm>
          <a:off x="0" y="0"/>
          <a:ext cx="0" cy="0"/>
          <a:chOff x="0" y="0"/>
          <a:chExt cx="0" cy="0"/>
        </a:xfrm>
      </p:grpSpPr>
      <p:sp>
        <p:nvSpPr>
          <p:cNvPr id="99" name="Google Shape;99;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dark">
  <p:cSld name="BLANK_1">
    <p:bg>
      <p:bgPr>
        <a:solidFill>
          <a:schemeClr val="dk1"/>
        </a:solidFill>
      </p:bgPr>
    </p:bg>
    <p:spTree>
      <p:nvGrpSpPr>
        <p:cNvPr id="100" name="Shape 100"/>
        <p:cNvGrpSpPr/>
        <p:nvPr/>
      </p:nvGrpSpPr>
      <p:grpSpPr>
        <a:xfrm>
          <a:off x="0" y="0"/>
          <a:ext cx="0" cy="0"/>
          <a:chOff x="0" y="0"/>
          <a:chExt cx="0" cy="0"/>
        </a:xfrm>
      </p:grpSpPr>
      <p:sp>
        <p:nvSpPr>
          <p:cNvPr id="101" name="Google Shape;101;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rlude">
  <p:cSld name="SECTION_TITLE_AND_DESCRIPTION_1_3">
    <p:spTree>
      <p:nvGrpSpPr>
        <p:cNvPr id="102" name="Shape 102"/>
        <p:cNvGrpSpPr/>
        <p:nvPr/>
      </p:nvGrpSpPr>
      <p:grpSpPr>
        <a:xfrm>
          <a:off x="0" y="0"/>
          <a:ext cx="0" cy="0"/>
          <a:chOff x="0" y="0"/>
          <a:chExt cx="0" cy="0"/>
        </a:xfrm>
      </p:grpSpPr>
      <p:sp>
        <p:nvSpPr>
          <p:cNvPr id="103" name="Google Shape;103;p18"/>
          <p:cNvSpPr/>
          <p:nvPr/>
        </p:nvSpPr>
        <p:spPr>
          <a:xfrm>
            <a:off x="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8"/>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SzPts val="1800"/>
              <a:buFont typeface="Roboto Light"/>
              <a:buChar char="•"/>
              <a:defRPr>
                <a:latin typeface="Roboto Light"/>
                <a:ea typeface="Roboto Light"/>
                <a:cs typeface="Roboto Light"/>
                <a:sym typeface="Roboto Light"/>
              </a:defRPr>
            </a:lvl1pPr>
            <a:lvl2pPr indent="-342900" lvl="1" marL="914400" rtl="0">
              <a:spcBef>
                <a:spcPts val="600"/>
              </a:spcBef>
              <a:spcAft>
                <a:spcPts val="0"/>
              </a:spcAft>
              <a:buSzPts val="1800"/>
              <a:buFont typeface="Roboto Light"/>
              <a:buChar char="•"/>
              <a:defRPr>
                <a:latin typeface="Roboto Light"/>
                <a:ea typeface="Roboto Light"/>
                <a:cs typeface="Roboto Light"/>
                <a:sym typeface="Roboto Light"/>
              </a:defRPr>
            </a:lvl2pPr>
            <a:lvl3pPr indent="-342900" lvl="2" marL="1371600" rtl="0">
              <a:spcBef>
                <a:spcPts val="600"/>
              </a:spcBef>
              <a:spcAft>
                <a:spcPts val="0"/>
              </a:spcAft>
              <a:buSzPts val="1800"/>
              <a:buFont typeface="Roboto Light"/>
              <a:buChar char="•"/>
              <a:defRPr>
                <a:latin typeface="Roboto Light"/>
                <a:ea typeface="Roboto Light"/>
                <a:cs typeface="Roboto Light"/>
                <a:sym typeface="Roboto Light"/>
              </a:defRPr>
            </a:lvl3pPr>
            <a:lvl4pPr indent="-342900" lvl="3" marL="1828800" rtl="0">
              <a:spcBef>
                <a:spcPts val="600"/>
              </a:spcBef>
              <a:spcAft>
                <a:spcPts val="0"/>
              </a:spcAft>
              <a:buSzPts val="1800"/>
              <a:buFont typeface="Roboto Light"/>
              <a:buChar char="•"/>
              <a:defRPr>
                <a:latin typeface="Roboto Light"/>
                <a:ea typeface="Roboto Light"/>
                <a:cs typeface="Roboto Light"/>
                <a:sym typeface="Roboto Light"/>
              </a:defRPr>
            </a:lvl4pPr>
            <a:lvl5pPr indent="-342900" lvl="4" marL="2286000" rtl="0">
              <a:spcBef>
                <a:spcPts val="600"/>
              </a:spcBef>
              <a:spcAft>
                <a:spcPts val="0"/>
              </a:spcAft>
              <a:buSzPts val="1800"/>
              <a:buFont typeface="Roboto Light"/>
              <a:buChar char="•"/>
              <a:defRPr>
                <a:latin typeface="Roboto Light"/>
                <a:ea typeface="Roboto Light"/>
                <a:cs typeface="Roboto Light"/>
                <a:sym typeface="Roboto Light"/>
              </a:defRPr>
            </a:lvl5pPr>
            <a:lvl6pPr indent="-342900" lvl="5" marL="2743200" rtl="0">
              <a:spcBef>
                <a:spcPts val="600"/>
              </a:spcBef>
              <a:spcAft>
                <a:spcPts val="0"/>
              </a:spcAft>
              <a:buSzPts val="1800"/>
              <a:buFont typeface="Roboto Light"/>
              <a:buChar char="•"/>
              <a:defRPr>
                <a:latin typeface="Roboto Light"/>
                <a:ea typeface="Roboto Light"/>
                <a:cs typeface="Roboto Light"/>
                <a:sym typeface="Roboto Light"/>
              </a:defRPr>
            </a:lvl6pPr>
            <a:lvl7pPr indent="-342900" lvl="6" marL="3200400" rtl="0">
              <a:spcBef>
                <a:spcPts val="600"/>
              </a:spcBef>
              <a:spcAft>
                <a:spcPts val="0"/>
              </a:spcAft>
              <a:buSzPts val="1800"/>
              <a:buFont typeface="Roboto Light"/>
              <a:buChar char="•"/>
              <a:defRPr>
                <a:latin typeface="Roboto Light"/>
                <a:ea typeface="Roboto Light"/>
                <a:cs typeface="Roboto Light"/>
                <a:sym typeface="Roboto Light"/>
              </a:defRPr>
            </a:lvl7pPr>
            <a:lvl8pPr indent="-342900" lvl="7" marL="3657600" rtl="0">
              <a:spcBef>
                <a:spcPts val="600"/>
              </a:spcBef>
              <a:spcAft>
                <a:spcPts val="0"/>
              </a:spcAft>
              <a:buSzPts val="1800"/>
              <a:buFont typeface="Roboto Light"/>
              <a:buChar char="•"/>
              <a:defRPr>
                <a:latin typeface="Roboto Light"/>
                <a:ea typeface="Roboto Light"/>
                <a:cs typeface="Roboto Light"/>
                <a:sym typeface="Roboto Light"/>
              </a:defRPr>
            </a:lvl8pPr>
            <a:lvl9pPr indent="-342900" lvl="8" marL="4114800" rtl="0">
              <a:spcBef>
                <a:spcPts val="600"/>
              </a:spcBef>
              <a:spcAft>
                <a:spcPts val="0"/>
              </a:spcAft>
              <a:buSzPts val="1800"/>
              <a:buFont typeface="Roboto Light"/>
              <a:buChar char="•"/>
              <a:defRPr>
                <a:latin typeface="Roboto Light"/>
                <a:ea typeface="Roboto Light"/>
                <a:cs typeface="Roboto Light"/>
                <a:sym typeface="Roboto Light"/>
              </a:defRPr>
            </a:lvl9pPr>
          </a:lstStyle>
          <a:p/>
        </p:txBody>
      </p:sp>
      <p:pic>
        <p:nvPicPr>
          <p:cNvPr id="106" name="Google Shape;106;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7" name="Google Shape;107;p18"/>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p:txBody>
      </p:sp>
      <p:cxnSp>
        <p:nvCxnSpPr>
          <p:cNvPr id="108" name="Google Shape;108;p18"/>
          <p:cNvCxnSpPr/>
          <p:nvPr/>
        </p:nvCxnSpPr>
        <p:spPr>
          <a:xfrm>
            <a:off x="266975" y="4049175"/>
            <a:ext cx="4038000" cy="0"/>
          </a:xfrm>
          <a:prstGeom prst="straightConnector1">
            <a:avLst/>
          </a:prstGeom>
          <a:noFill/>
          <a:ln cap="flat" cmpd="sng" w="19050">
            <a:solidFill>
              <a:srgbClr val="BF9000"/>
            </a:solidFill>
            <a:prstDash val="solid"/>
            <a:round/>
            <a:headEnd len="med" w="med" type="none"/>
            <a:tailEnd len="med" w="med" type="none"/>
          </a:ln>
        </p:spPr>
      </p:cxnSp>
      <p:sp>
        <p:nvSpPr>
          <p:cNvPr id="109" name="Google Shape;109;p18"/>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110" name="Shape 110"/>
        <p:cNvGrpSpPr/>
        <p:nvPr/>
      </p:nvGrpSpPr>
      <p:grpSpPr>
        <a:xfrm>
          <a:off x="0" y="0"/>
          <a:ext cx="0" cy="0"/>
          <a:chOff x="0" y="0"/>
          <a:chExt cx="0" cy="0"/>
        </a:xfrm>
      </p:grpSpPr>
      <p:sp>
        <p:nvSpPr>
          <p:cNvPr id="111" name="Google Shape;111;p19"/>
          <p:cNvSpPr/>
          <p:nvPr/>
        </p:nvSpPr>
        <p:spPr>
          <a:xfrm>
            <a:off x="4572000" y="-125"/>
            <a:ext cx="4572000" cy="51435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1600"/>
              <a:buNone/>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3" name="Google Shape;113;p1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rtl="0" algn="ctr">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114" name="Google Shape;114;p1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15" name="Google Shape;115;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on left">
  <p:cSld name="SECTION_TITLE_AND_DESCRIPTION_1_1_1">
    <p:spTree>
      <p:nvGrpSpPr>
        <p:cNvPr id="116" name="Shape 116"/>
        <p:cNvGrpSpPr/>
        <p:nvPr/>
      </p:nvGrpSpPr>
      <p:grpSpPr>
        <a:xfrm>
          <a:off x="0" y="0"/>
          <a:ext cx="0" cy="0"/>
          <a:chOff x="0" y="0"/>
          <a:chExt cx="0" cy="0"/>
        </a:xfrm>
      </p:grpSpPr>
      <p:sp>
        <p:nvSpPr>
          <p:cNvPr id="117" name="Google Shape;117;p20"/>
          <p:cNvSpPr/>
          <p:nvPr/>
        </p:nvSpPr>
        <p:spPr>
          <a:xfrm>
            <a:off x="0" y="6"/>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0"/>
          <p:cNvSpPr txBox="1"/>
          <p:nvPr>
            <p:ph idx="1" type="body"/>
          </p:nvPr>
        </p:nvSpPr>
        <p:spPr>
          <a:xfrm>
            <a:off x="48829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0" name="Google Shape;120;p20"/>
          <p:cNvSpPr txBox="1"/>
          <p:nvPr>
            <p:ph idx="2" type="body"/>
          </p:nvPr>
        </p:nvSpPr>
        <p:spPr>
          <a:xfrm>
            <a:off x="310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1" name="Google Shape;121;p20"/>
          <p:cNvSpPr txBox="1"/>
          <p:nvPr>
            <p:ph type="title"/>
          </p:nvPr>
        </p:nvSpPr>
        <p:spPr>
          <a:xfrm>
            <a:off x="4882900" y="445025"/>
            <a:ext cx="3950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2" name="Google Shape;122;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left, Heading">
  <p:cSld name="SECTION_TITLE_AND_DESCRIPTION_1_1_1_1">
    <p:spTree>
      <p:nvGrpSpPr>
        <p:cNvPr id="123" name="Shape 123"/>
        <p:cNvGrpSpPr/>
        <p:nvPr/>
      </p:nvGrpSpPr>
      <p:grpSpPr>
        <a:xfrm>
          <a:off x="0" y="0"/>
          <a:ext cx="0" cy="0"/>
          <a:chOff x="0" y="0"/>
          <a:chExt cx="0" cy="0"/>
        </a:xfrm>
      </p:grpSpPr>
      <p:sp>
        <p:nvSpPr>
          <p:cNvPr id="124" name="Google Shape;124;p21"/>
          <p:cNvSpPr/>
          <p:nvPr/>
        </p:nvSpPr>
        <p:spPr>
          <a:xfrm>
            <a:off x="0" y="6"/>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txBox="1"/>
          <p:nvPr>
            <p:ph idx="1" type="body"/>
          </p:nvPr>
        </p:nvSpPr>
        <p:spPr>
          <a:xfrm>
            <a:off x="48829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7" name="Google Shape;127;p21"/>
          <p:cNvSpPr txBox="1"/>
          <p:nvPr>
            <p:ph idx="2" type="body"/>
          </p:nvPr>
        </p:nvSpPr>
        <p:spPr>
          <a:xfrm>
            <a:off x="310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28" name="Google Shape;128;p21"/>
          <p:cNvSpPr txBox="1"/>
          <p:nvPr>
            <p:ph idx="3" type="subTitle"/>
          </p:nvPr>
        </p:nvSpPr>
        <p:spPr>
          <a:xfrm>
            <a:off x="225450" y="3943400"/>
            <a:ext cx="4045200" cy="465000"/>
          </a:xfrm>
          <a:prstGeom prst="rect">
            <a:avLst/>
          </a:prstGeom>
        </p:spPr>
        <p:txBody>
          <a:bodyPr anchorCtr="0" anchor="t" bIns="91425" lIns="91425" spcFirstLastPara="1" rIns="91425" wrap="square" tIns="91425">
            <a:noAutofit/>
          </a:bodyPr>
          <a:lstStyle>
            <a:lvl1pPr lvl="0" rtl="0">
              <a:lnSpc>
                <a:spcPct val="100000"/>
              </a:lnSpc>
              <a:spcBef>
                <a:spcPts val="600"/>
              </a:spcBef>
              <a:spcAft>
                <a:spcPts val="0"/>
              </a:spcAft>
              <a:buSzPts val="1800"/>
              <a:buNone/>
              <a:defRPr/>
            </a:lvl1pPr>
            <a:lvl2pPr lvl="1" rtl="0" algn="ctr">
              <a:lnSpc>
                <a:spcPct val="100000"/>
              </a:lnSpc>
              <a:spcBef>
                <a:spcPts val="600"/>
              </a:spcBef>
              <a:spcAft>
                <a:spcPts val="0"/>
              </a:spcAft>
              <a:buSzPts val="2100"/>
              <a:buNone/>
              <a:defRPr sz="2100"/>
            </a:lvl2pPr>
            <a:lvl3pPr lvl="2" rtl="0" algn="ctr">
              <a:lnSpc>
                <a:spcPct val="100000"/>
              </a:lnSpc>
              <a:spcBef>
                <a:spcPts val="600"/>
              </a:spcBef>
              <a:spcAft>
                <a:spcPts val="0"/>
              </a:spcAft>
              <a:buSzPts val="2100"/>
              <a:buNone/>
              <a:defRPr sz="2100"/>
            </a:lvl3pPr>
            <a:lvl4pPr lvl="3" rtl="0" algn="ctr">
              <a:lnSpc>
                <a:spcPct val="100000"/>
              </a:lnSpc>
              <a:spcBef>
                <a:spcPts val="600"/>
              </a:spcBef>
              <a:spcAft>
                <a:spcPts val="0"/>
              </a:spcAft>
              <a:buSzPts val="2100"/>
              <a:buNone/>
              <a:defRPr sz="2100"/>
            </a:lvl4pPr>
            <a:lvl5pPr lvl="4" rtl="0" algn="ctr">
              <a:lnSpc>
                <a:spcPct val="100000"/>
              </a:lnSpc>
              <a:spcBef>
                <a:spcPts val="600"/>
              </a:spcBef>
              <a:spcAft>
                <a:spcPts val="0"/>
              </a:spcAft>
              <a:buSzPts val="2100"/>
              <a:buNone/>
              <a:defRPr sz="2100"/>
            </a:lvl5pPr>
            <a:lvl6pPr lvl="5" rtl="0" algn="ctr">
              <a:lnSpc>
                <a:spcPct val="100000"/>
              </a:lnSpc>
              <a:spcBef>
                <a:spcPts val="600"/>
              </a:spcBef>
              <a:spcAft>
                <a:spcPts val="0"/>
              </a:spcAft>
              <a:buSzPts val="2100"/>
              <a:buNone/>
              <a:defRPr sz="2100"/>
            </a:lvl6pPr>
            <a:lvl7pPr lvl="6" rtl="0" algn="ctr">
              <a:lnSpc>
                <a:spcPct val="100000"/>
              </a:lnSpc>
              <a:spcBef>
                <a:spcPts val="600"/>
              </a:spcBef>
              <a:spcAft>
                <a:spcPts val="0"/>
              </a:spcAft>
              <a:buSzPts val="2100"/>
              <a:buNone/>
              <a:defRPr sz="2100"/>
            </a:lvl7pPr>
            <a:lvl8pPr lvl="7" rtl="0" algn="ctr">
              <a:lnSpc>
                <a:spcPct val="100000"/>
              </a:lnSpc>
              <a:spcBef>
                <a:spcPts val="600"/>
              </a:spcBef>
              <a:spcAft>
                <a:spcPts val="0"/>
              </a:spcAft>
              <a:buSzPts val="2100"/>
              <a:buNone/>
              <a:defRPr sz="2100"/>
            </a:lvl8pPr>
            <a:lvl9pPr lvl="8" rtl="0" algn="ctr">
              <a:lnSpc>
                <a:spcPct val="100000"/>
              </a:lnSpc>
              <a:spcBef>
                <a:spcPts val="600"/>
              </a:spcBef>
              <a:spcAft>
                <a:spcPts val="0"/>
              </a:spcAft>
              <a:buSzPts val="2100"/>
              <a:buNone/>
              <a:defRPr sz="2100"/>
            </a:lvl9pPr>
          </a:lstStyle>
          <a:p/>
        </p:txBody>
      </p:sp>
      <p:sp>
        <p:nvSpPr>
          <p:cNvPr id="129" name="Google Shape;129;p21"/>
          <p:cNvSpPr txBox="1"/>
          <p:nvPr>
            <p:ph type="title"/>
          </p:nvPr>
        </p:nvSpPr>
        <p:spPr>
          <a:xfrm>
            <a:off x="208450" y="3418425"/>
            <a:ext cx="3950100" cy="572700"/>
          </a:xfrm>
          <a:prstGeom prst="rect">
            <a:avLst/>
          </a:prstGeom>
        </p:spPr>
        <p:txBody>
          <a:bodyPr anchorCtr="0" anchor="b" bIns="91425" lIns="91425" spcFirstLastPara="1" rIns="91425" wrap="square" tIns="91425">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p:txBody>
      </p:sp>
      <p:pic>
        <p:nvPicPr>
          <p:cNvPr id="130" name="Google Shape;130;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spTree>
      <p:nvGrpSpPr>
        <p:cNvPr id="131" name="Shape 131"/>
        <p:cNvGrpSpPr/>
        <p:nvPr/>
      </p:nvGrpSpPr>
      <p:grpSpPr>
        <a:xfrm>
          <a:off x="0" y="0"/>
          <a:ext cx="0" cy="0"/>
          <a:chOff x="0" y="0"/>
          <a:chExt cx="0" cy="0"/>
        </a:xfrm>
      </p:grpSpPr>
      <p:sp>
        <p:nvSpPr>
          <p:cNvPr id="132" name="Google Shape;132;p22"/>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3" name="Google Shape;133;p2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de on right">
  <p:cSld name="SECTION_TITLE_AND_DESCRIPTION_1_2">
    <p:spTree>
      <p:nvGrpSpPr>
        <p:cNvPr id="134" name="Shape 134"/>
        <p:cNvGrpSpPr/>
        <p:nvPr/>
      </p:nvGrpSpPr>
      <p:grpSpPr>
        <a:xfrm>
          <a:off x="0" y="0"/>
          <a:ext cx="0" cy="0"/>
          <a:chOff x="0" y="0"/>
          <a:chExt cx="0" cy="0"/>
        </a:xfrm>
      </p:grpSpPr>
      <p:sp>
        <p:nvSpPr>
          <p:cNvPr id="135" name="Google Shape;135;p23"/>
          <p:cNvSpPr/>
          <p:nvPr/>
        </p:nvSpPr>
        <p:spPr>
          <a:xfrm>
            <a:off x="4572000" y="-125"/>
            <a:ext cx="4572000" cy="5143500"/>
          </a:xfrm>
          <a:prstGeom prst="rect">
            <a:avLst/>
          </a:prstGeom>
          <a:solidFill>
            <a:srgbClr val="FDF6E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37" name="Google Shape;137;p23"/>
          <p:cNvSpPr txBox="1"/>
          <p:nvPr>
            <p:ph idx="1" type="body"/>
          </p:nvPr>
        </p:nvSpPr>
        <p:spPr>
          <a:xfrm>
            <a:off x="311700" y="1152150"/>
            <a:ext cx="3950100" cy="34200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38" name="Google Shape;138;p23"/>
          <p:cNvSpPr txBox="1"/>
          <p:nvPr>
            <p:ph idx="2" type="body"/>
          </p:nvPr>
        </p:nvSpPr>
        <p:spPr>
          <a:xfrm>
            <a:off x="4882900" y="448050"/>
            <a:ext cx="3950100" cy="4124100"/>
          </a:xfrm>
          <a:prstGeom prst="rect">
            <a:avLst/>
          </a:prstGeom>
        </p:spPr>
        <p:txBody>
          <a:bodyPr anchorCtr="0" anchor="t" bIns="91425" lIns="91425" spcFirstLastPara="1" rIns="91425" wrap="square" tIns="91425">
            <a:noAutofit/>
          </a:bodyPr>
          <a:lstStyle>
            <a:lvl1pPr indent="-342900" lvl="0" marL="457200" rtl="0">
              <a:spcBef>
                <a:spcPts val="600"/>
              </a:spcBef>
              <a:spcAft>
                <a:spcPts val="0"/>
              </a:spcAft>
              <a:buSzPts val="1800"/>
              <a:buChar char="•"/>
              <a:defRPr/>
            </a:lvl1pPr>
            <a:lvl2pPr indent="-342900" lvl="1" marL="914400" rtl="0">
              <a:spcBef>
                <a:spcPts val="600"/>
              </a:spcBef>
              <a:spcAft>
                <a:spcPts val="0"/>
              </a:spcAft>
              <a:buSzPts val="1800"/>
              <a:buChar char="•"/>
              <a:defRPr/>
            </a:lvl2pPr>
            <a:lvl3pPr indent="-342900" lvl="2" marL="1371600" rtl="0">
              <a:spcBef>
                <a:spcPts val="600"/>
              </a:spcBef>
              <a:spcAft>
                <a:spcPts val="0"/>
              </a:spcAft>
              <a:buSzPts val="1800"/>
              <a:buChar char="•"/>
              <a:defRPr/>
            </a:lvl3pPr>
            <a:lvl4pPr indent="-342900" lvl="3" marL="1828800" rtl="0">
              <a:spcBef>
                <a:spcPts val="600"/>
              </a:spcBef>
              <a:spcAft>
                <a:spcPts val="0"/>
              </a:spcAft>
              <a:buSzPts val="1800"/>
              <a:buChar char="•"/>
              <a:defRPr/>
            </a:lvl4pPr>
            <a:lvl5pPr indent="-342900" lvl="4" marL="2286000" rtl="0">
              <a:spcBef>
                <a:spcPts val="600"/>
              </a:spcBef>
              <a:spcAft>
                <a:spcPts val="0"/>
              </a:spcAft>
              <a:buSzPts val="1800"/>
              <a:buChar char="•"/>
              <a:defRPr/>
            </a:lvl5pPr>
            <a:lvl6pPr indent="-342900" lvl="5" marL="2743200" rtl="0">
              <a:spcBef>
                <a:spcPts val="600"/>
              </a:spcBef>
              <a:spcAft>
                <a:spcPts val="0"/>
              </a:spcAft>
              <a:buSzPts val="1800"/>
              <a:buChar char="•"/>
              <a:defRPr/>
            </a:lvl6pPr>
            <a:lvl7pPr indent="-342900" lvl="6" marL="3200400" rtl="0">
              <a:spcBef>
                <a:spcPts val="600"/>
              </a:spcBef>
              <a:spcAft>
                <a:spcPts val="0"/>
              </a:spcAft>
              <a:buSzPts val="1800"/>
              <a:buChar char="•"/>
              <a:defRPr/>
            </a:lvl7pPr>
            <a:lvl8pPr indent="-342900" lvl="7" marL="3657600" rtl="0">
              <a:spcBef>
                <a:spcPts val="600"/>
              </a:spcBef>
              <a:spcAft>
                <a:spcPts val="0"/>
              </a:spcAft>
              <a:buSzPts val="1800"/>
              <a:buChar char="•"/>
              <a:defRPr/>
            </a:lvl8pPr>
            <a:lvl9pPr indent="-342900" lvl="8" marL="4114800" rtl="0">
              <a:spcBef>
                <a:spcPts val="600"/>
              </a:spcBef>
              <a:spcAft>
                <a:spcPts val="0"/>
              </a:spcAft>
              <a:buSzPts val="1800"/>
              <a:buChar char="•"/>
              <a:defRPr/>
            </a:lvl9pPr>
          </a:lstStyle>
          <a:p/>
        </p:txBody>
      </p:sp>
      <p:sp>
        <p:nvSpPr>
          <p:cNvPr id="139" name="Google Shape;139;p23"/>
          <p:cNvSpPr txBox="1"/>
          <p:nvPr>
            <p:ph type="title"/>
          </p:nvPr>
        </p:nvSpPr>
        <p:spPr>
          <a:xfrm>
            <a:off x="311700" y="445025"/>
            <a:ext cx="3950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19.xml"/><Relationship Id="rId11" Type="http://schemas.openxmlformats.org/officeDocument/2006/relationships/slideLayout" Target="../slideLayouts/slideLayout10.xml"/><Relationship Id="rId22" Type="http://schemas.openxmlformats.org/officeDocument/2006/relationships/slideLayout" Target="../slideLayouts/slideLayout21.xml"/><Relationship Id="rId10" Type="http://schemas.openxmlformats.org/officeDocument/2006/relationships/slideLayout" Target="../slideLayouts/slideLayout9.xml"/><Relationship Id="rId21" Type="http://schemas.openxmlformats.org/officeDocument/2006/relationships/slideLayout" Target="../slideLayouts/slideLayout20.xml"/><Relationship Id="rId13" Type="http://schemas.openxmlformats.org/officeDocument/2006/relationships/slideLayout" Target="../slideLayouts/slideLayout12.xml"/><Relationship Id="rId24" Type="http://schemas.openxmlformats.org/officeDocument/2006/relationships/theme" Target="../theme/theme2.xml"/><Relationship Id="rId12" Type="http://schemas.openxmlformats.org/officeDocument/2006/relationships/slideLayout" Target="../slideLayouts/slideLayout11.xml"/><Relationship Id="rId23" Type="http://schemas.openxmlformats.org/officeDocument/2006/relationships/slideLayout" Target="../slideLayouts/slideLayout22.xml"/><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5" Type="http://schemas.openxmlformats.org/officeDocument/2006/relationships/slideLayout" Target="../slideLayouts/slideLayout14.xml"/><Relationship Id="rId14" Type="http://schemas.openxmlformats.org/officeDocument/2006/relationships/slideLayout" Target="../slideLayouts/slideLayout13.xml"/><Relationship Id="rId17" Type="http://schemas.openxmlformats.org/officeDocument/2006/relationships/slideLayout" Target="../slideLayouts/slideLayout16.xml"/><Relationship Id="rId16" Type="http://schemas.openxmlformats.org/officeDocument/2006/relationships/slideLayout" Target="../slideLayouts/slideLayout15.xml"/><Relationship Id="rId5" Type="http://schemas.openxmlformats.org/officeDocument/2006/relationships/slideLayout" Target="../slideLayouts/slideLayout4.xml"/><Relationship Id="rId19" Type="http://schemas.openxmlformats.org/officeDocument/2006/relationships/slideLayout" Target="../slideLayouts/slideLayout18.xml"/><Relationship Id="rId6" Type="http://schemas.openxmlformats.org/officeDocument/2006/relationships/slideLayout" Target="../slideLayouts/slideLayout5.xml"/><Relationship Id="rId18" Type="http://schemas.openxmlformats.org/officeDocument/2006/relationships/slideLayout" Target="../slideLayouts/slideLayout17.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8520600" cy="3936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p:txBody>
      </p:sp>
      <p:sp>
        <p:nvSpPr>
          <p:cNvPr id="7" name="Google Shape;7;p1"/>
          <p:cNvSpPr txBox="1"/>
          <p:nvPr>
            <p:ph idx="1" type="body"/>
          </p:nvPr>
        </p:nvSpPr>
        <p:spPr>
          <a:xfrm>
            <a:off x="311700" y="572700"/>
            <a:ext cx="8520600" cy="3416400"/>
          </a:xfrm>
          <a:prstGeom prst="rect">
            <a:avLst/>
          </a:prstGeom>
          <a:noFill/>
          <a:ln>
            <a:noFill/>
          </a:ln>
        </p:spPr>
        <p:txBody>
          <a:bodyPr anchorCtr="0" anchor="t" bIns="91425" lIns="91425" spcFirstLastPara="1" rIns="91425" wrap="square" tIns="91425">
            <a:noAutofit/>
          </a:bodyPr>
          <a:lstStyle>
            <a:lvl1pPr indent="-342900" lvl="0" marL="4572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indent="-342900" lvl="1" marL="9144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indent="-342900" lvl="2" marL="13716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indent="-342900" lvl="3" marL="18288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indent="-342900" lvl="4" marL="22860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indent="-342900" lvl="5" marL="27432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indent="-342900" lvl="6" marL="32004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indent="-342900" lvl="7" marL="36576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indent="-342900" lvl="8" marL="4114800" rtl="0">
              <a:lnSpc>
                <a:spcPct val="100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1"/>
                </a:solidFill>
                <a:latin typeface="Roboto"/>
                <a:ea typeface="Roboto"/>
                <a:cs typeface="Roboto"/>
                <a:sym typeface="Roboto"/>
              </a:defRPr>
            </a:lvl1pPr>
            <a:lvl2pPr lvl="1" rtl="0" algn="r">
              <a:buNone/>
              <a:defRPr sz="1000">
                <a:solidFill>
                  <a:schemeClr val="dk1"/>
                </a:solidFill>
                <a:latin typeface="Roboto"/>
                <a:ea typeface="Roboto"/>
                <a:cs typeface="Roboto"/>
                <a:sym typeface="Roboto"/>
              </a:defRPr>
            </a:lvl2pPr>
            <a:lvl3pPr lvl="2" rtl="0" algn="r">
              <a:buNone/>
              <a:defRPr sz="1000">
                <a:solidFill>
                  <a:schemeClr val="dk1"/>
                </a:solidFill>
                <a:latin typeface="Roboto"/>
                <a:ea typeface="Roboto"/>
                <a:cs typeface="Roboto"/>
                <a:sym typeface="Roboto"/>
              </a:defRPr>
            </a:lvl3pPr>
            <a:lvl4pPr lvl="3" rtl="0" algn="r">
              <a:buNone/>
              <a:defRPr sz="1000">
                <a:solidFill>
                  <a:schemeClr val="dk1"/>
                </a:solidFill>
                <a:latin typeface="Roboto"/>
                <a:ea typeface="Roboto"/>
                <a:cs typeface="Roboto"/>
                <a:sym typeface="Roboto"/>
              </a:defRPr>
            </a:lvl4pPr>
            <a:lvl5pPr lvl="4" rtl="0" algn="r">
              <a:buNone/>
              <a:defRPr sz="1000">
                <a:solidFill>
                  <a:schemeClr val="dk1"/>
                </a:solidFill>
                <a:latin typeface="Roboto"/>
                <a:ea typeface="Roboto"/>
                <a:cs typeface="Roboto"/>
                <a:sym typeface="Roboto"/>
              </a:defRPr>
            </a:lvl5pPr>
            <a:lvl6pPr lvl="5" rtl="0" algn="r">
              <a:buNone/>
              <a:defRPr sz="1000">
                <a:solidFill>
                  <a:schemeClr val="dk1"/>
                </a:solidFill>
                <a:latin typeface="Roboto"/>
                <a:ea typeface="Roboto"/>
                <a:cs typeface="Roboto"/>
                <a:sym typeface="Roboto"/>
              </a:defRPr>
            </a:lvl6pPr>
            <a:lvl7pPr lvl="6" rtl="0" algn="r">
              <a:buNone/>
              <a:defRPr sz="1000">
                <a:solidFill>
                  <a:schemeClr val="dk1"/>
                </a:solidFill>
                <a:latin typeface="Roboto"/>
                <a:ea typeface="Roboto"/>
                <a:cs typeface="Roboto"/>
                <a:sym typeface="Roboto"/>
              </a:defRPr>
            </a:lvl7pPr>
            <a:lvl8pPr lvl="7" rtl="0" algn="r">
              <a:buNone/>
              <a:defRPr sz="1000">
                <a:solidFill>
                  <a:schemeClr val="dk1"/>
                </a:solidFill>
                <a:latin typeface="Roboto"/>
                <a:ea typeface="Roboto"/>
                <a:cs typeface="Roboto"/>
                <a:sym typeface="Roboto"/>
              </a:defRPr>
            </a:lvl8pPr>
            <a:lvl9pPr lvl="8" rtl="0" algn="r">
              <a:buNone/>
              <a:defRPr sz="1000">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 name="Google Shape;9;p1"/>
          <p:cNvPicPr preferRelativeResize="0"/>
          <p:nvPr/>
        </p:nvPicPr>
        <p:blipFill>
          <a:blip r:embed="rId1">
            <a:alphaModFix/>
          </a:blip>
          <a:stretch>
            <a:fillRect/>
          </a:stretch>
        </p:blipFill>
        <p:spPr>
          <a:xfrm>
            <a:off x="0" y="4983478"/>
            <a:ext cx="457200" cy="160022"/>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 id="2147483668" r:id="rId22"/>
    <p:sldLayoutId id="2147483669" r:id="rId2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hyperlink" Target="http://oeis.org/A03660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1" Type="http://schemas.openxmlformats.org/officeDocument/2006/relationships/hyperlink" Target="https://www.youtube.com/watch?v=8MsTNqK3o_w" TargetMode="External"/><Relationship Id="rId10" Type="http://schemas.openxmlformats.org/officeDocument/2006/relationships/hyperlink" Target="https://www.youtube.com/watch?v=kPRA0W1kECg&amp;t=3m37s" TargetMode="External"/><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hyperlink" Target="https://www.youtube.com/watch?v=kPRA0W1kECg" TargetMode="External"/><Relationship Id="rId4" Type="http://schemas.openxmlformats.org/officeDocument/2006/relationships/hyperlink" Target="https://www.youtube.com/watch?v=kPRA0W1kECg&amp;t=0m9s" TargetMode="External"/><Relationship Id="rId9" Type="http://schemas.openxmlformats.org/officeDocument/2006/relationships/hyperlink" Target="https://www.youtube.com/watch?v=kPRA0W1kECg&amp;t=2m10s" TargetMode="External"/><Relationship Id="rId5" Type="http://schemas.openxmlformats.org/officeDocument/2006/relationships/hyperlink" Target="https://www.youtube.com/watch?v=kPRA0W1kECg&amp;t=0m38s" TargetMode="External"/><Relationship Id="rId6" Type="http://schemas.openxmlformats.org/officeDocument/2006/relationships/hyperlink" Target="https://www.youtube.com/watch?v=kPRA0W1kECg&amp;t=1m05s" TargetMode="External"/><Relationship Id="rId7" Type="http://schemas.openxmlformats.org/officeDocument/2006/relationships/hyperlink" Target="https://www.youtube.com/watch?v=kPRA0W1kECg&amp;t=1m28s" TargetMode="External"/><Relationship Id="rId8" Type="http://schemas.openxmlformats.org/officeDocument/2006/relationships/hyperlink" Target="https://www.youtube.com/watch?v=kPRA0W1kECg&amp;t=1m54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 Id="rId3" Type="http://schemas.openxmlformats.org/officeDocument/2006/relationships/image" Target="../media/image15.png"/><Relationship Id="rId4" Type="http://schemas.openxmlformats.org/officeDocument/2006/relationships/image" Target="../media/image1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1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20.png"/><Relationship Id="rId4" Type="http://schemas.openxmlformats.org/officeDocument/2006/relationships/image" Target="../media/image1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 Id="rId3" Type="http://schemas.openxmlformats.org/officeDocument/2006/relationships/image" Target="../media/image1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 Id="rId3" Type="http://schemas.openxmlformats.org/officeDocument/2006/relationships/image" Target="../media/image1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1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 Id="rId3" Type="http://schemas.openxmlformats.org/officeDocument/2006/relationships/image" Target="../media/image1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 Id="rId3" Type="http://schemas.openxmlformats.org/officeDocument/2006/relationships/image" Target="../media/image1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4"/>
          <p:cNvSpPr txBox="1"/>
          <p:nvPr>
            <p:ph type="ctrTitle"/>
          </p:nvPr>
        </p:nvSpPr>
        <p:spPr>
          <a:xfrm>
            <a:off x="311700" y="1658975"/>
            <a:ext cx="8709600" cy="2052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600">
                <a:solidFill>
                  <a:schemeClr val="accent3"/>
                </a:solidFill>
              </a:rPr>
              <a:t>Theoretical Bounds on Sorting</a:t>
            </a:r>
            <a:endParaRPr sz="3600">
              <a:solidFill>
                <a:schemeClr val="accent3"/>
              </a:solidFill>
            </a:endParaRPr>
          </a:p>
        </p:txBody>
      </p:sp>
      <p:sp>
        <p:nvSpPr>
          <p:cNvPr id="145" name="Google Shape;145;p24"/>
          <p:cNvSpPr txBox="1"/>
          <p:nvPr/>
        </p:nvSpPr>
        <p:spPr>
          <a:xfrm>
            <a:off x="345775" y="2740300"/>
            <a:ext cx="2762700" cy="282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rgbClr val="BF9000"/>
                </a:solidFill>
                <a:latin typeface="Roboto Medium"/>
                <a:ea typeface="Roboto Medium"/>
                <a:cs typeface="Roboto Medium"/>
                <a:sym typeface="Roboto Medium"/>
              </a:rPr>
              <a:t>Lecture 34 (Sorting 4)</a:t>
            </a:r>
            <a:endParaRPr sz="1200">
              <a:solidFill>
                <a:srgbClr val="BF9000"/>
              </a:solidFill>
              <a:latin typeface="Roboto Medium"/>
              <a:ea typeface="Roboto Medium"/>
              <a:cs typeface="Roboto Medium"/>
              <a:sym typeface="Roboto Medium"/>
            </a:endParaRPr>
          </a:p>
        </p:txBody>
      </p:sp>
      <p:sp>
        <p:nvSpPr>
          <p:cNvPr id="146" name="Google Shape;146;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147" name="Google Shape;147;p24"/>
          <p:cNvSpPr txBox="1"/>
          <p:nvPr/>
        </p:nvSpPr>
        <p:spPr>
          <a:xfrm>
            <a:off x="311700" y="3854350"/>
            <a:ext cx="8520600" cy="6585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600">
                <a:latin typeface="Roboto Medium"/>
                <a:ea typeface="Roboto Medium"/>
                <a:cs typeface="Roboto Medium"/>
                <a:sym typeface="Roboto Medium"/>
              </a:rPr>
              <a:t>CS61B, Fall</a:t>
            </a:r>
            <a:r>
              <a:rPr lang="en" sz="1600">
                <a:solidFill>
                  <a:srgbClr val="000000"/>
                </a:solidFill>
                <a:latin typeface="Roboto Medium"/>
                <a:ea typeface="Roboto Medium"/>
                <a:cs typeface="Roboto Medium"/>
                <a:sym typeface="Roboto Medium"/>
              </a:rPr>
              <a:t> 202</a:t>
            </a:r>
            <a:r>
              <a:rPr lang="en" sz="1600">
                <a:latin typeface="Roboto Medium"/>
                <a:ea typeface="Roboto Medium"/>
                <a:cs typeface="Roboto Medium"/>
                <a:sym typeface="Roboto Medium"/>
              </a:rPr>
              <a:t>3</a:t>
            </a:r>
            <a:r>
              <a:rPr lang="en" sz="1600">
                <a:solidFill>
                  <a:srgbClr val="000000"/>
                </a:solidFill>
                <a:latin typeface="Roboto Medium"/>
                <a:ea typeface="Roboto Medium"/>
                <a:cs typeface="Roboto Medium"/>
                <a:sym typeface="Roboto Medium"/>
              </a:rPr>
              <a:t> @ UC Berkeley</a:t>
            </a:r>
            <a:endParaRPr sz="1600">
              <a:solidFill>
                <a:srgbClr val="000000"/>
              </a:solidFill>
              <a:latin typeface="Roboto Medium"/>
              <a:ea typeface="Roboto Medium"/>
              <a:cs typeface="Roboto Medium"/>
              <a:sym typeface="Roboto Medium"/>
            </a:endParaRPr>
          </a:p>
          <a:p>
            <a:pPr indent="0" lvl="0" marL="0" rtl="0" algn="l">
              <a:spcBef>
                <a:spcPts val="600"/>
              </a:spcBef>
              <a:spcAft>
                <a:spcPts val="0"/>
              </a:spcAft>
              <a:buNone/>
            </a:pPr>
            <a:r>
              <a:rPr lang="en" sz="1600">
                <a:latin typeface="Roboto Light"/>
                <a:ea typeface="Roboto Light"/>
                <a:cs typeface="Roboto Light"/>
                <a:sym typeface="Roboto Light"/>
              </a:rPr>
              <a:t>Slides credit: </a:t>
            </a:r>
            <a:r>
              <a:rPr lang="en" sz="1600">
                <a:solidFill>
                  <a:srgbClr val="000000"/>
                </a:solidFill>
                <a:latin typeface="Roboto Light"/>
                <a:ea typeface="Roboto Light"/>
                <a:cs typeface="Roboto Light"/>
                <a:sym typeface="Roboto Light"/>
              </a:rPr>
              <a:t>Josh Hug</a:t>
            </a:r>
            <a:endParaRPr sz="1600">
              <a:solidFill>
                <a:srgbClr val="000000"/>
              </a:solidFill>
              <a:latin typeface="Roboto Light"/>
              <a:ea typeface="Roboto Light"/>
              <a:cs typeface="Roboto Light"/>
              <a:sym typeface="Roboto Light"/>
            </a:endParaRPr>
          </a:p>
        </p:txBody>
      </p:sp>
      <p:pic>
        <p:nvPicPr>
          <p:cNvPr id="148" name="Google Shape;148;p24"/>
          <p:cNvPicPr preferRelativeResize="0"/>
          <p:nvPr/>
        </p:nvPicPr>
        <p:blipFill>
          <a:blip r:embed="rId3">
            <a:alphaModFix/>
          </a:blip>
          <a:stretch>
            <a:fillRect/>
          </a:stretch>
        </p:blipFill>
        <p:spPr>
          <a:xfrm>
            <a:off x="3765514" y="605500"/>
            <a:ext cx="5208361" cy="23529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154" name="Google Shape;154;p25"/>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b="1" lang="en">
                <a:solidFill>
                  <a:schemeClr val="accent3"/>
                </a:solidFill>
                <a:latin typeface="Roboto"/>
                <a:ea typeface="Roboto"/>
                <a:cs typeface="Roboto"/>
                <a:sym typeface="Roboto"/>
              </a:rPr>
              <a:t>Goal: How Hard is Sorting?</a:t>
            </a:r>
            <a:endParaRPr b="1">
              <a:solidFill>
                <a:schemeClr val="accent3"/>
              </a:solidFill>
              <a:latin typeface="Roboto"/>
              <a:ea typeface="Roboto"/>
              <a:cs typeface="Roboto"/>
              <a:sym typeface="Roboto"/>
            </a:endParaRPr>
          </a:p>
          <a:p>
            <a:pPr indent="0" lvl="0" marL="0" rtl="0" algn="l">
              <a:spcBef>
                <a:spcPts val="600"/>
              </a:spcBef>
              <a:spcAft>
                <a:spcPts val="0"/>
              </a:spcAft>
              <a:buClr>
                <a:schemeClr val="dk1"/>
              </a:buClr>
              <a:buSzPts val="1100"/>
              <a:buFont typeface="Arial"/>
              <a:buNone/>
            </a:pPr>
            <a:r>
              <a:rPr lang="en"/>
              <a:t>Math Problem Warmup</a:t>
            </a:r>
            <a:endParaRPr/>
          </a:p>
          <a:p>
            <a:pPr indent="0" lvl="0" marL="0" rtl="0" algn="l">
              <a:spcBef>
                <a:spcPts val="600"/>
              </a:spcBef>
              <a:spcAft>
                <a:spcPts val="0"/>
              </a:spcAft>
              <a:buClr>
                <a:schemeClr val="dk1"/>
              </a:buClr>
              <a:buSzPts val="1100"/>
              <a:buFont typeface="Arial"/>
              <a:buNone/>
            </a:pPr>
            <a:r>
              <a:rPr lang="en"/>
              <a:t>Theoretical Bounds on Sorting</a:t>
            </a:r>
            <a:endParaRPr/>
          </a:p>
          <a:p>
            <a:pPr indent="-342900" lvl="0" marL="457200" rtl="0" algn="l">
              <a:spcBef>
                <a:spcPts val="600"/>
              </a:spcBef>
              <a:spcAft>
                <a:spcPts val="0"/>
              </a:spcAft>
              <a:buSzPts val="1800"/>
              <a:buChar char="•"/>
            </a:pPr>
            <a:r>
              <a:rPr lang="en"/>
              <a:t>Simple Bounds for TUCS (the ultimate comparison sort)</a:t>
            </a:r>
            <a:endParaRPr/>
          </a:p>
          <a:p>
            <a:pPr indent="-342900" lvl="0" marL="457200" rtl="0" algn="l">
              <a:spcBef>
                <a:spcPts val="0"/>
              </a:spcBef>
              <a:spcAft>
                <a:spcPts val="0"/>
              </a:spcAft>
              <a:buSzPts val="1800"/>
              <a:buChar char="•"/>
            </a:pPr>
            <a:r>
              <a:rPr lang="en"/>
              <a:t>Coin Puzzles</a:t>
            </a:r>
            <a:endParaRPr/>
          </a:p>
          <a:p>
            <a:pPr indent="-342900" lvl="0" marL="457200" rtl="0" algn="l">
              <a:spcBef>
                <a:spcPts val="0"/>
              </a:spcBef>
              <a:spcAft>
                <a:spcPts val="0"/>
              </a:spcAft>
              <a:buSzPts val="1800"/>
              <a:buChar char="•"/>
            </a:pPr>
            <a:r>
              <a:rPr lang="en"/>
              <a:t>Puppy Cat Dog</a:t>
            </a:r>
            <a:endParaRPr/>
          </a:p>
          <a:p>
            <a:pPr indent="-342900" lvl="0" marL="457200" rtl="0" algn="l">
              <a:spcBef>
                <a:spcPts val="0"/>
              </a:spcBef>
              <a:spcAft>
                <a:spcPts val="0"/>
              </a:spcAft>
              <a:buSzPts val="1800"/>
              <a:buChar char="•"/>
            </a:pPr>
            <a:r>
              <a:rPr lang="en"/>
              <a:t>The Sorting Lower Bound</a:t>
            </a:r>
            <a:endParaRPr/>
          </a:p>
          <a:p>
            <a:pPr indent="0" lvl="0" marL="0" rtl="0" algn="l">
              <a:spcBef>
                <a:spcPts val="600"/>
              </a:spcBef>
              <a:spcAft>
                <a:spcPts val="0"/>
              </a:spcAft>
              <a:buClr>
                <a:schemeClr val="dk1"/>
              </a:buClr>
              <a:buSzPts val="1100"/>
              <a:buFont typeface="Arial"/>
              <a:buNone/>
            </a:pPr>
            <a:r>
              <a:rPr lang="en"/>
              <a:t>Sounds of Sorting</a:t>
            </a:r>
            <a:endParaRPr/>
          </a:p>
        </p:txBody>
      </p:sp>
      <p:sp>
        <p:nvSpPr>
          <p:cNvPr id="155" name="Google Shape;155;p2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Goal: How Hard is Sorting?</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Sorts Summary</a:t>
            </a:r>
            <a:endParaRPr/>
          </a:p>
        </p:txBody>
      </p:sp>
      <p:graphicFrame>
        <p:nvGraphicFramePr>
          <p:cNvPr id="161" name="Google Shape;161;p26"/>
          <p:cNvGraphicFramePr/>
          <p:nvPr/>
        </p:nvGraphicFramePr>
        <p:xfrm>
          <a:off x="810464" y="808414"/>
          <a:ext cx="3000000" cy="3000000"/>
        </p:xfrm>
        <a:graphic>
          <a:graphicData uri="http://schemas.openxmlformats.org/drawingml/2006/table">
            <a:tbl>
              <a:tblPr>
                <a:noFill/>
                <a:tableStyleId>{C022CFBB-189D-4486-843A-8D9017E49761}</a:tableStyleId>
              </a:tblPr>
              <a:tblGrid>
                <a:gridCol w="1740050"/>
                <a:gridCol w="906625"/>
                <a:gridCol w="1813075"/>
                <a:gridCol w="1769800"/>
                <a:gridCol w="1448350"/>
              </a:tblGrid>
              <a:tr h="396200">
                <a:tc>
                  <a:txBody>
                    <a:bodyPr/>
                    <a:lstStyle/>
                    <a:p>
                      <a:pPr indent="0" lvl="0" marL="0" rtl="0" algn="l">
                        <a:spcBef>
                          <a:spcPts val="0"/>
                        </a:spcBef>
                        <a:spcAft>
                          <a:spcPts val="0"/>
                        </a:spcAft>
                        <a:buNone/>
                      </a:pPr>
                      <a:r>
                        <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latin typeface="Roboto"/>
                          <a:ea typeface="Roboto"/>
                          <a:cs typeface="Roboto"/>
                          <a:sym typeface="Roboto"/>
                        </a:rPr>
                        <a:t>Memory</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latin typeface="Roboto"/>
                          <a:ea typeface="Roboto"/>
                          <a:cs typeface="Roboto"/>
                          <a:sym typeface="Roboto"/>
                        </a:rPr>
                        <a:t># Compares</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latin typeface="Roboto"/>
                          <a:ea typeface="Roboto"/>
                          <a:cs typeface="Roboto"/>
                          <a:sym typeface="Roboto"/>
                        </a:rPr>
                        <a:t>Notes</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latin typeface="Roboto"/>
                          <a:ea typeface="Roboto"/>
                          <a:cs typeface="Roboto"/>
                          <a:sym typeface="Roboto"/>
                        </a:rPr>
                        <a:t>Stable?</a:t>
                      </a:r>
                      <a:endParaRPr sz="1200">
                        <a:latin typeface="Roboto"/>
                        <a:ea typeface="Roboto"/>
                        <a:cs typeface="Roboto"/>
                        <a:sym typeface="Roboto"/>
                      </a:endParaRPr>
                    </a:p>
                  </a:txBody>
                  <a:tcPr marT="91425" marB="91425" marR="91425" marL="91425"/>
                </a:tc>
              </a:tr>
              <a:tr h="396200">
                <a:tc>
                  <a:txBody>
                    <a:bodyPr/>
                    <a:lstStyle/>
                    <a:p>
                      <a:pPr indent="0" lvl="0" marL="0" rtl="0" algn="l">
                        <a:spcBef>
                          <a:spcPts val="0"/>
                        </a:spcBef>
                        <a:spcAft>
                          <a:spcPts val="0"/>
                        </a:spcAft>
                        <a:buNone/>
                      </a:pPr>
                      <a:r>
                        <a:rPr lang="en" sz="1200">
                          <a:latin typeface="Roboto"/>
                          <a:ea typeface="Roboto"/>
                          <a:cs typeface="Roboto"/>
                          <a:sym typeface="Roboto"/>
                        </a:rPr>
                        <a:t>Heapsort</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Θ(1)</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Θ(N log N)</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Bad caching (61C)</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No</a:t>
                      </a:r>
                      <a:endParaRPr sz="1200">
                        <a:solidFill>
                          <a:schemeClr val="dk1"/>
                        </a:solidFill>
                        <a:latin typeface="Roboto"/>
                        <a:ea typeface="Roboto"/>
                        <a:cs typeface="Roboto"/>
                        <a:sym typeface="Roboto"/>
                      </a:endParaRPr>
                    </a:p>
                  </a:txBody>
                  <a:tcPr marT="91425" marB="91425" marR="91425" marL="91425"/>
                </a:tc>
              </a:tr>
              <a:tr h="381000">
                <a:tc>
                  <a:txBody>
                    <a:bodyPr/>
                    <a:lstStyle/>
                    <a:p>
                      <a:pPr indent="0" lvl="0" marL="0" rtl="0" algn="l">
                        <a:spcBef>
                          <a:spcPts val="0"/>
                        </a:spcBef>
                        <a:spcAft>
                          <a:spcPts val="0"/>
                        </a:spcAft>
                        <a:buNone/>
                      </a:pPr>
                      <a:r>
                        <a:rPr lang="en" sz="1200">
                          <a:latin typeface="Roboto"/>
                          <a:ea typeface="Roboto"/>
                          <a:cs typeface="Roboto"/>
                          <a:sym typeface="Roboto"/>
                        </a:rPr>
                        <a:t>Insertion</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Θ(1)</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Θ(N</a:t>
                      </a:r>
                      <a:r>
                        <a:rPr baseline="30000" lang="en" sz="1200">
                          <a:solidFill>
                            <a:schemeClr val="dk1"/>
                          </a:solidFill>
                          <a:latin typeface="Roboto"/>
                          <a:ea typeface="Roboto"/>
                          <a:cs typeface="Roboto"/>
                          <a:sym typeface="Roboto"/>
                        </a:rPr>
                        <a:t>2</a:t>
                      </a:r>
                      <a:r>
                        <a:rPr lang="en" sz="1200">
                          <a:solidFill>
                            <a:schemeClr val="dk1"/>
                          </a:solidFill>
                          <a:latin typeface="Roboto"/>
                          <a:ea typeface="Roboto"/>
                          <a:cs typeface="Roboto"/>
                          <a:sym typeface="Roboto"/>
                        </a:rPr>
                        <a:t>)</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Best for almost sorted and N &lt; 15</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Yes</a:t>
                      </a:r>
                      <a:endParaRPr sz="1200">
                        <a:solidFill>
                          <a:schemeClr val="dk1"/>
                        </a:solidFill>
                        <a:latin typeface="Roboto"/>
                        <a:ea typeface="Roboto"/>
                        <a:cs typeface="Roboto"/>
                        <a:sym typeface="Roboto"/>
                      </a:endParaRPr>
                    </a:p>
                  </a:txBody>
                  <a:tcPr marT="91425" marB="91425" marR="91425" marL="91425"/>
                </a:tc>
              </a:tr>
              <a:tr h="396200">
                <a:tc>
                  <a:txBody>
                    <a:bodyPr/>
                    <a:lstStyle/>
                    <a:p>
                      <a:pPr indent="0" lvl="0" marL="0" rtl="0" algn="l">
                        <a:spcBef>
                          <a:spcPts val="0"/>
                        </a:spcBef>
                        <a:spcAft>
                          <a:spcPts val="0"/>
                        </a:spcAft>
                        <a:buNone/>
                      </a:pPr>
                      <a:r>
                        <a:rPr lang="en" sz="1200">
                          <a:latin typeface="Roboto"/>
                          <a:ea typeface="Roboto"/>
                          <a:cs typeface="Roboto"/>
                          <a:sym typeface="Roboto"/>
                        </a:rPr>
                        <a:t>Mergesort</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Θ(N)</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Θ(N log N)</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latin typeface="Roboto"/>
                          <a:ea typeface="Roboto"/>
                          <a:cs typeface="Roboto"/>
                          <a:sym typeface="Roboto"/>
                        </a:rPr>
                        <a:t>Fastest stable sort</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latin typeface="Roboto"/>
                          <a:ea typeface="Roboto"/>
                          <a:cs typeface="Roboto"/>
                          <a:sym typeface="Roboto"/>
                        </a:rPr>
                        <a:t>Yes</a:t>
                      </a:r>
                      <a:endParaRPr sz="1200">
                        <a:latin typeface="Roboto"/>
                        <a:ea typeface="Roboto"/>
                        <a:cs typeface="Roboto"/>
                        <a:sym typeface="Roboto"/>
                      </a:endParaRPr>
                    </a:p>
                  </a:txBody>
                  <a:tcPr marT="91425" marB="91425" marR="91425" marL="91425"/>
                </a:tc>
              </a:tr>
              <a:tr h="381000">
                <a:tc>
                  <a:txBody>
                    <a:bodyPr/>
                    <a:lstStyle/>
                    <a:p>
                      <a:pPr indent="0" lvl="0" marL="0" rtl="0" algn="l">
                        <a:spcBef>
                          <a:spcPts val="0"/>
                        </a:spcBef>
                        <a:spcAft>
                          <a:spcPts val="0"/>
                        </a:spcAft>
                        <a:buNone/>
                      </a:pPr>
                      <a:r>
                        <a:rPr lang="en" sz="1200">
                          <a:latin typeface="Roboto"/>
                          <a:ea typeface="Roboto"/>
                          <a:cs typeface="Roboto"/>
                          <a:sym typeface="Roboto"/>
                        </a:rPr>
                        <a:t>Quicksort LTHS</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Θ(log N)</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Θ(N log N) expected</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Fastest sort</a:t>
                      </a:r>
                      <a:endParaRPr sz="12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sz="1200">
                          <a:solidFill>
                            <a:schemeClr val="dk1"/>
                          </a:solidFill>
                          <a:latin typeface="Roboto"/>
                          <a:ea typeface="Roboto"/>
                          <a:cs typeface="Roboto"/>
                          <a:sym typeface="Roboto"/>
                        </a:rPr>
                        <a:t>No</a:t>
                      </a:r>
                      <a:endParaRPr sz="1200">
                        <a:solidFill>
                          <a:schemeClr val="dk1"/>
                        </a:solidFill>
                        <a:latin typeface="Roboto"/>
                        <a:ea typeface="Roboto"/>
                        <a:cs typeface="Roboto"/>
                        <a:sym typeface="Roboto"/>
                      </a:endParaRPr>
                    </a:p>
                  </a:txBody>
                  <a:tcPr marT="91425" marB="91425" marR="91425" marL="91425"/>
                </a:tc>
              </a:tr>
            </a:tbl>
          </a:graphicData>
        </a:graphic>
      </p:graphicFrame>
      <p:cxnSp>
        <p:nvCxnSpPr>
          <p:cNvPr id="162" name="Google Shape;162;p26"/>
          <p:cNvCxnSpPr/>
          <p:nvPr/>
        </p:nvCxnSpPr>
        <p:spPr>
          <a:xfrm flipH="1" rot="10800000">
            <a:off x="6651925" y="2936675"/>
            <a:ext cx="531600" cy="482100"/>
          </a:xfrm>
          <a:prstGeom prst="straightConnector1">
            <a:avLst/>
          </a:prstGeom>
          <a:noFill/>
          <a:ln cap="flat" cmpd="sng" w="19050">
            <a:solidFill>
              <a:srgbClr val="E06666"/>
            </a:solidFill>
            <a:prstDash val="solid"/>
            <a:round/>
            <a:headEnd len="med" w="med" type="none"/>
            <a:tailEnd len="med" w="med" type="triangle"/>
          </a:ln>
        </p:spPr>
      </p:cxnSp>
      <p:sp>
        <p:nvSpPr>
          <p:cNvPr id="163" name="Google Shape;163;p26"/>
          <p:cNvSpPr txBox="1"/>
          <p:nvPr/>
        </p:nvSpPr>
        <p:spPr>
          <a:xfrm>
            <a:off x="3842625" y="3400350"/>
            <a:ext cx="4280400" cy="124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You can create a stable Quicksort. However, using unstable partitioning schemes (like Hoare partitioning) and using randomness to avoid bad pivots</a:t>
            </a:r>
            <a:r>
              <a:rPr lang="en">
                <a:solidFill>
                  <a:srgbClr val="BE0712"/>
                </a:solidFill>
              </a:rPr>
              <a:t> tend to yield better runtimes. </a:t>
            </a:r>
            <a:endParaRPr>
              <a:solidFill>
                <a:srgbClr val="BE0712"/>
              </a:solidFill>
            </a:endParaRPr>
          </a:p>
        </p:txBody>
      </p:sp>
      <p:cxnSp>
        <p:nvCxnSpPr>
          <p:cNvPr id="164" name="Google Shape;164;p26"/>
          <p:cNvCxnSpPr/>
          <p:nvPr/>
        </p:nvCxnSpPr>
        <p:spPr>
          <a:xfrm flipH="1" rot="10800000">
            <a:off x="2340150" y="2960937"/>
            <a:ext cx="531600" cy="482100"/>
          </a:xfrm>
          <a:prstGeom prst="straightConnector1">
            <a:avLst/>
          </a:prstGeom>
          <a:noFill/>
          <a:ln cap="flat" cmpd="sng" w="19050">
            <a:solidFill>
              <a:srgbClr val="E06666"/>
            </a:solidFill>
            <a:prstDash val="solid"/>
            <a:round/>
            <a:headEnd len="med" w="med" type="none"/>
            <a:tailEnd len="med" w="med" type="triangle"/>
          </a:ln>
        </p:spPr>
      </p:cxnSp>
      <p:sp>
        <p:nvSpPr>
          <p:cNvPr id="165" name="Google Shape;165;p26"/>
          <p:cNvSpPr txBox="1"/>
          <p:nvPr/>
        </p:nvSpPr>
        <p:spPr>
          <a:xfrm>
            <a:off x="166800" y="3400350"/>
            <a:ext cx="2705100" cy="1389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This is due to the cost of tracking recursive calls by the computer, and is also an “expected” amount. The difference between log N and constant memory is trivial.</a:t>
            </a:r>
            <a:endParaRPr>
              <a:solidFill>
                <a:srgbClr val="BE071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a:t>
            </a:r>
            <a:endParaRPr/>
          </a:p>
        </p:txBody>
      </p:sp>
      <p:sp>
        <p:nvSpPr>
          <p:cNvPr id="171" name="Google Shape;171;p2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Sorting is a foundational problem.</a:t>
            </a:r>
            <a:endParaRPr/>
          </a:p>
          <a:p>
            <a:pPr indent="-342900" lvl="0" marL="457200" rtl="0" algn="l">
              <a:spcBef>
                <a:spcPts val="600"/>
              </a:spcBef>
              <a:spcAft>
                <a:spcPts val="0"/>
              </a:spcAft>
              <a:buSzPts val="1800"/>
              <a:buChar char="●"/>
            </a:pPr>
            <a:r>
              <a:rPr lang="en"/>
              <a:t>Obviously useful for putting things in order.</a:t>
            </a:r>
            <a:endParaRPr/>
          </a:p>
          <a:p>
            <a:pPr indent="-342900" lvl="0" marL="457200" rtl="0" algn="l">
              <a:spcBef>
                <a:spcPts val="0"/>
              </a:spcBef>
              <a:spcAft>
                <a:spcPts val="0"/>
              </a:spcAft>
              <a:buSzPts val="1800"/>
              <a:buChar char="●"/>
            </a:pPr>
            <a:r>
              <a:rPr lang="en"/>
              <a:t>But can also be used to solve other tasks, sometimes in non-trivial ways.</a:t>
            </a:r>
            <a:endParaRPr/>
          </a:p>
          <a:p>
            <a:pPr indent="-342900" lvl="1" marL="914400" rtl="0" algn="l">
              <a:spcBef>
                <a:spcPts val="0"/>
              </a:spcBef>
              <a:spcAft>
                <a:spcPts val="0"/>
              </a:spcAft>
              <a:buSzPts val="1800"/>
              <a:buChar char="○"/>
            </a:pPr>
            <a:r>
              <a:rPr lang="en"/>
              <a:t>Sorting improves duplicate finding from a naive N</a:t>
            </a:r>
            <a:r>
              <a:rPr baseline="30000" lang="en"/>
              <a:t>2</a:t>
            </a:r>
            <a:r>
              <a:rPr lang="en"/>
              <a:t> to N log N.</a:t>
            </a:r>
            <a:endParaRPr/>
          </a:p>
          <a:p>
            <a:pPr indent="-342900" lvl="1" marL="914400" rtl="0" algn="l">
              <a:spcBef>
                <a:spcPts val="0"/>
              </a:spcBef>
              <a:spcAft>
                <a:spcPts val="0"/>
              </a:spcAft>
              <a:buSzPts val="1800"/>
              <a:buChar char="○"/>
            </a:pPr>
            <a:r>
              <a:rPr lang="en"/>
              <a:t>Sorting improves 3SUM from a naive N</a:t>
            </a:r>
            <a:r>
              <a:rPr baseline="30000" lang="en"/>
              <a:t>3</a:t>
            </a:r>
            <a:r>
              <a:rPr lang="en"/>
              <a:t> to N</a:t>
            </a:r>
            <a:r>
              <a:rPr baseline="30000" lang="en"/>
              <a:t>2</a:t>
            </a:r>
            <a:r>
              <a:rPr lang="en"/>
              <a:t>.</a:t>
            </a:r>
            <a:endParaRPr/>
          </a:p>
          <a:p>
            <a:pPr indent="-342900" lvl="0" marL="457200" rtl="0" algn="l">
              <a:spcBef>
                <a:spcPts val="0"/>
              </a:spcBef>
              <a:spcAft>
                <a:spcPts val="0"/>
              </a:spcAft>
              <a:buSzPts val="1800"/>
              <a:buChar char="●"/>
            </a:pPr>
            <a:r>
              <a:rPr lang="en"/>
              <a:t>There are many ways to sort an array, each with its own interesting tradeoffs and algorithmic features.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Today we’ll discuss the fundamental nature of the sorting problem itself: How hard is it to sort?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Comparison Sorts (Your Answer)</a:t>
            </a:r>
            <a:endParaRPr/>
          </a:p>
        </p:txBody>
      </p:sp>
      <p:sp>
        <p:nvSpPr>
          <p:cNvPr id="177" name="Google Shape;177;p28"/>
          <p:cNvSpPr txBox="1"/>
          <p:nvPr>
            <p:ph idx="1" type="body"/>
          </p:nvPr>
        </p:nvSpPr>
        <p:spPr>
          <a:xfrm>
            <a:off x="107044" y="402200"/>
            <a:ext cx="8520600" cy="3416400"/>
          </a:xfrm>
          <a:prstGeom prst="rect">
            <a:avLst/>
          </a:prstGeom>
          <a:ln cap="flat" cmpd="sng" w="9525">
            <a:solidFill>
              <a:srgbClr val="0000FF"/>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600"/>
              </a:spcBef>
              <a:spcAft>
                <a:spcPts val="0"/>
              </a:spcAft>
              <a:buNone/>
            </a:pPr>
            <a:r>
              <a:rPr lang="en"/>
              <a:t>For today, we'll only consider comparison sorts, which sort a list of items using only two operations:</a:t>
            </a:r>
            <a:endParaRPr/>
          </a:p>
          <a:p>
            <a:pPr indent="-342900" lvl="0" marL="457200" rtl="0" algn="l">
              <a:spcBef>
                <a:spcPts val="600"/>
              </a:spcBef>
              <a:spcAft>
                <a:spcPts val="0"/>
              </a:spcAft>
              <a:buSzPts val="1800"/>
              <a:buChar char="●"/>
            </a:pPr>
            <a:r>
              <a:rPr lang="en"/>
              <a:t>compareTo, which compares two items and says which one is greater</a:t>
            </a:r>
            <a:endParaRPr/>
          </a:p>
          <a:p>
            <a:pPr indent="-342900" lvl="0" marL="457200" rtl="0" algn="l">
              <a:spcBef>
                <a:spcPts val="0"/>
              </a:spcBef>
              <a:spcAft>
                <a:spcPts val="0"/>
              </a:spcAft>
              <a:buSzPts val="1800"/>
              <a:buChar char="●"/>
            </a:pPr>
            <a:r>
              <a:rPr lang="en"/>
              <a:t>swap, which swaps the indices of two items in the array</a:t>
            </a:r>
            <a:endParaRPr/>
          </a:p>
          <a:p>
            <a:pPr indent="0" lvl="0" marL="0" rtl="0" algn="l">
              <a:spcBef>
                <a:spcPts val="600"/>
              </a:spcBef>
              <a:spcAft>
                <a:spcPts val="0"/>
              </a:spcAft>
              <a:buNone/>
            </a:pPr>
            <a:r>
              <a:rPr lang="en"/>
              <a:t>This allows our sorting algorithm to work on any Comparable object</a:t>
            </a:r>
            <a:endParaRPr/>
          </a:p>
          <a:p>
            <a:pPr indent="0" lvl="0" marL="0" rtl="0" algn="l">
              <a:spcBef>
                <a:spcPts val="600"/>
              </a:spcBef>
              <a:spcAft>
                <a:spcPts val="0"/>
              </a:spcAft>
              <a:buNone/>
            </a:pPr>
            <a:r>
              <a:rPr lang="en"/>
              <a:t>Examples of comparison sorts:</a:t>
            </a:r>
            <a:r>
              <a:rPr lang="en">
                <a:highlight>
                  <a:srgbClr val="0000FF"/>
                </a:highlight>
              </a:rPr>
              <a:t> </a:t>
            </a:r>
            <a:r>
              <a:rPr lang="en">
                <a:highlight>
                  <a:srgbClr val="FFFFFF"/>
                </a:highlight>
              </a:rPr>
              <a:t>Insertion sort, Mergesort, Selection sort, Bubblesort, </a:t>
            </a:r>
            <a:endParaRPr>
              <a:highlight>
                <a:srgbClr val="FFFFFF"/>
              </a:highlight>
            </a:endParaRPr>
          </a:p>
          <a:p>
            <a:pPr indent="0" lvl="0" marL="0" rtl="0" algn="l">
              <a:spcBef>
                <a:spcPts val="600"/>
              </a:spcBef>
              <a:spcAft>
                <a:spcPts val="0"/>
              </a:spcAft>
              <a:buNone/>
            </a:pPr>
            <a:r>
              <a:rPr lang="en">
                <a:highlight>
                  <a:schemeClr val="lt1"/>
                </a:highlight>
              </a:rPr>
              <a:t>Examples of non-comparison sorts: Stalin sort, BOGO sort, Sleep sort</a:t>
            </a:r>
            <a:endParaRPr>
              <a:highlight>
                <a:srgbClr val="00FFFF"/>
              </a:highligh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Comparison </a:t>
            </a:r>
            <a:r>
              <a:rPr lang="en"/>
              <a:t>Sorts (My Answer)</a:t>
            </a:r>
            <a:endParaRPr/>
          </a:p>
        </p:txBody>
      </p:sp>
      <p:sp>
        <p:nvSpPr>
          <p:cNvPr id="183" name="Google Shape;183;p29"/>
          <p:cNvSpPr txBox="1"/>
          <p:nvPr>
            <p:ph idx="1" type="body"/>
          </p:nvPr>
        </p:nvSpPr>
        <p:spPr>
          <a:xfrm>
            <a:off x="107044" y="402200"/>
            <a:ext cx="8520600" cy="3416400"/>
          </a:xfrm>
          <a:prstGeom prst="rect">
            <a:avLst/>
          </a:prstGeom>
          <a:ln cap="flat" cmpd="sng" w="9525">
            <a:solidFill>
              <a:srgbClr val="0000FF"/>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600"/>
              </a:spcBef>
              <a:spcAft>
                <a:spcPts val="0"/>
              </a:spcAft>
              <a:buNone/>
            </a:pPr>
            <a:r>
              <a:rPr lang="en"/>
              <a:t>For today, we'll only consider comparison sorts, which sort a list of items using only two operations:</a:t>
            </a:r>
            <a:endParaRPr/>
          </a:p>
          <a:p>
            <a:pPr indent="-342900" lvl="0" marL="457200" rtl="0" algn="l">
              <a:spcBef>
                <a:spcPts val="600"/>
              </a:spcBef>
              <a:spcAft>
                <a:spcPts val="0"/>
              </a:spcAft>
              <a:buSzPts val="1800"/>
              <a:buChar char="●"/>
            </a:pPr>
            <a:r>
              <a:rPr lang="en"/>
              <a:t>compareTo, which compares two items and says which one is greater</a:t>
            </a:r>
            <a:endParaRPr/>
          </a:p>
          <a:p>
            <a:pPr indent="-342900" lvl="0" marL="457200" rtl="0" algn="l">
              <a:spcBef>
                <a:spcPts val="0"/>
              </a:spcBef>
              <a:spcAft>
                <a:spcPts val="0"/>
              </a:spcAft>
              <a:buSzPts val="1800"/>
              <a:buChar char="●"/>
            </a:pPr>
            <a:r>
              <a:rPr lang="en"/>
              <a:t>swap, which swaps the indices of two items in the array</a:t>
            </a:r>
            <a:endParaRPr/>
          </a:p>
          <a:p>
            <a:pPr indent="0" lvl="0" marL="0" rtl="0" algn="l">
              <a:spcBef>
                <a:spcPts val="600"/>
              </a:spcBef>
              <a:spcAft>
                <a:spcPts val="0"/>
              </a:spcAft>
              <a:buNone/>
            </a:pPr>
            <a:r>
              <a:rPr lang="en"/>
              <a:t>This allows our sorting algorithm to work on any Comparable object</a:t>
            </a:r>
            <a:endParaRPr/>
          </a:p>
          <a:p>
            <a:pPr indent="0" lvl="0" marL="0" rtl="0" algn="l">
              <a:spcBef>
                <a:spcPts val="600"/>
              </a:spcBef>
              <a:spcAft>
                <a:spcPts val="0"/>
              </a:spcAft>
              <a:buNone/>
            </a:pPr>
            <a:r>
              <a:rPr lang="en"/>
              <a:t>Examples of comparison sorts (ones highlighted in blue haven't been covered yet): Heapsort, Mergesort, Quicksort, Insertion Sort, Selection Sort, </a:t>
            </a:r>
            <a:r>
              <a:rPr lang="en">
                <a:highlight>
                  <a:srgbClr val="00FFFF"/>
                </a:highlight>
              </a:rPr>
              <a:t>Bubble Sort</a:t>
            </a:r>
            <a:r>
              <a:rPr lang="en">
                <a:highlight>
                  <a:srgbClr val="0000FF"/>
                </a:highlight>
              </a:rPr>
              <a:t> </a:t>
            </a:r>
            <a:endParaRPr>
              <a:highlight>
                <a:srgbClr val="0000FF"/>
              </a:highlight>
            </a:endParaRPr>
          </a:p>
          <a:p>
            <a:pPr indent="0" lvl="0" marL="0" rtl="0" algn="l">
              <a:spcBef>
                <a:spcPts val="600"/>
              </a:spcBef>
              <a:spcAft>
                <a:spcPts val="0"/>
              </a:spcAft>
              <a:buNone/>
            </a:pPr>
            <a:r>
              <a:rPr lang="en">
                <a:highlight>
                  <a:schemeClr val="lt1"/>
                </a:highlight>
              </a:rPr>
              <a:t>Examples of non-comparison sorts: </a:t>
            </a:r>
            <a:r>
              <a:rPr lang="en">
                <a:highlight>
                  <a:srgbClr val="00FFFF"/>
                </a:highlight>
              </a:rPr>
              <a:t>Radix Sort, Sleepsort, Gravity Sort, BOGOsort</a:t>
            </a:r>
            <a:endParaRPr>
              <a:highlight>
                <a:srgbClr val="00FFFF"/>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0"/>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189" name="Google Shape;189;p30"/>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Goal: How Hard is Sorting?</a:t>
            </a:r>
            <a:endParaRPr/>
          </a:p>
          <a:p>
            <a:pPr indent="0" lvl="0" marL="0" rtl="0" algn="l">
              <a:spcBef>
                <a:spcPts val="600"/>
              </a:spcBef>
              <a:spcAft>
                <a:spcPts val="0"/>
              </a:spcAft>
              <a:buClr>
                <a:schemeClr val="dk1"/>
              </a:buClr>
              <a:buSzPts val="1100"/>
              <a:buFont typeface="Arial"/>
              <a:buNone/>
            </a:pPr>
            <a:r>
              <a:rPr b="1" lang="en">
                <a:solidFill>
                  <a:schemeClr val="accent3"/>
                </a:solidFill>
                <a:latin typeface="Roboto"/>
                <a:ea typeface="Roboto"/>
                <a:cs typeface="Roboto"/>
                <a:sym typeface="Roboto"/>
              </a:rPr>
              <a:t>Math Problem Warmup</a:t>
            </a:r>
            <a:endParaRPr b="1">
              <a:solidFill>
                <a:schemeClr val="accent3"/>
              </a:solidFill>
              <a:latin typeface="Roboto"/>
              <a:ea typeface="Roboto"/>
              <a:cs typeface="Roboto"/>
              <a:sym typeface="Roboto"/>
            </a:endParaRPr>
          </a:p>
          <a:p>
            <a:pPr indent="0" lvl="0" marL="0" rtl="0" algn="l">
              <a:spcBef>
                <a:spcPts val="600"/>
              </a:spcBef>
              <a:spcAft>
                <a:spcPts val="0"/>
              </a:spcAft>
              <a:buClr>
                <a:schemeClr val="dk1"/>
              </a:buClr>
              <a:buSzPts val="1100"/>
              <a:buFont typeface="Arial"/>
              <a:buNone/>
            </a:pPr>
            <a:r>
              <a:rPr lang="en"/>
              <a:t>Theoretical Bounds on Sorting</a:t>
            </a:r>
            <a:endParaRPr/>
          </a:p>
          <a:p>
            <a:pPr indent="-342900" lvl="0" marL="457200" rtl="0" algn="l">
              <a:spcBef>
                <a:spcPts val="600"/>
              </a:spcBef>
              <a:spcAft>
                <a:spcPts val="0"/>
              </a:spcAft>
              <a:buSzPts val="1800"/>
              <a:buChar char="•"/>
            </a:pPr>
            <a:r>
              <a:rPr lang="en"/>
              <a:t>Simple Bounds for TUCS (the ultimate comparison sort)</a:t>
            </a:r>
            <a:endParaRPr/>
          </a:p>
          <a:p>
            <a:pPr indent="-342900" lvl="0" marL="457200" rtl="0" algn="l">
              <a:spcBef>
                <a:spcPts val="0"/>
              </a:spcBef>
              <a:spcAft>
                <a:spcPts val="0"/>
              </a:spcAft>
              <a:buSzPts val="1800"/>
              <a:buChar char="•"/>
            </a:pPr>
            <a:r>
              <a:rPr lang="en"/>
              <a:t>Coin Puzzles</a:t>
            </a:r>
            <a:endParaRPr/>
          </a:p>
          <a:p>
            <a:pPr indent="-342900" lvl="0" marL="457200" rtl="0" algn="l">
              <a:spcBef>
                <a:spcPts val="0"/>
              </a:spcBef>
              <a:spcAft>
                <a:spcPts val="0"/>
              </a:spcAft>
              <a:buSzPts val="1800"/>
              <a:buChar char="•"/>
            </a:pPr>
            <a:r>
              <a:rPr lang="en"/>
              <a:t>Puppy Cat Dog</a:t>
            </a:r>
            <a:endParaRPr/>
          </a:p>
          <a:p>
            <a:pPr indent="-342900" lvl="0" marL="457200" rtl="0" algn="l">
              <a:spcBef>
                <a:spcPts val="0"/>
              </a:spcBef>
              <a:spcAft>
                <a:spcPts val="0"/>
              </a:spcAft>
              <a:buSzPts val="1800"/>
              <a:buChar char="•"/>
            </a:pPr>
            <a:r>
              <a:rPr lang="en"/>
              <a:t>The Sorting Lower Bound</a:t>
            </a:r>
            <a:endParaRPr/>
          </a:p>
          <a:p>
            <a:pPr indent="0" lvl="0" marL="0" rtl="0" algn="l">
              <a:spcBef>
                <a:spcPts val="600"/>
              </a:spcBef>
              <a:spcAft>
                <a:spcPts val="0"/>
              </a:spcAft>
              <a:buClr>
                <a:schemeClr val="dk1"/>
              </a:buClr>
              <a:buSzPts val="1100"/>
              <a:buFont typeface="Arial"/>
              <a:buNone/>
            </a:pPr>
            <a:r>
              <a:rPr lang="en"/>
              <a:t>Sounds of Sorting</a:t>
            </a:r>
            <a:endParaRPr/>
          </a:p>
        </p:txBody>
      </p:sp>
      <p:sp>
        <p:nvSpPr>
          <p:cNvPr id="190" name="Google Shape;190;p30"/>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Math Problem Warmup</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194" name="Shape 194"/>
        <p:cNvGrpSpPr/>
        <p:nvPr/>
      </p:nvGrpSpPr>
      <p:grpSpPr>
        <a:xfrm>
          <a:off x="0" y="0"/>
          <a:ext cx="0" cy="0"/>
          <a:chOff x="0" y="0"/>
          <a:chExt cx="0" cy="0"/>
        </a:xfrm>
      </p:grpSpPr>
      <p:sp>
        <p:nvSpPr>
          <p:cNvPr id="195" name="Google Shape;195;p3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Math Problem out of Nowhere</a:t>
            </a:r>
            <a:endParaRPr/>
          </a:p>
        </p:txBody>
      </p:sp>
      <p:sp>
        <p:nvSpPr>
          <p:cNvPr id="196" name="Google Shape;196;p3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Consider the functions N! and (N/2)</a:t>
            </a:r>
            <a:r>
              <a:rPr baseline="30000" lang="en"/>
              <a:t>N/2</a:t>
            </a:r>
            <a:endParaRPr baseline="30000"/>
          </a:p>
          <a:p>
            <a:pPr indent="0" lvl="0" marL="0" rtl="0" algn="l">
              <a:spcBef>
                <a:spcPts val="600"/>
              </a:spcBef>
              <a:spcAft>
                <a:spcPts val="0"/>
              </a:spcAft>
              <a:buNone/>
            </a:pPr>
            <a:r>
              <a:t/>
            </a:r>
            <a:endParaRPr baseline="30000"/>
          </a:p>
          <a:p>
            <a:pPr indent="0" lvl="0" marL="0" rtl="0" algn="l">
              <a:spcBef>
                <a:spcPts val="600"/>
              </a:spcBef>
              <a:spcAft>
                <a:spcPts val="0"/>
              </a:spcAft>
              <a:buNone/>
            </a:pPr>
            <a:r>
              <a:rPr lang="en"/>
              <a:t>Is N! ∈ Ω((N/2)</a:t>
            </a:r>
            <a:r>
              <a:rPr baseline="30000" lang="en"/>
              <a:t>N/2</a:t>
            </a:r>
            <a:r>
              <a:rPr lang="en"/>
              <a:t>)? Prove your answer.</a:t>
            </a:r>
            <a:endParaRPr/>
          </a:p>
          <a:p>
            <a:pPr indent="-342900" lvl="0" marL="457200" rtl="0" algn="l">
              <a:spcBef>
                <a:spcPts val="600"/>
              </a:spcBef>
              <a:spcAft>
                <a:spcPts val="0"/>
              </a:spcAft>
              <a:buSzPts val="1800"/>
              <a:buChar char="●"/>
            </a:pPr>
            <a:r>
              <a:rPr lang="en"/>
              <a:t>Recall that ∈ Ω can be informally be interpreted to mean ≥</a:t>
            </a:r>
            <a:endParaRPr/>
          </a:p>
          <a:p>
            <a:pPr indent="-342900" lvl="0" marL="457200" rtl="0" algn="l">
              <a:spcBef>
                <a:spcPts val="0"/>
              </a:spcBef>
              <a:spcAft>
                <a:spcPts val="0"/>
              </a:spcAft>
              <a:buSzPts val="1800"/>
              <a:buChar char="●"/>
            </a:pPr>
            <a:r>
              <a:rPr lang="en"/>
              <a:t>In other words, does factorial grow at least as quickly as </a:t>
            </a:r>
            <a:r>
              <a:rPr lang="en"/>
              <a:t>(N/2)</a:t>
            </a:r>
            <a:r>
              <a:rPr baseline="30000" lang="en"/>
              <a:t>N/2</a:t>
            </a:r>
            <a:r>
              <a:rPr lang="en"/>
              <a:t>?</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3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Math Problem out of Nowhere</a:t>
            </a:r>
            <a:endParaRPr/>
          </a:p>
        </p:txBody>
      </p:sp>
      <p:sp>
        <p:nvSpPr>
          <p:cNvPr id="202" name="Google Shape;202;p3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Consider the functions N! and (N/2)</a:t>
            </a:r>
            <a:r>
              <a:rPr baseline="30000" lang="en"/>
              <a:t>N/2</a:t>
            </a:r>
            <a:endParaRPr baseline="30000"/>
          </a:p>
          <a:p>
            <a:pPr indent="0" lvl="0" marL="0" rtl="0" algn="l">
              <a:spcBef>
                <a:spcPts val="600"/>
              </a:spcBef>
              <a:spcAft>
                <a:spcPts val="0"/>
              </a:spcAft>
              <a:buNone/>
            </a:pPr>
            <a:r>
              <a:t/>
            </a:r>
            <a:endParaRPr baseline="30000"/>
          </a:p>
          <a:p>
            <a:pPr indent="0" lvl="0" marL="0" rtl="0" algn="l">
              <a:spcBef>
                <a:spcPts val="600"/>
              </a:spcBef>
              <a:spcAft>
                <a:spcPts val="0"/>
              </a:spcAft>
              <a:buClr>
                <a:schemeClr val="dk1"/>
              </a:buClr>
              <a:buSzPts val="1100"/>
              <a:buFont typeface="Arial"/>
              <a:buNone/>
            </a:pPr>
            <a:r>
              <a:rPr lang="en"/>
              <a:t>Is N! ∈ Ω((N/2)</a:t>
            </a:r>
            <a:r>
              <a:rPr baseline="30000" lang="en"/>
              <a:t>N/2</a:t>
            </a:r>
            <a:r>
              <a:rPr lang="en"/>
              <a:t>)? Prove your answer.</a:t>
            </a:r>
            <a:endParaRPr baseline="30000"/>
          </a:p>
          <a:p>
            <a:pPr indent="0" lvl="0" marL="0" rtl="0" algn="l">
              <a:spcBef>
                <a:spcPts val="600"/>
              </a:spcBef>
              <a:spcAft>
                <a:spcPts val="0"/>
              </a:spcAft>
              <a:buNone/>
            </a:pPr>
            <a:r>
              <a:t/>
            </a:r>
            <a:endParaRPr baseline="30000"/>
          </a:p>
          <a:p>
            <a:pPr indent="0" lvl="0" marL="0" rtl="0" algn="l">
              <a:spcBef>
                <a:spcPts val="600"/>
              </a:spcBef>
              <a:spcAft>
                <a:spcPts val="0"/>
              </a:spcAft>
              <a:buNone/>
            </a:pPr>
            <a:r>
              <a:rPr lang="en"/>
              <a:t>10!</a:t>
            </a:r>
            <a:endParaRPr/>
          </a:p>
          <a:p>
            <a:pPr indent="-342900" lvl="0" marL="457200" rtl="0" algn="l">
              <a:spcBef>
                <a:spcPts val="600"/>
              </a:spcBef>
              <a:spcAft>
                <a:spcPts val="0"/>
              </a:spcAft>
              <a:buSzPts val="1800"/>
              <a:buChar char="●"/>
            </a:pPr>
            <a:r>
              <a:rPr b="1" lang="en"/>
              <a:t>10 * 9 * 8 * 7 * 6</a:t>
            </a:r>
            <a:r>
              <a:rPr lang="en"/>
              <a:t> * … * 1</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5</a:t>
            </a:r>
            <a:r>
              <a:rPr baseline="30000" lang="en"/>
              <a:t>5</a:t>
            </a:r>
            <a:endParaRPr baseline="30000"/>
          </a:p>
          <a:p>
            <a:pPr indent="-342900" lvl="0" marL="457200" rtl="0" algn="l">
              <a:spcBef>
                <a:spcPts val="600"/>
              </a:spcBef>
              <a:spcAft>
                <a:spcPts val="0"/>
              </a:spcAft>
              <a:buSzPts val="1800"/>
              <a:buChar char="●"/>
            </a:pPr>
            <a:r>
              <a:rPr b="1" lang="en"/>
              <a:t>5 * 5 * 5 * 5 * 5</a:t>
            </a:r>
            <a:endParaRPr b="1"/>
          </a:p>
          <a:p>
            <a:pPr indent="0" lvl="0" marL="0" rtl="0" algn="l">
              <a:spcBef>
                <a:spcPts val="600"/>
              </a:spcBef>
              <a:spcAft>
                <a:spcPts val="0"/>
              </a:spcAft>
              <a:buNone/>
            </a:pPr>
            <a:r>
              <a:t/>
            </a:r>
            <a:endParaRPr baseline="30000"/>
          </a:p>
          <a:p>
            <a:pPr indent="0" lvl="0" marL="0" rtl="0" algn="l">
              <a:spcBef>
                <a:spcPts val="600"/>
              </a:spcBef>
              <a:spcAft>
                <a:spcPts val="0"/>
              </a:spcAft>
              <a:buNone/>
            </a:pPr>
            <a:r>
              <a:rPr lang="en"/>
              <a:t>N! &gt; (N/2)</a:t>
            </a:r>
            <a:r>
              <a:rPr baseline="30000" lang="en"/>
              <a:t>N/2</a:t>
            </a:r>
            <a:r>
              <a:rPr lang="en"/>
              <a:t>, for large N, therefore N! ∈ Ω((N/2)</a:t>
            </a:r>
            <a:r>
              <a:rPr baseline="30000" lang="en"/>
              <a:t>N/2</a:t>
            </a:r>
            <a:r>
              <a:rPr lang="en"/>
              <a:t>)</a:t>
            </a:r>
            <a:endParaRPr baseline="30000"/>
          </a:p>
          <a:p>
            <a:pPr indent="0" lvl="0" marL="0" rtl="0" algn="l">
              <a:spcBef>
                <a:spcPts val="60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206" name="Shape 206"/>
        <p:cNvGrpSpPr/>
        <p:nvPr/>
      </p:nvGrpSpPr>
      <p:grpSpPr>
        <a:xfrm>
          <a:off x="0" y="0"/>
          <a:ext cx="0" cy="0"/>
          <a:chOff x="0" y="0"/>
          <a:chExt cx="0" cy="0"/>
        </a:xfrm>
      </p:grpSpPr>
      <p:sp>
        <p:nvSpPr>
          <p:cNvPr id="207" name="Google Shape;207;p3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Another Math Problem</a:t>
            </a:r>
            <a:endParaRPr/>
          </a:p>
        </p:txBody>
      </p:sp>
      <p:sp>
        <p:nvSpPr>
          <p:cNvPr id="208" name="Google Shape;208;p3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Given: N! &gt; (N/2)</a:t>
            </a:r>
            <a:r>
              <a:rPr baseline="30000" lang="en"/>
              <a:t>N/2</a:t>
            </a:r>
            <a:r>
              <a:rPr lang="en"/>
              <a:t>, which we used to prove our answer to the previous problem.</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Show that </a:t>
            </a:r>
            <a:r>
              <a:rPr lang="en"/>
              <a:t>log(N!) ∈ Ω(N log N)</a:t>
            </a:r>
            <a:r>
              <a:rPr lang="en"/>
              <a:t>.</a:t>
            </a:r>
            <a:endParaRPr/>
          </a:p>
          <a:p>
            <a:pPr indent="-342900" lvl="0" marL="457200" rtl="0" algn="l">
              <a:spcBef>
                <a:spcPts val="600"/>
              </a:spcBef>
              <a:spcAft>
                <a:spcPts val="0"/>
              </a:spcAft>
              <a:buSzPts val="1800"/>
              <a:buChar char="●"/>
            </a:pPr>
            <a:r>
              <a:rPr lang="en"/>
              <a:t>Recall: log means an unspecified base.</a:t>
            </a:r>
            <a:endParaRPr/>
          </a:p>
          <a:p>
            <a:pPr indent="-342900" lvl="0" marL="457200" rtl="0" algn="l">
              <a:spcBef>
                <a:spcPts val="0"/>
              </a:spcBef>
              <a:spcAft>
                <a:spcPts val="0"/>
              </a:spcAft>
              <a:buSzPts val="1800"/>
              <a:buChar char="●"/>
            </a:pPr>
            <a:r>
              <a:rPr lang="en"/>
              <a:t>Remember your log rules:</a:t>
            </a:r>
            <a:endParaRPr/>
          </a:p>
          <a:p>
            <a:pPr indent="-342900" lvl="1" marL="914400" rtl="0" algn="l">
              <a:spcBef>
                <a:spcPts val="0"/>
              </a:spcBef>
              <a:spcAft>
                <a:spcPts val="0"/>
              </a:spcAft>
              <a:buSzPts val="1800"/>
              <a:buChar char="○"/>
            </a:pPr>
            <a:r>
              <a:rPr lang="en"/>
              <a:t>log(A</a:t>
            </a:r>
            <a:r>
              <a:rPr baseline="30000" lang="en"/>
              <a:t>B</a:t>
            </a:r>
            <a:r>
              <a:rPr lang="en"/>
              <a:t>) = B * log(A)</a:t>
            </a:r>
            <a:endParaRPr/>
          </a:p>
          <a:p>
            <a:pPr indent="-342900" lvl="1" marL="914400" rtl="0" algn="l">
              <a:spcBef>
                <a:spcPts val="0"/>
              </a:spcBef>
              <a:spcAft>
                <a:spcPts val="0"/>
              </a:spcAft>
              <a:buSzPts val="1800"/>
              <a:buChar char="○"/>
            </a:pPr>
            <a:r>
              <a:rPr lang="en"/>
              <a:t>log(A*B) = log(A) + log(B)</a:t>
            </a:r>
            <a:endParaRPr/>
          </a:p>
          <a:p>
            <a:pPr indent="-342900" lvl="1" marL="914400" rtl="0" algn="l">
              <a:spcBef>
                <a:spcPts val="0"/>
              </a:spcBef>
              <a:spcAft>
                <a:spcPts val="0"/>
              </a:spcAft>
              <a:buSzPts val="1800"/>
              <a:buChar char="○"/>
            </a:pPr>
            <a:r>
              <a:rPr lang="en"/>
              <a:t>log</a:t>
            </a:r>
            <a:r>
              <a:rPr baseline="-25000" lang="en"/>
              <a:t>A</a:t>
            </a:r>
            <a:r>
              <a:rPr lang="en"/>
              <a:t>(B) = log(B)/log(A)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 name="Shape 212"/>
        <p:cNvGrpSpPr/>
        <p:nvPr/>
      </p:nvGrpSpPr>
      <p:grpSpPr>
        <a:xfrm>
          <a:off x="0" y="0"/>
          <a:ext cx="0" cy="0"/>
          <a:chOff x="0" y="0"/>
          <a:chExt cx="0" cy="0"/>
        </a:xfrm>
      </p:grpSpPr>
      <p:sp>
        <p:nvSpPr>
          <p:cNvPr id="213" name="Google Shape;213;p3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Another Math Problem</a:t>
            </a:r>
            <a:endParaRPr/>
          </a:p>
        </p:txBody>
      </p:sp>
      <p:sp>
        <p:nvSpPr>
          <p:cNvPr id="214" name="Google Shape;214;p3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Given that N! &gt; (N/2)</a:t>
            </a:r>
            <a:r>
              <a:rPr baseline="30000" lang="en"/>
              <a:t>N/2</a:t>
            </a:r>
            <a:endParaRPr/>
          </a:p>
          <a:p>
            <a:pPr indent="0" lvl="0" marL="0" rtl="0" algn="l">
              <a:spcBef>
                <a:spcPts val="600"/>
              </a:spcBef>
              <a:spcAft>
                <a:spcPts val="0"/>
              </a:spcAft>
              <a:buClr>
                <a:schemeClr val="dk1"/>
              </a:buClr>
              <a:buSzPts val="1100"/>
              <a:buFont typeface="Arial"/>
              <a:buNone/>
            </a:pPr>
            <a:r>
              <a:t/>
            </a:r>
            <a:endParaRPr/>
          </a:p>
          <a:p>
            <a:pPr indent="0" lvl="0" marL="0" rtl="0" algn="l">
              <a:spcBef>
                <a:spcPts val="600"/>
              </a:spcBef>
              <a:spcAft>
                <a:spcPts val="0"/>
              </a:spcAft>
              <a:buClr>
                <a:schemeClr val="dk1"/>
              </a:buClr>
              <a:buSzPts val="1100"/>
              <a:buFont typeface="Arial"/>
              <a:buNone/>
            </a:pPr>
            <a:r>
              <a:rPr lang="en"/>
              <a:t>Show that log(N!) ∈ Ω(N log N).</a:t>
            </a:r>
            <a:endParaRPr/>
          </a:p>
          <a:p>
            <a:pPr indent="0" lvl="0" marL="0" rtl="0" algn="l">
              <a:spcBef>
                <a:spcPts val="600"/>
              </a:spcBef>
              <a:spcAft>
                <a:spcPts val="0"/>
              </a:spcAft>
              <a:buClr>
                <a:schemeClr val="dk1"/>
              </a:buClr>
              <a:buSzPts val="1100"/>
              <a:buFont typeface="Arial"/>
              <a:buNone/>
            </a:pPr>
            <a:r>
              <a:t/>
            </a:r>
            <a:endParaRPr/>
          </a:p>
          <a:p>
            <a:pPr indent="0" lvl="0" marL="0" rtl="0" algn="l">
              <a:spcBef>
                <a:spcPts val="600"/>
              </a:spcBef>
              <a:spcAft>
                <a:spcPts val="0"/>
              </a:spcAft>
              <a:buNone/>
            </a:pPr>
            <a:r>
              <a:t/>
            </a:r>
            <a:endParaRPr/>
          </a:p>
        </p:txBody>
      </p:sp>
      <p:sp>
        <p:nvSpPr>
          <p:cNvPr id="215" name="Google Shape;215;p34"/>
          <p:cNvSpPr txBox="1"/>
          <p:nvPr/>
        </p:nvSpPr>
        <p:spPr>
          <a:xfrm>
            <a:off x="249925" y="2131975"/>
            <a:ext cx="8229600" cy="29394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800">
                <a:solidFill>
                  <a:schemeClr val="dk1"/>
                </a:solidFill>
                <a:latin typeface="Roboto"/>
                <a:ea typeface="Roboto"/>
                <a:cs typeface="Roboto"/>
                <a:sym typeface="Roboto"/>
              </a:rPr>
              <a:t>We have that N! &gt; (N/2)</a:t>
            </a:r>
            <a:r>
              <a:rPr baseline="30000" lang="en" sz="1800">
                <a:solidFill>
                  <a:schemeClr val="dk1"/>
                </a:solidFill>
                <a:latin typeface="Roboto"/>
                <a:ea typeface="Roboto"/>
                <a:cs typeface="Roboto"/>
                <a:sym typeface="Roboto"/>
              </a:rPr>
              <a:t>N/2</a:t>
            </a:r>
            <a:endParaRPr baseline="30000" sz="1800">
              <a:solidFill>
                <a:schemeClr val="dk1"/>
              </a:solidFill>
              <a:latin typeface="Roboto"/>
              <a:ea typeface="Roboto"/>
              <a:cs typeface="Roboto"/>
              <a:sym typeface="Roboto"/>
            </a:endParaRPr>
          </a:p>
          <a:p>
            <a:pPr indent="-342900" lvl="0" marL="457200" rtl="0" algn="l">
              <a:spcBef>
                <a:spcPts val="600"/>
              </a:spcBef>
              <a:spcAft>
                <a:spcPts val="0"/>
              </a:spcAft>
              <a:buClr>
                <a:schemeClr val="dk1"/>
              </a:buClr>
              <a:buSzPts val="1800"/>
              <a:buFont typeface="Roboto"/>
              <a:buChar char="●"/>
            </a:pPr>
            <a:r>
              <a:rPr lang="en" sz="1800">
                <a:solidFill>
                  <a:schemeClr val="dk1"/>
                </a:solidFill>
                <a:latin typeface="Roboto"/>
                <a:ea typeface="Roboto"/>
                <a:cs typeface="Roboto"/>
                <a:sym typeface="Roboto"/>
              </a:rPr>
              <a:t>Taking the log of both sides, we have that log(N!) &gt; log((N/2)</a:t>
            </a:r>
            <a:r>
              <a:rPr baseline="30000" lang="en" sz="1800">
                <a:solidFill>
                  <a:schemeClr val="dk1"/>
                </a:solidFill>
                <a:latin typeface="Roboto"/>
                <a:ea typeface="Roboto"/>
                <a:cs typeface="Roboto"/>
                <a:sym typeface="Roboto"/>
              </a:rPr>
              <a:t>N/2</a:t>
            </a:r>
            <a:r>
              <a:rPr lang="en" sz="1800">
                <a:solidFill>
                  <a:schemeClr val="dk1"/>
                </a:solidFill>
                <a:latin typeface="Roboto"/>
                <a:ea typeface="Roboto"/>
                <a:cs typeface="Roboto"/>
                <a:sym typeface="Roboto"/>
              </a:rPr>
              <a:t>).</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Bringing down the exponent we have that log(N!) &gt; N/2 log(N/2).</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Using log rules we have that </a:t>
            </a:r>
            <a:r>
              <a:rPr lang="en" sz="1800">
                <a:solidFill>
                  <a:schemeClr val="dk1"/>
                </a:solidFill>
                <a:latin typeface="Roboto"/>
                <a:ea typeface="Roboto"/>
                <a:cs typeface="Roboto"/>
                <a:sym typeface="Roboto"/>
              </a:rPr>
              <a:t>log(N!) &gt; N/2 (log(N) - log(2))</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Discarding the unnecessary constants, we have log(N!) ∈ Ω(N log (N/2)).</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From there, we have that log(N!) ∈ Ω(N log N).</a:t>
            </a:r>
            <a:endParaRPr sz="1800">
              <a:solidFill>
                <a:schemeClr val="dk1"/>
              </a:solidFill>
              <a:latin typeface="Roboto"/>
              <a:ea typeface="Roboto"/>
              <a:cs typeface="Roboto"/>
              <a:sym typeface="Roboto"/>
            </a:endParaRPr>
          </a:p>
        </p:txBody>
      </p:sp>
      <p:sp>
        <p:nvSpPr>
          <p:cNvPr id="216" name="Google Shape;216;p34"/>
          <p:cNvSpPr txBox="1"/>
          <p:nvPr/>
        </p:nvSpPr>
        <p:spPr>
          <a:xfrm>
            <a:off x="226374" y="4399975"/>
            <a:ext cx="8834100" cy="5952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800">
                <a:solidFill>
                  <a:schemeClr val="dk1"/>
                </a:solidFill>
                <a:latin typeface="Roboto"/>
                <a:ea typeface="Roboto"/>
                <a:cs typeface="Roboto"/>
                <a:sym typeface="Roboto"/>
              </a:rPr>
              <a:t>In other words, log(N!) grows at least as quickly as N log N.</a:t>
            </a:r>
            <a:endParaRPr sz="1800">
              <a:solidFill>
                <a:schemeClr val="dk1"/>
              </a:solidFill>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
                                            <p:txEl>
                                              <p:pRg end="0" st="0"/>
                                            </p:txEl>
                                          </p:spTgt>
                                        </p:tgtEl>
                                        <p:attrNameLst>
                                          <p:attrName>style.visibility</p:attrName>
                                        </p:attrNameLst>
                                      </p:cBhvr>
                                      <p:to>
                                        <p:strVal val="visible"/>
                                      </p:to>
                                    </p:set>
                                    <p:animEffect filter="fade" transition="in">
                                      <p:cBhvr>
                                        <p:cTn dur="1"/>
                                        <p:tgtEl>
                                          <p:spTgt spid="215">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
                                            <p:txEl>
                                              <p:pRg end="1" st="1"/>
                                            </p:txEl>
                                          </p:spTgt>
                                        </p:tgtEl>
                                        <p:attrNameLst>
                                          <p:attrName>style.visibility</p:attrName>
                                        </p:attrNameLst>
                                      </p:cBhvr>
                                      <p:to>
                                        <p:strVal val="visible"/>
                                      </p:to>
                                    </p:set>
                                    <p:animEffect filter="fade" transition="in">
                                      <p:cBhvr>
                                        <p:cTn dur="1"/>
                                        <p:tgtEl>
                                          <p:spTgt spid="215">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
                                            <p:txEl>
                                              <p:pRg end="2" st="2"/>
                                            </p:txEl>
                                          </p:spTgt>
                                        </p:tgtEl>
                                        <p:attrNameLst>
                                          <p:attrName>style.visibility</p:attrName>
                                        </p:attrNameLst>
                                      </p:cBhvr>
                                      <p:to>
                                        <p:strVal val="visible"/>
                                      </p:to>
                                    </p:set>
                                    <p:animEffect filter="fade" transition="in">
                                      <p:cBhvr>
                                        <p:cTn dur="1"/>
                                        <p:tgtEl>
                                          <p:spTgt spid="215">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
                                            <p:txEl>
                                              <p:pRg end="3" st="3"/>
                                            </p:txEl>
                                          </p:spTgt>
                                        </p:tgtEl>
                                        <p:attrNameLst>
                                          <p:attrName>style.visibility</p:attrName>
                                        </p:attrNameLst>
                                      </p:cBhvr>
                                      <p:to>
                                        <p:strVal val="visible"/>
                                      </p:to>
                                    </p:set>
                                    <p:animEffect filter="fade" transition="in">
                                      <p:cBhvr>
                                        <p:cTn dur="1"/>
                                        <p:tgtEl>
                                          <p:spTgt spid="215">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
                                            <p:txEl>
                                              <p:pRg end="4" st="4"/>
                                            </p:txEl>
                                          </p:spTgt>
                                        </p:tgtEl>
                                        <p:attrNameLst>
                                          <p:attrName>style.visibility</p:attrName>
                                        </p:attrNameLst>
                                      </p:cBhvr>
                                      <p:to>
                                        <p:strVal val="visible"/>
                                      </p:to>
                                    </p:set>
                                    <p:animEffect filter="fade" transition="in">
                                      <p:cBhvr>
                                        <p:cTn dur="1"/>
                                        <p:tgtEl>
                                          <p:spTgt spid="215">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5">
                                            <p:txEl>
                                              <p:pRg end="5" st="5"/>
                                            </p:txEl>
                                          </p:spTgt>
                                        </p:tgtEl>
                                        <p:attrNameLst>
                                          <p:attrName>style.visibility</p:attrName>
                                        </p:attrNameLst>
                                      </p:cBhvr>
                                      <p:to>
                                        <p:strVal val="visible"/>
                                      </p:to>
                                    </p:set>
                                    <p:animEffect filter="fade" transition="in">
                                      <p:cBhvr>
                                        <p:cTn dur="1"/>
                                        <p:tgtEl>
                                          <p:spTgt spid="215">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animEffect filter="fade" transition="in">
                                      <p:cBhvr>
                                        <p:cTn dur="1"/>
                                        <p:tgtEl>
                                          <p:spTgt spid="216">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220" name="Shape 220"/>
        <p:cNvGrpSpPr/>
        <p:nvPr/>
      </p:nvGrpSpPr>
      <p:grpSpPr>
        <a:xfrm>
          <a:off x="0" y="0"/>
          <a:ext cx="0" cy="0"/>
          <a:chOff x="0" y="0"/>
          <a:chExt cx="0" cy="0"/>
        </a:xfrm>
      </p:grpSpPr>
      <p:sp>
        <p:nvSpPr>
          <p:cNvPr id="221" name="Google Shape;221;p3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Last Math Problem</a:t>
            </a:r>
            <a:endParaRPr/>
          </a:p>
        </p:txBody>
      </p:sp>
      <p:sp>
        <p:nvSpPr>
          <p:cNvPr id="222" name="Google Shape;222;p3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In the previous problem, we showed that log(N!) ∈ Ω(N log N).</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Now s</a:t>
            </a:r>
            <a:r>
              <a:rPr lang="en"/>
              <a:t>how that N log N ∈ Ω(log(N!)).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3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Last Math Problem</a:t>
            </a:r>
            <a:endParaRPr/>
          </a:p>
        </p:txBody>
      </p:sp>
      <p:sp>
        <p:nvSpPr>
          <p:cNvPr id="228" name="Google Shape;228;p3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Show that N log N ∈ Ω(log(N!))</a:t>
            </a:r>
            <a:endParaRPr/>
          </a:p>
        </p:txBody>
      </p:sp>
      <p:sp>
        <p:nvSpPr>
          <p:cNvPr id="229" name="Google Shape;229;p36"/>
          <p:cNvSpPr txBox="1"/>
          <p:nvPr/>
        </p:nvSpPr>
        <p:spPr>
          <a:xfrm>
            <a:off x="239589" y="1295400"/>
            <a:ext cx="8539500" cy="30000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800">
                <a:solidFill>
                  <a:schemeClr val="dk1"/>
                </a:solidFill>
                <a:latin typeface="Roboto"/>
                <a:ea typeface="Roboto"/>
                <a:cs typeface="Roboto"/>
                <a:sym typeface="Roboto"/>
              </a:rPr>
              <a:t>Proof:</a:t>
            </a:r>
            <a:endParaRPr sz="1800">
              <a:solidFill>
                <a:schemeClr val="dk1"/>
              </a:solidFill>
              <a:latin typeface="Roboto"/>
              <a:ea typeface="Roboto"/>
              <a:cs typeface="Roboto"/>
              <a:sym typeface="Roboto"/>
            </a:endParaRPr>
          </a:p>
          <a:p>
            <a:pPr indent="-342900" lvl="0" marL="457200" rtl="0" algn="l">
              <a:spcBef>
                <a:spcPts val="600"/>
              </a:spcBef>
              <a:spcAft>
                <a:spcPts val="0"/>
              </a:spcAft>
              <a:buClr>
                <a:schemeClr val="dk1"/>
              </a:buClr>
              <a:buSzPts val="1800"/>
              <a:buFont typeface="Roboto"/>
              <a:buChar char="●"/>
            </a:pPr>
            <a:r>
              <a:rPr lang="en" sz="1800">
                <a:solidFill>
                  <a:schemeClr val="dk1"/>
                </a:solidFill>
                <a:latin typeface="Roboto"/>
                <a:ea typeface="Roboto"/>
                <a:cs typeface="Roboto"/>
                <a:sym typeface="Roboto"/>
              </a:rPr>
              <a:t>log(N!) = log(N) + log(N-1) + log(N-2) + …. + log(1)</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N log N = log(N) + log(N) + log(N) + … log(N)</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Therefore N log N ∈ Ω(log(N!))</a:t>
            </a:r>
            <a:endParaRPr sz="1200">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9">
                                            <p:txEl>
                                              <p:pRg end="0" st="0"/>
                                            </p:txEl>
                                          </p:spTgt>
                                        </p:tgtEl>
                                        <p:attrNameLst>
                                          <p:attrName>style.visibility</p:attrName>
                                        </p:attrNameLst>
                                      </p:cBhvr>
                                      <p:to>
                                        <p:strVal val="visible"/>
                                      </p:to>
                                    </p:set>
                                    <p:animEffect filter="fade" transition="in">
                                      <p:cBhvr>
                                        <p:cTn dur="1"/>
                                        <p:tgtEl>
                                          <p:spTgt spid="229">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9">
                                            <p:txEl>
                                              <p:pRg end="1" st="1"/>
                                            </p:txEl>
                                          </p:spTgt>
                                        </p:tgtEl>
                                        <p:attrNameLst>
                                          <p:attrName>style.visibility</p:attrName>
                                        </p:attrNameLst>
                                      </p:cBhvr>
                                      <p:to>
                                        <p:strVal val="visible"/>
                                      </p:to>
                                    </p:set>
                                    <p:animEffect filter="fade" transition="in">
                                      <p:cBhvr>
                                        <p:cTn dur="1"/>
                                        <p:tgtEl>
                                          <p:spTgt spid="229">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9">
                                            <p:txEl>
                                              <p:pRg end="2" st="2"/>
                                            </p:txEl>
                                          </p:spTgt>
                                        </p:tgtEl>
                                        <p:attrNameLst>
                                          <p:attrName>style.visibility</p:attrName>
                                        </p:attrNameLst>
                                      </p:cBhvr>
                                      <p:to>
                                        <p:strVal val="visible"/>
                                      </p:to>
                                    </p:set>
                                    <p:animEffect filter="fade" transition="in">
                                      <p:cBhvr>
                                        <p:cTn dur="1"/>
                                        <p:tgtEl>
                                          <p:spTgt spid="229">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9">
                                            <p:txEl>
                                              <p:pRg end="3" st="3"/>
                                            </p:txEl>
                                          </p:spTgt>
                                        </p:tgtEl>
                                        <p:attrNameLst>
                                          <p:attrName>style.visibility</p:attrName>
                                        </p:attrNameLst>
                                      </p:cBhvr>
                                      <p:to>
                                        <p:strVal val="visible"/>
                                      </p:to>
                                    </p:set>
                                    <p:animEffect filter="fade" transition="in">
                                      <p:cBhvr>
                                        <p:cTn dur="1"/>
                                        <p:tgtEl>
                                          <p:spTgt spid="229">
                                            <p:txEl>
                                              <p:pRg end="3" st="3"/>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233" name="Shape 233"/>
        <p:cNvGrpSpPr/>
        <p:nvPr/>
      </p:nvGrpSpPr>
      <p:grpSpPr>
        <a:xfrm>
          <a:off x="0" y="0"/>
          <a:ext cx="0" cy="0"/>
          <a:chOff x="0" y="0"/>
          <a:chExt cx="0" cy="0"/>
        </a:xfrm>
      </p:grpSpPr>
      <p:sp>
        <p:nvSpPr>
          <p:cNvPr id="234" name="Google Shape;234;p3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Omega and Theta: yellkey.com</a:t>
            </a:r>
            <a:r>
              <a:rPr lang="en">
                <a:solidFill>
                  <a:srgbClr val="38761D"/>
                </a:solidFill>
              </a:rPr>
              <a:t>/general</a:t>
            </a:r>
            <a:endParaRPr>
              <a:solidFill>
                <a:srgbClr val="38761D"/>
              </a:solidFill>
            </a:endParaRPr>
          </a:p>
        </p:txBody>
      </p:sp>
      <p:sp>
        <p:nvSpPr>
          <p:cNvPr id="235" name="Google Shape;235;p3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Given:</a:t>
            </a:r>
            <a:endParaRPr/>
          </a:p>
          <a:p>
            <a:pPr indent="-342900" lvl="0" marL="457200" rtl="0" algn="l">
              <a:spcBef>
                <a:spcPts val="600"/>
              </a:spcBef>
              <a:spcAft>
                <a:spcPts val="0"/>
              </a:spcAft>
              <a:buSzPts val="1800"/>
              <a:buChar char="●"/>
            </a:pPr>
            <a:r>
              <a:rPr lang="en"/>
              <a:t>N log N ∈ Ω(log(N!))</a:t>
            </a:r>
            <a:endParaRPr/>
          </a:p>
          <a:p>
            <a:pPr indent="-342900" lvl="0" marL="457200" rtl="0" algn="l">
              <a:spcBef>
                <a:spcPts val="600"/>
              </a:spcBef>
              <a:spcAft>
                <a:spcPts val="0"/>
              </a:spcAft>
              <a:buSzPts val="1800"/>
              <a:buChar char="●"/>
            </a:pPr>
            <a:r>
              <a:rPr lang="en"/>
              <a:t>log(N!) ∈ Ω(N log N)</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Which of the following can we say?</a:t>
            </a:r>
            <a:endParaRPr/>
          </a:p>
          <a:p>
            <a:pPr indent="-342900" lvl="0" marL="457200" rtl="0" algn="l">
              <a:spcBef>
                <a:spcPts val="600"/>
              </a:spcBef>
              <a:spcAft>
                <a:spcPts val="0"/>
              </a:spcAft>
              <a:buSzPts val="1800"/>
              <a:buAutoNum type="alphaUcPeriod"/>
            </a:pPr>
            <a:r>
              <a:rPr lang="en"/>
              <a:t>N log N ∈ Θ(log N!)</a:t>
            </a:r>
            <a:endParaRPr/>
          </a:p>
          <a:p>
            <a:pPr indent="-342900" lvl="0" marL="457200" rtl="0" algn="l">
              <a:spcBef>
                <a:spcPts val="0"/>
              </a:spcBef>
              <a:spcAft>
                <a:spcPts val="0"/>
              </a:spcAft>
              <a:buSzPts val="1800"/>
              <a:buAutoNum type="alphaUcPeriod"/>
            </a:pPr>
            <a:r>
              <a:rPr lang="en"/>
              <a:t>log N! ∈ Θ(N log N)</a:t>
            </a:r>
            <a:endParaRPr/>
          </a:p>
          <a:p>
            <a:pPr indent="-342900" lvl="0" marL="457200" rtl="0" algn="l">
              <a:spcBef>
                <a:spcPts val="0"/>
              </a:spcBef>
              <a:spcAft>
                <a:spcPts val="0"/>
              </a:spcAft>
              <a:buSzPts val="1800"/>
              <a:buAutoNum type="alphaUcPeriod"/>
            </a:pPr>
            <a:r>
              <a:rPr lang="en"/>
              <a:t>Both A and B</a:t>
            </a:r>
            <a:endParaRPr/>
          </a:p>
          <a:p>
            <a:pPr indent="-342900" lvl="0" marL="457200" rtl="0" algn="l">
              <a:spcBef>
                <a:spcPts val="0"/>
              </a:spcBef>
              <a:spcAft>
                <a:spcPts val="0"/>
              </a:spcAft>
              <a:buSzPts val="1800"/>
              <a:buAutoNum type="alphaUcPeriod"/>
            </a:pPr>
            <a:r>
              <a:rPr lang="en"/>
              <a:t>Neither</a:t>
            </a:r>
            <a:endParaRPr/>
          </a:p>
          <a:p>
            <a:pPr indent="0" lvl="0" marL="0" rtl="0" algn="l">
              <a:spcBef>
                <a:spcPts val="60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3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Omega and Theta</a:t>
            </a:r>
            <a:endParaRPr/>
          </a:p>
        </p:txBody>
      </p:sp>
      <p:sp>
        <p:nvSpPr>
          <p:cNvPr id="241" name="Google Shape;241;p3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Given:</a:t>
            </a:r>
            <a:endParaRPr/>
          </a:p>
          <a:p>
            <a:pPr indent="-342900" lvl="0" marL="457200" rtl="0" algn="l">
              <a:spcBef>
                <a:spcPts val="600"/>
              </a:spcBef>
              <a:spcAft>
                <a:spcPts val="0"/>
              </a:spcAft>
              <a:buSzPts val="1800"/>
              <a:buChar char="●"/>
            </a:pPr>
            <a:r>
              <a:rPr lang="en"/>
              <a:t>N log N ∈ Ω(log(N!))</a:t>
            </a:r>
            <a:endParaRPr/>
          </a:p>
          <a:p>
            <a:pPr indent="-342900" lvl="0" marL="457200" rtl="0" algn="l">
              <a:spcBef>
                <a:spcPts val="600"/>
              </a:spcBef>
              <a:spcAft>
                <a:spcPts val="0"/>
              </a:spcAft>
              <a:buSzPts val="1800"/>
              <a:buChar char="●"/>
            </a:pPr>
            <a:r>
              <a:rPr lang="en"/>
              <a:t>log(N!) ∈ Ω(N log N)</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Which of the following can we say?</a:t>
            </a:r>
            <a:endParaRPr/>
          </a:p>
          <a:p>
            <a:pPr indent="-342900" lvl="0" marL="457200" rtl="0" algn="l">
              <a:spcBef>
                <a:spcPts val="600"/>
              </a:spcBef>
              <a:spcAft>
                <a:spcPts val="0"/>
              </a:spcAft>
              <a:buSzPts val="1800"/>
              <a:buAutoNum type="alphaUcPeriod"/>
            </a:pPr>
            <a:r>
              <a:rPr lang="en"/>
              <a:t>N log N ∈ Θ(log N!)</a:t>
            </a:r>
            <a:endParaRPr/>
          </a:p>
          <a:p>
            <a:pPr indent="-342900" lvl="0" marL="457200" rtl="0" algn="l">
              <a:spcBef>
                <a:spcPts val="0"/>
              </a:spcBef>
              <a:spcAft>
                <a:spcPts val="0"/>
              </a:spcAft>
              <a:buSzPts val="1800"/>
              <a:buAutoNum type="alphaUcPeriod"/>
            </a:pPr>
            <a:r>
              <a:rPr lang="en"/>
              <a:t>log N! ∈ Θ(N log N)</a:t>
            </a:r>
            <a:endParaRPr/>
          </a:p>
          <a:p>
            <a:pPr indent="-342900" lvl="0" marL="457200" rtl="0" algn="l">
              <a:spcBef>
                <a:spcPts val="0"/>
              </a:spcBef>
              <a:spcAft>
                <a:spcPts val="0"/>
              </a:spcAft>
              <a:buSzPts val="1800"/>
              <a:buAutoNum type="alphaUcPeriod"/>
            </a:pPr>
            <a:r>
              <a:rPr b="1" lang="en"/>
              <a:t>Both A and B</a:t>
            </a:r>
            <a:endParaRPr b="1"/>
          </a:p>
          <a:p>
            <a:pPr indent="-342900" lvl="0" marL="457200" rtl="0" algn="l">
              <a:spcBef>
                <a:spcPts val="0"/>
              </a:spcBef>
              <a:spcAft>
                <a:spcPts val="0"/>
              </a:spcAft>
              <a:buSzPts val="1800"/>
              <a:buAutoNum type="alphaUcPeriod"/>
            </a:pPr>
            <a:r>
              <a:rPr lang="en"/>
              <a:t>Neither</a:t>
            </a:r>
            <a:endParaRPr/>
          </a:p>
          <a:p>
            <a:pPr indent="0" lvl="0" marL="0" rtl="0" algn="l">
              <a:spcBef>
                <a:spcPts val="600"/>
              </a:spcBef>
              <a:spcAft>
                <a:spcPts val="0"/>
              </a:spcAft>
              <a:buNone/>
            </a:pPr>
            <a:r>
              <a:t/>
            </a:r>
            <a:endParaRPr/>
          </a:p>
        </p:txBody>
      </p:sp>
      <p:cxnSp>
        <p:nvCxnSpPr>
          <p:cNvPr id="242" name="Google Shape;242;p38"/>
          <p:cNvCxnSpPr/>
          <p:nvPr/>
        </p:nvCxnSpPr>
        <p:spPr>
          <a:xfrm flipH="1">
            <a:off x="3043950" y="1008150"/>
            <a:ext cx="830400" cy="248100"/>
          </a:xfrm>
          <a:prstGeom prst="straightConnector1">
            <a:avLst/>
          </a:prstGeom>
          <a:noFill/>
          <a:ln cap="flat" cmpd="sng" w="9525">
            <a:solidFill>
              <a:srgbClr val="BE0712"/>
            </a:solidFill>
            <a:prstDash val="solid"/>
            <a:round/>
            <a:headEnd len="med" w="med" type="none"/>
            <a:tailEnd len="med" w="med" type="triangle"/>
          </a:ln>
        </p:spPr>
      </p:cxnSp>
      <p:sp>
        <p:nvSpPr>
          <p:cNvPr id="243" name="Google Shape;243;p38"/>
          <p:cNvSpPr txBox="1"/>
          <p:nvPr/>
        </p:nvSpPr>
        <p:spPr>
          <a:xfrm>
            <a:off x="3874350" y="736150"/>
            <a:ext cx="2475300" cy="36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latin typeface="Roboto"/>
                <a:ea typeface="Roboto"/>
                <a:cs typeface="Roboto"/>
                <a:sym typeface="Roboto"/>
              </a:rPr>
              <a:t>Informally: N log N </a:t>
            </a:r>
            <a:r>
              <a:rPr lang="en">
                <a:solidFill>
                  <a:srgbClr val="BE0712"/>
                </a:solidFill>
                <a:latin typeface="Roboto"/>
                <a:ea typeface="Roboto"/>
                <a:cs typeface="Roboto"/>
                <a:sym typeface="Roboto"/>
              </a:rPr>
              <a:t>≥ </a:t>
            </a:r>
            <a:r>
              <a:rPr lang="en">
                <a:solidFill>
                  <a:srgbClr val="BE0712"/>
                </a:solidFill>
                <a:latin typeface="Roboto"/>
                <a:ea typeface="Roboto"/>
                <a:cs typeface="Roboto"/>
                <a:sym typeface="Roboto"/>
              </a:rPr>
              <a:t>log(N!)</a:t>
            </a:r>
            <a:endParaRPr>
              <a:solidFill>
                <a:srgbClr val="BE0712"/>
              </a:solidFill>
              <a:latin typeface="Roboto"/>
              <a:ea typeface="Roboto"/>
              <a:cs typeface="Roboto"/>
              <a:sym typeface="Roboto"/>
            </a:endParaRPr>
          </a:p>
        </p:txBody>
      </p:sp>
      <p:cxnSp>
        <p:nvCxnSpPr>
          <p:cNvPr id="244" name="Google Shape;244;p38"/>
          <p:cNvCxnSpPr/>
          <p:nvPr/>
        </p:nvCxnSpPr>
        <p:spPr>
          <a:xfrm rot="10800000">
            <a:off x="2948175" y="1549325"/>
            <a:ext cx="840300" cy="165000"/>
          </a:xfrm>
          <a:prstGeom prst="straightConnector1">
            <a:avLst/>
          </a:prstGeom>
          <a:noFill/>
          <a:ln cap="flat" cmpd="sng" w="9525">
            <a:solidFill>
              <a:srgbClr val="BE0712"/>
            </a:solidFill>
            <a:prstDash val="solid"/>
            <a:round/>
            <a:headEnd len="med" w="med" type="none"/>
            <a:tailEnd len="med" w="med" type="triangle"/>
          </a:ln>
        </p:spPr>
      </p:cxnSp>
      <p:sp>
        <p:nvSpPr>
          <p:cNvPr id="245" name="Google Shape;245;p38"/>
          <p:cNvSpPr txBox="1"/>
          <p:nvPr/>
        </p:nvSpPr>
        <p:spPr>
          <a:xfrm>
            <a:off x="3736300" y="2675850"/>
            <a:ext cx="2563500" cy="36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latin typeface="Roboto"/>
                <a:ea typeface="Roboto"/>
                <a:cs typeface="Roboto"/>
                <a:sym typeface="Roboto"/>
              </a:rPr>
              <a:t>Informally: N log N = log(N!)</a:t>
            </a:r>
            <a:endParaRPr>
              <a:solidFill>
                <a:srgbClr val="BE0712"/>
              </a:solidFill>
              <a:latin typeface="Roboto"/>
              <a:ea typeface="Roboto"/>
              <a:cs typeface="Roboto"/>
              <a:sym typeface="Roboto"/>
            </a:endParaRPr>
          </a:p>
        </p:txBody>
      </p:sp>
      <p:sp>
        <p:nvSpPr>
          <p:cNvPr id="246" name="Google Shape;246;p38"/>
          <p:cNvSpPr txBox="1"/>
          <p:nvPr/>
        </p:nvSpPr>
        <p:spPr>
          <a:xfrm>
            <a:off x="3830250" y="1549325"/>
            <a:ext cx="2563500" cy="36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latin typeface="Roboto"/>
                <a:ea typeface="Roboto"/>
                <a:cs typeface="Roboto"/>
                <a:sym typeface="Roboto"/>
              </a:rPr>
              <a:t>Informally: </a:t>
            </a:r>
            <a:r>
              <a:rPr lang="en">
                <a:solidFill>
                  <a:srgbClr val="BE0712"/>
                </a:solidFill>
                <a:latin typeface="Roboto"/>
                <a:ea typeface="Roboto"/>
                <a:cs typeface="Roboto"/>
                <a:sym typeface="Roboto"/>
              </a:rPr>
              <a:t>log(N!) </a:t>
            </a:r>
            <a:r>
              <a:rPr lang="en">
                <a:solidFill>
                  <a:srgbClr val="BE0712"/>
                </a:solidFill>
                <a:latin typeface="Roboto"/>
                <a:ea typeface="Roboto"/>
                <a:cs typeface="Roboto"/>
                <a:sym typeface="Roboto"/>
              </a:rPr>
              <a:t>≥ </a:t>
            </a:r>
            <a:r>
              <a:rPr lang="en">
                <a:solidFill>
                  <a:srgbClr val="BE0712"/>
                </a:solidFill>
                <a:latin typeface="Roboto"/>
                <a:ea typeface="Roboto"/>
                <a:cs typeface="Roboto"/>
                <a:sym typeface="Roboto"/>
              </a:rPr>
              <a:t> N log N</a:t>
            </a:r>
            <a:endParaRPr>
              <a:solidFill>
                <a:srgbClr val="BE0712"/>
              </a:solidFill>
              <a:latin typeface="Roboto"/>
              <a:ea typeface="Roboto"/>
              <a:cs typeface="Roboto"/>
              <a:sym typeface="Roboto"/>
            </a:endParaRPr>
          </a:p>
        </p:txBody>
      </p:sp>
      <p:cxnSp>
        <p:nvCxnSpPr>
          <p:cNvPr id="247" name="Google Shape;247;p38"/>
          <p:cNvCxnSpPr>
            <a:stCxn id="245" idx="1"/>
          </p:cNvCxnSpPr>
          <p:nvPr/>
        </p:nvCxnSpPr>
        <p:spPr>
          <a:xfrm rot="10800000">
            <a:off x="2948200" y="2675700"/>
            <a:ext cx="788100" cy="183900"/>
          </a:xfrm>
          <a:prstGeom prst="straightConnector1">
            <a:avLst/>
          </a:prstGeom>
          <a:noFill/>
          <a:ln cap="flat" cmpd="sng" w="9525">
            <a:solidFill>
              <a:srgbClr val="BE0712"/>
            </a:solidFill>
            <a:prstDash val="solid"/>
            <a:round/>
            <a:headEnd len="med" w="med" type="none"/>
            <a:tailEnd len="med" w="med" type="triangle"/>
          </a:ln>
        </p:spPr>
      </p:cxnSp>
      <p:cxnSp>
        <p:nvCxnSpPr>
          <p:cNvPr id="248" name="Google Shape;248;p38"/>
          <p:cNvCxnSpPr>
            <a:stCxn id="245" idx="1"/>
          </p:cNvCxnSpPr>
          <p:nvPr/>
        </p:nvCxnSpPr>
        <p:spPr>
          <a:xfrm flipH="1">
            <a:off x="2967700" y="2859600"/>
            <a:ext cx="768600" cy="143100"/>
          </a:xfrm>
          <a:prstGeom prst="straightConnector1">
            <a:avLst/>
          </a:prstGeom>
          <a:noFill/>
          <a:ln cap="flat" cmpd="sng" w="9525">
            <a:solidFill>
              <a:srgbClr val="BE0712"/>
            </a:solidFill>
            <a:prstDash val="solid"/>
            <a:round/>
            <a:headEnd len="med" w="med" type="none"/>
            <a:tailEnd len="med" w="med" type="triangle"/>
          </a:ln>
        </p:spPr>
      </p:cxn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p3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Summary</a:t>
            </a:r>
            <a:endParaRPr/>
          </a:p>
        </p:txBody>
      </p:sp>
      <p:sp>
        <p:nvSpPr>
          <p:cNvPr id="254" name="Google Shape;254;p3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We’ve shown that </a:t>
            </a:r>
            <a:r>
              <a:rPr lang="en"/>
              <a:t>log(N!) ∈ Θ(N log N).</a:t>
            </a:r>
            <a:endParaRPr/>
          </a:p>
          <a:p>
            <a:pPr indent="-342900" lvl="0" marL="457200" rtl="0" algn="l">
              <a:spcBef>
                <a:spcPts val="600"/>
              </a:spcBef>
              <a:spcAft>
                <a:spcPts val="0"/>
              </a:spcAft>
              <a:buSzPts val="1800"/>
              <a:buChar char="●"/>
            </a:pPr>
            <a:r>
              <a:rPr lang="en"/>
              <a:t>In other words, these two functions grow at the same rate asymptotically.</a:t>
            </a:r>
            <a:r>
              <a:rPr lang="en"/>
              <a:t> </a:t>
            </a:r>
            <a:endParaRPr/>
          </a:p>
          <a:p>
            <a:pPr indent="0" lvl="0" marL="0" rtl="0" algn="l">
              <a:spcBef>
                <a:spcPts val="600"/>
              </a:spcBef>
              <a:spcAft>
                <a:spcPts val="0"/>
              </a:spcAft>
              <a:buClr>
                <a:schemeClr val="dk1"/>
              </a:buClr>
              <a:buSzPts val="1100"/>
              <a:buFont typeface="Arial"/>
              <a:buNone/>
            </a:pPr>
            <a:r>
              <a:t/>
            </a:r>
            <a:endParaRPr/>
          </a:p>
          <a:p>
            <a:pPr indent="0" lvl="0" marL="0" rtl="0" algn="l">
              <a:spcBef>
                <a:spcPts val="600"/>
              </a:spcBef>
              <a:spcAft>
                <a:spcPts val="0"/>
              </a:spcAft>
              <a:buNone/>
            </a:pPr>
            <a:r>
              <a:rPr lang="en"/>
              <a:t>As for why we did this, w</a:t>
            </a:r>
            <a:r>
              <a:rPr lang="en"/>
              <a:t>e will see in a little while...</a:t>
            </a:r>
            <a:endParaRPr/>
          </a:p>
          <a:p>
            <a:pPr indent="0" lvl="0" marL="0" rtl="0" algn="l">
              <a:spcBef>
                <a:spcPts val="60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0"/>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260" name="Google Shape;260;p40"/>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Goal: How Hard is Sorting?</a:t>
            </a:r>
            <a:endParaRPr/>
          </a:p>
          <a:p>
            <a:pPr indent="0" lvl="0" marL="0" rtl="0" algn="l">
              <a:spcBef>
                <a:spcPts val="600"/>
              </a:spcBef>
              <a:spcAft>
                <a:spcPts val="0"/>
              </a:spcAft>
              <a:buClr>
                <a:schemeClr val="dk1"/>
              </a:buClr>
              <a:buSzPts val="1100"/>
              <a:buFont typeface="Arial"/>
              <a:buNone/>
            </a:pPr>
            <a:r>
              <a:rPr lang="en"/>
              <a:t>Math Problem Warmup</a:t>
            </a:r>
            <a:endParaRPr/>
          </a:p>
          <a:p>
            <a:pPr indent="0" lvl="0" marL="0" rtl="0" algn="l">
              <a:spcBef>
                <a:spcPts val="600"/>
              </a:spcBef>
              <a:spcAft>
                <a:spcPts val="0"/>
              </a:spcAft>
              <a:buClr>
                <a:schemeClr val="dk1"/>
              </a:buClr>
              <a:buSzPts val="1100"/>
              <a:buFont typeface="Arial"/>
              <a:buNone/>
            </a:pPr>
            <a:r>
              <a:rPr b="1" lang="en">
                <a:solidFill>
                  <a:schemeClr val="accent3"/>
                </a:solidFill>
                <a:latin typeface="Roboto"/>
                <a:ea typeface="Roboto"/>
                <a:cs typeface="Roboto"/>
                <a:sym typeface="Roboto"/>
              </a:rPr>
              <a:t>Theoretical Bounds on Sorting</a:t>
            </a:r>
            <a:endParaRPr b="1">
              <a:solidFill>
                <a:schemeClr val="accent3"/>
              </a:solidFill>
              <a:latin typeface="Roboto"/>
              <a:ea typeface="Roboto"/>
              <a:cs typeface="Roboto"/>
              <a:sym typeface="Roboto"/>
            </a:endParaRPr>
          </a:p>
          <a:p>
            <a:pPr indent="-342900" lvl="0" marL="457200" rtl="0" algn="l">
              <a:spcBef>
                <a:spcPts val="60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Simple Bounds for TUCS (the ultimate comparison sort)</a:t>
            </a:r>
            <a:endParaRPr b="1">
              <a:solidFill>
                <a:schemeClr val="accent3"/>
              </a:solidFill>
              <a:latin typeface="Roboto"/>
              <a:ea typeface="Roboto"/>
              <a:cs typeface="Roboto"/>
              <a:sym typeface="Roboto"/>
            </a:endParaRPr>
          </a:p>
          <a:p>
            <a:pPr indent="-342900" lvl="0" marL="457200" rtl="0" algn="l">
              <a:spcBef>
                <a:spcPts val="0"/>
              </a:spcBef>
              <a:spcAft>
                <a:spcPts val="0"/>
              </a:spcAft>
              <a:buSzPts val="1800"/>
              <a:buChar char="•"/>
            </a:pPr>
            <a:r>
              <a:rPr lang="en"/>
              <a:t>Coin Puzzles</a:t>
            </a:r>
            <a:endParaRPr/>
          </a:p>
          <a:p>
            <a:pPr indent="-342900" lvl="0" marL="457200" rtl="0" algn="l">
              <a:spcBef>
                <a:spcPts val="0"/>
              </a:spcBef>
              <a:spcAft>
                <a:spcPts val="0"/>
              </a:spcAft>
              <a:buSzPts val="1800"/>
              <a:buChar char="•"/>
            </a:pPr>
            <a:r>
              <a:rPr lang="en"/>
              <a:t>Puppy Cat Dog</a:t>
            </a:r>
            <a:endParaRPr/>
          </a:p>
          <a:p>
            <a:pPr indent="-342900" lvl="0" marL="457200" rtl="0" algn="l">
              <a:spcBef>
                <a:spcPts val="0"/>
              </a:spcBef>
              <a:spcAft>
                <a:spcPts val="0"/>
              </a:spcAft>
              <a:buSzPts val="1800"/>
              <a:buChar char="•"/>
            </a:pPr>
            <a:r>
              <a:rPr lang="en"/>
              <a:t>The Sorting Lower Bound</a:t>
            </a:r>
            <a:endParaRPr/>
          </a:p>
          <a:p>
            <a:pPr indent="0" lvl="0" marL="0" rtl="0" algn="l">
              <a:spcBef>
                <a:spcPts val="600"/>
              </a:spcBef>
              <a:spcAft>
                <a:spcPts val="0"/>
              </a:spcAft>
              <a:buClr>
                <a:schemeClr val="dk1"/>
              </a:buClr>
              <a:buSzPts val="1100"/>
              <a:buFont typeface="Arial"/>
              <a:buNone/>
            </a:pPr>
            <a:r>
              <a:rPr lang="en"/>
              <a:t>Sounds of Sorting</a:t>
            </a:r>
            <a:endParaRPr/>
          </a:p>
        </p:txBody>
      </p:sp>
      <p:sp>
        <p:nvSpPr>
          <p:cNvPr id="261" name="Google Shape;261;p40"/>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Simple Bounds for TUCS (the ultimate comparison sort)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265" name="Shape 265"/>
        <p:cNvGrpSpPr/>
        <p:nvPr/>
      </p:nvGrpSpPr>
      <p:grpSpPr>
        <a:xfrm>
          <a:off x="0" y="0"/>
          <a:ext cx="0" cy="0"/>
          <a:chOff x="0" y="0"/>
          <a:chExt cx="0" cy="0"/>
        </a:xfrm>
      </p:grpSpPr>
      <p:sp>
        <p:nvSpPr>
          <p:cNvPr id="266" name="Google Shape;266;p4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a:t>
            </a:r>
            <a:endParaRPr/>
          </a:p>
        </p:txBody>
      </p:sp>
      <p:sp>
        <p:nvSpPr>
          <p:cNvPr id="267" name="Google Shape;267;p4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We have shown several sorts to require Θ(N log N) worst case time.</a:t>
            </a:r>
            <a:endParaRPr/>
          </a:p>
          <a:p>
            <a:pPr indent="-342900" lvl="0" marL="457200" rtl="0" algn="l">
              <a:spcBef>
                <a:spcPts val="600"/>
              </a:spcBef>
              <a:spcAft>
                <a:spcPts val="0"/>
              </a:spcAft>
              <a:buSzPts val="1800"/>
              <a:buChar char="●"/>
            </a:pPr>
            <a:r>
              <a:rPr lang="en"/>
              <a:t>Can we build a better sorting algorithm?</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Let the ultimate comparison sort (TUCS) be the asymptotically fastest possible comparison sorting algorithm, possibly yet to be discovered, and let R(N) be its worst case runtime.</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Give the best Ω and O bounds you can for R(N).</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It might seem strange to give Ω and O bounds for an algorithm whose details are completely unknown, but you can, I promise!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0" st="0"/>
                                            </p:txEl>
                                          </p:spTgt>
                                        </p:tgtEl>
                                        <p:attrNameLst>
                                          <p:attrName>style.visibility</p:attrName>
                                        </p:attrNameLst>
                                      </p:cBhvr>
                                      <p:to>
                                        <p:strVal val="visible"/>
                                      </p:to>
                                    </p:set>
                                    <p:animEffect filter="fade" transition="in">
                                      <p:cBhvr>
                                        <p:cTn dur="1"/>
                                        <p:tgtEl>
                                          <p:spTgt spid="26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1" st="1"/>
                                            </p:txEl>
                                          </p:spTgt>
                                        </p:tgtEl>
                                        <p:attrNameLst>
                                          <p:attrName>style.visibility</p:attrName>
                                        </p:attrNameLst>
                                      </p:cBhvr>
                                      <p:to>
                                        <p:strVal val="visible"/>
                                      </p:to>
                                    </p:set>
                                    <p:animEffect filter="fade" transition="in">
                                      <p:cBhvr>
                                        <p:cTn dur="1"/>
                                        <p:tgtEl>
                                          <p:spTgt spid="26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2" st="2"/>
                                            </p:txEl>
                                          </p:spTgt>
                                        </p:tgtEl>
                                        <p:attrNameLst>
                                          <p:attrName>style.visibility</p:attrName>
                                        </p:attrNameLst>
                                      </p:cBhvr>
                                      <p:to>
                                        <p:strVal val="visible"/>
                                      </p:to>
                                    </p:set>
                                    <p:animEffect filter="fade" transition="in">
                                      <p:cBhvr>
                                        <p:cTn dur="1"/>
                                        <p:tgtEl>
                                          <p:spTgt spid="267">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3" st="3"/>
                                            </p:txEl>
                                          </p:spTgt>
                                        </p:tgtEl>
                                        <p:attrNameLst>
                                          <p:attrName>style.visibility</p:attrName>
                                        </p:attrNameLst>
                                      </p:cBhvr>
                                      <p:to>
                                        <p:strVal val="visible"/>
                                      </p:to>
                                    </p:set>
                                    <p:animEffect filter="fade" transition="in">
                                      <p:cBhvr>
                                        <p:cTn dur="1"/>
                                        <p:tgtEl>
                                          <p:spTgt spid="267">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4" st="4"/>
                                            </p:txEl>
                                          </p:spTgt>
                                        </p:tgtEl>
                                        <p:attrNameLst>
                                          <p:attrName>style.visibility</p:attrName>
                                        </p:attrNameLst>
                                      </p:cBhvr>
                                      <p:to>
                                        <p:strVal val="visible"/>
                                      </p:to>
                                    </p:set>
                                    <p:animEffect filter="fade" transition="in">
                                      <p:cBhvr>
                                        <p:cTn dur="1"/>
                                        <p:tgtEl>
                                          <p:spTgt spid="267">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5" st="5"/>
                                            </p:txEl>
                                          </p:spTgt>
                                        </p:tgtEl>
                                        <p:attrNameLst>
                                          <p:attrName>style.visibility</p:attrName>
                                        </p:attrNameLst>
                                      </p:cBhvr>
                                      <p:to>
                                        <p:strVal val="visible"/>
                                      </p:to>
                                    </p:set>
                                    <p:animEffect filter="fade" transition="in">
                                      <p:cBhvr>
                                        <p:cTn dur="1"/>
                                        <p:tgtEl>
                                          <p:spTgt spid="267">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6" st="6"/>
                                            </p:txEl>
                                          </p:spTgt>
                                        </p:tgtEl>
                                        <p:attrNameLst>
                                          <p:attrName>style.visibility</p:attrName>
                                        </p:attrNameLst>
                                      </p:cBhvr>
                                      <p:to>
                                        <p:strVal val="visible"/>
                                      </p:to>
                                    </p:set>
                                    <p:animEffect filter="fade" transition="in">
                                      <p:cBhvr>
                                        <p:cTn dur="1"/>
                                        <p:tgtEl>
                                          <p:spTgt spid="267">
                                            <p:txEl>
                                              <p:pRg end="6" st="6"/>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7" st="7"/>
                                            </p:txEl>
                                          </p:spTgt>
                                        </p:tgtEl>
                                        <p:attrNameLst>
                                          <p:attrName>style.visibility</p:attrName>
                                        </p:attrNameLst>
                                      </p:cBhvr>
                                      <p:to>
                                        <p:strVal val="visible"/>
                                      </p:to>
                                    </p:set>
                                    <p:animEffect filter="fade" transition="in">
                                      <p:cBhvr>
                                        <p:cTn dur="1"/>
                                        <p:tgtEl>
                                          <p:spTgt spid="267">
                                            <p:txEl>
                                              <p:pRg end="7" st="7"/>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a:t>
            </a:r>
            <a:endParaRPr/>
          </a:p>
        </p:txBody>
      </p:sp>
      <p:sp>
        <p:nvSpPr>
          <p:cNvPr id="273" name="Google Shape;273;p4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We have shown several sorts to require Θ(N log N) worst case time.</a:t>
            </a:r>
            <a:endParaRPr/>
          </a:p>
          <a:p>
            <a:pPr indent="-342900" lvl="0" marL="457200" rtl="0" algn="l">
              <a:spcBef>
                <a:spcPts val="600"/>
              </a:spcBef>
              <a:spcAft>
                <a:spcPts val="0"/>
              </a:spcAft>
              <a:buSzPts val="1800"/>
              <a:buChar char="●"/>
            </a:pPr>
            <a:r>
              <a:rPr lang="en"/>
              <a:t>Can we build a better sorting algorithm?</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Let the ultimate comparison sort (TUCS) be the asymptotically fastest possible comparison sorting algorithm, possibly yet to be discovered, and let R(N) be its worst case runtime.</a:t>
            </a:r>
            <a:endParaRPr/>
          </a:p>
        </p:txBody>
      </p:sp>
      <p:sp>
        <p:nvSpPr>
          <p:cNvPr id="274" name="Google Shape;274;p42"/>
          <p:cNvSpPr txBox="1"/>
          <p:nvPr/>
        </p:nvSpPr>
        <p:spPr>
          <a:xfrm>
            <a:off x="245150" y="3534075"/>
            <a:ext cx="6911700" cy="14961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Worst case run-time of TUCS, R(N) is Ω(1). </a:t>
            </a:r>
            <a:endParaRPr sz="1800">
              <a:solidFill>
                <a:schemeClr val="dk1"/>
              </a:solidFill>
              <a:latin typeface="Roboto"/>
              <a:ea typeface="Roboto"/>
              <a:cs typeface="Roboto"/>
              <a:sym typeface="Roboto"/>
            </a:endParaRPr>
          </a:p>
          <a:p>
            <a:pPr indent="-342900" lvl="1" marL="9144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Obvious: Problem doesn’t get easier with N.</a:t>
            </a:r>
            <a:endParaRPr sz="1800">
              <a:solidFill>
                <a:schemeClr val="dk1"/>
              </a:solidFill>
              <a:latin typeface="Roboto"/>
              <a:ea typeface="Roboto"/>
              <a:cs typeface="Roboto"/>
              <a:sym typeface="Roboto"/>
            </a:endParaRPr>
          </a:p>
          <a:p>
            <a:pPr indent="-342900" lvl="1" marL="9144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Can we make a stronger statement than Ω(1)?</a:t>
            </a:r>
            <a:endParaRPr sz="1800">
              <a:solidFill>
                <a:schemeClr val="dk1"/>
              </a:solidFill>
              <a:latin typeface="Roboto"/>
              <a:ea typeface="Roboto"/>
              <a:cs typeface="Roboto"/>
              <a:sym typeface="Roboto"/>
            </a:endParaRPr>
          </a:p>
        </p:txBody>
      </p:sp>
      <p:grpSp>
        <p:nvGrpSpPr>
          <p:cNvPr id="275" name="Google Shape;275;p42"/>
          <p:cNvGrpSpPr/>
          <p:nvPr/>
        </p:nvGrpSpPr>
        <p:grpSpPr>
          <a:xfrm>
            <a:off x="7245425" y="2571975"/>
            <a:ext cx="1372500" cy="1693800"/>
            <a:chOff x="7245425" y="2571975"/>
            <a:chExt cx="1372500" cy="1693800"/>
          </a:xfrm>
        </p:grpSpPr>
        <p:sp>
          <p:nvSpPr>
            <p:cNvPr id="276" name="Google Shape;276;p42"/>
            <p:cNvSpPr/>
            <p:nvPr/>
          </p:nvSpPr>
          <p:spPr>
            <a:xfrm>
              <a:off x="7245425" y="2571975"/>
              <a:ext cx="1372500" cy="1693800"/>
            </a:xfrm>
            <a:prstGeom prst="rect">
              <a:avLst/>
            </a:prstGeom>
            <a:solidFill>
              <a:srgbClr val="C9DAF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77" name="Google Shape;277;p42"/>
            <p:cNvCxnSpPr/>
            <p:nvPr/>
          </p:nvCxnSpPr>
          <p:spPr>
            <a:xfrm>
              <a:off x="7628697" y="3008743"/>
              <a:ext cx="606000" cy="0"/>
            </a:xfrm>
            <a:prstGeom prst="straightConnector1">
              <a:avLst/>
            </a:prstGeom>
            <a:noFill/>
            <a:ln cap="flat" cmpd="sng" w="28575">
              <a:solidFill>
                <a:srgbClr val="BE0712"/>
              </a:solidFill>
              <a:prstDash val="solid"/>
              <a:round/>
              <a:headEnd len="med" w="med" type="none"/>
              <a:tailEnd len="med" w="med" type="none"/>
            </a:ln>
          </p:spPr>
        </p:cxnSp>
        <p:cxnSp>
          <p:nvCxnSpPr>
            <p:cNvPr id="278" name="Google Shape;278;p42"/>
            <p:cNvCxnSpPr/>
            <p:nvPr/>
          </p:nvCxnSpPr>
          <p:spPr>
            <a:xfrm>
              <a:off x="7950150" y="3017075"/>
              <a:ext cx="0" cy="865800"/>
            </a:xfrm>
            <a:prstGeom prst="straightConnector1">
              <a:avLst/>
            </a:prstGeom>
            <a:noFill/>
            <a:ln cap="flat" cmpd="sng" w="28575">
              <a:solidFill>
                <a:srgbClr val="BE0712"/>
              </a:solidFill>
              <a:prstDash val="solid"/>
              <a:round/>
              <a:headEnd len="med" w="med" type="none"/>
              <a:tailEnd len="med" w="med" type="none"/>
            </a:ln>
          </p:spPr>
        </p:cxnSp>
        <p:cxnSp>
          <p:nvCxnSpPr>
            <p:cNvPr id="279" name="Google Shape;279;p42"/>
            <p:cNvCxnSpPr/>
            <p:nvPr/>
          </p:nvCxnSpPr>
          <p:spPr>
            <a:xfrm>
              <a:off x="7634797" y="3874218"/>
              <a:ext cx="606000" cy="0"/>
            </a:xfrm>
            <a:prstGeom prst="straightConnector1">
              <a:avLst/>
            </a:prstGeom>
            <a:noFill/>
            <a:ln cap="flat" cmpd="sng" w="28575">
              <a:solidFill>
                <a:srgbClr val="BE0712"/>
              </a:solidFill>
              <a:prstDash val="solid"/>
              <a:round/>
              <a:headEnd len="med" w="med" type="none"/>
              <a:tailEnd len="med" w="med" type="none"/>
            </a:ln>
          </p:spPr>
        </p:cxnSp>
      </p:grpSp>
      <p:sp>
        <p:nvSpPr>
          <p:cNvPr id="280" name="Google Shape;280;p42"/>
          <p:cNvSpPr txBox="1"/>
          <p:nvPr/>
        </p:nvSpPr>
        <p:spPr>
          <a:xfrm>
            <a:off x="7342313" y="2522278"/>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O(N log N)</a:t>
            </a:r>
            <a:endParaRPr sz="1600">
              <a:solidFill>
                <a:srgbClr val="BE0712"/>
              </a:solidFill>
              <a:latin typeface="Roboto"/>
              <a:ea typeface="Roboto"/>
              <a:cs typeface="Roboto"/>
              <a:sym typeface="Roboto"/>
            </a:endParaRPr>
          </a:p>
        </p:txBody>
      </p:sp>
      <p:sp>
        <p:nvSpPr>
          <p:cNvPr id="281" name="Google Shape;281;p42"/>
          <p:cNvSpPr txBox="1"/>
          <p:nvPr/>
        </p:nvSpPr>
        <p:spPr>
          <a:xfrm>
            <a:off x="7671901" y="3773175"/>
            <a:ext cx="9099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Ω(1)</a:t>
            </a:r>
            <a:endParaRPr sz="1600">
              <a:solidFill>
                <a:srgbClr val="BE0712"/>
              </a:solidFill>
              <a:latin typeface="Roboto"/>
              <a:ea typeface="Roboto"/>
              <a:cs typeface="Roboto"/>
              <a:sym typeface="Roboto"/>
            </a:endParaRPr>
          </a:p>
        </p:txBody>
      </p:sp>
      <p:sp>
        <p:nvSpPr>
          <p:cNvPr id="282" name="Google Shape;282;p42"/>
          <p:cNvSpPr txBox="1"/>
          <p:nvPr/>
        </p:nvSpPr>
        <p:spPr>
          <a:xfrm>
            <a:off x="7150400" y="4202700"/>
            <a:ext cx="1589100" cy="570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TUCS Worst</a:t>
            </a:r>
            <a:endParaRPr>
              <a:latin typeface="Roboto"/>
              <a:ea typeface="Roboto"/>
              <a:cs typeface="Roboto"/>
              <a:sym typeface="Roboto"/>
            </a:endParaRPr>
          </a:p>
          <a:p>
            <a:pPr indent="0" lvl="0" marL="0" rtl="0" algn="l">
              <a:spcBef>
                <a:spcPts val="0"/>
              </a:spcBef>
              <a:spcAft>
                <a:spcPts val="0"/>
              </a:spcAft>
              <a:buNone/>
            </a:pPr>
            <a:r>
              <a:rPr lang="en">
                <a:latin typeface="Roboto"/>
                <a:ea typeface="Roboto"/>
                <a:cs typeface="Roboto"/>
                <a:sym typeface="Roboto"/>
              </a:rPr>
              <a:t> Case Θ </a:t>
            </a:r>
            <a:r>
              <a:rPr lang="en">
                <a:solidFill>
                  <a:schemeClr val="dk1"/>
                </a:solidFill>
                <a:latin typeface="Roboto"/>
                <a:ea typeface="Roboto"/>
                <a:cs typeface="Roboto"/>
                <a:sym typeface="Roboto"/>
              </a:rPr>
              <a:t>Runtime</a:t>
            </a:r>
            <a:r>
              <a:rPr lang="en">
                <a:latin typeface="Roboto"/>
                <a:ea typeface="Roboto"/>
                <a:cs typeface="Roboto"/>
                <a:sym typeface="Roboto"/>
              </a:rPr>
              <a:t> </a:t>
            </a:r>
            <a:endParaRPr>
              <a:latin typeface="Roboto"/>
              <a:ea typeface="Roboto"/>
              <a:cs typeface="Roboto"/>
              <a:sym typeface="Roboto"/>
            </a:endParaRPr>
          </a:p>
        </p:txBody>
      </p:sp>
      <p:sp>
        <p:nvSpPr>
          <p:cNvPr id="283" name="Google Shape;283;p42"/>
          <p:cNvSpPr txBox="1"/>
          <p:nvPr/>
        </p:nvSpPr>
        <p:spPr>
          <a:xfrm>
            <a:off x="256276" y="2703393"/>
            <a:ext cx="7150500" cy="821400"/>
          </a:xfrm>
          <a:prstGeom prst="rect">
            <a:avLst/>
          </a:prstGeom>
          <a:noFill/>
          <a:ln>
            <a:noFill/>
          </a:ln>
        </p:spPr>
        <p:txBody>
          <a:bodyPr anchorCtr="0" anchor="ctr" bIns="91425" lIns="91425" spcFirstLastPara="1" rIns="91425" wrap="square" tIns="91425">
            <a:noAutofit/>
          </a:bodyPr>
          <a:lstStyle/>
          <a:p>
            <a:pPr indent="-342900" lvl="0" marL="457200" rtl="0" algn="l">
              <a:spcBef>
                <a:spcPts val="600"/>
              </a:spcBef>
              <a:spcAft>
                <a:spcPts val="0"/>
              </a:spcAft>
              <a:buClr>
                <a:schemeClr val="dk1"/>
              </a:buClr>
              <a:buSzPts val="1800"/>
              <a:buFont typeface="Roboto"/>
              <a:buChar char="●"/>
            </a:pPr>
            <a:r>
              <a:rPr lang="en" sz="1800">
                <a:solidFill>
                  <a:schemeClr val="dk1"/>
                </a:solidFill>
                <a:latin typeface="Roboto"/>
                <a:ea typeface="Roboto"/>
                <a:cs typeface="Roboto"/>
                <a:sym typeface="Roboto"/>
              </a:rPr>
              <a:t>Worst case run-time of TUCS, R(N) is O(N log N). </a:t>
            </a:r>
            <a:endParaRPr sz="1800">
              <a:solidFill>
                <a:schemeClr val="dk1"/>
              </a:solidFill>
              <a:latin typeface="Roboto"/>
              <a:ea typeface="Roboto"/>
              <a:cs typeface="Roboto"/>
              <a:sym typeface="Roboto"/>
            </a:endParaRPr>
          </a:p>
          <a:p>
            <a:pPr indent="-342900" lvl="1" marL="9144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Obvious: Mergesort is Θ(N log N) so R(N) can’t be worse!</a:t>
            </a:r>
            <a:endParaRPr sz="1800">
              <a:solidFill>
                <a:schemeClr val="dk1"/>
              </a:solidFill>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3"/>
                                        </p:tgtEl>
                                        <p:attrNameLst>
                                          <p:attrName>style.visibility</p:attrName>
                                        </p:attrNameLst>
                                      </p:cBhvr>
                                      <p:to>
                                        <p:strVal val="visible"/>
                                      </p:to>
                                    </p:set>
                                    <p:animEffect filter="fade" transition="in">
                                      <p:cBhvr>
                                        <p:cTn dur="1"/>
                                        <p:tgtEl>
                                          <p:spTgt spid="2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5"/>
                                        </p:tgtEl>
                                        <p:attrNameLst>
                                          <p:attrName>style.visibility</p:attrName>
                                        </p:attrNameLst>
                                      </p:cBhvr>
                                      <p:to>
                                        <p:strVal val="visible"/>
                                      </p:to>
                                    </p:set>
                                    <p:animEffect filter="fade" transition="in">
                                      <p:cBhvr>
                                        <p:cTn dur="1000"/>
                                        <p:tgtEl>
                                          <p:spTgt spid="275"/>
                                        </p:tgtEl>
                                      </p:cBhvr>
                                    </p:animEffect>
                                  </p:childTnLst>
                                </p:cTn>
                              </p:par>
                              <p:par>
                                <p:cTn fill="hold" nodeType="withEffect" presetClass="entr" presetID="10" presetSubtype="0">
                                  <p:stCondLst>
                                    <p:cond delay="0"/>
                                  </p:stCondLst>
                                  <p:childTnLst>
                                    <p:set>
                                      <p:cBhvr>
                                        <p:cTn dur="1" fill="hold">
                                          <p:stCondLst>
                                            <p:cond delay="0"/>
                                          </p:stCondLst>
                                        </p:cTn>
                                        <p:tgtEl>
                                          <p:spTgt spid="282"/>
                                        </p:tgtEl>
                                        <p:attrNameLst>
                                          <p:attrName>style.visibility</p:attrName>
                                        </p:attrNameLst>
                                      </p:cBhvr>
                                      <p:to>
                                        <p:strVal val="visible"/>
                                      </p:to>
                                    </p:set>
                                    <p:animEffect filter="fade" transition="in">
                                      <p:cBhvr>
                                        <p:cTn dur="1000"/>
                                        <p:tgtEl>
                                          <p:spTgt spid="28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0"/>
                                        </p:tgtEl>
                                        <p:attrNameLst>
                                          <p:attrName>style.visibility</p:attrName>
                                        </p:attrNameLst>
                                      </p:cBhvr>
                                      <p:to>
                                        <p:strVal val="visible"/>
                                      </p:to>
                                    </p:set>
                                    <p:animEffect filter="fade" transition="in">
                                      <p:cBhvr>
                                        <p:cTn dur="1000"/>
                                        <p:tgtEl>
                                          <p:spTgt spid="2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4">
                                            <p:txEl>
                                              <p:pRg end="0" st="0"/>
                                            </p:txEl>
                                          </p:spTgt>
                                        </p:tgtEl>
                                        <p:attrNameLst>
                                          <p:attrName>style.visibility</p:attrName>
                                        </p:attrNameLst>
                                      </p:cBhvr>
                                      <p:to>
                                        <p:strVal val="visible"/>
                                      </p:to>
                                    </p:set>
                                    <p:animEffect filter="fade" transition="in">
                                      <p:cBhvr>
                                        <p:cTn dur="1"/>
                                        <p:tgtEl>
                                          <p:spTgt spid="274">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4">
                                            <p:txEl>
                                              <p:pRg end="1" st="1"/>
                                            </p:txEl>
                                          </p:spTgt>
                                        </p:tgtEl>
                                        <p:attrNameLst>
                                          <p:attrName>style.visibility</p:attrName>
                                        </p:attrNameLst>
                                      </p:cBhvr>
                                      <p:to>
                                        <p:strVal val="visible"/>
                                      </p:to>
                                    </p:set>
                                    <p:animEffect filter="fade" transition="in">
                                      <p:cBhvr>
                                        <p:cTn dur="1"/>
                                        <p:tgtEl>
                                          <p:spTgt spid="274">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4">
                                            <p:txEl>
                                              <p:pRg end="2" st="2"/>
                                            </p:txEl>
                                          </p:spTgt>
                                        </p:tgtEl>
                                        <p:attrNameLst>
                                          <p:attrName>style.visibility</p:attrName>
                                        </p:attrNameLst>
                                      </p:cBhvr>
                                      <p:to>
                                        <p:strVal val="visible"/>
                                      </p:to>
                                    </p:set>
                                    <p:animEffect filter="fade" transition="in">
                                      <p:cBhvr>
                                        <p:cTn dur="1"/>
                                        <p:tgtEl>
                                          <p:spTgt spid="274">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1"/>
                                        </p:tgtEl>
                                        <p:attrNameLst>
                                          <p:attrName>style.visibility</p:attrName>
                                        </p:attrNameLst>
                                      </p:cBhvr>
                                      <p:to>
                                        <p:strVal val="visible"/>
                                      </p:to>
                                    </p:set>
                                    <p:animEffect filter="fade" transition="in">
                                      <p:cBhvr>
                                        <p:cTn dur="1000"/>
                                        <p:tgtEl>
                                          <p:spTgt spid="2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a:t>
            </a:r>
            <a:endParaRPr/>
          </a:p>
        </p:txBody>
      </p:sp>
      <p:sp>
        <p:nvSpPr>
          <p:cNvPr id="289" name="Google Shape;289;p4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Let TUCS be the asymptotically fastest possible comparison sorting algorithm, possibly yet to be discovered.</a:t>
            </a:r>
            <a:endParaRPr/>
          </a:p>
          <a:p>
            <a:pPr indent="-342900" lvl="0" marL="457200" rtl="0" algn="l">
              <a:spcBef>
                <a:spcPts val="600"/>
              </a:spcBef>
              <a:spcAft>
                <a:spcPts val="0"/>
              </a:spcAft>
              <a:buSzPts val="1800"/>
              <a:buChar char="●"/>
            </a:pPr>
            <a:r>
              <a:rPr lang="en"/>
              <a:t>Worst case run-time of TUCS, R(N) is O(N log N). Why?</a:t>
            </a:r>
            <a:endParaRPr/>
          </a:p>
          <a:p>
            <a:pPr indent="-342900" lvl="0" marL="457200" rtl="0" algn="l">
              <a:spcBef>
                <a:spcPts val="0"/>
              </a:spcBef>
              <a:spcAft>
                <a:spcPts val="0"/>
              </a:spcAft>
              <a:buSzPts val="1800"/>
              <a:buChar char="●"/>
            </a:pPr>
            <a:r>
              <a:rPr lang="en"/>
              <a:t>Worst case run-time of TUCS, R(N) is also Ω(N).</a:t>
            </a:r>
            <a:endParaRPr/>
          </a:p>
          <a:p>
            <a:pPr indent="-342900" lvl="1" marL="914400" rtl="0" algn="l">
              <a:spcBef>
                <a:spcPts val="0"/>
              </a:spcBef>
              <a:spcAft>
                <a:spcPts val="0"/>
              </a:spcAft>
              <a:buSzPts val="1800"/>
              <a:buChar char="○"/>
            </a:pPr>
            <a:r>
              <a:rPr lang="en"/>
              <a:t>Have to at least look at every item.</a:t>
            </a:r>
            <a:endParaRPr/>
          </a:p>
        </p:txBody>
      </p:sp>
      <p:sp>
        <p:nvSpPr>
          <p:cNvPr id="290" name="Google Shape;290;p43"/>
          <p:cNvSpPr/>
          <p:nvPr/>
        </p:nvSpPr>
        <p:spPr>
          <a:xfrm>
            <a:off x="7245425" y="1505175"/>
            <a:ext cx="1372500" cy="1693800"/>
          </a:xfrm>
          <a:prstGeom prst="rect">
            <a:avLst/>
          </a:prstGeom>
          <a:solidFill>
            <a:srgbClr val="C9DAF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91" name="Google Shape;291;p43"/>
          <p:cNvCxnSpPr/>
          <p:nvPr/>
        </p:nvCxnSpPr>
        <p:spPr>
          <a:xfrm>
            <a:off x="7628697" y="1941943"/>
            <a:ext cx="606000" cy="0"/>
          </a:xfrm>
          <a:prstGeom prst="straightConnector1">
            <a:avLst/>
          </a:prstGeom>
          <a:noFill/>
          <a:ln cap="flat" cmpd="sng" w="28575">
            <a:solidFill>
              <a:srgbClr val="BE0712"/>
            </a:solidFill>
            <a:prstDash val="solid"/>
            <a:round/>
            <a:headEnd len="med" w="med" type="none"/>
            <a:tailEnd len="med" w="med" type="none"/>
          </a:ln>
        </p:spPr>
      </p:cxnSp>
      <p:cxnSp>
        <p:nvCxnSpPr>
          <p:cNvPr id="292" name="Google Shape;292;p43"/>
          <p:cNvCxnSpPr/>
          <p:nvPr/>
        </p:nvCxnSpPr>
        <p:spPr>
          <a:xfrm>
            <a:off x="7950150" y="1950275"/>
            <a:ext cx="0" cy="865800"/>
          </a:xfrm>
          <a:prstGeom prst="straightConnector1">
            <a:avLst/>
          </a:prstGeom>
          <a:noFill/>
          <a:ln cap="flat" cmpd="sng" w="28575">
            <a:solidFill>
              <a:srgbClr val="BE0712"/>
            </a:solidFill>
            <a:prstDash val="solid"/>
            <a:round/>
            <a:headEnd len="med" w="med" type="none"/>
            <a:tailEnd len="med" w="med" type="none"/>
          </a:ln>
        </p:spPr>
      </p:cxnSp>
      <p:cxnSp>
        <p:nvCxnSpPr>
          <p:cNvPr id="293" name="Google Shape;293;p43"/>
          <p:cNvCxnSpPr/>
          <p:nvPr/>
        </p:nvCxnSpPr>
        <p:spPr>
          <a:xfrm>
            <a:off x="7634797" y="2807418"/>
            <a:ext cx="606000" cy="0"/>
          </a:xfrm>
          <a:prstGeom prst="straightConnector1">
            <a:avLst/>
          </a:prstGeom>
          <a:noFill/>
          <a:ln cap="flat" cmpd="sng" w="28575">
            <a:solidFill>
              <a:srgbClr val="BE0712"/>
            </a:solidFill>
            <a:prstDash val="solid"/>
            <a:round/>
            <a:headEnd len="med" w="med" type="none"/>
            <a:tailEnd len="med" w="med" type="none"/>
          </a:ln>
        </p:spPr>
      </p:cxnSp>
      <p:sp>
        <p:nvSpPr>
          <p:cNvPr id="294" name="Google Shape;294;p43"/>
          <p:cNvSpPr txBox="1"/>
          <p:nvPr/>
        </p:nvSpPr>
        <p:spPr>
          <a:xfrm>
            <a:off x="7342313" y="1455478"/>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O(N log N)</a:t>
            </a:r>
            <a:endParaRPr sz="1600">
              <a:solidFill>
                <a:srgbClr val="BE0712"/>
              </a:solidFill>
              <a:latin typeface="Roboto"/>
              <a:ea typeface="Roboto"/>
              <a:cs typeface="Roboto"/>
              <a:sym typeface="Roboto"/>
            </a:endParaRPr>
          </a:p>
        </p:txBody>
      </p:sp>
      <p:sp>
        <p:nvSpPr>
          <p:cNvPr id="295" name="Google Shape;295;p43"/>
          <p:cNvSpPr txBox="1"/>
          <p:nvPr/>
        </p:nvSpPr>
        <p:spPr>
          <a:xfrm>
            <a:off x="7671901" y="2706375"/>
            <a:ext cx="7245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Ω(N)</a:t>
            </a:r>
            <a:endParaRPr sz="1600">
              <a:solidFill>
                <a:srgbClr val="BE0712"/>
              </a:solidFill>
              <a:latin typeface="Roboto"/>
              <a:ea typeface="Roboto"/>
              <a:cs typeface="Roboto"/>
              <a:sym typeface="Roboto"/>
            </a:endParaRPr>
          </a:p>
        </p:txBody>
      </p:sp>
      <p:sp>
        <p:nvSpPr>
          <p:cNvPr id="296" name="Google Shape;296;p43"/>
          <p:cNvSpPr txBox="1"/>
          <p:nvPr/>
        </p:nvSpPr>
        <p:spPr>
          <a:xfrm>
            <a:off x="7150400" y="3135900"/>
            <a:ext cx="1589100" cy="570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TUCS Worst</a:t>
            </a:r>
            <a:endParaRPr>
              <a:latin typeface="Roboto"/>
              <a:ea typeface="Roboto"/>
              <a:cs typeface="Roboto"/>
              <a:sym typeface="Roboto"/>
            </a:endParaRPr>
          </a:p>
          <a:p>
            <a:pPr indent="0" lvl="0" marL="0" rtl="0" algn="l">
              <a:spcBef>
                <a:spcPts val="0"/>
              </a:spcBef>
              <a:spcAft>
                <a:spcPts val="0"/>
              </a:spcAft>
              <a:buNone/>
            </a:pPr>
            <a:r>
              <a:rPr lang="en">
                <a:latin typeface="Roboto"/>
                <a:ea typeface="Roboto"/>
                <a:cs typeface="Roboto"/>
                <a:sym typeface="Roboto"/>
              </a:rPr>
              <a:t> Case Θ </a:t>
            </a:r>
            <a:r>
              <a:rPr lang="en">
                <a:solidFill>
                  <a:schemeClr val="dk1"/>
                </a:solidFill>
                <a:latin typeface="Roboto"/>
                <a:ea typeface="Roboto"/>
                <a:cs typeface="Roboto"/>
                <a:sym typeface="Roboto"/>
              </a:rPr>
              <a:t>Runtime</a:t>
            </a:r>
            <a:r>
              <a:rPr lang="en">
                <a:latin typeface="Roboto"/>
                <a:ea typeface="Roboto"/>
                <a:cs typeface="Roboto"/>
                <a:sym typeface="Roboto"/>
              </a:rPr>
              <a:t> </a:t>
            </a:r>
            <a:endParaRPr>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a:t>
            </a:r>
            <a:endParaRPr/>
          </a:p>
        </p:txBody>
      </p:sp>
      <p:sp>
        <p:nvSpPr>
          <p:cNvPr id="302" name="Google Shape;302;p4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Clr>
                <a:srgbClr val="000000"/>
              </a:buClr>
              <a:buSzPts val="1100"/>
              <a:buFont typeface="Arial"/>
              <a:buNone/>
            </a:pPr>
            <a:r>
              <a:rPr lang="en"/>
              <a:t>We know that TUCS “lives” between N and N log N.</a:t>
            </a:r>
            <a:endParaRPr/>
          </a:p>
          <a:p>
            <a:pPr indent="-355600" lvl="0" marL="457200" rtl="0" algn="l">
              <a:spcBef>
                <a:spcPts val="600"/>
              </a:spcBef>
              <a:spcAft>
                <a:spcPts val="0"/>
              </a:spcAft>
              <a:buSzPts val="2000"/>
              <a:buChar char="●"/>
            </a:pPr>
            <a:r>
              <a:rPr lang="en"/>
              <a:t>Worst case asymptotic runtime of TUCS is between Θ(N) and Θ(N log N).</a:t>
            </a:r>
            <a:endParaRPr/>
          </a:p>
        </p:txBody>
      </p:sp>
      <p:sp>
        <p:nvSpPr>
          <p:cNvPr id="303" name="Google Shape;303;p44"/>
          <p:cNvSpPr/>
          <p:nvPr/>
        </p:nvSpPr>
        <p:spPr>
          <a:xfrm>
            <a:off x="7559768" y="1505175"/>
            <a:ext cx="1372500" cy="1693800"/>
          </a:xfrm>
          <a:prstGeom prst="rect">
            <a:avLst/>
          </a:prstGeom>
          <a:solidFill>
            <a:srgbClr val="C9DAF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04" name="Google Shape;304;p44"/>
          <p:cNvCxnSpPr/>
          <p:nvPr/>
        </p:nvCxnSpPr>
        <p:spPr>
          <a:xfrm>
            <a:off x="7933497" y="1941943"/>
            <a:ext cx="606000" cy="0"/>
          </a:xfrm>
          <a:prstGeom prst="straightConnector1">
            <a:avLst/>
          </a:prstGeom>
          <a:noFill/>
          <a:ln cap="flat" cmpd="sng" w="28575">
            <a:solidFill>
              <a:srgbClr val="BE0712"/>
            </a:solidFill>
            <a:prstDash val="solid"/>
            <a:round/>
            <a:headEnd len="med" w="med" type="none"/>
            <a:tailEnd len="med" w="med" type="none"/>
          </a:ln>
        </p:spPr>
      </p:cxnSp>
      <p:cxnSp>
        <p:nvCxnSpPr>
          <p:cNvPr id="305" name="Google Shape;305;p44"/>
          <p:cNvCxnSpPr/>
          <p:nvPr/>
        </p:nvCxnSpPr>
        <p:spPr>
          <a:xfrm>
            <a:off x="8264493" y="1950275"/>
            <a:ext cx="0" cy="865800"/>
          </a:xfrm>
          <a:prstGeom prst="straightConnector1">
            <a:avLst/>
          </a:prstGeom>
          <a:noFill/>
          <a:ln cap="flat" cmpd="sng" w="28575">
            <a:solidFill>
              <a:srgbClr val="BE0712"/>
            </a:solidFill>
            <a:prstDash val="solid"/>
            <a:round/>
            <a:headEnd len="med" w="med" type="none"/>
            <a:tailEnd len="med" w="med" type="none"/>
          </a:ln>
        </p:spPr>
      </p:cxnSp>
      <p:cxnSp>
        <p:nvCxnSpPr>
          <p:cNvPr id="306" name="Google Shape;306;p44"/>
          <p:cNvCxnSpPr/>
          <p:nvPr/>
        </p:nvCxnSpPr>
        <p:spPr>
          <a:xfrm>
            <a:off x="7949140" y="2807418"/>
            <a:ext cx="606000" cy="0"/>
          </a:xfrm>
          <a:prstGeom prst="straightConnector1">
            <a:avLst/>
          </a:prstGeom>
          <a:noFill/>
          <a:ln cap="flat" cmpd="sng" w="28575">
            <a:solidFill>
              <a:srgbClr val="BE0712"/>
            </a:solidFill>
            <a:prstDash val="solid"/>
            <a:round/>
            <a:headEnd len="med" w="med" type="none"/>
            <a:tailEnd len="med" w="med" type="none"/>
          </a:ln>
        </p:spPr>
      </p:cxnSp>
      <p:sp>
        <p:nvSpPr>
          <p:cNvPr id="307" name="Google Shape;307;p44"/>
          <p:cNvSpPr txBox="1"/>
          <p:nvPr/>
        </p:nvSpPr>
        <p:spPr>
          <a:xfrm>
            <a:off x="7656655" y="1455478"/>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O(N log N)</a:t>
            </a:r>
            <a:endParaRPr sz="1600">
              <a:solidFill>
                <a:srgbClr val="BE0712"/>
              </a:solidFill>
              <a:latin typeface="Roboto"/>
              <a:ea typeface="Roboto"/>
              <a:cs typeface="Roboto"/>
              <a:sym typeface="Roboto"/>
            </a:endParaRPr>
          </a:p>
        </p:txBody>
      </p:sp>
      <p:sp>
        <p:nvSpPr>
          <p:cNvPr id="308" name="Google Shape;308;p44"/>
          <p:cNvSpPr txBox="1"/>
          <p:nvPr/>
        </p:nvSpPr>
        <p:spPr>
          <a:xfrm>
            <a:off x="7986243" y="2706375"/>
            <a:ext cx="7245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Ω(N)</a:t>
            </a:r>
            <a:endParaRPr sz="1600">
              <a:solidFill>
                <a:srgbClr val="BE0712"/>
              </a:solidFill>
              <a:latin typeface="Roboto"/>
              <a:ea typeface="Roboto"/>
              <a:cs typeface="Roboto"/>
              <a:sym typeface="Roboto"/>
            </a:endParaRPr>
          </a:p>
        </p:txBody>
      </p:sp>
      <p:sp>
        <p:nvSpPr>
          <p:cNvPr id="309" name="Google Shape;309;p44"/>
          <p:cNvSpPr txBox="1"/>
          <p:nvPr/>
        </p:nvSpPr>
        <p:spPr>
          <a:xfrm>
            <a:off x="7464743" y="3135900"/>
            <a:ext cx="1589100" cy="570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TUCS Worst</a:t>
            </a:r>
            <a:endParaRPr>
              <a:latin typeface="Roboto"/>
              <a:ea typeface="Roboto"/>
              <a:cs typeface="Roboto"/>
              <a:sym typeface="Roboto"/>
            </a:endParaRPr>
          </a:p>
          <a:p>
            <a:pPr indent="0" lvl="0" marL="0" rtl="0" algn="l">
              <a:spcBef>
                <a:spcPts val="0"/>
              </a:spcBef>
              <a:spcAft>
                <a:spcPts val="0"/>
              </a:spcAft>
              <a:buNone/>
            </a:pPr>
            <a:r>
              <a:rPr lang="en">
                <a:latin typeface="Roboto"/>
                <a:ea typeface="Roboto"/>
                <a:cs typeface="Roboto"/>
                <a:sym typeface="Roboto"/>
              </a:rPr>
              <a:t> Case Θ </a:t>
            </a:r>
            <a:r>
              <a:rPr lang="en">
                <a:solidFill>
                  <a:schemeClr val="dk1"/>
                </a:solidFill>
                <a:latin typeface="Roboto"/>
                <a:ea typeface="Roboto"/>
                <a:cs typeface="Roboto"/>
                <a:sym typeface="Roboto"/>
              </a:rPr>
              <a:t>Runtime</a:t>
            </a:r>
            <a:r>
              <a:rPr lang="en">
                <a:latin typeface="Roboto"/>
                <a:ea typeface="Roboto"/>
                <a:cs typeface="Roboto"/>
                <a:sym typeface="Roboto"/>
              </a:rPr>
              <a:t> </a:t>
            </a:r>
            <a:endParaRPr>
              <a:latin typeface="Roboto"/>
              <a:ea typeface="Roboto"/>
              <a:cs typeface="Roboto"/>
              <a:sym typeface="Roboto"/>
            </a:endParaRPr>
          </a:p>
        </p:txBody>
      </p:sp>
      <p:sp>
        <p:nvSpPr>
          <p:cNvPr id="310" name="Google Shape;310;p44"/>
          <p:cNvSpPr txBox="1"/>
          <p:nvPr/>
        </p:nvSpPr>
        <p:spPr>
          <a:xfrm>
            <a:off x="244903" y="999114"/>
            <a:ext cx="7464900" cy="3000000"/>
          </a:xfrm>
          <a:prstGeom prst="rect">
            <a:avLst/>
          </a:prstGeom>
          <a:noFill/>
          <a:ln>
            <a:noFill/>
          </a:ln>
        </p:spPr>
        <p:txBody>
          <a:bodyPr anchorCtr="0" anchor="ctr" bIns="91425" lIns="91425" spcFirstLastPara="1" rIns="91425" wrap="square" tIns="91425">
            <a:noAutofit/>
          </a:bodyPr>
          <a:lstStyle/>
          <a:p>
            <a:pPr indent="-342900" lvl="0" marL="457200" rtl="0" algn="l">
              <a:spcBef>
                <a:spcPts val="600"/>
              </a:spcBef>
              <a:spcAft>
                <a:spcPts val="0"/>
              </a:spcAft>
              <a:buClr>
                <a:schemeClr val="dk1"/>
              </a:buClr>
              <a:buSzPts val="1800"/>
              <a:buFont typeface="Roboto"/>
              <a:buChar char="●"/>
            </a:pPr>
            <a:r>
              <a:rPr lang="en" sz="1800">
                <a:solidFill>
                  <a:schemeClr val="dk1"/>
                </a:solidFill>
                <a:latin typeface="Roboto"/>
                <a:ea typeface="Roboto"/>
                <a:cs typeface="Roboto"/>
                <a:sym typeface="Roboto"/>
              </a:rPr>
              <a:t>Can we make an even stronger statement on the lower bound?</a:t>
            </a:r>
            <a:endParaRPr sz="1800">
              <a:solidFill>
                <a:schemeClr val="dk1"/>
              </a:solidFill>
              <a:latin typeface="Roboto"/>
              <a:ea typeface="Roboto"/>
              <a:cs typeface="Roboto"/>
              <a:sym typeface="Roboto"/>
            </a:endParaRPr>
          </a:p>
          <a:p>
            <a:pPr indent="-342900" lvl="1" marL="9144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With a clever argument, yes (as we’ll see soon see).</a:t>
            </a:r>
            <a:endParaRPr sz="1800">
              <a:solidFill>
                <a:schemeClr val="dk1"/>
              </a:solidFill>
              <a:latin typeface="Roboto"/>
              <a:ea typeface="Roboto"/>
              <a:cs typeface="Roboto"/>
              <a:sym typeface="Roboto"/>
            </a:endParaRPr>
          </a:p>
          <a:p>
            <a:pPr indent="-342900" lvl="2" marL="1371600" rtl="0" algn="l">
              <a:spcBef>
                <a:spcPts val="0"/>
              </a:spcBef>
              <a:spcAft>
                <a:spcPts val="0"/>
              </a:spcAft>
              <a:buClr>
                <a:schemeClr val="dk1"/>
              </a:buClr>
              <a:buSzPts val="1800"/>
              <a:buFont typeface="Roboto"/>
              <a:buChar char="■"/>
            </a:pPr>
            <a:r>
              <a:rPr lang="en" sz="1600">
                <a:solidFill>
                  <a:schemeClr val="dk1"/>
                </a:solidFill>
                <a:latin typeface="Roboto"/>
                <a:ea typeface="Roboto"/>
                <a:cs typeface="Roboto"/>
                <a:sym typeface="Roboto"/>
              </a:rPr>
              <a:t>Spoiler alert: It will turn out to be Ω(N log N)</a:t>
            </a:r>
            <a:endParaRPr sz="1600">
              <a:solidFill>
                <a:schemeClr val="dk1"/>
              </a:solidFill>
              <a:latin typeface="Roboto"/>
              <a:ea typeface="Roboto"/>
              <a:cs typeface="Roboto"/>
              <a:sym typeface="Roboto"/>
            </a:endParaRPr>
          </a:p>
          <a:p>
            <a:pPr indent="-355600" lvl="1" marL="914400" rtl="0" algn="l">
              <a:spcBef>
                <a:spcPts val="0"/>
              </a:spcBef>
              <a:spcAft>
                <a:spcPts val="0"/>
              </a:spcAft>
              <a:buClr>
                <a:schemeClr val="dk1"/>
              </a:buClr>
              <a:buSzPts val="2000"/>
              <a:buFont typeface="Roboto"/>
              <a:buChar char="○"/>
            </a:pPr>
            <a:r>
              <a:rPr lang="en" sz="1800">
                <a:solidFill>
                  <a:schemeClr val="dk1"/>
                </a:solidFill>
                <a:latin typeface="Roboto"/>
                <a:ea typeface="Roboto"/>
                <a:cs typeface="Roboto"/>
                <a:sym typeface="Roboto"/>
              </a:rPr>
              <a:t>This lower bound means that across the infinite space of all possible ideas that any human might ever have for sorting using sequential comparisons, NONE has a worst case runtime that is better than Θ(N log N).</a:t>
            </a:r>
            <a:endParaRPr sz="1200">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4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316" name="Google Shape;316;p45"/>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Goal: How Hard is Sorting?</a:t>
            </a:r>
            <a:endParaRPr/>
          </a:p>
          <a:p>
            <a:pPr indent="0" lvl="0" marL="0" rtl="0" algn="l">
              <a:spcBef>
                <a:spcPts val="600"/>
              </a:spcBef>
              <a:spcAft>
                <a:spcPts val="0"/>
              </a:spcAft>
              <a:buClr>
                <a:schemeClr val="dk1"/>
              </a:buClr>
              <a:buSzPts val="1100"/>
              <a:buFont typeface="Arial"/>
              <a:buNone/>
            </a:pPr>
            <a:r>
              <a:rPr lang="en"/>
              <a:t>Math Problem Warmup</a:t>
            </a:r>
            <a:endParaRPr/>
          </a:p>
          <a:p>
            <a:pPr indent="0" lvl="0" marL="0" rtl="0" algn="l">
              <a:spcBef>
                <a:spcPts val="600"/>
              </a:spcBef>
              <a:spcAft>
                <a:spcPts val="0"/>
              </a:spcAft>
              <a:buClr>
                <a:schemeClr val="dk1"/>
              </a:buClr>
              <a:buSzPts val="1100"/>
              <a:buFont typeface="Arial"/>
              <a:buNone/>
            </a:pPr>
            <a:r>
              <a:rPr b="1" lang="en">
                <a:solidFill>
                  <a:schemeClr val="accent3"/>
                </a:solidFill>
                <a:latin typeface="Roboto"/>
                <a:ea typeface="Roboto"/>
                <a:cs typeface="Roboto"/>
                <a:sym typeface="Roboto"/>
              </a:rPr>
              <a:t>Theoretical Bounds on Sorting</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Simple Bounds for TUCS (the ultimate comparison sort)</a:t>
            </a:r>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Coin Puzzles</a:t>
            </a:r>
            <a:endParaRPr b="1">
              <a:solidFill>
                <a:schemeClr val="accent3"/>
              </a:solidFill>
              <a:latin typeface="Roboto"/>
              <a:ea typeface="Roboto"/>
              <a:cs typeface="Roboto"/>
              <a:sym typeface="Roboto"/>
            </a:endParaRPr>
          </a:p>
          <a:p>
            <a:pPr indent="-342900" lvl="0" marL="457200" rtl="0" algn="l">
              <a:spcBef>
                <a:spcPts val="0"/>
              </a:spcBef>
              <a:spcAft>
                <a:spcPts val="0"/>
              </a:spcAft>
              <a:buSzPts val="1800"/>
              <a:buChar char="•"/>
            </a:pPr>
            <a:r>
              <a:rPr lang="en"/>
              <a:t>Puppy Cat Dog</a:t>
            </a:r>
            <a:endParaRPr/>
          </a:p>
          <a:p>
            <a:pPr indent="-342900" lvl="0" marL="457200" rtl="0" algn="l">
              <a:spcBef>
                <a:spcPts val="0"/>
              </a:spcBef>
              <a:spcAft>
                <a:spcPts val="0"/>
              </a:spcAft>
              <a:buSzPts val="1800"/>
              <a:buChar char="•"/>
            </a:pPr>
            <a:r>
              <a:rPr lang="en"/>
              <a:t>The Sorting Lower Bound</a:t>
            </a:r>
            <a:endParaRPr/>
          </a:p>
          <a:p>
            <a:pPr indent="0" lvl="0" marL="0" rtl="0" algn="l">
              <a:spcBef>
                <a:spcPts val="600"/>
              </a:spcBef>
              <a:spcAft>
                <a:spcPts val="0"/>
              </a:spcAft>
              <a:buClr>
                <a:schemeClr val="dk1"/>
              </a:buClr>
              <a:buSzPts val="1100"/>
              <a:buFont typeface="Arial"/>
              <a:buNone/>
            </a:pPr>
            <a:r>
              <a:rPr lang="en"/>
              <a:t>Sounds of Sorting</a:t>
            </a:r>
            <a:endParaRPr/>
          </a:p>
        </p:txBody>
      </p:sp>
      <p:sp>
        <p:nvSpPr>
          <p:cNvPr id="317" name="Google Shape;317;p4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Coin Puzzles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4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a:t>
            </a:r>
            <a:endParaRPr/>
          </a:p>
        </p:txBody>
      </p:sp>
      <p:sp>
        <p:nvSpPr>
          <p:cNvPr id="323" name="Google Shape;323;p4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Suppose we have nine coins that are all identical in appearance and weight. However, one of them is a counterfeit </a:t>
            </a:r>
            <a:r>
              <a:rPr lang="en"/>
              <a:t>coin, and weighs slightly more than the other 8.</a:t>
            </a:r>
            <a:endParaRPr/>
          </a:p>
          <a:p>
            <a:pPr indent="0" lvl="0" marL="0" rtl="0" algn="l">
              <a:spcBef>
                <a:spcPts val="600"/>
              </a:spcBef>
              <a:spcAft>
                <a:spcPts val="0"/>
              </a:spcAft>
              <a:buNone/>
            </a:pPr>
            <a:r>
              <a:rPr lang="en"/>
              <a:t>We have a scale that can be used to compare two sets of coins at a time, but we can only use it twice. How can we determine the counterfeit coin?</a:t>
            </a:r>
            <a:endParaRPr/>
          </a:p>
        </p:txBody>
      </p:sp>
      <p:pic>
        <p:nvPicPr>
          <p:cNvPr id="324" name="Google Shape;324;p46"/>
          <p:cNvPicPr preferRelativeResize="0"/>
          <p:nvPr/>
        </p:nvPicPr>
        <p:blipFill>
          <a:blip r:embed="rId3">
            <a:alphaModFix/>
          </a:blip>
          <a:stretch>
            <a:fillRect/>
          </a:stretch>
        </p:blipFill>
        <p:spPr>
          <a:xfrm>
            <a:off x="7081474" y="3143674"/>
            <a:ext cx="2051075" cy="1774176"/>
          </a:xfrm>
          <a:prstGeom prst="rect">
            <a:avLst/>
          </a:prstGeom>
          <a:noFill/>
          <a:ln>
            <a:noFill/>
          </a:ln>
        </p:spPr>
      </p:pic>
      <p:sp>
        <p:nvSpPr>
          <p:cNvPr id="325" name="Google Shape;325;p46"/>
          <p:cNvSpPr/>
          <p:nvPr/>
        </p:nvSpPr>
        <p:spPr>
          <a:xfrm>
            <a:off x="4798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326" name="Google Shape;326;p46"/>
          <p:cNvSpPr/>
          <p:nvPr/>
        </p:nvSpPr>
        <p:spPr>
          <a:xfrm>
            <a:off x="11172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327" name="Google Shape;327;p46"/>
          <p:cNvSpPr/>
          <p:nvPr/>
        </p:nvSpPr>
        <p:spPr>
          <a:xfrm>
            <a:off x="17546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328" name="Google Shape;328;p46"/>
          <p:cNvSpPr/>
          <p:nvPr/>
        </p:nvSpPr>
        <p:spPr>
          <a:xfrm>
            <a:off x="23832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329" name="Google Shape;329;p46"/>
          <p:cNvSpPr/>
          <p:nvPr/>
        </p:nvSpPr>
        <p:spPr>
          <a:xfrm>
            <a:off x="30206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330" name="Google Shape;330;p46"/>
          <p:cNvSpPr/>
          <p:nvPr/>
        </p:nvSpPr>
        <p:spPr>
          <a:xfrm>
            <a:off x="36580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331" name="Google Shape;331;p46"/>
          <p:cNvSpPr/>
          <p:nvPr/>
        </p:nvSpPr>
        <p:spPr>
          <a:xfrm>
            <a:off x="42865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332" name="Google Shape;332;p46"/>
          <p:cNvSpPr/>
          <p:nvPr/>
        </p:nvSpPr>
        <p:spPr>
          <a:xfrm>
            <a:off x="49239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333" name="Google Shape;333;p46"/>
          <p:cNvSpPr/>
          <p:nvPr/>
        </p:nvSpPr>
        <p:spPr>
          <a:xfrm>
            <a:off x="55613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4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a:t>
            </a:r>
            <a:r>
              <a:rPr lang="en"/>
              <a:t>Coins: Step 1</a:t>
            </a:r>
            <a:endParaRPr/>
          </a:p>
        </p:txBody>
      </p:sp>
      <p:sp>
        <p:nvSpPr>
          <p:cNvPr id="339" name="Google Shape;339;p4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Many solutions, but here's the classic one:</a:t>
            </a:r>
            <a:endParaRPr/>
          </a:p>
          <a:p>
            <a:pPr indent="0" lvl="0" marL="0" rtl="0" algn="l">
              <a:spcBef>
                <a:spcPts val="600"/>
              </a:spcBef>
              <a:spcAft>
                <a:spcPts val="0"/>
              </a:spcAft>
              <a:buNone/>
            </a:pPr>
            <a:r>
              <a:rPr lang="en"/>
              <a:t>Step 1: Compare coins 123 vs 456</a:t>
            </a:r>
            <a:endParaRPr/>
          </a:p>
          <a:p>
            <a:pPr indent="0" lvl="0" marL="0" rtl="0" algn="l">
              <a:spcBef>
                <a:spcPts val="600"/>
              </a:spcBef>
              <a:spcAft>
                <a:spcPts val="0"/>
              </a:spcAft>
              <a:buNone/>
            </a:pPr>
            <a:r>
              <a:rPr lang="en"/>
              <a:t>There are three cases: </a:t>
            </a:r>
            <a:endParaRPr/>
          </a:p>
          <a:p>
            <a:pPr indent="0" lvl="0" marL="457200" rtl="0" algn="l">
              <a:spcBef>
                <a:spcPts val="600"/>
              </a:spcBef>
              <a:spcAft>
                <a:spcPts val="0"/>
              </a:spcAft>
              <a:buNone/>
            </a:pPr>
            <a:r>
              <a:rPr lang="en"/>
              <a:t>     1: Left side heavier							     2: Right side heavier</a:t>
            </a:r>
            <a:endParaRPr/>
          </a:p>
          <a:p>
            <a:pPr indent="457200" lvl="0" marL="2743200" rtl="0" algn="l">
              <a:spcBef>
                <a:spcPts val="600"/>
              </a:spcBef>
              <a:spcAft>
                <a:spcPts val="0"/>
              </a:spcAft>
              <a:buNone/>
            </a:pPr>
            <a:r>
              <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rPr lang="en"/>
              <a:t>  3: The two are equal</a:t>
            </a:r>
            <a:endParaRPr/>
          </a:p>
        </p:txBody>
      </p:sp>
      <p:pic>
        <p:nvPicPr>
          <p:cNvPr id="340" name="Google Shape;340;p47"/>
          <p:cNvPicPr preferRelativeResize="0"/>
          <p:nvPr/>
        </p:nvPicPr>
        <p:blipFill>
          <a:blip r:embed="rId3">
            <a:alphaModFix/>
          </a:blip>
          <a:stretch>
            <a:fillRect/>
          </a:stretch>
        </p:blipFill>
        <p:spPr>
          <a:xfrm>
            <a:off x="3341812" y="1750624"/>
            <a:ext cx="2051075" cy="1774176"/>
          </a:xfrm>
          <a:prstGeom prst="rect">
            <a:avLst/>
          </a:prstGeom>
          <a:noFill/>
          <a:ln>
            <a:noFill/>
          </a:ln>
        </p:spPr>
      </p:pic>
      <p:sp>
        <p:nvSpPr>
          <p:cNvPr id="341" name="Google Shape;341;p47"/>
          <p:cNvSpPr/>
          <p:nvPr/>
        </p:nvSpPr>
        <p:spPr>
          <a:xfrm>
            <a:off x="984425" y="2395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342" name="Google Shape;342;p47"/>
          <p:cNvSpPr/>
          <p:nvPr/>
        </p:nvSpPr>
        <p:spPr>
          <a:xfrm>
            <a:off x="1621825" y="2395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343" name="Google Shape;343;p47"/>
          <p:cNvSpPr/>
          <p:nvPr/>
        </p:nvSpPr>
        <p:spPr>
          <a:xfrm>
            <a:off x="2259225" y="2395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344" name="Google Shape;344;p47"/>
          <p:cNvSpPr/>
          <p:nvPr/>
        </p:nvSpPr>
        <p:spPr>
          <a:xfrm>
            <a:off x="5991250" y="23956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345" name="Google Shape;345;p47"/>
          <p:cNvSpPr/>
          <p:nvPr/>
        </p:nvSpPr>
        <p:spPr>
          <a:xfrm>
            <a:off x="6628650" y="23956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346" name="Google Shape;346;p47"/>
          <p:cNvSpPr/>
          <p:nvPr/>
        </p:nvSpPr>
        <p:spPr>
          <a:xfrm>
            <a:off x="7266050" y="23956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347" name="Google Shape;347;p47"/>
          <p:cNvSpPr/>
          <p:nvPr/>
        </p:nvSpPr>
        <p:spPr>
          <a:xfrm>
            <a:off x="3692500" y="44328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348" name="Google Shape;348;p47"/>
          <p:cNvSpPr/>
          <p:nvPr/>
        </p:nvSpPr>
        <p:spPr>
          <a:xfrm>
            <a:off x="4329900" y="44328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349" name="Google Shape;349;p47"/>
          <p:cNvSpPr/>
          <p:nvPr/>
        </p:nvSpPr>
        <p:spPr>
          <a:xfrm>
            <a:off x="4967300" y="44328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CCCC"/>
        </a:solidFill>
      </p:bgPr>
    </p:bg>
    <p:spTree>
      <p:nvGrpSpPr>
        <p:cNvPr id="353" name="Shape 353"/>
        <p:cNvGrpSpPr/>
        <p:nvPr/>
      </p:nvGrpSpPr>
      <p:grpSpPr>
        <a:xfrm>
          <a:off x="0" y="0"/>
          <a:ext cx="0" cy="0"/>
          <a:chOff x="0" y="0"/>
          <a:chExt cx="0" cy="0"/>
        </a:xfrm>
      </p:grpSpPr>
      <p:sp>
        <p:nvSpPr>
          <p:cNvPr id="354" name="Google Shape;354;p4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Step 2 in Case 1</a:t>
            </a:r>
            <a:endParaRPr/>
          </a:p>
        </p:txBody>
      </p:sp>
      <p:sp>
        <p:nvSpPr>
          <p:cNvPr id="355" name="Google Shape;355;p4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In case 1: The heavier coin is either 1, 2, or 3</a:t>
            </a:r>
            <a:endParaRPr/>
          </a:p>
          <a:p>
            <a:pPr indent="0" lvl="0" marL="0" rtl="0" algn="l">
              <a:spcBef>
                <a:spcPts val="600"/>
              </a:spcBef>
              <a:spcAft>
                <a:spcPts val="0"/>
              </a:spcAft>
              <a:buNone/>
            </a:pPr>
            <a:r>
              <a:rPr lang="en"/>
              <a:t>Step 2.1: Compare coins 1 vs 2</a:t>
            </a:r>
            <a:endParaRPr/>
          </a:p>
          <a:p>
            <a:pPr indent="0" lvl="0" marL="0" rtl="0" algn="l">
              <a:spcBef>
                <a:spcPts val="600"/>
              </a:spcBef>
              <a:spcAft>
                <a:spcPts val="0"/>
              </a:spcAft>
              <a:buNone/>
            </a:pPr>
            <a:r>
              <a:rPr lang="en"/>
              <a:t>There are three possibilities: </a:t>
            </a:r>
            <a:endParaRPr/>
          </a:p>
          <a:p>
            <a:pPr indent="0" lvl="0" marL="457200" rtl="0" algn="l">
              <a:spcBef>
                <a:spcPts val="600"/>
              </a:spcBef>
              <a:spcAft>
                <a:spcPts val="0"/>
              </a:spcAft>
              <a:buNone/>
            </a:pPr>
            <a:r>
              <a:rPr lang="en"/>
              <a:t>     1: Left side heavier							     2: Right side heavier</a:t>
            </a:r>
            <a:endParaRPr/>
          </a:p>
          <a:p>
            <a:pPr indent="0" lvl="0" marL="0" rtl="0" algn="l">
              <a:spcBef>
                <a:spcPts val="600"/>
              </a:spcBef>
              <a:spcAft>
                <a:spcPts val="0"/>
              </a:spcAft>
              <a:buNone/>
            </a:pPr>
            <a:r>
              <a:rPr lang="en"/>
              <a:t>	     Coin 1 is counterfeit						     Coin 2 is counterfeit</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0" rtl="0" algn="l">
              <a:spcBef>
                <a:spcPts val="600"/>
              </a:spcBef>
              <a:spcAft>
                <a:spcPts val="0"/>
              </a:spcAft>
              <a:buNone/>
            </a:pPr>
            <a:r>
              <a:t/>
            </a:r>
            <a:endParaRPr/>
          </a:p>
          <a:p>
            <a:pPr indent="0" lvl="0" marL="3200400" rtl="0" algn="l">
              <a:spcBef>
                <a:spcPts val="600"/>
              </a:spcBef>
              <a:spcAft>
                <a:spcPts val="0"/>
              </a:spcAft>
              <a:buNone/>
            </a:pPr>
            <a:r>
              <a:rPr lang="en"/>
              <a:t>  3: The two are equal</a:t>
            </a:r>
            <a:endParaRPr/>
          </a:p>
          <a:p>
            <a:pPr indent="0" lvl="0" marL="3200400" rtl="0" algn="l">
              <a:spcBef>
                <a:spcPts val="600"/>
              </a:spcBef>
              <a:spcAft>
                <a:spcPts val="0"/>
              </a:spcAft>
              <a:buNone/>
            </a:pPr>
            <a:r>
              <a:rPr lang="en"/>
              <a:t>  Coin 3 is counterfeit</a:t>
            </a:r>
            <a:endParaRPr/>
          </a:p>
        </p:txBody>
      </p:sp>
      <p:pic>
        <p:nvPicPr>
          <p:cNvPr id="356" name="Google Shape;356;p48"/>
          <p:cNvPicPr preferRelativeResize="0"/>
          <p:nvPr/>
        </p:nvPicPr>
        <p:blipFill>
          <a:blip r:embed="rId3">
            <a:alphaModFix/>
          </a:blip>
          <a:stretch>
            <a:fillRect/>
          </a:stretch>
        </p:blipFill>
        <p:spPr>
          <a:xfrm>
            <a:off x="3341812" y="1750624"/>
            <a:ext cx="2051075" cy="1774176"/>
          </a:xfrm>
          <a:prstGeom prst="rect">
            <a:avLst/>
          </a:prstGeom>
          <a:noFill/>
          <a:ln>
            <a:noFill/>
          </a:ln>
        </p:spPr>
      </p:pic>
      <p:sp>
        <p:nvSpPr>
          <p:cNvPr id="357" name="Google Shape;357;p48"/>
          <p:cNvSpPr/>
          <p:nvPr/>
        </p:nvSpPr>
        <p:spPr>
          <a:xfrm>
            <a:off x="1621825" y="2395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358" name="Google Shape;358;p48"/>
          <p:cNvSpPr/>
          <p:nvPr/>
        </p:nvSpPr>
        <p:spPr>
          <a:xfrm>
            <a:off x="6628650" y="23956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359" name="Google Shape;359;p48"/>
          <p:cNvSpPr/>
          <p:nvPr/>
        </p:nvSpPr>
        <p:spPr>
          <a:xfrm>
            <a:off x="4177500" y="44328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FE2F3"/>
        </a:solidFill>
      </p:bgPr>
    </p:bg>
    <p:spTree>
      <p:nvGrpSpPr>
        <p:cNvPr id="363" name="Shape 363"/>
        <p:cNvGrpSpPr/>
        <p:nvPr/>
      </p:nvGrpSpPr>
      <p:grpSpPr>
        <a:xfrm>
          <a:off x="0" y="0"/>
          <a:ext cx="0" cy="0"/>
          <a:chOff x="0" y="0"/>
          <a:chExt cx="0" cy="0"/>
        </a:xfrm>
      </p:grpSpPr>
      <p:sp>
        <p:nvSpPr>
          <p:cNvPr id="364" name="Google Shape;364;p4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Step 2 in Case </a:t>
            </a:r>
            <a:r>
              <a:rPr lang="en"/>
              <a:t>2</a:t>
            </a:r>
            <a:endParaRPr/>
          </a:p>
        </p:txBody>
      </p:sp>
      <p:sp>
        <p:nvSpPr>
          <p:cNvPr id="365" name="Google Shape;365;p4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In case </a:t>
            </a:r>
            <a:r>
              <a:rPr lang="en"/>
              <a:t>2</a:t>
            </a:r>
            <a:r>
              <a:rPr lang="en"/>
              <a:t>: The heavier coin is either 4, 5, or 6</a:t>
            </a:r>
            <a:endParaRPr/>
          </a:p>
          <a:p>
            <a:pPr indent="0" lvl="0" marL="0" rtl="0" algn="l">
              <a:spcBef>
                <a:spcPts val="600"/>
              </a:spcBef>
              <a:spcAft>
                <a:spcPts val="0"/>
              </a:spcAft>
              <a:buNone/>
            </a:pPr>
            <a:r>
              <a:rPr lang="en"/>
              <a:t>Step 2.</a:t>
            </a:r>
            <a:r>
              <a:rPr lang="en"/>
              <a:t>2</a:t>
            </a:r>
            <a:r>
              <a:rPr lang="en"/>
              <a:t>: Compare coins 4 vs 5</a:t>
            </a:r>
            <a:endParaRPr/>
          </a:p>
          <a:p>
            <a:pPr indent="0" lvl="0" marL="0" rtl="0" algn="l">
              <a:spcBef>
                <a:spcPts val="600"/>
              </a:spcBef>
              <a:spcAft>
                <a:spcPts val="0"/>
              </a:spcAft>
              <a:buNone/>
            </a:pPr>
            <a:r>
              <a:rPr lang="en"/>
              <a:t>There are three possibilities: </a:t>
            </a:r>
            <a:endParaRPr/>
          </a:p>
          <a:p>
            <a:pPr indent="0" lvl="0" marL="457200" rtl="0" algn="l">
              <a:spcBef>
                <a:spcPts val="600"/>
              </a:spcBef>
              <a:spcAft>
                <a:spcPts val="0"/>
              </a:spcAft>
              <a:buNone/>
            </a:pPr>
            <a:r>
              <a:rPr lang="en"/>
              <a:t>     1: Left side heavier							     2: Right side heavier</a:t>
            </a:r>
            <a:endParaRPr/>
          </a:p>
          <a:p>
            <a:pPr indent="0" lvl="0" marL="0" rtl="0" algn="l">
              <a:spcBef>
                <a:spcPts val="600"/>
              </a:spcBef>
              <a:spcAft>
                <a:spcPts val="0"/>
              </a:spcAft>
              <a:buNone/>
            </a:pPr>
            <a:r>
              <a:rPr lang="en"/>
              <a:t>	     Coin 4 is counterfeit						     Coin 5 is counterfeit</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0" rtl="0" algn="l">
              <a:spcBef>
                <a:spcPts val="600"/>
              </a:spcBef>
              <a:spcAft>
                <a:spcPts val="0"/>
              </a:spcAft>
              <a:buNone/>
            </a:pPr>
            <a:r>
              <a:t/>
            </a:r>
            <a:endParaRPr/>
          </a:p>
          <a:p>
            <a:pPr indent="0" lvl="0" marL="3200400" rtl="0" algn="l">
              <a:spcBef>
                <a:spcPts val="600"/>
              </a:spcBef>
              <a:spcAft>
                <a:spcPts val="0"/>
              </a:spcAft>
              <a:buNone/>
            </a:pPr>
            <a:r>
              <a:rPr lang="en"/>
              <a:t>  3: The two are equal</a:t>
            </a:r>
            <a:endParaRPr/>
          </a:p>
          <a:p>
            <a:pPr indent="0" lvl="0" marL="3200400" rtl="0" algn="l">
              <a:spcBef>
                <a:spcPts val="600"/>
              </a:spcBef>
              <a:spcAft>
                <a:spcPts val="0"/>
              </a:spcAft>
              <a:buNone/>
            </a:pPr>
            <a:r>
              <a:rPr lang="en"/>
              <a:t>  Coin 6 is counterfeit</a:t>
            </a:r>
            <a:endParaRPr/>
          </a:p>
        </p:txBody>
      </p:sp>
      <p:pic>
        <p:nvPicPr>
          <p:cNvPr id="366" name="Google Shape;366;p49"/>
          <p:cNvPicPr preferRelativeResize="0"/>
          <p:nvPr/>
        </p:nvPicPr>
        <p:blipFill>
          <a:blip r:embed="rId3">
            <a:alphaModFix/>
          </a:blip>
          <a:stretch>
            <a:fillRect/>
          </a:stretch>
        </p:blipFill>
        <p:spPr>
          <a:xfrm>
            <a:off x="3341812" y="1750624"/>
            <a:ext cx="2051075" cy="1774176"/>
          </a:xfrm>
          <a:prstGeom prst="rect">
            <a:avLst/>
          </a:prstGeom>
          <a:noFill/>
          <a:ln>
            <a:noFill/>
          </a:ln>
        </p:spPr>
      </p:pic>
      <p:sp>
        <p:nvSpPr>
          <p:cNvPr id="367" name="Google Shape;367;p49"/>
          <p:cNvSpPr/>
          <p:nvPr/>
        </p:nvSpPr>
        <p:spPr>
          <a:xfrm>
            <a:off x="1621825" y="2395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368" name="Google Shape;368;p49"/>
          <p:cNvSpPr/>
          <p:nvPr/>
        </p:nvSpPr>
        <p:spPr>
          <a:xfrm>
            <a:off x="6628650" y="23956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369" name="Google Shape;369;p49"/>
          <p:cNvSpPr/>
          <p:nvPr/>
        </p:nvSpPr>
        <p:spPr>
          <a:xfrm>
            <a:off x="4177500" y="44328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CCCCC"/>
        </a:solidFill>
      </p:bgPr>
    </p:bg>
    <p:spTree>
      <p:nvGrpSpPr>
        <p:cNvPr id="373" name="Shape 373"/>
        <p:cNvGrpSpPr/>
        <p:nvPr/>
      </p:nvGrpSpPr>
      <p:grpSpPr>
        <a:xfrm>
          <a:off x="0" y="0"/>
          <a:ext cx="0" cy="0"/>
          <a:chOff x="0" y="0"/>
          <a:chExt cx="0" cy="0"/>
        </a:xfrm>
      </p:grpSpPr>
      <p:sp>
        <p:nvSpPr>
          <p:cNvPr id="374" name="Google Shape;374;p5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Step 2 in Case </a:t>
            </a:r>
            <a:r>
              <a:rPr lang="en"/>
              <a:t>3</a:t>
            </a:r>
            <a:endParaRPr/>
          </a:p>
        </p:txBody>
      </p:sp>
      <p:sp>
        <p:nvSpPr>
          <p:cNvPr id="375" name="Google Shape;375;p5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In case </a:t>
            </a:r>
            <a:r>
              <a:rPr lang="en"/>
              <a:t>3</a:t>
            </a:r>
            <a:r>
              <a:rPr lang="en"/>
              <a:t>: The heavier coin is either 7, 8, or 9</a:t>
            </a:r>
            <a:endParaRPr/>
          </a:p>
          <a:p>
            <a:pPr indent="0" lvl="0" marL="0" rtl="0" algn="l">
              <a:spcBef>
                <a:spcPts val="600"/>
              </a:spcBef>
              <a:spcAft>
                <a:spcPts val="0"/>
              </a:spcAft>
              <a:buNone/>
            </a:pPr>
            <a:r>
              <a:rPr lang="en"/>
              <a:t>Step 2.</a:t>
            </a:r>
            <a:r>
              <a:rPr lang="en"/>
              <a:t>3</a:t>
            </a:r>
            <a:r>
              <a:rPr lang="en"/>
              <a:t>: Compare coins 7 vs 8</a:t>
            </a:r>
            <a:endParaRPr/>
          </a:p>
          <a:p>
            <a:pPr indent="0" lvl="0" marL="0" rtl="0" algn="l">
              <a:spcBef>
                <a:spcPts val="600"/>
              </a:spcBef>
              <a:spcAft>
                <a:spcPts val="0"/>
              </a:spcAft>
              <a:buNone/>
            </a:pPr>
            <a:r>
              <a:rPr lang="en"/>
              <a:t>There are three possibilities: </a:t>
            </a:r>
            <a:endParaRPr/>
          </a:p>
          <a:p>
            <a:pPr indent="0" lvl="0" marL="457200" rtl="0" algn="l">
              <a:spcBef>
                <a:spcPts val="600"/>
              </a:spcBef>
              <a:spcAft>
                <a:spcPts val="0"/>
              </a:spcAft>
              <a:buNone/>
            </a:pPr>
            <a:r>
              <a:rPr lang="en"/>
              <a:t>     1: Left side heavier							     2: Right side heavier</a:t>
            </a:r>
            <a:endParaRPr/>
          </a:p>
          <a:p>
            <a:pPr indent="0" lvl="0" marL="0" rtl="0" algn="l">
              <a:spcBef>
                <a:spcPts val="600"/>
              </a:spcBef>
              <a:spcAft>
                <a:spcPts val="0"/>
              </a:spcAft>
              <a:buNone/>
            </a:pPr>
            <a:r>
              <a:rPr lang="en"/>
              <a:t>	     Coin 7 is counterfeit						     Coin 8 is counterfeit</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3200400" rtl="0" algn="l">
              <a:spcBef>
                <a:spcPts val="600"/>
              </a:spcBef>
              <a:spcAft>
                <a:spcPts val="0"/>
              </a:spcAft>
              <a:buNone/>
            </a:pPr>
            <a:r>
              <a:t/>
            </a:r>
            <a:endParaRPr/>
          </a:p>
          <a:p>
            <a:pPr indent="0" lvl="0" marL="0" rtl="0" algn="l">
              <a:spcBef>
                <a:spcPts val="600"/>
              </a:spcBef>
              <a:spcAft>
                <a:spcPts val="0"/>
              </a:spcAft>
              <a:buNone/>
            </a:pPr>
            <a:r>
              <a:t/>
            </a:r>
            <a:endParaRPr/>
          </a:p>
          <a:p>
            <a:pPr indent="0" lvl="0" marL="3200400" rtl="0" algn="l">
              <a:spcBef>
                <a:spcPts val="600"/>
              </a:spcBef>
              <a:spcAft>
                <a:spcPts val="0"/>
              </a:spcAft>
              <a:buNone/>
            </a:pPr>
            <a:r>
              <a:rPr lang="en"/>
              <a:t>  3: The two are equal</a:t>
            </a:r>
            <a:endParaRPr/>
          </a:p>
          <a:p>
            <a:pPr indent="0" lvl="0" marL="3200400" rtl="0" algn="l">
              <a:spcBef>
                <a:spcPts val="600"/>
              </a:spcBef>
              <a:spcAft>
                <a:spcPts val="0"/>
              </a:spcAft>
              <a:buNone/>
            </a:pPr>
            <a:r>
              <a:rPr lang="en"/>
              <a:t>  Coin 9 is counterfeit</a:t>
            </a:r>
            <a:endParaRPr/>
          </a:p>
        </p:txBody>
      </p:sp>
      <p:pic>
        <p:nvPicPr>
          <p:cNvPr id="376" name="Google Shape;376;p50"/>
          <p:cNvPicPr preferRelativeResize="0"/>
          <p:nvPr/>
        </p:nvPicPr>
        <p:blipFill>
          <a:blip r:embed="rId3">
            <a:alphaModFix/>
          </a:blip>
          <a:stretch>
            <a:fillRect/>
          </a:stretch>
        </p:blipFill>
        <p:spPr>
          <a:xfrm>
            <a:off x="3341812" y="1750624"/>
            <a:ext cx="2051075" cy="1774176"/>
          </a:xfrm>
          <a:prstGeom prst="rect">
            <a:avLst/>
          </a:prstGeom>
          <a:noFill/>
          <a:ln>
            <a:noFill/>
          </a:ln>
        </p:spPr>
      </p:pic>
      <p:sp>
        <p:nvSpPr>
          <p:cNvPr id="377" name="Google Shape;377;p50"/>
          <p:cNvSpPr/>
          <p:nvPr/>
        </p:nvSpPr>
        <p:spPr>
          <a:xfrm>
            <a:off x="1621825" y="2395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378" name="Google Shape;378;p50"/>
          <p:cNvSpPr/>
          <p:nvPr/>
        </p:nvSpPr>
        <p:spPr>
          <a:xfrm>
            <a:off x="6628650" y="23956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379" name="Google Shape;379;p50"/>
          <p:cNvSpPr/>
          <p:nvPr/>
        </p:nvSpPr>
        <p:spPr>
          <a:xfrm>
            <a:off x="4177500" y="44328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5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Decision Tree</a:t>
            </a:r>
            <a:endParaRPr/>
          </a:p>
        </p:txBody>
      </p:sp>
      <p:sp>
        <p:nvSpPr>
          <p:cNvPr id="385" name="Google Shape;385;p51"/>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full decision tree for 9 coins:</a:t>
            </a:r>
            <a:endParaRPr/>
          </a:p>
        </p:txBody>
      </p:sp>
      <p:sp>
        <p:nvSpPr>
          <p:cNvPr id="386" name="Google Shape;386;p51"/>
          <p:cNvSpPr/>
          <p:nvPr/>
        </p:nvSpPr>
        <p:spPr>
          <a:xfrm>
            <a:off x="3649350" y="759075"/>
            <a:ext cx="12219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123</a:t>
            </a:r>
            <a:r>
              <a:rPr lang="en"/>
              <a:t> vs 456?</a:t>
            </a:r>
            <a:endParaRPr/>
          </a:p>
        </p:txBody>
      </p:sp>
      <p:sp>
        <p:nvSpPr>
          <p:cNvPr id="387" name="Google Shape;387;p51"/>
          <p:cNvSpPr/>
          <p:nvPr/>
        </p:nvSpPr>
        <p:spPr>
          <a:xfrm>
            <a:off x="162050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1 vs 2</a:t>
            </a:r>
            <a:r>
              <a:rPr lang="en"/>
              <a:t>?</a:t>
            </a:r>
            <a:endParaRPr/>
          </a:p>
        </p:txBody>
      </p:sp>
      <p:sp>
        <p:nvSpPr>
          <p:cNvPr id="388" name="Google Shape;388;p51"/>
          <p:cNvSpPr/>
          <p:nvPr/>
        </p:nvSpPr>
        <p:spPr>
          <a:xfrm>
            <a:off x="385575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7</a:t>
            </a:r>
            <a:r>
              <a:rPr lang="en"/>
              <a:t> vs 8?</a:t>
            </a:r>
            <a:endParaRPr/>
          </a:p>
        </p:txBody>
      </p:sp>
      <p:sp>
        <p:nvSpPr>
          <p:cNvPr id="389" name="Google Shape;389;p51"/>
          <p:cNvSpPr/>
          <p:nvPr/>
        </p:nvSpPr>
        <p:spPr>
          <a:xfrm>
            <a:off x="609100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4</a:t>
            </a:r>
            <a:r>
              <a:rPr lang="en"/>
              <a:t> vs 5?</a:t>
            </a:r>
            <a:endParaRPr/>
          </a:p>
        </p:txBody>
      </p:sp>
      <p:cxnSp>
        <p:nvCxnSpPr>
          <p:cNvPr id="390" name="Google Shape;390;p51"/>
          <p:cNvCxnSpPr>
            <a:stCxn id="386" idx="2"/>
            <a:endCxn id="387" idx="0"/>
          </p:cNvCxnSpPr>
          <p:nvPr/>
        </p:nvCxnSpPr>
        <p:spPr>
          <a:xfrm flipH="1">
            <a:off x="2025000" y="1269375"/>
            <a:ext cx="2235300" cy="738900"/>
          </a:xfrm>
          <a:prstGeom prst="straightConnector1">
            <a:avLst/>
          </a:prstGeom>
          <a:noFill/>
          <a:ln cap="flat" cmpd="sng" w="38100">
            <a:solidFill>
              <a:srgbClr val="FF0000"/>
            </a:solidFill>
            <a:prstDash val="solid"/>
            <a:round/>
            <a:headEnd len="med" w="med" type="none"/>
            <a:tailEnd len="med" w="med" type="none"/>
          </a:ln>
        </p:spPr>
      </p:cxnSp>
      <p:cxnSp>
        <p:nvCxnSpPr>
          <p:cNvPr id="391" name="Google Shape;391;p51"/>
          <p:cNvCxnSpPr>
            <a:stCxn id="386" idx="2"/>
            <a:endCxn id="388" idx="0"/>
          </p:cNvCxnSpPr>
          <p:nvPr/>
        </p:nvCxnSpPr>
        <p:spPr>
          <a:xfrm>
            <a:off x="4260300" y="1269375"/>
            <a:ext cx="0" cy="738900"/>
          </a:xfrm>
          <a:prstGeom prst="straightConnector1">
            <a:avLst/>
          </a:prstGeom>
          <a:noFill/>
          <a:ln cap="flat" cmpd="sng" w="38100">
            <a:solidFill>
              <a:schemeClr val="dk2"/>
            </a:solidFill>
            <a:prstDash val="solid"/>
            <a:round/>
            <a:headEnd len="med" w="med" type="none"/>
            <a:tailEnd len="med" w="med" type="none"/>
          </a:ln>
        </p:spPr>
      </p:cxnSp>
      <p:cxnSp>
        <p:nvCxnSpPr>
          <p:cNvPr id="392" name="Google Shape;392;p51"/>
          <p:cNvCxnSpPr>
            <a:stCxn id="386" idx="2"/>
            <a:endCxn id="389" idx="0"/>
          </p:cNvCxnSpPr>
          <p:nvPr/>
        </p:nvCxnSpPr>
        <p:spPr>
          <a:xfrm>
            <a:off x="4260300" y="1269375"/>
            <a:ext cx="2235300" cy="738900"/>
          </a:xfrm>
          <a:prstGeom prst="straightConnector1">
            <a:avLst/>
          </a:prstGeom>
          <a:noFill/>
          <a:ln cap="flat" cmpd="sng" w="38100">
            <a:solidFill>
              <a:srgbClr val="0000FF"/>
            </a:solidFill>
            <a:prstDash val="solid"/>
            <a:round/>
            <a:headEnd len="med" w="med" type="none"/>
            <a:tailEnd len="med" w="med" type="none"/>
          </a:ln>
        </p:spPr>
      </p:cxnSp>
      <p:sp>
        <p:nvSpPr>
          <p:cNvPr id="393" name="Google Shape;393;p51"/>
          <p:cNvSpPr txBox="1"/>
          <p:nvPr/>
        </p:nvSpPr>
        <p:spPr>
          <a:xfrm>
            <a:off x="2342075"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&gt;</a:t>
            </a:r>
            <a:endParaRPr/>
          </a:p>
        </p:txBody>
      </p:sp>
      <p:sp>
        <p:nvSpPr>
          <p:cNvPr id="394" name="Google Shape;394;p51"/>
          <p:cNvSpPr txBox="1"/>
          <p:nvPr/>
        </p:nvSpPr>
        <p:spPr>
          <a:xfrm>
            <a:off x="3945750" y="1521088"/>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t>
            </a:r>
            <a:endParaRPr/>
          </a:p>
        </p:txBody>
      </p:sp>
      <p:sp>
        <p:nvSpPr>
          <p:cNvPr id="395" name="Google Shape;395;p51"/>
          <p:cNvSpPr txBox="1"/>
          <p:nvPr/>
        </p:nvSpPr>
        <p:spPr>
          <a:xfrm>
            <a:off x="5718650"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&lt;</a:t>
            </a:r>
            <a:endParaRPr/>
          </a:p>
        </p:txBody>
      </p:sp>
      <p:sp>
        <p:nvSpPr>
          <p:cNvPr id="396" name="Google Shape;396;p51"/>
          <p:cNvSpPr/>
          <p:nvPr/>
        </p:nvSpPr>
        <p:spPr>
          <a:xfrm>
            <a:off x="7101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fake</a:t>
            </a:r>
            <a:endParaRPr/>
          </a:p>
        </p:txBody>
      </p:sp>
      <p:sp>
        <p:nvSpPr>
          <p:cNvPr id="397" name="Google Shape;397;p51"/>
          <p:cNvSpPr/>
          <p:nvPr/>
        </p:nvSpPr>
        <p:spPr>
          <a:xfrm>
            <a:off x="26070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2 fake</a:t>
            </a:r>
            <a:endParaRPr/>
          </a:p>
        </p:txBody>
      </p:sp>
      <p:sp>
        <p:nvSpPr>
          <p:cNvPr id="398" name="Google Shape;398;p51"/>
          <p:cNvSpPr/>
          <p:nvPr/>
        </p:nvSpPr>
        <p:spPr>
          <a:xfrm>
            <a:off x="16586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3 fake</a:t>
            </a:r>
            <a:endParaRPr/>
          </a:p>
        </p:txBody>
      </p:sp>
      <p:sp>
        <p:nvSpPr>
          <p:cNvPr id="399" name="Google Shape;399;p51"/>
          <p:cNvSpPr/>
          <p:nvPr/>
        </p:nvSpPr>
        <p:spPr>
          <a:xfrm>
            <a:off x="29454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7 fake</a:t>
            </a:r>
            <a:endParaRPr/>
          </a:p>
        </p:txBody>
      </p:sp>
      <p:sp>
        <p:nvSpPr>
          <p:cNvPr id="400" name="Google Shape;400;p51"/>
          <p:cNvSpPr/>
          <p:nvPr/>
        </p:nvSpPr>
        <p:spPr>
          <a:xfrm>
            <a:off x="48423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 fake</a:t>
            </a:r>
            <a:endParaRPr/>
          </a:p>
        </p:txBody>
      </p:sp>
      <p:sp>
        <p:nvSpPr>
          <p:cNvPr id="401" name="Google Shape;401;p51"/>
          <p:cNvSpPr/>
          <p:nvPr/>
        </p:nvSpPr>
        <p:spPr>
          <a:xfrm>
            <a:off x="389385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 fake</a:t>
            </a:r>
            <a:endParaRPr/>
          </a:p>
        </p:txBody>
      </p:sp>
      <p:sp>
        <p:nvSpPr>
          <p:cNvPr id="402" name="Google Shape;402;p51"/>
          <p:cNvSpPr/>
          <p:nvPr/>
        </p:nvSpPr>
        <p:spPr>
          <a:xfrm>
            <a:off x="51806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4 fake</a:t>
            </a:r>
            <a:endParaRPr/>
          </a:p>
        </p:txBody>
      </p:sp>
      <p:sp>
        <p:nvSpPr>
          <p:cNvPr id="403" name="Google Shape;403;p51"/>
          <p:cNvSpPr/>
          <p:nvPr/>
        </p:nvSpPr>
        <p:spPr>
          <a:xfrm>
            <a:off x="70775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5 fake</a:t>
            </a:r>
            <a:endParaRPr/>
          </a:p>
        </p:txBody>
      </p:sp>
      <p:sp>
        <p:nvSpPr>
          <p:cNvPr id="404" name="Google Shape;404;p51"/>
          <p:cNvSpPr/>
          <p:nvPr/>
        </p:nvSpPr>
        <p:spPr>
          <a:xfrm>
            <a:off x="61291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6 fake</a:t>
            </a:r>
            <a:endParaRPr/>
          </a:p>
        </p:txBody>
      </p:sp>
      <p:cxnSp>
        <p:nvCxnSpPr>
          <p:cNvPr id="405" name="Google Shape;405;p51"/>
          <p:cNvCxnSpPr>
            <a:stCxn id="387" idx="2"/>
            <a:endCxn id="396" idx="0"/>
          </p:cNvCxnSpPr>
          <p:nvPr/>
        </p:nvCxnSpPr>
        <p:spPr>
          <a:xfrm flipH="1">
            <a:off x="10764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406" name="Google Shape;406;p51"/>
          <p:cNvCxnSpPr>
            <a:stCxn id="387" idx="2"/>
            <a:endCxn id="398" idx="0"/>
          </p:cNvCxnSpPr>
          <p:nvPr/>
        </p:nvCxnSpPr>
        <p:spPr>
          <a:xfrm>
            <a:off x="20250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407" name="Google Shape;407;p51"/>
          <p:cNvCxnSpPr>
            <a:stCxn id="387" idx="2"/>
            <a:endCxn id="397" idx="0"/>
          </p:cNvCxnSpPr>
          <p:nvPr/>
        </p:nvCxnSpPr>
        <p:spPr>
          <a:xfrm>
            <a:off x="20250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408" name="Google Shape;408;p51"/>
          <p:cNvCxnSpPr>
            <a:stCxn id="389" idx="2"/>
            <a:endCxn id="402" idx="0"/>
          </p:cNvCxnSpPr>
          <p:nvPr/>
        </p:nvCxnSpPr>
        <p:spPr>
          <a:xfrm flipH="1">
            <a:off x="55469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409" name="Google Shape;409;p51"/>
          <p:cNvCxnSpPr>
            <a:stCxn id="389" idx="2"/>
            <a:endCxn id="404" idx="0"/>
          </p:cNvCxnSpPr>
          <p:nvPr/>
        </p:nvCxnSpPr>
        <p:spPr>
          <a:xfrm>
            <a:off x="64955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410" name="Google Shape;410;p51"/>
          <p:cNvCxnSpPr>
            <a:stCxn id="389" idx="2"/>
            <a:endCxn id="403" idx="0"/>
          </p:cNvCxnSpPr>
          <p:nvPr/>
        </p:nvCxnSpPr>
        <p:spPr>
          <a:xfrm>
            <a:off x="64955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411" name="Google Shape;411;p51"/>
          <p:cNvCxnSpPr>
            <a:stCxn id="388" idx="2"/>
            <a:endCxn id="399" idx="0"/>
          </p:cNvCxnSpPr>
          <p:nvPr/>
        </p:nvCxnSpPr>
        <p:spPr>
          <a:xfrm flipH="1">
            <a:off x="3311700" y="2602000"/>
            <a:ext cx="948600" cy="631200"/>
          </a:xfrm>
          <a:prstGeom prst="straightConnector1">
            <a:avLst/>
          </a:prstGeom>
          <a:noFill/>
          <a:ln cap="flat" cmpd="sng" w="38100">
            <a:solidFill>
              <a:srgbClr val="FF0000"/>
            </a:solidFill>
            <a:prstDash val="solid"/>
            <a:round/>
            <a:headEnd len="med" w="med" type="none"/>
            <a:tailEnd len="med" w="med" type="none"/>
          </a:ln>
        </p:spPr>
      </p:cxnSp>
      <p:cxnSp>
        <p:nvCxnSpPr>
          <p:cNvPr id="412" name="Google Shape;412;p51"/>
          <p:cNvCxnSpPr>
            <a:stCxn id="388" idx="2"/>
            <a:endCxn id="401" idx="0"/>
          </p:cNvCxnSpPr>
          <p:nvPr/>
        </p:nvCxnSpPr>
        <p:spPr>
          <a:xfrm>
            <a:off x="4260300" y="2602000"/>
            <a:ext cx="0" cy="631200"/>
          </a:xfrm>
          <a:prstGeom prst="straightConnector1">
            <a:avLst/>
          </a:prstGeom>
          <a:noFill/>
          <a:ln cap="flat" cmpd="sng" w="38100">
            <a:solidFill>
              <a:schemeClr val="dk2"/>
            </a:solidFill>
            <a:prstDash val="solid"/>
            <a:round/>
            <a:headEnd len="med" w="med" type="none"/>
            <a:tailEnd len="med" w="med" type="none"/>
          </a:ln>
        </p:spPr>
      </p:cxnSp>
      <p:cxnSp>
        <p:nvCxnSpPr>
          <p:cNvPr id="413" name="Google Shape;413;p51"/>
          <p:cNvCxnSpPr>
            <a:stCxn id="388" idx="2"/>
            <a:endCxn id="400" idx="0"/>
          </p:cNvCxnSpPr>
          <p:nvPr/>
        </p:nvCxnSpPr>
        <p:spPr>
          <a:xfrm>
            <a:off x="4260300" y="2602000"/>
            <a:ext cx="948600" cy="631200"/>
          </a:xfrm>
          <a:prstGeom prst="straightConnector1">
            <a:avLst/>
          </a:prstGeom>
          <a:noFill/>
          <a:ln cap="flat" cmpd="sng" w="38100">
            <a:solidFill>
              <a:srgbClr val="0000FF"/>
            </a:solidFill>
            <a:prstDash val="solid"/>
            <a:round/>
            <a:headEnd len="med" w="med" type="none"/>
            <a:tailEnd len="med" w="med"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7"/>
                                        </p:tgtEl>
                                        <p:attrNameLst>
                                          <p:attrName>style.visibility</p:attrName>
                                        </p:attrNameLst>
                                      </p:cBhvr>
                                      <p:to>
                                        <p:strVal val="visible"/>
                                      </p:to>
                                    </p:set>
                                    <p:animEffect filter="fade" transition="in">
                                      <p:cBhvr>
                                        <p:cTn dur="1000"/>
                                        <p:tgtEl>
                                          <p:spTgt spid="3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5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Validation</a:t>
            </a:r>
            <a:endParaRPr/>
          </a:p>
        </p:txBody>
      </p:sp>
      <p:sp>
        <p:nvSpPr>
          <p:cNvPr id="419" name="Google Shape;419;p52"/>
          <p:cNvSpPr txBox="1"/>
          <p:nvPr>
            <p:ph idx="1" type="body"/>
          </p:nvPr>
        </p:nvSpPr>
        <p:spPr>
          <a:xfrm>
            <a:off x="107050" y="402200"/>
            <a:ext cx="8520600" cy="11772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To verify that our scheme works, let's check every single case.</a:t>
            </a:r>
            <a:endParaRPr/>
          </a:p>
          <a:p>
            <a:pPr indent="0" lvl="0" marL="0" rtl="0" algn="l">
              <a:spcBef>
                <a:spcPts val="600"/>
              </a:spcBef>
              <a:spcAft>
                <a:spcPts val="0"/>
              </a:spcAft>
              <a:buNone/>
            </a:pPr>
            <a:r>
              <a:rPr lang="en"/>
              <a:t>There are nine "universes" that we could start in (1 is counterfeit, 2 is counterfeit, etc.). We can verify that in each universe, we yield the correct result</a:t>
            </a:r>
            <a:endParaRPr/>
          </a:p>
        </p:txBody>
      </p:sp>
      <p:pic>
        <p:nvPicPr>
          <p:cNvPr id="420" name="Google Shape;420;p52"/>
          <p:cNvPicPr preferRelativeResize="0"/>
          <p:nvPr/>
        </p:nvPicPr>
        <p:blipFill>
          <a:blip r:embed="rId3">
            <a:alphaModFix/>
          </a:blip>
          <a:stretch>
            <a:fillRect/>
          </a:stretch>
        </p:blipFill>
        <p:spPr>
          <a:xfrm>
            <a:off x="7081474" y="3143674"/>
            <a:ext cx="2051075" cy="1774176"/>
          </a:xfrm>
          <a:prstGeom prst="rect">
            <a:avLst/>
          </a:prstGeom>
          <a:noFill/>
          <a:ln>
            <a:noFill/>
          </a:ln>
        </p:spPr>
      </p:pic>
      <p:sp>
        <p:nvSpPr>
          <p:cNvPr id="421" name="Google Shape;421;p52"/>
          <p:cNvSpPr/>
          <p:nvPr/>
        </p:nvSpPr>
        <p:spPr>
          <a:xfrm>
            <a:off x="1415800" y="1579400"/>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22" name="Google Shape;422;p52"/>
          <p:cNvSpPr/>
          <p:nvPr/>
        </p:nvSpPr>
        <p:spPr>
          <a:xfrm>
            <a:off x="1754595" y="1579400"/>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23" name="Google Shape;423;p52"/>
          <p:cNvSpPr/>
          <p:nvPr/>
        </p:nvSpPr>
        <p:spPr>
          <a:xfrm>
            <a:off x="2093390" y="1579400"/>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24" name="Google Shape;424;p52"/>
          <p:cNvSpPr/>
          <p:nvPr/>
        </p:nvSpPr>
        <p:spPr>
          <a:xfrm>
            <a:off x="1415800"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25" name="Google Shape;425;p52"/>
          <p:cNvSpPr/>
          <p:nvPr/>
        </p:nvSpPr>
        <p:spPr>
          <a:xfrm>
            <a:off x="1754595"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26" name="Google Shape;426;p52"/>
          <p:cNvSpPr/>
          <p:nvPr/>
        </p:nvSpPr>
        <p:spPr>
          <a:xfrm>
            <a:off x="2093390"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27" name="Google Shape;427;p52"/>
          <p:cNvSpPr/>
          <p:nvPr/>
        </p:nvSpPr>
        <p:spPr>
          <a:xfrm>
            <a:off x="1415800"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28" name="Google Shape;428;p52"/>
          <p:cNvSpPr/>
          <p:nvPr/>
        </p:nvSpPr>
        <p:spPr>
          <a:xfrm>
            <a:off x="1754595"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29" name="Google Shape;429;p52"/>
          <p:cNvSpPr/>
          <p:nvPr/>
        </p:nvSpPr>
        <p:spPr>
          <a:xfrm>
            <a:off x="2093390"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30" name="Google Shape;430;p52"/>
          <p:cNvSpPr/>
          <p:nvPr/>
        </p:nvSpPr>
        <p:spPr>
          <a:xfrm>
            <a:off x="2808597" y="1579400"/>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31" name="Google Shape;431;p52"/>
          <p:cNvSpPr/>
          <p:nvPr/>
        </p:nvSpPr>
        <p:spPr>
          <a:xfrm>
            <a:off x="3147392" y="1579400"/>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32" name="Google Shape;432;p52"/>
          <p:cNvSpPr/>
          <p:nvPr/>
        </p:nvSpPr>
        <p:spPr>
          <a:xfrm>
            <a:off x="3486188" y="1579400"/>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33" name="Google Shape;433;p52"/>
          <p:cNvSpPr/>
          <p:nvPr/>
        </p:nvSpPr>
        <p:spPr>
          <a:xfrm>
            <a:off x="2808597"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34" name="Google Shape;434;p52"/>
          <p:cNvSpPr/>
          <p:nvPr/>
        </p:nvSpPr>
        <p:spPr>
          <a:xfrm>
            <a:off x="3147392"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35" name="Google Shape;435;p52"/>
          <p:cNvSpPr/>
          <p:nvPr/>
        </p:nvSpPr>
        <p:spPr>
          <a:xfrm>
            <a:off x="3486188"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36" name="Google Shape;436;p52"/>
          <p:cNvSpPr/>
          <p:nvPr/>
        </p:nvSpPr>
        <p:spPr>
          <a:xfrm>
            <a:off x="2808597"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37" name="Google Shape;437;p52"/>
          <p:cNvSpPr/>
          <p:nvPr/>
        </p:nvSpPr>
        <p:spPr>
          <a:xfrm>
            <a:off x="3147392"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38" name="Google Shape;438;p52"/>
          <p:cNvSpPr/>
          <p:nvPr/>
        </p:nvSpPr>
        <p:spPr>
          <a:xfrm>
            <a:off x="3486188"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39" name="Google Shape;439;p52"/>
          <p:cNvSpPr/>
          <p:nvPr/>
        </p:nvSpPr>
        <p:spPr>
          <a:xfrm>
            <a:off x="4201395" y="1579400"/>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40" name="Google Shape;440;p52"/>
          <p:cNvSpPr/>
          <p:nvPr/>
        </p:nvSpPr>
        <p:spPr>
          <a:xfrm>
            <a:off x="4540190" y="1579400"/>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41" name="Google Shape;441;p52"/>
          <p:cNvSpPr/>
          <p:nvPr/>
        </p:nvSpPr>
        <p:spPr>
          <a:xfrm>
            <a:off x="4878985" y="1579400"/>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42" name="Google Shape;442;p52"/>
          <p:cNvSpPr/>
          <p:nvPr/>
        </p:nvSpPr>
        <p:spPr>
          <a:xfrm>
            <a:off x="4201395"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43" name="Google Shape;443;p52"/>
          <p:cNvSpPr/>
          <p:nvPr/>
        </p:nvSpPr>
        <p:spPr>
          <a:xfrm>
            <a:off x="4540190"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44" name="Google Shape;444;p52"/>
          <p:cNvSpPr/>
          <p:nvPr/>
        </p:nvSpPr>
        <p:spPr>
          <a:xfrm>
            <a:off x="4878985" y="1918181"/>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45" name="Google Shape;445;p52"/>
          <p:cNvSpPr/>
          <p:nvPr/>
        </p:nvSpPr>
        <p:spPr>
          <a:xfrm>
            <a:off x="4201395"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46" name="Google Shape;446;p52"/>
          <p:cNvSpPr/>
          <p:nvPr/>
        </p:nvSpPr>
        <p:spPr>
          <a:xfrm>
            <a:off x="4540190"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47" name="Google Shape;447;p52"/>
          <p:cNvSpPr/>
          <p:nvPr/>
        </p:nvSpPr>
        <p:spPr>
          <a:xfrm>
            <a:off x="4878985" y="2256963"/>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48" name="Google Shape;448;p52"/>
          <p:cNvSpPr/>
          <p:nvPr/>
        </p:nvSpPr>
        <p:spPr>
          <a:xfrm>
            <a:off x="1415800"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49" name="Google Shape;449;p52"/>
          <p:cNvSpPr/>
          <p:nvPr/>
        </p:nvSpPr>
        <p:spPr>
          <a:xfrm>
            <a:off x="1754595"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50" name="Google Shape;450;p52"/>
          <p:cNvSpPr/>
          <p:nvPr/>
        </p:nvSpPr>
        <p:spPr>
          <a:xfrm>
            <a:off x="2093390"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51" name="Google Shape;451;p52"/>
          <p:cNvSpPr/>
          <p:nvPr/>
        </p:nvSpPr>
        <p:spPr>
          <a:xfrm>
            <a:off x="1415800" y="3127467"/>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52" name="Google Shape;452;p52"/>
          <p:cNvSpPr/>
          <p:nvPr/>
        </p:nvSpPr>
        <p:spPr>
          <a:xfrm>
            <a:off x="1754595" y="3127467"/>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53" name="Google Shape;453;p52"/>
          <p:cNvSpPr/>
          <p:nvPr/>
        </p:nvSpPr>
        <p:spPr>
          <a:xfrm>
            <a:off x="2093390" y="3127467"/>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54" name="Google Shape;454;p52"/>
          <p:cNvSpPr/>
          <p:nvPr/>
        </p:nvSpPr>
        <p:spPr>
          <a:xfrm>
            <a:off x="1415800"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55" name="Google Shape;455;p52"/>
          <p:cNvSpPr/>
          <p:nvPr/>
        </p:nvSpPr>
        <p:spPr>
          <a:xfrm>
            <a:off x="1754595"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56" name="Google Shape;456;p52"/>
          <p:cNvSpPr/>
          <p:nvPr/>
        </p:nvSpPr>
        <p:spPr>
          <a:xfrm>
            <a:off x="2093390"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57" name="Google Shape;457;p52"/>
          <p:cNvSpPr/>
          <p:nvPr/>
        </p:nvSpPr>
        <p:spPr>
          <a:xfrm>
            <a:off x="2808597"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58" name="Google Shape;458;p52"/>
          <p:cNvSpPr/>
          <p:nvPr/>
        </p:nvSpPr>
        <p:spPr>
          <a:xfrm>
            <a:off x="3147392"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59" name="Google Shape;459;p52"/>
          <p:cNvSpPr/>
          <p:nvPr/>
        </p:nvSpPr>
        <p:spPr>
          <a:xfrm>
            <a:off x="3486188"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60" name="Google Shape;460;p52"/>
          <p:cNvSpPr/>
          <p:nvPr/>
        </p:nvSpPr>
        <p:spPr>
          <a:xfrm>
            <a:off x="2808597" y="3127467"/>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61" name="Google Shape;461;p52"/>
          <p:cNvSpPr/>
          <p:nvPr/>
        </p:nvSpPr>
        <p:spPr>
          <a:xfrm>
            <a:off x="3147392" y="3127467"/>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62" name="Google Shape;462;p52"/>
          <p:cNvSpPr/>
          <p:nvPr/>
        </p:nvSpPr>
        <p:spPr>
          <a:xfrm>
            <a:off x="3486188" y="3127467"/>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63" name="Google Shape;463;p52"/>
          <p:cNvSpPr/>
          <p:nvPr/>
        </p:nvSpPr>
        <p:spPr>
          <a:xfrm>
            <a:off x="2808597"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64" name="Google Shape;464;p52"/>
          <p:cNvSpPr/>
          <p:nvPr/>
        </p:nvSpPr>
        <p:spPr>
          <a:xfrm>
            <a:off x="3147392"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65" name="Google Shape;465;p52"/>
          <p:cNvSpPr/>
          <p:nvPr/>
        </p:nvSpPr>
        <p:spPr>
          <a:xfrm>
            <a:off x="3486188"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66" name="Google Shape;466;p52"/>
          <p:cNvSpPr/>
          <p:nvPr/>
        </p:nvSpPr>
        <p:spPr>
          <a:xfrm>
            <a:off x="4201395"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67" name="Google Shape;467;p52"/>
          <p:cNvSpPr/>
          <p:nvPr/>
        </p:nvSpPr>
        <p:spPr>
          <a:xfrm>
            <a:off x="4540190"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68" name="Google Shape;468;p52"/>
          <p:cNvSpPr/>
          <p:nvPr/>
        </p:nvSpPr>
        <p:spPr>
          <a:xfrm>
            <a:off x="4878985" y="2788686"/>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69" name="Google Shape;469;p52"/>
          <p:cNvSpPr/>
          <p:nvPr/>
        </p:nvSpPr>
        <p:spPr>
          <a:xfrm>
            <a:off x="4201395" y="3127467"/>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70" name="Google Shape;470;p52"/>
          <p:cNvSpPr/>
          <p:nvPr/>
        </p:nvSpPr>
        <p:spPr>
          <a:xfrm>
            <a:off x="4540190" y="3127467"/>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71" name="Google Shape;471;p52"/>
          <p:cNvSpPr/>
          <p:nvPr/>
        </p:nvSpPr>
        <p:spPr>
          <a:xfrm>
            <a:off x="4878985" y="3127467"/>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72" name="Google Shape;472;p52"/>
          <p:cNvSpPr/>
          <p:nvPr/>
        </p:nvSpPr>
        <p:spPr>
          <a:xfrm>
            <a:off x="4201395"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73" name="Google Shape;473;p52"/>
          <p:cNvSpPr/>
          <p:nvPr/>
        </p:nvSpPr>
        <p:spPr>
          <a:xfrm>
            <a:off x="4540190"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74" name="Google Shape;474;p52"/>
          <p:cNvSpPr/>
          <p:nvPr/>
        </p:nvSpPr>
        <p:spPr>
          <a:xfrm>
            <a:off x="4878985" y="3466249"/>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75" name="Google Shape;475;p52"/>
          <p:cNvSpPr/>
          <p:nvPr/>
        </p:nvSpPr>
        <p:spPr>
          <a:xfrm>
            <a:off x="1415800"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76" name="Google Shape;476;p52"/>
          <p:cNvSpPr/>
          <p:nvPr/>
        </p:nvSpPr>
        <p:spPr>
          <a:xfrm>
            <a:off x="1754595"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77" name="Google Shape;477;p52"/>
          <p:cNvSpPr/>
          <p:nvPr/>
        </p:nvSpPr>
        <p:spPr>
          <a:xfrm>
            <a:off x="2093390"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78" name="Google Shape;478;p52"/>
          <p:cNvSpPr/>
          <p:nvPr/>
        </p:nvSpPr>
        <p:spPr>
          <a:xfrm>
            <a:off x="1415800"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79" name="Google Shape;479;p52"/>
          <p:cNvSpPr/>
          <p:nvPr/>
        </p:nvSpPr>
        <p:spPr>
          <a:xfrm>
            <a:off x="1754595"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80" name="Google Shape;480;p52"/>
          <p:cNvSpPr/>
          <p:nvPr/>
        </p:nvSpPr>
        <p:spPr>
          <a:xfrm>
            <a:off x="2093390"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81" name="Google Shape;481;p52"/>
          <p:cNvSpPr/>
          <p:nvPr/>
        </p:nvSpPr>
        <p:spPr>
          <a:xfrm>
            <a:off x="1415800" y="4675535"/>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82" name="Google Shape;482;p52"/>
          <p:cNvSpPr/>
          <p:nvPr/>
        </p:nvSpPr>
        <p:spPr>
          <a:xfrm>
            <a:off x="1754595" y="4675535"/>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83" name="Google Shape;483;p52"/>
          <p:cNvSpPr/>
          <p:nvPr/>
        </p:nvSpPr>
        <p:spPr>
          <a:xfrm>
            <a:off x="2093390" y="4675535"/>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84" name="Google Shape;484;p52"/>
          <p:cNvSpPr/>
          <p:nvPr/>
        </p:nvSpPr>
        <p:spPr>
          <a:xfrm>
            <a:off x="2808597"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85" name="Google Shape;485;p52"/>
          <p:cNvSpPr/>
          <p:nvPr/>
        </p:nvSpPr>
        <p:spPr>
          <a:xfrm>
            <a:off x="3147392"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86" name="Google Shape;486;p52"/>
          <p:cNvSpPr/>
          <p:nvPr/>
        </p:nvSpPr>
        <p:spPr>
          <a:xfrm>
            <a:off x="3486188"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87" name="Google Shape;487;p52"/>
          <p:cNvSpPr/>
          <p:nvPr/>
        </p:nvSpPr>
        <p:spPr>
          <a:xfrm>
            <a:off x="2808597"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88" name="Google Shape;488;p52"/>
          <p:cNvSpPr/>
          <p:nvPr/>
        </p:nvSpPr>
        <p:spPr>
          <a:xfrm>
            <a:off x="3147392"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89" name="Google Shape;489;p52"/>
          <p:cNvSpPr/>
          <p:nvPr/>
        </p:nvSpPr>
        <p:spPr>
          <a:xfrm>
            <a:off x="3486188"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90" name="Google Shape;490;p52"/>
          <p:cNvSpPr/>
          <p:nvPr/>
        </p:nvSpPr>
        <p:spPr>
          <a:xfrm>
            <a:off x="2808597" y="4675535"/>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491" name="Google Shape;491;p52"/>
          <p:cNvSpPr/>
          <p:nvPr/>
        </p:nvSpPr>
        <p:spPr>
          <a:xfrm>
            <a:off x="3147392" y="4675535"/>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492" name="Google Shape;492;p52"/>
          <p:cNvSpPr/>
          <p:nvPr/>
        </p:nvSpPr>
        <p:spPr>
          <a:xfrm>
            <a:off x="3486188" y="4675535"/>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
        <p:nvSpPr>
          <p:cNvPr id="493" name="Google Shape;493;p52"/>
          <p:cNvSpPr/>
          <p:nvPr/>
        </p:nvSpPr>
        <p:spPr>
          <a:xfrm>
            <a:off x="4201395"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1</a:t>
            </a:r>
            <a:endParaRPr sz="600">
              <a:latin typeface="Roboto"/>
              <a:ea typeface="Roboto"/>
              <a:cs typeface="Roboto"/>
              <a:sym typeface="Roboto"/>
            </a:endParaRPr>
          </a:p>
        </p:txBody>
      </p:sp>
      <p:sp>
        <p:nvSpPr>
          <p:cNvPr id="494" name="Google Shape;494;p52"/>
          <p:cNvSpPr/>
          <p:nvPr/>
        </p:nvSpPr>
        <p:spPr>
          <a:xfrm>
            <a:off x="4540190"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2</a:t>
            </a:r>
            <a:endParaRPr sz="600">
              <a:latin typeface="Roboto"/>
              <a:ea typeface="Roboto"/>
              <a:cs typeface="Roboto"/>
              <a:sym typeface="Roboto"/>
            </a:endParaRPr>
          </a:p>
        </p:txBody>
      </p:sp>
      <p:sp>
        <p:nvSpPr>
          <p:cNvPr id="495" name="Google Shape;495;p52"/>
          <p:cNvSpPr/>
          <p:nvPr/>
        </p:nvSpPr>
        <p:spPr>
          <a:xfrm>
            <a:off x="4878985" y="3997972"/>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3</a:t>
            </a:r>
            <a:endParaRPr sz="600">
              <a:latin typeface="Roboto"/>
              <a:ea typeface="Roboto"/>
              <a:cs typeface="Roboto"/>
              <a:sym typeface="Roboto"/>
            </a:endParaRPr>
          </a:p>
        </p:txBody>
      </p:sp>
      <p:sp>
        <p:nvSpPr>
          <p:cNvPr id="496" name="Google Shape;496;p52"/>
          <p:cNvSpPr/>
          <p:nvPr/>
        </p:nvSpPr>
        <p:spPr>
          <a:xfrm>
            <a:off x="4201395"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4</a:t>
            </a:r>
            <a:endParaRPr sz="600">
              <a:latin typeface="Roboto"/>
              <a:ea typeface="Roboto"/>
              <a:cs typeface="Roboto"/>
              <a:sym typeface="Roboto"/>
            </a:endParaRPr>
          </a:p>
        </p:txBody>
      </p:sp>
      <p:sp>
        <p:nvSpPr>
          <p:cNvPr id="497" name="Google Shape;497;p52"/>
          <p:cNvSpPr/>
          <p:nvPr/>
        </p:nvSpPr>
        <p:spPr>
          <a:xfrm>
            <a:off x="4540190"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5</a:t>
            </a:r>
            <a:endParaRPr sz="600">
              <a:latin typeface="Roboto"/>
              <a:ea typeface="Roboto"/>
              <a:cs typeface="Roboto"/>
              <a:sym typeface="Roboto"/>
            </a:endParaRPr>
          </a:p>
        </p:txBody>
      </p:sp>
      <p:sp>
        <p:nvSpPr>
          <p:cNvPr id="498" name="Google Shape;498;p52"/>
          <p:cNvSpPr/>
          <p:nvPr/>
        </p:nvSpPr>
        <p:spPr>
          <a:xfrm>
            <a:off x="4878985" y="4336754"/>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6</a:t>
            </a:r>
            <a:endParaRPr sz="600">
              <a:latin typeface="Roboto"/>
              <a:ea typeface="Roboto"/>
              <a:cs typeface="Roboto"/>
              <a:sym typeface="Roboto"/>
            </a:endParaRPr>
          </a:p>
        </p:txBody>
      </p:sp>
      <p:sp>
        <p:nvSpPr>
          <p:cNvPr id="499" name="Google Shape;499;p52"/>
          <p:cNvSpPr/>
          <p:nvPr/>
        </p:nvSpPr>
        <p:spPr>
          <a:xfrm>
            <a:off x="4201395" y="4675535"/>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7</a:t>
            </a:r>
            <a:endParaRPr sz="600">
              <a:latin typeface="Roboto"/>
              <a:ea typeface="Roboto"/>
              <a:cs typeface="Roboto"/>
              <a:sym typeface="Roboto"/>
            </a:endParaRPr>
          </a:p>
        </p:txBody>
      </p:sp>
      <p:sp>
        <p:nvSpPr>
          <p:cNvPr id="500" name="Google Shape;500;p52"/>
          <p:cNvSpPr/>
          <p:nvPr/>
        </p:nvSpPr>
        <p:spPr>
          <a:xfrm>
            <a:off x="4540190" y="4675535"/>
            <a:ext cx="257400" cy="257400"/>
          </a:xfrm>
          <a:prstGeom prst="ellipse">
            <a:avLst/>
          </a:prstGeom>
          <a:solidFill>
            <a:srgbClr val="FFFF00"/>
          </a:solidFill>
          <a:ln cap="flat" cmpd="sng" w="381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8</a:t>
            </a:r>
            <a:endParaRPr sz="600">
              <a:latin typeface="Roboto"/>
              <a:ea typeface="Roboto"/>
              <a:cs typeface="Roboto"/>
              <a:sym typeface="Roboto"/>
            </a:endParaRPr>
          </a:p>
        </p:txBody>
      </p:sp>
      <p:sp>
        <p:nvSpPr>
          <p:cNvPr id="501" name="Google Shape;501;p52"/>
          <p:cNvSpPr/>
          <p:nvPr/>
        </p:nvSpPr>
        <p:spPr>
          <a:xfrm>
            <a:off x="4878985" y="4675535"/>
            <a:ext cx="257400" cy="257400"/>
          </a:xfrm>
          <a:prstGeom prst="ellipse">
            <a:avLst/>
          </a:prstGeom>
          <a:solidFill>
            <a:srgbClr val="FF0000"/>
          </a:solidFill>
          <a:ln cap="flat" cmpd="sng" w="381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600">
                <a:latin typeface="Roboto"/>
                <a:ea typeface="Roboto"/>
                <a:cs typeface="Roboto"/>
                <a:sym typeface="Roboto"/>
              </a:rPr>
              <a:t>9</a:t>
            </a:r>
            <a:endParaRPr sz="600">
              <a:latin typeface="Roboto"/>
              <a:ea typeface="Roboto"/>
              <a:cs typeface="Roboto"/>
              <a:sym typeface="Robot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5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Decision Tree in Universe 1</a:t>
            </a:r>
            <a:endParaRPr/>
          </a:p>
        </p:txBody>
      </p:sp>
      <p:sp>
        <p:nvSpPr>
          <p:cNvPr id="507" name="Google Shape;507;p53"/>
          <p:cNvSpPr txBox="1"/>
          <p:nvPr>
            <p:ph idx="1" type="body"/>
          </p:nvPr>
        </p:nvSpPr>
        <p:spPr>
          <a:xfrm>
            <a:off x="107050" y="32245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full decision tree in Universe 1:</a:t>
            </a:r>
            <a:endParaRPr/>
          </a:p>
        </p:txBody>
      </p:sp>
      <p:sp>
        <p:nvSpPr>
          <p:cNvPr id="508" name="Google Shape;508;p53"/>
          <p:cNvSpPr/>
          <p:nvPr/>
        </p:nvSpPr>
        <p:spPr>
          <a:xfrm>
            <a:off x="3649350" y="759075"/>
            <a:ext cx="1221900" cy="5103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123 vs 456?</a:t>
            </a:r>
            <a:endParaRPr/>
          </a:p>
        </p:txBody>
      </p:sp>
      <p:sp>
        <p:nvSpPr>
          <p:cNvPr id="509" name="Google Shape;509;p53"/>
          <p:cNvSpPr/>
          <p:nvPr/>
        </p:nvSpPr>
        <p:spPr>
          <a:xfrm>
            <a:off x="1620500" y="2008300"/>
            <a:ext cx="809100" cy="5937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1 vs 2?</a:t>
            </a:r>
            <a:endParaRPr/>
          </a:p>
        </p:txBody>
      </p:sp>
      <p:sp>
        <p:nvSpPr>
          <p:cNvPr id="510" name="Google Shape;510;p53"/>
          <p:cNvSpPr/>
          <p:nvPr/>
        </p:nvSpPr>
        <p:spPr>
          <a:xfrm>
            <a:off x="385575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7 vs 8?</a:t>
            </a:r>
            <a:endParaRPr/>
          </a:p>
        </p:txBody>
      </p:sp>
      <p:sp>
        <p:nvSpPr>
          <p:cNvPr id="511" name="Google Shape;511;p53"/>
          <p:cNvSpPr/>
          <p:nvPr/>
        </p:nvSpPr>
        <p:spPr>
          <a:xfrm>
            <a:off x="609100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4 vs 5?</a:t>
            </a:r>
            <a:endParaRPr/>
          </a:p>
        </p:txBody>
      </p:sp>
      <p:cxnSp>
        <p:nvCxnSpPr>
          <p:cNvPr id="512" name="Google Shape;512;p53"/>
          <p:cNvCxnSpPr>
            <a:stCxn id="508" idx="2"/>
            <a:endCxn id="509" idx="0"/>
          </p:cNvCxnSpPr>
          <p:nvPr/>
        </p:nvCxnSpPr>
        <p:spPr>
          <a:xfrm flipH="1">
            <a:off x="2025000" y="1269375"/>
            <a:ext cx="2235300" cy="738900"/>
          </a:xfrm>
          <a:prstGeom prst="straightConnector1">
            <a:avLst/>
          </a:prstGeom>
          <a:noFill/>
          <a:ln cap="flat" cmpd="sng" w="38100">
            <a:solidFill>
              <a:srgbClr val="FF0000"/>
            </a:solidFill>
            <a:prstDash val="solid"/>
            <a:round/>
            <a:headEnd len="med" w="med" type="none"/>
            <a:tailEnd len="med" w="med" type="none"/>
          </a:ln>
        </p:spPr>
      </p:cxnSp>
      <p:cxnSp>
        <p:nvCxnSpPr>
          <p:cNvPr id="513" name="Google Shape;513;p53"/>
          <p:cNvCxnSpPr>
            <a:stCxn id="508" idx="2"/>
            <a:endCxn id="510" idx="0"/>
          </p:cNvCxnSpPr>
          <p:nvPr/>
        </p:nvCxnSpPr>
        <p:spPr>
          <a:xfrm>
            <a:off x="4260300" y="1269375"/>
            <a:ext cx="0" cy="738900"/>
          </a:xfrm>
          <a:prstGeom prst="straightConnector1">
            <a:avLst/>
          </a:prstGeom>
          <a:noFill/>
          <a:ln cap="flat" cmpd="sng" w="38100">
            <a:solidFill>
              <a:schemeClr val="dk2"/>
            </a:solidFill>
            <a:prstDash val="solid"/>
            <a:round/>
            <a:headEnd len="med" w="med" type="none"/>
            <a:tailEnd len="med" w="med" type="none"/>
          </a:ln>
        </p:spPr>
      </p:cxnSp>
      <p:cxnSp>
        <p:nvCxnSpPr>
          <p:cNvPr id="514" name="Google Shape;514;p53"/>
          <p:cNvCxnSpPr>
            <a:stCxn id="508" idx="2"/>
            <a:endCxn id="511" idx="0"/>
          </p:cNvCxnSpPr>
          <p:nvPr/>
        </p:nvCxnSpPr>
        <p:spPr>
          <a:xfrm>
            <a:off x="4260300" y="1269375"/>
            <a:ext cx="2235300" cy="738900"/>
          </a:xfrm>
          <a:prstGeom prst="straightConnector1">
            <a:avLst/>
          </a:prstGeom>
          <a:noFill/>
          <a:ln cap="flat" cmpd="sng" w="38100">
            <a:solidFill>
              <a:srgbClr val="0000FF"/>
            </a:solidFill>
            <a:prstDash val="solid"/>
            <a:round/>
            <a:headEnd len="med" w="med" type="none"/>
            <a:tailEnd len="med" w="med" type="none"/>
          </a:ln>
        </p:spPr>
      </p:cxnSp>
      <p:sp>
        <p:nvSpPr>
          <p:cNvPr id="515" name="Google Shape;515;p53"/>
          <p:cNvSpPr txBox="1"/>
          <p:nvPr/>
        </p:nvSpPr>
        <p:spPr>
          <a:xfrm>
            <a:off x="2342075"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&gt;</a:t>
            </a:r>
            <a:endParaRPr/>
          </a:p>
        </p:txBody>
      </p:sp>
      <p:sp>
        <p:nvSpPr>
          <p:cNvPr id="516" name="Google Shape;516;p53"/>
          <p:cNvSpPr txBox="1"/>
          <p:nvPr/>
        </p:nvSpPr>
        <p:spPr>
          <a:xfrm>
            <a:off x="3945750" y="1521088"/>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t>
            </a:r>
            <a:endParaRPr/>
          </a:p>
        </p:txBody>
      </p:sp>
      <p:sp>
        <p:nvSpPr>
          <p:cNvPr id="517" name="Google Shape;517;p53"/>
          <p:cNvSpPr txBox="1"/>
          <p:nvPr/>
        </p:nvSpPr>
        <p:spPr>
          <a:xfrm>
            <a:off x="5718650"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&lt;</a:t>
            </a:r>
            <a:endParaRPr/>
          </a:p>
        </p:txBody>
      </p:sp>
      <p:sp>
        <p:nvSpPr>
          <p:cNvPr id="518" name="Google Shape;518;p53"/>
          <p:cNvSpPr/>
          <p:nvPr/>
        </p:nvSpPr>
        <p:spPr>
          <a:xfrm>
            <a:off x="710150" y="3941550"/>
            <a:ext cx="732900" cy="5103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fake</a:t>
            </a:r>
            <a:endParaRPr/>
          </a:p>
        </p:txBody>
      </p:sp>
      <p:sp>
        <p:nvSpPr>
          <p:cNvPr id="519" name="Google Shape;519;p53"/>
          <p:cNvSpPr/>
          <p:nvPr/>
        </p:nvSpPr>
        <p:spPr>
          <a:xfrm>
            <a:off x="26070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2 fake</a:t>
            </a:r>
            <a:endParaRPr/>
          </a:p>
        </p:txBody>
      </p:sp>
      <p:sp>
        <p:nvSpPr>
          <p:cNvPr id="520" name="Google Shape;520;p53"/>
          <p:cNvSpPr/>
          <p:nvPr/>
        </p:nvSpPr>
        <p:spPr>
          <a:xfrm>
            <a:off x="16586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3 fake</a:t>
            </a:r>
            <a:endParaRPr/>
          </a:p>
        </p:txBody>
      </p:sp>
      <p:sp>
        <p:nvSpPr>
          <p:cNvPr id="521" name="Google Shape;521;p53"/>
          <p:cNvSpPr/>
          <p:nvPr/>
        </p:nvSpPr>
        <p:spPr>
          <a:xfrm>
            <a:off x="29454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7 fake</a:t>
            </a:r>
            <a:endParaRPr/>
          </a:p>
        </p:txBody>
      </p:sp>
      <p:sp>
        <p:nvSpPr>
          <p:cNvPr id="522" name="Google Shape;522;p53"/>
          <p:cNvSpPr/>
          <p:nvPr/>
        </p:nvSpPr>
        <p:spPr>
          <a:xfrm>
            <a:off x="48423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 fake</a:t>
            </a:r>
            <a:endParaRPr/>
          </a:p>
        </p:txBody>
      </p:sp>
      <p:sp>
        <p:nvSpPr>
          <p:cNvPr id="523" name="Google Shape;523;p53"/>
          <p:cNvSpPr/>
          <p:nvPr/>
        </p:nvSpPr>
        <p:spPr>
          <a:xfrm>
            <a:off x="389385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 fake</a:t>
            </a:r>
            <a:endParaRPr/>
          </a:p>
        </p:txBody>
      </p:sp>
      <p:sp>
        <p:nvSpPr>
          <p:cNvPr id="524" name="Google Shape;524;p53"/>
          <p:cNvSpPr/>
          <p:nvPr/>
        </p:nvSpPr>
        <p:spPr>
          <a:xfrm>
            <a:off x="51806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4 fake</a:t>
            </a:r>
            <a:endParaRPr/>
          </a:p>
        </p:txBody>
      </p:sp>
      <p:sp>
        <p:nvSpPr>
          <p:cNvPr id="525" name="Google Shape;525;p53"/>
          <p:cNvSpPr/>
          <p:nvPr/>
        </p:nvSpPr>
        <p:spPr>
          <a:xfrm>
            <a:off x="70775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5 fake</a:t>
            </a:r>
            <a:endParaRPr/>
          </a:p>
        </p:txBody>
      </p:sp>
      <p:sp>
        <p:nvSpPr>
          <p:cNvPr id="526" name="Google Shape;526;p53"/>
          <p:cNvSpPr/>
          <p:nvPr/>
        </p:nvSpPr>
        <p:spPr>
          <a:xfrm>
            <a:off x="61291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6 fake</a:t>
            </a:r>
            <a:endParaRPr/>
          </a:p>
        </p:txBody>
      </p:sp>
      <p:cxnSp>
        <p:nvCxnSpPr>
          <p:cNvPr id="527" name="Google Shape;527;p53"/>
          <p:cNvCxnSpPr>
            <a:stCxn id="509" idx="2"/>
            <a:endCxn id="518" idx="0"/>
          </p:cNvCxnSpPr>
          <p:nvPr/>
        </p:nvCxnSpPr>
        <p:spPr>
          <a:xfrm flipH="1">
            <a:off x="10764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528" name="Google Shape;528;p53"/>
          <p:cNvCxnSpPr>
            <a:stCxn id="509" idx="2"/>
            <a:endCxn id="520" idx="0"/>
          </p:cNvCxnSpPr>
          <p:nvPr/>
        </p:nvCxnSpPr>
        <p:spPr>
          <a:xfrm>
            <a:off x="20250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529" name="Google Shape;529;p53"/>
          <p:cNvCxnSpPr>
            <a:stCxn id="509" idx="2"/>
            <a:endCxn id="519" idx="0"/>
          </p:cNvCxnSpPr>
          <p:nvPr/>
        </p:nvCxnSpPr>
        <p:spPr>
          <a:xfrm>
            <a:off x="20250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530" name="Google Shape;530;p53"/>
          <p:cNvCxnSpPr>
            <a:stCxn id="511" idx="2"/>
            <a:endCxn id="524" idx="0"/>
          </p:cNvCxnSpPr>
          <p:nvPr/>
        </p:nvCxnSpPr>
        <p:spPr>
          <a:xfrm flipH="1">
            <a:off x="55469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531" name="Google Shape;531;p53"/>
          <p:cNvCxnSpPr>
            <a:stCxn id="511" idx="2"/>
            <a:endCxn id="526" idx="0"/>
          </p:cNvCxnSpPr>
          <p:nvPr/>
        </p:nvCxnSpPr>
        <p:spPr>
          <a:xfrm>
            <a:off x="64955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532" name="Google Shape;532;p53"/>
          <p:cNvCxnSpPr>
            <a:stCxn id="511" idx="2"/>
            <a:endCxn id="525" idx="0"/>
          </p:cNvCxnSpPr>
          <p:nvPr/>
        </p:nvCxnSpPr>
        <p:spPr>
          <a:xfrm>
            <a:off x="64955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533" name="Google Shape;533;p53"/>
          <p:cNvCxnSpPr>
            <a:stCxn id="510" idx="2"/>
            <a:endCxn id="521" idx="0"/>
          </p:cNvCxnSpPr>
          <p:nvPr/>
        </p:nvCxnSpPr>
        <p:spPr>
          <a:xfrm flipH="1">
            <a:off x="3311700" y="2602000"/>
            <a:ext cx="948600" cy="631200"/>
          </a:xfrm>
          <a:prstGeom prst="straightConnector1">
            <a:avLst/>
          </a:prstGeom>
          <a:noFill/>
          <a:ln cap="flat" cmpd="sng" w="38100">
            <a:solidFill>
              <a:srgbClr val="FF0000"/>
            </a:solidFill>
            <a:prstDash val="solid"/>
            <a:round/>
            <a:headEnd len="med" w="med" type="none"/>
            <a:tailEnd len="med" w="med" type="none"/>
          </a:ln>
        </p:spPr>
      </p:cxnSp>
      <p:cxnSp>
        <p:nvCxnSpPr>
          <p:cNvPr id="534" name="Google Shape;534;p53"/>
          <p:cNvCxnSpPr>
            <a:stCxn id="510" idx="2"/>
            <a:endCxn id="523" idx="0"/>
          </p:cNvCxnSpPr>
          <p:nvPr/>
        </p:nvCxnSpPr>
        <p:spPr>
          <a:xfrm>
            <a:off x="4260300" y="2602000"/>
            <a:ext cx="0" cy="631200"/>
          </a:xfrm>
          <a:prstGeom prst="straightConnector1">
            <a:avLst/>
          </a:prstGeom>
          <a:noFill/>
          <a:ln cap="flat" cmpd="sng" w="38100">
            <a:solidFill>
              <a:schemeClr val="dk2"/>
            </a:solidFill>
            <a:prstDash val="solid"/>
            <a:round/>
            <a:headEnd len="med" w="med" type="none"/>
            <a:tailEnd len="med" w="med" type="none"/>
          </a:ln>
        </p:spPr>
      </p:cxnSp>
      <p:cxnSp>
        <p:nvCxnSpPr>
          <p:cNvPr id="535" name="Google Shape;535;p53"/>
          <p:cNvCxnSpPr>
            <a:stCxn id="510" idx="2"/>
            <a:endCxn id="522" idx="0"/>
          </p:cNvCxnSpPr>
          <p:nvPr/>
        </p:nvCxnSpPr>
        <p:spPr>
          <a:xfrm>
            <a:off x="4260300" y="2602000"/>
            <a:ext cx="948600" cy="631200"/>
          </a:xfrm>
          <a:prstGeom prst="straightConnector1">
            <a:avLst/>
          </a:prstGeom>
          <a:noFill/>
          <a:ln cap="flat" cmpd="sng" w="38100">
            <a:solidFill>
              <a:srgbClr val="0000FF"/>
            </a:solidFill>
            <a:prstDash val="solid"/>
            <a:round/>
            <a:headEnd len="med" w="med" type="none"/>
            <a:tailEnd len="med" w="med"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09"/>
                                        </p:tgtEl>
                                        <p:attrNameLst>
                                          <p:attrName>style.visibility</p:attrName>
                                        </p:attrNameLst>
                                      </p:cBhvr>
                                      <p:to>
                                        <p:strVal val="visible"/>
                                      </p:to>
                                    </p:set>
                                    <p:animEffect filter="fade" transition="in">
                                      <p:cBhvr>
                                        <p:cTn dur="1000"/>
                                        <p:tgtEl>
                                          <p:spTgt spid="50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5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Validation</a:t>
            </a:r>
            <a:endParaRPr/>
          </a:p>
        </p:txBody>
      </p:sp>
      <p:sp>
        <p:nvSpPr>
          <p:cNvPr id="541" name="Google Shape;541;p54"/>
          <p:cNvSpPr txBox="1"/>
          <p:nvPr>
            <p:ph idx="1" type="body"/>
          </p:nvPr>
        </p:nvSpPr>
        <p:spPr>
          <a:xfrm>
            <a:off x="107050" y="402200"/>
            <a:ext cx="8520600" cy="11772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To verify that our scheme works, let's check every single case.</a:t>
            </a:r>
            <a:endParaRPr/>
          </a:p>
          <a:p>
            <a:pPr indent="0" lvl="0" marL="0" rtl="0" algn="l">
              <a:spcBef>
                <a:spcPts val="600"/>
              </a:spcBef>
              <a:spcAft>
                <a:spcPts val="0"/>
              </a:spcAft>
              <a:buNone/>
            </a:pPr>
            <a:r>
              <a:rPr lang="en"/>
              <a:t>There are nine "universes" that we could start in (1 is counterfeit, 2 is counterfeit, etc.). We can verify that in each universe, we yield the correct result</a:t>
            </a:r>
            <a:endParaRPr/>
          </a:p>
        </p:txBody>
      </p:sp>
      <p:pic>
        <p:nvPicPr>
          <p:cNvPr id="542" name="Google Shape;542;p54"/>
          <p:cNvPicPr preferRelativeResize="0"/>
          <p:nvPr/>
        </p:nvPicPr>
        <p:blipFill>
          <a:blip r:embed="rId3">
            <a:alphaModFix/>
          </a:blip>
          <a:stretch>
            <a:fillRect/>
          </a:stretch>
        </p:blipFill>
        <p:spPr>
          <a:xfrm>
            <a:off x="7081474" y="3143674"/>
            <a:ext cx="2051075" cy="1774176"/>
          </a:xfrm>
          <a:prstGeom prst="rect">
            <a:avLst/>
          </a:prstGeom>
          <a:noFill/>
          <a:ln>
            <a:noFill/>
          </a:ln>
        </p:spPr>
      </p:pic>
      <p:grpSp>
        <p:nvGrpSpPr>
          <p:cNvPr id="543" name="Google Shape;543;p54"/>
          <p:cNvGrpSpPr/>
          <p:nvPr/>
        </p:nvGrpSpPr>
        <p:grpSpPr>
          <a:xfrm>
            <a:off x="231675" y="1622000"/>
            <a:ext cx="1730502" cy="900207"/>
            <a:chOff x="231675" y="1622000"/>
            <a:chExt cx="1730502" cy="900207"/>
          </a:xfrm>
        </p:grpSpPr>
        <p:sp>
          <p:nvSpPr>
            <p:cNvPr id="544" name="Google Shape;544;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45" name="Google Shape;545;p54"/>
            <p:cNvSpPr/>
            <p:nvPr/>
          </p:nvSpPr>
          <p:spPr>
            <a:xfrm>
              <a:off x="453565"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46" name="Google Shape;546;p54"/>
            <p:cNvSpPr/>
            <p:nvPr/>
          </p:nvSpPr>
          <p:spPr>
            <a:xfrm>
              <a:off x="998390"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47" name="Google Shape;547;p54"/>
            <p:cNvSpPr/>
            <p:nvPr/>
          </p:nvSpPr>
          <p:spPr>
            <a:xfrm>
              <a:off x="1543214"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548" name="Google Shape;548;p54"/>
            <p:cNvCxnSpPr>
              <a:stCxn id="544" idx="2"/>
              <a:endCxn id="545"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549" name="Google Shape;549;p54"/>
            <p:cNvCxnSpPr>
              <a:stCxn id="544" idx="2"/>
              <a:endCxn id="546"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550" name="Google Shape;550;p54"/>
            <p:cNvCxnSpPr>
              <a:stCxn id="544" idx="2"/>
              <a:endCxn id="547"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551" name="Google Shape;551;p54"/>
            <p:cNvSpPr/>
            <p:nvPr/>
          </p:nvSpPr>
          <p:spPr>
            <a:xfrm>
              <a:off x="231675" y="2397707"/>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2" name="Google Shape;552;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3" name="Google Shape;553;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4" name="Google Shape;554;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5" name="Google Shape;555;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6" name="Google Shape;556;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7" name="Google Shape;557;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8" name="Google Shape;558;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59" name="Google Shape;559;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560" name="Google Shape;560;p54"/>
            <p:cNvCxnSpPr>
              <a:stCxn id="545" idx="2"/>
              <a:endCxn id="551"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561" name="Google Shape;561;p54"/>
            <p:cNvCxnSpPr>
              <a:stCxn id="545" idx="2"/>
              <a:endCxn id="553"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562" name="Google Shape;562;p54"/>
            <p:cNvCxnSpPr>
              <a:stCxn id="545" idx="2"/>
              <a:endCxn id="552"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563" name="Google Shape;563;p54"/>
            <p:cNvCxnSpPr>
              <a:stCxn id="547" idx="2"/>
              <a:endCxn id="557"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564" name="Google Shape;564;p54"/>
            <p:cNvCxnSpPr>
              <a:stCxn id="547" idx="2"/>
              <a:endCxn id="559"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565" name="Google Shape;565;p54"/>
            <p:cNvCxnSpPr>
              <a:stCxn id="547" idx="2"/>
              <a:endCxn id="558"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566" name="Google Shape;566;p54"/>
            <p:cNvCxnSpPr>
              <a:stCxn id="546" idx="2"/>
              <a:endCxn id="554"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567" name="Google Shape;567;p54"/>
            <p:cNvCxnSpPr>
              <a:stCxn id="546" idx="2"/>
              <a:endCxn id="556"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568" name="Google Shape;568;p54"/>
            <p:cNvCxnSpPr>
              <a:stCxn id="546" idx="2"/>
              <a:endCxn id="555"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569" name="Google Shape;569;p54"/>
          <p:cNvGrpSpPr/>
          <p:nvPr/>
        </p:nvGrpSpPr>
        <p:grpSpPr>
          <a:xfrm>
            <a:off x="2225275" y="1622000"/>
            <a:ext cx="1730502" cy="900207"/>
            <a:chOff x="231675" y="1622000"/>
            <a:chExt cx="1730502" cy="900207"/>
          </a:xfrm>
        </p:grpSpPr>
        <p:sp>
          <p:nvSpPr>
            <p:cNvPr id="570" name="Google Shape;570;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71" name="Google Shape;571;p54"/>
            <p:cNvSpPr/>
            <p:nvPr/>
          </p:nvSpPr>
          <p:spPr>
            <a:xfrm>
              <a:off x="453565"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72" name="Google Shape;572;p54"/>
            <p:cNvSpPr/>
            <p:nvPr/>
          </p:nvSpPr>
          <p:spPr>
            <a:xfrm>
              <a:off x="998390"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73" name="Google Shape;573;p54"/>
            <p:cNvSpPr/>
            <p:nvPr/>
          </p:nvSpPr>
          <p:spPr>
            <a:xfrm>
              <a:off x="1543214"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574" name="Google Shape;574;p54"/>
            <p:cNvCxnSpPr>
              <a:stCxn id="570" idx="2"/>
              <a:endCxn id="571"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575" name="Google Shape;575;p54"/>
            <p:cNvCxnSpPr>
              <a:stCxn id="570" idx="2"/>
              <a:endCxn id="572"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576" name="Google Shape;576;p54"/>
            <p:cNvCxnSpPr>
              <a:stCxn id="570" idx="2"/>
              <a:endCxn id="573"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577" name="Google Shape;577;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78" name="Google Shape;578;p54"/>
            <p:cNvSpPr/>
            <p:nvPr/>
          </p:nvSpPr>
          <p:spPr>
            <a:xfrm>
              <a:off x="694029" y="2397707"/>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79" name="Google Shape;579;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80" name="Google Shape;580;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81" name="Google Shape;581;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82" name="Google Shape;582;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83" name="Google Shape;583;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84" name="Google Shape;584;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585" name="Google Shape;585;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586" name="Google Shape;586;p54"/>
            <p:cNvCxnSpPr>
              <a:stCxn id="571" idx="2"/>
              <a:endCxn id="577"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587" name="Google Shape;587;p54"/>
            <p:cNvCxnSpPr>
              <a:stCxn id="571" idx="2"/>
              <a:endCxn id="579"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588" name="Google Shape;588;p54"/>
            <p:cNvCxnSpPr>
              <a:stCxn id="571" idx="2"/>
              <a:endCxn id="578"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589" name="Google Shape;589;p54"/>
            <p:cNvCxnSpPr>
              <a:stCxn id="573" idx="2"/>
              <a:endCxn id="583"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590" name="Google Shape;590;p54"/>
            <p:cNvCxnSpPr>
              <a:stCxn id="573" idx="2"/>
              <a:endCxn id="585"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591" name="Google Shape;591;p54"/>
            <p:cNvCxnSpPr>
              <a:stCxn id="573" idx="2"/>
              <a:endCxn id="584"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592" name="Google Shape;592;p54"/>
            <p:cNvCxnSpPr>
              <a:stCxn id="572" idx="2"/>
              <a:endCxn id="580"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593" name="Google Shape;593;p54"/>
            <p:cNvCxnSpPr>
              <a:stCxn id="572" idx="2"/>
              <a:endCxn id="582"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594" name="Google Shape;594;p54"/>
            <p:cNvCxnSpPr>
              <a:stCxn id="572" idx="2"/>
              <a:endCxn id="581"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595" name="Google Shape;595;p54"/>
          <p:cNvGrpSpPr/>
          <p:nvPr/>
        </p:nvGrpSpPr>
        <p:grpSpPr>
          <a:xfrm>
            <a:off x="4218875" y="1622000"/>
            <a:ext cx="1730502" cy="900207"/>
            <a:chOff x="231675" y="1622000"/>
            <a:chExt cx="1730502" cy="900207"/>
          </a:xfrm>
        </p:grpSpPr>
        <p:sp>
          <p:nvSpPr>
            <p:cNvPr id="596" name="Google Shape;596;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97" name="Google Shape;597;p54"/>
            <p:cNvSpPr/>
            <p:nvPr/>
          </p:nvSpPr>
          <p:spPr>
            <a:xfrm>
              <a:off x="453565"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98" name="Google Shape;598;p54"/>
            <p:cNvSpPr/>
            <p:nvPr/>
          </p:nvSpPr>
          <p:spPr>
            <a:xfrm>
              <a:off x="998390"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599" name="Google Shape;599;p54"/>
            <p:cNvSpPr/>
            <p:nvPr/>
          </p:nvSpPr>
          <p:spPr>
            <a:xfrm>
              <a:off x="1543214"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600" name="Google Shape;600;p54"/>
            <p:cNvCxnSpPr>
              <a:stCxn id="596" idx="2"/>
              <a:endCxn id="597"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601" name="Google Shape;601;p54"/>
            <p:cNvCxnSpPr>
              <a:stCxn id="596" idx="2"/>
              <a:endCxn id="598"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602" name="Google Shape;602;p54"/>
            <p:cNvCxnSpPr>
              <a:stCxn id="596" idx="2"/>
              <a:endCxn id="599"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603" name="Google Shape;603;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04" name="Google Shape;604;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05" name="Google Shape;605;p54"/>
            <p:cNvSpPr/>
            <p:nvPr/>
          </p:nvSpPr>
          <p:spPr>
            <a:xfrm>
              <a:off x="462852" y="2397707"/>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06" name="Google Shape;606;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07" name="Google Shape;607;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08" name="Google Shape;608;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09" name="Google Shape;609;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10" name="Google Shape;610;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11" name="Google Shape;611;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612" name="Google Shape;612;p54"/>
            <p:cNvCxnSpPr>
              <a:stCxn id="597" idx="2"/>
              <a:endCxn id="603"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13" name="Google Shape;613;p54"/>
            <p:cNvCxnSpPr>
              <a:stCxn id="597" idx="2"/>
              <a:endCxn id="605"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14" name="Google Shape;614;p54"/>
            <p:cNvCxnSpPr>
              <a:stCxn id="597" idx="2"/>
              <a:endCxn id="604"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15" name="Google Shape;615;p54"/>
            <p:cNvCxnSpPr>
              <a:stCxn id="599" idx="2"/>
              <a:endCxn id="609"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16" name="Google Shape;616;p54"/>
            <p:cNvCxnSpPr>
              <a:stCxn id="599" idx="2"/>
              <a:endCxn id="611"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17" name="Google Shape;617;p54"/>
            <p:cNvCxnSpPr>
              <a:stCxn id="599" idx="2"/>
              <a:endCxn id="610"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18" name="Google Shape;618;p54"/>
            <p:cNvCxnSpPr>
              <a:stCxn id="598" idx="2"/>
              <a:endCxn id="606"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619" name="Google Shape;619;p54"/>
            <p:cNvCxnSpPr>
              <a:stCxn id="598" idx="2"/>
              <a:endCxn id="608"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620" name="Google Shape;620;p54"/>
            <p:cNvCxnSpPr>
              <a:stCxn id="598" idx="2"/>
              <a:endCxn id="607"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621" name="Google Shape;621;p54"/>
          <p:cNvGrpSpPr/>
          <p:nvPr/>
        </p:nvGrpSpPr>
        <p:grpSpPr>
          <a:xfrm>
            <a:off x="231675" y="2755250"/>
            <a:ext cx="1730502" cy="900207"/>
            <a:chOff x="231675" y="1622000"/>
            <a:chExt cx="1730502" cy="900207"/>
          </a:xfrm>
        </p:grpSpPr>
        <p:sp>
          <p:nvSpPr>
            <p:cNvPr id="622" name="Google Shape;622;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23" name="Google Shape;623;p54"/>
            <p:cNvSpPr/>
            <p:nvPr/>
          </p:nvSpPr>
          <p:spPr>
            <a:xfrm>
              <a:off x="453565"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24" name="Google Shape;624;p54"/>
            <p:cNvSpPr/>
            <p:nvPr/>
          </p:nvSpPr>
          <p:spPr>
            <a:xfrm>
              <a:off x="998390"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25" name="Google Shape;625;p54"/>
            <p:cNvSpPr/>
            <p:nvPr/>
          </p:nvSpPr>
          <p:spPr>
            <a:xfrm>
              <a:off x="1543214"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626" name="Google Shape;626;p54"/>
            <p:cNvCxnSpPr>
              <a:stCxn id="622" idx="2"/>
              <a:endCxn id="623"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627" name="Google Shape;627;p54"/>
            <p:cNvCxnSpPr>
              <a:stCxn id="622" idx="2"/>
              <a:endCxn id="624"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628" name="Google Shape;628;p54"/>
            <p:cNvCxnSpPr>
              <a:stCxn id="622" idx="2"/>
              <a:endCxn id="625"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629" name="Google Shape;629;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0" name="Google Shape;630;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1" name="Google Shape;631;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2" name="Google Shape;632;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3" name="Google Shape;633;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4" name="Google Shape;634;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5" name="Google Shape;635;p54"/>
            <p:cNvSpPr/>
            <p:nvPr/>
          </p:nvSpPr>
          <p:spPr>
            <a:xfrm>
              <a:off x="1321323" y="2397707"/>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6" name="Google Shape;636;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37" name="Google Shape;637;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638" name="Google Shape;638;p54"/>
            <p:cNvCxnSpPr>
              <a:stCxn id="623" idx="2"/>
              <a:endCxn id="629"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39" name="Google Shape;639;p54"/>
            <p:cNvCxnSpPr>
              <a:stCxn id="623" idx="2"/>
              <a:endCxn id="631"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40" name="Google Shape;640;p54"/>
            <p:cNvCxnSpPr>
              <a:stCxn id="623" idx="2"/>
              <a:endCxn id="630"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41" name="Google Shape;641;p54"/>
            <p:cNvCxnSpPr>
              <a:stCxn id="625" idx="2"/>
              <a:endCxn id="635"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42" name="Google Shape;642;p54"/>
            <p:cNvCxnSpPr>
              <a:stCxn id="625" idx="2"/>
              <a:endCxn id="637"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43" name="Google Shape;643;p54"/>
            <p:cNvCxnSpPr>
              <a:stCxn id="625" idx="2"/>
              <a:endCxn id="636"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44" name="Google Shape;644;p54"/>
            <p:cNvCxnSpPr>
              <a:stCxn id="624" idx="2"/>
              <a:endCxn id="632"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645" name="Google Shape;645;p54"/>
            <p:cNvCxnSpPr>
              <a:stCxn id="624" idx="2"/>
              <a:endCxn id="634"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646" name="Google Shape;646;p54"/>
            <p:cNvCxnSpPr>
              <a:stCxn id="624" idx="2"/>
              <a:endCxn id="633"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647" name="Google Shape;647;p54"/>
          <p:cNvGrpSpPr/>
          <p:nvPr/>
        </p:nvGrpSpPr>
        <p:grpSpPr>
          <a:xfrm>
            <a:off x="2225275" y="2755250"/>
            <a:ext cx="1730502" cy="900207"/>
            <a:chOff x="231675" y="1622000"/>
            <a:chExt cx="1730502" cy="900207"/>
          </a:xfrm>
        </p:grpSpPr>
        <p:sp>
          <p:nvSpPr>
            <p:cNvPr id="648" name="Google Shape;648;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49" name="Google Shape;649;p54"/>
            <p:cNvSpPr/>
            <p:nvPr/>
          </p:nvSpPr>
          <p:spPr>
            <a:xfrm>
              <a:off x="453565"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50" name="Google Shape;650;p54"/>
            <p:cNvSpPr/>
            <p:nvPr/>
          </p:nvSpPr>
          <p:spPr>
            <a:xfrm>
              <a:off x="998390"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51" name="Google Shape;651;p54"/>
            <p:cNvSpPr/>
            <p:nvPr/>
          </p:nvSpPr>
          <p:spPr>
            <a:xfrm>
              <a:off x="1543214"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652" name="Google Shape;652;p54"/>
            <p:cNvCxnSpPr>
              <a:stCxn id="648" idx="2"/>
              <a:endCxn id="649"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653" name="Google Shape;653;p54"/>
            <p:cNvCxnSpPr>
              <a:stCxn id="648" idx="2"/>
              <a:endCxn id="650"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654" name="Google Shape;654;p54"/>
            <p:cNvCxnSpPr>
              <a:stCxn id="648" idx="2"/>
              <a:endCxn id="651"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655" name="Google Shape;655;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56" name="Google Shape;656;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57" name="Google Shape;657;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58" name="Google Shape;658;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59" name="Google Shape;659;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60" name="Google Shape;660;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61" name="Google Shape;661;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62" name="Google Shape;662;p54"/>
            <p:cNvSpPr/>
            <p:nvPr/>
          </p:nvSpPr>
          <p:spPr>
            <a:xfrm>
              <a:off x="1783677" y="2397707"/>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63" name="Google Shape;663;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664" name="Google Shape;664;p54"/>
            <p:cNvCxnSpPr>
              <a:stCxn id="649" idx="2"/>
              <a:endCxn id="655"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65" name="Google Shape;665;p54"/>
            <p:cNvCxnSpPr>
              <a:stCxn id="649" idx="2"/>
              <a:endCxn id="657"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66" name="Google Shape;666;p54"/>
            <p:cNvCxnSpPr>
              <a:stCxn id="649" idx="2"/>
              <a:endCxn id="656"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67" name="Google Shape;667;p54"/>
            <p:cNvCxnSpPr>
              <a:stCxn id="651" idx="2"/>
              <a:endCxn id="661"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68" name="Google Shape;668;p54"/>
            <p:cNvCxnSpPr>
              <a:stCxn id="651" idx="2"/>
              <a:endCxn id="663"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69" name="Google Shape;669;p54"/>
            <p:cNvCxnSpPr>
              <a:stCxn id="651" idx="2"/>
              <a:endCxn id="662"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70" name="Google Shape;670;p54"/>
            <p:cNvCxnSpPr>
              <a:stCxn id="650" idx="2"/>
              <a:endCxn id="658"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671" name="Google Shape;671;p54"/>
            <p:cNvCxnSpPr>
              <a:stCxn id="650" idx="2"/>
              <a:endCxn id="660"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672" name="Google Shape;672;p54"/>
            <p:cNvCxnSpPr>
              <a:stCxn id="650" idx="2"/>
              <a:endCxn id="659"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673" name="Google Shape;673;p54"/>
          <p:cNvGrpSpPr/>
          <p:nvPr/>
        </p:nvGrpSpPr>
        <p:grpSpPr>
          <a:xfrm>
            <a:off x="4218875" y="2755250"/>
            <a:ext cx="1730502" cy="900207"/>
            <a:chOff x="231675" y="1622000"/>
            <a:chExt cx="1730502" cy="900207"/>
          </a:xfrm>
        </p:grpSpPr>
        <p:sp>
          <p:nvSpPr>
            <p:cNvPr id="674" name="Google Shape;674;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75" name="Google Shape;675;p54"/>
            <p:cNvSpPr/>
            <p:nvPr/>
          </p:nvSpPr>
          <p:spPr>
            <a:xfrm>
              <a:off x="453565"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76" name="Google Shape;676;p54"/>
            <p:cNvSpPr/>
            <p:nvPr/>
          </p:nvSpPr>
          <p:spPr>
            <a:xfrm>
              <a:off x="998390"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677" name="Google Shape;677;p54"/>
            <p:cNvSpPr/>
            <p:nvPr/>
          </p:nvSpPr>
          <p:spPr>
            <a:xfrm>
              <a:off x="1543214"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678" name="Google Shape;678;p54"/>
            <p:cNvCxnSpPr>
              <a:stCxn id="674" idx="2"/>
              <a:endCxn id="675"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679" name="Google Shape;679;p54"/>
            <p:cNvCxnSpPr>
              <a:stCxn id="674" idx="2"/>
              <a:endCxn id="676"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680" name="Google Shape;680;p54"/>
            <p:cNvCxnSpPr>
              <a:stCxn id="674" idx="2"/>
              <a:endCxn id="677"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681" name="Google Shape;681;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2" name="Google Shape;682;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3" name="Google Shape;683;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4" name="Google Shape;684;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5" name="Google Shape;685;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6" name="Google Shape;686;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7" name="Google Shape;687;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8" name="Google Shape;688;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689" name="Google Shape;689;p54"/>
            <p:cNvSpPr/>
            <p:nvPr/>
          </p:nvSpPr>
          <p:spPr>
            <a:xfrm>
              <a:off x="1552500" y="2397707"/>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690" name="Google Shape;690;p54"/>
            <p:cNvCxnSpPr>
              <a:stCxn id="675" idx="2"/>
              <a:endCxn id="681"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91" name="Google Shape;691;p54"/>
            <p:cNvCxnSpPr>
              <a:stCxn id="675" idx="2"/>
              <a:endCxn id="683"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92" name="Google Shape;692;p54"/>
            <p:cNvCxnSpPr>
              <a:stCxn id="675" idx="2"/>
              <a:endCxn id="682"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93" name="Google Shape;693;p54"/>
            <p:cNvCxnSpPr>
              <a:stCxn id="677" idx="2"/>
              <a:endCxn id="687"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694" name="Google Shape;694;p54"/>
            <p:cNvCxnSpPr>
              <a:stCxn id="677" idx="2"/>
              <a:endCxn id="689"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695" name="Google Shape;695;p54"/>
            <p:cNvCxnSpPr>
              <a:stCxn id="677" idx="2"/>
              <a:endCxn id="688"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696" name="Google Shape;696;p54"/>
            <p:cNvCxnSpPr>
              <a:stCxn id="676" idx="2"/>
              <a:endCxn id="684"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697" name="Google Shape;697;p54"/>
            <p:cNvCxnSpPr>
              <a:stCxn id="676" idx="2"/>
              <a:endCxn id="686"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698" name="Google Shape;698;p54"/>
            <p:cNvCxnSpPr>
              <a:stCxn id="676" idx="2"/>
              <a:endCxn id="685"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699" name="Google Shape;699;p54"/>
          <p:cNvGrpSpPr/>
          <p:nvPr/>
        </p:nvGrpSpPr>
        <p:grpSpPr>
          <a:xfrm>
            <a:off x="231675" y="3888500"/>
            <a:ext cx="1730502" cy="900207"/>
            <a:chOff x="231675" y="1622000"/>
            <a:chExt cx="1730502" cy="900207"/>
          </a:xfrm>
        </p:grpSpPr>
        <p:sp>
          <p:nvSpPr>
            <p:cNvPr id="700" name="Google Shape;700;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01" name="Google Shape;701;p54"/>
            <p:cNvSpPr/>
            <p:nvPr/>
          </p:nvSpPr>
          <p:spPr>
            <a:xfrm>
              <a:off x="453565"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02" name="Google Shape;702;p54"/>
            <p:cNvSpPr/>
            <p:nvPr/>
          </p:nvSpPr>
          <p:spPr>
            <a:xfrm>
              <a:off x="998390"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03" name="Google Shape;703;p54"/>
            <p:cNvSpPr/>
            <p:nvPr/>
          </p:nvSpPr>
          <p:spPr>
            <a:xfrm>
              <a:off x="1543214"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704" name="Google Shape;704;p54"/>
            <p:cNvCxnSpPr>
              <a:stCxn id="700" idx="2"/>
              <a:endCxn id="701"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705" name="Google Shape;705;p54"/>
            <p:cNvCxnSpPr>
              <a:stCxn id="700" idx="2"/>
              <a:endCxn id="702"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706" name="Google Shape;706;p54"/>
            <p:cNvCxnSpPr>
              <a:stCxn id="700" idx="2"/>
              <a:endCxn id="703"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707" name="Google Shape;707;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08" name="Google Shape;708;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09" name="Google Shape;709;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10" name="Google Shape;710;p54"/>
            <p:cNvSpPr/>
            <p:nvPr/>
          </p:nvSpPr>
          <p:spPr>
            <a:xfrm>
              <a:off x="776499" y="2225082"/>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11" name="Google Shape;711;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12" name="Google Shape;712;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13" name="Google Shape;713;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14" name="Google Shape;714;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15" name="Google Shape;715;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716" name="Google Shape;716;p54"/>
            <p:cNvCxnSpPr>
              <a:stCxn id="701" idx="2"/>
              <a:endCxn id="707"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717" name="Google Shape;717;p54"/>
            <p:cNvCxnSpPr>
              <a:stCxn id="701" idx="2"/>
              <a:endCxn id="709"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718" name="Google Shape;718;p54"/>
            <p:cNvCxnSpPr>
              <a:stCxn id="701" idx="2"/>
              <a:endCxn id="708"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719" name="Google Shape;719;p54"/>
            <p:cNvCxnSpPr>
              <a:stCxn id="703" idx="2"/>
              <a:endCxn id="713"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720" name="Google Shape;720;p54"/>
            <p:cNvCxnSpPr>
              <a:stCxn id="703" idx="2"/>
              <a:endCxn id="715"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721" name="Google Shape;721;p54"/>
            <p:cNvCxnSpPr>
              <a:stCxn id="703" idx="2"/>
              <a:endCxn id="714"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722" name="Google Shape;722;p54"/>
            <p:cNvCxnSpPr>
              <a:stCxn id="702" idx="2"/>
              <a:endCxn id="710"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723" name="Google Shape;723;p54"/>
            <p:cNvCxnSpPr>
              <a:stCxn id="702" idx="2"/>
              <a:endCxn id="712"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724" name="Google Shape;724;p54"/>
            <p:cNvCxnSpPr>
              <a:stCxn id="702" idx="2"/>
              <a:endCxn id="711"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725" name="Google Shape;725;p54"/>
          <p:cNvGrpSpPr/>
          <p:nvPr/>
        </p:nvGrpSpPr>
        <p:grpSpPr>
          <a:xfrm>
            <a:off x="2225275" y="3888500"/>
            <a:ext cx="1730502" cy="900207"/>
            <a:chOff x="231675" y="1622000"/>
            <a:chExt cx="1730502" cy="900207"/>
          </a:xfrm>
        </p:grpSpPr>
        <p:sp>
          <p:nvSpPr>
            <p:cNvPr id="726" name="Google Shape;726;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27" name="Google Shape;727;p54"/>
            <p:cNvSpPr/>
            <p:nvPr/>
          </p:nvSpPr>
          <p:spPr>
            <a:xfrm>
              <a:off x="453565"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28" name="Google Shape;728;p54"/>
            <p:cNvSpPr/>
            <p:nvPr/>
          </p:nvSpPr>
          <p:spPr>
            <a:xfrm>
              <a:off x="998390"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29" name="Google Shape;729;p54"/>
            <p:cNvSpPr/>
            <p:nvPr/>
          </p:nvSpPr>
          <p:spPr>
            <a:xfrm>
              <a:off x="1543214"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730" name="Google Shape;730;p54"/>
            <p:cNvCxnSpPr>
              <a:stCxn id="726" idx="2"/>
              <a:endCxn id="727"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731" name="Google Shape;731;p54"/>
            <p:cNvCxnSpPr>
              <a:stCxn id="726" idx="2"/>
              <a:endCxn id="728"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732" name="Google Shape;732;p54"/>
            <p:cNvCxnSpPr>
              <a:stCxn id="726" idx="2"/>
              <a:endCxn id="729"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733" name="Google Shape;733;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34" name="Google Shape;734;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35" name="Google Shape;735;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36" name="Google Shape;736;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37" name="Google Shape;737;p54"/>
            <p:cNvSpPr/>
            <p:nvPr/>
          </p:nvSpPr>
          <p:spPr>
            <a:xfrm>
              <a:off x="1238853" y="2225082"/>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38" name="Google Shape;738;p54"/>
            <p:cNvSpPr/>
            <p:nvPr/>
          </p:nvSpPr>
          <p:spPr>
            <a:xfrm>
              <a:off x="1007676"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39" name="Google Shape;739;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40" name="Google Shape;740;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41" name="Google Shape;741;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742" name="Google Shape;742;p54"/>
            <p:cNvCxnSpPr>
              <a:stCxn id="727" idx="2"/>
              <a:endCxn id="733"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743" name="Google Shape;743;p54"/>
            <p:cNvCxnSpPr>
              <a:stCxn id="727" idx="2"/>
              <a:endCxn id="735"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744" name="Google Shape;744;p54"/>
            <p:cNvCxnSpPr>
              <a:stCxn id="727" idx="2"/>
              <a:endCxn id="734"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745" name="Google Shape;745;p54"/>
            <p:cNvCxnSpPr>
              <a:stCxn id="729" idx="2"/>
              <a:endCxn id="739"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746" name="Google Shape;746;p54"/>
            <p:cNvCxnSpPr>
              <a:stCxn id="729" idx="2"/>
              <a:endCxn id="741"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747" name="Google Shape;747;p54"/>
            <p:cNvCxnSpPr>
              <a:stCxn id="729" idx="2"/>
              <a:endCxn id="740"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748" name="Google Shape;748;p54"/>
            <p:cNvCxnSpPr>
              <a:stCxn id="728" idx="2"/>
              <a:endCxn id="736"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749" name="Google Shape;749;p54"/>
            <p:cNvCxnSpPr>
              <a:stCxn id="728" idx="2"/>
              <a:endCxn id="738"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750" name="Google Shape;750;p54"/>
            <p:cNvCxnSpPr>
              <a:stCxn id="728" idx="2"/>
              <a:endCxn id="737"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grpSp>
        <p:nvGrpSpPr>
          <p:cNvPr id="751" name="Google Shape;751;p54"/>
          <p:cNvGrpSpPr/>
          <p:nvPr/>
        </p:nvGrpSpPr>
        <p:grpSpPr>
          <a:xfrm>
            <a:off x="4218875" y="3888500"/>
            <a:ext cx="1730502" cy="900207"/>
            <a:chOff x="231675" y="1622000"/>
            <a:chExt cx="1730502" cy="900207"/>
          </a:xfrm>
        </p:grpSpPr>
        <p:sp>
          <p:nvSpPr>
            <p:cNvPr id="752" name="Google Shape;752;p54"/>
            <p:cNvSpPr/>
            <p:nvPr/>
          </p:nvSpPr>
          <p:spPr>
            <a:xfrm>
              <a:off x="948081" y="1622000"/>
              <a:ext cx="297900" cy="1245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53" name="Google Shape;753;p54"/>
            <p:cNvSpPr/>
            <p:nvPr/>
          </p:nvSpPr>
          <p:spPr>
            <a:xfrm>
              <a:off x="453565"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54" name="Google Shape;754;p54"/>
            <p:cNvSpPr/>
            <p:nvPr/>
          </p:nvSpPr>
          <p:spPr>
            <a:xfrm>
              <a:off x="998390" y="1926490"/>
              <a:ext cx="197100" cy="144600"/>
            </a:xfrm>
            <a:prstGeom prst="rect">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sp>
          <p:nvSpPr>
            <p:cNvPr id="755" name="Google Shape;755;p54"/>
            <p:cNvSpPr/>
            <p:nvPr/>
          </p:nvSpPr>
          <p:spPr>
            <a:xfrm>
              <a:off x="1543214" y="1926490"/>
              <a:ext cx="197100" cy="1446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00"/>
            </a:p>
          </p:txBody>
        </p:sp>
        <p:cxnSp>
          <p:nvCxnSpPr>
            <p:cNvPr id="756" name="Google Shape;756;p54"/>
            <p:cNvCxnSpPr>
              <a:stCxn id="752" idx="2"/>
              <a:endCxn id="753" idx="0"/>
            </p:cNvCxnSpPr>
            <p:nvPr/>
          </p:nvCxnSpPr>
          <p:spPr>
            <a:xfrm flipH="1">
              <a:off x="552231" y="1746500"/>
              <a:ext cx="544800" cy="180000"/>
            </a:xfrm>
            <a:prstGeom prst="straightConnector1">
              <a:avLst/>
            </a:prstGeom>
            <a:noFill/>
            <a:ln cap="flat" cmpd="sng" w="19050">
              <a:solidFill>
                <a:srgbClr val="FF0000"/>
              </a:solidFill>
              <a:prstDash val="solid"/>
              <a:round/>
              <a:headEnd len="med" w="med" type="none"/>
              <a:tailEnd len="med" w="med" type="none"/>
            </a:ln>
          </p:spPr>
        </p:cxnSp>
        <p:cxnSp>
          <p:nvCxnSpPr>
            <p:cNvPr id="757" name="Google Shape;757;p54"/>
            <p:cNvCxnSpPr>
              <a:stCxn id="752" idx="2"/>
              <a:endCxn id="754" idx="0"/>
            </p:cNvCxnSpPr>
            <p:nvPr/>
          </p:nvCxnSpPr>
          <p:spPr>
            <a:xfrm>
              <a:off x="1097031" y="1746500"/>
              <a:ext cx="0" cy="180000"/>
            </a:xfrm>
            <a:prstGeom prst="straightConnector1">
              <a:avLst/>
            </a:prstGeom>
            <a:noFill/>
            <a:ln cap="flat" cmpd="sng" w="19050">
              <a:solidFill>
                <a:schemeClr val="dk2"/>
              </a:solidFill>
              <a:prstDash val="solid"/>
              <a:round/>
              <a:headEnd len="med" w="med" type="none"/>
              <a:tailEnd len="med" w="med" type="none"/>
            </a:ln>
          </p:spPr>
        </p:cxnSp>
        <p:cxnSp>
          <p:nvCxnSpPr>
            <p:cNvPr id="758" name="Google Shape;758;p54"/>
            <p:cNvCxnSpPr>
              <a:stCxn id="752" idx="2"/>
              <a:endCxn id="755" idx="0"/>
            </p:cNvCxnSpPr>
            <p:nvPr/>
          </p:nvCxnSpPr>
          <p:spPr>
            <a:xfrm>
              <a:off x="1097031" y="1746500"/>
              <a:ext cx="544800" cy="180000"/>
            </a:xfrm>
            <a:prstGeom prst="straightConnector1">
              <a:avLst/>
            </a:prstGeom>
            <a:noFill/>
            <a:ln cap="flat" cmpd="sng" w="19050">
              <a:solidFill>
                <a:srgbClr val="0000FF"/>
              </a:solidFill>
              <a:prstDash val="solid"/>
              <a:round/>
              <a:headEnd len="med" w="med" type="none"/>
              <a:tailEnd len="med" w="med" type="none"/>
            </a:ln>
          </p:spPr>
        </p:cxnSp>
        <p:sp>
          <p:nvSpPr>
            <p:cNvPr id="759" name="Google Shape;759;p54"/>
            <p:cNvSpPr/>
            <p:nvPr/>
          </p:nvSpPr>
          <p:spPr>
            <a:xfrm>
              <a:off x="231675"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0" name="Google Shape;760;p54"/>
            <p:cNvSpPr/>
            <p:nvPr/>
          </p:nvSpPr>
          <p:spPr>
            <a:xfrm>
              <a:off x="694029"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1" name="Google Shape;761;p54"/>
            <p:cNvSpPr/>
            <p:nvPr/>
          </p:nvSpPr>
          <p:spPr>
            <a:xfrm>
              <a:off x="462852"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2" name="Google Shape;762;p54"/>
            <p:cNvSpPr/>
            <p:nvPr/>
          </p:nvSpPr>
          <p:spPr>
            <a:xfrm>
              <a:off x="776499"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3" name="Google Shape;763;p54"/>
            <p:cNvSpPr/>
            <p:nvPr/>
          </p:nvSpPr>
          <p:spPr>
            <a:xfrm>
              <a:off x="1238853" y="2225082"/>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4" name="Google Shape;764;p54"/>
            <p:cNvSpPr/>
            <p:nvPr/>
          </p:nvSpPr>
          <p:spPr>
            <a:xfrm>
              <a:off x="1007676" y="2225082"/>
              <a:ext cx="178500" cy="124500"/>
            </a:xfrm>
            <a:prstGeom prst="roundRect">
              <a:avLst>
                <a:gd fmla="val 16667" name="adj"/>
              </a:avLst>
            </a:prstGeom>
            <a:solidFill>
              <a:srgbClr val="FF0000"/>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5" name="Google Shape;765;p54"/>
            <p:cNvSpPr/>
            <p:nvPr/>
          </p:nvSpPr>
          <p:spPr>
            <a:xfrm>
              <a:off x="1321323"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6" name="Google Shape;766;p54"/>
            <p:cNvSpPr/>
            <p:nvPr/>
          </p:nvSpPr>
          <p:spPr>
            <a:xfrm>
              <a:off x="1783677"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sp>
          <p:nvSpPr>
            <p:cNvPr id="767" name="Google Shape;767;p54"/>
            <p:cNvSpPr/>
            <p:nvPr/>
          </p:nvSpPr>
          <p:spPr>
            <a:xfrm>
              <a:off x="1552500" y="2397707"/>
              <a:ext cx="178500" cy="1245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200"/>
            </a:p>
          </p:txBody>
        </p:sp>
        <p:cxnSp>
          <p:nvCxnSpPr>
            <p:cNvPr id="768" name="Google Shape;768;p54"/>
            <p:cNvCxnSpPr>
              <a:stCxn id="753" idx="2"/>
              <a:endCxn id="759" idx="0"/>
            </p:cNvCxnSpPr>
            <p:nvPr/>
          </p:nvCxnSpPr>
          <p:spPr>
            <a:xfrm flipH="1">
              <a:off x="320815"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769" name="Google Shape;769;p54"/>
            <p:cNvCxnSpPr>
              <a:stCxn id="753" idx="2"/>
              <a:endCxn id="761" idx="0"/>
            </p:cNvCxnSpPr>
            <p:nvPr/>
          </p:nvCxnSpPr>
          <p:spPr>
            <a:xfrm>
              <a:off x="552115"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770" name="Google Shape;770;p54"/>
            <p:cNvCxnSpPr>
              <a:stCxn id="753" idx="2"/>
              <a:endCxn id="760" idx="0"/>
            </p:cNvCxnSpPr>
            <p:nvPr/>
          </p:nvCxnSpPr>
          <p:spPr>
            <a:xfrm>
              <a:off x="552115"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771" name="Google Shape;771;p54"/>
            <p:cNvCxnSpPr>
              <a:stCxn id="755" idx="2"/>
              <a:endCxn id="765" idx="0"/>
            </p:cNvCxnSpPr>
            <p:nvPr/>
          </p:nvCxnSpPr>
          <p:spPr>
            <a:xfrm flipH="1">
              <a:off x="1410464" y="2071090"/>
              <a:ext cx="231300" cy="326700"/>
            </a:xfrm>
            <a:prstGeom prst="straightConnector1">
              <a:avLst/>
            </a:prstGeom>
            <a:noFill/>
            <a:ln cap="flat" cmpd="sng" w="19050">
              <a:solidFill>
                <a:srgbClr val="FF0000"/>
              </a:solidFill>
              <a:prstDash val="solid"/>
              <a:round/>
              <a:headEnd len="med" w="med" type="none"/>
              <a:tailEnd len="med" w="med" type="none"/>
            </a:ln>
          </p:spPr>
        </p:cxnSp>
        <p:cxnSp>
          <p:nvCxnSpPr>
            <p:cNvPr id="772" name="Google Shape;772;p54"/>
            <p:cNvCxnSpPr>
              <a:stCxn id="755" idx="2"/>
              <a:endCxn id="767" idx="0"/>
            </p:cNvCxnSpPr>
            <p:nvPr/>
          </p:nvCxnSpPr>
          <p:spPr>
            <a:xfrm>
              <a:off x="1641764" y="2071090"/>
              <a:ext cx="0" cy="326700"/>
            </a:xfrm>
            <a:prstGeom prst="straightConnector1">
              <a:avLst/>
            </a:prstGeom>
            <a:noFill/>
            <a:ln cap="flat" cmpd="sng" w="19050">
              <a:solidFill>
                <a:schemeClr val="dk2"/>
              </a:solidFill>
              <a:prstDash val="solid"/>
              <a:round/>
              <a:headEnd len="med" w="med" type="none"/>
              <a:tailEnd len="med" w="med" type="none"/>
            </a:ln>
          </p:spPr>
        </p:cxnSp>
        <p:cxnSp>
          <p:nvCxnSpPr>
            <p:cNvPr id="773" name="Google Shape;773;p54"/>
            <p:cNvCxnSpPr>
              <a:stCxn id="755" idx="2"/>
              <a:endCxn id="766" idx="0"/>
            </p:cNvCxnSpPr>
            <p:nvPr/>
          </p:nvCxnSpPr>
          <p:spPr>
            <a:xfrm>
              <a:off x="1641764" y="2071090"/>
              <a:ext cx="231300" cy="326700"/>
            </a:xfrm>
            <a:prstGeom prst="straightConnector1">
              <a:avLst/>
            </a:prstGeom>
            <a:noFill/>
            <a:ln cap="flat" cmpd="sng" w="19050">
              <a:solidFill>
                <a:srgbClr val="0000FF"/>
              </a:solidFill>
              <a:prstDash val="solid"/>
              <a:round/>
              <a:headEnd len="med" w="med" type="none"/>
              <a:tailEnd len="med" w="med" type="none"/>
            </a:ln>
          </p:spPr>
        </p:cxnSp>
        <p:cxnSp>
          <p:nvCxnSpPr>
            <p:cNvPr id="774" name="Google Shape;774;p54"/>
            <p:cNvCxnSpPr>
              <a:stCxn id="754" idx="2"/>
              <a:endCxn id="762" idx="0"/>
            </p:cNvCxnSpPr>
            <p:nvPr/>
          </p:nvCxnSpPr>
          <p:spPr>
            <a:xfrm flipH="1">
              <a:off x="865640" y="2071090"/>
              <a:ext cx="231300" cy="153900"/>
            </a:xfrm>
            <a:prstGeom prst="straightConnector1">
              <a:avLst/>
            </a:prstGeom>
            <a:noFill/>
            <a:ln cap="flat" cmpd="sng" w="19050">
              <a:solidFill>
                <a:srgbClr val="FF0000"/>
              </a:solidFill>
              <a:prstDash val="solid"/>
              <a:round/>
              <a:headEnd len="med" w="med" type="none"/>
              <a:tailEnd len="med" w="med" type="none"/>
            </a:ln>
          </p:spPr>
        </p:cxnSp>
        <p:cxnSp>
          <p:nvCxnSpPr>
            <p:cNvPr id="775" name="Google Shape;775;p54"/>
            <p:cNvCxnSpPr>
              <a:stCxn id="754" idx="2"/>
              <a:endCxn id="764" idx="0"/>
            </p:cNvCxnSpPr>
            <p:nvPr/>
          </p:nvCxnSpPr>
          <p:spPr>
            <a:xfrm>
              <a:off x="1096940" y="2071090"/>
              <a:ext cx="0" cy="153900"/>
            </a:xfrm>
            <a:prstGeom prst="straightConnector1">
              <a:avLst/>
            </a:prstGeom>
            <a:noFill/>
            <a:ln cap="flat" cmpd="sng" w="19050">
              <a:solidFill>
                <a:schemeClr val="dk2"/>
              </a:solidFill>
              <a:prstDash val="solid"/>
              <a:round/>
              <a:headEnd len="med" w="med" type="none"/>
              <a:tailEnd len="med" w="med" type="none"/>
            </a:ln>
          </p:spPr>
        </p:cxnSp>
        <p:cxnSp>
          <p:nvCxnSpPr>
            <p:cNvPr id="776" name="Google Shape;776;p54"/>
            <p:cNvCxnSpPr>
              <a:stCxn id="754" idx="2"/>
              <a:endCxn id="763" idx="0"/>
            </p:cNvCxnSpPr>
            <p:nvPr/>
          </p:nvCxnSpPr>
          <p:spPr>
            <a:xfrm>
              <a:off x="1096940" y="2071090"/>
              <a:ext cx="231300" cy="153900"/>
            </a:xfrm>
            <a:prstGeom prst="straightConnector1">
              <a:avLst/>
            </a:prstGeom>
            <a:noFill/>
            <a:ln cap="flat" cmpd="sng" w="19050">
              <a:solidFill>
                <a:srgbClr val="0000FF"/>
              </a:solidFill>
              <a:prstDash val="solid"/>
              <a:round/>
              <a:headEnd len="med" w="med" type="none"/>
              <a:tailEnd len="med" w="med" type="none"/>
            </a:ln>
          </p:spPr>
        </p:cxnSp>
      </p:gr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0" name="Shape 780"/>
        <p:cNvGrpSpPr/>
        <p:nvPr/>
      </p:nvGrpSpPr>
      <p:grpSpPr>
        <a:xfrm>
          <a:off x="0" y="0"/>
          <a:ext cx="0" cy="0"/>
          <a:chOff x="0" y="0"/>
          <a:chExt cx="0" cy="0"/>
        </a:xfrm>
      </p:grpSpPr>
      <p:sp>
        <p:nvSpPr>
          <p:cNvPr id="781" name="Google Shape;781;p5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9 Coins: Validation</a:t>
            </a:r>
            <a:endParaRPr/>
          </a:p>
        </p:txBody>
      </p:sp>
      <p:sp>
        <p:nvSpPr>
          <p:cNvPr id="782" name="Google Shape;782;p55"/>
          <p:cNvSpPr txBox="1"/>
          <p:nvPr>
            <p:ph idx="1" type="body"/>
          </p:nvPr>
        </p:nvSpPr>
        <p:spPr>
          <a:xfrm>
            <a:off x="107050" y="402200"/>
            <a:ext cx="8520600" cy="11772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To verify that our scheme works, let's check every single case.</a:t>
            </a:r>
            <a:endParaRPr/>
          </a:p>
          <a:p>
            <a:pPr indent="0" lvl="0" marL="0" rtl="0" algn="l">
              <a:spcBef>
                <a:spcPts val="600"/>
              </a:spcBef>
              <a:spcAft>
                <a:spcPts val="0"/>
              </a:spcAft>
              <a:buNone/>
            </a:pPr>
            <a:r>
              <a:rPr lang="en"/>
              <a:t>There are nine "universes" that we could start in (1 is counterfeit, 2 is counterfeit, etc.). We can verify that in each universe, we yield the correct result</a:t>
            </a:r>
            <a:endParaRPr/>
          </a:p>
        </p:txBody>
      </p:sp>
      <p:pic>
        <p:nvPicPr>
          <p:cNvPr id="783" name="Google Shape;783;p55"/>
          <p:cNvPicPr preferRelativeResize="0"/>
          <p:nvPr/>
        </p:nvPicPr>
        <p:blipFill>
          <a:blip r:embed="rId3">
            <a:alphaModFix/>
          </a:blip>
          <a:stretch>
            <a:fillRect/>
          </a:stretch>
        </p:blipFill>
        <p:spPr>
          <a:xfrm>
            <a:off x="7081474" y="3143674"/>
            <a:ext cx="2051075" cy="1774176"/>
          </a:xfrm>
          <a:prstGeom prst="rect">
            <a:avLst/>
          </a:prstGeom>
          <a:noFill/>
          <a:ln>
            <a:noFill/>
          </a:ln>
        </p:spPr>
      </p:pic>
      <p:sp>
        <p:nvSpPr>
          <p:cNvPr id="784" name="Google Shape;784;p55"/>
          <p:cNvSpPr/>
          <p:nvPr/>
        </p:nvSpPr>
        <p:spPr>
          <a:xfrm>
            <a:off x="518750" y="19160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fake</a:t>
            </a:r>
            <a:endParaRPr/>
          </a:p>
        </p:txBody>
      </p:sp>
      <p:sp>
        <p:nvSpPr>
          <p:cNvPr id="785" name="Google Shape;785;p55"/>
          <p:cNvSpPr/>
          <p:nvPr/>
        </p:nvSpPr>
        <p:spPr>
          <a:xfrm>
            <a:off x="2600075" y="19160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2</a:t>
            </a:r>
            <a:r>
              <a:rPr lang="en"/>
              <a:t> fake</a:t>
            </a:r>
            <a:endParaRPr/>
          </a:p>
        </p:txBody>
      </p:sp>
      <p:sp>
        <p:nvSpPr>
          <p:cNvPr id="786" name="Google Shape;786;p55"/>
          <p:cNvSpPr/>
          <p:nvPr/>
        </p:nvSpPr>
        <p:spPr>
          <a:xfrm>
            <a:off x="4681400" y="19160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3</a:t>
            </a:r>
            <a:r>
              <a:rPr lang="en"/>
              <a:t> fake</a:t>
            </a:r>
            <a:endParaRPr/>
          </a:p>
        </p:txBody>
      </p:sp>
      <p:sp>
        <p:nvSpPr>
          <p:cNvPr id="787" name="Google Shape;787;p55"/>
          <p:cNvSpPr/>
          <p:nvPr/>
        </p:nvSpPr>
        <p:spPr>
          <a:xfrm>
            <a:off x="518750" y="30165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4</a:t>
            </a:r>
            <a:r>
              <a:rPr lang="en"/>
              <a:t> fake</a:t>
            </a:r>
            <a:endParaRPr/>
          </a:p>
        </p:txBody>
      </p:sp>
      <p:sp>
        <p:nvSpPr>
          <p:cNvPr id="788" name="Google Shape;788;p55"/>
          <p:cNvSpPr/>
          <p:nvPr/>
        </p:nvSpPr>
        <p:spPr>
          <a:xfrm>
            <a:off x="2600075" y="30165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5</a:t>
            </a:r>
            <a:r>
              <a:rPr lang="en"/>
              <a:t> fake</a:t>
            </a:r>
            <a:endParaRPr/>
          </a:p>
        </p:txBody>
      </p:sp>
      <p:sp>
        <p:nvSpPr>
          <p:cNvPr id="789" name="Google Shape;789;p55"/>
          <p:cNvSpPr/>
          <p:nvPr/>
        </p:nvSpPr>
        <p:spPr>
          <a:xfrm>
            <a:off x="4681400" y="30165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6</a:t>
            </a:r>
            <a:r>
              <a:rPr lang="en"/>
              <a:t> fake</a:t>
            </a:r>
            <a:endParaRPr/>
          </a:p>
        </p:txBody>
      </p:sp>
      <p:sp>
        <p:nvSpPr>
          <p:cNvPr id="790" name="Google Shape;790;p55"/>
          <p:cNvSpPr/>
          <p:nvPr/>
        </p:nvSpPr>
        <p:spPr>
          <a:xfrm>
            <a:off x="518750" y="411700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7</a:t>
            </a:r>
            <a:r>
              <a:rPr lang="en"/>
              <a:t> fake</a:t>
            </a:r>
            <a:endParaRPr/>
          </a:p>
        </p:txBody>
      </p:sp>
      <p:sp>
        <p:nvSpPr>
          <p:cNvPr id="791" name="Google Shape;791;p55"/>
          <p:cNvSpPr/>
          <p:nvPr/>
        </p:nvSpPr>
        <p:spPr>
          <a:xfrm>
            <a:off x="2600075" y="411700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a:t>
            </a:r>
            <a:r>
              <a:rPr lang="en"/>
              <a:t> fake</a:t>
            </a:r>
            <a:endParaRPr/>
          </a:p>
        </p:txBody>
      </p:sp>
      <p:sp>
        <p:nvSpPr>
          <p:cNvPr id="792" name="Google Shape;792;p55"/>
          <p:cNvSpPr/>
          <p:nvPr/>
        </p:nvSpPr>
        <p:spPr>
          <a:xfrm>
            <a:off x="4681400" y="411700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a:t>
            </a:r>
            <a:r>
              <a:rPr lang="en"/>
              <a:t> fake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5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10</a:t>
            </a:r>
            <a:r>
              <a:rPr lang="en"/>
              <a:t> Coins</a:t>
            </a:r>
            <a:endParaRPr/>
          </a:p>
        </p:txBody>
      </p:sp>
      <p:sp>
        <p:nvSpPr>
          <p:cNvPr id="798" name="Google Shape;798;p5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With 9 coins, we can find the counterfeit coin in 2 weighings.</a:t>
            </a:r>
            <a:endParaRPr/>
          </a:p>
          <a:p>
            <a:pPr indent="0" lvl="0" marL="0" rtl="0" algn="l">
              <a:spcBef>
                <a:spcPts val="600"/>
              </a:spcBef>
              <a:spcAft>
                <a:spcPts val="0"/>
              </a:spcAft>
              <a:buNone/>
            </a:pPr>
            <a:r>
              <a:rPr lang="en"/>
              <a:t>Question: Can we do this with 10 coins?</a:t>
            </a:r>
            <a:endParaRPr/>
          </a:p>
        </p:txBody>
      </p:sp>
      <p:pic>
        <p:nvPicPr>
          <p:cNvPr id="799" name="Google Shape;799;p56"/>
          <p:cNvPicPr preferRelativeResize="0"/>
          <p:nvPr/>
        </p:nvPicPr>
        <p:blipFill>
          <a:blip r:embed="rId3">
            <a:alphaModFix/>
          </a:blip>
          <a:stretch>
            <a:fillRect/>
          </a:stretch>
        </p:blipFill>
        <p:spPr>
          <a:xfrm>
            <a:off x="7081474" y="3143674"/>
            <a:ext cx="2051075" cy="1774176"/>
          </a:xfrm>
          <a:prstGeom prst="rect">
            <a:avLst/>
          </a:prstGeom>
          <a:noFill/>
          <a:ln>
            <a:noFill/>
          </a:ln>
        </p:spPr>
      </p:pic>
      <p:sp>
        <p:nvSpPr>
          <p:cNvPr id="800" name="Google Shape;800;p56"/>
          <p:cNvSpPr/>
          <p:nvPr/>
        </p:nvSpPr>
        <p:spPr>
          <a:xfrm>
            <a:off x="4798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801" name="Google Shape;801;p56"/>
          <p:cNvSpPr/>
          <p:nvPr/>
        </p:nvSpPr>
        <p:spPr>
          <a:xfrm>
            <a:off x="11172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802" name="Google Shape;802;p56"/>
          <p:cNvSpPr/>
          <p:nvPr/>
        </p:nvSpPr>
        <p:spPr>
          <a:xfrm>
            <a:off x="17546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803" name="Google Shape;803;p56"/>
          <p:cNvSpPr/>
          <p:nvPr/>
        </p:nvSpPr>
        <p:spPr>
          <a:xfrm>
            <a:off x="23832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804" name="Google Shape;804;p56"/>
          <p:cNvSpPr/>
          <p:nvPr/>
        </p:nvSpPr>
        <p:spPr>
          <a:xfrm>
            <a:off x="30206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805" name="Google Shape;805;p56"/>
          <p:cNvSpPr/>
          <p:nvPr/>
        </p:nvSpPr>
        <p:spPr>
          <a:xfrm>
            <a:off x="36580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806" name="Google Shape;806;p56"/>
          <p:cNvSpPr/>
          <p:nvPr/>
        </p:nvSpPr>
        <p:spPr>
          <a:xfrm>
            <a:off x="42865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807" name="Google Shape;807;p56"/>
          <p:cNvSpPr/>
          <p:nvPr/>
        </p:nvSpPr>
        <p:spPr>
          <a:xfrm>
            <a:off x="49239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808" name="Google Shape;808;p56"/>
          <p:cNvSpPr/>
          <p:nvPr/>
        </p:nvSpPr>
        <p:spPr>
          <a:xfrm>
            <a:off x="55613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
        <p:nvSpPr>
          <p:cNvPr id="809" name="Google Shape;809;p56"/>
          <p:cNvSpPr/>
          <p:nvPr/>
        </p:nvSpPr>
        <p:spPr>
          <a:xfrm>
            <a:off x="61987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10</a:t>
            </a:r>
            <a:endParaRPr sz="1100">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3" name="Shape 813"/>
        <p:cNvGrpSpPr/>
        <p:nvPr/>
      </p:nvGrpSpPr>
      <p:grpSpPr>
        <a:xfrm>
          <a:off x="0" y="0"/>
          <a:ext cx="0" cy="0"/>
          <a:chOff x="0" y="0"/>
          <a:chExt cx="0" cy="0"/>
        </a:xfrm>
      </p:grpSpPr>
      <p:sp>
        <p:nvSpPr>
          <p:cNvPr id="814" name="Google Shape;814;p5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10</a:t>
            </a:r>
            <a:r>
              <a:rPr lang="en"/>
              <a:t> Coins: Proof of impossibility</a:t>
            </a:r>
            <a:endParaRPr/>
          </a:p>
        </p:txBody>
      </p:sp>
      <p:sp>
        <p:nvSpPr>
          <p:cNvPr id="815" name="Google Shape;815;p57"/>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No: With a two-layer decision tree, we have at most 9 leaves, but there are 10 possible universes.</a:t>
            </a:r>
            <a:endParaRPr/>
          </a:p>
        </p:txBody>
      </p:sp>
      <p:sp>
        <p:nvSpPr>
          <p:cNvPr id="816" name="Google Shape;816;p57"/>
          <p:cNvSpPr/>
          <p:nvPr/>
        </p:nvSpPr>
        <p:spPr>
          <a:xfrm>
            <a:off x="3649350" y="985200"/>
            <a:ext cx="12219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57"/>
          <p:cNvSpPr/>
          <p:nvPr/>
        </p:nvSpPr>
        <p:spPr>
          <a:xfrm>
            <a:off x="162050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57"/>
          <p:cNvSpPr/>
          <p:nvPr/>
        </p:nvSpPr>
        <p:spPr>
          <a:xfrm>
            <a:off x="385575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57"/>
          <p:cNvSpPr/>
          <p:nvPr/>
        </p:nvSpPr>
        <p:spPr>
          <a:xfrm>
            <a:off x="609100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20" name="Google Shape;820;p57"/>
          <p:cNvCxnSpPr>
            <a:stCxn id="816" idx="2"/>
            <a:endCxn id="817" idx="0"/>
          </p:cNvCxnSpPr>
          <p:nvPr/>
        </p:nvCxnSpPr>
        <p:spPr>
          <a:xfrm flipH="1">
            <a:off x="2025000" y="1495500"/>
            <a:ext cx="2235300" cy="512700"/>
          </a:xfrm>
          <a:prstGeom prst="straightConnector1">
            <a:avLst/>
          </a:prstGeom>
          <a:noFill/>
          <a:ln cap="flat" cmpd="sng" w="38100">
            <a:solidFill>
              <a:srgbClr val="FF0000"/>
            </a:solidFill>
            <a:prstDash val="solid"/>
            <a:round/>
            <a:headEnd len="med" w="med" type="none"/>
            <a:tailEnd len="med" w="med" type="none"/>
          </a:ln>
        </p:spPr>
      </p:cxnSp>
      <p:cxnSp>
        <p:nvCxnSpPr>
          <p:cNvPr id="821" name="Google Shape;821;p57"/>
          <p:cNvCxnSpPr>
            <a:stCxn id="816" idx="2"/>
            <a:endCxn id="818" idx="0"/>
          </p:cNvCxnSpPr>
          <p:nvPr/>
        </p:nvCxnSpPr>
        <p:spPr>
          <a:xfrm>
            <a:off x="4260300" y="1495500"/>
            <a:ext cx="0" cy="512700"/>
          </a:xfrm>
          <a:prstGeom prst="straightConnector1">
            <a:avLst/>
          </a:prstGeom>
          <a:noFill/>
          <a:ln cap="flat" cmpd="sng" w="38100">
            <a:solidFill>
              <a:schemeClr val="dk2"/>
            </a:solidFill>
            <a:prstDash val="solid"/>
            <a:round/>
            <a:headEnd len="med" w="med" type="none"/>
            <a:tailEnd len="med" w="med" type="none"/>
          </a:ln>
        </p:spPr>
      </p:cxnSp>
      <p:cxnSp>
        <p:nvCxnSpPr>
          <p:cNvPr id="822" name="Google Shape;822;p57"/>
          <p:cNvCxnSpPr>
            <a:stCxn id="816" idx="2"/>
            <a:endCxn id="819" idx="0"/>
          </p:cNvCxnSpPr>
          <p:nvPr/>
        </p:nvCxnSpPr>
        <p:spPr>
          <a:xfrm>
            <a:off x="4260300" y="1495500"/>
            <a:ext cx="2235300" cy="512700"/>
          </a:xfrm>
          <a:prstGeom prst="straightConnector1">
            <a:avLst/>
          </a:prstGeom>
          <a:noFill/>
          <a:ln cap="flat" cmpd="sng" w="38100">
            <a:solidFill>
              <a:srgbClr val="0000FF"/>
            </a:solidFill>
            <a:prstDash val="solid"/>
            <a:round/>
            <a:headEnd len="med" w="med" type="none"/>
            <a:tailEnd len="med" w="med" type="none"/>
          </a:ln>
        </p:spPr>
      </p:cxnSp>
      <p:sp>
        <p:nvSpPr>
          <p:cNvPr id="823" name="Google Shape;823;p57"/>
          <p:cNvSpPr txBox="1"/>
          <p:nvPr/>
        </p:nvSpPr>
        <p:spPr>
          <a:xfrm>
            <a:off x="2342075"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&gt;</a:t>
            </a:r>
            <a:endParaRPr/>
          </a:p>
        </p:txBody>
      </p:sp>
      <p:sp>
        <p:nvSpPr>
          <p:cNvPr id="824" name="Google Shape;824;p57"/>
          <p:cNvSpPr txBox="1"/>
          <p:nvPr/>
        </p:nvSpPr>
        <p:spPr>
          <a:xfrm>
            <a:off x="3945750" y="1521088"/>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t>
            </a:r>
            <a:endParaRPr/>
          </a:p>
        </p:txBody>
      </p:sp>
      <p:sp>
        <p:nvSpPr>
          <p:cNvPr id="825" name="Google Shape;825;p57"/>
          <p:cNvSpPr txBox="1"/>
          <p:nvPr/>
        </p:nvSpPr>
        <p:spPr>
          <a:xfrm>
            <a:off x="5718650"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&lt;</a:t>
            </a:r>
            <a:endParaRPr/>
          </a:p>
        </p:txBody>
      </p:sp>
      <p:sp>
        <p:nvSpPr>
          <p:cNvPr id="826" name="Google Shape;826;p57"/>
          <p:cNvSpPr/>
          <p:nvPr/>
        </p:nvSpPr>
        <p:spPr>
          <a:xfrm>
            <a:off x="7101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27" name="Google Shape;827;p57"/>
          <p:cNvSpPr/>
          <p:nvPr/>
        </p:nvSpPr>
        <p:spPr>
          <a:xfrm>
            <a:off x="26070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28" name="Google Shape;828;p57"/>
          <p:cNvSpPr/>
          <p:nvPr/>
        </p:nvSpPr>
        <p:spPr>
          <a:xfrm>
            <a:off x="16586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29" name="Google Shape;829;p57"/>
          <p:cNvSpPr/>
          <p:nvPr/>
        </p:nvSpPr>
        <p:spPr>
          <a:xfrm>
            <a:off x="29454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0" name="Google Shape;830;p57"/>
          <p:cNvSpPr/>
          <p:nvPr/>
        </p:nvSpPr>
        <p:spPr>
          <a:xfrm>
            <a:off x="48423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1" name="Google Shape;831;p57"/>
          <p:cNvSpPr/>
          <p:nvPr/>
        </p:nvSpPr>
        <p:spPr>
          <a:xfrm>
            <a:off x="389385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2" name="Google Shape;832;p57"/>
          <p:cNvSpPr/>
          <p:nvPr/>
        </p:nvSpPr>
        <p:spPr>
          <a:xfrm>
            <a:off x="51806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3" name="Google Shape;833;p57"/>
          <p:cNvSpPr/>
          <p:nvPr/>
        </p:nvSpPr>
        <p:spPr>
          <a:xfrm>
            <a:off x="70775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4" name="Google Shape;834;p57"/>
          <p:cNvSpPr/>
          <p:nvPr/>
        </p:nvSpPr>
        <p:spPr>
          <a:xfrm>
            <a:off x="61291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835" name="Google Shape;835;p57"/>
          <p:cNvCxnSpPr>
            <a:stCxn id="817" idx="2"/>
            <a:endCxn id="826" idx="0"/>
          </p:cNvCxnSpPr>
          <p:nvPr/>
        </p:nvCxnSpPr>
        <p:spPr>
          <a:xfrm flipH="1">
            <a:off x="10764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836" name="Google Shape;836;p57"/>
          <p:cNvCxnSpPr>
            <a:stCxn id="817" idx="2"/>
            <a:endCxn id="828" idx="0"/>
          </p:cNvCxnSpPr>
          <p:nvPr/>
        </p:nvCxnSpPr>
        <p:spPr>
          <a:xfrm>
            <a:off x="20250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837" name="Google Shape;837;p57"/>
          <p:cNvCxnSpPr>
            <a:stCxn id="817" idx="2"/>
            <a:endCxn id="827" idx="0"/>
          </p:cNvCxnSpPr>
          <p:nvPr/>
        </p:nvCxnSpPr>
        <p:spPr>
          <a:xfrm>
            <a:off x="20250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838" name="Google Shape;838;p57"/>
          <p:cNvCxnSpPr>
            <a:stCxn id="819" idx="2"/>
            <a:endCxn id="832" idx="0"/>
          </p:cNvCxnSpPr>
          <p:nvPr/>
        </p:nvCxnSpPr>
        <p:spPr>
          <a:xfrm flipH="1">
            <a:off x="55469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839" name="Google Shape;839;p57"/>
          <p:cNvCxnSpPr>
            <a:stCxn id="819" idx="2"/>
            <a:endCxn id="834" idx="0"/>
          </p:cNvCxnSpPr>
          <p:nvPr/>
        </p:nvCxnSpPr>
        <p:spPr>
          <a:xfrm>
            <a:off x="64955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840" name="Google Shape;840;p57"/>
          <p:cNvCxnSpPr>
            <a:stCxn id="819" idx="2"/>
            <a:endCxn id="833" idx="0"/>
          </p:cNvCxnSpPr>
          <p:nvPr/>
        </p:nvCxnSpPr>
        <p:spPr>
          <a:xfrm>
            <a:off x="64955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841" name="Google Shape;841;p57"/>
          <p:cNvCxnSpPr>
            <a:stCxn id="818" idx="2"/>
            <a:endCxn id="829" idx="0"/>
          </p:cNvCxnSpPr>
          <p:nvPr/>
        </p:nvCxnSpPr>
        <p:spPr>
          <a:xfrm flipH="1">
            <a:off x="3311700" y="2602000"/>
            <a:ext cx="948600" cy="631200"/>
          </a:xfrm>
          <a:prstGeom prst="straightConnector1">
            <a:avLst/>
          </a:prstGeom>
          <a:noFill/>
          <a:ln cap="flat" cmpd="sng" w="38100">
            <a:solidFill>
              <a:srgbClr val="FF0000"/>
            </a:solidFill>
            <a:prstDash val="solid"/>
            <a:round/>
            <a:headEnd len="med" w="med" type="none"/>
            <a:tailEnd len="med" w="med" type="none"/>
          </a:ln>
        </p:spPr>
      </p:cxnSp>
      <p:cxnSp>
        <p:nvCxnSpPr>
          <p:cNvPr id="842" name="Google Shape;842;p57"/>
          <p:cNvCxnSpPr>
            <a:stCxn id="818" idx="2"/>
            <a:endCxn id="831" idx="0"/>
          </p:cNvCxnSpPr>
          <p:nvPr/>
        </p:nvCxnSpPr>
        <p:spPr>
          <a:xfrm>
            <a:off x="4260300" y="2602000"/>
            <a:ext cx="0" cy="631200"/>
          </a:xfrm>
          <a:prstGeom prst="straightConnector1">
            <a:avLst/>
          </a:prstGeom>
          <a:noFill/>
          <a:ln cap="flat" cmpd="sng" w="38100">
            <a:solidFill>
              <a:schemeClr val="dk2"/>
            </a:solidFill>
            <a:prstDash val="solid"/>
            <a:round/>
            <a:headEnd len="med" w="med" type="none"/>
            <a:tailEnd len="med" w="med" type="none"/>
          </a:ln>
        </p:spPr>
      </p:cxnSp>
      <p:cxnSp>
        <p:nvCxnSpPr>
          <p:cNvPr id="843" name="Google Shape;843;p57"/>
          <p:cNvCxnSpPr>
            <a:stCxn id="818" idx="2"/>
            <a:endCxn id="830" idx="0"/>
          </p:cNvCxnSpPr>
          <p:nvPr/>
        </p:nvCxnSpPr>
        <p:spPr>
          <a:xfrm>
            <a:off x="4260300" y="2602000"/>
            <a:ext cx="948600" cy="631200"/>
          </a:xfrm>
          <a:prstGeom prst="straightConnector1">
            <a:avLst/>
          </a:prstGeom>
          <a:noFill/>
          <a:ln cap="flat" cmpd="sng" w="38100">
            <a:solidFill>
              <a:srgbClr val="0000FF"/>
            </a:solidFill>
            <a:prstDash val="solid"/>
            <a:round/>
            <a:headEnd len="med" w="med" type="none"/>
            <a:tailEnd len="med" w="med"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7"/>
                                        </p:tgtEl>
                                        <p:attrNameLst>
                                          <p:attrName>style.visibility</p:attrName>
                                        </p:attrNameLst>
                                      </p:cBhvr>
                                      <p:to>
                                        <p:strVal val="visible"/>
                                      </p:to>
                                    </p:set>
                                    <p:animEffect filter="fade" transition="in">
                                      <p:cBhvr>
                                        <p:cTn dur="1000"/>
                                        <p:tgtEl>
                                          <p:spTgt spid="81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5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10 Coins: Proof of impossibility</a:t>
            </a:r>
            <a:endParaRPr/>
          </a:p>
        </p:txBody>
      </p:sp>
      <p:sp>
        <p:nvSpPr>
          <p:cNvPr id="849" name="Google Shape;849;p58"/>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Therefore, at least one leaf must have two universes that lead there</a:t>
            </a:r>
            <a:endParaRPr/>
          </a:p>
        </p:txBody>
      </p:sp>
      <p:sp>
        <p:nvSpPr>
          <p:cNvPr id="850" name="Google Shape;850;p58"/>
          <p:cNvSpPr/>
          <p:nvPr/>
        </p:nvSpPr>
        <p:spPr>
          <a:xfrm>
            <a:off x="3649350" y="985200"/>
            <a:ext cx="12219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58"/>
          <p:cNvSpPr/>
          <p:nvPr/>
        </p:nvSpPr>
        <p:spPr>
          <a:xfrm>
            <a:off x="162050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58"/>
          <p:cNvSpPr/>
          <p:nvPr/>
        </p:nvSpPr>
        <p:spPr>
          <a:xfrm>
            <a:off x="385575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58"/>
          <p:cNvSpPr/>
          <p:nvPr/>
        </p:nvSpPr>
        <p:spPr>
          <a:xfrm>
            <a:off x="6091000" y="200830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54" name="Google Shape;854;p58"/>
          <p:cNvCxnSpPr>
            <a:stCxn id="850" idx="2"/>
            <a:endCxn id="851" idx="0"/>
          </p:cNvCxnSpPr>
          <p:nvPr/>
        </p:nvCxnSpPr>
        <p:spPr>
          <a:xfrm flipH="1">
            <a:off x="2025000" y="1495500"/>
            <a:ext cx="2235300" cy="512700"/>
          </a:xfrm>
          <a:prstGeom prst="straightConnector1">
            <a:avLst/>
          </a:prstGeom>
          <a:noFill/>
          <a:ln cap="flat" cmpd="sng" w="38100">
            <a:solidFill>
              <a:srgbClr val="FF0000"/>
            </a:solidFill>
            <a:prstDash val="solid"/>
            <a:round/>
            <a:headEnd len="med" w="med" type="none"/>
            <a:tailEnd len="med" w="med" type="none"/>
          </a:ln>
        </p:spPr>
      </p:cxnSp>
      <p:cxnSp>
        <p:nvCxnSpPr>
          <p:cNvPr id="855" name="Google Shape;855;p58"/>
          <p:cNvCxnSpPr>
            <a:stCxn id="850" idx="2"/>
            <a:endCxn id="852" idx="0"/>
          </p:cNvCxnSpPr>
          <p:nvPr/>
        </p:nvCxnSpPr>
        <p:spPr>
          <a:xfrm>
            <a:off x="4260300" y="1495500"/>
            <a:ext cx="0" cy="512700"/>
          </a:xfrm>
          <a:prstGeom prst="straightConnector1">
            <a:avLst/>
          </a:prstGeom>
          <a:noFill/>
          <a:ln cap="flat" cmpd="sng" w="38100">
            <a:solidFill>
              <a:schemeClr val="dk2"/>
            </a:solidFill>
            <a:prstDash val="solid"/>
            <a:round/>
            <a:headEnd len="med" w="med" type="none"/>
            <a:tailEnd len="med" w="med" type="none"/>
          </a:ln>
        </p:spPr>
      </p:cxnSp>
      <p:cxnSp>
        <p:nvCxnSpPr>
          <p:cNvPr id="856" name="Google Shape;856;p58"/>
          <p:cNvCxnSpPr>
            <a:stCxn id="850" idx="2"/>
            <a:endCxn id="853" idx="0"/>
          </p:cNvCxnSpPr>
          <p:nvPr/>
        </p:nvCxnSpPr>
        <p:spPr>
          <a:xfrm>
            <a:off x="4260300" y="1495500"/>
            <a:ext cx="2235300" cy="512700"/>
          </a:xfrm>
          <a:prstGeom prst="straightConnector1">
            <a:avLst/>
          </a:prstGeom>
          <a:noFill/>
          <a:ln cap="flat" cmpd="sng" w="38100">
            <a:solidFill>
              <a:srgbClr val="0000FF"/>
            </a:solidFill>
            <a:prstDash val="solid"/>
            <a:round/>
            <a:headEnd len="med" w="med" type="none"/>
            <a:tailEnd len="med" w="med" type="none"/>
          </a:ln>
        </p:spPr>
      </p:cxnSp>
      <p:sp>
        <p:nvSpPr>
          <p:cNvPr id="857" name="Google Shape;857;p58"/>
          <p:cNvSpPr txBox="1"/>
          <p:nvPr/>
        </p:nvSpPr>
        <p:spPr>
          <a:xfrm>
            <a:off x="2342075"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&gt;</a:t>
            </a:r>
            <a:endParaRPr/>
          </a:p>
        </p:txBody>
      </p:sp>
      <p:sp>
        <p:nvSpPr>
          <p:cNvPr id="858" name="Google Shape;858;p58"/>
          <p:cNvSpPr txBox="1"/>
          <p:nvPr/>
        </p:nvSpPr>
        <p:spPr>
          <a:xfrm>
            <a:off x="3945750" y="1521088"/>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t>
            </a:r>
            <a:endParaRPr/>
          </a:p>
        </p:txBody>
      </p:sp>
      <p:sp>
        <p:nvSpPr>
          <p:cNvPr id="859" name="Google Shape;859;p58"/>
          <p:cNvSpPr txBox="1"/>
          <p:nvPr/>
        </p:nvSpPr>
        <p:spPr>
          <a:xfrm>
            <a:off x="5718650" y="1521063"/>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&lt;</a:t>
            </a:r>
            <a:endParaRPr/>
          </a:p>
        </p:txBody>
      </p:sp>
      <p:sp>
        <p:nvSpPr>
          <p:cNvPr id="860" name="Google Shape;860;p58"/>
          <p:cNvSpPr/>
          <p:nvPr/>
        </p:nvSpPr>
        <p:spPr>
          <a:xfrm>
            <a:off x="7101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1" name="Google Shape;861;p58"/>
          <p:cNvSpPr/>
          <p:nvPr/>
        </p:nvSpPr>
        <p:spPr>
          <a:xfrm>
            <a:off x="26070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2" name="Google Shape;862;p58"/>
          <p:cNvSpPr/>
          <p:nvPr/>
        </p:nvSpPr>
        <p:spPr>
          <a:xfrm>
            <a:off x="16586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3" name="Google Shape;863;p58"/>
          <p:cNvSpPr/>
          <p:nvPr/>
        </p:nvSpPr>
        <p:spPr>
          <a:xfrm>
            <a:off x="29454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4" name="Google Shape;864;p58"/>
          <p:cNvSpPr/>
          <p:nvPr/>
        </p:nvSpPr>
        <p:spPr>
          <a:xfrm>
            <a:off x="484230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5" name="Google Shape;865;p58"/>
          <p:cNvSpPr/>
          <p:nvPr/>
        </p:nvSpPr>
        <p:spPr>
          <a:xfrm>
            <a:off x="3893850" y="323332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6" name="Google Shape;866;p58"/>
          <p:cNvSpPr/>
          <p:nvPr/>
        </p:nvSpPr>
        <p:spPr>
          <a:xfrm>
            <a:off x="51806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7" name="Google Shape;867;p58"/>
          <p:cNvSpPr/>
          <p:nvPr/>
        </p:nvSpPr>
        <p:spPr>
          <a:xfrm>
            <a:off x="707755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68" name="Google Shape;868;p58"/>
          <p:cNvSpPr/>
          <p:nvPr/>
        </p:nvSpPr>
        <p:spPr>
          <a:xfrm>
            <a:off x="6129100" y="394155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869" name="Google Shape;869;p58"/>
          <p:cNvCxnSpPr>
            <a:stCxn id="851" idx="2"/>
            <a:endCxn id="860" idx="0"/>
          </p:cNvCxnSpPr>
          <p:nvPr/>
        </p:nvCxnSpPr>
        <p:spPr>
          <a:xfrm flipH="1">
            <a:off x="10764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870" name="Google Shape;870;p58"/>
          <p:cNvCxnSpPr>
            <a:stCxn id="851" idx="2"/>
            <a:endCxn id="862" idx="0"/>
          </p:cNvCxnSpPr>
          <p:nvPr/>
        </p:nvCxnSpPr>
        <p:spPr>
          <a:xfrm>
            <a:off x="20250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871" name="Google Shape;871;p58"/>
          <p:cNvCxnSpPr>
            <a:stCxn id="851" idx="2"/>
            <a:endCxn id="861" idx="0"/>
          </p:cNvCxnSpPr>
          <p:nvPr/>
        </p:nvCxnSpPr>
        <p:spPr>
          <a:xfrm>
            <a:off x="20250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872" name="Google Shape;872;p58"/>
          <p:cNvCxnSpPr>
            <a:stCxn id="853" idx="2"/>
            <a:endCxn id="866" idx="0"/>
          </p:cNvCxnSpPr>
          <p:nvPr/>
        </p:nvCxnSpPr>
        <p:spPr>
          <a:xfrm flipH="1">
            <a:off x="5546950" y="2602000"/>
            <a:ext cx="948600" cy="1339500"/>
          </a:xfrm>
          <a:prstGeom prst="straightConnector1">
            <a:avLst/>
          </a:prstGeom>
          <a:noFill/>
          <a:ln cap="flat" cmpd="sng" w="38100">
            <a:solidFill>
              <a:srgbClr val="FF0000"/>
            </a:solidFill>
            <a:prstDash val="solid"/>
            <a:round/>
            <a:headEnd len="med" w="med" type="none"/>
            <a:tailEnd len="med" w="med" type="none"/>
          </a:ln>
        </p:spPr>
      </p:cxnSp>
      <p:cxnSp>
        <p:nvCxnSpPr>
          <p:cNvPr id="873" name="Google Shape;873;p58"/>
          <p:cNvCxnSpPr>
            <a:stCxn id="853" idx="2"/>
            <a:endCxn id="868" idx="0"/>
          </p:cNvCxnSpPr>
          <p:nvPr/>
        </p:nvCxnSpPr>
        <p:spPr>
          <a:xfrm>
            <a:off x="6495550" y="2602000"/>
            <a:ext cx="0" cy="1339500"/>
          </a:xfrm>
          <a:prstGeom prst="straightConnector1">
            <a:avLst/>
          </a:prstGeom>
          <a:noFill/>
          <a:ln cap="flat" cmpd="sng" w="38100">
            <a:solidFill>
              <a:schemeClr val="dk2"/>
            </a:solidFill>
            <a:prstDash val="solid"/>
            <a:round/>
            <a:headEnd len="med" w="med" type="none"/>
            <a:tailEnd len="med" w="med" type="none"/>
          </a:ln>
        </p:spPr>
      </p:cxnSp>
      <p:cxnSp>
        <p:nvCxnSpPr>
          <p:cNvPr id="874" name="Google Shape;874;p58"/>
          <p:cNvCxnSpPr>
            <a:stCxn id="853" idx="2"/>
            <a:endCxn id="867" idx="0"/>
          </p:cNvCxnSpPr>
          <p:nvPr/>
        </p:nvCxnSpPr>
        <p:spPr>
          <a:xfrm>
            <a:off x="6495550" y="2602000"/>
            <a:ext cx="948600" cy="1339500"/>
          </a:xfrm>
          <a:prstGeom prst="straightConnector1">
            <a:avLst/>
          </a:prstGeom>
          <a:noFill/>
          <a:ln cap="flat" cmpd="sng" w="38100">
            <a:solidFill>
              <a:srgbClr val="0000FF"/>
            </a:solidFill>
            <a:prstDash val="solid"/>
            <a:round/>
            <a:headEnd len="med" w="med" type="none"/>
            <a:tailEnd len="med" w="med" type="none"/>
          </a:ln>
        </p:spPr>
      </p:cxnSp>
      <p:cxnSp>
        <p:nvCxnSpPr>
          <p:cNvPr id="875" name="Google Shape;875;p58"/>
          <p:cNvCxnSpPr>
            <a:stCxn id="852" idx="2"/>
            <a:endCxn id="863" idx="0"/>
          </p:cNvCxnSpPr>
          <p:nvPr/>
        </p:nvCxnSpPr>
        <p:spPr>
          <a:xfrm flipH="1">
            <a:off x="3311700" y="2602000"/>
            <a:ext cx="948600" cy="631200"/>
          </a:xfrm>
          <a:prstGeom prst="straightConnector1">
            <a:avLst/>
          </a:prstGeom>
          <a:noFill/>
          <a:ln cap="flat" cmpd="sng" w="38100">
            <a:solidFill>
              <a:srgbClr val="FF0000"/>
            </a:solidFill>
            <a:prstDash val="solid"/>
            <a:round/>
            <a:headEnd len="med" w="med" type="none"/>
            <a:tailEnd len="med" w="med" type="none"/>
          </a:ln>
        </p:spPr>
      </p:cxnSp>
      <p:cxnSp>
        <p:nvCxnSpPr>
          <p:cNvPr id="876" name="Google Shape;876;p58"/>
          <p:cNvCxnSpPr>
            <a:stCxn id="852" idx="2"/>
            <a:endCxn id="865" idx="0"/>
          </p:cNvCxnSpPr>
          <p:nvPr/>
        </p:nvCxnSpPr>
        <p:spPr>
          <a:xfrm>
            <a:off x="4260300" y="2602000"/>
            <a:ext cx="0" cy="631200"/>
          </a:xfrm>
          <a:prstGeom prst="straightConnector1">
            <a:avLst/>
          </a:prstGeom>
          <a:noFill/>
          <a:ln cap="flat" cmpd="sng" w="38100">
            <a:solidFill>
              <a:schemeClr val="dk2"/>
            </a:solidFill>
            <a:prstDash val="solid"/>
            <a:round/>
            <a:headEnd len="med" w="med" type="none"/>
            <a:tailEnd len="med" w="med" type="none"/>
          </a:ln>
        </p:spPr>
      </p:cxnSp>
      <p:cxnSp>
        <p:nvCxnSpPr>
          <p:cNvPr id="877" name="Google Shape;877;p58"/>
          <p:cNvCxnSpPr>
            <a:stCxn id="852" idx="2"/>
            <a:endCxn id="864" idx="0"/>
          </p:cNvCxnSpPr>
          <p:nvPr/>
        </p:nvCxnSpPr>
        <p:spPr>
          <a:xfrm>
            <a:off x="4260300" y="2602000"/>
            <a:ext cx="948600" cy="631200"/>
          </a:xfrm>
          <a:prstGeom prst="straightConnector1">
            <a:avLst/>
          </a:prstGeom>
          <a:noFill/>
          <a:ln cap="flat" cmpd="sng" w="38100">
            <a:solidFill>
              <a:srgbClr val="0000FF"/>
            </a:solidFill>
            <a:prstDash val="solid"/>
            <a:round/>
            <a:headEnd len="med" w="med" type="none"/>
            <a:tailEnd len="med" w="med"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51"/>
                                        </p:tgtEl>
                                        <p:attrNameLst>
                                          <p:attrName>style.visibility</p:attrName>
                                        </p:attrNameLst>
                                      </p:cBhvr>
                                      <p:to>
                                        <p:strVal val="visible"/>
                                      </p:to>
                                    </p:set>
                                    <p:animEffect filter="fade" transition="in">
                                      <p:cBhvr>
                                        <p:cTn dur="1000"/>
                                        <p:tgtEl>
                                          <p:spTgt spid="85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5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10 Coins: Proof of impossibility</a:t>
            </a:r>
            <a:endParaRPr/>
          </a:p>
        </p:txBody>
      </p:sp>
      <p:sp>
        <p:nvSpPr>
          <p:cNvPr id="883" name="Google Shape;883;p59"/>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In that leaf, regardless of the two universes that end up there, we'll be wrong in at least one of those universes. </a:t>
            </a:r>
            <a:endParaRPr/>
          </a:p>
          <a:p>
            <a:pPr indent="0" lvl="0" marL="0" rtl="0" algn="l">
              <a:spcBef>
                <a:spcPts val="600"/>
              </a:spcBef>
              <a:spcAft>
                <a:spcPts val="0"/>
              </a:spcAft>
              <a:buNone/>
            </a:pPr>
            <a:r>
              <a:rPr lang="en"/>
              <a:t>Therefore it is impossible to guarantee a determination on which of 10 coins is counterfeit with only 2 weighings.</a:t>
            </a:r>
            <a:endParaRPr/>
          </a:p>
        </p:txBody>
      </p:sp>
      <p:sp>
        <p:nvSpPr>
          <p:cNvPr id="884" name="Google Shape;884;p59"/>
          <p:cNvSpPr/>
          <p:nvPr/>
        </p:nvSpPr>
        <p:spPr>
          <a:xfrm>
            <a:off x="3398700" y="2685975"/>
            <a:ext cx="2346600" cy="16338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3100"/>
              <a:t>6 Fake</a:t>
            </a:r>
            <a:endParaRPr sz="3100"/>
          </a:p>
        </p:txBody>
      </p:sp>
      <p:sp>
        <p:nvSpPr>
          <p:cNvPr id="885" name="Google Shape;885;p59"/>
          <p:cNvSpPr/>
          <p:nvPr/>
        </p:nvSpPr>
        <p:spPr>
          <a:xfrm>
            <a:off x="182625"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886" name="Google Shape;886;p59"/>
          <p:cNvSpPr/>
          <p:nvPr/>
        </p:nvSpPr>
        <p:spPr>
          <a:xfrm>
            <a:off x="820025"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887" name="Google Shape;887;p59"/>
          <p:cNvSpPr/>
          <p:nvPr/>
        </p:nvSpPr>
        <p:spPr>
          <a:xfrm>
            <a:off x="1457425"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888" name="Google Shape;888;p59"/>
          <p:cNvSpPr/>
          <p:nvPr/>
        </p:nvSpPr>
        <p:spPr>
          <a:xfrm>
            <a:off x="2086000"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889" name="Google Shape;889;p59"/>
          <p:cNvSpPr/>
          <p:nvPr/>
        </p:nvSpPr>
        <p:spPr>
          <a:xfrm>
            <a:off x="2723400"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890" name="Google Shape;890;p59"/>
          <p:cNvSpPr/>
          <p:nvPr/>
        </p:nvSpPr>
        <p:spPr>
          <a:xfrm>
            <a:off x="187038" y="3601950"/>
            <a:ext cx="484200" cy="484200"/>
          </a:xfrm>
          <a:prstGeom prst="ellipse">
            <a:avLst/>
          </a:prstGeom>
          <a:solidFill>
            <a:srgbClr val="FF0000"/>
          </a:solidFill>
          <a:ln cap="flat" cmpd="sng" w="1143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891" name="Google Shape;891;p59"/>
          <p:cNvSpPr/>
          <p:nvPr/>
        </p:nvSpPr>
        <p:spPr>
          <a:xfrm>
            <a:off x="8156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892" name="Google Shape;892;p59"/>
          <p:cNvSpPr/>
          <p:nvPr/>
        </p:nvSpPr>
        <p:spPr>
          <a:xfrm>
            <a:off x="14530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893" name="Google Shape;893;p59"/>
          <p:cNvSpPr/>
          <p:nvPr/>
        </p:nvSpPr>
        <p:spPr>
          <a:xfrm>
            <a:off x="20904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
        <p:nvSpPr>
          <p:cNvPr id="894" name="Google Shape;894;p59"/>
          <p:cNvSpPr/>
          <p:nvPr/>
        </p:nvSpPr>
        <p:spPr>
          <a:xfrm>
            <a:off x="27278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10</a:t>
            </a:r>
            <a:endParaRPr sz="1100">
              <a:latin typeface="Roboto"/>
              <a:ea typeface="Roboto"/>
              <a:cs typeface="Roboto"/>
              <a:sym typeface="Roboto"/>
            </a:endParaRPr>
          </a:p>
        </p:txBody>
      </p:sp>
      <p:sp>
        <p:nvSpPr>
          <p:cNvPr id="895" name="Google Shape;895;p59"/>
          <p:cNvSpPr/>
          <p:nvPr/>
        </p:nvSpPr>
        <p:spPr>
          <a:xfrm>
            <a:off x="5931975"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896" name="Google Shape;896;p59"/>
          <p:cNvSpPr/>
          <p:nvPr/>
        </p:nvSpPr>
        <p:spPr>
          <a:xfrm>
            <a:off x="6569375"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897" name="Google Shape;897;p59"/>
          <p:cNvSpPr/>
          <p:nvPr/>
        </p:nvSpPr>
        <p:spPr>
          <a:xfrm>
            <a:off x="7206775" y="2919613"/>
            <a:ext cx="484200" cy="484200"/>
          </a:xfrm>
          <a:prstGeom prst="ellipse">
            <a:avLst/>
          </a:prstGeom>
          <a:solidFill>
            <a:srgbClr val="FF0000"/>
          </a:solidFill>
          <a:ln cap="flat" cmpd="sng" w="1143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898" name="Google Shape;898;p59"/>
          <p:cNvSpPr/>
          <p:nvPr/>
        </p:nvSpPr>
        <p:spPr>
          <a:xfrm>
            <a:off x="7835350"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899" name="Google Shape;899;p59"/>
          <p:cNvSpPr/>
          <p:nvPr/>
        </p:nvSpPr>
        <p:spPr>
          <a:xfrm>
            <a:off x="8472750"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900" name="Google Shape;900;p59"/>
          <p:cNvSpPr/>
          <p:nvPr/>
        </p:nvSpPr>
        <p:spPr>
          <a:xfrm>
            <a:off x="5936388"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901" name="Google Shape;901;p59"/>
          <p:cNvSpPr/>
          <p:nvPr/>
        </p:nvSpPr>
        <p:spPr>
          <a:xfrm>
            <a:off x="65649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902" name="Google Shape;902;p59"/>
          <p:cNvSpPr/>
          <p:nvPr/>
        </p:nvSpPr>
        <p:spPr>
          <a:xfrm>
            <a:off x="72023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903" name="Google Shape;903;p59"/>
          <p:cNvSpPr/>
          <p:nvPr/>
        </p:nvSpPr>
        <p:spPr>
          <a:xfrm>
            <a:off x="78397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
        <p:nvSpPr>
          <p:cNvPr id="904" name="Google Shape;904;p59"/>
          <p:cNvSpPr/>
          <p:nvPr/>
        </p:nvSpPr>
        <p:spPr>
          <a:xfrm>
            <a:off x="84771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10</a:t>
            </a:r>
            <a:endParaRPr sz="1100">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8" name="Shape 908"/>
        <p:cNvGrpSpPr/>
        <p:nvPr/>
      </p:nvGrpSpPr>
      <p:grpSpPr>
        <a:xfrm>
          <a:off x="0" y="0"/>
          <a:ext cx="0" cy="0"/>
          <a:chOff x="0" y="0"/>
          <a:chExt cx="0" cy="0"/>
        </a:xfrm>
      </p:grpSpPr>
      <p:sp>
        <p:nvSpPr>
          <p:cNvPr id="909" name="Google Shape;909;p6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More </a:t>
            </a:r>
            <a:r>
              <a:rPr lang="en"/>
              <a:t>Coins</a:t>
            </a:r>
            <a:endParaRPr/>
          </a:p>
        </p:txBody>
      </p:sp>
      <p:sp>
        <p:nvSpPr>
          <p:cNvPr id="910" name="Google Shape;910;p6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Each weighing triples the number of cases we can manage. So with N weighings, we can have at most 3</a:t>
            </a:r>
            <a:r>
              <a:rPr baseline="30000" lang="en"/>
              <a:t>N</a:t>
            </a:r>
            <a:r>
              <a:rPr lang="en"/>
              <a:t> leaves in our decision tree. This means that if we have &gt;3</a:t>
            </a:r>
            <a:r>
              <a:rPr baseline="30000" lang="en"/>
              <a:t>N</a:t>
            </a:r>
            <a:r>
              <a:rPr lang="en"/>
              <a:t> coins, we have proven that no algorithm exists.</a:t>
            </a:r>
            <a:endParaRPr/>
          </a:p>
          <a:p>
            <a:pPr indent="0" lvl="0" marL="0" rtl="0" algn="l">
              <a:spcBef>
                <a:spcPts val="600"/>
              </a:spcBef>
              <a:spcAft>
                <a:spcPts val="0"/>
              </a:spcAft>
              <a:buNone/>
            </a:pPr>
            <a:r>
              <a:rPr lang="en"/>
              <a:t>Does the converse hold true?</a:t>
            </a:r>
            <a:endParaRPr/>
          </a:p>
          <a:p>
            <a:pPr indent="0" lvl="0" marL="0" rtl="0" algn="l">
              <a:spcBef>
                <a:spcPts val="600"/>
              </a:spcBef>
              <a:spcAft>
                <a:spcPts val="0"/>
              </a:spcAft>
              <a:buNone/>
            </a:pPr>
            <a:r>
              <a:rPr lang="en"/>
              <a:t>	If we have X &lt;= 3</a:t>
            </a:r>
            <a:r>
              <a:rPr baseline="30000" lang="en"/>
              <a:t>N</a:t>
            </a:r>
            <a:r>
              <a:rPr lang="en"/>
              <a:t> coins, does our proof guarantee an algorithm exist?</a:t>
            </a:r>
            <a:endParaRPr/>
          </a:p>
          <a:p>
            <a:pPr indent="0" lvl="0" marL="0" rtl="0" algn="l">
              <a:spcBef>
                <a:spcPts val="600"/>
              </a:spcBef>
              <a:spcAft>
                <a:spcPts val="0"/>
              </a:spcAft>
              <a:buNone/>
            </a:pPr>
            <a:r>
              <a:rPr lang="en"/>
              <a:t>In this case, we can find an algorithm for X coins as long as the condition holds, but this isn't necessarily true. Let's look at a slightly different version of this problem.</a:t>
            </a:r>
            <a:endParaRPr/>
          </a:p>
        </p:txBody>
      </p:sp>
      <p:pic>
        <p:nvPicPr>
          <p:cNvPr id="911" name="Google Shape;911;p60"/>
          <p:cNvPicPr preferRelativeResize="0"/>
          <p:nvPr/>
        </p:nvPicPr>
        <p:blipFill>
          <a:blip r:embed="rId3">
            <a:alphaModFix/>
          </a:blip>
          <a:stretch>
            <a:fillRect/>
          </a:stretch>
        </p:blipFill>
        <p:spPr>
          <a:xfrm>
            <a:off x="7081474" y="3143674"/>
            <a:ext cx="2051075" cy="1774176"/>
          </a:xfrm>
          <a:prstGeom prst="rect">
            <a:avLst/>
          </a:prstGeom>
          <a:noFill/>
          <a:ln>
            <a:noFill/>
          </a:ln>
        </p:spPr>
      </p:pic>
      <p:sp>
        <p:nvSpPr>
          <p:cNvPr id="912" name="Google Shape;912;p60"/>
          <p:cNvSpPr/>
          <p:nvPr/>
        </p:nvSpPr>
        <p:spPr>
          <a:xfrm>
            <a:off x="4798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913" name="Google Shape;913;p60"/>
          <p:cNvSpPr/>
          <p:nvPr/>
        </p:nvSpPr>
        <p:spPr>
          <a:xfrm>
            <a:off x="11172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914" name="Google Shape;914;p60"/>
          <p:cNvSpPr/>
          <p:nvPr/>
        </p:nvSpPr>
        <p:spPr>
          <a:xfrm>
            <a:off x="175462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915" name="Google Shape;915;p60"/>
          <p:cNvSpPr/>
          <p:nvPr/>
        </p:nvSpPr>
        <p:spPr>
          <a:xfrm>
            <a:off x="23832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916" name="Google Shape;916;p60"/>
          <p:cNvSpPr/>
          <p:nvPr/>
        </p:nvSpPr>
        <p:spPr>
          <a:xfrm>
            <a:off x="30206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917" name="Google Shape;917;p60"/>
          <p:cNvSpPr/>
          <p:nvPr/>
        </p:nvSpPr>
        <p:spPr>
          <a:xfrm>
            <a:off x="3658000"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918" name="Google Shape;918;p60"/>
          <p:cNvSpPr/>
          <p:nvPr/>
        </p:nvSpPr>
        <p:spPr>
          <a:xfrm>
            <a:off x="42865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p:txBody>
      </p:sp>
      <p:sp>
        <p:nvSpPr>
          <p:cNvPr id="919" name="Google Shape;919;p60"/>
          <p:cNvSpPr/>
          <p:nvPr/>
        </p:nvSpPr>
        <p:spPr>
          <a:xfrm>
            <a:off x="49239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p:txBody>
      </p:sp>
      <p:sp>
        <p:nvSpPr>
          <p:cNvPr id="920" name="Google Shape;920;p60"/>
          <p:cNvSpPr/>
          <p:nvPr/>
        </p:nvSpPr>
        <p:spPr>
          <a:xfrm>
            <a:off x="55613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p:txBody>
      </p:sp>
      <p:sp>
        <p:nvSpPr>
          <p:cNvPr id="921" name="Google Shape;921;p60"/>
          <p:cNvSpPr/>
          <p:nvPr/>
        </p:nvSpPr>
        <p:spPr>
          <a:xfrm>
            <a:off x="6198775" y="33344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X</a:t>
            </a:r>
            <a:endParaRPr sz="1100">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925" name="Shape 925"/>
        <p:cNvGrpSpPr/>
        <p:nvPr/>
      </p:nvGrpSpPr>
      <p:grpSpPr>
        <a:xfrm>
          <a:off x="0" y="0"/>
          <a:ext cx="0" cy="0"/>
          <a:chOff x="0" y="0"/>
          <a:chExt cx="0" cy="0"/>
        </a:xfrm>
      </p:grpSpPr>
      <p:sp>
        <p:nvSpPr>
          <p:cNvPr id="926" name="Google Shape;926;p6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12/13 </a:t>
            </a:r>
            <a:r>
              <a:rPr lang="en"/>
              <a:t>Coins</a:t>
            </a:r>
            <a:r>
              <a:rPr lang="en">
                <a:solidFill>
                  <a:schemeClr val="accent3"/>
                </a:solidFill>
              </a:rPr>
              <a:t>: yellkey.com</a:t>
            </a:r>
            <a:r>
              <a:rPr lang="en">
                <a:solidFill>
                  <a:srgbClr val="38761D"/>
                </a:solidFill>
              </a:rPr>
              <a:t>/year</a:t>
            </a:r>
            <a:endParaRPr/>
          </a:p>
        </p:txBody>
      </p:sp>
      <p:sp>
        <p:nvSpPr>
          <p:cNvPr id="927" name="Google Shape;927;p6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sz="1600"/>
              <a:t>This time, the counterfeit coin can either be slightly lighter, or slightly heavier than all the other coins. We want to know both which coin is counterfeit, and whether it was heavier, or lighter. This time, we can use the scale 3 times, so in theory, we can handle 27 universes. Which of the following are possible?</a:t>
            </a:r>
            <a:endParaRPr sz="1600"/>
          </a:p>
          <a:p>
            <a:pPr indent="-330200" lvl="0" marL="457200" rtl="0" algn="l">
              <a:spcBef>
                <a:spcPts val="600"/>
              </a:spcBef>
              <a:spcAft>
                <a:spcPts val="0"/>
              </a:spcAft>
              <a:buSzPts val="1600"/>
              <a:buAutoNum type="alphaUcPeriod"/>
            </a:pPr>
            <a:r>
              <a:rPr lang="en" sz="1600"/>
              <a:t>12 coins (24 universes)</a:t>
            </a:r>
            <a:endParaRPr sz="1600"/>
          </a:p>
          <a:p>
            <a:pPr indent="-330200" lvl="0" marL="457200" rtl="0" algn="l">
              <a:spcBef>
                <a:spcPts val="0"/>
              </a:spcBef>
              <a:spcAft>
                <a:spcPts val="0"/>
              </a:spcAft>
              <a:buSzPts val="1600"/>
              <a:buAutoNum type="alphaUcPeriod"/>
            </a:pPr>
            <a:r>
              <a:rPr lang="en" sz="1600"/>
              <a:t>12 coins if we have a 13th reference coin that is guaranteed to be real</a:t>
            </a:r>
            <a:endParaRPr sz="1600"/>
          </a:p>
          <a:p>
            <a:pPr indent="-330200" lvl="0" marL="457200" rtl="0" algn="l">
              <a:spcBef>
                <a:spcPts val="0"/>
              </a:spcBef>
              <a:spcAft>
                <a:spcPts val="0"/>
              </a:spcAft>
              <a:buSzPts val="1600"/>
              <a:buAutoNum type="alphaUcPeriod"/>
            </a:pPr>
            <a:r>
              <a:rPr lang="en" sz="1600"/>
              <a:t>12 coins if we don't care about whether the counterfeit is heavier or lighter</a:t>
            </a:r>
            <a:endParaRPr sz="1600"/>
          </a:p>
          <a:p>
            <a:pPr indent="-330200" lvl="0" marL="457200" rtl="0" algn="l">
              <a:spcBef>
                <a:spcPts val="0"/>
              </a:spcBef>
              <a:spcAft>
                <a:spcPts val="0"/>
              </a:spcAft>
              <a:buSzPts val="1600"/>
              <a:buAutoNum type="alphaUcPeriod"/>
            </a:pPr>
            <a:r>
              <a:rPr lang="en" sz="1600"/>
              <a:t>13 coins (26 universes)</a:t>
            </a:r>
            <a:endParaRPr sz="1600"/>
          </a:p>
          <a:p>
            <a:pPr indent="-330200" lvl="0" marL="457200" rtl="0" algn="l">
              <a:spcBef>
                <a:spcPts val="0"/>
              </a:spcBef>
              <a:spcAft>
                <a:spcPts val="0"/>
              </a:spcAft>
              <a:buSzPts val="1600"/>
              <a:buAutoNum type="alphaUcPeriod"/>
            </a:pPr>
            <a:r>
              <a:rPr lang="en" sz="1600"/>
              <a:t>13 coins if we have a 14th reference coin that is guaranteed to be real</a:t>
            </a:r>
            <a:endParaRPr sz="1600"/>
          </a:p>
          <a:p>
            <a:pPr indent="-330200" lvl="0" marL="457200" rtl="0" algn="l">
              <a:spcBef>
                <a:spcPts val="0"/>
              </a:spcBef>
              <a:spcAft>
                <a:spcPts val="0"/>
              </a:spcAft>
              <a:buSzPts val="1600"/>
              <a:buAutoNum type="alphaUcPeriod"/>
            </a:pPr>
            <a:r>
              <a:rPr lang="en" sz="1600"/>
              <a:t>13 coins if we don't care about whether the counterfeit is heavier or lighter</a:t>
            </a:r>
            <a:endParaRPr sz="1600"/>
          </a:p>
        </p:txBody>
      </p:sp>
      <p:pic>
        <p:nvPicPr>
          <p:cNvPr id="928" name="Google Shape;928;p61"/>
          <p:cNvPicPr preferRelativeResize="0"/>
          <p:nvPr/>
        </p:nvPicPr>
        <p:blipFill>
          <a:blip r:embed="rId3">
            <a:alphaModFix/>
          </a:blip>
          <a:stretch>
            <a:fillRect/>
          </a:stretch>
        </p:blipFill>
        <p:spPr>
          <a:xfrm>
            <a:off x="7081474" y="3143674"/>
            <a:ext cx="2051075" cy="1774176"/>
          </a:xfrm>
          <a:prstGeom prst="rect">
            <a:avLst/>
          </a:prstGeom>
          <a:noFill/>
          <a:ln>
            <a:noFill/>
          </a:ln>
        </p:spPr>
      </p:pic>
      <p:sp>
        <p:nvSpPr>
          <p:cNvPr id="929" name="Google Shape;929;p61"/>
          <p:cNvSpPr/>
          <p:nvPr/>
        </p:nvSpPr>
        <p:spPr>
          <a:xfrm>
            <a:off x="479825"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930" name="Google Shape;930;p61"/>
          <p:cNvSpPr/>
          <p:nvPr/>
        </p:nvSpPr>
        <p:spPr>
          <a:xfrm>
            <a:off x="1117225"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931" name="Google Shape;931;p61"/>
          <p:cNvSpPr/>
          <p:nvPr/>
        </p:nvSpPr>
        <p:spPr>
          <a:xfrm>
            <a:off x="1754625"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932" name="Google Shape;932;p61"/>
          <p:cNvSpPr/>
          <p:nvPr/>
        </p:nvSpPr>
        <p:spPr>
          <a:xfrm>
            <a:off x="23832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933" name="Google Shape;933;p61"/>
          <p:cNvSpPr/>
          <p:nvPr/>
        </p:nvSpPr>
        <p:spPr>
          <a:xfrm>
            <a:off x="30206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934" name="Google Shape;934;p61"/>
          <p:cNvSpPr/>
          <p:nvPr/>
        </p:nvSpPr>
        <p:spPr>
          <a:xfrm>
            <a:off x="36580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935" name="Google Shape;935;p61"/>
          <p:cNvSpPr/>
          <p:nvPr/>
        </p:nvSpPr>
        <p:spPr>
          <a:xfrm>
            <a:off x="42954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936" name="Google Shape;936;p61"/>
          <p:cNvSpPr/>
          <p:nvPr/>
        </p:nvSpPr>
        <p:spPr>
          <a:xfrm>
            <a:off x="479825"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937" name="Google Shape;937;p61"/>
          <p:cNvSpPr/>
          <p:nvPr/>
        </p:nvSpPr>
        <p:spPr>
          <a:xfrm>
            <a:off x="1117225"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
        <p:nvSpPr>
          <p:cNvPr id="938" name="Google Shape;938;p61"/>
          <p:cNvSpPr/>
          <p:nvPr/>
        </p:nvSpPr>
        <p:spPr>
          <a:xfrm>
            <a:off x="1754625"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A</a:t>
            </a:r>
            <a:endParaRPr sz="1100">
              <a:latin typeface="Roboto"/>
              <a:ea typeface="Roboto"/>
              <a:cs typeface="Roboto"/>
              <a:sym typeface="Roboto"/>
            </a:endParaRPr>
          </a:p>
        </p:txBody>
      </p:sp>
      <p:sp>
        <p:nvSpPr>
          <p:cNvPr id="939" name="Google Shape;939;p61"/>
          <p:cNvSpPr/>
          <p:nvPr/>
        </p:nvSpPr>
        <p:spPr>
          <a:xfrm>
            <a:off x="2383200"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B</a:t>
            </a:r>
            <a:endParaRPr sz="1100">
              <a:latin typeface="Roboto"/>
              <a:ea typeface="Roboto"/>
              <a:cs typeface="Roboto"/>
              <a:sym typeface="Roboto"/>
            </a:endParaRPr>
          </a:p>
        </p:txBody>
      </p:sp>
      <p:sp>
        <p:nvSpPr>
          <p:cNvPr id="940" name="Google Shape;940;p61"/>
          <p:cNvSpPr/>
          <p:nvPr/>
        </p:nvSpPr>
        <p:spPr>
          <a:xfrm>
            <a:off x="3020600"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C</a:t>
            </a:r>
            <a:endParaRPr sz="1100">
              <a:latin typeface="Roboto"/>
              <a:ea typeface="Roboto"/>
              <a:cs typeface="Roboto"/>
              <a:sym typeface="Roboto"/>
            </a:endParaRPr>
          </a:p>
        </p:txBody>
      </p:sp>
      <p:sp>
        <p:nvSpPr>
          <p:cNvPr id="941" name="Google Shape;941;p61"/>
          <p:cNvSpPr/>
          <p:nvPr/>
        </p:nvSpPr>
        <p:spPr>
          <a:xfrm>
            <a:off x="3658000"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D</a:t>
            </a:r>
            <a:endParaRPr sz="1100">
              <a:latin typeface="Roboto"/>
              <a:ea typeface="Roboto"/>
              <a:cs typeface="Roboto"/>
              <a:sym typeface="Roboto"/>
            </a:endParaRPr>
          </a:p>
        </p:txBody>
      </p:sp>
      <p:sp>
        <p:nvSpPr>
          <p:cNvPr id="942" name="Google Shape;942;p61"/>
          <p:cNvSpPr/>
          <p:nvPr/>
        </p:nvSpPr>
        <p:spPr>
          <a:xfrm>
            <a:off x="4295400" y="4293100"/>
            <a:ext cx="484200" cy="484200"/>
          </a:xfrm>
          <a:prstGeom prst="ellipse">
            <a:avLst/>
          </a:prstGeom>
          <a:solidFill>
            <a:srgbClr val="00FF00"/>
          </a:solidFill>
          <a:ln cap="flat" cmpd="sng" w="114300">
            <a:solidFill>
              <a:srgbClr val="00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R</a:t>
            </a:r>
            <a:endParaRPr sz="1100">
              <a:latin typeface="Roboto"/>
              <a:ea typeface="Roboto"/>
              <a:cs typeface="Roboto"/>
              <a:sym typeface="Roboto"/>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6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12 Coins: Solution</a:t>
            </a:r>
            <a:endParaRPr/>
          </a:p>
        </p:txBody>
      </p:sp>
      <p:sp>
        <p:nvSpPr>
          <p:cNvPr id="948" name="Google Shape;948;p62"/>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For 12 coins, this is possible (and by extension the other 12-coin puzzles)</a:t>
            </a:r>
            <a:endParaRPr/>
          </a:p>
        </p:txBody>
      </p:sp>
      <p:sp>
        <p:nvSpPr>
          <p:cNvPr id="949" name="Google Shape;949;p62"/>
          <p:cNvSpPr/>
          <p:nvPr/>
        </p:nvSpPr>
        <p:spPr>
          <a:xfrm>
            <a:off x="3649350" y="2509200"/>
            <a:ext cx="12219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t>1234 vs 5678</a:t>
            </a:r>
            <a:endParaRPr sz="1300"/>
          </a:p>
        </p:txBody>
      </p:sp>
      <p:sp>
        <p:nvSpPr>
          <p:cNvPr id="950" name="Google Shape;950;p62"/>
          <p:cNvSpPr/>
          <p:nvPr/>
        </p:nvSpPr>
        <p:spPr>
          <a:xfrm>
            <a:off x="8702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125 vs 346</a:t>
            </a:r>
            <a:endParaRPr/>
          </a:p>
        </p:txBody>
      </p:sp>
      <p:sp>
        <p:nvSpPr>
          <p:cNvPr id="951" name="Google Shape;951;p62"/>
          <p:cNvSpPr/>
          <p:nvPr/>
        </p:nvSpPr>
        <p:spPr>
          <a:xfrm>
            <a:off x="364935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9A vs 1B</a:t>
            </a:r>
            <a:endParaRPr/>
          </a:p>
        </p:txBody>
      </p:sp>
      <p:sp>
        <p:nvSpPr>
          <p:cNvPr id="952" name="Google Shape;952;p62"/>
          <p:cNvSpPr/>
          <p:nvPr/>
        </p:nvSpPr>
        <p:spPr>
          <a:xfrm>
            <a:off x="64285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156 vs 278</a:t>
            </a:r>
            <a:endParaRPr/>
          </a:p>
        </p:txBody>
      </p:sp>
      <p:cxnSp>
        <p:nvCxnSpPr>
          <p:cNvPr id="953" name="Google Shape;953;p62"/>
          <p:cNvCxnSpPr>
            <a:stCxn id="949" idx="2"/>
            <a:endCxn id="950" idx="0"/>
          </p:cNvCxnSpPr>
          <p:nvPr/>
        </p:nvCxnSpPr>
        <p:spPr>
          <a:xfrm flipH="1">
            <a:off x="1481100" y="3019500"/>
            <a:ext cx="2779200" cy="217800"/>
          </a:xfrm>
          <a:prstGeom prst="straightConnector1">
            <a:avLst/>
          </a:prstGeom>
          <a:noFill/>
          <a:ln cap="flat" cmpd="sng" w="38100">
            <a:solidFill>
              <a:srgbClr val="FF0000"/>
            </a:solidFill>
            <a:prstDash val="solid"/>
            <a:round/>
            <a:headEnd len="med" w="med" type="none"/>
            <a:tailEnd len="med" w="med" type="none"/>
          </a:ln>
        </p:spPr>
      </p:cxnSp>
      <p:cxnSp>
        <p:nvCxnSpPr>
          <p:cNvPr id="954" name="Google Shape;954;p62"/>
          <p:cNvCxnSpPr>
            <a:stCxn id="949" idx="2"/>
            <a:endCxn id="951" idx="0"/>
          </p:cNvCxnSpPr>
          <p:nvPr/>
        </p:nvCxnSpPr>
        <p:spPr>
          <a:xfrm>
            <a:off x="4260300" y="3019500"/>
            <a:ext cx="0" cy="217800"/>
          </a:xfrm>
          <a:prstGeom prst="straightConnector1">
            <a:avLst/>
          </a:prstGeom>
          <a:noFill/>
          <a:ln cap="flat" cmpd="sng" w="38100">
            <a:solidFill>
              <a:schemeClr val="dk2"/>
            </a:solidFill>
            <a:prstDash val="solid"/>
            <a:round/>
            <a:headEnd len="med" w="med" type="none"/>
            <a:tailEnd len="med" w="med" type="none"/>
          </a:ln>
        </p:spPr>
      </p:cxnSp>
      <p:cxnSp>
        <p:nvCxnSpPr>
          <p:cNvPr id="955" name="Google Shape;955;p62"/>
          <p:cNvCxnSpPr>
            <a:stCxn id="949" idx="2"/>
            <a:endCxn id="952" idx="0"/>
          </p:cNvCxnSpPr>
          <p:nvPr/>
        </p:nvCxnSpPr>
        <p:spPr>
          <a:xfrm>
            <a:off x="4260300" y="3019500"/>
            <a:ext cx="2779200" cy="217800"/>
          </a:xfrm>
          <a:prstGeom prst="straightConnector1">
            <a:avLst/>
          </a:prstGeom>
          <a:noFill/>
          <a:ln cap="flat" cmpd="sng" w="38100">
            <a:solidFill>
              <a:srgbClr val="0000FF"/>
            </a:solidFill>
            <a:prstDash val="solid"/>
            <a:round/>
            <a:headEnd len="med" w="med" type="none"/>
            <a:tailEnd len="med" w="med" type="none"/>
          </a:ln>
        </p:spPr>
      </p:cxnSp>
      <p:cxnSp>
        <p:nvCxnSpPr>
          <p:cNvPr id="956" name="Google Shape;956;p62"/>
          <p:cNvCxnSpPr>
            <a:stCxn id="950" idx="2"/>
            <a:endCxn id="957" idx="0"/>
          </p:cNvCxnSpPr>
          <p:nvPr/>
        </p:nvCxnSpPr>
        <p:spPr>
          <a:xfrm flipH="1">
            <a:off x="471650" y="3830950"/>
            <a:ext cx="1009500" cy="462300"/>
          </a:xfrm>
          <a:prstGeom prst="straightConnector1">
            <a:avLst/>
          </a:prstGeom>
          <a:noFill/>
          <a:ln cap="flat" cmpd="sng" w="38100">
            <a:solidFill>
              <a:srgbClr val="FF0000"/>
            </a:solidFill>
            <a:prstDash val="solid"/>
            <a:round/>
            <a:headEnd len="med" w="med" type="none"/>
            <a:tailEnd len="med" w="med" type="none"/>
          </a:ln>
        </p:spPr>
      </p:cxnSp>
      <p:cxnSp>
        <p:nvCxnSpPr>
          <p:cNvPr id="958" name="Google Shape;958;p62"/>
          <p:cNvCxnSpPr>
            <a:stCxn id="950" idx="2"/>
            <a:endCxn id="959" idx="0"/>
          </p:cNvCxnSpPr>
          <p:nvPr/>
        </p:nvCxnSpPr>
        <p:spPr>
          <a:xfrm>
            <a:off x="14811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960" name="Google Shape;960;p62"/>
          <p:cNvCxnSpPr>
            <a:stCxn id="950" idx="2"/>
            <a:endCxn id="961" idx="0"/>
          </p:cNvCxnSpPr>
          <p:nvPr/>
        </p:nvCxnSpPr>
        <p:spPr>
          <a:xfrm>
            <a:off x="1481150" y="3830950"/>
            <a:ext cx="947100" cy="462300"/>
          </a:xfrm>
          <a:prstGeom prst="straightConnector1">
            <a:avLst/>
          </a:prstGeom>
          <a:noFill/>
          <a:ln cap="flat" cmpd="sng" w="38100">
            <a:solidFill>
              <a:srgbClr val="0000FF"/>
            </a:solidFill>
            <a:prstDash val="solid"/>
            <a:round/>
            <a:headEnd len="med" w="med" type="none"/>
            <a:tailEnd len="med" w="med" type="none"/>
          </a:ln>
        </p:spPr>
      </p:cxnSp>
      <p:cxnSp>
        <p:nvCxnSpPr>
          <p:cNvPr id="962" name="Google Shape;962;p62"/>
          <p:cNvCxnSpPr>
            <a:stCxn id="952" idx="2"/>
            <a:endCxn id="963" idx="0"/>
          </p:cNvCxnSpPr>
          <p:nvPr/>
        </p:nvCxnSpPr>
        <p:spPr>
          <a:xfrm flipH="1">
            <a:off x="6092350" y="3830950"/>
            <a:ext cx="947100" cy="462300"/>
          </a:xfrm>
          <a:prstGeom prst="straightConnector1">
            <a:avLst/>
          </a:prstGeom>
          <a:noFill/>
          <a:ln cap="flat" cmpd="sng" w="38100">
            <a:solidFill>
              <a:srgbClr val="FF0000"/>
            </a:solidFill>
            <a:prstDash val="solid"/>
            <a:round/>
            <a:headEnd len="med" w="med" type="none"/>
            <a:tailEnd len="med" w="med" type="none"/>
          </a:ln>
        </p:spPr>
      </p:cxnSp>
      <p:cxnSp>
        <p:nvCxnSpPr>
          <p:cNvPr id="964" name="Google Shape;964;p62"/>
          <p:cNvCxnSpPr>
            <a:stCxn id="952" idx="2"/>
            <a:endCxn id="965" idx="0"/>
          </p:cNvCxnSpPr>
          <p:nvPr/>
        </p:nvCxnSpPr>
        <p:spPr>
          <a:xfrm>
            <a:off x="70394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966" name="Google Shape;966;p62"/>
          <p:cNvCxnSpPr>
            <a:stCxn id="952" idx="2"/>
            <a:endCxn id="967" idx="0"/>
          </p:cNvCxnSpPr>
          <p:nvPr/>
        </p:nvCxnSpPr>
        <p:spPr>
          <a:xfrm>
            <a:off x="7039450" y="3830950"/>
            <a:ext cx="1009500" cy="462300"/>
          </a:xfrm>
          <a:prstGeom prst="straightConnector1">
            <a:avLst/>
          </a:prstGeom>
          <a:noFill/>
          <a:ln cap="flat" cmpd="sng" w="38100">
            <a:solidFill>
              <a:srgbClr val="0000FF"/>
            </a:solidFill>
            <a:prstDash val="solid"/>
            <a:round/>
            <a:headEnd len="med" w="med" type="none"/>
            <a:tailEnd len="med" w="med" type="none"/>
          </a:ln>
        </p:spPr>
      </p:cxnSp>
      <p:cxnSp>
        <p:nvCxnSpPr>
          <p:cNvPr id="968" name="Google Shape;968;p62"/>
          <p:cNvCxnSpPr>
            <a:stCxn id="951" idx="2"/>
            <a:endCxn id="969" idx="0"/>
          </p:cNvCxnSpPr>
          <p:nvPr/>
        </p:nvCxnSpPr>
        <p:spPr>
          <a:xfrm flipH="1">
            <a:off x="3375300" y="3830950"/>
            <a:ext cx="885000" cy="462300"/>
          </a:xfrm>
          <a:prstGeom prst="straightConnector1">
            <a:avLst/>
          </a:prstGeom>
          <a:noFill/>
          <a:ln cap="flat" cmpd="sng" w="38100">
            <a:solidFill>
              <a:srgbClr val="FF0000"/>
            </a:solidFill>
            <a:prstDash val="solid"/>
            <a:round/>
            <a:headEnd len="med" w="med" type="none"/>
            <a:tailEnd len="med" w="med" type="none"/>
          </a:ln>
        </p:spPr>
      </p:cxnSp>
      <p:cxnSp>
        <p:nvCxnSpPr>
          <p:cNvPr id="970" name="Google Shape;970;p62"/>
          <p:cNvCxnSpPr>
            <a:stCxn id="951" idx="2"/>
            <a:endCxn id="971" idx="0"/>
          </p:cNvCxnSpPr>
          <p:nvPr/>
        </p:nvCxnSpPr>
        <p:spPr>
          <a:xfrm>
            <a:off x="426030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972" name="Google Shape;972;p62"/>
          <p:cNvCxnSpPr>
            <a:stCxn id="951" idx="2"/>
            <a:endCxn id="973" idx="0"/>
          </p:cNvCxnSpPr>
          <p:nvPr/>
        </p:nvCxnSpPr>
        <p:spPr>
          <a:xfrm>
            <a:off x="4260300" y="3830950"/>
            <a:ext cx="885000" cy="462300"/>
          </a:xfrm>
          <a:prstGeom prst="straightConnector1">
            <a:avLst/>
          </a:prstGeom>
          <a:noFill/>
          <a:ln cap="flat" cmpd="sng" w="38100">
            <a:solidFill>
              <a:srgbClr val="0000FF"/>
            </a:solidFill>
            <a:prstDash val="solid"/>
            <a:round/>
            <a:headEnd len="med" w="med" type="none"/>
            <a:tailEnd len="med" w="med" type="none"/>
          </a:ln>
        </p:spPr>
      </p:cxnSp>
      <p:sp>
        <p:nvSpPr>
          <p:cNvPr id="957" name="Google Shape;957;p62"/>
          <p:cNvSpPr/>
          <p:nvPr/>
        </p:nvSpPr>
        <p:spPr>
          <a:xfrm>
            <a:off x="6717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vs 2</a:t>
            </a:r>
            <a:endParaRPr/>
          </a:p>
        </p:txBody>
      </p:sp>
      <p:sp>
        <p:nvSpPr>
          <p:cNvPr id="959" name="Google Shape;959;p62"/>
          <p:cNvSpPr/>
          <p:nvPr/>
        </p:nvSpPr>
        <p:spPr>
          <a:xfrm>
            <a:off x="10766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vs 7</a:t>
            </a:r>
            <a:endParaRPr/>
          </a:p>
        </p:txBody>
      </p:sp>
      <p:sp>
        <p:nvSpPr>
          <p:cNvPr id="961" name="Google Shape;961;p62"/>
          <p:cNvSpPr/>
          <p:nvPr/>
        </p:nvSpPr>
        <p:spPr>
          <a:xfrm>
            <a:off x="2023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3 vs 4</a:t>
            </a:r>
            <a:endParaRPr/>
          </a:p>
        </p:txBody>
      </p:sp>
      <p:sp>
        <p:nvSpPr>
          <p:cNvPr id="969" name="Google Shape;969;p62"/>
          <p:cNvSpPr/>
          <p:nvPr/>
        </p:nvSpPr>
        <p:spPr>
          <a:xfrm>
            <a:off x="2970888"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 vs A</a:t>
            </a:r>
            <a:endParaRPr/>
          </a:p>
        </p:txBody>
      </p:sp>
      <p:sp>
        <p:nvSpPr>
          <p:cNvPr id="971" name="Google Shape;971;p62"/>
          <p:cNvSpPr/>
          <p:nvPr/>
        </p:nvSpPr>
        <p:spPr>
          <a:xfrm>
            <a:off x="3855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vs C</a:t>
            </a:r>
            <a:endParaRPr/>
          </a:p>
        </p:txBody>
      </p:sp>
      <p:sp>
        <p:nvSpPr>
          <p:cNvPr id="973" name="Google Shape;973;p62"/>
          <p:cNvSpPr/>
          <p:nvPr/>
        </p:nvSpPr>
        <p:spPr>
          <a:xfrm>
            <a:off x="474061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9 vs A</a:t>
            </a:r>
            <a:endParaRPr/>
          </a:p>
        </p:txBody>
      </p:sp>
      <p:sp>
        <p:nvSpPr>
          <p:cNvPr id="963" name="Google Shape;963;p62"/>
          <p:cNvSpPr/>
          <p:nvPr/>
        </p:nvSpPr>
        <p:spPr>
          <a:xfrm>
            <a:off x="568776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7 vs 8</a:t>
            </a:r>
            <a:endParaRPr/>
          </a:p>
        </p:txBody>
      </p:sp>
      <p:sp>
        <p:nvSpPr>
          <p:cNvPr id="965" name="Google Shape;965;p62"/>
          <p:cNvSpPr/>
          <p:nvPr/>
        </p:nvSpPr>
        <p:spPr>
          <a:xfrm>
            <a:off x="66349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vs 3</a:t>
            </a:r>
            <a:endParaRPr/>
          </a:p>
        </p:txBody>
      </p:sp>
      <p:sp>
        <p:nvSpPr>
          <p:cNvPr id="967" name="Google Shape;967;p62"/>
          <p:cNvSpPr/>
          <p:nvPr/>
        </p:nvSpPr>
        <p:spPr>
          <a:xfrm>
            <a:off x="764432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5 vs 6</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1000"/>
                                        <p:tgtEl>
                                          <p:spTgt spid="9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7" name="Shape 977"/>
        <p:cNvGrpSpPr/>
        <p:nvPr/>
      </p:nvGrpSpPr>
      <p:grpSpPr>
        <a:xfrm>
          <a:off x="0" y="0"/>
          <a:ext cx="0" cy="0"/>
          <a:chOff x="0" y="0"/>
          <a:chExt cx="0" cy="0"/>
        </a:xfrm>
      </p:grpSpPr>
      <p:sp>
        <p:nvSpPr>
          <p:cNvPr id="978" name="Google Shape;978;p6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13 Coins: Proof of Impossibility</a:t>
            </a:r>
            <a:endParaRPr/>
          </a:p>
        </p:txBody>
      </p:sp>
      <p:sp>
        <p:nvSpPr>
          <p:cNvPr id="979" name="Google Shape;979;p63"/>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For 13 coins, this is impossible. We do have 26 &lt; 27 universes, but we also need our first weighing to narrow down to 9 or fewer universes. Our first weighing needs to compare an equal number of coins, so we can check all possible weighings to show that no first weighing splits our 27 universes into groups 9 or smaller (the below is the closest we get)</a:t>
            </a:r>
            <a:endParaRPr/>
          </a:p>
        </p:txBody>
      </p:sp>
      <p:sp>
        <p:nvSpPr>
          <p:cNvPr id="980" name="Google Shape;980;p63"/>
          <p:cNvSpPr/>
          <p:nvPr/>
        </p:nvSpPr>
        <p:spPr>
          <a:xfrm>
            <a:off x="3649350" y="2509200"/>
            <a:ext cx="12219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t>1234 vs 5678</a:t>
            </a:r>
            <a:endParaRPr sz="1300"/>
          </a:p>
        </p:txBody>
      </p:sp>
      <p:sp>
        <p:nvSpPr>
          <p:cNvPr id="981" name="Google Shape;981;p63"/>
          <p:cNvSpPr/>
          <p:nvPr/>
        </p:nvSpPr>
        <p:spPr>
          <a:xfrm>
            <a:off x="8702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 universes</a:t>
            </a:r>
            <a:endParaRPr/>
          </a:p>
        </p:txBody>
      </p:sp>
      <p:sp>
        <p:nvSpPr>
          <p:cNvPr id="982" name="Google Shape;982;p63"/>
          <p:cNvSpPr/>
          <p:nvPr/>
        </p:nvSpPr>
        <p:spPr>
          <a:xfrm>
            <a:off x="364935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10 universes</a:t>
            </a:r>
            <a:endParaRPr/>
          </a:p>
        </p:txBody>
      </p:sp>
      <p:sp>
        <p:nvSpPr>
          <p:cNvPr id="983" name="Google Shape;983;p63"/>
          <p:cNvSpPr/>
          <p:nvPr/>
        </p:nvSpPr>
        <p:spPr>
          <a:xfrm>
            <a:off x="64285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 universes</a:t>
            </a:r>
            <a:endParaRPr/>
          </a:p>
        </p:txBody>
      </p:sp>
      <p:cxnSp>
        <p:nvCxnSpPr>
          <p:cNvPr id="984" name="Google Shape;984;p63"/>
          <p:cNvCxnSpPr>
            <a:stCxn id="980" idx="2"/>
            <a:endCxn id="981" idx="0"/>
          </p:cNvCxnSpPr>
          <p:nvPr/>
        </p:nvCxnSpPr>
        <p:spPr>
          <a:xfrm flipH="1">
            <a:off x="1481100" y="3019500"/>
            <a:ext cx="2779200" cy="217800"/>
          </a:xfrm>
          <a:prstGeom prst="straightConnector1">
            <a:avLst/>
          </a:prstGeom>
          <a:noFill/>
          <a:ln cap="flat" cmpd="sng" w="38100">
            <a:solidFill>
              <a:srgbClr val="FF0000"/>
            </a:solidFill>
            <a:prstDash val="solid"/>
            <a:round/>
            <a:headEnd len="med" w="med" type="none"/>
            <a:tailEnd len="med" w="med" type="none"/>
          </a:ln>
        </p:spPr>
      </p:cxnSp>
      <p:cxnSp>
        <p:nvCxnSpPr>
          <p:cNvPr id="985" name="Google Shape;985;p63"/>
          <p:cNvCxnSpPr>
            <a:stCxn id="980" idx="2"/>
            <a:endCxn id="982" idx="0"/>
          </p:cNvCxnSpPr>
          <p:nvPr/>
        </p:nvCxnSpPr>
        <p:spPr>
          <a:xfrm>
            <a:off x="4260300" y="3019500"/>
            <a:ext cx="0" cy="217800"/>
          </a:xfrm>
          <a:prstGeom prst="straightConnector1">
            <a:avLst/>
          </a:prstGeom>
          <a:noFill/>
          <a:ln cap="flat" cmpd="sng" w="38100">
            <a:solidFill>
              <a:schemeClr val="dk2"/>
            </a:solidFill>
            <a:prstDash val="solid"/>
            <a:round/>
            <a:headEnd len="med" w="med" type="none"/>
            <a:tailEnd len="med" w="med" type="none"/>
          </a:ln>
        </p:spPr>
      </p:cxnSp>
      <p:cxnSp>
        <p:nvCxnSpPr>
          <p:cNvPr id="986" name="Google Shape;986;p63"/>
          <p:cNvCxnSpPr>
            <a:stCxn id="980" idx="2"/>
            <a:endCxn id="983" idx="0"/>
          </p:cNvCxnSpPr>
          <p:nvPr/>
        </p:nvCxnSpPr>
        <p:spPr>
          <a:xfrm>
            <a:off x="4260300" y="3019500"/>
            <a:ext cx="2779200" cy="217800"/>
          </a:xfrm>
          <a:prstGeom prst="straightConnector1">
            <a:avLst/>
          </a:prstGeom>
          <a:noFill/>
          <a:ln cap="flat" cmpd="sng" w="38100">
            <a:solidFill>
              <a:srgbClr val="0000FF"/>
            </a:solidFill>
            <a:prstDash val="solid"/>
            <a:round/>
            <a:headEnd len="med" w="med" type="none"/>
            <a:tailEnd len="med" w="med" type="none"/>
          </a:ln>
        </p:spPr>
      </p:cxnSp>
      <p:cxnSp>
        <p:nvCxnSpPr>
          <p:cNvPr id="987" name="Google Shape;987;p63"/>
          <p:cNvCxnSpPr>
            <a:stCxn id="981" idx="2"/>
            <a:endCxn id="988" idx="0"/>
          </p:cNvCxnSpPr>
          <p:nvPr/>
        </p:nvCxnSpPr>
        <p:spPr>
          <a:xfrm flipH="1">
            <a:off x="471650" y="3830950"/>
            <a:ext cx="1009500" cy="462300"/>
          </a:xfrm>
          <a:prstGeom prst="straightConnector1">
            <a:avLst/>
          </a:prstGeom>
          <a:noFill/>
          <a:ln cap="flat" cmpd="sng" w="38100">
            <a:solidFill>
              <a:srgbClr val="FF0000"/>
            </a:solidFill>
            <a:prstDash val="solid"/>
            <a:round/>
            <a:headEnd len="med" w="med" type="none"/>
            <a:tailEnd len="med" w="med" type="none"/>
          </a:ln>
        </p:spPr>
      </p:cxnSp>
      <p:cxnSp>
        <p:nvCxnSpPr>
          <p:cNvPr id="989" name="Google Shape;989;p63"/>
          <p:cNvCxnSpPr>
            <a:stCxn id="981" idx="2"/>
            <a:endCxn id="990" idx="0"/>
          </p:cNvCxnSpPr>
          <p:nvPr/>
        </p:nvCxnSpPr>
        <p:spPr>
          <a:xfrm>
            <a:off x="14811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991" name="Google Shape;991;p63"/>
          <p:cNvCxnSpPr>
            <a:stCxn id="981" idx="2"/>
            <a:endCxn id="992" idx="0"/>
          </p:cNvCxnSpPr>
          <p:nvPr/>
        </p:nvCxnSpPr>
        <p:spPr>
          <a:xfrm>
            <a:off x="1481150" y="3830950"/>
            <a:ext cx="947100" cy="462300"/>
          </a:xfrm>
          <a:prstGeom prst="straightConnector1">
            <a:avLst/>
          </a:prstGeom>
          <a:noFill/>
          <a:ln cap="flat" cmpd="sng" w="38100">
            <a:solidFill>
              <a:srgbClr val="0000FF"/>
            </a:solidFill>
            <a:prstDash val="solid"/>
            <a:round/>
            <a:headEnd len="med" w="med" type="none"/>
            <a:tailEnd len="med" w="med" type="none"/>
          </a:ln>
        </p:spPr>
      </p:cxnSp>
      <p:cxnSp>
        <p:nvCxnSpPr>
          <p:cNvPr id="993" name="Google Shape;993;p63"/>
          <p:cNvCxnSpPr>
            <a:stCxn id="983" idx="2"/>
            <a:endCxn id="994" idx="0"/>
          </p:cNvCxnSpPr>
          <p:nvPr/>
        </p:nvCxnSpPr>
        <p:spPr>
          <a:xfrm flipH="1">
            <a:off x="6092350" y="3830950"/>
            <a:ext cx="947100" cy="462300"/>
          </a:xfrm>
          <a:prstGeom prst="straightConnector1">
            <a:avLst/>
          </a:prstGeom>
          <a:noFill/>
          <a:ln cap="flat" cmpd="sng" w="38100">
            <a:solidFill>
              <a:srgbClr val="FF0000"/>
            </a:solidFill>
            <a:prstDash val="solid"/>
            <a:round/>
            <a:headEnd len="med" w="med" type="none"/>
            <a:tailEnd len="med" w="med" type="none"/>
          </a:ln>
        </p:spPr>
      </p:cxnSp>
      <p:cxnSp>
        <p:nvCxnSpPr>
          <p:cNvPr id="995" name="Google Shape;995;p63"/>
          <p:cNvCxnSpPr>
            <a:stCxn id="983" idx="2"/>
            <a:endCxn id="996" idx="0"/>
          </p:cNvCxnSpPr>
          <p:nvPr/>
        </p:nvCxnSpPr>
        <p:spPr>
          <a:xfrm>
            <a:off x="70394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997" name="Google Shape;997;p63"/>
          <p:cNvCxnSpPr>
            <a:stCxn id="983" idx="2"/>
            <a:endCxn id="998" idx="0"/>
          </p:cNvCxnSpPr>
          <p:nvPr/>
        </p:nvCxnSpPr>
        <p:spPr>
          <a:xfrm>
            <a:off x="7039450" y="3830950"/>
            <a:ext cx="1009500" cy="462300"/>
          </a:xfrm>
          <a:prstGeom prst="straightConnector1">
            <a:avLst/>
          </a:prstGeom>
          <a:noFill/>
          <a:ln cap="flat" cmpd="sng" w="38100">
            <a:solidFill>
              <a:srgbClr val="0000FF"/>
            </a:solidFill>
            <a:prstDash val="solid"/>
            <a:round/>
            <a:headEnd len="med" w="med" type="none"/>
            <a:tailEnd len="med" w="med" type="none"/>
          </a:ln>
        </p:spPr>
      </p:cxnSp>
      <p:cxnSp>
        <p:nvCxnSpPr>
          <p:cNvPr id="999" name="Google Shape;999;p63"/>
          <p:cNvCxnSpPr>
            <a:stCxn id="982" idx="2"/>
            <a:endCxn id="1000" idx="0"/>
          </p:cNvCxnSpPr>
          <p:nvPr/>
        </p:nvCxnSpPr>
        <p:spPr>
          <a:xfrm flipH="1">
            <a:off x="3375300" y="3830950"/>
            <a:ext cx="885000" cy="462300"/>
          </a:xfrm>
          <a:prstGeom prst="straightConnector1">
            <a:avLst/>
          </a:prstGeom>
          <a:noFill/>
          <a:ln cap="flat" cmpd="sng" w="38100">
            <a:solidFill>
              <a:srgbClr val="FF0000"/>
            </a:solidFill>
            <a:prstDash val="solid"/>
            <a:round/>
            <a:headEnd len="med" w="med" type="none"/>
            <a:tailEnd len="med" w="med" type="none"/>
          </a:ln>
        </p:spPr>
      </p:cxnSp>
      <p:cxnSp>
        <p:nvCxnSpPr>
          <p:cNvPr id="1001" name="Google Shape;1001;p63"/>
          <p:cNvCxnSpPr>
            <a:stCxn id="982" idx="2"/>
            <a:endCxn id="1002" idx="0"/>
          </p:cNvCxnSpPr>
          <p:nvPr/>
        </p:nvCxnSpPr>
        <p:spPr>
          <a:xfrm>
            <a:off x="426030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1003" name="Google Shape;1003;p63"/>
          <p:cNvCxnSpPr>
            <a:stCxn id="982" idx="2"/>
            <a:endCxn id="1004" idx="0"/>
          </p:cNvCxnSpPr>
          <p:nvPr/>
        </p:nvCxnSpPr>
        <p:spPr>
          <a:xfrm>
            <a:off x="4260300" y="3830950"/>
            <a:ext cx="885000" cy="462300"/>
          </a:xfrm>
          <a:prstGeom prst="straightConnector1">
            <a:avLst/>
          </a:prstGeom>
          <a:noFill/>
          <a:ln cap="flat" cmpd="sng" w="38100">
            <a:solidFill>
              <a:srgbClr val="0000FF"/>
            </a:solidFill>
            <a:prstDash val="solid"/>
            <a:round/>
            <a:headEnd len="med" w="med" type="none"/>
            <a:tailEnd len="med" w="med" type="none"/>
          </a:ln>
        </p:spPr>
      </p:cxnSp>
      <p:sp>
        <p:nvSpPr>
          <p:cNvPr id="988" name="Google Shape;988;p63"/>
          <p:cNvSpPr/>
          <p:nvPr/>
        </p:nvSpPr>
        <p:spPr>
          <a:xfrm>
            <a:off x="6717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90" name="Google Shape;990;p63"/>
          <p:cNvSpPr/>
          <p:nvPr/>
        </p:nvSpPr>
        <p:spPr>
          <a:xfrm>
            <a:off x="10766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92" name="Google Shape;992;p63"/>
          <p:cNvSpPr/>
          <p:nvPr/>
        </p:nvSpPr>
        <p:spPr>
          <a:xfrm>
            <a:off x="2023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00" name="Google Shape;1000;p63"/>
          <p:cNvSpPr/>
          <p:nvPr/>
        </p:nvSpPr>
        <p:spPr>
          <a:xfrm>
            <a:off x="2970888"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02" name="Google Shape;1002;p63"/>
          <p:cNvSpPr/>
          <p:nvPr/>
        </p:nvSpPr>
        <p:spPr>
          <a:xfrm>
            <a:off x="3855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04" name="Google Shape;1004;p63"/>
          <p:cNvSpPr/>
          <p:nvPr/>
        </p:nvSpPr>
        <p:spPr>
          <a:xfrm>
            <a:off x="474061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94" name="Google Shape;994;p63"/>
          <p:cNvSpPr/>
          <p:nvPr/>
        </p:nvSpPr>
        <p:spPr>
          <a:xfrm>
            <a:off x="568776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96" name="Google Shape;996;p63"/>
          <p:cNvSpPr/>
          <p:nvPr/>
        </p:nvSpPr>
        <p:spPr>
          <a:xfrm>
            <a:off x="66349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98" name="Google Shape;998;p63"/>
          <p:cNvSpPr/>
          <p:nvPr/>
        </p:nvSpPr>
        <p:spPr>
          <a:xfrm>
            <a:off x="764432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1"/>
                                        </p:tgtEl>
                                        <p:attrNameLst>
                                          <p:attrName>style.visibility</p:attrName>
                                        </p:attrNameLst>
                                      </p:cBhvr>
                                      <p:to>
                                        <p:strVal val="visible"/>
                                      </p:to>
                                    </p:set>
                                    <p:animEffect filter="fade" transition="in">
                                      <p:cBhvr>
                                        <p:cTn dur="1000"/>
                                        <p:tgtEl>
                                          <p:spTgt spid="9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8" name="Shape 1008"/>
        <p:cNvGrpSpPr/>
        <p:nvPr/>
      </p:nvGrpSpPr>
      <p:grpSpPr>
        <a:xfrm>
          <a:off x="0" y="0"/>
          <a:ext cx="0" cy="0"/>
          <a:chOff x="0" y="0"/>
          <a:chExt cx="0" cy="0"/>
        </a:xfrm>
      </p:grpSpPr>
      <p:sp>
        <p:nvSpPr>
          <p:cNvPr id="1009" name="Google Shape;1009;p6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13 Coins with a Reference</a:t>
            </a:r>
            <a:endParaRPr/>
          </a:p>
        </p:txBody>
      </p:sp>
      <p:sp>
        <p:nvSpPr>
          <p:cNvPr id="1010" name="Google Shape;1010;p64"/>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For 13 coins with a reference, this is possible, because the reference lets us split into 9-8-9 universes.</a:t>
            </a:r>
            <a:endParaRPr/>
          </a:p>
        </p:txBody>
      </p:sp>
      <p:sp>
        <p:nvSpPr>
          <p:cNvPr id="1011" name="Google Shape;1011;p64"/>
          <p:cNvSpPr/>
          <p:nvPr/>
        </p:nvSpPr>
        <p:spPr>
          <a:xfrm>
            <a:off x="3566950" y="2509200"/>
            <a:ext cx="13869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t>12345 vs 6789R</a:t>
            </a:r>
            <a:endParaRPr sz="1300"/>
          </a:p>
        </p:txBody>
      </p:sp>
      <p:sp>
        <p:nvSpPr>
          <p:cNvPr id="1012" name="Google Shape;1012;p64"/>
          <p:cNvSpPr/>
          <p:nvPr/>
        </p:nvSpPr>
        <p:spPr>
          <a:xfrm>
            <a:off x="8702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126 vs 347</a:t>
            </a:r>
            <a:endParaRPr/>
          </a:p>
        </p:txBody>
      </p:sp>
      <p:sp>
        <p:nvSpPr>
          <p:cNvPr id="1013" name="Google Shape;1013;p64"/>
          <p:cNvSpPr/>
          <p:nvPr/>
        </p:nvSpPr>
        <p:spPr>
          <a:xfrm>
            <a:off x="364935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Same as 12 coin</a:t>
            </a:r>
            <a:endParaRPr/>
          </a:p>
        </p:txBody>
      </p:sp>
      <p:sp>
        <p:nvSpPr>
          <p:cNvPr id="1014" name="Google Shape;1014;p64"/>
          <p:cNvSpPr/>
          <p:nvPr/>
        </p:nvSpPr>
        <p:spPr>
          <a:xfrm>
            <a:off x="64285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126 vs 347</a:t>
            </a:r>
            <a:endParaRPr/>
          </a:p>
        </p:txBody>
      </p:sp>
      <p:cxnSp>
        <p:nvCxnSpPr>
          <p:cNvPr id="1015" name="Google Shape;1015;p64"/>
          <p:cNvCxnSpPr>
            <a:stCxn id="1011" idx="2"/>
            <a:endCxn id="1012" idx="0"/>
          </p:cNvCxnSpPr>
          <p:nvPr/>
        </p:nvCxnSpPr>
        <p:spPr>
          <a:xfrm flipH="1">
            <a:off x="1481200" y="3019500"/>
            <a:ext cx="2779200" cy="217800"/>
          </a:xfrm>
          <a:prstGeom prst="straightConnector1">
            <a:avLst/>
          </a:prstGeom>
          <a:noFill/>
          <a:ln cap="flat" cmpd="sng" w="38100">
            <a:solidFill>
              <a:srgbClr val="FF0000"/>
            </a:solidFill>
            <a:prstDash val="solid"/>
            <a:round/>
            <a:headEnd len="med" w="med" type="none"/>
            <a:tailEnd len="med" w="med" type="none"/>
          </a:ln>
        </p:spPr>
      </p:cxnSp>
      <p:cxnSp>
        <p:nvCxnSpPr>
          <p:cNvPr id="1016" name="Google Shape;1016;p64"/>
          <p:cNvCxnSpPr>
            <a:stCxn id="1011" idx="2"/>
            <a:endCxn id="1013" idx="0"/>
          </p:cNvCxnSpPr>
          <p:nvPr/>
        </p:nvCxnSpPr>
        <p:spPr>
          <a:xfrm>
            <a:off x="4260400" y="3019500"/>
            <a:ext cx="0" cy="217800"/>
          </a:xfrm>
          <a:prstGeom prst="straightConnector1">
            <a:avLst/>
          </a:prstGeom>
          <a:noFill/>
          <a:ln cap="flat" cmpd="sng" w="38100">
            <a:solidFill>
              <a:schemeClr val="dk2"/>
            </a:solidFill>
            <a:prstDash val="solid"/>
            <a:round/>
            <a:headEnd len="med" w="med" type="none"/>
            <a:tailEnd len="med" w="med" type="none"/>
          </a:ln>
        </p:spPr>
      </p:cxnSp>
      <p:cxnSp>
        <p:nvCxnSpPr>
          <p:cNvPr id="1017" name="Google Shape;1017;p64"/>
          <p:cNvCxnSpPr>
            <a:stCxn id="1011" idx="2"/>
            <a:endCxn id="1014" idx="0"/>
          </p:cNvCxnSpPr>
          <p:nvPr/>
        </p:nvCxnSpPr>
        <p:spPr>
          <a:xfrm>
            <a:off x="4260400" y="3019500"/>
            <a:ext cx="2779200" cy="217800"/>
          </a:xfrm>
          <a:prstGeom prst="straightConnector1">
            <a:avLst/>
          </a:prstGeom>
          <a:noFill/>
          <a:ln cap="flat" cmpd="sng" w="38100">
            <a:solidFill>
              <a:srgbClr val="0000FF"/>
            </a:solidFill>
            <a:prstDash val="solid"/>
            <a:round/>
            <a:headEnd len="med" w="med" type="none"/>
            <a:tailEnd len="med" w="med" type="none"/>
          </a:ln>
        </p:spPr>
      </p:cxnSp>
      <p:cxnSp>
        <p:nvCxnSpPr>
          <p:cNvPr id="1018" name="Google Shape;1018;p64"/>
          <p:cNvCxnSpPr>
            <a:stCxn id="1012" idx="2"/>
            <a:endCxn id="1019" idx="0"/>
          </p:cNvCxnSpPr>
          <p:nvPr/>
        </p:nvCxnSpPr>
        <p:spPr>
          <a:xfrm flipH="1">
            <a:off x="471650" y="3830950"/>
            <a:ext cx="1009500" cy="462300"/>
          </a:xfrm>
          <a:prstGeom prst="straightConnector1">
            <a:avLst/>
          </a:prstGeom>
          <a:noFill/>
          <a:ln cap="flat" cmpd="sng" w="38100">
            <a:solidFill>
              <a:srgbClr val="FF0000"/>
            </a:solidFill>
            <a:prstDash val="solid"/>
            <a:round/>
            <a:headEnd len="med" w="med" type="none"/>
            <a:tailEnd len="med" w="med" type="none"/>
          </a:ln>
        </p:spPr>
      </p:cxnSp>
      <p:cxnSp>
        <p:nvCxnSpPr>
          <p:cNvPr id="1020" name="Google Shape;1020;p64"/>
          <p:cNvCxnSpPr>
            <a:stCxn id="1012" idx="2"/>
            <a:endCxn id="1021" idx="0"/>
          </p:cNvCxnSpPr>
          <p:nvPr/>
        </p:nvCxnSpPr>
        <p:spPr>
          <a:xfrm>
            <a:off x="14811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1022" name="Google Shape;1022;p64"/>
          <p:cNvCxnSpPr>
            <a:stCxn id="1012" idx="2"/>
            <a:endCxn id="1023" idx="0"/>
          </p:cNvCxnSpPr>
          <p:nvPr/>
        </p:nvCxnSpPr>
        <p:spPr>
          <a:xfrm>
            <a:off x="1481150" y="3830950"/>
            <a:ext cx="947100" cy="462300"/>
          </a:xfrm>
          <a:prstGeom prst="straightConnector1">
            <a:avLst/>
          </a:prstGeom>
          <a:noFill/>
          <a:ln cap="flat" cmpd="sng" w="38100">
            <a:solidFill>
              <a:srgbClr val="0000FF"/>
            </a:solidFill>
            <a:prstDash val="solid"/>
            <a:round/>
            <a:headEnd len="med" w="med" type="none"/>
            <a:tailEnd len="med" w="med" type="none"/>
          </a:ln>
        </p:spPr>
      </p:cxnSp>
      <p:cxnSp>
        <p:nvCxnSpPr>
          <p:cNvPr id="1024" name="Google Shape;1024;p64"/>
          <p:cNvCxnSpPr>
            <a:stCxn id="1014" idx="2"/>
            <a:endCxn id="1025" idx="0"/>
          </p:cNvCxnSpPr>
          <p:nvPr/>
        </p:nvCxnSpPr>
        <p:spPr>
          <a:xfrm flipH="1">
            <a:off x="6092350" y="3830950"/>
            <a:ext cx="947100" cy="462300"/>
          </a:xfrm>
          <a:prstGeom prst="straightConnector1">
            <a:avLst/>
          </a:prstGeom>
          <a:noFill/>
          <a:ln cap="flat" cmpd="sng" w="38100">
            <a:solidFill>
              <a:srgbClr val="FF0000"/>
            </a:solidFill>
            <a:prstDash val="solid"/>
            <a:round/>
            <a:headEnd len="med" w="med" type="none"/>
            <a:tailEnd len="med" w="med" type="none"/>
          </a:ln>
        </p:spPr>
      </p:cxnSp>
      <p:cxnSp>
        <p:nvCxnSpPr>
          <p:cNvPr id="1026" name="Google Shape;1026;p64"/>
          <p:cNvCxnSpPr>
            <a:stCxn id="1014" idx="2"/>
            <a:endCxn id="1027" idx="0"/>
          </p:cNvCxnSpPr>
          <p:nvPr/>
        </p:nvCxnSpPr>
        <p:spPr>
          <a:xfrm>
            <a:off x="70394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1028" name="Google Shape;1028;p64"/>
          <p:cNvCxnSpPr>
            <a:stCxn id="1014" idx="2"/>
            <a:endCxn id="1029" idx="0"/>
          </p:cNvCxnSpPr>
          <p:nvPr/>
        </p:nvCxnSpPr>
        <p:spPr>
          <a:xfrm>
            <a:off x="7039450" y="3830950"/>
            <a:ext cx="1009500" cy="462300"/>
          </a:xfrm>
          <a:prstGeom prst="straightConnector1">
            <a:avLst/>
          </a:prstGeom>
          <a:noFill/>
          <a:ln cap="flat" cmpd="sng" w="38100">
            <a:solidFill>
              <a:srgbClr val="0000FF"/>
            </a:solidFill>
            <a:prstDash val="solid"/>
            <a:round/>
            <a:headEnd len="med" w="med" type="none"/>
            <a:tailEnd len="med" w="med" type="none"/>
          </a:ln>
        </p:spPr>
      </p:cxnSp>
      <p:cxnSp>
        <p:nvCxnSpPr>
          <p:cNvPr id="1030" name="Google Shape;1030;p64"/>
          <p:cNvCxnSpPr>
            <a:stCxn id="1013" idx="2"/>
            <a:endCxn id="1031" idx="0"/>
          </p:cNvCxnSpPr>
          <p:nvPr/>
        </p:nvCxnSpPr>
        <p:spPr>
          <a:xfrm flipH="1">
            <a:off x="3375300" y="3830950"/>
            <a:ext cx="885000" cy="462300"/>
          </a:xfrm>
          <a:prstGeom prst="straightConnector1">
            <a:avLst/>
          </a:prstGeom>
          <a:noFill/>
          <a:ln cap="flat" cmpd="sng" w="38100">
            <a:solidFill>
              <a:srgbClr val="FF0000"/>
            </a:solidFill>
            <a:prstDash val="solid"/>
            <a:round/>
            <a:headEnd len="med" w="med" type="none"/>
            <a:tailEnd len="med" w="med" type="none"/>
          </a:ln>
        </p:spPr>
      </p:cxnSp>
      <p:cxnSp>
        <p:nvCxnSpPr>
          <p:cNvPr id="1032" name="Google Shape;1032;p64"/>
          <p:cNvCxnSpPr>
            <a:stCxn id="1013" idx="2"/>
            <a:endCxn id="1033" idx="0"/>
          </p:cNvCxnSpPr>
          <p:nvPr/>
        </p:nvCxnSpPr>
        <p:spPr>
          <a:xfrm>
            <a:off x="426030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1034" name="Google Shape;1034;p64"/>
          <p:cNvCxnSpPr>
            <a:stCxn id="1013" idx="2"/>
            <a:endCxn id="1035" idx="0"/>
          </p:cNvCxnSpPr>
          <p:nvPr/>
        </p:nvCxnSpPr>
        <p:spPr>
          <a:xfrm>
            <a:off x="4260300" y="3830950"/>
            <a:ext cx="885000" cy="462300"/>
          </a:xfrm>
          <a:prstGeom prst="straightConnector1">
            <a:avLst/>
          </a:prstGeom>
          <a:noFill/>
          <a:ln cap="flat" cmpd="sng" w="38100">
            <a:solidFill>
              <a:srgbClr val="0000FF"/>
            </a:solidFill>
            <a:prstDash val="solid"/>
            <a:round/>
            <a:headEnd len="med" w="med" type="none"/>
            <a:tailEnd len="med" w="med" type="none"/>
          </a:ln>
        </p:spPr>
      </p:cxnSp>
      <p:sp>
        <p:nvSpPr>
          <p:cNvPr id="1019" name="Google Shape;1019;p64"/>
          <p:cNvSpPr/>
          <p:nvPr/>
        </p:nvSpPr>
        <p:spPr>
          <a:xfrm>
            <a:off x="6717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vs 2</a:t>
            </a:r>
            <a:endParaRPr/>
          </a:p>
        </p:txBody>
      </p:sp>
      <p:sp>
        <p:nvSpPr>
          <p:cNvPr id="1021" name="Google Shape;1021;p64"/>
          <p:cNvSpPr/>
          <p:nvPr/>
        </p:nvSpPr>
        <p:spPr>
          <a:xfrm>
            <a:off x="10766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 vs 9</a:t>
            </a:r>
            <a:endParaRPr/>
          </a:p>
        </p:txBody>
      </p:sp>
      <p:sp>
        <p:nvSpPr>
          <p:cNvPr id="1023" name="Google Shape;1023;p64"/>
          <p:cNvSpPr/>
          <p:nvPr/>
        </p:nvSpPr>
        <p:spPr>
          <a:xfrm>
            <a:off x="2023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3 vs 4</a:t>
            </a:r>
            <a:endParaRPr/>
          </a:p>
        </p:txBody>
      </p:sp>
      <p:sp>
        <p:nvSpPr>
          <p:cNvPr id="1031" name="Google Shape;1031;p64"/>
          <p:cNvSpPr/>
          <p:nvPr/>
        </p:nvSpPr>
        <p:spPr>
          <a:xfrm>
            <a:off x="2970888"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3" name="Google Shape;1033;p64"/>
          <p:cNvSpPr/>
          <p:nvPr/>
        </p:nvSpPr>
        <p:spPr>
          <a:xfrm>
            <a:off x="3855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5" name="Google Shape;1035;p64"/>
          <p:cNvSpPr/>
          <p:nvPr/>
        </p:nvSpPr>
        <p:spPr>
          <a:xfrm>
            <a:off x="474061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25" name="Google Shape;1025;p64"/>
          <p:cNvSpPr/>
          <p:nvPr/>
        </p:nvSpPr>
        <p:spPr>
          <a:xfrm>
            <a:off x="568776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3 vs 4</a:t>
            </a:r>
            <a:endParaRPr/>
          </a:p>
        </p:txBody>
      </p:sp>
      <p:sp>
        <p:nvSpPr>
          <p:cNvPr id="1027" name="Google Shape;1027;p64"/>
          <p:cNvSpPr/>
          <p:nvPr/>
        </p:nvSpPr>
        <p:spPr>
          <a:xfrm>
            <a:off x="66349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8 vs 9</a:t>
            </a:r>
            <a:endParaRPr/>
          </a:p>
        </p:txBody>
      </p:sp>
      <p:sp>
        <p:nvSpPr>
          <p:cNvPr id="1029" name="Google Shape;1029;p64"/>
          <p:cNvSpPr/>
          <p:nvPr/>
        </p:nvSpPr>
        <p:spPr>
          <a:xfrm>
            <a:off x="764432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 vs 2</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2"/>
                                        </p:tgtEl>
                                        <p:attrNameLst>
                                          <p:attrName>style.visibility</p:attrName>
                                        </p:attrNameLst>
                                      </p:cBhvr>
                                      <p:to>
                                        <p:strVal val="visible"/>
                                      </p:to>
                                    </p:set>
                                    <p:animEffect filter="fade" transition="in">
                                      <p:cBhvr>
                                        <p:cTn dur="1000"/>
                                        <p:tgtEl>
                                          <p:spTgt spid="10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9" name="Shape 1039"/>
        <p:cNvGrpSpPr/>
        <p:nvPr/>
      </p:nvGrpSpPr>
      <p:grpSpPr>
        <a:xfrm>
          <a:off x="0" y="0"/>
          <a:ext cx="0" cy="0"/>
          <a:chOff x="0" y="0"/>
          <a:chExt cx="0" cy="0"/>
        </a:xfrm>
      </p:grpSpPr>
      <p:sp>
        <p:nvSpPr>
          <p:cNvPr id="1040" name="Google Shape;1040;p6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13 Coins with only Identification</a:t>
            </a:r>
            <a:endParaRPr/>
          </a:p>
        </p:txBody>
      </p:sp>
      <p:sp>
        <p:nvSpPr>
          <p:cNvPr id="1041" name="Google Shape;1041;p65"/>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For 13 coins when we only care about identifying the counterfeit, it's possible using the solution we found for 12 coins. If we follow the decision tree, we find that two universes do end up at the same leaf.</a:t>
            </a:r>
            <a:endParaRPr/>
          </a:p>
          <a:p>
            <a:pPr indent="0" lvl="0" marL="0" rtl="0" algn="l">
              <a:spcBef>
                <a:spcPts val="600"/>
              </a:spcBef>
              <a:spcAft>
                <a:spcPts val="0"/>
              </a:spcAft>
              <a:buNone/>
            </a:pPr>
            <a:r>
              <a:rPr lang="en"/>
              <a:t>But because they both have the same return value, our algorithm still works.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Universe where D is heavy							     Universe where D is light</a:t>
            </a:r>
            <a:endParaRPr/>
          </a:p>
        </p:txBody>
      </p:sp>
      <p:sp>
        <p:nvSpPr>
          <p:cNvPr id="1042" name="Google Shape;1042;p65"/>
          <p:cNvSpPr/>
          <p:nvPr/>
        </p:nvSpPr>
        <p:spPr>
          <a:xfrm>
            <a:off x="3398700" y="2685975"/>
            <a:ext cx="2346600" cy="16338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3100"/>
              <a:t>D</a:t>
            </a:r>
            <a:r>
              <a:rPr lang="en" sz="3100"/>
              <a:t> Fake</a:t>
            </a:r>
            <a:endParaRPr sz="3100"/>
          </a:p>
        </p:txBody>
      </p:sp>
      <p:sp>
        <p:nvSpPr>
          <p:cNvPr id="1043" name="Google Shape;1043;p65"/>
          <p:cNvSpPr/>
          <p:nvPr/>
        </p:nvSpPr>
        <p:spPr>
          <a:xfrm>
            <a:off x="182625"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1044" name="Google Shape;1044;p65"/>
          <p:cNvSpPr/>
          <p:nvPr/>
        </p:nvSpPr>
        <p:spPr>
          <a:xfrm>
            <a:off x="820025"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1045" name="Google Shape;1045;p65"/>
          <p:cNvSpPr/>
          <p:nvPr/>
        </p:nvSpPr>
        <p:spPr>
          <a:xfrm>
            <a:off x="1457425"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1046" name="Google Shape;1046;p65"/>
          <p:cNvSpPr/>
          <p:nvPr/>
        </p:nvSpPr>
        <p:spPr>
          <a:xfrm>
            <a:off x="2086000"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1047" name="Google Shape;1047;p65"/>
          <p:cNvSpPr/>
          <p:nvPr/>
        </p:nvSpPr>
        <p:spPr>
          <a:xfrm>
            <a:off x="2723400" y="2919588"/>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1048" name="Google Shape;1048;p65"/>
          <p:cNvSpPr/>
          <p:nvPr/>
        </p:nvSpPr>
        <p:spPr>
          <a:xfrm>
            <a:off x="187038"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1049" name="Google Shape;1049;p65"/>
          <p:cNvSpPr/>
          <p:nvPr/>
        </p:nvSpPr>
        <p:spPr>
          <a:xfrm>
            <a:off x="8156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1050" name="Google Shape;1050;p65"/>
          <p:cNvSpPr/>
          <p:nvPr/>
        </p:nvSpPr>
        <p:spPr>
          <a:xfrm>
            <a:off x="14530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1051" name="Google Shape;1051;p65"/>
          <p:cNvSpPr/>
          <p:nvPr/>
        </p:nvSpPr>
        <p:spPr>
          <a:xfrm>
            <a:off x="20904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
        <p:nvSpPr>
          <p:cNvPr id="1052" name="Google Shape;1052;p65"/>
          <p:cNvSpPr/>
          <p:nvPr/>
        </p:nvSpPr>
        <p:spPr>
          <a:xfrm>
            <a:off x="2727813" y="360195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053" name="Google Shape;1053;p65"/>
          <p:cNvSpPr/>
          <p:nvPr/>
        </p:nvSpPr>
        <p:spPr>
          <a:xfrm>
            <a:off x="5931975"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1054" name="Google Shape;1054;p65"/>
          <p:cNvSpPr/>
          <p:nvPr/>
        </p:nvSpPr>
        <p:spPr>
          <a:xfrm>
            <a:off x="6569375"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1055" name="Google Shape;1055;p65"/>
          <p:cNvSpPr/>
          <p:nvPr/>
        </p:nvSpPr>
        <p:spPr>
          <a:xfrm>
            <a:off x="7206775"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1056" name="Google Shape;1056;p65"/>
          <p:cNvSpPr/>
          <p:nvPr/>
        </p:nvSpPr>
        <p:spPr>
          <a:xfrm>
            <a:off x="7835350"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1057" name="Google Shape;1057;p65"/>
          <p:cNvSpPr/>
          <p:nvPr/>
        </p:nvSpPr>
        <p:spPr>
          <a:xfrm>
            <a:off x="8472750" y="2919613"/>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1058" name="Google Shape;1058;p65"/>
          <p:cNvSpPr/>
          <p:nvPr/>
        </p:nvSpPr>
        <p:spPr>
          <a:xfrm>
            <a:off x="5936388"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1059" name="Google Shape;1059;p65"/>
          <p:cNvSpPr/>
          <p:nvPr/>
        </p:nvSpPr>
        <p:spPr>
          <a:xfrm>
            <a:off x="65649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1060" name="Google Shape;1060;p65"/>
          <p:cNvSpPr/>
          <p:nvPr/>
        </p:nvSpPr>
        <p:spPr>
          <a:xfrm>
            <a:off x="72023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1061" name="Google Shape;1061;p65"/>
          <p:cNvSpPr/>
          <p:nvPr/>
        </p:nvSpPr>
        <p:spPr>
          <a:xfrm>
            <a:off x="78397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
        <p:nvSpPr>
          <p:cNvPr id="1062" name="Google Shape;1062;p65"/>
          <p:cNvSpPr/>
          <p:nvPr/>
        </p:nvSpPr>
        <p:spPr>
          <a:xfrm>
            <a:off x="8477163" y="360197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063" name="Google Shape;1063;p65"/>
          <p:cNvSpPr/>
          <p:nvPr/>
        </p:nvSpPr>
        <p:spPr>
          <a:xfrm>
            <a:off x="820013" y="42843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064" name="Google Shape;1064;p65"/>
          <p:cNvSpPr/>
          <p:nvPr/>
        </p:nvSpPr>
        <p:spPr>
          <a:xfrm>
            <a:off x="1457413" y="42843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065" name="Google Shape;1065;p65"/>
          <p:cNvSpPr/>
          <p:nvPr/>
        </p:nvSpPr>
        <p:spPr>
          <a:xfrm>
            <a:off x="2094813" y="4284300"/>
            <a:ext cx="484200" cy="484200"/>
          </a:xfrm>
          <a:prstGeom prst="ellipse">
            <a:avLst/>
          </a:prstGeom>
          <a:solidFill>
            <a:srgbClr val="FF0000"/>
          </a:solidFill>
          <a:ln cap="flat" cmpd="sng" w="114300">
            <a:solidFill>
              <a:srgbClr val="FF00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sp>
        <p:nvSpPr>
          <p:cNvPr id="1066" name="Google Shape;1066;p65"/>
          <p:cNvSpPr/>
          <p:nvPr/>
        </p:nvSpPr>
        <p:spPr>
          <a:xfrm>
            <a:off x="6564963" y="42843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067" name="Google Shape;1067;p65"/>
          <p:cNvSpPr/>
          <p:nvPr/>
        </p:nvSpPr>
        <p:spPr>
          <a:xfrm>
            <a:off x="7202363" y="4284325"/>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068" name="Google Shape;1068;p65"/>
          <p:cNvSpPr/>
          <p:nvPr/>
        </p:nvSpPr>
        <p:spPr>
          <a:xfrm>
            <a:off x="7839763" y="4284325"/>
            <a:ext cx="484200" cy="484200"/>
          </a:xfrm>
          <a:prstGeom prst="ellipse">
            <a:avLst/>
          </a:prstGeom>
          <a:solidFill>
            <a:srgbClr val="FF00FF"/>
          </a:solidFill>
          <a:ln cap="flat" cmpd="sng" w="11430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72" name="Shape 1072"/>
        <p:cNvGrpSpPr/>
        <p:nvPr/>
      </p:nvGrpSpPr>
      <p:grpSpPr>
        <a:xfrm>
          <a:off x="0" y="0"/>
          <a:ext cx="0" cy="0"/>
          <a:chOff x="0" y="0"/>
          <a:chExt cx="0" cy="0"/>
        </a:xfrm>
      </p:grpSpPr>
      <p:sp>
        <p:nvSpPr>
          <p:cNvPr id="1073" name="Google Shape;1073;p6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12/13 Coins</a:t>
            </a:r>
            <a:endParaRPr/>
          </a:p>
        </p:txBody>
      </p:sp>
      <p:sp>
        <p:nvSpPr>
          <p:cNvPr id="1074" name="Google Shape;1074;p6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sz="1600"/>
              <a:t>Universe counting is a useful tool to find lower bounds of algorithms, but it has some caveats:</a:t>
            </a:r>
            <a:endParaRPr sz="1600"/>
          </a:p>
          <a:p>
            <a:pPr indent="-330200" lvl="0" marL="457200" rtl="0" algn="l">
              <a:spcBef>
                <a:spcPts val="600"/>
              </a:spcBef>
              <a:spcAft>
                <a:spcPts val="0"/>
              </a:spcAft>
              <a:buSzPts val="1600"/>
              <a:buChar char="●"/>
            </a:pPr>
            <a:r>
              <a:rPr lang="en" sz="1600"/>
              <a:t>You can't show that a solution does exist; only that a solution doesn't exist</a:t>
            </a:r>
            <a:endParaRPr sz="1600"/>
          </a:p>
          <a:p>
            <a:pPr indent="-330200" lvl="0" marL="457200" rtl="0" algn="l">
              <a:spcBef>
                <a:spcPts val="0"/>
              </a:spcBef>
              <a:spcAft>
                <a:spcPts val="0"/>
              </a:spcAft>
              <a:buSzPts val="1600"/>
              <a:buChar char="●"/>
            </a:pPr>
            <a:r>
              <a:rPr lang="en" sz="1600"/>
              <a:t>If multiple universes yield the same result, they only count as 1 universe</a:t>
            </a:r>
            <a:endParaRPr sz="1600"/>
          </a:p>
          <a:p>
            <a:pPr indent="-330200" lvl="0" marL="457200" rtl="0" algn="l">
              <a:spcBef>
                <a:spcPts val="0"/>
              </a:spcBef>
              <a:spcAft>
                <a:spcPts val="0"/>
              </a:spcAft>
              <a:buSzPts val="1600"/>
              <a:buAutoNum type="alphaUcPeriod"/>
            </a:pPr>
            <a:r>
              <a:rPr b="1" lang="en" sz="1600"/>
              <a:t>12 coins (24 universes)</a:t>
            </a:r>
            <a:endParaRPr b="1" sz="1600"/>
          </a:p>
          <a:p>
            <a:pPr indent="-330200" lvl="0" marL="457200" rtl="0" algn="l">
              <a:spcBef>
                <a:spcPts val="0"/>
              </a:spcBef>
              <a:spcAft>
                <a:spcPts val="0"/>
              </a:spcAft>
              <a:buSzPts val="1600"/>
              <a:buAutoNum type="alphaUcPeriod"/>
            </a:pPr>
            <a:r>
              <a:rPr b="1" lang="en" sz="1600"/>
              <a:t>12 coins if we have a 13th reference coin that is guaranteed to be real</a:t>
            </a:r>
            <a:endParaRPr b="1" sz="1600"/>
          </a:p>
          <a:p>
            <a:pPr indent="-330200" lvl="0" marL="457200" rtl="0" algn="l">
              <a:spcBef>
                <a:spcPts val="0"/>
              </a:spcBef>
              <a:spcAft>
                <a:spcPts val="0"/>
              </a:spcAft>
              <a:buSzPts val="1600"/>
              <a:buAutoNum type="alphaUcPeriod"/>
            </a:pPr>
            <a:r>
              <a:rPr b="1" lang="en" sz="1600"/>
              <a:t>12 coins if we don't care about whether the counterfeit is heavier or lighter</a:t>
            </a:r>
            <a:endParaRPr b="1" sz="1600"/>
          </a:p>
          <a:p>
            <a:pPr indent="-330200" lvl="0" marL="457200" rtl="0" algn="l">
              <a:spcBef>
                <a:spcPts val="0"/>
              </a:spcBef>
              <a:spcAft>
                <a:spcPts val="0"/>
              </a:spcAft>
              <a:buSzPts val="1600"/>
              <a:buAutoNum type="alphaUcPeriod"/>
            </a:pPr>
            <a:r>
              <a:rPr lang="en" sz="1600"/>
              <a:t>13 coins (26 universes)</a:t>
            </a:r>
            <a:endParaRPr sz="1600"/>
          </a:p>
          <a:p>
            <a:pPr indent="-330200" lvl="0" marL="457200" rtl="0" algn="l">
              <a:spcBef>
                <a:spcPts val="0"/>
              </a:spcBef>
              <a:spcAft>
                <a:spcPts val="0"/>
              </a:spcAft>
              <a:buSzPts val="1600"/>
              <a:buAutoNum type="alphaUcPeriod"/>
            </a:pPr>
            <a:r>
              <a:rPr b="1" lang="en" sz="1600"/>
              <a:t>13 coins if we have a 14th reference coin that is guaranteed to be real</a:t>
            </a:r>
            <a:endParaRPr b="1" sz="1600"/>
          </a:p>
          <a:p>
            <a:pPr indent="-330200" lvl="0" marL="457200" rtl="0" algn="l">
              <a:spcBef>
                <a:spcPts val="0"/>
              </a:spcBef>
              <a:spcAft>
                <a:spcPts val="0"/>
              </a:spcAft>
              <a:buSzPts val="1600"/>
              <a:buAutoNum type="alphaUcPeriod"/>
            </a:pPr>
            <a:r>
              <a:rPr b="1" lang="en" sz="1600"/>
              <a:t>13 coins if we don't care about whether the counterfeit is heavier or lighter</a:t>
            </a:r>
            <a:endParaRPr b="1" sz="1600"/>
          </a:p>
        </p:txBody>
      </p:sp>
      <p:pic>
        <p:nvPicPr>
          <p:cNvPr id="1075" name="Google Shape;1075;p66"/>
          <p:cNvPicPr preferRelativeResize="0"/>
          <p:nvPr/>
        </p:nvPicPr>
        <p:blipFill>
          <a:blip r:embed="rId3">
            <a:alphaModFix/>
          </a:blip>
          <a:stretch>
            <a:fillRect/>
          </a:stretch>
        </p:blipFill>
        <p:spPr>
          <a:xfrm>
            <a:off x="7081474" y="3143674"/>
            <a:ext cx="2051075" cy="1774176"/>
          </a:xfrm>
          <a:prstGeom prst="rect">
            <a:avLst/>
          </a:prstGeom>
          <a:noFill/>
          <a:ln>
            <a:noFill/>
          </a:ln>
        </p:spPr>
      </p:pic>
      <p:sp>
        <p:nvSpPr>
          <p:cNvPr id="1076" name="Google Shape;1076;p66"/>
          <p:cNvSpPr/>
          <p:nvPr/>
        </p:nvSpPr>
        <p:spPr>
          <a:xfrm>
            <a:off x="479825"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p:txBody>
      </p:sp>
      <p:sp>
        <p:nvSpPr>
          <p:cNvPr id="1077" name="Google Shape;1077;p66"/>
          <p:cNvSpPr/>
          <p:nvPr/>
        </p:nvSpPr>
        <p:spPr>
          <a:xfrm>
            <a:off x="1117225"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p:txBody>
      </p:sp>
      <p:sp>
        <p:nvSpPr>
          <p:cNvPr id="1078" name="Google Shape;1078;p66"/>
          <p:cNvSpPr/>
          <p:nvPr/>
        </p:nvSpPr>
        <p:spPr>
          <a:xfrm>
            <a:off x="1754625"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p:txBody>
      </p:sp>
      <p:sp>
        <p:nvSpPr>
          <p:cNvPr id="1079" name="Google Shape;1079;p66"/>
          <p:cNvSpPr/>
          <p:nvPr/>
        </p:nvSpPr>
        <p:spPr>
          <a:xfrm>
            <a:off x="23832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p:txBody>
      </p:sp>
      <p:sp>
        <p:nvSpPr>
          <p:cNvPr id="1080" name="Google Shape;1080;p66"/>
          <p:cNvSpPr/>
          <p:nvPr/>
        </p:nvSpPr>
        <p:spPr>
          <a:xfrm>
            <a:off x="30206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p:txBody>
      </p:sp>
      <p:sp>
        <p:nvSpPr>
          <p:cNvPr id="1081" name="Google Shape;1081;p66"/>
          <p:cNvSpPr/>
          <p:nvPr/>
        </p:nvSpPr>
        <p:spPr>
          <a:xfrm>
            <a:off x="36580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6</a:t>
            </a:r>
            <a:endParaRPr>
              <a:latin typeface="Roboto"/>
              <a:ea typeface="Roboto"/>
              <a:cs typeface="Roboto"/>
              <a:sym typeface="Roboto"/>
            </a:endParaRPr>
          </a:p>
        </p:txBody>
      </p:sp>
      <p:sp>
        <p:nvSpPr>
          <p:cNvPr id="1082" name="Google Shape;1082;p66"/>
          <p:cNvSpPr/>
          <p:nvPr/>
        </p:nvSpPr>
        <p:spPr>
          <a:xfrm>
            <a:off x="4295400" y="36392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p:txBody>
      </p:sp>
      <p:sp>
        <p:nvSpPr>
          <p:cNvPr id="1083" name="Google Shape;1083;p66"/>
          <p:cNvSpPr/>
          <p:nvPr/>
        </p:nvSpPr>
        <p:spPr>
          <a:xfrm>
            <a:off x="479825"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p:txBody>
      </p:sp>
      <p:sp>
        <p:nvSpPr>
          <p:cNvPr id="1084" name="Google Shape;1084;p66"/>
          <p:cNvSpPr/>
          <p:nvPr/>
        </p:nvSpPr>
        <p:spPr>
          <a:xfrm>
            <a:off x="1117225"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p:txBody>
      </p:sp>
      <p:sp>
        <p:nvSpPr>
          <p:cNvPr id="1085" name="Google Shape;1085;p66"/>
          <p:cNvSpPr/>
          <p:nvPr/>
        </p:nvSpPr>
        <p:spPr>
          <a:xfrm>
            <a:off x="1754625"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10</a:t>
            </a:r>
            <a:endParaRPr sz="1100">
              <a:latin typeface="Roboto"/>
              <a:ea typeface="Roboto"/>
              <a:cs typeface="Roboto"/>
              <a:sym typeface="Roboto"/>
            </a:endParaRPr>
          </a:p>
        </p:txBody>
      </p:sp>
      <p:sp>
        <p:nvSpPr>
          <p:cNvPr id="1086" name="Google Shape;1086;p66"/>
          <p:cNvSpPr/>
          <p:nvPr/>
        </p:nvSpPr>
        <p:spPr>
          <a:xfrm>
            <a:off x="2383200"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11</a:t>
            </a:r>
            <a:endParaRPr sz="1100">
              <a:latin typeface="Roboto"/>
              <a:ea typeface="Roboto"/>
              <a:cs typeface="Roboto"/>
              <a:sym typeface="Roboto"/>
            </a:endParaRPr>
          </a:p>
        </p:txBody>
      </p:sp>
      <p:sp>
        <p:nvSpPr>
          <p:cNvPr id="1087" name="Google Shape;1087;p66"/>
          <p:cNvSpPr/>
          <p:nvPr/>
        </p:nvSpPr>
        <p:spPr>
          <a:xfrm>
            <a:off x="3020600"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12</a:t>
            </a:r>
            <a:endParaRPr sz="1100">
              <a:latin typeface="Roboto"/>
              <a:ea typeface="Roboto"/>
              <a:cs typeface="Roboto"/>
              <a:sym typeface="Roboto"/>
            </a:endParaRPr>
          </a:p>
        </p:txBody>
      </p:sp>
      <p:sp>
        <p:nvSpPr>
          <p:cNvPr id="1088" name="Google Shape;1088;p66"/>
          <p:cNvSpPr/>
          <p:nvPr/>
        </p:nvSpPr>
        <p:spPr>
          <a:xfrm>
            <a:off x="3658000"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13</a:t>
            </a:r>
            <a:endParaRPr sz="1100">
              <a:latin typeface="Roboto"/>
              <a:ea typeface="Roboto"/>
              <a:cs typeface="Roboto"/>
              <a:sym typeface="Roboto"/>
            </a:endParaRPr>
          </a:p>
        </p:txBody>
      </p:sp>
      <p:sp>
        <p:nvSpPr>
          <p:cNvPr id="1089" name="Google Shape;1089;p66"/>
          <p:cNvSpPr/>
          <p:nvPr/>
        </p:nvSpPr>
        <p:spPr>
          <a:xfrm>
            <a:off x="4295400" y="4293100"/>
            <a:ext cx="484200" cy="484200"/>
          </a:xfrm>
          <a:prstGeom prst="ellipse">
            <a:avLst/>
          </a:prstGeom>
          <a:solidFill>
            <a:srgbClr val="FFFF00"/>
          </a:solidFill>
          <a:ln cap="flat" cmpd="sng" w="114300">
            <a:solidFill>
              <a:srgbClr val="FF99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100">
                <a:latin typeface="Roboto"/>
                <a:ea typeface="Roboto"/>
                <a:cs typeface="Roboto"/>
                <a:sym typeface="Roboto"/>
              </a:rPr>
              <a:t>R</a:t>
            </a:r>
            <a:endParaRPr sz="1100">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3" name="Shape 1093"/>
        <p:cNvGrpSpPr/>
        <p:nvPr/>
      </p:nvGrpSpPr>
      <p:grpSpPr>
        <a:xfrm>
          <a:off x="0" y="0"/>
          <a:ext cx="0" cy="0"/>
          <a:chOff x="0" y="0"/>
          <a:chExt cx="0" cy="0"/>
        </a:xfrm>
      </p:grpSpPr>
      <p:sp>
        <p:nvSpPr>
          <p:cNvPr id="1094" name="Google Shape;1094;p6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Universe Counting</a:t>
            </a:r>
            <a:endParaRPr/>
          </a:p>
        </p:txBody>
      </p:sp>
      <p:sp>
        <p:nvSpPr>
          <p:cNvPr id="1095" name="Google Shape;1095;p67"/>
          <p:cNvSpPr txBox="1"/>
          <p:nvPr>
            <p:ph idx="1" type="body"/>
          </p:nvPr>
        </p:nvSpPr>
        <p:spPr>
          <a:xfrm>
            <a:off x="107050" y="402200"/>
            <a:ext cx="8520600" cy="557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sz="1600"/>
              <a:t>In general, any decision tree with K layers and a branching factor of R (3 in this case) has at most R</a:t>
            </a:r>
            <a:r>
              <a:rPr baseline="30000" lang="en" sz="1600"/>
              <a:t>K</a:t>
            </a:r>
            <a:r>
              <a:rPr lang="en" sz="1600"/>
              <a:t> leaves, so it can handle a problem with up to R</a:t>
            </a:r>
            <a:r>
              <a:rPr baseline="30000" lang="en" sz="1600"/>
              <a:t>K</a:t>
            </a:r>
            <a:r>
              <a:rPr lang="en" sz="1600"/>
              <a:t> universes.</a:t>
            </a:r>
            <a:endParaRPr sz="1600"/>
          </a:p>
          <a:p>
            <a:pPr indent="0" lvl="0" marL="0" rtl="0" algn="l">
              <a:spcBef>
                <a:spcPts val="600"/>
              </a:spcBef>
              <a:spcAft>
                <a:spcPts val="0"/>
              </a:spcAft>
              <a:buNone/>
            </a:pPr>
            <a:r>
              <a:rPr lang="en" sz="1600"/>
              <a:t>If we flip this around, that means that if we have a problem that has R</a:t>
            </a:r>
            <a:r>
              <a:rPr baseline="30000" lang="en" sz="1600"/>
              <a:t>K</a:t>
            </a:r>
            <a:r>
              <a:rPr lang="en" sz="1600"/>
              <a:t> universes, the decision tree must have at least K layers</a:t>
            </a:r>
            <a:endParaRPr sz="1600"/>
          </a:p>
          <a:p>
            <a:pPr indent="-330200" lvl="0" marL="457200" rtl="0" algn="l">
              <a:spcBef>
                <a:spcPts val="600"/>
              </a:spcBef>
              <a:spcAft>
                <a:spcPts val="0"/>
              </a:spcAft>
              <a:buSzPts val="1600"/>
              <a:buChar char="●"/>
            </a:pPr>
            <a:r>
              <a:rPr lang="en" sz="1600"/>
              <a:t>Or if we have a problem with K universes, the decision tree must have Ω(log K) layers</a:t>
            </a:r>
            <a:endParaRPr sz="1600"/>
          </a:p>
        </p:txBody>
      </p:sp>
      <p:sp>
        <p:nvSpPr>
          <p:cNvPr id="1096" name="Google Shape;1096;p67"/>
          <p:cNvSpPr/>
          <p:nvPr/>
        </p:nvSpPr>
        <p:spPr>
          <a:xfrm>
            <a:off x="3566950" y="2509200"/>
            <a:ext cx="13869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300"/>
          </a:p>
        </p:txBody>
      </p:sp>
      <p:sp>
        <p:nvSpPr>
          <p:cNvPr id="1097" name="Google Shape;1097;p67"/>
          <p:cNvSpPr/>
          <p:nvPr/>
        </p:nvSpPr>
        <p:spPr>
          <a:xfrm>
            <a:off x="8702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8" name="Google Shape;1098;p67"/>
          <p:cNvSpPr/>
          <p:nvPr/>
        </p:nvSpPr>
        <p:spPr>
          <a:xfrm>
            <a:off x="364935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9" name="Google Shape;1099;p67"/>
          <p:cNvSpPr/>
          <p:nvPr/>
        </p:nvSpPr>
        <p:spPr>
          <a:xfrm>
            <a:off x="6428500" y="3237250"/>
            <a:ext cx="12219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100" name="Google Shape;1100;p67"/>
          <p:cNvCxnSpPr>
            <a:stCxn id="1096" idx="2"/>
            <a:endCxn id="1097" idx="0"/>
          </p:cNvCxnSpPr>
          <p:nvPr/>
        </p:nvCxnSpPr>
        <p:spPr>
          <a:xfrm flipH="1">
            <a:off x="1481200" y="3019500"/>
            <a:ext cx="2779200" cy="217800"/>
          </a:xfrm>
          <a:prstGeom prst="straightConnector1">
            <a:avLst/>
          </a:prstGeom>
          <a:noFill/>
          <a:ln cap="flat" cmpd="sng" w="38100">
            <a:solidFill>
              <a:srgbClr val="FF0000"/>
            </a:solidFill>
            <a:prstDash val="solid"/>
            <a:round/>
            <a:headEnd len="med" w="med" type="none"/>
            <a:tailEnd len="med" w="med" type="none"/>
          </a:ln>
        </p:spPr>
      </p:cxnSp>
      <p:cxnSp>
        <p:nvCxnSpPr>
          <p:cNvPr id="1101" name="Google Shape;1101;p67"/>
          <p:cNvCxnSpPr>
            <a:stCxn id="1096" idx="2"/>
            <a:endCxn id="1098" idx="0"/>
          </p:cNvCxnSpPr>
          <p:nvPr/>
        </p:nvCxnSpPr>
        <p:spPr>
          <a:xfrm>
            <a:off x="4260400" y="3019500"/>
            <a:ext cx="0" cy="217800"/>
          </a:xfrm>
          <a:prstGeom prst="straightConnector1">
            <a:avLst/>
          </a:prstGeom>
          <a:noFill/>
          <a:ln cap="flat" cmpd="sng" w="38100">
            <a:solidFill>
              <a:schemeClr val="dk2"/>
            </a:solidFill>
            <a:prstDash val="solid"/>
            <a:round/>
            <a:headEnd len="med" w="med" type="none"/>
            <a:tailEnd len="med" w="med" type="none"/>
          </a:ln>
        </p:spPr>
      </p:cxnSp>
      <p:cxnSp>
        <p:nvCxnSpPr>
          <p:cNvPr id="1102" name="Google Shape;1102;p67"/>
          <p:cNvCxnSpPr>
            <a:stCxn id="1096" idx="2"/>
            <a:endCxn id="1099" idx="0"/>
          </p:cNvCxnSpPr>
          <p:nvPr/>
        </p:nvCxnSpPr>
        <p:spPr>
          <a:xfrm>
            <a:off x="4260400" y="3019500"/>
            <a:ext cx="2779200" cy="217800"/>
          </a:xfrm>
          <a:prstGeom prst="straightConnector1">
            <a:avLst/>
          </a:prstGeom>
          <a:noFill/>
          <a:ln cap="flat" cmpd="sng" w="38100">
            <a:solidFill>
              <a:srgbClr val="0000FF"/>
            </a:solidFill>
            <a:prstDash val="solid"/>
            <a:round/>
            <a:headEnd len="med" w="med" type="none"/>
            <a:tailEnd len="med" w="med" type="none"/>
          </a:ln>
        </p:spPr>
      </p:cxnSp>
      <p:cxnSp>
        <p:nvCxnSpPr>
          <p:cNvPr id="1103" name="Google Shape;1103;p67"/>
          <p:cNvCxnSpPr>
            <a:stCxn id="1097" idx="2"/>
            <a:endCxn id="1104" idx="0"/>
          </p:cNvCxnSpPr>
          <p:nvPr/>
        </p:nvCxnSpPr>
        <p:spPr>
          <a:xfrm flipH="1">
            <a:off x="471650" y="3830950"/>
            <a:ext cx="1009500" cy="462300"/>
          </a:xfrm>
          <a:prstGeom prst="straightConnector1">
            <a:avLst/>
          </a:prstGeom>
          <a:noFill/>
          <a:ln cap="flat" cmpd="sng" w="38100">
            <a:solidFill>
              <a:srgbClr val="FF0000"/>
            </a:solidFill>
            <a:prstDash val="solid"/>
            <a:round/>
            <a:headEnd len="med" w="med" type="none"/>
            <a:tailEnd len="med" w="med" type="none"/>
          </a:ln>
        </p:spPr>
      </p:cxnSp>
      <p:cxnSp>
        <p:nvCxnSpPr>
          <p:cNvPr id="1105" name="Google Shape;1105;p67"/>
          <p:cNvCxnSpPr>
            <a:stCxn id="1097" idx="2"/>
            <a:endCxn id="1106" idx="0"/>
          </p:cNvCxnSpPr>
          <p:nvPr/>
        </p:nvCxnSpPr>
        <p:spPr>
          <a:xfrm>
            <a:off x="14811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1107" name="Google Shape;1107;p67"/>
          <p:cNvCxnSpPr>
            <a:stCxn id="1097" idx="2"/>
            <a:endCxn id="1108" idx="0"/>
          </p:cNvCxnSpPr>
          <p:nvPr/>
        </p:nvCxnSpPr>
        <p:spPr>
          <a:xfrm>
            <a:off x="1481150" y="3830950"/>
            <a:ext cx="947100" cy="462300"/>
          </a:xfrm>
          <a:prstGeom prst="straightConnector1">
            <a:avLst/>
          </a:prstGeom>
          <a:noFill/>
          <a:ln cap="flat" cmpd="sng" w="38100">
            <a:solidFill>
              <a:srgbClr val="0000FF"/>
            </a:solidFill>
            <a:prstDash val="solid"/>
            <a:round/>
            <a:headEnd len="med" w="med" type="none"/>
            <a:tailEnd len="med" w="med" type="none"/>
          </a:ln>
        </p:spPr>
      </p:cxnSp>
      <p:cxnSp>
        <p:nvCxnSpPr>
          <p:cNvPr id="1109" name="Google Shape;1109;p67"/>
          <p:cNvCxnSpPr>
            <a:stCxn id="1099" idx="2"/>
            <a:endCxn id="1110" idx="0"/>
          </p:cNvCxnSpPr>
          <p:nvPr/>
        </p:nvCxnSpPr>
        <p:spPr>
          <a:xfrm flipH="1">
            <a:off x="6092350" y="3830950"/>
            <a:ext cx="947100" cy="462300"/>
          </a:xfrm>
          <a:prstGeom prst="straightConnector1">
            <a:avLst/>
          </a:prstGeom>
          <a:noFill/>
          <a:ln cap="flat" cmpd="sng" w="38100">
            <a:solidFill>
              <a:srgbClr val="FF0000"/>
            </a:solidFill>
            <a:prstDash val="solid"/>
            <a:round/>
            <a:headEnd len="med" w="med" type="none"/>
            <a:tailEnd len="med" w="med" type="none"/>
          </a:ln>
        </p:spPr>
      </p:cxnSp>
      <p:cxnSp>
        <p:nvCxnSpPr>
          <p:cNvPr id="1111" name="Google Shape;1111;p67"/>
          <p:cNvCxnSpPr>
            <a:stCxn id="1099" idx="2"/>
            <a:endCxn id="1112" idx="0"/>
          </p:cNvCxnSpPr>
          <p:nvPr/>
        </p:nvCxnSpPr>
        <p:spPr>
          <a:xfrm>
            <a:off x="703945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1113" name="Google Shape;1113;p67"/>
          <p:cNvCxnSpPr>
            <a:stCxn id="1099" idx="2"/>
            <a:endCxn id="1114" idx="0"/>
          </p:cNvCxnSpPr>
          <p:nvPr/>
        </p:nvCxnSpPr>
        <p:spPr>
          <a:xfrm>
            <a:off x="7039450" y="3830950"/>
            <a:ext cx="1009500" cy="462300"/>
          </a:xfrm>
          <a:prstGeom prst="straightConnector1">
            <a:avLst/>
          </a:prstGeom>
          <a:noFill/>
          <a:ln cap="flat" cmpd="sng" w="38100">
            <a:solidFill>
              <a:srgbClr val="0000FF"/>
            </a:solidFill>
            <a:prstDash val="solid"/>
            <a:round/>
            <a:headEnd len="med" w="med" type="none"/>
            <a:tailEnd len="med" w="med" type="none"/>
          </a:ln>
        </p:spPr>
      </p:cxnSp>
      <p:cxnSp>
        <p:nvCxnSpPr>
          <p:cNvPr id="1115" name="Google Shape;1115;p67"/>
          <p:cNvCxnSpPr>
            <a:stCxn id="1098" idx="2"/>
            <a:endCxn id="1116" idx="0"/>
          </p:cNvCxnSpPr>
          <p:nvPr/>
        </p:nvCxnSpPr>
        <p:spPr>
          <a:xfrm flipH="1">
            <a:off x="3375300" y="3830950"/>
            <a:ext cx="885000" cy="462300"/>
          </a:xfrm>
          <a:prstGeom prst="straightConnector1">
            <a:avLst/>
          </a:prstGeom>
          <a:noFill/>
          <a:ln cap="flat" cmpd="sng" w="38100">
            <a:solidFill>
              <a:srgbClr val="FF0000"/>
            </a:solidFill>
            <a:prstDash val="solid"/>
            <a:round/>
            <a:headEnd len="med" w="med" type="none"/>
            <a:tailEnd len="med" w="med" type="none"/>
          </a:ln>
        </p:spPr>
      </p:cxnSp>
      <p:cxnSp>
        <p:nvCxnSpPr>
          <p:cNvPr id="1117" name="Google Shape;1117;p67"/>
          <p:cNvCxnSpPr>
            <a:stCxn id="1098" idx="2"/>
            <a:endCxn id="1118" idx="0"/>
          </p:cNvCxnSpPr>
          <p:nvPr/>
        </p:nvCxnSpPr>
        <p:spPr>
          <a:xfrm>
            <a:off x="4260300" y="3830950"/>
            <a:ext cx="0" cy="462300"/>
          </a:xfrm>
          <a:prstGeom prst="straightConnector1">
            <a:avLst/>
          </a:prstGeom>
          <a:noFill/>
          <a:ln cap="flat" cmpd="sng" w="38100">
            <a:solidFill>
              <a:schemeClr val="dk2"/>
            </a:solidFill>
            <a:prstDash val="solid"/>
            <a:round/>
            <a:headEnd len="med" w="med" type="none"/>
            <a:tailEnd len="med" w="med" type="none"/>
          </a:ln>
        </p:spPr>
      </p:cxnSp>
      <p:cxnSp>
        <p:nvCxnSpPr>
          <p:cNvPr id="1119" name="Google Shape;1119;p67"/>
          <p:cNvCxnSpPr>
            <a:stCxn id="1098" idx="2"/>
            <a:endCxn id="1120" idx="0"/>
          </p:cNvCxnSpPr>
          <p:nvPr/>
        </p:nvCxnSpPr>
        <p:spPr>
          <a:xfrm>
            <a:off x="4260300" y="3830950"/>
            <a:ext cx="885000" cy="462300"/>
          </a:xfrm>
          <a:prstGeom prst="straightConnector1">
            <a:avLst/>
          </a:prstGeom>
          <a:noFill/>
          <a:ln cap="flat" cmpd="sng" w="38100">
            <a:solidFill>
              <a:srgbClr val="0000FF"/>
            </a:solidFill>
            <a:prstDash val="solid"/>
            <a:round/>
            <a:headEnd len="med" w="med" type="none"/>
            <a:tailEnd len="med" w="med" type="none"/>
          </a:ln>
        </p:spPr>
      </p:cxnSp>
      <p:sp>
        <p:nvSpPr>
          <p:cNvPr id="1106" name="Google Shape;1106;p67"/>
          <p:cNvSpPr/>
          <p:nvPr/>
        </p:nvSpPr>
        <p:spPr>
          <a:xfrm>
            <a:off x="10766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8" name="Google Shape;1108;p67"/>
          <p:cNvSpPr/>
          <p:nvPr/>
        </p:nvSpPr>
        <p:spPr>
          <a:xfrm>
            <a:off x="2023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6" name="Google Shape;1116;p67"/>
          <p:cNvSpPr/>
          <p:nvPr/>
        </p:nvSpPr>
        <p:spPr>
          <a:xfrm>
            <a:off x="2970888"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8" name="Google Shape;1118;p67"/>
          <p:cNvSpPr/>
          <p:nvPr/>
        </p:nvSpPr>
        <p:spPr>
          <a:xfrm>
            <a:off x="385575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20" name="Google Shape;1120;p67"/>
          <p:cNvSpPr/>
          <p:nvPr/>
        </p:nvSpPr>
        <p:spPr>
          <a:xfrm>
            <a:off x="474061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0" name="Google Shape;1110;p67"/>
          <p:cNvSpPr/>
          <p:nvPr/>
        </p:nvSpPr>
        <p:spPr>
          <a:xfrm>
            <a:off x="5687763"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2" name="Google Shape;1112;p67"/>
          <p:cNvSpPr/>
          <p:nvPr/>
        </p:nvSpPr>
        <p:spPr>
          <a:xfrm>
            <a:off x="6634900"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4" name="Google Shape;1114;p67"/>
          <p:cNvSpPr/>
          <p:nvPr/>
        </p:nvSpPr>
        <p:spPr>
          <a:xfrm>
            <a:off x="764432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4" name="Google Shape;1104;p67"/>
          <p:cNvSpPr/>
          <p:nvPr/>
        </p:nvSpPr>
        <p:spPr>
          <a:xfrm>
            <a:off x="67175" y="4293250"/>
            <a:ext cx="8091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68"/>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1126" name="Google Shape;1126;p68"/>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Goal: How Hard is Sorting?</a:t>
            </a:r>
            <a:endParaRPr/>
          </a:p>
          <a:p>
            <a:pPr indent="0" lvl="0" marL="0" rtl="0" algn="l">
              <a:spcBef>
                <a:spcPts val="600"/>
              </a:spcBef>
              <a:spcAft>
                <a:spcPts val="0"/>
              </a:spcAft>
              <a:buClr>
                <a:schemeClr val="dk1"/>
              </a:buClr>
              <a:buSzPts val="1100"/>
              <a:buFont typeface="Arial"/>
              <a:buNone/>
            </a:pPr>
            <a:r>
              <a:rPr lang="en"/>
              <a:t>Math Problem Warmup</a:t>
            </a:r>
            <a:endParaRPr/>
          </a:p>
          <a:p>
            <a:pPr indent="0" lvl="0" marL="0" rtl="0" algn="l">
              <a:spcBef>
                <a:spcPts val="600"/>
              </a:spcBef>
              <a:spcAft>
                <a:spcPts val="0"/>
              </a:spcAft>
              <a:buClr>
                <a:schemeClr val="dk1"/>
              </a:buClr>
              <a:buSzPts val="1100"/>
              <a:buFont typeface="Arial"/>
              <a:buNone/>
            </a:pPr>
            <a:r>
              <a:rPr b="1" lang="en">
                <a:solidFill>
                  <a:schemeClr val="accent3"/>
                </a:solidFill>
                <a:latin typeface="Roboto"/>
                <a:ea typeface="Roboto"/>
                <a:cs typeface="Roboto"/>
                <a:sym typeface="Roboto"/>
              </a:rPr>
              <a:t>Theoretical Bounds on Sorting</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Simple Bounds for TUCS (the ultimate comparison sort)</a:t>
            </a:r>
            <a:endParaRPr/>
          </a:p>
          <a:p>
            <a:pPr indent="-342900" lvl="0" marL="457200" rtl="0" algn="l">
              <a:spcBef>
                <a:spcPts val="0"/>
              </a:spcBef>
              <a:spcAft>
                <a:spcPts val="0"/>
              </a:spcAft>
              <a:buClr>
                <a:srgbClr val="CCCCCC"/>
              </a:buClr>
              <a:buSzPts val="1800"/>
              <a:buChar char="•"/>
            </a:pPr>
            <a:r>
              <a:rPr lang="en">
                <a:solidFill>
                  <a:srgbClr val="CCCCCC"/>
                </a:solidFill>
              </a:rPr>
              <a:t>Coin Puzzles</a:t>
            </a:r>
            <a:endParaRPr>
              <a:solidFill>
                <a:srgbClr val="CCCCCC"/>
              </a:solidFill>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Puppy Cat Dog</a:t>
            </a:r>
            <a:endParaRPr b="1">
              <a:solidFill>
                <a:schemeClr val="accent3"/>
              </a:solidFill>
              <a:latin typeface="Roboto"/>
              <a:ea typeface="Roboto"/>
              <a:cs typeface="Roboto"/>
              <a:sym typeface="Roboto"/>
            </a:endParaRPr>
          </a:p>
          <a:p>
            <a:pPr indent="-342900" lvl="0" marL="457200" rtl="0" algn="l">
              <a:spcBef>
                <a:spcPts val="0"/>
              </a:spcBef>
              <a:spcAft>
                <a:spcPts val="0"/>
              </a:spcAft>
              <a:buSzPts val="1800"/>
              <a:buChar char="•"/>
            </a:pPr>
            <a:r>
              <a:rPr lang="en"/>
              <a:t>The Sorting Lower Bound</a:t>
            </a:r>
            <a:endParaRPr/>
          </a:p>
          <a:p>
            <a:pPr indent="0" lvl="0" marL="0" rtl="0" algn="l">
              <a:spcBef>
                <a:spcPts val="600"/>
              </a:spcBef>
              <a:spcAft>
                <a:spcPts val="0"/>
              </a:spcAft>
              <a:buClr>
                <a:schemeClr val="dk1"/>
              </a:buClr>
              <a:buSzPts val="1100"/>
              <a:buFont typeface="Arial"/>
              <a:buNone/>
            </a:pPr>
            <a:r>
              <a:rPr lang="en"/>
              <a:t>Sounds of Sorting</a:t>
            </a:r>
            <a:endParaRPr/>
          </a:p>
        </p:txBody>
      </p:sp>
      <p:sp>
        <p:nvSpPr>
          <p:cNvPr id="1127" name="Google Shape;1127;p68"/>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Puppy</a:t>
            </a:r>
            <a:r>
              <a:rPr lang="en"/>
              <a:t>, Cat, Dog</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1" name="Shape 1131"/>
        <p:cNvGrpSpPr/>
        <p:nvPr/>
      </p:nvGrpSpPr>
      <p:grpSpPr>
        <a:xfrm>
          <a:off x="0" y="0"/>
          <a:ext cx="0" cy="0"/>
          <a:chOff x="0" y="0"/>
          <a:chExt cx="0" cy="0"/>
        </a:xfrm>
      </p:grpSpPr>
      <p:sp>
        <p:nvSpPr>
          <p:cNvPr id="1132" name="Google Shape;1132;p6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Game of Puppy, Cat, Dog</a:t>
            </a:r>
            <a:endParaRPr/>
          </a:p>
        </p:txBody>
      </p:sp>
      <p:sp>
        <p:nvSpPr>
          <p:cNvPr id="1133" name="Google Shape;1133;p6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Suppose we have a puppy, a cat, and a dog, each in an opaque soundproof box labeled A, B, and C. The puppy is lighter than the cat, and the cat is lighter than the dog. As before, we have a scale, and we want to minimize the number of times we use the scale (unlike before, we never get equality on this scale, because all the animals are different weights). Our goal is to write A, B, C in order of weight.</a:t>
            </a:r>
            <a:endParaRPr/>
          </a:p>
        </p:txBody>
      </p:sp>
      <p:pic>
        <p:nvPicPr>
          <p:cNvPr id="1134" name="Google Shape;1134;p69"/>
          <p:cNvPicPr preferRelativeResize="0"/>
          <p:nvPr/>
        </p:nvPicPr>
        <p:blipFill>
          <a:blip r:embed="rId3">
            <a:alphaModFix/>
          </a:blip>
          <a:stretch>
            <a:fillRect/>
          </a:stretch>
        </p:blipFill>
        <p:spPr>
          <a:xfrm>
            <a:off x="188824" y="3143050"/>
            <a:ext cx="2051074" cy="1668224"/>
          </a:xfrm>
          <a:prstGeom prst="rect">
            <a:avLst/>
          </a:prstGeom>
          <a:noFill/>
          <a:ln>
            <a:noFill/>
          </a:ln>
        </p:spPr>
      </p:pic>
      <p:pic>
        <p:nvPicPr>
          <p:cNvPr id="1135" name="Google Shape;1135;p69"/>
          <p:cNvPicPr preferRelativeResize="0"/>
          <p:nvPr/>
        </p:nvPicPr>
        <p:blipFill>
          <a:blip r:embed="rId4">
            <a:alphaModFix/>
          </a:blip>
          <a:stretch>
            <a:fillRect/>
          </a:stretch>
        </p:blipFill>
        <p:spPr>
          <a:xfrm>
            <a:off x="3061010" y="3855273"/>
            <a:ext cx="1717623" cy="1143000"/>
          </a:xfrm>
          <a:prstGeom prst="rect">
            <a:avLst/>
          </a:prstGeom>
          <a:noFill/>
          <a:ln>
            <a:noFill/>
          </a:ln>
        </p:spPr>
      </p:pic>
      <p:pic>
        <p:nvPicPr>
          <p:cNvPr id="1136" name="Google Shape;1136;p69"/>
          <p:cNvPicPr preferRelativeResize="0"/>
          <p:nvPr/>
        </p:nvPicPr>
        <p:blipFill>
          <a:blip r:embed="rId5">
            <a:alphaModFix/>
          </a:blip>
          <a:stretch>
            <a:fillRect/>
          </a:stretch>
        </p:blipFill>
        <p:spPr>
          <a:xfrm>
            <a:off x="2239900" y="4084875"/>
            <a:ext cx="856151" cy="856151"/>
          </a:xfrm>
          <a:prstGeom prst="rect">
            <a:avLst/>
          </a:prstGeom>
          <a:noFill/>
          <a:ln>
            <a:noFill/>
          </a:ln>
        </p:spPr>
      </p:pic>
      <p:pic>
        <p:nvPicPr>
          <p:cNvPr id="1137" name="Google Shape;1137;p69"/>
          <p:cNvPicPr preferRelativeResize="0"/>
          <p:nvPr/>
        </p:nvPicPr>
        <p:blipFill>
          <a:blip r:embed="rId6">
            <a:alphaModFix/>
          </a:blip>
          <a:stretch>
            <a:fillRect/>
          </a:stretch>
        </p:blipFill>
        <p:spPr>
          <a:xfrm>
            <a:off x="4545351" y="3429575"/>
            <a:ext cx="2145000" cy="1575925"/>
          </a:xfrm>
          <a:prstGeom prst="rect">
            <a:avLst/>
          </a:prstGeom>
          <a:noFill/>
          <a:ln>
            <a:noFill/>
          </a:ln>
        </p:spPr>
      </p:pic>
      <p:pic>
        <p:nvPicPr>
          <p:cNvPr id="1138" name="Google Shape;1138;p69"/>
          <p:cNvPicPr preferRelativeResize="0"/>
          <p:nvPr/>
        </p:nvPicPr>
        <p:blipFill>
          <a:blip r:embed="rId7">
            <a:alphaModFix/>
          </a:blip>
          <a:stretch>
            <a:fillRect/>
          </a:stretch>
        </p:blipFill>
        <p:spPr>
          <a:xfrm>
            <a:off x="7081474" y="3143674"/>
            <a:ext cx="2051075" cy="1774176"/>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2E9"/>
        </a:solidFill>
      </p:bgPr>
    </p:bg>
    <p:spTree>
      <p:nvGrpSpPr>
        <p:cNvPr id="1142" name="Shape 1142"/>
        <p:cNvGrpSpPr/>
        <p:nvPr/>
      </p:nvGrpSpPr>
      <p:grpSpPr>
        <a:xfrm>
          <a:off x="0" y="0"/>
          <a:ext cx="0" cy="0"/>
          <a:chOff x="0" y="0"/>
          <a:chExt cx="0" cy="0"/>
        </a:xfrm>
      </p:grpSpPr>
      <p:sp>
        <p:nvSpPr>
          <p:cNvPr id="1143" name="Google Shape;1143;p7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Game of Puppy, Cat, Dog, yellkey.com</a:t>
            </a:r>
            <a:r>
              <a:rPr lang="en">
                <a:solidFill>
                  <a:srgbClr val="38761D"/>
                </a:solidFill>
              </a:rPr>
              <a:t>/mother</a:t>
            </a:r>
            <a:endParaRPr>
              <a:solidFill>
                <a:srgbClr val="38761D"/>
              </a:solidFill>
            </a:endParaRPr>
          </a:p>
        </p:txBody>
      </p:sp>
      <p:sp>
        <p:nvSpPr>
          <p:cNvPr id="1144" name="Google Shape;1144;p7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What is our minimum decision tree height for the game of Puppy, Cat, Dog (according to our universe bound)?</a:t>
            </a:r>
            <a:endParaRPr/>
          </a:p>
          <a:p>
            <a:pPr indent="-342900" lvl="0" marL="457200" rtl="0" algn="l">
              <a:spcBef>
                <a:spcPts val="600"/>
              </a:spcBef>
              <a:spcAft>
                <a:spcPts val="0"/>
              </a:spcAft>
              <a:buSzPts val="1800"/>
              <a:buAutoNum type="alphaUcPeriod"/>
            </a:pPr>
            <a:r>
              <a:rPr lang="en"/>
              <a:t>3</a:t>
            </a:r>
            <a:endParaRPr/>
          </a:p>
          <a:p>
            <a:pPr indent="-342900" lvl="0" marL="457200" rtl="0" algn="l">
              <a:spcBef>
                <a:spcPts val="0"/>
              </a:spcBef>
              <a:spcAft>
                <a:spcPts val="0"/>
              </a:spcAft>
              <a:buSzPts val="1800"/>
              <a:buAutoNum type="alphaUcPeriod"/>
            </a:pPr>
            <a:r>
              <a:rPr lang="en"/>
              <a:t>4</a:t>
            </a:r>
            <a:endParaRPr/>
          </a:p>
          <a:p>
            <a:pPr indent="-342900" lvl="0" marL="457200" rtl="0" algn="l">
              <a:spcBef>
                <a:spcPts val="0"/>
              </a:spcBef>
              <a:spcAft>
                <a:spcPts val="0"/>
              </a:spcAft>
              <a:buSzPts val="1800"/>
              <a:buAutoNum type="alphaUcPeriod"/>
            </a:pPr>
            <a:r>
              <a:rPr lang="en"/>
              <a:t>5</a:t>
            </a:r>
            <a:endParaRPr/>
          </a:p>
          <a:p>
            <a:pPr indent="-342900" lvl="0" marL="457200" rtl="0" algn="l">
              <a:spcBef>
                <a:spcPts val="0"/>
              </a:spcBef>
              <a:spcAft>
                <a:spcPts val="0"/>
              </a:spcAft>
              <a:buSzPts val="1800"/>
              <a:buAutoNum type="alphaUcPeriod"/>
            </a:pPr>
            <a:r>
              <a:rPr lang="en"/>
              <a:t>6</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8" name="Shape 1148"/>
        <p:cNvGrpSpPr/>
        <p:nvPr/>
      </p:nvGrpSpPr>
      <p:grpSpPr>
        <a:xfrm>
          <a:off x="0" y="0"/>
          <a:ext cx="0" cy="0"/>
          <a:chOff x="0" y="0"/>
          <a:chExt cx="0" cy="0"/>
        </a:xfrm>
      </p:grpSpPr>
      <p:sp>
        <p:nvSpPr>
          <p:cNvPr id="1149" name="Google Shape;1149;p7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Game of Puppy, Cat, Dog</a:t>
            </a:r>
            <a:endParaRPr/>
          </a:p>
        </p:txBody>
      </p:sp>
      <p:sp>
        <p:nvSpPr>
          <p:cNvPr id="1150" name="Google Shape;1150;p7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What is our minimum decision tree height for the game of Puppy, Cat, Dog (according to our universe bound)?</a:t>
            </a:r>
            <a:endParaRPr/>
          </a:p>
          <a:p>
            <a:pPr indent="-342900" lvl="0" marL="457200" rtl="0" algn="l">
              <a:spcBef>
                <a:spcPts val="600"/>
              </a:spcBef>
              <a:spcAft>
                <a:spcPts val="0"/>
              </a:spcAft>
              <a:buSzPts val="1800"/>
              <a:buAutoNum type="alphaUcPeriod"/>
            </a:pPr>
            <a:r>
              <a:rPr b="1" lang="en"/>
              <a:t>3</a:t>
            </a:r>
            <a:endParaRPr b="1"/>
          </a:p>
          <a:p>
            <a:pPr indent="-342900" lvl="0" marL="457200" rtl="0" algn="l">
              <a:spcBef>
                <a:spcPts val="0"/>
              </a:spcBef>
              <a:spcAft>
                <a:spcPts val="0"/>
              </a:spcAft>
              <a:buSzPts val="1800"/>
              <a:buAutoNum type="alphaUcPeriod"/>
            </a:pPr>
            <a:r>
              <a:rPr lang="en"/>
              <a:t>4</a:t>
            </a:r>
            <a:endParaRPr/>
          </a:p>
          <a:p>
            <a:pPr indent="-342900" lvl="0" marL="457200" rtl="0" algn="l">
              <a:spcBef>
                <a:spcPts val="0"/>
              </a:spcBef>
              <a:spcAft>
                <a:spcPts val="0"/>
              </a:spcAft>
              <a:buSzPts val="1800"/>
              <a:buAutoNum type="alphaUcPeriod"/>
            </a:pPr>
            <a:r>
              <a:rPr lang="en"/>
              <a:t>5</a:t>
            </a:r>
            <a:endParaRPr/>
          </a:p>
          <a:p>
            <a:pPr indent="-342900" lvl="0" marL="457200" rtl="0" algn="l">
              <a:spcBef>
                <a:spcPts val="0"/>
              </a:spcBef>
              <a:spcAft>
                <a:spcPts val="0"/>
              </a:spcAft>
              <a:buSzPts val="1800"/>
              <a:buAutoNum type="alphaUcPeriod"/>
            </a:pPr>
            <a:r>
              <a:rPr lang="en"/>
              <a:t>6</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Proof:</a:t>
            </a:r>
            <a:endParaRPr/>
          </a:p>
          <a:p>
            <a:pPr indent="-342900" lvl="0" marL="457200" rtl="0" algn="l">
              <a:spcBef>
                <a:spcPts val="600"/>
              </a:spcBef>
              <a:spcAft>
                <a:spcPts val="0"/>
              </a:spcAft>
              <a:buSzPts val="1800"/>
              <a:buChar char="●"/>
            </a:pPr>
            <a:r>
              <a:rPr lang="en"/>
              <a:t>If N=3, we have 3! = 6 different permutations of the animals, and each permutation yields a different answer. Therefore we have 6 universes</a:t>
            </a:r>
            <a:endParaRPr/>
          </a:p>
          <a:p>
            <a:pPr indent="-342900" lvl="0" marL="457200" rtl="0" algn="l">
              <a:spcBef>
                <a:spcPts val="0"/>
              </a:spcBef>
              <a:spcAft>
                <a:spcPts val="0"/>
              </a:spcAft>
              <a:buSzPts val="1800"/>
              <a:buChar char="●"/>
            </a:pPr>
            <a:r>
              <a:rPr lang="en"/>
              <a:t>So we need a binary tree with at least 6 leaves.</a:t>
            </a:r>
            <a:endParaRPr/>
          </a:p>
          <a:p>
            <a:pPr indent="-342900" lvl="1" marL="914400" rtl="0" algn="l">
              <a:spcBef>
                <a:spcPts val="0"/>
              </a:spcBef>
              <a:spcAft>
                <a:spcPts val="0"/>
              </a:spcAft>
              <a:buSzPts val="1800"/>
              <a:buChar char="○"/>
            </a:pPr>
            <a:r>
              <a:rPr lang="en"/>
              <a:t>How many levels minimum? 2</a:t>
            </a:r>
            <a:r>
              <a:rPr baseline="30000" lang="en"/>
              <a:t>2</a:t>
            </a:r>
            <a:r>
              <a:rPr lang="en"/>
              <a:t> = 4 is too small, and 2</a:t>
            </a:r>
            <a:r>
              <a:rPr baseline="30000" lang="en"/>
              <a:t>3</a:t>
            </a:r>
            <a:r>
              <a:rPr lang="en"/>
              <a:t>=8 is large enough, so we need at least 3 layers.</a:t>
            </a:r>
            <a:br>
              <a:rPr lang="en"/>
            </a:b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4" name="Shape 1154"/>
        <p:cNvGrpSpPr/>
        <p:nvPr/>
      </p:nvGrpSpPr>
      <p:grpSpPr>
        <a:xfrm>
          <a:off x="0" y="0"/>
          <a:ext cx="0" cy="0"/>
          <a:chOff x="0" y="0"/>
          <a:chExt cx="0" cy="0"/>
        </a:xfrm>
      </p:grpSpPr>
      <p:sp>
        <p:nvSpPr>
          <p:cNvPr id="1155" name="Google Shape;1155;p7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Puppy, Cat, Dog - </a:t>
            </a:r>
            <a:r>
              <a:rPr lang="en"/>
              <a:t>Decision Tree</a:t>
            </a:r>
            <a:endParaRPr/>
          </a:p>
        </p:txBody>
      </p:sp>
      <p:sp>
        <p:nvSpPr>
          <p:cNvPr id="1156" name="Google Shape;1156;p7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The full decision tree for puppy, cat, dog:</a:t>
            </a:r>
            <a:endParaRPr/>
          </a:p>
        </p:txBody>
      </p:sp>
      <p:sp>
        <p:nvSpPr>
          <p:cNvPr id="1157" name="Google Shape;1157;p72"/>
          <p:cNvSpPr/>
          <p:nvPr/>
        </p:nvSpPr>
        <p:spPr>
          <a:xfrm>
            <a:off x="3718950" y="1325650"/>
            <a:ext cx="940200" cy="5103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Is a &lt; b?</a:t>
            </a:r>
            <a:endParaRPr/>
          </a:p>
        </p:txBody>
      </p:sp>
      <p:sp>
        <p:nvSpPr>
          <p:cNvPr id="1158" name="Google Shape;1158;p72"/>
          <p:cNvSpPr/>
          <p:nvPr/>
        </p:nvSpPr>
        <p:spPr>
          <a:xfrm>
            <a:off x="5527975" y="2332525"/>
            <a:ext cx="9402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Is b &lt; c?</a:t>
            </a:r>
            <a:endParaRPr/>
          </a:p>
        </p:txBody>
      </p:sp>
      <p:grpSp>
        <p:nvGrpSpPr>
          <p:cNvPr id="1159" name="Google Shape;1159;p72"/>
          <p:cNvGrpSpPr/>
          <p:nvPr/>
        </p:nvGrpSpPr>
        <p:grpSpPr>
          <a:xfrm>
            <a:off x="2702550" y="1835950"/>
            <a:ext cx="3295500" cy="496500"/>
            <a:chOff x="2702550" y="1835950"/>
            <a:chExt cx="3295500" cy="496500"/>
          </a:xfrm>
        </p:grpSpPr>
        <p:cxnSp>
          <p:nvCxnSpPr>
            <p:cNvPr id="1160" name="Google Shape;1160;p72"/>
            <p:cNvCxnSpPr>
              <a:stCxn id="1157" idx="2"/>
              <a:endCxn id="1161" idx="0"/>
            </p:cNvCxnSpPr>
            <p:nvPr/>
          </p:nvCxnSpPr>
          <p:spPr>
            <a:xfrm flipH="1">
              <a:off x="2702550" y="1835950"/>
              <a:ext cx="1486500" cy="496500"/>
            </a:xfrm>
            <a:prstGeom prst="straightConnector1">
              <a:avLst/>
            </a:prstGeom>
            <a:noFill/>
            <a:ln cap="flat" cmpd="sng" w="19050">
              <a:solidFill>
                <a:schemeClr val="dk2"/>
              </a:solidFill>
              <a:prstDash val="solid"/>
              <a:round/>
              <a:headEnd len="med" w="med" type="none"/>
              <a:tailEnd len="med" w="med" type="none"/>
            </a:ln>
          </p:spPr>
        </p:cxnSp>
        <p:sp>
          <p:nvSpPr>
            <p:cNvPr id="1162" name="Google Shape;1162;p72"/>
            <p:cNvSpPr txBox="1"/>
            <p:nvPr/>
          </p:nvSpPr>
          <p:spPr>
            <a:xfrm>
              <a:off x="2951550" y="1835950"/>
              <a:ext cx="615000" cy="18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No</a:t>
              </a:r>
              <a:endParaRPr/>
            </a:p>
          </p:txBody>
        </p:sp>
        <p:cxnSp>
          <p:nvCxnSpPr>
            <p:cNvPr id="1163" name="Google Shape;1163;p72"/>
            <p:cNvCxnSpPr>
              <a:stCxn id="1157" idx="2"/>
              <a:endCxn id="1158" idx="0"/>
            </p:cNvCxnSpPr>
            <p:nvPr/>
          </p:nvCxnSpPr>
          <p:spPr>
            <a:xfrm>
              <a:off x="4189050" y="1835950"/>
              <a:ext cx="1809000" cy="496500"/>
            </a:xfrm>
            <a:prstGeom prst="straightConnector1">
              <a:avLst/>
            </a:prstGeom>
            <a:noFill/>
            <a:ln cap="flat" cmpd="sng" w="19050">
              <a:solidFill>
                <a:schemeClr val="dk2"/>
              </a:solidFill>
              <a:prstDash val="solid"/>
              <a:round/>
              <a:headEnd len="med" w="med" type="none"/>
              <a:tailEnd len="med" w="med" type="none"/>
            </a:ln>
          </p:spPr>
        </p:cxnSp>
        <p:sp>
          <p:nvSpPr>
            <p:cNvPr id="1164" name="Google Shape;1164;p72"/>
            <p:cNvSpPr txBox="1"/>
            <p:nvPr/>
          </p:nvSpPr>
          <p:spPr>
            <a:xfrm>
              <a:off x="5146975" y="1838500"/>
              <a:ext cx="615000" cy="18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Yes</a:t>
              </a:r>
              <a:endParaRPr/>
            </a:p>
          </p:txBody>
        </p:sp>
      </p:grpSp>
      <p:grpSp>
        <p:nvGrpSpPr>
          <p:cNvPr id="1165" name="Google Shape;1165;p72"/>
          <p:cNvGrpSpPr/>
          <p:nvPr/>
        </p:nvGrpSpPr>
        <p:grpSpPr>
          <a:xfrm>
            <a:off x="5998075" y="2916250"/>
            <a:ext cx="1593450" cy="499575"/>
            <a:chOff x="5998075" y="2916250"/>
            <a:chExt cx="1593450" cy="499575"/>
          </a:xfrm>
        </p:grpSpPr>
        <p:cxnSp>
          <p:nvCxnSpPr>
            <p:cNvPr id="1166" name="Google Shape;1166;p72"/>
            <p:cNvCxnSpPr>
              <a:stCxn id="1158" idx="2"/>
              <a:endCxn id="1167" idx="0"/>
            </p:cNvCxnSpPr>
            <p:nvPr/>
          </p:nvCxnSpPr>
          <p:spPr>
            <a:xfrm>
              <a:off x="5998075" y="2926225"/>
              <a:ext cx="819000" cy="489600"/>
            </a:xfrm>
            <a:prstGeom prst="straightConnector1">
              <a:avLst/>
            </a:prstGeom>
            <a:noFill/>
            <a:ln cap="flat" cmpd="sng" w="19050">
              <a:solidFill>
                <a:schemeClr val="dk2"/>
              </a:solidFill>
              <a:prstDash val="solid"/>
              <a:round/>
              <a:headEnd len="med" w="med" type="none"/>
              <a:tailEnd len="med" w="med" type="none"/>
            </a:ln>
          </p:spPr>
        </p:cxnSp>
        <p:sp>
          <p:nvSpPr>
            <p:cNvPr id="1168" name="Google Shape;1168;p72"/>
            <p:cNvSpPr txBox="1"/>
            <p:nvPr/>
          </p:nvSpPr>
          <p:spPr>
            <a:xfrm>
              <a:off x="6562225" y="2916250"/>
              <a:ext cx="1029300" cy="24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Yes</a:t>
              </a:r>
              <a:endParaRPr/>
            </a:p>
          </p:txBody>
        </p:sp>
      </p:grpSp>
      <p:grpSp>
        <p:nvGrpSpPr>
          <p:cNvPr id="1169" name="Google Shape;1169;p72"/>
          <p:cNvGrpSpPr/>
          <p:nvPr/>
        </p:nvGrpSpPr>
        <p:grpSpPr>
          <a:xfrm>
            <a:off x="5026500" y="2926225"/>
            <a:ext cx="971575" cy="476700"/>
            <a:chOff x="5026500" y="2926225"/>
            <a:chExt cx="971575" cy="476700"/>
          </a:xfrm>
        </p:grpSpPr>
        <p:cxnSp>
          <p:nvCxnSpPr>
            <p:cNvPr id="1170" name="Google Shape;1170;p72"/>
            <p:cNvCxnSpPr>
              <a:stCxn id="1158" idx="2"/>
            </p:cNvCxnSpPr>
            <p:nvPr/>
          </p:nvCxnSpPr>
          <p:spPr>
            <a:xfrm flipH="1">
              <a:off x="5211775" y="2926225"/>
              <a:ext cx="786300" cy="476700"/>
            </a:xfrm>
            <a:prstGeom prst="straightConnector1">
              <a:avLst/>
            </a:prstGeom>
            <a:noFill/>
            <a:ln cap="flat" cmpd="sng" w="19050">
              <a:solidFill>
                <a:schemeClr val="dk2"/>
              </a:solidFill>
              <a:prstDash val="solid"/>
              <a:round/>
              <a:headEnd len="med" w="med" type="none"/>
              <a:tailEnd len="med" w="med" type="none"/>
            </a:ln>
          </p:spPr>
        </p:cxnSp>
        <p:sp>
          <p:nvSpPr>
            <p:cNvPr id="1171" name="Google Shape;1171;p72"/>
            <p:cNvSpPr txBox="1"/>
            <p:nvPr/>
          </p:nvSpPr>
          <p:spPr>
            <a:xfrm>
              <a:off x="5026500" y="2942724"/>
              <a:ext cx="615000" cy="18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No</a:t>
              </a:r>
              <a:endParaRPr/>
            </a:p>
          </p:txBody>
        </p:sp>
      </p:grpSp>
      <p:sp>
        <p:nvSpPr>
          <p:cNvPr id="1172" name="Google Shape;1172;p72"/>
          <p:cNvSpPr/>
          <p:nvPr/>
        </p:nvSpPr>
        <p:spPr>
          <a:xfrm>
            <a:off x="4701300" y="3415900"/>
            <a:ext cx="9402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Is a &lt; c?</a:t>
            </a:r>
            <a:endParaRPr/>
          </a:p>
        </p:txBody>
      </p:sp>
      <p:grpSp>
        <p:nvGrpSpPr>
          <p:cNvPr id="1173" name="Google Shape;1173;p72"/>
          <p:cNvGrpSpPr/>
          <p:nvPr/>
        </p:nvGrpSpPr>
        <p:grpSpPr>
          <a:xfrm>
            <a:off x="5171400" y="4009600"/>
            <a:ext cx="1019099" cy="999975"/>
            <a:chOff x="5171400" y="4009600"/>
            <a:chExt cx="1019099" cy="999975"/>
          </a:xfrm>
        </p:grpSpPr>
        <p:sp>
          <p:nvSpPr>
            <p:cNvPr id="1174" name="Google Shape;1174;p72"/>
            <p:cNvSpPr/>
            <p:nvPr/>
          </p:nvSpPr>
          <p:spPr>
            <a:xfrm>
              <a:off x="5265175" y="449927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 c b</a:t>
              </a:r>
              <a:endParaRPr/>
            </a:p>
          </p:txBody>
        </p:sp>
        <p:cxnSp>
          <p:nvCxnSpPr>
            <p:cNvPr id="1175" name="Google Shape;1175;p72"/>
            <p:cNvCxnSpPr>
              <a:stCxn id="1172" idx="2"/>
              <a:endCxn id="1174" idx="0"/>
            </p:cNvCxnSpPr>
            <p:nvPr/>
          </p:nvCxnSpPr>
          <p:spPr>
            <a:xfrm>
              <a:off x="5171400" y="4009600"/>
              <a:ext cx="460200" cy="489600"/>
            </a:xfrm>
            <a:prstGeom prst="straightConnector1">
              <a:avLst/>
            </a:prstGeom>
            <a:noFill/>
            <a:ln cap="flat" cmpd="sng" w="19050">
              <a:solidFill>
                <a:schemeClr val="dk2"/>
              </a:solidFill>
              <a:prstDash val="solid"/>
              <a:round/>
              <a:headEnd len="med" w="med" type="none"/>
              <a:tailEnd len="med" w="med" type="none"/>
            </a:ln>
          </p:spPr>
        </p:cxnSp>
        <p:sp>
          <p:nvSpPr>
            <p:cNvPr id="1176" name="Google Shape;1176;p72"/>
            <p:cNvSpPr txBox="1"/>
            <p:nvPr/>
          </p:nvSpPr>
          <p:spPr>
            <a:xfrm>
              <a:off x="5457599" y="4057224"/>
              <a:ext cx="732900" cy="20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Yes</a:t>
              </a:r>
              <a:endParaRPr/>
            </a:p>
          </p:txBody>
        </p:sp>
      </p:grpSp>
      <p:grpSp>
        <p:nvGrpSpPr>
          <p:cNvPr id="1177" name="Google Shape;1177;p72"/>
          <p:cNvGrpSpPr/>
          <p:nvPr/>
        </p:nvGrpSpPr>
        <p:grpSpPr>
          <a:xfrm>
            <a:off x="4293600" y="4007200"/>
            <a:ext cx="877800" cy="1002375"/>
            <a:chOff x="4293600" y="4007200"/>
            <a:chExt cx="877800" cy="1002375"/>
          </a:xfrm>
        </p:grpSpPr>
        <p:sp>
          <p:nvSpPr>
            <p:cNvPr id="1178" name="Google Shape;1178;p72"/>
            <p:cNvSpPr/>
            <p:nvPr/>
          </p:nvSpPr>
          <p:spPr>
            <a:xfrm>
              <a:off x="4293600" y="449927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 a b</a:t>
              </a:r>
              <a:endParaRPr/>
            </a:p>
          </p:txBody>
        </p:sp>
        <p:cxnSp>
          <p:nvCxnSpPr>
            <p:cNvPr id="1179" name="Google Shape;1179;p72"/>
            <p:cNvCxnSpPr>
              <a:stCxn id="1172" idx="2"/>
              <a:endCxn id="1178" idx="0"/>
            </p:cNvCxnSpPr>
            <p:nvPr/>
          </p:nvCxnSpPr>
          <p:spPr>
            <a:xfrm flipH="1">
              <a:off x="4659900" y="4009600"/>
              <a:ext cx="511500" cy="489600"/>
            </a:xfrm>
            <a:prstGeom prst="straightConnector1">
              <a:avLst/>
            </a:prstGeom>
            <a:noFill/>
            <a:ln cap="flat" cmpd="sng" w="19050">
              <a:solidFill>
                <a:schemeClr val="dk2"/>
              </a:solidFill>
              <a:prstDash val="solid"/>
              <a:round/>
              <a:headEnd len="med" w="med" type="none"/>
              <a:tailEnd len="med" w="med" type="none"/>
            </a:ln>
          </p:spPr>
        </p:cxnSp>
        <p:sp>
          <p:nvSpPr>
            <p:cNvPr id="1180" name="Google Shape;1180;p72"/>
            <p:cNvSpPr txBox="1"/>
            <p:nvPr/>
          </p:nvSpPr>
          <p:spPr>
            <a:xfrm>
              <a:off x="4473700" y="4007200"/>
              <a:ext cx="629100" cy="23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No</a:t>
              </a:r>
              <a:endParaRPr/>
            </a:p>
          </p:txBody>
        </p:sp>
      </p:grpSp>
      <p:grpSp>
        <p:nvGrpSpPr>
          <p:cNvPr id="1181" name="Google Shape;1181;p72"/>
          <p:cNvGrpSpPr/>
          <p:nvPr/>
        </p:nvGrpSpPr>
        <p:grpSpPr>
          <a:xfrm>
            <a:off x="1206975" y="2332525"/>
            <a:ext cx="2698600" cy="2677050"/>
            <a:chOff x="1206975" y="2332525"/>
            <a:chExt cx="2698600" cy="2677050"/>
          </a:xfrm>
        </p:grpSpPr>
        <p:sp>
          <p:nvSpPr>
            <p:cNvPr id="1161" name="Google Shape;1161;p72"/>
            <p:cNvSpPr/>
            <p:nvPr/>
          </p:nvSpPr>
          <p:spPr>
            <a:xfrm>
              <a:off x="2232475" y="2332525"/>
              <a:ext cx="9402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Is a &lt; c?</a:t>
              </a:r>
              <a:endParaRPr/>
            </a:p>
          </p:txBody>
        </p:sp>
        <p:cxnSp>
          <p:nvCxnSpPr>
            <p:cNvPr id="1182" name="Google Shape;1182;p72"/>
            <p:cNvCxnSpPr>
              <a:stCxn id="1161" idx="2"/>
              <a:endCxn id="1183" idx="0"/>
            </p:cNvCxnSpPr>
            <p:nvPr/>
          </p:nvCxnSpPr>
          <p:spPr>
            <a:xfrm>
              <a:off x="2702575" y="2926225"/>
              <a:ext cx="836400" cy="531300"/>
            </a:xfrm>
            <a:prstGeom prst="straightConnector1">
              <a:avLst/>
            </a:prstGeom>
            <a:noFill/>
            <a:ln cap="flat" cmpd="sng" w="19050">
              <a:solidFill>
                <a:schemeClr val="dk2"/>
              </a:solidFill>
              <a:prstDash val="solid"/>
              <a:round/>
              <a:headEnd len="med" w="med" type="none"/>
              <a:tailEnd len="med" w="med" type="none"/>
            </a:ln>
          </p:spPr>
        </p:cxnSp>
        <p:sp>
          <p:nvSpPr>
            <p:cNvPr id="1184" name="Google Shape;1184;p72"/>
            <p:cNvSpPr/>
            <p:nvPr/>
          </p:nvSpPr>
          <p:spPr>
            <a:xfrm>
              <a:off x="1601700" y="3415900"/>
              <a:ext cx="940200" cy="593700"/>
            </a:xfrm>
            <a:prstGeom prst="rect">
              <a:avLst/>
            </a:prstGeom>
            <a:solidFill>
              <a:srgbClr val="B6D7A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Is b &lt; c?</a:t>
              </a:r>
              <a:endParaRPr/>
            </a:p>
          </p:txBody>
        </p:sp>
        <p:sp>
          <p:nvSpPr>
            <p:cNvPr id="1183" name="Google Shape;1183;p72"/>
            <p:cNvSpPr/>
            <p:nvPr/>
          </p:nvSpPr>
          <p:spPr>
            <a:xfrm>
              <a:off x="3172675" y="345760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b a c</a:t>
              </a:r>
              <a:endParaRPr/>
            </a:p>
          </p:txBody>
        </p:sp>
        <p:cxnSp>
          <p:nvCxnSpPr>
            <p:cNvPr id="1185" name="Google Shape;1185;p72"/>
            <p:cNvCxnSpPr>
              <a:stCxn id="1161" idx="2"/>
              <a:endCxn id="1184" idx="0"/>
            </p:cNvCxnSpPr>
            <p:nvPr/>
          </p:nvCxnSpPr>
          <p:spPr>
            <a:xfrm flipH="1">
              <a:off x="2071675" y="2926225"/>
              <a:ext cx="630900" cy="489600"/>
            </a:xfrm>
            <a:prstGeom prst="straightConnector1">
              <a:avLst/>
            </a:prstGeom>
            <a:noFill/>
            <a:ln cap="flat" cmpd="sng" w="19050">
              <a:solidFill>
                <a:schemeClr val="dk2"/>
              </a:solidFill>
              <a:prstDash val="solid"/>
              <a:round/>
              <a:headEnd len="med" w="med" type="none"/>
              <a:tailEnd len="med" w="med" type="none"/>
            </a:ln>
          </p:spPr>
        </p:cxnSp>
        <p:sp>
          <p:nvSpPr>
            <p:cNvPr id="1186" name="Google Shape;1186;p72"/>
            <p:cNvSpPr/>
            <p:nvPr/>
          </p:nvSpPr>
          <p:spPr>
            <a:xfrm>
              <a:off x="2232475" y="449927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b c a</a:t>
              </a:r>
              <a:endParaRPr/>
            </a:p>
          </p:txBody>
        </p:sp>
        <p:sp>
          <p:nvSpPr>
            <p:cNvPr id="1187" name="Google Shape;1187;p72"/>
            <p:cNvSpPr/>
            <p:nvPr/>
          </p:nvSpPr>
          <p:spPr>
            <a:xfrm>
              <a:off x="1206975" y="4499275"/>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 b a</a:t>
              </a:r>
              <a:endParaRPr/>
            </a:p>
          </p:txBody>
        </p:sp>
        <p:cxnSp>
          <p:nvCxnSpPr>
            <p:cNvPr id="1188" name="Google Shape;1188;p72"/>
            <p:cNvCxnSpPr>
              <a:stCxn id="1184" idx="2"/>
              <a:endCxn id="1187" idx="0"/>
            </p:cNvCxnSpPr>
            <p:nvPr/>
          </p:nvCxnSpPr>
          <p:spPr>
            <a:xfrm flipH="1">
              <a:off x="1573500" y="4009600"/>
              <a:ext cx="498300" cy="489600"/>
            </a:xfrm>
            <a:prstGeom prst="straightConnector1">
              <a:avLst/>
            </a:prstGeom>
            <a:noFill/>
            <a:ln cap="flat" cmpd="sng" w="19050">
              <a:solidFill>
                <a:schemeClr val="dk2"/>
              </a:solidFill>
              <a:prstDash val="solid"/>
              <a:round/>
              <a:headEnd len="med" w="med" type="none"/>
              <a:tailEnd len="med" w="med" type="none"/>
            </a:ln>
          </p:spPr>
        </p:cxnSp>
        <p:cxnSp>
          <p:nvCxnSpPr>
            <p:cNvPr id="1189" name="Google Shape;1189;p72"/>
            <p:cNvCxnSpPr>
              <a:stCxn id="1184" idx="2"/>
              <a:endCxn id="1186" idx="0"/>
            </p:cNvCxnSpPr>
            <p:nvPr/>
          </p:nvCxnSpPr>
          <p:spPr>
            <a:xfrm>
              <a:off x="2071800" y="4009600"/>
              <a:ext cx="527100" cy="489600"/>
            </a:xfrm>
            <a:prstGeom prst="straightConnector1">
              <a:avLst/>
            </a:prstGeom>
            <a:noFill/>
            <a:ln cap="flat" cmpd="sng" w="19050">
              <a:solidFill>
                <a:schemeClr val="dk2"/>
              </a:solidFill>
              <a:prstDash val="solid"/>
              <a:round/>
              <a:headEnd len="med" w="med" type="none"/>
              <a:tailEnd len="med" w="med" type="none"/>
            </a:ln>
          </p:spPr>
        </p:cxnSp>
        <p:sp>
          <p:nvSpPr>
            <p:cNvPr id="1190" name="Google Shape;1190;p72"/>
            <p:cNvSpPr txBox="1"/>
            <p:nvPr/>
          </p:nvSpPr>
          <p:spPr>
            <a:xfrm>
              <a:off x="3126400" y="2949800"/>
              <a:ext cx="498300" cy="27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Yes</a:t>
              </a:r>
              <a:endParaRPr/>
            </a:p>
          </p:txBody>
        </p:sp>
        <p:sp>
          <p:nvSpPr>
            <p:cNvPr id="1191" name="Google Shape;1191;p72"/>
            <p:cNvSpPr txBox="1"/>
            <p:nvPr/>
          </p:nvSpPr>
          <p:spPr>
            <a:xfrm>
              <a:off x="1939875" y="2949800"/>
              <a:ext cx="498300" cy="27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No</a:t>
              </a:r>
              <a:endParaRPr/>
            </a:p>
          </p:txBody>
        </p:sp>
        <p:sp>
          <p:nvSpPr>
            <p:cNvPr id="1192" name="Google Shape;1192;p72"/>
            <p:cNvSpPr txBox="1"/>
            <p:nvPr/>
          </p:nvSpPr>
          <p:spPr>
            <a:xfrm>
              <a:off x="1381788" y="4040838"/>
              <a:ext cx="498300" cy="27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No</a:t>
              </a:r>
              <a:endParaRPr/>
            </a:p>
          </p:txBody>
        </p:sp>
        <p:sp>
          <p:nvSpPr>
            <p:cNvPr id="1193" name="Google Shape;1193;p72"/>
            <p:cNvSpPr txBox="1"/>
            <p:nvPr/>
          </p:nvSpPr>
          <p:spPr>
            <a:xfrm>
              <a:off x="2339713" y="4040838"/>
              <a:ext cx="498300" cy="27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Yes</a:t>
              </a:r>
              <a:endParaRPr/>
            </a:p>
          </p:txBody>
        </p:sp>
      </p:grpSp>
      <p:grpSp>
        <p:nvGrpSpPr>
          <p:cNvPr id="1194" name="Google Shape;1194;p72"/>
          <p:cNvGrpSpPr/>
          <p:nvPr/>
        </p:nvGrpSpPr>
        <p:grpSpPr>
          <a:xfrm>
            <a:off x="6450525" y="3311200"/>
            <a:ext cx="2019075" cy="615000"/>
            <a:chOff x="6450525" y="3311200"/>
            <a:chExt cx="2019075" cy="615000"/>
          </a:xfrm>
        </p:grpSpPr>
        <p:sp>
          <p:nvSpPr>
            <p:cNvPr id="1167" name="Google Shape;1167;p72"/>
            <p:cNvSpPr/>
            <p:nvPr/>
          </p:nvSpPr>
          <p:spPr>
            <a:xfrm>
              <a:off x="6450525" y="3415900"/>
              <a:ext cx="732900" cy="510300"/>
            </a:xfrm>
            <a:prstGeom prst="roundRect">
              <a:avLst>
                <a:gd fmla="val 16667" name="adj"/>
              </a:avLst>
            </a:prstGeom>
            <a:solidFill>
              <a:srgbClr val="A4C2F4"/>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 b c</a:t>
              </a:r>
              <a:endParaRPr/>
            </a:p>
          </p:txBody>
        </p:sp>
        <p:sp>
          <p:nvSpPr>
            <p:cNvPr id="1195" name="Google Shape;1195;p72"/>
            <p:cNvSpPr txBox="1"/>
            <p:nvPr/>
          </p:nvSpPr>
          <p:spPr>
            <a:xfrm>
              <a:off x="7591800" y="3311200"/>
              <a:ext cx="877800" cy="510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 puppy</a:t>
              </a:r>
              <a:endParaRPr/>
            </a:p>
            <a:p>
              <a:pPr indent="0" lvl="0" marL="0" rtl="0" algn="l">
                <a:spcBef>
                  <a:spcPts val="0"/>
                </a:spcBef>
                <a:spcAft>
                  <a:spcPts val="0"/>
                </a:spcAft>
                <a:buNone/>
              </a:pPr>
              <a:r>
                <a:rPr lang="en"/>
                <a:t>b: cat</a:t>
              </a:r>
              <a:endParaRPr/>
            </a:p>
            <a:p>
              <a:pPr indent="0" lvl="0" marL="0" rtl="0" algn="l">
                <a:spcBef>
                  <a:spcPts val="0"/>
                </a:spcBef>
                <a:spcAft>
                  <a:spcPts val="0"/>
                </a:spcAft>
                <a:buNone/>
              </a:pPr>
              <a:r>
                <a:rPr lang="en"/>
                <a:t>c: dog</a:t>
              </a:r>
              <a:endParaRPr/>
            </a:p>
          </p:txBody>
        </p:sp>
      </p:grpSp>
      <p:sp>
        <p:nvSpPr>
          <p:cNvPr id="1196" name="Google Shape;1196;p72"/>
          <p:cNvSpPr txBox="1"/>
          <p:nvPr/>
        </p:nvSpPr>
        <p:spPr>
          <a:xfrm>
            <a:off x="6190500" y="4346875"/>
            <a:ext cx="877800" cy="510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 puppy</a:t>
            </a:r>
            <a:endParaRPr/>
          </a:p>
          <a:p>
            <a:pPr indent="0" lvl="0" marL="0" rtl="0" algn="l">
              <a:spcBef>
                <a:spcPts val="0"/>
              </a:spcBef>
              <a:spcAft>
                <a:spcPts val="0"/>
              </a:spcAft>
              <a:buNone/>
            </a:pPr>
            <a:r>
              <a:rPr lang="en"/>
              <a:t>c: cat</a:t>
            </a:r>
            <a:endParaRPr/>
          </a:p>
          <a:p>
            <a:pPr indent="0" lvl="0" marL="0" rtl="0" algn="l">
              <a:spcBef>
                <a:spcPts val="0"/>
              </a:spcBef>
              <a:spcAft>
                <a:spcPts val="0"/>
              </a:spcAft>
              <a:buNone/>
            </a:pPr>
            <a:r>
              <a:rPr lang="en"/>
              <a:t>b: dog</a:t>
            </a:r>
            <a:endParaRPr/>
          </a:p>
        </p:txBody>
      </p:sp>
      <p:sp>
        <p:nvSpPr>
          <p:cNvPr id="1197" name="Google Shape;1197;p72"/>
          <p:cNvSpPr txBox="1"/>
          <p:nvPr/>
        </p:nvSpPr>
        <p:spPr>
          <a:xfrm>
            <a:off x="3415800" y="4346875"/>
            <a:ext cx="877800" cy="510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c: puppy</a:t>
            </a:r>
            <a:endParaRPr/>
          </a:p>
          <a:p>
            <a:pPr indent="0" lvl="0" marL="0" rtl="0" algn="l">
              <a:spcBef>
                <a:spcPts val="0"/>
              </a:spcBef>
              <a:spcAft>
                <a:spcPts val="0"/>
              </a:spcAft>
              <a:buNone/>
            </a:pPr>
            <a:r>
              <a:rPr lang="en"/>
              <a:t>a: cat</a:t>
            </a:r>
            <a:endParaRPr/>
          </a:p>
          <a:p>
            <a:pPr indent="0" lvl="0" marL="0" rtl="0" algn="l">
              <a:spcBef>
                <a:spcPts val="0"/>
              </a:spcBef>
              <a:spcAft>
                <a:spcPts val="0"/>
              </a:spcAft>
              <a:buNone/>
            </a:pPr>
            <a:r>
              <a:rPr lang="en"/>
              <a:t>b: dog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9"/>
                                        </p:tgtEl>
                                        <p:attrNameLst>
                                          <p:attrName>style.visibility</p:attrName>
                                        </p:attrNameLst>
                                      </p:cBhvr>
                                      <p:to>
                                        <p:strVal val="visible"/>
                                      </p:to>
                                    </p:set>
                                    <p:animEffect filter="fade" transition="in">
                                      <p:cBhvr>
                                        <p:cTn dur="1000"/>
                                        <p:tgtEl>
                                          <p:spTgt spid="11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8"/>
                                        </p:tgtEl>
                                        <p:attrNameLst>
                                          <p:attrName>style.visibility</p:attrName>
                                        </p:attrNameLst>
                                      </p:cBhvr>
                                      <p:to>
                                        <p:strVal val="visible"/>
                                      </p:to>
                                    </p:set>
                                    <p:animEffect filter="fade" transition="in">
                                      <p:cBhvr>
                                        <p:cTn dur="1000"/>
                                        <p:tgtEl>
                                          <p:spTgt spid="11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5"/>
                                        </p:tgtEl>
                                        <p:attrNameLst>
                                          <p:attrName>style.visibility</p:attrName>
                                        </p:attrNameLst>
                                      </p:cBhvr>
                                      <p:to>
                                        <p:strVal val="visible"/>
                                      </p:to>
                                    </p:set>
                                    <p:animEffect filter="fade" transition="in">
                                      <p:cBhvr>
                                        <p:cTn dur="1000"/>
                                        <p:tgtEl>
                                          <p:spTgt spid="11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94"/>
                                        </p:tgtEl>
                                        <p:attrNameLst>
                                          <p:attrName>style.visibility</p:attrName>
                                        </p:attrNameLst>
                                      </p:cBhvr>
                                      <p:to>
                                        <p:strVal val="visible"/>
                                      </p:to>
                                    </p:set>
                                    <p:animEffect filter="fade" transition="in">
                                      <p:cBhvr>
                                        <p:cTn dur="1000"/>
                                        <p:tgtEl>
                                          <p:spTgt spid="11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69"/>
                                        </p:tgtEl>
                                        <p:attrNameLst>
                                          <p:attrName>style.visibility</p:attrName>
                                        </p:attrNameLst>
                                      </p:cBhvr>
                                      <p:to>
                                        <p:strVal val="visible"/>
                                      </p:to>
                                    </p:set>
                                    <p:animEffect filter="fade" transition="in">
                                      <p:cBhvr>
                                        <p:cTn dur="1000"/>
                                        <p:tgtEl>
                                          <p:spTgt spid="116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2"/>
                                        </p:tgtEl>
                                        <p:attrNameLst>
                                          <p:attrName>style.visibility</p:attrName>
                                        </p:attrNameLst>
                                      </p:cBhvr>
                                      <p:to>
                                        <p:strVal val="visible"/>
                                      </p:to>
                                    </p:set>
                                    <p:animEffect filter="fade" transition="in">
                                      <p:cBhvr>
                                        <p:cTn dur="1000"/>
                                        <p:tgtEl>
                                          <p:spTgt spid="11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3"/>
                                        </p:tgtEl>
                                        <p:attrNameLst>
                                          <p:attrName>style.visibility</p:attrName>
                                        </p:attrNameLst>
                                      </p:cBhvr>
                                      <p:to>
                                        <p:strVal val="visible"/>
                                      </p:to>
                                    </p:set>
                                    <p:animEffect filter="fade" transition="in">
                                      <p:cBhvr>
                                        <p:cTn dur="1000"/>
                                        <p:tgtEl>
                                          <p:spTgt spid="1173"/>
                                        </p:tgtEl>
                                      </p:cBhvr>
                                    </p:animEffect>
                                  </p:childTnLst>
                                </p:cTn>
                              </p:par>
                              <p:par>
                                <p:cTn fill="hold" nodeType="withEffect" presetClass="entr" presetID="10" presetSubtype="0">
                                  <p:stCondLst>
                                    <p:cond delay="0"/>
                                  </p:stCondLst>
                                  <p:childTnLst>
                                    <p:set>
                                      <p:cBhvr>
                                        <p:cTn dur="1" fill="hold">
                                          <p:stCondLst>
                                            <p:cond delay="0"/>
                                          </p:stCondLst>
                                        </p:cTn>
                                        <p:tgtEl>
                                          <p:spTgt spid="1196"/>
                                        </p:tgtEl>
                                        <p:attrNameLst>
                                          <p:attrName>style.visibility</p:attrName>
                                        </p:attrNameLst>
                                      </p:cBhvr>
                                      <p:to>
                                        <p:strVal val="visible"/>
                                      </p:to>
                                    </p:set>
                                    <p:animEffect filter="fade" transition="in">
                                      <p:cBhvr>
                                        <p:cTn dur="1000"/>
                                        <p:tgtEl>
                                          <p:spTgt spid="119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7"/>
                                        </p:tgtEl>
                                        <p:attrNameLst>
                                          <p:attrName>style.visibility</p:attrName>
                                        </p:attrNameLst>
                                      </p:cBhvr>
                                      <p:to>
                                        <p:strVal val="visible"/>
                                      </p:to>
                                    </p:set>
                                    <p:animEffect filter="fade" transition="in">
                                      <p:cBhvr>
                                        <p:cTn dur="1000"/>
                                        <p:tgtEl>
                                          <p:spTgt spid="1177"/>
                                        </p:tgtEl>
                                      </p:cBhvr>
                                    </p:animEffect>
                                  </p:childTnLst>
                                </p:cTn>
                              </p:par>
                              <p:par>
                                <p:cTn fill="hold" nodeType="withEffect" presetClass="entr" presetID="10" presetSubtype="0">
                                  <p:stCondLst>
                                    <p:cond delay="0"/>
                                  </p:stCondLst>
                                  <p:childTnLst>
                                    <p:set>
                                      <p:cBhvr>
                                        <p:cTn dur="1" fill="hold">
                                          <p:stCondLst>
                                            <p:cond delay="0"/>
                                          </p:stCondLst>
                                        </p:cTn>
                                        <p:tgtEl>
                                          <p:spTgt spid="1197"/>
                                        </p:tgtEl>
                                        <p:attrNameLst>
                                          <p:attrName>style.visibility</p:attrName>
                                        </p:attrNameLst>
                                      </p:cBhvr>
                                      <p:to>
                                        <p:strVal val="visible"/>
                                      </p:to>
                                    </p:set>
                                    <p:animEffect filter="fade" transition="in">
                                      <p:cBhvr>
                                        <p:cTn dur="1000"/>
                                        <p:tgtEl>
                                          <p:spTgt spid="11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81"/>
                                        </p:tgtEl>
                                        <p:attrNameLst>
                                          <p:attrName>style.visibility</p:attrName>
                                        </p:attrNameLst>
                                      </p:cBhvr>
                                      <p:to>
                                        <p:strVal val="visible"/>
                                      </p:to>
                                    </p:set>
                                    <p:animEffect filter="fade" transition="in">
                                      <p:cBhvr>
                                        <p:cTn dur="1000"/>
                                        <p:tgtEl>
                                          <p:spTgt spid="11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1201" name="Shape 1201"/>
        <p:cNvGrpSpPr/>
        <p:nvPr/>
      </p:nvGrpSpPr>
      <p:grpSpPr>
        <a:xfrm>
          <a:off x="0" y="0"/>
          <a:ext cx="0" cy="0"/>
          <a:chOff x="0" y="0"/>
          <a:chExt cx="0" cy="0"/>
        </a:xfrm>
      </p:grpSpPr>
      <p:sp>
        <p:nvSpPr>
          <p:cNvPr id="1202" name="Google Shape;1202;p7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Generalizing Puppy, Cat, Dog</a:t>
            </a:r>
            <a:endParaRPr/>
          </a:p>
        </p:txBody>
      </p:sp>
      <p:sp>
        <p:nvSpPr>
          <p:cNvPr id="1203" name="Google Shape;1203;p73"/>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How many questions would you need to ask to definitely solve the generalized “puppy, cat, dog” problem for N items?</a:t>
            </a:r>
            <a:endParaRPr/>
          </a:p>
          <a:p>
            <a:pPr indent="-342900" lvl="0" marL="457200" rtl="0" algn="l">
              <a:spcBef>
                <a:spcPts val="600"/>
              </a:spcBef>
              <a:spcAft>
                <a:spcPts val="0"/>
              </a:spcAft>
              <a:buSzPts val="1800"/>
              <a:buChar char="●"/>
            </a:pPr>
            <a:r>
              <a:rPr lang="en"/>
              <a:t>Give your answer in big Omega notation.</a:t>
            </a:r>
            <a:endParaRPr/>
          </a:p>
          <a:p>
            <a:pPr indent="0" lvl="0" marL="0" rtl="0" algn="l">
              <a:spcBef>
                <a:spcPts val="600"/>
              </a:spcBef>
              <a:spcAft>
                <a:spcPts val="0"/>
              </a:spcAft>
              <a:buNone/>
            </a:pPr>
            <a:br>
              <a:rPr lang="en"/>
            </a:br>
            <a:endParaRPr/>
          </a:p>
          <a:p>
            <a:pPr indent="0" lvl="0" marL="0" rtl="0" algn="l">
              <a:spcBef>
                <a:spcPts val="600"/>
              </a:spcBef>
              <a:spcAft>
                <a:spcPts val="0"/>
              </a:spcAft>
              <a:buNone/>
            </a:pPr>
            <a:r>
              <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7" name="Shape 1207"/>
        <p:cNvGrpSpPr/>
        <p:nvPr/>
      </p:nvGrpSpPr>
      <p:grpSpPr>
        <a:xfrm>
          <a:off x="0" y="0"/>
          <a:ext cx="0" cy="0"/>
          <a:chOff x="0" y="0"/>
          <a:chExt cx="0" cy="0"/>
        </a:xfrm>
      </p:grpSpPr>
      <p:sp>
        <p:nvSpPr>
          <p:cNvPr id="1208" name="Google Shape;1208;p7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Generalizing Puppy, Cat, Dog</a:t>
            </a:r>
            <a:endParaRPr/>
          </a:p>
        </p:txBody>
      </p:sp>
      <p:sp>
        <p:nvSpPr>
          <p:cNvPr id="1209" name="Google Shape;1209;p7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How many questions would you need to ask to definitely solve the generalized “puppy, cat, dog” problem for N items?</a:t>
            </a:r>
            <a:endParaRPr/>
          </a:p>
          <a:p>
            <a:pPr indent="-342900" lvl="0" marL="457200" rtl="0" algn="l">
              <a:spcBef>
                <a:spcPts val="600"/>
              </a:spcBef>
              <a:spcAft>
                <a:spcPts val="0"/>
              </a:spcAft>
              <a:buSzPts val="1800"/>
              <a:buChar char="●"/>
            </a:pPr>
            <a:r>
              <a:rPr lang="en"/>
              <a:t>Give your answer in big Omega notation.</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For N, we have the following argument:</a:t>
            </a:r>
            <a:endParaRPr/>
          </a:p>
          <a:p>
            <a:pPr indent="-342900" lvl="0" marL="457200" rtl="0" algn="l">
              <a:spcBef>
                <a:spcPts val="600"/>
              </a:spcBef>
              <a:spcAft>
                <a:spcPts val="0"/>
              </a:spcAft>
              <a:buSzPts val="1800"/>
              <a:buChar char="●"/>
            </a:pPr>
            <a:r>
              <a:rPr lang="en"/>
              <a:t>For N animals, we have N! universes.</a:t>
            </a:r>
            <a:endParaRPr/>
          </a:p>
          <a:p>
            <a:pPr indent="-342900" lvl="0" marL="457200" rtl="0" algn="l">
              <a:spcBef>
                <a:spcPts val="0"/>
              </a:spcBef>
              <a:spcAft>
                <a:spcPts val="0"/>
              </a:spcAft>
              <a:buSzPts val="1800"/>
              <a:buChar char="●"/>
            </a:pPr>
            <a:r>
              <a:rPr lang="en"/>
              <a:t>So we need at least ceiling(lg(N!)) levels, which is Ω(log(N!))</a:t>
            </a:r>
            <a:endParaRPr/>
          </a:p>
          <a:p>
            <a:pPr indent="-342900" lvl="1" marL="914400" rtl="0" algn="l">
              <a:spcBef>
                <a:spcPts val="0"/>
              </a:spcBef>
              <a:spcAft>
                <a:spcPts val="0"/>
              </a:spcAft>
              <a:buSzPts val="1800"/>
              <a:buChar char="○"/>
            </a:pPr>
            <a:r>
              <a:rPr lang="en"/>
              <a:t>Don't know for certain that we can attain that bound, so we can only say an Omega bound</a:t>
            </a:r>
            <a:endParaRPr/>
          </a:p>
          <a:p>
            <a:pPr indent="-342900" lvl="1" marL="914400" rtl="0" algn="l">
              <a:spcBef>
                <a:spcPts val="0"/>
              </a:spcBef>
              <a:spcAft>
                <a:spcPts val="0"/>
              </a:spcAft>
              <a:buSzPts val="1800"/>
              <a:buChar char="○"/>
            </a:pPr>
            <a:r>
              <a:rPr lang="en"/>
              <a:t>lg just means log</a:t>
            </a:r>
            <a:r>
              <a:rPr baseline="-25000" lang="en"/>
              <a:t>2</a:t>
            </a:r>
            <a:r>
              <a:rPr lang="en"/>
              <a:t>  (log base 2)</a:t>
            </a:r>
            <a:br>
              <a:rPr lang="en"/>
            </a:br>
            <a:endParaRPr/>
          </a:p>
          <a:p>
            <a:pPr indent="0" lvl="0" marL="0" rtl="0" algn="l">
              <a:spcBef>
                <a:spcPts val="600"/>
              </a:spcBef>
              <a:spcAft>
                <a:spcPts val="0"/>
              </a:spcAft>
              <a:buNone/>
            </a:pPr>
            <a:r>
              <a:rPr lang="en"/>
              <a:t>Answer: Ω(log(N!))</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3" name="Shape 1213"/>
        <p:cNvGrpSpPr/>
        <p:nvPr/>
      </p:nvGrpSpPr>
      <p:grpSpPr>
        <a:xfrm>
          <a:off x="0" y="0"/>
          <a:ext cx="0" cy="0"/>
          <a:chOff x="0" y="0"/>
          <a:chExt cx="0" cy="0"/>
        </a:xfrm>
      </p:grpSpPr>
      <p:sp>
        <p:nvSpPr>
          <p:cNvPr id="1214" name="Google Shape;1214;p7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Generalizing Puppy, Cat, Dog</a:t>
            </a:r>
            <a:endParaRPr/>
          </a:p>
        </p:txBody>
      </p:sp>
      <p:sp>
        <p:nvSpPr>
          <p:cNvPr id="1215" name="Google Shape;1215;p75"/>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Finding an optimal decision tree for the generalized version of puppy, cat, dog (e.g. N=6: puppy, cat, dog, monkey, walrus, elephant) is an open problem in mathematics.</a:t>
            </a:r>
            <a:endParaRPr/>
          </a:p>
          <a:p>
            <a:pPr indent="-342900" lvl="0" marL="457200" rtl="0" algn="l">
              <a:spcBef>
                <a:spcPts val="600"/>
              </a:spcBef>
              <a:spcAft>
                <a:spcPts val="0"/>
              </a:spcAft>
              <a:buSzPts val="1800"/>
              <a:buChar char="●"/>
            </a:pPr>
            <a:r>
              <a:rPr lang="en"/>
              <a:t>(To my knowledge) Best known trees known for N=1 through 15 and N=22:</a:t>
            </a:r>
            <a:endParaRPr/>
          </a:p>
          <a:p>
            <a:pPr indent="-342900" lvl="1" marL="914400" rtl="0" algn="l">
              <a:spcBef>
                <a:spcPts val="0"/>
              </a:spcBef>
              <a:spcAft>
                <a:spcPts val="0"/>
              </a:spcAft>
              <a:buSzPts val="1800"/>
              <a:buChar char="○"/>
            </a:pPr>
            <a:r>
              <a:rPr lang="en"/>
              <a:t>For more, see: </a:t>
            </a:r>
            <a:r>
              <a:rPr lang="en" u="sng">
                <a:solidFill>
                  <a:schemeClr val="hlink"/>
                </a:solidFill>
                <a:hlinkClick r:id="rId3"/>
              </a:rPr>
              <a:t>http://oeis.org/A036604</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Deriving a sequence of yes/no questions to identify puppy, cat, dog is hard. An alternate approach to solving the puppy, cat, dog problem:</a:t>
            </a:r>
            <a:endParaRPr/>
          </a:p>
          <a:p>
            <a:pPr indent="-342900" lvl="0" marL="457200" rtl="0" algn="l">
              <a:spcBef>
                <a:spcPts val="600"/>
              </a:spcBef>
              <a:spcAft>
                <a:spcPts val="0"/>
              </a:spcAft>
              <a:buSzPts val="1800"/>
              <a:buChar char="●"/>
            </a:pPr>
            <a:r>
              <a:rPr lang="en"/>
              <a:t>Use a sorting algorithm!</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9" name="Shape 1219"/>
        <p:cNvGrpSpPr/>
        <p:nvPr/>
      </p:nvGrpSpPr>
      <p:grpSpPr>
        <a:xfrm>
          <a:off x="0" y="0"/>
          <a:ext cx="0" cy="0"/>
          <a:chOff x="0" y="0"/>
          <a:chExt cx="0" cy="0"/>
        </a:xfrm>
      </p:grpSpPr>
      <p:sp>
        <p:nvSpPr>
          <p:cNvPr id="1220" name="Google Shape;1220;p7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Reducing </a:t>
            </a:r>
            <a:r>
              <a:rPr lang="en"/>
              <a:t>Puppy, Cat, Dog to Sorting</a:t>
            </a:r>
            <a:endParaRPr/>
          </a:p>
        </p:txBody>
      </p:sp>
      <p:sp>
        <p:nvSpPr>
          <p:cNvPr id="1221" name="Google Shape;1221;p7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Arrange the boxes in a row from A to Z</a:t>
            </a:r>
            <a:endParaRPr/>
          </a:p>
          <a:p>
            <a:pPr indent="0" lvl="0" marL="0" rtl="0" algn="l">
              <a:spcBef>
                <a:spcPts val="600"/>
              </a:spcBef>
              <a:spcAft>
                <a:spcPts val="0"/>
              </a:spcAft>
              <a:buNone/>
            </a:pPr>
            <a:r>
              <a:rPr lang="en"/>
              <a:t>Create a class Box implements Comparable</a:t>
            </a:r>
            <a:endParaRPr/>
          </a:p>
          <a:p>
            <a:pPr indent="0" lvl="0" marL="0" rtl="0" algn="l">
              <a:spcBef>
                <a:spcPts val="600"/>
              </a:spcBef>
              <a:spcAft>
                <a:spcPts val="0"/>
              </a:spcAft>
              <a:buNone/>
            </a:pPr>
            <a:r>
              <a:rPr lang="en"/>
              <a:t>For the compareTo method:</a:t>
            </a:r>
            <a:endParaRPr/>
          </a:p>
          <a:p>
            <a:pPr indent="-342900" lvl="0" marL="457200" rtl="0" algn="l">
              <a:spcBef>
                <a:spcPts val="600"/>
              </a:spcBef>
              <a:spcAft>
                <a:spcPts val="0"/>
              </a:spcAft>
              <a:buSzPts val="1800"/>
              <a:buChar char="●"/>
            </a:pPr>
            <a:r>
              <a:rPr lang="en"/>
              <a:t>Use the scale to compare the given boxes and return the result</a:t>
            </a:r>
            <a:endParaRPr/>
          </a:p>
          <a:p>
            <a:pPr indent="0" lvl="0" marL="0" rtl="0" algn="l">
              <a:spcBef>
                <a:spcPts val="600"/>
              </a:spcBef>
              <a:spcAft>
                <a:spcPts val="0"/>
              </a:spcAft>
              <a:buNone/>
            </a:pPr>
            <a:r>
              <a:rPr lang="en"/>
              <a:t>For the swap method:</a:t>
            </a:r>
            <a:endParaRPr/>
          </a:p>
          <a:p>
            <a:pPr indent="-342900" lvl="0" marL="457200" rtl="0" algn="l">
              <a:spcBef>
                <a:spcPts val="600"/>
              </a:spcBef>
              <a:spcAft>
                <a:spcPts val="0"/>
              </a:spcAft>
              <a:buSzPts val="1800"/>
              <a:buChar char="●"/>
            </a:pPr>
            <a:r>
              <a:rPr lang="en"/>
              <a:t>Swap the two boxes</a:t>
            </a:r>
            <a:endParaRPr/>
          </a:p>
          <a:p>
            <a:pPr indent="0" lvl="0" marL="0" rtl="0" algn="l">
              <a:spcBef>
                <a:spcPts val="600"/>
              </a:spcBef>
              <a:spcAft>
                <a:spcPts val="0"/>
              </a:spcAft>
              <a:buNone/>
            </a:pPr>
            <a:r>
              <a:rPr lang="en"/>
              <a:t>Sort the array. This reorders the boxes from lightest to heaviest.</a:t>
            </a:r>
            <a:endParaRPr/>
          </a:p>
          <a:p>
            <a:pPr indent="0" lvl="0" marL="0" rtl="0" algn="l">
              <a:spcBef>
                <a:spcPts val="600"/>
              </a:spcBef>
              <a:spcAft>
                <a:spcPts val="0"/>
              </a:spcAft>
              <a:buNone/>
            </a:pPr>
            <a:r>
              <a:rPr lang="en"/>
              <a:t>Read out the letters on the boxes from lightest to heaviest</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5" name="Shape 1225"/>
        <p:cNvGrpSpPr/>
        <p:nvPr/>
      </p:nvGrpSpPr>
      <p:grpSpPr>
        <a:xfrm>
          <a:off x="0" y="0"/>
          <a:ext cx="0" cy="0"/>
          <a:chOff x="0" y="0"/>
          <a:chExt cx="0" cy="0"/>
        </a:xfrm>
      </p:grpSpPr>
      <p:sp>
        <p:nvSpPr>
          <p:cNvPr id="1226" name="Google Shape;1226;p7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 Coins, Puppies, Cats, and Dogs</a:t>
            </a:r>
            <a:endParaRPr/>
          </a:p>
        </p:txBody>
      </p:sp>
      <p:sp>
        <p:nvSpPr>
          <p:cNvPr id="1227" name="Google Shape;1227;p77"/>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Why do we care about these coins and (no doubt adorable) critters?</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A solution to the sorting problem also provides a solution to puppy, cat, dog.</a:t>
            </a:r>
            <a:endParaRPr/>
          </a:p>
          <a:p>
            <a:pPr indent="-342900" lvl="0" marL="457200" rtl="0" algn="l">
              <a:spcBef>
                <a:spcPts val="600"/>
              </a:spcBef>
              <a:spcAft>
                <a:spcPts val="0"/>
              </a:spcAft>
              <a:buSzPts val="1800"/>
              <a:buChar char="●"/>
            </a:pPr>
            <a:r>
              <a:rPr lang="en"/>
              <a:t>In other words, puppy, cat, dog </a:t>
            </a:r>
            <a:r>
              <a:rPr b="1" lang="en"/>
              <a:t>reduces</a:t>
            </a:r>
            <a:r>
              <a:rPr lang="en"/>
              <a:t> to sorting.</a:t>
            </a:r>
            <a:endParaRPr/>
          </a:p>
          <a:p>
            <a:pPr indent="-342900" lvl="0" marL="457200" rtl="0" algn="l">
              <a:spcBef>
                <a:spcPts val="0"/>
              </a:spcBef>
              <a:spcAft>
                <a:spcPts val="0"/>
              </a:spcAft>
              <a:buSzPts val="1800"/>
              <a:buChar char="●"/>
            </a:pPr>
            <a:r>
              <a:rPr lang="en"/>
              <a:t>Thus, any lower bound on difficulty of puppy, cat, dog must ALSO apply to sorting.</a:t>
            </a:r>
            <a:endParaRPr/>
          </a:p>
        </p:txBody>
      </p:sp>
      <p:sp>
        <p:nvSpPr>
          <p:cNvPr id="1228" name="Google Shape;1228;p77"/>
          <p:cNvSpPr txBox="1"/>
          <p:nvPr/>
        </p:nvSpPr>
        <p:spPr>
          <a:xfrm>
            <a:off x="244146" y="2712375"/>
            <a:ext cx="8443800" cy="2188500"/>
          </a:xfrm>
          <a:prstGeom prst="rect">
            <a:avLst/>
          </a:prstGeom>
          <a:noFill/>
          <a:ln>
            <a:noFill/>
          </a:ln>
        </p:spPr>
        <p:txBody>
          <a:bodyPr anchorCtr="0" anchor="ctr" bIns="91425" lIns="91425" spcFirstLastPara="1" rIns="91425" wrap="square" tIns="91425">
            <a:noAutofit/>
          </a:bodyPr>
          <a:lstStyle/>
          <a:p>
            <a:pPr indent="0" lvl="0" marL="0" rtl="0" algn="l">
              <a:spcBef>
                <a:spcPts val="600"/>
              </a:spcBef>
              <a:spcAft>
                <a:spcPts val="0"/>
              </a:spcAft>
              <a:buNone/>
            </a:pPr>
            <a:r>
              <a:rPr lang="en" sz="1800">
                <a:solidFill>
                  <a:schemeClr val="dk1"/>
                </a:solidFill>
                <a:latin typeface="Roboto"/>
                <a:ea typeface="Roboto"/>
                <a:cs typeface="Roboto"/>
                <a:sym typeface="Roboto"/>
              </a:rPr>
              <a:t>Physics analogy: Climbing a hill with your legs (CAHWYL) is one way to solve the problem of getting up a hill (GUAH).</a:t>
            </a:r>
            <a:endParaRPr sz="1800">
              <a:solidFill>
                <a:schemeClr val="dk1"/>
              </a:solidFill>
              <a:latin typeface="Roboto"/>
              <a:ea typeface="Roboto"/>
              <a:cs typeface="Roboto"/>
              <a:sym typeface="Roboto"/>
            </a:endParaRPr>
          </a:p>
          <a:p>
            <a:pPr indent="-342900" lvl="0" marL="457200" rtl="0" algn="l">
              <a:spcBef>
                <a:spcPts val="600"/>
              </a:spcBef>
              <a:spcAft>
                <a:spcPts val="0"/>
              </a:spcAft>
              <a:buClr>
                <a:schemeClr val="dk1"/>
              </a:buClr>
              <a:buSzPts val="1800"/>
              <a:buFont typeface="Roboto"/>
              <a:buChar char="●"/>
            </a:pPr>
            <a:r>
              <a:rPr lang="en" sz="1800">
                <a:solidFill>
                  <a:schemeClr val="dk1"/>
                </a:solidFill>
                <a:latin typeface="Roboto"/>
                <a:ea typeface="Roboto"/>
                <a:cs typeface="Roboto"/>
                <a:sym typeface="Roboto"/>
              </a:rPr>
              <a:t>Any lower bound on energy to GUAH must also apply to CAHWYL.</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Example bound: Takes m*g*h energy to climb hill, so using legs to climb the hill takes at least m*g*h energy.</a:t>
            </a:r>
            <a:endParaRPr sz="1200">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8"/>
                                        </p:tgtEl>
                                        <p:attrNameLst>
                                          <p:attrName>style.visibility</p:attrName>
                                        </p:attrNameLst>
                                      </p:cBhvr>
                                      <p:to>
                                        <p:strVal val="visible"/>
                                      </p:to>
                                    </p:set>
                                    <p:animEffect filter="fade" transition="in">
                                      <p:cBhvr>
                                        <p:cTn dur="1000"/>
                                        <p:tgtEl>
                                          <p:spTgt spid="122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78"/>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1234" name="Google Shape;1234;p78"/>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Goal: How Hard is Sorting?</a:t>
            </a:r>
            <a:endParaRPr/>
          </a:p>
          <a:p>
            <a:pPr indent="0" lvl="0" marL="0" rtl="0" algn="l">
              <a:spcBef>
                <a:spcPts val="600"/>
              </a:spcBef>
              <a:spcAft>
                <a:spcPts val="0"/>
              </a:spcAft>
              <a:buClr>
                <a:schemeClr val="dk1"/>
              </a:buClr>
              <a:buSzPts val="1100"/>
              <a:buFont typeface="Arial"/>
              <a:buNone/>
            </a:pPr>
            <a:r>
              <a:rPr lang="en"/>
              <a:t>Math Problem Warmup</a:t>
            </a:r>
            <a:endParaRPr/>
          </a:p>
          <a:p>
            <a:pPr indent="0" lvl="0" marL="0" rtl="0" algn="l">
              <a:spcBef>
                <a:spcPts val="600"/>
              </a:spcBef>
              <a:spcAft>
                <a:spcPts val="0"/>
              </a:spcAft>
              <a:buClr>
                <a:schemeClr val="dk1"/>
              </a:buClr>
              <a:buSzPts val="1100"/>
              <a:buFont typeface="Arial"/>
              <a:buNone/>
            </a:pPr>
            <a:r>
              <a:rPr b="1" lang="en">
                <a:solidFill>
                  <a:schemeClr val="accent3"/>
                </a:solidFill>
                <a:latin typeface="Roboto"/>
                <a:ea typeface="Roboto"/>
                <a:cs typeface="Roboto"/>
                <a:sym typeface="Roboto"/>
              </a:rPr>
              <a:t>Theoretical Bounds on Sorting</a:t>
            </a:r>
            <a:endParaRPr b="1">
              <a:solidFill>
                <a:schemeClr val="accent3"/>
              </a:solidFill>
              <a:latin typeface="Roboto"/>
              <a:ea typeface="Roboto"/>
              <a:cs typeface="Roboto"/>
              <a:sym typeface="Roboto"/>
            </a:endParaRPr>
          </a:p>
          <a:p>
            <a:pPr indent="-342900" lvl="0" marL="457200" rtl="0" algn="l">
              <a:spcBef>
                <a:spcPts val="600"/>
              </a:spcBef>
              <a:spcAft>
                <a:spcPts val="0"/>
              </a:spcAft>
              <a:buSzPts val="1800"/>
              <a:buChar char="•"/>
            </a:pPr>
            <a:r>
              <a:rPr lang="en"/>
              <a:t>Simple Bounds for TUCS (the ultimate comparison sort)</a:t>
            </a:r>
            <a:endParaRPr/>
          </a:p>
          <a:p>
            <a:pPr indent="-342900" lvl="0" marL="457200" rtl="0" algn="l">
              <a:spcBef>
                <a:spcPts val="0"/>
              </a:spcBef>
              <a:spcAft>
                <a:spcPts val="0"/>
              </a:spcAft>
              <a:buSzPts val="1800"/>
              <a:buChar char="•"/>
            </a:pPr>
            <a:r>
              <a:rPr lang="en"/>
              <a:t>Coin Puzzles</a:t>
            </a:r>
            <a:endParaRPr/>
          </a:p>
          <a:p>
            <a:pPr indent="-342900" lvl="0" marL="457200" rtl="0" algn="l">
              <a:spcBef>
                <a:spcPts val="0"/>
              </a:spcBef>
              <a:spcAft>
                <a:spcPts val="0"/>
              </a:spcAft>
              <a:buSzPts val="1800"/>
              <a:buChar char="•"/>
            </a:pPr>
            <a:r>
              <a:rPr lang="en"/>
              <a:t>Puppy Cat Dog</a:t>
            </a:r>
            <a:endParaRPr/>
          </a:p>
          <a:p>
            <a:pPr indent="-342900" lvl="0" marL="457200" rtl="0" algn="l">
              <a:spcBef>
                <a:spcPts val="0"/>
              </a:spcBef>
              <a:spcAft>
                <a:spcPts val="0"/>
              </a:spcAft>
              <a:buClr>
                <a:schemeClr val="accent3"/>
              </a:buClr>
              <a:buSzPts val="1800"/>
              <a:buFont typeface="Roboto"/>
              <a:buChar char="•"/>
            </a:pPr>
            <a:r>
              <a:rPr b="1" lang="en">
                <a:solidFill>
                  <a:schemeClr val="accent3"/>
                </a:solidFill>
                <a:latin typeface="Roboto"/>
                <a:ea typeface="Roboto"/>
                <a:cs typeface="Roboto"/>
                <a:sym typeface="Roboto"/>
              </a:rPr>
              <a:t>The Sorting Lower Bound</a:t>
            </a:r>
            <a:endParaRPr b="1">
              <a:solidFill>
                <a:schemeClr val="accent3"/>
              </a:solidFill>
              <a:latin typeface="Roboto"/>
              <a:ea typeface="Roboto"/>
              <a:cs typeface="Roboto"/>
              <a:sym typeface="Roboto"/>
            </a:endParaRPr>
          </a:p>
          <a:p>
            <a:pPr indent="0" lvl="0" marL="0" rtl="0" algn="l">
              <a:spcBef>
                <a:spcPts val="600"/>
              </a:spcBef>
              <a:spcAft>
                <a:spcPts val="0"/>
              </a:spcAft>
              <a:buClr>
                <a:schemeClr val="dk1"/>
              </a:buClr>
              <a:buSzPts val="1100"/>
              <a:buFont typeface="Arial"/>
              <a:buNone/>
            </a:pPr>
            <a:r>
              <a:rPr lang="en"/>
              <a:t>Sounds of Sorting</a:t>
            </a:r>
            <a:endParaRPr/>
          </a:p>
        </p:txBody>
      </p:sp>
      <p:sp>
        <p:nvSpPr>
          <p:cNvPr id="1235" name="Google Shape;1235;p78"/>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The Sorting Lower Bound</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9" name="Shape 1239"/>
        <p:cNvGrpSpPr/>
        <p:nvPr/>
      </p:nvGrpSpPr>
      <p:grpSpPr>
        <a:xfrm>
          <a:off x="0" y="0"/>
          <a:ext cx="0" cy="0"/>
          <a:chOff x="0" y="0"/>
          <a:chExt cx="0" cy="0"/>
        </a:xfrm>
      </p:grpSpPr>
      <p:sp>
        <p:nvSpPr>
          <p:cNvPr id="1240" name="Google Shape;1240;p7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Sorting Lower Bound</a:t>
            </a:r>
            <a:endParaRPr/>
          </a:p>
        </p:txBody>
      </p:sp>
      <p:sp>
        <p:nvSpPr>
          <p:cNvPr id="1241" name="Google Shape;1241;p79"/>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We have a lower bound on puppy, cat, dog: namely that it takes Ω(log(N!)) comparisons to solve such a puzzle in the worst case.</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Since sorting with comparisons can be used to solve puppy, cat, dog, then sorting also takes Ω(log(N!)) comparisons in the worst case.</a:t>
            </a:r>
            <a:endParaRPr/>
          </a:p>
        </p:txBody>
      </p:sp>
      <p:sp>
        <p:nvSpPr>
          <p:cNvPr id="1242" name="Google Shape;1242;p79"/>
          <p:cNvSpPr txBox="1"/>
          <p:nvPr>
            <p:ph idx="1" type="body"/>
          </p:nvPr>
        </p:nvSpPr>
        <p:spPr>
          <a:xfrm>
            <a:off x="266350" y="2606350"/>
            <a:ext cx="7284000" cy="2213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Or in other words:</a:t>
            </a:r>
            <a:endParaRPr/>
          </a:p>
          <a:p>
            <a:pPr indent="-342900" lvl="0" marL="457200" rtl="0" algn="l">
              <a:spcBef>
                <a:spcPts val="600"/>
              </a:spcBef>
              <a:spcAft>
                <a:spcPts val="0"/>
              </a:spcAft>
              <a:buSzPts val="1800"/>
              <a:buChar char="●"/>
            </a:pPr>
            <a:r>
              <a:rPr lang="en"/>
              <a:t>Any sorting algorithm using comparisons, no matter how clever, must use at least k = lg(N!) compares to find the correct permutation. So even TUCS takes at least lg(N!) comparisons.</a:t>
            </a:r>
            <a:endParaRPr/>
          </a:p>
          <a:p>
            <a:pPr indent="-342900" lvl="0" marL="457200" rtl="0" algn="l">
              <a:spcBef>
                <a:spcPts val="0"/>
              </a:spcBef>
              <a:spcAft>
                <a:spcPts val="0"/>
              </a:spcAft>
              <a:buSzPts val="1800"/>
              <a:buChar char="●"/>
            </a:pPr>
            <a:r>
              <a:rPr lang="en"/>
              <a:t>lg(N!) is trivially Ω(log(N!)), so TUCS must take Ω(log(N!)) time.</a:t>
            </a:r>
            <a:endParaRPr/>
          </a:p>
          <a:p>
            <a:pPr indent="-342900" lvl="0" marL="457200" rtl="0" algn="l">
              <a:spcBef>
                <a:spcPts val="0"/>
              </a:spcBef>
              <a:spcAft>
                <a:spcPts val="0"/>
              </a:spcAft>
              <a:buSzPts val="1800"/>
              <a:buChar char="●"/>
            </a:pPr>
            <a:r>
              <a:rPr lang="en"/>
              <a:t>So, how does log(N!) compare to N log N?</a:t>
            </a:r>
            <a:endParaRPr/>
          </a:p>
        </p:txBody>
      </p:sp>
      <p:grpSp>
        <p:nvGrpSpPr>
          <p:cNvPr id="1243" name="Google Shape;1243;p79"/>
          <p:cNvGrpSpPr/>
          <p:nvPr/>
        </p:nvGrpSpPr>
        <p:grpSpPr>
          <a:xfrm>
            <a:off x="7702625" y="2674678"/>
            <a:ext cx="1387847" cy="1803497"/>
            <a:chOff x="7016825" y="1912678"/>
            <a:chExt cx="1387847" cy="1803497"/>
          </a:xfrm>
        </p:grpSpPr>
        <p:sp>
          <p:nvSpPr>
            <p:cNvPr id="1244" name="Google Shape;1244;p79"/>
            <p:cNvSpPr/>
            <p:nvPr/>
          </p:nvSpPr>
          <p:spPr>
            <a:xfrm>
              <a:off x="7016825" y="1962375"/>
              <a:ext cx="1372500" cy="1693800"/>
            </a:xfrm>
            <a:prstGeom prst="rect">
              <a:avLst/>
            </a:prstGeom>
            <a:solidFill>
              <a:srgbClr val="C9DAF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45" name="Google Shape;1245;p79"/>
            <p:cNvCxnSpPr/>
            <p:nvPr/>
          </p:nvCxnSpPr>
          <p:spPr>
            <a:xfrm>
              <a:off x="7400097" y="2399143"/>
              <a:ext cx="606000" cy="0"/>
            </a:xfrm>
            <a:prstGeom prst="straightConnector1">
              <a:avLst/>
            </a:prstGeom>
            <a:noFill/>
            <a:ln cap="flat" cmpd="sng" w="28575">
              <a:solidFill>
                <a:srgbClr val="BE0712"/>
              </a:solidFill>
              <a:prstDash val="solid"/>
              <a:round/>
              <a:headEnd len="med" w="med" type="none"/>
              <a:tailEnd len="med" w="med" type="none"/>
            </a:ln>
          </p:spPr>
        </p:cxnSp>
        <p:cxnSp>
          <p:nvCxnSpPr>
            <p:cNvPr id="1246" name="Google Shape;1246;p79"/>
            <p:cNvCxnSpPr/>
            <p:nvPr/>
          </p:nvCxnSpPr>
          <p:spPr>
            <a:xfrm>
              <a:off x="7721550" y="2407475"/>
              <a:ext cx="0" cy="865800"/>
            </a:xfrm>
            <a:prstGeom prst="straightConnector1">
              <a:avLst/>
            </a:prstGeom>
            <a:noFill/>
            <a:ln cap="flat" cmpd="sng" w="28575">
              <a:solidFill>
                <a:srgbClr val="BE0712"/>
              </a:solidFill>
              <a:prstDash val="solid"/>
              <a:round/>
              <a:headEnd len="med" w="med" type="none"/>
              <a:tailEnd len="med" w="med" type="none"/>
            </a:ln>
          </p:spPr>
        </p:cxnSp>
        <p:cxnSp>
          <p:nvCxnSpPr>
            <p:cNvPr id="1247" name="Google Shape;1247;p79"/>
            <p:cNvCxnSpPr/>
            <p:nvPr/>
          </p:nvCxnSpPr>
          <p:spPr>
            <a:xfrm>
              <a:off x="7406197" y="3264618"/>
              <a:ext cx="606000" cy="0"/>
            </a:xfrm>
            <a:prstGeom prst="straightConnector1">
              <a:avLst/>
            </a:prstGeom>
            <a:noFill/>
            <a:ln cap="flat" cmpd="sng" w="28575">
              <a:solidFill>
                <a:srgbClr val="BE0712"/>
              </a:solidFill>
              <a:prstDash val="solid"/>
              <a:round/>
              <a:headEnd len="med" w="med" type="none"/>
              <a:tailEnd len="med" w="med" type="none"/>
            </a:ln>
          </p:spPr>
        </p:cxnSp>
        <p:sp>
          <p:nvSpPr>
            <p:cNvPr id="1248" name="Google Shape;1248;p79"/>
            <p:cNvSpPr txBox="1"/>
            <p:nvPr/>
          </p:nvSpPr>
          <p:spPr>
            <a:xfrm>
              <a:off x="7113713" y="1912678"/>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O(N log N)</a:t>
              </a:r>
              <a:endParaRPr sz="1600">
                <a:solidFill>
                  <a:srgbClr val="BE0712"/>
                </a:solidFill>
                <a:latin typeface="Roboto"/>
                <a:ea typeface="Roboto"/>
                <a:cs typeface="Roboto"/>
                <a:sym typeface="Roboto"/>
              </a:endParaRPr>
            </a:p>
          </p:txBody>
        </p:sp>
        <p:sp>
          <p:nvSpPr>
            <p:cNvPr id="1249" name="Google Shape;1249;p79"/>
            <p:cNvSpPr txBox="1"/>
            <p:nvPr/>
          </p:nvSpPr>
          <p:spPr>
            <a:xfrm>
              <a:off x="7165072" y="3163575"/>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Ω(log(N!))</a:t>
              </a:r>
              <a:endParaRPr sz="1600">
                <a:solidFill>
                  <a:srgbClr val="BE0712"/>
                </a:solidFill>
                <a:latin typeface="Roboto"/>
                <a:ea typeface="Roboto"/>
                <a:cs typeface="Roboto"/>
                <a:sym typeface="Roboto"/>
              </a:endParaRPr>
            </a:p>
          </p:txBody>
        </p:sp>
      </p:grpSp>
      <p:sp>
        <p:nvSpPr>
          <p:cNvPr id="1250" name="Google Shape;1250;p79"/>
          <p:cNvSpPr txBox="1"/>
          <p:nvPr/>
        </p:nvSpPr>
        <p:spPr>
          <a:xfrm>
            <a:off x="7607600" y="4355100"/>
            <a:ext cx="1589100" cy="570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TUCS Worst</a:t>
            </a:r>
            <a:endParaRPr>
              <a:latin typeface="Roboto"/>
              <a:ea typeface="Roboto"/>
              <a:cs typeface="Roboto"/>
              <a:sym typeface="Roboto"/>
            </a:endParaRPr>
          </a:p>
          <a:p>
            <a:pPr indent="0" lvl="0" marL="0" rtl="0" algn="l">
              <a:spcBef>
                <a:spcPts val="0"/>
              </a:spcBef>
              <a:spcAft>
                <a:spcPts val="0"/>
              </a:spcAft>
              <a:buNone/>
            </a:pPr>
            <a:r>
              <a:rPr lang="en">
                <a:latin typeface="Roboto"/>
                <a:ea typeface="Roboto"/>
                <a:cs typeface="Roboto"/>
                <a:sym typeface="Roboto"/>
              </a:rPr>
              <a:t> Case Θ </a:t>
            </a:r>
            <a:r>
              <a:rPr lang="en">
                <a:solidFill>
                  <a:schemeClr val="dk1"/>
                </a:solidFill>
                <a:latin typeface="Roboto"/>
                <a:ea typeface="Roboto"/>
                <a:cs typeface="Roboto"/>
                <a:sym typeface="Roboto"/>
              </a:rPr>
              <a:t>Runtime</a:t>
            </a:r>
            <a:r>
              <a:rPr lang="en">
                <a:latin typeface="Roboto"/>
                <a:ea typeface="Roboto"/>
                <a:cs typeface="Roboto"/>
                <a:sym typeface="Roboto"/>
              </a:rPr>
              <a:t> </a:t>
            </a:r>
            <a:endParaRPr>
              <a:latin typeface="Roboto"/>
              <a:ea typeface="Roboto"/>
              <a:cs typeface="Roboto"/>
              <a:sym typeface="Roboto"/>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8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Another Math Problem</a:t>
            </a:r>
            <a:endParaRPr/>
          </a:p>
        </p:txBody>
      </p:sp>
      <p:sp>
        <p:nvSpPr>
          <p:cNvPr id="1256" name="Google Shape;1256;p80"/>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Earlier, we showed that log(N!) ∈ Ω(N log N) using the proof below.</a:t>
            </a:r>
            <a:endParaRPr/>
          </a:p>
          <a:p>
            <a:pPr indent="-342900" lvl="0" marL="457200" rtl="0" algn="l">
              <a:spcBef>
                <a:spcPts val="600"/>
              </a:spcBef>
              <a:spcAft>
                <a:spcPts val="0"/>
              </a:spcAft>
              <a:buSzPts val="1800"/>
              <a:buChar char="●"/>
            </a:pPr>
            <a:r>
              <a:rPr lang="en"/>
              <a:t>In other words, log(N!) grows at least as quickly as N log N.</a:t>
            </a:r>
            <a:endParaRPr/>
          </a:p>
        </p:txBody>
      </p:sp>
      <p:sp>
        <p:nvSpPr>
          <p:cNvPr id="1257" name="Google Shape;1257;p80"/>
          <p:cNvSpPr txBox="1"/>
          <p:nvPr/>
        </p:nvSpPr>
        <p:spPr>
          <a:xfrm>
            <a:off x="258275" y="2131975"/>
            <a:ext cx="8229600" cy="2939400"/>
          </a:xfrm>
          <a:prstGeom prst="rect">
            <a:avLst/>
          </a:prstGeom>
          <a:noFill/>
          <a:ln>
            <a:noFill/>
          </a:ln>
        </p:spPr>
        <p:txBody>
          <a:bodyPr anchorCtr="0" anchor="t" bIns="91425" lIns="91425" spcFirstLastPara="1" rIns="91425" wrap="square" tIns="91425">
            <a:noAutofit/>
          </a:bodyPr>
          <a:lstStyle/>
          <a:p>
            <a:pPr indent="0" lvl="0" marL="0" rtl="0" algn="l">
              <a:spcBef>
                <a:spcPts val="600"/>
              </a:spcBef>
              <a:spcAft>
                <a:spcPts val="0"/>
              </a:spcAft>
              <a:buNone/>
            </a:pPr>
            <a:r>
              <a:rPr lang="en" sz="1800">
                <a:solidFill>
                  <a:schemeClr val="dk1"/>
                </a:solidFill>
                <a:latin typeface="Roboto"/>
                <a:ea typeface="Roboto"/>
                <a:cs typeface="Roboto"/>
                <a:sym typeface="Roboto"/>
              </a:rPr>
              <a:t>Proof from earlier that log(N!) ∈ Ω(N log N):</a:t>
            </a:r>
            <a:endParaRPr sz="1800">
              <a:solidFill>
                <a:schemeClr val="dk1"/>
              </a:solidFill>
              <a:latin typeface="Roboto"/>
              <a:ea typeface="Roboto"/>
              <a:cs typeface="Roboto"/>
              <a:sym typeface="Roboto"/>
            </a:endParaRPr>
          </a:p>
          <a:p>
            <a:pPr indent="-342900" lvl="0" marL="457200" rtl="0" algn="l">
              <a:spcBef>
                <a:spcPts val="600"/>
              </a:spcBef>
              <a:spcAft>
                <a:spcPts val="0"/>
              </a:spcAft>
              <a:buClr>
                <a:schemeClr val="dk1"/>
              </a:buClr>
              <a:buSzPts val="1800"/>
              <a:buFont typeface="Roboto"/>
              <a:buChar char="●"/>
            </a:pPr>
            <a:r>
              <a:rPr lang="en" sz="1800">
                <a:solidFill>
                  <a:schemeClr val="dk1"/>
                </a:solidFill>
                <a:latin typeface="Roboto"/>
                <a:ea typeface="Roboto"/>
                <a:cs typeface="Roboto"/>
                <a:sym typeface="Roboto"/>
              </a:rPr>
              <a:t>We know that</a:t>
            </a:r>
            <a:r>
              <a:rPr lang="en" sz="1800">
                <a:solidFill>
                  <a:schemeClr val="dk1"/>
                </a:solidFill>
                <a:latin typeface="Roboto"/>
                <a:ea typeface="Roboto"/>
                <a:cs typeface="Roboto"/>
                <a:sym typeface="Roboto"/>
              </a:rPr>
              <a:t> </a:t>
            </a:r>
            <a:r>
              <a:rPr lang="en" sz="1800">
                <a:solidFill>
                  <a:schemeClr val="dk1"/>
                </a:solidFill>
                <a:latin typeface="Roboto"/>
                <a:ea typeface="Roboto"/>
                <a:cs typeface="Roboto"/>
                <a:sym typeface="Roboto"/>
              </a:rPr>
              <a:t>N! ≥ (N/2)</a:t>
            </a:r>
            <a:r>
              <a:rPr baseline="30000" lang="en" sz="1800">
                <a:solidFill>
                  <a:schemeClr val="dk1"/>
                </a:solidFill>
                <a:latin typeface="Roboto"/>
                <a:ea typeface="Roboto"/>
                <a:cs typeface="Roboto"/>
                <a:sym typeface="Roboto"/>
              </a:rPr>
              <a:t>N/2</a:t>
            </a:r>
            <a:r>
              <a:rPr lang="en" sz="1800">
                <a:solidFill>
                  <a:schemeClr val="dk1"/>
                </a:solidFill>
                <a:latin typeface="Roboto"/>
                <a:ea typeface="Roboto"/>
                <a:cs typeface="Roboto"/>
                <a:sym typeface="Roboto"/>
              </a:rPr>
              <a:t>.</a:t>
            </a:r>
            <a:endParaRPr baseline="30000"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Taking the log of both sides, we have that log(N!) ≥ log((N/2)</a:t>
            </a:r>
            <a:r>
              <a:rPr baseline="30000" lang="en" sz="1800">
                <a:solidFill>
                  <a:schemeClr val="dk1"/>
                </a:solidFill>
                <a:latin typeface="Roboto"/>
                <a:ea typeface="Roboto"/>
                <a:cs typeface="Roboto"/>
                <a:sym typeface="Roboto"/>
              </a:rPr>
              <a:t>N/2</a:t>
            </a:r>
            <a:r>
              <a:rPr lang="en" sz="1800">
                <a:solidFill>
                  <a:schemeClr val="dk1"/>
                </a:solidFill>
                <a:latin typeface="Roboto"/>
                <a:ea typeface="Roboto"/>
                <a:cs typeface="Roboto"/>
                <a:sym typeface="Roboto"/>
              </a:rPr>
              <a:t>).</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Bringing down the exponent we have that log(N!) ≥ N/2 log(N/2).</a:t>
            </a:r>
            <a:endParaRPr sz="1800">
              <a:solidFill>
                <a:schemeClr val="dk1"/>
              </a:solidFill>
              <a:latin typeface="Roboto"/>
              <a:ea typeface="Roboto"/>
              <a:cs typeface="Roboto"/>
              <a:sym typeface="Roboto"/>
            </a:endParaRPr>
          </a:p>
          <a:p>
            <a:pPr indent="-342900" lvl="0" marL="457200" rtl="0" algn="l">
              <a:spcBef>
                <a:spcPts val="0"/>
              </a:spcBef>
              <a:spcAft>
                <a:spcPts val="0"/>
              </a:spcAft>
              <a:buClr>
                <a:schemeClr val="dk1"/>
              </a:buClr>
              <a:buSzPts val="1800"/>
              <a:buFont typeface="Roboto"/>
              <a:buChar char="●"/>
            </a:pPr>
            <a:r>
              <a:rPr lang="en" sz="1800">
                <a:solidFill>
                  <a:schemeClr val="dk1"/>
                </a:solidFill>
                <a:latin typeface="Roboto"/>
                <a:ea typeface="Roboto"/>
                <a:cs typeface="Roboto"/>
                <a:sym typeface="Roboto"/>
              </a:rPr>
              <a:t>Discarding unnecessary constants, we have log(N!) ∈ Ω(N log N)</a:t>
            </a:r>
            <a:endParaRPr sz="1800">
              <a:solidFill>
                <a:schemeClr val="dk1"/>
              </a:solidFill>
              <a:latin typeface="Roboto"/>
              <a:ea typeface="Roboto"/>
              <a:cs typeface="Roboto"/>
              <a:sym typeface="Roboto"/>
            </a:endParaRPr>
          </a:p>
        </p:txBody>
      </p:sp>
      <p:sp>
        <p:nvSpPr>
          <p:cNvPr id="1258" name="Google Shape;1258;p80"/>
          <p:cNvSpPr txBox="1"/>
          <p:nvPr/>
        </p:nvSpPr>
        <p:spPr>
          <a:xfrm>
            <a:off x="6885400" y="4019684"/>
            <a:ext cx="1989600" cy="812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BE0712"/>
                </a:solidFill>
              </a:rPr>
              <a:t>Recall that changing base is just multiplying by a constant.</a:t>
            </a:r>
            <a:endParaRPr>
              <a:solidFill>
                <a:srgbClr val="BE0712"/>
              </a:solidFill>
            </a:endParaRPr>
          </a:p>
        </p:txBody>
      </p:sp>
      <p:cxnSp>
        <p:nvCxnSpPr>
          <p:cNvPr id="1259" name="Google Shape;1259;p80"/>
          <p:cNvCxnSpPr>
            <a:stCxn id="1258" idx="1"/>
          </p:cNvCxnSpPr>
          <p:nvPr/>
        </p:nvCxnSpPr>
        <p:spPr>
          <a:xfrm rot="10800000">
            <a:off x="6183400" y="3967034"/>
            <a:ext cx="702000" cy="459000"/>
          </a:xfrm>
          <a:prstGeom prst="straightConnector1">
            <a:avLst/>
          </a:prstGeom>
          <a:noFill/>
          <a:ln cap="flat" cmpd="sng" w="9525">
            <a:solidFill>
              <a:srgbClr val="BE0712"/>
            </a:solidFill>
            <a:prstDash val="solid"/>
            <a:round/>
            <a:headEnd len="med" w="med" type="none"/>
            <a:tailEnd len="med" w="med" type="triangle"/>
          </a:ln>
        </p:spPr>
      </p:cxn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3" name="Shape 1263"/>
        <p:cNvGrpSpPr/>
        <p:nvPr/>
      </p:nvGrpSpPr>
      <p:grpSpPr>
        <a:xfrm>
          <a:off x="0" y="0"/>
          <a:ext cx="0" cy="0"/>
          <a:chOff x="0" y="0"/>
          <a:chExt cx="0" cy="0"/>
        </a:xfrm>
      </p:grpSpPr>
      <p:sp>
        <p:nvSpPr>
          <p:cNvPr id="1264" name="Google Shape;1264;p8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Sorting Lower Bound (Finally)</a:t>
            </a:r>
            <a:endParaRPr/>
          </a:p>
        </p:txBody>
      </p:sp>
      <p:sp>
        <p:nvSpPr>
          <p:cNvPr id="1265" name="Google Shape;1265;p81"/>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Since TUCS is Ω(lg N!) and lg N! is Ω(N log N), we have that </a:t>
            </a:r>
            <a:r>
              <a:rPr b="1" lang="en"/>
              <a:t>TUCS is Ω(N log N).</a:t>
            </a:r>
            <a:endParaRPr b="1"/>
          </a:p>
          <a:p>
            <a:pPr indent="0" lvl="0" marL="0" rtl="0" algn="l">
              <a:spcBef>
                <a:spcPts val="600"/>
              </a:spcBef>
              <a:spcAft>
                <a:spcPts val="0"/>
              </a:spcAft>
              <a:buNone/>
            </a:pPr>
            <a:r>
              <a:t/>
            </a:r>
            <a:endParaRPr/>
          </a:p>
          <a:p>
            <a:pPr indent="0" lvl="0" marL="0" rtl="0" algn="l">
              <a:spcBef>
                <a:spcPts val="600"/>
              </a:spcBef>
              <a:spcAft>
                <a:spcPts val="0"/>
              </a:spcAft>
              <a:buNone/>
            </a:pPr>
            <a:r>
              <a:rPr b="1" lang="en"/>
              <a:t>Any comparison based sort requires at least order N log N comparisons in its worst case.</a:t>
            </a:r>
            <a:endParaRPr/>
          </a:p>
          <a:p>
            <a:pPr indent="0" lvl="0" marL="0" rtl="0" algn="l">
              <a:spcBef>
                <a:spcPts val="600"/>
              </a:spcBef>
              <a:spcAft>
                <a:spcPts val="0"/>
              </a:spcAft>
              <a:buNone/>
            </a:pPr>
            <a:r>
              <a:t/>
            </a:r>
            <a:endParaRPr/>
          </a:p>
          <a:p>
            <a:pPr indent="0" lvl="0" marL="0" rtl="0" algn="l">
              <a:spcBef>
                <a:spcPts val="600"/>
              </a:spcBef>
              <a:spcAft>
                <a:spcPts val="0"/>
              </a:spcAft>
              <a:buNone/>
            </a:pPr>
            <a:r>
              <a:t/>
            </a:r>
            <a:endParaRPr/>
          </a:p>
          <a:p>
            <a:pPr indent="0" lvl="0" marL="0" rtl="0" algn="l">
              <a:spcBef>
                <a:spcPts val="600"/>
              </a:spcBef>
              <a:spcAft>
                <a:spcPts val="0"/>
              </a:spcAft>
              <a:buNone/>
            </a:pPr>
            <a:r>
              <a:t/>
            </a:r>
            <a:endParaRPr/>
          </a:p>
          <a:p>
            <a:pPr indent="0" lvl="0" marL="0" rtl="0" algn="l">
              <a:spcBef>
                <a:spcPts val="600"/>
              </a:spcBef>
              <a:spcAft>
                <a:spcPts val="0"/>
              </a:spcAft>
              <a:buNone/>
            </a:pPr>
            <a:r>
              <a:t/>
            </a:r>
            <a:endParaRPr/>
          </a:p>
        </p:txBody>
      </p:sp>
      <p:grpSp>
        <p:nvGrpSpPr>
          <p:cNvPr id="1266" name="Google Shape;1266;p81"/>
          <p:cNvGrpSpPr/>
          <p:nvPr/>
        </p:nvGrpSpPr>
        <p:grpSpPr>
          <a:xfrm>
            <a:off x="7702625" y="2674678"/>
            <a:ext cx="1387847" cy="1803497"/>
            <a:chOff x="7016825" y="1912678"/>
            <a:chExt cx="1387847" cy="1803497"/>
          </a:xfrm>
        </p:grpSpPr>
        <p:sp>
          <p:nvSpPr>
            <p:cNvPr id="1267" name="Google Shape;1267;p81"/>
            <p:cNvSpPr/>
            <p:nvPr/>
          </p:nvSpPr>
          <p:spPr>
            <a:xfrm>
              <a:off x="7016825" y="1962375"/>
              <a:ext cx="1372500" cy="1693800"/>
            </a:xfrm>
            <a:prstGeom prst="rect">
              <a:avLst/>
            </a:prstGeom>
            <a:solidFill>
              <a:srgbClr val="C9DAF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68" name="Google Shape;1268;p81"/>
            <p:cNvCxnSpPr/>
            <p:nvPr/>
          </p:nvCxnSpPr>
          <p:spPr>
            <a:xfrm>
              <a:off x="7400097" y="2399143"/>
              <a:ext cx="606000" cy="0"/>
            </a:xfrm>
            <a:prstGeom prst="straightConnector1">
              <a:avLst/>
            </a:prstGeom>
            <a:noFill/>
            <a:ln cap="flat" cmpd="sng" w="28575">
              <a:solidFill>
                <a:srgbClr val="BE0712"/>
              </a:solidFill>
              <a:prstDash val="solid"/>
              <a:round/>
              <a:headEnd len="med" w="med" type="none"/>
              <a:tailEnd len="med" w="med" type="none"/>
            </a:ln>
          </p:spPr>
        </p:cxnSp>
        <p:cxnSp>
          <p:nvCxnSpPr>
            <p:cNvPr id="1269" name="Google Shape;1269;p81"/>
            <p:cNvCxnSpPr/>
            <p:nvPr/>
          </p:nvCxnSpPr>
          <p:spPr>
            <a:xfrm>
              <a:off x="7721550" y="2407475"/>
              <a:ext cx="0" cy="865800"/>
            </a:xfrm>
            <a:prstGeom prst="straightConnector1">
              <a:avLst/>
            </a:prstGeom>
            <a:noFill/>
            <a:ln cap="flat" cmpd="sng" w="28575">
              <a:solidFill>
                <a:srgbClr val="BE0712"/>
              </a:solidFill>
              <a:prstDash val="solid"/>
              <a:round/>
              <a:headEnd len="med" w="med" type="none"/>
              <a:tailEnd len="med" w="med" type="none"/>
            </a:ln>
          </p:spPr>
        </p:cxnSp>
        <p:cxnSp>
          <p:nvCxnSpPr>
            <p:cNvPr id="1270" name="Google Shape;1270;p81"/>
            <p:cNvCxnSpPr/>
            <p:nvPr/>
          </p:nvCxnSpPr>
          <p:spPr>
            <a:xfrm>
              <a:off x="7406197" y="3264618"/>
              <a:ext cx="606000" cy="0"/>
            </a:xfrm>
            <a:prstGeom prst="straightConnector1">
              <a:avLst/>
            </a:prstGeom>
            <a:noFill/>
            <a:ln cap="flat" cmpd="sng" w="28575">
              <a:solidFill>
                <a:srgbClr val="BE0712"/>
              </a:solidFill>
              <a:prstDash val="solid"/>
              <a:round/>
              <a:headEnd len="med" w="med" type="none"/>
              <a:tailEnd len="med" w="med" type="none"/>
            </a:ln>
          </p:spPr>
        </p:cxnSp>
        <p:sp>
          <p:nvSpPr>
            <p:cNvPr id="1271" name="Google Shape;1271;p81"/>
            <p:cNvSpPr txBox="1"/>
            <p:nvPr/>
          </p:nvSpPr>
          <p:spPr>
            <a:xfrm>
              <a:off x="7113713" y="1912678"/>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O(N log N)</a:t>
              </a:r>
              <a:endParaRPr sz="1600">
                <a:solidFill>
                  <a:srgbClr val="BE0712"/>
                </a:solidFill>
                <a:latin typeface="Roboto"/>
                <a:ea typeface="Roboto"/>
                <a:cs typeface="Roboto"/>
                <a:sym typeface="Roboto"/>
              </a:endParaRPr>
            </a:p>
          </p:txBody>
        </p:sp>
        <p:sp>
          <p:nvSpPr>
            <p:cNvPr id="1272" name="Google Shape;1272;p81"/>
            <p:cNvSpPr txBox="1"/>
            <p:nvPr/>
          </p:nvSpPr>
          <p:spPr>
            <a:xfrm>
              <a:off x="7165072" y="3163575"/>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Ω(N log N)</a:t>
              </a:r>
              <a:endParaRPr sz="1600">
                <a:solidFill>
                  <a:srgbClr val="BE0712"/>
                </a:solidFill>
                <a:latin typeface="Roboto"/>
                <a:ea typeface="Roboto"/>
                <a:cs typeface="Roboto"/>
                <a:sym typeface="Roboto"/>
              </a:endParaRPr>
            </a:p>
          </p:txBody>
        </p:sp>
      </p:grpSp>
      <p:sp>
        <p:nvSpPr>
          <p:cNvPr id="1273" name="Google Shape;1273;p81"/>
          <p:cNvSpPr txBox="1"/>
          <p:nvPr/>
        </p:nvSpPr>
        <p:spPr>
          <a:xfrm>
            <a:off x="7607600" y="4355100"/>
            <a:ext cx="1589100" cy="570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TUCS Worst</a:t>
            </a:r>
            <a:endParaRPr>
              <a:latin typeface="Roboto"/>
              <a:ea typeface="Roboto"/>
              <a:cs typeface="Roboto"/>
              <a:sym typeface="Roboto"/>
            </a:endParaRPr>
          </a:p>
          <a:p>
            <a:pPr indent="0" lvl="0" marL="0" rtl="0" algn="l">
              <a:spcBef>
                <a:spcPts val="0"/>
              </a:spcBef>
              <a:spcAft>
                <a:spcPts val="0"/>
              </a:spcAft>
              <a:buNone/>
            </a:pPr>
            <a:r>
              <a:rPr lang="en">
                <a:latin typeface="Roboto"/>
                <a:ea typeface="Roboto"/>
                <a:cs typeface="Roboto"/>
                <a:sym typeface="Roboto"/>
              </a:rPr>
              <a:t> Case Θ </a:t>
            </a:r>
            <a:r>
              <a:rPr lang="en">
                <a:solidFill>
                  <a:schemeClr val="dk1"/>
                </a:solidFill>
                <a:latin typeface="Roboto"/>
                <a:ea typeface="Roboto"/>
                <a:cs typeface="Roboto"/>
                <a:sym typeface="Roboto"/>
              </a:rPr>
              <a:t>Runtime</a:t>
            </a:r>
            <a:r>
              <a:rPr lang="en">
                <a:latin typeface="Roboto"/>
                <a:ea typeface="Roboto"/>
                <a:cs typeface="Roboto"/>
                <a:sym typeface="Roboto"/>
              </a:rPr>
              <a:t> </a:t>
            </a:r>
            <a:endParaRPr>
              <a:latin typeface="Roboto"/>
              <a:ea typeface="Roboto"/>
              <a:cs typeface="Roboto"/>
              <a:sym typeface="Roboto"/>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7" name="Shape 1277"/>
        <p:cNvGrpSpPr/>
        <p:nvPr/>
      </p:nvGrpSpPr>
      <p:grpSpPr>
        <a:xfrm>
          <a:off x="0" y="0"/>
          <a:ext cx="0" cy="0"/>
          <a:chOff x="0" y="0"/>
          <a:chExt cx="0" cy="0"/>
        </a:xfrm>
      </p:grpSpPr>
      <p:sp>
        <p:nvSpPr>
          <p:cNvPr id="1278" name="Google Shape;1278;p8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Sorting Lower Bound (Finally)</a:t>
            </a:r>
            <a:endParaRPr/>
          </a:p>
        </p:txBody>
      </p:sp>
      <p:sp>
        <p:nvSpPr>
          <p:cNvPr id="1279" name="Google Shape;1279;p8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Since TUCS is Ω(lg N!) and lg N! is Ω(N log N), we have that </a:t>
            </a:r>
            <a:r>
              <a:rPr b="1" lang="en"/>
              <a:t>TUCS is Ω(N log N).</a:t>
            </a:r>
            <a:endParaRPr b="1"/>
          </a:p>
          <a:p>
            <a:pPr indent="0" lvl="0" marL="0" rtl="0" algn="l">
              <a:spcBef>
                <a:spcPts val="600"/>
              </a:spcBef>
              <a:spcAft>
                <a:spcPts val="0"/>
              </a:spcAft>
              <a:buNone/>
            </a:pPr>
            <a:r>
              <a:t/>
            </a:r>
            <a:endParaRPr/>
          </a:p>
          <a:p>
            <a:pPr indent="0" lvl="0" marL="0" rtl="0" algn="l">
              <a:spcBef>
                <a:spcPts val="600"/>
              </a:spcBef>
              <a:spcAft>
                <a:spcPts val="0"/>
              </a:spcAft>
              <a:buNone/>
            </a:pPr>
            <a:r>
              <a:rPr b="1" lang="en"/>
              <a:t>Any comparison based sort requires at least order N log N comparisons in its worst case.</a:t>
            </a:r>
            <a:endParaRPr b="1"/>
          </a:p>
          <a:p>
            <a:pPr indent="0" lvl="0" marL="0" rtl="0" algn="l">
              <a:spcBef>
                <a:spcPts val="600"/>
              </a:spcBef>
              <a:spcAft>
                <a:spcPts val="0"/>
              </a:spcAft>
              <a:buNone/>
            </a:pPr>
            <a:r>
              <a:t/>
            </a:r>
            <a:endParaRPr/>
          </a:p>
          <a:p>
            <a:pPr indent="0" lvl="0" marL="0" rtl="0" algn="l">
              <a:spcBef>
                <a:spcPts val="600"/>
              </a:spcBef>
              <a:spcAft>
                <a:spcPts val="0"/>
              </a:spcAft>
              <a:buNone/>
            </a:pPr>
            <a:r>
              <a:rPr lang="en"/>
              <a:t>Proof summary:</a:t>
            </a:r>
            <a:endParaRPr/>
          </a:p>
          <a:p>
            <a:pPr indent="-342900" lvl="0" marL="457200" rtl="0" algn="l">
              <a:spcBef>
                <a:spcPts val="600"/>
              </a:spcBef>
              <a:spcAft>
                <a:spcPts val="0"/>
              </a:spcAft>
              <a:buSzPts val="1800"/>
              <a:buChar char="●"/>
            </a:pPr>
            <a:r>
              <a:rPr lang="en"/>
              <a:t>Puppy, cat, dog is Ω(lg N!), i.e. requires lg N! comparisons.</a:t>
            </a:r>
            <a:endParaRPr/>
          </a:p>
          <a:p>
            <a:pPr indent="-342900" lvl="0" marL="457200" rtl="0" algn="l">
              <a:spcBef>
                <a:spcPts val="0"/>
              </a:spcBef>
              <a:spcAft>
                <a:spcPts val="0"/>
              </a:spcAft>
              <a:buSzPts val="1800"/>
              <a:buChar char="●"/>
            </a:pPr>
            <a:r>
              <a:rPr lang="en"/>
              <a:t>TUCS can solve puppy, cat, dog, and thus takes Ω(lg N!) compares.</a:t>
            </a:r>
            <a:endParaRPr/>
          </a:p>
          <a:p>
            <a:pPr indent="-342900" lvl="0" marL="457200" rtl="0" algn="l">
              <a:spcBef>
                <a:spcPts val="600"/>
              </a:spcBef>
              <a:spcAft>
                <a:spcPts val="0"/>
              </a:spcAft>
              <a:buSzPts val="1800"/>
              <a:buChar char="●"/>
            </a:pPr>
            <a:r>
              <a:rPr lang="en"/>
              <a:t>lg(N!) is Ω(N log N)</a:t>
            </a:r>
            <a:endParaRPr/>
          </a:p>
          <a:p>
            <a:pPr indent="-342900" lvl="1" marL="914400" rtl="0" algn="l">
              <a:spcBef>
                <a:spcPts val="0"/>
              </a:spcBef>
              <a:spcAft>
                <a:spcPts val="0"/>
              </a:spcAft>
              <a:buSzPts val="1800"/>
              <a:buChar char="○"/>
            </a:pPr>
            <a:r>
              <a:rPr lang="en"/>
              <a:t>This was because N! is Ω(N/2)</a:t>
            </a:r>
            <a:r>
              <a:rPr baseline="30000" lang="en"/>
              <a:t>N/2  </a:t>
            </a:r>
            <a:r>
              <a:rPr lang="en"/>
              <a:t> </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Informally: TUCS ≥ puppy, cat, dog ≥ log N! ≥ N log N </a:t>
            </a:r>
            <a:endParaRPr/>
          </a:p>
        </p:txBody>
      </p:sp>
      <p:grpSp>
        <p:nvGrpSpPr>
          <p:cNvPr id="1280" name="Google Shape;1280;p82"/>
          <p:cNvGrpSpPr/>
          <p:nvPr/>
        </p:nvGrpSpPr>
        <p:grpSpPr>
          <a:xfrm>
            <a:off x="7702625" y="2674678"/>
            <a:ext cx="1387847" cy="1803497"/>
            <a:chOff x="7016825" y="1912678"/>
            <a:chExt cx="1387847" cy="1803497"/>
          </a:xfrm>
        </p:grpSpPr>
        <p:sp>
          <p:nvSpPr>
            <p:cNvPr id="1281" name="Google Shape;1281;p82"/>
            <p:cNvSpPr/>
            <p:nvPr/>
          </p:nvSpPr>
          <p:spPr>
            <a:xfrm>
              <a:off x="7016825" y="1962375"/>
              <a:ext cx="1372500" cy="1693800"/>
            </a:xfrm>
            <a:prstGeom prst="rect">
              <a:avLst/>
            </a:prstGeom>
            <a:solidFill>
              <a:srgbClr val="C9DAF8"/>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82" name="Google Shape;1282;p82"/>
            <p:cNvCxnSpPr/>
            <p:nvPr/>
          </p:nvCxnSpPr>
          <p:spPr>
            <a:xfrm>
              <a:off x="7400097" y="2399143"/>
              <a:ext cx="606000" cy="0"/>
            </a:xfrm>
            <a:prstGeom prst="straightConnector1">
              <a:avLst/>
            </a:prstGeom>
            <a:noFill/>
            <a:ln cap="flat" cmpd="sng" w="28575">
              <a:solidFill>
                <a:srgbClr val="BE0712"/>
              </a:solidFill>
              <a:prstDash val="solid"/>
              <a:round/>
              <a:headEnd len="med" w="med" type="none"/>
              <a:tailEnd len="med" w="med" type="none"/>
            </a:ln>
          </p:spPr>
        </p:cxnSp>
        <p:cxnSp>
          <p:nvCxnSpPr>
            <p:cNvPr id="1283" name="Google Shape;1283;p82"/>
            <p:cNvCxnSpPr/>
            <p:nvPr/>
          </p:nvCxnSpPr>
          <p:spPr>
            <a:xfrm>
              <a:off x="7721550" y="2407475"/>
              <a:ext cx="0" cy="865800"/>
            </a:xfrm>
            <a:prstGeom prst="straightConnector1">
              <a:avLst/>
            </a:prstGeom>
            <a:noFill/>
            <a:ln cap="flat" cmpd="sng" w="28575">
              <a:solidFill>
                <a:srgbClr val="BE0712"/>
              </a:solidFill>
              <a:prstDash val="solid"/>
              <a:round/>
              <a:headEnd len="med" w="med" type="none"/>
              <a:tailEnd len="med" w="med" type="none"/>
            </a:ln>
          </p:spPr>
        </p:cxnSp>
        <p:cxnSp>
          <p:nvCxnSpPr>
            <p:cNvPr id="1284" name="Google Shape;1284;p82"/>
            <p:cNvCxnSpPr/>
            <p:nvPr/>
          </p:nvCxnSpPr>
          <p:spPr>
            <a:xfrm>
              <a:off x="7406197" y="3264618"/>
              <a:ext cx="606000" cy="0"/>
            </a:xfrm>
            <a:prstGeom prst="straightConnector1">
              <a:avLst/>
            </a:prstGeom>
            <a:noFill/>
            <a:ln cap="flat" cmpd="sng" w="28575">
              <a:solidFill>
                <a:srgbClr val="BE0712"/>
              </a:solidFill>
              <a:prstDash val="solid"/>
              <a:round/>
              <a:headEnd len="med" w="med" type="none"/>
              <a:tailEnd len="med" w="med" type="none"/>
            </a:ln>
          </p:spPr>
        </p:cxnSp>
        <p:sp>
          <p:nvSpPr>
            <p:cNvPr id="1285" name="Google Shape;1285;p82"/>
            <p:cNvSpPr txBox="1"/>
            <p:nvPr/>
          </p:nvSpPr>
          <p:spPr>
            <a:xfrm>
              <a:off x="7113713" y="1912678"/>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O(N log N)</a:t>
              </a:r>
              <a:endParaRPr sz="1600">
                <a:solidFill>
                  <a:srgbClr val="BE0712"/>
                </a:solidFill>
                <a:latin typeface="Roboto"/>
                <a:ea typeface="Roboto"/>
                <a:cs typeface="Roboto"/>
                <a:sym typeface="Roboto"/>
              </a:endParaRPr>
            </a:p>
          </p:txBody>
        </p:sp>
        <p:sp>
          <p:nvSpPr>
            <p:cNvPr id="1286" name="Google Shape;1286;p82"/>
            <p:cNvSpPr txBox="1"/>
            <p:nvPr/>
          </p:nvSpPr>
          <p:spPr>
            <a:xfrm>
              <a:off x="7165072" y="3163575"/>
              <a:ext cx="1239600" cy="552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BE0712"/>
                  </a:solidFill>
                  <a:latin typeface="Roboto"/>
                  <a:ea typeface="Roboto"/>
                  <a:cs typeface="Roboto"/>
                  <a:sym typeface="Roboto"/>
                </a:rPr>
                <a:t>Ω(N log N)</a:t>
              </a:r>
              <a:endParaRPr sz="1600">
                <a:solidFill>
                  <a:srgbClr val="BE0712"/>
                </a:solidFill>
                <a:latin typeface="Roboto"/>
                <a:ea typeface="Roboto"/>
                <a:cs typeface="Roboto"/>
                <a:sym typeface="Roboto"/>
              </a:endParaRPr>
            </a:p>
          </p:txBody>
        </p:sp>
      </p:grpSp>
      <p:sp>
        <p:nvSpPr>
          <p:cNvPr id="1287" name="Google Shape;1287;p82"/>
          <p:cNvSpPr txBox="1"/>
          <p:nvPr/>
        </p:nvSpPr>
        <p:spPr>
          <a:xfrm>
            <a:off x="7607600" y="4355100"/>
            <a:ext cx="1589100" cy="570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Roboto"/>
                <a:ea typeface="Roboto"/>
                <a:cs typeface="Roboto"/>
                <a:sym typeface="Roboto"/>
              </a:rPr>
              <a:t>TUCS Worst</a:t>
            </a:r>
            <a:endParaRPr>
              <a:latin typeface="Roboto"/>
              <a:ea typeface="Roboto"/>
              <a:cs typeface="Roboto"/>
              <a:sym typeface="Roboto"/>
            </a:endParaRPr>
          </a:p>
          <a:p>
            <a:pPr indent="0" lvl="0" marL="0" rtl="0" algn="l">
              <a:spcBef>
                <a:spcPts val="0"/>
              </a:spcBef>
              <a:spcAft>
                <a:spcPts val="0"/>
              </a:spcAft>
              <a:buNone/>
            </a:pPr>
            <a:r>
              <a:rPr lang="en">
                <a:latin typeface="Roboto"/>
                <a:ea typeface="Roboto"/>
                <a:cs typeface="Roboto"/>
                <a:sym typeface="Roboto"/>
              </a:rPr>
              <a:t> Case Θ </a:t>
            </a:r>
            <a:r>
              <a:rPr lang="en">
                <a:solidFill>
                  <a:schemeClr val="dk1"/>
                </a:solidFill>
                <a:latin typeface="Roboto"/>
                <a:ea typeface="Roboto"/>
                <a:cs typeface="Roboto"/>
                <a:sym typeface="Roboto"/>
              </a:rPr>
              <a:t>Runtime</a:t>
            </a:r>
            <a:r>
              <a:rPr lang="en">
                <a:latin typeface="Roboto"/>
                <a:ea typeface="Roboto"/>
                <a:cs typeface="Roboto"/>
                <a:sym typeface="Roboto"/>
              </a:rPr>
              <a:t> </a:t>
            </a:r>
            <a:endParaRPr>
              <a:latin typeface="Roboto"/>
              <a:ea typeface="Roboto"/>
              <a:cs typeface="Roboto"/>
              <a:sym typeface="Roboto"/>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1" name="Shape 1291"/>
        <p:cNvGrpSpPr/>
        <p:nvPr/>
      </p:nvGrpSpPr>
      <p:grpSpPr>
        <a:xfrm>
          <a:off x="0" y="0"/>
          <a:ext cx="0" cy="0"/>
          <a:chOff x="0" y="0"/>
          <a:chExt cx="0" cy="0"/>
        </a:xfrm>
      </p:grpSpPr>
      <p:sp>
        <p:nvSpPr>
          <p:cNvPr id="1292" name="Google Shape;1292;p8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Optimality</a:t>
            </a:r>
            <a:endParaRPr/>
          </a:p>
        </p:txBody>
      </p:sp>
      <p:sp>
        <p:nvSpPr>
          <p:cNvPr id="1293" name="Google Shape;1293;p83"/>
          <p:cNvSpPr txBox="1"/>
          <p:nvPr/>
        </p:nvSpPr>
        <p:spPr>
          <a:xfrm>
            <a:off x="236475" y="2924500"/>
            <a:ext cx="8421300" cy="1681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000">
                <a:latin typeface="Calibri"/>
                <a:ea typeface="Calibri"/>
                <a:cs typeface="Calibri"/>
                <a:sym typeface="Calibri"/>
              </a:rPr>
              <a:t>The punchline:</a:t>
            </a:r>
            <a:endParaRPr sz="2000">
              <a:latin typeface="Calibri"/>
              <a:ea typeface="Calibri"/>
              <a:cs typeface="Calibri"/>
              <a:sym typeface="Calibri"/>
            </a:endParaRPr>
          </a:p>
          <a:p>
            <a:pPr indent="-355600" lvl="0" marL="457200" rtl="0" algn="l">
              <a:spcBef>
                <a:spcPts val="0"/>
              </a:spcBef>
              <a:spcAft>
                <a:spcPts val="0"/>
              </a:spcAft>
              <a:buSzPts val="2000"/>
              <a:buFont typeface="Calibri"/>
              <a:buChar char="●"/>
            </a:pPr>
            <a:r>
              <a:rPr lang="en" sz="2000">
                <a:latin typeface="Calibri"/>
                <a:ea typeface="Calibri"/>
                <a:cs typeface="Calibri"/>
                <a:sym typeface="Calibri"/>
              </a:rPr>
              <a:t>Our best sorts have achieved absolute asymptotic optimality.</a:t>
            </a:r>
            <a:endParaRPr sz="2000">
              <a:latin typeface="Calibri"/>
              <a:ea typeface="Calibri"/>
              <a:cs typeface="Calibri"/>
              <a:sym typeface="Calibri"/>
            </a:endParaRPr>
          </a:p>
          <a:p>
            <a:pPr indent="-355600" lvl="1" marL="914400" rtl="0" algn="l">
              <a:spcBef>
                <a:spcPts val="0"/>
              </a:spcBef>
              <a:spcAft>
                <a:spcPts val="0"/>
              </a:spcAft>
              <a:buSzPts val="2000"/>
              <a:buFont typeface="Calibri"/>
              <a:buChar char="○"/>
            </a:pPr>
            <a:r>
              <a:rPr lang="en" sz="2000">
                <a:latin typeface="Calibri"/>
                <a:ea typeface="Calibri"/>
                <a:cs typeface="Calibri"/>
                <a:sym typeface="Calibri"/>
              </a:rPr>
              <a:t>Mathematically impossible to sort using fewer comparisons.</a:t>
            </a:r>
            <a:endParaRPr sz="2000">
              <a:latin typeface="Calibri"/>
              <a:ea typeface="Calibri"/>
              <a:cs typeface="Calibri"/>
              <a:sym typeface="Calibri"/>
            </a:endParaRPr>
          </a:p>
          <a:p>
            <a:pPr indent="-355600" lvl="1" marL="914400" rtl="0" algn="l">
              <a:spcBef>
                <a:spcPts val="0"/>
              </a:spcBef>
              <a:spcAft>
                <a:spcPts val="0"/>
              </a:spcAft>
              <a:buSzPts val="2000"/>
              <a:buFont typeface="Calibri"/>
              <a:buChar char="○"/>
            </a:pPr>
            <a:r>
              <a:rPr lang="en" sz="2000">
                <a:latin typeface="Calibri"/>
                <a:ea typeface="Calibri"/>
                <a:cs typeface="Calibri"/>
                <a:sym typeface="Calibri"/>
              </a:rPr>
              <a:t>Note: Randomized quicksort is only probabilistically optimal, but the probability is extremely high for even modest N. Are you worried about quantum teleportation? Then don’t worry about Quicksort.</a:t>
            </a:r>
            <a:endParaRPr sz="2000">
              <a:latin typeface="Calibri"/>
              <a:ea typeface="Calibri"/>
              <a:cs typeface="Calibri"/>
              <a:sym typeface="Calibri"/>
            </a:endParaRPr>
          </a:p>
        </p:txBody>
      </p:sp>
      <p:graphicFrame>
        <p:nvGraphicFramePr>
          <p:cNvPr id="1294" name="Google Shape;1294;p83"/>
          <p:cNvGraphicFramePr/>
          <p:nvPr/>
        </p:nvGraphicFramePr>
        <p:xfrm>
          <a:off x="810464" y="808414"/>
          <a:ext cx="3000000" cy="3000000"/>
        </p:xfrm>
        <a:graphic>
          <a:graphicData uri="http://schemas.openxmlformats.org/drawingml/2006/table">
            <a:tbl>
              <a:tblPr>
                <a:noFill/>
                <a:tableStyleId>{C022CFBB-189D-4486-843A-8D9017E49761}</a:tableStyleId>
              </a:tblPr>
              <a:tblGrid>
                <a:gridCol w="1740050"/>
                <a:gridCol w="906625"/>
                <a:gridCol w="1813075"/>
                <a:gridCol w="1769800"/>
                <a:gridCol w="1448350"/>
              </a:tblGrid>
              <a:tr h="396200">
                <a:tc>
                  <a:txBody>
                    <a:bodyPr/>
                    <a:lstStyle/>
                    <a:p>
                      <a:pPr indent="0" lvl="0" marL="0" rtl="0" algn="l">
                        <a:spcBef>
                          <a:spcPts val="0"/>
                        </a:spcBef>
                        <a:spcAft>
                          <a:spcPts val="0"/>
                        </a:spcAft>
                        <a:buNone/>
                      </a:pPr>
                      <a:r>
                        <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latin typeface="Roboto"/>
                          <a:ea typeface="Roboto"/>
                          <a:cs typeface="Roboto"/>
                          <a:sym typeface="Roboto"/>
                        </a:rPr>
                        <a:t>Memory</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latin typeface="Roboto"/>
                          <a:ea typeface="Roboto"/>
                          <a:cs typeface="Roboto"/>
                          <a:sym typeface="Roboto"/>
                        </a:rPr>
                        <a:t># Compares</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latin typeface="Roboto"/>
                          <a:ea typeface="Roboto"/>
                          <a:cs typeface="Roboto"/>
                          <a:sym typeface="Roboto"/>
                        </a:rPr>
                        <a:t>Notes</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latin typeface="Roboto"/>
                          <a:ea typeface="Roboto"/>
                          <a:cs typeface="Roboto"/>
                          <a:sym typeface="Roboto"/>
                        </a:rPr>
                        <a:t>Stable?</a:t>
                      </a:r>
                      <a:endParaRPr>
                        <a:latin typeface="Roboto"/>
                        <a:ea typeface="Roboto"/>
                        <a:cs typeface="Roboto"/>
                        <a:sym typeface="Roboto"/>
                      </a:endParaRPr>
                    </a:p>
                  </a:txBody>
                  <a:tcPr marT="91425" marB="91425" marR="91425" marL="91425"/>
                </a:tc>
              </a:tr>
              <a:tr h="396200">
                <a:tc>
                  <a:txBody>
                    <a:bodyPr/>
                    <a:lstStyle/>
                    <a:p>
                      <a:pPr indent="0" lvl="0" marL="0" rtl="0" algn="l">
                        <a:spcBef>
                          <a:spcPts val="0"/>
                        </a:spcBef>
                        <a:spcAft>
                          <a:spcPts val="0"/>
                        </a:spcAft>
                        <a:buNone/>
                      </a:pPr>
                      <a:r>
                        <a:rPr lang="en">
                          <a:latin typeface="Roboto"/>
                          <a:ea typeface="Roboto"/>
                          <a:cs typeface="Roboto"/>
                          <a:sym typeface="Roboto"/>
                        </a:rPr>
                        <a:t>Heapsort</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Θ(1)</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Θ(N log N)</a:t>
                      </a:r>
                      <a:endParaRPr>
                        <a:latin typeface="Roboto"/>
                        <a:ea typeface="Roboto"/>
                        <a:cs typeface="Roboto"/>
                        <a:sym typeface="Roboto"/>
                      </a:endParaRPr>
                    </a:p>
                  </a:txBody>
                  <a:tcPr marT="91425" marB="91425" marR="91425" marL="91425">
                    <a:solidFill>
                      <a:srgbClr val="C9DAF8"/>
                    </a:solidFill>
                  </a:tcPr>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Bad caching (61C)</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No</a:t>
                      </a:r>
                      <a:endParaRPr>
                        <a:solidFill>
                          <a:schemeClr val="dk1"/>
                        </a:solidFill>
                        <a:latin typeface="Roboto"/>
                        <a:ea typeface="Roboto"/>
                        <a:cs typeface="Roboto"/>
                        <a:sym typeface="Roboto"/>
                      </a:endParaRPr>
                    </a:p>
                  </a:txBody>
                  <a:tcPr marT="91425" marB="91425" marR="91425" marL="91425"/>
                </a:tc>
              </a:tr>
              <a:tr h="381000">
                <a:tc>
                  <a:txBody>
                    <a:bodyPr/>
                    <a:lstStyle/>
                    <a:p>
                      <a:pPr indent="0" lvl="0" marL="0" rtl="0" algn="l">
                        <a:spcBef>
                          <a:spcPts val="0"/>
                        </a:spcBef>
                        <a:spcAft>
                          <a:spcPts val="0"/>
                        </a:spcAft>
                        <a:buNone/>
                      </a:pPr>
                      <a:r>
                        <a:rPr lang="en">
                          <a:latin typeface="Roboto"/>
                          <a:ea typeface="Roboto"/>
                          <a:cs typeface="Roboto"/>
                          <a:sym typeface="Roboto"/>
                        </a:rPr>
                        <a:t>Insertion</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Θ(1)</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Θ(N</a:t>
                      </a:r>
                      <a:r>
                        <a:rPr baseline="30000" lang="en">
                          <a:solidFill>
                            <a:schemeClr val="dk1"/>
                          </a:solidFill>
                          <a:latin typeface="Roboto"/>
                          <a:ea typeface="Roboto"/>
                          <a:cs typeface="Roboto"/>
                          <a:sym typeface="Roboto"/>
                        </a:rPr>
                        <a:t>2</a:t>
                      </a:r>
                      <a:r>
                        <a:rPr lang="en">
                          <a:solidFill>
                            <a:schemeClr val="dk1"/>
                          </a:solidFill>
                          <a:latin typeface="Roboto"/>
                          <a:ea typeface="Roboto"/>
                          <a:cs typeface="Roboto"/>
                          <a:sym typeface="Roboto"/>
                        </a:rPr>
                        <a:t>)</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Best for almost sorted and N &lt; 15</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Yes</a:t>
                      </a:r>
                      <a:endParaRPr>
                        <a:solidFill>
                          <a:schemeClr val="dk1"/>
                        </a:solidFill>
                        <a:latin typeface="Roboto"/>
                        <a:ea typeface="Roboto"/>
                        <a:cs typeface="Roboto"/>
                        <a:sym typeface="Roboto"/>
                      </a:endParaRPr>
                    </a:p>
                  </a:txBody>
                  <a:tcPr marT="91425" marB="91425" marR="91425" marL="91425"/>
                </a:tc>
              </a:tr>
              <a:tr h="396200">
                <a:tc>
                  <a:txBody>
                    <a:bodyPr/>
                    <a:lstStyle/>
                    <a:p>
                      <a:pPr indent="0" lvl="0" marL="0" rtl="0" algn="l">
                        <a:spcBef>
                          <a:spcPts val="0"/>
                        </a:spcBef>
                        <a:spcAft>
                          <a:spcPts val="0"/>
                        </a:spcAft>
                        <a:buNone/>
                      </a:pPr>
                      <a:r>
                        <a:rPr lang="en">
                          <a:latin typeface="Roboto"/>
                          <a:ea typeface="Roboto"/>
                          <a:cs typeface="Roboto"/>
                          <a:sym typeface="Roboto"/>
                        </a:rPr>
                        <a:t>Mergesort</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Θ(N)</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Θ(N log N)</a:t>
                      </a:r>
                      <a:endParaRPr>
                        <a:latin typeface="Roboto"/>
                        <a:ea typeface="Roboto"/>
                        <a:cs typeface="Roboto"/>
                        <a:sym typeface="Roboto"/>
                      </a:endParaRPr>
                    </a:p>
                  </a:txBody>
                  <a:tcPr marT="91425" marB="91425" marR="91425" marL="91425">
                    <a:solidFill>
                      <a:srgbClr val="C9DAF8"/>
                    </a:solidFill>
                  </a:tcPr>
                </a:tc>
                <a:tc>
                  <a:txBody>
                    <a:bodyPr/>
                    <a:lstStyle/>
                    <a:p>
                      <a:pPr indent="0" lvl="0" marL="0" rtl="0" algn="l">
                        <a:spcBef>
                          <a:spcPts val="0"/>
                        </a:spcBef>
                        <a:spcAft>
                          <a:spcPts val="0"/>
                        </a:spcAft>
                        <a:buNone/>
                      </a:pPr>
                      <a:r>
                        <a:rPr lang="en">
                          <a:latin typeface="Roboto"/>
                          <a:ea typeface="Roboto"/>
                          <a:cs typeface="Roboto"/>
                          <a:sym typeface="Roboto"/>
                        </a:rPr>
                        <a:t>Fastest stable sort</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latin typeface="Roboto"/>
                          <a:ea typeface="Roboto"/>
                          <a:cs typeface="Roboto"/>
                          <a:sym typeface="Roboto"/>
                        </a:rPr>
                        <a:t>Yes</a:t>
                      </a:r>
                      <a:endParaRPr>
                        <a:latin typeface="Roboto"/>
                        <a:ea typeface="Roboto"/>
                        <a:cs typeface="Roboto"/>
                        <a:sym typeface="Roboto"/>
                      </a:endParaRPr>
                    </a:p>
                  </a:txBody>
                  <a:tcPr marT="91425" marB="91425" marR="91425" marL="91425"/>
                </a:tc>
              </a:tr>
              <a:tr h="381000">
                <a:tc>
                  <a:txBody>
                    <a:bodyPr/>
                    <a:lstStyle/>
                    <a:p>
                      <a:pPr indent="0" lvl="0" marL="0" rtl="0" algn="l">
                        <a:spcBef>
                          <a:spcPts val="0"/>
                        </a:spcBef>
                        <a:spcAft>
                          <a:spcPts val="0"/>
                        </a:spcAft>
                        <a:buNone/>
                      </a:pPr>
                      <a:r>
                        <a:rPr lang="en">
                          <a:latin typeface="Roboto"/>
                          <a:ea typeface="Roboto"/>
                          <a:cs typeface="Roboto"/>
                          <a:sym typeface="Roboto"/>
                        </a:rPr>
                        <a:t>Quicksort LTHS</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Θ(log N)</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Θ(N log N) expected</a:t>
                      </a:r>
                      <a:endParaRPr>
                        <a:latin typeface="Roboto"/>
                        <a:ea typeface="Roboto"/>
                        <a:cs typeface="Roboto"/>
                        <a:sym typeface="Roboto"/>
                      </a:endParaRPr>
                    </a:p>
                  </a:txBody>
                  <a:tcPr marT="91425" marB="91425" marR="91425" marL="91425">
                    <a:solidFill>
                      <a:srgbClr val="C9DAF8"/>
                    </a:solidFill>
                  </a:tcPr>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Fastest sort</a:t>
                      </a:r>
                      <a:endParaRPr>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lang="en">
                          <a:solidFill>
                            <a:schemeClr val="dk1"/>
                          </a:solidFill>
                          <a:latin typeface="Roboto"/>
                          <a:ea typeface="Roboto"/>
                          <a:cs typeface="Roboto"/>
                          <a:sym typeface="Roboto"/>
                        </a:rPr>
                        <a:t>No</a:t>
                      </a:r>
                      <a:endParaRPr>
                        <a:solidFill>
                          <a:schemeClr val="dk1"/>
                        </a:solidFill>
                        <a:latin typeface="Roboto"/>
                        <a:ea typeface="Roboto"/>
                        <a:cs typeface="Roboto"/>
                        <a:sym typeface="Roboto"/>
                      </a:endParaRPr>
                    </a:p>
                  </a:txBody>
                  <a:tcPr marT="91425" marB="91425" marR="91425" marL="91425"/>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8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Next Time...</a:t>
            </a:r>
            <a:endParaRPr/>
          </a:p>
        </p:txBody>
      </p:sp>
      <p:sp>
        <p:nvSpPr>
          <p:cNvPr id="1300" name="Google Shape;1300;p84"/>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 we proved that any sort that uses comparisons has runtime Ω(N log N).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Next time we’ll discuss how we can sort in Θ(N) time.</a:t>
            </a:r>
            <a:endParaRPr/>
          </a:p>
          <a:p>
            <a:pPr indent="-342900" lvl="0" marL="457200" rtl="0" algn="l">
              <a:spcBef>
                <a:spcPts val="0"/>
              </a:spcBef>
              <a:spcAft>
                <a:spcPts val="0"/>
              </a:spcAft>
              <a:buSzPts val="1800"/>
              <a:buChar char="●"/>
            </a:pPr>
            <a:r>
              <a:rPr lang="en"/>
              <a:t>Not impossible, just can’t be a comparison sort!</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4" name="Shape 1304"/>
        <p:cNvGrpSpPr/>
        <p:nvPr/>
      </p:nvGrpSpPr>
      <p:grpSpPr>
        <a:xfrm>
          <a:off x="0" y="0"/>
          <a:ext cx="0" cy="0"/>
          <a:chOff x="0" y="0"/>
          <a:chExt cx="0" cy="0"/>
        </a:xfrm>
      </p:grpSpPr>
      <p:sp>
        <p:nvSpPr>
          <p:cNvPr id="1305" name="Google Shape;1305;p85"/>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1306" name="Google Shape;1306;p85"/>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Goal: How Hard is Sorting?</a:t>
            </a:r>
            <a:endParaRPr/>
          </a:p>
          <a:p>
            <a:pPr indent="0" lvl="0" marL="0" rtl="0" algn="l">
              <a:spcBef>
                <a:spcPts val="600"/>
              </a:spcBef>
              <a:spcAft>
                <a:spcPts val="0"/>
              </a:spcAft>
              <a:buClr>
                <a:schemeClr val="dk1"/>
              </a:buClr>
              <a:buSzPts val="1100"/>
              <a:buFont typeface="Arial"/>
              <a:buNone/>
            </a:pPr>
            <a:r>
              <a:rPr lang="en"/>
              <a:t>Math Problem Warmup</a:t>
            </a:r>
            <a:endParaRPr/>
          </a:p>
          <a:p>
            <a:pPr indent="0" lvl="0" marL="0" rtl="0" algn="l">
              <a:spcBef>
                <a:spcPts val="600"/>
              </a:spcBef>
              <a:spcAft>
                <a:spcPts val="0"/>
              </a:spcAft>
              <a:buClr>
                <a:schemeClr val="dk1"/>
              </a:buClr>
              <a:buSzPts val="1100"/>
              <a:buFont typeface="Arial"/>
              <a:buNone/>
            </a:pPr>
            <a:r>
              <a:rPr lang="en"/>
              <a:t>Theoretical Bounds on Sorting</a:t>
            </a:r>
            <a:endParaRPr/>
          </a:p>
          <a:p>
            <a:pPr indent="-342900" lvl="0" marL="457200" rtl="0" algn="l">
              <a:spcBef>
                <a:spcPts val="600"/>
              </a:spcBef>
              <a:spcAft>
                <a:spcPts val="0"/>
              </a:spcAft>
              <a:buSzPts val="1800"/>
              <a:buChar char="•"/>
            </a:pPr>
            <a:r>
              <a:rPr lang="en"/>
              <a:t>Simple Bounds for TUCS (the ultimate comparison sort)</a:t>
            </a:r>
            <a:endParaRPr/>
          </a:p>
          <a:p>
            <a:pPr indent="-342900" lvl="0" marL="457200" rtl="0" algn="l">
              <a:spcBef>
                <a:spcPts val="0"/>
              </a:spcBef>
              <a:spcAft>
                <a:spcPts val="0"/>
              </a:spcAft>
              <a:buSzPts val="1800"/>
              <a:buChar char="•"/>
            </a:pPr>
            <a:r>
              <a:rPr lang="en"/>
              <a:t>Coin Puzzles</a:t>
            </a:r>
            <a:endParaRPr/>
          </a:p>
          <a:p>
            <a:pPr indent="-342900" lvl="0" marL="457200" rtl="0" algn="l">
              <a:spcBef>
                <a:spcPts val="0"/>
              </a:spcBef>
              <a:spcAft>
                <a:spcPts val="0"/>
              </a:spcAft>
              <a:buSzPts val="1800"/>
              <a:buChar char="•"/>
            </a:pPr>
            <a:r>
              <a:rPr lang="en"/>
              <a:t>Puppy Cat Dog</a:t>
            </a:r>
            <a:endParaRPr/>
          </a:p>
          <a:p>
            <a:pPr indent="-342900" lvl="0" marL="457200" rtl="0" algn="l">
              <a:spcBef>
                <a:spcPts val="0"/>
              </a:spcBef>
              <a:spcAft>
                <a:spcPts val="0"/>
              </a:spcAft>
              <a:buSzPts val="1800"/>
              <a:buChar char="•"/>
            </a:pPr>
            <a:r>
              <a:rPr lang="en"/>
              <a:t>The Sorting Lower Bound</a:t>
            </a:r>
            <a:endParaRPr/>
          </a:p>
          <a:p>
            <a:pPr indent="0" lvl="0" marL="0" rtl="0" algn="l">
              <a:spcBef>
                <a:spcPts val="600"/>
              </a:spcBef>
              <a:spcAft>
                <a:spcPts val="0"/>
              </a:spcAft>
              <a:buClr>
                <a:schemeClr val="dk1"/>
              </a:buClr>
              <a:buSzPts val="1100"/>
              <a:buFont typeface="Arial"/>
              <a:buNone/>
            </a:pPr>
            <a:r>
              <a:rPr b="1" lang="en">
                <a:solidFill>
                  <a:schemeClr val="accent3"/>
                </a:solidFill>
                <a:latin typeface="Roboto"/>
                <a:ea typeface="Roboto"/>
                <a:cs typeface="Roboto"/>
                <a:sym typeface="Roboto"/>
              </a:rPr>
              <a:t>Sounds of Sorting</a:t>
            </a:r>
            <a:endParaRPr b="1">
              <a:solidFill>
                <a:schemeClr val="accent3"/>
              </a:solidFill>
              <a:latin typeface="Roboto"/>
              <a:ea typeface="Roboto"/>
              <a:cs typeface="Roboto"/>
              <a:sym typeface="Roboto"/>
            </a:endParaRPr>
          </a:p>
        </p:txBody>
      </p:sp>
      <p:sp>
        <p:nvSpPr>
          <p:cNvPr id="1307" name="Google Shape;1307;p85"/>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Sounds of Sorting</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1" name="Shape 1311"/>
        <p:cNvGrpSpPr/>
        <p:nvPr/>
      </p:nvGrpSpPr>
      <p:grpSpPr>
        <a:xfrm>
          <a:off x="0" y="0"/>
          <a:ext cx="0" cy="0"/>
          <a:chOff x="0" y="0"/>
          <a:chExt cx="0" cy="0"/>
        </a:xfrm>
      </p:grpSpPr>
      <p:sp>
        <p:nvSpPr>
          <p:cNvPr id="1312" name="Google Shape;1312;p8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Sounds of Sorting Algorithms (of 125 items)</a:t>
            </a:r>
            <a:endParaRPr/>
          </a:p>
        </p:txBody>
      </p:sp>
      <p:sp>
        <p:nvSpPr>
          <p:cNvPr id="1313" name="Google Shape;1313;p86"/>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sz="1400"/>
              <a:t>Starts with selection sort: </a:t>
            </a:r>
            <a:r>
              <a:rPr lang="en" sz="1400" u="sng">
                <a:solidFill>
                  <a:schemeClr val="hlink"/>
                </a:solidFill>
                <a:hlinkClick r:id="rId3"/>
              </a:rPr>
              <a:t>https://www.youtube.com/watch?v=kPRA0W1kECg</a:t>
            </a:r>
            <a:endParaRPr sz="1400"/>
          </a:p>
          <a:p>
            <a:pPr indent="0" lvl="0" marL="0" rtl="0" algn="l">
              <a:spcBef>
                <a:spcPts val="600"/>
              </a:spcBef>
              <a:spcAft>
                <a:spcPts val="0"/>
              </a:spcAft>
              <a:buNone/>
            </a:pPr>
            <a:r>
              <a:rPr lang="en" sz="1400"/>
              <a:t>Insertion sort: </a:t>
            </a:r>
            <a:r>
              <a:rPr lang="en" sz="1400" u="sng">
                <a:solidFill>
                  <a:schemeClr val="hlink"/>
                </a:solidFill>
                <a:hlinkClick r:id="rId4"/>
              </a:rPr>
              <a:t>https://www.youtube.com/watch?v=kPRA0W1kECg&amp;t=0m9s</a:t>
            </a:r>
            <a:endParaRPr sz="1400"/>
          </a:p>
          <a:p>
            <a:pPr indent="0" lvl="0" marL="0" rtl="0" algn="l">
              <a:spcBef>
                <a:spcPts val="600"/>
              </a:spcBef>
              <a:spcAft>
                <a:spcPts val="0"/>
              </a:spcAft>
              <a:buNone/>
            </a:pPr>
            <a:r>
              <a:rPr lang="en" sz="1400"/>
              <a:t>Quicksort: </a:t>
            </a:r>
            <a:r>
              <a:rPr lang="en" sz="1400" u="sng">
                <a:solidFill>
                  <a:schemeClr val="hlink"/>
                </a:solidFill>
                <a:hlinkClick r:id="rId5"/>
              </a:rPr>
              <a:t>https://www.youtube.com/watch?v=kPRA0W1kECg&amp;t=0m38s</a:t>
            </a:r>
            <a:endParaRPr sz="1400"/>
          </a:p>
          <a:p>
            <a:pPr indent="0" lvl="0" marL="0" rtl="0" algn="l">
              <a:spcBef>
                <a:spcPts val="600"/>
              </a:spcBef>
              <a:spcAft>
                <a:spcPts val="0"/>
              </a:spcAft>
              <a:buNone/>
            </a:pPr>
            <a:r>
              <a:rPr lang="en" sz="1400"/>
              <a:t>Mergesort: </a:t>
            </a:r>
            <a:r>
              <a:rPr lang="en" sz="1400" u="sng">
                <a:solidFill>
                  <a:schemeClr val="hlink"/>
                </a:solidFill>
                <a:hlinkClick r:id="rId6"/>
              </a:rPr>
              <a:t>https://www.youtube.com/watch?v=kPRA0W1kECg&amp;t=1m05s</a:t>
            </a:r>
            <a:endParaRPr sz="1400"/>
          </a:p>
          <a:p>
            <a:pPr indent="0" lvl="0" marL="0" rtl="0" algn="l">
              <a:spcBef>
                <a:spcPts val="600"/>
              </a:spcBef>
              <a:spcAft>
                <a:spcPts val="0"/>
              </a:spcAft>
              <a:buNone/>
            </a:pPr>
            <a:r>
              <a:rPr lang="en" sz="1400"/>
              <a:t>Heapsort: </a:t>
            </a:r>
            <a:r>
              <a:rPr lang="en" sz="1400" u="sng">
                <a:solidFill>
                  <a:schemeClr val="hlink"/>
                </a:solidFill>
                <a:hlinkClick r:id="rId7"/>
              </a:rPr>
              <a:t>https://www.youtube.com/watch?v=kPRA0W1kECg&amp;t=1m28s</a:t>
            </a:r>
            <a:endParaRPr sz="1400"/>
          </a:p>
          <a:p>
            <a:pPr indent="0" lvl="0" marL="0" rtl="0" algn="l">
              <a:spcBef>
                <a:spcPts val="600"/>
              </a:spcBef>
              <a:spcAft>
                <a:spcPts val="0"/>
              </a:spcAft>
              <a:buNone/>
            </a:pPr>
            <a:r>
              <a:rPr lang="en" sz="1400"/>
              <a:t>LSD sort: </a:t>
            </a:r>
            <a:r>
              <a:rPr lang="en" sz="1400" u="sng">
                <a:solidFill>
                  <a:schemeClr val="hlink"/>
                </a:solidFill>
                <a:hlinkClick r:id="rId8"/>
              </a:rPr>
              <a:t>https://www.youtube.com/watch?v=kPRA0W1kECg&amp;t=1m54s</a:t>
            </a:r>
            <a:r>
              <a:rPr lang="en" sz="1400"/>
              <a:t> </a:t>
            </a:r>
            <a:r>
              <a:rPr lang="en" sz="1400"/>
              <a:t>[coming in a future lecture]</a:t>
            </a:r>
            <a:endParaRPr sz="1400"/>
          </a:p>
          <a:p>
            <a:pPr indent="0" lvl="0" marL="0" rtl="0" algn="l">
              <a:spcBef>
                <a:spcPts val="600"/>
              </a:spcBef>
              <a:spcAft>
                <a:spcPts val="0"/>
              </a:spcAft>
              <a:buNone/>
            </a:pPr>
            <a:r>
              <a:rPr lang="en" sz="1400"/>
              <a:t>MSD sort: </a:t>
            </a:r>
            <a:r>
              <a:rPr lang="en" sz="1400" u="sng">
                <a:solidFill>
                  <a:schemeClr val="hlink"/>
                </a:solidFill>
                <a:hlinkClick r:id="rId9"/>
              </a:rPr>
              <a:t>https://www.youtube.com/watch?v=kPRA0W1kECg&amp;t=2m10s</a:t>
            </a:r>
            <a:r>
              <a:rPr lang="en" sz="1400"/>
              <a:t> </a:t>
            </a:r>
            <a:r>
              <a:rPr lang="en" sz="1400"/>
              <a:t>[coming in a future lecture]</a:t>
            </a:r>
            <a:endParaRPr sz="1400"/>
          </a:p>
          <a:p>
            <a:pPr indent="0" lvl="0" marL="0" rtl="0" algn="l">
              <a:spcBef>
                <a:spcPts val="600"/>
              </a:spcBef>
              <a:spcAft>
                <a:spcPts val="0"/>
              </a:spcAft>
              <a:buNone/>
            </a:pPr>
            <a:r>
              <a:rPr lang="en" sz="1400"/>
              <a:t>Shell’s sort: </a:t>
            </a:r>
            <a:r>
              <a:rPr lang="en" sz="1400" u="sng">
                <a:solidFill>
                  <a:schemeClr val="hlink"/>
                </a:solidFill>
                <a:hlinkClick r:id="rId10"/>
              </a:rPr>
              <a:t>https://www.youtube.com/watch?v=kPRA0W1kECg&amp;t=3m37s</a:t>
            </a:r>
            <a:r>
              <a:rPr lang="en" sz="1400"/>
              <a:t> </a:t>
            </a:r>
            <a:r>
              <a:rPr lang="en" sz="1400"/>
              <a:t>[bonus from an earlier lecture]</a:t>
            </a:r>
            <a:endParaRPr sz="1400"/>
          </a:p>
          <a:p>
            <a:pPr indent="0" lvl="0" marL="0" rtl="0" algn="l">
              <a:spcBef>
                <a:spcPts val="600"/>
              </a:spcBef>
              <a:spcAft>
                <a:spcPts val="0"/>
              </a:spcAft>
              <a:buNone/>
            </a:pPr>
            <a:r>
              <a:rPr lang="en" sz="1400"/>
              <a:t>One Hour of various sorts: </a:t>
            </a:r>
            <a:r>
              <a:rPr lang="en" sz="1400" u="sng">
                <a:solidFill>
                  <a:schemeClr val="hlink"/>
                </a:solidFill>
                <a:hlinkClick r:id="rId11"/>
              </a:rPr>
              <a:t>https://www.youtube.com/watch?v=8MsTNqK3o_w</a:t>
            </a:r>
            <a:r>
              <a:rPr lang="en" sz="1400"/>
              <a:t> </a:t>
            </a:r>
            <a:endParaRPr sz="1400"/>
          </a:p>
          <a:p>
            <a:pPr indent="0" lvl="0" marL="0" rtl="0" algn="l">
              <a:spcBef>
                <a:spcPts val="600"/>
              </a:spcBef>
              <a:spcAft>
                <a:spcPts val="0"/>
              </a:spcAft>
              <a:buNone/>
            </a:pPr>
            <a:r>
              <a:rPr lang="en" sz="1400"/>
              <a:t>Questions to ponder (later… after class): </a:t>
            </a:r>
            <a:endParaRPr sz="1400"/>
          </a:p>
          <a:p>
            <a:pPr indent="-317500" lvl="0" marL="457200" rtl="0" algn="l">
              <a:spcBef>
                <a:spcPts val="600"/>
              </a:spcBef>
              <a:spcAft>
                <a:spcPts val="0"/>
              </a:spcAft>
              <a:buSzPts val="1400"/>
              <a:buChar char="●"/>
            </a:pPr>
            <a:r>
              <a:rPr lang="en" sz="1400"/>
              <a:t>How many items for selection sort?</a:t>
            </a:r>
            <a:endParaRPr sz="1400"/>
          </a:p>
          <a:p>
            <a:pPr indent="-317500" lvl="0" marL="457200" rtl="0" algn="l">
              <a:spcBef>
                <a:spcPts val="0"/>
              </a:spcBef>
              <a:spcAft>
                <a:spcPts val="0"/>
              </a:spcAft>
              <a:buSzPts val="1400"/>
              <a:buChar char="●"/>
            </a:pPr>
            <a:r>
              <a:rPr lang="en" sz="1400"/>
              <a:t>Why does insertion sort take longer / more compares than selection sort?</a:t>
            </a:r>
            <a:endParaRPr sz="1400"/>
          </a:p>
          <a:p>
            <a:pPr indent="-317500" lvl="0" marL="457200" rtl="0" algn="l">
              <a:spcBef>
                <a:spcPts val="0"/>
              </a:spcBef>
              <a:spcAft>
                <a:spcPts val="0"/>
              </a:spcAft>
              <a:buSzPts val="1400"/>
              <a:buChar char="●"/>
            </a:pPr>
            <a:r>
              <a:rPr lang="en" sz="1400"/>
              <a:t>At what time stamp does the first partition complete for Quicksort?</a:t>
            </a:r>
            <a:endParaRPr sz="1400"/>
          </a:p>
          <a:p>
            <a:pPr indent="-317500" lvl="0" marL="457200" rtl="0" algn="l">
              <a:spcBef>
                <a:spcPts val="0"/>
              </a:spcBef>
              <a:spcAft>
                <a:spcPts val="0"/>
              </a:spcAft>
              <a:buSzPts val="1400"/>
              <a:buChar char="●"/>
            </a:pPr>
            <a:r>
              <a:rPr lang="en" sz="1400"/>
              <a:t>Could the size of the input to mergesort be a power of 2?</a:t>
            </a:r>
            <a:endParaRPr sz="1400"/>
          </a:p>
          <a:p>
            <a:pPr indent="-317500" lvl="0" marL="457200" rtl="0" algn="l">
              <a:spcBef>
                <a:spcPts val="0"/>
              </a:spcBef>
              <a:spcAft>
                <a:spcPts val="0"/>
              </a:spcAft>
              <a:buSzPts val="1400"/>
              <a:buChar char="●"/>
            </a:pPr>
            <a:r>
              <a:rPr lang="en" sz="1400"/>
              <a:t>What do the colors mean for heapsort?</a:t>
            </a:r>
            <a:endParaRPr sz="1400"/>
          </a:p>
          <a:p>
            <a:pPr indent="-317500" lvl="0" marL="457200" rtl="0" algn="l">
              <a:spcBef>
                <a:spcPts val="0"/>
              </a:spcBef>
              <a:spcAft>
                <a:spcPts val="0"/>
              </a:spcAft>
              <a:buSzPts val="1400"/>
              <a:buChar char="●"/>
            </a:pPr>
            <a:r>
              <a:rPr lang="en" sz="1400"/>
              <a:t>How many characters are in the alphabet used for the LSD sort problem? (after we learn about it)</a:t>
            </a:r>
            <a:endParaRPr sz="1400"/>
          </a:p>
          <a:p>
            <a:pPr indent="-317500" lvl="0" marL="457200" rtl="0" algn="l">
              <a:spcBef>
                <a:spcPts val="0"/>
              </a:spcBef>
              <a:spcAft>
                <a:spcPts val="0"/>
              </a:spcAft>
              <a:buSzPts val="1400"/>
              <a:buChar char="●"/>
            </a:pPr>
            <a:r>
              <a:rPr lang="en" sz="1400"/>
              <a:t>How many digits are in the keys used for the LSD sort problem? (after we learn about it)</a:t>
            </a:r>
            <a:endParaRPr sz="1400"/>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7" name="Shape 1317"/>
        <p:cNvGrpSpPr/>
        <p:nvPr/>
      </p:nvGrpSpPr>
      <p:grpSpPr>
        <a:xfrm>
          <a:off x="0" y="0"/>
          <a:ext cx="0" cy="0"/>
          <a:chOff x="0" y="0"/>
          <a:chExt cx="0" cy="0"/>
        </a:xfrm>
      </p:grpSpPr>
      <p:sp>
        <p:nvSpPr>
          <p:cNvPr id="1318" name="Google Shape;1318;p87"/>
          <p:cNvSpPr txBox="1"/>
          <p:nvPr>
            <p:ph idx="2" type="subTitle"/>
          </p:nvPr>
        </p:nvSpPr>
        <p:spPr>
          <a:xfrm>
            <a:off x="177925" y="4068000"/>
            <a:ext cx="4158000" cy="3936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None/>
            </a:pPr>
            <a:r>
              <a:rPr lang="en"/>
              <a:t>Lecture 34, CS61B, Fall 2023</a:t>
            </a:r>
            <a:endParaRPr/>
          </a:p>
        </p:txBody>
      </p:sp>
      <p:sp>
        <p:nvSpPr>
          <p:cNvPr id="1319" name="Google Shape;1319;p87"/>
          <p:cNvSpPr txBox="1"/>
          <p:nvPr>
            <p:ph idx="1" type="body"/>
          </p:nvPr>
        </p:nvSpPr>
        <p:spPr>
          <a:xfrm>
            <a:off x="4812375" y="402198"/>
            <a:ext cx="3999900" cy="4260900"/>
          </a:xfrm>
          <a:prstGeom prst="rect">
            <a:avLst/>
          </a:prstGeom>
        </p:spPr>
        <p:txBody>
          <a:bodyPr anchorCtr="0" anchor="ctr" bIns="91425" lIns="91425" spcFirstLastPara="1" rIns="91425" wrap="square" tIns="91425">
            <a:noAutofit/>
          </a:bodyPr>
          <a:lstStyle/>
          <a:p>
            <a:pPr indent="0" lvl="0" marL="0" rtl="0" algn="l">
              <a:spcBef>
                <a:spcPts val="600"/>
              </a:spcBef>
              <a:spcAft>
                <a:spcPts val="0"/>
              </a:spcAft>
              <a:buClr>
                <a:schemeClr val="dk1"/>
              </a:buClr>
              <a:buSzPts val="1100"/>
              <a:buFont typeface="Arial"/>
              <a:buNone/>
            </a:pPr>
            <a:r>
              <a:rPr lang="en"/>
              <a:t>Goal: How Hard is Sorting?</a:t>
            </a:r>
            <a:endParaRPr/>
          </a:p>
          <a:p>
            <a:pPr indent="0" lvl="0" marL="0" rtl="0" algn="l">
              <a:spcBef>
                <a:spcPts val="600"/>
              </a:spcBef>
              <a:spcAft>
                <a:spcPts val="0"/>
              </a:spcAft>
              <a:buClr>
                <a:schemeClr val="dk1"/>
              </a:buClr>
              <a:buSzPts val="1100"/>
              <a:buFont typeface="Arial"/>
              <a:buNone/>
            </a:pPr>
            <a:r>
              <a:rPr lang="en"/>
              <a:t>Math Problem Warmup</a:t>
            </a:r>
            <a:endParaRPr/>
          </a:p>
          <a:p>
            <a:pPr indent="0" lvl="0" marL="0" rtl="0" algn="l">
              <a:spcBef>
                <a:spcPts val="600"/>
              </a:spcBef>
              <a:spcAft>
                <a:spcPts val="0"/>
              </a:spcAft>
              <a:buClr>
                <a:schemeClr val="dk1"/>
              </a:buClr>
              <a:buSzPts val="1100"/>
              <a:buFont typeface="Arial"/>
              <a:buNone/>
            </a:pPr>
            <a:r>
              <a:rPr lang="en"/>
              <a:t>Theoretical Bounds on Sorting</a:t>
            </a:r>
            <a:endParaRPr/>
          </a:p>
          <a:p>
            <a:pPr indent="-342900" lvl="0" marL="457200" rtl="0" algn="l">
              <a:spcBef>
                <a:spcPts val="600"/>
              </a:spcBef>
              <a:spcAft>
                <a:spcPts val="0"/>
              </a:spcAft>
              <a:buSzPts val="1800"/>
              <a:buChar char="•"/>
            </a:pPr>
            <a:r>
              <a:rPr lang="en"/>
              <a:t>Simple Bounds for TUCS (the ultimate comparison sort)</a:t>
            </a:r>
            <a:endParaRPr/>
          </a:p>
          <a:p>
            <a:pPr indent="-342900" lvl="0" marL="457200" rtl="0" algn="l">
              <a:spcBef>
                <a:spcPts val="0"/>
              </a:spcBef>
              <a:spcAft>
                <a:spcPts val="0"/>
              </a:spcAft>
              <a:buSzPts val="1800"/>
              <a:buChar char="•"/>
            </a:pPr>
            <a:r>
              <a:rPr lang="en"/>
              <a:t>Puppy Cat Dog (N = 3, N = 4)</a:t>
            </a:r>
            <a:endParaRPr/>
          </a:p>
          <a:p>
            <a:pPr indent="-342900" lvl="0" marL="457200" rtl="0" algn="l">
              <a:spcBef>
                <a:spcPts val="0"/>
              </a:spcBef>
              <a:spcAft>
                <a:spcPts val="0"/>
              </a:spcAft>
              <a:buSzPts val="1800"/>
              <a:buChar char="•"/>
            </a:pPr>
            <a:r>
              <a:rPr lang="en"/>
              <a:t>Puppy Cat Dog for Any N</a:t>
            </a:r>
            <a:endParaRPr/>
          </a:p>
          <a:p>
            <a:pPr indent="-342900" lvl="0" marL="457200" rtl="0" algn="l">
              <a:spcBef>
                <a:spcPts val="0"/>
              </a:spcBef>
              <a:spcAft>
                <a:spcPts val="0"/>
              </a:spcAft>
              <a:buSzPts val="1800"/>
              <a:buChar char="•"/>
            </a:pPr>
            <a:r>
              <a:rPr lang="en"/>
              <a:t>The Sorting Lower Bound</a:t>
            </a:r>
            <a:endParaRPr/>
          </a:p>
          <a:p>
            <a:pPr indent="0" lvl="0" marL="0" rtl="0" algn="l">
              <a:spcBef>
                <a:spcPts val="600"/>
              </a:spcBef>
              <a:spcAft>
                <a:spcPts val="0"/>
              </a:spcAft>
              <a:buNone/>
            </a:pPr>
            <a:r>
              <a:rPr lang="en"/>
              <a:t>Sounds of Sorting</a:t>
            </a:r>
            <a:endParaRPr b="1">
              <a:solidFill>
                <a:schemeClr val="accent3"/>
              </a:solidFill>
              <a:latin typeface="Roboto"/>
              <a:ea typeface="Roboto"/>
              <a:cs typeface="Roboto"/>
              <a:sym typeface="Roboto"/>
            </a:endParaRPr>
          </a:p>
        </p:txBody>
      </p:sp>
      <p:sp>
        <p:nvSpPr>
          <p:cNvPr id="1320" name="Google Shape;1320;p87"/>
          <p:cNvSpPr txBox="1"/>
          <p:nvPr>
            <p:ph type="title"/>
          </p:nvPr>
        </p:nvSpPr>
        <p:spPr>
          <a:xfrm>
            <a:off x="177925" y="2003300"/>
            <a:ext cx="4038000" cy="2037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Extra: Sorting Implementations</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4" name="Shape 1324"/>
        <p:cNvGrpSpPr/>
        <p:nvPr/>
      </p:nvGrpSpPr>
      <p:grpSpPr>
        <a:xfrm>
          <a:off x="0" y="0"/>
          <a:ext cx="0" cy="0"/>
          <a:chOff x="0" y="0"/>
          <a:chExt cx="0" cy="0"/>
        </a:xfrm>
      </p:grpSpPr>
      <p:sp>
        <p:nvSpPr>
          <p:cNvPr id="1325" name="Google Shape;1325;p8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Note on Implementations</a:t>
            </a:r>
            <a:endParaRPr/>
          </a:p>
        </p:txBody>
      </p:sp>
      <p:sp>
        <p:nvSpPr>
          <p:cNvPr id="1326" name="Google Shape;1326;p88"/>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Concrete implementations are nice for solidifying understanding. </a:t>
            </a:r>
            <a:endParaRPr/>
          </a:p>
          <a:p>
            <a:pPr indent="-342900" lvl="0" marL="457200" rtl="0" algn="l">
              <a:spcBef>
                <a:spcPts val="600"/>
              </a:spcBef>
              <a:spcAft>
                <a:spcPts val="0"/>
              </a:spcAft>
              <a:buSzPts val="1800"/>
              <a:buChar char="●"/>
            </a:pPr>
            <a:r>
              <a:rPr lang="en"/>
              <a:t>Implementing these yourself provides much deeper understanding than just reading my code.</a:t>
            </a:r>
            <a:endParaRPr/>
          </a:p>
          <a:p>
            <a:pPr indent="-342900" lvl="0" marL="457200" rtl="0" algn="l">
              <a:spcBef>
                <a:spcPts val="0"/>
              </a:spcBef>
              <a:spcAft>
                <a:spcPts val="0"/>
              </a:spcAft>
              <a:buSzPts val="1800"/>
              <a:buChar char="●"/>
            </a:pPr>
            <a:r>
              <a:rPr lang="en"/>
              <a:t>You are not responsible for the details of these specific implementations.</a:t>
            </a:r>
            <a:endParaRPr/>
          </a:p>
          <a:p>
            <a:pPr indent="-342900" lvl="0" marL="457200" rtl="0" algn="l">
              <a:spcBef>
                <a:spcPts val="0"/>
              </a:spcBef>
              <a:spcAft>
                <a:spcPts val="0"/>
              </a:spcAft>
              <a:buSzPts val="1800"/>
              <a:buChar char="●"/>
            </a:pPr>
            <a:r>
              <a:rPr lang="en"/>
              <a:t>Given enough time, you should be able to implement any of these sorts.</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8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Utility Methods For Sorting</a:t>
            </a:r>
            <a:endParaRPr/>
          </a:p>
        </p:txBody>
      </p:sp>
      <p:pic>
        <p:nvPicPr>
          <p:cNvPr id="1332" name="Google Shape;1332;p89"/>
          <p:cNvPicPr preferRelativeResize="0"/>
          <p:nvPr/>
        </p:nvPicPr>
        <p:blipFill>
          <a:blip r:embed="rId3">
            <a:alphaModFix/>
          </a:blip>
          <a:stretch>
            <a:fillRect/>
          </a:stretch>
        </p:blipFill>
        <p:spPr>
          <a:xfrm>
            <a:off x="1257300" y="991175"/>
            <a:ext cx="6629400" cy="1047750"/>
          </a:xfrm>
          <a:prstGeom prst="rect">
            <a:avLst/>
          </a:prstGeom>
          <a:noFill/>
          <a:ln>
            <a:noFill/>
          </a:ln>
        </p:spPr>
      </p:pic>
      <p:pic>
        <p:nvPicPr>
          <p:cNvPr id="1333" name="Google Shape;1333;p89"/>
          <p:cNvPicPr preferRelativeResize="0"/>
          <p:nvPr/>
        </p:nvPicPr>
        <p:blipFill>
          <a:blip r:embed="rId4">
            <a:alphaModFix/>
          </a:blip>
          <a:stretch>
            <a:fillRect/>
          </a:stretch>
        </p:blipFill>
        <p:spPr>
          <a:xfrm>
            <a:off x="1238363" y="2510500"/>
            <a:ext cx="6086475" cy="160020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7" name="Shape 1337"/>
        <p:cNvGrpSpPr/>
        <p:nvPr/>
      </p:nvGrpSpPr>
      <p:grpSpPr>
        <a:xfrm>
          <a:off x="0" y="0"/>
          <a:ext cx="0" cy="0"/>
          <a:chOff x="0" y="0"/>
          <a:chExt cx="0" cy="0"/>
        </a:xfrm>
      </p:grpSpPr>
      <p:sp>
        <p:nvSpPr>
          <p:cNvPr id="1338" name="Google Shape;1338;p90"/>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Selection Sort</a:t>
            </a:r>
            <a:endParaRPr/>
          </a:p>
        </p:txBody>
      </p:sp>
      <p:pic>
        <p:nvPicPr>
          <p:cNvPr id="1339" name="Google Shape;1339;p90"/>
          <p:cNvPicPr preferRelativeResize="0"/>
          <p:nvPr/>
        </p:nvPicPr>
        <p:blipFill>
          <a:blip r:embed="rId3">
            <a:alphaModFix/>
          </a:blip>
          <a:stretch>
            <a:fillRect/>
          </a:stretch>
        </p:blipFill>
        <p:spPr>
          <a:xfrm>
            <a:off x="1423988" y="778400"/>
            <a:ext cx="6296025" cy="3676650"/>
          </a:xfrm>
          <a:prstGeom prst="rect">
            <a:avLst/>
          </a:prstGeom>
          <a:noFill/>
          <a:ln>
            <a:noFill/>
          </a:ln>
        </p:spPr>
      </p:pic>
      <p:sp>
        <p:nvSpPr>
          <p:cNvPr id="1340" name="Google Shape;1340;p90"/>
          <p:cNvSpPr txBox="1"/>
          <p:nvPr>
            <p:ph idx="1" type="body"/>
          </p:nvPr>
        </p:nvSpPr>
        <p:spPr>
          <a:xfrm>
            <a:off x="243000" y="4273775"/>
            <a:ext cx="8443800" cy="665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Key ideas: Among unfixed items, find minimum in Θ(N) time and swap to the front. Subproblem has size N-1. Total runtime is N + N-1 + … + 1 = Θ(N</a:t>
            </a:r>
            <a:r>
              <a:rPr baseline="30000" lang="en"/>
              <a:t>2</a:t>
            </a:r>
            <a:r>
              <a:rPr lang="en"/>
              <a:t>).</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91"/>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Insertion Sort</a:t>
            </a:r>
            <a:endParaRPr/>
          </a:p>
        </p:txBody>
      </p:sp>
      <p:pic>
        <p:nvPicPr>
          <p:cNvPr id="1346" name="Google Shape;1346;p91"/>
          <p:cNvPicPr preferRelativeResize="0"/>
          <p:nvPr/>
        </p:nvPicPr>
        <p:blipFill>
          <a:blip r:embed="rId3">
            <a:alphaModFix/>
          </a:blip>
          <a:stretch>
            <a:fillRect/>
          </a:stretch>
        </p:blipFill>
        <p:spPr>
          <a:xfrm>
            <a:off x="1214425" y="700275"/>
            <a:ext cx="6715125" cy="3705225"/>
          </a:xfrm>
          <a:prstGeom prst="rect">
            <a:avLst/>
          </a:prstGeom>
          <a:noFill/>
          <a:ln>
            <a:noFill/>
          </a:ln>
        </p:spPr>
      </p:pic>
      <p:sp>
        <p:nvSpPr>
          <p:cNvPr id="1347" name="Google Shape;1347;p91"/>
          <p:cNvSpPr txBox="1"/>
          <p:nvPr>
            <p:ph idx="1" type="body"/>
          </p:nvPr>
        </p:nvSpPr>
        <p:spPr>
          <a:xfrm>
            <a:off x="243000" y="4273775"/>
            <a:ext cx="8443800" cy="665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Key ideas: For each item (starting at leftmost), swap leftwards until in place. For item k, takes Θ(k) worst case time. Runtime is 1 + 2 + … + N = Θ(N</a:t>
            </a:r>
            <a:r>
              <a:rPr baseline="30000" lang="en"/>
              <a:t>2</a:t>
            </a:r>
            <a:r>
              <a:rPr lang="en"/>
              <a:t>).</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1" name="Shape 1351"/>
        <p:cNvGrpSpPr/>
        <p:nvPr/>
      </p:nvGrpSpPr>
      <p:grpSpPr>
        <a:xfrm>
          <a:off x="0" y="0"/>
          <a:ext cx="0" cy="0"/>
          <a:chOff x="0" y="0"/>
          <a:chExt cx="0" cy="0"/>
        </a:xfrm>
      </p:grpSpPr>
      <p:sp>
        <p:nvSpPr>
          <p:cNvPr id="1352" name="Google Shape;1352;p92"/>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Selection and Insertion Sort Runtimes (Code Analysis)</a:t>
            </a:r>
            <a:endParaRPr/>
          </a:p>
        </p:txBody>
      </p:sp>
      <p:sp>
        <p:nvSpPr>
          <p:cNvPr id="1353" name="Google Shape;1353;p92"/>
          <p:cNvSpPr txBox="1"/>
          <p:nvPr>
            <p:ph idx="1" type="body"/>
          </p:nvPr>
        </p:nvSpPr>
        <p:spPr>
          <a:xfrm>
            <a:off x="107044" y="402200"/>
            <a:ext cx="8520600" cy="34164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Selection sort: Runtime is independent of input, always Θ(N</a:t>
            </a:r>
            <a:r>
              <a:rPr baseline="30000" lang="en"/>
              <a:t>2</a:t>
            </a:r>
            <a:r>
              <a:rPr lang="en"/>
              <a:t>).</a:t>
            </a:r>
            <a:endParaRPr/>
          </a:p>
          <a:p>
            <a:pPr indent="-342900" lvl="0" marL="457200" rtl="0" algn="l">
              <a:spcBef>
                <a:spcPts val="600"/>
              </a:spcBef>
              <a:spcAft>
                <a:spcPts val="0"/>
              </a:spcAft>
              <a:buSzPts val="1800"/>
              <a:buChar char="●"/>
            </a:pPr>
            <a:r>
              <a:rPr lang="en"/>
              <a:t>~N</a:t>
            </a:r>
            <a:r>
              <a:rPr baseline="30000" lang="en"/>
              <a:t>2</a:t>
            </a:r>
            <a:r>
              <a:rPr lang="en"/>
              <a:t>/2 compares and ~N</a:t>
            </a:r>
            <a:r>
              <a:rPr baseline="30000" lang="en"/>
              <a:t>2</a:t>
            </a:r>
            <a:r>
              <a:rPr lang="en"/>
              <a:t>/2 exchanges. Θ(N</a:t>
            </a:r>
            <a:r>
              <a:rPr baseline="30000" lang="en"/>
              <a:t>2</a:t>
            </a:r>
            <a:r>
              <a:rPr lang="en"/>
              <a:t>) runtime.</a:t>
            </a:r>
            <a:endParaRPr/>
          </a:p>
          <a:p>
            <a:pPr indent="0" lvl="0" marL="0" rtl="0" algn="l">
              <a:spcBef>
                <a:spcPts val="600"/>
              </a:spcBef>
              <a:spcAft>
                <a:spcPts val="0"/>
              </a:spcAft>
              <a:buNone/>
            </a:pPr>
            <a:r>
              <a:t/>
            </a:r>
            <a:endParaRPr/>
          </a:p>
          <a:p>
            <a:pPr indent="0" lvl="0" marL="0" rtl="0" algn="l">
              <a:spcBef>
                <a:spcPts val="600"/>
              </a:spcBef>
              <a:spcAft>
                <a:spcPts val="0"/>
              </a:spcAft>
              <a:buNone/>
            </a:pPr>
            <a:r>
              <a:rPr lang="en"/>
              <a:t>Insertion sort: Runtime is strongly dependent on input. Ω(N), O(N</a:t>
            </a:r>
            <a:r>
              <a:rPr baseline="30000" lang="en"/>
              <a:t>2</a:t>
            </a:r>
            <a:r>
              <a:rPr lang="en"/>
              <a:t>)</a:t>
            </a:r>
            <a:endParaRPr/>
          </a:p>
          <a:p>
            <a:pPr indent="-342900" lvl="0" marL="457200" rtl="0" algn="l">
              <a:spcBef>
                <a:spcPts val="600"/>
              </a:spcBef>
              <a:spcAft>
                <a:spcPts val="0"/>
              </a:spcAft>
              <a:buSzPts val="1800"/>
              <a:buChar char="●"/>
            </a:pPr>
            <a:r>
              <a:rPr lang="en"/>
              <a:t>Best case (sorted): ~N compares, 0 exchanges: Θ(N)</a:t>
            </a:r>
            <a:endParaRPr/>
          </a:p>
          <a:p>
            <a:pPr indent="-342900" lvl="0" marL="457200" rtl="0" algn="l">
              <a:spcBef>
                <a:spcPts val="0"/>
              </a:spcBef>
              <a:spcAft>
                <a:spcPts val="0"/>
              </a:spcAft>
              <a:buSzPts val="1800"/>
              <a:buChar char="●"/>
            </a:pPr>
            <a:r>
              <a:rPr lang="en"/>
              <a:t>Worst case (reverse sorted): ~N</a:t>
            </a:r>
            <a:r>
              <a:rPr baseline="30000" lang="en"/>
              <a:t>2</a:t>
            </a:r>
            <a:r>
              <a:rPr lang="en"/>
              <a:t>/2 compares, ~N</a:t>
            </a:r>
            <a:r>
              <a:rPr baseline="30000" lang="en"/>
              <a:t>2</a:t>
            </a:r>
            <a:r>
              <a:rPr lang="en"/>
              <a:t>/2 exchanges: Θ(N</a:t>
            </a:r>
            <a:r>
              <a:rPr baseline="30000" lang="en"/>
              <a:t>2</a:t>
            </a:r>
            <a:r>
              <a:rPr lang="en"/>
              <a:t>)</a:t>
            </a:r>
            <a:endParaRPr/>
          </a:p>
        </p:txBody>
      </p:sp>
      <p:pic>
        <p:nvPicPr>
          <p:cNvPr id="1354" name="Google Shape;1354;p92"/>
          <p:cNvPicPr preferRelativeResize="0"/>
          <p:nvPr/>
        </p:nvPicPr>
        <p:blipFill>
          <a:blip r:embed="rId3">
            <a:alphaModFix/>
          </a:blip>
          <a:stretch>
            <a:fillRect/>
          </a:stretch>
        </p:blipFill>
        <p:spPr>
          <a:xfrm>
            <a:off x="243000" y="3048575"/>
            <a:ext cx="4019550" cy="1981200"/>
          </a:xfrm>
          <a:prstGeom prst="rect">
            <a:avLst/>
          </a:prstGeom>
          <a:noFill/>
          <a:ln>
            <a:noFill/>
          </a:ln>
        </p:spPr>
      </p:pic>
      <p:pic>
        <p:nvPicPr>
          <p:cNvPr id="1355" name="Google Shape;1355;p92"/>
          <p:cNvPicPr preferRelativeResize="0"/>
          <p:nvPr/>
        </p:nvPicPr>
        <p:blipFill>
          <a:blip r:embed="rId4">
            <a:alphaModFix/>
          </a:blip>
          <a:stretch>
            <a:fillRect/>
          </a:stretch>
        </p:blipFill>
        <p:spPr>
          <a:xfrm>
            <a:off x="4867275" y="3162875"/>
            <a:ext cx="3819525" cy="175260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9" name="Shape 1359"/>
        <p:cNvGrpSpPr/>
        <p:nvPr/>
      </p:nvGrpSpPr>
      <p:grpSpPr>
        <a:xfrm>
          <a:off x="0" y="0"/>
          <a:ext cx="0" cy="0"/>
          <a:chOff x="0" y="0"/>
          <a:chExt cx="0" cy="0"/>
        </a:xfrm>
      </p:grpSpPr>
      <p:sp>
        <p:nvSpPr>
          <p:cNvPr id="1360" name="Google Shape;1360;p93"/>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Mergesort (Merge Method)</a:t>
            </a:r>
            <a:endParaRPr/>
          </a:p>
        </p:txBody>
      </p:sp>
      <p:pic>
        <p:nvPicPr>
          <p:cNvPr id="1361" name="Google Shape;1361;p93"/>
          <p:cNvPicPr preferRelativeResize="0"/>
          <p:nvPr/>
        </p:nvPicPr>
        <p:blipFill>
          <a:blip r:embed="rId3">
            <a:alphaModFix/>
          </a:blip>
          <a:stretch>
            <a:fillRect/>
          </a:stretch>
        </p:blipFill>
        <p:spPr>
          <a:xfrm>
            <a:off x="709613" y="1123650"/>
            <a:ext cx="7724775" cy="3457575"/>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5" name="Shape 1365"/>
        <p:cNvGrpSpPr/>
        <p:nvPr/>
      </p:nvGrpSpPr>
      <p:grpSpPr>
        <a:xfrm>
          <a:off x="0" y="0"/>
          <a:ext cx="0" cy="0"/>
          <a:chOff x="0" y="0"/>
          <a:chExt cx="0" cy="0"/>
        </a:xfrm>
      </p:grpSpPr>
      <p:sp>
        <p:nvSpPr>
          <p:cNvPr id="1366" name="Google Shape;1366;p94"/>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Mergesort</a:t>
            </a:r>
            <a:endParaRPr/>
          </a:p>
        </p:txBody>
      </p:sp>
      <p:pic>
        <p:nvPicPr>
          <p:cNvPr id="1367" name="Google Shape;1367;p94"/>
          <p:cNvPicPr preferRelativeResize="0"/>
          <p:nvPr/>
        </p:nvPicPr>
        <p:blipFill>
          <a:blip r:embed="rId3">
            <a:alphaModFix/>
          </a:blip>
          <a:stretch>
            <a:fillRect/>
          </a:stretch>
        </p:blipFill>
        <p:spPr>
          <a:xfrm>
            <a:off x="452550" y="709825"/>
            <a:ext cx="7658100" cy="2495550"/>
          </a:xfrm>
          <a:prstGeom prst="rect">
            <a:avLst/>
          </a:prstGeom>
          <a:noFill/>
          <a:ln>
            <a:noFill/>
          </a:ln>
        </p:spPr>
      </p:pic>
      <p:sp>
        <p:nvSpPr>
          <p:cNvPr id="1368" name="Google Shape;1368;p94"/>
          <p:cNvSpPr txBox="1"/>
          <p:nvPr>
            <p:ph idx="1" type="body"/>
          </p:nvPr>
        </p:nvSpPr>
        <p:spPr>
          <a:xfrm>
            <a:off x="243000" y="3816575"/>
            <a:ext cx="8443800" cy="665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Key ideas: Each merge costs Θ(N) time and Θ(N) space, and generates two subproblems of size N/2. At level L of the sort, there are 2</a:t>
            </a:r>
            <a:r>
              <a:rPr baseline="30000" lang="en"/>
              <a:t>L</a:t>
            </a:r>
            <a:r>
              <a:rPr lang="en"/>
              <a:t> subproblems of size N/2</a:t>
            </a:r>
            <a:r>
              <a:rPr baseline="30000" lang="en"/>
              <a:t>L</a:t>
            </a:r>
            <a:r>
              <a:rPr lang="en"/>
              <a:t>. Since L = Θ(log N), runtime is Θ(N log N).</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9DAF8"/>
        </a:solidFill>
      </p:bgPr>
    </p:bg>
    <p:spTree>
      <p:nvGrpSpPr>
        <p:cNvPr id="1372" name="Shape 1372"/>
        <p:cNvGrpSpPr/>
        <p:nvPr/>
      </p:nvGrpSpPr>
      <p:grpSpPr>
        <a:xfrm>
          <a:off x="0" y="0"/>
          <a:ext cx="0" cy="0"/>
          <a:chOff x="0" y="0"/>
          <a:chExt cx="0" cy="0"/>
        </a:xfrm>
      </p:grpSpPr>
      <p:sp>
        <p:nvSpPr>
          <p:cNvPr id="1373" name="Google Shape;1373;p95"/>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Interview Question</a:t>
            </a:r>
            <a:endParaRPr/>
          </a:p>
        </p:txBody>
      </p:sp>
      <p:pic>
        <p:nvPicPr>
          <p:cNvPr id="1374" name="Google Shape;1374;p95"/>
          <p:cNvPicPr preferRelativeResize="0"/>
          <p:nvPr/>
        </p:nvPicPr>
        <p:blipFill>
          <a:blip r:embed="rId3">
            <a:alphaModFix/>
          </a:blip>
          <a:stretch>
            <a:fillRect/>
          </a:stretch>
        </p:blipFill>
        <p:spPr>
          <a:xfrm>
            <a:off x="452550" y="709825"/>
            <a:ext cx="7658100" cy="2495550"/>
          </a:xfrm>
          <a:prstGeom prst="rect">
            <a:avLst/>
          </a:prstGeom>
          <a:noFill/>
          <a:ln>
            <a:noFill/>
          </a:ln>
        </p:spPr>
      </p:pic>
      <p:sp>
        <p:nvSpPr>
          <p:cNvPr id="1375" name="Google Shape;1375;p95"/>
          <p:cNvSpPr txBox="1"/>
          <p:nvPr>
            <p:ph idx="1" type="body"/>
          </p:nvPr>
        </p:nvSpPr>
        <p:spPr>
          <a:xfrm>
            <a:off x="243000" y="3206975"/>
            <a:ext cx="8443800" cy="18036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How can the above mergesort implementation be improved?</a:t>
            </a:r>
            <a:endParaRPr/>
          </a:p>
          <a:p>
            <a:pPr indent="-342900" lvl="0" marL="457200" rtl="0" algn="l">
              <a:spcBef>
                <a:spcPts val="600"/>
              </a:spcBef>
              <a:spcAft>
                <a:spcPts val="0"/>
              </a:spcAft>
              <a:buSzPts val="1800"/>
              <a:buChar char="●"/>
            </a:pPr>
            <a:r>
              <a:rPr lang="en"/>
              <a:t>Try and avoid making copies a and b, by adding parameters to the merge routine. merge(input, 0, 5, 6, 10);</a:t>
            </a:r>
            <a:endParaRPr/>
          </a:p>
          <a:p>
            <a:pPr indent="-342900" lvl="0" marL="457200" rtl="0" algn="l">
              <a:spcBef>
                <a:spcPts val="0"/>
              </a:spcBef>
              <a:spcAft>
                <a:spcPts val="0"/>
              </a:spcAft>
              <a:buSzPts val="1800"/>
              <a:buChar char="●"/>
            </a:pPr>
            <a:r>
              <a:rPr lang="en"/>
              <a:t>Use a diferent for small N: Like maybe insertion sort. Industrial strength mergesorts, use insertion sort for N &lt; 15.</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9" name="Shape 1379"/>
        <p:cNvGrpSpPr/>
        <p:nvPr/>
      </p:nvGrpSpPr>
      <p:grpSpPr>
        <a:xfrm>
          <a:off x="0" y="0"/>
          <a:ext cx="0" cy="0"/>
          <a:chOff x="0" y="0"/>
          <a:chExt cx="0" cy="0"/>
        </a:xfrm>
      </p:grpSpPr>
      <p:sp>
        <p:nvSpPr>
          <p:cNvPr id="1380" name="Google Shape;1380;p96"/>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Interview Question</a:t>
            </a:r>
            <a:endParaRPr/>
          </a:p>
        </p:txBody>
      </p:sp>
      <p:pic>
        <p:nvPicPr>
          <p:cNvPr id="1381" name="Google Shape;1381;p96"/>
          <p:cNvPicPr preferRelativeResize="0"/>
          <p:nvPr/>
        </p:nvPicPr>
        <p:blipFill>
          <a:blip r:embed="rId3">
            <a:alphaModFix/>
          </a:blip>
          <a:stretch>
            <a:fillRect/>
          </a:stretch>
        </p:blipFill>
        <p:spPr>
          <a:xfrm>
            <a:off x="452550" y="709825"/>
            <a:ext cx="7658100" cy="2495550"/>
          </a:xfrm>
          <a:prstGeom prst="rect">
            <a:avLst/>
          </a:prstGeom>
          <a:noFill/>
          <a:ln>
            <a:noFill/>
          </a:ln>
        </p:spPr>
      </p:pic>
      <p:sp>
        <p:nvSpPr>
          <p:cNvPr id="1382" name="Google Shape;1382;p96"/>
          <p:cNvSpPr txBox="1"/>
          <p:nvPr>
            <p:ph idx="1" type="body"/>
          </p:nvPr>
        </p:nvSpPr>
        <p:spPr>
          <a:xfrm>
            <a:off x="243000" y="3206975"/>
            <a:ext cx="8443800" cy="665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How can the above mergesort implementation be improved?</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6" name="Shape 1386"/>
        <p:cNvGrpSpPr/>
        <p:nvPr/>
      </p:nvGrpSpPr>
      <p:grpSpPr>
        <a:xfrm>
          <a:off x="0" y="0"/>
          <a:ext cx="0" cy="0"/>
          <a:chOff x="0" y="0"/>
          <a:chExt cx="0" cy="0"/>
        </a:xfrm>
      </p:grpSpPr>
      <p:sp>
        <p:nvSpPr>
          <p:cNvPr id="1387" name="Google Shape;1387;p97"/>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Heapsort With Separate PQ</a:t>
            </a:r>
            <a:endParaRPr/>
          </a:p>
        </p:txBody>
      </p:sp>
      <p:sp>
        <p:nvSpPr>
          <p:cNvPr id="1388" name="Google Shape;1388;p97"/>
          <p:cNvSpPr txBox="1"/>
          <p:nvPr>
            <p:ph idx="1" type="body"/>
          </p:nvPr>
        </p:nvSpPr>
        <p:spPr>
          <a:xfrm>
            <a:off x="243000" y="4022400"/>
            <a:ext cx="8443800" cy="6879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Key ideas: Create a max heap of all items [Θ(N log N)], then delete max N times [Θ(log N) per delete]. Requires Θ(N) space.</a:t>
            </a:r>
            <a:endParaRPr/>
          </a:p>
        </p:txBody>
      </p:sp>
      <p:pic>
        <p:nvPicPr>
          <p:cNvPr id="1389" name="Google Shape;1389;p97"/>
          <p:cNvPicPr preferRelativeResize="0"/>
          <p:nvPr/>
        </p:nvPicPr>
        <p:blipFill>
          <a:blip r:embed="rId3">
            <a:alphaModFix/>
          </a:blip>
          <a:stretch>
            <a:fillRect/>
          </a:stretch>
        </p:blipFill>
        <p:spPr>
          <a:xfrm>
            <a:off x="912075" y="714425"/>
            <a:ext cx="7105650" cy="3181350"/>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3" name="Shape 1393"/>
        <p:cNvGrpSpPr/>
        <p:nvPr/>
      </p:nvGrpSpPr>
      <p:grpSpPr>
        <a:xfrm>
          <a:off x="0" y="0"/>
          <a:ext cx="0" cy="0"/>
          <a:chOff x="0" y="0"/>
          <a:chExt cx="0" cy="0"/>
        </a:xfrm>
      </p:grpSpPr>
      <p:sp>
        <p:nvSpPr>
          <p:cNvPr id="1394" name="Google Shape;1394;p98"/>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In-Place Heapsort (with root in position 0).</a:t>
            </a:r>
            <a:endParaRPr/>
          </a:p>
        </p:txBody>
      </p:sp>
      <p:pic>
        <p:nvPicPr>
          <p:cNvPr id="1395" name="Google Shape;1395;p98"/>
          <p:cNvPicPr preferRelativeResize="0"/>
          <p:nvPr/>
        </p:nvPicPr>
        <p:blipFill>
          <a:blip r:embed="rId3">
            <a:alphaModFix/>
          </a:blip>
          <a:stretch>
            <a:fillRect/>
          </a:stretch>
        </p:blipFill>
        <p:spPr>
          <a:xfrm>
            <a:off x="959700" y="662175"/>
            <a:ext cx="7010400" cy="3743325"/>
          </a:xfrm>
          <a:prstGeom prst="rect">
            <a:avLst/>
          </a:prstGeom>
          <a:noFill/>
          <a:ln>
            <a:noFill/>
          </a:ln>
        </p:spPr>
      </p:pic>
      <p:sp>
        <p:nvSpPr>
          <p:cNvPr id="1396" name="Google Shape;1396;p98"/>
          <p:cNvSpPr txBox="1"/>
          <p:nvPr>
            <p:ph idx="1" type="body"/>
          </p:nvPr>
        </p:nvSpPr>
        <p:spPr>
          <a:xfrm>
            <a:off x="243000" y="4426175"/>
            <a:ext cx="8443800" cy="665100"/>
          </a:xfrm>
          <a:prstGeom prst="rect">
            <a:avLst/>
          </a:prstGeom>
        </p:spPr>
        <p:txBody>
          <a:bodyPr anchorCtr="0" anchor="t" bIns="91425" lIns="91425" spcFirstLastPara="1" rIns="91425" wrap="square" tIns="91425">
            <a:noAutofit/>
          </a:bodyPr>
          <a:lstStyle/>
          <a:p>
            <a:pPr indent="0" lvl="0" marL="0" rtl="0" algn="l">
              <a:spcBef>
                <a:spcPts val="600"/>
              </a:spcBef>
              <a:spcAft>
                <a:spcPts val="0"/>
              </a:spcAft>
              <a:buNone/>
            </a:pPr>
            <a:r>
              <a:rPr lang="en"/>
              <a:t>Key ideas: Max-Heapfiy [Θ(N)], then delete max N times [Θ(log N) per delete]</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0" name="Shape 1400"/>
        <p:cNvGrpSpPr/>
        <p:nvPr/>
      </p:nvGrpSpPr>
      <p:grpSpPr>
        <a:xfrm>
          <a:off x="0" y="0"/>
          <a:ext cx="0" cy="0"/>
          <a:chOff x="0" y="0"/>
          <a:chExt cx="0" cy="0"/>
        </a:xfrm>
      </p:grpSpPr>
      <p:sp>
        <p:nvSpPr>
          <p:cNvPr id="1401" name="Google Shape;1401;p99"/>
          <p:cNvSpPr txBox="1"/>
          <p:nvPr>
            <p:ph type="title"/>
          </p:nvPr>
        </p:nvSpPr>
        <p:spPr>
          <a:xfrm>
            <a:off x="0" y="0"/>
            <a:ext cx="85206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In-Place Heapsort Sink Operation (with root in position 0).</a:t>
            </a:r>
            <a:endParaRPr/>
          </a:p>
        </p:txBody>
      </p:sp>
      <p:pic>
        <p:nvPicPr>
          <p:cNvPr id="1402" name="Google Shape;1402;p99"/>
          <p:cNvPicPr preferRelativeResize="0"/>
          <p:nvPr/>
        </p:nvPicPr>
        <p:blipFill>
          <a:blip r:embed="rId3">
            <a:alphaModFix/>
          </a:blip>
          <a:stretch>
            <a:fillRect/>
          </a:stretch>
        </p:blipFill>
        <p:spPr>
          <a:xfrm>
            <a:off x="1319950" y="737975"/>
            <a:ext cx="6504099" cy="42567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