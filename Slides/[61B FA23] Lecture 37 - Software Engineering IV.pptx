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</p:sldIdLst>
  <p:sldSz cy="5143500" cx="9144000"/>
  <p:notesSz cx="6858000" cy="9144000"/>
  <p:embeddedFontLst>
    <p:embeddedFont>
      <p:font typeface="Roboto Medium"/>
      <p:regular r:id="rId54"/>
      <p:bold r:id="rId55"/>
      <p:italic r:id="rId56"/>
      <p:boldItalic r:id="rId57"/>
    </p:embeddedFont>
    <p:embeddedFont>
      <p:font typeface="Roboto"/>
      <p:regular r:id="rId58"/>
      <p:bold r:id="rId59"/>
      <p:italic r:id="rId60"/>
      <p:boldItalic r:id="rId61"/>
    </p:embeddedFont>
    <p:embeddedFont>
      <p:font typeface="Roboto Light"/>
      <p:regular r:id="rId62"/>
      <p:bold r:id="rId63"/>
      <p:italic r:id="rId64"/>
      <p:boldItalic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font" Target="fonts/RobotoLight-regular.fntdata"/><Relationship Id="rId61" Type="http://schemas.openxmlformats.org/officeDocument/2006/relationships/font" Target="fonts/Roboto-boldItalic.fntdata"/><Relationship Id="rId20" Type="http://schemas.openxmlformats.org/officeDocument/2006/relationships/slide" Target="slides/slide16.xml"/><Relationship Id="rId64" Type="http://schemas.openxmlformats.org/officeDocument/2006/relationships/font" Target="fonts/RobotoLight-italic.fntdata"/><Relationship Id="rId63" Type="http://schemas.openxmlformats.org/officeDocument/2006/relationships/font" Target="fonts/RobotoLight-bold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65" Type="http://schemas.openxmlformats.org/officeDocument/2006/relationships/font" Target="fonts/RobotoLight-boldItalic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font" Target="fonts/Roboto-italic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font" Target="fonts/RobotoMedium-bold.fntdata"/><Relationship Id="rId10" Type="http://schemas.openxmlformats.org/officeDocument/2006/relationships/slide" Target="slides/slide6.xml"/><Relationship Id="rId54" Type="http://schemas.openxmlformats.org/officeDocument/2006/relationships/font" Target="fonts/RobotoMedium-regular.fntdata"/><Relationship Id="rId13" Type="http://schemas.openxmlformats.org/officeDocument/2006/relationships/slide" Target="slides/slide9.xml"/><Relationship Id="rId57" Type="http://schemas.openxmlformats.org/officeDocument/2006/relationships/font" Target="fonts/RobotoMedium-boldItalic.fntdata"/><Relationship Id="rId12" Type="http://schemas.openxmlformats.org/officeDocument/2006/relationships/slide" Target="slides/slide8.xml"/><Relationship Id="rId56" Type="http://schemas.openxmlformats.org/officeDocument/2006/relationships/font" Target="fonts/RobotoMedium-italic.fntdata"/><Relationship Id="rId15" Type="http://schemas.openxmlformats.org/officeDocument/2006/relationships/slide" Target="slides/slide11.xml"/><Relationship Id="rId59" Type="http://schemas.openxmlformats.org/officeDocument/2006/relationships/font" Target="fonts/Roboto-bold.fntdata"/><Relationship Id="rId14" Type="http://schemas.openxmlformats.org/officeDocument/2006/relationships/slide" Target="slides/slide10.xml"/><Relationship Id="rId58" Type="http://schemas.openxmlformats.org/officeDocument/2006/relationships/font" Target="fonts/Roboto-regular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2d59950151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2d59950151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58d7c8036c_1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58d7c8036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2d59950151_0_28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2d59950151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58d7c8036c_1_11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58d7c8036c_1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transition - games are fun, but what if you want to take the step further and develop games as a hobby?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61b1633ab6_0_3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61b1633ab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section could be at the very beginning before Programmer Perspective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61b1633ab6_0_4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61b1633ab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want to have a game that is addictive, you probably want … go to next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9bcf3eccf2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9bcf3ecc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61c51b7b91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61c51b7b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Introduce the concept of an “ante-piece” first room introduce how the mechanics work. want meaningful reward - segues into next part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61cf86431c_0_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61cf86431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Introduce the concept of an “ante-piece” first room introduce how the mechanics work. want meaningful reward - segues into next part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61cf86431c_0_1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61cf86431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Introduce the concept of an “ante-piece” first room introduce how the mechanics work. want meaningful reward - segues into next part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61b1633ab6_0_5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61b1633ab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positive feedback more for competitive games, negative feedback more for party games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61b1633ab6_0_5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61b1633ab6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other problem - once you played through it once, knows everything about the game. follows the exact same;</a:t>
            </a:r>
            <a:br>
              <a:rPr lang="en"/>
            </a:br>
            <a:r>
              <a:rPr lang="en"/>
              <a:t>Flappy Bird died down quick because game is too predictable;</a:t>
            </a:r>
            <a:br>
              <a:rPr lang="en"/>
            </a:br>
            <a:r>
              <a:rPr lang="en"/>
              <a:t>With rogue-like games you can lose because you are too unlucky, the strategy is to increase your likelihood of winning.</a:t>
            </a:r>
            <a:br>
              <a:rPr lang="en"/>
            </a:br>
            <a:r>
              <a:rPr lang="en"/>
              <a:t>If not rogue-like, can add new content, or add randomness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9bd863f4f3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9bd863f4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60825d5cb4_0_1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60825d5cb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 to be here around the 15 min mark (~2:25 pm)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94b6be2b49_0_1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94b6be2b4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60825d5cb4_0_5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60825d5cb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60825d5cb4_0_6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60825d5cb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60825d5cb4_0_6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60825d5cb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might want to discuss paper prototyping briefly here.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6025568b36_0_1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6025568b3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White slides: </a:t>
            </a:r>
            <a:r>
              <a:rPr lang="en">
                <a:solidFill>
                  <a:schemeClr val="dk1"/>
                </a:solidFill>
              </a:rPr>
              <a:t>might be useful if you do game dev in the future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Blue slides: </a:t>
            </a:r>
            <a:r>
              <a:rPr lang="en">
                <a:solidFill>
                  <a:schemeClr val="dk1"/>
                </a:solidFill>
              </a:rPr>
              <a:t>more relevant to BYOW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and mention in the beginning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615f88e19b_1_10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615f88e19b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show it to other people - get other friends, people you </a:t>
            </a:r>
            <a:r>
              <a:rPr b="1" lang="en"/>
              <a:t>don’t know </a:t>
            </a:r>
            <a:r>
              <a:rPr lang="en"/>
              <a:t>to play it.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615f88e19b_1_11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615f88e19b_1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Releasing to the public (you get feedback, you go to Discord etc.)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615f88e19b_1_11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615f88e19b_1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“Enderdragon” part is specific to Minecraft </a:t>
            </a:r>
            <a:br>
              <a:rPr lang="en"/>
            </a:br>
            <a:r>
              <a:rPr lang="en"/>
              <a:t>When you make your game, you get do decide when you go to full release</a:t>
            </a:r>
            <a:br>
              <a:rPr lang="en"/>
            </a:br>
            <a:r>
              <a:rPr lang="en"/>
              <a:t>(no clear distinction between Beta and Official? maybe when developer decides they want to announce)</a:t>
            </a:r>
            <a:br>
              <a:rPr lang="en"/>
            </a:b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6025568b36_0_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6025568b3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61cf86431c_0_2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61cf86431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Aim to be here at around 2:30pm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9cc8aba64e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9cc8aba6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 up some pokemon pictures (up to gen 6), one for world, one for encounter, give students a better idea. 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5cdd0d847e_0_1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25cdd0d847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9bcf3eccf2_0_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9bcf3eccf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61b1633ab6_0_2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261b1633ab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distinction with “stage”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9bd863f4f3_0_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29bd863f4f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another issue with this approach: impossible to transition between different stages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61b1633ab6_0_1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261b1633ab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this is impossible to transition between 3 states back and forth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9bddc4db54_0_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29bddc4db5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61b1633ab6_0_1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261b1633ab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9bddc4db54_0_2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29bddc4db5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insert flappy bird video but not strictly necessary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9bddc4db54_0_3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29bddc4db5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 with directed graphs: nodes are states, edges are the transitions, and you have a current stage.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9bddc4db54_0_3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29bddc4db5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29bddc4db54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29bddc4db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9bddc4db54_0_8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29bddc4db54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 update should take in parameters of keyboard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5cdd0d847e_0_2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25cdd0d847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5cdd0d847e_0_2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25cdd0d847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 more to the previous section “if you want unity to do this… it does it for you”, when you work with Unity, define what types of objects you want.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9b827cc514_0_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29b827cc51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 to previous section - notice Unity Update() does not take in which keys you pressed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2615f88e19b_0_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2615f88e19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“e.g., if you make enemies, don’t make multiple of them, just make one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261cf86431c_0_3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261cf86431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 here at around 2:48pm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94b6be2b49_0_1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294b6be2b4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sorts of fan-based modding communities (osu!, super mario world), you don’t want to make the levels so just let the players make the levels!</a:t>
            </a:r>
            <a:br>
              <a:rPr lang="en"/>
            </a:br>
            <a:r>
              <a:rPr lang="en"/>
              <a:t>A lot of modders -&gt; mario maker</a:t>
            </a:r>
            <a:br>
              <a:rPr lang="en"/>
            </a:br>
            <a:r>
              <a:rPr lang="en"/>
              <a:t>setup connections to the real world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261b1633ab6_0_6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261b1633ab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261cf86431c_0_5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261cf86431c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29b827cc514_0_2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29b827cc51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“some of you might be thinking, is this legal, is this allowed?”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294b6be2b49_0_2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294b6be2b4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22d59950151_0_49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22d59950151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29b827cc514_0_1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29b827cc51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 here at around 2:55pm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" name="Google Shape;22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blue">
  <p:cSld name="TITLE_AND_BODY_1">
    <p:bg>
      <p:bgPr>
        <a:solidFill>
          <a:schemeClr val="lt2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7" name="Google Shape;27;p5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32" name="Google Shape;3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6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34" name="Google Shape;34;p6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" name="Google Shape;35;p6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7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3" name="Google Shape;43;p7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8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" name="Google Shape;47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0" name="Google Shape;50;p8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1" name="Google Shape;5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6" name="Google Shape;56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7" name="Google Shape;57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8" name="Google Shape;58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9" name="Google Shape;5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9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5" name="Google Shape;65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" name="Google Shape;66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8" name="Google Shape;68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1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4" name="Google Shape;74;p11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1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7" name="Google Shape;77;p11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4" name="Google Shape;84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" name="Google Shape;85;p12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9" name="Google Shape;89;p13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2" name="Google Shape;9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6" name="Google Shape;96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7" name="Google Shape;9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15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6"/>
          <p:cNvSpPr txBox="1"/>
          <p:nvPr>
            <p:ph type="title"/>
          </p:nvPr>
        </p:nvSpPr>
        <p:spPr>
          <a:xfrm>
            <a:off x="95425" y="4382350"/>
            <a:ext cx="842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cxnSp>
        <p:nvCxnSpPr>
          <p:cNvPr id="102" name="Google Shape;102;p16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11" name="Google Shape;111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13" name="Google Shape;113;p19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" name="Google Shape;114;p19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8" name="Google Shape;118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9" name="Google Shape;119;p2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7" name="Google Shape;127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22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22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4" name="Google Shape;134;p22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35" name="Google Shape;135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8" name="Google Shape;13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24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24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irclecly.itch.io/" TargetMode="External"/><Relationship Id="rId4" Type="http://schemas.openxmlformats.org/officeDocument/2006/relationships/image" Target="../media/image2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ctrTitle"/>
          </p:nvPr>
        </p:nvSpPr>
        <p:spPr>
          <a:xfrm>
            <a:off x="311700" y="1658975"/>
            <a:ext cx="8709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3"/>
                </a:solidFill>
              </a:rPr>
              <a:t>Software Engineering IV</a:t>
            </a:r>
            <a:endParaRPr sz="3600">
              <a:solidFill>
                <a:schemeClr val="accent3"/>
              </a:solidFill>
            </a:endParaRPr>
          </a:p>
        </p:txBody>
      </p:sp>
      <p:sp>
        <p:nvSpPr>
          <p:cNvPr id="150" name="Google Shape;150;p25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37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51" name="Google Shape;15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" name="Google Shape;152;p25"/>
          <p:cNvSpPr txBox="1"/>
          <p:nvPr/>
        </p:nvSpPr>
        <p:spPr>
          <a:xfrm>
            <a:off x="311700" y="3854350"/>
            <a:ext cx="8520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CS61B, Fall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 202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3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 @ UC Berkeley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Circle Chen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53" name="Google Shape;153;p25"/>
          <p:cNvPicPr preferRelativeResize="0"/>
          <p:nvPr/>
        </p:nvPicPr>
        <p:blipFill rotWithShape="1">
          <a:blip r:embed="rId3">
            <a:alphaModFix/>
          </a:blip>
          <a:srcRect b="16015" l="34678" r="0" t="10552"/>
          <a:stretch/>
        </p:blipFill>
        <p:spPr>
          <a:xfrm>
            <a:off x="5529650" y="269525"/>
            <a:ext cx="3302652" cy="2593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Myself - Liangyuan (Circle) Chen</a:t>
            </a:r>
            <a:endParaRPr/>
          </a:p>
        </p:txBody>
      </p:sp>
      <p:sp>
        <p:nvSpPr>
          <p:cNvPr id="159" name="Google Shape;159;p26"/>
          <p:cNvSpPr txBox="1"/>
          <p:nvPr>
            <p:ph idx="1" type="body"/>
          </p:nvPr>
        </p:nvSpPr>
        <p:spPr>
          <a:xfrm>
            <a:off x="107050" y="402200"/>
            <a:ext cx="883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am a junior studying CS and DS.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I’m from Shenzhen, China.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will be my 5-th time teaching this course (including twice in the summer).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create and play games, and enjoy listening to game soundtracks.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Itch profile: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https://circlecly.itch.io/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26"/>
          <p:cNvPicPr preferRelativeResize="0"/>
          <p:nvPr/>
        </p:nvPicPr>
        <p:blipFill rotWithShape="1">
          <a:blip r:embed="rId4">
            <a:alphaModFix/>
          </a:blip>
          <a:srcRect b="0" l="8935" r="8935" t="0"/>
          <a:stretch/>
        </p:blipFill>
        <p:spPr>
          <a:xfrm>
            <a:off x="3315550" y="2568413"/>
            <a:ext cx="2103600" cy="21036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37, CS61B, Fall 2023</a:t>
            </a:r>
            <a:endParaRPr/>
          </a:p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Game Development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/>
              <a:t>Programmer Perspective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High-level Perspective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/>
              <a:t>Designing Good Game Mechanics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Game Modding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167" name="Google Shape;167;p2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Game Development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Indie </a:t>
            </a:r>
            <a:r>
              <a:rPr lang="en"/>
              <a:t>Game Development</a:t>
            </a:r>
            <a:endParaRPr/>
          </a:p>
        </p:txBody>
      </p:sp>
      <p:sp>
        <p:nvSpPr>
          <p:cNvPr id="173" name="Google Shape;173;p28"/>
          <p:cNvSpPr txBox="1"/>
          <p:nvPr>
            <p:ph idx="1" type="body"/>
          </p:nvPr>
        </p:nvSpPr>
        <p:spPr>
          <a:xfrm>
            <a:off x="107050" y="402200"/>
            <a:ext cx="7785300" cy="44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Almost every introductory CS course involves building games.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CS 61A (Hog, Ants)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CS 61B (2048, BYOW)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do this because games are fun.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you liked making games and want to make this a hobby?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Today I’ll go over what indie game development is like.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Indie means “independent”. 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Contrast to working at game companies like Riot and Blizzard.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No deadlines, do whatever you want, but can still be demanding.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About background colors of slides: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Blue slides might be useful for BYOW.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White slides are important for future game development.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37, CS61B, Fall 2023</a:t>
            </a:r>
            <a:endParaRPr/>
          </a:p>
        </p:txBody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Game Development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Designing A Good Game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</a:t>
            </a:r>
            <a:r>
              <a:rPr lang="en"/>
              <a:t>Programmer Perspective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</a:t>
            </a:r>
            <a:r>
              <a:rPr lang="en"/>
              <a:t>High-level Perspective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Game Modding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180" name="Google Shape;180;p29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Designing A Good Game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design a good game?</a:t>
            </a:r>
            <a:endParaRPr/>
          </a:p>
        </p:txBody>
      </p:sp>
      <p:sp>
        <p:nvSpPr>
          <p:cNvPr id="186" name="Google Shape;186;p30"/>
          <p:cNvSpPr txBox="1"/>
          <p:nvPr>
            <p:ph idx="1" type="body"/>
          </p:nvPr>
        </p:nvSpPr>
        <p:spPr>
          <a:xfrm>
            <a:off x="107050" y="402200"/>
            <a:ext cx="862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Project 3 Phase A &amp; B, you created random worlds and enabled the player to move in the world using keyboards.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Project 3 Phase C involves adding features to make it more like a game.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key question: how should you design a good game?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good game should engage the player …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or even be addictive.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How to design a good game?</a:t>
            </a:r>
            <a:endParaRPr/>
          </a:p>
        </p:txBody>
      </p:sp>
      <p:sp>
        <p:nvSpPr>
          <p:cNvPr id="192" name="Google Shape;192;p31"/>
          <p:cNvSpPr txBox="1"/>
          <p:nvPr>
            <p:ph idx="1" type="body"/>
          </p:nvPr>
        </p:nvSpPr>
        <p:spPr>
          <a:xfrm>
            <a:off x="107050" y="402200"/>
            <a:ext cx="862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Like Flappy Bird!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player only need to tap the screen.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But extremely hard to time correctly.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 general, you want mechanics that are </a:t>
            </a:r>
            <a:r>
              <a:rPr b="1" lang="en"/>
              <a:t>easy to learn, but hard to master</a:t>
            </a:r>
            <a:r>
              <a:rPr lang="en"/>
              <a:t>.</a:t>
            </a:r>
            <a:endParaRPr/>
          </a:p>
        </p:txBody>
      </p:sp>
      <p:pic>
        <p:nvPicPr>
          <p:cNvPr id="193" name="Google Shape;19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8537" y="2422875"/>
            <a:ext cx="3839325" cy="2466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How to design a good game?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2"/>
          <p:cNvSpPr txBox="1"/>
          <p:nvPr>
            <p:ph idx="1" type="body"/>
          </p:nvPr>
        </p:nvSpPr>
        <p:spPr>
          <a:xfrm>
            <a:off x="107050" y="402200"/>
            <a:ext cx="862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what if my game mechanism is inherently complicated?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Want the player to “learn” the mechanism gradually.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Also want “show, don’t tell.”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concept of an </a:t>
            </a:r>
            <a:r>
              <a:rPr b="1" lang="en"/>
              <a:t>antepiece</a:t>
            </a:r>
            <a:r>
              <a:rPr lang="en"/>
              <a:t> is useful.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Antepiece: an innocuous task that precedes a big challenge, that hints you at how you could tackle the big challenge.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Let’s take a look at an example from the game “Portal”.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How to design a good game?</a:t>
            </a:r>
            <a:endParaRPr/>
          </a:p>
        </p:txBody>
      </p:sp>
      <p:pic>
        <p:nvPicPr>
          <p:cNvPr id="205" name="Google Shape;20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2700" y="527200"/>
            <a:ext cx="5195211" cy="444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How to design a good game?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1" name="Google Shape;21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7550" y="498975"/>
            <a:ext cx="4565488" cy="444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How to design a good game?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5"/>
          <p:cNvSpPr txBox="1"/>
          <p:nvPr>
            <p:ph idx="1" type="body"/>
          </p:nvPr>
        </p:nvSpPr>
        <p:spPr>
          <a:xfrm>
            <a:off x="107050" y="402200"/>
            <a:ext cx="8622300" cy="45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only having an antepiece to help players learn might not be enough.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player needs motivation to learn to perform all tasks.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Hence we also need </a:t>
            </a:r>
            <a:r>
              <a:rPr b="1" lang="en"/>
              <a:t>feedback.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Positive feedback: when player does well, game is easier (and vice versa).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Why? Players should be rewarded for doing well.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Ex. Kill more players in League of Legends -&gt; more gold for power-ups.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What are some problems if positive feedback is too strong in a game? What if it’s too weak?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Negative feedback: when player does well, game is harder (and vice versa).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Why? Players should not fall too far behind.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Ex. If you are 1st in Mario Kart, you get the worst items.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What are some problems if negative feedback is too strong in a game? What if it’s too weak?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How to design a good game?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6"/>
          <p:cNvSpPr txBox="1"/>
          <p:nvPr>
            <p:ph idx="1" type="body"/>
          </p:nvPr>
        </p:nvSpPr>
        <p:spPr>
          <a:xfrm>
            <a:off x="107050" y="402200"/>
            <a:ext cx="862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Speaking of motivation, there’s one other problem: player knows everything after a successful run, so game becomes boring.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Hence, you need </a:t>
            </a:r>
            <a:r>
              <a:rPr b="1" lang="en"/>
              <a:t>v</a:t>
            </a:r>
            <a:r>
              <a:rPr b="1" lang="en"/>
              <a:t>ariability of game experience</a:t>
            </a:r>
            <a:endParaRPr b="1"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You can either “randomize” each run, like in Binding of Isaac, where everything (items, enemies, etc.) is random.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Or you could just keep adding new content.</a:t>
            </a:r>
            <a:endParaRPr/>
          </a:p>
        </p:txBody>
      </p:sp>
      <p:pic>
        <p:nvPicPr>
          <p:cNvPr id="224" name="Google Shape;22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575" y="2617375"/>
            <a:ext cx="2058575" cy="204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14600" y="2595625"/>
            <a:ext cx="4819702" cy="2087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Interactive Question</a:t>
            </a:r>
            <a:endParaRPr/>
          </a:p>
        </p:txBody>
      </p:sp>
      <p:sp>
        <p:nvSpPr>
          <p:cNvPr id="231" name="Google Shape;231;p3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</a:t>
            </a:r>
            <a:r>
              <a:rPr lang="en"/>
              <a:t>hat elements would you add to BYOW to make it a good game?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Tutorial Levels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Tower Defense with Fog of War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Some type of task or goal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Win and Loss condition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Zombies that get faster the longer you play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37, CS61B, Fall 2023</a:t>
            </a:r>
            <a:endParaRPr/>
          </a:p>
        </p:txBody>
      </p:sp>
      <p:sp>
        <p:nvSpPr>
          <p:cNvPr id="237" name="Google Shape;237;p3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Game Development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Designing a Good Game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</a:t>
            </a: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The Game Development Pipeline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/>
              <a:t> Programmer Perspective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Game Modding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238" name="Google Shape;238;p3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The Game Development Pipeline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pipeline for making a game</a:t>
            </a:r>
            <a:endParaRPr/>
          </a:p>
        </p:txBody>
      </p:sp>
      <p:sp>
        <p:nvSpPr>
          <p:cNvPr id="244" name="Google Shape;244;p39"/>
          <p:cNvSpPr txBox="1"/>
          <p:nvPr>
            <p:ph idx="1" type="body"/>
          </p:nvPr>
        </p:nvSpPr>
        <p:spPr>
          <a:xfrm>
            <a:off x="107050" y="402200"/>
            <a:ext cx="8857200" cy="41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Say you designed some good game mechanics. How do you actually turn it into the final product?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need to work with people on your team: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Designers</a:t>
            </a:r>
            <a:endParaRPr/>
          </a:p>
          <a:p>
            <a:pPr indent="-342900" lvl="2" marL="1371600" rtl="0" algn="l">
              <a:spcBef>
                <a:spcPts val="60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High level idea, level-design, plot, etc.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Artists / Musicians</a:t>
            </a:r>
            <a:endParaRPr/>
          </a:p>
          <a:p>
            <a:pPr indent="-342900" lvl="2" marL="1371600" rtl="0" algn="l">
              <a:spcBef>
                <a:spcPts val="60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Animations, sprites, music, sound effects (SFX)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Programmers</a:t>
            </a:r>
            <a:endParaRPr/>
          </a:p>
          <a:p>
            <a:pPr indent="-342900" lvl="2" marL="1371600" rtl="0" algn="l">
              <a:spcBef>
                <a:spcPts val="60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Code everything up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Testers</a:t>
            </a:r>
            <a:endParaRPr/>
          </a:p>
          <a:p>
            <a:pPr indent="-342900" lvl="2" marL="1371600" rtl="0" algn="l">
              <a:spcBef>
                <a:spcPts val="60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Find glitches in the game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pipeline for making a game</a:t>
            </a:r>
            <a:endParaRPr/>
          </a:p>
        </p:txBody>
      </p:sp>
      <p:sp>
        <p:nvSpPr>
          <p:cNvPr id="250" name="Google Shape;250;p40"/>
          <p:cNvSpPr txBox="1"/>
          <p:nvPr>
            <p:ph idx="1" type="body"/>
          </p:nvPr>
        </p:nvSpPr>
        <p:spPr>
          <a:xfrm>
            <a:off x="107050" y="402200"/>
            <a:ext cx="8753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general process was: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You start with an idea.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Then you create paper-prototypes.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Then you create a Minimum Viable Product (MVP).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You iteratively improve your game, going through alpha -&gt; beta -&gt; release.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We’ll take Minecraft as an example.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pipeline for making a game - Idea</a:t>
            </a:r>
            <a:endParaRPr/>
          </a:p>
        </p:txBody>
      </p:sp>
      <p:sp>
        <p:nvSpPr>
          <p:cNvPr id="256" name="Google Shape;256;p41"/>
          <p:cNvSpPr txBox="1"/>
          <p:nvPr>
            <p:ph idx="1" type="body"/>
          </p:nvPr>
        </p:nvSpPr>
        <p:spPr>
          <a:xfrm>
            <a:off x="107050" y="402200"/>
            <a:ext cx="8753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Minecraft was inspired by games like Dwarf Fortress and Infiniminer.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ideas include: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 block-based world.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Creativity (the player can do whatever they want in the world).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Randomly generated worlds.</a:t>
            </a:r>
            <a:endParaRPr/>
          </a:p>
        </p:txBody>
      </p:sp>
      <p:pic>
        <p:nvPicPr>
          <p:cNvPr id="257" name="Google Shape;25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0462" y="2573325"/>
            <a:ext cx="3426875" cy="257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pipeline for making a game - Paper Prototype</a:t>
            </a:r>
            <a:endParaRPr/>
          </a:p>
        </p:txBody>
      </p:sp>
      <p:sp>
        <p:nvSpPr>
          <p:cNvPr id="263" name="Google Shape;263;p42"/>
          <p:cNvSpPr txBox="1"/>
          <p:nvPr>
            <p:ph idx="1" type="body"/>
          </p:nvPr>
        </p:nvSpPr>
        <p:spPr>
          <a:xfrm>
            <a:off x="107050" y="402200"/>
            <a:ext cx="8520600" cy="41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paper prototype describes the game on paper.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purpose: discuss and develop the details of the game internally without the need to write code.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Couldn’t find Minecraft paper prototype images, but here’s the paper prototype for Binding of Isaac, which I mentioned briefly before.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1825" y="2128650"/>
            <a:ext cx="2184125" cy="291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6175" y="2128639"/>
            <a:ext cx="2184125" cy="2911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MVP (May 13 - 17, 2009)</a:t>
            </a:r>
            <a:endParaRPr/>
          </a:p>
        </p:txBody>
      </p:sp>
      <p:sp>
        <p:nvSpPr>
          <p:cNvPr id="271" name="Google Shape;271;p43"/>
          <p:cNvSpPr txBox="1"/>
          <p:nvPr>
            <p:ph idx="1" type="body"/>
          </p:nvPr>
        </p:nvSpPr>
        <p:spPr>
          <a:xfrm>
            <a:off x="107050" y="402200"/>
            <a:ext cx="841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very bare-bones version of the game, but still playable.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purpose is to show “Hey, this idea works, I’ve implemented it in code!”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Minecraft: No monsters, no health, only grass blocks and cobblestone.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WASD move around, Left click to place blocks, right click to destroy.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BYOW would most likely top up at this stage.</a:t>
            </a:r>
            <a:endParaRPr/>
          </a:p>
        </p:txBody>
      </p:sp>
      <p:pic>
        <p:nvPicPr>
          <p:cNvPr id="272" name="Google Shape;27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9000" y="2465000"/>
            <a:ext cx="3186000" cy="2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Alpha </a:t>
            </a:r>
            <a:r>
              <a:rPr lang="en">
                <a:solidFill>
                  <a:schemeClr val="accent3"/>
                </a:solidFill>
              </a:rPr>
              <a:t>(May 2009 - Dec 2010)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44"/>
          <p:cNvSpPr txBox="1"/>
          <p:nvPr>
            <p:ph idx="1" type="body"/>
          </p:nvPr>
        </p:nvSpPr>
        <p:spPr>
          <a:xfrm>
            <a:off x="107050" y="402200"/>
            <a:ext cx="841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purpose of this stage is to show the game to a larger audience than the developers, including friends and other people you don’t know.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Minecraft, this is when we have nether, multiplayer, fishing, etc.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Still missing a lot of features from modern MC: notice no hunger bar below!</a:t>
            </a:r>
            <a:endParaRPr/>
          </a:p>
        </p:txBody>
      </p:sp>
      <p:pic>
        <p:nvPicPr>
          <p:cNvPr id="279" name="Google Shape;279;p44"/>
          <p:cNvPicPr preferRelativeResize="0"/>
          <p:nvPr/>
        </p:nvPicPr>
        <p:blipFill rotWithShape="1">
          <a:blip r:embed="rId3">
            <a:alphaModFix/>
          </a:blip>
          <a:srcRect b="0" l="0" r="0" t="6533"/>
          <a:stretch/>
        </p:blipFill>
        <p:spPr>
          <a:xfrm>
            <a:off x="1738351" y="2005600"/>
            <a:ext cx="5667300" cy="297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Beta </a:t>
            </a:r>
            <a:r>
              <a:rPr lang="en">
                <a:solidFill>
                  <a:schemeClr val="accent3"/>
                </a:solidFill>
              </a:rPr>
              <a:t>(May 2010 - Nov 2011)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45"/>
          <p:cNvSpPr txBox="1"/>
          <p:nvPr>
            <p:ph idx="1" type="body"/>
          </p:nvPr>
        </p:nvSpPr>
        <p:spPr>
          <a:xfrm>
            <a:off x="107050" y="402200"/>
            <a:ext cx="841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purpose of this game is a preliminary release to the public.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Minecraft, we now have both creative mode and survival mode.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have different weather, more biomes, and a hunger bar.</a:t>
            </a:r>
            <a:endParaRPr/>
          </a:p>
        </p:txBody>
      </p:sp>
      <p:pic>
        <p:nvPicPr>
          <p:cNvPr id="286" name="Google Shape;28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138" y="1783425"/>
            <a:ext cx="5407726" cy="303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138" y="1783425"/>
            <a:ext cx="5407726" cy="303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Release (Nov 18, 2011)</a:t>
            </a:r>
            <a:endParaRPr/>
          </a:p>
        </p:txBody>
      </p:sp>
      <p:sp>
        <p:nvSpPr>
          <p:cNvPr id="293" name="Google Shape;293;p46"/>
          <p:cNvSpPr txBox="1"/>
          <p:nvPr>
            <p:ph idx="1" type="body"/>
          </p:nvPr>
        </p:nvSpPr>
        <p:spPr>
          <a:xfrm>
            <a:off x="107100" y="393600"/>
            <a:ext cx="841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 some point, you decide that “OK, this game is official”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Portal “Still Alive” lyrics: “And we’re out of beta, we’re releasing on time.”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cutoff between beta and release can be blurry.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MC, this is when you can “beat the game” by defeating the Ender Dragon!</a:t>
            </a:r>
            <a:endParaRPr/>
          </a:p>
        </p:txBody>
      </p:sp>
      <p:pic>
        <p:nvPicPr>
          <p:cNvPr id="294" name="Google Shape;29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6112" y="2150175"/>
            <a:ext cx="4951775" cy="262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final release</a:t>
            </a:r>
            <a:endParaRPr/>
          </a:p>
        </p:txBody>
      </p:sp>
      <p:sp>
        <p:nvSpPr>
          <p:cNvPr id="300" name="Google Shape;300;p47"/>
          <p:cNvSpPr txBox="1"/>
          <p:nvPr>
            <p:ph idx="1" type="body"/>
          </p:nvPr>
        </p:nvSpPr>
        <p:spPr>
          <a:xfrm>
            <a:off x="107050" y="402200"/>
            <a:ext cx="862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game is still under development even after the official release.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Developers polish the game, patch bugs, and gather user feedback.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Minecraft receives version updates every now and then, when I started playing it was 1.4.7, now it is 1.20.2.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Contents like shulker boxes, netherites added in.</a:t>
            </a:r>
            <a:endParaRPr/>
          </a:p>
        </p:txBody>
      </p:sp>
      <p:pic>
        <p:nvPicPr>
          <p:cNvPr id="301" name="Google Shape;30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5625" y="2355000"/>
            <a:ext cx="6252752" cy="2544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37, CS61B, Fall 2023</a:t>
            </a:r>
            <a:endParaRPr/>
          </a:p>
        </p:txBody>
      </p:sp>
      <p:sp>
        <p:nvSpPr>
          <p:cNvPr id="307" name="Google Shape;307;p4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Game Development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Designing a Good Game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lang="en"/>
              <a:t> The Game Development Pipeline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Programmer Perspective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Game Modding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308" name="Google Shape;308;p4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Programmer Perspective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up games from scratch</a:t>
            </a:r>
            <a:endParaRPr/>
          </a:p>
        </p:txBody>
      </p:sp>
      <p:sp>
        <p:nvSpPr>
          <p:cNvPr id="314" name="Google Shape;314;p4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We’ve talked about how games are made in general, but now we want to dive into how to code in games.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Let’s say your goal is to design a version of BYOW with encounters, similar to encounter systems in Pokemon.</a:t>
            </a:r>
            <a:endParaRPr/>
          </a:p>
        </p:txBody>
      </p:sp>
      <p:pic>
        <p:nvPicPr>
          <p:cNvPr id="315" name="Google Shape;31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625" y="1952750"/>
            <a:ext cx="4149050" cy="275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7292" y="1952750"/>
            <a:ext cx="3673308" cy="275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up games from scratch</a:t>
            </a:r>
            <a:endParaRPr/>
          </a:p>
        </p:txBody>
      </p:sp>
      <p:sp>
        <p:nvSpPr>
          <p:cNvPr id="322" name="Google Shape;322;p5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Let’s revisit how the basic BYOW works: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while loop, you would: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</a:t>
            </a:r>
            <a:r>
              <a:rPr lang="en"/>
              <a:t>rocess user input (Checks for W, A, S, D)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Update the game universe (Move avatars)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Render the current state to the user (Calls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ter.renderFrame(tiles);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also wait for a bit until it is time to render the next frame.</a:t>
            </a:r>
            <a:endParaRPr/>
          </a:p>
        </p:txBody>
      </p:sp>
      <p:sp>
        <p:nvSpPr>
          <p:cNvPr id="323" name="Google Shape;323;p50"/>
          <p:cNvSpPr txBox="1"/>
          <p:nvPr/>
        </p:nvSpPr>
        <p:spPr>
          <a:xfrm>
            <a:off x="2912800" y="4679750"/>
            <a:ext cx="28020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Image Credit: gameprogrammingpatterns.com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4" name="Google Shape;32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1638" y="2657125"/>
            <a:ext cx="6340724" cy="207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up games from scratch - keeping the code clean</a:t>
            </a:r>
            <a:endParaRPr/>
          </a:p>
        </p:txBody>
      </p:sp>
      <p:sp>
        <p:nvSpPr>
          <p:cNvPr id="330" name="Google Shape;330;p5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our BYoW with encounters: there exists different scenes.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Start at the main menu.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Press N -&gt; “enter seed” </a:t>
            </a:r>
            <a:r>
              <a:rPr lang="en"/>
              <a:t>scene</a:t>
            </a:r>
            <a:r>
              <a:rPr lang="en"/>
              <a:t>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Press S -&gt; “world” </a:t>
            </a:r>
            <a:r>
              <a:rPr lang="en"/>
              <a:t>scene</a:t>
            </a:r>
            <a:r>
              <a:rPr lang="en"/>
              <a:t>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“Encounter” </a:t>
            </a:r>
            <a:r>
              <a:rPr lang="en"/>
              <a:t>scene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Problem: Each </a:t>
            </a:r>
            <a:r>
              <a:rPr lang="en"/>
              <a:t>scene </a:t>
            </a:r>
            <a:r>
              <a:rPr lang="en"/>
              <a:t>will have different things to “update”.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you are in the “world” </a:t>
            </a:r>
            <a:r>
              <a:rPr lang="en"/>
              <a:t>scene</a:t>
            </a:r>
            <a:r>
              <a:rPr lang="en"/>
              <a:t>, you should render blocks. Also need to process WASD.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you are in the “encounter” </a:t>
            </a:r>
            <a:r>
              <a:rPr lang="en"/>
              <a:t>scene</a:t>
            </a:r>
            <a:r>
              <a:rPr lang="en"/>
              <a:t>, you don’t want to render tiles, but the actual encounter. Might want to enable WASD but might also not.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up games from scratch - keeping the code clean</a:t>
            </a:r>
            <a:endParaRPr/>
          </a:p>
        </p:txBody>
      </p:sp>
      <p:sp>
        <p:nvSpPr>
          <p:cNvPr id="336" name="Google Shape;336;p5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Our g</a:t>
            </a:r>
            <a:r>
              <a:rPr lang="en"/>
              <a:t>oals: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Make game loop do different things in different </a:t>
            </a:r>
            <a:r>
              <a:rPr lang="en"/>
              <a:t>scenes </a:t>
            </a:r>
            <a:r>
              <a:rPr lang="en"/>
              <a:t>correctly.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Adding any new </a:t>
            </a:r>
            <a:r>
              <a:rPr lang="en"/>
              <a:t>scene </a:t>
            </a:r>
            <a:r>
              <a:rPr lang="en"/>
              <a:t>should be relatively easy.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Code structure should be as “neat” as possible.</a:t>
            </a:r>
            <a:endParaRPr/>
          </a:p>
          <a:p>
            <a:pPr indent="-342900" lvl="2" marL="1371600" rtl="0" algn="l">
              <a:spcBef>
                <a:spcPts val="60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Why? You will hate your past self if you don’t.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can we do this?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up games from scratch - keeping the code clean</a:t>
            </a:r>
            <a:endParaRPr/>
          </a:p>
        </p:txBody>
      </p:sp>
      <p:sp>
        <p:nvSpPr>
          <p:cNvPr id="342" name="Google Shape;342;p5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Here’s something that we don’t want: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3" name="Google Shape;343;p53"/>
          <p:cNvSpPr txBox="1"/>
          <p:nvPr/>
        </p:nvSpPr>
        <p:spPr>
          <a:xfrm>
            <a:off x="609450" y="959875"/>
            <a:ext cx="7301700" cy="3766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// 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title screen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k = … //some method that gets the next key typed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(k == ‘N’) {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// enter seed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k = … //gets the next key typed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if (k == ‘S’) {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// world movement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(k == ‘W’) {</a:t>
            </a:r>
            <a:endParaRPr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  }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 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… </a:t>
            </a:r>
            <a:endParaRPr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up games from scratch - keeping the code clean</a:t>
            </a:r>
            <a:endParaRPr/>
          </a:p>
        </p:txBody>
      </p:sp>
      <p:sp>
        <p:nvSpPr>
          <p:cNvPr id="349" name="Google Shape;349;p5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issue: each new </a:t>
            </a:r>
            <a:r>
              <a:rPr lang="en"/>
              <a:t>scene </a:t>
            </a:r>
            <a:r>
              <a:rPr lang="en"/>
              <a:t>requires a new nested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while (true)</a:t>
            </a:r>
            <a:r>
              <a:rPr lang="en"/>
              <a:t>!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Also, impossible to switch back and forth between three </a:t>
            </a:r>
            <a:r>
              <a:rPr lang="en"/>
              <a:t>scenes</a:t>
            </a:r>
            <a:r>
              <a:rPr lang="en"/>
              <a:t>!</a:t>
            </a:r>
            <a:endParaRPr/>
          </a:p>
        </p:txBody>
      </p:sp>
      <p:sp>
        <p:nvSpPr>
          <p:cNvPr id="350" name="Google Shape;350;p54"/>
          <p:cNvSpPr txBox="1"/>
          <p:nvPr/>
        </p:nvSpPr>
        <p:spPr>
          <a:xfrm>
            <a:off x="609450" y="1298400"/>
            <a:ext cx="7301700" cy="3766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// title screen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k = … //some method that gets the next key typed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(k == ‘N’) {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// enter seed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k = … //gets the next key typed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if (k == ‘S’) {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// world movement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(k == ‘W’) {</a:t>
            </a:r>
            <a:endParaRPr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  }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 </a:t>
            </a: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… </a:t>
            </a:r>
            <a:endParaRPr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up games from scratch - keeping the code clean</a:t>
            </a:r>
            <a:endParaRPr/>
          </a:p>
        </p:txBody>
      </p:sp>
      <p:sp>
        <p:nvSpPr>
          <p:cNvPr id="356" name="Google Shape;356;p5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Here’s a better approach: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7" name="Google Shape;357;p55"/>
          <p:cNvSpPr txBox="1"/>
          <p:nvPr/>
        </p:nvSpPr>
        <p:spPr>
          <a:xfrm>
            <a:off x="609450" y="1176150"/>
            <a:ext cx="7301700" cy="3552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// Represents current scene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String current;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void 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gameLoop() {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while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(current.equals(“title”)) {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 if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(current.equals(“enterSeed”)) {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 if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(current.equals(“world”)) {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 if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(current.equals(“encounter”) {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 if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(current.equals(“gameOver”) {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up games from scratch - keeping the code clean</a:t>
            </a:r>
            <a:endParaRPr/>
          </a:p>
        </p:txBody>
      </p:sp>
      <p:sp>
        <p:nvSpPr>
          <p:cNvPr id="363" name="Google Shape;363;p5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Issues: game loop becomes</a:t>
            </a:r>
            <a:r>
              <a:rPr lang="en"/>
              <a:t> longer with added scenes, hurts readability.</a:t>
            </a:r>
            <a:endParaRPr/>
          </a:p>
        </p:txBody>
      </p:sp>
      <p:sp>
        <p:nvSpPr>
          <p:cNvPr id="364" name="Google Shape;364;p56"/>
          <p:cNvSpPr txBox="1"/>
          <p:nvPr/>
        </p:nvSpPr>
        <p:spPr>
          <a:xfrm>
            <a:off x="609450" y="1176150"/>
            <a:ext cx="7301700" cy="3552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// Represents current </a:t>
            </a: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scene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String current;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void 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gameLoop() {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while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(current.equals(“title”)) {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 if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(current.equals(“enterSeed”)) {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 if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(current.equals(“world”)) {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 if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(current.equals(“encounter”) {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 if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(current.equals(“gameOver”) {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up games from scratch - keeping the code clean</a:t>
            </a:r>
            <a:endParaRPr/>
          </a:p>
        </p:txBody>
      </p:sp>
      <p:sp>
        <p:nvSpPr>
          <p:cNvPr id="370" name="Google Shape;370;p5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We’ll introduce t</a:t>
            </a:r>
            <a:r>
              <a:rPr lang="en"/>
              <a:t>he idea of a “finite state machine” to manage complex games with a lot of different scenes.</a:t>
            </a:r>
            <a:endParaRPr/>
          </a:p>
        </p:txBody>
      </p:sp>
      <p:pic>
        <p:nvPicPr>
          <p:cNvPr id="371" name="Google Shape;371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525" y="1473150"/>
            <a:ext cx="5520950" cy="295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up games from scratch - keeping the code clean</a:t>
            </a:r>
            <a:endParaRPr/>
          </a:p>
        </p:txBody>
      </p:sp>
      <p:sp>
        <p:nvSpPr>
          <p:cNvPr id="377" name="Google Shape;377;p5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finite state machine </a:t>
            </a:r>
            <a:r>
              <a:rPr lang="en"/>
              <a:t>is a lot like a directed graph</a:t>
            </a:r>
            <a:r>
              <a:rPr lang="en"/>
              <a:t>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have states that the machine can be in as “nodes”.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For instance, you will have Title, EnterSeed, World, Encounter, etc.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have transitions from one state to another as “edges”.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For instance, if you are in state “Title” and pushes L, you should go to state “World”. This corresponds to an edge from “Title” to “World”.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machine </a:t>
            </a:r>
            <a:r>
              <a:rPr b="1" lang="en"/>
              <a:t>can only be in one state at a time.</a:t>
            </a:r>
            <a:endParaRPr b="1"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Need a variable to keep track - this is extra from a directed graph!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sequence of inputs or events is sent to the machine. 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check if any outgoing edges from your current state have their transition conditions fulfilled.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up games from scratch - keeping the code clean</a:t>
            </a:r>
            <a:endParaRPr/>
          </a:p>
        </p:txBody>
      </p:sp>
      <p:sp>
        <p:nvSpPr>
          <p:cNvPr id="383" name="Google Shape;383;p5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Here’s how BYoW could potentially be modeled by: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assumes you decide to do “win/lose”, restart game without closing.</a:t>
            </a:r>
            <a:endParaRPr/>
          </a:p>
        </p:txBody>
      </p:sp>
      <p:sp>
        <p:nvSpPr>
          <p:cNvPr id="384" name="Google Shape;384;p59"/>
          <p:cNvSpPr/>
          <p:nvPr/>
        </p:nvSpPr>
        <p:spPr>
          <a:xfrm>
            <a:off x="487950" y="2350700"/>
            <a:ext cx="1070100" cy="611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Title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" name="Google Shape;385;p59"/>
          <p:cNvSpPr/>
          <p:nvPr/>
        </p:nvSpPr>
        <p:spPr>
          <a:xfrm>
            <a:off x="2109588" y="2350700"/>
            <a:ext cx="1070100" cy="611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EnterSeed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" name="Google Shape;386;p59"/>
          <p:cNvSpPr/>
          <p:nvPr/>
        </p:nvSpPr>
        <p:spPr>
          <a:xfrm>
            <a:off x="3718288" y="2350700"/>
            <a:ext cx="1070100" cy="611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World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p59"/>
          <p:cNvSpPr/>
          <p:nvPr/>
        </p:nvSpPr>
        <p:spPr>
          <a:xfrm>
            <a:off x="6145050" y="2350700"/>
            <a:ext cx="1070100" cy="611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Encounter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" name="Google Shape;388;p59"/>
          <p:cNvSpPr/>
          <p:nvPr/>
        </p:nvSpPr>
        <p:spPr>
          <a:xfrm>
            <a:off x="6145050" y="3382425"/>
            <a:ext cx="1070100" cy="611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GameOver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p59"/>
          <p:cNvSpPr/>
          <p:nvPr/>
        </p:nvSpPr>
        <p:spPr>
          <a:xfrm>
            <a:off x="6145050" y="1318975"/>
            <a:ext cx="1070100" cy="611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GameWin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0" name="Google Shape;390;p59"/>
          <p:cNvCxnSpPr>
            <a:stCxn id="384" idx="3"/>
            <a:endCxn id="385" idx="1"/>
          </p:cNvCxnSpPr>
          <p:nvPr/>
        </p:nvCxnSpPr>
        <p:spPr>
          <a:xfrm>
            <a:off x="1558050" y="2656250"/>
            <a:ext cx="551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1" name="Google Shape;391;p59"/>
          <p:cNvSpPr txBox="1"/>
          <p:nvPr/>
        </p:nvSpPr>
        <p:spPr>
          <a:xfrm>
            <a:off x="1646475" y="2219075"/>
            <a:ext cx="37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2" name="Google Shape;392;p59"/>
          <p:cNvCxnSpPr>
            <a:stCxn id="384" idx="2"/>
            <a:endCxn id="386" idx="2"/>
          </p:cNvCxnSpPr>
          <p:nvPr/>
        </p:nvCxnSpPr>
        <p:spPr>
          <a:xfrm flipH="1" rot="-5400000">
            <a:off x="2637900" y="1346900"/>
            <a:ext cx="600" cy="3230400"/>
          </a:xfrm>
          <a:prstGeom prst="bentConnector3">
            <a:avLst>
              <a:gd fmla="val 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3" name="Google Shape;393;p59"/>
          <p:cNvSpPr txBox="1"/>
          <p:nvPr/>
        </p:nvSpPr>
        <p:spPr>
          <a:xfrm>
            <a:off x="2457300" y="3199925"/>
            <a:ext cx="37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4" name="Google Shape;394;p59"/>
          <p:cNvCxnSpPr/>
          <p:nvPr/>
        </p:nvCxnSpPr>
        <p:spPr>
          <a:xfrm>
            <a:off x="3166825" y="2656250"/>
            <a:ext cx="551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5" name="Google Shape;395;p59"/>
          <p:cNvSpPr txBox="1"/>
          <p:nvPr/>
        </p:nvSpPr>
        <p:spPr>
          <a:xfrm>
            <a:off x="3261650" y="2219075"/>
            <a:ext cx="37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6" name="Google Shape;396;p59"/>
          <p:cNvCxnSpPr>
            <a:endCxn id="387" idx="1"/>
          </p:cNvCxnSpPr>
          <p:nvPr/>
        </p:nvCxnSpPr>
        <p:spPr>
          <a:xfrm>
            <a:off x="4788450" y="2656250"/>
            <a:ext cx="1356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7" name="Google Shape;397;p59"/>
          <p:cNvSpPr txBox="1"/>
          <p:nvPr/>
        </p:nvSpPr>
        <p:spPr>
          <a:xfrm>
            <a:off x="4788400" y="2115575"/>
            <a:ext cx="12618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User steps on “coin door”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8" name="Google Shape;398;p59"/>
          <p:cNvCxnSpPr>
            <a:stCxn id="387" idx="0"/>
            <a:endCxn id="389" idx="2"/>
          </p:cNvCxnSpPr>
          <p:nvPr/>
        </p:nvCxnSpPr>
        <p:spPr>
          <a:xfrm rot="10800000">
            <a:off x="6680100" y="1930100"/>
            <a:ext cx="0" cy="42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9" name="Google Shape;399;p59"/>
          <p:cNvCxnSpPr>
            <a:stCxn id="387" idx="2"/>
            <a:endCxn id="388" idx="0"/>
          </p:cNvCxnSpPr>
          <p:nvPr/>
        </p:nvCxnSpPr>
        <p:spPr>
          <a:xfrm>
            <a:off x="6680100" y="2961800"/>
            <a:ext cx="0" cy="42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0" name="Google Shape;400;p59"/>
          <p:cNvSpPr txBox="1"/>
          <p:nvPr/>
        </p:nvSpPr>
        <p:spPr>
          <a:xfrm>
            <a:off x="6877850" y="1867550"/>
            <a:ext cx="1356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User collects coins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" name="Google Shape;401;p59"/>
          <p:cNvSpPr txBox="1"/>
          <p:nvPr/>
        </p:nvSpPr>
        <p:spPr>
          <a:xfrm>
            <a:off x="6877850" y="2902475"/>
            <a:ext cx="12618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Time runs out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2" name="Google Shape;402;p59"/>
          <p:cNvCxnSpPr>
            <a:endCxn id="403" idx="0"/>
          </p:cNvCxnSpPr>
          <p:nvPr/>
        </p:nvCxnSpPr>
        <p:spPr>
          <a:xfrm>
            <a:off x="3971188" y="2987025"/>
            <a:ext cx="616200" cy="1006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3" name="Google Shape;403;p59"/>
          <p:cNvSpPr/>
          <p:nvPr/>
        </p:nvSpPr>
        <p:spPr>
          <a:xfrm>
            <a:off x="4052338" y="3993525"/>
            <a:ext cx="1070100" cy="6111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Exit Game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59"/>
          <p:cNvSpPr txBox="1"/>
          <p:nvPr/>
        </p:nvSpPr>
        <p:spPr>
          <a:xfrm>
            <a:off x="4276575" y="3267366"/>
            <a:ext cx="498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:Q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5" name="Google Shape;405;p59"/>
          <p:cNvCxnSpPr>
            <a:stCxn id="384" idx="2"/>
            <a:endCxn id="403" idx="1"/>
          </p:cNvCxnSpPr>
          <p:nvPr/>
        </p:nvCxnSpPr>
        <p:spPr>
          <a:xfrm flipH="1" rot="-5400000">
            <a:off x="1869000" y="2115800"/>
            <a:ext cx="1337400" cy="3029400"/>
          </a:xfrm>
          <a:prstGeom prst="bent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6" name="Google Shape;406;p59"/>
          <p:cNvSpPr txBox="1"/>
          <p:nvPr/>
        </p:nvSpPr>
        <p:spPr>
          <a:xfrm>
            <a:off x="1059750" y="3728928"/>
            <a:ext cx="498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7" name="Google Shape;407;p59"/>
          <p:cNvCxnSpPr>
            <a:stCxn id="389" idx="1"/>
            <a:endCxn id="386" idx="0"/>
          </p:cNvCxnSpPr>
          <p:nvPr/>
        </p:nvCxnSpPr>
        <p:spPr>
          <a:xfrm flipH="1">
            <a:off x="4253250" y="1624525"/>
            <a:ext cx="1891800" cy="726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8" name="Google Shape;408;p59"/>
          <p:cNvCxnSpPr>
            <a:stCxn id="388" idx="1"/>
            <a:endCxn id="386" idx="2"/>
          </p:cNvCxnSpPr>
          <p:nvPr/>
        </p:nvCxnSpPr>
        <p:spPr>
          <a:xfrm rot="10800000">
            <a:off x="4253250" y="2961675"/>
            <a:ext cx="1891800" cy="726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9" name="Google Shape;409;p59"/>
          <p:cNvSpPr txBox="1"/>
          <p:nvPr/>
        </p:nvSpPr>
        <p:spPr>
          <a:xfrm>
            <a:off x="4747300" y="1610575"/>
            <a:ext cx="734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Restart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" name="Google Shape;410;p59"/>
          <p:cNvSpPr txBox="1"/>
          <p:nvPr/>
        </p:nvSpPr>
        <p:spPr>
          <a:xfrm>
            <a:off x="4999050" y="2975363"/>
            <a:ext cx="734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Restart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up games from scratch - keeping the code clean</a:t>
            </a:r>
            <a:endParaRPr/>
          </a:p>
        </p:txBody>
      </p:sp>
      <p:sp>
        <p:nvSpPr>
          <p:cNvPr id="416" name="Google Shape;416;p6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Here’s how you could implement an FSM in code:</a:t>
            </a:r>
            <a:endParaRPr/>
          </a:p>
        </p:txBody>
      </p:sp>
      <p:sp>
        <p:nvSpPr>
          <p:cNvPr id="417" name="Google Shape;417;p60"/>
          <p:cNvSpPr txBox="1"/>
          <p:nvPr/>
        </p:nvSpPr>
        <p:spPr>
          <a:xfrm>
            <a:off x="167525" y="959875"/>
            <a:ext cx="3634500" cy="216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// Represents current state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StateMachine stateMachine;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void 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gameLoop() {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stateMachine = new StateMachine();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Set&lt;Character&gt; pressed = readInput();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stateMachine.update(</a:t>
            </a: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pressed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stateMachine.render();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8" name="Google Shape;418;p60"/>
          <p:cNvSpPr txBox="1"/>
          <p:nvPr/>
        </p:nvSpPr>
        <p:spPr>
          <a:xfrm>
            <a:off x="3924225" y="959875"/>
            <a:ext cx="5058900" cy="3813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 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StateMachine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 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HashMap&lt;String, GameState&gt; gameStates;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StateMachine() { /* Initialize “GameState”s */ }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 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String curr = “title”;  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void 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update(Set&lt;Character&gt; pressed) {      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gameStates.get(</a:t>
            </a: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curr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).update(</a:t>
            </a: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pressed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void 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render() { </a:t>
            </a: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gameStates.get(curr).render(); 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void 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changeState(String to) {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// Throw errors if to is not valid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gameStates.get(</a:t>
            </a: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curr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).exit();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gameStates.get(to).enter();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GameState {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StateMachine mach; // the FSM I belong to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update(Set&lt;Character&gt; pressed);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render(), enter(), exit();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up games from scratch - keeping the code clean</a:t>
            </a:r>
            <a:endParaRPr/>
          </a:p>
        </p:txBody>
      </p:sp>
      <p:sp>
        <p:nvSpPr>
          <p:cNvPr id="424" name="Google Shape;424;p6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 we can add new scenes as states…</a:t>
            </a:r>
            <a:endParaRPr/>
          </a:p>
        </p:txBody>
      </p:sp>
      <p:sp>
        <p:nvSpPr>
          <p:cNvPr id="425" name="Google Shape;425;p61"/>
          <p:cNvSpPr txBox="1"/>
          <p:nvPr/>
        </p:nvSpPr>
        <p:spPr>
          <a:xfrm>
            <a:off x="3924225" y="959875"/>
            <a:ext cx="5096400" cy="4124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// Each class in a separate file</a:t>
            </a:r>
            <a:endParaRPr b="1"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GameState {</a:t>
            </a:r>
            <a:endParaRPr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StateMachine mach; // the FSM I belong to</a:t>
            </a:r>
            <a:endParaRPr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update(Set&lt;Character&gt; pressed);</a:t>
            </a:r>
            <a:endParaRPr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render(), enter(), exit();</a:t>
            </a:r>
            <a:endParaRPr b="1" sz="12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2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WorldState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implements</a:t>
            </a: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GameState {</a:t>
            </a:r>
            <a:endParaRPr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void </a:t>
            </a: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update(Set&lt;Character&gt; pressed) {</a:t>
            </a:r>
            <a:endParaRPr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// Moves avatar based on “pressed”</a:t>
            </a:r>
            <a:endParaRPr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(stepOnDoor())</a:t>
            </a:r>
            <a:endParaRPr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mach.changeState(“encounter”);</a:t>
            </a:r>
            <a:endParaRPr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void </a:t>
            </a: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render() { /* draws the world */ }</a:t>
            </a:r>
            <a:endParaRPr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EncounterState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implements</a:t>
            </a: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GameState {</a:t>
            </a:r>
            <a:endParaRPr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void </a:t>
            </a: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update(Set&lt;Character&gt; pressed) {</a:t>
            </a:r>
            <a:endParaRPr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// Moves avatar based on “pressed”</a:t>
            </a:r>
            <a:endParaRPr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(wonEncounter())</a:t>
            </a:r>
            <a:endParaRPr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mach.changeState(“world”);</a:t>
            </a:r>
            <a:endParaRPr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2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void </a:t>
            </a: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render() { /* draws objects in encounter */}  }</a:t>
            </a:r>
            <a:endParaRPr b="1" sz="12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6" name="Google Shape;426;p61"/>
          <p:cNvSpPr txBox="1"/>
          <p:nvPr>
            <p:ph idx="1" type="body"/>
          </p:nvPr>
        </p:nvSpPr>
        <p:spPr>
          <a:xfrm>
            <a:off x="167525" y="3354775"/>
            <a:ext cx="3634500" cy="15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By using FSMs, get a much cleaner main game loop!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add a new state, extend from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GameState</a:t>
            </a:r>
            <a:r>
              <a:rPr lang="en"/>
              <a:t>.</a:t>
            </a:r>
            <a:endParaRPr/>
          </a:p>
        </p:txBody>
      </p:sp>
      <p:sp>
        <p:nvSpPr>
          <p:cNvPr id="427" name="Google Shape;427;p61"/>
          <p:cNvSpPr txBox="1"/>
          <p:nvPr/>
        </p:nvSpPr>
        <p:spPr>
          <a:xfrm>
            <a:off x="167525" y="959875"/>
            <a:ext cx="3634500" cy="216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// Represents current state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StateMachine stateMachine;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void 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gameLoop() {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stateMachine = new StateMachine();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while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2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Set&lt;Character&gt; pressed = readInput();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stateMachine.update(</a:t>
            </a:r>
            <a:r>
              <a:rPr lang="en" sz="12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pressed</a:t>
            </a: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stateMachine.render();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Engines Abstracts Away Details</a:t>
            </a:r>
            <a:endParaRPr/>
          </a:p>
        </p:txBody>
      </p:sp>
      <p:sp>
        <p:nvSpPr>
          <p:cNvPr id="433" name="Google Shape;433;p62"/>
          <p:cNvSpPr txBox="1"/>
          <p:nvPr>
            <p:ph idx="1" type="body"/>
          </p:nvPr>
        </p:nvSpPr>
        <p:spPr>
          <a:xfrm>
            <a:off x="107050" y="402200"/>
            <a:ext cx="8520600" cy="41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Coding games from scratch is hard. Requires code that exists in most games.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Nowadays, people use game engines with all the boilerplate code built-in.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Big Two: Unity and Unreal. We focus on Unity here.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Unity games are written in C#, which is highly similar to Java.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Unity is abstracted so well that you could even develop game without any code, just drag and drop.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4" name="Google Shape;434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4025" y="3045400"/>
            <a:ext cx="2766650" cy="1764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 course, you can still write code</a:t>
            </a:r>
            <a:endParaRPr/>
          </a:p>
        </p:txBody>
      </p:sp>
      <p:sp>
        <p:nvSpPr>
          <p:cNvPr id="440" name="Google Shape;440;p63"/>
          <p:cNvSpPr txBox="1"/>
          <p:nvPr>
            <p:ph idx="1" type="body"/>
          </p:nvPr>
        </p:nvSpPr>
        <p:spPr>
          <a:xfrm>
            <a:off x="107051" y="402200"/>
            <a:ext cx="8612700" cy="45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 if you decide to write code, the engine still abstracts a lot away for </a:t>
            </a:r>
            <a:r>
              <a:rPr lang="en"/>
              <a:t>you.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BYOW, need to come up with class definitions for Java classes.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Unity, everything you need are called “game objects”.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Override these functions for your objects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Font typeface="Courier New"/>
              <a:buChar char="○"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void Start() // Called before the first frame update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Font typeface="Courier New"/>
              <a:buChar char="○"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void Update() // Called for every frame update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engine calls these methods behind the scenes for you.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about scene transition?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Unity has an FSM running behind the scenes!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Unity is simpler - Movement Controls</a:t>
            </a:r>
            <a:endParaRPr/>
          </a:p>
        </p:txBody>
      </p:sp>
      <p:sp>
        <p:nvSpPr>
          <p:cNvPr id="446" name="Google Shape;446;p64"/>
          <p:cNvSpPr txBox="1"/>
          <p:nvPr>
            <p:ph idx="1" type="body"/>
          </p:nvPr>
        </p:nvSpPr>
        <p:spPr>
          <a:xfrm>
            <a:off x="107051" y="402200"/>
            <a:ext cx="8612700" cy="45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following is the movement control logic for a ship wars game.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explicit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nextKeyTyped()</a:t>
            </a:r>
            <a:r>
              <a:rPr lang="en"/>
              <a:t>, just use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Input.GetAxis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 -&gt; xAxis is -1. D -&gt; xAxis is 1.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More flexible - works with joysticks and custom key configurations!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Update() </a:t>
            </a:r>
            <a:r>
              <a:rPr lang="en"/>
              <a:t>does not take in keys pressed, compared with previous Java code.</a:t>
            </a:r>
            <a:endParaRPr/>
          </a:p>
        </p:txBody>
      </p:sp>
      <p:pic>
        <p:nvPicPr>
          <p:cNvPr id="447" name="Google Shape;447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0175" y="2404075"/>
            <a:ext cx="5163650" cy="257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still,</a:t>
            </a:r>
            <a:r>
              <a:rPr lang="en"/>
              <a:t> the ability to write good code matters…</a:t>
            </a:r>
            <a:endParaRPr/>
          </a:p>
        </p:txBody>
      </p:sp>
      <p:sp>
        <p:nvSpPr>
          <p:cNvPr id="453" name="Google Shape;453;p65"/>
          <p:cNvSpPr txBox="1"/>
          <p:nvPr>
            <p:ph idx="1" type="body"/>
          </p:nvPr>
        </p:nvSpPr>
        <p:spPr>
          <a:xfrm>
            <a:off x="107051" y="402200"/>
            <a:ext cx="8413500" cy="44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DRY (Don’t Repeat Yourself)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you make different variants of an enemy, consider use inheritance.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e.g., green, blue, and purple slimes are all slimes, with different stats.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Separate “data” from “logic”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Store enemy stats in a .json file and load it.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Hardcoding is OK for small games, but bad for large games..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 to work with different types of assets (resources used in games)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Images, audio, and 3D models.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 to know some algorithms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For instance, A* path finding for Minecraft zombies.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 finally, </a:t>
            </a:r>
            <a:r>
              <a:rPr lang="en"/>
              <a:t>DRY (Don’t Repeat Yourself)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6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37, CS61B, Fall 2023</a:t>
            </a:r>
            <a:endParaRPr/>
          </a:p>
        </p:txBody>
      </p:sp>
      <p:sp>
        <p:nvSpPr>
          <p:cNvPr id="459" name="Google Shape;459;p66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Game Development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</a:t>
            </a:r>
            <a:r>
              <a:rPr lang="en"/>
              <a:t>Designing</a:t>
            </a:r>
            <a:r>
              <a:rPr lang="en"/>
              <a:t> a Good Game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The Game Development Pipeline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/>
              <a:t>Programmer Perspective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Game Modding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460" name="Google Shape;460;p66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Game Modding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Modding</a:t>
            </a:r>
            <a:endParaRPr/>
          </a:p>
        </p:txBody>
      </p:sp>
      <p:sp>
        <p:nvSpPr>
          <p:cNvPr id="466" name="Google Shape;466;p67"/>
          <p:cNvSpPr txBox="1"/>
          <p:nvPr>
            <p:ph idx="1" type="body"/>
          </p:nvPr>
        </p:nvSpPr>
        <p:spPr>
          <a:xfrm>
            <a:off x="107050" y="402200"/>
            <a:ext cx="8114400" cy="439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Let’s say you don’t want the trouble of creating an entirely new game, but just want to work off an existing game.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game modding.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“Mod” is short for “modify”.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a “mod”?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An add-on to an existing game that provides new gameplay elements or modifies existing gameplay experience.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6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Modding - Adding new content</a:t>
            </a:r>
            <a:endParaRPr/>
          </a:p>
        </p:txBody>
      </p:sp>
      <p:sp>
        <p:nvSpPr>
          <p:cNvPr id="472" name="Google Shape;472;p68"/>
          <p:cNvSpPr txBox="1"/>
          <p:nvPr>
            <p:ph idx="1" type="body"/>
          </p:nvPr>
        </p:nvSpPr>
        <p:spPr>
          <a:xfrm>
            <a:off x="107050" y="402200"/>
            <a:ext cx="8894700" cy="45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way to mod games is to add new levels.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For instance, osu!, a music game, allows creating custom levels via drag and drop. You can add songs as you wish.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Super Mario games also have a lot of player-made level editors.</a:t>
            </a:r>
            <a:endParaRPr/>
          </a:p>
        </p:txBody>
      </p:sp>
      <p:pic>
        <p:nvPicPr>
          <p:cNvPr id="473" name="Google Shape;47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3451" y="2044198"/>
            <a:ext cx="5501875" cy="299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Modding - Adding new content</a:t>
            </a:r>
            <a:endParaRPr/>
          </a:p>
        </p:txBody>
      </p:sp>
      <p:sp>
        <p:nvSpPr>
          <p:cNvPr id="479" name="Google Shape;479;p69"/>
          <p:cNvSpPr txBox="1"/>
          <p:nvPr>
            <p:ph idx="1" type="body"/>
          </p:nvPr>
        </p:nvSpPr>
        <p:spPr>
          <a:xfrm>
            <a:off x="107050" y="402200"/>
            <a:ext cx="8894700" cy="45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 also choose to add new content using code. This would require looking at the relevant parts of existing tutorials and documentation.</a:t>
            </a:r>
            <a:endParaRPr/>
          </a:p>
        </p:txBody>
      </p:sp>
      <p:sp>
        <p:nvSpPr>
          <p:cNvPr id="480" name="Google Shape;480;p69"/>
          <p:cNvSpPr txBox="1"/>
          <p:nvPr/>
        </p:nvSpPr>
        <p:spPr>
          <a:xfrm>
            <a:off x="4337975" y="1313275"/>
            <a:ext cx="4583100" cy="3689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 </a:t>
            </a:r>
            <a:r>
              <a:rPr lang="en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Sword61B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extends</a:t>
            </a:r>
            <a:r>
              <a:rPr lang="en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ModItem</a:t>
            </a:r>
            <a:r>
              <a:rPr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public void </a:t>
            </a:r>
            <a:r>
              <a:rPr lang="en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setDefaults() {</a:t>
            </a:r>
            <a:endParaRPr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item.damage = 61;</a:t>
            </a:r>
            <a:endParaRPr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item.damageType = DamageClass.MELEE;</a:t>
            </a:r>
            <a:endParaRPr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// Other logic</a:t>
            </a:r>
            <a:endParaRPr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@Override</a:t>
            </a:r>
            <a:endParaRPr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void</a:t>
            </a:r>
            <a:r>
              <a:rPr lang="en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OnHitNPC(Player player, NPC target, NPC.HitInfo hit, </a:t>
            </a:r>
            <a:r>
              <a:rPr lang="en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damageDone) {</a:t>
            </a:r>
            <a:endParaRPr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Main.NewText(“Take that! The power of Data Structures!”);</a:t>
            </a:r>
            <a:endParaRPr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highlight>
                <a:srgbClr val="EFEFEF"/>
              </a:highlight>
            </a:endParaRPr>
          </a:p>
        </p:txBody>
      </p:sp>
      <p:pic>
        <p:nvPicPr>
          <p:cNvPr id="481" name="Google Shape;48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950" y="1191075"/>
            <a:ext cx="2771625" cy="189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850" y="3184946"/>
            <a:ext cx="3529825" cy="181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7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Modding - Is it legit?</a:t>
            </a:r>
            <a:endParaRPr/>
          </a:p>
        </p:txBody>
      </p:sp>
      <p:sp>
        <p:nvSpPr>
          <p:cNvPr id="488" name="Google Shape;488;p70"/>
          <p:cNvSpPr txBox="1"/>
          <p:nvPr>
            <p:ph idx="1" type="body"/>
          </p:nvPr>
        </p:nvSpPr>
        <p:spPr>
          <a:xfrm>
            <a:off x="107050" y="402200"/>
            <a:ext cx="8520600" cy="439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old days, a lot of games don’t have official modding support.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Minecraft and Terraria didn’t </a:t>
            </a:r>
            <a:r>
              <a:rPr lang="en"/>
              <a:t>originally </a:t>
            </a:r>
            <a:r>
              <a:rPr lang="en"/>
              <a:t>officially support mods.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But people in the community “reverse-engineer” games secretly and created mod support platforms for people to build mods.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Technically modding is grey-area, but the game companies realized that mods actually help with popularity of game and retain users.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Eventually modding became (semi-)officially supported.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b="1" lang="en"/>
              <a:t>B</a:t>
            </a:r>
            <a:r>
              <a:rPr b="1" lang="en"/>
              <a:t>ottom lines: never release the source code of the vanilla game! </a:t>
            </a:r>
            <a:endParaRPr b="1"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b="1" lang="en"/>
              <a:t>Do not mod a game if the developer explicitly bans it.</a:t>
            </a:r>
            <a:endParaRPr b="1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some games, official mod support is provided from the start.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Examples are Binding of Isaac; Don’t Starve Together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7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Modding - </a:t>
            </a:r>
            <a:r>
              <a:rPr lang="en"/>
              <a:t>How does modding affect the game itself?</a:t>
            </a:r>
            <a:endParaRPr/>
          </a:p>
        </p:txBody>
      </p:sp>
      <p:sp>
        <p:nvSpPr>
          <p:cNvPr id="494" name="Google Shape;494;p71"/>
          <p:cNvSpPr txBox="1"/>
          <p:nvPr>
            <p:ph idx="1" type="body"/>
          </p:nvPr>
        </p:nvSpPr>
        <p:spPr>
          <a:xfrm>
            <a:off x="107050" y="402200"/>
            <a:ext cx="8413500" cy="439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Game developers take away from good mods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Binding of Isaac Repentance update - draw a lot of content from Binding of Isaac Antibirth. It was the largest mod for Binding of Isaac at that time yet.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Another example: Super Mario Maker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 lot of players creating own levels - why not create a game about that?</a:t>
            </a:r>
            <a:endParaRPr/>
          </a:p>
        </p:txBody>
      </p:sp>
      <p:pic>
        <p:nvPicPr>
          <p:cNvPr id="495" name="Google Shape;495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025" y="2648525"/>
            <a:ext cx="4344274" cy="209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4525" y="2568000"/>
            <a:ext cx="1714125" cy="242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7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502" name="Google Shape;502;p72"/>
          <p:cNvSpPr txBox="1"/>
          <p:nvPr>
            <p:ph idx="1" type="body"/>
          </p:nvPr>
        </p:nvSpPr>
        <p:spPr>
          <a:xfrm>
            <a:off x="107050" y="402200"/>
            <a:ext cx="8520600" cy="44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Coming up with good game ideas.</a:t>
            </a:r>
            <a:endParaRPr/>
          </a:p>
          <a:p>
            <a:pPr indent="-3429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Easy to learn, hard to master; Antepiece; Feedback; Variability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pipeline of making a game.</a:t>
            </a:r>
            <a:endParaRPr/>
          </a:p>
          <a:p>
            <a:pPr indent="-3429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Idea, Paper Prototype, MVP, Alpha, Beta, Release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Writing code for games</a:t>
            </a:r>
            <a:endParaRPr/>
          </a:p>
          <a:p>
            <a:pPr indent="-3429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Using pure Java - why FSM is good</a:t>
            </a:r>
            <a:endParaRPr/>
          </a:p>
          <a:p>
            <a:pPr indent="-3429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Using Unity - why game engines are good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Modding an existing game.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 each layer, you lose some freedom, but do less “dirty work”.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But, you can choose whatever layer you enjoy the most when you develop an indie game - you’re not constrained by deadlines or company goals.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Therefore, I hope you find this lecture and indie game development fun and would consider developing this as a hobby.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7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Q&amp;A</a:t>
            </a:r>
            <a:endParaRPr/>
          </a:p>
        </p:txBody>
      </p:sp>
      <p:sp>
        <p:nvSpPr>
          <p:cNvPr id="508" name="Google Shape;508;p7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