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0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10"/>
      <p:bold r:id="rId111"/>
      <p:italic r:id="rId112"/>
      <p:boldItalic r:id="rId113"/>
    </p:embeddedFont>
    <p:embeddedFont>
      <p:font typeface="Roboto" panose="02000000000000000000" pitchFamily="2" charset="0"/>
      <p:regular r:id="rId114"/>
      <p:bold r:id="rId115"/>
      <p:italic r:id="rId116"/>
      <p:boldItalic r:id="rId117"/>
    </p:embeddedFont>
    <p:embeddedFont>
      <p:font typeface="Roboto Light" panose="02000000000000000000" pitchFamily="2" charset="0"/>
      <p:regular r:id="rId118"/>
      <p:bold r:id="rId119"/>
      <p:italic r:id="rId120"/>
      <p:boldItalic r:id="rId121"/>
    </p:embeddedFont>
    <p:embeddedFont>
      <p:font typeface="Roboto Medium" panose="02000000000000000000" pitchFamily="2" charset="0"/>
      <p:regular r:id="rId122"/>
      <p:bold r:id="rId123"/>
      <p:italic r:id="rId124"/>
      <p:boldItalic r:id="rId1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font" Target="fonts/font8.fntdata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font" Target="fonts/font3.fntdata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font" Target="fonts/font14.fntdata"/><Relationship Id="rId128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font" Target="fonts/font4.fntdata"/><Relationship Id="rId118" Type="http://schemas.openxmlformats.org/officeDocument/2006/relationships/font" Target="fonts/font9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font" Target="fonts/font15.fntdata"/><Relationship Id="rId129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font" Target="fonts/font5.fntdata"/><Relationship Id="rId119" Type="http://schemas.openxmlformats.org/officeDocument/2006/relationships/font" Target="fonts/font10.fntdata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notesMaster" Target="notesMasters/notes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font" Target="fonts/font11.fntdata"/><Relationship Id="rId125" Type="http://schemas.openxmlformats.org/officeDocument/2006/relationships/font" Target="fonts/font16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font" Target="fonts/font1.fntdata"/><Relationship Id="rId115" Type="http://schemas.openxmlformats.org/officeDocument/2006/relationships/font" Target="fonts/font6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font" Target="fonts/font12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font" Target="fonts/font2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martdraw.com/organizational-chart/org-chart-software.htm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pinterest.com/pin/178244097727550196/" TargetMode="External"/><Relationship Id="rId5" Type="http://schemas.openxmlformats.org/officeDocument/2006/relationships/hyperlink" Target="http://i0.wp.com/barkthink.com/wp-content/uploads/2014/07/barkthink_figure2_canid_species_groups.jpg" TargetMode="External"/><Relationship Id="rId4" Type="http://schemas.openxmlformats.org/officeDocument/2006/relationships/hyperlink" Target="https://www.researchgate.net/figure/Flow-chart-for-the-diagnosis-and-treatment-of-uncomplicated-malaria_fig2_264202517" TargetMode="Externa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e/1FAIpQLSfQkN52rJKeURe49gPgjnVFEa5BnaWIXtpoZISkMbO1UQrSQA/viewform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dlpng.com/png/200550" TargetMode="External"/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fd443f0b59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fd443f0b59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fd443f0b59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fd443f0b59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54c41f719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54c41f719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c41f7190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c41f7190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54c41f7190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54c41f7190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54c41f7190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54c41f7190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https://www.smartdraw.com/organizational-chart/org-chart-software.htm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https://www.researchgate.net/figure/Flow-chart-for-the-diagnosis-and-treatment-of-uncomplicated-malaria_fig2_264202517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http://i0.wp.com/barkthink.com/wp-content/uploads/2014/07/barkthink_figure2_canid_species_groups.jpg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https://www.pinterest.com/pin/178244097727550196/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fd443f0b59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fd443f0b59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54bbc17829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54bbc17829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54bbc17829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54bbc17829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54c7f70b1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54c7f70b1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5da56e1ff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5da56e1ff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5da56e1ff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25da56e1ff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5da56e1ff6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25da56e1ff6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5da56e1ff6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25da56e1ff6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25da56e1ff6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25da56e1ff6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25da56e1ff6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25da56e1ff6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25da56e1ff6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25da56e1ff6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25da56e1ff6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25da56e1ff6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25da56e1ff6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25da56e1ff6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5da56e1ff6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25da56e1ff6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25da56e1ff6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25da56e1ff6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25da56e1ff6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25da56e1ff6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25da56e1ff6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25da56e1ff6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25da56e1ff6_0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25da56e1ff6_0_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25da56e1ff6_0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25da56e1ff6_0_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25da56e1ff6_0_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25da56e1ff6_0_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25da56e1ff6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25da56e1ff6_0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54bbc17829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54bbc17829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54bbc17829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54bbc17829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https://docs.google.com/forms/d/e/1FAIpQLSfQkN52rJKeURe49gPgjnVFEa5BnaWIXtpoZISkMbO1UQrSQA/viewform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54bbc17829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54bbc17829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54bbc17829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54bbc17829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1fd443f0b59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1fd443f0b59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54bbc17829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54bbc17829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54bbc17829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54bbc17829_0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54bbc17829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54bbc17829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1fd443f0b59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1fd443f0b59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54c41f7190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54c41f7190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54c41f7190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54c41f7190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54c41f7190_0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54c41f7190_0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54c41f7190_0_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9" name="Google Shape;1039;g54c41f7190_0_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bart.gov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54c41f7190_0_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54c41f7190_0_3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54c41f7190_0_4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54c41f7190_0_4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52b1323b6_0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52b1323b6_0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76e0dad8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76e0dad8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52b1323b6_0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5" name="Google Shape;1155;g52b1323b6_0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http://www.martingrandjean.ch/wp-content/uploads/2013/07/Gephi5.png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4715fe594_0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Google Shape;1162;g4715fe594_0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1fd443f0b59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0" name="Google Shape;1170;g1fd443f0b59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54c41f7190_0_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7" name="Google Shape;1177;g54c41f7190_0_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http://www.martingrandjean.ch/wp-content/uploads/2013/07/Gephi5.png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76e0dad8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76e0dad85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54c41f7190_0_4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5" name="Google Shape;1195;g54c41f7190_0_4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1fd443f0b59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1" name="Google Shape;1201;g1fd443f0b59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54c41f7190_0_6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54c41f7190_0_6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54c41f7190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4" name="Google Shape;1234;g54c41f7190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54c41f7190_0_4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54c41f7190_0_4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g54c41f7190_0_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6" name="Google Shape;1286;g54c41f7190_0_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g54c41f7190_0_7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2" name="Google Shape;1312;g54c41f7190_0_7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g54c41f7190_0_7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8" name="Google Shape;1338;g54c41f7190_0_7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1fd443f0b59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4" name="Google Shape;1364;g1fd443f0b59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g54c41f7190_0_8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1" name="Google Shape;1371;g54c41f7190_0_8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g25f3bf5f9c7_0_4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7" name="Google Shape;1397;g25f3bf5f9c7_0_4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25f3bf5f9c7_0_5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25f3bf5f9c7_0_5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25f3bf5f9c7_0_5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2" name="Google Shape;1452;g25f3bf5f9c7_0_5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25f3bf5f9c7_0_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25f3bf5f9c7_0_5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g25f3bf5f9c7_0_5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0" name="Google Shape;1510;g25f3bf5f9c7_0_5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g25f3bf5f9c7_0_6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9" name="Google Shape;1539;g25f3bf5f9c7_0_6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g25f3bf5f9c7_0_6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8" name="Google Shape;1568;g25f3bf5f9c7_0_6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g25f3bf5f9c7_0_6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7" name="Google Shape;1597;g25f3bf5f9c7_0_6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https://dlpng.com/png/200550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g25f3bf5f9c7_0_6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7" name="Google Shape;1627;g25f3bf5f9c7_0_6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g25f3bf5f9c7_0_7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8" name="Google Shape;1658;g25f3bf5f9c7_0_7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g25f3bf5f9c7_0_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9" name="Google Shape;1689;g25f3bf5f9c7_0_7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g25f3bf5f9c7_0_7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0" name="Google Shape;1720;g25f3bf5f9c7_0_7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g25f3bf5f9c7_0_8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2" name="Google Shape;1752;g25f3bf5f9c7_0_8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g25f3bf5f9c7_0_8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7" name="Google Shape;1787;g25f3bf5f9c7_0_8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g25f3bf5f9c7_0_8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1" name="Google Shape;1821;g25f3bf5f9c7_0_8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g25f3bf5f9c7_0_8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6" name="Google Shape;1856;g25f3bf5f9c7_0_8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g25f3bf5f9c7_0_9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2" name="Google Shape;1892;g25f3bf5f9c7_0_9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g54c41f7190_0_5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2" name="Google Shape;1932;g54c41f7190_0_5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7" name="Google Shape;1957;g54c7f70b17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8" name="Google Shape;1958;g54c7f70b17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g54c41f7190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6" name="Google Shape;1986;g54c41f7190_0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g54c41f7190_0_10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3" name="Google Shape;1993;g54c41f7190_0_10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g25f3bf5f9c7_0_10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9" name="Google Shape;1999;g25f3bf5f9c7_0_10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Google Shape;2028;g25f3bf5f9c7_0_10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9" name="Google Shape;2029;g25f3bf5f9c7_0_10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Google Shape;2062;g25f3bf5f9c7_0_10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3" name="Google Shape;2063;g25f3bf5f9c7_0_10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Google Shape;2096;g25f3bf5f9c7_0_1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7" name="Google Shape;2097;g25f3bf5f9c7_0_1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g25f3bf5f9c7_0_1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1" name="Google Shape;2131;g25f3bf5f9c7_0_1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4" name="Google Shape;2164;g25f3bf5f9c7_0_1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5" name="Google Shape;2165;g25f3bf5f9c7_0_1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" name="Google Shape;2198;g25f3bf5f9c7_0_1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9" name="Google Shape;2199;g25f3bf5f9c7_0_1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1" name="Google Shape;2231;g25f3bf5f9c7_0_1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2" name="Google Shape;2232;g25f3bf5f9c7_0_1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g25f3bf5f9c7_0_1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4" name="Google Shape;2264;g25f3bf5f9c7_0_1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Google Shape;2296;g25f3bf5f9c7_0_1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7" name="Google Shape;2297;g25f3bf5f9c7_0_1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g25f3bf5f9c7_0_1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1" name="Google Shape;2331;g25f3bf5f9c7_0_1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25f3bf5f9c7_0_1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25f3bf5f9c7_0_1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5" name="Google Shape;2395;g25f3bf5f9c7_0_1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6" name="Google Shape;2396;g25f3bf5f9c7_0_1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8" name="Google Shape;2428;g25f3bf5f9c7_0_1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9" name="Google Shape;2429;g25f3bf5f9c7_0_1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1" name="Google Shape;2461;g25f3bf5f9c7_0_1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2" name="Google Shape;2462;g25f3bf5f9c7_0_14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3" name="Google Shape;2493;g25f3bf5f9c7_0_1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4" name="Google Shape;2494;g25f3bf5f9c7_0_14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5" name="Google Shape;2525;g25f3bf5f9c7_0_15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6" name="Google Shape;2526;g25f3bf5f9c7_0_15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7" name="Google Shape;2557;g25f3bf5f9c7_0_15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8" name="Google Shape;2558;g25f3bf5f9c7_0_15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9" name="Google Shape;2589;g1fd443f0b59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0" name="Google Shape;2590;g1fd443f0b59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6" name="Google Shape;2596;g54c7f70b17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7" name="Google Shape;2597;g54c7f70b17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5" name="Google Shape;2615;g54c7f70b17_0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6" name="Google Shape;2616;g54c7f70b17_0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5" name="Google Shape;2655;g54c7f70b17_0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6" name="Google Shape;2656;g54c7f70b17_0_3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5" name="Google Shape;2695;g54c7f70b17_0_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6" name="Google Shape;2696;g54c7f70b17_0_4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5" name="Google Shape;2735;g54c7f70b17_0_4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6" name="Google Shape;2736;g54c7f70b17_0_4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" name="Google Shape;2775;g1fd443f0b59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6" name="Google Shape;2776;g1fd443f0b59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2" name="Google Shape;2782;g54c41f7190_0_9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3" name="Google Shape;2783;g54c41f7190_0_9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7" name="Google Shape;2807;g54c7f70b17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8" name="Google Shape;2808;g54c7f70b17_0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" name="Google Shape;22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SECTION_TITLE_AND_DESCRIPTION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pic>
        <p:nvPicPr>
          <p:cNvPr id="27" name="Google Shape;2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cxnSp>
        <p:nvCxnSpPr>
          <p:cNvPr id="29" name="Google Shape;29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Google Shape;30;p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right">
  <p:cSld name="SECTION_TITLE_AND_DESCRIPTION_2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ubTitle" idx="1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38" name="Google Shape;38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left">
  <p:cSld name="SECTION_TITLE_AND_DESCRIPTION_2_1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45" name="Google Shape;45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6" name="Google Shape;4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">
  <p:cSld name="SECTION_TITLE_AND_DESCRIPTION_2_1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3" name="Google Shape;53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4" name="Google Shape;5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1">
  <p:cSld name="SECTION_TITLE_AND_DESCRIPTION_2_1_1_2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0" name="Google Shape;60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63" name="Google Shape;63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Solution">
  <p:cSld name="SECTION_TITLE_AND_DESCRIPTION_2_1_1_1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9" name="Google Shape;69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0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72" name="Google Shape;72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3" name="Google Shape;7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9" name="Google Shape;79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" name="Google Shape;80;p11"/>
          <p:cNvSpPr txBox="1">
            <a:spLocks noGrp="1"/>
          </p:cNvSpPr>
          <p:nvPr>
            <p:ph type="body" idx="2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4" name="Google Shape;84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_3">
  <p:cSld name="SECTION_TITLE_AND_DESCRIPTION_3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2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95425" y="4382350"/>
            <a:ext cx="842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cxnSp>
        <p:nvCxnSpPr>
          <p:cNvPr id="97" name="Google Shape;97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">
    <p:bg>
      <p:bgPr>
        <a:solidFill>
          <a:schemeClr val="dk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lude">
  <p:cSld name="SECTION_TITLE_AND_DESCRIPTION_1_3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08" name="Google Shape;108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" name="Google Shape;109;p18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SECTION_TITLE_AND_DESCRIPTION_1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left">
  <p:cSld name="SECTION_TITLE_AND_DESCRIPTION_1_1_1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20"/>
          <p:cNvSpPr txBox="1">
            <a:spLocks noGrp="1"/>
          </p:cNvSpPr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22" name="Google Shape;122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left, Heading">
  <p:cSld name="SECTION_TITLE_AND_DESCRIPTION_1_1_1_1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subTitle" idx="3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9" name="Google Shape;129;p21"/>
          <p:cNvSpPr txBox="1">
            <a:spLocks noGrp="1"/>
          </p:cNvSpPr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pic>
        <p:nvPicPr>
          <p:cNvPr id="130" name="Google Shape;13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3" name="Google Shape;133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right">
  <p:cSld name="SECTION_TITLE_AND_DESCRIPTION_1_2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body" idx="1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23"/>
          <p:cNvSpPr txBox="1">
            <a:spLocks noGrp="1"/>
          </p:cNvSpPr>
          <p:nvPr>
            <p:ph type="body" idx="2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Google Shape;141;p24"/>
          <p:cNvCxnSpPr/>
          <p:nvPr/>
        </p:nvCxnSpPr>
        <p:spPr>
          <a:xfrm>
            <a:off x="243000" y="587800"/>
            <a:ext cx="8443800" cy="0"/>
          </a:xfrm>
          <a:prstGeom prst="straightConnector1">
            <a:avLst/>
          </a:prstGeom>
          <a:noFill/>
          <a:ln w="19050" cap="flat" cmpd="sng">
            <a:solidFill>
              <a:srgbClr val="1072BD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42" name="Google Shape;142;p24"/>
          <p:cNvSpPr txBox="1"/>
          <p:nvPr/>
        </p:nvSpPr>
        <p:spPr>
          <a:xfrm>
            <a:off x="152400" y="533400"/>
            <a:ext cx="8443800" cy="2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connected(s, t):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 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s == t? If so, return true.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Otherwise, if connected(v, t) for any unmarked neighbor v of s, return true.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false.</a:t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166800" y="92501"/>
            <a:ext cx="8229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rPr>
              <a:t>s-t Connectivity</a:t>
            </a:r>
            <a:endParaRPr sz="2400" b="1">
              <a:solidFill>
                <a:srgbClr val="BE071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ethkim.github.io/TA/251/eulerian.pdf" TargetMode="Externa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5.xml"/><Relationship Id="rId5" Type="http://schemas.openxmlformats.org/officeDocument/2006/relationships/hyperlink" Target="https://xkcd.com/761/" TargetMode="External"/><Relationship Id="rId4" Type="http://schemas.openxmlformats.org/officeDocument/2006/relationships/image" Target="../media/image18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8526" y="257725"/>
            <a:ext cx="5002949" cy="30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5"/>
          <p:cNvSpPr txBox="1">
            <a:spLocks noGrp="1"/>
          </p:cNvSpPr>
          <p:nvPr>
            <p:ph type="ctrTitle"/>
          </p:nvPr>
        </p:nvSpPr>
        <p:spPr>
          <a:xfrm>
            <a:off x="311700" y="1658975"/>
            <a:ext cx="8709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</a:rPr>
              <a:t>Graphs and Traversals</a:t>
            </a:r>
            <a:endParaRPr sz="3600">
              <a:solidFill>
                <a:schemeClr val="accent3"/>
              </a:solidFill>
            </a:endParaRPr>
          </a:p>
        </p:txBody>
      </p:sp>
      <p:sp>
        <p:nvSpPr>
          <p:cNvPr id="150" name="Google Shape;150;p25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22 (Graphs 1)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1" name="Google Shape;151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152" name="Google Shape;152;p25"/>
          <p:cNvSpPr txBox="1"/>
          <p:nvPr/>
        </p:nvSpPr>
        <p:spPr>
          <a:xfrm>
            <a:off x="311700" y="3854350"/>
            <a:ext cx="85206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CS61B, Fall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202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</a:t>
            </a:r>
            <a:r>
              <a:rPr lang="en" sz="160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Josh Hug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22, CS61B, Fall 2023</a:t>
            </a:r>
            <a:endParaRPr/>
          </a:p>
        </p:txBody>
      </p:sp>
      <p:sp>
        <p:nvSpPr>
          <p:cNvPr id="158" name="Google Shape;158;p26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Trees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Tree Definition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Tree Traversals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Usefulness of Tree Traversals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Graphs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Graph Definition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Some Famous Graph Problems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Graph Traversals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Motivation: s-t Connectivity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Depth First Search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Tree vs. Graph Traversals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Challenge: Invent Breadth First</a:t>
            </a:r>
            <a:br>
              <a:rPr lang="en"/>
            </a:br>
            <a:r>
              <a:rPr lang="en"/>
              <a:t>Search</a:t>
            </a:r>
            <a:endParaRPr/>
          </a:p>
        </p:txBody>
      </p:sp>
      <p:sp>
        <p:nvSpPr>
          <p:cNvPr id="159" name="Google Shape;159;p26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Definition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Definition (Reminder)</a:t>
            </a:r>
            <a:endParaRPr/>
          </a:p>
        </p:txBody>
      </p:sp>
      <p:sp>
        <p:nvSpPr>
          <p:cNvPr id="165" name="Google Shape;165;p27"/>
          <p:cNvSpPr/>
          <p:nvPr/>
        </p:nvSpPr>
        <p:spPr>
          <a:xfrm>
            <a:off x="362638" y="2944275"/>
            <a:ext cx="435300" cy="435300"/>
          </a:xfrm>
          <a:prstGeom prst="ellipse">
            <a:avLst/>
          </a:prstGeom>
          <a:solidFill>
            <a:srgbClr val="93C47D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" name="Google Shape;166;p27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tree consists of: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set of nodes.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set of edges that connect those nodes.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Constraint: There is exactly one path between any two nodes.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Green structures below are trees. Pink ones are not.</a:t>
            </a:r>
            <a:endParaRPr/>
          </a:p>
        </p:txBody>
      </p:sp>
      <p:grpSp>
        <p:nvGrpSpPr>
          <p:cNvPr id="167" name="Google Shape;167;p27"/>
          <p:cNvGrpSpPr/>
          <p:nvPr/>
        </p:nvGrpSpPr>
        <p:grpSpPr>
          <a:xfrm>
            <a:off x="4696588" y="2940275"/>
            <a:ext cx="1430074" cy="1721325"/>
            <a:chOff x="4696588" y="2940275"/>
            <a:chExt cx="1430074" cy="1721325"/>
          </a:xfrm>
        </p:grpSpPr>
        <p:sp>
          <p:nvSpPr>
            <p:cNvPr id="168" name="Google Shape;168;p27"/>
            <p:cNvSpPr/>
            <p:nvPr/>
          </p:nvSpPr>
          <p:spPr>
            <a:xfrm>
              <a:off x="5212963" y="2940275"/>
              <a:ext cx="435300" cy="435300"/>
            </a:xfrm>
            <a:prstGeom prst="ellipse">
              <a:avLst/>
            </a:prstGeom>
            <a:solidFill>
              <a:srgbClr val="EA9999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69" name="Google Shape;169;p27"/>
            <p:cNvCxnSpPr>
              <a:stCxn id="170" idx="1"/>
              <a:endCxn id="171" idx="5"/>
            </p:cNvCxnSpPr>
            <p:nvPr/>
          </p:nvCxnSpPr>
          <p:spPr>
            <a:xfrm rot="10800000">
              <a:off x="5068211" y="3961848"/>
              <a:ext cx="170400" cy="328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2" name="Google Shape;172;p27"/>
            <p:cNvCxnSpPr>
              <a:stCxn id="171" idx="7"/>
              <a:endCxn id="168" idx="3"/>
            </p:cNvCxnSpPr>
            <p:nvPr/>
          </p:nvCxnSpPr>
          <p:spPr>
            <a:xfrm rot="10800000" flipH="1">
              <a:off x="5068140" y="3311973"/>
              <a:ext cx="208500" cy="342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" name="Google Shape;173;p27"/>
            <p:cNvCxnSpPr>
              <a:stCxn id="174" idx="1"/>
              <a:endCxn id="168" idx="5"/>
            </p:cNvCxnSpPr>
            <p:nvPr/>
          </p:nvCxnSpPr>
          <p:spPr>
            <a:xfrm rot="10800000">
              <a:off x="5584411" y="3311973"/>
              <a:ext cx="170700" cy="342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27"/>
            <p:cNvSpPr/>
            <p:nvPr/>
          </p:nvSpPr>
          <p:spPr>
            <a:xfrm>
              <a:off x="5174863" y="4226300"/>
              <a:ext cx="435300" cy="435300"/>
            </a:xfrm>
            <a:prstGeom prst="ellipse">
              <a:avLst/>
            </a:prstGeom>
            <a:solidFill>
              <a:srgbClr val="EA9999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75" name="Google Shape;175;p27"/>
            <p:cNvCxnSpPr>
              <a:stCxn id="174" idx="3"/>
              <a:endCxn id="170" idx="7"/>
            </p:cNvCxnSpPr>
            <p:nvPr/>
          </p:nvCxnSpPr>
          <p:spPr>
            <a:xfrm flipH="1">
              <a:off x="5546311" y="3961777"/>
              <a:ext cx="208800" cy="328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4" name="Google Shape;174;p27"/>
            <p:cNvSpPr/>
            <p:nvPr/>
          </p:nvSpPr>
          <p:spPr>
            <a:xfrm>
              <a:off x="5691363" y="3590225"/>
              <a:ext cx="435300" cy="435300"/>
            </a:xfrm>
            <a:prstGeom prst="ellipse">
              <a:avLst/>
            </a:prstGeom>
            <a:solidFill>
              <a:srgbClr val="EA9999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71" name="Google Shape;171;p27"/>
            <p:cNvSpPr/>
            <p:nvPr/>
          </p:nvSpPr>
          <p:spPr>
            <a:xfrm>
              <a:off x="4696588" y="3590225"/>
              <a:ext cx="435300" cy="435300"/>
            </a:xfrm>
            <a:prstGeom prst="ellipse">
              <a:avLst/>
            </a:prstGeom>
            <a:solidFill>
              <a:srgbClr val="EA9999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176" name="Google Shape;176;p27"/>
          <p:cNvGrpSpPr/>
          <p:nvPr/>
        </p:nvGrpSpPr>
        <p:grpSpPr>
          <a:xfrm>
            <a:off x="6805488" y="2870888"/>
            <a:ext cx="1865374" cy="1790700"/>
            <a:chOff x="6805488" y="2870888"/>
            <a:chExt cx="1865374" cy="1790700"/>
          </a:xfrm>
        </p:grpSpPr>
        <p:sp>
          <p:nvSpPr>
            <p:cNvPr id="177" name="Google Shape;177;p27"/>
            <p:cNvSpPr/>
            <p:nvPr/>
          </p:nvSpPr>
          <p:spPr>
            <a:xfrm>
              <a:off x="7757163" y="2871013"/>
              <a:ext cx="435300" cy="435300"/>
            </a:xfrm>
            <a:prstGeom prst="ellipse">
              <a:avLst/>
            </a:prstGeom>
            <a:solidFill>
              <a:srgbClr val="EA9999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78" name="Google Shape;178;p27"/>
            <p:cNvCxnSpPr>
              <a:stCxn id="179" idx="0"/>
              <a:endCxn id="180" idx="3"/>
            </p:cNvCxnSpPr>
            <p:nvPr/>
          </p:nvCxnSpPr>
          <p:spPr>
            <a:xfrm rot="10800000" flipH="1">
              <a:off x="7023138" y="3892388"/>
              <a:ext cx="281400" cy="333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" name="Google Shape;181;p27"/>
            <p:cNvCxnSpPr>
              <a:stCxn id="180" idx="7"/>
              <a:endCxn id="177" idx="3"/>
            </p:cNvCxnSpPr>
            <p:nvPr/>
          </p:nvCxnSpPr>
          <p:spPr>
            <a:xfrm rot="10800000" flipH="1">
              <a:off x="7612340" y="3242711"/>
              <a:ext cx="208500" cy="342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" name="Google Shape;182;p27"/>
            <p:cNvCxnSpPr>
              <a:stCxn id="183" idx="1"/>
              <a:endCxn id="177" idx="5"/>
            </p:cNvCxnSpPr>
            <p:nvPr/>
          </p:nvCxnSpPr>
          <p:spPr>
            <a:xfrm rot="10800000">
              <a:off x="8128611" y="3242711"/>
              <a:ext cx="170700" cy="342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3" name="Google Shape;183;p27"/>
            <p:cNvSpPr/>
            <p:nvPr/>
          </p:nvSpPr>
          <p:spPr>
            <a:xfrm>
              <a:off x="8235563" y="3520963"/>
              <a:ext cx="435300" cy="435300"/>
            </a:xfrm>
            <a:prstGeom prst="ellipse">
              <a:avLst/>
            </a:prstGeom>
            <a:solidFill>
              <a:srgbClr val="EA9999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80" name="Google Shape;180;p27"/>
            <p:cNvSpPr/>
            <p:nvPr/>
          </p:nvSpPr>
          <p:spPr>
            <a:xfrm>
              <a:off x="7240788" y="3520963"/>
              <a:ext cx="435300" cy="435300"/>
            </a:xfrm>
            <a:prstGeom prst="ellipse">
              <a:avLst/>
            </a:prstGeom>
            <a:solidFill>
              <a:srgbClr val="EA9999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79" name="Google Shape;179;p27"/>
            <p:cNvSpPr/>
            <p:nvPr/>
          </p:nvSpPr>
          <p:spPr>
            <a:xfrm>
              <a:off x="6805488" y="4226288"/>
              <a:ext cx="435300" cy="435300"/>
            </a:xfrm>
            <a:prstGeom prst="ellipse">
              <a:avLst/>
            </a:prstGeom>
            <a:solidFill>
              <a:srgbClr val="EA9999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84" name="Google Shape;184;p27"/>
            <p:cNvCxnSpPr>
              <a:stCxn id="179" idx="4"/>
              <a:endCxn id="177" idx="0"/>
            </p:cNvCxnSpPr>
            <p:nvPr/>
          </p:nvCxnSpPr>
          <p:spPr>
            <a:xfrm rot="-5400000">
              <a:off x="6603588" y="3290438"/>
              <a:ext cx="1790700" cy="951600"/>
            </a:xfrm>
            <a:prstGeom prst="curvedConnector5">
              <a:avLst>
                <a:gd name="adj1" fmla="val -13298"/>
                <a:gd name="adj2" fmla="val -53170"/>
                <a:gd name="adj3" fmla="val 113291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5" name="Google Shape;185;p27"/>
          <p:cNvGrpSpPr/>
          <p:nvPr/>
        </p:nvGrpSpPr>
        <p:grpSpPr>
          <a:xfrm>
            <a:off x="1318250" y="2924125"/>
            <a:ext cx="984900" cy="1767500"/>
            <a:chOff x="1318250" y="2924125"/>
            <a:chExt cx="984900" cy="1767500"/>
          </a:xfrm>
        </p:grpSpPr>
        <p:sp>
          <p:nvSpPr>
            <p:cNvPr id="186" name="Google Shape;186;p27"/>
            <p:cNvSpPr/>
            <p:nvPr/>
          </p:nvSpPr>
          <p:spPr>
            <a:xfrm>
              <a:off x="1318250" y="3544050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87" name="Google Shape;187;p27"/>
            <p:cNvCxnSpPr>
              <a:stCxn id="188" idx="0"/>
              <a:endCxn id="186" idx="5"/>
            </p:cNvCxnSpPr>
            <p:nvPr/>
          </p:nvCxnSpPr>
          <p:spPr>
            <a:xfrm rot="10800000">
              <a:off x="1689750" y="3915525"/>
              <a:ext cx="132000" cy="340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7"/>
            <p:cNvCxnSpPr>
              <a:stCxn id="186" idx="0"/>
              <a:endCxn id="190" idx="3"/>
            </p:cNvCxnSpPr>
            <p:nvPr/>
          </p:nvCxnSpPr>
          <p:spPr>
            <a:xfrm rot="10800000" flipH="1">
              <a:off x="1535900" y="3295650"/>
              <a:ext cx="395700" cy="248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8" name="Google Shape;188;p27"/>
            <p:cNvSpPr/>
            <p:nvPr/>
          </p:nvSpPr>
          <p:spPr>
            <a:xfrm>
              <a:off x="1604100" y="4256325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90" name="Google Shape;190;p27"/>
            <p:cNvSpPr/>
            <p:nvPr/>
          </p:nvSpPr>
          <p:spPr>
            <a:xfrm>
              <a:off x="1867850" y="2924125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191" name="Google Shape;191;p27"/>
          <p:cNvGrpSpPr/>
          <p:nvPr/>
        </p:nvGrpSpPr>
        <p:grpSpPr>
          <a:xfrm>
            <a:off x="2507425" y="3046500"/>
            <a:ext cx="1943375" cy="1767500"/>
            <a:chOff x="2507425" y="3046500"/>
            <a:chExt cx="1943375" cy="1767500"/>
          </a:xfrm>
        </p:grpSpPr>
        <p:sp>
          <p:nvSpPr>
            <p:cNvPr id="192" name="Google Shape;192;p27"/>
            <p:cNvSpPr/>
            <p:nvPr/>
          </p:nvSpPr>
          <p:spPr>
            <a:xfrm>
              <a:off x="3037600" y="3666425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93" name="Google Shape;193;p27"/>
            <p:cNvCxnSpPr>
              <a:stCxn id="194" idx="0"/>
              <a:endCxn id="192" idx="5"/>
            </p:cNvCxnSpPr>
            <p:nvPr/>
          </p:nvCxnSpPr>
          <p:spPr>
            <a:xfrm rot="10800000">
              <a:off x="3409100" y="4037900"/>
              <a:ext cx="360600" cy="340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5" name="Google Shape;195;p27"/>
            <p:cNvCxnSpPr>
              <a:stCxn id="192" idx="0"/>
              <a:endCxn id="196" idx="3"/>
            </p:cNvCxnSpPr>
            <p:nvPr/>
          </p:nvCxnSpPr>
          <p:spPr>
            <a:xfrm rot="10800000" flipH="1">
              <a:off x="3255250" y="3418025"/>
              <a:ext cx="395700" cy="248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4" name="Google Shape;194;p27"/>
            <p:cNvSpPr/>
            <p:nvPr/>
          </p:nvSpPr>
          <p:spPr>
            <a:xfrm>
              <a:off x="3552050" y="4378700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96" name="Google Shape;196;p27"/>
            <p:cNvSpPr/>
            <p:nvPr/>
          </p:nvSpPr>
          <p:spPr>
            <a:xfrm>
              <a:off x="3587200" y="3046500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97" name="Google Shape;197;p27"/>
            <p:cNvSpPr/>
            <p:nvPr/>
          </p:nvSpPr>
          <p:spPr>
            <a:xfrm>
              <a:off x="2507425" y="4378700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98" name="Google Shape;198;p27"/>
            <p:cNvSpPr/>
            <p:nvPr/>
          </p:nvSpPr>
          <p:spPr>
            <a:xfrm>
              <a:off x="3029738" y="4378700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99" name="Google Shape;199;p27"/>
            <p:cNvCxnSpPr>
              <a:stCxn id="192" idx="3"/>
              <a:endCxn id="197" idx="0"/>
            </p:cNvCxnSpPr>
            <p:nvPr/>
          </p:nvCxnSpPr>
          <p:spPr>
            <a:xfrm flipH="1">
              <a:off x="2725148" y="4037977"/>
              <a:ext cx="376200" cy="340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" name="Google Shape;200;p27"/>
            <p:cNvCxnSpPr>
              <a:stCxn id="192" idx="4"/>
              <a:endCxn id="198" idx="0"/>
            </p:cNvCxnSpPr>
            <p:nvPr/>
          </p:nvCxnSpPr>
          <p:spPr>
            <a:xfrm flipH="1">
              <a:off x="3247450" y="4101725"/>
              <a:ext cx="7800" cy="276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1" name="Google Shape;201;p27"/>
            <p:cNvSpPr/>
            <p:nvPr/>
          </p:nvSpPr>
          <p:spPr>
            <a:xfrm>
              <a:off x="4015500" y="3666425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02" name="Google Shape;202;p27"/>
            <p:cNvCxnSpPr>
              <a:stCxn id="201" idx="0"/>
              <a:endCxn id="196" idx="5"/>
            </p:cNvCxnSpPr>
            <p:nvPr/>
          </p:nvCxnSpPr>
          <p:spPr>
            <a:xfrm rot="10800000">
              <a:off x="3958650" y="3418025"/>
              <a:ext cx="274500" cy="248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Rooted Trees Definition (Reminder)</a:t>
            </a:r>
            <a:endParaRPr/>
          </a:p>
        </p:txBody>
      </p:sp>
      <p:sp>
        <p:nvSpPr>
          <p:cNvPr id="208" name="Google Shape;208;p28"/>
          <p:cNvSpPr/>
          <p:nvPr/>
        </p:nvSpPr>
        <p:spPr>
          <a:xfrm>
            <a:off x="1055013" y="2936050"/>
            <a:ext cx="435300" cy="435300"/>
          </a:xfrm>
          <a:prstGeom prst="ellipse">
            <a:avLst/>
          </a:prstGeom>
          <a:solidFill>
            <a:srgbClr val="93C47D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9" name="Google Shape;209;p28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rooted tree is a tree where we’ve chosen one node as the “root”.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 node N except the root has exactly one parent, defined as the first node on the path from N to the root.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node with no child is called a leaf.</a:t>
            </a:r>
            <a:endParaRPr/>
          </a:p>
        </p:txBody>
      </p:sp>
      <p:grpSp>
        <p:nvGrpSpPr>
          <p:cNvPr id="210" name="Google Shape;210;p28"/>
          <p:cNvGrpSpPr/>
          <p:nvPr/>
        </p:nvGrpSpPr>
        <p:grpSpPr>
          <a:xfrm>
            <a:off x="3717650" y="2936050"/>
            <a:ext cx="984900" cy="1767500"/>
            <a:chOff x="1318250" y="2924125"/>
            <a:chExt cx="984900" cy="1767500"/>
          </a:xfrm>
        </p:grpSpPr>
        <p:sp>
          <p:nvSpPr>
            <p:cNvPr id="211" name="Google Shape;211;p28"/>
            <p:cNvSpPr/>
            <p:nvPr/>
          </p:nvSpPr>
          <p:spPr>
            <a:xfrm>
              <a:off x="1318250" y="3544050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B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12" name="Google Shape;212;p28"/>
            <p:cNvCxnSpPr>
              <a:stCxn id="213" idx="0"/>
              <a:endCxn id="211" idx="5"/>
            </p:cNvCxnSpPr>
            <p:nvPr/>
          </p:nvCxnSpPr>
          <p:spPr>
            <a:xfrm rot="10800000">
              <a:off x="1689750" y="3915525"/>
              <a:ext cx="132000" cy="340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" name="Google Shape;214;p28"/>
            <p:cNvCxnSpPr>
              <a:stCxn id="211" idx="0"/>
              <a:endCxn id="215" idx="3"/>
            </p:cNvCxnSpPr>
            <p:nvPr/>
          </p:nvCxnSpPr>
          <p:spPr>
            <a:xfrm rot="10800000" flipH="1">
              <a:off x="1535900" y="3295650"/>
              <a:ext cx="395700" cy="248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3" name="Google Shape;213;p28"/>
            <p:cNvSpPr/>
            <p:nvPr/>
          </p:nvSpPr>
          <p:spPr>
            <a:xfrm>
              <a:off x="1604100" y="4256325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C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15" name="Google Shape;215;p28"/>
            <p:cNvSpPr/>
            <p:nvPr/>
          </p:nvSpPr>
          <p:spPr>
            <a:xfrm>
              <a:off x="1867850" y="2924125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A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16" name="Google Shape;216;p28"/>
          <p:cNvGrpSpPr/>
          <p:nvPr/>
        </p:nvGrpSpPr>
        <p:grpSpPr>
          <a:xfrm>
            <a:off x="5592625" y="3058425"/>
            <a:ext cx="1943375" cy="1767500"/>
            <a:chOff x="2507425" y="3046500"/>
            <a:chExt cx="1943375" cy="1767500"/>
          </a:xfrm>
        </p:grpSpPr>
        <p:sp>
          <p:nvSpPr>
            <p:cNvPr id="217" name="Google Shape;217;p28"/>
            <p:cNvSpPr/>
            <p:nvPr/>
          </p:nvSpPr>
          <p:spPr>
            <a:xfrm>
              <a:off x="3037600" y="3666425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B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18" name="Google Shape;218;p28"/>
            <p:cNvCxnSpPr>
              <a:stCxn id="219" idx="0"/>
              <a:endCxn id="217" idx="5"/>
            </p:cNvCxnSpPr>
            <p:nvPr/>
          </p:nvCxnSpPr>
          <p:spPr>
            <a:xfrm rot="10800000">
              <a:off x="3409100" y="4037900"/>
              <a:ext cx="360600" cy="340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0" name="Google Shape;220;p28"/>
            <p:cNvCxnSpPr>
              <a:stCxn id="217" idx="0"/>
              <a:endCxn id="221" idx="3"/>
            </p:cNvCxnSpPr>
            <p:nvPr/>
          </p:nvCxnSpPr>
          <p:spPr>
            <a:xfrm rot="10800000" flipH="1">
              <a:off x="3255250" y="3418025"/>
              <a:ext cx="395700" cy="248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9" name="Google Shape;219;p28"/>
            <p:cNvSpPr/>
            <p:nvPr/>
          </p:nvSpPr>
          <p:spPr>
            <a:xfrm>
              <a:off x="3552050" y="4378700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C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21" name="Google Shape;221;p28"/>
            <p:cNvSpPr/>
            <p:nvPr/>
          </p:nvSpPr>
          <p:spPr>
            <a:xfrm>
              <a:off x="3587200" y="3046500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A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22" name="Google Shape;222;p28"/>
            <p:cNvSpPr/>
            <p:nvPr/>
          </p:nvSpPr>
          <p:spPr>
            <a:xfrm>
              <a:off x="2507425" y="4378700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C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23" name="Google Shape;223;p28"/>
            <p:cNvSpPr/>
            <p:nvPr/>
          </p:nvSpPr>
          <p:spPr>
            <a:xfrm>
              <a:off x="3029738" y="4378700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C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24" name="Google Shape;224;p28"/>
            <p:cNvCxnSpPr>
              <a:stCxn id="217" idx="3"/>
              <a:endCxn id="222" idx="0"/>
            </p:cNvCxnSpPr>
            <p:nvPr/>
          </p:nvCxnSpPr>
          <p:spPr>
            <a:xfrm flipH="1">
              <a:off x="2725148" y="4037977"/>
              <a:ext cx="376200" cy="340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5" name="Google Shape;225;p28"/>
            <p:cNvCxnSpPr>
              <a:stCxn id="217" idx="4"/>
              <a:endCxn id="223" idx="0"/>
            </p:cNvCxnSpPr>
            <p:nvPr/>
          </p:nvCxnSpPr>
          <p:spPr>
            <a:xfrm flipH="1">
              <a:off x="3247450" y="4101725"/>
              <a:ext cx="7800" cy="276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6" name="Google Shape;226;p28"/>
            <p:cNvSpPr/>
            <p:nvPr/>
          </p:nvSpPr>
          <p:spPr>
            <a:xfrm>
              <a:off x="4015500" y="3666425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B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27" name="Google Shape;227;p28"/>
            <p:cNvCxnSpPr>
              <a:stCxn id="226" idx="0"/>
              <a:endCxn id="221" idx="5"/>
            </p:cNvCxnSpPr>
            <p:nvPr/>
          </p:nvCxnSpPr>
          <p:spPr>
            <a:xfrm rot="10800000">
              <a:off x="3958650" y="3418025"/>
              <a:ext cx="274500" cy="248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8" name="Google Shape;228;p28"/>
          <p:cNvSpPr txBox="1"/>
          <p:nvPr/>
        </p:nvSpPr>
        <p:spPr>
          <a:xfrm>
            <a:off x="238750" y="3473775"/>
            <a:ext cx="3688500" cy="15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For each of these: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 is the root.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B is a child of A.     (and C of B)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 is a parent of B.    (and B of C)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Trees</a:t>
            </a:r>
            <a:endParaRPr/>
          </a:p>
        </p:txBody>
      </p:sp>
      <p:sp>
        <p:nvSpPr>
          <p:cNvPr id="234" name="Google Shape;234;p29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We’ve seen trees as nodes in a specific data structure implementation: Search Trees, Tries, Heaps, Disjoint Sets, etc.</a:t>
            </a:r>
            <a:endParaRPr/>
          </a:p>
        </p:txBody>
      </p:sp>
      <p:pic>
        <p:nvPicPr>
          <p:cNvPr id="235" name="Google Shape;23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4827" y="1379775"/>
            <a:ext cx="1472526" cy="1900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1821" y="1594250"/>
            <a:ext cx="1928750" cy="1349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96777" y="3356100"/>
            <a:ext cx="4336250" cy="157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71225" y="1468749"/>
            <a:ext cx="1439925" cy="154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Trees</a:t>
            </a:r>
            <a:endParaRPr/>
          </a:p>
        </p:txBody>
      </p:sp>
      <p:sp>
        <p:nvSpPr>
          <p:cNvPr id="244" name="Google Shape;244;p30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Trees are a more general concept.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Organization charts.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Family lineages* including phylogenetic trees.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MOH Training Manual for Management of Malaria.</a:t>
            </a:r>
            <a:endParaRPr/>
          </a:p>
        </p:txBody>
      </p:sp>
      <p:pic>
        <p:nvPicPr>
          <p:cNvPr id="245" name="Google Shape;24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2050" y="2819225"/>
            <a:ext cx="4128651" cy="232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0875" y="2057425"/>
            <a:ext cx="2401726" cy="299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0"/>
          <p:cNvPicPr preferRelativeResize="0"/>
          <p:nvPr/>
        </p:nvPicPr>
        <p:blipFill rotWithShape="1">
          <a:blip r:embed="rId5">
            <a:alphaModFix/>
          </a:blip>
          <a:srcRect l="-2070" r="2069"/>
          <a:stretch/>
        </p:blipFill>
        <p:spPr>
          <a:xfrm>
            <a:off x="6507900" y="635575"/>
            <a:ext cx="2024449" cy="24617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0"/>
          <p:cNvSpPr txBox="1"/>
          <p:nvPr/>
        </p:nvSpPr>
        <p:spPr>
          <a:xfrm>
            <a:off x="69750" y="4225375"/>
            <a:ext cx="13626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*: Not all family lineages are trees!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1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22, CS61B, Fall 2023</a:t>
            </a:r>
            <a:endParaRPr/>
          </a:p>
        </p:txBody>
      </p:sp>
      <p:sp>
        <p:nvSpPr>
          <p:cNvPr id="254" name="Google Shape;254;p31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Trees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Tree Definition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Tree Traversals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Usefulness of Tree Traversals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Graphs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Graph Definition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Some Famous Graph Problems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Graph Traversals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Motivation: s-t Connectivity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Depth First Search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Tree vs. Graph Traversals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Challenge: Invent Breadth First</a:t>
            </a:r>
            <a:br>
              <a:rPr lang="en"/>
            </a:br>
            <a:r>
              <a:rPr lang="en"/>
              <a:t>Search</a:t>
            </a:r>
            <a:endParaRPr/>
          </a:p>
        </p:txBody>
      </p:sp>
      <p:sp>
        <p:nvSpPr>
          <p:cNvPr id="255" name="Google Shape;255;p31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Traversals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File System Tree</a:t>
            </a:r>
            <a:endParaRPr/>
          </a:p>
        </p:txBody>
      </p:sp>
      <p:sp>
        <p:nvSpPr>
          <p:cNvPr id="261" name="Google Shape;261;p32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Sometimes you want to iterate over a tree. For example, suppose you want to find the total size of all files in a folder called 61b.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one might call “tree iteration” is actually called “tree traversal.”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Unlike lists, there are many orders in which we might </a:t>
            </a:r>
            <a:r>
              <a:rPr lang="en" b="1"/>
              <a:t>visit</a:t>
            </a:r>
            <a:r>
              <a:rPr lang="en"/>
              <a:t> the nodes.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Each ordering is useful in different ways.</a:t>
            </a:r>
            <a:endParaRPr/>
          </a:p>
        </p:txBody>
      </p:sp>
      <p:sp>
        <p:nvSpPr>
          <p:cNvPr id="262" name="Google Shape;262;p32"/>
          <p:cNvSpPr/>
          <p:nvPr/>
        </p:nvSpPr>
        <p:spPr>
          <a:xfrm>
            <a:off x="5127749" y="2950070"/>
            <a:ext cx="985200" cy="3732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hw1</a:t>
            </a:r>
            <a:endParaRPr/>
          </a:p>
        </p:txBody>
      </p:sp>
      <p:sp>
        <p:nvSpPr>
          <p:cNvPr id="263" name="Google Shape;263;p32"/>
          <p:cNvSpPr/>
          <p:nvPr/>
        </p:nvSpPr>
        <p:spPr>
          <a:xfrm>
            <a:off x="4453700" y="3558300"/>
            <a:ext cx="1166700" cy="3732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synthesizer</a:t>
            </a:r>
            <a:endParaRPr/>
          </a:p>
        </p:txBody>
      </p:sp>
      <p:sp>
        <p:nvSpPr>
          <p:cNvPr id="264" name="Google Shape;264;p32"/>
          <p:cNvSpPr/>
          <p:nvPr/>
        </p:nvSpPr>
        <p:spPr>
          <a:xfrm>
            <a:off x="5932974" y="3558295"/>
            <a:ext cx="985200" cy="3732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</a:t>
            </a:r>
            <a:endParaRPr/>
          </a:p>
        </p:txBody>
      </p:sp>
      <p:sp>
        <p:nvSpPr>
          <p:cNvPr id="265" name="Google Shape;265;p32"/>
          <p:cNvSpPr/>
          <p:nvPr/>
        </p:nvSpPr>
        <p:spPr>
          <a:xfrm>
            <a:off x="7259849" y="3558295"/>
            <a:ext cx="1725600" cy="3732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GuitarHeroLite.java</a:t>
            </a:r>
            <a:endParaRPr/>
          </a:p>
        </p:txBody>
      </p:sp>
      <p:sp>
        <p:nvSpPr>
          <p:cNvPr id="266" name="Google Shape;266;p32"/>
          <p:cNvSpPr/>
          <p:nvPr/>
        </p:nvSpPr>
        <p:spPr>
          <a:xfrm>
            <a:off x="5313899" y="4498820"/>
            <a:ext cx="985200" cy="3732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hw1.md</a:t>
            </a:r>
            <a:endParaRPr/>
          </a:p>
        </p:txBody>
      </p:sp>
      <p:sp>
        <p:nvSpPr>
          <p:cNvPr id="267" name="Google Shape;267;p32"/>
          <p:cNvSpPr/>
          <p:nvPr/>
        </p:nvSpPr>
        <p:spPr>
          <a:xfrm>
            <a:off x="6620975" y="4498825"/>
            <a:ext cx="1725600" cy="3732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karplus-strong.png</a:t>
            </a:r>
            <a:endParaRPr/>
          </a:p>
        </p:txBody>
      </p:sp>
      <p:cxnSp>
        <p:nvCxnSpPr>
          <p:cNvPr id="268" name="Google Shape;268;p32"/>
          <p:cNvCxnSpPr>
            <a:stCxn id="262" idx="2"/>
            <a:endCxn id="263" idx="0"/>
          </p:cNvCxnSpPr>
          <p:nvPr/>
        </p:nvCxnSpPr>
        <p:spPr>
          <a:xfrm flipH="1">
            <a:off x="5037149" y="3323270"/>
            <a:ext cx="583200" cy="234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" name="Google Shape;269;p32"/>
          <p:cNvCxnSpPr>
            <a:stCxn id="262" idx="2"/>
            <a:endCxn id="264" idx="0"/>
          </p:cNvCxnSpPr>
          <p:nvPr/>
        </p:nvCxnSpPr>
        <p:spPr>
          <a:xfrm>
            <a:off x="5620349" y="3323270"/>
            <a:ext cx="805200" cy="234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" name="Google Shape;270;p32"/>
          <p:cNvCxnSpPr>
            <a:stCxn id="262" idx="2"/>
            <a:endCxn id="265" idx="0"/>
          </p:cNvCxnSpPr>
          <p:nvPr/>
        </p:nvCxnSpPr>
        <p:spPr>
          <a:xfrm>
            <a:off x="5620349" y="3323270"/>
            <a:ext cx="2502300" cy="234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1" name="Google Shape;271;p32"/>
          <p:cNvCxnSpPr>
            <a:stCxn id="264" idx="2"/>
            <a:endCxn id="266" idx="0"/>
          </p:cNvCxnSpPr>
          <p:nvPr/>
        </p:nvCxnSpPr>
        <p:spPr>
          <a:xfrm flipH="1">
            <a:off x="5806374" y="3931495"/>
            <a:ext cx="619200" cy="56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2" name="Google Shape;272;p32"/>
          <p:cNvCxnSpPr>
            <a:stCxn id="264" idx="2"/>
            <a:endCxn id="267" idx="0"/>
          </p:cNvCxnSpPr>
          <p:nvPr/>
        </p:nvCxnSpPr>
        <p:spPr>
          <a:xfrm>
            <a:off x="6425574" y="3931495"/>
            <a:ext cx="1058100" cy="56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3" name="Google Shape;273;p32"/>
          <p:cNvCxnSpPr>
            <a:stCxn id="263" idx="2"/>
          </p:cNvCxnSpPr>
          <p:nvPr/>
        </p:nvCxnSpPr>
        <p:spPr>
          <a:xfrm flipH="1">
            <a:off x="4803650" y="3931500"/>
            <a:ext cx="233400" cy="158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4" name="Google Shape;274;p32"/>
          <p:cNvCxnSpPr>
            <a:stCxn id="263" idx="2"/>
          </p:cNvCxnSpPr>
          <p:nvPr/>
        </p:nvCxnSpPr>
        <p:spPr>
          <a:xfrm flipH="1">
            <a:off x="5021450" y="3931500"/>
            <a:ext cx="15600" cy="189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5" name="Google Shape;275;p32"/>
          <p:cNvCxnSpPr>
            <a:stCxn id="263" idx="2"/>
          </p:cNvCxnSpPr>
          <p:nvPr/>
        </p:nvCxnSpPr>
        <p:spPr>
          <a:xfrm>
            <a:off x="5037050" y="3931500"/>
            <a:ext cx="222900" cy="169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6" name="Google Shape;276;p32"/>
          <p:cNvSpPr txBox="1"/>
          <p:nvPr/>
        </p:nvSpPr>
        <p:spPr>
          <a:xfrm>
            <a:off x="4730907" y="4009490"/>
            <a:ext cx="549600" cy="1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...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2"/>
          <p:cNvSpPr/>
          <p:nvPr/>
        </p:nvSpPr>
        <p:spPr>
          <a:xfrm>
            <a:off x="3253085" y="2320320"/>
            <a:ext cx="985200" cy="3732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61b</a:t>
            </a:r>
            <a:endParaRPr/>
          </a:p>
        </p:txBody>
      </p:sp>
      <p:cxnSp>
        <p:nvCxnSpPr>
          <p:cNvPr id="278" name="Google Shape;278;p32"/>
          <p:cNvCxnSpPr>
            <a:stCxn id="277" idx="2"/>
            <a:endCxn id="262" idx="0"/>
          </p:cNvCxnSpPr>
          <p:nvPr/>
        </p:nvCxnSpPr>
        <p:spPr>
          <a:xfrm>
            <a:off x="3745685" y="2693520"/>
            <a:ext cx="1874700" cy="256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9" name="Google Shape;279;p32"/>
          <p:cNvSpPr/>
          <p:nvPr/>
        </p:nvSpPr>
        <p:spPr>
          <a:xfrm>
            <a:off x="961259" y="2950070"/>
            <a:ext cx="985200" cy="3732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proj0</a:t>
            </a:r>
            <a:endParaRPr/>
          </a:p>
        </p:txBody>
      </p:sp>
      <p:cxnSp>
        <p:nvCxnSpPr>
          <p:cNvPr id="280" name="Google Shape;280;p32"/>
          <p:cNvCxnSpPr>
            <a:stCxn id="277" idx="2"/>
            <a:endCxn id="279" idx="0"/>
          </p:cNvCxnSpPr>
          <p:nvPr/>
        </p:nvCxnSpPr>
        <p:spPr>
          <a:xfrm flipH="1">
            <a:off x="1453985" y="2693520"/>
            <a:ext cx="2291700" cy="256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32"/>
          <p:cNvCxnSpPr>
            <a:stCxn id="277" idx="2"/>
          </p:cNvCxnSpPr>
          <p:nvPr/>
        </p:nvCxnSpPr>
        <p:spPr>
          <a:xfrm flipH="1">
            <a:off x="3463685" y="2693520"/>
            <a:ext cx="282000" cy="165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2" name="Google Shape;282;p32"/>
          <p:cNvCxnSpPr>
            <a:stCxn id="277" idx="2"/>
          </p:cNvCxnSpPr>
          <p:nvPr/>
        </p:nvCxnSpPr>
        <p:spPr>
          <a:xfrm>
            <a:off x="3745685" y="2693520"/>
            <a:ext cx="8400" cy="20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3" name="Google Shape;283;p32"/>
          <p:cNvCxnSpPr>
            <a:stCxn id="277" idx="2"/>
          </p:cNvCxnSpPr>
          <p:nvPr/>
        </p:nvCxnSpPr>
        <p:spPr>
          <a:xfrm>
            <a:off x="3745685" y="2693520"/>
            <a:ext cx="225900" cy="217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4" name="Google Shape;284;p32"/>
          <p:cNvSpPr/>
          <p:nvPr/>
        </p:nvSpPr>
        <p:spPr>
          <a:xfrm>
            <a:off x="124409" y="3558295"/>
            <a:ext cx="746700" cy="3732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audio</a:t>
            </a:r>
            <a:endParaRPr/>
          </a:p>
        </p:txBody>
      </p:sp>
      <p:sp>
        <p:nvSpPr>
          <p:cNvPr id="285" name="Google Shape;285;p32"/>
          <p:cNvSpPr/>
          <p:nvPr/>
        </p:nvSpPr>
        <p:spPr>
          <a:xfrm>
            <a:off x="1080509" y="3558295"/>
            <a:ext cx="746700" cy="3732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cxnSp>
        <p:nvCxnSpPr>
          <p:cNvPr id="286" name="Google Shape;286;p32"/>
          <p:cNvCxnSpPr>
            <a:stCxn id="279" idx="2"/>
            <a:endCxn id="284" idx="0"/>
          </p:cNvCxnSpPr>
          <p:nvPr/>
        </p:nvCxnSpPr>
        <p:spPr>
          <a:xfrm flipH="1">
            <a:off x="497759" y="3323270"/>
            <a:ext cx="956100" cy="234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" name="Google Shape;287;p32"/>
          <p:cNvCxnSpPr>
            <a:stCxn id="279" idx="2"/>
            <a:endCxn id="285" idx="0"/>
          </p:cNvCxnSpPr>
          <p:nvPr/>
        </p:nvCxnSpPr>
        <p:spPr>
          <a:xfrm>
            <a:off x="1453859" y="3323270"/>
            <a:ext cx="0" cy="234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8" name="Google Shape;288;p32"/>
          <p:cNvCxnSpPr>
            <a:stCxn id="279" idx="2"/>
          </p:cNvCxnSpPr>
          <p:nvPr/>
        </p:nvCxnSpPr>
        <p:spPr>
          <a:xfrm>
            <a:off x="1453859" y="3323270"/>
            <a:ext cx="174300" cy="21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9" name="Google Shape;289;p32"/>
          <p:cNvCxnSpPr>
            <a:stCxn id="279" idx="2"/>
          </p:cNvCxnSpPr>
          <p:nvPr/>
        </p:nvCxnSpPr>
        <p:spPr>
          <a:xfrm>
            <a:off x="1453859" y="3323270"/>
            <a:ext cx="371400" cy="120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0" name="Google Shape;290;p32"/>
          <p:cNvCxnSpPr>
            <a:stCxn id="284" idx="2"/>
          </p:cNvCxnSpPr>
          <p:nvPr/>
        </p:nvCxnSpPr>
        <p:spPr>
          <a:xfrm flipH="1">
            <a:off x="259259" y="3931495"/>
            <a:ext cx="238500" cy="154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1" name="Google Shape;291;p32"/>
          <p:cNvCxnSpPr>
            <a:stCxn id="284" idx="2"/>
          </p:cNvCxnSpPr>
          <p:nvPr/>
        </p:nvCxnSpPr>
        <p:spPr>
          <a:xfrm flipH="1">
            <a:off x="487259" y="3931495"/>
            <a:ext cx="10500" cy="174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2" name="Google Shape;292;p32"/>
          <p:cNvCxnSpPr>
            <a:stCxn id="284" idx="2"/>
          </p:cNvCxnSpPr>
          <p:nvPr/>
        </p:nvCxnSpPr>
        <p:spPr>
          <a:xfrm>
            <a:off x="497759" y="3931495"/>
            <a:ext cx="197100" cy="164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3" name="Google Shape;293;p32"/>
          <p:cNvCxnSpPr>
            <a:stCxn id="285" idx="2"/>
          </p:cNvCxnSpPr>
          <p:nvPr/>
        </p:nvCxnSpPr>
        <p:spPr>
          <a:xfrm flipH="1">
            <a:off x="1182059" y="3931495"/>
            <a:ext cx="271800" cy="154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4" name="Google Shape;294;p32"/>
          <p:cNvCxnSpPr>
            <a:stCxn id="285" idx="2"/>
          </p:cNvCxnSpPr>
          <p:nvPr/>
        </p:nvCxnSpPr>
        <p:spPr>
          <a:xfrm>
            <a:off x="1453859" y="3931495"/>
            <a:ext cx="8400" cy="174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5" name="Google Shape;295;p32"/>
          <p:cNvCxnSpPr>
            <a:stCxn id="285" idx="2"/>
            <a:endCxn id="296" idx="0"/>
          </p:cNvCxnSpPr>
          <p:nvPr/>
        </p:nvCxnSpPr>
        <p:spPr>
          <a:xfrm>
            <a:off x="1453859" y="3931495"/>
            <a:ext cx="909300" cy="242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7" name="Google Shape;297;p32"/>
          <p:cNvSpPr txBox="1"/>
          <p:nvPr/>
        </p:nvSpPr>
        <p:spPr>
          <a:xfrm>
            <a:off x="276654" y="3999120"/>
            <a:ext cx="549600" cy="1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...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2"/>
          <p:cNvSpPr txBox="1"/>
          <p:nvPr/>
        </p:nvSpPr>
        <p:spPr>
          <a:xfrm>
            <a:off x="1265224" y="4023475"/>
            <a:ext cx="549600" cy="1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...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2"/>
          <p:cNvSpPr txBox="1"/>
          <p:nvPr/>
        </p:nvSpPr>
        <p:spPr>
          <a:xfrm>
            <a:off x="1690379" y="3062772"/>
            <a:ext cx="549600" cy="1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...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2"/>
          <p:cNvSpPr txBox="1"/>
          <p:nvPr/>
        </p:nvSpPr>
        <p:spPr>
          <a:xfrm>
            <a:off x="3532899" y="2725342"/>
            <a:ext cx="549600" cy="1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...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2"/>
          <p:cNvSpPr/>
          <p:nvPr/>
        </p:nvSpPr>
        <p:spPr>
          <a:xfrm>
            <a:off x="1756050" y="4174025"/>
            <a:ext cx="1214400" cy="3732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planets.txt</a:t>
            </a:r>
            <a:endParaRPr/>
          </a:p>
        </p:txBody>
      </p:sp>
      <p:sp>
        <p:nvSpPr>
          <p:cNvPr id="301" name="Google Shape;301;p32"/>
          <p:cNvSpPr txBox="1"/>
          <p:nvPr/>
        </p:nvSpPr>
        <p:spPr>
          <a:xfrm>
            <a:off x="5280000" y="4781451"/>
            <a:ext cx="12822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23433 bytes</a:t>
            </a:r>
            <a:endParaRPr/>
          </a:p>
        </p:txBody>
      </p:sp>
      <p:sp>
        <p:nvSpPr>
          <p:cNvPr id="302" name="Google Shape;302;p32"/>
          <p:cNvSpPr txBox="1"/>
          <p:nvPr/>
        </p:nvSpPr>
        <p:spPr>
          <a:xfrm>
            <a:off x="6583778" y="4794275"/>
            <a:ext cx="12822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16180 bytes</a:t>
            </a:r>
            <a:endParaRPr/>
          </a:p>
        </p:txBody>
      </p:sp>
      <p:sp>
        <p:nvSpPr>
          <p:cNvPr id="303" name="Google Shape;303;p32"/>
          <p:cNvSpPr txBox="1"/>
          <p:nvPr/>
        </p:nvSpPr>
        <p:spPr>
          <a:xfrm>
            <a:off x="7230750" y="3865551"/>
            <a:ext cx="12822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1251 bytes</a:t>
            </a:r>
            <a:endParaRPr/>
          </a:p>
        </p:txBody>
      </p:sp>
      <p:sp>
        <p:nvSpPr>
          <p:cNvPr id="304" name="Google Shape;304;p32"/>
          <p:cNvSpPr txBox="1"/>
          <p:nvPr/>
        </p:nvSpPr>
        <p:spPr>
          <a:xfrm>
            <a:off x="1702649" y="4503473"/>
            <a:ext cx="1282200" cy="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851 bytes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Traversal Orderings</a:t>
            </a:r>
            <a:endParaRPr/>
          </a:p>
        </p:txBody>
      </p:sp>
      <p:sp>
        <p:nvSpPr>
          <p:cNvPr id="310" name="Google Shape;310;p33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Level Order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Visit top-to-bottom, left-to-right (like reading in English): DBFACEG</a:t>
            </a:r>
            <a:endParaRPr/>
          </a:p>
        </p:txBody>
      </p:sp>
      <p:sp>
        <p:nvSpPr>
          <p:cNvPr id="311" name="Google Shape;311;p33"/>
          <p:cNvSpPr/>
          <p:nvPr/>
        </p:nvSpPr>
        <p:spPr>
          <a:xfrm>
            <a:off x="2608650" y="449195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2" name="Google Shape;312;p33"/>
          <p:cNvSpPr/>
          <p:nvPr/>
        </p:nvSpPr>
        <p:spPr>
          <a:xfrm>
            <a:off x="3941334" y="449195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3" name="Google Shape;313;p33"/>
          <p:cNvSpPr/>
          <p:nvPr/>
        </p:nvSpPr>
        <p:spPr>
          <a:xfrm>
            <a:off x="3274992" y="380615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" name="Google Shape;314;p33"/>
          <p:cNvSpPr/>
          <p:nvPr/>
        </p:nvSpPr>
        <p:spPr>
          <a:xfrm>
            <a:off x="4362450" y="31799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5" name="Google Shape;315;p33"/>
          <p:cNvSpPr/>
          <p:nvPr/>
        </p:nvSpPr>
        <p:spPr>
          <a:xfrm>
            <a:off x="4723992" y="44753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6" name="Google Shape;316;p33"/>
          <p:cNvSpPr/>
          <p:nvPr/>
        </p:nvSpPr>
        <p:spPr>
          <a:xfrm>
            <a:off x="5390333" y="38657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7" name="Google Shape;317;p33"/>
          <p:cNvSpPr/>
          <p:nvPr/>
        </p:nvSpPr>
        <p:spPr>
          <a:xfrm>
            <a:off x="6056675" y="44753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18" name="Google Shape;318;p33"/>
          <p:cNvCxnSpPr>
            <a:stCxn id="311" idx="7"/>
            <a:endCxn id="313" idx="3"/>
          </p:cNvCxnSpPr>
          <p:nvPr/>
        </p:nvCxnSpPr>
        <p:spPr>
          <a:xfrm rot="10800000" flipH="1">
            <a:off x="3031415" y="4228785"/>
            <a:ext cx="316200" cy="33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319" name="Google Shape;319;p33"/>
          <p:cNvCxnSpPr>
            <a:stCxn id="313" idx="5"/>
            <a:endCxn id="312" idx="1"/>
          </p:cNvCxnSpPr>
          <p:nvPr/>
        </p:nvCxnSpPr>
        <p:spPr>
          <a:xfrm>
            <a:off x="3697757" y="4228915"/>
            <a:ext cx="316200" cy="33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0" name="Google Shape;320;p33"/>
          <p:cNvCxnSpPr>
            <a:stCxn id="315" idx="7"/>
            <a:endCxn id="316" idx="3"/>
          </p:cNvCxnSpPr>
          <p:nvPr/>
        </p:nvCxnSpPr>
        <p:spPr>
          <a:xfrm rot="10800000" flipH="1">
            <a:off x="5146757" y="4288360"/>
            <a:ext cx="316200" cy="259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321" name="Google Shape;321;p33"/>
          <p:cNvCxnSpPr>
            <a:stCxn id="316" idx="5"/>
            <a:endCxn id="317" idx="1"/>
          </p:cNvCxnSpPr>
          <p:nvPr/>
        </p:nvCxnSpPr>
        <p:spPr>
          <a:xfrm>
            <a:off x="5813098" y="4288490"/>
            <a:ext cx="316200" cy="259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2" name="Google Shape;322;p33"/>
          <p:cNvCxnSpPr>
            <a:stCxn id="314" idx="3"/>
            <a:endCxn id="313" idx="7"/>
          </p:cNvCxnSpPr>
          <p:nvPr/>
        </p:nvCxnSpPr>
        <p:spPr>
          <a:xfrm flipH="1">
            <a:off x="3697885" y="3602690"/>
            <a:ext cx="737100" cy="276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3" name="Google Shape;323;p33"/>
          <p:cNvCxnSpPr>
            <a:stCxn id="314" idx="5"/>
            <a:endCxn id="316" idx="1"/>
          </p:cNvCxnSpPr>
          <p:nvPr/>
        </p:nvCxnSpPr>
        <p:spPr>
          <a:xfrm>
            <a:off x="4785215" y="3602690"/>
            <a:ext cx="677700" cy="33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Traversal Orderings</a:t>
            </a:r>
            <a:endParaRPr/>
          </a:p>
        </p:txBody>
      </p:sp>
      <p:sp>
        <p:nvSpPr>
          <p:cNvPr id="329" name="Google Shape;329;p3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673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Level Order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Visit top-to-bottom, left-to-right (like reading in English): DBFACEG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Depth First Traversals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 types: Preorder, Inorder, Postorder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(rough) idea: Traverse “deep nodes” (e.g. A) before shallow ones (e.g. F).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Note: Traversing a node is different than “visiting” a node. See next slide.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34"/>
          <p:cNvSpPr/>
          <p:nvPr/>
        </p:nvSpPr>
        <p:spPr>
          <a:xfrm>
            <a:off x="2608650" y="449195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1" name="Google Shape;331;p34"/>
          <p:cNvSpPr/>
          <p:nvPr/>
        </p:nvSpPr>
        <p:spPr>
          <a:xfrm>
            <a:off x="3941334" y="449195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2" name="Google Shape;332;p34"/>
          <p:cNvSpPr/>
          <p:nvPr/>
        </p:nvSpPr>
        <p:spPr>
          <a:xfrm>
            <a:off x="3274992" y="380615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3" name="Google Shape;333;p34"/>
          <p:cNvSpPr/>
          <p:nvPr/>
        </p:nvSpPr>
        <p:spPr>
          <a:xfrm>
            <a:off x="4362450" y="31799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4" name="Google Shape;334;p34"/>
          <p:cNvSpPr/>
          <p:nvPr/>
        </p:nvSpPr>
        <p:spPr>
          <a:xfrm>
            <a:off x="4723992" y="44753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5" name="Google Shape;335;p34"/>
          <p:cNvSpPr/>
          <p:nvPr/>
        </p:nvSpPr>
        <p:spPr>
          <a:xfrm>
            <a:off x="5390333" y="38657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6" name="Google Shape;336;p34"/>
          <p:cNvSpPr/>
          <p:nvPr/>
        </p:nvSpPr>
        <p:spPr>
          <a:xfrm>
            <a:off x="6056675" y="44753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37" name="Google Shape;337;p34"/>
          <p:cNvCxnSpPr>
            <a:stCxn id="330" idx="7"/>
            <a:endCxn id="332" idx="3"/>
          </p:cNvCxnSpPr>
          <p:nvPr/>
        </p:nvCxnSpPr>
        <p:spPr>
          <a:xfrm rot="10800000" flipH="1">
            <a:off x="3031415" y="4228785"/>
            <a:ext cx="316200" cy="33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338" name="Google Shape;338;p34"/>
          <p:cNvCxnSpPr>
            <a:stCxn id="332" idx="5"/>
            <a:endCxn id="331" idx="1"/>
          </p:cNvCxnSpPr>
          <p:nvPr/>
        </p:nvCxnSpPr>
        <p:spPr>
          <a:xfrm>
            <a:off x="3697757" y="4228915"/>
            <a:ext cx="316200" cy="33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9" name="Google Shape;339;p34"/>
          <p:cNvCxnSpPr>
            <a:stCxn id="334" idx="7"/>
            <a:endCxn id="335" idx="3"/>
          </p:cNvCxnSpPr>
          <p:nvPr/>
        </p:nvCxnSpPr>
        <p:spPr>
          <a:xfrm rot="10800000" flipH="1">
            <a:off x="5146757" y="4288360"/>
            <a:ext cx="316200" cy="259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340" name="Google Shape;340;p34"/>
          <p:cNvCxnSpPr>
            <a:stCxn id="335" idx="5"/>
            <a:endCxn id="336" idx="1"/>
          </p:cNvCxnSpPr>
          <p:nvPr/>
        </p:nvCxnSpPr>
        <p:spPr>
          <a:xfrm>
            <a:off x="5813098" y="4288490"/>
            <a:ext cx="316200" cy="259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1" name="Google Shape;341;p34"/>
          <p:cNvCxnSpPr>
            <a:stCxn id="333" idx="3"/>
            <a:endCxn id="332" idx="7"/>
          </p:cNvCxnSpPr>
          <p:nvPr/>
        </p:nvCxnSpPr>
        <p:spPr>
          <a:xfrm flipH="1">
            <a:off x="3697885" y="3602690"/>
            <a:ext cx="737100" cy="276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2" name="Google Shape;342;p34"/>
          <p:cNvCxnSpPr>
            <a:stCxn id="333" idx="5"/>
            <a:endCxn id="335" idx="1"/>
          </p:cNvCxnSpPr>
          <p:nvPr/>
        </p:nvCxnSpPr>
        <p:spPr>
          <a:xfrm>
            <a:off x="4785215" y="3602690"/>
            <a:ext cx="677700" cy="33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5"/>
          <p:cNvSpPr txBox="1">
            <a:spLocks noGrp="1"/>
          </p:cNvSpPr>
          <p:nvPr>
            <p:ph type="body" idx="1"/>
          </p:nvPr>
        </p:nvSpPr>
        <p:spPr>
          <a:xfrm>
            <a:off x="107048" y="402200"/>
            <a:ext cx="5283300" cy="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Preorder: “Visit” a node, then traverse its children:  </a:t>
            </a:r>
            <a:endParaRPr/>
          </a:p>
        </p:txBody>
      </p:sp>
      <p:sp>
        <p:nvSpPr>
          <p:cNvPr id="348" name="Google Shape;348;p3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 Preorder Depth-First Tree Traversal</a:t>
            </a:r>
            <a:endParaRPr/>
          </a:p>
        </p:txBody>
      </p:sp>
      <p:sp>
        <p:nvSpPr>
          <p:cNvPr id="349" name="Google Shape;349;p35"/>
          <p:cNvSpPr/>
          <p:nvPr/>
        </p:nvSpPr>
        <p:spPr>
          <a:xfrm>
            <a:off x="135225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0" name="Google Shape;350;p35"/>
          <p:cNvSpPr/>
          <p:nvPr/>
        </p:nvSpPr>
        <p:spPr>
          <a:xfrm>
            <a:off x="1274217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1" name="Google Shape;351;p35"/>
          <p:cNvSpPr/>
          <p:nvPr/>
        </p:nvSpPr>
        <p:spPr>
          <a:xfrm>
            <a:off x="704721" y="3645427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2" name="Google Shape;352;p35"/>
          <p:cNvSpPr/>
          <p:nvPr/>
        </p:nvSpPr>
        <p:spPr>
          <a:xfrm>
            <a:off x="1634129" y="311022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3" name="Google Shape;353;p35"/>
          <p:cNvSpPr/>
          <p:nvPr/>
        </p:nvSpPr>
        <p:spPr>
          <a:xfrm>
            <a:off x="1943125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4" name="Google Shape;354;p35"/>
          <p:cNvSpPr/>
          <p:nvPr/>
        </p:nvSpPr>
        <p:spPr>
          <a:xfrm>
            <a:off x="2512621" y="3696343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5" name="Google Shape;355;p35"/>
          <p:cNvSpPr/>
          <p:nvPr/>
        </p:nvSpPr>
        <p:spPr>
          <a:xfrm>
            <a:off x="3082117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56" name="Google Shape;356;p35"/>
          <p:cNvCxnSpPr>
            <a:stCxn id="349" idx="7"/>
            <a:endCxn id="351" idx="3"/>
          </p:cNvCxnSpPr>
          <p:nvPr/>
        </p:nvCxnSpPr>
        <p:spPr>
          <a:xfrm rot="10800000" flipH="1">
            <a:off x="496534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357" name="Google Shape;357;p35"/>
          <p:cNvCxnSpPr>
            <a:stCxn id="351" idx="5"/>
            <a:endCxn id="350" idx="1"/>
          </p:cNvCxnSpPr>
          <p:nvPr/>
        </p:nvCxnSpPr>
        <p:spPr>
          <a:xfrm>
            <a:off x="1066031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8" name="Google Shape;358;p35"/>
          <p:cNvCxnSpPr>
            <a:stCxn id="353" idx="7"/>
            <a:endCxn id="354" idx="3"/>
          </p:cNvCxnSpPr>
          <p:nvPr/>
        </p:nvCxnSpPr>
        <p:spPr>
          <a:xfrm rot="10800000" flipH="1">
            <a:off x="2304434" y="4057627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359" name="Google Shape;359;p35"/>
          <p:cNvCxnSpPr>
            <a:stCxn id="354" idx="5"/>
            <a:endCxn id="355" idx="1"/>
          </p:cNvCxnSpPr>
          <p:nvPr/>
        </p:nvCxnSpPr>
        <p:spPr>
          <a:xfrm>
            <a:off x="2873930" y="4057652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0" name="Google Shape;360;p35"/>
          <p:cNvCxnSpPr>
            <a:stCxn id="352" idx="3"/>
            <a:endCxn id="351" idx="7"/>
          </p:cNvCxnSpPr>
          <p:nvPr/>
        </p:nvCxnSpPr>
        <p:spPr>
          <a:xfrm flipH="1">
            <a:off x="1066120" y="3471534"/>
            <a:ext cx="630000" cy="23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1" name="Google Shape;361;p35"/>
          <p:cNvCxnSpPr>
            <a:stCxn id="352" idx="5"/>
            <a:endCxn id="354" idx="1"/>
          </p:cNvCxnSpPr>
          <p:nvPr/>
        </p:nvCxnSpPr>
        <p:spPr>
          <a:xfrm>
            <a:off x="1995438" y="3471534"/>
            <a:ext cx="579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2" name="Google Shape;362;p35"/>
          <p:cNvSpPr txBox="1"/>
          <p:nvPr/>
        </p:nvSpPr>
        <p:spPr>
          <a:xfrm>
            <a:off x="135225" y="1083100"/>
            <a:ext cx="3370200" cy="1678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BSTNode 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(x == null) return;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3" name="Google Shape;363;p35"/>
          <p:cNvSpPr txBox="1">
            <a:spLocks noGrp="1"/>
          </p:cNvSpPr>
          <p:nvPr>
            <p:ph type="body" idx="1"/>
          </p:nvPr>
        </p:nvSpPr>
        <p:spPr>
          <a:xfrm>
            <a:off x="4860375" y="1083100"/>
            <a:ext cx="3855600" cy="20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Call stack: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preOrder(D)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64" name="Google Shape;364;p35"/>
          <p:cNvCxnSpPr/>
          <p:nvPr/>
        </p:nvCxnSpPr>
        <p:spPr>
          <a:xfrm rot="10800000">
            <a:off x="3505425" y="1549875"/>
            <a:ext cx="633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6"/>
          <p:cNvSpPr txBox="1">
            <a:spLocks noGrp="1"/>
          </p:cNvSpPr>
          <p:nvPr>
            <p:ph type="body" idx="1"/>
          </p:nvPr>
        </p:nvSpPr>
        <p:spPr>
          <a:xfrm>
            <a:off x="107051" y="402200"/>
            <a:ext cx="7860900" cy="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Preorder: “Visit” a node, then traverse its children: D </a:t>
            </a:r>
            <a:endParaRPr/>
          </a:p>
        </p:txBody>
      </p:sp>
      <p:sp>
        <p:nvSpPr>
          <p:cNvPr id="370" name="Google Shape;370;p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 Preorder Depth-First Tree Traversal</a:t>
            </a:r>
            <a:endParaRPr/>
          </a:p>
        </p:txBody>
      </p:sp>
      <p:sp>
        <p:nvSpPr>
          <p:cNvPr id="371" name="Google Shape;371;p36"/>
          <p:cNvSpPr/>
          <p:nvPr/>
        </p:nvSpPr>
        <p:spPr>
          <a:xfrm>
            <a:off x="135225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2" name="Google Shape;372;p36"/>
          <p:cNvSpPr/>
          <p:nvPr/>
        </p:nvSpPr>
        <p:spPr>
          <a:xfrm>
            <a:off x="1274217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3" name="Google Shape;373;p36"/>
          <p:cNvSpPr/>
          <p:nvPr/>
        </p:nvSpPr>
        <p:spPr>
          <a:xfrm>
            <a:off x="704721" y="3645427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4" name="Google Shape;374;p36"/>
          <p:cNvSpPr/>
          <p:nvPr/>
        </p:nvSpPr>
        <p:spPr>
          <a:xfrm>
            <a:off x="1634129" y="311022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5" name="Google Shape;375;p36"/>
          <p:cNvSpPr/>
          <p:nvPr/>
        </p:nvSpPr>
        <p:spPr>
          <a:xfrm>
            <a:off x="1943125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6" name="Google Shape;376;p36"/>
          <p:cNvSpPr/>
          <p:nvPr/>
        </p:nvSpPr>
        <p:spPr>
          <a:xfrm>
            <a:off x="2512621" y="3696343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7" name="Google Shape;377;p36"/>
          <p:cNvSpPr/>
          <p:nvPr/>
        </p:nvSpPr>
        <p:spPr>
          <a:xfrm>
            <a:off x="3082117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78" name="Google Shape;378;p36"/>
          <p:cNvCxnSpPr>
            <a:stCxn id="371" idx="7"/>
            <a:endCxn id="373" idx="3"/>
          </p:cNvCxnSpPr>
          <p:nvPr/>
        </p:nvCxnSpPr>
        <p:spPr>
          <a:xfrm rot="10800000" flipH="1">
            <a:off x="496534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379" name="Google Shape;379;p36"/>
          <p:cNvCxnSpPr>
            <a:stCxn id="373" idx="5"/>
            <a:endCxn id="372" idx="1"/>
          </p:cNvCxnSpPr>
          <p:nvPr/>
        </p:nvCxnSpPr>
        <p:spPr>
          <a:xfrm>
            <a:off x="1066031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0" name="Google Shape;380;p36"/>
          <p:cNvCxnSpPr>
            <a:stCxn id="375" idx="7"/>
            <a:endCxn id="376" idx="3"/>
          </p:cNvCxnSpPr>
          <p:nvPr/>
        </p:nvCxnSpPr>
        <p:spPr>
          <a:xfrm rot="10800000" flipH="1">
            <a:off x="2304434" y="4057627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381" name="Google Shape;381;p36"/>
          <p:cNvCxnSpPr>
            <a:stCxn id="376" idx="5"/>
            <a:endCxn id="377" idx="1"/>
          </p:cNvCxnSpPr>
          <p:nvPr/>
        </p:nvCxnSpPr>
        <p:spPr>
          <a:xfrm>
            <a:off x="2873930" y="4057652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2" name="Google Shape;382;p36"/>
          <p:cNvCxnSpPr>
            <a:stCxn id="374" idx="3"/>
            <a:endCxn id="373" idx="7"/>
          </p:cNvCxnSpPr>
          <p:nvPr/>
        </p:nvCxnSpPr>
        <p:spPr>
          <a:xfrm flipH="1">
            <a:off x="1066120" y="3471534"/>
            <a:ext cx="630000" cy="23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3" name="Google Shape;383;p36"/>
          <p:cNvCxnSpPr>
            <a:stCxn id="374" idx="5"/>
            <a:endCxn id="376" idx="1"/>
          </p:cNvCxnSpPr>
          <p:nvPr/>
        </p:nvCxnSpPr>
        <p:spPr>
          <a:xfrm>
            <a:off x="1995438" y="3471534"/>
            <a:ext cx="579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4" name="Google Shape;384;p36"/>
          <p:cNvSpPr txBox="1"/>
          <p:nvPr/>
        </p:nvSpPr>
        <p:spPr>
          <a:xfrm>
            <a:off x="135225" y="1083100"/>
            <a:ext cx="3370200" cy="1678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BSTNode 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(x == null) return;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5" name="Google Shape;385;p36"/>
          <p:cNvSpPr txBox="1">
            <a:spLocks noGrp="1"/>
          </p:cNvSpPr>
          <p:nvPr>
            <p:ph type="body" idx="1"/>
          </p:nvPr>
        </p:nvSpPr>
        <p:spPr>
          <a:xfrm>
            <a:off x="4860375" y="1083100"/>
            <a:ext cx="3855600" cy="20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Call stack: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preOrder(D)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86" name="Google Shape;386;p36"/>
          <p:cNvCxnSpPr/>
          <p:nvPr/>
        </p:nvCxnSpPr>
        <p:spPr>
          <a:xfrm rot="10800000">
            <a:off x="3505425" y="1798698"/>
            <a:ext cx="6135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7"/>
          <p:cNvSpPr txBox="1">
            <a:spLocks noGrp="1"/>
          </p:cNvSpPr>
          <p:nvPr>
            <p:ph type="body" idx="1"/>
          </p:nvPr>
        </p:nvSpPr>
        <p:spPr>
          <a:xfrm>
            <a:off x="107051" y="402200"/>
            <a:ext cx="7860900" cy="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Preorder: “Visit” a node, then traverse its children: D </a:t>
            </a:r>
            <a:endParaRPr/>
          </a:p>
        </p:txBody>
      </p:sp>
      <p:sp>
        <p:nvSpPr>
          <p:cNvPr id="392" name="Google Shape;392;p3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 Preorder Depth-First Tree Traversal</a:t>
            </a:r>
            <a:endParaRPr/>
          </a:p>
        </p:txBody>
      </p:sp>
      <p:sp>
        <p:nvSpPr>
          <p:cNvPr id="393" name="Google Shape;393;p37"/>
          <p:cNvSpPr/>
          <p:nvPr/>
        </p:nvSpPr>
        <p:spPr>
          <a:xfrm>
            <a:off x="135225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4" name="Google Shape;394;p37"/>
          <p:cNvSpPr/>
          <p:nvPr/>
        </p:nvSpPr>
        <p:spPr>
          <a:xfrm>
            <a:off x="1274217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5" name="Google Shape;395;p37"/>
          <p:cNvSpPr/>
          <p:nvPr/>
        </p:nvSpPr>
        <p:spPr>
          <a:xfrm>
            <a:off x="704721" y="3645427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6" name="Google Shape;396;p37"/>
          <p:cNvSpPr/>
          <p:nvPr/>
        </p:nvSpPr>
        <p:spPr>
          <a:xfrm>
            <a:off x="1634129" y="311022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7" name="Google Shape;397;p37"/>
          <p:cNvSpPr/>
          <p:nvPr/>
        </p:nvSpPr>
        <p:spPr>
          <a:xfrm>
            <a:off x="1943125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8" name="Google Shape;398;p37"/>
          <p:cNvSpPr/>
          <p:nvPr/>
        </p:nvSpPr>
        <p:spPr>
          <a:xfrm>
            <a:off x="2512621" y="3696343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9" name="Google Shape;399;p37"/>
          <p:cNvSpPr/>
          <p:nvPr/>
        </p:nvSpPr>
        <p:spPr>
          <a:xfrm>
            <a:off x="3082117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00" name="Google Shape;400;p37"/>
          <p:cNvCxnSpPr>
            <a:stCxn id="393" idx="7"/>
            <a:endCxn id="395" idx="3"/>
          </p:cNvCxnSpPr>
          <p:nvPr/>
        </p:nvCxnSpPr>
        <p:spPr>
          <a:xfrm rot="10800000" flipH="1">
            <a:off x="496534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401" name="Google Shape;401;p37"/>
          <p:cNvCxnSpPr>
            <a:stCxn id="395" idx="5"/>
            <a:endCxn id="394" idx="1"/>
          </p:cNvCxnSpPr>
          <p:nvPr/>
        </p:nvCxnSpPr>
        <p:spPr>
          <a:xfrm>
            <a:off x="1066031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2" name="Google Shape;402;p37"/>
          <p:cNvCxnSpPr>
            <a:stCxn id="397" idx="7"/>
            <a:endCxn id="398" idx="3"/>
          </p:cNvCxnSpPr>
          <p:nvPr/>
        </p:nvCxnSpPr>
        <p:spPr>
          <a:xfrm rot="10800000" flipH="1">
            <a:off x="2304434" y="4057627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403" name="Google Shape;403;p37"/>
          <p:cNvCxnSpPr>
            <a:stCxn id="398" idx="5"/>
            <a:endCxn id="399" idx="1"/>
          </p:cNvCxnSpPr>
          <p:nvPr/>
        </p:nvCxnSpPr>
        <p:spPr>
          <a:xfrm>
            <a:off x="2873930" y="4057652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4" name="Google Shape;404;p37"/>
          <p:cNvCxnSpPr>
            <a:stCxn id="396" idx="3"/>
            <a:endCxn id="395" idx="7"/>
          </p:cNvCxnSpPr>
          <p:nvPr/>
        </p:nvCxnSpPr>
        <p:spPr>
          <a:xfrm flipH="1">
            <a:off x="1066120" y="3471534"/>
            <a:ext cx="630000" cy="23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5" name="Google Shape;405;p37"/>
          <p:cNvCxnSpPr>
            <a:stCxn id="396" idx="5"/>
            <a:endCxn id="398" idx="1"/>
          </p:cNvCxnSpPr>
          <p:nvPr/>
        </p:nvCxnSpPr>
        <p:spPr>
          <a:xfrm>
            <a:off x="1995438" y="3471534"/>
            <a:ext cx="579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6" name="Google Shape;406;p37"/>
          <p:cNvSpPr txBox="1"/>
          <p:nvPr/>
        </p:nvSpPr>
        <p:spPr>
          <a:xfrm>
            <a:off x="135225" y="1083100"/>
            <a:ext cx="3370200" cy="1678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BSTNode 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(x == null) return;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7" name="Google Shape;407;p37"/>
          <p:cNvSpPr txBox="1">
            <a:spLocks noGrp="1"/>
          </p:cNvSpPr>
          <p:nvPr>
            <p:ph type="body" idx="1"/>
          </p:nvPr>
        </p:nvSpPr>
        <p:spPr>
          <a:xfrm>
            <a:off x="4860375" y="1083100"/>
            <a:ext cx="3855600" cy="20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Call stack: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preOrder(D)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08" name="Google Shape;408;p37"/>
          <p:cNvCxnSpPr/>
          <p:nvPr/>
        </p:nvCxnSpPr>
        <p:spPr>
          <a:xfrm rot="10800000">
            <a:off x="3505425" y="2040781"/>
            <a:ext cx="6135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8"/>
          <p:cNvSpPr txBox="1">
            <a:spLocks noGrp="1"/>
          </p:cNvSpPr>
          <p:nvPr>
            <p:ph type="body" idx="1"/>
          </p:nvPr>
        </p:nvSpPr>
        <p:spPr>
          <a:xfrm>
            <a:off x="107051" y="402200"/>
            <a:ext cx="7860900" cy="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Preorder: “Visit” a node, then traverse its children: D </a:t>
            </a:r>
            <a:endParaRPr/>
          </a:p>
        </p:txBody>
      </p:sp>
      <p:sp>
        <p:nvSpPr>
          <p:cNvPr id="414" name="Google Shape;414;p3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 Preorder Depth-First Tree Traversal</a:t>
            </a:r>
            <a:endParaRPr/>
          </a:p>
        </p:txBody>
      </p:sp>
      <p:sp>
        <p:nvSpPr>
          <p:cNvPr id="415" name="Google Shape;415;p38"/>
          <p:cNvSpPr/>
          <p:nvPr/>
        </p:nvSpPr>
        <p:spPr>
          <a:xfrm>
            <a:off x="135225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6" name="Google Shape;416;p38"/>
          <p:cNvSpPr/>
          <p:nvPr/>
        </p:nvSpPr>
        <p:spPr>
          <a:xfrm>
            <a:off x="1274217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7" name="Google Shape;417;p38"/>
          <p:cNvSpPr/>
          <p:nvPr/>
        </p:nvSpPr>
        <p:spPr>
          <a:xfrm>
            <a:off x="704721" y="3645427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8" name="Google Shape;418;p38"/>
          <p:cNvSpPr/>
          <p:nvPr/>
        </p:nvSpPr>
        <p:spPr>
          <a:xfrm>
            <a:off x="1634129" y="311022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9" name="Google Shape;419;p38"/>
          <p:cNvSpPr/>
          <p:nvPr/>
        </p:nvSpPr>
        <p:spPr>
          <a:xfrm>
            <a:off x="1943125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0" name="Google Shape;420;p38"/>
          <p:cNvSpPr/>
          <p:nvPr/>
        </p:nvSpPr>
        <p:spPr>
          <a:xfrm>
            <a:off x="2512621" y="3696343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1" name="Google Shape;421;p38"/>
          <p:cNvSpPr/>
          <p:nvPr/>
        </p:nvSpPr>
        <p:spPr>
          <a:xfrm>
            <a:off x="3082117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22" name="Google Shape;422;p38"/>
          <p:cNvCxnSpPr>
            <a:stCxn id="415" idx="7"/>
            <a:endCxn id="417" idx="3"/>
          </p:cNvCxnSpPr>
          <p:nvPr/>
        </p:nvCxnSpPr>
        <p:spPr>
          <a:xfrm rot="10800000" flipH="1">
            <a:off x="496534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423" name="Google Shape;423;p38"/>
          <p:cNvCxnSpPr>
            <a:stCxn id="417" idx="5"/>
            <a:endCxn id="416" idx="1"/>
          </p:cNvCxnSpPr>
          <p:nvPr/>
        </p:nvCxnSpPr>
        <p:spPr>
          <a:xfrm>
            <a:off x="1066031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4" name="Google Shape;424;p38"/>
          <p:cNvCxnSpPr>
            <a:stCxn id="419" idx="7"/>
            <a:endCxn id="420" idx="3"/>
          </p:cNvCxnSpPr>
          <p:nvPr/>
        </p:nvCxnSpPr>
        <p:spPr>
          <a:xfrm rot="10800000" flipH="1">
            <a:off x="2304434" y="4057627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425" name="Google Shape;425;p38"/>
          <p:cNvCxnSpPr>
            <a:stCxn id="420" idx="5"/>
            <a:endCxn id="421" idx="1"/>
          </p:cNvCxnSpPr>
          <p:nvPr/>
        </p:nvCxnSpPr>
        <p:spPr>
          <a:xfrm>
            <a:off x="2873930" y="4057652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6" name="Google Shape;426;p38"/>
          <p:cNvCxnSpPr>
            <a:stCxn id="418" idx="3"/>
            <a:endCxn id="417" idx="7"/>
          </p:cNvCxnSpPr>
          <p:nvPr/>
        </p:nvCxnSpPr>
        <p:spPr>
          <a:xfrm flipH="1">
            <a:off x="1066120" y="3471534"/>
            <a:ext cx="630000" cy="23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7" name="Google Shape;427;p38"/>
          <p:cNvCxnSpPr>
            <a:stCxn id="418" idx="5"/>
            <a:endCxn id="420" idx="1"/>
          </p:cNvCxnSpPr>
          <p:nvPr/>
        </p:nvCxnSpPr>
        <p:spPr>
          <a:xfrm>
            <a:off x="1995438" y="3471534"/>
            <a:ext cx="579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8" name="Google Shape;428;p38"/>
          <p:cNvSpPr txBox="1"/>
          <p:nvPr/>
        </p:nvSpPr>
        <p:spPr>
          <a:xfrm>
            <a:off x="135225" y="1083100"/>
            <a:ext cx="3370200" cy="1678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BSTNode 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(x == null) return;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9" name="Google Shape;429;p38"/>
          <p:cNvSpPr txBox="1">
            <a:spLocks noGrp="1"/>
          </p:cNvSpPr>
          <p:nvPr>
            <p:ph type="body" idx="1"/>
          </p:nvPr>
        </p:nvSpPr>
        <p:spPr>
          <a:xfrm>
            <a:off x="4860375" y="1083100"/>
            <a:ext cx="3855600" cy="20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Call stack: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preOrder(D)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preOrder(B)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30" name="Google Shape;430;p38"/>
          <p:cNvCxnSpPr/>
          <p:nvPr/>
        </p:nvCxnSpPr>
        <p:spPr>
          <a:xfrm rot="10800000">
            <a:off x="3505425" y="1549875"/>
            <a:ext cx="633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9"/>
          <p:cNvSpPr txBox="1">
            <a:spLocks noGrp="1"/>
          </p:cNvSpPr>
          <p:nvPr>
            <p:ph type="body" idx="1"/>
          </p:nvPr>
        </p:nvSpPr>
        <p:spPr>
          <a:xfrm>
            <a:off x="107051" y="402200"/>
            <a:ext cx="7860900" cy="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Preorder: “Visit” a node, then traverse its children: DB</a:t>
            </a:r>
            <a:endParaRPr/>
          </a:p>
        </p:txBody>
      </p:sp>
      <p:sp>
        <p:nvSpPr>
          <p:cNvPr id="436" name="Google Shape;436;p3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 Preorder Depth-First Tree Traversal</a:t>
            </a:r>
            <a:endParaRPr/>
          </a:p>
        </p:txBody>
      </p:sp>
      <p:sp>
        <p:nvSpPr>
          <p:cNvPr id="437" name="Google Shape;437;p39"/>
          <p:cNvSpPr/>
          <p:nvPr/>
        </p:nvSpPr>
        <p:spPr>
          <a:xfrm>
            <a:off x="135225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8" name="Google Shape;438;p39"/>
          <p:cNvSpPr/>
          <p:nvPr/>
        </p:nvSpPr>
        <p:spPr>
          <a:xfrm>
            <a:off x="1274217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9" name="Google Shape;439;p39"/>
          <p:cNvSpPr/>
          <p:nvPr/>
        </p:nvSpPr>
        <p:spPr>
          <a:xfrm>
            <a:off x="704721" y="3645427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0" name="Google Shape;440;p39"/>
          <p:cNvSpPr/>
          <p:nvPr/>
        </p:nvSpPr>
        <p:spPr>
          <a:xfrm>
            <a:off x="1634129" y="311022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1" name="Google Shape;441;p39"/>
          <p:cNvSpPr/>
          <p:nvPr/>
        </p:nvSpPr>
        <p:spPr>
          <a:xfrm>
            <a:off x="1943125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2" name="Google Shape;442;p39"/>
          <p:cNvSpPr/>
          <p:nvPr/>
        </p:nvSpPr>
        <p:spPr>
          <a:xfrm>
            <a:off x="2512621" y="3696343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3" name="Google Shape;443;p39"/>
          <p:cNvSpPr/>
          <p:nvPr/>
        </p:nvSpPr>
        <p:spPr>
          <a:xfrm>
            <a:off x="3082117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44" name="Google Shape;444;p39"/>
          <p:cNvCxnSpPr>
            <a:stCxn id="437" idx="7"/>
            <a:endCxn id="439" idx="3"/>
          </p:cNvCxnSpPr>
          <p:nvPr/>
        </p:nvCxnSpPr>
        <p:spPr>
          <a:xfrm rot="10800000" flipH="1">
            <a:off x="496534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445" name="Google Shape;445;p39"/>
          <p:cNvCxnSpPr>
            <a:stCxn id="439" idx="5"/>
            <a:endCxn id="438" idx="1"/>
          </p:cNvCxnSpPr>
          <p:nvPr/>
        </p:nvCxnSpPr>
        <p:spPr>
          <a:xfrm>
            <a:off x="1066031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6" name="Google Shape;446;p39"/>
          <p:cNvCxnSpPr>
            <a:stCxn id="441" idx="7"/>
            <a:endCxn id="442" idx="3"/>
          </p:cNvCxnSpPr>
          <p:nvPr/>
        </p:nvCxnSpPr>
        <p:spPr>
          <a:xfrm rot="10800000" flipH="1">
            <a:off x="2304434" y="4057627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447" name="Google Shape;447;p39"/>
          <p:cNvCxnSpPr>
            <a:stCxn id="442" idx="5"/>
            <a:endCxn id="443" idx="1"/>
          </p:cNvCxnSpPr>
          <p:nvPr/>
        </p:nvCxnSpPr>
        <p:spPr>
          <a:xfrm>
            <a:off x="2873930" y="4057652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8" name="Google Shape;448;p39"/>
          <p:cNvCxnSpPr>
            <a:stCxn id="440" idx="3"/>
            <a:endCxn id="439" idx="7"/>
          </p:cNvCxnSpPr>
          <p:nvPr/>
        </p:nvCxnSpPr>
        <p:spPr>
          <a:xfrm flipH="1">
            <a:off x="1066120" y="3471534"/>
            <a:ext cx="630000" cy="23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9" name="Google Shape;449;p39"/>
          <p:cNvCxnSpPr>
            <a:stCxn id="440" idx="5"/>
            <a:endCxn id="442" idx="1"/>
          </p:cNvCxnSpPr>
          <p:nvPr/>
        </p:nvCxnSpPr>
        <p:spPr>
          <a:xfrm>
            <a:off x="1995438" y="3471534"/>
            <a:ext cx="579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0" name="Google Shape;450;p39"/>
          <p:cNvSpPr txBox="1"/>
          <p:nvPr/>
        </p:nvSpPr>
        <p:spPr>
          <a:xfrm>
            <a:off x="135225" y="1083100"/>
            <a:ext cx="3370200" cy="1678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BSTNode 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(x == null) return;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1" name="Google Shape;451;p39"/>
          <p:cNvSpPr txBox="1">
            <a:spLocks noGrp="1"/>
          </p:cNvSpPr>
          <p:nvPr>
            <p:ph type="body" idx="1"/>
          </p:nvPr>
        </p:nvSpPr>
        <p:spPr>
          <a:xfrm>
            <a:off x="4860375" y="1083100"/>
            <a:ext cx="3855600" cy="20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Call stack: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preOrder(D)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preOrder(B)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52" name="Google Shape;452;p39"/>
          <p:cNvCxnSpPr/>
          <p:nvPr/>
        </p:nvCxnSpPr>
        <p:spPr>
          <a:xfrm rot="10800000">
            <a:off x="3505425" y="1798698"/>
            <a:ext cx="6135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0"/>
          <p:cNvSpPr txBox="1">
            <a:spLocks noGrp="1"/>
          </p:cNvSpPr>
          <p:nvPr>
            <p:ph type="body" idx="1"/>
          </p:nvPr>
        </p:nvSpPr>
        <p:spPr>
          <a:xfrm>
            <a:off x="107051" y="402200"/>
            <a:ext cx="7860900" cy="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Preorder: “Visit” a node, then traverse its children: DB</a:t>
            </a:r>
            <a:endParaRPr/>
          </a:p>
        </p:txBody>
      </p:sp>
      <p:sp>
        <p:nvSpPr>
          <p:cNvPr id="458" name="Google Shape;458;p4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 Preorder Depth-First Tree Traversal</a:t>
            </a:r>
            <a:endParaRPr/>
          </a:p>
        </p:txBody>
      </p:sp>
      <p:sp>
        <p:nvSpPr>
          <p:cNvPr id="459" name="Google Shape;459;p40"/>
          <p:cNvSpPr/>
          <p:nvPr/>
        </p:nvSpPr>
        <p:spPr>
          <a:xfrm>
            <a:off x="135225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0" name="Google Shape;460;p40"/>
          <p:cNvSpPr/>
          <p:nvPr/>
        </p:nvSpPr>
        <p:spPr>
          <a:xfrm>
            <a:off x="1274217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1" name="Google Shape;461;p40"/>
          <p:cNvSpPr/>
          <p:nvPr/>
        </p:nvSpPr>
        <p:spPr>
          <a:xfrm>
            <a:off x="704721" y="3645427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2" name="Google Shape;462;p40"/>
          <p:cNvSpPr/>
          <p:nvPr/>
        </p:nvSpPr>
        <p:spPr>
          <a:xfrm>
            <a:off x="1634129" y="311022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3" name="Google Shape;463;p40"/>
          <p:cNvSpPr/>
          <p:nvPr/>
        </p:nvSpPr>
        <p:spPr>
          <a:xfrm>
            <a:off x="1943125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4" name="Google Shape;464;p40"/>
          <p:cNvSpPr/>
          <p:nvPr/>
        </p:nvSpPr>
        <p:spPr>
          <a:xfrm>
            <a:off x="2512621" y="3696343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5" name="Google Shape;465;p40"/>
          <p:cNvSpPr/>
          <p:nvPr/>
        </p:nvSpPr>
        <p:spPr>
          <a:xfrm>
            <a:off x="3082117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66" name="Google Shape;466;p40"/>
          <p:cNvCxnSpPr>
            <a:stCxn id="459" idx="7"/>
            <a:endCxn id="461" idx="3"/>
          </p:cNvCxnSpPr>
          <p:nvPr/>
        </p:nvCxnSpPr>
        <p:spPr>
          <a:xfrm rot="10800000" flipH="1">
            <a:off x="496534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467" name="Google Shape;467;p40"/>
          <p:cNvCxnSpPr>
            <a:stCxn id="461" idx="5"/>
            <a:endCxn id="460" idx="1"/>
          </p:cNvCxnSpPr>
          <p:nvPr/>
        </p:nvCxnSpPr>
        <p:spPr>
          <a:xfrm>
            <a:off x="1066031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8" name="Google Shape;468;p40"/>
          <p:cNvCxnSpPr>
            <a:stCxn id="463" idx="7"/>
            <a:endCxn id="464" idx="3"/>
          </p:cNvCxnSpPr>
          <p:nvPr/>
        </p:nvCxnSpPr>
        <p:spPr>
          <a:xfrm rot="10800000" flipH="1">
            <a:off x="2304434" y="4057627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469" name="Google Shape;469;p40"/>
          <p:cNvCxnSpPr>
            <a:stCxn id="464" idx="5"/>
            <a:endCxn id="465" idx="1"/>
          </p:cNvCxnSpPr>
          <p:nvPr/>
        </p:nvCxnSpPr>
        <p:spPr>
          <a:xfrm>
            <a:off x="2873930" y="4057652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0" name="Google Shape;470;p40"/>
          <p:cNvCxnSpPr>
            <a:stCxn id="462" idx="3"/>
            <a:endCxn id="461" idx="7"/>
          </p:cNvCxnSpPr>
          <p:nvPr/>
        </p:nvCxnSpPr>
        <p:spPr>
          <a:xfrm flipH="1">
            <a:off x="1066120" y="3471534"/>
            <a:ext cx="630000" cy="23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1" name="Google Shape;471;p40"/>
          <p:cNvCxnSpPr>
            <a:stCxn id="462" idx="5"/>
            <a:endCxn id="464" idx="1"/>
          </p:cNvCxnSpPr>
          <p:nvPr/>
        </p:nvCxnSpPr>
        <p:spPr>
          <a:xfrm>
            <a:off x="1995438" y="3471534"/>
            <a:ext cx="579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2" name="Google Shape;472;p40"/>
          <p:cNvSpPr txBox="1"/>
          <p:nvPr/>
        </p:nvSpPr>
        <p:spPr>
          <a:xfrm>
            <a:off x="135225" y="1083100"/>
            <a:ext cx="3370200" cy="1678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BSTNode 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(x == null) return;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3" name="Google Shape;473;p40"/>
          <p:cNvSpPr txBox="1">
            <a:spLocks noGrp="1"/>
          </p:cNvSpPr>
          <p:nvPr>
            <p:ph type="body" idx="1"/>
          </p:nvPr>
        </p:nvSpPr>
        <p:spPr>
          <a:xfrm>
            <a:off x="4860375" y="1083100"/>
            <a:ext cx="3855600" cy="20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Call stack: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preOrder(D)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preOrder(B)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74" name="Google Shape;474;p40"/>
          <p:cNvCxnSpPr/>
          <p:nvPr/>
        </p:nvCxnSpPr>
        <p:spPr>
          <a:xfrm rot="10800000">
            <a:off x="3505425" y="2040781"/>
            <a:ext cx="6135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1"/>
          <p:cNvSpPr txBox="1">
            <a:spLocks noGrp="1"/>
          </p:cNvSpPr>
          <p:nvPr>
            <p:ph type="body" idx="1"/>
          </p:nvPr>
        </p:nvSpPr>
        <p:spPr>
          <a:xfrm>
            <a:off x="107051" y="402200"/>
            <a:ext cx="7860900" cy="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Preorder: “Visit” a node, then traverse its children: DB</a:t>
            </a:r>
            <a:endParaRPr/>
          </a:p>
        </p:txBody>
      </p:sp>
      <p:sp>
        <p:nvSpPr>
          <p:cNvPr id="480" name="Google Shape;480;p4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 Preorder Depth-First Tree Traversal</a:t>
            </a:r>
            <a:endParaRPr/>
          </a:p>
        </p:txBody>
      </p:sp>
      <p:sp>
        <p:nvSpPr>
          <p:cNvPr id="481" name="Google Shape;481;p41"/>
          <p:cNvSpPr/>
          <p:nvPr/>
        </p:nvSpPr>
        <p:spPr>
          <a:xfrm>
            <a:off x="135225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2" name="Google Shape;482;p41"/>
          <p:cNvSpPr/>
          <p:nvPr/>
        </p:nvSpPr>
        <p:spPr>
          <a:xfrm>
            <a:off x="1274217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3" name="Google Shape;483;p41"/>
          <p:cNvSpPr/>
          <p:nvPr/>
        </p:nvSpPr>
        <p:spPr>
          <a:xfrm>
            <a:off x="704721" y="3645427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4" name="Google Shape;484;p41"/>
          <p:cNvSpPr/>
          <p:nvPr/>
        </p:nvSpPr>
        <p:spPr>
          <a:xfrm>
            <a:off x="1634129" y="311022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5" name="Google Shape;485;p41"/>
          <p:cNvSpPr/>
          <p:nvPr/>
        </p:nvSpPr>
        <p:spPr>
          <a:xfrm>
            <a:off x="1943125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6" name="Google Shape;486;p41"/>
          <p:cNvSpPr/>
          <p:nvPr/>
        </p:nvSpPr>
        <p:spPr>
          <a:xfrm>
            <a:off x="2512621" y="3696343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7" name="Google Shape;487;p41"/>
          <p:cNvSpPr/>
          <p:nvPr/>
        </p:nvSpPr>
        <p:spPr>
          <a:xfrm>
            <a:off x="3082117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88" name="Google Shape;488;p41"/>
          <p:cNvCxnSpPr>
            <a:stCxn id="481" idx="7"/>
            <a:endCxn id="483" idx="3"/>
          </p:cNvCxnSpPr>
          <p:nvPr/>
        </p:nvCxnSpPr>
        <p:spPr>
          <a:xfrm rot="10800000" flipH="1">
            <a:off x="496534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489" name="Google Shape;489;p41"/>
          <p:cNvCxnSpPr>
            <a:stCxn id="483" idx="5"/>
            <a:endCxn id="482" idx="1"/>
          </p:cNvCxnSpPr>
          <p:nvPr/>
        </p:nvCxnSpPr>
        <p:spPr>
          <a:xfrm>
            <a:off x="1066031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0" name="Google Shape;490;p41"/>
          <p:cNvCxnSpPr>
            <a:stCxn id="485" idx="7"/>
            <a:endCxn id="486" idx="3"/>
          </p:cNvCxnSpPr>
          <p:nvPr/>
        </p:nvCxnSpPr>
        <p:spPr>
          <a:xfrm rot="10800000" flipH="1">
            <a:off x="2304434" y="4057627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491" name="Google Shape;491;p41"/>
          <p:cNvCxnSpPr>
            <a:stCxn id="486" idx="5"/>
            <a:endCxn id="487" idx="1"/>
          </p:cNvCxnSpPr>
          <p:nvPr/>
        </p:nvCxnSpPr>
        <p:spPr>
          <a:xfrm>
            <a:off x="2873930" y="4057652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2" name="Google Shape;492;p41"/>
          <p:cNvCxnSpPr>
            <a:stCxn id="484" idx="3"/>
            <a:endCxn id="483" idx="7"/>
          </p:cNvCxnSpPr>
          <p:nvPr/>
        </p:nvCxnSpPr>
        <p:spPr>
          <a:xfrm flipH="1">
            <a:off x="1066120" y="3471534"/>
            <a:ext cx="630000" cy="23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3" name="Google Shape;493;p41"/>
          <p:cNvCxnSpPr>
            <a:stCxn id="484" idx="5"/>
            <a:endCxn id="486" idx="1"/>
          </p:cNvCxnSpPr>
          <p:nvPr/>
        </p:nvCxnSpPr>
        <p:spPr>
          <a:xfrm>
            <a:off x="1995438" y="3471534"/>
            <a:ext cx="579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94" name="Google Shape;494;p41"/>
          <p:cNvSpPr txBox="1"/>
          <p:nvPr/>
        </p:nvSpPr>
        <p:spPr>
          <a:xfrm>
            <a:off x="135225" y="1083100"/>
            <a:ext cx="3370200" cy="1678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BSTNode 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(x == null) return;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5" name="Google Shape;495;p41"/>
          <p:cNvSpPr txBox="1">
            <a:spLocks noGrp="1"/>
          </p:cNvSpPr>
          <p:nvPr>
            <p:ph type="body" idx="1"/>
          </p:nvPr>
        </p:nvSpPr>
        <p:spPr>
          <a:xfrm>
            <a:off x="4860375" y="1083100"/>
            <a:ext cx="3855600" cy="20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Call stack: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preOrder(D)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preOrder(B)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preOrder(A)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96" name="Google Shape;496;p41"/>
          <p:cNvCxnSpPr/>
          <p:nvPr/>
        </p:nvCxnSpPr>
        <p:spPr>
          <a:xfrm rot="10800000">
            <a:off x="3505425" y="1549875"/>
            <a:ext cx="633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2"/>
          <p:cNvSpPr txBox="1">
            <a:spLocks noGrp="1"/>
          </p:cNvSpPr>
          <p:nvPr>
            <p:ph type="body" idx="1"/>
          </p:nvPr>
        </p:nvSpPr>
        <p:spPr>
          <a:xfrm>
            <a:off x="107051" y="402200"/>
            <a:ext cx="7860900" cy="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Preorder: “Visit” a node, then traverse its children: DBA</a:t>
            </a:r>
            <a:endParaRPr/>
          </a:p>
        </p:txBody>
      </p:sp>
      <p:sp>
        <p:nvSpPr>
          <p:cNvPr id="502" name="Google Shape;502;p4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 Preorder Depth-First Tree Traversal</a:t>
            </a:r>
            <a:endParaRPr/>
          </a:p>
        </p:txBody>
      </p:sp>
      <p:sp>
        <p:nvSpPr>
          <p:cNvPr id="503" name="Google Shape;503;p42"/>
          <p:cNvSpPr/>
          <p:nvPr/>
        </p:nvSpPr>
        <p:spPr>
          <a:xfrm>
            <a:off x="135225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4" name="Google Shape;504;p42"/>
          <p:cNvSpPr/>
          <p:nvPr/>
        </p:nvSpPr>
        <p:spPr>
          <a:xfrm>
            <a:off x="1274217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5" name="Google Shape;505;p42"/>
          <p:cNvSpPr/>
          <p:nvPr/>
        </p:nvSpPr>
        <p:spPr>
          <a:xfrm>
            <a:off x="704721" y="3645427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6" name="Google Shape;506;p42"/>
          <p:cNvSpPr/>
          <p:nvPr/>
        </p:nvSpPr>
        <p:spPr>
          <a:xfrm>
            <a:off x="1634129" y="311022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7" name="Google Shape;507;p42"/>
          <p:cNvSpPr/>
          <p:nvPr/>
        </p:nvSpPr>
        <p:spPr>
          <a:xfrm>
            <a:off x="1943125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8" name="Google Shape;508;p42"/>
          <p:cNvSpPr/>
          <p:nvPr/>
        </p:nvSpPr>
        <p:spPr>
          <a:xfrm>
            <a:off x="2512621" y="3696343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9" name="Google Shape;509;p42"/>
          <p:cNvSpPr/>
          <p:nvPr/>
        </p:nvSpPr>
        <p:spPr>
          <a:xfrm>
            <a:off x="3082117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10" name="Google Shape;510;p42"/>
          <p:cNvCxnSpPr>
            <a:stCxn id="503" idx="7"/>
            <a:endCxn id="505" idx="3"/>
          </p:cNvCxnSpPr>
          <p:nvPr/>
        </p:nvCxnSpPr>
        <p:spPr>
          <a:xfrm rot="10800000" flipH="1">
            <a:off x="496534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511" name="Google Shape;511;p42"/>
          <p:cNvCxnSpPr>
            <a:stCxn id="505" idx="5"/>
            <a:endCxn id="504" idx="1"/>
          </p:cNvCxnSpPr>
          <p:nvPr/>
        </p:nvCxnSpPr>
        <p:spPr>
          <a:xfrm>
            <a:off x="1066031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2" name="Google Shape;512;p42"/>
          <p:cNvCxnSpPr>
            <a:stCxn id="507" idx="7"/>
            <a:endCxn id="508" idx="3"/>
          </p:cNvCxnSpPr>
          <p:nvPr/>
        </p:nvCxnSpPr>
        <p:spPr>
          <a:xfrm rot="10800000" flipH="1">
            <a:off x="2304434" y="4057627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513" name="Google Shape;513;p42"/>
          <p:cNvCxnSpPr>
            <a:stCxn id="508" idx="5"/>
            <a:endCxn id="509" idx="1"/>
          </p:cNvCxnSpPr>
          <p:nvPr/>
        </p:nvCxnSpPr>
        <p:spPr>
          <a:xfrm>
            <a:off x="2873930" y="4057652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4" name="Google Shape;514;p42"/>
          <p:cNvCxnSpPr>
            <a:stCxn id="506" idx="3"/>
            <a:endCxn id="505" idx="7"/>
          </p:cNvCxnSpPr>
          <p:nvPr/>
        </p:nvCxnSpPr>
        <p:spPr>
          <a:xfrm flipH="1">
            <a:off x="1066120" y="3471534"/>
            <a:ext cx="630000" cy="23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5" name="Google Shape;515;p42"/>
          <p:cNvCxnSpPr>
            <a:stCxn id="506" idx="5"/>
            <a:endCxn id="508" idx="1"/>
          </p:cNvCxnSpPr>
          <p:nvPr/>
        </p:nvCxnSpPr>
        <p:spPr>
          <a:xfrm>
            <a:off x="1995438" y="3471534"/>
            <a:ext cx="579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6" name="Google Shape;516;p42"/>
          <p:cNvSpPr txBox="1"/>
          <p:nvPr/>
        </p:nvSpPr>
        <p:spPr>
          <a:xfrm>
            <a:off x="135225" y="1083100"/>
            <a:ext cx="3370200" cy="1678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BSTNode 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(x == null) return;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7" name="Google Shape;517;p42"/>
          <p:cNvSpPr txBox="1">
            <a:spLocks noGrp="1"/>
          </p:cNvSpPr>
          <p:nvPr>
            <p:ph type="body" idx="1"/>
          </p:nvPr>
        </p:nvSpPr>
        <p:spPr>
          <a:xfrm>
            <a:off x="4860375" y="1083100"/>
            <a:ext cx="3855600" cy="20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Call stack: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preOrder(D)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preOrder(B)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preOrder(A)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18" name="Google Shape;518;p42"/>
          <p:cNvCxnSpPr/>
          <p:nvPr/>
        </p:nvCxnSpPr>
        <p:spPr>
          <a:xfrm rot="10800000">
            <a:off x="3505425" y="1798698"/>
            <a:ext cx="6135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3"/>
          <p:cNvSpPr txBox="1">
            <a:spLocks noGrp="1"/>
          </p:cNvSpPr>
          <p:nvPr>
            <p:ph type="body" idx="1"/>
          </p:nvPr>
        </p:nvSpPr>
        <p:spPr>
          <a:xfrm>
            <a:off x="107051" y="402200"/>
            <a:ext cx="7860900" cy="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Preorder: “Visit” a node, then traverse its children: DBA</a:t>
            </a:r>
            <a:endParaRPr/>
          </a:p>
        </p:txBody>
      </p:sp>
      <p:sp>
        <p:nvSpPr>
          <p:cNvPr id="524" name="Google Shape;524;p4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 Preorder Depth-First Tree Traversal</a:t>
            </a:r>
            <a:endParaRPr/>
          </a:p>
        </p:txBody>
      </p:sp>
      <p:sp>
        <p:nvSpPr>
          <p:cNvPr id="525" name="Google Shape;525;p43"/>
          <p:cNvSpPr/>
          <p:nvPr/>
        </p:nvSpPr>
        <p:spPr>
          <a:xfrm>
            <a:off x="135225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6" name="Google Shape;526;p43"/>
          <p:cNvSpPr/>
          <p:nvPr/>
        </p:nvSpPr>
        <p:spPr>
          <a:xfrm>
            <a:off x="1274217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7" name="Google Shape;527;p43"/>
          <p:cNvSpPr/>
          <p:nvPr/>
        </p:nvSpPr>
        <p:spPr>
          <a:xfrm>
            <a:off x="704721" y="3645427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8" name="Google Shape;528;p43"/>
          <p:cNvSpPr/>
          <p:nvPr/>
        </p:nvSpPr>
        <p:spPr>
          <a:xfrm>
            <a:off x="1634129" y="311022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9" name="Google Shape;529;p43"/>
          <p:cNvSpPr/>
          <p:nvPr/>
        </p:nvSpPr>
        <p:spPr>
          <a:xfrm>
            <a:off x="1943125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0" name="Google Shape;530;p43"/>
          <p:cNvSpPr/>
          <p:nvPr/>
        </p:nvSpPr>
        <p:spPr>
          <a:xfrm>
            <a:off x="2512621" y="3696343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1" name="Google Shape;531;p43"/>
          <p:cNvSpPr/>
          <p:nvPr/>
        </p:nvSpPr>
        <p:spPr>
          <a:xfrm>
            <a:off x="3082117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32" name="Google Shape;532;p43"/>
          <p:cNvCxnSpPr>
            <a:stCxn id="525" idx="7"/>
            <a:endCxn id="527" idx="3"/>
          </p:cNvCxnSpPr>
          <p:nvPr/>
        </p:nvCxnSpPr>
        <p:spPr>
          <a:xfrm rot="10800000" flipH="1">
            <a:off x="496534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533" name="Google Shape;533;p43"/>
          <p:cNvCxnSpPr>
            <a:stCxn id="527" idx="5"/>
            <a:endCxn id="526" idx="1"/>
          </p:cNvCxnSpPr>
          <p:nvPr/>
        </p:nvCxnSpPr>
        <p:spPr>
          <a:xfrm>
            <a:off x="1066031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4" name="Google Shape;534;p43"/>
          <p:cNvCxnSpPr>
            <a:stCxn id="529" idx="7"/>
            <a:endCxn id="530" idx="3"/>
          </p:cNvCxnSpPr>
          <p:nvPr/>
        </p:nvCxnSpPr>
        <p:spPr>
          <a:xfrm rot="10800000" flipH="1">
            <a:off x="2304434" y="4057627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535" name="Google Shape;535;p43"/>
          <p:cNvCxnSpPr>
            <a:stCxn id="530" idx="5"/>
            <a:endCxn id="531" idx="1"/>
          </p:cNvCxnSpPr>
          <p:nvPr/>
        </p:nvCxnSpPr>
        <p:spPr>
          <a:xfrm>
            <a:off x="2873930" y="4057652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6" name="Google Shape;536;p43"/>
          <p:cNvCxnSpPr>
            <a:stCxn id="528" idx="3"/>
            <a:endCxn id="527" idx="7"/>
          </p:cNvCxnSpPr>
          <p:nvPr/>
        </p:nvCxnSpPr>
        <p:spPr>
          <a:xfrm flipH="1">
            <a:off x="1066120" y="3471534"/>
            <a:ext cx="630000" cy="23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7" name="Google Shape;537;p43"/>
          <p:cNvCxnSpPr>
            <a:stCxn id="528" idx="5"/>
            <a:endCxn id="530" idx="1"/>
          </p:cNvCxnSpPr>
          <p:nvPr/>
        </p:nvCxnSpPr>
        <p:spPr>
          <a:xfrm>
            <a:off x="1995438" y="3471534"/>
            <a:ext cx="579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38" name="Google Shape;538;p43"/>
          <p:cNvSpPr txBox="1"/>
          <p:nvPr/>
        </p:nvSpPr>
        <p:spPr>
          <a:xfrm>
            <a:off x="135225" y="1083100"/>
            <a:ext cx="3370200" cy="1678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BSTNode 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(x == null) return;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9" name="Google Shape;539;p43"/>
          <p:cNvSpPr txBox="1">
            <a:spLocks noGrp="1"/>
          </p:cNvSpPr>
          <p:nvPr>
            <p:ph type="body" idx="1"/>
          </p:nvPr>
        </p:nvSpPr>
        <p:spPr>
          <a:xfrm>
            <a:off x="4860375" y="1083100"/>
            <a:ext cx="3855600" cy="20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Call stack: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preOrder(D)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preOrder(B)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preOrder(A)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40" name="Google Shape;540;p43"/>
          <p:cNvCxnSpPr/>
          <p:nvPr/>
        </p:nvCxnSpPr>
        <p:spPr>
          <a:xfrm rot="10800000">
            <a:off x="3505425" y="2040781"/>
            <a:ext cx="6135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1" name="Google Shape;541;p43"/>
          <p:cNvSpPr txBox="1">
            <a:spLocks noGrp="1"/>
          </p:cNvSpPr>
          <p:nvPr>
            <p:ph type="body" idx="1"/>
          </p:nvPr>
        </p:nvSpPr>
        <p:spPr>
          <a:xfrm>
            <a:off x="4860375" y="3110225"/>
            <a:ext cx="3855600" cy="15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Skipping over the steps of 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preOrder(null)</a:t>
            </a:r>
            <a:r>
              <a:rPr lang="en" sz="1600"/>
              <a:t> for brevity.</a:t>
            </a:r>
            <a:endParaRPr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4"/>
          <p:cNvSpPr txBox="1">
            <a:spLocks noGrp="1"/>
          </p:cNvSpPr>
          <p:nvPr>
            <p:ph type="body" idx="1"/>
          </p:nvPr>
        </p:nvSpPr>
        <p:spPr>
          <a:xfrm>
            <a:off x="107051" y="402200"/>
            <a:ext cx="7860900" cy="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Preorder: “Visit” a node, then traverse its children: DBA</a:t>
            </a:r>
            <a:endParaRPr/>
          </a:p>
        </p:txBody>
      </p:sp>
      <p:sp>
        <p:nvSpPr>
          <p:cNvPr id="547" name="Google Shape;547;p4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 Preorder Depth-First Tree Traversal</a:t>
            </a:r>
            <a:endParaRPr/>
          </a:p>
        </p:txBody>
      </p:sp>
      <p:sp>
        <p:nvSpPr>
          <p:cNvPr id="548" name="Google Shape;548;p44"/>
          <p:cNvSpPr/>
          <p:nvPr/>
        </p:nvSpPr>
        <p:spPr>
          <a:xfrm>
            <a:off x="135225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9" name="Google Shape;549;p44"/>
          <p:cNvSpPr/>
          <p:nvPr/>
        </p:nvSpPr>
        <p:spPr>
          <a:xfrm>
            <a:off x="1274217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0" name="Google Shape;550;p44"/>
          <p:cNvSpPr/>
          <p:nvPr/>
        </p:nvSpPr>
        <p:spPr>
          <a:xfrm>
            <a:off x="704721" y="3645427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1" name="Google Shape;551;p44"/>
          <p:cNvSpPr/>
          <p:nvPr/>
        </p:nvSpPr>
        <p:spPr>
          <a:xfrm>
            <a:off x="1634129" y="311022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2" name="Google Shape;552;p44"/>
          <p:cNvSpPr/>
          <p:nvPr/>
        </p:nvSpPr>
        <p:spPr>
          <a:xfrm>
            <a:off x="1943125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3" name="Google Shape;553;p44"/>
          <p:cNvSpPr/>
          <p:nvPr/>
        </p:nvSpPr>
        <p:spPr>
          <a:xfrm>
            <a:off x="2512621" y="3696343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4" name="Google Shape;554;p44"/>
          <p:cNvSpPr/>
          <p:nvPr/>
        </p:nvSpPr>
        <p:spPr>
          <a:xfrm>
            <a:off x="3082117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55" name="Google Shape;555;p44"/>
          <p:cNvCxnSpPr>
            <a:stCxn id="548" idx="7"/>
            <a:endCxn id="550" idx="3"/>
          </p:cNvCxnSpPr>
          <p:nvPr/>
        </p:nvCxnSpPr>
        <p:spPr>
          <a:xfrm rot="10800000" flipH="1">
            <a:off x="496534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556" name="Google Shape;556;p44"/>
          <p:cNvCxnSpPr>
            <a:stCxn id="550" idx="5"/>
            <a:endCxn id="549" idx="1"/>
          </p:cNvCxnSpPr>
          <p:nvPr/>
        </p:nvCxnSpPr>
        <p:spPr>
          <a:xfrm>
            <a:off x="1066031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7" name="Google Shape;557;p44"/>
          <p:cNvCxnSpPr>
            <a:stCxn id="552" idx="7"/>
            <a:endCxn id="553" idx="3"/>
          </p:cNvCxnSpPr>
          <p:nvPr/>
        </p:nvCxnSpPr>
        <p:spPr>
          <a:xfrm rot="10800000" flipH="1">
            <a:off x="2304434" y="4057627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558" name="Google Shape;558;p44"/>
          <p:cNvCxnSpPr>
            <a:stCxn id="553" idx="5"/>
            <a:endCxn id="554" idx="1"/>
          </p:cNvCxnSpPr>
          <p:nvPr/>
        </p:nvCxnSpPr>
        <p:spPr>
          <a:xfrm>
            <a:off x="2873930" y="4057652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9" name="Google Shape;559;p44"/>
          <p:cNvCxnSpPr>
            <a:stCxn id="551" idx="3"/>
            <a:endCxn id="550" idx="7"/>
          </p:cNvCxnSpPr>
          <p:nvPr/>
        </p:nvCxnSpPr>
        <p:spPr>
          <a:xfrm flipH="1">
            <a:off x="1066120" y="3471534"/>
            <a:ext cx="630000" cy="23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0" name="Google Shape;560;p44"/>
          <p:cNvCxnSpPr>
            <a:stCxn id="551" idx="5"/>
            <a:endCxn id="553" idx="1"/>
          </p:cNvCxnSpPr>
          <p:nvPr/>
        </p:nvCxnSpPr>
        <p:spPr>
          <a:xfrm>
            <a:off x="1995438" y="3471534"/>
            <a:ext cx="579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1" name="Google Shape;561;p44"/>
          <p:cNvSpPr txBox="1"/>
          <p:nvPr/>
        </p:nvSpPr>
        <p:spPr>
          <a:xfrm>
            <a:off x="135225" y="1083100"/>
            <a:ext cx="3370200" cy="1678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BSTNode 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(x == null) return;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2" name="Google Shape;562;p44"/>
          <p:cNvSpPr txBox="1">
            <a:spLocks noGrp="1"/>
          </p:cNvSpPr>
          <p:nvPr>
            <p:ph type="body" idx="1"/>
          </p:nvPr>
        </p:nvSpPr>
        <p:spPr>
          <a:xfrm>
            <a:off x="4860375" y="1083100"/>
            <a:ext cx="3855600" cy="20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Call stack: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preOrder(D)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preOrder(B)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preOrder(A)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63" name="Google Shape;563;p44"/>
          <p:cNvCxnSpPr/>
          <p:nvPr/>
        </p:nvCxnSpPr>
        <p:spPr>
          <a:xfrm rot="10800000">
            <a:off x="3505425" y="2282863"/>
            <a:ext cx="6135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4" name="Google Shape;564;p44"/>
          <p:cNvSpPr txBox="1">
            <a:spLocks noGrp="1"/>
          </p:cNvSpPr>
          <p:nvPr>
            <p:ph type="body" idx="1"/>
          </p:nvPr>
        </p:nvSpPr>
        <p:spPr>
          <a:xfrm>
            <a:off x="4860375" y="3110225"/>
            <a:ext cx="3855600" cy="15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Skipping over the steps of 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preOrder(null)</a:t>
            </a:r>
            <a:r>
              <a:rPr lang="en" sz="1600"/>
              <a:t> for brevity.</a:t>
            </a:r>
            <a:endParaRPr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5"/>
          <p:cNvSpPr txBox="1">
            <a:spLocks noGrp="1"/>
          </p:cNvSpPr>
          <p:nvPr>
            <p:ph type="body" idx="1"/>
          </p:nvPr>
        </p:nvSpPr>
        <p:spPr>
          <a:xfrm>
            <a:off x="107051" y="402200"/>
            <a:ext cx="7860900" cy="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Preorder: “Visit” a node, then traverse its children: DBA</a:t>
            </a:r>
            <a:endParaRPr/>
          </a:p>
        </p:txBody>
      </p:sp>
      <p:sp>
        <p:nvSpPr>
          <p:cNvPr id="570" name="Google Shape;570;p4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 Preorder Depth-First Tree Traversal</a:t>
            </a:r>
            <a:endParaRPr/>
          </a:p>
        </p:txBody>
      </p:sp>
      <p:sp>
        <p:nvSpPr>
          <p:cNvPr id="571" name="Google Shape;571;p45"/>
          <p:cNvSpPr/>
          <p:nvPr/>
        </p:nvSpPr>
        <p:spPr>
          <a:xfrm>
            <a:off x="135225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2" name="Google Shape;572;p45"/>
          <p:cNvSpPr/>
          <p:nvPr/>
        </p:nvSpPr>
        <p:spPr>
          <a:xfrm>
            <a:off x="1274217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3" name="Google Shape;573;p45"/>
          <p:cNvSpPr/>
          <p:nvPr/>
        </p:nvSpPr>
        <p:spPr>
          <a:xfrm>
            <a:off x="704721" y="3645427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4" name="Google Shape;574;p45"/>
          <p:cNvSpPr/>
          <p:nvPr/>
        </p:nvSpPr>
        <p:spPr>
          <a:xfrm>
            <a:off x="1634129" y="311022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5" name="Google Shape;575;p45"/>
          <p:cNvSpPr/>
          <p:nvPr/>
        </p:nvSpPr>
        <p:spPr>
          <a:xfrm>
            <a:off x="1943125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6" name="Google Shape;576;p45"/>
          <p:cNvSpPr/>
          <p:nvPr/>
        </p:nvSpPr>
        <p:spPr>
          <a:xfrm>
            <a:off x="2512621" y="3696343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7" name="Google Shape;577;p45"/>
          <p:cNvSpPr/>
          <p:nvPr/>
        </p:nvSpPr>
        <p:spPr>
          <a:xfrm>
            <a:off x="3082117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78" name="Google Shape;578;p45"/>
          <p:cNvCxnSpPr>
            <a:stCxn id="571" idx="7"/>
            <a:endCxn id="573" idx="3"/>
          </p:cNvCxnSpPr>
          <p:nvPr/>
        </p:nvCxnSpPr>
        <p:spPr>
          <a:xfrm rot="10800000" flipH="1">
            <a:off x="496534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579" name="Google Shape;579;p45"/>
          <p:cNvCxnSpPr>
            <a:stCxn id="573" idx="5"/>
            <a:endCxn id="572" idx="1"/>
          </p:cNvCxnSpPr>
          <p:nvPr/>
        </p:nvCxnSpPr>
        <p:spPr>
          <a:xfrm>
            <a:off x="1066031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0" name="Google Shape;580;p45"/>
          <p:cNvCxnSpPr>
            <a:stCxn id="575" idx="7"/>
            <a:endCxn id="576" idx="3"/>
          </p:cNvCxnSpPr>
          <p:nvPr/>
        </p:nvCxnSpPr>
        <p:spPr>
          <a:xfrm rot="10800000" flipH="1">
            <a:off x="2304434" y="4057627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581" name="Google Shape;581;p45"/>
          <p:cNvCxnSpPr>
            <a:stCxn id="576" idx="5"/>
            <a:endCxn id="577" idx="1"/>
          </p:cNvCxnSpPr>
          <p:nvPr/>
        </p:nvCxnSpPr>
        <p:spPr>
          <a:xfrm>
            <a:off x="2873930" y="4057652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2" name="Google Shape;582;p45"/>
          <p:cNvCxnSpPr>
            <a:stCxn id="574" idx="3"/>
            <a:endCxn id="573" idx="7"/>
          </p:cNvCxnSpPr>
          <p:nvPr/>
        </p:nvCxnSpPr>
        <p:spPr>
          <a:xfrm flipH="1">
            <a:off x="1066120" y="3471534"/>
            <a:ext cx="630000" cy="23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3" name="Google Shape;583;p45"/>
          <p:cNvCxnSpPr>
            <a:stCxn id="574" idx="5"/>
            <a:endCxn id="576" idx="1"/>
          </p:cNvCxnSpPr>
          <p:nvPr/>
        </p:nvCxnSpPr>
        <p:spPr>
          <a:xfrm>
            <a:off x="1995438" y="3471534"/>
            <a:ext cx="579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84" name="Google Shape;584;p45"/>
          <p:cNvSpPr txBox="1"/>
          <p:nvPr/>
        </p:nvSpPr>
        <p:spPr>
          <a:xfrm>
            <a:off x="135225" y="1083100"/>
            <a:ext cx="3370200" cy="1678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BSTNode 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(x == null) return;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5" name="Google Shape;585;p45"/>
          <p:cNvSpPr txBox="1">
            <a:spLocks noGrp="1"/>
          </p:cNvSpPr>
          <p:nvPr>
            <p:ph type="body" idx="1"/>
          </p:nvPr>
        </p:nvSpPr>
        <p:spPr>
          <a:xfrm>
            <a:off x="4860375" y="1083100"/>
            <a:ext cx="3855600" cy="20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Call stack: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preOrder(D)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preOrder(B)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86" name="Google Shape;586;p45"/>
          <p:cNvCxnSpPr/>
          <p:nvPr/>
        </p:nvCxnSpPr>
        <p:spPr>
          <a:xfrm rot="10800000">
            <a:off x="3505425" y="2040781"/>
            <a:ext cx="6135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6"/>
          <p:cNvSpPr txBox="1">
            <a:spLocks noGrp="1"/>
          </p:cNvSpPr>
          <p:nvPr>
            <p:ph type="body" idx="1"/>
          </p:nvPr>
        </p:nvSpPr>
        <p:spPr>
          <a:xfrm>
            <a:off x="107051" y="402200"/>
            <a:ext cx="7860900" cy="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Preorder: “Visit” a node, then traverse its children: DBAC</a:t>
            </a:r>
            <a:endParaRPr/>
          </a:p>
        </p:txBody>
      </p:sp>
      <p:sp>
        <p:nvSpPr>
          <p:cNvPr id="592" name="Google Shape;592;p4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 Preorder Depth-First Tree Traversal</a:t>
            </a:r>
            <a:endParaRPr/>
          </a:p>
        </p:txBody>
      </p:sp>
      <p:sp>
        <p:nvSpPr>
          <p:cNvPr id="593" name="Google Shape;593;p46"/>
          <p:cNvSpPr/>
          <p:nvPr/>
        </p:nvSpPr>
        <p:spPr>
          <a:xfrm>
            <a:off x="135225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4" name="Google Shape;594;p46"/>
          <p:cNvSpPr/>
          <p:nvPr/>
        </p:nvSpPr>
        <p:spPr>
          <a:xfrm>
            <a:off x="1274217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5" name="Google Shape;595;p46"/>
          <p:cNvSpPr/>
          <p:nvPr/>
        </p:nvSpPr>
        <p:spPr>
          <a:xfrm>
            <a:off x="704721" y="3645427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6" name="Google Shape;596;p46"/>
          <p:cNvSpPr/>
          <p:nvPr/>
        </p:nvSpPr>
        <p:spPr>
          <a:xfrm>
            <a:off x="1634129" y="311022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7" name="Google Shape;597;p46"/>
          <p:cNvSpPr/>
          <p:nvPr/>
        </p:nvSpPr>
        <p:spPr>
          <a:xfrm>
            <a:off x="1943125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8" name="Google Shape;598;p46"/>
          <p:cNvSpPr/>
          <p:nvPr/>
        </p:nvSpPr>
        <p:spPr>
          <a:xfrm>
            <a:off x="2512621" y="3696343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9" name="Google Shape;599;p46"/>
          <p:cNvSpPr/>
          <p:nvPr/>
        </p:nvSpPr>
        <p:spPr>
          <a:xfrm>
            <a:off x="3082117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00" name="Google Shape;600;p46"/>
          <p:cNvCxnSpPr>
            <a:stCxn id="593" idx="7"/>
            <a:endCxn id="595" idx="3"/>
          </p:cNvCxnSpPr>
          <p:nvPr/>
        </p:nvCxnSpPr>
        <p:spPr>
          <a:xfrm rot="10800000" flipH="1">
            <a:off x="496534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601" name="Google Shape;601;p46"/>
          <p:cNvCxnSpPr>
            <a:stCxn id="595" idx="5"/>
            <a:endCxn id="594" idx="1"/>
          </p:cNvCxnSpPr>
          <p:nvPr/>
        </p:nvCxnSpPr>
        <p:spPr>
          <a:xfrm>
            <a:off x="1066031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2" name="Google Shape;602;p46"/>
          <p:cNvCxnSpPr>
            <a:stCxn id="597" idx="7"/>
            <a:endCxn id="598" idx="3"/>
          </p:cNvCxnSpPr>
          <p:nvPr/>
        </p:nvCxnSpPr>
        <p:spPr>
          <a:xfrm rot="10800000" flipH="1">
            <a:off x="2304434" y="4057627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603" name="Google Shape;603;p46"/>
          <p:cNvCxnSpPr>
            <a:stCxn id="598" idx="5"/>
            <a:endCxn id="599" idx="1"/>
          </p:cNvCxnSpPr>
          <p:nvPr/>
        </p:nvCxnSpPr>
        <p:spPr>
          <a:xfrm>
            <a:off x="2873930" y="4057652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4" name="Google Shape;604;p46"/>
          <p:cNvCxnSpPr>
            <a:stCxn id="596" idx="3"/>
            <a:endCxn id="595" idx="7"/>
          </p:cNvCxnSpPr>
          <p:nvPr/>
        </p:nvCxnSpPr>
        <p:spPr>
          <a:xfrm flipH="1">
            <a:off x="1066120" y="3471534"/>
            <a:ext cx="630000" cy="23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5" name="Google Shape;605;p46"/>
          <p:cNvCxnSpPr>
            <a:stCxn id="596" idx="5"/>
            <a:endCxn id="598" idx="1"/>
          </p:cNvCxnSpPr>
          <p:nvPr/>
        </p:nvCxnSpPr>
        <p:spPr>
          <a:xfrm>
            <a:off x="1995438" y="3471534"/>
            <a:ext cx="579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06" name="Google Shape;606;p46"/>
          <p:cNvSpPr txBox="1"/>
          <p:nvPr/>
        </p:nvSpPr>
        <p:spPr>
          <a:xfrm>
            <a:off x="135225" y="1083100"/>
            <a:ext cx="3370200" cy="1678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BSTNode 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(x == null) return;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7" name="Google Shape;607;p46"/>
          <p:cNvSpPr txBox="1">
            <a:spLocks noGrp="1"/>
          </p:cNvSpPr>
          <p:nvPr>
            <p:ph type="body" idx="1"/>
          </p:nvPr>
        </p:nvSpPr>
        <p:spPr>
          <a:xfrm>
            <a:off x="4860375" y="1083100"/>
            <a:ext cx="3855600" cy="20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Call stack: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preOrder(D)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preOrder(B)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08" name="Google Shape;608;p46"/>
          <p:cNvCxnSpPr/>
          <p:nvPr/>
        </p:nvCxnSpPr>
        <p:spPr>
          <a:xfrm rot="10800000">
            <a:off x="3505425" y="2282863"/>
            <a:ext cx="6135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09" name="Google Shape;609;p46"/>
          <p:cNvSpPr txBox="1">
            <a:spLocks noGrp="1"/>
          </p:cNvSpPr>
          <p:nvPr>
            <p:ph type="body" idx="1"/>
          </p:nvPr>
        </p:nvSpPr>
        <p:spPr>
          <a:xfrm>
            <a:off x="4860375" y="3110225"/>
            <a:ext cx="3855600" cy="15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Skipping over the steps of 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preOrder(C)</a:t>
            </a:r>
            <a:r>
              <a:rPr lang="en" sz="1600"/>
              <a:t> for brevity.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7"/>
          <p:cNvSpPr txBox="1">
            <a:spLocks noGrp="1"/>
          </p:cNvSpPr>
          <p:nvPr>
            <p:ph type="body" idx="1"/>
          </p:nvPr>
        </p:nvSpPr>
        <p:spPr>
          <a:xfrm>
            <a:off x="107051" y="402200"/>
            <a:ext cx="7860900" cy="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Preorder: “Visit” a node, then traverse its children: DBAC</a:t>
            </a:r>
            <a:endParaRPr/>
          </a:p>
        </p:txBody>
      </p:sp>
      <p:sp>
        <p:nvSpPr>
          <p:cNvPr id="615" name="Google Shape;615;p4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 Preorder Depth-First Tree Traversal</a:t>
            </a:r>
            <a:endParaRPr/>
          </a:p>
        </p:txBody>
      </p:sp>
      <p:sp>
        <p:nvSpPr>
          <p:cNvPr id="616" name="Google Shape;616;p47"/>
          <p:cNvSpPr/>
          <p:nvPr/>
        </p:nvSpPr>
        <p:spPr>
          <a:xfrm>
            <a:off x="135225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7" name="Google Shape;617;p47"/>
          <p:cNvSpPr/>
          <p:nvPr/>
        </p:nvSpPr>
        <p:spPr>
          <a:xfrm>
            <a:off x="1274217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8" name="Google Shape;618;p47"/>
          <p:cNvSpPr/>
          <p:nvPr/>
        </p:nvSpPr>
        <p:spPr>
          <a:xfrm>
            <a:off x="704721" y="3645427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9" name="Google Shape;619;p47"/>
          <p:cNvSpPr/>
          <p:nvPr/>
        </p:nvSpPr>
        <p:spPr>
          <a:xfrm>
            <a:off x="1634129" y="311022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0" name="Google Shape;620;p47"/>
          <p:cNvSpPr/>
          <p:nvPr/>
        </p:nvSpPr>
        <p:spPr>
          <a:xfrm>
            <a:off x="1943125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1" name="Google Shape;621;p47"/>
          <p:cNvSpPr/>
          <p:nvPr/>
        </p:nvSpPr>
        <p:spPr>
          <a:xfrm>
            <a:off x="2512621" y="3696343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2" name="Google Shape;622;p47"/>
          <p:cNvSpPr/>
          <p:nvPr/>
        </p:nvSpPr>
        <p:spPr>
          <a:xfrm>
            <a:off x="3082117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23" name="Google Shape;623;p47"/>
          <p:cNvCxnSpPr>
            <a:stCxn id="616" idx="7"/>
            <a:endCxn id="618" idx="3"/>
          </p:cNvCxnSpPr>
          <p:nvPr/>
        </p:nvCxnSpPr>
        <p:spPr>
          <a:xfrm rot="10800000" flipH="1">
            <a:off x="496534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624" name="Google Shape;624;p47"/>
          <p:cNvCxnSpPr>
            <a:stCxn id="618" idx="5"/>
            <a:endCxn id="617" idx="1"/>
          </p:cNvCxnSpPr>
          <p:nvPr/>
        </p:nvCxnSpPr>
        <p:spPr>
          <a:xfrm>
            <a:off x="1066031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5" name="Google Shape;625;p47"/>
          <p:cNvCxnSpPr>
            <a:stCxn id="620" idx="7"/>
            <a:endCxn id="621" idx="3"/>
          </p:cNvCxnSpPr>
          <p:nvPr/>
        </p:nvCxnSpPr>
        <p:spPr>
          <a:xfrm rot="10800000" flipH="1">
            <a:off x="2304434" y="4057627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626" name="Google Shape;626;p47"/>
          <p:cNvCxnSpPr>
            <a:stCxn id="621" idx="5"/>
            <a:endCxn id="622" idx="1"/>
          </p:cNvCxnSpPr>
          <p:nvPr/>
        </p:nvCxnSpPr>
        <p:spPr>
          <a:xfrm>
            <a:off x="2873930" y="4057652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7" name="Google Shape;627;p47"/>
          <p:cNvCxnSpPr>
            <a:stCxn id="619" idx="3"/>
            <a:endCxn id="618" idx="7"/>
          </p:cNvCxnSpPr>
          <p:nvPr/>
        </p:nvCxnSpPr>
        <p:spPr>
          <a:xfrm flipH="1">
            <a:off x="1066120" y="3471534"/>
            <a:ext cx="630000" cy="23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8" name="Google Shape;628;p47"/>
          <p:cNvCxnSpPr>
            <a:stCxn id="619" idx="5"/>
            <a:endCxn id="621" idx="1"/>
          </p:cNvCxnSpPr>
          <p:nvPr/>
        </p:nvCxnSpPr>
        <p:spPr>
          <a:xfrm>
            <a:off x="1995438" y="3471534"/>
            <a:ext cx="579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29" name="Google Shape;629;p47"/>
          <p:cNvSpPr txBox="1"/>
          <p:nvPr/>
        </p:nvSpPr>
        <p:spPr>
          <a:xfrm>
            <a:off x="135225" y="1083100"/>
            <a:ext cx="3370200" cy="1678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BSTNode 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(x == null) return;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0" name="Google Shape;630;p47"/>
          <p:cNvSpPr txBox="1">
            <a:spLocks noGrp="1"/>
          </p:cNvSpPr>
          <p:nvPr>
            <p:ph type="body" idx="1"/>
          </p:nvPr>
        </p:nvSpPr>
        <p:spPr>
          <a:xfrm>
            <a:off x="4860375" y="1083100"/>
            <a:ext cx="3855600" cy="20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Call stack: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preOrder(D)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31" name="Google Shape;631;p47"/>
          <p:cNvCxnSpPr/>
          <p:nvPr/>
        </p:nvCxnSpPr>
        <p:spPr>
          <a:xfrm rot="10800000">
            <a:off x="3505425" y="2040781"/>
            <a:ext cx="6135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8"/>
          <p:cNvSpPr txBox="1">
            <a:spLocks noGrp="1"/>
          </p:cNvSpPr>
          <p:nvPr>
            <p:ph type="body" idx="1"/>
          </p:nvPr>
        </p:nvSpPr>
        <p:spPr>
          <a:xfrm>
            <a:off x="107051" y="402200"/>
            <a:ext cx="7860900" cy="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Preorder: “Visit” a node, then traverse its children: DBAC</a:t>
            </a:r>
            <a:endParaRPr/>
          </a:p>
        </p:txBody>
      </p:sp>
      <p:sp>
        <p:nvSpPr>
          <p:cNvPr id="637" name="Google Shape;637;p4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 Preorder Depth-First Tree Traversal</a:t>
            </a:r>
            <a:endParaRPr/>
          </a:p>
        </p:txBody>
      </p:sp>
      <p:sp>
        <p:nvSpPr>
          <p:cNvPr id="638" name="Google Shape;638;p48"/>
          <p:cNvSpPr/>
          <p:nvPr/>
        </p:nvSpPr>
        <p:spPr>
          <a:xfrm>
            <a:off x="135225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9" name="Google Shape;639;p48"/>
          <p:cNvSpPr/>
          <p:nvPr/>
        </p:nvSpPr>
        <p:spPr>
          <a:xfrm>
            <a:off x="1274217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0" name="Google Shape;640;p48"/>
          <p:cNvSpPr/>
          <p:nvPr/>
        </p:nvSpPr>
        <p:spPr>
          <a:xfrm>
            <a:off x="704721" y="3645427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1" name="Google Shape;641;p48"/>
          <p:cNvSpPr/>
          <p:nvPr/>
        </p:nvSpPr>
        <p:spPr>
          <a:xfrm>
            <a:off x="1634129" y="311022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2" name="Google Shape;642;p48"/>
          <p:cNvSpPr/>
          <p:nvPr/>
        </p:nvSpPr>
        <p:spPr>
          <a:xfrm>
            <a:off x="1943125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3" name="Google Shape;643;p48"/>
          <p:cNvSpPr/>
          <p:nvPr/>
        </p:nvSpPr>
        <p:spPr>
          <a:xfrm>
            <a:off x="2512621" y="3696343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4" name="Google Shape;644;p48"/>
          <p:cNvSpPr/>
          <p:nvPr/>
        </p:nvSpPr>
        <p:spPr>
          <a:xfrm>
            <a:off x="3082117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45" name="Google Shape;645;p48"/>
          <p:cNvCxnSpPr>
            <a:stCxn id="638" idx="7"/>
            <a:endCxn id="640" idx="3"/>
          </p:cNvCxnSpPr>
          <p:nvPr/>
        </p:nvCxnSpPr>
        <p:spPr>
          <a:xfrm rot="10800000" flipH="1">
            <a:off x="496534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646" name="Google Shape;646;p48"/>
          <p:cNvCxnSpPr>
            <a:stCxn id="640" idx="5"/>
            <a:endCxn id="639" idx="1"/>
          </p:cNvCxnSpPr>
          <p:nvPr/>
        </p:nvCxnSpPr>
        <p:spPr>
          <a:xfrm>
            <a:off x="1066031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7" name="Google Shape;647;p48"/>
          <p:cNvCxnSpPr>
            <a:stCxn id="642" idx="7"/>
            <a:endCxn id="643" idx="3"/>
          </p:cNvCxnSpPr>
          <p:nvPr/>
        </p:nvCxnSpPr>
        <p:spPr>
          <a:xfrm rot="10800000" flipH="1">
            <a:off x="2304434" y="4057627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648" name="Google Shape;648;p48"/>
          <p:cNvCxnSpPr>
            <a:stCxn id="643" idx="5"/>
            <a:endCxn id="644" idx="1"/>
          </p:cNvCxnSpPr>
          <p:nvPr/>
        </p:nvCxnSpPr>
        <p:spPr>
          <a:xfrm>
            <a:off x="2873930" y="4057652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9" name="Google Shape;649;p48"/>
          <p:cNvCxnSpPr>
            <a:stCxn id="641" idx="3"/>
            <a:endCxn id="640" idx="7"/>
          </p:cNvCxnSpPr>
          <p:nvPr/>
        </p:nvCxnSpPr>
        <p:spPr>
          <a:xfrm flipH="1">
            <a:off x="1066120" y="3471534"/>
            <a:ext cx="630000" cy="23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0" name="Google Shape;650;p48"/>
          <p:cNvCxnSpPr>
            <a:stCxn id="641" idx="5"/>
            <a:endCxn id="643" idx="1"/>
          </p:cNvCxnSpPr>
          <p:nvPr/>
        </p:nvCxnSpPr>
        <p:spPr>
          <a:xfrm>
            <a:off x="1995438" y="3471534"/>
            <a:ext cx="579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1" name="Google Shape;651;p48"/>
          <p:cNvSpPr txBox="1"/>
          <p:nvPr/>
        </p:nvSpPr>
        <p:spPr>
          <a:xfrm>
            <a:off x="135225" y="1083100"/>
            <a:ext cx="3370200" cy="1678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BSTNode 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(x == null) return;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2" name="Google Shape;652;p48"/>
          <p:cNvSpPr txBox="1">
            <a:spLocks noGrp="1"/>
          </p:cNvSpPr>
          <p:nvPr>
            <p:ph type="body" idx="1"/>
          </p:nvPr>
        </p:nvSpPr>
        <p:spPr>
          <a:xfrm>
            <a:off x="4860375" y="1083100"/>
            <a:ext cx="3855600" cy="20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Call stack: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preOrder(D)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preOrder(F)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53" name="Google Shape;653;p48"/>
          <p:cNvCxnSpPr/>
          <p:nvPr/>
        </p:nvCxnSpPr>
        <p:spPr>
          <a:xfrm rot="10800000">
            <a:off x="3505425" y="1549875"/>
            <a:ext cx="633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49"/>
          <p:cNvSpPr txBox="1">
            <a:spLocks noGrp="1"/>
          </p:cNvSpPr>
          <p:nvPr>
            <p:ph type="body" idx="1"/>
          </p:nvPr>
        </p:nvSpPr>
        <p:spPr>
          <a:xfrm>
            <a:off x="107051" y="402200"/>
            <a:ext cx="7860900" cy="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Preorder: “Visit” a node, then traverse its children: DBACF</a:t>
            </a:r>
            <a:endParaRPr/>
          </a:p>
        </p:txBody>
      </p:sp>
      <p:sp>
        <p:nvSpPr>
          <p:cNvPr id="659" name="Google Shape;659;p4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 Preorder Depth-First Tree Traversal</a:t>
            </a:r>
            <a:endParaRPr/>
          </a:p>
        </p:txBody>
      </p:sp>
      <p:sp>
        <p:nvSpPr>
          <p:cNvPr id="660" name="Google Shape;660;p49"/>
          <p:cNvSpPr/>
          <p:nvPr/>
        </p:nvSpPr>
        <p:spPr>
          <a:xfrm>
            <a:off x="135225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1" name="Google Shape;661;p49"/>
          <p:cNvSpPr/>
          <p:nvPr/>
        </p:nvSpPr>
        <p:spPr>
          <a:xfrm>
            <a:off x="1274217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2" name="Google Shape;662;p49"/>
          <p:cNvSpPr/>
          <p:nvPr/>
        </p:nvSpPr>
        <p:spPr>
          <a:xfrm>
            <a:off x="704721" y="3645427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3" name="Google Shape;663;p49"/>
          <p:cNvSpPr/>
          <p:nvPr/>
        </p:nvSpPr>
        <p:spPr>
          <a:xfrm>
            <a:off x="1634129" y="311022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4" name="Google Shape;664;p49"/>
          <p:cNvSpPr/>
          <p:nvPr/>
        </p:nvSpPr>
        <p:spPr>
          <a:xfrm>
            <a:off x="1943125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5" name="Google Shape;665;p49"/>
          <p:cNvSpPr/>
          <p:nvPr/>
        </p:nvSpPr>
        <p:spPr>
          <a:xfrm>
            <a:off x="2512621" y="3696343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6" name="Google Shape;666;p49"/>
          <p:cNvSpPr/>
          <p:nvPr/>
        </p:nvSpPr>
        <p:spPr>
          <a:xfrm>
            <a:off x="3082117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67" name="Google Shape;667;p49"/>
          <p:cNvCxnSpPr>
            <a:stCxn id="660" idx="7"/>
            <a:endCxn id="662" idx="3"/>
          </p:cNvCxnSpPr>
          <p:nvPr/>
        </p:nvCxnSpPr>
        <p:spPr>
          <a:xfrm rot="10800000" flipH="1">
            <a:off x="496534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668" name="Google Shape;668;p49"/>
          <p:cNvCxnSpPr>
            <a:stCxn id="662" idx="5"/>
            <a:endCxn id="661" idx="1"/>
          </p:cNvCxnSpPr>
          <p:nvPr/>
        </p:nvCxnSpPr>
        <p:spPr>
          <a:xfrm>
            <a:off x="1066031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9" name="Google Shape;669;p49"/>
          <p:cNvCxnSpPr>
            <a:stCxn id="664" idx="7"/>
            <a:endCxn id="665" idx="3"/>
          </p:cNvCxnSpPr>
          <p:nvPr/>
        </p:nvCxnSpPr>
        <p:spPr>
          <a:xfrm rot="10800000" flipH="1">
            <a:off x="2304434" y="4057627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670" name="Google Shape;670;p49"/>
          <p:cNvCxnSpPr>
            <a:stCxn id="665" idx="5"/>
            <a:endCxn id="666" idx="1"/>
          </p:cNvCxnSpPr>
          <p:nvPr/>
        </p:nvCxnSpPr>
        <p:spPr>
          <a:xfrm>
            <a:off x="2873930" y="4057652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1" name="Google Shape;671;p49"/>
          <p:cNvCxnSpPr>
            <a:stCxn id="663" idx="3"/>
            <a:endCxn id="662" idx="7"/>
          </p:cNvCxnSpPr>
          <p:nvPr/>
        </p:nvCxnSpPr>
        <p:spPr>
          <a:xfrm flipH="1">
            <a:off x="1066120" y="3471534"/>
            <a:ext cx="630000" cy="23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2" name="Google Shape;672;p49"/>
          <p:cNvCxnSpPr>
            <a:stCxn id="663" idx="5"/>
            <a:endCxn id="665" idx="1"/>
          </p:cNvCxnSpPr>
          <p:nvPr/>
        </p:nvCxnSpPr>
        <p:spPr>
          <a:xfrm>
            <a:off x="1995438" y="3471534"/>
            <a:ext cx="579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73" name="Google Shape;673;p49"/>
          <p:cNvSpPr txBox="1"/>
          <p:nvPr/>
        </p:nvSpPr>
        <p:spPr>
          <a:xfrm>
            <a:off x="135225" y="1083100"/>
            <a:ext cx="3370200" cy="1678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BSTNode 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(x == null) return;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4" name="Google Shape;674;p49"/>
          <p:cNvSpPr txBox="1">
            <a:spLocks noGrp="1"/>
          </p:cNvSpPr>
          <p:nvPr>
            <p:ph type="body" idx="1"/>
          </p:nvPr>
        </p:nvSpPr>
        <p:spPr>
          <a:xfrm>
            <a:off x="4860375" y="1083100"/>
            <a:ext cx="3855600" cy="20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Call stack: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preOrder(D)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preOrder(F)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75" name="Google Shape;675;p49"/>
          <p:cNvCxnSpPr/>
          <p:nvPr/>
        </p:nvCxnSpPr>
        <p:spPr>
          <a:xfrm rot="10800000">
            <a:off x="3505425" y="1798698"/>
            <a:ext cx="6135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50"/>
          <p:cNvSpPr txBox="1">
            <a:spLocks noGrp="1"/>
          </p:cNvSpPr>
          <p:nvPr>
            <p:ph type="body" idx="1"/>
          </p:nvPr>
        </p:nvSpPr>
        <p:spPr>
          <a:xfrm>
            <a:off x="107051" y="402200"/>
            <a:ext cx="7860900" cy="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Preorder: “Visit” a node, then traverse its children: DBACFE</a:t>
            </a:r>
            <a:endParaRPr/>
          </a:p>
        </p:txBody>
      </p:sp>
      <p:sp>
        <p:nvSpPr>
          <p:cNvPr id="681" name="Google Shape;681;p5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 Preorder Depth-First Tree Traversal</a:t>
            </a:r>
            <a:endParaRPr/>
          </a:p>
        </p:txBody>
      </p:sp>
      <p:sp>
        <p:nvSpPr>
          <p:cNvPr id="682" name="Google Shape;682;p50"/>
          <p:cNvSpPr/>
          <p:nvPr/>
        </p:nvSpPr>
        <p:spPr>
          <a:xfrm>
            <a:off x="135225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3" name="Google Shape;683;p50"/>
          <p:cNvSpPr/>
          <p:nvPr/>
        </p:nvSpPr>
        <p:spPr>
          <a:xfrm>
            <a:off x="1274217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4" name="Google Shape;684;p50"/>
          <p:cNvSpPr/>
          <p:nvPr/>
        </p:nvSpPr>
        <p:spPr>
          <a:xfrm>
            <a:off x="704721" y="3645427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5" name="Google Shape;685;p50"/>
          <p:cNvSpPr/>
          <p:nvPr/>
        </p:nvSpPr>
        <p:spPr>
          <a:xfrm>
            <a:off x="1634129" y="311022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6" name="Google Shape;686;p50"/>
          <p:cNvSpPr/>
          <p:nvPr/>
        </p:nvSpPr>
        <p:spPr>
          <a:xfrm>
            <a:off x="1943125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7" name="Google Shape;687;p50"/>
          <p:cNvSpPr/>
          <p:nvPr/>
        </p:nvSpPr>
        <p:spPr>
          <a:xfrm>
            <a:off x="2512621" y="3696343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8" name="Google Shape;688;p50"/>
          <p:cNvSpPr/>
          <p:nvPr/>
        </p:nvSpPr>
        <p:spPr>
          <a:xfrm>
            <a:off x="3082117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89" name="Google Shape;689;p50"/>
          <p:cNvCxnSpPr>
            <a:stCxn id="682" idx="7"/>
            <a:endCxn id="684" idx="3"/>
          </p:cNvCxnSpPr>
          <p:nvPr/>
        </p:nvCxnSpPr>
        <p:spPr>
          <a:xfrm rot="10800000" flipH="1">
            <a:off x="496534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690" name="Google Shape;690;p50"/>
          <p:cNvCxnSpPr>
            <a:stCxn id="684" idx="5"/>
            <a:endCxn id="683" idx="1"/>
          </p:cNvCxnSpPr>
          <p:nvPr/>
        </p:nvCxnSpPr>
        <p:spPr>
          <a:xfrm>
            <a:off x="1066031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1" name="Google Shape;691;p50"/>
          <p:cNvCxnSpPr>
            <a:stCxn id="686" idx="7"/>
            <a:endCxn id="687" idx="3"/>
          </p:cNvCxnSpPr>
          <p:nvPr/>
        </p:nvCxnSpPr>
        <p:spPr>
          <a:xfrm rot="10800000" flipH="1">
            <a:off x="2304434" y="4057627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692" name="Google Shape;692;p50"/>
          <p:cNvCxnSpPr>
            <a:stCxn id="687" idx="5"/>
            <a:endCxn id="688" idx="1"/>
          </p:cNvCxnSpPr>
          <p:nvPr/>
        </p:nvCxnSpPr>
        <p:spPr>
          <a:xfrm>
            <a:off x="2873930" y="4057652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3" name="Google Shape;693;p50"/>
          <p:cNvCxnSpPr>
            <a:stCxn id="685" idx="3"/>
            <a:endCxn id="684" idx="7"/>
          </p:cNvCxnSpPr>
          <p:nvPr/>
        </p:nvCxnSpPr>
        <p:spPr>
          <a:xfrm flipH="1">
            <a:off x="1066120" y="3471534"/>
            <a:ext cx="630000" cy="23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4" name="Google Shape;694;p50"/>
          <p:cNvCxnSpPr>
            <a:stCxn id="685" idx="5"/>
            <a:endCxn id="687" idx="1"/>
          </p:cNvCxnSpPr>
          <p:nvPr/>
        </p:nvCxnSpPr>
        <p:spPr>
          <a:xfrm>
            <a:off x="1995438" y="3471534"/>
            <a:ext cx="579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95" name="Google Shape;695;p50"/>
          <p:cNvSpPr txBox="1"/>
          <p:nvPr/>
        </p:nvSpPr>
        <p:spPr>
          <a:xfrm>
            <a:off x="135225" y="1083100"/>
            <a:ext cx="3370200" cy="1678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BSTNode 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(x == null) return;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6" name="Google Shape;696;p50"/>
          <p:cNvSpPr txBox="1">
            <a:spLocks noGrp="1"/>
          </p:cNvSpPr>
          <p:nvPr>
            <p:ph type="body" idx="1"/>
          </p:nvPr>
        </p:nvSpPr>
        <p:spPr>
          <a:xfrm>
            <a:off x="4860375" y="1083100"/>
            <a:ext cx="3855600" cy="20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Call stack: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preOrder(D)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preOrder(F)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97" name="Google Shape;697;p50"/>
          <p:cNvCxnSpPr/>
          <p:nvPr/>
        </p:nvCxnSpPr>
        <p:spPr>
          <a:xfrm rot="10800000">
            <a:off x="3505425" y="2040781"/>
            <a:ext cx="6135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98" name="Google Shape;698;p50"/>
          <p:cNvSpPr txBox="1">
            <a:spLocks noGrp="1"/>
          </p:cNvSpPr>
          <p:nvPr>
            <p:ph type="body" idx="1"/>
          </p:nvPr>
        </p:nvSpPr>
        <p:spPr>
          <a:xfrm>
            <a:off x="4860375" y="3110225"/>
            <a:ext cx="3855600" cy="15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Skipping over the steps of 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preOrder(E)</a:t>
            </a:r>
            <a:r>
              <a:rPr lang="en" sz="1600"/>
              <a:t> for brevity.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51"/>
          <p:cNvSpPr txBox="1">
            <a:spLocks noGrp="1"/>
          </p:cNvSpPr>
          <p:nvPr>
            <p:ph type="body" idx="1"/>
          </p:nvPr>
        </p:nvSpPr>
        <p:spPr>
          <a:xfrm>
            <a:off x="107051" y="402200"/>
            <a:ext cx="7860900" cy="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Preorder: “Visit” a node, then traverse its children: DBACFEG</a:t>
            </a:r>
            <a:endParaRPr/>
          </a:p>
        </p:txBody>
      </p:sp>
      <p:sp>
        <p:nvSpPr>
          <p:cNvPr id="704" name="Google Shape;704;p5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 Preorder Depth-First Tree Traversal</a:t>
            </a:r>
            <a:endParaRPr/>
          </a:p>
        </p:txBody>
      </p:sp>
      <p:sp>
        <p:nvSpPr>
          <p:cNvPr id="705" name="Google Shape;705;p51"/>
          <p:cNvSpPr/>
          <p:nvPr/>
        </p:nvSpPr>
        <p:spPr>
          <a:xfrm>
            <a:off x="135225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6" name="Google Shape;706;p51"/>
          <p:cNvSpPr/>
          <p:nvPr/>
        </p:nvSpPr>
        <p:spPr>
          <a:xfrm>
            <a:off x="1274217" y="423154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7" name="Google Shape;707;p51"/>
          <p:cNvSpPr/>
          <p:nvPr/>
        </p:nvSpPr>
        <p:spPr>
          <a:xfrm>
            <a:off x="704721" y="3645427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8" name="Google Shape;708;p51"/>
          <p:cNvSpPr/>
          <p:nvPr/>
        </p:nvSpPr>
        <p:spPr>
          <a:xfrm>
            <a:off x="1634129" y="3110225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9" name="Google Shape;709;p51"/>
          <p:cNvSpPr/>
          <p:nvPr/>
        </p:nvSpPr>
        <p:spPr>
          <a:xfrm>
            <a:off x="1943125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0" name="Google Shape;710;p51"/>
          <p:cNvSpPr/>
          <p:nvPr/>
        </p:nvSpPr>
        <p:spPr>
          <a:xfrm>
            <a:off x="2512621" y="3696343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1" name="Google Shape;711;p51"/>
          <p:cNvSpPr/>
          <p:nvPr/>
        </p:nvSpPr>
        <p:spPr>
          <a:xfrm>
            <a:off x="3082117" y="4217336"/>
            <a:ext cx="423300" cy="423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12" name="Google Shape;712;p51"/>
          <p:cNvCxnSpPr>
            <a:stCxn id="705" idx="7"/>
            <a:endCxn id="707" idx="3"/>
          </p:cNvCxnSpPr>
          <p:nvPr/>
        </p:nvCxnSpPr>
        <p:spPr>
          <a:xfrm rot="10800000" flipH="1">
            <a:off x="496534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713" name="Google Shape;713;p51"/>
          <p:cNvCxnSpPr>
            <a:stCxn id="707" idx="5"/>
            <a:endCxn id="706" idx="1"/>
          </p:cNvCxnSpPr>
          <p:nvPr/>
        </p:nvCxnSpPr>
        <p:spPr>
          <a:xfrm>
            <a:off x="1066031" y="4006736"/>
            <a:ext cx="270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4" name="Google Shape;714;p51"/>
          <p:cNvCxnSpPr>
            <a:stCxn id="709" idx="7"/>
            <a:endCxn id="710" idx="3"/>
          </p:cNvCxnSpPr>
          <p:nvPr/>
        </p:nvCxnSpPr>
        <p:spPr>
          <a:xfrm rot="10800000" flipH="1">
            <a:off x="2304434" y="4057627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715" name="Google Shape;715;p51"/>
          <p:cNvCxnSpPr>
            <a:stCxn id="710" idx="5"/>
            <a:endCxn id="711" idx="1"/>
          </p:cNvCxnSpPr>
          <p:nvPr/>
        </p:nvCxnSpPr>
        <p:spPr>
          <a:xfrm>
            <a:off x="2873930" y="4057652"/>
            <a:ext cx="270300" cy="22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6" name="Google Shape;716;p51"/>
          <p:cNvCxnSpPr>
            <a:stCxn id="708" idx="3"/>
            <a:endCxn id="707" idx="7"/>
          </p:cNvCxnSpPr>
          <p:nvPr/>
        </p:nvCxnSpPr>
        <p:spPr>
          <a:xfrm flipH="1">
            <a:off x="1066120" y="3471534"/>
            <a:ext cx="630000" cy="23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7" name="Google Shape;717;p51"/>
          <p:cNvCxnSpPr>
            <a:stCxn id="708" idx="5"/>
            <a:endCxn id="710" idx="1"/>
          </p:cNvCxnSpPr>
          <p:nvPr/>
        </p:nvCxnSpPr>
        <p:spPr>
          <a:xfrm>
            <a:off x="1995438" y="3471534"/>
            <a:ext cx="579300" cy="28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18" name="Google Shape;718;p51"/>
          <p:cNvSpPr txBox="1"/>
          <p:nvPr/>
        </p:nvSpPr>
        <p:spPr>
          <a:xfrm>
            <a:off x="135225" y="1083100"/>
            <a:ext cx="3370200" cy="1678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BSTNode 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(x == null) return;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9" name="Google Shape;719;p51"/>
          <p:cNvSpPr txBox="1">
            <a:spLocks noGrp="1"/>
          </p:cNvSpPr>
          <p:nvPr>
            <p:ph type="body" idx="1"/>
          </p:nvPr>
        </p:nvSpPr>
        <p:spPr>
          <a:xfrm>
            <a:off x="4860375" y="1083100"/>
            <a:ext cx="3855600" cy="20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Call stack:</a:t>
            </a:r>
            <a:endParaRPr sz="16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preOrder(D)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preOrder(F)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20" name="Google Shape;720;p51"/>
          <p:cNvCxnSpPr/>
          <p:nvPr/>
        </p:nvCxnSpPr>
        <p:spPr>
          <a:xfrm rot="10800000">
            <a:off x="3505425" y="2282863"/>
            <a:ext cx="6135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21" name="Google Shape;721;p51"/>
          <p:cNvSpPr txBox="1">
            <a:spLocks noGrp="1"/>
          </p:cNvSpPr>
          <p:nvPr>
            <p:ph type="body" idx="1"/>
          </p:nvPr>
        </p:nvSpPr>
        <p:spPr>
          <a:xfrm>
            <a:off x="4860375" y="3110225"/>
            <a:ext cx="3855600" cy="15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Skipping over the steps of 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preOrder(G)</a:t>
            </a:r>
            <a:r>
              <a:rPr lang="en" sz="1600"/>
              <a:t> for brevity.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52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Preorder traversal: “Visit” a node, then traverse its children:  DBACFEG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Inorder traversal: Traverse left child, visit, then traverse right child: </a:t>
            </a:r>
            <a:endParaRPr/>
          </a:p>
        </p:txBody>
      </p:sp>
      <p:sp>
        <p:nvSpPr>
          <p:cNvPr id="727" name="Google Shape;727;p5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Depth First Traversals</a:t>
            </a:r>
            <a:endParaRPr/>
          </a:p>
        </p:txBody>
      </p:sp>
      <p:sp>
        <p:nvSpPr>
          <p:cNvPr id="728" name="Google Shape;728;p52"/>
          <p:cNvSpPr/>
          <p:nvPr/>
        </p:nvSpPr>
        <p:spPr>
          <a:xfrm>
            <a:off x="2608650" y="449195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9" name="Google Shape;729;p52"/>
          <p:cNvSpPr/>
          <p:nvPr/>
        </p:nvSpPr>
        <p:spPr>
          <a:xfrm>
            <a:off x="3941334" y="449195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0" name="Google Shape;730;p52"/>
          <p:cNvSpPr/>
          <p:nvPr/>
        </p:nvSpPr>
        <p:spPr>
          <a:xfrm>
            <a:off x="3274992" y="380615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1" name="Google Shape;731;p52"/>
          <p:cNvSpPr/>
          <p:nvPr/>
        </p:nvSpPr>
        <p:spPr>
          <a:xfrm>
            <a:off x="4362450" y="31799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2" name="Google Shape;732;p52"/>
          <p:cNvSpPr/>
          <p:nvPr/>
        </p:nvSpPr>
        <p:spPr>
          <a:xfrm>
            <a:off x="4723992" y="44753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3" name="Google Shape;733;p52"/>
          <p:cNvSpPr/>
          <p:nvPr/>
        </p:nvSpPr>
        <p:spPr>
          <a:xfrm>
            <a:off x="5390333" y="38657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4" name="Google Shape;734;p52"/>
          <p:cNvSpPr/>
          <p:nvPr/>
        </p:nvSpPr>
        <p:spPr>
          <a:xfrm>
            <a:off x="6056675" y="44753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35" name="Google Shape;735;p52"/>
          <p:cNvCxnSpPr>
            <a:stCxn id="728" idx="7"/>
            <a:endCxn id="730" idx="3"/>
          </p:cNvCxnSpPr>
          <p:nvPr/>
        </p:nvCxnSpPr>
        <p:spPr>
          <a:xfrm rot="10800000" flipH="1">
            <a:off x="3031415" y="4228785"/>
            <a:ext cx="316200" cy="33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736" name="Google Shape;736;p52"/>
          <p:cNvCxnSpPr>
            <a:stCxn id="730" idx="5"/>
            <a:endCxn id="729" idx="1"/>
          </p:cNvCxnSpPr>
          <p:nvPr/>
        </p:nvCxnSpPr>
        <p:spPr>
          <a:xfrm>
            <a:off x="3697757" y="4228915"/>
            <a:ext cx="316200" cy="33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7" name="Google Shape;737;p52"/>
          <p:cNvCxnSpPr>
            <a:stCxn id="732" idx="7"/>
            <a:endCxn id="733" idx="3"/>
          </p:cNvCxnSpPr>
          <p:nvPr/>
        </p:nvCxnSpPr>
        <p:spPr>
          <a:xfrm rot="10800000" flipH="1">
            <a:off x="5146757" y="4288360"/>
            <a:ext cx="316200" cy="259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738" name="Google Shape;738;p52"/>
          <p:cNvCxnSpPr>
            <a:stCxn id="733" idx="5"/>
            <a:endCxn id="734" idx="1"/>
          </p:cNvCxnSpPr>
          <p:nvPr/>
        </p:nvCxnSpPr>
        <p:spPr>
          <a:xfrm>
            <a:off x="5813098" y="4288490"/>
            <a:ext cx="316200" cy="259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9" name="Google Shape;739;p52"/>
          <p:cNvCxnSpPr>
            <a:stCxn id="731" idx="3"/>
            <a:endCxn id="730" idx="7"/>
          </p:cNvCxnSpPr>
          <p:nvPr/>
        </p:nvCxnSpPr>
        <p:spPr>
          <a:xfrm flipH="1">
            <a:off x="3697885" y="3602690"/>
            <a:ext cx="737100" cy="276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0" name="Google Shape;740;p52"/>
          <p:cNvCxnSpPr>
            <a:stCxn id="731" idx="5"/>
            <a:endCxn id="733" idx="1"/>
          </p:cNvCxnSpPr>
          <p:nvPr/>
        </p:nvCxnSpPr>
        <p:spPr>
          <a:xfrm>
            <a:off x="4785215" y="3602690"/>
            <a:ext cx="677700" cy="33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41" name="Google Shape;741;p52"/>
          <p:cNvSpPr txBox="1"/>
          <p:nvPr/>
        </p:nvSpPr>
        <p:spPr>
          <a:xfrm>
            <a:off x="5131625" y="1448675"/>
            <a:ext cx="3861900" cy="2053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inOrder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BSTNode x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2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(x == null) return;</a:t>
            </a:r>
            <a:b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inOrder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20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20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inOrder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20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2" name="Google Shape;742;p52"/>
          <p:cNvSpPr txBox="1"/>
          <p:nvPr/>
        </p:nvSpPr>
        <p:spPr>
          <a:xfrm>
            <a:off x="135350" y="1462700"/>
            <a:ext cx="3963300" cy="2039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preOrder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BSTNode x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2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(x == null) return;</a:t>
            </a:r>
            <a:b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20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20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preOrder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20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3" name="Google Shape;743;p52"/>
          <p:cNvSpPr txBox="1"/>
          <p:nvPr/>
        </p:nvSpPr>
        <p:spPr>
          <a:xfrm>
            <a:off x="7332225" y="958275"/>
            <a:ext cx="3162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4" name="Google Shape;744;p52"/>
          <p:cNvSpPr txBox="1"/>
          <p:nvPr/>
        </p:nvSpPr>
        <p:spPr>
          <a:xfrm>
            <a:off x="7510025" y="958275"/>
            <a:ext cx="3162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5" name="Google Shape;745;p52"/>
          <p:cNvSpPr txBox="1"/>
          <p:nvPr/>
        </p:nvSpPr>
        <p:spPr>
          <a:xfrm>
            <a:off x="7687825" y="958275"/>
            <a:ext cx="3162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6" name="Google Shape;746;p52"/>
          <p:cNvSpPr txBox="1"/>
          <p:nvPr/>
        </p:nvSpPr>
        <p:spPr>
          <a:xfrm>
            <a:off x="7865625" y="958275"/>
            <a:ext cx="3162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7" name="Google Shape;747;p52"/>
          <p:cNvSpPr txBox="1"/>
          <p:nvPr/>
        </p:nvSpPr>
        <p:spPr>
          <a:xfrm>
            <a:off x="8043425" y="958275"/>
            <a:ext cx="3162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8" name="Google Shape;748;p52"/>
          <p:cNvSpPr txBox="1"/>
          <p:nvPr/>
        </p:nvSpPr>
        <p:spPr>
          <a:xfrm>
            <a:off x="8221225" y="958275"/>
            <a:ext cx="3162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9" name="Google Shape;749;p52"/>
          <p:cNvSpPr txBox="1"/>
          <p:nvPr/>
        </p:nvSpPr>
        <p:spPr>
          <a:xfrm>
            <a:off x="8399025" y="958275"/>
            <a:ext cx="3162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2E9"/>
        </a:solidFill>
        <a:effectLst/>
      </p:bgPr>
    </p:bg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53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Preorder traversal: “Visit” a node, then traverse its children:  DBACFEG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Inorder traversal: Traverse left child, visit, traverse right child:  ABCDEFG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Postorder traversal: Traverse left, traverse right, then visit: ???????</a:t>
            </a:r>
            <a:endParaRPr/>
          </a:p>
        </p:txBody>
      </p:sp>
      <p:sp>
        <p:nvSpPr>
          <p:cNvPr id="755" name="Google Shape;755;p5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Depth First Traversals http://yellkey.com</a:t>
            </a:r>
            <a:r>
              <a:rPr lang="en">
                <a:solidFill>
                  <a:srgbClr val="208920"/>
                </a:solidFill>
              </a:rPr>
              <a:t>/yes</a:t>
            </a:r>
            <a:endParaRPr>
              <a:solidFill>
                <a:srgbClr val="208920"/>
              </a:solidFill>
            </a:endParaRPr>
          </a:p>
        </p:txBody>
      </p:sp>
      <p:sp>
        <p:nvSpPr>
          <p:cNvPr id="756" name="Google Shape;756;p53"/>
          <p:cNvSpPr/>
          <p:nvPr/>
        </p:nvSpPr>
        <p:spPr>
          <a:xfrm>
            <a:off x="2608650" y="449195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7" name="Google Shape;757;p53"/>
          <p:cNvSpPr/>
          <p:nvPr/>
        </p:nvSpPr>
        <p:spPr>
          <a:xfrm>
            <a:off x="3941334" y="449195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8" name="Google Shape;758;p53"/>
          <p:cNvSpPr/>
          <p:nvPr/>
        </p:nvSpPr>
        <p:spPr>
          <a:xfrm>
            <a:off x="3274992" y="380615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9" name="Google Shape;759;p53"/>
          <p:cNvSpPr/>
          <p:nvPr/>
        </p:nvSpPr>
        <p:spPr>
          <a:xfrm>
            <a:off x="4362450" y="31799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0" name="Google Shape;760;p53"/>
          <p:cNvSpPr/>
          <p:nvPr/>
        </p:nvSpPr>
        <p:spPr>
          <a:xfrm>
            <a:off x="4723992" y="44753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1" name="Google Shape;761;p53"/>
          <p:cNvSpPr/>
          <p:nvPr/>
        </p:nvSpPr>
        <p:spPr>
          <a:xfrm>
            <a:off x="5390333" y="38657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2" name="Google Shape;762;p53"/>
          <p:cNvSpPr/>
          <p:nvPr/>
        </p:nvSpPr>
        <p:spPr>
          <a:xfrm>
            <a:off x="6056675" y="44753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63" name="Google Shape;763;p53"/>
          <p:cNvCxnSpPr>
            <a:stCxn id="756" idx="7"/>
            <a:endCxn id="758" idx="3"/>
          </p:cNvCxnSpPr>
          <p:nvPr/>
        </p:nvCxnSpPr>
        <p:spPr>
          <a:xfrm rot="10800000" flipH="1">
            <a:off x="3031415" y="4228785"/>
            <a:ext cx="316200" cy="33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764" name="Google Shape;764;p53"/>
          <p:cNvCxnSpPr>
            <a:stCxn id="758" idx="5"/>
            <a:endCxn id="757" idx="1"/>
          </p:cNvCxnSpPr>
          <p:nvPr/>
        </p:nvCxnSpPr>
        <p:spPr>
          <a:xfrm>
            <a:off x="3697757" y="4228915"/>
            <a:ext cx="316200" cy="33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5" name="Google Shape;765;p53"/>
          <p:cNvCxnSpPr>
            <a:stCxn id="760" idx="7"/>
            <a:endCxn id="761" idx="3"/>
          </p:cNvCxnSpPr>
          <p:nvPr/>
        </p:nvCxnSpPr>
        <p:spPr>
          <a:xfrm rot="10800000" flipH="1">
            <a:off x="5146757" y="4288360"/>
            <a:ext cx="316200" cy="259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766" name="Google Shape;766;p53"/>
          <p:cNvCxnSpPr>
            <a:stCxn id="761" idx="5"/>
            <a:endCxn id="762" idx="1"/>
          </p:cNvCxnSpPr>
          <p:nvPr/>
        </p:nvCxnSpPr>
        <p:spPr>
          <a:xfrm>
            <a:off x="5813098" y="4288490"/>
            <a:ext cx="316200" cy="259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7" name="Google Shape;767;p53"/>
          <p:cNvCxnSpPr>
            <a:stCxn id="759" idx="3"/>
            <a:endCxn id="758" idx="7"/>
          </p:cNvCxnSpPr>
          <p:nvPr/>
        </p:nvCxnSpPr>
        <p:spPr>
          <a:xfrm flipH="1">
            <a:off x="3697885" y="3602690"/>
            <a:ext cx="737100" cy="276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8" name="Google Shape;768;p53"/>
          <p:cNvCxnSpPr>
            <a:stCxn id="759" idx="5"/>
            <a:endCxn id="761" idx="1"/>
          </p:cNvCxnSpPr>
          <p:nvPr/>
        </p:nvCxnSpPr>
        <p:spPr>
          <a:xfrm>
            <a:off x="4785215" y="3602690"/>
            <a:ext cx="677700" cy="33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69" name="Google Shape;769;p53"/>
          <p:cNvSpPr txBox="1"/>
          <p:nvPr/>
        </p:nvSpPr>
        <p:spPr>
          <a:xfrm>
            <a:off x="5215233" y="1777756"/>
            <a:ext cx="3861900" cy="1982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postOrder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BSTNode x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2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(x == null) return;</a:t>
            </a:r>
            <a:b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postOrder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20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postOrder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20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20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0" name="Google Shape;770;p53"/>
          <p:cNvSpPr txBox="1"/>
          <p:nvPr/>
        </p:nvSpPr>
        <p:spPr>
          <a:xfrm>
            <a:off x="287750" y="1919909"/>
            <a:ext cx="4362600" cy="21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SzPts val="2000"/>
              <a:buFont typeface="Consolas"/>
              <a:buAutoNum type="arabicPeriod"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DBACEFG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SzPts val="2000"/>
              <a:buFont typeface="Consolas"/>
              <a:buAutoNum type="arabicPeriod"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GFEDCBA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SzPts val="2000"/>
              <a:buFont typeface="Consolas"/>
              <a:buAutoNum type="arabicPeriod"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GEFCABD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SzPts val="2000"/>
              <a:buFont typeface="Consolas"/>
              <a:buAutoNum type="arabicPeriod"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ACBEGFD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SzPts val="2000"/>
              <a:buFont typeface="Consolas"/>
              <a:buAutoNum type="arabicPeriod"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ACBFEGD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SzPts val="2000"/>
              <a:buFont typeface="Consolas"/>
              <a:buAutoNum type="arabicPeriod"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Other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54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Preorder traversal: “Visit” a node, then traverse its children:  DBACFEG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Inorder traversal: Traverse left child, visit, traverse right child:  ABCDEFG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Postorder traversal: Traverse left, traverse right, then visit:  ACBEGFD</a:t>
            </a:r>
            <a:endParaRPr/>
          </a:p>
        </p:txBody>
      </p:sp>
      <p:sp>
        <p:nvSpPr>
          <p:cNvPr id="776" name="Google Shape;776;p5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Depth First Traversals</a:t>
            </a:r>
            <a:endParaRPr/>
          </a:p>
        </p:txBody>
      </p:sp>
      <p:sp>
        <p:nvSpPr>
          <p:cNvPr id="777" name="Google Shape;777;p54"/>
          <p:cNvSpPr/>
          <p:nvPr/>
        </p:nvSpPr>
        <p:spPr>
          <a:xfrm>
            <a:off x="2608650" y="449195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8" name="Google Shape;778;p54"/>
          <p:cNvSpPr/>
          <p:nvPr/>
        </p:nvSpPr>
        <p:spPr>
          <a:xfrm>
            <a:off x="3941334" y="449195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9" name="Google Shape;779;p54"/>
          <p:cNvSpPr/>
          <p:nvPr/>
        </p:nvSpPr>
        <p:spPr>
          <a:xfrm>
            <a:off x="3274992" y="380615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0" name="Google Shape;780;p54"/>
          <p:cNvSpPr/>
          <p:nvPr/>
        </p:nvSpPr>
        <p:spPr>
          <a:xfrm>
            <a:off x="4362450" y="31799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1" name="Google Shape;781;p54"/>
          <p:cNvSpPr/>
          <p:nvPr/>
        </p:nvSpPr>
        <p:spPr>
          <a:xfrm>
            <a:off x="4723992" y="44753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2" name="Google Shape;782;p54"/>
          <p:cNvSpPr/>
          <p:nvPr/>
        </p:nvSpPr>
        <p:spPr>
          <a:xfrm>
            <a:off x="5390333" y="38657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3" name="Google Shape;783;p54"/>
          <p:cNvSpPr/>
          <p:nvPr/>
        </p:nvSpPr>
        <p:spPr>
          <a:xfrm>
            <a:off x="6056675" y="44753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84" name="Google Shape;784;p54"/>
          <p:cNvCxnSpPr>
            <a:stCxn id="777" idx="7"/>
            <a:endCxn id="779" idx="3"/>
          </p:cNvCxnSpPr>
          <p:nvPr/>
        </p:nvCxnSpPr>
        <p:spPr>
          <a:xfrm rot="10800000" flipH="1">
            <a:off x="3031415" y="4228785"/>
            <a:ext cx="316200" cy="33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785" name="Google Shape;785;p54"/>
          <p:cNvCxnSpPr>
            <a:stCxn id="779" idx="5"/>
            <a:endCxn id="778" idx="1"/>
          </p:cNvCxnSpPr>
          <p:nvPr/>
        </p:nvCxnSpPr>
        <p:spPr>
          <a:xfrm>
            <a:off x="3697757" y="4228915"/>
            <a:ext cx="316200" cy="33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86" name="Google Shape;786;p54"/>
          <p:cNvCxnSpPr>
            <a:stCxn id="781" idx="7"/>
            <a:endCxn id="782" idx="3"/>
          </p:cNvCxnSpPr>
          <p:nvPr/>
        </p:nvCxnSpPr>
        <p:spPr>
          <a:xfrm rot="10800000" flipH="1">
            <a:off x="5146757" y="4288360"/>
            <a:ext cx="316200" cy="259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787" name="Google Shape;787;p54"/>
          <p:cNvCxnSpPr>
            <a:stCxn id="782" idx="5"/>
            <a:endCxn id="783" idx="1"/>
          </p:cNvCxnSpPr>
          <p:nvPr/>
        </p:nvCxnSpPr>
        <p:spPr>
          <a:xfrm>
            <a:off x="5813098" y="4288490"/>
            <a:ext cx="316200" cy="259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88" name="Google Shape;788;p54"/>
          <p:cNvCxnSpPr>
            <a:stCxn id="780" idx="3"/>
            <a:endCxn id="779" idx="7"/>
          </p:cNvCxnSpPr>
          <p:nvPr/>
        </p:nvCxnSpPr>
        <p:spPr>
          <a:xfrm flipH="1">
            <a:off x="3697885" y="3602690"/>
            <a:ext cx="737100" cy="276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89" name="Google Shape;789;p54"/>
          <p:cNvCxnSpPr>
            <a:stCxn id="780" idx="5"/>
            <a:endCxn id="782" idx="1"/>
          </p:cNvCxnSpPr>
          <p:nvPr/>
        </p:nvCxnSpPr>
        <p:spPr>
          <a:xfrm>
            <a:off x="4785215" y="3602690"/>
            <a:ext cx="677700" cy="33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90" name="Google Shape;790;p54"/>
          <p:cNvSpPr txBox="1"/>
          <p:nvPr/>
        </p:nvSpPr>
        <p:spPr>
          <a:xfrm>
            <a:off x="287750" y="1919909"/>
            <a:ext cx="4362600" cy="21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SzPts val="2000"/>
              <a:buFont typeface="Consolas"/>
              <a:buAutoNum type="arabicPeriod"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DBACEFG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SzPts val="2000"/>
              <a:buFont typeface="Consolas"/>
              <a:buAutoNum type="arabicPeriod"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GFEDCBA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SzPts val="2000"/>
              <a:buFont typeface="Consolas"/>
              <a:buAutoNum type="arabicPeriod"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GEFCABD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SzPts val="2000"/>
              <a:buFont typeface="Consolas"/>
              <a:buAutoNum type="arabicPeriod"/>
            </a:pPr>
            <a:r>
              <a:rPr lang="en" sz="2000" b="1">
                <a:latin typeface="Consolas"/>
                <a:ea typeface="Consolas"/>
                <a:cs typeface="Consolas"/>
                <a:sym typeface="Consolas"/>
              </a:rPr>
              <a:t>ACBEGFD</a:t>
            </a:r>
            <a:endParaRPr sz="2000" b="1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SzPts val="2000"/>
              <a:buFont typeface="Consolas"/>
              <a:buAutoNum type="arabicPeriod"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ACBFEGD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SzPts val="2000"/>
              <a:buFont typeface="Consolas"/>
              <a:buAutoNum type="arabicPeriod"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Other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1" name="Google Shape;791;p54"/>
          <p:cNvSpPr txBox="1"/>
          <p:nvPr/>
        </p:nvSpPr>
        <p:spPr>
          <a:xfrm>
            <a:off x="5215233" y="1777756"/>
            <a:ext cx="3861900" cy="1982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postOrder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BSTNode x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2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(x == null) return;</a:t>
            </a:r>
            <a:b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postOrder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20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postOrder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20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20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55"/>
          <p:cNvSpPr/>
          <p:nvPr/>
        </p:nvSpPr>
        <p:spPr>
          <a:xfrm>
            <a:off x="8137529" y="442101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9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7" name="Google Shape;797;p55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Preorder traversal: We trace a path around the graph, from the top going counter-clockwise. “Visit” every time we pass the LEFT of a node.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Inorder traversal: “Visit” when you cross the bottom of a node.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Postorder traversal: “Visit” when you cross the right a node.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Example: Post-Order Traversal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4 7 8 5 2 9 6 3 1</a:t>
            </a:r>
            <a:endParaRPr dirty="0"/>
          </a:p>
        </p:txBody>
      </p:sp>
      <p:sp>
        <p:nvSpPr>
          <p:cNvPr id="798" name="Google Shape;798;p5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0000"/>
                </a:solidFill>
              </a:rPr>
              <a:t>A Useful Visual Trick </a:t>
            </a:r>
            <a:r>
              <a:rPr lang="en" dirty="0"/>
              <a:t>(for Humans, Not Algorithms)</a:t>
            </a:r>
            <a:endParaRPr dirty="0"/>
          </a:p>
        </p:txBody>
      </p:sp>
      <p:sp>
        <p:nvSpPr>
          <p:cNvPr id="799" name="Google Shape;799;p55"/>
          <p:cNvSpPr/>
          <p:nvPr/>
        </p:nvSpPr>
        <p:spPr>
          <a:xfrm>
            <a:off x="4104611" y="371420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0" name="Google Shape;800;p55"/>
          <p:cNvSpPr/>
          <p:nvPr/>
        </p:nvSpPr>
        <p:spPr>
          <a:xfrm>
            <a:off x="4770952" y="302840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1" name="Google Shape;801;p55"/>
          <p:cNvSpPr/>
          <p:nvPr/>
        </p:nvSpPr>
        <p:spPr>
          <a:xfrm>
            <a:off x="5858410" y="240217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2" name="Google Shape;802;p55"/>
          <p:cNvSpPr/>
          <p:nvPr/>
        </p:nvSpPr>
        <p:spPr>
          <a:xfrm>
            <a:off x="6886294" y="308797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3" name="Google Shape;803;p55"/>
          <p:cNvSpPr/>
          <p:nvPr/>
        </p:nvSpPr>
        <p:spPr>
          <a:xfrm>
            <a:off x="7552635" y="369757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04" name="Google Shape;804;p55"/>
          <p:cNvCxnSpPr>
            <a:stCxn id="799" idx="7"/>
            <a:endCxn id="800" idx="3"/>
          </p:cNvCxnSpPr>
          <p:nvPr/>
        </p:nvCxnSpPr>
        <p:spPr>
          <a:xfrm rot="10800000" flipH="1">
            <a:off x="4527376" y="3451035"/>
            <a:ext cx="316200" cy="33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805" name="Google Shape;805;p55"/>
          <p:cNvCxnSpPr>
            <a:stCxn id="800" idx="5"/>
            <a:endCxn id="806" idx="1"/>
          </p:cNvCxnSpPr>
          <p:nvPr/>
        </p:nvCxnSpPr>
        <p:spPr>
          <a:xfrm>
            <a:off x="5193717" y="3451165"/>
            <a:ext cx="316200" cy="33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07" name="Google Shape;807;p55"/>
          <p:cNvCxnSpPr>
            <a:stCxn id="802" idx="5"/>
            <a:endCxn id="803" idx="1"/>
          </p:cNvCxnSpPr>
          <p:nvPr/>
        </p:nvCxnSpPr>
        <p:spPr>
          <a:xfrm>
            <a:off x="7309059" y="3510740"/>
            <a:ext cx="316200" cy="259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08" name="Google Shape;808;p55"/>
          <p:cNvCxnSpPr>
            <a:stCxn id="801" idx="3"/>
            <a:endCxn id="800" idx="7"/>
          </p:cNvCxnSpPr>
          <p:nvPr/>
        </p:nvCxnSpPr>
        <p:spPr>
          <a:xfrm flipH="1">
            <a:off x="5193845" y="2824940"/>
            <a:ext cx="737100" cy="276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09" name="Google Shape;809;p55"/>
          <p:cNvCxnSpPr>
            <a:stCxn id="801" idx="5"/>
            <a:endCxn id="802" idx="1"/>
          </p:cNvCxnSpPr>
          <p:nvPr/>
        </p:nvCxnSpPr>
        <p:spPr>
          <a:xfrm>
            <a:off x="6281175" y="2824940"/>
            <a:ext cx="677700" cy="33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0" name="Google Shape;810;p55"/>
          <p:cNvCxnSpPr>
            <a:stCxn id="811" idx="7"/>
            <a:endCxn id="812" idx="3"/>
          </p:cNvCxnSpPr>
          <p:nvPr/>
        </p:nvCxnSpPr>
        <p:spPr>
          <a:xfrm rot="10800000" flipH="1">
            <a:off x="5198260" y="4157850"/>
            <a:ext cx="316200" cy="33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813" name="Google Shape;813;p55"/>
          <p:cNvCxnSpPr>
            <a:stCxn id="812" idx="5"/>
            <a:endCxn id="814" idx="1"/>
          </p:cNvCxnSpPr>
          <p:nvPr/>
        </p:nvCxnSpPr>
        <p:spPr>
          <a:xfrm>
            <a:off x="5864514" y="4157850"/>
            <a:ext cx="316200" cy="33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14" name="Google Shape;814;p55"/>
          <p:cNvSpPr/>
          <p:nvPr/>
        </p:nvSpPr>
        <p:spPr>
          <a:xfrm>
            <a:off x="6108179" y="442101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15" name="Google Shape;815;p55"/>
          <p:cNvCxnSpPr/>
          <p:nvPr/>
        </p:nvCxnSpPr>
        <p:spPr>
          <a:xfrm>
            <a:off x="7942809" y="4157840"/>
            <a:ext cx="355800" cy="30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06" name="Google Shape;806;p55"/>
          <p:cNvSpPr/>
          <p:nvPr/>
        </p:nvSpPr>
        <p:spPr>
          <a:xfrm>
            <a:off x="5437294" y="371420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1" name="Google Shape;811;p55"/>
          <p:cNvSpPr/>
          <p:nvPr/>
        </p:nvSpPr>
        <p:spPr>
          <a:xfrm>
            <a:off x="4775495" y="442101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6" name="Google Shape;816;p55"/>
          <p:cNvSpPr/>
          <p:nvPr/>
        </p:nvSpPr>
        <p:spPr>
          <a:xfrm>
            <a:off x="3973312" y="2145090"/>
            <a:ext cx="4914750" cy="2940525"/>
          </a:xfrm>
          <a:custGeom>
            <a:avLst/>
            <a:gdLst/>
            <a:ahLst/>
            <a:cxnLst/>
            <a:rect l="l" t="t" r="r" b="b"/>
            <a:pathLst>
              <a:path w="196590" h="117621" extrusionOk="0">
                <a:moveTo>
                  <a:pt x="78620" y="4997"/>
                </a:moveTo>
                <a:cubicBezTo>
                  <a:pt x="76772" y="9803"/>
                  <a:pt x="73420" y="14630"/>
                  <a:pt x="68815" y="16933"/>
                </a:cubicBezTo>
                <a:cubicBezTo>
                  <a:pt x="61936" y="20373"/>
                  <a:pt x="53589" y="19412"/>
                  <a:pt x="46222" y="21622"/>
                </a:cubicBezTo>
                <a:cubicBezTo>
                  <a:pt x="37456" y="24251"/>
                  <a:pt x="28974" y="28281"/>
                  <a:pt x="21497" y="33558"/>
                </a:cubicBezTo>
                <a:cubicBezTo>
                  <a:pt x="8621" y="42646"/>
                  <a:pt x="182" y="60001"/>
                  <a:pt x="182" y="75761"/>
                </a:cubicBezTo>
                <a:cubicBezTo>
                  <a:pt x="182" y="79803"/>
                  <a:pt x="-544" y="84840"/>
                  <a:pt x="2314" y="87698"/>
                </a:cubicBezTo>
                <a:cubicBezTo>
                  <a:pt x="7505" y="92889"/>
                  <a:pt x="18619" y="87522"/>
                  <a:pt x="23628" y="82156"/>
                </a:cubicBezTo>
                <a:cubicBezTo>
                  <a:pt x="29989" y="75341"/>
                  <a:pt x="38465" y="59344"/>
                  <a:pt x="45796" y="65104"/>
                </a:cubicBezTo>
                <a:cubicBezTo>
                  <a:pt x="49097" y="67698"/>
                  <a:pt x="54049" y="73825"/>
                  <a:pt x="50911" y="76614"/>
                </a:cubicBezTo>
                <a:cubicBezTo>
                  <a:pt x="41131" y="85308"/>
                  <a:pt x="23977" y="96826"/>
                  <a:pt x="28744" y="109012"/>
                </a:cubicBezTo>
                <a:cubicBezTo>
                  <a:pt x="31283" y="115501"/>
                  <a:pt x="42474" y="120000"/>
                  <a:pt x="48353" y="116259"/>
                </a:cubicBezTo>
                <a:cubicBezTo>
                  <a:pt x="57274" y="110582"/>
                  <a:pt x="58689" y="91728"/>
                  <a:pt x="69242" y="92387"/>
                </a:cubicBezTo>
                <a:cubicBezTo>
                  <a:pt x="78982" y="92995"/>
                  <a:pt x="83485" y="105749"/>
                  <a:pt x="90983" y="111996"/>
                </a:cubicBezTo>
                <a:cubicBezTo>
                  <a:pt x="96048" y="116215"/>
                  <a:pt x="105931" y="114100"/>
                  <a:pt x="110592" y="109439"/>
                </a:cubicBezTo>
                <a:cubicBezTo>
                  <a:pt x="113747" y="106284"/>
                  <a:pt x="109986" y="100417"/>
                  <a:pt x="108461" y="96223"/>
                </a:cubicBezTo>
                <a:cubicBezTo>
                  <a:pt x="103584" y="82810"/>
                  <a:pt x="92651" y="72412"/>
                  <a:pt x="83736" y="61267"/>
                </a:cubicBezTo>
                <a:cubicBezTo>
                  <a:pt x="79804" y="56352"/>
                  <a:pt x="70574" y="49321"/>
                  <a:pt x="74784" y="44642"/>
                </a:cubicBezTo>
                <a:cubicBezTo>
                  <a:pt x="83202" y="35287"/>
                  <a:pt x="100262" y="51677"/>
                  <a:pt x="108887" y="60841"/>
                </a:cubicBezTo>
                <a:cubicBezTo>
                  <a:pt x="121840" y="74603"/>
                  <a:pt x="140568" y="81747"/>
                  <a:pt x="154500" y="94518"/>
                </a:cubicBezTo>
                <a:cubicBezTo>
                  <a:pt x="160500" y="100018"/>
                  <a:pt x="164999" y="107382"/>
                  <a:pt x="171978" y="111570"/>
                </a:cubicBezTo>
                <a:cubicBezTo>
                  <a:pt x="178437" y="115446"/>
                  <a:pt x="188217" y="115188"/>
                  <a:pt x="194572" y="111144"/>
                </a:cubicBezTo>
                <a:cubicBezTo>
                  <a:pt x="199323" y="108121"/>
                  <a:pt x="194045" y="99584"/>
                  <a:pt x="191588" y="94518"/>
                </a:cubicBezTo>
                <a:cubicBezTo>
                  <a:pt x="187697" y="86492"/>
                  <a:pt x="185028" y="77922"/>
                  <a:pt x="181357" y="69793"/>
                </a:cubicBezTo>
                <a:cubicBezTo>
                  <a:pt x="168949" y="42319"/>
                  <a:pt x="143102" y="20997"/>
                  <a:pt x="116560" y="6702"/>
                </a:cubicBezTo>
                <a:cubicBezTo>
                  <a:pt x="108092" y="2142"/>
                  <a:pt x="98025" y="889"/>
                  <a:pt x="88425" y="307"/>
                </a:cubicBezTo>
                <a:cubicBezTo>
                  <a:pt x="85135" y="108"/>
                  <a:pt x="81152" y="-524"/>
                  <a:pt x="78620" y="1586"/>
                </a:cubicBezTo>
                <a:cubicBezTo>
                  <a:pt x="77848" y="2229"/>
                  <a:pt x="79747" y="3718"/>
                  <a:pt x="80752" y="3718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17" name="Google Shape;817;p55"/>
          <p:cNvSpPr/>
          <p:nvPr/>
        </p:nvSpPr>
        <p:spPr>
          <a:xfrm>
            <a:off x="6276118" y="2461835"/>
            <a:ext cx="234300" cy="276000"/>
          </a:xfrm>
          <a:prstGeom prst="verticalScroll">
            <a:avLst>
              <a:gd name="adj" fmla="val 125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55"/>
          <p:cNvSpPr/>
          <p:nvPr/>
        </p:nvSpPr>
        <p:spPr>
          <a:xfrm>
            <a:off x="5675593" y="3180810"/>
            <a:ext cx="234300" cy="276000"/>
          </a:xfrm>
          <a:prstGeom prst="verticalScroll">
            <a:avLst>
              <a:gd name="adj" fmla="val 125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9" name="Google Shape;819;p55"/>
          <p:cNvSpPr/>
          <p:nvPr/>
        </p:nvSpPr>
        <p:spPr>
          <a:xfrm>
            <a:off x="4708493" y="3823860"/>
            <a:ext cx="234300" cy="276000"/>
          </a:xfrm>
          <a:prstGeom prst="verticalScroll">
            <a:avLst>
              <a:gd name="adj" fmla="val 125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55"/>
          <p:cNvSpPr/>
          <p:nvPr/>
        </p:nvSpPr>
        <p:spPr>
          <a:xfrm>
            <a:off x="5953255" y="3881860"/>
            <a:ext cx="234300" cy="276000"/>
          </a:xfrm>
          <a:prstGeom prst="verticalScroll">
            <a:avLst>
              <a:gd name="adj" fmla="val 125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55"/>
          <p:cNvSpPr/>
          <p:nvPr/>
        </p:nvSpPr>
        <p:spPr>
          <a:xfrm>
            <a:off x="5438105" y="4530685"/>
            <a:ext cx="234300" cy="276000"/>
          </a:xfrm>
          <a:prstGeom prst="verticalScroll">
            <a:avLst>
              <a:gd name="adj" fmla="val 125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55"/>
          <p:cNvSpPr/>
          <p:nvPr/>
        </p:nvSpPr>
        <p:spPr>
          <a:xfrm>
            <a:off x="6696605" y="4421035"/>
            <a:ext cx="234300" cy="276000"/>
          </a:xfrm>
          <a:prstGeom prst="verticalScroll">
            <a:avLst>
              <a:gd name="adj" fmla="val 125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55"/>
          <p:cNvSpPr/>
          <p:nvPr/>
        </p:nvSpPr>
        <p:spPr>
          <a:xfrm>
            <a:off x="7417280" y="3146235"/>
            <a:ext cx="234300" cy="276000"/>
          </a:xfrm>
          <a:prstGeom prst="verticalScroll">
            <a:avLst>
              <a:gd name="adj" fmla="val 125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55"/>
          <p:cNvSpPr/>
          <p:nvPr/>
        </p:nvSpPr>
        <p:spPr>
          <a:xfrm>
            <a:off x="8103505" y="3801110"/>
            <a:ext cx="234300" cy="276000"/>
          </a:xfrm>
          <a:prstGeom prst="verticalScroll">
            <a:avLst>
              <a:gd name="adj" fmla="val 125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55"/>
          <p:cNvSpPr/>
          <p:nvPr/>
        </p:nvSpPr>
        <p:spPr>
          <a:xfrm>
            <a:off x="8715655" y="4640335"/>
            <a:ext cx="234300" cy="276000"/>
          </a:xfrm>
          <a:prstGeom prst="verticalScroll">
            <a:avLst>
              <a:gd name="adj" fmla="val 125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ED2164-0D39-3EA7-5035-7863374C61BA}"/>
              </a:ext>
            </a:extLst>
          </p:cNvPr>
          <p:cNvSpPr txBox="1"/>
          <p:nvPr/>
        </p:nvSpPr>
        <p:spPr>
          <a:xfrm>
            <a:off x="920665" y="3069814"/>
            <a:ext cx="45892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800" b="1" dirty="0">
                <a:solidFill>
                  <a:srgbClr val="FF0000"/>
                </a:solidFill>
              </a:rPr>
              <a:t>A Useful Visual Trick 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56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22, CS61B, Fall 2023</a:t>
            </a:r>
            <a:endParaRPr/>
          </a:p>
        </p:txBody>
      </p:sp>
      <p:sp>
        <p:nvSpPr>
          <p:cNvPr id="831" name="Google Shape;831;p56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Trees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Tree Definition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Tree Traversals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Usefulness of Tree Traversals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Graphs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Graph Definition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Some Famous Graph Problems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Graph Traversals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Motivation: s-t Connectivity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Depth First Search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Tree vs. Graph Traversals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Challenge: Invent Breadth First</a:t>
            </a:r>
            <a:br>
              <a:rPr lang="en"/>
            </a:br>
            <a:r>
              <a:rPr lang="en"/>
              <a:t>Search</a:t>
            </a:r>
            <a:endParaRPr/>
          </a:p>
        </p:txBody>
      </p:sp>
      <p:sp>
        <p:nvSpPr>
          <p:cNvPr id="832" name="Google Shape;832;p56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Usefulness of Tree Traversals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5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Good Are All These Traversals?</a:t>
            </a:r>
            <a:endParaRPr/>
          </a:p>
        </p:txBody>
      </p:sp>
      <p:sp>
        <p:nvSpPr>
          <p:cNvPr id="838" name="Google Shape;838;p57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Example: Preorder Traversal for printing directory listing:</a:t>
            </a:r>
            <a:endParaRPr/>
          </a:p>
        </p:txBody>
      </p:sp>
      <p:pic>
        <p:nvPicPr>
          <p:cNvPr id="839" name="Google Shape;83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107" y="1169440"/>
            <a:ext cx="2582716" cy="2508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57"/>
          <p:cNvSpPr/>
          <p:nvPr/>
        </p:nvSpPr>
        <p:spPr>
          <a:xfrm>
            <a:off x="7820799" y="2995170"/>
            <a:ext cx="985200" cy="3732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</a:t>
            </a:r>
            <a:endParaRPr/>
          </a:p>
        </p:txBody>
      </p:sp>
      <p:sp>
        <p:nvSpPr>
          <p:cNvPr id="841" name="Google Shape;841;p57"/>
          <p:cNvSpPr/>
          <p:nvPr/>
        </p:nvSpPr>
        <p:spPr>
          <a:xfrm>
            <a:off x="6784334" y="2213020"/>
            <a:ext cx="985200" cy="3732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sc2APM</a:t>
            </a:r>
            <a:endParaRPr/>
          </a:p>
        </p:txBody>
      </p:sp>
      <p:cxnSp>
        <p:nvCxnSpPr>
          <p:cNvPr id="842" name="Google Shape;842;p57"/>
          <p:cNvCxnSpPr>
            <a:stCxn id="841" idx="2"/>
            <a:endCxn id="840" idx="0"/>
          </p:cNvCxnSpPr>
          <p:nvPr/>
        </p:nvCxnSpPr>
        <p:spPr>
          <a:xfrm>
            <a:off x="7276934" y="2586220"/>
            <a:ext cx="1036500" cy="408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43" name="Google Shape;843;p57"/>
          <p:cNvSpPr/>
          <p:nvPr/>
        </p:nvSpPr>
        <p:spPr>
          <a:xfrm>
            <a:off x="4492494" y="2995175"/>
            <a:ext cx="1586700" cy="3732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directOverlay</a:t>
            </a:r>
            <a:endParaRPr/>
          </a:p>
        </p:txBody>
      </p:sp>
      <p:cxnSp>
        <p:nvCxnSpPr>
          <p:cNvPr id="844" name="Google Shape;844;p57"/>
          <p:cNvCxnSpPr>
            <a:stCxn id="841" idx="2"/>
            <a:endCxn id="843" idx="0"/>
          </p:cNvCxnSpPr>
          <p:nvPr/>
        </p:nvCxnSpPr>
        <p:spPr>
          <a:xfrm flipH="1">
            <a:off x="5285834" y="2586220"/>
            <a:ext cx="1991100" cy="408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5" name="Google Shape;845;p57"/>
          <p:cNvCxnSpPr>
            <a:stCxn id="841" idx="2"/>
            <a:endCxn id="846" idx="0"/>
          </p:cNvCxnSpPr>
          <p:nvPr/>
        </p:nvCxnSpPr>
        <p:spPr>
          <a:xfrm>
            <a:off x="7276934" y="2586220"/>
            <a:ext cx="0" cy="408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46" name="Google Shape;846;p57"/>
          <p:cNvSpPr/>
          <p:nvPr/>
        </p:nvSpPr>
        <p:spPr>
          <a:xfrm>
            <a:off x="6903584" y="2995045"/>
            <a:ext cx="746700" cy="3732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notes</a:t>
            </a:r>
            <a:endParaRPr/>
          </a:p>
        </p:txBody>
      </p:sp>
      <p:sp>
        <p:nvSpPr>
          <p:cNvPr id="847" name="Google Shape;847;p57"/>
          <p:cNvSpPr/>
          <p:nvPr/>
        </p:nvSpPr>
        <p:spPr>
          <a:xfrm>
            <a:off x="6172750" y="3744750"/>
            <a:ext cx="1146600" cy="3732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directO.sln</a:t>
            </a:r>
            <a:endParaRPr/>
          </a:p>
        </p:txBody>
      </p:sp>
      <p:sp>
        <p:nvSpPr>
          <p:cNvPr id="848" name="Google Shape;848;p57"/>
          <p:cNvSpPr/>
          <p:nvPr/>
        </p:nvSpPr>
        <p:spPr>
          <a:xfrm>
            <a:off x="4712550" y="3744750"/>
            <a:ext cx="1146600" cy="3732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directO.suo</a:t>
            </a:r>
            <a:endParaRPr/>
          </a:p>
        </p:txBody>
      </p:sp>
      <p:sp>
        <p:nvSpPr>
          <p:cNvPr id="849" name="Google Shape;849;p57"/>
          <p:cNvSpPr/>
          <p:nvPr/>
        </p:nvSpPr>
        <p:spPr>
          <a:xfrm>
            <a:off x="3393249" y="3744750"/>
            <a:ext cx="985200" cy="3732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directIO</a:t>
            </a:r>
            <a:endParaRPr/>
          </a:p>
        </p:txBody>
      </p:sp>
      <p:cxnSp>
        <p:nvCxnSpPr>
          <p:cNvPr id="850" name="Google Shape;850;p57"/>
          <p:cNvCxnSpPr>
            <a:stCxn id="843" idx="2"/>
            <a:endCxn id="847" idx="0"/>
          </p:cNvCxnSpPr>
          <p:nvPr/>
        </p:nvCxnSpPr>
        <p:spPr>
          <a:xfrm>
            <a:off x="5285844" y="3368375"/>
            <a:ext cx="1460100" cy="376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1" name="Google Shape;851;p57"/>
          <p:cNvCxnSpPr>
            <a:stCxn id="843" idx="2"/>
            <a:endCxn id="848" idx="0"/>
          </p:cNvCxnSpPr>
          <p:nvPr/>
        </p:nvCxnSpPr>
        <p:spPr>
          <a:xfrm>
            <a:off x="5285844" y="3368375"/>
            <a:ext cx="0" cy="376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2" name="Google Shape;852;p57"/>
          <p:cNvCxnSpPr>
            <a:stCxn id="843" idx="2"/>
            <a:endCxn id="849" idx="0"/>
          </p:cNvCxnSpPr>
          <p:nvPr/>
        </p:nvCxnSpPr>
        <p:spPr>
          <a:xfrm flipH="1">
            <a:off x="3885744" y="3368375"/>
            <a:ext cx="1400100" cy="376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53" name="Google Shape;853;p57"/>
          <p:cNvSpPr/>
          <p:nvPr/>
        </p:nvSpPr>
        <p:spPr>
          <a:xfrm>
            <a:off x="7688051" y="3744750"/>
            <a:ext cx="1250700" cy="3732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printAPM.py</a:t>
            </a:r>
            <a:endParaRPr/>
          </a:p>
        </p:txBody>
      </p:sp>
      <p:cxnSp>
        <p:nvCxnSpPr>
          <p:cNvPr id="854" name="Google Shape;854;p57"/>
          <p:cNvCxnSpPr>
            <a:stCxn id="840" idx="2"/>
            <a:endCxn id="853" idx="0"/>
          </p:cNvCxnSpPr>
          <p:nvPr/>
        </p:nvCxnSpPr>
        <p:spPr>
          <a:xfrm>
            <a:off x="8313399" y="3368370"/>
            <a:ext cx="0" cy="376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55" name="Google Shape;855;p57"/>
          <p:cNvSpPr/>
          <p:nvPr/>
        </p:nvSpPr>
        <p:spPr>
          <a:xfrm>
            <a:off x="2464450" y="4563750"/>
            <a:ext cx="1694700" cy="3732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DXHookD3D11.cs</a:t>
            </a:r>
            <a:endParaRPr/>
          </a:p>
        </p:txBody>
      </p:sp>
      <p:sp>
        <p:nvSpPr>
          <p:cNvPr id="856" name="Google Shape;856;p57"/>
          <p:cNvSpPr/>
          <p:nvPr/>
        </p:nvSpPr>
        <p:spPr>
          <a:xfrm>
            <a:off x="4539126" y="4563750"/>
            <a:ext cx="1250700" cy="3732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Injector.cs</a:t>
            </a:r>
            <a:endParaRPr/>
          </a:p>
        </p:txBody>
      </p:sp>
      <p:cxnSp>
        <p:nvCxnSpPr>
          <p:cNvPr id="857" name="Google Shape;857;p57"/>
          <p:cNvCxnSpPr>
            <a:stCxn id="849" idx="2"/>
            <a:endCxn id="855" idx="0"/>
          </p:cNvCxnSpPr>
          <p:nvPr/>
        </p:nvCxnSpPr>
        <p:spPr>
          <a:xfrm flipH="1">
            <a:off x="3311949" y="4117950"/>
            <a:ext cx="573900" cy="44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8" name="Google Shape;858;p57"/>
          <p:cNvCxnSpPr>
            <a:stCxn id="849" idx="2"/>
            <a:endCxn id="856" idx="0"/>
          </p:cNvCxnSpPr>
          <p:nvPr/>
        </p:nvCxnSpPr>
        <p:spPr>
          <a:xfrm>
            <a:off x="3885849" y="4117950"/>
            <a:ext cx="1278600" cy="44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58"/>
          <p:cNvSpPr/>
          <p:nvPr/>
        </p:nvSpPr>
        <p:spPr>
          <a:xfrm rot="10800000" flipH="1">
            <a:off x="166800" y="1127550"/>
            <a:ext cx="4372200" cy="2541000"/>
          </a:xfrm>
          <a:prstGeom prst="corner">
            <a:avLst>
              <a:gd name="adj1" fmla="val 70529"/>
              <a:gd name="adj2" fmla="val 131606"/>
            </a:avLst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5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Good Are All These Traversals?</a:t>
            </a:r>
            <a:endParaRPr/>
          </a:p>
        </p:txBody>
      </p:sp>
      <p:sp>
        <p:nvSpPr>
          <p:cNvPr id="865" name="Google Shape;865;p58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Example: Postorder Traversal for gathering file sizes.</a:t>
            </a:r>
            <a:endParaRPr/>
          </a:p>
        </p:txBody>
      </p:sp>
      <p:sp>
        <p:nvSpPr>
          <p:cNvPr id="866" name="Google Shape;866;p58"/>
          <p:cNvSpPr/>
          <p:nvPr/>
        </p:nvSpPr>
        <p:spPr>
          <a:xfrm>
            <a:off x="7820799" y="2995170"/>
            <a:ext cx="985200" cy="3732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</a:t>
            </a:r>
            <a:endParaRPr/>
          </a:p>
        </p:txBody>
      </p:sp>
      <p:sp>
        <p:nvSpPr>
          <p:cNvPr id="867" name="Google Shape;867;p58"/>
          <p:cNvSpPr/>
          <p:nvPr/>
        </p:nvSpPr>
        <p:spPr>
          <a:xfrm>
            <a:off x="6784334" y="2213020"/>
            <a:ext cx="985200" cy="3732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sc2APM</a:t>
            </a:r>
            <a:endParaRPr/>
          </a:p>
        </p:txBody>
      </p:sp>
      <p:cxnSp>
        <p:nvCxnSpPr>
          <p:cNvPr id="868" name="Google Shape;868;p58"/>
          <p:cNvCxnSpPr>
            <a:stCxn id="867" idx="2"/>
            <a:endCxn id="866" idx="0"/>
          </p:cNvCxnSpPr>
          <p:nvPr/>
        </p:nvCxnSpPr>
        <p:spPr>
          <a:xfrm>
            <a:off x="7276934" y="2586220"/>
            <a:ext cx="1036500" cy="408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69" name="Google Shape;869;p58"/>
          <p:cNvSpPr/>
          <p:nvPr/>
        </p:nvSpPr>
        <p:spPr>
          <a:xfrm>
            <a:off x="4492494" y="2995175"/>
            <a:ext cx="1586700" cy="3732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directOverlay</a:t>
            </a:r>
            <a:endParaRPr/>
          </a:p>
        </p:txBody>
      </p:sp>
      <p:cxnSp>
        <p:nvCxnSpPr>
          <p:cNvPr id="870" name="Google Shape;870;p58"/>
          <p:cNvCxnSpPr>
            <a:stCxn id="867" idx="2"/>
            <a:endCxn id="869" idx="0"/>
          </p:cNvCxnSpPr>
          <p:nvPr/>
        </p:nvCxnSpPr>
        <p:spPr>
          <a:xfrm flipH="1">
            <a:off x="5285834" y="2586220"/>
            <a:ext cx="1991100" cy="408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1" name="Google Shape;871;p58"/>
          <p:cNvCxnSpPr>
            <a:stCxn id="867" idx="2"/>
            <a:endCxn id="872" idx="0"/>
          </p:cNvCxnSpPr>
          <p:nvPr/>
        </p:nvCxnSpPr>
        <p:spPr>
          <a:xfrm>
            <a:off x="7276934" y="2586220"/>
            <a:ext cx="0" cy="408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2" name="Google Shape;872;p58"/>
          <p:cNvSpPr/>
          <p:nvPr/>
        </p:nvSpPr>
        <p:spPr>
          <a:xfrm>
            <a:off x="6903584" y="2995045"/>
            <a:ext cx="746700" cy="3732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notes</a:t>
            </a:r>
            <a:endParaRPr/>
          </a:p>
        </p:txBody>
      </p:sp>
      <p:sp>
        <p:nvSpPr>
          <p:cNvPr id="873" name="Google Shape;873;p58"/>
          <p:cNvSpPr/>
          <p:nvPr/>
        </p:nvSpPr>
        <p:spPr>
          <a:xfrm>
            <a:off x="6172750" y="3744750"/>
            <a:ext cx="1146600" cy="3732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directO.sln</a:t>
            </a:r>
            <a:endParaRPr/>
          </a:p>
        </p:txBody>
      </p:sp>
      <p:sp>
        <p:nvSpPr>
          <p:cNvPr id="874" name="Google Shape;874;p58"/>
          <p:cNvSpPr/>
          <p:nvPr/>
        </p:nvSpPr>
        <p:spPr>
          <a:xfrm>
            <a:off x="4712550" y="3744750"/>
            <a:ext cx="1146600" cy="3732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directO.suo</a:t>
            </a:r>
            <a:endParaRPr/>
          </a:p>
        </p:txBody>
      </p:sp>
      <p:sp>
        <p:nvSpPr>
          <p:cNvPr id="875" name="Google Shape;875;p58"/>
          <p:cNvSpPr/>
          <p:nvPr/>
        </p:nvSpPr>
        <p:spPr>
          <a:xfrm>
            <a:off x="3393249" y="3744750"/>
            <a:ext cx="985200" cy="3732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directIO</a:t>
            </a:r>
            <a:endParaRPr/>
          </a:p>
        </p:txBody>
      </p:sp>
      <p:cxnSp>
        <p:nvCxnSpPr>
          <p:cNvPr id="876" name="Google Shape;876;p58"/>
          <p:cNvCxnSpPr>
            <a:stCxn id="869" idx="2"/>
            <a:endCxn id="873" idx="0"/>
          </p:cNvCxnSpPr>
          <p:nvPr/>
        </p:nvCxnSpPr>
        <p:spPr>
          <a:xfrm>
            <a:off x="5285844" y="3368375"/>
            <a:ext cx="1460100" cy="376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7" name="Google Shape;877;p58"/>
          <p:cNvCxnSpPr>
            <a:stCxn id="869" idx="2"/>
            <a:endCxn id="874" idx="0"/>
          </p:cNvCxnSpPr>
          <p:nvPr/>
        </p:nvCxnSpPr>
        <p:spPr>
          <a:xfrm>
            <a:off x="5285844" y="3368375"/>
            <a:ext cx="0" cy="376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8" name="Google Shape;878;p58"/>
          <p:cNvCxnSpPr>
            <a:stCxn id="869" idx="2"/>
            <a:endCxn id="875" idx="0"/>
          </p:cNvCxnSpPr>
          <p:nvPr/>
        </p:nvCxnSpPr>
        <p:spPr>
          <a:xfrm flipH="1">
            <a:off x="3885744" y="3368375"/>
            <a:ext cx="1400100" cy="376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9" name="Google Shape;879;p58"/>
          <p:cNvSpPr/>
          <p:nvPr/>
        </p:nvSpPr>
        <p:spPr>
          <a:xfrm>
            <a:off x="7688051" y="3744750"/>
            <a:ext cx="1250700" cy="3732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printAPM.py</a:t>
            </a:r>
            <a:endParaRPr/>
          </a:p>
        </p:txBody>
      </p:sp>
      <p:cxnSp>
        <p:nvCxnSpPr>
          <p:cNvPr id="880" name="Google Shape;880;p58"/>
          <p:cNvCxnSpPr>
            <a:stCxn id="866" idx="2"/>
            <a:endCxn id="879" idx="0"/>
          </p:cNvCxnSpPr>
          <p:nvPr/>
        </p:nvCxnSpPr>
        <p:spPr>
          <a:xfrm>
            <a:off x="8313399" y="3368370"/>
            <a:ext cx="0" cy="376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1" name="Google Shape;881;p58"/>
          <p:cNvSpPr/>
          <p:nvPr/>
        </p:nvSpPr>
        <p:spPr>
          <a:xfrm>
            <a:off x="2464450" y="4563750"/>
            <a:ext cx="1694700" cy="3732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DXHookD3D11.cs</a:t>
            </a:r>
            <a:endParaRPr/>
          </a:p>
        </p:txBody>
      </p:sp>
      <p:sp>
        <p:nvSpPr>
          <p:cNvPr id="882" name="Google Shape;882;p58"/>
          <p:cNvSpPr/>
          <p:nvPr/>
        </p:nvSpPr>
        <p:spPr>
          <a:xfrm>
            <a:off x="4539126" y="4563750"/>
            <a:ext cx="1250700" cy="3732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Injector.cs</a:t>
            </a:r>
            <a:endParaRPr/>
          </a:p>
        </p:txBody>
      </p:sp>
      <p:cxnSp>
        <p:nvCxnSpPr>
          <p:cNvPr id="883" name="Google Shape;883;p58"/>
          <p:cNvCxnSpPr>
            <a:stCxn id="875" idx="2"/>
            <a:endCxn id="881" idx="0"/>
          </p:cNvCxnSpPr>
          <p:nvPr/>
        </p:nvCxnSpPr>
        <p:spPr>
          <a:xfrm flipH="1">
            <a:off x="3311949" y="4117950"/>
            <a:ext cx="573900" cy="44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4" name="Google Shape;884;p58"/>
          <p:cNvCxnSpPr>
            <a:stCxn id="875" idx="2"/>
            <a:endCxn id="882" idx="0"/>
          </p:cNvCxnSpPr>
          <p:nvPr/>
        </p:nvCxnSpPr>
        <p:spPr>
          <a:xfrm>
            <a:off x="3885849" y="4117950"/>
            <a:ext cx="1278600" cy="44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5" name="Google Shape;885;p58"/>
          <p:cNvSpPr txBox="1"/>
          <p:nvPr/>
        </p:nvSpPr>
        <p:spPr>
          <a:xfrm>
            <a:off x="2412600" y="4252600"/>
            <a:ext cx="7467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18381</a:t>
            </a:r>
            <a:endParaRPr/>
          </a:p>
        </p:txBody>
      </p:sp>
      <p:sp>
        <p:nvSpPr>
          <p:cNvPr id="886" name="Google Shape;886;p58"/>
          <p:cNvSpPr txBox="1"/>
          <p:nvPr/>
        </p:nvSpPr>
        <p:spPr>
          <a:xfrm>
            <a:off x="5223784" y="4239060"/>
            <a:ext cx="7467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8798</a:t>
            </a:r>
            <a:endParaRPr/>
          </a:p>
        </p:txBody>
      </p:sp>
      <p:sp>
        <p:nvSpPr>
          <p:cNvPr id="887" name="Google Shape;887;p58"/>
          <p:cNvSpPr txBox="1"/>
          <p:nvPr/>
        </p:nvSpPr>
        <p:spPr>
          <a:xfrm>
            <a:off x="4650339" y="3423410"/>
            <a:ext cx="7467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38912</a:t>
            </a:r>
            <a:endParaRPr/>
          </a:p>
        </p:txBody>
      </p:sp>
      <p:sp>
        <p:nvSpPr>
          <p:cNvPr id="888" name="Google Shape;888;p58"/>
          <p:cNvSpPr txBox="1"/>
          <p:nvPr/>
        </p:nvSpPr>
        <p:spPr>
          <a:xfrm>
            <a:off x="6903768" y="3430000"/>
            <a:ext cx="4953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881</a:t>
            </a:r>
            <a:endParaRPr/>
          </a:p>
        </p:txBody>
      </p:sp>
      <p:sp>
        <p:nvSpPr>
          <p:cNvPr id="889" name="Google Shape;889;p58"/>
          <p:cNvSpPr txBox="1"/>
          <p:nvPr/>
        </p:nvSpPr>
        <p:spPr>
          <a:xfrm>
            <a:off x="6836568" y="2653085"/>
            <a:ext cx="4953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324</a:t>
            </a:r>
            <a:endParaRPr/>
          </a:p>
        </p:txBody>
      </p:sp>
      <p:sp>
        <p:nvSpPr>
          <p:cNvPr id="890" name="Google Shape;890;p58"/>
          <p:cNvSpPr txBox="1"/>
          <p:nvPr/>
        </p:nvSpPr>
        <p:spPr>
          <a:xfrm>
            <a:off x="7619693" y="3430010"/>
            <a:ext cx="4953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874</a:t>
            </a:r>
            <a:endParaRPr/>
          </a:p>
        </p:txBody>
      </p:sp>
      <p:sp>
        <p:nvSpPr>
          <p:cNvPr id="891" name="Google Shape;891;p58"/>
          <p:cNvSpPr txBox="1"/>
          <p:nvPr/>
        </p:nvSpPr>
        <p:spPr>
          <a:xfrm>
            <a:off x="121300" y="1127550"/>
            <a:ext cx="4529100" cy="25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postOrder</a:t>
            </a:r>
            <a:r>
              <a:rPr lang="en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BSTNode x</a:t>
            </a:r>
            <a:r>
              <a:rPr lang="en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(x == null) return 0;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800">
                <a:solidFill>
                  <a:srgbClr val="00BB00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total </a:t>
            </a:r>
            <a:r>
              <a:rPr lang="en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0;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for (BSTNode c : x.children())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total </a:t>
            </a:r>
            <a:r>
              <a:rPr lang="en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postOrder</a:t>
            </a:r>
            <a:r>
              <a:rPr lang="en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total </a:t>
            </a:r>
            <a:r>
              <a:rPr lang="en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x</a:t>
            </a:r>
            <a:r>
              <a:rPr lang="en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8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fileSize</a:t>
            </a:r>
            <a:r>
              <a:rPr lang="en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total;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59"/>
          <p:cNvSpPr/>
          <p:nvPr/>
        </p:nvSpPr>
        <p:spPr>
          <a:xfrm rot="10800000" flipH="1">
            <a:off x="166800" y="1127550"/>
            <a:ext cx="4372200" cy="2541000"/>
          </a:xfrm>
          <a:prstGeom prst="corner">
            <a:avLst>
              <a:gd name="adj1" fmla="val 70529"/>
              <a:gd name="adj2" fmla="val 131606"/>
            </a:avLst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7" name="Google Shape;897;p5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Good Are All These Traversals?</a:t>
            </a:r>
            <a:endParaRPr/>
          </a:p>
        </p:txBody>
      </p:sp>
      <p:sp>
        <p:nvSpPr>
          <p:cNvPr id="898" name="Google Shape;898;p59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Example: Postorder Traversal for gathering file sizes.</a:t>
            </a:r>
            <a:endParaRPr/>
          </a:p>
        </p:txBody>
      </p:sp>
      <p:sp>
        <p:nvSpPr>
          <p:cNvPr id="899" name="Google Shape;899;p59"/>
          <p:cNvSpPr/>
          <p:nvPr/>
        </p:nvSpPr>
        <p:spPr>
          <a:xfrm>
            <a:off x="7820799" y="2995170"/>
            <a:ext cx="985200" cy="3732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</a:t>
            </a:r>
            <a:endParaRPr/>
          </a:p>
        </p:txBody>
      </p:sp>
      <p:sp>
        <p:nvSpPr>
          <p:cNvPr id="900" name="Google Shape;900;p59"/>
          <p:cNvSpPr/>
          <p:nvPr/>
        </p:nvSpPr>
        <p:spPr>
          <a:xfrm>
            <a:off x="6784334" y="2213020"/>
            <a:ext cx="985200" cy="3732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sc2APM</a:t>
            </a:r>
            <a:endParaRPr/>
          </a:p>
        </p:txBody>
      </p:sp>
      <p:cxnSp>
        <p:nvCxnSpPr>
          <p:cNvPr id="901" name="Google Shape;901;p59"/>
          <p:cNvCxnSpPr>
            <a:stCxn id="900" idx="2"/>
            <a:endCxn id="899" idx="0"/>
          </p:cNvCxnSpPr>
          <p:nvPr/>
        </p:nvCxnSpPr>
        <p:spPr>
          <a:xfrm>
            <a:off x="7276934" y="2586220"/>
            <a:ext cx="1036500" cy="408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2" name="Google Shape;902;p59"/>
          <p:cNvSpPr/>
          <p:nvPr/>
        </p:nvSpPr>
        <p:spPr>
          <a:xfrm>
            <a:off x="4492494" y="2995175"/>
            <a:ext cx="1586700" cy="3732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directOverlay</a:t>
            </a:r>
            <a:endParaRPr/>
          </a:p>
        </p:txBody>
      </p:sp>
      <p:cxnSp>
        <p:nvCxnSpPr>
          <p:cNvPr id="903" name="Google Shape;903;p59"/>
          <p:cNvCxnSpPr>
            <a:stCxn id="900" idx="2"/>
            <a:endCxn id="902" idx="0"/>
          </p:cNvCxnSpPr>
          <p:nvPr/>
        </p:nvCxnSpPr>
        <p:spPr>
          <a:xfrm flipH="1">
            <a:off x="5285834" y="2586220"/>
            <a:ext cx="1991100" cy="408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4" name="Google Shape;904;p59"/>
          <p:cNvCxnSpPr>
            <a:stCxn id="900" idx="2"/>
            <a:endCxn id="905" idx="0"/>
          </p:cNvCxnSpPr>
          <p:nvPr/>
        </p:nvCxnSpPr>
        <p:spPr>
          <a:xfrm>
            <a:off x="7276934" y="2586220"/>
            <a:ext cx="0" cy="408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5" name="Google Shape;905;p59"/>
          <p:cNvSpPr/>
          <p:nvPr/>
        </p:nvSpPr>
        <p:spPr>
          <a:xfrm>
            <a:off x="6903584" y="2995045"/>
            <a:ext cx="746700" cy="3732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notes</a:t>
            </a:r>
            <a:endParaRPr/>
          </a:p>
        </p:txBody>
      </p:sp>
      <p:sp>
        <p:nvSpPr>
          <p:cNvPr id="906" name="Google Shape;906;p59"/>
          <p:cNvSpPr/>
          <p:nvPr/>
        </p:nvSpPr>
        <p:spPr>
          <a:xfrm>
            <a:off x="6172750" y="3744750"/>
            <a:ext cx="1146600" cy="3732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directO.sln</a:t>
            </a:r>
            <a:endParaRPr/>
          </a:p>
        </p:txBody>
      </p:sp>
      <p:sp>
        <p:nvSpPr>
          <p:cNvPr id="907" name="Google Shape;907;p59"/>
          <p:cNvSpPr/>
          <p:nvPr/>
        </p:nvSpPr>
        <p:spPr>
          <a:xfrm>
            <a:off x="4712550" y="3744750"/>
            <a:ext cx="1146600" cy="3732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directO.suo</a:t>
            </a:r>
            <a:endParaRPr/>
          </a:p>
        </p:txBody>
      </p:sp>
      <p:sp>
        <p:nvSpPr>
          <p:cNvPr id="908" name="Google Shape;908;p59"/>
          <p:cNvSpPr/>
          <p:nvPr/>
        </p:nvSpPr>
        <p:spPr>
          <a:xfrm>
            <a:off x="3393249" y="3744750"/>
            <a:ext cx="985200" cy="3732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directIO</a:t>
            </a:r>
            <a:endParaRPr/>
          </a:p>
        </p:txBody>
      </p:sp>
      <p:cxnSp>
        <p:nvCxnSpPr>
          <p:cNvPr id="909" name="Google Shape;909;p59"/>
          <p:cNvCxnSpPr>
            <a:stCxn id="902" idx="2"/>
            <a:endCxn id="906" idx="0"/>
          </p:cNvCxnSpPr>
          <p:nvPr/>
        </p:nvCxnSpPr>
        <p:spPr>
          <a:xfrm>
            <a:off x="5285844" y="3368375"/>
            <a:ext cx="1460100" cy="376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0" name="Google Shape;910;p59"/>
          <p:cNvCxnSpPr>
            <a:stCxn id="902" idx="2"/>
            <a:endCxn id="907" idx="0"/>
          </p:cNvCxnSpPr>
          <p:nvPr/>
        </p:nvCxnSpPr>
        <p:spPr>
          <a:xfrm>
            <a:off x="5285844" y="3368375"/>
            <a:ext cx="0" cy="376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1" name="Google Shape;911;p59"/>
          <p:cNvCxnSpPr>
            <a:stCxn id="902" idx="2"/>
            <a:endCxn id="908" idx="0"/>
          </p:cNvCxnSpPr>
          <p:nvPr/>
        </p:nvCxnSpPr>
        <p:spPr>
          <a:xfrm flipH="1">
            <a:off x="3885744" y="3368375"/>
            <a:ext cx="1400100" cy="376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2" name="Google Shape;912;p59"/>
          <p:cNvSpPr/>
          <p:nvPr/>
        </p:nvSpPr>
        <p:spPr>
          <a:xfrm>
            <a:off x="7688051" y="3744750"/>
            <a:ext cx="1250700" cy="3732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printAPM.py</a:t>
            </a:r>
            <a:endParaRPr/>
          </a:p>
        </p:txBody>
      </p:sp>
      <p:cxnSp>
        <p:nvCxnSpPr>
          <p:cNvPr id="913" name="Google Shape;913;p59"/>
          <p:cNvCxnSpPr>
            <a:stCxn id="899" idx="2"/>
            <a:endCxn id="912" idx="0"/>
          </p:cNvCxnSpPr>
          <p:nvPr/>
        </p:nvCxnSpPr>
        <p:spPr>
          <a:xfrm>
            <a:off x="8313399" y="3368370"/>
            <a:ext cx="0" cy="376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4" name="Google Shape;914;p59"/>
          <p:cNvSpPr/>
          <p:nvPr/>
        </p:nvSpPr>
        <p:spPr>
          <a:xfrm>
            <a:off x="2464450" y="4563750"/>
            <a:ext cx="1694700" cy="3732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DXHookD3D11.cs</a:t>
            </a:r>
            <a:endParaRPr/>
          </a:p>
        </p:txBody>
      </p:sp>
      <p:sp>
        <p:nvSpPr>
          <p:cNvPr id="915" name="Google Shape;915;p59"/>
          <p:cNvSpPr/>
          <p:nvPr/>
        </p:nvSpPr>
        <p:spPr>
          <a:xfrm>
            <a:off x="4539126" y="4563750"/>
            <a:ext cx="1250700" cy="3732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Injector.cs</a:t>
            </a:r>
            <a:endParaRPr/>
          </a:p>
        </p:txBody>
      </p:sp>
      <p:cxnSp>
        <p:nvCxnSpPr>
          <p:cNvPr id="916" name="Google Shape;916;p59"/>
          <p:cNvCxnSpPr>
            <a:stCxn id="908" idx="2"/>
            <a:endCxn id="914" idx="0"/>
          </p:cNvCxnSpPr>
          <p:nvPr/>
        </p:nvCxnSpPr>
        <p:spPr>
          <a:xfrm flipH="1">
            <a:off x="3311949" y="4117950"/>
            <a:ext cx="573900" cy="44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7" name="Google Shape;917;p59"/>
          <p:cNvCxnSpPr>
            <a:stCxn id="908" idx="2"/>
            <a:endCxn id="915" idx="0"/>
          </p:cNvCxnSpPr>
          <p:nvPr/>
        </p:nvCxnSpPr>
        <p:spPr>
          <a:xfrm>
            <a:off x="3885849" y="4117950"/>
            <a:ext cx="1278600" cy="44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8" name="Google Shape;918;p59"/>
          <p:cNvSpPr txBox="1"/>
          <p:nvPr/>
        </p:nvSpPr>
        <p:spPr>
          <a:xfrm>
            <a:off x="2412600" y="4252600"/>
            <a:ext cx="7467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18381</a:t>
            </a:r>
            <a:endParaRPr/>
          </a:p>
        </p:txBody>
      </p:sp>
      <p:sp>
        <p:nvSpPr>
          <p:cNvPr id="919" name="Google Shape;919;p59"/>
          <p:cNvSpPr txBox="1"/>
          <p:nvPr/>
        </p:nvSpPr>
        <p:spPr>
          <a:xfrm>
            <a:off x="5223784" y="4239060"/>
            <a:ext cx="7467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8798</a:t>
            </a:r>
            <a:endParaRPr/>
          </a:p>
        </p:txBody>
      </p:sp>
      <p:sp>
        <p:nvSpPr>
          <p:cNvPr id="920" name="Google Shape;920;p59"/>
          <p:cNvSpPr txBox="1"/>
          <p:nvPr/>
        </p:nvSpPr>
        <p:spPr>
          <a:xfrm>
            <a:off x="4650339" y="3423410"/>
            <a:ext cx="7467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38912</a:t>
            </a:r>
            <a:endParaRPr/>
          </a:p>
        </p:txBody>
      </p:sp>
      <p:sp>
        <p:nvSpPr>
          <p:cNvPr id="921" name="Google Shape;921;p59"/>
          <p:cNvSpPr txBox="1"/>
          <p:nvPr/>
        </p:nvSpPr>
        <p:spPr>
          <a:xfrm>
            <a:off x="6903768" y="3430000"/>
            <a:ext cx="4953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881</a:t>
            </a:r>
            <a:endParaRPr/>
          </a:p>
        </p:txBody>
      </p:sp>
      <p:sp>
        <p:nvSpPr>
          <p:cNvPr id="922" name="Google Shape;922;p59"/>
          <p:cNvSpPr txBox="1"/>
          <p:nvPr/>
        </p:nvSpPr>
        <p:spPr>
          <a:xfrm>
            <a:off x="6836568" y="2653085"/>
            <a:ext cx="4953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324</a:t>
            </a:r>
            <a:endParaRPr/>
          </a:p>
        </p:txBody>
      </p:sp>
      <p:sp>
        <p:nvSpPr>
          <p:cNvPr id="923" name="Google Shape;923;p59"/>
          <p:cNvSpPr txBox="1"/>
          <p:nvPr/>
        </p:nvSpPr>
        <p:spPr>
          <a:xfrm>
            <a:off x="7619693" y="3430010"/>
            <a:ext cx="4953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874</a:t>
            </a:r>
            <a:endParaRPr/>
          </a:p>
        </p:txBody>
      </p:sp>
      <p:sp>
        <p:nvSpPr>
          <p:cNvPr id="924" name="Google Shape;924;p59"/>
          <p:cNvSpPr txBox="1"/>
          <p:nvPr/>
        </p:nvSpPr>
        <p:spPr>
          <a:xfrm>
            <a:off x="121300" y="1127550"/>
            <a:ext cx="4529100" cy="25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postOrder</a:t>
            </a:r>
            <a:r>
              <a:rPr lang="en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BSTNode x</a:t>
            </a:r>
            <a:r>
              <a:rPr lang="en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(x == null) return 0;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800">
                <a:solidFill>
                  <a:srgbClr val="00BB00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total </a:t>
            </a:r>
            <a:r>
              <a:rPr lang="en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0;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for (BSTNode c : x.children())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total </a:t>
            </a:r>
            <a:r>
              <a:rPr lang="en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postOrder</a:t>
            </a:r>
            <a:r>
              <a:rPr lang="en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total </a:t>
            </a:r>
            <a:r>
              <a:rPr lang="en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x</a:t>
            </a:r>
            <a:r>
              <a:rPr lang="en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8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fileSize</a:t>
            </a:r>
            <a:r>
              <a:rPr lang="en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total;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5" name="Google Shape;925;p59"/>
          <p:cNvSpPr txBox="1"/>
          <p:nvPr/>
        </p:nvSpPr>
        <p:spPr>
          <a:xfrm>
            <a:off x="3566093" y="3347210"/>
            <a:ext cx="7467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27179</a:t>
            </a:r>
            <a:endParaRPr/>
          </a:p>
        </p:txBody>
      </p:sp>
      <p:sp>
        <p:nvSpPr>
          <p:cNvPr id="926" name="Google Shape;926;p59"/>
          <p:cNvSpPr txBox="1"/>
          <p:nvPr/>
        </p:nvSpPr>
        <p:spPr>
          <a:xfrm>
            <a:off x="4531489" y="2645285"/>
            <a:ext cx="7467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66972</a:t>
            </a:r>
            <a:endParaRPr/>
          </a:p>
        </p:txBody>
      </p:sp>
      <p:sp>
        <p:nvSpPr>
          <p:cNvPr id="927" name="Google Shape;927;p59"/>
          <p:cNvSpPr txBox="1"/>
          <p:nvPr/>
        </p:nvSpPr>
        <p:spPr>
          <a:xfrm>
            <a:off x="8313393" y="2671410"/>
            <a:ext cx="4953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874</a:t>
            </a:r>
            <a:endParaRPr/>
          </a:p>
        </p:txBody>
      </p:sp>
      <p:sp>
        <p:nvSpPr>
          <p:cNvPr id="928" name="Google Shape;928;p59"/>
          <p:cNvSpPr txBox="1"/>
          <p:nvPr/>
        </p:nvSpPr>
        <p:spPr>
          <a:xfrm>
            <a:off x="6873129" y="1822300"/>
            <a:ext cx="7467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68170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0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22, CS61B, Fall 2023</a:t>
            </a:r>
            <a:endParaRPr/>
          </a:p>
        </p:txBody>
      </p:sp>
      <p:sp>
        <p:nvSpPr>
          <p:cNvPr id="934" name="Google Shape;934;p60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Trees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Tree Definition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Tree Traversals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Usefulness of Tree Traversals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Graphs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Graph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Definition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Some Famous Graph Problems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Graph Traversals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Motivation: s-t Connectivity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Depth First Search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Tree vs. Graph Traversals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Challenge: Invent Breadth First</a:t>
            </a:r>
            <a:br>
              <a:rPr lang="en"/>
            </a:br>
            <a:r>
              <a:rPr lang="en"/>
              <a:t>Search</a:t>
            </a:r>
            <a:endParaRPr/>
          </a:p>
        </p:txBody>
      </p:sp>
      <p:sp>
        <p:nvSpPr>
          <p:cNvPr id="935" name="Google Shape;935;p60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Definition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0" name="Google Shape;940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0750" y="1545500"/>
            <a:ext cx="5283101" cy="3268650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6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Trees and Hierarchical Relationships</a:t>
            </a:r>
            <a:endParaRPr/>
          </a:p>
        </p:txBody>
      </p:sp>
      <p:sp>
        <p:nvSpPr>
          <p:cNvPr id="942" name="Google Shape;942;p61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Trees are fantastic for representing strict hierarchical relationships.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not every relationship is hierarchical.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Paris Metro map.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is not a tree: Contains cycles! 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than one way to get from A to B.</a:t>
            </a:r>
            <a:endParaRPr/>
          </a:p>
        </p:txBody>
      </p:sp>
      <p:sp>
        <p:nvSpPr>
          <p:cNvPr id="943" name="Google Shape;943;p61"/>
          <p:cNvSpPr txBox="1"/>
          <p:nvPr/>
        </p:nvSpPr>
        <p:spPr>
          <a:xfrm>
            <a:off x="6908375" y="4150150"/>
            <a:ext cx="906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cxnSp>
        <p:nvCxnSpPr>
          <p:cNvPr id="944" name="Google Shape;944;p61"/>
          <p:cNvCxnSpPr/>
          <p:nvPr/>
        </p:nvCxnSpPr>
        <p:spPr>
          <a:xfrm rot="10800000">
            <a:off x="6631700" y="4150150"/>
            <a:ext cx="310800" cy="15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5" name="Google Shape;945;p61"/>
          <p:cNvSpPr txBox="1"/>
          <p:nvPr/>
        </p:nvSpPr>
        <p:spPr>
          <a:xfrm>
            <a:off x="4437825" y="3958750"/>
            <a:ext cx="906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946" name="Google Shape;946;p61"/>
          <p:cNvCxnSpPr/>
          <p:nvPr/>
        </p:nvCxnSpPr>
        <p:spPr>
          <a:xfrm rot="10800000" flipH="1">
            <a:off x="4724225" y="4032225"/>
            <a:ext cx="755700" cy="11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62"/>
          <p:cNvSpPr/>
          <p:nvPr/>
        </p:nvSpPr>
        <p:spPr>
          <a:xfrm>
            <a:off x="6210125" y="2473075"/>
            <a:ext cx="2443500" cy="2504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2" name="Google Shape;952;p62"/>
          <p:cNvSpPr/>
          <p:nvPr/>
        </p:nvSpPr>
        <p:spPr>
          <a:xfrm>
            <a:off x="1746650" y="2876450"/>
            <a:ext cx="2309700" cy="2101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3" name="Google Shape;953;p6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Definition (Revisited)</a:t>
            </a:r>
            <a:endParaRPr/>
          </a:p>
        </p:txBody>
      </p:sp>
      <p:sp>
        <p:nvSpPr>
          <p:cNvPr id="954" name="Google Shape;954;p62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tree consists of: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set of nodes.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set of edges that connect those nodes.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Constraint: There is exactly one path between any two nodes.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Green structures on slide are trees. Pink ones are not.</a:t>
            </a:r>
            <a:endParaRPr/>
          </a:p>
        </p:txBody>
      </p:sp>
      <p:grpSp>
        <p:nvGrpSpPr>
          <p:cNvPr id="955" name="Google Shape;955;p62"/>
          <p:cNvGrpSpPr/>
          <p:nvPr/>
        </p:nvGrpSpPr>
        <p:grpSpPr>
          <a:xfrm>
            <a:off x="4391788" y="2940275"/>
            <a:ext cx="1430074" cy="1721325"/>
            <a:chOff x="4696588" y="2940275"/>
            <a:chExt cx="1430074" cy="1721325"/>
          </a:xfrm>
        </p:grpSpPr>
        <p:sp>
          <p:nvSpPr>
            <p:cNvPr id="956" name="Google Shape;956;p62"/>
            <p:cNvSpPr/>
            <p:nvPr/>
          </p:nvSpPr>
          <p:spPr>
            <a:xfrm>
              <a:off x="5212963" y="2940275"/>
              <a:ext cx="435300" cy="435300"/>
            </a:xfrm>
            <a:prstGeom prst="ellipse">
              <a:avLst/>
            </a:prstGeom>
            <a:solidFill>
              <a:srgbClr val="EA9999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957" name="Google Shape;957;p62"/>
            <p:cNvCxnSpPr>
              <a:stCxn id="958" idx="1"/>
              <a:endCxn id="959" idx="5"/>
            </p:cNvCxnSpPr>
            <p:nvPr/>
          </p:nvCxnSpPr>
          <p:spPr>
            <a:xfrm rot="10800000">
              <a:off x="5068211" y="3961848"/>
              <a:ext cx="170400" cy="328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0" name="Google Shape;960;p62"/>
            <p:cNvCxnSpPr>
              <a:stCxn id="959" idx="7"/>
              <a:endCxn id="956" idx="3"/>
            </p:cNvCxnSpPr>
            <p:nvPr/>
          </p:nvCxnSpPr>
          <p:spPr>
            <a:xfrm rot="10800000" flipH="1">
              <a:off x="5068140" y="3311973"/>
              <a:ext cx="208500" cy="342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1" name="Google Shape;961;p62"/>
            <p:cNvCxnSpPr>
              <a:stCxn id="962" idx="1"/>
              <a:endCxn id="956" idx="5"/>
            </p:cNvCxnSpPr>
            <p:nvPr/>
          </p:nvCxnSpPr>
          <p:spPr>
            <a:xfrm rot="10800000">
              <a:off x="5584411" y="3311973"/>
              <a:ext cx="170700" cy="342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58" name="Google Shape;958;p62"/>
            <p:cNvSpPr/>
            <p:nvPr/>
          </p:nvSpPr>
          <p:spPr>
            <a:xfrm>
              <a:off x="5174863" y="4226300"/>
              <a:ext cx="435300" cy="435300"/>
            </a:xfrm>
            <a:prstGeom prst="ellipse">
              <a:avLst/>
            </a:prstGeom>
            <a:solidFill>
              <a:srgbClr val="EA9999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963" name="Google Shape;963;p62"/>
            <p:cNvCxnSpPr>
              <a:stCxn id="962" idx="3"/>
              <a:endCxn id="958" idx="7"/>
            </p:cNvCxnSpPr>
            <p:nvPr/>
          </p:nvCxnSpPr>
          <p:spPr>
            <a:xfrm flipH="1">
              <a:off x="5546311" y="3961777"/>
              <a:ext cx="208800" cy="328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62" name="Google Shape;962;p62"/>
            <p:cNvSpPr/>
            <p:nvPr/>
          </p:nvSpPr>
          <p:spPr>
            <a:xfrm>
              <a:off x="5691363" y="3590225"/>
              <a:ext cx="435300" cy="435300"/>
            </a:xfrm>
            <a:prstGeom prst="ellipse">
              <a:avLst/>
            </a:prstGeom>
            <a:solidFill>
              <a:srgbClr val="EA9999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59" name="Google Shape;959;p62"/>
            <p:cNvSpPr/>
            <p:nvPr/>
          </p:nvSpPr>
          <p:spPr>
            <a:xfrm>
              <a:off x="4696588" y="3590225"/>
              <a:ext cx="435300" cy="435300"/>
            </a:xfrm>
            <a:prstGeom prst="ellipse">
              <a:avLst/>
            </a:prstGeom>
            <a:solidFill>
              <a:srgbClr val="EA9999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964" name="Google Shape;964;p62"/>
          <p:cNvGrpSpPr/>
          <p:nvPr/>
        </p:nvGrpSpPr>
        <p:grpSpPr>
          <a:xfrm>
            <a:off x="6653088" y="2870888"/>
            <a:ext cx="1865374" cy="1790700"/>
            <a:chOff x="6653088" y="2870888"/>
            <a:chExt cx="1865374" cy="1790700"/>
          </a:xfrm>
        </p:grpSpPr>
        <p:sp>
          <p:nvSpPr>
            <p:cNvPr id="965" name="Google Shape;965;p62"/>
            <p:cNvSpPr/>
            <p:nvPr/>
          </p:nvSpPr>
          <p:spPr>
            <a:xfrm>
              <a:off x="7604763" y="2871013"/>
              <a:ext cx="435300" cy="435300"/>
            </a:xfrm>
            <a:prstGeom prst="ellipse">
              <a:avLst/>
            </a:prstGeom>
            <a:solidFill>
              <a:srgbClr val="EA9999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966" name="Google Shape;966;p62"/>
            <p:cNvCxnSpPr>
              <a:stCxn id="967" idx="0"/>
              <a:endCxn id="968" idx="3"/>
            </p:cNvCxnSpPr>
            <p:nvPr/>
          </p:nvCxnSpPr>
          <p:spPr>
            <a:xfrm rot="10800000" flipH="1">
              <a:off x="6870738" y="3892388"/>
              <a:ext cx="281400" cy="333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9" name="Google Shape;969;p62"/>
            <p:cNvCxnSpPr>
              <a:stCxn id="968" idx="7"/>
              <a:endCxn id="965" idx="3"/>
            </p:cNvCxnSpPr>
            <p:nvPr/>
          </p:nvCxnSpPr>
          <p:spPr>
            <a:xfrm rot="10800000" flipH="1">
              <a:off x="7459940" y="3242711"/>
              <a:ext cx="208500" cy="342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0" name="Google Shape;970;p62"/>
            <p:cNvCxnSpPr>
              <a:stCxn id="971" idx="1"/>
              <a:endCxn id="965" idx="5"/>
            </p:cNvCxnSpPr>
            <p:nvPr/>
          </p:nvCxnSpPr>
          <p:spPr>
            <a:xfrm rot="10800000">
              <a:off x="7976211" y="3242711"/>
              <a:ext cx="170700" cy="342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71" name="Google Shape;971;p62"/>
            <p:cNvSpPr/>
            <p:nvPr/>
          </p:nvSpPr>
          <p:spPr>
            <a:xfrm>
              <a:off x="8083163" y="3520963"/>
              <a:ext cx="435300" cy="435300"/>
            </a:xfrm>
            <a:prstGeom prst="ellipse">
              <a:avLst/>
            </a:prstGeom>
            <a:solidFill>
              <a:srgbClr val="EA9999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68" name="Google Shape;968;p62"/>
            <p:cNvSpPr/>
            <p:nvPr/>
          </p:nvSpPr>
          <p:spPr>
            <a:xfrm>
              <a:off x="7088388" y="3520963"/>
              <a:ext cx="435300" cy="435300"/>
            </a:xfrm>
            <a:prstGeom prst="ellipse">
              <a:avLst/>
            </a:prstGeom>
            <a:solidFill>
              <a:srgbClr val="EA9999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67" name="Google Shape;967;p62"/>
            <p:cNvSpPr/>
            <p:nvPr/>
          </p:nvSpPr>
          <p:spPr>
            <a:xfrm>
              <a:off x="6653088" y="4226288"/>
              <a:ext cx="435300" cy="435300"/>
            </a:xfrm>
            <a:prstGeom prst="ellipse">
              <a:avLst/>
            </a:prstGeom>
            <a:solidFill>
              <a:srgbClr val="EA9999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972" name="Google Shape;972;p62"/>
            <p:cNvCxnSpPr>
              <a:stCxn id="967" idx="4"/>
              <a:endCxn id="965" idx="0"/>
            </p:cNvCxnSpPr>
            <p:nvPr/>
          </p:nvCxnSpPr>
          <p:spPr>
            <a:xfrm rot="-5400000">
              <a:off x="6451188" y="3290438"/>
              <a:ext cx="1790700" cy="951600"/>
            </a:xfrm>
            <a:prstGeom prst="curvedConnector5">
              <a:avLst>
                <a:gd name="adj1" fmla="val -13298"/>
                <a:gd name="adj2" fmla="val -53170"/>
                <a:gd name="adj3" fmla="val 113291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73" name="Google Shape;973;p62"/>
          <p:cNvGrpSpPr/>
          <p:nvPr/>
        </p:nvGrpSpPr>
        <p:grpSpPr>
          <a:xfrm>
            <a:off x="1974025" y="3046500"/>
            <a:ext cx="1943375" cy="1767500"/>
            <a:chOff x="2507425" y="3046500"/>
            <a:chExt cx="1943375" cy="1767500"/>
          </a:xfrm>
        </p:grpSpPr>
        <p:sp>
          <p:nvSpPr>
            <p:cNvPr id="974" name="Google Shape;974;p62"/>
            <p:cNvSpPr/>
            <p:nvPr/>
          </p:nvSpPr>
          <p:spPr>
            <a:xfrm>
              <a:off x="3037600" y="3666425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975" name="Google Shape;975;p62"/>
            <p:cNvCxnSpPr>
              <a:stCxn id="976" idx="0"/>
              <a:endCxn id="974" idx="5"/>
            </p:cNvCxnSpPr>
            <p:nvPr/>
          </p:nvCxnSpPr>
          <p:spPr>
            <a:xfrm rot="10800000">
              <a:off x="3409100" y="4037900"/>
              <a:ext cx="360600" cy="340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7" name="Google Shape;977;p62"/>
            <p:cNvCxnSpPr>
              <a:stCxn id="974" idx="0"/>
              <a:endCxn id="978" idx="3"/>
            </p:cNvCxnSpPr>
            <p:nvPr/>
          </p:nvCxnSpPr>
          <p:spPr>
            <a:xfrm rot="10800000" flipH="1">
              <a:off x="3255250" y="3418025"/>
              <a:ext cx="395700" cy="248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76" name="Google Shape;976;p62"/>
            <p:cNvSpPr/>
            <p:nvPr/>
          </p:nvSpPr>
          <p:spPr>
            <a:xfrm>
              <a:off x="3552050" y="4378700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78" name="Google Shape;978;p62"/>
            <p:cNvSpPr/>
            <p:nvPr/>
          </p:nvSpPr>
          <p:spPr>
            <a:xfrm>
              <a:off x="3587200" y="3046500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79" name="Google Shape;979;p62"/>
            <p:cNvSpPr/>
            <p:nvPr/>
          </p:nvSpPr>
          <p:spPr>
            <a:xfrm>
              <a:off x="2507425" y="4378700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80" name="Google Shape;980;p62"/>
            <p:cNvSpPr/>
            <p:nvPr/>
          </p:nvSpPr>
          <p:spPr>
            <a:xfrm>
              <a:off x="3029738" y="4378700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981" name="Google Shape;981;p62"/>
            <p:cNvCxnSpPr>
              <a:stCxn id="974" idx="3"/>
              <a:endCxn id="979" idx="0"/>
            </p:cNvCxnSpPr>
            <p:nvPr/>
          </p:nvCxnSpPr>
          <p:spPr>
            <a:xfrm flipH="1">
              <a:off x="2725148" y="4037977"/>
              <a:ext cx="376200" cy="340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2" name="Google Shape;982;p62"/>
            <p:cNvCxnSpPr>
              <a:stCxn id="974" idx="4"/>
              <a:endCxn id="980" idx="0"/>
            </p:cNvCxnSpPr>
            <p:nvPr/>
          </p:nvCxnSpPr>
          <p:spPr>
            <a:xfrm flipH="1">
              <a:off x="3247450" y="4101725"/>
              <a:ext cx="7800" cy="276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83" name="Google Shape;983;p62"/>
            <p:cNvSpPr/>
            <p:nvPr/>
          </p:nvSpPr>
          <p:spPr>
            <a:xfrm>
              <a:off x="4015500" y="3666425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984" name="Google Shape;984;p62"/>
            <p:cNvCxnSpPr>
              <a:stCxn id="983" idx="0"/>
              <a:endCxn id="978" idx="5"/>
            </p:cNvCxnSpPr>
            <p:nvPr/>
          </p:nvCxnSpPr>
          <p:spPr>
            <a:xfrm rot="10800000">
              <a:off x="3958650" y="3418025"/>
              <a:ext cx="274500" cy="248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85" name="Google Shape;985;p62"/>
          <p:cNvSpPr/>
          <p:nvPr/>
        </p:nvSpPr>
        <p:spPr>
          <a:xfrm>
            <a:off x="4234350" y="2876450"/>
            <a:ext cx="1752600" cy="2101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6" name="Google Shape;986;p62"/>
          <p:cNvSpPr/>
          <p:nvPr/>
        </p:nvSpPr>
        <p:spPr>
          <a:xfrm>
            <a:off x="149422" y="3351800"/>
            <a:ext cx="1430100" cy="1092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7" name="Google Shape;987;p62"/>
          <p:cNvGrpSpPr/>
          <p:nvPr/>
        </p:nvGrpSpPr>
        <p:grpSpPr>
          <a:xfrm>
            <a:off x="276022" y="3408288"/>
            <a:ext cx="1184600" cy="979025"/>
            <a:chOff x="3266200" y="3122700"/>
            <a:chExt cx="1184600" cy="979025"/>
          </a:xfrm>
        </p:grpSpPr>
        <p:sp>
          <p:nvSpPr>
            <p:cNvPr id="988" name="Google Shape;988;p62"/>
            <p:cNvSpPr/>
            <p:nvPr/>
          </p:nvSpPr>
          <p:spPr>
            <a:xfrm>
              <a:off x="3266200" y="3666425"/>
              <a:ext cx="435300" cy="435300"/>
            </a:xfrm>
            <a:prstGeom prst="ellipse">
              <a:avLst/>
            </a:prstGeom>
            <a:solidFill>
              <a:srgbClr val="EA9999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89" name="Google Shape;989;p62"/>
            <p:cNvSpPr/>
            <p:nvPr/>
          </p:nvSpPr>
          <p:spPr>
            <a:xfrm>
              <a:off x="3653649" y="3122700"/>
              <a:ext cx="435300" cy="435300"/>
            </a:xfrm>
            <a:prstGeom prst="ellipse">
              <a:avLst/>
            </a:prstGeom>
            <a:solidFill>
              <a:srgbClr val="EA9999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90" name="Google Shape;990;p62"/>
            <p:cNvSpPr/>
            <p:nvPr/>
          </p:nvSpPr>
          <p:spPr>
            <a:xfrm>
              <a:off x="4015500" y="3666425"/>
              <a:ext cx="435300" cy="435300"/>
            </a:xfrm>
            <a:prstGeom prst="ellipse">
              <a:avLst/>
            </a:prstGeom>
            <a:solidFill>
              <a:srgbClr val="EA9999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991" name="Google Shape;991;p62"/>
            <p:cNvCxnSpPr>
              <a:stCxn id="990" idx="0"/>
              <a:endCxn id="989" idx="5"/>
            </p:cNvCxnSpPr>
            <p:nvPr/>
          </p:nvCxnSpPr>
          <p:spPr>
            <a:xfrm rot="10800000">
              <a:off x="4025250" y="3494225"/>
              <a:ext cx="207900" cy="172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63"/>
          <p:cNvSpPr/>
          <p:nvPr/>
        </p:nvSpPr>
        <p:spPr>
          <a:xfrm>
            <a:off x="4234350" y="2876450"/>
            <a:ext cx="1752600" cy="2101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63"/>
          <p:cNvSpPr/>
          <p:nvPr/>
        </p:nvSpPr>
        <p:spPr>
          <a:xfrm>
            <a:off x="6210125" y="2473075"/>
            <a:ext cx="2443500" cy="2504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8" name="Google Shape;998;p63"/>
          <p:cNvSpPr/>
          <p:nvPr/>
        </p:nvSpPr>
        <p:spPr>
          <a:xfrm>
            <a:off x="1746650" y="2876450"/>
            <a:ext cx="2309700" cy="2101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9" name="Google Shape;999;p6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Definition</a:t>
            </a:r>
            <a:endParaRPr/>
          </a:p>
        </p:txBody>
      </p:sp>
      <p:sp>
        <p:nvSpPr>
          <p:cNvPr id="1000" name="Google Shape;1000;p63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graph consists of: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set of nodes.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set of zero or more edges, each of which connects two nodes.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Green structures below are graphs.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Note, all trees are graphs!</a:t>
            </a:r>
            <a:endParaRPr/>
          </a:p>
        </p:txBody>
      </p:sp>
      <p:grpSp>
        <p:nvGrpSpPr>
          <p:cNvPr id="1001" name="Google Shape;1001;p63"/>
          <p:cNvGrpSpPr/>
          <p:nvPr/>
        </p:nvGrpSpPr>
        <p:grpSpPr>
          <a:xfrm>
            <a:off x="4391788" y="2940275"/>
            <a:ext cx="1430074" cy="1721325"/>
            <a:chOff x="4696588" y="2940275"/>
            <a:chExt cx="1430074" cy="1721325"/>
          </a:xfrm>
        </p:grpSpPr>
        <p:sp>
          <p:nvSpPr>
            <p:cNvPr id="1002" name="Google Shape;1002;p63"/>
            <p:cNvSpPr/>
            <p:nvPr/>
          </p:nvSpPr>
          <p:spPr>
            <a:xfrm>
              <a:off x="5212963" y="2940275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003" name="Google Shape;1003;p63"/>
            <p:cNvCxnSpPr>
              <a:stCxn id="1004" idx="1"/>
              <a:endCxn id="1005" idx="5"/>
            </p:cNvCxnSpPr>
            <p:nvPr/>
          </p:nvCxnSpPr>
          <p:spPr>
            <a:xfrm rot="10800000">
              <a:off x="5068211" y="3961848"/>
              <a:ext cx="170400" cy="328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6" name="Google Shape;1006;p63"/>
            <p:cNvCxnSpPr>
              <a:stCxn id="1005" idx="7"/>
              <a:endCxn id="1002" idx="3"/>
            </p:cNvCxnSpPr>
            <p:nvPr/>
          </p:nvCxnSpPr>
          <p:spPr>
            <a:xfrm rot="10800000" flipH="1">
              <a:off x="5068140" y="3311973"/>
              <a:ext cx="208500" cy="342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7" name="Google Shape;1007;p63"/>
            <p:cNvCxnSpPr>
              <a:stCxn id="1008" idx="1"/>
              <a:endCxn id="1002" idx="5"/>
            </p:cNvCxnSpPr>
            <p:nvPr/>
          </p:nvCxnSpPr>
          <p:spPr>
            <a:xfrm rot="10800000">
              <a:off x="5584411" y="3311973"/>
              <a:ext cx="170700" cy="342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04" name="Google Shape;1004;p63"/>
            <p:cNvSpPr/>
            <p:nvPr/>
          </p:nvSpPr>
          <p:spPr>
            <a:xfrm>
              <a:off x="5174863" y="4226300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009" name="Google Shape;1009;p63"/>
            <p:cNvCxnSpPr>
              <a:stCxn id="1008" idx="3"/>
              <a:endCxn id="1004" idx="7"/>
            </p:cNvCxnSpPr>
            <p:nvPr/>
          </p:nvCxnSpPr>
          <p:spPr>
            <a:xfrm flipH="1">
              <a:off x="5546311" y="3961777"/>
              <a:ext cx="208800" cy="328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08" name="Google Shape;1008;p63"/>
            <p:cNvSpPr/>
            <p:nvPr/>
          </p:nvSpPr>
          <p:spPr>
            <a:xfrm>
              <a:off x="5691363" y="3590225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05" name="Google Shape;1005;p63"/>
            <p:cNvSpPr/>
            <p:nvPr/>
          </p:nvSpPr>
          <p:spPr>
            <a:xfrm>
              <a:off x="4696588" y="3590225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1010" name="Google Shape;1010;p63"/>
          <p:cNvGrpSpPr/>
          <p:nvPr/>
        </p:nvGrpSpPr>
        <p:grpSpPr>
          <a:xfrm>
            <a:off x="6653088" y="2870888"/>
            <a:ext cx="1865374" cy="1790700"/>
            <a:chOff x="6653088" y="2870888"/>
            <a:chExt cx="1865374" cy="1790700"/>
          </a:xfrm>
        </p:grpSpPr>
        <p:sp>
          <p:nvSpPr>
            <p:cNvPr id="1011" name="Google Shape;1011;p63"/>
            <p:cNvSpPr/>
            <p:nvPr/>
          </p:nvSpPr>
          <p:spPr>
            <a:xfrm>
              <a:off x="7604763" y="2871013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012" name="Google Shape;1012;p63"/>
            <p:cNvCxnSpPr>
              <a:stCxn id="1013" idx="0"/>
              <a:endCxn id="1014" idx="3"/>
            </p:cNvCxnSpPr>
            <p:nvPr/>
          </p:nvCxnSpPr>
          <p:spPr>
            <a:xfrm rot="10800000" flipH="1">
              <a:off x="6870738" y="3892388"/>
              <a:ext cx="281400" cy="333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5" name="Google Shape;1015;p63"/>
            <p:cNvCxnSpPr>
              <a:stCxn id="1014" idx="7"/>
              <a:endCxn id="1011" idx="3"/>
            </p:cNvCxnSpPr>
            <p:nvPr/>
          </p:nvCxnSpPr>
          <p:spPr>
            <a:xfrm rot="10800000" flipH="1">
              <a:off x="7459940" y="3242711"/>
              <a:ext cx="208500" cy="342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6" name="Google Shape;1016;p63"/>
            <p:cNvCxnSpPr>
              <a:stCxn id="1017" idx="1"/>
              <a:endCxn id="1011" idx="5"/>
            </p:cNvCxnSpPr>
            <p:nvPr/>
          </p:nvCxnSpPr>
          <p:spPr>
            <a:xfrm rot="10800000">
              <a:off x="7976211" y="3242711"/>
              <a:ext cx="170700" cy="342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17" name="Google Shape;1017;p63"/>
            <p:cNvSpPr/>
            <p:nvPr/>
          </p:nvSpPr>
          <p:spPr>
            <a:xfrm>
              <a:off x="8083163" y="3520963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14" name="Google Shape;1014;p63"/>
            <p:cNvSpPr/>
            <p:nvPr/>
          </p:nvSpPr>
          <p:spPr>
            <a:xfrm>
              <a:off x="7088388" y="3520963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13" name="Google Shape;1013;p63"/>
            <p:cNvSpPr/>
            <p:nvPr/>
          </p:nvSpPr>
          <p:spPr>
            <a:xfrm>
              <a:off x="6653088" y="4226288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018" name="Google Shape;1018;p63"/>
            <p:cNvCxnSpPr>
              <a:stCxn id="1013" idx="4"/>
              <a:endCxn id="1011" idx="0"/>
            </p:cNvCxnSpPr>
            <p:nvPr/>
          </p:nvCxnSpPr>
          <p:spPr>
            <a:xfrm rot="-5400000">
              <a:off x="6451188" y="3290438"/>
              <a:ext cx="1790700" cy="951600"/>
            </a:xfrm>
            <a:prstGeom prst="curvedConnector5">
              <a:avLst>
                <a:gd name="adj1" fmla="val -13298"/>
                <a:gd name="adj2" fmla="val -53170"/>
                <a:gd name="adj3" fmla="val 113291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19" name="Google Shape;1019;p63"/>
          <p:cNvGrpSpPr/>
          <p:nvPr/>
        </p:nvGrpSpPr>
        <p:grpSpPr>
          <a:xfrm>
            <a:off x="1974025" y="3046500"/>
            <a:ext cx="1943375" cy="1767500"/>
            <a:chOff x="2507425" y="3046500"/>
            <a:chExt cx="1943375" cy="1767500"/>
          </a:xfrm>
        </p:grpSpPr>
        <p:sp>
          <p:nvSpPr>
            <p:cNvPr id="1020" name="Google Shape;1020;p63"/>
            <p:cNvSpPr/>
            <p:nvPr/>
          </p:nvSpPr>
          <p:spPr>
            <a:xfrm>
              <a:off x="3037600" y="3666425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021" name="Google Shape;1021;p63"/>
            <p:cNvCxnSpPr>
              <a:stCxn id="1022" idx="0"/>
              <a:endCxn id="1020" idx="5"/>
            </p:cNvCxnSpPr>
            <p:nvPr/>
          </p:nvCxnSpPr>
          <p:spPr>
            <a:xfrm rot="10800000">
              <a:off x="3409100" y="4037900"/>
              <a:ext cx="360600" cy="340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3" name="Google Shape;1023;p63"/>
            <p:cNvCxnSpPr>
              <a:stCxn id="1020" idx="0"/>
              <a:endCxn id="1024" idx="3"/>
            </p:cNvCxnSpPr>
            <p:nvPr/>
          </p:nvCxnSpPr>
          <p:spPr>
            <a:xfrm rot="10800000" flipH="1">
              <a:off x="3255250" y="3418025"/>
              <a:ext cx="395700" cy="248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22" name="Google Shape;1022;p63"/>
            <p:cNvSpPr/>
            <p:nvPr/>
          </p:nvSpPr>
          <p:spPr>
            <a:xfrm>
              <a:off x="3552050" y="4378700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24" name="Google Shape;1024;p63"/>
            <p:cNvSpPr/>
            <p:nvPr/>
          </p:nvSpPr>
          <p:spPr>
            <a:xfrm>
              <a:off x="3587200" y="3046500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25" name="Google Shape;1025;p63"/>
            <p:cNvSpPr/>
            <p:nvPr/>
          </p:nvSpPr>
          <p:spPr>
            <a:xfrm>
              <a:off x="2507425" y="4378700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26" name="Google Shape;1026;p63"/>
            <p:cNvSpPr/>
            <p:nvPr/>
          </p:nvSpPr>
          <p:spPr>
            <a:xfrm>
              <a:off x="3029738" y="4378700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027" name="Google Shape;1027;p63"/>
            <p:cNvCxnSpPr>
              <a:stCxn id="1020" idx="3"/>
              <a:endCxn id="1025" idx="0"/>
            </p:cNvCxnSpPr>
            <p:nvPr/>
          </p:nvCxnSpPr>
          <p:spPr>
            <a:xfrm flipH="1">
              <a:off x="2725148" y="4037977"/>
              <a:ext cx="376200" cy="340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8" name="Google Shape;1028;p63"/>
            <p:cNvCxnSpPr>
              <a:stCxn id="1020" idx="4"/>
              <a:endCxn id="1026" idx="0"/>
            </p:cNvCxnSpPr>
            <p:nvPr/>
          </p:nvCxnSpPr>
          <p:spPr>
            <a:xfrm flipH="1">
              <a:off x="3247450" y="4101725"/>
              <a:ext cx="7800" cy="276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29" name="Google Shape;1029;p63"/>
            <p:cNvSpPr/>
            <p:nvPr/>
          </p:nvSpPr>
          <p:spPr>
            <a:xfrm>
              <a:off x="4015500" y="3666425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030" name="Google Shape;1030;p63"/>
            <p:cNvCxnSpPr>
              <a:stCxn id="1029" idx="0"/>
              <a:endCxn id="1024" idx="5"/>
            </p:cNvCxnSpPr>
            <p:nvPr/>
          </p:nvCxnSpPr>
          <p:spPr>
            <a:xfrm rot="10800000">
              <a:off x="3958650" y="3418025"/>
              <a:ext cx="274500" cy="248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31" name="Google Shape;1031;p63"/>
          <p:cNvSpPr/>
          <p:nvPr/>
        </p:nvSpPr>
        <p:spPr>
          <a:xfrm>
            <a:off x="149422" y="3351800"/>
            <a:ext cx="1430100" cy="1092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2" name="Google Shape;1032;p63"/>
          <p:cNvGrpSpPr/>
          <p:nvPr/>
        </p:nvGrpSpPr>
        <p:grpSpPr>
          <a:xfrm>
            <a:off x="276022" y="3408288"/>
            <a:ext cx="1184600" cy="979025"/>
            <a:chOff x="3266200" y="3122700"/>
            <a:chExt cx="1184600" cy="979025"/>
          </a:xfrm>
        </p:grpSpPr>
        <p:sp>
          <p:nvSpPr>
            <p:cNvPr id="1033" name="Google Shape;1033;p63"/>
            <p:cNvSpPr/>
            <p:nvPr/>
          </p:nvSpPr>
          <p:spPr>
            <a:xfrm>
              <a:off x="3266200" y="3666425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34" name="Google Shape;1034;p63"/>
            <p:cNvSpPr/>
            <p:nvPr/>
          </p:nvSpPr>
          <p:spPr>
            <a:xfrm>
              <a:off x="3653649" y="3122700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35" name="Google Shape;1035;p63"/>
            <p:cNvSpPr/>
            <p:nvPr/>
          </p:nvSpPr>
          <p:spPr>
            <a:xfrm>
              <a:off x="4015500" y="3666425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036" name="Google Shape;1036;p63"/>
            <p:cNvCxnSpPr>
              <a:stCxn id="1035" idx="0"/>
              <a:endCxn id="1034" idx="5"/>
            </p:cNvCxnSpPr>
            <p:nvPr/>
          </p:nvCxnSpPr>
          <p:spPr>
            <a:xfrm rot="10800000">
              <a:off x="4025250" y="3494225"/>
              <a:ext cx="207900" cy="172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6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Example: BART</a:t>
            </a:r>
            <a:endParaRPr/>
          </a:p>
        </p:txBody>
      </p:sp>
      <p:sp>
        <p:nvSpPr>
          <p:cNvPr id="1042" name="Google Shape;1042;p64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BART graph a tree?</a:t>
            </a:r>
            <a:br>
              <a:rPr lang="en"/>
            </a:br>
            <a:br>
              <a:rPr lang="en"/>
            </a:br>
            <a:endParaRPr/>
          </a:p>
        </p:txBody>
      </p:sp>
      <p:pic>
        <p:nvPicPr>
          <p:cNvPr id="1043" name="Google Shape;104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7075" y="726750"/>
            <a:ext cx="5411875" cy="434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64"/>
          <p:cNvSpPr txBox="1">
            <a:spLocks noGrp="1"/>
          </p:cNvSpPr>
          <p:nvPr>
            <p:ph type="body" idx="1"/>
          </p:nvPr>
        </p:nvSpPr>
        <p:spPr>
          <a:xfrm>
            <a:off x="107046" y="1011800"/>
            <a:ext cx="2636700" cy="16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No, has one cycle.</a:t>
            </a:r>
            <a:endParaRPr/>
          </a:p>
          <a:p>
            <a:pPr marL="914400" lvl="1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San Bruno</a:t>
            </a:r>
            <a:endParaRPr/>
          </a:p>
          <a:p>
            <a:pPr marL="914400" lvl="1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SFO</a:t>
            </a:r>
            <a:endParaRPr/>
          </a:p>
          <a:p>
            <a:pPr marL="914400" lvl="1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Millbrae</a:t>
            </a:r>
            <a:br>
              <a:rPr lang="en"/>
            </a:br>
            <a:br>
              <a:rPr lang="en"/>
            </a:b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65"/>
          <p:cNvSpPr/>
          <p:nvPr/>
        </p:nvSpPr>
        <p:spPr>
          <a:xfrm>
            <a:off x="1162875" y="2778950"/>
            <a:ext cx="1752600" cy="2139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0" name="Google Shape;1050;p6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Definition</a:t>
            </a:r>
            <a:endParaRPr/>
          </a:p>
        </p:txBody>
      </p:sp>
      <p:grpSp>
        <p:nvGrpSpPr>
          <p:cNvPr id="1051" name="Google Shape;1051;p65"/>
          <p:cNvGrpSpPr/>
          <p:nvPr/>
        </p:nvGrpSpPr>
        <p:grpSpPr>
          <a:xfrm>
            <a:off x="1320313" y="2901275"/>
            <a:ext cx="1430074" cy="1721325"/>
            <a:chOff x="4696588" y="2940275"/>
            <a:chExt cx="1430074" cy="1721325"/>
          </a:xfrm>
        </p:grpSpPr>
        <p:sp>
          <p:nvSpPr>
            <p:cNvPr id="1052" name="Google Shape;1052;p65"/>
            <p:cNvSpPr/>
            <p:nvPr/>
          </p:nvSpPr>
          <p:spPr>
            <a:xfrm>
              <a:off x="5212963" y="2940275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053" name="Google Shape;1053;p65"/>
            <p:cNvCxnSpPr>
              <a:stCxn id="1054" idx="1"/>
              <a:endCxn id="1055" idx="5"/>
            </p:cNvCxnSpPr>
            <p:nvPr/>
          </p:nvCxnSpPr>
          <p:spPr>
            <a:xfrm rot="10800000">
              <a:off x="5068211" y="3961848"/>
              <a:ext cx="170400" cy="328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6" name="Google Shape;1056;p65"/>
            <p:cNvCxnSpPr>
              <a:stCxn id="1055" idx="7"/>
              <a:endCxn id="1052" idx="3"/>
            </p:cNvCxnSpPr>
            <p:nvPr/>
          </p:nvCxnSpPr>
          <p:spPr>
            <a:xfrm rot="10800000" flipH="1">
              <a:off x="5068140" y="3311973"/>
              <a:ext cx="208500" cy="342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7" name="Google Shape;1057;p65"/>
            <p:cNvCxnSpPr>
              <a:stCxn id="1058" idx="1"/>
              <a:endCxn id="1052" idx="5"/>
            </p:cNvCxnSpPr>
            <p:nvPr/>
          </p:nvCxnSpPr>
          <p:spPr>
            <a:xfrm rot="10800000">
              <a:off x="5584411" y="3311973"/>
              <a:ext cx="170700" cy="342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4" name="Google Shape;1054;p65"/>
            <p:cNvSpPr/>
            <p:nvPr/>
          </p:nvSpPr>
          <p:spPr>
            <a:xfrm>
              <a:off x="5174863" y="4226300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059" name="Google Shape;1059;p65"/>
            <p:cNvCxnSpPr>
              <a:stCxn id="1058" idx="3"/>
              <a:endCxn id="1054" idx="7"/>
            </p:cNvCxnSpPr>
            <p:nvPr/>
          </p:nvCxnSpPr>
          <p:spPr>
            <a:xfrm flipH="1">
              <a:off x="5546311" y="3961777"/>
              <a:ext cx="208800" cy="328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8" name="Google Shape;1058;p65"/>
            <p:cNvSpPr/>
            <p:nvPr/>
          </p:nvSpPr>
          <p:spPr>
            <a:xfrm>
              <a:off x="5691363" y="3590225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55" name="Google Shape;1055;p65"/>
            <p:cNvSpPr/>
            <p:nvPr/>
          </p:nvSpPr>
          <p:spPr>
            <a:xfrm>
              <a:off x="4696588" y="3590225"/>
              <a:ext cx="435300" cy="435300"/>
            </a:xfrm>
            <a:prstGeom prst="ellipse">
              <a:avLst/>
            </a:prstGeom>
            <a:solidFill>
              <a:srgbClr val="93C47D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060" name="Google Shape;1060;p65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simple graph is a graph with: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edges that connect a vertex to itself, i.e. no “length 1 loops”.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two edges that connect the same vertices, i.e. no “parallel edges”.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Green graph below is simple, pink graphs are not.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1" name="Google Shape;1061;p65"/>
          <p:cNvSpPr/>
          <p:nvPr/>
        </p:nvSpPr>
        <p:spPr>
          <a:xfrm>
            <a:off x="3685950" y="2774651"/>
            <a:ext cx="1752600" cy="21591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62" name="Google Shape;1062;p65"/>
          <p:cNvCxnSpPr>
            <a:stCxn id="1063" idx="3"/>
            <a:endCxn id="1064" idx="2"/>
          </p:cNvCxnSpPr>
          <p:nvPr/>
        </p:nvCxnSpPr>
        <p:spPr>
          <a:xfrm rot="-5400000" flipH="1">
            <a:off x="3873386" y="3952214"/>
            <a:ext cx="482100" cy="414600"/>
          </a:xfrm>
          <a:prstGeom prst="curvedConnector2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65" name="Google Shape;1065;p65"/>
          <p:cNvGrpSpPr/>
          <p:nvPr/>
        </p:nvGrpSpPr>
        <p:grpSpPr>
          <a:xfrm>
            <a:off x="3843388" y="2896963"/>
            <a:ext cx="1430074" cy="1721325"/>
            <a:chOff x="4696588" y="2940275"/>
            <a:chExt cx="1430074" cy="1721325"/>
          </a:xfrm>
        </p:grpSpPr>
        <p:sp>
          <p:nvSpPr>
            <p:cNvPr id="1066" name="Google Shape;1066;p65"/>
            <p:cNvSpPr/>
            <p:nvPr/>
          </p:nvSpPr>
          <p:spPr>
            <a:xfrm>
              <a:off x="5212963" y="2940275"/>
              <a:ext cx="435300" cy="435300"/>
            </a:xfrm>
            <a:prstGeom prst="ellipse">
              <a:avLst/>
            </a:prstGeom>
            <a:solidFill>
              <a:srgbClr val="EA9999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067" name="Google Shape;1067;p65"/>
            <p:cNvCxnSpPr>
              <a:stCxn id="1063" idx="7"/>
              <a:endCxn id="1066" idx="3"/>
            </p:cNvCxnSpPr>
            <p:nvPr/>
          </p:nvCxnSpPr>
          <p:spPr>
            <a:xfrm rot="10800000" flipH="1">
              <a:off x="5068140" y="3311973"/>
              <a:ext cx="208500" cy="342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8" name="Google Shape;1068;p65"/>
            <p:cNvCxnSpPr>
              <a:stCxn id="1069" idx="1"/>
              <a:endCxn id="1066" idx="5"/>
            </p:cNvCxnSpPr>
            <p:nvPr/>
          </p:nvCxnSpPr>
          <p:spPr>
            <a:xfrm rot="10800000">
              <a:off x="5584411" y="3311973"/>
              <a:ext cx="170700" cy="342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64" name="Google Shape;1064;p65"/>
            <p:cNvSpPr/>
            <p:nvPr/>
          </p:nvSpPr>
          <p:spPr>
            <a:xfrm>
              <a:off x="5174863" y="4226300"/>
              <a:ext cx="435300" cy="435300"/>
            </a:xfrm>
            <a:prstGeom prst="ellipse">
              <a:avLst/>
            </a:prstGeom>
            <a:solidFill>
              <a:srgbClr val="EA9999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070" name="Google Shape;1070;p65"/>
            <p:cNvCxnSpPr>
              <a:stCxn id="1069" idx="3"/>
              <a:endCxn id="1064" idx="7"/>
            </p:cNvCxnSpPr>
            <p:nvPr/>
          </p:nvCxnSpPr>
          <p:spPr>
            <a:xfrm flipH="1">
              <a:off x="5546311" y="3961777"/>
              <a:ext cx="208800" cy="328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69" name="Google Shape;1069;p65"/>
            <p:cNvSpPr/>
            <p:nvPr/>
          </p:nvSpPr>
          <p:spPr>
            <a:xfrm>
              <a:off x="5691363" y="3590225"/>
              <a:ext cx="435300" cy="435300"/>
            </a:xfrm>
            <a:prstGeom prst="ellipse">
              <a:avLst/>
            </a:prstGeom>
            <a:solidFill>
              <a:srgbClr val="EA9999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63" name="Google Shape;1063;p65"/>
            <p:cNvSpPr/>
            <p:nvPr/>
          </p:nvSpPr>
          <p:spPr>
            <a:xfrm>
              <a:off x="4696588" y="3590225"/>
              <a:ext cx="435300" cy="435300"/>
            </a:xfrm>
            <a:prstGeom prst="ellipse">
              <a:avLst/>
            </a:prstGeom>
            <a:solidFill>
              <a:srgbClr val="EA9999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cxnSp>
        <p:nvCxnSpPr>
          <p:cNvPr id="1071" name="Google Shape;1071;p65"/>
          <p:cNvCxnSpPr>
            <a:stCxn id="1063" idx="6"/>
            <a:endCxn id="1064" idx="0"/>
          </p:cNvCxnSpPr>
          <p:nvPr/>
        </p:nvCxnSpPr>
        <p:spPr>
          <a:xfrm>
            <a:off x="4278688" y="3764563"/>
            <a:ext cx="260700" cy="418500"/>
          </a:xfrm>
          <a:prstGeom prst="curvedConnector2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2" name="Google Shape;1072;p65"/>
          <p:cNvSpPr/>
          <p:nvPr/>
        </p:nvSpPr>
        <p:spPr>
          <a:xfrm>
            <a:off x="6221700" y="2770325"/>
            <a:ext cx="1752600" cy="21591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73" name="Google Shape;1073;p65"/>
          <p:cNvCxnSpPr>
            <a:stCxn id="1074" idx="4"/>
            <a:endCxn id="1074" idx="2"/>
          </p:cNvCxnSpPr>
          <p:nvPr/>
        </p:nvCxnSpPr>
        <p:spPr>
          <a:xfrm rot="5400000" flipH="1">
            <a:off x="6857563" y="4396475"/>
            <a:ext cx="217500" cy="217500"/>
          </a:xfrm>
          <a:prstGeom prst="curvedConnector4">
            <a:avLst>
              <a:gd name="adj1" fmla="val -109332"/>
              <a:gd name="adj2" fmla="val 209263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75" name="Google Shape;1075;p65"/>
          <p:cNvGrpSpPr/>
          <p:nvPr/>
        </p:nvGrpSpPr>
        <p:grpSpPr>
          <a:xfrm>
            <a:off x="6379138" y="2892650"/>
            <a:ext cx="1430074" cy="1721325"/>
            <a:chOff x="4696588" y="2940275"/>
            <a:chExt cx="1430074" cy="1721325"/>
          </a:xfrm>
        </p:grpSpPr>
        <p:sp>
          <p:nvSpPr>
            <p:cNvPr id="1076" name="Google Shape;1076;p65"/>
            <p:cNvSpPr/>
            <p:nvPr/>
          </p:nvSpPr>
          <p:spPr>
            <a:xfrm>
              <a:off x="5212963" y="2940275"/>
              <a:ext cx="435300" cy="435300"/>
            </a:xfrm>
            <a:prstGeom prst="ellipse">
              <a:avLst/>
            </a:prstGeom>
            <a:solidFill>
              <a:srgbClr val="EA9999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077" name="Google Shape;1077;p65"/>
            <p:cNvCxnSpPr>
              <a:stCxn id="1078" idx="7"/>
              <a:endCxn id="1076" idx="3"/>
            </p:cNvCxnSpPr>
            <p:nvPr/>
          </p:nvCxnSpPr>
          <p:spPr>
            <a:xfrm rot="10800000" flipH="1">
              <a:off x="5068140" y="3311973"/>
              <a:ext cx="208500" cy="342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9" name="Google Shape;1079;p65"/>
            <p:cNvCxnSpPr>
              <a:stCxn id="1080" idx="1"/>
              <a:endCxn id="1076" idx="5"/>
            </p:cNvCxnSpPr>
            <p:nvPr/>
          </p:nvCxnSpPr>
          <p:spPr>
            <a:xfrm rot="10800000">
              <a:off x="5584411" y="3311973"/>
              <a:ext cx="170700" cy="342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74" name="Google Shape;1074;p65"/>
            <p:cNvSpPr/>
            <p:nvPr/>
          </p:nvSpPr>
          <p:spPr>
            <a:xfrm>
              <a:off x="5174863" y="4226300"/>
              <a:ext cx="435300" cy="435300"/>
            </a:xfrm>
            <a:prstGeom prst="ellipse">
              <a:avLst/>
            </a:prstGeom>
            <a:solidFill>
              <a:srgbClr val="EA9999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081" name="Google Shape;1081;p65"/>
            <p:cNvCxnSpPr>
              <a:stCxn id="1080" idx="3"/>
              <a:endCxn id="1074" idx="7"/>
            </p:cNvCxnSpPr>
            <p:nvPr/>
          </p:nvCxnSpPr>
          <p:spPr>
            <a:xfrm flipH="1">
              <a:off x="5546311" y="3961777"/>
              <a:ext cx="208800" cy="328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80" name="Google Shape;1080;p65"/>
            <p:cNvSpPr/>
            <p:nvPr/>
          </p:nvSpPr>
          <p:spPr>
            <a:xfrm>
              <a:off x="5691363" y="3590225"/>
              <a:ext cx="435300" cy="435300"/>
            </a:xfrm>
            <a:prstGeom prst="ellipse">
              <a:avLst/>
            </a:prstGeom>
            <a:solidFill>
              <a:srgbClr val="EA9999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78" name="Google Shape;1078;p65"/>
            <p:cNvSpPr/>
            <p:nvPr/>
          </p:nvSpPr>
          <p:spPr>
            <a:xfrm>
              <a:off x="4696588" y="3590225"/>
              <a:ext cx="435300" cy="435300"/>
            </a:xfrm>
            <a:prstGeom prst="ellipse">
              <a:avLst/>
            </a:prstGeom>
            <a:solidFill>
              <a:srgbClr val="EA9999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cxnSp>
        <p:nvCxnSpPr>
          <p:cNvPr id="1082" name="Google Shape;1082;p65"/>
          <p:cNvCxnSpPr>
            <a:stCxn id="1078" idx="5"/>
            <a:endCxn id="1074" idx="1"/>
          </p:cNvCxnSpPr>
          <p:nvPr/>
        </p:nvCxnSpPr>
        <p:spPr>
          <a:xfrm>
            <a:off x="6750690" y="3914152"/>
            <a:ext cx="170400" cy="32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6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Definition</a:t>
            </a:r>
            <a:endParaRPr/>
          </a:p>
        </p:txBody>
      </p:sp>
      <p:sp>
        <p:nvSpPr>
          <p:cNvPr id="1088" name="Google Shape;1088;p66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simple graph is a graph with: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edges that connect a vertex to itself, i.e. no “loops”.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two edges that connect the same vertices, i.e. no “parallel edges”.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61B, </a:t>
            </a:r>
            <a:r>
              <a:rPr lang="en" b="1"/>
              <a:t>unless otherwise explicitly stated, all graphs will be simple.</a:t>
            </a:r>
            <a:endParaRPr b="1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other words, when we say “graph”, we mean “simple graph.”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6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Types</a:t>
            </a:r>
            <a:endParaRPr/>
          </a:p>
        </p:txBody>
      </p:sp>
      <p:sp>
        <p:nvSpPr>
          <p:cNvPr id="1094" name="Google Shape;1094;p67"/>
          <p:cNvSpPr/>
          <p:nvPr/>
        </p:nvSpPr>
        <p:spPr>
          <a:xfrm>
            <a:off x="1787775" y="1799311"/>
            <a:ext cx="393000" cy="393000"/>
          </a:xfrm>
          <a:prstGeom prst="ellipse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1095" name="Google Shape;1095;p67"/>
          <p:cNvSpPr/>
          <p:nvPr/>
        </p:nvSpPr>
        <p:spPr>
          <a:xfrm>
            <a:off x="2337350" y="1240431"/>
            <a:ext cx="393000" cy="393000"/>
          </a:xfrm>
          <a:prstGeom prst="ellipse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1096" name="Google Shape;1096;p67"/>
          <p:cNvSpPr/>
          <p:nvPr/>
        </p:nvSpPr>
        <p:spPr>
          <a:xfrm>
            <a:off x="2886926" y="1799311"/>
            <a:ext cx="393000" cy="393000"/>
          </a:xfrm>
          <a:prstGeom prst="ellipse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sp>
        <p:nvSpPr>
          <p:cNvPr id="1097" name="Google Shape;1097;p67"/>
          <p:cNvSpPr/>
          <p:nvPr/>
        </p:nvSpPr>
        <p:spPr>
          <a:xfrm>
            <a:off x="2337350" y="2306739"/>
            <a:ext cx="393000" cy="393000"/>
          </a:xfrm>
          <a:prstGeom prst="ellipse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cxnSp>
        <p:nvCxnSpPr>
          <p:cNvPr id="1098" name="Google Shape;1098;p67"/>
          <p:cNvCxnSpPr>
            <a:stCxn id="1094" idx="7"/>
            <a:endCxn id="1095" idx="3"/>
          </p:cNvCxnSpPr>
          <p:nvPr/>
        </p:nvCxnSpPr>
        <p:spPr>
          <a:xfrm rot="10800000" flipH="1">
            <a:off x="2123221" y="1575765"/>
            <a:ext cx="271800" cy="281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99" name="Google Shape;1099;p67"/>
          <p:cNvCxnSpPr>
            <a:stCxn id="1094" idx="5"/>
            <a:endCxn id="1097" idx="1"/>
          </p:cNvCxnSpPr>
          <p:nvPr/>
        </p:nvCxnSpPr>
        <p:spPr>
          <a:xfrm>
            <a:off x="2123221" y="2134758"/>
            <a:ext cx="271800" cy="229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00" name="Google Shape;1100;p67"/>
          <p:cNvCxnSpPr>
            <a:stCxn id="1095" idx="5"/>
            <a:endCxn id="1096" idx="1"/>
          </p:cNvCxnSpPr>
          <p:nvPr/>
        </p:nvCxnSpPr>
        <p:spPr>
          <a:xfrm>
            <a:off x="2672797" y="1575877"/>
            <a:ext cx="271800" cy="281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01" name="Google Shape;1101;p67"/>
          <p:cNvCxnSpPr>
            <a:stCxn id="1097" idx="7"/>
            <a:endCxn id="1096" idx="3"/>
          </p:cNvCxnSpPr>
          <p:nvPr/>
        </p:nvCxnSpPr>
        <p:spPr>
          <a:xfrm rot="10800000" flipH="1">
            <a:off x="2672797" y="2134793"/>
            <a:ext cx="271800" cy="229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02" name="Google Shape;1102;p67"/>
          <p:cNvSpPr/>
          <p:nvPr/>
        </p:nvSpPr>
        <p:spPr>
          <a:xfrm>
            <a:off x="4108310" y="1799311"/>
            <a:ext cx="393000" cy="393000"/>
          </a:xfrm>
          <a:prstGeom prst="ellipse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1103" name="Google Shape;1103;p67"/>
          <p:cNvSpPr/>
          <p:nvPr/>
        </p:nvSpPr>
        <p:spPr>
          <a:xfrm>
            <a:off x="4657886" y="1240431"/>
            <a:ext cx="393000" cy="393000"/>
          </a:xfrm>
          <a:prstGeom prst="ellipse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1104" name="Google Shape;1104;p67"/>
          <p:cNvSpPr/>
          <p:nvPr/>
        </p:nvSpPr>
        <p:spPr>
          <a:xfrm>
            <a:off x="5207461" y="1799311"/>
            <a:ext cx="393000" cy="393000"/>
          </a:xfrm>
          <a:prstGeom prst="ellipse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sp>
        <p:nvSpPr>
          <p:cNvPr id="1105" name="Google Shape;1105;p67"/>
          <p:cNvSpPr/>
          <p:nvPr/>
        </p:nvSpPr>
        <p:spPr>
          <a:xfrm>
            <a:off x="4657886" y="2306739"/>
            <a:ext cx="393000" cy="393000"/>
          </a:xfrm>
          <a:prstGeom prst="ellipse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cxnSp>
        <p:nvCxnSpPr>
          <p:cNvPr id="1106" name="Google Shape;1106;p67"/>
          <p:cNvCxnSpPr>
            <a:stCxn id="1102" idx="7"/>
            <a:endCxn id="1103" idx="3"/>
          </p:cNvCxnSpPr>
          <p:nvPr/>
        </p:nvCxnSpPr>
        <p:spPr>
          <a:xfrm rot="10800000" flipH="1">
            <a:off x="4443757" y="1575765"/>
            <a:ext cx="271800" cy="281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7" name="Google Shape;1107;p67"/>
          <p:cNvCxnSpPr>
            <a:stCxn id="1103" idx="5"/>
            <a:endCxn id="1104" idx="1"/>
          </p:cNvCxnSpPr>
          <p:nvPr/>
        </p:nvCxnSpPr>
        <p:spPr>
          <a:xfrm>
            <a:off x="4993332" y="1575877"/>
            <a:ext cx="271800" cy="281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8" name="Google Shape;1108;p67"/>
          <p:cNvCxnSpPr>
            <a:stCxn id="1105" idx="7"/>
            <a:endCxn id="1104" idx="3"/>
          </p:cNvCxnSpPr>
          <p:nvPr/>
        </p:nvCxnSpPr>
        <p:spPr>
          <a:xfrm rot="10800000" flipH="1">
            <a:off x="4993332" y="2134793"/>
            <a:ext cx="271800" cy="229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9" name="Google Shape;1109;p67"/>
          <p:cNvSpPr/>
          <p:nvPr/>
        </p:nvSpPr>
        <p:spPr>
          <a:xfrm>
            <a:off x="5658483" y="1240425"/>
            <a:ext cx="393000" cy="393000"/>
          </a:xfrm>
          <a:prstGeom prst="ellipse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1110" name="Google Shape;1110;p67"/>
          <p:cNvCxnSpPr>
            <a:stCxn id="1103" idx="6"/>
            <a:endCxn id="1109" idx="2"/>
          </p:cNvCxnSpPr>
          <p:nvPr/>
        </p:nvCxnSpPr>
        <p:spPr>
          <a:xfrm>
            <a:off x="5050886" y="1436931"/>
            <a:ext cx="607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1" name="Google Shape;1111;p67"/>
          <p:cNvSpPr/>
          <p:nvPr/>
        </p:nvSpPr>
        <p:spPr>
          <a:xfrm>
            <a:off x="1787775" y="3837455"/>
            <a:ext cx="393000" cy="393000"/>
          </a:xfrm>
          <a:prstGeom prst="ellipse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1112" name="Google Shape;1112;p67"/>
          <p:cNvSpPr/>
          <p:nvPr/>
        </p:nvSpPr>
        <p:spPr>
          <a:xfrm>
            <a:off x="2337350" y="3278575"/>
            <a:ext cx="393000" cy="393000"/>
          </a:xfrm>
          <a:prstGeom prst="ellipse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1113" name="Google Shape;1113;p67"/>
          <p:cNvSpPr/>
          <p:nvPr/>
        </p:nvSpPr>
        <p:spPr>
          <a:xfrm>
            <a:off x="2886926" y="3837455"/>
            <a:ext cx="393000" cy="393000"/>
          </a:xfrm>
          <a:prstGeom prst="ellipse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sp>
        <p:nvSpPr>
          <p:cNvPr id="1114" name="Google Shape;1114;p67"/>
          <p:cNvSpPr/>
          <p:nvPr/>
        </p:nvSpPr>
        <p:spPr>
          <a:xfrm>
            <a:off x="2337350" y="4344884"/>
            <a:ext cx="393000" cy="393000"/>
          </a:xfrm>
          <a:prstGeom prst="ellipse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cxnSp>
        <p:nvCxnSpPr>
          <p:cNvPr id="1115" name="Google Shape;1115;p67"/>
          <p:cNvCxnSpPr>
            <a:stCxn id="1111" idx="7"/>
            <a:endCxn id="1112" idx="3"/>
          </p:cNvCxnSpPr>
          <p:nvPr/>
        </p:nvCxnSpPr>
        <p:spPr>
          <a:xfrm rot="10800000" flipH="1">
            <a:off x="2123221" y="3613909"/>
            <a:ext cx="271800" cy="281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16" name="Google Shape;1116;p67"/>
          <p:cNvCxnSpPr>
            <a:stCxn id="1111" idx="5"/>
            <a:endCxn id="1114" idx="1"/>
          </p:cNvCxnSpPr>
          <p:nvPr/>
        </p:nvCxnSpPr>
        <p:spPr>
          <a:xfrm>
            <a:off x="2123221" y="4172902"/>
            <a:ext cx="271800" cy="229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117" name="Google Shape;1117;p67"/>
          <p:cNvCxnSpPr>
            <a:stCxn id="1112" idx="5"/>
            <a:endCxn id="1113" idx="1"/>
          </p:cNvCxnSpPr>
          <p:nvPr/>
        </p:nvCxnSpPr>
        <p:spPr>
          <a:xfrm>
            <a:off x="2672797" y="3614021"/>
            <a:ext cx="271800" cy="281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18" name="Google Shape;1118;p67"/>
          <p:cNvCxnSpPr>
            <a:stCxn id="1114" idx="7"/>
            <a:endCxn id="1113" idx="3"/>
          </p:cNvCxnSpPr>
          <p:nvPr/>
        </p:nvCxnSpPr>
        <p:spPr>
          <a:xfrm rot="10800000" flipH="1">
            <a:off x="2672797" y="4172937"/>
            <a:ext cx="271800" cy="229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119" name="Google Shape;1119;p67"/>
          <p:cNvSpPr/>
          <p:nvPr/>
        </p:nvSpPr>
        <p:spPr>
          <a:xfrm>
            <a:off x="4383072" y="3837455"/>
            <a:ext cx="393000" cy="393000"/>
          </a:xfrm>
          <a:prstGeom prst="ellipse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1120" name="Google Shape;1120;p67"/>
          <p:cNvSpPr/>
          <p:nvPr/>
        </p:nvSpPr>
        <p:spPr>
          <a:xfrm>
            <a:off x="4932648" y="3278575"/>
            <a:ext cx="393000" cy="393000"/>
          </a:xfrm>
          <a:prstGeom prst="ellipse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1121" name="Google Shape;1121;p67"/>
          <p:cNvSpPr/>
          <p:nvPr/>
        </p:nvSpPr>
        <p:spPr>
          <a:xfrm>
            <a:off x="5482223" y="3837455"/>
            <a:ext cx="393000" cy="393000"/>
          </a:xfrm>
          <a:prstGeom prst="ellipse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sp>
        <p:nvSpPr>
          <p:cNvPr id="1122" name="Google Shape;1122;p67"/>
          <p:cNvSpPr/>
          <p:nvPr/>
        </p:nvSpPr>
        <p:spPr>
          <a:xfrm>
            <a:off x="4932648" y="4344884"/>
            <a:ext cx="393000" cy="393000"/>
          </a:xfrm>
          <a:prstGeom prst="ellipse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cxnSp>
        <p:nvCxnSpPr>
          <p:cNvPr id="1123" name="Google Shape;1123;p67"/>
          <p:cNvCxnSpPr>
            <a:stCxn id="1119" idx="7"/>
            <a:endCxn id="1120" idx="3"/>
          </p:cNvCxnSpPr>
          <p:nvPr/>
        </p:nvCxnSpPr>
        <p:spPr>
          <a:xfrm rot="10800000" flipH="1">
            <a:off x="4718519" y="3613909"/>
            <a:ext cx="271800" cy="281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4" name="Google Shape;1124;p67"/>
          <p:cNvCxnSpPr>
            <a:stCxn id="1119" idx="5"/>
            <a:endCxn id="1122" idx="1"/>
          </p:cNvCxnSpPr>
          <p:nvPr/>
        </p:nvCxnSpPr>
        <p:spPr>
          <a:xfrm>
            <a:off x="4718519" y="4172902"/>
            <a:ext cx="271800" cy="229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5" name="Google Shape;1125;p67"/>
          <p:cNvCxnSpPr>
            <a:stCxn id="1120" idx="5"/>
            <a:endCxn id="1121" idx="1"/>
          </p:cNvCxnSpPr>
          <p:nvPr/>
        </p:nvCxnSpPr>
        <p:spPr>
          <a:xfrm>
            <a:off x="5268094" y="3614021"/>
            <a:ext cx="271800" cy="281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6" name="Google Shape;1126;p67"/>
          <p:cNvCxnSpPr>
            <a:stCxn id="1122" idx="7"/>
            <a:endCxn id="1121" idx="3"/>
          </p:cNvCxnSpPr>
          <p:nvPr/>
        </p:nvCxnSpPr>
        <p:spPr>
          <a:xfrm rot="10800000" flipH="1">
            <a:off x="5268094" y="4172937"/>
            <a:ext cx="271800" cy="229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7" name="Google Shape;1127;p67"/>
          <p:cNvSpPr txBox="1"/>
          <p:nvPr/>
        </p:nvSpPr>
        <p:spPr>
          <a:xfrm>
            <a:off x="73675" y="1695350"/>
            <a:ext cx="1212600" cy="6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Acyclic: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67"/>
          <p:cNvSpPr txBox="1"/>
          <p:nvPr/>
        </p:nvSpPr>
        <p:spPr>
          <a:xfrm>
            <a:off x="150275" y="3699900"/>
            <a:ext cx="1212600" cy="6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Cyclic: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67"/>
          <p:cNvSpPr txBox="1"/>
          <p:nvPr/>
        </p:nvSpPr>
        <p:spPr>
          <a:xfrm>
            <a:off x="1927550" y="553450"/>
            <a:ext cx="1403700" cy="6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Directed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67"/>
          <p:cNvSpPr txBox="1"/>
          <p:nvPr/>
        </p:nvSpPr>
        <p:spPr>
          <a:xfrm>
            <a:off x="4347975" y="541045"/>
            <a:ext cx="1645800" cy="6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Undirected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67"/>
          <p:cNvSpPr txBox="1"/>
          <p:nvPr/>
        </p:nvSpPr>
        <p:spPr>
          <a:xfrm>
            <a:off x="6597525" y="1513125"/>
            <a:ext cx="2383200" cy="6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With Edge Labels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67"/>
          <p:cNvSpPr/>
          <p:nvPr/>
        </p:nvSpPr>
        <p:spPr>
          <a:xfrm>
            <a:off x="7367123" y="2134756"/>
            <a:ext cx="393000" cy="393000"/>
          </a:xfrm>
          <a:prstGeom prst="ellipse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1133" name="Google Shape;1133;p67"/>
          <p:cNvSpPr/>
          <p:nvPr/>
        </p:nvSpPr>
        <p:spPr>
          <a:xfrm>
            <a:off x="7916698" y="2693636"/>
            <a:ext cx="393000" cy="393000"/>
          </a:xfrm>
          <a:prstGeom prst="ellipse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sp>
        <p:nvSpPr>
          <p:cNvPr id="1134" name="Google Shape;1134;p67"/>
          <p:cNvSpPr/>
          <p:nvPr/>
        </p:nvSpPr>
        <p:spPr>
          <a:xfrm>
            <a:off x="7367123" y="3201064"/>
            <a:ext cx="393000" cy="393000"/>
          </a:xfrm>
          <a:prstGeom prst="ellipse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cxnSp>
        <p:nvCxnSpPr>
          <p:cNvPr id="1135" name="Google Shape;1135;p67"/>
          <p:cNvCxnSpPr>
            <a:stCxn id="1132" idx="5"/>
            <a:endCxn id="1133" idx="1"/>
          </p:cNvCxnSpPr>
          <p:nvPr/>
        </p:nvCxnSpPr>
        <p:spPr>
          <a:xfrm>
            <a:off x="7702570" y="2470202"/>
            <a:ext cx="271800" cy="281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6" name="Google Shape;1136;p67"/>
          <p:cNvCxnSpPr>
            <a:stCxn id="1134" idx="7"/>
            <a:endCxn id="1133" idx="3"/>
          </p:cNvCxnSpPr>
          <p:nvPr/>
        </p:nvCxnSpPr>
        <p:spPr>
          <a:xfrm rot="10800000" flipH="1">
            <a:off x="7702570" y="3029118"/>
            <a:ext cx="271800" cy="229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37" name="Google Shape;1137;p67"/>
          <p:cNvSpPr/>
          <p:nvPr/>
        </p:nvSpPr>
        <p:spPr>
          <a:xfrm>
            <a:off x="8367721" y="2134750"/>
            <a:ext cx="393000" cy="393000"/>
          </a:xfrm>
          <a:prstGeom prst="ellipse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1138" name="Google Shape;1138;p67"/>
          <p:cNvCxnSpPr>
            <a:stCxn id="1132" idx="6"/>
            <a:endCxn id="1137" idx="2"/>
          </p:cNvCxnSpPr>
          <p:nvPr/>
        </p:nvCxnSpPr>
        <p:spPr>
          <a:xfrm>
            <a:off x="7760123" y="2331256"/>
            <a:ext cx="607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39" name="Google Shape;1139;p67"/>
          <p:cNvSpPr/>
          <p:nvPr/>
        </p:nvSpPr>
        <p:spPr>
          <a:xfrm>
            <a:off x="6817548" y="2693636"/>
            <a:ext cx="393000" cy="393000"/>
          </a:xfrm>
          <a:prstGeom prst="ellipse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1140" name="Google Shape;1140;p67"/>
          <p:cNvSpPr txBox="1"/>
          <p:nvPr/>
        </p:nvSpPr>
        <p:spPr>
          <a:xfrm>
            <a:off x="7009550" y="2349150"/>
            <a:ext cx="2718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cxnSp>
        <p:nvCxnSpPr>
          <p:cNvPr id="1141" name="Google Shape;1141;p67"/>
          <p:cNvCxnSpPr>
            <a:stCxn id="1139" idx="7"/>
            <a:endCxn id="1132" idx="3"/>
          </p:cNvCxnSpPr>
          <p:nvPr/>
        </p:nvCxnSpPr>
        <p:spPr>
          <a:xfrm rot="10800000" flipH="1">
            <a:off x="7152994" y="2470090"/>
            <a:ext cx="271800" cy="281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2" name="Google Shape;1142;p67"/>
          <p:cNvSpPr txBox="1"/>
          <p:nvPr/>
        </p:nvSpPr>
        <p:spPr>
          <a:xfrm>
            <a:off x="7653225" y="2814050"/>
            <a:ext cx="2718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143" name="Google Shape;1143;p67"/>
          <p:cNvSpPr txBox="1"/>
          <p:nvPr/>
        </p:nvSpPr>
        <p:spPr>
          <a:xfrm>
            <a:off x="7928025" y="2038939"/>
            <a:ext cx="2718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144" name="Google Shape;1144;p67"/>
          <p:cNvSpPr txBox="1"/>
          <p:nvPr/>
        </p:nvSpPr>
        <p:spPr>
          <a:xfrm>
            <a:off x="7772992" y="2334528"/>
            <a:ext cx="2718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6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Terminology</a:t>
            </a:r>
            <a:endParaRPr/>
          </a:p>
        </p:txBody>
      </p:sp>
      <p:sp>
        <p:nvSpPr>
          <p:cNvPr id="1150" name="Google Shape;1150;p6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5861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6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Graph:</a:t>
            </a:r>
            <a:endParaRPr sz="1700"/>
          </a:p>
          <a:p>
            <a:pPr marL="914400" lvl="1" indent="-336550" algn="l" rtl="0">
              <a:spcBef>
                <a:spcPts val="60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Set of </a:t>
            </a:r>
            <a:r>
              <a:rPr lang="en" sz="1700" b="1" i="1"/>
              <a:t>vertices</a:t>
            </a:r>
            <a:r>
              <a:rPr lang="en" sz="1700"/>
              <a:t>, a.k.a. </a:t>
            </a:r>
            <a:r>
              <a:rPr lang="en" sz="1700" b="1" i="1"/>
              <a:t>nodes</a:t>
            </a:r>
            <a:r>
              <a:rPr lang="en" sz="1700"/>
              <a:t>.</a:t>
            </a:r>
            <a:endParaRPr sz="1700"/>
          </a:p>
          <a:p>
            <a:pPr marL="914400" lvl="1" indent="-336550" algn="l" rtl="0">
              <a:spcBef>
                <a:spcPts val="60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Set of </a:t>
            </a:r>
            <a:r>
              <a:rPr lang="en" sz="1700" b="1" i="1"/>
              <a:t>edges</a:t>
            </a:r>
            <a:r>
              <a:rPr lang="en" sz="1700"/>
              <a:t>: Pairs of vertices.</a:t>
            </a:r>
            <a:endParaRPr sz="1700"/>
          </a:p>
          <a:p>
            <a:pPr marL="914400" lvl="1" indent="-336550" algn="l" rtl="0">
              <a:spcBef>
                <a:spcPts val="60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Vertices with an edge between are </a:t>
            </a:r>
            <a:r>
              <a:rPr lang="en" sz="1700" b="1" i="1"/>
              <a:t>adjacent</a:t>
            </a:r>
            <a:r>
              <a:rPr lang="en" sz="1700"/>
              <a:t>.</a:t>
            </a:r>
            <a:endParaRPr sz="1700"/>
          </a:p>
          <a:p>
            <a:pPr marL="914400" lvl="1" indent="-336550" algn="l" rtl="0">
              <a:spcBef>
                <a:spcPts val="60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Optional: Vertices or edges may have </a:t>
            </a:r>
            <a:r>
              <a:rPr lang="en" sz="1700" b="1" i="1"/>
              <a:t>labels</a:t>
            </a:r>
            <a:r>
              <a:rPr lang="en" sz="1700"/>
              <a:t> (or </a:t>
            </a:r>
            <a:r>
              <a:rPr lang="en" sz="1700" b="1" i="1"/>
              <a:t>weights</a:t>
            </a:r>
            <a:r>
              <a:rPr lang="en" sz="1700"/>
              <a:t>).</a:t>
            </a:r>
            <a:endParaRPr sz="1700"/>
          </a:p>
          <a:p>
            <a:pPr marL="457200" lvl="0" indent="-336550" algn="l" rtl="0">
              <a:spcBef>
                <a:spcPts val="6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 </a:t>
            </a:r>
            <a:r>
              <a:rPr lang="en" sz="1700" b="1" i="1"/>
              <a:t>path</a:t>
            </a:r>
            <a:r>
              <a:rPr lang="en" sz="1700"/>
              <a:t> is a sequence of vertices connected by edges.</a:t>
            </a:r>
            <a:endParaRPr sz="1700"/>
          </a:p>
          <a:p>
            <a:pPr marL="914400" lvl="1" indent="-336550" algn="l" rtl="0">
              <a:spcBef>
                <a:spcPts val="60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A </a:t>
            </a:r>
            <a:r>
              <a:rPr lang="en" sz="1700" b="1" i="1"/>
              <a:t>simple path</a:t>
            </a:r>
            <a:r>
              <a:rPr lang="en" sz="1700"/>
              <a:t> is a path without repeated vertices.</a:t>
            </a:r>
            <a:endParaRPr sz="1700"/>
          </a:p>
          <a:p>
            <a:pPr marL="457200" lvl="0" indent="-336550" algn="l" rtl="0">
              <a:spcBef>
                <a:spcPts val="6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 </a:t>
            </a:r>
            <a:r>
              <a:rPr lang="en" sz="1700" b="1" i="1"/>
              <a:t>cycle</a:t>
            </a:r>
            <a:r>
              <a:rPr lang="en" sz="1700"/>
              <a:t> is a path whose first and last vertices are the same.</a:t>
            </a:r>
            <a:endParaRPr sz="1700"/>
          </a:p>
          <a:p>
            <a:pPr marL="914400" lvl="1" indent="-336550" algn="l" rtl="0">
              <a:spcBef>
                <a:spcPts val="60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A graph with a cycle is ‘cyclic’.</a:t>
            </a:r>
            <a:endParaRPr sz="1700"/>
          </a:p>
          <a:p>
            <a:pPr marL="457200" lvl="0" indent="-336550" algn="l" rtl="0">
              <a:spcBef>
                <a:spcPts val="6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Two vertices are </a:t>
            </a:r>
            <a:r>
              <a:rPr lang="en" sz="1700" b="1" i="1"/>
              <a:t>connected</a:t>
            </a:r>
            <a:r>
              <a:rPr lang="en" sz="1700"/>
              <a:t> if there is a path between them. If all vertices are connected, we say the graph is connected.</a:t>
            </a:r>
            <a:endParaRPr sz="1700"/>
          </a:p>
        </p:txBody>
      </p:sp>
      <p:pic>
        <p:nvPicPr>
          <p:cNvPr id="1151" name="Google Shape;115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5950" y="737925"/>
            <a:ext cx="3409950" cy="409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2" name="Google Shape;1152;p68"/>
          <p:cNvSpPr txBox="1"/>
          <p:nvPr/>
        </p:nvSpPr>
        <p:spPr>
          <a:xfrm>
            <a:off x="5685915" y="4757475"/>
            <a:ext cx="3504900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Figure from Algorithms 4th Edition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1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1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1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1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"/>
                                        <p:tgtEl>
                                          <p:spTgt spid="1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"/>
                                        <p:tgtEl>
                                          <p:spTgt spid="11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"/>
                                        <p:tgtEl>
                                          <p:spTgt spid="11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"/>
                                        <p:tgtEl>
                                          <p:spTgt spid="11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"/>
                                        <p:tgtEl>
                                          <p:spTgt spid="11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6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Example: The Paris Metro</a:t>
            </a:r>
            <a:endParaRPr/>
          </a:p>
        </p:txBody>
      </p:sp>
      <p:sp>
        <p:nvSpPr>
          <p:cNvPr id="1158" name="Google Shape;1158;p69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schematic map of the Paris Metro is a graph: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Undirected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Connected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Cyclic (not a tree!)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Vertex-labeled (each has a color).</a:t>
            </a:r>
            <a:br>
              <a:rPr lang="en"/>
            </a:br>
            <a:endParaRPr/>
          </a:p>
        </p:txBody>
      </p:sp>
      <p:pic>
        <p:nvPicPr>
          <p:cNvPr id="1159" name="Google Shape;1159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1988" y="1467625"/>
            <a:ext cx="5632124" cy="348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4" name="Google Shape;116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9350" y="623924"/>
            <a:ext cx="6635401" cy="411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70"/>
          <p:cNvSpPr txBox="1"/>
          <p:nvPr/>
        </p:nvSpPr>
        <p:spPr>
          <a:xfrm>
            <a:off x="290475" y="4723550"/>
            <a:ext cx="85377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 captures ‘is-a-type-of’ relationship. Example: descent is-a-type-of movement.</a:t>
            </a:r>
            <a:endParaRPr/>
          </a:p>
        </p:txBody>
      </p:sp>
      <p:sp>
        <p:nvSpPr>
          <p:cNvPr id="1166" name="Google Shape;1166;p70"/>
          <p:cNvSpPr txBox="1"/>
          <p:nvPr/>
        </p:nvSpPr>
        <p:spPr>
          <a:xfrm>
            <a:off x="7020500" y="438775"/>
            <a:ext cx="19890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a tree!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Two paths from group_action to event.</a:t>
            </a:r>
            <a:endParaRPr/>
          </a:p>
        </p:txBody>
      </p:sp>
      <p:sp>
        <p:nvSpPr>
          <p:cNvPr id="1167" name="Google Shape;1167;p7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 Example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71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22, CS61B, Fall 2023</a:t>
            </a:r>
            <a:endParaRPr/>
          </a:p>
        </p:txBody>
      </p:sp>
      <p:sp>
        <p:nvSpPr>
          <p:cNvPr id="1173" name="Google Shape;1173;p71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Trees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Tree Definition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Tree Traversals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Usefulness of Tree Traversals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Graphs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Graph Definition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Some Famous Graph Problems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Graph Traversals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Motivation: s-t Connectivity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Depth First Search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Tree vs. Graph Traversals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Challenge: Invent Breadth First</a:t>
            </a:r>
            <a:br>
              <a:rPr lang="en"/>
            </a:br>
            <a:r>
              <a:rPr lang="en"/>
              <a:t>Search</a:t>
            </a:r>
            <a:endParaRPr/>
          </a:p>
        </p:txBody>
      </p:sp>
      <p:sp>
        <p:nvSpPr>
          <p:cNvPr id="1174" name="Google Shape;1174;p71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Famous Graph Problems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72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There are lots of interesting questions we can ask about a graph: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the shortest route from S to T? What is the longest without cycles?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 there cycles?</a:t>
            </a:r>
            <a:endParaRPr/>
          </a:p>
        </p:txBody>
      </p:sp>
      <p:pic>
        <p:nvPicPr>
          <p:cNvPr id="1180" name="Google Shape;118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1988" y="1467625"/>
            <a:ext cx="5632124" cy="348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1" name="Google Shape;1181;p7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Queries</a:t>
            </a:r>
            <a:endParaRPr/>
          </a:p>
        </p:txBody>
      </p:sp>
      <p:sp>
        <p:nvSpPr>
          <p:cNvPr id="1182" name="Google Shape;1182;p72"/>
          <p:cNvSpPr txBox="1">
            <a:spLocks noGrp="1"/>
          </p:cNvSpPr>
          <p:nvPr>
            <p:ph type="body" idx="1"/>
          </p:nvPr>
        </p:nvSpPr>
        <p:spPr>
          <a:xfrm>
            <a:off x="243000" y="1543850"/>
            <a:ext cx="4252200" cy="318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there a tour you can take that only uses each node (station) exactly once?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there a tour that uses each edge exactly once?</a:t>
            </a:r>
            <a:endParaRPr/>
          </a:p>
        </p:txBody>
      </p:sp>
      <p:sp>
        <p:nvSpPr>
          <p:cNvPr id="1183" name="Google Shape;1183;p72"/>
          <p:cNvSpPr txBox="1"/>
          <p:nvPr/>
        </p:nvSpPr>
        <p:spPr>
          <a:xfrm>
            <a:off x="8493576" y="3122898"/>
            <a:ext cx="906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cxnSp>
        <p:nvCxnSpPr>
          <p:cNvPr id="1184" name="Google Shape;1184;p72"/>
          <p:cNvCxnSpPr/>
          <p:nvPr/>
        </p:nvCxnSpPr>
        <p:spPr>
          <a:xfrm rot="10800000">
            <a:off x="8216901" y="3122898"/>
            <a:ext cx="310800" cy="15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85" name="Google Shape;1185;p72"/>
          <p:cNvSpPr txBox="1"/>
          <p:nvPr/>
        </p:nvSpPr>
        <p:spPr>
          <a:xfrm>
            <a:off x="5261399" y="2857823"/>
            <a:ext cx="906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cxnSp>
        <p:nvCxnSpPr>
          <p:cNvPr id="1186" name="Google Shape;1186;p72"/>
          <p:cNvCxnSpPr/>
          <p:nvPr/>
        </p:nvCxnSpPr>
        <p:spPr>
          <a:xfrm rot="10800000" flipH="1">
            <a:off x="5547799" y="2931298"/>
            <a:ext cx="755700" cy="11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7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Queries More Theoretically</a:t>
            </a:r>
            <a:endParaRPr/>
          </a:p>
        </p:txBody>
      </p:sp>
      <p:sp>
        <p:nvSpPr>
          <p:cNvPr id="1192" name="Google Shape;1192;p73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 well known graph problems and their common names: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s-t Path</a:t>
            </a:r>
            <a:r>
              <a:rPr lang="en"/>
              <a:t>. Is there a path between vertices s and t?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Connectivity. </a:t>
            </a:r>
            <a:r>
              <a:rPr lang="en"/>
              <a:t>Is the graph connected, i.e. is there a path between all vertices?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Biconnectivity. </a:t>
            </a:r>
            <a:r>
              <a:rPr lang="en"/>
              <a:t>Is there a vertex whose removal disconnects the graph?</a:t>
            </a:r>
            <a:endParaRPr b="1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Shortest s-t Path. </a:t>
            </a:r>
            <a:r>
              <a:rPr lang="en"/>
              <a:t>What is the shortest path between vertices s and t?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Cycle Detection.</a:t>
            </a:r>
            <a:r>
              <a:rPr lang="en"/>
              <a:t> Does the graph contain any cycles?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Euler Tour.</a:t>
            </a:r>
            <a:r>
              <a:rPr lang="en"/>
              <a:t> Is there a cycle that uses every edge exactly once?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Hamilton Tour. </a:t>
            </a:r>
            <a:r>
              <a:rPr lang="en"/>
              <a:t>Is there a cycle that uses every vertex exactly once?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Planarity</a:t>
            </a:r>
            <a:r>
              <a:rPr lang="en"/>
              <a:t>. Can you draw the graph on paper with no crossing edges?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Isomorphism</a:t>
            </a:r>
            <a:r>
              <a:rPr lang="en"/>
              <a:t>. Are two graphs isomorphic (the same graph in disguise)?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Often can’t tell how difficult a graph problem is without very deep consideration.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1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1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11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11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"/>
                                        <p:tgtEl>
                                          <p:spTgt spid="11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"/>
                                        <p:tgtEl>
                                          <p:spTgt spid="11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"/>
                                        <p:tgtEl>
                                          <p:spTgt spid="11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"/>
                                        <p:tgtEl>
                                          <p:spTgt spid="11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"/>
                                        <p:tgtEl>
                                          <p:spTgt spid="11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"/>
                                        <p:tgtEl>
                                          <p:spTgt spid="11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"/>
                                        <p:tgtEl>
                                          <p:spTgt spid="119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7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Problem Difficulty</a:t>
            </a:r>
            <a:endParaRPr/>
          </a:p>
        </p:txBody>
      </p:sp>
      <p:sp>
        <p:nvSpPr>
          <p:cNvPr id="1198" name="Google Shape;1198;p74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 well known graph problems: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Euler Tour.</a:t>
            </a:r>
            <a:r>
              <a:rPr lang="en"/>
              <a:t> Is there a cycle that uses every edge exactly once?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Hamilton Tour. </a:t>
            </a:r>
            <a:r>
              <a:rPr lang="en"/>
              <a:t>Is there a cycle that uses every vertex exactly once?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Difficulty can be deceiving.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efficient Euler tour algorithm O(# edges) was found as early as 1873 [</a:t>
            </a:r>
            <a:r>
              <a:rPr lang="en" u="sng">
                <a:solidFill>
                  <a:schemeClr val="hlink"/>
                </a:solidFill>
                <a:hlinkClick r:id="rId3"/>
              </a:rPr>
              <a:t>Link</a:t>
            </a:r>
            <a:r>
              <a:rPr lang="en"/>
              <a:t>].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Despite decades of intense study, no efficient algorithm for a Hamilton tour exists. Best algorithms are exponential time.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Graph problems are among the most mathematically rich areas of CS theory.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1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1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1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11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"/>
                                        <p:tgtEl>
                                          <p:spTgt spid="11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"/>
                                        <p:tgtEl>
                                          <p:spTgt spid="11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"/>
                                        <p:tgtEl>
                                          <p:spTgt spid="11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"/>
                                        <p:tgtEl>
                                          <p:spTgt spid="11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7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22, CS61B, Fall 2023</a:t>
            </a:r>
            <a:endParaRPr/>
          </a:p>
        </p:txBody>
      </p:sp>
      <p:sp>
        <p:nvSpPr>
          <p:cNvPr id="1204" name="Google Shape;1204;p75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Trees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Tree Definition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Tree Traversals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Usefulness of Tree Traversals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Graphs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Graph Definition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Some Famous Graph Problems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Graph Traversals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Motivation: s-t Connectivity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Depth First Search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Tree vs. Graph Traversals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Challenge: Invent Breadth First</a:t>
            </a:r>
            <a:br>
              <a:rPr lang="en"/>
            </a:br>
            <a:r>
              <a:rPr lang="en"/>
              <a:t>Search</a:t>
            </a:r>
            <a:endParaRPr/>
          </a:p>
        </p:txBody>
      </p:sp>
      <p:sp>
        <p:nvSpPr>
          <p:cNvPr id="1205" name="Google Shape;1205;p7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 for Graph Traversals: s-t Connectivity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7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s-t Connectivity</a:t>
            </a:r>
            <a:endParaRPr/>
          </a:p>
        </p:txBody>
      </p:sp>
      <p:sp>
        <p:nvSpPr>
          <p:cNvPr id="1211" name="Google Shape;1211;p76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Let’s solve a classic graph problem called the s-t connectivity problem.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source vertex s and a target vertex t, is there a path between s and t?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Requires us to traverse the graph somehow.</a:t>
            </a:r>
            <a:endParaRPr/>
          </a:p>
        </p:txBody>
      </p:sp>
      <p:sp>
        <p:nvSpPr>
          <p:cNvPr id="1212" name="Google Shape;1212;p76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213" name="Google Shape;1213;p76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214" name="Google Shape;1214;p76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215" name="Google Shape;1215;p76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216" name="Google Shape;1216;p76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217" name="Google Shape;1217;p76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218" name="Google Shape;1218;p76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7</a:t>
            </a:r>
            <a:endParaRPr b="1"/>
          </a:p>
        </p:txBody>
      </p:sp>
      <p:sp>
        <p:nvSpPr>
          <p:cNvPr id="1219" name="Google Shape;1219;p76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220" name="Google Shape;1220;p76"/>
          <p:cNvCxnSpPr>
            <a:stCxn id="1212" idx="2"/>
            <a:endCxn id="1213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1" name="Google Shape;1221;p76"/>
          <p:cNvCxnSpPr>
            <a:stCxn id="1212" idx="3"/>
            <a:endCxn id="1215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2" name="Google Shape;1222;p76"/>
          <p:cNvCxnSpPr>
            <a:stCxn id="1214" idx="2"/>
            <a:endCxn id="1215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3" name="Google Shape;1223;p76"/>
          <p:cNvCxnSpPr>
            <a:stCxn id="1217" idx="2"/>
            <a:endCxn id="1218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4" name="Google Shape;1224;p76"/>
          <p:cNvCxnSpPr>
            <a:stCxn id="1217" idx="2"/>
            <a:endCxn id="1216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5" name="Google Shape;1225;p76"/>
          <p:cNvCxnSpPr>
            <a:stCxn id="1215" idx="2"/>
            <a:endCxn id="1216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6" name="Google Shape;1226;p76"/>
          <p:cNvCxnSpPr>
            <a:stCxn id="1213" idx="3"/>
            <a:endCxn id="1216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7" name="Google Shape;1227;p76"/>
          <p:cNvCxnSpPr>
            <a:stCxn id="1216" idx="2"/>
            <a:endCxn id="1219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8" name="Google Shape;1228;p76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</a:t>
            </a:r>
            <a:endParaRPr b="1"/>
          </a:p>
        </p:txBody>
      </p:sp>
      <p:cxnSp>
        <p:nvCxnSpPr>
          <p:cNvPr id="1229" name="Google Shape;1229;p76"/>
          <p:cNvCxnSpPr>
            <a:stCxn id="1228" idx="3"/>
            <a:endCxn id="1212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30" name="Google Shape;1230;p76"/>
          <p:cNvSpPr txBox="1"/>
          <p:nvPr/>
        </p:nvSpPr>
        <p:spPr>
          <a:xfrm>
            <a:off x="5379325" y="3394191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231" name="Google Shape;1231;p76"/>
          <p:cNvSpPr txBox="1"/>
          <p:nvPr/>
        </p:nvSpPr>
        <p:spPr>
          <a:xfrm>
            <a:off x="8360475" y="4021756"/>
            <a:ext cx="4119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AF8"/>
        </a:solidFill>
        <a:effectLst/>
      </p:bgPr>
    </p:bg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7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s-t Connectivity</a:t>
            </a:r>
            <a:endParaRPr/>
          </a:p>
        </p:txBody>
      </p:sp>
      <p:sp>
        <p:nvSpPr>
          <p:cNvPr id="1237" name="Google Shape;1237;p77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Let’s solve a classic graph problem called the s-t connectivity problem.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source vertex s and a target vertex t, is there a path between s and t?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Requires us to traverse the graph somehow.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Try to come up with an algorithm for connected(s, t).</a:t>
            </a:r>
            <a:endParaRPr/>
          </a:p>
        </p:txBody>
      </p:sp>
      <p:sp>
        <p:nvSpPr>
          <p:cNvPr id="1238" name="Google Shape;1238;p77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239" name="Google Shape;1239;p77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240" name="Google Shape;1240;p77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241" name="Google Shape;1241;p77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242" name="Google Shape;1242;p77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243" name="Google Shape;1243;p77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244" name="Google Shape;1244;p77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7</a:t>
            </a:r>
            <a:endParaRPr b="1"/>
          </a:p>
        </p:txBody>
      </p:sp>
      <p:sp>
        <p:nvSpPr>
          <p:cNvPr id="1245" name="Google Shape;1245;p77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246" name="Google Shape;1246;p77"/>
          <p:cNvCxnSpPr>
            <a:stCxn id="1238" idx="2"/>
            <a:endCxn id="1239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7" name="Google Shape;1247;p77"/>
          <p:cNvCxnSpPr>
            <a:stCxn id="1238" idx="3"/>
            <a:endCxn id="1241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8" name="Google Shape;1248;p77"/>
          <p:cNvCxnSpPr>
            <a:stCxn id="1240" idx="2"/>
            <a:endCxn id="1241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9" name="Google Shape;1249;p77"/>
          <p:cNvCxnSpPr>
            <a:stCxn id="1243" idx="2"/>
            <a:endCxn id="1244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0" name="Google Shape;1250;p77"/>
          <p:cNvCxnSpPr>
            <a:stCxn id="1243" idx="2"/>
            <a:endCxn id="1242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1" name="Google Shape;1251;p77"/>
          <p:cNvCxnSpPr>
            <a:stCxn id="1241" idx="2"/>
            <a:endCxn id="1242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2" name="Google Shape;1252;p77"/>
          <p:cNvCxnSpPr>
            <a:stCxn id="1239" idx="3"/>
            <a:endCxn id="1242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3" name="Google Shape;1253;p77"/>
          <p:cNvCxnSpPr>
            <a:stCxn id="1242" idx="2"/>
            <a:endCxn id="1245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54" name="Google Shape;1254;p77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</a:t>
            </a:r>
            <a:endParaRPr b="1"/>
          </a:p>
        </p:txBody>
      </p:sp>
      <p:cxnSp>
        <p:nvCxnSpPr>
          <p:cNvPr id="1255" name="Google Shape;1255;p77"/>
          <p:cNvCxnSpPr>
            <a:stCxn id="1254" idx="3"/>
            <a:endCxn id="1238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56" name="Google Shape;1256;p77"/>
          <p:cNvSpPr txBox="1"/>
          <p:nvPr/>
        </p:nvSpPr>
        <p:spPr>
          <a:xfrm>
            <a:off x="5379325" y="3394191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257" name="Google Shape;1257;p77"/>
          <p:cNvSpPr txBox="1"/>
          <p:nvPr/>
        </p:nvSpPr>
        <p:spPr>
          <a:xfrm>
            <a:off x="8360475" y="4021756"/>
            <a:ext cx="4119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7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s-t Connectivity</a:t>
            </a:r>
            <a:endParaRPr/>
          </a:p>
        </p:txBody>
      </p:sp>
      <p:sp>
        <p:nvSpPr>
          <p:cNvPr id="1263" name="Google Shape;1263;p78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One possible recursive algorithm for connected(s, t).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Does s == t? If so,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Otherwise, if connected(v, t) for any neighbor v of s,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Return false.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is wrong with the algorithm above?</a:t>
            </a:r>
            <a:endParaRPr/>
          </a:p>
        </p:txBody>
      </p:sp>
      <p:sp>
        <p:nvSpPr>
          <p:cNvPr id="1264" name="Google Shape;1264;p78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265" name="Google Shape;1265;p78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266" name="Google Shape;1266;p78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267" name="Google Shape;1267;p78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268" name="Google Shape;1268;p78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269" name="Google Shape;1269;p78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270" name="Google Shape;1270;p78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7</a:t>
            </a:r>
            <a:endParaRPr b="1"/>
          </a:p>
        </p:txBody>
      </p:sp>
      <p:sp>
        <p:nvSpPr>
          <p:cNvPr id="1271" name="Google Shape;1271;p78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272" name="Google Shape;1272;p78"/>
          <p:cNvCxnSpPr>
            <a:stCxn id="1264" idx="2"/>
            <a:endCxn id="1265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3" name="Google Shape;1273;p78"/>
          <p:cNvCxnSpPr>
            <a:stCxn id="1264" idx="3"/>
            <a:endCxn id="1267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4" name="Google Shape;1274;p78"/>
          <p:cNvCxnSpPr>
            <a:stCxn id="1266" idx="2"/>
            <a:endCxn id="1267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5" name="Google Shape;1275;p78"/>
          <p:cNvCxnSpPr>
            <a:stCxn id="1269" idx="2"/>
            <a:endCxn id="1270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6" name="Google Shape;1276;p78"/>
          <p:cNvCxnSpPr>
            <a:stCxn id="1269" idx="2"/>
            <a:endCxn id="1268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7" name="Google Shape;1277;p78"/>
          <p:cNvCxnSpPr>
            <a:stCxn id="1267" idx="2"/>
            <a:endCxn id="1268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8" name="Google Shape;1278;p78"/>
          <p:cNvCxnSpPr>
            <a:stCxn id="1265" idx="3"/>
            <a:endCxn id="1268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9" name="Google Shape;1279;p78"/>
          <p:cNvCxnSpPr>
            <a:stCxn id="1268" idx="2"/>
            <a:endCxn id="1271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80" name="Google Shape;1280;p78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</a:t>
            </a:r>
            <a:endParaRPr b="1"/>
          </a:p>
        </p:txBody>
      </p:sp>
      <p:cxnSp>
        <p:nvCxnSpPr>
          <p:cNvPr id="1281" name="Google Shape;1281;p78"/>
          <p:cNvCxnSpPr>
            <a:stCxn id="1280" idx="3"/>
            <a:endCxn id="1264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82" name="Google Shape;1282;p78"/>
          <p:cNvSpPr txBox="1"/>
          <p:nvPr/>
        </p:nvSpPr>
        <p:spPr>
          <a:xfrm>
            <a:off x="5379325" y="3394191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283" name="Google Shape;1283;p78"/>
          <p:cNvSpPr txBox="1"/>
          <p:nvPr/>
        </p:nvSpPr>
        <p:spPr>
          <a:xfrm>
            <a:off x="8360475" y="4021756"/>
            <a:ext cx="4119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AF8"/>
        </a:solidFill>
        <a:effectLst/>
      </p:bgPr>
    </p:bg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7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s-t Connectivity</a:t>
            </a:r>
            <a:endParaRPr/>
          </a:p>
        </p:txBody>
      </p:sp>
      <p:sp>
        <p:nvSpPr>
          <p:cNvPr id="1289" name="Google Shape;1289;p79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One possible recursive algorithm for connected(s, t).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Does s == t? If so,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Otherwise, if connected(v, t) for any neighbor v of s,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Return false.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is wrong with the algorithm above?</a:t>
            </a:r>
            <a:endParaRPr/>
          </a:p>
        </p:txBody>
      </p:sp>
      <p:sp>
        <p:nvSpPr>
          <p:cNvPr id="1290" name="Google Shape;1290;p79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291" name="Google Shape;1291;p79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292" name="Google Shape;1292;p79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293" name="Google Shape;1293;p79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294" name="Google Shape;1294;p79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295" name="Google Shape;1295;p79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296" name="Google Shape;1296;p79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7</a:t>
            </a:r>
            <a:endParaRPr b="1"/>
          </a:p>
        </p:txBody>
      </p:sp>
      <p:sp>
        <p:nvSpPr>
          <p:cNvPr id="1297" name="Google Shape;1297;p79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298" name="Google Shape;1298;p79"/>
          <p:cNvCxnSpPr>
            <a:stCxn id="1290" idx="2"/>
            <a:endCxn id="1291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9" name="Google Shape;1299;p79"/>
          <p:cNvCxnSpPr>
            <a:stCxn id="1290" idx="3"/>
            <a:endCxn id="1293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0" name="Google Shape;1300;p79"/>
          <p:cNvCxnSpPr>
            <a:stCxn id="1292" idx="2"/>
            <a:endCxn id="1293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1" name="Google Shape;1301;p79"/>
          <p:cNvCxnSpPr>
            <a:stCxn id="1295" idx="2"/>
            <a:endCxn id="1296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2" name="Google Shape;1302;p79"/>
          <p:cNvCxnSpPr>
            <a:stCxn id="1295" idx="2"/>
            <a:endCxn id="1294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3" name="Google Shape;1303;p79"/>
          <p:cNvCxnSpPr>
            <a:stCxn id="1293" idx="2"/>
            <a:endCxn id="1294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4" name="Google Shape;1304;p79"/>
          <p:cNvCxnSpPr>
            <a:stCxn id="1291" idx="3"/>
            <a:endCxn id="1294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5" name="Google Shape;1305;p79"/>
          <p:cNvCxnSpPr>
            <a:stCxn id="1294" idx="2"/>
            <a:endCxn id="1297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6" name="Google Shape;1306;p79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</a:t>
            </a:r>
            <a:endParaRPr b="1"/>
          </a:p>
        </p:txBody>
      </p:sp>
      <p:cxnSp>
        <p:nvCxnSpPr>
          <p:cNvPr id="1307" name="Google Shape;1307;p79"/>
          <p:cNvCxnSpPr>
            <a:stCxn id="1306" idx="3"/>
            <a:endCxn id="1290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8" name="Google Shape;1308;p79"/>
          <p:cNvSpPr txBox="1"/>
          <p:nvPr/>
        </p:nvSpPr>
        <p:spPr>
          <a:xfrm>
            <a:off x="5379325" y="3394191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309" name="Google Shape;1309;p79"/>
          <p:cNvSpPr txBox="1"/>
          <p:nvPr/>
        </p:nvSpPr>
        <p:spPr>
          <a:xfrm>
            <a:off x="8360475" y="4021756"/>
            <a:ext cx="4119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8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s-t Connectivity</a:t>
            </a:r>
            <a:endParaRPr/>
          </a:p>
        </p:txBody>
      </p:sp>
      <p:sp>
        <p:nvSpPr>
          <p:cNvPr id="1315" name="Google Shape;1315;p80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One possible recursive algorithm for connected(s, t).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Does s == t? If so,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Otherwise, if connected(v, t) for any neighbor v of s,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Return false.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is wrong with it? Can get caught in an infinite loop. Example: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connected(0, 7):</a:t>
            </a:r>
            <a:endParaRPr/>
          </a:p>
          <a:p>
            <a:pPr marL="914400" lvl="1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Does 0 == 7? No, so...</a:t>
            </a:r>
            <a:endParaRPr/>
          </a:p>
          <a:p>
            <a:pPr marL="914400" lvl="1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(connected(1, 7)) return true;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connected(1, 7):</a:t>
            </a:r>
            <a:endParaRPr/>
          </a:p>
          <a:p>
            <a:pPr marL="914400" lvl="1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Does 1 == 7? No, so…</a:t>
            </a:r>
            <a:endParaRPr/>
          </a:p>
          <a:p>
            <a:pPr marL="914400" lvl="1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(connected(0, 7)) … ← Infinite loop.</a:t>
            </a:r>
            <a:endParaRPr/>
          </a:p>
        </p:txBody>
      </p:sp>
      <p:sp>
        <p:nvSpPr>
          <p:cNvPr id="1316" name="Google Shape;1316;p80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317" name="Google Shape;1317;p80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318" name="Google Shape;1318;p80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319" name="Google Shape;1319;p80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320" name="Google Shape;1320;p80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321" name="Google Shape;1321;p80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322" name="Google Shape;1322;p80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7</a:t>
            </a:r>
            <a:endParaRPr b="1"/>
          </a:p>
        </p:txBody>
      </p:sp>
      <p:sp>
        <p:nvSpPr>
          <p:cNvPr id="1323" name="Google Shape;1323;p80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324" name="Google Shape;1324;p80"/>
          <p:cNvCxnSpPr>
            <a:stCxn id="1316" idx="2"/>
            <a:endCxn id="1317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5" name="Google Shape;1325;p80"/>
          <p:cNvCxnSpPr>
            <a:stCxn id="1316" idx="3"/>
            <a:endCxn id="1319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6" name="Google Shape;1326;p80"/>
          <p:cNvCxnSpPr>
            <a:stCxn id="1318" idx="2"/>
            <a:endCxn id="1319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7" name="Google Shape;1327;p80"/>
          <p:cNvCxnSpPr>
            <a:stCxn id="1321" idx="2"/>
            <a:endCxn id="1322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80"/>
          <p:cNvCxnSpPr>
            <a:stCxn id="1321" idx="2"/>
            <a:endCxn id="1320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80"/>
          <p:cNvCxnSpPr>
            <a:stCxn id="1319" idx="2"/>
            <a:endCxn id="1320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80"/>
          <p:cNvCxnSpPr>
            <a:stCxn id="1317" idx="3"/>
            <a:endCxn id="1320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1" name="Google Shape;1331;p80"/>
          <p:cNvCxnSpPr>
            <a:stCxn id="1320" idx="2"/>
            <a:endCxn id="1323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2" name="Google Shape;1332;p80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</a:t>
            </a:r>
            <a:endParaRPr b="1"/>
          </a:p>
        </p:txBody>
      </p:sp>
      <p:cxnSp>
        <p:nvCxnSpPr>
          <p:cNvPr id="1333" name="Google Shape;1333;p80"/>
          <p:cNvCxnSpPr>
            <a:stCxn id="1332" idx="3"/>
            <a:endCxn id="1316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4" name="Google Shape;1334;p80"/>
          <p:cNvSpPr txBox="1"/>
          <p:nvPr/>
        </p:nvSpPr>
        <p:spPr>
          <a:xfrm>
            <a:off x="5379325" y="3394191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335" name="Google Shape;1335;p80"/>
          <p:cNvSpPr txBox="1"/>
          <p:nvPr/>
        </p:nvSpPr>
        <p:spPr>
          <a:xfrm>
            <a:off x="8360475" y="4021756"/>
            <a:ext cx="4119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AF8"/>
        </a:solidFill>
        <a:effectLst/>
      </p:bgPr>
    </p:bg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8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s-t Connectivity</a:t>
            </a:r>
            <a:endParaRPr/>
          </a:p>
        </p:txBody>
      </p:sp>
      <p:sp>
        <p:nvSpPr>
          <p:cNvPr id="1341" name="Google Shape;1341;p81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One possible recursive algorithm for connected(s, t).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Does s == t? If so,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Otherwise, if connected(v, t) for any neighbor v of s,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Return false.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is wrong with it? Can get caught in an infinite loop.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we fix it?</a:t>
            </a:r>
            <a:endParaRPr/>
          </a:p>
        </p:txBody>
      </p:sp>
      <p:sp>
        <p:nvSpPr>
          <p:cNvPr id="1342" name="Google Shape;1342;p81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343" name="Google Shape;1343;p81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344" name="Google Shape;1344;p81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345" name="Google Shape;1345;p81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346" name="Google Shape;1346;p81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347" name="Google Shape;1347;p81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348" name="Google Shape;1348;p81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7</a:t>
            </a:r>
            <a:endParaRPr b="1"/>
          </a:p>
        </p:txBody>
      </p:sp>
      <p:sp>
        <p:nvSpPr>
          <p:cNvPr id="1349" name="Google Shape;1349;p81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350" name="Google Shape;1350;p81"/>
          <p:cNvCxnSpPr>
            <a:stCxn id="1342" idx="2"/>
            <a:endCxn id="1343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1" name="Google Shape;1351;p81"/>
          <p:cNvCxnSpPr>
            <a:stCxn id="1342" idx="3"/>
            <a:endCxn id="1345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2" name="Google Shape;1352;p81"/>
          <p:cNvCxnSpPr>
            <a:stCxn id="1344" idx="2"/>
            <a:endCxn id="1345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3" name="Google Shape;1353;p81"/>
          <p:cNvCxnSpPr>
            <a:stCxn id="1347" idx="2"/>
            <a:endCxn id="1348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4" name="Google Shape;1354;p81"/>
          <p:cNvCxnSpPr>
            <a:stCxn id="1347" idx="2"/>
            <a:endCxn id="1346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5" name="Google Shape;1355;p81"/>
          <p:cNvCxnSpPr>
            <a:stCxn id="1345" idx="2"/>
            <a:endCxn id="1346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6" name="Google Shape;1356;p81"/>
          <p:cNvCxnSpPr>
            <a:stCxn id="1343" idx="3"/>
            <a:endCxn id="1346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7" name="Google Shape;1357;p81"/>
          <p:cNvCxnSpPr>
            <a:stCxn id="1346" idx="2"/>
            <a:endCxn id="1349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58" name="Google Shape;1358;p81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</a:t>
            </a:r>
            <a:endParaRPr b="1"/>
          </a:p>
        </p:txBody>
      </p:sp>
      <p:cxnSp>
        <p:nvCxnSpPr>
          <p:cNvPr id="1359" name="Google Shape;1359;p81"/>
          <p:cNvCxnSpPr>
            <a:stCxn id="1358" idx="3"/>
            <a:endCxn id="1342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0" name="Google Shape;1360;p81"/>
          <p:cNvSpPr txBox="1"/>
          <p:nvPr/>
        </p:nvSpPr>
        <p:spPr>
          <a:xfrm>
            <a:off x="5379325" y="3394191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361" name="Google Shape;1361;p81"/>
          <p:cNvSpPr txBox="1"/>
          <p:nvPr/>
        </p:nvSpPr>
        <p:spPr>
          <a:xfrm>
            <a:off x="8360475" y="4021756"/>
            <a:ext cx="4119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82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22, CS61B, Fall 2023</a:t>
            </a:r>
            <a:endParaRPr/>
          </a:p>
        </p:txBody>
      </p:sp>
      <p:sp>
        <p:nvSpPr>
          <p:cNvPr id="1367" name="Google Shape;1367;p82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Trees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Tree Definition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Tree Traversals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Usefulness of Tree Traversals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Graphs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Graph Definition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Some Famous Graph Problems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Graph Traversals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Motivation: s-t Connectivity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Depth First Search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Tree vs. Graph Traversals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Challenge: Invent Breadth First</a:t>
            </a:r>
            <a:br>
              <a:rPr lang="en"/>
            </a:br>
            <a:r>
              <a:rPr lang="en"/>
              <a:t>Search</a:t>
            </a:r>
            <a:endParaRPr/>
          </a:p>
        </p:txBody>
      </p:sp>
      <p:sp>
        <p:nvSpPr>
          <p:cNvPr id="1368" name="Google Shape;1368;p82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Depth First Search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8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s-t Connectivity</a:t>
            </a:r>
            <a:endParaRPr/>
          </a:p>
        </p:txBody>
      </p:sp>
      <p:sp>
        <p:nvSpPr>
          <p:cNvPr id="1374" name="Google Shape;1374;p83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One possible recursive algorithm for connected(s, t). 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Mark 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Does s == t? If so,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Otherwise, if connected(v, t) for any unmarked neighbor v of s,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Return false.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Basic idea is same as before, but visit each vertex at most once.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Marking nodes prevents multiple visits.</a:t>
            </a:r>
            <a:endParaRPr/>
          </a:p>
        </p:txBody>
      </p:sp>
      <p:sp>
        <p:nvSpPr>
          <p:cNvPr id="1375" name="Google Shape;1375;p83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376" name="Google Shape;1376;p83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377" name="Google Shape;1377;p83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378" name="Google Shape;1378;p83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379" name="Google Shape;1379;p83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380" name="Google Shape;1380;p83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381" name="Google Shape;1381;p83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7</a:t>
            </a:r>
            <a:endParaRPr b="1"/>
          </a:p>
        </p:txBody>
      </p:sp>
      <p:sp>
        <p:nvSpPr>
          <p:cNvPr id="1382" name="Google Shape;1382;p83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383" name="Google Shape;1383;p83"/>
          <p:cNvCxnSpPr>
            <a:stCxn id="1375" idx="2"/>
            <a:endCxn id="1376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4" name="Google Shape;1384;p83"/>
          <p:cNvCxnSpPr>
            <a:stCxn id="1375" idx="3"/>
            <a:endCxn id="1378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5" name="Google Shape;1385;p83"/>
          <p:cNvCxnSpPr>
            <a:stCxn id="1377" idx="2"/>
            <a:endCxn id="1378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6" name="Google Shape;1386;p83"/>
          <p:cNvCxnSpPr>
            <a:stCxn id="1380" idx="2"/>
            <a:endCxn id="1381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7" name="Google Shape;1387;p83"/>
          <p:cNvCxnSpPr>
            <a:stCxn id="1380" idx="2"/>
            <a:endCxn id="1379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8" name="Google Shape;1388;p83"/>
          <p:cNvCxnSpPr>
            <a:stCxn id="1378" idx="2"/>
            <a:endCxn id="1379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9" name="Google Shape;1389;p83"/>
          <p:cNvCxnSpPr>
            <a:stCxn id="1376" idx="3"/>
            <a:endCxn id="1379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0" name="Google Shape;1390;p83"/>
          <p:cNvCxnSpPr>
            <a:stCxn id="1379" idx="2"/>
            <a:endCxn id="1382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1" name="Google Shape;1391;p83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</a:t>
            </a:r>
            <a:endParaRPr b="1"/>
          </a:p>
        </p:txBody>
      </p:sp>
      <p:cxnSp>
        <p:nvCxnSpPr>
          <p:cNvPr id="1392" name="Google Shape;1392;p83"/>
          <p:cNvCxnSpPr>
            <a:stCxn id="1391" idx="3"/>
            <a:endCxn id="1375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3" name="Google Shape;1393;p83"/>
          <p:cNvSpPr txBox="1"/>
          <p:nvPr/>
        </p:nvSpPr>
        <p:spPr>
          <a:xfrm>
            <a:off x="5379325" y="3394191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394" name="Google Shape;1394;p83"/>
          <p:cNvSpPr txBox="1"/>
          <p:nvPr/>
        </p:nvSpPr>
        <p:spPr>
          <a:xfrm>
            <a:off x="8360475" y="4021756"/>
            <a:ext cx="4119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84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400" name="Google Shape;1400;p84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401" name="Google Shape;1401;p84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402" name="Google Shape;1402;p84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403" name="Google Shape;1403;p84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404" name="Google Shape;1404;p84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405" name="Google Shape;1405;p84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7</a:t>
            </a:r>
            <a:endParaRPr b="1"/>
          </a:p>
        </p:txBody>
      </p:sp>
      <p:sp>
        <p:nvSpPr>
          <p:cNvPr id="1406" name="Google Shape;1406;p84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407" name="Google Shape;1407;p84"/>
          <p:cNvCxnSpPr>
            <a:stCxn id="1399" idx="2"/>
            <a:endCxn id="1400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8" name="Google Shape;1408;p84"/>
          <p:cNvCxnSpPr>
            <a:stCxn id="1399" idx="3"/>
            <a:endCxn id="1402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9" name="Google Shape;1409;p84"/>
          <p:cNvCxnSpPr>
            <a:stCxn id="1401" idx="2"/>
            <a:endCxn id="1402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0" name="Google Shape;1410;p84"/>
          <p:cNvCxnSpPr>
            <a:stCxn id="1404" idx="2"/>
            <a:endCxn id="1405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1" name="Google Shape;1411;p84"/>
          <p:cNvCxnSpPr>
            <a:stCxn id="1404" idx="2"/>
            <a:endCxn id="1403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2" name="Google Shape;1412;p84"/>
          <p:cNvCxnSpPr>
            <a:stCxn id="1402" idx="2"/>
            <a:endCxn id="1403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3" name="Google Shape;1413;p84"/>
          <p:cNvCxnSpPr>
            <a:stCxn id="1400" idx="3"/>
            <a:endCxn id="1403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4" name="Google Shape;1414;p84"/>
          <p:cNvCxnSpPr>
            <a:stCxn id="1403" idx="2"/>
            <a:endCxn id="1406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5" name="Google Shape;1415;p84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</a:t>
            </a:r>
            <a:endParaRPr b="1"/>
          </a:p>
        </p:txBody>
      </p:sp>
      <p:cxnSp>
        <p:nvCxnSpPr>
          <p:cNvPr id="1416" name="Google Shape;1416;p84"/>
          <p:cNvCxnSpPr>
            <a:stCxn id="1415" idx="3"/>
            <a:endCxn id="1399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7" name="Google Shape;1417;p84"/>
          <p:cNvSpPr txBox="1"/>
          <p:nvPr/>
        </p:nvSpPr>
        <p:spPr>
          <a:xfrm>
            <a:off x="5379325" y="3394190"/>
            <a:ext cx="4191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418" name="Google Shape;1418;p84"/>
          <p:cNvSpPr txBox="1"/>
          <p:nvPr/>
        </p:nvSpPr>
        <p:spPr>
          <a:xfrm>
            <a:off x="8360475" y="4021756"/>
            <a:ext cx="3912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1419" name="Google Shape;1419;p8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s-t Connectivity</a:t>
            </a:r>
            <a:endParaRPr/>
          </a:p>
        </p:txBody>
      </p:sp>
      <p:sp>
        <p:nvSpPr>
          <p:cNvPr id="1420" name="Google Shape;1420;p84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connected(s, t): 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Mark 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Does s == t? If so,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Otherwise, if connected(v, t) for any unmarked neighbor v of s,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Return false.</a:t>
            </a:r>
            <a:endParaRPr sz="16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85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connected(s, t): 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Mark 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Does s == t? If so,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Otherwise, if connected(v, t) for any unmarked neighbor v of s,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Return false.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85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427" name="Google Shape;1427;p85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428" name="Google Shape;1428;p85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429" name="Google Shape;1429;p85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430" name="Google Shape;1430;p85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431" name="Google Shape;1431;p85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432" name="Google Shape;1432;p85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7</a:t>
            </a:r>
            <a:endParaRPr b="1"/>
          </a:p>
        </p:txBody>
      </p:sp>
      <p:sp>
        <p:nvSpPr>
          <p:cNvPr id="1433" name="Google Shape;1433;p85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434" name="Google Shape;1434;p85"/>
          <p:cNvCxnSpPr>
            <a:stCxn id="1426" idx="2"/>
            <a:endCxn id="1427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5" name="Google Shape;1435;p85"/>
          <p:cNvCxnSpPr>
            <a:stCxn id="1426" idx="3"/>
            <a:endCxn id="1429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6" name="Google Shape;1436;p85"/>
          <p:cNvCxnSpPr>
            <a:stCxn id="1428" idx="2"/>
            <a:endCxn id="1429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7" name="Google Shape;1437;p85"/>
          <p:cNvCxnSpPr>
            <a:stCxn id="1431" idx="2"/>
            <a:endCxn id="1432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8" name="Google Shape;1438;p85"/>
          <p:cNvCxnSpPr>
            <a:stCxn id="1431" idx="2"/>
            <a:endCxn id="1430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9" name="Google Shape;1439;p85"/>
          <p:cNvCxnSpPr>
            <a:stCxn id="1429" idx="2"/>
            <a:endCxn id="1430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0" name="Google Shape;1440;p85"/>
          <p:cNvCxnSpPr>
            <a:stCxn id="1427" idx="3"/>
            <a:endCxn id="1430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1" name="Google Shape;1441;p85"/>
          <p:cNvCxnSpPr>
            <a:stCxn id="1430" idx="2"/>
            <a:endCxn id="1433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42" name="Google Shape;1442;p85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</a:t>
            </a:r>
            <a:endParaRPr b="1"/>
          </a:p>
        </p:txBody>
      </p:sp>
      <p:cxnSp>
        <p:nvCxnSpPr>
          <p:cNvPr id="1443" name="Google Shape;1443;p85"/>
          <p:cNvCxnSpPr>
            <a:stCxn id="1442" idx="3"/>
            <a:endCxn id="1426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44" name="Google Shape;1444;p85"/>
          <p:cNvSpPr txBox="1"/>
          <p:nvPr/>
        </p:nvSpPr>
        <p:spPr>
          <a:xfrm>
            <a:off x="5379325" y="3394202"/>
            <a:ext cx="4521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445" name="Google Shape;1445;p85"/>
          <p:cNvSpPr txBox="1"/>
          <p:nvPr/>
        </p:nvSpPr>
        <p:spPr>
          <a:xfrm>
            <a:off x="8360475" y="4021760"/>
            <a:ext cx="3822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1446" name="Google Shape;1446;p85"/>
          <p:cNvSpPr txBox="1"/>
          <p:nvPr/>
        </p:nvSpPr>
        <p:spPr>
          <a:xfrm>
            <a:off x="851250" y="2733125"/>
            <a:ext cx="37953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mark(0).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 0 == 7? No.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isMarked(1)? No.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Check connected(1, 7).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7" name="Google Shape;1447;p85"/>
          <p:cNvSpPr txBox="1"/>
          <p:nvPr/>
        </p:nvSpPr>
        <p:spPr>
          <a:xfrm>
            <a:off x="5330143" y="2982950"/>
            <a:ext cx="4191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</a:t>
            </a:r>
            <a:endParaRPr/>
          </a:p>
        </p:txBody>
      </p:sp>
      <p:sp>
        <p:nvSpPr>
          <p:cNvPr id="1448" name="Google Shape;1448;p8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s-t Connectivity</a:t>
            </a:r>
            <a:endParaRPr/>
          </a:p>
        </p:txBody>
      </p:sp>
      <p:sp>
        <p:nvSpPr>
          <p:cNvPr id="1449" name="Google Shape;1449;p85"/>
          <p:cNvSpPr txBox="1"/>
          <p:nvPr/>
        </p:nvSpPr>
        <p:spPr>
          <a:xfrm>
            <a:off x="851250" y="2123525"/>
            <a:ext cx="3795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Call stack: 0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86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455" name="Google Shape;1455;p86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456" name="Google Shape;1456;p86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457" name="Google Shape;1457;p86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458" name="Google Shape;1458;p86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459" name="Google Shape;1459;p86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460" name="Google Shape;1460;p86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7</a:t>
            </a:r>
            <a:endParaRPr b="1"/>
          </a:p>
        </p:txBody>
      </p:sp>
      <p:sp>
        <p:nvSpPr>
          <p:cNvPr id="1461" name="Google Shape;1461;p86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462" name="Google Shape;1462;p86"/>
          <p:cNvCxnSpPr>
            <a:stCxn id="1454" idx="2"/>
            <a:endCxn id="1455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3" name="Google Shape;1463;p86"/>
          <p:cNvCxnSpPr>
            <a:stCxn id="1454" idx="3"/>
            <a:endCxn id="1457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4" name="Google Shape;1464;p86"/>
          <p:cNvCxnSpPr>
            <a:stCxn id="1456" idx="2"/>
            <a:endCxn id="1457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5" name="Google Shape;1465;p86"/>
          <p:cNvCxnSpPr>
            <a:stCxn id="1459" idx="2"/>
            <a:endCxn id="1460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6" name="Google Shape;1466;p86"/>
          <p:cNvCxnSpPr>
            <a:stCxn id="1459" idx="2"/>
            <a:endCxn id="1458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7" name="Google Shape;1467;p86"/>
          <p:cNvCxnSpPr>
            <a:stCxn id="1457" idx="2"/>
            <a:endCxn id="1458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8" name="Google Shape;1468;p86"/>
          <p:cNvCxnSpPr>
            <a:stCxn id="1455" idx="3"/>
            <a:endCxn id="1458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9" name="Google Shape;1469;p86"/>
          <p:cNvCxnSpPr>
            <a:stCxn id="1458" idx="2"/>
            <a:endCxn id="1461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70" name="Google Shape;1470;p86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</a:t>
            </a:r>
            <a:endParaRPr b="1"/>
          </a:p>
        </p:txBody>
      </p:sp>
      <p:cxnSp>
        <p:nvCxnSpPr>
          <p:cNvPr id="1471" name="Google Shape;1471;p86"/>
          <p:cNvCxnSpPr>
            <a:stCxn id="1470" idx="3"/>
            <a:endCxn id="1454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72" name="Google Shape;1472;p86"/>
          <p:cNvSpPr txBox="1"/>
          <p:nvPr/>
        </p:nvSpPr>
        <p:spPr>
          <a:xfrm>
            <a:off x="5379325" y="3394187"/>
            <a:ext cx="347400" cy="3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473" name="Google Shape;1473;p86"/>
          <p:cNvSpPr txBox="1"/>
          <p:nvPr/>
        </p:nvSpPr>
        <p:spPr>
          <a:xfrm>
            <a:off x="8360475" y="4021760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1474" name="Google Shape;1474;p86"/>
          <p:cNvSpPr txBox="1"/>
          <p:nvPr/>
        </p:nvSpPr>
        <p:spPr>
          <a:xfrm>
            <a:off x="851250" y="2733125"/>
            <a:ext cx="37953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mark(1).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 1 == 7? No.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isMarked(0)? Yes.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isMarked(2)?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Check connected(2, 7).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5" name="Google Shape;1475;p86"/>
          <p:cNvSpPr txBox="1"/>
          <p:nvPr/>
        </p:nvSpPr>
        <p:spPr>
          <a:xfrm>
            <a:off x="6168343" y="2982950"/>
            <a:ext cx="4191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</a:t>
            </a:r>
            <a:endParaRPr/>
          </a:p>
        </p:txBody>
      </p:sp>
      <p:sp>
        <p:nvSpPr>
          <p:cNvPr id="1476" name="Google Shape;1476;p8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s-t Connectivity</a:t>
            </a:r>
            <a:endParaRPr/>
          </a:p>
        </p:txBody>
      </p:sp>
      <p:sp>
        <p:nvSpPr>
          <p:cNvPr id="1477" name="Google Shape;1477;p86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connected(s, t): 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Mark 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Does s == t? If so,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Otherwise, if connected(v, t) for any unmarked neighbor v of s,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Return false.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86"/>
          <p:cNvSpPr txBox="1"/>
          <p:nvPr/>
        </p:nvSpPr>
        <p:spPr>
          <a:xfrm>
            <a:off x="851250" y="2123525"/>
            <a:ext cx="3795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Call stack: 0 →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87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484" name="Google Shape;1484;p87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485" name="Google Shape;1485;p87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486" name="Google Shape;1486;p87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487" name="Google Shape;1487;p87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488" name="Google Shape;1488;p87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489" name="Google Shape;1489;p87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7</a:t>
            </a:r>
            <a:endParaRPr b="1"/>
          </a:p>
        </p:txBody>
      </p:sp>
      <p:sp>
        <p:nvSpPr>
          <p:cNvPr id="1490" name="Google Shape;1490;p87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491" name="Google Shape;1491;p87"/>
          <p:cNvCxnSpPr>
            <a:stCxn id="1483" idx="2"/>
            <a:endCxn id="1484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2" name="Google Shape;1492;p87"/>
          <p:cNvCxnSpPr>
            <a:stCxn id="1483" idx="3"/>
            <a:endCxn id="1486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3" name="Google Shape;1493;p87"/>
          <p:cNvCxnSpPr>
            <a:stCxn id="1485" idx="2"/>
            <a:endCxn id="1486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4" name="Google Shape;1494;p87"/>
          <p:cNvCxnSpPr>
            <a:stCxn id="1488" idx="2"/>
            <a:endCxn id="1489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5" name="Google Shape;1495;p87"/>
          <p:cNvCxnSpPr>
            <a:stCxn id="1488" idx="2"/>
            <a:endCxn id="1487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6" name="Google Shape;1496;p87"/>
          <p:cNvCxnSpPr>
            <a:stCxn id="1486" idx="2"/>
            <a:endCxn id="1487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7" name="Google Shape;1497;p87"/>
          <p:cNvCxnSpPr>
            <a:stCxn id="1484" idx="3"/>
            <a:endCxn id="1487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8" name="Google Shape;1498;p87"/>
          <p:cNvCxnSpPr>
            <a:stCxn id="1487" idx="2"/>
            <a:endCxn id="1490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99" name="Google Shape;1499;p87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</a:t>
            </a:r>
            <a:endParaRPr b="1"/>
          </a:p>
        </p:txBody>
      </p:sp>
      <p:cxnSp>
        <p:nvCxnSpPr>
          <p:cNvPr id="1500" name="Google Shape;1500;p87"/>
          <p:cNvCxnSpPr>
            <a:stCxn id="1499" idx="3"/>
            <a:endCxn id="1483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01" name="Google Shape;1501;p87"/>
          <p:cNvSpPr txBox="1"/>
          <p:nvPr/>
        </p:nvSpPr>
        <p:spPr>
          <a:xfrm>
            <a:off x="5379325" y="3394191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502" name="Google Shape;1502;p87"/>
          <p:cNvSpPr txBox="1"/>
          <p:nvPr/>
        </p:nvSpPr>
        <p:spPr>
          <a:xfrm>
            <a:off x="8360475" y="4021760"/>
            <a:ext cx="3912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1503" name="Google Shape;1503;p87"/>
          <p:cNvSpPr txBox="1"/>
          <p:nvPr/>
        </p:nvSpPr>
        <p:spPr>
          <a:xfrm>
            <a:off x="851250" y="2733125"/>
            <a:ext cx="37953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mark(2).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 2 == 7? No.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isMarked(1)? Yes.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isMarked(5)?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Check connected(5, 7).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4" name="Google Shape;1504;p87"/>
          <p:cNvSpPr txBox="1"/>
          <p:nvPr/>
        </p:nvSpPr>
        <p:spPr>
          <a:xfrm>
            <a:off x="6329958" y="3678665"/>
            <a:ext cx="4191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</a:t>
            </a:r>
            <a:endParaRPr/>
          </a:p>
        </p:txBody>
      </p:sp>
      <p:sp>
        <p:nvSpPr>
          <p:cNvPr id="1505" name="Google Shape;1505;p8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s-t Connectivity</a:t>
            </a:r>
            <a:endParaRPr/>
          </a:p>
        </p:txBody>
      </p:sp>
      <p:sp>
        <p:nvSpPr>
          <p:cNvPr id="1506" name="Google Shape;1506;p87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connected(s, t): 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Mark 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Does s == t? If so,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Otherwise, if connected(v, t) for any unmarked neighbor v of s,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Return false.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7" name="Google Shape;1507;p87"/>
          <p:cNvSpPr txBox="1"/>
          <p:nvPr/>
        </p:nvSpPr>
        <p:spPr>
          <a:xfrm>
            <a:off x="851250" y="2123525"/>
            <a:ext cx="3795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Call stack: 0 → 1 →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88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513" name="Google Shape;1513;p88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514" name="Google Shape;1514;p88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515" name="Google Shape;1515;p88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516" name="Google Shape;1516;p88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517" name="Google Shape;1517;p88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518" name="Google Shape;1518;p88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7</a:t>
            </a:r>
            <a:endParaRPr b="1"/>
          </a:p>
        </p:txBody>
      </p:sp>
      <p:sp>
        <p:nvSpPr>
          <p:cNvPr id="1519" name="Google Shape;1519;p88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520" name="Google Shape;1520;p88"/>
          <p:cNvCxnSpPr>
            <a:stCxn id="1512" idx="2"/>
            <a:endCxn id="1513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21" name="Google Shape;1521;p88"/>
          <p:cNvCxnSpPr>
            <a:stCxn id="1512" idx="3"/>
            <a:endCxn id="1515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22" name="Google Shape;1522;p88"/>
          <p:cNvCxnSpPr>
            <a:stCxn id="1514" idx="2"/>
            <a:endCxn id="1515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23" name="Google Shape;1523;p88"/>
          <p:cNvCxnSpPr>
            <a:stCxn id="1517" idx="2"/>
            <a:endCxn id="1518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24" name="Google Shape;1524;p88"/>
          <p:cNvCxnSpPr>
            <a:stCxn id="1517" idx="2"/>
            <a:endCxn id="1516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25" name="Google Shape;1525;p88"/>
          <p:cNvCxnSpPr>
            <a:stCxn id="1515" idx="2"/>
            <a:endCxn id="1516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26" name="Google Shape;1526;p88"/>
          <p:cNvCxnSpPr>
            <a:stCxn id="1513" idx="3"/>
            <a:endCxn id="1516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27" name="Google Shape;1527;p88"/>
          <p:cNvCxnSpPr>
            <a:stCxn id="1516" idx="2"/>
            <a:endCxn id="1519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28" name="Google Shape;1528;p88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</a:t>
            </a:r>
            <a:endParaRPr b="1"/>
          </a:p>
        </p:txBody>
      </p:sp>
      <p:cxnSp>
        <p:nvCxnSpPr>
          <p:cNvPr id="1529" name="Google Shape;1529;p88"/>
          <p:cNvCxnSpPr>
            <a:stCxn id="1528" idx="3"/>
            <a:endCxn id="1512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30" name="Google Shape;1530;p88"/>
          <p:cNvSpPr txBox="1"/>
          <p:nvPr/>
        </p:nvSpPr>
        <p:spPr>
          <a:xfrm>
            <a:off x="5379325" y="3394191"/>
            <a:ext cx="3837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531" name="Google Shape;1531;p88"/>
          <p:cNvSpPr txBox="1"/>
          <p:nvPr/>
        </p:nvSpPr>
        <p:spPr>
          <a:xfrm>
            <a:off x="8360475" y="4021765"/>
            <a:ext cx="349200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1532" name="Google Shape;1532;p88"/>
          <p:cNvSpPr txBox="1"/>
          <p:nvPr/>
        </p:nvSpPr>
        <p:spPr>
          <a:xfrm>
            <a:off x="851250" y="2733125"/>
            <a:ext cx="37953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mark(5).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 5 == 7? No.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isMarked(2)? Yes.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isMarked(4)?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Check connected(4, 7).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3" name="Google Shape;1533;p88"/>
          <p:cNvSpPr txBox="1"/>
          <p:nvPr/>
        </p:nvSpPr>
        <p:spPr>
          <a:xfrm>
            <a:off x="7273645" y="3589685"/>
            <a:ext cx="4191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</a:t>
            </a:r>
            <a:endParaRPr/>
          </a:p>
        </p:txBody>
      </p:sp>
      <p:sp>
        <p:nvSpPr>
          <p:cNvPr id="1534" name="Google Shape;1534;p8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s-t Connectivity</a:t>
            </a:r>
            <a:endParaRPr/>
          </a:p>
        </p:txBody>
      </p:sp>
      <p:sp>
        <p:nvSpPr>
          <p:cNvPr id="1535" name="Google Shape;1535;p88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connected(s, t): 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Mark 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Does s == t? If so,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Otherwise, if connected(v, t) for any unmarked neighbor v of s,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Return false.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p88"/>
          <p:cNvSpPr txBox="1"/>
          <p:nvPr/>
        </p:nvSpPr>
        <p:spPr>
          <a:xfrm>
            <a:off x="851250" y="2123525"/>
            <a:ext cx="3795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Call stack: 0 → 1 → 2 → 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p89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542" name="Google Shape;1542;p89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543" name="Google Shape;1543;p89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544" name="Google Shape;1544;p89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545" name="Google Shape;1545;p89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546" name="Google Shape;1546;p89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547" name="Google Shape;1547;p89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7</a:t>
            </a:r>
            <a:endParaRPr b="1"/>
          </a:p>
        </p:txBody>
      </p:sp>
      <p:sp>
        <p:nvSpPr>
          <p:cNvPr id="1548" name="Google Shape;1548;p89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549" name="Google Shape;1549;p89"/>
          <p:cNvCxnSpPr>
            <a:stCxn id="1541" idx="2"/>
            <a:endCxn id="1542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0" name="Google Shape;1550;p89"/>
          <p:cNvCxnSpPr>
            <a:stCxn id="1541" idx="3"/>
            <a:endCxn id="1544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1" name="Google Shape;1551;p89"/>
          <p:cNvCxnSpPr>
            <a:stCxn id="1543" idx="2"/>
            <a:endCxn id="1544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2" name="Google Shape;1552;p89"/>
          <p:cNvCxnSpPr>
            <a:stCxn id="1546" idx="2"/>
            <a:endCxn id="1547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3" name="Google Shape;1553;p89"/>
          <p:cNvCxnSpPr>
            <a:stCxn id="1546" idx="2"/>
            <a:endCxn id="1545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4" name="Google Shape;1554;p89"/>
          <p:cNvCxnSpPr>
            <a:stCxn id="1544" idx="2"/>
            <a:endCxn id="1545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5" name="Google Shape;1555;p89"/>
          <p:cNvCxnSpPr>
            <a:stCxn id="1542" idx="3"/>
            <a:endCxn id="1545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6" name="Google Shape;1556;p89"/>
          <p:cNvCxnSpPr>
            <a:stCxn id="1545" idx="2"/>
            <a:endCxn id="1548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7" name="Google Shape;1557;p89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</a:t>
            </a:r>
            <a:endParaRPr b="1"/>
          </a:p>
        </p:txBody>
      </p:sp>
      <p:cxnSp>
        <p:nvCxnSpPr>
          <p:cNvPr id="1558" name="Google Shape;1558;p89"/>
          <p:cNvCxnSpPr>
            <a:stCxn id="1557" idx="3"/>
            <a:endCxn id="1541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9" name="Google Shape;1559;p89"/>
          <p:cNvSpPr txBox="1"/>
          <p:nvPr/>
        </p:nvSpPr>
        <p:spPr>
          <a:xfrm>
            <a:off x="5379325" y="3394189"/>
            <a:ext cx="3747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560" name="Google Shape;1560;p89"/>
          <p:cNvSpPr txBox="1"/>
          <p:nvPr/>
        </p:nvSpPr>
        <p:spPr>
          <a:xfrm>
            <a:off x="8360475" y="4021763"/>
            <a:ext cx="317400" cy="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1561" name="Google Shape;1561;p89"/>
          <p:cNvSpPr txBox="1"/>
          <p:nvPr/>
        </p:nvSpPr>
        <p:spPr>
          <a:xfrm>
            <a:off x="851250" y="2733125"/>
            <a:ext cx="37953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mark(4).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 4 == 7? No.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isMarked(1)? Yes.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isMarked(3)? No.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Check connected(3, 7).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2" name="Google Shape;1562;p89"/>
          <p:cNvSpPr txBox="1"/>
          <p:nvPr/>
        </p:nvSpPr>
        <p:spPr>
          <a:xfrm>
            <a:off x="7197445" y="2980085"/>
            <a:ext cx="4191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</a:t>
            </a:r>
            <a:endParaRPr/>
          </a:p>
        </p:txBody>
      </p:sp>
      <p:sp>
        <p:nvSpPr>
          <p:cNvPr id="1563" name="Google Shape;1563;p8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s-t Connectivity</a:t>
            </a:r>
            <a:endParaRPr/>
          </a:p>
        </p:txBody>
      </p:sp>
      <p:sp>
        <p:nvSpPr>
          <p:cNvPr id="1564" name="Google Shape;1564;p89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connected(s, t): 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Mark 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Does s == t? If so,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Otherwise, if connected(v, t) for any unmarked neighbor v of s,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Return false.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5" name="Google Shape;1565;p89"/>
          <p:cNvSpPr txBox="1"/>
          <p:nvPr/>
        </p:nvSpPr>
        <p:spPr>
          <a:xfrm>
            <a:off x="851250" y="2123525"/>
            <a:ext cx="3795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Call stack: 0 → 1 → 2 → 5 →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90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571" name="Google Shape;1571;p90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572" name="Google Shape;1572;p90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573" name="Google Shape;1573;p90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574" name="Google Shape;1574;p90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575" name="Google Shape;1575;p90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576" name="Google Shape;1576;p90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7</a:t>
            </a:r>
            <a:endParaRPr b="1"/>
          </a:p>
        </p:txBody>
      </p:sp>
      <p:sp>
        <p:nvSpPr>
          <p:cNvPr id="1577" name="Google Shape;1577;p90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578" name="Google Shape;1578;p90"/>
          <p:cNvCxnSpPr>
            <a:stCxn id="1570" idx="2"/>
            <a:endCxn id="1571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9" name="Google Shape;1579;p90"/>
          <p:cNvCxnSpPr>
            <a:stCxn id="1570" idx="3"/>
            <a:endCxn id="1573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0" name="Google Shape;1580;p90"/>
          <p:cNvCxnSpPr>
            <a:stCxn id="1572" idx="2"/>
            <a:endCxn id="1573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1" name="Google Shape;1581;p90"/>
          <p:cNvCxnSpPr>
            <a:stCxn id="1575" idx="2"/>
            <a:endCxn id="1576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2" name="Google Shape;1582;p90"/>
          <p:cNvCxnSpPr>
            <a:stCxn id="1575" idx="2"/>
            <a:endCxn id="1574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3" name="Google Shape;1583;p90"/>
          <p:cNvCxnSpPr>
            <a:stCxn id="1573" idx="2"/>
            <a:endCxn id="1574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4" name="Google Shape;1584;p90"/>
          <p:cNvCxnSpPr>
            <a:stCxn id="1571" idx="3"/>
            <a:endCxn id="1574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5" name="Google Shape;1585;p90"/>
          <p:cNvCxnSpPr>
            <a:stCxn id="1574" idx="2"/>
            <a:endCxn id="1577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86" name="Google Shape;1586;p90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</a:t>
            </a:r>
            <a:endParaRPr b="1"/>
          </a:p>
        </p:txBody>
      </p:sp>
      <p:cxnSp>
        <p:nvCxnSpPr>
          <p:cNvPr id="1587" name="Google Shape;1587;p90"/>
          <p:cNvCxnSpPr>
            <a:stCxn id="1586" idx="3"/>
            <a:endCxn id="1570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88" name="Google Shape;1588;p90"/>
          <p:cNvSpPr txBox="1"/>
          <p:nvPr/>
        </p:nvSpPr>
        <p:spPr>
          <a:xfrm>
            <a:off x="5379325" y="3394191"/>
            <a:ext cx="3609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589" name="Google Shape;1589;p90"/>
          <p:cNvSpPr txBox="1"/>
          <p:nvPr/>
        </p:nvSpPr>
        <p:spPr>
          <a:xfrm>
            <a:off x="8360475" y="4021763"/>
            <a:ext cx="360900" cy="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1590" name="Google Shape;1590;p90"/>
          <p:cNvSpPr txBox="1"/>
          <p:nvPr/>
        </p:nvSpPr>
        <p:spPr>
          <a:xfrm>
            <a:off x="851250" y="2733125"/>
            <a:ext cx="37953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mark(3).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 3 == 7? No.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isMarked(4)? Yes.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 more neighbors! Return false.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1" name="Google Shape;1591;p90"/>
          <p:cNvSpPr txBox="1"/>
          <p:nvPr/>
        </p:nvSpPr>
        <p:spPr>
          <a:xfrm>
            <a:off x="7197445" y="2380855"/>
            <a:ext cx="4191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</a:t>
            </a:r>
            <a:endParaRPr/>
          </a:p>
        </p:txBody>
      </p:sp>
      <p:sp>
        <p:nvSpPr>
          <p:cNvPr id="1592" name="Google Shape;1592;p9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s-t Connectivity</a:t>
            </a:r>
            <a:endParaRPr/>
          </a:p>
        </p:txBody>
      </p:sp>
      <p:sp>
        <p:nvSpPr>
          <p:cNvPr id="1593" name="Google Shape;1593;p90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connected(s, t): 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Mark 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Does s == t? If so,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Otherwise, if connected(v, t) for any unmarked neighbor v of s,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Return false.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90"/>
          <p:cNvSpPr txBox="1"/>
          <p:nvPr/>
        </p:nvSpPr>
        <p:spPr>
          <a:xfrm>
            <a:off x="851250" y="2123525"/>
            <a:ext cx="3795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Call stack: 0 → 1 → 2 → 5 → 4 → 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p91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600" name="Google Shape;1600;p91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601" name="Google Shape;1601;p91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602" name="Google Shape;1602;p91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603" name="Google Shape;1603;p91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604" name="Google Shape;1604;p91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605" name="Google Shape;1605;p91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7</a:t>
            </a:r>
            <a:endParaRPr b="1"/>
          </a:p>
        </p:txBody>
      </p:sp>
      <p:sp>
        <p:nvSpPr>
          <p:cNvPr id="1606" name="Google Shape;1606;p91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607" name="Google Shape;1607;p91"/>
          <p:cNvCxnSpPr>
            <a:stCxn id="1599" idx="2"/>
            <a:endCxn id="1600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08" name="Google Shape;1608;p91"/>
          <p:cNvCxnSpPr>
            <a:stCxn id="1599" idx="3"/>
            <a:endCxn id="1602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09" name="Google Shape;1609;p91"/>
          <p:cNvCxnSpPr>
            <a:stCxn id="1601" idx="2"/>
            <a:endCxn id="1602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0" name="Google Shape;1610;p91"/>
          <p:cNvCxnSpPr>
            <a:stCxn id="1604" idx="2"/>
            <a:endCxn id="1605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1" name="Google Shape;1611;p91"/>
          <p:cNvCxnSpPr>
            <a:stCxn id="1604" idx="2"/>
            <a:endCxn id="1603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2" name="Google Shape;1612;p91"/>
          <p:cNvCxnSpPr>
            <a:stCxn id="1602" idx="2"/>
            <a:endCxn id="1603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3" name="Google Shape;1613;p91"/>
          <p:cNvCxnSpPr>
            <a:stCxn id="1600" idx="3"/>
            <a:endCxn id="1603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4" name="Google Shape;1614;p91"/>
          <p:cNvCxnSpPr>
            <a:stCxn id="1603" idx="2"/>
            <a:endCxn id="1606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15" name="Google Shape;1615;p91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</a:t>
            </a:r>
            <a:endParaRPr b="1"/>
          </a:p>
        </p:txBody>
      </p:sp>
      <p:cxnSp>
        <p:nvCxnSpPr>
          <p:cNvPr id="1616" name="Google Shape;1616;p91"/>
          <p:cNvCxnSpPr>
            <a:stCxn id="1615" idx="3"/>
            <a:endCxn id="1599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17" name="Google Shape;1617;p91"/>
          <p:cNvSpPr txBox="1"/>
          <p:nvPr/>
        </p:nvSpPr>
        <p:spPr>
          <a:xfrm>
            <a:off x="5379325" y="3394192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618" name="Google Shape;1618;p91"/>
          <p:cNvSpPr txBox="1"/>
          <p:nvPr/>
        </p:nvSpPr>
        <p:spPr>
          <a:xfrm>
            <a:off x="8360475" y="4021758"/>
            <a:ext cx="3492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1619" name="Google Shape;1619;p91"/>
          <p:cNvSpPr txBox="1"/>
          <p:nvPr/>
        </p:nvSpPr>
        <p:spPr>
          <a:xfrm>
            <a:off x="851250" y="2733125"/>
            <a:ext cx="37953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mark(4).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 4 == 7? No.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isMarked(1)? Yes.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isMarked(3)? No.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Check connected(3, 7).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was false.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isMarked(5)? Yes.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 more neighbors, so return false.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0" name="Google Shape;1620;p91"/>
          <p:cNvSpPr txBox="1"/>
          <p:nvPr/>
        </p:nvSpPr>
        <p:spPr>
          <a:xfrm>
            <a:off x="7187076" y="2990455"/>
            <a:ext cx="4191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</a:t>
            </a:r>
            <a:endParaRPr/>
          </a:p>
        </p:txBody>
      </p:sp>
      <p:pic>
        <p:nvPicPr>
          <p:cNvPr id="1621" name="Google Shape;1621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8756" y="2947311"/>
            <a:ext cx="176401" cy="176415"/>
          </a:xfrm>
          <a:prstGeom prst="rect">
            <a:avLst/>
          </a:prstGeom>
          <a:noFill/>
          <a:ln>
            <a:noFill/>
          </a:ln>
        </p:spPr>
      </p:pic>
      <p:sp>
        <p:nvSpPr>
          <p:cNvPr id="1622" name="Google Shape;1622;p9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s-t Connectivity</a:t>
            </a:r>
            <a:endParaRPr/>
          </a:p>
        </p:txBody>
      </p:sp>
      <p:sp>
        <p:nvSpPr>
          <p:cNvPr id="1623" name="Google Shape;1623;p91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connected(s, t): 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Mark 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Does s == t? If so,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Otherwise, if connected(v, t) for any unmarked neighbor v of s,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Return false.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91"/>
          <p:cNvSpPr txBox="1"/>
          <p:nvPr/>
        </p:nvSpPr>
        <p:spPr>
          <a:xfrm>
            <a:off x="851250" y="2123525"/>
            <a:ext cx="3795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Call stack: 0 → 1 → 2 → 5 →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p92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630" name="Google Shape;1630;p92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631" name="Google Shape;1631;p92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632" name="Google Shape;1632;p92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633" name="Google Shape;1633;p92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634" name="Google Shape;1634;p92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635" name="Google Shape;1635;p92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7</a:t>
            </a:r>
            <a:endParaRPr b="1"/>
          </a:p>
        </p:txBody>
      </p:sp>
      <p:sp>
        <p:nvSpPr>
          <p:cNvPr id="1636" name="Google Shape;1636;p92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637" name="Google Shape;1637;p92"/>
          <p:cNvCxnSpPr>
            <a:stCxn id="1629" idx="2"/>
            <a:endCxn id="1630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38" name="Google Shape;1638;p92"/>
          <p:cNvCxnSpPr>
            <a:stCxn id="1629" idx="3"/>
            <a:endCxn id="1632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39" name="Google Shape;1639;p92"/>
          <p:cNvCxnSpPr>
            <a:stCxn id="1631" idx="2"/>
            <a:endCxn id="1632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0" name="Google Shape;1640;p92"/>
          <p:cNvCxnSpPr>
            <a:stCxn id="1634" idx="2"/>
            <a:endCxn id="1635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1" name="Google Shape;1641;p92"/>
          <p:cNvCxnSpPr>
            <a:stCxn id="1634" idx="2"/>
            <a:endCxn id="1633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2" name="Google Shape;1642;p92"/>
          <p:cNvCxnSpPr>
            <a:stCxn id="1632" idx="2"/>
            <a:endCxn id="1633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3" name="Google Shape;1643;p92"/>
          <p:cNvCxnSpPr>
            <a:stCxn id="1630" idx="3"/>
            <a:endCxn id="1633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4" name="Google Shape;1644;p92"/>
          <p:cNvCxnSpPr>
            <a:stCxn id="1633" idx="2"/>
            <a:endCxn id="1636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45" name="Google Shape;1645;p92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</a:t>
            </a:r>
            <a:endParaRPr b="1"/>
          </a:p>
        </p:txBody>
      </p:sp>
      <p:cxnSp>
        <p:nvCxnSpPr>
          <p:cNvPr id="1646" name="Google Shape;1646;p92"/>
          <p:cNvCxnSpPr>
            <a:stCxn id="1645" idx="3"/>
            <a:endCxn id="1629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47" name="Google Shape;1647;p92"/>
          <p:cNvSpPr txBox="1"/>
          <p:nvPr/>
        </p:nvSpPr>
        <p:spPr>
          <a:xfrm>
            <a:off x="5379325" y="3394196"/>
            <a:ext cx="3702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648" name="Google Shape;1648;p92"/>
          <p:cNvSpPr txBox="1"/>
          <p:nvPr/>
        </p:nvSpPr>
        <p:spPr>
          <a:xfrm>
            <a:off x="8360475" y="4021764"/>
            <a:ext cx="370200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1649" name="Google Shape;1649;p92"/>
          <p:cNvSpPr txBox="1"/>
          <p:nvPr/>
        </p:nvSpPr>
        <p:spPr>
          <a:xfrm>
            <a:off x="851250" y="2733125"/>
            <a:ext cx="37953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mark(5).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 5 == 7? No.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isMarked(2)? Yes.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isMarked(4)? 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Check connected(4, 7).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was false, so keep checking neighbors.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isMarked(6)?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Check connected(6, 7).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0" name="Google Shape;1650;p92"/>
          <p:cNvSpPr txBox="1"/>
          <p:nvPr/>
        </p:nvSpPr>
        <p:spPr>
          <a:xfrm>
            <a:off x="7273645" y="3589685"/>
            <a:ext cx="4191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</a:t>
            </a:r>
            <a:endParaRPr/>
          </a:p>
        </p:txBody>
      </p:sp>
      <p:pic>
        <p:nvPicPr>
          <p:cNvPr id="1651" name="Google Shape;1651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8756" y="2947311"/>
            <a:ext cx="176401" cy="176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2" name="Google Shape;1652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3382" y="3536912"/>
            <a:ext cx="176401" cy="176415"/>
          </a:xfrm>
          <a:prstGeom prst="rect">
            <a:avLst/>
          </a:prstGeom>
          <a:noFill/>
          <a:ln>
            <a:noFill/>
          </a:ln>
        </p:spPr>
      </p:pic>
      <p:sp>
        <p:nvSpPr>
          <p:cNvPr id="1653" name="Google Shape;1653;p9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s-t Connectivity</a:t>
            </a:r>
            <a:endParaRPr/>
          </a:p>
        </p:txBody>
      </p:sp>
      <p:sp>
        <p:nvSpPr>
          <p:cNvPr id="1654" name="Google Shape;1654;p92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connected(s, t): 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Mark 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Does s == t? If so,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Otherwise, if connected(v, t) for any unmarked neighbor v of s,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Return false.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5" name="Google Shape;1655;p92"/>
          <p:cNvSpPr txBox="1"/>
          <p:nvPr/>
        </p:nvSpPr>
        <p:spPr>
          <a:xfrm>
            <a:off x="851250" y="2123525"/>
            <a:ext cx="3795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Call stack: 0 → 1 → 2 → 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p93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661" name="Google Shape;1661;p93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662" name="Google Shape;1662;p93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663" name="Google Shape;1663;p93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664" name="Google Shape;1664;p93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665" name="Google Shape;1665;p93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666" name="Google Shape;1666;p93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7</a:t>
            </a:r>
            <a:endParaRPr b="1"/>
          </a:p>
        </p:txBody>
      </p:sp>
      <p:sp>
        <p:nvSpPr>
          <p:cNvPr id="1667" name="Google Shape;1667;p93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668" name="Google Shape;1668;p93"/>
          <p:cNvCxnSpPr>
            <a:stCxn id="1660" idx="2"/>
            <a:endCxn id="1661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69" name="Google Shape;1669;p93"/>
          <p:cNvCxnSpPr>
            <a:stCxn id="1660" idx="3"/>
            <a:endCxn id="1663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0" name="Google Shape;1670;p93"/>
          <p:cNvCxnSpPr>
            <a:stCxn id="1662" idx="2"/>
            <a:endCxn id="1663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1" name="Google Shape;1671;p93"/>
          <p:cNvCxnSpPr>
            <a:stCxn id="1665" idx="2"/>
            <a:endCxn id="1666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2" name="Google Shape;1672;p93"/>
          <p:cNvCxnSpPr>
            <a:stCxn id="1665" idx="2"/>
            <a:endCxn id="1664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3" name="Google Shape;1673;p93"/>
          <p:cNvCxnSpPr>
            <a:stCxn id="1663" idx="2"/>
            <a:endCxn id="1664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4" name="Google Shape;1674;p93"/>
          <p:cNvCxnSpPr>
            <a:stCxn id="1661" idx="3"/>
            <a:endCxn id="1664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5" name="Google Shape;1675;p93"/>
          <p:cNvCxnSpPr>
            <a:stCxn id="1664" idx="2"/>
            <a:endCxn id="1667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76" name="Google Shape;1676;p93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</a:t>
            </a:r>
            <a:endParaRPr b="1"/>
          </a:p>
        </p:txBody>
      </p:sp>
      <p:cxnSp>
        <p:nvCxnSpPr>
          <p:cNvPr id="1677" name="Google Shape;1677;p93"/>
          <p:cNvCxnSpPr>
            <a:stCxn id="1676" idx="3"/>
            <a:endCxn id="1660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78" name="Google Shape;1678;p93"/>
          <p:cNvSpPr txBox="1"/>
          <p:nvPr/>
        </p:nvSpPr>
        <p:spPr>
          <a:xfrm>
            <a:off x="5379325" y="3394197"/>
            <a:ext cx="3702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679" name="Google Shape;1679;p93"/>
          <p:cNvSpPr txBox="1"/>
          <p:nvPr/>
        </p:nvSpPr>
        <p:spPr>
          <a:xfrm>
            <a:off x="8360475" y="4021760"/>
            <a:ext cx="3492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1680" name="Google Shape;1680;p93"/>
          <p:cNvSpPr txBox="1"/>
          <p:nvPr/>
        </p:nvSpPr>
        <p:spPr>
          <a:xfrm>
            <a:off x="851250" y="2733125"/>
            <a:ext cx="37953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mark(6).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 6 == 7? No.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isMarked(5)? Yes.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isMarked(7)? No.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Check connected(7, 7).</a:t>
            </a: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1" name="Google Shape;1681;p93"/>
          <p:cNvSpPr txBox="1"/>
          <p:nvPr/>
        </p:nvSpPr>
        <p:spPr>
          <a:xfrm>
            <a:off x="7883245" y="2903885"/>
            <a:ext cx="4191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</a:t>
            </a:r>
            <a:endParaRPr/>
          </a:p>
        </p:txBody>
      </p:sp>
      <p:pic>
        <p:nvPicPr>
          <p:cNvPr id="1682" name="Google Shape;1682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8756" y="2947311"/>
            <a:ext cx="176401" cy="176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3" name="Google Shape;1683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3382" y="3536912"/>
            <a:ext cx="176401" cy="176415"/>
          </a:xfrm>
          <a:prstGeom prst="rect">
            <a:avLst/>
          </a:prstGeom>
          <a:noFill/>
          <a:ln>
            <a:noFill/>
          </a:ln>
        </p:spPr>
      </p:pic>
      <p:sp>
        <p:nvSpPr>
          <p:cNvPr id="1684" name="Google Shape;1684;p9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s-t Connectivity</a:t>
            </a:r>
            <a:endParaRPr/>
          </a:p>
        </p:txBody>
      </p:sp>
      <p:sp>
        <p:nvSpPr>
          <p:cNvPr id="1685" name="Google Shape;1685;p93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connected(s, t): 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Mark 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Does s == t? If so,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Otherwise, if connected(v, t) for any unmarked neighbor v of s,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Return false.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6" name="Google Shape;1686;p93"/>
          <p:cNvSpPr txBox="1"/>
          <p:nvPr/>
        </p:nvSpPr>
        <p:spPr>
          <a:xfrm>
            <a:off x="851250" y="2123525"/>
            <a:ext cx="3795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Call stack: 0 → 1 → 2 → 5 → 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94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692" name="Google Shape;1692;p94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693" name="Google Shape;1693;p94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694" name="Google Shape;1694;p94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695" name="Google Shape;1695;p94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696" name="Google Shape;1696;p94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697" name="Google Shape;1697;p94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7</a:t>
            </a:r>
            <a:endParaRPr b="1"/>
          </a:p>
        </p:txBody>
      </p:sp>
      <p:sp>
        <p:nvSpPr>
          <p:cNvPr id="1698" name="Google Shape;1698;p94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699" name="Google Shape;1699;p94"/>
          <p:cNvCxnSpPr>
            <a:stCxn id="1691" idx="2"/>
            <a:endCxn id="1692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0" name="Google Shape;1700;p94"/>
          <p:cNvCxnSpPr>
            <a:stCxn id="1691" idx="3"/>
            <a:endCxn id="1694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1" name="Google Shape;1701;p94"/>
          <p:cNvCxnSpPr>
            <a:stCxn id="1693" idx="2"/>
            <a:endCxn id="1694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2" name="Google Shape;1702;p94"/>
          <p:cNvCxnSpPr>
            <a:stCxn id="1696" idx="2"/>
            <a:endCxn id="1697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3" name="Google Shape;1703;p94"/>
          <p:cNvCxnSpPr>
            <a:stCxn id="1696" idx="2"/>
            <a:endCxn id="1695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4" name="Google Shape;1704;p94"/>
          <p:cNvCxnSpPr>
            <a:stCxn id="1694" idx="2"/>
            <a:endCxn id="1695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5" name="Google Shape;1705;p94"/>
          <p:cNvCxnSpPr>
            <a:stCxn id="1692" idx="3"/>
            <a:endCxn id="1695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6" name="Google Shape;1706;p94"/>
          <p:cNvCxnSpPr>
            <a:stCxn id="1695" idx="2"/>
            <a:endCxn id="1698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07" name="Google Shape;1707;p94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</a:t>
            </a:r>
            <a:endParaRPr b="1"/>
          </a:p>
        </p:txBody>
      </p:sp>
      <p:cxnSp>
        <p:nvCxnSpPr>
          <p:cNvPr id="1708" name="Google Shape;1708;p94"/>
          <p:cNvCxnSpPr>
            <a:stCxn id="1707" idx="3"/>
            <a:endCxn id="1691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09" name="Google Shape;1709;p94"/>
          <p:cNvSpPr txBox="1"/>
          <p:nvPr/>
        </p:nvSpPr>
        <p:spPr>
          <a:xfrm>
            <a:off x="5379325" y="3394185"/>
            <a:ext cx="317400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710" name="Google Shape;1710;p94"/>
          <p:cNvSpPr txBox="1"/>
          <p:nvPr/>
        </p:nvSpPr>
        <p:spPr>
          <a:xfrm>
            <a:off x="8360475" y="4021762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1711" name="Google Shape;1711;p94"/>
          <p:cNvSpPr txBox="1"/>
          <p:nvPr/>
        </p:nvSpPr>
        <p:spPr>
          <a:xfrm>
            <a:off x="851250" y="2733125"/>
            <a:ext cx="37953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mark(7).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 7 == 7? Yes. Return true!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2" name="Google Shape;1712;p94"/>
          <p:cNvSpPr txBox="1"/>
          <p:nvPr/>
        </p:nvSpPr>
        <p:spPr>
          <a:xfrm>
            <a:off x="8233136" y="3589685"/>
            <a:ext cx="4191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</a:t>
            </a:r>
            <a:endParaRPr/>
          </a:p>
        </p:txBody>
      </p:sp>
      <p:pic>
        <p:nvPicPr>
          <p:cNvPr id="1713" name="Google Shape;1713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8756" y="2947311"/>
            <a:ext cx="176401" cy="176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4" name="Google Shape;1714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3382" y="3536912"/>
            <a:ext cx="176401" cy="176415"/>
          </a:xfrm>
          <a:prstGeom prst="rect">
            <a:avLst/>
          </a:prstGeom>
          <a:noFill/>
          <a:ln>
            <a:noFill/>
          </a:ln>
        </p:spPr>
      </p:pic>
      <p:sp>
        <p:nvSpPr>
          <p:cNvPr id="1715" name="Google Shape;1715;p9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s-t Connectivity</a:t>
            </a:r>
            <a:endParaRPr/>
          </a:p>
        </p:txBody>
      </p:sp>
      <p:sp>
        <p:nvSpPr>
          <p:cNvPr id="1716" name="Google Shape;1716;p94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connected(s, t): 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Mark 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Does s == t? If so,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Otherwise, if connected(v, t) for any unmarked neighbor v of s,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Return false.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7" name="Google Shape;1717;p94"/>
          <p:cNvSpPr txBox="1"/>
          <p:nvPr/>
        </p:nvSpPr>
        <p:spPr>
          <a:xfrm>
            <a:off x="851250" y="2123525"/>
            <a:ext cx="3795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Call stack: 0 → 1 → 2 → 5 → 6 → 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95"/>
          <p:cNvSpPr txBox="1"/>
          <p:nvPr/>
        </p:nvSpPr>
        <p:spPr>
          <a:xfrm>
            <a:off x="851250" y="2733125"/>
            <a:ext cx="37953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mark(6).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 6 == 7? No.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isMarked(5)? Yes.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isMarked(7)? No.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Check connected(7, 7).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was true, so return true.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3" name="Google Shape;1723;p95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724" name="Google Shape;1724;p95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725" name="Google Shape;1725;p95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726" name="Google Shape;1726;p95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727" name="Google Shape;1727;p95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728" name="Google Shape;1728;p95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729" name="Google Shape;1729;p95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7</a:t>
            </a:r>
            <a:endParaRPr b="1"/>
          </a:p>
        </p:txBody>
      </p:sp>
      <p:sp>
        <p:nvSpPr>
          <p:cNvPr id="1730" name="Google Shape;1730;p95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731" name="Google Shape;1731;p95"/>
          <p:cNvCxnSpPr>
            <a:stCxn id="1723" idx="2"/>
            <a:endCxn id="1724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32" name="Google Shape;1732;p95"/>
          <p:cNvCxnSpPr>
            <a:stCxn id="1723" idx="3"/>
            <a:endCxn id="1726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33" name="Google Shape;1733;p95"/>
          <p:cNvCxnSpPr>
            <a:stCxn id="1725" idx="2"/>
            <a:endCxn id="1726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34" name="Google Shape;1734;p95"/>
          <p:cNvCxnSpPr>
            <a:stCxn id="1728" idx="2"/>
            <a:endCxn id="1729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35" name="Google Shape;1735;p95"/>
          <p:cNvCxnSpPr>
            <a:stCxn id="1728" idx="2"/>
            <a:endCxn id="1727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36" name="Google Shape;1736;p95"/>
          <p:cNvCxnSpPr>
            <a:stCxn id="1726" idx="2"/>
            <a:endCxn id="1727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37" name="Google Shape;1737;p95"/>
          <p:cNvCxnSpPr>
            <a:stCxn id="1724" idx="3"/>
            <a:endCxn id="1727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38" name="Google Shape;1738;p95"/>
          <p:cNvCxnSpPr>
            <a:stCxn id="1727" idx="2"/>
            <a:endCxn id="1730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39" name="Google Shape;1739;p95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</a:t>
            </a:r>
            <a:endParaRPr b="1"/>
          </a:p>
        </p:txBody>
      </p:sp>
      <p:cxnSp>
        <p:nvCxnSpPr>
          <p:cNvPr id="1740" name="Google Shape;1740;p95"/>
          <p:cNvCxnSpPr>
            <a:stCxn id="1739" idx="3"/>
            <a:endCxn id="1723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1" name="Google Shape;1741;p95"/>
          <p:cNvSpPr txBox="1"/>
          <p:nvPr/>
        </p:nvSpPr>
        <p:spPr>
          <a:xfrm>
            <a:off x="5379325" y="3394185"/>
            <a:ext cx="317400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742" name="Google Shape;1742;p95"/>
          <p:cNvSpPr txBox="1"/>
          <p:nvPr/>
        </p:nvSpPr>
        <p:spPr>
          <a:xfrm>
            <a:off x="8360475" y="4021762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1743" name="Google Shape;1743;p95"/>
          <p:cNvSpPr txBox="1"/>
          <p:nvPr/>
        </p:nvSpPr>
        <p:spPr>
          <a:xfrm>
            <a:off x="7883245" y="2903885"/>
            <a:ext cx="4191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</a:t>
            </a:r>
            <a:endParaRPr/>
          </a:p>
        </p:txBody>
      </p:sp>
      <p:pic>
        <p:nvPicPr>
          <p:cNvPr id="1744" name="Google Shape;1744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8756" y="2947311"/>
            <a:ext cx="176401" cy="176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5" name="Google Shape;1745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3382" y="3536912"/>
            <a:ext cx="176401" cy="176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6" name="Google Shape;1746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10425" y="3524338"/>
            <a:ext cx="201550" cy="20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7" name="Google Shape;1747;p9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s-t Connectivity</a:t>
            </a:r>
            <a:endParaRPr/>
          </a:p>
        </p:txBody>
      </p:sp>
      <p:sp>
        <p:nvSpPr>
          <p:cNvPr id="1748" name="Google Shape;1748;p95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connected(s, t): 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Mark 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Does s == t? If so,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Otherwise, if connected(v, t) for any unmarked neighbor v of s,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Return false.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9" name="Google Shape;1749;p95"/>
          <p:cNvSpPr txBox="1"/>
          <p:nvPr/>
        </p:nvSpPr>
        <p:spPr>
          <a:xfrm>
            <a:off x="851250" y="2123525"/>
            <a:ext cx="3795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Call stack: 0 → 1 → 2 → 5 → 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p96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755" name="Google Shape;1755;p96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756" name="Google Shape;1756;p96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757" name="Google Shape;1757;p96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758" name="Google Shape;1758;p96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759" name="Google Shape;1759;p96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760" name="Google Shape;1760;p96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7</a:t>
            </a:r>
            <a:endParaRPr b="1"/>
          </a:p>
        </p:txBody>
      </p:sp>
      <p:sp>
        <p:nvSpPr>
          <p:cNvPr id="1761" name="Google Shape;1761;p96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762" name="Google Shape;1762;p96"/>
          <p:cNvCxnSpPr>
            <a:stCxn id="1754" idx="2"/>
            <a:endCxn id="1755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3" name="Google Shape;1763;p96"/>
          <p:cNvCxnSpPr>
            <a:stCxn id="1754" idx="3"/>
            <a:endCxn id="1757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4" name="Google Shape;1764;p96"/>
          <p:cNvCxnSpPr>
            <a:stCxn id="1756" idx="2"/>
            <a:endCxn id="1757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5" name="Google Shape;1765;p96"/>
          <p:cNvCxnSpPr>
            <a:stCxn id="1759" idx="2"/>
            <a:endCxn id="1760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6" name="Google Shape;1766;p96"/>
          <p:cNvCxnSpPr>
            <a:stCxn id="1759" idx="2"/>
            <a:endCxn id="1758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" name="Google Shape;1767;p96"/>
          <p:cNvCxnSpPr>
            <a:stCxn id="1757" idx="2"/>
            <a:endCxn id="1758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8" name="Google Shape;1768;p96"/>
          <p:cNvCxnSpPr>
            <a:stCxn id="1755" idx="3"/>
            <a:endCxn id="1758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9" name="Google Shape;1769;p96"/>
          <p:cNvCxnSpPr>
            <a:stCxn id="1758" idx="2"/>
            <a:endCxn id="1761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70" name="Google Shape;1770;p96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</a:t>
            </a:r>
            <a:endParaRPr b="1"/>
          </a:p>
        </p:txBody>
      </p:sp>
      <p:cxnSp>
        <p:nvCxnSpPr>
          <p:cNvPr id="1771" name="Google Shape;1771;p96"/>
          <p:cNvCxnSpPr>
            <a:stCxn id="1770" idx="3"/>
            <a:endCxn id="1754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72" name="Google Shape;1772;p96"/>
          <p:cNvSpPr txBox="1"/>
          <p:nvPr/>
        </p:nvSpPr>
        <p:spPr>
          <a:xfrm>
            <a:off x="5379325" y="3394185"/>
            <a:ext cx="317400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773" name="Google Shape;1773;p96"/>
          <p:cNvSpPr txBox="1"/>
          <p:nvPr/>
        </p:nvSpPr>
        <p:spPr>
          <a:xfrm>
            <a:off x="8360475" y="4021762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1774" name="Google Shape;1774;p96"/>
          <p:cNvSpPr txBox="1"/>
          <p:nvPr/>
        </p:nvSpPr>
        <p:spPr>
          <a:xfrm>
            <a:off x="851250" y="2733125"/>
            <a:ext cx="37953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mark(5).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 5 == 7? No.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isMarked(2)? Yes.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isMarked(4)? 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Check connected(4, 7). Answer was false, so keep checking neighbors.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isMarked(5)? Yes.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isMarked(6)?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Check connected(6, 7):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Return true!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5" name="Google Shape;1775;p96"/>
          <p:cNvSpPr txBox="1"/>
          <p:nvPr/>
        </p:nvSpPr>
        <p:spPr>
          <a:xfrm>
            <a:off x="7273645" y="3589685"/>
            <a:ext cx="4191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</a:t>
            </a:r>
            <a:endParaRPr/>
          </a:p>
        </p:txBody>
      </p:sp>
      <p:pic>
        <p:nvPicPr>
          <p:cNvPr id="1776" name="Google Shape;1776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8756" y="2947311"/>
            <a:ext cx="176401" cy="176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7" name="Google Shape;1777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3382" y="3536912"/>
            <a:ext cx="176401" cy="176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8" name="Google Shape;1778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8756" y="2947311"/>
            <a:ext cx="176401" cy="176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3382" y="3536912"/>
            <a:ext cx="176401" cy="176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0" name="Google Shape;1780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10425" y="3524338"/>
            <a:ext cx="201550" cy="20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1" name="Google Shape;1781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87925" y="3554738"/>
            <a:ext cx="201550" cy="20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2" name="Google Shape;1782;p9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s-t Connectivity</a:t>
            </a:r>
            <a:endParaRPr/>
          </a:p>
        </p:txBody>
      </p:sp>
      <p:sp>
        <p:nvSpPr>
          <p:cNvPr id="1783" name="Google Shape;1783;p96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connected(s, t): 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Mark 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Does s == t? If so,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Otherwise, if connected(v, t) for any unmarked neighbor v of s,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Return false.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4" name="Google Shape;1784;p96"/>
          <p:cNvSpPr txBox="1"/>
          <p:nvPr/>
        </p:nvSpPr>
        <p:spPr>
          <a:xfrm>
            <a:off x="851250" y="2123525"/>
            <a:ext cx="3795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Call stack: 0 → 1 → 2 → 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p97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790" name="Google Shape;1790;p97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791" name="Google Shape;1791;p97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792" name="Google Shape;1792;p97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793" name="Google Shape;1793;p97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794" name="Google Shape;1794;p97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795" name="Google Shape;1795;p97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7</a:t>
            </a:r>
            <a:endParaRPr b="1"/>
          </a:p>
        </p:txBody>
      </p:sp>
      <p:sp>
        <p:nvSpPr>
          <p:cNvPr id="1796" name="Google Shape;1796;p97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797" name="Google Shape;1797;p97"/>
          <p:cNvCxnSpPr>
            <a:stCxn id="1789" idx="2"/>
            <a:endCxn id="1790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8" name="Google Shape;1798;p97"/>
          <p:cNvCxnSpPr>
            <a:stCxn id="1789" idx="3"/>
            <a:endCxn id="1792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9" name="Google Shape;1799;p97"/>
          <p:cNvCxnSpPr>
            <a:stCxn id="1791" idx="2"/>
            <a:endCxn id="1792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0" name="Google Shape;1800;p97"/>
          <p:cNvCxnSpPr>
            <a:stCxn id="1794" idx="2"/>
            <a:endCxn id="1795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1" name="Google Shape;1801;p97"/>
          <p:cNvCxnSpPr>
            <a:stCxn id="1794" idx="2"/>
            <a:endCxn id="1793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2" name="Google Shape;1802;p97"/>
          <p:cNvCxnSpPr>
            <a:stCxn id="1792" idx="2"/>
            <a:endCxn id="1793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3" name="Google Shape;1803;p97"/>
          <p:cNvCxnSpPr>
            <a:stCxn id="1790" idx="3"/>
            <a:endCxn id="1793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4" name="Google Shape;1804;p97"/>
          <p:cNvCxnSpPr>
            <a:stCxn id="1793" idx="2"/>
            <a:endCxn id="1796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05" name="Google Shape;1805;p97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</a:t>
            </a:r>
            <a:endParaRPr b="1"/>
          </a:p>
        </p:txBody>
      </p:sp>
      <p:cxnSp>
        <p:nvCxnSpPr>
          <p:cNvPr id="1806" name="Google Shape;1806;p97"/>
          <p:cNvCxnSpPr>
            <a:stCxn id="1805" idx="3"/>
            <a:endCxn id="1789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07" name="Google Shape;1807;p97"/>
          <p:cNvSpPr txBox="1"/>
          <p:nvPr/>
        </p:nvSpPr>
        <p:spPr>
          <a:xfrm>
            <a:off x="5379325" y="3394185"/>
            <a:ext cx="317400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808" name="Google Shape;1808;p97"/>
          <p:cNvSpPr txBox="1"/>
          <p:nvPr/>
        </p:nvSpPr>
        <p:spPr>
          <a:xfrm>
            <a:off x="8360475" y="4021762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1809" name="Google Shape;1809;p97"/>
          <p:cNvSpPr txBox="1"/>
          <p:nvPr/>
        </p:nvSpPr>
        <p:spPr>
          <a:xfrm>
            <a:off x="851250" y="2733125"/>
            <a:ext cx="37953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mark(2).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 2 == 7? No.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isMarked(1)? Yes.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isMarked(5)? 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Check connected(5, 7).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was true, so return true!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0" name="Google Shape;1810;p97"/>
          <p:cNvSpPr txBox="1"/>
          <p:nvPr/>
        </p:nvSpPr>
        <p:spPr>
          <a:xfrm>
            <a:off x="6329958" y="3678665"/>
            <a:ext cx="4191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</a:t>
            </a:r>
            <a:endParaRPr/>
          </a:p>
        </p:txBody>
      </p:sp>
      <p:pic>
        <p:nvPicPr>
          <p:cNvPr id="1811" name="Google Shape;1811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8756" y="2947311"/>
            <a:ext cx="176401" cy="176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2" name="Google Shape;1812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3382" y="3536912"/>
            <a:ext cx="176401" cy="176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3" name="Google Shape;1813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10425" y="3524338"/>
            <a:ext cx="201550" cy="20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4" name="Google Shape;1814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87925" y="3554738"/>
            <a:ext cx="201550" cy="20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5" name="Google Shape;1815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7800" y="3896588"/>
            <a:ext cx="201550" cy="20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6" name="Google Shape;1816;p9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s-t Connectivity</a:t>
            </a:r>
            <a:endParaRPr/>
          </a:p>
        </p:txBody>
      </p:sp>
      <p:sp>
        <p:nvSpPr>
          <p:cNvPr id="1817" name="Google Shape;1817;p97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connected(s, t): 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Mark 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Does s == t? If so,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Otherwise, if connected(v, t) for any unmarked neighbor v of s,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Return false.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8" name="Google Shape;1818;p97"/>
          <p:cNvSpPr txBox="1"/>
          <p:nvPr/>
        </p:nvSpPr>
        <p:spPr>
          <a:xfrm>
            <a:off x="851250" y="2123525"/>
            <a:ext cx="3795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Call stack: 0 → 1 →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p98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824" name="Google Shape;1824;p98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825" name="Google Shape;1825;p98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826" name="Google Shape;1826;p98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827" name="Google Shape;1827;p98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828" name="Google Shape;1828;p98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829" name="Google Shape;1829;p98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7</a:t>
            </a:r>
            <a:endParaRPr b="1"/>
          </a:p>
        </p:txBody>
      </p:sp>
      <p:sp>
        <p:nvSpPr>
          <p:cNvPr id="1830" name="Google Shape;1830;p98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831" name="Google Shape;1831;p98"/>
          <p:cNvCxnSpPr>
            <a:stCxn id="1823" idx="2"/>
            <a:endCxn id="1824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2" name="Google Shape;1832;p98"/>
          <p:cNvCxnSpPr>
            <a:stCxn id="1823" idx="3"/>
            <a:endCxn id="1826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3" name="Google Shape;1833;p98"/>
          <p:cNvCxnSpPr>
            <a:stCxn id="1825" idx="2"/>
            <a:endCxn id="1826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4" name="Google Shape;1834;p98"/>
          <p:cNvCxnSpPr>
            <a:stCxn id="1828" idx="2"/>
            <a:endCxn id="1829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5" name="Google Shape;1835;p98"/>
          <p:cNvCxnSpPr>
            <a:stCxn id="1828" idx="2"/>
            <a:endCxn id="1827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6" name="Google Shape;1836;p98"/>
          <p:cNvCxnSpPr>
            <a:stCxn id="1826" idx="2"/>
            <a:endCxn id="1827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7" name="Google Shape;1837;p98"/>
          <p:cNvCxnSpPr>
            <a:stCxn id="1824" idx="3"/>
            <a:endCxn id="1827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8" name="Google Shape;1838;p98"/>
          <p:cNvCxnSpPr>
            <a:stCxn id="1827" idx="2"/>
            <a:endCxn id="1830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39" name="Google Shape;1839;p98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</a:t>
            </a:r>
            <a:endParaRPr b="1"/>
          </a:p>
        </p:txBody>
      </p:sp>
      <p:cxnSp>
        <p:nvCxnSpPr>
          <p:cNvPr id="1840" name="Google Shape;1840;p98"/>
          <p:cNvCxnSpPr>
            <a:stCxn id="1839" idx="3"/>
            <a:endCxn id="1823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41" name="Google Shape;1841;p98"/>
          <p:cNvSpPr txBox="1"/>
          <p:nvPr/>
        </p:nvSpPr>
        <p:spPr>
          <a:xfrm>
            <a:off x="5379325" y="3394185"/>
            <a:ext cx="317400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842" name="Google Shape;1842;p98"/>
          <p:cNvSpPr txBox="1"/>
          <p:nvPr/>
        </p:nvSpPr>
        <p:spPr>
          <a:xfrm>
            <a:off x="8360475" y="4021762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1843" name="Google Shape;1843;p98"/>
          <p:cNvSpPr txBox="1"/>
          <p:nvPr/>
        </p:nvSpPr>
        <p:spPr>
          <a:xfrm>
            <a:off x="851250" y="2733125"/>
            <a:ext cx="37953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mark(1).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 1 == 7? No.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isMarked(0)? Yes.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isMarked(2)? 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Check connected(2, 7).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was true, so return true!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4" name="Google Shape;1844;p98"/>
          <p:cNvSpPr txBox="1"/>
          <p:nvPr/>
        </p:nvSpPr>
        <p:spPr>
          <a:xfrm>
            <a:off x="6168343" y="2982950"/>
            <a:ext cx="4191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</a:t>
            </a:r>
            <a:endParaRPr/>
          </a:p>
        </p:txBody>
      </p:sp>
      <p:pic>
        <p:nvPicPr>
          <p:cNvPr id="1845" name="Google Shape;1845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8756" y="2947311"/>
            <a:ext cx="176401" cy="176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6" name="Google Shape;1846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3382" y="3536912"/>
            <a:ext cx="176401" cy="176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7" name="Google Shape;1847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10425" y="3524338"/>
            <a:ext cx="201550" cy="20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8" name="Google Shape;1848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87925" y="3554738"/>
            <a:ext cx="201550" cy="20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9" name="Google Shape;1849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7800" y="3896588"/>
            <a:ext cx="201550" cy="20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0" name="Google Shape;1850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1600" y="3582863"/>
            <a:ext cx="201550" cy="20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1" name="Google Shape;1851;p9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s-t Connectivity</a:t>
            </a:r>
            <a:endParaRPr/>
          </a:p>
        </p:txBody>
      </p:sp>
      <p:sp>
        <p:nvSpPr>
          <p:cNvPr id="1852" name="Google Shape;1852;p98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connected(s, t): 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Mark 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Does s == t? If so,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Otherwise, if connected(v, t) for any unmarked neighbor v of s,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Return false.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3" name="Google Shape;1853;p98"/>
          <p:cNvSpPr txBox="1"/>
          <p:nvPr/>
        </p:nvSpPr>
        <p:spPr>
          <a:xfrm>
            <a:off x="851250" y="2123525"/>
            <a:ext cx="3795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Call stack: 0 →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p99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859" name="Google Shape;1859;p99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860" name="Google Shape;1860;p99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861" name="Google Shape;1861;p99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862" name="Google Shape;1862;p99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863" name="Google Shape;1863;p99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864" name="Google Shape;1864;p99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7</a:t>
            </a:r>
            <a:endParaRPr b="1"/>
          </a:p>
        </p:txBody>
      </p:sp>
      <p:sp>
        <p:nvSpPr>
          <p:cNvPr id="1865" name="Google Shape;1865;p99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866" name="Google Shape;1866;p99"/>
          <p:cNvCxnSpPr>
            <a:stCxn id="1858" idx="2"/>
            <a:endCxn id="1859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7" name="Google Shape;1867;p99"/>
          <p:cNvCxnSpPr>
            <a:stCxn id="1858" idx="3"/>
            <a:endCxn id="1861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8" name="Google Shape;1868;p99"/>
          <p:cNvCxnSpPr>
            <a:stCxn id="1860" idx="2"/>
            <a:endCxn id="1861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9" name="Google Shape;1869;p99"/>
          <p:cNvCxnSpPr>
            <a:stCxn id="1863" idx="2"/>
            <a:endCxn id="1864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0" name="Google Shape;1870;p99"/>
          <p:cNvCxnSpPr>
            <a:stCxn id="1863" idx="2"/>
            <a:endCxn id="1862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1" name="Google Shape;1871;p99"/>
          <p:cNvCxnSpPr>
            <a:stCxn id="1861" idx="2"/>
            <a:endCxn id="1862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2" name="Google Shape;1872;p99"/>
          <p:cNvCxnSpPr>
            <a:stCxn id="1859" idx="3"/>
            <a:endCxn id="1862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3" name="Google Shape;1873;p99"/>
          <p:cNvCxnSpPr>
            <a:stCxn id="1862" idx="2"/>
            <a:endCxn id="1865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74" name="Google Shape;1874;p99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</a:t>
            </a:r>
            <a:endParaRPr b="1"/>
          </a:p>
        </p:txBody>
      </p:sp>
      <p:cxnSp>
        <p:nvCxnSpPr>
          <p:cNvPr id="1875" name="Google Shape;1875;p99"/>
          <p:cNvCxnSpPr>
            <a:stCxn id="1874" idx="3"/>
            <a:endCxn id="1858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76" name="Google Shape;1876;p99"/>
          <p:cNvSpPr txBox="1"/>
          <p:nvPr/>
        </p:nvSpPr>
        <p:spPr>
          <a:xfrm>
            <a:off x="5379325" y="3394185"/>
            <a:ext cx="317400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877" name="Google Shape;1877;p99"/>
          <p:cNvSpPr txBox="1"/>
          <p:nvPr/>
        </p:nvSpPr>
        <p:spPr>
          <a:xfrm>
            <a:off x="8360475" y="4021762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1878" name="Google Shape;1878;p99"/>
          <p:cNvSpPr txBox="1"/>
          <p:nvPr/>
        </p:nvSpPr>
        <p:spPr>
          <a:xfrm>
            <a:off x="851250" y="2733125"/>
            <a:ext cx="37953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mark(0).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 0 == 7? No.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isMarked(1)? No.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Check connected(1, 7).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was true, so return true!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9" name="Google Shape;1879;p99"/>
          <p:cNvSpPr txBox="1"/>
          <p:nvPr/>
        </p:nvSpPr>
        <p:spPr>
          <a:xfrm>
            <a:off x="5330143" y="2982950"/>
            <a:ext cx="4191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</a:t>
            </a:r>
            <a:endParaRPr/>
          </a:p>
        </p:txBody>
      </p:sp>
      <p:pic>
        <p:nvPicPr>
          <p:cNvPr id="1880" name="Google Shape;1880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8756" y="2947311"/>
            <a:ext cx="176401" cy="176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1" name="Google Shape;1881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3382" y="3536912"/>
            <a:ext cx="176401" cy="176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2" name="Google Shape;1882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10425" y="3524338"/>
            <a:ext cx="201550" cy="20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3" name="Google Shape;1883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87925" y="3554738"/>
            <a:ext cx="201550" cy="20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4" name="Google Shape;1884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7800" y="3896588"/>
            <a:ext cx="201550" cy="20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5" name="Google Shape;1885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1600" y="3582863"/>
            <a:ext cx="201550" cy="20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6" name="Google Shape;1886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1475" y="3249188"/>
            <a:ext cx="201550" cy="20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7" name="Google Shape;1887;p9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s-t Connectivity</a:t>
            </a:r>
            <a:endParaRPr/>
          </a:p>
        </p:txBody>
      </p:sp>
      <p:sp>
        <p:nvSpPr>
          <p:cNvPr id="1888" name="Google Shape;1888;p99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connected(s, t): 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Mark 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Does s == t? If so,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Otherwise, if connected(v, t) for any unmarked neighbor v of s,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Return false.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9" name="Google Shape;1889;p99"/>
          <p:cNvSpPr txBox="1"/>
          <p:nvPr/>
        </p:nvSpPr>
        <p:spPr>
          <a:xfrm>
            <a:off x="851250" y="2123525"/>
            <a:ext cx="3795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Call stack: 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Google Shape;1894;p100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connected(s, t): 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Mark 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Does s == t? If so,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Otherwise, if connected(v, t) for any unmarked neighbor v of s, return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Return false.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5" name="Google Shape;1895;p100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896" name="Google Shape;1896;p100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897" name="Google Shape;1897;p100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898" name="Google Shape;1898;p100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899" name="Google Shape;1899;p100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900" name="Google Shape;1900;p100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901" name="Google Shape;1901;p100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7</a:t>
            </a:r>
            <a:endParaRPr b="1"/>
          </a:p>
        </p:txBody>
      </p:sp>
      <p:sp>
        <p:nvSpPr>
          <p:cNvPr id="1902" name="Google Shape;1902;p100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903" name="Google Shape;1903;p100"/>
          <p:cNvCxnSpPr>
            <a:stCxn id="1895" idx="2"/>
            <a:endCxn id="1896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04" name="Google Shape;1904;p100"/>
          <p:cNvCxnSpPr>
            <a:stCxn id="1895" idx="3"/>
            <a:endCxn id="1898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05" name="Google Shape;1905;p100"/>
          <p:cNvCxnSpPr>
            <a:stCxn id="1897" idx="2"/>
            <a:endCxn id="1898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06" name="Google Shape;1906;p100"/>
          <p:cNvCxnSpPr>
            <a:stCxn id="1900" idx="2"/>
            <a:endCxn id="1901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07" name="Google Shape;1907;p100"/>
          <p:cNvCxnSpPr>
            <a:stCxn id="1900" idx="2"/>
            <a:endCxn id="1899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08" name="Google Shape;1908;p100"/>
          <p:cNvCxnSpPr>
            <a:stCxn id="1898" idx="2"/>
            <a:endCxn id="1899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09" name="Google Shape;1909;p100"/>
          <p:cNvCxnSpPr>
            <a:stCxn id="1896" idx="3"/>
            <a:endCxn id="1899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10" name="Google Shape;1910;p100"/>
          <p:cNvCxnSpPr>
            <a:stCxn id="1899" idx="2"/>
            <a:endCxn id="1902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11" name="Google Shape;1911;p100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</a:t>
            </a:r>
            <a:endParaRPr b="1"/>
          </a:p>
        </p:txBody>
      </p:sp>
      <p:cxnSp>
        <p:nvCxnSpPr>
          <p:cNvPr id="1912" name="Google Shape;1912;p100"/>
          <p:cNvCxnSpPr>
            <a:stCxn id="1911" idx="3"/>
            <a:endCxn id="1895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13" name="Google Shape;1913;p100"/>
          <p:cNvSpPr txBox="1"/>
          <p:nvPr/>
        </p:nvSpPr>
        <p:spPr>
          <a:xfrm>
            <a:off x="5379325" y="3394185"/>
            <a:ext cx="317400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914" name="Google Shape;1914;p100"/>
          <p:cNvSpPr txBox="1"/>
          <p:nvPr/>
        </p:nvSpPr>
        <p:spPr>
          <a:xfrm>
            <a:off x="8360475" y="4021762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sp>
        <p:nvSpPr>
          <p:cNvPr id="1915" name="Google Shape;1915;p100"/>
          <p:cNvSpPr txBox="1"/>
          <p:nvPr/>
        </p:nvSpPr>
        <p:spPr>
          <a:xfrm>
            <a:off x="5330143" y="2982950"/>
            <a:ext cx="4191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</a:t>
            </a:r>
            <a:endParaRPr/>
          </a:p>
        </p:txBody>
      </p:sp>
      <p:pic>
        <p:nvPicPr>
          <p:cNvPr id="1916" name="Google Shape;1916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8756" y="2947311"/>
            <a:ext cx="176401" cy="176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7" name="Google Shape;1917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3382" y="3536912"/>
            <a:ext cx="176401" cy="176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8" name="Google Shape;1918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10425" y="3524338"/>
            <a:ext cx="201550" cy="20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9" name="Google Shape;1919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87925" y="3554738"/>
            <a:ext cx="201550" cy="20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0" name="Google Shape;1920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7800" y="3896588"/>
            <a:ext cx="201550" cy="20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1" name="Google Shape;1921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1600" y="3582863"/>
            <a:ext cx="201550" cy="20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2" name="Google Shape;1922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1475" y="3249188"/>
            <a:ext cx="201550" cy="20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3" name="Google Shape;1923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3450" y="647068"/>
            <a:ext cx="494725" cy="4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4" name="Google Shape;1924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216049">
            <a:off x="4761725" y="2788156"/>
            <a:ext cx="494725" cy="4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5" name="Google Shape;1925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193081">
            <a:off x="5585150" y="2596256"/>
            <a:ext cx="494726" cy="4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6" name="Google Shape;1926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660966">
            <a:off x="4913599" y="2139756"/>
            <a:ext cx="494725" cy="4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7" name="Google Shape;1927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19713">
            <a:off x="5514350" y="1941156"/>
            <a:ext cx="494725" cy="494701"/>
          </a:xfrm>
          <a:prstGeom prst="rect">
            <a:avLst/>
          </a:prstGeom>
          <a:noFill/>
          <a:ln>
            <a:noFill/>
          </a:ln>
        </p:spPr>
      </p:pic>
      <p:sp>
        <p:nvSpPr>
          <p:cNvPr id="1928" name="Google Shape;1928;p10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s-t Connectivity</a:t>
            </a:r>
            <a:endParaRPr/>
          </a:p>
        </p:txBody>
      </p:sp>
      <p:sp>
        <p:nvSpPr>
          <p:cNvPr id="1929" name="Google Shape;1929;p100"/>
          <p:cNvSpPr txBox="1"/>
          <p:nvPr/>
        </p:nvSpPr>
        <p:spPr>
          <a:xfrm>
            <a:off x="851250" y="2733125"/>
            <a:ext cx="37953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mark(0).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 0 == 7? No.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isMarked(1)? No.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Check connected(1, 7).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was true, so return true!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p10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Depth First Traversal</a:t>
            </a:r>
            <a:endParaRPr/>
          </a:p>
        </p:txBody>
      </p:sp>
      <p:sp>
        <p:nvSpPr>
          <p:cNvPr id="1935" name="Google Shape;1935;p101"/>
          <p:cNvSpPr/>
          <p:nvPr/>
        </p:nvSpPr>
        <p:spPr>
          <a:xfrm>
            <a:off x="3086157" y="3045930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936" name="Google Shape;1936;p101"/>
          <p:cNvSpPr/>
          <p:nvPr/>
        </p:nvSpPr>
        <p:spPr>
          <a:xfrm>
            <a:off x="2768732" y="3556380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937" name="Google Shape;1937;p101"/>
          <p:cNvSpPr/>
          <p:nvPr/>
        </p:nvSpPr>
        <p:spPr>
          <a:xfrm>
            <a:off x="3897557" y="3045930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938" name="Google Shape;1938;p101"/>
          <p:cNvSpPr/>
          <p:nvPr/>
        </p:nvSpPr>
        <p:spPr>
          <a:xfrm>
            <a:off x="4740982" y="3045930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939" name="Google Shape;1939;p101"/>
          <p:cNvSpPr/>
          <p:nvPr/>
        </p:nvSpPr>
        <p:spPr>
          <a:xfrm>
            <a:off x="2480642" y="403319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940" name="Google Shape;1940;p101"/>
          <p:cNvSpPr/>
          <p:nvPr/>
        </p:nvSpPr>
        <p:spPr>
          <a:xfrm>
            <a:off x="2242592" y="448994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941" name="Google Shape;1941;p101"/>
          <p:cNvSpPr/>
          <p:nvPr/>
        </p:nvSpPr>
        <p:spPr>
          <a:xfrm>
            <a:off x="5738157" y="304591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7</a:t>
            </a:r>
            <a:endParaRPr b="1"/>
          </a:p>
        </p:txBody>
      </p:sp>
      <p:sp>
        <p:nvSpPr>
          <p:cNvPr id="1942" name="Google Shape;1942;p101"/>
          <p:cNvSpPr/>
          <p:nvPr/>
        </p:nvSpPr>
        <p:spPr>
          <a:xfrm>
            <a:off x="4343907" y="362114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943" name="Google Shape;1943;p101"/>
          <p:cNvCxnSpPr>
            <a:stCxn id="1935" idx="2"/>
            <a:endCxn id="1936" idx="0"/>
          </p:cNvCxnSpPr>
          <p:nvPr/>
        </p:nvCxnSpPr>
        <p:spPr>
          <a:xfrm flipH="1">
            <a:off x="2927457" y="3298830"/>
            <a:ext cx="3174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44" name="Google Shape;1944;p101"/>
          <p:cNvSpPr/>
          <p:nvPr/>
        </p:nvSpPr>
        <p:spPr>
          <a:xfrm>
            <a:off x="3452732" y="2427350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</a:t>
            </a:r>
            <a:endParaRPr b="1"/>
          </a:p>
        </p:txBody>
      </p:sp>
      <p:cxnSp>
        <p:nvCxnSpPr>
          <p:cNvPr id="1945" name="Google Shape;1945;p101"/>
          <p:cNvCxnSpPr>
            <a:stCxn id="1944" idx="2"/>
            <a:endCxn id="1935" idx="0"/>
          </p:cNvCxnSpPr>
          <p:nvPr/>
        </p:nvCxnSpPr>
        <p:spPr>
          <a:xfrm flipH="1">
            <a:off x="3244832" y="2680250"/>
            <a:ext cx="366600" cy="36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6" name="Google Shape;1946;p101"/>
          <p:cNvCxnSpPr>
            <a:stCxn id="1936" idx="2"/>
            <a:endCxn id="1939" idx="0"/>
          </p:cNvCxnSpPr>
          <p:nvPr/>
        </p:nvCxnSpPr>
        <p:spPr>
          <a:xfrm flipH="1">
            <a:off x="2639432" y="3809280"/>
            <a:ext cx="288000" cy="223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7" name="Google Shape;1947;p101"/>
          <p:cNvCxnSpPr>
            <a:stCxn id="1939" idx="2"/>
            <a:endCxn id="1940" idx="0"/>
          </p:cNvCxnSpPr>
          <p:nvPr/>
        </p:nvCxnSpPr>
        <p:spPr>
          <a:xfrm flipH="1">
            <a:off x="2401442" y="4286093"/>
            <a:ext cx="237900" cy="20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8" name="Google Shape;1948;p101"/>
          <p:cNvCxnSpPr>
            <a:stCxn id="1944" idx="2"/>
            <a:endCxn id="1937" idx="0"/>
          </p:cNvCxnSpPr>
          <p:nvPr/>
        </p:nvCxnSpPr>
        <p:spPr>
          <a:xfrm>
            <a:off x="3611432" y="2680250"/>
            <a:ext cx="444900" cy="36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9" name="Google Shape;1949;p101"/>
          <p:cNvCxnSpPr>
            <a:stCxn id="1937" idx="2"/>
            <a:endCxn id="1942" idx="0"/>
          </p:cNvCxnSpPr>
          <p:nvPr/>
        </p:nvCxnSpPr>
        <p:spPr>
          <a:xfrm>
            <a:off x="4056257" y="3298830"/>
            <a:ext cx="446400" cy="322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0" name="Google Shape;1950;p101"/>
          <p:cNvCxnSpPr>
            <a:stCxn id="1938" idx="2"/>
            <a:endCxn id="1942" idx="0"/>
          </p:cNvCxnSpPr>
          <p:nvPr/>
        </p:nvCxnSpPr>
        <p:spPr>
          <a:xfrm flipH="1">
            <a:off x="4502482" y="3298830"/>
            <a:ext cx="397200" cy="322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1" name="Google Shape;1951;p101"/>
          <p:cNvCxnSpPr>
            <a:stCxn id="1944" idx="2"/>
            <a:endCxn id="1938" idx="0"/>
          </p:cNvCxnSpPr>
          <p:nvPr/>
        </p:nvCxnSpPr>
        <p:spPr>
          <a:xfrm>
            <a:off x="3611432" y="2680250"/>
            <a:ext cx="1288200" cy="36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2" name="Google Shape;1952;p101"/>
          <p:cNvCxnSpPr>
            <a:stCxn id="1944" idx="2"/>
            <a:endCxn id="1941" idx="0"/>
          </p:cNvCxnSpPr>
          <p:nvPr/>
        </p:nvCxnSpPr>
        <p:spPr>
          <a:xfrm>
            <a:off x="3611432" y="2680250"/>
            <a:ext cx="2285400" cy="36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53" name="Google Shape;1953;p101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idea of exploring a neighbor’s entire subgraph before moving on to the next neighbor is known as Depth First Traversal or Depth First Search.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Explore 1’s subgraph completely before using the edge 0-3.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Called “depth first” because you go as deep as possible.</a:t>
            </a:r>
            <a:endParaRPr/>
          </a:p>
        </p:txBody>
      </p:sp>
      <p:sp>
        <p:nvSpPr>
          <p:cNvPr id="1954" name="Google Shape;1954;p101"/>
          <p:cNvSpPr txBox="1"/>
          <p:nvPr/>
        </p:nvSpPr>
        <p:spPr>
          <a:xfrm>
            <a:off x="3171325" y="2352116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955" name="Google Shape;1955;p101"/>
          <p:cNvSpPr txBox="1"/>
          <p:nvPr/>
        </p:nvSpPr>
        <p:spPr>
          <a:xfrm>
            <a:off x="4661300" y="3545556"/>
            <a:ext cx="4119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Google Shape;1960;p10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Depth First Traversal</a:t>
            </a:r>
            <a:endParaRPr/>
          </a:p>
        </p:txBody>
      </p:sp>
      <p:sp>
        <p:nvSpPr>
          <p:cNvPr id="1961" name="Google Shape;1961;p102"/>
          <p:cNvSpPr/>
          <p:nvPr/>
        </p:nvSpPr>
        <p:spPr>
          <a:xfrm>
            <a:off x="3086157" y="3045930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962" name="Google Shape;1962;p102"/>
          <p:cNvSpPr/>
          <p:nvPr/>
        </p:nvSpPr>
        <p:spPr>
          <a:xfrm>
            <a:off x="2768732" y="3556380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963" name="Google Shape;1963;p102"/>
          <p:cNvSpPr/>
          <p:nvPr/>
        </p:nvSpPr>
        <p:spPr>
          <a:xfrm>
            <a:off x="3897557" y="3045930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964" name="Google Shape;1964;p102"/>
          <p:cNvSpPr/>
          <p:nvPr/>
        </p:nvSpPr>
        <p:spPr>
          <a:xfrm>
            <a:off x="4740982" y="3045930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965" name="Google Shape;1965;p102"/>
          <p:cNvSpPr/>
          <p:nvPr/>
        </p:nvSpPr>
        <p:spPr>
          <a:xfrm>
            <a:off x="2480642" y="403319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966" name="Google Shape;1966;p102"/>
          <p:cNvSpPr/>
          <p:nvPr/>
        </p:nvSpPr>
        <p:spPr>
          <a:xfrm>
            <a:off x="2242592" y="448994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967" name="Google Shape;1967;p102"/>
          <p:cNvSpPr/>
          <p:nvPr/>
        </p:nvSpPr>
        <p:spPr>
          <a:xfrm>
            <a:off x="5738157" y="304591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7</a:t>
            </a:r>
            <a:endParaRPr b="1"/>
          </a:p>
        </p:txBody>
      </p:sp>
      <p:sp>
        <p:nvSpPr>
          <p:cNvPr id="1968" name="Google Shape;1968;p102"/>
          <p:cNvSpPr/>
          <p:nvPr/>
        </p:nvSpPr>
        <p:spPr>
          <a:xfrm>
            <a:off x="4343907" y="362114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1969" name="Google Shape;1969;p102"/>
          <p:cNvCxnSpPr>
            <a:stCxn id="1961" idx="2"/>
            <a:endCxn id="1962" idx="0"/>
          </p:cNvCxnSpPr>
          <p:nvPr/>
        </p:nvCxnSpPr>
        <p:spPr>
          <a:xfrm flipH="1">
            <a:off x="2927457" y="3298830"/>
            <a:ext cx="3174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70" name="Google Shape;1970;p102"/>
          <p:cNvSpPr/>
          <p:nvPr/>
        </p:nvSpPr>
        <p:spPr>
          <a:xfrm>
            <a:off x="3452732" y="2427350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0</a:t>
            </a:r>
            <a:endParaRPr b="1"/>
          </a:p>
        </p:txBody>
      </p:sp>
      <p:cxnSp>
        <p:nvCxnSpPr>
          <p:cNvPr id="1971" name="Google Shape;1971;p102"/>
          <p:cNvCxnSpPr>
            <a:stCxn id="1970" idx="2"/>
            <a:endCxn id="1961" idx="0"/>
          </p:cNvCxnSpPr>
          <p:nvPr/>
        </p:nvCxnSpPr>
        <p:spPr>
          <a:xfrm flipH="1">
            <a:off x="3244832" y="2680250"/>
            <a:ext cx="366600" cy="36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2" name="Google Shape;1972;p102"/>
          <p:cNvCxnSpPr>
            <a:stCxn id="1962" idx="2"/>
            <a:endCxn id="1965" idx="0"/>
          </p:cNvCxnSpPr>
          <p:nvPr/>
        </p:nvCxnSpPr>
        <p:spPr>
          <a:xfrm flipH="1">
            <a:off x="2639432" y="3809280"/>
            <a:ext cx="288000" cy="223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3" name="Google Shape;1973;p102"/>
          <p:cNvCxnSpPr>
            <a:stCxn id="1965" idx="2"/>
            <a:endCxn id="1966" idx="0"/>
          </p:cNvCxnSpPr>
          <p:nvPr/>
        </p:nvCxnSpPr>
        <p:spPr>
          <a:xfrm flipH="1">
            <a:off x="2401442" y="4286093"/>
            <a:ext cx="237900" cy="20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4" name="Google Shape;1974;p102"/>
          <p:cNvCxnSpPr>
            <a:stCxn id="1970" idx="2"/>
            <a:endCxn id="1963" idx="0"/>
          </p:cNvCxnSpPr>
          <p:nvPr/>
        </p:nvCxnSpPr>
        <p:spPr>
          <a:xfrm>
            <a:off x="3611432" y="2680250"/>
            <a:ext cx="444900" cy="36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5" name="Google Shape;1975;p102"/>
          <p:cNvCxnSpPr>
            <a:stCxn id="1963" idx="2"/>
            <a:endCxn id="1968" idx="0"/>
          </p:cNvCxnSpPr>
          <p:nvPr/>
        </p:nvCxnSpPr>
        <p:spPr>
          <a:xfrm>
            <a:off x="4056257" y="3298830"/>
            <a:ext cx="446400" cy="322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6" name="Google Shape;1976;p102"/>
          <p:cNvCxnSpPr>
            <a:stCxn id="1964" idx="2"/>
            <a:endCxn id="1968" idx="0"/>
          </p:cNvCxnSpPr>
          <p:nvPr/>
        </p:nvCxnSpPr>
        <p:spPr>
          <a:xfrm flipH="1">
            <a:off x="4502482" y="3298830"/>
            <a:ext cx="397200" cy="322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7" name="Google Shape;1977;p102"/>
          <p:cNvCxnSpPr>
            <a:stCxn id="1970" idx="2"/>
            <a:endCxn id="1964" idx="0"/>
          </p:cNvCxnSpPr>
          <p:nvPr/>
        </p:nvCxnSpPr>
        <p:spPr>
          <a:xfrm>
            <a:off x="3611432" y="2680250"/>
            <a:ext cx="1288200" cy="36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8" name="Google Shape;1978;p102"/>
          <p:cNvCxnSpPr>
            <a:stCxn id="1970" idx="2"/>
            <a:endCxn id="1967" idx="0"/>
          </p:cNvCxnSpPr>
          <p:nvPr/>
        </p:nvCxnSpPr>
        <p:spPr>
          <a:xfrm>
            <a:off x="3611432" y="2680250"/>
            <a:ext cx="2285400" cy="36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79" name="Google Shape;1979;p102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idea of exploring a neighbor’s entire subgraph before moving on to the next neighbor is known as Depth First Traversal.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Explore 1’s subgraph completely before using the edge 0-3.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Called “depth first” because you go as deep as possible.</a:t>
            </a:r>
            <a:endParaRPr/>
          </a:p>
        </p:txBody>
      </p:sp>
      <p:sp>
        <p:nvSpPr>
          <p:cNvPr id="1980" name="Google Shape;1980;p102"/>
          <p:cNvSpPr txBox="1"/>
          <p:nvPr/>
        </p:nvSpPr>
        <p:spPr>
          <a:xfrm>
            <a:off x="3171325" y="2352116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981" name="Google Shape;1981;p102"/>
          <p:cNvSpPr txBox="1"/>
          <p:nvPr/>
        </p:nvSpPr>
        <p:spPr>
          <a:xfrm>
            <a:off x="4661300" y="3545556"/>
            <a:ext cx="4119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endParaRPr/>
          </a:p>
        </p:txBody>
      </p:sp>
      <p:cxnSp>
        <p:nvCxnSpPr>
          <p:cNvPr id="1982" name="Google Shape;1982;p102"/>
          <p:cNvCxnSpPr>
            <a:stCxn id="1963" idx="1"/>
          </p:cNvCxnSpPr>
          <p:nvPr/>
        </p:nvCxnSpPr>
        <p:spPr>
          <a:xfrm flipH="1">
            <a:off x="2791757" y="3172380"/>
            <a:ext cx="1105800" cy="1013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83" name="Google Shape;1983;p102"/>
          <p:cNvSpPr txBox="1"/>
          <p:nvPr/>
        </p:nvSpPr>
        <p:spPr>
          <a:xfrm>
            <a:off x="3352200" y="3916400"/>
            <a:ext cx="4438200" cy="7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Entirely possible for 1’s subgraph to include 3!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It’s still depth first, since we’re not using the edge 0-3 until the subgraph is explored.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8" name="Google Shape;1988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025" y="183650"/>
            <a:ext cx="6490724" cy="256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9" name="Google Shape;1989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4450" y="2094725"/>
            <a:ext cx="2557625" cy="285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0" name="Google Shape;1990;p103"/>
          <p:cNvSpPr txBox="1"/>
          <p:nvPr/>
        </p:nvSpPr>
        <p:spPr>
          <a:xfrm>
            <a:off x="304800" y="3038400"/>
            <a:ext cx="5921100" cy="16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</a:t>
            </a: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https://xkcd.com/761/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p10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Power of Depth First Search</a:t>
            </a:r>
            <a:endParaRPr/>
          </a:p>
        </p:txBody>
      </p:sp>
      <p:sp>
        <p:nvSpPr>
          <p:cNvPr id="1996" name="Google Shape;1996;p104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DFS is a very powerful technique that can be used for many types of graph problems.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Another example: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Let’s discuss an algorithm that computes a path to every vertex.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Let’s call this algorithm DepthFirstPaths.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Find a path from s to every other reachable vertex, visiting each vertex at most once.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p105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dfs(v):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Mark v.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unmarked adjacent vertex w: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set edgeTo[w] = v. 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dfs(w)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2" name="Google Shape;2002;p105"/>
          <p:cNvSpPr txBox="1"/>
          <p:nvPr/>
        </p:nvSpPr>
        <p:spPr>
          <a:xfrm>
            <a:off x="2556637" y="2432667"/>
            <a:ext cx="30000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Start by calling dfs(0).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3" name="Google Shape;2003;p10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 DepthFirstPaths</a:t>
            </a:r>
            <a:endParaRPr/>
          </a:p>
        </p:txBody>
      </p:sp>
      <p:sp>
        <p:nvSpPr>
          <p:cNvPr id="2004" name="Google Shape;2004;p105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5" name="Google Shape;2005;p105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6" name="Google Shape;2006;p105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7" name="Google Shape;2007;p105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8" name="Google Shape;2008;p105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9" name="Google Shape;2009;p105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0" name="Google Shape;2010;p105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1" name="Google Shape;2011;p105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12" name="Google Shape;2012;p105"/>
          <p:cNvCxnSpPr>
            <a:stCxn id="2004" idx="2"/>
            <a:endCxn id="2005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3" name="Google Shape;2013;p105"/>
          <p:cNvCxnSpPr>
            <a:stCxn id="2004" idx="3"/>
            <a:endCxn id="2007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4" name="Google Shape;2014;p105"/>
          <p:cNvCxnSpPr>
            <a:stCxn id="2006" idx="2"/>
            <a:endCxn id="2007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5" name="Google Shape;2015;p105"/>
          <p:cNvCxnSpPr>
            <a:stCxn id="2009" idx="2"/>
            <a:endCxn id="2010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6" name="Google Shape;2016;p105"/>
          <p:cNvCxnSpPr>
            <a:stCxn id="2009" idx="2"/>
            <a:endCxn id="2008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7" name="Google Shape;2017;p105"/>
          <p:cNvCxnSpPr>
            <a:stCxn id="2007" idx="2"/>
            <a:endCxn id="2008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8" name="Google Shape;2018;p105"/>
          <p:cNvCxnSpPr>
            <a:stCxn id="2005" idx="3"/>
            <a:endCxn id="2008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9" name="Google Shape;2019;p105"/>
          <p:cNvCxnSpPr>
            <a:stCxn id="2008" idx="2"/>
            <a:endCxn id="2011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20" name="Google Shape;2020;p105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21" name="Google Shape;2021;p105"/>
          <p:cNvCxnSpPr>
            <a:stCxn id="2020" idx="3"/>
            <a:endCxn id="2004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22" name="Google Shape;2022;p105"/>
          <p:cNvSpPr txBox="1"/>
          <p:nvPr/>
        </p:nvSpPr>
        <p:spPr>
          <a:xfrm>
            <a:off x="5379325" y="3394186"/>
            <a:ext cx="317400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3" name="Google Shape;2023;p105"/>
          <p:cNvSpPr txBox="1"/>
          <p:nvPr/>
        </p:nvSpPr>
        <p:spPr>
          <a:xfrm>
            <a:off x="176300" y="2474350"/>
            <a:ext cx="24264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24" name="Google Shape;2024;p105"/>
          <p:cNvSpPr txBox="1"/>
          <p:nvPr/>
        </p:nvSpPr>
        <p:spPr>
          <a:xfrm>
            <a:off x="5615300" y="2105675"/>
            <a:ext cx="30303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calls: 0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5" name="Google Shape;2025;p105"/>
          <p:cNvSpPr txBox="1"/>
          <p:nvPr/>
        </p:nvSpPr>
        <p:spPr>
          <a:xfrm>
            <a:off x="5615300" y="4710300"/>
            <a:ext cx="27162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returns: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6" name="Google Shape;2026;p105"/>
          <p:cNvSpPr txBox="1"/>
          <p:nvPr/>
        </p:nvSpPr>
        <p:spPr>
          <a:xfrm>
            <a:off x="5615300" y="962675"/>
            <a:ext cx="3030300" cy="10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Call stack: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dfs(0)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" name="Google Shape;2031;p106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dfs(v):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Mark v.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unmarked adjacent vertex w: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set edgeTo[w] = v. 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dfs(w)</a:t>
            </a:r>
            <a:endParaRPr/>
          </a:p>
        </p:txBody>
      </p:sp>
      <p:sp>
        <p:nvSpPr>
          <p:cNvPr id="2032" name="Google Shape;2032;p10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DepthFirstPaths</a:t>
            </a:r>
            <a:endParaRPr/>
          </a:p>
        </p:txBody>
      </p:sp>
      <p:sp>
        <p:nvSpPr>
          <p:cNvPr id="2033" name="Google Shape;2033;p106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4" name="Google Shape;2034;p106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5" name="Google Shape;2035;p106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6" name="Google Shape;2036;p106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7" name="Google Shape;2037;p106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8" name="Google Shape;2038;p106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9" name="Google Shape;2039;p106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0" name="Google Shape;2040;p106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41" name="Google Shape;2041;p106"/>
          <p:cNvCxnSpPr>
            <a:stCxn id="2033" idx="2"/>
            <a:endCxn id="2034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2" name="Google Shape;2042;p106"/>
          <p:cNvCxnSpPr>
            <a:stCxn id="2033" idx="3"/>
            <a:endCxn id="2036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3" name="Google Shape;2043;p106"/>
          <p:cNvCxnSpPr>
            <a:stCxn id="2035" idx="2"/>
            <a:endCxn id="2036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4" name="Google Shape;2044;p106"/>
          <p:cNvCxnSpPr>
            <a:stCxn id="2038" idx="2"/>
            <a:endCxn id="2039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5" name="Google Shape;2045;p106"/>
          <p:cNvCxnSpPr>
            <a:stCxn id="2038" idx="2"/>
            <a:endCxn id="2037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6" name="Google Shape;2046;p106"/>
          <p:cNvCxnSpPr>
            <a:stCxn id="2036" idx="2"/>
            <a:endCxn id="2037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7" name="Google Shape;2047;p106"/>
          <p:cNvCxnSpPr>
            <a:stCxn id="2034" idx="3"/>
            <a:endCxn id="2037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8" name="Google Shape;2048;p106"/>
          <p:cNvCxnSpPr>
            <a:stCxn id="2037" idx="2"/>
            <a:endCxn id="2040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49" name="Google Shape;2049;p106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50" name="Google Shape;2050;p106"/>
          <p:cNvCxnSpPr>
            <a:stCxn id="2049" idx="3"/>
            <a:endCxn id="2033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51" name="Google Shape;2051;p106"/>
          <p:cNvSpPr txBox="1"/>
          <p:nvPr/>
        </p:nvSpPr>
        <p:spPr>
          <a:xfrm>
            <a:off x="5379325" y="3394188"/>
            <a:ext cx="3246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2" name="Google Shape;2052;p106"/>
          <p:cNvSpPr txBox="1"/>
          <p:nvPr/>
        </p:nvSpPr>
        <p:spPr>
          <a:xfrm>
            <a:off x="2680050" y="2656925"/>
            <a:ext cx="26994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mark(0).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isMarked(1)? No.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edgeTo[1] = 0.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dfs(1).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3" name="Google Shape;2053;p106"/>
          <p:cNvSpPr txBox="1"/>
          <p:nvPr/>
        </p:nvSpPr>
        <p:spPr>
          <a:xfrm>
            <a:off x="5330143" y="2982950"/>
            <a:ext cx="4191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*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4" name="Google Shape;2054;p106"/>
          <p:cNvSpPr txBox="1"/>
          <p:nvPr/>
        </p:nvSpPr>
        <p:spPr>
          <a:xfrm>
            <a:off x="176300" y="2474350"/>
            <a:ext cx="24264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F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55" name="Google Shape;2055;p106"/>
          <p:cNvSpPr txBox="1"/>
          <p:nvPr/>
        </p:nvSpPr>
        <p:spPr>
          <a:xfrm>
            <a:off x="5615300" y="4710300"/>
            <a:ext cx="27162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returns: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6" name="Google Shape;2056;p106"/>
          <p:cNvSpPr txBox="1"/>
          <p:nvPr/>
        </p:nvSpPr>
        <p:spPr>
          <a:xfrm>
            <a:off x="5615300" y="2105675"/>
            <a:ext cx="30303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calls: 01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7" name="Google Shape;2057;p106"/>
          <p:cNvSpPr txBox="1"/>
          <p:nvPr/>
        </p:nvSpPr>
        <p:spPr>
          <a:xfrm>
            <a:off x="2556637" y="2432667"/>
            <a:ext cx="30000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dfs(0):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8" name="Google Shape;2058;p106"/>
          <p:cNvSpPr/>
          <p:nvPr/>
        </p:nvSpPr>
        <p:spPr>
          <a:xfrm>
            <a:off x="1084280" y="2781307"/>
            <a:ext cx="231600" cy="213300"/>
          </a:xfrm>
          <a:prstGeom prst="ellipse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9" name="Google Shape;2059;p106"/>
          <p:cNvSpPr/>
          <p:nvPr/>
        </p:nvSpPr>
        <p:spPr>
          <a:xfrm>
            <a:off x="1959551" y="2989313"/>
            <a:ext cx="231600" cy="213300"/>
          </a:xfrm>
          <a:prstGeom prst="ellipse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0" name="Google Shape;2060;p106"/>
          <p:cNvSpPr txBox="1"/>
          <p:nvPr/>
        </p:nvSpPr>
        <p:spPr>
          <a:xfrm>
            <a:off x="5615300" y="962675"/>
            <a:ext cx="3030300" cy="10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Call stack: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dfs(0)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Google Shape;2065;p107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dfs(v):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Mark v.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unmarked adjacent vertex w: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set edgeTo[w] = v. 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dfs(w)</a:t>
            </a:r>
            <a:endParaRPr/>
          </a:p>
        </p:txBody>
      </p:sp>
      <p:sp>
        <p:nvSpPr>
          <p:cNvPr id="2066" name="Google Shape;2066;p10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DepthFirstPaths</a:t>
            </a:r>
            <a:endParaRPr/>
          </a:p>
        </p:txBody>
      </p:sp>
      <p:sp>
        <p:nvSpPr>
          <p:cNvPr id="2067" name="Google Shape;2067;p107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8" name="Google Shape;2068;p107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9" name="Google Shape;2069;p107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0" name="Google Shape;2070;p107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1" name="Google Shape;2071;p107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2" name="Google Shape;2072;p107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3" name="Google Shape;2073;p107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4" name="Google Shape;2074;p107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75" name="Google Shape;2075;p107"/>
          <p:cNvCxnSpPr>
            <a:stCxn id="2067" idx="2"/>
            <a:endCxn id="2068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76" name="Google Shape;2076;p107"/>
          <p:cNvCxnSpPr>
            <a:stCxn id="2067" idx="3"/>
            <a:endCxn id="2070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77" name="Google Shape;2077;p107"/>
          <p:cNvCxnSpPr>
            <a:stCxn id="2069" idx="2"/>
            <a:endCxn id="2070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78" name="Google Shape;2078;p107"/>
          <p:cNvCxnSpPr>
            <a:stCxn id="2072" idx="2"/>
            <a:endCxn id="2073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79" name="Google Shape;2079;p107"/>
          <p:cNvCxnSpPr>
            <a:stCxn id="2072" idx="2"/>
            <a:endCxn id="2071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80" name="Google Shape;2080;p107"/>
          <p:cNvCxnSpPr>
            <a:stCxn id="2070" idx="2"/>
            <a:endCxn id="2071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81" name="Google Shape;2081;p107"/>
          <p:cNvCxnSpPr>
            <a:stCxn id="2068" idx="3"/>
            <a:endCxn id="2071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82" name="Google Shape;2082;p107"/>
          <p:cNvCxnSpPr>
            <a:stCxn id="2071" idx="2"/>
            <a:endCxn id="2074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83" name="Google Shape;2083;p107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84" name="Google Shape;2084;p107"/>
          <p:cNvCxnSpPr>
            <a:stCxn id="2083" idx="3"/>
            <a:endCxn id="2067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85" name="Google Shape;2085;p107"/>
          <p:cNvSpPr txBox="1"/>
          <p:nvPr/>
        </p:nvSpPr>
        <p:spPr>
          <a:xfrm>
            <a:off x="5379325" y="3394193"/>
            <a:ext cx="351900" cy="3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6" name="Google Shape;2086;p107"/>
          <p:cNvSpPr txBox="1"/>
          <p:nvPr/>
        </p:nvSpPr>
        <p:spPr>
          <a:xfrm>
            <a:off x="2680050" y="2656925"/>
            <a:ext cx="25365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mark(1).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isMarked(0)? Yes.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isMarked(2)? No.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edgeTo[2] = 1. </a:t>
            </a:r>
            <a:r>
              <a:rPr lang="en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dfs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(2).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7" name="Google Shape;2087;p107"/>
          <p:cNvSpPr txBox="1"/>
          <p:nvPr/>
        </p:nvSpPr>
        <p:spPr>
          <a:xfrm>
            <a:off x="6168343" y="2982950"/>
            <a:ext cx="4191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*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8" name="Google Shape;2088;p107"/>
          <p:cNvSpPr txBox="1"/>
          <p:nvPr/>
        </p:nvSpPr>
        <p:spPr>
          <a:xfrm>
            <a:off x="176300" y="2474350"/>
            <a:ext cx="24264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T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F    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89" name="Google Shape;2089;p107"/>
          <p:cNvSpPr txBox="1"/>
          <p:nvPr/>
        </p:nvSpPr>
        <p:spPr>
          <a:xfrm>
            <a:off x="5615300" y="4710300"/>
            <a:ext cx="27162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returns: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0" name="Google Shape;2090;p107"/>
          <p:cNvSpPr txBox="1"/>
          <p:nvPr/>
        </p:nvSpPr>
        <p:spPr>
          <a:xfrm>
            <a:off x="5615300" y="2105675"/>
            <a:ext cx="30303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calls: 012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1" name="Google Shape;2091;p107"/>
          <p:cNvSpPr txBox="1"/>
          <p:nvPr/>
        </p:nvSpPr>
        <p:spPr>
          <a:xfrm>
            <a:off x="2556637" y="2432667"/>
            <a:ext cx="30000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dfs(1):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2" name="Google Shape;2092;p107"/>
          <p:cNvSpPr/>
          <p:nvPr/>
        </p:nvSpPr>
        <p:spPr>
          <a:xfrm>
            <a:off x="1084280" y="2989313"/>
            <a:ext cx="231600" cy="213300"/>
          </a:xfrm>
          <a:prstGeom prst="ellipse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3" name="Google Shape;2093;p107"/>
          <p:cNvSpPr/>
          <p:nvPr/>
        </p:nvSpPr>
        <p:spPr>
          <a:xfrm>
            <a:off x="1959551" y="3199378"/>
            <a:ext cx="231600" cy="213300"/>
          </a:xfrm>
          <a:prstGeom prst="ellipse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4" name="Google Shape;2094;p107"/>
          <p:cNvSpPr txBox="1"/>
          <p:nvPr/>
        </p:nvSpPr>
        <p:spPr>
          <a:xfrm>
            <a:off x="5615300" y="962675"/>
            <a:ext cx="3030300" cy="10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Call stack: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dfs(0) → dfs(1)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" name="Google Shape;2099;p108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dfs(v):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Mark v.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unmarked adjacent vertex w: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set edgeTo[w] = v. 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dfs(w)</a:t>
            </a:r>
            <a:endParaRPr/>
          </a:p>
        </p:txBody>
      </p:sp>
      <p:sp>
        <p:nvSpPr>
          <p:cNvPr id="2100" name="Google Shape;2100;p10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DepthFirstPaths</a:t>
            </a:r>
            <a:endParaRPr/>
          </a:p>
        </p:txBody>
      </p:sp>
      <p:sp>
        <p:nvSpPr>
          <p:cNvPr id="2101" name="Google Shape;2101;p108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2" name="Google Shape;2102;p108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3" name="Google Shape;2103;p108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4" name="Google Shape;2104;p108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5" name="Google Shape;2105;p108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6" name="Google Shape;2106;p108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7" name="Google Shape;2107;p108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8" name="Google Shape;2108;p108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09" name="Google Shape;2109;p108"/>
          <p:cNvCxnSpPr>
            <a:stCxn id="2101" idx="2"/>
            <a:endCxn id="2102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0" name="Google Shape;2110;p108"/>
          <p:cNvCxnSpPr>
            <a:stCxn id="2101" idx="3"/>
            <a:endCxn id="2104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1" name="Google Shape;2111;p108"/>
          <p:cNvCxnSpPr>
            <a:stCxn id="2103" idx="2"/>
            <a:endCxn id="2104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2" name="Google Shape;2112;p108"/>
          <p:cNvCxnSpPr>
            <a:stCxn id="2106" idx="2"/>
            <a:endCxn id="2107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3" name="Google Shape;2113;p108"/>
          <p:cNvCxnSpPr>
            <a:stCxn id="2106" idx="2"/>
            <a:endCxn id="2105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4" name="Google Shape;2114;p108"/>
          <p:cNvCxnSpPr>
            <a:stCxn id="2104" idx="2"/>
            <a:endCxn id="2105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5" name="Google Shape;2115;p108"/>
          <p:cNvCxnSpPr>
            <a:stCxn id="2102" idx="3"/>
            <a:endCxn id="2105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6" name="Google Shape;2116;p108"/>
          <p:cNvCxnSpPr>
            <a:stCxn id="2105" idx="2"/>
            <a:endCxn id="2108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17" name="Google Shape;2117;p108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18" name="Google Shape;2118;p108"/>
          <p:cNvCxnSpPr>
            <a:stCxn id="2117" idx="3"/>
            <a:endCxn id="2101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19" name="Google Shape;2119;p108"/>
          <p:cNvSpPr txBox="1"/>
          <p:nvPr/>
        </p:nvSpPr>
        <p:spPr>
          <a:xfrm>
            <a:off x="5379325" y="3394190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0" name="Google Shape;2120;p108"/>
          <p:cNvSpPr txBox="1"/>
          <p:nvPr/>
        </p:nvSpPr>
        <p:spPr>
          <a:xfrm>
            <a:off x="2680050" y="2656925"/>
            <a:ext cx="26004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mark(2).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isMarked(1)? Yes.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isMarked(5)? No.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edgeTo[5] = 2. </a:t>
            </a:r>
            <a:r>
              <a:rPr lang="en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dfs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(5).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1" name="Google Shape;2121;p108"/>
          <p:cNvSpPr txBox="1"/>
          <p:nvPr/>
        </p:nvSpPr>
        <p:spPr>
          <a:xfrm>
            <a:off x="6329958" y="3678665"/>
            <a:ext cx="4191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*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2" name="Google Shape;2122;p108"/>
          <p:cNvSpPr txBox="1"/>
          <p:nvPr/>
        </p:nvSpPr>
        <p:spPr>
          <a:xfrm>
            <a:off x="176300" y="2474350"/>
            <a:ext cx="24264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T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T    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F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23" name="Google Shape;2123;p108"/>
          <p:cNvSpPr txBox="1"/>
          <p:nvPr/>
        </p:nvSpPr>
        <p:spPr>
          <a:xfrm>
            <a:off x="5615300" y="4710300"/>
            <a:ext cx="27162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returns: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4" name="Google Shape;2124;p108"/>
          <p:cNvSpPr txBox="1"/>
          <p:nvPr/>
        </p:nvSpPr>
        <p:spPr>
          <a:xfrm>
            <a:off x="5615300" y="2105675"/>
            <a:ext cx="30303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calls: 0125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5" name="Google Shape;2125;p108"/>
          <p:cNvSpPr txBox="1"/>
          <p:nvPr/>
        </p:nvSpPr>
        <p:spPr>
          <a:xfrm>
            <a:off x="2556637" y="2432667"/>
            <a:ext cx="30000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dfs(2):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6" name="Google Shape;2126;p108"/>
          <p:cNvSpPr/>
          <p:nvPr/>
        </p:nvSpPr>
        <p:spPr>
          <a:xfrm>
            <a:off x="1084280" y="3199378"/>
            <a:ext cx="231600" cy="213300"/>
          </a:xfrm>
          <a:prstGeom prst="ellipse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7" name="Google Shape;2127;p108"/>
          <p:cNvSpPr/>
          <p:nvPr/>
        </p:nvSpPr>
        <p:spPr>
          <a:xfrm>
            <a:off x="1959551" y="3827513"/>
            <a:ext cx="231600" cy="213300"/>
          </a:xfrm>
          <a:prstGeom prst="ellipse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8" name="Google Shape;2128;p108"/>
          <p:cNvSpPr txBox="1"/>
          <p:nvPr/>
        </p:nvSpPr>
        <p:spPr>
          <a:xfrm>
            <a:off x="5615300" y="962675"/>
            <a:ext cx="3030300" cy="10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Call stack: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dfs(0) → dfs(1) → dfs(2)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3" name="Google Shape;2133;p109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dfs(v):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Mark v.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unmarked adjacent vertex w: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set edgeTo[w] = v. 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dfs(w)</a:t>
            </a:r>
            <a:endParaRPr/>
          </a:p>
        </p:txBody>
      </p:sp>
      <p:sp>
        <p:nvSpPr>
          <p:cNvPr id="2134" name="Google Shape;2134;p10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DepthFirstPaths</a:t>
            </a:r>
            <a:endParaRPr/>
          </a:p>
        </p:txBody>
      </p:sp>
      <p:sp>
        <p:nvSpPr>
          <p:cNvPr id="2135" name="Google Shape;2135;p109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6" name="Google Shape;2136;p109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7" name="Google Shape;2137;p109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8" name="Google Shape;2138;p109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9" name="Google Shape;2139;p109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0" name="Google Shape;2140;p109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1" name="Google Shape;2141;p109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2" name="Google Shape;2142;p109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43" name="Google Shape;2143;p109"/>
          <p:cNvCxnSpPr>
            <a:stCxn id="2135" idx="2"/>
            <a:endCxn id="2136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4" name="Google Shape;2144;p109"/>
          <p:cNvCxnSpPr>
            <a:stCxn id="2135" idx="3"/>
            <a:endCxn id="2138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5" name="Google Shape;2145;p109"/>
          <p:cNvCxnSpPr>
            <a:stCxn id="2137" idx="2"/>
            <a:endCxn id="2138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6" name="Google Shape;2146;p109"/>
          <p:cNvCxnSpPr>
            <a:stCxn id="2140" idx="2"/>
            <a:endCxn id="2141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7" name="Google Shape;2147;p109"/>
          <p:cNvCxnSpPr>
            <a:stCxn id="2140" idx="2"/>
            <a:endCxn id="2139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8" name="Google Shape;2148;p109"/>
          <p:cNvCxnSpPr>
            <a:stCxn id="2138" idx="2"/>
            <a:endCxn id="2139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9" name="Google Shape;2149;p109"/>
          <p:cNvCxnSpPr>
            <a:stCxn id="2136" idx="3"/>
            <a:endCxn id="2139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50" name="Google Shape;2150;p109"/>
          <p:cNvCxnSpPr>
            <a:stCxn id="2139" idx="2"/>
            <a:endCxn id="2142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51" name="Google Shape;2151;p109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52" name="Google Shape;2152;p109"/>
          <p:cNvCxnSpPr>
            <a:stCxn id="2151" idx="3"/>
            <a:endCxn id="2135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53" name="Google Shape;2153;p109"/>
          <p:cNvSpPr txBox="1"/>
          <p:nvPr/>
        </p:nvSpPr>
        <p:spPr>
          <a:xfrm>
            <a:off x="5379325" y="3394190"/>
            <a:ext cx="3930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4" name="Google Shape;2154;p109"/>
          <p:cNvSpPr txBox="1"/>
          <p:nvPr/>
        </p:nvSpPr>
        <p:spPr>
          <a:xfrm>
            <a:off x="2680050" y="2656925"/>
            <a:ext cx="25455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mark(5).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isMarked(2)? Yes.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isMarked(4)? No.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edgeTo[4] = 5. </a:t>
            </a:r>
            <a:r>
              <a:rPr lang="en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dfs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(4).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5" name="Google Shape;2155;p109"/>
          <p:cNvSpPr txBox="1"/>
          <p:nvPr/>
        </p:nvSpPr>
        <p:spPr>
          <a:xfrm>
            <a:off x="7273645" y="3589685"/>
            <a:ext cx="4191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*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6" name="Google Shape;2156;p109"/>
          <p:cNvSpPr txBox="1"/>
          <p:nvPr/>
        </p:nvSpPr>
        <p:spPr>
          <a:xfrm>
            <a:off x="176300" y="2474350"/>
            <a:ext cx="24264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T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T    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F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T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57" name="Google Shape;2157;p109"/>
          <p:cNvSpPr txBox="1"/>
          <p:nvPr/>
        </p:nvSpPr>
        <p:spPr>
          <a:xfrm>
            <a:off x="5615300" y="4710300"/>
            <a:ext cx="27162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returns: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8" name="Google Shape;2158;p109"/>
          <p:cNvSpPr txBox="1"/>
          <p:nvPr/>
        </p:nvSpPr>
        <p:spPr>
          <a:xfrm>
            <a:off x="5615300" y="2105675"/>
            <a:ext cx="30303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calls: 01254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9" name="Google Shape;2159;p109"/>
          <p:cNvSpPr txBox="1"/>
          <p:nvPr/>
        </p:nvSpPr>
        <p:spPr>
          <a:xfrm>
            <a:off x="2556637" y="2432667"/>
            <a:ext cx="30000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dfs(5):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0" name="Google Shape;2160;p109"/>
          <p:cNvSpPr/>
          <p:nvPr/>
        </p:nvSpPr>
        <p:spPr>
          <a:xfrm>
            <a:off x="1959551" y="3619507"/>
            <a:ext cx="231600" cy="213300"/>
          </a:xfrm>
          <a:prstGeom prst="ellipse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1" name="Google Shape;2161;p109"/>
          <p:cNvSpPr/>
          <p:nvPr/>
        </p:nvSpPr>
        <p:spPr>
          <a:xfrm>
            <a:off x="1084280" y="3827513"/>
            <a:ext cx="231600" cy="213300"/>
          </a:xfrm>
          <a:prstGeom prst="ellipse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2" name="Google Shape;2162;p109"/>
          <p:cNvSpPr txBox="1"/>
          <p:nvPr/>
        </p:nvSpPr>
        <p:spPr>
          <a:xfrm>
            <a:off x="5615300" y="962675"/>
            <a:ext cx="3030300" cy="10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Call stack: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dfs(0) → dfs(1) → dfs(2) → dfs(5)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" name="Google Shape;2167;p110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dfs(v):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Mark v.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unmarked adjacent vertex w: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set edgeTo[w] = v. 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dfs(w)</a:t>
            </a:r>
            <a:endParaRPr/>
          </a:p>
        </p:txBody>
      </p:sp>
      <p:sp>
        <p:nvSpPr>
          <p:cNvPr id="2168" name="Google Shape;2168;p1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DepthFirstPaths</a:t>
            </a:r>
            <a:endParaRPr/>
          </a:p>
        </p:txBody>
      </p:sp>
      <p:sp>
        <p:nvSpPr>
          <p:cNvPr id="2169" name="Google Shape;2169;p110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0" name="Google Shape;2170;p110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1" name="Google Shape;2171;p110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2" name="Google Shape;2172;p110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3" name="Google Shape;2173;p110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4" name="Google Shape;2174;p110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5" name="Google Shape;2175;p110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6" name="Google Shape;2176;p110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77" name="Google Shape;2177;p110"/>
          <p:cNvCxnSpPr>
            <a:stCxn id="2169" idx="2"/>
            <a:endCxn id="2170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8" name="Google Shape;2178;p110"/>
          <p:cNvCxnSpPr>
            <a:stCxn id="2169" idx="3"/>
            <a:endCxn id="2172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9" name="Google Shape;2179;p110"/>
          <p:cNvCxnSpPr>
            <a:stCxn id="2171" idx="2"/>
            <a:endCxn id="2172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0" name="Google Shape;2180;p110"/>
          <p:cNvCxnSpPr>
            <a:stCxn id="2174" idx="2"/>
            <a:endCxn id="2175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1" name="Google Shape;2181;p110"/>
          <p:cNvCxnSpPr>
            <a:stCxn id="2174" idx="2"/>
            <a:endCxn id="2173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2" name="Google Shape;2182;p110"/>
          <p:cNvCxnSpPr>
            <a:stCxn id="2172" idx="2"/>
            <a:endCxn id="2173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3" name="Google Shape;2183;p110"/>
          <p:cNvCxnSpPr>
            <a:stCxn id="2170" idx="3"/>
            <a:endCxn id="2173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4" name="Google Shape;2184;p110"/>
          <p:cNvCxnSpPr>
            <a:stCxn id="2173" idx="2"/>
            <a:endCxn id="2176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85" name="Google Shape;2185;p110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86" name="Google Shape;2186;p110"/>
          <p:cNvCxnSpPr>
            <a:stCxn id="2185" idx="3"/>
            <a:endCxn id="2169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87" name="Google Shape;2187;p110"/>
          <p:cNvSpPr txBox="1"/>
          <p:nvPr/>
        </p:nvSpPr>
        <p:spPr>
          <a:xfrm>
            <a:off x="5379325" y="3394188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8" name="Google Shape;2188;p110"/>
          <p:cNvSpPr txBox="1"/>
          <p:nvPr/>
        </p:nvSpPr>
        <p:spPr>
          <a:xfrm>
            <a:off x="2680050" y="2656925"/>
            <a:ext cx="25137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mark(4).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isMarked(1)? Yes.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isMarked(3)? No.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edgeTo[3] = 4. </a:t>
            </a:r>
            <a:r>
              <a:rPr lang="en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dfs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(3).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9" name="Google Shape;2189;p110"/>
          <p:cNvSpPr txBox="1"/>
          <p:nvPr/>
        </p:nvSpPr>
        <p:spPr>
          <a:xfrm>
            <a:off x="7197445" y="2980085"/>
            <a:ext cx="4191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*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0" name="Google Shape;2190;p110"/>
          <p:cNvSpPr txBox="1"/>
          <p:nvPr/>
        </p:nvSpPr>
        <p:spPr>
          <a:xfrm>
            <a:off x="176300" y="2474350"/>
            <a:ext cx="24264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T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T    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F       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T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T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91" name="Google Shape;2191;p110"/>
          <p:cNvSpPr txBox="1"/>
          <p:nvPr/>
        </p:nvSpPr>
        <p:spPr>
          <a:xfrm>
            <a:off x="5615300" y="4710300"/>
            <a:ext cx="27162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returns: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2" name="Google Shape;2192;p110"/>
          <p:cNvSpPr txBox="1"/>
          <p:nvPr/>
        </p:nvSpPr>
        <p:spPr>
          <a:xfrm>
            <a:off x="5615300" y="2105675"/>
            <a:ext cx="30303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calls: 012543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3" name="Google Shape;2193;p110"/>
          <p:cNvSpPr txBox="1"/>
          <p:nvPr/>
        </p:nvSpPr>
        <p:spPr>
          <a:xfrm>
            <a:off x="2556637" y="2432667"/>
            <a:ext cx="30000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dfs(4):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4" name="Google Shape;2194;p110"/>
          <p:cNvSpPr/>
          <p:nvPr/>
        </p:nvSpPr>
        <p:spPr>
          <a:xfrm>
            <a:off x="1959551" y="3407383"/>
            <a:ext cx="231600" cy="213300"/>
          </a:xfrm>
          <a:prstGeom prst="ellipse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5" name="Google Shape;2195;p110"/>
          <p:cNvSpPr/>
          <p:nvPr/>
        </p:nvSpPr>
        <p:spPr>
          <a:xfrm>
            <a:off x="1084280" y="3619507"/>
            <a:ext cx="231600" cy="213300"/>
          </a:xfrm>
          <a:prstGeom prst="ellipse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110"/>
          <p:cNvSpPr txBox="1"/>
          <p:nvPr/>
        </p:nvSpPr>
        <p:spPr>
          <a:xfrm>
            <a:off x="5615300" y="962675"/>
            <a:ext cx="3030300" cy="10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Call stack: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dfs(0) → dfs(1) → dfs(2) → dfs(5) → dfs(4)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" name="Google Shape;2201;p111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dfs(v):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Mark v.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unmarked adjacent vertex w: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set edgeTo[w] = v. 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dfs(w)</a:t>
            </a:r>
            <a:endParaRPr/>
          </a:p>
        </p:txBody>
      </p:sp>
      <p:sp>
        <p:nvSpPr>
          <p:cNvPr id="2202" name="Google Shape;2202;p1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DepthFirstPaths</a:t>
            </a:r>
            <a:endParaRPr/>
          </a:p>
        </p:txBody>
      </p:sp>
      <p:sp>
        <p:nvSpPr>
          <p:cNvPr id="2203" name="Google Shape;2203;p111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4" name="Google Shape;2204;p111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5" name="Google Shape;2205;p111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6" name="Google Shape;2206;p111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7" name="Google Shape;2207;p111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8" name="Google Shape;2208;p111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9" name="Google Shape;2209;p111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0" name="Google Shape;2210;p111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11" name="Google Shape;2211;p111"/>
          <p:cNvCxnSpPr>
            <a:stCxn id="2203" idx="2"/>
            <a:endCxn id="2204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2" name="Google Shape;2212;p111"/>
          <p:cNvCxnSpPr>
            <a:stCxn id="2203" idx="3"/>
            <a:endCxn id="2206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3" name="Google Shape;2213;p111"/>
          <p:cNvCxnSpPr>
            <a:stCxn id="2205" idx="2"/>
            <a:endCxn id="2206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4" name="Google Shape;2214;p111"/>
          <p:cNvCxnSpPr>
            <a:stCxn id="2208" idx="2"/>
            <a:endCxn id="2209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5" name="Google Shape;2215;p111"/>
          <p:cNvCxnSpPr>
            <a:stCxn id="2208" idx="2"/>
            <a:endCxn id="2207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6" name="Google Shape;2216;p111"/>
          <p:cNvCxnSpPr>
            <a:stCxn id="2206" idx="2"/>
            <a:endCxn id="2207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7" name="Google Shape;2217;p111"/>
          <p:cNvCxnSpPr>
            <a:stCxn id="2204" idx="3"/>
            <a:endCxn id="2207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8" name="Google Shape;2218;p111"/>
          <p:cNvCxnSpPr>
            <a:stCxn id="2207" idx="2"/>
            <a:endCxn id="2210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19" name="Google Shape;2219;p111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20" name="Google Shape;2220;p111"/>
          <p:cNvCxnSpPr>
            <a:stCxn id="2219" idx="3"/>
            <a:endCxn id="2203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21" name="Google Shape;2221;p111"/>
          <p:cNvSpPr txBox="1"/>
          <p:nvPr/>
        </p:nvSpPr>
        <p:spPr>
          <a:xfrm>
            <a:off x="5379325" y="3394195"/>
            <a:ext cx="4119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2" name="Google Shape;2222;p111"/>
          <p:cNvSpPr txBox="1"/>
          <p:nvPr/>
        </p:nvSpPr>
        <p:spPr>
          <a:xfrm>
            <a:off x="2680050" y="2656925"/>
            <a:ext cx="24633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mark(3).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isMarked(4)? Yes.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 more children, so return.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3" name="Google Shape;2223;p111"/>
          <p:cNvSpPr txBox="1"/>
          <p:nvPr/>
        </p:nvSpPr>
        <p:spPr>
          <a:xfrm>
            <a:off x="7197445" y="2380855"/>
            <a:ext cx="4191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*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4" name="Google Shape;2224;p111"/>
          <p:cNvSpPr txBox="1"/>
          <p:nvPr/>
        </p:nvSpPr>
        <p:spPr>
          <a:xfrm>
            <a:off x="176300" y="2474350"/>
            <a:ext cx="24264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T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T    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T       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T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T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25" name="Google Shape;2225;p111"/>
          <p:cNvSpPr txBox="1"/>
          <p:nvPr/>
        </p:nvSpPr>
        <p:spPr>
          <a:xfrm>
            <a:off x="5615300" y="4710300"/>
            <a:ext cx="33816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returns: 3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6" name="Google Shape;2226;p111"/>
          <p:cNvSpPr txBox="1"/>
          <p:nvPr/>
        </p:nvSpPr>
        <p:spPr>
          <a:xfrm>
            <a:off x="5615300" y="2105675"/>
            <a:ext cx="30303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calls: 012543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7" name="Google Shape;2227;p111"/>
          <p:cNvSpPr txBox="1"/>
          <p:nvPr/>
        </p:nvSpPr>
        <p:spPr>
          <a:xfrm>
            <a:off x="2556637" y="2432667"/>
            <a:ext cx="30000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dfs(3):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8" name="Google Shape;2228;p111"/>
          <p:cNvSpPr/>
          <p:nvPr/>
        </p:nvSpPr>
        <p:spPr>
          <a:xfrm>
            <a:off x="1084280" y="3407383"/>
            <a:ext cx="231600" cy="213300"/>
          </a:xfrm>
          <a:prstGeom prst="ellipse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9" name="Google Shape;2229;p111"/>
          <p:cNvSpPr txBox="1"/>
          <p:nvPr/>
        </p:nvSpPr>
        <p:spPr>
          <a:xfrm>
            <a:off x="5615300" y="962675"/>
            <a:ext cx="3030300" cy="10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Call stack: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dfs(0) → dfs(1) → dfs(2) → dfs(5) → dfs(4) → dfs(3)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4" name="Google Shape;2234;p112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dfs(v):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Mark v.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unmarked adjacent vertex w: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set edgeTo[w] = v. 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dfs(w)</a:t>
            </a:r>
            <a:endParaRPr/>
          </a:p>
        </p:txBody>
      </p:sp>
      <p:sp>
        <p:nvSpPr>
          <p:cNvPr id="2235" name="Google Shape;2235;p1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DepthFirstPaths</a:t>
            </a:r>
            <a:endParaRPr/>
          </a:p>
        </p:txBody>
      </p:sp>
      <p:sp>
        <p:nvSpPr>
          <p:cNvPr id="2236" name="Google Shape;2236;p112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7" name="Google Shape;2237;p112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8" name="Google Shape;2238;p112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9" name="Google Shape;2239;p112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0" name="Google Shape;2240;p112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1" name="Google Shape;2241;p112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2" name="Google Shape;2242;p112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3" name="Google Shape;2243;p112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44" name="Google Shape;2244;p112"/>
          <p:cNvCxnSpPr>
            <a:stCxn id="2236" idx="2"/>
            <a:endCxn id="2237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5" name="Google Shape;2245;p112"/>
          <p:cNvCxnSpPr>
            <a:stCxn id="2236" idx="3"/>
            <a:endCxn id="2239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6" name="Google Shape;2246;p112"/>
          <p:cNvCxnSpPr>
            <a:stCxn id="2238" idx="2"/>
            <a:endCxn id="2239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7" name="Google Shape;2247;p112"/>
          <p:cNvCxnSpPr>
            <a:stCxn id="2241" idx="2"/>
            <a:endCxn id="2242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8" name="Google Shape;2248;p112"/>
          <p:cNvCxnSpPr>
            <a:stCxn id="2241" idx="2"/>
            <a:endCxn id="2240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9" name="Google Shape;2249;p112"/>
          <p:cNvCxnSpPr>
            <a:stCxn id="2239" idx="2"/>
            <a:endCxn id="2240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50" name="Google Shape;2250;p112"/>
          <p:cNvCxnSpPr>
            <a:stCxn id="2237" idx="3"/>
            <a:endCxn id="2240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51" name="Google Shape;2251;p112"/>
          <p:cNvCxnSpPr>
            <a:stCxn id="2240" idx="2"/>
            <a:endCxn id="2243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52" name="Google Shape;2252;p112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53" name="Google Shape;2253;p112"/>
          <p:cNvCxnSpPr>
            <a:stCxn id="2252" idx="3"/>
            <a:endCxn id="2236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54" name="Google Shape;2254;p112"/>
          <p:cNvSpPr txBox="1"/>
          <p:nvPr/>
        </p:nvSpPr>
        <p:spPr>
          <a:xfrm>
            <a:off x="5379325" y="3394193"/>
            <a:ext cx="324600" cy="3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5" name="Google Shape;2255;p112"/>
          <p:cNvSpPr txBox="1"/>
          <p:nvPr/>
        </p:nvSpPr>
        <p:spPr>
          <a:xfrm>
            <a:off x="2680050" y="2656925"/>
            <a:ext cx="24681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mark(4).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isMarked(3)? No.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edgeTo[3] = 4. dfs(3). 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 more children, so return.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6" name="Google Shape;2256;p112"/>
          <p:cNvSpPr txBox="1"/>
          <p:nvPr/>
        </p:nvSpPr>
        <p:spPr>
          <a:xfrm>
            <a:off x="7187076" y="2990455"/>
            <a:ext cx="4191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*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7" name="Google Shape;2257;p112"/>
          <p:cNvSpPr txBox="1"/>
          <p:nvPr/>
        </p:nvSpPr>
        <p:spPr>
          <a:xfrm>
            <a:off x="176300" y="2474350"/>
            <a:ext cx="24264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T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T    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T       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T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T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58" name="Google Shape;2258;p112"/>
          <p:cNvSpPr txBox="1"/>
          <p:nvPr/>
        </p:nvSpPr>
        <p:spPr>
          <a:xfrm>
            <a:off x="5615300" y="4710300"/>
            <a:ext cx="33816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returns: 34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9" name="Google Shape;2259;p112"/>
          <p:cNvSpPr txBox="1"/>
          <p:nvPr/>
        </p:nvSpPr>
        <p:spPr>
          <a:xfrm>
            <a:off x="5615300" y="2105675"/>
            <a:ext cx="30303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calls: 012543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0" name="Google Shape;2260;p112"/>
          <p:cNvSpPr txBox="1"/>
          <p:nvPr/>
        </p:nvSpPr>
        <p:spPr>
          <a:xfrm>
            <a:off x="2556637" y="2432667"/>
            <a:ext cx="30000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dfs(4):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1" name="Google Shape;2261;p112"/>
          <p:cNvSpPr txBox="1"/>
          <p:nvPr/>
        </p:nvSpPr>
        <p:spPr>
          <a:xfrm>
            <a:off x="5615300" y="962675"/>
            <a:ext cx="3030300" cy="10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Call stack: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dfs(0) → dfs(1) → dfs(2) → dfs(5) → dfs(4)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113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dfs(v):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Mark v.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unmarked adjacent vertex w: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set edgeTo[w] = v. 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dfs(w)</a:t>
            </a:r>
            <a:endParaRPr/>
          </a:p>
        </p:txBody>
      </p:sp>
      <p:sp>
        <p:nvSpPr>
          <p:cNvPr id="2267" name="Google Shape;2267;p1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DepthFirstPaths</a:t>
            </a:r>
            <a:endParaRPr/>
          </a:p>
        </p:txBody>
      </p:sp>
      <p:sp>
        <p:nvSpPr>
          <p:cNvPr id="2268" name="Google Shape;2268;p113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9" name="Google Shape;2269;p113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0" name="Google Shape;2270;p113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1" name="Google Shape;2271;p113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2" name="Google Shape;2272;p113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3" name="Google Shape;2273;p113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4" name="Google Shape;2274;p113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5" name="Google Shape;2275;p113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76" name="Google Shape;2276;p113"/>
          <p:cNvCxnSpPr>
            <a:stCxn id="2268" idx="2"/>
            <a:endCxn id="2269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7" name="Google Shape;2277;p113"/>
          <p:cNvCxnSpPr>
            <a:stCxn id="2268" idx="3"/>
            <a:endCxn id="2271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8" name="Google Shape;2278;p113"/>
          <p:cNvCxnSpPr>
            <a:stCxn id="2270" idx="2"/>
            <a:endCxn id="2271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9" name="Google Shape;2279;p113"/>
          <p:cNvCxnSpPr>
            <a:stCxn id="2273" idx="2"/>
            <a:endCxn id="2274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0" name="Google Shape;2280;p113"/>
          <p:cNvCxnSpPr>
            <a:stCxn id="2273" idx="2"/>
            <a:endCxn id="2272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1" name="Google Shape;2281;p113"/>
          <p:cNvCxnSpPr>
            <a:stCxn id="2271" idx="2"/>
            <a:endCxn id="2272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2" name="Google Shape;2282;p113"/>
          <p:cNvCxnSpPr>
            <a:stCxn id="2269" idx="3"/>
            <a:endCxn id="2272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3" name="Google Shape;2283;p113"/>
          <p:cNvCxnSpPr>
            <a:stCxn id="2272" idx="2"/>
            <a:endCxn id="2275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84" name="Google Shape;2284;p113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85" name="Google Shape;2285;p113"/>
          <p:cNvCxnSpPr>
            <a:stCxn id="2284" idx="3"/>
            <a:endCxn id="2268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86" name="Google Shape;2286;p113"/>
          <p:cNvSpPr txBox="1"/>
          <p:nvPr/>
        </p:nvSpPr>
        <p:spPr>
          <a:xfrm>
            <a:off x="5379325" y="3394188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7" name="Google Shape;2287;p113"/>
          <p:cNvSpPr txBox="1"/>
          <p:nvPr/>
        </p:nvSpPr>
        <p:spPr>
          <a:xfrm>
            <a:off x="2680050" y="2656925"/>
            <a:ext cx="25590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mark(5).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isMarked(2)? Yes.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isMarked(4)? No.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edgeTo[3] = 4. dfs(4).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isMarked(6)? No.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edgeTo[6] = 5. </a:t>
            </a:r>
            <a:r>
              <a:rPr lang="en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dfs(6).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8" name="Google Shape;2288;p113"/>
          <p:cNvSpPr txBox="1"/>
          <p:nvPr/>
        </p:nvSpPr>
        <p:spPr>
          <a:xfrm>
            <a:off x="7273645" y="3589685"/>
            <a:ext cx="4191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*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9" name="Google Shape;2289;p113"/>
          <p:cNvSpPr txBox="1"/>
          <p:nvPr/>
        </p:nvSpPr>
        <p:spPr>
          <a:xfrm>
            <a:off x="176300" y="2474350"/>
            <a:ext cx="24264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T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T    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T       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T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T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F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90" name="Google Shape;2290;p113"/>
          <p:cNvSpPr txBox="1"/>
          <p:nvPr/>
        </p:nvSpPr>
        <p:spPr>
          <a:xfrm>
            <a:off x="5615300" y="4710300"/>
            <a:ext cx="33816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returns: 34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1" name="Google Shape;2291;p113"/>
          <p:cNvSpPr txBox="1"/>
          <p:nvPr/>
        </p:nvSpPr>
        <p:spPr>
          <a:xfrm>
            <a:off x="5615300" y="2105675"/>
            <a:ext cx="30303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calls: 0125436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2" name="Google Shape;2292;p113"/>
          <p:cNvSpPr txBox="1"/>
          <p:nvPr/>
        </p:nvSpPr>
        <p:spPr>
          <a:xfrm>
            <a:off x="2556637" y="2432667"/>
            <a:ext cx="30000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dfs(5):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3" name="Google Shape;2293;p113"/>
          <p:cNvSpPr/>
          <p:nvPr/>
        </p:nvSpPr>
        <p:spPr>
          <a:xfrm>
            <a:off x="1959551" y="4037578"/>
            <a:ext cx="231600" cy="213300"/>
          </a:xfrm>
          <a:prstGeom prst="ellipse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4" name="Google Shape;2294;p113"/>
          <p:cNvSpPr txBox="1"/>
          <p:nvPr/>
        </p:nvSpPr>
        <p:spPr>
          <a:xfrm>
            <a:off x="5615300" y="962675"/>
            <a:ext cx="3030300" cy="10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Call stack: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dfs(0) → dfs(1) → dfs(2) → dfs(5)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9" name="Google Shape;2299;p114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dfs(v):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Mark v.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unmarked adjacent vertex w: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set edgeTo[w] = v. 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dfs(w)</a:t>
            </a:r>
            <a:endParaRPr/>
          </a:p>
        </p:txBody>
      </p:sp>
      <p:sp>
        <p:nvSpPr>
          <p:cNvPr id="2300" name="Google Shape;2300;p1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DepthFirstPaths</a:t>
            </a:r>
            <a:endParaRPr/>
          </a:p>
        </p:txBody>
      </p:sp>
      <p:sp>
        <p:nvSpPr>
          <p:cNvPr id="2301" name="Google Shape;2301;p114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2" name="Google Shape;2302;p114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3" name="Google Shape;2303;p114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4" name="Google Shape;2304;p114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5" name="Google Shape;2305;p114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6" name="Google Shape;2306;p114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7" name="Google Shape;2307;p114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8" name="Google Shape;2308;p114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09" name="Google Shape;2309;p114"/>
          <p:cNvCxnSpPr>
            <a:stCxn id="2301" idx="2"/>
            <a:endCxn id="2302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10" name="Google Shape;2310;p114"/>
          <p:cNvCxnSpPr>
            <a:stCxn id="2301" idx="3"/>
            <a:endCxn id="2304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11" name="Google Shape;2311;p114"/>
          <p:cNvCxnSpPr>
            <a:stCxn id="2303" idx="2"/>
            <a:endCxn id="2304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12" name="Google Shape;2312;p114"/>
          <p:cNvCxnSpPr>
            <a:stCxn id="2306" idx="2"/>
            <a:endCxn id="2307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13" name="Google Shape;2313;p114"/>
          <p:cNvCxnSpPr>
            <a:stCxn id="2306" idx="2"/>
            <a:endCxn id="2305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14" name="Google Shape;2314;p114"/>
          <p:cNvCxnSpPr>
            <a:stCxn id="2304" idx="2"/>
            <a:endCxn id="2305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15" name="Google Shape;2315;p114"/>
          <p:cNvCxnSpPr>
            <a:stCxn id="2302" idx="3"/>
            <a:endCxn id="2305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16" name="Google Shape;2316;p114"/>
          <p:cNvCxnSpPr>
            <a:stCxn id="2305" idx="2"/>
            <a:endCxn id="2308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17" name="Google Shape;2317;p114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18" name="Google Shape;2318;p114"/>
          <p:cNvCxnSpPr>
            <a:stCxn id="2317" idx="3"/>
            <a:endCxn id="2301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19" name="Google Shape;2319;p114"/>
          <p:cNvSpPr txBox="1"/>
          <p:nvPr/>
        </p:nvSpPr>
        <p:spPr>
          <a:xfrm>
            <a:off x="5379325" y="3394195"/>
            <a:ext cx="3702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0" name="Google Shape;2320;p114"/>
          <p:cNvSpPr txBox="1"/>
          <p:nvPr/>
        </p:nvSpPr>
        <p:spPr>
          <a:xfrm>
            <a:off x="2680050" y="2656925"/>
            <a:ext cx="24726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mark(6).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isMarked(5)? Yes.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isMarked(7)? No.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edgeTo[7] = 6.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dfs(7).</a:t>
            </a:r>
            <a:r>
              <a:rPr lang="en" b="1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1" name="Google Shape;2321;p114"/>
          <p:cNvSpPr txBox="1"/>
          <p:nvPr/>
        </p:nvSpPr>
        <p:spPr>
          <a:xfrm>
            <a:off x="7883245" y="2903885"/>
            <a:ext cx="4191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*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2" name="Google Shape;2322;p114"/>
          <p:cNvSpPr txBox="1"/>
          <p:nvPr/>
        </p:nvSpPr>
        <p:spPr>
          <a:xfrm>
            <a:off x="176300" y="2474350"/>
            <a:ext cx="24264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T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T    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T       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T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T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T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F        6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23" name="Google Shape;2323;p114"/>
          <p:cNvSpPr txBox="1"/>
          <p:nvPr/>
        </p:nvSpPr>
        <p:spPr>
          <a:xfrm>
            <a:off x="5615300" y="4710300"/>
            <a:ext cx="33816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returns: 34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4" name="Google Shape;2324;p114"/>
          <p:cNvSpPr txBox="1"/>
          <p:nvPr/>
        </p:nvSpPr>
        <p:spPr>
          <a:xfrm>
            <a:off x="5615300" y="2105675"/>
            <a:ext cx="30303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calls: 01254367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5" name="Google Shape;2325;p114"/>
          <p:cNvSpPr txBox="1"/>
          <p:nvPr/>
        </p:nvSpPr>
        <p:spPr>
          <a:xfrm>
            <a:off x="2556637" y="2432667"/>
            <a:ext cx="30000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dfs(6):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6" name="Google Shape;2326;p114"/>
          <p:cNvSpPr/>
          <p:nvPr/>
        </p:nvSpPr>
        <p:spPr>
          <a:xfrm>
            <a:off x="1084280" y="4037578"/>
            <a:ext cx="231600" cy="213300"/>
          </a:xfrm>
          <a:prstGeom prst="ellipse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7" name="Google Shape;2327;p114"/>
          <p:cNvSpPr/>
          <p:nvPr/>
        </p:nvSpPr>
        <p:spPr>
          <a:xfrm>
            <a:off x="1959551" y="4245583"/>
            <a:ext cx="231600" cy="213300"/>
          </a:xfrm>
          <a:prstGeom prst="ellipse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8" name="Google Shape;2328;p114"/>
          <p:cNvSpPr txBox="1"/>
          <p:nvPr/>
        </p:nvSpPr>
        <p:spPr>
          <a:xfrm>
            <a:off x="5615300" y="962675"/>
            <a:ext cx="3030300" cy="10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Call stack: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dfs(0) → dfs(1) → dfs(2) → dfs(5) → dfs(6)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p115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dfs(v):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Mark v.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unmarked adjacent vertex w: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set edgeTo[w] = v. 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dfs(w)</a:t>
            </a:r>
            <a:endParaRPr/>
          </a:p>
        </p:txBody>
      </p:sp>
      <p:sp>
        <p:nvSpPr>
          <p:cNvPr id="2334" name="Google Shape;2334;p1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DepthFirstPaths</a:t>
            </a:r>
            <a:endParaRPr/>
          </a:p>
        </p:txBody>
      </p:sp>
      <p:sp>
        <p:nvSpPr>
          <p:cNvPr id="2335" name="Google Shape;2335;p115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6" name="Google Shape;2336;p115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7" name="Google Shape;2337;p115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8" name="Google Shape;2338;p115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9" name="Google Shape;2339;p115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0" name="Google Shape;2340;p115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1" name="Google Shape;2341;p115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2" name="Google Shape;2342;p115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43" name="Google Shape;2343;p115"/>
          <p:cNvCxnSpPr>
            <a:stCxn id="2335" idx="2"/>
            <a:endCxn id="2336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44" name="Google Shape;2344;p115"/>
          <p:cNvCxnSpPr>
            <a:stCxn id="2335" idx="3"/>
            <a:endCxn id="2338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45" name="Google Shape;2345;p115"/>
          <p:cNvCxnSpPr>
            <a:stCxn id="2337" idx="2"/>
            <a:endCxn id="2338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46" name="Google Shape;2346;p115"/>
          <p:cNvCxnSpPr>
            <a:stCxn id="2340" idx="2"/>
            <a:endCxn id="2341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47" name="Google Shape;2347;p115"/>
          <p:cNvCxnSpPr>
            <a:stCxn id="2340" idx="2"/>
            <a:endCxn id="2339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48" name="Google Shape;2348;p115"/>
          <p:cNvCxnSpPr>
            <a:stCxn id="2338" idx="2"/>
            <a:endCxn id="2339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49" name="Google Shape;2349;p115"/>
          <p:cNvCxnSpPr>
            <a:stCxn id="2336" idx="3"/>
            <a:endCxn id="2339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0" name="Google Shape;2350;p115"/>
          <p:cNvCxnSpPr>
            <a:stCxn id="2339" idx="2"/>
            <a:endCxn id="2342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51" name="Google Shape;2351;p115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52" name="Google Shape;2352;p115"/>
          <p:cNvCxnSpPr>
            <a:stCxn id="2351" idx="3"/>
            <a:endCxn id="2335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53" name="Google Shape;2353;p115"/>
          <p:cNvSpPr txBox="1"/>
          <p:nvPr/>
        </p:nvSpPr>
        <p:spPr>
          <a:xfrm>
            <a:off x="5379325" y="3394194"/>
            <a:ext cx="3747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4" name="Google Shape;2354;p115"/>
          <p:cNvSpPr txBox="1"/>
          <p:nvPr/>
        </p:nvSpPr>
        <p:spPr>
          <a:xfrm>
            <a:off x="2680050" y="2656925"/>
            <a:ext cx="25959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mark(7).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isMarked(6)? Yes.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 more children, so return.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5" name="Google Shape;2355;p115"/>
          <p:cNvSpPr txBox="1"/>
          <p:nvPr/>
        </p:nvSpPr>
        <p:spPr>
          <a:xfrm>
            <a:off x="8233136" y="3589685"/>
            <a:ext cx="4191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*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6" name="Google Shape;2356;p115"/>
          <p:cNvSpPr txBox="1"/>
          <p:nvPr/>
        </p:nvSpPr>
        <p:spPr>
          <a:xfrm>
            <a:off x="176300" y="2474350"/>
            <a:ext cx="24264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T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T    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T       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T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T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T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T        6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57" name="Google Shape;2357;p115"/>
          <p:cNvSpPr txBox="1"/>
          <p:nvPr/>
        </p:nvSpPr>
        <p:spPr>
          <a:xfrm>
            <a:off x="5615300" y="4710300"/>
            <a:ext cx="33816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returns: 347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8" name="Google Shape;2358;p115"/>
          <p:cNvSpPr txBox="1"/>
          <p:nvPr/>
        </p:nvSpPr>
        <p:spPr>
          <a:xfrm>
            <a:off x="5615300" y="2105675"/>
            <a:ext cx="30303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calls: 01254367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9" name="Google Shape;2359;p115"/>
          <p:cNvSpPr txBox="1"/>
          <p:nvPr/>
        </p:nvSpPr>
        <p:spPr>
          <a:xfrm>
            <a:off x="2556637" y="2432667"/>
            <a:ext cx="30000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dfs(7):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0" name="Google Shape;2360;p115"/>
          <p:cNvSpPr/>
          <p:nvPr/>
        </p:nvSpPr>
        <p:spPr>
          <a:xfrm>
            <a:off x="1084280" y="4245583"/>
            <a:ext cx="231600" cy="213300"/>
          </a:xfrm>
          <a:prstGeom prst="ellipse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1" name="Google Shape;2361;p115"/>
          <p:cNvSpPr txBox="1"/>
          <p:nvPr/>
        </p:nvSpPr>
        <p:spPr>
          <a:xfrm>
            <a:off x="5615300" y="962675"/>
            <a:ext cx="3030300" cy="10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Call stack: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dfs(0) → dfs(1) → dfs(2) → dfs(5) → dfs(6) → dfs(7)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6" name="Google Shape;2366;p116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dfs(v):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Mark v.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unmarked adjacent vertex w: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set edgeTo[w] = v. 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dfs(w)</a:t>
            </a:r>
            <a:endParaRPr/>
          </a:p>
        </p:txBody>
      </p:sp>
      <p:sp>
        <p:nvSpPr>
          <p:cNvPr id="2367" name="Google Shape;2367;p1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DepthFirstPaths</a:t>
            </a:r>
            <a:endParaRPr/>
          </a:p>
        </p:txBody>
      </p:sp>
      <p:sp>
        <p:nvSpPr>
          <p:cNvPr id="2368" name="Google Shape;2368;p116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9" name="Google Shape;2369;p116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0" name="Google Shape;2370;p116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1" name="Google Shape;2371;p116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2" name="Google Shape;2372;p116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3" name="Google Shape;2373;p116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4" name="Google Shape;2374;p116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5" name="Google Shape;2375;p116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76" name="Google Shape;2376;p116"/>
          <p:cNvCxnSpPr>
            <a:stCxn id="2368" idx="2"/>
            <a:endCxn id="2369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7" name="Google Shape;2377;p116"/>
          <p:cNvCxnSpPr>
            <a:stCxn id="2368" idx="3"/>
            <a:endCxn id="2371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8" name="Google Shape;2378;p116"/>
          <p:cNvCxnSpPr>
            <a:stCxn id="2370" idx="2"/>
            <a:endCxn id="2371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9" name="Google Shape;2379;p116"/>
          <p:cNvCxnSpPr>
            <a:stCxn id="2373" idx="2"/>
            <a:endCxn id="2374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0" name="Google Shape;2380;p116"/>
          <p:cNvCxnSpPr>
            <a:stCxn id="2373" idx="2"/>
            <a:endCxn id="2372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1" name="Google Shape;2381;p116"/>
          <p:cNvCxnSpPr>
            <a:stCxn id="2371" idx="2"/>
            <a:endCxn id="2372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2" name="Google Shape;2382;p116"/>
          <p:cNvCxnSpPr>
            <a:stCxn id="2369" idx="3"/>
            <a:endCxn id="2372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3" name="Google Shape;2383;p116"/>
          <p:cNvCxnSpPr>
            <a:stCxn id="2372" idx="2"/>
            <a:endCxn id="2375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84" name="Google Shape;2384;p116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85" name="Google Shape;2385;p116"/>
          <p:cNvCxnSpPr>
            <a:stCxn id="2384" idx="3"/>
            <a:endCxn id="2368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86" name="Google Shape;2386;p116"/>
          <p:cNvSpPr txBox="1"/>
          <p:nvPr/>
        </p:nvSpPr>
        <p:spPr>
          <a:xfrm>
            <a:off x="5379325" y="3394193"/>
            <a:ext cx="317400" cy="3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7" name="Google Shape;2387;p116"/>
          <p:cNvSpPr txBox="1"/>
          <p:nvPr/>
        </p:nvSpPr>
        <p:spPr>
          <a:xfrm>
            <a:off x="2680050" y="2656925"/>
            <a:ext cx="25257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mark(6).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isMarked(5)? Yes.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isMarked(7)? No.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edgeTo[7] = 6. dfs(7). 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 more children, so return.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8" name="Google Shape;2388;p116"/>
          <p:cNvSpPr txBox="1"/>
          <p:nvPr/>
        </p:nvSpPr>
        <p:spPr>
          <a:xfrm>
            <a:off x="7883245" y="2903885"/>
            <a:ext cx="4191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*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9" name="Google Shape;2389;p116"/>
          <p:cNvSpPr txBox="1"/>
          <p:nvPr/>
        </p:nvSpPr>
        <p:spPr>
          <a:xfrm>
            <a:off x="176300" y="2474350"/>
            <a:ext cx="24264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T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T    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T       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T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T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T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T        6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F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90" name="Google Shape;2390;p116"/>
          <p:cNvSpPr txBox="1"/>
          <p:nvPr/>
        </p:nvSpPr>
        <p:spPr>
          <a:xfrm>
            <a:off x="5615300" y="4710300"/>
            <a:ext cx="33816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returns: 3476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1" name="Google Shape;2391;p116"/>
          <p:cNvSpPr txBox="1"/>
          <p:nvPr/>
        </p:nvSpPr>
        <p:spPr>
          <a:xfrm>
            <a:off x="5615300" y="2105675"/>
            <a:ext cx="30303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calls: 01254367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2" name="Google Shape;2392;p116"/>
          <p:cNvSpPr txBox="1"/>
          <p:nvPr/>
        </p:nvSpPr>
        <p:spPr>
          <a:xfrm>
            <a:off x="2556637" y="2432667"/>
            <a:ext cx="30000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dfs(6):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3" name="Google Shape;2393;p116"/>
          <p:cNvSpPr txBox="1"/>
          <p:nvPr/>
        </p:nvSpPr>
        <p:spPr>
          <a:xfrm>
            <a:off x="5615300" y="962675"/>
            <a:ext cx="3030300" cy="10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Call stack: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dfs(0) → dfs(1) → dfs(2) → dfs(5) → dfs(6)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8" name="Google Shape;2398;p117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dfs(v):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Mark v.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unmarked adjacent vertex w: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set edgeTo[w] = v. 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dfs(w)</a:t>
            </a:r>
            <a:endParaRPr/>
          </a:p>
        </p:txBody>
      </p:sp>
      <p:sp>
        <p:nvSpPr>
          <p:cNvPr id="2399" name="Google Shape;2399;p1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DepthFirstPaths</a:t>
            </a:r>
            <a:endParaRPr/>
          </a:p>
        </p:txBody>
      </p:sp>
      <p:sp>
        <p:nvSpPr>
          <p:cNvPr id="2400" name="Google Shape;2400;p117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1" name="Google Shape;2401;p117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2" name="Google Shape;2402;p117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3" name="Google Shape;2403;p117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4" name="Google Shape;2404;p117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5" name="Google Shape;2405;p117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6" name="Google Shape;2406;p117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7" name="Google Shape;2407;p117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08" name="Google Shape;2408;p117"/>
          <p:cNvCxnSpPr>
            <a:stCxn id="2400" idx="2"/>
            <a:endCxn id="2401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09" name="Google Shape;2409;p117"/>
          <p:cNvCxnSpPr>
            <a:stCxn id="2400" idx="3"/>
            <a:endCxn id="2403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10" name="Google Shape;2410;p117"/>
          <p:cNvCxnSpPr>
            <a:stCxn id="2402" idx="2"/>
            <a:endCxn id="2403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11" name="Google Shape;2411;p117"/>
          <p:cNvCxnSpPr>
            <a:stCxn id="2405" idx="2"/>
            <a:endCxn id="2406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12" name="Google Shape;2412;p117"/>
          <p:cNvCxnSpPr>
            <a:stCxn id="2405" idx="2"/>
            <a:endCxn id="2404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13" name="Google Shape;2413;p117"/>
          <p:cNvCxnSpPr>
            <a:stCxn id="2403" idx="2"/>
            <a:endCxn id="2404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14" name="Google Shape;2414;p117"/>
          <p:cNvCxnSpPr>
            <a:stCxn id="2401" idx="3"/>
            <a:endCxn id="2404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15" name="Google Shape;2415;p117"/>
          <p:cNvCxnSpPr>
            <a:stCxn id="2404" idx="2"/>
            <a:endCxn id="2407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16" name="Google Shape;2416;p117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17" name="Google Shape;2417;p117"/>
          <p:cNvCxnSpPr>
            <a:stCxn id="2416" idx="3"/>
            <a:endCxn id="2400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18" name="Google Shape;2418;p117"/>
          <p:cNvSpPr txBox="1"/>
          <p:nvPr/>
        </p:nvSpPr>
        <p:spPr>
          <a:xfrm>
            <a:off x="5379325" y="3394194"/>
            <a:ext cx="4119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9" name="Google Shape;2419;p117"/>
          <p:cNvSpPr txBox="1"/>
          <p:nvPr/>
        </p:nvSpPr>
        <p:spPr>
          <a:xfrm>
            <a:off x="2680050" y="2656925"/>
            <a:ext cx="25257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mark(5).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isMarked(2)? Yes.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isMarked(4)? No.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edgeTo[3] = 4. dfs(4).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isMarked(6)? No.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edgeTo[6] = 5. dfs(6).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isMarked(8)? No.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edgeTo[8] = 5.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dfs(8).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0" name="Google Shape;2420;p117"/>
          <p:cNvSpPr txBox="1"/>
          <p:nvPr/>
        </p:nvSpPr>
        <p:spPr>
          <a:xfrm>
            <a:off x="176300" y="2474350"/>
            <a:ext cx="24264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T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T    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T       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T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T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T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T        6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F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21" name="Google Shape;2421;p117"/>
          <p:cNvSpPr txBox="1"/>
          <p:nvPr/>
        </p:nvSpPr>
        <p:spPr>
          <a:xfrm>
            <a:off x="7273645" y="3589685"/>
            <a:ext cx="4191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*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2" name="Google Shape;2422;p117"/>
          <p:cNvSpPr txBox="1"/>
          <p:nvPr/>
        </p:nvSpPr>
        <p:spPr>
          <a:xfrm>
            <a:off x="5615300" y="2105675"/>
            <a:ext cx="30303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calls: 012543678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3" name="Google Shape;2423;p117"/>
          <p:cNvSpPr txBox="1"/>
          <p:nvPr/>
        </p:nvSpPr>
        <p:spPr>
          <a:xfrm>
            <a:off x="5615300" y="4710300"/>
            <a:ext cx="33816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returns: 3476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4" name="Google Shape;2424;p117"/>
          <p:cNvSpPr txBox="1"/>
          <p:nvPr/>
        </p:nvSpPr>
        <p:spPr>
          <a:xfrm>
            <a:off x="2556637" y="2432667"/>
            <a:ext cx="30000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dfs(5):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5" name="Google Shape;2425;p117"/>
          <p:cNvSpPr/>
          <p:nvPr/>
        </p:nvSpPr>
        <p:spPr>
          <a:xfrm>
            <a:off x="1968818" y="4455648"/>
            <a:ext cx="231600" cy="213300"/>
          </a:xfrm>
          <a:prstGeom prst="ellipse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6" name="Google Shape;2426;p117"/>
          <p:cNvSpPr txBox="1"/>
          <p:nvPr/>
        </p:nvSpPr>
        <p:spPr>
          <a:xfrm>
            <a:off x="5615300" y="962675"/>
            <a:ext cx="3030300" cy="10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Call stack: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dfs(0) → dfs(1) → dfs(2) → dfs(5)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p118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dfs(v):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Mark v.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unmarked adjacent vertex w: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set edgeTo[w] = v. 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dfs(w)</a:t>
            </a:r>
            <a:endParaRPr/>
          </a:p>
        </p:txBody>
      </p:sp>
      <p:sp>
        <p:nvSpPr>
          <p:cNvPr id="2432" name="Google Shape;2432;p1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DepthFirstPaths</a:t>
            </a:r>
            <a:endParaRPr/>
          </a:p>
        </p:txBody>
      </p:sp>
      <p:sp>
        <p:nvSpPr>
          <p:cNvPr id="2433" name="Google Shape;2433;p118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4" name="Google Shape;2434;p118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5" name="Google Shape;2435;p118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6" name="Google Shape;2436;p118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7" name="Google Shape;2437;p118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8" name="Google Shape;2438;p118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9" name="Google Shape;2439;p118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0" name="Google Shape;2440;p118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41" name="Google Shape;2441;p118"/>
          <p:cNvCxnSpPr>
            <a:stCxn id="2433" idx="2"/>
            <a:endCxn id="2434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42" name="Google Shape;2442;p118"/>
          <p:cNvCxnSpPr>
            <a:stCxn id="2433" idx="3"/>
            <a:endCxn id="2436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43" name="Google Shape;2443;p118"/>
          <p:cNvCxnSpPr>
            <a:stCxn id="2435" idx="2"/>
            <a:endCxn id="2436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44" name="Google Shape;2444;p118"/>
          <p:cNvCxnSpPr>
            <a:stCxn id="2438" idx="2"/>
            <a:endCxn id="2439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45" name="Google Shape;2445;p118"/>
          <p:cNvCxnSpPr>
            <a:stCxn id="2438" idx="2"/>
            <a:endCxn id="2437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46" name="Google Shape;2446;p118"/>
          <p:cNvCxnSpPr>
            <a:stCxn id="2436" idx="2"/>
            <a:endCxn id="2437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47" name="Google Shape;2447;p118"/>
          <p:cNvCxnSpPr>
            <a:stCxn id="2434" idx="3"/>
            <a:endCxn id="2437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48" name="Google Shape;2448;p118"/>
          <p:cNvCxnSpPr>
            <a:stCxn id="2437" idx="2"/>
            <a:endCxn id="2440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49" name="Google Shape;2449;p118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50" name="Google Shape;2450;p118"/>
          <p:cNvCxnSpPr>
            <a:stCxn id="2449" idx="3"/>
            <a:endCxn id="2433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51" name="Google Shape;2451;p118"/>
          <p:cNvSpPr txBox="1"/>
          <p:nvPr/>
        </p:nvSpPr>
        <p:spPr>
          <a:xfrm>
            <a:off x="5379325" y="3394193"/>
            <a:ext cx="370200" cy="3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2" name="Google Shape;2452;p118"/>
          <p:cNvSpPr txBox="1"/>
          <p:nvPr/>
        </p:nvSpPr>
        <p:spPr>
          <a:xfrm>
            <a:off x="2680050" y="2656925"/>
            <a:ext cx="25257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mark(8)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isMarked(5)? Yes.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 more children, so return.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3" name="Google Shape;2453;p118"/>
          <p:cNvSpPr txBox="1"/>
          <p:nvPr/>
        </p:nvSpPr>
        <p:spPr>
          <a:xfrm>
            <a:off x="176300" y="2474350"/>
            <a:ext cx="24264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T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T    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T       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T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T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T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T        6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T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54" name="Google Shape;2454;p118"/>
          <p:cNvSpPr txBox="1"/>
          <p:nvPr/>
        </p:nvSpPr>
        <p:spPr>
          <a:xfrm>
            <a:off x="7349845" y="4112715"/>
            <a:ext cx="4191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*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5" name="Google Shape;2455;p118"/>
          <p:cNvSpPr txBox="1"/>
          <p:nvPr/>
        </p:nvSpPr>
        <p:spPr>
          <a:xfrm>
            <a:off x="5615300" y="2105675"/>
            <a:ext cx="30303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calls: 012543678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6" name="Google Shape;2456;p118"/>
          <p:cNvSpPr txBox="1"/>
          <p:nvPr/>
        </p:nvSpPr>
        <p:spPr>
          <a:xfrm>
            <a:off x="5615300" y="4710300"/>
            <a:ext cx="33816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returns: 34768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7" name="Google Shape;2457;p118"/>
          <p:cNvSpPr txBox="1"/>
          <p:nvPr/>
        </p:nvSpPr>
        <p:spPr>
          <a:xfrm>
            <a:off x="2556637" y="2432667"/>
            <a:ext cx="30000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dfs(8):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8" name="Google Shape;2458;p118"/>
          <p:cNvSpPr/>
          <p:nvPr/>
        </p:nvSpPr>
        <p:spPr>
          <a:xfrm>
            <a:off x="1084280" y="4455648"/>
            <a:ext cx="231600" cy="213300"/>
          </a:xfrm>
          <a:prstGeom prst="ellipse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9" name="Google Shape;2459;p118"/>
          <p:cNvSpPr txBox="1"/>
          <p:nvPr/>
        </p:nvSpPr>
        <p:spPr>
          <a:xfrm>
            <a:off x="5615300" y="962675"/>
            <a:ext cx="3030300" cy="10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Call stack: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dfs(0) → dfs(1) → dfs(2) → dfs(5) → dfs(8)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4" name="Google Shape;2464;p119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dfs(v):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Mark v.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unmarked adjacent vertex w: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set edgeTo[w] = v. 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dfs(w)</a:t>
            </a:r>
            <a:endParaRPr/>
          </a:p>
        </p:txBody>
      </p:sp>
      <p:sp>
        <p:nvSpPr>
          <p:cNvPr id="2465" name="Google Shape;2465;p1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DepthFirstPaths</a:t>
            </a:r>
            <a:endParaRPr/>
          </a:p>
        </p:txBody>
      </p:sp>
      <p:sp>
        <p:nvSpPr>
          <p:cNvPr id="2466" name="Google Shape;2466;p119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7" name="Google Shape;2467;p119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8" name="Google Shape;2468;p119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9" name="Google Shape;2469;p119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0" name="Google Shape;2470;p119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1" name="Google Shape;2471;p119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2" name="Google Shape;2472;p119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3" name="Google Shape;2473;p119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74" name="Google Shape;2474;p119"/>
          <p:cNvCxnSpPr>
            <a:stCxn id="2466" idx="2"/>
            <a:endCxn id="2467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75" name="Google Shape;2475;p119"/>
          <p:cNvCxnSpPr>
            <a:stCxn id="2466" idx="3"/>
            <a:endCxn id="2469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76" name="Google Shape;2476;p119"/>
          <p:cNvCxnSpPr>
            <a:stCxn id="2468" idx="2"/>
            <a:endCxn id="2469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77" name="Google Shape;2477;p119"/>
          <p:cNvCxnSpPr>
            <a:stCxn id="2471" idx="2"/>
            <a:endCxn id="2472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78" name="Google Shape;2478;p119"/>
          <p:cNvCxnSpPr>
            <a:stCxn id="2471" idx="2"/>
            <a:endCxn id="2470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79" name="Google Shape;2479;p119"/>
          <p:cNvCxnSpPr>
            <a:stCxn id="2469" idx="2"/>
            <a:endCxn id="2470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0" name="Google Shape;2480;p119"/>
          <p:cNvCxnSpPr>
            <a:stCxn id="2467" idx="3"/>
            <a:endCxn id="2470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1" name="Google Shape;2481;p119"/>
          <p:cNvCxnSpPr>
            <a:stCxn id="2470" idx="2"/>
            <a:endCxn id="2473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82" name="Google Shape;2482;p119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83" name="Google Shape;2483;p119"/>
          <p:cNvCxnSpPr>
            <a:stCxn id="2482" idx="3"/>
            <a:endCxn id="2466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84" name="Google Shape;2484;p119"/>
          <p:cNvSpPr txBox="1"/>
          <p:nvPr/>
        </p:nvSpPr>
        <p:spPr>
          <a:xfrm>
            <a:off x="5379325" y="3394190"/>
            <a:ext cx="4119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5" name="Google Shape;2485;p119"/>
          <p:cNvSpPr txBox="1"/>
          <p:nvPr/>
        </p:nvSpPr>
        <p:spPr>
          <a:xfrm>
            <a:off x="2680050" y="2656925"/>
            <a:ext cx="25257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mark(5).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isMarked(2)? Yes.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isMarked(4)? No.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edgeTo[3] = 4. dfs(4).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isMarked(6)? No.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edgeTo[6] = 5. dfs(6).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isMarked(8)? No. 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edgeTo[8] = 5. dfs(8)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 more children, so return.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6" name="Google Shape;2486;p119"/>
          <p:cNvSpPr txBox="1"/>
          <p:nvPr/>
        </p:nvSpPr>
        <p:spPr>
          <a:xfrm>
            <a:off x="176300" y="2474350"/>
            <a:ext cx="24264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T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T    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T       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T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T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T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T        6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T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87" name="Google Shape;2487;p119"/>
          <p:cNvSpPr txBox="1"/>
          <p:nvPr/>
        </p:nvSpPr>
        <p:spPr>
          <a:xfrm>
            <a:off x="7270035" y="3579315"/>
            <a:ext cx="4191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*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8" name="Google Shape;2488;p119"/>
          <p:cNvSpPr txBox="1"/>
          <p:nvPr/>
        </p:nvSpPr>
        <p:spPr>
          <a:xfrm>
            <a:off x="5615300" y="2105675"/>
            <a:ext cx="30303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calls: 012543678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9" name="Google Shape;2489;p119"/>
          <p:cNvSpPr txBox="1"/>
          <p:nvPr/>
        </p:nvSpPr>
        <p:spPr>
          <a:xfrm>
            <a:off x="5615300" y="4710300"/>
            <a:ext cx="33816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returns: 347685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0" name="Google Shape;2490;p119"/>
          <p:cNvSpPr txBox="1"/>
          <p:nvPr/>
        </p:nvSpPr>
        <p:spPr>
          <a:xfrm>
            <a:off x="2556637" y="2432667"/>
            <a:ext cx="30000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dfs(5):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1" name="Google Shape;2491;p119"/>
          <p:cNvSpPr txBox="1"/>
          <p:nvPr/>
        </p:nvSpPr>
        <p:spPr>
          <a:xfrm>
            <a:off x="5615300" y="962675"/>
            <a:ext cx="3030300" cy="10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Call stack: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dfs(0) → dfs(1) → dfs(2) → dfs(5)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6" name="Google Shape;2496;p120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dfs(v):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Mark v.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unmarked adjacent vertex w: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set edgeTo[w] = v. 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dfs(w)</a:t>
            </a:r>
            <a:endParaRPr/>
          </a:p>
        </p:txBody>
      </p:sp>
      <p:sp>
        <p:nvSpPr>
          <p:cNvPr id="2497" name="Google Shape;2497;p1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DepthFirstPaths</a:t>
            </a:r>
            <a:endParaRPr/>
          </a:p>
        </p:txBody>
      </p:sp>
      <p:sp>
        <p:nvSpPr>
          <p:cNvPr id="2498" name="Google Shape;2498;p120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9" name="Google Shape;2499;p120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0" name="Google Shape;2500;p120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1" name="Google Shape;2501;p120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2" name="Google Shape;2502;p120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3" name="Google Shape;2503;p120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4" name="Google Shape;2504;p120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5" name="Google Shape;2505;p120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06" name="Google Shape;2506;p120"/>
          <p:cNvCxnSpPr>
            <a:stCxn id="2498" idx="2"/>
            <a:endCxn id="2499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7" name="Google Shape;2507;p120"/>
          <p:cNvCxnSpPr>
            <a:stCxn id="2498" idx="3"/>
            <a:endCxn id="2501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8" name="Google Shape;2508;p120"/>
          <p:cNvCxnSpPr>
            <a:stCxn id="2500" idx="2"/>
            <a:endCxn id="2501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9" name="Google Shape;2509;p120"/>
          <p:cNvCxnSpPr>
            <a:stCxn id="2503" idx="2"/>
            <a:endCxn id="2504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10" name="Google Shape;2510;p120"/>
          <p:cNvCxnSpPr>
            <a:stCxn id="2503" idx="2"/>
            <a:endCxn id="2502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11" name="Google Shape;2511;p120"/>
          <p:cNvCxnSpPr>
            <a:stCxn id="2501" idx="2"/>
            <a:endCxn id="2502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12" name="Google Shape;2512;p120"/>
          <p:cNvCxnSpPr>
            <a:stCxn id="2499" idx="3"/>
            <a:endCxn id="2502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13" name="Google Shape;2513;p120"/>
          <p:cNvCxnSpPr>
            <a:stCxn id="2502" idx="2"/>
            <a:endCxn id="2505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14" name="Google Shape;2514;p120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15" name="Google Shape;2515;p120"/>
          <p:cNvCxnSpPr>
            <a:stCxn id="2514" idx="3"/>
            <a:endCxn id="2498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16" name="Google Shape;2516;p120"/>
          <p:cNvSpPr txBox="1"/>
          <p:nvPr/>
        </p:nvSpPr>
        <p:spPr>
          <a:xfrm>
            <a:off x="5379325" y="3394195"/>
            <a:ext cx="3747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7" name="Google Shape;2517;p120"/>
          <p:cNvSpPr txBox="1"/>
          <p:nvPr/>
        </p:nvSpPr>
        <p:spPr>
          <a:xfrm>
            <a:off x="2680050" y="2656925"/>
            <a:ext cx="26094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mark(2).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isMarked(1)? Yes.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isMarked(5)? No.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edgeTo[5] = 2. dfs(5).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 more children, so return.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8" name="Google Shape;2518;p120"/>
          <p:cNvSpPr txBox="1"/>
          <p:nvPr/>
        </p:nvSpPr>
        <p:spPr>
          <a:xfrm>
            <a:off x="6329958" y="3678665"/>
            <a:ext cx="4191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*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9" name="Google Shape;2519;p120"/>
          <p:cNvSpPr txBox="1"/>
          <p:nvPr/>
        </p:nvSpPr>
        <p:spPr>
          <a:xfrm>
            <a:off x="176300" y="2474350"/>
            <a:ext cx="24264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T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T    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T       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T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T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T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T        6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T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20" name="Google Shape;2520;p120"/>
          <p:cNvSpPr txBox="1"/>
          <p:nvPr/>
        </p:nvSpPr>
        <p:spPr>
          <a:xfrm>
            <a:off x="5615300" y="2105675"/>
            <a:ext cx="30303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calls: 012543678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1" name="Google Shape;2521;p120"/>
          <p:cNvSpPr txBox="1"/>
          <p:nvPr/>
        </p:nvSpPr>
        <p:spPr>
          <a:xfrm>
            <a:off x="5615300" y="4710300"/>
            <a:ext cx="33816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returns: 3476852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2" name="Google Shape;2522;p120"/>
          <p:cNvSpPr txBox="1"/>
          <p:nvPr/>
        </p:nvSpPr>
        <p:spPr>
          <a:xfrm>
            <a:off x="2556637" y="2432667"/>
            <a:ext cx="30000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dfs(2):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3" name="Google Shape;2523;p120"/>
          <p:cNvSpPr txBox="1"/>
          <p:nvPr/>
        </p:nvSpPr>
        <p:spPr>
          <a:xfrm>
            <a:off x="5615300" y="962675"/>
            <a:ext cx="3030300" cy="10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Call stack: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dfs(0) → dfs(1) → dfs(2)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8" name="Google Shape;2528;p121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dfs(v):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Mark v.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unmarked adjacent vertex w: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set edgeTo[w] = v. 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dfs(w)</a:t>
            </a:r>
            <a:endParaRPr/>
          </a:p>
        </p:txBody>
      </p:sp>
      <p:sp>
        <p:nvSpPr>
          <p:cNvPr id="2529" name="Google Shape;2529;p1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DepthFirstPaths</a:t>
            </a:r>
            <a:endParaRPr/>
          </a:p>
        </p:txBody>
      </p:sp>
      <p:sp>
        <p:nvSpPr>
          <p:cNvPr id="2530" name="Google Shape;2530;p121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1" name="Google Shape;2531;p121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2" name="Google Shape;2532;p121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3" name="Google Shape;2533;p121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4" name="Google Shape;2534;p121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5" name="Google Shape;2535;p121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6" name="Google Shape;2536;p121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7" name="Google Shape;2537;p121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38" name="Google Shape;2538;p121"/>
          <p:cNvCxnSpPr>
            <a:stCxn id="2530" idx="2"/>
            <a:endCxn id="2531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39" name="Google Shape;2539;p121"/>
          <p:cNvCxnSpPr>
            <a:stCxn id="2530" idx="3"/>
            <a:endCxn id="2533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40" name="Google Shape;2540;p121"/>
          <p:cNvCxnSpPr>
            <a:stCxn id="2532" idx="2"/>
            <a:endCxn id="2533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41" name="Google Shape;2541;p121"/>
          <p:cNvCxnSpPr>
            <a:stCxn id="2535" idx="2"/>
            <a:endCxn id="2536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42" name="Google Shape;2542;p121"/>
          <p:cNvCxnSpPr>
            <a:stCxn id="2535" idx="2"/>
            <a:endCxn id="2534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43" name="Google Shape;2543;p121"/>
          <p:cNvCxnSpPr>
            <a:stCxn id="2533" idx="2"/>
            <a:endCxn id="2534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44" name="Google Shape;2544;p121"/>
          <p:cNvCxnSpPr>
            <a:stCxn id="2531" idx="3"/>
            <a:endCxn id="2534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45" name="Google Shape;2545;p121"/>
          <p:cNvCxnSpPr>
            <a:stCxn id="2534" idx="2"/>
            <a:endCxn id="2537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46" name="Google Shape;2546;p121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47" name="Google Shape;2547;p121"/>
          <p:cNvCxnSpPr>
            <a:stCxn id="2546" idx="3"/>
            <a:endCxn id="2530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48" name="Google Shape;2548;p121"/>
          <p:cNvSpPr txBox="1"/>
          <p:nvPr/>
        </p:nvSpPr>
        <p:spPr>
          <a:xfrm>
            <a:off x="5379325" y="3394188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9" name="Google Shape;2549;p121"/>
          <p:cNvSpPr txBox="1"/>
          <p:nvPr/>
        </p:nvSpPr>
        <p:spPr>
          <a:xfrm>
            <a:off x="2680050" y="2656925"/>
            <a:ext cx="25455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mark(1).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isMarked(0)? Yes.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isMarked(2)? No.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edgeTo[2] = 1. dfs(2).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isMarked(4)? Yes.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 more children, so return.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0" name="Google Shape;2550;p121"/>
          <p:cNvSpPr txBox="1"/>
          <p:nvPr/>
        </p:nvSpPr>
        <p:spPr>
          <a:xfrm>
            <a:off x="6177558" y="2992865"/>
            <a:ext cx="4191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*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1" name="Google Shape;2551;p121"/>
          <p:cNvSpPr txBox="1"/>
          <p:nvPr/>
        </p:nvSpPr>
        <p:spPr>
          <a:xfrm>
            <a:off x="176300" y="2474350"/>
            <a:ext cx="24264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T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T    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T       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T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T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T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T        6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T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52" name="Google Shape;2552;p121"/>
          <p:cNvSpPr txBox="1"/>
          <p:nvPr/>
        </p:nvSpPr>
        <p:spPr>
          <a:xfrm>
            <a:off x="5615300" y="2105675"/>
            <a:ext cx="30303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calls: 012543678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3" name="Google Shape;2553;p121"/>
          <p:cNvSpPr txBox="1"/>
          <p:nvPr/>
        </p:nvSpPr>
        <p:spPr>
          <a:xfrm>
            <a:off x="5615300" y="4710300"/>
            <a:ext cx="33816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returns: 34768521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4" name="Google Shape;2554;p121"/>
          <p:cNvSpPr txBox="1"/>
          <p:nvPr/>
        </p:nvSpPr>
        <p:spPr>
          <a:xfrm>
            <a:off x="2556637" y="2432667"/>
            <a:ext cx="30000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dfs(1):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5" name="Google Shape;2555;p121"/>
          <p:cNvSpPr txBox="1"/>
          <p:nvPr/>
        </p:nvSpPr>
        <p:spPr>
          <a:xfrm>
            <a:off x="5615300" y="962675"/>
            <a:ext cx="3030300" cy="10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Call stack: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dfs(0) → dfs(1)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" name="Google Shape;2560;p1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Demo: DepthFirstPaths</a:t>
            </a:r>
            <a:endParaRPr/>
          </a:p>
        </p:txBody>
      </p:sp>
      <p:sp>
        <p:nvSpPr>
          <p:cNvPr id="2561" name="Google Shape;2561;p122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dfs(v):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Mark v.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unmarked adjacent vertex w: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set edgeTo[w] = v. 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dfs(w)</a:t>
            </a:r>
            <a:endParaRPr/>
          </a:p>
        </p:txBody>
      </p:sp>
      <p:sp>
        <p:nvSpPr>
          <p:cNvPr id="2562" name="Google Shape;2562;p122"/>
          <p:cNvSpPr/>
          <p:nvPr/>
        </p:nvSpPr>
        <p:spPr>
          <a:xfrm>
            <a:off x="623548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3" name="Google Shape;2563;p122"/>
          <p:cNvSpPr/>
          <p:nvPr/>
        </p:nvSpPr>
        <p:spPr>
          <a:xfrm>
            <a:off x="6411932" y="39072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4" name="Google Shape;2564;p122"/>
          <p:cNvSpPr/>
          <p:nvPr/>
        </p:nvSpPr>
        <p:spPr>
          <a:xfrm>
            <a:off x="7285832" y="2652350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5" name="Google Shape;2565;p122"/>
          <p:cNvSpPr/>
          <p:nvPr/>
        </p:nvSpPr>
        <p:spPr>
          <a:xfrm>
            <a:off x="7260832" y="3223525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6" name="Google Shape;2566;p122"/>
          <p:cNvSpPr/>
          <p:nvPr/>
        </p:nvSpPr>
        <p:spPr>
          <a:xfrm>
            <a:off x="7348107" y="38346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7" name="Google Shape;2567;p122"/>
          <p:cNvSpPr/>
          <p:nvPr/>
        </p:nvSpPr>
        <p:spPr>
          <a:xfrm>
            <a:off x="7925957" y="3153238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8" name="Google Shape;2568;p122"/>
          <p:cNvSpPr/>
          <p:nvPr/>
        </p:nvSpPr>
        <p:spPr>
          <a:xfrm>
            <a:off x="8337857" y="3810313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9" name="Google Shape;2569;p122"/>
          <p:cNvSpPr/>
          <p:nvPr/>
        </p:nvSpPr>
        <p:spPr>
          <a:xfrm>
            <a:off x="7424307" y="4345188"/>
            <a:ext cx="3174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70" name="Google Shape;2570;p122"/>
          <p:cNvCxnSpPr>
            <a:stCxn id="2562" idx="2"/>
            <a:endCxn id="2563" idx="0"/>
          </p:cNvCxnSpPr>
          <p:nvPr/>
        </p:nvCxnSpPr>
        <p:spPr>
          <a:xfrm>
            <a:off x="6394182" y="3476425"/>
            <a:ext cx="176400" cy="43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71" name="Google Shape;2571;p122"/>
          <p:cNvCxnSpPr>
            <a:stCxn id="2562" idx="3"/>
            <a:endCxn id="2565" idx="1"/>
          </p:cNvCxnSpPr>
          <p:nvPr/>
        </p:nvCxnSpPr>
        <p:spPr>
          <a:xfrm>
            <a:off x="6552882" y="3349975"/>
            <a:ext cx="70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72" name="Google Shape;2572;p122"/>
          <p:cNvCxnSpPr>
            <a:stCxn id="2564" idx="2"/>
            <a:endCxn id="2565" idx="0"/>
          </p:cNvCxnSpPr>
          <p:nvPr/>
        </p:nvCxnSpPr>
        <p:spPr>
          <a:xfrm flipH="1">
            <a:off x="7419632" y="2905250"/>
            <a:ext cx="24900" cy="31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73" name="Google Shape;2573;p122"/>
          <p:cNvCxnSpPr>
            <a:stCxn id="2567" idx="2"/>
            <a:endCxn id="2568" idx="0"/>
          </p:cNvCxnSpPr>
          <p:nvPr/>
        </p:nvCxnSpPr>
        <p:spPr>
          <a:xfrm>
            <a:off x="8084657" y="3406138"/>
            <a:ext cx="411900" cy="40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74" name="Google Shape;2574;p122"/>
          <p:cNvCxnSpPr>
            <a:stCxn id="2567" idx="2"/>
            <a:endCxn id="2566" idx="3"/>
          </p:cNvCxnSpPr>
          <p:nvPr/>
        </p:nvCxnSpPr>
        <p:spPr>
          <a:xfrm flipH="1">
            <a:off x="7665557" y="3406138"/>
            <a:ext cx="419100" cy="555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75" name="Google Shape;2575;p122"/>
          <p:cNvCxnSpPr>
            <a:stCxn id="2565" idx="2"/>
            <a:endCxn id="2566" idx="0"/>
          </p:cNvCxnSpPr>
          <p:nvPr/>
        </p:nvCxnSpPr>
        <p:spPr>
          <a:xfrm>
            <a:off x="7419532" y="3476425"/>
            <a:ext cx="87300" cy="35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76" name="Google Shape;2576;p122"/>
          <p:cNvCxnSpPr>
            <a:stCxn id="2563" idx="3"/>
            <a:endCxn id="2566" idx="1"/>
          </p:cNvCxnSpPr>
          <p:nvPr/>
        </p:nvCxnSpPr>
        <p:spPr>
          <a:xfrm rot="10800000" flipH="1">
            <a:off x="6729332" y="3961075"/>
            <a:ext cx="618900" cy="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77" name="Google Shape;2577;p122"/>
          <p:cNvCxnSpPr>
            <a:stCxn id="2566" idx="2"/>
            <a:endCxn id="2569" idx="0"/>
          </p:cNvCxnSpPr>
          <p:nvPr/>
        </p:nvCxnSpPr>
        <p:spPr>
          <a:xfrm>
            <a:off x="7506807" y="4087513"/>
            <a:ext cx="76200" cy="25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78" name="Google Shape;2578;p122"/>
          <p:cNvSpPr/>
          <p:nvPr/>
        </p:nvSpPr>
        <p:spPr>
          <a:xfrm>
            <a:off x="5371632" y="3223525"/>
            <a:ext cx="317400" cy="252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79" name="Google Shape;2579;p122"/>
          <p:cNvCxnSpPr>
            <a:stCxn id="2578" idx="3"/>
            <a:endCxn id="2562" idx="1"/>
          </p:cNvCxnSpPr>
          <p:nvPr/>
        </p:nvCxnSpPr>
        <p:spPr>
          <a:xfrm>
            <a:off x="5689032" y="3349975"/>
            <a:ext cx="546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80" name="Google Shape;2580;p122"/>
          <p:cNvSpPr txBox="1"/>
          <p:nvPr/>
        </p:nvSpPr>
        <p:spPr>
          <a:xfrm>
            <a:off x="5379325" y="3394191"/>
            <a:ext cx="3687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1" name="Google Shape;2581;p122"/>
          <p:cNvSpPr txBox="1"/>
          <p:nvPr/>
        </p:nvSpPr>
        <p:spPr>
          <a:xfrm>
            <a:off x="2680050" y="2656925"/>
            <a:ext cx="25632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mark(0).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isMarked(1)? No.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edgeTo[1] = 0. dfs(1).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 more children, so return.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2" name="Google Shape;2582;p122"/>
          <p:cNvSpPr txBox="1"/>
          <p:nvPr/>
        </p:nvSpPr>
        <p:spPr>
          <a:xfrm>
            <a:off x="5328988" y="2992865"/>
            <a:ext cx="4191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*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3" name="Google Shape;2583;p122"/>
          <p:cNvSpPr txBox="1"/>
          <p:nvPr/>
        </p:nvSpPr>
        <p:spPr>
          <a:xfrm>
            <a:off x="176300" y="2474350"/>
            <a:ext cx="24264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#     marked    edgeTo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   T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   T      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  T       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  T       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   T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   T       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  T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      T        6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8        T        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84" name="Google Shape;2584;p122"/>
          <p:cNvSpPr txBox="1"/>
          <p:nvPr/>
        </p:nvSpPr>
        <p:spPr>
          <a:xfrm>
            <a:off x="5615300" y="2105675"/>
            <a:ext cx="30303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calls: 012543678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5" name="Google Shape;2585;p122"/>
          <p:cNvSpPr txBox="1"/>
          <p:nvPr/>
        </p:nvSpPr>
        <p:spPr>
          <a:xfrm>
            <a:off x="5615300" y="4710300"/>
            <a:ext cx="33816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Order of dfs returns: 347685210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6" name="Google Shape;2586;p122"/>
          <p:cNvSpPr txBox="1"/>
          <p:nvPr/>
        </p:nvSpPr>
        <p:spPr>
          <a:xfrm>
            <a:off x="2556637" y="2432667"/>
            <a:ext cx="30000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dfs(0):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7" name="Google Shape;2587;p122"/>
          <p:cNvSpPr txBox="1"/>
          <p:nvPr/>
        </p:nvSpPr>
        <p:spPr>
          <a:xfrm>
            <a:off x="5615300" y="962675"/>
            <a:ext cx="3030300" cy="10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Call stack: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dfs(0)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2" name="Google Shape;2592;p123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22, CS61B, Fall 2023</a:t>
            </a:r>
            <a:endParaRPr/>
          </a:p>
        </p:txBody>
      </p:sp>
      <p:sp>
        <p:nvSpPr>
          <p:cNvPr id="2593" name="Google Shape;2593;p123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Trees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Tree Definition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Tree Traversals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Usefulness of Tree Traversals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Graphs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Graph Definition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Some Famous Graph Problems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Graph Traversals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Motivation: s-t Connectivity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Depth First Search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Tree vs. Graph Traversals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Challenge: Invent Breadth First</a:t>
            </a:r>
            <a:br>
              <a:rPr lang="en"/>
            </a:br>
            <a:r>
              <a:rPr lang="en"/>
              <a:t>Search</a:t>
            </a:r>
            <a:endParaRPr/>
          </a:p>
        </p:txBody>
      </p:sp>
      <p:sp>
        <p:nvSpPr>
          <p:cNvPr id="2594" name="Google Shape;2594;p123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vs. Graph Traversals</a:t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9" name="Google Shape;2599;p1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Traversals</a:t>
            </a:r>
            <a:endParaRPr/>
          </a:p>
        </p:txBody>
      </p:sp>
      <p:sp>
        <p:nvSpPr>
          <p:cNvPr id="2600" name="Google Shape;2600;p124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There are many tree traversals: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Preorder: DBACFEG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Inorder: ABCDEFG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Postorder: ACBEGFD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Level order: DBFACEG</a:t>
            </a:r>
            <a:endParaRPr/>
          </a:p>
        </p:txBody>
      </p:sp>
      <p:sp>
        <p:nvSpPr>
          <p:cNvPr id="2601" name="Google Shape;2601;p124"/>
          <p:cNvSpPr/>
          <p:nvPr/>
        </p:nvSpPr>
        <p:spPr>
          <a:xfrm>
            <a:off x="4888525" y="22671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02" name="Google Shape;2602;p124"/>
          <p:cNvSpPr/>
          <p:nvPr/>
        </p:nvSpPr>
        <p:spPr>
          <a:xfrm>
            <a:off x="6221209" y="22671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03" name="Google Shape;2603;p124"/>
          <p:cNvSpPr/>
          <p:nvPr/>
        </p:nvSpPr>
        <p:spPr>
          <a:xfrm>
            <a:off x="5554867" y="15813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04" name="Google Shape;2604;p124"/>
          <p:cNvSpPr/>
          <p:nvPr/>
        </p:nvSpPr>
        <p:spPr>
          <a:xfrm>
            <a:off x="6642325" y="95510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05" name="Google Shape;2605;p124"/>
          <p:cNvSpPr/>
          <p:nvPr/>
        </p:nvSpPr>
        <p:spPr>
          <a:xfrm>
            <a:off x="7003867" y="225050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06" name="Google Shape;2606;p124"/>
          <p:cNvSpPr/>
          <p:nvPr/>
        </p:nvSpPr>
        <p:spPr>
          <a:xfrm>
            <a:off x="7670208" y="164090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07" name="Google Shape;2607;p124"/>
          <p:cNvSpPr/>
          <p:nvPr/>
        </p:nvSpPr>
        <p:spPr>
          <a:xfrm>
            <a:off x="8336550" y="225050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608" name="Google Shape;2608;p124"/>
          <p:cNvCxnSpPr>
            <a:stCxn id="2601" idx="7"/>
            <a:endCxn id="2603" idx="3"/>
          </p:cNvCxnSpPr>
          <p:nvPr/>
        </p:nvCxnSpPr>
        <p:spPr>
          <a:xfrm rot="10800000" flipH="1">
            <a:off x="5311290" y="2003960"/>
            <a:ext cx="316200" cy="3357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09" name="Google Shape;2609;p124"/>
          <p:cNvCxnSpPr>
            <a:stCxn id="2603" idx="5"/>
            <a:endCxn id="2602" idx="1"/>
          </p:cNvCxnSpPr>
          <p:nvPr/>
        </p:nvCxnSpPr>
        <p:spPr>
          <a:xfrm>
            <a:off x="5977632" y="2004090"/>
            <a:ext cx="316200" cy="3357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10" name="Google Shape;2610;p124"/>
          <p:cNvCxnSpPr>
            <a:stCxn id="2605" idx="7"/>
            <a:endCxn id="2606" idx="3"/>
          </p:cNvCxnSpPr>
          <p:nvPr/>
        </p:nvCxnSpPr>
        <p:spPr>
          <a:xfrm rot="10800000" flipH="1">
            <a:off x="7426632" y="2063535"/>
            <a:ext cx="316200" cy="2595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11" name="Google Shape;2611;p124"/>
          <p:cNvCxnSpPr>
            <a:stCxn id="2606" idx="5"/>
            <a:endCxn id="2607" idx="1"/>
          </p:cNvCxnSpPr>
          <p:nvPr/>
        </p:nvCxnSpPr>
        <p:spPr>
          <a:xfrm>
            <a:off x="8092973" y="2063665"/>
            <a:ext cx="316200" cy="2595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12" name="Google Shape;2612;p124"/>
          <p:cNvCxnSpPr>
            <a:stCxn id="2604" idx="3"/>
            <a:endCxn id="2603" idx="7"/>
          </p:cNvCxnSpPr>
          <p:nvPr/>
        </p:nvCxnSpPr>
        <p:spPr>
          <a:xfrm flipH="1">
            <a:off x="5977760" y="1377865"/>
            <a:ext cx="737100" cy="2760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13" name="Google Shape;2613;p124"/>
          <p:cNvCxnSpPr>
            <a:stCxn id="2604" idx="5"/>
            <a:endCxn id="2606" idx="1"/>
          </p:cNvCxnSpPr>
          <p:nvPr/>
        </p:nvCxnSpPr>
        <p:spPr>
          <a:xfrm>
            <a:off x="7065090" y="1377865"/>
            <a:ext cx="677700" cy="3357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8" name="Google Shape;2618;p1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Traversals</a:t>
            </a:r>
            <a:endParaRPr/>
          </a:p>
        </p:txBody>
      </p:sp>
      <p:sp>
        <p:nvSpPr>
          <p:cNvPr id="2619" name="Google Shape;2619;p125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There are many tree traversals: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Preorder: DBACFEG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Inorder: ABCDEFG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Postorder: ACBEGFD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Level order: DBFACEG</a:t>
            </a:r>
            <a:endParaRPr/>
          </a:p>
        </p:txBody>
      </p:sp>
      <p:sp>
        <p:nvSpPr>
          <p:cNvPr id="2620" name="Google Shape;2620;p125"/>
          <p:cNvSpPr/>
          <p:nvPr/>
        </p:nvSpPr>
        <p:spPr>
          <a:xfrm>
            <a:off x="4888525" y="22671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1" name="Google Shape;2621;p125"/>
          <p:cNvSpPr/>
          <p:nvPr/>
        </p:nvSpPr>
        <p:spPr>
          <a:xfrm>
            <a:off x="6221209" y="22671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2" name="Google Shape;2622;p125"/>
          <p:cNvSpPr/>
          <p:nvPr/>
        </p:nvSpPr>
        <p:spPr>
          <a:xfrm>
            <a:off x="5554867" y="15813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3" name="Google Shape;2623;p125"/>
          <p:cNvSpPr/>
          <p:nvPr/>
        </p:nvSpPr>
        <p:spPr>
          <a:xfrm>
            <a:off x="6642325" y="95510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4" name="Google Shape;2624;p125"/>
          <p:cNvSpPr/>
          <p:nvPr/>
        </p:nvSpPr>
        <p:spPr>
          <a:xfrm>
            <a:off x="7003867" y="225050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5" name="Google Shape;2625;p125"/>
          <p:cNvSpPr/>
          <p:nvPr/>
        </p:nvSpPr>
        <p:spPr>
          <a:xfrm>
            <a:off x="7670208" y="164090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6" name="Google Shape;2626;p125"/>
          <p:cNvSpPr/>
          <p:nvPr/>
        </p:nvSpPr>
        <p:spPr>
          <a:xfrm>
            <a:off x="8336550" y="225050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627" name="Google Shape;2627;p125"/>
          <p:cNvCxnSpPr>
            <a:stCxn id="2620" idx="7"/>
            <a:endCxn id="2622" idx="3"/>
          </p:cNvCxnSpPr>
          <p:nvPr/>
        </p:nvCxnSpPr>
        <p:spPr>
          <a:xfrm rot="10800000" flipH="1">
            <a:off x="5311290" y="2003960"/>
            <a:ext cx="316200" cy="3357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28" name="Google Shape;2628;p125"/>
          <p:cNvCxnSpPr>
            <a:stCxn id="2622" idx="5"/>
            <a:endCxn id="2621" idx="1"/>
          </p:cNvCxnSpPr>
          <p:nvPr/>
        </p:nvCxnSpPr>
        <p:spPr>
          <a:xfrm>
            <a:off x="5977632" y="2004090"/>
            <a:ext cx="316200" cy="3357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29" name="Google Shape;2629;p125"/>
          <p:cNvCxnSpPr>
            <a:stCxn id="2624" idx="7"/>
            <a:endCxn id="2625" idx="3"/>
          </p:cNvCxnSpPr>
          <p:nvPr/>
        </p:nvCxnSpPr>
        <p:spPr>
          <a:xfrm rot="10800000" flipH="1">
            <a:off x="7426632" y="2063535"/>
            <a:ext cx="316200" cy="2595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30" name="Google Shape;2630;p125"/>
          <p:cNvCxnSpPr>
            <a:stCxn id="2625" idx="5"/>
            <a:endCxn id="2626" idx="1"/>
          </p:cNvCxnSpPr>
          <p:nvPr/>
        </p:nvCxnSpPr>
        <p:spPr>
          <a:xfrm>
            <a:off x="8092973" y="2063665"/>
            <a:ext cx="316200" cy="2595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31" name="Google Shape;2631;p125"/>
          <p:cNvCxnSpPr>
            <a:stCxn id="2623" idx="3"/>
            <a:endCxn id="2622" idx="7"/>
          </p:cNvCxnSpPr>
          <p:nvPr/>
        </p:nvCxnSpPr>
        <p:spPr>
          <a:xfrm flipH="1">
            <a:off x="5977760" y="1377865"/>
            <a:ext cx="737100" cy="2760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32" name="Google Shape;2632;p125"/>
          <p:cNvCxnSpPr>
            <a:stCxn id="2623" idx="5"/>
            <a:endCxn id="2625" idx="1"/>
          </p:cNvCxnSpPr>
          <p:nvPr/>
        </p:nvCxnSpPr>
        <p:spPr>
          <a:xfrm>
            <a:off x="7065090" y="1377865"/>
            <a:ext cx="677700" cy="3357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633" name="Google Shape;2633;p125"/>
          <p:cNvGrpSpPr/>
          <p:nvPr/>
        </p:nvGrpSpPr>
        <p:grpSpPr>
          <a:xfrm>
            <a:off x="6057432" y="3141694"/>
            <a:ext cx="2902625" cy="1945737"/>
            <a:chOff x="5981232" y="3141694"/>
            <a:chExt cx="2902625" cy="1945737"/>
          </a:xfrm>
        </p:grpSpPr>
        <p:sp>
          <p:nvSpPr>
            <p:cNvPr id="2634" name="Google Shape;2634;p125"/>
            <p:cNvSpPr/>
            <p:nvPr/>
          </p:nvSpPr>
          <p:spPr>
            <a:xfrm>
              <a:off x="6692682" y="3712869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</a:t>
              </a:r>
              <a:endParaRPr/>
            </a:p>
          </p:txBody>
        </p:sp>
        <p:sp>
          <p:nvSpPr>
            <p:cNvPr id="2635" name="Google Shape;2635;p125"/>
            <p:cNvSpPr/>
            <p:nvPr/>
          </p:nvSpPr>
          <p:spPr>
            <a:xfrm>
              <a:off x="6869133" y="4396569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2</a:t>
              </a:r>
              <a:endParaRPr/>
            </a:p>
          </p:txBody>
        </p:sp>
        <p:sp>
          <p:nvSpPr>
            <p:cNvPr id="2636" name="Google Shape;2636;p125"/>
            <p:cNvSpPr/>
            <p:nvPr/>
          </p:nvSpPr>
          <p:spPr>
            <a:xfrm>
              <a:off x="7514432" y="3141694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3</a:t>
              </a:r>
              <a:endParaRPr/>
            </a:p>
          </p:txBody>
        </p:sp>
        <p:sp>
          <p:nvSpPr>
            <p:cNvPr id="2637" name="Google Shape;2637;p125"/>
            <p:cNvSpPr/>
            <p:nvPr/>
          </p:nvSpPr>
          <p:spPr>
            <a:xfrm>
              <a:off x="7489432" y="3712869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</a:t>
              </a:r>
              <a:endParaRPr/>
            </a:p>
          </p:txBody>
        </p:sp>
        <p:sp>
          <p:nvSpPr>
            <p:cNvPr id="2638" name="Google Shape;2638;p125"/>
            <p:cNvSpPr/>
            <p:nvPr/>
          </p:nvSpPr>
          <p:spPr>
            <a:xfrm>
              <a:off x="7576707" y="4323957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5</a:t>
              </a:r>
              <a:endParaRPr/>
            </a:p>
          </p:txBody>
        </p:sp>
        <p:sp>
          <p:nvSpPr>
            <p:cNvPr id="2639" name="Google Shape;2639;p125"/>
            <p:cNvSpPr/>
            <p:nvPr/>
          </p:nvSpPr>
          <p:spPr>
            <a:xfrm>
              <a:off x="8154557" y="3642582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6</a:t>
              </a:r>
              <a:endParaRPr/>
            </a:p>
          </p:txBody>
        </p:sp>
        <p:sp>
          <p:nvSpPr>
            <p:cNvPr id="2640" name="Google Shape;2640;p125"/>
            <p:cNvSpPr/>
            <p:nvPr/>
          </p:nvSpPr>
          <p:spPr>
            <a:xfrm>
              <a:off x="8566457" y="4299657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7</a:t>
              </a:r>
              <a:endParaRPr/>
            </a:p>
          </p:txBody>
        </p:sp>
        <p:sp>
          <p:nvSpPr>
            <p:cNvPr id="2641" name="Google Shape;2641;p125"/>
            <p:cNvSpPr/>
            <p:nvPr/>
          </p:nvSpPr>
          <p:spPr>
            <a:xfrm>
              <a:off x="7652907" y="4834532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8</a:t>
              </a:r>
              <a:endParaRPr/>
            </a:p>
          </p:txBody>
        </p:sp>
        <p:cxnSp>
          <p:nvCxnSpPr>
            <p:cNvPr id="2642" name="Google Shape;2642;p125"/>
            <p:cNvCxnSpPr>
              <a:stCxn id="2634" idx="2"/>
              <a:endCxn id="2635" idx="0"/>
            </p:cNvCxnSpPr>
            <p:nvPr/>
          </p:nvCxnSpPr>
          <p:spPr>
            <a:xfrm>
              <a:off x="6851382" y="3965769"/>
              <a:ext cx="176400" cy="4308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43" name="Google Shape;2643;p125"/>
            <p:cNvCxnSpPr>
              <a:stCxn id="2634" idx="3"/>
              <a:endCxn id="2637" idx="1"/>
            </p:cNvCxnSpPr>
            <p:nvPr/>
          </p:nvCxnSpPr>
          <p:spPr>
            <a:xfrm>
              <a:off x="7010082" y="3839319"/>
              <a:ext cx="479400" cy="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44" name="Google Shape;2644;p125"/>
            <p:cNvCxnSpPr>
              <a:stCxn id="2636" idx="2"/>
              <a:endCxn id="2637" idx="0"/>
            </p:cNvCxnSpPr>
            <p:nvPr/>
          </p:nvCxnSpPr>
          <p:spPr>
            <a:xfrm flipH="1">
              <a:off x="7648232" y="3394594"/>
              <a:ext cx="24900" cy="3183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45" name="Google Shape;2645;p125"/>
            <p:cNvCxnSpPr>
              <a:stCxn id="2639" idx="2"/>
              <a:endCxn id="2640" idx="0"/>
            </p:cNvCxnSpPr>
            <p:nvPr/>
          </p:nvCxnSpPr>
          <p:spPr>
            <a:xfrm>
              <a:off x="8313257" y="3895482"/>
              <a:ext cx="411900" cy="4041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46" name="Google Shape;2646;p125"/>
            <p:cNvCxnSpPr>
              <a:stCxn id="2639" idx="2"/>
              <a:endCxn id="2638" idx="3"/>
            </p:cNvCxnSpPr>
            <p:nvPr/>
          </p:nvCxnSpPr>
          <p:spPr>
            <a:xfrm flipH="1">
              <a:off x="7894157" y="3895482"/>
              <a:ext cx="419100" cy="5550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47" name="Google Shape;2647;p125"/>
            <p:cNvCxnSpPr>
              <a:stCxn id="2637" idx="2"/>
              <a:endCxn id="2638" idx="0"/>
            </p:cNvCxnSpPr>
            <p:nvPr/>
          </p:nvCxnSpPr>
          <p:spPr>
            <a:xfrm>
              <a:off x="7648132" y="3965769"/>
              <a:ext cx="87300" cy="3582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48" name="Google Shape;2648;p125"/>
            <p:cNvCxnSpPr>
              <a:stCxn id="2635" idx="3"/>
              <a:endCxn id="2638" idx="1"/>
            </p:cNvCxnSpPr>
            <p:nvPr/>
          </p:nvCxnSpPr>
          <p:spPr>
            <a:xfrm rot="10800000" flipH="1">
              <a:off x="7186533" y="4450419"/>
              <a:ext cx="390300" cy="726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49" name="Google Shape;2649;p125"/>
            <p:cNvCxnSpPr>
              <a:stCxn id="2638" idx="2"/>
              <a:endCxn id="2641" idx="0"/>
            </p:cNvCxnSpPr>
            <p:nvPr/>
          </p:nvCxnSpPr>
          <p:spPr>
            <a:xfrm>
              <a:off x="7735407" y="4576857"/>
              <a:ext cx="76200" cy="2577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50" name="Google Shape;2650;p125"/>
            <p:cNvSpPr/>
            <p:nvPr/>
          </p:nvSpPr>
          <p:spPr>
            <a:xfrm>
              <a:off x="5981232" y="3712869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/>
                <a:t>0</a:t>
              </a:r>
              <a:endParaRPr b="1"/>
            </a:p>
          </p:txBody>
        </p:sp>
        <p:cxnSp>
          <p:nvCxnSpPr>
            <p:cNvPr id="2651" name="Google Shape;2651;p125"/>
            <p:cNvCxnSpPr>
              <a:stCxn id="2650" idx="3"/>
              <a:endCxn id="2634" idx="1"/>
            </p:cNvCxnSpPr>
            <p:nvPr/>
          </p:nvCxnSpPr>
          <p:spPr>
            <a:xfrm>
              <a:off x="6298632" y="3839319"/>
              <a:ext cx="394200" cy="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52" name="Google Shape;2652;p125"/>
            <p:cNvSpPr txBox="1"/>
            <p:nvPr/>
          </p:nvSpPr>
          <p:spPr>
            <a:xfrm>
              <a:off x="5988925" y="3883430"/>
              <a:ext cx="317400" cy="43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</a:t>
              </a:r>
              <a:endParaRPr/>
            </a:p>
          </p:txBody>
        </p:sp>
      </p:grpSp>
      <p:sp>
        <p:nvSpPr>
          <p:cNvPr id="2653" name="Google Shape;2653;p125"/>
          <p:cNvSpPr txBox="1"/>
          <p:nvPr/>
        </p:nvSpPr>
        <p:spPr>
          <a:xfrm>
            <a:off x="250625" y="2608825"/>
            <a:ext cx="6562200" cy="24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we just did in DepthFirstPaths is called “</a:t>
            </a:r>
            <a:r>
              <a:rPr lang="en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DFS Preorder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.”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DFS Preorder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Action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before DFS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calls to neighbors.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Our action was setting edgeTo.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Example: edgeTo[1] was set before                               DFS calls to neighbors 2 and 4.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One valid DFS preorder for this graph: 012543678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Equivalent to the order of dfs calls.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8" name="Google Shape;2658;p1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Traversals</a:t>
            </a:r>
            <a:endParaRPr/>
          </a:p>
        </p:txBody>
      </p:sp>
      <p:sp>
        <p:nvSpPr>
          <p:cNvPr id="2659" name="Google Shape;2659;p126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There are many tree traversals: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Preorder: DBACFEG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Inorder: ABCDEFG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Postorder: ACBEGFD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Level order: DBFACEG</a:t>
            </a:r>
            <a:endParaRPr/>
          </a:p>
        </p:txBody>
      </p:sp>
      <p:sp>
        <p:nvSpPr>
          <p:cNvPr id="2660" name="Google Shape;2660;p126"/>
          <p:cNvSpPr/>
          <p:nvPr/>
        </p:nvSpPr>
        <p:spPr>
          <a:xfrm>
            <a:off x="4888525" y="22671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61" name="Google Shape;2661;p126"/>
          <p:cNvSpPr/>
          <p:nvPr/>
        </p:nvSpPr>
        <p:spPr>
          <a:xfrm>
            <a:off x="6221209" y="22671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62" name="Google Shape;2662;p126"/>
          <p:cNvSpPr/>
          <p:nvPr/>
        </p:nvSpPr>
        <p:spPr>
          <a:xfrm>
            <a:off x="5554867" y="15813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63" name="Google Shape;2663;p126"/>
          <p:cNvSpPr/>
          <p:nvPr/>
        </p:nvSpPr>
        <p:spPr>
          <a:xfrm>
            <a:off x="6642325" y="95510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64" name="Google Shape;2664;p126"/>
          <p:cNvSpPr/>
          <p:nvPr/>
        </p:nvSpPr>
        <p:spPr>
          <a:xfrm>
            <a:off x="7003867" y="225050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65" name="Google Shape;2665;p126"/>
          <p:cNvSpPr/>
          <p:nvPr/>
        </p:nvSpPr>
        <p:spPr>
          <a:xfrm>
            <a:off x="7670208" y="164090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66" name="Google Shape;2666;p126"/>
          <p:cNvSpPr/>
          <p:nvPr/>
        </p:nvSpPr>
        <p:spPr>
          <a:xfrm>
            <a:off x="8336550" y="225050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667" name="Google Shape;2667;p126"/>
          <p:cNvCxnSpPr>
            <a:stCxn id="2660" idx="7"/>
            <a:endCxn id="2662" idx="3"/>
          </p:cNvCxnSpPr>
          <p:nvPr/>
        </p:nvCxnSpPr>
        <p:spPr>
          <a:xfrm rot="10800000" flipH="1">
            <a:off x="5311290" y="2003960"/>
            <a:ext cx="316200" cy="3357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68" name="Google Shape;2668;p126"/>
          <p:cNvCxnSpPr>
            <a:stCxn id="2662" idx="5"/>
            <a:endCxn id="2661" idx="1"/>
          </p:cNvCxnSpPr>
          <p:nvPr/>
        </p:nvCxnSpPr>
        <p:spPr>
          <a:xfrm>
            <a:off x="5977632" y="2004090"/>
            <a:ext cx="316200" cy="3357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69" name="Google Shape;2669;p126"/>
          <p:cNvCxnSpPr>
            <a:stCxn id="2664" idx="7"/>
            <a:endCxn id="2665" idx="3"/>
          </p:cNvCxnSpPr>
          <p:nvPr/>
        </p:nvCxnSpPr>
        <p:spPr>
          <a:xfrm rot="10800000" flipH="1">
            <a:off x="7426632" y="2063535"/>
            <a:ext cx="316200" cy="2595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70" name="Google Shape;2670;p126"/>
          <p:cNvCxnSpPr>
            <a:stCxn id="2665" idx="5"/>
            <a:endCxn id="2666" idx="1"/>
          </p:cNvCxnSpPr>
          <p:nvPr/>
        </p:nvCxnSpPr>
        <p:spPr>
          <a:xfrm>
            <a:off x="8092973" y="2063665"/>
            <a:ext cx="316200" cy="2595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71" name="Google Shape;2671;p126"/>
          <p:cNvCxnSpPr>
            <a:stCxn id="2663" idx="3"/>
            <a:endCxn id="2662" idx="7"/>
          </p:cNvCxnSpPr>
          <p:nvPr/>
        </p:nvCxnSpPr>
        <p:spPr>
          <a:xfrm flipH="1">
            <a:off x="5977760" y="1377865"/>
            <a:ext cx="737100" cy="2760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72" name="Google Shape;2672;p126"/>
          <p:cNvCxnSpPr>
            <a:stCxn id="2663" idx="5"/>
            <a:endCxn id="2665" idx="1"/>
          </p:cNvCxnSpPr>
          <p:nvPr/>
        </p:nvCxnSpPr>
        <p:spPr>
          <a:xfrm>
            <a:off x="7065090" y="1377865"/>
            <a:ext cx="677700" cy="3357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673" name="Google Shape;2673;p126"/>
          <p:cNvGrpSpPr/>
          <p:nvPr/>
        </p:nvGrpSpPr>
        <p:grpSpPr>
          <a:xfrm>
            <a:off x="6057432" y="3141694"/>
            <a:ext cx="2902625" cy="1945737"/>
            <a:chOff x="5981232" y="3141694"/>
            <a:chExt cx="2902625" cy="1945737"/>
          </a:xfrm>
        </p:grpSpPr>
        <p:sp>
          <p:nvSpPr>
            <p:cNvPr id="2674" name="Google Shape;2674;p126"/>
            <p:cNvSpPr/>
            <p:nvPr/>
          </p:nvSpPr>
          <p:spPr>
            <a:xfrm>
              <a:off x="6692682" y="3712869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</a:t>
              </a:r>
              <a:endParaRPr/>
            </a:p>
          </p:txBody>
        </p:sp>
        <p:sp>
          <p:nvSpPr>
            <p:cNvPr id="2675" name="Google Shape;2675;p126"/>
            <p:cNvSpPr/>
            <p:nvPr/>
          </p:nvSpPr>
          <p:spPr>
            <a:xfrm>
              <a:off x="6869133" y="4396569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2</a:t>
              </a:r>
              <a:endParaRPr/>
            </a:p>
          </p:txBody>
        </p:sp>
        <p:sp>
          <p:nvSpPr>
            <p:cNvPr id="2676" name="Google Shape;2676;p126"/>
            <p:cNvSpPr/>
            <p:nvPr/>
          </p:nvSpPr>
          <p:spPr>
            <a:xfrm>
              <a:off x="7514432" y="3141694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3</a:t>
              </a:r>
              <a:endParaRPr/>
            </a:p>
          </p:txBody>
        </p:sp>
        <p:sp>
          <p:nvSpPr>
            <p:cNvPr id="2677" name="Google Shape;2677;p126"/>
            <p:cNvSpPr/>
            <p:nvPr/>
          </p:nvSpPr>
          <p:spPr>
            <a:xfrm>
              <a:off x="7489432" y="3712869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</a:t>
              </a:r>
              <a:endParaRPr/>
            </a:p>
          </p:txBody>
        </p:sp>
        <p:sp>
          <p:nvSpPr>
            <p:cNvPr id="2678" name="Google Shape;2678;p126"/>
            <p:cNvSpPr/>
            <p:nvPr/>
          </p:nvSpPr>
          <p:spPr>
            <a:xfrm>
              <a:off x="7576707" y="4323957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5</a:t>
              </a:r>
              <a:endParaRPr/>
            </a:p>
          </p:txBody>
        </p:sp>
        <p:sp>
          <p:nvSpPr>
            <p:cNvPr id="2679" name="Google Shape;2679;p126"/>
            <p:cNvSpPr/>
            <p:nvPr/>
          </p:nvSpPr>
          <p:spPr>
            <a:xfrm>
              <a:off x="8154557" y="3642582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6</a:t>
              </a:r>
              <a:endParaRPr/>
            </a:p>
          </p:txBody>
        </p:sp>
        <p:sp>
          <p:nvSpPr>
            <p:cNvPr id="2680" name="Google Shape;2680;p126"/>
            <p:cNvSpPr/>
            <p:nvPr/>
          </p:nvSpPr>
          <p:spPr>
            <a:xfrm>
              <a:off x="8566457" y="4299657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7</a:t>
              </a:r>
              <a:endParaRPr/>
            </a:p>
          </p:txBody>
        </p:sp>
        <p:sp>
          <p:nvSpPr>
            <p:cNvPr id="2681" name="Google Shape;2681;p126"/>
            <p:cNvSpPr/>
            <p:nvPr/>
          </p:nvSpPr>
          <p:spPr>
            <a:xfrm>
              <a:off x="7652907" y="4834532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8</a:t>
              </a:r>
              <a:endParaRPr/>
            </a:p>
          </p:txBody>
        </p:sp>
        <p:cxnSp>
          <p:nvCxnSpPr>
            <p:cNvPr id="2682" name="Google Shape;2682;p126"/>
            <p:cNvCxnSpPr>
              <a:stCxn id="2674" idx="2"/>
              <a:endCxn id="2675" idx="0"/>
            </p:cNvCxnSpPr>
            <p:nvPr/>
          </p:nvCxnSpPr>
          <p:spPr>
            <a:xfrm>
              <a:off x="6851382" y="3965769"/>
              <a:ext cx="176400" cy="4308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83" name="Google Shape;2683;p126"/>
            <p:cNvCxnSpPr>
              <a:stCxn id="2674" idx="3"/>
              <a:endCxn id="2677" idx="1"/>
            </p:cNvCxnSpPr>
            <p:nvPr/>
          </p:nvCxnSpPr>
          <p:spPr>
            <a:xfrm>
              <a:off x="7010082" y="3839319"/>
              <a:ext cx="479400" cy="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84" name="Google Shape;2684;p126"/>
            <p:cNvCxnSpPr>
              <a:stCxn id="2676" idx="2"/>
              <a:endCxn id="2677" idx="0"/>
            </p:cNvCxnSpPr>
            <p:nvPr/>
          </p:nvCxnSpPr>
          <p:spPr>
            <a:xfrm flipH="1">
              <a:off x="7648232" y="3394594"/>
              <a:ext cx="24900" cy="3183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85" name="Google Shape;2685;p126"/>
            <p:cNvCxnSpPr>
              <a:stCxn id="2679" idx="2"/>
              <a:endCxn id="2680" idx="0"/>
            </p:cNvCxnSpPr>
            <p:nvPr/>
          </p:nvCxnSpPr>
          <p:spPr>
            <a:xfrm>
              <a:off x="8313257" y="3895482"/>
              <a:ext cx="411900" cy="4041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86" name="Google Shape;2686;p126"/>
            <p:cNvCxnSpPr>
              <a:stCxn id="2679" idx="2"/>
              <a:endCxn id="2678" idx="3"/>
            </p:cNvCxnSpPr>
            <p:nvPr/>
          </p:nvCxnSpPr>
          <p:spPr>
            <a:xfrm flipH="1">
              <a:off x="7894157" y="3895482"/>
              <a:ext cx="419100" cy="5550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87" name="Google Shape;2687;p126"/>
            <p:cNvCxnSpPr>
              <a:stCxn id="2677" idx="2"/>
              <a:endCxn id="2678" idx="0"/>
            </p:cNvCxnSpPr>
            <p:nvPr/>
          </p:nvCxnSpPr>
          <p:spPr>
            <a:xfrm>
              <a:off x="7648132" y="3965769"/>
              <a:ext cx="87300" cy="3582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88" name="Google Shape;2688;p126"/>
            <p:cNvCxnSpPr>
              <a:stCxn id="2675" idx="3"/>
              <a:endCxn id="2678" idx="1"/>
            </p:cNvCxnSpPr>
            <p:nvPr/>
          </p:nvCxnSpPr>
          <p:spPr>
            <a:xfrm rot="10800000" flipH="1">
              <a:off x="7186533" y="4450419"/>
              <a:ext cx="390300" cy="726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89" name="Google Shape;2689;p126"/>
            <p:cNvCxnSpPr>
              <a:stCxn id="2678" idx="2"/>
              <a:endCxn id="2681" idx="0"/>
            </p:cNvCxnSpPr>
            <p:nvPr/>
          </p:nvCxnSpPr>
          <p:spPr>
            <a:xfrm>
              <a:off x="7735407" y="4576857"/>
              <a:ext cx="76200" cy="2577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90" name="Google Shape;2690;p126"/>
            <p:cNvSpPr/>
            <p:nvPr/>
          </p:nvSpPr>
          <p:spPr>
            <a:xfrm>
              <a:off x="5981232" y="3712869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/>
                <a:t>0</a:t>
              </a:r>
              <a:endParaRPr b="1"/>
            </a:p>
          </p:txBody>
        </p:sp>
        <p:cxnSp>
          <p:nvCxnSpPr>
            <p:cNvPr id="2691" name="Google Shape;2691;p126"/>
            <p:cNvCxnSpPr>
              <a:stCxn id="2690" idx="3"/>
              <a:endCxn id="2674" idx="1"/>
            </p:cNvCxnSpPr>
            <p:nvPr/>
          </p:nvCxnSpPr>
          <p:spPr>
            <a:xfrm>
              <a:off x="6298632" y="3839319"/>
              <a:ext cx="394200" cy="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92" name="Google Shape;2692;p126"/>
            <p:cNvSpPr txBox="1"/>
            <p:nvPr/>
          </p:nvSpPr>
          <p:spPr>
            <a:xfrm>
              <a:off x="5988925" y="3883430"/>
              <a:ext cx="317400" cy="43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</a:t>
              </a:r>
              <a:endParaRPr/>
            </a:p>
          </p:txBody>
        </p:sp>
      </p:grpSp>
      <p:sp>
        <p:nvSpPr>
          <p:cNvPr id="2693" name="Google Shape;2693;p126"/>
          <p:cNvSpPr txBox="1"/>
          <p:nvPr/>
        </p:nvSpPr>
        <p:spPr>
          <a:xfrm>
            <a:off x="250625" y="2304025"/>
            <a:ext cx="6430200" cy="24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Could also do actions in </a:t>
            </a:r>
            <a:r>
              <a:rPr lang="en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DFS Postorder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DFS Postorder: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Action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DFS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calls to neighbors.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Example: dfs(s):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mark(s)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each unmarked neighbor n of s, dfs(n)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print(s)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Results for dfs(0) would be: 347685210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Equivalent to the order of dfs returns.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8" name="Google Shape;2698;p1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Traversals</a:t>
            </a:r>
            <a:endParaRPr/>
          </a:p>
        </p:txBody>
      </p:sp>
      <p:sp>
        <p:nvSpPr>
          <p:cNvPr id="2699" name="Google Shape;2699;p127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Just as there are many tree traversals: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Preorder: DBACFEG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Inorder: ABCDEFG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Postorder: ACBEGFD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Level order: DBFACEG</a:t>
            </a:r>
            <a:endParaRPr/>
          </a:p>
        </p:txBody>
      </p:sp>
      <p:sp>
        <p:nvSpPr>
          <p:cNvPr id="2700" name="Google Shape;2700;p127"/>
          <p:cNvSpPr/>
          <p:nvPr/>
        </p:nvSpPr>
        <p:spPr>
          <a:xfrm>
            <a:off x="4888525" y="22671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01" name="Google Shape;2701;p127"/>
          <p:cNvSpPr/>
          <p:nvPr/>
        </p:nvSpPr>
        <p:spPr>
          <a:xfrm>
            <a:off x="6221209" y="22671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02" name="Google Shape;2702;p127"/>
          <p:cNvSpPr/>
          <p:nvPr/>
        </p:nvSpPr>
        <p:spPr>
          <a:xfrm>
            <a:off x="5554867" y="15813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03" name="Google Shape;2703;p127"/>
          <p:cNvSpPr/>
          <p:nvPr/>
        </p:nvSpPr>
        <p:spPr>
          <a:xfrm>
            <a:off x="6642325" y="95510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04" name="Google Shape;2704;p127"/>
          <p:cNvSpPr/>
          <p:nvPr/>
        </p:nvSpPr>
        <p:spPr>
          <a:xfrm>
            <a:off x="7003867" y="225050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05" name="Google Shape;2705;p127"/>
          <p:cNvSpPr/>
          <p:nvPr/>
        </p:nvSpPr>
        <p:spPr>
          <a:xfrm>
            <a:off x="7670208" y="164090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06" name="Google Shape;2706;p127"/>
          <p:cNvSpPr/>
          <p:nvPr/>
        </p:nvSpPr>
        <p:spPr>
          <a:xfrm>
            <a:off x="8336550" y="225050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707" name="Google Shape;2707;p127"/>
          <p:cNvCxnSpPr>
            <a:stCxn id="2700" idx="7"/>
            <a:endCxn id="2702" idx="3"/>
          </p:cNvCxnSpPr>
          <p:nvPr/>
        </p:nvCxnSpPr>
        <p:spPr>
          <a:xfrm rot="10800000" flipH="1">
            <a:off x="5311290" y="2003960"/>
            <a:ext cx="316200" cy="3357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8" name="Google Shape;2708;p127"/>
          <p:cNvCxnSpPr>
            <a:stCxn id="2702" idx="5"/>
            <a:endCxn id="2701" idx="1"/>
          </p:cNvCxnSpPr>
          <p:nvPr/>
        </p:nvCxnSpPr>
        <p:spPr>
          <a:xfrm>
            <a:off x="5977632" y="2004090"/>
            <a:ext cx="316200" cy="3357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9" name="Google Shape;2709;p127"/>
          <p:cNvCxnSpPr>
            <a:stCxn id="2704" idx="7"/>
            <a:endCxn id="2705" idx="3"/>
          </p:cNvCxnSpPr>
          <p:nvPr/>
        </p:nvCxnSpPr>
        <p:spPr>
          <a:xfrm rot="10800000" flipH="1">
            <a:off x="7426632" y="2063535"/>
            <a:ext cx="316200" cy="2595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10" name="Google Shape;2710;p127"/>
          <p:cNvCxnSpPr>
            <a:stCxn id="2705" idx="5"/>
            <a:endCxn id="2706" idx="1"/>
          </p:cNvCxnSpPr>
          <p:nvPr/>
        </p:nvCxnSpPr>
        <p:spPr>
          <a:xfrm>
            <a:off x="8092973" y="2063665"/>
            <a:ext cx="316200" cy="2595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11" name="Google Shape;2711;p127"/>
          <p:cNvCxnSpPr>
            <a:stCxn id="2703" idx="3"/>
            <a:endCxn id="2702" idx="7"/>
          </p:cNvCxnSpPr>
          <p:nvPr/>
        </p:nvCxnSpPr>
        <p:spPr>
          <a:xfrm flipH="1">
            <a:off x="5977760" y="1377865"/>
            <a:ext cx="737100" cy="2760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12" name="Google Shape;2712;p127"/>
          <p:cNvCxnSpPr>
            <a:stCxn id="2703" idx="5"/>
            <a:endCxn id="2705" idx="1"/>
          </p:cNvCxnSpPr>
          <p:nvPr/>
        </p:nvCxnSpPr>
        <p:spPr>
          <a:xfrm>
            <a:off x="7065090" y="1377865"/>
            <a:ext cx="677700" cy="3357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13" name="Google Shape;2713;p127"/>
          <p:cNvGrpSpPr/>
          <p:nvPr/>
        </p:nvGrpSpPr>
        <p:grpSpPr>
          <a:xfrm>
            <a:off x="6057432" y="3141694"/>
            <a:ext cx="2902625" cy="1945737"/>
            <a:chOff x="5981232" y="3141694"/>
            <a:chExt cx="2902625" cy="1945737"/>
          </a:xfrm>
        </p:grpSpPr>
        <p:sp>
          <p:nvSpPr>
            <p:cNvPr id="2714" name="Google Shape;2714;p127"/>
            <p:cNvSpPr/>
            <p:nvPr/>
          </p:nvSpPr>
          <p:spPr>
            <a:xfrm>
              <a:off x="6692682" y="3712869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</a:t>
              </a:r>
              <a:endParaRPr/>
            </a:p>
          </p:txBody>
        </p:sp>
        <p:sp>
          <p:nvSpPr>
            <p:cNvPr id="2715" name="Google Shape;2715;p127"/>
            <p:cNvSpPr/>
            <p:nvPr/>
          </p:nvSpPr>
          <p:spPr>
            <a:xfrm>
              <a:off x="6869133" y="4396569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2</a:t>
              </a:r>
              <a:endParaRPr/>
            </a:p>
          </p:txBody>
        </p:sp>
        <p:sp>
          <p:nvSpPr>
            <p:cNvPr id="2716" name="Google Shape;2716;p127"/>
            <p:cNvSpPr/>
            <p:nvPr/>
          </p:nvSpPr>
          <p:spPr>
            <a:xfrm>
              <a:off x="7514432" y="3141694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3</a:t>
              </a:r>
              <a:endParaRPr/>
            </a:p>
          </p:txBody>
        </p:sp>
        <p:sp>
          <p:nvSpPr>
            <p:cNvPr id="2717" name="Google Shape;2717;p127"/>
            <p:cNvSpPr/>
            <p:nvPr/>
          </p:nvSpPr>
          <p:spPr>
            <a:xfrm>
              <a:off x="7489432" y="3712869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</a:t>
              </a:r>
              <a:endParaRPr/>
            </a:p>
          </p:txBody>
        </p:sp>
        <p:sp>
          <p:nvSpPr>
            <p:cNvPr id="2718" name="Google Shape;2718;p127"/>
            <p:cNvSpPr/>
            <p:nvPr/>
          </p:nvSpPr>
          <p:spPr>
            <a:xfrm>
              <a:off x="7576707" y="4323957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5</a:t>
              </a:r>
              <a:endParaRPr/>
            </a:p>
          </p:txBody>
        </p:sp>
        <p:sp>
          <p:nvSpPr>
            <p:cNvPr id="2719" name="Google Shape;2719;p127"/>
            <p:cNvSpPr/>
            <p:nvPr/>
          </p:nvSpPr>
          <p:spPr>
            <a:xfrm>
              <a:off x="8154557" y="3642582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6</a:t>
              </a:r>
              <a:endParaRPr/>
            </a:p>
          </p:txBody>
        </p:sp>
        <p:sp>
          <p:nvSpPr>
            <p:cNvPr id="2720" name="Google Shape;2720;p127"/>
            <p:cNvSpPr/>
            <p:nvPr/>
          </p:nvSpPr>
          <p:spPr>
            <a:xfrm>
              <a:off x="8566457" y="4299657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7</a:t>
              </a:r>
              <a:endParaRPr/>
            </a:p>
          </p:txBody>
        </p:sp>
        <p:sp>
          <p:nvSpPr>
            <p:cNvPr id="2721" name="Google Shape;2721;p127"/>
            <p:cNvSpPr/>
            <p:nvPr/>
          </p:nvSpPr>
          <p:spPr>
            <a:xfrm>
              <a:off x="7652907" y="4834532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8</a:t>
              </a:r>
              <a:endParaRPr/>
            </a:p>
          </p:txBody>
        </p:sp>
        <p:cxnSp>
          <p:nvCxnSpPr>
            <p:cNvPr id="2722" name="Google Shape;2722;p127"/>
            <p:cNvCxnSpPr>
              <a:stCxn id="2714" idx="2"/>
              <a:endCxn id="2715" idx="0"/>
            </p:cNvCxnSpPr>
            <p:nvPr/>
          </p:nvCxnSpPr>
          <p:spPr>
            <a:xfrm>
              <a:off x="6851382" y="3965769"/>
              <a:ext cx="176400" cy="4308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23" name="Google Shape;2723;p127"/>
            <p:cNvCxnSpPr>
              <a:stCxn id="2714" idx="3"/>
              <a:endCxn id="2717" idx="1"/>
            </p:cNvCxnSpPr>
            <p:nvPr/>
          </p:nvCxnSpPr>
          <p:spPr>
            <a:xfrm>
              <a:off x="7010082" y="3839319"/>
              <a:ext cx="479400" cy="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24" name="Google Shape;2724;p127"/>
            <p:cNvCxnSpPr>
              <a:stCxn id="2716" idx="2"/>
              <a:endCxn id="2717" idx="0"/>
            </p:cNvCxnSpPr>
            <p:nvPr/>
          </p:nvCxnSpPr>
          <p:spPr>
            <a:xfrm flipH="1">
              <a:off x="7648232" y="3394594"/>
              <a:ext cx="24900" cy="3183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25" name="Google Shape;2725;p127"/>
            <p:cNvCxnSpPr>
              <a:stCxn id="2719" idx="2"/>
              <a:endCxn id="2720" idx="0"/>
            </p:cNvCxnSpPr>
            <p:nvPr/>
          </p:nvCxnSpPr>
          <p:spPr>
            <a:xfrm>
              <a:off x="8313257" y="3895482"/>
              <a:ext cx="411900" cy="4041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26" name="Google Shape;2726;p127"/>
            <p:cNvCxnSpPr>
              <a:stCxn id="2719" idx="2"/>
              <a:endCxn id="2718" idx="3"/>
            </p:cNvCxnSpPr>
            <p:nvPr/>
          </p:nvCxnSpPr>
          <p:spPr>
            <a:xfrm flipH="1">
              <a:off x="7894157" y="3895482"/>
              <a:ext cx="419100" cy="5550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27" name="Google Shape;2727;p127"/>
            <p:cNvCxnSpPr>
              <a:stCxn id="2717" idx="2"/>
              <a:endCxn id="2718" idx="0"/>
            </p:cNvCxnSpPr>
            <p:nvPr/>
          </p:nvCxnSpPr>
          <p:spPr>
            <a:xfrm>
              <a:off x="7648132" y="3965769"/>
              <a:ext cx="87300" cy="3582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28" name="Google Shape;2728;p127"/>
            <p:cNvCxnSpPr>
              <a:stCxn id="2715" idx="3"/>
              <a:endCxn id="2718" idx="1"/>
            </p:cNvCxnSpPr>
            <p:nvPr/>
          </p:nvCxnSpPr>
          <p:spPr>
            <a:xfrm rot="10800000" flipH="1">
              <a:off x="7186533" y="4450419"/>
              <a:ext cx="390300" cy="726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29" name="Google Shape;2729;p127"/>
            <p:cNvCxnSpPr>
              <a:stCxn id="2718" idx="2"/>
              <a:endCxn id="2721" idx="0"/>
            </p:cNvCxnSpPr>
            <p:nvPr/>
          </p:nvCxnSpPr>
          <p:spPr>
            <a:xfrm>
              <a:off x="7735407" y="4576857"/>
              <a:ext cx="76200" cy="2577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730" name="Google Shape;2730;p127"/>
            <p:cNvSpPr/>
            <p:nvPr/>
          </p:nvSpPr>
          <p:spPr>
            <a:xfrm>
              <a:off x="5981232" y="3712869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/>
                <a:t>0</a:t>
              </a:r>
              <a:endParaRPr b="1"/>
            </a:p>
          </p:txBody>
        </p:sp>
        <p:cxnSp>
          <p:nvCxnSpPr>
            <p:cNvPr id="2731" name="Google Shape;2731;p127"/>
            <p:cNvCxnSpPr>
              <a:stCxn id="2730" idx="3"/>
              <a:endCxn id="2714" idx="1"/>
            </p:cNvCxnSpPr>
            <p:nvPr/>
          </p:nvCxnSpPr>
          <p:spPr>
            <a:xfrm>
              <a:off x="6298632" y="3839319"/>
              <a:ext cx="394200" cy="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732" name="Google Shape;2732;p127"/>
            <p:cNvSpPr txBox="1"/>
            <p:nvPr/>
          </p:nvSpPr>
          <p:spPr>
            <a:xfrm>
              <a:off x="5988925" y="3883430"/>
              <a:ext cx="317400" cy="43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</a:t>
              </a:r>
              <a:endParaRPr/>
            </a:p>
          </p:txBody>
        </p:sp>
      </p:grpSp>
      <p:sp>
        <p:nvSpPr>
          <p:cNvPr id="2733" name="Google Shape;2733;p127"/>
          <p:cNvSpPr txBox="1"/>
          <p:nvPr/>
        </p:nvSpPr>
        <p:spPr>
          <a:xfrm>
            <a:off x="250625" y="2608825"/>
            <a:ext cx="6524400" cy="24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 too are there many graph traversals, given some source: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DFS Preorder: 012543678 (dfs calls).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DFS Postorder: 347685210 (dfs returns).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8" name="Google Shape;2738;p1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Traversals</a:t>
            </a:r>
            <a:endParaRPr/>
          </a:p>
        </p:txBody>
      </p:sp>
      <p:sp>
        <p:nvSpPr>
          <p:cNvPr id="2739" name="Google Shape;2739;p128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Just as there are many tree traversals: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Preorder: DBACFEG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Inorder: ABCDEFG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Postorder: ACBEGFD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Level order: DBFACEG</a:t>
            </a:r>
            <a:endParaRPr/>
          </a:p>
        </p:txBody>
      </p:sp>
      <p:sp>
        <p:nvSpPr>
          <p:cNvPr id="2740" name="Google Shape;2740;p128"/>
          <p:cNvSpPr/>
          <p:nvPr/>
        </p:nvSpPr>
        <p:spPr>
          <a:xfrm>
            <a:off x="4888525" y="22671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41" name="Google Shape;2741;p128"/>
          <p:cNvSpPr/>
          <p:nvPr/>
        </p:nvSpPr>
        <p:spPr>
          <a:xfrm>
            <a:off x="6221209" y="22671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42" name="Google Shape;2742;p128"/>
          <p:cNvSpPr/>
          <p:nvPr/>
        </p:nvSpPr>
        <p:spPr>
          <a:xfrm>
            <a:off x="5554867" y="1581325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43" name="Google Shape;2743;p128"/>
          <p:cNvSpPr/>
          <p:nvPr/>
        </p:nvSpPr>
        <p:spPr>
          <a:xfrm>
            <a:off x="6642325" y="95510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44" name="Google Shape;2744;p128"/>
          <p:cNvSpPr/>
          <p:nvPr/>
        </p:nvSpPr>
        <p:spPr>
          <a:xfrm>
            <a:off x="7003867" y="225050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45" name="Google Shape;2745;p128"/>
          <p:cNvSpPr/>
          <p:nvPr/>
        </p:nvSpPr>
        <p:spPr>
          <a:xfrm>
            <a:off x="7670208" y="164090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46" name="Google Shape;2746;p128"/>
          <p:cNvSpPr/>
          <p:nvPr/>
        </p:nvSpPr>
        <p:spPr>
          <a:xfrm>
            <a:off x="8336550" y="2250500"/>
            <a:ext cx="495300" cy="495300"/>
          </a:xfrm>
          <a:prstGeom prst="ellipse">
            <a:avLst/>
          </a:prstGeom>
          <a:solidFill>
            <a:srgbClr val="B1DD8B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747" name="Google Shape;2747;p128"/>
          <p:cNvCxnSpPr>
            <a:stCxn id="2740" idx="7"/>
            <a:endCxn id="2742" idx="3"/>
          </p:cNvCxnSpPr>
          <p:nvPr/>
        </p:nvCxnSpPr>
        <p:spPr>
          <a:xfrm rot="10800000" flipH="1">
            <a:off x="5311290" y="2003960"/>
            <a:ext cx="316200" cy="3357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48" name="Google Shape;2748;p128"/>
          <p:cNvCxnSpPr>
            <a:stCxn id="2742" idx="5"/>
            <a:endCxn id="2741" idx="1"/>
          </p:cNvCxnSpPr>
          <p:nvPr/>
        </p:nvCxnSpPr>
        <p:spPr>
          <a:xfrm>
            <a:off x="5977632" y="2004090"/>
            <a:ext cx="316200" cy="3357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49" name="Google Shape;2749;p128"/>
          <p:cNvCxnSpPr>
            <a:stCxn id="2744" idx="7"/>
            <a:endCxn id="2745" idx="3"/>
          </p:cNvCxnSpPr>
          <p:nvPr/>
        </p:nvCxnSpPr>
        <p:spPr>
          <a:xfrm rot="10800000" flipH="1">
            <a:off x="7426632" y="2063535"/>
            <a:ext cx="316200" cy="2595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50" name="Google Shape;2750;p128"/>
          <p:cNvCxnSpPr>
            <a:stCxn id="2745" idx="5"/>
            <a:endCxn id="2746" idx="1"/>
          </p:cNvCxnSpPr>
          <p:nvPr/>
        </p:nvCxnSpPr>
        <p:spPr>
          <a:xfrm>
            <a:off x="8092973" y="2063665"/>
            <a:ext cx="316200" cy="2595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51" name="Google Shape;2751;p128"/>
          <p:cNvCxnSpPr>
            <a:stCxn id="2743" idx="3"/>
            <a:endCxn id="2742" idx="7"/>
          </p:cNvCxnSpPr>
          <p:nvPr/>
        </p:nvCxnSpPr>
        <p:spPr>
          <a:xfrm flipH="1">
            <a:off x="5977760" y="1377865"/>
            <a:ext cx="737100" cy="2760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52" name="Google Shape;2752;p128"/>
          <p:cNvCxnSpPr>
            <a:stCxn id="2743" idx="5"/>
            <a:endCxn id="2745" idx="1"/>
          </p:cNvCxnSpPr>
          <p:nvPr/>
        </p:nvCxnSpPr>
        <p:spPr>
          <a:xfrm>
            <a:off x="7065090" y="1377865"/>
            <a:ext cx="677700" cy="3357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53" name="Google Shape;2753;p128"/>
          <p:cNvGrpSpPr/>
          <p:nvPr/>
        </p:nvGrpSpPr>
        <p:grpSpPr>
          <a:xfrm>
            <a:off x="6057432" y="3141694"/>
            <a:ext cx="2902625" cy="1945737"/>
            <a:chOff x="5981232" y="3141694"/>
            <a:chExt cx="2902625" cy="1945737"/>
          </a:xfrm>
        </p:grpSpPr>
        <p:sp>
          <p:nvSpPr>
            <p:cNvPr id="2754" name="Google Shape;2754;p128"/>
            <p:cNvSpPr/>
            <p:nvPr/>
          </p:nvSpPr>
          <p:spPr>
            <a:xfrm>
              <a:off x="6692682" y="3712869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</a:t>
              </a:r>
              <a:endParaRPr/>
            </a:p>
          </p:txBody>
        </p:sp>
        <p:sp>
          <p:nvSpPr>
            <p:cNvPr id="2755" name="Google Shape;2755;p128"/>
            <p:cNvSpPr/>
            <p:nvPr/>
          </p:nvSpPr>
          <p:spPr>
            <a:xfrm>
              <a:off x="6869133" y="4396569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2</a:t>
              </a:r>
              <a:endParaRPr/>
            </a:p>
          </p:txBody>
        </p:sp>
        <p:sp>
          <p:nvSpPr>
            <p:cNvPr id="2756" name="Google Shape;2756;p128"/>
            <p:cNvSpPr/>
            <p:nvPr/>
          </p:nvSpPr>
          <p:spPr>
            <a:xfrm>
              <a:off x="7514432" y="3141694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3</a:t>
              </a:r>
              <a:endParaRPr/>
            </a:p>
          </p:txBody>
        </p:sp>
        <p:sp>
          <p:nvSpPr>
            <p:cNvPr id="2757" name="Google Shape;2757;p128"/>
            <p:cNvSpPr/>
            <p:nvPr/>
          </p:nvSpPr>
          <p:spPr>
            <a:xfrm>
              <a:off x="7489432" y="3712869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</a:t>
              </a:r>
              <a:endParaRPr/>
            </a:p>
          </p:txBody>
        </p:sp>
        <p:sp>
          <p:nvSpPr>
            <p:cNvPr id="2758" name="Google Shape;2758;p128"/>
            <p:cNvSpPr/>
            <p:nvPr/>
          </p:nvSpPr>
          <p:spPr>
            <a:xfrm>
              <a:off x="7576707" y="4323957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5</a:t>
              </a:r>
              <a:endParaRPr/>
            </a:p>
          </p:txBody>
        </p:sp>
        <p:sp>
          <p:nvSpPr>
            <p:cNvPr id="2759" name="Google Shape;2759;p128"/>
            <p:cNvSpPr/>
            <p:nvPr/>
          </p:nvSpPr>
          <p:spPr>
            <a:xfrm>
              <a:off x="8154557" y="3642582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6</a:t>
              </a:r>
              <a:endParaRPr/>
            </a:p>
          </p:txBody>
        </p:sp>
        <p:sp>
          <p:nvSpPr>
            <p:cNvPr id="2760" name="Google Shape;2760;p128"/>
            <p:cNvSpPr/>
            <p:nvPr/>
          </p:nvSpPr>
          <p:spPr>
            <a:xfrm>
              <a:off x="8566457" y="4299657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7</a:t>
              </a:r>
              <a:endParaRPr/>
            </a:p>
          </p:txBody>
        </p:sp>
        <p:sp>
          <p:nvSpPr>
            <p:cNvPr id="2761" name="Google Shape;2761;p128"/>
            <p:cNvSpPr/>
            <p:nvPr/>
          </p:nvSpPr>
          <p:spPr>
            <a:xfrm>
              <a:off x="7652907" y="4834532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8</a:t>
              </a:r>
              <a:endParaRPr/>
            </a:p>
          </p:txBody>
        </p:sp>
        <p:cxnSp>
          <p:nvCxnSpPr>
            <p:cNvPr id="2762" name="Google Shape;2762;p128"/>
            <p:cNvCxnSpPr>
              <a:stCxn id="2754" idx="2"/>
              <a:endCxn id="2755" idx="0"/>
            </p:cNvCxnSpPr>
            <p:nvPr/>
          </p:nvCxnSpPr>
          <p:spPr>
            <a:xfrm>
              <a:off x="6851382" y="3965769"/>
              <a:ext cx="176400" cy="4308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3" name="Google Shape;2763;p128"/>
            <p:cNvCxnSpPr>
              <a:stCxn id="2754" idx="3"/>
              <a:endCxn id="2757" idx="1"/>
            </p:cNvCxnSpPr>
            <p:nvPr/>
          </p:nvCxnSpPr>
          <p:spPr>
            <a:xfrm>
              <a:off x="7010082" y="3839319"/>
              <a:ext cx="479400" cy="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4" name="Google Shape;2764;p128"/>
            <p:cNvCxnSpPr>
              <a:stCxn id="2756" idx="2"/>
              <a:endCxn id="2757" idx="0"/>
            </p:cNvCxnSpPr>
            <p:nvPr/>
          </p:nvCxnSpPr>
          <p:spPr>
            <a:xfrm flipH="1">
              <a:off x="7648232" y="3394594"/>
              <a:ext cx="24900" cy="3183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5" name="Google Shape;2765;p128"/>
            <p:cNvCxnSpPr>
              <a:stCxn id="2759" idx="2"/>
              <a:endCxn id="2760" idx="0"/>
            </p:cNvCxnSpPr>
            <p:nvPr/>
          </p:nvCxnSpPr>
          <p:spPr>
            <a:xfrm>
              <a:off x="8313257" y="3895482"/>
              <a:ext cx="411900" cy="4041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6" name="Google Shape;2766;p128"/>
            <p:cNvCxnSpPr>
              <a:stCxn id="2759" idx="2"/>
              <a:endCxn id="2758" idx="3"/>
            </p:cNvCxnSpPr>
            <p:nvPr/>
          </p:nvCxnSpPr>
          <p:spPr>
            <a:xfrm flipH="1">
              <a:off x="7894157" y="3895482"/>
              <a:ext cx="419100" cy="5550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7" name="Google Shape;2767;p128"/>
            <p:cNvCxnSpPr>
              <a:stCxn id="2757" idx="2"/>
              <a:endCxn id="2758" idx="0"/>
            </p:cNvCxnSpPr>
            <p:nvPr/>
          </p:nvCxnSpPr>
          <p:spPr>
            <a:xfrm>
              <a:off x="7648132" y="3965769"/>
              <a:ext cx="87300" cy="3582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8" name="Google Shape;2768;p128"/>
            <p:cNvCxnSpPr>
              <a:stCxn id="2755" idx="3"/>
              <a:endCxn id="2758" idx="1"/>
            </p:cNvCxnSpPr>
            <p:nvPr/>
          </p:nvCxnSpPr>
          <p:spPr>
            <a:xfrm rot="10800000" flipH="1">
              <a:off x="7186533" y="4450419"/>
              <a:ext cx="390300" cy="726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9" name="Google Shape;2769;p128"/>
            <p:cNvCxnSpPr>
              <a:stCxn id="2758" idx="2"/>
              <a:endCxn id="2761" idx="0"/>
            </p:cNvCxnSpPr>
            <p:nvPr/>
          </p:nvCxnSpPr>
          <p:spPr>
            <a:xfrm>
              <a:off x="7735407" y="4576857"/>
              <a:ext cx="76200" cy="2577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770" name="Google Shape;2770;p128"/>
            <p:cNvSpPr/>
            <p:nvPr/>
          </p:nvSpPr>
          <p:spPr>
            <a:xfrm>
              <a:off x="5981232" y="3712869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/>
                <a:t>0</a:t>
              </a:r>
              <a:endParaRPr b="1"/>
            </a:p>
          </p:txBody>
        </p:sp>
        <p:cxnSp>
          <p:nvCxnSpPr>
            <p:cNvPr id="2771" name="Google Shape;2771;p128"/>
            <p:cNvCxnSpPr>
              <a:stCxn id="2770" idx="3"/>
              <a:endCxn id="2754" idx="1"/>
            </p:cNvCxnSpPr>
            <p:nvPr/>
          </p:nvCxnSpPr>
          <p:spPr>
            <a:xfrm>
              <a:off x="6298632" y="3839319"/>
              <a:ext cx="394200" cy="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772" name="Google Shape;2772;p128"/>
            <p:cNvSpPr txBox="1"/>
            <p:nvPr/>
          </p:nvSpPr>
          <p:spPr>
            <a:xfrm>
              <a:off x="5988925" y="3883430"/>
              <a:ext cx="317400" cy="43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</a:t>
              </a:r>
              <a:endParaRPr/>
            </a:p>
          </p:txBody>
        </p:sp>
      </p:grpSp>
      <p:sp>
        <p:nvSpPr>
          <p:cNvPr id="2773" name="Google Shape;2773;p128"/>
          <p:cNvSpPr txBox="1"/>
          <p:nvPr/>
        </p:nvSpPr>
        <p:spPr>
          <a:xfrm>
            <a:off x="250625" y="2608825"/>
            <a:ext cx="6753300" cy="24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 too are there many graph traversals, given some source: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DFS Preorder: 012543678 (dfs calls).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DFS Postorder: 347685210 (dfs returns).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BFS order: Act in order of distance from 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BFS stands for “breadth first search”.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Analogous to “level order”. Search is wide, not deep.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0 1 24 53 68 7 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8" name="Google Shape;2778;p129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22, CS61B, Fall 2023</a:t>
            </a:r>
            <a:endParaRPr/>
          </a:p>
        </p:txBody>
      </p:sp>
      <p:sp>
        <p:nvSpPr>
          <p:cNvPr id="2779" name="Google Shape;2779;p129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Trees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Tree Definition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Tree Traversals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Usefulness of Tree Traversals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Graphs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Graph Definition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Some Famous Graph Problems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Graph Traversals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Motivation: s-t Connectivity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Depth First Search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Tree vs. Graph Traversals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Challenge: Invent Breadth First Search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0" name="Google Shape;2780;p129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Challenge: Invent Breadth First Search</a:t>
            </a: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AF8"/>
        </a:solidFill>
        <a:effectLst/>
      </p:bgPr>
    </p:bg>
    <p:spTree>
      <p:nvGrpSpPr>
        <p:cNvPr id="1" name="Shape 2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" name="Google Shape;2785;p1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Shortest Paths Challenge Before Next Lecture</a:t>
            </a:r>
            <a:endParaRPr/>
          </a:p>
        </p:txBody>
      </p:sp>
      <p:sp>
        <p:nvSpPr>
          <p:cNvPr id="2786" name="Google Shape;2786;p130"/>
          <p:cNvSpPr txBox="1">
            <a:spLocks noGrp="1"/>
          </p:cNvSpPr>
          <p:nvPr>
            <p:ph type="body" idx="1"/>
          </p:nvPr>
        </p:nvSpPr>
        <p:spPr>
          <a:xfrm>
            <a:off x="243000" y="2629050"/>
            <a:ext cx="8443800" cy="17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Given the graph above, find the length of the shortest path from s to all other vertices.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 a general algorithm.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Hint: You’ll need to somehow visit vertices in BFS order.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Hint #2: You’ll need to use some kind of data structure.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Will discuss a solution in the next lecture.</a:t>
            </a:r>
            <a:endParaRPr/>
          </a:p>
        </p:txBody>
      </p:sp>
      <p:grpSp>
        <p:nvGrpSpPr>
          <p:cNvPr id="2787" name="Google Shape;2787;p130"/>
          <p:cNvGrpSpPr/>
          <p:nvPr/>
        </p:nvGrpSpPr>
        <p:grpSpPr>
          <a:xfrm>
            <a:off x="6195907" y="733900"/>
            <a:ext cx="2419775" cy="1945738"/>
            <a:chOff x="756020" y="683300"/>
            <a:chExt cx="2419775" cy="1945738"/>
          </a:xfrm>
        </p:grpSpPr>
        <p:sp>
          <p:nvSpPr>
            <p:cNvPr id="2788" name="Google Shape;2788;p130"/>
            <p:cNvSpPr/>
            <p:nvPr/>
          </p:nvSpPr>
          <p:spPr>
            <a:xfrm>
              <a:off x="756020" y="1254475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0</a:t>
              </a:r>
              <a:endParaRPr/>
            </a:p>
          </p:txBody>
        </p:sp>
        <p:sp>
          <p:nvSpPr>
            <p:cNvPr id="2789" name="Google Shape;2789;p130"/>
            <p:cNvSpPr/>
            <p:nvPr/>
          </p:nvSpPr>
          <p:spPr>
            <a:xfrm>
              <a:off x="932470" y="1938175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1</a:t>
              </a:r>
              <a:endParaRPr/>
            </a:p>
          </p:txBody>
        </p:sp>
        <p:sp>
          <p:nvSpPr>
            <p:cNvPr id="2790" name="Google Shape;2790;p130"/>
            <p:cNvSpPr/>
            <p:nvPr/>
          </p:nvSpPr>
          <p:spPr>
            <a:xfrm>
              <a:off x="1806370" y="683300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2</a:t>
              </a:r>
              <a:endParaRPr/>
            </a:p>
          </p:txBody>
        </p:sp>
        <p:sp>
          <p:nvSpPr>
            <p:cNvPr id="2791" name="Google Shape;2791;p130"/>
            <p:cNvSpPr/>
            <p:nvPr/>
          </p:nvSpPr>
          <p:spPr>
            <a:xfrm>
              <a:off x="1781370" y="1254475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3</a:t>
              </a:r>
              <a:endParaRPr/>
            </a:p>
          </p:txBody>
        </p:sp>
        <p:sp>
          <p:nvSpPr>
            <p:cNvPr id="2792" name="Google Shape;2792;p130"/>
            <p:cNvSpPr/>
            <p:nvPr/>
          </p:nvSpPr>
          <p:spPr>
            <a:xfrm>
              <a:off x="1868645" y="1865563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4</a:t>
              </a:r>
              <a:endParaRPr/>
            </a:p>
          </p:txBody>
        </p:sp>
        <p:sp>
          <p:nvSpPr>
            <p:cNvPr id="2793" name="Google Shape;2793;p130"/>
            <p:cNvSpPr/>
            <p:nvPr/>
          </p:nvSpPr>
          <p:spPr>
            <a:xfrm>
              <a:off x="2446495" y="1184188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5</a:t>
              </a:r>
              <a:endParaRPr/>
            </a:p>
          </p:txBody>
        </p:sp>
        <p:sp>
          <p:nvSpPr>
            <p:cNvPr id="2794" name="Google Shape;2794;p130"/>
            <p:cNvSpPr/>
            <p:nvPr/>
          </p:nvSpPr>
          <p:spPr>
            <a:xfrm>
              <a:off x="2858395" y="1841263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6</a:t>
              </a:r>
              <a:endParaRPr/>
            </a:p>
          </p:txBody>
        </p:sp>
        <p:sp>
          <p:nvSpPr>
            <p:cNvPr id="2795" name="Google Shape;2795;p130"/>
            <p:cNvSpPr/>
            <p:nvPr/>
          </p:nvSpPr>
          <p:spPr>
            <a:xfrm>
              <a:off x="1944845" y="2376138"/>
              <a:ext cx="317400" cy="2529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7</a:t>
              </a:r>
              <a:endParaRPr/>
            </a:p>
          </p:txBody>
        </p:sp>
        <p:cxnSp>
          <p:nvCxnSpPr>
            <p:cNvPr id="2796" name="Google Shape;2796;p130"/>
            <p:cNvCxnSpPr>
              <a:stCxn id="2788" idx="2"/>
              <a:endCxn id="2789" idx="0"/>
            </p:cNvCxnSpPr>
            <p:nvPr/>
          </p:nvCxnSpPr>
          <p:spPr>
            <a:xfrm>
              <a:off x="914720" y="1507375"/>
              <a:ext cx="176400" cy="430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97" name="Google Shape;2797;p130"/>
            <p:cNvCxnSpPr>
              <a:stCxn id="2788" idx="3"/>
              <a:endCxn id="2791" idx="1"/>
            </p:cNvCxnSpPr>
            <p:nvPr/>
          </p:nvCxnSpPr>
          <p:spPr>
            <a:xfrm>
              <a:off x="1073420" y="1380925"/>
              <a:ext cx="7080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98" name="Google Shape;2798;p130"/>
            <p:cNvCxnSpPr>
              <a:stCxn id="2790" idx="2"/>
              <a:endCxn id="2791" idx="0"/>
            </p:cNvCxnSpPr>
            <p:nvPr/>
          </p:nvCxnSpPr>
          <p:spPr>
            <a:xfrm flipH="1">
              <a:off x="1940170" y="936200"/>
              <a:ext cx="24900" cy="318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99" name="Google Shape;2799;p130"/>
            <p:cNvCxnSpPr>
              <a:stCxn id="2790" idx="3"/>
              <a:endCxn id="2793" idx="0"/>
            </p:cNvCxnSpPr>
            <p:nvPr/>
          </p:nvCxnSpPr>
          <p:spPr>
            <a:xfrm>
              <a:off x="2123770" y="809750"/>
              <a:ext cx="481500" cy="374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00" name="Google Shape;2800;p130"/>
            <p:cNvCxnSpPr>
              <a:stCxn id="2793" idx="2"/>
              <a:endCxn id="2794" idx="0"/>
            </p:cNvCxnSpPr>
            <p:nvPr/>
          </p:nvCxnSpPr>
          <p:spPr>
            <a:xfrm>
              <a:off x="2605195" y="1437088"/>
              <a:ext cx="411900" cy="404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01" name="Google Shape;2801;p130"/>
            <p:cNvCxnSpPr>
              <a:stCxn id="2793" idx="2"/>
              <a:endCxn id="2792" idx="3"/>
            </p:cNvCxnSpPr>
            <p:nvPr/>
          </p:nvCxnSpPr>
          <p:spPr>
            <a:xfrm flipH="1">
              <a:off x="2186095" y="1437088"/>
              <a:ext cx="419100" cy="555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02" name="Google Shape;2802;p130"/>
            <p:cNvCxnSpPr>
              <a:stCxn id="2791" idx="2"/>
              <a:endCxn id="2792" idx="0"/>
            </p:cNvCxnSpPr>
            <p:nvPr/>
          </p:nvCxnSpPr>
          <p:spPr>
            <a:xfrm>
              <a:off x="1940070" y="1507375"/>
              <a:ext cx="87300" cy="358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03" name="Google Shape;2803;p130"/>
            <p:cNvCxnSpPr>
              <a:stCxn id="2789" idx="3"/>
              <a:endCxn id="2792" idx="1"/>
            </p:cNvCxnSpPr>
            <p:nvPr/>
          </p:nvCxnSpPr>
          <p:spPr>
            <a:xfrm rot="10800000" flipH="1">
              <a:off x="1249870" y="1992025"/>
              <a:ext cx="618900" cy="72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04" name="Google Shape;2804;p130"/>
            <p:cNvCxnSpPr>
              <a:stCxn id="2792" idx="2"/>
              <a:endCxn id="2795" idx="0"/>
            </p:cNvCxnSpPr>
            <p:nvPr/>
          </p:nvCxnSpPr>
          <p:spPr>
            <a:xfrm>
              <a:off x="2027345" y="2118463"/>
              <a:ext cx="76200" cy="257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805" name="Google Shape;2805;p130"/>
          <p:cNvSpPr txBox="1"/>
          <p:nvPr/>
        </p:nvSpPr>
        <p:spPr>
          <a:xfrm>
            <a:off x="5920125" y="1221040"/>
            <a:ext cx="3174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0" name="Google Shape;2810;p1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2811" name="Google Shape;2811;p131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Graphs are a more general idea than a tree.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tree is a graph where there are no cycles and every vertex is connected.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graph terms: Directed, Undirected, Cyclic, Acyclic, Path, Cycle.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Graph problems vary widely in difficulty. 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Common tool for solving almost all graph problems is traversal.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traversal is an order in which you visit / act upon vertices.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Tree traversals:</a:t>
            </a:r>
            <a:endParaRPr/>
          </a:p>
          <a:p>
            <a:pPr marL="914400" lvl="1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Preorder, inorder, postorder, level order.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 traversals:</a:t>
            </a:r>
            <a:endParaRPr/>
          </a:p>
          <a:p>
            <a:pPr marL="914400" lvl="1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DFS preorder, DFS postorder, BFS.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By performing actions / setting instance variables during a graph (or tree) traversal, you can solve problems like s-t connectivity or path finding.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br>
              <a:rPr lang="en"/>
            </a:b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9397</Words>
  <Application>Microsoft Office PowerPoint</Application>
  <PresentationFormat>On-screen Show (16:9)</PresentationFormat>
  <Paragraphs>2167</Paragraphs>
  <Slides>107</Slides>
  <Notes>107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107</vt:i4>
      </vt:variant>
    </vt:vector>
  </HeadingPairs>
  <TitlesOfParts>
    <vt:vector size="114" baseType="lpstr">
      <vt:lpstr>Roboto Medium</vt:lpstr>
      <vt:lpstr>Arial</vt:lpstr>
      <vt:lpstr>Consolas</vt:lpstr>
      <vt:lpstr>Roboto Light</vt:lpstr>
      <vt:lpstr>Calibri</vt:lpstr>
      <vt:lpstr>Roboto</vt:lpstr>
      <vt:lpstr>Simple Lecture</vt:lpstr>
      <vt:lpstr>Graphs and Traversals</vt:lpstr>
      <vt:lpstr>Tree Definition</vt:lpstr>
      <vt:lpstr>Tree Definition (Reminder)</vt:lpstr>
      <vt:lpstr>Rooted Trees Definition (Reminder)</vt:lpstr>
      <vt:lpstr>Trees</vt:lpstr>
      <vt:lpstr>Trees</vt:lpstr>
      <vt:lpstr>Tree Traversals</vt:lpstr>
      <vt:lpstr>Example: File System Tree</vt:lpstr>
      <vt:lpstr>Tree Traversal Orderings</vt:lpstr>
      <vt:lpstr>Tree Traversal Orderings</vt:lpstr>
      <vt:lpstr>Demo: Preorder Depth-First Tree Traversal</vt:lpstr>
      <vt:lpstr>Demo: Preorder Depth-First Tree Traversal</vt:lpstr>
      <vt:lpstr>Demo: Preorder Depth-First Tree Traversal</vt:lpstr>
      <vt:lpstr>Demo: Preorder Depth-First Tree Traversal</vt:lpstr>
      <vt:lpstr>Demo: Preorder Depth-First Tree Traversal</vt:lpstr>
      <vt:lpstr>Demo: Preorder Depth-First Tree Traversal</vt:lpstr>
      <vt:lpstr>Demo: Preorder Depth-First Tree Traversal</vt:lpstr>
      <vt:lpstr>Demo: Preorder Depth-First Tree Traversal</vt:lpstr>
      <vt:lpstr>Demo: Preorder Depth-First Tree Traversal</vt:lpstr>
      <vt:lpstr>Demo: Preorder Depth-First Tree Traversal</vt:lpstr>
      <vt:lpstr>Demo: Preorder Depth-First Tree Traversal</vt:lpstr>
      <vt:lpstr>Demo: Preorder Depth-First Tree Traversal</vt:lpstr>
      <vt:lpstr>Demo: Preorder Depth-First Tree Traversal</vt:lpstr>
      <vt:lpstr>Demo: Preorder Depth-First Tree Traversal</vt:lpstr>
      <vt:lpstr>Demo: Preorder Depth-First Tree Traversal</vt:lpstr>
      <vt:lpstr>Demo: Preorder Depth-First Tree Traversal</vt:lpstr>
      <vt:lpstr>Demo: Preorder Depth-First Tree Traversal</vt:lpstr>
      <vt:lpstr>Depth First Traversals</vt:lpstr>
      <vt:lpstr>Depth First Traversals http://yellkey.com/yes</vt:lpstr>
      <vt:lpstr>Depth First Traversals</vt:lpstr>
      <vt:lpstr>A Useful Visual Trick (for Humans, Not Algorithms)</vt:lpstr>
      <vt:lpstr>Usefulness of Tree Traversals</vt:lpstr>
      <vt:lpstr>What Good Are All These Traversals?</vt:lpstr>
      <vt:lpstr>What Good Are All These Traversals?</vt:lpstr>
      <vt:lpstr>What Good Are All These Traversals?</vt:lpstr>
      <vt:lpstr>Graph Definition</vt:lpstr>
      <vt:lpstr>Trees and Hierarchical Relationships</vt:lpstr>
      <vt:lpstr>Tree Definition (Revisited)</vt:lpstr>
      <vt:lpstr>Graph Definition</vt:lpstr>
      <vt:lpstr>Graph Example: BART</vt:lpstr>
      <vt:lpstr>Graph Definition</vt:lpstr>
      <vt:lpstr>Graph Definition</vt:lpstr>
      <vt:lpstr>Graph Types</vt:lpstr>
      <vt:lpstr>Graph Terminology</vt:lpstr>
      <vt:lpstr>Graph Example: The Paris Metro</vt:lpstr>
      <vt:lpstr>Directed Graph Example</vt:lpstr>
      <vt:lpstr>Some Famous Graph Problems</vt:lpstr>
      <vt:lpstr>Graph Queries</vt:lpstr>
      <vt:lpstr>Graph Queries More Theoretically</vt:lpstr>
      <vt:lpstr>Graph Problem Difficulty</vt:lpstr>
      <vt:lpstr>Motivation for Graph Traversals: s-t Connectivity</vt:lpstr>
      <vt:lpstr>s-t Connectivity</vt:lpstr>
      <vt:lpstr>s-t Connectivity</vt:lpstr>
      <vt:lpstr>s-t Connectivity</vt:lpstr>
      <vt:lpstr>s-t Connectivity</vt:lpstr>
      <vt:lpstr>s-t Connectivity</vt:lpstr>
      <vt:lpstr>s-t Connectivity</vt:lpstr>
      <vt:lpstr>Depth First Search</vt:lpstr>
      <vt:lpstr>s-t Connectivity</vt:lpstr>
      <vt:lpstr>Demo: s-t Connectivity</vt:lpstr>
      <vt:lpstr>Demo: s-t Connectivity</vt:lpstr>
      <vt:lpstr>Demo: s-t Connectivity</vt:lpstr>
      <vt:lpstr>Demo: s-t Connectivity</vt:lpstr>
      <vt:lpstr>Demo: s-t Connectivity</vt:lpstr>
      <vt:lpstr>Demo: s-t Connectivity</vt:lpstr>
      <vt:lpstr>Demo: s-t Connectivity</vt:lpstr>
      <vt:lpstr>Demo: s-t Connectivity</vt:lpstr>
      <vt:lpstr>Demo: s-t Connectivity</vt:lpstr>
      <vt:lpstr>Demo: s-t Connectivity</vt:lpstr>
      <vt:lpstr>Demo: s-t Connectivity</vt:lpstr>
      <vt:lpstr>Demo: s-t Connectivity</vt:lpstr>
      <vt:lpstr>Demo: s-t Connectivity</vt:lpstr>
      <vt:lpstr>Demo: s-t Connectivity</vt:lpstr>
      <vt:lpstr>Demo: s-t Connectivity</vt:lpstr>
      <vt:lpstr>Demo: s-t Connectivity</vt:lpstr>
      <vt:lpstr>Demo: s-t Connectivity</vt:lpstr>
      <vt:lpstr>Depth First Traversal</vt:lpstr>
      <vt:lpstr>Depth First Traversal</vt:lpstr>
      <vt:lpstr>PowerPoint Presentation</vt:lpstr>
      <vt:lpstr>The Power of Depth First Search</vt:lpstr>
      <vt:lpstr>Demo: DepthFirstPaths</vt:lpstr>
      <vt:lpstr>Demo: DepthFirstPaths</vt:lpstr>
      <vt:lpstr>Demo: DepthFirstPaths</vt:lpstr>
      <vt:lpstr>Demo: DepthFirstPaths</vt:lpstr>
      <vt:lpstr>Demo: DepthFirstPaths</vt:lpstr>
      <vt:lpstr>Demo: DepthFirstPaths</vt:lpstr>
      <vt:lpstr>Demo: DepthFirstPaths</vt:lpstr>
      <vt:lpstr>Demo: DepthFirstPaths</vt:lpstr>
      <vt:lpstr>Demo: DepthFirstPaths</vt:lpstr>
      <vt:lpstr>Demo: DepthFirstPaths</vt:lpstr>
      <vt:lpstr>Demo: DepthFirstPaths</vt:lpstr>
      <vt:lpstr>Demo: DepthFirstPaths</vt:lpstr>
      <vt:lpstr>Demo: DepthFirstPaths</vt:lpstr>
      <vt:lpstr>Demo: DepthFirstPaths</vt:lpstr>
      <vt:lpstr>Demo: DepthFirstPaths</vt:lpstr>
      <vt:lpstr>Demo: DepthFirstPaths</vt:lpstr>
      <vt:lpstr>Demo: DepthFirstPaths</vt:lpstr>
      <vt:lpstr>Demo: DepthFirstPaths</vt:lpstr>
      <vt:lpstr>Tree vs. Graph Traversals</vt:lpstr>
      <vt:lpstr>Tree Traversals</vt:lpstr>
      <vt:lpstr>Graph Traversals</vt:lpstr>
      <vt:lpstr>Graph Traversals</vt:lpstr>
      <vt:lpstr>Graph Traversals</vt:lpstr>
      <vt:lpstr>Graph Traversals</vt:lpstr>
      <vt:lpstr>Challenge: Invent Breadth First Search</vt:lpstr>
      <vt:lpstr>Shortest Paths Challenge Before Next Lecture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Vader Darth</cp:lastModifiedBy>
  <cp:revision>1</cp:revision>
  <dcterms:modified xsi:type="dcterms:W3CDTF">2025-07-22T15:50:59Z</dcterms:modified>
</cp:coreProperties>
</file>